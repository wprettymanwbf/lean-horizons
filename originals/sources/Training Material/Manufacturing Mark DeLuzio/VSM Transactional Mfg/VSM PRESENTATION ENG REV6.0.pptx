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omments/modernComment_21B_340E2660.xml" ContentType="application/vnd.ms-powerpoint.comments+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omments/modernComment_1A2_20B2820E.xml" ContentType="application/vnd.ms-powerpoint.comments+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tags/tag3.xml" ContentType="application/vnd.openxmlformats-officedocument.presentationml.tags+xml"/>
  <Override PartName="/ppt/notesSlides/notesSlide170.xml" ContentType="application/vnd.openxmlformats-officedocument.presentationml.notesSlide+xml"/>
  <Override PartName="/ppt/tags/tag4.xml" ContentType="application/vnd.openxmlformats-officedocument.presentationml.tags+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91" r:id="rId1"/>
    <p:sldMasterId id="2147483707" r:id="rId2"/>
  </p:sldMasterIdLst>
  <p:notesMasterIdLst>
    <p:notesMasterId r:id="rId176"/>
  </p:notesMasterIdLst>
  <p:handoutMasterIdLst>
    <p:handoutMasterId r:id="rId177"/>
  </p:handoutMasterIdLst>
  <p:sldIdLst>
    <p:sldId id="258" r:id="rId3"/>
    <p:sldId id="326" r:id="rId4"/>
    <p:sldId id="327" r:id="rId5"/>
    <p:sldId id="290" r:id="rId6"/>
    <p:sldId id="371" r:id="rId7"/>
    <p:sldId id="331" r:id="rId8"/>
    <p:sldId id="373" r:id="rId9"/>
    <p:sldId id="333" r:id="rId10"/>
    <p:sldId id="312" r:id="rId11"/>
    <p:sldId id="375" r:id="rId12"/>
    <p:sldId id="336" r:id="rId13"/>
    <p:sldId id="377" r:id="rId14"/>
    <p:sldId id="315" r:id="rId15"/>
    <p:sldId id="339" r:id="rId16"/>
    <p:sldId id="340" r:id="rId17"/>
    <p:sldId id="381" r:id="rId18"/>
    <p:sldId id="383" r:id="rId19"/>
    <p:sldId id="384" r:id="rId20"/>
    <p:sldId id="342" r:id="rId21"/>
    <p:sldId id="386" r:id="rId22"/>
    <p:sldId id="387" r:id="rId23"/>
    <p:sldId id="316" r:id="rId24"/>
    <p:sldId id="589" r:id="rId25"/>
    <p:sldId id="590" r:id="rId26"/>
    <p:sldId id="349" r:id="rId27"/>
    <p:sldId id="350" r:id="rId28"/>
    <p:sldId id="394" r:id="rId29"/>
    <p:sldId id="591" r:id="rId30"/>
    <p:sldId id="396" r:id="rId31"/>
    <p:sldId id="397" r:id="rId32"/>
    <p:sldId id="398" r:id="rId33"/>
    <p:sldId id="399" r:id="rId34"/>
    <p:sldId id="400" r:id="rId35"/>
    <p:sldId id="401" r:id="rId36"/>
    <p:sldId id="402" r:id="rId37"/>
    <p:sldId id="543" r:id="rId38"/>
    <p:sldId id="404" r:id="rId39"/>
    <p:sldId id="405" r:id="rId40"/>
    <p:sldId id="544" r:id="rId41"/>
    <p:sldId id="407" r:id="rId42"/>
    <p:sldId id="408" r:id="rId43"/>
    <p:sldId id="409" r:id="rId44"/>
    <p:sldId id="410" r:id="rId45"/>
    <p:sldId id="411" r:id="rId46"/>
    <p:sldId id="412" r:id="rId47"/>
    <p:sldId id="539" r:id="rId48"/>
    <p:sldId id="413" r:id="rId49"/>
    <p:sldId id="540" r:id="rId50"/>
    <p:sldId id="541" r:id="rId51"/>
    <p:sldId id="592" r:id="rId52"/>
    <p:sldId id="545" r:id="rId53"/>
    <p:sldId id="416" r:id="rId54"/>
    <p:sldId id="546" r:id="rId55"/>
    <p:sldId id="418" r:id="rId56"/>
    <p:sldId id="419" r:id="rId57"/>
    <p:sldId id="420" r:id="rId58"/>
    <p:sldId id="421" r:id="rId59"/>
    <p:sldId id="422" r:id="rId60"/>
    <p:sldId id="423" r:id="rId61"/>
    <p:sldId id="547" r:id="rId62"/>
    <p:sldId id="425" r:id="rId63"/>
    <p:sldId id="426" r:id="rId64"/>
    <p:sldId id="548" r:id="rId65"/>
    <p:sldId id="428" r:id="rId66"/>
    <p:sldId id="429" r:id="rId67"/>
    <p:sldId id="430" r:id="rId68"/>
    <p:sldId id="431" r:id="rId69"/>
    <p:sldId id="432" r:id="rId70"/>
    <p:sldId id="433" r:id="rId71"/>
    <p:sldId id="549" r:id="rId72"/>
    <p:sldId id="435" r:id="rId73"/>
    <p:sldId id="436" r:id="rId74"/>
    <p:sldId id="437" r:id="rId75"/>
    <p:sldId id="438" r:id="rId76"/>
    <p:sldId id="439" r:id="rId77"/>
    <p:sldId id="440" r:id="rId78"/>
    <p:sldId id="441" r:id="rId79"/>
    <p:sldId id="442" r:id="rId80"/>
    <p:sldId id="443" r:id="rId81"/>
    <p:sldId id="444" r:id="rId82"/>
    <p:sldId id="445" r:id="rId83"/>
    <p:sldId id="593" r:id="rId84"/>
    <p:sldId id="447" r:id="rId85"/>
    <p:sldId id="594" r:id="rId86"/>
    <p:sldId id="595" r:id="rId87"/>
    <p:sldId id="596" r:id="rId88"/>
    <p:sldId id="551" r:id="rId89"/>
    <p:sldId id="552" r:id="rId90"/>
    <p:sldId id="597" r:id="rId91"/>
    <p:sldId id="454" r:id="rId92"/>
    <p:sldId id="598" r:id="rId93"/>
    <p:sldId id="456" r:id="rId94"/>
    <p:sldId id="459" r:id="rId95"/>
    <p:sldId id="599" r:id="rId96"/>
    <p:sldId id="458" r:id="rId97"/>
    <p:sldId id="460" r:id="rId98"/>
    <p:sldId id="600" r:id="rId99"/>
    <p:sldId id="462" r:id="rId100"/>
    <p:sldId id="557" r:id="rId101"/>
    <p:sldId id="601" r:id="rId102"/>
    <p:sldId id="465" r:id="rId103"/>
    <p:sldId id="466" r:id="rId104"/>
    <p:sldId id="467" r:id="rId105"/>
    <p:sldId id="468" r:id="rId106"/>
    <p:sldId id="602" r:id="rId107"/>
    <p:sldId id="470" r:id="rId108"/>
    <p:sldId id="603" r:id="rId109"/>
    <p:sldId id="472" r:id="rId110"/>
    <p:sldId id="604" r:id="rId111"/>
    <p:sldId id="474" r:id="rId112"/>
    <p:sldId id="605" r:id="rId113"/>
    <p:sldId id="477" r:id="rId114"/>
    <p:sldId id="606" r:id="rId115"/>
    <p:sldId id="479" r:id="rId116"/>
    <p:sldId id="564" r:id="rId117"/>
    <p:sldId id="607" r:id="rId118"/>
    <p:sldId id="482" r:id="rId119"/>
    <p:sldId id="483" r:id="rId120"/>
    <p:sldId id="608" r:id="rId121"/>
    <p:sldId id="485" r:id="rId122"/>
    <p:sldId id="567" r:id="rId123"/>
    <p:sldId id="609" r:id="rId124"/>
    <p:sldId id="488" r:id="rId125"/>
    <p:sldId id="569" r:id="rId126"/>
    <p:sldId id="570" r:id="rId127"/>
    <p:sldId id="610" r:id="rId128"/>
    <p:sldId id="572" r:id="rId129"/>
    <p:sldId id="611" r:id="rId130"/>
    <p:sldId id="494" r:id="rId131"/>
    <p:sldId id="495" r:id="rId132"/>
    <p:sldId id="612" r:id="rId133"/>
    <p:sldId id="613" r:id="rId134"/>
    <p:sldId id="575" r:id="rId135"/>
    <p:sldId id="614" r:id="rId136"/>
    <p:sldId id="577" r:id="rId137"/>
    <p:sldId id="615" r:id="rId138"/>
    <p:sldId id="502" r:id="rId139"/>
    <p:sldId id="616" r:id="rId140"/>
    <p:sldId id="504" r:id="rId141"/>
    <p:sldId id="617" r:id="rId142"/>
    <p:sldId id="506" r:id="rId143"/>
    <p:sldId id="618" r:id="rId144"/>
    <p:sldId id="508" r:id="rId145"/>
    <p:sldId id="619" r:id="rId146"/>
    <p:sldId id="510" r:id="rId147"/>
    <p:sldId id="620" r:id="rId148"/>
    <p:sldId id="512" r:id="rId149"/>
    <p:sldId id="513" r:id="rId150"/>
    <p:sldId id="514" r:id="rId151"/>
    <p:sldId id="621" r:id="rId152"/>
    <p:sldId id="622" r:id="rId153"/>
    <p:sldId id="517" r:id="rId154"/>
    <p:sldId id="518" r:id="rId155"/>
    <p:sldId id="519" r:id="rId156"/>
    <p:sldId id="520" r:id="rId157"/>
    <p:sldId id="521" r:id="rId158"/>
    <p:sldId id="522" r:id="rId159"/>
    <p:sldId id="523" r:id="rId160"/>
    <p:sldId id="524" r:id="rId161"/>
    <p:sldId id="525" r:id="rId162"/>
    <p:sldId id="526" r:id="rId163"/>
    <p:sldId id="527" r:id="rId164"/>
    <p:sldId id="528" r:id="rId165"/>
    <p:sldId id="529" r:id="rId166"/>
    <p:sldId id="623" r:id="rId167"/>
    <p:sldId id="531" r:id="rId168"/>
    <p:sldId id="586" r:id="rId169"/>
    <p:sldId id="587" r:id="rId170"/>
    <p:sldId id="534" r:id="rId171"/>
    <p:sldId id="535" r:id="rId172"/>
    <p:sldId id="536" r:id="rId173"/>
    <p:sldId id="588" r:id="rId174"/>
    <p:sldId id="537" r:id="rId175"/>
  </p:sldIdLst>
  <p:sldSz cx="12188825" cy="6858000"/>
  <p:notesSz cx="6858000" cy="9144000"/>
  <p:custDataLst>
    <p:tags r:id="rId178"/>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7B6AAEF-3415-5D22-AFDC-F31A005CEED7}" name="Joe Rutz" initials="JR" userId="S::joe.rutz@leancoachingllc.com::74172d3c-f68f-4a41-af3d-37d02d9c966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7A7A7A"/>
    <a:srgbClr val="EE3228"/>
    <a:srgbClr val="191C25"/>
    <a:srgbClr val="FFB627"/>
    <a:srgbClr val="FEFEFE"/>
    <a:srgbClr val="DD414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inor">
          <a:srgbClr val="5B5854"/>
        </a:fontRef>
        <a:srgbClr val="5B5854"/>
      </a:tcTxStyle>
      <a:tcStyle>
        <a:tcBdr>
          <a:left>
            <a:ln w="25400" cap="flat">
              <a:solidFill>
                <a:srgbClr val="5B5854"/>
              </a:solidFill>
              <a:custDash>
                <a:ds d="200000" sp="200000"/>
              </a:custDash>
              <a:miter lim="400000"/>
            </a:ln>
          </a:left>
          <a:right>
            <a:ln w="25400" cap="flat">
              <a:solidFill>
                <a:srgbClr val="5B5854"/>
              </a:solidFill>
              <a:custDash>
                <a:ds d="200000" sp="200000"/>
              </a:custDash>
              <a:miter lim="400000"/>
            </a:ln>
          </a:right>
          <a:top>
            <a:ln w="12700" cap="flat">
              <a:solidFill>
                <a:srgbClr val="5B5854"/>
              </a:solidFill>
              <a:prstDash val="solid"/>
              <a:miter lim="400000"/>
            </a:ln>
          </a:top>
          <a:bottom>
            <a:ln w="12700" cap="flat">
              <a:solidFill>
                <a:srgbClr val="5B5854"/>
              </a:solidFill>
              <a:prstDash val="solid"/>
              <a:miter lim="400000"/>
            </a:ln>
          </a:bottom>
          <a:insideH>
            <a:ln w="12700" cap="flat">
              <a:solidFill>
                <a:srgbClr val="5B5854"/>
              </a:solidFill>
              <a:prstDash val="solid"/>
              <a:miter lim="400000"/>
            </a:ln>
          </a:insideH>
          <a:insideV>
            <a:ln w="25400" cap="flat">
              <a:solidFill>
                <a:srgbClr val="5B5854"/>
              </a:solidFill>
              <a:custDash>
                <a:ds d="200000" sp="200000"/>
              </a:custDash>
              <a:miter lim="400000"/>
            </a:ln>
          </a:insideV>
        </a:tcBdr>
        <a:fill>
          <a:noFill/>
        </a:fill>
      </a:tcStyle>
    </a:wholeTbl>
    <a:band2H>
      <a:tcTxStyle/>
      <a:tcStyle>
        <a:tcBdr/>
        <a:fill>
          <a:solidFill>
            <a:schemeClr val="accent2">
              <a:hueOff val="-1122706"/>
              <a:satOff val="6504"/>
              <a:lumOff val="15871"/>
              <a:alpha val="17000"/>
            </a:schemeClr>
          </a:solidFill>
        </a:fill>
      </a:tcStyle>
    </a:band2H>
    <a:firstCol>
      <a:tcTxStyle b="on" i="off">
        <a:fontRef idx="minor">
          <a:srgbClr val="5B5854"/>
        </a:fontRef>
        <a:srgbClr val="5B5854"/>
      </a:tcTxStyle>
      <a:tcStyle>
        <a:tcBdr>
          <a:left>
            <a:ln w="12700" cap="flat">
              <a:noFill/>
              <a:miter lim="400000"/>
            </a:ln>
          </a:left>
          <a:right>
            <a:ln w="38100" cap="flat">
              <a:solidFill>
                <a:srgbClr val="5B5854"/>
              </a:solidFill>
              <a:prstDash val="solid"/>
              <a:miter lim="400000"/>
            </a:ln>
          </a:right>
          <a:top>
            <a:ln w="12700" cap="flat">
              <a:solidFill>
                <a:srgbClr val="5B5854"/>
              </a:solidFill>
              <a:prstDash val="solid"/>
              <a:miter lim="400000"/>
            </a:ln>
          </a:top>
          <a:bottom>
            <a:ln w="12700" cap="flat">
              <a:solidFill>
                <a:srgbClr val="5B5854"/>
              </a:solidFill>
              <a:prstDash val="solid"/>
              <a:miter lim="400000"/>
            </a:ln>
          </a:bottom>
          <a:insideH>
            <a:ln w="12700" cap="flat">
              <a:solidFill>
                <a:srgbClr val="5B5854"/>
              </a:solidFill>
              <a:prstDash val="solid"/>
              <a:miter lim="400000"/>
            </a:ln>
          </a:insideH>
          <a:insideV>
            <a:ln w="12700" cap="flat">
              <a:solidFill>
                <a:srgbClr val="5B5854"/>
              </a:solidFill>
              <a:prstDash val="solid"/>
              <a:miter lim="400000"/>
            </a:ln>
          </a:insideV>
        </a:tcBdr>
        <a:fill>
          <a:solidFill>
            <a:srgbClr val="809E35">
              <a:alpha val="10000"/>
            </a:srgbClr>
          </a:solidFill>
        </a:fill>
      </a:tcStyle>
    </a:firstCol>
    <a:lastRow>
      <a:tcTxStyle b="on" i="off">
        <a:fontRef idx="minor">
          <a:srgbClr val="5B5854"/>
        </a:fontRef>
        <a:srgbClr val="5B5854"/>
      </a:tcTxStyle>
      <a:tcStyle>
        <a:tcBdr>
          <a:left>
            <a:ln w="12700" cap="flat">
              <a:solidFill>
                <a:srgbClr val="5B5854"/>
              </a:solidFill>
              <a:prstDash val="solid"/>
              <a:miter lim="400000"/>
            </a:ln>
          </a:left>
          <a:right>
            <a:ln w="12700" cap="flat">
              <a:solidFill>
                <a:srgbClr val="5B5854"/>
              </a:solidFill>
              <a:prstDash val="solid"/>
              <a:miter lim="400000"/>
            </a:ln>
          </a:right>
          <a:top>
            <a:ln w="38100" cap="flat">
              <a:solidFill>
                <a:srgbClr val="5B5854"/>
              </a:solidFill>
              <a:prstDash val="solid"/>
              <a:miter lim="400000"/>
            </a:ln>
          </a:top>
          <a:bottom>
            <a:ln w="12700" cap="flat">
              <a:noFill/>
              <a:miter lim="400000"/>
            </a:ln>
          </a:bottom>
          <a:insideH>
            <a:ln w="12700" cap="flat">
              <a:solidFill>
                <a:srgbClr val="5B5854"/>
              </a:solidFill>
              <a:prstDash val="solid"/>
              <a:miter lim="400000"/>
            </a:ln>
          </a:insideH>
          <a:insideV>
            <a:ln w="12700" cap="flat">
              <a:solidFill>
                <a:srgbClr val="5B5854"/>
              </a:solidFill>
              <a:prstDash val="solid"/>
              <a:miter lim="400000"/>
            </a:ln>
          </a:insideV>
        </a:tcBdr>
        <a:fill>
          <a:noFill/>
        </a:fill>
      </a:tcStyle>
    </a:lastRow>
    <a:firstRow>
      <a:tcTxStyle b="on" i="off">
        <a:fontRef idx="minor">
          <a:srgbClr val="5B5854"/>
        </a:fontRef>
        <a:srgbClr val="5B5854"/>
      </a:tcTxStyle>
      <a:tcStyle>
        <a:tcBdr>
          <a:left>
            <a:ln w="12700" cap="flat">
              <a:solidFill>
                <a:srgbClr val="5B5854"/>
              </a:solidFill>
              <a:prstDash val="solid"/>
              <a:miter lim="400000"/>
            </a:ln>
          </a:left>
          <a:right>
            <a:ln w="12700" cap="flat">
              <a:solidFill>
                <a:srgbClr val="5B5854"/>
              </a:solidFill>
              <a:prstDash val="solid"/>
              <a:miter lim="400000"/>
            </a:ln>
          </a:right>
          <a:top>
            <a:ln w="12700" cap="flat">
              <a:noFill/>
              <a:miter lim="400000"/>
            </a:ln>
          </a:top>
          <a:bottom>
            <a:ln w="38100" cap="flat">
              <a:solidFill>
                <a:srgbClr val="5B5854"/>
              </a:solidFill>
              <a:prstDash val="solid"/>
              <a:miter lim="400000"/>
            </a:ln>
          </a:bottom>
          <a:insideH>
            <a:ln w="12700" cap="flat">
              <a:solidFill>
                <a:srgbClr val="5B5854"/>
              </a:solidFill>
              <a:prstDash val="solid"/>
              <a:miter lim="400000"/>
            </a:ln>
          </a:insideH>
          <a:insideV>
            <a:ln w="12700" cap="flat">
              <a:solidFill>
                <a:srgbClr val="5B5854"/>
              </a:solidFill>
              <a:prstDash val="solid"/>
              <a:miter lim="400000"/>
            </a:ln>
          </a:insideV>
        </a:tcBdr>
        <a:fill>
          <a:solidFill>
            <a:srgbClr val="619E5C">
              <a:alpha val="15000"/>
            </a:srgbClr>
          </a:solidFill>
        </a:fill>
      </a:tcStyle>
    </a:firstRow>
  </a:tblStyle>
  <a:tblStyle styleId="{C7B018BB-80A7-4F77-B60F-C8B233D01FF8}" styleName="">
    <a:tblBg/>
    <a:wholeTbl>
      <a:tcTxStyle b="off" i="off">
        <a:fontRef idx="minor">
          <a:srgbClr val="5B5854"/>
        </a:fontRef>
        <a:srgbClr val="5B5854"/>
      </a:tcTxStyle>
      <a:tcStyle>
        <a:tcBdr>
          <a:left>
            <a:ln w="12700" cap="flat">
              <a:solidFill>
                <a:srgbClr val="BDBBB3"/>
              </a:solidFill>
              <a:prstDash val="solid"/>
              <a:miter lim="400000"/>
            </a:ln>
          </a:left>
          <a:right>
            <a:ln w="12700" cap="flat">
              <a:solidFill>
                <a:srgbClr val="BDBBB3"/>
              </a:solidFill>
              <a:prstDash val="solid"/>
              <a:miter lim="400000"/>
            </a:ln>
          </a:right>
          <a:top>
            <a:ln w="12700" cap="flat">
              <a:solidFill>
                <a:srgbClr val="A5A59F"/>
              </a:solidFill>
              <a:prstDash val="solid"/>
              <a:miter lim="400000"/>
            </a:ln>
          </a:top>
          <a:bottom>
            <a:ln w="12700" cap="flat">
              <a:solidFill>
                <a:srgbClr val="A5A59F"/>
              </a:solidFill>
              <a:prstDash val="solid"/>
              <a:miter lim="400000"/>
            </a:ln>
          </a:bottom>
          <a:insideH>
            <a:ln w="12700" cap="flat">
              <a:solidFill>
                <a:srgbClr val="A5A59F"/>
              </a:solidFill>
              <a:prstDash val="solid"/>
              <a:miter lim="400000"/>
            </a:ln>
          </a:insideH>
          <a:insideV>
            <a:ln w="12700" cap="flat">
              <a:solidFill>
                <a:srgbClr val="BDBBB3"/>
              </a:solidFill>
              <a:prstDash val="solid"/>
              <a:miter lim="400000"/>
            </a:ln>
          </a:insideV>
        </a:tcBdr>
        <a:fill>
          <a:solidFill>
            <a:srgbClr val="E7E3D2"/>
          </a:solidFill>
        </a:fill>
      </a:tcStyle>
    </a:wholeTbl>
    <a:band2H>
      <a:tcTxStyle/>
      <a:tcStyle>
        <a:tcBdr/>
        <a:fill>
          <a:solidFill>
            <a:srgbClr val="F6F2E5"/>
          </a:solidFill>
        </a:fill>
      </a:tcStyle>
    </a:band2H>
    <a:firstCol>
      <a:tcTxStyle b="on" i="off">
        <a:fontRef idx="minor">
          <a:srgbClr val="5B5854"/>
        </a:fontRef>
        <a:srgbClr val="5B5854"/>
      </a:tcTxStyle>
      <a:tcStyle>
        <a:tcBdr>
          <a:left>
            <a:ln w="12700" cap="flat">
              <a:noFill/>
              <a:miter lim="400000"/>
            </a:ln>
          </a:left>
          <a:right>
            <a:ln w="12700" cap="flat">
              <a:solidFill>
                <a:srgbClr val="A5A59F"/>
              </a:solidFill>
              <a:prstDash val="solid"/>
              <a:miter lim="400000"/>
            </a:ln>
          </a:right>
          <a:top>
            <a:ln w="12700" cap="flat">
              <a:solidFill>
                <a:srgbClr val="A5A59F"/>
              </a:solidFill>
              <a:prstDash val="solid"/>
              <a:miter lim="400000"/>
            </a:ln>
          </a:top>
          <a:bottom>
            <a:ln w="12700" cap="flat">
              <a:solidFill>
                <a:srgbClr val="A5A59F"/>
              </a:solidFill>
              <a:prstDash val="solid"/>
              <a:miter lim="400000"/>
            </a:ln>
          </a:bottom>
          <a:insideH>
            <a:ln w="12700" cap="flat">
              <a:solidFill>
                <a:srgbClr val="A5A59F"/>
              </a:solidFill>
              <a:prstDash val="solid"/>
              <a:miter lim="400000"/>
            </a:ln>
          </a:insideH>
          <a:insideV>
            <a:ln w="12700" cap="flat">
              <a:solidFill>
                <a:srgbClr val="A5A59F"/>
              </a:solidFill>
              <a:prstDash val="solid"/>
              <a:miter lim="400000"/>
            </a:ln>
          </a:insideV>
        </a:tcBdr>
        <a:fill>
          <a:solidFill>
            <a:srgbClr val="D3CDB7"/>
          </a:solidFill>
        </a:fill>
      </a:tcStyle>
    </a:firstCol>
    <a:lastRow>
      <a:tcTxStyle b="on" i="off">
        <a:fontRef idx="minor">
          <a:srgbClr val="5B5854"/>
        </a:fontRef>
        <a:srgbClr val="5B5854"/>
      </a:tcTxStyle>
      <a:tcStyle>
        <a:tcBdr>
          <a:left>
            <a:ln w="12700" cap="flat">
              <a:solidFill>
                <a:srgbClr val="A5A59F"/>
              </a:solidFill>
              <a:prstDash val="solid"/>
              <a:miter lim="400000"/>
            </a:ln>
          </a:left>
          <a:right>
            <a:ln w="12700" cap="flat">
              <a:solidFill>
                <a:srgbClr val="A5A59F"/>
              </a:solidFill>
              <a:prstDash val="solid"/>
              <a:miter lim="400000"/>
            </a:ln>
          </a:right>
          <a:top>
            <a:ln w="12700" cap="flat">
              <a:solidFill>
                <a:srgbClr val="A5A59F"/>
              </a:solidFill>
              <a:prstDash val="solid"/>
              <a:miter lim="400000"/>
            </a:ln>
          </a:top>
          <a:bottom>
            <a:ln w="12700" cap="flat">
              <a:noFill/>
              <a:miter lim="400000"/>
            </a:ln>
          </a:bottom>
          <a:insideH>
            <a:ln w="12700" cap="flat">
              <a:solidFill>
                <a:srgbClr val="A5A59F"/>
              </a:solidFill>
              <a:prstDash val="solid"/>
              <a:miter lim="400000"/>
            </a:ln>
          </a:insideH>
          <a:insideV>
            <a:ln w="12700" cap="flat">
              <a:solidFill>
                <a:srgbClr val="A5A59F"/>
              </a:solidFill>
              <a:prstDash val="solid"/>
              <a:miter lim="400000"/>
            </a:ln>
          </a:insideV>
        </a:tcBdr>
        <a:fill>
          <a:noFill/>
        </a:fill>
      </a:tcStyle>
    </a:lastRow>
    <a:firstRow>
      <a:tcTxStyle b="on" i="off">
        <a:fontRef idx="minor">
          <a:srgbClr val="FFFFFF"/>
        </a:fontRef>
        <a:srgbClr val="FFFFFF"/>
      </a:tcTxStyle>
      <a:tcStyle>
        <a:tcBdr>
          <a:left>
            <a:ln w="12700" cap="flat">
              <a:solidFill>
                <a:srgbClr val="8E755A"/>
              </a:solidFill>
              <a:prstDash val="solid"/>
              <a:miter lim="400000"/>
            </a:ln>
          </a:left>
          <a:right>
            <a:ln w="12700" cap="flat">
              <a:solidFill>
                <a:srgbClr val="8E755A"/>
              </a:solidFill>
              <a:prstDash val="solid"/>
              <a:miter lim="400000"/>
            </a:ln>
          </a:right>
          <a:top>
            <a:ln w="12700" cap="flat">
              <a:noFill/>
              <a:miter lim="400000"/>
            </a:ln>
          </a:top>
          <a:bottom>
            <a:ln w="12700" cap="flat">
              <a:solidFill>
                <a:srgbClr val="A5A59F"/>
              </a:solidFill>
              <a:prstDash val="solid"/>
              <a:miter lim="400000"/>
            </a:ln>
          </a:bottom>
          <a:insideH>
            <a:ln w="12700" cap="flat">
              <a:solidFill>
                <a:srgbClr val="8E755A"/>
              </a:solidFill>
              <a:prstDash val="solid"/>
              <a:miter lim="400000"/>
            </a:ln>
          </a:insideH>
          <a:insideV>
            <a:ln w="12700" cap="flat">
              <a:solidFill>
                <a:srgbClr val="8E755A"/>
              </a:solidFill>
              <a:prstDash val="solid"/>
              <a:miter lim="400000"/>
            </a:ln>
          </a:insideV>
        </a:tcBdr>
        <a:fill>
          <a:noFill/>
        </a:fill>
      </a:tcStyle>
    </a:firstRow>
  </a:tblStyle>
  <a:tblStyle styleId="{EEE7283C-3CF3-47DC-8721-378D4A62B228}" styleName="">
    <a:tblBg/>
    <a:wholeTbl>
      <a:tcTxStyle b="off" i="off">
        <a:fontRef idx="minor">
          <a:srgbClr val="5B5854"/>
        </a:fontRef>
        <a:srgbClr val="5B5854"/>
      </a:tcTxStyle>
      <a:tcStyle>
        <a:tcBdr>
          <a:left>
            <a:ln w="12700" cap="flat">
              <a:noFill/>
              <a:miter lim="400000"/>
            </a:ln>
          </a:left>
          <a:right>
            <a:ln w="12700" cap="flat">
              <a:noFill/>
              <a:miter lim="400000"/>
            </a:ln>
          </a:right>
          <a:top>
            <a:ln w="12700" cap="flat">
              <a:solidFill>
                <a:srgbClr val="BDBBB3"/>
              </a:solidFill>
              <a:prstDash val="solid"/>
              <a:miter lim="400000"/>
            </a:ln>
          </a:top>
          <a:bottom>
            <a:ln w="12700" cap="flat">
              <a:solidFill>
                <a:srgbClr val="BDBBB3"/>
              </a:solidFill>
              <a:prstDash val="solid"/>
              <a:miter lim="400000"/>
            </a:ln>
          </a:bottom>
          <a:insideH>
            <a:ln w="12700" cap="flat">
              <a:solidFill>
                <a:srgbClr val="BDBBB3"/>
              </a:solidFill>
              <a:prstDash val="solid"/>
              <a:miter lim="400000"/>
            </a:ln>
          </a:insideH>
          <a:insideV>
            <a:ln w="12700" cap="flat">
              <a:noFill/>
              <a:miter lim="400000"/>
            </a:ln>
          </a:insideV>
        </a:tcBdr>
        <a:fill>
          <a:solidFill>
            <a:srgbClr val="E6E3DA"/>
          </a:solidFill>
        </a:fill>
      </a:tcStyle>
    </a:wholeTbl>
    <a:band2H>
      <a:tcTxStyle/>
      <a:tcStyle>
        <a:tcBdr/>
        <a:fill>
          <a:solidFill>
            <a:srgbClr val="F9F5E8"/>
          </a:solidFill>
        </a:fill>
      </a:tcStyle>
    </a:band2H>
    <a:firstCol>
      <a:tcTxStyle b="on" i="off">
        <a:fontRef idx="minor">
          <a:srgbClr val="5B5854"/>
        </a:fontRef>
        <a:srgbClr val="5B5854"/>
      </a:tcTxStyle>
      <a:tcStyle>
        <a:tcBdr>
          <a:left>
            <a:ln w="12700" cap="flat">
              <a:solidFill>
                <a:srgbClr val="A5A59F"/>
              </a:solidFill>
              <a:prstDash val="solid"/>
              <a:miter lim="400000"/>
            </a:ln>
          </a:left>
          <a:right>
            <a:ln w="12700" cap="flat">
              <a:solidFill>
                <a:srgbClr val="A5A59F"/>
              </a:solidFill>
              <a:prstDash val="solid"/>
              <a:miter lim="400000"/>
            </a:ln>
          </a:right>
          <a:top>
            <a:ln w="12700" cap="flat">
              <a:solidFill>
                <a:srgbClr val="A5A59F"/>
              </a:solidFill>
              <a:prstDash val="solid"/>
              <a:miter lim="400000"/>
            </a:ln>
          </a:top>
          <a:bottom>
            <a:ln w="12700" cap="flat">
              <a:solidFill>
                <a:srgbClr val="A5A59F"/>
              </a:solidFill>
              <a:prstDash val="solid"/>
              <a:miter lim="400000"/>
            </a:ln>
          </a:bottom>
          <a:insideH>
            <a:ln w="12700" cap="flat">
              <a:solidFill>
                <a:srgbClr val="A5A59F"/>
              </a:solidFill>
              <a:prstDash val="solid"/>
              <a:miter lim="400000"/>
            </a:ln>
          </a:insideH>
          <a:insideV>
            <a:ln w="12700" cap="flat">
              <a:noFill/>
              <a:miter lim="400000"/>
            </a:ln>
          </a:insideV>
        </a:tcBdr>
        <a:fill>
          <a:solidFill>
            <a:srgbClr val="D6D5D0"/>
          </a:solidFill>
        </a:fill>
      </a:tcStyle>
    </a:firstCol>
    <a:lastRow>
      <a:tcTxStyle b="on" i="off">
        <a:fontRef idx="minor">
          <a:srgbClr val="FFFFFF"/>
        </a:fontRef>
        <a:srgbClr val="FFFFFF"/>
      </a:tcTxStyle>
      <a:tcStyle>
        <a:tcBdr>
          <a:left>
            <a:ln w="12700" cap="flat">
              <a:noFill/>
              <a:miter lim="400000"/>
            </a:ln>
          </a:left>
          <a:right>
            <a:ln w="12700" cap="flat">
              <a:noFill/>
              <a:miter lim="400000"/>
            </a:ln>
          </a:right>
          <a:top>
            <a:ln w="12700" cap="flat">
              <a:solidFill>
                <a:srgbClr val="BDBBB3"/>
              </a:solidFill>
              <a:prstDash val="solid"/>
              <a:miter lim="400000"/>
            </a:ln>
          </a:top>
          <a:bottom>
            <a:ln w="12700" cap="flat">
              <a:solidFill>
                <a:srgbClr val="A5A59F"/>
              </a:solidFill>
              <a:prstDash val="solid"/>
              <a:miter lim="400000"/>
            </a:ln>
          </a:bottom>
          <a:insideH>
            <a:ln w="12700" cap="flat">
              <a:solidFill>
                <a:srgbClr val="4D6166"/>
              </a:solidFill>
              <a:prstDash val="solid"/>
              <a:miter lim="400000"/>
            </a:ln>
          </a:insideH>
          <a:insideV>
            <a:ln w="12700" cap="flat">
              <a:noFill/>
              <a:miter lim="400000"/>
            </a:ln>
          </a:insideV>
        </a:tcBdr>
        <a:fill>
          <a:noFill/>
        </a:fill>
      </a:tcStyle>
    </a:lastRow>
    <a:firstRow>
      <a:tcTxStyle b="on" i="off">
        <a:fontRef idx="minor">
          <a:srgbClr val="FFFFFF"/>
        </a:fontRef>
        <a:srgbClr val="FFFFFF"/>
      </a:tcTxStyle>
      <a:tcStyle>
        <a:tcBdr>
          <a:left>
            <a:ln w="12700" cap="flat">
              <a:noFill/>
              <a:miter lim="400000"/>
            </a:ln>
          </a:left>
          <a:right>
            <a:ln w="12700" cap="flat">
              <a:noFill/>
              <a:miter lim="400000"/>
            </a:ln>
          </a:right>
          <a:top>
            <a:ln w="12700" cap="flat">
              <a:solidFill>
                <a:srgbClr val="A5A59F"/>
              </a:solidFill>
              <a:prstDash val="solid"/>
              <a:miter lim="400000"/>
            </a:ln>
          </a:top>
          <a:bottom>
            <a:ln w="12700" cap="flat">
              <a:solidFill>
                <a:srgbClr val="BDBBB3"/>
              </a:solidFill>
              <a:prstDash val="solid"/>
              <a:miter lim="400000"/>
            </a:ln>
          </a:bottom>
          <a:insideH>
            <a:ln w="12700" cap="flat">
              <a:solidFill>
                <a:srgbClr val="657477"/>
              </a:solidFill>
              <a:prstDash val="solid"/>
              <a:miter lim="400000"/>
            </a:ln>
          </a:insideH>
          <a:insideV>
            <a:ln w="12700" cap="flat">
              <a:noFill/>
              <a:miter lim="400000"/>
            </a:ln>
          </a:insideV>
        </a:tcBdr>
        <a:fill>
          <a:noFill/>
        </a:fill>
      </a:tcStyle>
    </a:firstRow>
  </a:tblStyle>
  <a:tblStyle styleId="{CF821DB8-F4EB-4A41-A1BA-3FCAFE7338EE}" styleName="">
    <a:tblBg/>
    <a:wholeTbl>
      <a:tcTxStyle b="off" i="off">
        <a:fontRef idx="minor">
          <a:srgbClr val="5B5854"/>
        </a:fontRef>
        <a:srgbClr val="5B5854"/>
      </a:tcTxStyle>
      <a:tcStyle>
        <a:tcBdr>
          <a:left>
            <a:ln w="12700" cap="flat">
              <a:noFill/>
              <a:miter lim="400000"/>
            </a:ln>
          </a:left>
          <a:right>
            <a:ln w="12700" cap="flat">
              <a:noFill/>
              <a:miter lim="400000"/>
            </a:ln>
          </a:right>
          <a:top>
            <a:ln w="12700" cap="flat">
              <a:solidFill>
                <a:srgbClr val="AAA6A6"/>
              </a:solidFill>
              <a:custDash>
                <a:ds d="200000" sp="200000"/>
              </a:custDash>
              <a:miter lim="400000"/>
            </a:ln>
          </a:top>
          <a:bottom>
            <a:ln w="12700" cap="flat">
              <a:solidFill>
                <a:srgbClr val="AAA6A6"/>
              </a:solidFill>
              <a:custDash>
                <a:ds d="200000" sp="200000"/>
              </a:custDash>
              <a:miter lim="400000"/>
            </a:ln>
          </a:bottom>
          <a:insideH>
            <a:ln w="12700" cap="flat">
              <a:solidFill>
                <a:srgbClr val="AAA6A6"/>
              </a:solidFill>
              <a:custDash>
                <a:ds d="200000" sp="200000"/>
              </a:custDash>
              <a:miter lim="400000"/>
            </a:ln>
          </a:insideH>
          <a:insideV>
            <a:ln w="12700" cap="flat">
              <a:noFill/>
              <a:miter lim="400000"/>
            </a:ln>
          </a:insideV>
        </a:tcBdr>
        <a:fill>
          <a:solidFill>
            <a:srgbClr val="EFECE2"/>
          </a:solidFill>
        </a:fill>
      </a:tcStyle>
    </a:wholeTbl>
    <a:band2H>
      <a:tcTxStyle/>
      <a:tcStyle>
        <a:tcBdr/>
        <a:fill>
          <a:solidFill>
            <a:srgbClr val="FFFBF1"/>
          </a:solidFill>
        </a:fill>
      </a:tcStyle>
    </a:band2H>
    <a:firstCol>
      <a:tcTxStyle b="on" i="off">
        <a:fontRef idx="minor">
          <a:srgbClr val="5B5854"/>
        </a:fontRef>
        <a:srgbClr val="5B5854"/>
      </a:tcTxStyle>
      <a:tcStyle>
        <a:tcBdr>
          <a:left>
            <a:ln w="12700" cap="flat">
              <a:solidFill>
                <a:srgbClr val="000000"/>
              </a:solidFill>
              <a:prstDash val="solid"/>
              <a:miter lim="400000"/>
            </a:ln>
          </a:left>
          <a:right>
            <a:ln w="12700" cap="flat">
              <a:solidFill>
                <a:srgbClr val="A29A85"/>
              </a:solidFill>
              <a:prstDash val="solid"/>
              <a:miter lim="400000"/>
            </a:ln>
          </a:right>
          <a:top>
            <a:ln w="12700" cap="flat">
              <a:solidFill>
                <a:srgbClr val="AAA6A6"/>
              </a:solidFill>
              <a:custDash>
                <a:ds d="200000" sp="200000"/>
              </a:custDash>
              <a:miter lim="400000"/>
            </a:ln>
          </a:top>
          <a:bottom>
            <a:ln w="12700" cap="flat">
              <a:solidFill>
                <a:srgbClr val="AAA6A6"/>
              </a:solidFill>
              <a:custDash>
                <a:ds d="200000" sp="200000"/>
              </a:custDash>
              <a:miter lim="400000"/>
            </a:ln>
          </a:bottom>
          <a:insideH>
            <a:ln w="12700" cap="flat">
              <a:solidFill>
                <a:srgbClr val="AAA6A6"/>
              </a:solidFill>
              <a:custDash>
                <a:ds d="200000" sp="200000"/>
              </a:custDash>
              <a:miter lim="400000"/>
            </a:ln>
          </a:insideH>
          <a:insideV>
            <a:ln w="12700" cap="flat">
              <a:noFill/>
              <a:miter lim="400000"/>
            </a:ln>
          </a:insideV>
        </a:tcBdr>
        <a:fill>
          <a:solidFill>
            <a:srgbClr val="E8E4D8"/>
          </a:solidFill>
        </a:fill>
      </a:tcStyle>
    </a:firstCol>
    <a:lastRow>
      <a:tcTxStyle b="on" i="off">
        <a:fontRef idx="minor">
          <a:srgbClr val="FFFFFF"/>
        </a:fontRef>
        <a:srgbClr val="FFFFFF"/>
      </a:tcTxStyle>
      <a:tcStyle>
        <a:tcBdr>
          <a:left>
            <a:ln w="12700" cap="flat">
              <a:noFill/>
              <a:miter lim="400000"/>
            </a:ln>
          </a:left>
          <a:right>
            <a:ln w="12700" cap="flat">
              <a:noFill/>
              <a:miter lim="400000"/>
            </a:ln>
          </a:right>
          <a:top>
            <a:ln w="12700" cap="flat">
              <a:solidFill>
                <a:srgbClr val="A29A85"/>
              </a:solidFill>
              <a:prstDash val="solid"/>
              <a:miter lim="400000"/>
            </a:ln>
          </a:top>
          <a:bottom>
            <a:ln w="12700" cap="flat">
              <a:solidFill>
                <a:srgbClr val="000000"/>
              </a:solidFill>
              <a:prstDash val="solid"/>
              <a:miter lim="400000"/>
            </a:ln>
          </a:bottom>
          <a:insideH>
            <a:ln w="12700" cap="flat">
              <a:solidFill>
                <a:srgbClr val="A29A85"/>
              </a:solidFill>
              <a:prstDash val="solid"/>
              <a:miter lim="400000"/>
            </a:ln>
          </a:insideH>
          <a:insideV>
            <a:ln w="12700" cap="flat">
              <a:noFill/>
              <a:miter lim="400000"/>
            </a:ln>
          </a:insideV>
        </a:tcBdr>
        <a:fill>
          <a:noFill/>
        </a:fill>
      </a:tcStyle>
    </a:lastRow>
    <a:firstRow>
      <a:tcTxStyle b="on" i="off">
        <a:fontRef idx="minor">
          <a:srgbClr val="FFFFFF"/>
        </a:fontRef>
        <a:srgbClr val="FFFFFF"/>
      </a:tcTxStyle>
      <a:tcStyle>
        <a:tcBdr>
          <a:left>
            <a:ln w="12700" cap="flat">
              <a:noFill/>
              <a:miter lim="400000"/>
            </a:ln>
          </a:left>
          <a:right>
            <a:ln w="12700" cap="flat">
              <a:noFill/>
              <a:miter lim="400000"/>
            </a:ln>
          </a:right>
          <a:top>
            <a:ln w="12700" cap="flat">
              <a:solidFill>
                <a:srgbClr val="000000"/>
              </a:solidFill>
              <a:prstDash val="solid"/>
              <a:miter lim="400000"/>
            </a:ln>
          </a:top>
          <a:bottom>
            <a:ln w="12700" cap="flat">
              <a:solidFill>
                <a:srgbClr val="A29A85"/>
              </a:solidFill>
              <a:prstDash val="solid"/>
              <a:miter lim="400000"/>
            </a:ln>
          </a:bottom>
          <a:insideH>
            <a:ln w="12700" cap="flat">
              <a:solidFill>
                <a:srgbClr val="A29A85"/>
              </a:solidFill>
              <a:prstDash val="solid"/>
              <a:miter lim="400000"/>
            </a:ln>
          </a:insideH>
          <a:insideV>
            <a:ln w="12700" cap="flat">
              <a:noFill/>
              <a:miter lim="400000"/>
            </a:ln>
          </a:insideV>
        </a:tcBdr>
        <a:fill>
          <a:noFill/>
        </a:fill>
      </a:tcStyle>
    </a:firstRow>
  </a:tblStyle>
  <a:tblStyle styleId="{33BA23B1-9221-436E-865A-0063620EA4FD}" styleName="">
    <a:tblBg/>
    <a:wholeTbl>
      <a:tcTxStyle b="off" i="off">
        <a:fontRef idx="minor">
          <a:srgbClr val="5B5854"/>
        </a:fontRef>
        <a:srgbClr val="5B5854"/>
      </a:tcTxStyle>
      <a:tcStyle>
        <a:tcBdr>
          <a:left>
            <a:ln w="12700" cap="flat">
              <a:noFill/>
              <a:miter lim="400000"/>
            </a:ln>
          </a:left>
          <a:right>
            <a:ln w="12700" cap="flat">
              <a:noFill/>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noFill/>
              <a:miter lim="400000"/>
            </a:ln>
          </a:insideV>
        </a:tcBdr>
        <a:fill>
          <a:solidFill>
            <a:srgbClr val="D6D2C0">
              <a:alpha val="50000"/>
            </a:srgbClr>
          </a:solidFill>
        </a:fill>
      </a:tcStyle>
    </a:wholeTbl>
    <a:band2H>
      <a:tcTxStyle/>
      <a:tcStyle>
        <a:tcBdr/>
        <a:fill>
          <a:solidFill>
            <a:srgbClr val="E9E7DC"/>
          </a:solidFill>
        </a:fill>
      </a:tcStyle>
    </a:band2H>
    <a:firstCol>
      <a:tcTxStyle b="on" i="off">
        <a:fontRef idx="minor">
          <a:srgbClr val="5B5854"/>
        </a:fontRef>
        <a:srgbClr val="5B5854"/>
      </a:tcTxStyle>
      <a:tcStyle>
        <a:tcBdr>
          <a:left>
            <a:ln w="12700" cap="flat">
              <a:solidFill>
                <a:srgbClr val="FFFFFF"/>
              </a:solidFill>
              <a:prstDash val="solid"/>
              <a:miter lim="400000"/>
            </a:ln>
          </a:left>
          <a:right>
            <a:ln w="254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noFill/>
              <a:miter lim="400000"/>
            </a:ln>
          </a:insideV>
        </a:tcBdr>
        <a:fill>
          <a:solidFill>
            <a:srgbClr val="C5BEAA"/>
          </a:solidFill>
        </a:fill>
      </a:tcStyle>
    </a:firstCol>
    <a:lastRow>
      <a:tcTxStyle b="on" i="off">
        <a:fontRef idx="minor">
          <a:srgbClr val="5B5854"/>
        </a:fontRef>
        <a:srgbClr val="5B5854"/>
      </a:tcTxStyle>
      <a:tcStyle>
        <a:tcBdr>
          <a:left>
            <a:ln w="12700" cap="flat">
              <a:noFill/>
              <a:miter lim="400000"/>
            </a:ln>
          </a:left>
          <a:right>
            <a:ln w="12700" cap="flat">
              <a:noFill/>
              <a:miter lim="400000"/>
            </a:ln>
          </a:right>
          <a:top>
            <a:ln w="25400" cap="flat">
              <a:solidFill>
                <a:srgbClr val="000000"/>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noFill/>
              <a:miter lim="400000"/>
            </a:ln>
          </a:insideV>
        </a:tcBdr>
        <a:fill>
          <a:solidFill>
            <a:srgbClr val="D6D2C0">
              <a:alpha val="25000"/>
            </a:srgbClr>
          </a:solidFill>
        </a:fill>
      </a:tcStyle>
    </a:lastRow>
    <a:firstRow>
      <a:tcTxStyle b="on" i="off">
        <a:fontRef idx="minor">
          <a:srgbClr val="FFFFFF"/>
        </a:fontRef>
        <a:srgbClr val="FFFFFF"/>
      </a:tcTxStyle>
      <a:tcStyle>
        <a:tcBdr>
          <a:left>
            <a:ln w="12700" cap="flat">
              <a:noFill/>
              <a:miter lim="400000"/>
            </a:ln>
          </a:left>
          <a:right>
            <a:ln w="12700" cap="flat">
              <a:noFill/>
              <a:miter lim="400000"/>
            </a:ln>
          </a:right>
          <a:top>
            <a:ln w="12700" cap="flat">
              <a:solidFill>
                <a:srgbClr val="FFFFFF"/>
              </a:solidFill>
              <a:prstDash val="solid"/>
              <a:miter lim="400000"/>
            </a:ln>
          </a:top>
          <a:bottom>
            <a:ln w="25400" cap="flat">
              <a:solidFill>
                <a:srgbClr val="FFFFFF"/>
              </a:solidFill>
              <a:prstDash val="solid"/>
              <a:miter lim="400000"/>
            </a:ln>
          </a:bottom>
          <a:insideH>
            <a:ln w="12700" cap="flat">
              <a:solidFill>
                <a:srgbClr val="FFFFFF"/>
              </a:solidFill>
              <a:prstDash val="solid"/>
              <a:miter lim="400000"/>
            </a:ln>
          </a:insideH>
          <a:insideV>
            <a:ln w="12700" cap="flat">
              <a:noFill/>
              <a:miter lim="400000"/>
            </a:ln>
          </a:insideV>
        </a:tcBdr>
        <a:fill>
          <a:solidFill>
            <a:srgbClr val="928C7D"/>
          </a:solidFill>
        </a:fill>
      </a:tcStyle>
    </a:firstRow>
  </a:tblStyle>
  <a:tblStyle styleId="{2708684C-4D16-4618-839F-0558EEFCDFE6}" styleName="">
    <a:tblBg/>
    <a:wholeTbl>
      <a:tcTxStyle b="off" i="off">
        <a:fontRef idx="minor">
          <a:srgbClr val="5B5854"/>
        </a:fontRef>
        <a:srgbClr val="5B5854"/>
      </a:tcTxStyle>
      <a:tcStyle>
        <a:tcBdr>
          <a:left>
            <a:ln w="38100" cap="flat">
              <a:solidFill>
                <a:schemeClr val="accent2">
                  <a:hueOff val="-1122706"/>
                  <a:satOff val="6504"/>
                  <a:lumOff val="15871"/>
                  <a:alpha val="64999"/>
                </a:schemeClr>
              </a:solidFill>
              <a:prstDash val="solid"/>
              <a:miter lim="400000"/>
            </a:ln>
          </a:left>
          <a:right>
            <a:ln w="38100" cap="flat">
              <a:solidFill>
                <a:schemeClr val="accent2">
                  <a:hueOff val="-1122706"/>
                  <a:satOff val="6504"/>
                  <a:lumOff val="15871"/>
                  <a:alpha val="64999"/>
                </a:schemeClr>
              </a:solidFill>
              <a:prstDash val="solid"/>
              <a:miter lim="400000"/>
            </a:ln>
          </a:right>
          <a:top>
            <a:ln w="38100" cap="flat">
              <a:solidFill>
                <a:schemeClr val="accent2">
                  <a:hueOff val="-1122706"/>
                  <a:satOff val="6504"/>
                  <a:lumOff val="15871"/>
                  <a:alpha val="64999"/>
                </a:schemeClr>
              </a:solidFill>
              <a:prstDash val="solid"/>
              <a:miter lim="400000"/>
            </a:ln>
          </a:top>
          <a:bottom>
            <a:ln w="38100" cap="flat">
              <a:solidFill>
                <a:schemeClr val="accent2">
                  <a:hueOff val="-1122706"/>
                  <a:satOff val="6504"/>
                  <a:lumOff val="15871"/>
                  <a:alpha val="64999"/>
                </a:schemeClr>
              </a:solidFill>
              <a:prstDash val="solid"/>
              <a:miter lim="400000"/>
            </a:ln>
          </a:bottom>
          <a:insideH>
            <a:ln w="38100" cap="flat">
              <a:solidFill>
                <a:schemeClr val="accent2">
                  <a:hueOff val="-1122706"/>
                  <a:satOff val="6504"/>
                  <a:lumOff val="15871"/>
                  <a:alpha val="64999"/>
                </a:schemeClr>
              </a:solidFill>
              <a:prstDash val="solid"/>
              <a:miter lim="400000"/>
            </a:ln>
          </a:insideH>
          <a:insideV>
            <a:ln w="38100" cap="flat">
              <a:solidFill>
                <a:schemeClr val="accent2">
                  <a:hueOff val="-1122706"/>
                  <a:satOff val="6504"/>
                  <a:lumOff val="15871"/>
                  <a:alpha val="64999"/>
                </a:schemeClr>
              </a:solidFill>
              <a:prstDash val="solid"/>
              <a:miter lim="400000"/>
            </a:ln>
          </a:insideV>
        </a:tcBdr>
        <a:fill>
          <a:noFill/>
        </a:fill>
      </a:tcStyle>
    </a:wholeTbl>
    <a:band2H>
      <a:tcTxStyle/>
      <a:tcStyle>
        <a:tcBdr/>
        <a:fill>
          <a:solidFill>
            <a:schemeClr val="accent2">
              <a:hueOff val="-1122706"/>
              <a:satOff val="6504"/>
              <a:lumOff val="15871"/>
              <a:alpha val="12000"/>
            </a:schemeClr>
          </a:solidFill>
        </a:fill>
      </a:tcStyle>
    </a:band2H>
    <a:firstCol>
      <a:tcTxStyle b="on" i="off">
        <a:fontRef idx="minor">
          <a:srgbClr val="5B5854"/>
        </a:fontRef>
        <a:srgbClr val="5B5854"/>
      </a:tcTxStyle>
      <a:tcStyle>
        <a:tcBdr>
          <a:left>
            <a:ln w="12700" cap="flat">
              <a:noFill/>
              <a:miter lim="400000"/>
            </a:ln>
          </a:left>
          <a:right>
            <a:ln w="50800" cap="flat">
              <a:solidFill>
                <a:schemeClr val="accent5">
                  <a:alpha val="75000"/>
                </a:schemeClr>
              </a:solidFill>
              <a:prstDash val="solid"/>
              <a:miter lim="400000"/>
            </a:ln>
          </a:right>
          <a:top>
            <a:ln w="38100" cap="flat">
              <a:solidFill>
                <a:schemeClr val="accent2">
                  <a:hueOff val="-1122706"/>
                  <a:satOff val="6504"/>
                  <a:lumOff val="15871"/>
                  <a:alpha val="64999"/>
                </a:schemeClr>
              </a:solidFill>
              <a:prstDash val="solid"/>
              <a:miter lim="400000"/>
            </a:ln>
          </a:top>
          <a:bottom>
            <a:ln w="38100" cap="flat">
              <a:solidFill>
                <a:schemeClr val="accent2">
                  <a:hueOff val="-1122706"/>
                  <a:satOff val="6504"/>
                  <a:lumOff val="15871"/>
                  <a:alpha val="64999"/>
                </a:schemeClr>
              </a:solidFill>
              <a:prstDash val="solid"/>
              <a:miter lim="400000"/>
            </a:ln>
          </a:bottom>
          <a:insideH>
            <a:ln w="38100" cap="flat">
              <a:solidFill>
                <a:schemeClr val="accent2">
                  <a:hueOff val="-1122706"/>
                  <a:satOff val="6504"/>
                  <a:lumOff val="15871"/>
                  <a:alpha val="64999"/>
                </a:schemeClr>
              </a:solidFill>
              <a:prstDash val="solid"/>
              <a:miter lim="400000"/>
            </a:ln>
          </a:insideH>
          <a:insideV>
            <a:ln w="38100" cap="flat">
              <a:solidFill>
                <a:schemeClr val="accent2">
                  <a:hueOff val="-1122706"/>
                  <a:satOff val="6504"/>
                  <a:lumOff val="15871"/>
                  <a:alpha val="64999"/>
                </a:schemeClr>
              </a:solidFill>
              <a:prstDash val="solid"/>
              <a:miter lim="400000"/>
            </a:ln>
          </a:insideV>
        </a:tcBdr>
        <a:fill>
          <a:noFill/>
        </a:fill>
      </a:tcStyle>
    </a:firstCol>
    <a:lastRow>
      <a:tcTxStyle b="on" i="off">
        <a:fontRef idx="minor">
          <a:srgbClr val="5B5854"/>
        </a:fontRef>
        <a:srgbClr val="5B5854"/>
      </a:tcTxStyle>
      <a:tcStyle>
        <a:tcBdr>
          <a:left>
            <a:ln w="38100" cap="flat">
              <a:solidFill>
                <a:schemeClr val="accent2">
                  <a:hueOff val="-1122706"/>
                  <a:satOff val="6504"/>
                  <a:lumOff val="15871"/>
                  <a:alpha val="64999"/>
                </a:schemeClr>
              </a:solidFill>
              <a:prstDash val="solid"/>
              <a:miter lim="400000"/>
            </a:ln>
          </a:left>
          <a:right>
            <a:ln w="38100" cap="flat">
              <a:solidFill>
                <a:schemeClr val="accent2">
                  <a:hueOff val="-1122706"/>
                  <a:satOff val="6504"/>
                  <a:lumOff val="15871"/>
                  <a:alpha val="64999"/>
                </a:schemeClr>
              </a:solidFill>
              <a:prstDash val="solid"/>
              <a:miter lim="400000"/>
            </a:ln>
          </a:right>
          <a:top>
            <a:ln w="50800" cap="flat">
              <a:solidFill>
                <a:schemeClr val="accent5">
                  <a:alpha val="75000"/>
                </a:schemeClr>
              </a:solidFill>
              <a:prstDash val="solid"/>
              <a:miter lim="400000"/>
            </a:ln>
          </a:top>
          <a:bottom>
            <a:ln w="12700" cap="flat">
              <a:noFill/>
              <a:miter lim="400000"/>
            </a:ln>
          </a:bottom>
          <a:insideH>
            <a:ln w="38100" cap="flat">
              <a:solidFill>
                <a:schemeClr val="accent2">
                  <a:hueOff val="-1122706"/>
                  <a:satOff val="6504"/>
                  <a:lumOff val="15871"/>
                  <a:alpha val="64999"/>
                </a:schemeClr>
              </a:solidFill>
              <a:prstDash val="solid"/>
              <a:miter lim="400000"/>
            </a:ln>
          </a:insideH>
          <a:insideV>
            <a:ln w="38100" cap="flat">
              <a:solidFill>
                <a:schemeClr val="accent2">
                  <a:hueOff val="-1122706"/>
                  <a:satOff val="6504"/>
                  <a:lumOff val="15871"/>
                  <a:alpha val="64999"/>
                </a:schemeClr>
              </a:solidFill>
              <a:prstDash val="solid"/>
              <a:miter lim="400000"/>
            </a:ln>
          </a:insideV>
        </a:tcBdr>
        <a:fill>
          <a:noFill/>
        </a:fill>
      </a:tcStyle>
    </a:lastRow>
    <a:firstRow>
      <a:tcTxStyle b="on" i="off">
        <a:fontRef idx="minor">
          <a:srgbClr val="5B5854"/>
        </a:fontRef>
        <a:srgbClr val="5B5854"/>
      </a:tcTxStyle>
      <a:tcStyle>
        <a:tcBdr>
          <a:left>
            <a:ln w="38100" cap="flat">
              <a:solidFill>
                <a:schemeClr val="accent2">
                  <a:hueOff val="-1122706"/>
                  <a:satOff val="6504"/>
                  <a:lumOff val="15871"/>
                  <a:alpha val="64999"/>
                </a:schemeClr>
              </a:solidFill>
              <a:prstDash val="solid"/>
              <a:miter lim="400000"/>
            </a:ln>
          </a:left>
          <a:right>
            <a:ln w="38100" cap="flat">
              <a:solidFill>
                <a:schemeClr val="accent2">
                  <a:hueOff val="-1122706"/>
                  <a:satOff val="6504"/>
                  <a:lumOff val="15871"/>
                  <a:alpha val="64999"/>
                </a:schemeClr>
              </a:solidFill>
              <a:prstDash val="solid"/>
              <a:miter lim="400000"/>
            </a:ln>
          </a:right>
          <a:top>
            <a:ln w="12700" cap="flat">
              <a:noFill/>
              <a:miter lim="400000"/>
            </a:ln>
          </a:top>
          <a:bottom>
            <a:ln w="50800" cap="flat">
              <a:solidFill>
                <a:schemeClr val="accent5">
                  <a:alpha val="75000"/>
                </a:schemeClr>
              </a:solidFill>
              <a:prstDash val="solid"/>
              <a:miter lim="400000"/>
            </a:ln>
          </a:bottom>
          <a:insideH>
            <a:ln w="38100" cap="flat">
              <a:solidFill>
                <a:schemeClr val="accent2">
                  <a:hueOff val="-1122706"/>
                  <a:satOff val="6504"/>
                  <a:lumOff val="15871"/>
                  <a:alpha val="64999"/>
                </a:schemeClr>
              </a:solidFill>
              <a:prstDash val="solid"/>
              <a:miter lim="400000"/>
            </a:ln>
          </a:insideH>
          <a:insideV>
            <a:ln w="38100" cap="flat">
              <a:solidFill>
                <a:schemeClr val="accent2">
                  <a:hueOff val="-1122706"/>
                  <a:satOff val="6504"/>
                  <a:lumOff val="15871"/>
                  <a:alpha val="64999"/>
                </a:schemeClr>
              </a:solidFill>
              <a:prstDash val="solid"/>
              <a:miter lim="400000"/>
            </a:ln>
          </a:insideV>
        </a:tcBdr>
        <a:fill>
          <a:noFill/>
        </a:fill>
      </a:tcStyle>
    </a:firstRow>
  </a:tblStyle>
  <a:tblStyle styleId="{8F44A2F1-9E1F-4B54-A3A2-5F16C0AD49E2}" styleName="">
    <a:tblBg/>
    <a:wholeTbl>
      <a:tcTxStyle b="off" i="off">
        <a:fontRef idx="minor">
          <a:srgbClr val="000000"/>
        </a:fontRef>
        <a:srgbClr val="000000"/>
      </a:tcTxStyle>
      <a:tcStyle>
        <a:tcBdr>
          <a:left>
            <a:ln w="25400" cap="flat">
              <a:solidFill>
                <a:srgbClr val="000000"/>
              </a:solidFill>
              <a:prstDash val="solid"/>
              <a:miter lim="400000"/>
            </a:ln>
          </a:left>
          <a:right>
            <a:ln w="25400" cap="flat">
              <a:solidFill>
                <a:srgbClr val="000000"/>
              </a:solidFill>
              <a:prstDash val="solid"/>
              <a:miter lim="400000"/>
            </a:ln>
          </a:right>
          <a:top>
            <a:ln w="25400" cap="flat">
              <a:solidFill>
                <a:srgbClr val="000000"/>
              </a:solidFill>
              <a:prstDash val="solid"/>
              <a:miter lim="400000"/>
            </a:ln>
          </a:top>
          <a:bottom>
            <a:ln w="25400" cap="flat">
              <a:solidFill>
                <a:srgbClr val="000000"/>
              </a:solidFill>
              <a:prstDash val="solid"/>
              <a:miter lim="400000"/>
            </a:ln>
          </a:bottom>
          <a:insideH>
            <a:ln w="25400" cap="flat">
              <a:solidFill>
                <a:srgbClr val="000000"/>
              </a:solidFill>
              <a:prstDash val="solid"/>
              <a:miter lim="400000"/>
            </a:ln>
          </a:insideH>
          <a:insideV>
            <a:ln w="25400" cap="flat">
              <a:solidFill>
                <a:srgbClr val="000000"/>
              </a:solidFill>
              <a:prstDash val="solid"/>
              <a:miter lim="400000"/>
            </a:ln>
          </a:insideV>
        </a:tcBdr>
        <a:fill>
          <a:noFill/>
        </a:fill>
      </a:tcStyle>
    </a:wholeTbl>
    <a:band2H>
      <a:tcTxStyle/>
      <a:tcStyle>
        <a:tcBdr/>
        <a:fill>
          <a:solidFill>
            <a:srgbClr val="C5C7C9">
              <a:alpha val="30000"/>
            </a:srgbClr>
          </a:solidFill>
        </a:fill>
      </a:tcStyle>
    </a:band2H>
    <a:firstCol>
      <a:tcTxStyle b="off" i="off">
        <a:fontRef idx="minor">
          <a:srgbClr val="FFFFFF"/>
        </a:fontRef>
        <a:srgbClr val="FFFFFF"/>
      </a:tcTxStyle>
      <a:tcStyle>
        <a:tcBdr>
          <a:left>
            <a:ln w="25400" cap="flat">
              <a:solidFill>
                <a:srgbClr val="000000"/>
              </a:solidFill>
              <a:prstDash val="solid"/>
              <a:miter lim="400000"/>
            </a:ln>
          </a:left>
          <a:right>
            <a:ln w="25400" cap="flat">
              <a:solidFill>
                <a:srgbClr val="000000"/>
              </a:solidFill>
              <a:prstDash val="solid"/>
              <a:miter lim="400000"/>
            </a:ln>
          </a:right>
          <a:top>
            <a:ln w="25400" cap="flat">
              <a:solidFill>
                <a:srgbClr val="000000"/>
              </a:solidFill>
              <a:prstDash val="solid"/>
              <a:miter lim="400000"/>
            </a:ln>
          </a:top>
          <a:bottom>
            <a:ln w="25400" cap="flat">
              <a:solidFill>
                <a:srgbClr val="000000"/>
              </a:solidFill>
              <a:prstDash val="solid"/>
              <a:miter lim="400000"/>
            </a:ln>
          </a:bottom>
          <a:insideH>
            <a:ln w="25400" cap="flat">
              <a:solidFill>
                <a:srgbClr val="000000"/>
              </a:solidFill>
              <a:prstDash val="solid"/>
              <a:miter lim="400000"/>
            </a:ln>
          </a:insideH>
          <a:insideV>
            <a:ln w="25400" cap="flat">
              <a:solidFill>
                <a:srgbClr val="000000"/>
              </a:solidFill>
              <a:prstDash val="solid"/>
              <a:miter lim="400000"/>
            </a:ln>
          </a:insideV>
        </a:tcBdr>
        <a:fill>
          <a:noFill/>
        </a:fill>
      </a:tcStyle>
    </a:firstCol>
    <a:lastRow>
      <a:tcTxStyle b="off" i="off">
        <a:fontRef idx="minor">
          <a:srgbClr val="FFFFFF"/>
        </a:fontRef>
        <a:srgbClr val="FFFFFF"/>
      </a:tcTxStyle>
      <a:tcStyle>
        <a:tcBdr>
          <a:left>
            <a:ln w="25400" cap="flat">
              <a:solidFill>
                <a:srgbClr val="000000"/>
              </a:solidFill>
              <a:prstDash val="solid"/>
              <a:miter lim="400000"/>
            </a:ln>
          </a:left>
          <a:right>
            <a:ln w="25400" cap="flat">
              <a:solidFill>
                <a:srgbClr val="000000"/>
              </a:solidFill>
              <a:prstDash val="solid"/>
              <a:miter lim="400000"/>
            </a:ln>
          </a:right>
          <a:top>
            <a:ln w="25400" cap="flat">
              <a:solidFill>
                <a:srgbClr val="000000"/>
              </a:solidFill>
              <a:prstDash val="solid"/>
              <a:miter lim="400000"/>
            </a:ln>
          </a:top>
          <a:bottom>
            <a:ln w="25400" cap="flat">
              <a:solidFill>
                <a:srgbClr val="000000"/>
              </a:solidFill>
              <a:prstDash val="solid"/>
              <a:miter lim="400000"/>
            </a:ln>
          </a:bottom>
          <a:insideH>
            <a:ln w="25400" cap="flat">
              <a:solidFill>
                <a:srgbClr val="000000"/>
              </a:solidFill>
              <a:prstDash val="solid"/>
              <a:miter lim="400000"/>
            </a:ln>
          </a:insideH>
          <a:insideV>
            <a:ln w="25400" cap="flat">
              <a:solidFill>
                <a:srgbClr val="000000"/>
              </a:solidFill>
              <a:prstDash val="solid"/>
              <a:miter lim="400000"/>
            </a:ln>
          </a:insideV>
        </a:tcBdr>
        <a:fill>
          <a:noFill/>
        </a:fill>
      </a:tcStyle>
    </a:lastRow>
    <a:firstRow>
      <a:tcTxStyle b="off" i="off">
        <a:fontRef idx="minor">
          <a:srgbClr val="FFFFFF"/>
        </a:fontRef>
        <a:srgbClr val="FFFFFF"/>
      </a:tcTxStyle>
      <a:tcStyle>
        <a:tcBdr>
          <a:left>
            <a:ln w="25400" cap="flat">
              <a:solidFill>
                <a:srgbClr val="000000"/>
              </a:solidFill>
              <a:prstDash val="solid"/>
              <a:miter lim="400000"/>
            </a:ln>
          </a:left>
          <a:right>
            <a:ln w="25400" cap="flat">
              <a:solidFill>
                <a:srgbClr val="000000"/>
              </a:solidFill>
              <a:prstDash val="solid"/>
              <a:miter lim="400000"/>
            </a:ln>
          </a:right>
          <a:top>
            <a:ln w="25400" cap="flat">
              <a:solidFill>
                <a:srgbClr val="000000"/>
              </a:solidFill>
              <a:prstDash val="solid"/>
              <a:miter lim="400000"/>
            </a:ln>
          </a:top>
          <a:bottom>
            <a:ln w="25400" cap="flat">
              <a:solidFill>
                <a:srgbClr val="000000"/>
              </a:solidFill>
              <a:prstDash val="solid"/>
              <a:miter lim="400000"/>
            </a:ln>
          </a:bottom>
          <a:insideH>
            <a:ln w="25400" cap="flat">
              <a:solidFill>
                <a:srgbClr val="000000"/>
              </a:solidFill>
              <a:prstDash val="solid"/>
              <a:miter lim="400000"/>
            </a:ln>
          </a:insideH>
          <a:insideV>
            <a:ln w="25400" cap="flat">
              <a:solidFill>
                <a:srgbClr val="000000"/>
              </a:solidFill>
              <a:prstDash val="solid"/>
              <a:miter lim="400000"/>
            </a:ln>
          </a:insideV>
        </a:tcBdr>
        <a:fill>
          <a:no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3427" autoAdjust="0"/>
    <p:restoredTop sz="74213" autoAdjust="0"/>
  </p:normalViewPr>
  <p:slideViewPr>
    <p:cSldViewPr snapToGrid="0" snapToObjects="1">
      <p:cViewPr varScale="1">
        <p:scale>
          <a:sx n="62" d="100"/>
          <a:sy n="62" d="100"/>
        </p:scale>
        <p:origin x="654" y="78"/>
      </p:cViewPr>
      <p:guideLst/>
    </p:cSldViewPr>
  </p:slideViewPr>
  <p:outlineViewPr>
    <p:cViewPr>
      <p:scale>
        <a:sx n="33" d="100"/>
        <a:sy n="33" d="100"/>
      </p:scale>
      <p:origin x="0" y="0"/>
    </p:cViewPr>
  </p:outlineViewPr>
  <p:notesTextViewPr>
    <p:cViewPr>
      <p:scale>
        <a:sx n="70" d="100"/>
        <a:sy n="70" d="100"/>
      </p:scale>
      <p:origin x="0" y="0"/>
    </p:cViewPr>
  </p:notesTextViewPr>
  <p:sorterViewPr>
    <p:cViewPr>
      <p:scale>
        <a:sx n="50" d="100"/>
        <a:sy n="50" d="100"/>
      </p:scale>
      <p:origin x="0" y="0"/>
    </p:cViewPr>
  </p:sorterViewPr>
  <p:notesViewPr>
    <p:cSldViewPr snapToGrid="0" snapToObjects="1">
      <p:cViewPr varScale="1">
        <p:scale>
          <a:sx n="62" d="100"/>
          <a:sy n="62" d="100"/>
        </p:scale>
        <p:origin x="3226" y="77"/>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theme" Target="theme/theme1.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tableStyles" Target="tableStyles.xml"/><Relationship Id="rId6" Type="http://schemas.openxmlformats.org/officeDocument/2006/relationships/slide" Target="slides/slide4.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slide" Target="slides/slide128.xml"/><Relationship Id="rId135" Type="http://schemas.openxmlformats.org/officeDocument/2006/relationships/slide" Target="slides/slide133.xml"/><Relationship Id="rId151" Type="http://schemas.openxmlformats.org/officeDocument/2006/relationships/slide" Target="slides/slide149.xml"/><Relationship Id="rId156" Type="http://schemas.openxmlformats.org/officeDocument/2006/relationships/slide" Target="slides/slide154.xml"/><Relationship Id="rId177" Type="http://schemas.openxmlformats.org/officeDocument/2006/relationships/handoutMaster" Target="handoutMasters/handoutMaster1.xml"/><Relationship Id="rId172" Type="http://schemas.openxmlformats.org/officeDocument/2006/relationships/slide" Target="slides/slide170.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167" Type="http://schemas.openxmlformats.org/officeDocument/2006/relationships/slide" Target="slides/slide165.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slide" Target="slides/slide160.xml"/><Relationship Id="rId183" Type="http://schemas.microsoft.com/office/2018/10/relationships/authors" Target="authors.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tags" Target="tags/tag1.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slide" Target="slides/slide150.xml"/><Relationship Id="rId173" Type="http://schemas.openxmlformats.org/officeDocument/2006/relationships/slide" Target="slides/slide171.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79" Type="http://schemas.openxmlformats.org/officeDocument/2006/relationships/presProps" Target="presProps.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viewProps" Target="viewProps.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notesMaster" Target="notesMasters/notesMaster1.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 Type="http://schemas.openxmlformats.org/officeDocument/2006/relationships/slideMaster" Target="slideMasters/slideMaster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s>
</file>

<file path=ppt/comments/modernComment_1A2_20B2820E.xml><?xml version="1.0" encoding="utf-8"?>
<p188:cmLst xmlns:a="http://schemas.openxmlformats.org/drawingml/2006/main" xmlns:r="http://schemas.openxmlformats.org/officeDocument/2006/relationships" xmlns:p188="http://schemas.microsoft.com/office/powerpoint/2018/8/main">
  <p188:cm id="{51B56688-A4AA-42AF-9293-FE65B11FD231}" authorId="{B7B6AAEF-3415-5D22-AFDC-F31A005CEED7}" created="2023-01-10T18:14:03.622">
    <ac:deMkLst xmlns:ac="http://schemas.microsoft.com/office/drawing/2013/main/command">
      <pc:docMk xmlns:pc="http://schemas.microsoft.com/office/powerpoint/2013/main/command"/>
      <pc:sldMk xmlns:pc="http://schemas.microsoft.com/office/powerpoint/2013/main/command" cId="548569614" sldId="418"/>
      <ac:spMk id="2" creationId="{F3124302-5B4C-B42C-1380-8702AA013BFB}"/>
    </ac:deMkLst>
    <p188:txBody>
      <a:bodyPr/>
      <a:lstStyle/>
      <a:p>
        <a:r>
          <a:rPr lang="en-US"/>
          <a:t>Changed Title</a:t>
        </a:r>
      </a:p>
    </p188:txBody>
  </p188:cm>
</p188:cmLst>
</file>

<file path=ppt/comments/modernComment_21B_340E2660.xml><?xml version="1.0" encoding="utf-8"?>
<p188:cmLst xmlns:a="http://schemas.openxmlformats.org/drawingml/2006/main" xmlns:r="http://schemas.openxmlformats.org/officeDocument/2006/relationships" xmlns:p188="http://schemas.microsoft.com/office/powerpoint/2018/8/main">
  <p188:cm id="{966158F2-E65A-4475-932C-04DEC0475F36}" authorId="{B7B6AAEF-3415-5D22-AFDC-F31A005CEED7}" created="2023-01-10T18:54:40.830">
    <pc:sldMkLst xmlns:pc="http://schemas.microsoft.com/office/powerpoint/2013/main/command">
      <pc:docMk/>
      <pc:sldMk cId="873342560" sldId="539"/>
    </pc:sldMkLst>
    <p188:txBody>
      <a:bodyPr/>
      <a:lstStyle/>
      <a:p>
        <a:r>
          <a:rPr lang="en-US"/>
          <a:t>Added to slide deck in this section</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E4CB7D7-1887-01AF-3328-228F943FB06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7A54ABE5-1764-841C-5BEF-1EE9C024020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5DC1FBE-7E29-4330-AB3B-63F362FFC145}" type="datetimeFigureOut">
              <a:rPr lang="en-US" smtClean="0"/>
              <a:t>2/3/2026</a:t>
            </a:fld>
            <a:endParaRPr lang="en-US"/>
          </a:p>
        </p:txBody>
      </p:sp>
      <p:sp>
        <p:nvSpPr>
          <p:cNvPr id="4" name="Footer Placeholder 3">
            <a:extLst>
              <a:ext uri="{FF2B5EF4-FFF2-40B4-BE49-F238E27FC236}">
                <a16:creationId xmlns:a16="http://schemas.microsoft.com/office/drawing/2014/main" id="{39B4F314-E044-4E84-6ADC-A2DB6901EFA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603D64AF-B4A4-ED3D-274F-C8B99ECC9EE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FD9DA100-19C0-4D13-8F95-040864AFADE0}" type="slidenum">
              <a:rPr lang="en-US" smtClean="0"/>
              <a:t>‹#›</a:t>
            </a:fld>
            <a:endParaRPr lang="en-US"/>
          </a:p>
        </p:txBody>
      </p:sp>
    </p:spTree>
    <p:extLst>
      <p:ext uri="{BB962C8B-B14F-4D97-AF65-F5344CB8AC3E}">
        <p14:creationId xmlns:p14="http://schemas.microsoft.com/office/powerpoint/2010/main" val="394846174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9" name="Shape 29"/>
          <p:cNvSpPr>
            <a:spLocks noGrp="1" noRot="1" noChangeAspect="1"/>
          </p:cNvSpPr>
          <p:nvPr>
            <p:ph type="sldImg"/>
          </p:nvPr>
        </p:nvSpPr>
        <p:spPr>
          <a:xfrm>
            <a:off x="382588" y="685800"/>
            <a:ext cx="6092825" cy="3429000"/>
          </a:xfrm>
          <a:prstGeom prst="rect">
            <a:avLst/>
          </a:prstGeom>
        </p:spPr>
        <p:txBody>
          <a:bodyPr/>
          <a:lstStyle/>
          <a:p>
            <a:endParaRPr/>
          </a:p>
        </p:txBody>
      </p:sp>
      <p:sp>
        <p:nvSpPr>
          <p:cNvPr id="30" name="Shape 30"/>
          <p:cNvSpPr>
            <a:spLocks noGrp="1"/>
          </p:cNvSpPr>
          <p:nvPr>
            <p:ph type="body" sz="quarter" idx="1"/>
          </p:nvPr>
        </p:nvSpPr>
        <p:spPr>
          <a:xfrm>
            <a:off x="914400" y="4343400"/>
            <a:ext cx="5029200" cy="4114800"/>
          </a:xfrm>
          <a:prstGeom prst="rect">
            <a:avLst/>
          </a:prstGeom>
        </p:spPr>
        <p:txBody>
          <a:bodyPr/>
          <a:lstStyle/>
          <a:p>
            <a:endParaRPr/>
          </a:p>
        </p:txBody>
      </p:sp>
    </p:spTree>
  </p:cSld>
  <p:clrMap bg1="lt1" tx1="dk1" bg2="lt2" tx2="dk2" accent1="accent1" accent2="accent2" accent3="accent3" accent4="accent4" accent5="accent5" accent6="accent6" hlink="hlink" folHlink="folHlink"/>
  <p:notesStyle>
    <a:lvl1pPr defTabSz="228554" latinLnBrk="0">
      <a:defRPr sz="1100">
        <a:latin typeface="+mn-lt"/>
        <a:ea typeface="+mn-ea"/>
        <a:cs typeface="+mn-cs"/>
        <a:sym typeface="Roboto"/>
      </a:defRPr>
    </a:lvl1pPr>
    <a:lvl2pPr indent="171416" defTabSz="228554" latinLnBrk="0">
      <a:defRPr sz="1100">
        <a:latin typeface="+mn-lt"/>
        <a:ea typeface="+mn-ea"/>
        <a:cs typeface="+mn-cs"/>
        <a:sym typeface="Roboto"/>
      </a:defRPr>
    </a:lvl2pPr>
    <a:lvl3pPr indent="342831" defTabSz="228554" latinLnBrk="0">
      <a:defRPr sz="1100">
        <a:latin typeface="+mn-lt"/>
        <a:ea typeface="+mn-ea"/>
        <a:cs typeface="+mn-cs"/>
        <a:sym typeface="Roboto"/>
      </a:defRPr>
    </a:lvl3pPr>
    <a:lvl4pPr indent="514247" defTabSz="228554" latinLnBrk="0">
      <a:defRPr sz="1100">
        <a:latin typeface="+mn-lt"/>
        <a:ea typeface="+mn-ea"/>
        <a:cs typeface="+mn-cs"/>
        <a:sym typeface="Roboto"/>
      </a:defRPr>
    </a:lvl4pPr>
    <a:lvl5pPr indent="685663" defTabSz="228554" latinLnBrk="0">
      <a:defRPr sz="1100">
        <a:latin typeface="+mn-lt"/>
        <a:ea typeface="+mn-ea"/>
        <a:cs typeface="+mn-cs"/>
        <a:sym typeface="Roboto"/>
      </a:defRPr>
    </a:lvl5pPr>
    <a:lvl6pPr indent="857079" defTabSz="228554" latinLnBrk="0">
      <a:defRPr sz="1100">
        <a:latin typeface="+mn-lt"/>
        <a:ea typeface="+mn-ea"/>
        <a:cs typeface="+mn-cs"/>
        <a:sym typeface="Roboto"/>
      </a:defRPr>
    </a:lvl6pPr>
    <a:lvl7pPr indent="1028494" defTabSz="228554" latinLnBrk="0">
      <a:defRPr sz="1100">
        <a:latin typeface="+mn-lt"/>
        <a:ea typeface="+mn-ea"/>
        <a:cs typeface="+mn-cs"/>
        <a:sym typeface="Roboto"/>
      </a:defRPr>
    </a:lvl7pPr>
    <a:lvl8pPr indent="1199910" defTabSz="228554" latinLnBrk="0">
      <a:defRPr sz="1100">
        <a:latin typeface="+mn-lt"/>
        <a:ea typeface="+mn-ea"/>
        <a:cs typeface="+mn-cs"/>
        <a:sym typeface="Roboto"/>
      </a:defRPr>
    </a:lvl8pPr>
    <a:lvl9pPr indent="1371326" defTabSz="228554" latinLnBrk="0">
      <a:defRPr sz="1100">
        <a:latin typeface="+mn-lt"/>
        <a:ea typeface="+mn-ea"/>
        <a:cs typeface="+mn-cs"/>
        <a:sym typeface="Roboto"/>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NOTE: The VSM training module is intended for use at kaizen event training. The training is a </a:t>
            </a:r>
            <a:r>
              <a:rPr lang="ja-JP" altLang="en-US" dirty="0">
                <a:latin typeface="Arial" panose="020B0604020202020204" pitchFamily="34" charset="0"/>
              </a:rPr>
              <a:t>“</a:t>
            </a:r>
            <a:r>
              <a:rPr lang="en-US" altLang="ja-JP" dirty="0">
                <a:latin typeface="Arial" panose="020B0604020202020204" pitchFamily="34" charset="0"/>
              </a:rPr>
              <a:t>Learn-Do</a:t>
            </a:r>
            <a:r>
              <a:rPr lang="ja-JP" altLang="en-US" dirty="0">
                <a:latin typeface="Arial" panose="020B0604020202020204" pitchFamily="34" charset="0"/>
              </a:rPr>
              <a:t>”</a:t>
            </a:r>
            <a:r>
              <a:rPr lang="en-US" altLang="ja-JP" dirty="0">
                <a:latin typeface="Arial" panose="020B0604020202020204" pitchFamily="34" charset="0"/>
              </a:rPr>
              <a:t> approach in which there are designated points in the training course for the participants/kaizen teams to stop and apply their learning to their kaizen project/event. The training material is recommended for a 5 day event, but is scalable for events of any length.</a:t>
            </a:r>
            <a:endParaRPr lang="en-US" altLang="en-US" dirty="0">
              <a:latin typeface="Arial" panose="020B0604020202020204" pitchFamily="34" charset="0"/>
            </a:endParaRPr>
          </a:p>
        </p:txBody>
      </p:sp>
    </p:spTree>
    <p:extLst>
      <p:ext uri="{BB962C8B-B14F-4D97-AF65-F5344CB8AC3E}">
        <p14:creationId xmlns:p14="http://schemas.microsoft.com/office/powerpoint/2010/main" val="24813386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5630322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7517726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 </a:t>
            </a:r>
            <a:r>
              <a:rPr lang="en-US" altLang="en-US" dirty="0">
                <a:latin typeface="Arial" panose="020B0604020202020204" pitchFamily="34" charset="0"/>
              </a:rPr>
              <a:t>Perform Group Introductions. Pick an ice-breaker or exercise to warm the team up to the event. (Icebreaker Example: Everyone uses their name tent and writes a </a:t>
            </a:r>
            <a:r>
              <a:rPr lang="ja-JP" altLang="en-US" dirty="0">
                <a:latin typeface="Arial" panose="020B0604020202020204" pitchFamily="34" charset="0"/>
              </a:rPr>
              <a:t>“</a:t>
            </a:r>
            <a:r>
              <a:rPr lang="en-US" altLang="ja-JP" dirty="0">
                <a:latin typeface="Arial" panose="020B0604020202020204" pitchFamily="34" charset="0"/>
              </a:rPr>
              <a:t>Personal License Plate</a:t>
            </a:r>
            <a:r>
              <a:rPr lang="ja-JP" altLang="en-US" dirty="0">
                <a:latin typeface="Arial" panose="020B0604020202020204" pitchFamily="34" charset="0"/>
              </a:rPr>
              <a:t>”</a:t>
            </a:r>
            <a:r>
              <a:rPr lang="en-US" altLang="ja-JP" dirty="0">
                <a:latin typeface="Arial" panose="020B0604020202020204" pitchFamily="34" charset="0"/>
              </a:rPr>
              <a:t> in which they have 2 minutes to creatively use a total of 7 letters or numbers to tell us something about themselves. Examples </a:t>
            </a:r>
            <a:r>
              <a:rPr lang="ja-JP" altLang="en-US" dirty="0">
                <a:latin typeface="Arial" panose="020B0604020202020204" pitchFamily="34" charset="0"/>
              </a:rPr>
              <a:t>“</a:t>
            </a:r>
            <a:r>
              <a:rPr lang="en-US" altLang="ja-JP" dirty="0">
                <a:latin typeface="Arial" panose="020B0604020202020204" pitchFamily="34" charset="0"/>
              </a:rPr>
              <a:t>LV2SAIL</a:t>
            </a:r>
            <a:r>
              <a:rPr lang="ja-JP" altLang="en-US" dirty="0">
                <a:latin typeface="Arial" panose="020B0604020202020204" pitchFamily="34" charset="0"/>
              </a:rPr>
              <a:t>”</a:t>
            </a:r>
            <a:r>
              <a:rPr lang="en-US" altLang="ja-JP" dirty="0">
                <a:latin typeface="Arial" panose="020B0604020202020204" pitchFamily="34" charset="0"/>
              </a:rPr>
              <a:t> OR </a:t>
            </a:r>
            <a:r>
              <a:rPr lang="ja-JP" altLang="en-US" dirty="0">
                <a:latin typeface="Arial" panose="020B0604020202020204" pitchFamily="34" charset="0"/>
              </a:rPr>
              <a:t>“</a:t>
            </a:r>
            <a:r>
              <a:rPr lang="en-US" altLang="ja-JP" dirty="0">
                <a:latin typeface="Arial" panose="020B0604020202020204" pitchFamily="34" charset="0"/>
              </a:rPr>
              <a:t>DADOV5</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Event Ground Rules. </a:t>
            </a: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Does anyone have any rules they would like to see added?</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Does everyone agree to these?</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40942970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 </a:t>
            </a:r>
            <a:r>
              <a:rPr lang="en-US" altLang="en-US" sz="800" dirty="0">
                <a:latin typeface="Arial" panose="020B0604020202020204" pitchFamily="34" charset="0"/>
              </a:rPr>
              <a:t>Read through important points on the slide and identify the basic components of VSM. </a:t>
            </a:r>
          </a:p>
          <a:p>
            <a:pPr eaLnBrk="1" hangingPunct="1"/>
            <a:r>
              <a:rPr lang="en-US" altLang="en-US" sz="800" b="1" dirty="0">
                <a:latin typeface="Arial" panose="020B0604020202020204" pitchFamily="34" charset="0"/>
              </a:rPr>
              <a:t>SAY: </a:t>
            </a:r>
            <a:r>
              <a:rPr lang="ja-JP" altLang="en-US" sz="800" dirty="0">
                <a:latin typeface="Arial" panose="020B0604020202020204" pitchFamily="34" charset="0"/>
              </a:rPr>
              <a:t>“</a:t>
            </a:r>
            <a:r>
              <a:rPr lang="en-US" altLang="ja-JP" sz="800" dirty="0">
                <a:latin typeface="Arial" panose="020B0604020202020204" pitchFamily="34" charset="0"/>
              </a:rPr>
              <a:t>It is important to note that our event this week will not yield any realized improvements or results. This tool simply gives the picture of what the improved process could be if the business completes the identified actions and kaizen to get there.</a:t>
            </a:r>
            <a:r>
              <a:rPr lang="ja-JP" altLang="en-US" sz="800" dirty="0">
                <a:latin typeface="Arial" panose="020B0604020202020204" pitchFamily="34" charset="0"/>
              </a:rPr>
              <a:t>”</a:t>
            </a:r>
            <a:r>
              <a:rPr lang="en-US" altLang="ja-JP" sz="800" dirty="0">
                <a:latin typeface="Arial" panose="020B0604020202020204" pitchFamily="34" charset="0"/>
              </a:rPr>
              <a:t> </a:t>
            </a:r>
          </a:p>
          <a:p>
            <a:pPr eaLnBrk="1" hangingPunct="1"/>
            <a:r>
              <a:rPr lang="en-US" altLang="en-US" sz="800" b="1" dirty="0">
                <a:latin typeface="Arial" panose="020B0604020202020204" pitchFamily="34" charset="0"/>
              </a:rPr>
              <a:t>SAY: </a:t>
            </a:r>
            <a:r>
              <a:rPr lang="ja-JP" altLang="en-US" sz="800" dirty="0">
                <a:latin typeface="Arial" panose="020B0604020202020204" pitchFamily="34" charset="0"/>
              </a:rPr>
              <a:t>“</a:t>
            </a:r>
            <a:r>
              <a:rPr lang="en-US" altLang="ja-JP" sz="800" dirty="0">
                <a:latin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 For more information on this, please read </a:t>
            </a:r>
            <a:r>
              <a:rPr lang="ja-JP" altLang="en-US" sz="800" dirty="0">
                <a:latin typeface="Arial" panose="020B0604020202020204" pitchFamily="34" charset="0"/>
              </a:rPr>
              <a:t>“</a:t>
            </a:r>
            <a:r>
              <a:rPr lang="en-US" altLang="ja-JP" sz="800" dirty="0">
                <a:latin typeface="Arial" panose="020B0604020202020204" pitchFamily="34" charset="0"/>
              </a:rPr>
              <a:t>Seeing the Whole,</a:t>
            </a:r>
            <a:r>
              <a:rPr lang="ja-JP" altLang="en-US" sz="800" dirty="0">
                <a:latin typeface="Arial" panose="020B0604020202020204" pitchFamily="34" charset="0"/>
              </a:rPr>
              <a:t>”</a:t>
            </a:r>
            <a:r>
              <a:rPr lang="en-US" altLang="ja-JP" sz="800" dirty="0">
                <a:latin typeface="Arial" panose="020B0604020202020204" pitchFamily="34" charset="0"/>
              </a:rPr>
              <a:t> by Dan Jones and Jim Womack. In </a:t>
            </a:r>
            <a:r>
              <a:rPr lang="ja-JP" altLang="en-US" sz="800" dirty="0">
                <a:latin typeface="Arial" panose="020B0604020202020204" pitchFamily="34" charset="0"/>
              </a:rPr>
              <a:t>“</a:t>
            </a:r>
            <a:r>
              <a:rPr lang="en-US" altLang="ja-JP" sz="800" dirty="0">
                <a:latin typeface="Arial" panose="020B0604020202020204" pitchFamily="34" charset="0"/>
              </a:rPr>
              <a:t>Seeing the Whole,</a:t>
            </a:r>
            <a:r>
              <a:rPr lang="ja-JP" altLang="en-US" sz="800" dirty="0">
                <a:latin typeface="Arial" panose="020B0604020202020204" pitchFamily="34" charset="0"/>
              </a:rPr>
              <a:t>”</a:t>
            </a:r>
            <a:r>
              <a:rPr lang="en-US" altLang="ja-JP" sz="800" dirty="0">
                <a:latin typeface="Arial" panose="020B0604020202020204" pitchFamily="34" charset="0"/>
              </a:rPr>
              <a:t> the mapping process is somewhat different than value stream mapping within the 4 walls of your business. In mapping the extended value stream, the process involves (1) Developing the Current State Map, (2) Developing of Future State Map 1, (3) Developing of Future State Map 2, (4) Creation of Ideal State Map, (5) Development of Value Stream Plan.</a:t>
            </a:r>
            <a:r>
              <a:rPr lang="ja-JP" altLang="en-US" sz="800" dirty="0">
                <a:latin typeface="Arial" panose="020B0604020202020204" pitchFamily="34" charset="0"/>
              </a:rPr>
              <a:t>”</a:t>
            </a:r>
            <a:r>
              <a:rPr lang="en-US" altLang="ja-JP" sz="800" dirty="0">
                <a:latin typeface="Arial" panose="020B0604020202020204" pitchFamily="34" charset="0"/>
              </a:rPr>
              <a:t> </a:t>
            </a:r>
          </a:p>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18780245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SAY: </a:t>
            </a:r>
            <a:r>
              <a:rPr lang="ja-JP" altLang="en-US" sz="1100" dirty="0">
                <a:latin typeface="Arial" panose="020B0604020202020204" pitchFamily="34" charset="0"/>
              </a:rPr>
              <a:t>“</a:t>
            </a:r>
            <a:r>
              <a:rPr lang="en-US" altLang="ja-JP" sz="1100" dirty="0">
                <a:latin typeface="Arial" panose="020B0604020202020204" pitchFamily="34" charset="0"/>
              </a:rPr>
              <a:t>A Value Stream Map is the </a:t>
            </a:r>
            <a:r>
              <a:rPr lang="ja-JP" altLang="en-US" sz="1100" dirty="0">
                <a:latin typeface="Arial" panose="020B0604020202020204" pitchFamily="34" charset="0"/>
              </a:rPr>
              <a:t>“</a:t>
            </a:r>
            <a:r>
              <a:rPr lang="en-US" altLang="ja-JP" sz="1100" dirty="0">
                <a:latin typeface="Arial" panose="020B0604020202020204" pitchFamily="34" charset="0"/>
              </a:rPr>
              <a:t>30,000-foot</a:t>
            </a:r>
            <a:r>
              <a:rPr lang="ja-JP" altLang="en-US" sz="1100" dirty="0">
                <a:latin typeface="Arial" panose="020B0604020202020204" pitchFamily="34" charset="0"/>
              </a:rPr>
              <a:t>”</a:t>
            </a:r>
            <a:r>
              <a:rPr lang="en-US" altLang="ja-JP" sz="1100" dirty="0">
                <a:latin typeface="Arial" panose="020B0604020202020204" pitchFamily="34" charset="0"/>
              </a:rPr>
              <a:t> view of the process. A Process Map is a tool that would take just one process box from a Value Stream Map, and explode that process into it</a:t>
            </a:r>
            <a:r>
              <a:rPr lang="ja-JP" altLang="en-US" sz="1100" dirty="0">
                <a:latin typeface="Arial" panose="020B0604020202020204" pitchFamily="34" charset="0"/>
              </a:rPr>
              <a:t>’</a:t>
            </a:r>
            <a:r>
              <a:rPr lang="en-US" altLang="ja-JP" sz="1100" dirty="0">
                <a:latin typeface="Arial" panose="020B0604020202020204" pitchFamily="34" charset="0"/>
              </a:rPr>
              <a:t>s detailed steps.</a:t>
            </a:r>
          </a:p>
          <a:p>
            <a:pPr eaLnBrk="1" hangingPunct="1"/>
            <a:r>
              <a:rPr lang="en-US" altLang="en-US" sz="1100" b="1" dirty="0">
                <a:latin typeface="Arial" panose="020B0604020202020204" pitchFamily="34" charset="0"/>
              </a:rPr>
              <a:t>SAY: </a:t>
            </a:r>
            <a:r>
              <a:rPr lang="en-US" altLang="en-US" sz="1100" dirty="0">
                <a:latin typeface="Arial" panose="020B0604020202020204" pitchFamily="34" charset="0"/>
              </a:rPr>
              <a:t>(regarding differences between Process Mapping and VSM): </a:t>
            </a:r>
            <a:r>
              <a:rPr lang="ja-JP" altLang="en-US" sz="1100" dirty="0">
                <a:latin typeface="Arial" panose="020B0604020202020204" pitchFamily="34" charset="0"/>
              </a:rPr>
              <a:t>“</a:t>
            </a:r>
            <a:r>
              <a:rPr lang="en-US" altLang="ja-JP" sz="1100" dirty="0">
                <a:latin typeface="Arial" panose="020B0604020202020204" pitchFamily="34" charset="0"/>
              </a:rPr>
              <a:t>Process Maps do not show information flow nor do they look at people. Process Maps are focused more on settings and/or materials. Value Stream Maps look at the people in the process. With VSM there is a heavy emphasis on identifying and removing waste. In VSM we ultimately want to reduce Lead Time. Process Mapping does not look at Lead Time.</a:t>
            </a:r>
            <a:r>
              <a:rPr lang="ja-JP" altLang="en-US" sz="1100" dirty="0">
                <a:latin typeface="Arial" panose="020B0604020202020204" pitchFamily="34" charset="0"/>
              </a:rPr>
              <a:t>”</a:t>
            </a:r>
            <a:r>
              <a:rPr lang="en-US" altLang="ja-JP" sz="1100" dirty="0">
                <a:latin typeface="Arial" panose="020B0604020202020204" pitchFamily="34" charset="0"/>
              </a:rPr>
              <a:t> </a:t>
            </a:r>
            <a:endParaRPr lang="en-US" altLang="en-US" sz="1100" dirty="0">
              <a:latin typeface="Arial" panose="020B0604020202020204" pitchFamily="34" charset="0"/>
            </a:endParaRPr>
          </a:p>
          <a:p>
            <a:endParaRPr lang="en-US" dirty="0"/>
          </a:p>
        </p:txBody>
      </p:sp>
    </p:spTree>
    <p:extLst>
      <p:ext uri="{BB962C8B-B14F-4D97-AF65-F5344CB8AC3E}">
        <p14:creationId xmlns:p14="http://schemas.microsoft.com/office/powerpoint/2010/main" val="9216695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So why are we here? What do we want to accomplish?</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If I am going to improve the </a:t>
            </a:r>
            <a:r>
              <a:rPr lang="ja-JP" altLang="en-US" sz="800" dirty="0">
                <a:latin typeface="Arial" panose="020B0604020202020204" pitchFamily="34" charset="0"/>
              </a:rPr>
              <a:t>“</a:t>
            </a:r>
            <a:r>
              <a:rPr lang="en-US" altLang="ja-JP" sz="800" dirty="0">
                <a:latin typeface="Arial" panose="020B0604020202020204" pitchFamily="34" charset="0"/>
              </a:rPr>
              <a:t>&lt;fill in with your event&gt; Process, what do I do first? VSM gives you the focus.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Cover points on the slide.</a:t>
            </a:r>
          </a:p>
        </p:txBody>
      </p:sp>
    </p:spTree>
    <p:extLst>
      <p:ext uri="{BB962C8B-B14F-4D97-AF65-F5344CB8AC3E}">
        <p14:creationId xmlns:p14="http://schemas.microsoft.com/office/powerpoint/2010/main" val="34175541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sz="1100" b="1" dirty="0">
                <a:latin typeface="Arial" panose="020B0604020202020204" pitchFamily="34" charset="0"/>
              </a:rPr>
              <a:t>SAY:</a:t>
            </a:r>
            <a:r>
              <a:rPr lang="en-US" altLang="en-US" sz="1100" dirty="0">
                <a:latin typeface="Arial" panose="020B0604020202020204" pitchFamily="34" charset="0"/>
              </a:rPr>
              <a:t> </a:t>
            </a:r>
            <a:r>
              <a:rPr lang="ja-JP" altLang="en-US" sz="1100" dirty="0">
                <a:latin typeface="Arial" panose="020B0604020202020204" pitchFamily="34" charset="0"/>
              </a:rPr>
              <a:t>“</a:t>
            </a:r>
            <a:r>
              <a:rPr lang="en-US" altLang="ja-JP" sz="1100" dirty="0">
                <a:latin typeface="Arial" panose="020B0604020202020204" pitchFamily="34" charset="0"/>
              </a:rPr>
              <a:t>It is critical to understand that Value Stream Mapping is a tool that is used to execute our Key Business Imperatives for Business Strategy. VSM helps identify the waste so that improvements can be made to eliminate the waste.</a:t>
            </a:r>
            <a:r>
              <a:rPr lang="ja-JP" altLang="en-US" sz="1100" dirty="0">
                <a:latin typeface="Arial" panose="020B0604020202020204" pitchFamily="34" charset="0"/>
              </a:rPr>
              <a:t>”</a:t>
            </a:r>
            <a:endParaRPr lang="en-US" altLang="en-US" sz="1100" dirty="0">
              <a:latin typeface="Arial" panose="020B0604020202020204" pitchFamily="34" charset="0"/>
            </a:endParaRPr>
          </a:p>
          <a:p>
            <a:endParaRPr lang="en-US" dirty="0"/>
          </a:p>
        </p:txBody>
      </p:sp>
    </p:spTree>
    <p:extLst>
      <p:ext uri="{BB962C8B-B14F-4D97-AF65-F5344CB8AC3E}">
        <p14:creationId xmlns:p14="http://schemas.microsoft.com/office/powerpoint/2010/main" val="29476821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These would be examples of business cases that VSM would support.</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40922279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VSM Roadmap. Cover what has taken place already, where we are in the process, and where we will go from here.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Stress that this is an iterative process. VSM is typically a 6 month cycle… then when your future state becomes your new current state, you begin again. </a:t>
            </a:r>
          </a:p>
        </p:txBody>
      </p:sp>
    </p:spTree>
    <p:extLst>
      <p:ext uri="{BB962C8B-B14F-4D97-AF65-F5344CB8AC3E}">
        <p14:creationId xmlns:p14="http://schemas.microsoft.com/office/powerpoint/2010/main" val="4697352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week we are at Process Step 3. The steps to conducting a VSM Event are:</a:t>
            </a:r>
          </a:p>
          <a:p>
            <a:pPr eaLnBrk="1" hangingPunct="1"/>
            <a:r>
              <a:rPr lang="en-US" altLang="en-US" dirty="0">
                <a:latin typeface="Arial" panose="020B0604020202020204" pitchFamily="34" charset="0"/>
              </a:rPr>
              <a:t>1 – Select Product or Service Family (this has been done)</a:t>
            </a:r>
          </a:p>
          <a:p>
            <a:pPr eaLnBrk="1" hangingPunct="1"/>
            <a:r>
              <a:rPr lang="en-US" altLang="en-US" dirty="0">
                <a:latin typeface="Arial" panose="020B0604020202020204" pitchFamily="34" charset="0"/>
              </a:rPr>
              <a:t>2 – Create the Current State Map – again, the snapshot of the process today</a:t>
            </a:r>
          </a:p>
          <a:p>
            <a:pPr eaLnBrk="1" hangingPunct="1"/>
            <a:r>
              <a:rPr lang="en-US" altLang="en-US" dirty="0">
                <a:latin typeface="Arial" panose="020B0604020202020204" pitchFamily="34" charset="0"/>
              </a:rPr>
              <a:t>3 – Interrogate the Current State – here we will analyze the Current State for improvement opportunities</a:t>
            </a:r>
          </a:p>
          <a:p>
            <a:pPr eaLnBrk="1" hangingPunct="1"/>
            <a:r>
              <a:rPr lang="en-US" altLang="en-US" dirty="0">
                <a:latin typeface="Arial" panose="020B0604020202020204" pitchFamily="34" charset="0"/>
              </a:rPr>
              <a:t>4 – Create Future State Map – based on the improvements we want to make – what will the future process look like</a:t>
            </a:r>
          </a:p>
          <a:p>
            <a:pPr eaLnBrk="1" hangingPunct="1"/>
            <a:r>
              <a:rPr lang="en-US" altLang="en-US" dirty="0">
                <a:latin typeface="Arial" panose="020B0604020202020204" pitchFamily="34" charset="0"/>
              </a:rPr>
              <a:t>5 – Develop the Value Stream Plan – here is where we detail what specific objectives need to be accomplished in order for the Future State to be achieved. </a:t>
            </a:r>
          </a:p>
          <a:p>
            <a:pPr eaLnBrk="1" hangingPunct="1"/>
            <a:r>
              <a:rPr lang="en-US" altLang="en-US" dirty="0">
                <a:latin typeface="Arial" panose="020B0604020202020204" pitchFamily="34" charset="0"/>
              </a:rPr>
              <a:t>Realize that when we are complete this week</a:t>
            </a:r>
            <a:r>
              <a:rPr lang="ja-JP" altLang="en-US" dirty="0">
                <a:latin typeface="Arial" panose="020B0604020202020204" pitchFamily="34" charset="0"/>
              </a:rPr>
              <a:t>’</a:t>
            </a:r>
            <a:r>
              <a:rPr lang="en-US" altLang="ja-JP" dirty="0">
                <a:latin typeface="Arial" panose="020B0604020202020204" pitchFamily="34" charset="0"/>
              </a:rPr>
              <a:t>s event – no improvements will actually be made… it is not until the action plan gets implemented that we will see results. </a:t>
            </a:r>
            <a:r>
              <a:rPr lang="ja-JP" altLang="en-US" dirty="0">
                <a:latin typeface="Arial" panose="020B0604020202020204" pitchFamily="34" charset="0"/>
              </a:rPr>
              <a:t>“</a:t>
            </a:r>
            <a:endParaRPr lang="en-US" altLang="en-US" dirty="0">
              <a:latin typeface="Arial" panose="020B0604020202020204" pitchFamily="34" charset="0"/>
            </a:endParaRPr>
          </a:p>
          <a:p>
            <a:endParaRPr lang="en-US" dirty="0"/>
          </a:p>
        </p:txBody>
      </p:sp>
    </p:spTree>
    <p:extLst>
      <p:ext uri="{BB962C8B-B14F-4D97-AF65-F5344CB8AC3E}">
        <p14:creationId xmlns:p14="http://schemas.microsoft.com/office/powerpoint/2010/main" val="325058503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is the typical 5 day agenda for what we will accomplish this week.</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NOTE:</a:t>
            </a:r>
            <a:r>
              <a:rPr lang="en-US" altLang="en-US" dirty="0">
                <a:latin typeface="Arial" panose="020B0604020202020204" pitchFamily="34" charset="0"/>
              </a:rPr>
              <a:t> Deliverable dates can be adjusted as needed depending on the event. </a:t>
            </a:r>
          </a:p>
        </p:txBody>
      </p:sp>
    </p:spTree>
    <p:extLst>
      <p:ext uri="{BB962C8B-B14F-4D97-AF65-F5344CB8AC3E}">
        <p14:creationId xmlns:p14="http://schemas.microsoft.com/office/powerpoint/2010/main" val="28677223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DO:</a:t>
            </a:r>
            <a:r>
              <a:rPr lang="en-US" altLang="en-US" dirty="0">
                <a:latin typeface="Arial" panose="020B0604020202020204" pitchFamily="34" charset="0"/>
              </a:rPr>
              <a:t> Review section objectives on slide.</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first step of the VSM process which is to Select the Product or Service Family. Note that although this has actually been done prior to this event, this is an important part to the overall VSM process. The purpose for reviewing this now is so that we can all see where the information for this event originated.</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section objectives.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a:t>
            </a:fld>
            <a:endParaRPr lang="en-US"/>
          </a:p>
        </p:txBody>
      </p:sp>
    </p:spTree>
    <p:extLst>
      <p:ext uri="{BB962C8B-B14F-4D97-AF65-F5344CB8AC3E}">
        <p14:creationId xmlns:p14="http://schemas.microsoft.com/office/powerpoint/2010/main" val="28766119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all of the points that feed into the overall definition.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week we will clearly define all of the Value Added and Non-Value Added Processes, the Product and Information Flow,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identify who are all the functions represented in this project, and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clearly understand who is the customer.</a:t>
            </a:r>
            <a:r>
              <a:rPr lang="ja-JP" altLang="en-US" dirty="0">
                <a:latin typeface="Arial" panose="020B0604020202020204" pitchFamily="34" charset="0"/>
              </a:rPr>
              <a:t>”</a:t>
            </a:r>
            <a:endParaRPr lang="en-US" altLang="en-US" dirty="0">
              <a:latin typeface="Arial" panose="020B0604020202020204" pitchFamily="34" charset="0"/>
            </a:endParaRPr>
          </a:p>
          <a:p>
            <a:endParaRPr lang="en-US" dirty="0"/>
          </a:p>
        </p:txBody>
      </p:sp>
    </p:spTree>
    <p:extLst>
      <p:ext uri="{BB962C8B-B14F-4D97-AF65-F5344CB8AC3E}">
        <p14:creationId xmlns:p14="http://schemas.microsoft.com/office/powerpoint/2010/main" val="190465961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 VALUE OBJECT is defined as a single (main) component that is contained within the product that follows all of the process steps within the value stream.</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 VALUE OBJECT is a representative part that is used to follow the value stream as it is mapped and to calculate the inventory levels at each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If we don</a:t>
            </a:r>
            <a:r>
              <a:rPr lang="ja-JP" altLang="en-US" dirty="0">
                <a:latin typeface="Arial" panose="020B0604020202020204" pitchFamily="34" charset="0"/>
              </a:rPr>
              <a:t>’</a:t>
            </a:r>
            <a:r>
              <a:rPr lang="en-US" altLang="ja-JP" dirty="0">
                <a:latin typeface="Arial" panose="020B0604020202020204" pitchFamily="34" charset="0"/>
              </a:rPr>
              <a:t>t focus on an object,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focus on every piece of e-mail, </a:t>
            </a:r>
            <a:r>
              <a:rPr lang="en-US" altLang="ja-JP" dirty="0" err="1">
                <a:latin typeface="Arial" panose="020B0604020202020204" pitchFamily="34" charset="0"/>
              </a:rPr>
              <a:t>etc</a:t>
            </a:r>
            <a:r>
              <a:rPr lang="en-US" altLang="ja-JP" dirty="0">
                <a:latin typeface="Arial" panose="020B0604020202020204" pitchFamily="34" charset="0"/>
              </a:rPr>
              <a:t>, and miss the bigger picture.</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examples on the slide. They will have a brief exercise with these examples on an upcoming slide. </a:t>
            </a:r>
          </a:p>
          <a:p>
            <a:pPr eaLnBrk="1" hangingPunct="1"/>
            <a:endParaRPr lang="en-US" altLang="en-US" dirty="0">
              <a:latin typeface="Arial" panose="020B0604020202020204" pitchFamily="34" charset="0"/>
            </a:endParaRPr>
          </a:p>
          <a:p>
            <a:endParaRPr lang="en-US" dirty="0"/>
          </a:p>
        </p:txBody>
      </p:sp>
    </p:spTree>
    <p:extLst>
      <p:ext uri="{BB962C8B-B14F-4D97-AF65-F5344CB8AC3E}">
        <p14:creationId xmlns:p14="http://schemas.microsoft.com/office/powerpoint/2010/main" val="276988537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0534218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72262354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342343424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a:t>
            </a:r>
            <a:r>
              <a:rPr lang="ja-JP" altLang="en-US" dirty="0">
                <a:latin typeface="Arial" panose="020B0604020202020204" pitchFamily="34" charset="0"/>
              </a:rPr>
              <a:t>”</a:t>
            </a:r>
            <a:endParaRPr lang="en-US" altLang="en-US" dirty="0">
              <a:latin typeface="Arial" panose="020B0604020202020204" pitchFamily="34" charset="0"/>
            </a:endParaRPr>
          </a:p>
          <a:p>
            <a:endParaRPr lang="en-US" dirty="0"/>
          </a:p>
        </p:txBody>
      </p:sp>
    </p:spTree>
    <p:extLst>
      <p:ext uri="{BB962C8B-B14F-4D97-AF65-F5344CB8AC3E}">
        <p14:creationId xmlns:p14="http://schemas.microsoft.com/office/powerpoint/2010/main" val="222487851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If the customer isn’t benefiting, we want to make sure we identify it.</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Caution people away from thinking the next process is the customer. People can optimize the process that the end customer doesn’</a:t>
            </a:r>
            <a:r>
              <a:rPr lang="en-US" altLang="ja-JP" dirty="0">
                <a:latin typeface="Arial" panose="020B0604020202020204" pitchFamily="34" charset="0"/>
              </a:rPr>
              <a:t>t care about.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Introduce the concept customer vs. stakeholders. </a:t>
            </a:r>
          </a:p>
        </p:txBody>
      </p:sp>
    </p:spTree>
    <p:extLst>
      <p:ext uri="{BB962C8B-B14F-4D97-AF65-F5344CB8AC3E}">
        <p14:creationId xmlns:p14="http://schemas.microsoft.com/office/powerpoint/2010/main" val="399486001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We will complete this chart for our process as group.</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Cover what the chart is asking for and transition to the next slide for the exercise instructions. Complete this chart on flipchart.</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22220243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defTabSz="228554" eaLnBrk="1" fontAlgn="auto" latinLnBrk="0" hangingPunct="1">
              <a:lnSpc>
                <a:spcPct val="100000"/>
              </a:lnSpc>
              <a:spcBef>
                <a:spcPts val="0"/>
              </a:spcBef>
              <a:spcAft>
                <a:spcPts val="0"/>
              </a:spcAft>
              <a:buClrTx/>
              <a:buSzTx/>
              <a:buFontTx/>
              <a:buNone/>
              <a:tabLst/>
              <a:defRPr/>
            </a:pPr>
            <a:r>
              <a:rPr lang="en-US" altLang="en-US" sz="1100" b="1" dirty="0">
                <a:latin typeface="Arial" panose="020B0604020202020204" pitchFamily="34" charset="0"/>
              </a:rPr>
              <a:t>DO:</a:t>
            </a:r>
            <a:r>
              <a:rPr lang="en-US" altLang="en-US" sz="1100" dirty="0">
                <a:latin typeface="Arial" panose="020B0604020202020204" pitchFamily="34" charset="0"/>
              </a:rPr>
              <a:t> Facilitate this as a group discussion. Have one person document answers on a chart paper.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22</a:t>
            </a:fld>
            <a:endParaRPr lang="en-US"/>
          </a:p>
        </p:txBody>
      </p:sp>
    </p:spTree>
    <p:extLst>
      <p:ext uri="{BB962C8B-B14F-4D97-AF65-F5344CB8AC3E}">
        <p14:creationId xmlns:p14="http://schemas.microsoft.com/office/powerpoint/2010/main" val="22276477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DO</a:t>
            </a:r>
            <a:r>
              <a:rPr lang="en-US" altLang="en-US" sz="1100" dirty="0">
                <a:latin typeface="Arial" panose="020B0604020202020204" pitchFamily="34" charset="0"/>
              </a:rPr>
              <a:t>: Facilitate this as a group discussion. Have the kaizen charter display on the projector for everyone to review. </a:t>
            </a:r>
          </a:p>
          <a:p>
            <a:pPr eaLnBrk="1" hangingPunct="1"/>
            <a:endParaRPr lang="en-US" altLang="en-US" sz="1100" dirty="0">
              <a:latin typeface="Arial" panose="020B0604020202020204" pitchFamily="34" charset="0"/>
            </a:endParaRPr>
          </a:p>
          <a:p>
            <a:pPr eaLnBrk="1" hangingPunct="1"/>
            <a:r>
              <a:rPr lang="en-US" altLang="en-US" sz="1100" b="1" dirty="0">
                <a:latin typeface="Arial" panose="020B0604020202020204" pitchFamily="34" charset="0"/>
              </a:rPr>
              <a:t>BREAK – 10 MINUTES</a:t>
            </a:r>
          </a:p>
        </p:txBody>
      </p:sp>
      <p:sp>
        <p:nvSpPr>
          <p:cNvPr id="4" name="Slide Number Placeholder 3"/>
          <p:cNvSpPr>
            <a:spLocks noGrp="1"/>
          </p:cNvSpPr>
          <p:nvPr>
            <p:ph type="sldNum" sz="quarter" idx="5"/>
          </p:nvPr>
        </p:nvSpPr>
        <p:spPr/>
        <p:txBody>
          <a:bodyPr/>
          <a:lstStyle/>
          <a:p>
            <a:fld id="{AECD8548-F1A2-4EDF-A416-5F2BB6B8F64C}" type="slidenum">
              <a:rPr lang="en-US" smtClean="0"/>
              <a:t>23</a:t>
            </a:fld>
            <a:endParaRPr lang="en-US"/>
          </a:p>
        </p:txBody>
      </p:sp>
    </p:spTree>
    <p:extLst>
      <p:ext uri="{BB962C8B-B14F-4D97-AF65-F5344CB8AC3E}">
        <p14:creationId xmlns:p14="http://schemas.microsoft.com/office/powerpoint/2010/main" val="11923503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first step of the VSM process which is to Select the Product or Service Family. Note that although this has actually been done prior to this event, this is an important part to the overall VSM process. The purpose for reviewing this now is so that we can all see where the information for this event originated.</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section objectives. </a:t>
            </a:r>
          </a:p>
        </p:txBody>
      </p:sp>
      <p:sp>
        <p:nvSpPr>
          <p:cNvPr id="4" name="Slide Number Placeholder 3"/>
          <p:cNvSpPr>
            <a:spLocks noGrp="1"/>
          </p:cNvSpPr>
          <p:nvPr>
            <p:ph type="sldNum" sz="quarter" idx="5"/>
          </p:nvPr>
        </p:nvSpPr>
        <p:spPr/>
        <p:txBody>
          <a:bodyPr/>
          <a:lstStyle/>
          <a:p>
            <a:fld id="{AECD8548-F1A2-4EDF-A416-5F2BB6B8F64C}" type="slidenum">
              <a:rPr lang="en-US" smtClean="0"/>
              <a:t>24</a:t>
            </a:fld>
            <a:endParaRPr lang="en-US"/>
          </a:p>
        </p:txBody>
      </p:sp>
    </p:spTree>
    <p:extLst>
      <p:ext uri="{BB962C8B-B14F-4D97-AF65-F5344CB8AC3E}">
        <p14:creationId xmlns:p14="http://schemas.microsoft.com/office/powerpoint/2010/main" val="377600729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There are three major steps to creating the Current State Map, and we will follow these steps when we map our process. First, we walk the entire value stream as a team from end to beginning. The purpose here is to get an understanding of the flow and primary processes that the VALUE OBJECT flows through.</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Why do you think we walk the process backwards?</a:t>
            </a:r>
            <a:r>
              <a:rPr lang="ja-JP" altLang="en-US" dirty="0">
                <a:latin typeface="Arial" panose="020B0604020202020204" pitchFamily="34" charset="0"/>
              </a:rPr>
              <a:t>”</a:t>
            </a:r>
            <a:r>
              <a:rPr lang="en-US" altLang="ja-JP" dirty="0">
                <a:latin typeface="Arial" panose="020B0604020202020204" pitchFamily="34" charset="0"/>
              </a:rPr>
              <a:t> (answer: we start with the customer and walk backwards so that we always are viewing the current state from the customer</a:t>
            </a:r>
            <a:r>
              <a:rPr lang="ja-JP" altLang="en-US" dirty="0">
                <a:latin typeface="Arial" panose="020B0604020202020204" pitchFamily="34" charset="0"/>
              </a:rPr>
              <a:t>’</a:t>
            </a:r>
            <a:r>
              <a:rPr lang="en-US" altLang="ja-JP" dirty="0">
                <a:latin typeface="Arial" panose="020B0604020202020204" pitchFamily="34" charset="0"/>
              </a:rPr>
              <a:t>s perspective. Also when you walk backwards you see the waste more clearly. When you walk the process from beginning to end – you run the danger of mapping how the process should be – not how it really is.</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Next we return and create a large map of just the processes. Then we identify what data we will need to get, where the data is, and how we will need to get it. This is Team Walk #2.</a:t>
            </a:r>
            <a:r>
              <a:rPr lang="ja-JP" altLang="en-US" dirty="0">
                <a:latin typeface="Arial" panose="020B0604020202020204" pitchFamily="34" charset="0"/>
              </a:rPr>
              <a:t>”</a:t>
            </a:r>
            <a:r>
              <a:rPr lang="en-US" altLang="ja-JP" dirty="0">
                <a:latin typeface="Arial" panose="020B0604020202020204" pitchFamily="34" charset="0"/>
              </a:rPr>
              <a:t> (note: depending on size of the group – the group may need to sub-divide and go collect the data).</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Finally, we return to our common area and create the full Current State Map with all of our data.</a:t>
            </a:r>
            <a:r>
              <a:rPr lang="ja-JP" altLang="en-US" dirty="0">
                <a:latin typeface="Arial" panose="020B0604020202020204" pitchFamily="34" charset="0"/>
              </a:rPr>
              <a:t>”</a:t>
            </a:r>
            <a:endParaRPr lang="en-US" altLang="en-US" dirty="0">
              <a:latin typeface="Arial" panose="020B0604020202020204" pitchFamily="34" charset="0"/>
            </a:endParaRPr>
          </a:p>
          <a:p>
            <a:endParaRPr lang="en-US" dirty="0"/>
          </a:p>
        </p:txBody>
      </p:sp>
    </p:spTree>
    <p:extLst>
      <p:ext uri="{BB962C8B-B14F-4D97-AF65-F5344CB8AC3E}">
        <p14:creationId xmlns:p14="http://schemas.microsoft.com/office/powerpoint/2010/main" val="89764459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sz="2000" b="1" dirty="0">
                <a:latin typeface="Arial" panose="020B0604020202020204" pitchFamily="34" charset="0"/>
              </a:rPr>
              <a:t>SAY: </a:t>
            </a:r>
            <a:r>
              <a:rPr lang="ja-JP" altLang="en-US" sz="2000" dirty="0">
                <a:latin typeface="Arial" panose="020B0604020202020204" pitchFamily="34" charset="0"/>
              </a:rPr>
              <a:t>“</a:t>
            </a:r>
            <a:r>
              <a:rPr lang="en-US" altLang="ja-JP" sz="2000" dirty="0">
                <a:latin typeface="Arial" panose="020B0604020202020204" pitchFamily="34" charset="0"/>
              </a:rPr>
              <a:t>As was mentioned on the previous slide, the team walks the process from end to beginning. This allows the team to process as it is, not what it is supposed to be. Think of walking in a stream with the current. The current pushes you forward in the direction it wants you to go. You move along quickly and may not notice the details of your surroundings. Now if you turn in that stream and walk against the current, you are going to notice every rock and branch that you can hold on to in order to pull you ahead. You are much more aware of what is around you. The same holds true for Value Stream Mapping.</a:t>
            </a:r>
            <a:r>
              <a:rPr lang="ja-JP" altLang="en-US" sz="2000" dirty="0">
                <a:latin typeface="Arial" panose="020B0604020202020204" pitchFamily="34" charset="0"/>
              </a:rPr>
              <a:t>”</a:t>
            </a:r>
            <a:endParaRPr lang="en-US" altLang="en-US" sz="2000" dirty="0">
              <a:latin typeface="Arial" panose="020B0604020202020204" pitchFamily="34" charset="0"/>
            </a:endParaRPr>
          </a:p>
          <a:p>
            <a:endParaRPr lang="en-US" sz="2400" dirty="0"/>
          </a:p>
        </p:txBody>
      </p:sp>
    </p:spTree>
    <p:extLst>
      <p:ext uri="{BB962C8B-B14F-4D97-AF65-F5344CB8AC3E}">
        <p14:creationId xmlns:p14="http://schemas.microsoft.com/office/powerpoint/2010/main" val="291131678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slide is meant to show the general real estate allotted for a Value Stream Map.</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what gets drawn where. </a:t>
            </a:r>
          </a:p>
        </p:txBody>
      </p:sp>
    </p:spTree>
    <p:extLst>
      <p:ext uri="{BB962C8B-B14F-4D97-AF65-F5344CB8AC3E}">
        <p14:creationId xmlns:p14="http://schemas.microsoft.com/office/powerpoint/2010/main" val="209915803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DO:</a:t>
            </a:r>
            <a:r>
              <a:rPr lang="en-US" altLang="en-US" sz="1100" dirty="0">
                <a:latin typeface="Arial" panose="020B0604020202020204" pitchFamily="34" charset="0"/>
              </a:rPr>
              <a:t> Pass out the 11x17</a:t>
            </a:r>
            <a:r>
              <a:rPr lang="ja-JP" altLang="en-US" sz="1100" dirty="0">
                <a:latin typeface="Arial" panose="020B0604020202020204" pitchFamily="34" charset="0"/>
              </a:rPr>
              <a:t>”</a:t>
            </a:r>
            <a:r>
              <a:rPr lang="en-US" altLang="ja-JP" sz="1100" dirty="0">
                <a:latin typeface="Arial" panose="020B0604020202020204" pitchFamily="34" charset="0"/>
              </a:rPr>
              <a:t> paper, markers, calculators. Read the instructions of the exercise. Emphasize that they are to draw exactly what they see during the process. Make sure you tell the class then when they are complete this exercise, they are to hold on to their maps for we will use them again in a later section of the material. </a:t>
            </a:r>
            <a:endParaRPr lang="en-US" altLang="en-US" sz="11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28</a:t>
            </a:fld>
            <a:endParaRPr lang="en-US"/>
          </a:p>
        </p:txBody>
      </p:sp>
    </p:spTree>
    <p:extLst>
      <p:ext uri="{BB962C8B-B14F-4D97-AF65-F5344CB8AC3E}">
        <p14:creationId xmlns:p14="http://schemas.microsoft.com/office/powerpoint/2010/main" val="398750231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HANDOUT</a:t>
            </a:r>
          </a:p>
        </p:txBody>
      </p:sp>
    </p:spTree>
    <p:extLst>
      <p:ext uri="{BB962C8B-B14F-4D97-AF65-F5344CB8AC3E}">
        <p14:creationId xmlns:p14="http://schemas.microsoft.com/office/powerpoint/2010/main" val="361199913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HANDOUT</a:t>
            </a:r>
          </a:p>
        </p:txBody>
      </p:sp>
    </p:spTree>
    <p:extLst>
      <p:ext uri="{BB962C8B-B14F-4D97-AF65-F5344CB8AC3E}">
        <p14:creationId xmlns:p14="http://schemas.microsoft.com/office/powerpoint/2010/main" val="225189231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HANDOUT</a:t>
            </a:r>
          </a:p>
        </p:txBody>
      </p:sp>
    </p:spTree>
    <p:extLst>
      <p:ext uri="{BB962C8B-B14F-4D97-AF65-F5344CB8AC3E}">
        <p14:creationId xmlns:p14="http://schemas.microsoft.com/office/powerpoint/2010/main" val="368837207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HANDOUT</a:t>
            </a:r>
          </a:p>
        </p:txBody>
      </p:sp>
    </p:spTree>
    <p:extLst>
      <p:ext uri="{BB962C8B-B14F-4D97-AF65-F5344CB8AC3E}">
        <p14:creationId xmlns:p14="http://schemas.microsoft.com/office/powerpoint/2010/main" val="48794968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424546804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40150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 large white box on this slide represents the paper on which the Value Stream Map is being drawn. Anytime you come to a slide in this series that shows the map on the box – the class must stop and draw the map themselves on their own sheets of 11x17</a:t>
            </a:r>
            <a:r>
              <a:rPr lang="ja-JP" altLang="en-US" dirty="0">
                <a:latin typeface="Arial" panose="020B0604020202020204" pitchFamily="34" charset="0"/>
              </a:rPr>
              <a:t>”</a:t>
            </a:r>
            <a:r>
              <a:rPr lang="en-US" altLang="ja-JP" dirty="0">
                <a:latin typeface="Arial" panose="020B0604020202020204" pitchFamily="34" charset="0"/>
              </a:rPr>
              <a:t> paper. </a:t>
            </a:r>
            <a:endParaRPr lang="en-US" altLang="en-US" dirty="0">
              <a:latin typeface="Arial" panose="020B0604020202020204" pitchFamily="34" charset="0"/>
            </a:endParaRPr>
          </a:p>
        </p:txBody>
      </p:sp>
    </p:spTree>
    <p:extLst>
      <p:ext uri="{BB962C8B-B14F-4D97-AF65-F5344CB8AC3E}">
        <p14:creationId xmlns:p14="http://schemas.microsoft.com/office/powerpoint/2010/main" val="414650306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86986279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the definition for takt time here and the exact calculation. Review the example for MME to calculate takt time. </a:t>
            </a:r>
          </a:p>
        </p:txBody>
      </p:sp>
    </p:spTree>
    <p:extLst>
      <p:ext uri="{BB962C8B-B14F-4D97-AF65-F5344CB8AC3E}">
        <p14:creationId xmlns:p14="http://schemas.microsoft.com/office/powerpoint/2010/main" val="29711967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2095654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212263484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Further detail breakdown of processes below this level is inappropriate for VSM and is better addressed using process mapping tools (i.e. flowcharting) as part of subsequent kaizen events.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You might have 3 different processes all occurring at the same workbench. If inventory is accumulating between each process – these would be drawn as separate process boxes.</a:t>
            </a:r>
            <a:r>
              <a:rPr lang="ja-JP" altLang="en-US" sz="800" dirty="0">
                <a:latin typeface="Arial" panose="020B0604020202020204" pitchFamily="34" charset="0"/>
              </a:rPr>
              <a:t>”</a:t>
            </a:r>
            <a:endParaRPr lang="en-US" altLang="en-US" sz="800" dirty="0">
              <a:latin typeface="Arial" panose="020B0604020202020204" pitchFamily="34" charset="0"/>
            </a:endParaRPr>
          </a:p>
        </p:txBody>
      </p:sp>
    </p:spTree>
    <p:extLst>
      <p:ext uri="{BB962C8B-B14F-4D97-AF65-F5344CB8AC3E}">
        <p14:creationId xmlns:p14="http://schemas.microsoft.com/office/powerpoint/2010/main" val="157648164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Remind class not to draw anything just yet.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When mapping processes there are three icons we start with: Process Box, Data Box, and # of Workers/Processors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icons on slide for each.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Now we begin to walk the processes backwards. The last process is </a:t>
            </a:r>
            <a:r>
              <a:rPr lang="ja-JP" altLang="en-US" sz="800" dirty="0">
                <a:latin typeface="Arial" panose="020B0604020202020204" pitchFamily="34" charset="0"/>
              </a:rPr>
              <a:t>“</a:t>
            </a:r>
            <a:r>
              <a:rPr lang="en-US" altLang="ja-JP" sz="800" dirty="0">
                <a:latin typeface="Arial" panose="020B0604020202020204" pitchFamily="34" charset="0"/>
              </a:rPr>
              <a:t>Break Form</a:t>
            </a:r>
            <a:r>
              <a:rPr lang="ja-JP" altLang="en-US" sz="800" dirty="0">
                <a:latin typeface="Arial" panose="020B0604020202020204" pitchFamily="34" charset="0"/>
              </a:rPr>
              <a:t>”</a:t>
            </a:r>
            <a:r>
              <a:rPr lang="en-US" altLang="ja-JP" sz="800" dirty="0">
                <a:latin typeface="Arial" panose="020B0604020202020204" pitchFamily="34" charset="0"/>
              </a:rPr>
              <a:t>. Lets review what the data is telling us.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data on the slide. Click to animate what gets populated where in the Process and Data Box. </a:t>
            </a:r>
          </a:p>
        </p:txBody>
      </p:sp>
    </p:spTree>
    <p:extLst>
      <p:ext uri="{BB962C8B-B14F-4D97-AF65-F5344CB8AC3E}">
        <p14:creationId xmlns:p14="http://schemas.microsoft.com/office/powerpoint/2010/main" val="218132926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Remind class not to draw anything just yet.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When mapping processes there are three icons we start with: Process Box, Data Box, and # of Workers/Processors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icons on slide for each.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Now we begin to walk the processes backwards. The last process is </a:t>
            </a:r>
            <a:r>
              <a:rPr lang="ja-JP" altLang="en-US" sz="800" dirty="0">
                <a:latin typeface="Arial" panose="020B0604020202020204" pitchFamily="34" charset="0"/>
              </a:rPr>
              <a:t>“</a:t>
            </a:r>
            <a:r>
              <a:rPr lang="en-US" altLang="ja-JP" sz="800" dirty="0">
                <a:latin typeface="Arial" panose="020B0604020202020204" pitchFamily="34" charset="0"/>
              </a:rPr>
              <a:t>Break Form</a:t>
            </a:r>
            <a:r>
              <a:rPr lang="ja-JP" altLang="en-US" sz="800" dirty="0">
                <a:latin typeface="Arial" panose="020B0604020202020204" pitchFamily="34" charset="0"/>
              </a:rPr>
              <a:t>”</a:t>
            </a:r>
            <a:r>
              <a:rPr lang="en-US" altLang="ja-JP" sz="800" dirty="0">
                <a:latin typeface="Arial" panose="020B0604020202020204" pitchFamily="34" charset="0"/>
              </a:rPr>
              <a:t>. Lets review what the data is telling us.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data on the slide. Click to animate what gets populated where in the Process and Data Box. </a:t>
            </a:r>
          </a:p>
        </p:txBody>
      </p:sp>
    </p:spTree>
    <p:extLst>
      <p:ext uri="{BB962C8B-B14F-4D97-AF65-F5344CB8AC3E}">
        <p14:creationId xmlns:p14="http://schemas.microsoft.com/office/powerpoint/2010/main" val="229160246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86490946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232620052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On the value stream map we will be using the standard notation for seconds: </a:t>
            </a:r>
            <a:r>
              <a:rPr lang="ja-JP" altLang="en-US" dirty="0">
                <a:latin typeface="Arial" panose="020B0604020202020204" pitchFamily="34" charset="0"/>
              </a:rPr>
              <a:t>“</a:t>
            </a:r>
            <a:r>
              <a:rPr lang="en-US" altLang="ja-JP" dirty="0">
                <a:latin typeface="Arial" panose="020B0604020202020204" pitchFamily="34" charset="0"/>
              </a:rPr>
              <a:t> (two tick marks) and for minutes: </a:t>
            </a:r>
            <a:r>
              <a:rPr lang="ja-JP" altLang="en-US" dirty="0">
                <a:latin typeface="Arial" panose="020B0604020202020204" pitchFamily="34" charset="0"/>
              </a:rPr>
              <a:t>‘</a:t>
            </a:r>
            <a:r>
              <a:rPr lang="en-US" altLang="ja-JP" dirty="0">
                <a:latin typeface="Arial" panose="020B0604020202020204" pitchFamily="34" charset="0"/>
              </a:rPr>
              <a:t> (one tick mark).</a:t>
            </a:r>
            <a:endParaRPr lang="en-US" altLang="en-US" dirty="0">
              <a:latin typeface="Arial" panose="020B0604020202020204" pitchFamily="34" charset="0"/>
            </a:endParaRPr>
          </a:p>
        </p:txBody>
      </p:sp>
    </p:spTree>
    <p:extLst>
      <p:ext uri="{BB962C8B-B14F-4D97-AF65-F5344CB8AC3E}">
        <p14:creationId xmlns:p14="http://schemas.microsoft.com/office/powerpoint/2010/main" val="272999738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220542053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There are slides that explain each process step. They are not intended to be reviewed all at once, but rather as each team is just about to complete that step. </a:t>
            </a:r>
          </a:p>
          <a:p>
            <a:pPr eaLnBrk="1" hangingPunct="1"/>
            <a:r>
              <a:rPr lang="en-US" altLang="en-US" dirty="0">
                <a:latin typeface="Arial" panose="020B0604020202020204" pitchFamily="34" charset="0"/>
              </a:rPr>
              <a:t>If it is not feasible to have the projector running for each of these short segments, you may have the participants refer only to their workbooks as you review the method for mapping. </a:t>
            </a:r>
          </a:p>
        </p:txBody>
      </p:sp>
    </p:spTree>
    <p:extLst>
      <p:ext uri="{BB962C8B-B14F-4D97-AF65-F5344CB8AC3E}">
        <p14:creationId xmlns:p14="http://schemas.microsoft.com/office/powerpoint/2010/main" val="124800964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4153429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1426598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NOTE:</a:t>
            </a:r>
            <a:r>
              <a:rPr lang="en-US" altLang="en-US" sz="1100" dirty="0">
                <a:latin typeface="Arial" panose="020B0604020202020204" pitchFamily="34" charset="0"/>
              </a:rPr>
              <a:t> Give the team an idea of what time they should return from this exercise so that they budget their time wisely. </a:t>
            </a:r>
          </a:p>
        </p:txBody>
      </p:sp>
      <p:sp>
        <p:nvSpPr>
          <p:cNvPr id="4" name="Slide Number Placeholder 3"/>
          <p:cNvSpPr>
            <a:spLocks noGrp="1"/>
          </p:cNvSpPr>
          <p:nvPr>
            <p:ph type="sldNum" sz="quarter" idx="5"/>
          </p:nvPr>
        </p:nvSpPr>
        <p:spPr/>
        <p:txBody>
          <a:bodyPr/>
          <a:lstStyle/>
          <a:p>
            <a:fld id="{AECD8548-F1A2-4EDF-A416-5F2BB6B8F64C}" type="slidenum">
              <a:rPr lang="en-US" smtClean="0"/>
              <a:t>50</a:t>
            </a:fld>
            <a:endParaRPr lang="en-US"/>
          </a:p>
        </p:txBody>
      </p:sp>
    </p:spTree>
    <p:extLst>
      <p:ext uri="{BB962C8B-B14F-4D97-AF65-F5344CB8AC3E}">
        <p14:creationId xmlns:p14="http://schemas.microsoft.com/office/powerpoint/2010/main" val="203271622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10245511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SAY: </a:t>
            </a:r>
            <a:r>
              <a:rPr lang="ja-JP" altLang="en-US" sz="800" dirty="0">
                <a:latin typeface="Arial" panose="020B0604020202020204" pitchFamily="34" charset="0"/>
              </a:rPr>
              <a:t>“</a:t>
            </a:r>
            <a:r>
              <a:rPr lang="en-US" altLang="ja-JP" sz="800" dirty="0">
                <a:latin typeface="Arial" panose="020B0604020202020204" pitchFamily="34" charset="0"/>
              </a:rPr>
              <a:t>Before we begin to map, there are a few definitions we need to cover: Drop Off Interval and Processing Time.</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 </a:t>
            </a:r>
            <a:r>
              <a:rPr lang="en-US" altLang="en-US" sz="800" dirty="0">
                <a:latin typeface="Arial" panose="020B0604020202020204" pitchFamily="34" charset="0"/>
              </a:rPr>
              <a:t>Review definition for Drop Off Interval</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DOI should be ideally observed, however there are some times when the DOI times are too long to observe in the event and you have a defined time to gather your data…</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NOTE:</a:t>
            </a:r>
            <a:r>
              <a:rPr lang="en-US" altLang="en-US" sz="800" dirty="0">
                <a:latin typeface="Arial" panose="020B0604020202020204" pitchFamily="34" charset="0"/>
              </a:rPr>
              <a:t> DOI is expressed in the lowest time increment amount possible. In this calculation you will see that we convert from minutes to seconds.</a:t>
            </a:r>
          </a:p>
        </p:txBody>
      </p:sp>
    </p:spTree>
    <p:extLst>
      <p:ext uri="{BB962C8B-B14F-4D97-AF65-F5344CB8AC3E}">
        <p14:creationId xmlns:p14="http://schemas.microsoft.com/office/powerpoint/2010/main" val="293852295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239713" indent="-239713" eaLnBrk="1" hangingPunct="1"/>
            <a:r>
              <a:rPr lang="en-US" altLang="en-US" sz="800" b="1" dirty="0">
                <a:latin typeface="Arial" panose="020B0604020202020204" pitchFamily="34" charset="0"/>
              </a:rPr>
              <a:t>DO: </a:t>
            </a:r>
            <a:r>
              <a:rPr lang="en-US" altLang="en-US" sz="800" dirty="0">
                <a:latin typeface="Arial" panose="020B0604020202020204" pitchFamily="34" charset="0"/>
              </a:rPr>
              <a:t>Review definition of Processing Time and the difference between Processing Time and Drop-Off Interval. </a:t>
            </a:r>
          </a:p>
          <a:p>
            <a:pPr marL="239713" indent="-239713" eaLnBrk="1" hangingPunct="1"/>
            <a:r>
              <a:rPr lang="en-US" altLang="en-US" sz="800" b="1" dirty="0">
                <a:latin typeface="Arial" panose="020B0604020202020204" pitchFamily="34" charset="0"/>
              </a:rPr>
              <a:t>NOTE: </a:t>
            </a:r>
            <a:r>
              <a:rPr lang="en-US" altLang="en-US" sz="800" dirty="0">
                <a:latin typeface="Arial" panose="020B0604020202020204" pitchFamily="34" charset="0"/>
              </a:rPr>
              <a:t>DOI is expressed in the lowest time increment amount possible. In this calculation you will see that we convert from minutes to seconds.</a:t>
            </a:r>
          </a:p>
          <a:p>
            <a:pPr marL="239713" indent="-239713" eaLnBrk="1" hangingPunct="1"/>
            <a:r>
              <a:rPr lang="en-US" altLang="en-US" sz="800" b="1" dirty="0">
                <a:latin typeface="Arial" panose="020B0604020202020204" pitchFamily="34" charset="0"/>
              </a:rPr>
              <a:t>OPTIONAL EXERCISE TO DEMONSTRATE DIFFERENCE BETWEEN DOI AND PROCESSING TIME </a:t>
            </a:r>
            <a:r>
              <a:rPr lang="en-US" altLang="en-US" sz="800" dirty="0">
                <a:latin typeface="Arial" panose="020B0604020202020204" pitchFamily="34" charset="0"/>
              </a:rPr>
              <a:t>(you can facilitate this with several small groups simultaneously, or have one group demonstrate with the rest of the class watching):</a:t>
            </a:r>
          </a:p>
          <a:p>
            <a:pPr marL="239713" indent="-239713" eaLnBrk="1" hangingPunct="1"/>
            <a:r>
              <a:rPr lang="en-US" altLang="en-US" sz="800" dirty="0">
                <a:latin typeface="Arial" panose="020B0604020202020204" pitchFamily="34" charset="0"/>
              </a:rPr>
              <a:t>Number of Participants needed: 7 (1 timer, 6 operators)</a:t>
            </a:r>
          </a:p>
          <a:p>
            <a:pPr marL="239713" indent="-239713" eaLnBrk="1" hangingPunct="1"/>
            <a:r>
              <a:rPr lang="en-US" altLang="en-US" sz="800" dirty="0">
                <a:latin typeface="Arial" panose="020B0604020202020204" pitchFamily="34" charset="0"/>
              </a:rPr>
              <a:t>Prep: 10 blank post-it notes on a sheet of paper labeled </a:t>
            </a:r>
            <a:r>
              <a:rPr lang="ja-JP" altLang="en-US" sz="800" dirty="0">
                <a:latin typeface="Arial" panose="020B0604020202020204" pitchFamily="34" charset="0"/>
              </a:rPr>
              <a:t>“</a:t>
            </a:r>
            <a:r>
              <a:rPr lang="en-US" altLang="ja-JP" sz="800" dirty="0">
                <a:latin typeface="Arial" panose="020B0604020202020204" pitchFamily="34" charset="0"/>
              </a:rPr>
              <a:t>Raw Material</a:t>
            </a:r>
            <a:r>
              <a:rPr lang="ja-JP" altLang="en-US" sz="800" dirty="0">
                <a:latin typeface="Arial" panose="020B0604020202020204" pitchFamily="34" charset="0"/>
              </a:rPr>
              <a:t>”</a:t>
            </a:r>
            <a:r>
              <a:rPr lang="en-US" altLang="ja-JP" sz="800" dirty="0">
                <a:latin typeface="Arial" panose="020B0604020202020204" pitchFamily="34" charset="0"/>
              </a:rPr>
              <a:t>, one sheet of paper labeled </a:t>
            </a:r>
            <a:r>
              <a:rPr lang="ja-JP" altLang="en-US" sz="800" dirty="0">
                <a:latin typeface="Arial" panose="020B0604020202020204" pitchFamily="34" charset="0"/>
              </a:rPr>
              <a:t>“</a:t>
            </a:r>
            <a:r>
              <a:rPr lang="en-US" altLang="ja-JP" sz="800" dirty="0">
                <a:latin typeface="Arial" panose="020B0604020202020204" pitchFamily="34" charset="0"/>
              </a:rPr>
              <a:t>Finished Goods</a:t>
            </a:r>
            <a:r>
              <a:rPr lang="ja-JP" altLang="en-US" sz="800" dirty="0">
                <a:latin typeface="Arial" panose="020B0604020202020204" pitchFamily="34" charset="0"/>
              </a:rPr>
              <a:t>”</a:t>
            </a:r>
            <a:r>
              <a:rPr lang="en-US" altLang="ja-JP" sz="800" dirty="0">
                <a:latin typeface="Arial" panose="020B0604020202020204" pitchFamily="34" charset="0"/>
              </a:rPr>
              <a:t>.</a:t>
            </a:r>
          </a:p>
          <a:p>
            <a:pPr marL="239713" indent="-239713" eaLnBrk="1" hangingPunct="1">
              <a:buFontTx/>
              <a:buAutoNum type="arabicPeriod"/>
            </a:pPr>
            <a:r>
              <a:rPr lang="en-US" altLang="en-US" sz="800" dirty="0">
                <a:latin typeface="Arial" panose="020B0604020202020204" pitchFamily="34" charset="0"/>
              </a:rPr>
              <a:t>Create a u-shaped </a:t>
            </a:r>
            <a:r>
              <a:rPr lang="ja-JP" altLang="en-US" sz="800" dirty="0">
                <a:latin typeface="Arial" panose="020B0604020202020204" pitchFamily="34" charset="0"/>
              </a:rPr>
              <a:t>“</a:t>
            </a:r>
            <a:r>
              <a:rPr lang="en-US" altLang="ja-JP" sz="800" dirty="0">
                <a:latin typeface="Arial" panose="020B0604020202020204" pitchFamily="34" charset="0"/>
              </a:rPr>
              <a:t>cell</a:t>
            </a:r>
            <a:r>
              <a:rPr lang="ja-JP" altLang="en-US" sz="800" dirty="0">
                <a:latin typeface="Arial" panose="020B0604020202020204" pitchFamily="34" charset="0"/>
              </a:rPr>
              <a:t>”</a:t>
            </a:r>
            <a:r>
              <a:rPr lang="en-US" altLang="ja-JP" sz="800" dirty="0">
                <a:latin typeface="Arial" panose="020B0604020202020204" pitchFamily="34" charset="0"/>
              </a:rPr>
              <a:t> of 6 people.</a:t>
            </a:r>
          </a:p>
          <a:p>
            <a:pPr marL="239713" indent="-239713" eaLnBrk="1" hangingPunct="1">
              <a:buFontTx/>
              <a:buAutoNum type="arabicPeriod"/>
            </a:pPr>
            <a:r>
              <a:rPr lang="en-US" altLang="en-US" sz="800" dirty="0">
                <a:latin typeface="Arial" panose="020B0604020202020204" pitchFamily="34" charset="0"/>
              </a:rPr>
              <a:t>Place the sheet of raw material next to Operator #1. The exercise starts with Operator #1 taking the first post-it note. He/she is to sign her first name and pass to the second operator. Each operator then repeats – signing only their first name and passing the post-it note to the next operator in sequence (only when the next operator is ready to receive it). This process continues thru to Operator #6. The process ends when Operator #6 moves the post-it note to the finished goods paper. </a:t>
            </a:r>
          </a:p>
          <a:p>
            <a:pPr marL="239713" indent="-239713" eaLnBrk="1" hangingPunct="1">
              <a:buFontTx/>
              <a:buAutoNum type="arabicPeriod"/>
            </a:pPr>
            <a:r>
              <a:rPr lang="en-US" altLang="en-US" sz="800" dirty="0">
                <a:latin typeface="Arial" panose="020B0604020202020204" pitchFamily="34" charset="0"/>
              </a:rPr>
              <a:t>The timer must time (1) the amount of time for operator #1 to start the process until operator #6 completes the process (this is the processing time) and (2) the frequency with which a post-it note </a:t>
            </a:r>
            <a:r>
              <a:rPr lang="ja-JP" altLang="en-US" sz="800" dirty="0">
                <a:latin typeface="Arial" panose="020B0604020202020204" pitchFamily="34" charset="0"/>
              </a:rPr>
              <a:t>“</a:t>
            </a:r>
            <a:r>
              <a:rPr lang="en-US" altLang="ja-JP" sz="800" dirty="0">
                <a:latin typeface="Arial" panose="020B0604020202020204" pitchFamily="34" charset="0"/>
              </a:rPr>
              <a:t>drops off</a:t>
            </a:r>
            <a:r>
              <a:rPr lang="ja-JP" altLang="en-US" sz="800" dirty="0">
                <a:latin typeface="Arial" panose="020B0604020202020204" pitchFamily="34" charset="0"/>
              </a:rPr>
              <a:t>”</a:t>
            </a:r>
            <a:r>
              <a:rPr lang="en-US" altLang="ja-JP" sz="800" dirty="0">
                <a:latin typeface="Arial" panose="020B0604020202020204" pitchFamily="34" charset="0"/>
              </a:rPr>
              <a:t> the end of the process (every ___ seconds 1 post-it note drops off the end of the process (this is the DOI)</a:t>
            </a:r>
          </a:p>
          <a:p>
            <a:pPr marL="239713" indent="-239713" eaLnBrk="1" hangingPunct="1"/>
            <a:r>
              <a:rPr lang="en-US" altLang="en-US" sz="800" b="1" dirty="0">
                <a:latin typeface="Arial" panose="020B0604020202020204" pitchFamily="34" charset="0"/>
              </a:rPr>
              <a:t>NOTE: </a:t>
            </a:r>
            <a:r>
              <a:rPr lang="en-US" altLang="en-US" sz="800" dirty="0">
                <a:latin typeface="Arial" panose="020B0604020202020204" pitchFamily="34" charset="0"/>
              </a:rPr>
              <a:t>DOI is calculated </a:t>
            </a:r>
            <a:r>
              <a:rPr lang="ja-JP" altLang="en-US" sz="800" dirty="0">
                <a:latin typeface="Arial" panose="020B0604020202020204" pitchFamily="34" charset="0"/>
              </a:rPr>
              <a:t>“</a:t>
            </a:r>
            <a:r>
              <a:rPr lang="en-US" altLang="ja-JP" sz="800" dirty="0">
                <a:latin typeface="Arial" panose="020B0604020202020204" pitchFamily="34" charset="0"/>
              </a:rPr>
              <a:t>when the line is wet</a:t>
            </a:r>
            <a:r>
              <a:rPr lang="ja-JP" altLang="en-US" sz="800" dirty="0">
                <a:latin typeface="Arial" panose="020B0604020202020204" pitchFamily="34" charset="0"/>
              </a:rPr>
              <a:t>”</a:t>
            </a:r>
            <a:r>
              <a:rPr lang="en-US" altLang="ja-JP" sz="800" dirty="0">
                <a:latin typeface="Arial" panose="020B0604020202020204" pitchFamily="34" charset="0"/>
              </a:rPr>
              <a:t> – so for purposes of this exercise, this time may be observed after the 1</a:t>
            </a:r>
            <a:r>
              <a:rPr lang="en-US" altLang="ja-JP" sz="800" baseline="30000" dirty="0">
                <a:latin typeface="Arial" panose="020B0604020202020204" pitchFamily="34" charset="0"/>
              </a:rPr>
              <a:t>st</a:t>
            </a:r>
            <a:r>
              <a:rPr lang="en-US" altLang="ja-JP" sz="800" dirty="0">
                <a:latin typeface="Arial" panose="020B0604020202020204" pitchFamily="34" charset="0"/>
              </a:rPr>
              <a:t> post-it note completes the exercise. </a:t>
            </a:r>
          </a:p>
          <a:p>
            <a:pPr marL="239713" indent="-239713" eaLnBrk="1" hangingPunct="1"/>
            <a:r>
              <a:rPr lang="en-US" altLang="en-US" sz="800" b="1" dirty="0">
                <a:latin typeface="Arial" panose="020B0604020202020204" pitchFamily="34" charset="0"/>
              </a:rPr>
              <a:t>KEY Take-away: </a:t>
            </a:r>
            <a:r>
              <a:rPr lang="en-US" altLang="en-US" sz="800" dirty="0">
                <a:latin typeface="Arial" panose="020B0604020202020204" pitchFamily="34" charset="0"/>
              </a:rPr>
              <a:t>DOI tells us if our process is capable of meeting TAKT time. When there is only 1 operator, the processing time equals the DOI. When there are several operators handling one piece, the processing time and DOI are different because there are more than one people working processes. </a:t>
            </a:r>
          </a:p>
        </p:txBody>
      </p:sp>
    </p:spTree>
    <p:extLst>
      <p:ext uri="{BB962C8B-B14F-4D97-AF65-F5344CB8AC3E}">
        <p14:creationId xmlns:p14="http://schemas.microsoft.com/office/powerpoint/2010/main" val="128380243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Remind class not to draw anything just yet.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When mapping processes there are three icons we start with: Process Box, Data Box, and # of Workers/Processors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icons on slide for each.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Now we begin to walk the processes backwards. The last process is </a:t>
            </a:r>
            <a:r>
              <a:rPr lang="ja-JP" altLang="en-US" sz="800" dirty="0">
                <a:latin typeface="Arial" panose="020B0604020202020204" pitchFamily="34" charset="0"/>
              </a:rPr>
              <a:t>“</a:t>
            </a:r>
            <a:r>
              <a:rPr lang="en-US" altLang="ja-JP" sz="800" dirty="0">
                <a:latin typeface="Arial" panose="020B0604020202020204" pitchFamily="34" charset="0"/>
              </a:rPr>
              <a:t>Break Form</a:t>
            </a:r>
            <a:r>
              <a:rPr lang="ja-JP" altLang="en-US" sz="800" dirty="0">
                <a:latin typeface="Arial" panose="020B0604020202020204" pitchFamily="34" charset="0"/>
              </a:rPr>
              <a:t>”</a:t>
            </a:r>
            <a:r>
              <a:rPr lang="en-US" altLang="ja-JP" sz="800" dirty="0">
                <a:latin typeface="Arial" panose="020B0604020202020204" pitchFamily="34" charset="0"/>
              </a:rPr>
              <a:t>. Lets review what the data is telling us.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data on the slide. Click to animate what gets populated where in the Process and Data Box. </a:t>
            </a:r>
          </a:p>
        </p:txBody>
      </p:sp>
    </p:spTree>
    <p:extLst>
      <p:ext uri="{BB962C8B-B14F-4D97-AF65-F5344CB8AC3E}">
        <p14:creationId xmlns:p14="http://schemas.microsoft.com/office/powerpoint/2010/main" val="77484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Remind class not to draw anything just yet.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When mapping processes there are three icons we start with: Process Box, Data Box, and # of Workers/Processors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icons on slide for each. </a:t>
            </a:r>
          </a:p>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Now we begin to walk the processes backwards. The last process is </a:t>
            </a:r>
            <a:r>
              <a:rPr lang="ja-JP" altLang="en-US" sz="800" dirty="0">
                <a:latin typeface="Arial" panose="020B0604020202020204" pitchFamily="34" charset="0"/>
              </a:rPr>
              <a:t>“</a:t>
            </a:r>
            <a:r>
              <a:rPr lang="en-US" altLang="ja-JP" sz="800" dirty="0">
                <a:latin typeface="Arial" panose="020B0604020202020204" pitchFamily="34" charset="0"/>
              </a:rPr>
              <a:t>Break Form</a:t>
            </a:r>
            <a:r>
              <a:rPr lang="ja-JP" altLang="en-US" sz="800" dirty="0">
                <a:latin typeface="Arial" panose="020B0604020202020204" pitchFamily="34" charset="0"/>
              </a:rPr>
              <a:t>”</a:t>
            </a:r>
            <a:r>
              <a:rPr lang="en-US" altLang="ja-JP" sz="800" dirty="0">
                <a:latin typeface="Arial" panose="020B0604020202020204" pitchFamily="34" charset="0"/>
              </a:rPr>
              <a:t>. Lets review what the data is telling us.</a:t>
            </a:r>
            <a:r>
              <a:rPr lang="ja-JP" altLang="en-US" sz="800" dirty="0">
                <a:latin typeface="Arial" panose="020B0604020202020204" pitchFamily="34" charset="0"/>
              </a:rPr>
              <a:t>”</a:t>
            </a:r>
            <a:endParaRPr lang="en-US" altLang="ja-JP" sz="800" dirty="0">
              <a:latin typeface="Arial" panose="020B0604020202020204" pitchFamily="34" charset="0"/>
            </a:endParaRPr>
          </a:p>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Review data on the slide. Click to animate what gets populated where in the Process and Data Box. </a:t>
            </a:r>
          </a:p>
        </p:txBody>
      </p:sp>
    </p:spTree>
    <p:extLst>
      <p:ext uri="{BB962C8B-B14F-4D97-AF65-F5344CB8AC3E}">
        <p14:creationId xmlns:p14="http://schemas.microsoft.com/office/powerpoint/2010/main" val="29753027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106296561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53654726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27318020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On the value stream map we will be using the standard notation for seconds: </a:t>
            </a:r>
            <a:r>
              <a:rPr lang="ja-JP" altLang="en-US" dirty="0">
                <a:latin typeface="Arial" panose="020B0604020202020204" pitchFamily="34" charset="0"/>
              </a:rPr>
              <a:t>“</a:t>
            </a:r>
            <a:r>
              <a:rPr lang="en-US" altLang="ja-JP" dirty="0">
                <a:latin typeface="Arial" panose="020B0604020202020204" pitchFamily="34" charset="0"/>
              </a:rPr>
              <a:t> (two tick marks) and for minutes: </a:t>
            </a:r>
            <a:r>
              <a:rPr lang="ja-JP" altLang="en-US" dirty="0">
                <a:latin typeface="Arial" panose="020B0604020202020204" pitchFamily="34" charset="0"/>
              </a:rPr>
              <a:t>‘</a:t>
            </a:r>
            <a:r>
              <a:rPr lang="en-US" altLang="ja-JP" dirty="0">
                <a:latin typeface="Arial" panose="020B0604020202020204" pitchFamily="34" charset="0"/>
              </a:rPr>
              <a:t> (one tick mark).</a:t>
            </a:r>
            <a:endParaRPr lang="en-US" altLang="en-US" dirty="0">
              <a:latin typeface="Arial" panose="020B0604020202020204" pitchFamily="34" charset="0"/>
            </a:endParaRPr>
          </a:p>
        </p:txBody>
      </p:sp>
    </p:spTree>
    <p:extLst>
      <p:ext uri="{BB962C8B-B14F-4D97-AF65-F5344CB8AC3E}">
        <p14:creationId xmlns:p14="http://schemas.microsoft.com/office/powerpoint/2010/main" val="269647884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98961177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342641691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56500327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252561178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Cover points on the slide and review MME examples. </a:t>
            </a:r>
          </a:p>
        </p:txBody>
      </p:sp>
    </p:spTree>
    <p:extLst>
      <p:ext uri="{BB962C8B-B14F-4D97-AF65-F5344CB8AC3E}">
        <p14:creationId xmlns:p14="http://schemas.microsoft.com/office/powerpoint/2010/main" val="183626747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DO:</a:t>
            </a:r>
            <a:r>
              <a:rPr lang="en-US" altLang="en-US" sz="800" dirty="0">
                <a:latin typeface="Arial" panose="020B0604020202020204" pitchFamily="34" charset="0"/>
              </a:rPr>
              <a:t> Cover points on the slide and review MME examples. </a:t>
            </a:r>
          </a:p>
        </p:txBody>
      </p:sp>
    </p:spTree>
    <p:extLst>
      <p:ext uri="{BB962C8B-B14F-4D97-AF65-F5344CB8AC3E}">
        <p14:creationId xmlns:p14="http://schemas.microsoft.com/office/powerpoint/2010/main" val="413950001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17126242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For </a:t>
            </a:r>
            <a:r>
              <a:rPr lang="ja-JP" altLang="en-US" dirty="0">
                <a:latin typeface="Arial" panose="020B0604020202020204" pitchFamily="34" charset="0"/>
              </a:rPr>
              <a:t>“</a:t>
            </a:r>
            <a:r>
              <a:rPr lang="en-US" altLang="ja-JP" dirty="0">
                <a:latin typeface="Arial" panose="020B0604020202020204" pitchFamily="34" charset="0"/>
              </a:rPr>
              <a:t>Cut</a:t>
            </a:r>
            <a:r>
              <a:rPr lang="ja-JP" altLang="en-US" dirty="0">
                <a:latin typeface="Arial" panose="020B0604020202020204" pitchFamily="34" charset="0"/>
              </a:rPr>
              <a:t>”</a:t>
            </a:r>
            <a:r>
              <a:rPr lang="en-US" altLang="ja-JP" dirty="0">
                <a:latin typeface="Arial" panose="020B0604020202020204" pitchFamily="34" charset="0"/>
              </a:rPr>
              <a:t>, remember that each sheet in the queue yields 4 pieces.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calculation to determine lead-time from queued inventory. Make sure the class understands how the lead time is calculated for each queue. </a:t>
            </a:r>
          </a:p>
        </p:txBody>
      </p:sp>
    </p:spTree>
    <p:extLst>
      <p:ext uri="{BB962C8B-B14F-4D97-AF65-F5344CB8AC3E}">
        <p14:creationId xmlns:p14="http://schemas.microsoft.com/office/powerpoint/2010/main" val="18079703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where to total Processing Time and Lead Time.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What this means is that if I am the last transaction in the bunch, it takes me 6.8 days and 1,980 seconds to complete this process. The 1,980 seconds is the amount of time work is actually being done on the transaction, the rest is time spent in queues waiting for the next step.</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144739734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77494301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102820745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sz="800" dirty="0">
              <a:latin typeface="Arial" panose="020B0604020202020204" pitchFamily="34" charset="0"/>
            </a:endParaRPr>
          </a:p>
        </p:txBody>
      </p:sp>
    </p:spTree>
    <p:extLst>
      <p:ext uri="{BB962C8B-B14F-4D97-AF65-F5344CB8AC3E}">
        <p14:creationId xmlns:p14="http://schemas.microsoft.com/office/powerpoint/2010/main" val="303013511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Have team hold onto their maps.</a:t>
            </a:r>
          </a:p>
        </p:txBody>
      </p:sp>
    </p:spTree>
    <p:extLst>
      <p:ext uri="{BB962C8B-B14F-4D97-AF65-F5344CB8AC3E}">
        <p14:creationId xmlns:p14="http://schemas.microsoft.com/office/powerpoint/2010/main" val="82257205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50132222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06914186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10652160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7017153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buSzPct val="90000"/>
              <a:buFont typeface="Wingdings" panose="05000000000000000000" pitchFamily="2" charset="2"/>
              <a:buNone/>
            </a:pPr>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gathering data, your first preference in is to go to the workplace (</a:t>
            </a:r>
            <a:r>
              <a:rPr lang="en-US" altLang="ja-JP" dirty="0" err="1">
                <a:latin typeface="Arial" panose="020B0604020202020204" pitchFamily="34" charset="0"/>
              </a:rPr>
              <a:t>gemba</a:t>
            </a:r>
            <a:r>
              <a:rPr lang="en-US" altLang="ja-JP" dirty="0">
                <a:latin typeface="Arial" panose="020B0604020202020204" pitchFamily="34" charset="0"/>
              </a:rPr>
              <a:t>) and observe the process directly.</a:t>
            </a:r>
          </a:p>
          <a:p>
            <a:pPr eaLnBrk="1" hangingPunct="1">
              <a:buSzPct val="90000"/>
              <a:buFont typeface="Wingdings" panose="05000000000000000000" pitchFamily="2" charset="2"/>
              <a:buNone/>
            </a:pPr>
            <a:r>
              <a:rPr lang="en-US" altLang="en-US" dirty="0">
                <a:latin typeface="Arial" panose="020B0604020202020204" pitchFamily="34" charset="0"/>
              </a:rPr>
              <a:t>When it is not possible to go to the workplace you should use the following data sources in the following order.</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System Generated Report or Workflow Documents</a:t>
            </a:r>
            <a:r>
              <a:rPr lang="en-US" altLang="en-US" dirty="0">
                <a:latin typeface="Arial" panose="020B0604020202020204" pitchFamily="34" charset="0"/>
                <a:ea typeface="Arial" panose="020B0604020202020204" pitchFamily="34" charset="0"/>
                <a:cs typeface="Arial" panose="020B0604020202020204" pitchFamily="34" charset="0"/>
              </a:rPr>
              <a:t> - These may be used to identify activities, frequency of occurrence, and volumes</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Historical Performance Reports</a:t>
            </a:r>
            <a:r>
              <a:rPr lang="en-US" altLang="en-US" dirty="0">
                <a:latin typeface="Arial" panose="020B0604020202020204" pitchFamily="34" charset="0"/>
                <a:ea typeface="Arial" panose="020B0604020202020204" pitchFamily="34" charset="0"/>
                <a:cs typeface="Arial" panose="020B0604020202020204" pitchFamily="34" charset="0"/>
              </a:rPr>
              <a:t> - These can be either system or manually generated and serve to provide the same data as above</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Staff Interviews</a:t>
            </a:r>
            <a:r>
              <a:rPr lang="en-US" altLang="en-US" dirty="0">
                <a:latin typeface="Arial" panose="020B0604020202020204" pitchFamily="34" charset="0"/>
                <a:ea typeface="Arial" panose="020B0604020202020204" pitchFamily="34" charset="0"/>
                <a:cs typeface="Arial" panose="020B0604020202020204" pitchFamily="34" charset="0"/>
              </a:rPr>
              <a:t> - These should be conducted carefully starting at the end of the value stream and working to the front.  They should be posed such in a manner that identifies how the thing of value arrives, from where, who provides it, how many arrive, how often, and in what condition.  Be cautious when using this data as it tends to be highly inaccurate in terms of process time, inventory and quality yield.</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Management Interviews</a:t>
            </a:r>
            <a:r>
              <a:rPr lang="en-US" altLang="en-US" dirty="0">
                <a:latin typeface="Arial" panose="020B0604020202020204" pitchFamily="34" charset="0"/>
                <a:ea typeface="Arial" panose="020B0604020202020204" pitchFamily="34" charset="0"/>
                <a:cs typeface="Arial" panose="020B0604020202020204" pitchFamily="34" charset="0"/>
              </a:rPr>
              <a:t> - These can be the least accurate as they will generally tell you what is supposed to happen not what really takes place.</a:t>
            </a:r>
          </a:p>
          <a:p>
            <a:pPr eaLnBrk="1" hangingPunct="1"/>
            <a:endParaRPr lang="en-US" altLang="en-US" sz="1100" dirty="0">
              <a:latin typeface="Arial" panose="020B0604020202020204" pitchFamily="34" charset="0"/>
            </a:endParaRPr>
          </a:p>
        </p:txBody>
      </p:sp>
    </p:spTree>
    <p:extLst>
      <p:ext uri="{BB962C8B-B14F-4D97-AF65-F5344CB8AC3E}">
        <p14:creationId xmlns:p14="http://schemas.microsoft.com/office/powerpoint/2010/main" val="266469547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ltLang="en-US" dirty="0">
              <a:latin typeface="Arial" panose="020B0604020202020204" pitchFamily="34" charset="0"/>
            </a:endParaRPr>
          </a:p>
        </p:txBody>
      </p:sp>
    </p:spTree>
    <p:extLst>
      <p:ext uri="{BB962C8B-B14F-4D97-AF65-F5344CB8AC3E}">
        <p14:creationId xmlns:p14="http://schemas.microsoft.com/office/powerpoint/2010/main" val="40905954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 Work with interviewer and lean coordinator with the fine points of interviewing and extracting information from operators in shop floor-relevant terminology.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does this step in the process do?</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do you know what to work on?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do you get your schedule from and how often?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long does this process typically take? (ask only if can</a:t>
            </a:r>
            <a:r>
              <a:rPr lang="ja-JP" altLang="en-US" dirty="0">
                <a:latin typeface="Arial" panose="020B0604020202020204" pitchFamily="34" charset="0"/>
                <a:ea typeface="MS PGothic" panose="020B0600070205080204" pitchFamily="34" charset="-128"/>
                <a:cs typeface="Arial" panose="020B0604020202020204" pitchFamily="34" charset="0"/>
              </a:rPr>
              <a:t>’</a:t>
            </a:r>
            <a:r>
              <a:rPr lang="en-US" altLang="ja-JP" dirty="0">
                <a:latin typeface="Arial" panose="020B0604020202020204" pitchFamily="34" charset="0"/>
                <a:ea typeface="MS PGothic" panose="020B0600070205080204" pitchFamily="34" charset="-128"/>
                <a:cs typeface="Arial" panose="020B0604020202020204" pitchFamily="34" charset="0"/>
              </a:rPr>
              <a:t>t be observed)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are the parts that you need to build today?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is this machine down?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are machines down for maintenance?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do you do changeovers and how long do changeovers take?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many rejects or scrap parts do you have today?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else would cause a delay in this process?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If you could make any improvements to this process what would they be?</a:t>
            </a:r>
          </a:p>
          <a:p>
            <a:pPr lvl="1" eaLnBrk="1" hangingPunct="1">
              <a:buFontTx/>
              <a:buNone/>
            </a:pPr>
            <a:r>
              <a:rPr lang="en-US" altLang="en-US" b="1" dirty="0">
                <a:latin typeface="Arial" panose="020B0604020202020204" pitchFamily="34" charset="0"/>
                <a:ea typeface="Arial" panose="020B0604020202020204" pitchFamily="34" charset="0"/>
                <a:cs typeface="Arial" panose="020B0604020202020204" pitchFamily="34" charset="0"/>
              </a:rPr>
              <a:t>Not an exhaustive list… not every question has to be asked. </a:t>
            </a:r>
          </a:p>
        </p:txBody>
      </p:sp>
    </p:spTree>
    <p:extLst>
      <p:ext uri="{BB962C8B-B14F-4D97-AF65-F5344CB8AC3E}">
        <p14:creationId xmlns:p14="http://schemas.microsoft.com/office/powerpoint/2010/main" val="174326984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248453532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Here are some best practices for map drawing:</a:t>
            </a:r>
            <a:br>
              <a:rPr lang="en-US" altLang="en-US" dirty="0">
                <a:latin typeface="Arial" panose="020B0604020202020204" pitchFamily="34" charset="0"/>
              </a:rPr>
            </a:br>
            <a:endParaRPr lang="en-US" altLang="en-US" dirty="0">
              <a:latin typeface="Arial" panose="020B0604020202020204" pitchFamily="34" charset="0"/>
            </a:endParaRPr>
          </a:p>
          <a:p>
            <a:pPr eaLnBrk="1" hangingPunct="1"/>
            <a:r>
              <a:rPr lang="en-US" altLang="en-US" dirty="0">
                <a:latin typeface="Arial" panose="020B0604020202020204" pitchFamily="34" charset="0"/>
              </a:rPr>
              <a:t>When writing data on post-it notes, it is best to start in pencil and then trace with black marker</a:t>
            </a:r>
          </a:p>
          <a:p>
            <a:pPr eaLnBrk="1" hangingPunct="1"/>
            <a:r>
              <a:rPr lang="en-US" altLang="en-US" dirty="0">
                <a:latin typeface="Arial" panose="020B0604020202020204" pitchFamily="34" charset="0"/>
              </a:rPr>
              <a:t>Wait until the very end to draw any information flow or material flow arrows in marker</a:t>
            </a:r>
            <a:br>
              <a:rPr lang="en-US" altLang="en-US" dirty="0">
                <a:latin typeface="Arial" panose="020B0604020202020204" pitchFamily="34" charset="0"/>
              </a:rPr>
            </a:br>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62994533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defTabSz="228554" eaLnBrk="1" fontAlgn="auto" latinLnBrk="0" hangingPunct="1">
              <a:lnSpc>
                <a:spcPct val="100000"/>
              </a:lnSpc>
              <a:spcBef>
                <a:spcPts val="0"/>
              </a:spcBef>
              <a:spcAft>
                <a:spcPts val="0"/>
              </a:spcAft>
              <a:buClrTx/>
              <a:buSzTx/>
              <a:buFontTx/>
              <a:buNone/>
              <a:tabLst/>
              <a:defRPr/>
            </a:pPr>
            <a:r>
              <a:rPr lang="en-US" altLang="en-US" sz="1100" b="1" dirty="0">
                <a:latin typeface="Arial" panose="020B0604020202020204" pitchFamily="34" charset="0"/>
              </a:rPr>
              <a:t>NOTE:</a:t>
            </a:r>
            <a:r>
              <a:rPr lang="en-US" altLang="en-US" sz="1100" dirty="0">
                <a:latin typeface="Arial" panose="020B0604020202020204" pitchFamily="34" charset="0"/>
              </a:rPr>
              <a:t> Give the team an idea of what time they should return from this exercise so that they budget their time wisely.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82</a:t>
            </a:fld>
            <a:endParaRPr lang="en-US"/>
          </a:p>
        </p:txBody>
      </p:sp>
    </p:spTree>
    <p:extLst>
      <p:ext uri="{BB962C8B-B14F-4D97-AF65-F5344CB8AC3E}">
        <p14:creationId xmlns:p14="http://schemas.microsoft.com/office/powerpoint/2010/main" val="222764770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07929086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NOTE:</a:t>
            </a:r>
            <a:r>
              <a:rPr lang="en-US" altLang="en-US" sz="1100" dirty="0">
                <a:latin typeface="Arial" panose="020B0604020202020204" pitchFamily="34" charset="0"/>
              </a:rPr>
              <a:t> Give the team an idea of what time they should have this exercise complete so that they budget their time wisely. </a:t>
            </a:r>
          </a:p>
          <a:p>
            <a:pPr eaLnBrk="1" hangingPunct="1"/>
            <a:endParaRPr lang="en-US" altLang="en-US" sz="1100" dirty="0">
              <a:latin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84</a:t>
            </a:fld>
            <a:endParaRPr lang="en-US"/>
          </a:p>
        </p:txBody>
      </p:sp>
    </p:spTree>
    <p:extLst>
      <p:ext uri="{BB962C8B-B14F-4D97-AF65-F5344CB8AC3E}">
        <p14:creationId xmlns:p14="http://schemas.microsoft.com/office/powerpoint/2010/main" val="222764770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Suggested method is </a:t>
            </a:r>
            <a:r>
              <a:rPr lang="ja-JP" altLang="en-US" dirty="0">
                <a:latin typeface="Arial" panose="020B0604020202020204" pitchFamily="34" charset="0"/>
              </a:rPr>
              <a:t>“</a:t>
            </a:r>
            <a:r>
              <a:rPr lang="en-US" altLang="ja-JP" dirty="0">
                <a:latin typeface="Arial" panose="020B0604020202020204" pitchFamily="34" charset="0"/>
              </a:rPr>
              <a:t>questioning</a:t>
            </a:r>
            <a:r>
              <a:rPr lang="ja-JP" altLang="en-US" dirty="0">
                <a:latin typeface="Arial" panose="020B0604020202020204" pitchFamily="34" charset="0"/>
              </a:rPr>
              <a:t>”</a:t>
            </a:r>
            <a:r>
              <a:rPr lang="en-US" altLang="ja-JP" dirty="0">
                <a:latin typeface="Arial" panose="020B0604020202020204" pitchFamily="34" charset="0"/>
              </a:rPr>
              <a:t> ask a few questions as you refer to the agenda about </a:t>
            </a:r>
            <a:r>
              <a:rPr lang="ja-JP" altLang="en-US" dirty="0">
                <a:latin typeface="Arial" panose="020B0604020202020204" pitchFamily="34" charset="0"/>
              </a:rPr>
              <a:t>“</a:t>
            </a:r>
            <a:r>
              <a:rPr lang="en-US" altLang="ja-JP" dirty="0">
                <a:latin typeface="Arial" panose="020B0604020202020204" pitchFamily="34" charset="0"/>
              </a:rPr>
              <a:t>what is a value stream</a:t>
            </a:r>
            <a:r>
              <a:rPr lang="ja-JP" altLang="en-US" dirty="0">
                <a:latin typeface="Arial" panose="020B0604020202020204" pitchFamily="34" charset="0"/>
              </a:rPr>
              <a:t>”</a:t>
            </a:r>
            <a:r>
              <a:rPr lang="en-US" altLang="ja-JP"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why value stream map,</a:t>
            </a:r>
            <a:r>
              <a:rPr lang="ja-JP" altLang="en-US" dirty="0">
                <a:latin typeface="Arial" panose="020B0604020202020204" pitchFamily="34" charset="0"/>
              </a:rPr>
              <a:t>”</a:t>
            </a:r>
            <a:r>
              <a:rPr lang="en-US" altLang="ja-JP" dirty="0">
                <a:latin typeface="Arial" panose="020B0604020202020204" pitchFamily="34" charset="0"/>
              </a:rPr>
              <a:t> and </a:t>
            </a:r>
            <a:r>
              <a:rPr lang="ja-JP" altLang="en-US" dirty="0">
                <a:latin typeface="Arial" panose="020B0604020202020204" pitchFamily="34" charset="0"/>
              </a:rPr>
              <a:t>“</a:t>
            </a:r>
            <a:r>
              <a:rPr lang="en-US" altLang="ja-JP" dirty="0">
                <a:latin typeface="Arial" panose="020B0604020202020204" pitchFamily="34" charset="0"/>
              </a:rPr>
              <a:t>what is our method for Current State Mapping?</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Interrogating the Current State Map of the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Flip-chart paper</a:t>
            </a:r>
          </a:p>
          <a:p>
            <a:pPr eaLnBrk="1" hangingPunct="1"/>
            <a:r>
              <a:rPr lang="en-US" altLang="en-US" dirty="0">
                <a:latin typeface="Arial" panose="020B0604020202020204" pitchFamily="34" charset="0"/>
              </a:rPr>
              <a:t>MME Current State Maps from previous exercise</a:t>
            </a:r>
          </a:p>
          <a:p>
            <a:pPr eaLnBrk="1" hangingPunct="1"/>
            <a:r>
              <a:rPr lang="en-US" altLang="en-US" dirty="0">
                <a:latin typeface="Arial" panose="020B0604020202020204" pitchFamily="34" charset="0"/>
              </a:rPr>
              <a:t>Rusty</a:t>
            </a:r>
            <a:r>
              <a:rPr lang="ja-JP" altLang="en-US" dirty="0">
                <a:latin typeface="Arial" panose="020B0604020202020204" pitchFamily="34" charset="0"/>
              </a:rPr>
              <a:t>’</a:t>
            </a:r>
            <a:r>
              <a:rPr lang="en-US" altLang="ja-JP" dirty="0">
                <a:latin typeface="Arial" panose="020B0604020202020204" pitchFamily="34" charset="0"/>
              </a:rPr>
              <a:t>s Wrench Current State Map from previous exercise</a:t>
            </a:r>
          </a:p>
          <a:p>
            <a:pPr eaLnBrk="1" hangingPunct="1"/>
            <a:r>
              <a:rPr lang="en-US" altLang="en-US" dirty="0">
                <a:latin typeface="Arial" panose="020B0604020202020204" pitchFamily="34" charset="0"/>
              </a:rPr>
              <a:t>Black thin markers</a:t>
            </a:r>
          </a:p>
          <a:p>
            <a:pPr eaLnBrk="1" hangingPunct="1"/>
            <a:r>
              <a:rPr lang="en-US" altLang="en-US" dirty="0">
                <a:latin typeface="Arial" panose="020B0604020202020204" pitchFamily="34" charset="0"/>
              </a:rPr>
              <a:t>Red thin markers</a:t>
            </a:r>
          </a:p>
          <a:p>
            <a:pPr eaLnBrk="1" hangingPunct="1"/>
            <a:r>
              <a:rPr lang="en-US" altLang="en-US" dirty="0">
                <a:latin typeface="Arial" panose="020B0604020202020204" pitchFamily="34" charset="0"/>
              </a:rPr>
              <a:t>3-4 Packs of Post-It Notes</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85</a:t>
            </a:fld>
            <a:endParaRPr lang="en-US"/>
          </a:p>
        </p:txBody>
      </p:sp>
    </p:spTree>
    <p:extLst>
      <p:ext uri="{BB962C8B-B14F-4D97-AF65-F5344CB8AC3E}">
        <p14:creationId xmlns:p14="http://schemas.microsoft.com/office/powerpoint/2010/main" val="287661191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SAY:</a:t>
            </a:r>
            <a:r>
              <a:rPr lang="en-US" altLang="en-US" sz="1100" dirty="0">
                <a:latin typeface="Arial" panose="020B0604020202020204" pitchFamily="34" charset="0"/>
              </a:rPr>
              <a:t> </a:t>
            </a:r>
            <a:r>
              <a:rPr lang="ja-JP" altLang="en-US" sz="1100" dirty="0">
                <a:latin typeface="Arial" panose="020B0604020202020204" pitchFamily="34" charset="0"/>
              </a:rPr>
              <a:t>“</a:t>
            </a:r>
            <a:r>
              <a:rPr lang="en-US" altLang="ja-JP" sz="1100" dirty="0">
                <a:latin typeface="Arial" panose="020B0604020202020204" pitchFamily="34" charset="0"/>
              </a:rPr>
              <a:t>You will need to pull out your MME Current State Maps from the previous exercise. Please also take a red marker for we will be marking up our Current State Maps during our analysis.</a:t>
            </a:r>
            <a:r>
              <a:rPr lang="ja-JP" altLang="en-US" sz="1100" dirty="0">
                <a:latin typeface="Arial" panose="020B0604020202020204" pitchFamily="34" charset="0"/>
              </a:rPr>
              <a:t>”</a:t>
            </a:r>
            <a:endParaRPr lang="en-US" altLang="en-US" sz="11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86</a:t>
            </a:fld>
            <a:endParaRPr lang="en-US"/>
          </a:p>
        </p:txBody>
      </p:sp>
    </p:spTree>
    <p:extLst>
      <p:ext uri="{BB962C8B-B14F-4D97-AF65-F5344CB8AC3E}">
        <p14:creationId xmlns:p14="http://schemas.microsoft.com/office/powerpoint/2010/main" val="78601945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74549132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246689418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82002400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60267228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01562279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390496361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55763134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113503077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40746108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14341361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59029471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80347947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Caution : </a:t>
            </a:r>
          </a:p>
          <a:p>
            <a:pPr marL="342900" indent="-342900" eaLnBrk="1" hangingPunct="1">
              <a:buFont typeface="Arial" panose="020B0604020202020204" pitchFamily="34" charset="0"/>
              <a:buChar char="•"/>
            </a:pPr>
            <a:r>
              <a:rPr lang="en-US" altLang="en-US" dirty="0">
                <a:latin typeface="Arial" panose="020B0604020202020204" pitchFamily="34" charset="0"/>
              </a:rPr>
              <a:t>Merging of process lead times &amp; downtimes</a:t>
            </a:r>
          </a:p>
          <a:p>
            <a:pPr marL="342900" indent="-342900" eaLnBrk="1" hangingPunct="1">
              <a:buFont typeface="Arial" panose="020B0604020202020204" pitchFamily="34" charset="0"/>
              <a:buChar char="•"/>
            </a:pPr>
            <a:r>
              <a:rPr lang="en-US" altLang="en-US" dirty="0">
                <a:latin typeface="Arial" panose="020B0604020202020204" pitchFamily="34" charset="0"/>
              </a:rPr>
              <a:t>Combine Continuous Flow with Pull/FIFO systems </a:t>
            </a: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5554253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22509404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50920669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In this example we will see how both supermarkets and FIFO (first in first out) are effectively used. This example starts with an incoming customer order (read information from slide). The customer order arrives at the Paint operation which is the schedule point in the process. </a:t>
            </a:r>
          </a:p>
          <a:p>
            <a:pPr eaLnBrk="1" hangingPunct="1"/>
            <a:r>
              <a:rPr lang="en-US" altLang="en-US" dirty="0">
                <a:latin typeface="Arial" panose="020B0604020202020204" pitchFamily="34" charset="0"/>
              </a:rPr>
              <a:t>At this point the frame is selected from a supermarket of 3 types of welded frames. There are designated amounts at all times of frames in the supermarket. When one is removed, that is a signal for the upstream Weld process to make more. (review supermarket bullets). </a:t>
            </a:r>
          </a:p>
          <a:p>
            <a:pPr eaLnBrk="1" hangingPunct="1"/>
            <a:r>
              <a:rPr lang="en-US" altLang="en-US" dirty="0">
                <a:latin typeface="Arial" panose="020B0604020202020204" pitchFamily="34" charset="0"/>
              </a:rPr>
              <a:t>Once the frame goes through the paint process, it enters a FIFO process. There is always a fixed quantity in the FIFO lane – a new part is only put into the FIFO lane when a part has been removed.</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NOTE: </a:t>
            </a:r>
            <a:r>
              <a:rPr lang="en-US" altLang="en-US" dirty="0">
                <a:latin typeface="Arial" panose="020B0604020202020204" pitchFamily="34" charset="0"/>
              </a:rPr>
              <a:t>Kanban is defined a signal that triggers material replenishment. </a:t>
            </a:r>
          </a:p>
        </p:txBody>
      </p:sp>
    </p:spTree>
    <p:extLst>
      <p:ext uri="{BB962C8B-B14F-4D97-AF65-F5344CB8AC3E}">
        <p14:creationId xmlns:p14="http://schemas.microsoft.com/office/powerpoint/2010/main" val="367450465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342482722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352586273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416503179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50504201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147652576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59278781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13045527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61950253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5865862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303494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160187507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429063498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91211911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97679569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28065651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8168844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382638635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37083223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349092501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51826336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Why a weekly fax to Acme?  Because the monthly P.O. was based on a forecast where as the weekly fax (replenishment) is based on actual consumption.  This is a much closer match to what is actually needed.  Also weekly bites means smaller amounts of inventory arriving each time which will reduce the total inventory on-hand.  Reduction in inventory not only means less cash tied up but also means less space required, get caught with less obsolete, get caught with fewer defectives; shorter lead time.</a:t>
            </a: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90850986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Why shoot for a 30/60/90 day forecast from Ed</a:t>
            </a:r>
            <a:r>
              <a:rPr lang="ja-JP" altLang="en-US">
                <a:latin typeface="Arial" panose="020B0604020202020204" pitchFamily="34" charset="0"/>
              </a:rPr>
              <a:t>’</a:t>
            </a:r>
            <a:r>
              <a:rPr lang="en-US" altLang="ja-JP" dirty="0">
                <a:latin typeface="Arial" panose="020B0604020202020204" pitchFamily="34" charset="0"/>
              </a:rPr>
              <a:t>s?  Because currently we only know each day what Ed</a:t>
            </a:r>
            <a:r>
              <a:rPr lang="ja-JP" altLang="en-US">
                <a:latin typeface="Arial" panose="020B0604020202020204" pitchFamily="34" charset="0"/>
              </a:rPr>
              <a:t>’</a:t>
            </a:r>
            <a:r>
              <a:rPr lang="en-US" altLang="ja-JP" dirty="0">
                <a:latin typeface="Arial" panose="020B0604020202020204" pitchFamily="34" charset="0"/>
              </a:rPr>
              <a:t>s expects us to ship the NEXT day and that history says 30,000 units per month.  But what if Ed</a:t>
            </a:r>
            <a:r>
              <a:rPr lang="ja-JP" altLang="en-US">
                <a:latin typeface="Arial" panose="020B0604020202020204" pitchFamily="34" charset="0"/>
              </a:rPr>
              <a:t>’</a:t>
            </a:r>
            <a:r>
              <a:rPr lang="en-US" altLang="ja-JP" dirty="0">
                <a:latin typeface="Arial" panose="020B0604020202020204" pitchFamily="34" charset="0"/>
              </a:rPr>
              <a:t>s is planning promotions or new sales channels – his demand goes jump and we wouldn’t be ready.  Also, if his demands are going to fluctuate so much that we need to add surge capacity only to see demand then go back down, he/we could negotiate to level the load by building some FG inventory to be held by one or both of us instead of investing in capital expansion for surge capacity.</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52213423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Why shoot for a 30/60/90 day forecast from Ed</a:t>
            </a:r>
            <a:r>
              <a:rPr lang="ja-JP" altLang="en-US">
                <a:latin typeface="Arial" panose="020B0604020202020204" pitchFamily="34" charset="0"/>
              </a:rPr>
              <a:t>’</a:t>
            </a:r>
            <a:r>
              <a:rPr lang="en-US" altLang="ja-JP" dirty="0">
                <a:latin typeface="Arial" panose="020B0604020202020204" pitchFamily="34" charset="0"/>
              </a:rPr>
              <a:t>s?  Because currently we only know each day what Ed</a:t>
            </a:r>
            <a:r>
              <a:rPr lang="ja-JP" altLang="en-US">
                <a:latin typeface="Arial" panose="020B0604020202020204" pitchFamily="34" charset="0"/>
              </a:rPr>
              <a:t>’</a:t>
            </a:r>
            <a:r>
              <a:rPr lang="en-US" altLang="ja-JP" dirty="0">
                <a:latin typeface="Arial" panose="020B0604020202020204" pitchFamily="34" charset="0"/>
              </a:rPr>
              <a:t>s expects us to ship the NEXT day and that history says 30,000 units per month.  But what if Ed</a:t>
            </a:r>
            <a:r>
              <a:rPr lang="ja-JP" altLang="en-US">
                <a:latin typeface="Arial" panose="020B0604020202020204" pitchFamily="34" charset="0"/>
              </a:rPr>
              <a:t>’</a:t>
            </a:r>
            <a:r>
              <a:rPr lang="en-US" altLang="ja-JP" dirty="0">
                <a:latin typeface="Arial" panose="020B0604020202020204" pitchFamily="34" charset="0"/>
              </a:rPr>
              <a:t>s is planning promotions or new sales channels – his demand goes jump and we wouldn’t be ready.  Also, if his demands are going to fluctuate so much that we need to add surge capacity only to see demand then go back down, he/we could negotiate to level the load by building some FG inventory to be held by one or both of us instead of investing in capital expansion for surge capacity.</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57311805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dirty="0"/>
          </a:p>
        </p:txBody>
      </p:sp>
    </p:spTree>
    <p:extLst>
      <p:ext uri="{BB962C8B-B14F-4D97-AF65-F5344CB8AC3E}">
        <p14:creationId xmlns:p14="http://schemas.microsoft.com/office/powerpoint/2010/main" val="235747821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16612153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SAY:</a:t>
            </a:r>
            <a:r>
              <a:rPr lang="en-US" altLang="en-US" sz="1100" dirty="0">
                <a:latin typeface="Arial" panose="020B0604020202020204" pitchFamily="34" charset="0"/>
              </a:rPr>
              <a:t> </a:t>
            </a:r>
            <a:r>
              <a:rPr lang="ja-JP" altLang="en-US" sz="1100" dirty="0">
                <a:latin typeface="Arial" panose="020B0604020202020204" pitchFamily="34" charset="0"/>
              </a:rPr>
              <a:t>“</a:t>
            </a:r>
            <a:r>
              <a:rPr lang="en-US" altLang="ja-JP" sz="1100" dirty="0">
                <a:latin typeface="Arial" panose="020B0604020202020204" pitchFamily="34" charset="0"/>
              </a:rPr>
              <a:t>Now we will repeat this exercise again in your small groups for Rusty</a:t>
            </a:r>
            <a:r>
              <a:rPr lang="ja-JP" altLang="en-US" sz="1100" dirty="0">
                <a:latin typeface="Arial" panose="020B0604020202020204" pitchFamily="34" charset="0"/>
              </a:rPr>
              <a:t>’</a:t>
            </a:r>
            <a:r>
              <a:rPr lang="en-US" altLang="ja-JP" sz="1100" dirty="0">
                <a:latin typeface="Arial" panose="020B0604020202020204" pitchFamily="34" charset="0"/>
              </a:rPr>
              <a:t>s Wrench. Please take 10 minutes to review your current state maps and mark up with improvement opportunities. Use the Interrogation Questions (in order) on the slide as your guide.</a:t>
            </a:r>
            <a:r>
              <a:rPr lang="ja-JP" altLang="en-US" sz="1100" dirty="0">
                <a:latin typeface="Arial" panose="020B0604020202020204" pitchFamily="34" charset="0"/>
              </a:rPr>
              <a:t>”</a:t>
            </a:r>
            <a:endParaRPr lang="en-US" altLang="ja-JP" sz="1100" dirty="0">
              <a:latin typeface="Arial" panose="020B0604020202020204" pitchFamily="34" charset="0"/>
            </a:endParaRPr>
          </a:p>
          <a:p>
            <a:pPr eaLnBrk="1" hangingPunct="1"/>
            <a:endParaRPr lang="en-US" altLang="en-US" sz="1100" dirty="0">
              <a:latin typeface="Arial" panose="020B0604020202020204" pitchFamily="34" charset="0"/>
            </a:endParaRPr>
          </a:p>
          <a:p>
            <a:pPr eaLnBrk="1" hangingPunct="1"/>
            <a:r>
              <a:rPr lang="en-US" altLang="en-US" sz="1100" dirty="0">
                <a:latin typeface="Arial" panose="020B0604020202020204" pitchFamily="34" charset="0"/>
              </a:rPr>
              <a:t>When</a:t>
            </a:r>
            <a:r>
              <a:rPr lang="ja-JP" altLang="en-US" sz="1100" dirty="0">
                <a:latin typeface="Arial" panose="020B0604020202020204" pitchFamily="34" charset="0"/>
              </a:rPr>
              <a:t> </a:t>
            </a:r>
            <a:r>
              <a:rPr lang="en-US" altLang="ja-JP" sz="1100" dirty="0">
                <a:latin typeface="Arial" panose="020B0604020202020204" pitchFamily="34" charset="0"/>
              </a:rPr>
              <a:t>they</a:t>
            </a:r>
            <a:r>
              <a:rPr lang="ja-JP" altLang="en-US" sz="1100" dirty="0">
                <a:latin typeface="Arial" panose="020B0604020202020204" pitchFamily="34" charset="0"/>
              </a:rPr>
              <a:t> </a:t>
            </a:r>
            <a:r>
              <a:rPr lang="en-US" altLang="ja-JP" sz="1100" dirty="0">
                <a:latin typeface="Arial" panose="020B0604020202020204" pitchFamily="34" charset="0"/>
              </a:rPr>
              <a:t>complete</a:t>
            </a:r>
            <a:r>
              <a:rPr lang="ja-JP" altLang="en-US" sz="1100" dirty="0">
                <a:latin typeface="Arial" panose="020B0604020202020204" pitchFamily="34" charset="0"/>
              </a:rPr>
              <a:t> </a:t>
            </a:r>
            <a:r>
              <a:rPr lang="en-US" altLang="ja-JP" sz="1100" dirty="0">
                <a:latin typeface="Arial" panose="020B0604020202020204" pitchFamily="34" charset="0"/>
              </a:rPr>
              <a:t>their</a:t>
            </a:r>
            <a:r>
              <a:rPr lang="ja-JP" altLang="en-US" sz="1100" dirty="0">
                <a:latin typeface="Arial" panose="020B0604020202020204" pitchFamily="34" charset="0"/>
              </a:rPr>
              <a:t> </a:t>
            </a:r>
            <a:r>
              <a:rPr lang="en-US" altLang="ja-JP" sz="1100" dirty="0">
                <a:latin typeface="Arial" panose="020B0604020202020204" pitchFamily="34" charset="0"/>
              </a:rPr>
              <a:t>version</a:t>
            </a:r>
            <a:r>
              <a:rPr lang="ja-JP" altLang="en-US" sz="1100" dirty="0">
                <a:latin typeface="Arial" panose="020B0604020202020204" pitchFamily="34" charset="0"/>
              </a:rPr>
              <a:t> </a:t>
            </a:r>
            <a:r>
              <a:rPr lang="en-US" altLang="ja-JP" sz="1100" dirty="0">
                <a:latin typeface="Arial" panose="020B0604020202020204" pitchFamily="34" charset="0"/>
              </a:rPr>
              <a:t>of</a:t>
            </a:r>
            <a:r>
              <a:rPr lang="ja-JP" altLang="en-US" sz="1100" dirty="0">
                <a:latin typeface="Arial" panose="020B0604020202020204" pitchFamily="34" charset="0"/>
              </a:rPr>
              <a:t> </a:t>
            </a:r>
            <a:r>
              <a:rPr lang="en-US" altLang="ja-JP" sz="1100" dirty="0">
                <a:latin typeface="Arial" panose="020B0604020202020204" pitchFamily="34" charset="0"/>
              </a:rPr>
              <a:t>the</a:t>
            </a:r>
            <a:r>
              <a:rPr lang="ja-JP" altLang="en-US" sz="1100" dirty="0">
                <a:latin typeface="Arial" panose="020B0604020202020204" pitchFamily="34" charset="0"/>
              </a:rPr>
              <a:t> </a:t>
            </a:r>
            <a:r>
              <a:rPr lang="en-US" altLang="ja-JP" sz="1100" dirty="0">
                <a:latin typeface="Arial" panose="020B0604020202020204" pitchFamily="34" charset="0"/>
              </a:rPr>
              <a:t>marked up </a:t>
            </a:r>
            <a:r>
              <a:rPr lang="en-US" altLang="ja-JP" sz="1100" dirty="0" err="1">
                <a:latin typeface="Arial" panose="020B0604020202020204" pitchFamily="34" charset="0"/>
              </a:rPr>
              <a:t>Rusty’s</a:t>
            </a:r>
            <a:r>
              <a:rPr lang="en-US" altLang="ja-JP" sz="1100" dirty="0">
                <a:latin typeface="Arial" panose="020B0604020202020204" pitchFamily="34" charset="0"/>
              </a:rPr>
              <a:t> Current State Map then show them the one from VSM EXERCISE INSTRUCTIONS RUSTY’S WRENCH ENG REV3.1</a:t>
            </a:r>
            <a:endParaRPr lang="en-US" altLang="en-US" sz="11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128</a:t>
            </a:fld>
            <a:endParaRPr lang="en-US"/>
          </a:p>
        </p:txBody>
      </p:sp>
    </p:spTree>
    <p:extLst>
      <p:ext uri="{BB962C8B-B14F-4D97-AF65-F5344CB8AC3E}">
        <p14:creationId xmlns:p14="http://schemas.microsoft.com/office/powerpoint/2010/main" val="222764770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Some best practices include: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When writing data on post-it notes, it is best to start in pencil and then trace with black marker</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ea typeface="Arial" panose="020B0604020202020204" pitchFamily="34" charset="0"/>
                <a:cs typeface="Arial" panose="020B0604020202020204" pitchFamily="34" charset="0"/>
              </a:rPr>
            </a:br>
            <a:endParaRPr lang="en-US" altLang="en-US" dirty="0">
              <a:latin typeface="Arial" panose="020B0604020202020204" pitchFamily="34" charset="0"/>
              <a:ea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87392715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points on slide. </a:t>
            </a:r>
          </a:p>
        </p:txBody>
      </p:sp>
    </p:spTree>
    <p:extLst>
      <p:ext uri="{BB962C8B-B14F-4D97-AF65-F5344CB8AC3E}">
        <p14:creationId xmlns:p14="http://schemas.microsoft.com/office/powerpoint/2010/main" val="37200000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DO:</a:t>
            </a:r>
            <a:r>
              <a:rPr lang="en-US" altLang="en-US" sz="1100" dirty="0">
                <a:latin typeface="Arial" panose="020B0604020202020204" pitchFamily="34" charset="0"/>
              </a:rPr>
              <a:t> Cover points on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131</a:t>
            </a:fld>
            <a:endParaRPr lang="en-US"/>
          </a:p>
        </p:txBody>
      </p:sp>
    </p:spTree>
    <p:extLst>
      <p:ext uri="{BB962C8B-B14F-4D97-AF65-F5344CB8AC3E}">
        <p14:creationId xmlns:p14="http://schemas.microsoft.com/office/powerpoint/2010/main" val="60966083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Suggested method is </a:t>
            </a:r>
            <a:r>
              <a:rPr lang="ja-JP" altLang="en-US" dirty="0">
                <a:latin typeface="Arial" panose="020B0604020202020204" pitchFamily="34" charset="0"/>
              </a:rPr>
              <a:t>“</a:t>
            </a:r>
            <a:r>
              <a:rPr lang="en-US" altLang="ja-JP" dirty="0">
                <a:latin typeface="Arial" panose="020B0604020202020204" pitchFamily="34" charset="0"/>
              </a:rPr>
              <a:t>questioning</a:t>
            </a:r>
            <a:r>
              <a:rPr lang="ja-JP" altLang="en-US" dirty="0">
                <a:latin typeface="Arial" panose="020B0604020202020204" pitchFamily="34" charset="0"/>
              </a:rPr>
              <a:t>”</a:t>
            </a:r>
            <a:r>
              <a:rPr lang="en-US" altLang="ja-JP" dirty="0">
                <a:latin typeface="Arial" panose="020B0604020202020204" pitchFamily="34" charset="0"/>
              </a:rPr>
              <a:t> ask a few questions as you refer to the agenda about </a:t>
            </a:r>
            <a:r>
              <a:rPr lang="ja-JP" altLang="en-US" dirty="0">
                <a:latin typeface="Arial" panose="020B0604020202020204" pitchFamily="34" charset="0"/>
              </a:rPr>
              <a:t>“</a:t>
            </a:r>
            <a:r>
              <a:rPr lang="en-US" altLang="ja-JP" dirty="0">
                <a:latin typeface="Arial" panose="020B0604020202020204" pitchFamily="34" charset="0"/>
              </a:rPr>
              <a:t>so what is the value in identifying improvements in the manner that we have – with Value Stream Mapping?</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Creating the Future State Map of the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Flip-chart paper</a:t>
            </a:r>
          </a:p>
          <a:p>
            <a:pPr eaLnBrk="1" hangingPunct="1"/>
            <a:r>
              <a:rPr lang="en-US" altLang="en-US" dirty="0">
                <a:latin typeface="Arial" panose="020B0604020202020204" pitchFamily="34" charset="0"/>
              </a:rPr>
              <a:t>Black thin markers</a:t>
            </a:r>
          </a:p>
          <a:p>
            <a:pPr eaLnBrk="1" hangingPunct="1"/>
            <a:r>
              <a:rPr lang="en-US" altLang="en-US" dirty="0">
                <a:latin typeface="Arial" panose="020B0604020202020204" pitchFamily="34" charset="0"/>
              </a:rPr>
              <a:t>3-4 Packs of Post-It Notes</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132</a:t>
            </a:fld>
            <a:endParaRPr lang="en-US"/>
          </a:p>
        </p:txBody>
      </p:sp>
    </p:spTree>
    <p:extLst>
      <p:ext uri="{BB962C8B-B14F-4D97-AF65-F5344CB8AC3E}">
        <p14:creationId xmlns:p14="http://schemas.microsoft.com/office/powerpoint/2010/main" val="238190104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197708655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30886466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210480247"/>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389816409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MRP System no longer part of the Future State</a:t>
            </a:r>
          </a:p>
        </p:txBody>
      </p:sp>
    </p:spTree>
    <p:extLst>
      <p:ext uri="{BB962C8B-B14F-4D97-AF65-F5344CB8AC3E}">
        <p14:creationId xmlns:p14="http://schemas.microsoft.com/office/powerpoint/2010/main" val="193362403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2860662333"/>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Combined Process (Stamp/Form) has DOI target of 15</a:t>
            </a:r>
            <a:r>
              <a:rPr lang="ja-JP" altLang="en-US" dirty="0">
                <a:latin typeface="Arial" panose="020B0604020202020204" pitchFamily="34" charset="0"/>
              </a:rPr>
              <a:t>”</a:t>
            </a:r>
            <a:r>
              <a:rPr lang="en-US" altLang="ja-JP" dirty="0">
                <a:latin typeface="Arial" panose="020B0604020202020204" pitchFamily="34" charset="0"/>
              </a:rPr>
              <a:t> (under Takt) – Achievable through kaizen</a:t>
            </a:r>
          </a:p>
          <a:p>
            <a:pPr eaLnBrk="1" hangingPunct="1"/>
            <a:r>
              <a:rPr lang="en-US" altLang="en-US" dirty="0">
                <a:latin typeface="Arial" panose="020B0604020202020204" pitchFamily="34" charset="0"/>
              </a:rPr>
              <a:t>C/O Time, if not addressed is the longest of the two original processes – 120</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dirty="0">
                <a:latin typeface="Arial" panose="020B0604020202020204" pitchFamily="34" charset="0"/>
              </a:rPr>
              <a:t>Quality target is 98% for the combined process – goal is to improve current 85% in Brake Form through kaizen. Note that typical when combining processes the quality yields are multiplied, however in this case we plan to kaizen the quality of this process to achieve this number on the future state. </a:t>
            </a:r>
          </a:p>
        </p:txBody>
      </p:sp>
    </p:spTree>
    <p:extLst>
      <p:ext uri="{BB962C8B-B14F-4D97-AF65-F5344CB8AC3E}">
        <p14:creationId xmlns:p14="http://schemas.microsoft.com/office/powerpoint/2010/main" val="325688174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35688777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DO: Speak to the icons that have not been introduced yet. Refer to the icon appendix as needed.</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425186859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2454136769"/>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538695074"/>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1345924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Days of inventory are determined by the number of </a:t>
            </a:r>
            <a:r>
              <a:rPr lang="en-US" altLang="en-US" dirty="0" err="1">
                <a:latin typeface="Arial" panose="020B0604020202020204" pitchFamily="34" charset="0"/>
              </a:rPr>
              <a:t>kanban</a:t>
            </a:r>
            <a:r>
              <a:rPr lang="en-US" altLang="en-US" dirty="0">
                <a:latin typeface="Arial" panose="020B0604020202020204" pitchFamily="34" charset="0"/>
              </a:rPr>
              <a:t> cards and therefore regulate the inventory in the supermarkets to the desired levels</a:t>
            </a:r>
          </a:p>
          <a:p>
            <a:pPr eaLnBrk="1" hangingPunct="1"/>
            <a:r>
              <a:rPr lang="en-US" altLang="en-US" dirty="0">
                <a:latin typeface="Arial" panose="020B0604020202020204" pitchFamily="34" charset="0"/>
              </a:rPr>
              <a:t>Stamp/Form processing time is the sum of the previous operations (35 sec) minus the 5 sec improvement to Brake Form to get the processing time and DOI to 15 sec.</a:t>
            </a:r>
          </a:p>
        </p:txBody>
      </p:sp>
    </p:spTree>
    <p:extLst>
      <p:ext uri="{BB962C8B-B14F-4D97-AF65-F5344CB8AC3E}">
        <p14:creationId xmlns:p14="http://schemas.microsoft.com/office/powerpoint/2010/main" val="399183851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lang="en-US" altLang="en-US" dirty="0">
              <a:latin typeface="Arial" panose="020B0604020202020204" pitchFamily="34" charset="0"/>
            </a:endParaRPr>
          </a:p>
        </p:txBody>
      </p:sp>
    </p:spTree>
    <p:extLst>
      <p:ext uri="{BB962C8B-B14F-4D97-AF65-F5344CB8AC3E}">
        <p14:creationId xmlns:p14="http://schemas.microsoft.com/office/powerpoint/2010/main" val="39393310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There are always the four loops:  Supplier; Manufacturing; Pacemaker; Information.  They are covered on the next slides.  A key is to recognize that the order in which we attack the loops should be driven by the question which order helps the customer soonest/biggest?  Thinking that way should automatically benefit our internal interests such as ROI, etc.</a:t>
            </a:r>
          </a:p>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005386114"/>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 days of inventory is estimated at this point. There is a lot of information we do not know yet and will need to be validated in future kaizen events.</a:t>
            </a:r>
          </a:p>
        </p:txBody>
      </p:sp>
    </p:spTree>
    <p:extLst>
      <p:ext uri="{BB962C8B-B14F-4D97-AF65-F5344CB8AC3E}">
        <p14:creationId xmlns:p14="http://schemas.microsoft.com/office/powerpoint/2010/main" val="115625779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37238354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DO:</a:t>
            </a:r>
            <a:r>
              <a:rPr lang="en-US" altLang="en-US" sz="1100" dirty="0">
                <a:latin typeface="Arial" panose="020B0604020202020204" pitchFamily="34" charset="0"/>
              </a:rPr>
              <a:t> Cover points on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150</a:t>
            </a:fld>
            <a:endParaRPr lang="en-US"/>
          </a:p>
        </p:txBody>
      </p:sp>
    </p:spTree>
    <p:extLst>
      <p:ext uri="{BB962C8B-B14F-4D97-AF65-F5344CB8AC3E}">
        <p14:creationId xmlns:p14="http://schemas.microsoft.com/office/powerpoint/2010/main" val="3466422020"/>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Developing the Value Stream Plan.</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Value Stream Plan Excel File</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151</a:t>
            </a:fld>
            <a:endParaRPr lang="en-US"/>
          </a:p>
        </p:txBody>
      </p:sp>
    </p:spTree>
    <p:extLst>
      <p:ext uri="{BB962C8B-B14F-4D97-AF65-F5344CB8AC3E}">
        <p14:creationId xmlns:p14="http://schemas.microsoft.com/office/powerpoint/2010/main" val="366114724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Without the Value Stream Plan there is no improvement to the business. The Future State Map is only a guide… it is with the fulfillment of the Value Stream Plan that actual business improvements are realized.</a:t>
            </a:r>
            <a:r>
              <a:rPr lang="ja-JP" altLang="en-US" dirty="0">
                <a:latin typeface="Arial" panose="020B0604020202020204" pitchFamily="34" charset="0"/>
              </a:rPr>
              <a:t>”</a:t>
            </a:r>
            <a:r>
              <a:rPr lang="en-US" altLang="ja-JP" dirty="0">
                <a:latin typeface="Arial" panose="020B0604020202020204" pitchFamily="34" charset="0"/>
              </a:rPr>
              <a:t> </a:t>
            </a:r>
            <a:endParaRPr lang="en-US" altLang="en-US" dirty="0">
              <a:latin typeface="Arial" panose="020B0604020202020204" pitchFamily="34" charset="0"/>
            </a:endParaRPr>
          </a:p>
        </p:txBody>
      </p:sp>
    </p:spTree>
    <p:extLst>
      <p:ext uri="{BB962C8B-B14F-4D97-AF65-F5344CB8AC3E}">
        <p14:creationId xmlns:p14="http://schemas.microsoft.com/office/powerpoint/2010/main" val="69450443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Remember the Future State timeline in the charter – should not go out further than the dates of targets set by your companies strategic planning process.  In the case of new Lean Transformation efforts it frequently does not go out more than one year.</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179988314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points on the slide.</a:t>
            </a:r>
          </a:p>
        </p:txBody>
      </p:sp>
    </p:spTree>
    <p:extLst>
      <p:ext uri="{BB962C8B-B14F-4D97-AF65-F5344CB8AC3E}">
        <p14:creationId xmlns:p14="http://schemas.microsoft.com/office/powerpoint/2010/main" val="3115254565"/>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points on the slide. </a:t>
            </a:r>
          </a:p>
        </p:txBody>
      </p:sp>
    </p:spTree>
    <p:extLst>
      <p:ext uri="{BB962C8B-B14F-4D97-AF65-F5344CB8AC3E}">
        <p14:creationId xmlns:p14="http://schemas.microsoft.com/office/powerpoint/2010/main" val="166250140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points on the slide.</a:t>
            </a:r>
          </a:p>
        </p:txBody>
      </p:sp>
    </p:spTree>
    <p:extLst>
      <p:ext uri="{BB962C8B-B14F-4D97-AF65-F5344CB8AC3E}">
        <p14:creationId xmlns:p14="http://schemas.microsoft.com/office/powerpoint/2010/main" val="3718505073"/>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b="1" dirty="0">
                <a:latin typeface="Arial" panose="020B0604020202020204" pitchFamily="34" charset="0"/>
              </a:rPr>
              <a:t>“</a:t>
            </a:r>
            <a:r>
              <a:rPr lang="en-US" altLang="ja-JP" dirty="0">
                <a:latin typeface="Arial" panose="020B0604020202020204" pitchFamily="34" charset="0"/>
              </a:rPr>
              <a:t>Here is where we take both our Future State Map and our Marked Up Current State Map and identify the priority and sequence of Loops to be worked on as well as the specific activities inside each loop. Note that there many not always be a one-to-one correspondence for each burst. One burst may have several objectives.</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23638951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lnSpc>
                <a:spcPct val="80000"/>
              </a:lnSpc>
            </a:pPr>
            <a:r>
              <a:rPr lang="en-US" altLang="en-US" b="1" dirty="0">
                <a:latin typeface="Arial" panose="020B0604020202020204" pitchFamily="34" charset="0"/>
              </a:rPr>
              <a:t>DO</a:t>
            </a:r>
            <a:r>
              <a:rPr lang="en-US" altLang="en-US" dirty="0">
                <a:latin typeface="Arial" panose="020B0604020202020204" pitchFamily="34" charset="0"/>
              </a:rPr>
              <a:t>: Review the fields of the Value Stream Plan.</a:t>
            </a:r>
          </a:p>
          <a:p>
            <a:pPr eaLnBrk="1" hangingPunct="1">
              <a:lnSpc>
                <a:spcPct val="80000"/>
              </a:lnSpc>
            </a:pPr>
            <a:r>
              <a:rPr lang="en-US" altLang="en-US" sz="2400" dirty="0">
                <a:latin typeface="Arial" panose="020B0604020202020204" pitchFamily="34" charset="0"/>
              </a:rPr>
              <a:t>Document Product Family and Value Stream – this clearly identifies which products are included in the VS Plan and specifies the scope.</a:t>
            </a:r>
          </a:p>
          <a:p>
            <a:pPr eaLnBrk="1" hangingPunct="1">
              <a:lnSpc>
                <a:spcPct val="80000"/>
              </a:lnSpc>
            </a:pPr>
            <a:r>
              <a:rPr lang="en-US" altLang="en-US" sz="2400" dirty="0">
                <a:latin typeface="Arial" panose="020B0604020202020204" pitchFamily="34" charset="0"/>
              </a:rPr>
              <a:t>Dates: Identify the date the plan was established and the date the improvement efforts will kick off.</a:t>
            </a:r>
          </a:p>
          <a:p>
            <a:pPr eaLnBrk="1" hangingPunct="1">
              <a:lnSpc>
                <a:spcPct val="80000"/>
              </a:lnSpc>
            </a:pPr>
            <a:r>
              <a:rPr lang="en-US" altLang="en-US" sz="2400" dirty="0">
                <a:latin typeface="Arial" panose="020B0604020202020204" pitchFamily="34" charset="0"/>
              </a:rPr>
              <a:t>Business Objective: Succinctly state the objective of moving to the Future State</a:t>
            </a:r>
          </a:p>
          <a:p>
            <a:pPr eaLnBrk="1" hangingPunct="1">
              <a:lnSpc>
                <a:spcPct val="80000"/>
              </a:lnSpc>
            </a:pPr>
            <a:r>
              <a:rPr lang="en-US" altLang="en-US" sz="2400" dirty="0">
                <a:latin typeface="Arial" panose="020B0604020202020204" pitchFamily="34" charset="0"/>
              </a:rPr>
              <a:t>Value Stream </a:t>
            </a:r>
            <a:r>
              <a:rPr lang="en-US" altLang="en-US" sz="2400" dirty="0" err="1">
                <a:latin typeface="Arial" panose="020B0604020202020204" pitchFamily="34" charset="0"/>
              </a:rPr>
              <a:t>Mgr</a:t>
            </a:r>
            <a:r>
              <a:rPr lang="en-US" altLang="en-US" sz="2400" dirty="0">
                <a:latin typeface="Arial" panose="020B0604020202020204" pitchFamily="34" charset="0"/>
              </a:rPr>
              <a:t> and Business Unit Owner – The VS </a:t>
            </a:r>
            <a:r>
              <a:rPr lang="en-US" altLang="en-US" sz="2400" dirty="0" err="1">
                <a:latin typeface="Arial" panose="020B0604020202020204" pitchFamily="34" charset="0"/>
              </a:rPr>
              <a:t>Mgr</a:t>
            </a:r>
            <a:r>
              <a:rPr lang="en-US" altLang="en-US" sz="2400" dirty="0">
                <a:latin typeface="Arial" panose="020B0604020202020204" pitchFamily="34" charset="0"/>
              </a:rPr>
              <a:t> is responsible for the value stream and ensuring that the necessary improvements are made in accordance to the schedule.</a:t>
            </a:r>
          </a:p>
          <a:p>
            <a:pPr eaLnBrk="1" hangingPunct="1">
              <a:lnSpc>
                <a:spcPct val="80000"/>
              </a:lnSpc>
            </a:pPr>
            <a:r>
              <a:rPr lang="en-US" altLang="en-US" sz="2400" dirty="0">
                <a:latin typeface="Arial" panose="020B0604020202020204" pitchFamily="34" charset="0"/>
              </a:rPr>
              <a:t>The Business Unit Owner – Is the person responsible for the overall business unit that contains the value stream.</a:t>
            </a:r>
          </a:p>
          <a:p>
            <a:pPr eaLnBrk="1" hangingPunct="1">
              <a:lnSpc>
                <a:spcPct val="80000"/>
              </a:lnSpc>
            </a:pPr>
            <a:r>
              <a:rPr lang="en-US" altLang="en-US" sz="2400" dirty="0">
                <a:latin typeface="Arial" panose="020B0604020202020204" pitchFamily="34" charset="0"/>
              </a:rPr>
              <a:t>VS Loop- Specify loops on the Value Stream Plan – this should come directly from the Future State Map. </a:t>
            </a:r>
          </a:p>
          <a:p>
            <a:pPr eaLnBrk="1" hangingPunct="1">
              <a:lnSpc>
                <a:spcPct val="80000"/>
              </a:lnSpc>
            </a:pPr>
            <a:r>
              <a:rPr lang="en-US" altLang="en-US" sz="2400" dirty="0">
                <a:latin typeface="Arial" panose="020B0604020202020204" pitchFamily="34" charset="0"/>
              </a:rPr>
              <a:t>Value Stream Objective – Identify what needs to be done to move from the current state to the future state. The emphasis should be on what, not how this will be accomplished. The objective should describe what the end state looks like</a:t>
            </a:r>
          </a:p>
          <a:p>
            <a:pPr eaLnBrk="1" hangingPunct="1">
              <a:lnSpc>
                <a:spcPct val="80000"/>
              </a:lnSpc>
            </a:pPr>
            <a:r>
              <a:rPr lang="en-US" altLang="en-US" sz="2400" dirty="0">
                <a:latin typeface="Arial" panose="020B0604020202020204" pitchFamily="34" charset="0"/>
              </a:rPr>
              <a:t>Goal – Develop goals that will allow you to identify when the VS Objective has been achieved. Consistent performance at the goal level indicates that the objective has been satisfied.</a:t>
            </a:r>
          </a:p>
          <a:p>
            <a:pPr eaLnBrk="1" hangingPunct="1">
              <a:lnSpc>
                <a:spcPct val="80000"/>
              </a:lnSpc>
            </a:pPr>
            <a:r>
              <a:rPr lang="en-US" altLang="en-US" sz="2400" dirty="0">
                <a:latin typeface="Arial" panose="020B0604020202020204" pitchFamily="34" charset="0"/>
              </a:rPr>
              <a:t>Target Completion Dates – Identify the date to achieve the VS Objective/Goal. Keep in mind the interrelationships that exist between the objectives and prioritize appropriately. There is not always a 1 to 1 relationship between kaizen activities and objectives. A single objective may require multiple kaizens to reach the goal. </a:t>
            </a:r>
          </a:p>
          <a:p>
            <a:pPr eaLnBrk="1" hangingPunct="1">
              <a:lnSpc>
                <a:spcPct val="80000"/>
              </a:lnSpc>
            </a:pPr>
            <a:r>
              <a:rPr lang="en-US" altLang="en-US" sz="2400" dirty="0">
                <a:latin typeface="Arial" panose="020B0604020202020204" pitchFamily="34" charset="0"/>
              </a:rPr>
              <a:t>Owners of the Value Stream – High enough in the organization to effectively prioritize the objective. Ensures that sufficient resources are invested to reach the goal. Eliminates any obstacles and follows up with the team to ensure timeline is maintained.</a:t>
            </a:r>
          </a:p>
        </p:txBody>
      </p:sp>
    </p:spTree>
    <p:extLst>
      <p:ext uri="{BB962C8B-B14F-4D97-AF65-F5344CB8AC3E}">
        <p14:creationId xmlns:p14="http://schemas.microsoft.com/office/powerpoint/2010/main" val="183546896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 background for Value Stream Loops will turn green when a date is applied to any one of the objectives.</a:t>
            </a:r>
          </a:p>
          <a:p>
            <a:pPr eaLnBrk="1" hangingPunct="1"/>
            <a:r>
              <a:rPr lang="en-US" altLang="en-US" dirty="0">
                <a:latin typeface="Arial" panose="020B0604020202020204" pitchFamily="34" charset="0"/>
              </a:rPr>
              <a:t>Applying a date will automatically create a Gantt chart for the objective.</a:t>
            </a:r>
          </a:p>
          <a:p>
            <a:pPr eaLnBrk="1" hangingPunct="1"/>
            <a:r>
              <a:rPr lang="en-US" altLang="en-US" dirty="0">
                <a:latin typeface="Arial" panose="020B0604020202020204" pitchFamily="34" charset="0"/>
              </a:rPr>
              <a:t>The current month will highlight in red.</a:t>
            </a:r>
          </a:p>
          <a:p>
            <a:pPr eaLnBrk="1" hangingPunct="1"/>
            <a:r>
              <a:rPr lang="en-US" altLang="en-US" dirty="0">
                <a:latin typeface="Arial" panose="020B0604020202020204" pitchFamily="34" charset="0"/>
              </a:rPr>
              <a:t>When the date for any objective has passed the background will turn orange.</a:t>
            </a:r>
          </a:p>
        </p:txBody>
      </p:sp>
    </p:spTree>
    <p:extLst>
      <p:ext uri="{BB962C8B-B14F-4D97-AF65-F5344CB8AC3E}">
        <p14:creationId xmlns:p14="http://schemas.microsoft.com/office/powerpoint/2010/main" val="131637050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Monitoring of progress on the Value Stream Plan is crucial to success.  If the plan </a:t>
            </a:r>
            <a:r>
              <a:rPr lang="en-US" altLang="ja-JP" dirty="0" err="1">
                <a:latin typeface="Arial" panose="020B0604020202020204" pitchFamily="34" charset="0"/>
              </a:rPr>
              <a:t>isn</a:t>
            </a:r>
            <a:r>
              <a:rPr lang="ja-JP" altLang="en-US" dirty="0">
                <a:latin typeface="Arial" panose="020B0604020202020204" pitchFamily="34" charset="0"/>
              </a:rPr>
              <a:t>’</a:t>
            </a:r>
            <a:r>
              <a:rPr lang="en-US" altLang="ja-JP" dirty="0">
                <a:latin typeface="Arial" panose="020B0604020202020204" pitchFamily="34" charset="0"/>
              </a:rPr>
              <a:t>t monitored and followed up on it will not get done.</a:t>
            </a:r>
          </a:p>
          <a:p>
            <a:pPr eaLnBrk="1" hangingPunct="1"/>
            <a:r>
              <a:rPr lang="en-US" altLang="en-US" dirty="0">
                <a:latin typeface="Arial" panose="020B0604020202020204" pitchFamily="34" charset="0"/>
              </a:rPr>
              <a:t>The Value Stream Objective Owner (person in charge) should meet with the team and review the status of the objective weekly</a:t>
            </a:r>
          </a:p>
          <a:p>
            <a:pPr eaLnBrk="1" hangingPunct="1"/>
            <a:r>
              <a:rPr lang="en-US" altLang="en-US" dirty="0">
                <a:latin typeface="Arial" panose="020B0604020202020204" pitchFamily="34" charset="0"/>
              </a:rPr>
              <a:t>The Value Stream Manager should review the progress of each of the objectives at least every two weeks</a:t>
            </a:r>
          </a:p>
          <a:p>
            <a:pPr eaLnBrk="1" hangingPunct="1"/>
            <a:r>
              <a:rPr lang="en-US" altLang="en-US" dirty="0">
                <a:latin typeface="Arial" panose="020B0604020202020204" pitchFamily="34" charset="0"/>
              </a:rPr>
              <a:t>The Value Stream Manager reviews should be conducted by walking through the flow of the value stream plan</a:t>
            </a:r>
          </a:p>
          <a:p>
            <a:pPr eaLnBrk="1" hangingPunct="1"/>
            <a:r>
              <a:rPr lang="en-US" altLang="en-US" dirty="0">
                <a:latin typeface="Arial" panose="020B0604020202020204" pitchFamily="34" charset="0"/>
              </a:rPr>
              <a:t>Reviews should be conducted on-site in the workplace and the focus needs to be on items not yet completed</a:t>
            </a:r>
          </a:p>
          <a:p>
            <a:pPr eaLnBrk="1" hangingPunct="1"/>
            <a:r>
              <a:rPr lang="en-US" altLang="en-US" dirty="0">
                <a:latin typeface="Arial" panose="020B0604020202020204" pitchFamily="34" charset="0"/>
              </a:rPr>
              <a:t>Progress should be reviewed with the business unit owner at least monthly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These reviews should be informational in nature and not problem solving meetings</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 focus needs to remain on items not yet completed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Senior management should be made aware of any obstacles and be given the opportunity to provide additional resources to overcome the obstacles.</a:t>
            </a:r>
            <a:r>
              <a:rPr lang="ja-JP" altLang="en-US" dirty="0">
                <a:latin typeface="Arial" panose="020B0604020202020204" pitchFamily="34" charset="0"/>
                <a:ea typeface="MS PGothic" panose="020B0600070205080204" pitchFamily="34" charset="-128"/>
                <a:cs typeface="Arial" panose="020B0604020202020204" pitchFamily="34" charset="0"/>
              </a:rPr>
              <a:t>”</a:t>
            </a:r>
            <a:endParaRPr lang="en-US" altLang="en-US" dirty="0">
              <a:latin typeface="Arial" panose="020B0604020202020204" pitchFamily="34" charset="0"/>
              <a:ea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3747788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VSM is an incremental and repeatable cycle. Full optimization of the value stream sometimes </a:t>
            </a:r>
            <a:r>
              <a:rPr lang="en-US" altLang="ja-JP" dirty="0" err="1">
                <a:latin typeface="Arial" panose="020B0604020202020204" pitchFamily="34" charset="0"/>
              </a:rPr>
              <a:t>isn</a:t>
            </a:r>
            <a:r>
              <a:rPr lang="ja-JP" altLang="en-US" dirty="0">
                <a:latin typeface="Arial" panose="020B0604020202020204" pitchFamily="34" charset="0"/>
              </a:rPr>
              <a:t>’</a:t>
            </a:r>
            <a:r>
              <a:rPr lang="en-US" altLang="ja-JP" dirty="0">
                <a:latin typeface="Arial" panose="020B0604020202020204" pitchFamily="34" charset="0"/>
              </a:rPr>
              <a:t>t realized until the third or fourth iteration.</a:t>
            </a:r>
            <a:r>
              <a:rPr lang="ja-JP" altLang="en-US" dirty="0">
                <a:latin typeface="Arial" panose="020B0604020202020204" pitchFamily="34" charset="0"/>
              </a:rPr>
              <a:t>”</a:t>
            </a:r>
            <a:r>
              <a:rPr lang="en-US" altLang="ja-JP" dirty="0">
                <a:latin typeface="Arial" panose="020B0604020202020204" pitchFamily="34" charset="0"/>
              </a:rPr>
              <a:t>  For companies early on their journey it is common to reset the Current State Map and Future State Map and the VS Plan at the ½ way point – that is – if you set the Future State at one year out – you would reset at the 6 month point.</a:t>
            </a:r>
            <a:r>
              <a:rPr lang="ja-JP" altLang="en-US" dirty="0">
                <a:latin typeface="Arial" panose="020B0604020202020204" pitchFamily="34" charset="0"/>
              </a:rPr>
              <a:t>”</a:t>
            </a:r>
            <a:endParaRPr lang="en-US" altLang="en-US" dirty="0">
              <a:latin typeface="Arial" panose="020B0604020202020204" pitchFamily="34" charset="0"/>
            </a:endParaRPr>
          </a:p>
        </p:txBody>
      </p:sp>
    </p:spTree>
    <p:extLst>
      <p:ext uri="{BB962C8B-B14F-4D97-AF65-F5344CB8AC3E}">
        <p14:creationId xmlns:p14="http://schemas.microsoft.com/office/powerpoint/2010/main" val="316957140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2400" dirty="0">
                <a:latin typeface="Arial" panose="020B0604020202020204" pitchFamily="34" charset="0"/>
              </a:rPr>
              <a:t>(1) Supplier Loop</a:t>
            </a:r>
          </a:p>
          <a:p>
            <a:pPr eaLnBrk="1" hangingPunct="1"/>
            <a:r>
              <a:rPr lang="en-US" altLang="en-US" sz="2400" dirty="0">
                <a:latin typeface="Arial" panose="020B0604020202020204" pitchFamily="34" charset="0"/>
              </a:rPr>
              <a:t>* Since Acme is a local supplier, increase shipments to 1 x day</a:t>
            </a:r>
          </a:p>
          <a:p>
            <a:pPr eaLnBrk="1" hangingPunct="1"/>
            <a:r>
              <a:rPr lang="en-US" altLang="en-US" sz="2400" dirty="0">
                <a:latin typeface="Arial" panose="020B0604020202020204" pitchFamily="34" charset="0"/>
              </a:rPr>
              <a:t>* Provide real-time electronic </a:t>
            </a:r>
            <a:r>
              <a:rPr lang="en-US" altLang="en-US" sz="2400" dirty="0" err="1">
                <a:latin typeface="Arial" panose="020B0604020202020204" pitchFamily="34" charset="0"/>
              </a:rPr>
              <a:t>kanban</a:t>
            </a:r>
            <a:r>
              <a:rPr lang="en-US" altLang="en-US" sz="2400" dirty="0">
                <a:latin typeface="Arial" panose="020B0604020202020204" pitchFamily="34" charset="0"/>
              </a:rPr>
              <a:t> to Acme to determine exactly what to deliver each day based on consumption, also eliminating the weekly fax</a:t>
            </a:r>
          </a:p>
          <a:p>
            <a:pPr eaLnBrk="1" hangingPunct="1"/>
            <a:r>
              <a:rPr lang="en-US" altLang="en-US" sz="2400" dirty="0">
                <a:latin typeface="Arial" panose="020B0604020202020204" pitchFamily="34" charset="0"/>
              </a:rPr>
              <a:t>(2) </a:t>
            </a:r>
            <a:r>
              <a:rPr lang="en-US" altLang="en-US" sz="2400" dirty="0" err="1">
                <a:latin typeface="Arial" panose="020B0604020202020204" pitchFamily="34" charset="0"/>
              </a:rPr>
              <a:t>Mfg</a:t>
            </a:r>
            <a:r>
              <a:rPr lang="en-US" altLang="en-US" sz="2400" dirty="0">
                <a:latin typeface="Arial" panose="020B0604020202020204" pitchFamily="34" charset="0"/>
              </a:rPr>
              <a:t> Loop</a:t>
            </a:r>
          </a:p>
          <a:p>
            <a:pPr eaLnBrk="1" hangingPunct="1"/>
            <a:r>
              <a:rPr lang="en-US" altLang="en-US" sz="2400" dirty="0">
                <a:latin typeface="Arial" panose="020B0604020202020204" pitchFamily="34" charset="0"/>
              </a:rPr>
              <a:t>* (Long-term) – Have Acme deliver sheets in cut size to eliminate the Cut operation entirely</a:t>
            </a:r>
          </a:p>
          <a:p>
            <a:pPr eaLnBrk="1" hangingPunct="1"/>
            <a:r>
              <a:rPr lang="en-US" altLang="en-US" sz="2400" dirty="0">
                <a:latin typeface="Arial" panose="020B0604020202020204" pitchFamily="34" charset="0"/>
              </a:rPr>
              <a:t>* Continue to lower inventories as quality improves and demand is smoothed</a:t>
            </a:r>
          </a:p>
          <a:p>
            <a:pPr eaLnBrk="1" hangingPunct="1"/>
            <a:r>
              <a:rPr lang="en-US" altLang="en-US" sz="2400" dirty="0">
                <a:latin typeface="Arial" panose="020B0604020202020204" pitchFamily="34" charset="0"/>
              </a:rPr>
              <a:t>(3) Pacemaker Loop</a:t>
            </a:r>
          </a:p>
          <a:p>
            <a:pPr eaLnBrk="1" hangingPunct="1"/>
            <a:r>
              <a:rPr lang="en-US" altLang="en-US" sz="2400" dirty="0">
                <a:latin typeface="Arial" panose="020B0604020202020204" pitchFamily="34" charset="0"/>
              </a:rPr>
              <a:t>* Have Ed</a:t>
            </a:r>
            <a:r>
              <a:rPr lang="ja-JP" altLang="en-US" sz="2400" dirty="0">
                <a:latin typeface="Arial" panose="020B0604020202020204" pitchFamily="34" charset="0"/>
              </a:rPr>
              <a:t>’</a:t>
            </a:r>
            <a:r>
              <a:rPr lang="en-US" altLang="ja-JP" sz="2400" dirty="0">
                <a:latin typeface="Arial" panose="020B0604020202020204" pitchFamily="34" charset="0"/>
              </a:rPr>
              <a:t>s Electrical Supply send electronic </a:t>
            </a:r>
            <a:r>
              <a:rPr lang="en-US" altLang="ja-JP" sz="2400" dirty="0" err="1">
                <a:latin typeface="Arial" panose="020B0604020202020204" pitchFamily="34" charset="0"/>
              </a:rPr>
              <a:t>kanban</a:t>
            </a:r>
            <a:r>
              <a:rPr lang="en-US" altLang="ja-JP" sz="2400" dirty="0">
                <a:latin typeface="Arial" panose="020B0604020202020204" pitchFamily="34" charset="0"/>
              </a:rPr>
              <a:t> Withdrawal Cards to Shipping based on consumption</a:t>
            </a:r>
          </a:p>
          <a:p>
            <a:pPr eaLnBrk="1" hangingPunct="1"/>
            <a:r>
              <a:rPr lang="en-US" altLang="en-US" sz="2400" dirty="0">
                <a:latin typeface="Arial" panose="020B0604020202020204" pitchFamily="34" charset="0"/>
              </a:rPr>
              <a:t>* Daily shipments are based on </a:t>
            </a:r>
            <a:r>
              <a:rPr lang="ja-JP" altLang="en-US" sz="2400" dirty="0">
                <a:latin typeface="Arial" panose="020B0604020202020204" pitchFamily="34" charset="0"/>
              </a:rPr>
              <a:t>“</a:t>
            </a:r>
            <a:r>
              <a:rPr lang="en-US" altLang="ja-JP" sz="2400" dirty="0">
                <a:latin typeface="Arial" panose="020B0604020202020204" pitchFamily="34" charset="0"/>
              </a:rPr>
              <a:t>real-time</a:t>
            </a:r>
            <a:r>
              <a:rPr lang="ja-JP" altLang="en-US" sz="2400" dirty="0">
                <a:latin typeface="Arial" panose="020B0604020202020204" pitchFamily="34" charset="0"/>
              </a:rPr>
              <a:t>”</a:t>
            </a:r>
            <a:r>
              <a:rPr lang="en-US" altLang="ja-JP" sz="2400" dirty="0">
                <a:latin typeface="Arial" panose="020B0604020202020204" pitchFamily="34" charset="0"/>
              </a:rPr>
              <a:t> </a:t>
            </a:r>
            <a:r>
              <a:rPr lang="en-US" altLang="ja-JP" sz="2400" dirty="0" err="1">
                <a:latin typeface="Arial" panose="020B0604020202020204" pitchFamily="34" charset="0"/>
              </a:rPr>
              <a:t>kanban</a:t>
            </a:r>
            <a:r>
              <a:rPr lang="en-US" altLang="ja-JP" sz="2400" dirty="0">
                <a:latin typeface="Arial" panose="020B0604020202020204" pitchFamily="34" charset="0"/>
              </a:rPr>
              <a:t> signals, replacing daily EDI</a:t>
            </a:r>
          </a:p>
          <a:p>
            <a:pPr eaLnBrk="1" hangingPunct="1"/>
            <a:r>
              <a:rPr lang="en-US" altLang="en-US" sz="2400" dirty="0">
                <a:latin typeface="Arial" panose="020B0604020202020204" pitchFamily="34" charset="0"/>
              </a:rPr>
              <a:t>(4) Information Loop</a:t>
            </a:r>
          </a:p>
          <a:p>
            <a:pPr eaLnBrk="1" hangingPunct="1"/>
            <a:r>
              <a:rPr lang="en-US" altLang="en-US" sz="2400" dirty="0">
                <a:latin typeface="Arial" panose="020B0604020202020204" pitchFamily="34" charset="0"/>
              </a:rPr>
              <a:t>* Work with the customer (Ed</a:t>
            </a:r>
            <a:r>
              <a:rPr lang="ja-JP" altLang="en-US" sz="2400" dirty="0">
                <a:latin typeface="Arial" panose="020B0604020202020204" pitchFamily="34" charset="0"/>
              </a:rPr>
              <a:t>’</a:t>
            </a:r>
            <a:r>
              <a:rPr lang="en-US" altLang="ja-JP" sz="2400" dirty="0">
                <a:latin typeface="Arial" panose="020B0604020202020204" pitchFamily="34" charset="0"/>
              </a:rPr>
              <a:t>s) to smooth out demand over longer periods of time, making forecasting and scheduling more stable and accurate</a:t>
            </a:r>
          </a:p>
          <a:p>
            <a:pPr eaLnBrk="1" hangingPunct="1"/>
            <a:r>
              <a:rPr lang="en-US" altLang="en-US" sz="2400" dirty="0">
                <a:latin typeface="Arial" panose="020B0604020202020204" pitchFamily="34" charset="0"/>
              </a:rPr>
              <a:t>* Production control role changes to long term oversight of inventories and supply chain</a:t>
            </a:r>
          </a:p>
          <a:p>
            <a:pPr eaLnBrk="1" hangingPunct="1"/>
            <a:endParaRPr lang="en-US" altLang="en-US" sz="2400" dirty="0">
              <a:latin typeface="Arial" panose="020B0604020202020204" pitchFamily="34" charset="0"/>
            </a:endParaRPr>
          </a:p>
        </p:txBody>
      </p:sp>
    </p:spTree>
    <p:extLst>
      <p:ext uri="{BB962C8B-B14F-4D97-AF65-F5344CB8AC3E}">
        <p14:creationId xmlns:p14="http://schemas.microsoft.com/office/powerpoint/2010/main" val="6087308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900" b="1" dirty="0">
                <a:latin typeface="Arial" panose="020B0604020202020204" pitchFamily="34" charset="0"/>
              </a:rPr>
              <a:t>SAY</a:t>
            </a:r>
            <a:r>
              <a:rPr lang="en-US" altLang="en-US" sz="900" dirty="0">
                <a:latin typeface="Arial" panose="020B0604020202020204" pitchFamily="34" charset="0"/>
              </a:rPr>
              <a:t>: </a:t>
            </a:r>
            <a:r>
              <a:rPr lang="ja-JP" altLang="en-US" sz="900" dirty="0">
                <a:latin typeface="Arial" panose="020B0604020202020204" pitchFamily="34" charset="0"/>
              </a:rPr>
              <a:t>“</a:t>
            </a:r>
            <a:r>
              <a:rPr lang="en-US" altLang="ja-JP" sz="900" dirty="0">
                <a:latin typeface="Arial" panose="020B0604020202020204" pitchFamily="34" charset="0"/>
              </a:rPr>
              <a:t>As you will recall from the introduction to the session, the final deliverable from this event will be an updated Site Plan.</a:t>
            </a:r>
            <a:r>
              <a:rPr lang="ja-JP" altLang="en-US" sz="900" dirty="0">
                <a:latin typeface="Arial" panose="020B0604020202020204" pitchFamily="34" charset="0"/>
              </a:rPr>
              <a:t>”</a:t>
            </a:r>
            <a:endParaRPr lang="en-US" altLang="ja-JP" sz="900" dirty="0">
              <a:latin typeface="Arial" panose="020B0604020202020204" pitchFamily="34" charset="0"/>
            </a:endParaRPr>
          </a:p>
          <a:p>
            <a:pPr eaLnBrk="1" hangingPunct="1"/>
            <a:r>
              <a:rPr lang="en-US" altLang="en-US" sz="900" b="1" dirty="0">
                <a:latin typeface="Arial" panose="020B0604020202020204" pitchFamily="34" charset="0"/>
              </a:rPr>
              <a:t>DO:</a:t>
            </a:r>
            <a:r>
              <a:rPr lang="en-US" altLang="en-US" sz="900" dirty="0">
                <a:latin typeface="Arial" panose="020B0604020202020204" pitchFamily="34" charset="0"/>
              </a:rPr>
              <a:t> Click to transition to the next slide. </a:t>
            </a:r>
          </a:p>
        </p:txBody>
      </p:sp>
    </p:spTree>
    <p:extLst>
      <p:ext uri="{BB962C8B-B14F-4D97-AF65-F5344CB8AC3E}">
        <p14:creationId xmlns:p14="http://schemas.microsoft.com/office/powerpoint/2010/main" val="273126125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sz="800" b="1" dirty="0">
                <a:latin typeface="Arial" panose="020B0604020202020204" pitchFamily="34" charset="0"/>
              </a:rPr>
              <a:t>SAY</a:t>
            </a:r>
            <a:r>
              <a:rPr lang="en-US" altLang="en-US" sz="800" dirty="0">
                <a:latin typeface="Arial" panose="020B0604020202020204" pitchFamily="34" charset="0"/>
              </a:rPr>
              <a:t>: </a:t>
            </a:r>
            <a:r>
              <a:rPr lang="ja-JP" altLang="en-US" sz="800" dirty="0">
                <a:latin typeface="Arial" panose="020B0604020202020204" pitchFamily="34" charset="0"/>
              </a:rPr>
              <a:t>“</a:t>
            </a:r>
            <a:r>
              <a:rPr lang="en-US" altLang="ja-JP" sz="800" dirty="0">
                <a:latin typeface="Arial" panose="020B0604020202020204" pitchFamily="34" charset="0"/>
              </a:rPr>
              <a:t>This is a sample of an excerpt from a site plan showing scheduled events from two different Value Streams (KVF and SMMM).</a:t>
            </a:r>
            <a:r>
              <a:rPr lang="ja-JP" altLang="en-US" sz="800" dirty="0">
                <a:latin typeface="Arial" panose="020B0604020202020204" pitchFamily="34" charset="0"/>
              </a:rPr>
              <a:t>”</a:t>
            </a:r>
            <a:endParaRPr lang="en-US" altLang="en-US" sz="800" dirty="0">
              <a:latin typeface="Arial" panose="020B0604020202020204" pitchFamily="34" charset="0"/>
            </a:endParaRPr>
          </a:p>
        </p:txBody>
      </p:sp>
    </p:spTree>
    <p:extLst>
      <p:ext uri="{BB962C8B-B14F-4D97-AF65-F5344CB8AC3E}">
        <p14:creationId xmlns:p14="http://schemas.microsoft.com/office/powerpoint/2010/main" val="36128328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100" b="1" dirty="0">
                <a:latin typeface="Arial" panose="020B0604020202020204" pitchFamily="34" charset="0"/>
              </a:rPr>
              <a:t>SAY</a:t>
            </a:r>
            <a:r>
              <a:rPr lang="en-US" altLang="en-US" sz="1100" dirty="0">
                <a:latin typeface="Arial" panose="020B0604020202020204" pitchFamily="34" charset="0"/>
              </a:rPr>
              <a:t>: Now we will break and the team will create their Future State Map and Value Stream Plan. </a:t>
            </a:r>
          </a:p>
          <a:p>
            <a:pPr eaLnBrk="1" hangingPunct="1"/>
            <a:r>
              <a:rPr lang="en-US" altLang="en-US" sz="1100" b="1" dirty="0">
                <a:latin typeface="Arial" panose="020B0604020202020204" pitchFamily="34" charset="0"/>
              </a:rPr>
              <a:t>NOTE:</a:t>
            </a:r>
            <a:r>
              <a:rPr lang="en-US" altLang="en-US" sz="1100" dirty="0">
                <a:latin typeface="Arial" panose="020B0604020202020204" pitchFamily="34" charset="0"/>
              </a:rPr>
              <a:t> Give the team a time deadline for when this should be complete.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165</a:t>
            </a:fld>
            <a:endParaRPr lang="en-US"/>
          </a:p>
        </p:txBody>
      </p:sp>
    </p:spTree>
    <p:extLst>
      <p:ext uri="{BB962C8B-B14F-4D97-AF65-F5344CB8AC3E}">
        <p14:creationId xmlns:p14="http://schemas.microsoft.com/office/powerpoint/2010/main" val="2227647702"/>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report-out guidelines.</a:t>
            </a:r>
          </a:p>
        </p:txBody>
      </p:sp>
    </p:spTree>
    <p:extLst>
      <p:ext uri="{BB962C8B-B14F-4D97-AF65-F5344CB8AC3E}">
        <p14:creationId xmlns:p14="http://schemas.microsoft.com/office/powerpoint/2010/main" val="2901342520"/>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613307494"/>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1281527258"/>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89957056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915947778"/>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2449820706"/>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172</a:t>
            </a:fld>
            <a:endParaRPr lang="en-US"/>
          </a:p>
        </p:txBody>
      </p:sp>
    </p:spTree>
    <p:extLst>
      <p:ext uri="{BB962C8B-B14F-4D97-AF65-F5344CB8AC3E}">
        <p14:creationId xmlns:p14="http://schemas.microsoft.com/office/powerpoint/2010/main" val="102285623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Tree>
    <p:extLst>
      <p:ext uri="{BB962C8B-B14F-4D97-AF65-F5344CB8AC3E}">
        <p14:creationId xmlns:p14="http://schemas.microsoft.com/office/powerpoint/2010/main" val="84976426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0F6632C7-24FA-80B1-73E9-5FA4B7E6FDDC}"/>
              </a:ext>
            </a:extLst>
          </p:cNvPr>
          <p:cNvSpPr>
            <a:spLocks noGrp="1"/>
          </p:cNvSpPr>
          <p:nvPr>
            <p:ph type="dt" sz="half" idx="10"/>
          </p:nvPr>
        </p:nvSpPr>
        <p:spPr>
          <a:xfrm>
            <a:off x="837982" y="6203424"/>
            <a:ext cx="2742486" cy="365125"/>
          </a:xfrm>
          <a:prstGeom prst="rect">
            <a:avLst/>
          </a:prstGeom>
        </p:spPr>
        <p:txBody>
          <a:bodyPr/>
          <a:lstStyle>
            <a:lvl1pPr>
              <a:defRPr>
                <a:solidFill>
                  <a:schemeClr val="tx1"/>
                </a:solidFill>
              </a:defRPr>
            </a:lvl1pPr>
          </a:lstStyle>
          <a:p>
            <a:r>
              <a:rPr lang="en-US"/>
              <a:t>ADMIN INTRO PRESENTATION_2 HOUR ENG REV4.0</a:t>
            </a:r>
            <a:endParaRPr lang="en-US" dirty="0"/>
          </a:p>
        </p:txBody>
      </p:sp>
      <p:sp>
        <p:nvSpPr>
          <p:cNvPr id="4" name="Footer Placeholder 3">
            <a:extLst>
              <a:ext uri="{FF2B5EF4-FFF2-40B4-BE49-F238E27FC236}">
                <a16:creationId xmlns:a16="http://schemas.microsoft.com/office/drawing/2014/main" id="{35F5A2D9-AC06-FF12-6355-C48FA499A0B3}"/>
              </a:ext>
            </a:extLst>
          </p:cNvPr>
          <p:cNvSpPr>
            <a:spLocks noGrp="1"/>
          </p:cNvSpPr>
          <p:nvPr>
            <p:ph type="ftr" sz="quarter" idx="11"/>
          </p:nvPr>
        </p:nvSpPr>
        <p:spPr/>
        <p:txBody>
          <a:bodyPr/>
          <a:lstStyle>
            <a:lvl1pPr>
              <a:defRPr>
                <a:solidFill>
                  <a:schemeClr val="tx1"/>
                </a:solidFill>
              </a:defRPr>
            </a:lvl1pPr>
          </a:lstStyle>
          <a:p>
            <a:r>
              <a:rPr lang="en-US"/>
              <a:t>© Lean Horizons Consulting, LLC 2023. All Rights Reserved</a:t>
            </a:r>
            <a:endParaRPr lang="en-US" dirty="0"/>
          </a:p>
        </p:txBody>
      </p:sp>
      <p:sp>
        <p:nvSpPr>
          <p:cNvPr id="5" name="Slide Number Placeholder 4">
            <a:extLst>
              <a:ext uri="{FF2B5EF4-FFF2-40B4-BE49-F238E27FC236}">
                <a16:creationId xmlns:a16="http://schemas.microsoft.com/office/drawing/2014/main" id="{CE665616-5CDC-80BA-E0E4-D0753230454A}"/>
              </a:ext>
            </a:extLst>
          </p:cNvPr>
          <p:cNvSpPr>
            <a:spLocks noGrp="1"/>
          </p:cNvSpPr>
          <p:nvPr>
            <p:ph type="sldNum" sz="quarter" idx="12"/>
          </p:nvPr>
        </p:nvSpPr>
        <p:spPr/>
        <p:txBody>
          <a:bodyPr/>
          <a:lstStyle>
            <a:lvl1pPr>
              <a:defRPr>
                <a:solidFill>
                  <a:schemeClr val="tx1"/>
                </a:solidFill>
              </a:defRPr>
            </a:lvl1pPr>
          </a:lstStyle>
          <a:p>
            <a:fld id="{CC6D4273-7FC1-0947-B9FE-19CB3C0D1FB6}" type="slidenum">
              <a:rPr lang="en-US" smtClean="0"/>
              <a:pPr/>
              <a:t>‹#›</a:t>
            </a:fld>
            <a:endParaRPr lang="en-US" dirty="0"/>
          </a:p>
        </p:txBody>
      </p:sp>
      <p:pic>
        <p:nvPicPr>
          <p:cNvPr id="6" name="Picture 5" descr="Logo&#10;&#10;Description automatically generated">
            <a:extLst>
              <a:ext uri="{FF2B5EF4-FFF2-40B4-BE49-F238E27FC236}">
                <a16:creationId xmlns:a16="http://schemas.microsoft.com/office/drawing/2014/main" id="{7B85E90D-7DD7-92B5-E387-8C0441E41AC3}"/>
              </a:ext>
            </a:extLst>
          </p:cNvPr>
          <p:cNvPicPr>
            <a:picLocks noChangeAspect="1"/>
          </p:cNvPicPr>
          <p:nvPr/>
        </p:nvPicPr>
        <p:blipFill>
          <a:blip r:embed="rId2"/>
          <a:stretch>
            <a:fillRect/>
          </a:stretch>
        </p:blipFill>
        <p:spPr>
          <a:xfrm>
            <a:off x="2384770" y="1950112"/>
            <a:ext cx="7770376" cy="2590800"/>
          </a:xfrm>
          <a:prstGeom prst="rect">
            <a:avLst/>
          </a:prstGeom>
        </p:spPr>
      </p:pic>
      <p:pic>
        <p:nvPicPr>
          <p:cNvPr id="2" name="Picture 1" descr="Logo&#10;&#10;Description automatically generated">
            <a:extLst>
              <a:ext uri="{FF2B5EF4-FFF2-40B4-BE49-F238E27FC236}">
                <a16:creationId xmlns:a16="http://schemas.microsoft.com/office/drawing/2014/main" id="{6E78814F-D718-3492-9694-F4320811F704}"/>
              </a:ext>
            </a:extLst>
          </p:cNvPr>
          <p:cNvPicPr>
            <a:picLocks noChangeAspect="1"/>
          </p:cNvPicPr>
          <p:nvPr userDrawn="1"/>
        </p:nvPicPr>
        <p:blipFill>
          <a:blip r:embed="rId2"/>
          <a:stretch>
            <a:fillRect/>
          </a:stretch>
        </p:blipFill>
        <p:spPr>
          <a:xfrm>
            <a:off x="2384770" y="1950112"/>
            <a:ext cx="7770376" cy="2590800"/>
          </a:xfrm>
          <a:prstGeom prst="rect">
            <a:avLst/>
          </a:prstGeom>
        </p:spPr>
      </p:pic>
    </p:spTree>
    <p:extLst>
      <p:ext uri="{BB962C8B-B14F-4D97-AF65-F5344CB8AC3E}">
        <p14:creationId xmlns:p14="http://schemas.microsoft.com/office/powerpoint/2010/main" val="266239638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0F6632C7-24FA-80B1-73E9-5FA4B7E6FDDC}"/>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4" name="Footer Placeholder 3">
            <a:extLst>
              <a:ext uri="{FF2B5EF4-FFF2-40B4-BE49-F238E27FC236}">
                <a16:creationId xmlns:a16="http://schemas.microsoft.com/office/drawing/2014/main" id="{35F5A2D9-AC06-FF12-6355-C48FA499A0B3}"/>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5" name="Slide Number Placeholder 4">
            <a:extLst>
              <a:ext uri="{FF2B5EF4-FFF2-40B4-BE49-F238E27FC236}">
                <a16:creationId xmlns:a16="http://schemas.microsoft.com/office/drawing/2014/main" id="{CE665616-5CDC-80BA-E0E4-D0753230454A}"/>
              </a:ext>
            </a:extLst>
          </p:cNvPr>
          <p:cNvSpPr>
            <a:spLocks noGrp="1"/>
          </p:cNvSpPr>
          <p:nvPr>
            <p:ph type="sldNum" sz="quarter" idx="12"/>
          </p:nvPr>
        </p:nvSpPr>
        <p:spPr/>
        <p:txBody>
          <a:bodyPr/>
          <a:lstStyle/>
          <a:p>
            <a:fld id="{CC6D4273-7FC1-0947-B9FE-19CB3C0D1FB6}" type="slidenum">
              <a:rPr lang="en-US" smtClean="0"/>
              <a:pPr/>
              <a:t>‹#›</a:t>
            </a:fld>
            <a:endParaRPr lang="en-US" dirty="0"/>
          </a:p>
        </p:txBody>
      </p:sp>
    </p:spTree>
    <p:extLst>
      <p:ext uri="{BB962C8B-B14F-4D97-AF65-F5344CB8AC3E}">
        <p14:creationId xmlns:p14="http://schemas.microsoft.com/office/powerpoint/2010/main" val="1788112004"/>
      </p:ext>
    </p:extLst>
  </p:cSld>
  <p:clrMapOvr>
    <a:masterClrMapping/>
  </p:clrMapOvr>
  <p:hf sldNum="0"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pic>
        <p:nvPicPr>
          <p:cNvPr id="2" name="Picture 1" descr="Logo&#10;&#10;Description automatically generated">
            <a:extLst>
              <a:ext uri="{FF2B5EF4-FFF2-40B4-BE49-F238E27FC236}">
                <a16:creationId xmlns:a16="http://schemas.microsoft.com/office/drawing/2014/main" id="{DFA04139-8C44-65B7-CCE0-3C7273396743}"/>
              </a:ext>
            </a:extLst>
          </p:cNvPr>
          <p:cNvPicPr>
            <a:picLocks noChangeAspect="1"/>
          </p:cNvPicPr>
          <p:nvPr/>
        </p:nvPicPr>
        <p:blipFill>
          <a:blip r:embed="rId2"/>
          <a:stretch>
            <a:fillRect/>
          </a:stretch>
        </p:blipFill>
        <p:spPr>
          <a:xfrm>
            <a:off x="10039339" y="6012922"/>
            <a:ext cx="1825150" cy="365125"/>
          </a:xfrm>
          <a:prstGeom prst="rect">
            <a:avLst/>
          </a:prstGeom>
        </p:spPr>
      </p:pic>
      <p:sp>
        <p:nvSpPr>
          <p:cNvPr id="6" name="Date Placeholder 5">
            <a:extLst>
              <a:ext uri="{FF2B5EF4-FFF2-40B4-BE49-F238E27FC236}">
                <a16:creationId xmlns:a16="http://schemas.microsoft.com/office/drawing/2014/main" id="{EE713FB0-61CF-B0CE-CBAF-8D8C4C3F6831}"/>
              </a:ext>
            </a:extLst>
          </p:cNvPr>
          <p:cNvSpPr>
            <a:spLocks noGrp="1"/>
          </p:cNvSpPr>
          <p:nvPr>
            <p:ph type="dt" sz="half" idx="10"/>
          </p:nvPr>
        </p:nvSpPr>
        <p:spPr>
          <a:xfrm>
            <a:off x="837982" y="6203424"/>
            <a:ext cx="2742486" cy="365125"/>
          </a:xfrm>
          <a:prstGeom prst="rect">
            <a:avLst/>
          </a:prstGeom>
        </p:spPr>
        <p:txBody>
          <a:bodyPr/>
          <a:lstStyle>
            <a:lvl1pPr>
              <a:defRPr sz="1000">
                <a:solidFill>
                  <a:schemeClr val="tx1"/>
                </a:solidFill>
              </a:defRPr>
            </a:lvl1pPr>
          </a:lstStyle>
          <a:p>
            <a:r>
              <a:rPr lang="en-US" dirty="0"/>
              <a:t>ADMIN INTRO PRESENTATION_2 HOUR ENG REV4.0</a:t>
            </a:r>
          </a:p>
        </p:txBody>
      </p:sp>
      <p:sp>
        <p:nvSpPr>
          <p:cNvPr id="7" name="Footer Placeholder 6">
            <a:extLst>
              <a:ext uri="{FF2B5EF4-FFF2-40B4-BE49-F238E27FC236}">
                <a16:creationId xmlns:a16="http://schemas.microsoft.com/office/drawing/2014/main" id="{16E45F08-93F9-9D42-B041-5B80AA46621B}"/>
              </a:ext>
            </a:extLst>
          </p:cNvPr>
          <p:cNvSpPr>
            <a:spLocks noGrp="1"/>
          </p:cNvSpPr>
          <p:nvPr>
            <p:ph type="ftr" sz="quarter" idx="11"/>
          </p:nvPr>
        </p:nvSpPr>
        <p:spPr/>
        <p:txBody>
          <a:bodyPr/>
          <a:lstStyle>
            <a:lvl1pPr>
              <a:defRPr sz="1000">
                <a:solidFill>
                  <a:schemeClr val="tx1"/>
                </a:solidFill>
              </a:defRPr>
            </a:lvl1pPr>
          </a:lstStyle>
          <a:p>
            <a:r>
              <a:rPr lang="en-US" sz="900"/>
              <a:t>© Lean Horizons Consulting, LLC 2023. All Rights Reserved</a:t>
            </a:r>
            <a:endParaRPr lang="en-US" sz="900" dirty="0"/>
          </a:p>
        </p:txBody>
      </p:sp>
      <p:sp>
        <p:nvSpPr>
          <p:cNvPr id="8" name="Slide Number Placeholder 7">
            <a:extLst>
              <a:ext uri="{FF2B5EF4-FFF2-40B4-BE49-F238E27FC236}">
                <a16:creationId xmlns:a16="http://schemas.microsoft.com/office/drawing/2014/main" id="{295FBD58-62EF-8C10-7A01-0254C658585E}"/>
              </a:ext>
            </a:extLst>
          </p:cNvPr>
          <p:cNvSpPr>
            <a:spLocks noGrp="1"/>
          </p:cNvSpPr>
          <p:nvPr>
            <p:ph type="sldNum" sz="quarter" idx="12"/>
          </p:nvPr>
        </p:nvSpPr>
        <p:spPr/>
        <p:txBody>
          <a:bodyPr/>
          <a:lstStyle>
            <a:lvl1pPr>
              <a:defRPr sz="1000">
                <a:solidFill>
                  <a:schemeClr val="tx1"/>
                </a:solidFill>
              </a:defRPr>
            </a:lvl1pPr>
          </a:lstStyle>
          <a:p>
            <a:fld id="{CC6D4273-7FC1-0947-B9FE-19CB3C0D1FB6}" type="slidenum">
              <a:rPr lang="en-US" smtClean="0"/>
              <a:pPr/>
              <a:t>‹#›</a:t>
            </a:fld>
            <a:endParaRPr lang="en-US" dirty="0"/>
          </a:p>
        </p:txBody>
      </p:sp>
    </p:spTree>
    <p:extLst>
      <p:ext uri="{BB962C8B-B14F-4D97-AF65-F5344CB8AC3E}">
        <p14:creationId xmlns:p14="http://schemas.microsoft.com/office/powerpoint/2010/main" val="1857667127"/>
      </p:ext>
    </p:extLst>
  </p:cSld>
  <p:clrMapOvr>
    <a:masterClrMapping/>
  </p:clrMapOvr>
  <p:hf sldNum="0" hdr="0" ftr="0" dt="0"/>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B640B0-16F5-BFBE-E22F-812ED893EE45}"/>
              </a:ext>
            </a:extLst>
          </p:cNvPr>
          <p:cNvSpPr>
            <a:spLocks noGrp="1"/>
          </p:cNvSpPr>
          <p:nvPr>
            <p:ph type="ctrTitle"/>
          </p:nvPr>
        </p:nvSpPr>
        <p:spPr>
          <a:xfrm>
            <a:off x="1523603" y="1122363"/>
            <a:ext cx="9141619" cy="2387600"/>
          </a:xfrm>
        </p:spPr>
        <p:txBody>
          <a:bodyPr anchor="b"/>
          <a:lstStyle>
            <a:lvl1pPr algn="ctr">
              <a:defRPr sz="5998"/>
            </a:lvl1pPr>
          </a:lstStyle>
          <a:p>
            <a:r>
              <a:rPr lang="en-US"/>
              <a:t>Click to edit Master title style</a:t>
            </a:r>
            <a:endParaRPr lang="en-US" dirty="0"/>
          </a:p>
        </p:txBody>
      </p:sp>
      <p:sp>
        <p:nvSpPr>
          <p:cNvPr id="3" name="Subtitle 2">
            <a:extLst>
              <a:ext uri="{FF2B5EF4-FFF2-40B4-BE49-F238E27FC236}">
                <a16:creationId xmlns:a16="http://schemas.microsoft.com/office/drawing/2014/main" id="{A30DE2FD-1979-A3D6-90A4-45D744A02739}"/>
              </a:ext>
            </a:extLst>
          </p:cNvPr>
          <p:cNvSpPr>
            <a:spLocks noGrp="1"/>
          </p:cNvSpPr>
          <p:nvPr>
            <p:ph type="subTitle" idx="1"/>
          </p:nvPr>
        </p:nvSpPr>
        <p:spPr>
          <a:xfrm>
            <a:off x="1523603" y="3800723"/>
            <a:ext cx="9141619" cy="1457077"/>
          </a:xfrm>
        </p:spPr>
        <p:txBody>
          <a:bodyPr/>
          <a:lstStyle>
            <a:lvl1pPr marL="0" indent="0" algn="ctr">
              <a:buNone/>
              <a:defRPr sz="2399"/>
            </a:lvl1pPr>
            <a:lvl2pPr marL="457063" indent="0" algn="ctr">
              <a:buNone/>
              <a:defRPr sz="1999"/>
            </a:lvl2pPr>
            <a:lvl3pPr marL="914126" indent="0" algn="ctr">
              <a:buNone/>
              <a:defRPr sz="1799"/>
            </a:lvl3pPr>
            <a:lvl4pPr marL="1371189" indent="0" algn="ctr">
              <a:buNone/>
              <a:defRPr sz="1600"/>
            </a:lvl4pPr>
            <a:lvl5pPr marL="1828251" indent="0" algn="ctr">
              <a:buNone/>
              <a:defRPr sz="1600"/>
            </a:lvl5pPr>
            <a:lvl6pPr marL="2285314" indent="0" algn="ctr">
              <a:buNone/>
              <a:defRPr sz="1600"/>
            </a:lvl6pPr>
            <a:lvl7pPr marL="2742377" indent="0" algn="ctr">
              <a:buNone/>
              <a:defRPr sz="1600"/>
            </a:lvl7pPr>
            <a:lvl8pPr marL="3199440" indent="0" algn="ctr">
              <a:buNone/>
              <a:defRPr sz="1600"/>
            </a:lvl8pPr>
            <a:lvl9pPr marL="3656503" indent="0" algn="ctr">
              <a:buNone/>
              <a:defRPr sz="1600"/>
            </a:lvl9pPr>
          </a:lstStyle>
          <a:p>
            <a:r>
              <a:rPr lang="en-US"/>
              <a:t>Click to edit Master subtitle style</a:t>
            </a:r>
            <a:endParaRPr lang="en-US" dirty="0"/>
          </a:p>
        </p:txBody>
      </p:sp>
      <p:sp>
        <p:nvSpPr>
          <p:cNvPr id="4" name="Date Placeholder 3">
            <a:extLst>
              <a:ext uri="{FF2B5EF4-FFF2-40B4-BE49-F238E27FC236}">
                <a16:creationId xmlns:a16="http://schemas.microsoft.com/office/drawing/2014/main" id="{5D150109-7ADC-F773-0644-47B288B293E9}"/>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5" name="Footer Placeholder 4">
            <a:extLst>
              <a:ext uri="{FF2B5EF4-FFF2-40B4-BE49-F238E27FC236}">
                <a16:creationId xmlns:a16="http://schemas.microsoft.com/office/drawing/2014/main" id="{7972D5BD-8AA3-D530-AD6F-24E7F8B2ECE9}"/>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745A5EBA-0644-69EA-6FF4-392BCDDDA88B}"/>
              </a:ext>
            </a:extLst>
          </p:cNvPr>
          <p:cNvSpPr>
            <a:spLocks noGrp="1"/>
          </p:cNvSpPr>
          <p:nvPr>
            <p:ph type="sldNum" sz="quarter" idx="12"/>
          </p:nvPr>
        </p:nvSpPr>
        <p:spPr/>
        <p:txBody>
          <a:bodyPr/>
          <a:lstStyle/>
          <a:p>
            <a:fld id="{9D7BE379-F0DC-4748-87CF-B8F42E18E915}" type="slidenum">
              <a:rPr lang="en-US" smtClean="0"/>
              <a:t>‹#›</a:t>
            </a:fld>
            <a:endParaRPr lang="en-US"/>
          </a:p>
        </p:txBody>
      </p:sp>
      <p:pic>
        <p:nvPicPr>
          <p:cNvPr id="7" name="Picture 6">
            <a:extLst>
              <a:ext uri="{FF2B5EF4-FFF2-40B4-BE49-F238E27FC236}">
                <a16:creationId xmlns:a16="http://schemas.microsoft.com/office/drawing/2014/main" id="{79394B0F-E5B4-CFAF-7473-46BB2646C463}"/>
              </a:ext>
            </a:extLst>
          </p:cNvPr>
          <p:cNvPicPr>
            <a:picLocks noChangeAspect="1"/>
          </p:cNvPicPr>
          <p:nvPr/>
        </p:nvPicPr>
        <p:blipFill>
          <a:blip r:embed="rId2"/>
          <a:stretch>
            <a:fillRect/>
          </a:stretch>
        </p:blipFill>
        <p:spPr>
          <a:xfrm>
            <a:off x="4125306" y="3556320"/>
            <a:ext cx="3938214" cy="45719"/>
          </a:xfrm>
          <a:prstGeom prst="rect">
            <a:avLst/>
          </a:prstGeom>
        </p:spPr>
      </p:pic>
      <p:pic>
        <p:nvPicPr>
          <p:cNvPr id="8" name="Picture 7">
            <a:extLst>
              <a:ext uri="{FF2B5EF4-FFF2-40B4-BE49-F238E27FC236}">
                <a16:creationId xmlns:a16="http://schemas.microsoft.com/office/drawing/2014/main" id="{CF5CE4EC-B7CD-018C-284B-81CDDE832AAC}"/>
              </a:ext>
            </a:extLst>
          </p:cNvPr>
          <p:cNvPicPr>
            <a:picLocks noChangeAspect="1"/>
          </p:cNvPicPr>
          <p:nvPr userDrawn="1"/>
        </p:nvPicPr>
        <p:blipFill>
          <a:blip r:embed="rId2"/>
          <a:stretch>
            <a:fillRect/>
          </a:stretch>
        </p:blipFill>
        <p:spPr>
          <a:xfrm>
            <a:off x="4126380" y="3556319"/>
            <a:ext cx="3939240" cy="45719"/>
          </a:xfrm>
          <a:prstGeom prst="rect">
            <a:avLst/>
          </a:prstGeom>
        </p:spPr>
      </p:pic>
    </p:spTree>
    <p:extLst>
      <p:ext uri="{BB962C8B-B14F-4D97-AF65-F5344CB8AC3E}">
        <p14:creationId xmlns:p14="http://schemas.microsoft.com/office/powerpoint/2010/main" val="19359085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E36242-F70A-0032-2B4B-BCCF0734FAFB}"/>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D039E81F-378B-8CF2-E1C3-1D9054EF712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EB431E-3AEB-85FA-F679-5848C4E79803}"/>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5" name="Footer Placeholder 4">
            <a:extLst>
              <a:ext uri="{FF2B5EF4-FFF2-40B4-BE49-F238E27FC236}">
                <a16:creationId xmlns:a16="http://schemas.microsoft.com/office/drawing/2014/main" id="{5603C48C-555D-E19B-6C0D-F0EBB3B964AE}"/>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CF6D597A-E702-F15E-D548-75267A58DBC4}"/>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8" name="Straight Connector 7">
            <a:extLst>
              <a:ext uri="{FF2B5EF4-FFF2-40B4-BE49-F238E27FC236}">
                <a16:creationId xmlns:a16="http://schemas.microsoft.com/office/drawing/2014/main" id="{EDBCBB7B-054A-FE83-5F7C-FE4A1CDFEEBA}"/>
              </a:ext>
            </a:extLst>
          </p:cNvPr>
          <p:cNvCxnSpPr>
            <a:cxnSpLocks/>
          </p:cNvCxnSpPr>
          <p:nvPr/>
        </p:nvCxnSpPr>
        <p:spPr>
          <a:xfrm>
            <a:off x="837982" y="1690688"/>
            <a:ext cx="6654376"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0BB293B-D26B-C0D1-56A0-DC31C87A6A3A}"/>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72121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EA9C9-FDCA-934D-785B-BFD907843ADA}"/>
              </a:ext>
            </a:extLst>
          </p:cNvPr>
          <p:cNvSpPr>
            <a:spLocks noGrp="1"/>
          </p:cNvSpPr>
          <p:nvPr>
            <p:ph type="title"/>
          </p:nvPr>
        </p:nvSpPr>
        <p:spPr>
          <a:xfrm>
            <a:off x="831633" y="1709739"/>
            <a:ext cx="10512862" cy="2852737"/>
          </a:xfrm>
        </p:spPr>
        <p:txBody>
          <a:bodyPr anchor="b"/>
          <a:lstStyle>
            <a:lvl1pPr>
              <a:defRPr sz="5998"/>
            </a:lvl1pPr>
          </a:lstStyle>
          <a:p>
            <a:r>
              <a:rPr lang="en-US"/>
              <a:t>Click to edit Master title style</a:t>
            </a:r>
          </a:p>
        </p:txBody>
      </p:sp>
      <p:sp>
        <p:nvSpPr>
          <p:cNvPr id="3" name="Text Placeholder 2">
            <a:extLst>
              <a:ext uri="{FF2B5EF4-FFF2-40B4-BE49-F238E27FC236}">
                <a16:creationId xmlns:a16="http://schemas.microsoft.com/office/drawing/2014/main" id="{E7695437-1877-C6A2-EE04-3EF98092E16F}"/>
              </a:ext>
            </a:extLst>
          </p:cNvPr>
          <p:cNvSpPr>
            <a:spLocks noGrp="1"/>
          </p:cNvSpPr>
          <p:nvPr>
            <p:ph type="body" idx="1"/>
          </p:nvPr>
        </p:nvSpPr>
        <p:spPr>
          <a:xfrm>
            <a:off x="831633" y="4715124"/>
            <a:ext cx="10512862" cy="1374527"/>
          </a:xfrm>
        </p:spPr>
        <p:txBody>
          <a:bodyPr/>
          <a:lstStyle>
            <a:lvl1pPr marL="0" indent="0">
              <a:buNone/>
              <a:defRPr sz="2399">
                <a:solidFill>
                  <a:schemeClr val="tx1">
                    <a:tint val="75000"/>
                  </a:schemeClr>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6A10F95-6923-6F86-6DB3-8B27B6BB2F75}"/>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5" name="Footer Placeholder 4">
            <a:extLst>
              <a:ext uri="{FF2B5EF4-FFF2-40B4-BE49-F238E27FC236}">
                <a16:creationId xmlns:a16="http://schemas.microsoft.com/office/drawing/2014/main" id="{BA984A5B-BAB1-E2B6-D0CD-9CC55AE4BE5A}"/>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5DF0252A-D6B3-C5D2-39B9-8F581A590479}"/>
              </a:ext>
            </a:extLst>
          </p:cNvPr>
          <p:cNvSpPr>
            <a:spLocks noGrp="1"/>
          </p:cNvSpPr>
          <p:nvPr>
            <p:ph type="sldNum" sz="quarter" idx="12"/>
          </p:nvPr>
        </p:nvSpPr>
        <p:spPr/>
        <p:txBody>
          <a:bodyPr/>
          <a:lstStyle/>
          <a:p>
            <a:fld id="{9D7BE379-F0DC-4748-87CF-B8F42E18E915}" type="slidenum">
              <a:rPr lang="en-US" smtClean="0"/>
              <a:t>‹#›</a:t>
            </a:fld>
            <a:endParaRPr lang="en-US"/>
          </a:p>
        </p:txBody>
      </p:sp>
    </p:spTree>
    <p:extLst>
      <p:ext uri="{BB962C8B-B14F-4D97-AF65-F5344CB8AC3E}">
        <p14:creationId xmlns:p14="http://schemas.microsoft.com/office/powerpoint/2010/main" val="16880724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A8C054-8592-E116-8DB0-D7814A8CDB6B}"/>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35C802A-EC64-E4D9-44D3-54E728E3E9B3}"/>
              </a:ext>
            </a:extLst>
          </p:cNvPr>
          <p:cNvSpPr>
            <a:spLocks noGrp="1"/>
          </p:cNvSpPr>
          <p:nvPr>
            <p:ph sz="half" idx="1"/>
          </p:nvPr>
        </p:nvSpPr>
        <p:spPr>
          <a:xfrm>
            <a:off x="837982" y="1825625"/>
            <a:ext cx="5180251"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1EA5B75-CA16-4AC3-A34C-C3C4FF82FD74}"/>
              </a:ext>
            </a:extLst>
          </p:cNvPr>
          <p:cNvSpPr>
            <a:spLocks noGrp="1"/>
          </p:cNvSpPr>
          <p:nvPr>
            <p:ph sz="half" idx="2"/>
          </p:nvPr>
        </p:nvSpPr>
        <p:spPr>
          <a:xfrm>
            <a:off x="6170592" y="1825625"/>
            <a:ext cx="5180251"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6F7D4AF-D681-9AE6-CDE6-C635C74B2D79}"/>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6" name="Footer Placeholder 5">
            <a:extLst>
              <a:ext uri="{FF2B5EF4-FFF2-40B4-BE49-F238E27FC236}">
                <a16:creationId xmlns:a16="http://schemas.microsoft.com/office/drawing/2014/main" id="{03EE89AE-FB7D-E45D-2D78-CB19FE5E7985}"/>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7" name="Slide Number Placeholder 6">
            <a:extLst>
              <a:ext uri="{FF2B5EF4-FFF2-40B4-BE49-F238E27FC236}">
                <a16:creationId xmlns:a16="http://schemas.microsoft.com/office/drawing/2014/main" id="{84E244BA-92CD-53BA-52F7-BBD4B18AD02A}"/>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9" name="Straight Connector 8">
            <a:extLst>
              <a:ext uri="{FF2B5EF4-FFF2-40B4-BE49-F238E27FC236}">
                <a16:creationId xmlns:a16="http://schemas.microsoft.com/office/drawing/2014/main" id="{23186D81-5D29-FE58-C442-6A6A0689DB5B}"/>
              </a:ext>
            </a:extLst>
          </p:cNvPr>
          <p:cNvCxnSpPr>
            <a:cxnSpLocks/>
          </p:cNvCxnSpPr>
          <p:nvPr/>
        </p:nvCxnSpPr>
        <p:spPr>
          <a:xfrm>
            <a:off x="837982" y="1690688"/>
            <a:ext cx="6654376"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F387C00-2C51-4D76-2EBD-8FF9B397233E}"/>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31729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362F87-A7AE-9269-55EC-7B1C8A4D2FA0}"/>
              </a:ext>
            </a:extLst>
          </p:cNvPr>
          <p:cNvSpPr>
            <a:spLocks noGrp="1"/>
          </p:cNvSpPr>
          <p:nvPr>
            <p:ph type="title"/>
          </p:nvPr>
        </p:nvSpPr>
        <p:spPr>
          <a:xfrm>
            <a:off x="839569" y="668338"/>
            <a:ext cx="10512862" cy="1022351"/>
          </a:xfrm>
        </p:spPr>
        <p:txBody>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23727D69-EB01-A889-0CC3-A64B4F7DAB19}"/>
              </a:ext>
            </a:extLst>
          </p:cNvPr>
          <p:cNvSpPr>
            <a:spLocks noGrp="1"/>
          </p:cNvSpPr>
          <p:nvPr>
            <p:ph type="body" idx="1"/>
          </p:nvPr>
        </p:nvSpPr>
        <p:spPr>
          <a:xfrm>
            <a:off x="839570" y="1681163"/>
            <a:ext cx="5156444" cy="823912"/>
          </a:xfrm>
        </p:spPr>
        <p:txBody>
          <a:bodyPr anchor="b"/>
          <a:lstStyle>
            <a:lvl1pPr marL="0" indent="0">
              <a:buNone/>
              <a:defRPr sz="2399" b="1"/>
            </a:lvl1pPr>
            <a:lvl2pPr marL="457063" indent="0">
              <a:buNone/>
              <a:defRPr sz="1999" b="1"/>
            </a:lvl2pPr>
            <a:lvl3pPr marL="914126" indent="0">
              <a:buNone/>
              <a:defRPr sz="1799" b="1"/>
            </a:lvl3pPr>
            <a:lvl4pPr marL="1371189" indent="0">
              <a:buNone/>
              <a:defRPr sz="1600" b="1"/>
            </a:lvl4pPr>
            <a:lvl5pPr marL="1828251" indent="0">
              <a:buNone/>
              <a:defRPr sz="1600" b="1"/>
            </a:lvl5pPr>
            <a:lvl6pPr marL="2285314" indent="0">
              <a:buNone/>
              <a:defRPr sz="1600" b="1"/>
            </a:lvl6pPr>
            <a:lvl7pPr marL="2742377" indent="0">
              <a:buNone/>
              <a:defRPr sz="1600" b="1"/>
            </a:lvl7pPr>
            <a:lvl8pPr marL="3199440" indent="0">
              <a:buNone/>
              <a:defRPr sz="1600" b="1"/>
            </a:lvl8pPr>
            <a:lvl9pPr marL="365650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1F1EC85-625B-CEAA-F97D-EF024B15F272}"/>
              </a:ext>
            </a:extLst>
          </p:cNvPr>
          <p:cNvSpPr>
            <a:spLocks noGrp="1"/>
          </p:cNvSpPr>
          <p:nvPr>
            <p:ph sz="half" idx="2"/>
          </p:nvPr>
        </p:nvSpPr>
        <p:spPr>
          <a:xfrm>
            <a:off x="839570" y="2505075"/>
            <a:ext cx="5156444"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3D5D1D7-7D1D-2F5D-8D5E-152CC8269A98}"/>
              </a:ext>
            </a:extLst>
          </p:cNvPr>
          <p:cNvSpPr>
            <a:spLocks noGrp="1"/>
          </p:cNvSpPr>
          <p:nvPr>
            <p:ph type="body" sz="quarter" idx="3"/>
          </p:nvPr>
        </p:nvSpPr>
        <p:spPr>
          <a:xfrm>
            <a:off x="6170593" y="1681163"/>
            <a:ext cx="5181838" cy="823912"/>
          </a:xfrm>
        </p:spPr>
        <p:txBody>
          <a:bodyPr anchor="b"/>
          <a:lstStyle>
            <a:lvl1pPr marL="0" indent="0">
              <a:buNone/>
              <a:defRPr sz="2399" b="1"/>
            </a:lvl1pPr>
            <a:lvl2pPr marL="457063" indent="0">
              <a:buNone/>
              <a:defRPr sz="1999" b="1"/>
            </a:lvl2pPr>
            <a:lvl3pPr marL="914126" indent="0">
              <a:buNone/>
              <a:defRPr sz="1799" b="1"/>
            </a:lvl3pPr>
            <a:lvl4pPr marL="1371189" indent="0">
              <a:buNone/>
              <a:defRPr sz="1600" b="1"/>
            </a:lvl4pPr>
            <a:lvl5pPr marL="1828251" indent="0">
              <a:buNone/>
              <a:defRPr sz="1600" b="1"/>
            </a:lvl5pPr>
            <a:lvl6pPr marL="2285314" indent="0">
              <a:buNone/>
              <a:defRPr sz="1600" b="1"/>
            </a:lvl6pPr>
            <a:lvl7pPr marL="2742377" indent="0">
              <a:buNone/>
              <a:defRPr sz="1600" b="1"/>
            </a:lvl7pPr>
            <a:lvl8pPr marL="3199440" indent="0">
              <a:buNone/>
              <a:defRPr sz="1600" b="1"/>
            </a:lvl8pPr>
            <a:lvl9pPr marL="365650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9D830EE-92A6-15ED-D99F-35788F37AD90}"/>
              </a:ext>
            </a:extLst>
          </p:cNvPr>
          <p:cNvSpPr>
            <a:spLocks noGrp="1"/>
          </p:cNvSpPr>
          <p:nvPr>
            <p:ph sz="quarter" idx="4"/>
          </p:nvPr>
        </p:nvSpPr>
        <p:spPr>
          <a:xfrm>
            <a:off x="6170593" y="2505075"/>
            <a:ext cx="518183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8EE6E3A-DA48-CFA4-3D7E-645048521969}"/>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8" name="Footer Placeholder 7">
            <a:extLst>
              <a:ext uri="{FF2B5EF4-FFF2-40B4-BE49-F238E27FC236}">
                <a16:creationId xmlns:a16="http://schemas.microsoft.com/office/drawing/2014/main" id="{DFBDB157-0ED0-D086-85D0-FD18E6BF05F7}"/>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9" name="Slide Number Placeholder 8">
            <a:extLst>
              <a:ext uri="{FF2B5EF4-FFF2-40B4-BE49-F238E27FC236}">
                <a16:creationId xmlns:a16="http://schemas.microsoft.com/office/drawing/2014/main" id="{5E6905DB-F816-87A8-892D-CE139D03D9A2}"/>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10" name="Straight Connector 9">
            <a:extLst>
              <a:ext uri="{FF2B5EF4-FFF2-40B4-BE49-F238E27FC236}">
                <a16:creationId xmlns:a16="http://schemas.microsoft.com/office/drawing/2014/main" id="{74CBFE9C-CE1B-ED6E-1745-391F9496BE1D}"/>
              </a:ext>
            </a:extLst>
          </p:cNvPr>
          <p:cNvCxnSpPr>
            <a:cxnSpLocks/>
          </p:cNvCxnSpPr>
          <p:nvPr/>
        </p:nvCxnSpPr>
        <p:spPr>
          <a:xfrm>
            <a:off x="837982" y="1690688"/>
            <a:ext cx="6654376"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C829FAD-9238-C49A-5C67-3B5AF1A06764}"/>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32420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CD9D87-BBC7-C5DC-191E-E5E1CA2BC2BE}"/>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449A1AFE-69C1-AC25-7298-9EDDDD59C09B}"/>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4" name="Footer Placeholder 3">
            <a:extLst>
              <a:ext uri="{FF2B5EF4-FFF2-40B4-BE49-F238E27FC236}">
                <a16:creationId xmlns:a16="http://schemas.microsoft.com/office/drawing/2014/main" id="{49D82A40-09A0-281B-895A-7C4BA7B18025}"/>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5" name="Slide Number Placeholder 4">
            <a:extLst>
              <a:ext uri="{FF2B5EF4-FFF2-40B4-BE49-F238E27FC236}">
                <a16:creationId xmlns:a16="http://schemas.microsoft.com/office/drawing/2014/main" id="{886D8C61-7155-9BDA-7051-F36EDD2B29FB}"/>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6" name="Straight Connector 5">
            <a:extLst>
              <a:ext uri="{FF2B5EF4-FFF2-40B4-BE49-F238E27FC236}">
                <a16:creationId xmlns:a16="http://schemas.microsoft.com/office/drawing/2014/main" id="{7E55C65A-BA96-51C7-B6FE-07AB4FB9C96C}"/>
              </a:ext>
            </a:extLst>
          </p:cNvPr>
          <p:cNvCxnSpPr>
            <a:cxnSpLocks/>
          </p:cNvCxnSpPr>
          <p:nvPr/>
        </p:nvCxnSpPr>
        <p:spPr>
          <a:xfrm>
            <a:off x="837982" y="1690688"/>
            <a:ext cx="6654376"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F674157-013E-1964-E1B2-4F6F655951FC}"/>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5040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FFE3706-6AC7-63F6-F1E8-0E7E0D688EDD}"/>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3" name="Footer Placeholder 2">
            <a:extLst>
              <a:ext uri="{FF2B5EF4-FFF2-40B4-BE49-F238E27FC236}">
                <a16:creationId xmlns:a16="http://schemas.microsoft.com/office/drawing/2014/main" id="{27548B48-C490-1860-8A88-4C5120E48F7B}"/>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4" name="Slide Number Placeholder 3">
            <a:extLst>
              <a:ext uri="{FF2B5EF4-FFF2-40B4-BE49-F238E27FC236}">
                <a16:creationId xmlns:a16="http://schemas.microsoft.com/office/drawing/2014/main" id="{3DCE7AC8-0B24-F5A4-6030-2D90FFC23100}"/>
              </a:ext>
            </a:extLst>
          </p:cNvPr>
          <p:cNvSpPr>
            <a:spLocks noGrp="1"/>
          </p:cNvSpPr>
          <p:nvPr>
            <p:ph type="sldNum" sz="quarter" idx="12"/>
          </p:nvPr>
        </p:nvSpPr>
        <p:spPr/>
        <p:txBody>
          <a:bodyPr/>
          <a:lstStyle/>
          <a:p>
            <a:fld id="{9D7BE379-F0DC-4748-87CF-B8F42E18E915}" type="slidenum">
              <a:rPr lang="en-US" smtClean="0"/>
              <a:t>‹#›</a:t>
            </a:fld>
            <a:endParaRPr lang="en-US"/>
          </a:p>
        </p:txBody>
      </p:sp>
    </p:spTree>
    <p:extLst>
      <p:ext uri="{BB962C8B-B14F-4D97-AF65-F5344CB8AC3E}">
        <p14:creationId xmlns:p14="http://schemas.microsoft.com/office/powerpoint/2010/main" val="22069616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5009C-FECA-9E9B-9F45-5710762AEB4B}"/>
              </a:ext>
            </a:extLst>
          </p:cNvPr>
          <p:cNvSpPr>
            <a:spLocks noGrp="1"/>
          </p:cNvSpPr>
          <p:nvPr>
            <p:ph type="title"/>
          </p:nvPr>
        </p:nvSpPr>
        <p:spPr>
          <a:xfrm>
            <a:off x="839570" y="457201"/>
            <a:ext cx="3931213" cy="1465029"/>
          </a:xfrm>
        </p:spPr>
        <p:txBody>
          <a:bodyPr anchor="b"/>
          <a:lstStyle>
            <a:lvl1pPr>
              <a:defRPr sz="3199"/>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925B4662-A656-519F-E5DC-FEF8051A04BF}"/>
              </a:ext>
            </a:extLst>
          </p:cNvPr>
          <p:cNvSpPr>
            <a:spLocks noGrp="1"/>
          </p:cNvSpPr>
          <p:nvPr>
            <p:ph idx="1"/>
          </p:nvPr>
        </p:nvSpPr>
        <p:spPr>
          <a:xfrm>
            <a:off x="5181838" y="987426"/>
            <a:ext cx="6170593" cy="4873625"/>
          </a:xfrm>
        </p:spPr>
        <p:txBody>
          <a:bodyPr/>
          <a:lstStyle>
            <a:lvl1pPr>
              <a:defRPr sz="3199"/>
            </a:lvl1pPr>
            <a:lvl2pPr>
              <a:defRPr sz="2799"/>
            </a:lvl2pPr>
            <a:lvl3pPr>
              <a:defRPr sz="2399"/>
            </a:lvl3pPr>
            <a:lvl4pPr>
              <a:defRPr sz="1999"/>
            </a:lvl4pPr>
            <a:lvl5pPr>
              <a:defRPr sz="1999"/>
            </a:lvl5pPr>
            <a:lvl6pPr>
              <a:defRPr sz="1999"/>
            </a:lvl6pPr>
            <a:lvl7pPr>
              <a:defRPr sz="1999"/>
            </a:lvl7pPr>
            <a:lvl8pPr>
              <a:defRPr sz="1999"/>
            </a:lvl8pPr>
            <a:lvl9pPr>
              <a:defRPr sz="19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C555F82-CA62-EC30-181A-37223E01FDD3}"/>
              </a:ext>
            </a:extLst>
          </p:cNvPr>
          <p:cNvSpPr>
            <a:spLocks noGrp="1"/>
          </p:cNvSpPr>
          <p:nvPr>
            <p:ph type="body" sz="half" idx="2"/>
          </p:nvPr>
        </p:nvSpPr>
        <p:spPr>
          <a:xfrm>
            <a:off x="839570" y="2146852"/>
            <a:ext cx="3931213" cy="3722136"/>
          </a:xfrm>
        </p:spPr>
        <p:txBody>
          <a:bodyPr/>
          <a:lstStyle>
            <a:lvl1pPr marL="0" indent="0">
              <a:buNone/>
              <a:defRPr sz="1600"/>
            </a:lvl1pPr>
            <a:lvl2pPr marL="457063" indent="0">
              <a:buNone/>
              <a:defRPr sz="1400"/>
            </a:lvl2pPr>
            <a:lvl3pPr marL="914126" indent="0">
              <a:buNone/>
              <a:defRPr sz="1200"/>
            </a:lvl3pPr>
            <a:lvl4pPr marL="1371189" indent="0">
              <a:buNone/>
              <a:defRPr sz="1000"/>
            </a:lvl4pPr>
            <a:lvl5pPr marL="1828251" indent="0">
              <a:buNone/>
              <a:defRPr sz="1000"/>
            </a:lvl5pPr>
            <a:lvl6pPr marL="2285314" indent="0">
              <a:buNone/>
              <a:defRPr sz="1000"/>
            </a:lvl6pPr>
            <a:lvl7pPr marL="2742377" indent="0">
              <a:buNone/>
              <a:defRPr sz="1000"/>
            </a:lvl7pPr>
            <a:lvl8pPr marL="3199440" indent="0">
              <a:buNone/>
              <a:defRPr sz="1000"/>
            </a:lvl8pPr>
            <a:lvl9pPr marL="3656503"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45F99E2-C24D-FE99-362C-0462256753C6}"/>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6" name="Footer Placeholder 5">
            <a:extLst>
              <a:ext uri="{FF2B5EF4-FFF2-40B4-BE49-F238E27FC236}">
                <a16:creationId xmlns:a16="http://schemas.microsoft.com/office/drawing/2014/main" id="{89A7F841-A65F-A6E8-6EE6-C3E63DF63EFE}"/>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7" name="Slide Number Placeholder 6">
            <a:extLst>
              <a:ext uri="{FF2B5EF4-FFF2-40B4-BE49-F238E27FC236}">
                <a16:creationId xmlns:a16="http://schemas.microsoft.com/office/drawing/2014/main" id="{F6258CD4-264C-5365-7905-A79F5537FC69}"/>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8" name="Straight Connector 7">
            <a:extLst>
              <a:ext uri="{FF2B5EF4-FFF2-40B4-BE49-F238E27FC236}">
                <a16:creationId xmlns:a16="http://schemas.microsoft.com/office/drawing/2014/main" id="{EB026B9A-5C7E-C150-5C07-A68A167F0F67}"/>
              </a:ext>
            </a:extLst>
          </p:cNvPr>
          <p:cNvCxnSpPr>
            <a:cxnSpLocks/>
          </p:cNvCxnSpPr>
          <p:nvPr/>
        </p:nvCxnSpPr>
        <p:spPr>
          <a:xfrm>
            <a:off x="837982" y="1922229"/>
            <a:ext cx="3932801"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3936B3-B1C3-11DB-66B0-C23E18A22220}"/>
              </a:ext>
            </a:extLst>
          </p:cNvPr>
          <p:cNvCxnSpPr>
            <a:cxnSpLocks/>
          </p:cNvCxnSpPr>
          <p:nvPr userDrawn="1"/>
        </p:nvCxnSpPr>
        <p:spPr>
          <a:xfrm>
            <a:off x="838200" y="1922229"/>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009690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C35D53-C186-1B2C-FD72-2AC470B82098}"/>
              </a:ext>
            </a:extLst>
          </p:cNvPr>
          <p:cNvSpPr>
            <a:spLocks noGrp="1"/>
          </p:cNvSpPr>
          <p:nvPr>
            <p:ph type="title"/>
          </p:nvPr>
        </p:nvSpPr>
        <p:spPr>
          <a:xfrm>
            <a:off x="839570" y="457201"/>
            <a:ext cx="3931213" cy="1463045"/>
          </a:xfrm>
        </p:spPr>
        <p:txBody>
          <a:bodyPr anchor="b"/>
          <a:lstStyle>
            <a:lvl1pPr>
              <a:defRPr sz="3199"/>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8C7372F6-C6B1-D2F4-8DED-EF3C3DBEAA4E}"/>
              </a:ext>
            </a:extLst>
          </p:cNvPr>
          <p:cNvSpPr>
            <a:spLocks noGrp="1"/>
          </p:cNvSpPr>
          <p:nvPr>
            <p:ph type="pic" idx="1"/>
          </p:nvPr>
        </p:nvSpPr>
        <p:spPr>
          <a:xfrm>
            <a:off x="5181838" y="987426"/>
            <a:ext cx="6170593" cy="4873625"/>
          </a:xfrm>
        </p:spPr>
        <p:txBody>
          <a:bodyPr/>
          <a:lstStyle>
            <a:lvl1pPr marL="0" indent="0">
              <a:buNone/>
              <a:defRPr sz="3199"/>
            </a:lvl1pPr>
            <a:lvl2pPr marL="457063" indent="0">
              <a:buNone/>
              <a:defRPr sz="2799"/>
            </a:lvl2pPr>
            <a:lvl3pPr marL="914126" indent="0">
              <a:buNone/>
              <a:defRPr sz="2399"/>
            </a:lvl3pPr>
            <a:lvl4pPr marL="1371189" indent="0">
              <a:buNone/>
              <a:defRPr sz="1999"/>
            </a:lvl4pPr>
            <a:lvl5pPr marL="1828251" indent="0">
              <a:buNone/>
              <a:defRPr sz="1999"/>
            </a:lvl5pPr>
            <a:lvl6pPr marL="2285314" indent="0">
              <a:buNone/>
              <a:defRPr sz="1999"/>
            </a:lvl6pPr>
            <a:lvl7pPr marL="2742377" indent="0">
              <a:buNone/>
              <a:defRPr sz="1999"/>
            </a:lvl7pPr>
            <a:lvl8pPr marL="3199440" indent="0">
              <a:buNone/>
              <a:defRPr sz="1999"/>
            </a:lvl8pPr>
            <a:lvl9pPr marL="3656503" indent="0">
              <a:buNone/>
              <a:defRPr sz="1999"/>
            </a:lvl9pPr>
          </a:lstStyle>
          <a:p>
            <a:r>
              <a:rPr lang="en-US"/>
              <a:t>Click icon to add picture</a:t>
            </a:r>
          </a:p>
        </p:txBody>
      </p:sp>
      <p:sp>
        <p:nvSpPr>
          <p:cNvPr id="4" name="Text Placeholder 3">
            <a:extLst>
              <a:ext uri="{FF2B5EF4-FFF2-40B4-BE49-F238E27FC236}">
                <a16:creationId xmlns:a16="http://schemas.microsoft.com/office/drawing/2014/main" id="{F566E1FE-9DAE-4781-C70A-CF8F68AAFDD6}"/>
              </a:ext>
            </a:extLst>
          </p:cNvPr>
          <p:cNvSpPr>
            <a:spLocks noGrp="1"/>
          </p:cNvSpPr>
          <p:nvPr>
            <p:ph type="body" sz="half" idx="2"/>
          </p:nvPr>
        </p:nvSpPr>
        <p:spPr>
          <a:xfrm>
            <a:off x="839570" y="2148837"/>
            <a:ext cx="3931213" cy="3720151"/>
          </a:xfrm>
        </p:spPr>
        <p:txBody>
          <a:bodyPr/>
          <a:lstStyle>
            <a:lvl1pPr marL="0" indent="0">
              <a:buNone/>
              <a:defRPr sz="1600"/>
            </a:lvl1pPr>
            <a:lvl2pPr marL="457063" indent="0">
              <a:buNone/>
              <a:defRPr sz="1400"/>
            </a:lvl2pPr>
            <a:lvl3pPr marL="914126" indent="0">
              <a:buNone/>
              <a:defRPr sz="1200"/>
            </a:lvl3pPr>
            <a:lvl4pPr marL="1371189" indent="0">
              <a:buNone/>
              <a:defRPr sz="1000"/>
            </a:lvl4pPr>
            <a:lvl5pPr marL="1828251" indent="0">
              <a:buNone/>
              <a:defRPr sz="1000"/>
            </a:lvl5pPr>
            <a:lvl6pPr marL="2285314" indent="0">
              <a:buNone/>
              <a:defRPr sz="1000"/>
            </a:lvl6pPr>
            <a:lvl7pPr marL="2742377" indent="0">
              <a:buNone/>
              <a:defRPr sz="1000"/>
            </a:lvl7pPr>
            <a:lvl8pPr marL="3199440" indent="0">
              <a:buNone/>
              <a:defRPr sz="1000"/>
            </a:lvl8pPr>
            <a:lvl9pPr marL="3656503"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E63F64-6D3B-B64F-6BF1-40558F86F785}"/>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6" name="Footer Placeholder 5">
            <a:extLst>
              <a:ext uri="{FF2B5EF4-FFF2-40B4-BE49-F238E27FC236}">
                <a16:creationId xmlns:a16="http://schemas.microsoft.com/office/drawing/2014/main" id="{E5B05D0F-49B9-1631-A0A4-DA81A4136287}"/>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7" name="Slide Number Placeholder 6">
            <a:extLst>
              <a:ext uri="{FF2B5EF4-FFF2-40B4-BE49-F238E27FC236}">
                <a16:creationId xmlns:a16="http://schemas.microsoft.com/office/drawing/2014/main" id="{DB6BE1D2-BB2D-D13B-8D29-A0BAC8F76FB7}"/>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8" name="Straight Connector 7">
            <a:extLst>
              <a:ext uri="{FF2B5EF4-FFF2-40B4-BE49-F238E27FC236}">
                <a16:creationId xmlns:a16="http://schemas.microsoft.com/office/drawing/2014/main" id="{6BBD52B6-C25E-E933-F2B7-D40B2BFDF83D}"/>
              </a:ext>
            </a:extLst>
          </p:cNvPr>
          <p:cNvCxnSpPr>
            <a:cxnSpLocks/>
          </p:cNvCxnSpPr>
          <p:nvPr/>
        </p:nvCxnSpPr>
        <p:spPr>
          <a:xfrm>
            <a:off x="837982" y="1920245"/>
            <a:ext cx="3932801"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A690D3-2500-ECEB-C3C2-F2A0E0C5A8DA}"/>
              </a:ext>
            </a:extLst>
          </p:cNvPr>
          <p:cNvCxnSpPr>
            <a:cxnSpLocks/>
          </p:cNvCxnSpPr>
          <p:nvPr userDrawn="1"/>
        </p:nvCxnSpPr>
        <p:spPr>
          <a:xfrm>
            <a:off x="838200" y="1920245"/>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153119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F5CEA-F0B2-6EAB-4435-59D188AF388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32B515F-CCC6-5F3D-26FA-AF419F9D87C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77759D1-AA1C-3E3D-41B9-09BBFFD03C61}"/>
              </a:ext>
            </a:extLst>
          </p:cNvPr>
          <p:cNvSpPr>
            <a:spLocks noGrp="1"/>
          </p:cNvSpPr>
          <p:nvPr>
            <p:ph type="dt" sz="half" idx="10"/>
          </p:nvPr>
        </p:nvSpPr>
        <p:spPr>
          <a:xfrm>
            <a:off x="837982" y="6203424"/>
            <a:ext cx="2742486" cy="365125"/>
          </a:xfrm>
          <a:prstGeom prst="rect">
            <a:avLst/>
          </a:prstGeom>
        </p:spPr>
        <p:txBody>
          <a:bodyPr/>
          <a:lstStyle/>
          <a:p>
            <a:r>
              <a:rPr lang="en-US"/>
              <a:t>ADMIN INTRO PRESENTATION_2 HOUR ENG REV4.0</a:t>
            </a:r>
            <a:endParaRPr lang="en-US" dirty="0"/>
          </a:p>
        </p:txBody>
      </p:sp>
      <p:sp>
        <p:nvSpPr>
          <p:cNvPr id="5" name="Footer Placeholder 4">
            <a:extLst>
              <a:ext uri="{FF2B5EF4-FFF2-40B4-BE49-F238E27FC236}">
                <a16:creationId xmlns:a16="http://schemas.microsoft.com/office/drawing/2014/main" id="{317C86C7-C15C-5C6D-6665-CCE62ED66853}"/>
              </a:ext>
            </a:extLst>
          </p:cNvPr>
          <p:cNvSpPr>
            <a:spLocks noGrp="1"/>
          </p:cNvSpPr>
          <p:nvPr>
            <p:ph type="ftr" sz="quarter" idx="11"/>
          </p:nvPr>
        </p:nvSpPr>
        <p:spPr/>
        <p:txBody>
          <a:body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29981EE2-027A-B340-D7DC-8816FC379C37}"/>
              </a:ext>
            </a:extLst>
          </p:cNvPr>
          <p:cNvSpPr>
            <a:spLocks noGrp="1"/>
          </p:cNvSpPr>
          <p:nvPr>
            <p:ph type="sldNum" sz="quarter" idx="12"/>
          </p:nvPr>
        </p:nvSpPr>
        <p:spPr/>
        <p:txBody>
          <a:bodyPr/>
          <a:lstStyle/>
          <a:p>
            <a:fld id="{9D7BE379-F0DC-4748-87CF-B8F42E18E915}" type="slidenum">
              <a:rPr lang="en-US" smtClean="0"/>
              <a:t>‹#›</a:t>
            </a:fld>
            <a:endParaRPr lang="en-US"/>
          </a:p>
        </p:txBody>
      </p:sp>
      <p:cxnSp>
        <p:nvCxnSpPr>
          <p:cNvPr id="7" name="Straight Connector 6">
            <a:extLst>
              <a:ext uri="{FF2B5EF4-FFF2-40B4-BE49-F238E27FC236}">
                <a16:creationId xmlns:a16="http://schemas.microsoft.com/office/drawing/2014/main" id="{E155FD7A-35A4-E3BB-30E7-93993A9F2FCF}"/>
              </a:ext>
            </a:extLst>
          </p:cNvPr>
          <p:cNvCxnSpPr>
            <a:cxnSpLocks/>
          </p:cNvCxnSpPr>
          <p:nvPr/>
        </p:nvCxnSpPr>
        <p:spPr>
          <a:xfrm>
            <a:off x="837982" y="1690688"/>
            <a:ext cx="6654376"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680C50E-BA71-B7B8-788C-5A8BE2134171}"/>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95949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6EEA24E-3139-367F-63CD-6BE14639C426}"/>
              </a:ext>
            </a:extLst>
          </p:cNvPr>
          <p:cNvSpPr>
            <a:spLocks noGrp="1"/>
          </p:cNvSpPr>
          <p:nvPr>
            <p:ph type="title" orient="vert"/>
          </p:nvPr>
        </p:nvSpPr>
        <p:spPr>
          <a:xfrm>
            <a:off x="8722628" y="365125"/>
            <a:ext cx="2628215"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2D504B8-9AC5-F3B2-2873-A2C23446016F}"/>
              </a:ext>
            </a:extLst>
          </p:cNvPr>
          <p:cNvSpPr>
            <a:spLocks noGrp="1"/>
          </p:cNvSpPr>
          <p:nvPr>
            <p:ph type="body" orient="vert" idx="1"/>
          </p:nvPr>
        </p:nvSpPr>
        <p:spPr>
          <a:xfrm>
            <a:off x="837982" y="365125"/>
            <a:ext cx="7732286"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60016E3-2DF0-D61A-20AD-13F7ACE79465}"/>
              </a:ext>
            </a:extLst>
          </p:cNvPr>
          <p:cNvSpPr>
            <a:spLocks noGrp="1"/>
          </p:cNvSpPr>
          <p:nvPr>
            <p:ph type="dt" sz="half" idx="10"/>
          </p:nvPr>
        </p:nvSpPr>
        <p:spPr>
          <a:xfrm>
            <a:off x="837982" y="6203424"/>
            <a:ext cx="2742486" cy="365125"/>
          </a:xfrm>
          <a:prstGeom prst="rect">
            <a:avLst/>
          </a:prstGeom>
        </p:spPr>
        <p:txBody>
          <a:bodyPr/>
          <a:lstStyle/>
          <a:p>
            <a:endParaRPr lang="en-US"/>
          </a:p>
        </p:txBody>
      </p:sp>
      <p:sp>
        <p:nvSpPr>
          <p:cNvPr id="5" name="Footer Placeholder 4">
            <a:extLst>
              <a:ext uri="{FF2B5EF4-FFF2-40B4-BE49-F238E27FC236}">
                <a16:creationId xmlns:a16="http://schemas.microsoft.com/office/drawing/2014/main" id="{F23248DE-BC9F-A0D6-339E-4A8EDC88902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B6C0887-9F6F-A7EB-8CE2-C201AC86B8D6}"/>
              </a:ext>
            </a:extLst>
          </p:cNvPr>
          <p:cNvSpPr>
            <a:spLocks noGrp="1"/>
          </p:cNvSpPr>
          <p:nvPr>
            <p:ph type="sldNum" sz="quarter" idx="12"/>
          </p:nvPr>
        </p:nvSpPr>
        <p:spPr/>
        <p:txBody>
          <a:bodyPr/>
          <a:lstStyle/>
          <a:p>
            <a:fld id="{9D7BE379-F0DC-4748-87CF-B8F42E18E915}" type="slidenum">
              <a:rPr lang="en-US" smtClean="0"/>
              <a:t>‹#›</a:t>
            </a:fld>
            <a:endParaRPr lang="en-US"/>
          </a:p>
        </p:txBody>
      </p:sp>
    </p:spTree>
    <p:extLst>
      <p:ext uri="{BB962C8B-B14F-4D97-AF65-F5344CB8AC3E}">
        <p14:creationId xmlns:p14="http://schemas.microsoft.com/office/powerpoint/2010/main" val="311177170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Master with Subtitle">
    <p:spTree>
      <p:nvGrpSpPr>
        <p:cNvPr id="1" name=""/>
        <p:cNvGrpSpPr/>
        <p:nvPr/>
      </p:nvGrpSpPr>
      <p:grpSpPr>
        <a:xfrm>
          <a:off x="0" y="0"/>
          <a:ext cx="0" cy="0"/>
          <a:chOff x="0" y="0"/>
          <a:chExt cx="0" cy="0"/>
        </a:xfrm>
      </p:grpSpPr>
      <p:sp>
        <p:nvSpPr>
          <p:cNvPr id="4" name="Slide Number Placeholder 2">
            <a:extLst>
              <a:ext uri="{FF2B5EF4-FFF2-40B4-BE49-F238E27FC236}">
                <a16:creationId xmlns:a16="http://schemas.microsoft.com/office/drawing/2014/main" id="{70C5E19E-0A48-9183-704D-DD2CB5355602}"/>
              </a:ext>
            </a:extLst>
          </p:cNvPr>
          <p:cNvSpPr txBox="1">
            <a:spLocks/>
          </p:cNvSpPr>
          <p:nvPr userDrawn="1"/>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a:t>
            </a:fld>
            <a:endParaRPr lang="en-US" dirty="0"/>
          </a:p>
        </p:txBody>
      </p:sp>
      <p:sp>
        <p:nvSpPr>
          <p:cNvPr id="2" name="Title 1">
            <a:extLst>
              <a:ext uri="{FF2B5EF4-FFF2-40B4-BE49-F238E27FC236}">
                <a16:creationId xmlns:a16="http://schemas.microsoft.com/office/drawing/2014/main" id="{8297E037-2D93-8AB7-2262-CE31C1B81179}"/>
              </a:ext>
            </a:extLst>
          </p:cNvPr>
          <p:cNvSpPr>
            <a:spLocks noGrp="1"/>
          </p:cNvSpPr>
          <p:nvPr>
            <p:ph type="title"/>
          </p:nvPr>
        </p:nvSpPr>
        <p:spPr>
          <a:xfrm>
            <a:off x="837982" y="584462"/>
            <a:ext cx="10512862" cy="1106227"/>
          </a:xfrm>
        </p:spPr>
        <p:txBody>
          <a:bodyPr/>
          <a:lstStyle/>
          <a:p>
            <a:r>
              <a:rPr lang="en-US" dirty="0"/>
              <a:t>Click to edit Master title style</a:t>
            </a:r>
          </a:p>
        </p:txBody>
      </p:sp>
      <p:sp>
        <p:nvSpPr>
          <p:cNvPr id="6" name="Content Placeholder 2">
            <a:extLst>
              <a:ext uri="{FF2B5EF4-FFF2-40B4-BE49-F238E27FC236}">
                <a16:creationId xmlns:a16="http://schemas.microsoft.com/office/drawing/2014/main" id="{894FEC57-FA56-127D-6D8F-88AA8BDDF6F9}"/>
              </a:ext>
            </a:extLst>
          </p:cNvPr>
          <p:cNvSpPr>
            <a:spLocks noGrp="1"/>
          </p:cNvSpPr>
          <p:nvPr>
            <p:ph idx="1"/>
          </p:nvPr>
        </p:nvSpPr>
        <p:spPr>
          <a:xfrm>
            <a:off x="837982" y="1825625"/>
            <a:ext cx="1051286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Straight Connector 7">
            <a:extLst>
              <a:ext uri="{FF2B5EF4-FFF2-40B4-BE49-F238E27FC236}">
                <a16:creationId xmlns:a16="http://schemas.microsoft.com/office/drawing/2014/main" id="{FD19FD31-A622-2EA5-B8EE-10075F4C916D}"/>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8335534"/>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7B85E90D-7DD7-92B5-E387-8C0441E41AC3}"/>
              </a:ext>
            </a:extLst>
          </p:cNvPr>
          <p:cNvPicPr>
            <a:picLocks noChangeAspect="1"/>
          </p:cNvPicPr>
          <p:nvPr userDrawn="1"/>
        </p:nvPicPr>
        <p:blipFill>
          <a:blip r:embed="rId2"/>
          <a:stretch>
            <a:fillRect/>
          </a:stretch>
        </p:blipFill>
        <p:spPr>
          <a:xfrm>
            <a:off x="2384770" y="1950112"/>
            <a:ext cx="7770376" cy="2590800"/>
          </a:xfrm>
          <a:prstGeom prst="rect">
            <a:avLst/>
          </a:prstGeom>
        </p:spPr>
      </p:pic>
    </p:spTree>
    <p:extLst>
      <p:ext uri="{BB962C8B-B14F-4D97-AF65-F5344CB8AC3E}">
        <p14:creationId xmlns:p14="http://schemas.microsoft.com/office/powerpoint/2010/main" val="15969180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Cover">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0D96DC8-B6B7-D34B-9028-2CF705DEE86A}"/>
              </a:ext>
            </a:extLst>
          </p:cNvPr>
          <p:cNvSpPr>
            <a:spLocks noGrp="1"/>
          </p:cNvSpPr>
          <p:nvPr>
            <p:ph type="pic" sz="quarter" idx="10"/>
          </p:nvPr>
        </p:nvSpPr>
        <p:spPr>
          <a:xfrm>
            <a:off x="6672210" y="-1"/>
            <a:ext cx="5516019" cy="6858001"/>
          </a:xfrm>
          <a:prstGeom prst="rect">
            <a:avLst/>
          </a:prstGeom>
          <a:blipFill>
            <a:blip r:embed="rId2"/>
            <a:srcRect/>
            <a:stretch>
              <a:fillRect l="-12148" r="-12148"/>
            </a:stretch>
          </a:blipFill>
        </p:spPr>
        <p:txBody>
          <a:bodyPr/>
          <a:lstStyle>
            <a:lvl1pPr>
              <a:defRPr sz="1500"/>
            </a:lvl1pPr>
          </a:lstStyle>
          <a:p>
            <a:endParaRPr lang="en-UA"/>
          </a:p>
        </p:txBody>
      </p:sp>
      <p:sp>
        <p:nvSpPr>
          <p:cNvPr id="5" name="TextBox 4">
            <a:extLst>
              <a:ext uri="{FF2B5EF4-FFF2-40B4-BE49-F238E27FC236}">
                <a16:creationId xmlns:a16="http://schemas.microsoft.com/office/drawing/2014/main" id="{97546AA4-92F5-F9E7-4E9D-2F168253873B}"/>
              </a:ext>
            </a:extLst>
          </p:cNvPr>
          <p:cNvSpPr txBox="1"/>
          <p:nvPr userDrawn="1"/>
        </p:nvSpPr>
        <p:spPr>
          <a:xfrm>
            <a:off x="38723" y="6543425"/>
            <a:ext cx="478411" cy="23594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0" marR="0" indent="0" algn="ctr" defTabSz="412667" rtl="0" fontAlgn="auto" latinLnBrk="0" hangingPunct="0">
              <a:lnSpc>
                <a:spcPct val="100000"/>
              </a:lnSpc>
              <a:spcBef>
                <a:spcPts val="0"/>
              </a:spcBef>
              <a:spcAft>
                <a:spcPts val="0"/>
              </a:spcAft>
              <a:buClrTx/>
              <a:buSzTx/>
              <a:buFontTx/>
              <a:buNone/>
              <a:tabLst/>
            </a:pPr>
            <a:fld id="{3917A157-8159-4752-BB46-21F6A9F9B2EF}" type="slidenum">
              <a:rPr kumimoji="0" lang="en-US" sz="1200" b="0" i="0" u="none" strike="noStrike" cap="none" spc="0" normalizeH="0" baseline="0" smtClean="0">
                <a:ln>
                  <a:noFill/>
                </a:ln>
                <a:solidFill>
                  <a:srgbClr val="7A7A7A"/>
                </a:solidFill>
                <a:effectLst/>
                <a:uFillTx/>
                <a:latin typeface="+mn-lt"/>
                <a:ea typeface="+mn-ea"/>
                <a:cs typeface="+mn-cs"/>
                <a:sym typeface="Roboto"/>
              </a:rPr>
              <a:pPr marL="0" marR="0" indent="0" algn="ctr" defTabSz="412667" rtl="0" fontAlgn="auto" latinLnBrk="0" hangingPunct="0">
                <a:lnSpc>
                  <a:spcPct val="100000"/>
                </a:lnSpc>
                <a:spcBef>
                  <a:spcPts val="0"/>
                </a:spcBef>
                <a:spcAft>
                  <a:spcPts val="0"/>
                </a:spcAft>
                <a:buClrTx/>
                <a:buSzTx/>
                <a:buFontTx/>
                <a:buNone/>
                <a:tabLst/>
              </a:pPr>
              <a:t>‹#›</a:t>
            </a:fld>
            <a:endParaRPr kumimoji="0" lang="en-US" sz="1400" b="0" i="0" u="none" strike="noStrike" cap="none" spc="0" normalizeH="0" baseline="0" dirty="0">
              <a:ln>
                <a:noFill/>
              </a:ln>
              <a:solidFill>
                <a:srgbClr val="7A7A7A"/>
              </a:solidFill>
              <a:effectLst/>
              <a:uFillTx/>
              <a:latin typeface="+mn-lt"/>
              <a:ea typeface="+mn-ea"/>
              <a:cs typeface="+mn-cs"/>
              <a:sym typeface="Roboto"/>
            </a:endParaRPr>
          </a:p>
        </p:txBody>
      </p:sp>
    </p:spTree>
    <p:extLst>
      <p:ext uri="{BB962C8B-B14F-4D97-AF65-F5344CB8AC3E}">
        <p14:creationId xmlns:p14="http://schemas.microsoft.com/office/powerpoint/2010/main" val="1415657920"/>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Master">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11A88A94-492C-58E2-D467-D767E470DF74}"/>
              </a:ext>
            </a:extLst>
          </p:cNvPr>
          <p:cNvSpPr txBox="1">
            <a:spLocks/>
          </p:cNvSpPr>
          <p:nvPr userDrawn="1"/>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a:t>
            </a:fld>
            <a:endParaRPr lang="en-US" dirty="0"/>
          </a:p>
        </p:txBody>
      </p:sp>
    </p:spTree>
    <p:extLst>
      <p:ext uri="{BB962C8B-B14F-4D97-AF65-F5344CB8AC3E}">
        <p14:creationId xmlns:p14="http://schemas.microsoft.com/office/powerpoint/2010/main" val="559357085"/>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Master with Subtitle">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31895C9A-2C25-E4A0-BCA0-2432313254F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75362" y="6220968"/>
            <a:ext cx="1877083" cy="524257"/>
          </a:xfrm>
          <a:prstGeom prst="rect">
            <a:avLst/>
          </a:prstGeom>
        </p:spPr>
      </p:pic>
      <p:sp>
        <p:nvSpPr>
          <p:cNvPr id="10" name="TextBox 9">
            <a:extLst>
              <a:ext uri="{FF2B5EF4-FFF2-40B4-BE49-F238E27FC236}">
                <a16:creationId xmlns:a16="http://schemas.microsoft.com/office/drawing/2014/main" id="{37FBDABD-F4D3-A2DD-6049-26DFA6F24816}"/>
              </a:ext>
            </a:extLst>
          </p:cNvPr>
          <p:cNvSpPr txBox="1"/>
          <p:nvPr userDrawn="1"/>
        </p:nvSpPr>
        <p:spPr>
          <a:xfrm>
            <a:off x="4014694" y="6318949"/>
            <a:ext cx="4159437" cy="3282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0" marR="0" indent="0" algn="ctr" defTabSz="412667" rtl="0" fontAlgn="auto" latinLnBrk="0" hangingPunct="0">
              <a:lnSpc>
                <a:spcPct val="100000"/>
              </a:lnSpc>
              <a:spcBef>
                <a:spcPts val="0"/>
              </a:spcBef>
              <a:spcAft>
                <a:spcPts val="0"/>
              </a:spcAft>
              <a:buClrTx/>
              <a:buSzTx/>
              <a:buFontTx/>
              <a:buNone/>
              <a:tabLst/>
            </a:pPr>
            <a:r>
              <a:rPr kumimoji="0" lang="en-US" sz="900" b="0" i="0" u="none" strike="noStrike" cap="none" spc="0" normalizeH="0" baseline="0" dirty="0">
                <a:ln>
                  <a:noFill/>
                </a:ln>
                <a:solidFill>
                  <a:srgbClr val="7A7A7A"/>
                </a:solidFill>
                <a:effectLst/>
                <a:uFillTx/>
                <a:latin typeface="+mn-lt"/>
                <a:ea typeface="+mn-ea"/>
                <a:cs typeface="+mn-cs"/>
                <a:sym typeface="Roboto"/>
              </a:rPr>
              <a:t>© Lean Horizons Consulting, LLC </a:t>
            </a:r>
            <a:fld id="{12EE4B30-B203-43E6-BF31-7D68D502139D}" type="datetimeyyyy">
              <a:rPr kumimoji="0" lang="en-US" sz="900" b="0" i="0" u="none" strike="noStrike" cap="none" spc="0" normalizeH="0" baseline="0" smtClean="0">
                <a:ln>
                  <a:noFill/>
                </a:ln>
                <a:solidFill>
                  <a:srgbClr val="7A7A7A"/>
                </a:solidFill>
                <a:effectLst/>
                <a:uFillTx/>
                <a:latin typeface="+mn-lt"/>
                <a:ea typeface="+mn-ea"/>
                <a:cs typeface="+mn-cs"/>
                <a:sym typeface="Roboto"/>
              </a:rPr>
              <a:pPr marL="0" marR="0" indent="0" algn="ctr" defTabSz="412667" rtl="0" fontAlgn="auto" latinLnBrk="0" hangingPunct="0">
                <a:lnSpc>
                  <a:spcPct val="100000"/>
                </a:lnSpc>
                <a:spcBef>
                  <a:spcPts val="0"/>
                </a:spcBef>
                <a:spcAft>
                  <a:spcPts val="0"/>
                </a:spcAft>
                <a:buClrTx/>
                <a:buSzTx/>
                <a:buFontTx/>
                <a:buNone/>
                <a:tabLst/>
              </a:pPr>
              <a:t>2026</a:t>
            </a:fld>
            <a:r>
              <a:rPr kumimoji="0" lang="en-US" sz="900" b="0" i="0" u="none" strike="noStrike" cap="none" spc="0" normalizeH="0" baseline="0" dirty="0">
                <a:ln>
                  <a:noFill/>
                </a:ln>
                <a:solidFill>
                  <a:srgbClr val="7A7A7A"/>
                </a:solidFill>
                <a:effectLst/>
                <a:uFillTx/>
                <a:latin typeface="+mn-lt"/>
                <a:ea typeface="+mn-ea"/>
                <a:cs typeface="+mn-cs"/>
                <a:sym typeface="Roboto"/>
              </a:rPr>
              <a:t>. All Rights Reserved</a:t>
            </a:r>
          </a:p>
          <a:p>
            <a:pPr marL="0" marR="0" indent="0" algn="ctr" defTabSz="412667" rtl="0" fontAlgn="auto" latinLnBrk="0" hangingPunct="0">
              <a:lnSpc>
                <a:spcPct val="100000"/>
              </a:lnSpc>
              <a:spcBef>
                <a:spcPts val="0"/>
              </a:spcBef>
              <a:spcAft>
                <a:spcPts val="0"/>
              </a:spcAft>
              <a:buClrTx/>
              <a:buSzTx/>
              <a:buFontTx/>
              <a:buNone/>
              <a:tabLst/>
            </a:pPr>
            <a:r>
              <a:rPr kumimoji="0" lang="en-US" sz="900" b="0" i="0" u="none" strike="noStrike" cap="none" spc="0" normalizeH="0" baseline="0" dirty="0">
                <a:ln>
                  <a:noFill/>
                </a:ln>
                <a:solidFill>
                  <a:srgbClr val="7A7A7A"/>
                </a:solidFill>
                <a:effectLst/>
                <a:uFillTx/>
                <a:latin typeface="+mn-lt"/>
                <a:ea typeface="+mn-ea"/>
                <a:cs typeface="+mn-cs"/>
                <a:sym typeface="Roboto"/>
              </a:rPr>
              <a:t>For the exclusive use of LHC with no reproduction or distribution permitted.</a:t>
            </a:r>
          </a:p>
        </p:txBody>
      </p:sp>
      <p:sp>
        <p:nvSpPr>
          <p:cNvPr id="11" name="TextBox 10">
            <a:extLst>
              <a:ext uri="{FF2B5EF4-FFF2-40B4-BE49-F238E27FC236}">
                <a16:creationId xmlns:a16="http://schemas.microsoft.com/office/drawing/2014/main" id="{8964D1DB-53A8-CBFE-C4BB-DA983EC52007}"/>
              </a:ext>
            </a:extLst>
          </p:cNvPr>
          <p:cNvSpPr txBox="1"/>
          <p:nvPr userDrawn="1"/>
        </p:nvSpPr>
        <p:spPr>
          <a:xfrm>
            <a:off x="11646422" y="6365114"/>
            <a:ext cx="478411" cy="23594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0" marR="0" indent="0" algn="ctr" defTabSz="412667" rtl="0" fontAlgn="auto" latinLnBrk="0" hangingPunct="0">
              <a:lnSpc>
                <a:spcPct val="100000"/>
              </a:lnSpc>
              <a:spcBef>
                <a:spcPts val="0"/>
              </a:spcBef>
              <a:spcAft>
                <a:spcPts val="0"/>
              </a:spcAft>
              <a:buClrTx/>
              <a:buSzTx/>
              <a:buFontTx/>
              <a:buNone/>
              <a:tabLst/>
            </a:pPr>
            <a:fld id="{3917A157-8159-4752-BB46-21F6A9F9B2EF}" type="slidenum">
              <a:rPr kumimoji="0" lang="en-US" sz="1200" b="0" i="0" u="none" strike="noStrike" cap="none" spc="0" normalizeH="0" baseline="0" smtClean="0">
                <a:ln>
                  <a:noFill/>
                </a:ln>
                <a:solidFill>
                  <a:srgbClr val="7A7A7A"/>
                </a:solidFill>
                <a:effectLst/>
                <a:uFillTx/>
                <a:latin typeface="+mn-lt"/>
                <a:ea typeface="+mn-ea"/>
                <a:cs typeface="+mn-cs"/>
                <a:sym typeface="Roboto"/>
              </a:rPr>
              <a:pPr marL="0" marR="0" indent="0" algn="ctr" defTabSz="412667" rtl="0" fontAlgn="auto" latinLnBrk="0" hangingPunct="0">
                <a:lnSpc>
                  <a:spcPct val="100000"/>
                </a:lnSpc>
                <a:spcBef>
                  <a:spcPts val="0"/>
                </a:spcBef>
                <a:spcAft>
                  <a:spcPts val="0"/>
                </a:spcAft>
                <a:buClrTx/>
                <a:buSzTx/>
                <a:buFontTx/>
                <a:buNone/>
                <a:tabLst/>
              </a:pPr>
              <a:t>‹#›</a:t>
            </a:fld>
            <a:endParaRPr kumimoji="0" lang="en-US" sz="1400" b="0" i="0" u="none" strike="noStrike" cap="none" spc="0" normalizeH="0" baseline="0" dirty="0">
              <a:ln>
                <a:noFill/>
              </a:ln>
              <a:solidFill>
                <a:srgbClr val="7A7A7A"/>
              </a:solidFill>
              <a:effectLst/>
              <a:uFillTx/>
              <a:latin typeface="+mn-lt"/>
              <a:ea typeface="+mn-ea"/>
              <a:cs typeface="+mn-cs"/>
              <a:sym typeface="Roboto"/>
            </a:endParaRPr>
          </a:p>
        </p:txBody>
      </p:sp>
      <p:sp>
        <p:nvSpPr>
          <p:cNvPr id="3" name="Line">
            <a:extLst>
              <a:ext uri="{FF2B5EF4-FFF2-40B4-BE49-F238E27FC236}">
                <a16:creationId xmlns:a16="http://schemas.microsoft.com/office/drawing/2014/main" id="{E10C8D25-B9B5-88EB-F39C-D6B2EFD7A026}"/>
              </a:ext>
            </a:extLst>
          </p:cNvPr>
          <p:cNvSpPr/>
          <p:nvPr userDrawn="1"/>
        </p:nvSpPr>
        <p:spPr>
          <a:xfrm>
            <a:off x="629143" y="460375"/>
            <a:ext cx="296997" cy="0"/>
          </a:xfrm>
          <a:prstGeom prst="line">
            <a:avLst/>
          </a:prstGeom>
          <a:ln w="38100">
            <a:solidFill>
              <a:schemeClr val="accent2"/>
            </a:solidFill>
            <a:miter lim="400000"/>
          </a:ln>
        </p:spPr>
        <p:txBody>
          <a:bodyPr lIns="25393" tIns="25393" rIns="25393" bIns="25393" anchor="ctr"/>
          <a:lstStyle/>
          <a:p>
            <a:pPr defTabSz="292042">
              <a:defRPr sz="4000">
                <a:solidFill>
                  <a:srgbClr val="FFFFFF"/>
                </a:solidFill>
                <a:effectLst>
                  <a:outerShdw blurRad="38100" dist="12700" dir="5400000" rotWithShape="0">
                    <a:srgbClr val="000000">
                      <a:alpha val="50000"/>
                    </a:srgbClr>
                  </a:outerShdw>
                </a:effectLst>
              </a:defRPr>
            </a:pPr>
            <a:endParaRPr sz="2000"/>
          </a:p>
        </p:txBody>
      </p:sp>
      <p:sp>
        <p:nvSpPr>
          <p:cNvPr id="5" name="Title 4">
            <a:extLst>
              <a:ext uri="{FF2B5EF4-FFF2-40B4-BE49-F238E27FC236}">
                <a16:creationId xmlns:a16="http://schemas.microsoft.com/office/drawing/2014/main" id="{F3CB7B58-6DF5-8953-8D67-B77AD79E5CBE}"/>
              </a:ext>
            </a:extLst>
          </p:cNvPr>
          <p:cNvSpPr>
            <a:spLocks noGrp="1"/>
          </p:cNvSpPr>
          <p:nvPr>
            <p:ph type="title"/>
          </p:nvPr>
        </p:nvSpPr>
        <p:spPr>
          <a:xfrm>
            <a:off x="1087849" y="231458"/>
            <a:ext cx="4253900" cy="457835"/>
          </a:xfrm>
          <a:prstGeom prst="rect">
            <a:avLst/>
          </a:prstGeom>
        </p:spPr>
        <p:txBody>
          <a:bodyPr/>
          <a:lstStyle>
            <a:lvl1pPr algn="l">
              <a:defRPr sz="2500">
                <a:solidFill>
                  <a:schemeClr val="bg1"/>
                </a:solidFill>
              </a:defRPr>
            </a:lvl1pPr>
          </a:lstStyle>
          <a:p>
            <a:r>
              <a:rPr lang="en-US" dirty="0"/>
              <a:t>Click to edit Master title style</a:t>
            </a:r>
          </a:p>
        </p:txBody>
      </p:sp>
      <p:sp>
        <p:nvSpPr>
          <p:cNvPr id="7" name="Text Placeholder 6">
            <a:extLst>
              <a:ext uri="{FF2B5EF4-FFF2-40B4-BE49-F238E27FC236}">
                <a16:creationId xmlns:a16="http://schemas.microsoft.com/office/drawing/2014/main" id="{FDBC783E-1E49-7338-3D6E-E1FE8C7C5D40}"/>
              </a:ext>
            </a:extLst>
          </p:cNvPr>
          <p:cNvSpPr>
            <a:spLocks noGrp="1"/>
          </p:cNvSpPr>
          <p:nvPr>
            <p:ph type="body" sz="quarter" idx="10"/>
          </p:nvPr>
        </p:nvSpPr>
        <p:spPr>
          <a:xfrm>
            <a:off x="1087948" y="1295400"/>
            <a:ext cx="6920491" cy="3429000"/>
          </a:xfrm>
          <a:prstGeom prst="rect">
            <a:avLst/>
          </a:prstGeom>
        </p:spPr>
        <p:txBody>
          <a:bodyPr/>
          <a:lstStyle>
            <a:lvl1pPr marL="342831" indent="-342831" algn="l">
              <a:lnSpc>
                <a:spcPct val="125000"/>
              </a:lnSpc>
              <a:spcAft>
                <a:spcPts val="600"/>
              </a:spcAft>
              <a:buClr>
                <a:schemeClr val="accent2"/>
              </a:buClr>
              <a:buFont typeface="Arial" panose="020B0604020202020204" pitchFamily="34" charset="0"/>
              <a:buChar char="•"/>
              <a:defRPr>
                <a:solidFill>
                  <a:schemeClr val="bg1"/>
                </a:solidFill>
              </a:defRPr>
            </a:lvl1pPr>
            <a:lvl2pPr marL="685663" indent="-342831" algn="l">
              <a:lnSpc>
                <a:spcPct val="125000"/>
              </a:lnSpc>
              <a:spcAft>
                <a:spcPts val="600"/>
              </a:spcAft>
              <a:buClr>
                <a:schemeClr val="accent2"/>
              </a:buClr>
              <a:buFont typeface="Arial" panose="020B0604020202020204" pitchFamily="34" charset="0"/>
              <a:buChar char="•"/>
              <a:defRPr sz="1800">
                <a:solidFill>
                  <a:schemeClr val="bg1"/>
                </a:solidFill>
              </a:defRPr>
            </a:lvl2pPr>
            <a:lvl3pPr marL="914217" indent="-342831" algn="l">
              <a:lnSpc>
                <a:spcPct val="125000"/>
              </a:lnSpc>
              <a:spcAft>
                <a:spcPts val="600"/>
              </a:spcAft>
              <a:buClr>
                <a:schemeClr val="accent2"/>
              </a:buClr>
              <a:buFont typeface="Arial" panose="020B0604020202020204" pitchFamily="34" charset="0"/>
              <a:buChar char="•"/>
              <a:tabLst/>
              <a:defRPr sz="1800">
                <a:solidFill>
                  <a:schemeClr val="bg1"/>
                </a:solidFill>
              </a:defRPr>
            </a:lvl3pPr>
            <a:lvl4pPr marL="1142771" indent="-342831" algn="l">
              <a:lnSpc>
                <a:spcPct val="125000"/>
              </a:lnSpc>
              <a:spcAft>
                <a:spcPts val="600"/>
              </a:spcAft>
              <a:buClr>
                <a:schemeClr val="accent2"/>
              </a:buClr>
              <a:buFont typeface="Arial" panose="020B0604020202020204" pitchFamily="34" charset="0"/>
              <a:buChar char="•"/>
              <a:defRPr sz="1800">
                <a:solidFill>
                  <a:schemeClr val="bg1"/>
                </a:solidFill>
              </a:defRPr>
            </a:lvl4pPr>
            <a:lvl5pPr marL="1371326" indent="-342831" algn="l">
              <a:lnSpc>
                <a:spcPct val="125000"/>
              </a:lnSpc>
              <a:spcAft>
                <a:spcPts val="600"/>
              </a:spcAft>
              <a:buClr>
                <a:schemeClr val="accent2"/>
              </a:buClr>
              <a:buFont typeface="Arial" panose="020B0604020202020204" pitchFamily="34" charset="0"/>
              <a:buChar char="•"/>
              <a:defRPr sz="18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extBox 1">
            <a:extLst>
              <a:ext uri="{FF2B5EF4-FFF2-40B4-BE49-F238E27FC236}">
                <a16:creationId xmlns:a16="http://schemas.microsoft.com/office/drawing/2014/main" id="{7AC938F5-6FCD-0A12-28EB-8C5C2C8C7EA9}"/>
              </a:ext>
            </a:extLst>
          </p:cNvPr>
          <p:cNvSpPr txBox="1"/>
          <p:nvPr userDrawn="1"/>
        </p:nvSpPr>
        <p:spPr>
          <a:xfrm>
            <a:off x="9944354" y="6388198"/>
            <a:ext cx="1596578" cy="1897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marL="0" marR="0" indent="0" algn="ctr" defTabSz="412667" rtl="0" fontAlgn="auto" latinLnBrk="0" hangingPunct="0">
              <a:lnSpc>
                <a:spcPct val="100000"/>
              </a:lnSpc>
              <a:spcBef>
                <a:spcPts val="0"/>
              </a:spcBef>
              <a:spcAft>
                <a:spcPts val="0"/>
              </a:spcAft>
              <a:buClrTx/>
              <a:buSzTx/>
              <a:buFontTx/>
              <a:buNone/>
              <a:tabLst/>
            </a:pPr>
            <a:r>
              <a:rPr kumimoji="0" lang="en-US" sz="900" b="0" i="0" u="none" strike="noStrike" cap="none" spc="0" normalizeH="0" baseline="0" dirty="0">
                <a:ln>
                  <a:noFill/>
                </a:ln>
                <a:solidFill>
                  <a:srgbClr val="7A7A7A"/>
                </a:solidFill>
                <a:effectLst/>
                <a:uFillTx/>
                <a:latin typeface="+mn-lt"/>
                <a:ea typeface="+mn-ea"/>
                <a:cs typeface="+mn-cs"/>
                <a:sym typeface="Roboto"/>
              </a:rPr>
              <a:t>VSM PRESENTATION ENG REV5.0</a:t>
            </a:r>
          </a:p>
        </p:txBody>
      </p:sp>
    </p:spTree>
    <p:extLst>
      <p:ext uri="{BB962C8B-B14F-4D97-AF65-F5344CB8AC3E}">
        <p14:creationId xmlns:p14="http://schemas.microsoft.com/office/powerpoint/2010/main" val="1124798262"/>
      </p:ext>
    </p:extLst>
  </p:cSld>
  <p:clrMapOvr>
    <a:masterClrMapping/>
  </p:clrMapOvr>
  <p:transition spd="med"/>
  <p:hf hdr="0" ft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3_Custom Layout">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D582F6BE-E76F-A3D4-1EC4-43C57BAE20CA}"/>
              </a:ext>
            </a:extLst>
          </p:cNvPr>
          <p:cNvPicPr>
            <a:picLocks noChangeAspect="1"/>
          </p:cNvPicPr>
          <p:nvPr/>
        </p:nvPicPr>
        <p:blipFill>
          <a:blip r:embed="rId2"/>
          <a:srcRect/>
          <a:stretch/>
        </p:blipFill>
        <p:spPr>
          <a:xfrm>
            <a:off x="-49993" y="0"/>
            <a:ext cx="12327695" cy="6908006"/>
          </a:xfrm>
          <a:prstGeom prst="rect">
            <a:avLst/>
          </a:prstGeom>
        </p:spPr>
      </p:pic>
      <p:sp>
        <p:nvSpPr>
          <p:cNvPr id="3" name="Date Placeholder 2">
            <a:extLst>
              <a:ext uri="{FF2B5EF4-FFF2-40B4-BE49-F238E27FC236}">
                <a16:creationId xmlns:a16="http://schemas.microsoft.com/office/drawing/2014/main" id="{0F6632C7-24FA-80B1-73E9-5FA4B7E6FDDC}"/>
              </a:ext>
            </a:extLst>
          </p:cNvPr>
          <p:cNvSpPr>
            <a:spLocks noGrp="1"/>
          </p:cNvSpPr>
          <p:nvPr>
            <p:ph type="dt" sz="half" idx="10"/>
          </p:nvPr>
        </p:nvSpPr>
        <p:spPr/>
        <p:txBody>
          <a:bodyPr/>
          <a:lstStyle/>
          <a:p>
            <a:r>
              <a:rPr lang="en-US"/>
              <a:t>ADMIN INTRO PRESENTATION_2 HOUR ENG REV4.0</a:t>
            </a:r>
          </a:p>
        </p:txBody>
      </p:sp>
      <p:sp>
        <p:nvSpPr>
          <p:cNvPr id="4" name="Footer Placeholder 3">
            <a:extLst>
              <a:ext uri="{FF2B5EF4-FFF2-40B4-BE49-F238E27FC236}">
                <a16:creationId xmlns:a16="http://schemas.microsoft.com/office/drawing/2014/main" id="{35F5A2D9-AC06-FF12-6355-C48FA499A0B3}"/>
              </a:ext>
            </a:extLst>
          </p:cNvPr>
          <p:cNvSpPr>
            <a:spLocks noGrp="1"/>
          </p:cNvSpPr>
          <p:nvPr>
            <p:ph type="ftr" sz="quarter" idx="11"/>
          </p:nvPr>
        </p:nvSpPr>
        <p:spPr/>
        <p:txBody>
          <a:bodyPr/>
          <a:lstStyle/>
          <a:p>
            <a:r>
              <a:rPr lang="en-US"/>
              <a:t>© Lean Horizons Consulting, LLC 2023. All Rights Reserved</a:t>
            </a:r>
          </a:p>
        </p:txBody>
      </p:sp>
      <p:sp>
        <p:nvSpPr>
          <p:cNvPr id="5" name="Slide Number Placeholder 4">
            <a:extLst>
              <a:ext uri="{FF2B5EF4-FFF2-40B4-BE49-F238E27FC236}">
                <a16:creationId xmlns:a16="http://schemas.microsoft.com/office/drawing/2014/main" id="{CE665616-5CDC-80BA-E0E4-D0753230454A}"/>
              </a:ext>
            </a:extLst>
          </p:cNvPr>
          <p:cNvSpPr>
            <a:spLocks noGrp="1"/>
          </p:cNvSpPr>
          <p:nvPr>
            <p:ph type="sldNum" sz="quarter" idx="12"/>
          </p:nvPr>
        </p:nvSpPr>
        <p:spPr/>
        <p:txBody>
          <a:bodyPr/>
          <a:lstStyle/>
          <a:p>
            <a:fld id="{CC6D4273-7FC1-0947-B9FE-19CB3C0D1FB6}" type="slidenum">
              <a:rPr lang="en-US" smtClean="0"/>
              <a:t>‹#›</a:t>
            </a:fld>
            <a:endParaRPr lang="en-US"/>
          </a:p>
        </p:txBody>
      </p:sp>
      <p:pic>
        <p:nvPicPr>
          <p:cNvPr id="7" name="Picture 6">
            <a:extLst>
              <a:ext uri="{FF2B5EF4-FFF2-40B4-BE49-F238E27FC236}">
                <a16:creationId xmlns:a16="http://schemas.microsoft.com/office/drawing/2014/main" id="{884BC923-7EF2-2B42-330A-BBA81AB60849}"/>
              </a:ext>
            </a:extLst>
          </p:cNvPr>
          <p:cNvPicPr>
            <a:picLocks noChangeAspect="1"/>
          </p:cNvPicPr>
          <p:nvPr/>
        </p:nvPicPr>
        <p:blipFill>
          <a:blip r:embed="rId3"/>
          <a:srcRect/>
          <a:stretch/>
        </p:blipFill>
        <p:spPr>
          <a:xfrm>
            <a:off x="2766666" y="1000733"/>
            <a:ext cx="6655493" cy="2219076"/>
          </a:xfrm>
          <a:prstGeom prst="rect">
            <a:avLst/>
          </a:prstGeom>
        </p:spPr>
      </p:pic>
    </p:spTree>
    <p:extLst>
      <p:ext uri="{BB962C8B-B14F-4D97-AF65-F5344CB8AC3E}">
        <p14:creationId xmlns:p14="http://schemas.microsoft.com/office/powerpoint/2010/main" val="391714703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7DA1D-0B0E-9621-50E1-0921931F0F73}"/>
              </a:ext>
            </a:extLst>
          </p:cNvPr>
          <p:cNvSpPr>
            <a:spLocks noGrp="1"/>
          </p:cNvSpPr>
          <p:nvPr>
            <p:ph type="ctrTitle"/>
          </p:nvPr>
        </p:nvSpPr>
        <p:spPr>
          <a:xfrm>
            <a:off x="1523603" y="1122363"/>
            <a:ext cx="9141619" cy="2387600"/>
          </a:xfrm>
        </p:spPr>
        <p:txBody>
          <a:bodyPr anchor="b"/>
          <a:lstStyle>
            <a:lvl1pPr algn="ctr">
              <a:defRPr sz="5998"/>
            </a:lvl1pPr>
          </a:lstStyle>
          <a:p>
            <a:r>
              <a:rPr lang="en-US"/>
              <a:t>Click to edit Master title style</a:t>
            </a:r>
          </a:p>
        </p:txBody>
      </p:sp>
      <p:sp>
        <p:nvSpPr>
          <p:cNvPr id="3" name="Subtitle 2">
            <a:extLst>
              <a:ext uri="{FF2B5EF4-FFF2-40B4-BE49-F238E27FC236}">
                <a16:creationId xmlns:a16="http://schemas.microsoft.com/office/drawing/2014/main" id="{76596180-262C-90B5-B1E9-106CE1F260E7}"/>
              </a:ext>
            </a:extLst>
          </p:cNvPr>
          <p:cNvSpPr>
            <a:spLocks noGrp="1"/>
          </p:cNvSpPr>
          <p:nvPr>
            <p:ph type="subTitle" idx="1"/>
          </p:nvPr>
        </p:nvSpPr>
        <p:spPr>
          <a:xfrm>
            <a:off x="1523603" y="3602038"/>
            <a:ext cx="9141619" cy="1655762"/>
          </a:xfrm>
        </p:spPr>
        <p:txBody>
          <a:bodyPr/>
          <a:lstStyle>
            <a:lvl1pPr marL="0" indent="0" algn="ctr">
              <a:buNone/>
              <a:defRPr sz="2399"/>
            </a:lvl1pPr>
            <a:lvl2pPr marL="457063" indent="0" algn="ctr">
              <a:buNone/>
              <a:defRPr sz="1999"/>
            </a:lvl2pPr>
            <a:lvl3pPr marL="914126" indent="0" algn="ctr">
              <a:buNone/>
              <a:defRPr sz="1799"/>
            </a:lvl3pPr>
            <a:lvl4pPr marL="1371189" indent="0" algn="ctr">
              <a:buNone/>
              <a:defRPr sz="1600"/>
            </a:lvl4pPr>
            <a:lvl5pPr marL="1828251" indent="0" algn="ctr">
              <a:buNone/>
              <a:defRPr sz="1600"/>
            </a:lvl5pPr>
            <a:lvl6pPr marL="2285314" indent="0" algn="ctr">
              <a:buNone/>
              <a:defRPr sz="1600"/>
            </a:lvl6pPr>
            <a:lvl7pPr marL="2742377" indent="0" algn="ctr">
              <a:buNone/>
              <a:defRPr sz="1600"/>
            </a:lvl7pPr>
            <a:lvl8pPr marL="3199440" indent="0" algn="ctr">
              <a:buNone/>
              <a:defRPr sz="1600"/>
            </a:lvl8pPr>
            <a:lvl9pPr marL="3656503"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8F308211-A242-0976-254C-510D30CB345E}"/>
              </a:ext>
            </a:extLst>
          </p:cNvPr>
          <p:cNvSpPr>
            <a:spLocks noGrp="1"/>
          </p:cNvSpPr>
          <p:nvPr>
            <p:ph type="dt" sz="half" idx="10"/>
          </p:nvPr>
        </p:nvSpPr>
        <p:spPr/>
        <p:txBody>
          <a:bodyPr/>
          <a:lstStyle/>
          <a:p>
            <a:r>
              <a:rPr lang="en-US"/>
              <a:t>ADMIN INTRO PRESENTATION_2 HOUR ENG REV4.0</a:t>
            </a:r>
          </a:p>
        </p:txBody>
      </p:sp>
      <p:sp>
        <p:nvSpPr>
          <p:cNvPr id="5" name="Footer Placeholder 4">
            <a:extLst>
              <a:ext uri="{FF2B5EF4-FFF2-40B4-BE49-F238E27FC236}">
                <a16:creationId xmlns:a16="http://schemas.microsoft.com/office/drawing/2014/main" id="{9F523553-3E22-1AA8-87B5-1E95F7E409BD}"/>
              </a:ext>
            </a:extLst>
          </p:cNvPr>
          <p:cNvSpPr>
            <a:spLocks noGrp="1"/>
          </p:cNvSpPr>
          <p:nvPr>
            <p:ph type="ftr" sz="quarter" idx="11"/>
          </p:nvPr>
        </p:nvSpPr>
        <p:spPr/>
        <p:txBody>
          <a:bodyPr/>
          <a:lstStyle/>
          <a:p>
            <a:r>
              <a:rPr lang="en-US"/>
              <a:t>© Lean Horizons Consulting, LLC 2023. All Rights Reserved</a:t>
            </a:r>
          </a:p>
        </p:txBody>
      </p:sp>
      <p:sp>
        <p:nvSpPr>
          <p:cNvPr id="6" name="Slide Number Placeholder 5">
            <a:extLst>
              <a:ext uri="{FF2B5EF4-FFF2-40B4-BE49-F238E27FC236}">
                <a16:creationId xmlns:a16="http://schemas.microsoft.com/office/drawing/2014/main" id="{664D21DF-4281-8B07-B1CD-C88268E51127}"/>
              </a:ext>
            </a:extLst>
          </p:cNvPr>
          <p:cNvSpPr>
            <a:spLocks noGrp="1"/>
          </p:cNvSpPr>
          <p:nvPr>
            <p:ph type="sldNum" sz="quarter" idx="12"/>
          </p:nvPr>
        </p:nvSpPr>
        <p:spPr/>
        <p:txBody>
          <a:bodyPr/>
          <a:lstStyle/>
          <a:p>
            <a:fld id="{2F84A206-C76B-7246-BC40-39ACD45B947D}" type="slidenum">
              <a:rPr lang="en-US" smtClean="0"/>
              <a:t>‹#›</a:t>
            </a:fld>
            <a:endParaRPr lang="en-US"/>
          </a:p>
        </p:txBody>
      </p:sp>
      <p:pic>
        <p:nvPicPr>
          <p:cNvPr id="7" name="Picture 6">
            <a:extLst>
              <a:ext uri="{FF2B5EF4-FFF2-40B4-BE49-F238E27FC236}">
                <a16:creationId xmlns:a16="http://schemas.microsoft.com/office/drawing/2014/main" id="{EAE7B440-0A3E-2230-9D94-690E898AEDC3}"/>
              </a:ext>
            </a:extLst>
          </p:cNvPr>
          <p:cNvPicPr>
            <a:picLocks noChangeAspect="1"/>
          </p:cNvPicPr>
          <p:nvPr/>
        </p:nvPicPr>
        <p:blipFill>
          <a:blip r:embed="rId2"/>
          <a:stretch>
            <a:fillRect/>
          </a:stretch>
        </p:blipFill>
        <p:spPr>
          <a:xfrm>
            <a:off x="4125306" y="3556320"/>
            <a:ext cx="3938214" cy="45719"/>
          </a:xfrm>
          <a:prstGeom prst="rect">
            <a:avLst/>
          </a:prstGeom>
        </p:spPr>
      </p:pic>
    </p:spTree>
    <p:extLst>
      <p:ext uri="{BB962C8B-B14F-4D97-AF65-F5344CB8AC3E}">
        <p14:creationId xmlns:p14="http://schemas.microsoft.com/office/powerpoint/2010/main" val="165688806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4_Custom Layout">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D582F6BE-E76F-A3D4-1EC4-43C57BAE20CA}"/>
              </a:ext>
            </a:extLst>
          </p:cNvPr>
          <p:cNvPicPr>
            <a:picLocks noChangeAspect="1"/>
          </p:cNvPicPr>
          <p:nvPr/>
        </p:nvPicPr>
        <p:blipFill>
          <a:blip r:embed="rId2"/>
          <a:srcRect/>
          <a:stretch/>
        </p:blipFill>
        <p:spPr>
          <a:xfrm>
            <a:off x="0" y="0"/>
            <a:ext cx="12188825" cy="6858000"/>
          </a:xfrm>
          <a:prstGeom prst="rect">
            <a:avLst/>
          </a:prstGeom>
        </p:spPr>
      </p:pic>
      <p:sp>
        <p:nvSpPr>
          <p:cNvPr id="3" name="Date Placeholder 2">
            <a:extLst>
              <a:ext uri="{FF2B5EF4-FFF2-40B4-BE49-F238E27FC236}">
                <a16:creationId xmlns:a16="http://schemas.microsoft.com/office/drawing/2014/main" id="{0F6632C7-24FA-80B1-73E9-5FA4B7E6FDDC}"/>
              </a:ext>
            </a:extLst>
          </p:cNvPr>
          <p:cNvSpPr>
            <a:spLocks noGrp="1"/>
          </p:cNvSpPr>
          <p:nvPr>
            <p:ph type="dt" sz="half" idx="10"/>
          </p:nvPr>
        </p:nvSpPr>
        <p:spPr/>
        <p:txBody>
          <a:bodyPr/>
          <a:lstStyle/>
          <a:p>
            <a:r>
              <a:rPr lang="en-US"/>
              <a:t>ADMIN INTRO PRESENTATION_2 HOUR ENG REV4.0</a:t>
            </a:r>
          </a:p>
        </p:txBody>
      </p:sp>
      <p:sp>
        <p:nvSpPr>
          <p:cNvPr id="4" name="Footer Placeholder 3">
            <a:extLst>
              <a:ext uri="{FF2B5EF4-FFF2-40B4-BE49-F238E27FC236}">
                <a16:creationId xmlns:a16="http://schemas.microsoft.com/office/drawing/2014/main" id="{35F5A2D9-AC06-FF12-6355-C48FA499A0B3}"/>
              </a:ext>
            </a:extLst>
          </p:cNvPr>
          <p:cNvSpPr>
            <a:spLocks noGrp="1"/>
          </p:cNvSpPr>
          <p:nvPr>
            <p:ph type="ftr" sz="quarter" idx="11"/>
          </p:nvPr>
        </p:nvSpPr>
        <p:spPr/>
        <p:txBody>
          <a:bodyPr/>
          <a:lstStyle/>
          <a:p>
            <a:r>
              <a:rPr lang="en-US"/>
              <a:t>© Lean Horizons Consulting, LLC 2023. All Rights Reserved</a:t>
            </a:r>
          </a:p>
        </p:txBody>
      </p:sp>
      <p:sp>
        <p:nvSpPr>
          <p:cNvPr id="5" name="Slide Number Placeholder 4">
            <a:extLst>
              <a:ext uri="{FF2B5EF4-FFF2-40B4-BE49-F238E27FC236}">
                <a16:creationId xmlns:a16="http://schemas.microsoft.com/office/drawing/2014/main" id="{CE665616-5CDC-80BA-E0E4-D0753230454A}"/>
              </a:ext>
            </a:extLst>
          </p:cNvPr>
          <p:cNvSpPr>
            <a:spLocks noGrp="1"/>
          </p:cNvSpPr>
          <p:nvPr>
            <p:ph type="sldNum" sz="quarter" idx="12"/>
          </p:nvPr>
        </p:nvSpPr>
        <p:spPr/>
        <p:txBody>
          <a:bodyPr/>
          <a:lstStyle/>
          <a:p>
            <a:fld id="{CC6D4273-7FC1-0947-B9FE-19CB3C0D1FB6}" type="slidenum">
              <a:rPr lang="en-US" smtClean="0"/>
              <a:t>‹#›</a:t>
            </a:fld>
            <a:endParaRPr lang="en-US"/>
          </a:p>
        </p:txBody>
      </p:sp>
      <p:pic>
        <p:nvPicPr>
          <p:cNvPr id="2" name="Picture 1" descr="Logo&#10;&#10;Description automatically generated">
            <a:extLst>
              <a:ext uri="{FF2B5EF4-FFF2-40B4-BE49-F238E27FC236}">
                <a16:creationId xmlns:a16="http://schemas.microsoft.com/office/drawing/2014/main" id="{99747FCE-AAF3-EC7E-3FFF-7AB4D562C24D}"/>
              </a:ext>
            </a:extLst>
          </p:cNvPr>
          <p:cNvPicPr>
            <a:picLocks noChangeAspect="1"/>
          </p:cNvPicPr>
          <p:nvPr/>
        </p:nvPicPr>
        <p:blipFill>
          <a:blip r:embed="rId3"/>
          <a:stretch>
            <a:fillRect/>
          </a:stretch>
        </p:blipFill>
        <p:spPr>
          <a:xfrm>
            <a:off x="10048862" y="6022447"/>
            <a:ext cx="1825150" cy="365125"/>
          </a:xfrm>
          <a:prstGeom prst="rect">
            <a:avLst/>
          </a:prstGeom>
        </p:spPr>
      </p:pic>
    </p:spTree>
    <p:extLst>
      <p:ext uri="{BB962C8B-B14F-4D97-AF65-F5344CB8AC3E}">
        <p14:creationId xmlns:p14="http://schemas.microsoft.com/office/powerpoint/2010/main" val="2518544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018A61-137D-A5A8-3320-21524BC0F66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2728DEE-50C3-A36C-68DD-9F17C1C8BB2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83D68B0-59E9-41C1-6087-ADFE07C7E47A}"/>
              </a:ext>
            </a:extLst>
          </p:cNvPr>
          <p:cNvSpPr>
            <a:spLocks noGrp="1"/>
          </p:cNvSpPr>
          <p:nvPr>
            <p:ph type="dt" sz="half" idx="10"/>
          </p:nvPr>
        </p:nvSpPr>
        <p:spPr/>
        <p:txBody>
          <a:bodyPr/>
          <a:lstStyle/>
          <a:p>
            <a:r>
              <a:rPr lang="en-US"/>
              <a:t>ADMIN INTRO PRESENTATION_2 HOUR ENG REV4.0</a:t>
            </a:r>
          </a:p>
        </p:txBody>
      </p:sp>
      <p:sp>
        <p:nvSpPr>
          <p:cNvPr id="5" name="Footer Placeholder 4">
            <a:extLst>
              <a:ext uri="{FF2B5EF4-FFF2-40B4-BE49-F238E27FC236}">
                <a16:creationId xmlns:a16="http://schemas.microsoft.com/office/drawing/2014/main" id="{BD1BA927-2BA2-388C-11F5-AEEECC16F70B}"/>
              </a:ext>
            </a:extLst>
          </p:cNvPr>
          <p:cNvSpPr>
            <a:spLocks noGrp="1"/>
          </p:cNvSpPr>
          <p:nvPr>
            <p:ph type="ftr" sz="quarter" idx="11"/>
          </p:nvPr>
        </p:nvSpPr>
        <p:spPr/>
        <p:txBody>
          <a:bodyPr/>
          <a:lstStyle/>
          <a:p>
            <a:r>
              <a:rPr lang="en-US"/>
              <a:t>© Lean Horizons Consulting, LLC 2023. All Rights Reserved</a:t>
            </a:r>
          </a:p>
        </p:txBody>
      </p:sp>
      <p:sp>
        <p:nvSpPr>
          <p:cNvPr id="6" name="Slide Number Placeholder 5">
            <a:extLst>
              <a:ext uri="{FF2B5EF4-FFF2-40B4-BE49-F238E27FC236}">
                <a16:creationId xmlns:a16="http://schemas.microsoft.com/office/drawing/2014/main" id="{F2952C3A-3C94-605B-2F14-9905E330F3E4}"/>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332699728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590F13-7BBE-BAD4-2395-711563C9EAAA}"/>
              </a:ext>
            </a:extLst>
          </p:cNvPr>
          <p:cNvSpPr>
            <a:spLocks noGrp="1"/>
          </p:cNvSpPr>
          <p:nvPr>
            <p:ph type="title"/>
          </p:nvPr>
        </p:nvSpPr>
        <p:spPr>
          <a:xfrm>
            <a:off x="831633" y="1709739"/>
            <a:ext cx="10512862" cy="2852737"/>
          </a:xfrm>
        </p:spPr>
        <p:txBody>
          <a:bodyPr anchor="b"/>
          <a:lstStyle>
            <a:lvl1pPr>
              <a:defRPr sz="5998"/>
            </a:lvl1pPr>
          </a:lstStyle>
          <a:p>
            <a:r>
              <a:rPr lang="en-US"/>
              <a:t>Click to edit Master title style</a:t>
            </a:r>
          </a:p>
        </p:txBody>
      </p:sp>
      <p:sp>
        <p:nvSpPr>
          <p:cNvPr id="3" name="Text Placeholder 2">
            <a:extLst>
              <a:ext uri="{FF2B5EF4-FFF2-40B4-BE49-F238E27FC236}">
                <a16:creationId xmlns:a16="http://schemas.microsoft.com/office/drawing/2014/main" id="{2EFA5AB9-7805-B3DE-9666-C2723A913FE2}"/>
              </a:ext>
            </a:extLst>
          </p:cNvPr>
          <p:cNvSpPr>
            <a:spLocks noGrp="1"/>
          </p:cNvSpPr>
          <p:nvPr>
            <p:ph type="body" idx="1"/>
          </p:nvPr>
        </p:nvSpPr>
        <p:spPr>
          <a:xfrm>
            <a:off x="831633" y="4589464"/>
            <a:ext cx="10512862" cy="1500187"/>
          </a:xfrm>
        </p:spPr>
        <p:txBody>
          <a:bodyPr/>
          <a:lstStyle>
            <a:lvl1pPr marL="0" indent="0">
              <a:buNone/>
              <a:defRPr sz="2399">
                <a:solidFill>
                  <a:schemeClr val="tx1">
                    <a:tint val="75000"/>
                  </a:schemeClr>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2BFE6A7-39DE-7C6C-B653-26FD8FD7F13F}"/>
              </a:ext>
            </a:extLst>
          </p:cNvPr>
          <p:cNvSpPr>
            <a:spLocks noGrp="1"/>
          </p:cNvSpPr>
          <p:nvPr>
            <p:ph type="dt" sz="half" idx="10"/>
          </p:nvPr>
        </p:nvSpPr>
        <p:spPr/>
        <p:txBody>
          <a:bodyPr/>
          <a:lstStyle/>
          <a:p>
            <a:r>
              <a:rPr lang="en-US"/>
              <a:t>ADMIN INTRO PRESENTATION_2 HOUR ENG REV4.0</a:t>
            </a:r>
          </a:p>
        </p:txBody>
      </p:sp>
      <p:sp>
        <p:nvSpPr>
          <p:cNvPr id="5" name="Footer Placeholder 4">
            <a:extLst>
              <a:ext uri="{FF2B5EF4-FFF2-40B4-BE49-F238E27FC236}">
                <a16:creationId xmlns:a16="http://schemas.microsoft.com/office/drawing/2014/main" id="{40C7A9D4-947B-463C-EB72-A536F7E21808}"/>
              </a:ext>
            </a:extLst>
          </p:cNvPr>
          <p:cNvSpPr>
            <a:spLocks noGrp="1"/>
          </p:cNvSpPr>
          <p:nvPr>
            <p:ph type="ftr" sz="quarter" idx="11"/>
          </p:nvPr>
        </p:nvSpPr>
        <p:spPr/>
        <p:txBody>
          <a:bodyPr/>
          <a:lstStyle/>
          <a:p>
            <a:r>
              <a:rPr lang="en-US"/>
              <a:t>© Lean Horizons Consulting, LLC 2023. All Rights Reserved</a:t>
            </a:r>
          </a:p>
        </p:txBody>
      </p:sp>
      <p:sp>
        <p:nvSpPr>
          <p:cNvPr id="6" name="Slide Number Placeholder 5">
            <a:extLst>
              <a:ext uri="{FF2B5EF4-FFF2-40B4-BE49-F238E27FC236}">
                <a16:creationId xmlns:a16="http://schemas.microsoft.com/office/drawing/2014/main" id="{04D6C84B-DC9B-D192-D2C3-DF19CE008279}"/>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367966695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85B913-6F49-B4E8-0A32-93D5DE7D9B2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4918105-E4AD-1DD0-E896-5E3BAF903F0A}"/>
              </a:ext>
            </a:extLst>
          </p:cNvPr>
          <p:cNvSpPr>
            <a:spLocks noGrp="1"/>
          </p:cNvSpPr>
          <p:nvPr>
            <p:ph sz="half" idx="1"/>
          </p:nvPr>
        </p:nvSpPr>
        <p:spPr>
          <a:xfrm>
            <a:off x="837982" y="1825625"/>
            <a:ext cx="5180251"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E96725A-7803-9BA1-175E-E18DDFBA89B4}"/>
              </a:ext>
            </a:extLst>
          </p:cNvPr>
          <p:cNvSpPr>
            <a:spLocks noGrp="1"/>
          </p:cNvSpPr>
          <p:nvPr>
            <p:ph sz="half" idx="2"/>
          </p:nvPr>
        </p:nvSpPr>
        <p:spPr>
          <a:xfrm>
            <a:off x="6170592" y="1825625"/>
            <a:ext cx="5180251"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0C55510-D0C9-7502-F4E3-96A61F06AE6B}"/>
              </a:ext>
            </a:extLst>
          </p:cNvPr>
          <p:cNvSpPr>
            <a:spLocks noGrp="1"/>
          </p:cNvSpPr>
          <p:nvPr>
            <p:ph type="dt" sz="half" idx="10"/>
          </p:nvPr>
        </p:nvSpPr>
        <p:spPr/>
        <p:txBody>
          <a:bodyPr/>
          <a:lstStyle/>
          <a:p>
            <a:r>
              <a:rPr lang="en-US"/>
              <a:t>ADMIN INTRO PRESENTATION_2 HOUR ENG REV4.0</a:t>
            </a:r>
          </a:p>
        </p:txBody>
      </p:sp>
      <p:sp>
        <p:nvSpPr>
          <p:cNvPr id="6" name="Footer Placeholder 5">
            <a:extLst>
              <a:ext uri="{FF2B5EF4-FFF2-40B4-BE49-F238E27FC236}">
                <a16:creationId xmlns:a16="http://schemas.microsoft.com/office/drawing/2014/main" id="{C0E00DCC-2BEF-A932-B8CB-9B35FEFD24D7}"/>
              </a:ext>
            </a:extLst>
          </p:cNvPr>
          <p:cNvSpPr>
            <a:spLocks noGrp="1"/>
          </p:cNvSpPr>
          <p:nvPr>
            <p:ph type="ftr" sz="quarter" idx="11"/>
          </p:nvPr>
        </p:nvSpPr>
        <p:spPr/>
        <p:txBody>
          <a:bodyPr/>
          <a:lstStyle/>
          <a:p>
            <a:r>
              <a:rPr lang="en-US"/>
              <a:t>© Lean Horizons Consulting, LLC 2023. All Rights Reserved</a:t>
            </a:r>
          </a:p>
        </p:txBody>
      </p:sp>
      <p:sp>
        <p:nvSpPr>
          <p:cNvPr id="7" name="Slide Number Placeholder 6">
            <a:extLst>
              <a:ext uri="{FF2B5EF4-FFF2-40B4-BE49-F238E27FC236}">
                <a16:creationId xmlns:a16="http://schemas.microsoft.com/office/drawing/2014/main" id="{DA95234A-669E-A4AC-DEA9-A2E424E9742A}"/>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333797845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4C5B5E-495A-37BA-5BBA-7CBE30AFEFDC}"/>
              </a:ext>
            </a:extLst>
          </p:cNvPr>
          <p:cNvSpPr>
            <a:spLocks noGrp="1"/>
          </p:cNvSpPr>
          <p:nvPr>
            <p:ph type="title"/>
          </p:nvPr>
        </p:nvSpPr>
        <p:spPr>
          <a:xfrm>
            <a:off x="839569" y="365126"/>
            <a:ext cx="10512862"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D3614905-D2B3-0710-76CD-2A1A9DA2AE84}"/>
              </a:ext>
            </a:extLst>
          </p:cNvPr>
          <p:cNvSpPr>
            <a:spLocks noGrp="1"/>
          </p:cNvSpPr>
          <p:nvPr>
            <p:ph type="body" idx="1"/>
          </p:nvPr>
        </p:nvSpPr>
        <p:spPr>
          <a:xfrm>
            <a:off x="839570" y="1681163"/>
            <a:ext cx="5156444" cy="823912"/>
          </a:xfrm>
        </p:spPr>
        <p:txBody>
          <a:bodyPr anchor="b"/>
          <a:lstStyle>
            <a:lvl1pPr marL="0" indent="0">
              <a:buNone/>
              <a:defRPr sz="2399" b="1"/>
            </a:lvl1pPr>
            <a:lvl2pPr marL="457063" indent="0">
              <a:buNone/>
              <a:defRPr sz="1999" b="1"/>
            </a:lvl2pPr>
            <a:lvl3pPr marL="914126" indent="0">
              <a:buNone/>
              <a:defRPr sz="1799" b="1"/>
            </a:lvl3pPr>
            <a:lvl4pPr marL="1371189" indent="0">
              <a:buNone/>
              <a:defRPr sz="1600" b="1"/>
            </a:lvl4pPr>
            <a:lvl5pPr marL="1828251" indent="0">
              <a:buNone/>
              <a:defRPr sz="1600" b="1"/>
            </a:lvl5pPr>
            <a:lvl6pPr marL="2285314" indent="0">
              <a:buNone/>
              <a:defRPr sz="1600" b="1"/>
            </a:lvl6pPr>
            <a:lvl7pPr marL="2742377" indent="0">
              <a:buNone/>
              <a:defRPr sz="1600" b="1"/>
            </a:lvl7pPr>
            <a:lvl8pPr marL="3199440" indent="0">
              <a:buNone/>
              <a:defRPr sz="1600" b="1"/>
            </a:lvl8pPr>
            <a:lvl9pPr marL="365650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8F57B75-B3E9-F1CB-A968-B09673C2DA9C}"/>
              </a:ext>
            </a:extLst>
          </p:cNvPr>
          <p:cNvSpPr>
            <a:spLocks noGrp="1"/>
          </p:cNvSpPr>
          <p:nvPr>
            <p:ph sz="half" idx="2"/>
          </p:nvPr>
        </p:nvSpPr>
        <p:spPr>
          <a:xfrm>
            <a:off x="839570" y="2505075"/>
            <a:ext cx="5156444"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55A1AE0-32D0-FF2C-DA48-2FACD67BEE4A}"/>
              </a:ext>
            </a:extLst>
          </p:cNvPr>
          <p:cNvSpPr>
            <a:spLocks noGrp="1"/>
          </p:cNvSpPr>
          <p:nvPr>
            <p:ph type="body" sz="quarter" idx="3"/>
          </p:nvPr>
        </p:nvSpPr>
        <p:spPr>
          <a:xfrm>
            <a:off x="6170593" y="1681163"/>
            <a:ext cx="5181838" cy="823912"/>
          </a:xfrm>
        </p:spPr>
        <p:txBody>
          <a:bodyPr anchor="b"/>
          <a:lstStyle>
            <a:lvl1pPr marL="0" indent="0">
              <a:buNone/>
              <a:defRPr sz="2399" b="1"/>
            </a:lvl1pPr>
            <a:lvl2pPr marL="457063" indent="0">
              <a:buNone/>
              <a:defRPr sz="1999" b="1"/>
            </a:lvl2pPr>
            <a:lvl3pPr marL="914126" indent="0">
              <a:buNone/>
              <a:defRPr sz="1799" b="1"/>
            </a:lvl3pPr>
            <a:lvl4pPr marL="1371189" indent="0">
              <a:buNone/>
              <a:defRPr sz="1600" b="1"/>
            </a:lvl4pPr>
            <a:lvl5pPr marL="1828251" indent="0">
              <a:buNone/>
              <a:defRPr sz="1600" b="1"/>
            </a:lvl5pPr>
            <a:lvl6pPr marL="2285314" indent="0">
              <a:buNone/>
              <a:defRPr sz="1600" b="1"/>
            </a:lvl6pPr>
            <a:lvl7pPr marL="2742377" indent="0">
              <a:buNone/>
              <a:defRPr sz="1600" b="1"/>
            </a:lvl7pPr>
            <a:lvl8pPr marL="3199440" indent="0">
              <a:buNone/>
              <a:defRPr sz="1600" b="1"/>
            </a:lvl8pPr>
            <a:lvl9pPr marL="365650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3A51260-B233-7227-7D3E-30A1D7D2305D}"/>
              </a:ext>
            </a:extLst>
          </p:cNvPr>
          <p:cNvSpPr>
            <a:spLocks noGrp="1"/>
          </p:cNvSpPr>
          <p:nvPr>
            <p:ph sz="quarter" idx="4"/>
          </p:nvPr>
        </p:nvSpPr>
        <p:spPr>
          <a:xfrm>
            <a:off x="6170593" y="2505075"/>
            <a:ext cx="518183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611A779-F4B6-55BE-080E-B0B8114CEF97}"/>
              </a:ext>
            </a:extLst>
          </p:cNvPr>
          <p:cNvSpPr>
            <a:spLocks noGrp="1"/>
          </p:cNvSpPr>
          <p:nvPr>
            <p:ph type="dt" sz="half" idx="10"/>
          </p:nvPr>
        </p:nvSpPr>
        <p:spPr/>
        <p:txBody>
          <a:bodyPr/>
          <a:lstStyle/>
          <a:p>
            <a:r>
              <a:rPr lang="en-US"/>
              <a:t>ADMIN INTRO PRESENTATION_2 HOUR ENG REV4.0</a:t>
            </a:r>
          </a:p>
        </p:txBody>
      </p:sp>
      <p:sp>
        <p:nvSpPr>
          <p:cNvPr id="8" name="Footer Placeholder 7">
            <a:extLst>
              <a:ext uri="{FF2B5EF4-FFF2-40B4-BE49-F238E27FC236}">
                <a16:creationId xmlns:a16="http://schemas.microsoft.com/office/drawing/2014/main" id="{67A69CED-D7CA-3FD9-9FF9-180F7D464B15}"/>
              </a:ext>
            </a:extLst>
          </p:cNvPr>
          <p:cNvSpPr>
            <a:spLocks noGrp="1"/>
          </p:cNvSpPr>
          <p:nvPr>
            <p:ph type="ftr" sz="quarter" idx="11"/>
          </p:nvPr>
        </p:nvSpPr>
        <p:spPr/>
        <p:txBody>
          <a:bodyPr/>
          <a:lstStyle/>
          <a:p>
            <a:r>
              <a:rPr lang="en-US"/>
              <a:t>© Lean Horizons Consulting, LLC 2023. All Rights Reserved</a:t>
            </a:r>
          </a:p>
        </p:txBody>
      </p:sp>
      <p:sp>
        <p:nvSpPr>
          <p:cNvPr id="9" name="Slide Number Placeholder 8">
            <a:extLst>
              <a:ext uri="{FF2B5EF4-FFF2-40B4-BE49-F238E27FC236}">
                <a16:creationId xmlns:a16="http://schemas.microsoft.com/office/drawing/2014/main" id="{3A02EFCF-F5A5-49DA-2381-ADE014B2D41E}"/>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403692462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4BD4A-F292-D0E9-DCA8-0C149FFA28F2}"/>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63062F2-C42F-F97A-E10E-35157A7402DF}"/>
              </a:ext>
            </a:extLst>
          </p:cNvPr>
          <p:cNvSpPr>
            <a:spLocks noGrp="1"/>
          </p:cNvSpPr>
          <p:nvPr>
            <p:ph type="dt" sz="half" idx="10"/>
          </p:nvPr>
        </p:nvSpPr>
        <p:spPr/>
        <p:txBody>
          <a:bodyPr/>
          <a:lstStyle/>
          <a:p>
            <a:r>
              <a:rPr lang="en-US"/>
              <a:t>ADMIN INTRO PRESENTATION_2 HOUR ENG REV4.0</a:t>
            </a:r>
          </a:p>
        </p:txBody>
      </p:sp>
      <p:sp>
        <p:nvSpPr>
          <p:cNvPr id="4" name="Footer Placeholder 3">
            <a:extLst>
              <a:ext uri="{FF2B5EF4-FFF2-40B4-BE49-F238E27FC236}">
                <a16:creationId xmlns:a16="http://schemas.microsoft.com/office/drawing/2014/main" id="{A3758EC9-93B4-1457-7048-C2B4DAE26E57}"/>
              </a:ext>
            </a:extLst>
          </p:cNvPr>
          <p:cNvSpPr>
            <a:spLocks noGrp="1"/>
          </p:cNvSpPr>
          <p:nvPr>
            <p:ph type="ftr" sz="quarter" idx="11"/>
          </p:nvPr>
        </p:nvSpPr>
        <p:spPr/>
        <p:txBody>
          <a:bodyPr/>
          <a:lstStyle/>
          <a:p>
            <a:r>
              <a:rPr lang="en-US"/>
              <a:t>© Lean Horizons Consulting, LLC 2023. All Rights Reserved</a:t>
            </a:r>
          </a:p>
        </p:txBody>
      </p:sp>
      <p:sp>
        <p:nvSpPr>
          <p:cNvPr id="5" name="Slide Number Placeholder 4">
            <a:extLst>
              <a:ext uri="{FF2B5EF4-FFF2-40B4-BE49-F238E27FC236}">
                <a16:creationId xmlns:a16="http://schemas.microsoft.com/office/drawing/2014/main" id="{A47F54E1-BB11-1BC8-4FEB-A74AE64A4128}"/>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17693132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D398FAB-29B1-A4CB-46EC-6577E1E0F673}"/>
              </a:ext>
            </a:extLst>
          </p:cNvPr>
          <p:cNvSpPr>
            <a:spLocks noGrp="1"/>
          </p:cNvSpPr>
          <p:nvPr>
            <p:ph type="dt" sz="half" idx="10"/>
          </p:nvPr>
        </p:nvSpPr>
        <p:spPr/>
        <p:txBody>
          <a:bodyPr/>
          <a:lstStyle/>
          <a:p>
            <a:r>
              <a:rPr lang="en-US"/>
              <a:t>ADMIN INTRO PRESENTATION_2 HOUR ENG REV4.0</a:t>
            </a:r>
          </a:p>
        </p:txBody>
      </p:sp>
      <p:sp>
        <p:nvSpPr>
          <p:cNvPr id="3" name="Footer Placeholder 2">
            <a:extLst>
              <a:ext uri="{FF2B5EF4-FFF2-40B4-BE49-F238E27FC236}">
                <a16:creationId xmlns:a16="http://schemas.microsoft.com/office/drawing/2014/main" id="{131B147A-BE5D-2E65-8CA4-EE207E41D0A2}"/>
              </a:ext>
            </a:extLst>
          </p:cNvPr>
          <p:cNvSpPr>
            <a:spLocks noGrp="1"/>
          </p:cNvSpPr>
          <p:nvPr>
            <p:ph type="ftr" sz="quarter" idx="11"/>
          </p:nvPr>
        </p:nvSpPr>
        <p:spPr/>
        <p:txBody>
          <a:bodyPr/>
          <a:lstStyle/>
          <a:p>
            <a:r>
              <a:rPr lang="en-US"/>
              <a:t>© Lean Horizons Consulting, LLC 2023. All Rights Reserved</a:t>
            </a:r>
          </a:p>
        </p:txBody>
      </p:sp>
      <p:sp>
        <p:nvSpPr>
          <p:cNvPr id="4" name="Slide Number Placeholder 3">
            <a:extLst>
              <a:ext uri="{FF2B5EF4-FFF2-40B4-BE49-F238E27FC236}">
                <a16:creationId xmlns:a16="http://schemas.microsoft.com/office/drawing/2014/main" id="{FDA1B3D4-5A99-63DB-D394-0CB0F70C8C73}"/>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360161249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0CE988-824A-FBDB-56EE-C8B28CA6C096}"/>
              </a:ext>
            </a:extLst>
          </p:cNvPr>
          <p:cNvSpPr>
            <a:spLocks noGrp="1"/>
          </p:cNvSpPr>
          <p:nvPr>
            <p:ph type="title"/>
          </p:nvPr>
        </p:nvSpPr>
        <p:spPr>
          <a:xfrm>
            <a:off x="839570" y="457200"/>
            <a:ext cx="3931213" cy="1600200"/>
          </a:xfrm>
        </p:spPr>
        <p:txBody>
          <a:bodyPr anchor="b"/>
          <a:lstStyle>
            <a:lvl1pPr>
              <a:defRPr sz="3199"/>
            </a:lvl1pPr>
          </a:lstStyle>
          <a:p>
            <a:r>
              <a:rPr lang="en-US"/>
              <a:t>Click to edit Master title style</a:t>
            </a:r>
          </a:p>
        </p:txBody>
      </p:sp>
      <p:sp>
        <p:nvSpPr>
          <p:cNvPr id="3" name="Content Placeholder 2">
            <a:extLst>
              <a:ext uri="{FF2B5EF4-FFF2-40B4-BE49-F238E27FC236}">
                <a16:creationId xmlns:a16="http://schemas.microsoft.com/office/drawing/2014/main" id="{20E4CAAB-C2A5-C339-D0F9-A426D155FBA2}"/>
              </a:ext>
            </a:extLst>
          </p:cNvPr>
          <p:cNvSpPr>
            <a:spLocks noGrp="1"/>
          </p:cNvSpPr>
          <p:nvPr>
            <p:ph idx="1"/>
          </p:nvPr>
        </p:nvSpPr>
        <p:spPr>
          <a:xfrm>
            <a:off x="5181838" y="987426"/>
            <a:ext cx="6170593" cy="4873625"/>
          </a:xfrm>
        </p:spPr>
        <p:txBody>
          <a:bodyPr/>
          <a:lstStyle>
            <a:lvl1pPr>
              <a:defRPr sz="3199"/>
            </a:lvl1pPr>
            <a:lvl2pPr>
              <a:defRPr sz="2799"/>
            </a:lvl2pPr>
            <a:lvl3pPr>
              <a:defRPr sz="2399"/>
            </a:lvl3pPr>
            <a:lvl4pPr>
              <a:defRPr sz="1999"/>
            </a:lvl4pPr>
            <a:lvl5pPr>
              <a:defRPr sz="1999"/>
            </a:lvl5pPr>
            <a:lvl6pPr>
              <a:defRPr sz="1999"/>
            </a:lvl6pPr>
            <a:lvl7pPr>
              <a:defRPr sz="1999"/>
            </a:lvl7pPr>
            <a:lvl8pPr>
              <a:defRPr sz="1999"/>
            </a:lvl8pPr>
            <a:lvl9pPr>
              <a:defRPr sz="19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143B6AA2-40D9-6BC8-6030-761DB1A71E26}"/>
              </a:ext>
            </a:extLst>
          </p:cNvPr>
          <p:cNvSpPr>
            <a:spLocks noGrp="1"/>
          </p:cNvSpPr>
          <p:nvPr>
            <p:ph type="body" sz="half" idx="2"/>
          </p:nvPr>
        </p:nvSpPr>
        <p:spPr>
          <a:xfrm>
            <a:off x="839570" y="2057400"/>
            <a:ext cx="3931213" cy="3811588"/>
          </a:xfrm>
        </p:spPr>
        <p:txBody>
          <a:bodyPr/>
          <a:lstStyle>
            <a:lvl1pPr marL="0" indent="0">
              <a:buNone/>
              <a:defRPr sz="1600"/>
            </a:lvl1pPr>
            <a:lvl2pPr marL="457063" indent="0">
              <a:buNone/>
              <a:defRPr sz="1400"/>
            </a:lvl2pPr>
            <a:lvl3pPr marL="914126" indent="0">
              <a:buNone/>
              <a:defRPr sz="1200"/>
            </a:lvl3pPr>
            <a:lvl4pPr marL="1371189" indent="0">
              <a:buNone/>
              <a:defRPr sz="1000"/>
            </a:lvl4pPr>
            <a:lvl5pPr marL="1828251" indent="0">
              <a:buNone/>
              <a:defRPr sz="1000"/>
            </a:lvl5pPr>
            <a:lvl6pPr marL="2285314" indent="0">
              <a:buNone/>
              <a:defRPr sz="1000"/>
            </a:lvl6pPr>
            <a:lvl7pPr marL="2742377" indent="0">
              <a:buNone/>
              <a:defRPr sz="1000"/>
            </a:lvl7pPr>
            <a:lvl8pPr marL="3199440" indent="0">
              <a:buNone/>
              <a:defRPr sz="1000"/>
            </a:lvl8pPr>
            <a:lvl9pPr marL="3656503"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4DDE8B1-CED5-51BC-B987-ECA39695DB90}"/>
              </a:ext>
            </a:extLst>
          </p:cNvPr>
          <p:cNvSpPr>
            <a:spLocks noGrp="1"/>
          </p:cNvSpPr>
          <p:nvPr>
            <p:ph type="dt" sz="half" idx="10"/>
          </p:nvPr>
        </p:nvSpPr>
        <p:spPr/>
        <p:txBody>
          <a:bodyPr/>
          <a:lstStyle/>
          <a:p>
            <a:r>
              <a:rPr lang="en-US"/>
              <a:t>ADMIN INTRO PRESENTATION_2 HOUR ENG REV4.0</a:t>
            </a:r>
          </a:p>
        </p:txBody>
      </p:sp>
      <p:sp>
        <p:nvSpPr>
          <p:cNvPr id="6" name="Footer Placeholder 5">
            <a:extLst>
              <a:ext uri="{FF2B5EF4-FFF2-40B4-BE49-F238E27FC236}">
                <a16:creationId xmlns:a16="http://schemas.microsoft.com/office/drawing/2014/main" id="{BECB2149-AEFF-EB09-1C70-70E6033600E8}"/>
              </a:ext>
            </a:extLst>
          </p:cNvPr>
          <p:cNvSpPr>
            <a:spLocks noGrp="1"/>
          </p:cNvSpPr>
          <p:nvPr>
            <p:ph type="ftr" sz="quarter" idx="11"/>
          </p:nvPr>
        </p:nvSpPr>
        <p:spPr/>
        <p:txBody>
          <a:bodyPr/>
          <a:lstStyle/>
          <a:p>
            <a:r>
              <a:rPr lang="en-US"/>
              <a:t>© Lean Horizons Consulting, LLC 2023. All Rights Reserved</a:t>
            </a:r>
          </a:p>
        </p:txBody>
      </p:sp>
      <p:sp>
        <p:nvSpPr>
          <p:cNvPr id="7" name="Slide Number Placeholder 6">
            <a:extLst>
              <a:ext uri="{FF2B5EF4-FFF2-40B4-BE49-F238E27FC236}">
                <a16:creationId xmlns:a16="http://schemas.microsoft.com/office/drawing/2014/main" id="{A3BA71F0-F0F1-4DCD-5144-C51ED87E231F}"/>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157656618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37E0C4-79E5-A0D4-BDE3-2C9ED3A08DC7}"/>
              </a:ext>
            </a:extLst>
          </p:cNvPr>
          <p:cNvSpPr>
            <a:spLocks noGrp="1"/>
          </p:cNvSpPr>
          <p:nvPr>
            <p:ph type="title"/>
          </p:nvPr>
        </p:nvSpPr>
        <p:spPr>
          <a:xfrm>
            <a:off x="839570" y="457200"/>
            <a:ext cx="3931213" cy="1600200"/>
          </a:xfrm>
        </p:spPr>
        <p:txBody>
          <a:bodyPr anchor="b"/>
          <a:lstStyle>
            <a:lvl1pPr>
              <a:defRPr sz="3199"/>
            </a:lvl1pPr>
          </a:lstStyle>
          <a:p>
            <a:r>
              <a:rPr lang="en-US"/>
              <a:t>Click to edit Master title style</a:t>
            </a:r>
          </a:p>
        </p:txBody>
      </p:sp>
      <p:sp>
        <p:nvSpPr>
          <p:cNvPr id="3" name="Picture Placeholder 2">
            <a:extLst>
              <a:ext uri="{FF2B5EF4-FFF2-40B4-BE49-F238E27FC236}">
                <a16:creationId xmlns:a16="http://schemas.microsoft.com/office/drawing/2014/main" id="{F6E68823-C490-A883-2E6D-E7FBCB34492A}"/>
              </a:ext>
            </a:extLst>
          </p:cNvPr>
          <p:cNvSpPr>
            <a:spLocks noGrp="1"/>
          </p:cNvSpPr>
          <p:nvPr>
            <p:ph type="pic" idx="1"/>
          </p:nvPr>
        </p:nvSpPr>
        <p:spPr>
          <a:xfrm>
            <a:off x="5181838" y="987426"/>
            <a:ext cx="6170593" cy="4873625"/>
          </a:xfrm>
        </p:spPr>
        <p:txBody>
          <a:bodyPr/>
          <a:lstStyle>
            <a:lvl1pPr marL="0" indent="0">
              <a:buNone/>
              <a:defRPr sz="3199"/>
            </a:lvl1pPr>
            <a:lvl2pPr marL="457063" indent="0">
              <a:buNone/>
              <a:defRPr sz="2799"/>
            </a:lvl2pPr>
            <a:lvl3pPr marL="914126" indent="0">
              <a:buNone/>
              <a:defRPr sz="2399"/>
            </a:lvl3pPr>
            <a:lvl4pPr marL="1371189" indent="0">
              <a:buNone/>
              <a:defRPr sz="1999"/>
            </a:lvl4pPr>
            <a:lvl5pPr marL="1828251" indent="0">
              <a:buNone/>
              <a:defRPr sz="1999"/>
            </a:lvl5pPr>
            <a:lvl6pPr marL="2285314" indent="0">
              <a:buNone/>
              <a:defRPr sz="1999"/>
            </a:lvl6pPr>
            <a:lvl7pPr marL="2742377" indent="0">
              <a:buNone/>
              <a:defRPr sz="1999"/>
            </a:lvl7pPr>
            <a:lvl8pPr marL="3199440" indent="0">
              <a:buNone/>
              <a:defRPr sz="1999"/>
            </a:lvl8pPr>
            <a:lvl9pPr marL="3656503" indent="0">
              <a:buNone/>
              <a:defRPr sz="1999"/>
            </a:lvl9pPr>
          </a:lstStyle>
          <a:p>
            <a:r>
              <a:rPr lang="en-US"/>
              <a:t>Click icon to add picture</a:t>
            </a:r>
          </a:p>
        </p:txBody>
      </p:sp>
      <p:sp>
        <p:nvSpPr>
          <p:cNvPr id="4" name="Text Placeholder 3">
            <a:extLst>
              <a:ext uri="{FF2B5EF4-FFF2-40B4-BE49-F238E27FC236}">
                <a16:creationId xmlns:a16="http://schemas.microsoft.com/office/drawing/2014/main" id="{4ECC8A22-C844-6C28-DCB0-95CE589AABCE}"/>
              </a:ext>
            </a:extLst>
          </p:cNvPr>
          <p:cNvSpPr>
            <a:spLocks noGrp="1"/>
          </p:cNvSpPr>
          <p:nvPr>
            <p:ph type="body" sz="half" idx="2"/>
          </p:nvPr>
        </p:nvSpPr>
        <p:spPr>
          <a:xfrm>
            <a:off x="839570" y="2057400"/>
            <a:ext cx="3931213" cy="3811588"/>
          </a:xfrm>
        </p:spPr>
        <p:txBody>
          <a:bodyPr/>
          <a:lstStyle>
            <a:lvl1pPr marL="0" indent="0">
              <a:buNone/>
              <a:defRPr sz="1600"/>
            </a:lvl1pPr>
            <a:lvl2pPr marL="457063" indent="0">
              <a:buNone/>
              <a:defRPr sz="1400"/>
            </a:lvl2pPr>
            <a:lvl3pPr marL="914126" indent="0">
              <a:buNone/>
              <a:defRPr sz="1200"/>
            </a:lvl3pPr>
            <a:lvl4pPr marL="1371189" indent="0">
              <a:buNone/>
              <a:defRPr sz="1000"/>
            </a:lvl4pPr>
            <a:lvl5pPr marL="1828251" indent="0">
              <a:buNone/>
              <a:defRPr sz="1000"/>
            </a:lvl5pPr>
            <a:lvl6pPr marL="2285314" indent="0">
              <a:buNone/>
              <a:defRPr sz="1000"/>
            </a:lvl6pPr>
            <a:lvl7pPr marL="2742377" indent="0">
              <a:buNone/>
              <a:defRPr sz="1000"/>
            </a:lvl7pPr>
            <a:lvl8pPr marL="3199440" indent="0">
              <a:buNone/>
              <a:defRPr sz="1000"/>
            </a:lvl8pPr>
            <a:lvl9pPr marL="3656503"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F6CA3B5-9A6F-0AEF-7C2D-948D8F3DCABE}"/>
              </a:ext>
            </a:extLst>
          </p:cNvPr>
          <p:cNvSpPr>
            <a:spLocks noGrp="1"/>
          </p:cNvSpPr>
          <p:nvPr>
            <p:ph type="dt" sz="half" idx="10"/>
          </p:nvPr>
        </p:nvSpPr>
        <p:spPr/>
        <p:txBody>
          <a:bodyPr/>
          <a:lstStyle/>
          <a:p>
            <a:r>
              <a:rPr lang="en-US"/>
              <a:t>ADMIN INTRO PRESENTATION_2 HOUR ENG REV4.0</a:t>
            </a:r>
          </a:p>
        </p:txBody>
      </p:sp>
      <p:sp>
        <p:nvSpPr>
          <p:cNvPr id="6" name="Footer Placeholder 5">
            <a:extLst>
              <a:ext uri="{FF2B5EF4-FFF2-40B4-BE49-F238E27FC236}">
                <a16:creationId xmlns:a16="http://schemas.microsoft.com/office/drawing/2014/main" id="{C1BB8707-1A2A-104E-4173-9679F249230A}"/>
              </a:ext>
            </a:extLst>
          </p:cNvPr>
          <p:cNvSpPr>
            <a:spLocks noGrp="1"/>
          </p:cNvSpPr>
          <p:nvPr>
            <p:ph type="ftr" sz="quarter" idx="11"/>
          </p:nvPr>
        </p:nvSpPr>
        <p:spPr/>
        <p:txBody>
          <a:bodyPr/>
          <a:lstStyle/>
          <a:p>
            <a:r>
              <a:rPr lang="en-US"/>
              <a:t>© Lean Horizons Consulting, LLC 2023. All Rights Reserved</a:t>
            </a:r>
          </a:p>
        </p:txBody>
      </p:sp>
      <p:sp>
        <p:nvSpPr>
          <p:cNvPr id="7" name="Slide Number Placeholder 6">
            <a:extLst>
              <a:ext uri="{FF2B5EF4-FFF2-40B4-BE49-F238E27FC236}">
                <a16:creationId xmlns:a16="http://schemas.microsoft.com/office/drawing/2014/main" id="{7D2BFF66-2F37-76AB-24D7-1EFD62C694D6}"/>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171304198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EBA5A1-0702-7EEF-A2E3-A0BFB8902EE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646D5D1-C1A1-CA41-3B7E-E8B66259D98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E44C0CA-2A0F-0832-4CB3-08F98C1B8DDA}"/>
              </a:ext>
            </a:extLst>
          </p:cNvPr>
          <p:cNvSpPr>
            <a:spLocks noGrp="1"/>
          </p:cNvSpPr>
          <p:nvPr>
            <p:ph type="dt" sz="half" idx="10"/>
          </p:nvPr>
        </p:nvSpPr>
        <p:spPr/>
        <p:txBody>
          <a:bodyPr/>
          <a:lstStyle/>
          <a:p>
            <a:r>
              <a:rPr lang="en-US"/>
              <a:t>ADMIN INTRO PRESENTATION_2 HOUR ENG REV4.0</a:t>
            </a:r>
          </a:p>
        </p:txBody>
      </p:sp>
      <p:sp>
        <p:nvSpPr>
          <p:cNvPr id="5" name="Footer Placeholder 4">
            <a:extLst>
              <a:ext uri="{FF2B5EF4-FFF2-40B4-BE49-F238E27FC236}">
                <a16:creationId xmlns:a16="http://schemas.microsoft.com/office/drawing/2014/main" id="{E06808F1-2BEC-C915-8BDE-5084A38C3BA3}"/>
              </a:ext>
            </a:extLst>
          </p:cNvPr>
          <p:cNvSpPr>
            <a:spLocks noGrp="1"/>
          </p:cNvSpPr>
          <p:nvPr>
            <p:ph type="ftr" sz="quarter" idx="11"/>
          </p:nvPr>
        </p:nvSpPr>
        <p:spPr/>
        <p:txBody>
          <a:bodyPr/>
          <a:lstStyle/>
          <a:p>
            <a:r>
              <a:rPr lang="en-US"/>
              <a:t>© Lean Horizons Consulting, LLC 2023. All Rights Reserved</a:t>
            </a:r>
          </a:p>
        </p:txBody>
      </p:sp>
      <p:sp>
        <p:nvSpPr>
          <p:cNvPr id="6" name="Slide Number Placeholder 5">
            <a:extLst>
              <a:ext uri="{FF2B5EF4-FFF2-40B4-BE49-F238E27FC236}">
                <a16:creationId xmlns:a16="http://schemas.microsoft.com/office/drawing/2014/main" id="{094BB926-4CCF-D763-0762-DE1AA6479E1A}"/>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299342235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9E653CC-AFA7-CB16-DC45-848D152C9D76}"/>
              </a:ext>
            </a:extLst>
          </p:cNvPr>
          <p:cNvSpPr>
            <a:spLocks noGrp="1"/>
          </p:cNvSpPr>
          <p:nvPr>
            <p:ph type="title" orient="vert"/>
          </p:nvPr>
        </p:nvSpPr>
        <p:spPr>
          <a:xfrm>
            <a:off x="8722628" y="365125"/>
            <a:ext cx="2628215"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3B7C763-4411-9116-52D0-067C0F27B1CC}"/>
              </a:ext>
            </a:extLst>
          </p:cNvPr>
          <p:cNvSpPr>
            <a:spLocks noGrp="1"/>
          </p:cNvSpPr>
          <p:nvPr>
            <p:ph type="body" orient="vert" idx="1"/>
          </p:nvPr>
        </p:nvSpPr>
        <p:spPr>
          <a:xfrm>
            <a:off x="837982" y="365125"/>
            <a:ext cx="7732286"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1705DCF-E6CB-66BE-A67C-A7EA05FFF571}"/>
              </a:ext>
            </a:extLst>
          </p:cNvPr>
          <p:cNvSpPr>
            <a:spLocks noGrp="1"/>
          </p:cNvSpPr>
          <p:nvPr>
            <p:ph type="dt" sz="half" idx="10"/>
          </p:nvPr>
        </p:nvSpPr>
        <p:spPr/>
        <p:txBody>
          <a:bodyPr/>
          <a:lstStyle/>
          <a:p>
            <a:r>
              <a:rPr lang="en-US"/>
              <a:t>ADMIN INTRO PRESENTATION_2 HOUR ENG REV4.0</a:t>
            </a:r>
          </a:p>
        </p:txBody>
      </p:sp>
      <p:sp>
        <p:nvSpPr>
          <p:cNvPr id="5" name="Footer Placeholder 4">
            <a:extLst>
              <a:ext uri="{FF2B5EF4-FFF2-40B4-BE49-F238E27FC236}">
                <a16:creationId xmlns:a16="http://schemas.microsoft.com/office/drawing/2014/main" id="{8170ADFE-AE0F-29A8-8E45-5EAC92DC08CF}"/>
              </a:ext>
            </a:extLst>
          </p:cNvPr>
          <p:cNvSpPr>
            <a:spLocks noGrp="1"/>
          </p:cNvSpPr>
          <p:nvPr>
            <p:ph type="ftr" sz="quarter" idx="11"/>
          </p:nvPr>
        </p:nvSpPr>
        <p:spPr/>
        <p:txBody>
          <a:bodyPr/>
          <a:lstStyle/>
          <a:p>
            <a:r>
              <a:rPr lang="en-US"/>
              <a:t>© Lean Horizons Consulting, LLC 2023. All Rights Reserved</a:t>
            </a:r>
          </a:p>
        </p:txBody>
      </p:sp>
      <p:sp>
        <p:nvSpPr>
          <p:cNvPr id="6" name="Slide Number Placeholder 5">
            <a:extLst>
              <a:ext uri="{FF2B5EF4-FFF2-40B4-BE49-F238E27FC236}">
                <a16:creationId xmlns:a16="http://schemas.microsoft.com/office/drawing/2014/main" id="{0D016257-E7A7-6B25-66A0-5082E129C70C}"/>
              </a:ext>
            </a:extLst>
          </p:cNvPr>
          <p:cNvSpPr>
            <a:spLocks noGrp="1"/>
          </p:cNvSpPr>
          <p:nvPr>
            <p:ph type="sldNum" sz="quarter" idx="12"/>
          </p:nvPr>
        </p:nvSpPr>
        <p:spPr/>
        <p:txBody>
          <a:bodyPr/>
          <a:lstStyle/>
          <a:p>
            <a:fld id="{2F84A206-C76B-7246-BC40-39ACD45B947D}" type="slidenum">
              <a:rPr lang="en-US" smtClean="0"/>
              <a:t>‹#›</a:t>
            </a:fld>
            <a:endParaRPr lang="en-US"/>
          </a:p>
        </p:txBody>
      </p:sp>
    </p:spTree>
    <p:extLst>
      <p:ext uri="{BB962C8B-B14F-4D97-AF65-F5344CB8AC3E}">
        <p14:creationId xmlns:p14="http://schemas.microsoft.com/office/powerpoint/2010/main" val="163527073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image" Target="../media/image1.jpg"/><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2.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2" Type="http://schemas.openxmlformats.org/officeDocument/2006/relationships/slideLayout" Target="../slideLayouts/slideLayout21.xml"/><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5" Type="http://schemas.openxmlformats.org/officeDocument/2006/relationships/image" Target="../media/image7.png"/><Relationship Id="rId10" Type="http://schemas.openxmlformats.org/officeDocument/2006/relationships/slideLayout" Target="../slideLayouts/slideLayout29.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FC7573B6-84E2-B075-59F6-13B735C1EA0C}"/>
              </a:ext>
            </a:extLst>
          </p:cNvPr>
          <p:cNvPicPr>
            <a:picLocks noChangeAspect="1"/>
          </p:cNvPicPr>
          <p:nvPr/>
        </p:nvPicPr>
        <p:blipFill>
          <a:blip r:embed="rId21"/>
          <a:srcRect/>
          <a:stretch/>
        </p:blipFill>
        <p:spPr>
          <a:xfrm>
            <a:off x="0" y="0"/>
            <a:ext cx="12188825" cy="6858000"/>
          </a:xfrm>
          <a:prstGeom prst="rect">
            <a:avLst/>
          </a:prstGeom>
        </p:spPr>
      </p:pic>
      <p:sp>
        <p:nvSpPr>
          <p:cNvPr id="2" name="Title Placeholder 1">
            <a:extLst>
              <a:ext uri="{FF2B5EF4-FFF2-40B4-BE49-F238E27FC236}">
                <a16:creationId xmlns:a16="http://schemas.microsoft.com/office/drawing/2014/main" id="{AF899C9A-A2FC-CD4A-1E66-538BA9DCD182}"/>
              </a:ext>
            </a:extLst>
          </p:cNvPr>
          <p:cNvSpPr>
            <a:spLocks noGrp="1"/>
          </p:cNvSpPr>
          <p:nvPr>
            <p:ph type="title"/>
          </p:nvPr>
        </p:nvSpPr>
        <p:spPr>
          <a:xfrm>
            <a:off x="837982" y="681038"/>
            <a:ext cx="10512862" cy="1009651"/>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F5BEC040-D756-ECEA-9BEA-816A77F6A3E3}"/>
              </a:ext>
            </a:extLst>
          </p:cNvPr>
          <p:cNvSpPr>
            <a:spLocks noGrp="1"/>
          </p:cNvSpPr>
          <p:nvPr>
            <p:ph type="body" idx="1"/>
          </p:nvPr>
        </p:nvSpPr>
        <p:spPr>
          <a:xfrm>
            <a:off x="837982" y="1825625"/>
            <a:ext cx="10512862"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Footer Placeholder 4">
            <a:extLst>
              <a:ext uri="{FF2B5EF4-FFF2-40B4-BE49-F238E27FC236}">
                <a16:creationId xmlns:a16="http://schemas.microsoft.com/office/drawing/2014/main" id="{147FBE5A-A705-EBC7-B685-FCD7518C6317}"/>
              </a:ext>
            </a:extLst>
          </p:cNvPr>
          <p:cNvSpPr>
            <a:spLocks noGrp="1"/>
          </p:cNvSpPr>
          <p:nvPr>
            <p:ph type="ftr" sz="quarter" idx="3"/>
          </p:nvPr>
        </p:nvSpPr>
        <p:spPr>
          <a:xfrm>
            <a:off x="4037549" y="6333150"/>
            <a:ext cx="4113728" cy="365125"/>
          </a:xfrm>
          <a:prstGeom prst="rect">
            <a:avLst/>
          </a:prstGeom>
        </p:spPr>
        <p:txBody>
          <a:bodyPr vert="horz" lIns="91440" tIns="45720" rIns="91440" bIns="45720" rtlCol="0" anchor="ctr"/>
          <a:lstStyle>
            <a:lvl1pPr algn="ctr">
              <a:defRPr sz="1000">
                <a:solidFill>
                  <a:schemeClr val="tx1"/>
                </a:solidFill>
              </a:defRPr>
            </a:lvl1p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0655B500-689F-3416-FFFA-6EFE369BF707}"/>
              </a:ext>
            </a:extLst>
          </p:cNvPr>
          <p:cNvSpPr>
            <a:spLocks noGrp="1"/>
          </p:cNvSpPr>
          <p:nvPr>
            <p:ph type="sldNum" sz="quarter" idx="4"/>
          </p:nvPr>
        </p:nvSpPr>
        <p:spPr>
          <a:xfrm>
            <a:off x="8592840" y="6333149"/>
            <a:ext cx="2742486" cy="365125"/>
          </a:xfrm>
          <a:prstGeom prst="rect">
            <a:avLst/>
          </a:prstGeom>
        </p:spPr>
        <p:txBody>
          <a:bodyPr vert="horz" lIns="91440" tIns="45720" rIns="91440" bIns="45720" rtlCol="0" anchor="ctr"/>
          <a:lstStyle>
            <a:lvl1pPr algn="r">
              <a:defRPr sz="1200">
                <a:solidFill>
                  <a:schemeClr val="tx1"/>
                </a:solidFill>
              </a:defRPr>
            </a:lvl1pPr>
          </a:lstStyle>
          <a:p>
            <a:fld id="{CC6D4273-7FC1-0947-B9FE-19CB3C0D1FB6}" type="slidenum">
              <a:rPr lang="en-US" smtClean="0"/>
              <a:pPr/>
              <a:t>‹#›</a:t>
            </a:fld>
            <a:endParaRPr lang="en-US" dirty="0"/>
          </a:p>
        </p:txBody>
      </p:sp>
      <p:pic>
        <p:nvPicPr>
          <p:cNvPr id="10" name="Picture 9" descr="Logo&#10;&#10;Description automatically generated">
            <a:extLst>
              <a:ext uri="{FF2B5EF4-FFF2-40B4-BE49-F238E27FC236}">
                <a16:creationId xmlns:a16="http://schemas.microsoft.com/office/drawing/2014/main" id="{83AB58F5-18C5-C368-94F4-CC4D543C8982}"/>
              </a:ext>
            </a:extLst>
          </p:cNvPr>
          <p:cNvPicPr>
            <a:picLocks noChangeAspect="1"/>
          </p:cNvPicPr>
          <p:nvPr/>
        </p:nvPicPr>
        <p:blipFill>
          <a:blip r:embed="rId22"/>
          <a:stretch>
            <a:fillRect/>
          </a:stretch>
        </p:blipFill>
        <p:spPr>
          <a:xfrm>
            <a:off x="10647373" y="311856"/>
            <a:ext cx="1375904" cy="275252"/>
          </a:xfrm>
          <a:prstGeom prst="rect">
            <a:avLst/>
          </a:prstGeom>
        </p:spPr>
      </p:pic>
      <p:cxnSp>
        <p:nvCxnSpPr>
          <p:cNvPr id="16" name="Straight Connector 15">
            <a:extLst>
              <a:ext uri="{FF2B5EF4-FFF2-40B4-BE49-F238E27FC236}">
                <a16:creationId xmlns:a16="http://schemas.microsoft.com/office/drawing/2014/main" id="{BFFEF531-ADF4-AB70-CB0F-227DD4FA1B4F}"/>
              </a:ext>
            </a:extLst>
          </p:cNvPr>
          <p:cNvCxnSpPr/>
          <p:nvPr/>
        </p:nvCxnSpPr>
        <p:spPr>
          <a:xfrm>
            <a:off x="837982" y="6382347"/>
            <a:ext cx="10512861" cy="2646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0F31A87F-83DC-D017-BED9-91288ECB0C02}"/>
              </a:ext>
            </a:extLst>
          </p:cNvPr>
          <p:cNvPicPr>
            <a:picLocks noChangeAspect="1"/>
          </p:cNvPicPr>
          <p:nvPr userDrawn="1"/>
        </p:nvPicPr>
        <p:blipFill>
          <a:blip r:embed="rId21"/>
          <a:srcRect/>
          <a:stretch/>
        </p:blipFill>
        <p:spPr>
          <a:xfrm>
            <a:off x="0" y="23189"/>
            <a:ext cx="12188825" cy="6858000"/>
          </a:xfrm>
          <a:prstGeom prst="rect">
            <a:avLst/>
          </a:prstGeom>
        </p:spPr>
      </p:pic>
      <p:cxnSp>
        <p:nvCxnSpPr>
          <p:cNvPr id="7" name="Straight Connector 6">
            <a:extLst>
              <a:ext uri="{FF2B5EF4-FFF2-40B4-BE49-F238E27FC236}">
                <a16:creationId xmlns:a16="http://schemas.microsoft.com/office/drawing/2014/main" id="{2AF187CE-AE59-B6D8-118B-BDF6471A192B}"/>
              </a:ext>
            </a:extLst>
          </p:cNvPr>
          <p:cNvCxnSpPr/>
          <p:nvPr userDrawn="1"/>
        </p:nvCxnSpPr>
        <p:spPr>
          <a:xfrm>
            <a:off x="838200" y="6382347"/>
            <a:ext cx="10515599"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602E890F-A3BB-A454-CC3A-9C26EE509623}"/>
              </a:ext>
            </a:extLst>
          </p:cNvPr>
          <p:cNvSpPr txBox="1"/>
          <p:nvPr userDrawn="1"/>
        </p:nvSpPr>
        <p:spPr>
          <a:xfrm>
            <a:off x="838200" y="6389310"/>
            <a:ext cx="4171934" cy="400110"/>
          </a:xfrm>
          <a:prstGeom prst="rect">
            <a:avLst/>
          </a:prstGeom>
          <a:noFill/>
        </p:spPr>
        <p:txBody>
          <a:bodyPr wrap="square" rtlCol="0">
            <a:spAutoFit/>
          </a:bodyPr>
          <a:lstStyle/>
          <a:p>
            <a:pPr algn="l"/>
            <a:r>
              <a:rPr lang="en-US" sz="1000" dirty="0"/>
              <a:t>VSM PRESENTATION ENG REV 6.0</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
        <p:nvSpPr>
          <p:cNvPr id="9" name="TextBox 8">
            <a:extLst>
              <a:ext uri="{FF2B5EF4-FFF2-40B4-BE49-F238E27FC236}">
                <a16:creationId xmlns:a16="http://schemas.microsoft.com/office/drawing/2014/main" id="{255DF37F-9F24-F0CD-D45F-9951338489EF}"/>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pic>
        <p:nvPicPr>
          <p:cNvPr id="11" name="Picture 10" descr="Logo&#10;&#10;Description automatically generated">
            <a:extLst>
              <a:ext uri="{FF2B5EF4-FFF2-40B4-BE49-F238E27FC236}">
                <a16:creationId xmlns:a16="http://schemas.microsoft.com/office/drawing/2014/main" id="{03E82508-C72D-4B1A-78FE-E744396895ED}"/>
              </a:ext>
            </a:extLst>
          </p:cNvPr>
          <p:cNvPicPr>
            <a:picLocks noChangeAspect="1"/>
          </p:cNvPicPr>
          <p:nvPr userDrawn="1"/>
        </p:nvPicPr>
        <p:blipFill>
          <a:blip r:embed="rId22"/>
          <a:stretch>
            <a:fillRect/>
          </a:stretch>
        </p:blipFill>
        <p:spPr>
          <a:xfrm>
            <a:off x="10650147" y="311856"/>
            <a:ext cx="1376262" cy="275252"/>
          </a:xfrm>
          <a:prstGeom prst="rect">
            <a:avLst/>
          </a:prstGeom>
        </p:spPr>
      </p:pic>
    </p:spTree>
    <p:extLst>
      <p:ext uri="{BB962C8B-B14F-4D97-AF65-F5344CB8AC3E}">
        <p14:creationId xmlns:p14="http://schemas.microsoft.com/office/powerpoint/2010/main" val="1919117827"/>
      </p:ext>
    </p:extLst>
  </p:cSld>
  <p:clrMap bg1="lt1" tx1="dk1" bg2="lt2" tx2="dk2" accent1="accent1" accent2="accent2" accent3="accent3" accent4="accent4" accent5="accent5" accent6="accent6" hlink="hlink" folHlink="folHlink"/>
  <p:sldLayoutIdLst>
    <p:sldLayoutId id="2147483692" r:id="rId1"/>
    <p:sldLayoutId id="2147483693" r:id="rId2"/>
    <p:sldLayoutId id="2147483694" r:id="rId3"/>
    <p:sldLayoutId id="2147483695" r:id="rId4"/>
    <p:sldLayoutId id="2147483696" r:id="rId5"/>
    <p:sldLayoutId id="2147483697" r:id="rId6"/>
    <p:sldLayoutId id="2147483698" r:id="rId7"/>
    <p:sldLayoutId id="2147483699" r:id="rId8"/>
    <p:sldLayoutId id="2147483700" r:id="rId9"/>
    <p:sldLayoutId id="2147483701" r:id="rId10"/>
    <p:sldLayoutId id="2147483702" r:id="rId11"/>
    <p:sldLayoutId id="2147483703" r:id="rId12"/>
    <p:sldLayoutId id="2147483704" r:id="rId13"/>
    <p:sldLayoutId id="2147483705" r:id="rId14"/>
    <p:sldLayoutId id="2147483706" r:id="rId15"/>
    <p:sldLayoutId id="2147483689" r:id="rId16"/>
    <p:sldLayoutId id="2147483685" r:id="rId17"/>
    <p:sldLayoutId id="2147483687" r:id="rId18"/>
    <p:sldLayoutId id="2147483690" r:id="rId19"/>
  </p:sldLayoutIdLst>
  <p:hf sldNum="0" hdr="0" ftr="0" dt="0"/>
  <p:txStyles>
    <p:titleStyle>
      <a:lvl1pPr algn="l" defTabSz="914126" rtl="0" eaLnBrk="1" latinLnBrk="0" hangingPunct="1">
        <a:lnSpc>
          <a:spcPct val="90000"/>
        </a:lnSpc>
        <a:spcBef>
          <a:spcPct val="0"/>
        </a:spcBef>
        <a:buNone/>
        <a:defRPr sz="4399"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p:titleStyle>
    <p:bodyStyle>
      <a:lvl1pPr marL="228531" indent="-228531" algn="l" defTabSz="914126" rtl="0" eaLnBrk="1" latinLnBrk="0" hangingPunct="1">
        <a:lnSpc>
          <a:spcPct val="90000"/>
        </a:lnSpc>
        <a:spcBef>
          <a:spcPts val="1000"/>
        </a:spcBef>
        <a:buFont typeface="Arial" panose="020B0604020202020204" pitchFamily="34" charset="0"/>
        <a:buChar char="•"/>
        <a:defRPr sz="2799"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594" indent="-228531" algn="l" defTabSz="914126" rtl="0" eaLnBrk="1" latinLnBrk="0" hangingPunct="1">
        <a:lnSpc>
          <a:spcPct val="90000"/>
        </a:lnSpc>
        <a:spcBef>
          <a:spcPts val="500"/>
        </a:spcBef>
        <a:buFont typeface="Arial" panose="020B0604020202020204" pitchFamily="34" charset="0"/>
        <a:buChar char="•"/>
        <a:defRPr sz="2399"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2657" indent="-228531" algn="l" defTabSz="914126" rtl="0" eaLnBrk="1" latinLnBrk="0" hangingPunct="1">
        <a:lnSpc>
          <a:spcPct val="90000"/>
        </a:lnSpc>
        <a:spcBef>
          <a:spcPts val="500"/>
        </a:spcBef>
        <a:buFont typeface="Arial" panose="020B0604020202020204" pitchFamily="34" charset="0"/>
        <a:buChar char="•"/>
        <a:defRPr sz="1999"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599720"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6783"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3846"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6pPr>
      <a:lvl7pPr marL="2970908"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7pPr>
      <a:lvl8pPr marL="3427971"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8pPr>
      <a:lvl9pPr marL="3885034"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9pPr>
    </p:bodyStyle>
    <p:otherStyle>
      <a:defPPr>
        <a:defRPr lang="en-US"/>
      </a:defPPr>
      <a:lvl1pPr marL="0" algn="l" defTabSz="914126" rtl="0" eaLnBrk="1" latinLnBrk="0" hangingPunct="1">
        <a:defRPr sz="1799" kern="1200">
          <a:solidFill>
            <a:schemeClr val="tx1"/>
          </a:solidFill>
          <a:latin typeface="+mn-lt"/>
          <a:ea typeface="+mn-ea"/>
          <a:cs typeface="+mn-cs"/>
        </a:defRPr>
      </a:lvl1pPr>
      <a:lvl2pPr marL="457063" algn="l" defTabSz="914126" rtl="0" eaLnBrk="1" latinLnBrk="0" hangingPunct="1">
        <a:defRPr sz="1799" kern="1200">
          <a:solidFill>
            <a:schemeClr val="tx1"/>
          </a:solidFill>
          <a:latin typeface="+mn-lt"/>
          <a:ea typeface="+mn-ea"/>
          <a:cs typeface="+mn-cs"/>
        </a:defRPr>
      </a:lvl2pPr>
      <a:lvl3pPr marL="914126" algn="l" defTabSz="914126" rtl="0" eaLnBrk="1" latinLnBrk="0" hangingPunct="1">
        <a:defRPr sz="1799" kern="1200">
          <a:solidFill>
            <a:schemeClr val="tx1"/>
          </a:solidFill>
          <a:latin typeface="+mn-lt"/>
          <a:ea typeface="+mn-ea"/>
          <a:cs typeface="+mn-cs"/>
        </a:defRPr>
      </a:lvl3pPr>
      <a:lvl4pPr marL="1371189" algn="l" defTabSz="914126" rtl="0" eaLnBrk="1" latinLnBrk="0" hangingPunct="1">
        <a:defRPr sz="1799" kern="1200">
          <a:solidFill>
            <a:schemeClr val="tx1"/>
          </a:solidFill>
          <a:latin typeface="+mn-lt"/>
          <a:ea typeface="+mn-ea"/>
          <a:cs typeface="+mn-cs"/>
        </a:defRPr>
      </a:lvl4pPr>
      <a:lvl5pPr marL="1828251" algn="l" defTabSz="914126" rtl="0" eaLnBrk="1" latinLnBrk="0" hangingPunct="1">
        <a:defRPr sz="1799" kern="1200">
          <a:solidFill>
            <a:schemeClr val="tx1"/>
          </a:solidFill>
          <a:latin typeface="+mn-lt"/>
          <a:ea typeface="+mn-ea"/>
          <a:cs typeface="+mn-cs"/>
        </a:defRPr>
      </a:lvl5pPr>
      <a:lvl6pPr marL="2285314" algn="l" defTabSz="914126" rtl="0" eaLnBrk="1" latinLnBrk="0" hangingPunct="1">
        <a:defRPr sz="1799" kern="1200">
          <a:solidFill>
            <a:schemeClr val="tx1"/>
          </a:solidFill>
          <a:latin typeface="+mn-lt"/>
          <a:ea typeface="+mn-ea"/>
          <a:cs typeface="+mn-cs"/>
        </a:defRPr>
      </a:lvl6pPr>
      <a:lvl7pPr marL="2742377" algn="l" defTabSz="914126" rtl="0" eaLnBrk="1" latinLnBrk="0" hangingPunct="1">
        <a:defRPr sz="1799" kern="1200">
          <a:solidFill>
            <a:schemeClr val="tx1"/>
          </a:solidFill>
          <a:latin typeface="+mn-lt"/>
          <a:ea typeface="+mn-ea"/>
          <a:cs typeface="+mn-cs"/>
        </a:defRPr>
      </a:lvl7pPr>
      <a:lvl8pPr marL="3199440" algn="l" defTabSz="914126" rtl="0" eaLnBrk="1" latinLnBrk="0" hangingPunct="1">
        <a:defRPr sz="1799" kern="1200">
          <a:solidFill>
            <a:schemeClr val="tx1"/>
          </a:solidFill>
          <a:latin typeface="+mn-lt"/>
          <a:ea typeface="+mn-ea"/>
          <a:cs typeface="+mn-cs"/>
        </a:defRPr>
      </a:lvl8pPr>
      <a:lvl9pPr marL="3656503" algn="l" defTabSz="914126" rtl="0" eaLnBrk="1" latinLnBrk="0" hangingPunct="1">
        <a:defRPr sz="1799"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8" name="Picture 7" descr="Shape, rectangle&#10;&#10;Description automatically generated">
            <a:extLst>
              <a:ext uri="{FF2B5EF4-FFF2-40B4-BE49-F238E27FC236}">
                <a16:creationId xmlns:a16="http://schemas.microsoft.com/office/drawing/2014/main" id="{5EB68655-2B5D-4914-06F4-EEE57B91E852}"/>
              </a:ext>
            </a:extLst>
          </p:cNvPr>
          <p:cNvPicPr>
            <a:picLocks noChangeAspect="1"/>
          </p:cNvPicPr>
          <p:nvPr/>
        </p:nvPicPr>
        <p:blipFill>
          <a:blip r:embed="rId15"/>
          <a:stretch>
            <a:fillRect/>
          </a:stretch>
        </p:blipFill>
        <p:spPr>
          <a:xfrm>
            <a:off x="0" y="27764"/>
            <a:ext cx="12188825" cy="6858000"/>
          </a:xfrm>
          <a:prstGeom prst="rect">
            <a:avLst/>
          </a:prstGeom>
        </p:spPr>
      </p:pic>
      <p:sp>
        <p:nvSpPr>
          <p:cNvPr id="2" name="Title Placeholder 1">
            <a:extLst>
              <a:ext uri="{FF2B5EF4-FFF2-40B4-BE49-F238E27FC236}">
                <a16:creationId xmlns:a16="http://schemas.microsoft.com/office/drawing/2014/main" id="{5709625D-D51A-2881-A3FF-7BD1D0F7AFF4}"/>
              </a:ext>
            </a:extLst>
          </p:cNvPr>
          <p:cNvSpPr>
            <a:spLocks noGrp="1"/>
          </p:cNvSpPr>
          <p:nvPr>
            <p:ph type="title"/>
          </p:nvPr>
        </p:nvSpPr>
        <p:spPr>
          <a:xfrm>
            <a:off x="837982" y="611617"/>
            <a:ext cx="10512862"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5E69FCC6-7E83-5F90-FCEA-ABDCB794127D}"/>
              </a:ext>
            </a:extLst>
          </p:cNvPr>
          <p:cNvSpPr>
            <a:spLocks noGrp="1"/>
          </p:cNvSpPr>
          <p:nvPr>
            <p:ph type="body" idx="1"/>
          </p:nvPr>
        </p:nvSpPr>
        <p:spPr>
          <a:xfrm>
            <a:off x="837982" y="1825625"/>
            <a:ext cx="10512862"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45FBE107-31AD-D06F-AC42-0D2085805ED6}"/>
              </a:ext>
            </a:extLst>
          </p:cNvPr>
          <p:cNvSpPr>
            <a:spLocks noGrp="1"/>
          </p:cNvSpPr>
          <p:nvPr>
            <p:ph type="dt" sz="half" idx="2"/>
          </p:nvPr>
        </p:nvSpPr>
        <p:spPr>
          <a:xfrm>
            <a:off x="837982" y="6465112"/>
            <a:ext cx="2742486" cy="365125"/>
          </a:xfrm>
          <a:prstGeom prst="rect">
            <a:avLst/>
          </a:prstGeom>
        </p:spPr>
        <p:txBody>
          <a:bodyPr vert="horz" lIns="91440" tIns="45720" rIns="91440" bIns="45720" rtlCol="0" anchor="ctr"/>
          <a:lstStyle>
            <a:lvl1pPr algn="l">
              <a:defRPr sz="1200">
                <a:solidFill>
                  <a:schemeClr val="bg1"/>
                </a:solidFill>
              </a:defRPr>
            </a:lvl1pPr>
          </a:lstStyle>
          <a:p>
            <a:r>
              <a:rPr lang="en-US"/>
              <a:t>ADMIN INTRO PRESENTATION_2 HOUR ENG REV4.0</a:t>
            </a:r>
            <a:endParaRPr lang="en-US" dirty="0"/>
          </a:p>
        </p:txBody>
      </p:sp>
      <p:sp>
        <p:nvSpPr>
          <p:cNvPr id="5" name="Footer Placeholder 4">
            <a:extLst>
              <a:ext uri="{FF2B5EF4-FFF2-40B4-BE49-F238E27FC236}">
                <a16:creationId xmlns:a16="http://schemas.microsoft.com/office/drawing/2014/main" id="{8DC49212-B3BA-8424-73B5-9532C98F8F66}"/>
              </a:ext>
            </a:extLst>
          </p:cNvPr>
          <p:cNvSpPr>
            <a:spLocks noGrp="1"/>
          </p:cNvSpPr>
          <p:nvPr>
            <p:ph type="ftr" sz="quarter" idx="3"/>
          </p:nvPr>
        </p:nvSpPr>
        <p:spPr>
          <a:xfrm>
            <a:off x="4037549" y="6490605"/>
            <a:ext cx="4113728" cy="365125"/>
          </a:xfrm>
          <a:prstGeom prst="rect">
            <a:avLst/>
          </a:prstGeom>
        </p:spPr>
        <p:txBody>
          <a:bodyPr vert="horz" lIns="91440" tIns="45720" rIns="91440" bIns="45720" rtlCol="0" anchor="ctr"/>
          <a:lstStyle>
            <a:lvl1pPr algn="ctr">
              <a:defRPr sz="1200">
                <a:solidFill>
                  <a:schemeClr val="bg1"/>
                </a:solidFill>
              </a:defRPr>
            </a:lvl1pPr>
          </a:lstStyle>
          <a:p>
            <a:r>
              <a:rPr lang="en-US"/>
              <a:t>© Lean Horizons Consulting, LLC 2023. All Rights Reserved</a:t>
            </a:r>
            <a:endParaRPr lang="en-US" dirty="0"/>
          </a:p>
        </p:txBody>
      </p:sp>
      <p:sp>
        <p:nvSpPr>
          <p:cNvPr id="6" name="Slide Number Placeholder 5">
            <a:extLst>
              <a:ext uri="{FF2B5EF4-FFF2-40B4-BE49-F238E27FC236}">
                <a16:creationId xmlns:a16="http://schemas.microsoft.com/office/drawing/2014/main" id="{8478A42D-C625-020F-9348-40409F8E81BA}"/>
              </a:ext>
            </a:extLst>
          </p:cNvPr>
          <p:cNvSpPr>
            <a:spLocks noGrp="1"/>
          </p:cNvSpPr>
          <p:nvPr>
            <p:ph type="sldNum" sz="quarter" idx="4"/>
          </p:nvPr>
        </p:nvSpPr>
        <p:spPr>
          <a:xfrm>
            <a:off x="8608357" y="6467134"/>
            <a:ext cx="2742486" cy="365125"/>
          </a:xfrm>
          <a:prstGeom prst="rect">
            <a:avLst/>
          </a:prstGeom>
        </p:spPr>
        <p:txBody>
          <a:bodyPr vert="horz" lIns="91440" tIns="45720" rIns="91440" bIns="45720" rtlCol="0" anchor="ctr"/>
          <a:lstStyle>
            <a:lvl1pPr algn="r">
              <a:defRPr sz="1200">
                <a:solidFill>
                  <a:schemeClr val="bg1"/>
                </a:solidFill>
              </a:defRPr>
            </a:lvl1pPr>
          </a:lstStyle>
          <a:p>
            <a:fld id="{2F84A206-C76B-7246-BC40-39ACD45B947D}" type="slidenum">
              <a:rPr lang="en-US" smtClean="0"/>
              <a:pPr/>
              <a:t>‹#›</a:t>
            </a:fld>
            <a:endParaRPr lang="en-US" dirty="0"/>
          </a:p>
        </p:txBody>
      </p:sp>
      <p:pic>
        <p:nvPicPr>
          <p:cNvPr id="7" name="Picture 6" descr="Logo&#10;&#10;Description automatically generated">
            <a:extLst>
              <a:ext uri="{FF2B5EF4-FFF2-40B4-BE49-F238E27FC236}">
                <a16:creationId xmlns:a16="http://schemas.microsoft.com/office/drawing/2014/main" id="{BEA1B394-3161-CE28-8246-D8944DC8D3E2}"/>
              </a:ext>
            </a:extLst>
          </p:cNvPr>
          <p:cNvPicPr>
            <a:picLocks noChangeAspect="1"/>
          </p:cNvPicPr>
          <p:nvPr/>
        </p:nvPicPr>
        <p:blipFill>
          <a:blip r:embed="rId16"/>
          <a:stretch>
            <a:fillRect/>
          </a:stretch>
        </p:blipFill>
        <p:spPr>
          <a:xfrm>
            <a:off x="10163132" y="6031972"/>
            <a:ext cx="1825150" cy="365125"/>
          </a:xfrm>
          <a:prstGeom prst="rect">
            <a:avLst/>
          </a:prstGeom>
        </p:spPr>
      </p:pic>
    </p:spTree>
    <p:extLst>
      <p:ext uri="{BB962C8B-B14F-4D97-AF65-F5344CB8AC3E}">
        <p14:creationId xmlns:p14="http://schemas.microsoft.com/office/powerpoint/2010/main" val="3901145921"/>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Lst>
  <p:hf hdr="0" dt="0"/>
  <p:txStyles>
    <p:titleStyle>
      <a:lvl1pPr algn="l" defTabSz="914126" rtl="0" eaLnBrk="1" latinLnBrk="0" hangingPunct="1">
        <a:lnSpc>
          <a:spcPct val="90000"/>
        </a:lnSpc>
        <a:spcBef>
          <a:spcPct val="0"/>
        </a:spcBef>
        <a:buNone/>
        <a:defRPr sz="4399" kern="1200">
          <a:solidFill>
            <a:schemeClr val="tx1"/>
          </a:solidFill>
          <a:latin typeface="Baskerville" panose="02020502070401020303" pitchFamily="18" charset="0"/>
          <a:ea typeface="Baskerville" panose="02020502070401020303" pitchFamily="18" charset="0"/>
          <a:cs typeface="+mj-cs"/>
        </a:defRPr>
      </a:lvl1pPr>
    </p:titleStyle>
    <p:bodyStyle>
      <a:lvl1pPr marL="228531" indent="-228531" algn="l" defTabSz="914126" rtl="0" eaLnBrk="1" latinLnBrk="0" hangingPunct="1">
        <a:lnSpc>
          <a:spcPct val="90000"/>
        </a:lnSpc>
        <a:spcBef>
          <a:spcPts val="1000"/>
        </a:spcBef>
        <a:buFont typeface="Arial" panose="020B0604020202020204" pitchFamily="34" charset="0"/>
        <a:buChar char="•"/>
        <a:defRPr sz="2799"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594" indent="-228531" algn="l" defTabSz="914126" rtl="0" eaLnBrk="1" latinLnBrk="0" hangingPunct="1">
        <a:lnSpc>
          <a:spcPct val="90000"/>
        </a:lnSpc>
        <a:spcBef>
          <a:spcPts val="500"/>
        </a:spcBef>
        <a:buFont typeface="Arial" panose="020B0604020202020204" pitchFamily="34" charset="0"/>
        <a:buChar char="•"/>
        <a:defRPr sz="2399"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2657" indent="-228531" algn="l" defTabSz="914126" rtl="0" eaLnBrk="1" latinLnBrk="0" hangingPunct="1">
        <a:lnSpc>
          <a:spcPct val="90000"/>
        </a:lnSpc>
        <a:spcBef>
          <a:spcPts val="500"/>
        </a:spcBef>
        <a:buFont typeface="Arial" panose="020B0604020202020204" pitchFamily="34" charset="0"/>
        <a:buChar char="•"/>
        <a:defRPr sz="1999"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599720"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6783"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3846"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6pPr>
      <a:lvl7pPr marL="2970908"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7pPr>
      <a:lvl8pPr marL="3427971"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8pPr>
      <a:lvl9pPr marL="3885034"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9pPr>
    </p:bodyStyle>
    <p:otherStyle>
      <a:defPPr>
        <a:defRPr lang="en-US"/>
      </a:defPPr>
      <a:lvl1pPr marL="0" algn="l" defTabSz="914126" rtl="0" eaLnBrk="1" latinLnBrk="0" hangingPunct="1">
        <a:defRPr sz="1799" kern="1200">
          <a:solidFill>
            <a:schemeClr val="tx1"/>
          </a:solidFill>
          <a:latin typeface="+mn-lt"/>
          <a:ea typeface="+mn-ea"/>
          <a:cs typeface="+mn-cs"/>
        </a:defRPr>
      </a:lvl1pPr>
      <a:lvl2pPr marL="457063" algn="l" defTabSz="914126" rtl="0" eaLnBrk="1" latinLnBrk="0" hangingPunct="1">
        <a:defRPr sz="1799" kern="1200">
          <a:solidFill>
            <a:schemeClr val="tx1"/>
          </a:solidFill>
          <a:latin typeface="+mn-lt"/>
          <a:ea typeface="+mn-ea"/>
          <a:cs typeface="+mn-cs"/>
        </a:defRPr>
      </a:lvl2pPr>
      <a:lvl3pPr marL="914126" algn="l" defTabSz="914126" rtl="0" eaLnBrk="1" latinLnBrk="0" hangingPunct="1">
        <a:defRPr sz="1799" kern="1200">
          <a:solidFill>
            <a:schemeClr val="tx1"/>
          </a:solidFill>
          <a:latin typeface="+mn-lt"/>
          <a:ea typeface="+mn-ea"/>
          <a:cs typeface="+mn-cs"/>
        </a:defRPr>
      </a:lvl3pPr>
      <a:lvl4pPr marL="1371189" algn="l" defTabSz="914126" rtl="0" eaLnBrk="1" latinLnBrk="0" hangingPunct="1">
        <a:defRPr sz="1799" kern="1200">
          <a:solidFill>
            <a:schemeClr val="tx1"/>
          </a:solidFill>
          <a:latin typeface="+mn-lt"/>
          <a:ea typeface="+mn-ea"/>
          <a:cs typeface="+mn-cs"/>
        </a:defRPr>
      </a:lvl4pPr>
      <a:lvl5pPr marL="1828251" algn="l" defTabSz="914126" rtl="0" eaLnBrk="1" latinLnBrk="0" hangingPunct="1">
        <a:defRPr sz="1799" kern="1200">
          <a:solidFill>
            <a:schemeClr val="tx1"/>
          </a:solidFill>
          <a:latin typeface="+mn-lt"/>
          <a:ea typeface="+mn-ea"/>
          <a:cs typeface="+mn-cs"/>
        </a:defRPr>
      </a:lvl5pPr>
      <a:lvl6pPr marL="2285314" algn="l" defTabSz="914126" rtl="0" eaLnBrk="1" latinLnBrk="0" hangingPunct="1">
        <a:defRPr sz="1799" kern="1200">
          <a:solidFill>
            <a:schemeClr val="tx1"/>
          </a:solidFill>
          <a:latin typeface="+mn-lt"/>
          <a:ea typeface="+mn-ea"/>
          <a:cs typeface="+mn-cs"/>
        </a:defRPr>
      </a:lvl6pPr>
      <a:lvl7pPr marL="2742377" algn="l" defTabSz="914126" rtl="0" eaLnBrk="1" latinLnBrk="0" hangingPunct="1">
        <a:defRPr sz="1799" kern="1200">
          <a:solidFill>
            <a:schemeClr val="tx1"/>
          </a:solidFill>
          <a:latin typeface="+mn-lt"/>
          <a:ea typeface="+mn-ea"/>
          <a:cs typeface="+mn-cs"/>
        </a:defRPr>
      </a:lvl7pPr>
      <a:lvl8pPr marL="3199440" algn="l" defTabSz="914126" rtl="0" eaLnBrk="1" latinLnBrk="0" hangingPunct="1">
        <a:defRPr sz="1799" kern="1200">
          <a:solidFill>
            <a:schemeClr val="tx1"/>
          </a:solidFill>
          <a:latin typeface="+mn-lt"/>
          <a:ea typeface="+mn-ea"/>
          <a:cs typeface="+mn-cs"/>
        </a:defRPr>
      </a:lvl8pPr>
      <a:lvl9pPr marL="3656503" algn="l" defTabSz="914126" rtl="0" eaLnBrk="1" latinLnBrk="0" hangingPunct="1">
        <a:defRPr sz="1799"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xml"/><Relationship Id="rId4" Type="http://schemas.openxmlformats.org/officeDocument/2006/relationships/image" Target="../media/image4.emf"/></Relationships>
</file>

<file path=ppt/slides/_rels/slide2.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3" Type="http://schemas.microsoft.com/office/2018/10/relationships/comments" Target="../comments/modernComment_21B_340E2660.xml"/><Relationship Id="rId2" Type="http://schemas.openxmlformats.org/officeDocument/2006/relationships/notesSlide" Target="../notesSlides/notesSlide46.xml"/><Relationship Id="rId1" Type="http://schemas.openxmlformats.org/officeDocument/2006/relationships/slideLayout" Target="../slideLayouts/slideLayout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3" Type="http://schemas.microsoft.com/office/2018/10/relationships/comments" Target="../comments/modernComment_1A2_20B2820E.xml"/><Relationship Id="rId2" Type="http://schemas.openxmlformats.org/officeDocument/2006/relationships/notesSlide" Target="../notesSlides/notesSlide54.xml"/><Relationship Id="rId1" Type="http://schemas.openxmlformats.org/officeDocument/2006/relationships/slideLayout" Target="../slideLayouts/slideLayout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9.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9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8.xml"/><Relationship Id="rId1" Type="http://schemas.openxmlformats.org/officeDocument/2006/relationships/slideLayout" Target="../slideLayouts/slideLayout9.xml"/><Relationship Id="rId4" Type="http://schemas.openxmlformats.org/officeDocument/2006/relationships/image" Target="../media/image14.svg"/></Relationships>
</file>

<file path=ppt/slides/_rels/slide9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9.xml"/><Relationship Id="rId1" Type="http://schemas.openxmlformats.org/officeDocument/2006/relationships/slideLayout" Target="../slideLayouts/slideLayout9.xml"/><Relationship Id="rId4" Type="http://schemas.openxmlformats.org/officeDocument/2006/relationships/image" Target="../media/image16.sv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3.xml"/><Relationship Id="rId1" Type="http://schemas.openxmlformats.org/officeDocument/2006/relationships/slideLayout" Target="../slideLayouts/slideLayout9.xml"/><Relationship Id="rId4" Type="http://schemas.openxmlformats.org/officeDocument/2006/relationships/image" Target="../media/image18.svg"/></Relationships>
</file>

<file path=ppt/slides/_rels/slide10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04.xml"/><Relationship Id="rId1" Type="http://schemas.openxmlformats.org/officeDocument/2006/relationships/slideLayout" Target="../slideLayouts/slideLayout9.xml"/><Relationship Id="rId4" Type="http://schemas.openxmlformats.org/officeDocument/2006/relationships/image" Target="../media/image20.svg"/></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14.xml"/><Relationship Id="rId1" Type="http://schemas.openxmlformats.org/officeDocument/2006/relationships/slideLayout" Target="../slideLayouts/slideLayout9.xml"/><Relationship Id="rId5" Type="http://schemas.openxmlformats.org/officeDocument/2006/relationships/image" Target="../media/image23.svg"/><Relationship Id="rId4" Type="http://schemas.openxmlformats.org/officeDocument/2006/relationships/image" Target="../media/image22.svg"/></Relationships>
</file>

<file path=ppt/slides/_rels/slide1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15.xml"/><Relationship Id="rId1" Type="http://schemas.openxmlformats.org/officeDocument/2006/relationships/slideLayout" Target="../slideLayouts/slideLayout9.xml"/><Relationship Id="rId5" Type="http://schemas.openxmlformats.org/officeDocument/2006/relationships/image" Target="../media/image23.svg"/><Relationship Id="rId4" Type="http://schemas.openxmlformats.org/officeDocument/2006/relationships/image" Target="../media/image22.svg"/></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8.xml"/><Relationship Id="rId1" Type="http://schemas.openxmlformats.org/officeDocument/2006/relationships/slideLayout" Target="../slideLayouts/slideLayout9.xml"/><Relationship Id="rId4" Type="http://schemas.openxmlformats.org/officeDocument/2006/relationships/image" Target="../media/image25.svg"/></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9.xml"/></Relationships>
</file>

<file path=ppt/slides/_rels/slide12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0.xml"/><Relationship Id="rId1" Type="http://schemas.openxmlformats.org/officeDocument/2006/relationships/slideLayout" Target="../slideLayouts/slideLayout9.xml"/><Relationship Id="rId4" Type="http://schemas.openxmlformats.org/officeDocument/2006/relationships/image" Target="../media/image18.svg"/></Relationships>
</file>

<file path=ppt/slides/_rels/slide12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1.xml"/><Relationship Id="rId1" Type="http://schemas.openxmlformats.org/officeDocument/2006/relationships/slideLayout" Target="../slideLayouts/slideLayout9.xml"/><Relationship Id="rId4" Type="http://schemas.openxmlformats.org/officeDocument/2006/relationships/image" Target="../media/image18.svg"/></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3.xml"/><Relationship Id="rId1" Type="http://schemas.openxmlformats.org/officeDocument/2006/relationships/slideLayout" Target="../slideLayouts/slideLayout9.xml"/><Relationship Id="rId4" Type="http://schemas.openxmlformats.org/officeDocument/2006/relationships/image" Target="../media/image26.svg"/></Relationships>
</file>

<file path=ppt/slides/_rels/slide1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4.xml"/><Relationship Id="rId1" Type="http://schemas.openxmlformats.org/officeDocument/2006/relationships/slideLayout" Target="../slideLayouts/slideLayout9.xml"/><Relationship Id="rId4" Type="http://schemas.openxmlformats.org/officeDocument/2006/relationships/image" Target="../media/image26.svg"/></Relationships>
</file>

<file path=ppt/slides/_rels/slide1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5.xml"/><Relationship Id="rId1" Type="http://schemas.openxmlformats.org/officeDocument/2006/relationships/slideLayout" Target="../slideLayouts/slideLayout9.xml"/><Relationship Id="rId4" Type="http://schemas.openxmlformats.org/officeDocument/2006/relationships/image" Target="../media/image26.svg"/></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7.xml"/><Relationship Id="rId1" Type="http://schemas.openxmlformats.org/officeDocument/2006/relationships/slideLayout" Target="../slideLayouts/slideLayout9.xml"/><Relationship Id="rId4" Type="http://schemas.openxmlformats.org/officeDocument/2006/relationships/image" Target="../media/image26.svg"/></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9.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9.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9.xml"/></Relationships>
</file>

<file path=ppt/slides/_rels/slide1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5.xml"/><Relationship Id="rId1" Type="http://schemas.openxmlformats.org/officeDocument/2006/relationships/slideLayout" Target="../slideLayouts/slideLayout9.xml"/><Relationship Id="rId4" Type="http://schemas.openxmlformats.org/officeDocument/2006/relationships/image" Target="../media/image26.svg"/></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9.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9.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9.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9.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9.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9.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9.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9.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9.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9.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9.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57.xml"/><Relationship Id="rId1" Type="http://schemas.openxmlformats.org/officeDocument/2006/relationships/slideLayout" Target="../slideLayouts/slideLayout9.xml"/><Relationship Id="rId4" Type="http://schemas.openxmlformats.org/officeDocument/2006/relationships/image" Target="../media/image28.jpeg"/></Relationships>
</file>

<file path=ppt/slides/_rels/slide158.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58.xml"/><Relationship Id="rId1" Type="http://schemas.openxmlformats.org/officeDocument/2006/relationships/slideLayout" Target="../slideLayouts/slideLayout9.xml"/></Relationships>
</file>

<file path=ppt/slides/_rels/slide159.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159.xml"/><Relationship Id="rId1" Type="http://schemas.openxmlformats.org/officeDocument/2006/relationships/slideLayout" Target="../slideLayouts/slideLayout9.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5.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9.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9.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9.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9.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9.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4.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10.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5.xml"/></Relationships>
</file>

<file path=ppt/slides/_rels/slide170.xml.rels><?xml version="1.0" encoding="UTF-8" standalone="yes"?>
<Relationships xmlns="http://schemas.openxmlformats.org/package/2006/relationships"><Relationship Id="rId3" Type="http://schemas.openxmlformats.org/officeDocument/2006/relationships/notesSlide" Target="../notesSlides/notesSlide170.xml"/><Relationship Id="rId2" Type="http://schemas.openxmlformats.org/officeDocument/2006/relationships/slideLayout" Target="../slideLayouts/slideLayout10.xml"/><Relationship Id="rId1" Type="http://schemas.openxmlformats.org/officeDocument/2006/relationships/tags" Target="../tags/tag3.xml"/></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171.xml"/><Relationship Id="rId2" Type="http://schemas.openxmlformats.org/officeDocument/2006/relationships/slideLayout" Target="../slideLayouts/slideLayout10.xml"/><Relationship Id="rId1" Type="http://schemas.openxmlformats.org/officeDocument/2006/relationships/tags" Target="../tags/tag4.xml"/></Relationships>
</file>

<file path=ppt/slides/_rels/slide1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72.xml"/><Relationship Id="rId1" Type="http://schemas.openxmlformats.org/officeDocument/2006/relationships/slideLayout" Target="../slideLayouts/slideLayout10.xml"/><Relationship Id="rId4" Type="http://schemas.openxmlformats.org/officeDocument/2006/relationships/image" Target="../media/image11.gif"/></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9B60FA6-6E24-C6E2-C35D-A4139BCE2E8B}"/>
              </a:ext>
            </a:extLst>
          </p:cNvPr>
          <p:cNvPicPr>
            <a:picLocks noChangeAspect="1"/>
          </p:cNvPicPr>
          <p:nvPr/>
        </p:nvPicPr>
        <p:blipFill>
          <a:blip r:embed="rId4"/>
          <a:stretch>
            <a:fillRect/>
          </a:stretch>
        </p:blipFill>
        <p:spPr>
          <a:xfrm>
            <a:off x="4746692" y="4845823"/>
            <a:ext cx="2695436" cy="45707"/>
          </a:xfrm>
          <a:prstGeom prst="rect">
            <a:avLst/>
          </a:prstGeom>
        </p:spPr>
      </p:pic>
      <p:sp>
        <p:nvSpPr>
          <p:cNvPr id="5" name="TextBox 4">
            <a:extLst>
              <a:ext uri="{FF2B5EF4-FFF2-40B4-BE49-F238E27FC236}">
                <a16:creationId xmlns:a16="http://schemas.microsoft.com/office/drawing/2014/main" id="{0BF4BEED-3D12-D343-768A-9E83F9558AE0}"/>
              </a:ext>
            </a:extLst>
          </p:cNvPr>
          <p:cNvSpPr txBox="1"/>
          <p:nvPr/>
        </p:nvSpPr>
        <p:spPr>
          <a:xfrm>
            <a:off x="668420" y="4138122"/>
            <a:ext cx="10743859" cy="646203"/>
          </a:xfrm>
          <a:prstGeom prst="rect">
            <a:avLst/>
          </a:prstGeom>
          <a:noFill/>
        </p:spPr>
        <p:txBody>
          <a:bodyPr wrap="square" rtlCol="0">
            <a:spAutoFit/>
          </a:bodyPr>
          <a:lstStyle/>
          <a:p>
            <a:pPr algn="ctr"/>
            <a:r>
              <a:rPr lang="en-US" sz="3599" dirty="0">
                <a:latin typeface="Roboto" panose="02000000000000000000" pitchFamily="2" charset="0"/>
                <a:ea typeface="Roboto" panose="02000000000000000000" pitchFamily="2" charset="0"/>
                <a:cs typeface="Roboto" panose="02000000000000000000" pitchFamily="2" charset="0"/>
              </a:rPr>
              <a:t>Value Stream Mapping</a:t>
            </a:r>
          </a:p>
        </p:txBody>
      </p:sp>
    </p:spTree>
    <p:custDataLst>
      <p:tags r:id="rId1"/>
    </p:custDataLst>
    <p:extLst>
      <p:ext uri="{BB962C8B-B14F-4D97-AF65-F5344CB8AC3E}">
        <p14:creationId xmlns:p14="http://schemas.microsoft.com/office/powerpoint/2010/main" val="5527953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92DCF-BAB1-5F2B-601F-3334D8ECE687}"/>
              </a:ext>
            </a:extLst>
          </p:cNvPr>
          <p:cNvSpPr>
            <a:spLocks noGrp="1"/>
          </p:cNvSpPr>
          <p:nvPr>
            <p:ph type="title"/>
          </p:nvPr>
        </p:nvSpPr>
        <p:spPr/>
        <p:txBody>
          <a:bodyPr/>
          <a:lstStyle/>
          <a:p>
            <a:r>
              <a:rPr lang="en-US" dirty="0"/>
              <a:t>Other Modules In This Series</a:t>
            </a:r>
          </a:p>
        </p:txBody>
      </p:sp>
      <p:sp>
        <p:nvSpPr>
          <p:cNvPr id="3" name="Content Placeholder 3">
            <a:extLst>
              <a:ext uri="{FF2B5EF4-FFF2-40B4-BE49-F238E27FC236}">
                <a16:creationId xmlns:a16="http://schemas.microsoft.com/office/drawing/2014/main" id="{2DE22F5B-0ED7-9B1A-A260-C714A06F6D8D}"/>
              </a:ext>
            </a:extLst>
          </p:cNvPr>
          <p:cNvSpPr txBox="1">
            <a:spLocks/>
          </p:cNvSpPr>
          <p:nvPr/>
        </p:nvSpPr>
        <p:spPr>
          <a:xfrm>
            <a:off x="5962965" y="1684663"/>
            <a:ext cx="5156444" cy="368362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Administrative Lean</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CEDAC</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Value Stream Mapping (</a:t>
            </a:r>
            <a:r>
              <a:rPr lang="en-US" sz="1400" dirty="0" err="1">
                <a:solidFill>
                  <a:schemeClr val="tx1"/>
                </a:solidFill>
              </a:rPr>
              <a:t>VSMi</a:t>
            </a:r>
            <a:r>
              <a:rPr lang="en-US" sz="1400" dirty="0">
                <a:solidFill>
                  <a:schemeClr val="tx1"/>
                </a:solidFill>
              </a:rPr>
              <a:t>®)</a:t>
            </a:r>
          </a:p>
          <a:p>
            <a:pPr marL="0" indent="0" algn="r">
              <a:buNone/>
            </a:pPr>
            <a:r>
              <a:rPr lang="en-US" sz="1400" dirty="0">
                <a:solidFill>
                  <a:schemeClr val="tx1"/>
                </a:solidFill>
              </a:rPr>
              <a:t>Visual Management</a:t>
            </a:r>
          </a:p>
          <a:p>
            <a:pPr marL="0" indent="0" algn="r">
              <a:buNone/>
            </a:pPr>
            <a:endParaRPr lang="en-US" sz="1400" dirty="0">
              <a:solidFill>
                <a:schemeClr val="tx1"/>
              </a:solidFill>
            </a:endParaRPr>
          </a:p>
        </p:txBody>
      </p:sp>
      <p:sp>
        <p:nvSpPr>
          <p:cNvPr id="4" name="Steve Jones">
            <a:extLst>
              <a:ext uri="{FF2B5EF4-FFF2-40B4-BE49-F238E27FC236}">
                <a16:creationId xmlns:a16="http://schemas.microsoft.com/office/drawing/2014/main" id="{B6676899-EC75-8920-F33D-CCD7B872A3C8}"/>
              </a:ext>
            </a:extLst>
          </p:cNvPr>
          <p:cNvSpPr/>
          <p:nvPr/>
        </p:nvSpPr>
        <p:spPr>
          <a:xfrm>
            <a:off x="1069416" y="4201489"/>
            <a:ext cx="3474405" cy="19897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5" name="Head of Management Dept.">
            <a:extLst>
              <a:ext uri="{FF2B5EF4-FFF2-40B4-BE49-F238E27FC236}">
                <a16:creationId xmlns:a16="http://schemas.microsoft.com/office/drawing/2014/main" id="{FED8FB5A-94EA-4A6F-1D86-3986B231E3C4}"/>
              </a:ext>
            </a:extLst>
          </p:cNvPr>
          <p:cNvSpPr/>
          <p:nvPr/>
        </p:nvSpPr>
        <p:spPr>
          <a:xfrm>
            <a:off x="1367018" y="4590590"/>
            <a:ext cx="2879198" cy="837960"/>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lvl1pPr defTabSz="1155700">
              <a:defRPr sz="3000">
                <a:solidFill>
                  <a:srgbClr val="5D616E"/>
                </a:solidFill>
              </a:defRPr>
            </a:lvl1pPr>
          </a:lstStyle>
          <a:p>
            <a:pP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6" name="TextBox 5">
            <a:extLst>
              <a:ext uri="{FF2B5EF4-FFF2-40B4-BE49-F238E27FC236}">
                <a16:creationId xmlns:a16="http://schemas.microsoft.com/office/drawing/2014/main" id="{527FEA71-DF2A-69B2-6339-1972E08AA96C}"/>
              </a:ext>
            </a:extLst>
          </p:cNvPr>
          <p:cNvSpPr txBox="1"/>
          <p:nvPr/>
        </p:nvSpPr>
        <p:spPr>
          <a:xfrm>
            <a:off x="6289" y="5618674"/>
            <a:ext cx="5600656" cy="26641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pic>
        <p:nvPicPr>
          <p:cNvPr id="7" name="Picture 6">
            <a:extLst>
              <a:ext uri="{FF2B5EF4-FFF2-40B4-BE49-F238E27FC236}">
                <a16:creationId xmlns:a16="http://schemas.microsoft.com/office/drawing/2014/main" id="{D567D265-DBA4-640B-F70C-E345C90358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9824" y="2039633"/>
            <a:ext cx="2944659" cy="1753708"/>
          </a:xfrm>
          <a:prstGeom prst="rect">
            <a:avLst/>
          </a:prstGeom>
        </p:spPr>
      </p:pic>
      <p:sp>
        <p:nvSpPr>
          <p:cNvPr id="9" name="Slide Number Placeholder 2">
            <a:extLst>
              <a:ext uri="{FF2B5EF4-FFF2-40B4-BE49-F238E27FC236}">
                <a16:creationId xmlns:a16="http://schemas.microsoft.com/office/drawing/2014/main" id="{FB743B8F-8573-6203-575B-F671C499E71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a:t>
            </a:fld>
            <a:endParaRPr lang="en-US"/>
          </a:p>
        </p:txBody>
      </p:sp>
    </p:spTree>
    <p:extLst>
      <p:ext uri="{BB962C8B-B14F-4D97-AF65-F5344CB8AC3E}">
        <p14:creationId xmlns:p14="http://schemas.microsoft.com/office/powerpoint/2010/main" val="366177265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A4AE373-0611-EB19-BB19-9C1E2B3420FE}"/>
              </a:ext>
            </a:extLst>
          </p:cNvPr>
          <p:cNvSpPr txBox="1"/>
          <p:nvPr/>
        </p:nvSpPr>
        <p:spPr>
          <a:xfrm>
            <a:off x="3046016" y="2413603"/>
            <a:ext cx="5867062" cy="2553880"/>
          </a:xfrm>
          <a:prstGeom prst="rect">
            <a:avLst/>
          </a:prstGeom>
          <a:noFill/>
        </p:spPr>
        <p:txBody>
          <a:bodyPr wrap="square">
            <a:spAutoFit/>
          </a:bodyPr>
          <a:lstStyle/>
          <a:p>
            <a:pPr algn="ctr"/>
            <a: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t>This document contains confidential</a:t>
            </a:r>
            <a:b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t>and proprietary information owned</a:t>
            </a:r>
            <a:b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t> by Lean Horizons Consulting, LLC.</a:t>
            </a:r>
            <a:b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br>
            <a:b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t>Any disclosure, use, copying or</a:t>
            </a:r>
            <a:b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1999" dirty="0">
                <a:solidFill>
                  <a:schemeClr val="tx1"/>
                </a:solidFill>
                <a:latin typeface="Roboto" panose="02000000000000000000" pitchFamily="2" charset="0"/>
                <a:ea typeface="Roboto" panose="02000000000000000000" pitchFamily="2" charset="0"/>
                <a:cs typeface="Roboto" panose="02000000000000000000" pitchFamily="2" charset="0"/>
              </a:rPr>
              <a:t>distribution of this information without the express written consent of Lean Horizons Consulting is strictly prohibited.</a:t>
            </a:r>
          </a:p>
        </p:txBody>
      </p:sp>
      <p:sp>
        <p:nvSpPr>
          <p:cNvPr id="3" name="Slide Number Placeholder 2">
            <a:extLst>
              <a:ext uri="{FF2B5EF4-FFF2-40B4-BE49-F238E27FC236}">
                <a16:creationId xmlns:a16="http://schemas.microsoft.com/office/drawing/2014/main" id="{1D3623B6-95B5-7A95-B93B-25C28E23ADBB}"/>
              </a:ext>
            </a:extLst>
          </p:cNvPr>
          <p:cNvSpPr txBox="1">
            <a:spLocks/>
          </p:cNvSpPr>
          <p:nvPr/>
        </p:nvSpPr>
        <p:spPr>
          <a:xfrm>
            <a:off x="8595078" y="6386632"/>
            <a:ext cx="2743200" cy="331932"/>
          </a:xfrm>
          <a:prstGeom prst="rect">
            <a:avLst/>
          </a:prstGeom>
        </p:spPr>
        <p:txBody>
          <a:bodyPr vert="horz" lIns="91440" tIns="45720" rIns="91440" bIns="45720" rtlCol="0" anchor="ctr"/>
          <a:lstStyle>
            <a:defPPr marL="0" marR="0" indent="0" algn="l" defTabSz="457109" rtl="0" fontAlgn="auto" latinLnBrk="1" hangingPunct="0">
              <a:lnSpc>
                <a:spcPct val="100000"/>
              </a:lnSpc>
              <a:spcBef>
                <a:spcPts val="0"/>
              </a:spcBef>
              <a:spcAft>
                <a:spcPts val="0"/>
              </a:spcAft>
              <a:buClrTx/>
              <a:buSzTx/>
              <a:buFontTx/>
              <a:buNone/>
              <a:tabLst/>
              <a:defRPr kumimoji="0" lang="en-US" sz="900" b="0" i="0" u="none" strike="noStrike" cap="none" spc="0" normalizeH="0" baseline="0">
                <a:ln>
                  <a:noFill/>
                </a:ln>
                <a:solidFill>
                  <a:srgbClr val="000000"/>
                </a:solidFill>
                <a:effectLst/>
                <a:uFillTx/>
              </a:defRPr>
            </a:defPPr>
            <a:lvl1pPr marL="0" marR="0" indent="0" algn="r" defTabSz="914400" rtl="0" eaLnBrk="1" fontAlgn="auto" latinLnBrk="0" hangingPunct="1">
              <a:lnSpc>
                <a:spcPct val="100000"/>
              </a:lnSpc>
              <a:spcBef>
                <a:spcPts val="0"/>
              </a:spcBef>
              <a:spcAft>
                <a:spcPts val="0"/>
              </a:spcAft>
              <a:buClrTx/>
              <a:buSzTx/>
              <a:buFontTx/>
              <a:buNone/>
              <a:tabLst/>
              <a:defRPr kumimoji="0" sz="1000" b="0" i="0" u="none" strike="noStrike" kern="1200" cap="none" spc="0" normalizeH="0" baseline="0">
                <a:ln>
                  <a:noFill/>
                </a:ln>
                <a:solidFill>
                  <a:schemeClr val="tx1"/>
                </a:solidFill>
                <a:effectLst/>
                <a:uFillTx/>
                <a:latin typeface="+mn-lt"/>
                <a:ea typeface="+mn-ea"/>
                <a:cs typeface="+mn-cs"/>
                <a:sym typeface="Roboto"/>
              </a:defRPr>
            </a:lvl1pPr>
            <a:lvl2pPr marL="457200" marR="0" indent="17141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2pPr>
            <a:lvl3pPr marL="914400" marR="0" indent="342831"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3pPr>
            <a:lvl4pPr marL="1371600" marR="0" indent="514247"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4pPr>
            <a:lvl5pPr marL="1828800" marR="0" indent="685663"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5pPr>
            <a:lvl6pPr marL="2286000" marR="0" indent="857079"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6pPr>
            <a:lvl7pPr marL="2743200" marR="0" indent="1028494"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7pPr>
            <a:lvl8pPr marL="3200400" marR="0" indent="1199910"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8pPr>
            <a:lvl9pPr marL="3657600" marR="0" indent="137132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9pPr>
          </a:lstStyle>
          <a:p>
            <a:fld id="{CC6D4273-7FC1-0947-B9FE-19CB3C0D1FB6}" type="slidenum">
              <a:rPr lang="en-US" smtClean="0"/>
              <a:pPr/>
              <a:t>3</a:t>
            </a:fld>
            <a:endParaRPr lang="en-US"/>
          </a:p>
        </p:txBody>
      </p:sp>
    </p:spTree>
    <p:extLst>
      <p:ext uri="{BB962C8B-B14F-4D97-AF65-F5344CB8AC3E}">
        <p14:creationId xmlns:p14="http://schemas.microsoft.com/office/powerpoint/2010/main" val="24386373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0C2D5DD-EE67-3AAF-177E-323B32D082D4}"/>
              </a:ext>
            </a:extLst>
          </p:cNvPr>
          <p:cNvSpPr>
            <a:spLocks noGrp="1"/>
          </p:cNvSpPr>
          <p:nvPr>
            <p:ph type="title"/>
          </p:nvPr>
        </p:nvSpPr>
        <p:spPr/>
        <p:txBody>
          <a:bodyPr>
            <a:normAutofit/>
          </a:bodyPr>
          <a:lstStyle/>
          <a:p>
            <a:r>
              <a:rPr lang="en-US" dirty="0"/>
              <a:t>Ground Rules for Event</a:t>
            </a:r>
          </a:p>
        </p:txBody>
      </p:sp>
      <p:sp>
        <p:nvSpPr>
          <p:cNvPr id="5" name="Content Placeholder 4">
            <a:extLst>
              <a:ext uri="{FF2B5EF4-FFF2-40B4-BE49-F238E27FC236}">
                <a16:creationId xmlns:a16="http://schemas.microsoft.com/office/drawing/2014/main" id="{819746DA-4E1A-DA33-E9FC-7FC4EBC24CC7}"/>
              </a:ext>
            </a:extLst>
          </p:cNvPr>
          <p:cNvSpPr>
            <a:spLocks noGrp="1"/>
          </p:cNvSpPr>
          <p:nvPr>
            <p:ph idx="1"/>
          </p:nvPr>
        </p:nvSpPr>
        <p:spPr/>
        <p:txBody>
          <a:bodyPr>
            <a:normAutofit/>
          </a:bodyPr>
          <a:lstStyle/>
          <a:p>
            <a:r>
              <a:rPr lang="en-US" dirty="0"/>
              <a:t>Safety first (use personal protective equipment)</a:t>
            </a:r>
          </a:p>
          <a:p>
            <a:r>
              <a:rPr lang="en-US" dirty="0"/>
              <a:t>Active participation by all</a:t>
            </a:r>
          </a:p>
          <a:p>
            <a:r>
              <a:rPr lang="en-US" dirty="0"/>
              <a:t>Start and end on time</a:t>
            </a:r>
          </a:p>
          <a:p>
            <a:r>
              <a:rPr lang="en-US" dirty="0"/>
              <a:t>All electronic gadgets (phones, pagers, </a:t>
            </a:r>
            <a:r>
              <a:rPr lang="en-US" dirty="0" err="1"/>
              <a:t>etc</a:t>
            </a:r>
            <a:r>
              <a:rPr lang="en-US" dirty="0"/>
              <a:t>) turned to “off” or “silent”</a:t>
            </a:r>
          </a:p>
          <a:p>
            <a:r>
              <a:rPr lang="en-US" dirty="0"/>
              <a:t>Computers to be used only when instructed</a:t>
            </a:r>
          </a:p>
          <a:p>
            <a:r>
              <a:rPr lang="en-US" dirty="0"/>
              <a:t>Keep an open mind to change</a:t>
            </a:r>
          </a:p>
          <a:p>
            <a:r>
              <a:rPr lang="en-US" dirty="0"/>
              <a:t>Don’t let “perfect” get in the way of “better”</a:t>
            </a:r>
          </a:p>
          <a:p>
            <a:endParaRPr lang="en-US" dirty="0"/>
          </a:p>
          <a:p>
            <a:endParaRPr lang="en-US" dirty="0"/>
          </a:p>
        </p:txBody>
      </p:sp>
      <p:sp>
        <p:nvSpPr>
          <p:cNvPr id="7" name="Slide Number Placeholder 2">
            <a:extLst>
              <a:ext uri="{FF2B5EF4-FFF2-40B4-BE49-F238E27FC236}">
                <a16:creationId xmlns:a16="http://schemas.microsoft.com/office/drawing/2014/main" id="{611CE509-07F5-3779-8829-ABA4F71E89C7}"/>
              </a:ext>
            </a:extLst>
          </p:cNvPr>
          <p:cNvSpPr txBox="1">
            <a:spLocks/>
          </p:cNvSpPr>
          <p:nvPr/>
        </p:nvSpPr>
        <p:spPr>
          <a:xfrm>
            <a:off x="8595078" y="6386632"/>
            <a:ext cx="2743200" cy="331932"/>
          </a:xfrm>
          <a:prstGeom prst="rect">
            <a:avLst/>
          </a:prstGeom>
        </p:spPr>
        <p:txBody>
          <a:bodyPr vert="horz" lIns="91440" tIns="45720" rIns="91440" bIns="45720" rtlCol="0" anchor="ctr"/>
          <a:lstStyle>
            <a:defPPr marL="0" marR="0" indent="0" algn="l" defTabSz="457109" rtl="0" fontAlgn="auto" latinLnBrk="1" hangingPunct="0">
              <a:lnSpc>
                <a:spcPct val="100000"/>
              </a:lnSpc>
              <a:spcBef>
                <a:spcPts val="0"/>
              </a:spcBef>
              <a:spcAft>
                <a:spcPts val="0"/>
              </a:spcAft>
              <a:buClrTx/>
              <a:buSzTx/>
              <a:buFontTx/>
              <a:buNone/>
              <a:tabLst/>
              <a:defRPr kumimoji="0" lang="en-US" sz="900" b="0" i="0" u="none" strike="noStrike" cap="none" spc="0" normalizeH="0" baseline="0">
                <a:ln>
                  <a:noFill/>
                </a:ln>
                <a:solidFill>
                  <a:srgbClr val="000000"/>
                </a:solidFill>
                <a:effectLst/>
                <a:uFillTx/>
              </a:defRPr>
            </a:defPPr>
            <a:lvl1pPr marL="0" marR="0" indent="0" algn="r" defTabSz="914400" rtl="0" eaLnBrk="1" fontAlgn="auto" latinLnBrk="0" hangingPunct="1">
              <a:lnSpc>
                <a:spcPct val="100000"/>
              </a:lnSpc>
              <a:spcBef>
                <a:spcPts val="0"/>
              </a:spcBef>
              <a:spcAft>
                <a:spcPts val="0"/>
              </a:spcAft>
              <a:buClrTx/>
              <a:buSzTx/>
              <a:buFontTx/>
              <a:buNone/>
              <a:tabLst/>
              <a:defRPr kumimoji="0" sz="1000" b="0" i="0" u="none" strike="noStrike" kern="1200" cap="none" spc="0" normalizeH="0" baseline="0">
                <a:ln>
                  <a:noFill/>
                </a:ln>
                <a:solidFill>
                  <a:schemeClr val="tx1"/>
                </a:solidFill>
                <a:effectLst/>
                <a:uFillTx/>
                <a:latin typeface="+mn-lt"/>
                <a:ea typeface="+mn-ea"/>
                <a:cs typeface="+mn-cs"/>
                <a:sym typeface="Roboto"/>
              </a:defRPr>
            </a:lvl1pPr>
            <a:lvl2pPr marL="457200" marR="0" indent="17141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2pPr>
            <a:lvl3pPr marL="914400" marR="0" indent="342831"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3pPr>
            <a:lvl4pPr marL="1371600" marR="0" indent="514247"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4pPr>
            <a:lvl5pPr marL="1828800" marR="0" indent="685663"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5pPr>
            <a:lvl6pPr marL="2286000" marR="0" indent="857079"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6pPr>
            <a:lvl7pPr marL="2743200" marR="0" indent="1028494"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7pPr>
            <a:lvl8pPr marL="3200400" marR="0" indent="1199910"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8pPr>
            <a:lvl9pPr marL="3657600" marR="0" indent="137132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9pPr>
          </a:lstStyle>
          <a:p>
            <a:fld id="{CC6D4273-7FC1-0947-B9FE-19CB3C0D1FB6}" type="slidenum">
              <a:rPr lang="en-US" smtClean="0"/>
              <a:pPr/>
              <a:t>4</a:t>
            </a:fld>
            <a:endParaRPr lang="en-US" dirty="0"/>
          </a:p>
        </p:txBody>
      </p:sp>
    </p:spTree>
    <p:extLst>
      <p:ext uri="{BB962C8B-B14F-4D97-AF65-F5344CB8AC3E}">
        <p14:creationId xmlns:p14="http://schemas.microsoft.com/office/powerpoint/2010/main" val="4817314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dirty="0"/>
              <a:t>Definition of VSM</a:t>
            </a:r>
          </a:p>
        </p:txBody>
      </p:sp>
      <p:sp>
        <p:nvSpPr>
          <p:cNvPr id="4" name="Rectangle 3">
            <a:extLst>
              <a:ext uri="{FF2B5EF4-FFF2-40B4-BE49-F238E27FC236}">
                <a16:creationId xmlns:a16="http://schemas.microsoft.com/office/drawing/2014/main" id="{585B5EDC-5C64-2DC5-D332-FC2F7B0A20E8}"/>
              </a:ext>
            </a:extLst>
          </p:cNvPr>
          <p:cNvSpPr/>
          <p:nvPr/>
        </p:nvSpPr>
        <p:spPr>
          <a:xfrm>
            <a:off x="837982" y="1948513"/>
            <a:ext cx="10512862" cy="666835"/>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VSM is a snapshot of all actions both value added and non-value added required to bring a  product or service through the main material and information flows.</a:t>
            </a:r>
          </a:p>
        </p:txBody>
      </p:sp>
      <p:sp>
        <p:nvSpPr>
          <p:cNvPr id="16" name="Rectangle 15">
            <a:extLst>
              <a:ext uri="{FF2B5EF4-FFF2-40B4-BE49-F238E27FC236}">
                <a16:creationId xmlns:a16="http://schemas.microsoft.com/office/drawing/2014/main" id="{E5B907A1-AF30-B910-EA67-454E0DF85F2D}"/>
              </a:ext>
            </a:extLst>
          </p:cNvPr>
          <p:cNvSpPr/>
          <p:nvPr/>
        </p:nvSpPr>
        <p:spPr>
          <a:xfrm>
            <a:off x="889359" y="3016233"/>
            <a:ext cx="4209397" cy="359059"/>
          </a:xfrm>
          <a:prstGeom prst="rect">
            <a:avLst/>
          </a:prstGeom>
          <a:solidFill>
            <a:srgbClr val="FFB627"/>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191C25"/>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Key Characteristics</a:t>
            </a:r>
          </a:p>
        </p:txBody>
      </p:sp>
      <p:sp>
        <p:nvSpPr>
          <p:cNvPr id="17" name="Rectangle 16">
            <a:extLst>
              <a:ext uri="{FF2B5EF4-FFF2-40B4-BE49-F238E27FC236}">
                <a16:creationId xmlns:a16="http://schemas.microsoft.com/office/drawing/2014/main" id="{3033DF4D-98F3-F2D7-1F65-AF2CBD8388B5}"/>
              </a:ext>
            </a:extLst>
          </p:cNvPr>
          <p:cNvSpPr/>
          <p:nvPr/>
        </p:nvSpPr>
        <p:spPr>
          <a:xfrm>
            <a:off x="7090068" y="3016234"/>
            <a:ext cx="4209397" cy="359059"/>
          </a:xfrm>
          <a:prstGeom prst="rect">
            <a:avLst/>
          </a:prstGeom>
          <a:solidFill>
            <a:srgbClr val="FFB627"/>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191C25"/>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Components of VSM</a:t>
            </a:r>
          </a:p>
        </p:txBody>
      </p:sp>
      <p:sp>
        <p:nvSpPr>
          <p:cNvPr id="3" name="TextBox 2">
            <a:extLst>
              <a:ext uri="{FF2B5EF4-FFF2-40B4-BE49-F238E27FC236}">
                <a16:creationId xmlns:a16="http://schemas.microsoft.com/office/drawing/2014/main" id="{6C82D6C8-5C2D-550F-E81D-C37455A80E84}"/>
              </a:ext>
            </a:extLst>
          </p:cNvPr>
          <p:cNvSpPr txBox="1"/>
          <p:nvPr/>
        </p:nvSpPr>
        <p:spPr>
          <a:xfrm>
            <a:off x="1039981" y="3678800"/>
            <a:ext cx="3908153" cy="220571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VSM is a graphical representation that uses a common mapping language</a:t>
            </a:r>
          </a:p>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VSM provides the basis and direction for identifying improvement opportunities</a:t>
            </a:r>
          </a:p>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The power is in the plan! </a:t>
            </a:r>
          </a:p>
        </p:txBody>
      </p:sp>
      <p:sp>
        <p:nvSpPr>
          <p:cNvPr id="18" name="TextBox 17">
            <a:extLst>
              <a:ext uri="{FF2B5EF4-FFF2-40B4-BE49-F238E27FC236}">
                <a16:creationId xmlns:a16="http://schemas.microsoft.com/office/drawing/2014/main" id="{3E793643-CB2F-7F1C-3AC4-3E2B9CB85CB6}"/>
              </a:ext>
            </a:extLst>
          </p:cNvPr>
          <p:cNvSpPr txBox="1"/>
          <p:nvPr/>
        </p:nvSpPr>
        <p:spPr>
          <a:xfrm>
            <a:off x="7240690" y="3678800"/>
            <a:ext cx="3908153" cy="18979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Current State Value Stream Map</a:t>
            </a:r>
          </a:p>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Mark-Up of Current State </a:t>
            </a:r>
            <a:b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Value Stream Map</a:t>
            </a:r>
          </a:p>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Future State Value Stream Map</a:t>
            </a:r>
          </a:p>
          <a:p>
            <a:pPr marL="285693" indent="-285693" algn="l">
              <a:buClr>
                <a:schemeClr val="accent2"/>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Value Stream Plan</a:t>
            </a:r>
          </a:p>
        </p:txBody>
      </p:sp>
      <p:sp>
        <p:nvSpPr>
          <p:cNvPr id="9" name="Slide Number Placeholder 2">
            <a:extLst>
              <a:ext uri="{FF2B5EF4-FFF2-40B4-BE49-F238E27FC236}">
                <a16:creationId xmlns:a16="http://schemas.microsoft.com/office/drawing/2014/main" id="{6F97E5CF-D682-A6C9-C019-33C734E0515B}"/>
              </a:ext>
            </a:extLst>
          </p:cNvPr>
          <p:cNvSpPr txBox="1">
            <a:spLocks/>
          </p:cNvSpPr>
          <p:nvPr/>
        </p:nvSpPr>
        <p:spPr>
          <a:xfrm>
            <a:off x="8595078" y="6386632"/>
            <a:ext cx="2743200" cy="331932"/>
          </a:xfrm>
          <a:prstGeom prst="rect">
            <a:avLst/>
          </a:prstGeom>
        </p:spPr>
        <p:txBody>
          <a:bodyPr vert="horz" lIns="91440" tIns="45720" rIns="91440" bIns="45720" rtlCol="0" anchor="ctr"/>
          <a:lstStyle>
            <a:defPPr marL="0" marR="0" indent="0" algn="l" defTabSz="457109" rtl="0" fontAlgn="auto" latinLnBrk="1" hangingPunct="0">
              <a:lnSpc>
                <a:spcPct val="100000"/>
              </a:lnSpc>
              <a:spcBef>
                <a:spcPts val="0"/>
              </a:spcBef>
              <a:spcAft>
                <a:spcPts val="0"/>
              </a:spcAft>
              <a:buClrTx/>
              <a:buSzTx/>
              <a:buFontTx/>
              <a:buNone/>
              <a:tabLst/>
              <a:defRPr kumimoji="0" lang="en-US" sz="900" b="0" i="0" u="none" strike="noStrike" cap="none" spc="0" normalizeH="0" baseline="0">
                <a:ln>
                  <a:noFill/>
                </a:ln>
                <a:solidFill>
                  <a:srgbClr val="000000"/>
                </a:solidFill>
                <a:effectLst/>
                <a:uFillTx/>
              </a:defRPr>
            </a:defPPr>
            <a:lvl1pPr marL="0" marR="0" indent="0" algn="r" defTabSz="914400" rtl="0" eaLnBrk="1" fontAlgn="auto" latinLnBrk="0" hangingPunct="1">
              <a:lnSpc>
                <a:spcPct val="100000"/>
              </a:lnSpc>
              <a:spcBef>
                <a:spcPts val="0"/>
              </a:spcBef>
              <a:spcAft>
                <a:spcPts val="0"/>
              </a:spcAft>
              <a:buClrTx/>
              <a:buSzTx/>
              <a:buFontTx/>
              <a:buNone/>
              <a:tabLst/>
              <a:defRPr kumimoji="0" sz="1000" b="0" i="0" u="none" strike="noStrike" kern="1200" cap="none" spc="0" normalizeH="0" baseline="0">
                <a:ln>
                  <a:noFill/>
                </a:ln>
                <a:solidFill>
                  <a:schemeClr val="tx1"/>
                </a:solidFill>
                <a:effectLst/>
                <a:uFillTx/>
                <a:latin typeface="+mn-lt"/>
                <a:ea typeface="+mn-ea"/>
                <a:cs typeface="+mn-cs"/>
                <a:sym typeface="Roboto"/>
              </a:defRPr>
            </a:lvl1pPr>
            <a:lvl2pPr marL="457200" marR="0" indent="17141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2pPr>
            <a:lvl3pPr marL="914400" marR="0" indent="342831"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3pPr>
            <a:lvl4pPr marL="1371600" marR="0" indent="514247"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4pPr>
            <a:lvl5pPr marL="1828800" marR="0" indent="685663"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5pPr>
            <a:lvl6pPr marL="2286000" marR="0" indent="857079"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6pPr>
            <a:lvl7pPr marL="2743200" marR="0" indent="1028494"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7pPr>
            <a:lvl8pPr marL="3200400" marR="0" indent="1199910"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8pPr>
            <a:lvl9pPr marL="3657600" marR="0" indent="1371326" algn="l" defTabSz="914400" rtl="0" eaLnBrk="1" fontAlgn="auto" latinLnBrk="0" hangingPunct="1">
              <a:lnSpc>
                <a:spcPct val="100000"/>
              </a:lnSpc>
              <a:spcBef>
                <a:spcPts val="0"/>
              </a:spcBef>
              <a:spcAft>
                <a:spcPts val="0"/>
              </a:spcAft>
              <a:buClrTx/>
              <a:buSzTx/>
              <a:buFontTx/>
              <a:buNone/>
              <a:tabLst/>
              <a:defRPr kumimoji="0" sz="1800" b="0" i="0" u="none" strike="noStrike" kern="1200" cap="none" spc="0" normalizeH="0" baseline="0">
                <a:ln>
                  <a:noFill/>
                </a:ln>
                <a:solidFill>
                  <a:schemeClr val="tx1"/>
                </a:solidFill>
                <a:effectLst/>
                <a:uFillTx/>
                <a:latin typeface="+mn-lt"/>
                <a:ea typeface="+mn-ea"/>
                <a:cs typeface="+mn-cs"/>
                <a:sym typeface="Roboto"/>
              </a:defRPr>
            </a:lvl9pPr>
          </a:lstStyle>
          <a:p>
            <a:fld id="{CC6D4273-7FC1-0947-B9FE-19CB3C0D1FB6}" type="slidenum">
              <a:rPr lang="en-US" smtClean="0"/>
              <a:pPr/>
              <a:t>5</a:t>
            </a:fld>
            <a:endParaRPr lang="en-US" dirty="0"/>
          </a:p>
        </p:txBody>
      </p:sp>
    </p:spTree>
    <p:extLst>
      <p:ext uri="{BB962C8B-B14F-4D97-AF65-F5344CB8AC3E}">
        <p14:creationId xmlns:p14="http://schemas.microsoft.com/office/powerpoint/2010/main" val="307612942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 Box 64">
            <a:extLst>
              <a:ext uri="{FF2B5EF4-FFF2-40B4-BE49-F238E27FC236}">
                <a16:creationId xmlns:a16="http://schemas.microsoft.com/office/drawing/2014/main" id="{EF5B73C7-0A33-DA9A-A466-635D3BAB648D}"/>
              </a:ext>
            </a:extLst>
          </p:cNvPr>
          <p:cNvSpPr txBox="1">
            <a:spLocks noChangeArrowheads="1"/>
          </p:cNvSpPr>
          <p:nvPr/>
        </p:nvSpPr>
        <p:spPr bwMode="auto">
          <a:xfrm>
            <a:off x="2485250" y="1945646"/>
            <a:ext cx="2062901" cy="486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VALUE STREAM MAP</a:t>
            </a:r>
          </a:p>
        </p:txBody>
      </p:sp>
      <p:sp>
        <p:nvSpPr>
          <p:cNvPr id="136" name="AutoShape 2">
            <a:extLst>
              <a:ext uri="{FF2B5EF4-FFF2-40B4-BE49-F238E27FC236}">
                <a16:creationId xmlns:a16="http://schemas.microsoft.com/office/drawing/2014/main" id="{6E5A8F6A-2B0E-303F-D0FB-21150291FBFB}"/>
              </a:ext>
            </a:extLst>
          </p:cNvPr>
          <p:cNvSpPr>
            <a:spLocks noChangeArrowheads="1"/>
          </p:cNvSpPr>
          <p:nvPr/>
        </p:nvSpPr>
        <p:spPr bwMode="auto">
          <a:xfrm>
            <a:off x="236995" y="4420863"/>
            <a:ext cx="5286007" cy="1537539"/>
          </a:xfrm>
          <a:prstGeom prst="upArrow">
            <a:avLst>
              <a:gd name="adj1" fmla="val 83704"/>
              <a:gd name="adj2" fmla="val 30343"/>
            </a:avLst>
          </a:prstGeom>
          <a:solidFill>
            <a:srgbClr val="EE3228"/>
          </a:solidFill>
          <a:ln w="12700" cap="sq">
            <a:solidFill>
              <a:schemeClr val="tx1"/>
            </a:solidFill>
            <a:miter lim="800000"/>
            <a:headEnd/>
            <a:tailEnd/>
          </a:ln>
        </p:spPr>
        <p:txBody>
          <a:bodyPr wrap="non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High-level snapshot of end-to-end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business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Used to identify where opportunities for improvement exist</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Does not incorporate decision loops</a:t>
            </a:r>
          </a:p>
        </p:txBody>
      </p:sp>
      <p:sp>
        <p:nvSpPr>
          <p:cNvPr id="137" name="Rectangle 4">
            <a:extLst>
              <a:ext uri="{FF2B5EF4-FFF2-40B4-BE49-F238E27FC236}">
                <a16:creationId xmlns:a16="http://schemas.microsoft.com/office/drawing/2014/main" id="{2044EB11-58B4-B1DA-3E1C-89B52AEFA593}"/>
              </a:ext>
            </a:extLst>
          </p:cNvPr>
          <p:cNvSpPr>
            <a:spLocks noChangeArrowheads="1"/>
          </p:cNvSpPr>
          <p:nvPr/>
        </p:nvSpPr>
        <p:spPr bwMode="auto">
          <a:xfrm>
            <a:off x="505856" y="1535606"/>
            <a:ext cx="5085320" cy="2652549"/>
          </a:xfrm>
          <a:prstGeom prst="rect">
            <a:avLst/>
          </a:prstGeom>
          <a:solidFill>
            <a:srgbClr val="F8F8F8"/>
          </a:solidFill>
          <a:ln w="12700" cap="sq">
            <a:solidFill>
              <a:srgbClr val="7F7F7F"/>
            </a:solidFill>
            <a:miter lim="800000"/>
            <a:headEnd type="none" w="sm" len="sm"/>
            <a:tailEnd type="none" w="sm" len="sm"/>
          </a:ln>
          <a:effectLst>
            <a:outerShdw blurRad="63500" dist="63500" dir="3187806" algn="ctr" rotWithShape="0">
              <a:schemeClr val="tx1">
                <a:alpha val="74998"/>
              </a:schemeClr>
            </a:outerShdw>
          </a:effectLst>
        </p:spPr>
        <p:txBody>
          <a:bodyPr wrap="none" anchor="ctr"/>
          <a:lstStyle/>
          <a:p>
            <a:pPr algn="ctr">
              <a:lnSpc>
                <a:spcPct val="80000"/>
              </a:lnSpc>
              <a:spcBef>
                <a:spcPct val="20000"/>
              </a:spcBef>
              <a:defRPr/>
            </a:pPr>
            <a:endParaRPr lang="en-US" sz="2798">
              <a:latin typeface="Arial" charset="0"/>
              <a:ea typeface="ＭＳ Ｐゴシック" charset="0"/>
            </a:endParaRPr>
          </a:p>
        </p:txBody>
      </p:sp>
      <p:grpSp>
        <p:nvGrpSpPr>
          <p:cNvPr id="138" name="Group 5">
            <a:extLst>
              <a:ext uri="{FF2B5EF4-FFF2-40B4-BE49-F238E27FC236}">
                <a16:creationId xmlns:a16="http://schemas.microsoft.com/office/drawing/2014/main" id="{E0A6DA4B-DE88-2B14-086A-131648665F40}"/>
              </a:ext>
            </a:extLst>
          </p:cNvPr>
          <p:cNvGrpSpPr>
            <a:grpSpLocks/>
          </p:cNvGrpSpPr>
          <p:nvPr/>
        </p:nvGrpSpPr>
        <p:grpSpPr bwMode="auto">
          <a:xfrm>
            <a:off x="624994" y="1719116"/>
            <a:ext cx="910780" cy="510212"/>
            <a:chOff x="933" y="2179"/>
            <a:chExt cx="658" cy="463"/>
          </a:xfrm>
        </p:grpSpPr>
        <p:sp>
          <p:nvSpPr>
            <p:cNvPr id="139" name="Rectangle 6">
              <a:extLst>
                <a:ext uri="{FF2B5EF4-FFF2-40B4-BE49-F238E27FC236}">
                  <a16:creationId xmlns:a16="http://schemas.microsoft.com/office/drawing/2014/main" id="{5ABB4686-29A4-E32B-5BDB-41DE05C00907}"/>
                </a:ext>
              </a:extLst>
            </p:cNvPr>
            <p:cNvSpPr>
              <a:spLocks noChangeArrowheads="1"/>
            </p:cNvSpPr>
            <p:nvPr/>
          </p:nvSpPr>
          <p:spPr bwMode="auto">
            <a:xfrm>
              <a:off x="1545" y="2179"/>
              <a:ext cx="41" cy="250"/>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0" name="Rectangle 7">
              <a:extLst>
                <a:ext uri="{FF2B5EF4-FFF2-40B4-BE49-F238E27FC236}">
                  <a16:creationId xmlns:a16="http://schemas.microsoft.com/office/drawing/2014/main" id="{CA3EEC29-DF09-E2C7-6D17-B77757623E12}"/>
                </a:ext>
              </a:extLst>
            </p:cNvPr>
            <p:cNvSpPr>
              <a:spLocks noChangeArrowheads="1"/>
            </p:cNvSpPr>
            <p:nvPr/>
          </p:nvSpPr>
          <p:spPr bwMode="auto">
            <a:xfrm>
              <a:off x="933" y="2435"/>
              <a:ext cx="658" cy="209"/>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1" name="AutoShape 8">
              <a:extLst>
                <a:ext uri="{FF2B5EF4-FFF2-40B4-BE49-F238E27FC236}">
                  <a16:creationId xmlns:a16="http://schemas.microsoft.com/office/drawing/2014/main" id="{032E2FE8-E410-FFBA-88EE-0732A00D1603}"/>
                </a:ext>
              </a:extLst>
            </p:cNvPr>
            <p:cNvSpPr>
              <a:spLocks noChangeArrowheads="1"/>
            </p:cNvSpPr>
            <p:nvPr/>
          </p:nvSpPr>
          <p:spPr bwMode="auto">
            <a:xfrm>
              <a:off x="1342"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2" name="AutoShape 9">
              <a:extLst>
                <a:ext uri="{FF2B5EF4-FFF2-40B4-BE49-F238E27FC236}">
                  <a16:creationId xmlns:a16="http://schemas.microsoft.com/office/drawing/2014/main" id="{E59B9C47-05EC-DB4A-2EDE-A9DC7BF81E56}"/>
                </a:ext>
              </a:extLst>
            </p:cNvPr>
            <p:cNvSpPr>
              <a:spLocks noChangeArrowheads="1"/>
            </p:cNvSpPr>
            <p:nvPr/>
          </p:nvSpPr>
          <p:spPr bwMode="auto">
            <a:xfrm>
              <a:off x="1138"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3" name="AutoShape 10">
              <a:extLst>
                <a:ext uri="{FF2B5EF4-FFF2-40B4-BE49-F238E27FC236}">
                  <a16:creationId xmlns:a16="http://schemas.microsoft.com/office/drawing/2014/main" id="{8266856E-8BBF-2D7D-D509-4018CD426FF0}"/>
                </a:ext>
              </a:extLst>
            </p:cNvPr>
            <p:cNvSpPr>
              <a:spLocks noChangeArrowheads="1"/>
            </p:cNvSpPr>
            <p:nvPr/>
          </p:nvSpPr>
          <p:spPr bwMode="auto">
            <a:xfrm>
              <a:off x="934" y="2245"/>
              <a:ext cx="201"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4" name="Rectangle 11">
              <a:extLst>
                <a:ext uri="{FF2B5EF4-FFF2-40B4-BE49-F238E27FC236}">
                  <a16:creationId xmlns:a16="http://schemas.microsoft.com/office/drawing/2014/main" id="{19B04492-6F2F-530D-9707-56423151471C}"/>
                </a:ext>
              </a:extLst>
            </p:cNvPr>
            <p:cNvSpPr>
              <a:spLocks noChangeArrowheads="1"/>
            </p:cNvSpPr>
            <p:nvPr/>
          </p:nvSpPr>
          <p:spPr bwMode="auto">
            <a:xfrm>
              <a:off x="974"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5" name="Rectangle 12">
              <a:extLst>
                <a:ext uri="{FF2B5EF4-FFF2-40B4-BE49-F238E27FC236}">
                  <a16:creationId xmlns:a16="http://schemas.microsoft.com/office/drawing/2014/main" id="{A9A0A43B-EF2D-A382-66CA-ECCC5067BF1A}"/>
                </a:ext>
              </a:extLst>
            </p:cNvPr>
            <p:cNvSpPr>
              <a:spLocks noChangeArrowheads="1"/>
            </p:cNvSpPr>
            <p:nvPr/>
          </p:nvSpPr>
          <p:spPr bwMode="auto">
            <a:xfrm>
              <a:off x="1185"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6" name="Rectangle 13">
              <a:extLst>
                <a:ext uri="{FF2B5EF4-FFF2-40B4-BE49-F238E27FC236}">
                  <a16:creationId xmlns:a16="http://schemas.microsoft.com/office/drawing/2014/main" id="{B4D349A7-CA12-0F08-3FB8-B953F989FDD5}"/>
                </a:ext>
              </a:extLst>
            </p:cNvPr>
            <p:cNvSpPr>
              <a:spLocks noChangeArrowheads="1"/>
            </p:cNvSpPr>
            <p:nvPr/>
          </p:nvSpPr>
          <p:spPr bwMode="auto">
            <a:xfrm>
              <a:off x="1395" y="2355"/>
              <a:ext cx="26"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47" name="Group 14">
            <a:extLst>
              <a:ext uri="{FF2B5EF4-FFF2-40B4-BE49-F238E27FC236}">
                <a16:creationId xmlns:a16="http://schemas.microsoft.com/office/drawing/2014/main" id="{591AABF8-4799-C0C0-E5DB-CD62E5A531B2}"/>
              </a:ext>
            </a:extLst>
          </p:cNvPr>
          <p:cNvGrpSpPr>
            <a:grpSpLocks/>
          </p:cNvGrpSpPr>
          <p:nvPr/>
        </p:nvGrpSpPr>
        <p:grpSpPr bwMode="auto">
          <a:xfrm>
            <a:off x="4462498" y="1719116"/>
            <a:ext cx="910780" cy="510212"/>
            <a:chOff x="933" y="2179"/>
            <a:chExt cx="658" cy="463"/>
          </a:xfrm>
        </p:grpSpPr>
        <p:sp>
          <p:nvSpPr>
            <p:cNvPr id="148" name="Rectangle 15">
              <a:extLst>
                <a:ext uri="{FF2B5EF4-FFF2-40B4-BE49-F238E27FC236}">
                  <a16:creationId xmlns:a16="http://schemas.microsoft.com/office/drawing/2014/main" id="{73E75A92-741C-F456-F510-442CA1DAC008}"/>
                </a:ext>
              </a:extLst>
            </p:cNvPr>
            <p:cNvSpPr>
              <a:spLocks noChangeArrowheads="1"/>
            </p:cNvSpPr>
            <p:nvPr/>
          </p:nvSpPr>
          <p:spPr bwMode="auto">
            <a:xfrm>
              <a:off x="1545" y="2179"/>
              <a:ext cx="41" cy="250"/>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9" name="Rectangle 16">
              <a:extLst>
                <a:ext uri="{FF2B5EF4-FFF2-40B4-BE49-F238E27FC236}">
                  <a16:creationId xmlns:a16="http://schemas.microsoft.com/office/drawing/2014/main" id="{5C352CDA-E359-1CA5-ECAE-C24148017918}"/>
                </a:ext>
              </a:extLst>
            </p:cNvPr>
            <p:cNvSpPr>
              <a:spLocks noChangeArrowheads="1"/>
            </p:cNvSpPr>
            <p:nvPr/>
          </p:nvSpPr>
          <p:spPr bwMode="auto">
            <a:xfrm>
              <a:off x="933" y="2435"/>
              <a:ext cx="658" cy="209"/>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0" name="AutoShape 17">
              <a:extLst>
                <a:ext uri="{FF2B5EF4-FFF2-40B4-BE49-F238E27FC236}">
                  <a16:creationId xmlns:a16="http://schemas.microsoft.com/office/drawing/2014/main" id="{97A8EE4C-5ACC-552F-2DE6-C987E8E5BB5A}"/>
                </a:ext>
              </a:extLst>
            </p:cNvPr>
            <p:cNvSpPr>
              <a:spLocks noChangeArrowheads="1"/>
            </p:cNvSpPr>
            <p:nvPr/>
          </p:nvSpPr>
          <p:spPr bwMode="auto">
            <a:xfrm>
              <a:off x="1342"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1" name="AutoShape 18">
              <a:extLst>
                <a:ext uri="{FF2B5EF4-FFF2-40B4-BE49-F238E27FC236}">
                  <a16:creationId xmlns:a16="http://schemas.microsoft.com/office/drawing/2014/main" id="{EE9B007C-1B65-709F-8D31-F32FD13C8559}"/>
                </a:ext>
              </a:extLst>
            </p:cNvPr>
            <p:cNvSpPr>
              <a:spLocks noChangeArrowheads="1"/>
            </p:cNvSpPr>
            <p:nvPr/>
          </p:nvSpPr>
          <p:spPr bwMode="auto">
            <a:xfrm>
              <a:off x="1138"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2" name="AutoShape 19">
              <a:extLst>
                <a:ext uri="{FF2B5EF4-FFF2-40B4-BE49-F238E27FC236}">
                  <a16:creationId xmlns:a16="http://schemas.microsoft.com/office/drawing/2014/main" id="{ED5352A4-9A4A-B168-293B-22AACE0E48D7}"/>
                </a:ext>
              </a:extLst>
            </p:cNvPr>
            <p:cNvSpPr>
              <a:spLocks noChangeArrowheads="1"/>
            </p:cNvSpPr>
            <p:nvPr/>
          </p:nvSpPr>
          <p:spPr bwMode="auto">
            <a:xfrm>
              <a:off x="935" y="2245"/>
              <a:ext cx="201"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3" name="Rectangle 20">
              <a:extLst>
                <a:ext uri="{FF2B5EF4-FFF2-40B4-BE49-F238E27FC236}">
                  <a16:creationId xmlns:a16="http://schemas.microsoft.com/office/drawing/2014/main" id="{1B086993-1A99-AB18-3317-5D48B0A14CEB}"/>
                </a:ext>
              </a:extLst>
            </p:cNvPr>
            <p:cNvSpPr>
              <a:spLocks noChangeArrowheads="1"/>
            </p:cNvSpPr>
            <p:nvPr/>
          </p:nvSpPr>
          <p:spPr bwMode="auto">
            <a:xfrm>
              <a:off x="974"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4" name="Rectangle 21">
              <a:extLst>
                <a:ext uri="{FF2B5EF4-FFF2-40B4-BE49-F238E27FC236}">
                  <a16:creationId xmlns:a16="http://schemas.microsoft.com/office/drawing/2014/main" id="{60366C27-C346-BF96-A9B8-35BC83440849}"/>
                </a:ext>
              </a:extLst>
            </p:cNvPr>
            <p:cNvSpPr>
              <a:spLocks noChangeArrowheads="1"/>
            </p:cNvSpPr>
            <p:nvPr/>
          </p:nvSpPr>
          <p:spPr bwMode="auto">
            <a:xfrm>
              <a:off x="1185"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5" name="Rectangle 22">
              <a:extLst>
                <a:ext uri="{FF2B5EF4-FFF2-40B4-BE49-F238E27FC236}">
                  <a16:creationId xmlns:a16="http://schemas.microsoft.com/office/drawing/2014/main" id="{C6AE5EE4-16A8-A8F8-2534-B8BD07B97AE0}"/>
                </a:ext>
              </a:extLst>
            </p:cNvPr>
            <p:cNvSpPr>
              <a:spLocks noChangeArrowheads="1"/>
            </p:cNvSpPr>
            <p:nvPr/>
          </p:nvSpPr>
          <p:spPr bwMode="auto">
            <a:xfrm>
              <a:off x="1396"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156" name="Rectangle 23">
            <a:extLst>
              <a:ext uri="{FF2B5EF4-FFF2-40B4-BE49-F238E27FC236}">
                <a16:creationId xmlns:a16="http://schemas.microsoft.com/office/drawing/2014/main" id="{D9A4DABF-A4EE-89D5-4232-945D3CAAC7D8}"/>
              </a:ext>
            </a:extLst>
          </p:cNvPr>
          <p:cNvSpPr>
            <a:spLocks noChangeArrowheads="1"/>
          </p:cNvSpPr>
          <p:nvPr/>
        </p:nvSpPr>
        <p:spPr bwMode="auto">
          <a:xfrm>
            <a:off x="1527937" y="2845198"/>
            <a:ext cx="421686" cy="506042"/>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7" name="Rectangle 24">
            <a:extLst>
              <a:ext uri="{FF2B5EF4-FFF2-40B4-BE49-F238E27FC236}">
                <a16:creationId xmlns:a16="http://schemas.microsoft.com/office/drawing/2014/main" id="{56F0DAB9-8F7E-8E33-B301-6C7A83788E07}"/>
              </a:ext>
            </a:extLst>
          </p:cNvPr>
          <p:cNvSpPr>
            <a:spLocks noChangeArrowheads="1"/>
          </p:cNvSpPr>
          <p:nvPr/>
        </p:nvSpPr>
        <p:spPr bwMode="auto">
          <a:xfrm>
            <a:off x="2678561" y="2845198"/>
            <a:ext cx="418551" cy="506042"/>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8" name="Rectangle 25">
            <a:extLst>
              <a:ext uri="{FF2B5EF4-FFF2-40B4-BE49-F238E27FC236}">
                <a16:creationId xmlns:a16="http://schemas.microsoft.com/office/drawing/2014/main" id="{962B6A62-D869-B957-B74A-0040DF1E6CF0}"/>
              </a:ext>
            </a:extLst>
          </p:cNvPr>
          <p:cNvSpPr>
            <a:spLocks noChangeArrowheads="1"/>
          </p:cNvSpPr>
          <p:nvPr/>
        </p:nvSpPr>
        <p:spPr bwMode="auto">
          <a:xfrm>
            <a:off x="3799400" y="2845198"/>
            <a:ext cx="420119" cy="506042"/>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9" name="Line 26">
            <a:extLst>
              <a:ext uri="{FF2B5EF4-FFF2-40B4-BE49-F238E27FC236}">
                <a16:creationId xmlns:a16="http://schemas.microsoft.com/office/drawing/2014/main" id="{48DF1538-7934-E0FE-8555-5E5668EF3DAC}"/>
              </a:ext>
            </a:extLst>
          </p:cNvPr>
          <p:cNvSpPr>
            <a:spLocks noChangeShapeType="1"/>
          </p:cNvSpPr>
          <p:nvPr/>
        </p:nvSpPr>
        <p:spPr bwMode="auto">
          <a:xfrm>
            <a:off x="1537342" y="2978659"/>
            <a:ext cx="42011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0" name="Line 27">
            <a:extLst>
              <a:ext uri="{FF2B5EF4-FFF2-40B4-BE49-F238E27FC236}">
                <a16:creationId xmlns:a16="http://schemas.microsoft.com/office/drawing/2014/main" id="{CB4AE8C8-3C40-CB75-70BC-D6401CB3178E}"/>
              </a:ext>
            </a:extLst>
          </p:cNvPr>
          <p:cNvSpPr>
            <a:spLocks noChangeShapeType="1"/>
          </p:cNvSpPr>
          <p:nvPr/>
        </p:nvSpPr>
        <p:spPr bwMode="auto">
          <a:xfrm>
            <a:off x="2675425" y="2970318"/>
            <a:ext cx="42011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1" name="Line 28">
            <a:extLst>
              <a:ext uri="{FF2B5EF4-FFF2-40B4-BE49-F238E27FC236}">
                <a16:creationId xmlns:a16="http://schemas.microsoft.com/office/drawing/2014/main" id="{0A5B966D-B3F8-B983-9F7A-C4A05998A44E}"/>
              </a:ext>
            </a:extLst>
          </p:cNvPr>
          <p:cNvSpPr>
            <a:spLocks noChangeShapeType="1"/>
          </p:cNvSpPr>
          <p:nvPr/>
        </p:nvSpPr>
        <p:spPr bwMode="auto">
          <a:xfrm>
            <a:off x="3804102" y="2961977"/>
            <a:ext cx="42011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grpSp>
        <p:nvGrpSpPr>
          <p:cNvPr id="162" name="Group 29">
            <a:extLst>
              <a:ext uri="{FF2B5EF4-FFF2-40B4-BE49-F238E27FC236}">
                <a16:creationId xmlns:a16="http://schemas.microsoft.com/office/drawing/2014/main" id="{5688C2AB-E004-281F-9435-8293F84F9CED}"/>
              </a:ext>
            </a:extLst>
          </p:cNvPr>
          <p:cNvGrpSpPr>
            <a:grpSpLocks/>
          </p:cNvGrpSpPr>
          <p:nvPr/>
        </p:nvGrpSpPr>
        <p:grpSpPr bwMode="auto">
          <a:xfrm>
            <a:off x="1537342" y="3474971"/>
            <a:ext cx="421686" cy="418458"/>
            <a:chOff x="1702" y="2990"/>
            <a:chExt cx="269" cy="301"/>
          </a:xfrm>
        </p:grpSpPr>
        <p:sp>
          <p:nvSpPr>
            <p:cNvPr id="163" name="Rectangle 30">
              <a:extLst>
                <a:ext uri="{FF2B5EF4-FFF2-40B4-BE49-F238E27FC236}">
                  <a16:creationId xmlns:a16="http://schemas.microsoft.com/office/drawing/2014/main" id="{BBFFDBE0-24A3-B95A-11D9-CA88FCC4B060}"/>
                </a:ext>
              </a:extLst>
            </p:cNvPr>
            <p:cNvSpPr>
              <a:spLocks noChangeArrowheads="1"/>
            </p:cNvSpPr>
            <p:nvPr/>
          </p:nvSpPr>
          <p:spPr bwMode="auto">
            <a:xfrm>
              <a:off x="1702" y="2990"/>
              <a:ext cx="269" cy="301"/>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4" name="Line 31">
              <a:extLst>
                <a:ext uri="{FF2B5EF4-FFF2-40B4-BE49-F238E27FC236}">
                  <a16:creationId xmlns:a16="http://schemas.microsoft.com/office/drawing/2014/main" id="{34661C19-8FF3-775C-906F-8461C6B6967D}"/>
                </a:ext>
              </a:extLst>
            </p:cNvPr>
            <p:cNvSpPr>
              <a:spLocks noChangeShapeType="1"/>
            </p:cNvSpPr>
            <p:nvPr/>
          </p:nvSpPr>
          <p:spPr bwMode="auto">
            <a:xfrm>
              <a:off x="1741" y="3046"/>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5" name="Line 32">
              <a:extLst>
                <a:ext uri="{FF2B5EF4-FFF2-40B4-BE49-F238E27FC236}">
                  <a16:creationId xmlns:a16="http://schemas.microsoft.com/office/drawing/2014/main" id="{3C40A61E-8133-1D12-3246-7DD8AD3A8E2E}"/>
                </a:ext>
              </a:extLst>
            </p:cNvPr>
            <p:cNvSpPr>
              <a:spLocks noChangeShapeType="1"/>
            </p:cNvSpPr>
            <p:nvPr/>
          </p:nvSpPr>
          <p:spPr bwMode="auto">
            <a:xfrm>
              <a:off x="1741" y="3088"/>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6" name="Line 33">
              <a:extLst>
                <a:ext uri="{FF2B5EF4-FFF2-40B4-BE49-F238E27FC236}">
                  <a16:creationId xmlns:a16="http://schemas.microsoft.com/office/drawing/2014/main" id="{B301F743-7480-9E1D-CE79-FB129957655F}"/>
                </a:ext>
              </a:extLst>
            </p:cNvPr>
            <p:cNvSpPr>
              <a:spLocks noChangeShapeType="1"/>
            </p:cNvSpPr>
            <p:nvPr/>
          </p:nvSpPr>
          <p:spPr bwMode="auto">
            <a:xfrm>
              <a:off x="1741" y="3130"/>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7" name="Line 34">
              <a:extLst>
                <a:ext uri="{FF2B5EF4-FFF2-40B4-BE49-F238E27FC236}">
                  <a16:creationId xmlns:a16="http://schemas.microsoft.com/office/drawing/2014/main" id="{74A22F68-6668-33FC-ECD0-2BDBA500F36A}"/>
                </a:ext>
              </a:extLst>
            </p:cNvPr>
            <p:cNvSpPr>
              <a:spLocks noChangeShapeType="1"/>
            </p:cNvSpPr>
            <p:nvPr/>
          </p:nvSpPr>
          <p:spPr bwMode="auto">
            <a:xfrm>
              <a:off x="1741" y="3172"/>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8" name="Line 35">
              <a:extLst>
                <a:ext uri="{FF2B5EF4-FFF2-40B4-BE49-F238E27FC236}">
                  <a16:creationId xmlns:a16="http://schemas.microsoft.com/office/drawing/2014/main" id="{2A71E7C3-FD06-38AB-5E16-945C1CFEDC1E}"/>
                </a:ext>
              </a:extLst>
            </p:cNvPr>
            <p:cNvSpPr>
              <a:spLocks noChangeShapeType="1"/>
            </p:cNvSpPr>
            <p:nvPr/>
          </p:nvSpPr>
          <p:spPr bwMode="auto">
            <a:xfrm>
              <a:off x="1741" y="3214"/>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69" name="Line 36">
              <a:extLst>
                <a:ext uri="{FF2B5EF4-FFF2-40B4-BE49-F238E27FC236}">
                  <a16:creationId xmlns:a16="http://schemas.microsoft.com/office/drawing/2014/main" id="{AB41FEE2-445F-7002-2B4E-84E8B752FEB4}"/>
                </a:ext>
              </a:extLst>
            </p:cNvPr>
            <p:cNvSpPr>
              <a:spLocks noChangeShapeType="1"/>
            </p:cNvSpPr>
            <p:nvPr/>
          </p:nvSpPr>
          <p:spPr bwMode="auto">
            <a:xfrm>
              <a:off x="1741" y="3256"/>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grpSp>
      <p:grpSp>
        <p:nvGrpSpPr>
          <p:cNvPr id="170" name="Group 37">
            <a:extLst>
              <a:ext uri="{FF2B5EF4-FFF2-40B4-BE49-F238E27FC236}">
                <a16:creationId xmlns:a16="http://schemas.microsoft.com/office/drawing/2014/main" id="{A2908456-A27B-C4FB-7BD5-14AF9DA47168}"/>
              </a:ext>
            </a:extLst>
          </p:cNvPr>
          <p:cNvGrpSpPr>
            <a:grpSpLocks/>
          </p:cNvGrpSpPr>
          <p:nvPr/>
        </p:nvGrpSpPr>
        <p:grpSpPr bwMode="auto">
          <a:xfrm>
            <a:off x="2678561" y="3502775"/>
            <a:ext cx="421686" cy="418458"/>
            <a:chOff x="1702" y="2990"/>
            <a:chExt cx="269" cy="301"/>
          </a:xfrm>
        </p:grpSpPr>
        <p:sp>
          <p:nvSpPr>
            <p:cNvPr id="171" name="Rectangle 38">
              <a:extLst>
                <a:ext uri="{FF2B5EF4-FFF2-40B4-BE49-F238E27FC236}">
                  <a16:creationId xmlns:a16="http://schemas.microsoft.com/office/drawing/2014/main" id="{91E16E76-DEF5-7CA4-46D2-01535BAA9FAC}"/>
                </a:ext>
              </a:extLst>
            </p:cNvPr>
            <p:cNvSpPr>
              <a:spLocks noChangeArrowheads="1"/>
            </p:cNvSpPr>
            <p:nvPr/>
          </p:nvSpPr>
          <p:spPr bwMode="auto">
            <a:xfrm>
              <a:off x="1702" y="2990"/>
              <a:ext cx="267" cy="301"/>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2" name="Line 39">
              <a:extLst>
                <a:ext uri="{FF2B5EF4-FFF2-40B4-BE49-F238E27FC236}">
                  <a16:creationId xmlns:a16="http://schemas.microsoft.com/office/drawing/2014/main" id="{5CD10AFA-D9D1-8974-11AB-58501BDC224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73" name="Line 40">
              <a:extLst>
                <a:ext uri="{FF2B5EF4-FFF2-40B4-BE49-F238E27FC236}">
                  <a16:creationId xmlns:a16="http://schemas.microsoft.com/office/drawing/2014/main" id="{14AE8357-525B-3F4C-73DA-10C84C6D403B}"/>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74" name="Line 41">
              <a:extLst>
                <a:ext uri="{FF2B5EF4-FFF2-40B4-BE49-F238E27FC236}">
                  <a16:creationId xmlns:a16="http://schemas.microsoft.com/office/drawing/2014/main" id="{3A79380C-0DF8-8CDD-2CE7-FA4A762BD9EA}"/>
                </a:ext>
              </a:extLst>
            </p:cNvPr>
            <p:cNvSpPr>
              <a:spLocks noChangeShapeType="1"/>
            </p:cNvSpPr>
            <p:nvPr/>
          </p:nvSpPr>
          <p:spPr bwMode="auto">
            <a:xfrm>
              <a:off x="1741" y="313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75" name="Line 42">
              <a:extLst>
                <a:ext uri="{FF2B5EF4-FFF2-40B4-BE49-F238E27FC236}">
                  <a16:creationId xmlns:a16="http://schemas.microsoft.com/office/drawing/2014/main" id="{1B2982DD-92B4-2122-70BE-26E18C3ED0E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76" name="Line 43">
              <a:extLst>
                <a:ext uri="{FF2B5EF4-FFF2-40B4-BE49-F238E27FC236}">
                  <a16:creationId xmlns:a16="http://schemas.microsoft.com/office/drawing/2014/main" id="{E0951CC3-13EF-7195-753A-53BFA8A197F9}"/>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77" name="Line 44">
              <a:extLst>
                <a:ext uri="{FF2B5EF4-FFF2-40B4-BE49-F238E27FC236}">
                  <a16:creationId xmlns:a16="http://schemas.microsoft.com/office/drawing/2014/main" id="{F2D9DCAC-4CD1-DC71-CFB6-15677F2836FD}"/>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grpSp>
      <p:grpSp>
        <p:nvGrpSpPr>
          <p:cNvPr id="178" name="Group 45">
            <a:extLst>
              <a:ext uri="{FF2B5EF4-FFF2-40B4-BE49-F238E27FC236}">
                <a16:creationId xmlns:a16="http://schemas.microsoft.com/office/drawing/2014/main" id="{D0136434-4CDA-B547-0019-D4C1A40A36A9}"/>
              </a:ext>
            </a:extLst>
          </p:cNvPr>
          <p:cNvGrpSpPr>
            <a:grpSpLocks/>
          </p:cNvGrpSpPr>
          <p:nvPr/>
        </p:nvGrpSpPr>
        <p:grpSpPr bwMode="auto">
          <a:xfrm>
            <a:off x="3802535" y="3487482"/>
            <a:ext cx="421686" cy="418458"/>
            <a:chOff x="1702" y="2990"/>
            <a:chExt cx="269" cy="301"/>
          </a:xfrm>
        </p:grpSpPr>
        <p:sp>
          <p:nvSpPr>
            <p:cNvPr id="179" name="Rectangle 46">
              <a:extLst>
                <a:ext uri="{FF2B5EF4-FFF2-40B4-BE49-F238E27FC236}">
                  <a16:creationId xmlns:a16="http://schemas.microsoft.com/office/drawing/2014/main" id="{54FC4F42-9350-5532-15DA-0FEE9D0A7143}"/>
                </a:ext>
              </a:extLst>
            </p:cNvPr>
            <p:cNvSpPr>
              <a:spLocks noChangeArrowheads="1"/>
            </p:cNvSpPr>
            <p:nvPr/>
          </p:nvSpPr>
          <p:spPr bwMode="auto">
            <a:xfrm>
              <a:off x="1702" y="2990"/>
              <a:ext cx="269" cy="303"/>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0" name="Line 47">
              <a:extLst>
                <a:ext uri="{FF2B5EF4-FFF2-40B4-BE49-F238E27FC236}">
                  <a16:creationId xmlns:a16="http://schemas.microsoft.com/office/drawing/2014/main" id="{B6A42487-FF02-1D31-5595-13D917201869}"/>
                </a:ext>
              </a:extLst>
            </p:cNvPr>
            <p:cNvSpPr>
              <a:spLocks noChangeShapeType="1"/>
            </p:cNvSpPr>
            <p:nvPr/>
          </p:nvSpPr>
          <p:spPr bwMode="auto">
            <a:xfrm>
              <a:off x="1740" y="304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81" name="Line 48">
              <a:extLst>
                <a:ext uri="{FF2B5EF4-FFF2-40B4-BE49-F238E27FC236}">
                  <a16:creationId xmlns:a16="http://schemas.microsoft.com/office/drawing/2014/main" id="{4CAD42B1-4B97-02F6-C97A-775519A2EB68}"/>
                </a:ext>
              </a:extLst>
            </p:cNvPr>
            <p:cNvSpPr>
              <a:spLocks noChangeShapeType="1"/>
            </p:cNvSpPr>
            <p:nvPr/>
          </p:nvSpPr>
          <p:spPr bwMode="auto">
            <a:xfrm>
              <a:off x="1740"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82" name="Line 49">
              <a:extLst>
                <a:ext uri="{FF2B5EF4-FFF2-40B4-BE49-F238E27FC236}">
                  <a16:creationId xmlns:a16="http://schemas.microsoft.com/office/drawing/2014/main" id="{7C10DC5D-1138-F540-13EA-AB30F066624B}"/>
                </a:ext>
              </a:extLst>
            </p:cNvPr>
            <p:cNvSpPr>
              <a:spLocks noChangeShapeType="1"/>
            </p:cNvSpPr>
            <p:nvPr/>
          </p:nvSpPr>
          <p:spPr bwMode="auto">
            <a:xfrm>
              <a:off x="1740"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83" name="Line 50">
              <a:extLst>
                <a:ext uri="{FF2B5EF4-FFF2-40B4-BE49-F238E27FC236}">
                  <a16:creationId xmlns:a16="http://schemas.microsoft.com/office/drawing/2014/main" id="{C1335911-BC4B-A142-CF44-4FE25051D3B3}"/>
                </a:ext>
              </a:extLst>
            </p:cNvPr>
            <p:cNvSpPr>
              <a:spLocks noChangeShapeType="1"/>
            </p:cNvSpPr>
            <p:nvPr/>
          </p:nvSpPr>
          <p:spPr bwMode="auto">
            <a:xfrm>
              <a:off x="1740"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84" name="Line 51">
              <a:extLst>
                <a:ext uri="{FF2B5EF4-FFF2-40B4-BE49-F238E27FC236}">
                  <a16:creationId xmlns:a16="http://schemas.microsoft.com/office/drawing/2014/main" id="{9C16688C-5058-534A-6659-A6552A27495C}"/>
                </a:ext>
              </a:extLst>
            </p:cNvPr>
            <p:cNvSpPr>
              <a:spLocks noChangeShapeType="1"/>
            </p:cNvSpPr>
            <p:nvPr/>
          </p:nvSpPr>
          <p:spPr bwMode="auto">
            <a:xfrm>
              <a:off x="1740"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sp>
          <p:nvSpPr>
            <p:cNvPr id="185" name="Line 52">
              <a:extLst>
                <a:ext uri="{FF2B5EF4-FFF2-40B4-BE49-F238E27FC236}">
                  <a16:creationId xmlns:a16="http://schemas.microsoft.com/office/drawing/2014/main" id="{2FA6AF7F-993D-9C21-D464-AE6334D1AC83}"/>
                </a:ext>
              </a:extLst>
            </p:cNvPr>
            <p:cNvSpPr>
              <a:spLocks noChangeShapeType="1"/>
            </p:cNvSpPr>
            <p:nvPr/>
          </p:nvSpPr>
          <p:spPr bwMode="auto">
            <a:xfrm>
              <a:off x="1740" y="325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grpSp>
      <p:sp>
        <p:nvSpPr>
          <p:cNvPr id="186" name="Line 53">
            <a:extLst>
              <a:ext uri="{FF2B5EF4-FFF2-40B4-BE49-F238E27FC236}">
                <a16:creationId xmlns:a16="http://schemas.microsoft.com/office/drawing/2014/main" id="{19D74E46-0B5A-D37D-7E1A-49D1980E6651}"/>
              </a:ext>
            </a:extLst>
          </p:cNvPr>
          <p:cNvSpPr>
            <a:spLocks noChangeShapeType="1"/>
          </p:cNvSpPr>
          <p:nvPr/>
        </p:nvSpPr>
        <p:spPr bwMode="auto">
          <a:xfrm flipV="1">
            <a:off x="1960596" y="3099609"/>
            <a:ext cx="719532" cy="1807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2798"/>
          </a:p>
        </p:txBody>
      </p:sp>
      <p:sp>
        <p:nvSpPr>
          <p:cNvPr id="187" name="AutoShape 54">
            <a:extLst>
              <a:ext uri="{FF2B5EF4-FFF2-40B4-BE49-F238E27FC236}">
                <a16:creationId xmlns:a16="http://schemas.microsoft.com/office/drawing/2014/main" id="{B0D09765-F57C-53F9-2DB3-7500490399AA}"/>
              </a:ext>
            </a:extLst>
          </p:cNvPr>
          <p:cNvSpPr>
            <a:spLocks noChangeArrowheads="1"/>
          </p:cNvSpPr>
          <p:nvPr/>
        </p:nvSpPr>
        <p:spPr bwMode="auto">
          <a:xfrm>
            <a:off x="2189467" y="2985611"/>
            <a:ext cx="230438" cy="222436"/>
          </a:xfrm>
          <a:prstGeom prst="triangle">
            <a:avLst>
              <a:gd name="adj" fmla="val 5000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cs typeface="Arial" panose="020B0604020202020204" pitchFamily="34" charset="0"/>
              </a:rPr>
              <a:t>I</a:t>
            </a:r>
          </a:p>
        </p:txBody>
      </p:sp>
      <p:sp>
        <p:nvSpPr>
          <p:cNvPr id="188" name="Line 55">
            <a:extLst>
              <a:ext uri="{FF2B5EF4-FFF2-40B4-BE49-F238E27FC236}">
                <a16:creationId xmlns:a16="http://schemas.microsoft.com/office/drawing/2014/main" id="{08E0A148-0C9A-3EA5-E20A-4B0F00FE6089}"/>
              </a:ext>
            </a:extLst>
          </p:cNvPr>
          <p:cNvSpPr>
            <a:spLocks noChangeShapeType="1"/>
          </p:cNvSpPr>
          <p:nvPr/>
        </p:nvSpPr>
        <p:spPr bwMode="auto">
          <a:xfrm flipV="1">
            <a:off x="3131599" y="3099609"/>
            <a:ext cx="721100" cy="1807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2798"/>
          </a:p>
        </p:txBody>
      </p:sp>
      <p:sp>
        <p:nvSpPr>
          <p:cNvPr id="189" name="AutoShape 56">
            <a:extLst>
              <a:ext uri="{FF2B5EF4-FFF2-40B4-BE49-F238E27FC236}">
                <a16:creationId xmlns:a16="http://schemas.microsoft.com/office/drawing/2014/main" id="{3E01C723-DEDD-5FD7-2384-9070302F2DFF}"/>
              </a:ext>
            </a:extLst>
          </p:cNvPr>
          <p:cNvSpPr>
            <a:spLocks noChangeArrowheads="1"/>
          </p:cNvSpPr>
          <p:nvPr/>
        </p:nvSpPr>
        <p:spPr bwMode="auto">
          <a:xfrm>
            <a:off x="3333820" y="2985611"/>
            <a:ext cx="228870" cy="222436"/>
          </a:xfrm>
          <a:prstGeom prst="triangle">
            <a:avLst>
              <a:gd name="adj" fmla="val 5000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cs typeface="Arial" panose="020B0604020202020204" pitchFamily="34" charset="0"/>
              </a:rPr>
              <a:t>I</a:t>
            </a:r>
          </a:p>
        </p:txBody>
      </p:sp>
      <p:sp>
        <p:nvSpPr>
          <p:cNvPr id="190" name="AutoShape 57">
            <a:extLst>
              <a:ext uri="{FF2B5EF4-FFF2-40B4-BE49-F238E27FC236}">
                <a16:creationId xmlns:a16="http://schemas.microsoft.com/office/drawing/2014/main" id="{0DDFAD87-B076-7562-7C32-CDAC0FAF97C7}"/>
              </a:ext>
            </a:extLst>
          </p:cNvPr>
          <p:cNvSpPr>
            <a:spLocks noChangeArrowheads="1"/>
          </p:cNvSpPr>
          <p:nvPr/>
        </p:nvSpPr>
        <p:spPr bwMode="auto">
          <a:xfrm rot="18900000">
            <a:off x="4161518" y="2453155"/>
            <a:ext cx="978187" cy="266923"/>
          </a:xfrm>
          <a:prstGeom prst="rightArrow">
            <a:avLst>
              <a:gd name="adj1" fmla="val 50000"/>
              <a:gd name="adj2" fmla="val 8125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1" name="AutoShape 58">
            <a:extLst>
              <a:ext uri="{FF2B5EF4-FFF2-40B4-BE49-F238E27FC236}">
                <a16:creationId xmlns:a16="http://schemas.microsoft.com/office/drawing/2014/main" id="{22BEC763-EEC9-7654-0E93-921EB0E013A2}"/>
              </a:ext>
            </a:extLst>
          </p:cNvPr>
          <p:cNvSpPr>
            <a:spLocks noChangeArrowheads="1"/>
          </p:cNvSpPr>
          <p:nvPr/>
        </p:nvSpPr>
        <p:spPr bwMode="auto">
          <a:xfrm rot="2772363">
            <a:off x="718049" y="2469491"/>
            <a:ext cx="868891" cy="300981"/>
          </a:xfrm>
          <a:prstGeom prst="rightArrow">
            <a:avLst>
              <a:gd name="adj1" fmla="val 50000"/>
              <a:gd name="adj2" fmla="val 81245"/>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2" name="AutoShape 59">
            <a:extLst>
              <a:ext uri="{FF2B5EF4-FFF2-40B4-BE49-F238E27FC236}">
                <a16:creationId xmlns:a16="http://schemas.microsoft.com/office/drawing/2014/main" id="{378C64B4-1AC3-CCE9-BB22-BA4C671872B9}"/>
              </a:ext>
            </a:extLst>
          </p:cNvPr>
          <p:cNvSpPr>
            <a:spLocks noChangeArrowheads="1"/>
          </p:cNvSpPr>
          <p:nvPr/>
        </p:nvSpPr>
        <p:spPr bwMode="auto">
          <a:xfrm>
            <a:off x="1302200" y="3387386"/>
            <a:ext cx="749317" cy="469896"/>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3" name="AutoShape 60">
            <a:extLst>
              <a:ext uri="{FF2B5EF4-FFF2-40B4-BE49-F238E27FC236}">
                <a16:creationId xmlns:a16="http://schemas.microsoft.com/office/drawing/2014/main" id="{CB05E455-1E9F-01CF-90FB-9C62DE848943}"/>
              </a:ext>
            </a:extLst>
          </p:cNvPr>
          <p:cNvSpPr>
            <a:spLocks noChangeArrowheads="1"/>
          </p:cNvSpPr>
          <p:nvPr/>
        </p:nvSpPr>
        <p:spPr bwMode="auto">
          <a:xfrm>
            <a:off x="2280388" y="2653348"/>
            <a:ext cx="755587" cy="467115"/>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4" name="AutoShape 61">
            <a:extLst>
              <a:ext uri="{FF2B5EF4-FFF2-40B4-BE49-F238E27FC236}">
                <a16:creationId xmlns:a16="http://schemas.microsoft.com/office/drawing/2014/main" id="{36089471-A2F4-7121-3BA9-B22C255447E0}"/>
              </a:ext>
            </a:extLst>
          </p:cNvPr>
          <p:cNvSpPr>
            <a:spLocks noChangeArrowheads="1"/>
          </p:cNvSpPr>
          <p:nvPr/>
        </p:nvSpPr>
        <p:spPr bwMode="auto">
          <a:xfrm>
            <a:off x="3484311" y="3120462"/>
            <a:ext cx="754020" cy="469896"/>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195" name="Picture 65" descr="image001">
            <a:extLst>
              <a:ext uri="{FF2B5EF4-FFF2-40B4-BE49-F238E27FC236}">
                <a16:creationId xmlns:a16="http://schemas.microsoft.com/office/drawing/2014/main" id="{4B85EB7F-8EFE-8C28-AC22-B8303540B2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0750" y="3287479"/>
            <a:ext cx="5077747" cy="26745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grpSp>
        <p:nvGrpSpPr>
          <p:cNvPr id="196" name="Group 66">
            <a:extLst>
              <a:ext uri="{FF2B5EF4-FFF2-40B4-BE49-F238E27FC236}">
                <a16:creationId xmlns:a16="http://schemas.microsoft.com/office/drawing/2014/main" id="{5EC232B9-DB68-F4B8-0FD2-89825B0936B8}"/>
              </a:ext>
            </a:extLst>
          </p:cNvPr>
          <p:cNvGrpSpPr>
            <a:grpSpLocks/>
          </p:cNvGrpSpPr>
          <p:nvPr/>
        </p:nvGrpSpPr>
        <p:grpSpPr bwMode="auto">
          <a:xfrm>
            <a:off x="3321147" y="2767985"/>
            <a:ext cx="1272277" cy="2323915"/>
            <a:chOff x="1968" y="1728"/>
            <a:chExt cx="672" cy="1584"/>
          </a:xfrm>
        </p:grpSpPr>
        <p:sp>
          <p:nvSpPr>
            <p:cNvPr id="197" name="Rectangle 67">
              <a:extLst>
                <a:ext uri="{FF2B5EF4-FFF2-40B4-BE49-F238E27FC236}">
                  <a16:creationId xmlns:a16="http://schemas.microsoft.com/office/drawing/2014/main" id="{3715ADF8-C1A3-71DF-3CF8-80EBECACBC88}"/>
                </a:ext>
              </a:extLst>
            </p:cNvPr>
            <p:cNvSpPr>
              <a:spLocks noChangeArrowheads="1"/>
            </p:cNvSpPr>
            <p:nvPr/>
          </p:nvSpPr>
          <p:spPr bwMode="auto">
            <a:xfrm>
              <a:off x="1968" y="1728"/>
              <a:ext cx="672" cy="864"/>
            </a:xfrm>
            <a:prstGeom prst="rect">
              <a:avLst/>
            </a:prstGeom>
            <a:noFill/>
            <a:ln w="76200" cap="sq">
              <a:solidFill>
                <a:srgbClr val="FFB627"/>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8" name="Line 68">
              <a:extLst>
                <a:ext uri="{FF2B5EF4-FFF2-40B4-BE49-F238E27FC236}">
                  <a16:creationId xmlns:a16="http://schemas.microsoft.com/office/drawing/2014/main" id="{C7C07D95-A1D6-772D-75E4-F02FE80447F0}"/>
                </a:ext>
              </a:extLst>
            </p:cNvPr>
            <p:cNvSpPr>
              <a:spLocks noChangeShapeType="1"/>
            </p:cNvSpPr>
            <p:nvPr/>
          </p:nvSpPr>
          <p:spPr bwMode="auto">
            <a:xfrm>
              <a:off x="2304" y="2592"/>
              <a:ext cx="0" cy="720"/>
            </a:xfrm>
            <a:prstGeom prst="line">
              <a:avLst/>
            </a:prstGeom>
            <a:noFill/>
            <a:ln w="76200" cap="sq">
              <a:solidFill>
                <a:srgbClr val="FFB627"/>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2798"/>
            </a:p>
          </p:txBody>
        </p:sp>
      </p:grpSp>
      <p:sp>
        <p:nvSpPr>
          <p:cNvPr id="199" name="Line 69">
            <a:extLst>
              <a:ext uri="{FF2B5EF4-FFF2-40B4-BE49-F238E27FC236}">
                <a16:creationId xmlns:a16="http://schemas.microsoft.com/office/drawing/2014/main" id="{8D8297FD-A5B9-35AF-B8F7-B75E87575522}"/>
              </a:ext>
            </a:extLst>
          </p:cNvPr>
          <p:cNvSpPr>
            <a:spLocks noChangeShapeType="1"/>
          </p:cNvSpPr>
          <p:nvPr/>
        </p:nvSpPr>
        <p:spPr bwMode="auto">
          <a:xfrm>
            <a:off x="3957286" y="5091900"/>
            <a:ext cx="2332148" cy="0"/>
          </a:xfrm>
          <a:prstGeom prst="line">
            <a:avLst/>
          </a:prstGeom>
          <a:noFill/>
          <a:ln w="76200" cap="sq">
            <a:solidFill>
              <a:srgbClr val="FFB627"/>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2798"/>
          </a:p>
        </p:txBody>
      </p:sp>
      <p:sp>
        <p:nvSpPr>
          <p:cNvPr id="200" name="Title 1">
            <a:extLst>
              <a:ext uri="{FF2B5EF4-FFF2-40B4-BE49-F238E27FC236}">
                <a16:creationId xmlns:a16="http://schemas.microsoft.com/office/drawing/2014/main" id="{0EB5D760-F838-1888-C0FA-D5B3F90E73F3}"/>
              </a:ext>
            </a:extLst>
          </p:cNvPr>
          <p:cNvSpPr txBox="1">
            <a:spLocks/>
          </p:cNvSpPr>
          <p:nvPr/>
        </p:nvSpPr>
        <p:spPr>
          <a:xfrm>
            <a:off x="505856" y="717451"/>
            <a:ext cx="10512862" cy="1009388"/>
          </a:xfrm>
          <a:prstGeom prst="rect">
            <a:avLst/>
          </a:prstGeom>
        </p:spPr>
        <p:txBody>
          <a:bodyPr>
            <a:noAutofit/>
          </a:bodyPr>
          <a:lst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sz="3599" dirty="0"/>
              <a:t>Value Stream Map and Process Map Distinction</a:t>
            </a:r>
          </a:p>
        </p:txBody>
      </p:sp>
      <p:sp>
        <p:nvSpPr>
          <p:cNvPr id="201" name="AutoShape 70">
            <a:extLst>
              <a:ext uri="{FF2B5EF4-FFF2-40B4-BE49-F238E27FC236}">
                <a16:creationId xmlns:a16="http://schemas.microsoft.com/office/drawing/2014/main" id="{0322056A-3C50-7034-2274-D8CAB2194FE5}"/>
              </a:ext>
            </a:extLst>
          </p:cNvPr>
          <p:cNvSpPr>
            <a:spLocks noChangeArrowheads="1"/>
          </p:cNvSpPr>
          <p:nvPr/>
        </p:nvSpPr>
        <p:spPr bwMode="auto">
          <a:xfrm rot="16200000">
            <a:off x="8075851" y="-201394"/>
            <a:ext cx="1584487" cy="4861915"/>
          </a:xfrm>
          <a:prstGeom prst="leftArrow">
            <a:avLst>
              <a:gd name="adj1" fmla="val 78509"/>
              <a:gd name="adj2" fmla="val 30565"/>
            </a:avLst>
          </a:prstGeom>
          <a:solidFill>
            <a:srgbClr val="EE3228"/>
          </a:solidFill>
          <a:ln w="12700" cap="sq">
            <a:solidFill>
              <a:schemeClr val="tx1"/>
            </a:solidFill>
            <a:miter lim="800000"/>
            <a:headEnd/>
            <a:tailEnd/>
          </a:ln>
        </p:spPr>
        <p:txBody>
          <a:bodyPr vert="eaVert" wrap="squar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Detailed graphical depiction of a manufacturing or business process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Used to identify specific improvements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Incorporates decision loops within the process </a:t>
            </a:r>
          </a:p>
        </p:txBody>
      </p:sp>
      <p:sp>
        <p:nvSpPr>
          <p:cNvPr id="202" name="TextBox 201">
            <a:extLst>
              <a:ext uri="{FF2B5EF4-FFF2-40B4-BE49-F238E27FC236}">
                <a16:creationId xmlns:a16="http://schemas.microsoft.com/office/drawing/2014/main" id="{CBB3CF5C-FDDC-6013-2004-BE55FCED8716}"/>
              </a:ext>
            </a:extLst>
          </p:cNvPr>
          <p:cNvSpPr txBox="1"/>
          <p:nvPr/>
        </p:nvSpPr>
        <p:spPr>
          <a:xfrm>
            <a:off x="1882217" y="1680789"/>
            <a:ext cx="2296529" cy="953218"/>
          </a:xfrm>
          <a:prstGeom prst="rect">
            <a:avLst/>
          </a:prstGeom>
          <a:noFill/>
        </p:spPr>
        <p:txBody>
          <a:bodyPr wrap="square" rtlCol="0">
            <a:spAutoFit/>
          </a:bodyPr>
          <a:lstStyle/>
          <a:p>
            <a:pPr algn="ctr"/>
            <a:r>
              <a:rPr lang="en-US" sz="2798" b="1" dirty="0">
                <a:latin typeface="Roboto" panose="02000000000000000000" pitchFamily="2" charset="0"/>
                <a:ea typeface="Roboto" panose="02000000000000000000" pitchFamily="2" charset="0"/>
                <a:cs typeface="Roboto" panose="02000000000000000000" pitchFamily="2" charset="0"/>
              </a:rPr>
              <a:t>Value Stream Map</a:t>
            </a:r>
          </a:p>
        </p:txBody>
      </p:sp>
      <p:sp>
        <p:nvSpPr>
          <p:cNvPr id="203" name="Slide Number Placeholder 2">
            <a:extLst>
              <a:ext uri="{FF2B5EF4-FFF2-40B4-BE49-F238E27FC236}">
                <a16:creationId xmlns:a16="http://schemas.microsoft.com/office/drawing/2014/main" id="{EF4A9DB6-D35C-21C3-AE9C-9CE7299F160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a:t>
            </a:fld>
            <a:endParaRPr lang="en-US" dirty="0"/>
          </a:p>
        </p:txBody>
      </p:sp>
    </p:spTree>
    <p:extLst>
      <p:ext uri="{BB962C8B-B14F-4D97-AF65-F5344CB8AC3E}">
        <p14:creationId xmlns:p14="http://schemas.microsoft.com/office/powerpoint/2010/main" val="109038506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dirty="0"/>
              <a:t>Goal of VSM</a:t>
            </a:r>
          </a:p>
        </p:txBody>
      </p:sp>
      <p:sp>
        <p:nvSpPr>
          <p:cNvPr id="4" name="Rectangle 3">
            <a:extLst>
              <a:ext uri="{FF2B5EF4-FFF2-40B4-BE49-F238E27FC236}">
                <a16:creationId xmlns:a16="http://schemas.microsoft.com/office/drawing/2014/main" id="{585B5EDC-5C64-2DC5-D332-FC2F7B0A20E8}"/>
              </a:ext>
            </a:extLst>
          </p:cNvPr>
          <p:cNvSpPr/>
          <p:nvPr/>
        </p:nvSpPr>
        <p:spPr>
          <a:xfrm>
            <a:off x="837981" y="2017909"/>
            <a:ext cx="10461484" cy="666835"/>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To clearly identify waste in key end-to-end manufacturing and business processes, and create an executable transformation plan.</a:t>
            </a:r>
          </a:p>
        </p:txBody>
      </p:sp>
      <p:sp>
        <p:nvSpPr>
          <p:cNvPr id="16" name="Rectangle 15">
            <a:extLst>
              <a:ext uri="{FF2B5EF4-FFF2-40B4-BE49-F238E27FC236}">
                <a16:creationId xmlns:a16="http://schemas.microsoft.com/office/drawing/2014/main" id="{E5B907A1-AF30-B910-EA67-454E0DF85F2D}"/>
              </a:ext>
            </a:extLst>
          </p:cNvPr>
          <p:cNvSpPr/>
          <p:nvPr/>
        </p:nvSpPr>
        <p:spPr>
          <a:xfrm>
            <a:off x="889359" y="3016233"/>
            <a:ext cx="4209397" cy="359059"/>
          </a:xfrm>
          <a:prstGeom prst="rect">
            <a:avLst/>
          </a:prstGeom>
          <a:solidFill>
            <a:srgbClr val="FFB627"/>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191C25"/>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Benefits</a:t>
            </a:r>
          </a:p>
        </p:txBody>
      </p:sp>
      <p:sp>
        <p:nvSpPr>
          <p:cNvPr id="17" name="Rectangle 16">
            <a:extLst>
              <a:ext uri="{FF2B5EF4-FFF2-40B4-BE49-F238E27FC236}">
                <a16:creationId xmlns:a16="http://schemas.microsoft.com/office/drawing/2014/main" id="{3033DF4D-98F3-F2D7-1F65-AF2CBD8388B5}"/>
              </a:ext>
            </a:extLst>
          </p:cNvPr>
          <p:cNvSpPr/>
          <p:nvPr/>
        </p:nvSpPr>
        <p:spPr>
          <a:xfrm>
            <a:off x="7090068" y="3016234"/>
            <a:ext cx="4209397" cy="359059"/>
          </a:xfrm>
          <a:prstGeom prst="rect">
            <a:avLst/>
          </a:prstGeom>
          <a:solidFill>
            <a:srgbClr val="FFB627"/>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r>
              <a:rPr lang="en-US" sz="2000" dirty="0">
                <a:solidFill>
                  <a:srgbClr val="191C25"/>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When to Use</a:t>
            </a:r>
          </a:p>
        </p:txBody>
      </p:sp>
      <p:sp>
        <p:nvSpPr>
          <p:cNvPr id="3" name="TextBox 2">
            <a:extLst>
              <a:ext uri="{FF2B5EF4-FFF2-40B4-BE49-F238E27FC236}">
                <a16:creationId xmlns:a16="http://schemas.microsoft.com/office/drawing/2014/main" id="{6C82D6C8-5C2D-550F-E81D-C37455A80E84}"/>
              </a:ext>
            </a:extLst>
          </p:cNvPr>
          <p:cNvSpPr txBox="1"/>
          <p:nvPr/>
        </p:nvSpPr>
        <p:spPr>
          <a:xfrm>
            <a:off x="889359" y="3678800"/>
            <a:ext cx="4209397" cy="251349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Focuses limited resources</a:t>
            </a:r>
          </a:p>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Establishes timeline for expected performance improvements </a:t>
            </a:r>
          </a:p>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Avoids creating islands of success in a sea of waste</a:t>
            </a:r>
          </a:p>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Allows everyone gain a common understanding of the current state and the future vision </a:t>
            </a:r>
          </a:p>
        </p:txBody>
      </p:sp>
      <p:sp>
        <p:nvSpPr>
          <p:cNvPr id="18" name="TextBox 17">
            <a:extLst>
              <a:ext uri="{FF2B5EF4-FFF2-40B4-BE49-F238E27FC236}">
                <a16:creationId xmlns:a16="http://schemas.microsoft.com/office/drawing/2014/main" id="{3E793643-CB2F-7F1C-3AC4-3E2B9CB85CB6}"/>
              </a:ext>
            </a:extLst>
          </p:cNvPr>
          <p:cNvSpPr txBox="1"/>
          <p:nvPr/>
        </p:nvSpPr>
        <p:spPr>
          <a:xfrm>
            <a:off x="7090068" y="3678800"/>
            <a:ext cx="4209715" cy="251349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To provide direction for getting started on the Lean journey</a:t>
            </a:r>
          </a:p>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To execute improvements driven by Strategy Deployment and Key Business Imperatives</a:t>
            </a:r>
          </a:p>
          <a:p>
            <a:pPr marL="285693" indent="-285693" algn="l">
              <a:buClr>
                <a:schemeClr val="tx1"/>
              </a:buClr>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To gain true cross-functional understanding the end-to-end process</a:t>
            </a:r>
          </a:p>
        </p:txBody>
      </p:sp>
    </p:spTree>
    <p:extLst>
      <p:ext uri="{BB962C8B-B14F-4D97-AF65-F5344CB8AC3E}">
        <p14:creationId xmlns:p14="http://schemas.microsoft.com/office/powerpoint/2010/main" val="322685974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8C8DCBD4-A1B0-96D8-ACFB-55C6AEDEDD76}"/>
              </a:ext>
            </a:extLst>
          </p:cNvPr>
          <p:cNvSpPr>
            <a:spLocks noGrp="1"/>
          </p:cNvSpPr>
          <p:nvPr>
            <p:ph type="title"/>
          </p:nvPr>
        </p:nvSpPr>
        <p:spPr/>
        <p:txBody>
          <a:bodyPr>
            <a:normAutofit fontScale="90000"/>
          </a:bodyPr>
          <a:lstStyle/>
          <a:p>
            <a:r>
              <a:rPr lang="en-US" dirty="0"/>
              <a:t>Value Stream Mapping Linkage to Strategy</a:t>
            </a:r>
          </a:p>
        </p:txBody>
      </p:sp>
      <p:sp>
        <p:nvSpPr>
          <p:cNvPr id="3" name="Rectangle 4">
            <a:extLst>
              <a:ext uri="{FF2B5EF4-FFF2-40B4-BE49-F238E27FC236}">
                <a16:creationId xmlns:a16="http://schemas.microsoft.com/office/drawing/2014/main" id="{18E12515-2421-8E86-8221-0C78C06585E8}"/>
              </a:ext>
            </a:extLst>
          </p:cNvPr>
          <p:cNvSpPr>
            <a:spLocks noChangeArrowheads="1"/>
          </p:cNvSpPr>
          <p:nvPr/>
        </p:nvSpPr>
        <p:spPr bwMode="auto">
          <a:xfrm>
            <a:off x="3733051" y="2691765"/>
            <a:ext cx="2685351" cy="2207638"/>
          </a:xfrm>
          <a:prstGeom prst="rect">
            <a:avLst/>
          </a:prstGeom>
          <a:solidFill>
            <a:schemeClr val="accent3"/>
          </a:solidFill>
          <a:ln w="6350">
            <a:solidFill>
              <a:schemeClr val="tx1"/>
            </a:solidFill>
            <a:miter lim="800000"/>
            <a:headEnd/>
            <a:tailEnd/>
          </a:ln>
          <a:effectLst/>
        </p:spPr>
        <p:txBody>
          <a:bodyPr wrap="none" lIns="45708" rIns="45708" anchor="ctr"/>
          <a:lstStyle/>
          <a:p>
            <a:pPr algn="ctr">
              <a:spcBef>
                <a:spcPct val="30000"/>
              </a:spcBef>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Identify</a:t>
            </a:r>
          </a:p>
          <a:p>
            <a:pPr algn="ctr">
              <a:spcBef>
                <a:spcPct val="30000"/>
              </a:spcBef>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and Map</a:t>
            </a:r>
          </a:p>
          <a:p>
            <a:pPr algn="ctr">
              <a:spcBef>
                <a:spcPct val="30000"/>
              </a:spcBef>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Value Streams</a:t>
            </a:r>
          </a:p>
          <a:p>
            <a:pPr algn="ctr">
              <a:spcBef>
                <a:spcPct val="30000"/>
              </a:spcBef>
              <a:buClr>
                <a:schemeClr val="folHlink"/>
              </a:buClr>
              <a:defRPr/>
            </a:pPr>
            <a:endParaRPr lang="en-GB" sz="23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 name="Text Box 7">
            <a:extLst>
              <a:ext uri="{FF2B5EF4-FFF2-40B4-BE49-F238E27FC236}">
                <a16:creationId xmlns:a16="http://schemas.microsoft.com/office/drawing/2014/main" id="{A1A3B453-24EA-C4B7-28B7-7996BE7DA346}"/>
              </a:ext>
            </a:extLst>
          </p:cNvPr>
          <p:cNvSpPr txBox="1">
            <a:spLocks noChangeArrowheads="1"/>
          </p:cNvSpPr>
          <p:nvPr/>
        </p:nvSpPr>
        <p:spPr bwMode="auto">
          <a:xfrm>
            <a:off x="5974652" y="5882636"/>
            <a:ext cx="1128418" cy="29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08" rIns="45708"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GB" altLang="en-US" sz="1799" dirty="0">
                <a:solidFill>
                  <a:schemeClr val="tx1"/>
                </a:solidFill>
                <a:latin typeface="Roboto" panose="02000000000000000000" pitchFamily="2" charset="0"/>
                <a:ea typeface="Roboto" panose="02000000000000000000" pitchFamily="2" charset="0"/>
                <a:cs typeface="Roboto" panose="02000000000000000000" pitchFamily="2" charset="0"/>
              </a:rPr>
              <a:t>WASTE</a:t>
            </a:r>
          </a:p>
        </p:txBody>
      </p:sp>
      <p:sp>
        <p:nvSpPr>
          <p:cNvPr id="6" name="Rectangle 9">
            <a:extLst>
              <a:ext uri="{FF2B5EF4-FFF2-40B4-BE49-F238E27FC236}">
                <a16:creationId xmlns:a16="http://schemas.microsoft.com/office/drawing/2014/main" id="{7B445EAC-6313-F8C6-9084-407B07BF1460}"/>
              </a:ext>
            </a:extLst>
          </p:cNvPr>
          <p:cNvSpPr>
            <a:spLocks noChangeArrowheads="1"/>
          </p:cNvSpPr>
          <p:nvPr/>
        </p:nvSpPr>
        <p:spPr bwMode="auto">
          <a:xfrm>
            <a:off x="1182316" y="4193148"/>
            <a:ext cx="2436465" cy="1983099"/>
          </a:xfrm>
          <a:prstGeom prst="rect">
            <a:avLst/>
          </a:prstGeom>
          <a:solidFill>
            <a:schemeClr val="accent5"/>
          </a:solidFill>
          <a:ln w="6350">
            <a:solidFill>
              <a:schemeClr val="bg2"/>
            </a:solidFill>
            <a:miter lim="800000"/>
            <a:headEnd/>
            <a:tailEnd/>
          </a:ln>
          <a:effectLst/>
        </p:spPr>
        <p:txBody>
          <a:bodyPr wrap="none" lIns="45708" rIns="45708" anchor="ctr"/>
          <a:lstStyle>
            <a:lvl1pPr marL="101600" indent="-101600">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buClr>
                <a:schemeClr val="folHlink"/>
              </a:buClr>
              <a:defRPr/>
            </a:pPr>
            <a:r>
              <a:rPr lang="en-US" altLang="en-US" sz="1799" dirty="0">
                <a:latin typeface="Roboto" panose="02000000000000000000" pitchFamily="2" charset="0"/>
                <a:ea typeface="Roboto" panose="02000000000000000000" pitchFamily="2" charset="0"/>
                <a:cs typeface="Roboto" panose="02000000000000000000" pitchFamily="2" charset="0"/>
              </a:rPr>
              <a:t>Identify strategic</a:t>
            </a:r>
          </a:p>
          <a:p>
            <a:pPr algn="ctr">
              <a:buClr>
                <a:schemeClr val="folHlink"/>
              </a:buClr>
              <a:defRPr/>
            </a:pPr>
            <a:r>
              <a:rPr lang="en-US" altLang="en-US" sz="1799" dirty="0">
                <a:latin typeface="Roboto" panose="02000000000000000000" pitchFamily="2" charset="0"/>
                <a:ea typeface="Roboto" panose="02000000000000000000" pitchFamily="2" charset="0"/>
                <a:cs typeface="Roboto" panose="02000000000000000000" pitchFamily="2" charset="0"/>
              </a:rPr>
              <a:t>objectives and major</a:t>
            </a:r>
            <a:br>
              <a:rPr lang="en-US" altLang="en-US" sz="1799" dirty="0">
                <a:latin typeface="Roboto" panose="02000000000000000000" pitchFamily="2" charset="0"/>
                <a:ea typeface="Roboto" panose="02000000000000000000" pitchFamily="2" charset="0"/>
                <a:cs typeface="Roboto" panose="02000000000000000000" pitchFamily="2" charset="0"/>
              </a:rPr>
            </a:br>
            <a:r>
              <a:rPr lang="en-US" altLang="en-US" sz="1799" dirty="0">
                <a:latin typeface="Roboto" panose="02000000000000000000" pitchFamily="2" charset="0"/>
                <a:ea typeface="Roboto" panose="02000000000000000000" pitchFamily="2" charset="0"/>
                <a:cs typeface="Roboto" panose="02000000000000000000" pitchFamily="2" charset="0"/>
              </a:rPr>
              <a:t>business improvement</a:t>
            </a:r>
            <a:br>
              <a:rPr lang="en-US" altLang="en-US" sz="1799" dirty="0">
                <a:latin typeface="Roboto" panose="02000000000000000000" pitchFamily="2" charset="0"/>
                <a:ea typeface="Roboto" panose="02000000000000000000" pitchFamily="2" charset="0"/>
                <a:cs typeface="Roboto" panose="02000000000000000000" pitchFamily="2" charset="0"/>
              </a:rPr>
            </a:br>
            <a:r>
              <a:rPr lang="en-US" altLang="en-US" sz="1799" dirty="0">
                <a:latin typeface="Roboto" panose="02000000000000000000" pitchFamily="2" charset="0"/>
                <a:ea typeface="Roboto" panose="02000000000000000000" pitchFamily="2" charset="0"/>
                <a:cs typeface="Roboto" panose="02000000000000000000" pitchFamily="2" charset="0"/>
              </a:rPr>
              <a:t>opportunities</a:t>
            </a:r>
          </a:p>
        </p:txBody>
      </p:sp>
      <p:sp>
        <p:nvSpPr>
          <p:cNvPr id="8" name="Oval 2">
            <a:extLst>
              <a:ext uri="{FF2B5EF4-FFF2-40B4-BE49-F238E27FC236}">
                <a16:creationId xmlns:a16="http://schemas.microsoft.com/office/drawing/2014/main" id="{763B7E0D-3862-4172-2209-41AA85728EE8}"/>
              </a:ext>
            </a:extLst>
          </p:cNvPr>
          <p:cNvSpPr>
            <a:spLocks noChangeArrowheads="1"/>
          </p:cNvSpPr>
          <p:nvPr/>
        </p:nvSpPr>
        <p:spPr bwMode="auto">
          <a:xfrm>
            <a:off x="1290381" y="1893460"/>
            <a:ext cx="2220334" cy="2188592"/>
          </a:xfrm>
          <a:prstGeom prst="ellipse">
            <a:avLst/>
          </a:prstGeom>
          <a:solidFill>
            <a:schemeClr val="accent5"/>
          </a:solidFill>
          <a:ln w="6350">
            <a:solidFill>
              <a:schemeClr val="bg2"/>
            </a:solidFill>
            <a:round/>
            <a:headEnd/>
            <a:tailEnd/>
          </a:ln>
          <a:effectLst/>
        </p:spPr>
        <p:txBody>
          <a:bodyPr wrap="none" lIns="45708" rIns="45708" anchor="ctr"/>
          <a:lstStyle/>
          <a:p>
            <a:pPr marL="101570" indent="-101570">
              <a:spcBef>
                <a:spcPct val="30000"/>
              </a:spcBef>
              <a:buClr>
                <a:schemeClr val="folHlink"/>
              </a:buClr>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Key</a:t>
            </a:r>
          </a:p>
          <a:p>
            <a:pPr marL="101570" indent="-101570">
              <a:spcBef>
                <a:spcPct val="30000"/>
              </a:spcBef>
              <a:buClr>
                <a:schemeClr val="folHlink"/>
              </a:buClr>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Business</a:t>
            </a:r>
          </a:p>
          <a:p>
            <a:pPr marL="101570" indent="-101570">
              <a:spcBef>
                <a:spcPct val="30000"/>
              </a:spcBef>
              <a:buClr>
                <a:schemeClr val="folHlink"/>
              </a:buClr>
              <a:defRPr/>
            </a:pPr>
            <a:r>
              <a:rPr lang="en-GB" sz="2399" dirty="0">
                <a:solidFill>
                  <a:schemeClr val="bg1"/>
                </a:solidFill>
                <a:latin typeface="Roboto" panose="02000000000000000000" pitchFamily="2" charset="0"/>
                <a:ea typeface="Roboto" panose="02000000000000000000" pitchFamily="2" charset="0"/>
                <a:cs typeface="Roboto" panose="02000000000000000000" pitchFamily="2" charset="0"/>
              </a:rPr>
              <a:t>Imperatives</a:t>
            </a:r>
          </a:p>
        </p:txBody>
      </p:sp>
      <p:sp>
        <p:nvSpPr>
          <p:cNvPr id="9" name="AutoShape 5">
            <a:extLst>
              <a:ext uri="{FF2B5EF4-FFF2-40B4-BE49-F238E27FC236}">
                <a16:creationId xmlns:a16="http://schemas.microsoft.com/office/drawing/2014/main" id="{5779DDA3-BB3E-6BC7-CC38-CBCD98B94324}"/>
              </a:ext>
            </a:extLst>
          </p:cNvPr>
          <p:cNvSpPr>
            <a:spLocks noChangeArrowheads="1"/>
          </p:cNvSpPr>
          <p:nvPr/>
        </p:nvSpPr>
        <p:spPr bwMode="auto">
          <a:xfrm>
            <a:off x="6432686" y="1539540"/>
            <a:ext cx="791956" cy="4275611"/>
          </a:xfrm>
          <a:prstGeom prst="cube">
            <a:avLst>
              <a:gd name="adj" fmla="val 78426"/>
            </a:avLst>
          </a:prstGeom>
          <a:solidFill>
            <a:srgbClr val="7F7F7F"/>
          </a:solidFill>
          <a:ln w="6350">
            <a:solidFill>
              <a:schemeClr val="tx1"/>
            </a:solidFill>
            <a:miter lim="800000"/>
            <a:headEnd/>
            <a:tailEnd/>
          </a:ln>
        </p:spPr>
        <p:txBody>
          <a:bodyPr wrap="none" lIns="45708" rIns="45708"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 name="Freeform 6">
            <a:extLst>
              <a:ext uri="{FF2B5EF4-FFF2-40B4-BE49-F238E27FC236}">
                <a16:creationId xmlns:a16="http://schemas.microsoft.com/office/drawing/2014/main" id="{83E3B08B-09D8-4DB5-39E3-8111CD8D06CA}"/>
              </a:ext>
            </a:extLst>
          </p:cNvPr>
          <p:cNvSpPr>
            <a:spLocks/>
          </p:cNvSpPr>
          <p:nvPr/>
        </p:nvSpPr>
        <p:spPr bwMode="auto">
          <a:xfrm>
            <a:off x="6929444" y="1634765"/>
            <a:ext cx="3626078" cy="4326398"/>
          </a:xfrm>
          <a:custGeom>
            <a:avLst/>
            <a:gdLst>
              <a:gd name="T0" fmla="*/ 12865 w 1621"/>
              <a:gd name="T1" fmla="*/ 1061790 h 1777"/>
              <a:gd name="T2" fmla="*/ 1498718 w 1621"/>
              <a:gd name="T3" fmla="*/ 1061790 h 1777"/>
              <a:gd name="T4" fmla="*/ 1498718 w 1621"/>
              <a:gd name="T5" fmla="*/ 0 h 1777"/>
              <a:gd name="T6" fmla="*/ 2605067 w 1621"/>
              <a:gd name="T7" fmla="*/ 2172286 h 1777"/>
              <a:gd name="T8" fmla="*/ 1505150 w 1621"/>
              <a:gd name="T9" fmla="*/ 4325090 h 1777"/>
              <a:gd name="T10" fmla="*/ 1505150 w 1621"/>
              <a:gd name="T11" fmla="*/ 3273041 h 1777"/>
              <a:gd name="T12" fmla="*/ 6432 w 1621"/>
              <a:gd name="T13" fmla="*/ 3273041 h 1777"/>
              <a:gd name="T14" fmla="*/ 32161 w 1621"/>
              <a:gd name="T15" fmla="*/ 3107441 h 1777"/>
              <a:gd name="T16" fmla="*/ 0 w 1621"/>
              <a:gd name="T17" fmla="*/ 2932099 h 1777"/>
              <a:gd name="T18" fmla="*/ 64323 w 1621"/>
              <a:gd name="T19" fmla="*/ 2747016 h 1777"/>
              <a:gd name="T20" fmla="*/ 19297 w 1621"/>
              <a:gd name="T21" fmla="*/ 2630122 h 1777"/>
              <a:gd name="T22" fmla="*/ 51458 w 1621"/>
              <a:gd name="T23" fmla="*/ 2357369 h 1777"/>
              <a:gd name="T24" fmla="*/ 12865 w 1621"/>
              <a:gd name="T25" fmla="*/ 2220992 h 1777"/>
              <a:gd name="T26" fmla="*/ 45026 w 1621"/>
              <a:gd name="T27" fmla="*/ 2045651 h 1777"/>
              <a:gd name="T28" fmla="*/ 12865 w 1621"/>
              <a:gd name="T29" fmla="*/ 1850827 h 1777"/>
              <a:gd name="T30" fmla="*/ 51458 w 1621"/>
              <a:gd name="T31" fmla="*/ 1733932 h 1777"/>
              <a:gd name="T32" fmla="*/ 12865 w 1621"/>
              <a:gd name="T33" fmla="*/ 1568332 h 1777"/>
              <a:gd name="T34" fmla="*/ 45026 w 1621"/>
              <a:gd name="T35" fmla="*/ 1246873 h 1777"/>
              <a:gd name="T36" fmla="*/ 12865 w 1621"/>
              <a:gd name="T37" fmla="*/ 1168943 h 1777"/>
              <a:gd name="T38" fmla="*/ 12865 w 1621"/>
              <a:gd name="T39" fmla="*/ 1061790 h 17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21" h="1777">
                <a:moveTo>
                  <a:pt x="8" y="436"/>
                </a:moveTo>
                <a:lnTo>
                  <a:pt x="932" y="436"/>
                </a:lnTo>
                <a:lnTo>
                  <a:pt x="932" y="0"/>
                </a:lnTo>
                <a:lnTo>
                  <a:pt x="1620" y="892"/>
                </a:lnTo>
                <a:lnTo>
                  <a:pt x="936" y="1776"/>
                </a:lnTo>
                <a:lnTo>
                  <a:pt x="936" y="1344"/>
                </a:lnTo>
                <a:lnTo>
                  <a:pt x="4" y="1344"/>
                </a:lnTo>
                <a:lnTo>
                  <a:pt x="20" y="1276"/>
                </a:lnTo>
                <a:lnTo>
                  <a:pt x="0" y="1204"/>
                </a:lnTo>
                <a:lnTo>
                  <a:pt x="40" y="1128"/>
                </a:lnTo>
                <a:lnTo>
                  <a:pt x="12" y="1080"/>
                </a:lnTo>
                <a:lnTo>
                  <a:pt x="32" y="968"/>
                </a:lnTo>
                <a:lnTo>
                  <a:pt x="8" y="912"/>
                </a:lnTo>
                <a:lnTo>
                  <a:pt x="28" y="840"/>
                </a:lnTo>
                <a:lnTo>
                  <a:pt x="8" y="760"/>
                </a:lnTo>
                <a:lnTo>
                  <a:pt x="32" y="712"/>
                </a:lnTo>
                <a:lnTo>
                  <a:pt x="8" y="644"/>
                </a:lnTo>
                <a:lnTo>
                  <a:pt x="28" y="512"/>
                </a:lnTo>
                <a:lnTo>
                  <a:pt x="8" y="480"/>
                </a:lnTo>
                <a:lnTo>
                  <a:pt x="8" y="436"/>
                </a:lnTo>
              </a:path>
            </a:pathLst>
          </a:custGeom>
          <a:solidFill>
            <a:schemeClr val="accent3"/>
          </a:solidFill>
          <a:ln w="6350" cap="rnd" cmpd="sng">
            <a:solidFill>
              <a:schemeClr val="tx1"/>
            </a:solidFill>
            <a:prstDash val="solid"/>
            <a:round/>
            <a:headEnd type="none" w="med" len="med"/>
            <a:tailEnd type="none" w="med" len="med"/>
          </a:ln>
          <a:effectLst/>
        </p:spPr>
        <p:txBody>
          <a:bodyPr lIns="45708" rIns="45708" anchor="ctr"/>
          <a:lstStyle/>
          <a:p>
            <a:pPr algn="ctr">
              <a:spcBef>
                <a:spcPct val="20000"/>
              </a:spcBef>
              <a:defRPr/>
            </a:pPr>
            <a:r>
              <a:rPr lang="en-US" sz="2399" dirty="0">
                <a:solidFill>
                  <a:schemeClr val="bg1"/>
                </a:solidFill>
                <a:latin typeface="Roboto" panose="02000000000000000000" pitchFamily="2" charset="0"/>
                <a:ea typeface="Roboto" panose="02000000000000000000" pitchFamily="2" charset="0"/>
                <a:cs typeface="Roboto" panose="02000000000000000000" pitchFamily="2" charset="0"/>
              </a:rPr>
              <a:t>Make Improvements </a:t>
            </a:r>
            <a:br>
              <a:rPr lang="en-US" sz="2399"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sz="2399" dirty="0">
                <a:solidFill>
                  <a:schemeClr val="bg1"/>
                </a:solidFill>
                <a:latin typeface="Roboto" panose="02000000000000000000" pitchFamily="2" charset="0"/>
                <a:ea typeface="Roboto" panose="02000000000000000000" pitchFamily="2" charset="0"/>
                <a:cs typeface="Roboto" panose="02000000000000000000" pitchFamily="2" charset="0"/>
              </a:rPr>
              <a:t>that </a:t>
            </a:r>
            <a:br>
              <a:rPr lang="en-US" sz="2399"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sz="2399" dirty="0">
                <a:solidFill>
                  <a:schemeClr val="bg1"/>
                </a:solidFill>
                <a:latin typeface="Roboto" panose="02000000000000000000" pitchFamily="2" charset="0"/>
                <a:ea typeface="Roboto" panose="02000000000000000000" pitchFamily="2" charset="0"/>
                <a:cs typeface="Roboto" panose="02000000000000000000" pitchFamily="2" charset="0"/>
              </a:rPr>
              <a:t>Eliminate Waste:</a:t>
            </a:r>
          </a:p>
        </p:txBody>
      </p:sp>
      <p:sp>
        <p:nvSpPr>
          <p:cNvPr id="14" name="Slide Number Placeholder 2">
            <a:extLst>
              <a:ext uri="{FF2B5EF4-FFF2-40B4-BE49-F238E27FC236}">
                <a16:creationId xmlns:a16="http://schemas.microsoft.com/office/drawing/2014/main" id="{F6D55855-9E7A-126D-9527-49E25D0D888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8</a:t>
            </a:fld>
            <a:endParaRPr lang="en-US"/>
          </a:p>
        </p:txBody>
      </p:sp>
    </p:spTree>
    <p:extLst>
      <p:ext uri="{BB962C8B-B14F-4D97-AF65-F5344CB8AC3E}">
        <p14:creationId xmlns:p14="http://schemas.microsoft.com/office/powerpoint/2010/main" val="205167385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noAutofit/>
          </a:bodyPr>
          <a:lstStyle/>
          <a:p>
            <a:r>
              <a:rPr lang="en-US" sz="3600" dirty="0"/>
              <a:t>Business Case Examples that Support Key Business Imperatives</a:t>
            </a:r>
          </a:p>
        </p:txBody>
      </p:sp>
      <p:graphicFrame>
        <p:nvGraphicFramePr>
          <p:cNvPr id="10" name="Table">
            <a:extLst>
              <a:ext uri="{FF2B5EF4-FFF2-40B4-BE49-F238E27FC236}">
                <a16:creationId xmlns:a16="http://schemas.microsoft.com/office/drawing/2014/main" id="{1FCB188D-0D8F-45F5-97D3-5F5778EDE4AE}"/>
              </a:ext>
            </a:extLst>
          </p:cNvPr>
          <p:cNvGraphicFramePr/>
          <p:nvPr>
            <p:extLst>
              <p:ext uri="{D42A27DB-BD31-4B8C-83A1-F6EECF244321}">
                <p14:modId xmlns:p14="http://schemas.microsoft.com/office/powerpoint/2010/main" val="3503970485"/>
              </p:ext>
            </p:extLst>
          </p:nvPr>
        </p:nvGraphicFramePr>
        <p:xfrm>
          <a:off x="837982" y="1753243"/>
          <a:ext cx="9943364" cy="4619588"/>
        </p:xfrm>
        <a:graphic>
          <a:graphicData uri="http://schemas.openxmlformats.org/drawingml/2006/table">
            <a:tbl>
              <a:tblPr>
                <a:tableStyleId>{4C3C2611-4C71-4FC5-86AE-919BDF0F9419}</a:tableStyleId>
              </a:tblPr>
              <a:tblGrid>
                <a:gridCol w="1858903">
                  <a:extLst>
                    <a:ext uri="{9D8B030D-6E8A-4147-A177-3AD203B41FA5}">
                      <a16:colId xmlns:a16="http://schemas.microsoft.com/office/drawing/2014/main" val="20000"/>
                    </a:ext>
                  </a:extLst>
                </a:gridCol>
                <a:gridCol w="8084461">
                  <a:extLst>
                    <a:ext uri="{9D8B030D-6E8A-4147-A177-3AD203B41FA5}">
                      <a16:colId xmlns:a16="http://schemas.microsoft.com/office/drawing/2014/main" val="20001"/>
                    </a:ext>
                  </a:extLst>
                </a:gridCol>
              </a:tblGrid>
              <a:tr h="418272">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Problem</a:t>
                      </a:r>
                      <a:endParaRPr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Description</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extLst>
                  <a:ext uri="{0D108BD9-81ED-4DB2-BD59-A6C34878D82A}">
                    <a16:rowId xmlns:a16="http://schemas.microsoft.com/office/drawing/2014/main" val="10000"/>
                  </a:ext>
                </a:extLst>
              </a:tr>
              <a:tr h="469973">
                <a:tc>
                  <a:txBody>
                    <a:bodyPr/>
                    <a:lstStyle/>
                    <a:p>
                      <a:pPr marL="0" indent="0" algn="l" defTabSz="1828342">
                        <a:buNone/>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Capacity</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 Overtime problem, Employee frustration, Need more people/equipment</a:t>
                      </a:r>
                    </a:p>
                  </a:txBody>
                  <a:tcPr marL="184102" marR="184102" marT="137124" marB="137124" anchor="ctr" horzOverflow="overflow">
                    <a:lnL w="0">
                      <a:miter lim="400000"/>
                    </a:lnL>
                    <a:lnR w="0">
                      <a:noFill/>
                      <a:miter lim="400000"/>
                    </a:lnR>
                    <a:lnT w="0">
                      <a:miter lim="400000"/>
                    </a:lnT>
                    <a:lnB w="0">
                      <a:miter lim="400000"/>
                    </a:lnB>
                    <a:solidFill>
                      <a:srgbClr val="7A7A7A"/>
                    </a:solidFill>
                  </a:tcPr>
                </a:tc>
                <a:extLst>
                  <a:ext uri="{0D108BD9-81ED-4DB2-BD59-A6C34878D82A}">
                    <a16:rowId xmlns:a16="http://schemas.microsoft.com/office/drawing/2014/main" val="10001"/>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Response Time</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191C25"/>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Machine downtime, Change-over of major equipment takes too long</a:t>
                      </a:r>
                    </a:p>
                  </a:txBody>
                  <a:tcPr marL="184102" marR="184102" marT="137124" marB="137124" anchor="ctr" horzOverflow="overflow">
                    <a:lnL w="0">
                      <a:miter lim="400000"/>
                    </a:lnL>
                    <a:lnR w="0">
                      <a:noFill/>
                      <a:miter lim="400000"/>
                    </a:lnR>
                    <a:lnT w="0">
                      <a:miter lim="400000"/>
                    </a:lnT>
                    <a:lnB w="0">
                      <a:miter lim="400000"/>
                    </a:lnB>
                    <a:solidFill>
                      <a:srgbClr val="191C25"/>
                    </a:solidFill>
                  </a:tcPr>
                </a:tc>
                <a:extLst>
                  <a:ext uri="{0D108BD9-81ED-4DB2-BD59-A6C34878D82A}">
                    <a16:rowId xmlns:a16="http://schemas.microsoft.com/office/drawing/2014/main" val="10002"/>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Quality</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First Pass Yield of products, Product Launch ineffectiveness, chasing information</a:t>
                      </a:r>
                    </a:p>
                  </a:txBody>
                  <a:tcPr marL="184102" marR="184102" marT="137124" marB="137124" anchor="ctr" horzOverflow="overflow">
                    <a:lnL w="0">
                      <a:miter lim="400000"/>
                    </a:lnL>
                    <a:lnR w="0">
                      <a:noFill/>
                      <a:miter lim="400000"/>
                    </a:lnR>
                    <a:lnT w="0">
                      <a:miter lim="400000"/>
                    </a:lnT>
                    <a:lnB w="0">
                      <a:miter lim="400000"/>
                    </a:lnB>
                    <a:solidFill>
                      <a:srgbClr val="7A7A7A"/>
                    </a:solidFill>
                  </a:tcPr>
                </a:tc>
                <a:extLst>
                  <a:ext uri="{0D108BD9-81ED-4DB2-BD59-A6C34878D82A}">
                    <a16:rowId xmlns:a16="http://schemas.microsoft.com/office/drawing/2014/main" val="10003"/>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Inventory</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noFill/>
                      <a:miter lim="400000"/>
                    </a:lnB>
                    <a:solidFill>
                      <a:srgbClr val="191C25"/>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Parts waiting in queues</a:t>
                      </a: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extLst>
                  <a:ext uri="{0D108BD9-81ED-4DB2-BD59-A6C34878D82A}">
                    <a16:rowId xmlns:a16="http://schemas.microsoft.com/office/drawing/2014/main" val="10004"/>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Lead Time</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Total time for one piece to complete the process is too long</a:t>
                      </a:r>
                    </a:p>
                  </a:txBody>
                  <a:tcPr marL="184102" marR="184102" marT="137124" marB="137124" anchor="ctr" horzOverflow="overflow">
                    <a:lnL w="0">
                      <a:noFill/>
                      <a:miter lim="400000"/>
                    </a:lnL>
                    <a:lnR w="0">
                      <a:noFill/>
                      <a:miter lim="400000"/>
                    </a:lnR>
                    <a:lnT w="0">
                      <a:miter lim="400000"/>
                    </a:lnT>
                    <a:lnB w="0">
                      <a:noFill/>
                      <a:miter lim="400000"/>
                    </a:lnB>
                    <a:solidFill>
                      <a:srgbClr val="7A7A7A"/>
                    </a:solidFill>
                  </a:tcPr>
                </a:tc>
                <a:extLst>
                  <a:ext uri="{0D108BD9-81ED-4DB2-BD59-A6C34878D82A}">
                    <a16:rowId xmlns:a16="http://schemas.microsoft.com/office/drawing/2014/main" val="1296931529"/>
                  </a:ext>
                </a:extLst>
              </a:tr>
              <a:tr h="469973">
                <a:tc>
                  <a:txBody>
                    <a:bodyPr/>
                    <a:lstStyle/>
                    <a:p>
                      <a:pPr marL="0" marR="0" indent="0" algn="l" defTabSz="1828342" latinLnBrk="0">
                        <a:lnSpc>
                          <a:spcPct val="100000"/>
                        </a:lnSpc>
                        <a:spcBef>
                          <a:spcPts val="0"/>
                        </a:spcBef>
                        <a:spcAft>
                          <a:spcPts val="0"/>
                        </a:spcAft>
                        <a:buClrTx/>
                        <a:buSzTx/>
                        <a:buFontTx/>
                        <a:buNone/>
                        <a:tabLst/>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Productivity</a:t>
                      </a:r>
                      <a:endParaRPr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endParaRP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tc>
                  <a:txBody>
                    <a:bodyPr/>
                    <a:lstStyle/>
                    <a:p>
                      <a:pPr marL="0" marR="0" indent="0" algn="l" defTabSz="1828342" latinLnBrk="0">
                        <a:lnSpc>
                          <a:spcPct val="100000"/>
                        </a:lnSpc>
                        <a:spcBef>
                          <a:spcPts val="0"/>
                        </a:spcBef>
                        <a:spcAft>
                          <a:spcPts val="0"/>
                        </a:spcAft>
                        <a:buClrTx/>
                        <a:buSzTx/>
                        <a:buFontTx/>
                        <a:buNone/>
                        <a:tabLst/>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Costs are too high, they keep throwing more onto our department</a:t>
                      </a:r>
                    </a:p>
                  </a:txBody>
                  <a:tcPr marL="184102" marR="184102" marT="137124" marB="137124" anchor="ctr" horzOverflow="overflow">
                    <a:lnL w="0">
                      <a:noFill/>
                      <a:miter lim="400000"/>
                    </a:lnL>
                    <a:lnR w="0">
                      <a:noFill/>
                      <a:miter lim="400000"/>
                    </a:lnR>
                    <a:lnT w="0">
                      <a:miter lim="400000"/>
                    </a:lnT>
                    <a:lnB w="0">
                      <a:noFill/>
                      <a:miter lim="400000"/>
                    </a:lnB>
                    <a:solidFill>
                      <a:srgbClr val="191C25"/>
                    </a:solidFill>
                  </a:tcPr>
                </a:tc>
                <a:extLst>
                  <a:ext uri="{0D108BD9-81ED-4DB2-BD59-A6C34878D82A}">
                    <a16:rowId xmlns:a16="http://schemas.microsoft.com/office/drawing/2014/main" val="4277236797"/>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Technology Shift</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New MRP system, Integration of new technology</a:t>
                      </a:r>
                    </a:p>
                  </a:txBody>
                  <a:tcPr marL="184102" marR="184102" marT="137124" marB="137124" anchor="ctr" horzOverflow="overflow">
                    <a:lnL w="0">
                      <a:noFill/>
                      <a:miter lim="400000"/>
                    </a:lnL>
                    <a:lnR w="0">
                      <a:noFill/>
                      <a:miter lim="400000"/>
                    </a:lnR>
                    <a:lnT w="0">
                      <a:miter lim="400000"/>
                    </a:lnT>
                    <a:lnB w="0">
                      <a:noFill/>
                      <a:miter lim="400000"/>
                    </a:lnB>
                    <a:solidFill>
                      <a:srgbClr val="7A7A7A"/>
                    </a:solidFill>
                  </a:tcPr>
                </a:tc>
                <a:extLst>
                  <a:ext uri="{0D108BD9-81ED-4DB2-BD59-A6C34878D82A}">
                    <a16:rowId xmlns:a16="http://schemas.microsoft.com/office/drawing/2014/main" val="3317423042"/>
                  </a:ext>
                </a:extLst>
              </a:tr>
              <a:tr h="469973">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Cash Flow</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noFill/>
                      <a:miter lim="400000"/>
                    </a:lnR>
                    <a:lnT w="0">
                      <a:miter lim="400000"/>
                    </a:lnT>
                    <a:lnB w="0">
                      <a:miter lim="400000"/>
                    </a:lnB>
                    <a:solidFill>
                      <a:srgbClr val="191C25"/>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Receivables are too high, over-budget, not enough resources</a:t>
                      </a:r>
                    </a:p>
                  </a:txBody>
                  <a:tcPr marL="184102" marR="184102" marT="137124" marB="137124" anchor="ctr" horzOverflow="overflow">
                    <a:lnL w="0">
                      <a:noFill/>
                      <a:miter lim="400000"/>
                    </a:lnL>
                    <a:lnR w="0">
                      <a:noFill/>
                      <a:miter lim="400000"/>
                    </a:lnR>
                    <a:lnT w="0">
                      <a:miter lim="400000"/>
                    </a:lnT>
                    <a:lnB w="0">
                      <a:miter lim="400000"/>
                    </a:lnB>
                    <a:solidFill>
                      <a:srgbClr val="191C25"/>
                    </a:solidFill>
                  </a:tcPr>
                </a:tc>
                <a:extLst>
                  <a:ext uri="{0D108BD9-81ED-4DB2-BD59-A6C34878D82A}">
                    <a16:rowId xmlns:a16="http://schemas.microsoft.com/office/drawing/2014/main" val="1205393752"/>
                  </a:ext>
                </a:extLst>
              </a:tr>
            </a:tbl>
          </a:graphicData>
        </a:graphic>
      </p:graphicFrame>
    </p:spTree>
    <p:extLst>
      <p:ext uri="{BB962C8B-B14F-4D97-AF65-F5344CB8AC3E}">
        <p14:creationId xmlns:p14="http://schemas.microsoft.com/office/powerpoint/2010/main" val="1026467890"/>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normAutofit fontScale="90000"/>
          </a:bodyPr>
          <a:lstStyle/>
          <a:p>
            <a:r>
              <a:rPr lang="en-US" dirty="0"/>
              <a:t>Value Stream Mapping Roadmap to Success</a:t>
            </a:r>
          </a:p>
        </p:txBody>
      </p:sp>
      <p:grpSp>
        <p:nvGrpSpPr>
          <p:cNvPr id="25" name="Group 24">
            <a:extLst>
              <a:ext uri="{FF2B5EF4-FFF2-40B4-BE49-F238E27FC236}">
                <a16:creationId xmlns:a16="http://schemas.microsoft.com/office/drawing/2014/main" id="{A0837B57-A4A5-6D50-FA3F-F43D9E5923C7}"/>
              </a:ext>
            </a:extLst>
          </p:cNvPr>
          <p:cNvGrpSpPr/>
          <p:nvPr/>
        </p:nvGrpSpPr>
        <p:grpSpPr>
          <a:xfrm>
            <a:off x="1540470" y="2018582"/>
            <a:ext cx="8276390" cy="3730686"/>
            <a:chOff x="8029575" y="4872831"/>
            <a:chExt cx="8324850" cy="3970337"/>
          </a:xfrm>
        </p:grpSpPr>
        <p:grpSp>
          <p:nvGrpSpPr>
            <p:cNvPr id="3" name="Group 2">
              <a:extLst>
                <a:ext uri="{FF2B5EF4-FFF2-40B4-BE49-F238E27FC236}">
                  <a16:creationId xmlns:a16="http://schemas.microsoft.com/office/drawing/2014/main" id="{F5A63A90-0405-4D8E-B9C9-86B97FCCB173}"/>
                </a:ext>
              </a:extLst>
            </p:cNvPr>
            <p:cNvGrpSpPr>
              <a:grpSpLocks/>
            </p:cNvGrpSpPr>
            <p:nvPr/>
          </p:nvGrpSpPr>
          <p:grpSpPr bwMode="auto">
            <a:xfrm>
              <a:off x="9820275" y="4872831"/>
              <a:ext cx="6534150" cy="2776537"/>
              <a:chOff x="1389" y="1410"/>
              <a:chExt cx="4116" cy="1795"/>
            </a:xfrm>
          </p:grpSpPr>
          <p:sp>
            <p:nvSpPr>
              <p:cNvPr id="23" name="Rectangle 22">
                <a:extLst>
                  <a:ext uri="{FF2B5EF4-FFF2-40B4-BE49-F238E27FC236}">
                    <a16:creationId xmlns:a16="http://schemas.microsoft.com/office/drawing/2014/main" id="{00570372-4B52-46BE-92DB-F10656CF9EEA}"/>
                  </a:ext>
                </a:extLst>
              </p:cNvPr>
              <p:cNvSpPr>
                <a:spLocks noChangeArrowheads="1"/>
              </p:cNvSpPr>
              <p:nvPr/>
            </p:nvSpPr>
            <p:spPr bwMode="auto">
              <a:xfrm>
                <a:off x="1389" y="1410"/>
                <a:ext cx="4116" cy="1795"/>
              </a:xfrm>
              <a:prstGeom prst="rect">
                <a:avLst/>
              </a:prstGeom>
              <a:solidFill>
                <a:srgbClr val="7A7A7A"/>
              </a:solidFill>
              <a:ln w="12700" cap="sq">
                <a:solidFill>
                  <a:srgbClr val="0033CC"/>
                </a:solidFill>
                <a:miter lim="800000"/>
                <a:headEnd type="none" w="sm" len="sm"/>
                <a:tailEnd type="none" w="sm" len="sm"/>
              </a:ln>
            </p:spPr>
            <p:txBody>
              <a:bodyPr wrap="none"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endParaRPr lang="en-US" altLang="en-US" sz="450"/>
              </a:p>
            </p:txBody>
          </p:sp>
          <p:sp>
            <p:nvSpPr>
              <p:cNvPr id="24" name="Text Box 31">
                <a:extLst>
                  <a:ext uri="{FF2B5EF4-FFF2-40B4-BE49-F238E27FC236}">
                    <a16:creationId xmlns:a16="http://schemas.microsoft.com/office/drawing/2014/main" id="{D4367DFB-B07A-452A-87BD-D8BC05E44B99}"/>
                  </a:ext>
                </a:extLst>
              </p:cNvPr>
              <p:cNvSpPr txBox="1">
                <a:spLocks noChangeArrowheads="1"/>
              </p:cNvSpPr>
              <p:nvPr/>
            </p:nvSpPr>
            <p:spPr bwMode="auto">
              <a:xfrm>
                <a:off x="2255" y="1507"/>
                <a:ext cx="2409" cy="233"/>
              </a:xfrm>
              <a:prstGeom prst="rect">
                <a:avLst/>
              </a:prstGeom>
              <a:no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a:lnSpc>
                    <a:spcPct val="100000"/>
                  </a:lnSpc>
                  <a:spcBef>
                    <a:spcPct val="30000"/>
                  </a:spcBef>
                </a:pPr>
                <a:r>
                  <a:rPr lang="en-US" altLang="en-US" sz="1600" i="1" dirty="0">
                    <a:latin typeface="Roboto" panose="02000000000000000000" pitchFamily="2" charset="0"/>
                    <a:ea typeface="Roboto" panose="02000000000000000000" pitchFamily="2" charset="0"/>
                    <a:cs typeface="Roboto" panose="02000000000000000000" pitchFamily="2" charset="0"/>
                  </a:rPr>
                  <a:t>Repeat for each identified Value Stream</a:t>
                </a:r>
              </a:p>
            </p:txBody>
          </p:sp>
        </p:grpSp>
        <p:sp>
          <p:nvSpPr>
            <p:cNvPr id="4" name="Oval 3">
              <a:extLst>
                <a:ext uri="{FF2B5EF4-FFF2-40B4-BE49-F238E27FC236}">
                  <a16:creationId xmlns:a16="http://schemas.microsoft.com/office/drawing/2014/main" id="{50F36CAC-DA3E-4946-B3DC-38FEDB0A55C8}"/>
                </a:ext>
              </a:extLst>
            </p:cNvPr>
            <p:cNvSpPr>
              <a:spLocks noChangeArrowheads="1"/>
            </p:cNvSpPr>
            <p:nvPr/>
          </p:nvSpPr>
          <p:spPr bwMode="auto">
            <a:xfrm>
              <a:off x="15278100" y="6319043"/>
              <a:ext cx="976312" cy="1052513"/>
            </a:xfrm>
            <a:prstGeom prst="ellipse">
              <a:avLst/>
            </a:prstGeom>
            <a:solidFill>
              <a:srgbClr val="DD4141"/>
            </a:solidFill>
            <a:ln w="6350">
              <a:solidFill>
                <a:schemeClr val="tx1"/>
              </a:solidFill>
              <a:round/>
              <a:headEnd/>
              <a:tailEnd/>
            </a:ln>
          </p:spPr>
          <p:txBody>
            <a:bodyPr wrap="none" lIns="22854" rIns="22854"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a:lnSpc>
                  <a:spcPct val="100000"/>
                </a:lnSpc>
                <a:spcBef>
                  <a:spcPct val="30000"/>
                </a:spcBef>
                <a:buClr>
                  <a:schemeClr val="folHlink"/>
                </a:buClr>
              </a:pPr>
              <a:r>
                <a:rPr lang="en-GB" altLang="en-US" sz="1200" dirty="0">
                  <a:latin typeface="Roboto" panose="02000000000000000000" pitchFamily="2" charset="0"/>
                  <a:ea typeface="Roboto" panose="02000000000000000000" pitchFamily="2" charset="0"/>
                  <a:cs typeface="Roboto" panose="02000000000000000000" pitchFamily="2" charset="0"/>
                </a:rPr>
                <a:t>Repeat</a:t>
              </a:r>
            </a:p>
            <a:p>
              <a:pPr>
                <a:lnSpc>
                  <a:spcPct val="100000"/>
                </a:lnSpc>
                <a:spcBef>
                  <a:spcPct val="30000"/>
                </a:spcBef>
                <a:buClr>
                  <a:schemeClr val="folHlink"/>
                </a:buClr>
              </a:pPr>
              <a:r>
                <a:rPr lang="en-GB" altLang="en-US" sz="1200" dirty="0">
                  <a:latin typeface="Roboto" panose="02000000000000000000" pitchFamily="2" charset="0"/>
                  <a:ea typeface="Roboto" panose="02000000000000000000" pitchFamily="2" charset="0"/>
                  <a:cs typeface="Roboto" panose="02000000000000000000" pitchFamily="2" charset="0"/>
                </a:rPr>
                <a:t>Cycle</a:t>
              </a:r>
              <a:endParaRPr lang="en-GB" altLang="en-US" sz="1200" b="0" dirty="0">
                <a:latin typeface="Roboto" panose="02000000000000000000" pitchFamily="2" charset="0"/>
                <a:ea typeface="Roboto" panose="02000000000000000000" pitchFamily="2" charset="0"/>
                <a:cs typeface="Roboto" panose="02000000000000000000" pitchFamily="2" charset="0"/>
              </a:endParaRPr>
            </a:p>
          </p:txBody>
        </p:sp>
        <p:sp>
          <p:nvSpPr>
            <p:cNvPr id="5" name="Rectangle 4">
              <a:extLst>
                <a:ext uri="{FF2B5EF4-FFF2-40B4-BE49-F238E27FC236}">
                  <a16:creationId xmlns:a16="http://schemas.microsoft.com/office/drawing/2014/main" id="{E6B6F1FA-7FBF-476E-81C9-77156353F23C}"/>
                </a:ext>
              </a:extLst>
            </p:cNvPr>
            <p:cNvSpPr>
              <a:spLocks noChangeArrowheads="1"/>
            </p:cNvSpPr>
            <p:nvPr/>
          </p:nvSpPr>
          <p:spPr bwMode="auto">
            <a:xfrm>
              <a:off x="8128000" y="6311106"/>
              <a:ext cx="1520825" cy="1079500"/>
            </a:xfrm>
            <a:prstGeom prst="rect">
              <a:avLst/>
            </a:prstGeom>
            <a:solidFill>
              <a:schemeClr val="bg1"/>
            </a:solidFill>
            <a:ln w="12700" cap="sq">
              <a:solidFill>
                <a:schemeClr val="tx1"/>
              </a:solidFill>
              <a:miter lim="800000"/>
              <a:headEnd/>
              <a:tailEnd/>
            </a:ln>
          </p:spPr>
          <p:txBody>
            <a:bodyPr wrap="none"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Site Assessment</a:t>
              </a:r>
            </a:p>
          </p:txBody>
        </p:sp>
        <p:sp>
          <p:nvSpPr>
            <p:cNvPr id="6" name="Rectangle 5">
              <a:extLst>
                <a:ext uri="{FF2B5EF4-FFF2-40B4-BE49-F238E27FC236}">
                  <a16:creationId xmlns:a16="http://schemas.microsoft.com/office/drawing/2014/main" id="{393CE556-8F4B-4EFA-BA09-FDD9D664096B}"/>
                </a:ext>
              </a:extLst>
            </p:cNvPr>
            <p:cNvSpPr>
              <a:spLocks noChangeArrowheads="1"/>
            </p:cNvSpPr>
            <p:nvPr/>
          </p:nvSpPr>
          <p:spPr bwMode="auto">
            <a:xfrm>
              <a:off x="8128000" y="6049168"/>
              <a:ext cx="1522412" cy="252413"/>
            </a:xfrm>
            <a:prstGeom prst="rect">
              <a:avLst/>
            </a:prstGeom>
            <a:solidFill>
              <a:srgbClr val="DD4141"/>
            </a:solidFill>
            <a:ln w="12700" cap="sq">
              <a:solidFill>
                <a:schemeClr val="tx1"/>
              </a:solidFill>
              <a:miter lim="800000"/>
              <a:headEnd/>
              <a:tailEnd/>
            </a:ln>
          </p:spPr>
          <p:txBody>
            <a:bodyPr wrap="none" anchor="ctr" anchorCtr="1"/>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000" dirty="0">
                  <a:latin typeface="Roboto" panose="02000000000000000000" pitchFamily="2" charset="0"/>
                  <a:ea typeface="Roboto" panose="02000000000000000000" pitchFamily="2" charset="0"/>
                  <a:cs typeface="Roboto" panose="02000000000000000000" pitchFamily="2" charset="0"/>
                </a:rPr>
                <a:t>PROCESS STEP 1</a:t>
              </a:r>
            </a:p>
          </p:txBody>
        </p:sp>
        <p:sp>
          <p:nvSpPr>
            <p:cNvPr id="7" name="Rectangle 6">
              <a:extLst>
                <a:ext uri="{FF2B5EF4-FFF2-40B4-BE49-F238E27FC236}">
                  <a16:creationId xmlns:a16="http://schemas.microsoft.com/office/drawing/2014/main" id="{4F478AB7-C5BC-4A0E-87F9-00E7D40F38CC}"/>
                </a:ext>
              </a:extLst>
            </p:cNvPr>
            <p:cNvSpPr>
              <a:spLocks noChangeArrowheads="1"/>
            </p:cNvSpPr>
            <p:nvPr/>
          </p:nvSpPr>
          <p:spPr bwMode="auto">
            <a:xfrm>
              <a:off x="9923462" y="6306343"/>
              <a:ext cx="1520825" cy="1079500"/>
            </a:xfrm>
            <a:prstGeom prst="rect">
              <a:avLst/>
            </a:prstGeom>
            <a:solidFill>
              <a:schemeClr val="bg1"/>
            </a:solidFill>
            <a:ln w="12700" cap="sq">
              <a:solidFill>
                <a:schemeClr val="tx1"/>
              </a:solidFill>
              <a:miter lim="800000"/>
              <a:headEnd/>
              <a:tailEnd/>
            </a:ln>
          </p:spPr>
          <p:txBody>
            <a:bodyPr wrap="none"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VSM Event</a:t>
              </a:r>
              <a:b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Preparation</a:t>
              </a:r>
            </a:p>
          </p:txBody>
        </p:sp>
        <p:sp>
          <p:nvSpPr>
            <p:cNvPr id="8" name="Rectangle 7">
              <a:extLst>
                <a:ext uri="{FF2B5EF4-FFF2-40B4-BE49-F238E27FC236}">
                  <a16:creationId xmlns:a16="http://schemas.microsoft.com/office/drawing/2014/main" id="{85588323-5672-4D91-8350-3E8A820018A3}"/>
                </a:ext>
              </a:extLst>
            </p:cNvPr>
            <p:cNvSpPr>
              <a:spLocks noChangeArrowheads="1"/>
            </p:cNvSpPr>
            <p:nvPr/>
          </p:nvSpPr>
          <p:spPr bwMode="auto">
            <a:xfrm>
              <a:off x="9923462" y="6044406"/>
              <a:ext cx="1522413" cy="252412"/>
            </a:xfrm>
            <a:prstGeom prst="rect">
              <a:avLst/>
            </a:prstGeom>
            <a:solidFill>
              <a:srgbClr val="DD4141"/>
            </a:solidFill>
            <a:ln w="12700" cap="sq">
              <a:solidFill>
                <a:schemeClr val="tx1"/>
              </a:solidFill>
              <a:miter lim="800000"/>
              <a:headEnd/>
              <a:tailEnd/>
            </a:ln>
          </p:spPr>
          <p:txBody>
            <a:bodyPr wrap="none" anchor="ctr" anchorCtr="1"/>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000" dirty="0">
                  <a:latin typeface="Roboto" panose="02000000000000000000" pitchFamily="2" charset="0"/>
                  <a:ea typeface="Roboto" panose="02000000000000000000" pitchFamily="2" charset="0"/>
                  <a:cs typeface="Roboto" panose="02000000000000000000" pitchFamily="2" charset="0"/>
                </a:rPr>
                <a:t>PROCESS STEP 2</a:t>
              </a:r>
            </a:p>
          </p:txBody>
        </p:sp>
        <p:sp>
          <p:nvSpPr>
            <p:cNvPr id="9" name="Rectangle 8">
              <a:extLst>
                <a:ext uri="{FF2B5EF4-FFF2-40B4-BE49-F238E27FC236}">
                  <a16:creationId xmlns:a16="http://schemas.microsoft.com/office/drawing/2014/main" id="{A5702C79-6652-4032-B6FA-61133EBEA6C1}"/>
                </a:ext>
              </a:extLst>
            </p:cNvPr>
            <p:cNvSpPr>
              <a:spLocks noChangeArrowheads="1"/>
            </p:cNvSpPr>
            <p:nvPr/>
          </p:nvSpPr>
          <p:spPr bwMode="auto">
            <a:xfrm>
              <a:off x="11737975" y="6306343"/>
              <a:ext cx="1520825" cy="1079500"/>
            </a:xfrm>
            <a:prstGeom prst="rect">
              <a:avLst/>
            </a:prstGeom>
            <a:solidFill>
              <a:schemeClr val="bg1"/>
            </a:solidFill>
            <a:ln w="12700" cap="sq">
              <a:solidFill>
                <a:schemeClr val="tx1"/>
              </a:solidFill>
              <a:miter lim="800000"/>
              <a:headEnd/>
              <a:tailEnd/>
            </a:ln>
          </p:spPr>
          <p:txBody>
            <a:bodyPr wrap="none"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Conduct</a:t>
              </a:r>
              <a:b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VSM Event</a:t>
              </a:r>
            </a:p>
          </p:txBody>
        </p:sp>
        <p:sp>
          <p:nvSpPr>
            <p:cNvPr id="11" name="Rectangle 10">
              <a:extLst>
                <a:ext uri="{FF2B5EF4-FFF2-40B4-BE49-F238E27FC236}">
                  <a16:creationId xmlns:a16="http://schemas.microsoft.com/office/drawing/2014/main" id="{D22CE846-C279-48E9-9909-10BF7F8C1043}"/>
                </a:ext>
              </a:extLst>
            </p:cNvPr>
            <p:cNvSpPr>
              <a:spLocks noChangeArrowheads="1"/>
            </p:cNvSpPr>
            <p:nvPr/>
          </p:nvSpPr>
          <p:spPr bwMode="auto">
            <a:xfrm>
              <a:off x="11737975" y="6044406"/>
              <a:ext cx="1522412" cy="252412"/>
            </a:xfrm>
            <a:prstGeom prst="rect">
              <a:avLst/>
            </a:prstGeom>
            <a:solidFill>
              <a:srgbClr val="DD4141"/>
            </a:solidFill>
            <a:ln w="12700" cap="sq">
              <a:solidFill>
                <a:schemeClr val="tx1"/>
              </a:solidFill>
              <a:miter lim="800000"/>
              <a:headEnd/>
              <a:tailEnd/>
            </a:ln>
          </p:spPr>
          <p:txBody>
            <a:bodyPr wrap="none" anchor="ctr" anchorCtr="1"/>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000" dirty="0">
                  <a:latin typeface="Roboto" panose="02000000000000000000" pitchFamily="2" charset="0"/>
                  <a:ea typeface="Roboto" panose="02000000000000000000" pitchFamily="2" charset="0"/>
                  <a:cs typeface="Roboto" panose="02000000000000000000" pitchFamily="2" charset="0"/>
                </a:rPr>
                <a:t>PROCESS STEP 3</a:t>
              </a:r>
            </a:p>
          </p:txBody>
        </p:sp>
        <p:sp>
          <p:nvSpPr>
            <p:cNvPr id="12" name="Rectangle 11">
              <a:extLst>
                <a:ext uri="{FF2B5EF4-FFF2-40B4-BE49-F238E27FC236}">
                  <a16:creationId xmlns:a16="http://schemas.microsoft.com/office/drawing/2014/main" id="{A1828162-EA1F-4BFF-91C9-68393F4ADE65}"/>
                </a:ext>
              </a:extLst>
            </p:cNvPr>
            <p:cNvSpPr>
              <a:spLocks noChangeArrowheads="1"/>
            </p:cNvSpPr>
            <p:nvPr/>
          </p:nvSpPr>
          <p:spPr bwMode="auto">
            <a:xfrm>
              <a:off x="13552487" y="6306343"/>
              <a:ext cx="1520825" cy="1079500"/>
            </a:xfrm>
            <a:prstGeom prst="rect">
              <a:avLst/>
            </a:prstGeom>
            <a:solidFill>
              <a:schemeClr val="bg1"/>
            </a:solidFill>
            <a:ln w="12700" cap="sq">
              <a:solidFill>
                <a:schemeClr val="tx1"/>
              </a:solidFill>
              <a:miter lim="800000"/>
              <a:headEnd/>
              <a:tailEnd/>
            </a:ln>
          </p:spPr>
          <p:txBody>
            <a:bodyPr wrap="none" anchor="ct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Implement</a:t>
              </a:r>
              <a:b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cs typeface="Roboto" panose="02000000000000000000" pitchFamily="2" charset="0"/>
                </a:rPr>
                <a:t>VS Plan</a:t>
              </a:r>
            </a:p>
          </p:txBody>
        </p:sp>
        <p:sp>
          <p:nvSpPr>
            <p:cNvPr id="13" name="Rectangle 12">
              <a:extLst>
                <a:ext uri="{FF2B5EF4-FFF2-40B4-BE49-F238E27FC236}">
                  <a16:creationId xmlns:a16="http://schemas.microsoft.com/office/drawing/2014/main" id="{9A36D800-DC5D-426F-ACE4-22CECF7AD44B}"/>
                </a:ext>
              </a:extLst>
            </p:cNvPr>
            <p:cNvSpPr>
              <a:spLocks noChangeArrowheads="1"/>
            </p:cNvSpPr>
            <p:nvPr/>
          </p:nvSpPr>
          <p:spPr bwMode="auto">
            <a:xfrm>
              <a:off x="13552487" y="6044406"/>
              <a:ext cx="1522413" cy="252412"/>
            </a:xfrm>
            <a:prstGeom prst="rect">
              <a:avLst/>
            </a:prstGeom>
            <a:solidFill>
              <a:srgbClr val="DD4141"/>
            </a:solidFill>
            <a:ln w="12700" cap="sq">
              <a:solidFill>
                <a:schemeClr val="tx1"/>
              </a:solidFill>
              <a:miter lim="800000"/>
              <a:headEnd/>
              <a:tailEnd/>
            </a:ln>
          </p:spPr>
          <p:txBody>
            <a:bodyPr wrap="none" anchor="ctr" anchorCtr="1"/>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r>
                <a:rPr lang="en-US" altLang="en-US" sz="1000" dirty="0">
                  <a:latin typeface="Roboto" panose="02000000000000000000" pitchFamily="2" charset="0"/>
                  <a:ea typeface="Roboto" panose="02000000000000000000" pitchFamily="2" charset="0"/>
                  <a:cs typeface="Roboto" panose="02000000000000000000" pitchFamily="2" charset="0"/>
                </a:rPr>
                <a:t>PROCESS STEP 4</a:t>
              </a:r>
            </a:p>
          </p:txBody>
        </p:sp>
        <p:cxnSp>
          <p:nvCxnSpPr>
            <p:cNvPr id="14" name="AutoShape 41">
              <a:extLst>
                <a:ext uri="{FF2B5EF4-FFF2-40B4-BE49-F238E27FC236}">
                  <a16:creationId xmlns:a16="http://schemas.microsoft.com/office/drawing/2014/main" id="{F3019E30-2C7C-4684-BC6E-C85270CC9D5A}"/>
                </a:ext>
              </a:extLst>
            </p:cNvPr>
            <p:cNvCxnSpPr>
              <a:cxnSpLocks noChangeShapeType="1"/>
              <a:stCxn id="5" idx="3"/>
              <a:endCxn id="7" idx="1"/>
            </p:cNvCxnSpPr>
            <p:nvPr/>
          </p:nvCxnSpPr>
          <p:spPr bwMode="auto">
            <a:xfrm flipV="1">
              <a:off x="9648825" y="6846093"/>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5" name="AutoShape 42">
              <a:extLst>
                <a:ext uri="{FF2B5EF4-FFF2-40B4-BE49-F238E27FC236}">
                  <a16:creationId xmlns:a16="http://schemas.microsoft.com/office/drawing/2014/main" id="{4D65791C-5E37-4088-9322-8C00348011ED}"/>
                </a:ext>
              </a:extLst>
            </p:cNvPr>
            <p:cNvCxnSpPr>
              <a:cxnSpLocks noChangeShapeType="1"/>
              <a:stCxn id="7" idx="3"/>
              <a:endCxn id="9" idx="1"/>
            </p:cNvCxnSpPr>
            <p:nvPr/>
          </p:nvCxnSpPr>
          <p:spPr bwMode="auto">
            <a:xfrm>
              <a:off x="11444287" y="6846093"/>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6" name="AutoShape 43">
              <a:extLst>
                <a:ext uri="{FF2B5EF4-FFF2-40B4-BE49-F238E27FC236}">
                  <a16:creationId xmlns:a16="http://schemas.microsoft.com/office/drawing/2014/main" id="{9372399A-80A6-481E-A504-81BABD3B99D4}"/>
                </a:ext>
              </a:extLst>
            </p:cNvPr>
            <p:cNvCxnSpPr>
              <a:cxnSpLocks noChangeShapeType="1"/>
              <a:stCxn id="9" idx="3"/>
              <a:endCxn id="12" idx="1"/>
            </p:cNvCxnSpPr>
            <p:nvPr/>
          </p:nvCxnSpPr>
          <p:spPr bwMode="auto">
            <a:xfrm>
              <a:off x="13258800" y="6846093"/>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44">
              <a:extLst>
                <a:ext uri="{FF2B5EF4-FFF2-40B4-BE49-F238E27FC236}">
                  <a16:creationId xmlns:a16="http://schemas.microsoft.com/office/drawing/2014/main" id="{2FCD1B6F-E260-477A-A279-2F3E5331A803}"/>
                </a:ext>
              </a:extLst>
            </p:cNvPr>
            <p:cNvCxnSpPr>
              <a:cxnSpLocks noChangeShapeType="1"/>
              <a:stCxn id="12" idx="3"/>
              <a:endCxn id="4" idx="2"/>
            </p:cNvCxnSpPr>
            <p:nvPr/>
          </p:nvCxnSpPr>
          <p:spPr bwMode="auto">
            <a:xfrm>
              <a:off x="15073312" y="6846093"/>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45">
              <a:extLst>
                <a:ext uri="{FF2B5EF4-FFF2-40B4-BE49-F238E27FC236}">
                  <a16:creationId xmlns:a16="http://schemas.microsoft.com/office/drawing/2014/main" id="{B3B9F1C2-BDFD-4A8B-98D3-F9D6BF2DF067}"/>
                </a:ext>
              </a:extLst>
            </p:cNvPr>
            <p:cNvCxnSpPr>
              <a:cxnSpLocks noChangeShapeType="1"/>
              <a:stCxn id="4" idx="0"/>
              <a:endCxn id="8" idx="0"/>
            </p:cNvCxnSpPr>
            <p:nvPr/>
          </p:nvCxnSpPr>
          <p:spPr bwMode="auto">
            <a:xfrm rot="5400000" flipH="1">
              <a:off x="13088937" y="3640931"/>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9" name="Rectangle 18">
              <a:extLst>
                <a:ext uri="{FF2B5EF4-FFF2-40B4-BE49-F238E27FC236}">
                  <a16:creationId xmlns:a16="http://schemas.microsoft.com/office/drawing/2014/main" id="{887AD83C-4AB9-4FC0-8BA5-0ADFFBAD82AA}"/>
                </a:ext>
              </a:extLst>
            </p:cNvPr>
            <p:cNvSpPr>
              <a:spLocks noChangeArrowheads="1"/>
            </p:cNvSpPr>
            <p:nvPr/>
          </p:nvSpPr>
          <p:spPr bwMode="auto">
            <a:xfrm>
              <a:off x="8029575" y="7627143"/>
              <a:ext cx="1674812" cy="121602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Identify Strategic Value Streams and Product Families</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Plan VSM Events</a:t>
              </a:r>
            </a:p>
          </p:txBody>
        </p:sp>
        <p:sp>
          <p:nvSpPr>
            <p:cNvPr id="20" name="Rectangle 19">
              <a:extLst>
                <a:ext uri="{FF2B5EF4-FFF2-40B4-BE49-F238E27FC236}">
                  <a16:creationId xmlns:a16="http://schemas.microsoft.com/office/drawing/2014/main" id="{88C3FF63-7980-4F6D-BB02-B5336D363824}"/>
                </a:ext>
              </a:extLst>
            </p:cNvPr>
            <p:cNvSpPr>
              <a:spLocks noChangeArrowheads="1"/>
            </p:cNvSpPr>
            <p:nvPr/>
          </p:nvSpPr>
          <p:spPr bwMode="auto">
            <a:xfrm>
              <a:off x="9858375" y="7627143"/>
              <a:ext cx="1839912" cy="121602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Complete Intro to Lean</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Select Value Stream and Product Family</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Confirm VSM Team</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Plan logistics for VSM Event</a:t>
              </a:r>
            </a:p>
          </p:txBody>
        </p:sp>
        <p:sp>
          <p:nvSpPr>
            <p:cNvPr id="21" name="Rectangle 20">
              <a:extLst>
                <a:ext uri="{FF2B5EF4-FFF2-40B4-BE49-F238E27FC236}">
                  <a16:creationId xmlns:a16="http://schemas.microsoft.com/office/drawing/2014/main" id="{122FF41E-FC3B-4370-AB4E-B619FC88914B}"/>
                </a:ext>
              </a:extLst>
            </p:cNvPr>
            <p:cNvSpPr>
              <a:spLocks noChangeArrowheads="1"/>
            </p:cNvSpPr>
            <p:nvPr/>
          </p:nvSpPr>
          <p:spPr bwMode="auto">
            <a:xfrm>
              <a:off x="11623675" y="7627143"/>
              <a:ext cx="1839912" cy="121602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Current State VSM</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Future State VSM</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Value stream Plan complete</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Site Plan updated</a:t>
              </a:r>
            </a:p>
          </p:txBody>
        </p:sp>
        <p:sp>
          <p:nvSpPr>
            <p:cNvPr id="22" name="Rectangle 21">
              <a:extLst>
                <a:ext uri="{FF2B5EF4-FFF2-40B4-BE49-F238E27FC236}">
                  <a16:creationId xmlns:a16="http://schemas.microsoft.com/office/drawing/2014/main" id="{7E36C1CC-6DA0-442E-AE8E-6722E0053706}"/>
                </a:ext>
              </a:extLst>
            </p:cNvPr>
            <p:cNvSpPr>
              <a:spLocks noChangeArrowheads="1"/>
            </p:cNvSpPr>
            <p:nvPr/>
          </p:nvSpPr>
          <p:spPr bwMode="auto">
            <a:xfrm>
              <a:off x="13465175" y="7627143"/>
              <a:ext cx="1827212" cy="121602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en-US"/>
              </a:defPPr>
              <a:lvl1pPr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1pPr>
              <a:lvl2pPr marL="4572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2pPr>
              <a:lvl3pPr marL="9144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3pPr>
              <a:lvl4pPr marL="13716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4pPr>
              <a:lvl5pPr marL="1828800" algn="ctr" rtl="0" eaLnBrk="0" fontAlgn="base" hangingPunct="0">
                <a:lnSpc>
                  <a:spcPct val="80000"/>
                </a:lnSpc>
                <a:spcBef>
                  <a:spcPct val="20000"/>
                </a:spcBef>
                <a:spcAft>
                  <a:spcPct val="0"/>
                </a:spcAft>
                <a:defRPr sz="900" b="1" kern="1200">
                  <a:solidFill>
                    <a:schemeClr val="bg1"/>
                  </a:solidFill>
                  <a:latin typeface="Arial" panose="020B0604020202020204" pitchFamily="34" charset="0"/>
                  <a:ea typeface="MS PGothic" panose="020B0600070205080204" pitchFamily="34" charset="-128"/>
                  <a:cs typeface="+mn-cs"/>
                </a:defRPr>
              </a:lvl5pPr>
              <a:lvl6pPr marL="22860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6pPr>
              <a:lvl7pPr marL="27432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7pPr>
              <a:lvl8pPr marL="32004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8pPr>
              <a:lvl9pPr marL="3657600" algn="l" defTabSz="914400" rtl="0" eaLnBrk="1" latinLnBrk="0" hangingPunct="1">
                <a:defRPr sz="900" b="1" kern="1200">
                  <a:solidFill>
                    <a:schemeClr val="bg1"/>
                  </a:solidFill>
                  <a:latin typeface="Arial" panose="020B0604020202020204" pitchFamily="34" charset="0"/>
                  <a:ea typeface="MS PGothic" panose="020B0600070205080204" pitchFamily="34" charset="-128"/>
                  <a:cs typeface="+mn-cs"/>
                </a:defRPr>
              </a:lvl9pPr>
            </a:lstStyle>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Plan kaizen events that link to VS Plan</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Train Kaizen Teams</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Conduct kaizen events and measure results</a:t>
              </a:r>
            </a:p>
            <a:p>
              <a:pPr marL="142846" indent="-142846" algn="l" eaLnBrk="1" hangingPunct="1">
                <a:lnSpc>
                  <a:spcPct val="100000"/>
                </a:lnSpc>
                <a:spcBef>
                  <a:spcPct val="30000"/>
                </a:spcBef>
                <a:buClr>
                  <a:schemeClr val="accent2"/>
                </a:buClr>
                <a:buSzPct val="90000"/>
                <a:buFont typeface="Arial" panose="020B0604020202020204" pitchFamily="34" charset="0"/>
                <a:buChar char="•"/>
              </a:pPr>
              <a:r>
                <a:rPr lang="en-US" altLang="en-US" sz="1200" b="0" dirty="0">
                  <a:solidFill>
                    <a:srgbClr val="191C25"/>
                  </a:solidFill>
                  <a:latin typeface="Roboto" panose="02000000000000000000" pitchFamily="2" charset="0"/>
                  <a:ea typeface="Roboto" panose="02000000000000000000" pitchFamily="2" charset="0"/>
                  <a:cs typeface="Roboto" panose="02000000000000000000" pitchFamily="2" charset="0"/>
                </a:rPr>
                <a:t>Manage VS Plan to completion</a:t>
              </a:r>
            </a:p>
          </p:txBody>
        </p:sp>
      </p:grpSp>
      <p:grpSp>
        <p:nvGrpSpPr>
          <p:cNvPr id="10" name="Group 9">
            <a:extLst>
              <a:ext uri="{FF2B5EF4-FFF2-40B4-BE49-F238E27FC236}">
                <a16:creationId xmlns:a16="http://schemas.microsoft.com/office/drawing/2014/main" id="{A41C8BC1-4FE7-6157-A057-4AB4FB562F6E}"/>
              </a:ext>
            </a:extLst>
          </p:cNvPr>
          <p:cNvGrpSpPr/>
          <p:nvPr/>
        </p:nvGrpSpPr>
        <p:grpSpPr>
          <a:xfrm>
            <a:off x="940249" y="319790"/>
            <a:ext cx="6219503" cy="311932"/>
            <a:chOff x="940249" y="302538"/>
            <a:chExt cx="6219503" cy="311932"/>
          </a:xfrm>
        </p:grpSpPr>
        <p:sp>
          <p:nvSpPr>
            <p:cNvPr id="26" name="TextBox 25">
              <a:extLst>
                <a:ext uri="{FF2B5EF4-FFF2-40B4-BE49-F238E27FC236}">
                  <a16:creationId xmlns:a16="http://schemas.microsoft.com/office/drawing/2014/main" id="{15821601-99A1-A1F9-744A-5EA70247B35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7" name="AutoShape 9">
              <a:extLst>
                <a:ext uri="{FF2B5EF4-FFF2-40B4-BE49-F238E27FC236}">
                  <a16:creationId xmlns:a16="http://schemas.microsoft.com/office/drawing/2014/main" id="{68B4B2CE-F518-1B65-578C-6EE936AED13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7FA78DF5-1D26-49E2-57EA-86C55E31ED77}"/>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D6D00477-A1A5-9C31-232E-C8EC20FEC5A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9">
              <a:extLst>
                <a:ext uri="{FF2B5EF4-FFF2-40B4-BE49-F238E27FC236}">
                  <a16:creationId xmlns:a16="http://schemas.microsoft.com/office/drawing/2014/main" id="{DCB22B8F-9734-5A94-3CEF-9007ADB8AF27}"/>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1" name="AutoShape 11">
              <a:extLst>
                <a:ext uri="{FF2B5EF4-FFF2-40B4-BE49-F238E27FC236}">
                  <a16:creationId xmlns:a16="http://schemas.microsoft.com/office/drawing/2014/main" id="{0F3A3B8F-147B-4B5B-1188-34CB746658BE}"/>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4249573710"/>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11A7AA-191E-B3F8-D23D-A1F2C587DDAE}"/>
              </a:ext>
            </a:extLst>
          </p:cNvPr>
          <p:cNvSpPr>
            <a:spLocks noGrp="1"/>
          </p:cNvSpPr>
          <p:nvPr>
            <p:ph type="title"/>
          </p:nvPr>
        </p:nvSpPr>
        <p:spPr/>
        <p:txBody>
          <a:bodyPr/>
          <a:lstStyle/>
          <a:p>
            <a:r>
              <a:rPr lang="en-US" dirty="0"/>
              <a:t>Value Stream Mapping Process</a:t>
            </a:r>
          </a:p>
        </p:txBody>
      </p:sp>
      <p:grpSp>
        <p:nvGrpSpPr>
          <p:cNvPr id="20" name="Group 2">
            <a:extLst>
              <a:ext uri="{FF2B5EF4-FFF2-40B4-BE49-F238E27FC236}">
                <a16:creationId xmlns:a16="http://schemas.microsoft.com/office/drawing/2014/main" id="{EBABB2CD-0D66-A789-6CFA-AF71ADF35159}"/>
              </a:ext>
            </a:extLst>
          </p:cNvPr>
          <p:cNvGrpSpPr>
            <a:grpSpLocks/>
          </p:cNvGrpSpPr>
          <p:nvPr/>
        </p:nvGrpSpPr>
        <p:grpSpPr bwMode="auto">
          <a:xfrm>
            <a:off x="3301458" y="1782938"/>
            <a:ext cx="6532448" cy="2775814"/>
            <a:chOff x="1389" y="1410"/>
            <a:chExt cx="4116" cy="1795"/>
          </a:xfrm>
        </p:grpSpPr>
        <p:sp>
          <p:nvSpPr>
            <p:cNvPr id="21" name="Rectangle 3">
              <a:extLst>
                <a:ext uri="{FF2B5EF4-FFF2-40B4-BE49-F238E27FC236}">
                  <a16:creationId xmlns:a16="http://schemas.microsoft.com/office/drawing/2014/main" id="{DFD96AC8-805C-D43B-57A6-33FFA0B429C7}"/>
                </a:ext>
              </a:extLst>
            </p:cNvPr>
            <p:cNvSpPr>
              <a:spLocks noChangeArrowheads="1"/>
            </p:cNvSpPr>
            <p:nvPr/>
          </p:nvSpPr>
          <p:spPr bwMode="auto">
            <a:xfrm>
              <a:off x="1389" y="1410"/>
              <a:ext cx="4116" cy="1795"/>
            </a:xfrm>
            <a:prstGeom prst="rect">
              <a:avLst/>
            </a:prstGeom>
            <a:solidFill>
              <a:srgbClr val="7F7F7F"/>
            </a:solidFill>
            <a:ln w="12700" cap="sq">
              <a:solidFill>
                <a:srgbClr val="0033CC"/>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b="0">
                <a:solidFill>
                  <a:schemeClr val="bg1"/>
                </a:solidFill>
                <a:latin typeface="Roboto Medium" panose="02000000000000000000" pitchFamily="2" charset="0"/>
                <a:ea typeface="Roboto Medium" panose="02000000000000000000" pitchFamily="2" charset="0"/>
                <a:cs typeface="Roboto Medium" panose="02000000000000000000" pitchFamily="2" charset="0"/>
              </a:endParaRPr>
            </a:p>
          </p:txBody>
        </p:sp>
        <p:sp>
          <p:nvSpPr>
            <p:cNvPr id="22" name="Text Box 4">
              <a:extLst>
                <a:ext uri="{FF2B5EF4-FFF2-40B4-BE49-F238E27FC236}">
                  <a16:creationId xmlns:a16="http://schemas.microsoft.com/office/drawing/2014/main" id="{45324079-DF95-6092-1DAE-885D5204D940}"/>
                </a:ext>
              </a:extLst>
            </p:cNvPr>
            <p:cNvSpPr txBox="1">
              <a:spLocks noChangeArrowheads="1"/>
            </p:cNvSpPr>
            <p:nvPr/>
          </p:nvSpPr>
          <p:spPr bwMode="auto">
            <a:xfrm>
              <a:off x="2250" y="1507"/>
              <a:ext cx="2419" cy="219"/>
            </a:xfrm>
            <a:prstGeom prst="rect">
              <a:avLst/>
            </a:prstGeom>
            <a:no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Repeat for each identified Value Stream</a:t>
              </a:r>
            </a:p>
          </p:txBody>
        </p:sp>
      </p:grpSp>
      <p:sp>
        <p:nvSpPr>
          <p:cNvPr id="23" name="Oval 6">
            <a:extLst>
              <a:ext uri="{FF2B5EF4-FFF2-40B4-BE49-F238E27FC236}">
                <a16:creationId xmlns:a16="http://schemas.microsoft.com/office/drawing/2014/main" id="{371CADE7-723F-8CD9-9CDC-36B26FCBDFF8}"/>
              </a:ext>
            </a:extLst>
          </p:cNvPr>
          <p:cNvSpPr>
            <a:spLocks noChangeArrowheads="1"/>
          </p:cNvSpPr>
          <p:nvPr/>
        </p:nvSpPr>
        <p:spPr bwMode="auto">
          <a:xfrm>
            <a:off x="8757861" y="3228774"/>
            <a:ext cx="976058" cy="1052239"/>
          </a:xfrm>
          <a:prstGeom prst="ellipse">
            <a:avLst/>
          </a:prstGeom>
          <a:solidFill>
            <a:srgbClr val="EE3228"/>
          </a:solidFill>
          <a:ln w="6350">
            <a:solidFill>
              <a:schemeClr val="tx1"/>
            </a:solidFill>
            <a:round/>
            <a:headEnd/>
            <a:tailEnd/>
          </a:ln>
        </p:spPr>
        <p:txBody>
          <a:bodyPr wrap="none" lIns="45708" rIns="45708" anchor="ctr"/>
          <a:lstStyle>
            <a:lvl1pPr marL="101600" indent="-1016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Repeat</a:t>
            </a:r>
          </a:p>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Cycle</a:t>
            </a:r>
          </a:p>
        </p:txBody>
      </p:sp>
      <p:sp>
        <p:nvSpPr>
          <p:cNvPr id="24" name="Rectangle 8">
            <a:extLst>
              <a:ext uri="{FF2B5EF4-FFF2-40B4-BE49-F238E27FC236}">
                <a16:creationId xmlns:a16="http://schemas.microsoft.com/office/drawing/2014/main" id="{6FD23167-0EF1-43A3-AE75-E28E903E81D3}"/>
              </a:ext>
            </a:extLst>
          </p:cNvPr>
          <p:cNvSpPr>
            <a:spLocks noChangeArrowheads="1"/>
          </p:cNvSpPr>
          <p:nvPr/>
        </p:nvSpPr>
        <p:spPr bwMode="auto">
          <a:xfrm>
            <a:off x="1609624" y="3220838"/>
            <a:ext cx="1520429" cy="1079219"/>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Site Assessment</a:t>
            </a:r>
          </a:p>
        </p:txBody>
      </p:sp>
      <p:sp>
        <p:nvSpPr>
          <p:cNvPr id="25" name="Rectangle 9">
            <a:extLst>
              <a:ext uri="{FF2B5EF4-FFF2-40B4-BE49-F238E27FC236}">
                <a16:creationId xmlns:a16="http://schemas.microsoft.com/office/drawing/2014/main" id="{F9A39AE5-6B6C-AAE6-03AB-38C99D1E7E27}"/>
              </a:ext>
            </a:extLst>
          </p:cNvPr>
          <p:cNvSpPr>
            <a:spLocks noChangeArrowheads="1"/>
          </p:cNvSpPr>
          <p:nvPr/>
        </p:nvSpPr>
        <p:spPr bwMode="auto">
          <a:xfrm>
            <a:off x="1609623" y="2958969"/>
            <a:ext cx="1522016" cy="252347"/>
          </a:xfrm>
          <a:prstGeom prst="rect">
            <a:avLst/>
          </a:prstGeom>
          <a:solidFill>
            <a:srgbClr val="EE3228"/>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1</a:t>
            </a:r>
          </a:p>
        </p:txBody>
      </p:sp>
      <p:sp>
        <p:nvSpPr>
          <p:cNvPr id="26" name="Rectangle 10">
            <a:extLst>
              <a:ext uri="{FF2B5EF4-FFF2-40B4-BE49-F238E27FC236}">
                <a16:creationId xmlns:a16="http://schemas.microsoft.com/office/drawing/2014/main" id="{DA0880C4-BB0E-5E96-CF97-1C97BB47B9E7}"/>
              </a:ext>
            </a:extLst>
          </p:cNvPr>
          <p:cNvSpPr>
            <a:spLocks noChangeArrowheads="1"/>
          </p:cNvSpPr>
          <p:nvPr/>
        </p:nvSpPr>
        <p:spPr bwMode="auto">
          <a:xfrm>
            <a:off x="3404618" y="3216076"/>
            <a:ext cx="1520429" cy="1079219"/>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VSM Event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Preparation</a:t>
            </a:r>
          </a:p>
        </p:txBody>
      </p:sp>
      <p:sp>
        <p:nvSpPr>
          <p:cNvPr id="27" name="Rectangle 11">
            <a:extLst>
              <a:ext uri="{FF2B5EF4-FFF2-40B4-BE49-F238E27FC236}">
                <a16:creationId xmlns:a16="http://schemas.microsoft.com/office/drawing/2014/main" id="{9005F5D8-F677-B5A9-E48D-A50A962EABD3}"/>
              </a:ext>
            </a:extLst>
          </p:cNvPr>
          <p:cNvSpPr>
            <a:spLocks noChangeArrowheads="1"/>
          </p:cNvSpPr>
          <p:nvPr/>
        </p:nvSpPr>
        <p:spPr bwMode="auto">
          <a:xfrm>
            <a:off x="3404618" y="2954208"/>
            <a:ext cx="1522017" cy="252346"/>
          </a:xfrm>
          <a:prstGeom prst="rect">
            <a:avLst/>
          </a:prstGeom>
          <a:solidFill>
            <a:srgbClr val="EE3228"/>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2</a:t>
            </a:r>
          </a:p>
        </p:txBody>
      </p:sp>
      <p:sp>
        <p:nvSpPr>
          <p:cNvPr id="28" name="Rectangle 12">
            <a:extLst>
              <a:ext uri="{FF2B5EF4-FFF2-40B4-BE49-F238E27FC236}">
                <a16:creationId xmlns:a16="http://schemas.microsoft.com/office/drawing/2014/main" id="{BAB2A3B5-C07A-BA05-C73B-2D957DBAD6CA}"/>
              </a:ext>
            </a:extLst>
          </p:cNvPr>
          <p:cNvSpPr>
            <a:spLocks noChangeArrowheads="1"/>
          </p:cNvSpPr>
          <p:nvPr/>
        </p:nvSpPr>
        <p:spPr bwMode="auto">
          <a:xfrm>
            <a:off x="5218659" y="3216076"/>
            <a:ext cx="1520429" cy="1079219"/>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Conduct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VSM Event</a:t>
            </a:r>
          </a:p>
        </p:txBody>
      </p:sp>
      <p:sp>
        <p:nvSpPr>
          <p:cNvPr id="29" name="Rectangle 13">
            <a:extLst>
              <a:ext uri="{FF2B5EF4-FFF2-40B4-BE49-F238E27FC236}">
                <a16:creationId xmlns:a16="http://schemas.microsoft.com/office/drawing/2014/main" id="{27AE00CF-8388-2148-563E-76A0C1AB4E98}"/>
              </a:ext>
            </a:extLst>
          </p:cNvPr>
          <p:cNvSpPr>
            <a:spLocks noChangeArrowheads="1"/>
          </p:cNvSpPr>
          <p:nvPr/>
        </p:nvSpPr>
        <p:spPr bwMode="auto">
          <a:xfrm>
            <a:off x="5218658" y="2954208"/>
            <a:ext cx="1522016" cy="252346"/>
          </a:xfrm>
          <a:prstGeom prst="rect">
            <a:avLst/>
          </a:prstGeom>
          <a:solidFill>
            <a:srgbClr val="EE3228"/>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3</a:t>
            </a:r>
          </a:p>
        </p:txBody>
      </p:sp>
      <p:sp>
        <p:nvSpPr>
          <p:cNvPr id="30" name="Rectangle 14">
            <a:extLst>
              <a:ext uri="{FF2B5EF4-FFF2-40B4-BE49-F238E27FC236}">
                <a16:creationId xmlns:a16="http://schemas.microsoft.com/office/drawing/2014/main" id="{B80724C0-5CAF-EAA5-952C-E46FAFF86AA0}"/>
              </a:ext>
            </a:extLst>
          </p:cNvPr>
          <p:cNvSpPr>
            <a:spLocks noChangeArrowheads="1"/>
          </p:cNvSpPr>
          <p:nvPr/>
        </p:nvSpPr>
        <p:spPr bwMode="auto">
          <a:xfrm>
            <a:off x="7032698" y="3216076"/>
            <a:ext cx="1520429" cy="1079219"/>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Implement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 Plan</a:t>
            </a:r>
          </a:p>
        </p:txBody>
      </p:sp>
      <p:sp>
        <p:nvSpPr>
          <p:cNvPr id="31" name="Rectangle 15">
            <a:extLst>
              <a:ext uri="{FF2B5EF4-FFF2-40B4-BE49-F238E27FC236}">
                <a16:creationId xmlns:a16="http://schemas.microsoft.com/office/drawing/2014/main" id="{E88DEA62-0A6F-57CD-AA53-6332DD913859}"/>
              </a:ext>
            </a:extLst>
          </p:cNvPr>
          <p:cNvSpPr>
            <a:spLocks noChangeArrowheads="1"/>
          </p:cNvSpPr>
          <p:nvPr/>
        </p:nvSpPr>
        <p:spPr bwMode="auto">
          <a:xfrm>
            <a:off x="7032698" y="2954208"/>
            <a:ext cx="1522017" cy="252346"/>
          </a:xfrm>
          <a:prstGeom prst="rect">
            <a:avLst/>
          </a:prstGeom>
          <a:solidFill>
            <a:srgbClr val="EE3228"/>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4</a:t>
            </a:r>
          </a:p>
        </p:txBody>
      </p:sp>
      <p:cxnSp>
        <p:nvCxnSpPr>
          <p:cNvPr id="32" name="AutoShape 16">
            <a:extLst>
              <a:ext uri="{FF2B5EF4-FFF2-40B4-BE49-F238E27FC236}">
                <a16:creationId xmlns:a16="http://schemas.microsoft.com/office/drawing/2014/main" id="{E8F56AEC-76BE-1239-EBC5-2C82A9105A8D}"/>
              </a:ext>
            </a:extLst>
          </p:cNvPr>
          <p:cNvCxnSpPr>
            <a:cxnSpLocks noChangeShapeType="1"/>
            <a:stCxn id="24" idx="3"/>
            <a:endCxn id="26" idx="1"/>
          </p:cNvCxnSpPr>
          <p:nvPr/>
        </p:nvCxnSpPr>
        <p:spPr bwMode="auto">
          <a:xfrm flipV="1">
            <a:off x="3130053" y="3755686"/>
            <a:ext cx="274565" cy="4762"/>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3" name="AutoShape 17">
            <a:extLst>
              <a:ext uri="{FF2B5EF4-FFF2-40B4-BE49-F238E27FC236}">
                <a16:creationId xmlns:a16="http://schemas.microsoft.com/office/drawing/2014/main" id="{6D3810A5-5089-C202-1318-4B75AE54A521}"/>
              </a:ext>
            </a:extLst>
          </p:cNvPr>
          <p:cNvCxnSpPr>
            <a:cxnSpLocks noChangeShapeType="1"/>
            <a:stCxn id="26" idx="3"/>
            <a:endCxn id="28" idx="1"/>
          </p:cNvCxnSpPr>
          <p:nvPr/>
        </p:nvCxnSpPr>
        <p:spPr bwMode="auto">
          <a:xfrm>
            <a:off x="4925046" y="3755686"/>
            <a:ext cx="293612"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4" name="AutoShape 18">
            <a:extLst>
              <a:ext uri="{FF2B5EF4-FFF2-40B4-BE49-F238E27FC236}">
                <a16:creationId xmlns:a16="http://schemas.microsoft.com/office/drawing/2014/main" id="{757B9DF9-1316-C33E-89D8-59647DF64CFD}"/>
              </a:ext>
            </a:extLst>
          </p:cNvPr>
          <p:cNvCxnSpPr>
            <a:cxnSpLocks noChangeShapeType="1"/>
            <a:stCxn id="28" idx="3"/>
            <a:endCxn id="30" idx="1"/>
          </p:cNvCxnSpPr>
          <p:nvPr/>
        </p:nvCxnSpPr>
        <p:spPr bwMode="auto">
          <a:xfrm>
            <a:off x="6739087" y="3755686"/>
            <a:ext cx="293611"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5" name="AutoShape 19">
            <a:extLst>
              <a:ext uri="{FF2B5EF4-FFF2-40B4-BE49-F238E27FC236}">
                <a16:creationId xmlns:a16="http://schemas.microsoft.com/office/drawing/2014/main" id="{58C13A99-1BF5-D0FD-FBE2-B85050E7FD71}"/>
              </a:ext>
            </a:extLst>
          </p:cNvPr>
          <p:cNvCxnSpPr>
            <a:cxnSpLocks noChangeShapeType="1"/>
            <a:stCxn id="30" idx="3"/>
            <a:endCxn id="23" idx="2"/>
          </p:cNvCxnSpPr>
          <p:nvPr/>
        </p:nvCxnSpPr>
        <p:spPr bwMode="auto">
          <a:xfrm>
            <a:off x="8553126" y="3755686"/>
            <a:ext cx="204735"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6" name="AutoShape 20">
            <a:extLst>
              <a:ext uri="{FF2B5EF4-FFF2-40B4-BE49-F238E27FC236}">
                <a16:creationId xmlns:a16="http://schemas.microsoft.com/office/drawing/2014/main" id="{59BB6DBB-705A-CF2F-34FF-F511EC2C4E39}"/>
              </a:ext>
            </a:extLst>
          </p:cNvPr>
          <p:cNvCxnSpPr>
            <a:cxnSpLocks noChangeShapeType="1"/>
            <a:stCxn id="23" idx="0"/>
            <a:endCxn id="27" idx="0"/>
          </p:cNvCxnSpPr>
          <p:nvPr/>
        </p:nvCxnSpPr>
        <p:spPr bwMode="auto">
          <a:xfrm rot="5400000" flipH="1">
            <a:off x="6569269" y="551358"/>
            <a:ext cx="274565" cy="5080265"/>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7" name="Group 22">
            <a:extLst>
              <a:ext uri="{FF2B5EF4-FFF2-40B4-BE49-F238E27FC236}">
                <a16:creationId xmlns:a16="http://schemas.microsoft.com/office/drawing/2014/main" id="{E03DB43F-4E63-B854-74A4-2710C4C9A599}"/>
              </a:ext>
            </a:extLst>
          </p:cNvPr>
          <p:cNvGrpSpPr>
            <a:grpSpLocks/>
          </p:cNvGrpSpPr>
          <p:nvPr/>
        </p:nvGrpSpPr>
        <p:grpSpPr bwMode="auto">
          <a:xfrm>
            <a:off x="1517573" y="4265141"/>
            <a:ext cx="8357598" cy="2012426"/>
            <a:chOff x="265" y="2587"/>
            <a:chExt cx="5266" cy="1268"/>
          </a:xfrm>
          <a:solidFill>
            <a:srgbClr val="EE3228"/>
          </a:solidFill>
        </p:grpSpPr>
        <p:grpSp>
          <p:nvGrpSpPr>
            <p:cNvPr id="38" name="Group 23">
              <a:extLst>
                <a:ext uri="{FF2B5EF4-FFF2-40B4-BE49-F238E27FC236}">
                  <a16:creationId xmlns:a16="http://schemas.microsoft.com/office/drawing/2014/main" id="{4B8DEA3E-E1B3-A6AB-24C5-E6609DFD1C86}"/>
                </a:ext>
              </a:extLst>
            </p:cNvPr>
            <p:cNvGrpSpPr>
              <a:grpSpLocks/>
            </p:cNvGrpSpPr>
            <p:nvPr/>
          </p:nvGrpSpPr>
          <p:grpSpPr bwMode="auto">
            <a:xfrm>
              <a:off x="308" y="2969"/>
              <a:ext cx="5223" cy="886"/>
              <a:chOff x="1350" y="2060"/>
              <a:chExt cx="3035" cy="208"/>
            </a:xfrm>
            <a:grpFill/>
          </p:grpSpPr>
          <p:sp>
            <p:nvSpPr>
              <p:cNvPr id="41" name="AutoShape 24">
                <a:extLst>
                  <a:ext uri="{FF2B5EF4-FFF2-40B4-BE49-F238E27FC236}">
                    <a16:creationId xmlns:a16="http://schemas.microsoft.com/office/drawing/2014/main" id="{BC2EC0A5-E5A9-7AD9-C255-5271F2B2B408}"/>
                  </a:ext>
                </a:extLst>
              </p:cNvPr>
              <p:cNvSpPr>
                <a:spLocks noChangeArrowheads="1"/>
              </p:cNvSpPr>
              <p:nvPr/>
            </p:nvSpPr>
            <p:spPr bwMode="auto">
              <a:xfrm>
                <a:off x="3722" y="2060"/>
                <a:ext cx="663" cy="208"/>
              </a:xfrm>
              <a:prstGeom prst="homePlate">
                <a:avLst>
                  <a:gd name="adj" fmla="val 29912"/>
                </a:avLst>
              </a:prstGeom>
              <a:grp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Develop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Value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Stream Plan</a:t>
                </a:r>
              </a:p>
            </p:txBody>
          </p:sp>
          <p:sp>
            <p:nvSpPr>
              <p:cNvPr id="42" name="AutoShape 25">
                <a:extLst>
                  <a:ext uri="{FF2B5EF4-FFF2-40B4-BE49-F238E27FC236}">
                    <a16:creationId xmlns:a16="http://schemas.microsoft.com/office/drawing/2014/main" id="{3EE46E44-894D-CB9B-1455-AEB515F218F0}"/>
                  </a:ext>
                </a:extLst>
              </p:cNvPr>
              <p:cNvSpPr>
                <a:spLocks noChangeArrowheads="1"/>
              </p:cNvSpPr>
              <p:nvPr/>
            </p:nvSpPr>
            <p:spPr bwMode="auto">
              <a:xfrm>
                <a:off x="3128" y="2060"/>
                <a:ext cx="663" cy="208"/>
              </a:xfrm>
              <a:prstGeom prst="homePlate">
                <a:avLst>
                  <a:gd name="adj" fmla="val 29912"/>
                </a:avLst>
              </a:prstGeom>
              <a:grp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Create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Future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 Map</a:t>
                </a:r>
              </a:p>
            </p:txBody>
          </p:sp>
          <p:sp>
            <p:nvSpPr>
              <p:cNvPr id="43" name="AutoShape 26">
                <a:extLst>
                  <a:ext uri="{FF2B5EF4-FFF2-40B4-BE49-F238E27FC236}">
                    <a16:creationId xmlns:a16="http://schemas.microsoft.com/office/drawing/2014/main" id="{F5E78B1E-FE13-046E-E8B0-A8B4B77AA23E}"/>
                  </a:ext>
                </a:extLst>
              </p:cNvPr>
              <p:cNvSpPr>
                <a:spLocks noChangeArrowheads="1"/>
              </p:cNvSpPr>
              <p:nvPr/>
            </p:nvSpPr>
            <p:spPr bwMode="auto">
              <a:xfrm>
                <a:off x="2541" y="2060"/>
                <a:ext cx="663" cy="208"/>
              </a:xfrm>
              <a:prstGeom prst="homePlate">
                <a:avLst>
                  <a:gd name="adj" fmla="val 29912"/>
                </a:avLst>
              </a:prstGeom>
              <a:grp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Interrogate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the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Current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a:t>
                </a:r>
              </a:p>
            </p:txBody>
          </p:sp>
          <p:sp>
            <p:nvSpPr>
              <p:cNvPr id="44" name="AutoShape 27">
                <a:extLst>
                  <a:ext uri="{FF2B5EF4-FFF2-40B4-BE49-F238E27FC236}">
                    <a16:creationId xmlns:a16="http://schemas.microsoft.com/office/drawing/2014/main" id="{D7BB9A4C-9850-2D86-A04D-60A7573EC11E}"/>
                  </a:ext>
                </a:extLst>
              </p:cNvPr>
              <p:cNvSpPr>
                <a:spLocks noChangeArrowheads="1"/>
              </p:cNvSpPr>
              <p:nvPr/>
            </p:nvSpPr>
            <p:spPr bwMode="auto">
              <a:xfrm>
                <a:off x="1951" y="2060"/>
                <a:ext cx="663" cy="208"/>
              </a:xfrm>
              <a:prstGeom prst="homePlate">
                <a:avLst>
                  <a:gd name="adj" fmla="val 29912"/>
                </a:avLst>
              </a:prstGeom>
              <a:grp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Create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Current</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 Map </a:t>
                </a:r>
              </a:p>
            </p:txBody>
          </p:sp>
          <p:sp>
            <p:nvSpPr>
              <p:cNvPr id="45" name="AutoShape 28">
                <a:extLst>
                  <a:ext uri="{FF2B5EF4-FFF2-40B4-BE49-F238E27FC236}">
                    <a16:creationId xmlns:a16="http://schemas.microsoft.com/office/drawing/2014/main" id="{B39716D0-8735-BE6D-F158-63F11A10B146}"/>
                  </a:ext>
                </a:extLst>
              </p:cNvPr>
              <p:cNvSpPr>
                <a:spLocks noChangeArrowheads="1"/>
              </p:cNvSpPr>
              <p:nvPr/>
            </p:nvSpPr>
            <p:spPr bwMode="auto">
              <a:xfrm>
                <a:off x="1350" y="2060"/>
                <a:ext cx="663" cy="208"/>
              </a:xfrm>
              <a:prstGeom prst="homePlate">
                <a:avLst>
                  <a:gd name="adj" fmla="val 29912"/>
                </a:avLst>
              </a:prstGeom>
              <a:grp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Select Product </a:t>
                </a:r>
                <a:b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or</a:t>
                </a:r>
                <a:b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Service Family</a:t>
                </a:r>
              </a:p>
            </p:txBody>
          </p:sp>
        </p:grpSp>
        <p:sp>
          <p:nvSpPr>
            <p:cNvPr id="39" name="Line 29">
              <a:extLst>
                <a:ext uri="{FF2B5EF4-FFF2-40B4-BE49-F238E27FC236}">
                  <a16:creationId xmlns:a16="http://schemas.microsoft.com/office/drawing/2014/main" id="{9259D539-4DF7-762C-9959-DA274264FC40}"/>
                </a:ext>
              </a:extLst>
            </p:cNvPr>
            <p:cNvSpPr>
              <a:spLocks noChangeShapeType="1"/>
            </p:cNvSpPr>
            <p:nvPr/>
          </p:nvSpPr>
          <p:spPr bwMode="auto">
            <a:xfrm flipH="1">
              <a:off x="265" y="2606"/>
              <a:ext cx="2332" cy="356"/>
            </a:xfrm>
            <a:prstGeom prst="line">
              <a:avLst/>
            </a:prstGeom>
            <a:grpFill/>
            <a:ln w="38100" cap="sq">
              <a:solidFill>
                <a:schemeClr val="tx1"/>
              </a:solidFill>
              <a:round/>
              <a:headEnd/>
              <a:tailEnd type="triangle" w="med" len="med"/>
            </a:ln>
          </p:spPr>
          <p:txBody>
            <a:bodyPr wrap="none" anchor="ctr"/>
            <a:lstStyle/>
            <a:p>
              <a:endParaRPr lang="en-US" sz="2798">
                <a:latin typeface="Roboto Medium" panose="02000000000000000000" pitchFamily="2" charset="0"/>
                <a:ea typeface="Roboto Medium" panose="02000000000000000000" pitchFamily="2" charset="0"/>
                <a:cs typeface="Roboto Medium" panose="02000000000000000000" pitchFamily="2" charset="0"/>
              </a:endParaRPr>
            </a:p>
          </p:txBody>
        </p:sp>
        <p:sp>
          <p:nvSpPr>
            <p:cNvPr id="40" name="Line 30">
              <a:extLst>
                <a:ext uri="{FF2B5EF4-FFF2-40B4-BE49-F238E27FC236}">
                  <a16:creationId xmlns:a16="http://schemas.microsoft.com/office/drawing/2014/main" id="{C949FEA0-04CE-694F-F0F8-69C916FE10BE}"/>
                </a:ext>
              </a:extLst>
            </p:cNvPr>
            <p:cNvSpPr>
              <a:spLocks noChangeShapeType="1"/>
            </p:cNvSpPr>
            <p:nvPr/>
          </p:nvSpPr>
          <p:spPr bwMode="auto">
            <a:xfrm>
              <a:off x="3547" y="2587"/>
              <a:ext cx="1856" cy="348"/>
            </a:xfrm>
            <a:prstGeom prst="line">
              <a:avLst/>
            </a:prstGeom>
            <a:grpFill/>
            <a:ln w="38100" cap="sq">
              <a:solidFill>
                <a:schemeClr val="tx1"/>
              </a:solidFill>
              <a:round/>
              <a:headEnd/>
              <a:tailEnd type="triangle" w="med" len="med"/>
            </a:ln>
          </p:spPr>
          <p:txBody>
            <a:bodyPr wrap="none" anchor="ctr"/>
            <a:lstStyle/>
            <a:p>
              <a:endParaRPr lang="en-US" sz="2798">
                <a:latin typeface="Roboto Medium" panose="02000000000000000000" pitchFamily="2" charset="0"/>
                <a:ea typeface="Roboto Medium" panose="02000000000000000000" pitchFamily="2" charset="0"/>
                <a:cs typeface="Roboto Medium" panose="02000000000000000000" pitchFamily="2" charset="0"/>
              </a:endParaRPr>
            </a:p>
          </p:txBody>
        </p:sp>
      </p:grpSp>
      <p:sp>
        <p:nvSpPr>
          <p:cNvPr id="46" name="Slide Number Placeholder 2">
            <a:extLst>
              <a:ext uri="{FF2B5EF4-FFF2-40B4-BE49-F238E27FC236}">
                <a16:creationId xmlns:a16="http://schemas.microsoft.com/office/drawing/2014/main" id="{D12C36DF-77AA-CDFE-2528-047C01FFB02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a:t>
            </a:fld>
            <a:endParaRPr lang="en-US" dirty="0"/>
          </a:p>
        </p:txBody>
      </p:sp>
      <p:grpSp>
        <p:nvGrpSpPr>
          <p:cNvPr id="3" name="Group 2">
            <a:extLst>
              <a:ext uri="{FF2B5EF4-FFF2-40B4-BE49-F238E27FC236}">
                <a16:creationId xmlns:a16="http://schemas.microsoft.com/office/drawing/2014/main" id="{7D07F1D8-5DA0-7631-2E28-986EE801ECA3}"/>
              </a:ext>
            </a:extLst>
          </p:cNvPr>
          <p:cNvGrpSpPr/>
          <p:nvPr/>
        </p:nvGrpSpPr>
        <p:grpSpPr>
          <a:xfrm>
            <a:off x="940249" y="319790"/>
            <a:ext cx="6219503" cy="311932"/>
            <a:chOff x="940249" y="302538"/>
            <a:chExt cx="6219503" cy="311932"/>
          </a:xfrm>
        </p:grpSpPr>
        <p:sp>
          <p:nvSpPr>
            <p:cNvPr id="4" name="TextBox 3">
              <a:extLst>
                <a:ext uri="{FF2B5EF4-FFF2-40B4-BE49-F238E27FC236}">
                  <a16:creationId xmlns:a16="http://schemas.microsoft.com/office/drawing/2014/main" id="{4F0134CB-9BCE-90CB-F82A-40817D1FEA9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5" name="AutoShape 9">
              <a:extLst>
                <a:ext uri="{FF2B5EF4-FFF2-40B4-BE49-F238E27FC236}">
                  <a16:creationId xmlns:a16="http://schemas.microsoft.com/office/drawing/2014/main" id="{9BF277EE-6242-2BA2-1D26-77E786D0D1C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EFAD796D-932A-5866-1150-F2808344446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A7B3E4FF-DB6A-A70B-8D2C-F9B620ABB29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D3788163-2B53-97AF-3953-3A55D0AC35E3}"/>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B7E9D5AB-5AAB-E8C6-5662-F8DCF2716AD8}"/>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2394000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normAutofit/>
          </a:bodyPr>
          <a:lstStyle/>
          <a:p>
            <a:r>
              <a:rPr lang="en-US" sz="4000" dirty="0"/>
              <a:t>Value Stream Mapping Session Agenda</a:t>
            </a:r>
          </a:p>
        </p:txBody>
      </p:sp>
      <p:graphicFrame>
        <p:nvGraphicFramePr>
          <p:cNvPr id="10" name="Table">
            <a:extLst>
              <a:ext uri="{FF2B5EF4-FFF2-40B4-BE49-F238E27FC236}">
                <a16:creationId xmlns:a16="http://schemas.microsoft.com/office/drawing/2014/main" id="{1FCB188D-0D8F-45F5-97D3-5F5778EDE4AE}"/>
              </a:ext>
            </a:extLst>
          </p:cNvPr>
          <p:cNvGraphicFramePr/>
          <p:nvPr>
            <p:extLst>
              <p:ext uri="{D42A27DB-BD31-4B8C-83A1-F6EECF244321}">
                <p14:modId xmlns:p14="http://schemas.microsoft.com/office/powerpoint/2010/main" val="1247964764"/>
              </p:ext>
            </p:extLst>
          </p:nvPr>
        </p:nvGraphicFramePr>
        <p:xfrm>
          <a:off x="837982" y="1790894"/>
          <a:ext cx="10611515" cy="4482644"/>
        </p:xfrm>
        <a:graphic>
          <a:graphicData uri="http://schemas.openxmlformats.org/drawingml/2006/table">
            <a:tbl>
              <a:tblPr>
                <a:tableStyleId>{4C3C2611-4C71-4FC5-86AE-919BDF0F9419}</a:tableStyleId>
              </a:tblPr>
              <a:tblGrid>
                <a:gridCol w="1094185">
                  <a:extLst>
                    <a:ext uri="{9D8B030D-6E8A-4147-A177-3AD203B41FA5}">
                      <a16:colId xmlns:a16="http://schemas.microsoft.com/office/drawing/2014/main" val="20000"/>
                    </a:ext>
                  </a:extLst>
                </a:gridCol>
                <a:gridCol w="4758665">
                  <a:extLst>
                    <a:ext uri="{9D8B030D-6E8A-4147-A177-3AD203B41FA5}">
                      <a16:colId xmlns:a16="http://schemas.microsoft.com/office/drawing/2014/main" val="20001"/>
                    </a:ext>
                  </a:extLst>
                </a:gridCol>
                <a:gridCol w="4758665">
                  <a:extLst>
                    <a:ext uri="{9D8B030D-6E8A-4147-A177-3AD203B41FA5}">
                      <a16:colId xmlns:a16="http://schemas.microsoft.com/office/drawing/2014/main" val="3232931142"/>
                    </a:ext>
                  </a:extLst>
                </a:gridCol>
              </a:tblGrid>
              <a:tr h="596745">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Day</a:t>
                      </a:r>
                      <a:endParaRPr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endParaRPr>
                    </a:p>
                  </a:txBody>
                  <a:tcPr marL="0" marR="0" marT="0" marB="0" anchor="ctr" horzOverflow="overflow">
                    <a:lnL w="12700">
                      <a:miter lim="400000"/>
                    </a:lnL>
                    <a:lnR w="12700" cap="flat" cmpd="sng" algn="ctr">
                      <a:solidFill>
                        <a:schemeClr val="bg2"/>
                      </a:solidFill>
                      <a:prstDash val="solid"/>
                      <a:round/>
                      <a:headEnd type="none" w="med" len="med"/>
                      <a:tailEnd type="none" w="med" len="med"/>
                    </a:lnR>
                    <a:lnT w="12700">
                      <a:miter lim="400000"/>
                    </a:lnT>
                    <a:lnB w="12700" cap="flat" cmpd="sng" algn="ctr">
                      <a:solidFill>
                        <a:schemeClr val="bg2"/>
                      </a:solidFill>
                      <a:prstDash val="solid"/>
                      <a:round/>
                      <a:headEnd type="none" w="med" len="med"/>
                      <a:tailEnd type="none" w="med" len="med"/>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Key Learnings</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0">
                      <a:miter lim="400000"/>
                    </a:lnT>
                    <a:lnB w="0">
                      <a:miter lim="400000"/>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Daily Deliverables</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12700" cap="flat" cmpd="sng" algn="ctr">
                      <a:solidFill>
                        <a:schemeClr val="bg2"/>
                      </a:solidFill>
                      <a:prstDash val="solid"/>
                      <a:round/>
                      <a:headEnd type="none" w="med" len="med"/>
                      <a:tailEnd type="none" w="med" len="med"/>
                    </a:lnL>
                    <a:lnR w="0">
                      <a:noFill/>
                      <a:miter lim="400000"/>
                    </a:lnR>
                    <a:lnT w="0">
                      <a:miter lim="400000"/>
                    </a:lnT>
                    <a:lnB w="12700" cap="flat" cmpd="sng" algn="ctr">
                      <a:solidFill>
                        <a:schemeClr val="bg2"/>
                      </a:solidFill>
                      <a:prstDash val="solid"/>
                      <a:round/>
                      <a:headEnd type="none" w="med" len="med"/>
                      <a:tailEnd type="none" w="med" len="med"/>
                    </a:lnB>
                    <a:solidFill>
                      <a:srgbClr val="EE3228"/>
                    </a:solidFill>
                  </a:tcPr>
                </a:tc>
                <a:extLst>
                  <a:ext uri="{0D108BD9-81ED-4DB2-BD59-A6C34878D82A}">
                    <a16:rowId xmlns:a16="http://schemas.microsoft.com/office/drawing/2014/main" val="10000"/>
                  </a:ext>
                </a:extLst>
              </a:tr>
              <a:tr h="959870">
                <a:tc>
                  <a:txBody>
                    <a:bodyPr/>
                    <a:lstStyle/>
                    <a:p>
                      <a:pPr marL="0" indent="0" algn="l" defTabSz="1828342">
                        <a:buNone/>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Day 1</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Introduction</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Identifying Value Streams</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Current State Mapping</a:t>
                      </a:r>
                    </a:p>
                  </a:txBody>
                  <a:tcPr marL="184102" marR="184102" marT="137124" marB="137124"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0">
                      <a:miter lim="400000"/>
                    </a:lnT>
                    <a:lnB w="12700" cap="flat" cmpd="sng" algn="ctr">
                      <a:solidFill>
                        <a:schemeClr val="bg2"/>
                      </a:solidFill>
                      <a:prstDash val="solid"/>
                      <a:round/>
                      <a:headEnd type="none" w="med" len="med"/>
                      <a:tailEnd type="none" w="med" len="med"/>
                    </a:lnB>
                    <a:solidFill>
                      <a:schemeClr val="accent3"/>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Current State Process Walk</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Labeling of Process Boxes on Current State Map</a:t>
                      </a:r>
                    </a:p>
                  </a:txBody>
                  <a:tcPr marL="184102" marR="184102" marT="137124" marB="137124" anchor="ctr" horzOverflow="overflow">
                    <a:lnL w="12700" cap="flat" cmpd="sng" algn="ctr">
                      <a:solidFill>
                        <a:schemeClr val="bg2"/>
                      </a:solidFill>
                      <a:prstDash val="solid"/>
                      <a:round/>
                      <a:headEnd type="none" w="med" len="med"/>
                      <a:tailEnd type="none" w="med" len="med"/>
                    </a:lnL>
                    <a:lnR w="0">
                      <a:noFill/>
                      <a:miter lim="4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extLst>
                  <a:ext uri="{0D108BD9-81ED-4DB2-BD59-A6C34878D82A}">
                    <a16:rowId xmlns:a16="http://schemas.microsoft.com/office/drawing/2014/main" val="10001"/>
                  </a:ext>
                </a:extLst>
              </a:tr>
              <a:tr h="731330">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Day 2</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Conduct Data Gathering for Current State Map for Business</a:t>
                      </a:r>
                    </a:p>
                  </a:txBody>
                  <a:tcPr marL="184102" marR="184102" marT="137124" marB="137124"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Current State Map with Complete Data</a:t>
                      </a:r>
                    </a:p>
                  </a:txBody>
                  <a:tcPr marL="184102" marR="184102" marT="137124" marB="137124" anchor="ctr" horzOverflow="overflow">
                    <a:lnL w="12700" cap="flat" cmpd="sng" algn="ctr">
                      <a:solidFill>
                        <a:schemeClr val="bg2"/>
                      </a:solidFill>
                      <a:prstDash val="solid"/>
                      <a:round/>
                      <a:headEnd type="none" w="med" len="med"/>
                      <a:tailEnd type="none" w="med" len="med"/>
                    </a:lnL>
                    <a:lnR w="0">
                      <a:noFill/>
                      <a:miter lim="4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extLst>
                  <a:ext uri="{0D108BD9-81ED-4DB2-BD59-A6C34878D82A}">
                    <a16:rowId xmlns:a16="http://schemas.microsoft.com/office/drawing/2014/main" val="10002"/>
                  </a:ext>
                </a:extLst>
              </a:tr>
              <a:tr h="731330">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Day 3</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Interrogate the Current State</a:t>
                      </a:r>
                    </a:p>
                  </a:txBody>
                  <a:tcPr marL="184102" marR="184102" marT="137124" marB="137124"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Current State Report-Out to Management</a:t>
                      </a:r>
                    </a:p>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Completed Marked-Up Current State Map</a:t>
                      </a:r>
                    </a:p>
                  </a:txBody>
                  <a:tcPr marL="184102" marR="184102" marT="137124" marB="137124" anchor="ctr" horzOverflow="overflow">
                    <a:lnL w="12700" cap="flat" cmpd="sng" algn="ctr">
                      <a:solidFill>
                        <a:schemeClr val="bg2"/>
                      </a:solidFill>
                      <a:prstDash val="solid"/>
                      <a:round/>
                      <a:headEnd type="none" w="med" len="med"/>
                      <a:tailEnd type="none" w="med" len="med"/>
                    </a:lnL>
                    <a:lnR w="0">
                      <a:noFill/>
                      <a:miter lim="4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extLst>
                  <a:ext uri="{0D108BD9-81ED-4DB2-BD59-A6C34878D82A}">
                    <a16:rowId xmlns:a16="http://schemas.microsoft.com/office/drawing/2014/main" val="10003"/>
                  </a:ext>
                </a:extLst>
              </a:tr>
              <a:tr h="959870">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Day 4</a:t>
                      </a:r>
                      <a:endParaRPr sz="15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Future State Mapping</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Completing the Value Stream Plan</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Beyond the Future State</a:t>
                      </a:r>
                    </a:p>
                  </a:txBody>
                  <a:tcPr marL="184102" marR="184102" marT="137124" marB="137124"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Completed Future State Map and Value Stream Plan</a:t>
                      </a:r>
                    </a:p>
                  </a:txBody>
                  <a:tcPr marL="184102" marR="184102" marT="137124" marB="137124" anchor="ctr" horzOverflow="overflow">
                    <a:lnL w="12700" cap="flat" cmpd="sng" algn="ctr">
                      <a:solidFill>
                        <a:schemeClr val="bg2"/>
                      </a:solidFill>
                      <a:prstDash val="solid"/>
                      <a:round/>
                      <a:headEnd type="none" w="med" len="med"/>
                      <a:tailEnd type="none" w="med" len="med"/>
                    </a:lnL>
                    <a:lnR w="0">
                      <a:noFill/>
                      <a:miter lim="4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191C25"/>
                    </a:solidFill>
                  </a:tcPr>
                </a:tc>
                <a:extLst>
                  <a:ext uri="{0D108BD9-81ED-4DB2-BD59-A6C34878D82A}">
                    <a16:rowId xmlns:a16="http://schemas.microsoft.com/office/drawing/2014/main" val="10004"/>
                  </a:ext>
                </a:extLst>
              </a:tr>
              <a:tr h="502789">
                <a:tc>
                  <a:txBody>
                    <a:bodyPr/>
                    <a:lstStyle/>
                    <a:p>
                      <a:pPr marL="0" algn="l" defTabSz="1828342" rtl="0" eaLnBrk="1" latinLnBrk="0" hangingPunct="1">
                        <a:defRPr sz="1800">
                          <a:solidFill>
                            <a:srgbClr val="000000"/>
                          </a:solidFill>
                        </a:defRPr>
                      </a:pPr>
                      <a:r>
                        <a:rPr lang="en-US" sz="1500" b="0" i="0" kern="1200" dirty="0">
                          <a:solidFill>
                            <a:schemeClr val="bg1"/>
                          </a:solidFill>
                          <a:latin typeface="+mn-lt"/>
                          <a:ea typeface="+mn-ea"/>
                          <a:cs typeface="+mn-cs"/>
                        </a:rPr>
                        <a:t>Day 5</a:t>
                      </a:r>
                      <a:endParaRPr sz="1500" b="0" i="0" kern="1200" dirty="0">
                        <a:solidFill>
                          <a:schemeClr val="bg1"/>
                        </a:solidFill>
                        <a:latin typeface="+mn-lt"/>
                        <a:ea typeface="+mn-ea"/>
                        <a:cs typeface="+mn-cs"/>
                      </a:endParaRPr>
                    </a:p>
                  </a:txBody>
                  <a:tcPr marL="184102" marR="184102" marT="137124" marB="137124" anchor="ctr" horzOverflow="overflow">
                    <a:lnL w="0">
                      <a:miter lim="400000"/>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0">
                      <a:noFill/>
                      <a:miter lim="400000"/>
                    </a:lnB>
                    <a:solidFill>
                      <a:schemeClr val="accent3"/>
                    </a:solidFill>
                  </a:tcPr>
                </a:tc>
                <a:tc>
                  <a:txBody>
                    <a:bodyPr/>
                    <a:lstStyle/>
                    <a:p>
                      <a:pPr marL="0" indent="-457200" algn="l" defTabSz="1828342" rtl="0" eaLnBrk="1" latinLnBrk="0" hangingPunct="1">
                        <a:buClr>
                          <a:schemeClr val="bg1"/>
                        </a:buClr>
                        <a:buFont typeface="Arial" panose="020B0604020202020204" pitchFamily="34" charset="0"/>
                        <a:buChar char="•"/>
                        <a:defRPr sz="1800">
                          <a:solidFill>
                            <a:srgbClr val="000000"/>
                          </a:solidFill>
                        </a:defRPr>
                      </a:pPr>
                      <a:r>
                        <a:rPr lang="en-US" sz="1500" b="0" i="0" kern="1200" dirty="0">
                          <a:solidFill>
                            <a:schemeClr val="bg1"/>
                          </a:solidFill>
                          <a:latin typeface="+mn-lt"/>
                          <a:ea typeface="+mn-ea"/>
                          <a:cs typeface="+mn-cs"/>
                        </a:rPr>
                        <a:t>Prepare for Team Final Report-Out</a:t>
                      </a:r>
                    </a:p>
                  </a:txBody>
                  <a:tcPr marL="184102" marR="184102" marT="137124" marB="137124"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0">
                      <a:noFill/>
                      <a:miter lim="400000"/>
                    </a:lnB>
                    <a:solidFill>
                      <a:schemeClr val="accent3"/>
                    </a:solidFill>
                  </a:tcPr>
                </a:tc>
                <a:tc>
                  <a:txBody>
                    <a:bodyPr/>
                    <a:lstStyle/>
                    <a:p>
                      <a:pPr marL="0" indent="-457200" algn="l" defTabSz="1828342" rtl="0" eaLnBrk="1" latinLnBrk="0" hangingPunct="1">
                        <a:buClr>
                          <a:schemeClr val="bg1"/>
                        </a:buClr>
                        <a:buFont typeface="Arial" panose="020B0604020202020204" pitchFamily="34" charset="0"/>
                        <a:buChar char="•"/>
                        <a:defRPr sz="1800">
                          <a:solidFill>
                            <a:srgbClr val="000000"/>
                          </a:solidFill>
                        </a:defRPr>
                      </a:pPr>
                      <a:r>
                        <a:rPr lang="en-US" sz="1500" b="0" i="0" kern="1200" dirty="0">
                          <a:solidFill>
                            <a:schemeClr val="bg1"/>
                          </a:solidFill>
                          <a:latin typeface="+mn-lt"/>
                          <a:ea typeface="+mn-ea"/>
                          <a:cs typeface="+mn-cs"/>
                        </a:rPr>
                        <a:t>Final Report-Out to Management</a:t>
                      </a:r>
                    </a:p>
                  </a:txBody>
                  <a:tcPr marL="184102" marR="184102" marT="137124" marB="137124" anchor="ctr" horzOverflow="overflow">
                    <a:lnL w="12700" cap="flat" cmpd="sng" algn="ctr">
                      <a:solidFill>
                        <a:schemeClr val="bg2"/>
                      </a:solidFill>
                      <a:prstDash val="solid"/>
                      <a:round/>
                      <a:headEnd type="none" w="med" len="med"/>
                      <a:tailEnd type="none" w="med" len="med"/>
                    </a:lnL>
                    <a:lnR w="0">
                      <a:noFill/>
                      <a:miter lim="400000"/>
                    </a:lnR>
                    <a:lnT w="12700" cap="flat" cmpd="sng" algn="ctr">
                      <a:solidFill>
                        <a:schemeClr val="bg2"/>
                      </a:solidFill>
                      <a:prstDash val="solid"/>
                      <a:round/>
                      <a:headEnd type="none" w="med" len="med"/>
                      <a:tailEnd type="none" w="med" len="med"/>
                    </a:lnT>
                    <a:lnB w="0">
                      <a:noFill/>
                      <a:miter lim="400000"/>
                    </a:lnB>
                    <a:solidFill>
                      <a:schemeClr val="accent3"/>
                    </a:solidFill>
                  </a:tcPr>
                </a:tc>
                <a:extLst>
                  <a:ext uri="{0D108BD9-81ED-4DB2-BD59-A6C34878D82A}">
                    <a16:rowId xmlns:a16="http://schemas.microsoft.com/office/drawing/2014/main" val="1296931529"/>
                  </a:ext>
                </a:extLst>
              </a:tr>
            </a:tbl>
          </a:graphicData>
        </a:graphic>
      </p:graphicFrame>
    </p:spTree>
    <p:extLst>
      <p:ext uri="{BB962C8B-B14F-4D97-AF65-F5344CB8AC3E}">
        <p14:creationId xmlns:p14="http://schemas.microsoft.com/office/powerpoint/2010/main" val="930767314"/>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729" y="1497515"/>
            <a:ext cx="9813133" cy="1009387"/>
          </a:xfrm>
          <a:prstGeom prst="rect">
            <a:avLst/>
          </a:prstGeom>
        </p:spPr>
        <p:txBody>
          <a:bodyPr>
            <a:normAutofit/>
          </a:bodyPr>
          <a:lstStyle/>
          <a:p>
            <a:r>
              <a:rPr lang="en-US" sz="3999" dirty="0">
                <a:latin typeface="Roboto Medium"/>
                <a:ea typeface="Roboto Medium"/>
                <a:cs typeface="Roboto Medium"/>
              </a:rPr>
              <a:t>Select Product or Service Family</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300" y="2506902"/>
            <a:ext cx="10512862" cy="4350205"/>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“value stream”</a:t>
            </a:r>
          </a:p>
          <a:p>
            <a:r>
              <a:rPr lang="en-US" sz="2400" dirty="0"/>
              <a:t>Identify the VALUE OBJECT that goes through the process</a:t>
            </a:r>
          </a:p>
          <a:p>
            <a:r>
              <a:rPr lang="en-US" sz="2400" dirty="0"/>
              <a:t>Complete the Product Family Matrix and determine demand</a:t>
            </a:r>
          </a:p>
          <a:p>
            <a:r>
              <a:rPr lang="en-US" sz="2400" dirty="0"/>
              <a:t>Determine Value Stream Map boundaries</a:t>
            </a:r>
          </a:p>
          <a:p>
            <a:r>
              <a:rPr lang="en-US" sz="2400" dirty="0"/>
              <a:t>Complete customer analysis</a:t>
            </a:r>
          </a:p>
          <a:p>
            <a:r>
              <a:rPr lang="en-US" sz="2400" dirty="0"/>
              <a:t>Collect relevant information to begin VSM process</a:t>
            </a:r>
          </a:p>
          <a:p>
            <a:r>
              <a:rPr lang="en-US" sz="2400" dirty="0"/>
              <a:t>Validate VSM Charter for process and scope</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729" y="2387190"/>
            <a:ext cx="3881964"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728" y="837809"/>
            <a:ext cx="7271730" cy="659707"/>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Select Product or</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Service Family</a:t>
                </a:r>
              </a:p>
            </p:txBody>
          </p:sp>
        </p:grpSp>
      </p:grpSp>
    </p:spTree>
    <p:extLst>
      <p:ext uri="{BB962C8B-B14F-4D97-AF65-F5344CB8AC3E}">
        <p14:creationId xmlns:p14="http://schemas.microsoft.com/office/powerpoint/2010/main" val="9583006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B4C991-6710-0D0A-18E2-EA07B3631B03}"/>
              </a:ext>
            </a:extLst>
          </p:cNvPr>
          <p:cNvSpPr>
            <a:spLocks noGrp="1"/>
          </p:cNvSpPr>
          <p:nvPr>
            <p:ph type="title"/>
          </p:nvPr>
        </p:nvSpPr>
        <p:spPr/>
        <p:txBody>
          <a:bodyPr>
            <a:normAutofit/>
          </a:bodyPr>
          <a:lstStyle/>
          <a:p>
            <a:r>
              <a:rPr lang="en-US" sz="3999" dirty="0"/>
              <a:t>The Manufacturing Value Stream Defined</a:t>
            </a:r>
          </a:p>
        </p:txBody>
      </p:sp>
      <p:sp>
        <p:nvSpPr>
          <p:cNvPr id="4" name="Slide Number Placeholder 2">
            <a:extLst>
              <a:ext uri="{FF2B5EF4-FFF2-40B4-BE49-F238E27FC236}">
                <a16:creationId xmlns:a16="http://schemas.microsoft.com/office/drawing/2014/main" id="{D2D510AD-ABE3-7220-C4FE-D673FF9F0CC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a:t>
            </a:fld>
            <a:endParaRPr lang="en-US"/>
          </a:p>
        </p:txBody>
      </p:sp>
      <p:sp>
        <p:nvSpPr>
          <p:cNvPr id="12" name="Rectangle 2">
            <a:extLst>
              <a:ext uri="{FF2B5EF4-FFF2-40B4-BE49-F238E27FC236}">
                <a16:creationId xmlns:a16="http://schemas.microsoft.com/office/drawing/2014/main" id="{436676EF-50CF-BAAC-9753-7989FAC276B1}"/>
              </a:ext>
            </a:extLst>
          </p:cNvPr>
          <p:cNvSpPr>
            <a:spLocks noChangeArrowheads="1"/>
          </p:cNvSpPr>
          <p:nvPr/>
        </p:nvSpPr>
        <p:spPr bwMode="auto">
          <a:xfrm>
            <a:off x="2629803" y="4932030"/>
            <a:ext cx="6302320" cy="964949"/>
          </a:xfrm>
          <a:prstGeom prst="rect">
            <a:avLst/>
          </a:prstGeom>
          <a:solidFill>
            <a:srgbClr val="FFB627"/>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latin typeface="Roboto" panose="02000000000000000000" pitchFamily="2" charset="0"/>
                <a:ea typeface="Roboto" panose="02000000000000000000" pitchFamily="2" charset="0"/>
                <a:cs typeface="Roboto" panose="02000000000000000000" pitchFamily="2" charset="0"/>
              </a:rPr>
              <a:t>All of the actions required to bring a product or service</a:t>
            </a:r>
            <a:br>
              <a:rPr lang="en-US" altLang="en-US" sz="1600" dirty="0">
                <a:latin typeface="Roboto" panose="02000000000000000000" pitchFamily="2" charset="0"/>
                <a:ea typeface="Roboto" panose="02000000000000000000" pitchFamily="2" charset="0"/>
                <a:cs typeface="Roboto" panose="02000000000000000000" pitchFamily="2" charset="0"/>
              </a:rPr>
            </a:br>
            <a:r>
              <a:rPr lang="en-US" altLang="en-US" sz="1600" dirty="0">
                <a:latin typeface="Roboto" panose="02000000000000000000" pitchFamily="2" charset="0"/>
                <a:ea typeface="Roboto" panose="02000000000000000000" pitchFamily="2" charset="0"/>
                <a:cs typeface="Roboto" panose="02000000000000000000" pitchFamily="2" charset="0"/>
              </a:rPr>
              <a:t>through the main flows essential to providing that product </a:t>
            </a:r>
            <a:br>
              <a:rPr lang="en-US" altLang="en-US" sz="1600" dirty="0">
                <a:latin typeface="Roboto" panose="02000000000000000000" pitchFamily="2" charset="0"/>
                <a:ea typeface="Roboto" panose="02000000000000000000" pitchFamily="2" charset="0"/>
                <a:cs typeface="Roboto" panose="02000000000000000000" pitchFamily="2" charset="0"/>
              </a:rPr>
            </a:br>
            <a:r>
              <a:rPr lang="en-US" altLang="en-US" sz="1600" dirty="0">
                <a:latin typeface="Roboto" panose="02000000000000000000" pitchFamily="2" charset="0"/>
                <a:ea typeface="Roboto" panose="02000000000000000000" pitchFamily="2" charset="0"/>
                <a:cs typeface="Roboto" panose="02000000000000000000" pitchFamily="2" charset="0"/>
              </a:rPr>
              <a:t>or service from inception point to receipt by customer</a:t>
            </a:r>
          </a:p>
        </p:txBody>
      </p:sp>
      <p:sp>
        <p:nvSpPr>
          <p:cNvPr id="13" name="Rectangle 3">
            <a:extLst>
              <a:ext uri="{FF2B5EF4-FFF2-40B4-BE49-F238E27FC236}">
                <a16:creationId xmlns:a16="http://schemas.microsoft.com/office/drawing/2014/main" id="{E01A17D4-1DBD-9E8D-9924-6166C7E1089F}"/>
              </a:ext>
            </a:extLst>
          </p:cNvPr>
          <p:cNvSpPr>
            <a:spLocks noChangeArrowheads="1"/>
          </p:cNvSpPr>
          <p:nvPr/>
        </p:nvSpPr>
        <p:spPr bwMode="auto">
          <a:xfrm>
            <a:off x="1844195" y="2180023"/>
            <a:ext cx="1718815" cy="669751"/>
          </a:xfrm>
          <a:prstGeom prst="rect">
            <a:avLst/>
          </a:prstGeom>
          <a:solidFill>
            <a:srgbClr val="EE3228"/>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Value Added</a:t>
            </a:r>
            <a:b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and Non-Value</a:t>
            </a:r>
            <a:b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Added Processes</a:t>
            </a:r>
          </a:p>
        </p:txBody>
      </p:sp>
      <p:sp>
        <p:nvSpPr>
          <p:cNvPr id="14" name="Rectangle 4">
            <a:extLst>
              <a:ext uri="{FF2B5EF4-FFF2-40B4-BE49-F238E27FC236}">
                <a16:creationId xmlns:a16="http://schemas.microsoft.com/office/drawing/2014/main" id="{644C926C-61D1-4C56-23E6-2E93187A502F}"/>
              </a:ext>
            </a:extLst>
          </p:cNvPr>
          <p:cNvSpPr>
            <a:spLocks noChangeArrowheads="1"/>
          </p:cNvSpPr>
          <p:nvPr/>
        </p:nvSpPr>
        <p:spPr bwMode="auto">
          <a:xfrm>
            <a:off x="3831227" y="2194307"/>
            <a:ext cx="1718815" cy="655466"/>
          </a:xfrm>
          <a:prstGeom prst="rect">
            <a:avLst/>
          </a:prstGeom>
          <a:solidFill>
            <a:srgbClr val="EE3228"/>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Product and</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Information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Flow</a:t>
            </a:r>
          </a:p>
        </p:txBody>
      </p:sp>
      <p:sp>
        <p:nvSpPr>
          <p:cNvPr id="15" name="Rectangle 5">
            <a:extLst>
              <a:ext uri="{FF2B5EF4-FFF2-40B4-BE49-F238E27FC236}">
                <a16:creationId xmlns:a16="http://schemas.microsoft.com/office/drawing/2014/main" id="{81A5C77B-A8BE-6024-AE92-238ABB9791DD}"/>
              </a:ext>
            </a:extLst>
          </p:cNvPr>
          <p:cNvSpPr>
            <a:spLocks noChangeArrowheads="1"/>
          </p:cNvSpPr>
          <p:nvPr/>
        </p:nvSpPr>
        <p:spPr bwMode="auto">
          <a:xfrm>
            <a:off x="5876982" y="2194307"/>
            <a:ext cx="1718814" cy="655466"/>
          </a:xfrm>
          <a:prstGeom prst="rect">
            <a:avLst/>
          </a:prstGeom>
          <a:solidFill>
            <a:srgbClr val="EE3228"/>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Cross function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and organization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boundaries</a:t>
            </a:r>
          </a:p>
        </p:txBody>
      </p:sp>
      <p:sp>
        <p:nvSpPr>
          <p:cNvPr id="16" name="Rectangle 6">
            <a:extLst>
              <a:ext uri="{FF2B5EF4-FFF2-40B4-BE49-F238E27FC236}">
                <a16:creationId xmlns:a16="http://schemas.microsoft.com/office/drawing/2014/main" id="{8266184D-7841-6EF4-9A4F-78ECCF1AD12A}"/>
              </a:ext>
            </a:extLst>
          </p:cNvPr>
          <p:cNvSpPr>
            <a:spLocks noChangeArrowheads="1"/>
          </p:cNvSpPr>
          <p:nvPr/>
        </p:nvSpPr>
        <p:spPr bwMode="auto">
          <a:xfrm>
            <a:off x="7895756" y="2208590"/>
            <a:ext cx="1718814" cy="641183"/>
          </a:xfrm>
          <a:prstGeom prst="rect">
            <a:avLst/>
          </a:prstGeom>
          <a:solidFill>
            <a:srgbClr val="EE3228"/>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From Initiation to </a:t>
            </a:r>
          </a:p>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the Customer</a:t>
            </a:r>
          </a:p>
        </p:txBody>
      </p:sp>
      <p:cxnSp>
        <p:nvCxnSpPr>
          <p:cNvPr id="17" name="AutoShape 11">
            <a:extLst>
              <a:ext uri="{FF2B5EF4-FFF2-40B4-BE49-F238E27FC236}">
                <a16:creationId xmlns:a16="http://schemas.microsoft.com/office/drawing/2014/main" id="{3614926F-0713-2C90-2458-E43BB584FB9D}"/>
              </a:ext>
            </a:extLst>
          </p:cNvPr>
          <p:cNvCxnSpPr>
            <a:cxnSpLocks noChangeShapeType="1"/>
            <a:stCxn id="13" idx="3"/>
            <a:endCxn id="14" idx="1"/>
          </p:cNvCxnSpPr>
          <p:nvPr/>
        </p:nvCxnSpPr>
        <p:spPr bwMode="auto">
          <a:xfrm>
            <a:off x="3563010" y="2514898"/>
            <a:ext cx="268217" cy="71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8" name="AutoShape 12">
            <a:extLst>
              <a:ext uri="{FF2B5EF4-FFF2-40B4-BE49-F238E27FC236}">
                <a16:creationId xmlns:a16="http://schemas.microsoft.com/office/drawing/2014/main" id="{7CCC0468-D6AC-7D69-1160-0D9A9BD785E4}"/>
              </a:ext>
            </a:extLst>
          </p:cNvPr>
          <p:cNvCxnSpPr>
            <a:cxnSpLocks noChangeShapeType="1"/>
            <a:stCxn id="14" idx="3"/>
            <a:endCxn id="15" idx="1"/>
          </p:cNvCxnSpPr>
          <p:nvPr/>
        </p:nvCxnSpPr>
        <p:spPr bwMode="auto">
          <a:xfrm>
            <a:off x="5550042" y="2522040"/>
            <a:ext cx="326940" cy="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9" name="AutoShape 13">
            <a:extLst>
              <a:ext uri="{FF2B5EF4-FFF2-40B4-BE49-F238E27FC236}">
                <a16:creationId xmlns:a16="http://schemas.microsoft.com/office/drawing/2014/main" id="{6D06A62A-EF7F-613C-71A6-8C7E0C4C8D52}"/>
              </a:ext>
            </a:extLst>
          </p:cNvPr>
          <p:cNvCxnSpPr>
            <a:cxnSpLocks noChangeShapeType="1"/>
            <a:stCxn id="15" idx="3"/>
            <a:endCxn id="16" idx="1"/>
          </p:cNvCxnSpPr>
          <p:nvPr/>
        </p:nvCxnSpPr>
        <p:spPr bwMode="auto">
          <a:xfrm>
            <a:off x="7595796" y="2522041"/>
            <a:ext cx="299960" cy="7141"/>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0" name="AutoShape 14">
            <a:extLst>
              <a:ext uri="{FF2B5EF4-FFF2-40B4-BE49-F238E27FC236}">
                <a16:creationId xmlns:a16="http://schemas.microsoft.com/office/drawing/2014/main" id="{19AFC22B-79DD-0856-94AD-B12F7BA72F91}"/>
              </a:ext>
            </a:extLst>
          </p:cNvPr>
          <p:cNvCxnSpPr>
            <a:cxnSpLocks noChangeShapeType="1"/>
            <a:stCxn id="13" idx="1"/>
            <a:endCxn id="12" idx="1"/>
          </p:cNvCxnSpPr>
          <p:nvPr/>
        </p:nvCxnSpPr>
        <p:spPr bwMode="auto">
          <a:xfrm rot="10800000" flipH="1" flipV="1">
            <a:off x="1844194" y="2514898"/>
            <a:ext cx="776086" cy="2899607"/>
          </a:xfrm>
          <a:prstGeom prst="bentConnector3">
            <a:avLst>
              <a:gd name="adj1" fmla="val -2944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1" name="AutoShape 15">
            <a:extLst>
              <a:ext uri="{FF2B5EF4-FFF2-40B4-BE49-F238E27FC236}">
                <a16:creationId xmlns:a16="http://schemas.microsoft.com/office/drawing/2014/main" id="{BF086CF1-6637-C410-C411-5A4C9F679463}"/>
              </a:ext>
            </a:extLst>
          </p:cNvPr>
          <p:cNvCxnSpPr>
            <a:cxnSpLocks noChangeShapeType="1"/>
            <a:stCxn id="16" idx="3"/>
            <a:endCxn id="12" idx="3"/>
          </p:cNvCxnSpPr>
          <p:nvPr/>
        </p:nvCxnSpPr>
        <p:spPr bwMode="auto">
          <a:xfrm flipH="1">
            <a:off x="8932123" y="2529182"/>
            <a:ext cx="682447" cy="2885323"/>
          </a:xfrm>
          <a:prstGeom prst="bentConnector3">
            <a:avLst>
              <a:gd name="adj1" fmla="val -33488"/>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26" name="Group 25">
            <a:extLst>
              <a:ext uri="{FF2B5EF4-FFF2-40B4-BE49-F238E27FC236}">
                <a16:creationId xmlns:a16="http://schemas.microsoft.com/office/drawing/2014/main" id="{465F5DA0-318A-668D-E034-69A17E3A2167}"/>
              </a:ext>
            </a:extLst>
          </p:cNvPr>
          <p:cNvGrpSpPr/>
          <p:nvPr/>
        </p:nvGrpSpPr>
        <p:grpSpPr>
          <a:xfrm>
            <a:off x="940004" y="320604"/>
            <a:ext cx="6217883" cy="311851"/>
            <a:chOff x="940249" y="302538"/>
            <a:chExt cx="6219503" cy="311932"/>
          </a:xfrm>
        </p:grpSpPr>
        <p:sp>
          <p:nvSpPr>
            <p:cNvPr id="27" name="TextBox 26">
              <a:extLst>
                <a:ext uri="{FF2B5EF4-FFF2-40B4-BE49-F238E27FC236}">
                  <a16:creationId xmlns:a16="http://schemas.microsoft.com/office/drawing/2014/main" id="{A776C353-DE07-3EBE-9001-36B8A93A529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8" name="AutoShape 9">
              <a:extLst>
                <a:ext uri="{FF2B5EF4-FFF2-40B4-BE49-F238E27FC236}">
                  <a16:creationId xmlns:a16="http://schemas.microsoft.com/office/drawing/2014/main" id="{81529D95-DFF3-A4A2-E22F-7D1E4E3624F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9" name="AutoShape 9">
              <a:extLst>
                <a:ext uri="{FF2B5EF4-FFF2-40B4-BE49-F238E27FC236}">
                  <a16:creationId xmlns:a16="http://schemas.microsoft.com/office/drawing/2014/main" id="{E218DA90-3666-D743-32F8-ACB38C13CB0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0" name="AutoShape 9">
              <a:extLst>
                <a:ext uri="{FF2B5EF4-FFF2-40B4-BE49-F238E27FC236}">
                  <a16:creationId xmlns:a16="http://schemas.microsoft.com/office/drawing/2014/main" id="{0BEABFE9-C792-78B1-D5B5-7E6876C6667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1" name="AutoShape 9">
              <a:extLst>
                <a:ext uri="{FF2B5EF4-FFF2-40B4-BE49-F238E27FC236}">
                  <a16:creationId xmlns:a16="http://schemas.microsoft.com/office/drawing/2014/main" id="{9E279987-BEA1-6A19-7AEB-BBC6DA1DE58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2" name="AutoShape 11">
              <a:extLst>
                <a:ext uri="{FF2B5EF4-FFF2-40B4-BE49-F238E27FC236}">
                  <a16:creationId xmlns:a16="http://schemas.microsoft.com/office/drawing/2014/main" id="{28FEBC53-F5F2-5630-80C1-9917FA8F4D8B}"/>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108562988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73C5CA-1092-3A3F-E498-3EBCFF1675CF}"/>
              </a:ext>
            </a:extLst>
          </p:cNvPr>
          <p:cNvSpPr>
            <a:spLocks noGrp="1"/>
          </p:cNvSpPr>
          <p:nvPr>
            <p:ph type="title"/>
          </p:nvPr>
        </p:nvSpPr>
        <p:spPr/>
        <p:txBody>
          <a:bodyPr>
            <a:noAutofit/>
          </a:bodyPr>
          <a:lstStyle/>
          <a:p>
            <a:r>
              <a:rPr lang="en-US" sz="3599" dirty="0"/>
              <a:t>Identify the </a:t>
            </a:r>
            <a:r>
              <a:rPr lang="en-US" sz="3599" i="1" dirty="0"/>
              <a:t>Value Object </a:t>
            </a:r>
            <a:r>
              <a:rPr lang="en-US" sz="3599" dirty="0"/>
              <a:t>within the Value System</a:t>
            </a:r>
          </a:p>
        </p:txBody>
      </p:sp>
      <p:sp>
        <p:nvSpPr>
          <p:cNvPr id="3" name="Rectangle 3">
            <a:extLst>
              <a:ext uri="{FF2B5EF4-FFF2-40B4-BE49-F238E27FC236}">
                <a16:creationId xmlns:a16="http://schemas.microsoft.com/office/drawing/2014/main" id="{C86E96B7-89BC-C2EC-E33F-9E487BD5CEA9}"/>
              </a:ext>
            </a:extLst>
          </p:cNvPr>
          <p:cNvSpPr txBox="1">
            <a:spLocks noChangeArrowheads="1"/>
          </p:cNvSpPr>
          <p:nvPr/>
        </p:nvSpPr>
        <p:spPr>
          <a:xfrm>
            <a:off x="6741502" y="2184724"/>
            <a:ext cx="3702674" cy="443114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90000"/>
            </a:pPr>
            <a:r>
              <a:rPr lang="en-US" altLang="en-US" sz="1799" dirty="0"/>
              <a:t>The </a:t>
            </a:r>
            <a:r>
              <a:rPr lang="en-US" altLang="en-US" sz="1799" i="1" dirty="0"/>
              <a:t>VALUE OBJECT </a:t>
            </a:r>
            <a:r>
              <a:rPr lang="en-US" altLang="en-US" sz="1799" dirty="0"/>
              <a:t>is:</a:t>
            </a:r>
          </a:p>
          <a:p>
            <a:pPr lvl="1">
              <a:buSzPct val="90000"/>
            </a:pPr>
            <a:r>
              <a:rPr lang="en-US" altLang="en-US" sz="1400" dirty="0"/>
              <a:t>a single physical or informational object that follows all of the process steps within the value stream from inception to receipt by customer</a:t>
            </a:r>
          </a:p>
          <a:p>
            <a:pPr lvl="1">
              <a:buSzPct val="90000"/>
            </a:pPr>
            <a:r>
              <a:rPr lang="en-US" altLang="en-US" sz="1400" dirty="0"/>
              <a:t>used to follow the value stream as it is mapped and to calculate the inventory levels at each process</a:t>
            </a:r>
          </a:p>
          <a:p>
            <a:pPr lvl="1">
              <a:buSzPct val="90000"/>
            </a:pPr>
            <a:r>
              <a:rPr lang="en-US" altLang="en-US" sz="1400" dirty="0"/>
              <a:t>used to demonstrate how value is added as it moves through its processes to the customer</a:t>
            </a:r>
          </a:p>
        </p:txBody>
      </p:sp>
      <p:graphicFrame>
        <p:nvGraphicFramePr>
          <p:cNvPr id="4" name="Group 33">
            <a:extLst>
              <a:ext uri="{FF2B5EF4-FFF2-40B4-BE49-F238E27FC236}">
                <a16:creationId xmlns:a16="http://schemas.microsoft.com/office/drawing/2014/main" id="{DF875CDC-835A-ED89-3442-255CB3908B74}"/>
              </a:ext>
            </a:extLst>
          </p:cNvPr>
          <p:cNvGraphicFramePr>
            <a:graphicFrameLocks noGrp="1"/>
          </p:cNvGraphicFramePr>
          <p:nvPr>
            <p:extLst>
              <p:ext uri="{D42A27DB-BD31-4B8C-83A1-F6EECF244321}">
                <p14:modId xmlns:p14="http://schemas.microsoft.com/office/powerpoint/2010/main" val="2597633848"/>
              </p:ext>
            </p:extLst>
          </p:nvPr>
        </p:nvGraphicFramePr>
        <p:xfrm>
          <a:off x="837982" y="2444224"/>
          <a:ext cx="4306732" cy="2317252"/>
        </p:xfrm>
        <a:graphic>
          <a:graphicData uri="http://schemas.openxmlformats.org/drawingml/2006/table">
            <a:tbl>
              <a:tblPr/>
              <a:tblGrid>
                <a:gridCol w="2153366">
                  <a:extLst>
                    <a:ext uri="{9D8B030D-6E8A-4147-A177-3AD203B41FA5}">
                      <a16:colId xmlns:a16="http://schemas.microsoft.com/office/drawing/2014/main" val="20000"/>
                    </a:ext>
                  </a:extLst>
                </a:gridCol>
                <a:gridCol w="2153366">
                  <a:extLst>
                    <a:ext uri="{9D8B030D-6E8A-4147-A177-3AD203B41FA5}">
                      <a16:colId xmlns:a16="http://schemas.microsoft.com/office/drawing/2014/main" val="20001"/>
                    </a:ext>
                  </a:extLst>
                </a:gridCol>
              </a:tblGrid>
              <a:tr h="40164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PRODUCT or SERVICE</a:t>
                      </a:r>
                    </a:p>
                  </a:txBody>
                  <a:tcPr marL="91416" marR="91416" marT="45701" marB="4570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TYPICAL </a:t>
                      </a:r>
                      <a:r>
                        <a:rPr kumimoji="0" lang="en-US" altLang="en-US" sz="1400" b="1" i="1"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VALUE OBJECT</a:t>
                      </a:r>
                    </a:p>
                  </a:txBody>
                  <a:tcPr marL="91416" marR="91416" marT="45701" marB="4570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extLst>
                  <a:ext uri="{0D108BD9-81ED-4DB2-BD59-A6C34878D82A}">
                    <a16:rowId xmlns:a16="http://schemas.microsoft.com/office/drawing/2014/main" val="10000"/>
                  </a:ext>
                </a:extLst>
              </a:tr>
              <a:tr h="39766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Automobile Engine</a:t>
                      </a:r>
                    </a:p>
                  </a:txBody>
                  <a:tcPr marL="91416" marR="91416" marT="45701" marB="4570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Engine Block</a:t>
                      </a:r>
                    </a:p>
                  </a:txBody>
                  <a:tcPr marL="91416" marR="91416" marT="45701" marB="4570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41949">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Centrifugal Pump</a:t>
                      </a:r>
                    </a:p>
                  </a:txBody>
                  <a:tcPr marL="91416" marR="91416" marT="45701" marB="4570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Aluminum Casting</a:t>
                      </a:r>
                    </a:p>
                  </a:txBody>
                  <a:tcPr marL="91416" marR="91416" marT="45701" marB="4570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2069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Printed Wiring Board</a:t>
                      </a:r>
                    </a:p>
                  </a:txBody>
                  <a:tcPr marL="91416" marR="91416" marT="45701" marB="4570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Circuit Board Fab</a:t>
                      </a:r>
                    </a:p>
                  </a:txBody>
                  <a:tcPr marL="91416" marR="91416" marT="45701" marB="4570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91705">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Industrial Cleaning Product</a:t>
                      </a:r>
                    </a:p>
                  </a:txBody>
                  <a:tcPr marL="91416" marR="91416" marT="45701" marB="4570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Base Chemical</a:t>
                      </a:r>
                    </a:p>
                  </a:txBody>
                  <a:tcPr marL="91416" marR="91416" marT="45701" marB="4570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205148173"/>
                  </a:ext>
                </a:extLst>
              </a:tr>
            </a:tbl>
          </a:graphicData>
        </a:graphic>
      </p:graphicFrame>
      <p:sp>
        <p:nvSpPr>
          <p:cNvPr id="6" name="Arrow">
            <a:extLst>
              <a:ext uri="{FF2B5EF4-FFF2-40B4-BE49-F238E27FC236}">
                <a16:creationId xmlns:a16="http://schemas.microsoft.com/office/drawing/2014/main" id="{B8099042-D435-851A-9598-A04577B577E4}"/>
              </a:ext>
            </a:extLst>
          </p:cNvPr>
          <p:cNvSpPr/>
          <p:nvPr/>
        </p:nvSpPr>
        <p:spPr>
          <a:xfrm>
            <a:off x="5577301" y="3204415"/>
            <a:ext cx="1034222" cy="770140"/>
          </a:xfrm>
          <a:prstGeom prst="rightArrow">
            <a:avLst>
              <a:gd name="adj1" fmla="val 54641"/>
              <a:gd name="adj2" fmla="val 68352"/>
            </a:avLst>
          </a:prstGeom>
          <a:solidFill>
            <a:srgbClr val="EE3228"/>
          </a:solidFill>
          <a:ln w="12700">
            <a:miter lim="400000"/>
          </a:ln>
        </p:spPr>
        <p:txBody>
          <a:bodyPr lIns="50787" tIns="50787" rIns="50787" bIns="50787" anchor="ctr"/>
          <a:lstStyle/>
          <a:p>
            <a:pPr defTabSz="584025">
              <a:defRPr sz="4000">
                <a:solidFill>
                  <a:srgbClr val="A9AFC3"/>
                </a:solidFill>
                <a:effectLst>
                  <a:outerShdw blurRad="38100" dist="12700" dir="5400000" rotWithShape="0">
                    <a:srgbClr val="000000">
                      <a:alpha val="50000"/>
                    </a:srgbClr>
                  </a:outerShdw>
                </a:effectLst>
              </a:defRPr>
            </a:pPr>
            <a:endParaRPr sz="3999"/>
          </a:p>
        </p:txBody>
      </p:sp>
      <p:sp>
        <p:nvSpPr>
          <p:cNvPr id="7" name="Slide Number Placeholder 2">
            <a:extLst>
              <a:ext uri="{FF2B5EF4-FFF2-40B4-BE49-F238E27FC236}">
                <a16:creationId xmlns:a16="http://schemas.microsoft.com/office/drawing/2014/main" id="{CABF7F50-1CF4-AA18-CEC5-8E24C669C73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a:t>
            </a:fld>
            <a:endParaRPr lang="en-US"/>
          </a:p>
        </p:txBody>
      </p:sp>
      <p:grpSp>
        <p:nvGrpSpPr>
          <p:cNvPr id="15" name="Group 14">
            <a:extLst>
              <a:ext uri="{FF2B5EF4-FFF2-40B4-BE49-F238E27FC236}">
                <a16:creationId xmlns:a16="http://schemas.microsoft.com/office/drawing/2014/main" id="{E65CCC6D-D95C-AF2C-7E6E-C2528490C290}"/>
              </a:ext>
            </a:extLst>
          </p:cNvPr>
          <p:cNvGrpSpPr/>
          <p:nvPr/>
        </p:nvGrpSpPr>
        <p:grpSpPr>
          <a:xfrm>
            <a:off x="940249" y="319790"/>
            <a:ext cx="6219503" cy="311932"/>
            <a:chOff x="940249" y="302538"/>
            <a:chExt cx="6219503" cy="311932"/>
          </a:xfrm>
        </p:grpSpPr>
        <p:sp>
          <p:nvSpPr>
            <p:cNvPr id="16" name="TextBox 15">
              <a:extLst>
                <a:ext uri="{FF2B5EF4-FFF2-40B4-BE49-F238E27FC236}">
                  <a16:creationId xmlns:a16="http://schemas.microsoft.com/office/drawing/2014/main" id="{0D31A27D-A9E5-2F29-2A71-4B5074C36E3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7" name="AutoShape 9">
              <a:extLst>
                <a:ext uri="{FF2B5EF4-FFF2-40B4-BE49-F238E27FC236}">
                  <a16:creationId xmlns:a16="http://schemas.microsoft.com/office/drawing/2014/main" id="{4F8C2214-8518-6E99-94F3-FF316B86570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9">
              <a:extLst>
                <a:ext uri="{FF2B5EF4-FFF2-40B4-BE49-F238E27FC236}">
                  <a16:creationId xmlns:a16="http://schemas.microsoft.com/office/drawing/2014/main" id="{219F05CB-CC86-0F23-6634-607AB070198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9">
              <a:extLst>
                <a:ext uri="{FF2B5EF4-FFF2-40B4-BE49-F238E27FC236}">
                  <a16:creationId xmlns:a16="http://schemas.microsoft.com/office/drawing/2014/main" id="{5134410B-48D1-2FEA-91F2-662A916BAEC7}"/>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ABD5039C-79E9-731B-1A6C-A1CC1B72E83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1" name="AutoShape 11">
              <a:extLst>
                <a:ext uri="{FF2B5EF4-FFF2-40B4-BE49-F238E27FC236}">
                  <a16:creationId xmlns:a16="http://schemas.microsoft.com/office/drawing/2014/main" id="{48B925E6-FD82-137A-B79D-85AAE667E3C5}"/>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367325688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lstStyle/>
          <a:p>
            <a:r>
              <a:rPr lang="en-US" altLang="en-US" dirty="0">
                <a:latin typeface="Roboto Medium" panose="02000000000000000000" pitchFamily="2" charset="0"/>
                <a:ea typeface="Roboto Medium" panose="02000000000000000000" pitchFamily="2" charset="0"/>
                <a:cs typeface="Roboto Medium" panose="02000000000000000000" pitchFamily="2" charset="0"/>
              </a:rPr>
              <a:t>Defining and Selecting a Product Family</a:t>
            </a:r>
            <a:endParaRPr lang="en-US" dirty="0">
              <a:latin typeface="Roboto Medium" panose="02000000000000000000" pitchFamily="2" charset="0"/>
              <a:ea typeface="Roboto Medium" panose="02000000000000000000" pitchFamily="2" charset="0"/>
              <a:cs typeface="Roboto Medium" panose="02000000000000000000" pitchFamily="2" charset="0"/>
            </a:endParaRPr>
          </a:p>
        </p:txBody>
      </p:sp>
      <p:graphicFrame>
        <p:nvGraphicFramePr>
          <p:cNvPr id="12" name="Table">
            <a:extLst>
              <a:ext uri="{FF2B5EF4-FFF2-40B4-BE49-F238E27FC236}">
                <a16:creationId xmlns:a16="http://schemas.microsoft.com/office/drawing/2014/main" id="{7EABCE51-AA7A-A238-B349-A24280E8FA76}"/>
              </a:ext>
            </a:extLst>
          </p:cNvPr>
          <p:cNvGraphicFramePr/>
          <p:nvPr>
            <p:extLst>
              <p:ext uri="{D42A27DB-BD31-4B8C-83A1-F6EECF244321}">
                <p14:modId xmlns:p14="http://schemas.microsoft.com/office/powerpoint/2010/main" val="336651903"/>
              </p:ext>
            </p:extLst>
          </p:nvPr>
        </p:nvGraphicFramePr>
        <p:xfrm>
          <a:off x="739329" y="1938532"/>
          <a:ext cx="10611515" cy="4391348"/>
        </p:xfrm>
        <a:graphic>
          <a:graphicData uri="http://schemas.openxmlformats.org/drawingml/2006/table">
            <a:tbl>
              <a:tblPr>
                <a:tableStyleId>{4C3C2611-4C71-4FC5-86AE-919BDF0F9419}</a:tableStyleId>
              </a:tblPr>
              <a:tblGrid>
                <a:gridCol w="3340944">
                  <a:extLst>
                    <a:ext uri="{9D8B030D-6E8A-4147-A177-3AD203B41FA5}">
                      <a16:colId xmlns:a16="http://schemas.microsoft.com/office/drawing/2014/main" val="20000"/>
                    </a:ext>
                  </a:extLst>
                </a:gridCol>
                <a:gridCol w="7270571">
                  <a:extLst>
                    <a:ext uri="{9D8B030D-6E8A-4147-A177-3AD203B41FA5}">
                      <a16:colId xmlns:a16="http://schemas.microsoft.com/office/drawing/2014/main" val="3232931142"/>
                    </a:ext>
                  </a:extLst>
                </a:gridCol>
              </a:tblGrid>
              <a:tr h="596745">
                <a:tc>
                  <a:txBody>
                    <a:bodyPr/>
                    <a:lstStyle/>
                    <a:p>
                      <a:pPr marL="0" indent="0"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Points</a:t>
                      </a:r>
                      <a:endParaRPr sz="1500" b="1" dirty="0">
                        <a:solidFill>
                          <a:schemeClr val="bg1"/>
                        </a:solidFill>
                        <a:latin typeface="Roboto" panose="02000000000000000000" pitchFamily="2" charset="0"/>
                        <a:ea typeface="Roboto" panose="02000000000000000000" pitchFamily="2" charset="0"/>
                      </a:endParaRPr>
                    </a:p>
                  </a:txBody>
                  <a:tcPr marL="0" marR="0" marT="0" marB="0" anchor="ctr" horzOverflow="overflow">
                    <a:lnL w="12700">
                      <a:miter lim="400000"/>
                    </a:lnL>
                    <a:lnR w="12700" cap="flat" cmpd="sng" algn="ctr">
                      <a:solidFill>
                        <a:schemeClr val="bg1"/>
                      </a:solidFill>
                      <a:prstDash val="solid"/>
                      <a:round/>
                      <a:headEnd type="none" w="med" len="med"/>
                      <a:tailEnd type="none" w="med" len="med"/>
                    </a:lnR>
                    <a:lnT w="12700">
                      <a:miter lim="400000"/>
                    </a:lnT>
                    <a:lnB w="12700" cap="flat" cmpd="sng" algn="ctr">
                      <a:solidFill>
                        <a:schemeClr val="bg1"/>
                      </a:solidFill>
                      <a:prstDash val="solid"/>
                      <a:round/>
                      <a:headEnd type="none" w="med" len="med"/>
                      <a:tailEnd type="none" w="med" len="med"/>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Descriptions</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12700" cap="flat" cmpd="sng" algn="ctr">
                      <a:solidFill>
                        <a:schemeClr val="bg1"/>
                      </a:solidFill>
                      <a:prstDash val="solid"/>
                      <a:round/>
                      <a:headEnd type="none" w="med" len="med"/>
                      <a:tailEnd type="none" w="med" len="med"/>
                    </a:lnL>
                    <a:lnR w="0">
                      <a:noFill/>
                      <a:miter lim="400000"/>
                    </a:lnR>
                    <a:lnT w="0">
                      <a:miter lim="400000"/>
                    </a:lnT>
                    <a:lnB w="12700" cap="flat" cmpd="sng" algn="ctr">
                      <a:solidFill>
                        <a:schemeClr val="bg1"/>
                      </a:solidFill>
                      <a:prstDash val="solid"/>
                      <a:round/>
                      <a:headEnd type="none" w="med" len="med"/>
                      <a:tailEnd type="none" w="med" len="med"/>
                    </a:lnB>
                    <a:solidFill>
                      <a:srgbClr val="EE3228"/>
                    </a:solidFill>
                  </a:tcPr>
                </a:tc>
                <a:extLst>
                  <a:ext uri="{0D108BD9-81ED-4DB2-BD59-A6C34878D82A}">
                    <a16:rowId xmlns:a16="http://schemas.microsoft.com/office/drawing/2014/main" val="10000"/>
                  </a:ext>
                </a:extLst>
              </a:tr>
              <a:tr h="1188410">
                <a:tc>
                  <a:txBody>
                    <a:bodyPr/>
                    <a:lstStyle/>
                    <a:p>
                      <a:pPr marL="0" indent="0" algn="ctr" defTabSz="1828342">
                        <a:buClr>
                          <a:schemeClr val="bg1"/>
                        </a:buClr>
                        <a:buNone/>
                        <a:defRPr sz="1800">
                          <a:solidFill>
                            <a:srgbClr val="000000"/>
                          </a:solidFill>
                        </a:defRPr>
                      </a:pPr>
                      <a:endParaRPr lang="en-US" sz="1500" dirty="0">
                        <a:solidFill>
                          <a:schemeClr val="bg1"/>
                        </a:solidFill>
                        <a:latin typeface="Roboto" panose="02000000000000000000" pitchFamily="2" charset="0"/>
                        <a:ea typeface="Roboto" panose="02000000000000000000" pitchFamily="2" charset="0"/>
                      </a:endParaRPr>
                    </a:p>
                    <a:p>
                      <a:pPr marL="514350" indent="-514350" algn="l" defTabSz="1828342">
                        <a:buClr>
                          <a:schemeClr val="bg1"/>
                        </a:buClr>
                        <a:buFont typeface="+mj-lt"/>
                        <a:buAutoNum type="arabicPeriod"/>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Product Family</a:t>
                      </a:r>
                    </a:p>
                  </a:txBody>
                  <a:tcPr marL="184102" marR="184102" marT="137124" marB="137124" anchor="ctr" horzOverflow="overflow">
                    <a:lnL w="0">
                      <a:miter lim="400000"/>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A group of products that pass through similar </a:t>
                      </a:r>
                      <a:br>
                        <a:rPr lang="en-US" sz="1500" dirty="0">
                          <a:solidFill>
                            <a:schemeClr val="bg1"/>
                          </a:solidFill>
                          <a:latin typeface="Roboto" panose="02000000000000000000" pitchFamily="2" charset="0"/>
                          <a:ea typeface="Roboto" panose="02000000000000000000" pitchFamily="2" charset="0"/>
                        </a:rPr>
                      </a:br>
                      <a:r>
                        <a:rPr lang="en-US" sz="1500" dirty="0">
                          <a:solidFill>
                            <a:schemeClr val="bg1"/>
                          </a:solidFill>
                          <a:latin typeface="Roboto" panose="02000000000000000000" pitchFamily="2" charset="0"/>
                          <a:ea typeface="Roboto" panose="02000000000000000000" pitchFamily="2" charset="0"/>
                        </a:rPr>
                        <a:t>processing steps/common equipment in downstream </a:t>
                      </a:r>
                      <a:br>
                        <a:rPr lang="en-US" sz="1500" dirty="0">
                          <a:solidFill>
                            <a:schemeClr val="bg1"/>
                          </a:solidFill>
                          <a:latin typeface="Roboto" panose="02000000000000000000" pitchFamily="2" charset="0"/>
                          <a:ea typeface="Roboto" panose="02000000000000000000" pitchFamily="2" charset="0"/>
                        </a:rPr>
                      </a:br>
                      <a:r>
                        <a:rPr lang="en-US" sz="1500" dirty="0">
                          <a:solidFill>
                            <a:schemeClr val="bg1"/>
                          </a:solidFill>
                          <a:latin typeface="Roboto" panose="02000000000000000000" pitchFamily="2" charset="0"/>
                          <a:ea typeface="Roboto" panose="02000000000000000000" pitchFamily="2" charset="0"/>
                        </a:rPr>
                        <a:t>processes.</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Individual products within the family might vary in size, finish, color, etc.</a:t>
                      </a:r>
                    </a:p>
                  </a:txBody>
                  <a:tcPr marL="184102" marR="184102" marT="137124" marB="137124" anchor="ctr" horzOverflow="overflow">
                    <a:lnL w="12700" cap="flat" cmpd="sng" algn="ctr">
                      <a:solidFill>
                        <a:schemeClr val="bg1"/>
                      </a:solidFill>
                      <a:prstDash val="solid"/>
                      <a:round/>
                      <a:headEnd type="none" w="med" len="med"/>
                      <a:tailEnd type="none" w="med" len="med"/>
                    </a:lnL>
                    <a:lnR w="0">
                      <a:noFill/>
                      <a:miter lim="400000"/>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91C25"/>
                    </a:solidFill>
                  </a:tcPr>
                </a:tc>
                <a:extLst>
                  <a:ext uri="{0D108BD9-81ED-4DB2-BD59-A6C34878D82A}">
                    <a16:rowId xmlns:a16="http://schemas.microsoft.com/office/drawing/2014/main" val="10001"/>
                  </a:ext>
                </a:extLst>
              </a:tr>
              <a:tr h="1188410">
                <a:tc>
                  <a:txBody>
                    <a:bodyPr/>
                    <a:lstStyle/>
                    <a:p>
                      <a:pPr marL="514350" indent="-514350" algn="l" defTabSz="1828342">
                        <a:buClr>
                          <a:schemeClr val="bg1"/>
                        </a:buClr>
                        <a:buFont typeface="+mj-lt"/>
                        <a:buAutoNum type="arabicPeriod" startAt="2"/>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Product Family Matrix</a:t>
                      </a:r>
                    </a:p>
                  </a:txBody>
                  <a:tcPr marL="184102" marR="184102" marT="137124" marB="137124" anchor="ctr" horzOverflow="overflow">
                    <a:lnL w="0">
                      <a:miter lim="400000"/>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A7A7A"/>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A data analysis tool used to identify and group products into product families as a function of common production processes and percentage of total demand</a:t>
                      </a:r>
                    </a:p>
                    <a:p>
                      <a:pPr marL="457200" indent="-457200" algn="l" defTabSz="1828342">
                        <a:buClr>
                          <a:schemeClr val="bg1"/>
                        </a:buClr>
                        <a:buFont typeface="Arial" panose="020B0604020202020204" pitchFamily="34" charset="0"/>
                        <a:buChar char="•"/>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rPr>
                        <a:t>Used where there are many products and variants with no understanding of product family grouping</a:t>
                      </a:r>
                    </a:p>
                  </a:txBody>
                  <a:tcPr marL="184102" marR="184102" marT="137124" marB="137124" anchor="ctr" horzOverflow="overflow">
                    <a:lnL w="12700" cap="flat" cmpd="sng" algn="ctr">
                      <a:solidFill>
                        <a:schemeClr val="bg1"/>
                      </a:solidFill>
                      <a:prstDash val="solid"/>
                      <a:round/>
                      <a:headEnd type="none" w="med" len="med"/>
                      <a:tailEnd type="none" w="med" len="med"/>
                    </a:lnL>
                    <a:lnR w="0">
                      <a:noFill/>
                      <a:miter lim="400000"/>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A7A7A"/>
                    </a:solidFill>
                  </a:tcPr>
                </a:tc>
                <a:extLst>
                  <a:ext uri="{0D108BD9-81ED-4DB2-BD59-A6C34878D82A}">
                    <a16:rowId xmlns:a16="http://schemas.microsoft.com/office/drawing/2014/main" val="10002"/>
                  </a:ext>
                </a:extLst>
              </a:tr>
              <a:tr h="1188410">
                <a:tc>
                  <a:txBody>
                    <a:bodyPr/>
                    <a:lstStyle/>
                    <a:p>
                      <a:pPr marL="514350" indent="-514350" algn="l" defTabSz="1828342">
                        <a:buClr>
                          <a:schemeClr val="bg1"/>
                        </a:buClr>
                        <a:buFont typeface="+mj-lt"/>
                        <a:buAutoNum type="arabicPeriod" startAt="3"/>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Information to Record</a:t>
                      </a:r>
                    </a:p>
                  </a:txBody>
                  <a:tcPr marL="184102" marR="184102" marT="137124" marB="137124" anchor="ctr" horzOverflow="overflow">
                    <a:lnL w="0">
                      <a:miter lim="400000"/>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0">
                      <a:miter lim="400000"/>
                    </a:lnB>
                    <a:solidFill>
                      <a:srgbClr val="191C25"/>
                    </a:solidFill>
                  </a:tcPr>
                </a:tc>
                <a:tc>
                  <a:txBody>
                    <a:bodyPr/>
                    <a:lstStyle/>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Product family name and description</a:t>
                      </a:r>
                    </a:p>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List each product (SKU) and description within family</a:t>
                      </a:r>
                    </a:p>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Sequence of processes required to produce each product</a:t>
                      </a:r>
                    </a:p>
                    <a:p>
                      <a:pPr marL="457200" indent="-457200" algn="l" defTabSz="1828342">
                        <a:buClr>
                          <a:schemeClr val="bg1"/>
                        </a:buClr>
                        <a:buFont typeface="Arial" panose="020B0604020202020204" pitchFamily="34" charset="0"/>
                        <a:buChar char="•"/>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Demand for each product – quantity and frequency</a:t>
                      </a:r>
                    </a:p>
                  </a:txBody>
                  <a:tcPr marL="184102" marR="184102" marT="137124" marB="137124" anchor="ctr" horzOverflow="overflow">
                    <a:lnL w="12700" cap="flat" cmpd="sng" algn="ctr">
                      <a:solidFill>
                        <a:schemeClr val="bg1"/>
                      </a:solidFill>
                      <a:prstDash val="solid"/>
                      <a:round/>
                      <a:headEnd type="none" w="med" len="med"/>
                      <a:tailEnd type="none" w="med" len="med"/>
                    </a:lnL>
                    <a:lnR w="0">
                      <a:noFill/>
                      <a:miter lim="400000"/>
                    </a:lnR>
                    <a:lnT w="12700" cap="flat" cmpd="sng" algn="ctr">
                      <a:solidFill>
                        <a:schemeClr val="bg1"/>
                      </a:solidFill>
                      <a:prstDash val="solid"/>
                      <a:round/>
                      <a:headEnd type="none" w="med" len="med"/>
                      <a:tailEnd type="none" w="med" len="med"/>
                    </a:lnT>
                    <a:lnB w="0">
                      <a:noFill/>
                      <a:miter lim="400000"/>
                    </a:lnB>
                    <a:solidFill>
                      <a:srgbClr val="191C25"/>
                    </a:solidFill>
                  </a:tcPr>
                </a:tc>
                <a:extLst>
                  <a:ext uri="{0D108BD9-81ED-4DB2-BD59-A6C34878D82A}">
                    <a16:rowId xmlns:a16="http://schemas.microsoft.com/office/drawing/2014/main" val="10003"/>
                  </a:ext>
                </a:extLst>
              </a:tr>
            </a:tbl>
          </a:graphicData>
        </a:graphic>
      </p:graphicFrame>
      <p:grpSp>
        <p:nvGrpSpPr>
          <p:cNvPr id="10" name="Group 9">
            <a:extLst>
              <a:ext uri="{FF2B5EF4-FFF2-40B4-BE49-F238E27FC236}">
                <a16:creationId xmlns:a16="http://schemas.microsoft.com/office/drawing/2014/main" id="{87BA8B2F-4276-2F4B-EF34-DE54270D4AFC}"/>
              </a:ext>
            </a:extLst>
          </p:cNvPr>
          <p:cNvGrpSpPr/>
          <p:nvPr/>
        </p:nvGrpSpPr>
        <p:grpSpPr>
          <a:xfrm>
            <a:off x="940249" y="319790"/>
            <a:ext cx="6219503" cy="311932"/>
            <a:chOff x="940249" y="302538"/>
            <a:chExt cx="6219503" cy="311932"/>
          </a:xfrm>
        </p:grpSpPr>
        <p:sp>
          <p:nvSpPr>
            <p:cNvPr id="13" name="TextBox 12">
              <a:extLst>
                <a:ext uri="{FF2B5EF4-FFF2-40B4-BE49-F238E27FC236}">
                  <a16:creationId xmlns:a16="http://schemas.microsoft.com/office/drawing/2014/main" id="{3FBEB6AA-DF09-0B23-3D0C-A75A36D65C3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4" name="AutoShape 9">
              <a:extLst>
                <a:ext uri="{FF2B5EF4-FFF2-40B4-BE49-F238E27FC236}">
                  <a16:creationId xmlns:a16="http://schemas.microsoft.com/office/drawing/2014/main" id="{F0D1FF38-B1F3-4B3E-4877-706A3A787FD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4FE7E20B-768C-B442-662D-D41FFD48A7C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68746741-4CDE-8C8C-F20B-455DECF39D3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92D15470-265A-6171-C739-F3A7CE3C0D7A}"/>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546B1223-D7F3-C83B-DF47-4664CE9A296B}"/>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0" name="Slide Number Placeholder 2">
            <a:extLst>
              <a:ext uri="{FF2B5EF4-FFF2-40B4-BE49-F238E27FC236}">
                <a16:creationId xmlns:a16="http://schemas.microsoft.com/office/drawing/2014/main" id="{C338859B-FDB2-FF05-D912-55411251CA6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16</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225304610"/>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lstStyle/>
          <a:p>
            <a:r>
              <a:rPr lang="en-US" altLang="en-US" dirty="0">
                <a:latin typeface="Roboto Medium" panose="02000000000000000000" pitchFamily="2" charset="0"/>
                <a:ea typeface="Roboto Medium" panose="02000000000000000000" pitchFamily="2" charset="0"/>
                <a:cs typeface="Roboto Medium" panose="02000000000000000000" pitchFamily="2" charset="0"/>
              </a:rPr>
              <a:t>Product Family Matrix Example</a:t>
            </a:r>
            <a:endParaRPr lang="en-US" dirty="0">
              <a:latin typeface="Roboto Medium" panose="02000000000000000000" pitchFamily="2" charset="0"/>
              <a:ea typeface="Roboto Medium" panose="02000000000000000000" pitchFamily="2" charset="0"/>
              <a:cs typeface="Roboto Medium" panose="02000000000000000000" pitchFamily="2" charset="0"/>
            </a:endParaRPr>
          </a:p>
        </p:txBody>
      </p:sp>
      <p:graphicFrame>
        <p:nvGraphicFramePr>
          <p:cNvPr id="12" name="Table 717">
            <a:extLst>
              <a:ext uri="{FF2B5EF4-FFF2-40B4-BE49-F238E27FC236}">
                <a16:creationId xmlns:a16="http://schemas.microsoft.com/office/drawing/2014/main" id="{CFBEDB62-C26F-B6A7-5DAD-4138D37A42CA}"/>
              </a:ext>
            </a:extLst>
          </p:cNvPr>
          <p:cNvGraphicFramePr>
            <a:graphicFrameLocks noGrp="1"/>
          </p:cNvGraphicFramePr>
          <p:nvPr>
            <p:extLst>
              <p:ext uri="{D42A27DB-BD31-4B8C-83A1-F6EECF244321}">
                <p14:modId xmlns:p14="http://schemas.microsoft.com/office/powerpoint/2010/main" val="3005426012"/>
              </p:ext>
            </p:extLst>
          </p:nvPr>
        </p:nvGraphicFramePr>
        <p:xfrm>
          <a:off x="1361350" y="2599876"/>
          <a:ext cx="9552782" cy="3672684"/>
        </p:xfrm>
        <a:graphic>
          <a:graphicData uri="http://schemas.openxmlformats.org/drawingml/2006/table">
            <a:tbl>
              <a:tblPr firstRow="1" bandRow="1">
                <a:tableStyleId>{1FECB4D8-DB02-4DC6-A0A2-4F2EBAE1DC90}</a:tableStyleId>
              </a:tblPr>
              <a:tblGrid>
                <a:gridCol w="250166">
                  <a:extLst>
                    <a:ext uri="{9D8B030D-6E8A-4147-A177-3AD203B41FA5}">
                      <a16:colId xmlns:a16="http://schemas.microsoft.com/office/drawing/2014/main" val="3582683428"/>
                    </a:ext>
                  </a:extLst>
                </a:gridCol>
                <a:gridCol w="642135">
                  <a:extLst>
                    <a:ext uri="{9D8B030D-6E8A-4147-A177-3AD203B41FA5}">
                      <a16:colId xmlns:a16="http://schemas.microsoft.com/office/drawing/2014/main" val="4236058829"/>
                    </a:ext>
                  </a:extLst>
                </a:gridCol>
                <a:gridCol w="764660">
                  <a:extLst>
                    <a:ext uri="{9D8B030D-6E8A-4147-A177-3AD203B41FA5}">
                      <a16:colId xmlns:a16="http://schemas.microsoft.com/office/drawing/2014/main" val="1686113212"/>
                    </a:ext>
                  </a:extLst>
                </a:gridCol>
                <a:gridCol w="637787">
                  <a:extLst>
                    <a:ext uri="{9D8B030D-6E8A-4147-A177-3AD203B41FA5}">
                      <a16:colId xmlns:a16="http://schemas.microsoft.com/office/drawing/2014/main" val="1819197241"/>
                    </a:ext>
                  </a:extLst>
                </a:gridCol>
                <a:gridCol w="697683">
                  <a:extLst>
                    <a:ext uri="{9D8B030D-6E8A-4147-A177-3AD203B41FA5}">
                      <a16:colId xmlns:a16="http://schemas.microsoft.com/office/drawing/2014/main" val="957149968"/>
                    </a:ext>
                  </a:extLst>
                </a:gridCol>
                <a:gridCol w="937193">
                  <a:extLst>
                    <a:ext uri="{9D8B030D-6E8A-4147-A177-3AD203B41FA5}">
                      <a16:colId xmlns:a16="http://schemas.microsoft.com/office/drawing/2014/main" val="3240221543"/>
                    </a:ext>
                  </a:extLst>
                </a:gridCol>
                <a:gridCol w="937193">
                  <a:extLst>
                    <a:ext uri="{9D8B030D-6E8A-4147-A177-3AD203B41FA5}">
                      <a16:colId xmlns:a16="http://schemas.microsoft.com/office/drawing/2014/main" val="830348086"/>
                    </a:ext>
                  </a:extLst>
                </a:gridCol>
                <a:gridCol w="937193">
                  <a:extLst>
                    <a:ext uri="{9D8B030D-6E8A-4147-A177-3AD203B41FA5}">
                      <a16:colId xmlns:a16="http://schemas.microsoft.com/office/drawing/2014/main" val="3234501645"/>
                    </a:ext>
                  </a:extLst>
                </a:gridCol>
                <a:gridCol w="937193">
                  <a:extLst>
                    <a:ext uri="{9D8B030D-6E8A-4147-A177-3AD203B41FA5}">
                      <a16:colId xmlns:a16="http://schemas.microsoft.com/office/drawing/2014/main" val="736335672"/>
                    </a:ext>
                  </a:extLst>
                </a:gridCol>
                <a:gridCol w="937193">
                  <a:extLst>
                    <a:ext uri="{9D8B030D-6E8A-4147-A177-3AD203B41FA5}">
                      <a16:colId xmlns:a16="http://schemas.microsoft.com/office/drawing/2014/main" val="918852314"/>
                    </a:ext>
                  </a:extLst>
                </a:gridCol>
                <a:gridCol w="937193">
                  <a:extLst>
                    <a:ext uri="{9D8B030D-6E8A-4147-A177-3AD203B41FA5}">
                      <a16:colId xmlns:a16="http://schemas.microsoft.com/office/drawing/2014/main" val="3040423796"/>
                    </a:ext>
                  </a:extLst>
                </a:gridCol>
                <a:gridCol w="937193">
                  <a:extLst>
                    <a:ext uri="{9D8B030D-6E8A-4147-A177-3AD203B41FA5}">
                      <a16:colId xmlns:a16="http://schemas.microsoft.com/office/drawing/2014/main" val="3174141430"/>
                    </a:ext>
                  </a:extLst>
                </a:gridCol>
              </a:tblGrid>
              <a:tr h="350429">
                <a:tc>
                  <a:txBody>
                    <a:bodyPr/>
                    <a:lstStyle/>
                    <a:p>
                      <a:endParaRPr lang="en-US" sz="400" dirty="0">
                        <a:solidFill>
                          <a:schemeClr val="accent6"/>
                        </a:solidFill>
                      </a:endParaRPr>
                    </a:p>
                  </a:txBody>
                  <a:tcPr marL="45708" marR="45708" marT="22854" marB="22854">
                    <a:solidFill>
                      <a:schemeClr val="tx1"/>
                    </a:solidFill>
                  </a:tcPr>
                </a:tc>
                <a:tc>
                  <a:txBody>
                    <a:bodyPr/>
                    <a:lstStyle/>
                    <a:p>
                      <a:r>
                        <a:rPr lang="en-US" sz="1000" dirty="0">
                          <a:solidFill>
                            <a:schemeClr val="bg1"/>
                          </a:solidFill>
                          <a:latin typeface="Roboto" panose="02000000000000000000" pitchFamily="2" charset="0"/>
                          <a:ea typeface="Roboto" panose="02000000000000000000" pitchFamily="2" charset="0"/>
                        </a:rPr>
                        <a:t>PART #</a:t>
                      </a:r>
                    </a:p>
                  </a:txBody>
                  <a:tcPr marL="45708" marR="45708" marT="22854" marB="22854">
                    <a:solidFill>
                      <a:schemeClr val="tx1"/>
                    </a:solidFill>
                  </a:tcPr>
                </a:tc>
                <a:tc>
                  <a:txBody>
                    <a:bodyPr/>
                    <a:lstStyle/>
                    <a:p>
                      <a:r>
                        <a:rPr lang="en-US" sz="1000" dirty="0">
                          <a:solidFill>
                            <a:schemeClr val="bg1"/>
                          </a:solidFill>
                          <a:latin typeface="Roboto" panose="02000000000000000000" pitchFamily="2" charset="0"/>
                          <a:ea typeface="Roboto" panose="02000000000000000000" pitchFamily="2" charset="0"/>
                        </a:rPr>
                        <a:t>DEMAND QUANTITY</a:t>
                      </a:r>
                    </a:p>
                  </a:txBody>
                  <a:tcPr marL="45708" marR="45708" marT="22854" marB="22854">
                    <a:solidFill>
                      <a:schemeClr val="tx1"/>
                    </a:solidFill>
                  </a:tcPr>
                </a:tc>
                <a:tc>
                  <a:txBody>
                    <a:bodyPr/>
                    <a:lstStyle/>
                    <a:p>
                      <a:r>
                        <a:rPr lang="en-US" sz="1000" dirty="0">
                          <a:solidFill>
                            <a:schemeClr val="bg1"/>
                          </a:solidFill>
                          <a:latin typeface="Roboto" panose="02000000000000000000" pitchFamily="2" charset="0"/>
                          <a:ea typeface="Roboto" panose="02000000000000000000" pitchFamily="2" charset="0"/>
                        </a:rPr>
                        <a:t>% OF TOTAL</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CNC MILL</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CENTER LATHE</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GRIND</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ROLL</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CLEAN</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GEAR TOOTH CUTTING</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ASSEMBLY</a:t>
                      </a:r>
                    </a:p>
                  </a:txBody>
                  <a:tcPr marL="45708" marR="45708" marT="22854" marB="22854">
                    <a:solidFill>
                      <a:schemeClr val="tx1"/>
                    </a:solidFill>
                  </a:tcPr>
                </a:tc>
                <a:tc>
                  <a:txBody>
                    <a:bodyPr/>
                    <a:lstStyle/>
                    <a:p>
                      <a:pPr algn="ctr"/>
                      <a:r>
                        <a:rPr lang="en-US" sz="1000" dirty="0">
                          <a:solidFill>
                            <a:schemeClr val="bg1"/>
                          </a:solidFill>
                          <a:latin typeface="Roboto" panose="02000000000000000000" pitchFamily="2" charset="0"/>
                          <a:ea typeface="Roboto" panose="02000000000000000000" pitchFamily="2" charset="0"/>
                        </a:rPr>
                        <a:t>PACKAGING</a:t>
                      </a:r>
                    </a:p>
                  </a:txBody>
                  <a:tcPr marL="45708" marR="45708" marT="22854" marB="22854">
                    <a:solidFill>
                      <a:schemeClr val="tx1"/>
                    </a:solidFill>
                  </a:tcPr>
                </a:tc>
                <a:extLst>
                  <a:ext uri="{0D108BD9-81ED-4DB2-BD59-A6C34878D82A}">
                    <a16:rowId xmlns:a16="http://schemas.microsoft.com/office/drawing/2014/main" val="2120062841"/>
                  </a:ext>
                </a:extLst>
              </a:tr>
              <a:tr h="259013">
                <a:tc>
                  <a:txBody>
                    <a:bodyPr/>
                    <a:lstStyle/>
                    <a:p>
                      <a:r>
                        <a:rPr lang="en-US" sz="1000" dirty="0">
                          <a:latin typeface="Roboto" panose="02000000000000000000" pitchFamily="2" charset="0"/>
                          <a:ea typeface="Roboto" panose="02000000000000000000" pitchFamily="2" charset="0"/>
                        </a:rPr>
                        <a:t>1</a:t>
                      </a:r>
                    </a:p>
                  </a:txBody>
                  <a:tcPr marL="45708" marR="45708" marT="22854" marB="22854"/>
                </a:tc>
                <a:tc>
                  <a:txBody>
                    <a:bodyPr/>
                    <a:lstStyle/>
                    <a:p>
                      <a:r>
                        <a:rPr lang="en-US" sz="1000" dirty="0">
                          <a:latin typeface="Roboto" panose="02000000000000000000" pitchFamily="2" charset="0"/>
                          <a:ea typeface="Roboto" panose="02000000000000000000" pitchFamily="2" charset="0"/>
                        </a:rPr>
                        <a:t>OBR-026</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420</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35</a:t>
                      </a:r>
                    </a:p>
                  </a:txBody>
                  <a:tcPr marL="45708" marR="45708" marT="22854" marB="22854"/>
                </a:tc>
                <a:tc>
                  <a:txBody>
                    <a:bodyPr/>
                    <a:lstStyle/>
                    <a:p>
                      <a:pPr marL="0" marR="0" lvl="0" indent="0" algn="ctr" defTabSz="825500" eaLnBrk="1" fontAlgn="auto" latinLnBrk="0" hangingPunct="1">
                        <a:lnSpc>
                          <a:spcPct val="100000"/>
                        </a:lnSpc>
                        <a:spcBef>
                          <a:spcPts val="0"/>
                        </a:spcBef>
                        <a:spcAft>
                          <a:spcPts val="0"/>
                        </a:spcAft>
                        <a:buClrTx/>
                        <a:buSzTx/>
                        <a:buFontTx/>
                        <a:buNone/>
                        <a:tabLst/>
                        <a:defRPr/>
                      </a:pPr>
                      <a:r>
                        <a:rPr lang="en-US" altLang="en-US" sz="1400" b="0" dirty="0">
                          <a:solidFill>
                            <a:srgbClr val="000000"/>
                          </a:solidFill>
                          <a:latin typeface="Wingdings" panose="05000000000000000000" pitchFamily="2" charset="2"/>
                        </a:rPr>
                        <a:t></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077447806"/>
                  </a:ext>
                </a:extLst>
              </a:tr>
              <a:tr h="259013">
                <a:tc>
                  <a:txBody>
                    <a:bodyPr/>
                    <a:lstStyle/>
                    <a:p>
                      <a:r>
                        <a:rPr lang="en-US" sz="1000" dirty="0">
                          <a:latin typeface="Roboto" panose="02000000000000000000" pitchFamily="2" charset="0"/>
                          <a:ea typeface="Roboto" panose="02000000000000000000" pitchFamily="2" charset="0"/>
                        </a:rPr>
                        <a:t>2</a:t>
                      </a:r>
                    </a:p>
                  </a:txBody>
                  <a:tcPr marL="45708" marR="45708" marT="22854" marB="22854"/>
                </a:tc>
                <a:tc>
                  <a:txBody>
                    <a:bodyPr/>
                    <a:lstStyle/>
                    <a:p>
                      <a:r>
                        <a:rPr lang="en-US" sz="1000" dirty="0">
                          <a:latin typeface="Roboto" panose="02000000000000000000" pitchFamily="2" charset="0"/>
                          <a:ea typeface="Roboto" panose="02000000000000000000" pitchFamily="2" charset="0"/>
                        </a:rPr>
                        <a:t>OBR-030</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288</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24</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091268035"/>
                  </a:ext>
                </a:extLst>
              </a:tr>
              <a:tr h="259013">
                <a:tc>
                  <a:txBody>
                    <a:bodyPr/>
                    <a:lstStyle/>
                    <a:p>
                      <a:r>
                        <a:rPr lang="en-US" sz="1000" dirty="0">
                          <a:latin typeface="Roboto" panose="02000000000000000000" pitchFamily="2" charset="0"/>
                          <a:ea typeface="Roboto" panose="02000000000000000000" pitchFamily="2" charset="0"/>
                        </a:rPr>
                        <a:t>3</a:t>
                      </a:r>
                    </a:p>
                  </a:txBody>
                  <a:tcPr marL="45708" marR="45708" marT="22854" marB="22854"/>
                </a:tc>
                <a:tc>
                  <a:txBody>
                    <a:bodyPr/>
                    <a:lstStyle/>
                    <a:p>
                      <a:r>
                        <a:rPr lang="en-US" sz="1000" dirty="0">
                          <a:latin typeface="Roboto" panose="02000000000000000000" pitchFamily="2" charset="0"/>
                          <a:ea typeface="Roboto" panose="02000000000000000000" pitchFamily="2" charset="0"/>
                        </a:rPr>
                        <a:t>OBR-008</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276</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23</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29816401"/>
                  </a:ext>
                </a:extLst>
              </a:tr>
              <a:tr h="259013">
                <a:tc>
                  <a:txBody>
                    <a:bodyPr/>
                    <a:lstStyle/>
                    <a:p>
                      <a:r>
                        <a:rPr lang="en-US" sz="1000" dirty="0">
                          <a:latin typeface="Roboto" panose="02000000000000000000" pitchFamily="2" charset="0"/>
                          <a:ea typeface="Roboto" panose="02000000000000000000" pitchFamily="2" charset="0"/>
                        </a:rPr>
                        <a:t>4</a:t>
                      </a:r>
                    </a:p>
                  </a:txBody>
                  <a:tcPr marL="45708" marR="45708" marT="22854" marB="22854"/>
                </a:tc>
                <a:tc>
                  <a:txBody>
                    <a:bodyPr/>
                    <a:lstStyle/>
                    <a:p>
                      <a:r>
                        <a:rPr lang="en-US" sz="1000" dirty="0">
                          <a:latin typeface="Roboto" panose="02000000000000000000" pitchFamily="2" charset="0"/>
                          <a:ea typeface="Roboto" panose="02000000000000000000" pitchFamily="2" charset="0"/>
                        </a:rPr>
                        <a:t>320147</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84</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7</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3354343573"/>
                  </a:ext>
                </a:extLst>
              </a:tr>
              <a:tr h="472317">
                <a:tc>
                  <a:txBody>
                    <a:bodyPr/>
                    <a:lstStyle/>
                    <a:p>
                      <a:r>
                        <a:rPr lang="en-US" sz="1000" dirty="0">
                          <a:latin typeface="Roboto" panose="02000000000000000000" pitchFamily="2" charset="0"/>
                          <a:ea typeface="Roboto" panose="02000000000000000000" pitchFamily="2" charset="0"/>
                        </a:rPr>
                        <a:t>5</a:t>
                      </a:r>
                    </a:p>
                  </a:txBody>
                  <a:tcPr marL="45708" marR="45708" marT="22854" marB="22854"/>
                </a:tc>
                <a:tc>
                  <a:txBody>
                    <a:bodyPr/>
                    <a:lstStyle/>
                    <a:p>
                      <a:r>
                        <a:rPr lang="en-US" sz="1000" dirty="0">
                          <a:latin typeface="Roboto" panose="02000000000000000000" pitchFamily="2" charset="0"/>
                          <a:ea typeface="Roboto" panose="02000000000000000000" pitchFamily="2" charset="0"/>
                        </a:rPr>
                        <a:t>330033</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48</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4</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altLang="en-US" sz="1400" b="0" dirty="0">
                        <a:solidFill>
                          <a:srgbClr val="000000"/>
                        </a:solidFill>
                        <a:latin typeface="Wingdings" panose="05000000000000000000" pitchFamily="2" charset="2"/>
                      </a:endParaRPr>
                    </a:p>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692341648"/>
                  </a:ext>
                </a:extLst>
              </a:tr>
              <a:tr h="259013">
                <a:tc>
                  <a:txBody>
                    <a:bodyPr/>
                    <a:lstStyle/>
                    <a:p>
                      <a:r>
                        <a:rPr lang="en-US" sz="1000" dirty="0">
                          <a:latin typeface="Roboto" panose="02000000000000000000" pitchFamily="2" charset="0"/>
                          <a:ea typeface="Roboto" panose="02000000000000000000" pitchFamily="2" charset="0"/>
                        </a:rPr>
                        <a:t>6</a:t>
                      </a:r>
                    </a:p>
                  </a:txBody>
                  <a:tcPr marL="45708" marR="45708" marT="22854" marB="22854"/>
                </a:tc>
                <a:tc>
                  <a:txBody>
                    <a:bodyPr/>
                    <a:lstStyle/>
                    <a:p>
                      <a:r>
                        <a:rPr lang="en-US" sz="1000" dirty="0">
                          <a:latin typeface="Roboto" panose="02000000000000000000" pitchFamily="2" charset="0"/>
                          <a:ea typeface="Roboto" panose="02000000000000000000" pitchFamily="2" charset="0"/>
                        </a:rPr>
                        <a:t>330003</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24</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153380888"/>
                  </a:ext>
                </a:extLst>
              </a:tr>
              <a:tr h="259013">
                <a:tc>
                  <a:txBody>
                    <a:bodyPr/>
                    <a:lstStyle/>
                    <a:p>
                      <a:r>
                        <a:rPr lang="en-US" sz="1000" dirty="0">
                          <a:latin typeface="Roboto" panose="02000000000000000000" pitchFamily="2" charset="0"/>
                          <a:ea typeface="Roboto" panose="02000000000000000000" pitchFamily="2" charset="0"/>
                        </a:rPr>
                        <a:t>7</a:t>
                      </a:r>
                    </a:p>
                  </a:txBody>
                  <a:tcPr marL="45708" marR="45708" marT="22854" marB="22854"/>
                </a:tc>
                <a:tc>
                  <a:txBody>
                    <a:bodyPr/>
                    <a:lstStyle/>
                    <a:p>
                      <a:r>
                        <a:rPr lang="en-US" sz="1000" dirty="0">
                          <a:latin typeface="Roboto" panose="02000000000000000000" pitchFamily="2" charset="0"/>
                          <a:ea typeface="Roboto" panose="02000000000000000000" pitchFamily="2" charset="0"/>
                        </a:rPr>
                        <a:t>330030</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24</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2</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125806909"/>
                  </a:ext>
                </a:extLst>
              </a:tr>
              <a:tr h="259013">
                <a:tc>
                  <a:txBody>
                    <a:bodyPr/>
                    <a:lstStyle/>
                    <a:p>
                      <a:r>
                        <a:rPr lang="en-US" sz="1000" dirty="0">
                          <a:latin typeface="Roboto" panose="02000000000000000000" pitchFamily="2" charset="0"/>
                          <a:ea typeface="Roboto" panose="02000000000000000000" pitchFamily="2" charset="0"/>
                        </a:rPr>
                        <a:t>8</a:t>
                      </a:r>
                    </a:p>
                  </a:txBody>
                  <a:tcPr marL="45708" marR="45708" marT="22854" marB="22854"/>
                </a:tc>
                <a:tc>
                  <a:txBody>
                    <a:bodyPr/>
                    <a:lstStyle/>
                    <a:p>
                      <a:r>
                        <a:rPr lang="en-US" sz="1000" dirty="0">
                          <a:latin typeface="Roboto" panose="02000000000000000000" pitchFamily="2" charset="0"/>
                          <a:ea typeface="Roboto" panose="02000000000000000000" pitchFamily="2" charset="0"/>
                        </a:rPr>
                        <a:t>320148</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12</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089231003"/>
                  </a:ext>
                </a:extLst>
              </a:tr>
              <a:tr h="259013">
                <a:tc>
                  <a:txBody>
                    <a:bodyPr/>
                    <a:lstStyle/>
                    <a:p>
                      <a:r>
                        <a:rPr lang="en-US" sz="1000" dirty="0">
                          <a:latin typeface="Roboto" panose="02000000000000000000" pitchFamily="2" charset="0"/>
                          <a:ea typeface="Roboto" panose="02000000000000000000" pitchFamily="2" charset="0"/>
                        </a:rPr>
                        <a:t>9</a:t>
                      </a:r>
                    </a:p>
                  </a:txBody>
                  <a:tcPr marL="45708" marR="45708" marT="22854" marB="22854"/>
                </a:tc>
                <a:tc>
                  <a:txBody>
                    <a:bodyPr/>
                    <a:lstStyle/>
                    <a:p>
                      <a:r>
                        <a:rPr lang="en-US" sz="1000" dirty="0">
                          <a:latin typeface="Roboto" panose="02000000000000000000" pitchFamily="2" charset="0"/>
                          <a:ea typeface="Roboto" panose="02000000000000000000" pitchFamily="2" charset="0"/>
                        </a:rPr>
                        <a:t>320087</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12</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078516029"/>
                  </a:ext>
                </a:extLst>
              </a:tr>
              <a:tr h="259013">
                <a:tc>
                  <a:txBody>
                    <a:bodyPr/>
                    <a:lstStyle/>
                    <a:p>
                      <a:r>
                        <a:rPr lang="en-US" sz="1000" dirty="0">
                          <a:latin typeface="Roboto" panose="02000000000000000000" pitchFamily="2" charset="0"/>
                          <a:ea typeface="Roboto" panose="02000000000000000000" pitchFamily="2" charset="0"/>
                        </a:rPr>
                        <a:t>10</a:t>
                      </a:r>
                    </a:p>
                  </a:txBody>
                  <a:tcPr marL="45708" marR="45708" marT="22854" marB="22854"/>
                </a:tc>
                <a:tc>
                  <a:txBody>
                    <a:bodyPr/>
                    <a:lstStyle/>
                    <a:p>
                      <a:r>
                        <a:rPr lang="en-US" sz="1000" dirty="0">
                          <a:latin typeface="Roboto" panose="02000000000000000000" pitchFamily="2" charset="0"/>
                          <a:ea typeface="Roboto" panose="02000000000000000000" pitchFamily="2" charset="0"/>
                        </a:rPr>
                        <a:t>OBR-004</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12</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a:t>
                      </a:r>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pPr algn="ctr"/>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1624105925"/>
                  </a:ext>
                </a:extLst>
              </a:tr>
              <a:tr h="259013">
                <a:tc>
                  <a:txBody>
                    <a:bodyPr/>
                    <a:lstStyle/>
                    <a:p>
                      <a:endParaRPr lang="en-US" sz="1000" dirty="0">
                        <a:latin typeface="Roboto" panose="02000000000000000000" pitchFamily="2" charset="0"/>
                        <a:ea typeface="Roboto" panose="02000000000000000000" pitchFamily="2" charset="0"/>
                      </a:endParaRPr>
                    </a:p>
                  </a:txBody>
                  <a:tcPr marL="45708" marR="45708" marT="22854" marB="22854"/>
                </a:tc>
                <a:tc>
                  <a:txBody>
                    <a:bodyPr/>
                    <a:lstStyle/>
                    <a:p>
                      <a:endParaRPr lang="en-US" sz="1000">
                        <a:latin typeface="Roboto" panose="02000000000000000000" pitchFamily="2" charset="0"/>
                        <a:ea typeface="Roboto" panose="02000000000000000000" pitchFamily="2" charset="0"/>
                      </a:endParaRPr>
                    </a:p>
                  </a:txBody>
                  <a:tcPr marL="45708" marR="45708" marT="22854" marB="22854"/>
                </a:tc>
                <a:tc>
                  <a:txBody>
                    <a:bodyPr/>
                    <a:lstStyle/>
                    <a:p>
                      <a:pPr algn="ctr"/>
                      <a:endParaRPr lang="en-US" sz="1000">
                        <a:latin typeface="Roboto" panose="02000000000000000000" pitchFamily="2" charset="0"/>
                        <a:ea typeface="Roboto" panose="02000000000000000000" pitchFamily="2" charset="0"/>
                      </a:endParaRPr>
                    </a:p>
                  </a:txBody>
                  <a:tcPr marL="45708" marR="45708" marT="22854" marB="22854"/>
                </a:tc>
                <a:tc>
                  <a:txBody>
                    <a:bodyPr/>
                    <a:lstStyle/>
                    <a:p>
                      <a:pPr algn="ctr"/>
                      <a:endParaRPr lang="en-US" sz="1000" dirty="0">
                        <a:latin typeface="Roboto" panose="02000000000000000000" pitchFamily="2" charset="0"/>
                        <a:ea typeface="Roboto" panose="02000000000000000000" pitchFamily="2" charset="0"/>
                      </a:endParaRPr>
                    </a:p>
                  </a:txBody>
                  <a:tcPr marL="45708" marR="45708" marT="22854" marB="22854"/>
                </a:tc>
                <a:tc>
                  <a:txBody>
                    <a:bodyPr/>
                    <a:lstStyle/>
                    <a:p>
                      <a:pPr algn="ctr"/>
                      <a:endParaRPr lang="en-US" sz="10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dirty="0"/>
                    </a:p>
                  </a:txBody>
                  <a:tcPr marL="45708" marR="45708" marT="22854" marB="22854"/>
                </a:tc>
                <a:extLst>
                  <a:ext uri="{0D108BD9-81ED-4DB2-BD59-A6C34878D82A}">
                    <a16:rowId xmlns:a16="http://schemas.microsoft.com/office/drawing/2014/main" val="171461249"/>
                  </a:ext>
                </a:extLst>
              </a:tr>
              <a:tr h="259013">
                <a:tc>
                  <a:txBody>
                    <a:bodyPr/>
                    <a:lstStyle/>
                    <a:p>
                      <a:endParaRPr lang="en-US" sz="1000" dirty="0">
                        <a:latin typeface="Roboto" panose="02000000000000000000" pitchFamily="2" charset="0"/>
                        <a:ea typeface="Roboto" panose="02000000000000000000" pitchFamily="2" charset="0"/>
                      </a:endParaRPr>
                    </a:p>
                  </a:txBody>
                  <a:tcPr marL="45708" marR="45708" marT="22854" marB="22854"/>
                </a:tc>
                <a:tc>
                  <a:txBody>
                    <a:bodyPr/>
                    <a:lstStyle/>
                    <a:p>
                      <a:r>
                        <a:rPr lang="en-US" sz="1000" dirty="0">
                          <a:latin typeface="Roboto" panose="02000000000000000000" pitchFamily="2" charset="0"/>
                          <a:ea typeface="Roboto" panose="02000000000000000000" pitchFamily="2" charset="0"/>
                        </a:rPr>
                        <a:t>TOTAL</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1,200</a:t>
                      </a:r>
                    </a:p>
                  </a:txBody>
                  <a:tcPr marL="45708" marR="45708" marT="22854" marB="22854"/>
                </a:tc>
                <a:tc>
                  <a:txBody>
                    <a:bodyPr/>
                    <a:lstStyle/>
                    <a:p>
                      <a:pPr algn="ctr"/>
                      <a:r>
                        <a:rPr lang="en-US" sz="1000" dirty="0">
                          <a:latin typeface="Roboto" panose="02000000000000000000" pitchFamily="2" charset="0"/>
                          <a:ea typeface="Roboto" panose="02000000000000000000" pitchFamily="2" charset="0"/>
                        </a:rPr>
                        <a:t>100</a:t>
                      </a:r>
                    </a:p>
                  </a:txBody>
                  <a:tcPr marL="45708" marR="45708" marT="22854" marB="22854"/>
                </a:tc>
                <a:tc>
                  <a:txBody>
                    <a:bodyPr/>
                    <a:lstStyle/>
                    <a:p>
                      <a:pPr algn="ctr"/>
                      <a:endParaRPr lang="en-US" sz="1000" dirty="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dirty="0"/>
                    </a:p>
                  </a:txBody>
                  <a:tcPr marL="45708" marR="45708" marT="22854" marB="22854"/>
                </a:tc>
                <a:extLst>
                  <a:ext uri="{0D108BD9-81ED-4DB2-BD59-A6C34878D82A}">
                    <a16:rowId xmlns:a16="http://schemas.microsoft.com/office/drawing/2014/main" val="3484878725"/>
                  </a:ext>
                </a:extLst>
              </a:tr>
            </a:tbl>
          </a:graphicData>
        </a:graphic>
      </p:graphicFrame>
      <p:sp>
        <p:nvSpPr>
          <p:cNvPr id="721" name="TextBox 720">
            <a:extLst>
              <a:ext uri="{FF2B5EF4-FFF2-40B4-BE49-F238E27FC236}">
                <a16:creationId xmlns:a16="http://schemas.microsoft.com/office/drawing/2014/main" id="{F5BC212F-B2E9-EDCA-B182-F789DFB5807C}"/>
              </a:ext>
            </a:extLst>
          </p:cNvPr>
          <p:cNvSpPr txBox="1"/>
          <p:nvPr/>
        </p:nvSpPr>
        <p:spPr>
          <a:xfrm>
            <a:off x="164390" y="1811865"/>
            <a:ext cx="1609676" cy="66683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82% of </a:t>
            </a:r>
          </a:p>
          <a:p>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demand</a:t>
            </a:r>
          </a:p>
        </p:txBody>
      </p:sp>
      <p:grpSp>
        <p:nvGrpSpPr>
          <p:cNvPr id="788" name="Group 787">
            <a:extLst>
              <a:ext uri="{FF2B5EF4-FFF2-40B4-BE49-F238E27FC236}">
                <a16:creationId xmlns:a16="http://schemas.microsoft.com/office/drawing/2014/main" id="{667F7433-EAF7-2E20-D752-5346DF0178AA}"/>
              </a:ext>
            </a:extLst>
          </p:cNvPr>
          <p:cNvGrpSpPr/>
          <p:nvPr/>
        </p:nvGrpSpPr>
        <p:grpSpPr>
          <a:xfrm>
            <a:off x="3635389" y="2235839"/>
            <a:ext cx="7297751" cy="8476162"/>
            <a:chOff x="7272669" y="1734638"/>
            <a:chExt cx="14599301" cy="8476162"/>
          </a:xfrm>
        </p:grpSpPr>
        <p:sp>
          <p:nvSpPr>
            <p:cNvPr id="719" name="Rectangle 718">
              <a:extLst>
                <a:ext uri="{FF2B5EF4-FFF2-40B4-BE49-F238E27FC236}">
                  <a16:creationId xmlns:a16="http://schemas.microsoft.com/office/drawing/2014/main" id="{97426719-65F4-92F2-FC40-33A2B6A901A1}"/>
                </a:ext>
              </a:extLst>
            </p:cNvPr>
            <p:cNvSpPr/>
            <p:nvPr/>
          </p:nvSpPr>
          <p:spPr>
            <a:xfrm>
              <a:off x="7272669" y="1734638"/>
              <a:ext cx="14599301" cy="359059"/>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algn="ct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PROCESS NAME</a:t>
              </a:r>
            </a:p>
          </p:txBody>
        </p:sp>
        <p:cxnSp>
          <p:nvCxnSpPr>
            <p:cNvPr id="729" name="Straight Connector 728">
              <a:extLst>
                <a:ext uri="{FF2B5EF4-FFF2-40B4-BE49-F238E27FC236}">
                  <a16:creationId xmlns:a16="http://schemas.microsoft.com/office/drawing/2014/main" id="{62C07C0C-C3DB-D912-479B-8C371420729C}"/>
                </a:ext>
              </a:extLst>
            </p:cNvPr>
            <p:cNvCxnSpPr/>
            <p:nvPr/>
          </p:nvCxnSpPr>
          <p:spPr>
            <a:xfrm>
              <a:off x="8381997" y="2582507"/>
              <a:ext cx="96012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0" name="Straight Connector 729">
              <a:extLst>
                <a:ext uri="{FF2B5EF4-FFF2-40B4-BE49-F238E27FC236}">
                  <a16:creationId xmlns:a16="http://schemas.microsoft.com/office/drawing/2014/main" id="{EBCAD4D1-03E8-CB11-81BA-C1B1DAADE5D4}"/>
                </a:ext>
              </a:extLst>
            </p:cNvPr>
            <p:cNvCxnSpPr/>
            <p:nvPr/>
          </p:nvCxnSpPr>
          <p:spPr>
            <a:xfrm>
              <a:off x="8381997" y="2837445"/>
              <a:ext cx="96012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1" name="Straight Connector 730">
              <a:extLst>
                <a:ext uri="{FF2B5EF4-FFF2-40B4-BE49-F238E27FC236}">
                  <a16:creationId xmlns:a16="http://schemas.microsoft.com/office/drawing/2014/main" id="{82576063-2485-142A-9DF6-D29F1280A92C}"/>
                </a:ext>
              </a:extLst>
            </p:cNvPr>
            <p:cNvCxnSpPr/>
            <p:nvPr/>
          </p:nvCxnSpPr>
          <p:spPr>
            <a:xfrm>
              <a:off x="8381997" y="3085296"/>
              <a:ext cx="96012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2" name="Straight Connector 731">
              <a:extLst>
                <a:ext uri="{FF2B5EF4-FFF2-40B4-BE49-F238E27FC236}">
                  <a16:creationId xmlns:a16="http://schemas.microsoft.com/office/drawing/2014/main" id="{92103366-A3C1-6195-F6D1-86CCFAA25A16}"/>
                </a:ext>
              </a:extLst>
            </p:cNvPr>
            <p:cNvCxnSpPr>
              <a:cxnSpLocks/>
            </p:cNvCxnSpPr>
            <p:nvPr/>
          </p:nvCxnSpPr>
          <p:spPr>
            <a:xfrm>
              <a:off x="9860276" y="2582507"/>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6" name="Straight Connector 735">
              <a:extLst>
                <a:ext uri="{FF2B5EF4-FFF2-40B4-BE49-F238E27FC236}">
                  <a16:creationId xmlns:a16="http://schemas.microsoft.com/office/drawing/2014/main" id="{C81B0A14-C35D-D17F-AE4D-956EE7356F4D}"/>
                </a:ext>
              </a:extLst>
            </p:cNvPr>
            <p:cNvCxnSpPr>
              <a:cxnSpLocks/>
            </p:cNvCxnSpPr>
            <p:nvPr/>
          </p:nvCxnSpPr>
          <p:spPr>
            <a:xfrm>
              <a:off x="9860276" y="2822209"/>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7" name="Straight Connector 736">
              <a:extLst>
                <a:ext uri="{FF2B5EF4-FFF2-40B4-BE49-F238E27FC236}">
                  <a16:creationId xmlns:a16="http://schemas.microsoft.com/office/drawing/2014/main" id="{834BA4C8-E7C9-37EB-D4EB-C5309EFAA4A2}"/>
                </a:ext>
              </a:extLst>
            </p:cNvPr>
            <p:cNvCxnSpPr>
              <a:cxnSpLocks/>
            </p:cNvCxnSpPr>
            <p:nvPr/>
          </p:nvCxnSpPr>
          <p:spPr>
            <a:xfrm>
              <a:off x="9860276" y="3077678"/>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38" name="Straight Connector 737">
              <a:extLst>
                <a:ext uri="{FF2B5EF4-FFF2-40B4-BE49-F238E27FC236}">
                  <a16:creationId xmlns:a16="http://schemas.microsoft.com/office/drawing/2014/main" id="{D6801908-66D8-42F3-8F98-68472CA4CA46}"/>
                </a:ext>
              </a:extLst>
            </p:cNvPr>
            <p:cNvCxnSpPr>
              <a:cxnSpLocks/>
            </p:cNvCxnSpPr>
            <p:nvPr/>
          </p:nvCxnSpPr>
          <p:spPr>
            <a:xfrm>
              <a:off x="11750036" y="2582507"/>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0" name="Straight Connector 739">
              <a:extLst>
                <a:ext uri="{FF2B5EF4-FFF2-40B4-BE49-F238E27FC236}">
                  <a16:creationId xmlns:a16="http://schemas.microsoft.com/office/drawing/2014/main" id="{AE83CC19-D954-3262-F9DE-540FEA7F0BA9}"/>
                </a:ext>
              </a:extLst>
            </p:cNvPr>
            <p:cNvCxnSpPr>
              <a:cxnSpLocks/>
            </p:cNvCxnSpPr>
            <p:nvPr/>
          </p:nvCxnSpPr>
          <p:spPr>
            <a:xfrm>
              <a:off x="11750036" y="2837445"/>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1" name="Straight Connector 740">
              <a:extLst>
                <a:ext uri="{FF2B5EF4-FFF2-40B4-BE49-F238E27FC236}">
                  <a16:creationId xmlns:a16="http://schemas.microsoft.com/office/drawing/2014/main" id="{CC46E52B-EA81-DCA5-2B31-ACFDADCF6FB1}"/>
                </a:ext>
              </a:extLst>
            </p:cNvPr>
            <p:cNvCxnSpPr>
              <a:cxnSpLocks/>
            </p:cNvCxnSpPr>
            <p:nvPr/>
          </p:nvCxnSpPr>
          <p:spPr>
            <a:xfrm>
              <a:off x="11750036" y="3062442"/>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2" name="Straight Connector 741">
              <a:extLst>
                <a:ext uri="{FF2B5EF4-FFF2-40B4-BE49-F238E27FC236}">
                  <a16:creationId xmlns:a16="http://schemas.microsoft.com/office/drawing/2014/main" id="{E5DE2885-FD90-7173-C2CD-A9E096E87AA0}"/>
                </a:ext>
              </a:extLst>
            </p:cNvPr>
            <p:cNvCxnSpPr>
              <a:cxnSpLocks/>
            </p:cNvCxnSpPr>
            <p:nvPr/>
          </p:nvCxnSpPr>
          <p:spPr>
            <a:xfrm>
              <a:off x="15544796" y="2582507"/>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3" name="Straight Connector 742">
              <a:extLst>
                <a:ext uri="{FF2B5EF4-FFF2-40B4-BE49-F238E27FC236}">
                  <a16:creationId xmlns:a16="http://schemas.microsoft.com/office/drawing/2014/main" id="{05AC5F1C-FAB0-9160-7A3F-EC2259DCF041}"/>
                </a:ext>
              </a:extLst>
            </p:cNvPr>
            <p:cNvCxnSpPr>
              <a:cxnSpLocks/>
            </p:cNvCxnSpPr>
            <p:nvPr/>
          </p:nvCxnSpPr>
          <p:spPr>
            <a:xfrm>
              <a:off x="15544796" y="2837445"/>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4" name="Straight Connector 743">
              <a:extLst>
                <a:ext uri="{FF2B5EF4-FFF2-40B4-BE49-F238E27FC236}">
                  <a16:creationId xmlns:a16="http://schemas.microsoft.com/office/drawing/2014/main" id="{ACDB5D4D-4BC7-BED3-1D50-FF69B14A9BD6}"/>
                </a:ext>
              </a:extLst>
            </p:cNvPr>
            <p:cNvCxnSpPr>
              <a:cxnSpLocks/>
            </p:cNvCxnSpPr>
            <p:nvPr/>
          </p:nvCxnSpPr>
          <p:spPr>
            <a:xfrm>
              <a:off x="15544796" y="3077678"/>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5" name="Straight Connector 744">
              <a:extLst>
                <a:ext uri="{FF2B5EF4-FFF2-40B4-BE49-F238E27FC236}">
                  <a16:creationId xmlns:a16="http://schemas.microsoft.com/office/drawing/2014/main" id="{35078AE3-B947-D784-1489-0391A291975A}"/>
                </a:ext>
              </a:extLst>
            </p:cNvPr>
            <p:cNvCxnSpPr>
              <a:cxnSpLocks/>
            </p:cNvCxnSpPr>
            <p:nvPr/>
          </p:nvCxnSpPr>
          <p:spPr>
            <a:xfrm>
              <a:off x="19248114" y="2582507"/>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7" name="Straight Connector 746">
              <a:extLst>
                <a:ext uri="{FF2B5EF4-FFF2-40B4-BE49-F238E27FC236}">
                  <a16:creationId xmlns:a16="http://schemas.microsoft.com/office/drawing/2014/main" id="{130A7254-9EED-4254-BF5A-75C75D4CA0FE}"/>
                </a:ext>
              </a:extLst>
            </p:cNvPr>
            <p:cNvCxnSpPr>
              <a:cxnSpLocks/>
            </p:cNvCxnSpPr>
            <p:nvPr/>
          </p:nvCxnSpPr>
          <p:spPr>
            <a:xfrm>
              <a:off x="19248114" y="2822209"/>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8" name="Straight Connector 747">
              <a:extLst>
                <a:ext uri="{FF2B5EF4-FFF2-40B4-BE49-F238E27FC236}">
                  <a16:creationId xmlns:a16="http://schemas.microsoft.com/office/drawing/2014/main" id="{6A3812A9-715B-7E01-0353-19D26AC5A92F}"/>
                </a:ext>
              </a:extLst>
            </p:cNvPr>
            <p:cNvCxnSpPr>
              <a:cxnSpLocks/>
            </p:cNvCxnSpPr>
            <p:nvPr/>
          </p:nvCxnSpPr>
          <p:spPr>
            <a:xfrm>
              <a:off x="19248114" y="3070060"/>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49" name="Straight Connector 748">
              <a:extLst>
                <a:ext uri="{FF2B5EF4-FFF2-40B4-BE49-F238E27FC236}">
                  <a16:creationId xmlns:a16="http://schemas.microsoft.com/office/drawing/2014/main" id="{E29B42D5-C3BF-1630-285B-C21B8C8011A3}"/>
                </a:ext>
              </a:extLst>
            </p:cNvPr>
            <p:cNvCxnSpPr>
              <a:cxnSpLocks/>
            </p:cNvCxnSpPr>
            <p:nvPr/>
          </p:nvCxnSpPr>
          <p:spPr>
            <a:xfrm>
              <a:off x="19248114" y="3351927"/>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0" name="Straight Connector 749">
              <a:extLst>
                <a:ext uri="{FF2B5EF4-FFF2-40B4-BE49-F238E27FC236}">
                  <a16:creationId xmlns:a16="http://schemas.microsoft.com/office/drawing/2014/main" id="{09033273-6734-CDE4-1DD4-15B0FE2C8F4B}"/>
                </a:ext>
              </a:extLst>
            </p:cNvPr>
            <p:cNvCxnSpPr>
              <a:cxnSpLocks/>
            </p:cNvCxnSpPr>
            <p:nvPr/>
          </p:nvCxnSpPr>
          <p:spPr>
            <a:xfrm>
              <a:off x="19248114" y="3626175"/>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1" name="Straight Connector 750">
              <a:extLst>
                <a:ext uri="{FF2B5EF4-FFF2-40B4-BE49-F238E27FC236}">
                  <a16:creationId xmlns:a16="http://schemas.microsoft.com/office/drawing/2014/main" id="{547196BB-360D-0563-1E4C-5D596D576948}"/>
                </a:ext>
              </a:extLst>
            </p:cNvPr>
            <p:cNvCxnSpPr>
              <a:cxnSpLocks/>
            </p:cNvCxnSpPr>
            <p:nvPr/>
          </p:nvCxnSpPr>
          <p:spPr>
            <a:xfrm>
              <a:off x="19248114" y="4090874"/>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2" name="Straight Connector 751">
              <a:extLst>
                <a:ext uri="{FF2B5EF4-FFF2-40B4-BE49-F238E27FC236}">
                  <a16:creationId xmlns:a16="http://schemas.microsoft.com/office/drawing/2014/main" id="{9AF50FCA-4F02-F3FA-1100-4500D5E9CB01}"/>
                </a:ext>
              </a:extLst>
            </p:cNvPr>
            <p:cNvCxnSpPr>
              <a:cxnSpLocks/>
            </p:cNvCxnSpPr>
            <p:nvPr/>
          </p:nvCxnSpPr>
          <p:spPr>
            <a:xfrm>
              <a:off x="19301454" y="4334650"/>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3" name="Straight Connector 752">
              <a:extLst>
                <a:ext uri="{FF2B5EF4-FFF2-40B4-BE49-F238E27FC236}">
                  <a16:creationId xmlns:a16="http://schemas.microsoft.com/office/drawing/2014/main" id="{5684385D-5322-8A00-04DF-2B6193622A72}"/>
                </a:ext>
              </a:extLst>
            </p:cNvPr>
            <p:cNvCxnSpPr>
              <a:cxnSpLocks/>
            </p:cNvCxnSpPr>
            <p:nvPr/>
          </p:nvCxnSpPr>
          <p:spPr>
            <a:xfrm>
              <a:off x="19301454" y="4578427"/>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4" name="Straight Connector 753">
              <a:extLst>
                <a:ext uri="{FF2B5EF4-FFF2-40B4-BE49-F238E27FC236}">
                  <a16:creationId xmlns:a16="http://schemas.microsoft.com/office/drawing/2014/main" id="{917F4169-655C-3B65-57DC-738D329EA65C}"/>
                </a:ext>
              </a:extLst>
            </p:cNvPr>
            <p:cNvCxnSpPr>
              <a:cxnSpLocks/>
            </p:cNvCxnSpPr>
            <p:nvPr/>
          </p:nvCxnSpPr>
          <p:spPr>
            <a:xfrm>
              <a:off x="19301454" y="4852675"/>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5" name="Straight Connector 754">
              <a:extLst>
                <a:ext uri="{FF2B5EF4-FFF2-40B4-BE49-F238E27FC236}">
                  <a16:creationId xmlns:a16="http://schemas.microsoft.com/office/drawing/2014/main" id="{5C7EFA71-AE33-9BCC-96DE-2505254530C5}"/>
                </a:ext>
              </a:extLst>
            </p:cNvPr>
            <p:cNvCxnSpPr>
              <a:cxnSpLocks/>
            </p:cNvCxnSpPr>
            <p:nvPr/>
          </p:nvCxnSpPr>
          <p:spPr>
            <a:xfrm>
              <a:off x="19339554" y="5111688"/>
              <a:ext cx="135635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6" name="Straight Connector 755">
              <a:extLst>
                <a:ext uri="{FF2B5EF4-FFF2-40B4-BE49-F238E27FC236}">
                  <a16:creationId xmlns:a16="http://schemas.microsoft.com/office/drawing/2014/main" id="{28EE7DF7-6869-58C6-F3B5-334381D771BB}"/>
                </a:ext>
              </a:extLst>
            </p:cNvPr>
            <p:cNvCxnSpPr>
              <a:cxnSpLocks/>
            </p:cNvCxnSpPr>
            <p:nvPr/>
          </p:nvCxnSpPr>
          <p:spPr>
            <a:xfrm>
              <a:off x="8381997" y="3359545"/>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8" name="Straight Connector 757">
              <a:extLst>
                <a:ext uri="{FF2B5EF4-FFF2-40B4-BE49-F238E27FC236}">
                  <a16:creationId xmlns:a16="http://schemas.microsoft.com/office/drawing/2014/main" id="{7CE1A726-EFAD-AE51-D2E4-B59F45307C91}"/>
                </a:ext>
              </a:extLst>
            </p:cNvPr>
            <p:cNvCxnSpPr>
              <a:cxnSpLocks/>
            </p:cNvCxnSpPr>
            <p:nvPr/>
          </p:nvCxnSpPr>
          <p:spPr>
            <a:xfrm>
              <a:off x="8381997" y="3626175"/>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59" name="Straight Connector 758">
              <a:extLst>
                <a:ext uri="{FF2B5EF4-FFF2-40B4-BE49-F238E27FC236}">
                  <a16:creationId xmlns:a16="http://schemas.microsoft.com/office/drawing/2014/main" id="{1A08277E-7902-6C14-E7DC-CF7E486D5B4E}"/>
                </a:ext>
              </a:extLst>
            </p:cNvPr>
            <p:cNvCxnSpPr>
              <a:cxnSpLocks/>
            </p:cNvCxnSpPr>
            <p:nvPr/>
          </p:nvCxnSpPr>
          <p:spPr>
            <a:xfrm>
              <a:off x="8381997" y="4068020"/>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0" name="Straight Connector 759">
              <a:extLst>
                <a:ext uri="{FF2B5EF4-FFF2-40B4-BE49-F238E27FC236}">
                  <a16:creationId xmlns:a16="http://schemas.microsoft.com/office/drawing/2014/main" id="{609620E4-768E-6D5E-A905-A6B23CC8853A}"/>
                </a:ext>
              </a:extLst>
            </p:cNvPr>
            <p:cNvCxnSpPr>
              <a:cxnSpLocks/>
            </p:cNvCxnSpPr>
            <p:nvPr/>
          </p:nvCxnSpPr>
          <p:spPr>
            <a:xfrm>
              <a:off x="8381997" y="4327032"/>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1" name="Straight Connector 760">
              <a:extLst>
                <a:ext uri="{FF2B5EF4-FFF2-40B4-BE49-F238E27FC236}">
                  <a16:creationId xmlns:a16="http://schemas.microsoft.com/office/drawing/2014/main" id="{017BCBCE-5A59-8C8E-BD77-46E3101F3C6B}"/>
                </a:ext>
              </a:extLst>
            </p:cNvPr>
            <p:cNvCxnSpPr>
              <a:cxnSpLocks/>
            </p:cNvCxnSpPr>
            <p:nvPr/>
          </p:nvCxnSpPr>
          <p:spPr>
            <a:xfrm>
              <a:off x="8381997" y="4570809"/>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2" name="Straight Connector 761">
              <a:extLst>
                <a:ext uri="{FF2B5EF4-FFF2-40B4-BE49-F238E27FC236}">
                  <a16:creationId xmlns:a16="http://schemas.microsoft.com/office/drawing/2014/main" id="{213F7C41-4DAF-9C86-A965-92CF3AC2E6E8}"/>
                </a:ext>
              </a:extLst>
            </p:cNvPr>
            <p:cNvCxnSpPr>
              <a:cxnSpLocks/>
            </p:cNvCxnSpPr>
            <p:nvPr/>
          </p:nvCxnSpPr>
          <p:spPr>
            <a:xfrm>
              <a:off x="8381997" y="4852675"/>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3" name="Straight Connector 762">
              <a:extLst>
                <a:ext uri="{FF2B5EF4-FFF2-40B4-BE49-F238E27FC236}">
                  <a16:creationId xmlns:a16="http://schemas.microsoft.com/office/drawing/2014/main" id="{7E35F635-4BB8-D5CE-5897-58B94A6CB37B}"/>
                </a:ext>
              </a:extLst>
            </p:cNvPr>
            <p:cNvCxnSpPr>
              <a:cxnSpLocks/>
            </p:cNvCxnSpPr>
            <p:nvPr/>
          </p:nvCxnSpPr>
          <p:spPr>
            <a:xfrm>
              <a:off x="8381997" y="5111688"/>
              <a:ext cx="2880360"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4" name="Straight Connector 763">
              <a:extLst>
                <a:ext uri="{FF2B5EF4-FFF2-40B4-BE49-F238E27FC236}">
                  <a16:creationId xmlns:a16="http://schemas.microsoft.com/office/drawing/2014/main" id="{DB2B3E9C-BA1D-9960-0A5C-B164BD890255}"/>
                </a:ext>
              </a:extLst>
            </p:cNvPr>
            <p:cNvCxnSpPr>
              <a:cxnSpLocks/>
            </p:cNvCxnSpPr>
            <p:nvPr/>
          </p:nvCxnSpPr>
          <p:spPr>
            <a:xfrm>
              <a:off x="11750036" y="3351927"/>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5" name="Straight Connector 764">
              <a:extLst>
                <a:ext uri="{FF2B5EF4-FFF2-40B4-BE49-F238E27FC236}">
                  <a16:creationId xmlns:a16="http://schemas.microsoft.com/office/drawing/2014/main" id="{CD5AF840-8700-77CE-2AFD-D0B88E18CC94}"/>
                </a:ext>
              </a:extLst>
            </p:cNvPr>
            <p:cNvCxnSpPr>
              <a:cxnSpLocks/>
            </p:cNvCxnSpPr>
            <p:nvPr/>
          </p:nvCxnSpPr>
          <p:spPr>
            <a:xfrm>
              <a:off x="11750036" y="3618557"/>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6" name="Straight Connector 765">
              <a:extLst>
                <a:ext uri="{FF2B5EF4-FFF2-40B4-BE49-F238E27FC236}">
                  <a16:creationId xmlns:a16="http://schemas.microsoft.com/office/drawing/2014/main" id="{F7BA306D-9A5D-8C65-798F-507B98D2D37E}"/>
                </a:ext>
              </a:extLst>
            </p:cNvPr>
            <p:cNvCxnSpPr>
              <a:cxnSpLocks/>
            </p:cNvCxnSpPr>
            <p:nvPr/>
          </p:nvCxnSpPr>
          <p:spPr>
            <a:xfrm>
              <a:off x="11750036" y="4068020"/>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7" name="Straight Connector 766">
              <a:extLst>
                <a:ext uri="{FF2B5EF4-FFF2-40B4-BE49-F238E27FC236}">
                  <a16:creationId xmlns:a16="http://schemas.microsoft.com/office/drawing/2014/main" id="{4A4790E4-EECD-5E6C-3485-00A122177EB3}"/>
                </a:ext>
              </a:extLst>
            </p:cNvPr>
            <p:cNvCxnSpPr>
              <a:cxnSpLocks/>
            </p:cNvCxnSpPr>
            <p:nvPr/>
          </p:nvCxnSpPr>
          <p:spPr>
            <a:xfrm>
              <a:off x="11750036" y="4327032"/>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8" name="Straight Connector 767">
              <a:extLst>
                <a:ext uri="{FF2B5EF4-FFF2-40B4-BE49-F238E27FC236}">
                  <a16:creationId xmlns:a16="http://schemas.microsoft.com/office/drawing/2014/main" id="{FCE408BD-29AD-2453-4CFC-495561D61E38}"/>
                </a:ext>
              </a:extLst>
            </p:cNvPr>
            <p:cNvCxnSpPr>
              <a:cxnSpLocks/>
            </p:cNvCxnSpPr>
            <p:nvPr/>
          </p:nvCxnSpPr>
          <p:spPr>
            <a:xfrm>
              <a:off x="11750036" y="4578427"/>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69" name="Straight Connector 768">
              <a:extLst>
                <a:ext uri="{FF2B5EF4-FFF2-40B4-BE49-F238E27FC236}">
                  <a16:creationId xmlns:a16="http://schemas.microsoft.com/office/drawing/2014/main" id="{4448A5AC-15A5-6A36-E93B-422E7099EBA2}"/>
                </a:ext>
              </a:extLst>
            </p:cNvPr>
            <p:cNvCxnSpPr>
              <a:cxnSpLocks/>
            </p:cNvCxnSpPr>
            <p:nvPr/>
          </p:nvCxnSpPr>
          <p:spPr>
            <a:xfrm>
              <a:off x="11750036" y="4829821"/>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0" name="Straight Connector 769">
              <a:extLst>
                <a:ext uri="{FF2B5EF4-FFF2-40B4-BE49-F238E27FC236}">
                  <a16:creationId xmlns:a16="http://schemas.microsoft.com/office/drawing/2014/main" id="{4913EA73-0D43-7C1D-051A-16A32044A3EF}"/>
                </a:ext>
              </a:extLst>
            </p:cNvPr>
            <p:cNvCxnSpPr>
              <a:cxnSpLocks/>
            </p:cNvCxnSpPr>
            <p:nvPr/>
          </p:nvCxnSpPr>
          <p:spPr>
            <a:xfrm>
              <a:off x="11750036" y="5104070"/>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1" name="Straight Connector 770">
              <a:extLst>
                <a:ext uri="{FF2B5EF4-FFF2-40B4-BE49-F238E27FC236}">
                  <a16:creationId xmlns:a16="http://schemas.microsoft.com/office/drawing/2014/main" id="{6D6C4AA3-C4DE-E624-1170-D3DCE426B887}"/>
                </a:ext>
              </a:extLst>
            </p:cNvPr>
            <p:cNvCxnSpPr>
              <a:cxnSpLocks/>
            </p:cNvCxnSpPr>
            <p:nvPr/>
          </p:nvCxnSpPr>
          <p:spPr>
            <a:xfrm>
              <a:off x="13548356" y="3359545"/>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2" name="Straight Connector 771">
              <a:extLst>
                <a:ext uri="{FF2B5EF4-FFF2-40B4-BE49-F238E27FC236}">
                  <a16:creationId xmlns:a16="http://schemas.microsoft.com/office/drawing/2014/main" id="{D22E1C4F-876A-9660-0899-10844D401481}"/>
                </a:ext>
              </a:extLst>
            </p:cNvPr>
            <p:cNvCxnSpPr>
              <a:cxnSpLocks/>
            </p:cNvCxnSpPr>
            <p:nvPr/>
          </p:nvCxnSpPr>
          <p:spPr>
            <a:xfrm>
              <a:off x="15544796" y="3344309"/>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3" name="Straight Connector 772">
              <a:extLst>
                <a:ext uri="{FF2B5EF4-FFF2-40B4-BE49-F238E27FC236}">
                  <a16:creationId xmlns:a16="http://schemas.microsoft.com/office/drawing/2014/main" id="{0E518B5B-703F-CCBA-A64F-598AF33D56F0}"/>
                </a:ext>
              </a:extLst>
            </p:cNvPr>
            <p:cNvCxnSpPr>
              <a:cxnSpLocks/>
            </p:cNvCxnSpPr>
            <p:nvPr/>
          </p:nvCxnSpPr>
          <p:spPr>
            <a:xfrm>
              <a:off x="13548356" y="3618557"/>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4" name="Straight Connector 773">
              <a:extLst>
                <a:ext uri="{FF2B5EF4-FFF2-40B4-BE49-F238E27FC236}">
                  <a16:creationId xmlns:a16="http://schemas.microsoft.com/office/drawing/2014/main" id="{8C3E33AA-B0B6-EAF5-C600-D824799C2FFF}"/>
                </a:ext>
              </a:extLst>
            </p:cNvPr>
            <p:cNvCxnSpPr>
              <a:cxnSpLocks/>
            </p:cNvCxnSpPr>
            <p:nvPr/>
          </p:nvCxnSpPr>
          <p:spPr>
            <a:xfrm flipV="1">
              <a:off x="15499076" y="3626175"/>
              <a:ext cx="1356359" cy="220922"/>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6" name="Straight Connector 775">
              <a:extLst>
                <a:ext uri="{FF2B5EF4-FFF2-40B4-BE49-F238E27FC236}">
                  <a16:creationId xmlns:a16="http://schemas.microsoft.com/office/drawing/2014/main" id="{2E8659F4-852C-3953-FB6E-430B89F6139A}"/>
                </a:ext>
              </a:extLst>
            </p:cNvPr>
            <p:cNvCxnSpPr>
              <a:cxnSpLocks/>
            </p:cNvCxnSpPr>
            <p:nvPr/>
          </p:nvCxnSpPr>
          <p:spPr>
            <a:xfrm flipV="1">
              <a:off x="15499076" y="3626175"/>
              <a:ext cx="3352799" cy="220922"/>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8" name="Straight Connector 777">
              <a:extLst>
                <a:ext uri="{FF2B5EF4-FFF2-40B4-BE49-F238E27FC236}">
                  <a16:creationId xmlns:a16="http://schemas.microsoft.com/office/drawing/2014/main" id="{E2B131BC-E23F-6D82-38AB-2B93D6F065BF}"/>
                </a:ext>
              </a:extLst>
            </p:cNvPr>
            <p:cNvCxnSpPr>
              <a:cxnSpLocks/>
            </p:cNvCxnSpPr>
            <p:nvPr/>
          </p:nvCxnSpPr>
          <p:spPr>
            <a:xfrm>
              <a:off x="15544796" y="4090874"/>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79" name="Straight Connector 778">
              <a:extLst>
                <a:ext uri="{FF2B5EF4-FFF2-40B4-BE49-F238E27FC236}">
                  <a16:creationId xmlns:a16="http://schemas.microsoft.com/office/drawing/2014/main" id="{8FAD7290-ED56-9B7B-EE23-C183B82AEB71}"/>
                </a:ext>
              </a:extLst>
            </p:cNvPr>
            <p:cNvCxnSpPr>
              <a:cxnSpLocks/>
            </p:cNvCxnSpPr>
            <p:nvPr/>
          </p:nvCxnSpPr>
          <p:spPr>
            <a:xfrm>
              <a:off x="15468596" y="4327032"/>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0" name="Straight Connector 779">
              <a:extLst>
                <a:ext uri="{FF2B5EF4-FFF2-40B4-BE49-F238E27FC236}">
                  <a16:creationId xmlns:a16="http://schemas.microsoft.com/office/drawing/2014/main" id="{04C270B3-07DC-F476-71D2-ED32465E4A70}"/>
                </a:ext>
              </a:extLst>
            </p:cNvPr>
            <p:cNvCxnSpPr>
              <a:cxnSpLocks/>
            </p:cNvCxnSpPr>
            <p:nvPr/>
          </p:nvCxnSpPr>
          <p:spPr>
            <a:xfrm>
              <a:off x="15521936" y="4570809"/>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1" name="Straight Connector 780">
              <a:extLst>
                <a:ext uri="{FF2B5EF4-FFF2-40B4-BE49-F238E27FC236}">
                  <a16:creationId xmlns:a16="http://schemas.microsoft.com/office/drawing/2014/main" id="{49694580-A599-B8BA-5DFC-8C999D59CD37}"/>
                </a:ext>
              </a:extLst>
            </p:cNvPr>
            <p:cNvCxnSpPr>
              <a:cxnSpLocks/>
            </p:cNvCxnSpPr>
            <p:nvPr/>
          </p:nvCxnSpPr>
          <p:spPr>
            <a:xfrm>
              <a:off x="15544796" y="4867912"/>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2" name="Straight Connector 781">
              <a:extLst>
                <a:ext uri="{FF2B5EF4-FFF2-40B4-BE49-F238E27FC236}">
                  <a16:creationId xmlns:a16="http://schemas.microsoft.com/office/drawing/2014/main" id="{E98090A0-35B9-E06A-36B5-C8834A8B77FE}"/>
                </a:ext>
              </a:extLst>
            </p:cNvPr>
            <p:cNvCxnSpPr>
              <a:cxnSpLocks/>
            </p:cNvCxnSpPr>
            <p:nvPr/>
          </p:nvCxnSpPr>
          <p:spPr>
            <a:xfrm>
              <a:off x="15499076" y="5104070"/>
              <a:ext cx="3307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3" name="Straight Connector 782">
              <a:extLst>
                <a:ext uri="{FF2B5EF4-FFF2-40B4-BE49-F238E27FC236}">
                  <a16:creationId xmlns:a16="http://schemas.microsoft.com/office/drawing/2014/main" id="{AD0E5109-689B-CFBF-4349-9D93CBBA7BAD}"/>
                </a:ext>
              </a:extLst>
            </p:cNvPr>
            <p:cNvCxnSpPr>
              <a:cxnSpLocks/>
            </p:cNvCxnSpPr>
            <p:nvPr/>
          </p:nvCxnSpPr>
          <p:spPr>
            <a:xfrm>
              <a:off x="13655036" y="4090874"/>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4" name="Straight Connector 783">
              <a:extLst>
                <a:ext uri="{FF2B5EF4-FFF2-40B4-BE49-F238E27FC236}">
                  <a16:creationId xmlns:a16="http://schemas.microsoft.com/office/drawing/2014/main" id="{FA3DD0F9-54C1-3456-974A-467B669B8C0B}"/>
                </a:ext>
              </a:extLst>
            </p:cNvPr>
            <p:cNvCxnSpPr>
              <a:cxnSpLocks/>
            </p:cNvCxnSpPr>
            <p:nvPr/>
          </p:nvCxnSpPr>
          <p:spPr>
            <a:xfrm>
              <a:off x="13670276" y="4334650"/>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5" name="Straight Connector 784">
              <a:extLst>
                <a:ext uri="{FF2B5EF4-FFF2-40B4-BE49-F238E27FC236}">
                  <a16:creationId xmlns:a16="http://schemas.microsoft.com/office/drawing/2014/main" id="{7A1DCBDE-9C66-BE66-10F5-3FE3A1717012}"/>
                </a:ext>
              </a:extLst>
            </p:cNvPr>
            <p:cNvCxnSpPr>
              <a:cxnSpLocks/>
            </p:cNvCxnSpPr>
            <p:nvPr/>
          </p:nvCxnSpPr>
          <p:spPr>
            <a:xfrm>
              <a:off x="13655036" y="4601281"/>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6" name="Straight Connector 785">
              <a:extLst>
                <a:ext uri="{FF2B5EF4-FFF2-40B4-BE49-F238E27FC236}">
                  <a16:creationId xmlns:a16="http://schemas.microsoft.com/office/drawing/2014/main" id="{EA074AA7-F96C-CA20-68EA-B5215F2C33FA}"/>
                </a:ext>
              </a:extLst>
            </p:cNvPr>
            <p:cNvCxnSpPr>
              <a:cxnSpLocks/>
            </p:cNvCxnSpPr>
            <p:nvPr/>
          </p:nvCxnSpPr>
          <p:spPr>
            <a:xfrm>
              <a:off x="13670276" y="4852675"/>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cxnSp>
          <p:nvCxnSpPr>
            <p:cNvPr id="787" name="Straight Connector 786">
              <a:extLst>
                <a:ext uri="{FF2B5EF4-FFF2-40B4-BE49-F238E27FC236}">
                  <a16:creationId xmlns:a16="http://schemas.microsoft.com/office/drawing/2014/main" id="{119ACBFA-65C8-983A-F85C-DC9B48516150}"/>
                </a:ext>
              </a:extLst>
            </p:cNvPr>
            <p:cNvCxnSpPr>
              <a:cxnSpLocks/>
            </p:cNvCxnSpPr>
            <p:nvPr/>
          </p:nvCxnSpPr>
          <p:spPr>
            <a:xfrm>
              <a:off x="13700760" y="10210800"/>
              <a:ext cx="1402079" cy="0"/>
            </a:xfrm>
            <a:prstGeom prst="line">
              <a:avLst/>
            </a:prstGeom>
            <a:noFill/>
            <a:ln w="25400" cap="flat">
              <a:solidFill>
                <a:schemeClr val="accent5">
                  <a:alpha val="75000"/>
                </a:schemeClr>
              </a:solidFill>
              <a:prstDash val="solid"/>
              <a:miter lim="400000"/>
            </a:ln>
            <a:effectLst/>
            <a:sp3d/>
          </p:spPr>
          <p:style>
            <a:lnRef idx="0">
              <a:scrgbClr r="0" g="0" b="0"/>
            </a:lnRef>
            <a:fillRef idx="0">
              <a:scrgbClr r="0" g="0" b="0"/>
            </a:fillRef>
            <a:effectRef idx="0">
              <a:scrgbClr r="0" g="0" b="0"/>
            </a:effectRef>
            <a:fontRef idx="none"/>
          </p:style>
        </p:cxnSp>
        <p:cxnSp>
          <p:nvCxnSpPr>
            <p:cNvPr id="36" name="Straight Connector 35">
              <a:extLst>
                <a:ext uri="{FF2B5EF4-FFF2-40B4-BE49-F238E27FC236}">
                  <a16:creationId xmlns:a16="http://schemas.microsoft.com/office/drawing/2014/main" id="{7D15C75A-6805-8E17-1217-30825565FA02}"/>
                </a:ext>
              </a:extLst>
            </p:cNvPr>
            <p:cNvCxnSpPr>
              <a:cxnSpLocks/>
            </p:cNvCxnSpPr>
            <p:nvPr/>
          </p:nvCxnSpPr>
          <p:spPr>
            <a:xfrm>
              <a:off x="13670276" y="5107118"/>
              <a:ext cx="1402079" cy="0"/>
            </a:xfrm>
            <a:prstGeom prst="line">
              <a:avLst/>
            </a:prstGeom>
            <a:noFill/>
            <a:ln w="25400" cap="flat">
              <a:solidFill>
                <a:srgbClr val="191C25">
                  <a:alpha val="75000"/>
                </a:srgbClr>
              </a:solidFill>
              <a:prstDash val="solid"/>
              <a:miter lim="400000"/>
            </a:ln>
            <a:effectLst/>
            <a:sp3d/>
          </p:spPr>
          <p:style>
            <a:lnRef idx="0">
              <a:scrgbClr r="0" g="0" b="0"/>
            </a:lnRef>
            <a:fillRef idx="0">
              <a:scrgbClr r="0" g="0" b="0"/>
            </a:fillRef>
            <a:effectRef idx="0">
              <a:scrgbClr r="0" g="0" b="0"/>
            </a:effectRef>
            <a:fontRef idx="none"/>
          </p:style>
        </p:cxnSp>
      </p:grpSp>
      <p:grpSp>
        <p:nvGrpSpPr>
          <p:cNvPr id="10" name="Group 9">
            <a:extLst>
              <a:ext uri="{FF2B5EF4-FFF2-40B4-BE49-F238E27FC236}">
                <a16:creationId xmlns:a16="http://schemas.microsoft.com/office/drawing/2014/main" id="{B49F3D0B-6E62-1733-C572-D463C27D1A28}"/>
              </a:ext>
            </a:extLst>
          </p:cNvPr>
          <p:cNvGrpSpPr/>
          <p:nvPr/>
        </p:nvGrpSpPr>
        <p:grpSpPr>
          <a:xfrm>
            <a:off x="940249" y="319790"/>
            <a:ext cx="6219503" cy="311932"/>
            <a:chOff x="940249" y="302538"/>
            <a:chExt cx="6219503" cy="311932"/>
          </a:xfrm>
        </p:grpSpPr>
        <p:sp>
          <p:nvSpPr>
            <p:cNvPr id="13" name="TextBox 12">
              <a:extLst>
                <a:ext uri="{FF2B5EF4-FFF2-40B4-BE49-F238E27FC236}">
                  <a16:creationId xmlns:a16="http://schemas.microsoft.com/office/drawing/2014/main" id="{5FAE1D10-DA40-18CE-D272-648DE9AF392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4" name="AutoShape 9">
              <a:extLst>
                <a:ext uri="{FF2B5EF4-FFF2-40B4-BE49-F238E27FC236}">
                  <a16:creationId xmlns:a16="http://schemas.microsoft.com/office/drawing/2014/main" id="{39717FB5-93D9-66EB-180B-599B650CA45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E0261C0C-3D82-BBDC-CF06-C77C85C1502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89E36C09-3FF2-DAA2-29C4-1CADDC8A555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744CFF8A-2D70-50D3-D7B4-EB60CFADE77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94947B1E-FD3F-2C3A-918A-73D79C6FF55E}"/>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34" name="Group 33">
            <a:extLst>
              <a:ext uri="{FF2B5EF4-FFF2-40B4-BE49-F238E27FC236}">
                <a16:creationId xmlns:a16="http://schemas.microsoft.com/office/drawing/2014/main" id="{9389A73E-8CC0-DD6E-00EC-06AC2BB26BE0}"/>
              </a:ext>
            </a:extLst>
          </p:cNvPr>
          <p:cNvGrpSpPr/>
          <p:nvPr/>
        </p:nvGrpSpPr>
        <p:grpSpPr>
          <a:xfrm>
            <a:off x="940249" y="2385513"/>
            <a:ext cx="9992891" cy="1354050"/>
            <a:chOff x="940249" y="2385513"/>
            <a:chExt cx="9992891" cy="1354050"/>
          </a:xfrm>
        </p:grpSpPr>
        <p:sp>
          <p:nvSpPr>
            <p:cNvPr id="27" name="Rounded Rectangle 26">
              <a:extLst>
                <a:ext uri="{FF2B5EF4-FFF2-40B4-BE49-F238E27FC236}">
                  <a16:creationId xmlns:a16="http://schemas.microsoft.com/office/drawing/2014/main" id="{6FBEF23D-4035-8DE7-60AE-C7E9D9A5BFCD}"/>
                </a:ext>
              </a:extLst>
            </p:cNvPr>
            <p:cNvSpPr/>
            <p:nvPr/>
          </p:nvSpPr>
          <p:spPr>
            <a:xfrm>
              <a:off x="1361350" y="2952521"/>
              <a:ext cx="9571790" cy="787042"/>
            </a:xfrm>
            <a:prstGeom prst="roundRect">
              <a:avLst/>
            </a:prstGeom>
            <a:noFill/>
            <a:ln w="76200">
              <a:solidFill>
                <a:srgbClr val="FFB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panose="02000000000000000000" pitchFamily="2" charset="0"/>
                <a:ea typeface="Roboto" panose="02000000000000000000" pitchFamily="2" charset="0"/>
                <a:cs typeface="Roboto" panose="02000000000000000000" pitchFamily="2" charset="0"/>
              </a:endParaRPr>
            </a:p>
          </p:txBody>
        </p:sp>
        <p:cxnSp>
          <p:nvCxnSpPr>
            <p:cNvPr id="29" name="Straight Connector 28">
              <a:extLst>
                <a:ext uri="{FF2B5EF4-FFF2-40B4-BE49-F238E27FC236}">
                  <a16:creationId xmlns:a16="http://schemas.microsoft.com/office/drawing/2014/main" id="{E337E4A1-4327-6842-18F0-29625849182C}"/>
                </a:ext>
              </a:extLst>
            </p:cNvPr>
            <p:cNvCxnSpPr>
              <a:cxnSpLocks/>
            </p:cNvCxnSpPr>
            <p:nvPr/>
          </p:nvCxnSpPr>
          <p:spPr>
            <a:xfrm flipH="1">
              <a:off x="940249" y="3338646"/>
              <a:ext cx="432817" cy="0"/>
            </a:xfrm>
            <a:prstGeom prst="line">
              <a:avLst/>
            </a:prstGeom>
            <a:ln w="76200">
              <a:solidFill>
                <a:srgbClr val="FFB627"/>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5D40ADB-58B5-0F86-C9DE-812B903B14D7}"/>
                </a:ext>
              </a:extLst>
            </p:cNvPr>
            <p:cNvCxnSpPr>
              <a:cxnSpLocks/>
            </p:cNvCxnSpPr>
            <p:nvPr/>
          </p:nvCxnSpPr>
          <p:spPr>
            <a:xfrm>
              <a:off x="940249" y="2385513"/>
              <a:ext cx="0" cy="984633"/>
            </a:xfrm>
            <a:prstGeom prst="line">
              <a:avLst/>
            </a:prstGeom>
            <a:ln w="76200">
              <a:solidFill>
                <a:srgbClr val="FFB627"/>
              </a:solidFill>
            </a:ln>
          </p:spPr>
          <p:style>
            <a:lnRef idx="1">
              <a:schemeClr val="accent1"/>
            </a:lnRef>
            <a:fillRef idx="0">
              <a:schemeClr val="accent1"/>
            </a:fillRef>
            <a:effectRef idx="0">
              <a:schemeClr val="accent1"/>
            </a:effectRef>
            <a:fontRef idx="minor">
              <a:schemeClr val="tx1"/>
            </a:fontRef>
          </p:style>
        </p:cxnSp>
      </p:grpSp>
      <p:sp>
        <p:nvSpPr>
          <p:cNvPr id="35" name="Slide Number Placeholder 2">
            <a:extLst>
              <a:ext uri="{FF2B5EF4-FFF2-40B4-BE49-F238E27FC236}">
                <a16:creationId xmlns:a16="http://schemas.microsoft.com/office/drawing/2014/main" id="{847FC203-FD62-C25C-8D0B-4DD6C6BD082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17</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4018854776"/>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noAutofit/>
          </a:bodyPr>
          <a:lstStyle/>
          <a:p>
            <a:r>
              <a:rPr lang="en-US" altLang="en-US" sz="3600" dirty="0">
                <a:latin typeface="Roboto Medium" panose="02000000000000000000" pitchFamily="2" charset="0"/>
                <a:ea typeface="Roboto Medium" panose="02000000000000000000" pitchFamily="2" charset="0"/>
                <a:cs typeface="Roboto Medium" panose="02000000000000000000" pitchFamily="2" charset="0"/>
              </a:rPr>
              <a:t>Calculate the Total Demand for the Value Stream</a:t>
            </a:r>
            <a:endParaRPr lang="en-US" sz="3600" dirty="0">
              <a:latin typeface="Roboto Medium" panose="02000000000000000000" pitchFamily="2" charset="0"/>
              <a:ea typeface="Roboto Medium" panose="02000000000000000000" pitchFamily="2" charset="0"/>
              <a:cs typeface="Roboto Medium" panose="02000000000000000000" pitchFamily="2" charset="0"/>
            </a:endParaRPr>
          </a:p>
        </p:txBody>
      </p:sp>
      <p:graphicFrame>
        <p:nvGraphicFramePr>
          <p:cNvPr id="12" name="Table 717">
            <a:extLst>
              <a:ext uri="{FF2B5EF4-FFF2-40B4-BE49-F238E27FC236}">
                <a16:creationId xmlns:a16="http://schemas.microsoft.com/office/drawing/2014/main" id="{CFBEDB62-C26F-B6A7-5DAD-4138D37A42CA}"/>
              </a:ext>
            </a:extLst>
          </p:cNvPr>
          <p:cNvGraphicFramePr>
            <a:graphicFrameLocks noGrp="1"/>
          </p:cNvGraphicFramePr>
          <p:nvPr>
            <p:extLst>
              <p:ext uri="{D42A27DB-BD31-4B8C-83A1-F6EECF244321}">
                <p14:modId xmlns:p14="http://schemas.microsoft.com/office/powerpoint/2010/main" val="616260930"/>
              </p:ext>
            </p:extLst>
          </p:nvPr>
        </p:nvGraphicFramePr>
        <p:xfrm>
          <a:off x="2708739" y="2345368"/>
          <a:ext cx="8724516" cy="3672684"/>
        </p:xfrm>
        <a:graphic>
          <a:graphicData uri="http://schemas.openxmlformats.org/drawingml/2006/table">
            <a:tbl>
              <a:tblPr firstRow="1" bandRow="1">
                <a:tableStyleId>{1FECB4D8-DB02-4DC6-A0A2-4F2EBAE1DC90}</a:tableStyleId>
              </a:tblPr>
              <a:tblGrid>
                <a:gridCol w="245344">
                  <a:extLst>
                    <a:ext uri="{9D8B030D-6E8A-4147-A177-3AD203B41FA5}">
                      <a16:colId xmlns:a16="http://schemas.microsoft.com/office/drawing/2014/main" val="3582683428"/>
                    </a:ext>
                  </a:extLst>
                </a:gridCol>
                <a:gridCol w="585295">
                  <a:extLst>
                    <a:ext uri="{9D8B030D-6E8A-4147-A177-3AD203B41FA5}">
                      <a16:colId xmlns:a16="http://schemas.microsoft.com/office/drawing/2014/main" val="4236058829"/>
                    </a:ext>
                  </a:extLst>
                </a:gridCol>
                <a:gridCol w="696974">
                  <a:extLst>
                    <a:ext uri="{9D8B030D-6E8A-4147-A177-3AD203B41FA5}">
                      <a16:colId xmlns:a16="http://schemas.microsoft.com/office/drawing/2014/main" val="1686113212"/>
                    </a:ext>
                  </a:extLst>
                </a:gridCol>
                <a:gridCol w="581332">
                  <a:extLst>
                    <a:ext uri="{9D8B030D-6E8A-4147-A177-3AD203B41FA5}">
                      <a16:colId xmlns:a16="http://schemas.microsoft.com/office/drawing/2014/main" val="1819197241"/>
                    </a:ext>
                  </a:extLst>
                </a:gridCol>
                <a:gridCol w="635926">
                  <a:extLst>
                    <a:ext uri="{9D8B030D-6E8A-4147-A177-3AD203B41FA5}">
                      <a16:colId xmlns:a16="http://schemas.microsoft.com/office/drawing/2014/main" val="957149968"/>
                    </a:ext>
                  </a:extLst>
                </a:gridCol>
                <a:gridCol w="854235">
                  <a:extLst>
                    <a:ext uri="{9D8B030D-6E8A-4147-A177-3AD203B41FA5}">
                      <a16:colId xmlns:a16="http://schemas.microsoft.com/office/drawing/2014/main" val="3240221543"/>
                    </a:ext>
                  </a:extLst>
                </a:gridCol>
                <a:gridCol w="854235">
                  <a:extLst>
                    <a:ext uri="{9D8B030D-6E8A-4147-A177-3AD203B41FA5}">
                      <a16:colId xmlns:a16="http://schemas.microsoft.com/office/drawing/2014/main" val="830348086"/>
                    </a:ext>
                  </a:extLst>
                </a:gridCol>
                <a:gridCol w="854235">
                  <a:extLst>
                    <a:ext uri="{9D8B030D-6E8A-4147-A177-3AD203B41FA5}">
                      <a16:colId xmlns:a16="http://schemas.microsoft.com/office/drawing/2014/main" val="3234501645"/>
                    </a:ext>
                  </a:extLst>
                </a:gridCol>
                <a:gridCol w="854235">
                  <a:extLst>
                    <a:ext uri="{9D8B030D-6E8A-4147-A177-3AD203B41FA5}">
                      <a16:colId xmlns:a16="http://schemas.microsoft.com/office/drawing/2014/main" val="736335672"/>
                    </a:ext>
                  </a:extLst>
                </a:gridCol>
                <a:gridCol w="854235">
                  <a:extLst>
                    <a:ext uri="{9D8B030D-6E8A-4147-A177-3AD203B41FA5}">
                      <a16:colId xmlns:a16="http://schemas.microsoft.com/office/drawing/2014/main" val="918852314"/>
                    </a:ext>
                  </a:extLst>
                </a:gridCol>
                <a:gridCol w="854235">
                  <a:extLst>
                    <a:ext uri="{9D8B030D-6E8A-4147-A177-3AD203B41FA5}">
                      <a16:colId xmlns:a16="http://schemas.microsoft.com/office/drawing/2014/main" val="3040423796"/>
                    </a:ext>
                  </a:extLst>
                </a:gridCol>
                <a:gridCol w="854235">
                  <a:extLst>
                    <a:ext uri="{9D8B030D-6E8A-4147-A177-3AD203B41FA5}">
                      <a16:colId xmlns:a16="http://schemas.microsoft.com/office/drawing/2014/main" val="3174141430"/>
                    </a:ext>
                  </a:extLst>
                </a:gridCol>
              </a:tblGrid>
              <a:tr h="328763">
                <a:tc>
                  <a:txBody>
                    <a:bodyPr/>
                    <a:lstStyle/>
                    <a:p>
                      <a:endParaRPr lang="en-US" sz="400" dirty="0">
                        <a:solidFill>
                          <a:schemeClr val="bg1"/>
                        </a:solidFill>
                      </a:endParaRPr>
                    </a:p>
                  </a:txBody>
                  <a:tcPr marL="45708" marR="45708" marT="22854" marB="22854">
                    <a:solidFill>
                      <a:schemeClr val="tx1"/>
                    </a:solidFill>
                  </a:tcPr>
                </a:tc>
                <a:tc>
                  <a:txBody>
                    <a:bodyPr/>
                    <a:lstStyle/>
                    <a:p>
                      <a:r>
                        <a:rPr lang="en-US" sz="1000" dirty="0">
                          <a:solidFill>
                            <a:schemeClr val="bg1"/>
                          </a:solidFill>
                        </a:rPr>
                        <a:t>PART #</a:t>
                      </a:r>
                    </a:p>
                  </a:txBody>
                  <a:tcPr marL="45708" marR="45708" marT="22854" marB="22854">
                    <a:solidFill>
                      <a:schemeClr val="tx1"/>
                    </a:solidFill>
                  </a:tcPr>
                </a:tc>
                <a:tc>
                  <a:txBody>
                    <a:bodyPr/>
                    <a:lstStyle/>
                    <a:p>
                      <a:r>
                        <a:rPr lang="en-US" sz="1000" dirty="0">
                          <a:solidFill>
                            <a:schemeClr val="bg1"/>
                          </a:solidFill>
                        </a:rPr>
                        <a:t>DEMAND QUANTITY</a:t>
                      </a:r>
                    </a:p>
                  </a:txBody>
                  <a:tcPr marL="45708" marR="45708" marT="22854" marB="22854">
                    <a:solidFill>
                      <a:schemeClr val="tx1"/>
                    </a:solidFill>
                  </a:tcPr>
                </a:tc>
                <a:tc>
                  <a:txBody>
                    <a:bodyPr/>
                    <a:lstStyle/>
                    <a:p>
                      <a:r>
                        <a:rPr lang="en-US" sz="1000" dirty="0">
                          <a:solidFill>
                            <a:schemeClr val="bg1"/>
                          </a:solidFill>
                        </a:rPr>
                        <a:t>% OF TOTAL</a:t>
                      </a:r>
                    </a:p>
                  </a:txBody>
                  <a:tcPr marL="45708" marR="45708" marT="22854" marB="22854">
                    <a:solidFill>
                      <a:schemeClr val="tx1"/>
                    </a:solidFill>
                  </a:tcPr>
                </a:tc>
                <a:tc>
                  <a:txBody>
                    <a:bodyPr/>
                    <a:lstStyle/>
                    <a:p>
                      <a:r>
                        <a:rPr lang="en-US" sz="1000" dirty="0">
                          <a:solidFill>
                            <a:schemeClr val="bg1"/>
                          </a:solidFill>
                        </a:rPr>
                        <a:t>CNC MILL</a:t>
                      </a:r>
                    </a:p>
                  </a:txBody>
                  <a:tcPr marL="45708" marR="45708" marT="22854" marB="22854">
                    <a:solidFill>
                      <a:schemeClr val="tx1"/>
                    </a:solidFill>
                  </a:tcPr>
                </a:tc>
                <a:tc>
                  <a:txBody>
                    <a:bodyPr/>
                    <a:lstStyle/>
                    <a:p>
                      <a:r>
                        <a:rPr lang="en-US" sz="1000" dirty="0">
                          <a:solidFill>
                            <a:schemeClr val="bg1"/>
                          </a:solidFill>
                        </a:rPr>
                        <a:t>CENTER LATHE</a:t>
                      </a:r>
                    </a:p>
                  </a:txBody>
                  <a:tcPr marL="45708" marR="45708" marT="22854" marB="22854">
                    <a:solidFill>
                      <a:schemeClr val="tx1"/>
                    </a:solidFill>
                  </a:tcPr>
                </a:tc>
                <a:tc>
                  <a:txBody>
                    <a:bodyPr/>
                    <a:lstStyle/>
                    <a:p>
                      <a:r>
                        <a:rPr lang="en-US" sz="1000" dirty="0">
                          <a:solidFill>
                            <a:schemeClr val="bg1"/>
                          </a:solidFill>
                        </a:rPr>
                        <a:t>GRIND</a:t>
                      </a:r>
                    </a:p>
                  </a:txBody>
                  <a:tcPr marL="45708" marR="45708" marT="22854" marB="22854">
                    <a:solidFill>
                      <a:schemeClr val="tx1"/>
                    </a:solidFill>
                  </a:tcPr>
                </a:tc>
                <a:tc>
                  <a:txBody>
                    <a:bodyPr/>
                    <a:lstStyle/>
                    <a:p>
                      <a:r>
                        <a:rPr lang="en-US" sz="1000" dirty="0">
                          <a:solidFill>
                            <a:schemeClr val="bg1"/>
                          </a:solidFill>
                        </a:rPr>
                        <a:t>ROLL</a:t>
                      </a:r>
                    </a:p>
                  </a:txBody>
                  <a:tcPr marL="45708" marR="45708" marT="22854" marB="22854">
                    <a:solidFill>
                      <a:schemeClr val="tx1"/>
                    </a:solidFill>
                  </a:tcPr>
                </a:tc>
                <a:tc>
                  <a:txBody>
                    <a:bodyPr/>
                    <a:lstStyle/>
                    <a:p>
                      <a:r>
                        <a:rPr lang="en-US" sz="1000" dirty="0">
                          <a:solidFill>
                            <a:schemeClr val="bg1"/>
                          </a:solidFill>
                        </a:rPr>
                        <a:t>CLEAN</a:t>
                      </a:r>
                    </a:p>
                  </a:txBody>
                  <a:tcPr marL="45708" marR="45708" marT="22854" marB="22854">
                    <a:solidFill>
                      <a:schemeClr val="tx1"/>
                    </a:solidFill>
                  </a:tcPr>
                </a:tc>
                <a:tc>
                  <a:txBody>
                    <a:bodyPr/>
                    <a:lstStyle/>
                    <a:p>
                      <a:r>
                        <a:rPr lang="en-US" sz="1000" dirty="0">
                          <a:solidFill>
                            <a:schemeClr val="bg1"/>
                          </a:solidFill>
                        </a:rPr>
                        <a:t>GEAR TOOTH CUTTING</a:t>
                      </a:r>
                    </a:p>
                  </a:txBody>
                  <a:tcPr marL="45708" marR="45708" marT="22854" marB="22854">
                    <a:solidFill>
                      <a:schemeClr val="tx1"/>
                    </a:solidFill>
                  </a:tcPr>
                </a:tc>
                <a:tc>
                  <a:txBody>
                    <a:bodyPr/>
                    <a:lstStyle/>
                    <a:p>
                      <a:r>
                        <a:rPr lang="en-US" sz="1000" dirty="0">
                          <a:solidFill>
                            <a:schemeClr val="bg1"/>
                          </a:solidFill>
                        </a:rPr>
                        <a:t>ASSEMBLY</a:t>
                      </a:r>
                    </a:p>
                  </a:txBody>
                  <a:tcPr marL="45708" marR="45708" marT="22854" marB="22854">
                    <a:solidFill>
                      <a:schemeClr val="tx1"/>
                    </a:solidFill>
                  </a:tcPr>
                </a:tc>
                <a:tc>
                  <a:txBody>
                    <a:bodyPr/>
                    <a:lstStyle/>
                    <a:p>
                      <a:r>
                        <a:rPr lang="en-US" sz="1000" dirty="0">
                          <a:solidFill>
                            <a:schemeClr val="bg1"/>
                          </a:solidFill>
                        </a:rPr>
                        <a:t>PACKAGING</a:t>
                      </a:r>
                    </a:p>
                  </a:txBody>
                  <a:tcPr marL="45708" marR="45708" marT="22854" marB="22854">
                    <a:solidFill>
                      <a:schemeClr val="tx1"/>
                    </a:solidFill>
                  </a:tcPr>
                </a:tc>
                <a:extLst>
                  <a:ext uri="{0D108BD9-81ED-4DB2-BD59-A6C34878D82A}">
                    <a16:rowId xmlns:a16="http://schemas.microsoft.com/office/drawing/2014/main" val="2120062841"/>
                  </a:ext>
                </a:extLst>
              </a:tr>
              <a:tr h="242996">
                <a:tc>
                  <a:txBody>
                    <a:bodyPr/>
                    <a:lstStyle/>
                    <a:p>
                      <a:r>
                        <a:rPr lang="en-US" sz="1000" dirty="0"/>
                        <a:t>1</a:t>
                      </a:r>
                    </a:p>
                  </a:txBody>
                  <a:tcPr marL="45708" marR="45708" marT="22854" marB="22854"/>
                </a:tc>
                <a:tc>
                  <a:txBody>
                    <a:bodyPr/>
                    <a:lstStyle/>
                    <a:p>
                      <a:r>
                        <a:rPr lang="en-US" sz="1000" dirty="0"/>
                        <a:t>OBR-026</a:t>
                      </a:r>
                    </a:p>
                  </a:txBody>
                  <a:tcPr marL="45708" marR="45708" marT="22854" marB="22854"/>
                </a:tc>
                <a:tc>
                  <a:txBody>
                    <a:bodyPr/>
                    <a:lstStyle/>
                    <a:p>
                      <a:r>
                        <a:rPr lang="en-US" sz="1000" dirty="0"/>
                        <a:t>420</a:t>
                      </a:r>
                    </a:p>
                  </a:txBody>
                  <a:tcPr marL="45708" marR="45708" marT="22854" marB="22854"/>
                </a:tc>
                <a:tc>
                  <a:txBody>
                    <a:bodyPr/>
                    <a:lstStyle/>
                    <a:p>
                      <a:r>
                        <a:rPr lang="en-US" sz="1000" dirty="0"/>
                        <a:t>35</a:t>
                      </a:r>
                    </a:p>
                  </a:txBody>
                  <a:tcPr marL="45708" marR="45708" marT="22854" marB="22854"/>
                </a:tc>
                <a:tc>
                  <a:txBody>
                    <a:bodyPr/>
                    <a:lstStyle/>
                    <a:p>
                      <a:pPr marL="0" marR="0" lvl="0" indent="0" algn="l" defTabSz="825500" eaLnBrk="1" fontAlgn="auto" latinLnBrk="0" hangingPunct="1">
                        <a:lnSpc>
                          <a:spcPct val="100000"/>
                        </a:lnSpc>
                        <a:spcBef>
                          <a:spcPts val="0"/>
                        </a:spcBef>
                        <a:spcAft>
                          <a:spcPts val="0"/>
                        </a:spcAft>
                        <a:buClrTx/>
                        <a:buSzTx/>
                        <a:buFontTx/>
                        <a:buNone/>
                        <a:tabLst/>
                        <a:defRPr/>
                      </a:pPr>
                      <a:r>
                        <a:rPr lang="en-US" altLang="en-US" sz="1400" b="0" dirty="0">
                          <a:solidFill>
                            <a:srgbClr val="000000"/>
                          </a:solidFill>
                          <a:latin typeface="Wingdings" panose="05000000000000000000" pitchFamily="2" charset="2"/>
                        </a:rPr>
                        <a:t></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077447806"/>
                  </a:ext>
                </a:extLst>
              </a:tr>
              <a:tr h="242996">
                <a:tc>
                  <a:txBody>
                    <a:bodyPr/>
                    <a:lstStyle/>
                    <a:p>
                      <a:r>
                        <a:rPr lang="en-US" sz="1000" dirty="0"/>
                        <a:t>2</a:t>
                      </a:r>
                    </a:p>
                  </a:txBody>
                  <a:tcPr marL="45708" marR="45708" marT="22854" marB="22854"/>
                </a:tc>
                <a:tc>
                  <a:txBody>
                    <a:bodyPr/>
                    <a:lstStyle/>
                    <a:p>
                      <a:r>
                        <a:rPr lang="en-US" sz="1000" dirty="0"/>
                        <a:t>OBR-030</a:t>
                      </a:r>
                    </a:p>
                  </a:txBody>
                  <a:tcPr marL="45708" marR="45708" marT="22854" marB="22854"/>
                </a:tc>
                <a:tc>
                  <a:txBody>
                    <a:bodyPr/>
                    <a:lstStyle/>
                    <a:p>
                      <a:r>
                        <a:rPr lang="en-US" sz="1000" dirty="0"/>
                        <a:t>288</a:t>
                      </a:r>
                    </a:p>
                  </a:txBody>
                  <a:tcPr marL="45708" marR="45708" marT="22854" marB="22854"/>
                </a:tc>
                <a:tc>
                  <a:txBody>
                    <a:bodyPr/>
                    <a:lstStyle/>
                    <a:p>
                      <a:r>
                        <a:rPr lang="en-US" sz="1000" dirty="0"/>
                        <a:t>24</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091268035"/>
                  </a:ext>
                </a:extLst>
              </a:tr>
              <a:tr h="242996">
                <a:tc>
                  <a:txBody>
                    <a:bodyPr/>
                    <a:lstStyle/>
                    <a:p>
                      <a:r>
                        <a:rPr lang="en-US" sz="1000" dirty="0"/>
                        <a:t>3</a:t>
                      </a:r>
                    </a:p>
                  </a:txBody>
                  <a:tcPr marL="45708" marR="45708" marT="22854" marB="22854"/>
                </a:tc>
                <a:tc>
                  <a:txBody>
                    <a:bodyPr/>
                    <a:lstStyle/>
                    <a:p>
                      <a:r>
                        <a:rPr lang="en-US" sz="1000" dirty="0"/>
                        <a:t>OBR-008</a:t>
                      </a:r>
                    </a:p>
                  </a:txBody>
                  <a:tcPr marL="45708" marR="45708" marT="22854" marB="22854"/>
                </a:tc>
                <a:tc>
                  <a:txBody>
                    <a:bodyPr/>
                    <a:lstStyle/>
                    <a:p>
                      <a:r>
                        <a:rPr lang="en-US" sz="1000" dirty="0"/>
                        <a:t>276</a:t>
                      </a:r>
                    </a:p>
                  </a:txBody>
                  <a:tcPr marL="45708" marR="45708" marT="22854" marB="22854"/>
                </a:tc>
                <a:tc>
                  <a:txBody>
                    <a:bodyPr/>
                    <a:lstStyle/>
                    <a:p>
                      <a:r>
                        <a:rPr lang="en-US" sz="1000" dirty="0"/>
                        <a:t>23</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29816401"/>
                  </a:ext>
                </a:extLst>
              </a:tr>
              <a:tr h="242996">
                <a:tc>
                  <a:txBody>
                    <a:bodyPr/>
                    <a:lstStyle/>
                    <a:p>
                      <a:r>
                        <a:rPr lang="en-US" sz="1000" dirty="0"/>
                        <a:t>4</a:t>
                      </a:r>
                    </a:p>
                  </a:txBody>
                  <a:tcPr marL="45708" marR="45708" marT="22854" marB="22854"/>
                </a:tc>
                <a:tc>
                  <a:txBody>
                    <a:bodyPr/>
                    <a:lstStyle/>
                    <a:p>
                      <a:r>
                        <a:rPr lang="en-US" sz="1000" dirty="0"/>
                        <a:t>320147</a:t>
                      </a:r>
                    </a:p>
                  </a:txBody>
                  <a:tcPr marL="45708" marR="45708" marT="22854" marB="22854"/>
                </a:tc>
                <a:tc>
                  <a:txBody>
                    <a:bodyPr/>
                    <a:lstStyle/>
                    <a:p>
                      <a:r>
                        <a:rPr lang="en-US" sz="1000" dirty="0"/>
                        <a:t>84</a:t>
                      </a:r>
                    </a:p>
                  </a:txBody>
                  <a:tcPr marL="45708" marR="45708" marT="22854" marB="22854"/>
                </a:tc>
                <a:tc>
                  <a:txBody>
                    <a:bodyPr/>
                    <a:lstStyle/>
                    <a:p>
                      <a:r>
                        <a:rPr lang="en-US" sz="1000" dirty="0"/>
                        <a:t>7</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3354343573"/>
                  </a:ext>
                </a:extLst>
              </a:tr>
              <a:tr h="443119">
                <a:tc>
                  <a:txBody>
                    <a:bodyPr/>
                    <a:lstStyle/>
                    <a:p>
                      <a:r>
                        <a:rPr lang="en-US" sz="1000" dirty="0"/>
                        <a:t>5</a:t>
                      </a:r>
                    </a:p>
                  </a:txBody>
                  <a:tcPr marL="45708" marR="45708" marT="22854" marB="22854"/>
                </a:tc>
                <a:tc>
                  <a:txBody>
                    <a:bodyPr/>
                    <a:lstStyle/>
                    <a:p>
                      <a:r>
                        <a:rPr lang="en-US" sz="1000" dirty="0"/>
                        <a:t>330033</a:t>
                      </a:r>
                    </a:p>
                  </a:txBody>
                  <a:tcPr marL="45708" marR="45708" marT="22854" marB="22854"/>
                </a:tc>
                <a:tc>
                  <a:txBody>
                    <a:bodyPr/>
                    <a:lstStyle/>
                    <a:p>
                      <a:r>
                        <a:rPr lang="en-US" sz="1000" dirty="0"/>
                        <a:t>48</a:t>
                      </a:r>
                    </a:p>
                  </a:txBody>
                  <a:tcPr marL="45708" marR="45708" marT="22854" marB="22854"/>
                </a:tc>
                <a:tc>
                  <a:txBody>
                    <a:bodyPr/>
                    <a:lstStyle/>
                    <a:p>
                      <a:r>
                        <a:rPr lang="en-US" sz="1000" dirty="0"/>
                        <a:t>4</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altLang="en-US" sz="1400" b="0" dirty="0">
                        <a:solidFill>
                          <a:srgbClr val="000000"/>
                        </a:solidFill>
                        <a:latin typeface="Wingdings" panose="05000000000000000000" pitchFamily="2" charset="2"/>
                      </a:endParaRPr>
                    </a:p>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692341648"/>
                  </a:ext>
                </a:extLst>
              </a:tr>
              <a:tr h="242996">
                <a:tc>
                  <a:txBody>
                    <a:bodyPr/>
                    <a:lstStyle/>
                    <a:p>
                      <a:r>
                        <a:rPr lang="en-US" sz="1000" dirty="0"/>
                        <a:t>6</a:t>
                      </a:r>
                    </a:p>
                  </a:txBody>
                  <a:tcPr marL="45708" marR="45708" marT="22854" marB="22854"/>
                </a:tc>
                <a:tc>
                  <a:txBody>
                    <a:bodyPr/>
                    <a:lstStyle/>
                    <a:p>
                      <a:r>
                        <a:rPr lang="en-US" sz="1000" dirty="0"/>
                        <a:t>330003</a:t>
                      </a:r>
                    </a:p>
                  </a:txBody>
                  <a:tcPr marL="45708" marR="45708" marT="22854" marB="22854"/>
                </a:tc>
                <a:tc>
                  <a:txBody>
                    <a:bodyPr/>
                    <a:lstStyle/>
                    <a:p>
                      <a:r>
                        <a:rPr lang="en-US" sz="1000" dirty="0"/>
                        <a:t>24</a:t>
                      </a:r>
                    </a:p>
                  </a:txBody>
                  <a:tcPr marL="45708" marR="45708" marT="22854" marB="22854"/>
                </a:tc>
                <a:tc>
                  <a:txBody>
                    <a:bodyPr/>
                    <a:lstStyle/>
                    <a:p>
                      <a:r>
                        <a:rPr lang="en-US" sz="1000" dirty="0"/>
                        <a:t>2</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153380888"/>
                  </a:ext>
                </a:extLst>
              </a:tr>
              <a:tr h="242996">
                <a:tc>
                  <a:txBody>
                    <a:bodyPr/>
                    <a:lstStyle/>
                    <a:p>
                      <a:r>
                        <a:rPr lang="en-US" sz="1000" dirty="0"/>
                        <a:t>7</a:t>
                      </a:r>
                    </a:p>
                  </a:txBody>
                  <a:tcPr marL="45708" marR="45708" marT="22854" marB="22854"/>
                </a:tc>
                <a:tc>
                  <a:txBody>
                    <a:bodyPr/>
                    <a:lstStyle/>
                    <a:p>
                      <a:r>
                        <a:rPr lang="en-US" sz="1000" dirty="0"/>
                        <a:t>330030</a:t>
                      </a:r>
                    </a:p>
                  </a:txBody>
                  <a:tcPr marL="45708" marR="45708" marT="22854" marB="22854"/>
                </a:tc>
                <a:tc>
                  <a:txBody>
                    <a:bodyPr/>
                    <a:lstStyle/>
                    <a:p>
                      <a:r>
                        <a:rPr lang="en-US" sz="1000" dirty="0"/>
                        <a:t>24</a:t>
                      </a:r>
                    </a:p>
                  </a:txBody>
                  <a:tcPr marL="45708" marR="45708" marT="22854" marB="22854"/>
                </a:tc>
                <a:tc>
                  <a:txBody>
                    <a:bodyPr/>
                    <a:lstStyle/>
                    <a:p>
                      <a:r>
                        <a:rPr lang="en-US" sz="1000" dirty="0"/>
                        <a:t>2</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125806909"/>
                  </a:ext>
                </a:extLst>
              </a:tr>
              <a:tr h="242996">
                <a:tc>
                  <a:txBody>
                    <a:bodyPr/>
                    <a:lstStyle/>
                    <a:p>
                      <a:r>
                        <a:rPr lang="en-US" sz="1000" dirty="0"/>
                        <a:t>8</a:t>
                      </a:r>
                    </a:p>
                  </a:txBody>
                  <a:tcPr marL="45708" marR="45708" marT="22854" marB="22854"/>
                </a:tc>
                <a:tc>
                  <a:txBody>
                    <a:bodyPr/>
                    <a:lstStyle/>
                    <a:p>
                      <a:r>
                        <a:rPr lang="en-US" sz="1000" dirty="0"/>
                        <a:t>320148</a:t>
                      </a:r>
                    </a:p>
                  </a:txBody>
                  <a:tcPr marL="45708" marR="45708" marT="22854" marB="22854"/>
                </a:tc>
                <a:tc>
                  <a:txBody>
                    <a:bodyPr/>
                    <a:lstStyle/>
                    <a:p>
                      <a:r>
                        <a:rPr lang="en-US" sz="1000" dirty="0"/>
                        <a:t>12</a:t>
                      </a:r>
                    </a:p>
                  </a:txBody>
                  <a:tcPr marL="45708" marR="45708" marT="22854" marB="22854"/>
                </a:tc>
                <a:tc>
                  <a:txBody>
                    <a:bodyPr/>
                    <a:lstStyle/>
                    <a:p>
                      <a:r>
                        <a:rPr lang="en-US" sz="1000" dirty="0"/>
                        <a:t>1</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4089231003"/>
                  </a:ext>
                </a:extLst>
              </a:tr>
              <a:tr h="242996">
                <a:tc>
                  <a:txBody>
                    <a:bodyPr/>
                    <a:lstStyle/>
                    <a:p>
                      <a:r>
                        <a:rPr lang="en-US" sz="1000" dirty="0"/>
                        <a:t>9</a:t>
                      </a:r>
                    </a:p>
                  </a:txBody>
                  <a:tcPr marL="45708" marR="45708" marT="22854" marB="22854"/>
                </a:tc>
                <a:tc>
                  <a:txBody>
                    <a:bodyPr/>
                    <a:lstStyle/>
                    <a:p>
                      <a:r>
                        <a:rPr lang="en-US" sz="1000" dirty="0"/>
                        <a:t>320087</a:t>
                      </a:r>
                    </a:p>
                  </a:txBody>
                  <a:tcPr marL="45708" marR="45708" marT="22854" marB="22854"/>
                </a:tc>
                <a:tc>
                  <a:txBody>
                    <a:bodyPr/>
                    <a:lstStyle/>
                    <a:p>
                      <a:r>
                        <a:rPr lang="en-US" sz="1000" dirty="0"/>
                        <a:t>12</a:t>
                      </a:r>
                    </a:p>
                  </a:txBody>
                  <a:tcPr marL="45708" marR="45708" marT="22854" marB="22854"/>
                </a:tc>
                <a:tc>
                  <a:txBody>
                    <a:bodyPr/>
                    <a:lstStyle/>
                    <a:p>
                      <a:r>
                        <a:rPr lang="en-US" sz="1000" dirty="0"/>
                        <a:t>1</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2078516029"/>
                  </a:ext>
                </a:extLst>
              </a:tr>
              <a:tr h="242996">
                <a:tc>
                  <a:txBody>
                    <a:bodyPr/>
                    <a:lstStyle/>
                    <a:p>
                      <a:r>
                        <a:rPr lang="en-US" sz="1000" dirty="0"/>
                        <a:t>10</a:t>
                      </a:r>
                    </a:p>
                  </a:txBody>
                  <a:tcPr marL="45708" marR="45708" marT="22854" marB="22854"/>
                </a:tc>
                <a:tc>
                  <a:txBody>
                    <a:bodyPr/>
                    <a:lstStyle/>
                    <a:p>
                      <a:r>
                        <a:rPr lang="en-US" sz="1000" dirty="0"/>
                        <a:t>OBR-004</a:t>
                      </a:r>
                    </a:p>
                  </a:txBody>
                  <a:tcPr marL="45708" marR="45708" marT="22854" marB="22854"/>
                </a:tc>
                <a:tc>
                  <a:txBody>
                    <a:bodyPr/>
                    <a:lstStyle/>
                    <a:p>
                      <a:r>
                        <a:rPr lang="en-US" sz="1000" dirty="0"/>
                        <a:t>12</a:t>
                      </a:r>
                    </a:p>
                  </a:txBody>
                  <a:tcPr marL="45708" marR="45708" marT="22854" marB="22854"/>
                </a:tc>
                <a:tc>
                  <a:txBody>
                    <a:bodyPr/>
                    <a:lstStyle/>
                    <a:p>
                      <a:r>
                        <a:rPr lang="en-US" sz="1000" dirty="0"/>
                        <a:t>1</a:t>
                      </a:r>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tc>
                  <a:txBody>
                    <a:bodyPr/>
                    <a:lstStyle/>
                    <a:p>
                      <a:r>
                        <a:rPr lang="en-US" altLang="en-US" sz="1400" b="0" dirty="0">
                          <a:solidFill>
                            <a:srgbClr val="000000"/>
                          </a:solidFill>
                          <a:latin typeface="Wingdings" panose="05000000000000000000" pitchFamily="2" charset="2"/>
                        </a:rPr>
                        <a:t>‚</a:t>
                      </a:r>
                      <a:endParaRPr lang="en-US" sz="1400" dirty="0"/>
                    </a:p>
                  </a:txBody>
                  <a:tcPr marL="45708" marR="45708" marT="22854" marB="22854"/>
                </a:tc>
                <a:extLst>
                  <a:ext uri="{0D108BD9-81ED-4DB2-BD59-A6C34878D82A}">
                    <a16:rowId xmlns:a16="http://schemas.microsoft.com/office/drawing/2014/main" val="1624105925"/>
                  </a:ext>
                </a:extLst>
              </a:tr>
              <a:tr h="242996">
                <a:tc>
                  <a:txBody>
                    <a:bodyPr/>
                    <a:lstStyle/>
                    <a:p>
                      <a:endParaRPr lang="en-US" sz="1000" dirty="0"/>
                    </a:p>
                  </a:txBody>
                  <a:tcPr marL="45708" marR="45708" marT="22854" marB="22854"/>
                </a:tc>
                <a:tc>
                  <a:txBody>
                    <a:bodyPr/>
                    <a:lstStyle/>
                    <a:p>
                      <a:endParaRPr lang="en-US" sz="1000" dirty="0"/>
                    </a:p>
                  </a:txBody>
                  <a:tcPr marL="45708" marR="45708" marT="22854" marB="22854"/>
                </a:tc>
                <a:tc>
                  <a:txBody>
                    <a:bodyPr/>
                    <a:lstStyle/>
                    <a:p>
                      <a:endParaRPr lang="en-US" sz="1000"/>
                    </a:p>
                  </a:txBody>
                  <a:tcPr marL="45708" marR="45708" marT="22854" marB="22854"/>
                </a:tc>
                <a:tc>
                  <a:txBody>
                    <a:bodyPr/>
                    <a:lstStyle/>
                    <a:p>
                      <a:endParaRPr lang="en-US" sz="1000" dirty="0"/>
                    </a:p>
                  </a:txBody>
                  <a:tcPr marL="45708" marR="45708" marT="22854" marB="22854"/>
                </a:tc>
                <a:tc>
                  <a:txBody>
                    <a:bodyPr/>
                    <a:lstStyle/>
                    <a:p>
                      <a:endParaRPr lang="en-US" sz="10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dirty="0"/>
                    </a:p>
                  </a:txBody>
                  <a:tcPr marL="45708" marR="45708" marT="22854" marB="22854"/>
                </a:tc>
                <a:extLst>
                  <a:ext uri="{0D108BD9-81ED-4DB2-BD59-A6C34878D82A}">
                    <a16:rowId xmlns:a16="http://schemas.microsoft.com/office/drawing/2014/main" val="171461249"/>
                  </a:ext>
                </a:extLst>
              </a:tr>
              <a:tr h="242996">
                <a:tc>
                  <a:txBody>
                    <a:bodyPr/>
                    <a:lstStyle/>
                    <a:p>
                      <a:endParaRPr lang="en-US" sz="1000" dirty="0"/>
                    </a:p>
                  </a:txBody>
                  <a:tcPr marL="45708" marR="45708" marT="22854" marB="22854"/>
                </a:tc>
                <a:tc>
                  <a:txBody>
                    <a:bodyPr/>
                    <a:lstStyle/>
                    <a:p>
                      <a:r>
                        <a:rPr lang="en-US" sz="1000" dirty="0"/>
                        <a:t>TOTAL</a:t>
                      </a:r>
                    </a:p>
                  </a:txBody>
                  <a:tcPr marL="45708" marR="45708" marT="22854" marB="22854"/>
                </a:tc>
                <a:tc>
                  <a:txBody>
                    <a:bodyPr/>
                    <a:lstStyle/>
                    <a:p>
                      <a:r>
                        <a:rPr lang="en-US" sz="1000" dirty="0"/>
                        <a:t>1,200</a:t>
                      </a:r>
                    </a:p>
                  </a:txBody>
                  <a:tcPr marL="45708" marR="45708" marT="22854" marB="22854"/>
                </a:tc>
                <a:tc>
                  <a:txBody>
                    <a:bodyPr/>
                    <a:lstStyle/>
                    <a:p>
                      <a:r>
                        <a:rPr lang="en-US" sz="1000" dirty="0"/>
                        <a:t>100</a:t>
                      </a:r>
                    </a:p>
                  </a:txBody>
                  <a:tcPr marL="45708" marR="45708" marT="22854" marB="22854"/>
                </a:tc>
                <a:tc>
                  <a:txBody>
                    <a:bodyPr/>
                    <a:lstStyle/>
                    <a:p>
                      <a:endParaRPr lang="en-US" sz="10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a:p>
                  </a:txBody>
                  <a:tcPr marL="45708" marR="45708" marT="22854" marB="22854"/>
                </a:tc>
                <a:tc>
                  <a:txBody>
                    <a:bodyPr/>
                    <a:lstStyle/>
                    <a:p>
                      <a:endParaRPr lang="en-US" sz="1400" dirty="0"/>
                    </a:p>
                  </a:txBody>
                  <a:tcPr marL="45708" marR="45708" marT="22854" marB="22854"/>
                </a:tc>
                <a:extLst>
                  <a:ext uri="{0D108BD9-81ED-4DB2-BD59-A6C34878D82A}">
                    <a16:rowId xmlns:a16="http://schemas.microsoft.com/office/drawing/2014/main" val="3484878725"/>
                  </a:ext>
                </a:extLst>
              </a:tr>
            </a:tbl>
          </a:graphicData>
        </a:graphic>
      </p:graphicFrame>
      <p:sp>
        <p:nvSpPr>
          <p:cNvPr id="721" name="TextBox 720">
            <a:extLst>
              <a:ext uri="{FF2B5EF4-FFF2-40B4-BE49-F238E27FC236}">
                <a16:creationId xmlns:a16="http://schemas.microsoft.com/office/drawing/2014/main" id="{F5BC212F-B2E9-EDCA-B182-F789DFB5807C}"/>
              </a:ext>
            </a:extLst>
          </p:cNvPr>
          <p:cNvSpPr txBox="1"/>
          <p:nvPr/>
        </p:nvSpPr>
        <p:spPr>
          <a:xfrm>
            <a:off x="2314865" y="1698309"/>
            <a:ext cx="1609676" cy="605280"/>
          </a:xfrm>
          <a:prstGeom prst="rect">
            <a:avLst/>
          </a:prstGeom>
          <a:noFill/>
          <a:ln w="381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1800" dirty="0">
                <a:solidFill>
                  <a:srgbClr val="191C25"/>
                </a:solidFill>
                <a:latin typeface="Roboto" panose="02000000000000000000" pitchFamily="2" charset="0"/>
                <a:ea typeface="Roboto" panose="02000000000000000000" pitchFamily="2" charset="0"/>
                <a:cs typeface="Roboto" panose="02000000000000000000" pitchFamily="2" charset="0"/>
              </a:rPr>
              <a:t>Defined Product Family</a:t>
            </a:r>
          </a:p>
        </p:txBody>
      </p:sp>
      <p:sp>
        <p:nvSpPr>
          <p:cNvPr id="719" name="Rectangle 718">
            <a:extLst>
              <a:ext uri="{FF2B5EF4-FFF2-40B4-BE49-F238E27FC236}">
                <a16:creationId xmlns:a16="http://schemas.microsoft.com/office/drawing/2014/main" id="{97426719-65F4-92F2-FC40-33A2B6A901A1}"/>
              </a:ext>
            </a:extLst>
          </p:cNvPr>
          <p:cNvSpPr/>
          <p:nvPr/>
        </p:nvSpPr>
        <p:spPr>
          <a:xfrm>
            <a:off x="4135507" y="1986275"/>
            <a:ext cx="7297752" cy="359059"/>
          </a:xfrm>
          <a:prstGeom prst="rect">
            <a:avLst/>
          </a:prstGeom>
          <a:solidFill>
            <a:srgbClr val="EE3228"/>
          </a:solidFill>
          <a:ln w="381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algn="ct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PROCESS NAME</a:t>
            </a:r>
          </a:p>
        </p:txBody>
      </p:sp>
      <p:cxnSp>
        <p:nvCxnSpPr>
          <p:cNvPr id="729" name="Straight Connector 728">
            <a:extLst>
              <a:ext uri="{FF2B5EF4-FFF2-40B4-BE49-F238E27FC236}">
                <a16:creationId xmlns:a16="http://schemas.microsoft.com/office/drawing/2014/main" id="{62C07C0C-C3DB-D912-479B-8C371420729C}"/>
              </a:ext>
            </a:extLst>
          </p:cNvPr>
          <p:cNvCxnSpPr>
            <a:cxnSpLocks/>
          </p:cNvCxnSpPr>
          <p:nvPr/>
        </p:nvCxnSpPr>
        <p:spPr>
          <a:xfrm>
            <a:off x="5107616" y="2834144"/>
            <a:ext cx="25409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0" name="Straight Connector 729">
            <a:extLst>
              <a:ext uri="{FF2B5EF4-FFF2-40B4-BE49-F238E27FC236}">
                <a16:creationId xmlns:a16="http://schemas.microsoft.com/office/drawing/2014/main" id="{EBCAD4D1-03E8-CB11-81BA-C1B1DAADE5D4}"/>
              </a:ext>
            </a:extLst>
          </p:cNvPr>
          <p:cNvCxnSpPr>
            <a:cxnSpLocks/>
          </p:cNvCxnSpPr>
          <p:nvPr/>
        </p:nvCxnSpPr>
        <p:spPr>
          <a:xfrm>
            <a:off x="5107616" y="3089082"/>
            <a:ext cx="25409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1" name="Straight Connector 730">
            <a:extLst>
              <a:ext uri="{FF2B5EF4-FFF2-40B4-BE49-F238E27FC236}">
                <a16:creationId xmlns:a16="http://schemas.microsoft.com/office/drawing/2014/main" id="{82576063-2485-142A-9DF6-D29F1280A92C}"/>
              </a:ext>
            </a:extLst>
          </p:cNvPr>
          <p:cNvCxnSpPr>
            <a:cxnSpLocks/>
          </p:cNvCxnSpPr>
          <p:nvPr/>
        </p:nvCxnSpPr>
        <p:spPr>
          <a:xfrm>
            <a:off x="5107616" y="3336933"/>
            <a:ext cx="260031"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2" name="Straight Connector 731">
            <a:extLst>
              <a:ext uri="{FF2B5EF4-FFF2-40B4-BE49-F238E27FC236}">
                <a16:creationId xmlns:a16="http://schemas.microsoft.com/office/drawing/2014/main" id="{92103366-A3C1-6195-F6D1-86CCFAA25A16}"/>
              </a:ext>
            </a:extLst>
          </p:cNvPr>
          <p:cNvCxnSpPr>
            <a:cxnSpLocks/>
          </p:cNvCxnSpPr>
          <p:nvPr/>
        </p:nvCxnSpPr>
        <p:spPr>
          <a:xfrm>
            <a:off x="5658592" y="2834144"/>
            <a:ext cx="471240"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6" name="Straight Connector 735">
            <a:extLst>
              <a:ext uri="{FF2B5EF4-FFF2-40B4-BE49-F238E27FC236}">
                <a16:creationId xmlns:a16="http://schemas.microsoft.com/office/drawing/2014/main" id="{C81B0A14-C35D-D17F-AE4D-956EE7356F4D}"/>
              </a:ext>
            </a:extLst>
          </p:cNvPr>
          <p:cNvCxnSpPr>
            <a:cxnSpLocks/>
          </p:cNvCxnSpPr>
          <p:nvPr/>
        </p:nvCxnSpPr>
        <p:spPr>
          <a:xfrm>
            <a:off x="5658592" y="3073846"/>
            <a:ext cx="471240"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7" name="Straight Connector 736">
            <a:extLst>
              <a:ext uri="{FF2B5EF4-FFF2-40B4-BE49-F238E27FC236}">
                <a16:creationId xmlns:a16="http://schemas.microsoft.com/office/drawing/2014/main" id="{834BA4C8-E7C9-37EB-D4EB-C5309EFAA4A2}"/>
              </a:ext>
            </a:extLst>
          </p:cNvPr>
          <p:cNvCxnSpPr>
            <a:cxnSpLocks/>
          </p:cNvCxnSpPr>
          <p:nvPr/>
        </p:nvCxnSpPr>
        <p:spPr>
          <a:xfrm>
            <a:off x="5658592" y="3329315"/>
            <a:ext cx="471240"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38" name="Straight Connector 737">
            <a:extLst>
              <a:ext uri="{FF2B5EF4-FFF2-40B4-BE49-F238E27FC236}">
                <a16:creationId xmlns:a16="http://schemas.microsoft.com/office/drawing/2014/main" id="{D6801908-66D8-42F3-8F98-68472CA4CA46}"/>
              </a:ext>
            </a:extLst>
          </p:cNvPr>
          <p:cNvCxnSpPr>
            <a:cxnSpLocks/>
          </p:cNvCxnSpPr>
          <p:nvPr/>
        </p:nvCxnSpPr>
        <p:spPr>
          <a:xfrm>
            <a:off x="6460177" y="2834144"/>
            <a:ext cx="1513215"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0" name="Straight Connector 739">
            <a:extLst>
              <a:ext uri="{FF2B5EF4-FFF2-40B4-BE49-F238E27FC236}">
                <a16:creationId xmlns:a16="http://schemas.microsoft.com/office/drawing/2014/main" id="{AE83CC19-D954-3262-F9DE-540FEA7F0BA9}"/>
              </a:ext>
            </a:extLst>
          </p:cNvPr>
          <p:cNvCxnSpPr>
            <a:cxnSpLocks/>
          </p:cNvCxnSpPr>
          <p:nvPr/>
        </p:nvCxnSpPr>
        <p:spPr>
          <a:xfrm>
            <a:off x="6460177" y="3089082"/>
            <a:ext cx="1513215"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1" name="Straight Connector 740">
            <a:extLst>
              <a:ext uri="{FF2B5EF4-FFF2-40B4-BE49-F238E27FC236}">
                <a16:creationId xmlns:a16="http://schemas.microsoft.com/office/drawing/2014/main" id="{CC46E52B-EA81-DCA5-2B31-ACFDADCF6FB1}"/>
              </a:ext>
            </a:extLst>
          </p:cNvPr>
          <p:cNvCxnSpPr>
            <a:cxnSpLocks/>
          </p:cNvCxnSpPr>
          <p:nvPr/>
        </p:nvCxnSpPr>
        <p:spPr>
          <a:xfrm>
            <a:off x="6460177" y="3314079"/>
            <a:ext cx="1566541"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2" name="Straight Connector 741">
            <a:extLst>
              <a:ext uri="{FF2B5EF4-FFF2-40B4-BE49-F238E27FC236}">
                <a16:creationId xmlns:a16="http://schemas.microsoft.com/office/drawing/2014/main" id="{E5DE2885-FD90-7173-C2CD-A9E096E87AA0}"/>
              </a:ext>
            </a:extLst>
          </p:cNvPr>
          <p:cNvCxnSpPr>
            <a:cxnSpLocks/>
          </p:cNvCxnSpPr>
          <p:nvPr/>
        </p:nvCxnSpPr>
        <p:spPr>
          <a:xfrm>
            <a:off x="8270495" y="2834144"/>
            <a:ext cx="1450355"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3" name="Straight Connector 742">
            <a:extLst>
              <a:ext uri="{FF2B5EF4-FFF2-40B4-BE49-F238E27FC236}">
                <a16:creationId xmlns:a16="http://schemas.microsoft.com/office/drawing/2014/main" id="{05AC5F1C-FAB0-9160-7A3F-EC2259DCF041}"/>
              </a:ext>
            </a:extLst>
          </p:cNvPr>
          <p:cNvCxnSpPr>
            <a:cxnSpLocks/>
          </p:cNvCxnSpPr>
          <p:nvPr/>
        </p:nvCxnSpPr>
        <p:spPr>
          <a:xfrm>
            <a:off x="8270495" y="3089082"/>
            <a:ext cx="147320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4" name="Straight Connector 743">
            <a:extLst>
              <a:ext uri="{FF2B5EF4-FFF2-40B4-BE49-F238E27FC236}">
                <a16:creationId xmlns:a16="http://schemas.microsoft.com/office/drawing/2014/main" id="{ACDB5D4D-4BC7-BED3-1D50-FF69B14A9BD6}"/>
              </a:ext>
            </a:extLst>
          </p:cNvPr>
          <p:cNvCxnSpPr>
            <a:cxnSpLocks/>
          </p:cNvCxnSpPr>
          <p:nvPr/>
        </p:nvCxnSpPr>
        <p:spPr>
          <a:xfrm>
            <a:off x="8270495" y="3329315"/>
            <a:ext cx="1473209" cy="7618"/>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5" name="Straight Connector 744">
            <a:extLst>
              <a:ext uri="{FF2B5EF4-FFF2-40B4-BE49-F238E27FC236}">
                <a16:creationId xmlns:a16="http://schemas.microsoft.com/office/drawing/2014/main" id="{35078AE3-B947-D784-1489-0391A291975A}"/>
              </a:ext>
            </a:extLst>
          </p:cNvPr>
          <p:cNvCxnSpPr>
            <a:cxnSpLocks/>
          </p:cNvCxnSpPr>
          <p:nvPr/>
        </p:nvCxnSpPr>
        <p:spPr>
          <a:xfrm>
            <a:off x="9866353" y="2835760"/>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7" name="Straight Connector 746">
            <a:extLst>
              <a:ext uri="{FF2B5EF4-FFF2-40B4-BE49-F238E27FC236}">
                <a16:creationId xmlns:a16="http://schemas.microsoft.com/office/drawing/2014/main" id="{130A7254-9EED-4254-BF5A-75C75D4CA0FE}"/>
              </a:ext>
            </a:extLst>
          </p:cNvPr>
          <p:cNvCxnSpPr>
            <a:cxnSpLocks/>
          </p:cNvCxnSpPr>
          <p:nvPr/>
        </p:nvCxnSpPr>
        <p:spPr>
          <a:xfrm>
            <a:off x="9866353" y="3075462"/>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8" name="Straight Connector 747">
            <a:extLst>
              <a:ext uri="{FF2B5EF4-FFF2-40B4-BE49-F238E27FC236}">
                <a16:creationId xmlns:a16="http://schemas.microsoft.com/office/drawing/2014/main" id="{6A3812A9-715B-7E01-0353-19D26AC5A92F}"/>
              </a:ext>
            </a:extLst>
          </p:cNvPr>
          <p:cNvCxnSpPr>
            <a:cxnSpLocks/>
          </p:cNvCxnSpPr>
          <p:nvPr/>
        </p:nvCxnSpPr>
        <p:spPr>
          <a:xfrm>
            <a:off x="9866353" y="3323313"/>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49" name="Straight Connector 748">
            <a:extLst>
              <a:ext uri="{FF2B5EF4-FFF2-40B4-BE49-F238E27FC236}">
                <a16:creationId xmlns:a16="http://schemas.microsoft.com/office/drawing/2014/main" id="{E29B42D5-C3BF-1630-285B-C21B8C8011A3}"/>
              </a:ext>
            </a:extLst>
          </p:cNvPr>
          <p:cNvCxnSpPr>
            <a:cxnSpLocks/>
          </p:cNvCxnSpPr>
          <p:nvPr/>
        </p:nvCxnSpPr>
        <p:spPr>
          <a:xfrm>
            <a:off x="9866353" y="3605180"/>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0" name="Straight Connector 749">
            <a:extLst>
              <a:ext uri="{FF2B5EF4-FFF2-40B4-BE49-F238E27FC236}">
                <a16:creationId xmlns:a16="http://schemas.microsoft.com/office/drawing/2014/main" id="{09033273-6734-CDE4-1DD4-15B0FE2C8F4B}"/>
              </a:ext>
            </a:extLst>
          </p:cNvPr>
          <p:cNvCxnSpPr>
            <a:cxnSpLocks/>
          </p:cNvCxnSpPr>
          <p:nvPr/>
        </p:nvCxnSpPr>
        <p:spPr>
          <a:xfrm>
            <a:off x="9866353" y="3879428"/>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1" name="Straight Connector 750">
            <a:extLst>
              <a:ext uri="{FF2B5EF4-FFF2-40B4-BE49-F238E27FC236}">
                <a16:creationId xmlns:a16="http://schemas.microsoft.com/office/drawing/2014/main" id="{547196BB-360D-0563-1E4C-5D596D576948}"/>
              </a:ext>
            </a:extLst>
          </p:cNvPr>
          <p:cNvCxnSpPr>
            <a:cxnSpLocks/>
          </p:cNvCxnSpPr>
          <p:nvPr/>
        </p:nvCxnSpPr>
        <p:spPr>
          <a:xfrm>
            <a:off x="9866353" y="4344127"/>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2" name="Straight Connector 751">
            <a:extLst>
              <a:ext uri="{FF2B5EF4-FFF2-40B4-BE49-F238E27FC236}">
                <a16:creationId xmlns:a16="http://schemas.microsoft.com/office/drawing/2014/main" id="{9AF50FCA-4F02-F3FA-1100-4500D5E9CB01}"/>
              </a:ext>
            </a:extLst>
          </p:cNvPr>
          <p:cNvCxnSpPr>
            <a:cxnSpLocks/>
          </p:cNvCxnSpPr>
          <p:nvPr/>
        </p:nvCxnSpPr>
        <p:spPr>
          <a:xfrm>
            <a:off x="9893016" y="4587903"/>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3" name="Straight Connector 752">
            <a:extLst>
              <a:ext uri="{FF2B5EF4-FFF2-40B4-BE49-F238E27FC236}">
                <a16:creationId xmlns:a16="http://schemas.microsoft.com/office/drawing/2014/main" id="{5684385D-5322-8A00-04DF-2B6193622A72}"/>
              </a:ext>
            </a:extLst>
          </p:cNvPr>
          <p:cNvCxnSpPr>
            <a:cxnSpLocks/>
          </p:cNvCxnSpPr>
          <p:nvPr/>
        </p:nvCxnSpPr>
        <p:spPr>
          <a:xfrm>
            <a:off x="9893016" y="4831680"/>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4" name="Straight Connector 753">
            <a:extLst>
              <a:ext uri="{FF2B5EF4-FFF2-40B4-BE49-F238E27FC236}">
                <a16:creationId xmlns:a16="http://schemas.microsoft.com/office/drawing/2014/main" id="{917F4169-655C-3B65-57DC-738D329EA65C}"/>
              </a:ext>
            </a:extLst>
          </p:cNvPr>
          <p:cNvCxnSpPr>
            <a:cxnSpLocks/>
          </p:cNvCxnSpPr>
          <p:nvPr/>
        </p:nvCxnSpPr>
        <p:spPr>
          <a:xfrm>
            <a:off x="9893016" y="5105928"/>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5" name="Straight Connector 754">
            <a:extLst>
              <a:ext uri="{FF2B5EF4-FFF2-40B4-BE49-F238E27FC236}">
                <a16:creationId xmlns:a16="http://schemas.microsoft.com/office/drawing/2014/main" id="{5C7EFA71-AE33-9BCC-96DE-2505254530C5}"/>
              </a:ext>
            </a:extLst>
          </p:cNvPr>
          <p:cNvCxnSpPr>
            <a:cxnSpLocks/>
          </p:cNvCxnSpPr>
          <p:nvPr/>
        </p:nvCxnSpPr>
        <p:spPr>
          <a:xfrm>
            <a:off x="9912061" y="5364941"/>
            <a:ext cx="67800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6" name="Straight Connector 755">
            <a:extLst>
              <a:ext uri="{FF2B5EF4-FFF2-40B4-BE49-F238E27FC236}">
                <a16:creationId xmlns:a16="http://schemas.microsoft.com/office/drawing/2014/main" id="{28EE7DF7-6869-58C6-F3B5-334381D771BB}"/>
              </a:ext>
            </a:extLst>
          </p:cNvPr>
          <p:cNvCxnSpPr>
            <a:cxnSpLocks/>
          </p:cNvCxnSpPr>
          <p:nvPr/>
        </p:nvCxnSpPr>
        <p:spPr>
          <a:xfrm>
            <a:off x="5058888" y="3611182"/>
            <a:ext cx="1070945"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8" name="Straight Connector 757">
            <a:extLst>
              <a:ext uri="{FF2B5EF4-FFF2-40B4-BE49-F238E27FC236}">
                <a16:creationId xmlns:a16="http://schemas.microsoft.com/office/drawing/2014/main" id="{7CE1A726-EFAD-AE51-D2E4-B59F45307C91}"/>
              </a:ext>
            </a:extLst>
          </p:cNvPr>
          <p:cNvCxnSpPr>
            <a:cxnSpLocks/>
          </p:cNvCxnSpPr>
          <p:nvPr/>
        </p:nvCxnSpPr>
        <p:spPr>
          <a:xfrm>
            <a:off x="5058888" y="3870194"/>
            <a:ext cx="1070945" cy="7618"/>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59" name="Straight Connector 758">
            <a:extLst>
              <a:ext uri="{FF2B5EF4-FFF2-40B4-BE49-F238E27FC236}">
                <a16:creationId xmlns:a16="http://schemas.microsoft.com/office/drawing/2014/main" id="{1A08277E-7902-6C14-E7DC-CF7E486D5B4E}"/>
              </a:ext>
            </a:extLst>
          </p:cNvPr>
          <p:cNvCxnSpPr>
            <a:cxnSpLocks/>
          </p:cNvCxnSpPr>
          <p:nvPr/>
        </p:nvCxnSpPr>
        <p:spPr>
          <a:xfrm>
            <a:off x="5107616" y="4319657"/>
            <a:ext cx="102221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0" name="Straight Connector 759">
            <a:extLst>
              <a:ext uri="{FF2B5EF4-FFF2-40B4-BE49-F238E27FC236}">
                <a16:creationId xmlns:a16="http://schemas.microsoft.com/office/drawing/2014/main" id="{609620E4-768E-6D5E-A905-A6B23CC8853A}"/>
              </a:ext>
            </a:extLst>
          </p:cNvPr>
          <p:cNvCxnSpPr>
            <a:cxnSpLocks/>
          </p:cNvCxnSpPr>
          <p:nvPr/>
        </p:nvCxnSpPr>
        <p:spPr>
          <a:xfrm>
            <a:off x="5107616" y="4578669"/>
            <a:ext cx="102221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1" name="Straight Connector 760">
            <a:extLst>
              <a:ext uri="{FF2B5EF4-FFF2-40B4-BE49-F238E27FC236}">
                <a16:creationId xmlns:a16="http://schemas.microsoft.com/office/drawing/2014/main" id="{017BCBCE-5A59-8C8E-BD77-46E3101F3C6B}"/>
              </a:ext>
            </a:extLst>
          </p:cNvPr>
          <p:cNvCxnSpPr>
            <a:cxnSpLocks/>
          </p:cNvCxnSpPr>
          <p:nvPr/>
        </p:nvCxnSpPr>
        <p:spPr>
          <a:xfrm>
            <a:off x="5107616" y="4822446"/>
            <a:ext cx="102221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2" name="Straight Connector 761">
            <a:extLst>
              <a:ext uri="{FF2B5EF4-FFF2-40B4-BE49-F238E27FC236}">
                <a16:creationId xmlns:a16="http://schemas.microsoft.com/office/drawing/2014/main" id="{213F7C41-4DAF-9C86-A965-92CF3AC2E6E8}"/>
              </a:ext>
            </a:extLst>
          </p:cNvPr>
          <p:cNvCxnSpPr>
            <a:cxnSpLocks/>
          </p:cNvCxnSpPr>
          <p:nvPr/>
        </p:nvCxnSpPr>
        <p:spPr>
          <a:xfrm>
            <a:off x="5107616" y="5104312"/>
            <a:ext cx="102221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3" name="Straight Connector 762">
            <a:extLst>
              <a:ext uri="{FF2B5EF4-FFF2-40B4-BE49-F238E27FC236}">
                <a16:creationId xmlns:a16="http://schemas.microsoft.com/office/drawing/2014/main" id="{7E35F635-4BB8-D5CE-5897-58B94A6CB37B}"/>
              </a:ext>
            </a:extLst>
          </p:cNvPr>
          <p:cNvCxnSpPr>
            <a:cxnSpLocks/>
          </p:cNvCxnSpPr>
          <p:nvPr/>
        </p:nvCxnSpPr>
        <p:spPr>
          <a:xfrm>
            <a:off x="5107616" y="5363325"/>
            <a:ext cx="102221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4" name="Straight Connector 763">
            <a:extLst>
              <a:ext uri="{FF2B5EF4-FFF2-40B4-BE49-F238E27FC236}">
                <a16:creationId xmlns:a16="http://schemas.microsoft.com/office/drawing/2014/main" id="{DB2B3E9C-BA1D-9960-0A5C-B164BD890255}"/>
              </a:ext>
            </a:extLst>
          </p:cNvPr>
          <p:cNvCxnSpPr>
            <a:cxnSpLocks/>
          </p:cNvCxnSpPr>
          <p:nvPr/>
        </p:nvCxnSpPr>
        <p:spPr>
          <a:xfrm>
            <a:off x="6460177" y="3603564"/>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5" name="Straight Connector 764">
            <a:extLst>
              <a:ext uri="{FF2B5EF4-FFF2-40B4-BE49-F238E27FC236}">
                <a16:creationId xmlns:a16="http://schemas.microsoft.com/office/drawing/2014/main" id="{CD5AF840-8700-77CE-2AFD-D0B88E18CC94}"/>
              </a:ext>
            </a:extLst>
          </p:cNvPr>
          <p:cNvCxnSpPr>
            <a:cxnSpLocks/>
          </p:cNvCxnSpPr>
          <p:nvPr/>
        </p:nvCxnSpPr>
        <p:spPr>
          <a:xfrm>
            <a:off x="6460177" y="3870194"/>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6" name="Straight Connector 765">
            <a:extLst>
              <a:ext uri="{FF2B5EF4-FFF2-40B4-BE49-F238E27FC236}">
                <a16:creationId xmlns:a16="http://schemas.microsoft.com/office/drawing/2014/main" id="{F7BA306D-9A5D-8C65-798F-507B98D2D37E}"/>
              </a:ext>
            </a:extLst>
          </p:cNvPr>
          <p:cNvCxnSpPr>
            <a:cxnSpLocks/>
          </p:cNvCxnSpPr>
          <p:nvPr/>
        </p:nvCxnSpPr>
        <p:spPr>
          <a:xfrm>
            <a:off x="6460177" y="4319657"/>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7" name="Straight Connector 766">
            <a:extLst>
              <a:ext uri="{FF2B5EF4-FFF2-40B4-BE49-F238E27FC236}">
                <a16:creationId xmlns:a16="http://schemas.microsoft.com/office/drawing/2014/main" id="{4A4790E4-EECD-5E6C-3485-00A122177EB3}"/>
              </a:ext>
            </a:extLst>
          </p:cNvPr>
          <p:cNvCxnSpPr>
            <a:cxnSpLocks/>
          </p:cNvCxnSpPr>
          <p:nvPr/>
        </p:nvCxnSpPr>
        <p:spPr>
          <a:xfrm>
            <a:off x="6460177" y="4578669"/>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8" name="Straight Connector 767">
            <a:extLst>
              <a:ext uri="{FF2B5EF4-FFF2-40B4-BE49-F238E27FC236}">
                <a16:creationId xmlns:a16="http://schemas.microsoft.com/office/drawing/2014/main" id="{FCE408BD-29AD-2453-4CFC-495561D61E38}"/>
              </a:ext>
            </a:extLst>
          </p:cNvPr>
          <p:cNvCxnSpPr>
            <a:cxnSpLocks/>
          </p:cNvCxnSpPr>
          <p:nvPr/>
        </p:nvCxnSpPr>
        <p:spPr>
          <a:xfrm>
            <a:off x="6460177" y="4830064"/>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69" name="Straight Connector 768">
            <a:extLst>
              <a:ext uri="{FF2B5EF4-FFF2-40B4-BE49-F238E27FC236}">
                <a16:creationId xmlns:a16="http://schemas.microsoft.com/office/drawing/2014/main" id="{4448A5AC-15A5-6A36-E93B-422E7099EBA2}"/>
              </a:ext>
            </a:extLst>
          </p:cNvPr>
          <p:cNvCxnSpPr>
            <a:cxnSpLocks/>
          </p:cNvCxnSpPr>
          <p:nvPr/>
        </p:nvCxnSpPr>
        <p:spPr>
          <a:xfrm>
            <a:off x="6460177" y="5081458"/>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0" name="Straight Connector 769">
            <a:extLst>
              <a:ext uri="{FF2B5EF4-FFF2-40B4-BE49-F238E27FC236}">
                <a16:creationId xmlns:a16="http://schemas.microsoft.com/office/drawing/2014/main" id="{4913EA73-0D43-7C1D-051A-16A32044A3EF}"/>
              </a:ext>
            </a:extLst>
          </p:cNvPr>
          <p:cNvCxnSpPr>
            <a:cxnSpLocks/>
          </p:cNvCxnSpPr>
          <p:nvPr/>
        </p:nvCxnSpPr>
        <p:spPr>
          <a:xfrm>
            <a:off x="6460177" y="5355707"/>
            <a:ext cx="61428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1" name="Straight Connector 770">
            <a:extLst>
              <a:ext uri="{FF2B5EF4-FFF2-40B4-BE49-F238E27FC236}">
                <a16:creationId xmlns:a16="http://schemas.microsoft.com/office/drawing/2014/main" id="{6D6C4AA3-C4DE-E624-1170-D3DCE426B887}"/>
              </a:ext>
            </a:extLst>
          </p:cNvPr>
          <p:cNvCxnSpPr>
            <a:cxnSpLocks/>
          </p:cNvCxnSpPr>
          <p:nvPr/>
        </p:nvCxnSpPr>
        <p:spPr>
          <a:xfrm>
            <a:off x="7272535" y="3611182"/>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2" name="Straight Connector 771">
            <a:extLst>
              <a:ext uri="{FF2B5EF4-FFF2-40B4-BE49-F238E27FC236}">
                <a16:creationId xmlns:a16="http://schemas.microsoft.com/office/drawing/2014/main" id="{D22E1C4F-876A-9660-0899-10844D401481}"/>
              </a:ext>
            </a:extLst>
          </p:cNvPr>
          <p:cNvCxnSpPr>
            <a:cxnSpLocks/>
          </p:cNvCxnSpPr>
          <p:nvPr/>
        </p:nvCxnSpPr>
        <p:spPr>
          <a:xfrm>
            <a:off x="8270495" y="3595946"/>
            <a:ext cx="147320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3" name="Straight Connector 772">
            <a:extLst>
              <a:ext uri="{FF2B5EF4-FFF2-40B4-BE49-F238E27FC236}">
                <a16:creationId xmlns:a16="http://schemas.microsoft.com/office/drawing/2014/main" id="{0E518B5B-703F-CCBA-A64F-598AF33D56F0}"/>
              </a:ext>
            </a:extLst>
          </p:cNvPr>
          <p:cNvCxnSpPr>
            <a:cxnSpLocks/>
          </p:cNvCxnSpPr>
          <p:nvPr/>
        </p:nvCxnSpPr>
        <p:spPr>
          <a:xfrm>
            <a:off x="7325861" y="3870194"/>
            <a:ext cx="1550944"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4" name="Straight Connector 773">
            <a:extLst>
              <a:ext uri="{FF2B5EF4-FFF2-40B4-BE49-F238E27FC236}">
                <a16:creationId xmlns:a16="http://schemas.microsoft.com/office/drawing/2014/main" id="{8C3E33AA-B0B6-EAF5-C600-D824799C2FFF}"/>
              </a:ext>
            </a:extLst>
          </p:cNvPr>
          <p:cNvCxnSpPr>
            <a:cxnSpLocks/>
          </p:cNvCxnSpPr>
          <p:nvPr/>
        </p:nvCxnSpPr>
        <p:spPr>
          <a:xfrm flipV="1">
            <a:off x="8247641" y="3885430"/>
            <a:ext cx="629164" cy="213304"/>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6" name="Straight Connector 775">
            <a:extLst>
              <a:ext uri="{FF2B5EF4-FFF2-40B4-BE49-F238E27FC236}">
                <a16:creationId xmlns:a16="http://schemas.microsoft.com/office/drawing/2014/main" id="{2E8659F4-852C-3953-FB6E-430B89F6139A}"/>
              </a:ext>
            </a:extLst>
          </p:cNvPr>
          <p:cNvCxnSpPr>
            <a:cxnSpLocks/>
          </p:cNvCxnSpPr>
          <p:nvPr/>
        </p:nvCxnSpPr>
        <p:spPr>
          <a:xfrm flipV="1">
            <a:off x="8247641" y="3885430"/>
            <a:ext cx="1473209" cy="213304"/>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8" name="Straight Connector 777">
            <a:extLst>
              <a:ext uri="{FF2B5EF4-FFF2-40B4-BE49-F238E27FC236}">
                <a16:creationId xmlns:a16="http://schemas.microsoft.com/office/drawing/2014/main" id="{E2B131BC-E23F-6D82-38AB-2B93D6F065BF}"/>
              </a:ext>
            </a:extLst>
          </p:cNvPr>
          <p:cNvCxnSpPr>
            <a:cxnSpLocks/>
          </p:cNvCxnSpPr>
          <p:nvPr/>
        </p:nvCxnSpPr>
        <p:spPr>
          <a:xfrm>
            <a:off x="8270495" y="4342511"/>
            <a:ext cx="147320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79" name="Straight Connector 778">
            <a:extLst>
              <a:ext uri="{FF2B5EF4-FFF2-40B4-BE49-F238E27FC236}">
                <a16:creationId xmlns:a16="http://schemas.microsoft.com/office/drawing/2014/main" id="{8FAD7290-ED56-9B7B-EE23-C183B82AEB71}"/>
              </a:ext>
            </a:extLst>
          </p:cNvPr>
          <p:cNvCxnSpPr>
            <a:cxnSpLocks/>
          </p:cNvCxnSpPr>
          <p:nvPr/>
        </p:nvCxnSpPr>
        <p:spPr>
          <a:xfrm>
            <a:off x="8232405" y="4578669"/>
            <a:ext cx="151129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0" name="Straight Connector 779">
            <a:extLst>
              <a:ext uri="{FF2B5EF4-FFF2-40B4-BE49-F238E27FC236}">
                <a16:creationId xmlns:a16="http://schemas.microsoft.com/office/drawing/2014/main" id="{04C270B3-07DC-F476-71D2-ED32465E4A70}"/>
              </a:ext>
            </a:extLst>
          </p:cNvPr>
          <p:cNvCxnSpPr>
            <a:cxnSpLocks/>
          </p:cNvCxnSpPr>
          <p:nvPr/>
        </p:nvCxnSpPr>
        <p:spPr>
          <a:xfrm>
            <a:off x="8259068" y="4822446"/>
            <a:ext cx="1484636"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1" name="Straight Connector 780">
            <a:extLst>
              <a:ext uri="{FF2B5EF4-FFF2-40B4-BE49-F238E27FC236}">
                <a16:creationId xmlns:a16="http://schemas.microsoft.com/office/drawing/2014/main" id="{49694580-A599-B8BA-5DFC-8C999D59CD37}"/>
              </a:ext>
            </a:extLst>
          </p:cNvPr>
          <p:cNvCxnSpPr>
            <a:cxnSpLocks/>
          </p:cNvCxnSpPr>
          <p:nvPr/>
        </p:nvCxnSpPr>
        <p:spPr>
          <a:xfrm>
            <a:off x="8270495" y="5119549"/>
            <a:ext cx="1473209"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2" name="Straight Connector 781">
            <a:extLst>
              <a:ext uri="{FF2B5EF4-FFF2-40B4-BE49-F238E27FC236}">
                <a16:creationId xmlns:a16="http://schemas.microsoft.com/office/drawing/2014/main" id="{E98090A0-35B9-E06A-36B5-C8834A8B77FE}"/>
              </a:ext>
            </a:extLst>
          </p:cNvPr>
          <p:cNvCxnSpPr>
            <a:cxnSpLocks/>
          </p:cNvCxnSpPr>
          <p:nvPr/>
        </p:nvCxnSpPr>
        <p:spPr>
          <a:xfrm>
            <a:off x="8247641" y="5355707"/>
            <a:ext cx="1496063"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3" name="Straight Connector 782">
            <a:extLst>
              <a:ext uri="{FF2B5EF4-FFF2-40B4-BE49-F238E27FC236}">
                <a16:creationId xmlns:a16="http://schemas.microsoft.com/office/drawing/2014/main" id="{AD0E5109-689B-CFBF-4349-9D93CBBA7BAD}"/>
              </a:ext>
            </a:extLst>
          </p:cNvPr>
          <p:cNvCxnSpPr>
            <a:cxnSpLocks/>
          </p:cNvCxnSpPr>
          <p:nvPr/>
        </p:nvCxnSpPr>
        <p:spPr>
          <a:xfrm>
            <a:off x="7325861" y="4342511"/>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4" name="Straight Connector 783">
            <a:extLst>
              <a:ext uri="{FF2B5EF4-FFF2-40B4-BE49-F238E27FC236}">
                <a16:creationId xmlns:a16="http://schemas.microsoft.com/office/drawing/2014/main" id="{FA3DD0F9-54C1-3456-974A-467B669B8C0B}"/>
              </a:ext>
            </a:extLst>
          </p:cNvPr>
          <p:cNvCxnSpPr>
            <a:cxnSpLocks/>
          </p:cNvCxnSpPr>
          <p:nvPr/>
        </p:nvCxnSpPr>
        <p:spPr>
          <a:xfrm>
            <a:off x="7333479" y="4586287"/>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5" name="Straight Connector 784">
            <a:extLst>
              <a:ext uri="{FF2B5EF4-FFF2-40B4-BE49-F238E27FC236}">
                <a16:creationId xmlns:a16="http://schemas.microsoft.com/office/drawing/2014/main" id="{7A1DCBDE-9C66-BE66-10F5-3FE3A1717012}"/>
              </a:ext>
            </a:extLst>
          </p:cNvPr>
          <p:cNvCxnSpPr>
            <a:cxnSpLocks/>
          </p:cNvCxnSpPr>
          <p:nvPr/>
        </p:nvCxnSpPr>
        <p:spPr>
          <a:xfrm>
            <a:off x="7325861" y="4852918"/>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6" name="Straight Connector 785">
            <a:extLst>
              <a:ext uri="{FF2B5EF4-FFF2-40B4-BE49-F238E27FC236}">
                <a16:creationId xmlns:a16="http://schemas.microsoft.com/office/drawing/2014/main" id="{EA074AA7-F96C-CA20-68EA-B5215F2C33FA}"/>
              </a:ext>
            </a:extLst>
          </p:cNvPr>
          <p:cNvCxnSpPr>
            <a:cxnSpLocks/>
          </p:cNvCxnSpPr>
          <p:nvPr/>
        </p:nvCxnSpPr>
        <p:spPr>
          <a:xfrm>
            <a:off x="7333479" y="5104312"/>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cxnSp>
        <p:nvCxnSpPr>
          <p:cNvPr id="787" name="Straight Connector 786">
            <a:extLst>
              <a:ext uri="{FF2B5EF4-FFF2-40B4-BE49-F238E27FC236}">
                <a16:creationId xmlns:a16="http://schemas.microsoft.com/office/drawing/2014/main" id="{119ACBFA-65C8-983A-F85C-DC9B48516150}"/>
              </a:ext>
            </a:extLst>
          </p:cNvPr>
          <p:cNvCxnSpPr>
            <a:cxnSpLocks/>
          </p:cNvCxnSpPr>
          <p:nvPr/>
        </p:nvCxnSpPr>
        <p:spPr>
          <a:xfrm>
            <a:off x="7348715" y="5355707"/>
            <a:ext cx="700857" cy="0"/>
          </a:xfrm>
          <a:prstGeom prst="line">
            <a:avLst/>
          </a:prstGeom>
          <a:noFill/>
          <a:ln w="38100" cap="flat">
            <a:solidFill>
              <a:schemeClr val="tx1"/>
            </a:solidFill>
            <a:prstDash val="solid"/>
            <a:miter lim="400000"/>
          </a:ln>
          <a:effectLst/>
          <a:sp3d/>
        </p:spPr>
        <p:style>
          <a:lnRef idx="0">
            <a:scrgbClr r="0" g="0" b="0"/>
          </a:lnRef>
          <a:fillRef idx="0">
            <a:scrgbClr r="0" g="0" b="0"/>
          </a:fillRef>
          <a:effectRef idx="0">
            <a:scrgbClr r="0" g="0" b="0"/>
          </a:effectRef>
          <a:fontRef idx="none"/>
        </p:style>
      </p:cxnSp>
      <p:sp>
        <p:nvSpPr>
          <p:cNvPr id="10" name="Left Brace 9">
            <a:extLst>
              <a:ext uri="{FF2B5EF4-FFF2-40B4-BE49-F238E27FC236}">
                <a16:creationId xmlns:a16="http://schemas.microsoft.com/office/drawing/2014/main" id="{96647FBA-CF5A-A333-F236-7645316A91D1}"/>
              </a:ext>
            </a:extLst>
          </p:cNvPr>
          <p:cNvSpPr/>
          <p:nvPr/>
        </p:nvSpPr>
        <p:spPr>
          <a:xfrm>
            <a:off x="2443716" y="2681320"/>
            <a:ext cx="273503" cy="758163"/>
          </a:xfrm>
          <a:prstGeom prst="leftBrace">
            <a:avLst/>
          </a:prstGeom>
          <a:noFill/>
          <a:ln w="38100" cap="flat">
            <a:solidFill>
              <a:srgbClr val="FFB627"/>
            </a:solid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latin typeface="Roboto" panose="02000000000000000000" pitchFamily="2" charset="0"/>
              <a:ea typeface="Roboto" panose="02000000000000000000" pitchFamily="2" charset="0"/>
              <a:cs typeface="Roboto" panose="02000000000000000000" pitchFamily="2" charset="0"/>
            </a:endParaRPr>
          </a:p>
        </p:txBody>
      </p:sp>
      <p:sp>
        <p:nvSpPr>
          <p:cNvPr id="14" name="Text Box 717">
            <a:extLst>
              <a:ext uri="{FF2B5EF4-FFF2-40B4-BE49-F238E27FC236}">
                <a16:creationId xmlns:a16="http://schemas.microsoft.com/office/drawing/2014/main" id="{A359EAA2-175F-1E6F-703C-E47BBC005BE3}"/>
              </a:ext>
            </a:extLst>
          </p:cNvPr>
          <p:cNvSpPr txBox="1">
            <a:spLocks noChangeArrowheads="1"/>
          </p:cNvSpPr>
          <p:nvPr/>
        </p:nvSpPr>
        <p:spPr bwMode="auto">
          <a:xfrm>
            <a:off x="837982" y="6053696"/>
            <a:ext cx="52742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0800" cmpd="dbl">
                <a:solidFill>
                  <a:srgbClr val="000000"/>
                </a:solidFill>
                <a:miter lim="800000"/>
                <a:headEnd/>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i="1" dirty="0">
                <a:solidFill>
                  <a:srgbClr val="191C25"/>
                </a:solidFill>
                <a:latin typeface="Roboto" panose="02000000000000000000" pitchFamily="2" charset="0"/>
                <a:ea typeface="Roboto" panose="02000000000000000000" pitchFamily="2" charset="0"/>
                <a:cs typeface="Roboto" panose="02000000000000000000" pitchFamily="2" charset="0"/>
              </a:rPr>
              <a:t>* Takt time = rate at which one product needs to be produced to meet </a:t>
            </a:r>
            <a:r>
              <a:rPr lang="en-US" altLang="en-US" sz="1000" i="1" dirty="0">
                <a:solidFill>
                  <a:srgbClr val="191C25"/>
                </a:solidFill>
                <a:latin typeface="Roboto" panose="02000000000000000000" pitchFamily="2" charset="0"/>
                <a:ea typeface="Roboto" panose="02000000000000000000" pitchFamily="2" charset="0"/>
                <a:cs typeface="Roboto" panose="02000000000000000000" pitchFamily="2" charset="0"/>
              </a:rPr>
              <a:t>aggregate</a:t>
            </a:r>
            <a:r>
              <a:rPr lang="en-US" altLang="en-US" i="1" dirty="0">
                <a:solidFill>
                  <a:srgbClr val="191C25"/>
                </a:solidFill>
                <a:latin typeface="Roboto" panose="02000000000000000000" pitchFamily="2" charset="0"/>
                <a:ea typeface="Roboto" panose="02000000000000000000" pitchFamily="2" charset="0"/>
                <a:cs typeface="Roboto" panose="02000000000000000000" pitchFamily="2" charset="0"/>
              </a:rPr>
              <a:t> customer demand</a:t>
            </a:r>
          </a:p>
        </p:txBody>
      </p:sp>
      <p:sp>
        <p:nvSpPr>
          <p:cNvPr id="17" name="Rectangle: Rounded Corners 16">
            <a:extLst>
              <a:ext uri="{FF2B5EF4-FFF2-40B4-BE49-F238E27FC236}">
                <a16:creationId xmlns:a16="http://schemas.microsoft.com/office/drawing/2014/main" id="{7CDEE45D-DA8A-D97A-53DE-B701F7DCADF4}"/>
              </a:ext>
            </a:extLst>
          </p:cNvPr>
          <p:cNvSpPr/>
          <p:nvPr/>
        </p:nvSpPr>
        <p:spPr>
          <a:xfrm>
            <a:off x="2851386" y="2726635"/>
            <a:ext cx="700855" cy="397256"/>
          </a:xfrm>
          <a:prstGeom prst="roundRect">
            <a:avLst/>
          </a:prstGeom>
          <a:noFill/>
          <a:ln w="38100" cap="flat">
            <a:solidFill>
              <a:srgbClr val="FFB627"/>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endParaRPr>
          </a:p>
        </p:txBody>
      </p:sp>
      <p:grpSp>
        <p:nvGrpSpPr>
          <p:cNvPr id="18" name="Group 17">
            <a:extLst>
              <a:ext uri="{FF2B5EF4-FFF2-40B4-BE49-F238E27FC236}">
                <a16:creationId xmlns:a16="http://schemas.microsoft.com/office/drawing/2014/main" id="{D7D04BC5-4737-D892-7678-EB5130A76C55}"/>
              </a:ext>
            </a:extLst>
          </p:cNvPr>
          <p:cNvGrpSpPr/>
          <p:nvPr/>
        </p:nvGrpSpPr>
        <p:grpSpPr>
          <a:xfrm>
            <a:off x="940249" y="319790"/>
            <a:ext cx="6219503" cy="311932"/>
            <a:chOff x="940249" y="302538"/>
            <a:chExt cx="6219503" cy="311932"/>
          </a:xfrm>
        </p:grpSpPr>
        <p:sp>
          <p:nvSpPr>
            <p:cNvPr id="19" name="TextBox 18">
              <a:extLst>
                <a:ext uri="{FF2B5EF4-FFF2-40B4-BE49-F238E27FC236}">
                  <a16:creationId xmlns:a16="http://schemas.microsoft.com/office/drawing/2014/main" id="{FE627505-0E0C-BB8E-9A1E-A6BEEFD003F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0" name="AutoShape 9">
              <a:extLst>
                <a:ext uri="{FF2B5EF4-FFF2-40B4-BE49-F238E27FC236}">
                  <a16:creationId xmlns:a16="http://schemas.microsoft.com/office/drawing/2014/main" id="{F4723871-64D8-DED9-42A1-80D7E2F207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AutoShape 9">
              <a:extLst>
                <a:ext uri="{FF2B5EF4-FFF2-40B4-BE49-F238E27FC236}">
                  <a16:creationId xmlns:a16="http://schemas.microsoft.com/office/drawing/2014/main" id="{CD147CE1-78DA-75B5-5670-4B637BC1FE1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AutoShape 9">
              <a:extLst>
                <a:ext uri="{FF2B5EF4-FFF2-40B4-BE49-F238E27FC236}">
                  <a16:creationId xmlns:a16="http://schemas.microsoft.com/office/drawing/2014/main" id="{1253C99D-30D1-6393-CBFD-6E840B755CC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AutoShape 9">
              <a:extLst>
                <a:ext uri="{FF2B5EF4-FFF2-40B4-BE49-F238E27FC236}">
                  <a16:creationId xmlns:a16="http://schemas.microsoft.com/office/drawing/2014/main" id="{0C2133D0-B84C-645A-2518-E1ECD4BB1814}"/>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 name="AutoShape 11">
              <a:extLst>
                <a:ext uri="{FF2B5EF4-FFF2-40B4-BE49-F238E27FC236}">
                  <a16:creationId xmlns:a16="http://schemas.microsoft.com/office/drawing/2014/main" id="{ACC97962-7F7A-C28C-5E9B-5896CA93A37A}"/>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3" name="Rectangle 3">
            <a:extLst>
              <a:ext uri="{FF2B5EF4-FFF2-40B4-BE49-F238E27FC236}">
                <a16:creationId xmlns:a16="http://schemas.microsoft.com/office/drawing/2014/main" id="{3E45F62F-511C-64BA-F42E-C7B070BC292E}"/>
              </a:ext>
            </a:extLst>
          </p:cNvPr>
          <p:cNvSpPr txBox="1">
            <a:spLocks noChangeArrowheads="1"/>
          </p:cNvSpPr>
          <p:nvPr/>
        </p:nvSpPr>
        <p:spPr>
          <a:xfrm>
            <a:off x="542775" y="2313728"/>
            <a:ext cx="1712480" cy="3231666"/>
          </a:xfrm>
          <a:prstGeom prst="rect">
            <a:avLst/>
          </a:prstGeom>
        </p:spPr>
        <p:txBody>
          <a:bodyPr/>
          <a:lstStyle>
            <a:lvl1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1pPr>
            <a:lvl2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2pPr>
            <a:lvl3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3pPr>
            <a:lvl4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4pPr>
            <a:lvl5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5pPr>
            <a:lvl6pPr marL="0" marR="0" indent="3556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6pPr>
            <a:lvl7pPr marL="0" marR="0" indent="7112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7pPr>
            <a:lvl8pPr marL="0" marR="0" indent="10668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8pPr>
            <a:lvl9pPr marL="0" marR="0" indent="14224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9pPr>
          </a:lstStyle>
          <a:p>
            <a:pPr algn="l" hangingPunct="1">
              <a:buClr>
                <a:schemeClr val="accent2"/>
              </a:buClr>
              <a:buSzPct val="90000"/>
            </a:pP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The aggregate demand for all products within the product family will be used to calculate the Takt time* for the value stream</a:t>
            </a:r>
          </a:p>
          <a:p>
            <a:pPr algn="l" hangingPunct="1">
              <a:buClr>
                <a:schemeClr val="accent2"/>
              </a:buClr>
              <a:buSzPct val="90000"/>
            </a:pPr>
            <a:endPar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endParaRPr>
          </a:p>
        </p:txBody>
      </p:sp>
      <p:cxnSp>
        <p:nvCxnSpPr>
          <p:cNvPr id="35" name="Straight Connector 34">
            <a:extLst>
              <a:ext uri="{FF2B5EF4-FFF2-40B4-BE49-F238E27FC236}">
                <a16:creationId xmlns:a16="http://schemas.microsoft.com/office/drawing/2014/main" id="{5A2C376D-D862-AB27-BB7E-18B616162390}"/>
              </a:ext>
            </a:extLst>
          </p:cNvPr>
          <p:cNvCxnSpPr>
            <a:cxnSpLocks/>
          </p:cNvCxnSpPr>
          <p:nvPr/>
        </p:nvCxnSpPr>
        <p:spPr>
          <a:xfrm>
            <a:off x="2449032" y="2303589"/>
            <a:ext cx="0" cy="770257"/>
          </a:xfrm>
          <a:prstGeom prst="line">
            <a:avLst/>
          </a:prstGeom>
          <a:ln w="38100">
            <a:solidFill>
              <a:srgbClr val="FFB62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725288"/>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A03B43-879E-00EB-435C-D5BF626DD62F}"/>
              </a:ext>
            </a:extLst>
          </p:cNvPr>
          <p:cNvSpPr>
            <a:spLocks noGrp="1"/>
          </p:cNvSpPr>
          <p:nvPr>
            <p:ph type="title"/>
          </p:nvPr>
        </p:nvSpPr>
        <p:spPr/>
        <p:txBody>
          <a:bodyPr>
            <a:noAutofit/>
          </a:bodyPr>
          <a:lstStyle/>
          <a:p>
            <a:r>
              <a:rPr lang="en-US" sz="3599" dirty="0"/>
              <a:t>Determine the Boundaries of the Value Stream</a:t>
            </a:r>
          </a:p>
        </p:txBody>
      </p:sp>
      <p:sp>
        <p:nvSpPr>
          <p:cNvPr id="3" name="Freeform 3">
            <a:extLst>
              <a:ext uri="{FF2B5EF4-FFF2-40B4-BE49-F238E27FC236}">
                <a16:creationId xmlns:a16="http://schemas.microsoft.com/office/drawing/2014/main" id="{535E769F-5951-FD8F-8481-94480394D309}"/>
              </a:ext>
            </a:extLst>
          </p:cNvPr>
          <p:cNvSpPr>
            <a:spLocks/>
          </p:cNvSpPr>
          <p:nvPr/>
        </p:nvSpPr>
        <p:spPr bwMode="auto">
          <a:xfrm>
            <a:off x="2971026" y="1999036"/>
            <a:ext cx="7115452" cy="4364844"/>
          </a:xfrm>
          <a:custGeom>
            <a:avLst/>
            <a:gdLst>
              <a:gd name="T0" fmla="*/ 2147483646 w 2092"/>
              <a:gd name="T1" fmla="*/ 2147483646 h 1668"/>
              <a:gd name="T2" fmla="*/ 2147483646 w 2092"/>
              <a:gd name="T3" fmla="*/ 2147483646 h 1668"/>
              <a:gd name="T4" fmla="*/ 2147483646 w 2092"/>
              <a:gd name="T5" fmla="*/ 2147483646 h 1668"/>
              <a:gd name="T6" fmla="*/ 2147483646 w 2092"/>
              <a:gd name="T7" fmla="*/ 2147483646 h 1668"/>
              <a:gd name="T8" fmla="*/ 2147483646 w 2092"/>
              <a:gd name="T9" fmla="*/ 2147483646 h 1668"/>
              <a:gd name="T10" fmla="*/ 2147483646 w 2092"/>
              <a:gd name="T11" fmla="*/ 2147483646 h 1668"/>
              <a:gd name="T12" fmla="*/ 2147483646 w 2092"/>
              <a:gd name="T13" fmla="*/ 2147483646 h 1668"/>
              <a:gd name="T14" fmla="*/ 2147483646 w 2092"/>
              <a:gd name="T15" fmla="*/ 2147483646 h 1668"/>
              <a:gd name="T16" fmla="*/ 2147483646 w 2092"/>
              <a:gd name="T17" fmla="*/ 2147483646 h 1668"/>
              <a:gd name="T18" fmla="*/ 2147483646 w 2092"/>
              <a:gd name="T19" fmla="*/ 2147483646 h 1668"/>
              <a:gd name="T20" fmla="*/ 2147483646 w 2092"/>
              <a:gd name="T21" fmla="*/ 2147483646 h 1668"/>
              <a:gd name="T22" fmla="*/ 2147483646 w 2092"/>
              <a:gd name="T23" fmla="*/ 2147483646 h 1668"/>
              <a:gd name="T24" fmla="*/ 2147483646 w 2092"/>
              <a:gd name="T25" fmla="*/ 2147483646 h 1668"/>
              <a:gd name="T26" fmla="*/ 2147483646 w 2092"/>
              <a:gd name="T27" fmla="*/ 2147483646 h 1668"/>
              <a:gd name="T28" fmla="*/ 2147483646 w 2092"/>
              <a:gd name="T29" fmla="*/ 2147483646 h 1668"/>
              <a:gd name="T30" fmla="*/ 2147483646 w 2092"/>
              <a:gd name="T31" fmla="*/ 2147483646 h 1668"/>
              <a:gd name="T32" fmla="*/ 2147483646 w 2092"/>
              <a:gd name="T33" fmla="*/ 2147483646 h 1668"/>
              <a:gd name="T34" fmla="*/ 2147483646 w 2092"/>
              <a:gd name="T35" fmla="*/ 2147483646 h 1668"/>
              <a:gd name="T36" fmla="*/ 2147483646 w 2092"/>
              <a:gd name="T37" fmla="*/ 2147483646 h 1668"/>
              <a:gd name="T38" fmla="*/ 2147483646 w 2092"/>
              <a:gd name="T39" fmla="*/ 2147483646 h 1668"/>
              <a:gd name="T40" fmla="*/ 2147483646 w 2092"/>
              <a:gd name="T41" fmla="*/ 2147483646 h 1668"/>
              <a:gd name="T42" fmla="*/ 2147483646 w 2092"/>
              <a:gd name="T43" fmla="*/ 2147483646 h 1668"/>
              <a:gd name="T44" fmla="*/ 2147483646 w 2092"/>
              <a:gd name="T45" fmla="*/ 2147483646 h 1668"/>
              <a:gd name="T46" fmla="*/ 2147483646 w 2092"/>
              <a:gd name="T47" fmla="*/ 2147483646 h 1668"/>
              <a:gd name="T48" fmla="*/ 2147483646 w 2092"/>
              <a:gd name="T49" fmla="*/ 2147483646 h 1668"/>
              <a:gd name="T50" fmla="*/ 2147483646 w 2092"/>
              <a:gd name="T51" fmla="*/ 2147483646 h 1668"/>
              <a:gd name="T52" fmla="*/ 2147483646 w 2092"/>
              <a:gd name="T53" fmla="*/ 0 h 1668"/>
              <a:gd name="T54" fmla="*/ 2147483646 w 2092"/>
              <a:gd name="T55" fmla="*/ 0 h 1668"/>
              <a:gd name="T56" fmla="*/ 0 w 2092"/>
              <a:gd name="T57" fmla="*/ 0 h 1668"/>
              <a:gd name="T58" fmla="*/ 2147483646 w 2092"/>
              <a:gd name="T59" fmla="*/ 2147483646 h 1668"/>
              <a:gd name="T60" fmla="*/ 2147483646 w 2092"/>
              <a:gd name="T61" fmla="*/ 2147483646 h 1668"/>
              <a:gd name="T62" fmla="*/ 2147483646 w 2092"/>
              <a:gd name="T63" fmla="*/ 2147483646 h 1668"/>
              <a:gd name="T64" fmla="*/ 2147483646 w 2092"/>
              <a:gd name="T65" fmla="*/ 2147483646 h 1668"/>
              <a:gd name="T66" fmla="*/ 2147483646 w 2092"/>
              <a:gd name="T67" fmla="*/ 2147483646 h 1668"/>
              <a:gd name="T68" fmla="*/ 2147483646 w 2092"/>
              <a:gd name="T69" fmla="*/ 2147483646 h 1668"/>
              <a:gd name="T70" fmla="*/ 2147483646 w 2092"/>
              <a:gd name="T71" fmla="*/ 2147483646 h 1668"/>
              <a:gd name="T72" fmla="*/ 2147483646 w 2092"/>
              <a:gd name="T73" fmla="*/ 2147483646 h 1668"/>
              <a:gd name="T74" fmla="*/ 2147483646 w 2092"/>
              <a:gd name="T75" fmla="*/ 2147483646 h 1668"/>
              <a:gd name="T76" fmla="*/ 2147483646 w 2092"/>
              <a:gd name="T77" fmla="*/ 2147483646 h 1668"/>
              <a:gd name="T78" fmla="*/ 2147483646 w 2092"/>
              <a:gd name="T79" fmla="*/ 2147483646 h 1668"/>
              <a:gd name="T80" fmla="*/ 2147483646 w 2092"/>
              <a:gd name="T81" fmla="*/ 2147483646 h 1668"/>
              <a:gd name="T82" fmla="*/ 2147483646 w 2092"/>
              <a:gd name="T83" fmla="*/ 2147483646 h 1668"/>
              <a:gd name="T84" fmla="*/ 2147483646 w 2092"/>
              <a:gd name="T85" fmla="*/ 2147483646 h 1668"/>
              <a:gd name="T86" fmla="*/ 2147483646 w 2092"/>
              <a:gd name="T87" fmla="*/ 2147483646 h 1668"/>
              <a:gd name="T88" fmla="*/ 2147483646 w 2092"/>
              <a:gd name="T89" fmla="*/ 2147483646 h 1668"/>
              <a:gd name="T90" fmla="*/ 2147483646 w 2092"/>
              <a:gd name="T91" fmla="*/ 2147483646 h 1668"/>
              <a:gd name="T92" fmla="*/ 2147483646 w 2092"/>
              <a:gd name="T93" fmla="*/ 2147483646 h 1668"/>
              <a:gd name="T94" fmla="*/ 2147483646 w 2092"/>
              <a:gd name="T95" fmla="*/ 2147483646 h 1668"/>
              <a:gd name="T96" fmla="*/ 2147483646 w 2092"/>
              <a:gd name="T97" fmla="*/ 2147483646 h 1668"/>
              <a:gd name="T98" fmla="*/ 2147483646 w 2092"/>
              <a:gd name="T99" fmla="*/ 2147483646 h 1668"/>
              <a:gd name="T100" fmla="*/ 2147483646 w 2092"/>
              <a:gd name="T101" fmla="*/ 2147483646 h 16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2"/>
              <a:gd name="T154" fmla="*/ 0 h 1668"/>
              <a:gd name="T155" fmla="*/ 2092 w 2092"/>
              <a:gd name="T156" fmla="*/ 1668 h 16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2" h="1668">
                <a:moveTo>
                  <a:pt x="1892" y="1296"/>
                </a:moveTo>
                <a:lnTo>
                  <a:pt x="1892" y="705"/>
                </a:lnTo>
                <a:lnTo>
                  <a:pt x="1889" y="647"/>
                </a:lnTo>
                <a:lnTo>
                  <a:pt x="1881" y="589"/>
                </a:lnTo>
                <a:lnTo>
                  <a:pt x="1867" y="522"/>
                </a:lnTo>
                <a:lnTo>
                  <a:pt x="1843" y="453"/>
                </a:lnTo>
                <a:lnTo>
                  <a:pt x="1824" y="400"/>
                </a:lnTo>
                <a:lnTo>
                  <a:pt x="1790" y="331"/>
                </a:lnTo>
                <a:lnTo>
                  <a:pt x="1764" y="289"/>
                </a:lnTo>
                <a:lnTo>
                  <a:pt x="1727" y="240"/>
                </a:lnTo>
                <a:lnTo>
                  <a:pt x="1694" y="204"/>
                </a:lnTo>
                <a:lnTo>
                  <a:pt x="1656" y="169"/>
                </a:lnTo>
                <a:lnTo>
                  <a:pt x="1627" y="147"/>
                </a:lnTo>
                <a:lnTo>
                  <a:pt x="1590" y="119"/>
                </a:lnTo>
                <a:lnTo>
                  <a:pt x="1558" y="99"/>
                </a:lnTo>
                <a:lnTo>
                  <a:pt x="1525" y="81"/>
                </a:lnTo>
                <a:lnTo>
                  <a:pt x="1496" y="67"/>
                </a:lnTo>
                <a:lnTo>
                  <a:pt x="1457" y="52"/>
                </a:lnTo>
                <a:lnTo>
                  <a:pt x="1425" y="39"/>
                </a:lnTo>
                <a:lnTo>
                  <a:pt x="1384" y="28"/>
                </a:lnTo>
                <a:lnTo>
                  <a:pt x="1346" y="18"/>
                </a:lnTo>
                <a:lnTo>
                  <a:pt x="1306" y="13"/>
                </a:lnTo>
                <a:lnTo>
                  <a:pt x="1266" y="7"/>
                </a:lnTo>
                <a:lnTo>
                  <a:pt x="1216" y="4"/>
                </a:lnTo>
                <a:lnTo>
                  <a:pt x="1177" y="3"/>
                </a:lnTo>
                <a:lnTo>
                  <a:pt x="1133" y="1"/>
                </a:lnTo>
                <a:lnTo>
                  <a:pt x="1091" y="0"/>
                </a:lnTo>
                <a:lnTo>
                  <a:pt x="1046" y="0"/>
                </a:lnTo>
                <a:lnTo>
                  <a:pt x="0" y="0"/>
                </a:lnTo>
                <a:lnTo>
                  <a:pt x="365" y="353"/>
                </a:lnTo>
                <a:lnTo>
                  <a:pt x="1049" y="354"/>
                </a:lnTo>
                <a:lnTo>
                  <a:pt x="1091" y="356"/>
                </a:lnTo>
                <a:lnTo>
                  <a:pt x="1135" y="360"/>
                </a:lnTo>
                <a:lnTo>
                  <a:pt x="1179" y="368"/>
                </a:lnTo>
                <a:lnTo>
                  <a:pt x="1221" y="380"/>
                </a:lnTo>
                <a:lnTo>
                  <a:pt x="1261" y="396"/>
                </a:lnTo>
                <a:lnTo>
                  <a:pt x="1300" y="417"/>
                </a:lnTo>
                <a:lnTo>
                  <a:pt x="1334" y="442"/>
                </a:lnTo>
                <a:lnTo>
                  <a:pt x="1367" y="470"/>
                </a:lnTo>
                <a:lnTo>
                  <a:pt x="1394" y="501"/>
                </a:lnTo>
                <a:lnTo>
                  <a:pt x="1418" y="535"/>
                </a:lnTo>
                <a:lnTo>
                  <a:pt x="1437" y="570"/>
                </a:lnTo>
                <a:lnTo>
                  <a:pt x="1450" y="608"/>
                </a:lnTo>
                <a:lnTo>
                  <a:pt x="1459" y="647"/>
                </a:lnTo>
                <a:lnTo>
                  <a:pt x="1464" y="687"/>
                </a:lnTo>
                <a:lnTo>
                  <a:pt x="1464" y="729"/>
                </a:lnTo>
                <a:lnTo>
                  <a:pt x="1464" y="1298"/>
                </a:lnTo>
                <a:lnTo>
                  <a:pt x="1275" y="1298"/>
                </a:lnTo>
                <a:lnTo>
                  <a:pt x="1671" y="1667"/>
                </a:lnTo>
                <a:lnTo>
                  <a:pt x="2091" y="1296"/>
                </a:lnTo>
                <a:lnTo>
                  <a:pt x="1892" y="1296"/>
                </a:lnTo>
              </a:path>
            </a:pathLst>
          </a:custGeom>
          <a:solidFill>
            <a:srgbClr val="FFB627"/>
          </a:solidFill>
          <a:ln w="12700" cap="sq">
            <a:solidFill>
              <a:schemeClr val="tx1"/>
            </a:solidFill>
            <a:miter lim="800000"/>
            <a:headEnd/>
            <a:tailEnd/>
          </a:ln>
        </p:spPr>
        <p:txBody>
          <a:bodyPr wrap="none" anchor="ctr"/>
          <a:lstStyle/>
          <a:p>
            <a:endParaRPr lang="en-US" sz="2798"/>
          </a:p>
        </p:txBody>
      </p:sp>
      <p:sp>
        <p:nvSpPr>
          <p:cNvPr id="4" name="Freeform 4">
            <a:extLst>
              <a:ext uri="{FF2B5EF4-FFF2-40B4-BE49-F238E27FC236}">
                <a16:creationId xmlns:a16="http://schemas.microsoft.com/office/drawing/2014/main" id="{6144DC4B-ACE6-9D0E-25D6-EC2DAFFFB713}"/>
              </a:ext>
            </a:extLst>
          </p:cNvPr>
          <p:cNvSpPr>
            <a:spLocks/>
          </p:cNvSpPr>
          <p:nvPr/>
        </p:nvSpPr>
        <p:spPr bwMode="auto">
          <a:xfrm>
            <a:off x="871925" y="1999036"/>
            <a:ext cx="7067655" cy="4364844"/>
          </a:xfrm>
          <a:custGeom>
            <a:avLst/>
            <a:gdLst>
              <a:gd name="T0" fmla="*/ 2147483646 w 2072"/>
              <a:gd name="T1" fmla="*/ 2147483646 h 1663"/>
              <a:gd name="T2" fmla="*/ 2147483646 w 2072"/>
              <a:gd name="T3" fmla="*/ 2147483646 h 1663"/>
              <a:gd name="T4" fmla="*/ 2147483646 w 2072"/>
              <a:gd name="T5" fmla="*/ 2147483646 h 1663"/>
              <a:gd name="T6" fmla="*/ 2147483646 w 2072"/>
              <a:gd name="T7" fmla="*/ 2147483646 h 1663"/>
              <a:gd name="T8" fmla="*/ 2147483646 w 2072"/>
              <a:gd name="T9" fmla="*/ 2147483646 h 1663"/>
              <a:gd name="T10" fmla="*/ 2147483646 w 2072"/>
              <a:gd name="T11" fmla="*/ 2147483646 h 1663"/>
              <a:gd name="T12" fmla="*/ 2147483646 w 2072"/>
              <a:gd name="T13" fmla="*/ 2147483646 h 1663"/>
              <a:gd name="T14" fmla="*/ 2147483646 w 2072"/>
              <a:gd name="T15" fmla="*/ 2147483646 h 1663"/>
              <a:gd name="T16" fmla="*/ 2147483646 w 2072"/>
              <a:gd name="T17" fmla="*/ 2147483646 h 1663"/>
              <a:gd name="T18" fmla="*/ 2147483646 w 2072"/>
              <a:gd name="T19" fmla="*/ 2147483646 h 1663"/>
              <a:gd name="T20" fmla="*/ 2147483646 w 2072"/>
              <a:gd name="T21" fmla="*/ 2147483646 h 1663"/>
              <a:gd name="T22" fmla="*/ 2147483646 w 2072"/>
              <a:gd name="T23" fmla="*/ 2147483646 h 1663"/>
              <a:gd name="T24" fmla="*/ 2147483646 w 2072"/>
              <a:gd name="T25" fmla="*/ 2147483646 h 1663"/>
              <a:gd name="T26" fmla="*/ 2147483646 w 2072"/>
              <a:gd name="T27" fmla="*/ 2147483646 h 1663"/>
              <a:gd name="T28" fmla="*/ 2147483646 w 2072"/>
              <a:gd name="T29" fmla="*/ 2147483646 h 1663"/>
              <a:gd name="T30" fmla="*/ 2147483646 w 2072"/>
              <a:gd name="T31" fmla="*/ 2147483646 h 1663"/>
              <a:gd name="T32" fmla="*/ 2147483646 w 2072"/>
              <a:gd name="T33" fmla="*/ 2147483646 h 1663"/>
              <a:gd name="T34" fmla="*/ 2147483646 w 2072"/>
              <a:gd name="T35" fmla="*/ 2147483646 h 1663"/>
              <a:gd name="T36" fmla="*/ 2147483646 w 2072"/>
              <a:gd name="T37" fmla="*/ 2147483646 h 1663"/>
              <a:gd name="T38" fmla="*/ 2147483646 w 2072"/>
              <a:gd name="T39" fmla="*/ 2147483646 h 1663"/>
              <a:gd name="T40" fmla="*/ 2147483646 w 2072"/>
              <a:gd name="T41" fmla="*/ 2147483646 h 1663"/>
              <a:gd name="T42" fmla="*/ 2147483646 w 2072"/>
              <a:gd name="T43" fmla="*/ 2147483646 h 1663"/>
              <a:gd name="T44" fmla="*/ 2147483646 w 2072"/>
              <a:gd name="T45" fmla="*/ 2147483646 h 1663"/>
              <a:gd name="T46" fmla="*/ 2147483646 w 2072"/>
              <a:gd name="T47" fmla="*/ 2147483646 h 1663"/>
              <a:gd name="T48" fmla="*/ 2147483646 w 2072"/>
              <a:gd name="T49" fmla="*/ 2147483646 h 1663"/>
              <a:gd name="T50" fmla="*/ 2147483646 w 2072"/>
              <a:gd name="T51" fmla="*/ 2147483646 h 1663"/>
              <a:gd name="T52" fmla="*/ 2147483646 w 2072"/>
              <a:gd name="T53" fmla="*/ 2147483646 h 1663"/>
              <a:gd name="T54" fmla="*/ 2147483646 w 2072"/>
              <a:gd name="T55" fmla="*/ 2147483646 h 1663"/>
              <a:gd name="T56" fmla="*/ 2147483646 w 2072"/>
              <a:gd name="T57" fmla="*/ 2147483646 h 1663"/>
              <a:gd name="T58" fmla="*/ 2147483646 w 2072"/>
              <a:gd name="T59" fmla="*/ 2147483646 h 1663"/>
              <a:gd name="T60" fmla="*/ 2147483646 w 2072"/>
              <a:gd name="T61" fmla="*/ 2147483646 h 1663"/>
              <a:gd name="T62" fmla="*/ 2147483646 w 2072"/>
              <a:gd name="T63" fmla="*/ 2147483646 h 1663"/>
              <a:gd name="T64" fmla="*/ 2147483646 w 2072"/>
              <a:gd name="T65" fmla="*/ 2147483646 h 1663"/>
              <a:gd name="T66" fmla="*/ 2147483646 w 2072"/>
              <a:gd name="T67" fmla="*/ 2147483646 h 1663"/>
              <a:gd name="T68" fmla="*/ 2147483646 w 2072"/>
              <a:gd name="T69" fmla="*/ 2147483646 h 1663"/>
              <a:gd name="T70" fmla="*/ 2147483646 w 2072"/>
              <a:gd name="T71" fmla="*/ 2147483646 h 1663"/>
              <a:gd name="T72" fmla="*/ 2147483646 w 2072"/>
              <a:gd name="T73" fmla="*/ 2147483646 h 1663"/>
              <a:gd name="T74" fmla="*/ 2147483646 w 2072"/>
              <a:gd name="T75" fmla="*/ 2147483646 h 1663"/>
              <a:gd name="T76" fmla="*/ 2147483646 w 2072"/>
              <a:gd name="T77" fmla="*/ 2147483646 h 1663"/>
              <a:gd name="T78" fmla="*/ 2147483646 w 2072"/>
              <a:gd name="T79" fmla="*/ 2147483646 h 1663"/>
              <a:gd name="T80" fmla="*/ 2147483646 w 2072"/>
              <a:gd name="T81" fmla="*/ 2147483646 h 1663"/>
              <a:gd name="T82" fmla="*/ 2147483646 w 2072"/>
              <a:gd name="T83" fmla="*/ 2147483646 h 1663"/>
              <a:gd name="T84" fmla="*/ 2147483646 w 2072"/>
              <a:gd name="T85" fmla="*/ 2147483646 h 1663"/>
              <a:gd name="T86" fmla="*/ 2147483646 w 2072"/>
              <a:gd name="T87" fmla="*/ 2147483646 h 1663"/>
              <a:gd name="T88" fmla="*/ 2147483646 w 2072"/>
              <a:gd name="T89" fmla="*/ 2147483646 h 1663"/>
              <a:gd name="T90" fmla="*/ 2147483646 w 2072"/>
              <a:gd name="T91" fmla="*/ 2147483646 h 1663"/>
              <a:gd name="T92" fmla="*/ 2147483646 w 2072"/>
              <a:gd name="T93" fmla="*/ 2147483646 h 1663"/>
              <a:gd name="T94" fmla="*/ 2147483646 w 2072"/>
              <a:gd name="T95" fmla="*/ 2147483646 h 1663"/>
              <a:gd name="T96" fmla="*/ 2147483646 w 2072"/>
              <a:gd name="T97" fmla="*/ 0 h 1663"/>
              <a:gd name="T98" fmla="*/ 0 w 2072"/>
              <a:gd name="T99" fmla="*/ 2147483646 h 1663"/>
              <a:gd name="T100" fmla="*/ 2147483646 w 2072"/>
              <a:gd name="T101" fmla="*/ 2147483646 h 16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72"/>
              <a:gd name="T154" fmla="*/ 0 h 1663"/>
              <a:gd name="T155" fmla="*/ 2072 w 2072"/>
              <a:gd name="T156" fmla="*/ 1663 h 16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72" h="1663">
                <a:moveTo>
                  <a:pt x="179" y="363"/>
                </a:moveTo>
                <a:lnTo>
                  <a:pt x="179" y="957"/>
                </a:lnTo>
                <a:lnTo>
                  <a:pt x="180" y="1016"/>
                </a:lnTo>
                <a:lnTo>
                  <a:pt x="188" y="1072"/>
                </a:lnTo>
                <a:lnTo>
                  <a:pt x="200" y="1130"/>
                </a:lnTo>
                <a:lnTo>
                  <a:pt x="217" y="1186"/>
                </a:lnTo>
                <a:lnTo>
                  <a:pt x="239" y="1241"/>
                </a:lnTo>
                <a:lnTo>
                  <a:pt x="265" y="1294"/>
                </a:lnTo>
                <a:lnTo>
                  <a:pt x="296" y="1345"/>
                </a:lnTo>
                <a:lnTo>
                  <a:pt x="333" y="1392"/>
                </a:lnTo>
                <a:lnTo>
                  <a:pt x="372" y="1439"/>
                </a:lnTo>
                <a:lnTo>
                  <a:pt x="416" y="1482"/>
                </a:lnTo>
                <a:lnTo>
                  <a:pt x="464" y="1521"/>
                </a:lnTo>
                <a:lnTo>
                  <a:pt x="509" y="1553"/>
                </a:lnTo>
                <a:lnTo>
                  <a:pt x="552" y="1579"/>
                </a:lnTo>
                <a:lnTo>
                  <a:pt x="589" y="1597"/>
                </a:lnTo>
                <a:lnTo>
                  <a:pt x="618" y="1609"/>
                </a:lnTo>
                <a:lnTo>
                  <a:pt x="657" y="1624"/>
                </a:lnTo>
                <a:lnTo>
                  <a:pt x="691" y="1632"/>
                </a:lnTo>
                <a:lnTo>
                  <a:pt x="730" y="1642"/>
                </a:lnTo>
                <a:lnTo>
                  <a:pt x="772" y="1650"/>
                </a:lnTo>
                <a:lnTo>
                  <a:pt x="813" y="1655"/>
                </a:lnTo>
                <a:lnTo>
                  <a:pt x="852" y="1658"/>
                </a:lnTo>
                <a:lnTo>
                  <a:pt x="893" y="1661"/>
                </a:lnTo>
                <a:lnTo>
                  <a:pt x="935" y="1660"/>
                </a:lnTo>
                <a:lnTo>
                  <a:pt x="980" y="1662"/>
                </a:lnTo>
                <a:lnTo>
                  <a:pt x="1023" y="1662"/>
                </a:lnTo>
                <a:lnTo>
                  <a:pt x="2071" y="1662"/>
                </a:lnTo>
                <a:lnTo>
                  <a:pt x="1704" y="1306"/>
                </a:lnTo>
                <a:lnTo>
                  <a:pt x="1008" y="1306"/>
                </a:lnTo>
                <a:lnTo>
                  <a:pt x="966" y="1306"/>
                </a:lnTo>
                <a:lnTo>
                  <a:pt x="935" y="1302"/>
                </a:lnTo>
                <a:lnTo>
                  <a:pt x="891" y="1294"/>
                </a:lnTo>
                <a:lnTo>
                  <a:pt x="849" y="1282"/>
                </a:lnTo>
                <a:lnTo>
                  <a:pt x="808" y="1265"/>
                </a:lnTo>
                <a:lnTo>
                  <a:pt x="770" y="1244"/>
                </a:lnTo>
                <a:lnTo>
                  <a:pt x="734" y="1220"/>
                </a:lnTo>
                <a:lnTo>
                  <a:pt x="704" y="1192"/>
                </a:lnTo>
                <a:lnTo>
                  <a:pt x="674" y="1161"/>
                </a:lnTo>
                <a:lnTo>
                  <a:pt x="652" y="1128"/>
                </a:lnTo>
                <a:lnTo>
                  <a:pt x="638" y="1105"/>
                </a:lnTo>
                <a:lnTo>
                  <a:pt x="626" y="1077"/>
                </a:lnTo>
                <a:lnTo>
                  <a:pt x="615" y="1045"/>
                </a:lnTo>
                <a:lnTo>
                  <a:pt x="609" y="1014"/>
                </a:lnTo>
                <a:lnTo>
                  <a:pt x="605" y="974"/>
                </a:lnTo>
                <a:lnTo>
                  <a:pt x="602" y="936"/>
                </a:lnTo>
                <a:lnTo>
                  <a:pt x="602" y="363"/>
                </a:lnTo>
                <a:lnTo>
                  <a:pt x="793" y="363"/>
                </a:lnTo>
                <a:lnTo>
                  <a:pt x="404" y="0"/>
                </a:lnTo>
                <a:lnTo>
                  <a:pt x="0" y="363"/>
                </a:lnTo>
                <a:lnTo>
                  <a:pt x="179" y="363"/>
                </a:lnTo>
              </a:path>
            </a:pathLst>
          </a:custGeom>
          <a:solidFill>
            <a:srgbClr val="EE3228"/>
          </a:solidFill>
          <a:ln w="6350" cap="rnd">
            <a:solidFill>
              <a:schemeClr val="folHlink"/>
            </a:solidFill>
            <a:round/>
            <a:headEnd/>
            <a:tailEnd/>
          </a:ln>
        </p:spPr>
        <p:txBody>
          <a:bodyPr/>
          <a:lstStyle/>
          <a:p>
            <a:endParaRPr lang="en-US" sz="2798"/>
          </a:p>
        </p:txBody>
      </p:sp>
      <p:sp>
        <p:nvSpPr>
          <p:cNvPr id="5" name="Text Box 5">
            <a:extLst>
              <a:ext uri="{FF2B5EF4-FFF2-40B4-BE49-F238E27FC236}">
                <a16:creationId xmlns:a16="http://schemas.microsoft.com/office/drawing/2014/main" id="{619C82F1-E0BB-2D02-83A1-941A486B95FD}"/>
              </a:ext>
            </a:extLst>
          </p:cNvPr>
          <p:cNvSpPr txBox="1">
            <a:spLocks noChangeArrowheads="1"/>
          </p:cNvSpPr>
          <p:nvPr/>
        </p:nvSpPr>
        <p:spPr bwMode="auto">
          <a:xfrm>
            <a:off x="3182990" y="5682584"/>
            <a:ext cx="2911423" cy="330114"/>
          </a:xfrm>
          <a:prstGeom prst="rect">
            <a:avLst/>
          </a:prstGeom>
          <a:noFill/>
          <a:ln w="6350">
            <a:noFill/>
            <a:miter lim="800000"/>
            <a:headEnd/>
            <a:tailEnd/>
          </a:ln>
          <a:effectLst/>
        </p:spPr>
        <p:txBody>
          <a:bodyPr lIns="45708" rIns="45708"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1999" b="0" dirty="0"/>
              <a:t>Receipt by Customer</a:t>
            </a:r>
          </a:p>
        </p:txBody>
      </p:sp>
      <p:sp>
        <p:nvSpPr>
          <p:cNvPr id="6" name="Text Box 6">
            <a:extLst>
              <a:ext uri="{FF2B5EF4-FFF2-40B4-BE49-F238E27FC236}">
                <a16:creationId xmlns:a16="http://schemas.microsoft.com/office/drawing/2014/main" id="{CEECCD34-67D6-5BDE-C5D9-E05BAA4ADD12}"/>
              </a:ext>
            </a:extLst>
          </p:cNvPr>
          <p:cNvSpPr txBox="1">
            <a:spLocks noChangeArrowheads="1"/>
          </p:cNvSpPr>
          <p:nvPr/>
        </p:nvSpPr>
        <p:spPr bwMode="auto">
          <a:xfrm>
            <a:off x="4405753" y="2191072"/>
            <a:ext cx="2633998" cy="450433"/>
          </a:xfrm>
          <a:prstGeom prst="rect">
            <a:avLst/>
          </a:prstGeom>
          <a:noFill/>
          <a:ln w="6350">
            <a:noFill/>
            <a:miter lim="800000"/>
            <a:headEnd/>
            <a:tailEnd/>
          </a:ln>
          <a:effectLst/>
        </p:spPr>
        <p:txBody>
          <a:bodyPr lIns="45708" rIns="45708"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1999" b="0" dirty="0">
                <a:solidFill>
                  <a:schemeClr val="tx1"/>
                </a:solidFill>
                <a:effectLst>
                  <a:outerShdw blurRad="38100" dist="38100" dir="2700000" algn="tl">
                    <a:srgbClr val="C0C0C0"/>
                  </a:outerShdw>
                </a:effectLst>
              </a:rPr>
              <a:t>Inception Point</a:t>
            </a:r>
          </a:p>
        </p:txBody>
      </p:sp>
      <p:sp>
        <p:nvSpPr>
          <p:cNvPr id="7" name="Text Box 7">
            <a:extLst>
              <a:ext uri="{FF2B5EF4-FFF2-40B4-BE49-F238E27FC236}">
                <a16:creationId xmlns:a16="http://schemas.microsoft.com/office/drawing/2014/main" id="{A279F657-91E8-7D45-5912-8B5B8592E874}"/>
              </a:ext>
            </a:extLst>
          </p:cNvPr>
          <p:cNvSpPr txBox="1">
            <a:spLocks noChangeArrowheads="1"/>
          </p:cNvSpPr>
          <p:nvPr/>
        </p:nvSpPr>
        <p:spPr bwMode="auto">
          <a:xfrm>
            <a:off x="3307729" y="3431870"/>
            <a:ext cx="4225427" cy="156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2399" dirty="0"/>
              <a:t>Typically the boundaries span the processes over which the team can influence</a:t>
            </a:r>
          </a:p>
        </p:txBody>
      </p:sp>
      <p:grpSp>
        <p:nvGrpSpPr>
          <p:cNvPr id="8" name="Group 7">
            <a:extLst>
              <a:ext uri="{FF2B5EF4-FFF2-40B4-BE49-F238E27FC236}">
                <a16:creationId xmlns:a16="http://schemas.microsoft.com/office/drawing/2014/main" id="{FA8E1A00-AF96-7ACE-B485-9D4EB44D118B}"/>
              </a:ext>
            </a:extLst>
          </p:cNvPr>
          <p:cNvGrpSpPr/>
          <p:nvPr/>
        </p:nvGrpSpPr>
        <p:grpSpPr>
          <a:xfrm>
            <a:off x="940004" y="313985"/>
            <a:ext cx="6217883" cy="311851"/>
            <a:chOff x="940249" y="302538"/>
            <a:chExt cx="6219503" cy="311932"/>
          </a:xfrm>
        </p:grpSpPr>
        <p:sp>
          <p:nvSpPr>
            <p:cNvPr id="9" name="TextBox 8">
              <a:extLst>
                <a:ext uri="{FF2B5EF4-FFF2-40B4-BE49-F238E27FC236}">
                  <a16:creationId xmlns:a16="http://schemas.microsoft.com/office/drawing/2014/main" id="{C9AD156A-6363-0E70-F6AA-F14AFE4A421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0" name="AutoShape 9">
              <a:extLst>
                <a:ext uri="{FF2B5EF4-FFF2-40B4-BE49-F238E27FC236}">
                  <a16:creationId xmlns:a16="http://schemas.microsoft.com/office/drawing/2014/main" id="{D14F8EC4-9178-C55D-FA00-0EE1B09DF259}"/>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 name="AutoShape 9">
              <a:extLst>
                <a:ext uri="{FF2B5EF4-FFF2-40B4-BE49-F238E27FC236}">
                  <a16:creationId xmlns:a16="http://schemas.microsoft.com/office/drawing/2014/main" id="{2186B167-773E-549C-C7D5-8F0A5462F0B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 name="AutoShape 9">
              <a:extLst>
                <a:ext uri="{FF2B5EF4-FFF2-40B4-BE49-F238E27FC236}">
                  <a16:creationId xmlns:a16="http://schemas.microsoft.com/office/drawing/2014/main" id="{35AB28A8-44A1-73BF-08C6-39E2411B36B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9">
              <a:extLst>
                <a:ext uri="{FF2B5EF4-FFF2-40B4-BE49-F238E27FC236}">
                  <a16:creationId xmlns:a16="http://schemas.microsoft.com/office/drawing/2014/main" id="{FB9F32C1-8F40-9F59-7BEC-167B85129596}"/>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11">
              <a:extLst>
                <a:ext uri="{FF2B5EF4-FFF2-40B4-BE49-F238E27FC236}">
                  <a16:creationId xmlns:a16="http://schemas.microsoft.com/office/drawing/2014/main" id="{EBB7BE27-C525-2DBA-ACA7-8B152C69E526}"/>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5" name="Slide Number Placeholder 2">
            <a:extLst>
              <a:ext uri="{FF2B5EF4-FFF2-40B4-BE49-F238E27FC236}">
                <a16:creationId xmlns:a16="http://schemas.microsoft.com/office/drawing/2014/main" id="{055F4FA3-A965-D4D4-7F0B-0243030DA0A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19</a:t>
            </a:fld>
            <a:endParaRPr lang="en-US" dirty="0"/>
          </a:p>
        </p:txBody>
      </p:sp>
    </p:spTree>
    <p:extLst>
      <p:ext uri="{BB962C8B-B14F-4D97-AF65-F5344CB8AC3E}">
        <p14:creationId xmlns:p14="http://schemas.microsoft.com/office/powerpoint/2010/main" val="197585287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lstStyle/>
          <a:p>
            <a:r>
              <a:rPr lang="en-US" dirty="0"/>
              <a:t>Identify “Who is the Customer”</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idx="1"/>
          </p:nvPr>
        </p:nvSpPr>
        <p:spPr/>
        <p:txBody>
          <a:bodyPr>
            <a:normAutofit fontScale="85000" lnSpcReduction="10000"/>
          </a:bodyPr>
          <a:lstStyle/>
          <a:p>
            <a:pPr>
              <a:lnSpc>
                <a:spcPct val="150000"/>
              </a:lnSpc>
            </a:pPr>
            <a:r>
              <a:rPr lang="en-US" dirty="0"/>
              <a:t>When mapping transactional processes there are many times that the end customer is not the actual “purchaser” of the final product or service</a:t>
            </a:r>
          </a:p>
          <a:p>
            <a:pPr>
              <a:lnSpc>
                <a:spcPct val="150000"/>
              </a:lnSpc>
            </a:pPr>
            <a:r>
              <a:rPr lang="en-US" dirty="0"/>
              <a:t>The customer would be defined in this case as the individual, function, team, or organization “receiving or getting the benefit from” the output of the process to be mapped</a:t>
            </a:r>
          </a:p>
          <a:p>
            <a:pPr>
              <a:lnSpc>
                <a:spcPct val="150000"/>
              </a:lnSpc>
            </a:pPr>
            <a:r>
              <a:rPr lang="en-US" dirty="0"/>
              <a:t>It is important to know who our customer is so that we can identify what they consider to be value-added activity in this process</a:t>
            </a:r>
          </a:p>
        </p:txBody>
      </p:sp>
      <p:grpSp>
        <p:nvGrpSpPr>
          <p:cNvPr id="12" name="Group 11">
            <a:extLst>
              <a:ext uri="{FF2B5EF4-FFF2-40B4-BE49-F238E27FC236}">
                <a16:creationId xmlns:a16="http://schemas.microsoft.com/office/drawing/2014/main" id="{8BA78282-E655-423D-6DFF-61C5370C558A}"/>
              </a:ext>
            </a:extLst>
          </p:cNvPr>
          <p:cNvGrpSpPr/>
          <p:nvPr/>
        </p:nvGrpSpPr>
        <p:grpSpPr>
          <a:xfrm>
            <a:off x="940249" y="319790"/>
            <a:ext cx="6219503" cy="311932"/>
            <a:chOff x="940249" y="302538"/>
            <a:chExt cx="6219503" cy="311932"/>
          </a:xfrm>
        </p:grpSpPr>
        <p:sp>
          <p:nvSpPr>
            <p:cNvPr id="13" name="TextBox 12">
              <a:extLst>
                <a:ext uri="{FF2B5EF4-FFF2-40B4-BE49-F238E27FC236}">
                  <a16:creationId xmlns:a16="http://schemas.microsoft.com/office/drawing/2014/main" id="{003594BB-27D0-C6EF-7AEC-4CB92A276DB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4" name="AutoShape 9">
              <a:extLst>
                <a:ext uri="{FF2B5EF4-FFF2-40B4-BE49-F238E27FC236}">
                  <a16:creationId xmlns:a16="http://schemas.microsoft.com/office/drawing/2014/main" id="{73BB8D6C-6DD1-2075-8EE9-2513DD70B7F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B55FAD91-AA31-F791-B85A-4C50AF6EBF1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A3F1F76F-A1E6-0902-7DA6-2311CD30B03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9">
              <a:extLst>
                <a:ext uri="{FF2B5EF4-FFF2-40B4-BE49-F238E27FC236}">
                  <a16:creationId xmlns:a16="http://schemas.microsoft.com/office/drawing/2014/main" id="{9A5CDB17-4FD1-57C3-539A-C996C61E7AB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11">
              <a:extLst>
                <a:ext uri="{FF2B5EF4-FFF2-40B4-BE49-F238E27FC236}">
                  <a16:creationId xmlns:a16="http://schemas.microsoft.com/office/drawing/2014/main" id="{3797AD2D-E8A0-9CB8-2C44-475CEA2742BB}"/>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9" name="Slide Number Placeholder 2">
            <a:extLst>
              <a:ext uri="{FF2B5EF4-FFF2-40B4-BE49-F238E27FC236}">
                <a16:creationId xmlns:a16="http://schemas.microsoft.com/office/drawing/2014/main" id="{B63DE648-35E4-1F2A-F1CE-BB1ADC4C0D1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20</a:t>
            </a:fld>
            <a:endParaRPr lang="en-US" dirty="0"/>
          </a:p>
        </p:txBody>
      </p:sp>
    </p:spTree>
    <p:extLst>
      <p:ext uri="{BB962C8B-B14F-4D97-AF65-F5344CB8AC3E}">
        <p14:creationId xmlns:p14="http://schemas.microsoft.com/office/powerpoint/2010/main" val="171995197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lstStyle/>
          <a:p>
            <a:r>
              <a:rPr lang="en-US" dirty="0"/>
              <a:t>Completing Customer Analysis</a:t>
            </a:r>
          </a:p>
        </p:txBody>
      </p:sp>
      <p:graphicFrame>
        <p:nvGraphicFramePr>
          <p:cNvPr id="14" name="Group 3">
            <a:extLst>
              <a:ext uri="{FF2B5EF4-FFF2-40B4-BE49-F238E27FC236}">
                <a16:creationId xmlns:a16="http://schemas.microsoft.com/office/drawing/2014/main" id="{D799E67C-5ECD-FAC4-4D8B-0D328E890B73}"/>
              </a:ext>
            </a:extLst>
          </p:cNvPr>
          <p:cNvGraphicFramePr>
            <a:graphicFrameLocks noGrp="1"/>
          </p:cNvGraphicFramePr>
          <p:nvPr>
            <p:extLst>
              <p:ext uri="{D42A27DB-BD31-4B8C-83A1-F6EECF244321}">
                <p14:modId xmlns:p14="http://schemas.microsoft.com/office/powerpoint/2010/main" val="3276433789"/>
              </p:ext>
            </p:extLst>
          </p:nvPr>
        </p:nvGraphicFramePr>
        <p:xfrm>
          <a:off x="978195" y="1924493"/>
          <a:ext cx="9954944" cy="4068586"/>
        </p:xfrm>
        <a:graphic>
          <a:graphicData uri="http://schemas.openxmlformats.org/drawingml/2006/table">
            <a:tbl>
              <a:tblPr>
                <a:effectLst/>
              </a:tblPr>
              <a:tblGrid>
                <a:gridCol w="2860175">
                  <a:extLst>
                    <a:ext uri="{9D8B030D-6E8A-4147-A177-3AD203B41FA5}">
                      <a16:colId xmlns:a16="http://schemas.microsoft.com/office/drawing/2014/main" val="1566069769"/>
                    </a:ext>
                  </a:extLst>
                </a:gridCol>
                <a:gridCol w="3209539">
                  <a:extLst>
                    <a:ext uri="{9D8B030D-6E8A-4147-A177-3AD203B41FA5}">
                      <a16:colId xmlns:a16="http://schemas.microsoft.com/office/drawing/2014/main" val="3519178741"/>
                    </a:ext>
                  </a:extLst>
                </a:gridCol>
                <a:gridCol w="2610629">
                  <a:extLst>
                    <a:ext uri="{9D8B030D-6E8A-4147-A177-3AD203B41FA5}">
                      <a16:colId xmlns:a16="http://schemas.microsoft.com/office/drawing/2014/main" val="394830270"/>
                    </a:ext>
                  </a:extLst>
                </a:gridCol>
                <a:gridCol w="1274601">
                  <a:extLst>
                    <a:ext uri="{9D8B030D-6E8A-4147-A177-3AD203B41FA5}">
                      <a16:colId xmlns:a16="http://schemas.microsoft.com/office/drawing/2014/main" val="3135860904"/>
                    </a:ext>
                  </a:extLst>
                </a:gridCol>
              </a:tblGrid>
              <a:tr h="83347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Customer/</a:t>
                      </a:r>
                      <a:b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br>
                      <a: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Stakeholder</a:t>
                      </a: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Reason they are a customer/stakeholder</a:t>
                      </a: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What they value from the process</a:t>
                      </a: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 Primary Customer </a:t>
                      </a:r>
                      <a:r>
                        <a:rPr kumimoji="0" lang="ja-JP"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a:t>
                      </a:r>
                      <a:r>
                        <a:rPr kumimoji="0" lang="en-US" altLang="ja-JP"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X</a:t>
                      </a:r>
                      <a:r>
                        <a:rPr kumimoji="0" lang="ja-JP"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rPr>
                        <a:t>”</a:t>
                      </a:r>
                      <a:endParaRPr kumimoji="0" lang="en-US" altLang="en-US" sz="1500" b="1" i="0" u="none" strike="noStrike" cap="none" spc="0" normalizeH="0" baseline="0" dirty="0">
                        <a:ln>
                          <a:noFill/>
                        </a:ln>
                        <a:solidFill>
                          <a:schemeClr val="bg1"/>
                        </a:solidFill>
                        <a:effectLst/>
                        <a:uFillTx/>
                        <a:latin typeface="+mn-lt"/>
                        <a:ea typeface="MS PGothic" panose="020B0600070205080204" pitchFamily="34" charset="-128"/>
                        <a:cs typeface="+mn-cs"/>
                        <a:sym typeface="Roboto"/>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extLst>
                  <a:ext uri="{0D108BD9-81ED-4DB2-BD59-A6C34878D82A}">
                    <a16:rowId xmlns:a16="http://schemas.microsoft.com/office/drawing/2014/main" val="186464119"/>
                  </a:ext>
                </a:extLst>
              </a:tr>
              <a:tr h="531499">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extLst>
                  <a:ext uri="{0D108BD9-81ED-4DB2-BD59-A6C34878D82A}">
                    <a16:rowId xmlns:a16="http://schemas.microsoft.com/office/drawing/2014/main" val="3135235001"/>
                  </a:ext>
                </a:extLst>
              </a:tr>
              <a:tr h="53295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409088271"/>
                  </a:ext>
                </a:extLst>
              </a:tr>
              <a:tr h="53295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103737109"/>
                  </a:ext>
                </a:extLst>
              </a:tr>
              <a:tr h="53295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971025490"/>
                  </a:ext>
                </a:extLst>
              </a:tr>
              <a:tr h="53295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solidFill>
                      <a:schemeClr val="bg1"/>
                    </a:solidFill>
                  </a:tcPr>
                </a:tc>
                <a:extLst>
                  <a:ext uri="{0D108BD9-81ED-4DB2-BD59-A6C34878D82A}">
                    <a16:rowId xmlns:a16="http://schemas.microsoft.com/office/drawing/2014/main" val="3653118850"/>
                  </a:ext>
                </a:extLst>
              </a:tr>
              <a:tr h="53295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bg1"/>
                        </a:solidFill>
                        <a:effectLst/>
                        <a:latin typeface="+mn-lt"/>
                        <a:ea typeface="MS PGothic" panose="020B0600070205080204" pitchFamily="34" charset="-128"/>
                      </a:endParaRPr>
                    </a:p>
                  </a:txBody>
                  <a:tcPr marL="102760" marR="102760" marT="51380" marB="5138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500" b="1" i="0" u="none" strike="noStrike" cap="none" normalizeH="0" baseline="0" dirty="0">
                        <a:ln>
                          <a:noFill/>
                        </a:ln>
                        <a:solidFill>
                          <a:schemeClr val="tx1"/>
                        </a:solidFill>
                        <a:effectLst/>
                        <a:latin typeface="+mn-lt"/>
                        <a:ea typeface="MS PGothic" panose="020B0600070205080204" pitchFamily="34" charset="-128"/>
                      </a:endParaRPr>
                    </a:p>
                  </a:txBody>
                  <a:tcPr marL="102760" marR="102760" marT="51380" marB="5138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bg1"/>
                    </a:solidFill>
                  </a:tcPr>
                </a:tc>
                <a:extLst>
                  <a:ext uri="{0D108BD9-81ED-4DB2-BD59-A6C34878D82A}">
                    <a16:rowId xmlns:a16="http://schemas.microsoft.com/office/drawing/2014/main" val="2639427394"/>
                  </a:ext>
                </a:extLst>
              </a:tr>
            </a:tbl>
          </a:graphicData>
        </a:graphic>
      </p:graphicFrame>
      <p:grpSp>
        <p:nvGrpSpPr>
          <p:cNvPr id="3" name="Group 2">
            <a:extLst>
              <a:ext uri="{FF2B5EF4-FFF2-40B4-BE49-F238E27FC236}">
                <a16:creationId xmlns:a16="http://schemas.microsoft.com/office/drawing/2014/main" id="{9657563E-56AE-9249-52BF-55C9440322AD}"/>
              </a:ext>
            </a:extLst>
          </p:cNvPr>
          <p:cNvGrpSpPr/>
          <p:nvPr/>
        </p:nvGrpSpPr>
        <p:grpSpPr>
          <a:xfrm>
            <a:off x="940249" y="319790"/>
            <a:ext cx="6219503" cy="311932"/>
            <a:chOff x="940249" y="302538"/>
            <a:chExt cx="6219503" cy="311932"/>
          </a:xfrm>
        </p:grpSpPr>
        <p:sp>
          <p:nvSpPr>
            <p:cNvPr id="12" name="TextBox 11">
              <a:extLst>
                <a:ext uri="{FF2B5EF4-FFF2-40B4-BE49-F238E27FC236}">
                  <a16:creationId xmlns:a16="http://schemas.microsoft.com/office/drawing/2014/main" id="{62962274-5720-9191-E2BF-73884A7597A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3" name="AutoShape 9">
              <a:extLst>
                <a:ext uri="{FF2B5EF4-FFF2-40B4-BE49-F238E27FC236}">
                  <a16:creationId xmlns:a16="http://schemas.microsoft.com/office/drawing/2014/main" id="{03DC7CA9-6895-3BF4-667E-2AAF7561AF0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DEA2FDEA-8FAC-F469-7D15-3984D385998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BD30D1E2-BB9C-F7EB-0A61-E4B25F79CD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9">
              <a:extLst>
                <a:ext uri="{FF2B5EF4-FFF2-40B4-BE49-F238E27FC236}">
                  <a16:creationId xmlns:a16="http://schemas.microsoft.com/office/drawing/2014/main" id="{55A3E4C1-C2E0-C6F7-EC0C-6E272F9EDF54}"/>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11">
              <a:extLst>
                <a:ext uri="{FF2B5EF4-FFF2-40B4-BE49-F238E27FC236}">
                  <a16:creationId xmlns:a16="http://schemas.microsoft.com/office/drawing/2014/main" id="{D476B527-F323-D3EC-FE48-DB8D6AD3BD66}"/>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3479574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Complete Customer/Stakeholder Analysis</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customer/stakeholder analysis of the process to be mapped.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algn="l" defTabSz="292042">
              <a:lnSpc>
                <a:spcPct val="125000"/>
              </a:lnSpc>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As a team, make a list of:</a:t>
            </a:r>
          </a:p>
          <a:p>
            <a:pPr marL="457109" indent="-246013" algn="l" defTabSz="292042">
              <a:lnSpc>
                <a:spcPct val="125000"/>
              </a:lnSpc>
              <a:buFont typeface="+mj-lt"/>
              <a:buAutoNum type="arabicParenR"/>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The customers and stakeholders of this process</a:t>
            </a:r>
          </a:p>
          <a:p>
            <a:pPr marL="457109" indent="-246013" algn="l" defTabSz="292042">
              <a:lnSpc>
                <a:spcPct val="125000"/>
              </a:lnSpc>
              <a:buFont typeface="+mj-lt"/>
              <a:buAutoNum type="arabicParenR"/>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Why they are a customer or stakeholder</a:t>
            </a:r>
          </a:p>
          <a:p>
            <a:pPr marL="457109" indent="-246013" algn="l" defTabSz="292042">
              <a:lnSpc>
                <a:spcPct val="125000"/>
              </a:lnSpc>
              <a:buFont typeface="+mj-lt"/>
              <a:buAutoNum type="arabicParenR"/>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What is the value they are looking for</a:t>
            </a:r>
          </a:p>
          <a:p>
            <a:pPr marL="457109" indent="-246013" algn="l" defTabSz="292042">
              <a:lnSpc>
                <a:spcPct val="125000"/>
              </a:lnSpc>
              <a:buFont typeface="+mj-lt"/>
              <a:buAutoNum type="arabicParenR"/>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Determine who is the primary customer</a:t>
            </a:r>
          </a:p>
          <a:p>
            <a:pPr algn="l" defTabSz="292042">
              <a:lnSpc>
                <a:spcPct val="125000"/>
              </a:lnSpc>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Put answers on a flip chart</a:t>
            </a:r>
            <a:endPar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endParaRP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8" y="4702659"/>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listing. </a:t>
            </a:r>
          </a:p>
        </p:txBody>
      </p:sp>
      <p:grpSp>
        <p:nvGrpSpPr>
          <p:cNvPr id="3" name="Group 2">
            <a:extLst>
              <a:ext uri="{FF2B5EF4-FFF2-40B4-BE49-F238E27FC236}">
                <a16:creationId xmlns:a16="http://schemas.microsoft.com/office/drawing/2014/main" id="{FAACC5E8-7E06-24D1-EA90-ACF01A002954}"/>
              </a:ext>
            </a:extLst>
          </p:cNvPr>
          <p:cNvGrpSpPr/>
          <p:nvPr/>
        </p:nvGrpSpPr>
        <p:grpSpPr>
          <a:xfrm>
            <a:off x="940249" y="319790"/>
            <a:ext cx="6219503" cy="311932"/>
            <a:chOff x="940249" y="302538"/>
            <a:chExt cx="6219503" cy="311932"/>
          </a:xfrm>
        </p:grpSpPr>
        <p:sp>
          <p:nvSpPr>
            <p:cNvPr id="4" name="TextBox 3">
              <a:extLst>
                <a:ext uri="{FF2B5EF4-FFF2-40B4-BE49-F238E27FC236}">
                  <a16:creationId xmlns:a16="http://schemas.microsoft.com/office/drawing/2014/main" id="{242D584B-F6CE-1CA3-3BD0-F53FDFF4D0E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5" name="AutoShape 9">
              <a:extLst>
                <a:ext uri="{FF2B5EF4-FFF2-40B4-BE49-F238E27FC236}">
                  <a16:creationId xmlns:a16="http://schemas.microsoft.com/office/drawing/2014/main" id="{B5EFEC38-03D9-1518-FA2B-3D69A189A0C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5787B95E-ABE9-765B-3461-6E4E527F81A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B69B0265-3792-B5BD-0FA7-08BEFCAF46F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6D63D38-6059-630B-558E-8A025A9CF774}"/>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C7B37325-603F-1B38-F95E-1AFAA8B32A12}"/>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79575735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Kaizen Charter Validation</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Evaluate the Event Charter.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856515" cy="277563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marL="274320" defTabSz="292042">
              <a:lnSpc>
                <a:spcPct val="125000"/>
              </a:lnSpc>
            </a:pPr>
            <a:r>
              <a:rPr lang="en-US"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As a team answer on chart paper:</a:t>
            </a:r>
          </a:p>
          <a:p>
            <a:pPr marL="731520" indent="-285693" defTabSz="292042">
              <a:lnSpc>
                <a:spcPct val="125000"/>
              </a:lnSpc>
              <a:buFont typeface="Arial" panose="020B0604020202020204" pitchFamily="34" charset="0"/>
              <a:buChar char="•"/>
            </a:pP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Why are we doing this event?</a:t>
            </a:r>
          </a:p>
          <a:p>
            <a:pPr marL="731520" indent="-285693" defTabSz="292042">
              <a:lnSpc>
                <a:spcPct val="125000"/>
              </a:lnSpc>
              <a:buFont typeface="Arial" panose="020B0604020202020204" pitchFamily="34" charset="0"/>
              <a:buChar char="•"/>
            </a:pP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Has the product or service family been clearly identified?</a:t>
            </a:r>
          </a:p>
          <a:p>
            <a:pPr marL="731520" indent="-285693" defTabSz="292042">
              <a:lnSpc>
                <a:spcPct val="125000"/>
              </a:lnSpc>
              <a:buFont typeface="Arial" panose="020B0604020202020204" pitchFamily="34" charset="0"/>
              <a:buChar char="•"/>
            </a:pP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Have the boundaries been validated?</a:t>
            </a:r>
          </a:p>
          <a:p>
            <a:pPr marL="731520" indent="-285693" defTabSz="292042">
              <a:lnSpc>
                <a:spcPct val="125000"/>
              </a:lnSpc>
              <a:buFont typeface="Arial" panose="020B0604020202020204" pitchFamily="34" charset="0"/>
              <a:buChar char="•"/>
            </a:pP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What are the sources of information that support</a:t>
            </a:r>
            <a:b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b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the VALUE OBJECT as it moves through the stream?</a:t>
            </a:r>
          </a:p>
          <a:p>
            <a:pPr marL="731520" indent="-285693" defTabSz="292042">
              <a:lnSpc>
                <a:spcPct val="125000"/>
              </a:lnSpc>
              <a:buFont typeface="Arial" panose="020B0604020202020204" pitchFamily="34" charset="0"/>
              <a:buChar char="•"/>
            </a:pP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What is the demand for each product or service</a:t>
            </a:r>
            <a:b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br>
            <a:r>
              <a:rPr lang="en-US" sz="1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and for the product family as a whole?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9" y="4613059"/>
            <a:ext cx="4680073" cy="1210177"/>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Presentation of any revisions </a:t>
            </a:r>
            <a:b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made to the charter as a result </a:t>
            </a:r>
            <a:b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of exercise.</a:t>
            </a:r>
          </a:p>
        </p:txBody>
      </p:sp>
      <p:grpSp>
        <p:nvGrpSpPr>
          <p:cNvPr id="3" name="Group 2">
            <a:extLst>
              <a:ext uri="{FF2B5EF4-FFF2-40B4-BE49-F238E27FC236}">
                <a16:creationId xmlns:a16="http://schemas.microsoft.com/office/drawing/2014/main" id="{FAACC5E8-7E06-24D1-EA90-ACF01A002954}"/>
              </a:ext>
            </a:extLst>
          </p:cNvPr>
          <p:cNvGrpSpPr/>
          <p:nvPr/>
        </p:nvGrpSpPr>
        <p:grpSpPr>
          <a:xfrm>
            <a:off x="940249" y="319790"/>
            <a:ext cx="6219503" cy="311932"/>
            <a:chOff x="940249" y="302538"/>
            <a:chExt cx="6219503" cy="311932"/>
          </a:xfrm>
        </p:grpSpPr>
        <p:sp>
          <p:nvSpPr>
            <p:cNvPr id="4" name="TextBox 3">
              <a:extLst>
                <a:ext uri="{FF2B5EF4-FFF2-40B4-BE49-F238E27FC236}">
                  <a16:creationId xmlns:a16="http://schemas.microsoft.com/office/drawing/2014/main" id="{242D584B-F6CE-1CA3-3BD0-F53FDFF4D0E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5" name="AutoShape 9">
              <a:extLst>
                <a:ext uri="{FF2B5EF4-FFF2-40B4-BE49-F238E27FC236}">
                  <a16:creationId xmlns:a16="http://schemas.microsoft.com/office/drawing/2014/main" id="{B5EFEC38-03D9-1518-FA2B-3D69A189A0C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5787B95E-ABE9-765B-3461-6E4E527F81A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B69B0265-3792-B5BD-0FA7-08BEFCAF46F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6D63D38-6059-630B-558E-8A025A9CF774}"/>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C7B37325-603F-1B38-F95E-1AFAA8B32A12}"/>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259169828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729" y="1497515"/>
            <a:ext cx="9813133" cy="1009387"/>
          </a:xfrm>
          <a:prstGeom prst="rect">
            <a:avLst/>
          </a:prstGeom>
        </p:spPr>
        <p:txBody>
          <a:bodyPr>
            <a:normAutofit fontScale="90000"/>
          </a:bodyPr>
          <a:lstStyle/>
          <a:p>
            <a:r>
              <a:rPr lang="en-US" sz="3999" dirty="0">
                <a:latin typeface="Roboto Medium"/>
                <a:ea typeface="Roboto Medium"/>
                <a:cs typeface="Roboto Medium"/>
              </a:rPr>
              <a:t>Creating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300" y="2506902"/>
            <a:ext cx="10512862" cy="4350205"/>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Identify method to create the Current State Map</a:t>
            </a:r>
          </a:p>
          <a:p>
            <a:r>
              <a:rPr lang="en-US" sz="2400" dirty="0"/>
              <a:t>Define general layout of a Value Stream Map</a:t>
            </a:r>
          </a:p>
          <a:p>
            <a:r>
              <a:rPr lang="en-US" sz="2400" dirty="0"/>
              <a:t>Review Case Study Example</a:t>
            </a:r>
          </a:p>
          <a:p>
            <a:r>
              <a:rPr lang="en-US" sz="2400" dirty="0"/>
              <a:t>Complete the steps to draw a Current State Map</a:t>
            </a:r>
          </a:p>
          <a:p>
            <a:r>
              <a:rPr lang="en-US" sz="2400" dirty="0"/>
              <a:t>Perform Current State Map Exercise</a:t>
            </a:r>
          </a:p>
          <a:p>
            <a:r>
              <a:rPr lang="en-US" sz="2400" dirty="0"/>
              <a:t>Complete Current State Map for Business</a:t>
            </a:r>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729" y="2387190"/>
            <a:ext cx="3881964"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728" y="837809"/>
            <a:ext cx="7271730" cy="659707"/>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Current</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34693480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rmAutofit/>
          </a:bodyPr>
          <a:lstStyle/>
          <a:p>
            <a:r>
              <a:rPr lang="en-US" sz="3999" dirty="0"/>
              <a:t>Method to Create the Current State Map</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1013068" y="2113306"/>
            <a:ext cx="2915479" cy="837982"/>
          </a:xfrm>
          <a:prstGeom prst="rect">
            <a:avLst/>
          </a:prstGeom>
          <a:solidFill>
            <a:srgbClr val="7F7F7F"/>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Team Walk #1:</a:t>
            </a:r>
          </a:p>
          <a:p>
            <a:pPr algn="ctr" eaLnBrk="1" hangingPunct="1">
              <a:lnSpc>
                <a:spcPct val="100000"/>
              </a:lnSpc>
              <a:spcBef>
                <a:spcPct val="0"/>
              </a:spcBef>
              <a:spcAft>
                <a:spcPct val="0"/>
              </a:spcAft>
              <a:buClrTx/>
              <a:buSzTx/>
              <a:buFontTx/>
              <a:buNone/>
            </a:pPr>
            <a:r>
              <a:rPr lang="en-US" altLang="en-US" sz="1600" dirty="0">
                <a:solidFill>
                  <a:schemeClr val="bg1"/>
                </a:solidFill>
              </a:rPr>
              <a:t>Process Identification</a:t>
            </a:r>
          </a:p>
        </p:txBody>
      </p:sp>
      <p:sp>
        <p:nvSpPr>
          <p:cNvPr id="16" name="Rectangle 3">
            <a:extLst>
              <a:ext uri="{FF2B5EF4-FFF2-40B4-BE49-F238E27FC236}">
                <a16:creationId xmlns:a16="http://schemas.microsoft.com/office/drawing/2014/main" id="{056510E5-3119-AD2A-B848-847CF24DD44B}"/>
              </a:ext>
            </a:extLst>
          </p:cNvPr>
          <p:cNvSpPr>
            <a:spLocks noChangeArrowheads="1"/>
          </p:cNvSpPr>
          <p:nvPr/>
        </p:nvSpPr>
        <p:spPr bwMode="auto">
          <a:xfrm>
            <a:off x="1013068" y="3541684"/>
            <a:ext cx="2915479" cy="841156"/>
          </a:xfrm>
          <a:prstGeom prst="rect">
            <a:avLst/>
          </a:prstGeom>
          <a:solidFill>
            <a:srgbClr val="FFB627"/>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rgbClr val="222222"/>
                </a:solidFill>
              </a:rPr>
              <a:t>Team Walk #2:</a:t>
            </a:r>
          </a:p>
          <a:p>
            <a:pPr algn="ctr" eaLnBrk="1" hangingPunct="1">
              <a:lnSpc>
                <a:spcPct val="100000"/>
              </a:lnSpc>
              <a:spcBef>
                <a:spcPct val="0"/>
              </a:spcBef>
              <a:spcAft>
                <a:spcPct val="0"/>
              </a:spcAft>
              <a:buClrTx/>
              <a:buSzTx/>
              <a:buFontTx/>
              <a:buNone/>
            </a:pPr>
            <a:r>
              <a:rPr lang="en-US" altLang="en-US" sz="1600" dirty="0">
                <a:solidFill>
                  <a:srgbClr val="222222"/>
                </a:solidFill>
              </a:rPr>
              <a:t>Data Gathering</a:t>
            </a:r>
          </a:p>
        </p:txBody>
      </p:sp>
      <p:sp>
        <p:nvSpPr>
          <p:cNvPr id="17" name="Rectangle 4">
            <a:extLst>
              <a:ext uri="{FF2B5EF4-FFF2-40B4-BE49-F238E27FC236}">
                <a16:creationId xmlns:a16="http://schemas.microsoft.com/office/drawing/2014/main" id="{9D38BCD3-3C4E-CDAD-6EF0-E21187975717}"/>
              </a:ext>
            </a:extLst>
          </p:cNvPr>
          <p:cNvSpPr>
            <a:spLocks noChangeArrowheads="1"/>
          </p:cNvSpPr>
          <p:nvPr/>
        </p:nvSpPr>
        <p:spPr bwMode="auto">
          <a:xfrm>
            <a:off x="1013068" y="5150989"/>
            <a:ext cx="2915479" cy="837982"/>
          </a:xfrm>
          <a:prstGeom prst="rect">
            <a:avLst/>
          </a:prstGeom>
          <a:solidFill>
            <a:srgbClr val="EE3228"/>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Map Creation</a:t>
            </a:r>
          </a:p>
        </p:txBody>
      </p:sp>
      <p:cxnSp>
        <p:nvCxnSpPr>
          <p:cNvPr id="18" name="AutoShape 6">
            <a:extLst>
              <a:ext uri="{FF2B5EF4-FFF2-40B4-BE49-F238E27FC236}">
                <a16:creationId xmlns:a16="http://schemas.microsoft.com/office/drawing/2014/main" id="{B6487E52-6F1B-57D3-74ED-22BB854DD28F}"/>
              </a:ext>
            </a:extLst>
          </p:cNvPr>
          <p:cNvCxnSpPr>
            <a:cxnSpLocks noChangeShapeType="1"/>
            <a:stCxn id="15" idx="2"/>
            <a:endCxn id="16" idx="0"/>
          </p:cNvCxnSpPr>
          <p:nvPr/>
        </p:nvCxnSpPr>
        <p:spPr bwMode="auto">
          <a:xfrm>
            <a:off x="2470808" y="2951288"/>
            <a:ext cx="0" cy="590396"/>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7">
            <a:extLst>
              <a:ext uri="{FF2B5EF4-FFF2-40B4-BE49-F238E27FC236}">
                <a16:creationId xmlns:a16="http://schemas.microsoft.com/office/drawing/2014/main" id="{5F264A94-9007-38F1-F621-16CB96E2ED39}"/>
              </a:ext>
            </a:extLst>
          </p:cNvPr>
          <p:cNvCxnSpPr>
            <a:cxnSpLocks noChangeShapeType="1"/>
            <a:stCxn id="16" idx="2"/>
            <a:endCxn id="17" idx="0"/>
          </p:cNvCxnSpPr>
          <p:nvPr/>
        </p:nvCxnSpPr>
        <p:spPr bwMode="auto">
          <a:xfrm>
            <a:off x="2471602" y="4382839"/>
            <a:ext cx="0" cy="7681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3" name="Text Box 18">
            <a:extLst>
              <a:ext uri="{FF2B5EF4-FFF2-40B4-BE49-F238E27FC236}">
                <a16:creationId xmlns:a16="http://schemas.microsoft.com/office/drawing/2014/main" id="{0DDB5226-099F-2DA1-EF28-973B6B075730}"/>
              </a:ext>
            </a:extLst>
          </p:cNvPr>
          <p:cNvSpPr txBox="1">
            <a:spLocks noChangeArrowheads="1"/>
          </p:cNvSpPr>
          <p:nvPr/>
        </p:nvSpPr>
        <p:spPr bwMode="auto">
          <a:xfrm>
            <a:off x="5429137" y="1827630"/>
            <a:ext cx="3536029" cy="366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eaLnBrk="1" hangingPunct="1">
              <a:lnSpc>
                <a:spcPct val="100000"/>
              </a:lnSpc>
              <a:spcBef>
                <a:spcPct val="0"/>
              </a:spcBef>
              <a:spcAft>
                <a:spcPct val="0"/>
              </a:spcAft>
              <a:buClrTx/>
              <a:buSzTx/>
              <a:buFontTx/>
              <a:buNone/>
            </a:pPr>
            <a:r>
              <a:rPr lang="en-US" altLang="en-US" sz="1799" dirty="0"/>
              <a:t>Key Characteristics</a:t>
            </a:r>
          </a:p>
        </p:txBody>
      </p:sp>
      <p:sp>
        <p:nvSpPr>
          <p:cNvPr id="24" name="AutoShape 36">
            <a:extLst>
              <a:ext uri="{FF2B5EF4-FFF2-40B4-BE49-F238E27FC236}">
                <a16:creationId xmlns:a16="http://schemas.microsoft.com/office/drawing/2014/main" id="{5D3E76DB-BDE7-7254-2193-80BFB1FB431B}"/>
              </a:ext>
            </a:extLst>
          </p:cNvPr>
          <p:cNvSpPr>
            <a:spLocks noChangeArrowheads="1"/>
          </p:cNvSpPr>
          <p:nvPr/>
        </p:nvSpPr>
        <p:spPr bwMode="auto">
          <a:xfrm>
            <a:off x="5387873" y="2048235"/>
            <a:ext cx="4758086" cy="1279192"/>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Everyone initially should create their OWN map</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Begin at end point and proceed in reverse flow</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5" name="AutoShape 37">
            <a:extLst>
              <a:ext uri="{FF2B5EF4-FFF2-40B4-BE49-F238E27FC236}">
                <a16:creationId xmlns:a16="http://schemas.microsoft.com/office/drawing/2014/main" id="{2C57A5F4-38CA-2E62-4DB6-E4F67FF1F3D1}"/>
              </a:ext>
            </a:extLst>
          </p:cNvPr>
          <p:cNvSpPr>
            <a:spLocks noChangeArrowheads="1"/>
          </p:cNvSpPr>
          <p:nvPr/>
        </p:nvSpPr>
        <p:spPr bwMode="auto">
          <a:xfrm>
            <a:off x="5386287" y="3463916"/>
            <a:ext cx="4758086" cy="1279192"/>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Decide what data will be collected for each process</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reverse flow again and collect data and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information flow</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actual, observed data wherever possible</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smallest time units whenever possible –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be consistent</a:t>
            </a:r>
          </a:p>
        </p:txBody>
      </p:sp>
      <p:sp>
        <p:nvSpPr>
          <p:cNvPr id="26" name="AutoShape 38">
            <a:extLst>
              <a:ext uri="{FF2B5EF4-FFF2-40B4-BE49-F238E27FC236}">
                <a16:creationId xmlns:a16="http://schemas.microsoft.com/office/drawing/2014/main" id="{FF1BF6A0-A3AA-9724-A274-06EB02560F3C}"/>
              </a:ext>
            </a:extLst>
          </p:cNvPr>
          <p:cNvSpPr>
            <a:spLocks noChangeArrowheads="1"/>
          </p:cNvSpPr>
          <p:nvPr/>
        </p:nvSpPr>
        <p:spPr bwMode="auto">
          <a:xfrm>
            <a:off x="5386287" y="5008152"/>
            <a:ext cx="4743801" cy="1279192"/>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Consolidate individual maps into a single map by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consensus of the team </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post-it notes to facilitate any necessary changes</a:t>
            </a:r>
          </a:p>
          <a:p>
            <a:pPr algn="l">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Review map as a team to ensure accuracy and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validate flow</a:t>
            </a:r>
          </a:p>
        </p:txBody>
      </p:sp>
      <p:sp>
        <p:nvSpPr>
          <p:cNvPr id="28" name="Arrow">
            <a:extLst>
              <a:ext uri="{FF2B5EF4-FFF2-40B4-BE49-F238E27FC236}">
                <a16:creationId xmlns:a16="http://schemas.microsoft.com/office/drawing/2014/main" id="{2AB74B7E-D450-306C-1200-1FF7D51139AA}"/>
              </a:ext>
            </a:extLst>
          </p:cNvPr>
          <p:cNvSpPr/>
          <p:nvPr/>
        </p:nvSpPr>
        <p:spPr>
          <a:xfrm>
            <a:off x="4451120" y="2102788"/>
            <a:ext cx="599435" cy="446374"/>
          </a:xfrm>
          <a:prstGeom prst="rightArrow">
            <a:avLst>
              <a:gd name="adj1" fmla="val 54641"/>
              <a:gd name="adj2" fmla="val 68352"/>
            </a:avLst>
          </a:prstGeom>
          <a:solidFill>
            <a:srgbClr val="EE3228"/>
          </a:solidFill>
          <a:ln w="12700">
            <a:miter lim="400000"/>
          </a:ln>
        </p:spPr>
        <p:txBody>
          <a:bodyPr lIns="50787" tIns="50787" rIns="50787" bIns="50787" anchor="ctr"/>
          <a:lstStyle/>
          <a:p>
            <a:pPr defTabSz="584025">
              <a:defRPr sz="4000">
                <a:solidFill>
                  <a:srgbClr val="A9AFC3"/>
                </a:solidFill>
                <a:effectLst>
                  <a:outerShdw blurRad="38100" dist="12700" dir="5400000" rotWithShape="0">
                    <a:srgbClr val="000000">
                      <a:alpha val="50000"/>
                    </a:srgbClr>
                  </a:outerShdw>
                </a:effectLst>
              </a:defRPr>
            </a:pPr>
            <a:endParaRPr sz="3999"/>
          </a:p>
        </p:txBody>
      </p:sp>
      <p:sp>
        <p:nvSpPr>
          <p:cNvPr id="30" name="Arrow">
            <a:extLst>
              <a:ext uri="{FF2B5EF4-FFF2-40B4-BE49-F238E27FC236}">
                <a16:creationId xmlns:a16="http://schemas.microsoft.com/office/drawing/2014/main" id="{C5EAA0A9-E7EF-7938-A79A-C6FD58809561}"/>
              </a:ext>
            </a:extLst>
          </p:cNvPr>
          <p:cNvSpPr/>
          <p:nvPr/>
        </p:nvSpPr>
        <p:spPr>
          <a:xfrm>
            <a:off x="4451120" y="3675147"/>
            <a:ext cx="599435" cy="446374"/>
          </a:xfrm>
          <a:prstGeom prst="rightArrow">
            <a:avLst>
              <a:gd name="adj1" fmla="val 54641"/>
              <a:gd name="adj2" fmla="val 68352"/>
            </a:avLst>
          </a:prstGeom>
          <a:solidFill>
            <a:srgbClr val="EE3228"/>
          </a:solidFill>
          <a:ln w="12700">
            <a:miter lim="400000"/>
          </a:ln>
        </p:spPr>
        <p:txBody>
          <a:bodyPr lIns="50787" tIns="50787" rIns="50787" bIns="50787" anchor="ctr"/>
          <a:lstStyle/>
          <a:p>
            <a:pPr defTabSz="584025">
              <a:defRPr sz="4000">
                <a:solidFill>
                  <a:srgbClr val="A9AFC3"/>
                </a:solidFill>
                <a:effectLst>
                  <a:outerShdw blurRad="38100" dist="12700" dir="5400000" rotWithShape="0">
                    <a:srgbClr val="000000">
                      <a:alpha val="50000"/>
                    </a:srgbClr>
                  </a:outerShdw>
                </a:effectLst>
              </a:defRPr>
            </a:pPr>
            <a:endParaRPr sz="3999"/>
          </a:p>
        </p:txBody>
      </p:sp>
      <p:sp>
        <p:nvSpPr>
          <p:cNvPr id="31" name="Arrow">
            <a:extLst>
              <a:ext uri="{FF2B5EF4-FFF2-40B4-BE49-F238E27FC236}">
                <a16:creationId xmlns:a16="http://schemas.microsoft.com/office/drawing/2014/main" id="{21DD466B-B196-0D9B-E3F2-4E85CC6C556D}"/>
              </a:ext>
            </a:extLst>
          </p:cNvPr>
          <p:cNvSpPr/>
          <p:nvPr/>
        </p:nvSpPr>
        <p:spPr>
          <a:xfrm>
            <a:off x="4451120" y="5348063"/>
            <a:ext cx="599435" cy="446374"/>
          </a:xfrm>
          <a:prstGeom prst="rightArrow">
            <a:avLst>
              <a:gd name="adj1" fmla="val 54641"/>
              <a:gd name="adj2" fmla="val 68352"/>
            </a:avLst>
          </a:prstGeom>
          <a:solidFill>
            <a:srgbClr val="EE3228"/>
          </a:solidFill>
          <a:ln w="12700">
            <a:miter lim="400000"/>
          </a:ln>
        </p:spPr>
        <p:txBody>
          <a:bodyPr lIns="50787" tIns="50787" rIns="50787" bIns="50787" anchor="ctr"/>
          <a:lstStyle/>
          <a:p>
            <a:pPr defTabSz="584025">
              <a:defRPr sz="4000">
                <a:solidFill>
                  <a:srgbClr val="A9AFC3"/>
                </a:solidFill>
                <a:effectLst>
                  <a:outerShdw blurRad="38100" dist="12700" dir="5400000" rotWithShape="0">
                    <a:srgbClr val="000000">
                      <a:alpha val="50000"/>
                    </a:srgbClr>
                  </a:outerShdw>
                </a:effectLst>
              </a:defRPr>
            </a:pPr>
            <a:endParaRPr sz="3999"/>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004" y="303352"/>
            <a:ext cx="6217883" cy="311851"/>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25</a:t>
            </a:fld>
            <a:endParaRPr lang="en-US" dirty="0"/>
          </a:p>
        </p:txBody>
      </p:sp>
    </p:spTree>
    <p:extLst>
      <p:ext uri="{BB962C8B-B14F-4D97-AF65-F5344CB8AC3E}">
        <p14:creationId xmlns:p14="http://schemas.microsoft.com/office/powerpoint/2010/main" val="328877072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2">
            <a:extLst>
              <a:ext uri="{FF2B5EF4-FFF2-40B4-BE49-F238E27FC236}">
                <a16:creationId xmlns:a16="http://schemas.microsoft.com/office/drawing/2014/main" id="{E74C1B98-BF06-4A7B-2411-E56782C9458F}"/>
              </a:ext>
            </a:extLst>
          </p:cNvPr>
          <p:cNvSpPr>
            <a:spLocks noChangeArrowheads="1"/>
          </p:cNvSpPr>
          <p:nvPr/>
        </p:nvSpPr>
        <p:spPr bwMode="auto">
          <a:xfrm>
            <a:off x="1107533" y="1839310"/>
            <a:ext cx="7668421" cy="3985620"/>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sz="2798">
              <a:latin typeface="Arial" charset="0"/>
            </a:endParaRPr>
          </a:p>
        </p:txBody>
      </p:sp>
      <p:sp>
        <p:nvSpPr>
          <p:cNvPr id="2" name="Title 1">
            <a:extLst>
              <a:ext uri="{FF2B5EF4-FFF2-40B4-BE49-F238E27FC236}">
                <a16:creationId xmlns:a16="http://schemas.microsoft.com/office/drawing/2014/main" id="{673F559E-A105-E85D-C707-CBDFB6B4A73D}"/>
              </a:ext>
            </a:extLst>
          </p:cNvPr>
          <p:cNvSpPr>
            <a:spLocks noGrp="1"/>
          </p:cNvSpPr>
          <p:nvPr>
            <p:ph type="title"/>
          </p:nvPr>
        </p:nvSpPr>
        <p:spPr/>
        <p:txBody>
          <a:bodyPr>
            <a:normAutofit/>
          </a:bodyPr>
          <a:lstStyle/>
          <a:p>
            <a:r>
              <a:rPr lang="en-US" sz="3999" dirty="0"/>
              <a:t>Method to Create the Current State Map</a:t>
            </a:r>
          </a:p>
        </p:txBody>
      </p:sp>
      <p:grpSp>
        <p:nvGrpSpPr>
          <p:cNvPr id="64" name="Group 4">
            <a:extLst>
              <a:ext uri="{FF2B5EF4-FFF2-40B4-BE49-F238E27FC236}">
                <a16:creationId xmlns:a16="http://schemas.microsoft.com/office/drawing/2014/main" id="{B310ECC5-B25B-4CBC-6992-5FAA03FE81B5}"/>
              </a:ext>
            </a:extLst>
          </p:cNvPr>
          <p:cNvGrpSpPr>
            <a:grpSpLocks/>
          </p:cNvGrpSpPr>
          <p:nvPr/>
        </p:nvGrpSpPr>
        <p:grpSpPr bwMode="auto">
          <a:xfrm>
            <a:off x="1824907" y="2187333"/>
            <a:ext cx="1044303" cy="607854"/>
            <a:chOff x="933" y="2179"/>
            <a:chExt cx="658" cy="463"/>
          </a:xfrm>
          <a:solidFill>
            <a:srgbClr val="EE3228"/>
          </a:solidFill>
        </p:grpSpPr>
        <p:sp>
          <p:nvSpPr>
            <p:cNvPr id="65" name="Rectangle 5">
              <a:extLst>
                <a:ext uri="{FF2B5EF4-FFF2-40B4-BE49-F238E27FC236}">
                  <a16:creationId xmlns:a16="http://schemas.microsoft.com/office/drawing/2014/main" id="{EDDBD655-18BA-3C80-758A-739D6BCDDF58}"/>
                </a:ext>
              </a:extLst>
            </p:cNvPr>
            <p:cNvSpPr>
              <a:spLocks noChangeArrowheads="1"/>
            </p:cNvSpPr>
            <p:nvPr/>
          </p:nvSpPr>
          <p:spPr bwMode="auto">
            <a:xfrm>
              <a:off x="1544" y="2179"/>
              <a:ext cx="42" cy="250"/>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66" name="Rectangle 6">
              <a:extLst>
                <a:ext uri="{FF2B5EF4-FFF2-40B4-BE49-F238E27FC236}">
                  <a16:creationId xmlns:a16="http://schemas.microsoft.com/office/drawing/2014/main" id="{912FFD3A-C331-3C73-4F2C-B6C35B25898F}"/>
                </a:ext>
              </a:extLst>
            </p:cNvPr>
            <p:cNvSpPr>
              <a:spLocks noChangeArrowheads="1"/>
            </p:cNvSpPr>
            <p:nvPr/>
          </p:nvSpPr>
          <p:spPr bwMode="auto">
            <a:xfrm>
              <a:off x="933" y="2435"/>
              <a:ext cx="658" cy="207"/>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67" name="AutoShape 7">
              <a:extLst>
                <a:ext uri="{FF2B5EF4-FFF2-40B4-BE49-F238E27FC236}">
                  <a16:creationId xmlns:a16="http://schemas.microsoft.com/office/drawing/2014/main" id="{F0089704-6493-E029-C596-3D534AF5D4F2}"/>
                </a:ext>
              </a:extLst>
            </p:cNvPr>
            <p:cNvSpPr>
              <a:spLocks noChangeArrowheads="1"/>
            </p:cNvSpPr>
            <p:nvPr/>
          </p:nvSpPr>
          <p:spPr bwMode="auto">
            <a:xfrm>
              <a:off x="1342"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68" name="AutoShape 8">
              <a:extLst>
                <a:ext uri="{FF2B5EF4-FFF2-40B4-BE49-F238E27FC236}">
                  <a16:creationId xmlns:a16="http://schemas.microsoft.com/office/drawing/2014/main" id="{02D3C4AF-B97D-6078-1B71-DFE4BAC8B856}"/>
                </a:ext>
              </a:extLst>
            </p:cNvPr>
            <p:cNvSpPr>
              <a:spLocks noChangeArrowheads="1"/>
            </p:cNvSpPr>
            <p:nvPr/>
          </p:nvSpPr>
          <p:spPr bwMode="auto">
            <a:xfrm>
              <a:off x="1138"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69" name="AutoShape 9">
              <a:extLst>
                <a:ext uri="{FF2B5EF4-FFF2-40B4-BE49-F238E27FC236}">
                  <a16:creationId xmlns:a16="http://schemas.microsoft.com/office/drawing/2014/main" id="{171D6F7C-2E69-CE27-D378-82E13ADBA93C}"/>
                </a:ext>
              </a:extLst>
            </p:cNvPr>
            <p:cNvSpPr>
              <a:spLocks noChangeArrowheads="1"/>
            </p:cNvSpPr>
            <p:nvPr/>
          </p:nvSpPr>
          <p:spPr bwMode="auto">
            <a:xfrm>
              <a:off x="934"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0" name="Rectangle 10">
              <a:extLst>
                <a:ext uri="{FF2B5EF4-FFF2-40B4-BE49-F238E27FC236}">
                  <a16:creationId xmlns:a16="http://schemas.microsoft.com/office/drawing/2014/main" id="{86FE32DD-5158-8A89-F937-E42C43F05082}"/>
                </a:ext>
              </a:extLst>
            </p:cNvPr>
            <p:cNvSpPr>
              <a:spLocks noChangeArrowheads="1"/>
            </p:cNvSpPr>
            <p:nvPr/>
          </p:nvSpPr>
          <p:spPr bwMode="auto">
            <a:xfrm>
              <a:off x="974"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1" name="Rectangle 11">
              <a:extLst>
                <a:ext uri="{FF2B5EF4-FFF2-40B4-BE49-F238E27FC236}">
                  <a16:creationId xmlns:a16="http://schemas.microsoft.com/office/drawing/2014/main" id="{3168EDF9-2A40-58E6-C681-75F3B7BC4E3A}"/>
                </a:ext>
              </a:extLst>
            </p:cNvPr>
            <p:cNvSpPr>
              <a:spLocks noChangeArrowheads="1"/>
            </p:cNvSpPr>
            <p:nvPr/>
          </p:nvSpPr>
          <p:spPr bwMode="auto">
            <a:xfrm>
              <a:off x="1185"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2" name="Rectangle 12">
              <a:extLst>
                <a:ext uri="{FF2B5EF4-FFF2-40B4-BE49-F238E27FC236}">
                  <a16:creationId xmlns:a16="http://schemas.microsoft.com/office/drawing/2014/main" id="{12BA6EEA-7313-3862-4FD3-15411E4E6CB2}"/>
                </a:ext>
              </a:extLst>
            </p:cNvPr>
            <p:cNvSpPr>
              <a:spLocks noChangeArrowheads="1"/>
            </p:cNvSpPr>
            <p:nvPr/>
          </p:nvSpPr>
          <p:spPr bwMode="auto">
            <a:xfrm>
              <a:off x="1396"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grpSp>
      <p:grpSp>
        <p:nvGrpSpPr>
          <p:cNvPr id="73" name="Group 13">
            <a:extLst>
              <a:ext uri="{FF2B5EF4-FFF2-40B4-BE49-F238E27FC236}">
                <a16:creationId xmlns:a16="http://schemas.microsoft.com/office/drawing/2014/main" id="{AF408DC4-EA29-D996-A593-EABCE43134E4}"/>
              </a:ext>
            </a:extLst>
          </p:cNvPr>
          <p:cNvGrpSpPr>
            <a:grpSpLocks/>
          </p:cNvGrpSpPr>
          <p:nvPr/>
        </p:nvGrpSpPr>
        <p:grpSpPr bwMode="auto">
          <a:xfrm>
            <a:off x="6609555" y="2202780"/>
            <a:ext cx="1044303" cy="607854"/>
            <a:chOff x="933" y="2179"/>
            <a:chExt cx="658" cy="463"/>
          </a:xfrm>
          <a:solidFill>
            <a:srgbClr val="EE3228"/>
          </a:solidFill>
        </p:grpSpPr>
        <p:sp>
          <p:nvSpPr>
            <p:cNvPr id="74" name="Rectangle 14">
              <a:extLst>
                <a:ext uri="{FF2B5EF4-FFF2-40B4-BE49-F238E27FC236}">
                  <a16:creationId xmlns:a16="http://schemas.microsoft.com/office/drawing/2014/main" id="{185E7954-D356-56CD-3388-8090DD5A2092}"/>
                </a:ext>
              </a:extLst>
            </p:cNvPr>
            <p:cNvSpPr>
              <a:spLocks noChangeArrowheads="1"/>
            </p:cNvSpPr>
            <p:nvPr/>
          </p:nvSpPr>
          <p:spPr bwMode="auto">
            <a:xfrm>
              <a:off x="1544" y="2179"/>
              <a:ext cx="42" cy="250"/>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5" name="Rectangle 15">
              <a:extLst>
                <a:ext uri="{FF2B5EF4-FFF2-40B4-BE49-F238E27FC236}">
                  <a16:creationId xmlns:a16="http://schemas.microsoft.com/office/drawing/2014/main" id="{8EFB2571-1709-E654-8634-4980D6FC43DB}"/>
                </a:ext>
              </a:extLst>
            </p:cNvPr>
            <p:cNvSpPr>
              <a:spLocks noChangeArrowheads="1"/>
            </p:cNvSpPr>
            <p:nvPr/>
          </p:nvSpPr>
          <p:spPr bwMode="auto">
            <a:xfrm>
              <a:off x="933" y="2435"/>
              <a:ext cx="658" cy="207"/>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6" name="AutoShape 16">
              <a:extLst>
                <a:ext uri="{FF2B5EF4-FFF2-40B4-BE49-F238E27FC236}">
                  <a16:creationId xmlns:a16="http://schemas.microsoft.com/office/drawing/2014/main" id="{4B659EB1-227A-3A66-CA9E-2B4C0D0CE224}"/>
                </a:ext>
              </a:extLst>
            </p:cNvPr>
            <p:cNvSpPr>
              <a:spLocks noChangeArrowheads="1"/>
            </p:cNvSpPr>
            <p:nvPr/>
          </p:nvSpPr>
          <p:spPr bwMode="auto">
            <a:xfrm>
              <a:off x="1342"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7" name="AutoShape 17">
              <a:extLst>
                <a:ext uri="{FF2B5EF4-FFF2-40B4-BE49-F238E27FC236}">
                  <a16:creationId xmlns:a16="http://schemas.microsoft.com/office/drawing/2014/main" id="{42202D0A-499D-27F8-E6A0-9EDCA4E5B7C4}"/>
                </a:ext>
              </a:extLst>
            </p:cNvPr>
            <p:cNvSpPr>
              <a:spLocks noChangeArrowheads="1"/>
            </p:cNvSpPr>
            <p:nvPr/>
          </p:nvSpPr>
          <p:spPr bwMode="auto">
            <a:xfrm>
              <a:off x="1138"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8" name="AutoShape 18">
              <a:extLst>
                <a:ext uri="{FF2B5EF4-FFF2-40B4-BE49-F238E27FC236}">
                  <a16:creationId xmlns:a16="http://schemas.microsoft.com/office/drawing/2014/main" id="{D82B160C-1CB5-80D5-57B2-D7FD01754B61}"/>
                </a:ext>
              </a:extLst>
            </p:cNvPr>
            <p:cNvSpPr>
              <a:spLocks noChangeArrowheads="1"/>
            </p:cNvSpPr>
            <p:nvPr/>
          </p:nvSpPr>
          <p:spPr bwMode="auto">
            <a:xfrm>
              <a:off x="934" y="2245"/>
              <a:ext cx="202" cy="190"/>
            </a:xfrm>
            <a:prstGeom prst="rtTriangle">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79" name="Rectangle 19">
              <a:extLst>
                <a:ext uri="{FF2B5EF4-FFF2-40B4-BE49-F238E27FC236}">
                  <a16:creationId xmlns:a16="http://schemas.microsoft.com/office/drawing/2014/main" id="{45F5D423-D22F-A3C8-7556-5C75360C78E8}"/>
                </a:ext>
              </a:extLst>
            </p:cNvPr>
            <p:cNvSpPr>
              <a:spLocks noChangeArrowheads="1"/>
            </p:cNvSpPr>
            <p:nvPr/>
          </p:nvSpPr>
          <p:spPr bwMode="auto">
            <a:xfrm>
              <a:off x="974"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80" name="Rectangle 20">
              <a:extLst>
                <a:ext uri="{FF2B5EF4-FFF2-40B4-BE49-F238E27FC236}">
                  <a16:creationId xmlns:a16="http://schemas.microsoft.com/office/drawing/2014/main" id="{656C5087-D13C-640F-CF30-A4E05580FD73}"/>
                </a:ext>
              </a:extLst>
            </p:cNvPr>
            <p:cNvSpPr>
              <a:spLocks noChangeArrowheads="1"/>
            </p:cNvSpPr>
            <p:nvPr/>
          </p:nvSpPr>
          <p:spPr bwMode="auto">
            <a:xfrm>
              <a:off x="1185"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81" name="Rectangle 21">
              <a:extLst>
                <a:ext uri="{FF2B5EF4-FFF2-40B4-BE49-F238E27FC236}">
                  <a16:creationId xmlns:a16="http://schemas.microsoft.com/office/drawing/2014/main" id="{CD82C94D-7F50-3B0C-A26B-D7B74CAE79D7}"/>
                </a:ext>
              </a:extLst>
            </p:cNvPr>
            <p:cNvSpPr>
              <a:spLocks noChangeArrowheads="1"/>
            </p:cNvSpPr>
            <p:nvPr/>
          </p:nvSpPr>
          <p:spPr bwMode="auto">
            <a:xfrm>
              <a:off x="1396" y="2354"/>
              <a:ext cx="27" cy="51"/>
            </a:xfrm>
            <a:prstGeom prst="rect">
              <a:avLst/>
            </a:prstGeom>
            <a:grp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grpSp>
      <p:grpSp>
        <p:nvGrpSpPr>
          <p:cNvPr id="82" name="Group 22">
            <a:extLst>
              <a:ext uri="{FF2B5EF4-FFF2-40B4-BE49-F238E27FC236}">
                <a16:creationId xmlns:a16="http://schemas.microsoft.com/office/drawing/2014/main" id="{C522369A-27B7-8838-2223-767243D62EA8}"/>
              </a:ext>
            </a:extLst>
          </p:cNvPr>
          <p:cNvGrpSpPr>
            <a:grpSpLocks/>
          </p:cNvGrpSpPr>
          <p:nvPr/>
        </p:nvGrpSpPr>
        <p:grpSpPr bwMode="auto">
          <a:xfrm>
            <a:off x="5899536" y="3817485"/>
            <a:ext cx="485648" cy="1263321"/>
            <a:chOff x="3422" y="2069"/>
            <a:chExt cx="306" cy="796"/>
          </a:xfrm>
          <a:solidFill>
            <a:srgbClr val="EE3228"/>
          </a:solidFill>
        </p:grpSpPr>
        <p:grpSp>
          <p:nvGrpSpPr>
            <p:cNvPr id="83" name="Group 23">
              <a:extLst>
                <a:ext uri="{FF2B5EF4-FFF2-40B4-BE49-F238E27FC236}">
                  <a16:creationId xmlns:a16="http://schemas.microsoft.com/office/drawing/2014/main" id="{25387030-7068-FFF6-5E83-9EFCA81FECB6}"/>
                </a:ext>
              </a:extLst>
            </p:cNvPr>
            <p:cNvGrpSpPr>
              <a:grpSpLocks/>
            </p:cNvGrpSpPr>
            <p:nvPr/>
          </p:nvGrpSpPr>
          <p:grpSpPr bwMode="auto">
            <a:xfrm>
              <a:off x="3422" y="2069"/>
              <a:ext cx="306" cy="796"/>
              <a:chOff x="3422" y="2069"/>
              <a:chExt cx="306" cy="796"/>
            </a:xfrm>
            <a:grpFill/>
          </p:grpSpPr>
          <p:sp>
            <p:nvSpPr>
              <p:cNvPr id="85" name="Rectangle 24">
                <a:extLst>
                  <a:ext uri="{FF2B5EF4-FFF2-40B4-BE49-F238E27FC236}">
                    <a16:creationId xmlns:a16="http://schemas.microsoft.com/office/drawing/2014/main" id="{9E0807EB-3C24-3BFD-ECB1-4CD41A030AFD}"/>
                  </a:ext>
                </a:extLst>
              </p:cNvPr>
              <p:cNvSpPr>
                <a:spLocks noChangeArrowheads="1"/>
              </p:cNvSpPr>
              <p:nvPr/>
            </p:nvSpPr>
            <p:spPr bwMode="auto">
              <a:xfrm>
                <a:off x="3422" y="2069"/>
                <a:ext cx="305" cy="38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grpSp>
            <p:nvGrpSpPr>
              <p:cNvPr id="86" name="Group 44">
                <a:extLst>
                  <a:ext uri="{FF2B5EF4-FFF2-40B4-BE49-F238E27FC236}">
                    <a16:creationId xmlns:a16="http://schemas.microsoft.com/office/drawing/2014/main" id="{FE9ACC23-EBE1-BD1F-E815-5377C9A09399}"/>
                  </a:ext>
                </a:extLst>
              </p:cNvPr>
              <p:cNvGrpSpPr>
                <a:grpSpLocks/>
              </p:cNvGrpSpPr>
              <p:nvPr/>
            </p:nvGrpSpPr>
            <p:grpSpPr bwMode="auto">
              <a:xfrm>
                <a:off x="3423" y="2551"/>
                <a:ext cx="305" cy="314"/>
                <a:chOff x="1702" y="2990"/>
                <a:chExt cx="269" cy="301"/>
              </a:xfrm>
              <a:grpFill/>
            </p:grpSpPr>
            <p:sp>
              <p:nvSpPr>
                <p:cNvPr id="87" name="Rectangle 45">
                  <a:extLst>
                    <a:ext uri="{FF2B5EF4-FFF2-40B4-BE49-F238E27FC236}">
                      <a16:creationId xmlns:a16="http://schemas.microsoft.com/office/drawing/2014/main" id="{F758A59F-00FF-EF4B-CD29-6555406F1209}"/>
                    </a:ext>
                  </a:extLst>
                </p:cNvPr>
                <p:cNvSpPr>
                  <a:spLocks noChangeArrowheads="1"/>
                </p:cNvSpPr>
                <p:nvPr/>
              </p:nvSpPr>
              <p:spPr bwMode="auto">
                <a:xfrm>
                  <a:off x="1702" y="2990"/>
                  <a:ext cx="269" cy="30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88" name="Line 46">
                  <a:extLst>
                    <a:ext uri="{FF2B5EF4-FFF2-40B4-BE49-F238E27FC236}">
                      <a16:creationId xmlns:a16="http://schemas.microsoft.com/office/drawing/2014/main" id="{1F512894-4BB9-38D8-8D3A-1FBF8F442E26}"/>
                    </a:ext>
                  </a:extLst>
                </p:cNvPr>
                <p:cNvSpPr>
                  <a:spLocks noChangeShapeType="1"/>
                </p:cNvSpPr>
                <p:nvPr/>
              </p:nvSpPr>
              <p:spPr bwMode="auto">
                <a:xfrm>
                  <a:off x="1741" y="304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89" name="Line 47">
                  <a:extLst>
                    <a:ext uri="{FF2B5EF4-FFF2-40B4-BE49-F238E27FC236}">
                      <a16:creationId xmlns:a16="http://schemas.microsoft.com/office/drawing/2014/main" id="{04336E43-1B40-84DD-1E7A-E65DC84CA4C6}"/>
                    </a:ext>
                  </a:extLst>
                </p:cNvPr>
                <p:cNvSpPr>
                  <a:spLocks noChangeShapeType="1"/>
                </p:cNvSpPr>
                <p:nvPr/>
              </p:nvSpPr>
              <p:spPr bwMode="auto">
                <a:xfrm>
                  <a:off x="1741" y="3088"/>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90" name="Line 48">
                  <a:extLst>
                    <a:ext uri="{FF2B5EF4-FFF2-40B4-BE49-F238E27FC236}">
                      <a16:creationId xmlns:a16="http://schemas.microsoft.com/office/drawing/2014/main" id="{CF1E5341-BF87-337D-AF4F-50D2AF3D903E}"/>
                    </a:ext>
                  </a:extLst>
                </p:cNvPr>
                <p:cNvSpPr>
                  <a:spLocks noChangeShapeType="1"/>
                </p:cNvSpPr>
                <p:nvPr/>
              </p:nvSpPr>
              <p:spPr bwMode="auto">
                <a:xfrm>
                  <a:off x="1741" y="3130"/>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91" name="Line 49">
                  <a:extLst>
                    <a:ext uri="{FF2B5EF4-FFF2-40B4-BE49-F238E27FC236}">
                      <a16:creationId xmlns:a16="http://schemas.microsoft.com/office/drawing/2014/main" id="{3649979D-4A70-C726-22CE-0D933D91B29A}"/>
                    </a:ext>
                  </a:extLst>
                </p:cNvPr>
                <p:cNvSpPr>
                  <a:spLocks noChangeShapeType="1"/>
                </p:cNvSpPr>
                <p:nvPr/>
              </p:nvSpPr>
              <p:spPr bwMode="auto">
                <a:xfrm>
                  <a:off x="1741" y="3172"/>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92" name="Line 50">
                  <a:extLst>
                    <a:ext uri="{FF2B5EF4-FFF2-40B4-BE49-F238E27FC236}">
                      <a16:creationId xmlns:a16="http://schemas.microsoft.com/office/drawing/2014/main" id="{3B990696-46DA-5C3C-68DF-0A0C6ADB564A}"/>
                    </a:ext>
                  </a:extLst>
                </p:cNvPr>
                <p:cNvSpPr>
                  <a:spLocks noChangeShapeType="1"/>
                </p:cNvSpPr>
                <p:nvPr/>
              </p:nvSpPr>
              <p:spPr bwMode="auto">
                <a:xfrm>
                  <a:off x="1741" y="3214"/>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93" name="Line 51">
                  <a:extLst>
                    <a:ext uri="{FF2B5EF4-FFF2-40B4-BE49-F238E27FC236}">
                      <a16:creationId xmlns:a16="http://schemas.microsoft.com/office/drawing/2014/main" id="{1033566E-B482-D59E-9917-0C1F998C3439}"/>
                    </a:ext>
                  </a:extLst>
                </p:cNvPr>
                <p:cNvSpPr>
                  <a:spLocks noChangeShapeType="1"/>
                </p:cNvSpPr>
                <p:nvPr/>
              </p:nvSpPr>
              <p:spPr bwMode="auto">
                <a:xfrm>
                  <a:off x="1741" y="325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grpSp>
        <p:sp>
          <p:nvSpPr>
            <p:cNvPr id="84" name="Line 27">
              <a:extLst>
                <a:ext uri="{FF2B5EF4-FFF2-40B4-BE49-F238E27FC236}">
                  <a16:creationId xmlns:a16="http://schemas.microsoft.com/office/drawing/2014/main" id="{34AF2C91-EFF2-F3EA-CDCD-47DA1A8BAD3C}"/>
                </a:ext>
              </a:extLst>
            </p:cNvPr>
            <p:cNvSpPr>
              <a:spLocks noChangeShapeType="1"/>
            </p:cNvSpPr>
            <p:nvPr/>
          </p:nvSpPr>
          <p:spPr bwMode="auto">
            <a:xfrm>
              <a:off x="3424" y="2157"/>
              <a:ext cx="304"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grpSp>
        <p:nvGrpSpPr>
          <p:cNvPr id="94" name="Group 34">
            <a:extLst>
              <a:ext uri="{FF2B5EF4-FFF2-40B4-BE49-F238E27FC236}">
                <a16:creationId xmlns:a16="http://schemas.microsoft.com/office/drawing/2014/main" id="{F531D856-9A27-49BD-CD1E-A7BEA6CF79FD}"/>
              </a:ext>
            </a:extLst>
          </p:cNvPr>
          <p:cNvGrpSpPr>
            <a:grpSpLocks/>
          </p:cNvGrpSpPr>
          <p:nvPr/>
        </p:nvGrpSpPr>
        <p:grpSpPr bwMode="auto">
          <a:xfrm>
            <a:off x="2921171" y="3804916"/>
            <a:ext cx="495171" cy="1249038"/>
            <a:chOff x="1780" y="2069"/>
            <a:chExt cx="312" cy="787"/>
          </a:xfrm>
          <a:solidFill>
            <a:srgbClr val="EE3228"/>
          </a:solidFill>
        </p:grpSpPr>
        <p:sp>
          <p:nvSpPr>
            <p:cNvPr id="95" name="Rectangle 22">
              <a:extLst>
                <a:ext uri="{FF2B5EF4-FFF2-40B4-BE49-F238E27FC236}">
                  <a16:creationId xmlns:a16="http://schemas.microsoft.com/office/drawing/2014/main" id="{9E3DE3E0-334C-B568-378A-D136E2D115BF}"/>
                </a:ext>
              </a:extLst>
            </p:cNvPr>
            <p:cNvSpPr>
              <a:spLocks noChangeArrowheads="1"/>
            </p:cNvSpPr>
            <p:nvPr/>
          </p:nvSpPr>
          <p:spPr bwMode="auto">
            <a:xfrm>
              <a:off x="1780" y="2069"/>
              <a:ext cx="305" cy="38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96" name="Line 25">
              <a:extLst>
                <a:ext uri="{FF2B5EF4-FFF2-40B4-BE49-F238E27FC236}">
                  <a16:creationId xmlns:a16="http://schemas.microsoft.com/office/drawing/2014/main" id="{B3095335-5782-F897-071B-3B7F2DA74690}"/>
                </a:ext>
              </a:extLst>
            </p:cNvPr>
            <p:cNvSpPr>
              <a:spLocks noChangeShapeType="1"/>
            </p:cNvSpPr>
            <p:nvPr/>
          </p:nvSpPr>
          <p:spPr bwMode="auto">
            <a:xfrm>
              <a:off x="1787" y="2169"/>
              <a:ext cx="303"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nvGrpSpPr>
            <p:cNvPr id="97" name="Group 28">
              <a:extLst>
                <a:ext uri="{FF2B5EF4-FFF2-40B4-BE49-F238E27FC236}">
                  <a16:creationId xmlns:a16="http://schemas.microsoft.com/office/drawing/2014/main" id="{7C011C5F-9063-F981-8628-678094459D51}"/>
                </a:ext>
              </a:extLst>
            </p:cNvPr>
            <p:cNvGrpSpPr>
              <a:grpSpLocks/>
            </p:cNvGrpSpPr>
            <p:nvPr/>
          </p:nvGrpSpPr>
          <p:grpSpPr bwMode="auto">
            <a:xfrm>
              <a:off x="1787" y="2542"/>
              <a:ext cx="305" cy="314"/>
              <a:chOff x="1702" y="2990"/>
              <a:chExt cx="269" cy="301"/>
            </a:xfrm>
            <a:grpFill/>
          </p:grpSpPr>
          <p:sp>
            <p:nvSpPr>
              <p:cNvPr id="98" name="Rectangle 29">
                <a:extLst>
                  <a:ext uri="{FF2B5EF4-FFF2-40B4-BE49-F238E27FC236}">
                    <a16:creationId xmlns:a16="http://schemas.microsoft.com/office/drawing/2014/main" id="{BA20A03A-8418-D1ED-ED94-1861D12BE8D9}"/>
                  </a:ext>
                </a:extLst>
              </p:cNvPr>
              <p:cNvSpPr>
                <a:spLocks noChangeArrowheads="1"/>
              </p:cNvSpPr>
              <p:nvPr/>
            </p:nvSpPr>
            <p:spPr bwMode="auto">
              <a:xfrm>
                <a:off x="1702" y="2990"/>
                <a:ext cx="269" cy="30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99" name="Line 30">
                <a:extLst>
                  <a:ext uri="{FF2B5EF4-FFF2-40B4-BE49-F238E27FC236}">
                    <a16:creationId xmlns:a16="http://schemas.microsoft.com/office/drawing/2014/main" id="{DC511498-8355-CFC3-8539-F60C84F12D01}"/>
                  </a:ext>
                </a:extLst>
              </p:cNvPr>
              <p:cNvSpPr>
                <a:spLocks noChangeShapeType="1"/>
              </p:cNvSpPr>
              <p:nvPr/>
            </p:nvSpPr>
            <p:spPr bwMode="auto">
              <a:xfrm>
                <a:off x="1741" y="304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00" name="Line 31">
                <a:extLst>
                  <a:ext uri="{FF2B5EF4-FFF2-40B4-BE49-F238E27FC236}">
                    <a16:creationId xmlns:a16="http://schemas.microsoft.com/office/drawing/2014/main" id="{B0A1C27F-B7EC-E35B-A6FB-249EC17F17F8}"/>
                  </a:ext>
                </a:extLst>
              </p:cNvPr>
              <p:cNvSpPr>
                <a:spLocks noChangeShapeType="1"/>
              </p:cNvSpPr>
              <p:nvPr/>
            </p:nvSpPr>
            <p:spPr bwMode="auto">
              <a:xfrm>
                <a:off x="1741" y="3088"/>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01" name="Line 32">
                <a:extLst>
                  <a:ext uri="{FF2B5EF4-FFF2-40B4-BE49-F238E27FC236}">
                    <a16:creationId xmlns:a16="http://schemas.microsoft.com/office/drawing/2014/main" id="{2DC295F5-BC9D-41C9-0B6B-46D97946DB72}"/>
                  </a:ext>
                </a:extLst>
              </p:cNvPr>
              <p:cNvSpPr>
                <a:spLocks noChangeShapeType="1"/>
              </p:cNvSpPr>
              <p:nvPr/>
            </p:nvSpPr>
            <p:spPr bwMode="auto">
              <a:xfrm>
                <a:off x="1741" y="3130"/>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02" name="Line 33">
                <a:extLst>
                  <a:ext uri="{FF2B5EF4-FFF2-40B4-BE49-F238E27FC236}">
                    <a16:creationId xmlns:a16="http://schemas.microsoft.com/office/drawing/2014/main" id="{1F93023F-B0B6-DB73-5EE8-E4642B016887}"/>
                  </a:ext>
                </a:extLst>
              </p:cNvPr>
              <p:cNvSpPr>
                <a:spLocks noChangeShapeType="1"/>
              </p:cNvSpPr>
              <p:nvPr/>
            </p:nvSpPr>
            <p:spPr bwMode="auto">
              <a:xfrm>
                <a:off x="1741" y="3172"/>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03" name="Line 34">
                <a:extLst>
                  <a:ext uri="{FF2B5EF4-FFF2-40B4-BE49-F238E27FC236}">
                    <a16:creationId xmlns:a16="http://schemas.microsoft.com/office/drawing/2014/main" id="{2669CB11-8A40-AA51-0687-0FFB1E838D5B}"/>
                  </a:ext>
                </a:extLst>
              </p:cNvPr>
              <p:cNvSpPr>
                <a:spLocks noChangeShapeType="1"/>
              </p:cNvSpPr>
              <p:nvPr/>
            </p:nvSpPr>
            <p:spPr bwMode="auto">
              <a:xfrm>
                <a:off x="1741" y="3214"/>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04" name="Line 35">
                <a:extLst>
                  <a:ext uri="{FF2B5EF4-FFF2-40B4-BE49-F238E27FC236}">
                    <a16:creationId xmlns:a16="http://schemas.microsoft.com/office/drawing/2014/main" id="{E1E12631-2813-7E7D-ACBA-E46CBEB0CE0A}"/>
                  </a:ext>
                </a:extLst>
              </p:cNvPr>
              <p:cNvSpPr>
                <a:spLocks noChangeShapeType="1"/>
              </p:cNvSpPr>
              <p:nvPr/>
            </p:nvSpPr>
            <p:spPr bwMode="auto">
              <a:xfrm>
                <a:off x="1741" y="325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grpSp>
      <p:grpSp>
        <p:nvGrpSpPr>
          <p:cNvPr id="105" name="Group 45">
            <a:extLst>
              <a:ext uri="{FF2B5EF4-FFF2-40B4-BE49-F238E27FC236}">
                <a16:creationId xmlns:a16="http://schemas.microsoft.com/office/drawing/2014/main" id="{AFB25A63-5ECF-A523-25E5-9C7251730711}"/>
              </a:ext>
            </a:extLst>
          </p:cNvPr>
          <p:cNvGrpSpPr>
            <a:grpSpLocks/>
          </p:cNvGrpSpPr>
          <p:nvPr/>
        </p:nvGrpSpPr>
        <p:grpSpPr bwMode="auto">
          <a:xfrm>
            <a:off x="4431435" y="3824755"/>
            <a:ext cx="487235" cy="1282366"/>
            <a:chOff x="2609" y="2069"/>
            <a:chExt cx="307" cy="808"/>
          </a:xfrm>
          <a:solidFill>
            <a:srgbClr val="EE3228"/>
          </a:solidFill>
        </p:grpSpPr>
        <p:sp>
          <p:nvSpPr>
            <p:cNvPr id="106" name="Rectangle 23">
              <a:extLst>
                <a:ext uri="{FF2B5EF4-FFF2-40B4-BE49-F238E27FC236}">
                  <a16:creationId xmlns:a16="http://schemas.microsoft.com/office/drawing/2014/main" id="{D94CF3D2-78BE-F41E-5687-6FC40CCB67D9}"/>
                </a:ext>
              </a:extLst>
            </p:cNvPr>
            <p:cNvSpPr>
              <a:spLocks noChangeArrowheads="1"/>
            </p:cNvSpPr>
            <p:nvPr/>
          </p:nvSpPr>
          <p:spPr bwMode="auto">
            <a:xfrm>
              <a:off x="2611" y="2069"/>
              <a:ext cx="305" cy="38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107" name="Line 26">
              <a:extLst>
                <a:ext uri="{FF2B5EF4-FFF2-40B4-BE49-F238E27FC236}">
                  <a16:creationId xmlns:a16="http://schemas.microsoft.com/office/drawing/2014/main" id="{B8DEE235-A2C2-ED01-8E09-83F1268E5CC7}"/>
                </a:ext>
              </a:extLst>
            </p:cNvPr>
            <p:cNvSpPr>
              <a:spLocks noChangeShapeType="1"/>
            </p:cNvSpPr>
            <p:nvPr/>
          </p:nvSpPr>
          <p:spPr bwMode="auto">
            <a:xfrm>
              <a:off x="2609" y="2163"/>
              <a:ext cx="303"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nvGrpSpPr>
            <p:cNvPr id="108" name="Group 36">
              <a:extLst>
                <a:ext uri="{FF2B5EF4-FFF2-40B4-BE49-F238E27FC236}">
                  <a16:creationId xmlns:a16="http://schemas.microsoft.com/office/drawing/2014/main" id="{53A5CE20-484D-0616-ABB7-0B132C70AC82}"/>
                </a:ext>
              </a:extLst>
            </p:cNvPr>
            <p:cNvGrpSpPr>
              <a:grpSpLocks/>
            </p:cNvGrpSpPr>
            <p:nvPr/>
          </p:nvGrpSpPr>
          <p:grpSpPr bwMode="auto">
            <a:xfrm>
              <a:off x="2611" y="2563"/>
              <a:ext cx="305" cy="314"/>
              <a:chOff x="1702" y="2990"/>
              <a:chExt cx="269" cy="301"/>
            </a:xfrm>
            <a:grpFill/>
          </p:grpSpPr>
          <p:sp>
            <p:nvSpPr>
              <p:cNvPr id="109" name="Rectangle 37">
                <a:extLst>
                  <a:ext uri="{FF2B5EF4-FFF2-40B4-BE49-F238E27FC236}">
                    <a16:creationId xmlns:a16="http://schemas.microsoft.com/office/drawing/2014/main" id="{B1F0F5EA-5F6F-F2A8-003B-8AF9699724CF}"/>
                  </a:ext>
                </a:extLst>
              </p:cNvPr>
              <p:cNvSpPr>
                <a:spLocks noChangeArrowheads="1"/>
              </p:cNvSpPr>
              <p:nvPr/>
            </p:nvSpPr>
            <p:spPr bwMode="auto">
              <a:xfrm>
                <a:off x="1702" y="2990"/>
                <a:ext cx="269" cy="301"/>
              </a:xfrm>
              <a:prstGeom prst="rect">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110" name="Line 38">
                <a:extLst>
                  <a:ext uri="{FF2B5EF4-FFF2-40B4-BE49-F238E27FC236}">
                    <a16:creationId xmlns:a16="http://schemas.microsoft.com/office/drawing/2014/main" id="{78F7104C-6F1A-B9F1-0534-A44BC1E9D293}"/>
                  </a:ext>
                </a:extLst>
              </p:cNvPr>
              <p:cNvSpPr>
                <a:spLocks noChangeShapeType="1"/>
              </p:cNvSpPr>
              <p:nvPr/>
            </p:nvSpPr>
            <p:spPr bwMode="auto">
              <a:xfrm>
                <a:off x="1741" y="304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11" name="Line 39">
                <a:extLst>
                  <a:ext uri="{FF2B5EF4-FFF2-40B4-BE49-F238E27FC236}">
                    <a16:creationId xmlns:a16="http://schemas.microsoft.com/office/drawing/2014/main" id="{A2BF7D93-6B02-59E8-B91B-7935659FAA34}"/>
                  </a:ext>
                </a:extLst>
              </p:cNvPr>
              <p:cNvSpPr>
                <a:spLocks noChangeShapeType="1"/>
              </p:cNvSpPr>
              <p:nvPr/>
            </p:nvSpPr>
            <p:spPr bwMode="auto">
              <a:xfrm>
                <a:off x="1741" y="3088"/>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12" name="Line 40">
                <a:extLst>
                  <a:ext uri="{FF2B5EF4-FFF2-40B4-BE49-F238E27FC236}">
                    <a16:creationId xmlns:a16="http://schemas.microsoft.com/office/drawing/2014/main" id="{A91A1FD9-99CD-1CF5-DCA4-36AAD085AF60}"/>
                  </a:ext>
                </a:extLst>
              </p:cNvPr>
              <p:cNvSpPr>
                <a:spLocks noChangeShapeType="1"/>
              </p:cNvSpPr>
              <p:nvPr/>
            </p:nvSpPr>
            <p:spPr bwMode="auto">
              <a:xfrm>
                <a:off x="1741" y="3130"/>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13" name="Line 41">
                <a:extLst>
                  <a:ext uri="{FF2B5EF4-FFF2-40B4-BE49-F238E27FC236}">
                    <a16:creationId xmlns:a16="http://schemas.microsoft.com/office/drawing/2014/main" id="{05825DFB-AF0B-1DC1-A426-525A0C3FBA83}"/>
                  </a:ext>
                </a:extLst>
              </p:cNvPr>
              <p:cNvSpPr>
                <a:spLocks noChangeShapeType="1"/>
              </p:cNvSpPr>
              <p:nvPr/>
            </p:nvSpPr>
            <p:spPr bwMode="auto">
              <a:xfrm>
                <a:off x="1741" y="3172"/>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14" name="Line 42">
                <a:extLst>
                  <a:ext uri="{FF2B5EF4-FFF2-40B4-BE49-F238E27FC236}">
                    <a16:creationId xmlns:a16="http://schemas.microsoft.com/office/drawing/2014/main" id="{B3F86B34-AF80-9DD9-12B2-2A03643502D7}"/>
                  </a:ext>
                </a:extLst>
              </p:cNvPr>
              <p:cNvSpPr>
                <a:spLocks noChangeShapeType="1"/>
              </p:cNvSpPr>
              <p:nvPr/>
            </p:nvSpPr>
            <p:spPr bwMode="auto">
              <a:xfrm>
                <a:off x="1741" y="3214"/>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sp>
            <p:nvSpPr>
              <p:cNvPr id="115" name="Line 43">
                <a:extLst>
                  <a:ext uri="{FF2B5EF4-FFF2-40B4-BE49-F238E27FC236}">
                    <a16:creationId xmlns:a16="http://schemas.microsoft.com/office/drawing/2014/main" id="{DD45EE22-6662-7F8B-3C0B-2E52A08CB001}"/>
                  </a:ext>
                </a:extLst>
              </p:cNvPr>
              <p:cNvSpPr>
                <a:spLocks noChangeShapeType="1"/>
              </p:cNvSpPr>
              <p:nvPr/>
            </p:nvSpPr>
            <p:spPr bwMode="auto">
              <a:xfrm>
                <a:off x="1741" y="3256"/>
                <a:ext cx="179" cy="0"/>
              </a:xfrm>
              <a:prstGeom prst="line">
                <a:avLst/>
              </a:prstGeom>
              <a:grpFill/>
              <a:ln w="12700" cap="sq">
                <a:solidFill>
                  <a:schemeClr val="tx1"/>
                </a:solidFill>
                <a:round/>
                <a:headEnd type="none" w="sm" len="sm"/>
                <a:tailEnd type="none" w="sm" len="sm"/>
              </a:ln>
            </p:spPr>
            <p:txBody>
              <a:bodyPr wrap="none"/>
              <a:lstStyle/>
              <a:p>
                <a:endParaRPr lang="en-US" sz="2798">
                  <a:latin typeface="Roboto" panose="02000000000000000000" pitchFamily="2" charset="0"/>
                  <a:ea typeface="Roboto" panose="02000000000000000000" pitchFamily="2" charset="0"/>
                </a:endParaRPr>
              </a:p>
            </p:txBody>
          </p:sp>
        </p:grpSp>
      </p:grpSp>
      <p:grpSp>
        <p:nvGrpSpPr>
          <p:cNvPr id="116" name="Group 56">
            <a:extLst>
              <a:ext uri="{FF2B5EF4-FFF2-40B4-BE49-F238E27FC236}">
                <a16:creationId xmlns:a16="http://schemas.microsoft.com/office/drawing/2014/main" id="{F9468DB2-539E-104D-757E-5F2FD76BE7FC}"/>
              </a:ext>
            </a:extLst>
          </p:cNvPr>
          <p:cNvGrpSpPr>
            <a:grpSpLocks/>
          </p:cNvGrpSpPr>
          <p:nvPr/>
        </p:nvGrpSpPr>
        <p:grpSpPr bwMode="auto">
          <a:xfrm>
            <a:off x="3546496" y="3971784"/>
            <a:ext cx="825285" cy="265043"/>
            <a:chOff x="2092" y="2174"/>
            <a:chExt cx="520" cy="167"/>
          </a:xfrm>
          <a:solidFill>
            <a:srgbClr val="EE3228"/>
          </a:solidFill>
        </p:grpSpPr>
        <p:sp>
          <p:nvSpPr>
            <p:cNvPr id="117" name="Line 52">
              <a:extLst>
                <a:ext uri="{FF2B5EF4-FFF2-40B4-BE49-F238E27FC236}">
                  <a16:creationId xmlns:a16="http://schemas.microsoft.com/office/drawing/2014/main" id="{472A7E10-81C3-229B-109E-73A7E48A0125}"/>
                </a:ext>
              </a:extLst>
            </p:cNvPr>
            <p:cNvSpPr>
              <a:spLocks noChangeShapeType="1"/>
            </p:cNvSpPr>
            <p:nvPr/>
          </p:nvSpPr>
          <p:spPr bwMode="auto">
            <a:xfrm flipV="1">
              <a:off x="2092" y="2260"/>
              <a:ext cx="520" cy="14"/>
            </a:xfrm>
            <a:prstGeom prst="line">
              <a:avLst/>
            </a:prstGeom>
            <a:grpFill/>
            <a:ln w="57150">
              <a:solidFill>
                <a:schemeClr val="tx1"/>
              </a:solidFill>
              <a:prstDash val="sysDot"/>
              <a:round/>
              <a:headEnd type="none" w="sm" len="sm"/>
              <a:tailEnd type="triangle" w="sm" len="sm"/>
            </a:ln>
          </p:spPr>
          <p:txBody>
            <a:bodyPr wrap="none"/>
            <a:lstStyle/>
            <a:p>
              <a:endParaRPr lang="en-US" sz="2798">
                <a:latin typeface="Roboto" panose="02000000000000000000" pitchFamily="2" charset="0"/>
                <a:ea typeface="Roboto" panose="02000000000000000000" pitchFamily="2" charset="0"/>
              </a:endParaRPr>
            </a:p>
          </p:txBody>
        </p:sp>
        <p:sp>
          <p:nvSpPr>
            <p:cNvPr id="118" name="AutoShape 53">
              <a:extLst>
                <a:ext uri="{FF2B5EF4-FFF2-40B4-BE49-F238E27FC236}">
                  <a16:creationId xmlns:a16="http://schemas.microsoft.com/office/drawing/2014/main" id="{8DB0FFFA-0FC9-0005-F3BD-DD34BD250A8B}"/>
                </a:ext>
              </a:extLst>
            </p:cNvPr>
            <p:cNvSpPr>
              <a:spLocks noChangeArrowheads="1"/>
            </p:cNvSpPr>
            <p:nvPr/>
          </p:nvSpPr>
          <p:spPr bwMode="auto">
            <a:xfrm>
              <a:off x="2258" y="2174"/>
              <a:ext cx="166" cy="167"/>
            </a:xfrm>
            <a:prstGeom prst="triangle">
              <a:avLst>
                <a:gd name="adj" fmla="val 50000"/>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I</a:t>
              </a:r>
            </a:p>
          </p:txBody>
        </p:sp>
      </p:grpSp>
      <p:grpSp>
        <p:nvGrpSpPr>
          <p:cNvPr id="119" name="Group 59">
            <a:extLst>
              <a:ext uri="{FF2B5EF4-FFF2-40B4-BE49-F238E27FC236}">
                <a16:creationId xmlns:a16="http://schemas.microsoft.com/office/drawing/2014/main" id="{DB480056-6526-1217-2E74-3309E060655D}"/>
              </a:ext>
            </a:extLst>
          </p:cNvPr>
          <p:cNvGrpSpPr>
            <a:grpSpLocks/>
          </p:cNvGrpSpPr>
          <p:nvPr/>
        </p:nvGrpSpPr>
        <p:grpSpPr bwMode="auto">
          <a:xfrm>
            <a:off x="5037979" y="3996954"/>
            <a:ext cx="825285" cy="265043"/>
            <a:chOff x="2939" y="2174"/>
            <a:chExt cx="520" cy="167"/>
          </a:xfrm>
          <a:solidFill>
            <a:srgbClr val="EE3228"/>
          </a:solidFill>
        </p:grpSpPr>
        <p:sp>
          <p:nvSpPr>
            <p:cNvPr id="120" name="Line 54">
              <a:extLst>
                <a:ext uri="{FF2B5EF4-FFF2-40B4-BE49-F238E27FC236}">
                  <a16:creationId xmlns:a16="http://schemas.microsoft.com/office/drawing/2014/main" id="{DDC4D59D-C479-5BAC-EF6A-476E6CD50F51}"/>
                </a:ext>
              </a:extLst>
            </p:cNvPr>
            <p:cNvSpPr>
              <a:spLocks noChangeShapeType="1"/>
            </p:cNvSpPr>
            <p:nvPr/>
          </p:nvSpPr>
          <p:spPr bwMode="auto">
            <a:xfrm flipV="1">
              <a:off x="2939" y="2260"/>
              <a:ext cx="520" cy="14"/>
            </a:xfrm>
            <a:prstGeom prst="line">
              <a:avLst/>
            </a:prstGeom>
            <a:grpFill/>
            <a:ln w="57150">
              <a:solidFill>
                <a:schemeClr val="tx1"/>
              </a:solidFill>
              <a:prstDash val="sysDot"/>
              <a:round/>
              <a:headEnd type="none" w="sm" len="sm"/>
              <a:tailEnd type="triangle" w="sm" len="sm"/>
            </a:ln>
          </p:spPr>
          <p:txBody>
            <a:bodyPr wrap="none"/>
            <a:lstStyle/>
            <a:p>
              <a:endParaRPr lang="en-US" sz="2798">
                <a:latin typeface="Roboto" panose="02000000000000000000" pitchFamily="2" charset="0"/>
                <a:ea typeface="Roboto" panose="02000000000000000000" pitchFamily="2" charset="0"/>
              </a:endParaRPr>
            </a:p>
          </p:txBody>
        </p:sp>
        <p:sp>
          <p:nvSpPr>
            <p:cNvPr id="121" name="AutoShape 55">
              <a:extLst>
                <a:ext uri="{FF2B5EF4-FFF2-40B4-BE49-F238E27FC236}">
                  <a16:creationId xmlns:a16="http://schemas.microsoft.com/office/drawing/2014/main" id="{9AA4173A-0334-AEAA-D185-66966295093A}"/>
                </a:ext>
              </a:extLst>
            </p:cNvPr>
            <p:cNvSpPr>
              <a:spLocks noChangeArrowheads="1"/>
            </p:cNvSpPr>
            <p:nvPr/>
          </p:nvSpPr>
          <p:spPr bwMode="auto">
            <a:xfrm>
              <a:off x="3085" y="2174"/>
              <a:ext cx="166" cy="167"/>
            </a:xfrm>
            <a:prstGeom prst="triangle">
              <a:avLst>
                <a:gd name="adj" fmla="val 50000"/>
              </a:avLst>
            </a:prstGeom>
            <a:grp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I</a:t>
              </a:r>
            </a:p>
          </p:txBody>
        </p:sp>
      </p:grpSp>
      <p:sp>
        <p:nvSpPr>
          <p:cNvPr id="122" name="AutoShape 56">
            <a:extLst>
              <a:ext uri="{FF2B5EF4-FFF2-40B4-BE49-F238E27FC236}">
                <a16:creationId xmlns:a16="http://schemas.microsoft.com/office/drawing/2014/main" id="{4F7A24EC-E3B4-76FB-CCE5-E2F04EE6DA30}"/>
              </a:ext>
            </a:extLst>
          </p:cNvPr>
          <p:cNvSpPr>
            <a:spLocks noChangeArrowheads="1"/>
          </p:cNvSpPr>
          <p:nvPr/>
        </p:nvSpPr>
        <p:spPr bwMode="auto">
          <a:xfrm rot="18900000">
            <a:off x="6317073" y="3187322"/>
            <a:ext cx="1122071" cy="317417"/>
          </a:xfrm>
          <a:prstGeom prst="rightArrow">
            <a:avLst>
              <a:gd name="adj1" fmla="val 50000"/>
              <a:gd name="adj2" fmla="val 88375"/>
            </a:avLst>
          </a:prstGeom>
          <a:solidFill>
            <a:srgbClr val="EE3228"/>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123" name="AutoShape 57">
            <a:extLst>
              <a:ext uri="{FF2B5EF4-FFF2-40B4-BE49-F238E27FC236}">
                <a16:creationId xmlns:a16="http://schemas.microsoft.com/office/drawing/2014/main" id="{253F4F7B-16FE-0C93-6838-15C3CE7D15E5}"/>
              </a:ext>
            </a:extLst>
          </p:cNvPr>
          <p:cNvSpPr>
            <a:spLocks noChangeArrowheads="1"/>
          </p:cNvSpPr>
          <p:nvPr/>
        </p:nvSpPr>
        <p:spPr bwMode="auto">
          <a:xfrm rot="2772363">
            <a:off x="2042337" y="3190122"/>
            <a:ext cx="1034780" cy="344398"/>
          </a:xfrm>
          <a:prstGeom prst="rightArrow">
            <a:avLst>
              <a:gd name="adj1" fmla="val 50000"/>
              <a:gd name="adj2" fmla="val 75115"/>
            </a:avLst>
          </a:prstGeom>
          <a:solidFill>
            <a:srgbClr val="EE3228"/>
          </a:solidFill>
          <a:ln w="12700" cap="sq">
            <a:solidFill>
              <a:schemeClr val="tx1"/>
            </a:solidFill>
            <a:miter lim="800000"/>
            <a:headEnd type="none" w="sm" len="sm"/>
            <a:tailEnd type="none" w="sm" len="sm"/>
          </a:ln>
        </p:spPr>
        <p:txBody>
          <a:bodyPr rot="10800000" vert="eaVert"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798">
              <a:solidFill>
                <a:schemeClr val="bg1"/>
              </a:solidFill>
              <a:latin typeface="Roboto" panose="02000000000000000000" pitchFamily="2" charset="0"/>
              <a:ea typeface="Roboto" panose="02000000000000000000" pitchFamily="2" charset="0"/>
            </a:endParaRPr>
          </a:p>
        </p:txBody>
      </p:sp>
      <p:sp>
        <p:nvSpPr>
          <p:cNvPr id="124" name="Text Box 115">
            <a:extLst>
              <a:ext uri="{FF2B5EF4-FFF2-40B4-BE49-F238E27FC236}">
                <a16:creationId xmlns:a16="http://schemas.microsoft.com/office/drawing/2014/main" id="{1E1E584F-F1B3-F47A-DF07-EB714D99EEF9}"/>
              </a:ext>
            </a:extLst>
          </p:cNvPr>
          <p:cNvSpPr txBox="1">
            <a:spLocks noChangeArrowheads="1"/>
          </p:cNvSpPr>
          <p:nvPr/>
        </p:nvSpPr>
        <p:spPr bwMode="auto">
          <a:xfrm>
            <a:off x="3471496" y="2289641"/>
            <a:ext cx="2370239" cy="289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latin typeface="Roboto" panose="02000000000000000000" pitchFamily="2" charset="0"/>
                <a:ea typeface="Roboto" panose="02000000000000000000" pitchFamily="2" charset="0"/>
              </a:rPr>
              <a:t>VALUE STREAM MAP</a:t>
            </a:r>
          </a:p>
        </p:txBody>
      </p:sp>
      <p:sp>
        <p:nvSpPr>
          <p:cNvPr id="126" name="TextBox 125">
            <a:extLst>
              <a:ext uri="{FF2B5EF4-FFF2-40B4-BE49-F238E27FC236}">
                <a16:creationId xmlns:a16="http://schemas.microsoft.com/office/drawing/2014/main" id="{D054B3CA-EA18-66D9-807C-2404CF7B8044}"/>
              </a:ext>
            </a:extLst>
          </p:cNvPr>
          <p:cNvSpPr txBox="1"/>
          <p:nvPr/>
        </p:nvSpPr>
        <p:spPr>
          <a:xfrm>
            <a:off x="9002361" y="1857847"/>
            <a:ext cx="2312830" cy="4121146"/>
          </a:xfrm>
          <a:prstGeom prst="rect">
            <a:avLst/>
          </a:prstGeom>
          <a:noFill/>
        </p:spPr>
        <p:txBody>
          <a:bodyPr wrap="square" rtlCol="0">
            <a:spAutoFit/>
          </a:bodyPr>
          <a:lstStyle/>
          <a:p>
            <a:pPr marL="285664" indent="-285664">
              <a:spcAft>
                <a:spcPct val="0"/>
              </a:spcAft>
              <a:buClr>
                <a:schemeClr val="tx1"/>
              </a:buClr>
              <a:buSzPct val="90000"/>
              <a:buFont typeface="Arial" panose="020B0604020202020204" pitchFamily="34" charset="0"/>
              <a:buChar char="•"/>
            </a:pPr>
            <a:r>
              <a:rPr lang="en-US" altLang="en-US" sz="1799" dirty="0"/>
              <a:t>When creating the Current State Map the team walks the process in reverse</a:t>
            </a:r>
          </a:p>
          <a:p>
            <a:pPr marL="285664" indent="-285664">
              <a:spcAft>
                <a:spcPct val="0"/>
              </a:spcAft>
              <a:buClr>
                <a:schemeClr val="tx1"/>
              </a:buClr>
              <a:buSzPct val="90000"/>
              <a:buFont typeface="Arial" panose="020B0604020202020204" pitchFamily="34" charset="0"/>
              <a:buChar char="•"/>
            </a:pPr>
            <a:r>
              <a:rPr lang="en-US" altLang="en-US" sz="1799" dirty="0"/>
              <a:t>We see the process from the customer</a:t>
            </a:r>
            <a:r>
              <a:rPr lang="ja-JP" altLang="en-US" sz="1799" dirty="0"/>
              <a:t>’</a:t>
            </a:r>
            <a:r>
              <a:rPr lang="en-US" altLang="ja-JP" sz="1799" dirty="0"/>
              <a:t>s perspective</a:t>
            </a:r>
          </a:p>
          <a:p>
            <a:pPr marL="285664" indent="-285664">
              <a:spcAft>
                <a:spcPct val="0"/>
              </a:spcAft>
              <a:buClr>
                <a:schemeClr val="tx1"/>
              </a:buClr>
              <a:buSzPct val="90000"/>
              <a:buFont typeface="Arial" panose="020B0604020202020204" pitchFamily="34" charset="0"/>
              <a:buChar char="•"/>
            </a:pPr>
            <a:r>
              <a:rPr lang="en-US" altLang="en-US" sz="1799" dirty="0"/>
              <a:t>Walking from the end to the beginning allows the team to SEE the waste!</a:t>
            </a:r>
          </a:p>
          <a:p>
            <a:endParaRPr lang="en-US" sz="2798" dirty="0"/>
          </a:p>
        </p:txBody>
      </p:sp>
      <p:grpSp>
        <p:nvGrpSpPr>
          <p:cNvPr id="133" name="Group 132">
            <a:extLst>
              <a:ext uri="{FF2B5EF4-FFF2-40B4-BE49-F238E27FC236}">
                <a16:creationId xmlns:a16="http://schemas.microsoft.com/office/drawing/2014/main" id="{71B3619A-FA77-A022-E82F-4D43C505E39E}"/>
              </a:ext>
            </a:extLst>
          </p:cNvPr>
          <p:cNvGrpSpPr/>
          <p:nvPr/>
        </p:nvGrpSpPr>
        <p:grpSpPr>
          <a:xfrm>
            <a:off x="940004" y="313985"/>
            <a:ext cx="6217883" cy="311851"/>
            <a:chOff x="940249" y="302538"/>
            <a:chExt cx="6219503" cy="311932"/>
          </a:xfrm>
        </p:grpSpPr>
        <p:sp>
          <p:nvSpPr>
            <p:cNvPr id="134" name="TextBox 133">
              <a:extLst>
                <a:ext uri="{FF2B5EF4-FFF2-40B4-BE49-F238E27FC236}">
                  <a16:creationId xmlns:a16="http://schemas.microsoft.com/office/drawing/2014/main" id="{F6E56FC5-D8AE-5EC1-B476-BC95016E442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35" name="AutoShape 9">
              <a:extLst>
                <a:ext uri="{FF2B5EF4-FFF2-40B4-BE49-F238E27FC236}">
                  <a16:creationId xmlns:a16="http://schemas.microsoft.com/office/drawing/2014/main" id="{3A8BD064-BAF0-B761-D498-C57FBBB3B6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6" name="AutoShape 9">
              <a:extLst>
                <a:ext uri="{FF2B5EF4-FFF2-40B4-BE49-F238E27FC236}">
                  <a16:creationId xmlns:a16="http://schemas.microsoft.com/office/drawing/2014/main" id="{2CAA91DC-C1EC-4E72-21BE-98E6B616B46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7" name="AutoShape 9">
              <a:extLst>
                <a:ext uri="{FF2B5EF4-FFF2-40B4-BE49-F238E27FC236}">
                  <a16:creationId xmlns:a16="http://schemas.microsoft.com/office/drawing/2014/main" id="{06B5909F-6A3D-E9B8-1FB0-A807B3F078B8}"/>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8" name="AutoShape 9">
              <a:extLst>
                <a:ext uri="{FF2B5EF4-FFF2-40B4-BE49-F238E27FC236}">
                  <a16:creationId xmlns:a16="http://schemas.microsoft.com/office/drawing/2014/main" id="{4455E976-FB9F-F2FC-D38A-47191E06FD61}"/>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9" name="AutoShape 11">
              <a:extLst>
                <a:ext uri="{FF2B5EF4-FFF2-40B4-BE49-F238E27FC236}">
                  <a16:creationId xmlns:a16="http://schemas.microsoft.com/office/drawing/2014/main" id="{6EFB3967-0BB1-8F7A-9A36-FEC849E672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40" name="Slide Number Placeholder 2">
            <a:extLst>
              <a:ext uri="{FF2B5EF4-FFF2-40B4-BE49-F238E27FC236}">
                <a16:creationId xmlns:a16="http://schemas.microsoft.com/office/drawing/2014/main" id="{FA8EBAAC-B8C9-0EC6-C445-35980C724AD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26</a:t>
            </a:fld>
            <a:endParaRPr lang="en-US" dirty="0"/>
          </a:p>
        </p:txBody>
      </p:sp>
    </p:spTree>
    <p:extLst>
      <p:ext uri="{BB962C8B-B14F-4D97-AF65-F5344CB8AC3E}">
        <p14:creationId xmlns:p14="http://schemas.microsoft.com/office/powerpoint/2010/main" val="3220797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1000"/>
                                  </p:stCondLst>
                                  <p:childTnLst>
                                    <p:set>
                                      <p:cBhvr>
                                        <p:cTn id="6" dur="1" fill="hold">
                                          <p:stCondLst>
                                            <p:cond delay="0"/>
                                          </p:stCondLst>
                                        </p:cTn>
                                        <p:tgtEl>
                                          <p:spTgt spid="73"/>
                                        </p:tgtEl>
                                        <p:attrNameLst>
                                          <p:attrName>style.visibility</p:attrName>
                                        </p:attrNameLst>
                                      </p:cBhvr>
                                      <p:to>
                                        <p:strVal val="visible"/>
                                      </p:to>
                                    </p:set>
                                    <p:animEffect transition="in" filter="dissolve">
                                      <p:cBhvr>
                                        <p:cTn id="7" dur="500"/>
                                        <p:tgtEl>
                                          <p:spTgt spid="73"/>
                                        </p:tgtEl>
                                      </p:cBhvr>
                                    </p:animEffect>
                                  </p:childTnLst>
                                </p:cTn>
                              </p:par>
                            </p:childTnLst>
                          </p:cTn>
                        </p:par>
                        <p:par>
                          <p:cTn id="8" fill="hold">
                            <p:stCondLst>
                              <p:cond delay="1500"/>
                            </p:stCondLst>
                            <p:childTnLst>
                              <p:par>
                                <p:cTn id="9" presetID="22" presetClass="entr" presetSubtype="2"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wipe(right)">
                                      <p:cBhvr>
                                        <p:cTn id="11" dur="500"/>
                                        <p:tgtEl>
                                          <p:spTgt spid="122"/>
                                        </p:tgtEl>
                                      </p:cBhvr>
                                    </p:animEffect>
                                  </p:childTnLst>
                                </p:cTn>
                              </p:par>
                            </p:childTnLst>
                          </p:cTn>
                        </p:par>
                        <p:par>
                          <p:cTn id="12" fill="hold">
                            <p:stCondLst>
                              <p:cond delay="2000"/>
                            </p:stCondLst>
                            <p:childTnLst>
                              <p:par>
                                <p:cTn id="13" presetID="22" presetClass="entr" presetSubtype="2" fill="hold" nodeType="afterEffect">
                                  <p:stCondLst>
                                    <p:cond delay="0"/>
                                  </p:stCondLst>
                                  <p:childTnLst>
                                    <p:set>
                                      <p:cBhvr>
                                        <p:cTn id="14" dur="1" fill="hold">
                                          <p:stCondLst>
                                            <p:cond delay="0"/>
                                          </p:stCondLst>
                                        </p:cTn>
                                        <p:tgtEl>
                                          <p:spTgt spid="82"/>
                                        </p:tgtEl>
                                        <p:attrNameLst>
                                          <p:attrName>style.visibility</p:attrName>
                                        </p:attrNameLst>
                                      </p:cBhvr>
                                      <p:to>
                                        <p:strVal val="visible"/>
                                      </p:to>
                                    </p:set>
                                    <p:animEffect transition="in" filter="wipe(right)">
                                      <p:cBhvr>
                                        <p:cTn id="15" dur="500"/>
                                        <p:tgtEl>
                                          <p:spTgt spid="82"/>
                                        </p:tgtEl>
                                      </p:cBhvr>
                                    </p:animEffect>
                                  </p:childTnLst>
                                </p:cTn>
                              </p:par>
                            </p:childTnLst>
                          </p:cTn>
                        </p:par>
                        <p:par>
                          <p:cTn id="16" fill="hold">
                            <p:stCondLst>
                              <p:cond delay="2500"/>
                            </p:stCondLst>
                            <p:childTnLst>
                              <p:par>
                                <p:cTn id="17" presetID="22" presetClass="entr" presetSubtype="2" fill="hold" nodeType="after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wipe(right)">
                                      <p:cBhvr>
                                        <p:cTn id="19" dur="500"/>
                                        <p:tgtEl>
                                          <p:spTgt spid="119"/>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500"/>
                                        <p:tgtEl>
                                          <p:spTgt spid="105"/>
                                        </p:tgtEl>
                                      </p:cBhvr>
                                    </p:animEffect>
                                  </p:childTnLst>
                                </p:cTn>
                              </p:par>
                            </p:childTnLst>
                          </p:cTn>
                        </p:par>
                        <p:par>
                          <p:cTn id="24" fill="hold">
                            <p:stCondLst>
                              <p:cond delay="3500"/>
                            </p:stCondLst>
                            <p:childTnLst>
                              <p:par>
                                <p:cTn id="25" presetID="22" presetClass="entr" presetSubtype="2" fill="hold" nodeType="afterEffect">
                                  <p:stCondLst>
                                    <p:cond delay="0"/>
                                  </p:stCondLst>
                                  <p:childTnLst>
                                    <p:set>
                                      <p:cBhvr>
                                        <p:cTn id="26" dur="1" fill="hold">
                                          <p:stCondLst>
                                            <p:cond delay="0"/>
                                          </p:stCondLst>
                                        </p:cTn>
                                        <p:tgtEl>
                                          <p:spTgt spid="116"/>
                                        </p:tgtEl>
                                        <p:attrNameLst>
                                          <p:attrName>style.visibility</p:attrName>
                                        </p:attrNameLst>
                                      </p:cBhvr>
                                      <p:to>
                                        <p:strVal val="visible"/>
                                      </p:to>
                                    </p:set>
                                    <p:animEffect transition="in" filter="wipe(right)">
                                      <p:cBhvr>
                                        <p:cTn id="27" dur="500"/>
                                        <p:tgtEl>
                                          <p:spTgt spid="116"/>
                                        </p:tgtEl>
                                      </p:cBhvr>
                                    </p:animEffect>
                                  </p:childTnLst>
                                </p:cTn>
                              </p:par>
                            </p:childTnLst>
                          </p:cTn>
                        </p:par>
                        <p:par>
                          <p:cTn id="28" fill="hold">
                            <p:stCondLst>
                              <p:cond delay="4000"/>
                            </p:stCondLst>
                            <p:childTnLst>
                              <p:par>
                                <p:cTn id="29" presetID="22" presetClass="entr" presetSubtype="2" fill="hold" nodeType="afterEffect">
                                  <p:stCondLst>
                                    <p:cond delay="0"/>
                                  </p:stCondLst>
                                  <p:childTnLst>
                                    <p:set>
                                      <p:cBhvr>
                                        <p:cTn id="30" dur="1" fill="hold">
                                          <p:stCondLst>
                                            <p:cond delay="0"/>
                                          </p:stCondLst>
                                        </p:cTn>
                                        <p:tgtEl>
                                          <p:spTgt spid="94"/>
                                        </p:tgtEl>
                                        <p:attrNameLst>
                                          <p:attrName>style.visibility</p:attrName>
                                        </p:attrNameLst>
                                      </p:cBhvr>
                                      <p:to>
                                        <p:strVal val="visible"/>
                                      </p:to>
                                    </p:set>
                                    <p:animEffect transition="in" filter="wipe(right)">
                                      <p:cBhvr>
                                        <p:cTn id="31" dur="500"/>
                                        <p:tgtEl>
                                          <p:spTgt spid="94"/>
                                        </p:tgtEl>
                                      </p:cBhvr>
                                    </p:animEffect>
                                  </p:childTnLst>
                                </p:cTn>
                              </p:par>
                            </p:childTnLst>
                          </p:cTn>
                        </p:par>
                        <p:par>
                          <p:cTn id="32" fill="hold">
                            <p:stCondLst>
                              <p:cond delay="4500"/>
                            </p:stCondLst>
                            <p:childTnLst>
                              <p:par>
                                <p:cTn id="33" presetID="22" presetClass="entr" presetSubtype="2" fill="hold" grpId="0" nodeType="afterEffect">
                                  <p:stCondLst>
                                    <p:cond delay="0"/>
                                  </p:stCondLst>
                                  <p:childTnLst>
                                    <p:set>
                                      <p:cBhvr>
                                        <p:cTn id="34" dur="1" fill="hold">
                                          <p:stCondLst>
                                            <p:cond delay="0"/>
                                          </p:stCondLst>
                                        </p:cTn>
                                        <p:tgtEl>
                                          <p:spTgt spid="123"/>
                                        </p:tgtEl>
                                        <p:attrNameLst>
                                          <p:attrName>style.visibility</p:attrName>
                                        </p:attrNameLst>
                                      </p:cBhvr>
                                      <p:to>
                                        <p:strVal val="visible"/>
                                      </p:to>
                                    </p:set>
                                    <p:animEffect transition="in" filter="wipe(right)">
                                      <p:cBhvr>
                                        <p:cTn id="35" dur="500"/>
                                        <p:tgtEl>
                                          <p:spTgt spid="123"/>
                                        </p:tgtEl>
                                      </p:cBhvr>
                                    </p:animEffect>
                                  </p:childTnLst>
                                </p:cTn>
                              </p:par>
                            </p:childTnLst>
                          </p:cTn>
                        </p:par>
                        <p:par>
                          <p:cTn id="36" fill="hold">
                            <p:stCondLst>
                              <p:cond delay="5000"/>
                            </p:stCondLst>
                            <p:childTnLst>
                              <p:par>
                                <p:cTn id="37" presetID="9" presetClass="entr" presetSubtype="0" fill="hold" nodeType="after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dissolve">
                                      <p:cBhvr>
                                        <p:cTn id="39"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lstStyle/>
          <a:p>
            <a:r>
              <a:rPr lang="en-US" dirty="0"/>
              <a:t>Layout of the Current State Map</a:t>
            </a:r>
          </a:p>
        </p:txBody>
      </p:sp>
      <p:grpSp>
        <p:nvGrpSpPr>
          <p:cNvPr id="216" name="Group 215">
            <a:extLst>
              <a:ext uri="{FF2B5EF4-FFF2-40B4-BE49-F238E27FC236}">
                <a16:creationId xmlns:a16="http://schemas.microsoft.com/office/drawing/2014/main" id="{8A489E80-689A-982B-5C35-8CFBB77EE5CB}"/>
              </a:ext>
            </a:extLst>
          </p:cNvPr>
          <p:cNvGrpSpPr/>
          <p:nvPr/>
        </p:nvGrpSpPr>
        <p:grpSpPr>
          <a:xfrm>
            <a:off x="837981" y="1600990"/>
            <a:ext cx="9657163" cy="4746976"/>
            <a:chOff x="457200" y="1476375"/>
            <a:chExt cx="8266113" cy="4676775"/>
          </a:xfrm>
        </p:grpSpPr>
        <p:sp>
          <p:nvSpPr>
            <p:cNvPr id="12" name="Rectangle 2">
              <a:extLst>
                <a:ext uri="{FF2B5EF4-FFF2-40B4-BE49-F238E27FC236}">
                  <a16:creationId xmlns:a16="http://schemas.microsoft.com/office/drawing/2014/main" id="{CD0F0344-42F9-9CF4-77BA-F597B6E193DA}"/>
                </a:ext>
              </a:extLst>
            </p:cNvPr>
            <p:cNvSpPr>
              <a:spLocks noChangeArrowheads="1"/>
            </p:cNvSpPr>
            <p:nvPr/>
          </p:nvSpPr>
          <p:spPr bwMode="auto">
            <a:xfrm>
              <a:off x="457200" y="1476375"/>
              <a:ext cx="8266113" cy="4676775"/>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latin typeface="Roboto" panose="02000000000000000000" pitchFamily="2" charset="0"/>
                <a:ea typeface="Roboto" panose="02000000000000000000" pitchFamily="2" charset="0"/>
              </a:endParaRPr>
            </a:p>
          </p:txBody>
        </p:sp>
        <p:grpSp>
          <p:nvGrpSpPr>
            <p:cNvPr id="13" name="Group 3">
              <a:extLst>
                <a:ext uri="{FF2B5EF4-FFF2-40B4-BE49-F238E27FC236}">
                  <a16:creationId xmlns:a16="http://schemas.microsoft.com/office/drawing/2014/main" id="{5ADA02C1-7806-F7B1-6270-FD25513198FE}"/>
                </a:ext>
              </a:extLst>
            </p:cNvPr>
            <p:cNvGrpSpPr>
              <a:grpSpLocks/>
            </p:cNvGrpSpPr>
            <p:nvPr/>
          </p:nvGrpSpPr>
          <p:grpSpPr bwMode="auto">
            <a:xfrm>
              <a:off x="1250950" y="5578475"/>
              <a:ext cx="6103938" cy="231775"/>
              <a:chOff x="788" y="3649"/>
              <a:chExt cx="3845" cy="146"/>
            </a:xfrm>
          </p:grpSpPr>
          <p:sp>
            <p:nvSpPr>
              <p:cNvPr id="14" name="Line 4">
                <a:extLst>
                  <a:ext uri="{FF2B5EF4-FFF2-40B4-BE49-F238E27FC236}">
                    <a16:creationId xmlns:a16="http://schemas.microsoft.com/office/drawing/2014/main" id="{85CEC789-AA0C-66EF-622C-BAF5A50009BE}"/>
                  </a:ext>
                </a:extLst>
              </p:cNvPr>
              <p:cNvSpPr>
                <a:spLocks noChangeShapeType="1"/>
              </p:cNvSpPr>
              <p:nvPr/>
            </p:nvSpPr>
            <p:spPr bwMode="auto">
              <a:xfrm>
                <a:off x="788" y="3658"/>
                <a:ext cx="701" cy="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 name="Line 5">
                <a:extLst>
                  <a:ext uri="{FF2B5EF4-FFF2-40B4-BE49-F238E27FC236}">
                    <a16:creationId xmlns:a16="http://schemas.microsoft.com/office/drawing/2014/main" id="{401D3A8C-3F67-530F-BE55-78934B9F58B9}"/>
                  </a:ext>
                </a:extLst>
              </p:cNvPr>
              <p:cNvSpPr>
                <a:spLocks noChangeShapeType="1"/>
              </p:cNvSpPr>
              <p:nvPr/>
            </p:nvSpPr>
            <p:spPr bwMode="auto">
              <a:xfrm>
                <a:off x="1486"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4904778F-4F23-BD42-368D-24461135635B}"/>
                  </a:ext>
                </a:extLst>
              </p:cNvPr>
              <p:cNvSpPr>
                <a:spLocks noChangeShapeType="1"/>
              </p:cNvSpPr>
              <p:nvPr/>
            </p:nvSpPr>
            <p:spPr bwMode="auto">
              <a:xfrm>
                <a:off x="1479"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7" name="Line 7">
                <a:extLst>
                  <a:ext uri="{FF2B5EF4-FFF2-40B4-BE49-F238E27FC236}">
                    <a16:creationId xmlns:a16="http://schemas.microsoft.com/office/drawing/2014/main" id="{38D44E6B-CB01-C7F9-4B63-28A512C59357}"/>
                  </a:ext>
                </a:extLst>
              </p:cNvPr>
              <p:cNvSpPr>
                <a:spLocks noChangeShapeType="1"/>
              </p:cNvSpPr>
              <p:nvPr/>
            </p:nvSpPr>
            <p:spPr bwMode="auto">
              <a:xfrm>
                <a:off x="1795"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8" name="Line 8">
                <a:extLst>
                  <a:ext uri="{FF2B5EF4-FFF2-40B4-BE49-F238E27FC236}">
                    <a16:creationId xmlns:a16="http://schemas.microsoft.com/office/drawing/2014/main" id="{5691C9B8-A5D8-1C03-9721-7FB17B7B4F45}"/>
                  </a:ext>
                </a:extLst>
              </p:cNvPr>
              <p:cNvSpPr>
                <a:spLocks noChangeShapeType="1"/>
              </p:cNvSpPr>
              <p:nvPr/>
            </p:nvSpPr>
            <p:spPr bwMode="auto">
              <a:xfrm>
                <a:off x="1795"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9" name="Line 9">
                <a:extLst>
                  <a:ext uri="{FF2B5EF4-FFF2-40B4-BE49-F238E27FC236}">
                    <a16:creationId xmlns:a16="http://schemas.microsoft.com/office/drawing/2014/main" id="{98DE7687-C80D-FAB0-0208-9B34215BF053}"/>
                  </a:ext>
                </a:extLst>
              </p:cNvPr>
              <p:cNvSpPr>
                <a:spLocks noChangeShapeType="1"/>
              </p:cNvSpPr>
              <p:nvPr/>
            </p:nvSpPr>
            <p:spPr bwMode="auto">
              <a:xfrm>
                <a:off x="2234"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0" name="Line 10">
                <a:extLst>
                  <a:ext uri="{FF2B5EF4-FFF2-40B4-BE49-F238E27FC236}">
                    <a16:creationId xmlns:a16="http://schemas.microsoft.com/office/drawing/2014/main" id="{A920C765-7C6C-70F2-71F7-E41E5FA751EA}"/>
                  </a:ext>
                </a:extLst>
              </p:cNvPr>
              <p:cNvSpPr>
                <a:spLocks noChangeShapeType="1"/>
              </p:cNvSpPr>
              <p:nvPr/>
            </p:nvSpPr>
            <p:spPr bwMode="auto">
              <a:xfrm>
                <a:off x="250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1" name="Line 11">
                <a:extLst>
                  <a:ext uri="{FF2B5EF4-FFF2-40B4-BE49-F238E27FC236}">
                    <a16:creationId xmlns:a16="http://schemas.microsoft.com/office/drawing/2014/main" id="{D3F0EA6A-656A-16E7-9226-FEE5CDE8A5E0}"/>
                  </a:ext>
                </a:extLst>
              </p:cNvPr>
              <p:cNvSpPr>
                <a:spLocks noChangeShapeType="1"/>
              </p:cNvSpPr>
              <p:nvPr/>
            </p:nvSpPr>
            <p:spPr bwMode="auto">
              <a:xfrm>
                <a:off x="2503"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2" name="Line 12">
                <a:extLst>
                  <a:ext uri="{FF2B5EF4-FFF2-40B4-BE49-F238E27FC236}">
                    <a16:creationId xmlns:a16="http://schemas.microsoft.com/office/drawing/2014/main" id="{7629EF10-81C3-16E8-B4B8-1100E8937FD4}"/>
                  </a:ext>
                </a:extLst>
              </p:cNvPr>
              <p:cNvSpPr>
                <a:spLocks noChangeShapeType="1"/>
              </p:cNvSpPr>
              <p:nvPr/>
            </p:nvSpPr>
            <p:spPr bwMode="auto">
              <a:xfrm>
                <a:off x="2943"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3" name="Line 13">
                <a:extLst>
                  <a:ext uri="{FF2B5EF4-FFF2-40B4-BE49-F238E27FC236}">
                    <a16:creationId xmlns:a16="http://schemas.microsoft.com/office/drawing/2014/main" id="{B4898F24-60E8-95AE-F772-68676F4C918A}"/>
                  </a:ext>
                </a:extLst>
              </p:cNvPr>
              <p:cNvSpPr>
                <a:spLocks noChangeShapeType="1"/>
              </p:cNvSpPr>
              <p:nvPr/>
            </p:nvSpPr>
            <p:spPr bwMode="auto">
              <a:xfrm>
                <a:off x="2238" y="3792"/>
                <a:ext cx="2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4" name="Line 14">
                <a:extLst>
                  <a:ext uri="{FF2B5EF4-FFF2-40B4-BE49-F238E27FC236}">
                    <a16:creationId xmlns:a16="http://schemas.microsoft.com/office/drawing/2014/main" id="{4F16F167-040C-116A-2BC6-200C6B4ECAC1}"/>
                  </a:ext>
                </a:extLst>
              </p:cNvPr>
              <p:cNvSpPr>
                <a:spLocks noChangeShapeType="1"/>
              </p:cNvSpPr>
              <p:nvPr/>
            </p:nvSpPr>
            <p:spPr bwMode="auto">
              <a:xfrm>
                <a:off x="2943"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5" name="Line 15">
                <a:extLst>
                  <a:ext uri="{FF2B5EF4-FFF2-40B4-BE49-F238E27FC236}">
                    <a16:creationId xmlns:a16="http://schemas.microsoft.com/office/drawing/2014/main" id="{8F3DE816-ECDE-970D-C95B-D54DCDF34B54}"/>
                  </a:ext>
                </a:extLst>
              </p:cNvPr>
              <p:cNvSpPr>
                <a:spLocks noChangeShapeType="1"/>
              </p:cNvSpPr>
              <p:nvPr/>
            </p:nvSpPr>
            <p:spPr bwMode="auto">
              <a:xfrm>
                <a:off x="3258"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6" name="Line 16">
                <a:extLst>
                  <a:ext uri="{FF2B5EF4-FFF2-40B4-BE49-F238E27FC236}">
                    <a16:creationId xmlns:a16="http://schemas.microsoft.com/office/drawing/2014/main" id="{354A0453-AA0E-95B3-E0E8-0C9C070744E5}"/>
                  </a:ext>
                </a:extLst>
              </p:cNvPr>
              <p:cNvSpPr>
                <a:spLocks noChangeShapeType="1"/>
              </p:cNvSpPr>
              <p:nvPr/>
            </p:nvSpPr>
            <p:spPr bwMode="auto">
              <a:xfrm>
                <a:off x="3258" y="3652"/>
                <a:ext cx="386" cy="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7" name="Line 17">
                <a:extLst>
                  <a:ext uri="{FF2B5EF4-FFF2-40B4-BE49-F238E27FC236}">
                    <a16:creationId xmlns:a16="http://schemas.microsoft.com/office/drawing/2014/main" id="{5433178A-1A20-EB33-0401-489F1B320B33}"/>
                  </a:ext>
                </a:extLst>
              </p:cNvPr>
              <p:cNvSpPr>
                <a:spLocks noChangeShapeType="1"/>
              </p:cNvSpPr>
              <p:nvPr/>
            </p:nvSpPr>
            <p:spPr bwMode="auto">
              <a:xfrm>
                <a:off x="3638"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8" name="Line 18">
                <a:extLst>
                  <a:ext uri="{FF2B5EF4-FFF2-40B4-BE49-F238E27FC236}">
                    <a16:creationId xmlns:a16="http://schemas.microsoft.com/office/drawing/2014/main" id="{1270EF8D-AF25-3B47-7E66-625E9355B59F}"/>
                  </a:ext>
                </a:extLst>
              </p:cNvPr>
              <p:cNvSpPr>
                <a:spLocks noChangeShapeType="1"/>
              </p:cNvSpPr>
              <p:nvPr/>
            </p:nvSpPr>
            <p:spPr bwMode="auto">
              <a:xfrm>
                <a:off x="3638"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29" name="Line 19">
                <a:extLst>
                  <a:ext uri="{FF2B5EF4-FFF2-40B4-BE49-F238E27FC236}">
                    <a16:creationId xmlns:a16="http://schemas.microsoft.com/office/drawing/2014/main" id="{47ACC669-71CD-3EC3-9767-A76C3B89B945}"/>
                  </a:ext>
                </a:extLst>
              </p:cNvPr>
              <p:cNvSpPr>
                <a:spLocks noChangeShapeType="1"/>
              </p:cNvSpPr>
              <p:nvPr/>
            </p:nvSpPr>
            <p:spPr bwMode="auto">
              <a:xfrm>
                <a:off x="395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30" name="Line 20">
                <a:extLst>
                  <a:ext uri="{FF2B5EF4-FFF2-40B4-BE49-F238E27FC236}">
                    <a16:creationId xmlns:a16="http://schemas.microsoft.com/office/drawing/2014/main" id="{4CF43748-E0B9-1C55-12D3-5C9C9D3A1B0B}"/>
                  </a:ext>
                </a:extLst>
              </p:cNvPr>
              <p:cNvSpPr>
                <a:spLocks noChangeShapeType="1"/>
              </p:cNvSpPr>
              <p:nvPr/>
            </p:nvSpPr>
            <p:spPr bwMode="auto">
              <a:xfrm flipV="1">
                <a:off x="3953" y="3651"/>
                <a:ext cx="680"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grpSp>
          <p:nvGrpSpPr>
            <p:cNvPr id="31" name="Group 21">
              <a:extLst>
                <a:ext uri="{FF2B5EF4-FFF2-40B4-BE49-F238E27FC236}">
                  <a16:creationId xmlns:a16="http://schemas.microsoft.com/office/drawing/2014/main" id="{15E8EC15-580F-704B-D4C8-69F6C8633074}"/>
                </a:ext>
              </a:extLst>
            </p:cNvPr>
            <p:cNvGrpSpPr>
              <a:grpSpLocks/>
            </p:cNvGrpSpPr>
            <p:nvPr/>
          </p:nvGrpSpPr>
          <p:grpSpPr bwMode="auto">
            <a:xfrm>
              <a:off x="1016000" y="2171700"/>
              <a:ext cx="922338" cy="582613"/>
              <a:chOff x="933" y="2179"/>
              <a:chExt cx="658" cy="463"/>
            </a:xfrm>
          </p:grpSpPr>
          <p:sp>
            <p:nvSpPr>
              <p:cNvPr id="32" name="Rectangle 22">
                <a:extLst>
                  <a:ext uri="{FF2B5EF4-FFF2-40B4-BE49-F238E27FC236}">
                    <a16:creationId xmlns:a16="http://schemas.microsoft.com/office/drawing/2014/main" id="{AB570830-E4AC-2BB5-E937-523740D0CAEE}"/>
                  </a:ext>
                </a:extLst>
              </p:cNvPr>
              <p:cNvSpPr>
                <a:spLocks noChangeArrowheads="1"/>
              </p:cNvSpPr>
              <p:nvPr/>
            </p:nvSpPr>
            <p:spPr bwMode="auto">
              <a:xfrm>
                <a:off x="1544" y="2179"/>
                <a:ext cx="42" cy="250"/>
              </a:xfrm>
              <a:prstGeom prst="rect">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3" name="Rectangle 23">
                <a:extLst>
                  <a:ext uri="{FF2B5EF4-FFF2-40B4-BE49-F238E27FC236}">
                    <a16:creationId xmlns:a16="http://schemas.microsoft.com/office/drawing/2014/main" id="{E0752F92-23E1-B989-98B5-A5AE99D8D70C}"/>
                  </a:ext>
                </a:extLst>
              </p:cNvPr>
              <p:cNvSpPr>
                <a:spLocks noChangeArrowheads="1"/>
              </p:cNvSpPr>
              <p:nvPr/>
            </p:nvSpPr>
            <p:spPr bwMode="auto">
              <a:xfrm>
                <a:off x="933" y="2435"/>
                <a:ext cx="658" cy="207"/>
              </a:xfrm>
              <a:prstGeom prst="rect">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4" name="AutoShape 24">
                <a:extLst>
                  <a:ext uri="{FF2B5EF4-FFF2-40B4-BE49-F238E27FC236}">
                    <a16:creationId xmlns:a16="http://schemas.microsoft.com/office/drawing/2014/main" id="{5D9FC4CC-27FA-F20E-32C8-19877F0DDEDA}"/>
                  </a:ext>
                </a:extLst>
              </p:cNvPr>
              <p:cNvSpPr>
                <a:spLocks noChangeArrowheads="1"/>
              </p:cNvSpPr>
              <p:nvPr/>
            </p:nvSpPr>
            <p:spPr bwMode="auto">
              <a:xfrm>
                <a:off x="1342"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5" name="AutoShape 25">
                <a:extLst>
                  <a:ext uri="{FF2B5EF4-FFF2-40B4-BE49-F238E27FC236}">
                    <a16:creationId xmlns:a16="http://schemas.microsoft.com/office/drawing/2014/main" id="{63AD28AC-7284-D7E4-3F51-1C2C5ED2FF44}"/>
                  </a:ext>
                </a:extLst>
              </p:cNvPr>
              <p:cNvSpPr>
                <a:spLocks noChangeArrowheads="1"/>
              </p:cNvSpPr>
              <p:nvPr/>
            </p:nvSpPr>
            <p:spPr bwMode="auto">
              <a:xfrm>
                <a:off x="1138"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6" name="AutoShape 26">
                <a:extLst>
                  <a:ext uri="{FF2B5EF4-FFF2-40B4-BE49-F238E27FC236}">
                    <a16:creationId xmlns:a16="http://schemas.microsoft.com/office/drawing/2014/main" id="{7A6763E7-614C-2688-8291-181C2D043B78}"/>
                  </a:ext>
                </a:extLst>
              </p:cNvPr>
              <p:cNvSpPr>
                <a:spLocks noChangeArrowheads="1"/>
              </p:cNvSpPr>
              <p:nvPr/>
            </p:nvSpPr>
            <p:spPr bwMode="auto">
              <a:xfrm>
                <a:off x="934"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7" name="Rectangle 27">
                <a:extLst>
                  <a:ext uri="{FF2B5EF4-FFF2-40B4-BE49-F238E27FC236}">
                    <a16:creationId xmlns:a16="http://schemas.microsoft.com/office/drawing/2014/main" id="{E12C33AB-46A0-2DAB-09ED-44FDE9A95C61}"/>
                  </a:ext>
                </a:extLst>
              </p:cNvPr>
              <p:cNvSpPr>
                <a:spLocks noChangeArrowheads="1"/>
              </p:cNvSpPr>
              <p:nvPr/>
            </p:nvSpPr>
            <p:spPr bwMode="auto">
              <a:xfrm>
                <a:off x="974"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8" name="Rectangle 28">
                <a:extLst>
                  <a:ext uri="{FF2B5EF4-FFF2-40B4-BE49-F238E27FC236}">
                    <a16:creationId xmlns:a16="http://schemas.microsoft.com/office/drawing/2014/main" id="{03272A01-F346-34C2-59E1-C3592BD377EF}"/>
                  </a:ext>
                </a:extLst>
              </p:cNvPr>
              <p:cNvSpPr>
                <a:spLocks noChangeArrowheads="1"/>
              </p:cNvSpPr>
              <p:nvPr/>
            </p:nvSpPr>
            <p:spPr bwMode="auto">
              <a:xfrm>
                <a:off x="1185"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9" name="Rectangle 29">
                <a:extLst>
                  <a:ext uri="{FF2B5EF4-FFF2-40B4-BE49-F238E27FC236}">
                    <a16:creationId xmlns:a16="http://schemas.microsoft.com/office/drawing/2014/main" id="{AC36E105-AF69-865C-D266-EE9D3E0A3691}"/>
                  </a:ext>
                </a:extLst>
              </p:cNvPr>
              <p:cNvSpPr>
                <a:spLocks noChangeArrowheads="1"/>
              </p:cNvSpPr>
              <p:nvPr/>
            </p:nvSpPr>
            <p:spPr bwMode="auto">
              <a:xfrm>
                <a:off x="1396"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grpSp>
          <p:nvGrpSpPr>
            <p:cNvPr id="40" name="Group 30">
              <a:extLst>
                <a:ext uri="{FF2B5EF4-FFF2-40B4-BE49-F238E27FC236}">
                  <a16:creationId xmlns:a16="http://schemas.microsoft.com/office/drawing/2014/main" id="{D435B910-2B1F-2184-8648-6B1AA17200DD}"/>
                </a:ext>
              </a:extLst>
            </p:cNvPr>
            <p:cNvGrpSpPr>
              <a:grpSpLocks/>
            </p:cNvGrpSpPr>
            <p:nvPr/>
          </p:nvGrpSpPr>
          <p:grpSpPr bwMode="auto">
            <a:xfrm>
              <a:off x="6886575" y="2151063"/>
              <a:ext cx="922338" cy="582612"/>
              <a:chOff x="933" y="2179"/>
              <a:chExt cx="658" cy="463"/>
            </a:xfrm>
          </p:grpSpPr>
          <p:sp>
            <p:nvSpPr>
              <p:cNvPr id="41" name="Rectangle 31">
                <a:extLst>
                  <a:ext uri="{FF2B5EF4-FFF2-40B4-BE49-F238E27FC236}">
                    <a16:creationId xmlns:a16="http://schemas.microsoft.com/office/drawing/2014/main" id="{0C35551C-1300-E113-B149-7F0B4471F378}"/>
                  </a:ext>
                </a:extLst>
              </p:cNvPr>
              <p:cNvSpPr>
                <a:spLocks noChangeArrowheads="1"/>
              </p:cNvSpPr>
              <p:nvPr/>
            </p:nvSpPr>
            <p:spPr bwMode="auto">
              <a:xfrm>
                <a:off x="1544" y="2179"/>
                <a:ext cx="42" cy="250"/>
              </a:xfrm>
              <a:prstGeom prst="rect">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2" name="Rectangle 32">
                <a:extLst>
                  <a:ext uri="{FF2B5EF4-FFF2-40B4-BE49-F238E27FC236}">
                    <a16:creationId xmlns:a16="http://schemas.microsoft.com/office/drawing/2014/main" id="{17C4CE80-E498-21D6-8AE9-90A99E2A3CE4}"/>
                  </a:ext>
                </a:extLst>
              </p:cNvPr>
              <p:cNvSpPr>
                <a:spLocks noChangeArrowheads="1"/>
              </p:cNvSpPr>
              <p:nvPr/>
            </p:nvSpPr>
            <p:spPr bwMode="auto">
              <a:xfrm>
                <a:off x="933" y="2435"/>
                <a:ext cx="658" cy="207"/>
              </a:xfrm>
              <a:prstGeom prst="rect">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3" name="AutoShape 33">
                <a:extLst>
                  <a:ext uri="{FF2B5EF4-FFF2-40B4-BE49-F238E27FC236}">
                    <a16:creationId xmlns:a16="http://schemas.microsoft.com/office/drawing/2014/main" id="{0E379E3F-5B53-9CCE-740E-87230E4AD7B6}"/>
                  </a:ext>
                </a:extLst>
              </p:cNvPr>
              <p:cNvSpPr>
                <a:spLocks noChangeArrowheads="1"/>
              </p:cNvSpPr>
              <p:nvPr/>
            </p:nvSpPr>
            <p:spPr bwMode="auto">
              <a:xfrm>
                <a:off x="1342"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4" name="AutoShape 34">
                <a:extLst>
                  <a:ext uri="{FF2B5EF4-FFF2-40B4-BE49-F238E27FC236}">
                    <a16:creationId xmlns:a16="http://schemas.microsoft.com/office/drawing/2014/main" id="{B9495544-1E3F-8C21-0B81-E6C9839F8CB8}"/>
                  </a:ext>
                </a:extLst>
              </p:cNvPr>
              <p:cNvSpPr>
                <a:spLocks noChangeArrowheads="1"/>
              </p:cNvSpPr>
              <p:nvPr/>
            </p:nvSpPr>
            <p:spPr bwMode="auto">
              <a:xfrm>
                <a:off x="1138"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5" name="AutoShape 35">
                <a:extLst>
                  <a:ext uri="{FF2B5EF4-FFF2-40B4-BE49-F238E27FC236}">
                    <a16:creationId xmlns:a16="http://schemas.microsoft.com/office/drawing/2014/main" id="{94C81842-4746-9811-A376-F3E825A0D0DD}"/>
                  </a:ext>
                </a:extLst>
              </p:cNvPr>
              <p:cNvSpPr>
                <a:spLocks noChangeArrowheads="1"/>
              </p:cNvSpPr>
              <p:nvPr/>
            </p:nvSpPr>
            <p:spPr bwMode="auto">
              <a:xfrm>
                <a:off x="934" y="2245"/>
                <a:ext cx="202" cy="190"/>
              </a:xfrm>
              <a:prstGeom prst="rtTriangle">
                <a:avLst/>
              </a:prstGeom>
              <a:solidFill>
                <a:schemeClr val="accent3"/>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6" name="Rectangle 36">
                <a:extLst>
                  <a:ext uri="{FF2B5EF4-FFF2-40B4-BE49-F238E27FC236}">
                    <a16:creationId xmlns:a16="http://schemas.microsoft.com/office/drawing/2014/main" id="{0ED3D8E7-2E2A-A9C0-7729-8068D2EB3ADA}"/>
                  </a:ext>
                </a:extLst>
              </p:cNvPr>
              <p:cNvSpPr>
                <a:spLocks noChangeArrowheads="1"/>
              </p:cNvSpPr>
              <p:nvPr/>
            </p:nvSpPr>
            <p:spPr bwMode="auto">
              <a:xfrm>
                <a:off x="974"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7" name="Rectangle 37">
                <a:extLst>
                  <a:ext uri="{FF2B5EF4-FFF2-40B4-BE49-F238E27FC236}">
                    <a16:creationId xmlns:a16="http://schemas.microsoft.com/office/drawing/2014/main" id="{3F6C0484-23F0-7DD7-0711-94609C90962C}"/>
                  </a:ext>
                </a:extLst>
              </p:cNvPr>
              <p:cNvSpPr>
                <a:spLocks noChangeArrowheads="1"/>
              </p:cNvSpPr>
              <p:nvPr/>
            </p:nvSpPr>
            <p:spPr bwMode="auto">
              <a:xfrm>
                <a:off x="1185"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8" name="Rectangle 38">
                <a:extLst>
                  <a:ext uri="{FF2B5EF4-FFF2-40B4-BE49-F238E27FC236}">
                    <a16:creationId xmlns:a16="http://schemas.microsoft.com/office/drawing/2014/main" id="{053D7C41-6BF1-A718-EB20-848B55EB6CFA}"/>
                  </a:ext>
                </a:extLst>
              </p:cNvPr>
              <p:cNvSpPr>
                <a:spLocks noChangeArrowheads="1"/>
              </p:cNvSpPr>
              <p:nvPr/>
            </p:nvSpPr>
            <p:spPr bwMode="auto">
              <a:xfrm>
                <a:off x="1396"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49" name="Rectangle 39">
              <a:extLst>
                <a:ext uri="{FF2B5EF4-FFF2-40B4-BE49-F238E27FC236}">
                  <a16:creationId xmlns:a16="http://schemas.microsoft.com/office/drawing/2014/main" id="{E53585D4-0900-9766-98AF-684775318CD7}"/>
                </a:ext>
              </a:extLst>
            </p:cNvPr>
            <p:cNvSpPr>
              <a:spLocks noChangeArrowheads="1"/>
            </p:cNvSpPr>
            <p:nvPr/>
          </p:nvSpPr>
          <p:spPr bwMode="auto">
            <a:xfrm>
              <a:off x="2397125" y="4046538"/>
              <a:ext cx="427038" cy="579437"/>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0" name="Rectangle 40">
              <a:extLst>
                <a:ext uri="{FF2B5EF4-FFF2-40B4-BE49-F238E27FC236}">
                  <a16:creationId xmlns:a16="http://schemas.microsoft.com/office/drawing/2014/main" id="{5CA73C29-E6AA-FCEA-9055-22EB298B1748}"/>
                </a:ext>
              </a:extLst>
            </p:cNvPr>
            <p:cNvSpPr>
              <a:spLocks noChangeArrowheads="1"/>
            </p:cNvSpPr>
            <p:nvPr/>
          </p:nvSpPr>
          <p:spPr bwMode="auto">
            <a:xfrm>
              <a:off x="3562350" y="4046538"/>
              <a:ext cx="427038" cy="579437"/>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1" name="Rectangle 41">
              <a:extLst>
                <a:ext uri="{FF2B5EF4-FFF2-40B4-BE49-F238E27FC236}">
                  <a16:creationId xmlns:a16="http://schemas.microsoft.com/office/drawing/2014/main" id="{0D204307-FCC2-A59D-7FAA-B3B28701D546}"/>
                </a:ext>
              </a:extLst>
            </p:cNvPr>
            <p:cNvSpPr>
              <a:spLocks noChangeArrowheads="1"/>
            </p:cNvSpPr>
            <p:nvPr/>
          </p:nvSpPr>
          <p:spPr bwMode="auto">
            <a:xfrm>
              <a:off x="4699000" y="4046538"/>
              <a:ext cx="427038" cy="579437"/>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2" name="Rectangle 42">
              <a:extLst>
                <a:ext uri="{FF2B5EF4-FFF2-40B4-BE49-F238E27FC236}">
                  <a16:creationId xmlns:a16="http://schemas.microsoft.com/office/drawing/2014/main" id="{895D69E3-96C4-1060-524A-E9F1B3F319AF}"/>
                </a:ext>
              </a:extLst>
            </p:cNvPr>
            <p:cNvSpPr>
              <a:spLocks noChangeArrowheads="1"/>
            </p:cNvSpPr>
            <p:nvPr/>
          </p:nvSpPr>
          <p:spPr bwMode="auto">
            <a:xfrm>
              <a:off x="5807075" y="4046538"/>
              <a:ext cx="427038" cy="579437"/>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3" name="Line 43">
              <a:extLst>
                <a:ext uri="{FF2B5EF4-FFF2-40B4-BE49-F238E27FC236}">
                  <a16:creationId xmlns:a16="http://schemas.microsoft.com/office/drawing/2014/main" id="{28D41A6C-B0DB-D9BE-6CA8-8F7AE75BBED2}"/>
                </a:ext>
              </a:extLst>
            </p:cNvPr>
            <p:cNvSpPr>
              <a:spLocks noChangeShapeType="1"/>
            </p:cNvSpPr>
            <p:nvPr/>
          </p:nvSpPr>
          <p:spPr bwMode="auto">
            <a:xfrm>
              <a:off x="2406650" y="419893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4" name="Line 44">
              <a:extLst>
                <a:ext uri="{FF2B5EF4-FFF2-40B4-BE49-F238E27FC236}">
                  <a16:creationId xmlns:a16="http://schemas.microsoft.com/office/drawing/2014/main" id="{9DF7412D-2E73-D500-57A4-2E133D7CBFFB}"/>
                </a:ext>
              </a:extLst>
            </p:cNvPr>
            <p:cNvSpPr>
              <a:spLocks noChangeShapeType="1"/>
            </p:cNvSpPr>
            <p:nvPr/>
          </p:nvSpPr>
          <p:spPr bwMode="auto">
            <a:xfrm>
              <a:off x="3559175" y="4189413"/>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5" name="Line 45">
              <a:extLst>
                <a:ext uri="{FF2B5EF4-FFF2-40B4-BE49-F238E27FC236}">
                  <a16:creationId xmlns:a16="http://schemas.microsoft.com/office/drawing/2014/main" id="{29E116B2-0720-9214-066B-42B5781DD3B1}"/>
                </a:ext>
              </a:extLst>
            </p:cNvPr>
            <p:cNvSpPr>
              <a:spLocks noChangeShapeType="1"/>
            </p:cNvSpPr>
            <p:nvPr/>
          </p:nvSpPr>
          <p:spPr bwMode="auto">
            <a:xfrm>
              <a:off x="4702175" y="417988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6" name="Line 46">
              <a:extLst>
                <a:ext uri="{FF2B5EF4-FFF2-40B4-BE49-F238E27FC236}">
                  <a16:creationId xmlns:a16="http://schemas.microsoft.com/office/drawing/2014/main" id="{E0124087-1C8A-5D7B-C2CD-C34CCCD9A699}"/>
                </a:ext>
              </a:extLst>
            </p:cNvPr>
            <p:cNvSpPr>
              <a:spLocks noChangeShapeType="1"/>
            </p:cNvSpPr>
            <p:nvPr/>
          </p:nvSpPr>
          <p:spPr bwMode="auto">
            <a:xfrm>
              <a:off x="5797550" y="4170363"/>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nvGrpSpPr>
            <p:cNvPr id="57" name="Group 47">
              <a:extLst>
                <a:ext uri="{FF2B5EF4-FFF2-40B4-BE49-F238E27FC236}">
                  <a16:creationId xmlns:a16="http://schemas.microsoft.com/office/drawing/2014/main" id="{00A462FF-E9EF-47BC-45E0-C9B1B86922A3}"/>
                </a:ext>
              </a:extLst>
            </p:cNvPr>
            <p:cNvGrpSpPr>
              <a:grpSpLocks/>
            </p:cNvGrpSpPr>
            <p:nvPr/>
          </p:nvGrpSpPr>
          <p:grpSpPr bwMode="auto">
            <a:xfrm>
              <a:off x="2406650" y="4665663"/>
              <a:ext cx="427038" cy="477837"/>
              <a:chOff x="1702" y="2990"/>
              <a:chExt cx="269" cy="301"/>
            </a:xfrm>
          </p:grpSpPr>
          <p:sp>
            <p:nvSpPr>
              <p:cNvPr id="58" name="Rectangle 48">
                <a:extLst>
                  <a:ext uri="{FF2B5EF4-FFF2-40B4-BE49-F238E27FC236}">
                    <a16:creationId xmlns:a16="http://schemas.microsoft.com/office/drawing/2014/main" id="{E6912260-5F51-6360-814F-E81F902E94C0}"/>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9" name="Line 49">
                <a:extLst>
                  <a:ext uri="{FF2B5EF4-FFF2-40B4-BE49-F238E27FC236}">
                    <a16:creationId xmlns:a16="http://schemas.microsoft.com/office/drawing/2014/main" id="{0C7BDE11-C996-9158-D009-D0912261B6C3}"/>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0" name="Line 50">
                <a:extLst>
                  <a:ext uri="{FF2B5EF4-FFF2-40B4-BE49-F238E27FC236}">
                    <a16:creationId xmlns:a16="http://schemas.microsoft.com/office/drawing/2014/main" id="{13E8D1C7-1BE3-67BF-85E9-983A5F233B2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1" name="Line 51">
                <a:extLst>
                  <a:ext uri="{FF2B5EF4-FFF2-40B4-BE49-F238E27FC236}">
                    <a16:creationId xmlns:a16="http://schemas.microsoft.com/office/drawing/2014/main" id="{935E6437-7CBF-C80B-CBC5-F39FD00278BF}"/>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2" name="Line 52">
                <a:extLst>
                  <a:ext uri="{FF2B5EF4-FFF2-40B4-BE49-F238E27FC236}">
                    <a16:creationId xmlns:a16="http://schemas.microsoft.com/office/drawing/2014/main" id="{5A025C84-F014-716A-BEDA-F649C2ECCEE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3" name="Line 53">
                <a:extLst>
                  <a:ext uri="{FF2B5EF4-FFF2-40B4-BE49-F238E27FC236}">
                    <a16:creationId xmlns:a16="http://schemas.microsoft.com/office/drawing/2014/main" id="{48069C65-BD00-6A63-A403-4EC1A9AD64B6}"/>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4" name="Line 54">
                <a:extLst>
                  <a:ext uri="{FF2B5EF4-FFF2-40B4-BE49-F238E27FC236}">
                    <a16:creationId xmlns:a16="http://schemas.microsoft.com/office/drawing/2014/main" id="{C4762040-7E88-5115-0163-1B1EF202C400}"/>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65" name="Group 55">
              <a:extLst>
                <a:ext uri="{FF2B5EF4-FFF2-40B4-BE49-F238E27FC236}">
                  <a16:creationId xmlns:a16="http://schemas.microsoft.com/office/drawing/2014/main" id="{097EF225-2962-F42D-A674-63AE16E596CA}"/>
                </a:ext>
              </a:extLst>
            </p:cNvPr>
            <p:cNvGrpSpPr>
              <a:grpSpLocks/>
            </p:cNvGrpSpPr>
            <p:nvPr/>
          </p:nvGrpSpPr>
          <p:grpSpPr bwMode="auto">
            <a:xfrm>
              <a:off x="3562350" y="4697413"/>
              <a:ext cx="427038" cy="477837"/>
              <a:chOff x="1702" y="2990"/>
              <a:chExt cx="269" cy="301"/>
            </a:xfrm>
          </p:grpSpPr>
          <p:sp>
            <p:nvSpPr>
              <p:cNvPr id="66" name="Rectangle 56">
                <a:extLst>
                  <a:ext uri="{FF2B5EF4-FFF2-40B4-BE49-F238E27FC236}">
                    <a16:creationId xmlns:a16="http://schemas.microsoft.com/office/drawing/2014/main" id="{15C224D5-D513-8794-852B-21D7CF1CF3D3}"/>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67" name="Line 57">
                <a:extLst>
                  <a:ext uri="{FF2B5EF4-FFF2-40B4-BE49-F238E27FC236}">
                    <a16:creationId xmlns:a16="http://schemas.microsoft.com/office/drawing/2014/main" id="{89E10DF1-ED43-5079-6F38-432672645C62}"/>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8" name="Line 58">
                <a:extLst>
                  <a:ext uri="{FF2B5EF4-FFF2-40B4-BE49-F238E27FC236}">
                    <a16:creationId xmlns:a16="http://schemas.microsoft.com/office/drawing/2014/main" id="{5B3F148A-A25F-EC1E-C465-5F8D666AA917}"/>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9" name="Line 59">
                <a:extLst>
                  <a:ext uri="{FF2B5EF4-FFF2-40B4-BE49-F238E27FC236}">
                    <a16:creationId xmlns:a16="http://schemas.microsoft.com/office/drawing/2014/main" id="{D7DCF0D7-078C-8A1C-61FC-E6F3BB4F2810}"/>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0" name="Line 60">
                <a:extLst>
                  <a:ext uri="{FF2B5EF4-FFF2-40B4-BE49-F238E27FC236}">
                    <a16:creationId xmlns:a16="http://schemas.microsoft.com/office/drawing/2014/main" id="{BB36B655-3300-980B-ABF2-56565BBEB70B}"/>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1" name="Line 61">
                <a:extLst>
                  <a:ext uri="{FF2B5EF4-FFF2-40B4-BE49-F238E27FC236}">
                    <a16:creationId xmlns:a16="http://schemas.microsoft.com/office/drawing/2014/main" id="{7DCB5809-CD6F-16E1-6E35-66F372D6A00C}"/>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2" name="Line 62">
                <a:extLst>
                  <a:ext uri="{FF2B5EF4-FFF2-40B4-BE49-F238E27FC236}">
                    <a16:creationId xmlns:a16="http://schemas.microsoft.com/office/drawing/2014/main" id="{61715F05-C230-AA47-1F76-84CDECCEACC5}"/>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73" name="Group 63">
              <a:extLst>
                <a:ext uri="{FF2B5EF4-FFF2-40B4-BE49-F238E27FC236}">
                  <a16:creationId xmlns:a16="http://schemas.microsoft.com/office/drawing/2014/main" id="{D4523448-CA15-D348-092D-A02B82E88559}"/>
                </a:ext>
              </a:extLst>
            </p:cNvPr>
            <p:cNvGrpSpPr>
              <a:grpSpLocks/>
            </p:cNvGrpSpPr>
            <p:nvPr/>
          </p:nvGrpSpPr>
          <p:grpSpPr bwMode="auto">
            <a:xfrm>
              <a:off x="4700588" y="4679950"/>
              <a:ext cx="427037" cy="477838"/>
              <a:chOff x="1702" y="2990"/>
              <a:chExt cx="269" cy="301"/>
            </a:xfrm>
          </p:grpSpPr>
          <p:sp>
            <p:nvSpPr>
              <p:cNvPr id="74" name="Rectangle 64">
                <a:extLst>
                  <a:ext uri="{FF2B5EF4-FFF2-40B4-BE49-F238E27FC236}">
                    <a16:creationId xmlns:a16="http://schemas.microsoft.com/office/drawing/2014/main" id="{FA31F6D9-C934-BBCD-B1BC-D8933161856B}"/>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75" name="Line 65">
                <a:extLst>
                  <a:ext uri="{FF2B5EF4-FFF2-40B4-BE49-F238E27FC236}">
                    <a16:creationId xmlns:a16="http://schemas.microsoft.com/office/drawing/2014/main" id="{A88BB3B4-6E9E-5165-8ADB-D9B4A0700639}"/>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6" name="Line 66">
                <a:extLst>
                  <a:ext uri="{FF2B5EF4-FFF2-40B4-BE49-F238E27FC236}">
                    <a16:creationId xmlns:a16="http://schemas.microsoft.com/office/drawing/2014/main" id="{61F956BE-9208-33CF-4740-44227B66968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7" name="Line 67">
                <a:extLst>
                  <a:ext uri="{FF2B5EF4-FFF2-40B4-BE49-F238E27FC236}">
                    <a16:creationId xmlns:a16="http://schemas.microsoft.com/office/drawing/2014/main" id="{4108C428-A154-45F4-305F-91268FC8D625}"/>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8" name="Line 68">
                <a:extLst>
                  <a:ext uri="{FF2B5EF4-FFF2-40B4-BE49-F238E27FC236}">
                    <a16:creationId xmlns:a16="http://schemas.microsoft.com/office/drawing/2014/main" id="{27A29075-886A-8D39-DC8A-319F6BCE043B}"/>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9" name="Line 69">
                <a:extLst>
                  <a:ext uri="{FF2B5EF4-FFF2-40B4-BE49-F238E27FC236}">
                    <a16:creationId xmlns:a16="http://schemas.microsoft.com/office/drawing/2014/main" id="{4142305A-FE5E-60B9-A9CD-39526756CB8D}"/>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80" name="Line 70">
                <a:extLst>
                  <a:ext uri="{FF2B5EF4-FFF2-40B4-BE49-F238E27FC236}">
                    <a16:creationId xmlns:a16="http://schemas.microsoft.com/office/drawing/2014/main" id="{A14512D5-55A0-DA26-42E6-EC1ADFF7BC3E}"/>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81" name="Group 71">
              <a:extLst>
                <a:ext uri="{FF2B5EF4-FFF2-40B4-BE49-F238E27FC236}">
                  <a16:creationId xmlns:a16="http://schemas.microsoft.com/office/drawing/2014/main" id="{72B78E56-988E-831D-4A0B-EFEA3271F9CE}"/>
                </a:ext>
              </a:extLst>
            </p:cNvPr>
            <p:cNvGrpSpPr>
              <a:grpSpLocks/>
            </p:cNvGrpSpPr>
            <p:nvPr/>
          </p:nvGrpSpPr>
          <p:grpSpPr bwMode="auto">
            <a:xfrm>
              <a:off x="5776913" y="4700588"/>
              <a:ext cx="427037" cy="477837"/>
              <a:chOff x="1702" y="2990"/>
              <a:chExt cx="269" cy="301"/>
            </a:xfrm>
          </p:grpSpPr>
          <p:sp>
            <p:nvSpPr>
              <p:cNvPr id="82" name="Rectangle 72">
                <a:extLst>
                  <a:ext uri="{FF2B5EF4-FFF2-40B4-BE49-F238E27FC236}">
                    <a16:creationId xmlns:a16="http://schemas.microsoft.com/office/drawing/2014/main" id="{C7B8F883-EB66-288A-A60D-DE7D3DF87E12}"/>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83" name="Line 73">
                <a:extLst>
                  <a:ext uri="{FF2B5EF4-FFF2-40B4-BE49-F238E27FC236}">
                    <a16:creationId xmlns:a16="http://schemas.microsoft.com/office/drawing/2014/main" id="{ADFE5F29-FAC6-2EFE-1566-F1B267CF3891}"/>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84" name="Line 74">
                <a:extLst>
                  <a:ext uri="{FF2B5EF4-FFF2-40B4-BE49-F238E27FC236}">
                    <a16:creationId xmlns:a16="http://schemas.microsoft.com/office/drawing/2014/main" id="{234FA4D8-34E9-30F1-BA7E-44D5C0C888FC}"/>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85" name="Line 75">
                <a:extLst>
                  <a:ext uri="{FF2B5EF4-FFF2-40B4-BE49-F238E27FC236}">
                    <a16:creationId xmlns:a16="http://schemas.microsoft.com/office/drawing/2014/main" id="{A8E52B2C-826E-1BD1-C779-4EA4C6D9BE97}"/>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86" name="Line 76">
                <a:extLst>
                  <a:ext uri="{FF2B5EF4-FFF2-40B4-BE49-F238E27FC236}">
                    <a16:creationId xmlns:a16="http://schemas.microsoft.com/office/drawing/2014/main" id="{28AADDBC-13BA-8775-CCD3-F3D05ABD65AA}"/>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87" name="Line 77">
                <a:extLst>
                  <a:ext uri="{FF2B5EF4-FFF2-40B4-BE49-F238E27FC236}">
                    <a16:creationId xmlns:a16="http://schemas.microsoft.com/office/drawing/2014/main" id="{443F4F36-ED04-C453-6052-AB787594C61F}"/>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08" name="Line 78">
                <a:extLst>
                  <a:ext uri="{FF2B5EF4-FFF2-40B4-BE49-F238E27FC236}">
                    <a16:creationId xmlns:a16="http://schemas.microsoft.com/office/drawing/2014/main" id="{5C419450-E2B2-458A-F962-D97DE116CDED}"/>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09" name="Line 79">
              <a:extLst>
                <a:ext uri="{FF2B5EF4-FFF2-40B4-BE49-F238E27FC236}">
                  <a16:creationId xmlns:a16="http://schemas.microsoft.com/office/drawing/2014/main" id="{24F4CB16-6BDA-19A5-5B35-1DDE7EA33ECC}"/>
                </a:ext>
              </a:extLst>
            </p:cNvPr>
            <p:cNvSpPr>
              <a:spLocks noChangeShapeType="1"/>
            </p:cNvSpPr>
            <p:nvPr/>
          </p:nvSpPr>
          <p:spPr bwMode="auto">
            <a:xfrm flipV="1">
              <a:off x="2833688" y="4337050"/>
              <a:ext cx="730250" cy="2063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10" name="AutoShape 80">
              <a:extLst>
                <a:ext uri="{FF2B5EF4-FFF2-40B4-BE49-F238E27FC236}">
                  <a16:creationId xmlns:a16="http://schemas.microsoft.com/office/drawing/2014/main" id="{9D321D89-074A-D162-EC43-76818914E115}"/>
                </a:ext>
              </a:extLst>
            </p:cNvPr>
            <p:cNvSpPr>
              <a:spLocks noChangeArrowheads="1"/>
            </p:cNvSpPr>
            <p:nvPr/>
          </p:nvSpPr>
          <p:spPr bwMode="auto">
            <a:xfrm>
              <a:off x="3067050" y="4206875"/>
              <a:ext cx="233363" cy="254000"/>
            </a:xfrm>
            <a:prstGeom prst="triangle">
              <a:avLst>
                <a:gd name="adj" fmla="val 50000"/>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600">
                  <a:solidFill>
                    <a:schemeClr val="tx1"/>
                  </a:solidFill>
                  <a:latin typeface="Roboto" panose="02000000000000000000" pitchFamily="2" charset="0"/>
                  <a:ea typeface="Roboto" panose="02000000000000000000" pitchFamily="2" charset="0"/>
                </a:rPr>
                <a:t>I</a:t>
              </a:r>
            </a:p>
          </p:txBody>
        </p:sp>
        <p:sp>
          <p:nvSpPr>
            <p:cNvPr id="148" name="Line 81">
              <a:extLst>
                <a:ext uri="{FF2B5EF4-FFF2-40B4-BE49-F238E27FC236}">
                  <a16:creationId xmlns:a16="http://schemas.microsoft.com/office/drawing/2014/main" id="{737D180F-2BB9-E861-3792-7F2DDDA35832}"/>
                </a:ext>
              </a:extLst>
            </p:cNvPr>
            <p:cNvSpPr>
              <a:spLocks noChangeShapeType="1"/>
            </p:cNvSpPr>
            <p:nvPr/>
          </p:nvSpPr>
          <p:spPr bwMode="auto">
            <a:xfrm flipV="1">
              <a:off x="4021138" y="4337050"/>
              <a:ext cx="730250" cy="2063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49" name="AutoShape 82">
              <a:extLst>
                <a:ext uri="{FF2B5EF4-FFF2-40B4-BE49-F238E27FC236}">
                  <a16:creationId xmlns:a16="http://schemas.microsoft.com/office/drawing/2014/main" id="{9404F9B7-FB4E-E55D-5AB4-61CDFDE676B0}"/>
                </a:ext>
              </a:extLst>
            </p:cNvPr>
            <p:cNvSpPr>
              <a:spLocks noChangeArrowheads="1"/>
            </p:cNvSpPr>
            <p:nvPr/>
          </p:nvSpPr>
          <p:spPr bwMode="auto">
            <a:xfrm>
              <a:off x="4225925" y="4206875"/>
              <a:ext cx="233363" cy="254000"/>
            </a:xfrm>
            <a:prstGeom prst="triangle">
              <a:avLst>
                <a:gd name="adj" fmla="val 50000"/>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600">
                  <a:solidFill>
                    <a:schemeClr val="tx1"/>
                  </a:solidFill>
                  <a:latin typeface="Roboto" panose="02000000000000000000" pitchFamily="2" charset="0"/>
                  <a:ea typeface="Roboto" panose="02000000000000000000" pitchFamily="2" charset="0"/>
                </a:rPr>
                <a:t>I</a:t>
              </a:r>
            </a:p>
          </p:txBody>
        </p:sp>
        <p:sp>
          <p:nvSpPr>
            <p:cNvPr id="150" name="Line 83">
              <a:extLst>
                <a:ext uri="{FF2B5EF4-FFF2-40B4-BE49-F238E27FC236}">
                  <a16:creationId xmlns:a16="http://schemas.microsoft.com/office/drawing/2014/main" id="{903861F8-6B92-B47E-1DDA-AB758684E122}"/>
                </a:ext>
              </a:extLst>
            </p:cNvPr>
            <p:cNvSpPr>
              <a:spLocks noChangeShapeType="1"/>
            </p:cNvSpPr>
            <p:nvPr/>
          </p:nvSpPr>
          <p:spPr bwMode="auto">
            <a:xfrm flipV="1">
              <a:off x="5141913" y="4346575"/>
              <a:ext cx="649287" cy="111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51" name="AutoShape 84">
              <a:extLst>
                <a:ext uri="{FF2B5EF4-FFF2-40B4-BE49-F238E27FC236}">
                  <a16:creationId xmlns:a16="http://schemas.microsoft.com/office/drawing/2014/main" id="{6D031FB2-A4A6-7019-37F0-AD83D03C4428}"/>
                </a:ext>
              </a:extLst>
            </p:cNvPr>
            <p:cNvSpPr>
              <a:spLocks noChangeArrowheads="1"/>
            </p:cNvSpPr>
            <p:nvPr/>
          </p:nvSpPr>
          <p:spPr bwMode="auto">
            <a:xfrm>
              <a:off x="5346700" y="4206875"/>
              <a:ext cx="233363" cy="254000"/>
            </a:xfrm>
            <a:prstGeom prst="triangle">
              <a:avLst>
                <a:gd name="adj" fmla="val 50000"/>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600">
                  <a:solidFill>
                    <a:schemeClr val="tx1"/>
                  </a:solidFill>
                  <a:latin typeface="Roboto" panose="02000000000000000000" pitchFamily="2" charset="0"/>
                  <a:ea typeface="Roboto" panose="02000000000000000000" pitchFamily="2" charset="0"/>
                </a:rPr>
                <a:t>I</a:t>
              </a:r>
            </a:p>
          </p:txBody>
        </p:sp>
        <p:sp>
          <p:nvSpPr>
            <p:cNvPr id="152" name="Rectangle 85">
              <a:extLst>
                <a:ext uri="{FF2B5EF4-FFF2-40B4-BE49-F238E27FC236}">
                  <a16:creationId xmlns:a16="http://schemas.microsoft.com/office/drawing/2014/main" id="{47C01791-5F81-225B-1D9C-83A7F35443B6}"/>
                </a:ext>
              </a:extLst>
            </p:cNvPr>
            <p:cNvSpPr>
              <a:spLocks noChangeArrowheads="1"/>
            </p:cNvSpPr>
            <p:nvPr/>
          </p:nvSpPr>
          <p:spPr bwMode="auto">
            <a:xfrm>
              <a:off x="6902450" y="4037013"/>
              <a:ext cx="427038" cy="579437"/>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53" name="Line 86">
              <a:extLst>
                <a:ext uri="{FF2B5EF4-FFF2-40B4-BE49-F238E27FC236}">
                  <a16:creationId xmlns:a16="http://schemas.microsoft.com/office/drawing/2014/main" id="{6923C780-ED03-46E2-B9FB-5501925868FE}"/>
                </a:ext>
              </a:extLst>
            </p:cNvPr>
            <p:cNvSpPr>
              <a:spLocks noChangeShapeType="1"/>
            </p:cNvSpPr>
            <p:nvPr/>
          </p:nvSpPr>
          <p:spPr bwMode="auto">
            <a:xfrm>
              <a:off x="6892925" y="416083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nvGrpSpPr>
            <p:cNvPr id="154" name="Group 87">
              <a:extLst>
                <a:ext uri="{FF2B5EF4-FFF2-40B4-BE49-F238E27FC236}">
                  <a16:creationId xmlns:a16="http://schemas.microsoft.com/office/drawing/2014/main" id="{8720C7CB-22EC-BB5B-5087-5767AC02085F}"/>
                </a:ext>
              </a:extLst>
            </p:cNvPr>
            <p:cNvGrpSpPr>
              <a:grpSpLocks/>
            </p:cNvGrpSpPr>
            <p:nvPr/>
          </p:nvGrpSpPr>
          <p:grpSpPr bwMode="auto">
            <a:xfrm>
              <a:off x="6872288" y="4691063"/>
              <a:ext cx="427037" cy="477837"/>
              <a:chOff x="1702" y="2990"/>
              <a:chExt cx="269" cy="301"/>
            </a:xfrm>
          </p:grpSpPr>
          <p:sp>
            <p:nvSpPr>
              <p:cNvPr id="155" name="Rectangle 88">
                <a:extLst>
                  <a:ext uri="{FF2B5EF4-FFF2-40B4-BE49-F238E27FC236}">
                    <a16:creationId xmlns:a16="http://schemas.microsoft.com/office/drawing/2014/main" id="{B7390D47-2D10-FD53-983A-2069D19F8FB0}"/>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56" name="Line 89">
                <a:extLst>
                  <a:ext uri="{FF2B5EF4-FFF2-40B4-BE49-F238E27FC236}">
                    <a16:creationId xmlns:a16="http://schemas.microsoft.com/office/drawing/2014/main" id="{F4943895-0F87-E302-F48A-1CE8FCF2926D}"/>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57" name="Line 90">
                <a:extLst>
                  <a:ext uri="{FF2B5EF4-FFF2-40B4-BE49-F238E27FC236}">
                    <a16:creationId xmlns:a16="http://schemas.microsoft.com/office/drawing/2014/main" id="{BB29E162-FC40-CE82-FDF7-9FC0AA056C0C}"/>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58" name="Line 91">
                <a:extLst>
                  <a:ext uri="{FF2B5EF4-FFF2-40B4-BE49-F238E27FC236}">
                    <a16:creationId xmlns:a16="http://schemas.microsoft.com/office/drawing/2014/main" id="{E0CA82B5-4265-10F8-8C5D-3AD5BD42F3B4}"/>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59" name="Line 92">
                <a:extLst>
                  <a:ext uri="{FF2B5EF4-FFF2-40B4-BE49-F238E27FC236}">
                    <a16:creationId xmlns:a16="http://schemas.microsoft.com/office/drawing/2014/main" id="{92ED1A46-A50E-AC1E-5E55-A48CC18BE159}"/>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0" name="Line 93">
                <a:extLst>
                  <a:ext uri="{FF2B5EF4-FFF2-40B4-BE49-F238E27FC236}">
                    <a16:creationId xmlns:a16="http://schemas.microsoft.com/office/drawing/2014/main" id="{A6D7244F-152A-792A-C8E6-B535C2E22483}"/>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1" name="Line 94">
                <a:extLst>
                  <a:ext uri="{FF2B5EF4-FFF2-40B4-BE49-F238E27FC236}">
                    <a16:creationId xmlns:a16="http://schemas.microsoft.com/office/drawing/2014/main" id="{8BDE390E-5061-0038-F7B1-3A8951B62F2D}"/>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62" name="Line 95">
              <a:extLst>
                <a:ext uri="{FF2B5EF4-FFF2-40B4-BE49-F238E27FC236}">
                  <a16:creationId xmlns:a16="http://schemas.microsoft.com/office/drawing/2014/main" id="{69105E4A-9983-26A7-1E47-787407246008}"/>
                </a:ext>
              </a:extLst>
            </p:cNvPr>
            <p:cNvSpPr>
              <a:spLocks noChangeShapeType="1"/>
            </p:cNvSpPr>
            <p:nvPr/>
          </p:nvSpPr>
          <p:spPr bwMode="auto">
            <a:xfrm flipV="1">
              <a:off x="6237288" y="4337050"/>
              <a:ext cx="649287" cy="111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3" name="AutoShape 96">
              <a:extLst>
                <a:ext uri="{FF2B5EF4-FFF2-40B4-BE49-F238E27FC236}">
                  <a16:creationId xmlns:a16="http://schemas.microsoft.com/office/drawing/2014/main" id="{A74DB6AB-F126-7FA4-F722-7FC3E9DA6559}"/>
                </a:ext>
              </a:extLst>
            </p:cNvPr>
            <p:cNvSpPr>
              <a:spLocks noChangeArrowheads="1"/>
            </p:cNvSpPr>
            <p:nvPr/>
          </p:nvSpPr>
          <p:spPr bwMode="auto">
            <a:xfrm>
              <a:off x="6442075" y="4197350"/>
              <a:ext cx="233363" cy="254000"/>
            </a:xfrm>
            <a:prstGeom prst="triangle">
              <a:avLst>
                <a:gd name="adj" fmla="val 50000"/>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600" dirty="0">
                  <a:solidFill>
                    <a:schemeClr val="tx1"/>
                  </a:solidFill>
                  <a:latin typeface="Roboto" panose="02000000000000000000" pitchFamily="2" charset="0"/>
                  <a:ea typeface="Roboto" panose="02000000000000000000" pitchFamily="2" charset="0"/>
                </a:rPr>
                <a:t>I</a:t>
              </a:r>
            </a:p>
          </p:txBody>
        </p:sp>
        <p:sp>
          <p:nvSpPr>
            <p:cNvPr id="164" name="Line 97">
              <a:extLst>
                <a:ext uri="{FF2B5EF4-FFF2-40B4-BE49-F238E27FC236}">
                  <a16:creationId xmlns:a16="http://schemas.microsoft.com/office/drawing/2014/main" id="{62287205-7AB2-002B-5D65-C7307DF78380}"/>
                </a:ext>
              </a:extLst>
            </p:cNvPr>
            <p:cNvSpPr>
              <a:spLocks noChangeShapeType="1"/>
            </p:cNvSpPr>
            <p:nvPr/>
          </p:nvSpPr>
          <p:spPr bwMode="auto">
            <a:xfrm flipV="1">
              <a:off x="1554163" y="4356100"/>
              <a:ext cx="892175" cy="158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5" name="Rectangle 98">
              <a:extLst>
                <a:ext uri="{FF2B5EF4-FFF2-40B4-BE49-F238E27FC236}">
                  <a16:creationId xmlns:a16="http://schemas.microsoft.com/office/drawing/2014/main" id="{573BD663-1E8D-4692-EF6F-68B965A0EC1D}"/>
                </a:ext>
              </a:extLst>
            </p:cNvPr>
            <p:cNvSpPr>
              <a:spLocks noChangeArrowheads="1"/>
            </p:cNvSpPr>
            <p:nvPr/>
          </p:nvSpPr>
          <p:spPr bwMode="auto">
            <a:xfrm>
              <a:off x="3787775" y="2093913"/>
              <a:ext cx="974725" cy="709612"/>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XYZ</a:t>
              </a:r>
            </a:p>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Scheduling </a:t>
              </a:r>
            </a:p>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System</a:t>
              </a:r>
            </a:p>
          </p:txBody>
        </p:sp>
        <p:sp>
          <p:nvSpPr>
            <p:cNvPr id="166" name="Line 99">
              <a:extLst>
                <a:ext uri="{FF2B5EF4-FFF2-40B4-BE49-F238E27FC236}">
                  <a16:creationId xmlns:a16="http://schemas.microsoft.com/office/drawing/2014/main" id="{4FF8D869-2C5C-BEBF-246D-D24F42D8E700}"/>
                </a:ext>
              </a:extLst>
            </p:cNvPr>
            <p:cNvSpPr>
              <a:spLocks noChangeShapeType="1"/>
            </p:cNvSpPr>
            <p:nvPr/>
          </p:nvSpPr>
          <p:spPr bwMode="auto">
            <a:xfrm flipH="1">
              <a:off x="2863850" y="2813050"/>
              <a:ext cx="1027113" cy="1189038"/>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7" name="Line 100">
              <a:extLst>
                <a:ext uri="{FF2B5EF4-FFF2-40B4-BE49-F238E27FC236}">
                  <a16:creationId xmlns:a16="http://schemas.microsoft.com/office/drawing/2014/main" id="{A0BF41B9-37F1-9816-91FD-5DFDF6CF89C1}"/>
                </a:ext>
              </a:extLst>
            </p:cNvPr>
            <p:cNvSpPr>
              <a:spLocks noChangeShapeType="1"/>
            </p:cNvSpPr>
            <p:nvPr/>
          </p:nvSpPr>
          <p:spPr bwMode="auto">
            <a:xfrm flipH="1">
              <a:off x="3911600" y="2833688"/>
              <a:ext cx="273050" cy="1157287"/>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8" name="Line 101">
              <a:extLst>
                <a:ext uri="{FF2B5EF4-FFF2-40B4-BE49-F238E27FC236}">
                  <a16:creationId xmlns:a16="http://schemas.microsoft.com/office/drawing/2014/main" id="{807BD01F-36C3-72E7-DF08-5297859385DF}"/>
                </a:ext>
              </a:extLst>
            </p:cNvPr>
            <p:cNvSpPr>
              <a:spLocks noChangeShapeType="1"/>
            </p:cNvSpPr>
            <p:nvPr/>
          </p:nvSpPr>
          <p:spPr bwMode="auto">
            <a:xfrm>
              <a:off x="4457700" y="2833688"/>
              <a:ext cx="500063" cy="1127125"/>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9" name="Line 102">
              <a:extLst>
                <a:ext uri="{FF2B5EF4-FFF2-40B4-BE49-F238E27FC236}">
                  <a16:creationId xmlns:a16="http://schemas.microsoft.com/office/drawing/2014/main" id="{832158CB-A85E-2103-1884-4AE0666ED670}"/>
                </a:ext>
              </a:extLst>
            </p:cNvPr>
            <p:cNvSpPr>
              <a:spLocks noChangeShapeType="1"/>
            </p:cNvSpPr>
            <p:nvPr/>
          </p:nvSpPr>
          <p:spPr bwMode="auto">
            <a:xfrm>
              <a:off x="4775200" y="2782888"/>
              <a:ext cx="2144713" cy="1300162"/>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70" name="Line 103">
              <a:extLst>
                <a:ext uri="{FF2B5EF4-FFF2-40B4-BE49-F238E27FC236}">
                  <a16:creationId xmlns:a16="http://schemas.microsoft.com/office/drawing/2014/main" id="{05C24104-F32D-1379-CA7F-64D8E9E2598A}"/>
                </a:ext>
              </a:extLst>
            </p:cNvPr>
            <p:cNvSpPr>
              <a:spLocks noChangeShapeType="1"/>
            </p:cNvSpPr>
            <p:nvPr/>
          </p:nvSpPr>
          <p:spPr bwMode="auto">
            <a:xfrm>
              <a:off x="4632325" y="2801938"/>
              <a:ext cx="1209675" cy="135255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71" name="Text Box 104">
              <a:extLst>
                <a:ext uri="{FF2B5EF4-FFF2-40B4-BE49-F238E27FC236}">
                  <a16:creationId xmlns:a16="http://schemas.microsoft.com/office/drawing/2014/main" id="{E5E18C8B-892F-F170-7504-E2D79794F8C0}"/>
                </a:ext>
              </a:extLst>
            </p:cNvPr>
            <p:cNvSpPr txBox="1">
              <a:spLocks noChangeArrowheads="1"/>
            </p:cNvSpPr>
            <p:nvPr/>
          </p:nvSpPr>
          <p:spPr bwMode="auto">
            <a:xfrm>
              <a:off x="1082173" y="1841500"/>
              <a:ext cx="794721" cy="333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FF0000"/>
                  </a:solidFill>
                  <a:latin typeface="Roboto" panose="02000000000000000000" pitchFamily="2" charset="0"/>
                  <a:ea typeface="Roboto" panose="02000000000000000000" pitchFamily="2" charset="0"/>
                </a:rPr>
                <a:t>Supplier</a:t>
              </a:r>
            </a:p>
          </p:txBody>
        </p:sp>
        <p:sp>
          <p:nvSpPr>
            <p:cNvPr id="172" name="Text Box 105">
              <a:extLst>
                <a:ext uri="{FF2B5EF4-FFF2-40B4-BE49-F238E27FC236}">
                  <a16:creationId xmlns:a16="http://schemas.microsoft.com/office/drawing/2014/main" id="{13A111A0-34A2-0AC3-8F8D-7C75FEE79B14}"/>
                </a:ext>
              </a:extLst>
            </p:cNvPr>
            <p:cNvSpPr txBox="1">
              <a:spLocks noChangeArrowheads="1"/>
            </p:cNvSpPr>
            <p:nvPr/>
          </p:nvSpPr>
          <p:spPr bwMode="auto">
            <a:xfrm>
              <a:off x="6951841" y="1741488"/>
              <a:ext cx="923699" cy="333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FF0000"/>
                  </a:solidFill>
                  <a:latin typeface="Roboto" panose="02000000000000000000" pitchFamily="2" charset="0"/>
                  <a:ea typeface="Roboto" panose="02000000000000000000" pitchFamily="2" charset="0"/>
                </a:rPr>
                <a:t>Customer</a:t>
              </a:r>
            </a:p>
          </p:txBody>
        </p:sp>
        <p:sp>
          <p:nvSpPr>
            <p:cNvPr id="173" name="Text Box 106">
              <a:extLst>
                <a:ext uri="{FF2B5EF4-FFF2-40B4-BE49-F238E27FC236}">
                  <a16:creationId xmlns:a16="http://schemas.microsoft.com/office/drawing/2014/main" id="{8627B457-732B-DEB2-8661-E0372826241D}"/>
                </a:ext>
              </a:extLst>
            </p:cNvPr>
            <p:cNvSpPr txBox="1">
              <a:spLocks noChangeArrowheads="1"/>
            </p:cNvSpPr>
            <p:nvPr/>
          </p:nvSpPr>
          <p:spPr bwMode="auto">
            <a:xfrm>
              <a:off x="3375363" y="1547813"/>
              <a:ext cx="1788122" cy="576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FF0000"/>
                  </a:solidFill>
                  <a:latin typeface="Roboto" panose="02000000000000000000" pitchFamily="2" charset="0"/>
                  <a:ea typeface="Roboto" panose="02000000000000000000" pitchFamily="2" charset="0"/>
                </a:rPr>
                <a:t>Information Systems</a:t>
              </a:r>
            </a:p>
            <a:p>
              <a:pPr>
                <a:lnSpc>
                  <a:spcPct val="100000"/>
                </a:lnSpc>
                <a:spcBef>
                  <a:spcPct val="0"/>
                </a:spcBef>
              </a:pPr>
              <a:r>
                <a:rPr lang="en-US" altLang="en-US" sz="1600" b="0" dirty="0">
                  <a:solidFill>
                    <a:srgbClr val="FF0000"/>
                  </a:solidFill>
                  <a:latin typeface="Roboto" panose="02000000000000000000" pitchFamily="2" charset="0"/>
                  <a:ea typeface="Roboto" panose="02000000000000000000" pitchFamily="2" charset="0"/>
                </a:rPr>
                <a:t>&amp; Flow</a:t>
              </a:r>
            </a:p>
          </p:txBody>
        </p:sp>
        <p:sp>
          <p:nvSpPr>
            <p:cNvPr id="174" name="AutoShape 107">
              <a:extLst>
                <a:ext uri="{FF2B5EF4-FFF2-40B4-BE49-F238E27FC236}">
                  <a16:creationId xmlns:a16="http://schemas.microsoft.com/office/drawing/2014/main" id="{DFFA118A-0835-FEF0-0B72-570A96CDEB42}"/>
                </a:ext>
              </a:extLst>
            </p:cNvPr>
            <p:cNvSpPr>
              <a:spLocks noChangeArrowheads="1"/>
            </p:cNvSpPr>
            <p:nvPr/>
          </p:nvSpPr>
          <p:spPr bwMode="auto">
            <a:xfrm>
              <a:off x="600075" y="1838325"/>
              <a:ext cx="1787525" cy="1687513"/>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75" name="AutoShape 108">
              <a:extLst>
                <a:ext uri="{FF2B5EF4-FFF2-40B4-BE49-F238E27FC236}">
                  <a16:creationId xmlns:a16="http://schemas.microsoft.com/office/drawing/2014/main" id="{11CDACD5-28D8-C6DF-9E83-8354E9219B00}"/>
                </a:ext>
              </a:extLst>
            </p:cNvPr>
            <p:cNvSpPr>
              <a:spLocks noChangeArrowheads="1"/>
            </p:cNvSpPr>
            <p:nvPr/>
          </p:nvSpPr>
          <p:spPr bwMode="auto">
            <a:xfrm>
              <a:off x="5770563" y="1685925"/>
              <a:ext cx="2581275" cy="1768475"/>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76" name="AutoShape 109">
              <a:extLst>
                <a:ext uri="{FF2B5EF4-FFF2-40B4-BE49-F238E27FC236}">
                  <a16:creationId xmlns:a16="http://schemas.microsoft.com/office/drawing/2014/main" id="{386A833B-99B5-A65A-ED92-260B7E064078}"/>
                </a:ext>
              </a:extLst>
            </p:cNvPr>
            <p:cNvSpPr>
              <a:spLocks noChangeArrowheads="1"/>
            </p:cNvSpPr>
            <p:nvPr/>
          </p:nvSpPr>
          <p:spPr bwMode="auto">
            <a:xfrm>
              <a:off x="2936875" y="1584325"/>
              <a:ext cx="2470150" cy="2205038"/>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77" name="Line 110">
              <a:extLst>
                <a:ext uri="{FF2B5EF4-FFF2-40B4-BE49-F238E27FC236}">
                  <a16:creationId xmlns:a16="http://schemas.microsoft.com/office/drawing/2014/main" id="{BED37C95-2156-2F0B-C798-59F9CEC02DD0}"/>
                </a:ext>
              </a:extLst>
            </p:cNvPr>
            <p:cNvSpPr>
              <a:spLocks noChangeShapeType="1"/>
            </p:cNvSpPr>
            <p:nvPr/>
          </p:nvSpPr>
          <p:spPr bwMode="auto">
            <a:xfrm flipH="1">
              <a:off x="1941513" y="2581275"/>
              <a:ext cx="1808162" cy="1588"/>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78" name="Line 111">
              <a:extLst>
                <a:ext uri="{FF2B5EF4-FFF2-40B4-BE49-F238E27FC236}">
                  <a16:creationId xmlns:a16="http://schemas.microsoft.com/office/drawing/2014/main" id="{444EEEAB-AC32-84B2-8D10-E778D4D88E60}"/>
                </a:ext>
              </a:extLst>
            </p:cNvPr>
            <p:cNvSpPr>
              <a:spLocks noChangeShapeType="1"/>
            </p:cNvSpPr>
            <p:nvPr/>
          </p:nvSpPr>
          <p:spPr bwMode="auto">
            <a:xfrm flipH="1">
              <a:off x="4754563" y="2576513"/>
              <a:ext cx="2103437"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79" name="AutoShape 112">
              <a:extLst>
                <a:ext uri="{FF2B5EF4-FFF2-40B4-BE49-F238E27FC236}">
                  <a16:creationId xmlns:a16="http://schemas.microsoft.com/office/drawing/2014/main" id="{4FAFDFD8-3E0E-9287-EA34-BFDFCE76AFE9}"/>
                </a:ext>
              </a:extLst>
            </p:cNvPr>
            <p:cNvSpPr>
              <a:spLocks noChangeArrowheads="1"/>
            </p:cNvSpPr>
            <p:nvPr/>
          </p:nvSpPr>
          <p:spPr bwMode="auto">
            <a:xfrm>
              <a:off x="1127125" y="3919538"/>
              <a:ext cx="6807200" cy="1519237"/>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nvGrpSpPr>
            <p:cNvPr id="180" name="Group 113">
              <a:extLst>
                <a:ext uri="{FF2B5EF4-FFF2-40B4-BE49-F238E27FC236}">
                  <a16:creationId xmlns:a16="http://schemas.microsoft.com/office/drawing/2014/main" id="{DF9DB578-5232-8E29-ACDB-75B397E70E67}"/>
                </a:ext>
              </a:extLst>
            </p:cNvPr>
            <p:cNvGrpSpPr>
              <a:grpSpLocks/>
            </p:cNvGrpSpPr>
            <p:nvPr/>
          </p:nvGrpSpPr>
          <p:grpSpPr bwMode="auto">
            <a:xfrm>
              <a:off x="7613654" y="5541975"/>
              <a:ext cx="989013" cy="439738"/>
              <a:chOff x="5072" y="3566"/>
              <a:chExt cx="623" cy="277"/>
            </a:xfrm>
          </p:grpSpPr>
          <p:sp>
            <p:nvSpPr>
              <p:cNvPr id="181" name="Text Box 114">
                <a:extLst>
                  <a:ext uri="{FF2B5EF4-FFF2-40B4-BE49-F238E27FC236}">
                    <a16:creationId xmlns:a16="http://schemas.microsoft.com/office/drawing/2014/main" id="{C31E0141-21B8-B882-AC0A-ABA57C6C765D}"/>
                  </a:ext>
                </a:extLst>
              </p:cNvPr>
              <p:cNvSpPr txBox="1">
                <a:spLocks noChangeArrowheads="1"/>
              </p:cNvSpPr>
              <p:nvPr/>
            </p:nvSpPr>
            <p:spPr bwMode="auto">
              <a:xfrm>
                <a:off x="5080" y="3566"/>
                <a:ext cx="61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Production L.T.</a:t>
                </a:r>
              </a:p>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Processing Time</a:t>
                </a:r>
              </a:p>
            </p:txBody>
          </p:sp>
          <p:sp>
            <p:nvSpPr>
              <p:cNvPr id="182" name="Line 115">
                <a:extLst>
                  <a:ext uri="{FF2B5EF4-FFF2-40B4-BE49-F238E27FC236}">
                    <a16:creationId xmlns:a16="http://schemas.microsoft.com/office/drawing/2014/main" id="{03A42D50-83F4-C0D3-81F2-1C79DCE4072C}"/>
                  </a:ext>
                </a:extLst>
              </p:cNvPr>
              <p:cNvSpPr>
                <a:spLocks noChangeShapeType="1"/>
              </p:cNvSpPr>
              <p:nvPr/>
            </p:nvSpPr>
            <p:spPr bwMode="auto">
              <a:xfrm>
                <a:off x="5072" y="3693"/>
                <a:ext cx="544" cy="6"/>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3" name="AutoShape 116">
              <a:extLst>
                <a:ext uri="{FF2B5EF4-FFF2-40B4-BE49-F238E27FC236}">
                  <a16:creationId xmlns:a16="http://schemas.microsoft.com/office/drawing/2014/main" id="{D9F2BF68-1D57-077D-48E3-6276C79BD4E8}"/>
                </a:ext>
              </a:extLst>
            </p:cNvPr>
            <p:cNvSpPr>
              <a:spLocks noChangeArrowheads="1"/>
            </p:cNvSpPr>
            <p:nvPr/>
          </p:nvSpPr>
          <p:spPr bwMode="auto">
            <a:xfrm>
              <a:off x="890588" y="5503863"/>
              <a:ext cx="7708900" cy="577850"/>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84" name="Text Box 117">
              <a:extLst>
                <a:ext uri="{FF2B5EF4-FFF2-40B4-BE49-F238E27FC236}">
                  <a16:creationId xmlns:a16="http://schemas.microsoft.com/office/drawing/2014/main" id="{062BF54F-8A08-AAD4-B0B3-16CFD9D5B25C}"/>
                </a:ext>
              </a:extLst>
            </p:cNvPr>
            <p:cNvSpPr txBox="1">
              <a:spLocks noChangeArrowheads="1"/>
            </p:cNvSpPr>
            <p:nvPr/>
          </p:nvSpPr>
          <p:spPr bwMode="auto">
            <a:xfrm>
              <a:off x="3408976" y="5165725"/>
              <a:ext cx="2291684" cy="333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FF0000"/>
                  </a:solidFill>
                  <a:latin typeface="Roboto" panose="02000000000000000000" pitchFamily="2" charset="0"/>
                  <a:ea typeface="Roboto" panose="02000000000000000000" pitchFamily="2" charset="0"/>
                </a:rPr>
                <a:t>Processes and Data Blocks</a:t>
              </a:r>
            </a:p>
          </p:txBody>
        </p:sp>
        <p:sp>
          <p:nvSpPr>
            <p:cNvPr id="185" name="Text Box 118">
              <a:extLst>
                <a:ext uri="{FF2B5EF4-FFF2-40B4-BE49-F238E27FC236}">
                  <a16:creationId xmlns:a16="http://schemas.microsoft.com/office/drawing/2014/main" id="{1A0E2AA0-B2E6-00A5-81F8-2F730193BBDC}"/>
                </a:ext>
              </a:extLst>
            </p:cNvPr>
            <p:cNvSpPr txBox="1">
              <a:spLocks noChangeArrowheads="1"/>
            </p:cNvSpPr>
            <p:nvPr/>
          </p:nvSpPr>
          <p:spPr bwMode="auto">
            <a:xfrm>
              <a:off x="3066778" y="5778500"/>
              <a:ext cx="3684365" cy="333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FF0000"/>
                  </a:solidFill>
                  <a:latin typeface="Roboto" panose="02000000000000000000" pitchFamily="2" charset="0"/>
                  <a:ea typeface="Roboto" panose="02000000000000000000" pitchFamily="2" charset="0"/>
                </a:rPr>
                <a:t>Lead Time and Processing Time Calculations</a:t>
              </a:r>
            </a:p>
          </p:txBody>
        </p:sp>
        <p:sp>
          <p:nvSpPr>
            <p:cNvPr id="186" name="Rectangle 119">
              <a:extLst>
                <a:ext uri="{FF2B5EF4-FFF2-40B4-BE49-F238E27FC236}">
                  <a16:creationId xmlns:a16="http://schemas.microsoft.com/office/drawing/2014/main" id="{20473754-8E1D-751D-5033-A79F494522C4}"/>
                </a:ext>
              </a:extLst>
            </p:cNvPr>
            <p:cNvSpPr>
              <a:spLocks noChangeArrowheads="1"/>
            </p:cNvSpPr>
            <p:nvPr/>
          </p:nvSpPr>
          <p:spPr bwMode="auto">
            <a:xfrm>
              <a:off x="5883275" y="2730500"/>
              <a:ext cx="833438" cy="477838"/>
            </a:xfrm>
            <a:prstGeom prst="rect">
              <a:avLst/>
            </a:prstGeom>
            <a:solidFill>
              <a:schemeClr val="accent3"/>
            </a:solidFill>
            <a:ln w="12700" cap="sq">
              <a:solidFill>
                <a:schemeClr val="tx1"/>
              </a:solidFill>
              <a:miter lim="800000"/>
              <a:headEnd type="none" w="sm" len="sm"/>
              <a:tailEnd type="none" w="sm" len="sm"/>
            </a:ln>
            <a:effectLst>
              <a:outerShdw dist="45791" dir="2021404" algn="ctr" rotWithShape="0">
                <a:schemeClr val="tx1">
                  <a:alpha val="50000"/>
                </a:schemeClr>
              </a:outerShdw>
            </a:effectLst>
          </p:spPr>
          <p:txBody>
            <a:bodyPr wrap="none" anchor="ctr"/>
            <a:lstStyle/>
            <a:p>
              <a:pPr>
                <a:lnSpc>
                  <a:spcPct val="100000"/>
                </a:lnSpc>
                <a:spcBef>
                  <a:spcPct val="0"/>
                </a:spcBef>
                <a:defRPr/>
              </a:pPr>
              <a:r>
                <a:rPr lang="en-US" sz="1000" dirty="0">
                  <a:solidFill>
                    <a:schemeClr val="tx1"/>
                  </a:solidFill>
                  <a:latin typeface="Roboto" panose="02000000000000000000" pitchFamily="2" charset="0"/>
                  <a:ea typeface="Roboto" panose="02000000000000000000" pitchFamily="2" charset="0"/>
                </a:rPr>
                <a:t>Takt</a:t>
              </a:r>
            </a:p>
            <a:p>
              <a:pPr>
                <a:lnSpc>
                  <a:spcPct val="100000"/>
                </a:lnSpc>
                <a:spcBef>
                  <a:spcPct val="0"/>
                </a:spcBef>
                <a:defRPr/>
              </a:pPr>
              <a:r>
                <a:rPr lang="en-US" sz="1000" dirty="0">
                  <a:solidFill>
                    <a:schemeClr val="tx1"/>
                  </a:solidFill>
                  <a:latin typeface="Roboto" panose="02000000000000000000" pitchFamily="2" charset="0"/>
                  <a:ea typeface="Roboto" panose="02000000000000000000" pitchFamily="2" charset="0"/>
                </a:rPr>
                <a:t>Time</a:t>
              </a:r>
            </a:p>
          </p:txBody>
        </p:sp>
        <p:grpSp>
          <p:nvGrpSpPr>
            <p:cNvPr id="187" name="Group 120">
              <a:extLst>
                <a:ext uri="{FF2B5EF4-FFF2-40B4-BE49-F238E27FC236}">
                  <a16:creationId xmlns:a16="http://schemas.microsoft.com/office/drawing/2014/main" id="{28EF2562-661E-ED0E-C378-806A051988F2}"/>
                </a:ext>
              </a:extLst>
            </p:cNvPr>
            <p:cNvGrpSpPr>
              <a:grpSpLocks/>
            </p:cNvGrpSpPr>
            <p:nvPr/>
          </p:nvGrpSpPr>
          <p:grpSpPr bwMode="auto">
            <a:xfrm>
              <a:off x="884238" y="2835275"/>
              <a:ext cx="427037" cy="477838"/>
              <a:chOff x="1702" y="2990"/>
              <a:chExt cx="269" cy="301"/>
            </a:xfrm>
          </p:grpSpPr>
          <p:sp>
            <p:nvSpPr>
              <p:cNvPr id="188" name="Rectangle 121">
                <a:extLst>
                  <a:ext uri="{FF2B5EF4-FFF2-40B4-BE49-F238E27FC236}">
                    <a16:creationId xmlns:a16="http://schemas.microsoft.com/office/drawing/2014/main" id="{1304CBD8-A285-FA90-F615-F5D2CD54BFEE}"/>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89" name="Line 122">
                <a:extLst>
                  <a:ext uri="{FF2B5EF4-FFF2-40B4-BE49-F238E27FC236}">
                    <a16:creationId xmlns:a16="http://schemas.microsoft.com/office/drawing/2014/main" id="{15DDF679-7235-09DE-231D-4B7E0F38D933}"/>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0" name="Line 123">
                <a:extLst>
                  <a:ext uri="{FF2B5EF4-FFF2-40B4-BE49-F238E27FC236}">
                    <a16:creationId xmlns:a16="http://schemas.microsoft.com/office/drawing/2014/main" id="{6ED84F60-94D3-F054-8801-E77BC469B8B5}"/>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1" name="Line 124">
                <a:extLst>
                  <a:ext uri="{FF2B5EF4-FFF2-40B4-BE49-F238E27FC236}">
                    <a16:creationId xmlns:a16="http://schemas.microsoft.com/office/drawing/2014/main" id="{7FCC9D21-A767-F693-DF89-FA626297E155}"/>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2" name="Line 125">
                <a:extLst>
                  <a:ext uri="{FF2B5EF4-FFF2-40B4-BE49-F238E27FC236}">
                    <a16:creationId xmlns:a16="http://schemas.microsoft.com/office/drawing/2014/main" id="{E9C9C9D0-28DD-7E0C-8013-BDE01ED379FC}"/>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3" name="Line 126">
                <a:extLst>
                  <a:ext uri="{FF2B5EF4-FFF2-40B4-BE49-F238E27FC236}">
                    <a16:creationId xmlns:a16="http://schemas.microsoft.com/office/drawing/2014/main" id="{6E08AD3E-902F-BBD6-B257-135820523CF0}"/>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4" name="Line 127">
                <a:extLst>
                  <a:ext uri="{FF2B5EF4-FFF2-40B4-BE49-F238E27FC236}">
                    <a16:creationId xmlns:a16="http://schemas.microsoft.com/office/drawing/2014/main" id="{0EBE2103-4C09-253E-9598-AE1DE690A023}"/>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95" name="Group 128">
              <a:extLst>
                <a:ext uri="{FF2B5EF4-FFF2-40B4-BE49-F238E27FC236}">
                  <a16:creationId xmlns:a16="http://schemas.microsoft.com/office/drawing/2014/main" id="{6C8091BC-92F1-8074-8A60-D741A7DAEA7C}"/>
                </a:ext>
              </a:extLst>
            </p:cNvPr>
            <p:cNvGrpSpPr>
              <a:grpSpLocks/>
            </p:cNvGrpSpPr>
            <p:nvPr/>
          </p:nvGrpSpPr>
          <p:grpSpPr bwMode="auto">
            <a:xfrm>
              <a:off x="7248525" y="2814638"/>
              <a:ext cx="427038" cy="477837"/>
              <a:chOff x="1702" y="2990"/>
              <a:chExt cx="269" cy="301"/>
            </a:xfrm>
          </p:grpSpPr>
          <p:sp>
            <p:nvSpPr>
              <p:cNvPr id="196" name="Rectangle 129">
                <a:extLst>
                  <a:ext uri="{FF2B5EF4-FFF2-40B4-BE49-F238E27FC236}">
                    <a16:creationId xmlns:a16="http://schemas.microsoft.com/office/drawing/2014/main" id="{0E60C69E-C7E0-C3DE-5C60-75326DF9A8D2}"/>
                  </a:ext>
                </a:extLst>
              </p:cNvPr>
              <p:cNvSpPr>
                <a:spLocks noChangeArrowheads="1"/>
              </p:cNvSpPr>
              <p:nvPr/>
            </p:nvSpPr>
            <p:spPr bwMode="auto">
              <a:xfrm>
                <a:off x="1702" y="2990"/>
                <a:ext cx="269" cy="301"/>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97" name="Line 130">
                <a:extLst>
                  <a:ext uri="{FF2B5EF4-FFF2-40B4-BE49-F238E27FC236}">
                    <a16:creationId xmlns:a16="http://schemas.microsoft.com/office/drawing/2014/main" id="{BC4CAF04-EB6D-5470-166D-0366C246E864}"/>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8" name="Line 131">
                <a:extLst>
                  <a:ext uri="{FF2B5EF4-FFF2-40B4-BE49-F238E27FC236}">
                    <a16:creationId xmlns:a16="http://schemas.microsoft.com/office/drawing/2014/main" id="{31B29D4E-E437-7AD6-5868-71A5FAB5A42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9" name="Line 132">
                <a:extLst>
                  <a:ext uri="{FF2B5EF4-FFF2-40B4-BE49-F238E27FC236}">
                    <a16:creationId xmlns:a16="http://schemas.microsoft.com/office/drawing/2014/main" id="{47EFCFC4-BDA1-FAEA-FBC8-7BF4F07280E5}"/>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00" name="Line 133">
                <a:extLst>
                  <a:ext uri="{FF2B5EF4-FFF2-40B4-BE49-F238E27FC236}">
                    <a16:creationId xmlns:a16="http://schemas.microsoft.com/office/drawing/2014/main" id="{BF00F2BE-248C-D4A1-366F-84D3D6630AE1}"/>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01" name="Line 134">
                <a:extLst>
                  <a:ext uri="{FF2B5EF4-FFF2-40B4-BE49-F238E27FC236}">
                    <a16:creationId xmlns:a16="http://schemas.microsoft.com/office/drawing/2014/main" id="{175D9C6D-5E5A-BF3B-2481-065D458F0F21}"/>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02" name="Line 135">
                <a:extLst>
                  <a:ext uri="{FF2B5EF4-FFF2-40B4-BE49-F238E27FC236}">
                    <a16:creationId xmlns:a16="http://schemas.microsoft.com/office/drawing/2014/main" id="{EC0753EF-4022-FD26-A726-95517CB44A89}"/>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203" name="AutoShape 136">
              <a:extLst>
                <a:ext uri="{FF2B5EF4-FFF2-40B4-BE49-F238E27FC236}">
                  <a16:creationId xmlns:a16="http://schemas.microsoft.com/office/drawing/2014/main" id="{4BB5BC56-AAA6-426D-DF6F-C900FB17699E}"/>
                </a:ext>
              </a:extLst>
            </p:cNvPr>
            <p:cNvSpPr>
              <a:spLocks noChangeArrowheads="1"/>
            </p:cNvSpPr>
            <p:nvPr/>
          </p:nvSpPr>
          <p:spPr bwMode="auto">
            <a:xfrm>
              <a:off x="1387475" y="4219575"/>
              <a:ext cx="233363" cy="254000"/>
            </a:xfrm>
            <a:prstGeom prst="triangle">
              <a:avLst>
                <a:gd name="adj" fmla="val 50000"/>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600">
                  <a:solidFill>
                    <a:schemeClr val="tx1"/>
                  </a:solidFill>
                  <a:latin typeface="Roboto" panose="02000000000000000000" pitchFamily="2" charset="0"/>
                  <a:ea typeface="Roboto" panose="02000000000000000000" pitchFamily="2" charset="0"/>
                </a:rPr>
                <a:t>I</a:t>
              </a:r>
            </a:p>
          </p:txBody>
        </p:sp>
        <p:sp>
          <p:nvSpPr>
            <p:cNvPr id="204" name="Line 137">
              <a:extLst>
                <a:ext uri="{FF2B5EF4-FFF2-40B4-BE49-F238E27FC236}">
                  <a16:creationId xmlns:a16="http://schemas.microsoft.com/office/drawing/2014/main" id="{B3A0F53C-6B1E-8797-6BD3-F3DC45FD6BA1}"/>
                </a:ext>
              </a:extLst>
            </p:cNvPr>
            <p:cNvSpPr>
              <a:spLocks noChangeShapeType="1"/>
            </p:cNvSpPr>
            <p:nvPr/>
          </p:nvSpPr>
          <p:spPr bwMode="auto">
            <a:xfrm flipH="1">
              <a:off x="1503363" y="2819400"/>
              <a:ext cx="20637" cy="1366838"/>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205" name="Group 138">
              <a:extLst>
                <a:ext uri="{FF2B5EF4-FFF2-40B4-BE49-F238E27FC236}">
                  <a16:creationId xmlns:a16="http://schemas.microsoft.com/office/drawing/2014/main" id="{28E14711-AB45-FD94-B8B5-04EDB76FD394}"/>
                </a:ext>
              </a:extLst>
            </p:cNvPr>
            <p:cNvGrpSpPr>
              <a:grpSpLocks/>
            </p:cNvGrpSpPr>
            <p:nvPr/>
          </p:nvGrpSpPr>
          <p:grpSpPr bwMode="auto">
            <a:xfrm>
              <a:off x="1304925" y="3590925"/>
              <a:ext cx="434975" cy="282575"/>
              <a:chOff x="536" y="3744"/>
              <a:chExt cx="415" cy="261"/>
            </a:xfrm>
          </p:grpSpPr>
          <p:sp>
            <p:nvSpPr>
              <p:cNvPr id="206" name="Rectangle 139">
                <a:extLst>
                  <a:ext uri="{FF2B5EF4-FFF2-40B4-BE49-F238E27FC236}">
                    <a16:creationId xmlns:a16="http://schemas.microsoft.com/office/drawing/2014/main" id="{48DA6EE7-F1A2-3084-4833-88446A498C36}"/>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07" name="Rectangle 140">
                <a:extLst>
                  <a:ext uri="{FF2B5EF4-FFF2-40B4-BE49-F238E27FC236}">
                    <a16:creationId xmlns:a16="http://schemas.microsoft.com/office/drawing/2014/main" id="{92153E19-3F2C-1699-FEA4-A991EEAB496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08" name="Oval 141">
                <a:extLst>
                  <a:ext uri="{FF2B5EF4-FFF2-40B4-BE49-F238E27FC236}">
                    <a16:creationId xmlns:a16="http://schemas.microsoft.com/office/drawing/2014/main" id="{CD9C04C4-47CF-73E4-E000-101F40FA11D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09" name="Oval 142">
                <a:extLst>
                  <a:ext uri="{FF2B5EF4-FFF2-40B4-BE49-F238E27FC236}">
                    <a16:creationId xmlns:a16="http://schemas.microsoft.com/office/drawing/2014/main" id="{A941E4BD-F347-8190-D3BD-A6399474144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210" name="Line 143">
              <a:extLst>
                <a:ext uri="{FF2B5EF4-FFF2-40B4-BE49-F238E27FC236}">
                  <a16:creationId xmlns:a16="http://schemas.microsoft.com/office/drawing/2014/main" id="{6FC68FC2-106B-C7F4-6F61-D3056A02B11F}"/>
                </a:ext>
              </a:extLst>
            </p:cNvPr>
            <p:cNvSpPr>
              <a:spLocks noChangeShapeType="1"/>
            </p:cNvSpPr>
            <p:nvPr/>
          </p:nvSpPr>
          <p:spPr bwMode="auto">
            <a:xfrm flipH="1" flipV="1">
              <a:off x="7113588" y="2770188"/>
              <a:ext cx="9525" cy="1244600"/>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211" name="Group 144">
              <a:extLst>
                <a:ext uri="{FF2B5EF4-FFF2-40B4-BE49-F238E27FC236}">
                  <a16:creationId xmlns:a16="http://schemas.microsoft.com/office/drawing/2014/main" id="{D851E590-C800-F232-F198-C60E333D730C}"/>
                </a:ext>
              </a:extLst>
            </p:cNvPr>
            <p:cNvGrpSpPr>
              <a:grpSpLocks/>
            </p:cNvGrpSpPr>
            <p:nvPr/>
          </p:nvGrpSpPr>
          <p:grpSpPr bwMode="auto">
            <a:xfrm>
              <a:off x="6883400" y="3590925"/>
              <a:ext cx="434975" cy="282575"/>
              <a:chOff x="536" y="3744"/>
              <a:chExt cx="415" cy="261"/>
            </a:xfrm>
          </p:grpSpPr>
          <p:sp>
            <p:nvSpPr>
              <p:cNvPr id="212" name="Rectangle 145">
                <a:extLst>
                  <a:ext uri="{FF2B5EF4-FFF2-40B4-BE49-F238E27FC236}">
                    <a16:creationId xmlns:a16="http://schemas.microsoft.com/office/drawing/2014/main" id="{43623318-CA84-8475-310A-5C1D175B9A1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13" name="Rectangle 146">
                <a:extLst>
                  <a:ext uri="{FF2B5EF4-FFF2-40B4-BE49-F238E27FC236}">
                    <a16:creationId xmlns:a16="http://schemas.microsoft.com/office/drawing/2014/main" id="{5A3B64F2-7A4C-A988-3C8A-F522DE0706E0}"/>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14" name="Oval 147">
                <a:extLst>
                  <a:ext uri="{FF2B5EF4-FFF2-40B4-BE49-F238E27FC236}">
                    <a16:creationId xmlns:a16="http://schemas.microsoft.com/office/drawing/2014/main" id="{0FE6D790-1DF5-3CB0-6B23-E3823126930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15" name="Oval 148">
                <a:extLst>
                  <a:ext uri="{FF2B5EF4-FFF2-40B4-BE49-F238E27FC236}">
                    <a16:creationId xmlns:a16="http://schemas.microsoft.com/office/drawing/2014/main" id="{8AADA9B8-2CE2-6865-05B5-E0E0E7010440}"/>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grpSp>
      <p:grpSp>
        <p:nvGrpSpPr>
          <p:cNvPr id="3" name="Group 2">
            <a:extLst>
              <a:ext uri="{FF2B5EF4-FFF2-40B4-BE49-F238E27FC236}">
                <a16:creationId xmlns:a16="http://schemas.microsoft.com/office/drawing/2014/main" id="{6DD86280-DD46-3009-6D8B-14377972FDF3}"/>
              </a:ext>
            </a:extLst>
          </p:cNvPr>
          <p:cNvGrpSpPr/>
          <p:nvPr/>
        </p:nvGrpSpPr>
        <p:grpSpPr>
          <a:xfrm>
            <a:off x="940004" y="313985"/>
            <a:ext cx="6217883" cy="311851"/>
            <a:chOff x="940249" y="302538"/>
            <a:chExt cx="6219503" cy="311932"/>
          </a:xfrm>
        </p:grpSpPr>
        <p:sp>
          <p:nvSpPr>
            <p:cNvPr id="88" name="TextBox 87">
              <a:extLst>
                <a:ext uri="{FF2B5EF4-FFF2-40B4-BE49-F238E27FC236}">
                  <a16:creationId xmlns:a16="http://schemas.microsoft.com/office/drawing/2014/main" id="{420D9AAA-E768-DD82-0E2D-EEE72F75493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89" name="AutoShape 9">
              <a:extLst>
                <a:ext uri="{FF2B5EF4-FFF2-40B4-BE49-F238E27FC236}">
                  <a16:creationId xmlns:a16="http://schemas.microsoft.com/office/drawing/2014/main" id="{9CE17E83-AF3B-C46F-3243-A62A46A0364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0" name="AutoShape 9">
              <a:extLst>
                <a:ext uri="{FF2B5EF4-FFF2-40B4-BE49-F238E27FC236}">
                  <a16:creationId xmlns:a16="http://schemas.microsoft.com/office/drawing/2014/main" id="{27DEF18C-C7BE-9838-DB71-ADBF7BFEC4E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1" name="AutoShape 9">
              <a:extLst>
                <a:ext uri="{FF2B5EF4-FFF2-40B4-BE49-F238E27FC236}">
                  <a16:creationId xmlns:a16="http://schemas.microsoft.com/office/drawing/2014/main" id="{3E326AE7-7923-63CD-D0F7-5BFB1D8E47C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2" name="AutoShape 9">
              <a:extLst>
                <a:ext uri="{FF2B5EF4-FFF2-40B4-BE49-F238E27FC236}">
                  <a16:creationId xmlns:a16="http://schemas.microsoft.com/office/drawing/2014/main" id="{C2CBD414-FACC-AD99-9CC6-544441EB7A20}"/>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3" name="AutoShape 11">
              <a:extLst>
                <a:ext uri="{FF2B5EF4-FFF2-40B4-BE49-F238E27FC236}">
                  <a16:creationId xmlns:a16="http://schemas.microsoft.com/office/drawing/2014/main" id="{65D979ED-AE2B-9840-3A7D-D23938C85DE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94" name="Slide Number Placeholder 2">
            <a:extLst>
              <a:ext uri="{FF2B5EF4-FFF2-40B4-BE49-F238E27FC236}">
                <a16:creationId xmlns:a16="http://schemas.microsoft.com/office/drawing/2014/main" id="{A2A24337-6AAE-A2CF-F872-E864505EED46}"/>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27</a:t>
            </a:fld>
            <a:endParaRPr lang="en-US" dirty="0"/>
          </a:p>
        </p:txBody>
      </p:sp>
    </p:spTree>
    <p:extLst>
      <p:ext uri="{BB962C8B-B14F-4D97-AF65-F5344CB8AC3E}">
        <p14:creationId xmlns:p14="http://schemas.microsoft.com/office/powerpoint/2010/main" val="27605168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Current State Map Drawing Exercise</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90756"/>
            <a:ext cx="9719810" cy="410342"/>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Draw an accurate Current State Value Stream Map from case study example data.</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856515" cy="277563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marL="365760" algn="l" defTabSz="292042">
              <a:lnSpc>
                <a:spcPct val="125000"/>
              </a:lnSpc>
            </a:pPr>
            <a:r>
              <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Read through the case study data handout for Mike’s Metal Enclosures (MME). Make notes where needed.</a:t>
            </a:r>
          </a:p>
          <a:p>
            <a:pPr marL="365760" algn="l" defTabSz="292042">
              <a:lnSpc>
                <a:spcPct val="125000"/>
              </a:lnSpc>
            </a:pPr>
            <a:endPar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endParaRPr>
          </a:p>
          <a:p>
            <a:pPr marL="365760" algn="l" defTabSz="292042">
              <a:lnSpc>
                <a:spcPct val="125000"/>
              </a:lnSpc>
            </a:pPr>
            <a:r>
              <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The instructor will lead a step-by-step discussion of translating the case study data into a Current State Map.</a:t>
            </a:r>
          </a:p>
          <a:p>
            <a:pPr marL="365760" algn="l" defTabSz="292042">
              <a:lnSpc>
                <a:spcPct val="125000"/>
              </a:lnSpc>
            </a:pPr>
            <a:endPar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endParaRPr>
          </a:p>
          <a:p>
            <a:pPr marL="365760" algn="l" defTabSz="292042">
              <a:lnSpc>
                <a:spcPct val="125000"/>
              </a:lnSpc>
            </a:pPr>
            <a:r>
              <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Use 11x17” paper and pencil to draw the Current State Map along with the instructor. </a:t>
            </a:r>
          </a:p>
          <a:p>
            <a:pPr marL="365760" algn="l" defTabSz="292042">
              <a:lnSpc>
                <a:spcPct val="125000"/>
              </a:lnSpc>
            </a:pPr>
            <a:endParaRPr lang="en-US" sz="12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endParaRPr>
          </a:p>
          <a:p>
            <a:pPr marL="365760" algn="l" defTabSz="292042">
              <a:lnSpc>
                <a:spcPct val="125000"/>
              </a:lnSpc>
            </a:pPr>
            <a:r>
              <a:rPr lang="en-US" sz="1200" dirty="0">
                <a:solidFill>
                  <a:srgbClr val="FFB627"/>
                </a:solidFill>
                <a:effectLst>
                  <a:outerShdw blurRad="38100" dist="38100" dir="2700000" algn="tl">
                    <a:srgbClr val="000000">
                      <a:alpha val="43137"/>
                    </a:srgbClr>
                  </a:outerShdw>
                </a:effectLst>
                <a:latin typeface="Roboto" panose="02000000000000000000" pitchFamily="2" charset="0"/>
                <a:ea typeface="Roboto" panose="02000000000000000000" pitchFamily="2" charset="0"/>
                <a:cs typeface="Roboto" panose="02000000000000000000" pitchFamily="2" charset="0"/>
              </a:rPr>
              <a:t>NOTE: KEEP YOUR COMPLETED MAP FOR LATER EXERCISE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9" y="4644860"/>
            <a:ext cx="4680073" cy="157938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map for completeness,  proper form and use of icons, placement and layout, and accuracy of numbers.</a:t>
            </a:r>
          </a:p>
        </p:txBody>
      </p:sp>
      <p:grpSp>
        <p:nvGrpSpPr>
          <p:cNvPr id="10" name="Group 9">
            <a:extLst>
              <a:ext uri="{FF2B5EF4-FFF2-40B4-BE49-F238E27FC236}">
                <a16:creationId xmlns:a16="http://schemas.microsoft.com/office/drawing/2014/main" id="{DE85BF1B-7D4D-22BD-55CD-0B513D298AC3}"/>
              </a:ext>
            </a:extLst>
          </p:cNvPr>
          <p:cNvGrpSpPr/>
          <p:nvPr/>
        </p:nvGrpSpPr>
        <p:grpSpPr>
          <a:xfrm>
            <a:off x="940004" y="313985"/>
            <a:ext cx="6217883" cy="311851"/>
            <a:chOff x="940249" y="302538"/>
            <a:chExt cx="6219503" cy="311932"/>
          </a:xfrm>
        </p:grpSpPr>
        <p:sp>
          <p:nvSpPr>
            <p:cNvPr id="19" name="TextBox 18">
              <a:extLst>
                <a:ext uri="{FF2B5EF4-FFF2-40B4-BE49-F238E27FC236}">
                  <a16:creationId xmlns:a16="http://schemas.microsoft.com/office/drawing/2014/main" id="{28F6637B-B447-DECE-96F3-37844ECDF6A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0" name="AutoShape 9">
              <a:extLst>
                <a:ext uri="{FF2B5EF4-FFF2-40B4-BE49-F238E27FC236}">
                  <a16:creationId xmlns:a16="http://schemas.microsoft.com/office/drawing/2014/main" id="{83CCBAA7-E7EF-D970-C1BB-DBE945F0207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08E83100-CC4B-22BF-6228-00907596665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E2108002-7302-16A3-FCA7-3360852C28E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DBF3D509-599F-D19D-80E5-9AA19C19EA7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73762753-968A-46E8-CF54-31FA7B4DB52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302357913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a:t>
            </a:r>
            <a:br>
              <a:rPr lang="en-US" dirty="0"/>
            </a:br>
            <a:r>
              <a:rPr lang="en-US" dirty="0"/>
              <a:t>Mike’s Metal Enclosures (MME) </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idx="1"/>
          </p:nvPr>
        </p:nvSpPr>
        <p:spPr/>
        <p:txBody>
          <a:bodyPr>
            <a:normAutofit fontScale="92500" lnSpcReduction="10000"/>
          </a:bodyPr>
          <a:lstStyle/>
          <a:p>
            <a:pPr>
              <a:lnSpc>
                <a:spcPct val="100000"/>
              </a:lnSpc>
              <a:spcAft>
                <a:spcPts val="300"/>
              </a:spcAft>
            </a:pPr>
            <a:r>
              <a:rPr lang="en-US" sz="1600" dirty="0"/>
              <a:t>Background</a:t>
            </a:r>
          </a:p>
          <a:p>
            <a:pPr marL="711852">
              <a:lnSpc>
                <a:spcPct val="100000"/>
              </a:lnSpc>
              <a:spcAft>
                <a:spcPts val="300"/>
              </a:spcAft>
            </a:pPr>
            <a:r>
              <a:rPr lang="en-US" sz="1600" dirty="0"/>
              <a:t>Mike’s Metal Enclosures (MME) produces sheet metal enclosures that are used to make electrical chassis for industrial and commercial applications. These enclosures are made exclusively for Ed’s Electrical Supply, who uses them to build rack-mounted computer and network cabinets.  </a:t>
            </a:r>
          </a:p>
          <a:p>
            <a:pPr>
              <a:lnSpc>
                <a:spcPct val="100000"/>
              </a:lnSpc>
              <a:spcAft>
                <a:spcPts val="300"/>
              </a:spcAft>
            </a:pPr>
            <a:r>
              <a:rPr lang="en-US" sz="1600" dirty="0"/>
              <a:t> Customer Requirements</a:t>
            </a:r>
          </a:p>
          <a:p>
            <a:pPr marL="711852">
              <a:lnSpc>
                <a:spcPct val="100000"/>
              </a:lnSpc>
              <a:spcAft>
                <a:spcPts val="300"/>
              </a:spcAft>
            </a:pPr>
            <a:r>
              <a:rPr lang="en-US" sz="1600" dirty="0"/>
              <a:t>Ed’s Electrical Supply Company, orders an average of 30,000 enclosures a month</a:t>
            </a:r>
          </a:p>
          <a:p>
            <a:pPr marL="711852">
              <a:lnSpc>
                <a:spcPct val="100000"/>
              </a:lnSpc>
              <a:spcAft>
                <a:spcPts val="300"/>
              </a:spcAft>
            </a:pPr>
            <a:r>
              <a:rPr lang="en-US" sz="1600" dirty="0"/>
              <a:t>Daily customer orders are sent via EDI link to MME’s order entry module of their MRP system</a:t>
            </a:r>
          </a:p>
          <a:p>
            <a:pPr marL="711852">
              <a:lnSpc>
                <a:spcPct val="100000"/>
              </a:lnSpc>
              <a:spcAft>
                <a:spcPts val="300"/>
              </a:spcAft>
            </a:pPr>
            <a:r>
              <a:rPr lang="en-US" sz="1600" dirty="0"/>
              <a:t>Daily orders are processed and shipped the next day by truck</a:t>
            </a:r>
          </a:p>
          <a:p>
            <a:pPr marL="711852">
              <a:lnSpc>
                <a:spcPct val="100000"/>
              </a:lnSpc>
              <a:spcAft>
                <a:spcPts val="300"/>
              </a:spcAft>
            </a:pPr>
            <a:r>
              <a:rPr lang="en-US" sz="1600" dirty="0"/>
              <a:t>Ed’s Electrical Supply Company works one shift</a:t>
            </a:r>
          </a:p>
          <a:p>
            <a:pPr>
              <a:lnSpc>
                <a:spcPct val="100000"/>
              </a:lnSpc>
              <a:spcAft>
                <a:spcPts val="300"/>
              </a:spcAft>
            </a:pPr>
            <a:r>
              <a:rPr lang="en-US" sz="1600" dirty="0"/>
              <a:t>MME Work Time</a:t>
            </a:r>
          </a:p>
          <a:p>
            <a:pPr lvl="1">
              <a:lnSpc>
                <a:spcPct val="100000"/>
              </a:lnSpc>
              <a:spcAft>
                <a:spcPts val="300"/>
              </a:spcAft>
            </a:pPr>
            <a:r>
              <a:rPr lang="en-US" sz="1600" dirty="0"/>
              <a:t>20 days in a month</a:t>
            </a:r>
          </a:p>
          <a:p>
            <a:pPr lvl="1">
              <a:lnSpc>
                <a:spcPct val="100000"/>
              </a:lnSpc>
              <a:spcAft>
                <a:spcPts val="300"/>
              </a:spcAft>
            </a:pPr>
            <a:r>
              <a:rPr lang="en-US" sz="1600" dirty="0"/>
              <a:t>One 8 hour shift operation in all departments</a:t>
            </a:r>
          </a:p>
          <a:p>
            <a:pPr lvl="1">
              <a:lnSpc>
                <a:spcPct val="100000"/>
              </a:lnSpc>
              <a:spcAft>
                <a:spcPts val="300"/>
              </a:spcAft>
            </a:pPr>
            <a:r>
              <a:rPr lang="en-US" sz="1600" dirty="0"/>
              <a:t>Two 15-minute breaks, unpaid lunch</a:t>
            </a:r>
          </a:p>
        </p:txBody>
      </p:sp>
      <p:grpSp>
        <p:nvGrpSpPr>
          <p:cNvPr id="4" name="Group 3">
            <a:extLst>
              <a:ext uri="{FF2B5EF4-FFF2-40B4-BE49-F238E27FC236}">
                <a16:creationId xmlns:a16="http://schemas.microsoft.com/office/drawing/2014/main" id="{FD92A122-D951-E44E-3A5B-59FC82A7D509}"/>
              </a:ext>
            </a:extLst>
          </p:cNvPr>
          <p:cNvGrpSpPr/>
          <p:nvPr/>
        </p:nvGrpSpPr>
        <p:grpSpPr>
          <a:xfrm>
            <a:off x="940004" y="313985"/>
            <a:ext cx="6217883" cy="311851"/>
            <a:chOff x="940249" y="302538"/>
            <a:chExt cx="6219503" cy="311932"/>
          </a:xfrm>
        </p:grpSpPr>
        <p:sp>
          <p:nvSpPr>
            <p:cNvPr id="5" name="TextBox 4">
              <a:extLst>
                <a:ext uri="{FF2B5EF4-FFF2-40B4-BE49-F238E27FC236}">
                  <a16:creationId xmlns:a16="http://schemas.microsoft.com/office/drawing/2014/main" id="{FEFD6E0C-537C-496E-0833-F30597C3B67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3B39EBE8-D374-54CA-4992-EE19AF21D0B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2A954C20-AAC6-65F9-EBDD-64BDEFCDF0C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FF107641-4800-F3A3-E873-69BACBDD63E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B1E68F70-6858-44F0-B3D3-1AAE8AD357D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5AFC46D3-24BE-B06A-2B04-F761C0A1F32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 name="Slide Number Placeholder 2">
            <a:extLst>
              <a:ext uri="{FF2B5EF4-FFF2-40B4-BE49-F238E27FC236}">
                <a16:creationId xmlns:a16="http://schemas.microsoft.com/office/drawing/2014/main" id="{CAB00445-B8C6-2787-EF36-EC063F14249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29</a:t>
            </a:fld>
            <a:endParaRPr lang="en-US" dirty="0"/>
          </a:p>
        </p:txBody>
      </p:sp>
    </p:spTree>
    <p:extLst>
      <p:ext uri="{BB962C8B-B14F-4D97-AF65-F5344CB8AC3E}">
        <p14:creationId xmlns:p14="http://schemas.microsoft.com/office/powerpoint/2010/main" val="122627651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Mike’s Metal Enclosures (MME) </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idx="1"/>
          </p:nvPr>
        </p:nvSpPr>
        <p:spPr/>
        <p:txBody>
          <a:bodyPr>
            <a:normAutofit fontScale="92500" lnSpcReduction="20000"/>
          </a:bodyPr>
          <a:lstStyle/>
          <a:p>
            <a:pPr>
              <a:lnSpc>
                <a:spcPct val="100000"/>
              </a:lnSpc>
              <a:spcAft>
                <a:spcPts val="300"/>
              </a:spcAft>
            </a:pPr>
            <a:r>
              <a:rPr lang="en-US" sz="1600" dirty="0"/>
              <a:t>Ship</a:t>
            </a:r>
          </a:p>
          <a:p>
            <a:pPr lvl="1">
              <a:lnSpc>
                <a:spcPct val="100000"/>
              </a:lnSpc>
              <a:spcAft>
                <a:spcPts val="300"/>
              </a:spcAft>
            </a:pPr>
            <a:r>
              <a:rPr lang="en-US" sz="1400" dirty="0"/>
              <a:t>Daily orders are shipped daily by truck</a:t>
            </a:r>
          </a:p>
          <a:p>
            <a:pPr>
              <a:lnSpc>
                <a:spcPct val="100000"/>
              </a:lnSpc>
              <a:spcAft>
                <a:spcPts val="300"/>
              </a:spcAft>
            </a:pPr>
            <a:r>
              <a:rPr lang="en-US" sz="1600" dirty="0"/>
              <a:t>Production Process – Brake Form</a:t>
            </a:r>
          </a:p>
          <a:p>
            <a:pPr lvl="1">
              <a:lnSpc>
                <a:spcPct val="100000"/>
              </a:lnSpc>
              <a:spcAft>
                <a:spcPts val="300"/>
              </a:spcAft>
            </a:pPr>
            <a:r>
              <a:rPr lang="en-US" sz="1400" dirty="0"/>
              <a:t>Stamped pieces are formed into enclosures using a brake form manually operated by one person</a:t>
            </a:r>
          </a:p>
          <a:p>
            <a:pPr lvl="1">
              <a:lnSpc>
                <a:spcPct val="100000"/>
              </a:lnSpc>
              <a:spcAft>
                <a:spcPts val="300"/>
              </a:spcAft>
            </a:pPr>
            <a:r>
              <a:rPr lang="en-US" sz="1400" dirty="0"/>
              <a:t>It takes 20 seconds to load a piece, operate the machine, and unload the piece </a:t>
            </a:r>
          </a:p>
          <a:p>
            <a:pPr lvl="1">
              <a:lnSpc>
                <a:spcPct val="100000"/>
              </a:lnSpc>
              <a:spcAft>
                <a:spcPts val="300"/>
              </a:spcAft>
            </a:pPr>
            <a:r>
              <a:rPr lang="en-US" sz="1400" dirty="0"/>
              <a:t>It takes 2 hours to change over the machine for another product, however this machine is currently dedicated to the one product</a:t>
            </a:r>
          </a:p>
          <a:p>
            <a:pPr lvl="1">
              <a:lnSpc>
                <a:spcPct val="100000"/>
              </a:lnSpc>
              <a:spcAft>
                <a:spcPts val="300"/>
              </a:spcAft>
            </a:pPr>
            <a:r>
              <a:rPr lang="en-US" sz="1400" dirty="0"/>
              <a:t>The brake form is quite reliable with an uptime of 99%</a:t>
            </a:r>
          </a:p>
          <a:p>
            <a:pPr lvl="1">
              <a:lnSpc>
                <a:spcPct val="100000"/>
              </a:lnSpc>
              <a:spcAft>
                <a:spcPts val="300"/>
              </a:spcAft>
            </a:pPr>
            <a:r>
              <a:rPr lang="en-US" sz="1400" dirty="0"/>
              <a:t>The first pass yield for this operation is 85%, mostly due to material handling and alignment by the operator</a:t>
            </a:r>
          </a:p>
          <a:p>
            <a:pPr>
              <a:lnSpc>
                <a:spcPct val="100000"/>
              </a:lnSpc>
              <a:spcAft>
                <a:spcPts val="300"/>
              </a:spcAft>
            </a:pPr>
            <a:r>
              <a:rPr lang="en-US" sz="1600" dirty="0"/>
              <a:t>Production Process - Stamp</a:t>
            </a:r>
          </a:p>
          <a:p>
            <a:pPr lvl="1">
              <a:lnSpc>
                <a:spcPct val="100000"/>
              </a:lnSpc>
              <a:spcAft>
                <a:spcPts val="300"/>
              </a:spcAft>
            </a:pPr>
            <a:r>
              <a:rPr lang="en-US" sz="1400" dirty="0"/>
              <a:t>Cut sheet metal pieces are stamped by machine to add features such as holes, slots and bend tabs</a:t>
            </a:r>
          </a:p>
          <a:p>
            <a:pPr lvl="1">
              <a:lnSpc>
                <a:spcPct val="100000"/>
              </a:lnSpc>
              <a:spcAft>
                <a:spcPts val="300"/>
              </a:spcAft>
            </a:pPr>
            <a:r>
              <a:rPr lang="en-US" sz="1400" dirty="0"/>
              <a:t>There is a single stamping press, operated by one person</a:t>
            </a:r>
          </a:p>
          <a:p>
            <a:pPr lvl="1">
              <a:lnSpc>
                <a:spcPct val="100000"/>
              </a:lnSpc>
              <a:spcAft>
                <a:spcPts val="300"/>
              </a:spcAft>
            </a:pPr>
            <a:r>
              <a:rPr lang="en-US" sz="1400" dirty="0"/>
              <a:t>It takes 15 seconds to load a piece, operate the machine, and unload the piece</a:t>
            </a:r>
          </a:p>
          <a:p>
            <a:pPr lvl="1">
              <a:lnSpc>
                <a:spcPct val="100000"/>
              </a:lnSpc>
              <a:spcAft>
                <a:spcPts val="300"/>
              </a:spcAft>
            </a:pPr>
            <a:r>
              <a:rPr lang="en-US" sz="1400" dirty="0"/>
              <a:t>It takes 30 minutes to change over the press for another product, however this machine is currently dedicated to the one product</a:t>
            </a:r>
          </a:p>
          <a:p>
            <a:pPr lvl="1">
              <a:lnSpc>
                <a:spcPct val="100000"/>
              </a:lnSpc>
              <a:spcAft>
                <a:spcPts val="300"/>
              </a:spcAft>
            </a:pPr>
            <a:r>
              <a:rPr lang="en-US" sz="1400" dirty="0"/>
              <a:t>The stamping press is highly reliable with an uptime of 99%</a:t>
            </a:r>
          </a:p>
          <a:p>
            <a:pPr lvl="1">
              <a:lnSpc>
                <a:spcPct val="100000"/>
              </a:lnSpc>
              <a:spcAft>
                <a:spcPts val="300"/>
              </a:spcAft>
            </a:pPr>
            <a:r>
              <a:rPr lang="en-US" sz="1400" dirty="0"/>
              <a:t>An occasional misalignment in the machine produces a defective piece, about 1 in 50</a:t>
            </a:r>
          </a:p>
        </p:txBody>
      </p:sp>
      <p:grpSp>
        <p:nvGrpSpPr>
          <p:cNvPr id="4" name="Group 3">
            <a:extLst>
              <a:ext uri="{FF2B5EF4-FFF2-40B4-BE49-F238E27FC236}">
                <a16:creationId xmlns:a16="http://schemas.microsoft.com/office/drawing/2014/main" id="{0CE828A7-EBAC-54F8-3C43-F92F1FF03A19}"/>
              </a:ext>
            </a:extLst>
          </p:cNvPr>
          <p:cNvGrpSpPr/>
          <p:nvPr/>
        </p:nvGrpSpPr>
        <p:grpSpPr>
          <a:xfrm>
            <a:off x="940004" y="313985"/>
            <a:ext cx="6217883" cy="311851"/>
            <a:chOff x="940249" y="302538"/>
            <a:chExt cx="6219503" cy="311932"/>
          </a:xfrm>
        </p:grpSpPr>
        <p:sp>
          <p:nvSpPr>
            <p:cNvPr id="5" name="TextBox 4">
              <a:extLst>
                <a:ext uri="{FF2B5EF4-FFF2-40B4-BE49-F238E27FC236}">
                  <a16:creationId xmlns:a16="http://schemas.microsoft.com/office/drawing/2014/main" id="{3D7A2390-FA62-BFC7-2438-9AA16AB7BFB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38ABF3D7-E445-4A86-D15B-D5BB2BCEA38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178C6D52-8B7E-B3CE-B365-2A603232791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069F80FE-9D26-D12D-F71F-E8EA76E11D9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2CC8AE3B-FE2C-A607-1136-AAD703E1EC90}"/>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305C3CE4-27F6-0454-E1ED-E5C1DCECF9B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 name="Slide Number Placeholder 2">
            <a:extLst>
              <a:ext uri="{FF2B5EF4-FFF2-40B4-BE49-F238E27FC236}">
                <a16:creationId xmlns:a16="http://schemas.microsoft.com/office/drawing/2014/main" id="{37F1EF4D-33BB-926F-7164-1FA7DFDE70F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30</a:t>
            </a:fld>
            <a:endParaRPr lang="en-US" dirty="0"/>
          </a:p>
        </p:txBody>
      </p:sp>
    </p:spTree>
    <p:extLst>
      <p:ext uri="{BB962C8B-B14F-4D97-AF65-F5344CB8AC3E}">
        <p14:creationId xmlns:p14="http://schemas.microsoft.com/office/powerpoint/2010/main" val="337635702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a:t>
            </a:r>
            <a:br>
              <a:rPr lang="en-US" dirty="0"/>
            </a:br>
            <a:r>
              <a:rPr lang="en-US" dirty="0"/>
              <a:t>Mike’s Metal Enclosures (MME) </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idx="1"/>
          </p:nvPr>
        </p:nvSpPr>
        <p:spPr/>
        <p:txBody>
          <a:bodyPr>
            <a:normAutofit lnSpcReduction="10000"/>
          </a:bodyPr>
          <a:lstStyle/>
          <a:p>
            <a:pPr>
              <a:lnSpc>
                <a:spcPct val="100000"/>
              </a:lnSpc>
              <a:spcAft>
                <a:spcPts val="300"/>
              </a:spcAft>
            </a:pPr>
            <a:r>
              <a:rPr lang="en-US" sz="1600" dirty="0"/>
              <a:t>Production Process - Cut</a:t>
            </a:r>
          </a:p>
          <a:p>
            <a:pPr lvl="1">
              <a:lnSpc>
                <a:spcPct val="100000"/>
              </a:lnSpc>
              <a:spcAft>
                <a:spcPts val="300"/>
              </a:spcAft>
            </a:pPr>
            <a:r>
              <a:rPr lang="en-US" sz="1600" dirty="0"/>
              <a:t>Purchased sheets of aluminum are cut to size in the cutting department, which has five operators, each running a cutting machine</a:t>
            </a:r>
          </a:p>
          <a:p>
            <a:pPr lvl="1">
              <a:lnSpc>
                <a:spcPct val="100000"/>
              </a:lnSpc>
              <a:spcAft>
                <a:spcPts val="300"/>
              </a:spcAft>
            </a:pPr>
            <a:r>
              <a:rPr lang="en-US" sz="1600" dirty="0"/>
              <a:t>Four enclosures can be made from one 4’ x 8’ sheet</a:t>
            </a:r>
          </a:p>
          <a:p>
            <a:pPr lvl="1">
              <a:lnSpc>
                <a:spcPct val="100000"/>
              </a:lnSpc>
              <a:spcAft>
                <a:spcPts val="300"/>
              </a:spcAft>
            </a:pPr>
            <a:r>
              <a:rPr lang="en-US" sz="1600" dirty="0"/>
              <a:t>It takes 4 minutes for each cutting machine to cut the sheet into 4 pieces</a:t>
            </a:r>
          </a:p>
          <a:p>
            <a:pPr lvl="1">
              <a:lnSpc>
                <a:spcPct val="100000"/>
              </a:lnSpc>
              <a:spcAft>
                <a:spcPts val="300"/>
              </a:spcAft>
            </a:pPr>
            <a:r>
              <a:rPr lang="en-US" sz="1600" dirty="0"/>
              <a:t>It takes 30 minutes to change over the cutting machines for another product, however these machines are currently dedicated to the one product</a:t>
            </a:r>
          </a:p>
          <a:p>
            <a:pPr lvl="1">
              <a:lnSpc>
                <a:spcPct val="100000"/>
              </a:lnSpc>
              <a:spcAft>
                <a:spcPts val="300"/>
              </a:spcAft>
            </a:pPr>
            <a:r>
              <a:rPr lang="en-US" sz="1600" dirty="0"/>
              <a:t>The cutting machines are quite reliable and are available 99% of the time without a breakdown</a:t>
            </a:r>
          </a:p>
          <a:p>
            <a:pPr lvl="1">
              <a:lnSpc>
                <a:spcPct val="100000"/>
              </a:lnSpc>
              <a:spcAft>
                <a:spcPts val="300"/>
              </a:spcAft>
            </a:pPr>
            <a:r>
              <a:rPr lang="en-US" sz="1600" dirty="0"/>
              <a:t>The quality level is high, with a yield of 99%</a:t>
            </a:r>
          </a:p>
          <a:p>
            <a:pPr>
              <a:lnSpc>
                <a:spcPct val="100000"/>
              </a:lnSpc>
              <a:spcAft>
                <a:spcPts val="300"/>
              </a:spcAft>
            </a:pPr>
            <a:r>
              <a:rPr lang="en-US" sz="1600" dirty="0"/>
              <a:t>Purchased Raw Material</a:t>
            </a:r>
          </a:p>
          <a:p>
            <a:pPr lvl="1">
              <a:lnSpc>
                <a:spcPct val="100000"/>
              </a:lnSpc>
              <a:spcAft>
                <a:spcPts val="300"/>
              </a:spcAft>
            </a:pPr>
            <a:r>
              <a:rPr lang="en-US" sz="1600" dirty="0"/>
              <a:t>4’ x8’ Sheets of aluminum are purchased from the Acme Sheet Metal Company, sole supplier for this product family</a:t>
            </a:r>
          </a:p>
          <a:p>
            <a:pPr lvl="1">
              <a:lnSpc>
                <a:spcPct val="100000"/>
              </a:lnSpc>
              <a:spcAft>
                <a:spcPts val="300"/>
              </a:spcAft>
            </a:pPr>
            <a:r>
              <a:rPr lang="en-US" sz="1600" dirty="0"/>
              <a:t>Purchase orders are sent to Acme once a month via Fax</a:t>
            </a:r>
          </a:p>
          <a:p>
            <a:pPr lvl="1">
              <a:lnSpc>
                <a:spcPct val="100000"/>
              </a:lnSpc>
              <a:spcAft>
                <a:spcPts val="300"/>
              </a:spcAft>
            </a:pPr>
            <a:r>
              <a:rPr lang="en-US" sz="1600" dirty="0"/>
              <a:t>Acme delivers weekly by truck to MME’s requirements</a:t>
            </a:r>
          </a:p>
        </p:txBody>
      </p:sp>
      <p:grpSp>
        <p:nvGrpSpPr>
          <p:cNvPr id="4" name="Group 3">
            <a:extLst>
              <a:ext uri="{FF2B5EF4-FFF2-40B4-BE49-F238E27FC236}">
                <a16:creationId xmlns:a16="http://schemas.microsoft.com/office/drawing/2014/main" id="{FC293E4D-D212-FEF3-B56A-0C11F2E670E4}"/>
              </a:ext>
            </a:extLst>
          </p:cNvPr>
          <p:cNvGrpSpPr/>
          <p:nvPr/>
        </p:nvGrpSpPr>
        <p:grpSpPr>
          <a:xfrm>
            <a:off x="940004" y="313985"/>
            <a:ext cx="6217883" cy="311851"/>
            <a:chOff x="940249" y="302538"/>
            <a:chExt cx="6219503" cy="311932"/>
          </a:xfrm>
        </p:grpSpPr>
        <p:sp>
          <p:nvSpPr>
            <p:cNvPr id="5" name="TextBox 4">
              <a:extLst>
                <a:ext uri="{FF2B5EF4-FFF2-40B4-BE49-F238E27FC236}">
                  <a16:creationId xmlns:a16="http://schemas.microsoft.com/office/drawing/2014/main" id="{1B9DFBED-4343-BFB5-6557-73CB1AE87F7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C987516E-F03B-F863-5310-6CF1874F25A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C9DFB77B-D4CB-B881-3CD9-CB376B539C2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AC71E760-7D03-478B-53A5-C777C1217D2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DC091770-2C7C-0A85-60E9-D1860E05934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DBB2F084-4792-B8B5-4D9C-7E1E89C4455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 name="Slide Number Placeholder 2">
            <a:extLst>
              <a:ext uri="{FF2B5EF4-FFF2-40B4-BE49-F238E27FC236}">
                <a16:creationId xmlns:a16="http://schemas.microsoft.com/office/drawing/2014/main" id="{9B79A756-E897-B2BA-DFAB-B0183E5CEE96}"/>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31</a:t>
            </a:fld>
            <a:endParaRPr lang="en-US" dirty="0"/>
          </a:p>
        </p:txBody>
      </p:sp>
    </p:spTree>
    <p:extLst>
      <p:ext uri="{BB962C8B-B14F-4D97-AF65-F5344CB8AC3E}">
        <p14:creationId xmlns:p14="http://schemas.microsoft.com/office/powerpoint/2010/main" val="418029982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a:t>
            </a:r>
            <a:br>
              <a:rPr lang="en-US" dirty="0"/>
            </a:br>
            <a:r>
              <a:rPr lang="en-US" dirty="0"/>
              <a:t>Mike’s Metal Enclosures (MME) </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idx="1"/>
          </p:nvPr>
        </p:nvSpPr>
        <p:spPr/>
        <p:txBody>
          <a:bodyPr/>
          <a:lstStyle/>
          <a:p>
            <a:pPr>
              <a:lnSpc>
                <a:spcPct val="150000"/>
              </a:lnSpc>
            </a:pPr>
            <a:r>
              <a:rPr lang="en-US" sz="1600" dirty="0"/>
              <a:t>Production Scheduling</a:t>
            </a:r>
          </a:p>
          <a:p>
            <a:pPr lvl="1">
              <a:lnSpc>
                <a:spcPct val="150000"/>
              </a:lnSpc>
            </a:pPr>
            <a:r>
              <a:rPr lang="en-US" sz="1600" dirty="0"/>
              <a:t>MME has an integrated MRP System, managed by the Production Control Department, that includes Forecasting, Order Entry, MRP planning, Inventory Control, Purchasing, and Shop Floor Scheduling</a:t>
            </a:r>
          </a:p>
          <a:p>
            <a:pPr lvl="1">
              <a:lnSpc>
                <a:spcPct val="150000"/>
              </a:lnSpc>
            </a:pPr>
            <a:r>
              <a:rPr lang="en-US" sz="1600" dirty="0"/>
              <a:t>EDI orders received from the customer are entered into MRP and are hand-delivered in hard copy to the shipping department on a daily basis to drive next-day shipments</a:t>
            </a:r>
          </a:p>
          <a:p>
            <a:pPr lvl="1">
              <a:lnSpc>
                <a:spcPct val="150000"/>
              </a:lnSpc>
            </a:pPr>
            <a:r>
              <a:rPr lang="en-US" sz="1600" dirty="0"/>
              <a:t>After the weekly MRP run, each production department gets a weekly hard-copy schedule of products to make, broken out by day</a:t>
            </a:r>
          </a:p>
          <a:p>
            <a:pPr lvl="1">
              <a:lnSpc>
                <a:spcPct val="150000"/>
              </a:lnSpc>
            </a:pPr>
            <a:r>
              <a:rPr lang="en-US" sz="1600" dirty="0"/>
              <a:t>Purchase orders are created or revised on a monthly basis from MRP and sent to the suppliers via Fax</a:t>
            </a:r>
          </a:p>
          <a:p>
            <a:pPr lvl="1">
              <a:lnSpc>
                <a:spcPct val="150000"/>
              </a:lnSpc>
            </a:pPr>
            <a:r>
              <a:rPr lang="en-US" sz="1600" dirty="0"/>
              <a:t>Sales forecasts are internally generated and entered into MRP without direct communication with the customer</a:t>
            </a:r>
          </a:p>
        </p:txBody>
      </p:sp>
      <p:grpSp>
        <p:nvGrpSpPr>
          <p:cNvPr id="4" name="Group 3">
            <a:extLst>
              <a:ext uri="{FF2B5EF4-FFF2-40B4-BE49-F238E27FC236}">
                <a16:creationId xmlns:a16="http://schemas.microsoft.com/office/drawing/2014/main" id="{ACECC330-0770-BC00-5740-4CC619272C64}"/>
              </a:ext>
            </a:extLst>
          </p:cNvPr>
          <p:cNvGrpSpPr/>
          <p:nvPr/>
        </p:nvGrpSpPr>
        <p:grpSpPr>
          <a:xfrm>
            <a:off x="940004" y="313985"/>
            <a:ext cx="6217883" cy="311851"/>
            <a:chOff x="940249" y="302538"/>
            <a:chExt cx="6219503" cy="311932"/>
          </a:xfrm>
        </p:grpSpPr>
        <p:sp>
          <p:nvSpPr>
            <p:cNvPr id="5" name="TextBox 4">
              <a:extLst>
                <a:ext uri="{FF2B5EF4-FFF2-40B4-BE49-F238E27FC236}">
                  <a16:creationId xmlns:a16="http://schemas.microsoft.com/office/drawing/2014/main" id="{FFD3D1E7-C361-9693-39D4-4552ACC9851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B98A2761-01C2-75B0-1894-BEEB26B9921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115C0D52-C596-09DF-87A3-F87D99ADAFA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36710FBB-1563-5E4D-5D83-B4E7A95AD32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06B8F092-6FD2-BC62-882D-08A9297FBC1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31C4388D-38D5-609D-BFF0-0C150718092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 name="Slide Number Placeholder 2">
            <a:extLst>
              <a:ext uri="{FF2B5EF4-FFF2-40B4-BE49-F238E27FC236}">
                <a16:creationId xmlns:a16="http://schemas.microsoft.com/office/drawing/2014/main" id="{120EE942-FEC1-0B34-8CCA-CBB7E3806B1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32</a:t>
            </a:fld>
            <a:endParaRPr lang="en-US" dirty="0"/>
          </a:p>
        </p:txBody>
      </p:sp>
    </p:spTree>
    <p:extLst>
      <p:ext uri="{BB962C8B-B14F-4D97-AF65-F5344CB8AC3E}">
        <p14:creationId xmlns:p14="http://schemas.microsoft.com/office/powerpoint/2010/main" val="331942914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13985"/>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33</a:t>
            </a:fld>
            <a:endParaRPr lang="en-US" dirty="0"/>
          </a:p>
        </p:txBody>
      </p:sp>
    </p:spTree>
    <p:extLst>
      <p:ext uri="{BB962C8B-B14F-4D97-AF65-F5344CB8AC3E}">
        <p14:creationId xmlns:p14="http://schemas.microsoft.com/office/powerpoint/2010/main" val="221222485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lstStyle/>
          <a:p>
            <a:r>
              <a:rPr lang="en-US" dirty="0"/>
              <a:t>Mapping Customer Data</a:t>
            </a:r>
          </a:p>
        </p:txBody>
      </p:sp>
      <p:sp>
        <p:nvSpPr>
          <p:cNvPr id="3" name="Text Placeholder 2">
            <a:extLst>
              <a:ext uri="{FF2B5EF4-FFF2-40B4-BE49-F238E27FC236}">
                <a16:creationId xmlns:a16="http://schemas.microsoft.com/office/drawing/2014/main" id="{EA45E17D-C146-08CB-4C37-35CC9BA0515A}"/>
              </a:ext>
            </a:extLst>
          </p:cNvPr>
          <p:cNvSpPr>
            <a:spLocks noGrp="1"/>
          </p:cNvSpPr>
          <p:nvPr>
            <p:ph type="body" sz="quarter" idx="4294967295"/>
          </p:nvPr>
        </p:nvSpPr>
        <p:spPr>
          <a:xfrm>
            <a:off x="0" y="1690688"/>
            <a:ext cx="5113338" cy="4900612"/>
          </a:xfrm>
        </p:spPr>
        <p:txBody>
          <a:bodyPr>
            <a:normAutofit fontScale="92500"/>
          </a:bodyPr>
          <a:lstStyle/>
          <a:p>
            <a:pPr>
              <a:lnSpc>
                <a:spcPct val="150000"/>
              </a:lnSpc>
            </a:pPr>
            <a:r>
              <a:rPr lang="en-US" sz="1600" dirty="0">
                <a:solidFill>
                  <a:srgbClr val="191C25"/>
                </a:solidFill>
              </a:rPr>
              <a:t>Customer Requirements</a:t>
            </a:r>
          </a:p>
          <a:p>
            <a:pPr lvl="1">
              <a:lnSpc>
                <a:spcPct val="150000"/>
              </a:lnSpc>
            </a:pPr>
            <a:r>
              <a:rPr lang="en-US" sz="1600" dirty="0">
                <a:solidFill>
                  <a:srgbClr val="191C25"/>
                </a:solidFill>
              </a:rPr>
              <a:t>Ed’s Electrical Supply Company, orders an average of 30,000 enclosures a month</a:t>
            </a:r>
          </a:p>
          <a:p>
            <a:pPr lvl="1">
              <a:lnSpc>
                <a:spcPct val="150000"/>
              </a:lnSpc>
            </a:pPr>
            <a:r>
              <a:rPr lang="en-US" sz="1600" dirty="0">
                <a:solidFill>
                  <a:srgbClr val="191C25"/>
                </a:solidFill>
              </a:rPr>
              <a:t>Daily customer orders are sent via EDI link to MME’s order entry module of their MRP system</a:t>
            </a:r>
          </a:p>
          <a:p>
            <a:pPr lvl="1">
              <a:lnSpc>
                <a:spcPct val="150000"/>
              </a:lnSpc>
            </a:pPr>
            <a:r>
              <a:rPr lang="en-US" sz="1600" dirty="0">
                <a:solidFill>
                  <a:srgbClr val="191C25"/>
                </a:solidFill>
              </a:rPr>
              <a:t>Daily orders are processed and shipped the next day by truck</a:t>
            </a:r>
          </a:p>
          <a:p>
            <a:pPr lvl="1">
              <a:lnSpc>
                <a:spcPct val="150000"/>
              </a:lnSpc>
            </a:pPr>
            <a:r>
              <a:rPr lang="en-US" sz="1600" dirty="0">
                <a:solidFill>
                  <a:srgbClr val="191C25"/>
                </a:solidFill>
              </a:rPr>
              <a:t>Ed’s Electrical Supply Company works one shift</a:t>
            </a:r>
          </a:p>
          <a:p>
            <a:pPr>
              <a:lnSpc>
                <a:spcPct val="150000"/>
              </a:lnSpc>
            </a:pPr>
            <a:r>
              <a:rPr lang="en-US" sz="1600" dirty="0">
                <a:solidFill>
                  <a:srgbClr val="191C25"/>
                </a:solidFill>
              </a:rPr>
              <a:t>MME Work Time</a:t>
            </a:r>
          </a:p>
          <a:p>
            <a:pPr lvl="1">
              <a:lnSpc>
                <a:spcPct val="150000"/>
              </a:lnSpc>
            </a:pPr>
            <a:r>
              <a:rPr lang="en-US" sz="1600" dirty="0">
                <a:solidFill>
                  <a:srgbClr val="191C25"/>
                </a:solidFill>
              </a:rPr>
              <a:t>20 days in a month</a:t>
            </a:r>
          </a:p>
          <a:p>
            <a:pPr lvl="1">
              <a:lnSpc>
                <a:spcPct val="150000"/>
              </a:lnSpc>
            </a:pPr>
            <a:r>
              <a:rPr lang="en-US" sz="1600" dirty="0">
                <a:solidFill>
                  <a:srgbClr val="191C25"/>
                </a:solidFill>
              </a:rPr>
              <a:t>One 8 hour shift operation in all departments</a:t>
            </a:r>
          </a:p>
          <a:p>
            <a:pPr lvl="1">
              <a:lnSpc>
                <a:spcPct val="150000"/>
              </a:lnSpc>
            </a:pPr>
            <a:r>
              <a:rPr lang="en-US" sz="1600" dirty="0">
                <a:solidFill>
                  <a:srgbClr val="191C25"/>
                </a:solidFill>
              </a:rPr>
              <a:t>Two 15-minute breaks, unpaid lunch</a:t>
            </a:r>
          </a:p>
        </p:txBody>
      </p:sp>
      <p:sp>
        <p:nvSpPr>
          <p:cNvPr id="4" name="Rectangle: Rounded Corners 3">
            <a:extLst>
              <a:ext uri="{FF2B5EF4-FFF2-40B4-BE49-F238E27FC236}">
                <a16:creationId xmlns:a16="http://schemas.microsoft.com/office/drawing/2014/main" id="{D0DE559F-4941-634E-2F8A-62D62C545990}"/>
              </a:ext>
            </a:extLst>
          </p:cNvPr>
          <p:cNvSpPr/>
          <p:nvPr/>
        </p:nvSpPr>
        <p:spPr>
          <a:xfrm>
            <a:off x="759237" y="2117662"/>
            <a:ext cx="4491555" cy="472845"/>
          </a:xfrm>
          <a:prstGeom prst="roundRect">
            <a:avLst/>
          </a:prstGeom>
          <a:noFill/>
          <a:ln w="104775" cap="flat">
            <a:solidFill>
              <a:srgbClr val="EE3228"/>
            </a:solidFill>
            <a:prstDash val="sysDash"/>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191C25"/>
              </a:solidFill>
              <a:effectLst>
                <a:outerShdw blurRad="38100" dist="12700" dir="5400000" rotWithShape="0">
                  <a:srgbClr val="000000">
                    <a:alpha val="50000"/>
                  </a:srgbClr>
                </a:outerShdw>
              </a:effectLst>
            </a:endParaRPr>
          </a:p>
        </p:txBody>
      </p:sp>
      <p:sp>
        <p:nvSpPr>
          <p:cNvPr id="5" name="Rectangle: Rounded Corners 4">
            <a:extLst>
              <a:ext uri="{FF2B5EF4-FFF2-40B4-BE49-F238E27FC236}">
                <a16:creationId xmlns:a16="http://schemas.microsoft.com/office/drawing/2014/main" id="{0A42E2F4-173A-1BFE-B4C2-6D8F462A006C}"/>
              </a:ext>
            </a:extLst>
          </p:cNvPr>
          <p:cNvSpPr/>
          <p:nvPr/>
        </p:nvSpPr>
        <p:spPr>
          <a:xfrm>
            <a:off x="782193" y="4318467"/>
            <a:ext cx="4836554" cy="397256"/>
          </a:xfrm>
          <a:prstGeom prst="roundRect">
            <a:avLst/>
          </a:prstGeom>
          <a:noFill/>
          <a:ln w="104775" cap="flat">
            <a:solidFill>
              <a:srgbClr val="EE3228"/>
            </a:solidFill>
            <a:prstDash val="sysDash"/>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191C25"/>
              </a:solidFill>
              <a:effectLst>
                <a:outerShdw blurRad="38100" dist="12700" dir="5400000" rotWithShape="0">
                  <a:srgbClr val="000000">
                    <a:alpha val="50000"/>
                  </a:srgbClr>
                </a:outerShdw>
              </a:effectLst>
            </a:endParaRPr>
          </a:p>
        </p:txBody>
      </p:sp>
      <p:sp>
        <p:nvSpPr>
          <p:cNvPr id="6" name="Rectangle: Rounded Corners 5">
            <a:extLst>
              <a:ext uri="{FF2B5EF4-FFF2-40B4-BE49-F238E27FC236}">
                <a16:creationId xmlns:a16="http://schemas.microsoft.com/office/drawing/2014/main" id="{F08746B8-1FB9-C364-64E4-5F287B5E7FAE}"/>
              </a:ext>
            </a:extLst>
          </p:cNvPr>
          <p:cNvSpPr/>
          <p:nvPr/>
        </p:nvSpPr>
        <p:spPr>
          <a:xfrm>
            <a:off x="782193" y="4926542"/>
            <a:ext cx="2359813" cy="397256"/>
          </a:xfrm>
          <a:prstGeom prst="roundRect">
            <a:avLst/>
          </a:prstGeom>
          <a:noFill/>
          <a:ln w="104775" cap="flat">
            <a:solidFill>
              <a:srgbClr val="EE3228"/>
            </a:solidFill>
            <a:prstDash val="sysDash"/>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191C25"/>
              </a:solidFill>
              <a:effectLst>
                <a:outerShdw blurRad="38100" dist="12700" dir="5400000" rotWithShape="0">
                  <a:srgbClr val="000000">
                    <a:alpha val="50000"/>
                  </a:srgbClr>
                </a:outerShdw>
              </a:effectLst>
            </a:endParaRPr>
          </a:p>
        </p:txBody>
      </p:sp>
      <p:sp>
        <p:nvSpPr>
          <p:cNvPr id="7" name="Rectangle: Rounded Corners 6">
            <a:extLst>
              <a:ext uri="{FF2B5EF4-FFF2-40B4-BE49-F238E27FC236}">
                <a16:creationId xmlns:a16="http://schemas.microsoft.com/office/drawing/2014/main" id="{A6AC0C8E-16D5-E7BB-B5C9-AB483439C262}"/>
              </a:ext>
            </a:extLst>
          </p:cNvPr>
          <p:cNvSpPr/>
          <p:nvPr/>
        </p:nvSpPr>
        <p:spPr>
          <a:xfrm>
            <a:off x="782193" y="5368387"/>
            <a:ext cx="4592068" cy="397256"/>
          </a:xfrm>
          <a:prstGeom prst="roundRect">
            <a:avLst/>
          </a:prstGeom>
          <a:noFill/>
          <a:ln w="104775" cap="flat">
            <a:solidFill>
              <a:srgbClr val="EE3228"/>
            </a:solidFill>
            <a:prstDash val="sysDash"/>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191C25"/>
              </a:solidFill>
              <a:effectLst>
                <a:outerShdw blurRad="38100" dist="12700" dir="5400000" rotWithShape="0">
                  <a:srgbClr val="000000">
                    <a:alpha val="50000"/>
                  </a:srgbClr>
                </a:outerShdw>
              </a:effectLst>
            </a:endParaRPr>
          </a:p>
        </p:txBody>
      </p:sp>
      <p:sp>
        <p:nvSpPr>
          <p:cNvPr id="8" name="Rectangle: Rounded Corners 7">
            <a:extLst>
              <a:ext uri="{FF2B5EF4-FFF2-40B4-BE49-F238E27FC236}">
                <a16:creationId xmlns:a16="http://schemas.microsoft.com/office/drawing/2014/main" id="{0A90C08A-66CC-1020-F75B-655224BE71A1}"/>
              </a:ext>
            </a:extLst>
          </p:cNvPr>
          <p:cNvSpPr/>
          <p:nvPr/>
        </p:nvSpPr>
        <p:spPr>
          <a:xfrm>
            <a:off x="782193" y="3714934"/>
            <a:ext cx="4836554" cy="397256"/>
          </a:xfrm>
          <a:prstGeom prst="roundRect">
            <a:avLst/>
          </a:prstGeom>
          <a:noFill/>
          <a:ln w="104775" cap="flat">
            <a:solidFill>
              <a:schemeClr val="accent3"/>
            </a:solidFill>
            <a:prstDash val="sysDash"/>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191C25"/>
              </a:solidFill>
              <a:effectLst>
                <a:outerShdw blurRad="38100" dist="12700" dir="5400000" rotWithShape="0">
                  <a:srgbClr val="000000">
                    <a:alpha val="50000"/>
                  </a:srgbClr>
                </a:outerShdw>
              </a:effectLst>
            </a:endParaRPr>
          </a:p>
        </p:txBody>
      </p:sp>
      <p:sp>
        <p:nvSpPr>
          <p:cNvPr id="9" name="TextBox 8">
            <a:extLst>
              <a:ext uri="{FF2B5EF4-FFF2-40B4-BE49-F238E27FC236}">
                <a16:creationId xmlns:a16="http://schemas.microsoft.com/office/drawing/2014/main" id="{CF8AFC84-CE7C-FE9A-2F64-6DAD657CD709}"/>
              </a:ext>
            </a:extLst>
          </p:cNvPr>
          <p:cNvSpPr txBox="1"/>
          <p:nvPr/>
        </p:nvSpPr>
        <p:spPr>
          <a:xfrm>
            <a:off x="7277652" y="1931459"/>
            <a:ext cx="3924137" cy="4820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Daily Customer Demand</a:t>
            </a:r>
          </a:p>
        </p:txBody>
      </p:sp>
      <p:sp>
        <p:nvSpPr>
          <p:cNvPr id="10" name="TextBox 9">
            <a:extLst>
              <a:ext uri="{FF2B5EF4-FFF2-40B4-BE49-F238E27FC236}">
                <a16:creationId xmlns:a16="http://schemas.microsoft.com/office/drawing/2014/main" id="{1F750A63-BB2F-6A25-56D0-63ADFDBBD3E0}"/>
              </a:ext>
            </a:extLst>
          </p:cNvPr>
          <p:cNvSpPr txBox="1"/>
          <p:nvPr/>
        </p:nvSpPr>
        <p:spPr>
          <a:xfrm>
            <a:off x="6472870" y="2564904"/>
            <a:ext cx="3010425" cy="66683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000"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30,000 Enclosures/month</a:t>
            </a:r>
          </a:p>
          <a:p>
            <a:r>
              <a:rPr lang="en-US" sz="2000"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20 days/month</a:t>
            </a:r>
          </a:p>
        </p:txBody>
      </p:sp>
      <p:sp>
        <p:nvSpPr>
          <p:cNvPr id="11" name="TextBox 10">
            <a:extLst>
              <a:ext uri="{FF2B5EF4-FFF2-40B4-BE49-F238E27FC236}">
                <a16:creationId xmlns:a16="http://schemas.microsoft.com/office/drawing/2014/main" id="{85CD20DC-7919-1EC6-E7F6-F75662980D45}"/>
              </a:ext>
            </a:extLst>
          </p:cNvPr>
          <p:cNvSpPr txBox="1"/>
          <p:nvPr/>
        </p:nvSpPr>
        <p:spPr>
          <a:xfrm>
            <a:off x="9584761" y="2718752"/>
            <a:ext cx="2736312" cy="35905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000"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 1,500 enclosures/day</a:t>
            </a:r>
          </a:p>
        </p:txBody>
      </p:sp>
      <p:cxnSp>
        <p:nvCxnSpPr>
          <p:cNvPr id="21" name="Straight Connector 20">
            <a:extLst>
              <a:ext uri="{FF2B5EF4-FFF2-40B4-BE49-F238E27FC236}">
                <a16:creationId xmlns:a16="http://schemas.microsoft.com/office/drawing/2014/main" id="{E9BE01AC-8611-B144-1CB2-0110D32F9DBF}"/>
              </a:ext>
            </a:extLst>
          </p:cNvPr>
          <p:cNvCxnSpPr>
            <a:stCxn id="10" idx="1"/>
            <a:endCxn id="10" idx="3"/>
          </p:cNvCxnSpPr>
          <p:nvPr/>
        </p:nvCxnSpPr>
        <p:spPr>
          <a:xfrm>
            <a:off x="6472870" y="2898322"/>
            <a:ext cx="3010425" cy="0"/>
          </a:xfrm>
          <a:prstGeom prst="line">
            <a:avLst/>
          </a:prstGeom>
          <a:noFill/>
          <a:ln w="25400" cap="flat">
            <a:solidFill>
              <a:schemeClr val="accent2">
                <a:alpha val="75000"/>
              </a:schemeClr>
            </a:solidFill>
            <a:prstDash val="solid"/>
            <a:miter lim="400000"/>
          </a:ln>
          <a:effectLst/>
          <a:sp3d/>
        </p:spPr>
        <p:style>
          <a:lnRef idx="0">
            <a:scrgbClr r="0" g="0" b="0"/>
          </a:lnRef>
          <a:fillRef idx="0">
            <a:scrgbClr r="0" g="0" b="0"/>
          </a:fillRef>
          <a:effectRef idx="0">
            <a:scrgbClr r="0" g="0" b="0"/>
          </a:effectRef>
          <a:fontRef idx="none"/>
        </p:style>
      </p:cxnSp>
      <p:cxnSp>
        <p:nvCxnSpPr>
          <p:cNvPr id="23" name="Straight Arrow Connector 22">
            <a:extLst>
              <a:ext uri="{FF2B5EF4-FFF2-40B4-BE49-F238E27FC236}">
                <a16:creationId xmlns:a16="http://schemas.microsoft.com/office/drawing/2014/main" id="{5FDD277A-B22C-204F-B162-912D51FF9940}"/>
              </a:ext>
            </a:extLst>
          </p:cNvPr>
          <p:cNvCxnSpPr>
            <a:cxnSpLocks/>
            <a:stCxn id="4" idx="3"/>
          </p:cNvCxnSpPr>
          <p:nvPr/>
        </p:nvCxnSpPr>
        <p:spPr>
          <a:xfrm>
            <a:off x="5250792" y="2492287"/>
            <a:ext cx="1222078" cy="140611"/>
          </a:xfrm>
          <a:prstGeom prst="straightConnector1">
            <a:avLst/>
          </a:prstGeom>
          <a:noFill/>
          <a:ln w="63500" cap="flat">
            <a:solidFill>
              <a:srgbClr val="EE3228"/>
            </a:solidFill>
            <a:prstDash val="solid"/>
            <a:miter lim="400000"/>
            <a:tailEnd type="triangle"/>
          </a:ln>
          <a:effectLst/>
          <a:sp3d/>
        </p:spPr>
        <p:style>
          <a:lnRef idx="0">
            <a:scrgbClr r="0" g="0" b="0"/>
          </a:lnRef>
          <a:fillRef idx="0">
            <a:scrgbClr r="0" g="0" b="0"/>
          </a:fillRef>
          <a:effectRef idx="0">
            <a:scrgbClr r="0" g="0" b="0"/>
          </a:effectRef>
          <a:fontRef idx="none"/>
        </p:style>
      </p:cxnSp>
      <p:sp>
        <p:nvSpPr>
          <p:cNvPr id="27" name="TextBox 26">
            <a:extLst>
              <a:ext uri="{FF2B5EF4-FFF2-40B4-BE49-F238E27FC236}">
                <a16:creationId xmlns:a16="http://schemas.microsoft.com/office/drawing/2014/main" id="{041166B2-9F19-5B95-8A71-E6CB2833220C}"/>
              </a:ext>
            </a:extLst>
          </p:cNvPr>
          <p:cNvSpPr txBox="1"/>
          <p:nvPr/>
        </p:nvSpPr>
        <p:spPr>
          <a:xfrm>
            <a:off x="7317728" y="3741463"/>
            <a:ext cx="3843988" cy="4820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Shipments to Customer</a:t>
            </a:r>
          </a:p>
        </p:txBody>
      </p:sp>
      <p:sp>
        <p:nvSpPr>
          <p:cNvPr id="28" name="TextBox 27">
            <a:extLst>
              <a:ext uri="{FF2B5EF4-FFF2-40B4-BE49-F238E27FC236}">
                <a16:creationId xmlns:a16="http://schemas.microsoft.com/office/drawing/2014/main" id="{D641C2C3-1B16-EDF0-CD4C-BE1C6A64A9C6}"/>
              </a:ext>
            </a:extLst>
          </p:cNvPr>
          <p:cNvSpPr txBox="1"/>
          <p:nvPr/>
        </p:nvSpPr>
        <p:spPr>
          <a:xfrm>
            <a:off x="8151566" y="4275662"/>
            <a:ext cx="2197703" cy="66683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marL="285693" indent="-285693" algn="l">
              <a:buFont typeface="Arial" panose="020B0604020202020204" pitchFamily="34" charset="0"/>
              <a:buChar char="•"/>
            </a:pPr>
            <a:r>
              <a:rPr lang="en-US" sz="2000"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Daily Shipments</a:t>
            </a:r>
          </a:p>
          <a:p>
            <a:pPr marL="285693" indent="-285693" algn="l">
              <a:buFont typeface="Arial" panose="020B0604020202020204" pitchFamily="34" charset="0"/>
              <a:buChar char="•"/>
            </a:pPr>
            <a:r>
              <a:rPr lang="en-US" sz="2000" dirty="0">
                <a:solidFill>
                  <a:srgbClr val="191C25"/>
                </a:solidFill>
                <a:latin typeface="Roboto Medium" panose="02000000000000000000" pitchFamily="2" charset="0"/>
                <a:ea typeface="Roboto Medium" panose="02000000000000000000" pitchFamily="2" charset="0"/>
                <a:cs typeface="Roboto Medium" panose="02000000000000000000" pitchFamily="2" charset="0"/>
              </a:rPr>
              <a:t>By Truck</a:t>
            </a:r>
          </a:p>
        </p:txBody>
      </p:sp>
      <p:cxnSp>
        <p:nvCxnSpPr>
          <p:cNvPr id="29" name="Straight Arrow Connector 28">
            <a:extLst>
              <a:ext uri="{FF2B5EF4-FFF2-40B4-BE49-F238E27FC236}">
                <a16:creationId xmlns:a16="http://schemas.microsoft.com/office/drawing/2014/main" id="{CEFC2B70-F717-F579-970B-0BB29E0D31FF}"/>
              </a:ext>
            </a:extLst>
          </p:cNvPr>
          <p:cNvCxnSpPr>
            <a:cxnSpLocks/>
            <a:stCxn id="8" idx="3"/>
            <a:endCxn id="28" idx="1"/>
          </p:cNvCxnSpPr>
          <p:nvPr/>
        </p:nvCxnSpPr>
        <p:spPr>
          <a:xfrm>
            <a:off x="5618747" y="3913562"/>
            <a:ext cx="2532819" cy="695518"/>
          </a:xfrm>
          <a:prstGeom prst="straightConnector1">
            <a:avLst/>
          </a:prstGeom>
          <a:noFill/>
          <a:ln w="63500" cap="flat">
            <a:solidFill>
              <a:schemeClr val="accent3">
                <a:alpha val="75000"/>
              </a:schemeClr>
            </a:solidFill>
            <a:prstDash val="solid"/>
            <a:miter lim="400000"/>
            <a:tailEnd type="triangle"/>
          </a:ln>
          <a:effectLst/>
          <a:sp3d/>
        </p:spPr>
        <p:style>
          <a:lnRef idx="0">
            <a:scrgbClr r="0" g="0" b="0"/>
          </a:lnRef>
          <a:fillRef idx="0">
            <a:scrgbClr r="0" g="0" b="0"/>
          </a:fillRef>
          <a:effectRef idx="0">
            <a:scrgbClr r="0" g="0" b="0"/>
          </a:effectRef>
          <a:fontRef idx="none"/>
        </p:style>
      </p:cxnSp>
      <p:sp>
        <p:nvSpPr>
          <p:cNvPr id="20" name="Slide Number Placeholder 2">
            <a:extLst>
              <a:ext uri="{FF2B5EF4-FFF2-40B4-BE49-F238E27FC236}">
                <a16:creationId xmlns:a16="http://schemas.microsoft.com/office/drawing/2014/main" id="{0C210583-3F76-D651-6D50-84EAB1EBC07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solidFill>
                  <a:srgbClr val="191C25"/>
                </a:solidFill>
              </a:rPr>
              <a:pPr/>
              <a:t>34</a:t>
            </a:fld>
            <a:endParaRPr lang="en-US" dirty="0">
              <a:solidFill>
                <a:srgbClr val="191C25"/>
              </a:solidFill>
            </a:endParaRPr>
          </a:p>
        </p:txBody>
      </p:sp>
      <p:grpSp>
        <p:nvGrpSpPr>
          <p:cNvPr id="26" name="Group 25">
            <a:extLst>
              <a:ext uri="{FF2B5EF4-FFF2-40B4-BE49-F238E27FC236}">
                <a16:creationId xmlns:a16="http://schemas.microsoft.com/office/drawing/2014/main" id="{723F8A4B-C2FC-CEAB-A0CE-72847F2B4CED}"/>
              </a:ext>
            </a:extLst>
          </p:cNvPr>
          <p:cNvGrpSpPr/>
          <p:nvPr/>
        </p:nvGrpSpPr>
        <p:grpSpPr>
          <a:xfrm>
            <a:off x="940004" y="313985"/>
            <a:ext cx="6217883" cy="311851"/>
            <a:chOff x="940249" y="302538"/>
            <a:chExt cx="6219503" cy="311932"/>
          </a:xfrm>
        </p:grpSpPr>
        <p:sp>
          <p:nvSpPr>
            <p:cNvPr id="30" name="TextBox 29">
              <a:extLst>
                <a:ext uri="{FF2B5EF4-FFF2-40B4-BE49-F238E27FC236}">
                  <a16:creationId xmlns:a16="http://schemas.microsoft.com/office/drawing/2014/main" id="{E67EA91B-C19C-DC79-49CC-85041D0CACB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1" name="AutoShape 9">
              <a:extLst>
                <a:ext uri="{FF2B5EF4-FFF2-40B4-BE49-F238E27FC236}">
                  <a16:creationId xmlns:a16="http://schemas.microsoft.com/office/drawing/2014/main" id="{14106145-2C57-4EB0-C576-F4846246DDF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2" name="AutoShape 9">
              <a:extLst>
                <a:ext uri="{FF2B5EF4-FFF2-40B4-BE49-F238E27FC236}">
                  <a16:creationId xmlns:a16="http://schemas.microsoft.com/office/drawing/2014/main" id="{8FE0BBB9-31D6-B1E9-B2CE-91098C5F95C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3" name="AutoShape 9">
              <a:extLst>
                <a:ext uri="{FF2B5EF4-FFF2-40B4-BE49-F238E27FC236}">
                  <a16:creationId xmlns:a16="http://schemas.microsoft.com/office/drawing/2014/main" id="{8950A0A1-5248-9296-1DC0-FF3334EC5FB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4" name="AutoShape 9">
              <a:extLst>
                <a:ext uri="{FF2B5EF4-FFF2-40B4-BE49-F238E27FC236}">
                  <a16:creationId xmlns:a16="http://schemas.microsoft.com/office/drawing/2014/main" id="{CE6028E9-856C-A71B-B24D-3CD479455FD1}"/>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5" name="AutoShape 11">
              <a:extLst>
                <a:ext uri="{FF2B5EF4-FFF2-40B4-BE49-F238E27FC236}">
                  <a16:creationId xmlns:a16="http://schemas.microsoft.com/office/drawing/2014/main" id="{84F28DE6-0148-A8C9-5D99-0A4D980C242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cxnSp>
        <p:nvCxnSpPr>
          <p:cNvPr id="24" name="Straight Arrow Connector 23">
            <a:extLst>
              <a:ext uri="{FF2B5EF4-FFF2-40B4-BE49-F238E27FC236}">
                <a16:creationId xmlns:a16="http://schemas.microsoft.com/office/drawing/2014/main" id="{ED5E778A-036D-BDA8-9630-7025DE67E6FB}"/>
              </a:ext>
            </a:extLst>
          </p:cNvPr>
          <p:cNvCxnSpPr>
            <a:cxnSpLocks/>
          </p:cNvCxnSpPr>
          <p:nvPr/>
        </p:nvCxnSpPr>
        <p:spPr>
          <a:xfrm flipV="1">
            <a:off x="3200470" y="3077731"/>
            <a:ext cx="3892275" cy="2047439"/>
          </a:xfrm>
          <a:prstGeom prst="straightConnector1">
            <a:avLst/>
          </a:prstGeom>
          <a:noFill/>
          <a:ln w="63500" cap="flat">
            <a:solidFill>
              <a:srgbClr val="EE3228">
                <a:alpha val="75000"/>
              </a:srgbClr>
            </a:solidFill>
            <a:prstDash val="solid"/>
            <a:miter lim="400000"/>
            <a:tailEnd type="triangle"/>
          </a:ln>
          <a:effectLst/>
          <a:sp3d/>
        </p:spPr>
        <p:style>
          <a:lnRef idx="0">
            <a:scrgbClr r="0" g="0" b="0"/>
          </a:lnRef>
          <a:fillRef idx="0">
            <a:scrgbClr r="0" g="0" b="0"/>
          </a:fillRef>
          <a:effectRef idx="0">
            <a:scrgbClr r="0" g="0" b="0"/>
          </a:effectRef>
          <a:fontRef idx="none"/>
        </p:style>
      </p:cxnSp>
    </p:spTree>
    <p:extLst>
      <p:ext uri="{BB962C8B-B14F-4D97-AF65-F5344CB8AC3E}">
        <p14:creationId xmlns:p14="http://schemas.microsoft.com/office/powerpoint/2010/main" val="289535589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sz="3200" dirty="0"/>
              <a:t>Case Study Example: 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37982" y="1880157"/>
            <a:ext cx="10512862" cy="4393381"/>
            <a:chOff x="493713" y="1387475"/>
            <a:chExt cx="8207375" cy="4632325"/>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5" cy="4632325"/>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26" name="Group 3">
              <a:extLst>
                <a:ext uri="{FF2B5EF4-FFF2-40B4-BE49-F238E27FC236}">
                  <a16:creationId xmlns:a16="http://schemas.microsoft.com/office/drawing/2014/main" id="{AF068C66-5D59-A014-DB3B-F9497F4F2142}"/>
                </a:ext>
              </a:extLst>
            </p:cNvPr>
            <p:cNvGrpSpPr>
              <a:grpSpLocks/>
            </p:cNvGrpSpPr>
            <p:nvPr/>
          </p:nvGrpSpPr>
          <p:grpSpPr bwMode="auto">
            <a:xfrm>
              <a:off x="7023100" y="2520950"/>
              <a:ext cx="833438" cy="1884363"/>
              <a:chOff x="4424" y="1588"/>
              <a:chExt cx="525" cy="1187"/>
            </a:xfrm>
            <a:grpFill/>
          </p:grpSpPr>
          <p:sp>
            <p:nvSpPr>
              <p:cNvPr id="30" name="Line 4">
                <a:extLst>
                  <a:ext uri="{FF2B5EF4-FFF2-40B4-BE49-F238E27FC236}">
                    <a16:creationId xmlns:a16="http://schemas.microsoft.com/office/drawing/2014/main" id="{5833E576-D9B1-8F8E-F3EC-4BBD002FF123}"/>
                  </a:ext>
                </a:extLst>
              </p:cNvPr>
              <p:cNvSpPr>
                <a:spLocks noChangeShapeType="1"/>
              </p:cNvSpPr>
              <p:nvPr/>
            </p:nvSpPr>
            <p:spPr bwMode="auto">
              <a:xfrm flipH="1" flipV="1">
                <a:off x="4645" y="1588"/>
                <a:ext cx="1" cy="817"/>
              </a:xfrm>
              <a:prstGeom prst="line">
                <a:avLst/>
              </a:prstGeom>
              <a:grpFill/>
              <a:ln w="50800" cmpd="dbl">
                <a:solidFill>
                  <a:schemeClr val="tx1"/>
                </a:solidFill>
                <a:round/>
                <a:headEnd/>
                <a:tailEnd type="triangle" w="sm" len="sm"/>
              </a:ln>
            </p:spPr>
            <p:txBody>
              <a:bodyPr/>
              <a:lstStyle/>
              <a:p>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4424" y="2391"/>
                <a:ext cx="525" cy="384"/>
                <a:chOff x="4424" y="2391"/>
                <a:chExt cx="525" cy="384"/>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0" y="2391"/>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1" y="1939927"/>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4" y="1493838"/>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695324" cy="62667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49" name="Group 23">
              <a:extLst>
                <a:ext uri="{FF2B5EF4-FFF2-40B4-BE49-F238E27FC236}">
                  <a16:creationId xmlns:a16="http://schemas.microsoft.com/office/drawing/2014/main" id="{FAD8BBAD-5CB4-8E8D-66CC-470C8289D811}"/>
                </a:ext>
              </a:extLst>
            </p:cNvPr>
            <p:cNvGrpSpPr>
              <a:grpSpLocks/>
            </p:cNvGrpSpPr>
            <p:nvPr/>
          </p:nvGrpSpPr>
          <p:grpSpPr bwMode="auto">
            <a:xfrm>
              <a:off x="7089775" y="3217863"/>
              <a:ext cx="593725" cy="374650"/>
              <a:chOff x="513" y="2121"/>
              <a:chExt cx="374" cy="236"/>
            </a:xfrm>
            <a:grpFill/>
          </p:grpSpPr>
          <p:grpSp>
            <p:nvGrpSpPr>
              <p:cNvPr id="50" name="Group 24">
                <a:extLst>
                  <a:ext uri="{FF2B5EF4-FFF2-40B4-BE49-F238E27FC236}">
                    <a16:creationId xmlns:a16="http://schemas.microsoft.com/office/drawing/2014/main" id="{E496C505-CA74-632E-B158-243B7BF738AB}"/>
                  </a:ext>
                </a:extLst>
              </p:cNvPr>
              <p:cNvGrpSpPr>
                <a:grpSpLocks/>
              </p:cNvGrpSpPr>
              <p:nvPr/>
            </p:nvGrpSpPr>
            <p:grpSpPr bwMode="auto">
              <a:xfrm>
                <a:off x="550" y="2121"/>
                <a:ext cx="337" cy="236"/>
                <a:chOff x="536" y="3744"/>
                <a:chExt cx="415" cy="261"/>
              </a:xfrm>
              <a:grpFill/>
            </p:grpSpPr>
            <p:sp>
              <p:nvSpPr>
                <p:cNvPr id="52" name="Rectangle 25">
                  <a:extLst>
                    <a:ext uri="{FF2B5EF4-FFF2-40B4-BE49-F238E27FC236}">
                      <a16:creationId xmlns:a16="http://schemas.microsoft.com/office/drawing/2014/main" id="{194A7A3B-4982-A91B-CCD0-7A4924F12F64}"/>
                    </a:ext>
                  </a:extLst>
                </p:cNvPr>
                <p:cNvSpPr>
                  <a:spLocks noChangeArrowheads="1"/>
                </p:cNvSpPr>
                <p:nvPr/>
              </p:nvSpPr>
              <p:spPr bwMode="auto">
                <a:xfrm>
                  <a:off x="536" y="3744"/>
                  <a:ext cx="286" cy="196"/>
                </a:xfrm>
                <a:prstGeom prst="rect">
                  <a:avLst/>
                </a:prstGeom>
                <a:grp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3" name="Rectangle 26">
                  <a:extLst>
                    <a:ext uri="{FF2B5EF4-FFF2-40B4-BE49-F238E27FC236}">
                      <a16:creationId xmlns:a16="http://schemas.microsoft.com/office/drawing/2014/main" id="{42853247-88C1-895B-C5C3-6AA1BB3EE5BA}"/>
                    </a:ext>
                  </a:extLst>
                </p:cNvPr>
                <p:cNvSpPr>
                  <a:spLocks noChangeArrowheads="1"/>
                </p:cNvSpPr>
                <p:nvPr/>
              </p:nvSpPr>
              <p:spPr bwMode="auto">
                <a:xfrm>
                  <a:off x="824" y="3809"/>
                  <a:ext cx="127" cy="131"/>
                </a:xfrm>
                <a:prstGeom prst="rect">
                  <a:avLst/>
                </a:prstGeom>
                <a:grp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4" name="Oval 27">
                  <a:extLst>
                    <a:ext uri="{FF2B5EF4-FFF2-40B4-BE49-F238E27FC236}">
                      <a16:creationId xmlns:a16="http://schemas.microsoft.com/office/drawing/2014/main" id="{83B4359E-04D5-50E8-E811-46D553F55FCB}"/>
                    </a:ext>
                  </a:extLst>
                </p:cNvPr>
                <p:cNvSpPr>
                  <a:spLocks noChangeArrowheads="1"/>
                </p:cNvSpPr>
                <p:nvPr/>
              </p:nvSpPr>
              <p:spPr bwMode="auto">
                <a:xfrm>
                  <a:off x="854" y="3940"/>
                  <a:ext cx="63" cy="65"/>
                </a:xfrm>
                <a:prstGeom prst="ellipse">
                  <a:avLst/>
                </a:prstGeom>
                <a:grp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5" name="Oval 28">
                  <a:extLst>
                    <a:ext uri="{FF2B5EF4-FFF2-40B4-BE49-F238E27FC236}">
                      <a16:creationId xmlns:a16="http://schemas.microsoft.com/office/drawing/2014/main" id="{FADA6170-315C-CBA0-727B-EAC6AFE1B64C}"/>
                    </a:ext>
                  </a:extLst>
                </p:cNvPr>
                <p:cNvSpPr>
                  <a:spLocks noChangeArrowheads="1"/>
                </p:cNvSpPr>
                <p:nvPr/>
              </p:nvSpPr>
              <p:spPr bwMode="auto">
                <a:xfrm>
                  <a:off x="568" y="3940"/>
                  <a:ext cx="63" cy="65"/>
                </a:xfrm>
                <a:prstGeom prst="ellipse">
                  <a:avLst/>
                </a:prstGeom>
                <a:grp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51" name="Text Box 29">
                <a:extLst>
                  <a:ext uri="{FF2B5EF4-FFF2-40B4-BE49-F238E27FC236}">
                    <a16:creationId xmlns:a16="http://schemas.microsoft.com/office/drawing/2014/main" id="{C28EC09F-C2DA-31ED-3B02-EA418FACC85D}"/>
                  </a:ext>
                </a:extLst>
              </p:cNvPr>
              <p:cNvSpPr txBox="1">
                <a:spLocks noChangeArrowheads="1"/>
              </p:cNvSpPr>
              <p:nvPr/>
            </p:nvSpPr>
            <p:spPr bwMode="auto">
              <a:xfrm>
                <a:off x="513" y="2152"/>
                <a:ext cx="308" cy="12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grpSp>
      <p:grpSp>
        <p:nvGrpSpPr>
          <p:cNvPr id="3" name="Group 2">
            <a:extLst>
              <a:ext uri="{FF2B5EF4-FFF2-40B4-BE49-F238E27FC236}">
                <a16:creationId xmlns:a16="http://schemas.microsoft.com/office/drawing/2014/main" id="{F11F8B0D-FD43-E853-8498-8D13A7041208}"/>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5A97E379-5EC6-D8B9-FC87-F6C07431D70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 name="AutoShape 9">
              <a:extLst>
                <a:ext uri="{FF2B5EF4-FFF2-40B4-BE49-F238E27FC236}">
                  <a16:creationId xmlns:a16="http://schemas.microsoft.com/office/drawing/2014/main" id="{A23FF652-5A02-7C48-2D93-089CE39D8BB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 name="AutoShape 9">
              <a:extLst>
                <a:ext uri="{FF2B5EF4-FFF2-40B4-BE49-F238E27FC236}">
                  <a16:creationId xmlns:a16="http://schemas.microsoft.com/office/drawing/2014/main" id="{9C122B81-262F-904C-5631-75D237E6E3B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BC7FA6C5-354F-414D-D124-66380C2A6F9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4193130D-D02A-BE03-7369-0C67CB68D42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11">
              <a:extLst>
                <a:ext uri="{FF2B5EF4-FFF2-40B4-BE49-F238E27FC236}">
                  <a16:creationId xmlns:a16="http://schemas.microsoft.com/office/drawing/2014/main" id="{11E786F0-652F-3F0E-128F-B13DF6CA011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0" name="Slide Number Placeholder 2">
            <a:extLst>
              <a:ext uri="{FF2B5EF4-FFF2-40B4-BE49-F238E27FC236}">
                <a16:creationId xmlns:a16="http://schemas.microsoft.com/office/drawing/2014/main" id="{19656C3B-8409-4D38-FCBB-AC0135E47AD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35</a:t>
            </a:fld>
            <a:endParaRPr lang="en-US" dirty="0"/>
          </a:p>
        </p:txBody>
      </p:sp>
    </p:spTree>
    <p:extLst>
      <p:ext uri="{BB962C8B-B14F-4D97-AF65-F5344CB8AC3E}">
        <p14:creationId xmlns:p14="http://schemas.microsoft.com/office/powerpoint/2010/main" val="344369633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36</a:t>
            </a:fld>
            <a:endParaRPr lang="en-US" dirty="0"/>
          </a:p>
        </p:txBody>
      </p:sp>
    </p:spTree>
    <p:extLst>
      <p:ext uri="{BB962C8B-B14F-4D97-AF65-F5344CB8AC3E}">
        <p14:creationId xmlns:p14="http://schemas.microsoft.com/office/powerpoint/2010/main" val="264309405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Calculating Takt Time</a:t>
            </a:r>
            <a:endParaRPr lang="en-US" dirty="0"/>
          </a:p>
        </p:txBody>
      </p:sp>
      <p:sp>
        <p:nvSpPr>
          <p:cNvPr id="12" name="TextBox 11">
            <a:extLst>
              <a:ext uri="{FF2B5EF4-FFF2-40B4-BE49-F238E27FC236}">
                <a16:creationId xmlns:a16="http://schemas.microsoft.com/office/drawing/2014/main" id="{881E21E2-B4E3-7FB6-C9D9-E73727E38C73}"/>
              </a:ext>
            </a:extLst>
          </p:cNvPr>
          <p:cNvSpPr txBox="1"/>
          <p:nvPr/>
        </p:nvSpPr>
        <p:spPr>
          <a:xfrm>
            <a:off x="593496" y="2185786"/>
            <a:ext cx="2292280" cy="3282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algn="l"/>
            <a:r>
              <a:rPr lang="en-US" b="1" dirty="0">
                <a:solidFill>
                  <a:schemeClr val="tx1"/>
                </a:solidFill>
                <a:latin typeface="Roboto" panose="02000000000000000000" pitchFamily="2" charset="0"/>
                <a:ea typeface="Roboto" panose="02000000000000000000" pitchFamily="2" charset="0"/>
              </a:rPr>
              <a:t>TAKT Time Definition</a:t>
            </a:r>
          </a:p>
        </p:txBody>
      </p:sp>
      <p:sp>
        <p:nvSpPr>
          <p:cNvPr id="13" name="Rectangle 12">
            <a:extLst>
              <a:ext uri="{FF2B5EF4-FFF2-40B4-BE49-F238E27FC236}">
                <a16:creationId xmlns:a16="http://schemas.microsoft.com/office/drawing/2014/main" id="{08904821-D42A-53F1-F60B-4152FD10C9B8}"/>
              </a:ext>
            </a:extLst>
          </p:cNvPr>
          <p:cNvSpPr/>
          <p:nvPr/>
        </p:nvSpPr>
        <p:spPr>
          <a:xfrm>
            <a:off x="593496" y="2845473"/>
            <a:ext cx="5805637" cy="3016734"/>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74320" tIns="25393" rIns="25393" bIns="25393" numCol="1" spcCol="38100" rtlCol="0" anchor="ctr">
            <a:noAutofit/>
          </a:bodyPr>
          <a:lstStyle/>
          <a:p>
            <a:pPr algn="l" defTabSz="292042">
              <a:lnSpc>
                <a:spcPct val="125000"/>
              </a:lnSpc>
            </a:pP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How often should one product be produced, based on the rate of sales to meet customer requirements.</a:t>
            </a:r>
          </a:p>
        </p:txBody>
      </p:sp>
      <p:sp>
        <p:nvSpPr>
          <p:cNvPr id="16" name="Rectangle 15">
            <a:extLst>
              <a:ext uri="{FF2B5EF4-FFF2-40B4-BE49-F238E27FC236}">
                <a16:creationId xmlns:a16="http://schemas.microsoft.com/office/drawing/2014/main" id="{E5B907A1-AF30-B910-EA67-454E0DF85F2D}"/>
              </a:ext>
            </a:extLst>
          </p:cNvPr>
          <p:cNvSpPr>
            <a:spLocks/>
          </p:cNvSpPr>
          <p:nvPr/>
        </p:nvSpPr>
        <p:spPr>
          <a:xfrm>
            <a:off x="7308113" y="1916887"/>
            <a:ext cx="4209397"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Calculation</a:t>
            </a:r>
          </a:p>
        </p:txBody>
      </p:sp>
      <p:sp>
        <p:nvSpPr>
          <p:cNvPr id="3" name="Rectangle 2">
            <a:extLst>
              <a:ext uri="{FF2B5EF4-FFF2-40B4-BE49-F238E27FC236}">
                <a16:creationId xmlns:a16="http://schemas.microsoft.com/office/drawing/2014/main" id="{E74EE0EF-B6DC-466C-ECED-53DEA8E6AD22}"/>
              </a:ext>
            </a:extLst>
          </p:cNvPr>
          <p:cNvSpPr>
            <a:spLocks/>
          </p:cNvSpPr>
          <p:nvPr/>
        </p:nvSpPr>
        <p:spPr>
          <a:xfrm>
            <a:off x="7308113" y="3941064"/>
            <a:ext cx="4209397"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MME Example</a:t>
            </a:r>
          </a:p>
        </p:txBody>
      </p:sp>
      <p:grpSp>
        <p:nvGrpSpPr>
          <p:cNvPr id="23" name="Group 22">
            <a:extLst>
              <a:ext uri="{FF2B5EF4-FFF2-40B4-BE49-F238E27FC236}">
                <a16:creationId xmlns:a16="http://schemas.microsoft.com/office/drawing/2014/main" id="{8019D0D0-2BCE-7399-B2A6-F1BBCFC46271}"/>
              </a:ext>
            </a:extLst>
          </p:cNvPr>
          <p:cNvGrpSpPr/>
          <p:nvPr/>
        </p:nvGrpSpPr>
        <p:grpSpPr>
          <a:xfrm>
            <a:off x="7718650" y="3203689"/>
            <a:ext cx="3568609" cy="666835"/>
            <a:chOff x="15837125" y="5144926"/>
            <a:chExt cx="7139076" cy="1334017"/>
          </a:xfrm>
        </p:grpSpPr>
        <p:sp>
          <p:nvSpPr>
            <p:cNvPr id="18" name="TextBox 17">
              <a:extLst>
                <a:ext uri="{FF2B5EF4-FFF2-40B4-BE49-F238E27FC236}">
                  <a16:creationId xmlns:a16="http://schemas.microsoft.com/office/drawing/2014/main" id="{A0664812-4237-7A0D-14EF-B2FB800D83A2}"/>
                </a:ext>
              </a:extLst>
            </p:cNvPr>
            <p:cNvSpPr txBox="1"/>
            <p:nvPr/>
          </p:nvSpPr>
          <p:spPr>
            <a:xfrm>
              <a:off x="15837125" y="5144926"/>
              <a:ext cx="3986076" cy="133401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000" dirty="0">
                  <a:solidFill>
                    <a:srgbClr val="EE3228"/>
                  </a:solidFill>
                  <a:latin typeface="Roboto" panose="02000000000000000000" pitchFamily="2" charset="0"/>
                  <a:ea typeface="Roboto" panose="02000000000000000000" pitchFamily="2" charset="0"/>
                </a:rPr>
                <a:t>27,000 seconds</a:t>
              </a:r>
            </a:p>
            <a:p>
              <a:r>
                <a:rPr lang="en-US" sz="2000" dirty="0">
                  <a:solidFill>
                    <a:srgbClr val="EE3228"/>
                  </a:solidFill>
                  <a:latin typeface="Roboto" panose="02000000000000000000" pitchFamily="2" charset="0"/>
                  <a:ea typeface="Roboto" panose="02000000000000000000" pitchFamily="2" charset="0"/>
                </a:rPr>
                <a:t>1,500 enclosures</a:t>
              </a:r>
            </a:p>
          </p:txBody>
        </p:sp>
        <p:sp>
          <p:nvSpPr>
            <p:cNvPr id="19" name="TextBox 18">
              <a:extLst>
                <a:ext uri="{FF2B5EF4-FFF2-40B4-BE49-F238E27FC236}">
                  <a16:creationId xmlns:a16="http://schemas.microsoft.com/office/drawing/2014/main" id="{1F9C7B3E-A3F6-E1D5-1629-BD41DC06C2B2}"/>
                </a:ext>
              </a:extLst>
            </p:cNvPr>
            <p:cNvSpPr txBox="1"/>
            <p:nvPr/>
          </p:nvSpPr>
          <p:spPr>
            <a:xfrm>
              <a:off x="19820698" y="5452702"/>
              <a:ext cx="3155503" cy="71830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000" dirty="0">
                  <a:solidFill>
                    <a:srgbClr val="EE3228"/>
                  </a:solidFill>
                  <a:latin typeface="Roboto" panose="02000000000000000000" pitchFamily="2" charset="0"/>
                  <a:ea typeface="Roboto" panose="02000000000000000000" pitchFamily="2" charset="0"/>
                </a:rPr>
                <a:t>= 18 seconds</a:t>
              </a:r>
            </a:p>
          </p:txBody>
        </p:sp>
        <p:cxnSp>
          <p:nvCxnSpPr>
            <p:cNvPr id="20" name="Straight Connector 19">
              <a:extLst>
                <a:ext uri="{FF2B5EF4-FFF2-40B4-BE49-F238E27FC236}">
                  <a16:creationId xmlns:a16="http://schemas.microsoft.com/office/drawing/2014/main" id="{9F492B2C-35A1-2C0D-D31C-E709A5169430}"/>
                </a:ext>
              </a:extLst>
            </p:cNvPr>
            <p:cNvCxnSpPr>
              <a:stCxn id="18" idx="1"/>
              <a:endCxn id="18" idx="3"/>
            </p:cNvCxnSpPr>
            <p:nvPr/>
          </p:nvCxnSpPr>
          <p:spPr>
            <a:xfrm>
              <a:off x="15837125" y="5811936"/>
              <a:ext cx="3986076" cy="0"/>
            </a:xfrm>
            <a:prstGeom prst="line">
              <a:avLst/>
            </a:prstGeom>
            <a:noFill/>
            <a:ln w="25400" cap="flat">
              <a:solidFill>
                <a:srgbClr val="7A7A7A">
                  <a:alpha val="75000"/>
                </a:srgbClr>
              </a:solidFill>
              <a:prstDash val="solid"/>
              <a:miter lim="400000"/>
            </a:ln>
            <a:effectLst/>
            <a:sp3d/>
          </p:spPr>
          <p:style>
            <a:lnRef idx="0">
              <a:scrgbClr r="0" g="0" b="0"/>
            </a:lnRef>
            <a:fillRef idx="0">
              <a:scrgbClr r="0" g="0" b="0"/>
            </a:fillRef>
            <a:effectRef idx="0">
              <a:scrgbClr r="0" g="0" b="0"/>
            </a:effectRef>
            <a:fontRef idx="none"/>
          </p:style>
        </p:cxnSp>
      </p:grpSp>
      <p:sp>
        <p:nvSpPr>
          <p:cNvPr id="22" name="TextBox 21">
            <a:extLst>
              <a:ext uri="{FF2B5EF4-FFF2-40B4-BE49-F238E27FC236}">
                <a16:creationId xmlns:a16="http://schemas.microsoft.com/office/drawing/2014/main" id="{4E0A4D0F-8DB1-C77B-873F-39E4139110D9}"/>
              </a:ext>
            </a:extLst>
          </p:cNvPr>
          <p:cNvSpPr txBox="1"/>
          <p:nvPr/>
        </p:nvSpPr>
        <p:spPr>
          <a:xfrm>
            <a:off x="7563040" y="2444475"/>
            <a:ext cx="2731503" cy="66683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000" dirty="0">
                <a:solidFill>
                  <a:srgbClr val="191C25"/>
                </a:solidFill>
                <a:latin typeface="Roboto" panose="02000000000000000000" pitchFamily="2" charset="0"/>
                <a:ea typeface="Roboto" panose="02000000000000000000" pitchFamily="2" charset="0"/>
              </a:rPr>
              <a:t>Available Working Time</a:t>
            </a:r>
          </a:p>
          <a:p>
            <a:r>
              <a:rPr lang="en-US" sz="2000" dirty="0">
                <a:solidFill>
                  <a:srgbClr val="191C25"/>
                </a:solidFill>
                <a:latin typeface="Roboto" panose="02000000000000000000" pitchFamily="2" charset="0"/>
                <a:ea typeface="Roboto" panose="02000000000000000000" pitchFamily="2" charset="0"/>
              </a:rPr>
              <a:t>Customer Demand</a:t>
            </a:r>
          </a:p>
        </p:txBody>
      </p:sp>
      <p:cxnSp>
        <p:nvCxnSpPr>
          <p:cNvPr id="24" name="Straight Connector 23">
            <a:extLst>
              <a:ext uri="{FF2B5EF4-FFF2-40B4-BE49-F238E27FC236}">
                <a16:creationId xmlns:a16="http://schemas.microsoft.com/office/drawing/2014/main" id="{88621AFF-67AC-F1B4-78B8-BD541D9EF191}"/>
              </a:ext>
            </a:extLst>
          </p:cNvPr>
          <p:cNvCxnSpPr>
            <a:cxnSpLocks/>
          </p:cNvCxnSpPr>
          <p:nvPr/>
        </p:nvCxnSpPr>
        <p:spPr>
          <a:xfrm>
            <a:off x="7418578" y="2777812"/>
            <a:ext cx="2770619" cy="0"/>
          </a:xfrm>
          <a:prstGeom prst="line">
            <a:avLst/>
          </a:prstGeom>
          <a:noFill/>
          <a:ln w="25400" cap="flat">
            <a:solidFill>
              <a:srgbClr val="7A7A7A">
                <a:alpha val="75000"/>
              </a:srgbClr>
            </a:solidFill>
            <a:prstDash val="solid"/>
            <a:miter lim="400000"/>
          </a:ln>
          <a:effectLst/>
          <a:sp3d/>
        </p:spPr>
        <p:style>
          <a:lnRef idx="0">
            <a:scrgbClr r="0" g="0" b="0"/>
          </a:lnRef>
          <a:fillRef idx="0">
            <a:scrgbClr r="0" g="0" b="0"/>
          </a:fillRef>
          <a:effectRef idx="0">
            <a:scrgbClr r="0" g="0" b="0"/>
          </a:effectRef>
          <a:fontRef idx="none"/>
        </p:style>
      </p:cxnSp>
      <p:sp>
        <p:nvSpPr>
          <p:cNvPr id="28" name="TextBox 27">
            <a:extLst>
              <a:ext uri="{FF2B5EF4-FFF2-40B4-BE49-F238E27FC236}">
                <a16:creationId xmlns:a16="http://schemas.microsoft.com/office/drawing/2014/main" id="{591714DC-EA96-DF71-71E6-EC62375142D7}"/>
              </a:ext>
            </a:extLst>
          </p:cNvPr>
          <p:cNvSpPr txBox="1"/>
          <p:nvPr/>
        </p:nvSpPr>
        <p:spPr>
          <a:xfrm>
            <a:off x="7323924" y="4520593"/>
            <a:ext cx="4321682" cy="152860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algn="l"/>
            <a:r>
              <a:rPr lang="en-US" sz="1600" dirty="0">
                <a:solidFill>
                  <a:schemeClr val="tx1"/>
                </a:solidFill>
                <a:latin typeface="Roboto" panose="02000000000000000000" pitchFamily="2" charset="0"/>
                <a:ea typeface="Roboto" panose="02000000000000000000" pitchFamily="2" charset="0"/>
              </a:rPr>
              <a:t>1 shift x 8 hours = 28,800 seconds</a:t>
            </a:r>
          </a:p>
          <a:p>
            <a:pPr algn="l"/>
            <a:r>
              <a:rPr lang="en-US" sz="1600" dirty="0">
                <a:solidFill>
                  <a:schemeClr val="tx1"/>
                </a:solidFill>
                <a:latin typeface="Roboto" panose="02000000000000000000" pitchFamily="2" charset="0"/>
                <a:ea typeface="Roboto" panose="02000000000000000000" pitchFamily="2" charset="0"/>
              </a:rPr>
              <a:t>2 15 min breaks/shift = -1,800 seconds</a:t>
            </a:r>
          </a:p>
          <a:p>
            <a:pPr algn="l"/>
            <a:r>
              <a:rPr lang="en-US" sz="1600" dirty="0">
                <a:solidFill>
                  <a:schemeClr val="tx1"/>
                </a:solidFill>
                <a:latin typeface="Roboto" panose="02000000000000000000" pitchFamily="2" charset="0"/>
                <a:ea typeface="Roboto" panose="02000000000000000000" pitchFamily="2" charset="0"/>
              </a:rPr>
              <a:t>Available Working Time = </a:t>
            </a:r>
            <a:r>
              <a:rPr lang="en-US" sz="1600" dirty="0">
                <a:solidFill>
                  <a:srgbClr val="EE3228"/>
                </a:solidFill>
                <a:latin typeface="Roboto" panose="02000000000000000000" pitchFamily="2" charset="0"/>
                <a:ea typeface="Roboto" panose="02000000000000000000" pitchFamily="2" charset="0"/>
              </a:rPr>
              <a:t>27,000 seconds</a:t>
            </a:r>
          </a:p>
          <a:p>
            <a:pPr algn="l"/>
            <a:r>
              <a:rPr lang="en-US" sz="1600" dirty="0">
                <a:solidFill>
                  <a:schemeClr val="tx1"/>
                </a:solidFill>
                <a:latin typeface="Roboto" panose="02000000000000000000" pitchFamily="2" charset="0"/>
                <a:ea typeface="Roboto" panose="02000000000000000000" pitchFamily="2" charset="0"/>
              </a:rPr>
              <a:t>Customer Demand/Month = 30,000 enclosures</a:t>
            </a:r>
          </a:p>
          <a:p>
            <a:pPr algn="l"/>
            <a:r>
              <a:rPr lang="en-US" sz="1600" dirty="0">
                <a:solidFill>
                  <a:schemeClr val="tx1"/>
                </a:solidFill>
                <a:latin typeface="Roboto" panose="02000000000000000000" pitchFamily="2" charset="0"/>
                <a:ea typeface="Roboto" panose="02000000000000000000" pitchFamily="2" charset="0"/>
              </a:rPr>
              <a:t>20 days/month x 1 shift = 20 </a:t>
            </a:r>
          </a:p>
          <a:p>
            <a:pPr algn="l"/>
            <a:r>
              <a:rPr lang="en-US" sz="1600" dirty="0">
                <a:solidFill>
                  <a:schemeClr val="tx1"/>
                </a:solidFill>
                <a:latin typeface="Roboto" panose="02000000000000000000" pitchFamily="2" charset="0"/>
                <a:ea typeface="Roboto" panose="02000000000000000000" pitchFamily="2" charset="0"/>
              </a:rPr>
              <a:t>Enclosures per day = </a:t>
            </a:r>
            <a:r>
              <a:rPr lang="en-US" sz="1600" dirty="0">
                <a:solidFill>
                  <a:srgbClr val="EE3228"/>
                </a:solidFill>
                <a:latin typeface="Roboto" panose="02000000000000000000" pitchFamily="2" charset="0"/>
                <a:ea typeface="Roboto" panose="02000000000000000000" pitchFamily="2" charset="0"/>
              </a:rPr>
              <a:t>1,500 enclosures</a:t>
            </a:r>
          </a:p>
        </p:txBody>
      </p:sp>
      <p:grpSp>
        <p:nvGrpSpPr>
          <p:cNvPr id="4" name="Group 3">
            <a:extLst>
              <a:ext uri="{FF2B5EF4-FFF2-40B4-BE49-F238E27FC236}">
                <a16:creationId xmlns:a16="http://schemas.microsoft.com/office/drawing/2014/main" id="{CEE5220E-8F5F-AC04-78BC-643D0B9EA5EA}"/>
              </a:ext>
            </a:extLst>
          </p:cNvPr>
          <p:cNvGrpSpPr/>
          <p:nvPr/>
        </p:nvGrpSpPr>
        <p:grpSpPr>
          <a:xfrm>
            <a:off x="940004" y="330919"/>
            <a:ext cx="6217883" cy="311851"/>
            <a:chOff x="940249" y="302538"/>
            <a:chExt cx="6219503" cy="311932"/>
          </a:xfrm>
        </p:grpSpPr>
        <p:sp>
          <p:nvSpPr>
            <p:cNvPr id="11" name="TextBox 10">
              <a:extLst>
                <a:ext uri="{FF2B5EF4-FFF2-40B4-BE49-F238E27FC236}">
                  <a16:creationId xmlns:a16="http://schemas.microsoft.com/office/drawing/2014/main" id="{4A1315EE-EF64-AD6F-9F33-932E6C5E1DA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499152E1-0659-7770-FB54-F538E926296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8CE5EF9E-FBDB-5256-A6FB-1D689BA5C91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E2195FF6-9C3F-46CA-3064-BEFA602B936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CCF263F5-946F-CC59-2EDD-09D4E92FCA0A}"/>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7" name="AutoShape 11">
              <a:extLst>
                <a:ext uri="{FF2B5EF4-FFF2-40B4-BE49-F238E27FC236}">
                  <a16:creationId xmlns:a16="http://schemas.microsoft.com/office/drawing/2014/main" id="{46D83036-864F-07D8-0093-E3D263A3739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F63073FD-7464-D812-1021-13B8A4ADFE1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37</a:t>
            </a:fld>
            <a:endParaRPr lang="en-US" dirty="0"/>
          </a:p>
        </p:txBody>
      </p:sp>
    </p:spTree>
    <p:extLst>
      <p:ext uri="{BB962C8B-B14F-4D97-AF65-F5344CB8AC3E}">
        <p14:creationId xmlns:p14="http://schemas.microsoft.com/office/powerpoint/2010/main" val="294950549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sz="3200" dirty="0"/>
              <a:t>Case Study Example: 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72016" y="1894461"/>
            <a:ext cx="10478827" cy="4379077"/>
            <a:chOff x="493713" y="1387475"/>
            <a:chExt cx="8207375" cy="4632325"/>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5" cy="4632325"/>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26" name="Group 3">
              <a:extLst>
                <a:ext uri="{FF2B5EF4-FFF2-40B4-BE49-F238E27FC236}">
                  <a16:creationId xmlns:a16="http://schemas.microsoft.com/office/drawing/2014/main" id="{AF068C66-5D59-A014-DB3B-F9497F4F2142}"/>
                </a:ext>
              </a:extLst>
            </p:cNvPr>
            <p:cNvGrpSpPr>
              <a:grpSpLocks/>
            </p:cNvGrpSpPr>
            <p:nvPr/>
          </p:nvGrpSpPr>
          <p:grpSpPr bwMode="auto">
            <a:xfrm>
              <a:off x="7023100" y="2520950"/>
              <a:ext cx="833438" cy="1884363"/>
              <a:chOff x="4424" y="1588"/>
              <a:chExt cx="525" cy="1187"/>
            </a:xfrm>
            <a:grpFill/>
          </p:grpSpPr>
          <p:sp>
            <p:nvSpPr>
              <p:cNvPr id="30" name="Line 4">
                <a:extLst>
                  <a:ext uri="{FF2B5EF4-FFF2-40B4-BE49-F238E27FC236}">
                    <a16:creationId xmlns:a16="http://schemas.microsoft.com/office/drawing/2014/main" id="{5833E576-D9B1-8F8E-F3EC-4BBD002FF123}"/>
                  </a:ext>
                </a:extLst>
              </p:cNvPr>
              <p:cNvSpPr>
                <a:spLocks noChangeShapeType="1"/>
              </p:cNvSpPr>
              <p:nvPr/>
            </p:nvSpPr>
            <p:spPr bwMode="auto">
              <a:xfrm flipH="1" flipV="1">
                <a:off x="4645" y="1588"/>
                <a:ext cx="1" cy="817"/>
              </a:xfrm>
              <a:prstGeom prst="line">
                <a:avLst/>
              </a:prstGeom>
              <a:grpFill/>
              <a:ln w="50800" cmpd="dbl">
                <a:solidFill>
                  <a:schemeClr val="tx1"/>
                </a:solidFill>
                <a:round/>
                <a:headEnd/>
                <a:tailEnd type="triangle" w="sm" len="sm"/>
              </a:ln>
            </p:spPr>
            <p:txBody>
              <a:bodyPr/>
              <a:lstStyle/>
              <a:p>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4424" y="2398"/>
                <a:ext cx="525" cy="377"/>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1" y="1939927"/>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4" y="1493838"/>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1268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49" name="Group 23">
              <a:extLst>
                <a:ext uri="{FF2B5EF4-FFF2-40B4-BE49-F238E27FC236}">
                  <a16:creationId xmlns:a16="http://schemas.microsoft.com/office/drawing/2014/main" id="{FAD8BBAD-5CB4-8E8D-66CC-470C8289D811}"/>
                </a:ext>
              </a:extLst>
            </p:cNvPr>
            <p:cNvGrpSpPr>
              <a:grpSpLocks/>
            </p:cNvGrpSpPr>
            <p:nvPr/>
          </p:nvGrpSpPr>
          <p:grpSpPr bwMode="auto">
            <a:xfrm>
              <a:off x="7089775" y="3217863"/>
              <a:ext cx="593725" cy="374650"/>
              <a:chOff x="513" y="2121"/>
              <a:chExt cx="374" cy="236"/>
            </a:xfrm>
            <a:grpFill/>
          </p:grpSpPr>
          <p:grpSp>
            <p:nvGrpSpPr>
              <p:cNvPr id="50" name="Group 24">
                <a:extLst>
                  <a:ext uri="{FF2B5EF4-FFF2-40B4-BE49-F238E27FC236}">
                    <a16:creationId xmlns:a16="http://schemas.microsoft.com/office/drawing/2014/main" id="{E496C505-CA74-632E-B158-243B7BF738AB}"/>
                  </a:ext>
                </a:extLst>
              </p:cNvPr>
              <p:cNvGrpSpPr>
                <a:grpSpLocks/>
              </p:cNvGrpSpPr>
              <p:nvPr/>
            </p:nvGrpSpPr>
            <p:grpSpPr bwMode="auto">
              <a:xfrm>
                <a:off x="550" y="2121"/>
                <a:ext cx="337" cy="236"/>
                <a:chOff x="536" y="3744"/>
                <a:chExt cx="415" cy="261"/>
              </a:xfrm>
              <a:grpFill/>
            </p:grpSpPr>
            <p:sp>
              <p:nvSpPr>
                <p:cNvPr id="52" name="Rectangle 25">
                  <a:extLst>
                    <a:ext uri="{FF2B5EF4-FFF2-40B4-BE49-F238E27FC236}">
                      <a16:creationId xmlns:a16="http://schemas.microsoft.com/office/drawing/2014/main" id="{194A7A3B-4982-A91B-CCD0-7A4924F12F64}"/>
                    </a:ext>
                  </a:extLst>
                </p:cNvPr>
                <p:cNvSpPr>
                  <a:spLocks noChangeArrowheads="1"/>
                </p:cNvSpPr>
                <p:nvPr/>
              </p:nvSpPr>
              <p:spPr bwMode="auto">
                <a:xfrm>
                  <a:off x="536" y="3744"/>
                  <a:ext cx="286" cy="196"/>
                </a:xfrm>
                <a:prstGeom prst="rect">
                  <a:avLst/>
                </a:prstGeom>
                <a:grp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3" name="Rectangle 26">
                  <a:extLst>
                    <a:ext uri="{FF2B5EF4-FFF2-40B4-BE49-F238E27FC236}">
                      <a16:creationId xmlns:a16="http://schemas.microsoft.com/office/drawing/2014/main" id="{42853247-88C1-895B-C5C3-6AA1BB3EE5BA}"/>
                    </a:ext>
                  </a:extLst>
                </p:cNvPr>
                <p:cNvSpPr>
                  <a:spLocks noChangeArrowheads="1"/>
                </p:cNvSpPr>
                <p:nvPr/>
              </p:nvSpPr>
              <p:spPr bwMode="auto">
                <a:xfrm>
                  <a:off x="824" y="3809"/>
                  <a:ext cx="127" cy="131"/>
                </a:xfrm>
                <a:prstGeom prst="rect">
                  <a:avLst/>
                </a:prstGeom>
                <a:grp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4" name="Oval 27">
                  <a:extLst>
                    <a:ext uri="{FF2B5EF4-FFF2-40B4-BE49-F238E27FC236}">
                      <a16:creationId xmlns:a16="http://schemas.microsoft.com/office/drawing/2014/main" id="{83B4359E-04D5-50E8-E811-46D553F55FCB}"/>
                    </a:ext>
                  </a:extLst>
                </p:cNvPr>
                <p:cNvSpPr>
                  <a:spLocks noChangeArrowheads="1"/>
                </p:cNvSpPr>
                <p:nvPr/>
              </p:nvSpPr>
              <p:spPr bwMode="auto">
                <a:xfrm>
                  <a:off x="854" y="3940"/>
                  <a:ext cx="63" cy="65"/>
                </a:xfrm>
                <a:prstGeom prst="ellipse">
                  <a:avLst/>
                </a:prstGeom>
                <a:grp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5" name="Oval 28">
                  <a:extLst>
                    <a:ext uri="{FF2B5EF4-FFF2-40B4-BE49-F238E27FC236}">
                      <a16:creationId xmlns:a16="http://schemas.microsoft.com/office/drawing/2014/main" id="{FADA6170-315C-CBA0-727B-EAC6AFE1B64C}"/>
                    </a:ext>
                  </a:extLst>
                </p:cNvPr>
                <p:cNvSpPr>
                  <a:spLocks noChangeArrowheads="1"/>
                </p:cNvSpPr>
                <p:nvPr/>
              </p:nvSpPr>
              <p:spPr bwMode="auto">
                <a:xfrm>
                  <a:off x="568" y="3940"/>
                  <a:ext cx="63" cy="65"/>
                </a:xfrm>
                <a:prstGeom prst="ellipse">
                  <a:avLst/>
                </a:prstGeom>
                <a:grp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51" name="Text Box 29">
                <a:extLst>
                  <a:ext uri="{FF2B5EF4-FFF2-40B4-BE49-F238E27FC236}">
                    <a16:creationId xmlns:a16="http://schemas.microsoft.com/office/drawing/2014/main" id="{C28EC09F-C2DA-31ED-3B02-EA418FACC85D}"/>
                  </a:ext>
                </a:extLst>
              </p:cNvPr>
              <p:cNvSpPr txBox="1">
                <a:spLocks noChangeArrowheads="1"/>
              </p:cNvSpPr>
              <p:nvPr/>
            </p:nvSpPr>
            <p:spPr bwMode="auto">
              <a:xfrm>
                <a:off x="513" y="2152"/>
                <a:ext cx="308" cy="12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993423"/>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3234446"/>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grpSp>
        <p:nvGrpSpPr>
          <p:cNvPr id="9" name="Group 8">
            <a:extLst>
              <a:ext uri="{FF2B5EF4-FFF2-40B4-BE49-F238E27FC236}">
                <a16:creationId xmlns:a16="http://schemas.microsoft.com/office/drawing/2014/main" id="{36446149-367B-11F2-0457-36D9AB07D65D}"/>
              </a:ext>
            </a:extLst>
          </p:cNvPr>
          <p:cNvGrpSpPr/>
          <p:nvPr/>
        </p:nvGrpSpPr>
        <p:grpSpPr>
          <a:xfrm>
            <a:off x="940004" y="330919"/>
            <a:ext cx="6217883" cy="311851"/>
            <a:chOff x="940249" y="302538"/>
            <a:chExt cx="6219503" cy="311932"/>
          </a:xfrm>
        </p:grpSpPr>
        <p:sp>
          <p:nvSpPr>
            <p:cNvPr id="10" name="TextBox 9">
              <a:extLst>
                <a:ext uri="{FF2B5EF4-FFF2-40B4-BE49-F238E27FC236}">
                  <a16:creationId xmlns:a16="http://schemas.microsoft.com/office/drawing/2014/main" id="{FDF2027F-F075-8547-491D-5012BE32D2F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D2557A09-4B4B-D986-1782-3C6591DD001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58F5EF0C-2D55-68B1-AA88-66994F52F2F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C6EAD706-49C6-62F4-1436-571E2230BA4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E477C0D0-2A60-0D9C-4CAD-4F88A9233BB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11">
              <a:extLst>
                <a:ext uri="{FF2B5EF4-FFF2-40B4-BE49-F238E27FC236}">
                  <a16:creationId xmlns:a16="http://schemas.microsoft.com/office/drawing/2014/main" id="{620CEEC2-3FA1-E867-A09C-BB3058E8947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4" name="Slide Number Placeholder 2">
            <a:extLst>
              <a:ext uri="{FF2B5EF4-FFF2-40B4-BE49-F238E27FC236}">
                <a16:creationId xmlns:a16="http://schemas.microsoft.com/office/drawing/2014/main" id="{1D45048A-795E-5488-A211-FBA335575B6B}"/>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38</a:t>
            </a:fld>
            <a:endParaRPr lang="en-US" dirty="0"/>
          </a:p>
        </p:txBody>
      </p:sp>
    </p:spTree>
    <p:extLst>
      <p:ext uri="{BB962C8B-B14F-4D97-AF65-F5344CB8AC3E}">
        <p14:creationId xmlns:p14="http://schemas.microsoft.com/office/powerpoint/2010/main" val="216235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39</a:t>
            </a:fld>
            <a:endParaRPr lang="en-US" dirty="0"/>
          </a:p>
        </p:txBody>
      </p:sp>
    </p:spTree>
    <p:extLst>
      <p:ext uri="{BB962C8B-B14F-4D97-AF65-F5344CB8AC3E}">
        <p14:creationId xmlns:p14="http://schemas.microsoft.com/office/powerpoint/2010/main" val="300213573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What Defines a Process in VSM?</a:t>
            </a:r>
            <a:endParaRPr lang="en-US" dirty="0"/>
          </a:p>
        </p:txBody>
      </p:sp>
      <p:sp>
        <p:nvSpPr>
          <p:cNvPr id="12" name="TextBox 11">
            <a:extLst>
              <a:ext uri="{FF2B5EF4-FFF2-40B4-BE49-F238E27FC236}">
                <a16:creationId xmlns:a16="http://schemas.microsoft.com/office/drawing/2014/main" id="{881E21E2-B4E3-7FB6-C9D9-E73727E38C73}"/>
              </a:ext>
            </a:extLst>
          </p:cNvPr>
          <p:cNvSpPr txBox="1"/>
          <p:nvPr/>
        </p:nvSpPr>
        <p:spPr>
          <a:xfrm>
            <a:off x="593496" y="1869402"/>
            <a:ext cx="2933481" cy="3282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algn="l"/>
            <a:r>
              <a:rPr lang="en-US" dirty="0">
                <a:solidFill>
                  <a:srgbClr val="191C25"/>
                </a:solidFill>
                <a:latin typeface="Roboto" panose="02000000000000000000" pitchFamily="2" charset="0"/>
                <a:ea typeface="Roboto" panose="02000000000000000000" pitchFamily="2" charset="0"/>
              </a:rPr>
              <a:t>Mapping VSM Process Flow</a:t>
            </a:r>
          </a:p>
        </p:txBody>
      </p:sp>
      <p:sp>
        <p:nvSpPr>
          <p:cNvPr id="28" name="TextBox 27">
            <a:extLst>
              <a:ext uri="{FF2B5EF4-FFF2-40B4-BE49-F238E27FC236}">
                <a16:creationId xmlns:a16="http://schemas.microsoft.com/office/drawing/2014/main" id="{591714DC-EA96-DF71-71E6-EC62375142D7}"/>
              </a:ext>
            </a:extLst>
          </p:cNvPr>
          <p:cNvSpPr txBox="1"/>
          <p:nvPr/>
        </p:nvSpPr>
        <p:spPr>
          <a:xfrm>
            <a:off x="7125856" y="2572310"/>
            <a:ext cx="4633211" cy="337526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Processes are delineated wherever flow stops and where inventory has an opportunity to accumulate</a:t>
            </a:r>
          </a:p>
          <a:p>
            <a:pPr marL="457109" lvl="3"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Rule applies even if no inventory is actually observed</a:t>
            </a:r>
          </a:p>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Further breakdown of processes addressed as part of subsequent events</a:t>
            </a:r>
          </a:p>
        </p:txBody>
      </p:sp>
      <p:grpSp>
        <p:nvGrpSpPr>
          <p:cNvPr id="4" name="Group 6">
            <a:extLst>
              <a:ext uri="{FF2B5EF4-FFF2-40B4-BE49-F238E27FC236}">
                <a16:creationId xmlns:a16="http://schemas.microsoft.com/office/drawing/2014/main" id="{80E1A5A3-200A-363D-46C0-3720173E0BD3}"/>
              </a:ext>
            </a:extLst>
          </p:cNvPr>
          <p:cNvGrpSpPr>
            <a:grpSpLocks/>
          </p:cNvGrpSpPr>
          <p:nvPr/>
        </p:nvGrpSpPr>
        <p:grpSpPr bwMode="auto">
          <a:xfrm>
            <a:off x="593496" y="2839036"/>
            <a:ext cx="5680036" cy="1584823"/>
            <a:chOff x="336" y="1514"/>
            <a:chExt cx="3072" cy="1173"/>
          </a:xfrm>
        </p:grpSpPr>
        <p:sp>
          <p:nvSpPr>
            <p:cNvPr id="11" name="Line 7">
              <a:extLst>
                <a:ext uri="{FF2B5EF4-FFF2-40B4-BE49-F238E27FC236}">
                  <a16:creationId xmlns:a16="http://schemas.microsoft.com/office/drawing/2014/main" id="{08225F4A-99D3-0604-C907-F566844DE466}"/>
                </a:ext>
              </a:extLst>
            </p:cNvPr>
            <p:cNvSpPr>
              <a:spLocks noChangeShapeType="1"/>
            </p:cNvSpPr>
            <p:nvPr/>
          </p:nvSpPr>
          <p:spPr bwMode="auto">
            <a:xfrm>
              <a:off x="1331" y="2144"/>
              <a:ext cx="1069" cy="15"/>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4" name="AutoShape 8">
              <a:extLst>
                <a:ext uri="{FF2B5EF4-FFF2-40B4-BE49-F238E27FC236}">
                  <a16:creationId xmlns:a16="http://schemas.microsoft.com/office/drawing/2014/main" id="{44EE0103-8BC9-587A-AB90-C36B818B78F2}"/>
                </a:ext>
              </a:extLst>
            </p:cNvPr>
            <p:cNvSpPr>
              <a:spLocks noChangeArrowheads="1"/>
            </p:cNvSpPr>
            <p:nvPr/>
          </p:nvSpPr>
          <p:spPr bwMode="auto">
            <a:xfrm>
              <a:off x="1653" y="1779"/>
              <a:ext cx="388" cy="576"/>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a:solidFill>
                    <a:schemeClr val="tx1"/>
                  </a:solidFill>
                  <a:latin typeface="Roboto" panose="02000000000000000000" pitchFamily="2" charset="0"/>
                  <a:ea typeface="Roboto" panose="02000000000000000000" pitchFamily="2" charset="0"/>
                </a:rPr>
                <a:t>I</a:t>
              </a:r>
            </a:p>
          </p:txBody>
        </p:sp>
        <p:grpSp>
          <p:nvGrpSpPr>
            <p:cNvPr id="15" name="Group 9">
              <a:extLst>
                <a:ext uri="{FF2B5EF4-FFF2-40B4-BE49-F238E27FC236}">
                  <a16:creationId xmlns:a16="http://schemas.microsoft.com/office/drawing/2014/main" id="{AFBAD6DE-301C-120F-D3E2-BCB29A8EC078}"/>
                </a:ext>
              </a:extLst>
            </p:cNvPr>
            <p:cNvGrpSpPr>
              <a:grpSpLocks/>
            </p:cNvGrpSpPr>
            <p:nvPr/>
          </p:nvGrpSpPr>
          <p:grpSpPr bwMode="auto">
            <a:xfrm>
              <a:off x="336" y="1528"/>
              <a:ext cx="969" cy="1085"/>
              <a:chOff x="418" y="2981"/>
              <a:chExt cx="352" cy="365"/>
            </a:xfrm>
          </p:grpSpPr>
          <p:sp>
            <p:nvSpPr>
              <p:cNvPr id="40" name="Rectangle 10">
                <a:extLst>
                  <a:ext uri="{FF2B5EF4-FFF2-40B4-BE49-F238E27FC236}">
                    <a16:creationId xmlns:a16="http://schemas.microsoft.com/office/drawing/2014/main" id="{E6D9FE01-79C1-721D-7E78-C38016739F1D}"/>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1" name="Line 11">
                <a:extLst>
                  <a:ext uri="{FF2B5EF4-FFF2-40B4-BE49-F238E27FC236}">
                    <a16:creationId xmlns:a16="http://schemas.microsoft.com/office/drawing/2014/main" id="{61F15C9D-01B5-1099-D18A-BF07407B19B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7" name="Group 12">
              <a:extLst>
                <a:ext uri="{FF2B5EF4-FFF2-40B4-BE49-F238E27FC236}">
                  <a16:creationId xmlns:a16="http://schemas.microsoft.com/office/drawing/2014/main" id="{2A4340DE-15B4-34B2-8446-55F7FFC1B339}"/>
                </a:ext>
              </a:extLst>
            </p:cNvPr>
            <p:cNvGrpSpPr>
              <a:grpSpLocks/>
            </p:cNvGrpSpPr>
            <p:nvPr/>
          </p:nvGrpSpPr>
          <p:grpSpPr bwMode="auto">
            <a:xfrm flipV="1">
              <a:off x="548" y="2096"/>
              <a:ext cx="214" cy="333"/>
              <a:chOff x="720" y="3354"/>
              <a:chExt cx="192" cy="198"/>
            </a:xfrm>
          </p:grpSpPr>
          <p:sp>
            <p:nvSpPr>
              <p:cNvPr id="38" name="Oval 13">
                <a:extLst>
                  <a:ext uri="{FF2B5EF4-FFF2-40B4-BE49-F238E27FC236}">
                    <a16:creationId xmlns:a16="http://schemas.microsoft.com/office/drawing/2014/main" id="{EC1254B8-A85B-C14A-B016-8961A1C3E9A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9" name="AutoShape 14">
                <a:extLst>
                  <a:ext uri="{FF2B5EF4-FFF2-40B4-BE49-F238E27FC236}">
                    <a16:creationId xmlns:a16="http://schemas.microsoft.com/office/drawing/2014/main" id="{DC79C4D1-083B-6C29-FCCC-DAE5523B6EE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21" name="Text Box 15">
              <a:extLst>
                <a:ext uri="{FF2B5EF4-FFF2-40B4-BE49-F238E27FC236}">
                  <a16:creationId xmlns:a16="http://schemas.microsoft.com/office/drawing/2014/main" id="{2CA098AF-C137-F8A8-CD75-DE3F7D5CB90D}"/>
                </a:ext>
              </a:extLst>
            </p:cNvPr>
            <p:cNvSpPr txBox="1">
              <a:spLocks noChangeArrowheads="1"/>
            </p:cNvSpPr>
            <p:nvPr/>
          </p:nvSpPr>
          <p:spPr bwMode="auto">
            <a:xfrm>
              <a:off x="844" y="2150"/>
              <a:ext cx="27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chemeClr val="tx1"/>
                  </a:solidFill>
                  <a:latin typeface="Roboto" panose="02000000000000000000" pitchFamily="2" charset="0"/>
                  <a:ea typeface="Roboto" panose="02000000000000000000" pitchFamily="2" charset="0"/>
                </a:rPr>
                <a:t>= 3</a:t>
              </a:r>
            </a:p>
          </p:txBody>
        </p:sp>
        <p:sp>
          <p:nvSpPr>
            <p:cNvPr id="27" name="Text Box 16">
              <a:extLst>
                <a:ext uri="{FF2B5EF4-FFF2-40B4-BE49-F238E27FC236}">
                  <a16:creationId xmlns:a16="http://schemas.microsoft.com/office/drawing/2014/main" id="{E0C406BB-468B-2FB2-3ACE-AD3F94EA8893}"/>
                </a:ext>
              </a:extLst>
            </p:cNvPr>
            <p:cNvSpPr txBox="1">
              <a:spLocks noChangeArrowheads="1"/>
            </p:cNvSpPr>
            <p:nvPr/>
          </p:nvSpPr>
          <p:spPr bwMode="auto">
            <a:xfrm>
              <a:off x="369" y="1574"/>
              <a:ext cx="90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chemeClr val="tx1"/>
                  </a:solidFill>
                  <a:latin typeface="Roboto" panose="02000000000000000000" pitchFamily="2" charset="0"/>
                  <a:ea typeface="Roboto" panose="02000000000000000000" pitchFamily="2" charset="0"/>
                </a:rPr>
                <a:t>Process 1</a:t>
              </a:r>
            </a:p>
          </p:txBody>
        </p:sp>
        <p:grpSp>
          <p:nvGrpSpPr>
            <p:cNvPr id="29" name="Group 17">
              <a:extLst>
                <a:ext uri="{FF2B5EF4-FFF2-40B4-BE49-F238E27FC236}">
                  <a16:creationId xmlns:a16="http://schemas.microsoft.com/office/drawing/2014/main" id="{91AC29D2-7BB6-A12B-5FF5-C343E19B29E0}"/>
                </a:ext>
              </a:extLst>
            </p:cNvPr>
            <p:cNvGrpSpPr>
              <a:grpSpLocks/>
            </p:cNvGrpSpPr>
            <p:nvPr/>
          </p:nvGrpSpPr>
          <p:grpSpPr bwMode="auto">
            <a:xfrm>
              <a:off x="2439" y="1514"/>
              <a:ext cx="969" cy="1085"/>
              <a:chOff x="418" y="2981"/>
              <a:chExt cx="352" cy="365"/>
            </a:xfrm>
          </p:grpSpPr>
          <p:sp>
            <p:nvSpPr>
              <p:cNvPr id="36" name="Rectangle 18">
                <a:extLst>
                  <a:ext uri="{FF2B5EF4-FFF2-40B4-BE49-F238E27FC236}">
                    <a16:creationId xmlns:a16="http://schemas.microsoft.com/office/drawing/2014/main" id="{087878D0-D9B5-AFE7-A194-1BB7E3067C46}"/>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7" name="Line 19">
                <a:extLst>
                  <a:ext uri="{FF2B5EF4-FFF2-40B4-BE49-F238E27FC236}">
                    <a16:creationId xmlns:a16="http://schemas.microsoft.com/office/drawing/2014/main" id="{3CAB7F99-6CA4-B986-E7CC-3110106E3839}"/>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30" name="Group 20">
              <a:extLst>
                <a:ext uri="{FF2B5EF4-FFF2-40B4-BE49-F238E27FC236}">
                  <a16:creationId xmlns:a16="http://schemas.microsoft.com/office/drawing/2014/main" id="{2AB00FB5-FA88-EF16-BABF-0CFD8DA86E0C}"/>
                </a:ext>
              </a:extLst>
            </p:cNvPr>
            <p:cNvGrpSpPr>
              <a:grpSpLocks/>
            </p:cNvGrpSpPr>
            <p:nvPr/>
          </p:nvGrpSpPr>
          <p:grpSpPr bwMode="auto">
            <a:xfrm flipV="1">
              <a:off x="2651" y="2082"/>
              <a:ext cx="214" cy="333"/>
              <a:chOff x="720" y="3354"/>
              <a:chExt cx="192" cy="198"/>
            </a:xfrm>
          </p:grpSpPr>
          <p:sp>
            <p:nvSpPr>
              <p:cNvPr id="34" name="Oval 21">
                <a:extLst>
                  <a:ext uri="{FF2B5EF4-FFF2-40B4-BE49-F238E27FC236}">
                    <a16:creationId xmlns:a16="http://schemas.microsoft.com/office/drawing/2014/main" id="{FE12C64F-4CCA-3A04-54D9-BE96729297E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5" name="AutoShape 22">
                <a:extLst>
                  <a:ext uri="{FF2B5EF4-FFF2-40B4-BE49-F238E27FC236}">
                    <a16:creationId xmlns:a16="http://schemas.microsoft.com/office/drawing/2014/main" id="{AAA6E686-DC7D-CE73-BD1E-1A019AA58D64}"/>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31" name="Text Box 23">
              <a:extLst>
                <a:ext uri="{FF2B5EF4-FFF2-40B4-BE49-F238E27FC236}">
                  <a16:creationId xmlns:a16="http://schemas.microsoft.com/office/drawing/2014/main" id="{1C09EC92-F3B8-C9F9-A5BF-F9B017D7B357}"/>
                </a:ext>
              </a:extLst>
            </p:cNvPr>
            <p:cNvSpPr txBox="1">
              <a:spLocks noChangeArrowheads="1"/>
            </p:cNvSpPr>
            <p:nvPr/>
          </p:nvSpPr>
          <p:spPr bwMode="auto">
            <a:xfrm>
              <a:off x="2946" y="2150"/>
              <a:ext cx="27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chemeClr val="tx1"/>
                  </a:solidFill>
                  <a:latin typeface="Roboto" panose="02000000000000000000" pitchFamily="2" charset="0"/>
                  <a:ea typeface="Roboto" panose="02000000000000000000" pitchFamily="2" charset="0"/>
                </a:rPr>
                <a:t>= 2</a:t>
              </a:r>
            </a:p>
          </p:txBody>
        </p:sp>
        <p:sp>
          <p:nvSpPr>
            <p:cNvPr id="32" name="Text Box 24">
              <a:extLst>
                <a:ext uri="{FF2B5EF4-FFF2-40B4-BE49-F238E27FC236}">
                  <a16:creationId xmlns:a16="http://schemas.microsoft.com/office/drawing/2014/main" id="{89B86A45-6946-B4BC-3818-B62880C441BB}"/>
                </a:ext>
              </a:extLst>
            </p:cNvPr>
            <p:cNvSpPr txBox="1">
              <a:spLocks noChangeArrowheads="1"/>
            </p:cNvSpPr>
            <p:nvPr/>
          </p:nvSpPr>
          <p:spPr bwMode="auto">
            <a:xfrm>
              <a:off x="2472" y="1574"/>
              <a:ext cx="90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chemeClr val="tx1"/>
                  </a:solidFill>
                  <a:latin typeface="Roboto" panose="02000000000000000000" pitchFamily="2" charset="0"/>
                  <a:ea typeface="Roboto" panose="02000000000000000000" pitchFamily="2" charset="0"/>
                </a:rPr>
                <a:t>Process 2</a:t>
              </a:r>
            </a:p>
          </p:txBody>
        </p:sp>
        <p:sp>
          <p:nvSpPr>
            <p:cNvPr id="33" name="Rectangle 25">
              <a:extLst>
                <a:ext uri="{FF2B5EF4-FFF2-40B4-BE49-F238E27FC236}">
                  <a16:creationId xmlns:a16="http://schemas.microsoft.com/office/drawing/2014/main" id="{924401ED-90D1-D377-A46C-B6945B9DA19E}"/>
                </a:ext>
              </a:extLst>
            </p:cNvPr>
            <p:cNvSpPr>
              <a:spLocks noChangeArrowheads="1"/>
            </p:cNvSpPr>
            <p:nvPr/>
          </p:nvSpPr>
          <p:spPr bwMode="auto">
            <a:xfrm>
              <a:off x="1537" y="2391"/>
              <a:ext cx="754"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2000" b="0" dirty="0">
                  <a:solidFill>
                    <a:srgbClr val="EE3228"/>
                  </a:solidFill>
                  <a:latin typeface="Roboto" panose="02000000000000000000" pitchFamily="2" charset="0"/>
                  <a:ea typeface="Roboto" panose="02000000000000000000" pitchFamily="2" charset="0"/>
                </a:rPr>
                <a:t>xxx Pieces</a:t>
              </a:r>
            </a:p>
          </p:txBody>
        </p:sp>
      </p:grpSp>
      <p:grpSp>
        <p:nvGrpSpPr>
          <p:cNvPr id="3" name="Group 2">
            <a:extLst>
              <a:ext uri="{FF2B5EF4-FFF2-40B4-BE49-F238E27FC236}">
                <a16:creationId xmlns:a16="http://schemas.microsoft.com/office/drawing/2014/main" id="{B51DD5B6-764C-8A50-5D2A-8FD0FDB3A27D}"/>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8E2ABD18-10EE-8746-8163-785F7E35DCA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6" name="AutoShape 9">
              <a:extLst>
                <a:ext uri="{FF2B5EF4-FFF2-40B4-BE49-F238E27FC236}">
                  <a16:creationId xmlns:a16="http://schemas.microsoft.com/office/drawing/2014/main" id="{0926A588-01C9-A388-E3FF-6CCE549CDCA9}"/>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4C6F24AB-A0F2-1549-3EC1-A461C7A3F4C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09858EA5-8F5B-10A5-09F6-E55C91CD353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9E6FEF1-3FEC-6EB7-BBBA-4003C2083A6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11">
              <a:extLst>
                <a:ext uri="{FF2B5EF4-FFF2-40B4-BE49-F238E27FC236}">
                  <a16:creationId xmlns:a16="http://schemas.microsoft.com/office/drawing/2014/main" id="{A2DC79C7-DF93-D1FC-8049-6B69E7A6FFB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3" name="Slide Number Placeholder 2">
            <a:extLst>
              <a:ext uri="{FF2B5EF4-FFF2-40B4-BE49-F238E27FC236}">
                <a16:creationId xmlns:a16="http://schemas.microsoft.com/office/drawing/2014/main" id="{15E1548D-8687-DB8A-E3CF-4B4E416AE49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40</a:t>
            </a:fld>
            <a:endParaRPr lang="en-US" dirty="0"/>
          </a:p>
        </p:txBody>
      </p:sp>
    </p:spTree>
    <p:extLst>
      <p:ext uri="{BB962C8B-B14F-4D97-AF65-F5344CB8AC3E}">
        <p14:creationId xmlns:p14="http://schemas.microsoft.com/office/powerpoint/2010/main" val="365984837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Mapping Processes</a:t>
            </a:r>
            <a:endParaRPr lang="en-US"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914243" y="2053996"/>
            <a:ext cx="4633211" cy="115927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Ship</a:t>
            </a:r>
          </a:p>
          <a:p>
            <a:pPr marL="457109" lvl="3"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Daily orders are shipped daily by truck</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2494753" y="1757232"/>
            <a:ext cx="8196830" cy="3060591"/>
            <a:chOff x="8877714" y="3513592"/>
            <a:chExt cx="6159501" cy="1811337"/>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588737" y="3513592"/>
              <a:ext cx="1219271" cy="236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8877714" y="3797752"/>
              <a:ext cx="6127751" cy="449261"/>
              <a:chOff x="1623" y="1148"/>
              <a:chExt cx="3860" cy="283"/>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a:off x="1623" y="1148"/>
                <a:ext cx="2803" cy="171"/>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Ship</a:t>
                </a:r>
              </a:p>
            </p:txBody>
          </p:sp>
        </p:grpSp>
      </p:grpSp>
      <p:grpSp>
        <p:nvGrpSpPr>
          <p:cNvPr id="11" name="Group 10">
            <a:extLst>
              <a:ext uri="{FF2B5EF4-FFF2-40B4-BE49-F238E27FC236}">
                <a16:creationId xmlns:a16="http://schemas.microsoft.com/office/drawing/2014/main" id="{94607648-BED6-ABB0-EA36-49A1C942E99A}"/>
              </a:ext>
            </a:extLst>
          </p:cNvPr>
          <p:cNvGrpSpPr/>
          <p:nvPr/>
        </p:nvGrpSpPr>
        <p:grpSpPr>
          <a:xfrm>
            <a:off x="940004" y="330919"/>
            <a:ext cx="6217883" cy="311851"/>
            <a:chOff x="940249" y="302538"/>
            <a:chExt cx="6219503" cy="311932"/>
          </a:xfrm>
        </p:grpSpPr>
        <p:sp>
          <p:nvSpPr>
            <p:cNvPr id="12" name="TextBox 11">
              <a:extLst>
                <a:ext uri="{FF2B5EF4-FFF2-40B4-BE49-F238E27FC236}">
                  <a16:creationId xmlns:a16="http://schemas.microsoft.com/office/drawing/2014/main" id="{57C2BB06-91DE-FCB1-7D55-45780106911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FEC2BCCC-CFA4-6214-D3D9-BBF900CE6B0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02346A6A-1507-F1C2-C15B-9A1307F7C02F}"/>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71A117E9-42B1-F240-BF69-5AF857E0B4C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E8FFAC5F-6CDD-608D-8128-C6D081E5931C}"/>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479F448F-2291-0620-E2BF-7DED9F1A98F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7" name="Slide Number Placeholder 2">
            <a:extLst>
              <a:ext uri="{FF2B5EF4-FFF2-40B4-BE49-F238E27FC236}">
                <a16:creationId xmlns:a16="http://schemas.microsoft.com/office/drawing/2014/main" id="{5F4CFE91-4EB3-B19B-2534-52CDD0EAD94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41</a:t>
            </a:fld>
            <a:endParaRPr lang="en-US" dirty="0"/>
          </a:p>
        </p:txBody>
      </p:sp>
    </p:spTree>
    <p:extLst>
      <p:ext uri="{BB962C8B-B14F-4D97-AF65-F5344CB8AC3E}">
        <p14:creationId xmlns:p14="http://schemas.microsoft.com/office/powerpoint/2010/main" val="94158713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Mapping Processes</a:t>
            </a:r>
            <a:endParaRPr lang="en-US"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914243" y="2124199"/>
            <a:ext cx="4633211" cy="18979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Brake Form</a:t>
            </a:r>
          </a:p>
          <a:p>
            <a:pPr marL="457109" lvl="3"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Stamped pieces are formed into enclosures using a </a:t>
            </a:r>
            <a:r>
              <a:rPr lang="en-US" sz="2400" dirty="0">
                <a:solidFill>
                  <a:srgbClr val="EE3228"/>
                </a:solidFill>
                <a:latin typeface="Roboto" panose="02000000000000000000" pitchFamily="2" charset="0"/>
                <a:ea typeface="Roboto" panose="02000000000000000000" pitchFamily="2" charset="0"/>
              </a:rPr>
              <a:t>brake form</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5484061" y="1757232"/>
            <a:ext cx="5207522" cy="3060591"/>
            <a:chOff x="11124027" y="3513592"/>
            <a:chExt cx="3913188" cy="1811337"/>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588737" y="3513592"/>
              <a:ext cx="1219271" cy="236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11124027" y="3919989"/>
              <a:ext cx="3881438" cy="327024"/>
              <a:chOff x="3038" y="1225"/>
              <a:chExt cx="2445" cy="206"/>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a:off x="3038" y="1238"/>
                <a:ext cx="1362" cy="57"/>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Brake Form</a:t>
                </a:r>
              </a:p>
            </p:txBody>
          </p:sp>
        </p:grpSp>
      </p:grpSp>
      <p:grpSp>
        <p:nvGrpSpPr>
          <p:cNvPr id="4" name="Group 3">
            <a:extLst>
              <a:ext uri="{FF2B5EF4-FFF2-40B4-BE49-F238E27FC236}">
                <a16:creationId xmlns:a16="http://schemas.microsoft.com/office/drawing/2014/main" id="{8B215CAD-8287-C94E-6890-8E834E641C4B}"/>
              </a:ext>
            </a:extLst>
          </p:cNvPr>
          <p:cNvGrpSpPr/>
          <p:nvPr/>
        </p:nvGrpSpPr>
        <p:grpSpPr>
          <a:xfrm>
            <a:off x="940004" y="330919"/>
            <a:ext cx="6217883" cy="311851"/>
            <a:chOff x="940249" y="302538"/>
            <a:chExt cx="6219503" cy="311932"/>
          </a:xfrm>
        </p:grpSpPr>
        <p:sp>
          <p:nvSpPr>
            <p:cNvPr id="11" name="TextBox 10">
              <a:extLst>
                <a:ext uri="{FF2B5EF4-FFF2-40B4-BE49-F238E27FC236}">
                  <a16:creationId xmlns:a16="http://schemas.microsoft.com/office/drawing/2014/main" id="{0C1340C4-6640-7EF6-EE2E-5EE225190E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D75997B6-7FCE-242C-756F-0BF07D0D1A7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05B3DFCC-708C-F058-8E55-434D34134A2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F12611CB-FBD7-9F03-7A0D-7DD9678AD9B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FD1A2A14-E607-3190-9766-ABD87C78A9D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77A94009-DB2C-6E49-6BEA-693BEA9DF8E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4" name="Slide Number Placeholder 2">
            <a:extLst>
              <a:ext uri="{FF2B5EF4-FFF2-40B4-BE49-F238E27FC236}">
                <a16:creationId xmlns:a16="http://schemas.microsoft.com/office/drawing/2014/main" id="{81C2F7B3-6C94-6B73-2277-355146E01464}"/>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42</a:t>
            </a:fld>
            <a:endParaRPr lang="en-US" dirty="0"/>
          </a:p>
        </p:txBody>
      </p:sp>
    </p:spTree>
    <p:extLst>
      <p:ext uri="{BB962C8B-B14F-4D97-AF65-F5344CB8AC3E}">
        <p14:creationId xmlns:p14="http://schemas.microsoft.com/office/powerpoint/2010/main" val="21481221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Mapping Processes</a:t>
            </a:r>
            <a:endParaRPr lang="en-US"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914243" y="2111098"/>
            <a:ext cx="4633211" cy="263660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a:t>
            </a:r>
            <a:r>
              <a:rPr lang="en-US" sz="2400" dirty="0">
                <a:solidFill>
                  <a:srgbClr val="EE3228"/>
                </a:solidFill>
                <a:latin typeface="Roboto" panose="02000000000000000000" pitchFamily="2" charset="0"/>
                <a:ea typeface="Roboto" panose="02000000000000000000" pitchFamily="2" charset="0"/>
              </a:rPr>
              <a:t>Stamp</a:t>
            </a:r>
          </a:p>
          <a:p>
            <a:pPr marL="457109"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Cut sheet metal pieces are stamped by machine to add features such as holes, slots and bend tabs</a:t>
            </a:r>
          </a:p>
          <a:p>
            <a:pPr marL="457109"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There is a single stamping press</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5484061" y="1757232"/>
            <a:ext cx="5207522" cy="3060591"/>
            <a:chOff x="11124027" y="3513592"/>
            <a:chExt cx="3913188" cy="1811337"/>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588737" y="3513592"/>
              <a:ext cx="1219271" cy="236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11124027" y="3919989"/>
              <a:ext cx="3881438" cy="327024"/>
              <a:chOff x="3038" y="1225"/>
              <a:chExt cx="2445" cy="206"/>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a:off x="3038" y="1238"/>
                <a:ext cx="1362" cy="57"/>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Stamp</a:t>
                </a:r>
              </a:p>
            </p:txBody>
          </p:sp>
        </p:grpSp>
      </p:grpSp>
      <p:grpSp>
        <p:nvGrpSpPr>
          <p:cNvPr id="4" name="Group 3">
            <a:extLst>
              <a:ext uri="{FF2B5EF4-FFF2-40B4-BE49-F238E27FC236}">
                <a16:creationId xmlns:a16="http://schemas.microsoft.com/office/drawing/2014/main" id="{41BD78FD-1B90-BE74-3DED-46CF7DB6D01C}"/>
              </a:ext>
            </a:extLst>
          </p:cNvPr>
          <p:cNvGrpSpPr/>
          <p:nvPr/>
        </p:nvGrpSpPr>
        <p:grpSpPr>
          <a:xfrm>
            <a:off x="940004" y="330919"/>
            <a:ext cx="6217883" cy="311851"/>
            <a:chOff x="940249" y="302538"/>
            <a:chExt cx="6219503" cy="311932"/>
          </a:xfrm>
        </p:grpSpPr>
        <p:sp>
          <p:nvSpPr>
            <p:cNvPr id="11" name="TextBox 10">
              <a:extLst>
                <a:ext uri="{FF2B5EF4-FFF2-40B4-BE49-F238E27FC236}">
                  <a16:creationId xmlns:a16="http://schemas.microsoft.com/office/drawing/2014/main" id="{E1A2BD49-4419-383A-688E-20D07EC86E9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190E3484-F41E-54D9-2950-C3B9C8F4175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34171686-4258-4EF7-301C-82F96C0E2D8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F5A43F86-BFEE-AF9F-B71C-8C2114353BA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226D24BB-D562-29BE-C684-04EA110F5D1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30DB4330-F378-916B-8BEE-ADC813D7B9F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4" name="Slide Number Placeholder 2">
            <a:extLst>
              <a:ext uri="{FF2B5EF4-FFF2-40B4-BE49-F238E27FC236}">
                <a16:creationId xmlns:a16="http://schemas.microsoft.com/office/drawing/2014/main" id="{2FAF8A66-AA64-377A-3670-0687346E686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43</a:t>
            </a:fld>
            <a:endParaRPr lang="en-US" dirty="0"/>
          </a:p>
        </p:txBody>
      </p:sp>
    </p:spTree>
    <p:extLst>
      <p:ext uri="{BB962C8B-B14F-4D97-AF65-F5344CB8AC3E}">
        <p14:creationId xmlns:p14="http://schemas.microsoft.com/office/powerpoint/2010/main" val="262058644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lstStyle/>
          <a:p>
            <a:r>
              <a:rPr lang="en-US" altLang="en-US" dirty="0"/>
              <a:t>Mapping Processes</a:t>
            </a:r>
            <a:endParaRPr lang="en-US"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914243" y="2363449"/>
            <a:ext cx="4633211" cy="152860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a:t>
            </a:r>
            <a:r>
              <a:rPr lang="en-US" sz="2400" dirty="0">
                <a:solidFill>
                  <a:srgbClr val="EE3228"/>
                </a:solidFill>
                <a:latin typeface="Roboto" panose="02000000000000000000" pitchFamily="2" charset="0"/>
                <a:ea typeface="Roboto" panose="02000000000000000000" pitchFamily="2" charset="0"/>
              </a:rPr>
              <a:t>Cut</a:t>
            </a:r>
          </a:p>
          <a:p>
            <a:pPr marL="457109"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Purchased sheets of aluminum are cut to size in the cutting department</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5484061" y="1757232"/>
            <a:ext cx="5207522" cy="3060591"/>
            <a:chOff x="11124027" y="3513592"/>
            <a:chExt cx="3913188" cy="1811337"/>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588737" y="3513592"/>
              <a:ext cx="1219271" cy="236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11124027" y="3919989"/>
              <a:ext cx="3881438" cy="327024"/>
              <a:chOff x="3038" y="1225"/>
              <a:chExt cx="2445" cy="206"/>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a:off x="3038" y="1238"/>
                <a:ext cx="1362" cy="57"/>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Cut</a:t>
                </a:r>
              </a:p>
            </p:txBody>
          </p:sp>
        </p:grpSp>
      </p:grpSp>
      <p:grpSp>
        <p:nvGrpSpPr>
          <p:cNvPr id="11" name="Group 10">
            <a:extLst>
              <a:ext uri="{FF2B5EF4-FFF2-40B4-BE49-F238E27FC236}">
                <a16:creationId xmlns:a16="http://schemas.microsoft.com/office/drawing/2014/main" id="{F10A9D2F-6F67-9634-A092-D9E472DEB2DB}"/>
              </a:ext>
            </a:extLst>
          </p:cNvPr>
          <p:cNvGrpSpPr/>
          <p:nvPr/>
        </p:nvGrpSpPr>
        <p:grpSpPr>
          <a:xfrm>
            <a:off x="940004" y="330919"/>
            <a:ext cx="6217883" cy="311851"/>
            <a:chOff x="940249" y="302538"/>
            <a:chExt cx="6219503" cy="311932"/>
          </a:xfrm>
        </p:grpSpPr>
        <p:sp>
          <p:nvSpPr>
            <p:cNvPr id="12" name="TextBox 11">
              <a:extLst>
                <a:ext uri="{FF2B5EF4-FFF2-40B4-BE49-F238E27FC236}">
                  <a16:creationId xmlns:a16="http://schemas.microsoft.com/office/drawing/2014/main" id="{E0262BC4-E691-5453-CEC5-9E1C2991FC8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53F91164-C51C-65E3-FD54-AB9CF0D6E62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46C7003B-311E-A468-7312-60333198C95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721C9839-F1B6-244A-2AAE-49D66FE727C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F5D1F5A8-73C2-C02B-91A8-700418DCD1B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7EF5AF2D-C8D5-6E6B-AD4C-75A07660BAC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7" name="Slide Number Placeholder 2">
            <a:extLst>
              <a:ext uri="{FF2B5EF4-FFF2-40B4-BE49-F238E27FC236}">
                <a16:creationId xmlns:a16="http://schemas.microsoft.com/office/drawing/2014/main" id="{43AB0FF2-808D-4BAE-213D-9CC5DC8B292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44</a:t>
            </a:fld>
            <a:endParaRPr lang="en-US" dirty="0"/>
          </a:p>
        </p:txBody>
      </p:sp>
    </p:spTree>
    <p:extLst>
      <p:ext uri="{BB962C8B-B14F-4D97-AF65-F5344CB8AC3E}">
        <p14:creationId xmlns:p14="http://schemas.microsoft.com/office/powerpoint/2010/main" val="194635597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sz="3200" dirty="0"/>
              <a:t>Case Study Example: 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72018" y="1841955"/>
            <a:ext cx="10285631" cy="4356371"/>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latin typeface="Roboto" panose="02000000000000000000" pitchFamily="2" charset="0"/>
                <a:ea typeface="Roboto" panose="02000000000000000000" pitchFamily="2" charset="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2061"/>
              <a:ext cx="833438" cy="644525"/>
              <a:chOff x="4424" y="2395"/>
              <a:chExt cx="525" cy="406"/>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91"/>
                <a:chOff x="418" y="2981"/>
                <a:chExt cx="352" cy="391"/>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91"/>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18" y="315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39" y="2395"/>
                <a:ext cx="492" cy="186"/>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06450" cy="622301"/>
              <a:chOff x="474" y="1322"/>
              <a:chExt cx="508" cy="392"/>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92"/>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rPr>
                  <a:t>Ed</a:t>
                </a:r>
                <a:r>
                  <a:rPr lang="ja-JP" altLang="en-US" sz="700" b="0" dirty="0">
                    <a:solidFill>
                      <a:schemeClr val="tx1"/>
                    </a:solidFill>
                    <a:latin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526496" cy="360000"/>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pitchFamily="2" charset="0"/>
                  <a:ea typeface="Roboto" panose="02000000000000000000" pitchFamily="2" charset="0"/>
                </a:rPr>
                <a:t>Mike</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s Metal Enclosures (MME)</a:t>
              </a:r>
              <a:endParaRPr lang="en-US" altLang="en-US" sz="1600" dirty="0">
                <a:solidFill>
                  <a:schemeClr val="tx1"/>
                </a:solidFill>
                <a:latin typeface="Roboto" panose="02000000000000000000" pitchFamily="2" charset="0"/>
                <a:ea typeface="Roboto" panose="02000000000000000000" pitchFamily="2" charset="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67090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8217" y="2827550"/>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63364" y="3068573"/>
            <a:ext cx="811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4135334"/>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4372576"/>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50977" y="412012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grpSp>
        <p:nvGrpSpPr>
          <p:cNvPr id="9" name="Group 8">
            <a:extLst>
              <a:ext uri="{FF2B5EF4-FFF2-40B4-BE49-F238E27FC236}">
                <a16:creationId xmlns:a16="http://schemas.microsoft.com/office/drawing/2014/main" id="{788BD0D0-71E2-E222-66C7-A6E25E097774}"/>
              </a:ext>
            </a:extLst>
          </p:cNvPr>
          <p:cNvGrpSpPr/>
          <p:nvPr/>
        </p:nvGrpSpPr>
        <p:grpSpPr>
          <a:xfrm>
            <a:off x="940004" y="330919"/>
            <a:ext cx="6217883" cy="311851"/>
            <a:chOff x="940249" y="302538"/>
            <a:chExt cx="6219503" cy="311932"/>
          </a:xfrm>
        </p:grpSpPr>
        <p:sp>
          <p:nvSpPr>
            <p:cNvPr id="21" name="TextBox 20">
              <a:extLst>
                <a:ext uri="{FF2B5EF4-FFF2-40B4-BE49-F238E27FC236}">
                  <a16:creationId xmlns:a16="http://schemas.microsoft.com/office/drawing/2014/main" id="{7DB587FE-6DAE-89DE-DA54-394C2E70016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6B521CAB-EDB5-A653-7825-4C023BFF743D}"/>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0" name="AutoShape 9">
              <a:extLst>
                <a:ext uri="{FF2B5EF4-FFF2-40B4-BE49-F238E27FC236}">
                  <a16:creationId xmlns:a16="http://schemas.microsoft.com/office/drawing/2014/main" id="{63C5D469-0C68-6D62-C511-F40EB7175D7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9" name="AutoShape 9">
              <a:extLst>
                <a:ext uri="{FF2B5EF4-FFF2-40B4-BE49-F238E27FC236}">
                  <a16:creationId xmlns:a16="http://schemas.microsoft.com/office/drawing/2014/main" id="{95B112E8-9FFB-AEA1-8D1D-EA9F2F9C766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0" name="AutoShape 9">
              <a:extLst>
                <a:ext uri="{FF2B5EF4-FFF2-40B4-BE49-F238E27FC236}">
                  <a16:creationId xmlns:a16="http://schemas.microsoft.com/office/drawing/2014/main" id="{0A95588F-F8DF-F880-BAE6-0CCCCF25D2E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1" name="AutoShape 11">
              <a:extLst>
                <a:ext uri="{FF2B5EF4-FFF2-40B4-BE49-F238E27FC236}">
                  <a16:creationId xmlns:a16="http://schemas.microsoft.com/office/drawing/2014/main" id="{E273FD59-20E7-435F-48BC-8507164A143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52" name="Slide Number Placeholder 2">
            <a:extLst>
              <a:ext uri="{FF2B5EF4-FFF2-40B4-BE49-F238E27FC236}">
                <a16:creationId xmlns:a16="http://schemas.microsoft.com/office/drawing/2014/main" id="{50659950-C1B9-08B8-38F9-14AFB131ADE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45</a:t>
            </a:fld>
            <a:endParaRPr lang="en-US" dirty="0"/>
          </a:p>
        </p:txBody>
      </p:sp>
      <p:sp>
        <p:nvSpPr>
          <p:cNvPr id="53" name="Rectangle 7">
            <a:extLst>
              <a:ext uri="{FF2B5EF4-FFF2-40B4-BE49-F238E27FC236}">
                <a16:creationId xmlns:a16="http://schemas.microsoft.com/office/drawing/2014/main" id="{283626A9-1CDB-9464-6676-0988AD395A7D}"/>
              </a:ext>
            </a:extLst>
          </p:cNvPr>
          <p:cNvSpPr>
            <a:spLocks noChangeArrowheads="1"/>
          </p:cNvSpPr>
          <p:nvPr/>
        </p:nvSpPr>
        <p:spPr bwMode="auto">
          <a:xfrm>
            <a:off x="4211797" y="4135334"/>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4" name="Line 8">
            <a:extLst>
              <a:ext uri="{FF2B5EF4-FFF2-40B4-BE49-F238E27FC236}">
                <a16:creationId xmlns:a16="http://schemas.microsoft.com/office/drawing/2014/main" id="{4494088E-5A9E-F4E1-9E47-70E5922F1C3A}"/>
              </a:ext>
            </a:extLst>
          </p:cNvPr>
          <p:cNvSpPr>
            <a:spLocks noChangeShapeType="1"/>
          </p:cNvSpPr>
          <p:nvPr/>
        </p:nvSpPr>
        <p:spPr bwMode="auto">
          <a:xfrm>
            <a:off x="4217731" y="4372576"/>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55" name="Rectangle 7">
            <a:extLst>
              <a:ext uri="{FF2B5EF4-FFF2-40B4-BE49-F238E27FC236}">
                <a16:creationId xmlns:a16="http://schemas.microsoft.com/office/drawing/2014/main" id="{1321DFB3-7226-7130-B0F8-9DF4323F8F0C}"/>
              </a:ext>
            </a:extLst>
          </p:cNvPr>
          <p:cNvSpPr>
            <a:spLocks noChangeArrowheads="1"/>
          </p:cNvSpPr>
          <p:nvPr/>
        </p:nvSpPr>
        <p:spPr bwMode="auto">
          <a:xfrm>
            <a:off x="1860483" y="4135334"/>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7" name="Line 8">
            <a:extLst>
              <a:ext uri="{FF2B5EF4-FFF2-40B4-BE49-F238E27FC236}">
                <a16:creationId xmlns:a16="http://schemas.microsoft.com/office/drawing/2014/main" id="{76AD9F25-7A92-0220-1F84-B62473A8AA63}"/>
              </a:ext>
            </a:extLst>
          </p:cNvPr>
          <p:cNvSpPr>
            <a:spLocks noChangeShapeType="1"/>
          </p:cNvSpPr>
          <p:nvPr/>
        </p:nvSpPr>
        <p:spPr bwMode="auto">
          <a:xfrm>
            <a:off x="1866417" y="4372576"/>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58" name="Text Box 9">
            <a:extLst>
              <a:ext uri="{FF2B5EF4-FFF2-40B4-BE49-F238E27FC236}">
                <a16:creationId xmlns:a16="http://schemas.microsoft.com/office/drawing/2014/main" id="{8C2D0339-FA1A-4DDA-3964-796A5882466F}"/>
              </a:ext>
            </a:extLst>
          </p:cNvPr>
          <p:cNvSpPr txBox="1">
            <a:spLocks noChangeArrowheads="1"/>
          </p:cNvSpPr>
          <p:nvPr/>
        </p:nvSpPr>
        <p:spPr bwMode="auto">
          <a:xfrm>
            <a:off x="4259764" y="412455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59" name="Text Box 9">
            <a:extLst>
              <a:ext uri="{FF2B5EF4-FFF2-40B4-BE49-F238E27FC236}">
                <a16:creationId xmlns:a16="http://schemas.microsoft.com/office/drawing/2014/main" id="{9FD1CD4C-A6B6-8C77-6CD3-864375878630}"/>
              </a:ext>
            </a:extLst>
          </p:cNvPr>
          <p:cNvSpPr txBox="1">
            <a:spLocks noChangeArrowheads="1"/>
          </p:cNvSpPr>
          <p:nvPr/>
        </p:nvSpPr>
        <p:spPr bwMode="auto">
          <a:xfrm>
            <a:off x="1888856" y="412455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Tree>
    <p:extLst>
      <p:ext uri="{BB962C8B-B14F-4D97-AF65-F5344CB8AC3E}">
        <p14:creationId xmlns:p14="http://schemas.microsoft.com/office/powerpoint/2010/main" val="1879703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9178A2-1F47-CD19-6513-D96AFE0D75EA}"/>
              </a:ext>
            </a:extLst>
          </p:cNvPr>
          <p:cNvSpPr>
            <a:spLocks noGrp="1"/>
          </p:cNvSpPr>
          <p:nvPr>
            <p:ph type="title"/>
          </p:nvPr>
        </p:nvSpPr>
        <p:spPr/>
        <p:txBody>
          <a:bodyPr/>
          <a:lstStyle/>
          <a:p>
            <a:r>
              <a:rPr lang="en-US" altLang="en-US" dirty="0"/>
              <a:t>Your Turn….</a:t>
            </a:r>
            <a:endParaRPr lang="en-US" dirty="0"/>
          </a:p>
        </p:txBody>
      </p:sp>
      <p:sp>
        <p:nvSpPr>
          <p:cNvPr id="4" name="TextBox 3">
            <a:extLst>
              <a:ext uri="{FF2B5EF4-FFF2-40B4-BE49-F238E27FC236}">
                <a16:creationId xmlns:a16="http://schemas.microsoft.com/office/drawing/2014/main" id="{54BF33F9-A890-D8F4-0F71-5DA3A9F3DFB8}"/>
              </a:ext>
            </a:extLst>
          </p:cNvPr>
          <p:cNvSpPr txBox="1"/>
          <p:nvPr/>
        </p:nvSpPr>
        <p:spPr>
          <a:xfrm>
            <a:off x="968470" y="2050751"/>
            <a:ext cx="10939691" cy="251349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l"/>
            <a:r>
              <a:rPr lang="en-US" altLang="en-US" sz="3200" dirty="0">
                <a:latin typeface="Roboto" panose="02000000000000000000" pitchFamily="2" charset="0"/>
                <a:ea typeface="Roboto" panose="02000000000000000000" pitchFamily="2" charset="0"/>
              </a:rPr>
              <a:t>The following pages review the process for your team to start creating the current state map for your business</a:t>
            </a:r>
          </a:p>
          <a:p>
            <a:pPr algn="l"/>
            <a:endParaRPr lang="en-US" altLang="en-US" sz="3200" dirty="0">
              <a:latin typeface="Roboto" panose="02000000000000000000" pitchFamily="2" charset="0"/>
              <a:ea typeface="Roboto" panose="02000000000000000000" pitchFamily="2" charset="0"/>
            </a:endParaRPr>
          </a:p>
          <a:p>
            <a:pPr algn="l"/>
            <a:r>
              <a:rPr lang="en-US" altLang="en-US" sz="3200" dirty="0">
                <a:latin typeface="Roboto" panose="02000000000000000000" pitchFamily="2" charset="0"/>
                <a:ea typeface="Roboto" panose="02000000000000000000" pitchFamily="2" charset="0"/>
              </a:rPr>
              <a:t>We will build the process steps on the wall during this section</a:t>
            </a:r>
          </a:p>
        </p:txBody>
      </p:sp>
      <p:grpSp>
        <p:nvGrpSpPr>
          <p:cNvPr id="3" name="Group 2">
            <a:extLst>
              <a:ext uri="{FF2B5EF4-FFF2-40B4-BE49-F238E27FC236}">
                <a16:creationId xmlns:a16="http://schemas.microsoft.com/office/drawing/2014/main" id="{8077C4CD-043E-CEB0-9E3C-DDE1F3BF9065}"/>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F2291581-A819-4C67-E0CE-8F6B477D18D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8BB33620-8842-5DD6-3AC4-2409B431B36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5B225EF5-5A6D-5BB0-0A09-1EB340E204A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2CA71E90-1F47-035A-DFB6-9B06DD14CDF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FDCC9EF1-645A-6492-4D86-22C0EA01901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96B84CB9-20AA-3EB1-F301-036914595E6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CB93FD26-826C-D62A-241E-BD5B5A64276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46</a:t>
            </a:fld>
            <a:endParaRPr lang="en-US" dirty="0"/>
          </a:p>
        </p:txBody>
      </p:sp>
    </p:spTree>
    <p:extLst>
      <p:ext uri="{BB962C8B-B14F-4D97-AF65-F5344CB8AC3E}">
        <p14:creationId xmlns:p14="http://schemas.microsoft.com/office/powerpoint/2010/main" val="873342560"/>
      </p:ext>
    </p:extLst>
  </p:cSld>
  <p:clrMapOvr>
    <a:masterClrMapping/>
  </p:clrMapOvr>
  <p:extLst>
    <p:ext uri="{6950BFC3-D8DA-4A85-94F7-54DA5524770B}">
      <p188:commentRel xmlns:p188="http://schemas.microsoft.com/office/powerpoint/2018/8/main" r:id="rId3"/>
    </p:ext>
  </p:extLs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sz="3200" dirty="0"/>
              <a:t>Method to Create the Current State Map: </a:t>
            </a:r>
            <a:br>
              <a:rPr lang="en-US" sz="3200" dirty="0"/>
            </a:br>
            <a:r>
              <a:rPr lang="en-US" sz="3200" dirty="0"/>
              <a:t>Team Walk #1</a:t>
            </a:r>
          </a:p>
        </p:txBody>
      </p:sp>
      <p:grpSp>
        <p:nvGrpSpPr>
          <p:cNvPr id="27" name="Group 26">
            <a:extLst>
              <a:ext uri="{FF2B5EF4-FFF2-40B4-BE49-F238E27FC236}">
                <a16:creationId xmlns:a16="http://schemas.microsoft.com/office/drawing/2014/main" id="{4F9A6CC4-A6B3-F62F-CE4A-FD2DEE7ABB4B}"/>
              </a:ext>
            </a:extLst>
          </p:cNvPr>
          <p:cNvGrpSpPr/>
          <p:nvPr/>
        </p:nvGrpSpPr>
        <p:grpSpPr>
          <a:xfrm>
            <a:off x="994376" y="1852156"/>
            <a:ext cx="9192300" cy="4170445"/>
            <a:chOff x="492125" y="1500188"/>
            <a:chExt cx="8213725" cy="4298950"/>
          </a:xfrm>
        </p:grpSpPr>
        <p:sp>
          <p:nvSpPr>
            <p:cNvPr id="14" name="Rectangle 2">
              <a:extLst>
                <a:ext uri="{FF2B5EF4-FFF2-40B4-BE49-F238E27FC236}">
                  <a16:creationId xmlns:a16="http://schemas.microsoft.com/office/drawing/2014/main" id="{5DA1E2B4-77A6-5091-B615-2803D4CA8251}"/>
                </a:ext>
              </a:extLst>
            </p:cNvPr>
            <p:cNvSpPr>
              <a:spLocks noChangeArrowheads="1"/>
            </p:cNvSpPr>
            <p:nvPr/>
          </p:nvSpPr>
          <p:spPr bwMode="auto">
            <a:xfrm>
              <a:off x="492125" y="1743846"/>
              <a:ext cx="2916238" cy="838200"/>
            </a:xfrm>
            <a:prstGeom prst="rect">
              <a:avLst/>
            </a:prstGeom>
            <a:solidFill>
              <a:srgbClr val="7A7A7A"/>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FEFEFE"/>
                  </a:solidFill>
                  <a:latin typeface="Roboto" panose="02000000000000000000" pitchFamily="2" charset="0"/>
                  <a:ea typeface="Roboto" panose="02000000000000000000" pitchFamily="2" charset="0"/>
                </a:rPr>
                <a:t>Team Walk #1:</a:t>
              </a:r>
            </a:p>
            <a:p>
              <a:pPr eaLnBrk="1" hangingPunct="1">
                <a:lnSpc>
                  <a:spcPct val="100000"/>
                </a:lnSpc>
                <a:spcBef>
                  <a:spcPct val="0"/>
                </a:spcBef>
              </a:pPr>
              <a:r>
                <a:rPr lang="en-US" altLang="en-US" sz="1800" dirty="0">
                  <a:solidFill>
                    <a:srgbClr val="FEFEFE"/>
                  </a:solidFill>
                  <a:latin typeface="Roboto" panose="02000000000000000000" pitchFamily="2" charset="0"/>
                  <a:ea typeface="Roboto" panose="02000000000000000000" pitchFamily="2" charset="0"/>
                </a:rPr>
                <a:t>Process Identification</a:t>
              </a:r>
            </a:p>
          </p:txBody>
        </p:sp>
        <p:sp>
          <p:nvSpPr>
            <p:cNvPr id="15" name="Rectangle 3">
              <a:extLst>
                <a:ext uri="{FF2B5EF4-FFF2-40B4-BE49-F238E27FC236}">
                  <a16:creationId xmlns:a16="http://schemas.microsoft.com/office/drawing/2014/main" id="{D48DC50C-A284-6D3F-B7A7-5103C7C8E356}"/>
                </a:ext>
              </a:extLst>
            </p:cNvPr>
            <p:cNvSpPr>
              <a:spLocks noChangeArrowheads="1"/>
            </p:cNvSpPr>
            <p:nvPr/>
          </p:nvSpPr>
          <p:spPr bwMode="auto">
            <a:xfrm>
              <a:off x="492125" y="3351213"/>
              <a:ext cx="2916238" cy="841375"/>
            </a:xfrm>
            <a:prstGeom prst="rect">
              <a:avLst/>
            </a:prstGeom>
            <a:solidFill>
              <a:srgbClr val="FFB627"/>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Team Walk #2:</a:t>
              </a:r>
            </a:p>
            <a:p>
              <a:pPr eaLnBrk="1" hangingPunct="1">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Data Gathering</a:t>
              </a:r>
            </a:p>
          </p:txBody>
        </p:sp>
        <p:sp>
          <p:nvSpPr>
            <p:cNvPr id="16" name="Rectangle 4">
              <a:extLst>
                <a:ext uri="{FF2B5EF4-FFF2-40B4-BE49-F238E27FC236}">
                  <a16:creationId xmlns:a16="http://schemas.microsoft.com/office/drawing/2014/main" id="{AE8DB955-5220-2060-FD2F-428A0AFC4B09}"/>
                </a:ext>
              </a:extLst>
            </p:cNvPr>
            <p:cNvSpPr>
              <a:spLocks noChangeArrowheads="1"/>
            </p:cNvSpPr>
            <p:nvPr/>
          </p:nvSpPr>
          <p:spPr bwMode="auto">
            <a:xfrm>
              <a:off x="492125" y="4960938"/>
              <a:ext cx="2916238" cy="838200"/>
            </a:xfrm>
            <a:prstGeom prst="rect">
              <a:avLst/>
            </a:prstGeom>
            <a:solidFill>
              <a:srgbClr val="EE3228"/>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Roboto" panose="02000000000000000000" pitchFamily="2" charset="0"/>
                  <a:ea typeface="Roboto" panose="02000000000000000000" pitchFamily="2" charset="0"/>
                </a:rPr>
                <a:t>Map Creation</a:t>
              </a:r>
            </a:p>
          </p:txBody>
        </p:sp>
        <p:cxnSp>
          <p:nvCxnSpPr>
            <p:cNvPr id="17" name="AutoShape 5">
              <a:extLst>
                <a:ext uri="{FF2B5EF4-FFF2-40B4-BE49-F238E27FC236}">
                  <a16:creationId xmlns:a16="http://schemas.microsoft.com/office/drawing/2014/main" id="{6FB9ED93-9847-F7D6-95DC-B948C27AD45D}"/>
                </a:ext>
              </a:extLst>
            </p:cNvPr>
            <p:cNvCxnSpPr>
              <a:cxnSpLocks noChangeShapeType="1"/>
              <a:stCxn id="14" idx="2"/>
              <a:endCxn id="15" idx="0"/>
            </p:cNvCxnSpPr>
            <p:nvPr/>
          </p:nvCxnSpPr>
          <p:spPr bwMode="auto">
            <a:xfrm>
              <a:off x="1950244" y="2582046"/>
              <a:ext cx="0" cy="769167"/>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18" name="AutoShape 6">
              <a:extLst>
                <a:ext uri="{FF2B5EF4-FFF2-40B4-BE49-F238E27FC236}">
                  <a16:creationId xmlns:a16="http://schemas.microsoft.com/office/drawing/2014/main" id="{C6CC2240-3D99-BFA7-F47A-6B77C1D89AB0}"/>
                </a:ext>
              </a:extLst>
            </p:cNvPr>
            <p:cNvCxnSpPr>
              <a:cxnSpLocks noChangeShapeType="1"/>
              <a:stCxn id="15" idx="2"/>
              <a:endCxn id="16" idx="0"/>
            </p:cNvCxnSpPr>
            <p:nvPr/>
          </p:nvCxnSpPr>
          <p:spPr bwMode="auto">
            <a:xfrm>
              <a:off x="1951038" y="4192588"/>
              <a:ext cx="0" cy="768350"/>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19" name="AutoShape 7">
              <a:extLst>
                <a:ext uri="{FF2B5EF4-FFF2-40B4-BE49-F238E27FC236}">
                  <a16:creationId xmlns:a16="http://schemas.microsoft.com/office/drawing/2014/main" id="{20D71AC6-0569-6FB9-10FC-B289627C5D45}"/>
                </a:ext>
              </a:extLst>
            </p:cNvPr>
            <p:cNvSpPr>
              <a:spLocks noChangeArrowheads="1"/>
            </p:cNvSpPr>
            <p:nvPr/>
          </p:nvSpPr>
          <p:spPr bwMode="auto">
            <a:xfrm>
              <a:off x="3573463" y="2015308"/>
              <a:ext cx="401637" cy="498475"/>
            </a:xfrm>
            <a:prstGeom prst="rightArrow">
              <a:avLst>
                <a:gd name="adj1" fmla="val 58185"/>
                <a:gd name="adj2" fmla="val 60870"/>
              </a:avLst>
            </a:prstGeom>
            <a:solidFill>
              <a:srgbClr val="EE3228"/>
            </a:solidFill>
            <a:ln w="19050">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2" name="Line 10">
              <a:extLst>
                <a:ext uri="{FF2B5EF4-FFF2-40B4-BE49-F238E27FC236}">
                  <a16:creationId xmlns:a16="http://schemas.microsoft.com/office/drawing/2014/main" id="{D5E8862C-2AA3-572F-0104-E7A36259BDF2}"/>
                </a:ext>
              </a:extLst>
            </p:cNvPr>
            <p:cNvSpPr>
              <a:spLocks noChangeShapeType="1"/>
            </p:cNvSpPr>
            <p:nvPr/>
          </p:nvSpPr>
          <p:spPr bwMode="auto">
            <a:xfrm>
              <a:off x="4009232" y="1946990"/>
              <a:ext cx="4616450"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nchor="ctr"/>
            <a:lstStyle/>
            <a:p>
              <a:endParaRPr lang="en-US" sz="1399">
                <a:latin typeface="Roboto" panose="02000000000000000000" pitchFamily="2" charset="0"/>
                <a:ea typeface="Roboto" panose="02000000000000000000" pitchFamily="2" charset="0"/>
              </a:endParaRPr>
            </a:p>
          </p:txBody>
        </p:sp>
        <p:sp>
          <p:nvSpPr>
            <p:cNvPr id="24" name="AutoShape 20">
              <a:extLst>
                <a:ext uri="{FF2B5EF4-FFF2-40B4-BE49-F238E27FC236}">
                  <a16:creationId xmlns:a16="http://schemas.microsoft.com/office/drawing/2014/main" id="{ED6CD1B6-A1D2-445E-11F7-4B760FCA7EF3}"/>
                </a:ext>
              </a:extLst>
            </p:cNvPr>
            <p:cNvSpPr>
              <a:spLocks noChangeArrowheads="1"/>
            </p:cNvSpPr>
            <p:nvPr/>
          </p:nvSpPr>
          <p:spPr bwMode="auto">
            <a:xfrm>
              <a:off x="3946525" y="18573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Everyone initially should create their OWN map</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Walk the entire process first to record process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Begin at end point and proceed in reverse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Draw map of process using pencil and paper</a:t>
              </a:r>
            </a:p>
          </p:txBody>
        </p:sp>
        <p:sp>
          <p:nvSpPr>
            <p:cNvPr id="23" name="Text Box 11">
              <a:extLst>
                <a:ext uri="{FF2B5EF4-FFF2-40B4-BE49-F238E27FC236}">
                  <a16:creationId xmlns:a16="http://schemas.microsoft.com/office/drawing/2014/main" id="{53158DBE-3A35-E13E-C76B-E608BFBDF4EA}"/>
                </a:ext>
              </a:extLst>
            </p:cNvPr>
            <p:cNvSpPr txBox="1">
              <a:spLocks noChangeArrowheads="1"/>
            </p:cNvSpPr>
            <p:nvPr/>
          </p:nvSpPr>
          <p:spPr bwMode="auto">
            <a:xfrm>
              <a:off x="3987800" y="1500188"/>
              <a:ext cx="3536950" cy="475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2400" dirty="0">
                  <a:solidFill>
                    <a:srgbClr val="191C25"/>
                  </a:solidFill>
                  <a:latin typeface="Roboto" panose="02000000000000000000" pitchFamily="2" charset="0"/>
                  <a:ea typeface="Roboto" panose="02000000000000000000" pitchFamily="2" charset="0"/>
                </a:rPr>
                <a:t>Key Characteristics</a:t>
              </a:r>
            </a:p>
          </p:txBody>
        </p:sp>
      </p:grpSp>
      <p:grpSp>
        <p:nvGrpSpPr>
          <p:cNvPr id="12" name="Group 11">
            <a:extLst>
              <a:ext uri="{FF2B5EF4-FFF2-40B4-BE49-F238E27FC236}">
                <a16:creationId xmlns:a16="http://schemas.microsoft.com/office/drawing/2014/main" id="{651D3151-F305-E869-4741-A463ECC80A7E}"/>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465A7A6D-055A-6959-1626-23861EC21CD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0" name="AutoShape 9">
              <a:extLst>
                <a:ext uri="{FF2B5EF4-FFF2-40B4-BE49-F238E27FC236}">
                  <a16:creationId xmlns:a16="http://schemas.microsoft.com/office/drawing/2014/main" id="{671310CC-568F-34A0-F042-FFE553A956B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FEBFFF66-9E2B-499E-CFD2-311080F9F017}"/>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5" name="AutoShape 9">
              <a:extLst>
                <a:ext uri="{FF2B5EF4-FFF2-40B4-BE49-F238E27FC236}">
                  <a16:creationId xmlns:a16="http://schemas.microsoft.com/office/drawing/2014/main" id="{D3F0227C-F656-3270-4256-7F90EF0BF6F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6" name="AutoShape 9">
              <a:extLst>
                <a:ext uri="{FF2B5EF4-FFF2-40B4-BE49-F238E27FC236}">
                  <a16:creationId xmlns:a16="http://schemas.microsoft.com/office/drawing/2014/main" id="{471D8CD8-408A-4D89-F862-86044D68AD0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AE3E9CCF-347E-72A6-AA0D-434AC578534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152338DF-E15E-48F9-56D1-08C8A1E9923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47</a:t>
            </a:fld>
            <a:endParaRPr lang="en-US" dirty="0"/>
          </a:p>
        </p:txBody>
      </p:sp>
    </p:spTree>
    <p:extLst>
      <p:ext uri="{BB962C8B-B14F-4D97-AF65-F5344CB8AC3E}">
        <p14:creationId xmlns:p14="http://schemas.microsoft.com/office/powerpoint/2010/main" val="19679963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9178A2-1F47-CD19-6513-D96AFE0D75EA}"/>
              </a:ext>
            </a:extLst>
          </p:cNvPr>
          <p:cNvSpPr>
            <a:spLocks noGrp="1"/>
          </p:cNvSpPr>
          <p:nvPr>
            <p:ph type="title"/>
          </p:nvPr>
        </p:nvSpPr>
        <p:spPr/>
        <p:txBody>
          <a:bodyPr>
            <a:normAutofit fontScale="90000"/>
          </a:bodyPr>
          <a:lstStyle/>
          <a:p>
            <a:r>
              <a:rPr lang="en-US" altLang="en-US" dirty="0"/>
              <a:t>Supplies for the Current State Process Walk</a:t>
            </a:r>
            <a:endParaRPr lang="en-US" dirty="0"/>
          </a:p>
        </p:txBody>
      </p:sp>
      <p:sp>
        <p:nvSpPr>
          <p:cNvPr id="3" name="Text Placeholder 2">
            <a:extLst>
              <a:ext uri="{FF2B5EF4-FFF2-40B4-BE49-F238E27FC236}">
                <a16:creationId xmlns:a16="http://schemas.microsoft.com/office/drawing/2014/main" id="{EBE5C0C0-0484-36DB-0B83-25D3B133C300}"/>
              </a:ext>
            </a:extLst>
          </p:cNvPr>
          <p:cNvSpPr>
            <a:spLocks noGrp="1"/>
          </p:cNvSpPr>
          <p:nvPr>
            <p:ph idx="1"/>
          </p:nvPr>
        </p:nvSpPr>
        <p:spPr/>
        <p:txBody>
          <a:bodyPr>
            <a:normAutofit/>
          </a:bodyPr>
          <a:lstStyle/>
          <a:p>
            <a:r>
              <a:rPr lang="en-US" altLang="en-US" dirty="0"/>
              <a:t>Personal Protective Equipment (PPE) required by facility</a:t>
            </a:r>
          </a:p>
          <a:p>
            <a:pPr lvl="1"/>
            <a:r>
              <a:rPr lang="en-US" altLang="en-US" dirty="0"/>
              <a:t>i.e.: safety glasses, earplugs, steel-toed shoes, etc. </a:t>
            </a:r>
          </a:p>
          <a:p>
            <a:r>
              <a:rPr lang="en-US" altLang="en-US" dirty="0"/>
              <a:t>11x17” paper </a:t>
            </a:r>
          </a:p>
          <a:p>
            <a:r>
              <a:rPr lang="en-US" altLang="en-US" dirty="0"/>
              <a:t>clipboard </a:t>
            </a:r>
          </a:p>
          <a:p>
            <a:r>
              <a:rPr lang="en-US" altLang="en-US" dirty="0"/>
              <a:t>icon sheet  </a:t>
            </a:r>
          </a:p>
          <a:p>
            <a:r>
              <a:rPr lang="en-US" altLang="en-US" dirty="0"/>
              <a:t>completed Current State Map example drawn in class </a:t>
            </a:r>
          </a:p>
          <a:p>
            <a:r>
              <a:rPr lang="en-US" altLang="en-US" dirty="0"/>
              <a:t>pencil</a:t>
            </a:r>
          </a:p>
        </p:txBody>
      </p:sp>
      <p:grpSp>
        <p:nvGrpSpPr>
          <p:cNvPr id="4" name="Group 3">
            <a:extLst>
              <a:ext uri="{FF2B5EF4-FFF2-40B4-BE49-F238E27FC236}">
                <a16:creationId xmlns:a16="http://schemas.microsoft.com/office/drawing/2014/main" id="{693D2B68-C1D6-C805-CA95-A2B599A85F31}"/>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9E32EA6E-59CF-664E-7915-AC585154800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F75A4FEA-9E9B-36BC-F366-16110E59816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1DBCBE5D-F363-8F2C-D85F-496D9380F5E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24E4A580-20DF-601E-2505-83ADA51BD35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BFA883CA-D80B-4388-B688-7975F8ACFC1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0CE2D3DC-D22F-3329-7B9D-B8654DD44E9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27087AA5-BBB9-FB9B-1DD5-9F231A747184}"/>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48</a:t>
            </a:fld>
            <a:endParaRPr lang="en-US" dirty="0"/>
          </a:p>
        </p:txBody>
      </p:sp>
    </p:spTree>
    <p:extLst>
      <p:ext uri="{BB962C8B-B14F-4D97-AF65-F5344CB8AC3E}">
        <p14:creationId xmlns:p14="http://schemas.microsoft.com/office/powerpoint/2010/main" val="11509796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FD900F-3E05-0C02-87E4-767DFE9F484C}"/>
              </a:ext>
            </a:extLst>
          </p:cNvPr>
          <p:cNvSpPr>
            <a:spLocks noGrp="1"/>
          </p:cNvSpPr>
          <p:nvPr>
            <p:ph type="title"/>
          </p:nvPr>
        </p:nvSpPr>
        <p:spPr/>
        <p:txBody>
          <a:bodyPr>
            <a:normAutofit/>
          </a:bodyPr>
          <a:lstStyle/>
          <a:p>
            <a:r>
              <a:rPr lang="en-US" dirty="0"/>
              <a:t>Question Examples</a:t>
            </a:r>
          </a:p>
        </p:txBody>
      </p:sp>
      <p:sp>
        <p:nvSpPr>
          <p:cNvPr id="3" name="Text Placeholder 2">
            <a:extLst>
              <a:ext uri="{FF2B5EF4-FFF2-40B4-BE49-F238E27FC236}">
                <a16:creationId xmlns:a16="http://schemas.microsoft.com/office/drawing/2014/main" id="{5FD9185F-03B8-B988-224F-1261244B1274}"/>
              </a:ext>
            </a:extLst>
          </p:cNvPr>
          <p:cNvSpPr>
            <a:spLocks noGrp="1"/>
          </p:cNvSpPr>
          <p:nvPr>
            <p:ph idx="1"/>
          </p:nvPr>
        </p:nvSpPr>
        <p:spPr/>
        <p:txBody>
          <a:bodyPr>
            <a:normAutofit/>
          </a:bodyPr>
          <a:lstStyle/>
          <a:p>
            <a:r>
              <a:rPr lang="en-US" sz="2800" dirty="0"/>
              <a:t>What does this step in the process do?</a:t>
            </a:r>
          </a:p>
          <a:p>
            <a:r>
              <a:rPr lang="en-US" sz="2800" dirty="0"/>
              <a:t>How do you know what to work on?</a:t>
            </a:r>
          </a:p>
          <a:p>
            <a:r>
              <a:rPr lang="en-US" sz="2800" dirty="0"/>
              <a:t>Where do you get your schedule from and how often?</a:t>
            </a:r>
          </a:p>
          <a:p>
            <a:r>
              <a:rPr lang="en-US" sz="2800" dirty="0"/>
              <a:t>What is the previous step </a:t>
            </a:r>
          </a:p>
          <a:p>
            <a:r>
              <a:rPr lang="en-US" sz="2800" dirty="0"/>
              <a:t>What are the next steps</a:t>
            </a:r>
          </a:p>
          <a:p>
            <a:pPr lvl="1"/>
            <a:r>
              <a:rPr lang="en-US" sz="1800" dirty="0"/>
              <a:t>Normal </a:t>
            </a:r>
          </a:p>
          <a:p>
            <a:pPr lvl="1"/>
            <a:r>
              <a:rPr lang="en-US" sz="1800" dirty="0"/>
              <a:t>Exceptions (what percentage of the time?</a:t>
            </a:r>
          </a:p>
          <a:p>
            <a:pPr marL="457063" lvl="1" indent="0">
              <a:buNone/>
            </a:pPr>
            <a:endParaRPr lang="en-US" sz="1800" dirty="0"/>
          </a:p>
          <a:p>
            <a:pPr marL="0" indent="0" algn="ctr">
              <a:buNone/>
            </a:pPr>
            <a:r>
              <a:rPr lang="en-US" sz="2800" b="1" dirty="0"/>
              <a:t>Not an exhaustive list… not every question has to be asked.   </a:t>
            </a:r>
            <a:br>
              <a:rPr lang="en-US" sz="2800" b="1" dirty="0"/>
            </a:br>
            <a:r>
              <a:rPr lang="en-US" sz="2800" b="1" dirty="0"/>
              <a:t>We do not collect data box elements at this time.</a:t>
            </a:r>
            <a:endParaRPr lang="en-US" sz="1800" b="1" dirty="0"/>
          </a:p>
        </p:txBody>
      </p:sp>
      <p:grpSp>
        <p:nvGrpSpPr>
          <p:cNvPr id="12" name="Group 11">
            <a:extLst>
              <a:ext uri="{FF2B5EF4-FFF2-40B4-BE49-F238E27FC236}">
                <a16:creationId xmlns:a16="http://schemas.microsoft.com/office/drawing/2014/main" id="{79915763-1F70-43AF-1D66-7FC8C37E427A}"/>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54358D52-7AF3-D10D-2747-215CEAB1BB6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B8567CEA-88D3-9C3B-AA2D-BA63C08DCC8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FCB99947-9BBD-2B97-BDC5-FA0E40FB3A0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6FBD5A0F-7CBB-A119-9373-7504001CDDE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8F3D7A25-DA92-A01D-A16D-12850380077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DD449924-80CD-3CD0-73C2-AD984935D55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B147E942-AA36-46D0-1DC5-9B2221AB6A1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49</a:t>
            </a:fld>
            <a:endParaRPr lang="en-US" dirty="0"/>
          </a:p>
        </p:txBody>
      </p:sp>
    </p:spTree>
    <p:extLst>
      <p:ext uri="{BB962C8B-B14F-4D97-AF65-F5344CB8AC3E}">
        <p14:creationId xmlns:p14="http://schemas.microsoft.com/office/powerpoint/2010/main" val="111184771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Autofit/>
          </a:bodyPr>
          <a:lstStyle/>
          <a:p>
            <a:r>
              <a:rPr lang="en-US" sz="3200" dirty="0">
                <a:latin typeface="Roboto Medium"/>
                <a:ea typeface="Roboto Medium"/>
                <a:cs typeface="Roboto Medium"/>
              </a:rPr>
              <a:t>Current State Mapping for Business: Team Walk #1</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90756"/>
            <a:ext cx="9719810" cy="410342"/>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Current State Team Walk #1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856515" cy="2775639"/>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0" rtlCol="0" anchor="ctr">
            <a:noAutofit/>
          </a:bodyPr>
          <a:lstStyle/>
          <a:p>
            <a:pPr marL="365760" algn="l" defTabSz="292042">
              <a:lnSpc>
                <a:spcPct val="125000"/>
              </a:lnSpc>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Follow the guidelines on the previous pages to complete Team Walk #1. </a:t>
            </a:r>
          </a:p>
          <a:p>
            <a:pPr marL="365760" algn="l" defTabSz="292042">
              <a:lnSpc>
                <a:spcPct val="125000"/>
              </a:lnSpc>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The purpose for this walk is to gain an understanding of the process and overall flow. </a:t>
            </a:r>
          </a:p>
          <a:p>
            <a:pPr marL="365760" algn="l" defTabSz="292042">
              <a:lnSpc>
                <a:spcPct val="125000"/>
              </a:lnSpc>
            </a:pP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rPr>
              <a:t>Return to the room and begin to draw the Current State Map with only the process boxes identified.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7" y="4643789"/>
            <a:ext cx="4680073" cy="1210177"/>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process boxes of the Current State map identified and drawn.</a:t>
            </a:r>
          </a:p>
        </p:txBody>
      </p:sp>
      <p:grpSp>
        <p:nvGrpSpPr>
          <p:cNvPr id="10" name="Group 9">
            <a:extLst>
              <a:ext uri="{FF2B5EF4-FFF2-40B4-BE49-F238E27FC236}">
                <a16:creationId xmlns:a16="http://schemas.microsoft.com/office/drawing/2014/main" id="{DE85BF1B-7D4D-22BD-55CD-0B513D298AC3}"/>
              </a:ext>
            </a:extLst>
          </p:cNvPr>
          <p:cNvGrpSpPr/>
          <p:nvPr/>
        </p:nvGrpSpPr>
        <p:grpSpPr>
          <a:xfrm>
            <a:off x="940004" y="313985"/>
            <a:ext cx="6217883" cy="311851"/>
            <a:chOff x="940249" y="302538"/>
            <a:chExt cx="6219503" cy="311932"/>
          </a:xfrm>
        </p:grpSpPr>
        <p:sp>
          <p:nvSpPr>
            <p:cNvPr id="19" name="TextBox 18">
              <a:extLst>
                <a:ext uri="{FF2B5EF4-FFF2-40B4-BE49-F238E27FC236}">
                  <a16:creationId xmlns:a16="http://schemas.microsoft.com/office/drawing/2014/main" id="{28F6637B-B447-DECE-96F3-37844ECDF6A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0" name="AutoShape 9">
              <a:extLst>
                <a:ext uri="{FF2B5EF4-FFF2-40B4-BE49-F238E27FC236}">
                  <a16:creationId xmlns:a16="http://schemas.microsoft.com/office/drawing/2014/main" id="{83CCBAA7-E7EF-D970-C1BB-DBE945F0207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08E83100-CC4B-22BF-6228-00907596665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E2108002-7302-16A3-FCA7-3360852C28E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DBF3D509-599F-D19D-80E5-9AA19C19EA7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73762753-968A-46E8-CF54-31FA7B4DB52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68442349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51</a:t>
            </a:fld>
            <a:endParaRPr lang="en-US" dirty="0"/>
          </a:p>
        </p:txBody>
      </p:sp>
    </p:spTree>
    <p:extLst>
      <p:ext uri="{BB962C8B-B14F-4D97-AF65-F5344CB8AC3E}">
        <p14:creationId xmlns:p14="http://schemas.microsoft.com/office/powerpoint/2010/main" val="104382248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Drop Off Interval (DOI)</a:t>
            </a:r>
            <a:endParaRPr lang="en-US" dirty="0"/>
          </a:p>
        </p:txBody>
      </p:sp>
      <p:sp>
        <p:nvSpPr>
          <p:cNvPr id="12" name="TextBox 11">
            <a:extLst>
              <a:ext uri="{FF2B5EF4-FFF2-40B4-BE49-F238E27FC236}">
                <a16:creationId xmlns:a16="http://schemas.microsoft.com/office/drawing/2014/main" id="{881E21E2-B4E3-7FB6-C9D9-E73727E38C73}"/>
              </a:ext>
            </a:extLst>
          </p:cNvPr>
          <p:cNvSpPr txBox="1"/>
          <p:nvPr/>
        </p:nvSpPr>
        <p:spPr>
          <a:xfrm>
            <a:off x="849282" y="1938532"/>
            <a:ext cx="1715199" cy="3282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algn="l"/>
            <a:r>
              <a:rPr lang="en-US" dirty="0">
                <a:solidFill>
                  <a:srgbClr val="191C25"/>
                </a:solidFill>
                <a:latin typeface="Roboto" panose="02000000000000000000" pitchFamily="2" charset="0"/>
                <a:ea typeface="Roboto" panose="02000000000000000000" pitchFamily="2" charset="0"/>
              </a:rPr>
              <a:t>DOI Observation</a:t>
            </a:r>
          </a:p>
        </p:txBody>
      </p:sp>
      <p:sp>
        <p:nvSpPr>
          <p:cNvPr id="16" name="Rectangle 15">
            <a:extLst>
              <a:ext uri="{FF2B5EF4-FFF2-40B4-BE49-F238E27FC236}">
                <a16:creationId xmlns:a16="http://schemas.microsoft.com/office/drawing/2014/main" id="{E5B907A1-AF30-B910-EA67-454E0DF85F2D}"/>
              </a:ext>
            </a:extLst>
          </p:cNvPr>
          <p:cNvSpPr>
            <a:spLocks/>
          </p:cNvSpPr>
          <p:nvPr/>
        </p:nvSpPr>
        <p:spPr>
          <a:xfrm>
            <a:off x="7986157" y="1852976"/>
            <a:ext cx="3531353"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DOI Definition</a:t>
            </a:r>
          </a:p>
        </p:txBody>
      </p:sp>
      <p:sp>
        <p:nvSpPr>
          <p:cNvPr id="3" name="Rectangle 2">
            <a:extLst>
              <a:ext uri="{FF2B5EF4-FFF2-40B4-BE49-F238E27FC236}">
                <a16:creationId xmlns:a16="http://schemas.microsoft.com/office/drawing/2014/main" id="{E74EE0EF-B6DC-466C-ECED-53DEA8E6AD22}"/>
              </a:ext>
            </a:extLst>
          </p:cNvPr>
          <p:cNvSpPr>
            <a:spLocks/>
          </p:cNvSpPr>
          <p:nvPr/>
        </p:nvSpPr>
        <p:spPr>
          <a:xfrm>
            <a:off x="7986157" y="3429000"/>
            <a:ext cx="3531353"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Note on DOI</a:t>
            </a:r>
          </a:p>
        </p:txBody>
      </p:sp>
      <p:sp>
        <p:nvSpPr>
          <p:cNvPr id="28" name="TextBox 27">
            <a:extLst>
              <a:ext uri="{FF2B5EF4-FFF2-40B4-BE49-F238E27FC236}">
                <a16:creationId xmlns:a16="http://schemas.microsoft.com/office/drawing/2014/main" id="{591714DC-EA96-DF71-71E6-EC62375142D7}"/>
              </a:ext>
            </a:extLst>
          </p:cNvPr>
          <p:cNvSpPr txBox="1"/>
          <p:nvPr/>
        </p:nvSpPr>
        <p:spPr>
          <a:xfrm>
            <a:off x="7986157" y="4008529"/>
            <a:ext cx="3547163" cy="199027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DOI is ideally observed,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not calculated</a:t>
            </a:r>
          </a:p>
          <a:p>
            <a:pPr marL="228554"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If DOI can’t be observed in the workplace other sources of data need to be identified</a:t>
            </a:r>
          </a:p>
          <a:p>
            <a:pPr marL="228554"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DOI should be less than takt time</a:t>
            </a:r>
          </a:p>
        </p:txBody>
      </p:sp>
      <p:sp>
        <p:nvSpPr>
          <p:cNvPr id="4" name="TextBox 3">
            <a:extLst>
              <a:ext uri="{FF2B5EF4-FFF2-40B4-BE49-F238E27FC236}">
                <a16:creationId xmlns:a16="http://schemas.microsoft.com/office/drawing/2014/main" id="{4BE34182-C726-687A-35FF-2760CCF2F753}"/>
              </a:ext>
            </a:extLst>
          </p:cNvPr>
          <p:cNvSpPr txBox="1"/>
          <p:nvPr/>
        </p:nvSpPr>
        <p:spPr>
          <a:xfrm>
            <a:off x="7986157" y="2400955"/>
            <a:ext cx="3531353" cy="78994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l"/>
            <a:r>
              <a:rPr lang="en-US" sz="1600" dirty="0">
                <a:solidFill>
                  <a:srgbClr val="191C25"/>
                </a:solidFill>
                <a:latin typeface="Roboto" panose="02000000000000000000" pitchFamily="2" charset="0"/>
                <a:ea typeface="Roboto" panose="02000000000000000000" pitchFamily="2" charset="0"/>
              </a:rPr>
              <a:t>The frequency with which a single product or service  “drops off” from </a:t>
            </a:r>
            <a:br>
              <a:rPr lang="en-US" sz="1600" dirty="0">
                <a:solidFill>
                  <a:srgbClr val="191C25"/>
                </a:solidFill>
                <a:latin typeface="Roboto" panose="02000000000000000000" pitchFamily="2" charset="0"/>
                <a:ea typeface="Roboto" panose="02000000000000000000" pitchFamily="2" charset="0"/>
              </a:rPr>
            </a:br>
            <a:r>
              <a:rPr lang="en-US" sz="1600" dirty="0">
                <a:solidFill>
                  <a:srgbClr val="191C25"/>
                </a:solidFill>
                <a:latin typeface="Roboto" panose="02000000000000000000" pitchFamily="2" charset="0"/>
                <a:ea typeface="Roboto" panose="02000000000000000000" pitchFamily="2" charset="0"/>
              </a:rPr>
              <a:t>the end of a process</a:t>
            </a:r>
          </a:p>
        </p:txBody>
      </p:sp>
      <p:grpSp>
        <p:nvGrpSpPr>
          <p:cNvPr id="79" name="Group 78">
            <a:extLst>
              <a:ext uri="{FF2B5EF4-FFF2-40B4-BE49-F238E27FC236}">
                <a16:creationId xmlns:a16="http://schemas.microsoft.com/office/drawing/2014/main" id="{DE81F04B-122B-EEAA-38CA-76ABEE0D1606}"/>
              </a:ext>
            </a:extLst>
          </p:cNvPr>
          <p:cNvGrpSpPr/>
          <p:nvPr/>
        </p:nvGrpSpPr>
        <p:grpSpPr>
          <a:xfrm>
            <a:off x="769636" y="2725325"/>
            <a:ext cx="5644227" cy="2722139"/>
            <a:chOff x="495848" y="2560638"/>
            <a:chExt cx="4373015" cy="2125231"/>
          </a:xfrm>
        </p:grpSpPr>
        <p:sp>
          <p:nvSpPr>
            <p:cNvPr id="11" name="AutoShape 30">
              <a:extLst>
                <a:ext uri="{FF2B5EF4-FFF2-40B4-BE49-F238E27FC236}">
                  <a16:creationId xmlns:a16="http://schemas.microsoft.com/office/drawing/2014/main" id="{77D5E547-C53E-63B5-296D-892B0072EFB9}"/>
                </a:ext>
              </a:extLst>
            </p:cNvPr>
            <p:cNvSpPr>
              <a:spLocks noChangeArrowheads="1"/>
            </p:cNvSpPr>
            <p:nvPr/>
          </p:nvSpPr>
          <p:spPr bwMode="auto">
            <a:xfrm>
              <a:off x="1965325" y="2597150"/>
              <a:ext cx="1042988" cy="914400"/>
            </a:xfrm>
            <a:prstGeom prst="cube">
              <a:avLst>
                <a:gd name="adj" fmla="val 25000"/>
              </a:avLst>
            </a:prstGeom>
            <a:solidFill>
              <a:srgbClr val="7A7A7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14" name="Text Box 31">
              <a:extLst>
                <a:ext uri="{FF2B5EF4-FFF2-40B4-BE49-F238E27FC236}">
                  <a16:creationId xmlns:a16="http://schemas.microsoft.com/office/drawing/2014/main" id="{B76DEFF5-73C4-FFBC-53A8-9AEFC4EB8A36}"/>
                </a:ext>
              </a:extLst>
            </p:cNvPr>
            <p:cNvSpPr txBox="1">
              <a:spLocks noChangeArrowheads="1"/>
            </p:cNvSpPr>
            <p:nvPr/>
          </p:nvSpPr>
          <p:spPr bwMode="auto">
            <a:xfrm>
              <a:off x="2175678" y="2881313"/>
              <a:ext cx="567828" cy="504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800" dirty="0">
                  <a:latin typeface="Roboto" panose="02000000000000000000" pitchFamily="2" charset="0"/>
                  <a:ea typeface="Roboto" panose="02000000000000000000" pitchFamily="2" charset="0"/>
                </a:rPr>
                <a:t>Cure </a:t>
              </a:r>
            </a:p>
            <a:p>
              <a:pPr>
                <a:lnSpc>
                  <a:spcPct val="100000"/>
                </a:lnSpc>
                <a:spcBef>
                  <a:spcPct val="0"/>
                </a:spcBef>
              </a:pPr>
              <a:r>
                <a:rPr lang="en-US" altLang="en-US" sz="1800" dirty="0">
                  <a:latin typeface="Roboto" panose="02000000000000000000" pitchFamily="2" charset="0"/>
                  <a:ea typeface="Roboto" panose="02000000000000000000" pitchFamily="2" charset="0"/>
                </a:rPr>
                <a:t>Oven</a:t>
              </a:r>
            </a:p>
          </p:txBody>
        </p:sp>
        <p:grpSp>
          <p:nvGrpSpPr>
            <p:cNvPr id="15" name="Group 32">
              <a:extLst>
                <a:ext uri="{FF2B5EF4-FFF2-40B4-BE49-F238E27FC236}">
                  <a16:creationId xmlns:a16="http://schemas.microsoft.com/office/drawing/2014/main" id="{8F8D8A08-A1A0-E0C6-8A6E-35A4E8D63B91}"/>
                </a:ext>
              </a:extLst>
            </p:cNvPr>
            <p:cNvGrpSpPr>
              <a:grpSpLocks/>
            </p:cNvGrpSpPr>
            <p:nvPr/>
          </p:nvGrpSpPr>
          <p:grpSpPr bwMode="auto">
            <a:xfrm>
              <a:off x="547688" y="2933700"/>
              <a:ext cx="1179512" cy="452438"/>
              <a:chOff x="2442" y="2199"/>
              <a:chExt cx="743" cy="285"/>
            </a:xfrm>
          </p:grpSpPr>
          <p:sp>
            <p:nvSpPr>
              <p:cNvPr id="17" name="AutoShape 33">
                <a:extLst>
                  <a:ext uri="{FF2B5EF4-FFF2-40B4-BE49-F238E27FC236}">
                    <a16:creationId xmlns:a16="http://schemas.microsoft.com/office/drawing/2014/main" id="{21548F3E-C993-D694-C4A3-1D1AFD78C6D7}"/>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1" name="Line 34">
                <a:extLst>
                  <a:ext uri="{FF2B5EF4-FFF2-40B4-BE49-F238E27FC236}">
                    <a16:creationId xmlns:a16="http://schemas.microsoft.com/office/drawing/2014/main" id="{ADDF1333-8D23-E926-8EE1-94D8E4F53C81}"/>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7" name="Line 35">
                <a:extLst>
                  <a:ext uri="{FF2B5EF4-FFF2-40B4-BE49-F238E27FC236}">
                    <a16:creationId xmlns:a16="http://schemas.microsoft.com/office/drawing/2014/main" id="{1BA7F4B5-5C79-6FE9-D645-039FCC52C8D6}"/>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9" name="Line 36">
                <a:extLst>
                  <a:ext uri="{FF2B5EF4-FFF2-40B4-BE49-F238E27FC236}">
                    <a16:creationId xmlns:a16="http://schemas.microsoft.com/office/drawing/2014/main" id="{B676A5EE-3169-9805-B2F2-4A4DD17C177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0" name="Line 37">
                <a:extLst>
                  <a:ext uri="{FF2B5EF4-FFF2-40B4-BE49-F238E27FC236}">
                    <a16:creationId xmlns:a16="http://schemas.microsoft.com/office/drawing/2014/main" id="{06AC0453-561C-BD06-CBF9-938110C440FF}"/>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1" name="Line 38">
                <a:extLst>
                  <a:ext uri="{FF2B5EF4-FFF2-40B4-BE49-F238E27FC236}">
                    <a16:creationId xmlns:a16="http://schemas.microsoft.com/office/drawing/2014/main" id="{4B2D87FA-9EB5-CB34-A84E-9CC93F501360}"/>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2" name="Line 39">
                <a:extLst>
                  <a:ext uri="{FF2B5EF4-FFF2-40B4-BE49-F238E27FC236}">
                    <a16:creationId xmlns:a16="http://schemas.microsoft.com/office/drawing/2014/main" id="{37E83506-AC20-52EF-092A-2CBB8A2E55C2}"/>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33" name="AutoShape 40">
              <a:extLst>
                <a:ext uri="{FF2B5EF4-FFF2-40B4-BE49-F238E27FC236}">
                  <a16:creationId xmlns:a16="http://schemas.microsoft.com/office/drawing/2014/main" id="{CBD797FC-E4BC-FD12-CE59-960EC289A6DB}"/>
                </a:ext>
              </a:extLst>
            </p:cNvPr>
            <p:cNvSpPr>
              <a:spLocks noChangeArrowheads="1"/>
            </p:cNvSpPr>
            <p:nvPr/>
          </p:nvSpPr>
          <p:spPr bwMode="auto">
            <a:xfrm>
              <a:off x="1592263" y="2994025"/>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B627"/>
            </a:solidFill>
            <a:ln w="12700" cap="sq">
              <a:solidFill>
                <a:schemeClr val="tx1"/>
              </a:solidFill>
              <a:miter lim="800000"/>
              <a:headEnd type="none" w="sm" len="sm"/>
              <a:tailEnd type="none" w="sm" len="sm"/>
            </a:ln>
          </p:spPr>
          <p:txBody>
            <a:bodyPr wrap="none" anchor="ctr"/>
            <a:lstStyle/>
            <a:p>
              <a:endParaRPr lang="en-US" sz="1399">
                <a:latin typeface="Roboto" panose="02000000000000000000" pitchFamily="2" charset="0"/>
                <a:ea typeface="Roboto" panose="02000000000000000000" pitchFamily="2" charset="0"/>
              </a:endParaRPr>
            </a:p>
          </p:txBody>
        </p:sp>
        <p:sp>
          <p:nvSpPr>
            <p:cNvPr id="34" name="Text Box 41">
              <a:extLst>
                <a:ext uri="{FF2B5EF4-FFF2-40B4-BE49-F238E27FC236}">
                  <a16:creationId xmlns:a16="http://schemas.microsoft.com/office/drawing/2014/main" id="{BE1436CE-0F9A-1299-0138-638850F58B5B}"/>
                </a:ext>
              </a:extLst>
            </p:cNvPr>
            <p:cNvSpPr txBox="1">
              <a:spLocks noChangeArrowheads="1"/>
            </p:cNvSpPr>
            <p:nvPr/>
          </p:nvSpPr>
          <p:spPr bwMode="auto">
            <a:xfrm>
              <a:off x="495848" y="3419476"/>
              <a:ext cx="1234766" cy="288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dirty="0">
                  <a:solidFill>
                    <a:srgbClr val="191C25"/>
                  </a:solidFill>
                  <a:latin typeface="Roboto" panose="02000000000000000000" pitchFamily="2" charset="0"/>
                  <a:ea typeface="Roboto" panose="02000000000000000000" pitchFamily="2" charset="0"/>
                </a:rPr>
                <a:t>60 piece Tray</a:t>
              </a:r>
            </a:p>
          </p:txBody>
        </p:sp>
        <p:sp>
          <p:nvSpPr>
            <p:cNvPr id="35" name="Text Box 42">
              <a:extLst>
                <a:ext uri="{FF2B5EF4-FFF2-40B4-BE49-F238E27FC236}">
                  <a16:creationId xmlns:a16="http://schemas.microsoft.com/office/drawing/2014/main" id="{EEE90F5A-CD50-FD13-3F8F-8375A3C978A7}"/>
                </a:ext>
              </a:extLst>
            </p:cNvPr>
            <p:cNvSpPr txBox="1">
              <a:spLocks noChangeArrowheads="1"/>
            </p:cNvSpPr>
            <p:nvPr/>
          </p:nvSpPr>
          <p:spPr bwMode="auto">
            <a:xfrm>
              <a:off x="1559868" y="3544888"/>
              <a:ext cx="2040803" cy="504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Oven Capacity = 5 trays</a:t>
              </a:r>
            </a:p>
            <a:p>
              <a:pPr>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Cure Time = 2 hours</a:t>
              </a:r>
            </a:p>
          </p:txBody>
        </p:sp>
        <p:sp>
          <p:nvSpPr>
            <p:cNvPr id="36" name="AutoShape 43">
              <a:extLst>
                <a:ext uri="{FF2B5EF4-FFF2-40B4-BE49-F238E27FC236}">
                  <a16:creationId xmlns:a16="http://schemas.microsoft.com/office/drawing/2014/main" id="{AB237600-791D-344B-D5EE-DE000846BC8F}"/>
                </a:ext>
              </a:extLst>
            </p:cNvPr>
            <p:cNvSpPr>
              <a:spLocks noChangeArrowheads="1"/>
            </p:cNvSpPr>
            <p:nvPr/>
          </p:nvSpPr>
          <p:spPr bwMode="auto">
            <a:xfrm>
              <a:off x="3043238" y="2984500"/>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B627"/>
            </a:solidFill>
            <a:ln w="12700" cap="sq">
              <a:solidFill>
                <a:schemeClr val="tx1"/>
              </a:solidFill>
              <a:miter lim="800000"/>
              <a:headEnd type="none" w="sm" len="sm"/>
              <a:tailEnd type="none" w="sm" len="sm"/>
            </a:ln>
          </p:spPr>
          <p:txBody>
            <a:bodyPr wrap="none" anchor="ctr"/>
            <a:lstStyle/>
            <a:p>
              <a:endParaRPr lang="en-US" sz="1399">
                <a:latin typeface="Roboto" panose="02000000000000000000" pitchFamily="2" charset="0"/>
                <a:ea typeface="Roboto" panose="02000000000000000000" pitchFamily="2" charset="0"/>
              </a:endParaRPr>
            </a:p>
          </p:txBody>
        </p:sp>
        <p:grpSp>
          <p:nvGrpSpPr>
            <p:cNvPr id="37" name="Group 44">
              <a:extLst>
                <a:ext uri="{FF2B5EF4-FFF2-40B4-BE49-F238E27FC236}">
                  <a16:creationId xmlns:a16="http://schemas.microsoft.com/office/drawing/2014/main" id="{C3DC263A-D0CC-98B1-E184-47E0DDDBCB80}"/>
                </a:ext>
              </a:extLst>
            </p:cNvPr>
            <p:cNvGrpSpPr>
              <a:grpSpLocks/>
            </p:cNvGrpSpPr>
            <p:nvPr/>
          </p:nvGrpSpPr>
          <p:grpSpPr bwMode="auto">
            <a:xfrm>
              <a:off x="3330575" y="2560638"/>
              <a:ext cx="1538288" cy="1058862"/>
              <a:chOff x="4402" y="1946"/>
              <a:chExt cx="969" cy="667"/>
            </a:xfrm>
          </p:grpSpPr>
          <p:grpSp>
            <p:nvGrpSpPr>
              <p:cNvPr id="38" name="Group 45">
                <a:extLst>
                  <a:ext uri="{FF2B5EF4-FFF2-40B4-BE49-F238E27FC236}">
                    <a16:creationId xmlns:a16="http://schemas.microsoft.com/office/drawing/2014/main" id="{6FC0D02B-5761-3A3C-67B3-26455DB32837}"/>
                  </a:ext>
                </a:extLst>
              </p:cNvPr>
              <p:cNvGrpSpPr>
                <a:grpSpLocks/>
              </p:cNvGrpSpPr>
              <p:nvPr/>
            </p:nvGrpSpPr>
            <p:grpSpPr bwMode="auto">
              <a:xfrm>
                <a:off x="4628" y="2328"/>
                <a:ext cx="743" cy="285"/>
                <a:chOff x="2442" y="2199"/>
                <a:chExt cx="743" cy="285"/>
              </a:xfrm>
            </p:grpSpPr>
            <p:sp>
              <p:nvSpPr>
                <p:cNvPr id="71" name="AutoShape 46">
                  <a:extLst>
                    <a:ext uri="{FF2B5EF4-FFF2-40B4-BE49-F238E27FC236}">
                      <a16:creationId xmlns:a16="http://schemas.microsoft.com/office/drawing/2014/main" id="{343DB9D3-F5A4-16B1-6F3F-51822190A58C}"/>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72" name="Line 47">
                  <a:extLst>
                    <a:ext uri="{FF2B5EF4-FFF2-40B4-BE49-F238E27FC236}">
                      <a16:creationId xmlns:a16="http://schemas.microsoft.com/office/drawing/2014/main" id="{C05D92C5-056E-2F03-787E-DF996DC2C144}"/>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3" name="Line 48">
                  <a:extLst>
                    <a:ext uri="{FF2B5EF4-FFF2-40B4-BE49-F238E27FC236}">
                      <a16:creationId xmlns:a16="http://schemas.microsoft.com/office/drawing/2014/main" id="{9B45BA0B-C964-F822-00E2-037AAE688443}"/>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4" name="Line 49">
                  <a:extLst>
                    <a:ext uri="{FF2B5EF4-FFF2-40B4-BE49-F238E27FC236}">
                      <a16:creationId xmlns:a16="http://schemas.microsoft.com/office/drawing/2014/main" id="{F200039F-04E0-7D04-DF7D-EBFCCE8045B1}"/>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5" name="Line 50">
                  <a:extLst>
                    <a:ext uri="{FF2B5EF4-FFF2-40B4-BE49-F238E27FC236}">
                      <a16:creationId xmlns:a16="http://schemas.microsoft.com/office/drawing/2014/main" id="{1BC8B708-4C68-3E16-E569-0E9D9F07E74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76" name="Line 51">
                  <a:extLst>
                    <a:ext uri="{FF2B5EF4-FFF2-40B4-BE49-F238E27FC236}">
                      <a16:creationId xmlns:a16="http://schemas.microsoft.com/office/drawing/2014/main" id="{612E27B7-697A-12BC-43F8-D9F91CBC6425}"/>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7" name="Line 52">
                  <a:extLst>
                    <a:ext uri="{FF2B5EF4-FFF2-40B4-BE49-F238E27FC236}">
                      <a16:creationId xmlns:a16="http://schemas.microsoft.com/office/drawing/2014/main" id="{D1D7AB4B-AE0F-F214-308E-22CC55129BAF}"/>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39" name="Group 53">
                <a:extLst>
                  <a:ext uri="{FF2B5EF4-FFF2-40B4-BE49-F238E27FC236}">
                    <a16:creationId xmlns:a16="http://schemas.microsoft.com/office/drawing/2014/main" id="{BD6C6A97-EB4B-5F7C-7807-D7C3C3B2360B}"/>
                  </a:ext>
                </a:extLst>
              </p:cNvPr>
              <p:cNvGrpSpPr>
                <a:grpSpLocks/>
              </p:cNvGrpSpPr>
              <p:nvPr/>
            </p:nvGrpSpPr>
            <p:grpSpPr bwMode="auto">
              <a:xfrm>
                <a:off x="4583" y="2251"/>
                <a:ext cx="743" cy="285"/>
                <a:chOff x="2442" y="2199"/>
                <a:chExt cx="743" cy="285"/>
              </a:xfrm>
            </p:grpSpPr>
            <p:sp>
              <p:nvSpPr>
                <p:cNvPr id="64" name="AutoShape 54">
                  <a:extLst>
                    <a:ext uri="{FF2B5EF4-FFF2-40B4-BE49-F238E27FC236}">
                      <a16:creationId xmlns:a16="http://schemas.microsoft.com/office/drawing/2014/main" id="{06728B0E-9F60-BB07-0E9A-57DBED044C1F}"/>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65" name="Line 55">
                  <a:extLst>
                    <a:ext uri="{FF2B5EF4-FFF2-40B4-BE49-F238E27FC236}">
                      <a16:creationId xmlns:a16="http://schemas.microsoft.com/office/drawing/2014/main" id="{8B7DAB0B-EDF5-7BEC-7FE2-32893AA00C36}"/>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6" name="Line 56">
                  <a:extLst>
                    <a:ext uri="{FF2B5EF4-FFF2-40B4-BE49-F238E27FC236}">
                      <a16:creationId xmlns:a16="http://schemas.microsoft.com/office/drawing/2014/main" id="{50E82851-233E-253B-42AA-101B4F1A92C4}"/>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7" name="Line 57">
                  <a:extLst>
                    <a:ext uri="{FF2B5EF4-FFF2-40B4-BE49-F238E27FC236}">
                      <a16:creationId xmlns:a16="http://schemas.microsoft.com/office/drawing/2014/main" id="{3AFB0B63-E9BE-21D3-EB43-6D56A1655F94}"/>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8" name="Line 58">
                  <a:extLst>
                    <a:ext uri="{FF2B5EF4-FFF2-40B4-BE49-F238E27FC236}">
                      <a16:creationId xmlns:a16="http://schemas.microsoft.com/office/drawing/2014/main" id="{97175FD9-67D9-90E3-46D2-41463BEBC17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69" name="Line 59">
                  <a:extLst>
                    <a:ext uri="{FF2B5EF4-FFF2-40B4-BE49-F238E27FC236}">
                      <a16:creationId xmlns:a16="http://schemas.microsoft.com/office/drawing/2014/main" id="{C38AE4C3-E309-0DC0-C7DC-A97B2C58737B}"/>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0" name="Line 60">
                  <a:extLst>
                    <a:ext uri="{FF2B5EF4-FFF2-40B4-BE49-F238E27FC236}">
                      <a16:creationId xmlns:a16="http://schemas.microsoft.com/office/drawing/2014/main" id="{3AD5AD45-8C14-13ED-F795-4934F5E59837}"/>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0" name="Group 61">
                <a:extLst>
                  <a:ext uri="{FF2B5EF4-FFF2-40B4-BE49-F238E27FC236}">
                    <a16:creationId xmlns:a16="http://schemas.microsoft.com/office/drawing/2014/main" id="{9ABDCFE6-950B-97DC-AF0C-9E7C81A61291}"/>
                  </a:ext>
                </a:extLst>
              </p:cNvPr>
              <p:cNvGrpSpPr>
                <a:grpSpLocks/>
              </p:cNvGrpSpPr>
              <p:nvPr/>
            </p:nvGrpSpPr>
            <p:grpSpPr bwMode="auto">
              <a:xfrm>
                <a:off x="4544" y="2143"/>
                <a:ext cx="743" cy="285"/>
                <a:chOff x="2442" y="2199"/>
                <a:chExt cx="743" cy="285"/>
              </a:xfrm>
            </p:grpSpPr>
            <p:sp>
              <p:nvSpPr>
                <p:cNvPr id="57" name="AutoShape 62">
                  <a:extLst>
                    <a:ext uri="{FF2B5EF4-FFF2-40B4-BE49-F238E27FC236}">
                      <a16:creationId xmlns:a16="http://schemas.microsoft.com/office/drawing/2014/main" id="{3B2539EA-C8ED-DAFB-A19C-B692FE293E64}"/>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8" name="Line 63">
                  <a:extLst>
                    <a:ext uri="{FF2B5EF4-FFF2-40B4-BE49-F238E27FC236}">
                      <a16:creationId xmlns:a16="http://schemas.microsoft.com/office/drawing/2014/main" id="{BFDC5F0C-7E20-4719-8F95-C687082F1619}"/>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9" name="Line 64">
                  <a:extLst>
                    <a:ext uri="{FF2B5EF4-FFF2-40B4-BE49-F238E27FC236}">
                      <a16:creationId xmlns:a16="http://schemas.microsoft.com/office/drawing/2014/main" id="{61F75909-5A4C-185B-0009-5D905A83BC85}"/>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0" name="Line 65">
                  <a:extLst>
                    <a:ext uri="{FF2B5EF4-FFF2-40B4-BE49-F238E27FC236}">
                      <a16:creationId xmlns:a16="http://schemas.microsoft.com/office/drawing/2014/main" id="{AE3F6B88-F951-6686-B1F9-6C48479EE373}"/>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1" name="Line 66">
                  <a:extLst>
                    <a:ext uri="{FF2B5EF4-FFF2-40B4-BE49-F238E27FC236}">
                      <a16:creationId xmlns:a16="http://schemas.microsoft.com/office/drawing/2014/main" id="{BBC8FF0D-2C7B-1DB7-4CC4-D09F7BE0B2F3}"/>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62" name="Line 67">
                  <a:extLst>
                    <a:ext uri="{FF2B5EF4-FFF2-40B4-BE49-F238E27FC236}">
                      <a16:creationId xmlns:a16="http://schemas.microsoft.com/office/drawing/2014/main" id="{B36B52C8-9926-BFEB-18D8-A59ABC7C3283}"/>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3" name="Line 68">
                  <a:extLst>
                    <a:ext uri="{FF2B5EF4-FFF2-40B4-BE49-F238E27FC236}">
                      <a16:creationId xmlns:a16="http://schemas.microsoft.com/office/drawing/2014/main" id="{91C2D2E3-F983-0565-84BF-AD3ABA34B87F}"/>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1" name="Group 69">
                <a:extLst>
                  <a:ext uri="{FF2B5EF4-FFF2-40B4-BE49-F238E27FC236}">
                    <a16:creationId xmlns:a16="http://schemas.microsoft.com/office/drawing/2014/main" id="{51A8B34D-2158-D535-F77B-B6E13A4254EF}"/>
                  </a:ext>
                </a:extLst>
              </p:cNvPr>
              <p:cNvGrpSpPr>
                <a:grpSpLocks/>
              </p:cNvGrpSpPr>
              <p:nvPr/>
            </p:nvGrpSpPr>
            <p:grpSpPr bwMode="auto">
              <a:xfrm>
                <a:off x="4473" y="2061"/>
                <a:ext cx="743" cy="285"/>
                <a:chOff x="2442" y="2199"/>
                <a:chExt cx="743" cy="285"/>
              </a:xfrm>
            </p:grpSpPr>
            <p:sp>
              <p:nvSpPr>
                <p:cNvPr id="50" name="AutoShape 70">
                  <a:extLst>
                    <a:ext uri="{FF2B5EF4-FFF2-40B4-BE49-F238E27FC236}">
                      <a16:creationId xmlns:a16="http://schemas.microsoft.com/office/drawing/2014/main" id="{E6C69788-9CD1-786B-C3A1-ACA87333319B}"/>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1" name="Line 71">
                  <a:extLst>
                    <a:ext uri="{FF2B5EF4-FFF2-40B4-BE49-F238E27FC236}">
                      <a16:creationId xmlns:a16="http://schemas.microsoft.com/office/drawing/2014/main" id="{7AC3830A-B133-81F8-3EC2-16B22869259F}"/>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2" name="Line 72">
                  <a:extLst>
                    <a:ext uri="{FF2B5EF4-FFF2-40B4-BE49-F238E27FC236}">
                      <a16:creationId xmlns:a16="http://schemas.microsoft.com/office/drawing/2014/main" id="{432B6BFB-A42A-6724-258C-FACCF2E41820}"/>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3" name="Line 73">
                  <a:extLst>
                    <a:ext uri="{FF2B5EF4-FFF2-40B4-BE49-F238E27FC236}">
                      <a16:creationId xmlns:a16="http://schemas.microsoft.com/office/drawing/2014/main" id="{03CB91F8-4E5B-9BAC-727E-CA21808DDDB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4" name="Line 74">
                  <a:extLst>
                    <a:ext uri="{FF2B5EF4-FFF2-40B4-BE49-F238E27FC236}">
                      <a16:creationId xmlns:a16="http://schemas.microsoft.com/office/drawing/2014/main" id="{C9C07046-B47B-D957-1A9E-5B6C7FB3B8A7}"/>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55" name="Line 75">
                  <a:extLst>
                    <a:ext uri="{FF2B5EF4-FFF2-40B4-BE49-F238E27FC236}">
                      <a16:creationId xmlns:a16="http://schemas.microsoft.com/office/drawing/2014/main" id="{1EBD271F-318A-ECE3-D116-96173BC17B71}"/>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6" name="Line 76">
                  <a:extLst>
                    <a:ext uri="{FF2B5EF4-FFF2-40B4-BE49-F238E27FC236}">
                      <a16:creationId xmlns:a16="http://schemas.microsoft.com/office/drawing/2014/main" id="{09F3FEEB-0CCC-A640-8326-274CDFD96EBD}"/>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2" name="Group 77">
                <a:extLst>
                  <a:ext uri="{FF2B5EF4-FFF2-40B4-BE49-F238E27FC236}">
                    <a16:creationId xmlns:a16="http://schemas.microsoft.com/office/drawing/2014/main" id="{015983A2-698B-2227-7DBA-E710EEAA05A4}"/>
                  </a:ext>
                </a:extLst>
              </p:cNvPr>
              <p:cNvGrpSpPr>
                <a:grpSpLocks/>
              </p:cNvGrpSpPr>
              <p:nvPr/>
            </p:nvGrpSpPr>
            <p:grpSpPr bwMode="auto">
              <a:xfrm>
                <a:off x="4402" y="1946"/>
                <a:ext cx="743" cy="285"/>
                <a:chOff x="2442" y="2199"/>
                <a:chExt cx="743" cy="285"/>
              </a:xfrm>
            </p:grpSpPr>
            <p:sp>
              <p:nvSpPr>
                <p:cNvPr id="43" name="AutoShape 78">
                  <a:extLst>
                    <a:ext uri="{FF2B5EF4-FFF2-40B4-BE49-F238E27FC236}">
                      <a16:creationId xmlns:a16="http://schemas.microsoft.com/office/drawing/2014/main" id="{20F3C2DA-E639-7B9A-34FF-FA05E6278E8E}"/>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4" name="Line 79">
                  <a:extLst>
                    <a:ext uri="{FF2B5EF4-FFF2-40B4-BE49-F238E27FC236}">
                      <a16:creationId xmlns:a16="http://schemas.microsoft.com/office/drawing/2014/main" id="{BEB783FE-27D4-10B1-DD62-8C9249CB7B77}"/>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5" name="Line 80">
                  <a:extLst>
                    <a:ext uri="{FF2B5EF4-FFF2-40B4-BE49-F238E27FC236}">
                      <a16:creationId xmlns:a16="http://schemas.microsoft.com/office/drawing/2014/main" id="{5D3D54EB-AFC9-2672-7BA1-804DCCE148BA}"/>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6" name="Line 81">
                  <a:extLst>
                    <a:ext uri="{FF2B5EF4-FFF2-40B4-BE49-F238E27FC236}">
                      <a16:creationId xmlns:a16="http://schemas.microsoft.com/office/drawing/2014/main" id="{9E2238D1-3F9E-43D5-735A-44DEC2DDCF75}"/>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7" name="Line 82">
                  <a:extLst>
                    <a:ext uri="{FF2B5EF4-FFF2-40B4-BE49-F238E27FC236}">
                      <a16:creationId xmlns:a16="http://schemas.microsoft.com/office/drawing/2014/main" id="{E90C7A6F-D6A2-53F8-BB3F-E82A59C13D3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8" name="Line 83">
                  <a:extLst>
                    <a:ext uri="{FF2B5EF4-FFF2-40B4-BE49-F238E27FC236}">
                      <a16:creationId xmlns:a16="http://schemas.microsoft.com/office/drawing/2014/main" id="{155FA90E-8C8F-31AC-F82D-A89AD6AE201B}"/>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49" name="Line 84">
                  <a:extLst>
                    <a:ext uri="{FF2B5EF4-FFF2-40B4-BE49-F238E27FC236}">
                      <a16:creationId xmlns:a16="http://schemas.microsoft.com/office/drawing/2014/main" id="{1F6BF97C-7FF9-613A-6671-06BC5029DEF3}"/>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sp>
          <p:nvSpPr>
            <p:cNvPr id="78" name="Text Box 85">
              <a:extLst>
                <a:ext uri="{FF2B5EF4-FFF2-40B4-BE49-F238E27FC236}">
                  <a16:creationId xmlns:a16="http://schemas.microsoft.com/office/drawing/2014/main" id="{B3F59234-FFA3-5519-7E22-49B07EAE7D07}"/>
                </a:ext>
              </a:extLst>
            </p:cNvPr>
            <p:cNvSpPr txBox="1">
              <a:spLocks noChangeArrowheads="1"/>
            </p:cNvSpPr>
            <p:nvPr/>
          </p:nvSpPr>
          <p:spPr bwMode="auto">
            <a:xfrm>
              <a:off x="635000" y="4116388"/>
              <a:ext cx="3681446" cy="56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800" dirty="0">
                  <a:solidFill>
                    <a:srgbClr val="DD4141"/>
                  </a:solidFill>
                  <a:latin typeface="Roboto" panose="02000000000000000000" pitchFamily="2" charset="0"/>
                  <a:ea typeface="Roboto" panose="02000000000000000000" pitchFamily="2" charset="0"/>
                </a:rPr>
                <a:t>DOI = 120 min. cycle </a:t>
              </a:r>
              <a:r>
                <a:rPr lang="en-US" altLang="en-US" sz="1800" dirty="0">
                  <a:solidFill>
                    <a:srgbClr val="DD4141"/>
                  </a:solidFill>
                  <a:latin typeface="Roboto" panose="02000000000000000000" pitchFamily="2" charset="0"/>
                  <a:ea typeface="Roboto" panose="02000000000000000000" pitchFamily="2" charset="0"/>
                  <a:cs typeface="Arial" panose="020B0604020202020204" pitchFamily="34" charset="0"/>
                </a:rPr>
                <a:t>÷ 300 pieces x 60 sec. </a:t>
              </a:r>
            </a:p>
            <a:p>
              <a:pPr algn="l">
                <a:lnSpc>
                  <a:spcPct val="100000"/>
                </a:lnSpc>
                <a:spcBef>
                  <a:spcPct val="30000"/>
                </a:spcBef>
              </a:pPr>
              <a:r>
                <a:rPr lang="en-US" altLang="en-US" sz="1800" dirty="0">
                  <a:solidFill>
                    <a:srgbClr val="DD4141"/>
                  </a:solidFill>
                  <a:latin typeface="Roboto" panose="02000000000000000000" pitchFamily="2" charset="0"/>
                  <a:ea typeface="Roboto" panose="02000000000000000000" pitchFamily="2" charset="0"/>
                  <a:cs typeface="Arial" panose="020B0604020202020204" pitchFamily="34" charset="0"/>
                </a:rPr>
                <a:t>DOI = 24 sec.</a:t>
              </a:r>
            </a:p>
          </p:txBody>
        </p:sp>
      </p:grpSp>
      <p:cxnSp>
        <p:nvCxnSpPr>
          <p:cNvPr id="91" name="Connector: Elbow 90">
            <a:extLst>
              <a:ext uri="{FF2B5EF4-FFF2-40B4-BE49-F238E27FC236}">
                <a16:creationId xmlns:a16="http://schemas.microsoft.com/office/drawing/2014/main" id="{7A82CD62-3007-DDF7-CF04-2452F8709384}"/>
              </a:ext>
            </a:extLst>
          </p:cNvPr>
          <p:cNvCxnSpPr>
            <a:cxnSpLocks/>
          </p:cNvCxnSpPr>
          <p:nvPr/>
        </p:nvCxnSpPr>
        <p:spPr>
          <a:xfrm rot="5400000" flipH="1" flipV="1">
            <a:off x="6881131" y="2200713"/>
            <a:ext cx="1121384" cy="967846"/>
          </a:xfrm>
          <a:prstGeom prst="bentConnector3">
            <a:avLst>
              <a:gd name="adj1" fmla="val 101837"/>
            </a:avLst>
          </a:prstGeom>
          <a:noFill/>
          <a:ln w="28575" cap="flat">
            <a:solidFill>
              <a:srgbClr val="EE3228"/>
            </a:solidFill>
            <a:prstDash val="solid"/>
            <a:miter lim="400000"/>
            <a:tailEnd type="triangle"/>
          </a:ln>
          <a:effectLst/>
          <a:sp3d/>
        </p:spPr>
        <p:style>
          <a:lnRef idx="0">
            <a:scrgbClr r="0" g="0" b="0"/>
          </a:lnRef>
          <a:fillRef idx="0">
            <a:scrgbClr r="0" g="0" b="0"/>
          </a:fillRef>
          <a:effectRef idx="0">
            <a:scrgbClr r="0" g="0" b="0"/>
          </a:effectRef>
          <a:fontRef idx="none"/>
        </p:style>
      </p:cxnSp>
      <p:cxnSp>
        <p:nvCxnSpPr>
          <p:cNvPr id="93" name="Connector: Elbow 92">
            <a:extLst>
              <a:ext uri="{FF2B5EF4-FFF2-40B4-BE49-F238E27FC236}">
                <a16:creationId xmlns:a16="http://schemas.microsoft.com/office/drawing/2014/main" id="{86676124-8D81-BBF0-4F6E-5FEF149D3FDE}"/>
              </a:ext>
            </a:extLst>
          </p:cNvPr>
          <p:cNvCxnSpPr>
            <a:cxnSpLocks/>
          </p:cNvCxnSpPr>
          <p:nvPr/>
        </p:nvCxnSpPr>
        <p:spPr>
          <a:xfrm>
            <a:off x="6058119" y="3148521"/>
            <a:ext cx="1792805" cy="481657"/>
          </a:xfrm>
          <a:prstGeom prst="bentConnector3">
            <a:avLst>
              <a:gd name="adj1" fmla="val 50000"/>
            </a:avLst>
          </a:prstGeom>
          <a:noFill/>
          <a:ln w="28575" cap="flat">
            <a:solidFill>
              <a:srgbClr val="EE3228"/>
            </a:solidFill>
            <a:prstDash val="solid"/>
            <a:miter lim="400000"/>
            <a:tailEnd type="triangle"/>
          </a:ln>
          <a:effectLst/>
          <a:sp3d/>
        </p:spPr>
        <p:style>
          <a:lnRef idx="0">
            <a:scrgbClr r="0" g="0" b="0"/>
          </a:lnRef>
          <a:fillRef idx="0">
            <a:scrgbClr r="0" g="0" b="0"/>
          </a:fillRef>
          <a:effectRef idx="0">
            <a:scrgbClr r="0" g="0" b="0"/>
          </a:effectRef>
          <a:fontRef idx="none"/>
        </p:style>
      </p:cxnSp>
      <p:grpSp>
        <p:nvGrpSpPr>
          <p:cNvPr id="13" name="Group 12">
            <a:extLst>
              <a:ext uri="{FF2B5EF4-FFF2-40B4-BE49-F238E27FC236}">
                <a16:creationId xmlns:a16="http://schemas.microsoft.com/office/drawing/2014/main" id="{F5F3753F-CE19-37F0-67B4-F15553573D09}"/>
              </a:ext>
            </a:extLst>
          </p:cNvPr>
          <p:cNvGrpSpPr/>
          <p:nvPr/>
        </p:nvGrpSpPr>
        <p:grpSpPr>
          <a:xfrm>
            <a:off x="940004" y="330919"/>
            <a:ext cx="6217883" cy="311851"/>
            <a:chOff x="940249" y="302538"/>
            <a:chExt cx="6219503" cy="311932"/>
          </a:xfrm>
        </p:grpSpPr>
        <p:sp>
          <p:nvSpPr>
            <p:cNvPr id="18" name="TextBox 17">
              <a:extLst>
                <a:ext uri="{FF2B5EF4-FFF2-40B4-BE49-F238E27FC236}">
                  <a16:creationId xmlns:a16="http://schemas.microsoft.com/office/drawing/2014/main" id="{7A184808-CD8B-21F2-2926-6544409D836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9" name="AutoShape 9">
              <a:extLst>
                <a:ext uri="{FF2B5EF4-FFF2-40B4-BE49-F238E27FC236}">
                  <a16:creationId xmlns:a16="http://schemas.microsoft.com/office/drawing/2014/main" id="{4F3FB9FB-0FB4-EF77-FC11-E44421007FE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600679D3-5D4F-B753-E260-CFC54048F4F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E5539AF2-04A5-1091-32C0-2B946CC8760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0E7E54BB-6F73-5DA5-AAB4-61FDA7D32DF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D4CCF104-F619-D990-17D9-925FF69B6FF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80" name="Slide Number Placeholder 2">
            <a:extLst>
              <a:ext uri="{FF2B5EF4-FFF2-40B4-BE49-F238E27FC236}">
                <a16:creationId xmlns:a16="http://schemas.microsoft.com/office/drawing/2014/main" id="{DE7607D0-22DA-E811-4D53-DBFAB473C9B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52</a:t>
            </a:fld>
            <a:endParaRPr lang="en-US" dirty="0"/>
          </a:p>
        </p:txBody>
      </p:sp>
    </p:spTree>
    <p:extLst>
      <p:ext uri="{BB962C8B-B14F-4D97-AF65-F5344CB8AC3E}">
        <p14:creationId xmlns:p14="http://schemas.microsoft.com/office/powerpoint/2010/main" val="183896779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Processing Time</a:t>
            </a:r>
            <a:endParaRPr lang="en-US" dirty="0"/>
          </a:p>
        </p:txBody>
      </p:sp>
      <p:sp>
        <p:nvSpPr>
          <p:cNvPr id="12" name="TextBox 11">
            <a:extLst>
              <a:ext uri="{FF2B5EF4-FFF2-40B4-BE49-F238E27FC236}">
                <a16:creationId xmlns:a16="http://schemas.microsoft.com/office/drawing/2014/main" id="{881E21E2-B4E3-7FB6-C9D9-E73727E38C73}"/>
              </a:ext>
            </a:extLst>
          </p:cNvPr>
          <p:cNvSpPr txBox="1"/>
          <p:nvPr/>
        </p:nvSpPr>
        <p:spPr>
          <a:xfrm>
            <a:off x="849282" y="1938532"/>
            <a:ext cx="2981571" cy="32828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pPr algn="l"/>
            <a:r>
              <a:rPr lang="en-US" dirty="0">
                <a:solidFill>
                  <a:srgbClr val="191C25"/>
                </a:solidFill>
                <a:latin typeface="Roboto" panose="02000000000000000000" pitchFamily="2" charset="0"/>
                <a:ea typeface="Roboto" panose="02000000000000000000" pitchFamily="2" charset="0"/>
              </a:rPr>
              <a:t>Processing Time Calculation</a:t>
            </a:r>
          </a:p>
        </p:txBody>
      </p:sp>
      <p:sp>
        <p:nvSpPr>
          <p:cNvPr id="16" name="Rectangle 15">
            <a:extLst>
              <a:ext uri="{FF2B5EF4-FFF2-40B4-BE49-F238E27FC236}">
                <a16:creationId xmlns:a16="http://schemas.microsoft.com/office/drawing/2014/main" id="{E5B907A1-AF30-B910-EA67-454E0DF85F2D}"/>
              </a:ext>
            </a:extLst>
          </p:cNvPr>
          <p:cNvSpPr>
            <a:spLocks/>
          </p:cNvSpPr>
          <p:nvPr/>
        </p:nvSpPr>
        <p:spPr>
          <a:xfrm>
            <a:off x="7986157" y="1852976"/>
            <a:ext cx="3531353"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Processing Time Definition</a:t>
            </a:r>
          </a:p>
        </p:txBody>
      </p:sp>
      <p:sp>
        <p:nvSpPr>
          <p:cNvPr id="3" name="Rectangle 2">
            <a:extLst>
              <a:ext uri="{FF2B5EF4-FFF2-40B4-BE49-F238E27FC236}">
                <a16:creationId xmlns:a16="http://schemas.microsoft.com/office/drawing/2014/main" id="{E74EE0EF-B6DC-466C-ECED-53DEA8E6AD22}"/>
              </a:ext>
            </a:extLst>
          </p:cNvPr>
          <p:cNvSpPr>
            <a:spLocks/>
          </p:cNvSpPr>
          <p:nvPr/>
        </p:nvSpPr>
        <p:spPr>
          <a:xfrm>
            <a:off x="7986157" y="3429000"/>
            <a:ext cx="3531353" cy="457081"/>
          </a:xfrm>
          <a:prstGeom prst="rect">
            <a:avLst/>
          </a:prstGeom>
          <a:solidFill>
            <a:srgbClr val="EE3228"/>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Note on Processing Time</a:t>
            </a:r>
          </a:p>
        </p:txBody>
      </p:sp>
      <p:sp>
        <p:nvSpPr>
          <p:cNvPr id="28" name="TextBox 27">
            <a:extLst>
              <a:ext uri="{FF2B5EF4-FFF2-40B4-BE49-F238E27FC236}">
                <a16:creationId xmlns:a16="http://schemas.microsoft.com/office/drawing/2014/main" id="{591714DC-EA96-DF71-71E6-EC62375142D7}"/>
              </a:ext>
            </a:extLst>
          </p:cNvPr>
          <p:cNvSpPr txBox="1"/>
          <p:nvPr/>
        </p:nvSpPr>
        <p:spPr>
          <a:xfrm>
            <a:off x="7986157" y="4008529"/>
            <a:ext cx="3547163" cy="171327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Processing Time for </a:t>
            </a:r>
            <a:r>
              <a:rPr lang="en-US" sz="1800" u="sng" dirty="0">
                <a:solidFill>
                  <a:srgbClr val="191C25"/>
                </a:solidFill>
                <a:latin typeface="Roboto" panose="02000000000000000000" pitchFamily="2" charset="0"/>
                <a:ea typeface="Roboto" panose="02000000000000000000" pitchFamily="2" charset="0"/>
              </a:rPr>
              <a:t>one unit </a:t>
            </a:r>
            <a:r>
              <a:rPr lang="en-US" sz="1800" dirty="0">
                <a:solidFill>
                  <a:srgbClr val="191C25"/>
                </a:solidFill>
                <a:latin typeface="Roboto" panose="02000000000000000000" pitchFamily="2" charset="0"/>
                <a:ea typeface="Roboto" panose="02000000000000000000" pitchFamily="2" charset="0"/>
              </a:rPr>
              <a:t>is independent of how many are processed simultaneously</a:t>
            </a:r>
          </a:p>
          <a:p>
            <a:pPr marL="228554" indent="-228554" algn="l">
              <a:buClr>
                <a:schemeClr val="tx1"/>
              </a:buClr>
              <a:buSzPct val="90000"/>
              <a:buFont typeface="Arial" panose="020B0604020202020204" pitchFamily="34" charset="0"/>
              <a:buChar char="•"/>
            </a:pPr>
            <a:endParaRPr lang="en-US" sz="1800" dirty="0">
              <a:solidFill>
                <a:srgbClr val="191C25"/>
              </a:solidFill>
              <a:latin typeface="Roboto" panose="02000000000000000000" pitchFamily="2" charset="0"/>
              <a:ea typeface="Roboto" panose="02000000000000000000" pitchFamily="2" charset="0"/>
            </a:endParaRPr>
          </a:p>
          <a:p>
            <a:pPr marL="228554"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Processing Time ideally is </a:t>
            </a:r>
            <a:r>
              <a:rPr lang="en-US" sz="1800" u="sng" dirty="0">
                <a:solidFill>
                  <a:srgbClr val="191C25"/>
                </a:solidFill>
                <a:latin typeface="Roboto" panose="02000000000000000000" pitchFamily="2" charset="0"/>
                <a:ea typeface="Roboto" panose="02000000000000000000" pitchFamily="2" charset="0"/>
              </a:rPr>
              <a:t>observed</a:t>
            </a:r>
            <a:r>
              <a:rPr lang="en-US" sz="1800" dirty="0">
                <a:solidFill>
                  <a:srgbClr val="191C25"/>
                </a:solidFill>
                <a:latin typeface="Roboto" panose="02000000000000000000" pitchFamily="2" charset="0"/>
                <a:ea typeface="Roboto" panose="02000000000000000000" pitchFamily="2" charset="0"/>
              </a:rPr>
              <a:t>, not calculated</a:t>
            </a:r>
          </a:p>
        </p:txBody>
      </p:sp>
      <p:sp>
        <p:nvSpPr>
          <p:cNvPr id="4" name="TextBox 3">
            <a:extLst>
              <a:ext uri="{FF2B5EF4-FFF2-40B4-BE49-F238E27FC236}">
                <a16:creationId xmlns:a16="http://schemas.microsoft.com/office/drawing/2014/main" id="{4BE34182-C726-687A-35FF-2760CCF2F753}"/>
              </a:ext>
            </a:extLst>
          </p:cNvPr>
          <p:cNvSpPr txBox="1"/>
          <p:nvPr/>
        </p:nvSpPr>
        <p:spPr>
          <a:xfrm>
            <a:off x="7986157" y="2400955"/>
            <a:ext cx="3531353" cy="78994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l"/>
            <a:r>
              <a:rPr lang="en-US" sz="1600" dirty="0">
                <a:solidFill>
                  <a:srgbClr val="191C25"/>
                </a:solidFill>
                <a:latin typeface="Roboto" panose="02000000000000000000" pitchFamily="2" charset="0"/>
                <a:ea typeface="Roboto" panose="02000000000000000000" pitchFamily="2" charset="0"/>
              </a:rPr>
              <a:t>The time it takes for a single product or service to go completely through a process</a:t>
            </a:r>
          </a:p>
        </p:txBody>
      </p:sp>
      <p:grpSp>
        <p:nvGrpSpPr>
          <p:cNvPr id="79" name="Group 78">
            <a:extLst>
              <a:ext uri="{FF2B5EF4-FFF2-40B4-BE49-F238E27FC236}">
                <a16:creationId xmlns:a16="http://schemas.microsoft.com/office/drawing/2014/main" id="{DE81F04B-122B-EEAA-38CA-76ABEE0D1606}"/>
              </a:ext>
            </a:extLst>
          </p:cNvPr>
          <p:cNvGrpSpPr/>
          <p:nvPr/>
        </p:nvGrpSpPr>
        <p:grpSpPr>
          <a:xfrm>
            <a:off x="769636" y="2725325"/>
            <a:ext cx="5644227" cy="2722139"/>
            <a:chOff x="495848" y="2560638"/>
            <a:chExt cx="4373015" cy="2125231"/>
          </a:xfrm>
        </p:grpSpPr>
        <p:sp>
          <p:nvSpPr>
            <p:cNvPr id="11" name="AutoShape 30">
              <a:extLst>
                <a:ext uri="{FF2B5EF4-FFF2-40B4-BE49-F238E27FC236}">
                  <a16:creationId xmlns:a16="http://schemas.microsoft.com/office/drawing/2014/main" id="{77D5E547-C53E-63B5-296D-892B0072EFB9}"/>
                </a:ext>
              </a:extLst>
            </p:cNvPr>
            <p:cNvSpPr>
              <a:spLocks noChangeArrowheads="1"/>
            </p:cNvSpPr>
            <p:nvPr/>
          </p:nvSpPr>
          <p:spPr bwMode="auto">
            <a:xfrm>
              <a:off x="1965325" y="2597150"/>
              <a:ext cx="1042988" cy="914400"/>
            </a:xfrm>
            <a:prstGeom prst="cube">
              <a:avLst>
                <a:gd name="adj" fmla="val 25000"/>
              </a:avLst>
            </a:prstGeom>
            <a:solidFill>
              <a:srgbClr val="7A7A7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14" name="Text Box 31">
              <a:extLst>
                <a:ext uri="{FF2B5EF4-FFF2-40B4-BE49-F238E27FC236}">
                  <a16:creationId xmlns:a16="http://schemas.microsoft.com/office/drawing/2014/main" id="{B76DEFF5-73C4-FFBC-53A8-9AEFC4EB8A36}"/>
                </a:ext>
              </a:extLst>
            </p:cNvPr>
            <p:cNvSpPr txBox="1">
              <a:spLocks noChangeArrowheads="1"/>
            </p:cNvSpPr>
            <p:nvPr/>
          </p:nvSpPr>
          <p:spPr bwMode="auto">
            <a:xfrm>
              <a:off x="2175678" y="2881313"/>
              <a:ext cx="567828" cy="504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800" dirty="0">
                  <a:latin typeface="Roboto" panose="02000000000000000000" pitchFamily="2" charset="0"/>
                  <a:ea typeface="Roboto" panose="02000000000000000000" pitchFamily="2" charset="0"/>
                </a:rPr>
                <a:t>Cure </a:t>
              </a:r>
            </a:p>
            <a:p>
              <a:pPr>
                <a:lnSpc>
                  <a:spcPct val="100000"/>
                </a:lnSpc>
                <a:spcBef>
                  <a:spcPct val="0"/>
                </a:spcBef>
              </a:pPr>
              <a:r>
                <a:rPr lang="en-US" altLang="en-US" sz="1800" dirty="0">
                  <a:latin typeface="Roboto" panose="02000000000000000000" pitchFamily="2" charset="0"/>
                  <a:ea typeface="Roboto" panose="02000000000000000000" pitchFamily="2" charset="0"/>
                </a:rPr>
                <a:t>Oven</a:t>
              </a:r>
            </a:p>
          </p:txBody>
        </p:sp>
        <p:grpSp>
          <p:nvGrpSpPr>
            <p:cNvPr id="15" name="Group 32">
              <a:extLst>
                <a:ext uri="{FF2B5EF4-FFF2-40B4-BE49-F238E27FC236}">
                  <a16:creationId xmlns:a16="http://schemas.microsoft.com/office/drawing/2014/main" id="{8F8D8A08-A1A0-E0C6-8A6E-35A4E8D63B91}"/>
                </a:ext>
              </a:extLst>
            </p:cNvPr>
            <p:cNvGrpSpPr>
              <a:grpSpLocks/>
            </p:cNvGrpSpPr>
            <p:nvPr/>
          </p:nvGrpSpPr>
          <p:grpSpPr bwMode="auto">
            <a:xfrm>
              <a:off x="547688" y="2933700"/>
              <a:ext cx="1179512" cy="452438"/>
              <a:chOff x="2442" y="2199"/>
              <a:chExt cx="743" cy="285"/>
            </a:xfrm>
          </p:grpSpPr>
          <p:sp>
            <p:nvSpPr>
              <p:cNvPr id="17" name="AutoShape 33">
                <a:extLst>
                  <a:ext uri="{FF2B5EF4-FFF2-40B4-BE49-F238E27FC236}">
                    <a16:creationId xmlns:a16="http://schemas.microsoft.com/office/drawing/2014/main" id="{21548F3E-C993-D694-C4A3-1D1AFD78C6D7}"/>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1" name="Line 34">
                <a:extLst>
                  <a:ext uri="{FF2B5EF4-FFF2-40B4-BE49-F238E27FC236}">
                    <a16:creationId xmlns:a16="http://schemas.microsoft.com/office/drawing/2014/main" id="{ADDF1333-8D23-E926-8EE1-94D8E4F53C81}"/>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7" name="Line 35">
                <a:extLst>
                  <a:ext uri="{FF2B5EF4-FFF2-40B4-BE49-F238E27FC236}">
                    <a16:creationId xmlns:a16="http://schemas.microsoft.com/office/drawing/2014/main" id="{1BA7F4B5-5C79-6FE9-D645-039FCC52C8D6}"/>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9" name="Line 36">
                <a:extLst>
                  <a:ext uri="{FF2B5EF4-FFF2-40B4-BE49-F238E27FC236}">
                    <a16:creationId xmlns:a16="http://schemas.microsoft.com/office/drawing/2014/main" id="{B676A5EE-3169-9805-B2F2-4A4DD17C177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0" name="Line 37">
                <a:extLst>
                  <a:ext uri="{FF2B5EF4-FFF2-40B4-BE49-F238E27FC236}">
                    <a16:creationId xmlns:a16="http://schemas.microsoft.com/office/drawing/2014/main" id="{06AC0453-561C-BD06-CBF9-938110C440FF}"/>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1" name="Line 38">
                <a:extLst>
                  <a:ext uri="{FF2B5EF4-FFF2-40B4-BE49-F238E27FC236}">
                    <a16:creationId xmlns:a16="http://schemas.microsoft.com/office/drawing/2014/main" id="{4B2D87FA-9EB5-CB34-A84E-9CC93F501360}"/>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2" name="Line 39">
                <a:extLst>
                  <a:ext uri="{FF2B5EF4-FFF2-40B4-BE49-F238E27FC236}">
                    <a16:creationId xmlns:a16="http://schemas.microsoft.com/office/drawing/2014/main" id="{37E83506-AC20-52EF-092A-2CBB8A2E55C2}"/>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33" name="AutoShape 40">
              <a:extLst>
                <a:ext uri="{FF2B5EF4-FFF2-40B4-BE49-F238E27FC236}">
                  <a16:creationId xmlns:a16="http://schemas.microsoft.com/office/drawing/2014/main" id="{CBD797FC-E4BC-FD12-CE59-960EC289A6DB}"/>
                </a:ext>
              </a:extLst>
            </p:cNvPr>
            <p:cNvSpPr>
              <a:spLocks noChangeArrowheads="1"/>
            </p:cNvSpPr>
            <p:nvPr/>
          </p:nvSpPr>
          <p:spPr bwMode="auto">
            <a:xfrm>
              <a:off x="1592263" y="2994025"/>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B627"/>
            </a:solidFill>
            <a:ln w="12700" cap="sq">
              <a:solidFill>
                <a:schemeClr val="tx1"/>
              </a:solidFill>
              <a:miter lim="800000"/>
              <a:headEnd type="none" w="sm" len="sm"/>
              <a:tailEnd type="none" w="sm" len="sm"/>
            </a:ln>
          </p:spPr>
          <p:txBody>
            <a:bodyPr wrap="none" anchor="ctr"/>
            <a:lstStyle/>
            <a:p>
              <a:endParaRPr lang="en-US" sz="1399">
                <a:latin typeface="Roboto" panose="02000000000000000000" pitchFamily="2" charset="0"/>
                <a:ea typeface="Roboto" panose="02000000000000000000" pitchFamily="2" charset="0"/>
              </a:endParaRPr>
            </a:p>
          </p:txBody>
        </p:sp>
        <p:sp>
          <p:nvSpPr>
            <p:cNvPr id="34" name="Text Box 41">
              <a:extLst>
                <a:ext uri="{FF2B5EF4-FFF2-40B4-BE49-F238E27FC236}">
                  <a16:creationId xmlns:a16="http://schemas.microsoft.com/office/drawing/2014/main" id="{BE1436CE-0F9A-1299-0138-638850F58B5B}"/>
                </a:ext>
              </a:extLst>
            </p:cNvPr>
            <p:cNvSpPr txBox="1">
              <a:spLocks noChangeArrowheads="1"/>
            </p:cNvSpPr>
            <p:nvPr/>
          </p:nvSpPr>
          <p:spPr bwMode="auto">
            <a:xfrm>
              <a:off x="495848" y="3419476"/>
              <a:ext cx="1234766" cy="288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dirty="0">
                  <a:solidFill>
                    <a:srgbClr val="191C25"/>
                  </a:solidFill>
                  <a:latin typeface="Roboto" panose="02000000000000000000" pitchFamily="2" charset="0"/>
                  <a:ea typeface="Roboto" panose="02000000000000000000" pitchFamily="2" charset="0"/>
                </a:rPr>
                <a:t>60 piece Tray</a:t>
              </a:r>
            </a:p>
          </p:txBody>
        </p:sp>
        <p:sp>
          <p:nvSpPr>
            <p:cNvPr id="35" name="Text Box 42">
              <a:extLst>
                <a:ext uri="{FF2B5EF4-FFF2-40B4-BE49-F238E27FC236}">
                  <a16:creationId xmlns:a16="http://schemas.microsoft.com/office/drawing/2014/main" id="{EEE90F5A-CD50-FD13-3F8F-8375A3C978A7}"/>
                </a:ext>
              </a:extLst>
            </p:cNvPr>
            <p:cNvSpPr txBox="1">
              <a:spLocks noChangeArrowheads="1"/>
            </p:cNvSpPr>
            <p:nvPr/>
          </p:nvSpPr>
          <p:spPr bwMode="auto">
            <a:xfrm>
              <a:off x="1559868" y="3544888"/>
              <a:ext cx="2040803" cy="504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Oven Capacity = 5 trays</a:t>
              </a:r>
            </a:p>
            <a:p>
              <a:pPr>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rPr>
                <a:t>Cure Time = 2 hours</a:t>
              </a:r>
            </a:p>
          </p:txBody>
        </p:sp>
        <p:sp>
          <p:nvSpPr>
            <p:cNvPr id="36" name="AutoShape 43">
              <a:extLst>
                <a:ext uri="{FF2B5EF4-FFF2-40B4-BE49-F238E27FC236}">
                  <a16:creationId xmlns:a16="http://schemas.microsoft.com/office/drawing/2014/main" id="{AB237600-791D-344B-D5EE-DE000846BC8F}"/>
                </a:ext>
              </a:extLst>
            </p:cNvPr>
            <p:cNvSpPr>
              <a:spLocks noChangeArrowheads="1"/>
            </p:cNvSpPr>
            <p:nvPr/>
          </p:nvSpPr>
          <p:spPr bwMode="auto">
            <a:xfrm>
              <a:off x="3043238" y="2984500"/>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B627"/>
            </a:solidFill>
            <a:ln w="12700" cap="sq">
              <a:solidFill>
                <a:schemeClr val="tx1"/>
              </a:solidFill>
              <a:miter lim="800000"/>
              <a:headEnd type="none" w="sm" len="sm"/>
              <a:tailEnd type="none" w="sm" len="sm"/>
            </a:ln>
          </p:spPr>
          <p:txBody>
            <a:bodyPr wrap="none" anchor="ctr"/>
            <a:lstStyle/>
            <a:p>
              <a:endParaRPr lang="en-US" sz="1399">
                <a:latin typeface="Roboto" panose="02000000000000000000" pitchFamily="2" charset="0"/>
                <a:ea typeface="Roboto" panose="02000000000000000000" pitchFamily="2" charset="0"/>
              </a:endParaRPr>
            </a:p>
          </p:txBody>
        </p:sp>
        <p:grpSp>
          <p:nvGrpSpPr>
            <p:cNvPr id="37" name="Group 44">
              <a:extLst>
                <a:ext uri="{FF2B5EF4-FFF2-40B4-BE49-F238E27FC236}">
                  <a16:creationId xmlns:a16="http://schemas.microsoft.com/office/drawing/2014/main" id="{C3DC263A-D0CC-98B1-E184-47E0DDDBCB80}"/>
                </a:ext>
              </a:extLst>
            </p:cNvPr>
            <p:cNvGrpSpPr>
              <a:grpSpLocks/>
            </p:cNvGrpSpPr>
            <p:nvPr/>
          </p:nvGrpSpPr>
          <p:grpSpPr bwMode="auto">
            <a:xfrm>
              <a:off x="3330575" y="2560638"/>
              <a:ext cx="1538288" cy="1058862"/>
              <a:chOff x="4402" y="1946"/>
              <a:chExt cx="969" cy="667"/>
            </a:xfrm>
          </p:grpSpPr>
          <p:grpSp>
            <p:nvGrpSpPr>
              <p:cNvPr id="38" name="Group 45">
                <a:extLst>
                  <a:ext uri="{FF2B5EF4-FFF2-40B4-BE49-F238E27FC236}">
                    <a16:creationId xmlns:a16="http://schemas.microsoft.com/office/drawing/2014/main" id="{6FC0D02B-5761-3A3C-67B3-26455DB32837}"/>
                  </a:ext>
                </a:extLst>
              </p:cNvPr>
              <p:cNvGrpSpPr>
                <a:grpSpLocks/>
              </p:cNvGrpSpPr>
              <p:nvPr/>
            </p:nvGrpSpPr>
            <p:grpSpPr bwMode="auto">
              <a:xfrm>
                <a:off x="4628" y="2328"/>
                <a:ext cx="743" cy="285"/>
                <a:chOff x="2442" y="2199"/>
                <a:chExt cx="743" cy="285"/>
              </a:xfrm>
            </p:grpSpPr>
            <p:sp>
              <p:nvSpPr>
                <p:cNvPr id="71" name="AutoShape 46">
                  <a:extLst>
                    <a:ext uri="{FF2B5EF4-FFF2-40B4-BE49-F238E27FC236}">
                      <a16:creationId xmlns:a16="http://schemas.microsoft.com/office/drawing/2014/main" id="{343DB9D3-F5A4-16B1-6F3F-51822190A58C}"/>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72" name="Line 47">
                  <a:extLst>
                    <a:ext uri="{FF2B5EF4-FFF2-40B4-BE49-F238E27FC236}">
                      <a16:creationId xmlns:a16="http://schemas.microsoft.com/office/drawing/2014/main" id="{C05D92C5-056E-2F03-787E-DF996DC2C144}"/>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3" name="Line 48">
                  <a:extLst>
                    <a:ext uri="{FF2B5EF4-FFF2-40B4-BE49-F238E27FC236}">
                      <a16:creationId xmlns:a16="http://schemas.microsoft.com/office/drawing/2014/main" id="{9B45BA0B-C964-F822-00E2-037AAE688443}"/>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4" name="Line 49">
                  <a:extLst>
                    <a:ext uri="{FF2B5EF4-FFF2-40B4-BE49-F238E27FC236}">
                      <a16:creationId xmlns:a16="http://schemas.microsoft.com/office/drawing/2014/main" id="{F200039F-04E0-7D04-DF7D-EBFCCE8045B1}"/>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5" name="Line 50">
                  <a:extLst>
                    <a:ext uri="{FF2B5EF4-FFF2-40B4-BE49-F238E27FC236}">
                      <a16:creationId xmlns:a16="http://schemas.microsoft.com/office/drawing/2014/main" id="{1BC8B708-4C68-3E16-E569-0E9D9F07E74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76" name="Line 51">
                  <a:extLst>
                    <a:ext uri="{FF2B5EF4-FFF2-40B4-BE49-F238E27FC236}">
                      <a16:creationId xmlns:a16="http://schemas.microsoft.com/office/drawing/2014/main" id="{612E27B7-697A-12BC-43F8-D9F91CBC6425}"/>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7" name="Line 52">
                  <a:extLst>
                    <a:ext uri="{FF2B5EF4-FFF2-40B4-BE49-F238E27FC236}">
                      <a16:creationId xmlns:a16="http://schemas.microsoft.com/office/drawing/2014/main" id="{D1D7AB4B-AE0F-F214-308E-22CC55129BAF}"/>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39" name="Group 53">
                <a:extLst>
                  <a:ext uri="{FF2B5EF4-FFF2-40B4-BE49-F238E27FC236}">
                    <a16:creationId xmlns:a16="http://schemas.microsoft.com/office/drawing/2014/main" id="{BD6C6A97-EB4B-5F7C-7807-D7C3C3B2360B}"/>
                  </a:ext>
                </a:extLst>
              </p:cNvPr>
              <p:cNvGrpSpPr>
                <a:grpSpLocks/>
              </p:cNvGrpSpPr>
              <p:nvPr/>
            </p:nvGrpSpPr>
            <p:grpSpPr bwMode="auto">
              <a:xfrm>
                <a:off x="4583" y="2251"/>
                <a:ext cx="743" cy="285"/>
                <a:chOff x="2442" y="2199"/>
                <a:chExt cx="743" cy="285"/>
              </a:xfrm>
            </p:grpSpPr>
            <p:sp>
              <p:nvSpPr>
                <p:cNvPr id="64" name="AutoShape 54">
                  <a:extLst>
                    <a:ext uri="{FF2B5EF4-FFF2-40B4-BE49-F238E27FC236}">
                      <a16:creationId xmlns:a16="http://schemas.microsoft.com/office/drawing/2014/main" id="{06728B0E-9F60-BB07-0E9A-57DBED044C1F}"/>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65" name="Line 55">
                  <a:extLst>
                    <a:ext uri="{FF2B5EF4-FFF2-40B4-BE49-F238E27FC236}">
                      <a16:creationId xmlns:a16="http://schemas.microsoft.com/office/drawing/2014/main" id="{8B7DAB0B-EDF5-7BEC-7FE2-32893AA00C36}"/>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6" name="Line 56">
                  <a:extLst>
                    <a:ext uri="{FF2B5EF4-FFF2-40B4-BE49-F238E27FC236}">
                      <a16:creationId xmlns:a16="http://schemas.microsoft.com/office/drawing/2014/main" id="{50E82851-233E-253B-42AA-101B4F1A92C4}"/>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7" name="Line 57">
                  <a:extLst>
                    <a:ext uri="{FF2B5EF4-FFF2-40B4-BE49-F238E27FC236}">
                      <a16:creationId xmlns:a16="http://schemas.microsoft.com/office/drawing/2014/main" id="{3AFB0B63-E9BE-21D3-EB43-6D56A1655F94}"/>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8" name="Line 58">
                  <a:extLst>
                    <a:ext uri="{FF2B5EF4-FFF2-40B4-BE49-F238E27FC236}">
                      <a16:creationId xmlns:a16="http://schemas.microsoft.com/office/drawing/2014/main" id="{97175FD9-67D9-90E3-46D2-41463BEBC17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69" name="Line 59">
                  <a:extLst>
                    <a:ext uri="{FF2B5EF4-FFF2-40B4-BE49-F238E27FC236}">
                      <a16:creationId xmlns:a16="http://schemas.microsoft.com/office/drawing/2014/main" id="{C38AE4C3-E309-0DC0-C7DC-A97B2C58737B}"/>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0" name="Line 60">
                  <a:extLst>
                    <a:ext uri="{FF2B5EF4-FFF2-40B4-BE49-F238E27FC236}">
                      <a16:creationId xmlns:a16="http://schemas.microsoft.com/office/drawing/2014/main" id="{3AD5AD45-8C14-13ED-F795-4934F5E59837}"/>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0" name="Group 61">
                <a:extLst>
                  <a:ext uri="{FF2B5EF4-FFF2-40B4-BE49-F238E27FC236}">
                    <a16:creationId xmlns:a16="http://schemas.microsoft.com/office/drawing/2014/main" id="{9ABDCFE6-950B-97DC-AF0C-9E7C81A61291}"/>
                  </a:ext>
                </a:extLst>
              </p:cNvPr>
              <p:cNvGrpSpPr>
                <a:grpSpLocks/>
              </p:cNvGrpSpPr>
              <p:nvPr/>
            </p:nvGrpSpPr>
            <p:grpSpPr bwMode="auto">
              <a:xfrm>
                <a:off x="4544" y="2143"/>
                <a:ext cx="743" cy="285"/>
                <a:chOff x="2442" y="2199"/>
                <a:chExt cx="743" cy="285"/>
              </a:xfrm>
            </p:grpSpPr>
            <p:sp>
              <p:nvSpPr>
                <p:cNvPr id="57" name="AutoShape 62">
                  <a:extLst>
                    <a:ext uri="{FF2B5EF4-FFF2-40B4-BE49-F238E27FC236}">
                      <a16:creationId xmlns:a16="http://schemas.microsoft.com/office/drawing/2014/main" id="{3B2539EA-C8ED-DAFB-A19C-B692FE293E64}"/>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8" name="Line 63">
                  <a:extLst>
                    <a:ext uri="{FF2B5EF4-FFF2-40B4-BE49-F238E27FC236}">
                      <a16:creationId xmlns:a16="http://schemas.microsoft.com/office/drawing/2014/main" id="{BFDC5F0C-7E20-4719-8F95-C687082F1619}"/>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9" name="Line 64">
                  <a:extLst>
                    <a:ext uri="{FF2B5EF4-FFF2-40B4-BE49-F238E27FC236}">
                      <a16:creationId xmlns:a16="http://schemas.microsoft.com/office/drawing/2014/main" id="{61F75909-5A4C-185B-0009-5D905A83BC85}"/>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0" name="Line 65">
                  <a:extLst>
                    <a:ext uri="{FF2B5EF4-FFF2-40B4-BE49-F238E27FC236}">
                      <a16:creationId xmlns:a16="http://schemas.microsoft.com/office/drawing/2014/main" id="{AE3F6B88-F951-6686-B1F9-6C48479EE373}"/>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1" name="Line 66">
                  <a:extLst>
                    <a:ext uri="{FF2B5EF4-FFF2-40B4-BE49-F238E27FC236}">
                      <a16:creationId xmlns:a16="http://schemas.microsoft.com/office/drawing/2014/main" id="{BBC8FF0D-2C7B-1DB7-4CC4-D09F7BE0B2F3}"/>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62" name="Line 67">
                  <a:extLst>
                    <a:ext uri="{FF2B5EF4-FFF2-40B4-BE49-F238E27FC236}">
                      <a16:creationId xmlns:a16="http://schemas.microsoft.com/office/drawing/2014/main" id="{B36B52C8-9926-BFEB-18D8-A59ABC7C3283}"/>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63" name="Line 68">
                  <a:extLst>
                    <a:ext uri="{FF2B5EF4-FFF2-40B4-BE49-F238E27FC236}">
                      <a16:creationId xmlns:a16="http://schemas.microsoft.com/office/drawing/2014/main" id="{91C2D2E3-F983-0565-84BF-AD3ABA34B87F}"/>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1" name="Group 69">
                <a:extLst>
                  <a:ext uri="{FF2B5EF4-FFF2-40B4-BE49-F238E27FC236}">
                    <a16:creationId xmlns:a16="http://schemas.microsoft.com/office/drawing/2014/main" id="{51A8B34D-2158-D535-F77B-B6E13A4254EF}"/>
                  </a:ext>
                </a:extLst>
              </p:cNvPr>
              <p:cNvGrpSpPr>
                <a:grpSpLocks/>
              </p:cNvGrpSpPr>
              <p:nvPr/>
            </p:nvGrpSpPr>
            <p:grpSpPr bwMode="auto">
              <a:xfrm>
                <a:off x="4473" y="2061"/>
                <a:ext cx="743" cy="285"/>
                <a:chOff x="2442" y="2199"/>
                <a:chExt cx="743" cy="285"/>
              </a:xfrm>
            </p:grpSpPr>
            <p:sp>
              <p:nvSpPr>
                <p:cNvPr id="50" name="AutoShape 70">
                  <a:extLst>
                    <a:ext uri="{FF2B5EF4-FFF2-40B4-BE49-F238E27FC236}">
                      <a16:creationId xmlns:a16="http://schemas.microsoft.com/office/drawing/2014/main" id="{E6C69788-9CD1-786B-C3A1-ACA87333319B}"/>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1" name="Line 71">
                  <a:extLst>
                    <a:ext uri="{FF2B5EF4-FFF2-40B4-BE49-F238E27FC236}">
                      <a16:creationId xmlns:a16="http://schemas.microsoft.com/office/drawing/2014/main" id="{7AC3830A-B133-81F8-3EC2-16B22869259F}"/>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2" name="Line 72">
                  <a:extLst>
                    <a:ext uri="{FF2B5EF4-FFF2-40B4-BE49-F238E27FC236}">
                      <a16:creationId xmlns:a16="http://schemas.microsoft.com/office/drawing/2014/main" id="{432B6BFB-A42A-6724-258C-FACCF2E41820}"/>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3" name="Line 73">
                  <a:extLst>
                    <a:ext uri="{FF2B5EF4-FFF2-40B4-BE49-F238E27FC236}">
                      <a16:creationId xmlns:a16="http://schemas.microsoft.com/office/drawing/2014/main" id="{03CB91F8-4E5B-9BAC-727E-CA21808DDDB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4" name="Line 74">
                  <a:extLst>
                    <a:ext uri="{FF2B5EF4-FFF2-40B4-BE49-F238E27FC236}">
                      <a16:creationId xmlns:a16="http://schemas.microsoft.com/office/drawing/2014/main" id="{C9C07046-B47B-D957-1A9E-5B6C7FB3B8A7}"/>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55" name="Line 75">
                  <a:extLst>
                    <a:ext uri="{FF2B5EF4-FFF2-40B4-BE49-F238E27FC236}">
                      <a16:creationId xmlns:a16="http://schemas.microsoft.com/office/drawing/2014/main" id="{1EBD271F-318A-ECE3-D116-96173BC17B71}"/>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56" name="Line 76">
                  <a:extLst>
                    <a:ext uri="{FF2B5EF4-FFF2-40B4-BE49-F238E27FC236}">
                      <a16:creationId xmlns:a16="http://schemas.microsoft.com/office/drawing/2014/main" id="{09F3FEEB-0CCC-A640-8326-274CDFD96EBD}"/>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42" name="Group 77">
                <a:extLst>
                  <a:ext uri="{FF2B5EF4-FFF2-40B4-BE49-F238E27FC236}">
                    <a16:creationId xmlns:a16="http://schemas.microsoft.com/office/drawing/2014/main" id="{015983A2-698B-2227-7DBA-E710EEAA05A4}"/>
                  </a:ext>
                </a:extLst>
              </p:cNvPr>
              <p:cNvGrpSpPr>
                <a:grpSpLocks/>
              </p:cNvGrpSpPr>
              <p:nvPr/>
            </p:nvGrpSpPr>
            <p:grpSpPr bwMode="auto">
              <a:xfrm>
                <a:off x="4402" y="1946"/>
                <a:ext cx="743" cy="285"/>
                <a:chOff x="2442" y="2199"/>
                <a:chExt cx="743" cy="285"/>
              </a:xfrm>
            </p:grpSpPr>
            <p:sp>
              <p:nvSpPr>
                <p:cNvPr id="43" name="AutoShape 78">
                  <a:extLst>
                    <a:ext uri="{FF2B5EF4-FFF2-40B4-BE49-F238E27FC236}">
                      <a16:creationId xmlns:a16="http://schemas.microsoft.com/office/drawing/2014/main" id="{20F3C2DA-E639-7B9A-34FF-FA05E6278E8E}"/>
                    </a:ext>
                  </a:extLst>
                </p:cNvPr>
                <p:cNvSpPr>
                  <a:spLocks noChangeArrowheads="1"/>
                </p:cNvSpPr>
                <p:nvPr/>
              </p:nvSpPr>
              <p:spPr bwMode="auto">
                <a:xfrm>
                  <a:off x="2442" y="2199"/>
                  <a:ext cx="743" cy="285"/>
                </a:xfrm>
                <a:prstGeom prst="cube">
                  <a:avLst>
                    <a:gd name="adj" fmla="val 89856"/>
                  </a:avLst>
                </a:prstGeom>
                <a:solidFill>
                  <a:srgbClr val="EE3228"/>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4" name="Line 79">
                  <a:extLst>
                    <a:ext uri="{FF2B5EF4-FFF2-40B4-BE49-F238E27FC236}">
                      <a16:creationId xmlns:a16="http://schemas.microsoft.com/office/drawing/2014/main" id="{BEB783FE-27D4-10B1-DD62-8C9249CB7B77}"/>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5" name="Line 80">
                  <a:extLst>
                    <a:ext uri="{FF2B5EF4-FFF2-40B4-BE49-F238E27FC236}">
                      <a16:creationId xmlns:a16="http://schemas.microsoft.com/office/drawing/2014/main" id="{5D3D54EB-AFC9-2672-7BA1-804DCCE148BA}"/>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6" name="Line 81">
                  <a:extLst>
                    <a:ext uri="{FF2B5EF4-FFF2-40B4-BE49-F238E27FC236}">
                      <a16:creationId xmlns:a16="http://schemas.microsoft.com/office/drawing/2014/main" id="{9E2238D1-3F9E-43D5-735A-44DEC2DDCF75}"/>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7" name="Line 82">
                  <a:extLst>
                    <a:ext uri="{FF2B5EF4-FFF2-40B4-BE49-F238E27FC236}">
                      <a16:creationId xmlns:a16="http://schemas.microsoft.com/office/drawing/2014/main" id="{E90C7A6F-D6A2-53F8-BB3F-E82A59C13D3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48" name="Line 83">
                  <a:extLst>
                    <a:ext uri="{FF2B5EF4-FFF2-40B4-BE49-F238E27FC236}">
                      <a16:creationId xmlns:a16="http://schemas.microsoft.com/office/drawing/2014/main" id="{155FA90E-8C8F-31AC-F82D-A89AD6AE201B}"/>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49" name="Line 84">
                  <a:extLst>
                    <a:ext uri="{FF2B5EF4-FFF2-40B4-BE49-F238E27FC236}">
                      <a16:creationId xmlns:a16="http://schemas.microsoft.com/office/drawing/2014/main" id="{1F6BF97C-7FF9-613A-6671-06BC5029DEF3}"/>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sp>
          <p:nvSpPr>
            <p:cNvPr id="78" name="Text Box 85">
              <a:extLst>
                <a:ext uri="{FF2B5EF4-FFF2-40B4-BE49-F238E27FC236}">
                  <a16:creationId xmlns:a16="http://schemas.microsoft.com/office/drawing/2014/main" id="{B3F59234-FFA3-5519-7E22-49B07EAE7D07}"/>
                </a:ext>
              </a:extLst>
            </p:cNvPr>
            <p:cNvSpPr txBox="1">
              <a:spLocks noChangeArrowheads="1"/>
            </p:cNvSpPr>
            <p:nvPr/>
          </p:nvSpPr>
          <p:spPr bwMode="auto">
            <a:xfrm>
              <a:off x="635000" y="4116388"/>
              <a:ext cx="3633008" cy="56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800" dirty="0">
                  <a:solidFill>
                    <a:srgbClr val="DD4141"/>
                  </a:solidFill>
                  <a:latin typeface="Roboto" panose="02000000000000000000" pitchFamily="2" charset="0"/>
                  <a:ea typeface="Roboto" panose="02000000000000000000" pitchFamily="2" charset="0"/>
                </a:rPr>
                <a:t>Processing Time = 120 min. cycle x 60 sec.</a:t>
              </a:r>
            </a:p>
            <a:p>
              <a:pPr algn="l">
                <a:lnSpc>
                  <a:spcPct val="100000"/>
                </a:lnSpc>
                <a:spcBef>
                  <a:spcPct val="30000"/>
                </a:spcBef>
              </a:pPr>
              <a:r>
                <a:rPr lang="en-US" altLang="en-US" sz="1800" dirty="0">
                  <a:solidFill>
                    <a:srgbClr val="DD4141"/>
                  </a:solidFill>
                  <a:latin typeface="Roboto" panose="02000000000000000000" pitchFamily="2" charset="0"/>
                  <a:ea typeface="Roboto" panose="02000000000000000000" pitchFamily="2" charset="0"/>
                </a:rPr>
                <a:t>Processing Time = 7,200 sec.</a:t>
              </a:r>
            </a:p>
          </p:txBody>
        </p:sp>
      </p:grpSp>
      <p:cxnSp>
        <p:nvCxnSpPr>
          <p:cNvPr id="91" name="Connector: Elbow 90">
            <a:extLst>
              <a:ext uri="{FF2B5EF4-FFF2-40B4-BE49-F238E27FC236}">
                <a16:creationId xmlns:a16="http://schemas.microsoft.com/office/drawing/2014/main" id="{7A82CD62-3007-DDF7-CF04-2452F8709384}"/>
              </a:ext>
            </a:extLst>
          </p:cNvPr>
          <p:cNvCxnSpPr>
            <a:cxnSpLocks/>
          </p:cNvCxnSpPr>
          <p:nvPr/>
        </p:nvCxnSpPr>
        <p:spPr>
          <a:xfrm rot="5400000" flipH="1" flipV="1">
            <a:off x="6881131" y="2200713"/>
            <a:ext cx="1121384" cy="967846"/>
          </a:xfrm>
          <a:prstGeom prst="bentConnector3">
            <a:avLst>
              <a:gd name="adj1" fmla="val 101837"/>
            </a:avLst>
          </a:prstGeom>
          <a:noFill/>
          <a:ln w="28575" cap="flat">
            <a:solidFill>
              <a:srgbClr val="EE3228"/>
            </a:solidFill>
            <a:prstDash val="solid"/>
            <a:miter lim="400000"/>
            <a:tailEnd type="triangle"/>
          </a:ln>
          <a:effectLst/>
          <a:sp3d/>
        </p:spPr>
        <p:style>
          <a:lnRef idx="0">
            <a:scrgbClr r="0" g="0" b="0"/>
          </a:lnRef>
          <a:fillRef idx="0">
            <a:scrgbClr r="0" g="0" b="0"/>
          </a:fillRef>
          <a:effectRef idx="0">
            <a:scrgbClr r="0" g="0" b="0"/>
          </a:effectRef>
          <a:fontRef idx="none"/>
        </p:style>
      </p:cxnSp>
      <p:cxnSp>
        <p:nvCxnSpPr>
          <p:cNvPr id="93" name="Connector: Elbow 92">
            <a:extLst>
              <a:ext uri="{FF2B5EF4-FFF2-40B4-BE49-F238E27FC236}">
                <a16:creationId xmlns:a16="http://schemas.microsoft.com/office/drawing/2014/main" id="{86676124-8D81-BBF0-4F6E-5FEF149D3FDE}"/>
              </a:ext>
            </a:extLst>
          </p:cNvPr>
          <p:cNvCxnSpPr>
            <a:cxnSpLocks/>
          </p:cNvCxnSpPr>
          <p:nvPr/>
        </p:nvCxnSpPr>
        <p:spPr>
          <a:xfrm>
            <a:off x="6058119" y="3148521"/>
            <a:ext cx="1792805" cy="481657"/>
          </a:xfrm>
          <a:prstGeom prst="bentConnector3">
            <a:avLst>
              <a:gd name="adj1" fmla="val 50000"/>
            </a:avLst>
          </a:prstGeom>
          <a:noFill/>
          <a:ln w="28575" cap="flat">
            <a:solidFill>
              <a:srgbClr val="EE3228"/>
            </a:solidFill>
            <a:prstDash val="solid"/>
            <a:miter lim="400000"/>
            <a:tailEnd type="triangle"/>
          </a:ln>
          <a:effectLst/>
          <a:sp3d/>
        </p:spPr>
        <p:style>
          <a:lnRef idx="0">
            <a:scrgbClr r="0" g="0" b="0"/>
          </a:lnRef>
          <a:fillRef idx="0">
            <a:scrgbClr r="0" g="0" b="0"/>
          </a:fillRef>
          <a:effectRef idx="0">
            <a:scrgbClr r="0" g="0" b="0"/>
          </a:effectRef>
          <a:fontRef idx="none"/>
        </p:style>
      </p:cxnSp>
      <p:grpSp>
        <p:nvGrpSpPr>
          <p:cNvPr id="13" name="Group 12">
            <a:extLst>
              <a:ext uri="{FF2B5EF4-FFF2-40B4-BE49-F238E27FC236}">
                <a16:creationId xmlns:a16="http://schemas.microsoft.com/office/drawing/2014/main" id="{F5F3753F-CE19-37F0-67B4-F15553573D09}"/>
              </a:ext>
            </a:extLst>
          </p:cNvPr>
          <p:cNvGrpSpPr/>
          <p:nvPr/>
        </p:nvGrpSpPr>
        <p:grpSpPr>
          <a:xfrm>
            <a:off x="940004" y="330919"/>
            <a:ext cx="6217883" cy="311851"/>
            <a:chOff x="940249" y="302538"/>
            <a:chExt cx="6219503" cy="311932"/>
          </a:xfrm>
        </p:grpSpPr>
        <p:sp>
          <p:nvSpPr>
            <p:cNvPr id="18" name="TextBox 17">
              <a:extLst>
                <a:ext uri="{FF2B5EF4-FFF2-40B4-BE49-F238E27FC236}">
                  <a16:creationId xmlns:a16="http://schemas.microsoft.com/office/drawing/2014/main" id="{7A184808-CD8B-21F2-2926-6544409D836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9" name="AutoShape 9">
              <a:extLst>
                <a:ext uri="{FF2B5EF4-FFF2-40B4-BE49-F238E27FC236}">
                  <a16:creationId xmlns:a16="http://schemas.microsoft.com/office/drawing/2014/main" id="{4F3FB9FB-0FB4-EF77-FC11-E44421007FE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600679D3-5D4F-B753-E260-CFC54048F4F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E5539AF2-04A5-1091-32C0-2B946CC8760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0E7E54BB-6F73-5DA5-AAB4-61FDA7D32DF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D4CCF104-F619-D990-17D9-925FF69B6FF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80" name="Slide Number Placeholder 2">
            <a:extLst>
              <a:ext uri="{FF2B5EF4-FFF2-40B4-BE49-F238E27FC236}">
                <a16:creationId xmlns:a16="http://schemas.microsoft.com/office/drawing/2014/main" id="{DE7607D0-22DA-E811-4D53-DBFAB473C9B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53</a:t>
            </a:fld>
            <a:endParaRPr lang="en-US" dirty="0"/>
          </a:p>
        </p:txBody>
      </p:sp>
    </p:spTree>
    <p:extLst>
      <p:ext uri="{BB962C8B-B14F-4D97-AF65-F5344CB8AC3E}">
        <p14:creationId xmlns:p14="http://schemas.microsoft.com/office/powerpoint/2010/main" val="398827792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DD4141"/>
                </a:solidFill>
              </a:rPr>
              <a:t>Data Boxes</a:t>
            </a:r>
            <a:endParaRPr lang="en-US" dirty="0">
              <a:solidFill>
                <a:srgbClr val="DD4141"/>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914243" y="2156818"/>
            <a:ext cx="4633211" cy="115927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Ship</a:t>
            </a:r>
          </a:p>
          <a:p>
            <a:pPr marL="457109" lvl="3" indent="-228554" algn="l">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Daily orders are shipped daily by truck</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5660771" y="1602135"/>
            <a:ext cx="5130109" cy="2277533"/>
            <a:chOff x="11124027" y="3155085"/>
            <a:chExt cx="3987805" cy="1684330"/>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360819" y="3386853"/>
              <a:ext cx="1751013" cy="1452562"/>
              <a:chOff x="433" y="2859"/>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33" y="2859"/>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35" y="2961"/>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646040" y="3155085"/>
              <a:ext cx="1261270" cy="29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11124027" y="3435807"/>
              <a:ext cx="3957638" cy="409575"/>
              <a:chOff x="3038" y="920"/>
              <a:chExt cx="2493" cy="258"/>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flipV="1">
                <a:off x="3038" y="1077"/>
                <a:ext cx="1515" cy="29"/>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74" y="920"/>
                <a:ext cx="1057"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Ship</a:t>
                </a:r>
              </a:p>
            </p:txBody>
          </p:sp>
        </p:grpSp>
      </p:grpSp>
      <p:grpSp>
        <p:nvGrpSpPr>
          <p:cNvPr id="4" name="Group 3">
            <a:extLst>
              <a:ext uri="{FF2B5EF4-FFF2-40B4-BE49-F238E27FC236}">
                <a16:creationId xmlns:a16="http://schemas.microsoft.com/office/drawing/2014/main" id="{27394E6B-4E27-BF29-FF43-A09D2610A05E}"/>
              </a:ext>
            </a:extLst>
          </p:cNvPr>
          <p:cNvGrpSpPr/>
          <p:nvPr/>
        </p:nvGrpSpPr>
        <p:grpSpPr>
          <a:xfrm>
            <a:off x="8540245" y="4057481"/>
            <a:ext cx="2252590" cy="2277533"/>
            <a:chOff x="13360819" y="3155085"/>
            <a:chExt cx="1751013" cy="1684330"/>
          </a:xfrm>
        </p:grpSpPr>
        <p:sp>
          <p:nvSpPr>
            <p:cNvPr id="21" name="Rectangle 5">
              <a:extLst>
                <a:ext uri="{FF2B5EF4-FFF2-40B4-BE49-F238E27FC236}">
                  <a16:creationId xmlns:a16="http://schemas.microsoft.com/office/drawing/2014/main" id="{443231F9-7679-1523-9616-57D8BA0E35A5}"/>
                </a:ext>
              </a:extLst>
            </p:cNvPr>
            <p:cNvSpPr>
              <a:spLocks noChangeArrowheads="1"/>
            </p:cNvSpPr>
            <p:nvPr/>
          </p:nvSpPr>
          <p:spPr bwMode="auto">
            <a:xfrm>
              <a:off x="13360819" y="338685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2" name="Text Box 7">
              <a:extLst>
                <a:ext uri="{FF2B5EF4-FFF2-40B4-BE49-F238E27FC236}">
                  <a16:creationId xmlns:a16="http://schemas.microsoft.com/office/drawing/2014/main" id="{0F12C8B6-AB9E-6E0C-8C9B-92C63B3F9183}"/>
                </a:ext>
              </a:extLst>
            </p:cNvPr>
            <p:cNvSpPr txBox="1">
              <a:spLocks noChangeArrowheads="1"/>
            </p:cNvSpPr>
            <p:nvPr/>
          </p:nvSpPr>
          <p:spPr bwMode="auto">
            <a:xfrm>
              <a:off x="13764416" y="3155085"/>
              <a:ext cx="944768" cy="29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Data Box</a:t>
              </a:r>
            </a:p>
          </p:txBody>
        </p:sp>
      </p:grpSp>
      <p:grpSp>
        <p:nvGrpSpPr>
          <p:cNvPr id="11" name="Group 10">
            <a:extLst>
              <a:ext uri="{FF2B5EF4-FFF2-40B4-BE49-F238E27FC236}">
                <a16:creationId xmlns:a16="http://schemas.microsoft.com/office/drawing/2014/main" id="{0E9F6178-11DF-7CB6-51DD-97235EEFAE8F}"/>
              </a:ext>
            </a:extLst>
          </p:cNvPr>
          <p:cNvGrpSpPr/>
          <p:nvPr/>
        </p:nvGrpSpPr>
        <p:grpSpPr>
          <a:xfrm>
            <a:off x="940004" y="330919"/>
            <a:ext cx="6217883" cy="311851"/>
            <a:chOff x="940249" y="302538"/>
            <a:chExt cx="6219503" cy="311932"/>
          </a:xfrm>
        </p:grpSpPr>
        <p:sp>
          <p:nvSpPr>
            <p:cNvPr id="14" name="TextBox 13">
              <a:extLst>
                <a:ext uri="{FF2B5EF4-FFF2-40B4-BE49-F238E27FC236}">
                  <a16:creationId xmlns:a16="http://schemas.microsoft.com/office/drawing/2014/main" id="{DB74516E-C237-AF1F-29C9-29D098483E3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5" name="AutoShape 9">
              <a:extLst>
                <a:ext uri="{FF2B5EF4-FFF2-40B4-BE49-F238E27FC236}">
                  <a16:creationId xmlns:a16="http://schemas.microsoft.com/office/drawing/2014/main" id="{B7CED9DF-ACA5-E77D-8D3C-38D1DF16EB3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B7613159-58A0-B045-430A-D9CEBB9746A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9">
              <a:extLst>
                <a:ext uri="{FF2B5EF4-FFF2-40B4-BE49-F238E27FC236}">
                  <a16:creationId xmlns:a16="http://schemas.microsoft.com/office/drawing/2014/main" id="{3B7AE634-1BB2-709D-D006-453F2D8B833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7" name="AutoShape 9">
              <a:extLst>
                <a:ext uri="{FF2B5EF4-FFF2-40B4-BE49-F238E27FC236}">
                  <a16:creationId xmlns:a16="http://schemas.microsoft.com/office/drawing/2014/main" id="{F6DE4D3D-AB41-4371-C2D7-89809E552C6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9" name="AutoShape 11">
              <a:extLst>
                <a:ext uri="{FF2B5EF4-FFF2-40B4-BE49-F238E27FC236}">
                  <a16:creationId xmlns:a16="http://schemas.microsoft.com/office/drawing/2014/main" id="{40E3E5E0-1C48-4C2F-E614-3B77F8FE3E2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30" name="Slide Number Placeholder 2">
            <a:extLst>
              <a:ext uri="{FF2B5EF4-FFF2-40B4-BE49-F238E27FC236}">
                <a16:creationId xmlns:a16="http://schemas.microsoft.com/office/drawing/2014/main" id="{C08AC3E1-40D4-07A1-C998-9E4CD6C8CA94}"/>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54</a:t>
            </a:fld>
            <a:endParaRPr lang="en-US" dirty="0"/>
          </a:p>
        </p:txBody>
      </p:sp>
    </p:spTree>
    <p:extLst>
      <p:ext uri="{BB962C8B-B14F-4D97-AF65-F5344CB8AC3E}">
        <p14:creationId xmlns:p14="http://schemas.microsoft.com/office/powerpoint/2010/main" val="548569614"/>
      </p:ext>
    </p:extLst>
  </p:cSld>
  <p:clrMapOvr>
    <a:masterClrMapping/>
  </p:clrMapOvr>
  <p:extLst>
    <p:ext uri="{6950BFC3-D8DA-4A85-94F7-54DA5524770B}">
      <p188:commentRel xmlns:p188="http://schemas.microsoft.com/office/powerpoint/2018/8/main" r:id="rId3"/>
    </p:ext>
  </p:extLs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DD4141"/>
                </a:solidFill>
              </a:rPr>
              <a:t>Data Boxes</a:t>
            </a:r>
            <a:endParaRPr lang="en-US" dirty="0">
              <a:solidFill>
                <a:srgbClr val="DD4141"/>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794335" y="1745608"/>
            <a:ext cx="4875448" cy="4852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Brake Form</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Stamped pieces are formed into enclosures using a </a:t>
            </a:r>
            <a:r>
              <a:rPr lang="en-US" sz="1800" dirty="0">
                <a:solidFill>
                  <a:srgbClr val="DD4141"/>
                </a:solidFill>
                <a:latin typeface="Roboto" panose="02000000000000000000" pitchFamily="2" charset="0"/>
                <a:ea typeface="Roboto" panose="02000000000000000000" pitchFamily="2" charset="0"/>
              </a:rPr>
              <a:t>brake form </a:t>
            </a:r>
            <a:r>
              <a:rPr lang="en-US" sz="1800" dirty="0">
                <a:solidFill>
                  <a:srgbClr val="191C25"/>
                </a:solidFill>
                <a:latin typeface="Roboto" panose="02000000000000000000" pitchFamily="2" charset="0"/>
                <a:ea typeface="Roboto" panose="02000000000000000000" pitchFamily="2" charset="0"/>
              </a:rPr>
              <a:t>manually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operated by one person</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It takes </a:t>
            </a:r>
            <a:r>
              <a:rPr lang="en-US" sz="1800" dirty="0">
                <a:solidFill>
                  <a:srgbClr val="DD4141"/>
                </a:solidFill>
                <a:latin typeface="Roboto" panose="02000000000000000000" pitchFamily="2" charset="0"/>
                <a:ea typeface="Roboto" panose="02000000000000000000" pitchFamily="2" charset="0"/>
              </a:rPr>
              <a:t>20 seconds </a:t>
            </a:r>
            <a:r>
              <a:rPr lang="en-US" sz="1800" dirty="0">
                <a:solidFill>
                  <a:srgbClr val="191C25"/>
                </a:solidFill>
                <a:latin typeface="Roboto" panose="02000000000000000000" pitchFamily="2" charset="0"/>
                <a:ea typeface="Roboto" panose="02000000000000000000" pitchFamily="2" charset="0"/>
              </a:rPr>
              <a:t>to load a piece, operate the machine, and unload the piece </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It takes </a:t>
            </a:r>
            <a:r>
              <a:rPr lang="en-US" sz="1800" dirty="0">
                <a:solidFill>
                  <a:srgbClr val="DD4141"/>
                </a:solidFill>
                <a:latin typeface="Roboto" panose="02000000000000000000" pitchFamily="2" charset="0"/>
                <a:ea typeface="Roboto" panose="02000000000000000000" pitchFamily="2" charset="0"/>
              </a:rPr>
              <a:t>2 hours </a:t>
            </a:r>
            <a:r>
              <a:rPr lang="en-US" sz="1800" dirty="0">
                <a:solidFill>
                  <a:srgbClr val="191C25"/>
                </a:solidFill>
                <a:latin typeface="Roboto" panose="02000000000000000000" pitchFamily="2" charset="0"/>
                <a:ea typeface="Roboto" panose="02000000000000000000" pitchFamily="2" charset="0"/>
              </a:rPr>
              <a:t>to change over the machine for another product, however this machine is currently dedicated to the one product</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 brake form is quite reliable with an uptime of </a:t>
            </a:r>
            <a:r>
              <a:rPr lang="en-US" sz="1800" dirty="0">
                <a:solidFill>
                  <a:srgbClr val="DD4141"/>
                </a:solidFill>
                <a:latin typeface="Roboto" panose="02000000000000000000" pitchFamily="2" charset="0"/>
                <a:ea typeface="Roboto" panose="02000000000000000000" pitchFamily="2" charset="0"/>
              </a:rPr>
              <a:t>99%</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 first pass yield for this operation is </a:t>
            </a:r>
            <a:r>
              <a:rPr lang="en-US" sz="1800" dirty="0">
                <a:solidFill>
                  <a:srgbClr val="DD4141"/>
                </a:solidFill>
                <a:latin typeface="Roboto" panose="02000000000000000000" pitchFamily="2" charset="0"/>
                <a:ea typeface="Roboto" panose="02000000000000000000" pitchFamily="2" charset="0"/>
              </a:rPr>
              <a:t>85%, </a:t>
            </a:r>
            <a:r>
              <a:rPr lang="en-US" sz="1800" dirty="0">
                <a:solidFill>
                  <a:srgbClr val="191C25"/>
                </a:solidFill>
                <a:latin typeface="Roboto" panose="02000000000000000000" pitchFamily="2" charset="0"/>
                <a:ea typeface="Roboto" panose="02000000000000000000" pitchFamily="2" charset="0"/>
              </a:rPr>
              <a:t>mostly due to material handling and alignment by the operator</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After this operation, the finished product is ready to be shipped to the customer</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4265097" y="1356685"/>
            <a:ext cx="6846889" cy="2210163"/>
            <a:chOff x="9892127" y="3627229"/>
            <a:chExt cx="5145088" cy="1697700"/>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614031" y="3627229"/>
              <a:ext cx="1219271" cy="30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9892127" y="3919991"/>
              <a:ext cx="5113338" cy="614361"/>
              <a:chOff x="2262" y="1225"/>
              <a:chExt cx="3221" cy="387"/>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flipV="1">
                <a:off x="2262" y="1414"/>
                <a:ext cx="2118" cy="198"/>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Brake Form</a:t>
                </a:r>
              </a:p>
            </p:txBody>
          </p:sp>
        </p:grpSp>
      </p:grpSp>
      <p:grpSp>
        <p:nvGrpSpPr>
          <p:cNvPr id="4" name="Group 3">
            <a:extLst>
              <a:ext uri="{FF2B5EF4-FFF2-40B4-BE49-F238E27FC236}">
                <a16:creationId xmlns:a16="http://schemas.microsoft.com/office/drawing/2014/main" id="{F9FBE4E8-EA19-326D-2949-74F1F76FD4E0}"/>
              </a:ext>
            </a:extLst>
          </p:cNvPr>
          <p:cNvGrpSpPr/>
          <p:nvPr/>
        </p:nvGrpSpPr>
        <p:grpSpPr>
          <a:xfrm>
            <a:off x="8781803" y="3836409"/>
            <a:ext cx="2252590" cy="2277533"/>
            <a:chOff x="13360819" y="3155085"/>
            <a:chExt cx="1751013" cy="1684330"/>
          </a:xfrm>
        </p:grpSpPr>
        <p:sp>
          <p:nvSpPr>
            <p:cNvPr id="11" name="Rectangle 5">
              <a:extLst>
                <a:ext uri="{FF2B5EF4-FFF2-40B4-BE49-F238E27FC236}">
                  <a16:creationId xmlns:a16="http://schemas.microsoft.com/office/drawing/2014/main" id="{B51A1275-6D09-35C5-86CE-138C781AD5C5}"/>
                </a:ext>
              </a:extLst>
            </p:cNvPr>
            <p:cNvSpPr>
              <a:spLocks noChangeArrowheads="1"/>
            </p:cNvSpPr>
            <p:nvPr/>
          </p:nvSpPr>
          <p:spPr bwMode="auto">
            <a:xfrm>
              <a:off x="13360819" y="338685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rgbClr val="191C25"/>
                  </a:solidFill>
                  <a:latin typeface="Roboto" panose="02000000000000000000" pitchFamily="2" charset="0"/>
                  <a:ea typeface="Roboto" panose="02000000000000000000" pitchFamily="2" charset="0"/>
                </a:rPr>
                <a:t>DOI = 20 Sec</a:t>
              </a:r>
            </a:p>
            <a:p>
              <a:pPr algn="l"/>
              <a:r>
                <a:rPr lang="en-US" altLang="en-US" sz="1800" b="0" dirty="0">
                  <a:solidFill>
                    <a:srgbClr val="191C25"/>
                  </a:solidFill>
                  <a:latin typeface="Roboto" panose="02000000000000000000" pitchFamily="2" charset="0"/>
                  <a:ea typeface="Roboto" panose="02000000000000000000" pitchFamily="2" charset="0"/>
                </a:rPr>
                <a:t>CO/ Time = 120 min</a:t>
              </a:r>
            </a:p>
            <a:p>
              <a:pPr algn="l"/>
              <a:r>
                <a:rPr lang="en-US" altLang="en-US" sz="1800" b="0" dirty="0">
                  <a:solidFill>
                    <a:srgbClr val="191C25"/>
                  </a:solidFill>
                  <a:latin typeface="Roboto" panose="02000000000000000000" pitchFamily="2" charset="0"/>
                  <a:ea typeface="Roboto" panose="02000000000000000000" pitchFamily="2" charset="0"/>
                </a:rPr>
                <a:t>Uptime = 99%</a:t>
              </a:r>
            </a:p>
            <a:p>
              <a:pPr algn="l"/>
              <a:r>
                <a:rPr lang="en-US" altLang="en-US" sz="1800" b="0" dirty="0">
                  <a:solidFill>
                    <a:srgbClr val="191C25"/>
                  </a:solidFill>
                  <a:latin typeface="Roboto" panose="02000000000000000000" pitchFamily="2" charset="0"/>
                  <a:ea typeface="Roboto" panose="02000000000000000000" pitchFamily="2" charset="0"/>
                </a:rPr>
                <a:t>Quality = 85%</a:t>
              </a:r>
            </a:p>
          </p:txBody>
        </p:sp>
        <p:sp>
          <p:nvSpPr>
            <p:cNvPr id="12" name="Text Box 7">
              <a:extLst>
                <a:ext uri="{FF2B5EF4-FFF2-40B4-BE49-F238E27FC236}">
                  <a16:creationId xmlns:a16="http://schemas.microsoft.com/office/drawing/2014/main" id="{41823309-CE93-9676-EEC4-2BF5609E123E}"/>
                </a:ext>
              </a:extLst>
            </p:cNvPr>
            <p:cNvSpPr txBox="1">
              <a:spLocks noChangeArrowheads="1"/>
            </p:cNvSpPr>
            <p:nvPr/>
          </p:nvSpPr>
          <p:spPr bwMode="auto">
            <a:xfrm>
              <a:off x="13764416" y="3155085"/>
              <a:ext cx="944768" cy="29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EE3228"/>
                  </a:solidFill>
                  <a:latin typeface="Roboto" panose="02000000000000000000" pitchFamily="2" charset="0"/>
                  <a:ea typeface="Roboto" panose="02000000000000000000" pitchFamily="2" charset="0"/>
                </a:rPr>
                <a:t>Data Box</a:t>
              </a:r>
            </a:p>
          </p:txBody>
        </p:sp>
      </p:grpSp>
      <p:grpSp>
        <p:nvGrpSpPr>
          <p:cNvPr id="17" name="Group 16">
            <a:extLst>
              <a:ext uri="{FF2B5EF4-FFF2-40B4-BE49-F238E27FC236}">
                <a16:creationId xmlns:a16="http://schemas.microsoft.com/office/drawing/2014/main" id="{E356135A-0F77-7FA0-C853-69B2BDB97824}"/>
              </a:ext>
            </a:extLst>
          </p:cNvPr>
          <p:cNvGrpSpPr/>
          <p:nvPr/>
        </p:nvGrpSpPr>
        <p:grpSpPr>
          <a:xfrm>
            <a:off x="9142911" y="2447850"/>
            <a:ext cx="679787" cy="699248"/>
            <a:chOff x="18363333" y="5039084"/>
            <a:chExt cx="327025" cy="358775"/>
          </a:xfrm>
        </p:grpSpPr>
        <p:sp>
          <p:nvSpPr>
            <p:cNvPr id="14" name="Oval 32">
              <a:extLst>
                <a:ext uri="{FF2B5EF4-FFF2-40B4-BE49-F238E27FC236}">
                  <a16:creationId xmlns:a16="http://schemas.microsoft.com/office/drawing/2014/main" id="{DD884921-6124-912B-2E56-D510F540D13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 name="AutoShape 33">
              <a:extLst>
                <a:ext uri="{FF2B5EF4-FFF2-40B4-BE49-F238E27FC236}">
                  <a16:creationId xmlns:a16="http://schemas.microsoft.com/office/drawing/2014/main" id="{A34BFCE8-A8B3-E09D-0140-8FFD267147A2}"/>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21" name="Text Box 34">
            <a:extLst>
              <a:ext uri="{FF2B5EF4-FFF2-40B4-BE49-F238E27FC236}">
                <a16:creationId xmlns:a16="http://schemas.microsoft.com/office/drawing/2014/main" id="{86F4E115-4508-3053-3794-58484579D186}"/>
              </a:ext>
            </a:extLst>
          </p:cNvPr>
          <p:cNvSpPr txBox="1">
            <a:spLocks noChangeArrowheads="1"/>
          </p:cNvSpPr>
          <p:nvPr/>
        </p:nvSpPr>
        <p:spPr bwMode="auto">
          <a:xfrm>
            <a:off x="10154142" y="2656878"/>
            <a:ext cx="5629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mn-lt"/>
              </a:rPr>
              <a:t>= 1</a:t>
            </a:r>
          </a:p>
        </p:txBody>
      </p:sp>
      <p:sp>
        <p:nvSpPr>
          <p:cNvPr id="24" name="Line 11">
            <a:extLst>
              <a:ext uri="{FF2B5EF4-FFF2-40B4-BE49-F238E27FC236}">
                <a16:creationId xmlns:a16="http://schemas.microsoft.com/office/drawing/2014/main" id="{0EEAFBFA-D815-2821-0923-4E63757EC249}"/>
              </a:ext>
            </a:extLst>
          </p:cNvPr>
          <p:cNvSpPr>
            <a:spLocks noChangeShapeType="1"/>
          </p:cNvSpPr>
          <p:nvPr/>
        </p:nvSpPr>
        <p:spPr bwMode="auto">
          <a:xfrm flipV="1">
            <a:off x="3657600" y="2591944"/>
            <a:ext cx="5250761" cy="243041"/>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dirty="0"/>
          </a:p>
        </p:txBody>
      </p:sp>
      <p:sp>
        <p:nvSpPr>
          <p:cNvPr id="27" name="Line 11">
            <a:extLst>
              <a:ext uri="{FF2B5EF4-FFF2-40B4-BE49-F238E27FC236}">
                <a16:creationId xmlns:a16="http://schemas.microsoft.com/office/drawing/2014/main" id="{7081ED3C-117C-4F94-8826-FC1B2C8B77B8}"/>
              </a:ext>
            </a:extLst>
          </p:cNvPr>
          <p:cNvSpPr>
            <a:spLocks noChangeShapeType="1"/>
          </p:cNvSpPr>
          <p:nvPr/>
        </p:nvSpPr>
        <p:spPr bwMode="auto">
          <a:xfrm>
            <a:off x="5414313" y="3163162"/>
            <a:ext cx="3247148" cy="1185226"/>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0" name="Line 11">
            <a:extLst>
              <a:ext uri="{FF2B5EF4-FFF2-40B4-BE49-F238E27FC236}">
                <a16:creationId xmlns:a16="http://schemas.microsoft.com/office/drawing/2014/main" id="{66C844DD-7C0B-AAB8-AFD6-AF01C50F39F8}"/>
              </a:ext>
            </a:extLst>
          </p:cNvPr>
          <p:cNvSpPr>
            <a:spLocks noChangeShapeType="1"/>
          </p:cNvSpPr>
          <p:nvPr/>
        </p:nvSpPr>
        <p:spPr bwMode="auto">
          <a:xfrm>
            <a:off x="2841171" y="4754372"/>
            <a:ext cx="5820289" cy="220804"/>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1" name="Line 11">
            <a:extLst>
              <a:ext uri="{FF2B5EF4-FFF2-40B4-BE49-F238E27FC236}">
                <a16:creationId xmlns:a16="http://schemas.microsoft.com/office/drawing/2014/main" id="{AE12C58C-C7DC-BD20-C03F-C611BD5FF9FA}"/>
              </a:ext>
            </a:extLst>
          </p:cNvPr>
          <p:cNvSpPr>
            <a:spLocks noChangeShapeType="1"/>
          </p:cNvSpPr>
          <p:nvPr/>
        </p:nvSpPr>
        <p:spPr bwMode="auto">
          <a:xfrm flipV="1">
            <a:off x="3056709" y="5600709"/>
            <a:ext cx="5682843" cy="0"/>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grpSp>
        <p:nvGrpSpPr>
          <p:cNvPr id="35" name="Group 34">
            <a:extLst>
              <a:ext uri="{FF2B5EF4-FFF2-40B4-BE49-F238E27FC236}">
                <a16:creationId xmlns:a16="http://schemas.microsoft.com/office/drawing/2014/main" id="{D63F7A8A-D357-5788-A710-CC3CBAA62F6F}"/>
              </a:ext>
            </a:extLst>
          </p:cNvPr>
          <p:cNvGrpSpPr/>
          <p:nvPr/>
        </p:nvGrpSpPr>
        <p:grpSpPr>
          <a:xfrm>
            <a:off x="5414312" y="3736239"/>
            <a:ext cx="3233907" cy="925542"/>
            <a:chOff x="10831446" y="7472640"/>
            <a:chExt cx="6469499" cy="1851566"/>
          </a:xfrm>
        </p:grpSpPr>
        <p:sp>
          <p:nvSpPr>
            <p:cNvPr id="29" name="Line 11">
              <a:extLst>
                <a:ext uri="{FF2B5EF4-FFF2-40B4-BE49-F238E27FC236}">
                  <a16:creationId xmlns:a16="http://schemas.microsoft.com/office/drawing/2014/main" id="{F8932DC9-B848-B656-6C92-AD1AFD10C41A}"/>
                </a:ext>
              </a:extLst>
            </p:cNvPr>
            <p:cNvSpPr>
              <a:spLocks noChangeShapeType="1"/>
            </p:cNvSpPr>
            <p:nvPr/>
          </p:nvSpPr>
          <p:spPr bwMode="auto">
            <a:xfrm>
              <a:off x="10831446" y="7472640"/>
              <a:ext cx="6469499" cy="1851566"/>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4" name="Rectangle 82">
              <a:extLst>
                <a:ext uri="{FF2B5EF4-FFF2-40B4-BE49-F238E27FC236}">
                  <a16:creationId xmlns:a16="http://schemas.microsoft.com/office/drawing/2014/main" id="{3D9025D3-FD3D-8CFA-F1FE-57884CE08BAE}"/>
                </a:ext>
              </a:extLst>
            </p:cNvPr>
            <p:cNvSpPr>
              <a:spLocks noChangeArrowheads="1"/>
            </p:cNvSpPr>
            <p:nvPr/>
          </p:nvSpPr>
          <p:spPr bwMode="auto">
            <a:xfrm>
              <a:off x="11182495" y="7543205"/>
              <a:ext cx="3733666" cy="1292998"/>
            </a:xfrm>
            <a:prstGeom prst="rect">
              <a:avLst/>
            </a:prstGeom>
            <a:solidFill>
              <a:schemeClr val="bg1"/>
            </a:solidFill>
            <a:ln w="12700" cap="sq">
              <a:solidFill>
                <a:srgbClr val="DD4141"/>
              </a:solidFill>
              <a:miter lim="800000"/>
              <a:headEnd type="none" w="sm" len="sm"/>
              <a:tailEnd type="none" w="sm" len="sm"/>
            </a:ln>
          </p:spPr>
          <p:txBody>
            <a:bodyPr wrap="square" anchor="ct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rgbClr val="DD4141"/>
                  </a:solidFill>
                  <a:latin typeface="Roboto" panose="02000000000000000000" pitchFamily="2" charset="0"/>
                  <a:ea typeface="Roboto" panose="02000000000000000000" pitchFamily="2" charset="0"/>
                </a:rPr>
                <a:t>2 hours x 60 = 120 minutes</a:t>
              </a:r>
              <a:endParaRPr lang="en-US" altLang="en-US" sz="1800" b="0" dirty="0">
                <a:solidFill>
                  <a:srgbClr val="DD4141"/>
                </a:solidFill>
                <a:latin typeface="Roboto" panose="02000000000000000000" pitchFamily="2" charset="0"/>
                <a:ea typeface="Roboto" panose="02000000000000000000" pitchFamily="2" charset="0"/>
                <a:cs typeface="Arial" panose="020B0604020202020204" pitchFamily="34" charset="0"/>
              </a:endParaRPr>
            </a:p>
          </p:txBody>
        </p:sp>
      </p:grpSp>
      <p:grpSp>
        <p:nvGrpSpPr>
          <p:cNvPr id="32" name="Group 31">
            <a:extLst>
              <a:ext uri="{FF2B5EF4-FFF2-40B4-BE49-F238E27FC236}">
                <a16:creationId xmlns:a16="http://schemas.microsoft.com/office/drawing/2014/main" id="{7C88DE7E-92CB-C35C-F77C-B8AF832DB0E1}"/>
              </a:ext>
            </a:extLst>
          </p:cNvPr>
          <p:cNvGrpSpPr/>
          <p:nvPr/>
        </p:nvGrpSpPr>
        <p:grpSpPr>
          <a:xfrm>
            <a:off x="940004" y="330919"/>
            <a:ext cx="6217883" cy="311851"/>
            <a:chOff x="940249" y="302538"/>
            <a:chExt cx="6219503" cy="311932"/>
          </a:xfrm>
        </p:grpSpPr>
        <p:sp>
          <p:nvSpPr>
            <p:cNvPr id="33" name="TextBox 32">
              <a:extLst>
                <a:ext uri="{FF2B5EF4-FFF2-40B4-BE49-F238E27FC236}">
                  <a16:creationId xmlns:a16="http://schemas.microsoft.com/office/drawing/2014/main" id="{8E028508-23DD-9521-1A16-F2D14768A2B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28A85946-8A04-DF2B-6D39-5FCDEF21732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7" name="AutoShape 9">
              <a:extLst>
                <a:ext uri="{FF2B5EF4-FFF2-40B4-BE49-F238E27FC236}">
                  <a16:creationId xmlns:a16="http://schemas.microsoft.com/office/drawing/2014/main" id="{9EF05610-C2C7-5D61-EE2A-AEF2431C768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8" name="AutoShape 9">
              <a:extLst>
                <a:ext uri="{FF2B5EF4-FFF2-40B4-BE49-F238E27FC236}">
                  <a16:creationId xmlns:a16="http://schemas.microsoft.com/office/drawing/2014/main" id="{C43EEA76-E7FE-AD50-E291-B894EB8FF1D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9" name="AutoShape 9">
              <a:extLst>
                <a:ext uri="{FF2B5EF4-FFF2-40B4-BE49-F238E27FC236}">
                  <a16:creationId xmlns:a16="http://schemas.microsoft.com/office/drawing/2014/main" id="{3E8CB2D2-777D-11D9-25FC-FAB3E733399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0" name="AutoShape 11">
              <a:extLst>
                <a:ext uri="{FF2B5EF4-FFF2-40B4-BE49-F238E27FC236}">
                  <a16:creationId xmlns:a16="http://schemas.microsoft.com/office/drawing/2014/main" id="{F202786C-7088-8EC2-84E2-93FABA59375E}"/>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41" name="Slide Number Placeholder 2">
            <a:extLst>
              <a:ext uri="{FF2B5EF4-FFF2-40B4-BE49-F238E27FC236}">
                <a16:creationId xmlns:a16="http://schemas.microsoft.com/office/drawing/2014/main" id="{8FCDBF95-02A2-2354-89E9-B2ECA844F5D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55</a:t>
            </a:fld>
            <a:endParaRPr lang="en-US" dirty="0"/>
          </a:p>
        </p:txBody>
      </p:sp>
    </p:spTree>
    <p:extLst>
      <p:ext uri="{BB962C8B-B14F-4D97-AF65-F5344CB8AC3E}">
        <p14:creationId xmlns:p14="http://schemas.microsoft.com/office/powerpoint/2010/main" val="158994093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DD4141"/>
                </a:solidFill>
              </a:rPr>
              <a:t>Data Boxes</a:t>
            </a:r>
            <a:endParaRPr lang="en-US" dirty="0">
              <a:solidFill>
                <a:srgbClr val="DD4141"/>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1855796"/>
            <a:ext cx="4875448" cy="4852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Stamp</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Cut sheet metal pieces are stamped by machine to add features such as holes,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slots and bend tabs</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There is a single stamping press,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operated by </a:t>
            </a:r>
            <a:r>
              <a:rPr lang="en-US" sz="1800" dirty="0">
                <a:solidFill>
                  <a:srgbClr val="DD4141"/>
                </a:solidFill>
                <a:latin typeface="Roboto" panose="02000000000000000000" pitchFamily="2" charset="0"/>
                <a:ea typeface="Roboto" panose="02000000000000000000" pitchFamily="2" charset="0"/>
              </a:rPr>
              <a:t>one person</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It takes </a:t>
            </a:r>
            <a:r>
              <a:rPr lang="en-US" sz="1800" dirty="0">
                <a:solidFill>
                  <a:srgbClr val="DD4141"/>
                </a:solidFill>
                <a:latin typeface="Roboto" panose="02000000000000000000" pitchFamily="2" charset="0"/>
                <a:ea typeface="Roboto" panose="02000000000000000000" pitchFamily="2" charset="0"/>
              </a:rPr>
              <a:t>15 seconds </a:t>
            </a:r>
            <a:r>
              <a:rPr lang="en-US" sz="1800" dirty="0">
                <a:solidFill>
                  <a:srgbClr val="191C25"/>
                </a:solidFill>
                <a:latin typeface="Roboto" panose="02000000000000000000" pitchFamily="2" charset="0"/>
                <a:ea typeface="Roboto" panose="02000000000000000000" pitchFamily="2" charset="0"/>
              </a:rPr>
              <a:t>to load a piece,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operate the machine, and unload the piece</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It takes </a:t>
            </a:r>
            <a:r>
              <a:rPr lang="en-US" sz="1800" dirty="0">
                <a:solidFill>
                  <a:srgbClr val="DD4141"/>
                </a:solidFill>
                <a:latin typeface="Roboto" panose="02000000000000000000" pitchFamily="2" charset="0"/>
                <a:ea typeface="Roboto" panose="02000000000000000000" pitchFamily="2" charset="0"/>
              </a:rPr>
              <a:t>30 minutes </a:t>
            </a:r>
            <a:r>
              <a:rPr lang="en-US" sz="1800" dirty="0">
                <a:solidFill>
                  <a:srgbClr val="191C25"/>
                </a:solidFill>
                <a:latin typeface="Roboto" panose="02000000000000000000" pitchFamily="2" charset="0"/>
                <a:ea typeface="Roboto" panose="02000000000000000000" pitchFamily="2" charset="0"/>
              </a:rPr>
              <a:t>to change over the press for another product, however this machine is currently dedicated to the one product</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 stamping press is highly reliable with an </a:t>
            </a:r>
            <a:r>
              <a:rPr lang="en-US" sz="1800" dirty="0">
                <a:solidFill>
                  <a:srgbClr val="DD4141"/>
                </a:solidFill>
                <a:latin typeface="Roboto" panose="02000000000000000000" pitchFamily="2" charset="0"/>
                <a:ea typeface="Roboto" panose="02000000000000000000" pitchFamily="2" charset="0"/>
              </a:rPr>
              <a:t>uptime of 99%</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An occasional misalignment in the machine </a:t>
            </a:r>
            <a:r>
              <a:rPr lang="en-US" sz="1800" dirty="0">
                <a:solidFill>
                  <a:srgbClr val="DD4141"/>
                </a:solidFill>
                <a:latin typeface="Roboto" panose="02000000000000000000" pitchFamily="2" charset="0"/>
                <a:ea typeface="Roboto" panose="02000000000000000000" pitchFamily="2" charset="0"/>
              </a:rPr>
              <a:t>produces a defective piece, about 1 in 50</a:t>
            </a:r>
          </a:p>
        </p:txBody>
      </p:sp>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8648219" y="1646431"/>
            <a:ext cx="2330182" cy="1891028"/>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9084482" y="1327296"/>
            <a:ext cx="16225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5042036" y="1708428"/>
            <a:ext cx="5894112" cy="975479"/>
            <a:chOff x="2693" y="1225"/>
            <a:chExt cx="2790" cy="472"/>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flipV="1">
              <a:off x="2693" y="1414"/>
              <a:ext cx="1687" cy="283"/>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dirty="0"/>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Stamp</a:t>
              </a:r>
            </a:p>
          </p:txBody>
        </p:sp>
      </p:grpSp>
      <p:grpSp>
        <p:nvGrpSpPr>
          <p:cNvPr id="4" name="Group 3">
            <a:extLst>
              <a:ext uri="{FF2B5EF4-FFF2-40B4-BE49-F238E27FC236}">
                <a16:creationId xmlns:a16="http://schemas.microsoft.com/office/drawing/2014/main" id="{F9FBE4E8-EA19-326D-2949-74F1F76FD4E0}"/>
              </a:ext>
            </a:extLst>
          </p:cNvPr>
          <p:cNvGrpSpPr/>
          <p:nvPr/>
        </p:nvGrpSpPr>
        <p:grpSpPr>
          <a:xfrm>
            <a:off x="8648219" y="3807020"/>
            <a:ext cx="2252590" cy="2277533"/>
            <a:chOff x="13360819" y="3155085"/>
            <a:chExt cx="1751013" cy="1684330"/>
          </a:xfrm>
        </p:grpSpPr>
        <p:sp>
          <p:nvSpPr>
            <p:cNvPr id="11" name="Rectangle 5">
              <a:extLst>
                <a:ext uri="{FF2B5EF4-FFF2-40B4-BE49-F238E27FC236}">
                  <a16:creationId xmlns:a16="http://schemas.microsoft.com/office/drawing/2014/main" id="{B51A1275-6D09-35C5-86CE-138C781AD5C5}"/>
                </a:ext>
              </a:extLst>
            </p:cNvPr>
            <p:cNvSpPr>
              <a:spLocks noChangeArrowheads="1"/>
            </p:cNvSpPr>
            <p:nvPr/>
          </p:nvSpPr>
          <p:spPr bwMode="auto">
            <a:xfrm>
              <a:off x="13360819" y="338685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chemeClr val="tx1"/>
                  </a:solidFill>
                  <a:latin typeface="Roboto" panose="02000000000000000000" pitchFamily="2" charset="0"/>
                  <a:ea typeface="Roboto" panose="02000000000000000000" pitchFamily="2" charset="0"/>
                </a:rPr>
                <a:t>DOI = 15 Sec</a:t>
              </a:r>
            </a:p>
            <a:p>
              <a:pPr algn="l"/>
              <a:r>
                <a:rPr lang="en-US" altLang="en-US" sz="1800" b="0" dirty="0">
                  <a:solidFill>
                    <a:schemeClr val="tx1"/>
                  </a:solidFill>
                  <a:latin typeface="Roboto" panose="02000000000000000000" pitchFamily="2" charset="0"/>
                  <a:ea typeface="Roboto" panose="02000000000000000000" pitchFamily="2" charset="0"/>
                </a:rPr>
                <a:t>CO/ Time = 30 min</a:t>
              </a:r>
            </a:p>
            <a:p>
              <a:pPr algn="l"/>
              <a:r>
                <a:rPr lang="en-US" altLang="en-US" sz="1800" b="0" dirty="0">
                  <a:solidFill>
                    <a:schemeClr val="tx1"/>
                  </a:solidFill>
                  <a:latin typeface="Roboto" panose="02000000000000000000" pitchFamily="2" charset="0"/>
                  <a:ea typeface="Roboto" panose="02000000000000000000" pitchFamily="2" charset="0"/>
                </a:rPr>
                <a:t>Uptime = 99%</a:t>
              </a:r>
            </a:p>
            <a:p>
              <a:pPr algn="l"/>
              <a:r>
                <a:rPr lang="en-US" altLang="en-US" sz="1800" b="0" dirty="0">
                  <a:solidFill>
                    <a:schemeClr val="tx1"/>
                  </a:solidFill>
                  <a:latin typeface="Roboto" panose="02000000000000000000" pitchFamily="2" charset="0"/>
                  <a:ea typeface="Roboto" panose="02000000000000000000" pitchFamily="2" charset="0"/>
                </a:rPr>
                <a:t>Quality = 98%</a:t>
              </a:r>
            </a:p>
          </p:txBody>
        </p:sp>
        <p:sp>
          <p:nvSpPr>
            <p:cNvPr id="12" name="Text Box 7">
              <a:extLst>
                <a:ext uri="{FF2B5EF4-FFF2-40B4-BE49-F238E27FC236}">
                  <a16:creationId xmlns:a16="http://schemas.microsoft.com/office/drawing/2014/main" id="{41823309-CE93-9676-EEC4-2BF5609E123E}"/>
                </a:ext>
              </a:extLst>
            </p:cNvPr>
            <p:cNvSpPr txBox="1">
              <a:spLocks noChangeArrowheads="1"/>
            </p:cNvSpPr>
            <p:nvPr/>
          </p:nvSpPr>
          <p:spPr bwMode="auto">
            <a:xfrm>
              <a:off x="13764416" y="3155085"/>
              <a:ext cx="944768" cy="29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Data Box</a:t>
              </a:r>
            </a:p>
          </p:txBody>
        </p:sp>
      </p:grpSp>
      <p:grpSp>
        <p:nvGrpSpPr>
          <p:cNvPr id="17" name="Group 16">
            <a:extLst>
              <a:ext uri="{FF2B5EF4-FFF2-40B4-BE49-F238E27FC236}">
                <a16:creationId xmlns:a16="http://schemas.microsoft.com/office/drawing/2014/main" id="{E356135A-0F77-7FA0-C853-69B2BDB97824}"/>
              </a:ext>
            </a:extLst>
          </p:cNvPr>
          <p:cNvGrpSpPr/>
          <p:nvPr/>
        </p:nvGrpSpPr>
        <p:grpSpPr>
          <a:xfrm>
            <a:off x="9009328" y="2175222"/>
            <a:ext cx="679787" cy="699248"/>
            <a:chOff x="18363333" y="5039084"/>
            <a:chExt cx="327025" cy="358775"/>
          </a:xfrm>
        </p:grpSpPr>
        <p:sp>
          <p:nvSpPr>
            <p:cNvPr id="14" name="Oval 32">
              <a:extLst>
                <a:ext uri="{FF2B5EF4-FFF2-40B4-BE49-F238E27FC236}">
                  <a16:creationId xmlns:a16="http://schemas.microsoft.com/office/drawing/2014/main" id="{DD884921-6124-912B-2E56-D510F540D13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 name="AutoShape 33">
              <a:extLst>
                <a:ext uri="{FF2B5EF4-FFF2-40B4-BE49-F238E27FC236}">
                  <a16:creationId xmlns:a16="http://schemas.microsoft.com/office/drawing/2014/main" id="{A34BFCE8-A8B3-E09D-0140-8FFD267147A2}"/>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21" name="Text Box 34">
            <a:extLst>
              <a:ext uri="{FF2B5EF4-FFF2-40B4-BE49-F238E27FC236}">
                <a16:creationId xmlns:a16="http://schemas.microsoft.com/office/drawing/2014/main" id="{86F4E115-4508-3053-3794-58484579D186}"/>
              </a:ext>
            </a:extLst>
          </p:cNvPr>
          <p:cNvSpPr txBox="1">
            <a:spLocks noChangeArrowheads="1"/>
          </p:cNvSpPr>
          <p:nvPr/>
        </p:nvSpPr>
        <p:spPr bwMode="auto">
          <a:xfrm>
            <a:off x="10020558" y="2627489"/>
            <a:ext cx="5629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mn-lt"/>
              </a:rPr>
              <a:t>= 1</a:t>
            </a:r>
          </a:p>
        </p:txBody>
      </p:sp>
      <p:sp>
        <p:nvSpPr>
          <p:cNvPr id="24" name="Line 11">
            <a:extLst>
              <a:ext uri="{FF2B5EF4-FFF2-40B4-BE49-F238E27FC236}">
                <a16:creationId xmlns:a16="http://schemas.microsoft.com/office/drawing/2014/main" id="{0EEAFBFA-D815-2821-0923-4E63757EC249}"/>
              </a:ext>
            </a:extLst>
          </p:cNvPr>
          <p:cNvSpPr>
            <a:spLocks noChangeShapeType="1"/>
          </p:cNvSpPr>
          <p:nvPr/>
        </p:nvSpPr>
        <p:spPr bwMode="auto">
          <a:xfrm flipV="1">
            <a:off x="3801291" y="2591944"/>
            <a:ext cx="5107072" cy="899228"/>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7" name="Line 11">
            <a:extLst>
              <a:ext uri="{FF2B5EF4-FFF2-40B4-BE49-F238E27FC236}">
                <a16:creationId xmlns:a16="http://schemas.microsoft.com/office/drawing/2014/main" id="{7081ED3C-117C-4F94-8826-FC1B2C8B77B8}"/>
              </a:ext>
            </a:extLst>
          </p:cNvPr>
          <p:cNvSpPr>
            <a:spLocks noChangeShapeType="1"/>
          </p:cNvSpPr>
          <p:nvPr/>
        </p:nvSpPr>
        <p:spPr bwMode="auto">
          <a:xfrm>
            <a:off x="5473336" y="3807019"/>
            <a:ext cx="3153757" cy="845559"/>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9" name="Line 11">
            <a:extLst>
              <a:ext uri="{FF2B5EF4-FFF2-40B4-BE49-F238E27FC236}">
                <a16:creationId xmlns:a16="http://schemas.microsoft.com/office/drawing/2014/main" id="{F8932DC9-B848-B656-6C92-AD1AFD10C41A}"/>
              </a:ext>
            </a:extLst>
          </p:cNvPr>
          <p:cNvSpPr>
            <a:spLocks noChangeShapeType="1"/>
          </p:cNvSpPr>
          <p:nvPr/>
        </p:nvSpPr>
        <p:spPr bwMode="auto">
          <a:xfrm>
            <a:off x="5590903" y="4329935"/>
            <a:ext cx="3015065" cy="593925"/>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0" name="Line 11">
            <a:extLst>
              <a:ext uri="{FF2B5EF4-FFF2-40B4-BE49-F238E27FC236}">
                <a16:creationId xmlns:a16="http://schemas.microsoft.com/office/drawing/2014/main" id="{66C844DD-7C0B-AAB8-AFD6-AF01C50F39F8}"/>
              </a:ext>
            </a:extLst>
          </p:cNvPr>
          <p:cNvSpPr>
            <a:spLocks noChangeShapeType="1"/>
          </p:cNvSpPr>
          <p:nvPr/>
        </p:nvSpPr>
        <p:spPr bwMode="auto">
          <a:xfrm flipV="1">
            <a:off x="2893423" y="5255240"/>
            <a:ext cx="5739812" cy="157635"/>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grpSp>
        <p:nvGrpSpPr>
          <p:cNvPr id="36" name="Group 35">
            <a:extLst>
              <a:ext uri="{FF2B5EF4-FFF2-40B4-BE49-F238E27FC236}">
                <a16:creationId xmlns:a16="http://schemas.microsoft.com/office/drawing/2014/main" id="{E4C30AAC-8BAA-298E-CE75-CD08E87E59DD}"/>
              </a:ext>
            </a:extLst>
          </p:cNvPr>
          <p:cNvGrpSpPr/>
          <p:nvPr/>
        </p:nvGrpSpPr>
        <p:grpSpPr>
          <a:xfrm>
            <a:off x="5377155" y="5568634"/>
            <a:ext cx="3325992" cy="369332"/>
            <a:chOff x="10896975" y="10483426"/>
            <a:chExt cx="6653716" cy="738858"/>
          </a:xfrm>
        </p:grpSpPr>
        <p:sp>
          <p:nvSpPr>
            <p:cNvPr id="31" name="Line 11">
              <a:extLst>
                <a:ext uri="{FF2B5EF4-FFF2-40B4-BE49-F238E27FC236}">
                  <a16:creationId xmlns:a16="http://schemas.microsoft.com/office/drawing/2014/main" id="{AE12C58C-C7DC-BD20-C03F-C611BD5FF9FA}"/>
                </a:ext>
              </a:extLst>
            </p:cNvPr>
            <p:cNvSpPr>
              <a:spLocks noChangeShapeType="1"/>
            </p:cNvSpPr>
            <p:nvPr/>
          </p:nvSpPr>
          <p:spPr bwMode="auto">
            <a:xfrm flipV="1">
              <a:off x="10896975" y="10529968"/>
              <a:ext cx="6653716" cy="663866"/>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5" name="Rectangle 82">
              <a:extLst>
                <a:ext uri="{FF2B5EF4-FFF2-40B4-BE49-F238E27FC236}">
                  <a16:creationId xmlns:a16="http://schemas.microsoft.com/office/drawing/2014/main" id="{7F9B1F1C-88A3-E3CA-E0E8-F3BD74223EE8}"/>
                </a:ext>
              </a:extLst>
            </p:cNvPr>
            <p:cNvSpPr>
              <a:spLocks noChangeArrowheads="1"/>
            </p:cNvSpPr>
            <p:nvPr/>
          </p:nvSpPr>
          <p:spPr bwMode="auto">
            <a:xfrm>
              <a:off x="11974081" y="10483426"/>
              <a:ext cx="4249704" cy="738858"/>
            </a:xfrm>
            <a:prstGeom prst="rect">
              <a:avLst/>
            </a:prstGeom>
            <a:solidFill>
              <a:schemeClr val="bg1"/>
            </a:solidFill>
            <a:ln w="12700" cap="sq">
              <a:solidFill>
                <a:srgbClr val="DD4141"/>
              </a:solidFill>
              <a:miter lim="800000"/>
              <a:headEnd type="none" w="sm" len="sm"/>
              <a:tailEnd type="none" w="sm" len="sm"/>
            </a:ln>
          </p:spPr>
          <p:txBody>
            <a:bodyPr wrap="none" anchor="ct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b="0" dirty="0">
                  <a:solidFill>
                    <a:srgbClr val="DD4141"/>
                  </a:solidFill>
                  <a:latin typeface="Roboto" panose="02000000000000000000" pitchFamily="2" charset="0"/>
                  <a:ea typeface="Roboto" panose="02000000000000000000" pitchFamily="2" charset="0"/>
                </a:rPr>
                <a:t>49</a:t>
              </a:r>
              <a:r>
                <a:rPr lang="en-US" altLang="en-US" sz="1800" b="0" dirty="0">
                  <a:solidFill>
                    <a:srgbClr val="DD4141"/>
                  </a:solidFill>
                  <a:latin typeface="Roboto" panose="02000000000000000000" pitchFamily="2" charset="0"/>
                  <a:ea typeface="Roboto" panose="02000000000000000000" pitchFamily="2" charset="0"/>
                  <a:cs typeface="Arial" panose="020B0604020202020204" pitchFamily="34" charset="0"/>
                </a:rPr>
                <a:t>÷</a:t>
              </a:r>
              <a:r>
                <a:rPr lang="en-US" altLang="en-US" sz="1800" b="0" dirty="0">
                  <a:solidFill>
                    <a:srgbClr val="DD4141"/>
                  </a:solidFill>
                  <a:latin typeface="Roboto" panose="02000000000000000000" pitchFamily="2" charset="0"/>
                  <a:ea typeface="Roboto" panose="02000000000000000000" pitchFamily="2" charset="0"/>
                </a:rPr>
                <a:t>50</a:t>
              </a:r>
              <a:r>
                <a:rPr lang="en-US" altLang="en-US" sz="1800" b="0" dirty="0">
                  <a:solidFill>
                    <a:srgbClr val="DD4141"/>
                  </a:solidFill>
                  <a:latin typeface="Roboto" panose="02000000000000000000" pitchFamily="2" charset="0"/>
                  <a:ea typeface="Roboto" panose="02000000000000000000" pitchFamily="2" charset="0"/>
                  <a:cs typeface="Arial" panose="020B0604020202020204" pitchFamily="34" charset="0"/>
                </a:rPr>
                <a:t> x 100 = 98%</a:t>
              </a:r>
            </a:p>
          </p:txBody>
        </p:sp>
      </p:grpSp>
      <p:grpSp>
        <p:nvGrpSpPr>
          <p:cNvPr id="32" name="Group 31">
            <a:extLst>
              <a:ext uri="{FF2B5EF4-FFF2-40B4-BE49-F238E27FC236}">
                <a16:creationId xmlns:a16="http://schemas.microsoft.com/office/drawing/2014/main" id="{B2A47C26-D8F9-7F09-9AEF-27C412CF6047}"/>
              </a:ext>
            </a:extLst>
          </p:cNvPr>
          <p:cNvGrpSpPr/>
          <p:nvPr/>
        </p:nvGrpSpPr>
        <p:grpSpPr>
          <a:xfrm>
            <a:off x="940004" y="330919"/>
            <a:ext cx="6217883" cy="311851"/>
            <a:chOff x="940249" y="302538"/>
            <a:chExt cx="6219503" cy="311932"/>
          </a:xfrm>
        </p:grpSpPr>
        <p:sp>
          <p:nvSpPr>
            <p:cNvPr id="33" name="TextBox 32">
              <a:extLst>
                <a:ext uri="{FF2B5EF4-FFF2-40B4-BE49-F238E27FC236}">
                  <a16:creationId xmlns:a16="http://schemas.microsoft.com/office/drawing/2014/main" id="{2F14978D-18E4-1150-ED4F-9E6AC1244F9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4" name="AutoShape 9">
              <a:extLst>
                <a:ext uri="{FF2B5EF4-FFF2-40B4-BE49-F238E27FC236}">
                  <a16:creationId xmlns:a16="http://schemas.microsoft.com/office/drawing/2014/main" id="{1FDA7274-88D3-2454-E16E-D90E042DD0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7" name="AutoShape 9">
              <a:extLst>
                <a:ext uri="{FF2B5EF4-FFF2-40B4-BE49-F238E27FC236}">
                  <a16:creationId xmlns:a16="http://schemas.microsoft.com/office/drawing/2014/main" id="{F5D3B4FC-A23D-74D1-F563-FC900EDBF5A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8" name="AutoShape 9">
              <a:extLst>
                <a:ext uri="{FF2B5EF4-FFF2-40B4-BE49-F238E27FC236}">
                  <a16:creationId xmlns:a16="http://schemas.microsoft.com/office/drawing/2014/main" id="{9724BA3F-6633-F751-1C67-D4E8EC142D2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9" name="AutoShape 9">
              <a:extLst>
                <a:ext uri="{FF2B5EF4-FFF2-40B4-BE49-F238E27FC236}">
                  <a16:creationId xmlns:a16="http://schemas.microsoft.com/office/drawing/2014/main" id="{E69CB3BE-22F0-84C6-2B6B-15AE10252B1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0" name="AutoShape 11">
              <a:extLst>
                <a:ext uri="{FF2B5EF4-FFF2-40B4-BE49-F238E27FC236}">
                  <a16:creationId xmlns:a16="http://schemas.microsoft.com/office/drawing/2014/main" id="{3E9EA951-C6A0-D2CA-6926-5F4874D0170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41" name="Slide Number Placeholder 2">
            <a:extLst>
              <a:ext uri="{FF2B5EF4-FFF2-40B4-BE49-F238E27FC236}">
                <a16:creationId xmlns:a16="http://schemas.microsoft.com/office/drawing/2014/main" id="{3B6C2C17-D02B-2FAA-7CDE-2453115A113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56</a:t>
            </a:fld>
            <a:endParaRPr lang="en-US" dirty="0"/>
          </a:p>
        </p:txBody>
      </p:sp>
    </p:spTree>
    <p:extLst>
      <p:ext uri="{BB962C8B-B14F-4D97-AF65-F5344CB8AC3E}">
        <p14:creationId xmlns:p14="http://schemas.microsoft.com/office/powerpoint/2010/main" val="402419727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DD4141"/>
                </a:solidFill>
              </a:rPr>
              <a:t>Data Boxes</a:t>
            </a:r>
            <a:endParaRPr lang="en-US" dirty="0">
              <a:solidFill>
                <a:srgbClr val="DD4141"/>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1750477"/>
            <a:ext cx="4875448" cy="460637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Production Process – Cut</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Purchased sheets of aluminum are cut to size in the cutting department, which has </a:t>
            </a:r>
          </a:p>
          <a:p>
            <a:pPr marL="457109" lvl="3" indent="-228554" algn="l">
              <a:buClr>
                <a:schemeClr val="tx1"/>
              </a:buClr>
              <a:buSzPct val="90000"/>
              <a:buFont typeface="Arial" panose="020B0604020202020204" pitchFamily="34" charset="0"/>
              <a:buChar char="•"/>
            </a:pPr>
            <a:r>
              <a:rPr lang="en-US" sz="1700" dirty="0">
                <a:solidFill>
                  <a:srgbClr val="DD4141"/>
                </a:solidFill>
                <a:latin typeface="Roboto" panose="02000000000000000000" pitchFamily="2" charset="0"/>
                <a:ea typeface="Roboto" panose="02000000000000000000" pitchFamily="2" charset="0"/>
              </a:rPr>
              <a:t>five operators, each running a cutting machine</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Four enclosures can be made from </a:t>
            </a:r>
            <a:br>
              <a:rPr lang="en-US" sz="1700" dirty="0">
                <a:solidFill>
                  <a:srgbClr val="191C25"/>
                </a:solidFill>
                <a:latin typeface="Roboto" panose="02000000000000000000" pitchFamily="2" charset="0"/>
                <a:ea typeface="Roboto" panose="02000000000000000000" pitchFamily="2" charset="0"/>
              </a:rPr>
            </a:br>
            <a:r>
              <a:rPr lang="en-US" sz="1700" dirty="0">
                <a:solidFill>
                  <a:srgbClr val="191C25"/>
                </a:solidFill>
                <a:latin typeface="Roboto" panose="02000000000000000000" pitchFamily="2" charset="0"/>
                <a:ea typeface="Roboto" panose="02000000000000000000" pitchFamily="2" charset="0"/>
              </a:rPr>
              <a:t>one 4’ x 8’ sheet</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It takes </a:t>
            </a:r>
            <a:r>
              <a:rPr lang="en-US" sz="1700" dirty="0">
                <a:solidFill>
                  <a:srgbClr val="DD4141"/>
                </a:solidFill>
                <a:latin typeface="Roboto" panose="02000000000000000000" pitchFamily="2" charset="0"/>
                <a:ea typeface="Roboto" panose="02000000000000000000" pitchFamily="2" charset="0"/>
              </a:rPr>
              <a:t>4 minutes </a:t>
            </a:r>
            <a:r>
              <a:rPr lang="en-US" sz="1700" dirty="0">
                <a:solidFill>
                  <a:srgbClr val="191C25"/>
                </a:solidFill>
                <a:latin typeface="Roboto" panose="02000000000000000000" pitchFamily="2" charset="0"/>
                <a:ea typeface="Roboto" panose="02000000000000000000" pitchFamily="2" charset="0"/>
              </a:rPr>
              <a:t>for each cutting </a:t>
            </a:r>
            <a:br>
              <a:rPr lang="en-US" sz="1700" dirty="0">
                <a:solidFill>
                  <a:srgbClr val="191C25"/>
                </a:solidFill>
                <a:latin typeface="Roboto" panose="02000000000000000000" pitchFamily="2" charset="0"/>
                <a:ea typeface="Roboto" panose="02000000000000000000" pitchFamily="2" charset="0"/>
              </a:rPr>
            </a:br>
            <a:r>
              <a:rPr lang="en-US" sz="1700" dirty="0">
                <a:solidFill>
                  <a:srgbClr val="191C25"/>
                </a:solidFill>
                <a:latin typeface="Roboto" panose="02000000000000000000" pitchFamily="2" charset="0"/>
                <a:ea typeface="Roboto" panose="02000000000000000000" pitchFamily="2" charset="0"/>
              </a:rPr>
              <a:t>machine to cut the sheet into 4 pieces</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It takes </a:t>
            </a:r>
            <a:r>
              <a:rPr lang="en-US" sz="1700" dirty="0">
                <a:solidFill>
                  <a:srgbClr val="DD4141"/>
                </a:solidFill>
                <a:latin typeface="Roboto" panose="02000000000000000000" pitchFamily="2" charset="0"/>
                <a:ea typeface="Roboto" panose="02000000000000000000" pitchFamily="2" charset="0"/>
              </a:rPr>
              <a:t>30 minutes </a:t>
            </a:r>
            <a:r>
              <a:rPr lang="en-US" sz="1700" dirty="0">
                <a:solidFill>
                  <a:srgbClr val="191C25"/>
                </a:solidFill>
                <a:latin typeface="Roboto" panose="02000000000000000000" pitchFamily="2" charset="0"/>
                <a:ea typeface="Roboto" panose="02000000000000000000" pitchFamily="2" charset="0"/>
              </a:rPr>
              <a:t>to change over the cutting machines for another product, however these machines are currently dedicated to the one product</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The cutting machines are quite reliable and are available </a:t>
            </a:r>
            <a:r>
              <a:rPr lang="en-US" sz="1700" dirty="0">
                <a:solidFill>
                  <a:srgbClr val="DD4141"/>
                </a:solidFill>
                <a:latin typeface="Roboto" panose="02000000000000000000" pitchFamily="2" charset="0"/>
                <a:ea typeface="Roboto" panose="02000000000000000000" pitchFamily="2" charset="0"/>
              </a:rPr>
              <a:t>99% </a:t>
            </a:r>
            <a:r>
              <a:rPr lang="en-US" sz="1700" dirty="0">
                <a:solidFill>
                  <a:srgbClr val="191C25"/>
                </a:solidFill>
                <a:latin typeface="Roboto" panose="02000000000000000000" pitchFamily="2" charset="0"/>
                <a:ea typeface="Roboto" panose="02000000000000000000" pitchFamily="2" charset="0"/>
              </a:rPr>
              <a:t>of the time without a breakdown</a:t>
            </a:r>
          </a:p>
          <a:p>
            <a:pPr marL="457109" lvl="3" indent="-228554" algn="l">
              <a:buClr>
                <a:schemeClr val="tx1"/>
              </a:buClr>
              <a:buSzPct val="90000"/>
              <a:buFont typeface="Arial" panose="020B0604020202020204" pitchFamily="34" charset="0"/>
              <a:buChar char="•"/>
            </a:pPr>
            <a:r>
              <a:rPr lang="en-US" sz="1700" dirty="0">
                <a:solidFill>
                  <a:srgbClr val="191C25"/>
                </a:solidFill>
                <a:latin typeface="Roboto" panose="02000000000000000000" pitchFamily="2" charset="0"/>
                <a:ea typeface="Roboto" panose="02000000000000000000" pitchFamily="2" charset="0"/>
              </a:rPr>
              <a:t>The quality level is high, with a yield of </a:t>
            </a:r>
            <a:r>
              <a:rPr lang="en-US" sz="1700" dirty="0">
                <a:solidFill>
                  <a:srgbClr val="DD4141"/>
                </a:solidFill>
                <a:latin typeface="Roboto" panose="02000000000000000000" pitchFamily="2" charset="0"/>
                <a:ea typeface="Roboto" panose="02000000000000000000" pitchFamily="2" charset="0"/>
              </a:rPr>
              <a:t>99%</a:t>
            </a:r>
          </a:p>
        </p:txBody>
      </p:sp>
      <p:grpSp>
        <p:nvGrpSpPr>
          <p:cNvPr id="23" name="Group 22">
            <a:extLst>
              <a:ext uri="{FF2B5EF4-FFF2-40B4-BE49-F238E27FC236}">
                <a16:creationId xmlns:a16="http://schemas.microsoft.com/office/drawing/2014/main" id="{E7372103-046D-E2E3-1AF8-D22C71BD12F1}"/>
              </a:ext>
            </a:extLst>
          </p:cNvPr>
          <p:cNvGrpSpPr/>
          <p:nvPr/>
        </p:nvGrpSpPr>
        <p:grpSpPr>
          <a:xfrm>
            <a:off x="4551920" y="1486862"/>
            <a:ext cx="6426483" cy="2210163"/>
            <a:chOff x="10208040" y="3627229"/>
            <a:chExt cx="4829175" cy="1697700"/>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8" name="Text Box 7">
              <a:extLst>
                <a:ext uri="{FF2B5EF4-FFF2-40B4-BE49-F238E27FC236}">
                  <a16:creationId xmlns:a16="http://schemas.microsoft.com/office/drawing/2014/main" id="{65C82F1A-35EE-5180-D09B-4BDB0BA35CCA}"/>
                </a:ext>
              </a:extLst>
            </p:cNvPr>
            <p:cNvSpPr txBox="1">
              <a:spLocks noChangeArrowheads="1"/>
            </p:cNvSpPr>
            <p:nvPr/>
          </p:nvSpPr>
          <p:spPr bwMode="auto">
            <a:xfrm>
              <a:off x="13614030" y="3627229"/>
              <a:ext cx="1219271" cy="30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Process Box</a:t>
              </a:r>
            </a:p>
          </p:txBody>
        </p:sp>
        <p:grpSp>
          <p:nvGrpSpPr>
            <p:cNvPr id="19" name="Group 42">
              <a:extLst>
                <a:ext uri="{FF2B5EF4-FFF2-40B4-BE49-F238E27FC236}">
                  <a16:creationId xmlns:a16="http://schemas.microsoft.com/office/drawing/2014/main" id="{AEA468B6-96A5-118B-3FF7-1E2A188FF805}"/>
                </a:ext>
              </a:extLst>
            </p:cNvPr>
            <p:cNvGrpSpPr>
              <a:grpSpLocks/>
            </p:cNvGrpSpPr>
            <p:nvPr/>
          </p:nvGrpSpPr>
          <p:grpSpPr bwMode="auto">
            <a:xfrm>
              <a:off x="10208040" y="3919990"/>
              <a:ext cx="4797426" cy="425449"/>
              <a:chOff x="2461" y="1225"/>
              <a:chExt cx="3022" cy="268"/>
            </a:xfrm>
          </p:grpSpPr>
          <p:sp>
            <p:nvSpPr>
              <p:cNvPr id="20" name="Line 11">
                <a:extLst>
                  <a:ext uri="{FF2B5EF4-FFF2-40B4-BE49-F238E27FC236}">
                    <a16:creationId xmlns:a16="http://schemas.microsoft.com/office/drawing/2014/main" id="{728BB975-21A7-2656-8010-50FA35C17465}"/>
                  </a:ext>
                </a:extLst>
              </p:cNvPr>
              <p:cNvSpPr>
                <a:spLocks noChangeShapeType="1"/>
              </p:cNvSpPr>
              <p:nvPr/>
            </p:nvSpPr>
            <p:spPr bwMode="auto">
              <a:xfrm>
                <a:off x="2461" y="1306"/>
                <a:ext cx="1910" cy="76"/>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4426" y="1225"/>
                <a:ext cx="1057"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Cut</a:t>
                </a:r>
              </a:p>
            </p:txBody>
          </p:sp>
        </p:grpSp>
      </p:grpSp>
      <p:grpSp>
        <p:nvGrpSpPr>
          <p:cNvPr id="4" name="Group 3">
            <a:extLst>
              <a:ext uri="{FF2B5EF4-FFF2-40B4-BE49-F238E27FC236}">
                <a16:creationId xmlns:a16="http://schemas.microsoft.com/office/drawing/2014/main" id="{F9FBE4E8-EA19-326D-2949-74F1F76FD4E0}"/>
              </a:ext>
            </a:extLst>
          </p:cNvPr>
          <p:cNvGrpSpPr/>
          <p:nvPr/>
        </p:nvGrpSpPr>
        <p:grpSpPr>
          <a:xfrm>
            <a:off x="8648220" y="3966586"/>
            <a:ext cx="2252590" cy="2277533"/>
            <a:chOff x="13360819" y="3155085"/>
            <a:chExt cx="1751013" cy="1684330"/>
          </a:xfrm>
        </p:grpSpPr>
        <p:sp>
          <p:nvSpPr>
            <p:cNvPr id="11" name="Rectangle 5">
              <a:extLst>
                <a:ext uri="{FF2B5EF4-FFF2-40B4-BE49-F238E27FC236}">
                  <a16:creationId xmlns:a16="http://schemas.microsoft.com/office/drawing/2014/main" id="{B51A1275-6D09-35C5-86CE-138C781AD5C5}"/>
                </a:ext>
              </a:extLst>
            </p:cNvPr>
            <p:cNvSpPr>
              <a:spLocks noChangeArrowheads="1"/>
            </p:cNvSpPr>
            <p:nvPr/>
          </p:nvSpPr>
          <p:spPr bwMode="auto">
            <a:xfrm>
              <a:off x="13360819" y="338685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chemeClr val="tx1"/>
                  </a:solidFill>
                  <a:latin typeface="Roboto" panose="02000000000000000000" pitchFamily="2" charset="0"/>
                  <a:ea typeface="Roboto" panose="02000000000000000000" pitchFamily="2" charset="0"/>
                </a:rPr>
                <a:t>DOI = 12 Sec</a:t>
              </a:r>
            </a:p>
            <a:p>
              <a:pPr algn="l"/>
              <a:r>
                <a:rPr lang="en-US" altLang="en-US" sz="1800" b="0" dirty="0">
                  <a:solidFill>
                    <a:schemeClr val="tx1"/>
                  </a:solidFill>
                  <a:latin typeface="Roboto" panose="02000000000000000000" pitchFamily="2" charset="0"/>
                  <a:ea typeface="Roboto" panose="02000000000000000000" pitchFamily="2" charset="0"/>
                </a:rPr>
                <a:t>CO/ Time = 30 min</a:t>
              </a:r>
            </a:p>
            <a:p>
              <a:pPr algn="l"/>
              <a:r>
                <a:rPr lang="en-US" altLang="en-US" sz="1800" b="0" dirty="0">
                  <a:solidFill>
                    <a:schemeClr val="tx1"/>
                  </a:solidFill>
                  <a:latin typeface="Roboto" panose="02000000000000000000" pitchFamily="2" charset="0"/>
                  <a:ea typeface="Roboto" panose="02000000000000000000" pitchFamily="2" charset="0"/>
                </a:rPr>
                <a:t>Uptime = 99%</a:t>
              </a:r>
            </a:p>
            <a:p>
              <a:pPr algn="l"/>
              <a:r>
                <a:rPr lang="en-US" altLang="en-US" sz="1800" b="0" dirty="0">
                  <a:solidFill>
                    <a:schemeClr val="tx1"/>
                  </a:solidFill>
                  <a:latin typeface="Roboto" panose="02000000000000000000" pitchFamily="2" charset="0"/>
                  <a:ea typeface="Roboto" panose="02000000000000000000" pitchFamily="2" charset="0"/>
                </a:rPr>
                <a:t>Quality = 99%</a:t>
              </a:r>
            </a:p>
            <a:p>
              <a:pPr algn="l"/>
              <a:r>
                <a:rPr lang="en-US" altLang="en-US" sz="1800" b="0" dirty="0">
                  <a:solidFill>
                    <a:schemeClr val="tx1"/>
                  </a:solidFill>
                  <a:latin typeface="Roboto" panose="02000000000000000000" pitchFamily="2" charset="0"/>
                  <a:ea typeface="Roboto" panose="02000000000000000000" pitchFamily="2" charset="0"/>
                </a:rPr>
                <a:t>5 Machines</a:t>
              </a:r>
            </a:p>
          </p:txBody>
        </p:sp>
        <p:sp>
          <p:nvSpPr>
            <p:cNvPr id="12" name="Text Box 7">
              <a:extLst>
                <a:ext uri="{FF2B5EF4-FFF2-40B4-BE49-F238E27FC236}">
                  <a16:creationId xmlns:a16="http://schemas.microsoft.com/office/drawing/2014/main" id="{41823309-CE93-9676-EEC4-2BF5609E123E}"/>
                </a:ext>
              </a:extLst>
            </p:cNvPr>
            <p:cNvSpPr txBox="1">
              <a:spLocks noChangeArrowheads="1"/>
            </p:cNvSpPr>
            <p:nvPr/>
          </p:nvSpPr>
          <p:spPr bwMode="auto">
            <a:xfrm>
              <a:off x="13764416" y="3155085"/>
              <a:ext cx="944768" cy="29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dirty="0">
                  <a:solidFill>
                    <a:srgbClr val="DD4141"/>
                  </a:solidFill>
                  <a:latin typeface="Roboto" panose="02000000000000000000" pitchFamily="2" charset="0"/>
                  <a:ea typeface="Roboto" panose="02000000000000000000" pitchFamily="2" charset="0"/>
                </a:rPr>
                <a:t>Data Box</a:t>
              </a:r>
            </a:p>
          </p:txBody>
        </p:sp>
      </p:grpSp>
      <p:grpSp>
        <p:nvGrpSpPr>
          <p:cNvPr id="17" name="Group 16">
            <a:extLst>
              <a:ext uri="{FF2B5EF4-FFF2-40B4-BE49-F238E27FC236}">
                <a16:creationId xmlns:a16="http://schemas.microsoft.com/office/drawing/2014/main" id="{E356135A-0F77-7FA0-C853-69B2BDB97824}"/>
              </a:ext>
            </a:extLst>
          </p:cNvPr>
          <p:cNvGrpSpPr/>
          <p:nvPr/>
        </p:nvGrpSpPr>
        <p:grpSpPr>
          <a:xfrm>
            <a:off x="9009328" y="2578027"/>
            <a:ext cx="679787" cy="699248"/>
            <a:chOff x="18363333" y="5039084"/>
            <a:chExt cx="327025" cy="358775"/>
          </a:xfrm>
        </p:grpSpPr>
        <p:sp>
          <p:nvSpPr>
            <p:cNvPr id="14" name="Oval 32">
              <a:extLst>
                <a:ext uri="{FF2B5EF4-FFF2-40B4-BE49-F238E27FC236}">
                  <a16:creationId xmlns:a16="http://schemas.microsoft.com/office/drawing/2014/main" id="{DD884921-6124-912B-2E56-D510F540D13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 name="AutoShape 33">
              <a:extLst>
                <a:ext uri="{FF2B5EF4-FFF2-40B4-BE49-F238E27FC236}">
                  <a16:creationId xmlns:a16="http://schemas.microsoft.com/office/drawing/2014/main" id="{A34BFCE8-A8B3-E09D-0140-8FFD267147A2}"/>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21" name="Text Box 34">
            <a:extLst>
              <a:ext uri="{FF2B5EF4-FFF2-40B4-BE49-F238E27FC236}">
                <a16:creationId xmlns:a16="http://schemas.microsoft.com/office/drawing/2014/main" id="{86F4E115-4508-3053-3794-58484579D186}"/>
              </a:ext>
            </a:extLst>
          </p:cNvPr>
          <p:cNvSpPr txBox="1">
            <a:spLocks noChangeArrowheads="1"/>
          </p:cNvSpPr>
          <p:nvPr/>
        </p:nvSpPr>
        <p:spPr bwMode="auto">
          <a:xfrm>
            <a:off x="10020559" y="2787055"/>
            <a:ext cx="5629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mn-lt"/>
              </a:rPr>
              <a:t>= 5</a:t>
            </a:r>
          </a:p>
        </p:txBody>
      </p:sp>
      <p:sp>
        <p:nvSpPr>
          <p:cNvPr id="24" name="Line 11">
            <a:extLst>
              <a:ext uri="{FF2B5EF4-FFF2-40B4-BE49-F238E27FC236}">
                <a16:creationId xmlns:a16="http://schemas.microsoft.com/office/drawing/2014/main" id="{0EEAFBFA-D815-2821-0923-4E63757EC249}"/>
              </a:ext>
            </a:extLst>
          </p:cNvPr>
          <p:cNvSpPr>
            <a:spLocks noChangeShapeType="1"/>
          </p:cNvSpPr>
          <p:nvPr/>
        </p:nvSpPr>
        <p:spPr bwMode="auto">
          <a:xfrm>
            <a:off x="5030548" y="2806084"/>
            <a:ext cx="3808834" cy="77960"/>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9" name="Line 11">
            <a:extLst>
              <a:ext uri="{FF2B5EF4-FFF2-40B4-BE49-F238E27FC236}">
                <a16:creationId xmlns:a16="http://schemas.microsoft.com/office/drawing/2014/main" id="{F8932DC9-B848-B656-6C92-AD1AFD10C41A}"/>
              </a:ext>
            </a:extLst>
          </p:cNvPr>
          <p:cNvSpPr>
            <a:spLocks noChangeShapeType="1"/>
          </p:cNvSpPr>
          <p:nvPr/>
        </p:nvSpPr>
        <p:spPr bwMode="auto">
          <a:xfrm>
            <a:off x="5030549" y="4366696"/>
            <a:ext cx="3549964" cy="591731"/>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0" name="Line 11">
            <a:extLst>
              <a:ext uri="{FF2B5EF4-FFF2-40B4-BE49-F238E27FC236}">
                <a16:creationId xmlns:a16="http://schemas.microsoft.com/office/drawing/2014/main" id="{66C844DD-7C0B-AAB8-AFD6-AF01C50F39F8}"/>
              </a:ext>
            </a:extLst>
          </p:cNvPr>
          <p:cNvSpPr>
            <a:spLocks noChangeShapeType="1"/>
          </p:cNvSpPr>
          <p:nvPr/>
        </p:nvSpPr>
        <p:spPr bwMode="auto">
          <a:xfrm>
            <a:off x="4784005" y="2998328"/>
            <a:ext cx="3808834" cy="2834238"/>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1" name="Line 11">
            <a:extLst>
              <a:ext uri="{FF2B5EF4-FFF2-40B4-BE49-F238E27FC236}">
                <a16:creationId xmlns:a16="http://schemas.microsoft.com/office/drawing/2014/main" id="{AE12C58C-C7DC-BD20-C03F-C611BD5FF9FA}"/>
              </a:ext>
            </a:extLst>
          </p:cNvPr>
          <p:cNvSpPr>
            <a:spLocks noChangeShapeType="1"/>
          </p:cNvSpPr>
          <p:nvPr/>
        </p:nvSpPr>
        <p:spPr bwMode="auto">
          <a:xfrm>
            <a:off x="4702630" y="3811308"/>
            <a:ext cx="3945590" cy="761105"/>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5" name="Rectangle 82">
            <a:extLst>
              <a:ext uri="{FF2B5EF4-FFF2-40B4-BE49-F238E27FC236}">
                <a16:creationId xmlns:a16="http://schemas.microsoft.com/office/drawing/2014/main" id="{7F9B1F1C-88A3-E3CA-E0E8-F3BD74223EE8}"/>
              </a:ext>
            </a:extLst>
          </p:cNvPr>
          <p:cNvSpPr>
            <a:spLocks noChangeArrowheads="1"/>
          </p:cNvSpPr>
          <p:nvPr/>
        </p:nvSpPr>
        <p:spPr bwMode="auto">
          <a:xfrm>
            <a:off x="5115448" y="3653198"/>
            <a:ext cx="3560236" cy="481670"/>
          </a:xfrm>
          <a:prstGeom prst="rect">
            <a:avLst/>
          </a:prstGeom>
          <a:solidFill>
            <a:schemeClr val="bg1"/>
          </a:solidFill>
          <a:ln w="12700" cap="sq">
            <a:solidFill>
              <a:srgbClr val="DD4141"/>
            </a:solidFill>
            <a:miter lim="800000"/>
            <a:headEnd type="none" w="sm" len="sm"/>
            <a:tailEnd type="none" w="sm" len="sm"/>
          </a:ln>
        </p:spPr>
        <p:txBody>
          <a:bodyPr wrap="square" anchor="ct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fr-FR" altLang="en-US" sz="1100" b="0" dirty="0">
                <a:solidFill>
                  <a:srgbClr val="DD4141"/>
                </a:solidFill>
                <a:latin typeface="Roboto" panose="02000000000000000000" pitchFamily="2" charset="0"/>
                <a:ea typeface="Roboto" panose="02000000000000000000" pitchFamily="2" charset="0"/>
              </a:rPr>
              <a:t>P/T (1 machine) = 240 sec ÷ 4 </a:t>
            </a:r>
            <a:r>
              <a:rPr lang="en-US" altLang="en-US" sz="1100" b="0" dirty="0">
                <a:solidFill>
                  <a:srgbClr val="DD4141"/>
                </a:solidFill>
                <a:latin typeface="Roboto" panose="02000000000000000000" pitchFamily="2" charset="0"/>
                <a:ea typeface="Roboto" panose="02000000000000000000" pitchFamily="2" charset="0"/>
              </a:rPr>
              <a:t>pieces</a:t>
            </a:r>
            <a:r>
              <a:rPr lang="fr-FR" altLang="en-US" sz="1100" b="0" dirty="0">
                <a:solidFill>
                  <a:srgbClr val="DD4141"/>
                </a:solidFill>
                <a:latin typeface="Roboto" panose="02000000000000000000" pitchFamily="2" charset="0"/>
                <a:ea typeface="Roboto" panose="02000000000000000000" pitchFamily="2" charset="0"/>
              </a:rPr>
              <a:t> / cycle = 60 sec</a:t>
            </a:r>
          </a:p>
          <a:p>
            <a:pPr>
              <a:lnSpc>
                <a:spcPct val="100000"/>
              </a:lnSpc>
              <a:spcBef>
                <a:spcPct val="30000"/>
              </a:spcBef>
            </a:pPr>
            <a:r>
              <a:rPr lang="fr-FR" altLang="en-US" sz="1100" b="0" dirty="0">
                <a:solidFill>
                  <a:srgbClr val="DD4141"/>
                </a:solidFill>
                <a:latin typeface="Roboto" panose="02000000000000000000" pitchFamily="2" charset="0"/>
                <a:ea typeface="Roboto" panose="02000000000000000000" pitchFamily="2" charset="0"/>
              </a:rPr>
              <a:t>DOI (5 machines) = 60 sec ÷ 5 </a:t>
            </a:r>
            <a:r>
              <a:rPr lang="en-US" altLang="en-US" sz="1100" b="0" dirty="0">
                <a:solidFill>
                  <a:srgbClr val="DD4141"/>
                </a:solidFill>
                <a:latin typeface="Roboto" panose="02000000000000000000" pitchFamily="2" charset="0"/>
                <a:ea typeface="Roboto" panose="02000000000000000000" pitchFamily="2" charset="0"/>
              </a:rPr>
              <a:t>operators</a:t>
            </a:r>
            <a:r>
              <a:rPr lang="fr-FR" altLang="en-US" sz="1100" b="0" dirty="0">
                <a:solidFill>
                  <a:srgbClr val="DD4141"/>
                </a:solidFill>
                <a:latin typeface="Roboto" panose="02000000000000000000" pitchFamily="2" charset="0"/>
                <a:ea typeface="Roboto" panose="02000000000000000000" pitchFamily="2" charset="0"/>
              </a:rPr>
              <a:t> = 12 sec</a:t>
            </a:r>
          </a:p>
        </p:txBody>
      </p:sp>
      <p:sp>
        <p:nvSpPr>
          <p:cNvPr id="32" name="Line 11">
            <a:extLst>
              <a:ext uri="{FF2B5EF4-FFF2-40B4-BE49-F238E27FC236}">
                <a16:creationId xmlns:a16="http://schemas.microsoft.com/office/drawing/2014/main" id="{CE528611-5D0A-7056-7507-EE451A88AC2E}"/>
              </a:ext>
            </a:extLst>
          </p:cNvPr>
          <p:cNvSpPr>
            <a:spLocks noChangeShapeType="1"/>
          </p:cNvSpPr>
          <p:nvPr/>
        </p:nvSpPr>
        <p:spPr bwMode="auto">
          <a:xfrm flipV="1">
            <a:off x="5087983" y="5298293"/>
            <a:ext cx="3498479" cy="301902"/>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33" name="Line 11">
            <a:extLst>
              <a:ext uri="{FF2B5EF4-FFF2-40B4-BE49-F238E27FC236}">
                <a16:creationId xmlns:a16="http://schemas.microsoft.com/office/drawing/2014/main" id="{887C77BA-6937-1A74-A31B-86DF40EBF05F}"/>
              </a:ext>
            </a:extLst>
          </p:cNvPr>
          <p:cNvSpPr>
            <a:spLocks noChangeShapeType="1"/>
          </p:cNvSpPr>
          <p:nvPr/>
        </p:nvSpPr>
        <p:spPr bwMode="auto">
          <a:xfrm flipV="1">
            <a:off x="5505994" y="5473336"/>
            <a:ext cx="3155467" cy="620669"/>
          </a:xfrm>
          <a:prstGeom prst="line">
            <a:avLst/>
          </a:prstGeom>
          <a:noFill/>
          <a:ln w="28575" cap="sq">
            <a:solidFill>
              <a:srgbClr val="DD414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grpSp>
        <p:nvGrpSpPr>
          <p:cNvPr id="27" name="Group 26">
            <a:extLst>
              <a:ext uri="{FF2B5EF4-FFF2-40B4-BE49-F238E27FC236}">
                <a16:creationId xmlns:a16="http://schemas.microsoft.com/office/drawing/2014/main" id="{B4ECE336-1B9A-88BB-AEA4-AE4F4F6A0752}"/>
              </a:ext>
            </a:extLst>
          </p:cNvPr>
          <p:cNvGrpSpPr/>
          <p:nvPr/>
        </p:nvGrpSpPr>
        <p:grpSpPr>
          <a:xfrm>
            <a:off x="940004" y="330919"/>
            <a:ext cx="6217883" cy="311851"/>
            <a:chOff x="940249" y="302538"/>
            <a:chExt cx="6219503" cy="311932"/>
          </a:xfrm>
        </p:grpSpPr>
        <p:sp>
          <p:nvSpPr>
            <p:cNvPr id="34" name="TextBox 33">
              <a:extLst>
                <a:ext uri="{FF2B5EF4-FFF2-40B4-BE49-F238E27FC236}">
                  <a16:creationId xmlns:a16="http://schemas.microsoft.com/office/drawing/2014/main" id="{4EFA1B32-447C-2286-E7D2-6B676D0CA50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7" name="AutoShape 9">
              <a:extLst>
                <a:ext uri="{FF2B5EF4-FFF2-40B4-BE49-F238E27FC236}">
                  <a16:creationId xmlns:a16="http://schemas.microsoft.com/office/drawing/2014/main" id="{0B4CB70F-10FD-2122-00B2-AEE328E6263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8" name="AutoShape 9">
              <a:extLst>
                <a:ext uri="{FF2B5EF4-FFF2-40B4-BE49-F238E27FC236}">
                  <a16:creationId xmlns:a16="http://schemas.microsoft.com/office/drawing/2014/main" id="{B0946418-4285-2D76-CFDC-0D6A634D97D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9" name="AutoShape 9">
              <a:extLst>
                <a:ext uri="{FF2B5EF4-FFF2-40B4-BE49-F238E27FC236}">
                  <a16:creationId xmlns:a16="http://schemas.microsoft.com/office/drawing/2014/main" id="{A3E19037-8D00-27D1-9D2E-611D698CD52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0" name="AutoShape 9">
              <a:extLst>
                <a:ext uri="{FF2B5EF4-FFF2-40B4-BE49-F238E27FC236}">
                  <a16:creationId xmlns:a16="http://schemas.microsoft.com/office/drawing/2014/main" id="{AC600793-7197-20B2-B3BD-755EF5D040E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1" name="AutoShape 11">
              <a:extLst>
                <a:ext uri="{FF2B5EF4-FFF2-40B4-BE49-F238E27FC236}">
                  <a16:creationId xmlns:a16="http://schemas.microsoft.com/office/drawing/2014/main" id="{1B317959-9E27-6DE0-800E-33986374FE7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42" name="Slide Number Placeholder 2">
            <a:extLst>
              <a:ext uri="{FF2B5EF4-FFF2-40B4-BE49-F238E27FC236}">
                <a16:creationId xmlns:a16="http://schemas.microsoft.com/office/drawing/2014/main" id="{FA5DC522-626E-F8B4-7E9E-3FE616ABCCC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57</a:t>
            </a:fld>
            <a:endParaRPr lang="en-US" dirty="0"/>
          </a:p>
        </p:txBody>
      </p:sp>
    </p:spTree>
    <p:extLst>
      <p:ext uri="{BB962C8B-B14F-4D97-AF65-F5344CB8AC3E}">
        <p14:creationId xmlns:p14="http://schemas.microsoft.com/office/powerpoint/2010/main" val="32665258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DD4141"/>
                </a:solidFill>
              </a:rPr>
              <a:t>Inventory</a:t>
            </a:r>
            <a:endParaRPr lang="en-US" dirty="0">
              <a:solidFill>
                <a:srgbClr val="DD4141"/>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1883593"/>
            <a:ext cx="4875448" cy="291360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Inventory</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There are </a:t>
            </a:r>
            <a:r>
              <a:rPr lang="en-US" sz="1800" dirty="0">
                <a:solidFill>
                  <a:srgbClr val="DD4141"/>
                </a:solidFill>
                <a:latin typeface="Roboto" panose="02000000000000000000" pitchFamily="2" charset="0"/>
                <a:ea typeface="Roboto" panose="02000000000000000000" pitchFamily="2" charset="0"/>
              </a:rPr>
              <a:t>3,200</a:t>
            </a:r>
            <a:r>
              <a:rPr lang="en-US" sz="1800" dirty="0">
                <a:solidFill>
                  <a:srgbClr val="191C25"/>
                </a:solidFill>
                <a:latin typeface="Roboto" panose="02000000000000000000" pitchFamily="2" charset="0"/>
                <a:ea typeface="Roboto" panose="02000000000000000000" pitchFamily="2" charset="0"/>
              </a:rPr>
              <a:t> sheets of raw material received from the supplier and waiting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for cutting</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There are </a:t>
            </a:r>
            <a:r>
              <a:rPr lang="en-US" sz="1800" dirty="0">
                <a:solidFill>
                  <a:srgbClr val="DD4141"/>
                </a:solidFill>
                <a:latin typeface="Roboto" panose="02000000000000000000" pitchFamily="2" charset="0"/>
                <a:ea typeface="Roboto" panose="02000000000000000000" pitchFamily="2" charset="0"/>
              </a:rPr>
              <a:t>5,250</a:t>
            </a:r>
            <a:r>
              <a:rPr lang="en-US" sz="1800" dirty="0">
                <a:solidFill>
                  <a:srgbClr val="191C25"/>
                </a:solidFill>
                <a:latin typeface="Roboto" panose="02000000000000000000" pitchFamily="2" charset="0"/>
                <a:ea typeface="Roboto" panose="02000000000000000000" pitchFamily="2" charset="0"/>
              </a:rPr>
              <a:t> cut pieces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waiting for stamping</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There are </a:t>
            </a:r>
            <a:r>
              <a:rPr lang="en-US" sz="1800" dirty="0">
                <a:solidFill>
                  <a:srgbClr val="DD4141"/>
                </a:solidFill>
                <a:latin typeface="Roboto" panose="02000000000000000000" pitchFamily="2" charset="0"/>
                <a:ea typeface="Roboto" panose="02000000000000000000" pitchFamily="2" charset="0"/>
              </a:rPr>
              <a:t>9,300</a:t>
            </a:r>
            <a:r>
              <a:rPr lang="en-US" sz="1800" dirty="0">
                <a:solidFill>
                  <a:srgbClr val="191C25"/>
                </a:solidFill>
                <a:latin typeface="Roboto" panose="02000000000000000000" pitchFamily="2" charset="0"/>
                <a:ea typeface="Roboto" panose="02000000000000000000" pitchFamily="2" charset="0"/>
              </a:rPr>
              <a:t> stamped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pieces waiting for brake forming</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There are </a:t>
            </a:r>
            <a:r>
              <a:rPr lang="en-US" sz="1800" dirty="0">
                <a:solidFill>
                  <a:srgbClr val="DD4141"/>
                </a:solidFill>
                <a:latin typeface="Roboto" panose="02000000000000000000" pitchFamily="2" charset="0"/>
                <a:ea typeface="Roboto" panose="02000000000000000000" pitchFamily="2" charset="0"/>
              </a:rPr>
              <a:t>2,300</a:t>
            </a:r>
            <a:r>
              <a:rPr lang="en-US" sz="1800" dirty="0">
                <a:solidFill>
                  <a:srgbClr val="191C25"/>
                </a:solidFill>
                <a:latin typeface="Roboto" panose="02000000000000000000" pitchFamily="2" charset="0"/>
                <a:ea typeface="Roboto" panose="02000000000000000000" pitchFamily="2" charset="0"/>
              </a:rPr>
              <a:t> finished enclosures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waiting to be shipped to the customer</a:t>
            </a:r>
          </a:p>
        </p:txBody>
      </p:sp>
      <p:grpSp>
        <p:nvGrpSpPr>
          <p:cNvPr id="39" name="Group 38">
            <a:extLst>
              <a:ext uri="{FF2B5EF4-FFF2-40B4-BE49-F238E27FC236}">
                <a16:creationId xmlns:a16="http://schemas.microsoft.com/office/drawing/2014/main" id="{6E0582DF-0821-B8EE-5CAC-84FB6F26DDBC}"/>
              </a:ext>
            </a:extLst>
          </p:cNvPr>
          <p:cNvGrpSpPr/>
          <p:nvPr/>
        </p:nvGrpSpPr>
        <p:grpSpPr>
          <a:xfrm>
            <a:off x="6091655" y="1785778"/>
            <a:ext cx="5664655" cy="3031350"/>
            <a:chOff x="12190257" y="2717948"/>
            <a:chExt cx="3581400" cy="2161807"/>
          </a:xfrm>
          <a:solidFill>
            <a:srgbClr val="7A7A7A"/>
          </a:solidFill>
        </p:grpSpPr>
        <p:sp>
          <p:nvSpPr>
            <p:cNvPr id="27" name="Rectangle 2">
              <a:extLst>
                <a:ext uri="{FF2B5EF4-FFF2-40B4-BE49-F238E27FC236}">
                  <a16:creationId xmlns:a16="http://schemas.microsoft.com/office/drawing/2014/main" id="{BD250A35-CBFB-967F-9DE0-84F74E2DE3F3}"/>
                </a:ext>
              </a:extLst>
            </p:cNvPr>
            <p:cNvSpPr>
              <a:spLocks noChangeArrowheads="1"/>
            </p:cNvSpPr>
            <p:nvPr/>
          </p:nvSpPr>
          <p:spPr bwMode="auto">
            <a:xfrm>
              <a:off x="12190257" y="2717948"/>
              <a:ext cx="3581400" cy="2161807"/>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34" name="Line 51">
              <a:extLst>
                <a:ext uri="{FF2B5EF4-FFF2-40B4-BE49-F238E27FC236}">
                  <a16:creationId xmlns:a16="http://schemas.microsoft.com/office/drawing/2014/main" id="{2D29E428-3B79-F95B-A329-E80A4D208142}"/>
                </a:ext>
              </a:extLst>
            </p:cNvPr>
            <p:cNvSpPr>
              <a:spLocks noChangeShapeType="1"/>
            </p:cNvSpPr>
            <p:nvPr/>
          </p:nvSpPr>
          <p:spPr bwMode="auto">
            <a:xfrm flipV="1">
              <a:off x="13315369" y="3122036"/>
              <a:ext cx="1209675" cy="0"/>
            </a:xfrm>
            <a:prstGeom prst="line">
              <a:avLst/>
            </a:prstGeom>
            <a:grpFill/>
            <a:ln w="104775">
              <a:solidFill>
                <a:srgbClr val="FFB627"/>
              </a:solidFill>
              <a:prstDash val="sysDot"/>
              <a:round/>
              <a:headEnd type="none" w="sm" len="sm"/>
              <a:tailEnd type="triangle" w="sm" len="sm"/>
            </a:ln>
          </p:spPr>
          <p:txBody>
            <a:bodyPr wrap="none"/>
            <a:lstStyle/>
            <a:p>
              <a:endParaRPr lang="en-US" sz="1399"/>
            </a:p>
          </p:txBody>
        </p:sp>
        <p:sp>
          <p:nvSpPr>
            <p:cNvPr id="37" name="AutoShape 52">
              <a:extLst>
                <a:ext uri="{FF2B5EF4-FFF2-40B4-BE49-F238E27FC236}">
                  <a16:creationId xmlns:a16="http://schemas.microsoft.com/office/drawing/2014/main" id="{A0B3481F-F071-80EF-5973-CF979D297810}"/>
                </a:ext>
              </a:extLst>
            </p:cNvPr>
            <p:cNvSpPr>
              <a:spLocks noChangeArrowheads="1"/>
            </p:cNvSpPr>
            <p:nvPr/>
          </p:nvSpPr>
          <p:spPr bwMode="auto">
            <a:xfrm>
              <a:off x="13714257" y="2870348"/>
              <a:ext cx="463550" cy="381000"/>
            </a:xfrm>
            <a:prstGeom prst="triangle">
              <a:avLst>
                <a:gd name="adj" fmla="val 50000"/>
              </a:avLst>
            </a:prstGeom>
            <a:solidFill>
              <a:schemeClr val="bg2"/>
            </a:solidFill>
            <a:ln w="12700" cap="sq">
              <a:solidFill>
                <a:schemeClr val="bg2"/>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800" dirty="0">
                  <a:solidFill>
                    <a:schemeClr val="tx1"/>
                  </a:solidFill>
                  <a:latin typeface="Times New Roman" panose="02020603050405020304" pitchFamily="18" charset="0"/>
                </a:rPr>
                <a:t>I</a:t>
              </a:r>
            </a:p>
          </p:txBody>
        </p:sp>
        <p:sp>
          <p:nvSpPr>
            <p:cNvPr id="38" name="Text Box 53">
              <a:extLst>
                <a:ext uri="{FF2B5EF4-FFF2-40B4-BE49-F238E27FC236}">
                  <a16:creationId xmlns:a16="http://schemas.microsoft.com/office/drawing/2014/main" id="{9E2F27B1-D956-80A0-8054-955F0D661CED}"/>
                </a:ext>
              </a:extLst>
            </p:cNvPr>
            <p:cNvSpPr txBox="1">
              <a:spLocks noChangeArrowheads="1"/>
            </p:cNvSpPr>
            <p:nvPr/>
          </p:nvSpPr>
          <p:spPr bwMode="auto">
            <a:xfrm>
              <a:off x="12418857" y="3479948"/>
              <a:ext cx="3197225" cy="129499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600" dirty="0">
                  <a:solidFill>
                    <a:srgbClr val="FFB627"/>
                  </a:solidFill>
                  <a:latin typeface="Roboto" panose="02000000000000000000" pitchFamily="2" charset="0"/>
                  <a:ea typeface="Roboto" panose="02000000000000000000" pitchFamily="2" charset="0"/>
                </a:rPr>
                <a:t>PUSH Arrow (Thick Dashed Line)</a:t>
              </a:r>
              <a:r>
                <a:rPr lang="en-US" altLang="en-US" sz="1600" b="0" dirty="0">
                  <a:solidFill>
                    <a:srgbClr val="FFB627"/>
                  </a:solidFill>
                  <a:latin typeface="Roboto" panose="02000000000000000000" pitchFamily="2" charset="0"/>
                  <a:ea typeface="Roboto" panose="02000000000000000000" pitchFamily="2" charset="0"/>
                </a:rPr>
                <a:t> </a:t>
              </a:r>
              <a:r>
                <a:rPr lang="en-US" altLang="en-US" sz="1600" b="0" dirty="0">
                  <a:latin typeface="Roboto" panose="02000000000000000000" pitchFamily="2" charset="0"/>
                  <a:ea typeface="Roboto" panose="02000000000000000000" pitchFamily="2" charset="0"/>
                </a:rPr>
                <a:t>– Indicates an accumulation of material that has been delivered from a producing process or supplier and is waiting for the next process. The physical location of the inventory is not relevant. What is relevant is the fact that there is not a pull system in place to regulate the production of the producing process.</a:t>
              </a:r>
            </a:p>
          </p:txBody>
        </p:sp>
      </p:grpSp>
      <p:grpSp>
        <p:nvGrpSpPr>
          <p:cNvPr id="40" name="Group 5">
            <a:extLst>
              <a:ext uri="{FF2B5EF4-FFF2-40B4-BE49-F238E27FC236}">
                <a16:creationId xmlns:a16="http://schemas.microsoft.com/office/drawing/2014/main" id="{CF977BE1-EE85-6A2B-8A9B-0CFF66052743}"/>
              </a:ext>
            </a:extLst>
          </p:cNvPr>
          <p:cNvGrpSpPr>
            <a:grpSpLocks/>
          </p:cNvGrpSpPr>
          <p:nvPr/>
        </p:nvGrpSpPr>
        <p:grpSpPr bwMode="auto">
          <a:xfrm>
            <a:off x="1243512" y="5150121"/>
            <a:ext cx="9411721" cy="881096"/>
            <a:chOff x="523" y="2988"/>
            <a:chExt cx="4465" cy="418"/>
          </a:xfrm>
        </p:grpSpPr>
        <p:sp>
          <p:nvSpPr>
            <p:cNvPr id="41" name="Line 6">
              <a:extLst>
                <a:ext uri="{FF2B5EF4-FFF2-40B4-BE49-F238E27FC236}">
                  <a16:creationId xmlns:a16="http://schemas.microsoft.com/office/drawing/2014/main" id="{B9FF9763-169C-DF13-CEB7-79DABB1C7716}"/>
                </a:ext>
              </a:extLst>
            </p:cNvPr>
            <p:cNvSpPr>
              <a:spLocks noChangeShapeType="1"/>
            </p:cNvSpPr>
            <p:nvPr/>
          </p:nvSpPr>
          <p:spPr bwMode="auto">
            <a:xfrm flipV="1">
              <a:off x="1586" y="3201"/>
              <a:ext cx="618" cy="8"/>
            </a:xfrm>
            <a:prstGeom prst="line">
              <a:avLst/>
            </a:prstGeom>
            <a:noFill/>
            <a:ln w="57150">
              <a:solidFill>
                <a:schemeClr val="bg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42" name="AutoShape 7">
              <a:extLst>
                <a:ext uri="{FF2B5EF4-FFF2-40B4-BE49-F238E27FC236}">
                  <a16:creationId xmlns:a16="http://schemas.microsoft.com/office/drawing/2014/main" id="{35DC8AAD-EDAD-A4E4-EB5F-8CF1FF59ABDE}"/>
                </a:ext>
              </a:extLst>
            </p:cNvPr>
            <p:cNvSpPr>
              <a:spLocks noChangeArrowheads="1"/>
            </p:cNvSpPr>
            <p:nvPr/>
          </p:nvSpPr>
          <p:spPr bwMode="auto">
            <a:xfrm>
              <a:off x="1760"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Times New Roman" panose="02020603050405020304" pitchFamily="18" charset="0"/>
                </a:rPr>
                <a:t>I</a:t>
              </a:r>
            </a:p>
          </p:txBody>
        </p:sp>
        <p:grpSp>
          <p:nvGrpSpPr>
            <p:cNvPr id="43" name="Group 8">
              <a:extLst>
                <a:ext uri="{FF2B5EF4-FFF2-40B4-BE49-F238E27FC236}">
                  <a16:creationId xmlns:a16="http://schemas.microsoft.com/office/drawing/2014/main" id="{6532782B-D211-96BB-89AC-1C288468E05A}"/>
                </a:ext>
              </a:extLst>
            </p:cNvPr>
            <p:cNvGrpSpPr>
              <a:grpSpLocks/>
            </p:cNvGrpSpPr>
            <p:nvPr/>
          </p:nvGrpSpPr>
          <p:grpSpPr bwMode="auto">
            <a:xfrm>
              <a:off x="1047" y="2998"/>
              <a:ext cx="525" cy="369"/>
              <a:chOff x="1367" y="2391"/>
              <a:chExt cx="434" cy="369"/>
            </a:xfrm>
          </p:grpSpPr>
          <p:grpSp>
            <p:nvGrpSpPr>
              <p:cNvPr id="77" name="Group 9">
                <a:extLst>
                  <a:ext uri="{FF2B5EF4-FFF2-40B4-BE49-F238E27FC236}">
                    <a16:creationId xmlns:a16="http://schemas.microsoft.com/office/drawing/2014/main" id="{D5F906B8-D57D-5AA0-E8C3-B06154526873}"/>
                  </a:ext>
                </a:extLst>
              </p:cNvPr>
              <p:cNvGrpSpPr>
                <a:grpSpLocks/>
              </p:cNvGrpSpPr>
              <p:nvPr/>
            </p:nvGrpSpPr>
            <p:grpSpPr bwMode="auto">
              <a:xfrm>
                <a:off x="1367" y="2395"/>
                <a:ext cx="434" cy="365"/>
                <a:chOff x="418" y="2981"/>
                <a:chExt cx="352" cy="365"/>
              </a:xfrm>
            </p:grpSpPr>
            <p:sp>
              <p:nvSpPr>
                <p:cNvPr id="83" name="Rectangle 10">
                  <a:extLst>
                    <a:ext uri="{FF2B5EF4-FFF2-40B4-BE49-F238E27FC236}">
                      <a16:creationId xmlns:a16="http://schemas.microsoft.com/office/drawing/2014/main" id="{BC66069C-5187-B30C-F378-FE0187A60C9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84" name="Line 11">
                  <a:extLst>
                    <a:ext uri="{FF2B5EF4-FFF2-40B4-BE49-F238E27FC236}">
                      <a16:creationId xmlns:a16="http://schemas.microsoft.com/office/drawing/2014/main" id="{DAB95A76-DB25-50B6-B037-6240181E2AB9}"/>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78" name="Group 12">
                <a:extLst>
                  <a:ext uri="{FF2B5EF4-FFF2-40B4-BE49-F238E27FC236}">
                    <a16:creationId xmlns:a16="http://schemas.microsoft.com/office/drawing/2014/main" id="{E6EE1F66-DDB3-A039-7622-E6A025E078B0}"/>
                  </a:ext>
                </a:extLst>
              </p:cNvPr>
              <p:cNvGrpSpPr>
                <a:grpSpLocks/>
              </p:cNvGrpSpPr>
              <p:nvPr/>
            </p:nvGrpSpPr>
            <p:grpSpPr bwMode="auto">
              <a:xfrm flipV="1">
                <a:off x="1462" y="2586"/>
                <a:ext cx="96" cy="112"/>
                <a:chOff x="720" y="3354"/>
                <a:chExt cx="192" cy="198"/>
              </a:xfrm>
            </p:grpSpPr>
            <p:sp>
              <p:nvSpPr>
                <p:cNvPr id="81" name="Oval 13">
                  <a:extLst>
                    <a:ext uri="{FF2B5EF4-FFF2-40B4-BE49-F238E27FC236}">
                      <a16:creationId xmlns:a16="http://schemas.microsoft.com/office/drawing/2014/main" id="{477FF3E8-FE48-5B0F-A7D4-B843A73D12D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82" name="AutoShape 14">
                  <a:extLst>
                    <a:ext uri="{FF2B5EF4-FFF2-40B4-BE49-F238E27FC236}">
                      <a16:creationId xmlns:a16="http://schemas.microsoft.com/office/drawing/2014/main" id="{AFD4BD04-B000-8F58-EA86-234416F64D69}"/>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9" name="Text Box 15">
                <a:extLst>
                  <a:ext uri="{FF2B5EF4-FFF2-40B4-BE49-F238E27FC236}">
                    <a16:creationId xmlns:a16="http://schemas.microsoft.com/office/drawing/2014/main" id="{91A94736-DB58-AB26-1164-CAD26D3A60FC}"/>
                  </a:ext>
                </a:extLst>
              </p:cNvPr>
              <p:cNvSpPr txBox="1">
                <a:spLocks noChangeArrowheads="1"/>
              </p:cNvSpPr>
              <p:nvPr/>
            </p:nvSpPr>
            <p:spPr bwMode="auto">
              <a:xfrm>
                <a:off x="1578" y="2584"/>
                <a:ext cx="155"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 5</a:t>
                </a:r>
              </a:p>
            </p:txBody>
          </p:sp>
          <p:sp>
            <p:nvSpPr>
              <p:cNvPr id="80" name="Text Box 16">
                <a:extLst>
                  <a:ext uri="{FF2B5EF4-FFF2-40B4-BE49-F238E27FC236}">
                    <a16:creationId xmlns:a16="http://schemas.microsoft.com/office/drawing/2014/main" id="{FA1AFE12-06C0-BF62-DDD4-49522D2AF7BA}"/>
                  </a:ext>
                </a:extLst>
              </p:cNvPr>
              <p:cNvSpPr txBox="1">
                <a:spLocks noChangeArrowheads="1"/>
              </p:cNvSpPr>
              <p:nvPr/>
            </p:nvSpPr>
            <p:spPr bwMode="auto">
              <a:xfrm>
                <a:off x="1382" y="2391"/>
                <a:ext cx="407"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Cut</a:t>
                </a:r>
              </a:p>
            </p:txBody>
          </p:sp>
        </p:grpSp>
        <p:grpSp>
          <p:nvGrpSpPr>
            <p:cNvPr id="44" name="Group 17">
              <a:extLst>
                <a:ext uri="{FF2B5EF4-FFF2-40B4-BE49-F238E27FC236}">
                  <a16:creationId xmlns:a16="http://schemas.microsoft.com/office/drawing/2014/main" id="{CC8798FA-5406-EC27-B789-DBAC293264DE}"/>
                </a:ext>
              </a:extLst>
            </p:cNvPr>
            <p:cNvGrpSpPr>
              <a:grpSpLocks/>
            </p:cNvGrpSpPr>
            <p:nvPr/>
          </p:nvGrpSpPr>
          <p:grpSpPr bwMode="auto">
            <a:xfrm>
              <a:off x="2185" y="2993"/>
              <a:ext cx="525" cy="369"/>
              <a:chOff x="1367" y="2391"/>
              <a:chExt cx="434" cy="369"/>
            </a:xfrm>
          </p:grpSpPr>
          <p:grpSp>
            <p:nvGrpSpPr>
              <p:cNvPr id="69" name="Group 18">
                <a:extLst>
                  <a:ext uri="{FF2B5EF4-FFF2-40B4-BE49-F238E27FC236}">
                    <a16:creationId xmlns:a16="http://schemas.microsoft.com/office/drawing/2014/main" id="{9E46E086-4651-88F0-C35F-8F14D6A30EEE}"/>
                  </a:ext>
                </a:extLst>
              </p:cNvPr>
              <p:cNvGrpSpPr>
                <a:grpSpLocks/>
              </p:cNvGrpSpPr>
              <p:nvPr/>
            </p:nvGrpSpPr>
            <p:grpSpPr bwMode="auto">
              <a:xfrm>
                <a:off x="1367" y="2395"/>
                <a:ext cx="434" cy="365"/>
                <a:chOff x="418" y="2981"/>
                <a:chExt cx="352" cy="365"/>
              </a:xfrm>
            </p:grpSpPr>
            <p:sp>
              <p:nvSpPr>
                <p:cNvPr id="75" name="Rectangle 19">
                  <a:extLst>
                    <a:ext uri="{FF2B5EF4-FFF2-40B4-BE49-F238E27FC236}">
                      <a16:creationId xmlns:a16="http://schemas.microsoft.com/office/drawing/2014/main" id="{A5C34268-87D3-A3E1-75A0-AF0313C2671A}"/>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6" name="Line 20">
                  <a:extLst>
                    <a:ext uri="{FF2B5EF4-FFF2-40B4-BE49-F238E27FC236}">
                      <a16:creationId xmlns:a16="http://schemas.microsoft.com/office/drawing/2014/main" id="{67AC7A5D-DF85-7532-319C-F276338A7B1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70" name="Group 21">
                <a:extLst>
                  <a:ext uri="{FF2B5EF4-FFF2-40B4-BE49-F238E27FC236}">
                    <a16:creationId xmlns:a16="http://schemas.microsoft.com/office/drawing/2014/main" id="{198CF81B-E23C-230C-F976-FF71DDB91263}"/>
                  </a:ext>
                </a:extLst>
              </p:cNvPr>
              <p:cNvGrpSpPr>
                <a:grpSpLocks/>
              </p:cNvGrpSpPr>
              <p:nvPr/>
            </p:nvGrpSpPr>
            <p:grpSpPr bwMode="auto">
              <a:xfrm flipV="1">
                <a:off x="1462" y="2586"/>
                <a:ext cx="96" cy="112"/>
                <a:chOff x="720" y="3354"/>
                <a:chExt cx="192" cy="198"/>
              </a:xfrm>
            </p:grpSpPr>
            <p:sp>
              <p:nvSpPr>
                <p:cNvPr id="73" name="Oval 22">
                  <a:extLst>
                    <a:ext uri="{FF2B5EF4-FFF2-40B4-BE49-F238E27FC236}">
                      <a16:creationId xmlns:a16="http://schemas.microsoft.com/office/drawing/2014/main" id="{EFB5D3C1-B5C0-691F-03C3-4A174876EE5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4" name="AutoShape 23">
                  <a:extLst>
                    <a:ext uri="{FF2B5EF4-FFF2-40B4-BE49-F238E27FC236}">
                      <a16:creationId xmlns:a16="http://schemas.microsoft.com/office/drawing/2014/main" id="{EC29DEB9-3895-018F-319C-C34D4CB659A2}"/>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1" name="Text Box 24">
                <a:extLst>
                  <a:ext uri="{FF2B5EF4-FFF2-40B4-BE49-F238E27FC236}">
                    <a16:creationId xmlns:a16="http://schemas.microsoft.com/office/drawing/2014/main" id="{AB29A9FB-496D-21B4-4C90-5DB3BF8B143C}"/>
                  </a:ext>
                </a:extLst>
              </p:cNvPr>
              <p:cNvSpPr txBox="1">
                <a:spLocks noChangeArrowheads="1"/>
              </p:cNvSpPr>
              <p:nvPr/>
            </p:nvSpPr>
            <p:spPr bwMode="auto">
              <a:xfrm>
                <a:off x="1578" y="2584"/>
                <a:ext cx="155"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 1</a:t>
                </a:r>
              </a:p>
            </p:txBody>
          </p:sp>
          <p:sp>
            <p:nvSpPr>
              <p:cNvPr id="72" name="Text Box 25">
                <a:extLst>
                  <a:ext uri="{FF2B5EF4-FFF2-40B4-BE49-F238E27FC236}">
                    <a16:creationId xmlns:a16="http://schemas.microsoft.com/office/drawing/2014/main" id="{53DCE6F5-257D-5938-CF06-30288099901B}"/>
                  </a:ext>
                </a:extLst>
              </p:cNvPr>
              <p:cNvSpPr txBox="1">
                <a:spLocks noChangeArrowheads="1"/>
              </p:cNvSpPr>
              <p:nvPr/>
            </p:nvSpPr>
            <p:spPr bwMode="auto">
              <a:xfrm>
                <a:off x="1382" y="2391"/>
                <a:ext cx="407"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Stamp</a:t>
                </a:r>
              </a:p>
            </p:txBody>
          </p:sp>
        </p:grpSp>
        <p:grpSp>
          <p:nvGrpSpPr>
            <p:cNvPr id="45" name="Group 26">
              <a:extLst>
                <a:ext uri="{FF2B5EF4-FFF2-40B4-BE49-F238E27FC236}">
                  <a16:creationId xmlns:a16="http://schemas.microsoft.com/office/drawing/2014/main" id="{B90183E1-BA3E-1DBD-F870-C71C1B518385}"/>
                </a:ext>
              </a:extLst>
            </p:cNvPr>
            <p:cNvGrpSpPr>
              <a:grpSpLocks/>
            </p:cNvGrpSpPr>
            <p:nvPr/>
          </p:nvGrpSpPr>
          <p:grpSpPr bwMode="auto">
            <a:xfrm>
              <a:off x="3324" y="2988"/>
              <a:ext cx="525" cy="369"/>
              <a:chOff x="1367" y="2391"/>
              <a:chExt cx="434" cy="369"/>
            </a:xfrm>
          </p:grpSpPr>
          <p:grpSp>
            <p:nvGrpSpPr>
              <p:cNvPr id="61" name="Group 27">
                <a:extLst>
                  <a:ext uri="{FF2B5EF4-FFF2-40B4-BE49-F238E27FC236}">
                    <a16:creationId xmlns:a16="http://schemas.microsoft.com/office/drawing/2014/main" id="{131A7E08-A132-5098-A95F-F6451A4A8F7B}"/>
                  </a:ext>
                </a:extLst>
              </p:cNvPr>
              <p:cNvGrpSpPr>
                <a:grpSpLocks/>
              </p:cNvGrpSpPr>
              <p:nvPr/>
            </p:nvGrpSpPr>
            <p:grpSpPr bwMode="auto">
              <a:xfrm>
                <a:off x="1367" y="2395"/>
                <a:ext cx="434" cy="365"/>
                <a:chOff x="418" y="2981"/>
                <a:chExt cx="352" cy="365"/>
              </a:xfrm>
            </p:grpSpPr>
            <p:sp>
              <p:nvSpPr>
                <p:cNvPr id="67" name="Rectangle 28">
                  <a:extLst>
                    <a:ext uri="{FF2B5EF4-FFF2-40B4-BE49-F238E27FC236}">
                      <a16:creationId xmlns:a16="http://schemas.microsoft.com/office/drawing/2014/main" id="{70A8FCCB-B9C8-B7A8-1447-BEB2B356A52D}"/>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8" name="Line 29">
                  <a:extLst>
                    <a:ext uri="{FF2B5EF4-FFF2-40B4-BE49-F238E27FC236}">
                      <a16:creationId xmlns:a16="http://schemas.microsoft.com/office/drawing/2014/main" id="{2E1BA49F-9560-25F1-690A-1270B0728299}"/>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62" name="Group 30">
                <a:extLst>
                  <a:ext uri="{FF2B5EF4-FFF2-40B4-BE49-F238E27FC236}">
                    <a16:creationId xmlns:a16="http://schemas.microsoft.com/office/drawing/2014/main" id="{4F7E04E9-E2F2-DC19-CBDC-38BF62FEC46B}"/>
                  </a:ext>
                </a:extLst>
              </p:cNvPr>
              <p:cNvGrpSpPr>
                <a:grpSpLocks/>
              </p:cNvGrpSpPr>
              <p:nvPr/>
            </p:nvGrpSpPr>
            <p:grpSpPr bwMode="auto">
              <a:xfrm flipV="1">
                <a:off x="1462" y="2586"/>
                <a:ext cx="96" cy="112"/>
                <a:chOff x="720" y="3354"/>
                <a:chExt cx="192" cy="198"/>
              </a:xfrm>
            </p:grpSpPr>
            <p:sp>
              <p:nvSpPr>
                <p:cNvPr id="65" name="Oval 31">
                  <a:extLst>
                    <a:ext uri="{FF2B5EF4-FFF2-40B4-BE49-F238E27FC236}">
                      <a16:creationId xmlns:a16="http://schemas.microsoft.com/office/drawing/2014/main" id="{E1152863-EC10-6A49-B2A8-0626B170210C}"/>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2">
                  <a:extLst>
                    <a:ext uri="{FF2B5EF4-FFF2-40B4-BE49-F238E27FC236}">
                      <a16:creationId xmlns:a16="http://schemas.microsoft.com/office/drawing/2014/main" id="{A759CC36-96F5-0EE4-E51E-3E2BF568F75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63" name="Text Box 33">
                <a:extLst>
                  <a:ext uri="{FF2B5EF4-FFF2-40B4-BE49-F238E27FC236}">
                    <a16:creationId xmlns:a16="http://schemas.microsoft.com/office/drawing/2014/main" id="{4D1EA9D9-9F27-159F-9A40-E365BF84D656}"/>
                  </a:ext>
                </a:extLst>
              </p:cNvPr>
              <p:cNvSpPr txBox="1">
                <a:spLocks noChangeArrowheads="1"/>
              </p:cNvSpPr>
              <p:nvPr/>
            </p:nvSpPr>
            <p:spPr bwMode="auto">
              <a:xfrm>
                <a:off x="1578" y="2584"/>
                <a:ext cx="155"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 1</a:t>
                </a:r>
              </a:p>
            </p:txBody>
          </p:sp>
          <p:sp>
            <p:nvSpPr>
              <p:cNvPr id="64" name="Text Box 34">
                <a:extLst>
                  <a:ext uri="{FF2B5EF4-FFF2-40B4-BE49-F238E27FC236}">
                    <a16:creationId xmlns:a16="http://schemas.microsoft.com/office/drawing/2014/main" id="{7F3D5E2C-4F96-953B-FFB1-B8AC071A0391}"/>
                  </a:ext>
                </a:extLst>
              </p:cNvPr>
              <p:cNvSpPr txBox="1">
                <a:spLocks noChangeArrowheads="1"/>
              </p:cNvSpPr>
              <p:nvPr/>
            </p:nvSpPr>
            <p:spPr bwMode="auto">
              <a:xfrm>
                <a:off x="1382" y="2391"/>
                <a:ext cx="407"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Brake Form</a:t>
                </a:r>
              </a:p>
            </p:txBody>
          </p:sp>
        </p:grpSp>
        <p:grpSp>
          <p:nvGrpSpPr>
            <p:cNvPr id="46" name="Group 35">
              <a:extLst>
                <a:ext uri="{FF2B5EF4-FFF2-40B4-BE49-F238E27FC236}">
                  <a16:creationId xmlns:a16="http://schemas.microsoft.com/office/drawing/2014/main" id="{DFB0E840-9D92-CF06-5F0C-52C711B72D31}"/>
                </a:ext>
              </a:extLst>
            </p:cNvPr>
            <p:cNvGrpSpPr>
              <a:grpSpLocks/>
            </p:cNvGrpSpPr>
            <p:nvPr/>
          </p:nvGrpSpPr>
          <p:grpSpPr bwMode="auto">
            <a:xfrm>
              <a:off x="4463" y="3003"/>
              <a:ext cx="525" cy="369"/>
              <a:chOff x="4424" y="2406"/>
              <a:chExt cx="525" cy="369"/>
            </a:xfrm>
          </p:grpSpPr>
          <p:grpSp>
            <p:nvGrpSpPr>
              <p:cNvPr id="57" name="Group 36">
                <a:extLst>
                  <a:ext uri="{FF2B5EF4-FFF2-40B4-BE49-F238E27FC236}">
                    <a16:creationId xmlns:a16="http://schemas.microsoft.com/office/drawing/2014/main" id="{731CF9C0-263F-BBC5-DF3E-AC32DF44A52A}"/>
                  </a:ext>
                </a:extLst>
              </p:cNvPr>
              <p:cNvGrpSpPr>
                <a:grpSpLocks/>
              </p:cNvGrpSpPr>
              <p:nvPr/>
            </p:nvGrpSpPr>
            <p:grpSpPr bwMode="auto">
              <a:xfrm>
                <a:off x="4424" y="2410"/>
                <a:ext cx="525" cy="365"/>
                <a:chOff x="418" y="2981"/>
                <a:chExt cx="352" cy="365"/>
              </a:xfrm>
            </p:grpSpPr>
            <p:sp>
              <p:nvSpPr>
                <p:cNvPr id="59" name="Rectangle 37">
                  <a:extLst>
                    <a:ext uri="{FF2B5EF4-FFF2-40B4-BE49-F238E27FC236}">
                      <a16:creationId xmlns:a16="http://schemas.microsoft.com/office/drawing/2014/main" id="{EF092624-2263-CD08-4653-2EAE4702D3EB}"/>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0" name="Line 38">
                  <a:extLst>
                    <a:ext uri="{FF2B5EF4-FFF2-40B4-BE49-F238E27FC236}">
                      <a16:creationId xmlns:a16="http://schemas.microsoft.com/office/drawing/2014/main" id="{A98AE2B0-5D45-C8BF-5AD0-8CD17792968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58" name="Text Box 39">
                <a:extLst>
                  <a:ext uri="{FF2B5EF4-FFF2-40B4-BE49-F238E27FC236}">
                    <a16:creationId xmlns:a16="http://schemas.microsoft.com/office/drawing/2014/main" id="{CC9F8959-0CD8-CE07-5863-F2A565025256}"/>
                  </a:ext>
                </a:extLst>
              </p:cNvPr>
              <p:cNvSpPr txBox="1">
                <a:spLocks noChangeArrowheads="1"/>
              </p:cNvSpPr>
              <p:nvPr/>
            </p:nvSpPr>
            <p:spPr bwMode="auto">
              <a:xfrm>
                <a:off x="4442" y="2406"/>
                <a:ext cx="492"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grpSp>
        <p:sp>
          <p:nvSpPr>
            <p:cNvPr id="47" name="Line 40">
              <a:extLst>
                <a:ext uri="{FF2B5EF4-FFF2-40B4-BE49-F238E27FC236}">
                  <a16:creationId xmlns:a16="http://schemas.microsoft.com/office/drawing/2014/main" id="{B8D91B2E-A130-DBA2-78E5-401D389804C7}"/>
                </a:ext>
              </a:extLst>
            </p:cNvPr>
            <p:cNvSpPr>
              <a:spLocks noChangeShapeType="1"/>
            </p:cNvSpPr>
            <p:nvPr/>
          </p:nvSpPr>
          <p:spPr bwMode="auto">
            <a:xfrm flipV="1">
              <a:off x="2724" y="3201"/>
              <a:ext cx="599" cy="8"/>
            </a:xfrm>
            <a:prstGeom prst="line">
              <a:avLst/>
            </a:prstGeom>
            <a:noFill/>
            <a:ln w="57150">
              <a:solidFill>
                <a:schemeClr val="bg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48" name="Line 41">
              <a:extLst>
                <a:ext uri="{FF2B5EF4-FFF2-40B4-BE49-F238E27FC236}">
                  <a16:creationId xmlns:a16="http://schemas.microsoft.com/office/drawing/2014/main" id="{C1340964-16DF-A8C9-81C4-A99CEBA4EDD3}"/>
                </a:ext>
              </a:extLst>
            </p:cNvPr>
            <p:cNvSpPr>
              <a:spLocks noChangeShapeType="1"/>
            </p:cNvSpPr>
            <p:nvPr/>
          </p:nvSpPr>
          <p:spPr bwMode="auto">
            <a:xfrm flipV="1">
              <a:off x="3862" y="3201"/>
              <a:ext cx="599" cy="8"/>
            </a:xfrm>
            <a:prstGeom prst="line">
              <a:avLst/>
            </a:prstGeom>
            <a:noFill/>
            <a:ln w="57150">
              <a:solidFill>
                <a:schemeClr val="bg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49" name="AutoShape 42">
              <a:extLst>
                <a:ext uri="{FF2B5EF4-FFF2-40B4-BE49-F238E27FC236}">
                  <a16:creationId xmlns:a16="http://schemas.microsoft.com/office/drawing/2014/main" id="{F80FAA8C-EC65-A0AC-CF37-D1307F886495}"/>
                </a:ext>
              </a:extLst>
            </p:cNvPr>
            <p:cNvSpPr>
              <a:spLocks noChangeArrowheads="1"/>
            </p:cNvSpPr>
            <p:nvPr/>
          </p:nvSpPr>
          <p:spPr bwMode="auto">
            <a:xfrm>
              <a:off x="2898"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Times New Roman" panose="02020603050405020304" pitchFamily="18" charset="0"/>
                </a:rPr>
                <a:t>I</a:t>
              </a:r>
            </a:p>
          </p:txBody>
        </p:sp>
        <p:sp>
          <p:nvSpPr>
            <p:cNvPr id="50" name="AutoShape 43">
              <a:extLst>
                <a:ext uri="{FF2B5EF4-FFF2-40B4-BE49-F238E27FC236}">
                  <a16:creationId xmlns:a16="http://schemas.microsoft.com/office/drawing/2014/main" id="{EA3F75A7-783E-EDF1-977A-5AE20C66C46E}"/>
                </a:ext>
              </a:extLst>
            </p:cNvPr>
            <p:cNvSpPr>
              <a:spLocks noChangeArrowheads="1"/>
            </p:cNvSpPr>
            <p:nvPr/>
          </p:nvSpPr>
          <p:spPr bwMode="auto">
            <a:xfrm>
              <a:off x="4036"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Times New Roman" panose="02020603050405020304" pitchFamily="18" charset="0"/>
                </a:rPr>
                <a:t>I</a:t>
              </a:r>
            </a:p>
          </p:txBody>
        </p:sp>
        <p:sp>
          <p:nvSpPr>
            <p:cNvPr id="51" name="Line 44">
              <a:extLst>
                <a:ext uri="{FF2B5EF4-FFF2-40B4-BE49-F238E27FC236}">
                  <a16:creationId xmlns:a16="http://schemas.microsoft.com/office/drawing/2014/main" id="{6B51F619-56A3-DA9F-E892-FA85BBC41640}"/>
                </a:ext>
              </a:extLst>
            </p:cNvPr>
            <p:cNvSpPr>
              <a:spLocks noChangeShapeType="1"/>
            </p:cNvSpPr>
            <p:nvPr/>
          </p:nvSpPr>
          <p:spPr bwMode="auto">
            <a:xfrm flipV="1">
              <a:off x="778" y="3202"/>
              <a:ext cx="268" cy="4"/>
            </a:xfrm>
            <a:prstGeom prst="line">
              <a:avLst/>
            </a:prstGeom>
            <a:noFill/>
            <a:ln w="57150">
              <a:solidFill>
                <a:schemeClr val="bg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2" name="AutoShape 45">
              <a:extLst>
                <a:ext uri="{FF2B5EF4-FFF2-40B4-BE49-F238E27FC236}">
                  <a16:creationId xmlns:a16="http://schemas.microsoft.com/office/drawing/2014/main" id="{3D591DD8-95D8-0E58-484B-0E7673E59DA8}"/>
                </a:ext>
              </a:extLst>
            </p:cNvPr>
            <p:cNvSpPr>
              <a:spLocks noChangeArrowheads="1"/>
            </p:cNvSpPr>
            <p:nvPr/>
          </p:nvSpPr>
          <p:spPr bwMode="auto">
            <a:xfrm>
              <a:off x="618" y="3082"/>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Times New Roman" panose="02020603050405020304" pitchFamily="18" charset="0"/>
                </a:rPr>
                <a:t>I</a:t>
              </a:r>
            </a:p>
          </p:txBody>
        </p:sp>
        <p:sp>
          <p:nvSpPr>
            <p:cNvPr id="53" name="Rectangle 46">
              <a:extLst>
                <a:ext uri="{FF2B5EF4-FFF2-40B4-BE49-F238E27FC236}">
                  <a16:creationId xmlns:a16="http://schemas.microsoft.com/office/drawing/2014/main" id="{7C6C8847-9B4D-25E2-6B71-03100BBB52A2}"/>
                </a:ext>
              </a:extLst>
            </p:cNvPr>
            <p:cNvSpPr>
              <a:spLocks noChangeArrowheads="1"/>
            </p:cNvSpPr>
            <p:nvPr/>
          </p:nvSpPr>
          <p:spPr bwMode="auto">
            <a:xfrm>
              <a:off x="523" y="3274"/>
              <a:ext cx="451"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rgbClr val="DD4141"/>
                  </a:solidFill>
                  <a:latin typeface="Roboto" panose="02000000000000000000" pitchFamily="2" charset="0"/>
                  <a:ea typeface="Roboto" panose="02000000000000000000" pitchFamily="2" charset="0"/>
                </a:rPr>
                <a:t>3,200 Sheets </a:t>
              </a:r>
            </a:p>
          </p:txBody>
        </p:sp>
        <p:sp>
          <p:nvSpPr>
            <p:cNvPr id="54" name="Rectangle 47">
              <a:extLst>
                <a:ext uri="{FF2B5EF4-FFF2-40B4-BE49-F238E27FC236}">
                  <a16:creationId xmlns:a16="http://schemas.microsoft.com/office/drawing/2014/main" id="{73DEEFB0-1F7C-5559-CBFA-7E55D4DAC27E}"/>
                </a:ext>
              </a:extLst>
            </p:cNvPr>
            <p:cNvSpPr>
              <a:spLocks noChangeArrowheads="1"/>
            </p:cNvSpPr>
            <p:nvPr/>
          </p:nvSpPr>
          <p:spPr bwMode="auto">
            <a:xfrm>
              <a:off x="1667" y="3282"/>
              <a:ext cx="431"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rgbClr val="DD4141"/>
                  </a:solidFill>
                  <a:latin typeface="Roboto" panose="02000000000000000000" pitchFamily="2" charset="0"/>
                  <a:ea typeface="Roboto" panose="02000000000000000000" pitchFamily="2" charset="0"/>
                </a:rPr>
                <a:t>5,250 Pieces</a:t>
              </a:r>
            </a:p>
          </p:txBody>
        </p:sp>
        <p:sp>
          <p:nvSpPr>
            <p:cNvPr id="55" name="Rectangle 48">
              <a:extLst>
                <a:ext uri="{FF2B5EF4-FFF2-40B4-BE49-F238E27FC236}">
                  <a16:creationId xmlns:a16="http://schemas.microsoft.com/office/drawing/2014/main" id="{B0E42C06-7244-387B-0B50-771C556572C2}"/>
                </a:ext>
              </a:extLst>
            </p:cNvPr>
            <p:cNvSpPr>
              <a:spLocks noChangeArrowheads="1"/>
            </p:cNvSpPr>
            <p:nvPr/>
          </p:nvSpPr>
          <p:spPr bwMode="auto">
            <a:xfrm>
              <a:off x="2823" y="3289"/>
              <a:ext cx="422"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rgbClr val="DD4141"/>
                  </a:solidFill>
                  <a:latin typeface="Roboto" panose="02000000000000000000" pitchFamily="2" charset="0"/>
                  <a:ea typeface="Roboto" panose="02000000000000000000" pitchFamily="2" charset="0"/>
                </a:rPr>
                <a:t>9,300</a:t>
              </a:r>
              <a:r>
                <a:rPr lang="en-US" altLang="en-US" sz="400" b="0" dirty="0">
                  <a:solidFill>
                    <a:srgbClr val="DD4141"/>
                  </a:solidFill>
                  <a:latin typeface="Roboto" panose="02000000000000000000" pitchFamily="2" charset="0"/>
                  <a:ea typeface="Roboto" panose="02000000000000000000" pitchFamily="2" charset="0"/>
                </a:rPr>
                <a:t> </a:t>
              </a:r>
              <a:r>
                <a:rPr lang="en-US" altLang="en-US" sz="1000" b="0" dirty="0">
                  <a:solidFill>
                    <a:srgbClr val="DD4141"/>
                  </a:solidFill>
                  <a:latin typeface="Roboto" panose="02000000000000000000" pitchFamily="2" charset="0"/>
                  <a:ea typeface="Roboto" panose="02000000000000000000" pitchFamily="2" charset="0"/>
                </a:rPr>
                <a:t>Pieces</a:t>
              </a:r>
            </a:p>
          </p:txBody>
        </p:sp>
        <p:sp>
          <p:nvSpPr>
            <p:cNvPr id="56" name="Rectangle 49">
              <a:extLst>
                <a:ext uri="{FF2B5EF4-FFF2-40B4-BE49-F238E27FC236}">
                  <a16:creationId xmlns:a16="http://schemas.microsoft.com/office/drawing/2014/main" id="{06F3548E-D41A-EF90-68F2-C4487DCAAC87}"/>
                </a:ext>
              </a:extLst>
            </p:cNvPr>
            <p:cNvSpPr>
              <a:spLocks noChangeArrowheads="1"/>
            </p:cNvSpPr>
            <p:nvPr/>
          </p:nvSpPr>
          <p:spPr bwMode="auto">
            <a:xfrm>
              <a:off x="3906" y="3277"/>
              <a:ext cx="540"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rgbClr val="DD4141"/>
                  </a:solidFill>
                  <a:latin typeface="Roboto" panose="02000000000000000000" pitchFamily="2" charset="0"/>
                  <a:ea typeface="Roboto" panose="02000000000000000000" pitchFamily="2" charset="0"/>
                </a:rPr>
                <a:t>2,300</a:t>
              </a:r>
              <a:r>
                <a:rPr lang="en-US" altLang="en-US" sz="400" b="0" dirty="0">
                  <a:solidFill>
                    <a:srgbClr val="DD4141"/>
                  </a:solidFill>
                  <a:latin typeface="Roboto" panose="02000000000000000000" pitchFamily="2" charset="0"/>
                  <a:ea typeface="Roboto" panose="02000000000000000000" pitchFamily="2" charset="0"/>
                </a:rPr>
                <a:t> </a:t>
              </a:r>
              <a:r>
                <a:rPr lang="en-US" altLang="en-US" sz="1000" b="0" dirty="0">
                  <a:solidFill>
                    <a:srgbClr val="DD4141"/>
                  </a:solidFill>
                  <a:latin typeface="Roboto" panose="02000000000000000000" pitchFamily="2" charset="0"/>
                  <a:ea typeface="Roboto" panose="02000000000000000000" pitchFamily="2" charset="0"/>
                </a:rPr>
                <a:t>Enclosures</a:t>
              </a:r>
            </a:p>
          </p:txBody>
        </p:sp>
      </p:grpSp>
      <p:grpSp>
        <p:nvGrpSpPr>
          <p:cNvPr id="3" name="Group 2">
            <a:extLst>
              <a:ext uri="{FF2B5EF4-FFF2-40B4-BE49-F238E27FC236}">
                <a16:creationId xmlns:a16="http://schemas.microsoft.com/office/drawing/2014/main" id="{8F0D12B4-C145-4065-05AA-D69BB8EB4766}"/>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96F4FCC7-8FB1-2AAE-67A7-169CB2B57F0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2B0FA49D-A72D-0C4C-954C-98F72F66D22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 name="AutoShape 9">
              <a:extLst>
                <a:ext uri="{FF2B5EF4-FFF2-40B4-BE49-F238E27FC236}">
                  <a16:creationId xmlns:a16="http://schemas.microsoft.com/office/drawing/2014/main" id="{DA5D6D5E-FC0C-EDD5-F3BE-B32C4AC226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9">
              <a:extLst>
                <a:ext uri="{FF2B5EF4-FFF2-40B4-BE49-F238E27FC236}">
                  <a16:creationId xmlns:a16="http://schemas.microsoft.com/office/drawing/2014/main" id="{92A6EB20-A741-7AB0-299A-0C4307984FD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1F5743D7-BA81-0156-A767-864F29633BC8}"/>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11">
              <a:extLst>
                <a:ext uri="{FF2B5EF4-FFF2-40B4-BE49-F238E27FC236}">
                  <a16:creationId xmlns:a16="http://schemas.microsoft.com/office/drawing/2014/main" id="{CE67CC83-B77B-06C9-80B2-AB74A5AA7C66}"/>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6" name="Slide Number Placeholder 2">
            <a:extLst>
              <a:ext uri="{FF2B5EF4-FFF2-40B4-BE49-F238E27FC236}">
                <a16:creationId xmlns:a16="http://schemas.microsoft.com/office/drawing/2014/main" id="{EA4DF4A9-BCB6-9AF7-B38D-03C0A287264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58</a:t>
            </a:fld>
            <a:endParaRPr lang="en-US" dirty="0"/>
          </a:p>
        </p:txBody>
      </p:sp>
    </p:spTree>
    <p:extLst>
      <p:ext uri="{BB962C8B-B14F-4D97-AF65-F5344CB8AC3E}">
        <p14:creationId xmlns:p14="http://schemas.microsoft.com/office/powerpoint/2010/main" val="1267631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1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37982" y="1729424"/>
            <a:ext cx="9954851" cy="4390526"/>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240586" y="3944942"/>
              <a:ext cx="833438" cy="631826"/>
              <a:chOff x="4561" y="2485"/>
              <a:chExt cx="525" cy="398"/>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561" y="2518"/>
                <a:ext cx="525" cy="365"/>
                <a:chOff x="510" y="3089"/>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510" y="3089"/>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510" y="3196"/>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574" y="2485"/>
                <a:ext cx="492" cy="184"/>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22325" cy="619126"/>
              <a:chOff x="474" y="1322"/>
              <a:chExt cx="518" cy="390"/>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474" y="1522"/>
                <a:ext cx="518" cy="19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rPr>
                  <a:t>Ed</a:t>
                </a:r>
                <a:r>
                  <a:rPr lang="ja-JP" altLang="en-US" sz="700" b="0" dirty="0">
                    <a:solidFill>
                      <a:schemeClr val="tx1"/>
                    </a:solidFill>
                    <a:latin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0" y="2139338"/>
              <a:ext cx="804863" cy="438381"/>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94461" y="2828386"/>
            <a:ext cx="1721324" cy="553816"/>
            <a:chOff x="3444" y="1604"/>
            <a:chExt cx="1043" cy="345"/>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89607" y="3069409"/>
            <a:ext cx="94349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92361" y="4184422"/>
            <a:ext cx="1102465" cy="54919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98296" y="4347450"/>
            <a:ext cx="996530" cy="150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41392" y="4141006"/>
            <a:ext cx="1042970"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62739" y="4184422"/>
            <a:ext cx="1010889" cy="54919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68675" y="4347450"/>
            <a:ext cx="996530" cy="150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01862" y="4118456"/>
            <a:ext cx="947348"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20623" y="4203602"/>
            <a:ext cx="1010889" cy="54919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26558" y="4366630"/>
            <a:ext cx="996530" cy="150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43805" y="4151867"/>
            <a:ext cx="947348"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60403" y="2870615"/>
            <a:ext cx="1925" cy="1229287"/>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77896" y="3572271"/>
            <a:ext cx="447191" cy="26666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43177" y="3666209"/>
            <a:ext cx="198578" cy="178227"/>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91644" y="3855533"/>
            <a:ext cx="98507" cy="8843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29595" y="3855533"/>
            <a:ext cx="98507" cy="8843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04286" y="3621819"/>
            <a:ext cx="593055" cy="20005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86076" y="4270475"/>
            <a:ext cx="1138821" cy="305141"/>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64004" y="4270475"/>
            <a:ext cx="1138821" cy="305141"/>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45808" y="4270475"/>
            <a:ext cx="1138821" cy="305141"/>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65849" y="4270475"/>
            <a:ext cx="808012" cy="305141"/>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54773" y="4372817"/>
            <a:ext cx="317144" cy="274476"/>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93750" y="4349512"/>
            <a:ext cx="317144" cy="274476"/>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92374" y="4365842"/>
            <a:ext cx="317144" cy="274476"/>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61249" y="4641075"/>
            <a:ext cx="968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3,200 Sheets</a:t>
            </a:r>
            <a:r>
              <a:rPr lang="en-US" altLang="en-US" sz="1000" b="0" dirty="0">
                <a:solidFill>
                  <a:srgbClr val="FF0000"/>
                </a:solidFill>
                <a:latin typeface="Roboto" panose="02000000000000000000" pitchFamily="2" charset="0"/>
                <a:ea typeface="Roboto" panose="02000000000000000000" pitchFamily="2" charset="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09835" y="4641075"/>
            <a:ext cx="9137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07226" y="4617254"/>
            <a:ext cx="9137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20137" y="4617254"/>
            <a:ext cx="11644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26929" y="4474237"/>
            <a:ext cx="4478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49593" y="4450416"/>
            <a:ext cx="45778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63782" y="4434375"/>
            <a:ext cx="4602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28388" y="4843536"/>
            <a:ext cx="1010889" cy="79836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61255" y="4843536"/>
            <a:ext cx="1010889" cy="79836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92361" y="4843536"/>
            <a:ext cx="1102465" cy="79836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97745" y="5011563"/>
            <a:ext cx="857385"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grpSp>
        <p:nvGrpSpPr>
          <p:cNvPr id="85" name="Group 84">
            <a:extLst>
              <a:ext uri="{FF2B5EF4-FFF2-40B4-BE49-F238E27FC236}">
                <a16:creationId xmlns:a16="http://schemas.microsoft.com/office/drawing/2014/main" id="{CB71479C-9C68-CF25-B884-125740667695}"/>
              </a:ext>
            </a:extLst>
          </p:cNvPr>
          <p:cNvGrpSpPr/>
          <p:nvPr/>
        </p:nvGrpSpPr>
        <p:grpSpPr>
          <a:xfrm>
            <a:off x="940004" y="330919"/>
            <a:ext cx="6217883" cy="311851"/>
            <a:chOff x="940249" y="302538"/>
            <a:chExt cx="6219503" cy="311932"/>
          </a:xfrm>
        </p:grpSpPr>
        <p:sp>
          <p:nvSpPr>
            <p:cNvPr id="86" name="TextBox 85">
              <a:extLst>
                <a:ext uri="{FF2B5EF4-FFF2-40B4-BE49-F238E27FC236}">
                  <a16:creationId xmlns:a16="http://schemas.microsoft.com/office/drawing/2014/main" id="{FE9A9E26-FA45-5BB2-34A9-66F5E935F15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87" name="AutoShape 9">
              <a:extLst>
                <a:ext uri="{FF2B5EF4-FFF2-40B4-BE49-F238E27FC236}">
                  <a16:creationId xmlns:a16="http://schemas.microsoft.com/office/drawing/2014/main" id="{B6E9E134-AF4C-9176-7271-A4DF26CF131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8" name="AutoShape 9">
              <a:extLst>
                <a:ext uri="{FF2B5EF4-FFF2-40B4-BE49-F238E27FC236}">
                  <a16:creationId xmlns:a16="http://schemas.microsoft.com/office/drawing/2014/main" id="{A92D88A1-1F55-C674-1A48-B478CE8B59A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9" name="AutoShape 9">
              <a:extLst>
                <a:ext uri="{FF2B5EF4-FFF2-40B4-BE49-F238E27FC236}">
                  <a16:creationId xmlns:a16="http://schemas.microsoft.com/office/drawing/2014/main" id="{9C67F846-26D0-DA61-96FE-517F3432F04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0" name="AutoShape 9">
              <a:extLst>
                <a:ext uri="{FF2B5EF4-FFF2-40B4-BE49-F238E27FC236}">
                  <a16:creationId xmlns:a16="http://schemas.microsoft.com/office/drawing/2014/main" id="{5C5E57CA-6A26-9F6E-8A95-4DE053D4688C}"/>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1" name="AutoShape 11">
              <a:extLst>
                <a:ext uri="{FF2B5EF4-FFF2-40B4-BE49-F238E27FC236}">
                  <a16:creationId xmlns:a16="http://schemas.microsoft.com/office/drawing/2014/main" id="{4ABD5D48-393A-7ADE-A265-F35CE84F1B8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92" name="Slide Number Placeholder 2">
            <a:extLst>
              <a:ext uri="{FF2B5EF4-FFF2-40B4-BE49-F238E27FC236}">
                <a16:creationId xmlns:a16="http://schemas.microsoft.com/office/drawing/2014/main" id="{0A7541D6-16DB-0D4C-1208-D37843CC54B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59</a:t>
            </a:fld>
            <a:endParaRPr lang="en-US" dirty="0"/>
          </a:p>
        </p:txBody>
      </p:sp>
    </p:spTree>
    <p:extLst>
      <p:ext uri="{BB962C8B-B14F-4D97-AF65-F5344CB8AC3E}">
        <p14:creationId xmlns:p14="http://schemas.microsoft.com/office/powerpoint/2010/main" val="4213091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1"/>
              </a:solidFill>
              <a:ln w="127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60</a:t>
            </a:fld>
            <a:endParaRPr lang="en-US" dirty="0"/>
          </a:p>
        </p:txBody>
      </p:sp>
    </p:spTree>
    <p:extLst>
      <p:ext uri="{BB962C8B-B14F-4D97-AF65-F5344CB8AC3E}">
        <p14:creationId xmlns:p14="http://schemas.microsoft.com/office/powerpoint/2010/main" val="92138670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t>Mapping </a:t>
            </a:r>
            <a:r>
              <a:rPr lang="en-US" altLang="en-US" dirty="0">
                <a:solidFill>
                  <a:srgbClr val="EE3228"/>
                </a:solidFill>
              </a:rPr>
              <a:t>Supplier Data</a:t>
            </a:r>
            <a:endParaRPr lang="en-US" dirty="0">
              <a:solidFill>
                <a:srgbClr val="EE3228"/>
              </a:solidFill>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2344737"/>
            <a:ext cx="4875448" cy="235960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Purchased Raw Material</a:t>
            </a:r>
          </a:p>
          <a:p>
            <a:pPr marL="457109" lvl="3" indent="-228554" algn="l">
              <a:buClr>
                <a:schemeClr val="tx1"/>
              </a:buClr>
              <a:buSzPct val="90000"/>
              <a:buFont typeface="Arial" panose="020B0604020202020204" pitchFamily="34" charset="0"/>
              <a:buChar char="•"/>
            </a:pPr>
            <a:r>
              <a:rPr lang="en-US" sz="1800" dirty="0">
                <a:solidFill>
                  <a:srgbClr val="EE3228"/>
                </a:solidFill>
                <a:latin typeface="Roboto" panose="02000000000000000000" pitchFamily="2" charset="0"/>
                <a:ea typeface="Roboto" panose="02000000000000000000" pitchFamily="2" charset="0"/>
              </a:rPr>
              <a:t>4’ x8’ Sheets </a:t>
            </a:r>
            <a:r>
              <a:rPr lang="en-US" sz="1800" dirty="0">
                <a:solidFill>
                  <a:srgbClr val="191C25"/>
                </a:solidFill>
                <a:latin typeface="Roboto" panose="02000000000000000000" pitchFamily="2" charset="0"/>
                <a:ea typeface="Roboto" panose="02000000000000000000" pitchFamily="2" charset="0"/>
              </a:rPr>
              <a:t>of aluminum are purchased from the </a:t>
            </a:r>
            <a:r>
              <a:rPr lang="en-US" sz="1800" dirty="0">
                <a:solidFill>
                  <a:srgbClr val="EE3228"/>
                </a:solidFill>
                <a:latin typeface="Roboto" panose="02000000000000000000" pitchFamily="2" charset="0"/>
                <a:ea typeface="Roboto" panose="02000000000000000000" pitchFamily="2" charset="0"/>
              </a:rPr>
              <a:t>Acme Sheet Metal Company, sole supplier </a:t>
            </a:r>
            <a:r>
              <a:rPr lang="en-US" sz="1800" dirty="0">
                <a:solidFill>
                  <a:srgbClr val="191C25"/>
                </a:solidFill>
                <a:latin typeface="Roboto" panose="02000000000000000000" pitchFamily="2" charset="0"/>
                <a:ea typeface="Roboto" panose="02000000000000000000" pitchFamily="2" charset="0"/>
              </a:rPr>
              <a:t>for this product family</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Purchase orders are sent to Acme once a month via Fax</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Acme delivers </a:t>
            </a:r>
            <a:r>
              <a:rPr lang="en-US" sz="1800" dirty="0">
                <a:solidFill>
                  <a:srgbClr val="EE3228"/>
                </a:solidFill>
                <a:latin typeface="Roboto" panose="02000000000000000000" pitchFamily="2" charset="0"/>
                <a:ea typeface="Roboto" panose="02000000000000000000" pitchFamily="2" charset="0"/>
              </a:rPr>
              <a:t>weekly by truck </a:t>
            </a:r>
            <a:r>
              <a:rPr lang="en-US" sz="1800" dirty="0">
                <a:solidFill>
                  <a:srgbClr val="191C25"/>
                </a:solidFill>
                <a:latin typeface="Roboto" panose="02000000000000000000" pitchFamily="2" charset="0"/>
                <a:ea typeface="Roboto" panose="02000000000000000000" pitchFamily="2" charset="0"/>
              </a:rPr>
              <a:t>to MME’s requirements</a:t>
            </a:r>
          </a:p>
        </p:txBody>
      </p:sp>
      <p:sp>
        <p:nvSpPr>
          <p:cNvPr id="33" name="Line 11">
            <a:extLst>
              <a:ext uri="{FF2B5EF4-FFF2-40B4-BE49-F238E27FC236}">
                <a16:creationId xmlns:a16="http://schemas.microsoft.com/office/drawing/2014/main" id="{887C77BA-6937-1A74-A31B-86DF40EBF05F}"/>
              </a:ext>
            </a:extLst>
          </p:cNvPr>
          <p:cNvSpPr>
            <a:spLocks noChangeShapeType="1"/>
          </p:cNvSpPr>
          <p:nvPr/>
        </p:nvSpPr>
        <p:spPr bwMode="auto">
          <a:xfrm flipV="1">
            <a:off x="5777563" y="2524421"/>
            <a:ext cx="3005183" cy="425829"/>
          </a:xfrm>
          <a:prstGeom prst="line">
            <a:avLst/>
          </a:prstGeom>
          <a:noFill/>
          <a:ln w="158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grpSp>
        <p:nvGrpSpPr>
          <p:cNvPr id="34" name="Group 5">
            <a:extLst>
              <a:ext uri="{FF2B5EF4-FFF2-40B4-BE49-F238E27FC236}">
                <a16:creationId xmlns:a16="http://schemas.microsoft.com/office/drawing/2014/main" id="{0DFBBD0C-9B63-0B65-41CA-70F93FA1A89E}"/>
              </a:ext>
            </a:extLst>
          </p:cNvPr>
          <p:cNvGrpSpPr>
            <a:grpSpLocks/>
          </p:cNvGrpSpPr>
          <p:nvPr/>
        </p:nvGrpSpPr>
        <p:grpSpPr bwMode="auto">
          <a:xfrm>
            <a:off x="8774817" y="1690689"/>
            <a:ext cx="1540806" cy="3294145"/>
            <a:chOff x="390" y="1247"/>
            <a:chExt cx="583" cy="1230"/>
          </a:xfrm>
        </p:grpSpPr>
        <p:sp>
          <p:nvSpPr>
            <p:cNvPr id="39" name="Line 6">
              <a:extLst>
                <a:ext uri="{FF2B5EF4-FFF2-40B4-BE49-F238E27FC236}">
                  <a16:creationId xmlns:a16="http://schemas.microsoft.com/office/drawing/2014/main" id="{F5F5BC6A-2ED9-A0F2-D1C3-B407D7A31F58}"/>
                </a:ext>
              </a:extLst>
            </p:cNvPr>
            <p:cNvSpPr>
              <a:spLocks noChangeShapeType="1"/>
            </p:cNvSpPr>
            <p:nvPr/>
          </p:nvSpPr>
          <p:spPr bwMode="auto">
            <a:xfrm>
              <a:off x="678" y="1602"/>
              <a:ext cx="5" cy="875"/>
            </a:xfrm>
            <a:prstGeom prst="line">
              <a:avLst/>
            </a:prstGeom>
            <a:noFill/>
            <a:ln w="104775" cmpd="dbl">
              <a:solidFill>
                <a:srgbClr val="191C25"/>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40" name="Group 7">
              <a:extLst>
                <a:ext uri="{FF2B5EF4-FFF2-40B4-BE49-F238E27FC236}">
                  <a16:creationId xmlns:a16="http://schemas.microsoft.com/office/drawing/2014/main" id="{CB07F3CA-ECF2-F910-A7D5-A05E04E9809D}"/>
                </a:ext>
              </a:extLst>
            </p:cNvPr>
            <p:cNvGrpSpPr>
              <a:grpSpLocks/>
            </p:cNvGrpSpPr>
            <p:nvPr/>
          </p:nvGrpSpPr>
          <p:grpSpPr bwMode="auto">
            <a:xfrm>
              <a:off x="390" y="1247"/>
              <a:ext cx="583" cy="354"/>
              <a:chOff x="435" y="1322"/>
              <a:chExt cx="583" cy="354"/>
            </a:xfrm>
          </p:grpSpPr>
          <p:grpSp>
            <p:nvGrpSpPr>
              <p:cNvPr id="48" name="Group 8">
                <a:extLst>
                  <a:ext uri="{FF2B5EF4-FFF2-40B4-BE49-F238E27FC236}">
                    <a16:creationId xmlns:a16="http://schemas.microsoft.com/office/drawing/2014/main" id="{7509C5F7-D0CA-D1C1-8DE8-7E3054617D59}"/>
                  </a:ext>
                </a:extLst>
              </p:cNvPr>
              <p:cNvGrpSpPr>
                <a:grpSpLocks/>
              </p:cNvGrpSpPr>
              <p:nvPr/>
            </p:nvGrpSpPr>
            <p:grpSpPr bwMode="auto">
              <a:xfrm>
                <a:off x="474" y="1322"/>
                <a:ext cx="508" cy="348"/>
                <a:chOff x="536" y="1322"/>
                <a:chExt cx="446" cy="348"/>
              </a:xfrm>
            </p:grpSpPr>
            <p:sp>
              <p:nvSpPr>
                <p:cNvPr id="50" name="Rectangle 9">
                  <a:extLst>
                    <a:ext uri="{FF2B5EF4-FFF2-40B4-BE49-F238E27FC236}">
                      <a16:creationId xmlns:a16="http://schemas.microsoft.com/office/drawing/2014/main" id="{2782541C-0F5E-CF27-21CF-94CBAF659A7F}"/>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1" name="Rectangle 10">
                  <a:extLst>
                    <a:ext uri="{FF2B5EF4-FFF2-40B4-BE49-F238E27FC236}">
                      <a16:creationId xmlns:a16="http://schemas.microsoft.com/office/drawing/2014/main" id="{5320E5DC-E771-AAA5-7831-8AAEDD35E14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52" name="AutoShape 11">
                  <a:extLst>
                    <a:ext uri="{FF2B5EF4-FFF2-40B4-BE49-F238E27FC236}">
                      <a16:creationId xmlns:a16="http://schemas.microsoft.com/office/drawing/2014/main" id="{BDD46B4E-48F1-E0A9-8FD8-278DBE44AA52}"/>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3" name="AutoShape 12">
                  <a:extLst>
                    <a:ext uri="{FF2B5EF4-FFF2-40B4-BE49-F238E27FC236}">
                      <a16:creationId xmlns:a16="http://schemas.microsoft.com/office/drawing/2014/main" id="{6BFB0917-4328-BB2C-4164-4AE614DD5F57}"/>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4" name="AutoShape 13">
                  <a:extLst>
                    <a:ext uri="{FF2B5EF4-FFF2-40B4-BE49-F238E27FC236}">
                      <a16:creationId xmlns:a16="http://schemas.microsoft.com/office/drawing/2014/main" id="{8E49BFCA-159F-9AB7-6555-026CA2C01F7D}"/>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5" name="Rectangle 14">
                  <a:extLst>
                    <a:ext uri="{FF2B5EF4-FFF2-40B4-BE49-F238E27FC236}">
                      <a16:creationId xmlns:a16="http://schemas.microsoft.com/office/drawing/2014/main" id="{310B37CA-729F-4BB4-3B4E-8EB3ABAC8E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6" name="Rectangle 15">
                  <a:extLst>
                    <a:ext uri="{FF2B5EF4-FFF2-40B4-BE49-F238E27FC236}">
                      <a16:creationId xmlns:a16="http://schemas.microsoft.com/office/drawing/2014/main" id="{0C8BBC9E-F3DD-8DFE-6D65-7CFFCC480A73}"/>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7" name="Rectangle 16">
                  <a:extLst>
                    <a:ext uri="{FF2B5EF4-FFF2-40B4-BE49-F238E27FC236}">
                      <a16:creationId xmlns:a16="http://schemas.microsoft.com/office/drawing/2014/main" id="{016A177B-BB63-EFD6-7FC5-BD43D3DF51D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49" name="Text Box 17">
                <a:extLst>
                  <a:ext uri="{FF2B5EF4-FFF2-40B4-BE49-F238E27FC236}">
                    <a16:creationId xmlns:a16="http://schemas.microsoft.com/office/drawing/2014/main" id="{2C5F61DF-30FF-A0DF-A6F9-7C9421E062D0}"/>
                  </a:ext>
                </a:extLst>
              </p:cNvPr>
              <p:cNvSpPr txBox="1">
                <a:spLocks noChangeArrowheads="1"/>
              </p:cNvSpPr>
              <p:nvPr/>
            </p:nvSpPr>
            <p:spPr bwMode="auto">
              <a:xfrm>
                <a:off x="435" y="1517"/>
                <a:ext cx="583" cy="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1200" b="0" dirty="0">
                    <a:solidFill>
                      <a:schemeClr val="tx1"/>
                    </a:solidFill>
                    <a:latin typeface="Roboto" panose="02000000000000000000" pitchFamily="2" charset="0"/>
                    <a:ea typeface="Roboto" panose="02000000000000000000" pitchFamily="2" charset="0"/>
                  </a:rPr>
                  <a:t>Acme</a:t>
                </a:r>
              </a:p>
              <a:p>
                <a:pPr algn="ctr">
                  <a:lnSpc>
                    <a:spcPct val="90000"/>
                  </a:lnSpc>
                  <a:spcBef>
                    <a:spcPct val="0"/>
                  </a:spcBef>
                </a:pPr>
                <a:r>
                  <a:rPr lang="en-US" altLang="en-US" sz="1200" b="0" dirty="0">
                    <a:solidFill>
                      <a:schemeClr val="tx1"/>
                    </a:solidFill>
                    <a:latin typeface="Roboto" panose="02000000000000000000" pitchFamily="2" charset="0"/>
                    <a:ea typeface="Roboto" panose="02000000000000000000" pitchFamily="2" charset="0"/>
                  </a:rPr>
                  <a:t>Sheet Metal Co.</a:t>
                </a:r>
              </a:p>
            </p:txBody>
          </p:sp>
        </p:grpSp>
        <p:grpSp>
          <p:nvGrpSpPr>
            <p:cNvPr id="41" name="Group 18">
              <a:extLst>
                <a:ext uri="{FF2B5EF4-FFF2-40B4-BE49-F238E27FC236}">
                  <a16:creationId xmlns:a16="http://schemas.microsoft.com/office/drawing/2014/main" id="{CAF15004-731B-B4AE-2ECD-8411D2DBDFBD}"/>
                </a:ext>
              </a:extLst>
            </p:cNvPr>
            <p:cNvGrpSpPr>
              <a:grpSpLocks/>
            </p:cNvGrpSpPr>
            <p:nvPr/>
          </p:nvGrpSpPr>
          <p:grpSpPr bwMode="auto">
            <a:xfrm>
              <a:off x="493" y="1929"/>
              <a:ext cx="374" cy="238"/>
              <a:chOff x="513" y="2124"/>
              <a:chExt cx="374" cy="238"/>
            </a:xfrm>
          </p:grpSpPr>
          <p:grpSp>
            <p:nvGrpSpPr>
              <p:cNvPr id="42" name="Group 19">
                <a:extLst>
                  <a:ext uri="{FF2B5EF4-FFF2-40B4-BE49-F238E27FC236}">
                    <a16:creationId xmlns:a16="http://schemas.microsoft.com/office/drawing/2014/main" id="{9181D4E1-8F0F-D93B-1DB9-B19C60AFF27E}"/>
                  </a:ext>
                </a:extLst>
              </p:cNvPr>
              <p:cNvGrpSpPr>
                <a:grpSpLocks/>
              </p:cNvGrpSpPr>
              <p:nvPr/>
            </p:nvGrpSpPr>
            <p:grpSpPr bwMode="auto">
              <a:xfrm>
                <a:off x="550" y="2124"/>
                <a:ext cx="337" cy="238"/>
                <a:chOff x="536" y="3744"/>
                <a:chExt cx="415" cy="263"/>
              </a:xfrm>
            </p:grpSpPr>
            <p:sp>
              <p:nvSpPr>
                <p:cNvPr id="44" name="Rectangle 20">
                  <a:extLst>
                    <a:ext uri="{FF2B5EF4-FFF2-40B4-BE49-F238E27FC236}">
                      <a16:creationId xmlns:a16="http://schemas.microsoft.com/office/drawing/2014/main" id="{E4465F6F-6647-7089-2F3E-FC660F9DD88B}"/>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5" name="Rectangle 21">
                  <a:extLst>
                    <a:ext uri="{FF2B5EF4-FFF2-40B4-BE49-F238E27FC236}">
                      <a16:creationId xmlns:a16="http://schemas.microsoft.com/office/drawing/2014/main" id="{91F95A53-3F89-BFBA-A821-1FF8E046176C}"/>
                    </a:ext>
                  </a:extLst>
                </p:cNvPr>
                <p:cNvSpPr>
                  <a:spLocks noChangeArrowheads="1"/>
                </p:cNvSpPr>
                <p:nvPr/>
              </p:nvSpPr>
              <p:spPr bwMode="auto">
                <a:xfrm>
                  <a:off x="824" y="3805"/>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6" name="Oval 22">
                  <a:extLst>
                    <a:ext uri="{FF2B5EF4-FFF2-40B4-BE49-F238E27FC236}">
                      <a16:creationId xmlns:a16="http://schemas.microsoft.com/office/drawing/2014/main" id="{B8278E6F-03C1-EBF3-EFB4-BF9D0BF3EA66}"/>
                    </a:ext>
                  </a:extLst>
                </p:cNvPr>
                <p:cNvSpPr>
                  <a:spLocks noChangeArrowheads="1"/>
                </p:cNvSpPr>
                <p:nvPr/>
              </p:nvSpPr>
              <p:spPr bwMode="auto">
                <a:xfrm>
                  <a:off x="854" y="3942"/>
                  <a:ext cx="63" cy="65"/>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7" name="Oval 23">
                  <a:extLst>
                    <a:ext uri="{FF2B5EF4-FFF2-40B4-BE49-F238E27FC236}">
                      <a16:creationId xmlns:a16="http://schemas.microsoft.com/office/drawing/2014/main" id="{0B008AC1-B6BA-47AD-4B00-B75E89D1458C}"/>
                    </a:ext>
                  </a:extLst>
                </p:cNvPr>
                <p:cNvSpPr>
                  <a:spLocks noChangeArrowheads="1"/>
                </p:cNvSpPr>
                <p:nvPr/>
              </p:nvSpPr>
              <p:spPr bwMode="auto">
                <a:xfrm>
                  <a:off x="568" y="3939"/>
                  <a:ext cx="63" cy="65"/>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43" name="Text Box 24">
                <a:extLst>
                  <a:ext uri="{FF2B5EF4-FFF2-40B4-BE49-F238E27FC236}">
                    <a16:creationId xmlns:a16="http://schemas.microsoft.com/office/drawing/2014/main" id="{65CEE8D8-6167-57A0-AB80-9E7E571158CE}"/>
                  </a:ext>
                </a:extLst>
              </p:cNvPr>
              <p:cNvSpPr txBox="1">
                <a:spLocks noChangeArrowheads="1"/>
              </p:cNvSpPr>
              <p:nvPr/>
            </p:nvSpPr>
            <p:spPr bwMode="auto">
              <a:xfrm>
                <a:off x="513" y="2132"/>
                <a:ext cx="308"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Week</a:t>
                </a:r>
              </a:p>
            </p:txBody>
          </p:sp>
        </p:grpSp>
      </p:grpSp>
      <p:sp>
        <p:nvSpPr>
          <p:cNvPr id="58" name="Line 11">
            <a:extLst>
              <a:ext uri="{FF2B5EF4-FFF2-40B4-BE49-F238E27FC236}">
                <a16:creationId xmlns:a16="http://schemas.microsoft.com/office/drawing/2014/main" id="{9D4D38D6-53FD-B765-B5BF-7926FBDB36F7}"/>
              </a:ext>
            </a:extLst>
          </p:cNvPr>
          <p:cNvSpPr>
            <a:spLocks noChangeShapeType="1"/>
          </p:cNvSpPr>
          <p:nvPr/>
        </p:nvSpPr>
        <p:spPr bwMode="auto">
          <a:xfrm flipV="1">
            <a:off x="5408174" y="3806501"/>
            <a:ext cx="3643017" cy="425828"/>
          </a:xfrm>
          <a:prstGeom prst="line">
            <a:avLst/>
          </a:prstGeom>
          <a:noFill/>
          <a:ln w="158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grpSp>
        <p:nvGrpSpPr>
          <p:cNvPr id="3" name="Group 2">
            <a:extLst>
              <a:ext uri="{FF2B5EF4-FFF2-40B4-BE49-F238E27FC236}">
                <a16:creationId xmlns:a16="http://schemas.microsoft.com/office/drawing/2014/main" id="{6BBE3A1D-B199-D811-18E4-8FE67421215C}"/>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92BA80AD-E79D-D14C-EE51-80715A3E4D8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8E2108B1-58DA-5437-9166-1B59ECCF411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 name="AutoShape 9">
              <a:extLst>
                <a:ext uri="{FF2B5EF4-FFF2-40B4-BE49-F238E27FC236}">
                  <a16:creationId xmlns:a16="http://schemas.microsoft.com/office/drawing/2014/main" id="{90658144-0FF0-58FA-89E5-A7CC5BC2A06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9">
              <a:extLst>
                <a:ext uri="{FF2B5EF4-FFF2-40B4-BE49-F238E27FC236}">
                  <a16:creationId xmlns:a16="http://schemas.microsoft.com/office/drawing/2014/main" id="{0A01F62D-3579-3478-08B9-A529AE6712F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196457A1-38C7-1316-A551-D9CA8BD2F668}"/>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FE370BC9-72BA-E6B0-A04C-CF5DD2D7534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623D3780-A9AD-D17E-8528-38E5E683B93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61</a:t>
            </a:fld>
            <a:endParaRPr lang="en-US" dirty="0"/>
          </a:p>
        </p:txBody>
      </p:sp>
    </p:spTree>
    <p:extLst>
      <p:ext uri="{BB962C8B-B14F-4D97-AF65-F5344CB8AC3E}">
        <p14:creationId xmlns:p14="http://schemas.microsoft.com/office/powerpoint/2010/main" val="199520191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a:t>
            </a:r>
            <a:br>
              <a:rPr lang="en-US" dirty="0"/>
            </a:br>
            <a:r>
              <a:rPr lang="en-US" dirty="0"/>
              <a:t>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72018" y="1807779"/>
            <a:ext cx="10258437" cy="4436616"/>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779842"/>
              <a:ext cx="833438" cy="625476"/>
              <a:chOff x="4424" y="2381"/>
              <a:chExt cx="525" cy="394"/>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34" y="2381"/>
                <a:ext cx="492" cy="182"/>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06450" cy="615951"/>
              <a:chOff x="474" y="1322"/>
              <a:chExt cx="508" cy="388"/>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75" cy="188"/>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rPr>
                  <a:t>Ed</a:t>
                </a:r>
                <a:r>
                  <a:rPr lang="ja-JP" altLang="en-US" sz="700" b="0" dirty="0">
                    <a:solidFill>
                      <a:schemeClr val="tx1"/>
                    </a:solidFill>
                    <a:latin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86453" cy="433827"/>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707833"/>
            <a:ext cx="1773818" cy="553141"/>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931770"/>
            <a:ext cx="80936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8" y="4063962"/>
            <a:ext cx="1041718" cy="55495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4198643"/>
            <a:ext cx="1026921"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56588" y="3998882"/>
            <a:ext cx="976239"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6" y="4063962"/>
            <a:ext cx="1041718" cy="55495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4198643"/>
            <a:ext cx="1026921"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24380" y="3998258"/>
            <a:ext cx="976239"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60" y="4083142"/>
            <a:ext cx="1041718" cy="55495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217823"/>
            <a:ext cx="1026921"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2084" y="4008936"/>
            <a:ext cx="976239"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02765" y="2899452"/>
            <a:ext cx="1984" cy="1242192"/>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3437188"/>
            <a:ext cx="460828" cy="269460"/>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526549"/>
            <a:ext cx="204634" cy="180098"/>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711224"/>
            <a:ext cx="101511" cy="89362"/>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711224"/>
            <a:ext cx="101511" cy="89362"/>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3482681"/>
            <a:ext cx="611141" cy="20005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4137382"/>
            <a:ext cx="1173551" cy="308345"/>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4137382"/>
            <a:ext cx="1173551" cy="308345"/>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4137382"/>
            <a:ext cx="1173551" cy="308345"/>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5" y="4137382"/>
            <a:ext cx="832654" cy="308345"/>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4238137"/>
            <a:ext cx="326816" cy="277357"/>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4214832"/>
            <a:ext cx="326816" cy="277357"/>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4231162"/>
            <a:ext cx="326816" cy="277357"/>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504187"/>
            <a:ext cx="88283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504187"/>
            <a:ext cx="10497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4480366"/>
            <a:ext cx="94202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4480366"/>
            <a:ext cx="12841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4337349"/>
            <a:ext cx="42401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4313528"/>
            <a:ext cx="5169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7" y="4297487"/>
            <a:ext cx="4271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5" y="4735972"/>
            <a:ext cx="1041718" cy="80675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2" y="4735972"/>
            <a:ext cx="1041718" cy="80675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8" y="4735972"/>
            <a:ext cx="1041718" cy="80675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882172"/>
            <a:ext cx="883532" cy="553998"/>
          </a:xfrm>
          <a:prstGeom prst="rect">
            <a:avLst/>
          </a:prstGeom>
          <a:solidFill>
            <a:schemeClr val="accent2"/>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2204091"/>
            <a:ext cx="1111416" cy="186153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8"/>
              <a:chOff x="435" y="1322"/>
              <a:chExt cx="583" cy="398"/>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Week</a:t>
                </a:r>
              </a:p>
            </p:txBody>
          </p:sp>
        </p:grpSp>
      </p:grpSp>
      <p:grpSp>
        <p:nvGrpSpPr>
          <p:cNvPr id="104" name="Group 103">
            <a:extLst>
              <a:ext uri="{FF2B5EF4-FFF2-40B4-BE49-F238E27FC236}">
                <a16:creationId xmlns:a16="http://schemas.microsoft.com/office/drawing/2014/main" id="{D9D2FC80-6368-C3D8-06B1-1F5371973DAF}"/>
              </a:ext>
            </a:extLst>
          </p:cNvPr>
          <p:cNvGrpSpPr/>
          <p:nvPr/>
        </p:nvGrpSpPr>
        <p:grpSpPr>
          <a:xfrm>
            <a:off x="940004" y="330919"/>
            <a:ext cx="6217883" cy="311851"/>
            <a:chOff x="940249" y="302538"/>
            <a:chExt cx="6219503" cy="311932"/>
          </a:xfrm>
        </p:grpSpPr>
        <p:sp>
          <p:nvSpPr>
            <p:cNvPr id="105" name="TextBox 104">
              <a:extLst>
                <a:ext uri="{FF2B5EF4-FFF2-40B4-BE49-F238E27FC236}">
                  <a16:creationId xmlns:a16="http://schemas.microsoft.com/office/drawing/2014/main" id="{E426CDA5-BB41-5D76-B094-E2FEC2C457A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06" name="AutoShape 9">
              <a:extLst>
                <a:ext uri="{FF2B5EF4-FFF2-40B4-BE49-F238E27FC236}">
                  <a16:creationId xmlns:a16="http://schemas.microsoft.com/office/drawing/2014/main" id="{1B3E48B3-D3BD-AD70-CDC3-E5B5DD3FFE4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7" name="AutoShape 9">
              <a:extLst>
                <a:ext uri="{FF2B5EF4-FFF2-40B4-BE49-F238E27FC236}">
                  <a16:creationId xmlns:a16="http://schemas.microsoft.com/office/drawing/2014/main" id="{FCFC3727-6C0C-9E03-CFCB-1F4D41AE2337}"/>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8" name="AutoShape 9">
              <a:extLst>
                <a:ext uri="{FF2B5EF4-FFF2-40B4-BE49-F238E27FC236}">
                  <a16:creationId xmlns:a16="http://schemas.microsoft.com/office/drawing/2014/main" id="{B391255E-270F-CE50-E92B-28A420C574E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9" name="AutoShape 9">
              <a:extLst>
                <a:ext uri="{FF2B5EF4-FFF2-40B4-BE49-F238E27FC236}">
                  <a16:creationId xmlns:a16="http://schemas.microsoft.com/office/drawing/2014/main" id="{C64F0F1A-12AB-16C9-8D37-27DAEA2C69D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0" name="AutoShape 11">
              <a:extLst>
                <a:ext uri="{FF2B5EF4-FFF2-40B4-BE49-F238E27FC236}">
                  <a16:creationId xmlns:a16="http://schemas.microsoft.com/office/drawing/2014/main" id="{0B9CD699-AEA7-4208-59A0-3CCFFDD6FCB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1" name="Slide Number Placeholder 2">
            <a:extLst>
              <a:ext uri="{FF2B5EF4-FFF2-40B4-BE49-F238E27FC236}">
                <a16:creationId xmlns:a16="http://schemas.microsoft.com/office/drawing/2014/main" id="{A55BC833-3FC1-7234-E74A-F23697364C2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62</a:t>
            </a:fld>
            <a:endParaRPr lang="en-US" dirty="0"/>
          </a:p>
        </p:txBody>
      </p:sp>
    </p:spTree>
    <p:extLst>
      <p:ext uri="{BB962C8B-B14F-4D97-AF65-F5344CB8AC3E}">
        <p14:creationId xmlns:p14="http://schemas.microsoft.com/office/powerpoint/2010/main" val="3010530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63</a:t>
            </a:fld>
            <a:endParaRPr lang="en-US" dirty="0"/>
          </a:p>
        </p:txBody>
      </p:sp>
    </p:spTree>
    <p:extLst>
      <p:ext uri="{BB962C8B-B14F-4D97-AF65-F5344CB8AC3E}">
        <p14:creationId xmlns:p14="http://schemas.microsoft.com/office/powerpoint/2010/main" val="414041694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fontScale="90000"/>
          </a:bodyPr>
          <a:lstStyle/>
          <a:p>
            <a:r>
              <a:rPr lang="en-US" altLang="en-US" dirty="0"/>
              <a:t>Calculating Processing Time for Each Process</a:t>
            </a:r>
            <a:endParaRPr lang="en-US"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2190929"/>
            <a:ext cx="4875448" cy="245193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400" b="1" dirty="0">
                <a:solidFill>
                  <a:srgbClr val="191C25"/>
                </a:solidFill>
                <a:latin typeface="Roboto" panose="02000000000000000000" pitchFamily="2" charset="0"/>
                <a:ea typeface="Roboto" panose="02000000000000000000" pitchFamily="2" charset="0"/>
              </a:rPr>
              <a:t>When Processing Time and DOI are equal:</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When there are no parallel operations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(e.g. multiple operators) and there is only 1 “VALUE OBJECT” in the process at any one time</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Stamp: </a:t>
            </a:r>
            <a:r>
              <a:rPr lang="en-US" sz="1800" dirty="0">
                <a:solidFill>
                  <a:srgbClr val="EE3228"/>
                </a:solidFill>
                <a:latin typeface="Roboto" panose="02000000000000000000" pitchFamily="2" charset="0"/>
                <a:ea typeface="Roboto" panose="02000000000000000000" pitchFamily="2" charset="0"/>
              </a:rPr>
              <a:t>15 seconds</a:t>
            </a:r>
          </a:p>
          <a:p>
            <a:pPr marL="457109" lvl="3" indent="-228554" algn="l">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Brake Form: </a:t>
            </a:r>
            <a:r>
              <a:rPr lang="en-US" sz="1800" dirty="0">
                <a:solidFill>
                  <a:srgbClr val="EE3228"/>
                </a:solidFill>
                <a:latin typeface="Roboto" panose="02000000000000000000" pitchFamily="2" charset="0"/>
                <a:ea typeface="Roboto" panose="02000000000000000000" pitchFamily="2" charset="0"/>
              </a:rPr>
              <a:t>20 seconds </a:t>
            </a:r>
          </a:p>
        </p:txBody>
      </p:sp>
      <p:sp>
        <p:nvSpPr>
          <p:cNvPr id="11" name="Rectangle 5">
            <a:extLst>
              <a:ext uri="{FF2B5EF4-FFF2-40B4-BE49-F238E27FC236}">
                <a16:creationId xmlns:a16="http://schemas.microsoft.com/office/drawing/2014/main" id="{B51A1275-6D09-35C5-86CE-138C781AD5C5}"/>
              </a:ext>
            </a:extLst>
          </p:cNvPr>
          <p:cNvSpPr>
            <a:spLocks noChangeArrowheads="1"/>
          </p:cNvSpPr>
          <p:nvPr/>
        </p:nvSpPr>
        <p:spPr bwMode="auto">
          <a:xfrm>
            <a:off x="6926684" y="3910425"/>
            <a:ext cx="2252590" cy="196413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chemeClr val="tx1"/>
                </a:solidFill>
                <a:latin typeface="Roboto" panose="02000000000000000000" pitchFamily="2" charset="0"/>
                <a:ea typeface="Roboto" panose="02000000000000000000" pitchFamily="2" charset="0"/>
              </a:rPr>
              <a:t>DOI = 15 Sec</a:t>
            </a:r>
          </a:p>
          <a:p>
            <a:pPr algn="l"/>
            <a:r>
              <a:rPr lang="en-US" altLang="en-US" sz="1800" b="0" dirty="0">
                <a:solidFill>
                  <a:schemeClr val="tx1"/>
                </a:solidFill>
                <a:latin typeface="Roboto" panose="02000000000000000000" pitchFamily="2" charset="0"/>
                <a:ea typeface="Roboto" panose="02000000000000000000" pitchFamily="2" charset="0"/>
              </a:rPr>
              <a:t>CO/ Time = 30 min</a:t>
            </a:r>
          </a:p>
          <a:p>
            <a:pPr algn="l"/>
            <a:r>
              <a:rPr lang="en-US" altLang="en-US" sz="1800" b="0" dirty="0">
                <a:solidFill>
                  <a:schemeClr val="tx1"/>
                </a:solidFill>
                <a:latin typeface="Roboto" panose="02000000000000000000" pitchFamily="2" charset="0"/>
                <a:ea typeface="Roboto" panose="02000000000000000000" pitchFamily="2" charset="0"/>
              </a:rPr>
              <a:t>Uptime = 99%</a:t>
            </a:r>
          </a:p>
          <a:p>
            <a:pPr algn="l"/>
            <a:r>
              <a:rPr lang="en-US" altLang="en-US" sz="1800" b="0" dirty="0">
                <a:solidFill>
                  <a:schemeClr val="tx1"/>
                </a:solidFill>
                <a:latin typeface="Roboto" panose="02000000000000000000" pitchFamily="2" charset="0"/>
                <a:ea typeface="Roboto" panose="02000000000000000000" pitchFamily="2" charset="0"/>
              </a:rPr>
              <a:t>Quality = 98%</a:t>
            </a:r>
          </a:p>
        </p:txBody>
      </p:sp>
      <p:grpSp>
        <p:nvGrpSpPr>
          <p:cNvPr id="32" name="Group 31">
            <a:extLst>
              <a:ext uri="{FF2B5EF4-FFF2-40B4-BE49-F238E27FC236}">
                <a16:creationId xmlns:a16="http://schemas.microsoft.com/office/drawing/2014/main" id="{5E7D96CB-FAE1-70A6-2223-7421A764DEAA}"/>
              </a:ext>
            </a:extLst>
          </p:cNvPr>
          <p:cNvGrpSpPr/>
          <p:nvPr/>
        </p:nvGrpSpPr>
        <p:grpSpPr>
          <a:xfrm>
            <a:off x="6926683" y="1781000"/>
            <a:ext cx="2330182" cy="1891028"/>
            <a:chOff x="17300944" y="2805327"/>
            <a:chExt cx="4661577" cy="3783042"/>
          </a:xfrm>
        </p:grpSpPr>
        <p:grpSp>
          <p:nvGrpSpPr>
            <p:cNvPr id="23" name="Group 22">
              <a:extLst>
                <a:ext uri="{FF2B5EF4-FFF2-40B4-BE49-F238E27FC236}">
                  <a16:creationId xmlns:a16="http://schemas.microsoft.com/office/drawing/2014/main" id="{E7372103-046D-E2E3-1AF8-D22C71BD12F1}"/>
                </a:ext>
              </a:extLst>
            </p:cNvPr>
            <p:cNvGrpSpPr/>
            <p:nvPr/>
          </p:nvGrpSpPr>
          <p:grpSpPr>
            <a:xfrm>
              <a:off x="17300944" y="2805327"/>
              <a:ext cx="4661577" cy="3783042"/>
              <a:chOff x="13286202" y="3872367"/>
              <a:chExt cx="1751013" cy="1452562"/>
            </a:xfrm>
          </p:grpSpPr>
          <p:grpSp>
            <p:nvGrpSpPr>
              <p:cNvPr id="3" name="Group 4">
                <a:extLst>
                  <a:ext uri="{FF2B5EF4-FFF2-40B4-BE49-F238E27FC236}">
                    <a16:creationId xmlns:a16="http://schemas.microsoft.com/office/drawing/2014/main" id="{C4732C77-8F9D-C43E-A828-E26200DC7906}"/>
                  </a:ext>
                </a:extLst>
              </p:cNvPr>
              <p:cNvGrpSpPr>
                <a:grpSpLocks/>
              </p:cNvGrpSpPr>
              <p:nvPr/>
            </p:nvGrpSpPr>
            <p:grpSpPr bwMode="auto">
              <a:xfrm>
                <a:off x="13286202" y="3872367"/>
                <a:ext cx="1751013" cy="1452562"/>
                <a:chOff x="418" y="2981"/>
                <a:chExt cx="352" cy="365"/>
              </a:xfrm>
            </p:grpSpPr>
            <p:sp>
              <p:nvSpPr>
                <p:cNvPr id="13" name="Rectangle 5">
                  <a:extLst>
                    <a:ext uri="{FF2B5EF4-FFF2-40B4-BE49-F238E27FC236}">
                      <a16:creationId xmlns:a16="http://schemas.microsoft.com/office/drawing/2014/main" id="{856F3B1D-5983-4B7E-8F86-3D0C9D2C5C4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81A5EDAB-9319-C563-C69D-E4A8D961872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22" name="Text Box 12">
                <a:extLst>
                  <a:ext uri="{FF2B5EF4-FFF2-40B4-BE49-F238E27FC236}">
                    <a16:creationId xmlns:a16="http://schemas.microsoft.com/office/drawing/2014/main" id="{0E76F264-3437-58F5-76BB-793854D6A546}"/>
                  </a:ext>
                </a:extLst>
              </p:cNvPr>
              <p:cNvSpPr txBox="1">
                <a:spLocks noChangeArrowheads="1"/>
              </p:cNvSpPr>
              <p:nvPr/>
            </p:nvSpPr>
            <p:spPr bwMode="auto">
              <a:xfrm>
                <a:off x="13327477" y="3919992"/>
                <a:ext cx="1677988" cy="42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Stamp</a:t>
                </a:r>
              </a:p>
            </p:txBody>
          </p:sp>
        </p:grpSp>
        <p:grpSp>
          <p:nvGrpSpPr>
            <p:cNvPr id="17" name="Group 16">
              <a:extLst>
                <a:ext uri="{FF2B5EF4-FFF2-40B4-BE49-F238E27FC236}">
                  <a16:creationId xmlns:a16="http://schemas.microsoft.com/office/drawing/2014/main" id="{E356135A-0F77-7FA0-C853-69B2BDB97824}"/>
                </a:ext>
              </a:extLst>
            </p:cNvPr>
            <p:cNvGrpSpPr/>
            <p:nvPr/>
          </p:nvGrpSpPr>
          <p:grpSpPr>
            <a:xfrm>
              <a:off x="18023350" y="4349789"/>
              <a:ext cx="1359928" cy="1398861"/>
              <a:chOff x="18363333" y="5039084"/>
              <a:chExt cx="327025" cy="358775"/>
            </a:xfrm>
          </p:grpSpPr>
          <p:sp>
            <p:nvSpPr>
              <p:cNvPr id="14" name="Oval 32">
                <a:extLst>
                  <a:ext uri="{FF2B5EF4-FFF2-40B4-BE49-F238E27FC236}">
                    <a16:creationId xmlns:a16="http://schemas.microsoft.com/office/drawing/2014/main" id="{DD884921-6124-912B-2E56-D510F540D13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5" name="AutoShape 33">
                <a:extLst>
                  <a:ext uri="{FF2B5EF4-FFF2-40B4-BE49-F238E27FC236}">
                    <a16:creationId xmlns:a16="http://schemas.microsoft.com/office/drawing/2014/main" id="{A34BFCE8-A8B3-E09D-0140-8FFD267147A2}"/>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21" name="Text Box 34">
              <a:extLst>
                <a:ext uri="{FF2B5EF4-FFF2-40B4-BE49-F238E27FC236}">
                  <a16:creationId xmlns:a16="http://schemas.microsoft.com/office/drawing/2014/main" id="{86F4E115-4508-3053-3794-58484579D186}"/>
                </a:ext>
              </a:extLst>
            </p:cNvPr>
            <p:cNvSpPr txBox="1">
              <a:spLocks noChangeArrowheads="1"/>
            </p:cNvSpPr>
            <p:nvPr/>
          </p:nvSpPr>
          <p:spPr bwMode="auto">
            <a:xfrm>
              <a:off x="20046338" y="4767955"/>
              <a:ext cx="1206414" cy="923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Roboto" panose="02000000000000000000" pitchFamily="2" charset="0"/>
                  <a:ea typeface="Roboto" panose="02000000000000000000" pitchFamily="2" charset="0"/>
                </a:rPr>
                <a:t>= 1</a:t>
              </a:r>
            </a:p>
          </p:txBody>
        </p:sp>
      </p:grpSp>
      <p:sp>
        <p:nvSpPr>
          <p:cNvPr id="33" name="Rectangle 5">
            <a:extLst>
              <a:ext uri="{FF2B5EF4-FFF2-40B4-BE49-F238E27FC236}">
                <a16:creationId xmlns:a16="http://schemas.microsoft.com/office/drawing/2014/main" id="{E90A3771-9F99-0028-F574-8A2BED51671C}"/>
              </a:ext>
            </a:extLst>
          </p:cNvPr>
          <p:cNvSpPr>
            <a:spLocks noChangeArrowheads="1"/>
          </p:cNvSpPr>
          <p:nvPr/>
        </p:nvSpPr>
        <p:spPr bwMode="auto">
          <a:xfrm>
            <a:off x="9666538" y="3910425"/>
            <a:ext cx="2252590" cy="196413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chemeClr val="tx1"/>
                </a:solidFill>
                <a:latin typeface="Roboto" panose="02000000000000000000" pitchFamily="2" charset="0"/>
                <a:ea typeface="Roboto" panose="02000000000000000000" pitchFamily="2" charset="0"/>
              </a:rPr>
              <a:t>DOI = 20 Sec</a:t>
            </a:r>
          </a:p>
          <a:p>
            <a:pPr algn="l"/>
            <a:r>
              <a:rPr lang="en-US" altLang="en-US" sz="1800" b="0" dirty="0">
                <a:solidFill>
                  <a:schemeClr val="tx1"/>
                </a:solidFill>
                <a:latin typeface="Roboto" panose="02000000000000000000" pitchFamily="2" charset="0"/>
                <a:ea typeface="Roboto" panose="02000000000000000000" pitchFamily="2" charset="0"/>
              </a:rPr>
              <a:t>CO/ Time = 120 min</a:t>
            </a:r>
          </a:p>
          <a:p>
            <a:pPr algn="l"/>
            <a:r>
              <a:rPr lang="en-US" altLang="en-US" sz="1800" b="0" dirty="0">
                <a:solidFill>
                  <a:schemeClr val="tx1"/>
                </a:solidFill>
                <a:latin typeface="Roboto" panose="02000000000000000000" pitchFamily="2" charset="0"/>
                <a:ea typeface="Roboto" panose="02000000000000000000" pitchFamily="2" charset="0"/>
              </a:rPr>
              <a:t>Uptime = 99%</a:t>
            </a:r>
          </a:p>
          <a:p>
            <a:pPr algn="l"/>
            <a:r>
              <a:rPr lang="en-US" altLang="en-US" sz="1800" b="0" dirty="0">
                <a:solidFill>
                  <a:schemeClr val="tx1"/>
                </a:solidFill>
                <a:latin typeface="Roboto" panose="02000000000000000000" pitchFamily="2" charset="0"/>
                <a:ea typeface="Roboto" panose="02000000000000000000" pitchFamily="2" charset="0"/>
              </a:rPr>
              <a:t>Quality = 85%</a:t>
            </a:r>
          </a:p>
        </p:txBody>
      </p:sp>
      <p:grpSp>
        <p:nvGrpSpPr>
          <p:cNvPr id="36" name="Group 35">
            <a:extLst>
              <a:ext uri="{FF2B5EF4-FFF2-40B4-BE49-F238E27FC236}">
                <a16:creationId xmlns:a16="http://schemas.microsoft.com/office/drawing/2014/main" id="{ECAD6942-76DB-19F0-3DAF-4B87C58FDD31}"/>
              </a:ext>
            </a:extLst>
          </p:cNvPr>
          <p:cNvGrpSpPr/>
          <p:nvPr/>
        </p:nvGrpSpPr>
        <p:grpSpPr>
          <a:xfrm>
            <a:off x="9666537" y="1781000"/>
            <a:ext cx="2330182" cy="1891028"/>
            <a:chOff x="17300944" y="2805327"/>
            <a:chExt cx="4661577" cy="3783042"/>
          </a:xfrm>
        </p:grpSpPr>
        <p:grpSp>
          <p:nvGrpSpPr>
            <p:cNvPr id="37" name="Group 36">
              <a:extLst>
                <a:ext uri="{FF2B5EF4-FFF2-40B4-BE49-F238E27FC236}">
                  <a16:creationId xmlns:a16="http://schemas.microsoft.com/office/drawing/2014/main" id="{64D011A3-F580-274A-6661-7B0FFA0DA499}"/>
                </a:ext>
              </a:extLst>
            </p:cNvPr>
            <p:cNvGrpSpPr/>
            <p:nvPr/>
          </p:nvGrpSpPr>
          <p:grpSpPr>
            <a:xfrm>
              <a:off x="17300944" y="2805327"/>
              <a:ext cx="4661577" cy="3783042"/>
              <a:chOff x="13286202" y="3872367"/>
              <a:chExt cx="1751013" cy="1452562"/>
            </a:xfrm>
          </p:grpSpPr>
          <p:grpSp>
            <p:nvGrpSpPr>
              <p:cNvPr id="42" name="Group 4">
                <a:extLst>
                  <a:ext uri="{FF2B5EF4-FFF2-40B4-BE49-F238E27FC236}">
                    <a16:creationId xmlns:a16="http://schemas.microsoft.com/office/drawing/2014/main" id="{F01C3CAE-14DF-21A7-067F-1FA6115E80E2}"/>
                  </a:ext>
                </a:extLst>
              </p:cNvPr>
              <p:cNvGrpSpPr>
                <a:grpSpLocks/>
              </p:cNvGrpSpPr>
              <p:nvPr/>
            </p:nvGrpSpPr>
            <p:grpSpPr bwMode="auto">
              <a:xfrm>
                <a:off x="13286202" y="3872367"/>
                <a:ext cx="1751013" cy="1452562"/>
                <a:chOff x="418" y="2981"/>
                <a:chExt cx="352" cy="365"/>
              </a:xfrm>
            </p:grpSpPr>
            <p:sp>
              <p:nvSpPr>
                <p:cNvPr id="44" name="Rectangle 5">
                  <a:extLst>
                    <a:ext uri="{FF2B5EF4-FFF2-40B4-BE49-F238E27FC236}">
                      <a16:creationId xmlns:a16="http://schemas.microsoft.com/office/drawing/2014/main" id="{9836FEBF-67FD-17D0-E00C-96A4DEF189A5}"/>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5" name="Line 6">
                  <a:extLst>
                    <a:ext uri="{FF2B5EF4-FFF2-40B4-BE49-F238E27FC236}">
                      <a16:creationId xmlns:a16="http://schemas.microsoft.com/office/drawing/2014/main" id="{11407BE7-0693-D574-77B5-2AA129AF2EE1}"/>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43" name="Text Box 12">
                <a:extLst>
                  <a:ext uri="{FF2B5EF4-FFF2-40B4-BE49-F238E27FC236}">
                    <a16:creationId xmlns:a16="http://schemas.microsoft.com/office/drawing/2014/main" id="{57049EA1-5ABE-75DB-F3DA-D8B5443125DF}"/>
                  </a:ext>
                </a:extLst>
              </p:cNvPr>
              <p:cNvSpPr txBox="1">
                <a:spLocks noChangeArrowheads="1"/>
              </p:cNvSpPr>
              <p:nvPr/>
            </p:nvSpPr>
            <p:spPr bwMode="auto">
              <a:xfrm>
                <a:off x="13327477" y="3919992"/>
                <a:ext cx="1677988" cy="42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Brake Form</a:t>
                </a:r>
              </a:p>
            </p:txBody>
          </p:sp>
        </p:grpSp>
        <p:grpSp>
          <p:nvGrpSpPr>
            <p:cNvPr id="38" name="Group 37">
              <a:extLst>
                <a:ext uri="{FF2B5EF4-FFF2-40B4-BE49-F238E27FC236}">
                  <a16:creationId xmlns:a16="http://schemas.microsoft.com/office/drawing/2014/main" id="{CBF16459-DBD8-CB65-D65F-F2EDE2E44591}"/>
                </a:ext>
              </a:extLst>
            </p:cNvPr>
            <p:cNvGrpSpPr/>
            <p:nvPr/>
          </p:nvGrpSpPr>
          <p:grpSpPr>
            <a:xfrm>
              <a:off x="18023350" y="4349789"/>
              <a:ext cx="1359928" cy="1398861"/>
              <a:chOff x="18363333" y="5039084"/>
              <a:chExt cx="327025" cy="358775"/>
            </a:xfrm>
          </p:grpSpPr>
          <p:sp>
            <p:nvSpPr>
              <p:cNvPr id="40" name="Oval 32">
                <a:extLst>
                  <a:ext uri="{FF2B5EF4-FFF2-40B4-BE49-F238E27FC236}">
                    <a16:creationId xmlns:a16="http://schemas.microsoft.com/office/drawing/2014/main" id="{17110885-DECB-68E4-9991-C88E0800F213}"/>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1" name="AutoShape 33">
                <a:extLst>
                  <a:ext uri="{FF2B5EF4-FFF2-40B4-BE49-F238E27FC236}">
                    <a16:creationId xmlns:a16="http://schemas.microsoft.com/office/drawing/2014/main" id="{2AAC1124-0E52-7AA7-2469-FAF803A0D750}"/>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39" name="Text Box 34">
              <a:extLst>
                <a:ext uri="{FF2B5EF4-FFF2-40B4-BE49-F238E27FC236}">
                  <a16:creationId xmlns:a16="http://schemas.microsoft.com/office/drawing/2014/main" id="{9569234C-79D4-84B4-ACC9-C61FACA75A55}"/>
                </a:ext>
              </a:extLst>
            </p:cNvPr>
            <p:cNvSpPr txBox="1">
              <a:spLocks noChangeArrowheads="1"/>
            </p:cNvSpPr>
            <p:nvPr/>
          </p:nvSpPr>
          <p:spPr bwMode="auto">
            <a:xfrm>
              <a:off x="20046338" y="4767955"/>
              <a:ext cx="1206414" cy="923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Roboto" panose="02000000000000000000" pitchFamily="2" charset="0"/>
                  <a:ea typeface="Roboto" panose="02000000000000000000" pitchFamily="2" charset="0"/>
                </a:rPr>
                <a:t>= 1</a:t>
              </a:r>
            </a:p>
          </p:txBody>
        </p:sp>
      </p:grpSp>
      <p:grpSp>
        <p:nvGrpSpPr>
          <p:cNvPr id="57" name="Group 56">
            <a:extLst>
              <a:ext uri="{FF2B5EF4-FFF2-40B4-BE49-F238E27FC236}">
                <a16:creationId xmlns:a16="http://schemas.microsoft.com/office/drawing/2014/main" id="{3DCDAF24-D04C-489D-08DC-42EA23ECD491}"/>
              </a:ext>
            </a:extLst>
          </p:cNvPr>
          <p:cNvGrpSpPr/>
          <p:nvPr/>
        </p:nvGrpSpPr>
        <p:grpSpPr>
          <a:xfrm>
            <a:off x="6926685" y="5958498"/>
            <a:ext cx="2252589" cy="371378"/>
            <a:chOff x="13910660" y="11063620"/>
            <a:chExt cx="1793875" cy="742950"/>
          </a:xfrm>
        </p:grpSpPr>
        <p:grpSp>
          <p:nvGrpSpPr>
            <p:cNvPr id="46" name="Group 40">
              <a:extLst>
                <a:ext uri="{FF2B5EF4-FFF2-40B4-BE49-F238E27FC236}">
                  <a16:creationId xmlns:a16="http://schemas.microsoft.com/office/drawing/2014/main" id="{349B22F3-F0D1-5F96-43A5-21322AB82B1B}"/>
                </a:ext>
              </a:extLst>
            </p:cNvPr>
            <p:cNvGrpSpPr>
              <a:grpSpLocks/>
            </p:cNvGrpSpPr>
            <p:nvPr/>
          </p:nvGrpSpPr>
          <p:grpSpPr bwMode="auto">
            <a:xfrm>
              <a:off x="13910660" y="11063620"/>
              <a:ext cx="1793875" cy="742950"/>
              <a:chOff x="3154" y="3162"/>
              <a:chExt cx="1130" cy="468"/>
            </a:xfrm>
          </p:grpSpPr>
          <p:sp>
            <p:nvSpPr>
              <p:cNvPr id="47" name="Line 41">
                <a:extLst>
                  <a:ext uri="{FF2B5EF4-FFF2-40B4-BE49-F238E27FC236}">
                    <a16:creationId xmlns:a16="http://schemas.microsoft.com/office/drawing/2014/main" id="{28B34BA8-DC9F-CC4F-91D9-B683701140DD}"/>
                  </a:ext>
                </a:extLst>
              </p:cNvPr>
              <p:cNvSpPr>
                <a:spLocks noChangeShapeType="1"/>
              </p:cNvSpPr>
              <p:nvPr/>
            </p:nvSpPr>
            <p:spPr bwMode="auto">
              <a:xfrm>
                <a:off x="3154" y="3162"/>
                <a:ext cx="0" cy="468"/>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dirty="0">
                  <a:solidFill>
                    <a:srgbClr val="EE3228"/>
                  </a:solidFill>
                  <a:latin typeface="Roboto" panose="02000000000000000000" pitchFamily="2" charset="0"/>
                  <a:ea typeface="Roboto" panose="02000000000000000000" pitchFamily="2" charset="0"/>
                </a:endParaRPr>
              </a:p>
            </p:txBody>
          </p:sp>
          <p:sp>
            <p:nvSpPr>
              <p:cNvPr id="48" name="Line 42">
                <a:extLst>
                  <a:ext uri="{FF2B5EF4-FFF2-40B4-BE49-F238E27FC236}">
                    <a16:creationId xmlns:a16="http://schemas.microsoft.com/office/drawing/2014/main" id="{BF678CCC-6363-7699-D4E7-FC6D82A61A19}"/>
                  </a:ext>
                </a:extLst>
              </p:cNvPr>
              <p:cNvSpPr>
                <a:spLocks noChangeShapeType="1"/>
              </p:cNvSpPr>
              <p:nvPr/>
            </p:nvSpPr>
            <p:spPr bwMode="auto">
              <a:xfrm>
                <a:off x="3162" y="3630"/>
                <a:ext cx="1122" cy="0"/>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sp>
            <p:nvSpPr>
              <p:cNvPr id="49" name="Line 43">
                <a:extLst>
                  <a:ext uri="{FF2B5EF4-FFF2-40B4-BE49-F238E27FC236}">
                    <a16:creationId xmlns:a16="http://schemas.microsoft.com/office/drawing/2014/main" id="{D6AB976E-2E1F-60BB-44C0-DC2AED469456}"/>
                  </a:ext>
                </a:extLst>
              </p:cNvPr>
              <p:cNvSpPr>
                <a:spLocks noChangeShapeType="1"/>
              </p:cNvSpPr>
              <p:nvPr/>
            </p:nvSpPr>
            <p:spPr bwMode="auto">
              <a:xfrm>
                <a:off x="4282" y="3175"/>
                <a:ext cx="0" cy="455"/>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grpSp>
        <p:sp>
          <p:nvSpPr>
            <p:cNvPr id="54" name="Text Box 48">
              <a:extLst>
                <a:ext uri="{FF2B5EF4-FFF2-40B4-BE49-F238E27FC236}">
                  <a16:creationId xmlns:a16="http://schemas.microsoft.com/office/drawing/2014/main" id="{FB818691-159C-8E56-971B-0D59959175A3}"/>
                </a:ext>
              </a:extLst>
            </p:cNvPr>
            <p:cNvSpPr txBox="1">
              <a:spLocks noChangeArrowheads="1"/>
            </p:cNvSpPr>
            <p:nvPr/>
          </p:nvSpPr>
          <p:spPr bwMode="auto">
            <a:xfrm>
              <a:off x="14290427" y="11112243"/>
              <a:ext cx="1019720" cy="677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dirty="0">
                  <a:solidFill>
                    <a:srgbClr val="EE3228"/>
                  </a:solidFill>
                  <a:latin typeface="Roboto" panose="02000000000000000000" pitchFamily="2" charset="0"/>
                  <a:ea typeface="Roboto" panose="02000000000000000000" pitchFamily="2" charset="0"/>
                </a:rPr>
                <a:t>15 seconds</a:t>
              </a:r>
            </a:p>
          </p:txBody>
        </p:sp>
      </p:grpSp>
      <p:grpSp>
        <p:nvGrpSpPr>
          <p:cNvPr id="56" name="Group 55">
            <a:extLst>
              <a:ext uri="{FF2B5EF4-FFF2-40B4-BE49-F238E27FC236}">
                <a16:creationId xmlns:a16="http://schemas.microsoft.com/office/drawing/2014/main" id="{E084B834-D4F7-0F2C-1FA1-EB8710D12958}"/>
              </a:ext>
            </a:extLst>
          </p:cNvPr>
          <p:cNvGrpSpPr/>
          <p:nvPr/>
        </p:nvGrpSpPr>
        <p:grpSpPr>
          <a:xfrm>
            <a:off x="9666538" y="5969069"/>
            <a:ext cx="2252590" cy="365716"/>
            <a:chOff x="15882335" y="11328738"/>
            <a:chExt cx="1793875" cy="487747"/>
          </a:xfrm>
        </p:grpSpPr>
        <p:grpSp>
          <p:nvGrpSpPr>
            <p:cNvPr id="50" name="Group 44">
              <a:extLst>
                <a:ext uri="{FF2B5EF4-FFF2-40B4-BE49-F238E27FC236}">
                  <a16:creationId xmlns:a16="http://schemas.microsoft.com/office/drawing/2014/main" id="{EAF1C56D-8CA6-FFEF-B69D-AF32816B9E77}"/>
                </a:ext>
              </a:extLst>
            </p:cNvPr>
            <p:cNvGrpSpPr>
              <a:grpSpLocks/>
            </p:cNvGrpSpPr>
            <p:nvPr/>
          </p:nvGrpSpPr>
          <p:grpSpPr bwMode="auto">
            <a:xfrm>
              <a:off x="15882335" y="11328738"/>
              <a:ext cx="1793875" cy="477838"/>
              <a:chOff x="3154" y="3329"/>
              <a:chExt cx="1130" cy="301"/>
            </a:xfrm>
          </p:grpSpPr>
          <p:sp>
            <p:nvSpPr>
              <p:cNvPr id="51" name="Line 45">
                <a:extLst>
                  <a:ext uri="{FF2B5EF4-FFF2-40B4-BE49-F238E27FC236}">
                    <a16:creationId xmlns:a16="http://schemas.microsoft.com/office/drawing/2014/main" id="{920FA86A-A6FE-731B-A7A5-1C3E2B1B8A06}"/>
                  </a:ext>
                </a:extLst>
              </p:cNvPr>
              <p:cNvSpPr>
                <a:spLocks noChangeShapeType="1"/>
              </p:cNvSpPr>
              <p:nvPr/>
            </p:nvSpPr>
            <p:spPr bwMode="auto">
              <a:xfrm>
                <a:off x="3154" y="3329"/>
                <a:ext cx="0" cy="301"/>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sp>
            <p:nvSpPr>
              <p:cNvPr id="52" name="Line 46">
                <a:extLst>
                  <a:ext uri="{FF2B5EF4-FFF2-40B4-BE49-F238E27FC236}">
                    <a16:creationId xmlns:a16="http://schemas.microsoft.com/office/drawing/2014/main" id="{F9D8D3A5-E527-E87D-2C47-F88A79E87F20}"/>
                  </a:ext>
                </a:extLst>
              </p:cNvPr>
              <p:cNvSpPr>
                <a:spLocks noChangeShapeType="1"/>
              </p:cNvSpPr>
              <p:nvPr/>
            </p:nvSpPr>
            <p:spPr bwMode="auto">
              <a:xfrm>
                <a:off x="3162" y="3630"/>
                <a:ext cx="1122" cy="0"/>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sp>
            <p:nvSpPr>
              <p:cNvPr id="53" name="Line 47">
                <a:extLst>
                  <a:ext uri="{FF2B5EF4-FFF2-40B4-BE49-F238E27FC236}">
                    <a16:creationId xmlns:a16="http://schemas.microsoft.com/office/drawing/2014/main" id="{3086251C-7CB9-D037-7F49-962FDA45E27C}"/>
                  </a:ext>
                </a:extLst>
              </p:cNvPr>
              <p:cNvSpPr>
                <a:spLocks noChangeShapeType="1"/>
              </p:cNvSpPr>
              <p:nvPr/>
            </p:nvSpPr>
            <p:spPr bwMode="auto">
              <a:xfrm>
                <a:off x="4282" y="3329"/>
                <a:ext cx="0" cy="301"/>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grpSp>
        <p:sp>
          <p:nvSpPr>
            <p:cNvPr id="55" name="Text Box 49">
              <a:extLst>
                <a:ext uri="{FF2B5EF4-FFF2-40B4-BE49-F238E27FC236}">
                  <a16:creationId xmlns:a16="http://schemas.microsoft.com/office/drawing/2014/main" id="{11EDDDDF-8A2A-39E6-878E-BDAFAF801BBE}"/>
                </a:ext>
              </a:extLst>
            </p:cNvPr>
            <p:cNvSpPr txBox="1">
              <a:spLocks noChangeArrowheads="1"/>
            </p:cNvSpPr>
            <p:nvPr/>
          </p:nvSpPr>
          <p:spPr bwMode="auto">
            <a:xfrm>
              <a:off x="16317510" y="11364963"/>
              <a:ext cx="992150" cy="45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dirty="0">
                  <a:solidFill>
                    <a:srgbClr val="EE3228"/>
                  </a:solidFill>
                  <a:latin typeface="Roboto" panose="02000000000000000000" pitchFamily="2" charset="0"/>
                  <a:ea typeface="Roboto" panose="02000000000000000000" pitchFamily="2" charset="0"/>
                </a:rPr>
                <a:t>20 seconds</a:t>
              </a:r>
            </a:p>
          </p:txBody>
        </p:sp>
      </p:grpSp>
      <p:grpSp>
        <p:nvGrpSpPr>
          <p:cNvPr id="4" name="Group 3">
            <a:extLst>
              <a:ext uri="{FF2B5EF4-FFF2-40B4-BE49-F238E27FC236}">
                <a16:creationId xmlns:a16="http://schemas.microsoft.com/office/drawing/2014/main" id="{92F9B873-8590-CCB2-A6A4-C6A71A1A2FFE}"/>
              </a:ext>
            </a:extLst>
          </p:cNvPr>
          <p:cNvGrpSpPr/>
          <p:nvPr/>
        </p:nvGrpSpPr>
        <p:grpSpPr>
          <a:xfrm>
            <a:off x="940004" y="330919"/>
            <a:ext cx="6217883" cy="311851"/>
            <a:chOff x="940249" y="302538"/>
            <a:chExt cx="6219503" cy="311932"/>
          </a:xfrm>
        </p:grpSpPr>
        <p:sp>
          <p:nvSpPr>
            <p:cNvPr id="12" name="TextBox 11">
              <a:extLst>
                <a:ext uri="{FF2B5EF4-FFF2-40B4-BE49-F238E27FC236}">
                  <a16:creationId xmlns:a16="http://schemas.microsoft.com/office/drawing/2014/main" id="{9D0F4B84-7B7E-0B7E-6618-6C71B728173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8" name="AutoShape 9">
              <a:extLst>
                <a:ext uri="{FF2B5EF4-FFF2-40B4-BE49-F238E27FC236}">
                  <a16:creationId xmlns:a16="http://schemas.microsoft.com/office/drawing/2014/main" id="{ED374026-335B-25F5-D0D6-9EADCA769EE9}"/>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9168DE6A-3B09-679B-8255-4156F7999C9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83619850-36F7-DBC0-D961-8762780708B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9">
              <a:extLst>
                <a:ext uri="{FF2B5EF4-FFF2-40B4-BE49-F238E27FC236}">
                  <a16:creationId xmlns:a16="http://schemas.microsoft.com/office/drawing/2014/main" id="{CBC4F467-65B5-CC2D-ABEA-4336F269518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7" name="AutoShape 11">
              <a:extLst>
                <a:ext uri="{FF2B5EF4-FFF2-40B4-BE49-F238E27FC236}">
                  <a16:creationId xmlns:a16="http://schemas.microsoft.com/office/drawing/2014/main" id="{8356EEBF-ABA3-DD3D-1730-32736A1D3FD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90423CB9-A813-FF8C-F7D5-85E2DE50286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64</a:t>
            </a:fld>
            <a:endParaRPr lang="en-US" dirty="0"/>
          </a:p>
        </p:txBody>
      </p:sp>
    </p:spTree>
    <p:extLst>
      <p:ext uri="{BB962C8B-B14F-4D97-AF65-F5344CB8AC3E}">
        <p14:creationId xmlns:p14="http://schemas.microsoft.com/office/powerpoint/2010/main" val="337477059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Autofit/>
          </a:bodyPr>
          <a:lstStyle/>
          <a:p>
            <a:r>
              <a:rPr lang="en-US" altLang="en-US" sz="3600" dirty="0"/>
              <a:t>Calculating Processing Time for Each Process</a:t>
            </a:r>
            <a:endParaRPr lang="en-US" sz="3600" dirty="0"/>
          </a:p>
        </p:txBody>
      </p:sp>
      <p:sp>
        <p:nvSpPr>
          <p:cNvPr id="28" name="TextBox 27">
            <a:extLst>
              <a:ext uri="{FF2B5EF4-FFF2-40B4-BE49-F238E27FC236}">
                <a16:creationId xmlns:a16="http://schemas.microsoft.com/office/drawing/2014/main" id="{591714DC-EA96-DF71-71E6-EC62375142D7}"/>
              </a:ext>
            </a:extLst>
          </p:cNvPr>
          <p:cNvSpPr txBox="1"/>
          <p:nvPr/>
        </p:nvSpPr>
        <p:spPr>
          <a:xfrm>
            <a:off x="940004" y="2009867"/>
            <a:ext cx="4875448" cy="405237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spcAft>
                <a:spcPts val="600"/>
              </a:spcAft>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When Processing Time and DOI are different:</a:t>
            </a:r>
          </a:p>
          <a:p>
            <a:pPr marL="457109" lvl="3" indent="-228554" algn="l">
              <a:spcAft>
                <a:spcPts val="600"/>
              </a:spcAft>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if there are multiple operators performing identical (or similar) functions on multiple, </a:t>
            </a:r>
          </a:p>
          <a:p>
            <a:pPr marL="457109" lvl="3" indent="-228554" algn="l">
              <a:spcAft>
                <a:spcPts val="600"/>
              </a:spcAft>
              <a:buClr>
                <a:schemeClr val="tx1"/>
              </a:buClr>
              <a:buSzPct val="90000"/>
              <a:buFont typeface="Arial" panose="020B0604020202020204" pitchFamily="34" charset="0"/>
              <a:buChar char="•"/>
            </a:pPr>
            <a:r>
              <a:rPr lang="en-US" sz="1800" dirty="0">
                <a:solidFill>
                  <a:srgbClr val="191C25"/>
                </a:solidFill>
                <a:latin typeface="Roboto" panose="02000000000000000000" pitchFamily="2" charset="0"/>
                <a:ea typeface="Roboto" panose="02000000000000000000" pitchFamily="2" charset="0"/>
              </a:rPr>
              <a:t>multiple “VALUE OBJECTs” going through </a:t>
            </a:r>
            <a:br>
              <a:rPr lang="en-US" sz="1800" dirty="0">
                <a:solidFill>
                  <a:srgbClr val="191C25"/>
                </a:solidFill>
                <a:latin typeface="Roboto" panose="02000000000000000000" pitchFamily="2" charset="0"/>
                <a:ea typeface="Roboto" panose="02000000000000000000" pitchFamily="2" charset="0"/>
              </a:rPr>
            </a:br>
            <a:r>
              <a:rPr lang="en-US" sz="1800" dirty="0">
                <a:solidFill>
                  <a:srgbClr val="191C25"/>
                </a:solidFill>
                <a:latin typeface="Roboto" panose="02000000000000000000" pitchFamily="2" charset="0"/>
                <a:ea typeface="Roboto" panose="02000000000000000000" pitchFamily="2" charset="0"/>
              </a:rPr>
              <a:t>the value stream concurrently.</a:t>
            </a:r>
          </a:p>
          <a:p>
            <a:pPr marL="228554" lvl="2" indent="-228554" algn="l">
              <a:spcAft>
                <a:spcPts val="600"/>
              </a:spcAft>
              <a:buClr>
                <a:schemeClr val="tx1"/>
              </a:buClr>
              <a:buSzPct val="90000"/>
              <a:buFont typeface="Arial" panose="020B0604020202020204" pitchFamily="34" charset="0"/>
              <a:buChar char="•"/>
            </a:pPr>
            <a:r>
              <a:rPr lang="en-US" sz="2400" dirty="0">
                <a:solidFill>
                  <a:srgbClr val="191C25"/>
                </a:solidFill>
                <a:latin typeface="Roboto" panose="02000000000000000000" pitchFamily="2" charset="0"/>
                <a:ea typeface="Roboto" panose="02000000000000000000" pitchFamily="2" charset="0"/>
              </a:rPr>
              <a:t>The amount of time required for </a:t>
            </a:r>
            <a:br>
              <a:rPr lang="en-US" sz="2400" dirty="0">
                <a:solidFill>
                  <a:srgbClr val="191C25"/>
                </a:solidFill>
                <a:latin typeface="Roboto" panose="02000000000000000000" pitchFamily="2" charset="0"/>
                <a:ea typeface="Roboto" panose="02000000000000000000" pitchFamily="2" charset="0"/>
              </a:rPr>
            </a:br>
            <a:r>
              <a:rPr lang="en-US" sz="2400" dirty="0">
                <a:solidFill>
                  <a:srgbClr val="191C25"/>
                </a:solidFill>
                <a:latin typeface="Roboto" panose="02000000000000000000" pitchFamily="2" charset="0"/>
                <a:ea typeface="Roboto" panose="02000000000000000000" pitchFamily="2" charset="0"/>
              </a:rPr>
              <a:t>a single operator to process the “VALUE OBJECT” is what is reflected in the map for process time</a:t>
            </a:r>
          </a:p>
        </p:txBody>
      </p:sp>
      <p:sp>
        <p:nvSpPr>
          <p:cNvPr id="33" name="Rectangle 5">
            <a:extLst>
              <a:ext uri="{FF2B5EF4-FFF2-40B4-BE49-F238E27FC236}">
                <a16:creationId xmlns:a16="http://schemas.microsoft.com/office/drawing/2014/main" id="{E90A3771-9F99-0028-F574-8A2BED51671C}"/>
              </a:ext>
            </a:extLst>
          </p:cNvPr>
          <p:cNvSpPr>
            <a:spLocks noChangeArrowheads="1"/>
          </p:cNvSpPr>
          <p:nvPr/>
        </p:nvSpPr>
        <p:spPr bwMode="auto">
          <a:xfrm>
            <a:off x="8128305" y="3747569"/>
            <a:ext cx="2252590" cy="196413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b="0" dirty="0">
                <a:solidFill>
                  <a:schemeClr val="tx1"/>
                </a:solidFill>
                <a:latin typeface="Roboto" panose="02000000000000000000" pitchFamily="2" charset="0"/>
                <a:ea typeface="Roboto" panose="02000000000000000000" pitchFamily="2" charset="0"/>
              </a:rPr>
              <a:t>DOI = 12 Sec</a:t>
            </a:r>
          </a:p>
          <a:p>
            <a:pPr algn="l"/>
            <a:r>
              <a:rPr lang="en-US" altLang="en-US" sz="1800" b="0" dirty="0">
                <a:solidFill>
                  <a:schemeClr val="tx1"/>
                </a:solidFill>
                <a:latin typeface="Roboto" panose="02000000000000000000" pitchFamily="2" charset="0"/>
                <a:ea typeface="Roboto" panose="02000000000000000000" pitchFamily="2" charset="0"/>
              </a:rPr>
              <a:t>CO/ Time = 30 min</a:t>
            </a:r>
          </a:p>
          <a:p>
            <a:pPr algn="l"/>
            <a:r>
              <a:rPr lang="en-US" altLang="en-US" sz="1800" b="0" dirty="0">
                <a:solidFill>
                  <a:schemeClr val="tx1"/>
                </a:solidFill>
                <a:latin typeface="Roboto" panose="02000000000000000000" pitchFamily="2" charset="0"/>
                <a:ea typeface="Roboto" panose="02000000000000000000" pitchFamily="2" charset="0"/>
              </a:rPr>
              <a:t>Uptime = 99%</a:t>
            </a:r>
          </a:p>
          <a:p>
            <a:pPr algn="l"/>
            <a:r>
              <a:rPr lang="en-US" altLang="en-US" sz="1800" b="0" dirty="0">
                <a:solidFill>
                  <a:schemeClr val="tx1"/>
                </a:solidFill>
                <a:latin typeface="Roboto" panose="02000000000000000000" pitchFamily="2" charset="0"/>
                <a:ea typeface="Roboto" panose="02000000000000000000" pitchFamily="2" charset="0"/>
              </a:rPr>
              <a:t>Quality = 99%</a:t>
            </a:r>
          </a:p>
          <a:p>
            <a:pPr algn="l"/>
            <a:r>
              <a:rPr lang="en-US" altLang="en-US" sz="1800" b="0" dirty="0">
                <a:solidFill>
                  <a:schemeClr val="tx1"/>
                </a:solidFill>
                <a:latin typeface="Roboto" panose="02000000000000000000" pitchFamily="2" charset="0"/>
                <a:ea typeface="Roboto" panose="02000000000000000000" pitchFamily="2" charset="0"/>
              </a:rPr>
              <a:t>5 Machines</a:t>
            </a:r>
          </a:p>
        </p:txBody>
      </p:sp>
      <p:grpSp>
        <p:nvGrpSpPr>
          <p:cNvPr id="36" name="Group 35">
            <a:extLst>
              <a:ext uri="{FF2B5EF4-FFF2-40B4-BE49-F238E27FC236}">
                <a16:creationId xmlns:a16="http://schemas.microsoft.com/office/drawing/2014/main" id="{ECAD6942-76DB-19F0-3DAF-4B87C58FDD31}"/>
              </a:ext>
            </a:extLst>
          </p:cNvPr>
          <p:cNvGrpSpPr/>
          <p:nvPr/>
        </p:nvGrpSpPr>
        <p:grpSpPr>
          <a:xfrm>
            <a:off x="8128304" y="1618143"/>
            <a:ext cx="2330182" cy="1891028"/>
            <a:chOff x="17300944" y="2805327"/>
            <a:chExt cx="4661577" cy="3783042"/>
          </a:xfrm>
        </p:grpSpPr>
        <p:grpSp>
          <p:nvGrpSpPr>
            <p:cNvPr id="37" name="Group 36">
              <a:extLst>
                <a:ext uri="{FF2B5EF4-FFF2-40B4-BE49-F238E27FC236}">
                  <a16:creationId xmlns:a16="http://schemas.microsoft.com/office/drawing/2014/main" id="{64D011A3-F580-274A-6661-7B0FFA0DA499}"/>
                </a:ext>
              </a:extLst>
            </p:cNvPr>
            <p:cNvGrpSpPr/>
            <p:nvPr/>
          </p:nvGrpSpPr>
          <p:grpSpPr>
            <a:xfrm>
              <a:off x="17300944" y="2805327"/>
              <a:ext cx="4661577" cy="3783042"/>
              <a:chOff x="13286202" y="3872367"/>
              <a:chExt cx="1751013" cy="1452562"/>
            </a:xfrm>
          </p:grpSpPr>
          <p:grpSp>
            <p:nvGrpSpPr>
              <p:cNvPr id="42" name="Group 4">
                <a:extLst>
                  <a:ext uri="{FF2B5EF4-FFF2-40B4-BE49-F238E27FC236}">
                    <a16:creationId xmlns:a16="http://schemas.microsoft.com/office/drawing/2014/main" id="{F01C3CAE-14DF-21A7-067F-1FA6115E80E2}"/>
                  </a:ext>
                </a:extLst>
              </p:cNvPr>
              <p:cNvGrpSpPr>
                <a:grpSpLocks/>
              </p:cNvGrpSpPr>
              <p:nvPr/>
            </p:nvGrpSpPr>
            <p:grpSpPr bwMode="auto">
              <a:xfrm>
                <a:off x="13286202" y="3872367"/>
                <a:ext cx="1751013" cy="1452562"/>
                <a:chOff x="418" y="2981"/>
                <a:chExt cx="352" cy="365"/>
              </a:xfrm>
            </p:grpSpPr>
            <p:sp>
              <p:nvSpPr>
                <p:cNvPr id="44" name="Rectangle 5">
                  <a:extLst>
                    <a:ext uri="{FF2B5EF4-FFF2-40B4-BE49-F238E27FC236}">
                      <a16:creationId xmlns:a16="http://schemas.microsoft.com/office/drawing/2014/main" id="{9836FEBF-67FD-17D0-E00C-96A4DEF189A5}"/>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5" name="Line 6">
                  <a:extLst>
                    <a:ext uri="{FF2B5EF4-FFF2-40B4-BE49-F238E27FC236}">
                      <a16:creationId xmlns:a16="http://schemas.microsoft.com/office/drawing/2014/main" id="{11407BE7-0693-D574-77B5-2AA129AF2EE1}"/>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43" name="Text Box 12">
                <a:extLst>
                  <a:ext uri="{FF2B5EF4-FFF2-40B4-BE49-F238E27FC236}">
                    <a16:creationId xmlns:a16="http://schemas.microsoft.com/office/drawing/2014/main" id="{57049EA1-5ABE-75DB-F3DA-D8B5443125DF}"/>
                  </a:ext>
                </a:extLst>
              </p:cNvPr>
              <p:cNvSpPr txBox="1">
                <a:spLocks noChangeArrowheads="1"/>
              </p:cNvSpPr>
              <p:nvPr/>
            </p:nvSpPr>
            <p:spPr bwMode="auto">
              <a:xfrm>
                <a:off x="13327477" y="3919992"/>
                <a:ext cx="1677988" cy="42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999" dirty="0">
                    <a:solidFill>
                      <a:schemeClr val="tx1"/>
                    </a:solidFill>
                    <a:latin typeface="Roboto" panose="02000000000000000000" pitchFamily="2" charset="0"/>
                    <a:ea typeface="Roboto" panose="02000000000000000000" pitchFamily="2" charset="0"/>
                  </a:rPr>
                  <a:t>Cut</a:t>
                </a:r>
              </a:p>
            </p:txBody>
          </p:sp>
        </p:grpSp>
        <p:grpSp>
          <p:nvGrpSpPr>
            <p:cNvPr id="38" name="Group 37">
              <a:extLst>
                <a:ext uri="{FF2B5EF4-FFF2-40B4-BE49-F238E27FC236}">
                  <a16:creationId xmlns:a16="http://schemas.microsoft.com/office/drawing/2014/main" id="{CBF16459-DBD8-CB65-D65F-F2EDE2E44591}"/>
                </a:ext>
              </a:extLst>
            </p:cNvPr>
            <p:cNvGrpSpPr/>
            <p:nvPr/>
          </p:nvGrpSpPr>
          <p:grpSpPr>
            <a:xfrm>
              <a:off x="18023350" y="4349789"/>
              <a:ext cx="1359928" cy="1398861"/>
              <a:chOff x="18363333" y="5039084"/>
              <a:chExt cx="327025" cy="358775"/>
            </a:xfrm>
          </p:grpSpPr>
          <p:sp>
            <p:nvSpPr>
              <p:cNvPr id="40" name="Oval 32">
                <a:extLst>
                  <a:ext uri="{FF2B5EF4-FFF2-40B4-BE49-F238E27FC236}">
                    <a16:creationId xmlns:a16="http://schemas.microsoft.com/office/drawing/2014/main" id="{17110885-DECB-68E4-9991-C88E0800F213}"/>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1" name="AutoShape 33">
                <a:extLst>
                  <a:ext uri="{FF2B5EF4-FFF2-40B4-BE49-F238E27FC236}">
                    <a16:creationId xmlns:a16="http://schemas.microsoft.com/office/drawing/2014/main" id="{2AAC1124-0E52-7AA7-2469-FAF803A0D750}"/>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39" name="Text Box 34">
              <a:extLst>
                <a:ext uri="{FF2B5EF4-FFF2-40B4-BE49-F238E27FC236}">
                  <a16:creationId xmlns:a16="http://schemas.microsoft.com/office/drawing/2014/main" id="{9569234C-79D4-84B4-ACC9-C61FACA75A55}"/>
                </a:ext>
              </a:extLst>
            </p:cNvPr>
            <p:cNvSpPr txBox="1">
              <a:spLocks noChangeArrowheads="1"/>
            </p:cNvSpPr>
            <p:nvPr/>
          </p:nvSpPr>
          <p:spPr bwMode="auto">
            <a:xfrm>
              <a:off x="20115286" y="4767955"/>
              <a:ext cx="1052486" cy="923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400" b="0" dirty="0">
                  <a:solidFill>
                    <a:schemeClr val="tx1"/>
                  </a:solidFill>
                  <a:latin typeface="Roboto" panose="02000000000000000000" pitchFamily="2" charset="0"/>
                  <a:ea typeface="Roboto" panose="02000000000000000000" pitchFamily="2" charset="0"/>
                </a:rPr>
                <a:t>=5</a:t>
              </a:r>
            </a:p>
          </p:txBody>
        </p:sp>
      </p:grpSp>
      <p:grpSp>
        <p:nvGrpSpPr>
          <p:cNvPr id="50" name="Group 44">
            <a:extLst>
              <a:ext uri="{FF2B5EF4-FFF2-40B4-BE49-F238E27FC236}">
                <a16:creationId xmlns:a16="http://schemas.microsoft.com/office/drawing/2014/main" id="{EAF1C56D-8CA6-FFEF-B69D-AF32816B9E77}"/>
              </a:ext>
            </a:extLst>
          </p:cNvPr>
          <p:cNvGrpSpPr>
            <a:grpSpLocks/>
          </p:cNvGrpSpPr>
          <p:nvPr/>
        </p:nvGrpSpPr>
        <p:grpSpPr bwMode="auto">
          <a:xfrm>
            <a:off x="8128305" y="5905581"/>
            <a:ext cx="2252590" cy="358285"/>
            <a:chOff x="3154" y="3329"/>
            <a:chExt cx="1130" cy="301"/>
          </a:xfrm>
        </p:grpSpPr>
        <p:sp>
          <p:nvSpPr>
            <p:cNvPr id="51" name="Line 45">
              <a:extLst>
                <a:ext uri="{FF2B5EF4-FFF2-40B4-BE49-F238E27FC236}">
                  <a16:creationId xmlns:a16="http://schemas.microsoft.com/office/drawing/2014/main" id="{920FA86A-A6FE-731B-A7A5-1C3E2B1B8A06}"/>
                </a:ext>
              </a:extLst>
            </p:cNvPr>
            <p:cNvSpPr>
              <a:spLocks noChangeShapeType="1"/>
            </p:cNvSpPr>
            <p:nvPr/>
          </p:nvSpPr>
          <p:spPr bwMode="auto">
            <a:xfrm>
              <a:off x="3154" y="3329"/>
              <a:ext cx="0" cy="301"/>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sp>
          <p:nvSpPr>
            <p:cNvPr id="52" name="Line 46">
              <a:extLst>
                <a:ext uri="{FF2B5EF4-FFF2-40B4-BE49-F238E27FC236}">
                  <a16:creationId xmlns:a16="http://schemas.microsoft.com/office/drawing/2014/main" id="{F9D8D3A5-E527-E87D-2C47-F88A79E87F20}"/>
                </a:ext>
              </a:extLst>
            </p:cNvPr>
            <p:cNvSpPr>
              <a:spLocks noChangeShapeType="1"/>
            </p:cNvSpPr>
            <p:nvPr/>
          </p:nvSpPr>
          <p:spPr bwMode="auto">
            <a:xfrm>
              <a:off x="3162" y="3630"/>
              <a:ext cx="1122" cy="0"/>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sp>
          <p:nvSpPr>
            <p:cNvPr id="53" name="Line 47">
              <a:extLst>
                <a:ext uri="{FF2B5EF4-FFF2-40B4-BE49-F238E27FC236}">
                  <a16:creationId xmlns:a16="http://schemas.microsoft.com/office/drawing/2014/main" id="{3086251C-7CB9-D037-7F49-962FDA45E27C}"/>
                </a:ext>
              </a:extLst>
            </p:cNvPr>
            <p:cNvSpPr>
              <a:spLocks noChangeShapeType="1"/>
            </p:cNvSpPr>
            <p:nvPr/>
          </p:nvSpPr>
          <p:spPr bwMode="auto">
            <a:xfrm>
              <a:off x="4282" y="3329"/>
              <a:ext cx="0" cy="301"/>
            </a:xfrm>
            <a:prstGeom prst="line">
              <a:avLst/>
            </a:prstGeom>
            <a:noFill/>
            <a:ln w="635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55" name="Text Box 49">
            <a:extLst>
              <a:ext uri="{FF2B5EF4-FFF2-40B4-BE49-F238E27FC236}">
                <a16:creationId xmlns:a16="http://schemas.microsoft.com/office/drawing/2014/main" id="{11EDDDDF-8A2A-39E6-878E-BDAFAF801BBE}"/>
              </a:ext>
            </a:extLst>
          </p:cNvPr>
          <p:cNvSpPr txBox="1">
            <a:spLocks noChangeArrowheads="1"/>
          </p:cNvSpPr>
          <p:nvPr/>
        </p:nvSpPr>
        <p:spPr bwMode="auto">
          <a:xfrm>
            <a:off x="8728071" y="5796826"/>
            <a:ext cx="1245854" cy="338554"/>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dirty="0">
                <a:solidFill>
                  <a:srgbClr val="EE3228"/>
                </a:solidFill>
                <a:latin typeface="Roboto" panose="02000000000000000000" pitchFamily="2" charset="0"/>
                <a:ea typeface="Roboto" panose="02000000000000000000" pitchFamily="2" charset="0"/>
              </a:rPr>
              <a:t>60 seconds</a:t>
            </a:r>
          </a:p>
        </p:txBody>
      </p:sp>
      <p:grpSp>
        <p:nvGrpSpPr>
          <p:cNvPr id="4" name="Group 51">
            <a:extLst>
              <a:ext uri="{FF2B5EF4-FFF2-40B4-BE49-F238E27FC236}">
                <a16:creationId xmlns:a16="http://schemas.microsoft.com/office/drawing/2014/main" id="{14CDCD68-B5E6-B7FF-23EB-1C9EB64CE078}"/>
              </a:ext>
            </a:extLst>
          </p:cNvPr>
          <p:cNvGrpSpPr>
            <a:grpSpLocks/>
          </p:cNvGrpSpPr>
          <p:nvPr/>
        </p:nvGrpSpPr>
        <p:grpSpPr bwMode="auto">
          <a:xfrm>
            <a:off x="5588740" y="3118172"/>
            <a:ext cx="3172296" cy="2091324"/>
            <a:chOff x="2199" y="1652"/>
            <a:chExt cx="2777" cy="1583"/>
          </a:xfrm>
        </p:grpSpPr>
        <p:sp>
          <p:nvSpPr>
            <p:cNvPr id="12" name="Line 47">
              <a:extLst>
                <a:ext uri="{FF2B5EF4-FFF2-40B4-BE49-F238E27FC236}">
                  <a16:creationId xmlns:a16="http://schemas.microsoft.com/office/drawing/2014/main" id="{244C4D79-CACA-D315-ECC1-198063F86E70}"/>
                </a:ext>
              </a:extLst>
            </p:cNvPr>
            <p:cNvSpPr>
              <a:spLocks noChangeShapeType="1"/>
            </p:cNvSpPr>
            <p:nvPr/>
          </p:nvSpPr>
          <p:spPr bwMode="auto">
            <a:xfrm flipV="1">
              <a:off x="3469" y="1652"/>
              <a:ext cx="1126" cy="288"/>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8" name="Line 48">
              <a:extLst>
                <a:ext uri="{FF2B5EF4-FFF2-40B4-BE49-F238E27FC236}">
                  <a16:creationId xmlns:a16="http://schemas.microsoft.com/office/drawing/2014/main" id="{E5EB5F9E-1AB4-C5FA-B4BE-3EDE29E0EC15}"/>
                </a:ext>
              </a:extLst>
            </p:cNvPr>
            <p:cNvSpPr>
              <a:spLocks noChangeShapeType="1"/>
            </p:cNvSpPr>
            <p:nvPr/>
          </p:nvSpPr>
          <p:spPr bwMode="auto">
            <a:xfrm>
              <a:off x="3308" y="2207"/>
              <a:ext cx="1114" cy="1028"/>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dirty="0">
                <a:latin typeface="Roboto" panose="02000000000000000000" pitchFamily="2" charset="0"/>
                <a:ea typeface="Roboto" panose="02000000000000000000" pitchFamily="2" charset="0"/>
              </a:endParaRPr>
            </a:p>
          </p:txBody>
        </p:sp>
        <p:sp>
          <p:nvSpPr>
            <p:cNvPr id="19" name="Rectangle 49">
              <a:extLst>
                <a:ext uri="{FF2B5EF4-FFF2-40B4-BE49-F238E27FC236}">
                  <a16:creationId xmlns:a16="http://schemas.microsoft.com/office/drawing/2014/main" id="{F0877E1B-A151-E024-6200-39192E8FF2C1}"/>
                </a:ext>
              </a:extLst>
            </p:cNvPr>
            <p:cNvSpPr>
              <a:spLocks noChangeArrowheads="1"/>
            </p:cNvSpPr>
            <p:nvPr/>
          </p:nvSpPr>
          <p:spPr bwMode="auto">
            <a:xfrm>
              <a:off x="2199" y="1908"/>
              <a:ext cx="2777" cy="338"/>
            </a:xfrm>
            <a:prstGeom prst="rect">
              <a:avLst/>
            </a:prstGeom>
            <a:solidFill>
              <a:schemeClr val="bg1"/>
            </a:solidFill>
            <a:ln w="12700" cap="sq">
              <a:solidFill>
                <a:srgbClr val="EE3228"/>
              </a:solidFill>
              <a:miter lim="800000"/>
              <a:headEnd type="none" w="sm" len="sm"/>
              <a:tailEnd type="none" w="sm" len="sm"/>
            </a:ln>
          </p:spPr>
          <p:txBody>
            <a:bodyPr wrap="none" anchor="ct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pitchFamily="2" charset="0"/>
                  <a:ea typeface="Roboto" panose="02000000000000000000" pitchFamily="2" charset="0"/>
                </a:rPr>
                <a:t>PT (1 machine) = 240 sec </a:t>
              </a:r>
              <a:r>
                <a:rPr lang="en-US" altLang="en-US" sz="1000" b="0" dirty="0">
                  <a:solidFill>
                    <a:srgbClr val="EE3228"/>
                  </a:solidFill>
                  <a:latin typeface="Roboto" panose="02000000000000000000" pitchFamily="2" charset="0"/>
                  <a:ea typeface="Roboto" panose="02000000000000000000" pitchFamily="2" charset="0"/>
                  <a:cs typeface="Arial" panose="020B0604020202020204" pitchFamily="34" charset="0"/>
                </a:rPr>
                <a:t>÷ 4 pieces / cycle = 60 sec</a:t>
              </a:r>
            </a:p>
            <a:p>
              <a:pPr>
                <a:lnSpc>
                  <a:spcPct val="100000"/>
                </a:lnSpc>
                <a:spcBef>
                  <a:spcPct val="30000"/>
                </a:spcBef>
              </a:pPr>
              <a:r>
                <a:rPr lang="en-US" altLang="en-US" sz="1000" b="0" dirty="0">
                  <a:solidFill>
                    <a:srgbClr val="EE3228"/>
                  </a:solidFill>
                  <a:latin typeface="Roboto" panose="02000000000000000000" pitchFamily="2" charset="0"/>
                  <a:ea typeface="Roboto" panose="02000000000000000000" pitchFamily="2" charset="0"/>
                  <a:cs typeface="Arial" panose="020B0604020202020204" pitchFamily="34" charset="0"/>
                </a:rPr>
                <a:t>DOI (5 machines) = 60 sec ÷ 5 operators = 12 sec</a:t>
              </a:r>
            </a:p>
          </p:txBody>
        </p:sp>
      </p:grpSp>
      <p:grpSp>
        <p:nvGrpSpPr>
          <p:cNvPr id="3" name="Group 2">
            <a:extLst>
              <a:ext uri="{FF2B5EF4-FFF2-40B4-BE49-F238E27FC236}">
                <a16:creationId xmlns:a16="http://schemas.microsoft.com/office/drawing/2014/main" id="{25B42871-E715-C7C5-A741-364C64C5FDB9}"/>
              </a:ext>
            </a:extLst>
          </p:cNvPr>
          <p:cNvGrpSpPr/>
          <p:nvPr/>
        </p:nvGrpSpPr>
        <p:grpSpPr>
          <a:xfrm>
            <a:off x="940004" y="319344"/>
            <a:ext cx="6217883" cy="311851"/>
            <a:chOff x="940249" y="302538"/>
            <a:chExt cx="6219503" cy="311932"/>
          </a:xfrm>
        </p:grpSpPr>
        <p:sp>
          <p:nvSpPr>
            <p:cNvPr id="11" name="TextBox 10">
              <a:extLst>
                <a:ext uri="{FF2B5EF4-FFF2-40B4-BE49-F238E27FC236}">
                  <a16:creationId xmlns:a16="http://schemas.microsoft.com/office/drawing/2014/main" id="{8B80899D-B7F9-9687-EC9A-D5F993CAC26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3" name="AutoShape 9">
              <a:extLst>
                <a:ext uri="{FF2B5EF4-FFF2-40B4-BE49-F238E27FC236}">
                  <a16:creationId xmlns:a16="http://schemas.microsoft.com/office/drawing/2014/main" id="{9D2E392F-DD85-D71A-299A-B26465F33AD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7FE418FD-2826-B5A9-EDF6-AB124970953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33EB1571-4167-7AC9-82EE-3F0F1374306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E593AF54-4B56-44A1-C6C1-D67FFAE6FD5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11">
              <a:extLst>
                <a:ext uri="{FF2B5EF4-FFF2-40B4-BE49-F238E27FC236}">
                  <a16:creationId xmlns:a16="http://schemas.microsoft.com/office/drawing/2014/main" id="{B98203C0-040C-9CAD-389E-6F3ED7F063F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0" name="Slide Number Placeholder 2">
            <a:extLst>
              <a:ext uri="{FF2B5EF4-FFF2-40B4-BE49-F238E27FC236}">
                <a16:creationId xmlns:a16="http://schemas.microsoft.com/office/drawing/2014/main" id="{2301F80E-DDA2-7461-BEE2-1B4309E9B26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65</a:t>
            </a:fld>
            <a:endParaRPr lang="en-US" dirty="0"/>
          </a:p>
        </p:txBody>
      </p:sp>
    </p:spTree>
    <p:extLst>
      <p:ext uri="{BB962C8B-B14F-4D97-AF65-F5344CB8AC3E}">
        <p14:creationId xmlns:p14="http://schemas.microsoft.com/office/powerpoint/2010/main" val="1763942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Case Study Example: </a:t>
            </a:r>
            <a:br>
              <a:rPr lang="en-US" dirty="0"/>
            </a:br>
            <a:r>
              <a:rPr lang="en-US" dirty="0"/>
              <a:t>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53500" y="1722005"/>
            <a:ext cx="10497344" cy="4551533"/>
            <a:chOff x="493713" y="1387475"/>
            <a:chExt cx="835159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35159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8"/>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06450" cy="609601"/>
              <a:chOff x="474" y="1322"/>
              <a:chExt cx="508" cy="384"/>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4"/>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rPr>
                  <a:t>Ed</a:t>
                </a:r>
                <a:r>
                  <a:rPr lang="ja-JP" altLang="en-US" sz="700" b="0" dirty="0">
                    <a:solidFill>
                      <a:schemeClr val="tx1"/>
                    </a:solidFill>
                    <a:latin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0" y="2139338"/>
              <a:ext cx="878811" cy="422873"/>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09978" y="2820968"/>
            <a:ext cx="1783783" cy="583194"/>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05126" y="3061990"/>
            <a:ext cx="813914" cy="231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07879" y="4177004"/>
            <a:ext cx="1047570" cy="58510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13813" y="4340031"/>
            <a:ext cx="1032690" cy="1603"/>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43689" y="4157825"/>
            <a:ext cx="981724" cy="27781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78257" y="4177004"/>
            <a:ext cx="1047570" cy="58510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84192" y="4340031"/>
            <a:ext cx="1032690" cy="1603"/>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14067" y="4157825"/>
            <a:ext cx="981724" cy="27781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36141" y="4196184"/>
            <a:ext cx="1047570" cy="58510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42075" y="4359211"/>
            <a:ext cx="1032690" cy="1603"/>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71951" y="4177005"/>
            <a:ext cx="981724" cy="27781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75921" y="2863196"/>
            <a:ext cx="1995" cy="1309755"/>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93413" y="3564853"/>
            <a:ext cx="463417" cy="284100"/>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58694" y="3658791"/>
            <a:ext cx="205783" cy="18988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07161" y="3848114"/>
            <a:ext cx="102081" cy="94217"/>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45112" y="3848114"/>
            <a:ext cx="102081" cy="94217"/>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19804" y="3614401"/>
            <a:ext cx="614574" cy="20064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01594" y="4263056"/>
            <a:ext cx="1180144" cy="325097"/>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79522" y="4263056"/>
            <a:ext cx="1180144" cy="325097"/>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10344" y="4263056"/>
            <a:ext cx="1180144" cy="325097"/>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81366" y="4263056"/>
            <a:ext cx="837332" cy="325097"/>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70291" y="4365398"/>
            <a:ext cx="328652" cy="292426"/>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09268" y="4342093"/>
            <a:ext cx="328652" cy="292426"/>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07892" y="4358423"/>
            <a:ext cx="328652" cy="292426"/>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76767" y="4633657"/>
            <a:ext cx="9601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3,200 Sheets</a:t>
            </a:r>
            <a:r>
              <a:rPr lang="en-US" altLang="en-US" sz="1000" b="0" dirty="0">
                <a:solidFill>
                  <a:srgbClr val="FF0000"/>
                </a:solidFill>
                <a:latin typeface="Roboto" panose="02000000000000000000" pitchFamily="2" charset="0"/>
                <a:ea typeface="Roboto" panose="02000000000000000000" pitchFamily="2" charset="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25352" y="4633657"/>
            <a:ext cx="90620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22743" y="4609836"/>
            <a:ext cx="90620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35654" y="4609836"/>
            <a:ext cx="115483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42446" y="4466819"/>
            <a:ext cx="4083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65110" y="4442998"/>
            <a:ext cx="4083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79299" y="4426957"/>
            <a:ext cx="4083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43906" y="4836118"/>
            <a:ext cx="1047570" cy="85058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76773" y="4836118"/>
            <a:ext cx="1047570" cy="85058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07879" y="4836118"/>
            <a:ext cx="1047570" cy="85058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13263" y="5004145"/>
            <a:ext cx="888496" cy="401294"/>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22094" y="2250211"/>
            <a:ext cx="1117660" cy="1962677"/>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Week</a:t>
                </a:r>
              </a:p>
            </p:txBody>
          </p:sp>
        </p:grpSp>
      </p:grpSp>
      <p:grpSp>
        <p:nvGrpSpPr>
          <p:cNvPr id="104" name="Group 87">
            <a:extLst>
              <a:ext uri="{FF2B5EF4-FFF2-40B4-BE49-F238E27FC236}">
                <a16:creationId xmlns:a16="http://schemas.microsoft.com/office/drawing/2014/main" id="{60ABD176-7F11-09E0-73F5-7562338554E9}"/>
              </a:ext>
            </a:extLst>
          </p:cNvPr>
          <p:cNvGrpSpPr>
            <a:grpSpLocks/>
          </p:cNvGrpSpPr>
          <p:nvPr/>
        </p:nvGrpSpPr>
        <p:grpSpPr bwMode="auto">
          <a:xfrm>
            <a:off x="1096789" y="5848454"/>
            <a:ext cx="8046758" cy="311960"/>
            <a:chOff x="577" y="3222"/>
            <a:chExt cx="3916" cy="141"/>
          </a:xfrm>
        </p:grpSpPr>
        <p:sp>
          <p:nvSpPr>
            <p:cNvPr id="105" name="Line 88">
              <a:extLst>
                <a:ext uri="{FF2B5EF4-FFF2-40B4-BE49-F238E27FC236}">
                  <a16:creationId xmlns:a16="http://schemas.microsoft.com/office/drawing/2014/main" id="{4A129C4E-0A22-C824-35E4-13A6D044E5C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6" name="Line 89">
              <a:extLst>
                <a:ext uri="{FF2B5EF4-FFF2-40B4-BE49-F238E27FC236}">
                  <a16:creationId xmlns:a16="http://schemas.microsoft.com/office/drawing/2014/main" id="{E3583B58-0A73-0ED6-E031-4E42021537D1}"/>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7" name="Line 90">
              <a:extLst>
                <a:ext uri="{FF2B5EF4-FFF2-40B4-BE49-F238E27FC236}">
                  <a16:creationId xmlns:a16="http://schemas.microsoft.com/office/drawing/2014/main" id="{138CC10C-0A4E-15B5-D665-B1E93F032425}"/>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8" name="Line 91">
              <a:extLst>
                <a:ext uri="{FF2B5EF4-FFF2-40B4-BE49-F238E27FC236}">
                  <a16:creationId xmlns:a16="http://schemas.microsoft.com/office/drawing/2014/main" id="{D618E110-A8D8-E2D0-0B7F-4D29CC4FA10C}"/>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9" name="Line 92">
              <a:extLst>
                <a:ext uri="{FF2B5EF4-FFF2-40B4-BE49-F238E27FC236}">
                  <a16:creationId xmlns:a16="http://schemas.microsoft.com/office/drawing/2014/main" id="{57982BD8-441F-CBF6-3805-4601EE73ED56}"/>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0" name="Line 93">
              <a:extLst>
                <a:ext uri="{FF2B5EF4-FFF2-40B4-BE49-F238E27FC236}">
                  <a16:creationId xmlns:a16="http://schemas.microsoft.com/office/drawing/2014/main" id="{2A57DD67-1549-AFF6-873E-37968955E4C9}"/>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1" name="Line 94">
              <a:extLst>
                <a:ext uri="{FF2B5EF4-FFF2-40B4-BE49-F238E27FC236}">
                  <a16:creationId xmlns:a16="http://schemas.microsoft.com/office/drawing/2014/main" id="{9148BA8D-19C8-84D3-98E3-B7840E0D1792}"/>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2" name="Line 95">
              <a:extLst>
                <a:ext uri="{FF2B5EF4-FFF2-40B4-BE49-F238E27FC236}">
                  <a16:creationId xmlns:a16="http://schemas.microsoft.com/office/drawing/2014/main" id="{66CBA8A1-4E72-673B-F830-4949AE4EC2A2}"/>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3" name="Line 96">
              <a:extLst>
                <a:ext uri="{FF2B5EF4-FFF2-40B4-BE49-F238E27FC236}">
                  <a16:creationId xmlns:a16="http://schemas.microsoft.com/office/drawing/2014/main" id="{13E79092-00D2-4F20-2C49-A3B216044EA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4" name="Line 97">
              <a:extLst>
                <a:ext uri="{FF2B5EF4-FFF2-40B4-BE49-F238E27FC236}">
                  <a16:creationId xmlns:a16="http://schemas.microsoft.com/office/drawing/2014/main" id="{A7A9CF9D-B944-F9E2-DBF2-8422F2949EEC}"/>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5" name="Line 98">
              <a:extLst>
                <a:ext uri="{FF2B5EF4-FFF2-40B4-BE49-F238E27FC236}">
                  <a16:creationId xmlns:a16="http://schemas.microsoft.com/office/drawing/2014/main" id="{07C12B8B-5ACB-ECB9-96FD-ECCE054B26E4}"/>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6" name="Line 99">
              <a:extLst>
                <a:ext uri="{FF2B5EF4-FFF2-40B4-BE49-F238E27FC236}">
                  <a16:creationId xmlns:a16="http://schemas.microsoft.com/office/drawing/2014/main" id="{18B6404C-18D0-E18C-D7A9-1E284E3E0F1C}"/>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7" name="Line 100">
              <a:extLst>
                <a:ext uri="{FF2B5EF4-FFF2-40B4-BE49-F238E27FC236}">
                  <a16:creationId xmlns:a16="http://schemas.microsoft.com/office/drawing/2014/main" id="{8EC615F2-60A5-305A-89DF-A74C7293EA1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8" name="Rectangle 106">
            <a:extLst>
              <a:ext uri="{FF2B5EF4-FFF2-40B4-BE49-F238E27FC236}">
                <a16:creationId xmlns:a16="http://schemas.microsoft.com/office/drawing/2014/main" id="{2F55FE34-6D0E-3A0E-3540-F39805BD9B2A}"/>
              </a:ext>
            </a:extLst>
          </p:cNvPr>
          <p:cNvSpPr>
            <a:spLocks noChangeArrowheads="1"/>
          </p:cNvSpPr>
          <p:nvPr/>
        </p:nvSpPr>
        <p:spPr bwMode="auto">
          <a:xfrm>
            <a:off x="4563630" y="5901258"/>
            <a:ext cx="834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15 sec</a:t>
            </a:r>
          </a:p>
        </p:txBody>
      </p:sp>
      <p:sp>
        <p:nvSpPr>
          <p:cNvPr id="119" name="Rectangle 106">
            <a:extLst>
              <a:ext uri="{FF2B5EF4-FFF2-40B4-BE49-F238E27FC236}">
                <a16:creationId xmlns:a16="http://schemas.microsoft.com/office/drawing/2014/main" id="{E46658D3-52FD-48AA-DE9A-0D0DA376C621}"/>
              </a:ext>
            </a:extLst>
          </p:cNvPr>
          <p:cNvSpPr>
            <a:spLocks noChangeArrowheads="1"/>
          </p:cNvSpPr>
          <p:nvPr/>
        </p:nvSpPr>
        <p:spPr bwMode="auto">
          <a:xfrm>
            <a:off x="2233794" y="5901258"/>
            <a:ext cx="834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60 sec</a:t>
            </a:r>
          </a:p>
        </p:txBody>
      </p:sp>
      <p:sp>
        <p:nvSpPr>
          <p:cNvPr id="120" name="Rectangle 106">
            <a:extLst>
              <a:ext uri="{FF2B5EF4-FFF2-40B4-BE49-F238E27FC236}">
                <a16:creationId xmlns:a16="http://schemas.microsoft.com/office/drawing/2014/main" id="{480E6255-3CF7-7466-AA26-1C6D995E0988}"/>
              </a:ext>
            </a:extLst>
          </p:cNvPr>
          <p:cNvSpPr>
            <a:spLocks noChangeArrowheads="1"/>
          </p:cNvSpPr>
          <p:nvPr/>
        </p:nvSpPr>
        <p:spPr bwMode="auto">
          <a:xfrm>
            <a:off x="6889811" y="5901258"/>
            <a:ext cx="834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20 sec</a:t>
            </a:r>
          </a:p>
        </p:txBody>
      </p:sp>
      <p:grpSp>
        <p:nvGrpSpPr>
          <p:cNvPr id="121" name="Group 120">
            <a:extLst>
              <a:ext uri="{FF2B5EF4-FFF2-40B4-BE49-F238E27FC236}">
                <a16:creationId xmlns:a16="http://schemas.microsoft.com/office/drawing/2014/main" id="{DFE3510B-A21E-2823-A58A-750D487D1643}"/>
              </a:ext>
            </a:extLst>
          </p:cNvPr>
          <p:cNvGrpSpPr/>
          <p:nvPr/>
        </p:nvGrpSpPr>
        <p:grpSpPr>
          <a:xfrm>
            <a:off x="940004" y="319344"/>
            <a:ext cx="6217883" cy="311851"/>
            <a:chOff x="940249" y="302538"/>
            <a:chExt cx="6219503" cy="311932"/>
          </a:xfrm>
        </p:grpSpPr>
        <p:sp>
          <p:nvSpPr>
            <p:cNvPr id="122" name="TextBox 121">
              <a:extLst>
                <a:ext uri="{FF2B5EF4-FFF2-40B4-BE49-F238E27FC236}">
                  <a16:creationId xmlns:a16="http://schemas.microsoft.com/office/drawing/2014/main" id="{00325AFD-8729-5443-8FE9-A9C3E7D0112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3" name="AutoShape 9">
              <a:extLst>
                <a:ext uri="{FF2B5EF4-FFF2-40B4-BE49-F238E27FC236}">
                  <a16:creationId xmlns:a16="http://schemas.microsoft.com/office/drawing/2014/main" id="{A45D5A06-FEA8-50CB-01FD-3A6E16C77FC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4" name="AutoShape 9">
              <a:extLst>
                <a:ext uri="{FF2B5EF4-FFF2-40B4-BE49-F238E27FC236}">
                  <a16:creationId xmlns:a16="http://schemas.microsoft.com/office/drawing/2014/main" id="{DBBE9B38-79D4-31C9-552B-20AA8E95795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5" name="AutoShape 9">
              <a:extLst>
                <a:ext uri="{FF2B5EF4-FFF2-40B4-BE49-F238E27FC236}">
                  <a16:creationId xmlns:a16="http://schemas.microsoft.com/office/drawing/2014/main" id="{F17D8875-E106-98D1-F3A7-48C766405DE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6" name="AutoShape 9">
              <a:extLst>
                <a:ext uri="{FF2B5EF4-FFF2-40B4-BE49-F238E27FC236}">
                  <a16:creationId xmlns:a16="http://schemas.microsoft.com/office/drawing/2014/main" id="{CEBA32C7-5B32-4446-1D90-628AEA80AE4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7" name="AutoShape 11">
              <a:extLst>
                <a:ext uri="{FF2B5EF4-FFF2-40B4-BE49-F238E27FC236}">
                  <a16:creationId xmlns:a16="http://schemas.microsoft.com/office/drawing/2014/main" id="{F23646AF-FBFB-053A-9459-FF5ABDE2E00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28" name="Slide Number Placeholder 2">
            <a:extLst>
              <a:ext uri="{FF2B5EF4-FFF2-40B4-BE49-F238E27FC236}">
                <a16:creationId xmlns:a16="http://schemas.microsoft.com/office/drawing/2014/main" id="{97710B05-5B3D-E861-A439-52BA89DC14C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66</a:t>
            </a:fld>
            <a:endParaRPr lang="en-US" dirty="0"/>
          </a:p>
        </p:txBody>
      </p:sp>
    </p:spTree>
    <p:extLst>
      <p:ext uri="{BB962C8B-B14F-4D97-AF65-F5344CB8AC3E}">
        <p14:creationId xmlns:p14="http://schemas.microsoft.com/office/powerpoint/2010/main" val="589366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04"/>
                                        </p:tgtEl>
                                        <p:attrNameLst>
                                          <p:attrName>style.visibility</p:attrName>
                                        </p:attrNameLst>
                                      </p:cBhvr>
                                      <p:to>
                                        <p:strVal val="visible"/>
                                      </p:to>
                                    </p:set>
                                    <p:animEffect transition="in" filter="dissolve">
                                      <p:cBhvr>
                                        <p:cTn id="69" dur="500"/>
                                        <p:tgtEl>
                                          <p:spTgt spid="104"/>
                                        </p:tgtEl>
                                      </p:cBhvr>
                                    </p:animEffec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118"/>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119"/>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18" grpId="0"/>
      <p:bldP spid="119" grpId="0"/>
      <p:bldP spid="12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Calculating Lead Time for each Process</a:t>
            </a:r>
            <a:endParaRPr lang="en-US" dirty="0"/>
          </a:p>
        </p:txBody>
      </p:sp>
      <p:grpSp>
        <p:nvGrpSpPr>
          <p:cNvPr id="104" name="Group 87">
            <a:extLst>
              <a:ext uri="{FF2B5EF4-FFF2-40B4-BE49-F238E27FC236}">
                <a16:creationId xmlns:a16="http://schemas.microsoft.com/office/drawing/2014/main" id="{60ABD176-7F11-09E0-73F5-7562338554E9}"/>
              </a:ext>
            </a:extLst>
          </p:cNvPr>
          <p:cNvGrpSpPr>
            <a:grpSpLocks/>
          </p:cNvGrpSpPr>
          <p:nvPr/>
        </p:nvGrpSpPr>
        <p:grpSpPr bwMode="auto">
          <a:xfrm>
            <a:off x="1115306" y="-1880849"/>
            <a:ext cx="8023014" cy="7415409"/>
            <a:chOff x="577" y="3226"/>
            <a:chExt cx="3916" cy="7415409"/>
          </a:xfrm>
        </p:grpSpPr>
        <p:sp>
          <p:nvSpPr>
            <p:cNvPr id="105" name="Line 88">
              <a:extLst>
                <a:ext uri="{FF2B5EF4-FFF2-40B4-BE49-F238E27FC236}">
                  <a16:creationId xmlns:a16="http://schemas.microsoft.com/office/drawing/2014/main" id="{4A129C4E-0A22-C824-35E4-13A6D044E5C1}"/>
                </a:ext>
              </a:extLst>
            </p:cNvPr>
            <p:cNvSpPr>
              <a:spLocks noChangeShapeType="1"/>
            </p:cNvSpPr>
            <p:nvPr/>
          </p:nvSpPr>
          <p:spPr bwMode="auto">
            <a:xfrm flipV="1">
              <a:off x="577" y="7116419"/>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6" name="Line 89">
              <a:extLst>
                <a:ext uri="{FF2B5EF4-FFF2-40B4-BE49-F238E27FC236}">
                  <a16:creationId xmlns:a16="http://schemas.microsoft.com/office/drawing/2014/main" id="{E3583B58-0A73-0ED6-E031-4E42021537D1}"/>
                </a:ext>
              </a:extLst>
            </p:cNvPr>
            <p:cNvSpPr>
              <a:spLocks noChangeShapeType="1"/>
            </p:cNvSpPr>
            <p:nvPr/>
          </p:nvSpPr>
          <p:spPr bwMode="auto">
            <a:xfrm>
              <a:off x="1014"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7" name="Line 90">
              <a:extLst>
                <a:ext uri="{FF2B5EF4-FFF2-40B4-BE49-F238E27FC236}">
                  <a16:creationId xmlns:a16="http://schemas.microsoft.com/office/drawing/2014/main" id="{138CC10C-0A4E-15B5-D665-B1E93F032425}"/>
                </a:ext>
              </a:extLst>
            </p:cNvPr>
            <p:cNvSpPr>
              <a:spLocks noChangeShapeType="1"/>
            </p:cNvSpPr>
            <p:nvPr/>
          </p:nvSpPr>
          <p:spPr bwMode="auto">
            <a:xfrm flipV="1">
              <a:off x="1009" y="7416429"/>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8" name="Line 91">
              <a:extLst>
                <a:ext uri="{FF2B5EF4-FFF2-40B4-BE49-F238E27FC236}">
                  <a16:creationId xmlns:a16="http://schemas.microsoft.com/office/drawing/2014/main" id="{D618E110-A8D8-E2D0-0B7F-4D29CC4FA10C}"/>
                </a:ext>
              </a:extLst>
            </p:cNvPr>
            <p:cNvSpPr>
              <a:spLocks noChangeShapeType="1"/>
            </p:cNvSpPr>
            <p:nvPr/>
          </p:nvSpPr>
          <p:spPr bwMode="auto">
            <a:xfrm>
              <a:off x="1536"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9" name="Line 92">
              <a:extLst>
                <a:ext uri="{FF2B5EF4-FFF2-40B4-BE49-F238E27FC236}">
                  <a16:creationId xmlns:a16="http://schemas.microsoft.com/office/drawing/2014/main" id="{57982BD8-441F-CBF6-3805-4601EE73ED56}"/>
                </a:ext>
              </a:extLst>
            </p:cNvPr>
            <p:cNvSpPr>
              <a:spLocks noChangeShapeType="1"/>
            </p:cNvSpPr>
            <p:nvPr/>
          </p:nvSpPr>
          <p:spPr bwMode="auto">
            <a:xfrm>
              <a:off x="2148"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0" name="Line 93">
              <a:extLst>
                <a:ext uri="{FF2B5EF4-FFF2-40B4-BE49-F238E27FC236}">
                  <a16:creationId xmlns:a16="http://schemas.microsoft.com/office/drawing/2014/main" id="{2A57DD67-1549-AFF6-873E-37968955E4C9}"/>
                </a:ext>
              </a:extLst>
            </p:cNvPr>
            <p:cNvSpPr>
              <a:spLocks noChangeShapeType="1"/>
            </p:cNvSpPr>
            <p:nvPr/>
          </p:nvSpPr>
          <p:spPr bwMode="auto">
            <a:xfrm>
              <a:off x="1538" y="7116419"/>
              <a:ext cx="606" cy="220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1" name="Line 94">
              <a:extLst>
                <a:ext uri="{FF2B5EF4-FFF2-40B4-BE49-F238E27FC236}">
                  <a16:creationId xmlns:a16="http://schemas.microsoft.com/office/drawing/2014/main" id="{9148BA8D-19C8-84D3-98E3-B7840E0D1792}"/>
                </a:ext>
              </a:extLst>
            </p:cNvPr>
            <p:cNvSpPr>
              <a:spLocks noChangeShapeType="1"/>
            </p:cNvSpPr>
            <p:nvPr/>
          </p:nvSpPr>
          <p:spPr bwMode="auto">
            <a:xfrm>
              <a:off x="2673"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2" name="Line 95">
              <a:extLst>
                <a:ext uri="{FF2B5EF4-FFF2-40B4-BE49-F238E27FC236}">
                  <a16:creationId xmlns:a16="http://schemas.microsoft.com/office/drawing/2014/main" id="{66CBA8A1-4E72-673B-F830-4949AE4EC2A2}"/>
                </a:ext>
              </a:extLst>
            </p:cNvPr>
            <p:cNvSpPr>
              <a:spLocks noChangeShapeType="1"/>
            </p:cNvSpPr>
            <p:nvPr/>
          </p:nvSpPr>
          <p:spPr bwMode="auto">
            <a:xfrm>
              <a:off x="3285"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3" name="Line 96">
              <a:extLst>
                <a:ext uri="{FF2B5EF4-FFF2-40B4-BE49-F238E27FC236}">
                  <a16:creationId xmlns:a16="http://schemas.microsoft.com/office/drawing/2014/main" id="{13E79092-00D2-4F20-2C49-A3B216044EA4}"/>
                </a:ext>
              </a:extLst>
            </p:cNvPr>
            <p:cNvSpPr>
              <a:spLocks noChangeShapeType="1"/>
            </p:cNvSpPr>
            <p:nvPr/>
          </p:nvSpPr>
          <p:spPr bwMode="auto">
            <a:xfrm>
              <a:off x="3813" y="7107595"/>
              <a:ext cx="0" cy="311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4" name="Line 97">
              <a:extLst>
                <a:ext uri="{FF2B5EF4-FFF2-40B4-BE49-F238E27FC236}">
                  <a16:creationId xmlns:a16="http://schemas.microsoft.com/office/drawing/2014/main" id="{A7A9CF9D-B944-F9E2-DBF2-8422F2949EEC}"/>
                </a:ext>
              </a:extLst>
            </p:cNvPr>
            <p:cNvSpPr>
              <a:spLocks noChangeShapeType="1"/>
            </p:cNvSpPr>
            <p:nvPr/>
          </p:nvSpPr>
          <p:spPr bwMode="auto">
            <a:xfrm flipV="1">
              <a:off x="2146" y="7416429"/>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5" name="Line 98">
              <a:extLst>
                <a:ext uri="{FF2B5EF4-FFF2-40B4-BE49-F238E27FC236}">
                  <a16:creationId xmlns:a16="http://schemas.microsoft.com/office/drawing/2014/main" id="{07C12B8B-5ACB-ECB9-96FD-ECCE054B26E4}"/>
                </a:ext>
              </a:extLst>
            </p:cNvPr>
            <p:cNvSpPr>
              <a:spLocks noChangeShapeType="1"/>
            </p:cNvSpPr>
            <p:nvPr/>
          </p:nvSpPr>
          <p:spPr bwMode="auto">
            <a:xfrm flipV="1">
              <a:off x="3289" y="7416429"/>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6" name="Line 99">
              <a:extLst>
                <a:ext uri="{FF2B5EF4-FFF2-40B4-BE49-F238E27FC236}">
                  <a16:creationId xmlns:a16="http://schemas.microsoft.com/office/drawing/2014/main" id="{18B6404C-18D0-E18C-D7A9-1E284E3E0F1C}"/>
                </a:ext>
              </a:extLst>
            </p:cNvPr>
            <p:cNvSpPr>
              <a:spLocks noChangeShapeType="1"/>
            </p:cNvSpPr>
            <p:nvPr/>
          </p:nvSpPr>
          <p:spPr bwMode="auto">
            <a:xfrm>
              <a:off x="2671" y="7116419"/>
              <a:ext cx="611" cy="220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7" name="Line 100">
              <a:extLst>
                <a:ext uri="{FF2B5EF4-FFF2-40B4-BE49-F238E27FC236}">
                  <a16:creationId xmlns:a16="http://schemas.microsoft.com/office/drawing/2014/main" id="{8EC615F2-60A5-305A-89DF-A74C7293EA1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41" name="Group 40">
            <a:extLst>
              <a:ext uri="{FF2B5EF4-FFF2-40B4-BE49-F238E27FC236}">
                <a16:creationId xmlns:a16="http://schemas.microsoft.com/office/drawing/2014/main" id="{DB46C7AA-722C-A5A8-B4DC-69EE20D495B1}"/>
              </a:ext>
            </a:extLst>
          </p:cNvPr>
          <p:cNvGrpSpPr/>
          <p:nvPr/>
        </p:nvGrpSpPr>
        <p:grpSpPr>
          <a:xfrm>
            <a:off x="924204" y="3144913"/>
            <a:ext cx="9828677" cy="3056168"/>
            <a:chOff x="872018" y="2562673"/>
            <a:chExt cx="10285631" cy="3198255"/>
          </a:xfrm>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872018" y="2562673"/>
              <a:ext cx="10285631" cy="3198255"/>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9054764" y="3532884"/>
              <a:ext cx="1044480" cy="602561"/>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81"/>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grpSp>
        <p:grpSp>
          <p:nvGrpSpPr>
            <p:cNvPr id="121" name="Group 120">
              <a:extLst>
                <a:ext uri="{FF2B5EF4-FFF2-40B4-BE49-F238E27FC236}">
                  <a16:creationId xmlns:a16="http://schemas.microsoft.com/office/drawing/2014/main" id="{1A7D08AD-6CC0-A33A-D7EA-253E5ACF7CCB}"/>
                </a:ext>
              </a:extLst>
            </p:cNvPr>
            <p:cNvGrpSpPr/>
            <p:nvPr/>
          </p:nvGrpSpPr>
          <p:grpSpPr>
            <a:xfrm>
              <a:off x="1390776" y="2716013"/>
              <a:ext cx="1829334" cy="581473"/>
              <a:chOff x="2782276" y="5431656"/>
              <a:chExt cx="3659622" cy="1163248"/>
            </a:xfrm>
          </p:grpSpPr>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2782276" y="5431656"/>
                <a:ext cx="3557967" cy="1163248"/>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4685705" y="5936571"/>
                <a:ext cx="1756193" cy="483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accent1"/>
                    </a:solidFill>
                    <a:latin typeface="+mn-lt"/>
                  </a:rPr>
                  <a:t>= </a:t>
                </a:r>
                <a:r>
                  <a:rPr lang="en-US" altLang="en-US" dirty="0">
                    <a:solidFill>
                      <a:schemeClr val="accent1"/>
                    </a:solidFill>
                    <a:latin typeface="+mn-lt"/>
                  </a:rPr>
                  <a:t>18 seconds</a:t>
                </a:r>
              </a:p>
            </p:txBody>
          </p:sp>
        </p:gr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48312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8987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8987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0" y="3638123"/>
              <a:ext cx="1176661"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38" y="3638123"/>
              <a:ext cx="1176661"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0" y="3638123"/>
              <a:ext cx="1176661"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8" y="3638123"/>
              <a:ext cx="834862"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008723"/>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008723"/>
              <a:ext cx="951495"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3984902"/>
              <a:ext cx="951495"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3984902"/>
              <a:ext cx="1211512"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3841885"/>
              <a:ext cx="376103"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3818063"/>
              <a:ext cx="376103"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3802023"/>
              <a:ext cx="376103" cy="257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579754"/>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sp>
          <p:nvSpPr>
            <p:cNvPr id="118" name="Rectangle 106">
              <a:extLst>
                <a:ext uri="{FF2B5EF4-FFF2-40B4-BE49-F238E27FC236}">
                  <a16:creationId xmlns:a16="http://schemas.microsoft.com/office/drawing/2014/main" id="{2F55FE34-6D0E-3A0E-3540-F39805BD9B2A}"/>
                </a:ext>
              </a:extLst>
            </p:cNvPr>
            <p:cNvSpPr>
              <a:spLocks noChangeArrowheads="1"/>
            </p:cNvSpPr>
            <p:nvPr/>
          </p:nvSpPr>
          <p:spPr bwMode="auto">
            <a:xfrm>
              <a:off x="4582149" y="5276325"/>
              <a:ext cx="681319"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15 sec</a:t>
              </a:r>
            </a:p>
          </p:txBody>
        </p:sp>
        <p:sp>
          <p:nvSpPr>
            <p:cNvPr id="119" name="Rectangle 106">
              <a:extLst>
                <a:ext uri="{FF2B5EF4-FFF2-40B4-BE49-F238E27FC236}">
                  <a16:creationId xmlns:a16="http://schemas.microsoft.com/office/drawing/2014/main" id="{E46658D3-52FD-48AA-DE9A-0D0DA376C621}"/>
                </a:ext>
              </a:extLst>
            </p:cNvPr>
            <p:cNvSpPr>
              <a:spLocks noChangeArrowheads="1"/>
            </p:cNvSpPr>
            <p:nvPr/>
          </p:nvSpPr>
          <p:spPr bwMode="auto">
            <a:xfrm>
              <a:off x="2252313" y="5276325"/>
              <a:ext cx="681319"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60 sec</a:t>
              </a:r>
            </a:p>
          </p:txBody>
        </p:sp>
        <p:sp>
          <p:nvSpPr>
            <p:cNvPr id="120" name="Rectangle 106">
              <a:extLst>
                <a:ext uri="{FF2B5EF4-FFF2-40B4-BE49-F238E27FC236}">
                  <a16:creationId xmlns:a16="http://schemas.microsoft.com/office/drawing/2014/main" id="{480E6255-3CF7-7466-AA26-1C6D995E0988}"/>
                </a:ext>
              </a:extLst>
            </p:cNvPr>
            <p:cNvSpPr>
              <a:spLocks noChangeArrowheads="1"/>
            </p:cNvSpPr>
            <p:nvPr/>
          </p:nvSpPr>
          <p:spPr bwMode="auto">
            <a:xfrm>
              <a:off x="6908330" y="5276325"/>
              <a:ext cx="681319"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20 sec</a:t>
              </a:r>
            </a:p>
          </p:txBody>
        </p:sp>
        <p:sp>
          <p:nvSpPr>
            <p:cNvPr id="122" name="Text Box 42">
              <a:extLst>
                <a:ext uri="{FF2B5EF4-FFF2-40B4-BE49-F238E27FC236}">
                  <a16:creationId xmlns:a16="http://schemas.microsoft.com/office/drawing/2014/main" id="{6818E073-D970-E436-92E1-107F8527B428}"/>
                </a:ext>
              </a:extLst>
            </p:cNvPr>
            <p:cNvSpPr txBox="1">
              <a:spLocks noChangeArrowheads="1"/>
            </p:cNvSpPr>
            <p:nvPr/>
          </p:nvSpPr>
          <p:spPr bwMode="auto">
            <a:xfrm>
              <a:off x="3383897" y="2819522"/>
              <a:ext cx="1471571" cy="48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spcBef>
                  <a:spcPct val="50000"/>
                </a:spcBef>
              </a:pPr>
              <a:r>
                <a:rPr lang="en-US" altLang="en-US" sz="1200" dirty="0">
                  <a:solidFill>
                    <a:schemeClr val="accent1"/>
                  </a:solidFill>
                  <a:latin typeface="+mn-lt"/>
                </a:rPr>
                <a:t>Daily Demand = 1,500  pieces</a:t>
              </a:r>
            </a:p>
          </p:txBody>
        </p:sp>
        <p:sp>
          <p:nvSpPr>
            <p:cNvPr id="123" name="Rectangle 106">
              <a:extLst>
                <a:ext uri="{FF2B5EF4-FFF2-40B4-BE49-F238E27FC236}">
                  <a16:creationId xmlns:a16="http://schemas.microsoft.com/office/drawing/2014/main" id="{B888D443-4E1C-A72C-0AA5-41B8FD4458EF}"/>
                </a:ext>
              </a:extLst>
            </p:cNvPr>
            <p:cNvSpPr>
              <a:spLocks noChangeArrowheads="1"/>
            </p:cNvSpPr>
            <p:nvPr/>
          </p:nvSpPr>
          <p:spPr bwMode="auto">
            <a:xfrm>
              <a:off x="1173413" y="5001573"/>
              <a:ext cx="829233"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8.5 days</a:t>
              </a:r>
            </a:p>
          </p:txBody>
        </p:sp>
        <p:sp>
          <p:nvSpPr>
            <p:cNvPr id="124" name="Rectangle 106">
              <a:extLst>
                <a:ext uri="{FF2B5EF4-FFF2-40B4-BE49-F238E27FC236}">
                  <a16:creationId xmlns:a16="http://schemas.microsoft.com/office/drawing/2014/main" id="{AE5FB844-5FB8-C1B8-81C5-4C3E2505C5F6}"/>
                </a:ext>
              </a:extLst>
            </p:cNvPr>
            <p:cNvSpPr>
              <a:spLocks noChangeArrowheads="1"/>
            </p:cNvSpPr>
            <p:nvPr/>
          </p:nvSpPr>
          <p:spPr bwMode="auto">
            <a:xfrm>
              <a:off x="3353939" y="5003779"/>
              <a:ext cx="829233"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3.5 days</a:t>
              </a:r>
            </a:p>
          </p:txBody>
        </p:sp>
        <p:sp>
          <p:nvSpPr>
            <p:cNvPr id="125" name="Rectangle 106">
              <a:extLst>
                <a:ext uri="{FF2B5EF4-FFF2-40B4-BE49-F238E27FC236}">
                  <a16:creationId xmlns:a16="http://schemas.microsoft.com/office/drawing/2014/main" id="{FE427B78-2DBB-F238-861E-16467F83F15F}"/>
                </a:ext>
              </a:extLst>
            </p:cNvPr>
            <p:cNvSpPr>
              <a:spLocks noChangeArrowheads="1"/>
            </p:cNvSpPr>
            <p:nvPr/>
          </p:nvSpPr>
          <p:spPr bwMode="auto">
            <a:xfrm>
              <a:off x="5682386" y="5003779"/>
              <a:ext cx="829233"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6.2 days</a:t>
              </a:r>
            </a:p>
          </p:txBody>
        </p:sp>
        <p:sp>
          <p:nvSpPr>
            <p:cNvPr id="126" name="Rectangle 106">
              <a:extLst>
                <a:ext uri="{FF2B5EF4-FFF2-40B4-BE49-F238E27FC236}">
                  <a16:creationId xmlns:a16="http://schemas.microsoft.com/office/drawing/2014/main" id="{2066C938-81F1-0910-FDC1-BDDEFD6A1535}"/>
                </a:ext>
              </a:extLst>
            </p:cNvPr>
            <p:cNvSpPr>
              <a:spLocks noChangeArrowheads="1"/>
            </p:cNvSpPr>
            <p:nvPr/>
          </p:nvSpPr>
          <p:spPr bwMode="auto">
            <a:xfrm>
              <a:off x="8097863" y="4991332"/>
              <a:ext cx="829233" cy="28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1.5 days</a:t>
              </a:r>
            </a:p>
          </p:txBody>
        </p:sp>
      </p:grpSp>
      <p:sp>
        <p:nvSpPr>
          <p:cNvPr id="127" name="TextBox 126">
            <a:extLst>
              <a:ext uri="{FF2B5EF4-FFF2-40B4-BE49-F238E27FC236}">
                <a16:creationId xmlns:a16="http://schemas.microsoft.com/office/drawing/2014/main" id="{371DD8A1-548F-8E1C-3290-A7C268804000}"/>
              </a:ext>
            </a:extLst>
          </p:cNvPr>
          <p:cNvSpPr txBox="1"/>
          <p:nvPr/>
        </p:nvSpPr>
        <p:spPr>
          <a:xfrm>
            <a:off x="934870" y="1867209"/>
            <a:ext cx="4237129" cy="9746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Divide the amount of inventory by the daily demand to derive lead time for that process</a:t>
            </a:r>
          </a:p>
        </p:txBody>
      </p:sp>
      <p:sp>
        <p:nvSpPr>
          <p:cNvPr id="128" name="TextBox 127">
            <a:extLst>
              <a:ext uri="{FF2B5EF4-FFF2-40B4-BE49-F238E27FC236}">
                <a16:creationId xmlns:a16="http://schemas.microsoft.com/office/drawing/2014/main" id="{ABB846E8-2D0A-51B1-0365-E520FF8F5C66}"/>
              </a:ext>
            </a:extLst>
          </p:cNvPr>
          <p:cNvSpPr txBox="1"/>
          <p:nvPr/>
        </p:nvSpPr>
        <p:spPr>
          <a:xfrm>
            <a:off x="5850507" y="1782192"/>
            <a:ext cx="4460424" cy="12823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Cut: 3,200*4/1,500 = </a:t>
            </a:r>
            <a:r>
              <a:rPr lang="en-US" sz="2000" dirty="0">
                <a:solidFill>
                  <a:srgbClr val="EE3228"/>
                </a:solidFill>
                <a:latin typeface="Roboto" panose="02000000000000000000" pitchFamily="2" charset="0"/>
                <a:ea typeface="Roboto" panose="02000000000000000000" pitchFamily="2" charset="0"/>
              </a:rPr>
              <a:t>8.5 days</a:t>
            </a:r>
          </a:p>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Stamp: 5,250/1,500 = </a:t>
            </a:r>
            <a:r>
              <a:rPr lang="en-US" sz="2000" dirty="0">
                <a:solidFill>
                  <a:srgbClr val="EE3228"/>
                </a:solidFill>
                <a:latin typeface="Roboto" panose="02000000000000000000" pitchFamily="2" charset="0"/>
                <a:ea typeface="Roboto" panose="02000000000000000000" pitchFamily="2" charset="0"/>
              </a:rPr>
              <a:t>3.5 days</a:t>
            </a:r>
          </a:p>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Brake Form: 9,300/1,500 = </a:t>
            </a:r>
            <a:r>
              <a:rPr lang="en-US" sz="2000" dirty="0">
                <a:solidFill>
                  <a:srgbClr val="EE3228"/>
                </a:solidFill>
                <a:latin typeface="Roboto" panose="02000000000000000000" pitchFamily="2" charset="0"/>
                <a:ea typeface="Roboto" panose="02000000000000000000" pitchFamily="2" charset="0"/>
              </a:rPr>
              <a:t>6.2 days</a:t>
            </a:r>
          </a:p>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Ship: 2,300/1,500 = </a:t>
            </a:r>
            <a:r>
              <a:rPr lang="en-US" sz="2000" dirty="0">
                <a:solidFill>
                  <a:srgbClr val="EE3228"/>
                </a:solidFill>
                <a:latin typeface="Roboto" panose="02000000000000000000" pitchFamily="2" charset="0"/>
                <a:ea typeface="Roboto" panose="02000000000000000000" pitchFamily="2" charset="0"/>
              </a:rPr>
              <a:t>1.5 days</a:t>
            </a:r>
          </a:p>
        </p:txBody>
      </p:sp>
      <p:grpSp>
        <p:nvGrpSpPr>
          <p:cNvPr id="9" name="Group 8">
            <a:extLst>
              <a:ext uri="{FF2B5EF4-FFF2-40B4-BE49-F238E27FC236}">
                <a16:creationId xmlns:a16="http://schemas.microsoft.com/office/drawing/2014/main" id="{856C596C-535A-6EBA-F6D5-B66B100F8B1D}"/>
              </a:ext>
            </a:extLst>
          </p:cNvPr>
          <p:cNvGrpSpPr/>
          <p:nvPr/>
        </p:nvGrpSpPr>
        <p:grpSpPr>
          <a:xfrm>
            <a:off x="940004" y="319344"/>
            <a:ext cx="6217883" cy="311851"/>
            <a:chOff x="940249" y="302538"/>
            <a:chExt cx="6219503" cy="311932"/>
          </a:xfrm>
        </p:grpSpPr>
        <p:sp>
          <p:nvSpPr>
            <p:cNvPr id="21" name="TextBox 20">
              <a:extLst>
                <a:ext uri="{FF2B5EF4-FFF2-40B4-BE49-F238E27FC236}">
                  <a16:creationId xmlns:a16="http://schemas.microsoft.com/office/drawing/2014/main" id="{3F742981-527C-DBAC-F919-6B871687873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1247E7E0-20B9-DD81-1D95-A22236BADDD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0" name="AutoShape 9">
              <a:extLst>
                <a:ext uri="{FF2B5EF4-FFF2-40B4-BE49-F238E27FC236}">
                  <a16:creationId xmlns:a16="http://schemas.microsoft.com/office/drawing/2014/main" id="{3DBC48FA-14DC-8CD8-160F-F5F3D4BAFB9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6" name="AutoShape 9">
              <a:extLst>
                <a:ext uri="{FF2B5EF4-FFF2-40B4-BE49-F238E27FC236}">
                  <a16:creationId xmlns:a16="http://schemas.microsoft.com/office/drawing/2014/main" id="{A69E6445-9C4B-9544-BB51-BF1FF6CBFAE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7" name="AutoShape 9">
              <a:extLst>
                <a:ext uri="{FF2B5EF4-FFF2-40B4-BE49-F238E27FC236}">
                  <a16:creationId xmlns:a16="http://schemas.microsoft.com/office/drawing/2014/main" id="{837BF5A4-24F9-2D19-0A89-DBB43F74E010}"/>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8" name="AutoShape 11">
              <a:extLst>
                <a:ext uri="{FF2B5EF4-FFF2-40B4-BE49-F238E27FC236}">
                  <a16:creationId xmlns:a16="http://schemas.microsoft.com/office/drawing/2014/main" id="{4F984C59-61B7-669E-6FEA-02F026E1AB7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39" name="Slide Number Placeholder 2">
            <a:extLst>
              <a:ext uri="{FF2B5EF4-FFF2-40B4-BE49-F238E27FC236}">
                <a16:creationId xmlns:a16="http://schemas.microsoft.com/office/drawing/2014/main" id="{58DA33B1-A038-76D6-8998-ACE571E2C86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67</a:t>
            </a:fld>
            <a:endParaRPr lang="en-US" dirty="0"/>
          </a:p>
        </p:txBody>
      </p:sp>
      <p:sp>
        <p:nvSpPr>
          <p:cNvPr id="40" name="TextBox 39">
            <a:extLst>
              <a:ext uri="{FF2B5EF4-FFF2-40B4-BE49-F238E27FC236}">
                <a16:creationId xmlns:a16="http://schemas.microsoft.com/office/drawing/2014/main" id="{909BCF43-F78E-5AF4-4C29-286C89DCC90A}"/>
              </a:ext>
            </a:extLst>
          </p:cNvPr>
          <p:cNvSpPr txBox="1"/>
          <p:nvPr/>
        </p:nvSpPr>
        <p:spPr>
          <a:xfrm>
            <a:off x="3553660" y="2199190"/>
            <a:ext cx="184731" cy="523092"/>
          </a:xfrm>
          <a:prstGeom prst="rect">
            <a:avLst/>
          </a:prstGeom>
          <a:noFill/>
        </p:spPr>
        <p:txBody>
          <a:bodyPr wrap="none" rtlCol="0">
            <a:spAutoFit/>
          </a:bodyPr>
          <a:lstStyle/>
          <a:p>
            <a:endParaRPr lang="en-US" dirty="0"/>
          </a:p>
        </p:txBody>
      </p:sp>
      <p:grpSp>
        <p:nvGrpSpPr>
          <p:cNvPr id="12" name="Group 87">
            <a:extLst>
              <a:ext uri="{FF2B5EF4-FFF2-40B4-BE49-F238E27FC236}">
                <a16:creationId xmlns:a16="http://schemas.microsoft.com/office/drawing/2014/main" id="{2912CABC-67B2-31B2-0A76-8697E89D8B60}"/>
              </a:ext>
            </a:extLst>
          </p:cNvPr>
          <p:cNvGrpSpPr>
            <a:grpSpLocks/>
          </p:cNvGrpSpPr>
          <p:nvPr/>
        </p:nvGrpSpPr>
        <p:grpSpPr bwMode="auto">
          <a:xfrm>
            <a:off x="994979" y="5729322"/>
            <a:ext cx="7782661" cy="402757"/>
            <a:chOff x="577" y="3222"/>
            <a:chExt cx="3916" cy="141"/>
          </a:xfrm>
        </p:grpSpPr>
        <p:sp>
          <p:nvSpPr>
            <p:cNvPr id="13" name="Line 88">
              <a:extLst>
                <a:ext uri="{FF2B5EF4-FFF2-40B4-BE49-F238E27FC236}">
                  <a16:creationId xmlns:a16="http://schemas.microsoft.com/office/drawing/2014/main" id="{DA5420C4-9532-4F8D-ACFD-3F9DF0BF868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 name="Line 89">
              <a:extLst>
                <a:ext uri="{FF2B5EF4-FFF2-40B4-BE49-F238E27FC236}">
                  <a16:creationId xmlns:a16="http://schemas.microsoft.com/office/drawing/2014/main" id="{68382850-6E07-8CCD-3751-7A32055EB82F}"/>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 name="Line 90">
              <a:extLst>
                <a:ext uri="{FF2B5EF4-FFF2-40B4-BE49-F238E27FC236}">
                  <a16:creationId xmlns:a16="http://schemas.microsoft.com/office/drawing/2014/main" id="{5D44E0FA-7A5B-8B0E-AF8E-97C4F5D542A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91">
              <a:extLst>
                <a:ext uri="{FF2B5EF4-FFF2-40B4-BE49-F238E27FC236}">
                  <a16:creationId xmlns:a16="http://schemas.microsoft.com/office/drawing/2014/main" id="{59BED621-CDBE-AA9D-33CE-C24EEBB781BE}"/>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 name="Line 92">
              <a:extLst>
                <a:ext uri="{FF2B5EF4-FFF2-40B4-BE49-F238E27FC236}">
                  <a16:creationId xmlns:a16="http://schemas.microsoft.com/office/drawing/2014/main" id="{78107100-7967-1C61-9B0F-7FCAEC036F15}"/>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 name="Line 93">
              <a:extLst>
                <a:ext uri="{FF2B5EF4-FFF2-40B4-BE49-F238E27FC236}">
                  <a16:creationId xmlns:a16="http://schemas.microsoft.com/office/drawing/2014/main" id="{4DCA506B-46B9-9A4C-53EB-B0B28055397B}"/>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94">
              <a:extLst>
                <a:ext uri="{FF2B5EF4-FFF2-40B4-BE49-F238E27FC236}">
                  <a16:creationId xmlns:a16="http://schemas.microsoft.com/office/drawing/2014/main" id="{A41CDFE5-18F7-F0E8-CE4F-A827E052893D}"/>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 name="Line 95">
              <a:extLst>
                <a:ext uri="{FF2B5EF4-FFF2-40B4-BE49-F238E27FC236}">
                  <a16:creationId xmlns:a16="http://schemas.microsoft.com/office/drawing/2014/main" id="{998F35B3-9933-8F40-22D1-FFACE8E09452}"/>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 name="Line 96">
              <a:extLst>
                <a:ext uri="{FF2B5EF4-FFF2-40B4-BE49-F238E27FC236}">
                  <a16:creationId xmlns:a16="http://schemas.microsoft.com/office/drawing/2014/main" id="{766BAE90-C0B7-EEE0-2EFE-6422E2A10CF1}"/>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 name="Line 97">
              <a:extLst>
                <a:ext uri="{FF2B5EF4-FFF2-40B4-BE49-F238E27FC236}">
                  <a16:creationId xmlns:a16="http://schemas.microsoft.com/office/drawing/2014/main" id="{AE92638C-4DA0-5C24-385F-211D445DF29E}"/>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 name="Line 98">
              <a:extLst>
                <a:ext uri="{FF2B5EF4-FFF2-40B4-BE49-F238E27FC236}">
                  <a16:creationId xmlns:a16="http://schemas.microsoft.com/office/drawing/2014/main" id="{C34D1B06-F7F7-48AD-DD37-A71742CCE831}"/>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 name="Line 99">
              <a:extLst>
                <a:ext uri="{FF2B5EF4-FFF2-40B4-BE49-F238E27FC236}">
                  <a16:creationId xmlns:a16="http://schemas.microsoft.com/office/drawing/2014/main" id="{611179EA-202A-5C86-FE90-B600784B289F}"/>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7" name="Line 100">
              <a:extLst>
                <a:ext uri="{FF2B5EF4-FFF2-40B4-BE49-F238E27FC236}">
                  <a16:creationId xmlns:a16="http://schemas.microsoft.com/office/drawing/2014/main" id="{DE637469-4949-E0B2-8E30-817F77A570BC}"/>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Tree>
    <p:extLst>
      <p:ext uri="{BB962C8B-B14F-4D97-AF65-F5344CB8AC3E}">
        <p14:creationId xmlns:p14="http://schemas.microsoft.com/office/powerpoint/2010/main" val="2442421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dissolve">
                                      <p:cBhvr>
                                        <p:cTn id="7" dur="500"/>
                                        <p:tgtEl>
                                          <p:spTgt spid="10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Calculating Totals</a:t>
            </a:r>
            <a:endParaRPr lang="en-US" dirty="0"/>
          </a:p>
        </p:txBody>
      </p:sp>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872018" y="3337929"/>
            <a:ext cx="10285631" cy="2643186"/>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p>
        </p:txBody>
      </p:sp>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9054764" y="4100416"/>
            <a:ext cx="1044480" cy="482134"/>
            <a:chOff x="418" y="2981"/>
            <a:chExt cx="352" cy="365"/>
          </a:xfrm>
          <a:solidFill>
            <a:schemeClr val="bg1"/>
          </a:solid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9090575" y="4054606"/>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9295408" y="5460074"/>
            <a:ext cx="1677913" cy="4805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9278355" y="5530886"/>
            <a:ext cx="1887487" cy="417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Production L.T. = 19.7 days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Processing Time = 95 seconds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9334627" y="5735753"/>
            <a:ext cx="1597769" cy="422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4100415"/>
            <a:ext cx="1044479" cy="48213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4212959"/>
            <a:ext cx="1029643" cy="1321"/>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4054650"/>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4100415"/>
            <a:ext cx="1044479" cy="48213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4212959"/>
            <a:ext cx="1029643" cy="1321"/>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4054650"/>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4119595"/>
            <a:ext cx="1044479" cy="48213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232139"/>
            <a:ext cx="1029643" cy="1321"/>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4073830"/>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3220112" y="4329149"/>
            <a:ext cx="1176662" cy="11047"/>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3561914" y="4163973"/>
            <a:ext cx="412519" cy="267883"/>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5498040" y="4329149"/>
            <a:ext cx="1176662" cy="11047"/>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5839842" y="4163973"/>
            <a:ext cx="412519" cy="267883"/>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7828862" y="4329149"/>
            <a:ext cx="1176662" cy="11047"/>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8170664" y="4163973"/>
            <a:ext cx="412519" cy="267883"/>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423640" y="4329149"/>
            <a:ext cx="711105" cy="11047"/>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299884" y="4163973"/>
            <a:ext cx="412520" cy="267883"/>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2370729" y="4321135"/>
            <a:ext cx="163842" cy="11683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2288809" y="4263487"/>
            <a:ext cx="327682" cy="24096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4609706" y="4297830"/>
            <a:ext cx="163842" cy="11683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4527786" y="4240182"/>
            <a:ext cx="327682" cy="24096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6908330" y="4314160"/>
            <a:ext cx="163842" cy="11683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6826410" y="4256512"/>
            <a:ext cx="327682" cy="24096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527811"/>
            <a:ext cx="9509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3,200 Sheets</a:t>
            </a:r>
            <a:r>
              <a:rPr lang="en-US" altLang="en-US" sz="1000" b="0" dirty="0">
                <a:solidFill>
                  <a:srgbClr val="FF0000"/>
                </a:solidFill>
                <a:latin typeface="Roboto" panose="02000000000000000000" pitchFamily="2" charset="0"/>
                <a:ea typeface="Roboto" panose="02000000000000000000" pitchFamily="2" charset="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527811"/>
            <a:ext cx="9092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4503990"/>
            <a:ext cx="9092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4503990"/>
            <a:ext cx="11576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4360973"/>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4337152"/>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4321111"/>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782499"/>
            <a:ext cx="1044479" cy="80925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782499"/>
            <a:ext cx="1044479" cy="70088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782499"/>
            <a:ext cx="1044479" cy="70088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911654"/>
            <a:ext cx="88587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grpSp>
        <p:nvGrpSpPr>
          <p:cNvPr id="104" name="Group 87">
            <a:extLst>
              <a:ext uri="{FF2B5EF4-FFF2-40B4-BE49-F238E27FC236}">
                <a16:creationId xmlns:a16="http://schemas.microsoft.com/office/drawing/2014/main" id="{60ABD176-7F11-09E0-73F5-7562338554E9}"/>
              </a:ext>
            </a:extLst>
          </p:cNvPr>
          <p:cNvGrpSpPr>
            <a:grpSpLocks/>
          </p:cNvGrpSpPr>
          <p:nvPr/>
        </p:nvGrpSpPr>
        <p:grpSpPr bwMode="auto">
          <a:xfrm>
            <a:off x="1115307" y="5748231"/>
            <a:ext cx="8023015" cy="257058"/>
            <a:chOff x="577" y="3222"/>
            <a:chExt cx="3916" cy="141"/>
          </a:xfrm>
        </p:grpSpPr>
        <p:sp>
          <p:nvSpPr>
            <p:cNvPr id="105" name="Line 88">
              <a:extLst>
                <a:ext uri="{FF2B5EF4-FFF2-40B4-BE49-F238E27FC236}">
                  <a16:creationId xmlns:a16="http://schemas.microsoft.com/office/drawing/2014/main" id="{4A129C4E-0A22-C824-35E4-13A6D044E5C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6" name="Line 89">
              <a:extLst>
                <a:ext uri="{FF2B5EF4-FFF2-40B4-BE49-F238E27FC236}">
                  <a16:creationId xmlns:a16="http://schemas.microsoft.com/office/drawing/2014/main" id="{E3583B58-0A73-0ED6-E031-4E42021537D1}"/>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7" name="Line 90">
              <a:extLst>
                <a:ext uri="{FF2B5EF4-FFF2-40B4-BE49-F238E27FC236}">
                  <a16:creationId xmlns:a16="http://schemas.microsoft.com/office/drawing/2014/main" id="{138CC10C-0A4E-15B5-D665-B1E93F032425}"/>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8" name="Line 91">
              <a:extLst>
                <a:ext uri="{FF2B5EF4-FFF2-40B4-BE49-F238E27FC236}">
                  <a16:creationId xmlns:a16="http://schemas.microsoft.com/office/drawing/2014/main" id="{D618E110-A8D8-E2D0-0B7F-4D29CC4FA10C}"/>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9" name="Line 92">
              <a:extLst>
                <a:ext uri="{FF2B5EF4-FFF2-40B4-BE49-F238E27FC236}">
                  <a16:creationId xmlns:a16="http://schemas.microsoft.com/office/drawing/2014/main" id="{57982BD8-441F-CBF6-3805-4601EE73ED56}"/>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0" name="Line 93">
              <a:extLst>
                <a:ext uri="{FF2B5EF4-FFF2-40B4-BE49-F238E27FC236}">
                  <a16:creationId xmlns:a16="http://schemas.microsoft.com/office/drawing/2014/main" id="{2A57DD67-1549-AFF6-873E-37968955E4C9}"/>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1" name="Line 94">
              <a:extLst>
                <a:ext uri="{FF2B5EF4-FFF2-40B4-BE49-F238E27FC236}">
                  <a16:creationId xmlns:a16="http://schemas.microsoft.com/office/drawing/2014/main" id="{9148BA8D-19C8-84D3-98E3-B7840E0D1792}"/>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2" name="Line 95">
              <a:extLst>
                <a:ext uri="{FF2B5EF4-FFF2-40B4-BE49-F238E27FC236}">
                  <a16:creationId xmlns:a16="http://schemas.microsoft.com/office/drawing/2014/main" id="{66CBA8A1-4E72-673B-F830-4949AE4EC2A2}"/>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3" name="Line 96">
              <a:extLst>
                <a:ext uri="{FF2B5EF4-FFF2-40B4-BE49-F238E27FC236}">
                  <a16:creationId xmlns:a16="http://schemas.microsoft.com/office/drawing/2014/main" id="{13E79092-00D2-4F20-2C49-A3B216044EA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4" name="Line 97">
              <a:extLst>
                <a:ext uri="{FF2B5EF4-FFF2-40B4-BE49-F238E27FC236}">
                  <a16:creationId xmlns:a16="http://schemas.microsoft.com/office/drawing/2014/main" id="{A7A9CF9D-B944-F9E2-DBF2-8422F2949EEC}"/>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5" name="Line 98">
              <a:extLst>
                <a:ext uri="{FF2B5EF4-FFF2-40B4-BE49-F238E27FC236}">
                  <a16:creationId xmlns:a16="http://schemas.microsoft.com/office/drawing/2014/main" id="{07C12B8B-5ACB-ECB9-96FD-ECCE054B26E4}"/>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6" name="Line 99">
              <a:extLst>
                <a:ext uri="{FF2B5EF4-FFF2-40B4-BE49-F238E27FC236}">
                  <a16:creationId xmlns:a16="http://schemas.microsoft.com/office/drawing/2014/main" id="{18B6404C-18D0-E18C-D7A9-1E284E3E0F1C}"/>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17" name="Line 100">
              <a:extLst>
                <a:ext uri="{FF2B5EF4-FFF2-40B4-BE49-F238E27FC236}">
                  <a16:creationId xmlns:a16="http://schemas.microsoft.com/office/drawing/2014/main" id="{8EC615F2-60A5-305A-89DF-A74C7293EA1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8" name="Rectangle 106">
            <a:extLst>
              <a:ext uri="{FF2B5EF4-FFF2-40B4-BE49-F238E27FC236}">
                <a16:creationId xmlns:a16="http://schemas.microsoft.com/office/drawing/2014/main" id="{2F55FE34-6D0E-3A0E-3540-F39805BD9B2A}"/>
              </a:ext>
            </a:extLst>
          </p:cNvPr>
          <p:cNvSpPr>
            <a:spLocks noChangeArrowheads="1"/>
          </p:cNvSpPr>
          <p:nvPr/>
        </p:nvSpPr>
        <p:spPr bwMode="auto">
          <a:xfrm>
            <a:off x="4582149" y="5758421"/>
            <a:ext cx="69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15 sec</a:t>
            </a:r>
          </a:p>
        </p:txBody>
      </p:sp>
      <p:sp>
        <p:nvSpPr>
          <p:cNvPr id="119" name="Rectangle 106">
            <a:extLst>
              <a:ext uri="{FF2B5EF4-FFF2-40B4-BE49-F238E27FC236}">
                <a16:creationId xmlns:a16="http://schemas.microsoft.com/office/drawing/2014/main" id="{E46658D3-52FD-48AA-DE9A-0D0DA376C621}"/>
              </a:ext>
            </a:extLst>
          </p:cNvPr>
          <p:cNvSpPr>
            <a:spLocks noChangeArrowheads="1"/>
          </p:cNvSpPr>
          <p:nvPr/>
        </p:nvSpPr>
        <p:spPr bwMode="auto">
          <a:xfrm>
            <a:off x="2237081" y="5721141"/>
            <a:ext cx="7868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60 sec</a:t>
            </a:r>
          </a:p>
        </p:txBody>
      </p:sp>
      <p:sp>
        <p:nvSpPr>
          <p:cNvPr id="120" name="Rectangle 106">
            <a:extLst>
              <a:ext uri="{FF2B5EF4-FFF2-40B4-BE49-F238E27FC236}">
                <a16:creationId xmlns:a16="http://schemas.microsoft.com/office/drawing/2014/main" id="{480E6255-3CF7-7466-AA26-1C6D995E0988}"/>
              </a:ext>
            </a:extLst>
          </p:cNvPr>
          <p:cNvSpPr>
            <a:spLocks noChangeArrowheads="1"/>
          </p:cNvSpPr>
          <p:nvPr/>
        </p:nvSpPr>
        <p:spPr bwMode="auto">
          <a:xfrm>
            <a:off x="6900366" y="5751617"/>
            <a:ext cx="6969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20 sec</a:t>
            </a:r>
          </a:p>
        </p:txBody>
      </p:sp>
      <p:sp>
        <p:nvSpPr>
          <p:cNvPr id="123" name="Rectangle 106">
            <a:extLst>
              <a:ext uri="{FF2B5EF4-FFF2-40B4-BE49-F238E27FC236}">
                <a16:creationId xmlns:a16="http://schemas.microsoft.com/office/drawing/2014/main" id="{B888D443-4E1C-A72C-0AA5-41B8FD4458EF}"/>
              </a:ext>
            </a:extLst>
          </p:cNvPr>
          <p:cNvSpPr>
            <a:spLocks noChangeArrowheads="1"/>
          </p:cNvSpPr>
          <p:nvPr/>
        </p:nvSpPr>
        <p:spPr bwMode="auto">
          <a:xfrm>
            <a:off x="1173414" y="5523329"/>
            <a:ext cx="826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8.5 days</a:t>
            </a:r>
          </a:p>
        </p:txBody>
      </p:sp>
      <p:sp>
        <p:nvSpPr>
          <p:cNvPr id="124" name="Rectangle 106">
            <a:extLst>
              <a:ext uri="{FF2B5EF4-FFF2-40B4-BE49-F238E27FC236}">
                <a16:creationId xmlns:a16="http://schemas.microsoft.com/office/drawing/2014/main" id="{AE5FB844-5FB8-C1B8-81C5-4C3E2505C5F6}"/>
              </a:ext>
            </a:extLst>
          </p:cNvPr>
          <p:cNvSpPr>
            <a:spLocks noChangeArrowheads="1"/>
          </p:cNvSpPr>
          <p:nvPr/>
        </p:nvSpPr>
        <p:spPr bwMode="auto">
          <a:xfrm>
            <a:off x="3353940" y="5525535"/>
            <a:ext cx="7956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3.5 days</a:t>
            </a:r>
          </a:p>
        </p:txBody>
      </p:sp>
      <p:sp>
        <p:nvSpPr>
          <p:cNvPr id="125" name="Rectangle 106">
            <a:extLst>
              <a:ext uri="{FF2B5EF4-FFF2-40B4-BE49-F238E27FC236}">
                <a16:creationId xmlns:a16="http://schemas.microsoft.com/office/drawing/2014/main" id="{FE427B78-2DBB-F238-861E-16467F83F15F}"/>
              </a:ext>
            </a:extLst>
          </p:cNvPr>
          <p:cNvSpPr>
            <a:spLocks noChangeArrowheads="1"/>
          </p:cNvSpPr>
          <p:nvPr/>
        </p:nvSpPr>
        <p:spPr bwMode="auto">
          <a:xfrm>
            <a:off x="5682387" y="5525535"/>
            <a:ext cx="7956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6.2 days</a:t>
            </a:r>
          </a:p>
        </p:txBody>
      </p:sp>
      <p:sp>
        <p:nvSpPr>
          <p:cNvPr id="126" name="Rectangle 106">
            <a:extLst>
              <a:ext uri="{FF2B5EF4-FFF2-40B4-BE49-F238E27FC236}">
                <a16:creationId xmlns:a16="http://schemas.microsoft.com/office/drawing/2014/main" id="{2066C938-81F1-0910-FDC1-BDDEFD6A1535}"/>
              </a:ext>
            </a:extLst>
          </p:cNvPr>
          <p:cNvSpPr>
            <a:spLocks noChangeArrowheads="1"/>
          </p:cNvSpPr>
          <p:nvPr/>
        </p:nvSpPr>
        <p:spPr bwMode="auto">
          <a:xfrm>
            <a:off x="8097865" y="5513088"/>
            <a:ext cx="8262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1.5 days</a:t>
            </a:r>
          </a:p>
        </p:txBody>
      </p:sp>
      <p:sp>
        <p:nvSpPr>
          <p:cNvPr id="127" name="TextBox 126">
            <a:extLst>
              <a:ext uri="{FF2B5EF4-FFF2-40B4-BE49-F238E27FC236}">
                <a16:creationId xmlns:a16="http://schemas.microsoft.com/office/drawing/2014/main" id="{371DD8A1-548F-8E1C-3290-A7C268804000}"/>
              </a:ext>
            </a:extLst>
          </p:cNvPr>
          <p:cNvSpPr txBox="1"/>
          <p:nvPr/>
        </p:nvSpPr>
        <p:spPr>
          <a:xfrm>
            <a:off x="924204" y="2017960"/>
            <a:ext cx="4237129" cy="9746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342831" indent="-342831"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rPr>
              <a:t>Add Processing Times and Lead Times for each process to derive the totals for the Value Stream</a:t>
            </a:r>
          </a:p>
        </p:txBody>
      </p:sp>
      <p:grpSp>
        <p:nvGrpSpPr>
          <p:cNvPr id="7" name="Group 6">
            <a:extLst>
              <a:ext uri="{FF2B5EF4-FFF2-40B4-BE49-F238E27FC236}">
                <a16:creationId xmlns:a16="http://schemas.microsoft.com/office/drawing/2014/main" id="{C03A969C-BA4D-50BC-9DDC-58FE99F248C4}"/>
              </a:ext>
            </a:extLst>
          </p:cNvPr>
          <p:cNvGrpSpPr/>
          <p:nvPr/>
        </p:nvGrpSpPr>
        <p:grpSpPr>
          <a:xfrm>
            <a:off x="940004" y="319344"/>
            <a:ext cx="6217883" cy="311851"/>
            <a:chOff x="940249" y="302538"/>
            <a:chExt cx="6219503" cy="311932"/>
          </a:xfrm>
        </p:grpSpPr>
        <p:sp>
          <p:nvSpPr>
            <p:cNvPr id="8" name="TextBox 7">
              <a:extLst>
                <a:ext uri="{FF2B5EF4-FFF2-40B4-BE49-F238E27FC236}">
                  <a16:creationId xmlns:a16="http://schemas.microsoft.com/office/drawing/2014/main" id="{A58EC09E-8A94-AAF4-187B-41309E3CB73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1" name="AutoShape 9">
              <a:extLst>
                <a:ext uri="{FF2B5EF4-FFF2-40B4-BE49-F238E27FC236}">
                  <a16:creationId xmlns:a16="http://schemas.microsoft.com/office/drawing/2014/main" id="{DFA62981-4CF4-C060-8405-FA7F5961E6D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6" name="AutoShape 9">
              <a:extLst>
                <a:ext uri="{FF2B5EF4-FFF2-40B4-BE49-F238E27FC236}">
                  <a16:creationId xmlns:a16="http://schemas.microsoft.com/office/drawing/2014/main" id="{346F1C9B-DA83-DA9E-48E3-9125C0F7361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0" name="AutoShape 9">
              <a:extLst>
                <a:ext uri="{FF2B5EF4-FFF2-40B4-BE49-F238E27FC236}">
                  <a16:creationId xmlns:a16="http://schemas.microsoft.com/office/drawing/2014/main" id="{B1819B29-9A6E-EB72-59B5-C2DB7B4974E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6" name="AutoShape 9">
              <a:extLst>
                <a:ext uri="{FF2B5EF4-FFF2-40B4-BE49-F238E27FC236}">
                  <a16:creationId xmlns:a16="http://schemas.microsoft.com/office/drawing/2014/main" id="{F25F38B4-39A7-CACC-5B9E-F60EE4C5DCB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7" name="AutoShape 11">
              <a:extLst>
                <a:ext uri="{FF2B5EF4-FFF2-40B4-BE49-F238E27FC236}">
                  <a16:creationId xmlns:a16="http://schemas.microsoft.com/office/drawing/2014/main" id="{7AE9F0F2-54A1-8814-2AF1-1D7A4BB26A1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38" name="Slide Number Placeholder 2">
            <a:extLst>
              <a:ext uri="{FF2B5EF4-FFF2-40B4-BE49-F238E27FC236}">
                <a16:creationId xmlns:a16="http://schemas.microsoft.com/office/drawing/2014/main" id="{33B42E37-DBFC-FD66-17FB-2CCAC3881ED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68</a:t>
            </a:fld>
            <a:endParaRPr lang="en-US" dirty="0"/>
          </a:p>
        </p:txBody>
      </p:sp>
    </p:spTree>
    <p:extLst>
      <p:ext uri="{BB962C8B-B14F-4D97-AF65-F5344CB8AC3E}">
        <p14:creationId xmlns:p14="http://schemas.microsoft.com/office/powerpoint/2010/main" val="7974334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74" grpId="0"/>
      <p:bldP spid="75" grpId="0"/>
      <p:bldP spid="76" grpId="0"/>
      <p:bldP spid="77" grpId="0"/>
      <p:bldP spid="78" grpId="0"/>
      <p:bldP spid="79" grpId="0"/>
      <p:bldP spid="8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a:xfrm>
            <a:off x="837982" y="607612"/>
            <a:ext cx="10512862" cy="1106227"/>
          </a:xfrm>
        </p:spPr>
        <p:txBody>
          <a:bodyPr>
            <a:normAutofit fontScale="90000"/>
          </a:bodyPr>
          <a:lstStyle/>
          <a:p>
            <a:r>
              <a:rPr lang="en-US" dirty="0">
                <a:latin typeface="Roboto" panose="02000000000000000000" pitchFamily="2" charset="0"/>
                <a:ea typeface="Roboto" panose="02000000000000000000" pitchFamily="2" charset="0"/>
                <a:cs typeface="Roboto" panose="02000000000000000000" pitchFamily="2" charset="0"/>
              </a:rPr>
              <a:t>Case Study Example: 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72018" y="1820333"/>
            <a:ext cx="10329381" cy="4438320"/>
            <a:chOff x="493713" y="1387475"/>
            <a:chExt cx="8207370" cy="4632325"/>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0" cy="4632325"/>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6" y="3781427"/>
              <a:ext cx="833438" cy="623888"/>
              <a:chOff x="4424" y="2382"/>
              <a:chExt cx="525" cy="393"/>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82"/>
                <a:ext cx="492" cy="182"/>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47" y="1939930"/>
              <a:ext cx="806450" cy="615951"/>
              <a:chOff x="474" y="1322"/>
              <a:chExt cx="508" cy="388"/>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8"/>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Ed</a:t>
                </a:r>
                <a:r>
                  <a:rPr lang="ja-JP" altLang="en-US" sz="700" b="0" dirty="0">
                    <a:solidFill>
                      <a:schemeClr val="tx1"/>
                    </a:solidFill>
                    <a:latin typeface="Roboto" panose="02000000000000000000" pitchFamily="2" charset="0"/>
                    <a:cs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cs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79178" y="1493840"/>
              <a:ext cx="2515795" cy="353353"/>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pitchFamily="2" charset="0"/>
                  <a:ea typeface="Roboto" panose="02000000000000000000" pitchFamily="2" charset="0"/>
                  <a:cs typeface="Roboto" panose="02000000000000000000" pitchFamily="2" charset="0"/>
                </a:rPr>
                <a:t>Mike</a:t>
              </a:r>
              <a:r>
                <a:rPr lang="ja-JP" altLang="en-US" sz="1600" dirty="0">
                  <a:solidFill>
                    <a:schemeClr val="tx1"/>
                  </a:solidFill>
                  <a:latin typeface="Roboto" panose="02000000000000000000" pitchFamily="2" charset="0"/>
                  <a:cs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cs typeface="Roboto" panose="02000000000000000000" pitchFamily="2" charset="0"/>
                </a:rPr>
                <a:t>s Metal Enclosures (MME)</a:t>
              </a:r>
              <a:endParaRPr lang="en-US" altLang="en-US" sz="16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0" y="2139338"/>
              <a:ext cx="781051" cy="433660"/>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721884"/>
            <a:ext cx="1786084" cy="554977"/>
            <a:chOff x="3444" y="1604"/>
            <a:chExt cx="1043" cy="342"/>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cs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945944"/>
            <a:ext cx="8149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cs typeface="Roboto" panose="02000000000000000000" pitchFamily="2" charset="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4078006"/>
            <a:ext cx="1048922" cy="55517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4212900"/>
            <a:ext cx="1033732"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8" y="4018611"/>
            <a:ext cx="982988"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4078006"/>
            <a:ext cx="1048922" cy="55517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4212900"/>
            <a:ext cx="1033732"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6" y="4018611"/>
            <a:ext cx="982988"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4097186"/>
            <a:ext cx="1048922" cy="55517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232080"/>
            <a:ext cx="1033732" cy="1520"/>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70" y="4037791"/>
            <a:ext cx="982988"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606284" y="2900041"/>
            <a:ext cx="1998" cy="1242668"/>
          </a:xfrm>
          <a:prstGeom prst="line">
            <a:avLst/>
          </a:prstGeom>
          <a:solidFill>
            <a:schemeClr val="bg1"/>
          </a:solidFill>
          <a:ln w="50800" cmpd="dbl">
            <a:solidFill>
              <a:schemeClr val="tx1"/>
            </a:solidFill>
            <a:round/>
            <a:headEnd/>
            <a:tailEnd type="triangle" w="sm" len="sm"/>
          </a:ln>
        </p:spPr>
        <p:txBody>
          <a:bodyPr/>
          <a:lstStyle/>
          <a:p>
            <a:endParaRPr lang="en-US" sz="1399" dirty="0">
              <a:latin typeface="Roboto" panose="02000000000000000000" pitchFamily="2" charset="0"/>
              <a:ea typeface="Roboto" panose="02000000000000000000" pitchFamily="2" charset="0"/>
              <a:cs typeface="Roboto" panose="02000000000000000000" pitchFamily="2" charset="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1" y="3451341"/>
            <a:ext cx="464015" cy="269564"/>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540737"/>
            <a:ext cx="206049" cy="180168"/>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79" y="3725447"/>
            <a:ext cx="102213" cy="89397"/>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0" y="3725447"/>
            <a:ext cx="102213" cy="89397"/>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3496865"/>
            <a:ext cx="615369" cy="20005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0" y="4151522"/>
            <a:ext cx="1181666" cy="308463"/>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38" y="4151522"/>
            <a:ext cx="1181666" cy="308463"/>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0" y="4151522"/>
            <a:ext cx="1181666" cy="308463"/>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7" y="4151522"/>
            <a:ext cx="838413" cy="308463"/>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4252289"/>
            <a:ext cx="329075" cy="2774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4228984"/>
            <a:ext cx="329075" cy="2774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4245314"/>
            <a:ext cx="329075" cy="2774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518355"/>
            <a:ext cx="9824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3,200 Sheets</a:t>
            </a:r>
            <a:r>
              <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518355"/>
            <a:ext cx="92725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4494534"/>
            <a:ext cx="92725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4494534"/>
            <a:ext cx="11816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4351517"/>
            <a:ext cx="4768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4327696"/>
            <a:ext cx="4768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4311655"/>
            <a:ext cx="4768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749920"/>
            <a:ext cx="1048922" cy="8070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749920"/>
            <a:ext cx="1048922" cy="8070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749920"/>
            <a:ext cx="1048922" cy="8070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0" y="4902862"/>
            <a:ext cx="889641"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2217635"/>
            <a:ext cx="1119102" cy="1862255"/>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8"/>
              <a:chOff x="435" y="1322"/>
              <a:chExt cx="583" cy="398"/>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5516229"/>
            <a:ext cx="8057140" cy="548217"/>
            <a:chOff x="2231194" y="9983470"/>
            <a:chExt cx="16050209" cy="1152451"/>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4" y="10447982"/>
              <a:ext cx="16050209" cy="622243"/>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4" y="10553617"/>
              <a:ext cx="1302584"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8" y="10553617"/>
              <a:ext cx="1302584"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7" y="10553619"/>
              <a:ext cx="1302584"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8" y="10003966"/>
              <a:ext cx="1585373"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6" y="10008381"/>
              <a:ext cx="1585373"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2" y="10008372"/>
              <a:ext cx="1585373"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50" y="9983470"/>
              <a:ext cx="1585373" cy="582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26984" y="5437957"/>
            <a:ext cx="1854583" cy="555020"/>
            <a:chOff x="3463" y="1604"/>
            <a:chExt cx="1083" cy="342"/>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63" y="1689"/>
              <a:ext cx="1083"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Production L.T. = 19.7 days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104" name="Group 103">
            <a:extLst>
              <a:ext uri="{FF2B5EF4-FFF2-40B4-BE49-F238E27FC236}">
                <a16:creationId xmlns:a16="http://schemas.microsoft.com/office/drawing/2014/main" id="{562095EB-1EFE-2248-1314-E66B5A4A9A54}"/>
              </a:ext>
            </a:extLst>
          </p:cNvPr>
          <p:cNvGrpSpPr/>
          <p:nvPr/>
        </p:nvGrpSpPr>
        <p:grpSpPr>
          <a:xfrm>
            <a:off x="940004" y="342494"/>
            <a:ext cx="6217883" cy="311851"/>
            <a:chOff x="940249" y="302538"/>
            <a:chExt cx="6219503" cy="311932"/>
          </a:xfrm>
        </p:grpSpPr>
        <p:sp>
          <p:nvSpPr>
            <p:cNvPr id="105" name="TextBox 104">
              <a:extLst>
                <a:ext uri="{FF2B5EF4-FFF2-40B4-BE49-F238E27FC236}">
                  <a16:creationId xmlns:a16="http://schemas.microsoft.com/office/drawing/2014/main" id="{6CA25D99-35F0-8819-6787-4B002B2E6A4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06" name="AutoShape 9">
              <a:extLst>
                <a:ext uri="{FF2B5EF4-FFF2-40B4-BE49-F238E27FC236}">
                  <a16:creationId xmlns:a16="http://schemas.microsoft.com/office/drawing/2014/main" id="{D2E920F7-643F-8B0F-B199-224923DC182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7" name="AutoShape 9">
              <a:extLst>
                <a:ext uri="{FF2B5EF4-FFF2-40B4-BE49-F238E27FC236}">
                  <a16:creationId xmlns:a16="http://schemas.microsoft.com/office/drawing/2014/main" id="{F78FF394-1EEE-C3D2-DF60-0CC28DDC942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AutoShape 9">
              <a:extLst>
                <a:ext uri="{FF2B5EF4-FFF2-40B4-BE49-F238E27FC236}">
                  <a16:creationId xmlns:a16="http://schemas.microsoft.com/office/drawing/2014/main" id="{705779CE-B80D-A708-0576-2220D503455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9" name="AutoShape 9">
              <a:extLst>
                <a:ext uri="{FF2B5EF4-FFF2-40B4-BE49-F238E27FC236}">
                  <a16:creationId xmlns:a16="http://schemas.microsoft.com/office/drawing/2014/main" id="{046C1EF0-378F-87E9-6715-A7BCD09932F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0" name="AutoShape 11">
              <a:extLst>
                <a:ext uri="{FF2B5EF4-FFF2-40B4-BE49-F238E27FC236}">
                  <a16:creationId xmlns:a16="http://schemas.microsoft.com/office/drawing/2014/main" id="{B6F8F31B-2218-FF03-FF70-52AE3C23B56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11" name="Slide Number Placeholder 2">
            <a:extLst>
              <a:ext uri="{FF2B5EF4-FFF2-40B4-BE49-F238E27FC236}">
                <a16:creationId xmlns:a16="http://schemas.microsoft.com/office/drawing/2014/main" id="{664A84BD-25DA-7221-6BD3-C70BEC5E49AC}"/>
              </a:ext>
            </a:extLst>
          </p:cNvPr>
          <p:cNvSpPr txBox="1">
            <a:spLocks/>
          </p:cNvSpPr>
          <p:nvPr/>
        </p:nvSpPr>
        <p:spPr>
          <a:xfrm>
            <a:off x="8592839" y="640901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69</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452013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a:bodyPr>
          <a:lstStyle/>
          <a:p>
            <a:r>
              <a:rPr lang="en-US" dirty="0"/>
              <a:t>Steps to Mapping the Current State</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Customer Data</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Process Steps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Data Boxes and Inventory Levels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Supplier Data</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Calculate and Map Processing Time and Production Lead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Map Information Flow</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70</a:t>
            </a:fld>
            <a:endParaRPr lang="en-US" dirty="0"/>
          </a:p>
        </p:txBody>
      </p:sp>
    </p:spTree>
    <p:extLst>
      <p:ext uri="{BB962C8B-B14F-4D97-AF65-F5344CB8AC3E}">
        <p14:creationId xmlns:p14="http://schemas.microsoft.com/office/powerpoint/2010/main" val="285249741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Rectangle 110">
            <a:extLst>
              <a:ext uri="{FF2B5EF4-FFF2-40B4-BE49-F238E27FC236}">
                <a16:creationId xmlns:a16="http://schemas.microsoft.com/office/drawing/2014/main" id="{1A6393C9-C3D0-EA96-6738-1D413C9F2758}"/>
              </a:ext>
            </a:extLst>
          </p:cNvPr>
          <p:cNvSpPr/>
          <p:nvPr/>
        </p:nvSpPr>
        <p:spPr>
          <a:xfrm>
            <a:off x="8215614" y="2259128"/>
            <a:ext cx="3973211" cy="359059"/>
          </a:xfrm>
          <a:prstGeom prst="rect">
            <a:avLst/>
          </a:pr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endParaRPr>
          </a:p>
        </p:txBody>
      </p:sp>
      <p:sp>
        <p:nvSpPr>
          <p:cNvPr id="2" name="Title 1">
            <a:extLst>
              <a:ext uri="{FF2B5EF4-FFF2-40B4-BE49-F238E27FC236}">
                <a16:creationId xmlns:a16="http://schemas.microsoft.com/office/drawing/2014/main" id="{F3124302-5B4C-B42C-1380-8702AA013BFB}"/>
              </a:ext>
            </a:extLst>
          </p:cNvPr>
          <p:cNvSpPr>
            <a:spLocks noGrp="1"/>
          </p:cNvSpPr>
          <p:nvPr>
            <p:ph type="title"/>
          </p:nvPr>
        </p:nvSpPr>
        <p:spPr/>
        <p:txBody>
          <a:bodyPr>
            <a:normAutofit/>
          </a:bodyPr>
          <a:lstStyle/>
          <a:p>
            <a:r>
              <a:rPr lang="en-US" altLang="en-US" dirty="0">
                <a:latin typeface="Roboto" panose="02000000000000000000" pitchFamily="2" charset="0"/>
                <a:ea typeface="Roboto" panose="02000000000000000000" pitchFamily="2" charset="0"/>
                <a:cs typeface="Roboto" panose="02000000000000000000" pitchFamily="2" charset="0"/>
              </a:rPr>
              <a:t>Mapping Information Flow</a:t>
            </a:r>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 name="TextBox 27">
            <a:extLst>
              <a:ext uri="{FF2B5EF4-FFF2-40B4-BE49-F238E27FC236}">
                <a16:creationId xmlns:a16="http://schemas.microsoft.com/office/drawing/2014/main" id="{591714DC-EA96-DF71-71E6-EC62375142D7}"/>
              </a:ext>
            </a:extLst>
          </p:cNvPr>
          <p:cNvSpPr txBox="1"/>
          <p:nvPr/>
        </p:nvSpPr>
        <p:spPr>
          <a:xfrm>
            <a:off x="832890" y="1768049"/>
            <a:ext cx="6635812" cy="420626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marL="228554" indent="-228554"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Customer Requirements</a:t>
            </a:r>
          </a:p>
          <a:p>
            <a:pPr marL="457109" lvl="3" indent="-228554" algn="l">
              <a:buClr>
                <a:schemeClr val="tx1"/>
              </a:buClr>
              <a:buSzPct val="90000"/>
              <a:buFont typeface="Arial" panose="020B0604020202020204" pitchFamily="34" charset="0"/>
              <a:buChar char="•"/>
            </a:pP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Daily customer orders are sent via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EDI link </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to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MME’s order entry module of their MRP system</a:t>
            </a:r>
          </a:p>
          <a:p>
            <a:pPr marL="228554" indent="-228554"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Purchased Raw Material</a:t>
            </a:r>
          </a:p>
          <a:p>
            <a:pPr marL="457109" lvl="3" indent="-228554" algn="l">
              <a:buClr>
                <a:schemeClr val="tx1"/>
              </a:buClr>
              <a:buSzPct val="90000"/>
              <a:buFont typeface="Arial" panose="020B0604020202020204" pitchFamily="34" charset="0"/>
              <a:buChar char="•"/>
            </a:pP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Purchase orders are sent to Acme once a month via Fax</a:t>
            </a:r>
          </a:p>
          <a:p>
            <a:pPr marL="228554" indent="-228554" algn="l">
              <a:buClr>
                <a:schemeClr val="tx1"/>
              </a:buClr>
              <a:buSzPct val="90000"/>
              <a:buFont typeface="Arial" panose="020B0604020202020204" pitchFamily="34" charset="0"/>
              <a:buChar char="•"/>
            </a:pPr>
            <a:r>
              <a:rPr lang="en-US" sz="2000" dirty="0">
                <a:solidFill>
                  <a:srgbClr val="191C25"/>
                </a:solidFill>
                <a:latin typeface="Roboto" panose="02000000000000000000" pitchFamily="2" charset="0"/>
                <a:ea typeface="Roboto" panose="02000000000000000000" pitchFamily="2" charset="0"/>
                <a:cs typeface="Roboto" panose="02000000000000000000" pitchFamily="2" charset="0"/>
              </a:rPr>
              <a:t>Production Scheduling</a:t>
            </a:r>
          </a:p>
          <a:p>
            <a:pPr marL="457109" lvl="3" indent="-228554" algn="l">
              <a:buClr>
                <a:schemeClr val="tx1"/>
              </a:buClr>
              <a:buSzPct val="90000"/>
              <a:buFont typeface="Arial" panose="020B0604020202020204" pitchFamily="34" charset="0"/>
              <a:buChar char="•"/>
            </a:pP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MME has an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integrated MRP System, </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managed by the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Production Control Department</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 that includes Forecasting, Order Entry, MRP planning, Inventory Control, Purchasing, and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Shop Floor Scheduling</a:t>
            </a:r>
          </a:p>
          <a:p>
            <a:pPr marL="457109" lvl="3" indent="-228554" algn="l">
              <a:buClr>
                <a:schemeClr val="tx1"/>
              </a:buClr>
              <a:buSzPct val="90000"/>
              <a:buFont typeface="Arial" panose="020B0604020202020204" pitchFamily="34" charset="0"/>
              <a:buChar char="•"/>
            </a:pP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EDI orders received from the customer</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 are entered into MRP and are </a:t>
            </a:r>
            <a:b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hand-delivered in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hard copy to the shipping department on a daily basis</a:t>
            </a:r>
            <a:b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b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 to drive next-day shipments</a:t>
            </a:r>
          </a:p>
          <a:p>
            <a:pPr marL="457109" lvl="3" indent="-228554" algn="l">
              <a:buClr>
                <a:schemeClr val="tx1"/>
              </a:buClr>
              <a:buSzPct val="90000"/>
              <a:buFont typeface="Arial" panose="020B0604020202020204" pitchFamily="34" charset="0"/>
              <a:buChar char="•"/>
            </a:pP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After the weekly MRP run, </a:t>
            </a: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each production department </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gets a </a:t>
            </a:r>
            <a:b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sz="1400" dirty="0">
                <a:solidFill>
                  <a:srgbClr val="EE3228"/>
                </a:solidFill>
                <a:latin typeface="Roboto" panose="02000000000000000000" pitchFamily="2" charset="0"/>
                <a:ea typeface="Roboto" panose="02000000000000000000" pitchFamily="2" charset="0"/>
                <a:cs typeface="Roboto" panose="02000000000000000000" pitchFamily="2" charset="0"/>
              </a:rPr>
              <a:t>weekly hard-copy</a:t>
            </a: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 schedule of products to make, broken out by day</a:t>
            </a:r>
          </a:p>
          <a:p>
            <a:pPr marL="457109" lvl="3" indent="-228554" algn="l">
              <a:buClr>
                <a:schemeClr val="tx1"/>
              </a:buClr>
              <a:buSzPct val="90000"/>
              <a:buFont typeface="Arial" panose="020B0604020202020204" pitchFamily="34" charset="0"/>
              <a:buChar char="•"/>
            </a:pP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Purchase orders are created or revised on a monthly basis from MRP </a:t>
            </a:r>
            <a:b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and sent to the suppliers via Fax</a:t>
            </a:r>
          </a:p>
          <a:p>
            <a:pPr marL="457109" lvl="3" indent="-228554" algn="l">
              <a:buClr>
                <a:schemeClr val="tx1"/>
              </a:buClr>
              <a:buSzPct val="90000"/>
              <a:buFont typeface="Arial" panose="020B0604020202020204" pitchFamily="34" charset="0"/>
              <a:buChar char="•"/>
            </a:pPr>
            <a:r>
              <a:rPr lang="en-US" sz="1400" dirty="0">
                <a:solidFill>
                  <a:srgbClr val="191C25"/>
                </a:solidFill>
                <a:latin typeface="Roboto" panose="02000000000000000000" pitchFamily="2" charset="0"/>
                <a:ea typeface="Roboto" panose="02000000000000000000" pitchFamily="2" charset="0"/>
                <a:cs typeface="Roboto" panose="02000000000000000000" pitchFamily="2" charset="0"/>
              </a:rPr>
              <a:t>Sales forecasts are internally generated and entered into MRP without direct communication with the customer</a:t>
            </a:r>
          </a:p>
        </p:txBody>
      </p:sp>
      <p:sp>
        <p:nvSpPr>
          <p:cNvPr id="79" name="Line 5">
            <a:extLst>
              <a:ext uri="{FF2B5EF4-FFF2-40B4-BE49-F238E27FC236}">
                <a16:creationId xmlns:a16="http://schemas.microsoft.com/office/drawing/2014/main" id="{59F046A6-201A-952A-2088-58F46EDB0BFE}"/>
              </a:ext>
            </a:extLst>
          </p:cNvPr>
          <p:cNvSpPr>
            <a:spLocks noChangeShapeType="1"/>
          </p:cNvSpPr>
          <p:nvPr/>
        </p:nvSpPr>
        <p:spPr bwMode="auto">
          <a:xfrm flipV="1">
            <a:off x="6477001" y="2663961"/>
            <a:ext cx="4656264" cy="1253096"/>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80" name="Group 6">
            <a:extLst>
              <a:ext uri="{FF2B5EF4-FFF2-40B4-BE49-F238E27FC236}">
                <a16:creationId xmlns:a16="http://schemas.microsoft.com/office/drawing/2014/main" id="{8C4A51D0-08C0-9E22-10CF-1E5F120A375B}"/>
              </a:ext>
            </a:extLst>
          </p:cNvPr>
          <p:cNvGrpSpPr>
            <a:grpSpLocks/>
          </p:cNvGrpSpPr>
          <p:nvPr/>
        </p:nvGrpSpPr>
        <p:grpSpPr bwMode="auto">
          <a:xfrm>
            <a:off x="10363616" y="2238741"/>
            <a:ext cx="1501027" cy="348680"/>
            <a:chOff x="4076" y="1131"/>
            <a:chExt cx="706" cy="164"/>
          </a:xfrm>
        </p:grpSpPr>
        <p:grpSp>
          <p:nvGrpSpPr>
            <p:cNvPr id="81" name="Group 7">
              <a:extLst>
                <a:ext uri="{FF2B5EF4-FFF2-40B4-BE49-F238E27FC236}">
                  <a16:creationId xmlns:a16="http://schemas.microsoft.com/office/drawing/2014/main" id="{80A8C1DC-5A1F-063B-3D2A-962F1C746082}"/>
                </a:ext>
              </a:extLst>
            </p:cNvPr>
            <p:cNvGrpSpPr>
              <a:grpSpLocks/>
            </p:cNvGrpSpPr>
            <p:nvPr/>
          </p:nvGrpSpPr>
          <p:grpSpPr bwMode="auto">
            <a:xfrm>
              <a:off x="4076" y="1160"/>
              <a:ext cx="448" cy="68"/>
              <a:chOff x="3049" y="1442"/>
              <a:chExt cx="1329" cy="51"/>
            </a:xfrm>
          </p:grpSpPr>
          <p:sp>
            <p:nvSpPr>
              <p:cNvPr id="83" name="Line 8">
                <a:extLst>
                  <a:ext uri="{FF2B5EF4-FFF2-40B4-BE49-F238E27FC236}">
                    <a16:creationId xmlns:a16="http://schemas.microsoft.com/office/drawing/2014/main" id="{ACDC47C8-AC5E-618F-737D-5415187E5EFE}"/>
                  </a:ext>
                </a:extLst>
              </p:cNvPr>
              <p:cNvSpPr>
                <a:spLocks noChangeShapeType="1"/>
              </p:cNvSpPr>
              <p:nvPr/>
            </p:nvSpPr>
            <p:spPr bwMode="auto">
              <a:xfrm flipH="1">
                <a:off x="3049" y="1442"/>
                <a:ext cx="682" cy="0"/>
              </a:xfrm>
              <a:prstGeom prst="line">
                <a:avLst/>
              </a:prstGeom>
              <a:noFill/>
              <a:ln w="63500" cap="sq">
                <a:solidFill>
                  <a:srgbClr val="7A7A7A"/>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84" name="Line 9">
                <a:extLst>
                  <a:ext uri="{FF2B5EF4-FFF2-40B4-BE49-F238E27FC236}">
                    <a16:creationId xmlns:a16="http://schemas.microsoft.com/office/drawing/2014/main" id="{3191983F-1DCA-2FFB-FE8F-AC0E8E08D7E2}"/>
                  </a:ext>
                </a:extLst>
              </p:cNvPr>
              <p:cNvSpPr>
                <a:spLocks noChangeShapeType="1"/>
              </p:cNvSpPr>
              <p:nvPr/>
            </p:nvSpPr>
            <p:spPr bwMode="auto">
              <a:xfrm flipV="1">
                <a:off x="3658" y="1488"/>
                <a:ext cx="720" cy="5"/>
              </a:xfrm>
              <a:prstGeom prst="line">
                <a:avLst/>
              </a:prstGeom>
              <a:noFill/>
              <a:ln w="63500" cap="sq">
                <a:solidFill>
                  <a:srgbClr val="7A7A7A"/>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85" name="Line 10">
                <a:extLst>
                  <a:ext uri="{FF2B5EF4-FFF2-40B4-BE49-F238E27FC236}">
                    <a16:creationId xmlns:a16="http://schemas.microsoft.com/office/drawing/2014/main" id="{A1B553A7-8B61-E722-1590-54FFD066EE66}"/>
                  </a:ext>
                </a:extLst>
              </p:cNvPr>
              <p:cNvSpPr>
                <a:spLocks noChangeShapeType="1"/>
              </p:cNvSpPr>
              <p:nvPr/>
            </p:nvSpPr>
            <p:spPr bwMode="auto">
              <a:xfrm flipV="1">
                <a:off x="3653" y="1450"/>
                <a:ext cx="67" cy="38"/>
              </a:xfrm>
              <a:prstGeom prst="line">
                <a:avLst/>
              </a:prstGeom>
              <a:noFill/>
              <a:ln w="63500" cap="sq">
                <a:solidFill>
                  <a:srgbClr val="7A7A7A"/>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82" name="Rectangle 11">
              <a:extLst>
                <a:ext uri="{FF2B5EF4-FFF2-40B4-BE49-F238E27FC236}">
                  <a16:creationId xmlns:a16="http://schemas.microsoft.com/office/drawing/2014/main" id="{1F27AE8E-D790-A41F-519F-288995C9E3B8}"/>
                </a:ext>
              </a:extLst>
            </p:cNvPr>
            <p:cNvSpPr>
              <a:spLocks noChangeArrowheads="1"/>
            </p:cNvSpPr>
            <p:nvPr/>
          </p:nvSpPr>
          <p:spPr bwMode="auto">
            <a:xfrm>
              <a:off x="4378" y="1131"/>
              <a:ext cx="404" cy="164"/>
            </a:xfrm>
            <a:prstGeom prst="rect">
              <a:avLst/>
            </a:prstGeom>
            <a:solidFill>
              <a:schemeClr val="bg1"/>
            </a:solidFill>
            <a:ln w="9525"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Daily Orders</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(EDI)</a:t>
              </a:r>
            </a:p>
          </p:txBody>
        </p:sp>
      </p:grpSp>
      <p:sp>
        <p:nvSpPr>
          <p:cNvPr id="87" name="Line 13">
            <a:extLst>
              <a:ext uri="{FF2B5EF4-FFF2-40B4-BE49-F238E27FC236}">
                <a16:creationId xmlns:a16="http://schemas.microsoft.com/office/drawing/2014/main" id="{5461E145-30B2-D089-EA0F-A95313EE4219}"/>
              </a:ext>
            </a:extLst>
          </p:cNvPr>
          <p:cNvSpPr>
            <a:spLocks noChangeShapeType="1"/>
          </p:cNvSpPr>
          <p:nvPr/>
        </p:nvSpPr>
        <p:spPr bwMode="auto">
          <a:xfrm flipV="1">
            <a:off x="6798733" y="2891454"/>
            <a:ext cx="2170167" cy="524020"/>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89" name="Rectangle 15">
            <a:extLst>
              <a:ext uri="{FF2B5EF4-FFF2-40B4-BE49-F238E27FC236}">
                <a16:creationId xmlns:a16="http://schemas.microsoft.com/office/drawing/2014/main" id="{33F63B1C-876B-D549-0666-F3EEB25F5773}"/>
              </a:ext>
            </a:extLst>
          </p:cNvPr>
          <p:cNvSpPr>
            <a:spLocks noChangeArrowheads="1"/>
          </p:cNvSpPr>
          <p:nvPr/>
        </p:nvSpPr>
        <p:spPr bwMode="auto">
          <a:xfrm>
            <a:off x="9068826" y="1949591"/>
            <a:ext cx="1305427" cy="950367"/>
          </a:xfrm>
          <a:prstGeom prst="rect">
            <a:avLst/>
          </a:prstGeom>
          <a:solidFill>
            <a:schemeClr val="bg1"/>
          </a:solidFill>
          <a:ln w="12700"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6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90" name="Rectangle 16">
            <a:extLst>
              <a:ext uri="{FF2B5EF4-FFF2-40B4-BE49-F238E27FC236}">
                <a16:creationId xmlns:a16="http://schemas.microsoft.com/office/drawing/2014/main" id="{DE27C711-95A4-0ABB-8A84-2C549F72CF23}"/>
              </a:ext>
            </a:extLst>
          </p:cNvPr>
          <p:cNvSpPr>
            <a:spLocks noChangeArrowheads="1"/>
          </p:cNvSpPr>
          <p:nvPr/>
        </p:nvSpPr>
        <p:spPr bwMode="auto">
          <a:xfrm>
            <a:off x="9198518" y="2564034"/>
            <a:ext cx="1041790" cy="338050"/>
          </a:xfrm>
          <a:prstGeom prst="rect">
            <a:avLst/>
          </a:prstGeom>
          <a:solidFill>
            <a:schemeClr val="bg1"/>
          </a:solidFill>
          <a:ln w="12700"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MRP</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System</a:t>
            </a:r>
          </a:p>
        </p:txBody>
      </p:sp>
      <p:sp>
        <p:nvSpPr>
          <p:cNvPr id="91" name="Text Box 17">
            <a:extLst>
              <a:ext uri="{FF2B5EF4-FFF2-40B4-BE49-F238E27FC236}">
                <a16:creationId xmlns:a16="http://schemas.microsoft.com/office/drawing/2014/main" id="{013B930C-D9E2-841F-518B-106ABB83D10E}"/>
              </a:ext>
            </a:extLst>
          </p:cNvPr>
          <p:cNvSpPr txBox="1">
            <a:spLocks noChangeArrowheads="1"/>
          </p:cNvSpPr>
          <p:nvPr/>
        </p:nvSpPr>
        <p:spPr bwMode="auto">
          <a:xfrm>
            <a:off x="9073078" y="1953843"/>
            <a:ext cx="1301175" cy="215444"/>
          </a:xfrm>
          <a:prstGeom prst="rect">
            <a:avLst/>
          </a:prstGeom>
          <a:noFill/>
          <a:ln w="12700" cap="sq">
            <a:solidFill>
              <a:srgbClr val="7A7A7A"/>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Production Control</a:t>
            </a:r>
          </a:p>
        </p:txBody>
      </p:sp>
      <p:sp>
        <p:nvSpPr>
          <p:cNvPr id="93" name="Line 20">
            <a:extLst>
              <a:ext uri="{FF2B5EF4-FFF2-40B4-BE49-F238E27FC236}">
                <a16:creationId xmlns:a16="http://schemas.microsoft.com/office/drawing/2014/main" id="{BDB599A6-8648-1352-076E-FAFB95BD8368}"/>
              </a:ext>
            </a:extLst>
          </p:cNvPr>
          <p:cNvSpPr>
            <a:spLocks noChangeShapeType="1"/>
          </p:cNvSpPr>
          <p:nvPr/>
        </p:nvSpPr>
        <p:spPr bwMode="auto">
          <a:xfrm>
            <a:off x="10206285" y="2904209"/>
            <a:ext cx="1271408" cy="882331"/>
          </a:xfrm>
          <a:prstGeom prst="line">
            <a:avLst/>
          </a:prstGeom>
          <a:noFill/>
          <a:ln w="63500" cap="sq">
            <a:solidFill>
              <a:srgbClr val="7A7A7A"/>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95" name="Line 19">
            <a:extLst>
              <a:ext uri="{FF2B5EF4-FFF2-40B4-BE49-F238E27FC236}">
                <a16:creationId xmlns:a16="http://schemas.microsoft.com/office/drawing/2014/main" id="{451218DF-2089-EDEF-74E2-B2BAB7BA049A}"/>
              </a:ext>
            </a:extLst>
          </p:cNvPr>
          <p:cNvSpPr>
            <a:spLocks noChangeShapeType="1"/>
          </p:cNvSpPr>
          <p:nvPr/>
        </p:nvSpPr>
        <p:spPr bwMode="auto">
          <a:xfrm flipV="1">
            <a:off x="6939280" y="3384707"/>
            <a:ext cx="3596550" cy="916452"/>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96" name="Rectangle 21">
            <a:extLst>
              <a:ext uri="{FF2B5EF4-FFF2-40B4-BE49-F238E27FC236}">
                <a16:creationId xmlns:a16="http://schemas.microsoft.com/office/drawing/2014/main" id="{4261B196-FC4E-B8A7-14DB-BE6F9FC467AC}"/>
              </a:ext>
            </a:extLst>
          </p:cNvPr>
          <p:cNvSpPr>
            <a:spLocks noChangeArrowheads="1"/>
          </p:cNvSpPr>
          <p:nvPr/>
        </p:nvSpPr>
        <p:spPr bwMode="auto">
          <a:xfrm>
            <a:off x="10599613" y="3127449"/>
            <a:ext cx="839810" cy="523020"/>
          </a:xfrm>
          <a:prstGeom prst="rect">
            <a:avLst/>
          </a:prstGeom>
          <a:solidFill>
            <a:schemeClr val="bg1"/>
          </a:solidFill>
          <a:ln w="9525"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Daily Ship</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sp>
        <p:nvSpPr>
          <p:cNvPr id="98" name="Line 23">
            <a:extLst>
              <a:ext uri="{FF2B5EF4-FFF2-40B4-BE49-F238E27FC236}">
                <a16:creationId xmlns:a16="http://schemas.microsoft.com/office/drawing/2014/main" id="{66DC8333-F78D-61D6-9822-9A1E78E78D5F}"/>
              </a:ext>
            </a:extLst>
          </p:cNvPr>
          <p:cNvSpPr>
            <a:spLocks noChangeShapeType="1"/>
          </p:cNvSpPr>
          <p:nvPr/>
        </p:nvSpPr>
        <p:spPr bwMode="auto">
          <a:xfrm>
            <a:off x="9872489" y="2914840"/>
            <a:ext cx="1196995" cy="1788050"/>
          </a:xfrm>
          <a:prstGeom prst="line">
            <a:avLst/>
          </a:prstGeom>
          <a:noFill/>
          <a:ln w="63500" cap="sq">
            <a:solidFill>
              <a:srgbClr val="7A7A7A"/>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dirty="0">
              <a:latin typeface="Roboto" panose="02000000000000000000" pitchFamily="2" charset="0"/>
              <a:ea typeface="Roboto" panose="02000000000000000000" pitchFamily="2" charset="0"/>
              <a:cs typeface="Roboto" panose="02000000000000000000" pitchFamily="2" charset="0"/>
            </a:endParaRPr>
          </a:p>
        </p:txBody>
      </p:sp>
      <p:sp>
        <p:nvSpPr>
          <p:cNvPr id="99" name="Rectangle 24">
            <a:extLst>
              <a:ext uri="{FF2B5EF4-FFF2-40B4-BE49-F238E27FC236}">
                <a16:creationId xmlns:a16="http://schemas.microsoft.com/office/drawing/2014/main" id="{6890E4C8-50F2-71EB-09AC-BD23D040FC68}"/>
              </a:ext>
            </a:extLst>
          </p:cNvPr>
          <p:cNvSpPr>
            <a:spLocks noChangeArrowheads="1"/>
          </p:cNvSpPr>
          <p:nvPr/>
        </p:nvSpPr>
        <p:spPr bwMode="auto">
          <a:xfrm>
            <a:off x="10210539" y="3871585"/>
            <a:ext cx="839810" cy="531525"/>
          </a:xfrm>
          <a:prstGeom prst="rect">
            <a:avLst/>
          </a:prstGeom>
          <a:solidFill>
            <a:schemeClr val="bg1"/>
          </a:solidFill>
          <a:ln w="9525"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Weekly Build</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sp>
        <p:nvSpPr>
          <p:cNvPr id="100" name="Line 25">
            <a:extLst>
              <a:ext uri="{FF2B5EF4-FFF2-40B4-BE49-F238E27FC236}">
                <a16:creationId xmlns:a16="http://schemas.microsoft.com/office/drawing/2014/main" id="{8E9DC782-DBAF-9754-1B54-EA910081A5F2}"/>
              </a:ext>
            </a:extLst>
          </p:cNvPr>
          <p:cNvSpPr>
            <a:spLocks noChangeShapeType="1"/>
          </p:cNvSpPr>
          <p:nvPr/>
        </p:nvSpPr>
        <p:spPr bwMode="auto">
          <a:xfrm flipV="1">
            <a:off x="6094412" y="4218140"/>
            <a:ext cx="4054470" cy="518288"/>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dirty="0">
              <a:latin typeface="Roboto" panose="02000000000000000000" pitchFamily="2" charset="0"/>
              <a:ea typeface="Roboto" panose="02000000000000000000" pitchFamily="2" charset="0"/>
              <a:cs typeface="Roboto" panose="02000000000000000000" pitchFamily="2" charset="0"/>
            </a:endParaRPr>
          </a:p>
        </p:txBody>
      </p:sp>
      <p:sp>
        <p:nvSpPr>
          <p:cNvPr id="106" name="Line 28">
            <a:extLst>
              <a:ext uri="{FF2B5EF4-FFF2-40B4-BE49-F238E27FC236}">
                <a16:creationId xmlns:a16="http://schemas.microsoft.com/office/drawing/2014/main" id="{6B7F778E-6541-D603-867B-B5AF8EC83238}"/>
              </a:ext>
            </a:extLst>
          </p:cNvPr>
          <p:cNvSpPr>
            <a:spLocks noChangeShapeType="1"/>
          </p:cNvSpPr>
          <p:nvPr/>
        </p:nvSpPr>
        <p:spPr bwMode="auto">
          <a:xfrm flipH="1">
            <a:off x="7648592" y="2383316"/>
            <a:ext cx="1145968" cy="10630"/>
          </a:xfrm>
          <a:prstGeom prst="line">
            <a:avLst/>
          </a:prstGeom>
          <a:noFill/>
          <a:ln w="63500" cap="sq">
            <a:solidFill>
              <a:srgbClr val="7A7A7A"/>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07" name="Line 29">
            <a:extLst>
              <a:ext uri="{FF2B5EF4-FFF2-40B4-BE49-F238E27FC236}">
                <a16:creationId xmlns:a16="http://schemas.microsoft.com/office/drawing/2014/main" id="{41CB2F1D-714C-00D8-AB93-EEEB57E65602}"/>
              </a:ext>
            </a:extLst>
          </p:cNvPr>
          <p:cNvSpPr>
            <a:spLocks noChangeShapeType="1"/>
          </p:cNvSpPr>
          <p:nvPr/>
        </p:nvSpPr>
        <p:spPr bwMode="auto">
          <a:xfrm flipV="1">
            <a:off x="8720147" y="2523639"/>
            <a:ext cx="359311" cy="14883"/>
          </a:xfrm>
          <a:prstGeom prst="line">
            <a:avLst/>
          </a:prstGeom>
          <a:noFill/>
          <a:ln w="63500" cap="sq">
            <a:solidFill>
              <a:srgbClr val="7A7A7A"/>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08" name="Line 30">
            <a:extLst>
              <a:ext uri="{FF2B5EF4-FFF2-40B4-BE49-F238E27FC236}">
                <a16:creationId xmlns:a16="http://schemas.microsoft.com/office/drawing/2014/main" id="{BEDDDFC1-167F-32B2-3698-542D0B082D49}"/>
              </a:ext>
            </a:extLst>
          </p:cNvPr>
          <p:cNvSpPr>
            <a:spLocks noChangeShapeType="1"/>
          </p:cNvSpPr>
          <p:nvPr/>
        </p:nvSpPr>
        <p:spPr bwMode="auto">
          <a:xfrm flipV="1">
            <a:off x="8728651" y="2406703"/>
            <a:ext cx="57405" cy="116935"/>
          </a:xfrm>
          <a:prstGeom prst="line">
            <a:avLst/>
          </a:prstGeom>
          <a:noFill/>
          <a:ln w="63500" cap="sq">
            <a:solidFill>
              <a:srgbClr val="7A7A7A"/>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09" name="Rectangle 31">
            <a:extLst>
              <a:ext uri="{FF2B5EF4-FFF2-40B4-BE49-F238E27FC236}">
                <a16:creationId xmlns:a16="http://schemas.microsoft.com/office/drawing/2014/main" id="{F54310FC-54E7-C7D2-747A-D73A69689C3C}"/>
              </a:ext>
            </a:extLst>
          </p:cNvPr>
          <p:cNvSpPr>
            <a:spLocks noChangeArrowheads="1"/>
          </p:cNvSpPr>
          <p:nvPr/>
        </p:nvSpPr>
        <p:spPr bwMode="auto">
          <a:xfrm>
            <a:off x="7808050" y="2211102"/>
            <a:ext cx="839810" cy="363563"/>
          </a:xfrm>
          <a:prstGeom prst="rect">
            <a:avLst/>
          </a:prstGeom>
          <a:solidFill>
            <a:schemeClr val="bg1"/>
          </a:solidFill>
          <a:ln w="9525" cap="sq">
            <a:solidFill>
              <a:srgbClr val="7A7A7A"/>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Monthly P.O.</a:t>
            </a:r>
          </a:p>
          <a:p>
            <a:pP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cs typeface="Roboto" panose="02000000000000000000" pitchFamily="2" charset="0"/>
              </a:rPr>
              <a:t>(Faxed)</a:t>
            </a:r>
          </a:p>
        </p:txBody>
      </p:sp>
      <p:sp>
        <p:nvSpPr>
          <p:cNvPr id="104" name="Line 33">
            <a:extLst>
              <a:ext uri="{FF2B5EF4-FFF2-40B4-BE49-F238E27FC236}">
                <a16:creationId xmlns:a16="http://schemas.microsoft.com/office/drawing/2014/main" id="{CC7D8E54-A40D-F944-44FD-F32D6C2B0593}"/>
              </a:ext>
            </a:extLst>
          </p:cNvPr>
          <p:cNvSpPr>
            <a:spLocks noChangeShapeType="1"/>
          </p:cNvSpPr>
          <p:nvPr/>
        </p:nvSpPr>
        <p:spPr bwMode="auto">
          <a:xfrm flipV="1">
            <a:off x="6798732" y="2587420"/>
            <a:ext cx="1102865" cy="2566426"/>
          </a:xfrm>
          <a:prstGeom prst="line">
            <a:avLst/>
          </a:prstGeom>
          <a:noFill/>
          <a:ln w="28575"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3" name="Group 2">
            <a:extLst>
              <a:ext uri="{FF2B5EF4-FFF2-40B4-BE49-F238E27FC236}">
                <a16:creationId xmlns:a16="http://schemas.microsoft.com/office/drawing/2014/main" id="{04CFAF11-C3D5-FA1E-BF8C-EDF6AC0A65F0}"/>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6E38A047-2D98-924B-9F63-7DE4DD17202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E8F6B556-D655-D466-984D-D94E4A868A7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 name="AutoShape 9">
              <a:extLst>
                <a:ext uri="{FF2B5EF4-FFF2-40B4-BE49-F238E27FC236}">
                  <a16:creationId xmlns:a16="http://schemas.microsoft.com/office/drawing/2014/main" id="{FE2765EA-19D5-26C2-B2AB-483A10758A1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 name="AutoShape 9">
              <a:extLst>
                <a:ext uri="{FF2B5EF4-FFF2-40B4-BE49-F238E27FC236}">
                  <a16:creationId xmlns:a16="http://schemas.microsoft.com/office/drawing/2014/main" id="{8B8FBA33-693C-6856-E457-F53CDB3BE5E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 name="AutoShape 9">
              <a:extLst>
                <a:ext uri="{FF2B5EF4-FFF2-40B4-BE49-F238E27FC236}">
                  <a16:creationId xmlns:a16="http://schemas.microsoft.com/office/drawing/2014/main" id="{68EE504A-872A-5DAC-D688-F70C4CC4486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11">
              <a:extLst>
                <a:ext uri="{FF2B5EF4-FFF2-40B4-BE49-F238E27FC236}">
                  <a16:creationId xmlns:a16="http://schemas.microsoft.com/office/drawing/2014/main" id="{2402A13A-6F84-9DAF-B3DA-51CB2C33AA4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6" name="Slide Number Placeholder 2">
            <a:extLst>
              <a:ext uri="{FF2B5EF4-FFF2-40B4-BE49-F238E27FC236}">
                <a16:creationId xmlns:a16="http://schemas.microsoft.com/office/drawing/2014/main" id="{07937391-B685-F15D-7C23-7AC3F312E506}"/>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71</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94269867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latin typeface="Roboto" panose="02000000000000000000" pitchFamily="2" charset="0"/>
                <a:ea typeface="Roboto" panose="02000000000000000000" pitchFamily="2" charset="0"/>
                <a:cs typeface="Roboto" panose="02000000000000000000" pitchFamily="2" charset="0"/>
              </a:rPr>
              <a:t>Case Study Example: </a:t>
            </a:r>
            <a:br>
              <a:rPr lang="en-US" dirty="0">
                <a:latin typeface="Roboto" panose="02000000000000000000" pitchFamily="2" charset="0"/>
                <a:ea typeface="Roboto" panose="02000000000000000000" pitchFamily="2" charset="0"/>
                <a:cs typeface="Roboto" panose="02000000000000000000" pitchFamily="2" charset="0"/>
              </a:rPr>
            </a:br>
            <a:r>
              <a:rPr lang="en-US" dirty="0">
                <a:latin typeface="Roboto" panose="02000000000000000000" pitchFamily="2" charset="0"/>
                <a:ea typeface="Roboto" panose="02000000000000000000" pitchFamily="2" charset="0"/>
                <a:cs typeface="Roboto" panose="02000000000000000000" pitchFamily="2" charset="0"/>
              </a:rPr>
              <a:t>Mike’s Metal Enclosures (MME) </a:t>
            </a: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951596" y="1794933"/>
            <a:ext cx="10399248" cy="4478605"/>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80"/>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06450" cy="612776"/>
              <a:chOff x="474" y="1322"/>
              <a:chExt cx="508" cy="386"/>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6"/>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Ed</a:t>
                </a:r>
                <a:r>
                  <a:rPr lang="ja-JP" altLang="en-US" sz="700" b="0" dirty="0">
                    <a:solidFill>
                      <a:schemeClr val="tx1"/>
                    </a:solidFill>
                    <a:latin typeface="Roboto" panose="02000000000000000000" pitchFamily="2" charset="0"/>
                    <a:cs typeface="Roboto" panose="02000000000000000000" pitchFamily="2" charset="0"/>
                  </a:rPr>
                  <a:t>’</a:t>
                </a:r>
                <a:r>
                  <a:rPr lang="en-US" altLang="ja-JP" sz="700" b="0" dirty="0">
                    <a:solidFill>
                      <a:schemeClr val="tx1"/>
                    </a:solidFill>
                    <a:latin typeface="Roboto" panose="02000000000000000000" pitchFamily="2" charset="0"/>
                    <a:ea typeface="Roboto" panose="02000000000000000000" pitchFamily="2" charset="0"/>
                    <a:cs typeface="Roboto" panose="02000000000000000000" pitchFamily="2" charset="0"/>
                  </a:rPr>
                  <a:t>s Electrical Supply</a:t>
                </a:r>
                <a:endPar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87630" y="1493839"/>
              <a:ext cx="2498893" cy="350174"/>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pitchFamily="2" charset="0"/>
                  <a:ea typeface="Roboto" panose="02000000000000000000" pitchFamily="2" charset="0"/>
                  <a:cs typeface="Roboto" panose="02000000000000000000" pitchFamily="2" charset="0"/>
                </a:rPr>
                <a:t>Mike</a:t>
              </a:r>
              <a:r>
                <a:rPr lang="ja-JP" altLang="en-US" sz="1600" dirty="0">
                  <a:solidFill>
                    <a:schemeClr val="tx1"/>
                  </a:solidFill>
                  <a:latin typeface="Roboto" panose="02000000000000000000" pitchFamily="2" charset="0"/>
                  <a:cs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cs typeface="Roboto" panose="02000000000000000000" pitchFamily="2" charset="0"/>
                </a:rPr>
                <a:t>s Metal Enclosures (MME)</a:t>
              </a:r>
              <a:endParaRPr lang="en-US" altLang="en-US" sz="16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833438" cy="42975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5" y="2812468"/>
            <a:ext cx="2033280" cy="554993"/>
            <a:chOff x="3444" y="1604"/>
            <a:chExt cx="1043" cy="345"/>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cs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3045421"/>
            <a:ext cx="8943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cs typeface="Roboto" panose="02000000000000000000" pitchFamily="2" charset="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6" y="4168579"/>
            <a:ext cx="972919" cy="550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4308778"/>
            <a:ext cx="959100" cy="1507"/>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5" y="4137570"/>
            <a:ext cx="1036484"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4" y="4168579"/>
            <a:ext cx="972919" cy="550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4308778"/>
            <a:ext cx="959100" cy="1507"/>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3" y="4137570"/>
            <a:ext cx="911765"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8" y="4187759"/>
            <a:ext cx="972919" cy="550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4327958"/>
            <a:ext cx="959100" cy="1507"/>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7" y="4156750"/>
            <a:ext cx="911765"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74017" y="2883115"/>
            <a:ext cx="1853" cy="1231900"/>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91510" y="3544651"/>
            <a:ext cx="430394" cy="267228"/>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6791" y="3634903"/>
            <a:ext cx="191119" cy="178607"/>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257" y="3820484"/>
            <a:ext cx="94807" cy="88621"/>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208" y="3820484"/>
            <a:ext cx="94807" cy="88621"/>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7901" y="3591074"/>
            <a:ext cx="570780" cy="20005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cs typeface="Roboto" panose="02000000000000000000" pitchFamily="2" charset="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91" y="4244459"/>
            <a:ext cx="1096046" cy="305790"/>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9" y="4244459"/>
            <a:ext cx="1096046" cy="305790"/>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41" y="4244459"/>
            <a:ext cx="1096046" cy="305790"/>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3" y="4244459"/>
            <a:ext cx="777662" cy="305790"/>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cs typeface="Roboto" panose="02000000000000000000" pitchFamily="2"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6" y="4345522"/>
            <a:ext cx="305231" cy="275059"/>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3" y="4322217"/>
            <a:ext cx="305231" cy="275059"/>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7" y="4338547"/>
            <a:ext cx="305231" cy="275059"/>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74864" y="4618318"/>
            <a:ext cx="96684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3,200 Sheets</a:t>
            </a:r>
            <a:r>
              <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423448" y="4618318"/>
            <a:ext cx="8627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5,250 Pieces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720839" y="4594497"/>
            <a:ext cx="8486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9,300 Pieces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933750" y="4594497"/>
            <a:ext cx="11346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2,300 Enclosures</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40543" y="4451480"/>
            <a:ext cx="3805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5</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63207" y="4427659"/>
            <a:ext cx="3805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77396" y="4411618"/>
            <a:ext cx="3805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 1</a:t>
            </a:r>
            <a:endPar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3" y="4838077"/>
            <a:ext cx="972919" cy="800066"/>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12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=30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5 Machines</a:t>
            </a:r>
          </a:p>
          <a:p>
            <a:pPr algn="l"/>
            <a:endPar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70" y="4838077"/>
            <a:ext cx="972919" cy="800066"/>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15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 30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6" y="4838077"/>
            <a:ext cx="972919" cy="800066"/>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DOI = 20 S</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C/O Time = 120 M</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9" y="4994949"/>
            <a:ext cx="825181"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cs typeface="Roboto" panose="02000000000000000000" pitchFamily="2" charset="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90" y="2295676"/>
            <a:ext cx="1038014" cy="184611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400"/>
              <a:chOff x="435" y="1322"/>
              <a:chExt cx="583" cy="400"/>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6" y="5606995"/>
            <a:ext cx="7473338" cy="545858"/>
            <a:chOff x="2231195" y="9983478"/>
            <a:chExt cx="16050210" cy="1157523"/>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392998"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800" y="10553609"/>
              <a:ext cx="1392998"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8" y="10553609"/>
              <a:ext cx="1392998"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5"/>
              <a:ext cx="1695417"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6" y="10008380"/>
              <a:ext cx="1695417"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5" y="10008380"/>
              <a:ext cx="1695417"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8" y="9983478"/>
              <a:ext cx="1695417" cy="58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cs typeface="Roboto" panose="02000000000000000000" pitchFamily="2" charset="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4" y="5528328"/>
            <a:ext cx="1879287" cy="554993"/>
            <a:chOff x="3493" y="1604"/>
            <a:chExt cx="994" cy="345"/>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Production L.T. = 19.7 days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cs typeface="Roboto" panose="02000000000000000000" pitchFamily="2" charset="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cs typeface="Roboto" panose="02000000000000000000" pitchFamily="2" charset="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404755"/>
            <a:ext cx="6600813" cy="173927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Monthly P.O.</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Daily Orders</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13176" y="2027239"/>
              <a:ext cx="1089025" cy="709613"/>
              <a:chOff x="2402" y="1277"/>
              <a:chExt cx="686"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MRP</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02" y="1283"/>
                <a:ext cx="686"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pitchFamily="2" charset="0"/>
                    <a:ea typeface="Roboto" panose="02000000000000000000" pitchFamily="2" charset="0"/>
                    <a:cs typeface="Roboto" panose="02000000000000000000" pitchFamily="2" charset="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Weekly Build</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Weekly Build</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Weekly Build</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cs typeface="Roboto" panose="02000000000000000000" pitchFamily="2" charset="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cs typeface="Roboto" panose="02000000000000000000" pitchFamily="2" charset="0"/>
                  </a:rPr>
                  <a:t>Daily Ship</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cs typeface="Roboto" panose="02000000000000000000" pitchFamily="2" charset="0"/>
                  </a:rPr>
                  <a:t>Schedule</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cs typeface="Roboto" panose="02000000000000000000" pitchFamily="2" charset="0"/>
                  </a:rPr>
                  <a:t>(Paper)</a:t>
                </a:r>
              </a:p>
            </p:txBody>
          </p:sp>
        </p:grpSp>
      </p:grpSp>
      <p:grpSp>
        <p:nvGrpSpPr>
          <p:cNvPr id="104" name="Group 103">
            <a:extLst>
              <a:ext uri="{FF2B5EF4-FFF2-40B4-BE49-F238E27FC236}">
                <a16:creationId xmlns:a16="http://schemas.microsoft.com/office/drawing/2014/main" id="{74239455-862B-68AC-FC83-061CA6B95A53}"/>
              </a:ext>
            </a:extLst>
          </p:cNvPr>
          <p:cNvGrpSpPr/>
          <p:nvPr/>
        </p:nvGrpSpPr>
        <p:grpSpPr>
          <a:xfrm>
            <a:off x="940004" y="330919"/>
            <a:ext cx="6217883" cy="311851"/>
            <a:chOff x="940249" y="302538"/>
            <a:chExt cx="6219503" cy="311932"/>
          </a:xfrm>
        </p:grpSpPr>
        <p:sp>
          <p:nvSpPr>
            <p:cNvPr id="105" name="TextBox 104">
              <a:extLst>
                <a:ext uri="{FF2B5EF4-FFF2-40B4-BE49-F238E27FC236}">
                  <a16:creationId xmlns:a16="http://schemas.microsoft.com/office/drawing/2014/main" id="{BC234216-FEB7-69D5-45EE-3E760415B1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06" name="AutoShape 9">
              <a:extLst>
                <a:ext uri="{FF2B5EF4-FFF2-40B4-BE49-F238E27FC236}">
                  <a16:creationId xmlns:a16="http://schemas.microsoft.com/office/drawing/2014/main" id="{89354FC9-3299-3617-760C-A67B975AD65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7" name="AutoShape 9">
              <a:extLst>
                <a:ext uri="{FF2B5EF4-FFF2-40B4-BE49-F238E27FC236}">
                  <a16:creationId xmlns:a16="http://schemas.microsoft.com/office/drawing/2014/main" id="{B15E5A05-40F4-0F75-2DAD-7618D4F57AF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AutoShape 9">
              <a:extLst>
                <a:ext uri="{FF2B5EF4-FFF2-40B4-BE49-F238E27FC236}">
                  <a16:creationId xmlns:a16="http://schemas.microsoft.com/office/drawing/2014/main" id="{EBEBB6E2-37A9-FB86-6B42-A6BA4A225AD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9" name="AutoShape 9">
              <a:extLst>
                <a:ext uri="{FF2B5EF4-FFF2-40B4-BE49-F238E27FC236}">
                  <a16:creationId xmlns:a16="http://schemas.microsoft.com/office/drawing/2014/main" id="{FACA1D42-EEA1-3215-370A-3D126A8D397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0" name="AutoShape 11">
              <a:extLst>
                <a:ext uri="{FF2B5EF4-FFF2-40B4-BE49-F238E27FC236}">
                  <a16:creationId xmlns:a16="http://schemas.microsoft.com/office/drawing/2014/main" id="{707C48BE-3D75-7343-7EF1-6A66E2185116}"/>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11" name="Slide Number Placeholder 2">
            <a:extLst>
              <a:ext uri="{FF2B5EF4-FFF2-40B4-BE49-F238E27FC236}">
                <a16:creationId xmlns:a16="http://schemas.microsoft.com/office/drawing/2014/main" id="{8F29DAAC-A5FD-BBA3-823A-B63B8A34585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72</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560340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9178A2-1F47-CD19-6513-D96AFE0D75EA}"/>
              </a:ext>
            </a:extLst>
          </p:cNvPr>
          <p:cNvSpPr>
            <a:spLocks noGrp="1"/>
          </p:cNvSpPr>
          <p:nvPr>
            <p:ph type="title"/>
          </p:nvPr>
        </p:nvSpPr>
        <p:spPr/>
        <p:txBody>
          <a:bodyPr>
            <a:normAutofit/>
          </a:bodyPr>
          <a:lstStyle/>
          <a:p>
            <a:r>
              <a:rPr lang="en-US" altLang="en-US" dirty="0"/>
              <a:t>Review Exercise</a:t>
            </a:r>
            <a:endParaRPr lang="en-US" dirty="0"/>
          </a:p>
        </p:txBody>
      </p:sp>
      <p:sp>
        <p:nvSpPr>
          <p:cNvPr id="3" name="Text Placeholder 2">
            <a:extLst>
              <a:ext uri="{FF2B5EF4-FFF2-40B4-BE49-F238E27FC236}">
                <a16:creationId xmlns:a16="http://schemas.microsoft.com/office/drawing/2014/main" id="{EBE5C0C0-0484-36DB-0B83-25D3B133C300}"/>
              </a:ext>
            </a:extLst>
          </p:cNvPr>
          <p:cNvSpPr>
            <a:spLocks noGrp="1"/>
          </p:cNvSpPr>
          <p:nvPr>
            <p:ph idx="1"/>
          </p:nvPr>
        </p:nvSpPr>
        <p:spPr/>
        <p:txBody>
          <a:bodyPr>
            <a:normAutofit/>
          </a:bodyPr>
          <a:lstStyle/>
          <a:p>
            <a:pPr marL="0" indent="0">
              <a:buNone/>
            </a:pPr>
            <a:r>
              <a:rPr lang="en-US" altLang="en-US" b="1" dirty="0"/>
              <a:t>2 Minute Review</a:t>
            </a:r>
          </a:p>
          <a:p>
            <a:r>
              <a:rPr lang="en-US" altLang="en-US" dirty="0"/>
              <a:t>In pairs, or in small groups, spend 2 minutes discussing key learnings and take-aways from this Value Stream Mapping Event thus far</a:t>
            </a:r>
          </a:p>
          <a:p>
            <a:r>
              <a:rPr lang="en-US" altLang="en-US" dirty="0"/>
              <a:t>One person from each group will share one learning that was discussed with the rest of the class</a:t>
            </a:r>
          </a:p>
          <a:p>
            <a:endParaRPr lang="en-US" dirty="0"/>
          </a:p>
        </p:txBody>
      </p:sp>
      <p:sp>
        <p:nvSpPr>
          <p:cNvPr id="4" name="TextBox 3">
            <a:extLst>
              <a:ext uri="{FF2B5EF4-FFF2-40B4-BE49-F238E27FC236}">
                <a16:creationId xmlns:a16="http://schemas.microsoft.com/office/drawing/2014/main" id="{54BF33F9-A890-D8F4-0F71-5DA3A9F3DFB8}"/>
              </a:ext>
            </a:extLst>
          </p:cNvPr>
          <p:cNvSpPr txBox="1"/>
          <p:nvPr/>
        </p:nvSpPr>
        <p:spPr>
          <a:xfrm>
            <a:off x="1780104" y="1339541"/>
            <a:ext cx="1285595" cy="2665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altLang="en-US" sz="1399" dirty="0">
                <a:solidFill>
                  <a:schemeClr val="bg1"/>
                </a:solidFill>
              </a:rPr>
              <a:t>2 Minute Review</a:t>
            </a:r>
          </a:p>
        </p:txBody>
      </p:sp>
      <p:grpSp>
        <p:nvGrpSpPr>
          <p:cNvPr id="13" name="Group 12">
            <a:extLst>
              <a:ext uri="{FF2B5EF4-FFF2-40B4-BE49-F238E27FC236}">
                <a16:creationId xmlns:a16="http://schemas.microsoft.com/office/drawing/2014/main" id="{EEDB1CE0-8F25-D154-6D91-3F758CF773A6}"/>
              </a:ext>
            </a:extLst>
          </p:cNvPr>
          <p:cNvGrpSpPr/>
          <p:nvPr/>
        </p:nvGrpSpPr>
        <p:grpSpPr>
          <a:xfrm>
            <a:off x="940004" y="330919"/>
            <a:ext cx="6217883" cy="311851"/>
            <a:chOff x="940249" y="302538"/>
            <a:chExt cx="6219503" cy="311932"/>
          </a:xfrm>
        </p:grpSpPr>
        <p:sp>
          <p:nvSpPr>
            <p:cNvPr id="14" name="TextBox 13">
              <a:extLst>
                <a:ext uri="{FF2B5EF4-FFF2-40B4-BE49-F238E27FC236}">
                  <a16:creationId xmlns:a16="http://schemas.microsoft.com/office/drawing/2014/main" id="{B53D39CB-BC45-F43E-3D35-93F3A5C9C0C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5" name="AutoShape 9">
              <a:extLst>
                <a:ext uri="{FF2B5EF4-FFF2-40B4-BE49-F238E27FC236}">
                  <a16:creationId xmlns:a16="http://schemas.microsoft.com/office/drawing/2014/main" id="{B94F2FAB-A042-1C63-3F9B-66BD0A9A7E2D}"/>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8053BE8A-0BA6-1407-DA4C-7955615B4B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D113BE1C-2079-CBBC-4346-E032B958A19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E644A643-AD85-3409-C7FB-85CC3A4E812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11">
              <a:extLst>
                <a:ext uri="{FF2B5EF4-FFF2-40B4-BE49-F238E27FC236}">
                  <a16:creationId xmlns:a16="http://schemas.microsoft.com/office/drawing/2014/main" id="{E9824075-A901-5B05-FA3D-E1668CE48936}"/>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0" name="Slide Number Placeholder 2">
            <a:extLst>
              <a:ext uri="{FF2B5EF4-FFF2-40B4-BE49-F238E27FC236}">
                <a16:creationId xmlns:a16="http://schemas.microsoft.com/office/drawing/2014/main" id="{2DF5A801-47F4-B127-5E8C-2F59646EFB5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73</a:t>
            </a:fld>
            <a:endParaRPr lang="en-US" dirty="0"/>
          </a:p>
        </p:txBody>
      </p:sp>
    </p:spTree>
    <p:extLst>
      <p:ext uri="{BB962C8B-B14F-4D97-AF65-F5344CB8AC3E}">
        <p14:creationId xmlns:p14="http://schemas.microsoft.com/office/powerpoint/2010/main" val="202049789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9178A2-1F47-CD19-6513-D96AFE0D75EA}"/>
              </a:ext>
            </a:extLst>
          </p:cNvPr>
          <p:cNvSpPr>
            <a:spLocks noGrp="1"/>
          </p:cNvSpPr>
          <p:nvPr>
            <p:ph type="title"/>
          </p:nvPr>
        </p:nvSpPr>
        <p:spPr/>
        <p:txBody>
          <a:bodyPr>
            <a:normAutofit/>
          </a:bodyPr>
          <a:lstStyle/>
          <a:p>
            <a:r>
              <a:rPr lang="en-US" altLang="en-US" dirty="0"/>
              <a:t>Your Turn….</a:t>
            </a:r>
            <a:endParaRPr lang="en-US" dirty="0"/>
          </a:p>
        </p:txBody>
      </p:sp>
      <p:sp>
        <p:nvSpPr>
          <p:cNvPr id="22" name="Content Placeholder 21">
            <a:extLst>
              <a:ext uri="{FF2B5EF4-FFF2-40B4-BE49-F238E27FC236}">
                <a16:creationId xmlns:a16="http://schemas.microsoft.com/office/drawing/2014/main" id="{789D1370-57F5-A1C8-A4E4-C1055BD8E31D}"/>
              </a:ext>
            </a:extLst>
          </p:cNvPr>
          <p:cNvSpPr>
            <a:spLocks noGrp="1"/>
          </p:cNvSpPr>
          <p:nvPr>
            <p:ph idx="1"/>
          </p:nvPr>
        </p:nvSpPr>
        <p:spPr/>
        <p:txBody>
          <a:bodyPr/>
          <a:lstStyle/>
          <a:p>
            <a:r>
              <a:rPr lang="en-US" dirty="0"/>
              <a:t>The following pages review the process for your team to start creating the current state map for your business</a:t>
            </a:r>
          </a:p>
          <a:p>
            <a:r>
              <a:rPr lang="en-US" dirty="0"/>
              <a:t>We will complete the data boxes step, information flow, and time ladder on the wall</a:t>
            </a:r>
          </a:p>
          <a:p>
            <a:endParaRPr lang="en-US" dirty="0"/>
          </a:p>
          <a:p>
            <a:endParaRPr lang="en-US" dirty="0"/>
          </a:p>
        </p:txBody>
      </p:sp>
      <p:grpSp>
        <p:nvGrpSpPr>
          <p:cNvPr id="3" name="Group 2">
            <a:extLst>
              <a:ext uri="{FF2B5EF4-FFF2-40B4-BE49-F238E27FC236}">
                <a16:creationId xmlns:a16="http://schemas.microsoft.com/office/drawing/2014/main" id="{82456B96-25CA-F0A0-F736-253965A577E1}"/>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CF48EE24-A0BA-3068-66A9-9EA7D5C2776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300B15C6-CAE5-792B-0E6E-1F4A8003DA8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C36FC0AE-74EC-D697-0171-8F64E7E01AD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4EADF45F-545E-A01B-F3D8-9628B6569C8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B35E08F7-823B-6687-9CAE-522BBA551A2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F586F9EB-B2E5-ABA2-6A34-7D676B131D9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AA024D46-81A1-19D8-6B65-39DDFB86E1AC}"/>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74</a:t>
            </a:fld>
            <a:endParaRPr lang="en-US" dirty="0"/>
          </a:p>
        </p:txBody>
      </p:sp>
    </p:spTree>
    <p:extLst>
      <p:ext uri="{BB962C8B-B14F-4D97-AF65-F5344CB8AC3E}">
        <p14:creationId xmlns:p14="http://schemas.microsoft.com/office/powerpoint/2010/main" val="47834308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9178A2-1F47-CD19-6513-D96AFE0D75EA}"/>
              </a:ext>
            </a:extLst>
          </p:cNvPr>
          <p:cNvSpPr>
            <a:spLocks noGrp="1"/>
          </p:cNvSpPr>
          <p:nvPr>
            <p:ph type="title"/>
          </p:nvPr>
        </p:nvSpPr>
        <p:spPr/>
        <p:txBody>
          <a:bodyPr>
            <a:normAutofit fontScale="90000"/>
          </a:bodyPr>
          <a:lstStyle/>
          <a:p>
            <a:r>
              <a:rPr lang="en-US" altLang="en-US" dirty="0"/>
              <a:t>Supplies for the Current State Process Walk</a:t>
            </a:r>
            <a:endParaRPr lang="en-US" dirty="0"/>
          </a:p>
        </p:txBody>
      </p:sp>
      <p:sp>
        <p:nvSpPr>
          <p:cNvPr id="3" name="Text Placeholder 2">
            <a:extLst>
              <a:ext uri="{FF2B5EF4-FFF2-40B4-BE49-F238E27FC236}">
                <a16:creationId xmlns:a16="http://schemas.microsoft.com/office/drawing/2014/main" id="{EBE5C0C0-0484-36DB-0B83-25D3B133C300}"/>
              </a:ext>
            </a:extLst>
          </p:cNvPr>
          <p:cNvSpPr>
            <a:spLocks noGrp="1"/>
          </p:cNvSpPr>
          <p:nvPr>
            <p:ph idx="1"/>
          </p:nvPr>
        </p:nvSpPr>
        <p:spPr/>
        <p:txBody>
          <a:bodyPr>
            <a:normAutofit/>
          </a:bodyPr>
          <a:lstStyle/>
          <a:p>
            <a:r>
              <a:rPr lang="en-US" altLang="en-US" dirty="0"/>
              <a:t>Personal Protective Equipment (PPE) required by facility</a:t>
            </a:r>
          </a:p>
          <a:p>
            <a:pPr lvl="1"/>
            <a:r>
              <a:rPr lang="en-US" altLang="en-US" dirty="0"/>
              <a:t>i.e.: safety glasses, earplugs, steel-toed shoes, etc. </a:t>
            </a:r>
          </a:p>
          <a:p>
            <a:r>
              <a:rPr lang="en-US" altLang="en-US" dirty="0"/>
              <a:t>11x17” paper </a:t>
            </a:r>
          </a:p>
          <a:p>
            <a:r>
              <a:rPr lang="en-US" altLang="en-US" dirty="0"/>
              <a:t>clipboard </a:t>
            </a:r>
          </a:p>
          <a:p>
            <a:r>
              <a:rPr lang="en-US" altLang="en-US" dirty="0"/>
              <a:t>icon sheet  </a:t>
            </a:r>
          </a:p>
          <a:p>
            <a:r>
              <a:rPr lang="en-US" altLang="en-US" dirty="0"/>
              <a:t>completed Current State Map example drawn in class </a:t>
            </a:r>
          </a:p>
          <a:p>
            <a:r>
              <a:rPr lang="en-US" altLang="en-US" dirty="0"/>
              <a:t>pencil</a:t>
            </a:r>
          </a:p>
          <a:p>
            <a:r>
              <a:rPr lang="en-US" altLang="en-US" dirty="0"/>
              <a:t>two stopwatches needed for team</a:t>
            </a:r>
          </a:p>
        </p:txBody>
      </p:sp>
      <p:grpSp>
        <p:nvGrpSpPr>
          <p:cNvPr id="4" name="Group 3">
            <a:extLst>
              <a:ext uri="{FF2B5EF4-FFF2-40B4-BE49-F238E27FC236}">
                <a16:creationId xmlns:a16="http://schemas.microsoft.com/office/drawing/2014/main" id="{3D791ED9-56CD-814D-FB3D-740F2A9EE24A}"/>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989D5424-9198-09D3-339E-494E4DA6605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9EEA5F56-6B09-2D64-9CF2-C1E18BD3FB4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F5CDF711-04A2-2032-E052-FBBB5933C6B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D87D12C6-1A32-0F1A-D59B-98F5D4F839F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6DE81381-237D-B294-077B-0D7FAEF2DEE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6F45F5FF-A94F-5FAA-152B-B296DB6123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0D6671E1-6F26-B97C-7ED6-0411A632B2D6}"/>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75</a:t>
            </a:fld>
            <a:endParaRPr lang="en-US" dirty="0"/>
          </a:p>
        </p:txBody>
      </p:sp>
    </p:spTree>
    <p:extLst>
      <p:ext uri="{BB962C8B-B14F-4D97-AF65-F5344CB8AC3E}">
        <p14:creationId xmlns:p14="http://schemas.microsoft.com/office/powerpoint/2010/main" val="152687728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a:xfrm>
            <a:off x="837981" y="617668"/>
            <a:ext cx="10512862" cy="1106227"/>
          </a:xfrm>
        </p:spPr>
        <p:txBody>
          <a:bodyPr>
            <a:normAutofit fontScale="90000"/>
          </a:bodyPr>
          <a:lstStyle/>
          <a:p>
            <a:r>
              <a:rPr lang="en-US" dirty="0">
                <a:latin typeface="Roboto" panose="02000000000000000000" pitchFamily="2" charset="0"/>
                <a:ea typeface="Roboto" panose="02000000000000000000" pitchFamily="2" charset="0"/>
                <a:cs typeface="Roboto" panose="02000000000000000000" pitchFamily="2" charset="0"/>
              </a:rPr>
              <a:t>Method to Create the Current State Map: Team Walk #2</a:t>
            </a:r>
          </a:p>
        </p:txBody>
      </p:sp>
      <p:grpSp>
        <p:nvGrpSpPr>
          <p:cNvPr id="27" name="Group 26">
            <a:extLst>
              <a:ext uri="{FF2B5EF4-FFF2-40B4-BE49-F238E27FC236}">
                <a16:creationId xmlns:a16="http://schemas.microsoft.com/office/drawing/2014/main" id="{4F9A6CC4-A6B3-F62F-CE4A-FD2DEE7ABB4B}"/>
              </a:ext>
            </a:extLst>
          </p:cNvPr>
          <p:cNvGrpSpPr/>
          <p:nvPr/>
        </p:nvGrpSpPr>
        <p:grpSpPr>
          <a:xfrm>
            <a:off x="836206" y="1921972"/>
            <a:ext cx="9192300" cy="4170445"/>
            <a:chOff x="492125" y="1500188"/>
            <a:chExt cx="8213725" cy="4298950"/>
          </a:xfrm>
        </p:grpSpPr>
        <p:sp>
          <p:nvSpPr>
            <p:cNvPr id="14" name="Rectangle 2">
              <a:extLst>
                <a:ext uri="{FF2B5EF4-FFF2-40B4-BE49-F238E27FC236}">
                  <a16:creationId xmlns:a16="http://schemas.microsoft.com/office/drawing/2014/main" id="{5DA1E2B4-77A6-5091-B615-2803D4CA8251}"/>
                </a:ext>
              </a:extLst>
            </p:cNvPr>
            <p:cNvSpPr>
              <a:spLocks noChangeArrowheads="1"/>
            </p:cNvSpPr>
            <p:nvPr/>
          </p:nvSpPr>
          <p:spPr bwMode="auto">
            <a:xfrm>
              <a:off x="492125" y="1743846"/>
              <a:ext cx="2916238" cy="838200"/>
            </a:xfrm>
            <a:prstGeom prst="rect">
              <a:avLst/>
            </a:prstGeom>
            <a:solidFill>
              <a:srgbClr val="7A7A7A"/>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FEFEFE"/>
                  </a:solidFill>
                  <a:latin typeface="Roboto" panose="02000000000000000000" pitchFamily="2" charset="0"/>
                  <a:ea typeface="Roboto" panose="02000000000000000000" pitchFamily="2" charset="0"/>
                  <a:cs typeface="Roboto" panose="02000000000000000000" pitchFamily="2" charset="0"/>
                </a:rPr>
                <a:t>Team Walk #1:</a:t>
              </a:r>
            </a:p>
            <a:p>
              <a:pPr eaLnBrk="1" hangingPunct="1">
                <a:lnSpc>
                  <a:spcPct val="100000"/>
                </a:lnSpc>
                <a:spcBef>
                  <a:spcPct val="0"/>
                </a:spcBef>
              </a:pPr>
              <a:r>
                <a:rPr lang="en-US" altLang="en-US" sz="1800" dirty="0">
                  <a:solidFill>
                    <a:srgbClr val="FEFEFE"/>
                  </a:solidFill>
                  <a:latin typeface="Roboto" panose="02000000000000000000" pitchFamily="2" charset="0"/>
                  <a:ea typeface="Roboto" panose="02000000000000000000" pitchFamily="2" charset="0"/>
                  <a:cs typeface="Roboto" panose="02000000000000000000" pitchFamily="2" charset="0"/>
                </a:rPr>
                <a:t>Process Identification</a:t>
              </a:r>
            </a:p>
          </p:txBody>
        </p:sp>
        <p:sp>
          <p:nvSpPr>
            <p:cNvPr id="15" name="Rectangle 3">
              <a:extLst>
                <a:ext uri="{FF2B5EF4-FFF2-40B4-BE49-F238E27FC236}">
                  <a16:creationId xmlns:a16="http://schemas.microsoft.com/office/drawing/2014/main" id="{D48DC50C-A284-6D3F-B7A7-5103C7C8E356}"/>
                </a:ext>
              </a:extLst>
            </p:cNvPr>
            <p:cNvSpPr>
              <a:spLocks noChangeArrowheads="1"/>
            </p:cNvSpPr>
            <p:nvPr/>
          </p:nvSpPr>
          <p:spPr bwMode="auto">
            <a:xfrm>
              <a:off x="492125" y="3351213"/>
              <a:ext cx="2916238" cy="841375"/>
            </a:xfrm>
            <a:prstGeom prst="rect">
              <a:avLst/>
            </a:prstGeom>
            <a:solidFill>
              <a:srgbClr val="FFB627"/>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Team Walk #2:</a:t>
              </a:r>
            </a:p>
            <a:p>
              <a:pPr eaLnBrk="1" hangingPunct="1">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Data Gathering</a:t>
              </a:r>
            </a:p>
          </p:txBody>
        </p:sp>
        <p:sp>
          <p:nvSpPr>
            <p:cNvPr id="16" name="Rectangle 4">
              <a:extLst>
                <a:ext uri="{FF2B5EF4-FFF2-40B4-BE49-F238E27FC236}">
                  <a16:creationId xmlns:a16="http://schemas.microsoft.com/office/drawing/2014/main" id="{AE8DB955-5220-2060-FD2F-428A0AFC4B09}"/>
                </a:ext>
              </a:extLst>
            </p:cNvPr>
            <p:cNvSpPr>
              <a:spLocks noChangeArrowheads="1"/>
            </p:cNvSpPr>
            <p:nvPr/>
          </p:nvSpPr>
          <p:spPr bwMode="auto">
            <a:xfrm>
              <a:off x="492125" y="4960938"/>
              <a:ext cx="2916238" cy="838200"/>
            </a:xfrm>
            <a:prstGeom prst="rect">
              <a:avLst/>
            </a:prstGeom>
            <a:solidFill>
              <a:srgbClr val="EE3228"/>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Roboto" panose="02000000000000000000" pitchFamily="2" charset="0"/>
                  <a:ea typeface="Roboto" panose="02000000000000000000" pitchFamily="2" charset="0"/>
                  <a:cs typeface="Roboto" panose="02000000000000000000" pitchFamily="2" charset="0"/>
                </a:rPr>
                <a:t>Map Creation</a:t>
              </a:r>
            </a:p>
          </p:txBody>
        </p:sp>
        <p:cxnSp>
          <p:nvCxnSpPr>
            <p:cNvPr id="17" name="AutoShape 5">
              <a:extLst>
                <a:ext uri="{FF2B5EF4-FFF2-40B4-BE49-F238E27FC236}">
                  <a16:creationId xmlns:a16="http://schemas.microsoft.com/office/drawing/2014/main" id="{6FB9ED93-9847-F7D6-95DC-B948C27AD45D}"/>
                </a:ext>
              </a:extLst>
            </p:cNvPr>
            <p:cNvCxnSpPr>
              <a:cxnSpLocks noChangeShapeType="1"/>
              <a:stCxn id="14" idx="2"/>
              <a:endCxn id="15" idx="0"/>
            </p:cNvCxnSpPr>
            <p:nvPr/>
          </p:nvCxnSpPr>
          <p:spPr bwMode="auto">
            <a:xfrm>
              <a:off x="1950244" y="2582046"/>
              <a:ext cx="0" cy="769167"/>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18" name="AutoShape 6">
              <a:extLst>
                <a:ext uri="{FF2B5EF4-FFF2-40B4-BE49-F238E27FC236}">
                  <a16:creationId xmlns:a16="http://schemas.microsoft.com/office/drawing/2014/main" id="{C6CC2240-3D99-BFA7-F47A-6B77C1D89AB0}"/>
                </a:ext>
              </a:extLst>
            </p:cNvPr>
            <p:cNvCxnSpPr>
              <a:cxnSpLocks noChangeShapeType="1"/>
              <a:stCxn id="15" idx="2"/>
              <a:endCxn id="16" idx="0"/>
            </p:cNvCxnSpPr>
            <p:nvPr/>
          </p:nvCxnSpPr>
          <p:spPr bwMode="auto">
            <a:xfrm>
              <a:off x="1951038" y="4192588"/>
              <a:ext cx="0" cy="768350"/>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19" name="AutoShape 7">
              <a:extLst>
                <a:ext uri="{FF2B5EF4-FFF2-40B4-BE49-F238E27FC236}">
                  <a16:creationId xmlns:a16="http://schemas.microsoft.com/office/drawing/2014/main" id="{20D71AC6-0569-6FB9-10FC-B289627C5D45}"/>
                </a:ext>
              </a:extLst>
            </p:cNvPr>
            <p:cNvSpPr>
              <a:spLocks noChangeArrowheads="1"/>
            </p:cNvSpPr>
            <p:nvPr/>
          </p:nvSpPr>
          <p:spPr bwMode="auto">
            <a:xfrm>
              <a:off x="3573463" y="2015308"/>
              <a:ext cx="401637" cy="498475"/>
            </a:xfrm>
            <a:prstGeom prst="rightArrow">
              <a:avLst>
                <a:gd name="adj1" fmla="val 58185"/>
                <a:gd name="adj2" fmla="val 60870"/>
              </a:avLst>
            </a:prstGeom>
            <a:solidFill>
              <a:srgbClr val="EE3228"/>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0" name="AutoShape 8">
              <a:extLst>
                <a:ext uri="{FF2B5EF4-FFF2-40B4-BE49-F238E27FC236}">
                  <a16:creationId xmlns:a16="http://schemas.microsoft.com/office/drawing/2014/main" id="{F3E0DF8F-A17E-55E4-FBE6-423FCD1541D4}"/>
                </a:ext>
              </a:extLst>
            </p:cNvPr>
            <p:cNvSpPr>
              <a:spLocks noChangeArrowheads="1"/>
            </p:cNvSpPr>
            <p:nvPr/>
          </p:nvSpPr>
          <p:spPr bwMode="auto">
            <a:xfrm>
              <a:off x="3573463" y="3484563"/>
              <a:ext cx="401637" cy="498475"/>
            </a:xfrm>
            <a:prstGeom prst="rightArrow">
              <a:avLst>
                <a:gd name="adj1" fmla="val 58185"/>
                <a:gd name="adj2" fmla="val 60870"/>
              </a:avLst>
            </a:prstGeom>
            <a:solidFill>
              <a:srgbClr val="EE3228"/>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sp>
          <p:nvSpPr>
            <p:cNvPr id="24" name="AutoShape 20">
              <a:extLst>
                <a:ext uri="{FF2B5EF4-FFF2-40B4-BE49-F238E27FC236}">
                  <a16:creationId xmlns:a16="http://schemas.microsoft.com/office/drawing/2014/main" id="{ED6CD1B6-A1D2-445E-11F7-4B760FCA7EF3}"/>
                </a:ext>
              </a:extLst>
            </p:cNvPr>
            <p:cNvSpPr>
              <a:spLocks noChangeArrowheads="1"/>
            </p:cNvSpPr>
            <p:nvPr/>
          </p:nvSpPr>
          <p:spPr bwMode="auto">
            <a:xfrm>
              <a:off x="3946525" y="18573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Everyone initially should create their OWN map</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Begin at end point and proceed in reverse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3" name="Text Box 11">
              <a:extLst>
                <a:ext uri="{FF2B5EF4-FFF2-40B4-BE49-F238E27FC236}">
                  <a16:creationId xmlns:a16="http://schemas.microsoft.com/office/drawing/2014/main" id="{53158DBE-3A35-E13E-C76B-E608BFBDF4EA}"/>
                </a:ext>
              </a:extLst>
            </p:cNvPr>
            <p:cNvSpPr txBox="1">
              <a:spLocks noChangeArrowheads="1"/>
            </p:cNvSpPr>
            <p:nvPr/>
          </p:nvSpPr>
          <p:spPr bwMode="auto">
            <a:xfrm>
              <a:off x="3987800" y="1500188"/>
              <a:ext cx="3536950" cy="475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2400" dirty="0">
                  <a:solidFill>
                    <a:srgbClr val="191C25"/>
                  </a:solidFill>
                  <a:latin typeface="Roboto" panose="02000000000000000000" pitchFamily="2" charset="0"/>
                  <a:ea typeface="Roboto" panose="02000000000000000000" pitchFamily="2" charset="0"/>
                  <a:cs typeface="Roboto" panose="02000000000000000000" pitchFamily="2" charset="0"/>
                </a:rPr>
                <a:t>Key Characteristics</a:t>
              </a:r>
            </a:p>
          </p:txBody>
        </p:sp>
        <p:sp>
          <p:nvSpPr>
            <p:cNvPr id="25" name="AutoShape 21">
              <a:extLst>
                <a:ext uri="{FF2B5EF4-FFF2-40B4-BE49-F238E27FC236}">
                  <a16:creationId xmlns:a16="http://schemas.microsoft.com/office/drawing/2014/main" id="{1164D8DE-5F04-2CD7-0038-4335738955E3}"/>
                </a:ext>
              </a:extLst>
            </p:cNvPr>
            <p:cNvSpPr>
              <a:spLocks noChangeArrowheads="1"/>
            </p:cNvSpPr>
            <p:nvPr/>
          </p:nvSpPr>
          <p:spPr bwMode="auto">
            <a:xfrm>
              <a:off x="3944938" y="327342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Decide what data will be collected for each process</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Walk reverse flow again and collect data and </a:t>
              </a:r>
              <a:b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information flow</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Use actual, observed data wherever possible</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Use smallest time units whenever possible – </a:t>
              </a:r>
              <a:b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cs typeface="Roboto" panose="02000000000000000000" pitchFamily="2" charset="0"/>
                </a:rPr>
                <a:t>be consistent</a:t>
              </a:r>
            </a:p>
          </p:txBody>
        </p:sp>
      </p:grpSp>
      <p:grpSp>
        <p:nvGrpSpPr>
          <p:cNvPr id="12" name="Group 11">
            <a:extLst>
              <a:ext uri="{FF2B5EF4-FFF2-40B4-BE49-F238E27FC236}">
                <a16:creationId xmlns:a16="http://schemas.microsoft.com/office/drawing/2014/main" id="{2244229C-8E67-AC15-FEA3-E234249E9DBD}"/>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EE6028CC-18D6-4F25-A961-5BD612D7603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1" name="AutoShape 9">
              <a:extLst>
                <a:ext uri="{FF2B5EF4-FFF2-40B4-BE49-F238E27FC236}">
                  <a16:creationId xmlns:a16="http://schemas.microsoft.com/office/drawing/2014/main" id="{62F2035F-518D-0D28-112F-09F76708388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9">
              <a:extLst>
                <a:ext uri="{FF2B5EF4-FFF2-40B4-BE49-F238E27FC236}">
                  <a16:creationId xmlns:a16="http://schemas.microsoft.com/office/drawing/2014/main" id="{4D78007C-F922-53B0-4E92-8479D8D93D4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9">
              <a:extLst>
                <a:ext uri="{FF2B5EF4-FFF2-40B4-BE49-F238E27FC236}">
                  <a16:creationId xmlns:a16="http://schemas.microsoft.com/office/drawing/2014/main" id="{89762251-D182-6DE6-5693-5A03DB5831F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AutoShape 9">
              <a:extLst>
                <a:ext uri="{FF2B5EF4-FFF2-40B4-BE49-F238E27FC236}">
                  <a16:creationId xmlns:a16="http://schemas.microsoft.com/office/drawing/2014/main" id="{036F262B-3DEB-AEF2-DD95-7F81D0CC893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AutoShape 11">
              <a:extLst>
                <a:ext uri="{FF2B5EF4-FFF2-40B4-BE49-F238E27FC236}">
                  <a16:creationId xmlns:a16="http://schemas.microsoft.com/office/drawing/2014/main" id="{40E6C2A6-D4A2-08D0-6D12-DF78FE4C49C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1" name="Slide Number Placeholder 2">
            <a:extLst>
              <a:ext uri="{FF2B5EF4-FFF2-40B4-BE49-F238E27FC236}">
                <a16:creationId xmlns:a16="http://schemas.microsoft.com/office/drawing/2014/main" id="{75DA1639-F834-E8B2-83D6-CF1F3EA3E47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76</a:t>
            </a:fld>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32" name="Line 10">
            <a:extLst>
              <a:ext uri="{FF2B5EF4-FFF2-40B4-BE49-F238E27FC236}">
                <a16:creationId xmlns:a16="http://schemas.microsoft.com/office/drawing/2014/main" id="{DF6AEA67-2A1F-D02C-3DAA-3182975BC9F8}"/>
              </a:ext>
            </a:extLst>
          </p:cNvPr>
          <p:cNvSpPr>
            <a:spLocks noChangeShapeType="1"/>
          </p:cNvSpPr>
          <p:nvPr/>
        </p:nvSpPr>
        <p:spPr bwMode="auto">
          <a:xfrm>
            <a:off x="4780332" y="2377883"/>
            <a:ext cx="5166449"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nchor="ctr"/>
          <a:lstStyle/>
          <a:p>
            <a:endParaRPr lang="en-US" sz="1399">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68241552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dirty="0">
                <a:latin typeface="Roboto" panose="02000000000000000000" pitchFamily="2" charset="0"/>
                <a:ea typeface="Roboto" panose="02000000000000000000" pitchFamily="2" charset="0"/>
                <a:cs typeface="Roboto" panose="02000000000000000000" pitchFamily="2" charset="0"/>
              </a:rPr>
              <a:t>Data Gathering Hierarchy</a:t>
            </a:r>
          </a:p>
        </p:txBody>
      </p:sp>
      <p:sp>
        <p:nvSpPr>
          <p:cNvPr id="19" name="AutoShape 7">
            <a:extLst>
              <a:ext uri="{FF2B5EF4-FFF2-40B4-BE49-F238E27FC236}">
                <a16:creationId xmlns:a16="http://schemas.microsoft.com/office/drawing/2014/main" id="{20D71AC6-0569-6FB9-10FC-B289627C5D45}"/>
              </a:ext>
            </a:extLst>
          </p:cNvPr>
          <p:cNvSpPr>
            <a:spLocks noChangeArrowheads="1"/>
          </p:cNvSpPr>
          <p:nvPr/>
        </p:nvSpPr>
        <p:spPr bwMode="auto">
          <a:xfrm rot="10800000">
            <a:off x="6231877" y="2662032"/>
            <a:ext cx="828289" cy="2338078"/>
          </a:xfrm>
          <a:prstGeom prst="rightArrow">
            <a:avLst>
              <a:gd name="adj1" fmla="val 58185"/>
              <a:gd name="adj2" fmla="val 60870"/>
            </a:avLst>
          </a:prstGeom>
          <a:solidFill>
            <a:srgbClr val="EE3228"/>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cs typeface="Roboto" panose="02000000000000000000" pitchFamily="2" charset="0"/>
            </a:endParaRPr>
          </a:p>
        </p:txBody>
      </p:sp>
      <p:grpSp>
        <p:nvGrpSpPr>
          <p:cNvPr id="34" name="Group 33">
            <a:extLst>
              <a:ext uri="{FF2B5EF4-FFF2-40B4-BE49-F238E27FC236}">
                <a16:creationId xmlns:a16="http://schemas.microsoft.com/office/drawing/2014/main" id="{DF740437-5D53-F8B0-9EB3-8A1FC0EB2F35}"/>
              </a:ext>
            </a:extLst>
          </p:cNvPr>
          <p:cNvGrpSpPr/>
          <p:nvPr/>
        </p:nvGrpSpPr>
        <p:grpSpPr>
          <a:xfrm>
            <a:off x="852220" y="1838035"/>
            <a:ext cx="5278378" cy="3576448"/>
            <a:chOff x="11788363" y="2329027"/>
            <a:chExt cx="10559506" cy="7154760"/>
          </a:xfrm>
        </p:grpSpPr>
        <p:sp>
          <p:nvSpPr>
            <p:cNvPr id="24" name="AutoShape 20">
              <a:extLst>
                <a:ext uri="{FF2B5EF4-FFF2-40B4-BE49-F238E27FC236}">
                  <a16:creationId xmlns:a16="http://schemas.microsoft.com/office/drawing/2014/main" id="{ED6CD1B6-A1D2-445E-11F7-4B760FCA7EF3}"/>
                </a:ext>
              </a:extLst>
            </p:cNvPr>
            <p:cNvSpPr>
              <a:spLocks noChangeArrowheads="1"/>
            </p:cNvSpPr>
            <p:nvPr/>
          </p:nvSpPr>
          <p:spPr bwMode="auto">
            <a:xfrm>
              <a:off x="11788607" y="3148489"/>
              <a:ext cx="10515599" cy="6335298"/>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42846" indent="-142846" algn="l">
                <a:spcBef>
                  <a:spcPct val="0"/>
                </a:spcBef>
                <a:buClr>
                  <a:schemeClr val="tx1"/>
                </a:buClr>
                <a:buSzPct val="90000"/>
                <a:buFont typeface="Arial" panose="020B0604020202020204" pitchFamily="34" charset="0"/>
                <a:buChar char="•"/>
              </a:pPr>
              <a:r>
                <a:rPr lang="en-US" altLang="en-US" sz="2000" b="0" dirty="0">
                  <a:solidFill>
                    <a:srgbClr val="191C25"/>
                  </a:solidFill>
                  <a:latin typeface="Roboto" panose="02000000000000000000" pitchFamily="2" charset="0"/>
                  <a:ea typeface="Roboto" panose="02000000000000000000" pitchFamily="2" charset="0"/>
                  <a:cs typeface="Roboto" panose="02000000000000000000" pitchFamily="2" charset="0"/>
                </a:rPr>
                <a:t>First try to observe the process firsthand in the workplace</a:t>
              </a:r>
            </a:p>
            <a:p>
              <a:pPr marL="142846" indent="-142846" algn="l">
                <a:spcBef>
                  <a:spcPct val="0"/>
                </a:spcBef>
                <a:buClr>
                  <a:schemeClr val="tx1"/>
                </a:buClr>
                <a:buSzPct val="90000"/>
                <a:buFont typeface="Arial" panose="020B0604020202020204" pitchFamily="34" charset="0"/>
                <a:buChar char="•"/>
              </a:pPr>
              <a:r>
                <a:rPr lang="en-US" altLang="en-US" sz="2000" b="0" dirty="0">
                  <a:solidFill>
                    <a:srgbClr val="191C25"/>
                  </a:solidFill>
                  <a:latin typeface="Roboto" panose="02000000000000000000" pitchFamily="2" charset="0"/>
                  <a:ea typeface="Roboto" panose="02000000000000000000" pitchFamily="2" charset="0"/>
                  <a:cs typeface="Roboto" panose="02000000000000000000" pitchFamily="2" charset="0"/>
                </a:rPr>
                <a:t>When that is not possible, continue to follow this sequence in order to obtain necessary data</a:t>
              </a:r>
            </a:p>
            <a:p>
              <a:pPr marL="142846" indent="-142846" algn="l">
                <a:spcBef>
                  <a:spcPct val="0"/>
                </a:spcBef>
                <a:buClr>
                  <a:schemeClr val="tx1"/>
                </a:buClr>
                <a:buSzPct val="90000"/>
                <a:buFont typeface="Arial" panose="020B0604020202020204" pitchFamily="34" charset="0"/>
                <a:buChar char="•"/>
              </a:pPr>
              <a:r>
                <a:rPr lang="en-US" altLang="en-US" sz="2000" b="0" dirty="0">
                  <a:solidFill>
                    <a:srgbClr val="191C25"/>
                  </a:solidFill>
                  <a:latin typeface="Roboto" panose="02000000000000000000" pitchFamily="2" charset="0"/>
                  <a:ea typeface="Roboto" panose="02000000000000000000" pitchFamily="2" charset="0"/>
                  <a:cs typeface="Roboto" panose="02000000000000000000" pitchFamily="2" charset="0"/>
                </a:rPr>
                <a:t>Always want to start with data first </a:t>
              </a:r>
            </a:p>
            <a:p>
              <a:pPr marL="142846" indent="-142846" algn="l">
                <a:spcBef>
                  <a:spcPct val="0"/>
                </a:spcBef>
                <a:buClr>
                  <a:schemeClr val="tx1"/>
                </a:buClr>
                <a:buSzPct val="90000"/>
                <a:buFont typeface="Arial" panose="020B0604020202020204" pitchFamily="34" charset="0"/>
                <a:buChar char="•"/>
              </a:pPr>
              <a:r>
                <a:rPr lang="en-US" altLang="en-US" sz="2000" b="0" dirty="0">
                  <a:solidFill>
                    <a:srgbClr val="191C25"/>
                  </a:solidFill>
                  <a:latin typeface="Roboto" panose="02000000000000000000" pitchFamily="2" charset="0"/>
                  <a:ea typeface="Roboto" panose="02000000000000000000" pitchFamily="2" charset="0"/>
                  <a:cs typeface="Roboto" panose="02000000000000000000" pitchFamily="2" charset="0"/>
                </a:rPr>
                <a:t>Be cautious when using the interview method as it tends to yield highly inaccurate data</a:t>
              </a:r>
            </a:p>
          </p:txBody>
        </p:sp>
        <p:sp>
          <p:nvSpPr>
            <p:cNvPr id="23" name="Text Box 11">
              <a:extLst>
                <a:ext uri="{FF2B5EF4-FFF2-40B4-BE49-F238E27FC236}">
                  <a16:creationId xmlns:a16="http://schemas.microsoft.com/office/drawing/2014/main" id="{53158DBE-3A35-E13E-C76B-E608BFBDF4EA}"/>
                </a:ext>
              </a:extLst>
            </p:cNvPr>
            <p:cNvSpPr txBox="1">
              <a:spLocks noChangeArrowheads="1"/>
            </p:cNvSpPr>
            <p:nvPr/>
          </p:nvSpPr>
          <p:spPr bwMode="auto">
            <a:xfrm>
              <a:off x="11788363" y="2329027"/>
              <a:ext cx="10559506" cy="923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2400" dirty="0">
                  <a:solidFill>
                    <a:srgbClr val="191C25"/>
                  </a:solidFill>
                  <a:latin typeface="Roboto" panose="02000000000000000000" pitchFamily="2" charset="0"/>
                  <a:ea typeface="Roboto" panose="02000000000000000000" pitchFamily="2" charset="0"/>
                  <a:cs typeface="Roboto" panose="02000000000000000000" pitchFamily="2" charset="0"/>
                </a:rPr>
                <a:t>Important Points on Gathering Data</a:t>
              </a:r>
            </a:p>
          </p:txBody>
        </p:sp>
      </p:grpSp>
      <p:grpSp>
        <p:nvGrpSpPr>
          <p:cNvPr id="26" name="Group 25">
            <a:extLst>
              <a:ext uri="{FF2B5EF4-FFF2-40B4-BE49-F238E27FC236}">
                <a16:creationId xmlns:a16="http://schemas.microsoft.com/office/drawing/2014/main" id="{C078B3D1-619A-B05B-1E1E-7CE20CAF6BB5}"/>
              </a:ext>
            </a:extLst>
          </p:cNvPr>
          <p:cNvGrpSpPr/>
          <p:nvPr/>
        </p:nvGrpSpPr>
        <p:grpSpPr>
          <a:xfrm>
            <a:off x="7664418" y="990726"/>
            <a:ext cx="3264564" cy="5272388"/>
            <a:chOff x="1983285" y="990726"/>
            <a:chExt cx="3264564" cy="5272388"/>
          </a:xfrm>
        </p:grpSpPr>
        <p:sp>
          <p:nvSpPr>
            <p:cNvPr id="14" name="Rectangle 2">
              <a:extLst>
                <a:ext uri="{FF2B5EF4-FFF2-40B4-BE49-F238E27FC236}">
                  <a16:creationId xmlns:a16="http://schemas.microsoft.com/office/drawing/2014/main" id="{5DA1E2B4-77A6-5091-B615-2803D4CA8251}"/>
                </a:ext>
              </a:extLst>
            </p:cNvPr>
            <p:cNvSpPr>
              <a:spLocks noChangeArrowheads="1"/>
            </p:cNvSpPr>
            <p:nvPr/>
          </p:nvSpPr>
          <p:spPr bwMode="auto">
            <a:xfrm>
              <a:off x="1983285" y="990726"/>
              <a:ext cx="3263676" cy="813144"/>
            </a:xfrm>
            <a:prstGeom prst="rect">
              <a:avLst/>
            </a:prstGeom>
            <a:solidFill>
              <a:schemeClr val="bg1"/>
            </a:solidFill>
            <a:ln w="9525">
              <a:solidFill>
                <a:schemeClr val="accent3"/>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chemeClr val="tx2"/>
                  </a:solidFill>
                  <a:latin typeface="Roboto" panose="02000000000000000000" pitchFamily="2" charset="0"/>
                  <a:ea typeface="Roboto" panose="02000000000000000000" pitchFamily="2" charset="0"/>
                  <a:cs typeface="Roboto" panose="02000000000000000000" pitchFamily="2" charset="0"/>
                </a:rPr>
                <a:t>1. Go To Gemba</a:t>
              </a:r>
              <a:br>
                <a:rPr lang="en-US" altLang="en-US" sz="1800" dirty="0">
                  <a:solidFill>
                    <a:schemeClr val="tx2"/>
                  </a:solidFill>
                  <a:latin typeface="Roboto" panose="02000000000000000000" pitchFamily="2" charset="0"/>
                  <a:ea typeface="Roboto" panose="02000000000000000000" pitchFamily="2" charset="0"/>
                  <a:cs typeface="Roboto" panose="02000000000000000000" pitchFamily="2" charset="0"/>
                </a:rPr>
              </a:br>
              <a:r>
                <a:rPr lang="en-US" altLang="en-US" sz="1800" dirty="0">
                  <a:solidFill>
                    <a:schemeClr val="tx2"/>
                  </a:solidFill>
                  <a:latin typeface="Roboto" panose="02000000000000000000" pitchFamily="2" charset="0"/>
                  <a:ea typeface="Roboto" panose="02000000000000000000" pitchFamily="2" charset="0"/>
                  <a:cs typeface="Roboto" panose="02000000000000000000" pitchFamily="2" charset="0"/>
                </a:rPr>
                <a:t>(the actual </a:t>
              </a: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workplace</a:t>
              </a:r>
              <a:r>
                <a:rPr lang="en-US" altLang="en-US" sz="1800" dirty="0">
                  <a:solidFill>
                    <a:schemeClr val="tx2"/>
                  </a:solidFill>
                  <a:latin typeface="Roboto" panose="02000000000000000000" pitchFamily="2" charset="0"/>
                  <a:ea typeface="Roboto" panose="02000000000000000000" pitchFamily="2" charset="0"/>
                  <a:cs typeface="Roboto" panose="02000000000000000000" pitchFamily="2" charset="0"/>
                </a:rPr>
                <a:t>)</a:t>
              </a:r>
            </a:p>
          </p:txBody>
        </p:sp>
        <p:sp>
          <p:nvSpPr>
            <p:cNvPr id="15" name="Rectangle 3">
              <a:extLst>
                <a:ext uri="{FF2B5EF4-FFF2-40B4-BE49-F238E27FC236}">
                  <a16:creationId xmlns:a16="http://schemas.microsoft.com/office/drawing/2014/main" id="{D48DC50C-A284-6D3F-B7A7-5103C7C8E356}"/>
                </a:ext>
              </a:extLst>
            </p:cNvPr>
            <p:cNvSpPr>
              <a:spLocks noChangeArrowheads="1"/>
            </p:cNvSpPr>
            <p:nvPr/>
          </p:nvSpPr>
          <p:spPr bwMode="auto">
            <a:xfrm>
              <a:off x="1983285" y="2107439"/>
              <a:ext cx="3263676" cy="816224"/>
            </a:xfrm>
            <a:prstGeom prst="rect">
              <a:avLst/>
            </a:prstGeom>
            <a:solidFill>
              <a:srgbClr val="7A7A7A"/>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Roboto" panose="02000000000000000000" pitchFamily="2" charset="0"/>
                  <a:ea typeface="Roboto" panose="02000000000000000000" pitchFamily="2" charset="0"/>
                  <a:cs typeface="Roboto" panose="02000000000000000000" pitchFamily="2" charset="0"/>
                </a:rPr>
                <a:t>2. System Generated Report</a:t>
              </a:r>
              <a:br>
                <a:rPr lang="en-US" altLang="en-US" sz="1800" dirty="0">
                  <a:latin typeface="Roboto" panose="02000000000000000000" pitchFamily="2" charset="0"/>
                  <a:ea typeface="Roboto" panose="02000000000000000000" pitchFamily="2" charset="0"/>
                  <a:cs typeface="Roboto" panose="02000000000000000000" pitchFamily="2" charset="0"/>
                </a:rPr>
              </a:br>
              <a:r>
                <a:rPr lang="en-US" altLang="en-US" sz="1800" dirty="0">
                  <a:latin typeface="Roboto" panose="02000000000000000000" pitchFamily="2" charset="0"/>
                  <a:ea typeface="Roboto" panose="02000000000000000000" pitchFamily="2" charset="0"/>
                  <a:cs typeface="Roboto" panose="02000000000000000000" pitchFamily="2" charset="0"/>
                </a:rPr>
                <a:t>or Work Flow Documents</a:t>
              </a:r>
            </a:p>
          </p:txBody>
        </p:sp>
        <p:sp>
          <p:nvSpPr>
            <p:cNvPr id="16" name="Rectangle 4">
              <a:extLst>
                <a:ext uri="{FF2B5EF4-FFF2-40B4-BE49-F238E27FC236}">
                  <a16:creationId xmlns:a16="http://schemas.microsoft.com/office/drawing/2014/main" id="{AE8DB955-5220-2060-FD2F-428A0AFC4B09}"/>
                </a:ext>
              </a:extLst>
            </p:cNvPr>
            <p:cNvSpPr>
              <a:spLocks noChangeArrowheads="1"/>
            </p:cNvSpPr>
            <p:nvPr/>
          </p:nvSpPr>
          <p:spPr bwMode="auto">
            <a:xfrm>
              <a:off x="1983285" y="3223670"/>
              <a:ext cx="3263676" cy="813144"/>
            </a:xfrm>
            <a:prstGeom prst="rect">
              <a:avLst/>
            </a:prstGeom>
            <a:solidFill>
              <a:srgbClr val="FFB627"/>
            </a:solidFill>
            <a:ln w="9525">
              <a:solidFill>
                <a:schemeClr val="accent3"/>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3. Historical Performance</a:t>
              </a:r>
              <a:b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br>
              <a:r>
                <a:rPr lang="en-US" altLang="en-US" sz="1800" dirty="0">
                  <a:solidFill>
                    <a:srgbClr val="191C25"/>
                  </a:solidFill>
                  <a:latin typeface="Roboto" panose="02000000000000000000" pitchFamily="2" charset="0"/>
                  <a:ea typeface="Roboto" panose="02000000000000000000" pitchFamily="2" charset="0"/>
                  <a:cs typeface="Roboto" panose="02000000000000000000" pitchFamily="2" charset="0"/>
                </a:rPr>
                <a:t>Reports</a:t>
              </a:r>
            </a:p>
          </p:txBody>
        </p:sp>
        <p:cxnSp>
          <p:nvCxnSpPr>
            <p:cNvPr id="17" name="AutoShape 5">
              <a:extLst>
                <a:ext uri="{FF2B5EF4-FFF2-40B4-BE49-F238E27FC236}">
                  <a16:creationId xmlns:a16="http://schemas.microsoft.com/office/drawing/2014/main" id="{6FB9ED93-9847-F7D6-95DC-B948C27AD45D}"/>
                </a:ext>
              </a:extLst>
            </p:cNvPr>
            <p:cNvCxnSpPr>
              <a:cxnSpLocks noChangeShapeType="1"/>
            </p:cNvCxnSpPr>
            <p:nvPr/>
          </p:nvCxnSpPr>
          <p:spPr bwMode="auto">
            <a:xfrm>
              <a:off x="3615123" y="1803870"/>
              <a:ext cx="0" cy="378440"/>
            </a:xfrm>
            <a:prstGeom prst="straightConnector1">
              <a:avLst/>
            </a:prstGeom>
            <a:noFill/>
            <a:ln w="104775">
              <a:solidFill>
                <a:srgbClr val="EE3228"/>
              </a:solidFill>
              <a:round/>
              <a:headEnd/>
              <a:tailEnd type="triangle" w="med" len="med"/>
            </a:ln>
            <a:extLst>
              <a:ext uri="{909E8E84-426E-40DD-AFC4-6F175D3DCCD1}">
                <a14:hiddenFill xmlns:a14="http://schemas.microsoft.com/office/drawing/2010/main">
                  <a:noFill/>
                </a14:hiddenFill>
              </a:ext>
            </a:extLst>
          </p:spPr>
        </p:cxnSp>
        <p:cxnSp>
          <p:nvCxnSpPr>
            <p:cNvPr id="18" name="AutoShape 6">
              <a:extLst>
                <a:ext uri="{FF2B5EF4-FFF2-40B4-BE49-F238E27FC236}">
                  <a16:creationId xmlns:a16="http://schemas.microsoft.com/office/drawing/2014/main" id="{C6CC2240-3D99-BFA7-F47A-6B77C1D89AB0}"/>
                </a:ext>
              </a:extLst>
            </p:cNvPr>
            <p:cNvCxnSpPr>
              <a:cxnSpLocks noChangeShapeType="1"/>
              <a:stCxn id="15" idx="2"/>
            </p:cNvCxnSpPr>
            <p:nvPr/>
          </p:nvCxnSpPr>
          <p:spPr bwMode="auto">
            <a:xfrm>
              <a:off x="3615123" y="2923664"/>
              <a:ext cx="0" cy="385051"/>
            </a:xfrm>
            <a:prstGeom prst="straightConnector1">
              <a:avLst/>
            </a:prstGeom>
            <a:noFill/>
            <a:ln w="104775">
              <a:solidFill>
                <a:srgbClr val="EE3228"/>
              </a:solidFill>
              <a:round/>
              <a:headEnd/>
              <a:tailEnd type="triangle" w="med" len="med"/>
            </a:ln>
            <a:extLst>
              <a:ext uri="{909E8E84-426E-40DD-AFC4-6F175D3DCCD1}">
                <a14:hiddenFill xmlns:a14="http://schemas.microsoft.com/office/drawing/2010/main">
                  <a:noFill/>
                </a14:hiddenFill>
              </a:ext>
            </a:extLst>
          </p:spPr>
        </p:cxnSp>
        <p:sp>
          <p:nvSpPr>
            <p:cNvPr id="3" name="Rectangle 4">
              <a:extLst>
                <a:ext uri="{FF2B5EF4-FFF2-40B4-BE49-F238E27FC236}">
                  <a16:creationId xmlns:a16="http://schemas.microsoft.com/office/drawing/2014/main" id="{AE1150BB-DD2D-1046-7DB1-3574FC16F504}"/>
                </a:ext>
              </a:extLst>
            </p:cNvPr>
            <p:cNvSpPr>
              <a:spLocks noChangeArrowheads="1"/>
            </p:cNvSpPr>
            <p:nvPr/>
          </p:nvSpPr>
          <p:spPr bwMode="auto">
            <a:xfrm>
              <a:off x="1984173" y="4336820"/>
              <a:ext cx="3263676" cy="813144"/>
            </a:xfrm>
            <a:prstGeom prst="rect">
              <a:avLst/>
            </a:prstGeom>
            <a:solidFill>
              <a:srgbClr val="7A7A7A"/>
            </a:solidFill>
            <a:ln w="9525">
              <a:solidFill>
                <a:schemeClr val="accent3"/>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Roboto" panose="02000000000000000000" pitchFamily="2" charset="0"/>
                  <a:ea typeface="Roboto" panose="02000000000000000000" pitchFamily="2" charset="0"/>
                  <a:cs typeface="Roboto" panose="02000000000000000000" pitchFamily="2" charset="0"/>
                </a:rPr>
                <a:t>4. Staff Interviews</a:t>
              </a:r>
            </a:p>
          </p:txBody>
        </p:sp>
        <p:sp>
          <p:nvSpPr>
            <p:cNvPr id="12" name="Rectangle 4">
              <a:extLst>
                <a:ext uri="{FF2B5EF4-FFF2-40B4-BE49-F238E27FC236}">
                  <a16:creationId xmlns:a16="http://schemas.microsoft.com/office/drawing/2014/main" id="{14F0C7AC-DB8A-8BB5-37F2-D3B36AAC7F62}"/>
                </a:ext>
              </a:extLst>
            </p:cNvPr>
            <p:cNvSpPr>
              <a:spLocks noChangeArrowheads="1"/>
            </p:cNvSpPr>
            <p:nvPr/>
          </p:nvSpPr>
          <p:spPr bwMode="auto">
            <a:xfrm>
              <a:off x="1984173" y="5449970"/>
              <a:ext cx="3263676" cy="813144"/>
            </a:xfrm>
            <a:prstGeom prst="rect">
              <a:avLst/>
            </a:prstGeom>
            <a:solidFill>
              <a:srgbClr val="EE3228"/>
            </a:solidFill>
            <a:ln w="9525">
              <a:solidFill>
                <a:schemeClr val="accent3"/>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Roboto" panose="02000000000000000000" pitchFamily="2" charset="0"/>
                  <a:ea typeface="Roboto" panose="02000000000000000000" pitchFamily="2" charset="0"/>
                  <a:cs typeface="Roboto" panose="02000000000000000000" pitchFamily="2" charset="0"/>
                </a:rPr>
                <a:t>5. Management Interviews</a:t>
              </a:r>
            </a:p>
          </p:txBody>
        </p:sp>
        <p:cxnSp>
          <p:nvCxnSpPr>
            <p:cNvPr id="29" name="AutoShape 6">
              <a:extLst>
                <a:ext uri="{FF2B5EF4-FFF2-40B4-BE49-F238E27FC236}">
                  <a16:creationId xmlns:a16="http://schemas.microsoft.com/office/drawing/2014/main" id="{66B8C34C-95F6-4076-BD55-A5E51881ECE2}"/>
                </a:ext>
              </a:extLst>
            </p:cNvPr>
            <p:cNvCxnSpPr>
              <a:cxnSpLocks noChangeShapeType="1"/>
              <a:stCxn id="16" idx="2"/>
            </p:cNvCxnSpPr>
            <p:nvPr/>
          </p:nvCxnSpPr>
          <p:spPr bwMode="auto">
            <a:xfrm>
              <a:off x="3615124" y="4036814"/>
              <a:ext cx="887" cy="402576"/>
            </a:xfrm>
            <a:prstGeom prst="straightConnector1">
              <a:avLst/>
            </a:prstGeom>
            <a:noFill/>
            <a:ln w="104775">
              <a:solidFill>
                <a:srgbClr val="EE3228"/>
              </a:solidFill>
              <a:round/>
              <a:headEnd/>
              <a:tailEnd type="triangle" w="med" len="med"/>
            </a:ln>
            <a:extLst>
              <a:ext uri="{909E8E84-426E-40DD-AFC4-6F175D3DCCD1}">
                <a14:hiddenFill xmlns:a14="http://schemas.microsoft.com/office/drawing/2010/main">
                  <a:noFill/>
                </a14:hiddenFill>
              </a:ext>
            </a:extLst>
          </p:spPr>
        </p:cxnSp>
        <p:cxnSp>
          <p:nvCxnSpPr>
            <p:cNvPr id="33" name="AutoShape 6">
              <a:extLst>
                <a:ext uri="{FF2B5EF4-FFF2-40B4-BE49-F238E27FC236}">
                  <a16:creationId xmlns:a16="http://schemas.microsoft.com/office/drawing/2014/main" id="{A8FA66F2-C579-F140-8C92-C3D41D8CCACD}"/>
                </a:ext>
              </a:extLst>
            </p:cNvPr>
            <p:cNvCxnSpPr>
              <a:cxnSpLocks noChangeShapeType="1"/>
            </p:cNvCxnSpPr>
            <p:nvPr/>
          </p:nvCxnSpPr>
          <p:spPr bwMode="auto">
            <a:xfrm>
              <a:off x="3614236" y="5132194"/>
              <a:ext cx="887" cy="402576"/>
            </a:xfrm>
            <a:prstGeom prst="straightConnector1">
              <a:avLst/>
            </a:prstGeom>
            <a:noFill/>
            <a:ln w="104775">
              <a:solidFill>
                <a:srgbClr val="DD4141"/>
              </a:solidFill>
              <a:round/>
              <a:headEnd/>
              <a:tailEnd type="triangle" w="med" len="med"/>
            </a:ln>
            <a:extLst>
              <a:ext uri="{909E8E84-426E-40DD-AFC4-6F175D3DCCD1}">
                <a14:hiddenFill xmlns:a14="http://schemas.microsoft.com/office/drawing/2010/main">
                  <a:noFill/>
                </a14:hiddenFill>
              </a:ext>
            </a:extLst>
          </p:spPr>
        </p:cxnSp>
      </p:grpSp>
      <p:grpSp>
        <p:nvGrpSpPr>
          <p:cNvPr id="27" name="Group 26">
            <a:extLst>
              <a:ext uri="{FF2B5EF4-FFF2-40B4-BE49-F238E27FC236}">
                <a16:creationId xmlns:a16="http://schemas.microsoft.com/office/drawing/2014/main" id="{554F7AB9-7768-BEFA-DB4B-722725A4D8BA}"/>
              </a:ext>
            </a:extLst>
          </p:cNvPr>
          <p:cNvGrpSpPr/>
          <p:nvPr/>
        </p:nvGrpSpPr>
        <p:grpSpPr>
          <a:xfrm>
            <a:off x="940004" y="330919"/>
            <a:ext cx="6217883" cy="311851"/>
            <a:chOff x="940249" y="302538"/>
            <a:chExt cx="6219503" cy="311932"/>
          </a:xfrm>
        </p:grpSpPr>
        <p:sp>
          <p:nvSpPr>
            <p:cNvPr id="28" name="TextBox 27">
              <a:extLst>
                <a:ext uri="{FF2B5EF4-FFF2-40B4-BE49-F238E27FC236}">
                  <a16:creationId xmlns:a16="http://schemas.microsoft.com/office/drawing/2014/main" id="{D4A465A3-3093-3A6A-4BF4-CC88A3015B6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0" name="AutoShape 9">
              <a:extLst>
                <a:ext uri="{FF2B5EF4-FFF2-40B4-BE49-F238E27FC236}">
                  <a16:creationId xmlns:a16="http://schemas.microsoft.com/office/drawing/2014/main" id="{1D312CD8-7627-7477-7B5D-AEFD5FEB48E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AutoShape 9">
              <a:extLst>
                <a:ext uri="{FF2B5EF4-FFF2-40B4-BE49-F238E27FC236}">
                  <a16:creationId xmlns:a16="http://schemas.microsoft.com/office/drawing/2014/main" id="{E9249F85-0C21-BF86-218F-2FAB7019B6A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AutoShape 9">
              <a:extLst>
                <a:ext uri="{FF2B5EF4-FFF2-40B4-BE49-F238E27FC236}">
                  <a16:creationId xmlns:a16="http://schemas.microsoft.com/office/drawing/2014/main" id="{7F43FB7F-C5F1-B4DC-9AB1-812D508D357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AutoShape 9">
              <a:extLst>
                <a:ext uri="{FF2B5EF4-FFF2-40B4-BE49-F238E27FC236}">
                  <a16:creationId xmlns:a16="http://schemas.microsoft.com/office/drawing/2014/main" id="{5324BA55-59BA-EFFB-9B92-E73DCE6CFEE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6" name="AutoShape 11">
              <a:extLst>
                <a:ext uri="{FF2B5EF4-FFF2-40B4-BE49-F238E27FC236}">
                  <a16:creationId xmlns:a16="http://schemas.microsoft.com/office/drawing/2014/main" id="{804DC638-A302-BAE6-6A7A-51F7A68AE8A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7" name="Slide Number Placeholder 2">
            <a:extLst>
              <a:ext uri="{FF2B5EF4-FFF2-40B4-BE49-F238E27FC236}">
                <a16:creationId xmlns:a16="http://schemas.microsoft.com/office/drawing/2014/main" id="{80A5A112-AB14-EF54-3B91-29D1BDB3580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77</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9660277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DE642-D067-6ECA-6E68-2C9282CB9B33}"/>
              </a:ext>
            </a:extLst>
          </p:cNvPr>
          <p:cNvSpPr>
            <a:spLocks noGrp="1"/>
          </p:cNvSpPr>
          <p:nvPr>
            <p:ph type="title"/>
          </p:nvPr>
        </p:nvSpPr>
        <p:spPr/>
        <p:txBody>
          <a:bodyPr>
            <a:noAutofit/>
          </a:bodyPr>
          <a:lstStyle/>
          <a:p>
            <a:r>
              <a:rPr lang="en-US" altLang="en-US" sz="3600" dirty="0"/>
              <a:t>Group Roles and Assignments for Team Walk #2</a:t>
            </a:r>
            <a:endParaRPr lang="en-US" sz="3600" dirty="0"/>
          </a:p>
        </p:txBody>
      </p:sp>
      <p:graphicFrame>
        <p:nvGraphicFramePr>
          <p:cNvPr id="50" name="Table"/>
          <p:cNvGraphicFramePr/>
          <p:nvPr>
            <p:extLst>
              <p:ext uri="{D42A27DB-BD31-4B8C-83A1-F6EECF244321}">
                <p14:modId xmlns:p14="http://schemas.microsoft.com/office/powerpoint/2010/main" val="2919261832"/>
              </p:ext>
            </p:extLst>
          </p:nvPr>
        </p:nvGraphicFramePr>
        <p:xfrm>
          <a:off x="940004" y="2185827"/>
          <a:ext cx="9939663" cy="3152116"/>
        </p:xfrm>
        <a:graphic>
          <a:graphicData uri="http://schemas.openxmlformats.org/drawingml/2006/table">
            <a:tbl>
              <a:tblPr>
                <a:tableStyleId>{4C3C2611-4C71-4FC5-86AE-919BDF0F9419}</a:tableStyleId>
              </a:tblPr>
              <a:tblGrid>
                <a:gridCol w="471411">
                  <a:extLst>
                    <a:ext uri="{9D8B030D-6E8A-4147-A177-3AD203B41FA5}">
                      <a16:colId xmlns:a16="http://schemas.microsoft.com/office/drawing/2014/main" val="20000"/>
                    </a:ext>
                  </a:extLst>
                </a:gridCol>
                <a:gridCol w="1832278">
                  <a:extLst>
                    <a:ext uri="{9D8B030D-6E8A-4147-A177-3AD203B41FA5}">
                      <a16:colId xmlns:a16="http://schemas.microsoft.com/office/drawing/2014/main" val="20001"/>
                    </a:ext>
                  </a:extLst>
                </a:gridCol>
                <a:gridCol w="7635974">
                  <a:extLst>
                    <a:ext uri="{9D8B030D-6E8A-4147-A177-3AD203B41FA5}">
                      <a16:colId xmlns:a16="http://schemas.microsoft.com/office/drawing/2014/main" val="20002"/>
                    </a:ext>
                  </a:extLst>
                </a:gridCol>
              </a:tblGrid>
              <a:tr h="596745">
                <a:tc gridSpan="2">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1500" b="1" i="0" u="none" strike="noStrike" cap="none" spc="0" baseline="0" dirty="0">
                          <a:solidFill>
                            <a:schemeClr val="bg1"/>
                          </a:solidFill>
                          <a:uFillTx/>
                          <a:latin typeface="Roboto" panose="02000000000000000000" pitchFamily="2" charset="0"/>
                          <a:ea typeface="Roboto" panose="02000000000000000000" pitchFamily="2" charset="0"/>
                          <a:cs typeface="Roboto" panose="02000000000000000000" pitchFamily="2" charset="0"/>
                          <a:sym typeface="Roboto"/>
                        </a:rPr>
                        <a:t>Group Roles</a:t>
                      </a:r>
                    </a:p>
                  </a:txBody>
                  <a:tcPr marL="0" marR="0" marT="0" marB="0" anchor="ctr" horzOverflow="overflow">
                    <a:lnL w="12700">
                      <a:miter lim="400000"/>
                    </a:lnL>
                    <a:lnR w="0">
                      <a:miter lim="400000"/>
                    </a:lnR>
                    <a:lnT w="12700">
                      <a:miter lim="400000"/>
                    </a:lnT>
                    <a:lnB w="0">
                      <a:miter lim="400000"/>
                    </a:lnB>
                    <a:solidFill>
                      <a:srgbClr val="EE3228"/>
                    </a:solidFill>
                  </a:tcPr>
                </a:tc>
                <a:tc hMerge="1">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3000" b="1" i="0" u="none" strike="noStrike" cap="none" spc="0" baseline="0" dirty="0">
                          <a:solidFill>
                            <a:schemeClr val="bg1"/>
                          </a:solidFill>
                          <a:uFillTx/>
                          <a:latin typeface="+mn-lt"/>
                          <a:ea typeface="+mn-ea"/>
                          <a:cs typeface="+mn-cs"/>
                          <a:sym typeface="Roboto"/>
                        </a:rPr>
                        <a:t>The Three M’s</a:t>
                      </a:r>
                    </a:p>
                  </a:txBody>
                  <a:tcPr marL="368300" marR="368300" marT="368300" marB="368300" anchor="ctr" horzOverflow="overflow">
                    <a:lnL w="0">
                      <a:miter lim="400000"/>
                    </a:lnL>
                    <a:lnR w="0">
                      <a:miter lim="400000"/>
                    </a:lnR>
                    <a:lnT w="0">
                      <a:miter lim="400000"/>
                    </a:lnT>
                    <a:lnB w="0">
                      <a:miter lim="400000"/>
                    </a:lnB>
                    <a:solidFill>
                      <a:schemeClr val="accent5"/>
                    </a:solidFill>
                  </a:tcPr>
                </a:tc>
                <a:tc>
                  <a:txBody>
                    <a:bodyPr/>
                    <a:lstStyle/>
                    <a:p>
                      <a:pP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cs typeface="Roboto" panose="02000000000000000000" pitchFamily="2" charset="0"/>
                        </a:rPr>
                        <a:t>Descriptions</a:t>
                      </a:r>
                      <a:endParaRPr sz="15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184102" marR="184102" marT="184102" marB="184102" anchor="ctr" horzOverflow="overflow">
                    <a:lnL w="0">
                      <a:miter lim="400000"/>
                    </a:lnL>
                    <a:lnR w="0">
                      <a:miter lim="400000"/>
                    </a:lnR>
                    <a:lnT w="0">
                      <a:miter lim="400000"/>
                    </a:lnT>
                    <a:lnB w="0">
                      <a:miter lim="400000"/>
                    </a:lnB>
                    <a:solidFill>
                      <a:srgbClr val="EE3228"/>
                    </a:solidFill>
                  </a:tcPr>
                </a:tc>
                <a:extLst>
                  <a:ext uri="{0D108BD9-81ED-4DB2-BD59-A6C34878D82A}">
                    <a16:rowId xmlns:a16="http://schemas.microsoft.com/office/drawing/2014/main" val="10000"/>
                  </a:ext>
                </a:extLst>
              </a:tr>
              <a:tr h="546208">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1</a:t>
                      </a:r>
                      <a:endParaRPr sz="15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Process Walk Guide</a:t>
                      </a:r>
                      <a:endParaRPr sz="15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spcBef>
                          <a:spcPts val="2300"/>
                        </a:spcBef>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Leads the team through the correct sequence of processes</a:t>
                      </a:r>
                    </a:p>
                  </a:txBody>
                  <a:tcPr marL="184102" marR="184102" marT="137124" marB="137124" anchor="ctr" horzOverflow="overflow">
                    <a:lnL w="0">
                      <a:miter lim="400000"/>
                    </a:lnL>
                    <a:lnR w="0">
                      <a:miter lim="400000"/>
                    </a:lnR>
                    <a:lnT w="0">
                      <a:miter lim="400000"/>
                    </a:lnT>
                    <a:lnB w="0">
                      <a:miter lim="400000"/>
                    </a:lnB>
                    <a:solidFill>
                      <a:srgbClr val="191C26"/>
                    </a:solidFill>
                  </a:tcPr>
                </a:tc>
                <a:extLst>
                  <a:ext uri="{0D108BD9-81ED-4DB2-BD59-A6C34878D82A}">
                    <a16:rowId xmlns:a16="http://schemas.microsoft.com/office/drawing/2014/main" val="10001"/>
                  </a:ext>
                </a:extLst>
              </a:tr>
              <a:tr h="546208">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2</a:t>
                      </a: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Interviewer</a:t>
                      </a:r>
                      <a:endParaRPr sz="15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spcBef>
                          <a:spcPts val="2300"/>
                        </a:spcBef>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Leads the interview with the operators/process participants </a:t>
                      </a:r>
                    </a:p>
                  </a:txBody>
                  <a:tcPr marL="184102" marR="184102" marT="137124" marB="137124" anchor="ctr" horzOverflow="overflow">
                    <a:lnL w="0">
                      <a:miter lim="400000"/>
                    </a:lnL>
                    <a:lnR w="0">
                      <a:miter lim="400000"/>
                    </a:lnR>
                    <a:lnT w="0">
                      <a:miter lim="400000"/>
                    </a:lnT>
                    <a:lnB w="0">
                      <a:miter lim="400000"/>
                    </a:lnB>
                    <a:solidFill>
                      <a:srgbClr val="7A7A7A"/>
                    </a:solidFill>
                  </a:tcPr>
                </a:tc>
                <a:extLst>
                  <a:ext uri="{0D108BD9-81ED-4DB2-BD59-A6C34878D82A}">
                    <a16:rowId xmlns:a16="http://schemas.microsoft.com/office/drawing/2014/main" val="10002"/>
                  </a:ext>
                </a:extLst>
              </a:tr>
              <a:tr h="546208">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3</a:t>
                      </a:r>
                    </a:p>
                  </a:txBody>
                  <a:tcPr marL="184102" marR="184102" marT="137124" marB="137124" anchor="ctr" horzOverflow="overflow">
                    <a:lnL w="0">
                      <a:miter lim="400000"/>
                    </a:lnL>
                    <a:lnR w="0">
                      <a:miter lim="400000"/>
                    </a:lnR>
                    <a:lnT w="0">
                      <a:miter lim="400000"/>
                    </a:lnT>
                    <a:lnB w="0">
                      <a:noFill/>
                      <a:miter lim="400000"/>
                    </a:lnB>
                    <a:solidFill>
                      <a:srgbClr val="191C26"/>
                    </a:solidFill>
                  </a:tcPr>
                </a:tc>
                <a:tc>
                  <a:txBody>
                    <a:bodyPr/>
                    <a:lstStyle/>
                    <a:p>
                      <a:pPr algn="l" defTabSz="1828342">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Timer(s)</a:t>
                      </a:r>
                      <a:endParaRPr sz="15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184102" marR="184102" marT="137124" marB="137124" anchor="ctr" horzOverflow="overflow">
                    <a:lnL w="0">
                      <a:miter lim="400000"/>
                    </a:lnL>
                    <a:lnR w="0">
                      <a:miter lim="400000"/>
                    </a:lnR>
                    <a:lnT w="0">
                      <a:miter lim="400000"/>
                    </a:lnT>
                    <a:lnB w="0">
                      <a:noFill/>
                      <a:miter lim="400000"/>
                    </a:lnB>
                    <a:solidFill>
                      <a:srgbClr val="191C26"/>
                    </a:solidFill>
                  </a:tcPr>
                </a:tc>
                <a:tc>
                  <a:txBody>
                    <a:bodyPr/>
                    <a:lstStyle/>
                    <a:p>
                      <a:pPr algn="l" defTabSz="1828342">
                        <a:spcBef>
                          <a:spcPts val="2300"/>
                        </a:spcBef>
                        <a:defRPr sz="1800">
                          <a:solidFill>
                            <a:srgbClr val="000000"/>
                          </a:solidFill>
                        </a:defRPr>
                      </a:pPr>
                      <a:r>
                        <a:rPr lang="en-US" sz="1500" dirty="0">
                          <a:solidFill>
                            <a:schemeClr val="bg1"/>
                          </a:solidFill>
                          <a:latin typeface="Roboto" panose="02000000000000000000" pitchFamily="2" charset="0"/>
                          <a:ea typeface="Roboto" panose="02000000000000000000" pitchFamily="2" charset="0"/>
                          <a:cs typeface="Roboto" panose="02000000000000000000" pitchFamily="2" charset="0"/>
                        </a:rPr>
                        <a:t>Records all actual operator cycle times, machine cycle times, and drop off intervals </a:t>
                      </a:r>
                    </a:p>
                  </a:txBody>
                  <a:tcPr marL="184102" marR="184102" marT="137124" marB="137124" anchor="ctr" horzOverflow="overflow">
                    <a:lnL w="0">
                      <a:miter lim="400000"/>
                    </a:lnL>
                    <a:lnR w="0">
                      <a:miter lim="400000"/>
                    </a:lnR>
                    <a:lnT w="0">
                      <a:miter lim="400000"/>
                    </a:lnT>
                    <a:lnB w="0">
                      <a:noFill/>
                      <a:miter lim="400000"/>
                    </a:lnB>
                    <a:solidFill>
                      <a:srgbClr val="191C26"/>
                    </a:solidFill>
                  </a:tcPr>
                </a:tc>
                <a:extLst>
                  <a:ext uri="{0D108BD9-81ED-4DB2-BD59-A6C34878D82A}">
                    <a16:rowId xmlns:a16="http://schemas.microsoft.com/office/drawing/2014/main" val="10003"/>
                  </a:ext>
                </a:extLst>
              </a:tr>
              <a:tr h="546208">
                <a:tc>
                  <a:txBody>
                    <a:bodyPr/>
                    <a:lstStyle/>
                    <a:p>
                      <a:pPr marL="0" marR="0" indent="0" algn="l" defTabSz="1828342" latinLnBrk="0">
                        <a:lnSpc>
                          <a:spcPct val="100000"/>
                        </a:lnSpc>
                        <a:spcBef>
                          <a:spcPts val="0"/>
                        </a:spcBef>
                        <a:spcAft>
                          <a:spcPts val="0"/>
                        </a:spcAft>
                        <a:buClrTx/>
                        <a:buSzTx/>
                        <a:buFontTx/>
                        <a:buNone/>
                        <a:tabLst/>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Roboto" panose="02000000000000000000" pitchFamily="2" charset="0"/>
                          <a:sym typeface="Roboto"/>
                        </a:rPr>
                        <a:t>4</a:t>
                      </a: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marL="0" marR="0" indent="0" algn="l" defTabSz="1828342" latinLnBrk="0">
                        <a:lnSpc>
                          <a:spcPct val="100000"/>
                        </a:lnSpc>
                        <a:spcBef>
                          <a:spcPts val="0"/>
                        </a:spcBef>
                        <a:spcAft>
                          <a:spcPts val="0"/>
                        </a:spcAft>
                        <a:buClrTx/>
                        <a:buSzTx/>
                        <a:buFontTx/>
                        <a:buNone/>
                        <a:tabLst/>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Roboto" panose="02000000000000000000" pitchFamily="2" charset="0"/>
                          <a:sym typeface="Roboto"/>
                        </a:rPr>
                        <a:t>Inventory Counters</a:t>
                      </a:r>
                      <a:endParaRPr sz="1500" b="0" i="0" u="none" strike="noStrike" cap="none" spc="0" baseline="0" dirty="0">
                        <a:solidFill>
                          <a:schemeClr val="bg1"/>
                        </a:solidFill>
                        <a:uFillTx/>
                        <a:latin typeface="Roboto" panose="02000000000000000000" pitchFamily="2" charset="0"/>
                        <a:ea typeface="Roboto" panose="02000000000000000000" pitchFamily="2" charset="0"/>
                        <a:cs typeface="Roboto" panose="02000000000000000000" pitchFamily="2" charset="0"/>
                        <a:sym typeface="Roboto"/>
                      </a:endParaRPr>
                    </a:p>
                  </a:txBody>
                  <a:tcPr marL="184102" marR="184102" marT="137124" marB="137124" anchor="ctr" horzOverflow="overflow">
                    <a:lnL w="0">
                      <a:noFill/>
                      <a:miter lim="400000"/>
                    </a:lnL>
                    <a:lnR w="0">
                      <a:noFill/>
                      <a:miter lim="400000"/>
                    </a:lnR>
                    <a:lnT w="0">
                      <a:miter lim="400000"/>
                    </a:lnT>
                    <a:lnB w="0">
                      <a:noFill/>
                      <a:miter lim="400000"/>
                    </a:lnB>
                    <a:solidFill>
                      <a:srgbClr val="7A7A7A"/>
                    </a:solidFill>
                  </a:tcPr>
                </a:tc>
                <a:tc>
                  <a:txBody>
                    <a:bodyPr/>
                    <a:lstStyle/>
                    <a:p>
                      <a:pPr marL="0" marR="0" indent="0" algn="l" defTabSz="1828342" latinLnBrk="0">
                        <a:lnSpc>
                          <a:spcPct val="100000"/>
                        </a:lnSpc>
                        <a:spcBef>
                          <a:spcPts val="0"/>
                        </a:spcBef>
                        <a:spcAft>
                          <a:spcPts val="0"/>
                        </a:spcAft>
                        <a:buClrTx/>
                        <a:buSzTx/>
                        <a:buFontTx/>
                        <a:buNone/>
                        <a:tabLst/>
                        <a:defRPr sz="1800">
                          <a:solidFill>
                            <a:srgbClr val="000000"/>
                          </a:solidFill>
                        </a:defRPr>
                      </a:pPr>
                      <a:r>
                        <a:rPr lang="en-US" sz="1500" b="0" i="0" u="none" strike="noStrike" cap="none" spc="0" baseline="0" dirty="0">
                          <a:solidFill>
                            <a:schemeClr val="bg1"/>
                          </a:solidFill>
                          <a:uFillTx/>
                          <a:latin typeface="Roboto" panose="02000000000000000000" pitchFamily="2" charset="0"/>
                          <a:ea typeface="Roboto" panose="02000000000000000000" pitchFamily="2" charset="0"/>
                          <a:cs typeface="Roboto" panose="02000000000000000000" pitchFamily="2" charset="0"/>
                          <a:sym typeface="Roboto"/>
                        </a:rPr>
                        <a:t>Counts number of pieces queued at each process</a:t>
                      </a:r>
                    </a:p>
                  </a:txBody>
                  <a:tcPr marL="184102" marR="184102" marT="137124" marB="137124" anchor="ctr" horzOverflow="overflow">
                    <a:lnL w="0">
                      <a:noFill/>
                      <a:miter lim="400000"/>
                    </a:lnL>
                    <a:lnR w="0">
                      <a:miter lim="400000"/>
                    </a:lnR>
                    <a:lnT w="0">
                      <a:miter lim="400000"/>
                    </a:lnT>
                    <a:lnB w="0">
                      <a:noFill/>
                      <a:miter lim="400000"/>
                    </a:lnB>
                    <a:solidFill>
                      <a:srgbClr val="7A7A7A"/>
                    </a:solidFill>
                  </a:tcPr>
                </a:tc>
                <a:extLst>
                  <a:ext uri="{0D108BD9-81ED-4DB2-BD59-A6C34878D82A}">
                    <a16:rowId xmlns:a16="http://schemas.microsoft.com/office/drawing/2014/main" val="2526066786"/>
                  </a:ext>
                </a:extLst>
              </a:tr>
            </a:tbl>
          </a:graphicData>
        </a:graphic>
      </p:graphicFrame>
      <p:grpSp>
        <p:nvGrpSpPr>
          <p:cNvPr id="3" name="Group 2">
            <a:extLst>
              <a:ext uri="{FF2B5EF4-FFF2-40B4-BE49-F238E27FC236}">
                <a16:creationId xmlns:a16="http://schemas.microsoft.com/office/drawing/2014/main" id="{E66F5BA9-99D3-B863-38CB-3B8F56F14B66}"/>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0D23EE94-7B17-D54E-B2AE-9E9B33338A0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 name="AutoShape 9">
              <a:extLst>
                <a:ext uri="{FF2B5EF4-FFF2-40B4-BE49-F238E27FC236}">
                  <a16:creationId xmlns:a16="http://schemas.microsoft.com/office/drawing/2014/main" id="{DE59C04A-48A3-8E8C-DDCD-16162A85831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 name="AutoShape 9">
              <a:extLst>
                <a:ext uri="{FF2B5EF4-FFF2-40B4-BE49-F238E27FC236}">
                  <a16:creationId xmlns:a16="http://schemas.microsoft.com/office/drawing/2014/main" id="{4C8E0704-E117-E9DC-1FF0-83297AA36B5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 name="AutoShape 9">
              <a:extLst>
                <a:ext uri="{FF2B5EF4-FFF2-40B4-BE49-F238E27FC236}">
                  <a16:creationId xmlns:a16="http://schemas.microsoft.com/office/drawing/2014/main" id="{8E3B40FD-DEEA-5699-F76A-3D90EF6A195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 name="AutoShape 9">
              <a:extLst>
                <a:ext uri="{FF2B5EF4-FFF2-40B4-BE49-F238E27FC236}">
                  <a16:creationId xmlns:a16="http://schemas.microsoft.com/office/drawing/2014/main" id="{EC119951-BCF4-A996-4EA5-EBC3D3F7CA8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11">
              <a:extLst>
                <a:ext uri="{FF2B5EF4-FFF2-40B4-BE49-F238E27FC236}">
                  <a16:creationId xmlns:a16="http://schemas.microsoft.com/office/drawing/2014/main" id="{5969369C-30FC-9920-9448-3FEBE319E14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1" name="Slide Number Placeholder 2">
            <a:extLst>
              <a:ext uri="{FF2B5EF4-FFF2-40B4-BE49-F238E27FC236}">
                <a16:creationId xmlns:a16="http://schemas.microsoft.com/office/drawing/2014/main" id="{7D8F3723-47DA-3AAC-710B-3E7E8AA3A4EC}"/>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78</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813773478"/>
      </p:ext>
    </p:extLst>
  </p:cSld>
  <p:clrMapOvr>
    <a:masterClrMapping/>
  </p:clrMapOvr>
  <mc:AlternateContent xmlns:mc="http://schemas.openxmlformats.org/markup-compatibility/2006" xmlns:p14="http://schemas.microsoft.com/office/powerpoint/2010/main">
    <mc:Choice Requires="p14">
      <p:transition spd="slow" p14:dur="800">
        <p:push dir="u"/>
      </p:transition>
    </mc:Choice>
    <mc:Fallback xmlns="">
      <p:transition spd="slow">
        <p:push dir="u"/>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C470BD-74A3-21AC-2E82-6E53FE90C32E}"/>
              </a:ext>
            </a:extLst>
          </p:cNvPr>
          <p:cNvSpPr>
            <a:spLocks noGrp="1"/>
          </p:cNvSpPr>
          <p:nvPr>
            <p:ph type="title"/>
          </p:nvPr>
        </p:nvSpPr>
        <p:spPr/>
        <p:txBody>
          <a:bodyPr>
            <a:normAutofit/>
          </a:bodyPr>
          <a:lstStyle/>
          <a:p>
            <a:r>
              <a:rPr lang="en-US" altLang="en-US" dirty="0"/>
              <a:t>Key Interviewer Guideline Questions</a:t>
            </a:r>
            <a:endParaRPr lang="en-US" dirty="0"/>
          </a:p>
        </p:txBody>
      </p:sp>
      <p:sp>
        <p:nvSpPr>
          <p:cNvPr id="3" name="Text Placeholder 2">
            <a:extLst>
              <a:ext uri="{FF2B5EF4-FFF2-40B4-BE49-F238E27FC236}">
                <a16:creationId xmlns:a16="http://schemas.microsoft.com/office/drawing/2014/main" id="{2B42632E-EB44-2B68-D76E-C23A2C489BAC}"/>
              </a:ext>
            </a:extLst>
          </p:cNvPr>
          <p:cNvSpPr>
            <a:spLocks noGrp="1"/>
          </p:cNvSpPr>
          <p:nvPr>
            <p:ph idx="1"/>
          </p:nvPr>
        </p:nvSpPr>
        <p:spPr/>
        <p:txBody>
          <a:bodyPr>
            <a:normAutofit/>
          </a:bodyPr>
          <a:lstStyle/>
          <a:p>
            <a:r>
              <a:rPr lang="en-US" dirty="0"/>
              <a:t>Introduce the team and remind the operator about the exercise we are performing</a:t>
            </a:r>
          </a:p>
          <a:p>
            <a:r>
              <a:rPr lang="en-US" dirty="0"/>
              <a:t>Determine which scripted questions are appropriate for process observed</a:t>
            </a:r>
          </a:p>
          <a:p>
            <a:r>
              <a:rPr lang="en-US" dirty="0"/>
              <a:t>Determine if there are any other relevant questions that need to be asked</a:t>
            </a:r>
          </a:p>
          <a:p>
            <a:r>
              <a:rPr lang="en-US" dirty="0"/>
              <a:t>Thank the operator for his/her time</a:t>
            </a:r>
          </a:p>
        </p:txBody>
      </p:sp>
      <p:grpSp>
        <p:nvGrpSpPr>
          <p:cNvPr id="12" name="Group 11">
            <a:extLst>
              <a:ext uri="{FF2B5EF4-FFF2-40B4-BE49-F238E27FC236}">
                <a16:creationId xmlns:a16="http://schemas.microsoft.com/office/drawing/2014/main" id="{2051040B-0A2F-4350-3FA2-B9F187446545}"/>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5A10D8CC-5498-4D66-BFC6-B8B28A7D9CB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C49831BC-1A16-187B-115F-414F254BA05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23132B47-C915-96BB-106E-030547F6E28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7AD22CE9-4BE2-1203-B3F2-041C5FFF4D9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9B041C7D-F12C-5A31-6D23-1AC391FF00D0}"/>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F12A9727-5A47-15EE-29AB-9CFBD6A48C3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9" name="Slide Number Placeholder 2">
            <a:extLst>
              <a:ext uri="{FF2B5EF4-FFF2-40B4-BE49-F238E27FC236}">
                <a16:creationId xmlns:a16="http://schemas.microsoft.com/office/drawing/2014/main" id="{E5AE8971-FB62-1FB8-A302-53EFC717CDE4}"/>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79</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93806445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FD900F-3E05-0C02-87E4-767DFE9F484C}"/>
              </a:ext>
            </a:extLst>
          </p:cNvPr>
          <p:cNvSpPr>
            <a:spLocks noGrp="1"/>
          </p:cNvSpPr>
          <p:nvPr>
            <p:ph type="title"/>
          </p:nvPr>
        </p:nvSpPr>
        <p:spPr/>
        <p:txBody>
          <a:bodyPr>
            <a:normAutofit/>
          </a:bodyPr>
          <a:lstStyle/>
          <a:p>
            <a:r>
              <a:rPr lang="en-US" dirty="0"/>
              <a:t>Question Examples</a:t>
            </a:r>
          </a:p>
        </p:txBody>
      </p:sp>
      <p:sp>
        <p:nvSpPr>
          <p:cNvPr id="3" name="Text Placeholder 2">
            <a:extLst>
              <a:ext uri="{FF2B5EF4-FFF2-40B4-BE49-F238E27FC236}">
                <a16:creationId xmlns:a16="http://schemas.microsoft.com/office/drawing/2014/main" id="{5FD9185F-03B8-B988-224F-1261244B1274}"/>
              </a:ext>
            </a:extLst>
          </p:cNvPr>
          <p:cNvSpPr>
            <a:spLocks noGrp="1"/>
          </p:cNvSpPr>
          <p:nvPr>
            <p:ph idx="1"/>
          </p:nvPr>
        </p:nvSpPr>
        <p:spPr/>
        <p:txBody>
          <a:bodyPr>
            <a:normAutofit/>
          </a:bodyPr>
          <a:lstStyle/>
          <a:p>
            <a:r>
              <a:rPr lang="en-US" sz="1800" dirty="0"/>
              <a:t>How long does this process typically take? (ask only if can’t be observed)</a:t>
            </a:r>
          </a:p>
          <a:p>
            <a:r>
              <a:rPr lang="en-US" sz="1800" dirty="0"/>
              <a:t>Where are the parts that you need to build today?</a:t>
            </a:r>
          </a:p>
          <a:p>
            <a:r>
              <a:rPr lang="en-US" sz="1800" dirty="0"/>
              <a:t>How often is this machine down? </a:t>
            </a:r>
          </a:p>
          <a:p>
            <a:r>
              <a:rPr lang="en-US" sz="1800" dirty="0"/>
              <a:t>How often are machines down for maintenance?</a:t>
            </a:r>
          </a:p>
          <a:p>
            <a:r>
              <a:rPr lang="en-US" sz="1800" dirty="0"/>
              <a:t>How often do you do changeovers and how long do changeovers take?</a:t>
            </a:r>
          </a:p>
          <a:p>
            <a:r>
              <a:rPr lang="en-US" sz="1800" dirty="0"/>
              <a:t>How many rejects or scrap parts do you have today? </a:t>
            </a:r>
          </a:p>
          <a:p>
            <a:r>
              <a:rPr lang="en-US" sz="1800" dirty="0"/>
              <a:t>What else would cause a delay in this process? </a:t>
            </a:r>
          </a:p>
          <a:p>
            <a:r>
              <a:rPr lang="en-US" sz="1800" dirty="0"/>
              <a:t>If you could make any improvements to this process, what would they be?</a:t>
            </a:r>
          </a:p>
          <a:p>
            <a:pPr marL="0" indent="0" algn="ctr">
              <a:buNone/>
            </a:pPr>
            <a:endParaRPr lang="en-US" sz="1800" b="1" dirty="0"/>
          </a:p>
          <a:p>
            <a:pPr marL="0" indent="0" algn="ctr">
              <a:buNone/>
            </a:pPr>
            <a:r>
              <a:rPr lang="en-US" sz="1800" b="1" dirty="0"/>
              <a:t>Not an exhaustive list… not every question has to be asked. </a:t>
            </a:r>
          </a:p>
          <a:p>
            <a:endParaRPr lang="en-US" sz="1800" dirty="0"/>
          </a:p>
          <a:p>
            <a:endParaRPr lang="en-US" sz="1800" dirty="0"/>
          </a:p>
        </p:txBody>
      </p:sp>
      <p:grpSp>
        <p:nvGrpSpPr>
          <p:cNvPr id="12" name="Group 11">
            <a:extLst>
              <a:ext uri="{FF2B5EF4-FFF2-40B4-BE49-F238E27FC236}">
                <a16:creationId xmlns:a16="http://schemas.microsoft.com/office/drawing/2014/main" id="{EA64A38B-AE55-9423-F772-7F8B9A9D4FBC}"/>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0006CCB2-D161-62E4-3014-4353959076B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BD5EBFBC-5FD1-45F5-C7A0-1EC55BE3A22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24B4EB74-414A-513D-6E82-FADCED5DD0A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6798973E-1F31-4761-5071-85886C65C75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91A7C271-7322-B44E-4525-21FF044398A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7B1ADE84-2A5E-D3B5-CEBF-BA80F872E17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9" name="Slide Number Placeholder 2">
            <a:extLst>
              <a:ext uri="{FF2B5EF4-FFF2-40B4-BE49-F238E27FC236}">
                <a16:creationId xmlns:a16="http://schemas.microsoft.com/office/drawing/2014/main" id="{E0A67FDE-7F83-EC27-E6E7-A2A26904BFC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80</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51751938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After Data Gathering</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p:txBody>
          <a:bodyPr>
            <a:normAutofit/>
          </a:bodyPr>
          <a:lstStyle/>
          <a:p>
            <a:r>
              <a:rPr lang="en-US" dirty="0"/>
              <a:t>Return to common area to jointly create Master Current State Map</a:t>
            </a:r>
          </a:p>
          <a:p>
            <a:r>
              <a:rPr lang="en-US" dirty="0"/>
              <a:t>For drawing Master Current State map, team will require Easel Pad Chart Paper, light colored post-it notes, black markers with thin tip, and calculators</a:t>
            </a:r>
          </a:p>
          <a:p>
            <a:r>
              <a:rPr lang="en-US" dirty="0"/>
              <a:t>All team members will be engaged in the drawing of the map	</a:t>
            </a:r>
          </a:p>
          <a:p>
            <a:r>
              <a:rPr lang="en-US" dirty="0"/>
              <a:t>The Current State Map will be reviewed by management – make the map large and write clearly </a:t>
            </a:r>
          </a:p>
          <a:p>
            <a:r>
              <a:rPr lang="en-US" dirty="0"/>
              <a:t>After Current State is drawn, convert to electronic file “off-line”</a:t>
            </a:r>
          </a:p>
          <a:p>
            <a:endParaRPr lang="en-US" dirty="0"/>
          </a:p>
        </p:txBody>
      </p:sp>
      <p:grpSp>
        <p:nvGrpSpPr>
          <p:cNvPr id="12" name="Group 11">
            <a:extLst>
              <a:ext uri="{FF2B5EF4-FFF2-40B4-BE49-F238E27FC236}">
                <a16:creationId xmlns:a16="http://schemas.microsoft.com/office/drawing/2014/main" id="{E4A4244C-7D88-7FD1-B6DF-54BAEDAF53DA}"/>
              </a:ext>
            </a:extLst>
          </p:cNvPr>
          <p:cNvGrpSpPr/>
          <p:nvPr/>
        </p:nvGrpSpPr>
        <p:grpSpPr>
          <a:xfrm>
            <a:off x="940004" y="330919"/>
            <a:ext cx="6217883" cy="311851"/>
            <a:chOff x="940249" y="302538"/>
            <a:chExt cx="6219503" cy="311932"/>
          </a:xfrm>
        </p:grpSpPr>
        <p:sp>
          <p:nvSpPr>
            <p:cNvPr id="13" name="TextBox 12">
              <a:extLst>
                <a:ext uri="{FF2B5EF4-FFF2-40B4-BE49-F238E27FC236}">
                  <a16:creationId xmlns:a16="http://schemas.microsoft.com/office/drawing/2014/main" id="{60DB5505-13AD-D2ED-EC34-FBD59DEAB26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0B2C8203-BD82-3C96-D0A9-C16CF6273A4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34D9F6EA-78F0-7515-3B28-9AC526868FF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E2329131-DAD1-95E0-7456-2F2442A3F89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26A24436-E230-3671-B163-EE7BF987BB4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DC9C877A-C39B-DBDA-D8D5-DD88641DF1F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9" name="Slide Number Placeholder 2">
            <a:extLst>
              <a:ext uri="{FF2B5EF4-FFF2-40B4-BE49-F238E27FC236}">
                <a16:creationId xmlns:a16="http://schemas.microsoft.com/office/drawing/2014/main" id="{0F640748-9DFC-17C0-1997-321BDE08920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81</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92276476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fontScale="90000"/>
          </a:bodyPr>
          <a:lstStyle/>
          <a:p>
            <a:r>
              <a:rPr lang="en-US" sz="3999" dirty="0">
                <a:latin typeface="Roboto Medium"/>
                <a:ea typeface="Roboto Medium"/>
                <a:cs typeface="Roboto Medium"/>
              </a:rPr>
              <a:t>Current State Mapping for Business: </a:t>
            </a:r>
            <a:br>
              <a:rPr lang="en-US" sz="3999" dirty="0">
                <a:latin typeface="Roboto Medium"/>
                <a:ea typeface="Roboto Medium"/>
                <a:cs typeface="Roboto Medium"/>
              </a:rPr>
            </a:br>
            <a:r>
              <a:rPr lang="en-US" sz="3999" dirty="0">
                <a:latin typeface="Roboto Medium"/>
                <a:ea typeface="Roboto Medium"/>
                <a:cs typeface="Roboto Medium"/>
              </a:rPr>
              <a:t>Team Walk #2</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Current State Team Walk #2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As facilitated by the instructor, identify:</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(1) What data is needed</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(2) Where and how to get the data</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After, complete all of the data gathering and </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collection necessary to populate the </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Current State Map. </a:t>
            </a:r>
          </a:p>
          <a:p>
            <a:pPr defTabSz="584025" hangingPunct="0"/>
            <a:endPar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endParaRP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8" y="4702659"/>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Data collection complete.</a:t>
            </a:r>
          </a:p>
        </p:txBody>
      </p:sp>
      <p:grpSp>
        <p:nvGrpSpPr>
          <p:cNvPr id="3" name="Group 2">
            <a:extLst>
              <a:ext uri="{FF2B5EF4-FFF2-40B4-BE49-F238E27FC236}">
                <a16:creationId xmlns:a16="http://schemas.microsoft.com/office/drawing/2014/main" id="{37FE7573-83CB-A239-1E05-403553AD9525}"/>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5D1269CF-8CAE-D28C-EE33-F4A4BFD4F37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 name="AutoShape 9">
              <a:extLst>
                <a:ext uri="{FF2B5EF4-FFF2-40B4-BE49-F238E27FC236}">
                  <a16:creationId xmlns:a16="http://schemas.microsoft.com/office/drawing/2014/main" id="{30AB7B6F-DEB2-A224-D193-821B0102BD2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 name="AutoShape 9">
              <a:extLst>
                <a:ext uri="{FF2B5EF4-FFF2-40B4-BE49-F238E27FC236}">
                  <a16:creationId xmlns:a16="http://schemas.microsoft.com/office/drawing/2014/main" id="{0E5EFC56-51E8-7A58-F2F6-A11593D5062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 name="AutoShape 9">
              <a:extLst>
                <a:ext uri="{FF2B5EF4-FFF2-40B4-BE49-F238E27FC236}">
                  <a16:creationId xmlns:a16="http://schemas.microsoft.com/office/drawing/2014/main" id="{CDC14992-CABC-BC5D-AABC-A6A205FBC23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 name="AutoShape 9">
              <a:extLst>
                <a:ext uri="{FF2B5EF4-FFF2-40B4-BE49-F238E27FC236}">
                  <a16:creationId xmlns:a16="http://schemas.microsoft.com/office/drawing/2014/main" id="{E4E93D54-2ABA-CF5C-D2E4-FE3C094FD06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11">
              <a:extLst>
                <a:ext uri="{FF2B5EF4-FFF2-40B4-BE49-F238E27FC236}">
                  <a16:creationId xmlns:a16="http://schemas.microsoft.com/office/drawing/2014/main" id="{6D8789C9-60D5-0CB5-AB13-9ED90F4D9A0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Tree>
    <p:extLst>
      <p:ext uri="{BB962C8B-B14F-4D97-AF65-F5344CB8AC3E}">
        <p14:creationId xmlns:p14="http://schemas.microsoft.com/office/powerpoint/2010/main" val="89883679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dirty="0"/>
              <a:t>Method to Create the Current State Map: Map Creation</a:t>
            </a:r>
          </a:p>
        </p:txBody>
      </p:sp>
      <p:grpSp>
        <p:nvGrpSpPr>
          <p:cNvPr id="27" name="Group 26">
            <a:extLst>
              <a:ext uri="{FF2B5EF4-FFF2-40B4-BE49-F238E27FC236}">
                <a16:creationId xmlns:a16="http://schemas.microsoft.com/office/drawing/2014/main" id="{4F9A6CC4-A6B3-F62F-CE4A-FD2DEE7ABB4B}"/>
              </a:ext>
            </a:extLst>
          </p:cNvPr>
          <p:cNvGrpSpPr/>
          <p:nvPr/>
        </p:nvGrpSpPr>
        <p:grpSpPr>
          <a:xfrm>
            <a:off x="1057756" y="1922963"/>
            <a:ext cx="9192300" cy="4459973"/>
            <a:chOff x="492125" y="1500188"/>
            <a:chExt cx="8213725" cy="4597400"/>
          </a:xfrm>
        </p:grpSpPr>
        <p:sp>
          <p:nvSpPr>
            <p:cNvPr id="14" name="Rectangle 2">
              <a:extLst>
                <a:ext uri="{FF2B5EF4-FFF2-40B4-BE49-F238E27FC236}">
                  <a16:creationId xmlns:a16="http://schemas.microsoft.com/office/drawing/2014/main" id="{5DA1E2B4-77A6-5091-B615-2803D4CA8251}"/>
                </a:ext>
              </a:extLst>
            </p:cNvPr>
            <p:cNvSpPr>
              <a:spLocks noChangeArrowheads="1"/>
            </p:cNvSpPr>
            <p:nvPr/>
          </p:nvSpPr>
          <p:spPr bwMode="auto">
            <a:xfrm>
              <a:off x="492125" y="1743846"/>
              <a:ext cx="2916238" cy="838200"/>
            </a:xfrm>
            <a:prstGeom prst="rect">
              <a:avLst/>
            </a:prstGeom>
            <a:solidFill>
              <a:schemeClr val="bg1"/>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191C25"/>
                  </a:solidFill>
                  <a:latin typeface="+mn-lt"/>
                </a:rPr>
                <a:t>Team Walk #1:</a:t>
              </a:r>
            </a:p>
            <a:p>
              <a:pPr eaLnBrk="1" hangingPunct="1">
                <a:lnSpc>
                  <a:spcPct val="100000"/>
                </a:lnSpc>
                <a:spcBef>
                  <a:spcPct val="0"/>
                </a:spcBef>
              </a:pPr>
              <a:r>
                <a:rPr lang="en-US" altLang="en-US" sz="1800" dirty="0">
                  <a:solidFill>
                    <a:srgbClr val="191C25"/>
                  </a:solidFill>
                  <a:latin typeface="+mn-lt"/>
                </a:rPr>
                <a:t>Process Identification</a:t>
              </a:r>
            </a:p>
          </p:txBody>
        </p:sp>
        <p:sp>
          <p:nvSpPr>
            <p:cNvPr id="15" name="Rectangle 3">
              <a:extLst>
                <a:ext uri="{FF2B5EF4-FFF2-40B4-BE49-F238E27FC236}">
                  <a16:creationId xmlns:a16="http://schemas.microsoft.com/office/drawing/2014/main" id="{D48DC50C-A284-6D3F-B7A7-5103C7C8E356}"/>
                </a:ext>
              </a:extLst>
            </p:cNvPr>
            <p:cNvSpPr>
              <a:spLocks noChangeArrowheads="1"/>
            </p:cNvSpPr>
            <p:nvPr/>
          </p:nvSpPr>
          <p:spPr bwMode="auto">
            <a:xfrm>
              <a:off x="492125" y="3351213"/>
              <a:ext cx="2916238" cy="841375"/>
            </a:xfrm>
            <a:prstGeom prst="rect">
              <a:avLst/>
            </a:prstGeom>
            <a:solidFill>
              <a:srgbClr val="7A7A7A"/>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latin typeface="+mn-lt"/>
                </a:rPr>
                <a:t>Team Walk #2:</a:t>
              </a:r>
            </a:p>
            <a:p>
              <a:pPr eaLnBrk="1" hangingPunct="1">
                <a:lnSpc>
                  <a:spcPct val="100000"/>
                </a:lnSpc>
                <a:spcBef>
                  <a:spcPct val="0"/>
                </a:spcBef>
              </a:pPr>
              <a:r>
                <a:rPr lang="en-US" altLang="en-US" sz="1800" dirty="0">
                  <a:latin typeface="+mn-lt"/>
                </a:rPr>
                <a:t>Data Gathering</a:t>
              </a:r>
            </a:p>
          </p:txBody>
        </p:sp>
        <p:sp>
          <p:nvSpPr>
            <p:cNvPr id="16" name="Rectangle 4">
              <a:extLst>
                <a:ext uri="{FF2B5EF4-FFF2-40B4-BE49-F238E27FC236}">
                  <a16:creationId xmlns:a16="http://schemas.microsoft.com/office/drawing/2014/main" id="{AE8DB955-5220-2060-FD2F-428A0AFC4B09}"/>
                </a:ext>
              </a:extLst>
            </p:cNvPr>
            <p:cNvSpPr>
              <a:spLocks noChangeArrowheads="1"/>
            </p:cNvSpPr>
            <p:nvPr/>
          </p:nvSpPr>
          <p:spPr bwMode="auto">
            <a:xfrm>
              <a:off x="492125" y="4960938"/>
              <a:ext cx="2916238" cy="838200"/>
            </a:xfrm>
            <a:prstGeom prst="rect">
              <a:avLst/>
            </a:prstGeom>
            <a:solidFill>
              <a:srgbClr val="FFB627"/>
            </a:solidFill>
            <a:ln w="9525">
              <a:solidFill>
                <a:srgbClr val="00005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800" dirty="0">
                  <a:solidFill>
                    <a:srgbClr val="191C25"/>
                  </a:solidFill>
                  <a:latin typeface="+mn-lt"/>
                </a:rPr>
                <a:t>Map Creation</a:t>
              </a:r>
            </a:p>
          </p:txBody>
        </p:sp>
        <p:cxnSp>
          <p:nvCxnSpPr>
            <p:cNvPr id="17" name="AutoShape 5">
              <a:extLst>
                <a:ext uri="{FF2B5EF4-FFF2-40B4-BE49-F238E27FC236}">
                  <a16:creationId xmlns:a16="http://schemas.microsoft.com/office/drawing/2014/main" id="{6FB9ED93-9847-F7D6-95DC-B948C27AD45D}"/>
                </a:ext>
              </a:extLst>
            </p:cNvPr>
            <p:cNvCxnSpPr>
              <a:cxnSpLocks noChangeShapeType="1"/>
              <a:stCxn id="14" idx="2"/>
              <a:endCxn id="15" idx="0"/>
            </p:cNvCxnSpPr>
            <p:nvPr/>
          </p:nvCxnSpPr>
          <p:spPr bwMode="auto">
            <a:xfrm>
              <a:off x="1950244" y="2582046"/>
              <a:ext cx="0" cy="769167"/>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18" name="AutoShape 6">
              <a:extLst>
                <a:ext uri="{FF2B5EF4-FFF2-40B4-BE49-F238E27FC236}">
                  <a16:creationId xmlns:a16="http://schemas.microsoft.com/office/drawing/2014/main" id="{C6CC2240-3D99-BFA7-F47A-6B77C1D89AB0}"/>
                </a:ext>
              </a:extLst>
            </p:cNvPr>
            <p:cNvCxnSpPr>
              <a:cxnSpLocks noChangeShapeType="1"/>
              <a:stCxn id="15" idx="2"/>
              <a:endCxn id="16" idx="0"/>
            </p:cNvCxnSpPr>
            <p:nvPr/>
          </p:nvCxnSpPr>
          <p:spPr bwMode="auto">
            <a:xfrm>
              <a:off x="1951038" y="4192588"/>
              <a:ext cx="0" cy="768350"/>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19" name="AutoShape 7">
              <a:extLst>
                <a:ext uri="{FF2B5EF4-FFF2-40B4-BE49-F238E27FC236}">
                  <a16:creationId xmlns:a16="http://schemas.microsoft.com/office/drawing/2014/main" id="{20D71AC6-0569-6FB9-10FC-B289627C5D45}"/>
                </a:ext>
              </a:extLst>
            </p:cNvPr>
            <p:cNvSpPr>
              <a:spLocks noChangeArrowheads="1"/>
            </p:cNvSpPr>
            <p:nvPr/>
          </p:nvSpPr>
          <p:spPr bwMode="auto">
            <a:xfrm>
              <a:off x="3573463" y="2015308"/>
              <a:ext cx="401637" cy="498475"/>
            </a:xfrm>
            <a:prstGeom prst="rightArrow">
              <a:avLst>
                <a:gd name="adj1" fmla="val 58185"/>
                <a:gd name="adj2" fmla="val 60870"/>
              </a:avLst>
            </a:prstGeom>
            <a:solidFill>
              <a:schemeClr val="bg1"/>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0" name="AutoShape 8">
              <a:extLst>
                <a:ext uri="{FF2B5EF4-FFF2-40B4-BE49-F238E27FC236}">
                  <a16:creationId xmlns:a16="http://schemas.microsoft.com/office/drawing/2014/main" id="{F3E0DF8F-A17E-55E4-FBE6-423FCD1541D4}"/>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bg1"/>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1" name="AutoShape 9">
              <a:extLst>
                <a:ext uri="{FF2B5EF4-FFF2-40B4-BE49-F238E27FC236}">
                  <a16:creationId xmlns:a16="http://schemas.microsoft.com/office/drawing/2014/main" id="{2EF60BB0-A735-EA99-9627-A89B24E0C822}"/>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bg1"/>
            </a:solidFill>
            <a:ln w="19050">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2" name="Line 10">
              <a:extLst>
                <a:ext uri="{FF2B5EF4-FFF2-40B4-BE49-F238E27FC236}">
                  <a16:creationId xmlns:a16="http://schemas.microsoft.com/office/drawing/2014/main" id="{D5E8862C-2AA3-572F-0104-E7A36259BDF2}"/>
                </a:ext>
              </a:extLst>
            </p:cNvPr>
            <p:cNvSpPr>
              <a:spLocks noChangeShapeType="1"/>
            </p:cNvSpPr>
            <p:nvPr/>
          </p:nvSpPr>
          <p:spPr bwMode="auto">
            <a:xfrm>
              <a:off x="4009232" y="1946990"/>
              <a:ext cx="4616450"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nchor="ctr"/>
            <a:lstStyle/>
            <a:p>
              <a:endParaRPr lang="en-US" sz="1399"/>
            </a:p>
          </p:txBody>
        </p:sp>
        <p:sp>
          <p:nvSpPr>
            <p:cNvPr id="24" name="AutoShape 20">
              <a:extLst>
                <a:ext uri="{FF2B5EF4-FFF2-40B4-BE49-F238E27FC236}">
                  <a16:creationId xmlns:a16="http://schemas.microsoft.com/office/drawing/2014/main" id="{ED6CD1B6-A1D2-445E-11F7-4B760FCA7EF3}"/>
                </a:ext>
              </a:extLst>
            </p:cNvPr>
            <p:cNvSpPr>
              <a:spLocks noChangeArrowheads="1"/>
            </p:cNvSpPr>
            <p:nvPr/>
          </p:nvSpPr>
          <p:spPr bwMode="auto">
            <a:xfrm>
              <a:off x="3946525" y="18573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Everyone initially should create their OWN map</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Walk the entire process first to record process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Begin at end point and proceed in reverse flow</a:t>
              </a:r>
            </a:p>
            <a:p>
              <a:pPr marL="142846" indent="-14284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Draw map of process using pencil and paper</a:t>
              </a:r>
            </a:p>
          </p:txBody>
        </p:sp>
        <p:sp>
          <p:nvSpPr>
            <p:cNvPr id="23" name="Text Box 11">
              <a:extLst>
                <a:ext uri="{FF2B5EF4-FFF2-40B4-BE49-F238E27FC236}">
                  <a16:creationId xmlns:a16="http://schemas.microsoft.com/office/drawing/2014/main" id="{53158DBE-3A35-E13E-C76B-E608BFBDF4EA}"/>
                </a:ext>
              </a:extLst>
            </p:cNvPr>
            <p:cNvSpPr txBox="1">
              <a:spLocks noChangeArrowheads="1"/>
            </p:cNvSpPr>
            <p:nvPr/>
          </p:nvSpPr>
          <p:spPr bwMode="auto">
            <a:xfrm>
              <a:off x="3987800" y="1500188"/>
              <a:ext cx="3536950" cy="475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2400" dirty="0">
                  <a:solidFill>
                    <a:srgbClr val="191C25"/>
                  </a:solidFill>
                  <a:latin typeface="+mn-lt"/>
                </a:rPr>
                <a:t>Key Characteristics</a:t>
              </a:r>
            </a:p>
          </p:txBody>
        </p:sp>
        <p:sp>
          <p:nvSpPr>
            <p:cNvPr id="25" name="AutoShape 21">
              <a:extLst>
                <a:ext uri="{FF2B5EF4-FFF2-40B4-BE49-F238E27FC236}">
                  <a16:creationId xmlns:a16="http://schemas.microsoft.com/office/drawing/2014/main" id="{1164D8DE-5F04-2CD7-0038-4335738955E3}"/>
                </a:ext>
              </a:extLst>
            </p:cNvPr>
            <p:cNvSpPr>
              <a:spLocks noChangeArrowheads="1"/>
            </p:cNvSpPr>
            <p:nvPr/>
          </p:nvSpPr>
          <p:spPr bwMode="auto">
            <a:xfrm>
              <a:off x="3944938" y="327342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Decide what data will be collected for each process</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Walk reverse flow again and collect data and </a:t>
              </a:r>
              <a:br>
                <a:rPr lang="en-US" altLang="en-US" sz="1600" dirty="0">
                  <a:solidFill>
                    <a:srgbClr val="191C25"/>
                  </a:solidFill>
                  <a:latin typeface="Roboto" panose="02000000000000000000" pitchFamily="2" charset="0"/>
                  <a:ea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rPr>
                <a:t>information flow</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Use actual, observed data wherever possible</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Use smallest time units whenever possible – </a:t>
              </a:r>
              <a:br>
                <a:rPr lang="en-US" altLang="en-US" sz="1600" dirty="0">
                  <a:solidFill>
                    <a:srgbClr val="191C25"/>
                  </a:solidFill>
                  <a:latin typeface="Roboto" panose="02000000000000000000" pitchFamily="2" charset="0"/>
                  <a:ea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rPr>
                <a:t>be consistent</a:t>
              </a:r>
            </a:p>
          </p:txBody>
        </p:sp>
        <p:sp>
          <p:nvSpPr>
            <p:cNvPr id="26" name="AutoShape 22">
              <a:extLst>
                <a:ext uri="{FF2B5EF4-FFF2-40B4-BE49-F238E27FC236}">
                  <a16:creationId xmlns:a16="http://schemas.microsoft.com/office/drawing/2014/main" id="{A0E7EA69-D47E-4282-625A-383E7B10C18F}"/>
                </a:ext>
              </a:extLst>
            </p:cNvPr>
            <p:cNvSpPr>
              <a:spLocks noChangeArrowheads="1"/>
            </p:cNvSpPr>
            <p:nvPr/>
          </p:nvSpPr>
          <p:spPr bwMode="auto">
            <a:xfrm>
              <a:off x="3944938" y="4818063"/>
              <a:ext cx="4745037"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Consolidate individual maps into a single map by </a:t>
              </a:r>
              <a:br>
                <a:rPr lang="en-US" altLang="en-US" sz="1600" dirty="0">
                  <a:solidFill>
                    <a:srgbClr val="191C25"/>
                  </a:solidFill>
                  <a:latin typeface="Roboto" panose="02000000000000000000" pitchFamily="2" charset="0"/>
                  <a:ea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rPr>
                <a:t>consensus of the team </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Use post-it notes to facilitate any necessary changes</a:t>
              </a:r>
            </a:p>
            <a:p>
              <a:pPr marL="171416" indent="-171416" algn="l">
                <a:spcBef>
                  <a:spcPct val="0"/>
                </a:spcBef>
                <a:buClr>
                  <a:schemeClr val="tx1"/>
                </a:buClr>
                <a:buSzPct val="90000"/>
                <a:buFont typeface="Arial" panose="020B0604020202020204" pitchFamily="34" charset="0"/>
                <a:buChar char="•"/>
              </a:pPr>
              <a:r>
                <a:rPr lang="en-US" altLang="en-US" sz="1600" dirty="0">
                  <a:solidFill>
                    <a:srgbClr val="191C25"/>
                  </a:solidFill>
                  <a:latin typeface="Roboto" panose="02000000000000000000" pitchFamily="2" charset="0"/>
                  <a:ea typeface="Roboto" panose="02000000000000000000" pitchFamily="2" charset="0"/>
                </a:rPr>
                <a:t>Review map as a team to ensure accuracy and </a:t>
              </a:r>
              <a:br>
                <a:rPr lang="en-US" altLang="en-US" sz="1600" dirty="0">
                  <a:solidFill>
                    <a:srgbClr val="191C25"/>
                  </a:solidFill>
                  <a:latin typeface="Roboto" panose="02000000000000000000" pitchFamily="2" charset="0"/>
                  <a:ea typeface="Roboto" panose="02000000000000000000" pitchFamily="2" charset="0"/>
                </a:rPr>
              </a:br>
              <a:r>
                <a:rPr lang="en-US" altLang="en-US" sz="1600" dirty="0">
                  <a:solidFill>
                    <a:srgbClr val="191C25"/>
                  </a:solidFill>
                  <a:latin typeface="Roboto" panose="02000000000000000000" pitchFamily="2" charset="0"/>
                  <a:ea typeface="Roboto" panose="02000000000000000000" pitchFamily="2" charset="0"/>
                </a:rPr>
                <a:t>validate flow</a:t>
              </a:r>
            </a:p>
          </p:txBody>
        </p:sp>
      </p:grpSp>
      <p:grpSp>
        <p:nvGrpSpPr>
          <p:cNvPr id="13" name="Group 12">
            <a:extLst>
              <a:ext uri="{FF2B5EF4-FFF2-40B4-BE49-F238E27FC236}">
                <a16:creationId xmlns:a16="http://schemas.microsoft.com/office/drawing/2014/main" id="{A405142C-AFA9-7628-3F0D-DB44AED44B7A}"/>
              </a:ext>
            </a:extLst>
          </p:cNvPr>
          <p:cNvGrpSpPr/>
          <p:nvPr/>
        </p:nvGrpSpPr>
        <p:grpSpPr>
          <a:xfrm>
            <a:off x="940004" y="330919"/>
            <a:ext cx="6217883" cy="311851"/>
            <a:chOff x="940249" y="302538"/>
            <a:chExt cx="6219503" cy="311932"/>
          </a:xfrm>
        </p:grpSpPr>
        <p:sp>
          <p:nvSpPr>
            <p:cNvPr id="28" name="TextBox 27">
              <a:extLst>
                <a:ext uri="{FF2B5EF4-FFF2-40B4-BE49-F238E27FC236}">
                  <a16:creationId xmlns:a16="http://schemas.microsoft.com/office/drawing/2014/main" id="{B3220962-B5DE-F3D9-CE23-4802E2F4A06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9" name="AutoShape 9">
              <a:extLst>
                <a:ext uri="{FF2B5EF4-FFF2-40B4-BE49-F238E27FC236}">
                  <a16:creationId xmlns:a16="http://schemas.microsoft.com/office/drawing/2014/main" id="{9ABFB3B3-8B31-DD97-ED86-C9BAEF24C0C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AutoShape 9">
              <a:extLst>
                <a:ext uri="{FF2B5EF4-FFF2-40B4-BE49-F238E27FC236}">
                  <a16:creationId xmlns:a16="http://schemas.microsoft.com/office/drawing/2014/main" id="{BA7556FA-81E6-29B9-BB60-98542AC2FD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AutoShape 9">
              <a:extLst>
                <a:ext uri="{FF2B5EF4-FFF2-40B4-BE49-F238E27FC236}">
                  <a16:creationId xmlns:a16="http://schemas.microsoft.com/office/drawing/2014/main" id="{EEE9884F-AF04-3557-EAD1-ED86D93080EE}"/>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AutoShape 9">
              <a:extLst>
                <a:ext uri="{FF2B5EF4-FFF2-40B4-BE49-F238E27FC236}">
                  <a16:creationId xmlns:a16="http://schemas.microsoft.com/office/drawing/2014/main" id="{B0DB798A-F6AD-5315-1079-0263EC1784D0}"/>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3" name="AutoShape 11">
              <a:extLst>
                <a:ext uri="{FF2B5EF4-FFF2-40B4-BE49-F238E27FC236}">
                  <a16:creationId xmlns:a16="http://schemas.microsoft.com/office/drawing/2014/main" id="{F32697A6-D4D5-A4CA-0CBF-2D4F2A8CDF9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4" name="Slide Number Placeholder 2">
            <a:extLst>
              <a:ext uri="{FF2B5EF4-FFF2-40B4-BE49-F238E27FC236}">
                <a16:creationId xmlns:a16="http://schemas.microsoft.com/office/drawing/2014/main" id="{1FFB1AE8-8432-8217-A62D-0306150BDCEC}"/>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83</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75770008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Current State Mapping for Business</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Current State Value Stream Map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Follow the guidelines on the previous pages to</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the current state Value Stream Map.</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When complete, revisit the customer’s expectations</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(identified earlier in exercise on </a:t>
            </a:r>
            <a:r>
              <a:rPr lang="en-US" sz="1600" dirty="0" err="1">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pgs</a:t>
            </a: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 20-21) and </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answer: “How well are we currently aligned to</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our customer’s expectations?”</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7" y="4613059"/>
            <a:ext cx="4680073" cy="840973"/>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Current State Map of the process.</a:t>
            </a:r>
          </a:p>
        </p:txBody>
      </p:sp>
      <p:grpSp>
        <p:nvGrpSpPr>
          <p:cNvPr id="3" name="Group 2">
            <a:extLst>
              <a:ext uri="{FF2B5EF4-FFF2-40B4-BE49-F238E27FC236}">
                <a16:creationId xmlns:a16="http://schemas.microsoft.com/office/drawing/2014/main" id="{8C98054D-2D95-96B0-9737-39F74FE69EEC}"/>
              </a:ext>
            </a:extLst>
          </p:cNvPr>
          <p:cNvGrpSpPr/>
          <p:nvPr/>
        </p:nvGrpSpPr>
        <p:grpSpPr>
          <a:xfrm>
            <a:off x="940004" y="330919"/>
            <a:ext cx="6217883" cy="311851"/>
            <a:chOff x="940249" y="302538"/>
            <a:chExt cx="6219503" cy="311932"/>
          </a:xfrm>
        </p:grpSpPr>
        <p:sp>
          <p:nvSpPr>
            <p:cNvPr id="4" name="TextBox 3">
              <a:extLst>
                <a:ext uri="{FF2B5EF4-FFF2-40B4-BE49-F238E27FC236}">
                  <a16:creationId xmlns:a16="http://schemas.microsoft.com/office/drawing/2014/main" id="{DE85D12F-A9CB-25F4-14CF-A9BCB02F5BD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 name="AutoShape 9">
              <a:extLst>
                <a:ext uri="{FF2B5EF4-FFF2-40B4-BE49-F238E27FC236}">
                  <a16:creationId xmlns:a16="http://schemas.microsoft.com/office/drawing/2014/main" id="{846A718F-FF6B-3C83-3A06-F6E6FADB29F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 name="AutoShape 9">
              <a:extLst>
                <a:ext uri="{FF2B5EF4-FFF2-40B4-BE49-F238E27FC236}">
                  <a16:creationId xmlns:a16="http://schemas.microsoft.com/office/drawing/2014/main" id="{22CD61E1-0789-6273-6A8D-4FB783997BB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 name="AutoShape 9">
              <a:extLst>
                <a:ext uri="{FF2B5EF4-FFF2-40B4-BE49-F238E27FC236}">
                  <a16:creationId xmlns:a16="http://schemas.microsoft.com/office/drawing/2014/main" id="{304DF87B-E80E-1579-7FD7-16063D98DD3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 name="AutoShape 9">
              <a:extLst>
                <a:ext uri="{FF2B5EF4-FFF2-40B4-BE49-F238E27FC236}">
                  <a16:creationId xmlns:a16="http://schemas.microsoft.com/office/drawing/2014/main" id="{90C58870-4F8D-9B91-1E6A-277F9D81807A}"/>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11">
              <a:extLst>
                <a:ext uri="{FF2B5EF4-FFF2-40B4-BE49-F238E27FC236}">
                  <a16:creationId xmlns:a16="http://schemas.microsoft.com/office/drawing/2014/main" id="{E7751256-A6F1-937E-F363-B7AC592D3E5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Tree>
    <p:extLst>
      <p:ext uri="{BB962C8B-B14F-4D97-AF65-F5344CB8AC3E}">
        <p14:creationId xmlns:p14="http://schemas.microsoft.com/office/powerpoint/2010/main" val="170806423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729" y="1497515"/>
            <a:ext cx="10535433" cy="1009387"/>
          </a:xfrm>
          <a:prstGeom prst="rect">
            <a:avLst/>
          </a:prstGeom>
        </p:spPr>
        <p:txBody>
          <a:bodyPr>
            <a:normAutofit fontScale="90000"/>
          </a:bodyPr>
          <a:lstStyle/>
          <a:p>
            <a:r>
              <a:rPr lang="en-US" sz="3999" dirty="0">
                <a:latin typeface="Roboto Medium"/>
                <a:ea typeface="Roboto Medium"/>
                <a:cs typeface="Roboto Medium"/>
              </a:rPr>
              <a:t>Interrogating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300" y="2506902"/>
            <a:ext cx="10512862" cy="4350205"/>
          </a:xfrm>
        </p:spPr>
        <p:txBody>
          <a:bodyPr>
            <a:normAutofit/>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steps to analyze or “interrogate” a Current State Map for improvement opportunities</a:t>
            </a:r>
          </a:p>
          <a:p>
            <a:r>
              <a:rPr lang="en-US" dirty="0"/>
              <a:t>Perform Current State Interrogation Exercise</a:t>
            </a:r>
          </a:p>
          <a:p>
            <a:r>
              <a:rPr lang="en-US" dirty="0"/>
              <a:t>Complete Current State Interrogation for Business Current State Map</a:t>
            </a:r>
          </a:p>
          <a:p>
            <a:r>
              <a:rPr lang="en-US" dirty="0"/>
              <a:t>Report-out Current State Map with identified improvements to Leadership</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729" y="2387190"/>
            <a:ext cx="3881964"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F0EA47C9-ED12-BFC6-9383-1D79A1F9B851}"/>
              </a:ext>
            </a:extLst>
          </p:cNvPr>
          <p:cNvGrpSpPr/>
          <p:nvPr/>
        </p:nvGrpSpPr>
        <p:grpSpPr>
          <a:xfrm>
            <a:off x="699728" y="837809"/>
            <a:ext cx="7271730" cy="659707"/>
            <a:chOff x="699911" y="1069861"/>
            <a:chExt cx="7273624" cy="350130"/>
          </a:xfrm>
        </p:grpSpPr>
        <p:sp>
          <p:nvSpPr>
            <p:cNvPr id="13" name="AutoShape 9">
              <a:extLst>
                <a:ext uri="{FF2B5EF4-FFF2-40B4-BE49-F238E27FC236}">
                  <a16:creationId xmlns:a16="http://schemas.microsoft.com/office/drawing/2014/main" id="{8BD99035-118F-A478-E1F3-642C122DDE48}"/>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14" name="AutoShape 9">
              <a:extLst>
                <a:ext uri="{FF2B5EF4-FFF2-40B4-BE49-F238E27FC236}">
                  <a16:creationId xmlns:a16="http://schemas.microsoft.com/office/drawing/2014/main" id="{5440A695-6F57-3099-27E4-FD69786A24E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15" name="Group 14">
              <a:extLst>
                <a:ext uri="{FF2B5EF4-FFF2-40B4-BE49-F238E27FC236}">
                  <a16:creationId xmlns:a16="http://schemas.microsoft.com/office/drawing/2014/main" id="{B38CDAFC-8CD0-DAA9-4960-E7F1A0900979}"/>
                </a:ext>
              </a:extLst>
            </p:cNvPr>
            <p:cNvGrpSpPr/>
            <p:nvPr/>
          </p:nvGrpSpPr>
          <p:grpSpPr>
            <a:xfrm>
              <a:off x="699911" y="1069861"/>
              <a:ext cx="4425950" cy="350130"/>
              <a:chOff x="5627530" y="641179"/>
              <a:chExt cx="6564470" cy="804977"/>
            </a:xfrm>
          </p:grpSpPr>
          <p:sp>
            <p:nvSpPr>
              <p:cNvPr id="16" name="AutoShape 9">
                <a:extLst>
                  <a:ext uri="{FF2B5EF4-FFF2-40B4-BE49-F238E27FC236}">
                    <a16:creationId xmlns:a16="http://schemas.microsoft.com/office/drawing/2014/main" id="{8946F87A-CD4D-C19B-7524-F7949D943F23}"/>
                  </a:ext>
                </a:extLst>
              </p:cNvPr>
              <p:cNvSpPr>
                <a:spLocks noChangeArrowheads="1"/>
              </p:cNvSpPr>
              <p:nvPr/>
            </p:nvSpPr>
            <p:spPr bwMode="auto">
              <a:xfrm>
                <a:off x="9851136"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Interrogate the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Current State</a:t>
                </a:r>
              </a:p>
            </p:txBody>
          </p:sp>
          <p:sp>
            <p:nvSpPr>
              <p:cNvPr id="17" name="AutoShape 10">
                <a:extLst>
                  <a:ext uri="{FF2B5EF4-FFF2-40B4-BE49-F238E27FC236}">
                    <a16:creationId xmlns:a16="http://schemas.microsoft.com/office/drawing/2014/main" id="{20862A48-F7AE-C1A5-DD2F-CA906E13B749}"/>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8" name="AutoShape 11">
                <a:extLst>
                  <a:ext uri="{FF2B5EF4-FFF2-40B4-BE49-F238E27FC236}">
                    <a16:creationId xmlns:a16="http://schemas.microsoft.com/office/drawing/2014/main" id="{E23FE69C-2883-8169-CE2D-CD304A7C968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62948994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Exercise</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267256"/>
            <a:ext cx="9719810" cy="840973"/>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Apply lean thinking to the Current State Map to identify opportunities to remove waste from the Value Stream.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314729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71969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Use the MME case study Current State Map on </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11x17”paper.</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Follow along as the instructor leads a step-by-step discussion of how to interrogate a Current </a:t>
            </a:r>
            <a:b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State Map.</a:t>
            </a:r>
          </a:p>
          <a:p>
            <a:pPr defTabSz="584025" hangingPunct="0"/>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When instructed, mark your MME Current State Map using red pen/marker. Don’t work ahead.</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313685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35953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72022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9" y="4804018"/>
            <a:ext cx="4680073" cy="1210177"/>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your map for completeness, proper form, use and placement of VSM Icons. </a:t>
            </a:r>
          </a:p>
        </p:txBody>
      </p:sp>
      <p:grpSp>
        <p:nvGrpSpPr>
          <p:cNvPr id="10" name="Group 9">
            <a:extLst>
              <a:ext uri="{FF2B5EF4-FFF2-40B4-BE49-F238E27FC236}">
                <a16:creationId xmlns:a16="http://schemas.microsoft.com/office/drawing/2014/main" id="{60E7B6CC-6438-D21A-13FE-FD4B5767EA0B}"/>
              </a:ext>
            </a:extLst>
          </p:cNvPr>
          <p:cNvGrpSpPr/>
          <p:nvPr/>
        </p:nvGrpSpPr>
        <p:grpSpPr>
          <a:xfrm>
            <a:off x="940004" y="339107"/>
            <a:ext cx="6217883" cy="311851"/>
            <a:chOff x="940249" y="302538"/>
            <a:chExt cx="6219503" cy="311932"/>
          </a:xfrm>
        </p:grpSpPr>
        <p:sp>
          <p:nvSpPr>
            <p:cNvPr id="19" name="TextBox 18">
              <a:extLst>
                <a:ext uri="{FF2B5EF4-FFF2-40B4-BE49-F238E27FC236}">
                  <a16:creationId xmlns:a16="http://schemas.microsoft.com/office/drawing/2014/main" id="{F58D745B-9F52-2758-4AC9-98FAE9CC537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20" name="AutoShape 9">
              <a:extLst>
                <a:ext uri="{FF2B5EF4-FFF2-40B4-BE49-F238E27FC236}">
                  <a16:creationId xmlns:a16="http://schemas.microsoft.com/office/drawing/2014/main" id="{D1290C1B-AF06-E78C-12A3-33CD140370E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AutoShape 9">
              <a:extLst>
                <a:ext uri="{FF2B5EF4-FFF2-40B4-BE49-F238E27FC236}">
                  <a16:creationId xmlns:a16="http://schemas.microsoft.com/office/drawing/2014/main" id="{39602A22-B915-407E-0628-381A49D809B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AutoShape 9">
              <a:extLst>
                <a:ext uri="{FF2B5EF4-FFF2-40B4-BE49-F238E27FC236}">
                  <a16:creationId xmlns:a16="http://schemas.microsoft.com/office/drawing/2014/main" id="{7E6AC636-C071-5379-3FB9-6DCC8A2B7583}"/>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AutoShape 9">
              <a:extLst>
                <a:ext uri="{FF2B5EF4-FFF2-40B4-BE49-F238E27FC236}">
                  <a16:creationId xmlns:a16="http://schemas.microsoft.com/office/drawing/2014/main" id="{8A71F050-A7E1-68EE-D90B-52717551EFA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 name="AutoShape 11">
              <a:extLst>
                <a:ext uri="{FF2B5EF4-FFF2-40B4-BE49-F238E27FC236}">
                  <a16:creationId xmlns:a16="http://schemas.microsoft.com/office/drawing/2014/main" id="{08F55E56-F7DA-4F03-40E1-B18B7E13D91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Tree>
    <p:extLst>
      <p:ext uri="{BB962C8B-B14F-4D97-AF65-F5344CB8AC3E}">
        <p14:creationId xmlns:p14="http://schemas.microsoft.com/office/powerpoint/2010/main" val="73866529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87</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202513972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88</a:t>
            </a:fld>
            <a:endParaRPr lang="en-US" dirty="0"/>
          </a:p>
        </p:txBody>
      </p:sp>
    </p:spTree>
    <p:extLst>
      <p:ext uri="{BB962C8B-B14F-4D97-AF65-F5344CB8AC3E}">
        <p14:creationId xmlns:p14="http://schemas.microsoft.com/office/powerpoint/2010/main" val="211666380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89</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429025649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Deciding on Build Strategy</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p:txBody>
          <a:bodyPr>
            <a:normAutofit fontScale="92500"/>
          </a:bodyPr>
          <a:lstStyle/>
          <a:p>
            <a:r>
              <a:rPr lang="en-US" dirty="0"/>
              <a:t>Build to Finished Goods (FG) Supermarket</a:t>
            </a:r>
          </a:p>
          <a:p>
            <a:pPr lvl="1"/>
            <a:r>
              <a:rPr lang="en-US" dirty="0"/>
              <a:t>Products are sold and shipped “off the shelf”</a:t>
            </a:r>
          </a:p>
          <a:p>
            <a:pPr lvl="1"/>
            <a:r>
              <a:rPr lang="en-US" dirty="0"/>
              <a:t>Planned FG inventory levels are tied to aggregate forecasts</a:t>
            </a:r>
          </a:p>
          <a:p>
            <a:pPr lvl="1"/>
            <a:r>
              <a:rPr lang="en-US" dirty="0"/>
              <a:t>FG is replenished at the rate of consumption </a:t>
            </a:r>
          </a:p>
          <a:p>
            <a:r>
              <a:rPr lang="en-US" dirty="0"/>
              <a:t>Build to Shipping</a:t>
            </a:r>
          </a:p>
          <a:p>
            <a:pPr lvl="1"/>
            <a:r>
              <a:rPr lang="en-US" dirty="0"/>
              <a:t>Products are configured for specific customers or orders prior to shipping</a:t>
            </a:r>
          </a:p>
          <a:p>
            <a:pPr lvl="1"/>
            <a:r>
              <a:rPr lang="en-US" dirty="0"/>
              <a:t>Large product variation (large # of SKUs) vs. number of products shipped</a:t>
            </a:r>
          </a:p>
          <a:p>
            <a:pPr lvl="1"/>
            <a:r>
              <a:rPr lang="en-US" dirty="0"/>
              <a:t>Build schedule based on firm customer orders</a:t>
            </a:r>
          </a:p>
          <a:p>
            <a:pPr lvl="1"/>
            <a:r>
              <a:rPr lang="en-US" dirty="0"/>
              <a:t>Raw materials may still be purchased to forecast based on planned usage</a:t>
            </a:r>
          </a:p>
          <a:p>
            <a:r>
              <a:rPr lang="en-US" dirty="0"/>
              <a:t>For MME, we will build to a FG Supermarket</a:t>
            </a:r>
          </a:p>
        </p:txBody>
      </p:sp>
      <p:grpSp>
        <p:nvGrpSpPr>
          <p:cNvPr id="4" name="Group 3">
            <a:extLst>
              <a:ext uri="{FF2B5EF4-FFF2-40B4-BE49-F238E27FC236}">
                <a16:creationId xmlns:a16="http://schemas.microsoft.com/office/drawing/2014/main" id="{8081BCF2-866F-A7F1-5F98-380C362EAF1C}"/>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FDF0F208-45CB-8FBD-1940-865892B899C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9EA4D815-3854-D2D7-89E9-5AE4F9BD800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D62E8D2A-4595-7E85-65FF-AFF81215689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9B6C020E-70E0-F3A7-4630-D7986F63ADC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8C31798D-6125-00F6-B427-22F20BF2C0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2A08CD70-09DF-E733-A4EF-94E01C110F7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137093355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91</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306780754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a:xfrm>
            <a:off x="837982" y="574658"/>
            <a:ext cx="10512862" cy="1106227"/>
          </a:xfrm>
        </p:spPr>
        <p:txBody>
          <a:bodyPr>
            <a:normAutofit/>
          </a:bodyPr>
          <a:lstStyle/>
          <a:p>
            <a:r>
              <a:rPr lang="en-US" altLang="en-US" dirty="0">
                <a:latin typeface="Roboto" panose="02000000000000000000"/>
              </a:rPr>
              <a:t>Producing to Takt Time</a:t>
            </a:r>
            <a:endParaRPr lang="en-US" dirty="0">
              <a:latin typeface="Roboto" panose="02000000000000000000"/>
            </a:endParaRPr>
          </a:p>
        </p:txBody>
      </p:sp>
      <p:grpSp>
        <p:nvGrpSpPr>
          <p:cNvPr id="116" name="Group 115">
            <a:extLst>
              <a:ext uri="{FF2B5EF4-FFF2-40B4-BE49-F238E27FC236}">
                <a16:creationId xmlns:a16="http://schemas.microsoft.com/office/drawing/2014/main" id="{2228140A-5638-65C6-351C-A2DADE9006B3}"/>
              </a:ext>
            </a:extLst>
          </p:cNvPr>
          <p:cNvGrpSpPr/>
          <p:nvPr/>
        </p:nvGrpSpPr>
        <p:grpSpPr>
          <a:xfrm>
            <a:off x="771598" y="1765450"/>
            <a:ext cx="10600512" cy="4452618"/>
            <a:chOff x="872018" y="1830724"/>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830724"/>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27141" y="1493839"/>
                <a:ext cx="2619872"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893171" cy="432268"/>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929687"/>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3170710"/>
              <a:ext cx="924604" cy="24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428572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444875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426654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428572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444875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426654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430490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46793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428572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971916"/>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3673572"/>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767510"/>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95683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95683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3723120"/>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4371776"/>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4371776"/>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4371776"/>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4371776"/>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4474117"/>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4450812"/>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4467142"/>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53607" y="4742376"/>
              <a:ext cx="9685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01392" y="4742376"/>
              <a:ext cx="9204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98783" y="4718555"/>
              <a:ext cx="9204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02074" y="4718555"/>
              <a:ext cx="11689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49744" y="4575538"/>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72408" y="4551717"/>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86597" y="4535676"/>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94483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94483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94483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5112864"/>
              <a:ext cx="885874" cy="553998"/>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2358931"/>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5724981"/>
              <a:ext cx="8023015" cy="575134"/>
              <a:chOff x="2231195" y="9983472"/>
              <a:chExt cx="16050210" cy="1150569"/>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6" y="10553609"/>
                <a:ext cx="1240590"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800" y="10553609"/>
                <a:ext cx="1240590"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60" y="10553609"/>
                <a:ext cx="1240590"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40" y="10003959"/>
                <a:ext cx="1509921"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8" y="10008372"/>
                <a:ext cx="1509921"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2"/>
                <a:ext cx="1509921"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2"/>
                <a:ext cx="1509921" cy="580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6" y="5645546"/>
              <a:ext cx="1694965" cy="583178"/>
              <a:chOff x="3493" y="1604"/>
              <a:chExt cx="994" cy="342"/>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94"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2472453"/>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56040" y="2027239"/>
                <a:ext cx="1001713" cy="709613"/>
                <a:chOff x="2429" y="1277"/>
                <a:chExt cx="631"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29" y="1283"/>
                  <a:ext cx="631"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4" name="Rectangle 144">
              <a:extLst>
                <a:ext uri="{FF2B5EF4-FFF2-40B4-BE49-F238E27FC236}">
                  <a16:creationId xmlns:a16="http://schemas.microsoft.com/office/drawing/2014/main" id="{4090780C-9AAE-7FC7-32B0-16C2ACAD5224}"/>
                </a:ext>
              </a:extLst>
            </p:cNvPr>
            <p:cNvSpPr>
              <a:spLocks noChangeArrowheads="1"/>
            </p:cNvSpPr>
            <p:nvPr/>
          </p:nvSpPr>
          <p:spPr bwMode="auto">
            <a:xfrm>
              <a:off x="2762086" y="2201131"/>
              <a:ext cx="4515235" cy="1151084"/>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a:rPr>
                <a:t>Review current output data to see if the process is producing at takt time</a:t>
              </a:r>
            </a:p>
            <a:p>
              <a:pPr algn="l">
                <a:lnSpc>
                  <a:spcPct val="100000"/>
                </a:lnSpc>
                <a:spcBef>
                  <a:spcPct val="30000"/>
                </a:spcBef>
                <a:buFontTx/>
                <a:buChar char="•"/>
              </a:pPr>
              <a:r>
                <a:rPr lang="en-US" altLang="en-US" sz="1600" dirty="0">
                  <a:solidFill>
                    <a:schemeClr val="tx1"/>
                  </a:solidFill>
                  <a:latin typeface="Roboto" panose="02000000000000000000"/>
                </a:rPr>
                <a:t>Identify each process not achieving takt time</a:t>
              </a:r>
            </a:p>
          </p:txBody>
        </p:sp>
        <p:grpSp>
          <p:nvGrpSpPr>
            <p:cNvPr id="111" name="Group 110">
              <a:extLst>
                <a:ext uri="{FF2B5EF4-FFF2-40B4-BE49-F238E27FC236}">
                  <a16:creationId xmlns:a16="http://schemas.microsoft.com/office/drawing/2014/main" id="{E7D8AB4D-403E-6867-CB5F-4C7F341113C5}"/>
                </a:ext>
              </a:extLst>
            </p:cNvPr>
            <p:cNvGrpSpPr/>
            <p:nvPr/>
          </p:nvGrpSpPr>
          <p:grpSpPr>
            <a:xfrm>
              <a:off x="7090917" y="2971251"/>
              <a:ext cx="2012608" cy="2861843"/>
              <a:chOff x="14185530" y="4474574"/>
              <a:chExt cx="4026264" cy="5725177"/>
            </a:xfrm>
          </p:grpSpPr>
          <p:sp>
            <p:nvSpPr>
              <p:cNvPr id="105" name="Oval 104">
                <a:extLst>
                  <a:ext uri="{FF2B5EF4-FFF2-40B4-BE49-F238E27FC236}">
                    <a16:creationId xmlns:a16="http://schemas.microsoft.com/office/drawing/2014/main" id="{FD67742F-194A-CA85-7879-671A044562EC}"/>
                  </a:ext>
                </a:extLst>
              </p:cNvPr>
              <p:cNvSpPr/>
              <p:nvPr/>
            </p:nvSpPr>
            <p:spPr>
              <a:xfrm>
                <a:off x="14185530" y="4474574"/>
                <a:ext cx="4026264" cy="1010071"/>
              </a:xfrm>
              <a:prstGeom prst="ellipse">
                <a:avLst/>
              </a:prstGeom>
              <a:noFill/>
              <a:ln w="57150" cap="flat">
                <a:solidFill>
                  <a:schemeClr val="accent6"/>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defTabSz="292042"/>
                <a:endParaRPr lang="en-US" sz="2000">
                  <a:solidFill>
                    <a:srgbClr val="FFFFFF"/>
                  </a:solidFill>
                  <a:effectLst>
                    <a:outerShdw blurRad="38100" dist="12700" dir="5400000" rotWithShape="0">
                      <a:srgbClr val="000000">
                        <a:alpha val="50000"/>
                      </a:srgbClr>
                    </a:outerShdw>
                  </a:effectLst>
                  <a:latin typeface="Roboto" panose="02000000000000000000"/>
                </a:endParaRPr>
              </a:p>
            </p:txBody>
          </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15008372" y="7779808"/>
                <a:ext cx="2884866" cy="2419943"/>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chemeClr val="tx1"/>
                    </a:solidFill>
                    <a:latin typeface="Roboto" panose="02000000000000000000"/>
                  </a:rPr>
                  <a:t>Improve</a:t>
                </a:r>
              </a:p>
              <a:p>
                <a:pPr>
                  <a:lnSpc>
                    <a:spcPct val="100000"/>
                  </a:lnSpc>
                  <a:spcBef>
                    <a:spcPct val="0"/>
                  </a:spcBef>
                </a:pPr>
                <a:r>
                  <a:rPr lang="en-US" altLang="en-US" sz="1600" b="0" dirty="0">
                    <a:solidFill>
                      <a:schemeClr val="tx1"/>
                    </a:solidFill>
                    <a:latin typeface="Roboto" panose="02000000000000000000"/>
                  </a:rPr>
                  <a:t>DOI</a:t>
                </a:r>
              </a:p>
            </p:txBody>
          </p:sp>
          <p:cxnSp>
            <p:nvCxnSpPr>
              <p:cNvPr id="109" name="Straight Arrow Connector 108">
                <a:extLst>
                  <a:ext uri="{FF2B5EF4-FFF2-40B4-BE49-F238E27FC236}">
                    <a16:creationId xmlns:a16="http://schemas.microsoft.com/office/drawing/2014/main" id="{562C7DF7-038D-7B3B-D824-4B0B0ACE87EC}"/>
                  </a:ext>
                </a:extLst>
              </p:cNvPr>
              <p:cNvCxnSpPr>
                <a:cxnSpLocks/>
                <a:stCxn id="105" idx="4"/>
              </p:cNvCxnSpPr>
              <p:nvPr/>
            </p:nvCxnSpPr>
            <p:spPr>
              <a:xfrm flipH="1">
                <a:off x="16191320" y="5484645"/>
                <a:ext cx="7342" cy="2579724"/>
              </a:xfrm>
              <a:prstGeom prst="straightConnector1">
                <a:avLst/>
              </a:prstGeom>
              <a:noFill/>
              <a:ln w="57150" cap="flat">
                <a:solidFill>
                  <a:schemeClr val="accent6"/>
                </a:solidFill>
                <a:prstDash val="solid"/>
                <a:miter lim="400000"/>
                <a:tailEnd type="triangle"/>
              </a:ln>
              <a:effectLst/>
              <a:sp3d/>
            </p:spPr>
            <p:style>
              <a:lnRef idx="0">
                <a:scrgbClr r="0" g="0" b="0"/>
              </a:lnRef>
              <a:fillRef idx="0">
                <a:scrgbClr r="0" g="0" b="0"/>
              </a:fillRef>
              <a:effectRef idx="0">
                <a:scrgbClr r="0" g="0" b="0"/>
              </a:effectRef>
              <a:fontRef idx="none"/>
            </p:style>
          </p:cxnSp>
        </p:grpSp>
      </p:grpSp>
      <p:grpSp>
        <p:nvGrpSpPr>
          <p:cNvPr id="106" name="Group 105">
            <a:extLst>
              <a:ext uri="{FF2B5EF4-FFF2-40B4-BE49-F238E27FC236}">
                <a16:creationId xmlns:a16="http://schemas.microsoft.com/office/drawing/2014/main" id="{5617670C-643E-680F-F1CB-0351C1F33509}"/>
              </a:ext>
            </a:extLst>
          </p:cNvPr>
          <p:cNvGrpSpPr/>
          <p:nvPr/>
        </p:nvGrpSpPr>
        <p:grpSpPr>
          <a:xfrm>
            <a:off x="940004" y="321115"/>
            <a:ext cx="6217883" cy="311851"/>
            <a:chOff x="940249" y="302538"/>
            <a:chExt cx="6219503" cy="311932"/>
          </a:xfrm>
        </p:grpSpPr>
        <p:sp>
          <p:nvSpPr>
            <p:cNvPr id="108" name="TextBox 107">
              <a:extLst>
                <a:ext uri="{FF2B5EF4-FFF2-40B4-BE49-F238E27FC236}">
                  <a16:creationId xmlns:a16="http://schemas.microsoft.com/office/drawing/2014/main" id="{F35CF474-488F-67CD-58F4-CAF48EFA265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0" name="AutoShape 9">
              <a:extLst>
                <a:ext uri="{FF2B5EF4-FFF2-40B4-BE49-F238E27FC236}">
                  <a16:creationId xmlns:a16="http://schemas.microsoft.com/office/drawing/2014/main" id="{8F84635A-F5E8-BB67-5DC6-9F5F06D7419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2" name="AutoShape 9">
              <a:extLst>
                <a:ext uri="{FF2B5EF4-FFF2-40B4-BE49-F238E27FC236}">
                  <a16:creationId xmlns:a16="http://schemas.microsoft.com/office/drawing/2014/main" id="{E516F30A-B6C7-6F8E-AEED-E9A253DE6D07}"/>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3" name="AutoShape 9">
              <a:extLst>
                <a:ext uri="{FF2B5EF4-FFF2-40B4-BE49-F238E27FC236}">
                  <a16:creationId xmlns:a16="http://schemas.microsoft.com/office/drawing/2014/main" id="{76A0796A-E75D-F5A8-2A89-4CD0CA293F2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4" name="AutoShape 9">
              <a:extLst>
                <a:ext uri="{FF2B5EF4-FFF2-40B4-BE49-F238E27FC236}">
                  <a16:creationId xmlns:a16="http://schemas.microsoft.com/office/drawing/2014/main" id="{A92A631E-A345-43C4-0D8C-A251C3AD659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5" name="AutoShape 11">
              <a:extLst>
                <a:ext uri="{FF2B5EF4-FFF2-40B4-BE49-F238E27FC236}">
                  <a16:creationId xmlns:a16="http://schemas.microsoft.com/office/drawing/2014/main" id="{78E37EFC-8B69-1546-972F-9B21CDB1EBBE}"/>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17" name="Slide Number Placeholder 2">
            <a:extLst>
              <a:ext uri="{FF2B5EF4-FFF2-40B4-BE49-F238E27FC236}">
                <a16:creationId xmlns:a16="http://schemas.microsoft.com/office/drawing/2014/main" id="{36F174B1-E7A4-289D-8EB1-1AB4BD0E16D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92</a:t>
            </a:fld>
            <a:endParaRPr lang="en-US" dirty="0"/>
          </a:p>
        </p:txBody>
      </p:sp>
    </p:spTree>
    <p:extLst>
      <p:ext uri="{BB962C8B-B14F-4D97-AF65-F5344CB8AC3E}">
        <p14:creationId xmlns:p14="http://schemas.microsoft.com/office/powerpoint/2010/main" val="163214548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latin typeface="Roboto" panose="02000000000000000000"/>
              </a:rPr>
              <a:t>Producing to Takt Time</a:t>
            </a:r>
            <a:endParaRPr lang="en-US" dirty="0">
              <a:latin typeface="Roboto" panose="02000000000000000000"/>
            </a:endParaRPr>
          </a:p>
        </p:txBody>
      </p:sp>
      <p:grpSp>
        <p:nvGrpSpPr>
          <p:cNvPr id="105" name="Group 104">
            <a:extLst>
              <a:ext uri="{FF2B5EF4-FFF2-40B4-BE49-F238E27FC236}">
                <a16:creationId xmlns:a16="http://schemas.microsoft.com/office/drawing/2014/main" id="{67C660B6-CEBE-3324-872F-8E886F4AC390}"/>
              </a:ext>
            </a:extLst>
          </p:cNvPr>
          <p:cNvGrpSpPr/>
          <p:nvPr/>
        </p:nvGrpSpPr>
        <p:grpSpPr>
          <a:xfrm>
            <a:off x="854815" y="1690690"/>
            <a:ext cx="10692143" cy="4454930"/>
            <a:chOff x="872018" y="1097071"/>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097071"/>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81"/>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14363"/>
                <a:chOff x="474" y="1322"/>
                <a:chExt cx="508" cy="387"/>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76945" y="1493839"/>
                <a:ext cx="2520265" cy="35203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81050" cy="432043"/>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196033"/>
              <a:ext cx="1778520" cy="583178"/>
              <a:chOff x="3444" y="1604"/>
              <a:chExt cx="1043" cy="342"/>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437057"/>
              <a:ext cx="852576" cy="241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289990"/>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89990"/>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89990"/>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23826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293991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03385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2989467"/>
              <a:ext cx="612761" cy="20943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3638123"/>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3638123"/>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3638123"/>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3638123"/>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72019" y="4008723"/>
              <a:ext cx="931712"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18889" y="4008723"/>
              <a:ext cx="885450"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16281" y="3984902"/>
              <a:ext cx="885450"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24296" y="3984902"/>
              <a:ext cx="1124468"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56698" y="3841885"/>
              <a:ext cx="351898"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79362" y="3818064"/>
              <a:ext cx="351898"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3551" y="3802023"/>
              <a:ext cx="351898" cy="25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579979"/>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162527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7"/>
                <a:chOff x="435" y="1322"/>
                <a:chExt cx="583" cy="39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4991332"/>
              <a:ext cx="8023015" cy="574978"/>
              <a:chOff x="2231195" y="9983482"/>
              <a:chExt cx="16050210" cy="1150257"/>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4" y="10553608"/>
                <a:ext cx="1455711"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8"/>
                <a:ext cx="1455711"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8" y="10553608"/>
                <a:ext cx="1455711"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8" y="10003969"/>
                <a:ext cx="1771744"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84"/>
                <a:ext cx="1771744"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3" y="10008384"/>
                <a:ext cx="1771744"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82"/>
                <a:ext cx="1771744" cy="5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7" y="4911893"/>
              <a:ext cx="1710312" cy="583178"/>
              <a:chOff x="3493" y="1604"/>
              <a:chExt cx="1003" cy="342"/>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1003"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1738800"/>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1" y="1283"/>
                  <a:ext cx="607"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02231" y="3889784"/>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FF0000"/>
                  </a:solidFill>
                  <a:latin typeface="Roboto" panose="02000000000000000000"/>
                </a:rPr>
                <a:t>Improve</a:t>
              </a:r>
            </a:p>
            <a:p>
              <a:pPr>
                <a:lnSpc>
                  <a:spcPct val="100000"/>
                </a:lnSpc>
                <a:spcBef>
                  <a:spcPct val="0"/>
                </a:spcBef>
              </a:pPr>
              <a:r>
                <a:rPr lang="en-US" altLang="en-US" sz="1200" b="0" dirty="0">
                  <a:solidFill>
                    <a:srgbClr val="FF0000"/>
                  </a:solidFill>
                  <a:latin typeface="Roboto" panose="02000000000000000000"/>
                </a:rPr>
                <a:t>DOI</a:t>
              </a:r>
            </a:p>
          </p:txBody>
        </p:sp>
      </p:grpSp>
      <p:grpSp>
        <p:nvGrpSpPr>
          <p:cNvPr id="106" name="Group 105">
            <a:extLst>
              <a:ext uri="{FF2B5EF4-FFF2-40B4-BE49-F238E27FC236}">
                <a16:creationId xmlns:a16="http://schemas.microsoft.com/office/drawing/2014/main" id="{95AA1CBD-6286-87FB-16F5-E708DE828DB2}"/>
              </a:ext>
            </a:extLst>
          </p:cNvPr>
          <p:cNvGrpSpPr/>
          <p:nvPr/>
        </p:nvGrpSpPr>
        <p:grpSpPr>
          <a:xfrm>
            <a:off x="940004" y="321115"/>
            <a:ext cx="6217883" cy="311851"/>
            <a:chOff x="940249" y="302538"/>
            <a:chExt cx="6219503" cy="311932"/>
          </a:xfrm>
        </p:grpSpPr>
        <p:sp>
          <p:nvSpPr>
            <p:cNvPr id="108" name="TextBox 107">
              <a:extLst>
                <a:ext uri="{FF2B5EF4-FFF2-40B4-BE49-F238E27FC236}">
                  <a16:creationId xmlns:a16="http://schemas.microsoft.com/office/drawing/2014/main" id="{F1C397C3-427B-0CA4-04ED-CE0B33F2211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09" name="AutoShape 9">
              <a:extLst>
                <a:ext uri="{FF2B5EF4-FFF2-40B4-BE49-F238E27FC236}">
                  <a16:creationId xmlns:a16="http://schemas.microsoft.com/office/drawing/2014/main" id="{5C8C078D-524E-B435-2259-0FB070DC642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0" name="AutoShape 9">
              <a:extLst>
                <a:ext uri="{FF2B5EF4-FFF2-40B4-BE49-F238E27FC236}">
                  <a16:creationId xmlns:a16="http://schemas.microsoft.com/office/drawing/2014/main" id="{DFA08BF7-FAB5-DE8F-D4E9-3C0C884EF68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1" name="AutoShape 9">
              <a:extLst>
                <a:ext uri="{FF2B5EF4-FFF2-40B4-BE49-F238E27FC236}">
                  <a16:creationId xmlns:a16="http://schemas.microsoft.com/office/drawing/2014/main" id="{17833461-046B-C025-8982-1FBE09E1427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2" name="AutoShape 9">
              <a:extLst>
                <a:ext uri="{FF2B5EF4-FFF2-40B4-BE49-F238E27FC236}">
                  <a16:creationId xmlns:a16="http://schemas.microsoft.com/office/drawing/2014/main" id="{41A59A6C-ED7E-9D43-8860-386D8B478FFC}"/>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3" name="AutoShape 11">
              <a:extLst>
                <a:ext uri="{FF2B5EF4-FFF2-40B4-BE49-F238E27FC236}">
                  <a16:creationId xmlns:a16="http://schemas.microsoft.com/office/drawing/2014/main" id="{9EF6A88F-874B-B021-E621-010FB6B8323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14" name="Slide Number Placeholder 2">
            <a:extLst>
              <a:ext uri="{FF2B5EF4-FFF2-40B4-BE49-F238E27FC236}">
                <a16:creationId xmlns:a16="http://schemas.microsoft.com/office/drawing/2014/main" id="{3D6E9F0A-EB8E-05B1-A877-64E2CB11040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93</a:t>
            </a:fld>
            <a:endParaRPr lang="en-US" dirty="0"/>
          </a:p>
        </p:txBody>
      </p:sp>
    </p:spTree>
    <p:extLst>
      <p:ext uri="{BB962C8B-B14F-4D97-AF65-F5344CB8AC3E}">
        <p14:creationId xmlns:p14="http://schemas.microsoft.com/office/powerpoint/2010/main" val="395934788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94</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250802077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sz="4000" dirty="0">
                <a:latin typeface="Roboto" panose="02000000000000000000"/>
              </a:rPr>
              <a:t>Coupling Processes for Continuous Flow</a:t>
            </a:r>
            <a:endParaRPr lang="en-US" sz="4000" dirty="0">
              <a:latin typeface="Roboto" panose="02000000000000000000"/>
            </a:endParaRPr>
          </a:p>
        </p:txBody>
      </p:sp>
      <p:grpSp>
        <p:nvGrpSpPr>
          <p:cNvPr id="105" name="Group 104">
            <a:extLst>
              <a:ext uri="{FF2B5EF4-FFF2-40B4-BE49-F238E27FC236}">
                <a16:creationId xmlns:a16="http://schemas.microsoft.com/office/drawing/2014/main" id="{6EA68E7F-192F-9F8B-AA55-CEC011F3FB94}"/>
              </a:ext>
            </a:extLst>
          </p:cNvPr>
          <p:cNvGrpSpPr/>
          <p:nvPr/>
        </p:nvGrpSpPr>
        <p:grpSpPr>
          <a:xfrm>
            <a:off x="837981" y="1820085"/>
            <a:ext cx="10512862" cy="4453453"/>
            <a:chOff x="872018" y="1097071"/>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097071"/>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81"/>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30"/>
                <a:ext cx="806450" cy="615951"/>
                <a:chOff x="474" y="1322"/>
                <a:chExt cx="508" cy="388"/>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8"/>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55454" y="1493839"/>
                <a:ext cx="2563244" cy="352152"/>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0" y="2139339"/>
                <a:ext cx="854903" cy="43218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196033"/>
              <a:ext cx="1778520" cy="583178"/>
              <a:chOff x="3444" y="1604"/>
              <a:chExt cx="1043" cy="342"/>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437057"/>
              <a:ext cx="811512" cy="3867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290086"/>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90086"/>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90086"/>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23826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293991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03385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2989467"/>
              <a:ext cx="612761" cy="20950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3638123"/>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3638123"/>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3638123"/>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3638123"/>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64074" y="4008724"/>
              <a:ext cx="947601"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11339" y="4008724"/>
              <a:ext cx="900550"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08731" y="3984902"/>
              <a:ext cx="900550"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14708" y="3984902"/>
              <a:ext cx="1143645"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53698" y="3841885"/>
              <a:ext cx="357899"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76362" y="3818064"/>
              <a:ext cx="357899"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0550" y="3802024"/>
              <a:ext cx="357899" cy="257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580172"/>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162527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7"/>
                <a:chOff x="435" y="1322"/>
                <a:chExt cx="583" cy="39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4991326"/>
              <a:ext cx="8023015" cy="575077"/>
              <a:chOff x="2231195" y="9983478"/>
              <a:chExt cx="16050210" cy="1150456"/>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6" y="10553610"/>
                <a:ext cx="135896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800" y="10553610"/>
                <a:ext cx="135896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10"/>
                <a:ext cx="135896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8" y="10003961"/>
                <a:ext cx="148198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5" y="10008380"/>
                <a:ext cx="165399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2" y="10008380"/>
                <a:ext cx="165399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7" y="9983478"/>
                <a:ext cx="1653990" cy="58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5" y="4911893"/>
              <a:ext cx="1810918" cy="583178"/>
              <a:chOff x="3493" y="1604"/>
              <a:chExt cx="1062" cy="342"/>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1062"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1738800"/>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67151" y="2027239"/>
                <a:ext cx="981075" cy="709613"/>
                <a:chOff x="2436" y="1277"/>
                <a:chExt cx="618"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36" y="1283"/>
                  <a:ext cx="617"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4" name="Rectangle 144">
              <a:extLst>
                <a:ext uri="{FF2B5EF4-FFF2-40B4-BE49-F238E27FC236}">
                  <a16:creationId xmlns:a16="http://schemas.microsoft.com/office/drawing/2014/main" id="{4090780C-9AAE-7FC7-32B0-16C2ACAD5224}"/>
                </a:ext>
              </a:extLst>
            </p:cNvPr>
            <p:cNvSpPr>
              <a:spLocks noChangeArrowheads="1"/>
            </p:cNvSpPr>
            <p:nvPr/>
          </p:nvSpPr>
          <p:spPr bwMode="auto">
            <a:xfrm>
              <a:off x="2449169" y="1666259"/>
              <a:ext cx="7120303" cy="1282824"/>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a:rPr>
                <a:t>Assess the processes for opportunities to implement continuous flow</a:t>
              </a:r>
            </a:p>
            <a:p>
              <a:pPr algn="l">
                <a:lnSpc>
                  <a:spcPct val="100000"/>
                </a:lnSpc>
                <a:spcBef>
                  <a:spcPct val="30000"/>
                </a:spcBef>
                <a:buFontTx/>
                <a:buChar char="•"/>
              </a:pPr>
              <a:r>
                <a:rPr lang="en-US" altLang="en-US" sz="1600" dirty="0">
                  <a:solidFill>
                    <a:schemeClr val="tx1"/>
                  </a:solidFill>
                  <a:latin typeface="Roboto" panose="02000000000000000000"/>
                </a:rPr>
                <a:t>Stamp and Brake Form have similar processing times and each has a single operator</a:t>
              </a:r>
            </a:p>
            <a:p>
              <a:pPr algn="l">
                <a:lnSpc>
                  <a:spcPct val="100000"/>
                </a:lnSpc>
                <a:spcBef>
                  <a:spcPct val="30000"/>
                </a:spcBef>
                <a:buFontTx/>
                <a:buChar char="•"/>
              </a:pPr>
              <a:r>
                <a:rPr lang="en-US" altLang="en-US" sz="1600" dirty="0">
                  <a:solidFill>
                    <a:schemeClr val="tx1"/>
                  </a:solidFill>
                  <a:latin typeface="Roboto" panose="02000000000000000000"/>
                </a:rPr>
                <a:t>Combining them eliminates the inventory between them</a:t>
              </a:r>
            </a:p>
          </p:txBody>
        </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02231" y="3889784"/>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FF0000"/>
                  </a:solidFill>
                  <a:latin typeface="Roboto" panose="02000000000000000000"/>
                </a:rPr>
                <a:t>Improve</a:t>
              </a:r>
            </a:p>
            <a:p>
              <a:pPr>
                <a:lnSpc>
                  <a:spcPct val="100000"/>
                </a:lnSpc>
                <a:spcBef>
                  <a:spcPct val="0"/>
                </a:spcBef>
              </a:pPr>
              <a:r>
                <a:rPr lang="en-US" altLang="en-US" sz="1600" b="0" dirty="0">
                  <a:solidFill>
                    <a:srgbClr val="FF0000"/>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87809" y="3493944"/>
              <a:ext cx="3596178" cy="1603290"/>
            </a:xfrm>
            <a:prstGeom prst="rect">
              <a:avLst/>
            </a:prstGeom>
            <a:noFill/>
            <a:ln w="57150">
              <a:solidFill>
                <a:schemeClr val="accent6"/>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47061" y="3609741"/>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05706" y="4369414"/>
              <a:ext cx="1511036" cy="1025625"/>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003399"/>
                  </a:solidFill>
                  <a:latin typeface="Roboto" panose="02000000000000000000"/>
                </a:rPr>
                <a:t>1 </a:t>
              </a:r>
              <a:r>
                <a:rPr lang="en-US" altLang="en-US" sz="1600" b="0" dirty="0">
                  <a:solidFill>
                    <a:schemeClr val="tx1"/>
                  </a:solidFill>
                  <a:latin typeface="Roboto" panose="02000000000000000000"/>
                </a:rPr>
                <a:t>pc Flow</a:t>
              </a:r>
              <a:r>
                <a:rPr lang="en-US" altLang="en-US" sz="1600" b="0" dirty="0">
                  <a:solidFill>
                    <a:srgbClr val="003399"/>
                  </a:solidFill>
                  <a:latin typeface="Roboto" panose="02000000000000000000"/>
                </a:rPr>
                <a:t> </a:t>
              </a:r>
            </a:p>
          </p:txBody>
        </p:sp>
      </p:grpSp>
      <p:grpSp>
        <p:nvGrpSpPr>
          <p:cNvPr id="109" name="Group 108">
            <a:extLst>
              <a:ext uri="{FF2B5EF4-FFF2-40B4-BE49-F238E27FC236}">
                <a16:creationId xmlns:a16="http://schemas.microsoft.com/office/drawing/2014/main" id="{A515190F-8AB4-9B87-298F-A381087F3B7C}"/>
              </a:ext>
            </a:extLst>
          </p:cNvPr>
          <p:cNvGrpSpPr/>
          <p:nvPr/>
        </p:nvGrpSpPr>
        <p:grpSpPr>
          <a:xfrm>
            <a:off x="940004" y="320286"/>
            <a:ext cx="6217883" cy="311851"/>
            <a:chOff x="940249" y="302538"/>
            <a:chExt cx="6219503" cy="311932"/>
          </a:xfrm>
        </p:grpSpPr>
        <p:sp>
          <p:nvSpPr>
            <p:cNvPr id="111" name="TextBox 110">
              <a:extLst>
                <a:ext uri="{FF2B5EF4-FFF2-40B4-BE49-F238E27FC236}">
                  <a16:creationId xmlns:a16="http://schemas.microsoft.com/office/drawing/2014/main" id="{07EC81B9-EF0B-3B3D-4B16-ECB13537F8F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4" name="AutoShape 9">
              <a:extLst>
                <a:ext uri="{FF2B5EF4-FFF2-40B4-BE49-F238E27FC236}">
                  <a16:creationId xmlns:a16="http://schemas.microsoft.com/office/drawing/2014/main" id="{787065C4-41C9-0709-C0AE-8CB82234F88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5" name="AutoShape 9">
              <a:extLst>
                <a:ext uri="{FF2B5EF4-FFF2-40B4-BE49-F238E27FC236}">
                  <a16:creationId xmlns:a16="http://schemas.microsoft.com/office/drawing/2014/main" id="{BD9DDBBD-1319-615B-87FA-3D41225F406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6" name="AutoShape 9">
              <a:extLst>
                <a:ext uri="{FF2B5EF4-FFF2-40B4-BE49-F238E27FC236}">
                  <a16:creationId xmlns:a16="http://schemas.microsoft.com/office/drawing/2014/main" id="{4DFEADAD-AFF0-1D85-538E-5C965977202C}"/>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7" name="AutoShape 9">
              <a:extLst>
                <a:ext uri="{FF2B5EF4-FFF2-40B4-BE49-F238E27FC236}">
                  <a16:creationId xmlns:a16="http://schemas.microsoft.com/office/drawing/2014/main" id="{3F60BE4C-F323-16F7-B695-019BA6801E13}"/>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8" name="AutoShape 11">
              <a:extLst>
                <a:ext uri="{FF2B5EF4-FFF2-40B4-BE49-F238E27FC236}">
                  <a16:creationId xmlns:a16="http://schemas.microsoft.com/office/drawing/2014/main" id="{32271718-E033-AD7F-266D-245A050D629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19" name="Slide Number Placeholder 2">
            <a:extLst>
              <a:ext uri="{FF2B5EF4-FFF2-40B4-BE49-F238E27FC236}">
                <a16:creationId xmlns:a16="http://schemas.microsoft.com/office/drawing/2014/main" id="{D90857BA-FFFC-B11E-38AE-0D079162AC8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95</a:t>
            </a:fld>
            <a:endParaRPr lang="en-US" dirty="0">
              <a:latin typeface="Roboto" panose="02000000000000000000"/>
            </a:endParaRPr>
          </a:p>
        </p:txBody>
      </p:sp>
    </p:spTree>
    <p:extLst>
      <p:ext uri="{BB962C8B-B14F-4D97-AF65-F5344CB8AC3E}">
        <p14:creationId xmlns:p14="http://schemas.microsoft.com/office/powerpoint/2010/main" val="328770264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Coupling Processes for Continuous Flow</a:t>
            </a:r>
            <a:endParaRPr lang="en-US" dirty="0"/>
          </a:p>
        </p:txBody>
      </p:sp>
      <p:grpSp>
        <p:nvGrpSpPr>
          <p:cNvPr id="104" name="Group 103">
            <a:extLst>
              <a:ext uri="{FF2B5EF4-FFF2-40B4-BE49-F238E27FC236}">
                <a16:creationId xmlns:a16="http://schemas.microsoft.com/office/drawing/2014/main" id="{AC2C0143-E591-B672-A407-7F6ED6C9E931}"/>
              </a:ext>
            </a:extLst>
          </p:cNvPr>
          <p:cNvGrpSpPr/>
          <p:nvPr/>
        </p:nvGrpSpPr>
        <p:grpSpPr>
          <a:xfrm>
            <a:off x="990319" y="1786270"/>
            <a:ext cx="10360525" cy="4484653"/>
            <a:chOff x="872018" y="1097071"/>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097071"/>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1268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196034"/>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437057"/>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23826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293991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03385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2989467"/>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3638123"/>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3638123"/>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3638123"/>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3638123"/>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008723"/>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008723"/>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3984902"/>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3984902"/>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384188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3818064"/>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3802023"/>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400110"/>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162527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4991329"/>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6" y="4911894"/>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1738800"/>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02231" y="3889784"/>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Comic Sans MS" panose="030F0702030302020204" pitchFamily="66" charset="0"/>
                </a:rPr>
                <a:t>Improve</a:t>
              </a:r>
            </a:p>
            <a:p>
              <a:pPr>
                <a:lnSpc>
                  <a:spcPct val="100000"/>
                </a:lnSpc>
                <a:spcBef>
                  <a:spcPct val="0"/>
                </a:spcBef>
              </a:pPr>
              <a:r>
                <a:rPr lang="en-US" altLang="en-US" sz="1600" b="0" dirty="0">
                  <a:solidFill>
                    <a:srgbClr val="EE3228"/>
                  </a:solidFill>
                  <a:latin typeface="Comic Sans MS" panose="030F0702030302020204" pitchFamily="66" charset="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87809" y="3493944"/>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47061" y="3609741"/>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05706" y="4369414"/>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Comic Sans MS" panose="030F0702030302020204" pitchFamily="66" charset="0"/>
                </a:rPr>
                <a:t>1 pc Flow </a:t>
              </a:r>
            </a:p>
          </p:txBody>
        </p:sp>
      </p:grpSp>
      <p:grpSp>
        <p:nvGrpSpPr>
          <p:cNvPr id="105" name="Group 104">
            <a:extLst>
              <a:ext uri="{FF2B5EF4-FFF2-40B4-BE49-F238E27FC236}">
                <a16:creationId xmlns:a16="http://schemas.microsoft.com/office/drawing/2014/main" id="{159C0CC2-3538-EA35-5227-ECFD550178E9}"/>
              </a:ext>
            </a:extLst>
          </p:cNvPr>
          <p:cNvGrpSpPr/>
          <p:nvPr/>
        </p:nvGrpSpPr>
        <p:grpSpPr>
          <a:xfrm>
            <a:off x="940004" y="320286"/>
            <a:ext cx="6217883" cy="311851"/>
            <a:chOff x="940249" y="302538"/>
            <a:chExt cx="6219503" cy="311932"/>
          </a:xfrm>
        </p:grpSpPr>
        <p:sp>
          <p:nvSpPr>
            <p:cNvPr id="109" name="TextBox 108">
              <a:extLst>
                <a:ext uri="{FF2B5EF4-FFF2-40B4-BE49-F238E27FC236}">
                  <a16:creationId xmlns:a16="http://schemas.microsoft.com/office/drawing/2014/main" id="{B5BCE68C-5B8D-E04D-CD47-543F5C92558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1" name="AutoShape 9">
              <a:extLst>
                <a:ext uri="{FF2B5EF4-FFF2-40B4-BE49-F238E27FC236}">
                  <a16:creationId xmlns:a16="http://schemas.microsoft.com/office/drawing/2014/main" id="{7F44681E-F740-4EE7-3F32-F35F2ED1B65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4" name="AutoShape 9">
              <a:extLst>
                <a:ext uri="{FF2B5EF4-FFF2-40B4-BE49-F238E27FC236}">
                  <a16:creationId xmlns:a16="http://schemas.microsoft.com/office/drawing/2014/main" id="{77378A99-2616-4902-5851-89C070F6E8F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5" name="AutoShape 9">
              <a:extLst>
                <a:ext uri="{FF2B5EF4-FFF2-40B4-BE49-F238E27FC236}">
                  <a16:creationId xmlns:a16="http://schemas.microsoft.com/office/drawing/2014/main" id="{7A68AD2A-4168-60F4-AD6D-28B161263F4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6" name="AutoShape 9">
              <a:extLst>
                <a:ext uri="{FF2B5EF4-FFF2-40B4-BE49-F238E27FC236}">
                  <a16:creationId xmlns:a16="http://schemas.microsoft.com/office/drawing/2014/main" id="{C8C23939-A453-25C9-C16B-A9830A09106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7" name="AutoShape 11">
              <a:extLst>
                <a:ext uri="{FF2B5EF4-FFF2-40B4-BE49-F238E27FC236}">
                  <a16:creationId xmlns:a16="http://schemas.microsoft.com/office/drawing/2014/main" id="{4919E14F-E37E-C049-DF0A-347BE523842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8" name="Slide Number Placeholder 2">
            <a:extLst>
              <a:ext uri="{FF2B5EF4-FFF2-40B4-BE49-F238E27FC236}">
                <a16:creationId xmlns:a16="http://schemas.microsoft.com/office/drawing/2014/main" id="{BB227309-41B6-6754-2135-B4E95493FEC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96</a:t>
            </a:fld>
            <a:endParaRPr lang="en-US" dirty="0"/>
          </a:p>
        </p:txBody>
      </p:sp>
    </p:spTree>
    <p:extLst>
      <p:ext uri="{BB962C8B-B14F-4D97-AF65-F5344CB8AC3E}">
        <p14:creationId xmlns:p14="http://schemas.microsoft.com/office/powerpoint/2010/main" val="384974090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97</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292422033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Link Decoupled Processes Using Pull</a:t>
            </a:r>
            <a:endParaRPr lang="en-US" dirty="0"/>
          </a:p>
        </p:txBody>
      </p:sp>
      <p:grpSp>
        <p:nvGrpSpPr>
          <p:cNvPr id="105" name="Group 104">
            <a:extLst>
              <a:ext uri="{FF2B5EF4-FFF2-40B4-BE49-F238E27FC236}">
                <a16:creationId xmlns:a16="http://schemas.microsoft.com/office/drawing/2014/main" id="{95FA278F-C84D-A39D-4827-AC54077F0C90}"/>
              </a:ext>
            </a:extLst>
          </p:cNvPr>
          <p:cNvGrpSpPr/>
          <p:nvPr/>
        </p:nvGrpSpPr>
        <p:grpSpPr>
          <a:xfrm>
            <a:off x="951596" y="1850065"/>
            <a:ext cx="10531567" cy="4378696"/>
            <a:chOff x="872018" y="1097071"/>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097071"/>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467497" cy="358164"/>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pitchFamily="2" charset="0"/>
                    <a:ea typeface="Roboto" panose="02000000000000000000" pitchFamily="2" charset="0"/>
                  </a:rPr>
                  <a:t>Mike</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s Metal Enclosures (MME)</a:t>
                </a:r>
                <a:endParaRPr lang="en-US" altLang="en-US" sz="1600" dirty="0">
                  <a:solidFill>
                    <a:schemeClr val="tx1"/>
                  </a:solidFill>
                  <a:latin typeface="Roboto" panose="02000000000000000000" pitchFamily="2" charset="0"/>
                  <a:ea typeface="Roboto" panose="02000000000000000000" pitchFamily="2" charset="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1268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196034"/>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437057"/>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23826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293991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03385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2989467"/>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3638123"/>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3638123"/>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3638123"/>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3638123"/>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008723"/>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008723"/>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3984902"/>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3984902"/>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384188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3818064"/>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3802023"/>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400110"/>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162527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4991329"/>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6" y="4911894"/>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1738800"/>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02231" y="3889784"/>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chemeClr val="accent1"/>
                  </a:solidFill>
                  <a:latin typeface="Comic Sans MS" panose="030F0702030302020204" pitchFamily="66" charset="0"/>
                </a:rPr>
                <a:t>Improve</a:t>
              </a:r>
            </a:p>
            <a:p>
              <a:pPr>
                <a:lnSpc>
                  <a:spcPct val="100000"/>
                </a:lnSpc>
                <a:spcBef>
                  <a:spcPct val="0"/>
                </a:spcBef>
              </a:pPr>
              <a:r>
                <a:rPr lang="en-US" altLang="en-US" sz="1600" b="0" dirty="0">
                  <a:solidFill>
                    <a:schemeClr val="accent1"/>
                  </a:solidFill>
                  <a:latin typeface="Comic Sans MS" panose="030F0702030302020204" pitchFamily="66" charset="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87809" y="3493944"/>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47061" y="3609741"/>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05706" y="4369414"/>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chemeClr val="accent1"/>
                  </a:solidFill>
                  <a:latin typeface="Comic Sans MS" panose="030F0702030302020204" pitchFamily="66" charset="0"/>
                </a:rPr>
                <a:t>1 pc Flow </a:t>
              </a:r>
            </a:p>
          </p:txBody>
        </p:sp>
        <p:sp>
          <p:nvSpPr>
            <p:cNvPr id="104" name="Rectangle 144">
              <a:extLst>
                <a:ext uri="{FF2B5EF4-FFF2-40B4-BE49-F238E27FC236}">
                  <a16:creationId xmlns:a16="http://schemas.microsoft.com/office/drawing/2014/main" id="{C8A1DDA5-37FE-BEA1-B841-6A7757B058FB}"/>
                </a:ext>
              </a:extLst>
            </p:cNvPr>
            <p:cNvSpPr>
              <a:spLocks noChangeArrowheads="1"/>
            </p:cNvSpPr>
            <p:nvPr/>
          </p:nvSpPr>
          <p:spPr bwMode="auto">
            <a:xfrm>
              <a:off x="3736412" y="1643557"/>
              <a:ext cx="4420278" cy="1304725"/>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Identify where pull can be used to link decoupled processes that cannot flow</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Pulling from Stamp/Brake Form to Shipping</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Pulling from Cut to Stamp/Brake Form</a:t>
              </a:r>
              <a:endParaRPr lang="en-US" altLang="en-US" sz="2400" dirty="0">
                <a:solidFill>
                  <a:schemeClr val="tx1"/>
                </a:solidFill>
                <a:latin typeface="Roboto" panose="02000000000000000000" pitchFamily="2" charset="0"/>
                <a:ea typeface="Roboto" panose="02000000000000000000" pitchFamily="2" charset="0"/>
              </a:endParaRP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85806" y="3352411"/>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108732" y="3359397"/>
              <a:ext cx="457081" cy="457081"/>
            </a:xfrm>
            <a:prstGeom prst="rect">
              <a:avLst/>
            </a:prstGeom>
          </p:spPr>
        </p:pic>
      </p:grpSp>
      <p:grpSp>
        <p:nvGrpSpPr>
          <p:cNvPr id="109" name="Group 108">
            <a:extLst>
              <a:ext uri="{FF2B5EF4-FFF2-40B4-BE49-F238E27FC236}">
                <a16:creationId xmlns:a16="http://schemas.microsoft.com/office/drawing/2014/main" id="{61DE7A81-CD97-70C8-95A5-0C30619404C7}"/>
              </a:ext>
            </a:extLst>
          </p:cNvPr>
          <p:cNvGrpSpPr/>
          <p:nvPr/>
        </p:nvGrpSpPr>
        <p:grpSpPr>
          <a:xfrm>
            <a:off x="940004" y="320286"/>
            <a:ext cx="6217883" cy="311851"/>
            <a:chOff x="940249" y="302538"/>
            <a:chExt cx="6219503" cy="311932"/>
          </a:xfrm>
        </p:grpSpPr>
        <p:sp>
          <p:nvSpPr>
            <p:cNvPr id="111" name="TextBox 110">
              <a:extLst>
                <a:ext uri="{FF2B5EF4-FFF2-40B4-BE49-F238E27FC236}">
                  <a16:creationId xmlns:a16="http://schemas.microsoft.com/office/drawing/2014/main" id="{CED7F8F1-7A66-7FC3-8047-6A03649BBDA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4" name="AutoShape 9">
              <a:extLst>
                <a:ext uri="{FF2B5EF4-FFF2-40B4-BE49-F238E27FC236}">
                  <a16:creationId xmlns:a16="http://schemas.microsoft.com/office/drawing/2014/main" id="{DD2A88B4-64D9-F2CB-F93E-B89AD910514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5" name="AutoShape 9">
              <a:extLst>
                <a:ext uri="{FF2B5EF4-FFF2-40B4-BE49-F238E27FC236}">
                  <a16:creationId xmlns:a16="http://schemas.microsoft.com/office/drawing/2014/main" id="{3245EEA1-F181-314D-06E7-A1171774DBC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6" name="AutoShape 9">
              <a:extLst>
                <a:ext uri="{FF2B5EF4-FFF2-40B4-BE49-F238E27FC236}">
                  <a16:creationId xmlns:a16="http://schemas.microsoft.com/office/drawing/2014/main" id="{1D24641D-A960-9D17-6569-F15E80578D3B}"/>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7" name="AutoShape 9">
              <a:extLst>
                <a:ext uri="{FF2B5EF4-FFF2-40B4-BE49-F238E27FC236}">
                  <a16:creationId xmlns:a16="http://schemas.microsoft.com/office/drawing/2014/main" id="{EC7BFB7F-7F79-BAE1-E294-BFE60AE9EAC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8" name="AutoShape 11">
              <a:extLst>
                <a:ext uri="{FF2B5EF4-FFF2-40B4-BE49-F238E27FC236}">
                  <a16:creationId xmlns:a16="http://schemas.microsoft.com/office/drawing/2014/main" id="{30687057-C854-E1B1-119D-A1EEAE16057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9" name="Slide Number Placeholder 2">
            <a:extLst>
              <a:ext uri="{FF2B5EF4-FFF2-40B4-BE49-F238E27FC236}">
                <a16:creationId xmlns:a16="http://schemas.microsoft.com/office/drawing/2014/main" id="{C8AE739C-23FC-5879-8AE9-8BA6E49E84E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98</a:t>
            </a:fld>
            <a:endParaRPr lang="en-US" dirty="0"/>
          </a:p>
        </p:txBody>
      </p:sp>
    </p:spTree>
    <p:extLst>
      <p:ext uri="{BB962C8B-B14F-4D97-AF65-F5344CB8AC3E}">
        <p14:creationId xmlns:p14="http://schemas.microsoft.com/office/powerpoint/2010/main" val="132689252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Link Decoupled Processes Using Pull</a:t>
            </a:r>
            <a:endParaRPr lang="en-US" dirty="0"/>
          </a:p>
        </p:txBody>
      </p:sp>
      <p:grpSp>
        <p:nvGrpSpPr>
          <p:cNvPr id="105" name="Group 104">
            <a:extLst>
              <a:ext uri="{FF2B5EF4-FFF2-40B4-BE49-F238E27FC236}">
                <a16:creationId xmlns:a16="http://schemas.microsoft.com/office/drawing/2014/main" id="{95FA278F-C84D-A39D-4827-AC54077F0C90}"/>
              </a:ext>
            </a:extLst>
          </p:cNvPr>
          <p:cNvGrpSpPr/>
          <p:nvPr/>
        </p:nvGrpSpPr>
        <p:grpSpPr>
          <a:xfrm>
            <a:off x="951596" y="1850065"/>
            <a:ext cx="10531567" cy="4378696"/>
            <a:chOff x="872018" y="1097071"/>
            <a:chExt cx="10285631" cy="4663857"/>
          </a:xfrm>
        </p:grpSpPr>
        <p:grpSp>
          <p:nvGrpSpPr>
            <p:cNvPr id="56" name="Group 55">
              <a:extLst>
                <a:ext uri="{FF2B5EF4-FFF2-40B4-BE49-F238E27FC236}">
                  <a16:creationId xmlns:a16="http://schemas.microsoft.com/office/drawing/2014/main" id="{A0450857-D716-BC62-7FBE-DF70A637F851}"/>
                </a:ext>
              </a:extLst>
            </p:cNvPr>
            <p:cNvGrpSpPr/>
            <p:nvPr/>
          </p:nvGrpSpPr>
          <p:grpSpPr>
            <a:xfrm>
              <a:off x="872018" y="1097071"/>
              <a:ext cx="10285631" cy="4663857"/>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01663"/>
                <a:chOff x="474" y="1322"/>
                <a:chExt cx="508" cy="379"/>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365285" y="1493839"/>
                <a:ext cx="2343584" cy="336265"/>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12689"/>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196034"/>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2437057"/>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726397"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32331"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62207"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96775" y="355207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02710" y="371509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32585" y="353289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357125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373427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355207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23826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293991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03385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22318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2989467"/>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20112" y="3638123"/>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98040" y="3638123"/>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28862" y="3638123"/>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99884" y="3638123"/>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88809" y="374046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527786" y="3717159"/>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826410" y="3733489"/>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95285" y="4008723"/>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43871" y="4008723"/>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41262" y="3984902"/>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54172" y="3984902"/>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384188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83629" y="3818064"/>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97818" y="3802023"/>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95291"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726397" y="421118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4379211"/>
              <a:ext cx="885874" cy="400110"/>
            </a:xfrm>
            <a:prstGeom prst="rect">
              <a:avLst/>
            </a:prstGeom>
            <a:solidFill>
              <a:srgbClr val="FFB627"/>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162527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15307" y="4991329"/>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78356" y="4911894"/>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121449" y="1738800"/>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02231" y="3889784"/>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chemeClr val="accent1"/>
                  </a:solidFill>
                  <a:latin typeface="Comic Sans MS" panose="030F0702030302020204" pitchFamily="66" charset="0"/>
                </a:rPr>
                <a:t>Improve</a:t>
              </a:r>
            </a:p>
            <a:p>
              <a:pPr>
                <a:lnSpc>
                  <a:spcPct val="100000"/>
                </a:lnSpc>
                <a:spcBef>
                  <a:spcPct val="0"/>
                </a:spcBef>
              </a:pPr>
              <a:r>
                <a:rPr lang="en-US" altLang="en-US" sz="1600" b="0" dirty="0">
                  <a:solidFill>
                    <a:schemeClr val="accent1"/>
                  </a:solidFill>
                  <a:latin typeface="Comic Sans MS" panose="030F0702030302020204" pitchFamily="66" charset="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87809" y="3493944"/>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47061" y="3609741"/>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05706" y="4369414"/>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chemeClr val="accent1"/>
                  </a:solidFill>
                  <a:latin typeface="Comic Sans MS" panose="030F0702030302020204" pitchFamily="66" charset="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85806" y="3352411"/>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108732" y="3359397"/>
              <a:ext cx="457081" cy="457081"/>
            </a:xfrm>
            <a:prstGeom prst="rect">
              <a:avLst/>
            </a:prstGeom>
          </p:spPr>
        </p:pic>
      </p:grpSp>
      <p:grpSp>
        <p:nvGrpSpPr>
          <p:cNvPr id="109" name="Group 108">
            <a:extLst>
              <a:ext uri="{FF2B5EF4-FFF2-40B4-BE49-F238E27FC236}">
                <a16:creationId xmlns:a16="http://schemas.microsoft.com/office/drawing/2014/main" id="{61DE7A81-CD97-70C8-95A5-0C30619404C7}"/>
              </a:ext>
            </a:extLst>
          </p:cNvPr>
          <p:cNvGrpSpPr/>
          <p:nvPr/>
        </p:nvGrpSpPr>
        <p:grpSpPr>
          <a:xfrm>
            <a:off x="940004" y="320286"/>
            <a:ext cx="6217883" cy="311851"/>
            <a:chOff x="940249" y="302538"/>
            <a:chExt cx="6219503" cy="311932"/>
          </a:xfrm>
        </p:grpSpPr>
        <p:sp>
          <p:nvSpPr>
            <p:cNvPr id="111" name="TextBox 110">
              <a:extLst>
                <a:ext uri="{FF2B5EF4-FFF2-40B4-BE49-F238E27FC236}">
                  <a16:creationId xmlns:a16="http://schemas.microsoft.com/office/drawing/2014/main" id="{CED7F8F1-7A66-7FC3-8047-6A03649BBDA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4" name="AutoShape 9">
              <a:extLst>
                <a:ext uri="{FF2B5EF4-FFF2-40B4-BE49-F238E27FC236}">
                  <a16:creationId xmlns:a16="http://schemas.microsoft.com/office/drawing/2014/main" id="{DD2A88B4-64D9-F2CB-F93E-B89AD910514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5" name="AutoShape 9">
              <a:extLst>
                <a:ext uri="{FF2B5EF4-FFF2-40B4-BE49-F238E27FC236}">
                  <a16:creationId xmlns:a16="http://schemas.microsoft.com/office/drawing/2014/main" id="{3245EEA1-F181-314D-06E7-A1171774DBC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6" name="AutoShape 9">
              <a:extLst>
                <a:ext uri="{FF2B5EF4-FFF2-40B4-BE49-F238E27FC236}">
                  <a16:creationId xmlns:a16="http://schemas.microsoft.com/office/drawing/2014/main" id="{1D24641D-A960-9D17-6569-F15E80578D3B}"/>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7" name="AutoShape 9">
              <a:extLst>
                <a:ext uri="{FF2B5EF4-FFF2-40B4-BE49-F238E27FC236}">
                  <a16:creationId xmlns:a16="http://schemas.microsoft.com/office/drawing/2014/main" id="{EC7BFB7F-7F79-BAE1-E294-BFE60AE9EAC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8" name="AutoShape 11">
              <a:extLst>
                <a:ext uri="{FF2B5EF4-FFF2-40B4-BE49-F238E27FC236}">
                  <a16:creationId xmlns:a16="http://schemas.microsoft.com/office/drawing/2014/main" id="{30687057-C854-E1B1-119D-A1EEAE16057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9" name="Slide Number Placeholder 2">
            <a:extLst>
              <a:ext uri="{FF2B5EF4-FFF2-40B4-BE49-F238E27FC236}">
                <a16:creationId xmlns:a16="http://schemas.microsoft.com/office/drawing/2014/main" id="{C8AE739C-23FC-5879-8AE9-8BA6E49E84E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99</a:t>
            </a:fld>
            <a:endParaRPr lang="en-US" dirty="0"/>
          </a:p>
        </p:txBody>
      </p:sp>
    </p:spTree>
    <p:extLst>
      <p:ext uri="{BB962C8B-B14F-4D97-AF65-F5344CB8AC3E}">
        <p14:creationId xmlns:p14="http://schemas.microsoft.com/office/powerpoint/2010/main" val="422574092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100</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423765360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Supermarket &amp; FIFO Definition</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a:xfrm>
            <a:off x="837982" y="1825625"/>
            <a:ext cx="9342042" cy="4351338"/>
          </a:xfrm>
        </p:spPr>
        <p:txBody>
          <a:bodyPr>
            <a:normAutofit fontScale="92500" lnSpcReduction="20000"/>
          </a:bodyPr>
          <a:lstStyle/>
          <a:p>
            <a:r>
              <a:rPr lang="en-US" dirty="0"/>
              <a:t>Supermarket – Definition</a:t>
            </a:r>
          </a:p>
          <a:p>
            <a:pPr lvl="1"/>
            <a:r>
              <a:rPr lang="en-US" dirty="0"/>
              <a:t>Used for discreet, predictable, repeatable parts</a:t>
            </a:r>
          </a:p>
          <a:p>
            <a:pPr lvl="1"/>
            <a:r>
              <a:rPr lang="en-US" dirty="0"/>
              <a:t>A controlled inventory location, located at the producing process</a:t>
            </a:r>
          </a:p>
          <a:p>
            <a:pPr lvl="1"/>
            <a:r>
              <a:rPr lang="en-US" dirty="0"/>
              <a:t>Desired on-hand quantity of each part/product is pre-determined</a:t>
            </a:r>
          </a:p>
          <a:p>
            <a:pPr lvl="1"/>
            <a:r>
              <a:rPr lang="en-US" dirty="0"/>
              <a:t>Any piece in the supermarket may be withdrawn by a consuming process via pull</a:t>
            </a:r>
          </a:p>
          <a:p>
            <a:pPr lvl="1"/>
            <a:r>
              <a:rPr lang="en-US" dirty="0"/>
              <a:t>Withdrawal from the supermarket triggers production of another piece by the producing process</a:t>
            </a:r>
          </a:p>
          <a:p>
            <a:r>
              <a:rPr lang="en-US" dirty="0"/>
              <a:t>FIFO Lane – Definition </a:t>
            </a:r>
          </a:p>
          <a:p>
            <a:pPr lvl="1"/>
            <a:r>
              <a:rPr lang="en-US" dirty="0"/>
              <a:t>Used for custom parts</a:t>
            </a:r>
          </a:p>
          <a:p>
            <a:pPr lvl="1"/>
            <a:r>
              <a:rPr lang="en-US" dirty="0"/>
              <a:t>A controlled stream of inventory between two processes that directly links them </a:t>
            </a:r>
          </a:p>
          <a:p>
            <a:pPr lvl="1"/>
            <a:r>
              <a:rPr lang="en-US" dirty="0"/>
              <a:t>A fixed maximum quantity of pieces is designated</a:t>
            </a:r>
          </a:p>
          <a:p>
            <a:pPr lvl="1"/>
            <a:r>
              <a:rPr lang="en-US" dirty="0"/>
              <a:t>Pieces are consumed in first-in-first out sequence</a:t>
            </a:r>
          </a:p>
        </p:txBody>
      </p:sp>
      <p:grpSp>
        <p:nvGrpSpPr>
          <p:cNvPr id="4" name="Group 4">
            <a:extLst>
              <a:ext uri="{FF2B5EF4-FFF2-40B4-BE49-F238E27FC236}">
                <a16:creationId xmlns:a16="http://schemas.microsoft.com/office/drawing/2014/main" id="{B34109F4-681D-6430-02FE-BAE05D23D091}"/>
              </a:ext>
            </a:extLst>
          </p:cNvPr>
          <p:cNvGrpSpPr>
            <a:grpSpLocks/>
          </p:cNvGrpSpPr>
          <p:nvPr/>
        </p:nvGrpSpPr>
        <p:grpSpPr bwMode="auto">
          <a:xfrm>
            <a:off x="10689886" y="2124844"/>
            <a:ext cx="483117" cy="1846575"/>
            <a:chOff x="4780" y="1303"/>
            <a:chExt cx="285" cy="631"/>
          </a:xfrm>
        </p:grpSpPr>
        <p:sp>
          <p:nvSpPr>
            <p:cNvPr id="5" name="Line 5">
              <a:extLst>
                <a:ext uri="{FF2B5EF4-FFF2-40B4-BE49-F238E27FC236}">
                  <a16:creationId xmlns:a16="http://schemas.microsoft.com/office/drawing/2014/main" id="{9233F514-3918-6B06-A477-DBB02086B6E7}"/>
                </a:ext>
              </a:extLst>
            </p:cNvPr>
            <p:cNvSpPr>
              <a:spLocks noChangeShapeType="1"/>
            </p:cNvSpPr>
            <p:nvPr/>
          </p:nvSpPr>
          <p:spPr bwMode="auto">
            <a:xfrm>
              <a:off x="5064" y="1303"/>
              <a:ext cx="0" cy="627"/>
            </a:xfrm>
            <a:prstGeom prst="line">
              <a:avLst/>
            </a:prstGeom>
            <a:noFill/>
            <a:ln w="104775"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6" name="Line 6">
              <a:extLst>
                <a:ext uri="{FF2B5EF4-FFF2-40B4-BE49-F238E27FC236}">
                  <a16:creationId xmlns:a16="http://schemas.microsoft.com/office/drawing/2014/main" id="{18260D79-8648-E9C2-EC64-4B2964B31D3B}"/>
                </a:ext>
              </a:extLst>
            </p:cNvPr>
            <p:cNvSpPr>
              <a:spLocks noChangeShapeType="1"/>
            </p:cNvSpPr>
            <p:nvPr/>
          </p:nvSpPr>
          <p:spPr bwMode="auto">
            <a:xfrm>
              <a:off x="4780" y="1304"/>
              <a:ext cx="285" cy="0"/>
            </a:xfrm>
            <a:prstGeom prst="line">
              <a:avLst/>
            </a:prstGeom>
            <a:noFill/>
            <a:ln w="104775"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Line 7">
              <a:extLst>
                <a:ext uri="{FF2B5EF4-FFF2-40B4-BE49-F238E27FC236}">
                  <a16:creationId xmlns:a16="http://schemas.microsoft.com/office/drawing/2014/main" id="{D849B06D-5FEB-7C8E-7178-D652C44776E5}"/>
                </a:ext>
              </a:extLst>
            </p:cNvPr>
            <p:cNvSpPr>
              <a:spLocks noChangeShapeType="1"/>
            </p:cNvSpPr>
            <p:nvPr/>
          </p:nvSpPr>
          <p:spPr bwMode="auto">
            <a:xfrm>
              <a:off x="4780" y="1514"/>
              <a:ext cx="285" cy="0"/>
            </a:xfrm>
            <a:prstGeom prst="line">
              <a:avLst/>
            </a:prstGeom>
            <a:noFill/>
            <a:ln w="104775"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8" name="Line 8">
              <a:extLst>
                <a:ext uri="{FF2B5EF4-FFF2-40B4-BE49-F238E27FC236}">
                  <a16:creationId xmlns:a16="http://schemas.microsoft.com/office/drawing/2014/main" id="{75C5AA55-07B8-10A5-B2FE-8C16F4CBCEE6}"/>
                </a:ext>
              </a:extLst>
            </p:cNvPr>
            <p:cNvSpPr>
              <a:spLocks noChangeShapeType="1"/>
            </p:cNvSpPr>
            <p:nvPr/>
          </p:nvSpPr>
          <p:spPr bwMode="auto">
            <a:xfrm>
              <a:off x="4780" y="1724"/>
              <a:ext cx="285" cy="0"/>
            </a:xfrm>
            <a:prstGeom prst="line">
              <a:avLst/>
            </a:prstGeom>
            <a:noFill/>
            <a:ln w="104775"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9" name="Line 9">
              <a:extLst>
                <a:ext uri="{FF2B5EF4-FFF2-40B4-BE49-F238E27FC236}">
                  <a16:creationId xmlns:a16="http://schemas.microsoft.com/office/drawing/2014/main" id="{12A6F20C-0A8A-3785-E577-D7E396A62E08}"/>
                </a:ext>
              </a:extLst>
            </p:cNvPr>
            <p:cNvSpPr>
              <a:spLocks noChangeShapeType="1"/>
            </p:cNvSpPr>
            <p:nvPr/>
          </p:nvSpPr>
          <p:spPr bwMode="auto">
            <a:xfrm>
              <a:off x="4780" y="1934"/>
              <a:ext cx="285" cy="0"/>
            </a:xfrm>
            <a:prstGeom prst="line">
              <a:avLst/>
            </a:prstGeom>
            <a:noFill/>
            <a:ln w="104775"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0" name="Group 10">
            <a:extLst>
              <a:ext uri="{FF2B5EF4-FFF2-40B4-BE49-F238E27FC236}">
                <a16:creationId xmlns:a16="http://schemas.microsoft.com/office/drawing/2014/main" id="{42869B66-8167-D5A2-14CF-2BDAAA58D235}"/>
              </a:ext>
            </a:extLst>
          </p:cNvPr>
          <p:cNvGrpSpPr>
            <a:grpSpLocks/>
          </p:cNvGrpSpPr>
          <p:nvPr/>
        </p:nvGrpSpPr>
        <p:grpSpPr bwMode="auto">
          <a:xfrm>
            <a:off x="10243948" y="4704102"/>
            <a:ext cx="1387114" cy="641182"/>
            <a:chOff x="4151" y="2878"/>
            <a:chExt cx="1748" cy="808"/>
          </a:xfrm>
          <a:noFill/>
        </p:grpSpPr>
        <p:sp>
          <p:nvSpPr>
            <p:cNvPr id="11" name="Line 11">
              <a:extLst>
                <a:ext uri="{FF2B5EF4-FFF2-40B4-BE49-F238E27FC236}">
                  <a16:creationId xmlns:a16="http://schemas.microsoft.com/office/drawing/2014/main" id="{DE99888C-87B9-7D81-6AA1-8020AF21828D}"/>
                </a:ext>
              </a:extLst>
            </p:cNvPr>
            <p:cNvSpPr>
              <a:spLocks noChangeShapeType="1"/>
            </p:cNvSpPr>
            <p:nvPr/>
          </p:nvSpPr>
          <p:spPr bwMode="auto">
            <a:xfrm flipV="1">
              <a:off x="4602" y="3266"/>
              <a:ext cx="835" cy="0"/>
            </a:xfrm>
            <a:prstGeom prst="line">
              <a:avLst/>
            </a:prstGeom>
            <a:grpFill/>
            <a:ln w="28575" cap="sq">
              <a:solidFill>
                <a:schemeClr val="tx1"/>
              </a:solidFill>
              <a:round/>
              <a:headEnd type="none" w="sm" len="sm"/>
              <a:tailEnd type="none" w="sm" len="sm"/>
            </a:ln>
          </p:spPr>
          <p:txBody>
            <a:bodyPr wrap="none"/>
            <a:lstStyle/>
            <a:p>
              <a:endParaRPr lang="en-US" sz="1399">
                <a:solidFill>
                  <a:srgbClr val="EE3228"/>
                </a:solidFill>
              </a:endParaRPr>
            </a:p>
          </p:txBody>
        </p:sp>
        <p:sp>
          <p:nvSpPr>
            <p:cNvPr id="12" name="Line 12">
              <a:extLst>
                <a:ext uri="{FF2B5EF4-FFF2-40B4-BE49-F238E27FC236}">
                  <a16:creationId xmlns:a16="http://schemas.microsoft.com/office/drawing/2014/main" id="{AFD70109-BB83-7797-AF10-C1FD733D4DFD}"/>
                </a:ext>
              </a:extLst>
            </p:cNvPr>
            <p:cNvSpPr>
              <a:spLocks noChangeShapeType="1"/>
            </p:cNvSpPr>
            <p:nvPr/>
          </p:nvSpPr>
          <p:spPr bwMode="auto">
            <a:xfrm flipV="1">
              <a:off x="4589" y="3686"/>
              <a:ext cx="835" cy="0"/>
            </a:xfrm>
            <a:prstGeom prst="line">
              <a:avLst/>
            </a:prstGeom>
            <a:grpFill/>
            <a:ln w="28575" cap="sq">
              <a:solidFill>
                <a:schemeClr val="tx1"/>
              </a:solidFill>
              <a:round/>
              <a:headEnd type="none" w="sm" len="sm"/>
              <a:tailEnd type="none" w="sm" len="sm"/>
            </a:ln>
          </p:spPr>
          <p:txBody>
            <a:bodyPr wrap="none"/>
            <a:lstStyle/>
            <a:p>
              <a:endParaRPr lang="en-US" sz="1399">
                <a:solidFill>
                  <a:srgbClr val="EE3228"/>
                </a:solidFill>
              </a:endParaRPr>
            </a:p>
          </p:txBody>
        </p:sp>
        <p:sp>
          <p:nvSpPr>
            <p:cNvPr id="13" name="Text Box 13">
              <a:extLst>
                <a:ext uri="{FF2B5EF4-FFF2-40B4-BE49-F238E27FC236}">
                  <a16:creationId xmlns:a16="http://schemas.microsoft.com/office/drawing/2014/main" id="{5258E675-B64F-AD73-4268-0B00F3B50AFE}"/>
                </a:ext>
              </a:extLst>
            </p:cNvPr>
            <p:cNvSpPr txBox="1">
              <a:spLocks noChangeArrowheads="1"/>
            </p:cNvSpPr>
            <p:nvPr/>
          </p:nvSpPr>
          <p:spPr bwMode="auto">
            <a:xfrm>
              <a:off x="4646" y="3298"/>
              <a:ext cx="746" cy="388"/>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rgbClr val="EE3228"/>
                  </a:solidFill>
                  <a:latin typeface="Roboto" panose="02000000000000000000"/>
                </a:rPr>
                <a:t>FIFO</a:t>
              </a:r>
            </a:p>
          </p:txBody>
        </p:sp>
        <p:sp>
          <p:nvSpPr>
            <p:cNvPr id="22" name="Text Box 14">
              <a:extLst>
                <a:ext uri="{FF2B5EF4-FFF2-40B4-BE49-F238E27FC236}">
                  <a16:creationId xmlns:a16="http://schemas.microsoft.com/office/drawing/2014/main" id="{86D5FECD-2E1C-F501-CCA4-CE59C2FF7E37}"/>
                </a:ext>
              </a:extLst>
            </p:cNvPr>
            <p:cNvSpPr txBox="1">
              <a:spLocks noChangeArrowheads="1"/>
            </p:cNvSpPr>
            <p:nvPr/>
          </p:nvSpPr>
          <p:spPr bwMode="auto">
            <a:xfrm>
              <a:off x="4151" y="2878"/>
              <a:ext cx="1748" cy="388"/>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rgbClr val="EE3228"/>
                  </a:solidFill>
                  <a:latin typeface="Roboto" panose="02000000000000000000"/>
                </a:rPr>
                <a:t>Max 25 pieces</a:t>
              </a:r>
            </a:p>
          </p:txBody>
        </p:sp>
      </p:grpSp>
      <p:grpSp>
        <p:nvGrpSpPr>
          <p:cNvPr id="23" name="Group 22">
            <a:extLst>
              <a:ext uri="{FF2B5EF4-FFF2-40B4-BE49-F238E27FC236}">
                <a16:creationId xmlns:a16="http://schemas.microsoft.com/office/drawing/2014/main" id="{76FC8B06-B01F-5437-AD57-68C43F9C4AF9}"/>
              </a:ext>
            </a:extLst>
          </p:cNvPr>
          <p:cNvGrpSpPr/>
          <p:nvPr/>
        </p:nvGrpSpPr>
        <p:grpSpPr>
          <a:xfrm>
            <a:off x="940004" y="320286"/>
            <a:ext cx="6217883" cy="311851"/>
            <a:chOff x="940249" y="302538"/>
            <a:chExt cx="6219503" cy="311932"/>
          </a:xfrm>
        </p:grpSpPr>
        <p:sp>
          <p:nvSpPr>
            <p:cNvPr id="27" name="TextBox 26">
              <a:extLst>
                <a:ext uri="{FF2B5EF4-FFF2-40B4-BE49-F238E27FC236}">
                  <a16:creationId xmlns:a16="http://schemas.microsoft.com/office/drawing/2014/main" id="{F0E36A82-39F3-F942-4FE0-EC46EBA50EF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28" name="AutoShape 9">
              <a:extLst>
                <a:ext uri="{FF2B5EF4-FFF2-40B4-BE49-F238E27FC236}">
                  <a16:creationId xmlns:a16="http://schemas.microsoft.com/office/drawing/2014/main" id="{80CEC823-A34B-49A2-9004-58CB652DFC4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9" name="AutoShape 9">
              <a:extLst>
                <a:ext uri="{FF2B5EF4-FFF2-40B4-BE49-F238E27FC236}">
                  <a16:creationId xmlns:a16="http://schemas.microsoft.com/office/drawing/2014/main" id="{C9E382EC-550F-682C-ED1E-74E383BE88B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0" name="AutoShape 9">
              <a:extLst>
                <a:ext uri="{FF2B5EF4-FFF2-40B4-BE49-F238E27FC236}">
                  <a16:creationId xmlns:a16="http://schemas.microsoft.com/office/drawing/2014/main" id="{F6646541-0E57-F3FE-7452-CF121D9966C7}"/>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1" name="AutoShape 9">
              <a:extLst>
                <a:ext uri="{FF2B5EF4-FFF2-40B4-BE49-F238E27FC236}">
                  <a16:creationId xmlns:a16="http://schemas.microsoft.com/office/drawing/2014/main" id="{051526E2-F28B-67BD-737E-BDAC42BB23D7}"/>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2" name="AutoShape 11">
              <a:extLst>
                <a:ext uri="{FF2B5EF4-FFF2-40B4-BE49-F238E27FC236}">
                  <a16:creationId xmlns:a16="http://schemas.microsoft.com/office/drawing/2014/main" id="{89B2FFD6-B863-2AB3-BDD9-B8C6051D56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33" name="Slide Number Placeholder 2">
            <a:extLst>
              <a:ext uri="{FF2B5EF4-FFF2-40B4-BE49-F238E27FC236}">
                <a16:creationId xmlns:a16="http://schemas.microsoft.com/office/drawing/2014/main" id="{71002C45-064C-F091-DEB8-19D5825E543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101</a:t>
            </a:fld>
            <a:endParaRPr lang="en-US" dirty="0"/>
          </a:p>
        </p:txBody>
      </p:sp>
    </p:spTree>
    <p:extLst>
      <p:ext uri="{BB962C8B-B14F-4D97-AF65-F5344CB8AC3E}">
        <p14:creationId xmlns:p14="http://schemas.microsoft.com/office/powerpoint/2010/main" val="219822161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b="1" dirty="0">
                <a:solidFill>
                  <a:srgbClr val="191C25"/>
                </a:solidFill>
                <a:latin typeface="Roboto" panose="02000000000000000000"/>
              </a:rPr>
              <a:t>Supermarket vs. FIFO</a:t>
            </a:r>
            <a:endParaRPr lang="en-US" b="1" dirty="0">
              <a:solidFill>
                <a:srgbClr val="191C25"/>
              </a:solidFill>
              <a:latin typeface="Roboto" panose="02000000000000000000"/>
            </a:endParaRPr>
          </a:p>
        </p:txBody>
      </p:sp>
      <p:grpSp>
        <p:nvGrpSpPr>
          <p:cNvPr id="28" name="Group 28">
            <a:extLst>
              <a:ext uri="{FF2B5EF4-FFF2-40B4-BE49-F238E27FC236}">
                <a16:creationId xmlns:a16="http://schemas.microsoft.com/office/drawing/2014/main" id="{D6070B5D-7F55-24B9-B58C-2B8BEC136537}"/>
              </a:ext>
            </a:extLst>
          </p:cNvPr>
          <p:cNvGrpSpPr>
            <a:grpSpLocks/>
          </p:cNvGrpSpPr>
          <p:nvPr/>
        </p:nvGrpSpPr>
        <p:grpSpPr bwMode="auto">
          <a:xfrm>
            <a:off x="5236856" y="2988551"/>
            <a:ext cx="910807" cy="650267"/>
            <a:chOff x="2140" y="2360"/>
            <a:chExt cx="469" cy="443"/>
          </a:xfrm>
        </p:grpSpPr>
        <p:grpSp>
          <p:nvGrpSpPr>
            <p:cNvPr id="29" name="Group 29">
              <a:extLst>
                <a:ext uri="{FF2B5EF4-FFF2-40B4-BE49-F238E27FC236}">
                  <a16:creationId xmlns:a16="http://schemas.microsoft.com/office/drawing/2014/main" id="{6DD93259-B197-B64F-CF07-0E78A0AC201C}"/>
                </a:ext>
              </a:extLst>
            </p:cNvPr>
            <p:cNvGrpSpPr>
              <a:grpSpLocks/>
            </p:cNvGrpSpPr>
            <p:nvPr/>
          </p:nvGrpSpPr>
          <p:grpSpPr bwMode="auto">
            <a:xfrm>
              <a:off x="2140" y="2381"/>
              <a:ext cx="469" cy="422"/>
              <a:chOff x="1044" y="2967"/>
              <a:chExt cx="380" cy="422"/>
            </a:xfrm>
          </p:grpSpPr>
          <p:sp>
            <p:nvSpPr>
              <p:cNvPr id="35" name="Rectangle 30">
                <a:extLst>
                  <a:ext uri="{FF2B5EF4-FFF2-40B4-BE49-F238E27FC236}">
                    <a16:creationId xmlns:a16="http://schemas.microsoft.com/office/drawing/2014/main" id="{C45E5364-E67D-43F4-A028-257D74DEE615}"/>
                  </a:ext>
                </a:extLst>
              </p:cNvPr>
              <p:cNvSpPr>
                <a:spLocks noChangeArrowheads="1"/>
              </p:cNvSpPr>
              <p:nvPr/>
            </p:nvSpPr>
            <p:spPr bwMode="auto">
              <a:xfrm>
                <a:off x="1044" y="2967"/>
                <a:ext cx="380" cy="42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sz="450">
                  <a:solidFill>
                    <a:srgbClr val="191C25"/>
                  </a:solidFill>
                  <a:latin typeface="Roboto" panose="02000000000000000000"/>
                </a:endParaRPr>
              </a:p>
            </p:txBody>
          </p:sp>
          <p:sp>
            <p:nvSpPr>
              <p:cNvPr id="36" name="Line 31">
                <a:extLst>
                  <a:ext uri="{FF2B5EF4-FFF2-40B4-BE49-F238E27FC236}">
                    <a16:creationId xmlns:a16="http://schemas.microsoft.com/office/drawing/2014/main" id="{85437A7B-227C-E1FF-436B-84C30A2E9E18}"/>
                  </a:ext>
                </a:extLst>
              </p:cNvPr>
              <p:cNvSpPr>
                <a:spLocks noChangeShapeType="1"/>
              </p:cNvSpPr>
              <p:nvPr/>
            </p:nvSpPr>
            <p:spPr bwMode="auto">
              <a:xfrm flipV="1">
                <a:off x="1046" y="3078"/>
                <a:ext cx="378"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191C25"/>
                  </a:solidFill>
                  <a:latin typeface="Roboto" panose="02000000000000000000"/>
                </a:endParaRPr>
              </a:p>
            </p:txBody>
          </p:sp>
        </p:grpSp>
        <p:sp>
          <p:nvSpPr>
            <p:cNvPr id="31" name="Text Box 35">
              <a:extLst>
                <a:ext uri="{FF2B5EF4-FFF2-40B4-BE49-F238E27FC236}">
                  <a16:creationId xmlns:a16="http://schemas.microsoft.com/office/drawing/2014/main" id="{2C8F03E0-6E79-008B-10A9-1EF6AA20BBAE}"/>
                </a:ext>
              </a:extLst>
            </p:cNvPr>
            <p:cNvSpPr txBox="1">
              <a:spLocks noChangeArrowheads="1"/>
            </p:cNvSpPr>
            <p:nvPr/>
          </p:nvSpPr>
          <p:spPr bwMode="auto">
            <a:xfrm>
              <a:off x="2334" y="2570"/>
              <a:ext cx="207"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sz="1200" b="0" dirty="0">
                  <a:solidFill>
                    <a:srgbClr val="191C25"/>
                  </a:solidFill>
                  <a:latin typeface="Roboto" panose="02000000000000000000"/>
                </a:rPr>
                <a:t>= 1</a:t>
              </a:r>
            </a:p>
          </p:txBody>
        </p:sp>
        <p:sp>
          <p:nvSpPr>
            <p:cNvPr id="32" name="Text Box 36">
              <a:extLst>
                <a:ext uri="{FF2B5EF4-FFF2-40B4-BE49-F238E27FC236}">
                  <a16:creationId xmlns:a16="http://schemas.microsoft.com/office/drawing/2014/main" id="{B7DA7666-6220-4479-08C8-E95FBA88CC86}"/>
                </a:ext>
              </a:extLst>
            </p:cNvPr>
            <p:cNvSpPr txBox="1">
              <a:spLocks noChangeArrowheads="1"/>
            </p:cNvSpPr>
            <p:nvPr/>
          </p:nvSpPr>
          <p:spPr bwMode="auto">
            <a:xfrm>
              <a:off x="2170" y="2360"/>
              <a:ext cx="407"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buClr>
                  <a:schemeClr val="accent1"/>
                </a:buClr>
                <a:buSzPct val="90000"/>
              </a:pPr>
              <a:r>
                <a:rPr lang="en-US" altLang="en-US" sz="1200" b="0" dirty="0">
                  <a:solidFill>
                    <a:srgbClr val="191C25"/>
                  </a:solidFill>
                  <a:latin typeface="Roboto" panose="02000000000000000000"/>
                </a:rPr>
                <a:t>Paint</a:t>
              </a:r>
            </a:p>
          </p:txBody>
        </p:sp>
      </p:grpSp>
      <p:sp>
        <p:nvSpPr>
          <p:cNvPr id="37" name="AutoShape 56">
            <a:extLst>
              <a:ext uri="{FF2B5EF4-FFF2-40B4-BE49-F238E27FC236}">
                <a16:creationId xmlns:a16="http://schemas.microsoft.com/office/drawing/2014/main" id="{2323ADF8-E07C-3FFB-D13B-1CF2FB8286C8}"/>
              </a:ext>
            </a:extLst>
          </p:cNvPr>
          <p:cNvSpPr>
            <a:spLocks noChangeArrowheads="1"/>
          </p:cNvSpPr>
          <p:nvPr/>
        </p:nvSpPr>
        <p:spPr bwMode="auto">
          <a:xfrm>
            <a:off x="5062571" y="1815947"/>
            <a:ext cx="1019000" cy="778122"/>
          </a:xfrm>
          <a:prstGeom prst="flowChartDocument">
            <a:avLst/>
          </a:prstGeom>
          <a:solidFill>
            <a:srgbClr val="FFB627"/>
          </a:solidFill>
          <a:ln w="12700" cap="sq">
            <a:solidFill>
              <a:schemeClr val="tx1"/>
            </a:solidFill>
            <a:miter lim="800000"/>
            <a:headEnd type="none" w="sm" len="sm"/>
            <a:tailEnd type="none" w="sm" len="sm"/>
          </a:ln>
        </p:spPr>
        <p:txBody>
          <a:bodyPr wrap="none" tIns="182880" bIns="91440"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Clr>
                <a:srgbClr val="191C25"/>
              </a:buClr>
              <a:buSzPct val="90000"/>
            </a:pPr>
            <a:r>
              <a:rPr lang="en-US" altLang="en-US" dirty="0">
                <a:solidFill>
                  <a:srgbClr val="191C25"/>
                </a:solidFill>
                <a:latin typeface="Roboto" panose="02000000000000000000"/>
              </a:rPr>
              <a:t>Customer Order</a:t>
            </a:r>
          </a:p>
          <a:p>
            <a:pPr algn="l">
              <a:lnSpc>
                <a:spcPct val="100000"/>
              </a:lnSpc>
              <a:spcBef>
                <a:spcPct val="0"/>
              </a:spcBef>
              <a:buClr>
                <a:srgbClr val="191C25"/>
              </a:buClr>
              <a:buSzPct val="90000"/>
            </a:pPr>
            <a:r>
              <a:rPr lang="en-US" altLang="en-US" dirty="0">
                <a:solidFill>
                  <a:srgbClr val="191C25"/>
                </a:solidFill>
                <a:latin typeface="Roboto" panose="02000000000000000000"/>
              </a:rPr>
              <a:t>----------------------</a:t>
            </a:r>
          </a:p>
          <a:p>
            <a:pPr marL="142846" indent="-142846" algn="l">
              <a:spcBef>
                <a:spcPct val="0"/>
              </a:spcBef>
              <a:buClr>
                <a:srgbClr val="191C25"/>
              </a:buClr>
              <a:buSzPct val="90000"/>
              <a:buFont typeface="Arial" panose="020B0604020202020204" pitchFamily="34" charset="0"/>
              <a:buChar char="•"/>
            </a:pPr>
            <a:r>
              <a:rPr lang="en-US" altLang="en-US" dirty="0">
                <a:solidFill>
                  <a:srgbClr val="191C25"/>
                </a:solidFill>
                <a:latin typeface="Roboto" panose="02000000000000000000"/>
              </a:rPr>
              <a:t> Frame Type</a:t>
            </a:r>
          </a:p>
          <a:p>
            <a:pPr marL="142846" indent="-142846" algn="l">
              <a:spcBef>
                <a:spcPct val="0"/>
              </a:spcBef>
              <a:buClr>
                <a:srgbClr val="191C25"/>
              </a:buClr>
              <a:buSzPct val="90000"/>
              <a:buFont typeface="Arial" panose="020B0604020202020204" pitchFamily="34" charset="0"/>
              <a:buChar char="•"/>
            </a:pPr>
            <a:r>
              <a:rPr lang="en-US" altLang="en-US" dirty="0">
                <a:solidFill>
                  <a:srgbClr val="191C25"/>
                </a:solidFill>
                <a:latin typeface="Roboto" panose="02000000000000000000"/>
              </a:rPr>
              <a:t> Color</a:t>
            </a:r>
          </a:p>
          <a:p>
            <a:pPr marL="142846" indent="-142846" algn="l">
              <a:spcBef>
                <a:spcPct val="0"/>
              </a:spcBef>
              <a:buClr>
                <a:srgbClr val="191C25"/>
              </a:buClr>
              <a:buSzPct val="90000"/>
              <a:buFont typeface="Arial" panose="020B0604020202020204" pitchFamily="34" charset="0"/>
              <a:buChar char="•"/>
            </a:pPr>
            <a:r>
              <a:rPr lang="en-US" altLang="en-US" dirty="0">
                <a:solidFill>
                  <a:srgbClr val="191C25"/>
                </a:solidFill>
                <a:latin typeface="Roboto" panose="02000000000000000000"/>
              </a:rPr>
              <a:t> Options</a:t>
            </a:r>
          </a:p>
        </p:txBody>
      </p:sp>
      <p:grpSp>
        <p:nvGrpSpPr>
          <p:cNvPr id="39" name="Group 69">
            <a:extLst>
              <a:ext uri="{FF2B5EF4-FFF2-40B4-BE49-F238E27FC236}">
                <a16:creationId xmlns:a16="http://schemas.microsoft.com/office/drawing/2014/main" id="{7D33F696-32ED-1DA3-8176-544622A45435}"/>
              </a:ext>
            </a:extLst>
          </p:cNvPr>
          <p:cNvGrpSpPr>
            <a:grpSpLocks/>
          </p:cNvGrpSpPr>
          <p:nvPr/>
        </p:nvGrpSpPr>
        <p:grpSpPr bwMode="auto">
          <a:xfrm>
            <a:off x="609956" y="2589288"/>
            <a:ext cx="4856344" cy="3555184"/>
            <a:chOff x="290" y="1457"/>
            <a:chExt cx="3025" cy="2422"/>
          </a:xfrm>
        </p:grpSpPr>
        <p:sp>
          <p:nvSpPr>
            <p:cNvPr id="51" name="Text Box 55">
              <a:extLst>
                <a:ext uri="{FF2B5EF4-FFF2-40B4-BE49-F238E27FC236}">
                  <a16:creationId xmlns:a16="http://schemas.microsoft.com/office/drawing/2014/main" id="{2A560897-0143-09AE-531F-7B0B5545D383}"/>
                </a:ext>
              </a:extLst>
            </p:cNvPr>
            <p:cNvSpPr txBox="1">
              <a:spLocks noChangeArrowheads="1"/>
            </p:cNvSpPr>
            <p:nvPr/>
          </p:nvSpPr>
          <p:spPr bwMode="auto">
            <a:xfrm>
              <a:off x="1755" y="2172"/>
              <a:ext cx="1536" cy="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lgn="l">
                <a:spcBef>
                  <a:spcPct val="0"/>
                </a:spcBef>
                <a:buClr>
                  <a:schemeClr val="tx1"/>
                </a:buClr>
                <a:buSzPct val="90000"/>
                <a:buFont typeface="Arial" panose="020B0604020202020204" pitchFamily="34" charset="0"/>
                <a:buChar char="•"/>
              </a:pPr>
              <a:r>
                <a:rPr lang="en-US" altLang="en-US" sz="1200" u="sng" dirty="0">
                  <a:solidFill>
                    <a:srgbClr val="191C25"/>
                  </a:solidFill>
                  <a:latin typeface="Roboto" panose="02000000000000000000"/>
                </a:rPr>
                <a:t>Three types of Welded Frames</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Frame A100</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Frame A200</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Frame A300</a:t>
              </a:r>
            </a:p>
          </p:txBody>
        </p:sp>
        <p:grpSp>
          <p:nvGrpSpPr>
            <p:cNvPr id="40" name="Group 3">
              <a:extLst>
                <a:ext uri="{FF2B5EF4-FFF2-40B4-BE49-F238E27FC236}">
                  <a16:creationId xmlns:a16="http://schemas.microsoft.com/office/drawing/2014/main" id="{4C1212CF-330B-EDDF-9882-2932BB57F649}"/>
                </a:ext>
              </a:extLst>
            </p:cNvPr>
            <p:cNvGrpSpPr>
              <a:grpSpLocks/>
            </p:cNvGrpSpPr>
            <p:nvPr/>
          </p:nvGrpSpPr>
          <p:grpSpPr bwMode="auto">
            <a:xfrm>
              <a:off x="2113" y="1699"/>
              <a:ext cx="140" cy="434"/>
              <a:chOff x="6613" y="1247"/>
              <a:chExt cx="285" cy="630"/>
            </a:xfrm>
          </p:grpSpPr>
          <p:sp>
            <p:nvSpPr>
              <p:cNvPr id="61" name="Line 4">
                <a:extLst>
                  <a:ext uri="{FF2B5EF4-FFF2-40B4-BE49-F238E27FC236}">
                    <a16:creationId xmlns:a16="http://schemas.microsoft.com/office/drawing/2014/main" id="{9191AD17-1160-60C2-1BC8-1659EAB8C19A}"/>
                  </a:ext>
                </a:extLst>
              </p:cNvPr>
              <p:cNvSpPr>
                <a:spLocks noChangeShapeType="1"/>
              </p:cNvSpPr>
              <p:nvPr/>
            </p:nvSpPr>
            <p:spPr bwMode="auto">
              <a:xfrm>
                <a:off x="6894" y="1247"/>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62" name="Line 5">
                <a:extLst>
                  <a:ext uri="{FF2B5EF4-FFF2-40B4-BE49-F238E27FC236}">
                    <a16:creationId xmlns:a16="http://schemas.microsoft.com/office/drawing/2014/main" id="{35CEBE0B-DC6A-073D-6450-2A1C898576CF}"/>
                  </a:ext>
                </a:extLst>
              </p:cNvPr>
              <p:cNvSpPr>
                <a:spLocks noChangeShapeType="1"/>
              </p:cNvSpPr>
              <p:nvPr/>
            </p:nvSpPr>
            <p:spPr bwMode="auto">
              <a:xfrm>
                <a:off x="6613" y="1248"/>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63" name="Line 6">
                <a:extLst>
                  <a:ext uri="{FF2B5EF4-FFF2-40B4-BE49-F238E27FC236}">
                    <a16:creationId xmlns:a16="http://schemas.microsoft.com/office/drawing/2014/main" id="{494B5B27-BBB9-8836-DBF4-112EAC68A1C6}"/>
                  </a:ext>
                </a:extLst>
              </p:cNvPr>
              <p:cNvSpPr>
                <a:spLocks noChangeShapeType="1"/>
              </p:cNvSpPr>
              <p:nvPr/>
            </p:nvSpPr>
            <p:spPr bwMode="auto">
              <a:xfrm>
                <a:off x="6613" y="1457"/>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64" name="Line 7">
                <a:extLst>
                  <a:ext uri="{FF2B5EF4-FFF2-40B4-BE49-F238E27FC236}">
                    <a16:creationId xmlns:a16="http://schemas.microsoft.com/office/drawing/2014/main" id="{235AA341-4460-15B8-9E3F-713A2EB05B57}"/>
                  </a:ext>
                </a:extLst>
              </p:cNvPr>
              <p:cNvSpPr>
                <a:spLocks noChangeShapeType="1"/>
              </p:cNvSpPr>
              <p:nvPr/>
            </p:nvSpPr>
            <p:spPr bwMode="auto">
              <a:xfrm>
                <a:off x="6613" y="1667"/>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65" name="Line 8">
                <a:extLst>
                  <a:ext uri="{FF2B5EF4-FFF2-40B4-BE49-F238E27FC236}">
                    <a16:creationId xmlns:a16="http://schemas.microsoft.com/office/drawing/2014/main" id="{1E98F928-6302-5D38-4D24-641DD06567D1}"/>
                  </a:ext>
                </a:extLst>
              </p:cNvPr>
              <p:cNvSpPr>
                <a:spLocks noChangeShapeType="1"/>
              </p:cNvSpPr>
              <p:nvPr/>
            </p:nvSpPr>
            <p:spPr bwMode="auto">
              <a:xfrm>
                <a:off x="6613" y="1877"/>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grpSp>
        <p:grpSp>
          <p:nvGrpSpPr>
            <p:cNvPr id="41" name="Group 37">
              <a:extLst>
                <a:ext uri="{FF2B5EF4-FFF2-40B4-BE49-F238E27FC236}">
                  <a16:creationId xmlns:a16="http://schemas.microsoft.com/office/drawing/2014/main" id="{074FAE07-ECA1-3672-1551-2646804FEB96}"/>
                </a:ext>
              </a:extLst>
            </p:cNvPr>
            <p:cNvGrpSpPr>
              <a:grpSpLocks/>
            </p:cNvGrpSpPr>
            <p:nvPr/>
          </p:nvGrpSpPr>
          <p:grpSpPr bwMode="auto">
            <a:xfrm>
              <a:off x="401" y="1749"/>
              <a:ext cx="567" cy="438"/>
              <a:chOff x="1368" y="2380"/>
              <a:chExt cx="469" cy="438"/>
            </a:xfrm>
          </p:grpSpPr>
          <p:grpSp>
            <p:nvGrpSpPr>
              <p:cNvPr id="53" name="Group 38">
                <a:extLst>
                  <a:ext uri="{FF2B5EF4-FFF2-40B4-BE49-F238E27FC236}">
                    <a16:creationId xmlns:a16="http://schemas.microsoft.com/office/drawing/2014/main" id="{96BE067F-AF4E-5689-1AFB-9C9A38A8C4EE}"/>
                  </a:ext>
                </a:extLst>
              </p:cNvPr>
              <p:cNvGrpSpPr>
                <a:grpSpLocks/>
              </p:cNvGrpSpPr>
              <p:nvPr/>
            </p:nvGrpSpPr>
            <p:grpSpPr bwMode="auto">
              <a:xfrm>
                <a:off x="1368" y="2395"/>
                <a:ext cx="469" cy="423"/>
                <a:chOff x="418" y="2981"/>
                <a:chExt cx="380" cy="423"/>
              </a:xfrm>
            </p:grpSpPr>
            <p:sp>
              <p:nvSpPr>
                <p:cNvPr id="59" name="Rectangle 39">
                  <a:extLst>
                    <a:ext uri="{FF2B5EF4-FFF2-40B4-BE49-F238E27FC236}">
                      <a16:creationId xmlns:a16="http://schemas.microsoft.com/office/drawing/2014/main" id="{5107FD2D-E755-44A9-B69F-01BCF64F720B}"/>
                    </a:ext>
                  </a:extLst>
                </p:cNvPr>
                <p:cNvSpPr>
                  <a:spLocks noChangeArrowheads="1"/>
                </p:cNvSpPr>
                <p:nvPr/>
              </p:nvSpPr>
              <p:spPr bwMode="auto">
                <a:xfrm>
                  <a:off x="418" y="2981"/>
                  <a:ext cx="380" cy="42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buClr>
                      <a:schemeClr val="tx1"/>
                    </a:buClr>
                    <a:buSzPct val="90000"/>
                    <a:buFont typeface="Arial" panose="020B0604020202020204" pitchFamily="34" charset="0"/>
                    <a:buChar char="•"/>
                  </a:pPr>
                  <a:endParaRPr lang="en-US" altLang="en-US" sz="450">
                    <a:solidFill>
                      <a:srgbClr val="191C25"/>
                    </a:solidFill>
                    <a:latin typeface="Roboto" panose="02000000000000000000"/>
                  </a:endParaRPr>
                </a:p>
              </p:txBody>
            </p:sp>
            <p:sp>
              <p:nvSpPr>
                <p:cNvPr id="60" name="Line 40">
                  <a:extLst>
                    <a:ext uri="{FF2B5EF4-FFF2-40B4-BE49-F238E27FC236}">
                      <a16:creationId xmlns:a16="http://schemas.microsoft.com/office/drawing/2014/main" id="{B60B62F9-EB11-2A85-5195-FF84B346B874}"/>
                    </a:ext>
                  </a:extLst>
                </p:cNvPr>
                <p:cNvSpPr>
                  <a:spLocks noChangeShapeType="1"/>
                </p:cNvSpPr>
                <p:nvPr/>
              </p:nvSpPr>
              <p:spPr bwMode="auto">
                <a:xfrm>
                  <a:off x="420" y="3114"/>
                  <a:ext cx="378"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grpSp>
          <p:sp>
            <p:nvSpPr>
              <p:cNvPr id="55" name="Text Box 44">
                <a:extLst>
                  <a:ext uri="{FF2B5EF4-FFF2-40B4-BE49-F238E27FC236}">
                    <a16:creationId xmlns:a16="http://schemas.microsoft.com/office/drawing/2014/main" id="{876431D7-A634-D0D0-71F6-7ED6957797FC}"/>
                  </a:ext>
                </a:extLst>
              </p:cNvPr>
              <p:cNvSpPr txBox="1">
                <a:spLocks noChangeArrowheads="1"/>
              </p:cNvSpPr>
              <p:nvPr/>
            </p:nvSpPr>
            <p:spPr bwMode="auto">
              <a:xfrm>
                <a:off x="1561" y="2584"/>
                <a:ext cx="203"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tx1"/>
                  </a:buClr>
                  <a:buSzPct val="90000"/>
                </a:pPr>
                <a:r>
                  <a:rPr lang="en-US" altLang="en-US" sz="1200" b="0" dirty="0">
                    <a:solidFill>
                      <a:srgbClr val="191C25"/>
                    </a:solidFill>
                    <a:latin typeface="Roboto" panose="02000000000000000000"/>
                  </a:rPr>
                  <a:t>= 1</a:t>
                </a:r>
              </a:p>
            </p:txBody>
          </p:sp>
          <p:sp>
            <p:nvSpPr>
              <p:cNvPr id="56" name="Text Box 45">
                <a:extLst>
                  <a:ext uri="{FF2B5EF4-FFF2-40B4-BE49-F238E27FC236}">
                    <a16:creationId xmlns:a16="http://schemas.microsoft.com/office/drawing/2014/main" id="{26C0A7D4-F798-4876-F167-29E60F0ADB9C}"/>
                  </a:ext>
                </a:extLst>
              </p:cNvPr>
              <p:cNvSpPr txBox="1">
                <a:spLocks noChangeArrowheads="1"/>
              </p:cNvSpPr>
              <p:nvPr/>
            </p:nvSpPr>
            <p:spPr bwMode="auto">
              <a:xfrm>
                <a:off x="1399" y="2380"/>
                <a:ext cx="407"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buClr>
                    <a:schemeClr val="tx1"/>
                  </a:buClr>
                  <a:buSzPct val="90000"/>
                </a:pPr>
                <a:r>
                  <a:rPr lang="en-US" altLang="en-US" sz="1200" b="0" dirty="0">
                    <a:solidFill>
                      <a:srgbClr val="191C25"/>
                    </a:solidFill>
                    <a:latin typeface="Roboto" panose="02000000000000000000"/>
                  </a:rPr>
                  <a:t>Weld</a:t>
                </a:r>
              </a:p>
            </p:txBody>
          </p:sp>
        </p:grpSp>
        <p:sp>
          <p:nvSpPr>
            <p:cNvPr id="42" name="Line 46">
              <a:extLst>
                <a:ext uri="{FF2B5EF4-FFF2-40B4-BE49-F238E27FC236}">
                  <a16:creationId xmlns:a16="http://schemas.microsoft.com/office/drawing/2014/main" id="{8CDAD02C-662E-D872-C32F-02D34598AE9B}"/>
                </a:ext>
              </a:extLst>
            </p:cNvPr>
            <p:cNvSpPr>
              <a:spLocks noChangeShapeType="1"/>
            </p:cNvSpPr>
            <p:nvPr/>
          </p:nvSpPr>
          <p:spPr bwMode="auto">
            <a:xfrm>
              <a:off x="2215" y="1929"/>
              <a:ext cx="945" cy="0"/>
            </a:xfrm>
            <a:prstGeom prst="line">
              <a:avLst/>
            </a:prstGeom>
            <a:noFill/>
            <a:ln w="50800">
              <a:solidFill>
                <a:srgbClr val="EE3228"/>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3" name="Line 47">
              <a:extLst>
                <a:ext uri="{FF2B5EF4-FFF2-40B4-BE49-F238E27FC236}">
                  <a16:creationId xmlns:a16="http://schemas.microsoft.com/office/drawing/2014/main" id="{33A43388-0145-C61D-7498-7626644D8528}"/>
                </a:ext>
              </a:extLst>
            </p:cNvPr>
            <p:cNvSpPr>
              <a:spLocks noChangeShapeType="1"/>
            </p:cNvSpPr>
            <p:nvPr/>
          </p:nvSpPr>
          <p:spPr bwMode="auto">
            <a:xfrm>
              <a:off x="2251" y="1532"/>
              <a:ext cx="965" cy="0"/>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4" name="Line 48">
              <a:extLst>
                <a:ext uri="{FF2B5EF4-FFF2-40B4-BE49-F238E27FC236}">
                  <a16:creationId xmlns:a16="http://schemas.microsoft.com/office/drawing/2014/main" id="{50ABB897-852E-E1D9-E83C-1E8081CAFB2E}"/>
                </a:ext>
              </a:extLst>
            </p:cNvPr>
            <p:cNvSpPr>
              <a:spLocks noChangeShapeType="1"/>
            </p:cNvSpPr>
            <p:nvPr/>
          </p:nvSpPr>
          <p:spPr bwMode="auto">
            <a:xfrm>
              <a:off x="2222" y="1532"/>
              <a:ext cx="0" cy="375"/>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5" name="Line 49">
              <a:extLst>
                <a:ext uri="{FF2B5EF4-FFF2-40B4-BE49-F238E27FC236}">
                  <a16:creationId xmlns:a16="http://schemas.microsoft.com/office/drawing/2014/main" id="{CB33D8B4-6E0A-08AF-DC4A-C86C60ACE643}"/>
                </a:ext>
              </a:extLst>
            </p:cNvPr>
            <p:cNvSpPr>
              <a:spLocks noChangeShapeType="1"/>
            </p:cNvSpPr>
            <p:nvPr/>
          </p:nvSpPr>
          <p:spPr bwMode="auto">
            <a:xfrm>
              <a:off x="3202" y="1531"/>
              <a:ext cx="0" cy="206"/>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6" name="Line 50">
              <a:extLst>
                <a:ext uri="{FF2B5EF4-FFF2-40B4-BE49-F238E27FC236}">
                  <a16:creationId xmlns:a16="http://schemas.microsoft.com/office/drawing/2014/main" id="{0E0E1FC0-035C-9D3E-5FA3-522D8FE5B3D6}"/>
                </a:ext>
              </a:extLst>
            </p:cNvPr>
            <p:cNvSpPr>
              <a:spLocks noChangeShapeType="1"/>
            </p:cNvSpPr>
            <p:nvPr/>
          </p:nvSpPr>
          <p:spPr bwMode="auto">
            <a:xfrm>
              <a:off x="2113" y="1543"/>
              <a:ext cx="0" cy="162"/>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7" name="Line 51">
              <a:extLst>
                <a:ext uri="{FF2B5EF4-FFF2-40B4-BE49-F238E27FC236}">
                  <a16:creationId xmlns:a16="http://schemas.microsoft.com/office/drawing/2014/main" id="{6122FAE3-6199-3E5A-8B6E-A87193120B70}"/>
                </a:ext>
              </a:extLst>
            </p:cNvPr>
            <p:cNvSpPr>
              <a:spLocks noChangeShapeType="1"/>
            </p:cNvSpPr>
            <p:nvPr/>
          </p:nvSpPr>
          <p:spPr bwMode="auto">
            <a:xfrm flipV="1">
              <a:off x="664" y="1532"/>
              <a:ext cx="1420" cy="17"/>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8" name="Line 52">
              <a:extLst>
                <a:ext uri="{FF2B5EF4-FFF2-40B4-BE49-F238E27FC236}">
                  <a16:creationId xmlns:a16="http://schemas.microsoft.com/office/drawing/2014/main" id="{75F65C57-B922-3146-C6C4-7462D55ACF8E}"/>
                </a:ext>
              </a:extLst>
            </p:cNvPr>
            <p:cNvSpPr>
              <a:spLocks noChangeShapeType="1"/>
            </p:cNvSpPr>
            <p:nvPr/>
          </p:nvSpPr>
          <p:spPr bwMode="auto">
            <a:xfrm>
              <a:off x="655" y="1574"/>
              <a:ext cx="0" cy="169"/>
            </a:xfrm>
            <a:prstGeom prst="line">
              <a:avLst/>
            </a:prstGeom>
            <a:noFill/>
            <a:ln w="50800">
              <a:solidFill>
                <a:srgbClr val="EE3228"/>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pPr marL="285750" indent="-285750">
                <a:buClr>
                  <a:schemeClr val="tx1"/>
                </a:buClr>
                <a:buSzPct val="90000"/>
                <a:buFont typeface="Arial" panose="020B0604020202020204" pitchFamily="34" charset="0"/>
                <a:buChar char="•"/>
              </a:pPr>
              <a:endParaRPr lang="en-US" sz="1399">
                <a:solidFill>
                  <a:srgbClr val="191C25"/>
                </a:solidFill>
                <a:latin typeface="Roboto" panose="02000000000000000000"/>
              </a:endParaRPr>
            </a:p>
          </p:txBody>
        </p:sp>
        <p:sp>
          <p:nvSpPr>
            <p:cNvPr id="49" name="AutoShape 53" descr="Light upward diagonal">
              <a:extLst>
                <a:ext uri="{FF2B5EF4-FFF2-40B4-BE49-F238E27FC236}">
                  <a16:creationId xmlns:a16="http://schemas.microsoft.com/office/drawing/2014/main" id="{44E68A1E-0CB2-EEE3-706D-9BF4CD1731AA}"/>
                </a:ext>
              </a:extLst>
            </p:cNvPr>
            <p:cNvSpPr>
              <a:spLocks noChangeArrowheads="1"/>
            </p:cNvSpPr>
            <p:nvPr/>
          </p:nvSpPr>
          <p:spPr bwMode="auto">
            <a:xfrm flipH="1">
              <a:off x="2626" y="1457"/>
              <a:ext cx="240" cy="144"/>
            </a:xfrm>
            <a:prstGeom prst="flowChartPunchedCard">
              <a:avLst/>
            </a:prstGeom>
            <a:pattFill prst="ltUpDiag">
              <a:fgClr>
                <a:schemeClr val="tx1"/>
              </a:fgClr>
              <a:bgClr>
                <a:schemeClr val="bg1"/>
              </a:bgClr>
            </a:pattFill>
            <a:ln w="5080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buClr>
                  <a:schemeClr val="tx1"/>
                </a:buClr>
                <a:buSzPct val="90000"/>
                <a:buFont typeface="Arial" panose="020B0604020202020204" pitchFamily="34" charset="0"/>
                <a:buChar char="•"/>
              </a:pPr>
              <a:endParaRPr lang="en-US" altLang="en-US" sz="450">
                <a:solidFill>
                  <a:srgbClr val="191C25"/>
                </a:solidFill>
                <a:latin typeface="Roboto" panose="02000000000000000000"/>
              </a:endParaRPr>
            </a:p>
          </p:txBody>
        </p:sp>
        <p:sp>
          <p:nvSpPr>
            <p:cNvPr id="50" name="AutoShape 54">
              <a:extLst>
                <a:ext uri="{FF2B5EF4-FFF2-40B4-BE49-F238E27FC236}">
                  <a16:creationId xmlns:a16="http://schemas.microsoft.com/office/drawing/2014/main" id="{96603E0F-0FB9-95D8-0BCE-ECF768B9D71F}"/>
                </a:ext>
              </a:extLst>
            </p:cNvPr>
            <p:cNvSpPr>
              <a:spLocks noChangeArrowheads="1"/>
            </p:cNvSpPr>
            <p:nvPr/>
          </p:nvSpPr>
          <p:spPr bwMode="auto">
            <a:xfrm flipH="1">
              <a:off x="1271" y="1462"/>
              <a:ext cx="240" cy="144"/>
            </a:xfrm>
            <a:prstGeom prst="flowChartPunchedCard">
              <a:avLst/>
            </a:prstGeom>
            <a:solidFill>
              <a:schemeClr val="bg1"/>
            </a:solidFill>
            <a:ln w="5080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buClr>
                  <a:schemeClr val="tx1"/>
                </a:buClr>
                <a:buSzPct val="90000"/>
                <a:buFont typeface="Arial" panose="020B0604020202020204" pitchFamily="34" charset="0"/>
                <a:buChar char="•"/>
              </a:pPr>
              <a:endParaRPr lang="en-US" altLang="en-US" sz="450">
                <a:solidFill>
                  <a:srgbClr val="191C25"/>
                </a:solidFill>
                <a:latin typeface="Roboto" panose="02000000000000000000"/>
              </a:endParaRPr>
            </a:p>
          </p:txBody>
        </p:sp>
        <p:sp>
          <p:nvSpPr>
            <p:cNvPr id="52" name="Text Box 58">
              <a:extLst>
                <a:ext uri="{FF2B5EF4-FFF2-40B4-BE49-F238E27FC236}">
                  <a16:creationId xmlns:a16="http://schemas.microsoft.com/office/drawing/2014/main" id="{41D1D462-24A3-D57D-4066-6E4D138F577E}"/>
                </a:ext>
              </a:extLst>
            </p:cNvPr>
            <p:cNvSpPr txBox="1">
              <a:spLocks noChangeArrowheads="1"/>
            </p:cNvSpPr>
            <p:nvPr/>
          </p:nvSpPr>
          <p:spPr bwMode="auto">
            <a:xfrm>
              <a:off x="290" y="2621"/>
              <a:ext cx="3025" cy="1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0"/>
                </a:spcBef>
                <a:buClr>
                  <a:schemeClr val="tx1"/>
                </a:buClr>
                <a:buSzPct val="90000"/>
                <a:buFont typeface="Arial" panose="020B0604020202020204" pitchFamily="34" charset="0"/>
                <a:buChar char="•"/>
              </a:pPr>
              <a:r>
                <a:rPr lang="en-US" altLang="en-US" sz="1600" u="sng" dirty="0">
                  <a:solidFill>
                    <a:srgbClr val="191C25"/>
                  </a:solidFill>
                  <a:latin typeface="Roboto" panose="02000000000000000000"/>
                </a:rPr>
                <a:t>Supermarket</a:t>
              </a:r>
            </a:p>
            <a:p>
              <a:pPr marL="285750" indent="-285750" algn="l">
                <a:spcBef>
                  <a:spcPct val="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Located at </a:t>
              </a:r>
              <a:r>
                <a:rPr lang="en-US" altLang="en-US" sz="1400" b="0" u="sng" dirty="0">
                  <a:solidFill>
                    <a:srgbClr val="191C25"/>
                  </a:solidFill>
                  <a:latin typeface="Roboto" panose="02000000000000000000"/>
                </a:rPr>
                <a:t>producing</a:t>
              </a:r>
              <a:r>
                <a:rPr lang="en-US" altLang="en-US" sz="1400" b="0" dirty="0">
                  <a:solidFill>
                    <a:srgbClr val="191C25"/>
                  </a:solidFill>
                  <a:latin typeface="Roboto" panose="02000000000000000000"/>
                </a:rPr>
                <a:t> process</a:t>
              </a:r>
            </a:p>
            <a:p>
              <a:pPr marL="285750" indent="-285750" algn="l">
                <a:spcBef>
                  <a:spcPct val="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Contains more than one part #</a:t>
              </a:r>
            </a:p>
            <a:p>
              <a:pPr marL="285750" indent="-285750" algn="l">
                <a:spcBef>
                  <a:spcPct val="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On-hand quantities to stock for each part determined by forecast</a:t>
              </a:r>
            </a:p>
            <a:p>
              <a:pPr marL="285750" indent="-285750" algn="l">
                <a:spcBef>
                  <a:spcPct val="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Inventory level for each part is controlled by </a:t>
              </a:r>
              <a:r>
                <a:rPr lang="en-US" altLang="en-US" sz="1400" b="0" dirty="0" err="1">
                  <a:solidFill>
                    <a:srgbClr val="191C25"/>
                  </a:solidFill>
                  <a:latin typeface="Roboto" panose="02000000000000000000"/>
                </a:rPr>
                <a:t>kanban</a:t>
              </a:r>
              <a:endParaRPr lang="en-US" altLang="en-US" sz="1400" b="0" dirty="0">
                <a:solidFill>
                  <a:srgbClr val="191C25"/>
                </a:solidFill>
                <a:latin typeface="Roboto" panose="02000000000000000000"/>
              </a:endParaRPr>
            </a:p>
            <a:p>
              <a:pPr marL="285750" indent="-285750" algn="l">
                <a:spcBef>
                  <a:spcPct val="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Parts are replenished only when withdrawn from the supermarket by the </a:t>
              </a:r>
              <a:r>
                <a:rPr lang="en-US" altLang="en-US" sz="1400" b="0" u="sng" dirty="0">
                  <a:solidFill>
                    <a:srgbClr val="191C25"/>
                  </a:solidFill>
                  <a:latin typeface="Roboto" panose="02000000000000000000"/>
                </a:rPr>
                <a:t>consuming</a:t>
              </a:r>
              <a:r>
                <a:rPr lang="en-US" altLang="en-US" sz="1400" b="0" dirty="0">
                  <a:solidFill>
                    <a:srgbClr val="191C25"/>
                  </a:solidFill>
                  <a:latin typeface="Roboto" panose="02000000000000000000"/>
                </a:rPr>
                <a:t> process</a:t>
              </a:r>
            </a:p>
          </p:txBody>
        </p:sp>
      </p:grpSp>
      <p:sp>
        <p:nvSpPr>
          <p:cNvPr id="67" name="Line 9">
            <a:extLst>
              <a:ext uri="{FF2B5EF4-FFF2-40B4-BE49-F238E27FC236}">
                <a16:creationId xmlns:a16="http://schemas.microsoft.com/office/drawing/2014/main" id="{043ED5DB-1B22-7C80-F6AB-A7E525F2D54E}"/>
              </a:ext>
            </a:extLst>
          </p:cNvPr>
          <p:cNvSpPr>
            <a:spLocks noChangeShapeType="1"/>
          </p:cNvSpPr>
          <p:nvPr/>
        </p:nvSpPr>
        <p:spPr bwMode="auto">
          <a:xfrm flipV="1">
            <a:off x="6689432" y="3878254"/>
            <a:ext cx="3077779" cy="6691"/>
          </a:xfrm>
          <a:prstGeom prst="line">
            <a:avLst/>
          </a:prstGeom>
          <a:noFill/>
          <a:ln w="28575" cap="sq">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191C25"/>
              </a:solidFill>
              <a:latin typeface="Roboto" panose="02000000000000000000"/>
            </a:endParaRPr>
          </a:p>
        </p:txBody>
      </p:sp>
      <p:sp>
        <p:nvSpPr>
          <p:cNvPr id="68" name="Text Box 10">
            <a:extLst>
              <a:ext uri="{FF2B5EF4-FFF2-40B4-BE49-F238E27FC236}">
                <a16:creationId xmlns:a16="http://schemas.microsoft.com/office/drawing/2014/main" id="{67FDE582-7B65-A107-F76C-461A7E466655}"/>
              </a:ext>
            </a:extLst>
          </p:cNvPr>
          <p:cNvSpPr txBox="1">
            <a:spLocks noChangeArrowheads="1"/>
          </p:cNvSpPr>
          <p:nvPr/>
        </p:nvSpPr>
        <p:spPr bwMode="auto">
          <a:xfrm>
            <a:off x="7674390" y="3899282"/>
            <a:ext cx="5549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spcBef>
                <a:spcPct val="30000"/>
              </a:spcBef>
              <a:buClr>
                <a:schemeClr val="accent2"/>
              </a:buClr>
              <a:buSzPct val="90000"/>
            </a:pPr>
            <a:r>
              <a:rPr lang="en-US" altLang="en-US" sz="1400" b="0" dirty="0">
                <a:solidFill>
                  <a:srgbClr val="191C25"/>
                </a:solidFill>
                <a:latin typeface="Roboto" panose="02000000000000000000"/>
              </a:rPr>
              <a:t>FIFO</a:t>
            </a:r>
          </a:p>
        </p:txBody>
      </p:sp>
      <p:sp>
        <p:nvSpPr>
          <p:cNvPr id="69" name="Text Box 11">
            <a:extLst>
              <a:ext uri="{FF2B5EF4-FFF2-40B4-BE49-F238E27FC236}">
                <a16:creationId xmlns:a16="http://schemas.microsoft.com/office/drawing/2014/main" id="{4FD7D7A5-A142-ACDE-6A7F-2DB4AE2E9AD7}"/>
              </a:ext>
            </a:extLst>
          </p:cNvPr>
          <p:cNvSpPr txBox="1">
            <a:spLocks noChangeArrowheads="1"/>
          </p:cNvSpPr>
          <p:nvPr/>
        </p:nvSpPr>
        <p:spPr bwMode="auto">
          <a:xfrm>
            <a:off x="7529292" y="3375943"/>
            <a:ext cx="10903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spcBef>
                <a:spcPct val="30000"/>
              </a:spcBef>
              <a:buClr>
                <a:schemeClr val="accent2"/>
              </a:buClr>
              <a:buSzPct val="90000"/>
            </a:pPr>
            <a:r>
              <a:rPr lang="en-US" altLang="en-US" sz="1200" b="0" dirty="0">
                <a:solidFill>
                  <a:srgbClr val="191C25"/>
                </a:solidFill>
                <a:latin typeface="Roboto" panose="02000000000000000000"/>
              </a:rPr>
              <a:t>Max 5 pieces</a:t>
            </a:r>
          </a:p>
        </p:txBody>
      </p:sp>
      <p:sp>
        <p:nvSpPr>
          <p:cNvPr id="70" name="Rectangle 13">
            <a:extLst>
              <a:ext uri="{FF2B5EF4-FFF2-40B4-BE49-F238E27FC236}">
                <a16:creationId xmlns:a16="http://schemas.microsoft.com/office/drawing/2014/main" id="{D1899EEC-4EA0-AAE6-CC22-8B55D2FBB85A}"/>
              </a:ext>
            </a:extLst>
          </p:cNvPr>
          <p:cNvSpPr>
            <a:spLocks noChangeArrowheads="1"/>
          </p:cNvSpPr>
          <p:nvPr/>
        </p:nvSpPr>
        <p:spPr bwMode="auto">
          <a:xfrm>
            <a:off x="6781612" y="3666055"/>
            <a:ext cx="484797" cy="292485"/>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buClr>
                <a:schemeClr val="accent1"/>
              </a:buClr>
              <a:buSzPct val="90000"/>
            </a:pPr>
            <a:r>
              <a:rPr lang="en-US" altLang="en-US" sz="1000" b="0" dirty="0">
                <a:solidFill>
                  <a:srgbClr val="191C25"/>
                </a:solidFill>
                <a:latin typeface="Roboto" panose="02000000000000000000"/>
              </a:rPr>
              <a:t>Order</a:t>
            </a:r>
          </a:p>
          <a:p>
            <a:pPr>
              <a:lnSpc>
                <a:spcPct val="100000"/>
              </a:lnSpc>
              <a:spcBef>
                <a:spcPct val="0"/>
              </a:spcBef>
              <a:buClr>
                <a:schemeClr val="accent1"/>
              </a:buClr>
              <a:buSzPct val="90000"/>
            </a:pPr>
            <a:r>
              <a:rPr lang="en-US" altLang="en-US" sz="1000" b="0" dirty="0">
                <a:solidFill>
                  <a:srgbClr val="191C25"/>
                </a:solidFill>
                <a:latin typeface="Roboto" panose="02000000000000000000"/>
              </a:rPr>
              <a:t>#5</a:t>
            </a:r>
          </a:p>
        </p:txBody>
      </p:sp>
      <p:sp>
        <p:nvSpPr>
          <p:cNvPr id="71" name="Rectangle 14">
            <a:extLst>
              <a:ext uri="{FF2B5EF4-FFF2-40B4-BE49-F238E27FC236}">
                <a16:creationId xmlns:a16="http://schemas.microsoft.com/office/drawing/2014/main" id="{41F1EFEC-4D02-CE62-15FB-070E41B4B229}"/>
              </a:ext>
            </a:extLst>
          </p:cNvPr>
          <p:cNvSpPr>
            <a:spLocks noChangeArrowheads="1"/>
          </p:cNvSpPr>
          <p:nvPr/>
        </p:nvSpPr>
        <p:spPr bwMode="auto">
          <a:xfrm>
            <a:off x="7355175" y="3667011"/>
            <a:ext cx="484797" cy="292485"/>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buClr>
                <a:schemeClr val="accent1"/>
              </a:buClr>
              <a:buSzPct val="90000"/>
            </a:pPr>
            <a:r>
              <a:rPr lang="en-US" altLang="en-US" sz="1000" b="0">
                <a:solidFill>
                  <a:srgbClr val="191C25"/>
                </a:solidFill>
                <a:latin typeface="Roboto" panose="02000000000000000000"/>
              </a:rPr>
              <a:t>Order</a:t>
            </a:r>
          </a:p>
          <a:p>
            <a:pPr>
              <a:lnSpc>
                <a:spcPct val="100000"/>
              </a:lnSpc>
              <a:spcBef>
                <a:spcPct val="0"/>
              </a:spcBef>
              <a:buClr>
                <a:schemeClr val="accent1"/>
              </a:buClr>
              <a:buSzPct val="90000"/>
            </a:pPr>
            <a:r>
              <a:rPr lang="en-US" altLang="en-US" sz="1000" b="0">
                <a:solidFill>
                  <a:srgbClr val="191C25"/>
                </a:solidFill>
                <a:latin typeface="Roboto" panose="02000000000000000000"/>
              </a:rPr>
              <a:t>#4</a:t>
            </a:r>
          </a:p>
        </p:txBody>
      </p:sp>
      <p:sp>
        <p:nvSpPr>
          <p:cNvPr id="72" name="Rectangle 15">
            <a:extLst>
              <a:ext uri="{FF2B5EF4-FFF2-40B4-BE49-F238E27FC236}">
                <a16:creationId xmlns:a16="http://schemas.microsoft.com/office/drawing/2014/main" id="{9C1FFE28-13AD-1B22-EE5C-669DE0640FF3}"/>
              </a:ext>
            </a:extLst>
          </p:cNvPr>
          <p:cNvSpPr>
            <a:spLocks noChangeArrowheads="1"/>
          </p:cNvSpPr>
          <p:nvPr/>
        </p:nvSpPr>
        <p:spPr bwMode="auto">
          <a:xfrm>
            <a:off x="7930445" y="3667967"/>
            <a:ext cx="484797" cy="292485"/>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buClr>
                <a:schemeClr val="accent1"/>
              </a:buClr>
              <a:buSzPct val="90000"/>
            </a:pPr>
            <a:r>
              <a:rPr lang="en-US" altLang="en-US" sz="1000" b="0">
                <a:solidFill>
                  <a:srgbClr val="191C25"/>
                </a:solidFill>
                <a:latin typeface="Roboto" panose="02000000000000000000"/>
              </a:rPr>
              <a:t>Order</a:t>
            </a:r>
          </a:p>
          <a:p>
            <a:pPr>
              <a:lnSpc>
                <a:spcPct val="100000"/>
              </a:lnSpc>
              <a:spcBef>
                <a:spcPct val="0"/>
              </a:spcBef>
              <a:buClr>
                <a:schemeClr val="accent1"/>
              </a:buClr>
              <a:buSzPct val="90000"/>
            </a:pPr>
            <a:r>
              <a:rPr lang="en-US" altLang="en-US" sz="1000" b="0">
                <a:solidFill>
                  <a:srgbClr val="191C25"/>
                </a:solidFill>
                <a:latin typeface="Roboto" panose="02000000000000000000"/>
              </a:rPr>
              <a:t>#3</a:t>
            </a:r>
          </a:p>
        </p:txBody>
      </p:sp>
      <p:sp>
        <p:nvSpPr>
          <p:cNvPr id="73" name="Rectangle 16">
            <a:extLst>
              <a:ext uri="{FF2B5EF4-FFF2-40B4-BE49-F238E27FC236}">
                <a16:creationId xmlns:a16="http://schemas.microsoft.com/office/drawing/2014/main" id="{6D7E49CA-2DFC-C8FE-87DB-27777A21A5B3}"/>
              </a:ext>
            </a:extLst>
          </p:cNvPr>
          <p:cNvSpPr>
            <a:spLocks noChangeArrowheads="1"/>
          </p:cNvSpPr>
          <p:nvPr/>
        </p:nvSpPr>
        <p:spPr bwMode="auto">
          <a:xfrm>
            <a:off x="8507422" y="3668923"/>
            <a:ext cx="484797" cy="292485"/>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buClr>
                <a:schemeClr val="accent1"/>
              </a:buClr>
              <a:buSzPct val="90000"/>
            </a:pPr>
            <a:r>
              <a:rPr lang="en-US" altLang="en-US" sz="1000" b="0">
                <a:solidFill>
                  <a:srgbClr val="191C25"/>
                </a:solidFill>
                <a:latin typeface="Roboto" panose="02000000000000000000"/>
              </a:rPr>
              <a:t>Order</a:t>
            </a:r>
          </a:p>
          <a:p>
            <a:pPr>
              <a:lnSpc>
                <a:spcPct val="100000"/>
              </a:lnSpc>
              <a:spcBef>
                <a:spcPct val="0"/>
              </a:spcBef>
              <a:buClr>
                <a:schemeClr val="accent1"/>
              </a:buClr>
              <a:buSzPct val="90000"/>
            </a:pPr>
            <a:r>
              <a:rPr lang="en-US" altLang="en-US" sz="1000" b="0">
                <a:solidFill>
                  <a:srgbClr val="191C25"/>
                </a:solidFill>
                <a:latin typeface="Roboto" panose="02000000000000000000"/>
              </a:rPr>
              <a:t>#2</a:t>
            </a:r>
          </a:p>
        </p:txBody>
      </p:sp>
      <p:sp>
        <p:nvSpPr>
          <p:cNvPr id="74" name="Rectangle 17">
            <a:extLst>
              <a:ext uri="{FF2B5EF4-FFF2-40B4-BE49-F238E27FC236}">
                <a16:creationId xmlns:a16="http://schemas.microsoft.com/office/drawing/2014/main" id="{A3F1A990-B790-5233-D2BC-046351B3A01D}"/>
              </a:ext>
            </a:extLst>
          </p:cNvPr>
          <p:cNvSpPr>
            <a:spLocks noChangeArrowheads="1"/>
          </p:cNvSpPr>
          <p:nvPr/>
        </p:nvSpPr>
        <p:spPr bwMode="auto">
          <a:xfrm>
            <a:off x="9080985" y="3669878"/>
            <a:ext cx="484797" cy="292485"/>
          </a:xfrm>
          <a:prstGeom prst="rect">
            <a:avLst/>
          </a:prstGeom>
          <a:solidFill>
            <a:schemeClr val="accent3"/>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buClr>
                <a:schemeClr val="accent1"/>
              </a:buClr>
              <a:buSzPct val="90000"/>
            </a:pPr>
            <a:r>
              <a:rPr lang="en-US" altLang="en-US" sz="1000" b="0" dirty="0">
                <a:solidFill>
                  <a:srgbClr val="191C25"/>
                </a:solidFill>
                <a:latin typeface="Roboto" panose="02000000000000000000"/>
              </a:rPr>
              <a:t>Order</a:t>
            </a:r>
          </a:p>
          <a:p>
            <a:pPr>
              <a:lnSpc>
                <a:spcPct val="100000"/>
              </a:lnSpc>
              <a:spcBef>
                <a:spcPct val="0"/>
              </a:spcBef>
              <a:buClr>
                <a:schemeClr val="accent1"/>
              </a:buClr>
              <a:buSzPct val="90000"/>
            </a:pPr>
            <a:r>
              <a:rPr lang="en-US" altLang="en-US" sz="1000" b="0" dirty="0">
                <a:solidFill>
                  <a:srgbClr val="191C25"/>
                </a:solidFill>
                <a:latin typeface="Roboto" panose="02000000000000000000"/>
              </a:rPr>
              <a:t>#1</a:t>
            </a:r>
          </a:p>
        </p:txBody>
      </p:sp>
      <p:sp>
        <p:nvSpPr>
          <p:cNvPr id="75" name="Line 18">
            <a:extLst>
              <a:ext uri="{FF2B5EF4-FFF2-40B4-BE49-F238E27FC236}">
                <a16:creationId xmlns:a16="http://schemas.microsoft.com/office/drawing/2014/main" id="{C10763B2-2560-F405-537E-C2456B836E25}"/>
              </a:ext>
            </a:extLst>
          </p:cNvPr>
          <p:cNvSpPr>
            <a:spLocks noChangeShapeType="1"/>
          </p:cNvSpPr>
          <p:nvPr/>
        </p:nvSpPr>
        <p:spPr bwMode="auto">
          <a:xfrm>
            <a:off x="6665534" y="3621131"/>
            <a:ext cx="3077779" cy="0"/>
          </a:xfrm>
          <a:prstGeom prst="line">
            <a:avLst/>
          </a:prstGeom>
          <a:noFill/>
          <a:ln w="28575" cap="sq">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191C25"/>
              </a:solidFill>
              <a:latin typeface="Roboto" panose="02000000000000000000"/>
            </a:endParaRPr>
          </a:p>
        </p:txBody>
      </p:sp>
      <p:grpSp>
        <p:nvGrpSpPr>
          <p:cNvPr id="76" name="Group 19">
            <a:extLst>
              <a:ext uri="{FF2B5EF4-FFF2-40B4-BE49-F238E27FC236}">
                <a16:creationId xmlns:a16="http://schemas.microsoft.com/office/drawing/2014/main" id="{05BF74C2-501F-512A-6F45-D86008789EB8}"/>
              </a:ext>
            </a:extLst>
          </p:cNvPr>
          <p:cNvGrpSpPr>
            <a:grpSpLocks/>
          </p:cNvGrpSpPr>
          <p:nvPr/>
        </p:nvGrpSpPr>
        <p:grpSpPr bwMode="auto">
          <a:xfrm>
            <a:off x="10104083" y="3484444"/>
            <a:ext cx="1157775" cy="716886"/>
            <a:chOff x="2433" y="2384"/>
            <a:chExt cx="561" cy="768"/>
          </a:xfrm>
        </p:grpSpPr>
        <p:grpSp>
          <p:nvGrpSpPr>
            <p:cNvPr id="78" name="Group 20">
              <a:extLst>
                <a:ext uri="{FF2B5EF4-FFF2-40B4-BE49-F238E27FC236}">
                  <a16:creationId xmlns:a16="http://schemas.microsoft.com/office/drawing/2014/main" id="{E8DAF797-E115-9AF8-31C4-02B5C95333ED}"/>
                </a:ext>
              </a:extLst>
            </p:cNvPr>
            <p:cNvGrpSpPr>
              <a:grpSpLocks/>
            </p:cNvGrpSpPr>
            <p:nvPr/>
          </p:nvGrpSpPr>
          <p:grpSpPr bwMode="auto">
            <a:xfrm>
              <a:off x="2433" y="2396"/>
              <a:ext cx="561" cy="756"/>
              <a:chOff x="1284" y="2982"/>
              <a:chExt cx="456" cy="756"/>
            </a:xfrm>
          </p:grpSpPr>
          <p:sp>
            <p:nvSpPr>
              <p:cNvPr id="84" name="Rectangle 21">
                <a:extLst>
                  <a:ext uri="{FF2B5EF4-FFF2-40B4-BE49-F238E27FC236}">
                    <a16:creationId xmlns:a16="http://schemas.microsoft.com/office/drawing/2014/main" id="{AE3B31CB-B511-C5C2-8CC8-8F44CB16CF34}"/>
                  </a:ext>
                </a:extLst>
              </p:cNvPr>
              <p:cNvSpPr>
                <a:spLocks noChangeArrowheads="1"/>
              </p:cNvSpPr>
              <p:nvPr/>
            </p:nvSpPr>
            <p:spPr bwMode="auto">
              <a:xfrm>
                <a:off x="1284" y="2982"/>
                <a:ext cx="456" cy="7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sz="450">
                  <a:solidFill>
                    <a:srgbClr val="191C25"/>
                  </a:solidFill>
                  <a:latin typeface="Roboto" panose="02000000000000000000"/>
                </a:endParaRPr>
              </a:p>
            </p:txBody>
          </p:sp>
          <p:sp>
            <p:nvSpPr>
              <p:cNvPr id="85" name="Line 22">
                <a:extLst>
                  <a:ext uri="{FF2B5EF4-FFF2-40B4-BE49-F238E27FC236}">
                    <a16:creationId xmlns:a16="http://schemas.microsoft.com/office/drawing/2014/main" id="{FD098480-8447-BB3F-C9EA-435F950ED446}"/>
                  </a:ext>
                </a:extLst>
              </p:cNvPr>
              <p:cNvSpPr>
                <a:spLocks noChangeShapeType="1"/>
              </p:cNvSpPr>
              <p:nvPr/>
            </p:nvSpPr>
            <p:spPr bwMode="auto">
              <a:xfrm>
                <a:off x="1284" y="3208"/>
                <a:ext cx="456" cy="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dirty="0">
                  <a:solidFill>
                    <a:srgbClr val="191C25"/>
                  </a:solidFill>
                  <a:latin typeface="Roboto" panose="02000000000000000000"/>
                </a:endParaRPr>
              </a:p>
            </p:txBody>
          </p:sp>
        </p:grpSp>
        <p:grpSp>
          <p:nvGrpSpPr>
            <p:cNvPr id="79" name="Group 23">
              <a:extLst>
                <a:ext uri="{FF2B5EF4-FFF2-40B4-BE49-F238E27FC236}">
                  <a16:creationId xmlns:a16="http://schemas.microsoft.com/office/drawing/2014/main" id="{C017B8BE-879A-E026-9855-968FF6ADC789}"/>
                </a:ext>
              </a:extLst>
            </p:cNvPr>
            <p:cNvGrpSpPr>
              <a:grpSpLocks/>
            </p:cNvGrpSpPr>
            <p:nvPr/>
          </p:nvGrpSpPr>
          <p:grpSpPr bwMode="auto">
            <a:xfrm flipV="1">
              <a:off x="2586" y="2623"/>
              <a:ext cx="118" cy="219"/>
              <a:chOff x="2953" y="3094"/>
              <a:chExt cx="235" cy="387"/>
            </a:xfrm>
          </p:grpSpPr>
          <p:sp>
            <p:nvSpPr>
              <p:cNvPr id="82" name="Oval 24">
                <a:extLst>
                  <a:ext uri="{FF2B5EF4-FFF2-40B4-BE49-F238E27FC236}">
                    <a16:creationId xmlns:a16="http://schemas.microsoft.com/office/drawing/2014/main" id="{6E7A1009-AFF7-6117-AE0B-C70A9B884EDF}"/>
                  </a:ext>
                </a:extLst>
              </p:cNvPr>
              <p:cNvSpPr>
                <a:spLocks noChangeArrowheads="1"/>
              </p:cNvSpPr>
              <p:nvPr/>
            </p:nvSpPr>
            <p:spPr bwMode="auto">
              <a:xfrm>
                <a:off x="3010" y="3235"/>
                <a:ext cx="117" cy="188"/>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sz="450">
                  <a:solidFill>
                    <a:srgbClr val="191C25"/>
                  </a:solidFill>
                  <a:latin typeface="Roboto" panose="02000000000000000000"/>
                </a:endParaRPr>
              </a:p>
            </p:txBody>
          </p:sp>
          <p:sp>
            <p:nvSpPr>
              <p:cNvPr id="83" name="AutoShape 25">
                <a:extLst>
                  <a:ext uri="{FF2B5EF4-FFF2-40B4-BE49-F238E27FC236}">
                    <a16:creationId xmlns:a16="http://schemas.microsoft.com/office/drawing/2014/main" id="{84106AE4-AB3C-54BE-A7B6-FACD63538EE0}"/>
                  </a:ext>
                </a:extLst>
              </p:cNvPr>
              <p:cNvSpPr>
                <a:spLocks noChangeArrowheads="1"/>
              </p:cNvSpPr>
              <p:nvPr/>
            </p:nvSpPr>
            <p:spPr bwMode="auto">
              <a:xfrm>
                <a:off x="2953" y="3094"/>
                <a:ext cx="235" cy="38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sz="1399">
                  <a:solidFill>
                    <a:srgbClr val="191C25"/>
                  </a:solidFill>
                  <a:latin typeface="Roboto" panose="02000000000000000000"/>
                </a:endParaRPr>
              </a:p>
            </p:txBody>
          </p:sp>
        </p:grpSp>
        <p:sp>
          <p:nvSpPr>
            <p:cNvPr id="80" name="Text Box 26">
              <a:extLst>
                <a:ext uri="{FF2B5EF4-FFF2-40B4-BE49-F238E27FC236}">
                  <a16:creationId xmlns:a16="http://schemas.microsoft.com/office/drawing/2014/main" id="{6B553E61-7701-E4E9-B19D-821DEF7E82D5}"/>
                </a:ext>
              </a:extLst>
            </p:cNvPr>
            <p:cNvSpPr txBox="1">
              <a:spLocks noChangeArrowheads="1"/>
            </p:cNvSpPr>
            <p:nvPr/>
          </p:nvSpPr>
          <p:spPr bwMode="auto">
            <a:xfrm>
              <a:off x="2680" y="2629"/>
              <a:ext cx="207"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sz="1200" b="0" dirty="0">
                  <a:solidFill>
                    <a:srgbClr val="191C25"/>
                  </a:solidFill>
                  <a:latin typeface="Roboto" panose="02000000000000000000"/>
                </a:rPr>
                <a:t>= 2</a:t>
              </a:r>
            </a:p>
          </p:txBody>
        </p:sp>
        <p:sp>
          <p:nvSpPr>
            <p:cNvPr id="81" name="Text Box 27">
              <a:extLst>
                <a:ext uri="{FF2B5EF4-FFF2-40B4-BE49-F238E27FC236}">
                  <a16:creationId xmlns:a16="http://schemas.microsoft.com/office/drawing/2014/main" id="{EC481FBC-85FB-520F-A987-2D3571B7C562}"/>
                </a:ext>
              </a:extLst>
            </p:cNvPr>
            <p:cNvSpPr txBox="1">
              <a:spLocks noChangeArrowheads="1"/>
            </p:cNvSpPr>
            <p:nvPr/>
          </p:nvSpPr>
          <p:spPr bwMode="auto">
            <a:xfrm>
              <a:off x="2515" y="2384"/>
              <a:ext cx="407"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sz="1100" b="0" dirty="0">
                  <a:solidFill>
                    <a:srgbClr val="191C25"/>
                  </a:solidFill>
                  <a:latin typeface="Roboto" panose="02000000000000000000"/>
                </a:rPr>
                <a:t>Assemble</a:t>
              </a:r>
            </a:p>
          </p:txBody>
        </p:sp>
      </p:grpSp>
      <p:sp>
        <p:nvSpPr>
          <p:cNvPr id="77" name="Text Box 59">
            <a:extLst>
              <a:ext uri="{FF2B5EF4-FFF2-40B4-BE49-F238E27FC236}">
                <a16:creationId xmlns:a16="http://schemas.microsoft.com/office/drawing/2014/main" id="{FB40BEE2-E457-D661-A509-04550B18CEFA}"/>
              </a:ext>
            </a:extLst>
          </p:cNvPr>
          <p:cNvSpPr txBox="1">
            <a:spLocks noChangeArrowheads="1"/>
          </p:cNvSpPr>
          <p:nvPr/>
        </p:nvSpPr>
        <p:spPr bwMode="auto">
          <a:xfrm>
            <a:off x="7411507" y="4201330"/>
            <a:ext cx="4433163" cy="1969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spcBef>
                <a:spcPct val="0"/>
              </a:spcBef>
              <a:buClr>
                <a:schemeClr val="tx1"/>
              </a:buClr>
              <a:buSzPct val="90000"/>
              <a:buFont typeface="Arial" panose="020B0604020202020204" pitchFamily="34" charset="0"/>
              <a:buChar char="•"/>
            </a:pPr>
            <a:r>
              <a:rPr lang="en-US" altLang="en-US" sz="1400" u="sng" dirty="0">
                <a:solidFill>
                  <a:srgbClr val="191C25"/>
                </a:solidFill>
                <a:latin typeface="Roboto" panose="02000000000000000000"/>
              </a:rPr>
              <a:t>FIFO Lane</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Located between processes</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Contains more than one part #</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Parts are unique and not interchangeable</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Parts are processed by the consuming process in </a:t>
            </a:r>
            <a:br>
              <a:rPr lang="en-US" altLang="en-US" sz="1200" b="0" dirty="0">
                <a:solidFill>
                  <a:srgbClr val="191C25"/>
                </a:solidFill>
                <a:latin typeface="Roboto" panose="02000000000000000000"/>
              </a:rPr>
            </a:br>
            <a:r>
              <a:rPr lang="en-US" altLang="en-US" sz="1200" b="0" dirty="0">
                <a:solidFill>
                  <a:srgbClr val="191C25"/>
                </a:solidFill>
                <a:latin typeface="Roboto" panose="02000000000000000000"/>
              </a:rPr>
              <a:t>FIFO sequence</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Quantity within the lane limited and controlled</a:t>
            </a:r>
          </a:p>
          <a:p>
            <a:pPr marL="171450" indent="-171450" algn="l">
              <a:spcBef>
                <a:spcPct val="0"/>
              </a:spcBef>
              <a:buClr>
                <a:schemeClr val="tx1"/>
              </a:buClr>
              <a:buSzPct val="90000"/>
              <a:buFont typeface="Arial" panose="020B0604020202020204" pitchFamily="34" charset="0"/>
              <a:buChar char="•"/>
            </a:pPr>
            <a:r>
              <a:rPr lang="en-US" altLang="en-US" sz="1200" b="0" dirty="0">
                <a:solidFill>
                  <a:srgbClr val="191C25"/>
                </a:solidFill>
                <a:latin typeface="Roboto" panose="02000000000000000000"/>
              </a:rPr>
              <a:t>A new part is produced and added into the lane only when one has been withdrawn by the </a:t>
            </a:r>
            <a:br>
              <a:rPr lang="en-US" altLang="en-US" sz="1200" b="0" dirty="0">
                <a:solidFill>
                  <a:srgbClr val="191C25"/>
                </a:solidFill>
                <a:latin typeface="Roboto" panose="02000000000000000000"/>
              </a:rPr>
            </a:br>
            <a:r>
              <a:rPr lang="en-US" altLang="en-US" sz="1200" b="0" u="sng" dirty="0">
                <a:solidFill>
                  <a:srgbClr val="191C25"/>
                </a:solidFill>
                <a:latin typeface="Roboto" panose="02000000000000000000"/>
              </a:rPr>
              <a:t>consuming</a:t>
            </a:r>
            <a:r>
              <a:rPr lang="en-US" altLang="en-US" sz="1200" b="0" dirty="0">
                <a:solidFill>
                  <a:srgbClr val="191C25"/>
                </a:solidFill>
                <a:latin typeface="Roboto" panose="02000000000000000000"/>
              </a:rPr>
              <a:t> process</a:t>
            </a:r>
          </a:p>
        </p:txBody>
      </p:sp>
      <p:sp>
        <p:nvSpPr>
          <p:cNvPr id="86" name="Text Box 60">
            <a:extLst>
              <a:ext uri="{FF2B5EF4-FFF2-40B4-BE49-F238E27FC236}">
                <a16:creationId xmlns:a16="http://schemas.microsoft.com/office/drawing/2014/main" id="{26C58644-E335-2669-8311-9EA79777A458}"/>
              </a:ext>
            </a:extLst>
          </p:cNvPr>
          <p:cNvSpPr txBox="1">
            <a:spLocks noChangeArrowheads="1"/>
          </p:cNvSpPr>
          <p:nvPr/>
        </p:nvSpPr>
        <p:spPr bwMode="auto">
          <a:xfrm>
            <a:off x="6468129" y="1690688"/>
            <a:ext cx="4703834"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Customer orders uniquely specify frame type, </a:t>
            </a:r>
            <a:br>
              <a:rPr lang="en-US" altLang="en-US" sz="1400" b="0" dirty="0">
                <a:solidFill>
                  <a:srgbClr val="191C25"/>
                </a:solidFill>
                <a:latin typeface="Roboto" panose="02000000000000000000"/>
              </a:rPr>
            </a:br>
            <a:r>
              <a:rPr lang="en-US" altLang="en-US" sz="1400" b="0" dirty="0">
                <a:solidFill>
                  <a:srgbClr val="191C25"/>
                </a:solidFill>
                <a:latin typeface="Roboto" panose="02000000000000000000"/>
              </a:rPr>
              <a:t>color and options</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Three standard frames are used to make all products</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b="0" dirty="0">
                <a:solidFill>
                  <a:srgbClr val="191C25"/>
                </a:solidFill>
                <a:latin typeface="Roboto" panose="02000000000000000000"/>
              </a:rPr>
              <a:t>Schedule point is at Paint operation where a standard frame is selected, painted to order and then assembled to order</a:t>
            </a:r>
          </a:p>
        </p:txBody>
      </p:sp>
      <p:sp>
        <p:nvSpPr>
          <p:cNvPr id="98" name="Oval 24">
            <a:extLst>
              <a:ext uri="{FF2B5EF4-FFF2-40B4-BE49-F238E27FC236}">
                <a16:creationId xmlns:a16="http://schemas.microsoft.com/office/drawing/2014/main" id="{2EE798F8-E1EC-C35B-EA20-A7BC9B1C6322}"/>
              </a:ext>
            </a:extLst>
          </p:cNvPr>
          <p:cNvSpPr>
            <a:spLocks noChangeArrowheads="1"/>
          </p:cNvSpPr>
          <p:nvPr/>
        </p:nvSpPr>
        <p:spPr bwMode="auto">
          <a:xfrm flipV="1">
            <a:off x="5496732" y="3260052"/>
            <a:ext cx="117425" cy="10057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sz="450">
              <a:solidFill>
                <a:srgbClr val="191C25"/>
              </a:solidFill>
              <a:latin typeface="Roboto" panose="02000000000000000000"/>
            </a:endParaRPr>
          </a:p>
        </p:txBody>
      </p:sp>
      <p:sp>
        <p:nvSpPr>
          <p:cNvPr id="99" name="AutoShape 25">
            <a:extLst>
              <a:ext uri="{FF2B5EF4-FFF2-40B4-BE49-F238E27FC236}">
                <a16:creationId xmlns:a16="http://schemas.microsoft.com/office/drawing/2014/main" id="{28010D1C-AFD5-1958-8D01-CD5EBB75D43E}"/>
              </a:ext>
            </a:extLst>
          </p:cNvPr>
          <p:cNvSpPr>
            <a:spLocks noChangeArrowheads="1"/>
          </p:cNvSpPr>
          <p:nvPr/>
        </p:nvSpPr>
        <p:spPr bwMode="auto">
          <a:xfrm flipV="1">
            <a:off x="5438279" y="3212850"/>
            <a:ext cx="234850" cy="20697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sz="1399">
              <a:solidFill>
                <a:srgbClr val="191C25"/>
              </a:solidFill>
              <a:latin typeface="Roboto" panose="02000000000000000000"/>
            </a:endParaRPr>
          </a:p>
        </p:txBody>
      </p:sp>
      <p:sp>
        <p:nvSpPr>
          <p:cNvPr id="100" name="Oval 24">
            <a:extLst>
              <a:ext uri="{FF2B5EF4-FFF2-40B4-BE49-F238E27FC236}">
                <a16:creationId xmlns:a16="http://schemas.microsoft.com/office/drawing/2014/main" id="{2BF6FDDD-A208-7D0B-2459-340E6D07D1CF}"/>
              </a:ext>
            </a:extLst>
          </p:cNvPr>
          <p:cNvSpPr>
            <a:spLocks noChangeArrowheads="1"/>
          </p:cNvSpPr>
          <p:nvPr/>
        </p:nvSpPr>
        <p:spPr bwMode="auto">
          <a:xfrm flipV="1">
            <a:off x="1020898" y="3273967"/>
            <a:ext cx="117425" cy="10057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sz="450">
              <a:solidFill>
                <a:srgbClr val="191C25"/>
              </a:solidFill>
              <a:latin typeface="Roboto" panose="02000000000000000000"/>
            </a:endParaRPr>
          </a:p>
        </p:txBody>
      </p:sp>
      <p:sp>
        <p:nvSpPr>
          <p:cNvPr id="101" name="AutoShape 25">
            <a:extLst>
              <a:ext uri="{FF2B5EF4-FFF2-40B4-BE49-F238E27FC236}">
                <a16:creationId xmlns:a16="http://schemas.microsoft.com/office/drawing/2014/main" id="{0DFE14EF-234B-A6E5-25C0-DEC4F07D7672}"/>
              </a:ext>
            </a:extLst>
          </p:cNvPr>
          <p:cNvSpPr>
            <a:spLocks noChangeArrowheads="1"/>
          </p:cNvSpPr>
          <p:nvPr/>
        </p:nvSpPr>
        <p:spPr bwMode="auto">
          <a:xfrm flipV="1">
            <a:off x="962445" y="3226765"/>
            <a:ext cx="234850" cy="20697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sz="1399">
              <a:solidFill>
                <a:srgbClr val="191C25"/>
              </a:solidFill>
              <a:latin typeface="Roboto" panose="02000000000000000000"/>
            </a:endParaRPr>
          </a:p>
        </p:txBody>
      </p:sp>
      <p:grpSp>
        <p:nvGrpSpPr>
          <p:cNvPr id="12" name="Group 11">
            <a:extLst>
              <a:ext uri="{FF2B5EF4-FFF2-40B4-BE49-F238E27FC236}">
                <a16:creationId xmlns:a16="http://schemas.microsoft.com/office/drawing/2014/main" id="{5EEB2016-95ED-A462-7FD8-3B23AC5368D4}"/>
              </a:ext>
            </a:extLst>
          </p:cNvPr>
          <p:cNvGrpSpPr/>
          <p:nvPr/>
        </p:nvGrpSpPr>
        <p:grpSpPr>
          <a:xfrm>
            <a:off x="940004" y="320286"/>
            <a:ext cx="6217883" cy="311851"/>
            <a:chOff x="940249" y="302538"/>
            <a:chExt cx="6219503" cy="311932"/>
          </a:xfrm>
        </p:grpSpPr>
        <p:sp>
          <p:nvSpPr>
            <p:cNvPr id="13" name="TextBox 12">
              <a:extLst>
                <a:ext uri="{FF2B5EF4-FFF2-40B4-BE49-F238E27FC236}">
                  <a16:creationId xmlns:a16="http://schemas.microsoft.com/office/drawing/2014/main" id="{B5B1FB8A-29B0-624D-5581-371656E55ED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22" name="AutoShape 9">
              <a:extLst>
                <a:ext uri="{FF2B5EF4-FFF2-40B4-BE49-F238E27FC236}">
                  <a16:creationId xmlns:a16="http://schemas.microsoft.com/office/drawing/2014/main" id="{F9F833FC-8B39-43EF-1E57-5BDD9AD9B25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23" name="AutoShape 9">
              <a:extLst>
                <a:ext uri="{FF2B5EF4-FFF2-40B4-BE49-F238E27FC236}">
                  <a16:creationId xmlns:a16="http://schemas.microsoft.com/office/drawing/2014/main" id="{EDABD0FA-69CA-931E-1448-41116D4263C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24" name="AutoShape 9">
              <a:extLst>
                <a:ext uri="{FF2B5EF4-FFF2-40B4-BE49-F238E27FC236}">
                  <a16:creationId xmlns:a16="http://schemas.microsoft.com/office/drawing/2014/main" id="{7EB4685C-704F-87EE-4F59-AE938CFE7108}"/>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25" name="AutoShape 9">
              <a:extLst>
                <a:ext uri="{FF2B5EF4-FFF2-40B4-BE49-F238E27FC236}">
                  <a16:creationId xmlns:a16="http://schemas.microsoft.com/office/drawing/2014/main" id="{DF384DCA-2DA9-467C-E749-79DD10A1F84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26" name="AutoShape 11">
              <a:extLst>
                <a:ext uri="{FF2B5EF4-FFF2-40B4-BE49-F238E27FC236}">
                  <a16:creationId xmlns:a16="http://schemas.microsoft.com/office/drawing/2014/main" id="{9FFF0B89-590B-7134-1FAA-7BE1417CA1D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27" name="Slide Number Placeholder 2">
            <a:extLst>
              <a:ext uri="{FF2B5EF4-FFF2-40B4-BE49-F238E27FC236}">
                <a16:creationId xmlns:a16="http://schemas.microsoft.com/office/drawing/2014/main" id="{23CCEA05-AE50-09FB-840E-BC68D3A7719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102</a:t>
            </a:fld>
            <a:endParaRPr lang="en-US" dirty="0">
              <a:latin typeface="Roboto" panose="02000000000000000000"/>
            </a:endParaRPr>
          </a:p>
        </p:txBody>
      </p:sp>
    </p:spTree>
    <p:extLst>
      <p:ext uri="{BB962C8B-B14F-4D97-AF65-F5344CB8AC3E}">
        <p14:creationId xmlns:p14="http://schemas.microsoft.com/office/powerpoint/2010/main" val="101521471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altLang="en-US" sz="3600" dirty="0">
                <a:latin typeface="Roboto" panose="02000000000000000000"/>
              </a:rPr>
              <a:t>Replacing Inventory Queues with Supermarkets</a:t>
            </a:r>
            <a:endParaRPr lang="en-US" sz="3600" dirty="0">
              <a:latin typeface="Roboto" panose="02000000000000000000"/>
            </a:endParaRP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34311" y="1753386"/>
            <a:ext cx="10440147" cy="4507162"/>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11188"/>
              <a:chOff x="474" y="1322"/>
              <a:chExt cx="508" cy="385"/>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46529" y="1493839"/>
              <a:ext cx="2581097" cy="34795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825309" cy="42703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90790" y="2715189"/>
            <a:ext cx="1805238" cy="561937"/>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85936" y="2944479"/>
            <a:ext cx="8237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88691" y="4071291"/>
            <a:ext cx="1060170" cy="56378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94624" y="4214771"/>
            <a:ext cx="1045111"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24500" y="4041876"/>
            <a:ext cx="993532" cy="274701"/>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59069" y="4071291"/>
            <a:ext cx="1060170" cy="56378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65003" y="4214771"/>
            <a:ext cx="1045111"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94878" y="4041876"/>
            <a:ext cx="993532" cy="274701"/>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16953" y="4090471"/>
            <a:ext cx="1060170" cy="56378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22886" y="4233951"/>
            <a:ext cx="1045111"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52762" y="4061056"/>
            <a:ext cx="993532" cy="274701"/>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56730" y="2781753"/>
            <a:ext cx="2019" cy="1261943"/>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74224" y="3449055"/>
            <a:ext cx="468991" cy="273745"/>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39506" y="3539838"/>
            <a:ext cx="208258" cy="1829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87973" y="3725957"/>
            <a:ext cx="103309" cy="90782"/>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25924" y="3725957"/>
            <a:ext cx="103309" cy="90782"/>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00616" y="3495851"/>
            <a:ext cx="621966" cy="19839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82405" y="4148633"/>
            <a:ext cx="1194338" cy="313247"/>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60333" y="4148633"/>
            <a:ext cx="1194338" cy="313247"/>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91155" y="4148633"/>
            <a:ext cx="1194338" cy="313247"/>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62177" y="4148633"/>
            <a:ext cx="847403" cy="313247"/>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51102" y="4249879"/>
            <a:ext cx="332604" cy="281767"/>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90079" y="4226574"/>
            <a:ext cx="332604" cy="281767"/>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88703" y="4242904"/>
            <a:ext cx="332604" cy="281767"/>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57578" y="4516668"/>
            <a:ext cx="8984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06163" y="4516668"/>
            <a:ext cx="8480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03554" y="4492847"/>
            <a:ext cx="8480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16465" y="4492847"/>
            <a:ext cx="10807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23257" y="4349830"/>
            <a:ext cx="3485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45921" y="4326009"/>
            <a:ext cx="3485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60110" y="4309968"/>
            <a:ext cx="3485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24718" y="4739297"/>
            <a:ext cx="1060170"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57585" y="4739297"/>
            <a:ext cx="1060170"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88691" y="4739297"/>
            <a:ext cx="1060170"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94074" y="4892359"/>
            <a:ext cx="899182"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02904" y="2190644"/>
            <a:ext cx="1131102" cy="189113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4"/>
              <a:chOff x="435" y="1322"/>
              <a:chExt cx="583" cy="394"/>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77600" y="5509828"/>
            <a:ext cx="8143541" cy="552415"/>
            <a:chOff x="2231195" y="9983478"/>
            <a:chExt cx="16050210" cy="1143541"/>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6" y="10553610"/>
              <a:ext cx="140871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800" y="10553610"/>
              <a:ext cx="140871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10"/>
              <a:ext cx="140871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6"/>
              <a:ext cx="171454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9"/>
              <a:ext cx="171454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9"/>
              <a:ext cx="171454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50" y="9983478"/>
              <a:ext cx="171454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40649" y="5431049"/>
            <a:ext cx="1756774" cy="561937"/>
            <a:chOff x="3493" y="1604"/>
            <a:chExt cx="1015"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1015" cy="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83742" y="2300362"/>
            <a:ext cx="7192769" cy="1781692"/>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63978" y="2027239"/>
              <a:ext cx="985838" cy="709613"/>
              <a:chOff x="2434" y="1277"/>
              <a:chExt cx="621"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34" y="1283"/>
                <a:ext cx="62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64524" y="4430044"/>
            <a:ext cx="1463720" cy="116901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50102" y="4047430"/>
            <a:ext cx="3650201" cy="1549423"/>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09353" y="4127669"/>
            <a:ext cx="527353" cy="526583"/>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67998" y="4903492"/>
            <a:ext cx="1533735" cy="991167"/>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48097" y="3851919"/>
            <a:ext cx="465083" cy="457190"/>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71023" y="3858905"/>
            <a:ext cx="465083" cy="457190"/>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323604" y="4137382"/>
            <a:ext cx="454479" cy="457426"/>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51125" y="3910013"/>
            <a:ext cx="223203" cy="471683"/>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45530" y="4127065"/>
            <a:ext cx="223203" cy="471683"/>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71983" y="4249012"/>
            <a:ext cx="454479" cy="457426"/>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309122" y="4201920"/>
            <a:ext cx="454479" cy="457426"/>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018389" y="4120968"/>
            <a:ext cx="223203" cy="471683"/>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210" name="Rectangle 144">
            <a:extLst>
              <a:ext uri="{FF2B5EF4-FFF2-40B4-BE49-F238E27FC236}">
                <a16:creationId xmlns:a16="http://schemas.microsoft.com/office/drawing/2014/main" id="{7CBFBEF5-24E1-C73C-E30C-F3A8E7C7F406}"/>
              </a:ext>
            </a:extLst>
          </p:cNvPr>
          <p:cNvSpPr>
            <a:spLocks noChangeArrowheads="1"/>
          </p:cNvSpPr>
          <p:nvPr/>
        </p:nvSpPr>
        <p:spPr bwMode="auto">
          <a:xfrm>
            <a:off x="1979533" y="1926027"/>
            <a:ext cx="7601762" cy="1791260"/>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a:rPr>
              <a:t>Supermarkets are created at the point of production (not consumption)</a:t>
            </a:r>
          </a:p>
          <a:p>
            <a:pPr algn="l">
              <a:lnSpc>
                <a:spcPct val="100000"/>
              </a:lnSpc>
              <a:spcBef>
                <a:spcPct val="30000"/>
              </a:spcBef>
              <a:buFontTx/>
              <a:buChar char="•"/>
            </a:pPr>
            <a:r>
              <a:rPr lang="en-US" altLang="en-US" sz="1600" dirty="0">
                <a:solidFill>
                  <a:schemeClr val="tx1"/>
                </a:solidFill>
                <a:latin typeface="Roboto" panose="02000000000000000000"/>
              </a:rPr>
              <a:t>Parts are pulled by the consuming process</a:t>
            </a:r>
          </a:p>
          <a:p>
            <a:pPr algn="l">
              <a:lnSpc>
                <a:spcPct val="100000"/>
              </a:lnSpc>
              <a:spcBef>
                <a:spcPct val="30000"/>
              </a:spcBef>
              <a:buFontTx/>
              <a:buChar char="•"/>
            </a:pPr>
            <a:r>
              <a:rPr lang="en-US" altLang="en-US" sz="1600" dirty="0">
                <a:solidFill>
                  <a:schemeClr val="tx1"/>
                </a:solidFill>
                <a:latin typeface="Roboto" panose="02000000000000000000"/>
              </a:rPr>
              <a:t>Supermarket is replenished by the producing department as parts are pulled</a:t>
            </a:r>
          </a:p>
          <a:p>
            <a:pPr algn="l">
              <a:lnSpc>
                <a:spcPct val="100000"/>
              </a:lnSpc>
              <a:spcBef>
                <a:spcPct val="30000"/>
              </a:spcBef>
              <a:buFontTx/>
              <a:buChar char="•"/>
            </a:pPr>
            <a:r>
              <a:rPr lang="en-US" altLang="en-US" sz="1600" dirty="0">
                <a:solidFill>
                  <a:schemeClr val="tx1"/>
                </a:solidFill>
                <a:latin typeface="Roboto" panose="02000000000000000000"/>
              </a:rPr>
              <a:t>Supermarket in Receiving for pulling raw materials, even though pull might not be created with supplier at this time</a:t>
            </a:r>
          </a:p>
        </p:txBody>
      </p:sp>
      <p:grpSp>
        <p:nvGrpSpPr>
          <p:cNvPr id="104" name="Group 103">
            <a:extLst>
              <a:ext uri="{FF2B5EF4-FFF2-40B4-BE49-F238E27FC236}">
                <a16:creationId xmlns:a16="http://schemas.microsoft.com/office/drawing/2014/main" id="{E2EB74E5-7182-D218-7FA6-3E7730E07B0B}"/>
              </a:ext>
            </a:extLst>
          </p:cNvPr>
          <p:cNvGrpSpPr/>
          <p:nvPr/>
        </p:nvGrpSpPr>
        <p:grpSpPr>
          <a:xfrm>
            <a:off x="940004" y="320286"/>
            <a:ext cx="6217883" cy="311851"/>
            <a:chOff x="940249" y="302538"/>
            <a:chExt cx="6219503" cy="311932"/>
          </a:xfrm>
        </p:grpSpPr>
        <p:sp>
          <p:nvSpPr>
            <p:cNvPr id="105" name="TextBox 104">
              <a:extLst>
                <a:ext uri="{FF2B5EF4-FFF2-40B4-BE49-F238E27FC236}">
                  <a16:creationId xmlns:a16="http://schemas.microsoft.com/office/drawing/2014/main" id="{4647BAE4-F8AE-D5C7-69CD-E97DE612A03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09" name="AutoShape 9">
              <a:extLst>
                <a:ext uri="{FF2B5EF4-FFF2-40B4-BE49-F238E27FC236}">
                  <a16:creationId xmlns:a16="http://schemas.microsoft.com/office/drawing/2014/main" id="{1875E750-6FA6-FFFF-ADD6-7F4D748A2FA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1" name="AutoShape 9">
              <a:extLst>
                <a:ext uri="{FF2B5EF4-FFF2-40B4-BE49-F238E27FC236}">
                  <a16:creationId xmlns:a16="http://schemas.microsoft.com/office/drawing/2014/main" id="{F776B778-C6A8-F18D-ED24-CE0F97F4721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4" name="AutoShape 9">
              <a:extLst>
                <a:ext uri="{FF2B5EF4-FFF2-40B4-BE49-F238E27FC236}">
                  <a16:creationId xmlns:a16="http://schemas.microsoft.com/office/drawing/2014/main" id="{39BE097E-27D2-D182-DE1F-74985F9E9942}"/>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5" name="AutoShape 9">
              <a:extLst>
                <a:ext uri="{FF2B5EF4-FFF2-40B4-BE49-F238E27FC236}">
                  <a16:creationId xmlns:a16="http://schemas.microsoft.com/office/drawing/2014/main" id="{8475995D-E91C-1743-3381-149C2277A90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9" name="AutoShape 11">
              <a:extLst>
                <a:ext uri="{FF2B5EF4-FFF2-40B4-BE49-F238E27FC236}">
                  <a16:creationId xmlns:a16="http://schemas.microsoft.com/office/drawing/2014/main" id="{173C192B-8E06-ACBD-BDB1-3B451408355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20" name="Slide Number Placeholder 2">
            <a:extLst>
              <a:ext uri="{FF2B5EF4-FFF2-40B4-BE49-F238E27FC236}">
                <a16:creationId xmlns:a16="http://schemas.microsoft.com/office/drawing/2014/main" id="{66EEF29B-0064-9DE5-42E7-B0166C3D11F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103</a:t>
            </a:fld>
            <a:endParaRPr lang="en-US" dirty="0">
              <a:latin typeface="Roboto" panose="02000000000000000000"/>
            </a:endParaRPr>
          </a:p>
        </p:txBody>
      </p:sp>
    </p:spTree>
    <p:extLst>
      <p:ext uri="{BB962C8B-B14F-4D97-AF65-F5344CB8AC3E}">
        <p14:creationId xmlns:p14="http://schemas.microsoft.com/office/powerpoint/2010/main" val="3892764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Autofit/>
          </a:bodyPr>
          <a:lstStyle/>
          <a:p>
            <a:r>
              <a:rPr lang="en-US" altLang="en-US" sz="3600" b="1" dirty="0">
                <a:latin typeface="Roboto" panose="02000000000000000000"/>
              </a:rPr>
              <a:t>Replacing Inventory Queues with Supermarkets</a:t>
            </a:r>
            <a:endParaRPr lang="en-US" sz="3600" b="1" dirty="0">
              <a:latin typeface="Roboto" panose="02000000000000000000"/>
            </a:endParaRP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843737" y="1743959"/>
            <a:ext cx="10845500" cy="4507162"/>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8"/>
              <a:ext cx="806450" cy="611188"/>
              <a:chOff x="474" y="1322"/>
              <a:chExt cx="508" cy="385"/>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8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294763" y="1493839"/>
              <a:ext cx="2484628" cy="34795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72254" cy="427036"/>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00215" y="2705763"/>
            <a:ext cx="1875329" cy="561937"/>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95363" y="2935004"/>
            <a:ext cx="91467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98116" y="4061863"/>
            <a:ext cx="1101332" cy="5637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704050" y="4205345"/>
            <a:ext cx="1085689"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733926" y="4032391"/>
            <a:ext cx="1032107"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68494" y="4061863"/>
            <a:ext cx="1101332" cy="5637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74429" y="4205345"/>
            <a:ext cx="1085689"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404304" y="4032391"/>
            <a:ext cx="1032107"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26378" y="4081043"/>
            <a:ext cx="1101332" cy="5637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32312" y="4224525"/>
            <a:ext cx="1085689" cy="1544"/>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62188" y="4051571"/>
            <a:ext cx="1032107" cy="27699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66158" y="2772328"/>
            <a:ext cx="2097" cy="1261944"/>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83651" y="3439628"/>
            <a:ext cx="487200" cy="273745"/>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48932" y="3530411"/>
            <a:ext cx="216344" cy="1829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97399" y="3716529"/>
            <a:ext cx="107320" cy="90783"/>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35350" y="3716529"/>
            <a:ext cx="107320" cy="90783"/>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10041" y="3486381"/>
            <a:ext cx="646115" cy="20005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91831" y="4139206"/>
            <a:ext cx="1240710" cy="31324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69759" y="4139206"/>
            <a:ext cx="1240710" cy="31324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800581" y="4139206"/>
            <a:ext cx="1240710" cy="31324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71603" y="4139206"/>
            <a:ext cx="880304" cy="31324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60528" y="4240453"/>
            <a:ext cx="345518" cy="281767"/>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99505" y="4217148"/>
            <a:ext cx="345518" cy="281767"/>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98129" y="4233478"/>
            <a:ext cx="345518" cy="281767"/>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67004" y="4507188"/>
            <a:ext cx="9333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15589" y="4507188"/>
            <a:ext cx="10223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12980" y="4483367"/>
            <a:ext cx="1039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25891" y="4483367"/>
            <a:ext cx="118641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32684" y="4340350"/>
            <a:ext cx="3620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55348" y="4316529"/>
            <a:ext cx="3620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69537" y="4300488"/>
            <a:ext cx="3620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34143" y="4729870"/>
            <a:ext cx="1101332"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67010" y="4729870"/>
            <a:ext cx="1101332"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98116" y="4729870"/>
            <a:ext cx="1101332" cy="819578"/>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03500" y="4882846"/>
            <a:ext cx="93409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12330" y="2181217"/>
            <a:ext cx="1175019" cy="189113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4"/>
              <a:chOff x="435" y="1322"/>
              <a:chExt cx="583" cy="394"/>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87026" y="5500401"/>
            <a:ext cx="8459725" cy="552415"/>
            <a:chOff x="2231195" y="9983478"/>
            <a:chExt cx="16050210" cy="1143541"/>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6" y="10553610"/>
              <a:ext cx="139205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8" y="10553610"/>
              <a:ext cx="139205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60" y="10553610"/>
              <a:ext cx="1392050"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6"/>
              <a:ext cx="1694263"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6" y="10008379"/>
              <a:ext cx="1694263"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9"/>
              <a:ext cx="1694263"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50" y="9983478"/>
              <a:ext cx="1694263" cy="573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50075" y="5421625"/>
            <a:ext cx="1787226" cy="697066"/>
            <a:chOff x="3493" y="1604"/>
            <a:chExt cx="994" cy="423"/>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93167" y="2290935"/>
            <a:ext cx="7472037" cy="1781692"/>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5" y="1283"/>
                <a:ext cx="598"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73950" y="4420619"/>
            <a:ext cx="1520551" cy="1169014"/>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chemeClr val="accent1"/>
                </a:solidFill>
                <a:latin typeface="Roboto" panose="02000000000000000000"/>
              </a:rPr>
              <a:t>Improve</a:t>
            </a:r>
          </a:p>
          <a:p>
            <a:pPr>
              <a:lnSpc>
                <a:spcPct val="100000"/>
              </a:lnSpc>
              <a:spcBef>
                <a:spcPct val="0"/>
              </a:spcBef>
            </a:pPr>
            <a:r>
              <a:rPr lang="en-US" altLang="en-US" sz="1600" b="0" dirty="0">
                <a:solidFill>
                  <a:schemeClr val="accent1"/>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59528" y="4038003"/>
            <a:ext cx="3791926" cy="1549423"/>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718780" y="4118241"/>
            <a:ext cx="547828" cy="526584"/>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77424" y="4894066"/>
            <a:ext cx="1593285" cy="99116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chemeClr val="accent1"/>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57524" y="3817723"/>
            <a:ext cx="481961" cy="48196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80450" y="3824709"/>
            <a:ext cx="481961" cy="48196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333031" y="4127955"/>
            <a:ext cx="472124" cy="457426"/>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60552" y="3900586"/>
            <a:ext cx="231869" cy="471683"/>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54957" y="4117638"/>
            <a:ext cx="231869" cy="471683"/>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81410" y="4239585"/>
            <a:ext cx="472124" cy="457426"/>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318549" y="4192493"/>
            <a:ext cx="472124" cy="457426"/>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027816" y="4111541"/>
            <a:ext cx="231869" cy="471683"/>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04" name="Group 103">
            <a:extLst>
              <a:ext uri="{FF2B5EF4-FFF2-40B4-BE49-F238E27FC236}">
                <a16:creationId xmlns:a16="http://schemas.microsoft.com/office/drawing/2014/main" id="{485EE763-6BE8-00E3-929E-6A17145F7B35}"/>
              </a:ext>
            </a:extLst>
          </p:cNvPr>
          <p:cNvGrpSpPr/>
          <p:nvPr/>
        </p:nvGrpSpPr>
        <p:grpSpPr>
          <a:xfrm>
            <a:off x="940004" y="320286"/>
            <a:ext cx="6217883" cy="311851"/>
            <a:chOff x="940249" y="302538"/>
            <a:chExt cx="6219503" cy="311932"/>
          </a:xfrm>
        </p:grpSpPr>
        <p:sp>
          <p:nvSpPr>
            <p:cNvPr id="105" name="TextBox 104">
              <a:extLst>
                <a:ext uri="{FF2B5EF4-FFF2-40B4-BE49-F238E27FC236}">
                  <a16:creationId xmlns:a16="http://schemas.microsoft.com/office/drawing/2014/main" id="{6DA31534-D199-9F53-E5FC-5A4CC32C9A7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09" name="AutoShape 9">
              <a:extLst>
                <a:ext uri="{FF2B5EF4-FFF2-40B4-BE49-F238E27FC236}">
                  <a16:creationId xmlns:a16="http://schemas.microsoft.com/office/drawing/2014/main" id="{B76B4D9B-A47D-EFC9-FF9A-2FB29A562B2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1" name="AutoShape 9">
              <a:extLst>
                <a:ext uri="{FF2B5EF4-FFF2-40B4-BE49-F238E27FC236}">
                  <a16:creationId xmlns:a16="http://schemas.microsoft.com/office/drawing/2014/main" id="{BF7C46D1-2B4F-0204-CF65-34118325D8B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4" name="AutoShape 9">
              <a:extLst>
                <a:ext uri="{FF2B5EF4-FFF2-40B4-BE49-F238E27FC236}">
                  <a16:creationId xmlns:a16="http://schemas.microsoft.com/office/drawing/2014/main" id="{BA996002-939A-B965-664D-8ED01F63A42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5" name="AutoShape 9">
              <a:extLst>
                <a:ext uri="{FF2B5EF4-FFF2-40B4-BE49-F238E27FC236}">
                  <a16:creationId xmlns:a16="http://schemas.microsoft.com/office/drawing/2014/main" id="{BC70D272-DE86-A8B6-3D54-4D9020B89464}"/>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9" name="AutoShape 11">
              <a:extLst>
                <a:ext uri="{FF2B5EF4-FFF2-40B4-BE49-F238E27FC236}">
                  <a16:creationId xmlns:a16="http://schemas.microsoft.com/office/drawing/2014/main" id="{A0E8D418-1F5B-28AC-C790-14A8A4F3847E}"/>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20" name="Slide Number Placeholder 2">
            <a:extLst>
              <a:ext uri="{FF2B5EF4-FFF2-40B4-BE49-F238E27FC236}">
                <a16:creationId xmlns:a16="http://schemas.microsoft.com/office/drawing/2014/main" id="{4CFEE1E2-FDB0-3A8C-94CB-E522842F4CB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104</a:t>
            </a:fld>
            <a:endParaRPr lang="en-US" dirty="0">
              <a:latin typeface="Roboto" panose="02000000000000000000"/>
            </a:endParaRPr>
          </a:p>
        </p:txBody>
      </p:sp>
    </p:spTree>
    <p:extLst>
      <p:ext uri="{BB962C8B-B14F-4D97-AF65-F5344CB8AC3E}">
        <p14:creationId xmlns:p14="http://schemas.microsoft.com/office/powerpoint/2010/main" val="2255232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105</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170526492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Identifying the Pacemaker Operation</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p:txBody>
          <a:bodyPr>
            <a:normAutofit lnSpcReduction="10000"/>
          </a:bodyPr>
          <a:lstStyle/>
          <a:p>
            <a:r>
              <a:rPr lang="en-US" dirty="0"/>
              <a:t>Pacemaker - Definition</a:t>
            </a:r>
          </a:p>
          <a:p>
            <a:pPr lvl="1"/>
            <a:r>
              <a:rPr lang="en-US" dirty="0"/>
              <a:t>The pacemaker process is the single point at which the entire production process is scheduled</a:t>
            </a:r>
          </a:p>
          <a:p>
            <a:pPr lvl="1"/>
            <a:r>
              <a:rPr lang="en-US" dirty="0"/>
              <a:t>Used to control production - sets the pace for all upstream processes</a:t>
            </a:r>
          </a:p>
          <a:p>
            <a:r>
              <a:rPr lang="en-US" dirty="0"/>
              <a:t>Rule of Thumb</a:t>
            </a:r>
          </a:p>
          <a:p>
            <a:pPr lvl="1"/>
            <a:r>
              <a:rPr lang="en-US" dirty="0"/>
              <a:t>The Pacemaker is the furthest upstream process where continuous flow exists from that process to the end point of the value stream (i.e. all subsequent processes flow to the end point of the value stream)</a:t>
            </a:r>
          </a:p>
          <a:p>
            <a:r>
              <a:rPr lang="en-US" dirty="0"/>
              <a:t>For MME, Shipping is the pacemaker process because the preceding process (Stamp/Brake Form) is decoupled by pull from the supermarket</a:t>
            </a:r>
          </a:p>
        </p:txBody>
      </p:sp>
      <p:grpSp>
        <p:nvGrpSpPr>
          <p:cNvPr id="4" name="Group 3">
            <a:extLst>
              <a:ext uri="{FF2B5EF4-FFF2-40B4-BE49-F238E27FC236}">
                <a16:creationId xmlns:a16="http://schemas.microsoft.com/office/drawing/2014/main" id="{83BBA932-BDE4-92E0-774D-B77F05349237}"/>
              </a:ext>
            </a:extLst>
          </p:cNvPr>
          <p:cNvGrpSpPr/>
          <p:nvPr/>
        </p:nvGrpSpPr>
        <p:grpSpPr>
          <a:xfrm>
            <a:off x="940004" y="320286"/>
            <a:ext cx="6217883" cy="311851"/>
            <a:chOff x="940249" y="302538"/>
            <a:chExt cx="6219503" cy="311932"/>
          </a:xfrm>
        </p:grpSpPr>
        <p:sp>
          <p:nvSpPr>
            <p:cNvPr id="5" name="TextBox 4">
              <a:extLst>
                <a:ext uri="{FF2B5EF4-FFF2-40B4-BE49-F238E27FC236}">
                  <a16:creationId xmlns:a16="http://schemas.microsoft.com/office/drawing/2014/main" id="{5FBF826D-806F-FCCA-6518-E20C99B8D95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EE8BDD6E-8215-8542-22A3-16CF0849E92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BB9DD29A-1BA6-4E8E-7D82-068F0D4A794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234AF3F-C51F-D59D-F992-E6961B7562E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FBEFF1E6-8805-F046-71CE-249E7E24CCC3}"/>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11">
              <a:extLst>
                <a:ext uri="{FF2B5EF4-FFF2-40B4-BE49-F238E27FC236}">
                  <a16:creationId xmlns:a16="http://schemas.microsoft.com/office/drawing/2014/main" id="{43BE90EA-A7BD-74DC-B441-585C8492928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1" name="Slide Number Placeholder 2">
            <a:extLst>
              <a:ext uri="{FF2B5EF4-FFF2-40B4-BE49-F238E27FC236}">
                <a16:creationId xmlns:a16="http://schemas.microsoft.com/office/drawing/2014/main" id="{02FFA702-A98C-BFB9-06B7-75293401B349}"/>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106</a:t>
            </a:fld>
            <a:endParaRPr lang="en-US" dirty="0"/>
          </a:p>
        </p:txBody>
      </p:sp>
    </p:spTree>
    <p:extLst>
      <p:ext uri="{BB962C8B-B14F-4D97-AF65-F5344CB8AC3E}">
        <p14:creationId xmlns:p14="http://schemas.microsoft.com/office/powerpoint/2010/main" val="68586873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Will you build to Finished Goods Supermarket or build to Shipping?</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292042"/>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Is the current process producing to takt time?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can be coupled using continuous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can pull systems couple processes that cannot flow?</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will supermarkets and FIFO lanes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At which single point (pacemaker) will you schedule production?</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How will you level the production mix?</a:t>
              </a: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107</a:t>
            </a:fld>
            <a:endParaRPr lang="en-US" dirty="0"/>
          </a:p>
        </p:txBody>
      </p:sp>
      <p:grpSp>
        <p:nvGrpSpPr>
          <p:cNvPr id="3" name="Group 2">
            <a:extLst>
              <a:ext uri="{FF2B5EF4-FFF2-40B4-BE49-F238E27FC236}">
                <a16:creationId xmlns:a16="http://schemas.microsoft.com/office/drawing/2014/main" id="{484F9282-B768-FEC3-9D2D-21F0D2E448DB}"/>
              </a:ext>
            </a:extLst>
          </p:cNvPr>
          <p:cNvGrpSpPr/>
          <p:nvPr/>
        </p:nvGrpSpPr>
        <p:grpSpPr>
          <a:xfrm>
            <a:off x="940004" y="330919"/>
            <a:ext cx="6217883" cy="311851"/>
            <a:chOff x="940249" y="302538"/>
            <a:chExt cx="6219503" cy="311932"/>
          </a:xfrm>
        </p:grpSpPr>
        <p:sp>
          <p:nvSpPr>
            <p:cNvPr id="15" name="TextBox 14">
              <a:extLst>
                <a:ext uri="{FF2B5EF4-FFF2-40B4-BE49-F238E27FC236}">
                  <a16:creationId xmlns:a16="http://schemas.microsoft.com/office/drawing/2014/main" id="{570FF5D7-BB57-9C13-D177-A0CA5223C77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02FAFC8B-7D77-C2BD-22B5-C0FA87D8545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21D6AB6-2A93-A678-9D3A-C51B85FDE9E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5EA59BCA-6704-B055-CC79-D8E6AD885FA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E89AFB3E-85AF-083F-18FA-86F77CF5CFE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11">
              <a:extLst>
                <a:ext uri="{FF2B5EF4-FFF2-40B4-BE49-F238E27FC236}">
                  <a16:creationId xmlns:a16="http://schemas.microsoft.com/office/drawing/2014/main" id="{5E5658CC-24FD-C8DF-2251-5EED369E731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316358637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Leveling the Production Mix</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p:txBody>
          <a:bodyPr>
            <a:normAutofit fontScale="92500" lnSpcReduction="10000"/>
          </a:bodyPr>
          <a:lstStyle/>
          <a:p>
            <a:r>
              <a:rPr lang="en-US" dirty="0"/>
              <a:t>For multiple products flowing through the value stream, a proportional mix must be determined in order to level load the processes</a:t>
            </a:r>
          </a:p>
          <a:p>
            <a:pPr lvl="1"/>
            <a:r>
              <a:rPr lang="en-US" dirty="0"/>
              <a:t>Mix calculated based on individual product demands</a:t>
            </a:r>
          </a:p>
          <a:p>
            <a:pPr lvl="1"/>
            <a:r>
              <a:rPr lang="en-US" dirty="0"/>
              <a:t>Used to level production on a daily basis</a:t>
            </a:r>
          </a:p>
          <a:p>
            <a:pPr lvl="1"/>
            <a:r>
              <a:rPr lang="en-US" dirty="0"/>
              <a:t>Ideal mix is proportional to product demand (smallest quantities)</a:t>
            </a:r>
          </a:p>
          <a:p>
            <a:pPr lvl="1"/>
            <a:r>
              <a:rPr lang="en-US" dirty="0"/>
              <a:t>Long changeover times may inhibit ideal mix and emulate the old push system “batches”</a:t>
            </a:r>
          </a:p>
          <a:p>
            <a:pPr lvl="1"/>
            <a:r>
              <a:rPr lang="en-US" dirty="0"/>
              <a:t>Icon used in VSM →</a:t>
            </a:r>
          </a:p>
          <a:p>
            <a:endParaRPr lang="en-US" dirty="0"/>
          </a:p>
          <a:p>
            <a:r>
              <a:rPr lang="en-US" dirty="0"/>
              <a:t>For MME (simple example), there is only one version of the product so product mix is not a factor</a:t>
            </a:r>
          </a:p>
        </p:txBody>
      </p:sp>
      <p:grpSp>
        <p:nvGrpSpPr>
          <p:cNvPr id="4" name="Group 4">
            <a:extLst>
              <a:ext uri="{FF2B5EF4-FFF2-40B4-BE49-F238E27FC236}">
                <a16:creationId xmlns:a16="http://schemas.microsoft.com/office/drawing/2014/main" id="{22CB21AD-2035-E37A-7344-4CD249C73B01}"/>
              </a:ext>
            </a:extLst>
          </p:cNvPr>
          <p:cNvGrpSpPr>
            <a:grpSpLocks/>
          </p:cNvGrpSpPr>
          <p:nvPr/>
        </p:nvGrpSpPr>
        <p:grpSpPr bwMode="auto">
          <a:xfrm>
            <a:off x="4238455" y="4274489"/>
            <a:ext cx="1538739" cy="611078"/>
            <a:chOff x="3697" y="1835"/>
            <a:chExt cx="714" cy="300"/>
          </a:xfrm>
        </p:grpSpPr>
        <p:sp>
          <p:nvSpPr>
            <p:cNvPr id="5" name="Rectangle 5">
              <a:extLst>
                <a:ext uri="{FF2B5EF4-FFF2-40B4-BE49-F238E27FC236}">
                  <a16:creationId xmlns:a16="http://schemas.microsoft.com/office/drawing/2014/main" id="{8B80AE25-06C7-6B0B-F966-8D86EB436DF5}"/>
                </a:ext>
              </a:extLst>
            </p:cNvPr>
            <p:cNvSpPr>
              <a:spLocks noChangeArrowheads="1"/>
            </p:cNvSpPr>
            <p:nvPr/>
          </p:nvSpPr>
          <p:spPr bwMode="auto">
            <a:xfrm>
              <a:off x="3697" y="1835"/>
              <a:ext cx="714" cy="279"/>
            </a:xfrm>
            <a:prstGeom prst="rect">
              <a:avLst/>
            </a:prstGeom>
            <a:noFill/>
            <a:ln w="28575" cap="sq">
              <a:solidFill>
                <a:schemeClr val="bg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 name="Text Box 6">
              <a:extLst>
                <a:ext uri="{FF2B5EF4-FFF2-40B4-BE49-F238E27FC236}">
                  <a16:creationId xmlns:a16="http://schemas.microsoft.com/office/drawing/2014/main" id="{DD52BAA4-4C78-CFBF-C273-2A63B4F9653D}"/>
                </a:ext>
              </a:extLst>
            </p:cNvPr>
            <p:cNvSpPr txBox="1">
              <a:spLocks noChangeArrowheads="1"/>
            </p:cNvSpPr>
            <p:nvPr/>
          </p:nvSpPr>
          <p:spPr bwMode="auto">
            <a:xfrm>
              <a:off x="3707" y="1840"/>
              <a:ext cx="684" cy="295"/>
            </a:xfrm>
            <a:prstGeom prst="rect">
              <a:avLst/>
            </a:prstGeom>
            <a:noFill/>
            <a:ln w="12700" cap="sq">
              <a:solidFill>
                <a:srgbClr val="0000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3299" b="0" dirty="0">
                  <a:solidFill>
                    <a:srgbClr val="191C25"/>
                  </a:solidFill>
                  <a:latin typeface="Comic Sans MS" panose="030F0702030302020204" pitchFamily="66" charset="0"/>
                </a:rPr>
                <a:t>OXOX</a:t>
              </a:r>
            </a:p>
          </p:txBody>
        </p:sp>
      </p:grpSp>
      <p:grpSp>
        <p:nvGrpSpPr>
          <p:cNvPr id="7" name="Group 6">
            <a:extLst>
              <a:ext uri="{FF2B5EF4-FFF2-40B4-BE49-F238E27FC236}">
                <a16:creationId xmlns:a16="http://schemas.microsoft.com/office/drawing/2014/main" id="{2B36E6F1-40FC-D2D6-33EF-D9BE50005FA6}"/>
              </a:ext>
            </a:extLst>
          </p:cNvPr>
          <p:cNvGrpSpPr/>
          <p:nvPr/>
        </p:nvGrpSpPr>
        <p:grpSpPr>
          <a:xfrm>
            <a:off x="940004" y="320286"/>
            <a:ext cx="6217883" cy="311851"/>
            <a:chOff x="940249" y="302538"/>
            <a:chExt cx="6219503" cy="311932"/>
          </a:xfrm>
        </p:grpSpPr>
        <p:sp>
          <p:nvSpPr>
            <p:cNvPr id="8" name="TextBox 7">
              <a:extLst>
                <a:ext uri="{FF2B5EF4-FFF2-40B4-BE49-F238E27FC236}">
                  <a16:creationId xmlns:a16="http://schemas.microsoft.com/office/drawing/2014/main" id="{3728285A-1FCC-9D5D-B6C1-EE8BE5FD261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9" name="AutoShape 9">
              <a:extLst>
                <a:ext uri="{FF2B5EF4-FFF2-40B4-BE49-F238E27FC236}">
                  <a16:creationId xmlns:a16="http://schemas.microsoft.com/office/drawing/2014/main" id="{52755675-6423-244A-1C44-276C067C07ED}"/>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9">
              <a:extLst>
                <a:ext uri="{FF2B5EF4-FFF2-40B4-BE49-F238E27FC236}">
                  <a16:creationId xmlns:a16="http://schemas.microsoft.com/office/drawing/2014/main" id="{7F4C0EA6-B300-E149-FF9A-9C2375DAAD2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 name="AutoShape 9">
              <a:extLst>
                <a:ext uri="{FF2B5EF4-FFF2-40B4-BE49-F238E27FC236}">
                  <a16:creationId xmlns:a16="http://schemas.microsoft.com/office/drawing/2014/main" id="{57896BAD-D56D-5AC5-AD4B-83DF4ACE5E4B}"/>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 name="AutoShape 9">
              <a:extLst>
                <a:ext uri="{FF2B5EF4-FFF2-40B4-BE49-F238E27FC236}">
                  <a16:creationId xmlns:a16="http://schemas.microsoft.com/office/drawing/2014/main" id="{65738EC1-127B-D440-FE83-7E1366D554C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11">
              <a:extLst>
                <a:ext uri="{FF2B5EF4-FFF2-40B4-BE49-F238E27FC236}">
                  <a16:creationId xmlns:a16="http://schemas.microsoft.com/office/drawing/2014/main" id="{399E0A87-65C5-48FB-A6A8-B307E3332DE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2" name="Slide Number Placeholder 2">
            <a:extLst>
              <a:ext uri="{FF2B5EF4-FFF2-40B4-BE49-F238E27FC236}">
                <a16:creationId xmlns:a16="http://schemas.microsoft.com/office/drawing/2014/main" id="{223D06A1-D50C-8E4B-1C92-509B4A6B3E2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108</a:t>
            </a:fld>
            <a:endParaRPr lang="en-US" dirty="0"/>
          </a:p>
        </p:txBody>
      </p:sp>
    </p:spTree>
    <p:extLst>
      <p:ext uri="{BB962C8B-B14F-4D97-AF65-F5344CB8AC3E}">
        <p14:creationId xmlns:p14="http://schemas.microsoft.com/office/powerpoint/2010/main" val="153503778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109</a:t>
            </a:fld>
            <a:endParaRPr lang="en-US" dirty="0"/>
          </a:p>
        </p:txBody>
      </p:sp>
    </p:spTree>
    <p:extLst>
      <p:ext uri="{BB962C8B-B14F-4D97-AF65-F5344CB8AC3E}">
        <p14:creationId xmlns:p14="http://schemas.microsoft.com/office/powerpoint/2010/main" val="38230645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a:bodyPr>
          <a:lstStyle/>
          <a:p>
            <a:r>
              <a:rPr lang="en-US" altLang="en-US" dirty="0"/>
              <a:t>Identifying Changeover Opportunities</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a:xfrm>
            <a:off x="837982" y="1825625"/>
            <a:ext cx="10512862" cy="2577200"/>
          </a:xfrm>
        </p:spPr>
        <p:txBody>
          <a:bodyPr numCol="2">
            <a:normAutofit/>
          </a:bodyPr>
          <a:lstStyle/>
          <a:p>
            <a:r>
              <a:rPr lang="en-US" sz="2000" dirty="0"/>
              <a:t>Excessively long changeover times are wasteful</a:t>
            </a:r>
          </a:p>
          <a:p>
            <a:pPr lvl="1"/>
            <a:r>
              <a:rPr lang="en-US" sz="1800" dirty="0"/>
              <a:t>Prevent ideal product mix and level loaded schedules</a:t>
            </a:r>
          </a:p>
          <a:p>
            <a:pPr lvl="1"/>
            <a:r>
              <a:rPr lang="en-US" sz="1800" dirty="0"/>
              <a:t>Consume capacity by tying up machines and people</a:t>
            </a:r>
          </a:p>
          <a:p>
            <a:r>
              <a:rPr lang="en-US" sz="2000" dirty="0"/>
              <a:t>Identify critical changeovers that most affect getting to future state</a:t>
            </a:r>
          </a:p>
          <a:p>
            <a:pPr lvl="1"/>
            <a:r>
              <a:rPr lang="en-US" sz="1800" dirty="0"/>
              <a:t>SMED events will be identified in the marked-up VSM, where appropriate</a:t>
            </a:r>
          </a:p>
          <a:p>
            <a:r>
              <a:rPr lang="en-US" sz="2000" dirty="0"/>
              <a:t>For MME (simple example), the production processes are dedicated to a single product  so changeover time is not a factor.</a:t>
            </a:r>
          </a:p>
        </p:txBody>
      </p:sp>
      <p:grpSp>
        <p:nvGrpSpPr>
          <p:cNvPr id="7" name="Group 55">
            <a:extLst>
              <a:ext uri="{FF2B5EF4-FFF2-40B4-BE49-F238E27FC236}">
                <a16:creationId xmlns:a16="http://schemas.microsoft.com/office/drawing/2014/main" id="{CF4E0152-D176-D9B6-3F4A-8FB528E1B70A}"/>
              </a:ext>
            </a:extLst>
          </p:cNvPr>
          <p:cNvGrpSpPr>
            <a:grpSpLocks/>
          </p:cNvGrpSpPr>
          <p:nvPr/>
        </p:nvGrpSpPr>
        <p:grpSpPr bwMode="auto">
          <a:xfrm>
            <a:off x="10657183" y="1667601"/>
            <a:ext cx="1261062" cy="912941"/>
            <a:chOff x="4964" y="2060"/>
            <a:chExt cx="546" cy="419"/>
          </a:xfrm>
        </p:grpSpPr>
        <p:sp>
          <p:nvSpPr>
            <p:cNvPr id="8" name="AutoShape 56">
              <a:extLst>
                <a:ext uri="{FF2B5EF4-FFF2-40B4-BE49-F238E27FC236}">
                  <a16:creationId xmlns:a16="http://schemas.microsoft.com/office/drawing/2014/main" id="{8F45533C-2206-A96D-598B-58255AF403C4}"/>
                </a:ext>
              </a:extLst>
            </p:cNvPr>
            <p:cNvSpPr>
              <a:spLocks noChangeArrowheads="1"/>
            </p:cNvSpPr>
            <p:nvPr/>
          </p:nvSpPr>
          <p:spPr bwMode="auto">
            <a:xfrm>
              <a:off x="4964" y="2060"/>
              <a:ext cx="546" cy="419"/>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endParaRPr>
            </a:p>
          </p:txBody>
        </p:sp>
        <p:sp>
          <p:nvSpPr>
            <p:cNvPr id="9" name="Text Box 57">
              <a:extLst>
                <a:ext uri="{FF2B5EF4-FFF2-40B4-BE49-F238E27FC236}">
                  <a16:creationId xmlns:a16="http://schemas.microsoft.com/office/drawing/2014/main" id="{571D57CA-D34B-DE72-BDC3-72A0D0ECF261}"/>
                </a:ext>
              </a:extLst>
            </p:cNvPr>
            <p:cNvSpPr txBox="1">
              <a:spLocks noChangeArrowheads="1"/>
            </p:cNvSpPr>
            <p:nvPr/>
          </p:nvSpPr>
          <p:spPr bwMode="auto">
            <a:xfrm>
              <a:off x="5035" y="2163"/>
              <a:ext cx="404" cy="184"/>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b="0" dirty="0">
                  <a:solidFill>
                    <a:srgbClr val="EE3228"/>
                  </a:solidFill>
                  <a:latin typeface="Comic Sans MS" panose="030F0702030302020204" pitchFamily="66" charset="0"/>
                </a:rPr>
                <a:t>SMED</a:t>
              </a:r>
            </a:p>
          </p:txBody>
        </p:sp>
      </p:grpSp>
      <p:grpSp>
        <p:nvGrpSpPr>
          <p:cNvPr id="10" name="Group 4">
            <a:extLst>
              <a:ext uri="{FF2B5EF4-FFF2-40B4-BE49-F238E27FC236}">
                <a16:creationId xmlns:a16="http://schemas.microsoft.com/office/drawing/2014/main" id="{46EB6F2B-616B-EC56-FC47-049F29B5F20A}"/>
              </a:ext>
            </a:extLst>
          </p:cNvPr>
          <p:cNvGrpSpPr>
            <a:grpSpLocks/>
          </p:cNvGrpSpPr>
          <p:nvPr/>
        </p:nvGrpSpPr>
        <p:grpSpPr bwMode="auto">
          <a:xfrm>
            <a:off x="1090164" y="4709553"/>
            <a:ext cx="9690337" cy="1599122"/>
            <a:chOff x="637" y="3061"/>
            <a:chExt cx="3929" cy="928"/>
          </a:xfrm>
        </p:grpSpPr>
        <p:grpSp>
          <p:nvGrpSpPr>
            <p:cNvPr id="11" name="Group 5">
              <a:extLst>
                <a:ext uri="{FF2B5EF4-FFF2-40B4-BE49-F238E27FC236}">
                  <a16:creationId xmlns:a16="http://schemas.microsoft.com/office/drawing/2014/main" id="{0643A194-0335-B180-85AA-BA97269CE551}"/>
                </a:ext>
              </a:extLst>
            </p:cNvPr>
            <p:cNvGrpSpPr>
              <a:grpSpLocks/>
            </p:cNvGrpSpPr>
            <p:nvPr/>
          </p:nvGrpSpPr>
          <p:grpSpPr bwMode="auto">
            <a:xfrm>
              <a:off x="1151" y="3079"/>
              <a:ext cx="559" cy="910"/>
              <a:chOff x="1008" y="2380"/>
              <a:chExt cx="559" cy="910"/>
            </a:xfrm>
          </p:grpSpPr>
          <p:grpSp>
            <p:nvGrpSpPr>
              <p:cNvPr id="57" name="Group 6">
                <a:extLst>
                  <a:ext uri="{FF2B5EF4-FFF2-40B4-BE49-F238E27FC236}">
                    <a16:creationId xmlns:a16="http://schemas.microsoft.com/office/drawing/2014/main" id="{BBEA7401-1BAC-323F-1DCD-D430693140CC}"/>
                  </a:ext>
                </a:extLst>
              </p:cNvPr>
              <p:cNvGrpSpPr>
                <a:grpSpLocks/>
              </p:cNvGrpSpPr>
              <p:nvPr/>
            </p:nvGrpSpPr>
            <p:grpSpPr bwMode="auto">
              <a:xfrm>
                <a:off x="1008" y="2380"/>
                <a:ext cx="525" cy="390"/>
                <a:chOff x="1367" y="2370"/>
                <a:chExt cx="434" cy="390"/>
              </a:xfrm>
            </p:grpSpPr>
            <p:grpSp>
              <p:nvGrpSpPr>
                <p:cNvPr id="61" name="Group 7">
                  <a:extLst>
                    <a:ext uri="{FF2B5EF4-FFF2-40B4-BE49-F238E27FC236}">
                      <a16:creationId xmlns:a16="http://schemas.microsoft.com/office/drawing/2014/main" id="{E7F3DF5A-213D-A45E-A169-A1D9FFF04040}"/>
                    </a:ext>
                  </a:extLst>
                </p:cNvPr>
                <p:cNvGrpSpPr>
                  <a:grpSpLocks/>
                </p:cNvGrpSpPr>
                <p:nvPr/>
              </p:nvGrpSpPr>
              <p:grpSpPr bwMode="auto">
                <a:xfrm>
                  <a:off x="1367" y="2395"/>
                  <a:ext cx="434" cy="365"/>
                  <a:chOff x="418" y="2981"/>
                  <a:chExt cx="352" cy="365"/>
                </a:xfrm>
              </p:grpSpPr>
              <p:sp>
                <p:nvSpPr>
                  <p:cNvPr id="67" name="Rectangle 8">
                    <a:extLst>
                      <a:ext uri="{FF2B5EF4-FFF2-40B4-BE49-F238E27FC236}">
                        <a16:creationId xmlns:a16="http://schemas.microsoft.com/office/drawing/2014/main" id="{320E48D1-04F7-59D3-400B-366761C04A85}"/>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8" name="Line 9">
                    <a:extLst>
                      <a:ext uri="{FF2B5EF4-FFF2-40B4-BE49-F238E27FC236}">
                        <a16:creationId xmlns:a16="http://schemas.microsoft.com/office/drawing/2014/main" id="{8EC196A2-4B7F-9053-AED2-E9168D1695AF}"/>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62" name="Group 10">
                  <a:extLst>
                    <a:ext uri="{FF2B5EF4-FFF2-40B4-BE49-F238E27FC236}">
                      <a16:creationId xmlns:a16="http://schemas.microsoft.com/office/drawing/2014/main" id="{6A8D67EC-9EF5-DCD5-87B6-1E333D830033}"/>
                    </a:ext>
                  </a:extLst>
                </p:cNvPr>
                <p:cNvGrpSpPr>
                  <a:grpSpLocks/>
                </p:cNvGrpSpPr>
                <p:nvPr/>
              </p:nvGrpSpPr>
              <p:grpSpPr bwMode="auto">
                <a:xfrm flipV="1">
                  <a:off x="1462" y="2586"/>
                  <a:ext cx="96" cy="112"/>
                  <a:chOff x="720" y="3354"/>
                  <a:chExt cx="192" cy="198"/>
                </a:xfrm>
              </p:grpSpPr>
              <p:sp>
                <p:nvSpPr>
                  <p:cNvPr id="65" name="Oval 11">
                    <a:extLst>
                      <a:ext uri="{FF2B5EF4-FFF2-40B4-BE49-F238E27FC236}">
                        <a16:creationId xmlns:a16="http://schemas.microsoft.com/office/drawing/2014/main" id="{106EC64B-8FEB-3085-60D0-9705441B596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12">
                    <a:extLst>
                      <a:ext uri="{FF2B5EF4-FFF2-40B4-BE49-F238E27FC236}">
                        <a16:creationId xmlns:a16="http://schemas.microsoft.com/office/drawing/2014/main" id="{A2E06039-5C3B-243A-A5A7-650BE13BCAA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63" name="Text Box 13">
                  <a:extLst>
                    <a:ext uri="{FF2B5EF4-FFF2-40B4-BE49-F238E27FC236}">
                      <a16:creationId xmlns:a16="http://schemas.microsoft.com/office/drawing/2014/main" id="{5F9A5D3C-DBDF-5E18-DCF3-8FAD5DB4E621}"/>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5</a:t>
                  </a:r>
                </a:p>
              </p:txBody>
            </p:sp>
            <p:sp>
              <p:nvSpPr>
                <p:cNvPr id="64" name="Text Box 14">
                  <a:extLst>
                    <a:ext uri="{FF2B5EF4-FFF2-40B4-BE49-F238E27FC236}">
                      <a16:creationId xmlns:a16="http://schemas.microsoft.com/office/drawing/2014/main" id="{E4E7E8F5-917D-1B5D-1D6A-3043EE497FBD}"/>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grpSp>
          <p:grpSp>
            <p:nvGrpSpPr>
              <p:cNvPr id="58" name="Group 15">
                <a:extLst>
                  <a:ext uri="{FF2B5EF4-FFF2-40B4-BE49-F238E27FC236}">
                    <a16:creationId xmlns:a16="http://schemas.microsoft.com/office/drawing/2014/main" id="{58F67D2D-0CE3-8735-B183-D4657568472C}"/>
                  </a:ext>
                </a:extLst>
              </p:cNvPr>
              <p:cNvGrpSpPr>
                <a:grpSpLocks/>
              </p:cNvGrpSpPr>
              <p:nvPr/>
            </p:nvGrpSpPr>
            <p:grpSpPr bwMode="auto">
              <a:xfrm>
                <a:off x="1012" y="2832"/>
                <a:ext cx="555" cy="458"/>
                <a:chOff x="1012" y="2832"/>
                <a:chExt cx="555" cy="458"/>
              </a:xfrm>
            </p:grpSpPr>
            <p:sp>
              <p:nvSpPr>
                <p:cNvPr id="59" name="Rectangle 16">
                  <a:extLst>
                    <a:ext uri="{FF2B5EF4-FFF2-40B4-BE49-F238E27FC236}">
                      <a16:creationId xmlns:a16="http://schemas.microsoft.com/office/drawing/2014/main" id="{5F5A8C89-7A87-0A42-EDD6-83D4C887F3A5}"/>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0" name="Text Box 17">
                  <a:extLst>
                    <a:ext uri="{FF2B5EF4-FFF2-40B4-BE49-F238E27FC236}">
                      <a16:creationId xmlns:a16="http://schemas.microsoft.com/office/drawing/2014/main" id="{5FA08A0D-C1E5-AC0C-6B7E-F0F6C82EA4C9}"/>
                    </a:ext>
                  </a:extLst>
                </p:cNvPr>
                <p:cNvSpPr txBox="1">
                  <a:spLocks noChangeArrowheads="1"/>
                </p:cNvSpPr>
                <p:nvPr/>
              </p:nvSpPr>
              <p:spPr bwMode="auto">
                <a:xfrm>
                  <a:off x="1014" y="2835"/>
                  <a:ext cx="553" cy="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12</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99%</a:t>
                  </a:r>
                </a:p>
                <a:p>
                  <a:pPr algn="l">
                    <a:lnSpc>
                      <a:spcPct val="100000"/>
                    </a:lnSpc>
                    <a:spcBef>
                      <a:spcPct val="0"/>
                    </a:spcBef>
                  </a:pPr>
                  <a:r>
                    <a:rPr lang="en-US" altLang="en-US" b="0" dirty="0">
                      <a:solidFill>
                        <a:schemeClr val="tx1"/>
                      </a:solidFill>
                      <a:latin typeface="+mn-lt"/>
                    </a:rPr>
                    <a:t>5 Machines</a:t>
                  </a:r>
                </a:p>
              </p:txBody>
            </p:sp>
          </p:grpSp>
        </p:grpSp>
        <p:sp>
          <p:nvSpPr>
            <p:cNvPr id="12" name="Line 18">
              <a:extLst>
                <a:ext uri="{FF2B5EF4-FFF2-40B4-BE49-F238E27FC236}">
                  <a16:creationId xmlns:a16="http://schemas.microsoft.com/office/drawing/2014/main" id="{84878FB9-E0DC-9947-6DA6-28AD6F1B64B4}"/>
                </a:ext>
              </a:extLst>
            </p:cNvPr>
            <p:cNvSpPr>
              <a:spLocks noChangeShapeType="1"/>
            </p:cNvSpPr>
            <p:nvPr/>
          </p:nvSpPr>
          <p:spPr bwMode="auto">
            <a:xfrm flipV="1">
              <a:off x="1691" y="3295"/>
              <a:ext cx="618"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3" name="AutoShape 19">
              <a:extLst>
                <a:ext uri="{FF2B5EF4-FFF2-40B4-BE49-F238E27FC236}">
                  <a16:creationId xmlns:a16="http://schemas.microsoft.com/office/drawing/2014/main" id="{D80874F5-35BF-6C03-3EBA-0A5311D547C1}"/>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grpSp>
          <p:nvGrpSpPr>
            <p:cNvPr id="22" name="Group 20">
              <a:extLst>
                <a:ext uri="{FF2B5EF4-FFF2-40B4-BE49-F238E27FC236}">
                  <a16:creationId xmlns:a16="http://schemas.microsoft.com/office/drawing/2014/main" id="{F86FA602-CE9A-EAFE-EE25-2E04912D26C6}"/>
                </a:ext>
              </a:extLst>
            </p:cNvPr>
            <p:cNvGrpSpPr>
              <a:grpSpLocks/>
            </p:cNvGrpSpPr>
            <p:nvPr/>
          </p:nvGrpSpPr>
          <p:grpSpPr bwMode="auto">
            <a:xfrm>
              <a:off x="2290" y="3066"/>
              <a:ext cx="558" cy="840"/>
              <a:chOff x="2187" y="2375"/>
              <a:chExt cx="558" cy="840"/>
            </a:xfrm>
          </p:grpSpPr>
          <p:sp>
            <p:nvSpPr>
              <p:cNvPr id="46" name="Rectangle 21">
                <a:extLst>
                  <a:ext uri="{FF2B5EF4-FFF2-40B4-BE49-F238E27FC236}">
                    <a16:creationId xmlns:a16="http://schemas.microsoft.com/office/drawing/2014/main" id="{4D103201-BCEB-682F-63D2-4CC64AF5D817}"/>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47" name="Group 22">
                <a:extLst>
                  <a:ext uri="{FF2B5EF4-FFF2-40B4-BE49-F238E27FC236}">
                    <a16:creationId xmlns:a16="http://schemas.microsoft.com/office/drawing/2014/main" id="{50B0DFF4-A3D8-2F65-38AD-7E695A734B2B}"/>
                  </a:ext>
                </a:extLst>
              </p:cNvPr>
              <p:cNvGrpSpPr>
                <a:grpSpLocks/>
              </p:cNvGrpSpPr>
              <p:nvPr/>
            </p:nvGrpSpPr>
            <p:grpSpPr bwMode="auto">
              <a:xfrm>
                <a:off x="2187" y="2375"/>
                <a:ext cx="525" cy="390"/>
                <a:chOff x="1367" y="2370"/>
                <a:chExt cx="434" cy="390"/>
              </a:xfrm>
            </p:grpSpPr>
            <p:grpSp>
              <p:nvGrpSpPr>
                <p:cNvPr id="49" name="Group 23">
                  <a:extLst>
                    <a:ext uri="{FF2B5EF4-FFF2-40B4-BE49-F238E27FC236}">
                      <a16:creationId xmlns:a16="http://schemas.microsoft.com/office/drawing/2014/main" id="{EA26A85F-2784-3E79-7169-FB228C4E0772}"/>
                    </a:ext>
                  </a:extLst>
                </p:cNvPr>
                <p:cNvGrpSpPr>
                  <a:grpSpLocks/>
                </p:cNvGrpSpPr>
                <p:nvPr/>
              </p:nvGrpSpPr>
              <p:grpSpPr bwMode="auto">
                <a:xfrm>
                  <a:off x="1367" y="2395"/>
                  <a:ext cx="434" cy="365"/>
                  <a:chOff x="418" y="2981"/>
                  <a:chExt cx="352" cy="365"/>
                </a:xfrm>
              </p:grpSpPr>
              <p:sp>
                <p:nvSpPr>
                  <p:cNvPr id="55" name="Rectangle 24">
                    <a:extLst>
                      <a:ext uri="{FF2B5EF4-FFF2-40B4-BE49-F238E27FC236}">
                        <a16:creationId xmlns:a16="http://schemas.microsoft.com/office/drawing/2014/main" id="{1F29B650-7ED7-D518-81A4-432FD02ACE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6" name="Line 25">
                    <a:extLst>
                      <a:ext uri="{FF2B5EF4-FFF2-40B4-BE49-F238E27FC236}">
                        <a16:creationId xmlns:a16="http://schemas.microsoft.com/office/drawing/2014/main" id="{582DE424-695F-6209-1D44-5799C52C000C}"/>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50" name="Group 26">
                  <a:extLst>
                    <a:ext uri="{FF2B5EF4-FFF2-40B4-BE49-F238E27FC236}">
                      <a16:creationId xmlns:a16="http://schemas.microsoft.com/office/drawing/2014/main" id="{1EFEF0DF-D233-4FD0-4CA5-16801F521A3E}"/>
                    </a:ext>
                  </a:extLst>
                </p:cNvPr>
                <p:cNvGrpSpPr>
                  <a:grpSpLocks/>
                </p:cNvGrpSpPr>
                <p:nvPr/>
              </p:nvGrpSpPr>
              <p:grpSpPr bwMode="auto">
                <a:xfrm flipV="1">
                  <a:off x="1462" y="2586"/>
                  <a:ext cx="96" cy="112"/>
                  <a:chOff x="720" y="3354"/>
                  <a:chExt cx="192" cy="198"/>
                </a:xfrm>
              </p:grpSpPr>
              <p:sp>
                <p:nvSpPr>
                  <p:cNvPr id="53" name="Oval 27">
                    <a:extLst>
                      <a:ext uri="{FF2B5EF4-FFF2-40B4-BE49-F238E27FC236}">
                        <a16:creationId xmlns:a16="http://schemas.microsoft.com/office/drawing/2014/main" id="{0A5D2B51-CCD3-2F19-54F1-A0E06DAC772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4" name="AutoShape 28">
                    <a:extLst>
                      <a:ext uri="{FF2B5EF4-FFF2-40B4-BE49-F238E27FC236}">
                        <a16:creationId xmlns:a16="http://schemas.microsoft.com/office/drawing/2014/main" id="{4ED3D746-0D3E-36D8-8B7A-50C01866CFE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51" name="Text Box 29">
                  <a:extLst>
                    <a:ext uri="{FF2B5EF4-FFF2-40B4-BE49-F238E27FC236}">
                      <a16:creationId xmlns:a16="http://schemas.microsoft.com/office/drawing/2014/main" id="{F4B76458-A647-F32A-4F96-71695D9D526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52" name="Text Box 30">
                  <a:extLst>
                    <a:ext uri="{FF2B5EF4-FFF2-40B4-BE49-F238E27FC236}">
                      <a16:creationId xmlns:a16="http://schemas.microsoft.com/office/drawing/2014/main" id="{20BFCF07-3607-EB06-36F9-96DFDDE1A07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grpSp>
          <p:sp>
            <p:nvSpPr>
              <p:cNvPr id="48" name="Text Box 31">
                <a:extLst>
                  <a:ext uri="{FF2B5EF4-FFF2-40B4-BE49-F238E27FC236}">
                    <a16:creationId xmlns:a16="http://schemas.microsoft.com/office/drawing/2014/main" id="{35691BD9-C81D-BA57-6B2A-7BE403012F52}"/>
                  </a:ext>
                </a:extLst>
              </p:cNvPr>
              <p:cNvSpPr txBox="1">
                <a:spLocks noChangeArrowheads="1"/>
              </p:cNvSpPr>
              <p:nvPr/>
            </p:nvSpPr>
            <p:spPr bwMode="auto">
              <a:xfrm>
                <a:off x="2192" y="2840"/>
                <a:ext cx="553"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15</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98%</a:t>
                </a:r>
              </a:p>
            </p:txBody>
          </p:sp>
        </p:grpSp>
        <p:grpSp>
          <p:nvGrpSpPr>
            <p:cNvPr id="23" name="Group 32">
              <a:extLst>
                <a:ext uri="{FF2B5EF4-FFF2-40B4-BE49-F238E27FC236}">
                  <a16:creationId xmlns:a16="http://schemas.microsoft.com/office/drawing/2014/main" id="{E02E3182-1DE3-F14B-E798-9AAAE488EB88}"/>
                </a:ext>
              </a:extLst>
            </p:cNvPr>
            <p:cNvGrpSpPr>
              <a:grpSpLocks/>
            </p:cNvGrpSpPr>
            <p:nvPr/>
          </p:nvGrpSpPr>
          <p:grpSpPr bwMode="auto">
            <a:xfrm>
              <a:off x="3429" y="3061"/>
              <a:ext cx="616" cy="841"/>
              <a:chOff x="3285" y="2370"/>
              <a:chExt cx="616" cy="841"/>
            </a:xfrm>
          </p:grpSpPr>
          <p:sp>
            <p:nvSpPr>
              <p:cNvPr id="35" name="Rectangle 33">
                <a:extLst>
                  <a:ext uri="{FF2B5EF4-FFF2-40B4-BE49-F238E27FC236}">
                    <a16:creationId xmlns:a16="http://schemas.microsoft.com/office/drawing/2014/main" id="{87C773C9-FA2A-B65C-CD3C-3584E95F5D67}"/>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36" name="Group 34">
                <a:extLst>
                  <a:ext uri="{FF2B5EF4-FFF2-40B4-BE49-F238E27FC236}">
                    <a16:creationId xmlns:a16="http://schemas.microsoft.com/office/drawing/2014/main" id="{9B633463-45AE-06A6-BD7D-ECB0ED3BC909}"/>
                  </a:ext>
                </a:extLst>
              </p:cNvPr>
              <p:cNvGrpSpPr>
                <a:grpSpLocks/>
              </p:cNvGrpSpPr>
              <p:nvPr/>
            </p:nvGrpSpPr>
            <p:grpSpPr bwMode="auto">
              <a:xfrm>
                <a:off x="3285" y="2370"/>
                <a:ext cx="525" cy="390"/>
                <a:chOff x="1367" y="2370"/>
                <a:chExt cx="434" cy="390"/>
              </a:xfrm>
            </p:grpSpPr>
            <p:grpSp>
              <p:nvGrpSpPr>
                <p:cNvPr id="38" name="Group 35">
                  <a:extLst>
                    <a:ext uri="{FF2B5EF4-FFF2-40B4-BE49-F238E27FC236}">
                      <a16:creationId xmlns:a16="http://schemas.microsoft.com/office/drawing/2014/main" id="{C8182D5F-6CE0-FD6C-4681-5F6172B215F5}"/>
                    </a:ext>
                  </a:extLst>
                </p:cNvPr>
                <p:cNvGrpSpPr>
                  <a:grpSpLocks/>
                </p:cNvGrpSpPr>
                <p:nvPr/>
              </p:nvGrpSpPr>
              <p:grpSpPr bwMode="auto">
                <a:xfrm>
                  <a:off x="1367" y="2395"/>
                  <a:ext cx="434" cy="365"/>
                  <a:chOff x="418" y="2981"/>
                  <a:chExt cx="352" cy="365"/>
                </a:xfrm>
              </p:grpSpPr>
              <p:sp>
                <p:nvSpPr>
                  <p:cNvPr id="44" name="Rectangle 36">
                    <a:extLst>
                      <a:ext uri="{FF2B5EF4-FFF2-40B4-BE49-F238E27FC236}">
                        <a16:creationId xmlns:a16="http://schemas.microsoft.com/office/drawing/2014/main" id="{C60B99CB-60A0-9BB1-DD28-DFE182CFD3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5" name="Line 37">
                    <a:extLst>
                      <a:ext uri="{FF2B5EF4-FFF2-40B4-BE49-F238E27FC236}">
                        <a16:creationId xmlns:a16="http://schemas.microsoft.com/office/drawing/2014/main" id="{CCD55D74-BE7A-4E9A-ABE7-AA8CCD4B4591}"/>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39" name="Group 38">
                  <a:extLst>
                    <a:ext uri="{FF2B5EF4-FFF2-40B4-BE49-F238E27FC236}">
                      <a16:creationId xmlns:a16="http://schemas.microsoft.com/office/drawing/2014/main" id="{C0C49D44-991C-6F93-8625-F9769D115921}"/>
                    </a:ext>
                  </a:extLst>
                </p:cNvPr>
                <p:cNvGrpSpPr>
                  <a:grpSpLocks/>
                </p:cNvGrpSpPr>
                <p:nvPr/>
              </p:nvGrpSpPr>
              <p:grpSpPr bwMode="auto">
                <a:xfrm flipV="1">
                  <a:off x="1462" y="2586"/>
                  <a:ext cx="96" cy="112"/>
                  <a:chOff x="720" y="3354"/>
                  <a:chExt cx="192" cy="198"/>
                </a:xfrm>
              </p:grpSpPr>
              <p:sp>
                <p:nvSpPr>
                  <p:cNvPr id="42" name="Oval 39">
                    <a:extLst>
                      <a:ext uri="{FF2B5EF4-FFF2-40B4-BE49-F238E27FC236}">
                        <a16:creationId xmlns:a16="http://schemas.microsoft.com/office/drawing/2014/main" id="{685735FE-8982-7464-7F09-723D4A71316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3" name="AutoShape 40">
                    <a:extLst>
                      <a:ext uri="{FF2B5EF4-FFF2-40B4-BE49-F238E27FC236}">
                        <a16:creationId xmlns:a16="http://schemas.microsoft.com/office/drawing/2014/main" id="{16ADBA7A-9DD0-906F-9D84-72A674A555D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40" name="Text Box 41">
                  <a:extLst>
                    <a:ext uri="{FF2B5EF4-FFF2-40B4-BE49-F238E27FC236}">
                      <a16:creationId xmlns:a16="http://schemas.microsoft.com/office/drawing/2014/main" id="{D6898099-524A-1D28-B843-89A654DB785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41" name="Text Box 42">
                  <a:extLst>
                    <a:ext uri="{FF2B5EF4-FFF2-40B4-BE49-F238E27FC236}">
                      <a16:creationId xmlns:a16="http://schemas.microsoft.com/office/drawing/2014/main" id="{8CB4BD5A-CA36-4383-BDA1-5692ED05830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Brake Form</a:t>
                  </a:r>
                </a:p>
              </p:txBody>
            </p:sp>
          </p:grpSp>
          <p:sp>
            <p:nvSpPr>
              <p:cNvPr id="37" name="Text Box 43">
                <a:extLst>
                  <a:ext uri="{FF2B5EF4-FFF2-40B4-BE49-F238E27FC236}">
                    <a16:creationId xmlns:a16="http://schemas.microsoft.com/office/drawing/2014/main" id="{F8A9504D-A0EC-1F54-0174-1102CE15AB88}"/>
                  </a:ext>
                </a:extLst>
              </p:cNvPr>
              <p:cNvSpPr txBox="1">
                <a:spLocks noChangeArrowheads="1"/>
              </p:cNvSpPr>
              <p:nvPr/>
            </p:nvSpPr>
            <p:spPr bwMode="auto">
              <a:xfrm>
                <a:off x="3296" y="2836"/>
                <a:ext cx="605"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120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85%</a:t>
                </a:r>
              </a:p>
            </p:txBody>
          </p:sp>
        </p:grpSp>
        <p:sp>
          <p:nvSpPr>
            <p:cNvPr id="24" name="Line 44">
              <a:extLst>
                <a:ext uri="{FF2B5EF4-FFF2-40B4-BE49-F238E27FC236}">
                  <a16:creationId xmlns:a16="http://schemas.microsoft.com/office/drawing/2014/main" id="{682EF678-B495-EB08-B032-0EFCFCDD695A}"/>
                </a:ext>
              </a:extLst>
            </p:cNvPr>
            <p:cNvSpPr>
              <a:spLocks noChangeShapeType="1"/>
            </p:cNvSpPr>
            <p:nvPr/>
          </p:nvSpPr>
          <p:spPr bwMode="auto">
            <a:xfrm flipV="1">
              <a:off x="2829" y="3295"/>
              <a:ext cx="599"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5" name="Line 45">
              <a:extLst>
                <a:ext uri="{FF2B5EF4-FFF2-40B4-BE49-F238E27FC236}">
                  <a16:creationId xmlns:a16="http://schemas.microsoft.com/office/drawing/2014/main" id="{991E73C0-70C0-9658-49F6-2F2C74B5FD8A}"/>
                </a:ext>
              </a:extLst>
            </p:cNvPr>
            <p:cNvSpPr>
              <a:spLocks noChangeShapeType="1"/>
            </p:cNvSpPr>
            <p:nvPr/>
          </p:nvSpPr>
          <p:spPr bwMode="auto">
            <a:xfrm flipV="1">
              <a:off x="3967" y="3295"/>
              <a:ext cx="599"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6" name="AutoShape 46">
              <a:extLst>
                <a:ext uri="{FF2B5EF4-FFF2-40B4-BE49-F238E27FC236}">
                  <a16:creationId xmlns:a16="http://schemas.microsoft.com/office/drawing/2014/main" id="{4723343E-5D9B-7830-2D70-400E275EE072}"/>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7" name="AutoShape 47">
              <a:extLst>
                <a:ext uri="{FF2B5EF4-FFF2-40B4-BE49-F238E27FC236}">
                  <a16:creationId xmlns:a16="http://schemas.microsoft.com/office/drawing/2014/main" id="{6D2FF747-EB53-B7EE-DFC0-216D18FAD3E7}"/>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8" name="Line 48">
              <a:extLst>
                <a:ext uri="{FF2B5EF4-FFF2-40B4-BE49-F238E27FC236}">
                  <a16:creationId xmlns:a16="http://schemas.microsoft.com/office/drawing/2014/main" id="{791D5CD1-1555-6DE2-65D1-E0B9F889EFD2}"/>
                </a:ext>
              </a:extLst>
            </p:cNvPr>
            <p:cNvSpPr>
              <a:spLocks noChangeShapeType="1"/>
            </p:cNvSpPr>
            <p:nvPr/>
          </p:nvSpPr>
          <p:spPr bwMode="auto">
            <a:xfrm flipV="1">
              <a:off x="883" y="3296"/>
              <a:ext cx="268" cy="4"/>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9" name="AutoShape 49">
              <a:extLst>
                <a:ext uri="{FF2B5EF4-FFF2-40B4-BE49-F238E27FC236}">
                  <a16:creationId xmlns:a16="http://schemas.microsoft.com/office/drawing/2014/main" id="{81CF61A5-CB90-7C73-9DA7-91E0C46056C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a:solidFill>
                    <a:schemeClr val="tx1"/>
                  </a:solidFill>
                  <a:latin typeface="Times New Roman" panose="02020603050405020304" pitchFamily="18" charset="0"/>
                </a:rPr>
                <a:t>I</a:t>
              </a:r>
            </a:p>
          </p:txBody>
        </p:sp>
        <p:sp>
          <p:nvSpPr>
            <p:cNvPr id="30" name="Rectangle 50">
              <a:extLst>
                <a:ext uri="{FF2B5EF4-FFF2-40B4-BE49-F238E27FC236}">
                  <a16:creationId xmlns:a16="http://schemas.microsoft.com/office/drawing/2014/main" id="{76FF74A7-959F-E047-2BFB-4B48DAAEE34E}"/>
                </a:ext>
              </a:extLst>
            </p:cNvPr>
            <p:cNvSpPr>
              <a:spLocks noChangeArrowheads="1"/>
            </p:cNvSpPr>
            <p:nvPr/>
          </p:nvSpPr>
          <p:spPr bwMode="auto">
            <a:xfrm>
              <a:off x="637" y="3386"/>
              <a:ext cx="449" cy="161"/>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3,200 Sheets </a:t>
              </a:r>
            </a:p>
          </p:txBody>
        </p:sp>
        <p:sp>
          <p:nvSpPr>
            <p:cNvPr id="31" name="Rectangle 51">
              <a:extLst>
                <a:ext uri="{FF2B5EF4-FFF2-40B4-BE49-F238E27FC236}">
                  <a16:creationId xmlns:a16="http://schemas.microsoft.com/office/drawing/2014/main" id="{70F13098-05CF-3C54-3739-F0F0427F7043}"/>
                </a:ext>
              </a:extLst>
            </p:cNvPr>
            <p:cNvSpPr>
              <a:spLocks noChangeArrowheads="1"/>
            </p:cNvSpPr>
            <p:nvPr/>
          </p:nvSpPr>
          <p:spPr bwMode="auto">
            <a:xfrm>
              <a:off x="1788" y="3386"/>
              <a:ext cx="429" cy="161"/>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5,250 Pieces</a:t>
              </a:r>
            </a:p>
          </p:txBody>
        </p:sp>
        <p:sp>
          <p:nvSpPr>
            <p:cNvPr id="32" name="Rectangle 52">
              <a:extLst>
                <a:ext uri="{FF2B5EF4-FFF2-40B4-BE49-F238E27FC236}">
                  <a16:creationId xmlns:a16="http://schemas.microsoft.com/office/drawing/2014/main" id="{393CBC0C-E136-970E-5E63-206435954243}"/>
                </a:ext>
              </a:extLst>
            </p:cNvPr>
            <p:cNvSpPr>
              <a:spLocks noChangeArrowheads="1"/>
            </p:cNvSpPr>
            <p:nvPr/>
          </p:nvSpPr>
          <p:spPr bwMode="auto">
            <a:xfrm>
              <a:off x="2916" y="3386"/>
              <a:ext cx="429" cy="161"/>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9,300 Pieces</a:t>
              </a:r>
            </a:p>
          </p:txBody>
        </p:sp>
        <p:sp>
          <p:nvSpPr>
            <p:cNvPr id="33" name="Rectangle 53">
              <a:extLst>
                <a:ext uri="{FF2B5EF4-FFF2-40B4-BE49-F238E27FC236}">
                  <a16:creationId xmlns:a16="http://schemas.microsoft.com/office/drawing/2014/main" id="{94F53223-497D-3BE9-1C6C-67225576DB21}"/>
                </a:ext>
              </a:extLst>
            </p:cNvPr>
            <p:cNvSpPr>
              <a:spLocks noChangeArrowheads="1"/>
            </p:cNvSpPr>
            <p:nvPr/>
          </p:nvSpPr>
          <p:spPr bwMode="auto">
            <a:xfrm>
              <a:off x="4012" y="3386"/>
              <a:ext cx="550" cy="161"/>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2,300 Enclosures</a:t>
              </a:r>
            </a:p>
          </p:txBody>
        </p:sp>
        <p:sp>
          <p:nvSpPr>
            <p:cNvPr id="34" name="AutoShape 54">
              <a:extLst>
                <a:ext uri="{FF2B5EF4-FFF2-40B4-BE49-F238E27FC236}">
                  <a16:creationId xmlns:a16="http://schemas.microsoft.com/office/drawing/2014/main" id="{12281E0B-8AC5-300D-3D99-FD6A65DC457C}"/>
                </a:ext>
              </a:extLst>
            </p:cNvPr>
            <p:cNvSpPr>
              <a:spLocks noChangeArrowheads="1"/>
            </p:cNvSpPr>
            <p:nvPr/>
          </p:nvSpPr>
          <p:spPr bwMode="auto">
            <a:xfrm>
              <a:off x="1034" y="3630"/>
              <a:ext cx="2999" cy="86"/>
            </a:xfrm>
            <a:prstGeom prst="roundRect">
              <a:avLst>
                <a:gd name="adj" fmla="val 16667"/>
              </a:avLst>
            </a:prstGeom>
            <a:noFill/>
            <a:ln w="50800" cap="sq">
              <a:solidFill>
                <a:srgbClr val="EE3228"/>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grpSp>
        <p:nvGrpSpPr>
          <p:cNvPr id="4" name="Group 3">
            <a:extLst>
              <a:ext uri="{FF2B5EF4-FFF2-40B4-BE49-F238E27FC236}">
                <a16:creationId xmlns:a16="http://schemas.microsoft.com/office/drawing/2014/main" id="{ED55A508-2B7D-34C1-E9C6-A46791EE293E}"/>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63CA723E-D50A-64CB-D883-C3DCA529A86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EDB01E44-7A96-25C5-8B4E-09EDF907D1B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9" name="AutoShape 9">
              <a:extLst>
                <a:ext uri="{FF2B5EF4-FFF2-40B4-BE49-F238E27FC236}">
                  <a16:creationId xmlns:a16="http://schemas.microsoft.com/office/drawing/2014/main" id="{E1CEBFBC-E0D6-349B-DA42-1A46E2D9D787}"/>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0" name="AutoShape 9">
              <a:extLst>
                <a:ext uri="{FF2B5EF4-FFF2-40B4-BE49-F238E27FC236}">
                  <a16:creationId xmlns:a16="http://schemas.microsoft.com/office/drawing/2014/main" id="{D4BF2724-C9A2-7277-57BD-F23F49D5B32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1" name="AutoShape 9">
              <a:extLst>
                <a:ext uri="{FF2B5EF4-FFF2-40B4-BE49-F238E27FC236}">
                  <a16:creationId xmlns:a16="http://schemas.microsoft.com/office/drawing/2014/main" id="{D5ABCAF6-54E4-B44E-F585-8E8510DF9923}"/>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2" name="AutoShape 11">
              <a:extLst>
                <a:ext uri="{FF2B5EF4-FFF2-40B4-BE49-F238E27FC236}">
                  <a16:creationId xmlns:a16="http://schemas.microsoft.com/office/drawing/2014/main" id="{08BAD392-6693-DC55-DF5F-697FF8A870E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73" name="Slide Number Placeholder 2">
            <a:extLst>
              <a:ext uri="{FF2B5EF4-FFF2-40B4-BE49-F238E27FC236}">
                <a16:creationId xmlns:a16="http://schemas.microsoft.com/office/drawing/2014/main" id="{881F689E-B54E-FC48-B850-C0E2A8CFBD2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110</a:t>
            </a:fld>
            <a:endParaRPr lang="en-US" dirty="0"/>
          </a:p>
        </p:txBody>
      </p:sp>
    </p:spTree>
    <p:extLst>
      <p:ext uri="{BB962C8B-B14F-4D97-AF65-F5344CB8AC3E}">
        <p14:creationId xmlns:p14="http://schemas.microsoft.com/office/powerpoint/2010/main" val="68223298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111</a:t>
            </a:fld>
            <a:endParaRPr lang="en-US" dirty="0"/>
          </a:p>
        </p:txBody>
      </p:sp>
    </p:spTree>
    <p:extLst>
      <p:ext uri="{BB962C8B-B14F-4D97-AF65-F5344CB8AC3E}">
        <p14:creationId xmlns:p14="http://schemas.microsoft.com/office/powerpoint/2010/main" val="244600648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rmAutofit fontScale="90000"/>
          </a:bodyPr>
          <a:lstStyle/>
          <a:p>
            <a:r>
              <a:rPr lang="en-US" altLang="en-US" dirty="0"/>
              <a:t>Identifying Uptime Improvement  Opportunities</a:t>
            </a:r>
            <a:endParaRPr lang="en-US"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a:xfrm>
            <a:off x="837982" y="1825625"/>
            <a:ext cx="10512862" cy="2675422"/>
          </a:xfrm>
        </p:spPr>
        <p:txBody>
          <a:bodyPr>
            <a:normAutofit lnSpcReduction="10000"/>
          </a:bodyPr>
          <a:lstStyle/>
          <a:p>
            <a:pPr>
              <a:spcBef>
                <a:spcPct val="20000"/>
              </a:spcBef>
              <a:spcAft>
                <a:spcPct val="20000"/>
              </a:spcAft>
              <a:buSzPct val="90000"/>
            </a:pPr>
            <a:r>
              <a:rPr lang="en-US" altLang="en-US" sz="2400" dirty="0"/>
              <a:t>Machine uptime, if not addressed, can prohibit effective flow and pull</a:t>
            </a:r>
          </a:p>
          <a:p>
            <a:pPr lvl="1">
              <a:spcBef>
                <a:spcPct val="20000"/>
              </a:spcBef>
              <a:spcAft>
                <a:spcPct val="20000"/>
              </a:spcAft>
              <a:buSzPct val="90000"/>
            </a:pPr>
            <a:r>
              <a:rPr lang="en-US" altLang="en-US" sz="2000" dirty="0"/>
              <a:t>Unscheduled breakdowns and machine adjustments will slow down processes and affect their ability to meet Takt time</a:t>
            </a:r>
          </a:p>
          <a:p>
            <a:pPr lvl="1">
              <a:spcBef>
                <a:spcPct val="20000"/>
              </a:spcBef>
              <a:spcAft>
                <a:spcPct val="20000"/>
              </a:spcAft>
              <a:buSzPct val="90000"/>
            </a:pPr>
            <a:r>
              <a:rPr lang="en-US" altLang="en-US" sz="2000" dirty="0"/>
              <a:t>Added waste in additional operators, machines and inventory</a:t>
            </a:r>
          </a:p>
          <a:p>
            <a:pPr lvl="1">
              <a:spcBef>
                <a:spcPct val="20000"/>
              </a:spcBef>
              <a:spcAft>
                <a:spcPct val="20000"/>
              </a:spcAft>
              <a:buSzPct val="90000"/>
            </a:pPr>
            <a:r>
              <a:rPr lang="en-US" altLang="en-US" sz="2000" dirty="0"/>
              <a:t>Additionally, poor machine performance may affect quality</a:t>
            </a:r>
          </a:p>
          <a:p>
            <a:pPr>
              <a:spcBef>
                <a:spcPct val="20000"/>
              </a:spcBef>
              <a:spcAft>
                <a:spcPct val="20000"/>
              </a:spcAft>
              <a:buSzPct val="90000"/>
            </a:pPr>
            <a:r>
              <a:rPr lang="en-US" altLang="en-US" sz="2400" dirty="0"/>
              <a:t>For MME (simple example), the machine uptime is very good in all production processes so it is not a factor.</a:t>
            </a:r>
          </a:p>
        </p:txBody>
      </p:sp>
      <p:grpSp>
        <p:nvGrpSpPr>
          <p:cNvPr id="10" name="Group 4">
            <a:extLst>
              <a:ext uri="{FF2B5EF4-FFF2-40B4-BE49-F238E27FC236}">
                <a16:creationId xmlns:a16="http://schemas.microsoft.com/office/drawing/2014/main" id="{46EB6F2B-616B-EC56-FC47-049F29B5F20A}"/>
              </a:ext>
            </a:extLst>
          </p:cNvPr>
          <p:cNvGrpSpPr>
            <a:grpSpLocks/>
          </p:cNvGrpSpPr>
          <p:nvPr/>
        </p:nvGrpSpPr>
        <p:grpSpPr bwMode="auto">
          <a:xfrm>
            <a:off x="1090164" y="4709553"/>
            <a:ext cx="9690337" cy="1599122"/>
            <a:chOff x="637" y="3061"/>
            <a:chExt cx="3929" cy="928"/>
          </a:xfrm>
        </p:grpSpPr>
        <p:grpSp>
          <p:nvGrpSpPr>
            <p:cNvPr id="11" name="Group 5">
              <a:extLst>
                <a:ext uri="{FF2B5EF4-FFF2-40B4-BE49-F238E27FC236}">
                  <a16:creationId xmlns:a16="http://schemas.microsoft.com/office/drawing/2014/main" id="{0643A194-0335-B180-85AA-BA97269CE551}"/>
                </a:ext>
              </a:extLst>
            </p:cNvPr>
            <p:cNvGrpSpPr>
              <a:grpSpLocks/>
            </p:cNvGrpSpPr>
            <p:nvPr/>
          </p:nvGrpSpPr>
          <p:grpSpPr bwMode="auto">
            <a:xfrm>
              <a:off x="1151" y="3079"/>
              <a:ext cx="559" cy="910"/>
              <a:chOff x="1008" y="2380"/>
              <a:chExt cx="559" cy="910"/>
            </a:xfrm>
          </p:grpSpPr>
          <p:grpSp>
            <p:nvGrpSpPr>
              <p:cNvPr id="57" name="Group 6">
                <a:extLst>
                  <a:ext uri="{FF2B5EF4-FFF2-40B4-BE49-F238E27FC236}">
                    <a16:creationId xmlns:a16="http://schemas.microsoft.com/office/drawing/2014/main" id="{BBEA7401-1BAC-323F-1DCD-D430693140CC}"/>
                  </a:ext>
                </a:extLst>
              </p:cNvPr>
              <p:cNvGrpSpPr>
                <a:grpSpLocks/>
              </p:cNvGrpSpPr>
              <p:nvPr/>
            </p:nvGrpSpPr>
            <p:grpSpPr bwMode="auto">
              <a:xfrm>
                <a:off x="1008" y="2380"/>
                <a:ext cx="525" cy="390"/>
                <a:chOff x="1367" y="2370"/>
                <a:chExt cx="434" cy="390"/>
              </a:xfrm>
            </p:grpSpPr>
            <p:grpSp>
              <p:nvGrpSpPr>
                <p:cNvPr id="61" name="Group 7">
                  <a:extLst>
                    <a:ext uri="{FF2B5EF4-FFF2-40B4-BE49-F238E27FC236}">
                      <a16:creationId xmlns:a16="http://schemas.microsoft.com/office/drawing/2014/main" id="{E7F3DF5A-213D-A45E-A169-A1D9FFF04040}"/>
                    </a:ext>
                  </a:extLst>
                </p:cNvPr>
                <p:cNvGrpSpPr>
                  <a:grpSpLocks/>
                </p:cNvGrpSpPr>
                <p:nvPr/>
              </p:nvGrpSpPr>
              <p:grpSpPr bwMode="auto">
                <a:xfrm>
                  <a:off x="1367" y="2395"/>
                  <a:ext cx="434" cy="365"/>
                  <a:chOff x="418" y="2981"/>
                  <a:chExt cx="352" cy="365"/>
                </a:xfrm>
              </p:grpSpPr>
              <p:sp>
                <p:nvSpPr>
                  <p:cNvPr id="67" name="Rectangle 8">
                    <a:extLst>
                      <a:ext uri="{FF2B5EF4-FFF2-40B4-BE49-F238E27FC236}">
                        <a16:creationId xmlns:a16="http://schemas.microsoft.com/office/drawing/2014/main" id="{320E48D1-04F7-59D3-400B-366761C04A85}"/>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8" name="Line 9">
                    <a:extLst>
                      <a:ext uri="{FF2B5EF4-FFF2-40B4-BE49-F238E27FC236}">
                        <a16:creationId xmlns:a16="http://schemas.microsoft.com/office/drawing/2014/main" id="{8EC196A2-4B7F-9053-AED2-E9168D1695AF}"/>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62" name="Group 10">
                  <a:extLst>
                    <a:ext uri="{FF2B5EF4-FFF2-40B4-BE49-F238E27FC236}">
                      <a16:creationId xmlns:a16="http://schemas.microsoft.com/office/drawing/2014/main" id="{6A8D67EC-9EF5-DCD5-87B6-1E333D830033}"/>
                    </a:ext>
                  </a:extLst>
                </p:cNvPr>
                <p:cNvGrpSpPr>
                  <a:grpSpLocks/>
                </p:cNvGrpSpPr>
                <p:nvPr/>
              </p:nvGrpSpPr>
              <p:grpSpPr bwMode="auto">
                <a:xfrm flipV="1">
                  <a:off x="1462" y="2586"/>
                  <a:ext cx="96" cy="112"/>
                  <a:chOff x="720" y="3354"/>
                  <a:chExt cx="192" cy="198"/>
                </a:xfrm>
              </p:grpSpPr>
              <p:sp>
                <p:nvSpPr>
                  <p:cNvPr id="65" name="Oval 11">
                    <a:extLst>
                      <a:ext uri="{FF2B5EF4-FFF2-40B4-BE49-F238E27FC236}">
                        <a16:creationId xmlns:a16="http://schemas.microsoft.com/office/drawing/2014/main" id="{106EC64B-8FEB-3085-60D0-9705441B596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12">
                    <a:extLst>
                      <a:ext uri="{FF2B5EF4-FFF2-40B4-BE49-F238E27FC236}">
                        <a16:creationId xmlns:a16="http://schemas.microsoft.com/office/drawing/2014/main" id="{A2E06039-5C3B-243A-A5A7-650BE13BCAA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63" name="Text Box 13">
                  <a:extLst>
                    <a:ext uri="{FF2B5EF4-FFF2-40B4-BE49-F238E27FC236}">
                      <a16:creationId xmlns:a16="http://schemas.microsoft.com/office/drawing/2014/main" id="{5F9A5D3C-DBDF-5E18-DCF3-8FAD5DB4E621}"/>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5</a:t>
                  </a:r>
                </a:p>
              </p:txBody>
            </p:sp>
            <p:sp>
              <p:nvSpPr>
                <p:cNvPr id="64" name="Text Box 14">
                  <a:extLst>
                    <a:ext uri="{FF2B5EF4-FFF2-40B4-BE49-F238E27FC236}">
                      <a16:creationId xmlns:a16="http://schemas.microsoft.com/office/drawing/2014/main" id="{E4E7E8F5-917D-1B5D-1D6A-3043EE497FBD}"/>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grpSp>
          <p:grpSp>
            <p:nvGrpSpPr>
              <p:cNvPr id="58" name="Group 15">
                <a:extLst>
                  <a:ext uri="{FF2B5EF4-FFF2-40B4-BE49-F238E27FC236}">
                    <a16:creationId xmlns:a16="http://schemas.microsoft.com/office/drawing/2014/main" id="{58F67D2D-0CE3-8735-B183-D4657568472C}"/>
                  </a:ext>
                </a:extLst>
              </p:cNvPr>
              <p:cNvGrpSpPr>
                <a:grpSpLocks/>
              </p:cNvGrpSpPr>
              <p:nvPr/>
            </p:nvGrpSpPr>
            <p:grpSpPr bwMode="auto">
              <a:xfrm>
                <a:off x="1012" y="2832"/>
                <a:ext cx="555" cy="458"/>
                <a:chOff x="1012" y="2832"/>
                <a:chExt cx="555" cy="458"/>
              </a:xfrm>
            </p:grpSpPr>
            <p:sp>
              <p:nvSpPr>
                <p:cNvPr id="59" name="Rectangle 16">
                  <a:extLst>
                    <a:ext uri="{FF2B5EF4-FFF2-40B4-BE49-F238E27FC236}">
                      <a16:creationId xmlns:a16="http://schemas.microsoft.com/office/drawing/2014/main" id="{5F5A8C89-7A87-0A42-EDD6-83D4C887F3A5}"/>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0" name="Text Box 17">
                  <a:extLst>
                    <a:ext uri="{FF2B5EF4-FFF2-40B4-BE49-F238E27FC236}">
                      <a16:creationId xmlns:a16="http://schemas.microsoft.com/office/drawing/2014/main" id="{5FA08A0D-C1E5-AC0C-6B7E-F0F6C82EA4C9}"/>
                    </a:ext>
                  </a:extLst>
                </p:cNvPr>
                <p:cNvSpPr txBox="1">
                  <a:spLocks noChangeArrowheads="1"/>
                </p:cNvSpPr>
                <p:nvPr/>
              </p:nvSpPr>
              <p:spPr bwMode="auto">
                <a:xfrm>
                  <a:off x="1014" y="2835"/>
                  <a:ext cx="553" cy="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12</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99%</a:t>
                  </a:r>
                </a:p>
                <a:p>
                  <a:pPr algn="l">
                    <a:lnSpc>
                      <a:spcPct val="100000"/>
                    </a:lnSpc>
                    <a:spcBef>
                      <a:spcPct val="0"/>
                    </a:spcBef>
                  </a:pPr>
                  <a:r>
                    <a:rPr lang="en-US" altLang="en-US" b="0" dirty="0">
                      <a:solidFill>
                        <a:schemeClr val="tx1"/>
                      </a:solidFill>
                      <a:latin typeface="+mn-lt"/>
                    </a:rPr>
                    <a:t>5 Machines</a:t>
                  </a:r>
                </a:p>
              </p:txBody>
            </p:sp>
          </p:grpSp>
        </p:grpSp>
        <p:sp>
          <p:nvSpPr>
            <p:cNvPr id="12" name="Line 18">
              <a:extLst>
                <a:ext uri="{FF2B5EF4-FFF2-40B4-BE49-F238E27FC236}">
                  <a16:creationId xmlns:a16="http://schemas.microsoft.com/office/drawing/2014/main" id="{84878FB9-E0DC-9947-6DA6-28AD6F1B64B4}"/>
                </a:ext>
              </a:extLst>
            </p:cNvPr>
            <p:cNvSpPr>
              <a:spLocks noChangeShapeType="1"/>
            </p:cNvSpPr>
            <p:nvPr/>
          </p:nvSpPr>
          <p:spPr bwMode="auto">
            <a:xfrm flipV="1">
              <a:off x="1691" y="3295"/>
              <a:ext cx="618"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3" name="AutoShape 19">
              <a:extLst>
                <a:ext uri="{FF2B5EF4-FFF2-40B4-BE49-F238E27FC236}">
                  <a16:creationId xmlns:a16="http://schemas.microsoft.com/office/drawing/2014/main" id="{D80874F5-35BF-6C03-3EBA-0A5311D547C1}"/>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grpSp>
          <p:nvGrpSpPr>
            <p:cNvPr id="22" name="Group 20">
              <a:extLst>
                <a:ext uri="{FF2B5EF4-FFF2-40B4-BE49-F238E27FC236}">
                  <a16:creationId xmlns:a16="http://schemas.microsoft.com/office/drawing/2014/main" id="{F86FA602-CE9A-EAFE-EE25-2E04912D26C6}"/>
                </a:ext>
              </a:extLst>
            </p:cNvPr>
            <p:cNvGrpSpPr>
              <a:grpSpLocks/>
            </p:cNvGrpSpPr>
            <p:nvPr/>
          </p:nvGrpSpPr>
          <p:grpSpPr bwMode="auto">
            <a:xfrm>
              <a:off x="2290" y="3066"/>
              <a:ext cx="558" cy="840"/>
              <a:chOff x="2187" y="2375"/>
              <a:chExt cx="558" cy="840"/>
            </a:xfrm>
          </p:grpSpPr>
          <p:sp>
            <p:nvSpPr>
              <p:cNvPr id="46" name="Rectangle 21">
                <a:extLst>
                  <a:ext uri="{FF2B5EF4-FFF2-40B4-BE49-F238E27FC236}">
                    <a16:creationId xmlns:a16="http://schemas.microsoft.com/office/drawing/2014/main" id="{4D103201-BCEB-682F-63D2-4CC64AF5D817}"/>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47" name="Group 22">
                <a:extLst>
                  <a:ext uri="{FF2B5EF4-FFF2-40B4-BE49-F238E27FC236}">
                    <a16:creationId xmlns:a16="http://schemas.microsoft.com/office/drawing/2014/main" id="{50B0DFF4-A3D8-2F65-38AD-7E695A734B2B}"/>
                  </a:ext>
                </a:extLst>
              </p:cNvPr>
              <p:cNvGrpSpPr>
                <a:grpSpLocks/>
              </p:cNvGrpSpPr>
              <p:nvPr/>
            </p:nvGrpSpPr>
            <p:grpSpPr bwMode="auto">
              <a:xfrm>
                <a:off x="2187" y="2375"/>
                <a:ext cx="525" cy="390"/>
                <a:chOff x="1367" y="2370"/>
                <a:chExt cx="434" cy="390"/>
              </a:xfrm>
            </p:grpSpPr>
            <p:grpSp>
              <p:nvGrpSpPr>
                <p:cNvPr id="49" name="Group 23">
                  <a:extLst>
                    <a:ext uri="{FF2B5EF4-FFF2-40B4-BE49-F238E27FC236}">
                      <a16:creationId xmlns:a16="http://schemas.microsoft.com/office/drawing/2014/main" id="{EA26A85F-2784-3E79-7169-FB228C4E0772}"/>
                    </a:ext>
                  </a:extLst>
                </p:cNvPr>
                <p:cNvGrpSpPr>
                  <a:grpSpLocks/>
                </p:cNvGrpSpPr>
                <p:nvPr/>
              </p:nvGrpSpPr>
              <p:grpSpPr bwMode="auto">
                <a:xfrm>
                  <a:off x="1367" y="2395"/>
                  <a:ext cx="434" cy="365"/>
                  <a:chOff x="418" y="2981"/>
                  <a:chExt cx="352" cy="365"/>
                </a:xfrm>
              </p:grpSpPr>
              <p:sp>
                <p:nvSpPr>
                  <p:cNvPr id="55" name="Rectangle 24">
                    <a:extLst>
                      <a:ext uri="{FF2B5EF4-FFF2-40B4-BE49-F238E27FC236}">
                        <a16:creationId xmlns:a16="http://schemas.microsoft.com/office/drawing/2014/main" id="{1F29B650-7ED7-D518-81A4-432FD02ACE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6" name="Line 25">
                    <a:extLst>
                      <a:ext uri="{FF2B5EF4-FFF2-40B4-BE49-F238E27FC236}">
                        <a16:creationId xmlns:a16="http://schemas.microsoft.com/office/drawing/2014/main" id="{582DE424-695F-6209-1D44-5799C52C000C}"/>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50" name="Group 26">
                  <a:extLst>
                    <a:ext uri="{FF2B5EF4-FFF2-40B4-BE49-F238E27FC236}">
                      <a16:creationId xmlns:a16="http://schemas.microsoft.com/office/drawing/2014/main" id="{1EFEF0DF-D233-4FD0-4CA5-16801F521A3E}"/>
                    </a:ext>
                  </a:extLst>
                </p:cNvPr>
                <p:cNvGrpSpPr>
                  <a:grpSpLocks/>
                </p:cNvGrpSpPr>
                <p:nvPr/>
              </p:nvGrpSpPr>
              <p:grpSpPr bwMode="auto">
                <a:xfrm flipV="1">
                  <a:off x="1462" y="2586"/>
                  <a:ext cx="96" cy="112"/>
                  <a:chOff x="720" y="3354"/>
                  <a:chExt cx="192" cy="198"/>
                </a:xfrm>
              </p:grpSpPr>
              <p:sp>
                <p:nvSpPr>
                  <p:cNvPr id="53" name="Oval 27">
                    <a:extLst>
                      <a:ext uri="{FF2B5EF4-FFF2-40B4-BE49-F238E27FC236}">
                        <a16:creationId xmlns:a16="http://schemas.microsoft.com/office/drawing/2014/main" id="{0A5D2B51-CCD3-2F19-54F1-A0E06DAC772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4" name="AutoShape 28">
                    <a:extLst>
                      <a:ext uri="{FF2B5EF4-FFF2-40B4-BE49-F238E27FC236}">
                        <a16:creationId xmlns:a16="http://schemas.microsoft.com/office/drawing/2014/main" id="{4ED3D746-0D3E-36D8-8B7A-50C01866CFE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51" name="Text Box 29">
                  <a:extLst>
                    <a:ext uri="{FF2B5EF4-FFF2-40B4-BE49-F238E27FC236}">
                      <a16:creationId xmlns:a16="http://schemas.microsoft.com/office/drawing/2014/main" id="{F4B76458-A647-F32A-4F96-71695D9D526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52" name="Text Box 30">
                  <a:extLst>
                    <a:ext uri="{FF2B5EF4-FFF2-40B4-BE49-F238E27FC236}">
                      <a16:creationId xmlns:a16="http://schemas.microsoft.com/office/drawing/2014/main" id="{20BFCF07-3607-EB06-36F9-96DFDDE1A07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grpSp>
          <p:sp>
            <p:nvSpPr>
              <p:cNvPr id="48" name="Text Box 31">
                <a:extLst>
                  <a:ext uri="{FF2B5EF4-FFF2-40B4-BE49-F238E27FC236}">
                    <a16:creationId xmlns:a16="http://schemas.microsoft.com/office/drawing/2014/main" id="{35691BD9-C81D-BA57-6B2A-7BE403012F52}"/>
                  </a:ext>
                </a:extLst>
              </p:cNvPr>
              <p:cNvSpPr txBox="1">
                <a:spLocks noChangeArrowheads="1"/>
              </p:cNvSpPr>
              <p:nvPr/>
            </p:nvSpPr>
            <p:spPr bwMode="auto">
              <a:xfrm>
                <a:off x="2192" y="2840"/>
                <a:ext cx="553"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15</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98%</a:t>
                </a:r>
              </a:p>
            </p:txBody>
          </p:sp>
        </p:grpSp>
        <p:grpSp>
          <p:nvGrpSpPr>
            <p:cNvPr id="23" name="Group 32">
              <a:extLst>
                <a:ext uri="{FF2B5EF4-FFF2-40B4-BE49-F238E27FC236}">
                  <a16:creationId xmlns:a16="http://schemas.microsoft.com/office/drawing/2014/main" id="{E02E3182-1DE3-F14B-E798-9AAAE488EB88}"/>
                </a:ext>
              </a:extLst>
            </p:cNvPr>
            <p:cNvGrpSpPr>
              <a:grpSpLocks/>
            </p:cNvGrpSpPr>
            <p:nvPr/>
          </p:nvGrpSpPr>
          <p:grpSpPr bwMode="auto">
            <a:xfrm>
              <a:off x="3429" y="3061"/>
              <a:ext cx="616" cy="841"/>
              <a:chOff x="3285" y="2370"/>
              <a:chExt cx="616" cy="841"/>
            </a:xfrm>
          </p:grpSpPr>
          <p:sp>
            <p:nvSpPr>
              <p:cNvPr id="35" name="Rectangle 33">
                <a:extLst>
                  <a:ext uri="{FF2B5EF4-FFF2-40B4-BE49-F238E27FC236}">
                    <a16:creationId xmlns:a16="http://schemas.microsoft.com/office/drawing/2014/main" id="{87C773C9-FA2A-B65C-CD3C-3584E95F5D67}"/>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36" name="Group 34">
                <a:extLst>
                  <a:ext uri="{FF2B5EF4-FFF2-40B4-BE49-F238E27FC236}">
                    <a16:creationId xmlns:a16="http://schemas.microsoft.com/office/drawing/2014/main" id="{9B633463-45AE-06A6-BD7D-ECB0ED3BC909}"/>
                  </a:ext>
                </a:extLst>
              </p:cNvPr>
              <p:cNvGrpSpPr>
                <a:grpSpLocks/>
              </p:cNvGrpSpPr>
              <p:nvPr/>
            </p:nvGrpSpPr>
            <p:grpSpPr bwMode="auto">
              <a:xfrm>
                <a:off x="3285" y="2370"/>
                <a:ext cx="525" cy="390"/>
                <a:chOff x="1367" y="2370"/>
                <a:chExt cx="434" cy="390"/>
              </a:xfrm>
            </p:grpSpPr>
            <p:grpSp>
              <p:nvGrpSpPr>
                <p:cNvPr id="38" name="Group 35">
                  <a:extLst>
                    <a:ext uri="{FF2B5EF4-FFF2-40B4-BE49-F238E27FC236}">
                      <a16:creationId xmlns:a16="http://schemas.microsoft.com/office/drawing/2014/main" id="{C8182D5F-6CE0-FD6C-4681-5F6172B215F5}"/>
                    </a:ext>
                  </a:extLst>
                </p:cNvPr>
                <p:cNvGrpSpPr>
                  <a:grpSpLocks/>
                </p:cNvGrpSpPr>
                <p:nvPr/>
              </p:nvGrpSpPr>
              <p:grpSpPr bwMode="auto">
                <a:xfrm>
                  <a:off x="1367" y="2395"/>
                  <a:ext cx="434" cy="365"/>
                  <a:chOff x="418" y="2981"/>
                  <a:chExt cx="352" cy="365"/>
                </a:xfrm>
              </p:grpSpPr>
              <p:sp>
                <p:nvSpPr>
                  <p:cNvPr id="44" name="Rectangle 36">
                    <a:extLst>
                      <a:ext uri="{FF2B5EF4-FFF2-40B4-BE49-F238E27FC236}">
                        <a16:creationId xmlns:a16="http://schemas.microsoft.com/office/drawing/2014/main" id="{C60B99CB-60A0-9BB1-DD28-DFE182CFD3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5" name="Line 37">
                    <a:extLst>
                      <a:ext uri="{FF2B5EF4-FFF2-40B4-BE49-F238E27FC236}">
                        <a16:creationId xmlns:a16="http://schemas.microsoft.com/office/drawing/2014/main" id="{CCD55D74-BE7A-4E9A-ABE7-AA8CCD4B4591}"/>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39" name="Group 38">
                  <a:extLst>
                    <a:ext uri="{FF2B5EF4-FFF2-40B4-BE49-F238E27FC236}">
                      <a16:creationId xmlns:a16="http://schemas.microsoft.com/office/drawing/2014/main" id="{C0C49D44-991C-6F93-8625-F9769D115921}"/>
                    </a:ext>
                  </a:extLst>
                </p:cNvPr>
                <p:cNvGrpSpPr>
                  <a:grpSpLocks/>
                </p:cNvGrpSpPr>
                <p:nvPr/>
              </p:nvGrpSpPr>
              <p:grpSpPr bwMode="auto">
                <a:xfrm flipV="1">
                  <a:off x="1462" y="2586"/>
                  <a:ext cx="96" cy="112"/>
                  <a:chOff x="720" y="3354"/>
                  <a:chExt cx="192" cy="198"/>
                </a:xfrm>
              </p:grpSpPr>
              <p:sp>
                <p:nvSpPr>
                  <p:cNvPr id="42" name="Oval 39">
                    <a:extLst>
                      <a:ext uri="{FF2B5EF4-FFF2-40B4-BE49-F238E27FC236}">
                        <a16:creationId xmlns:a16="http://schemas.microsoft.com/office/drawing/2014/main" id="{685735FE-8982-7464-7F09-723D4A71316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3" name="AutoShape 40">
                    <a:extLst>
                      <a:ext uri="{FF2B5EF4-FFF2-40B4-BE49-F238E27FC236}">
                        <a16:creationId xmlns:a16="http://schemas.microsoft.com/office/drawing/2014/main" id="{16ADBA7A-9DD0-906F-9D84-72A674A555D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40" name="Text Box 41">
                  <a:extLst>
                    <a:ext uri="{FF2B5EF4-FFF2-40B4-BE49-F238E27FC236}">
                      <a16:creationId xmlns:a16="http://schemas.microsoft.com/office/drawing/2014/main" id="{D6898099-524A-1D28-B843-89A654DB785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41" name="Text Box 42">
                  <a:extLst>
                    <a:ext uri="{FF2B5EF4-FFF2-40B4-BE49-F238E27FC236}">
                      <a16:creationId xmlns:a16="http://schemas.microsoft.com/office/drawing/2014/main" id="{8CB4BD5A-CA36-4383-BDA1-5692ED05830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Brake Form</a:t>
                  </a:r>
                </a:p>
              </p:txBody>
            </p:sp>
          </p:grpSp>
          <p:sp>
            <p:nvSpPr>
              <p:cNvPr id="37" name="Text Box 43">
                <a:extLst>
                  <a:ext uri="{FF2B5EF4-FFF2-40B4-BE49-F238E27FC236}">
                    <a16:creationId xmlns:a16="http://schemas.microsoft.com/office/drawing/2014/main" id="{F8A9504D-A0EC-1F54-0174-1102CE15AB88}"/>
                  </a:ext>
                </a:extLst>
              </p:cNvPr>
              <p:cNvSpPr txBox="1">
                <a:spLocks noChangeArrowheads="1"/>
              </p:cNvSpPr>
              <p:nvPr/>
            </p:nvSpPr>
            <p:spPr bwMode="auto">
              <a:xfrm>
                <a:off x="3296" y="2836"/>
                <a:ext cx="605"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120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85%</a:t>
                </a:r>
              </a:p>
            </p:txBody>
          </p:sp>
        </p:grpSp>
        <p:sp>
          <p:nvSpPr>
            <p:cNvPr id="24" name="Line 44">
              <a:extLst>
                <a:ext uri="{FF2B5EF4-FFF2-40B4-BE49-F238E27FC236}">
                  <a16:creationId xmlns:a16="http://schemas.microsoft.com/office/drawing/2014/main" id="{682EF678-B495-EB08-B032-0EFCFCDD695A}"/>
                </a:ext>
              </a:extLst>
            </p:cNvPr>
            <p:cNvSpPr>
              <a:spLocks noChangeShapeType="1"/>
            </p:cNvSpPr>
            <p:nvPr/>
          </p:nvSpPr>
          <p:spPr bwMode="auto">
            <a:xfrm flipV="1">
              <a:off x="2829" y="3295"/>
              <a:ext cx="599"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5" name="Line 45">
              <a:extLst>
                <a:ext uri="{FF2B5EF4-FFF2-40B4-BE49-F238E27FC236}">
                  <a16:creationId xmlns:a16="http://schemas.microsoft.com/office/drawing/2014/main" id="{991E73C0-70C0-9658-49F6-2F2C74B5FD8A}"/>
                </a:ext>
              </a:extLst>
            </p:cNvPr>
            <p:cNvSpPr>
              <a:spLocks noChangeShapeType="1"/>
            </p:cNvSpPr>
            <p:nvPr/>
          </p:nvSpPr>
          <p:spPr bwMode="auto">
            <a:xfrm flipV="1">
              <a:off x="3967" y="3295"/>
              <a:ext cx="599" cy="8"/>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6" name="AutoShape 46">
              <a:extLst>
                <a:ext uri="{FF2B5EF4-FFF2-40B4-BE49-F238E27FC236}">
                  <a16:creationId xmlns:a16="http://schemas.microsoft.com/office/drawing/2014/main" id="{4723343E-5D9B-7830-2D70-400E275EE072}"/>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7" name="AutoShape 47">
              <a:extLst>
                <a:ext uri="{FF2B5EF4-FFF2-40B4-BE49-F238E27FC236}">
                  <a16:creationId xmlns:a16="http://schemas.microsoft.com/office/drawing/2014/main" id="{6D2FF747-EB53-B7EE-DFC0-216D18FAD3E7}"/>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8" name="Line 48">
              <a:extLst>
                <a:ext uri="{FF2B5EF4-FFF2-40B4-BE49-F238E27FC236}">
                  <a16:creationId xmlns:a16="http://schemas.microsoft.com/office/drawing/2014/main" id="{791D5CD1-1555-6DE2-65D1-E0B9F889EFD2}"/>
                </a:ext>
              </a:extLst>
            </p:cNvPr>
            <p:cNvSpPr>
              <a:spLocks noChangeShapeType="1"/>
            </p:cNvSpPr>
            <p:nvPr/>
          </p:nvSpPr>
          <p:spPr bwMode="auto">
            <a:xfrm flipV="1">
              <a:off x="883" y="3296"/>
              <a:ext cx="268" cy="4"/>
            </a:xfrm>
            <a:prstGeom prst="line">
              <a:avLst/>
            </a:prstGeom>
            <a:noFill/>
            <a:ln w="104775">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9" name="AutoShape 49">
              <a:extLst>
                <a:ext uri="{FF2B5EF4-FFF2-40B4-BE49-F238E27FC236}">
                  <a16:creationId xmlns:a16="http://schemas.microsoft.com/office/drawing/2014/main" id="{81CF61A5-CB90-7C73-9DA7-91E0C46056C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a:solidFill>
                    <a:schemeClr val="tx1"/>
                  </a:solidFill>
                  <a:latin typeface="Times New Roman" panose="02020603050405020304" pitchFamily="18" charset="0"/>
                </a:rPr>
                <a:t>I</a:t>
              </a:r>
            </a:p>
          </p:txBody>
        </p:sp>
        <p:sp>
          <p:nvSpPr>
            <p:cNvPr id="30" name="Rectangle 50">
              <a:extLst>
                <a:ext uri="{FF2B5EF4-FFF2-40B4-BE49-F238E27FC236}">
                  <a16:creationId xmlns:a16="http://schemas.microsoft.com/office/drawing/2014/main" id="{76FF74A7-959F-E047-2BFB-4B48DAAEE34E}"/>
                </a:ext>
              </a:extLst>
            </p:cNvPr>
            <p:cNvSpPr>
              <a:spLocks noChangeArrowheads="1"/>
            </p:cNvSpPr>
            <p:nvPr/>
          </p:nvSpPr>
          <p:spPr bwMode="auto">
            <a:xfrm>
              <a:off x="637" y="3386"/>
              <a:ext cx="44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3,200 Sheets </a:t>
              </a:r>
            </a:p>
          </p:txBody>
        </p:sp>
        <p:sp>
          <p:nvSpPr>
            <p:cNvPr id="31" name="Rectangle 51">
              <a:extLst>
                <a:ext uri="{FF2B5EF4-FFF2-40B4-BE49-F238E27FC236}">
                  <a16:creationId xmlns:a16="http://schemas.microsoft.com/office/drawing/2014/main" id="{70F13098-05CF-3C54-3739-F0F0427F7043}"/>
                </a:ext>
              </a:extLst>
            </p:cNvPr>
            <p:cNvSpPr>
              <a:spLocks noChangeArrowheads="1"/>
            </p:cNvSpPr>
            <p:nvPr/>
          </p:nvSpPr>
          <p:spPr bwMode="auto">
            <a:xfrm>
              <a:off x="1788" y="3386"/>
              <a:ext cx="42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5,250 Pieces</a:t>
              </a:r>
            </a:p>
          </p:txBody>
        </p:sp>
        <p:sp>
          <p:nvSpPr>
            <p:cNvPr id="32" name="Rectangle 52">
              <a:extLst>
                <a:ext uri="{FF2B5EF4-FFF2-40B4-BE49-F238E27FC236}">
                  <a16:creationId xmlns:a16="http://schemas.microsoft.com/office/drawing/2014/main" id="{393CBC0C-E136-970E-5E63-206435954243}"/>
                </a:ext>
              </a:extLst>
            </p:cNvPr>
            <p:cNvSpPr>
              <a:spLocks noChangeArrowheads="1"/>
            </p:cNvSpPr>
            <p:nvPr/>
          </p:nvSpPr>
          <p:spPr bwMode="auto">
            <a:xfrm>
              <a:off x="2916" y="3386"/>
              <a:ext cx="42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9,300 Pieces</a:t>
              </a:r>
            </a:p>
          </p:txBody>
        </p:sp>
        <p:sp>
          <p:nvSpPr>
            <p:cNvPr id="33" name="Rectangle 53">
              <a:extLst>
                <a:ext uri="{FF2B5EF4-FFF2-40B4-BE49-F238E27FC236}">
                  <a16:creationId xmlns:a16="http://schemas.microsoft.com/office/drawing/2014/main" id="{94F53223-497D-3BE9-1C6C-67225576DB21}"/>
                </a:ext>
              </a:extLst>
            </p:cNvPr>
            <p:cNvSpPr>
              <a:spLocks noChangeArrowheads="1"/>
            </p:cNvSpPr>
            <p:nvPr/>
          </p:nvSpPr>
          <p:spPr bwMode="auto">
            <a:xfrm>
              <a:off x="4012" y="3386"/>
              <a:ext cx="550"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2,300 Enclosures</a:t>
              </a:r>
            </a:p>
          </p:txBody>
        </p:sp>
        <p:sp>
          <p:nvSpPr>
            <p:cNvPr id="34" name="AutoShape 54">
              <a:extLst>
                <a:ext uri="{FF2B5EF4-FFF2-40B4-BE49-F238E27FC236}">
                  <a16:creationId xmlns:a16="http://schemas.microsoft.com/office/drawing/2014/main" id="{12281E0B-8AC5-300D-3D99-FD6A65DC457C}"/>
                </a:ext>
              </a:extLst>
            </p:cNvPr>
            <p:cNvSpPr>
              <a:spLocks noChangeArrowheads="1"/>
            </p:cNvSpPr>
            <p:nvPr/>
          </p:nvSpPr>
          <p:spPr bwMode="auto">
            <a:xfrm>
              <a:off x="1034" y="3700"/>
              <a:ext cx="2999" cy="86"/>
            </a:xfrm>
            <a:prstGeom prst="roundRect">
              <a:avLst>
                <a:gd name="adj" fmla="val 16667"/>
              </a:avLst>
            </a:prstGeom>
            <a:noFill/>
            <a:ln w="50800" cap="sq">
              <a:solidFill>
                <a:srgbClr val="EE3228"/>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grpSp>
        <p:nvGrpSpPr>
          <p:cNvPr id="4" name="Group 3">
            <a:extLst>
              <a:ext uri="{FF2B5EF4-FFF2-40B4-BE49-F238E27FC236}">
                <a16:creationId xmlns:a16="http://schemas.microsoft.com/office/drawing/2014/main" id="{C5B42134-61D2-8D58-9C07-A18D08A9B6F1}"/>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2450045F-F14D-1C15-C87A-8A79F73E41B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86D2B0FA-4BC5-DEE0-17F9-007D9102594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ADC2AD4F-5550-3DC8-5A94-704A88DA9E4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8877841F-A745-D259-B2D6-5CDEBAD28EE6}"/>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293F0E43-0A50-D475-B5B1-2C34AEFDFFB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9" name="AutoShape 11">
              <a:extLst>
                <a:ext uri="{FF2B5EF4-FFF2-40B4-BE49-F238E27FC236}">
                  <a16:creationId xmlns:a16="http://schemas.microsoft.com/office/drawing/2014/main" id="{80B1B713-6572-BAD1-4F30-4B274B61BF3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70" name="Slide Number Placeholder 2">
            <a:extLst>
              <a:ext uri="{FF2B5EF4-FFF2-40B4-BE49-F238E27FC236}">
                <a16:creationId xmlns:a16="http://schemas.microsoft.com/office/drawing/2014/main" id="{17612DC8-A53D-7581-598E-7B49C92FD0C4}"/>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112</a:t>
            </a:fld>
            <a:endParaRPr lang="en-US" dirty="0"/>
          </a:p>
        </p:txBody>
      </p:sp>
    </p:spTree>
    <p:extLst>
      <p:ext uri="{BB962C8B-B14F-4D97-AF65-F5344CB8AC3E}">
        <p14:creationId xmlns:p14="http://schemas.microsoft.com/office/powerpoint/2010/main" val="193230916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113</a:t>
            </a:fld>
            <a:endParaRPr lang="en-US" dirty="0"/>
          </a:p>
        </p:txBody>
      </p:sp>
    </p:spTree>
    <p:extLst>
      <p:ext uri="{BB962C8B-B14F-4D97-AF65-F5344CB8AC3E}">
        <p14:creationId xmlns:p14="http://schemas.microsoft.com/office/powerpoint/2010/main" val="24056315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latin typeface="Roboto" panose="02000000000000000000"/>
              </a:rPr>
              <a:t>Identifying Manpower Improvements</a:t>
            </a:r>
            <a:endParaRPr lang="en-US" dirty="0">
              <a:latin typeface="Roboto" panose="02000000000000000000"/>
            </a:endParaRP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951596" y="2205872"/>
            <a:ext cx="10058911" cy="3696458"/>
            <a:chOff x="493713" y="1387475"/>
            <a:chExt cx="8207374" cy="4632326"/>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100" dirty="0">
                <a:solidFill>
                  <a:srgbClr val="191C25"/>
                </a:solidFill>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806827"/>
              <a:ext cx="833438" cy="598488"/>
              <a:chOff x="4424" y="2398"/>
              <a:chExt cx="525" cy="377"/>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20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6"/>
              <a:ext cx="806450" cy="552450"/>
              <a:chOff x="474" y="1322"/>
              <a:chExt cx="508" cy="348"/>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500" b="0">
                    <a:solidFill>
                      <a:srgbClr val="191C25"/>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28"/>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500" b="0" dirty="0">
                    <a:solidFill>
                      <a:srgbClr val="191C25"/>
                    </a:solidFill>
                    <a:latin typeface="Roboto" panose="02000000000000000000"/>
                  </a:rPr>
                  <a:t>Ed</a:t>
                </a:r>
                <a:r>
                  <a:rPr lang="ja-JP" altLang="en-US" sz="500" b="0" dirty="0">
                    <a:solidFill>
                      <a:srgbClr val="191C25"/>
                    </a:solidFill>
                    <a:latin typeface="Roboto" panose="02000000000000000000"/>
                  </a:rPr>
                  <a:t>’</a:t>
                </a:r>
                <a:r>
                  <a:rPr lang="en-US" altLang="ja-JP" sz="500" b="0" dirty="0">
                    <a:solidFill>
                      <a:srgbClr val="191C25"/>
                    </a:solidFill>
                    <a:latin typeface="Roboto" panose="02000000000000000000"/>
                  </a:rPr>
                  <a:t>s Electrical Supply</a:t>
                </a:r>
                <a:endParaRPr lang="en-US" altLang="en-US" sz="500" b="0" dirty="0">
                  <a:solidFill>
                    <a:srgbClr val="191C25"/>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515445" y="1493839"/>
              <a:ext cx="2043263" cy="347130"/>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rgbClr val="191C25"/>
                  </a:solidFill>
                  <a:latin typeface="Roboto" panose="02000000000000000000"/>
                </a:rPr>
                <a:t>Mike</a:t>
              </a:r>
              <a:r>
                <a:rPr lang="ja-JP" altLang="en-US" sz="1200" dirty="0">
                  <a:solidFill>
                    <a:srgbClr val="191C25"/>
                  </a:solidFill>
                  <a:latin typeface="Roboto" panose="02000000000000000000"/>
                </a:rPr>
                <a:t>’</a:t>
              </a:r>
              <a:r>
                <a:rPr lang="en-US" altLang="ja-JP" sz="1200" dirty="0">
                  <a:solidFill>
                    <a:srgbClr val="191C25"/>
                  </a:solidFill>
                  <a:latin typeface="Roboto" panose="02000000000000000000"/>
                </a:rPr>
                <a:t>s Metal Enclosures (MME)</a:t>
              </a:r>
              <a:endParaRPr lang="en-US" altLang="en-US" sz="1200" dirty="0">
                <a:solidFill>
                  <a:srgbClr val="191C25"/>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04984"/>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500" b="0" dirty="0">
                  <a:solidFill>
                    <a:srgbClr val="191C25"/>
                  </a:solidFill>
                  <a:latin typeface="Roboto" panose="02000000000000000000"/>
                </a:rPr>
                <a:t>Demand = 30,000 Enclosures/month</a:t>
              </a:r>
            </a:p>
            <a:p>
              <a:pPr algn="l">
                <a:lnSpc>
                  <a:spcPct val="100000"/>
                </a:lnSpc>
                <a:spcBef>
                  <a:spcPct val="0"/>
                </a:spcBef>
                <a:buFontTx/>
                <a:buChar char="•"/>
              </a:pPr>
              <a:r>
                <a:rPr lang="en-US" altLang="en-US" sz="500" b="0" dirty="0">
                  <a:solidFill>
                    <a:srgbClr val="191C25"/>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4" y="2460400"/>
            <a:ext cx="1739317" cy="460862"/>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700" b="0" dirty="0">
                  <a:solidFill>
                    <a:srgbClr val="191C25"/>
                  </a:solidFill>
                  <a:latin typeface="Roboto" panose="02000000000000000000"/>
                </a:rPr>
                <a:t>27,000 Seconds</a:t>
              </a:r>
            </a:p>
            <a:p>
              <a:pPr>
                <a:lnSpc>
                  <a:spcPct val="100000"/>
                </a:lnSpc>
                <a:spcBef>
                  <a:spcPct val="35000"/>
                </a:spcBef>
              </a:pPr>
              <a:r>
                <a:rPr lang="en-US" altLang="en-US" sz="700" b="0" dirty="0">
                  <a:solidFill>
                    <a:srgbClr val="191C25"/>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dirty="0">
                  <a:solidFill>
                    <a:srgbClr val="191C25"/>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2628925"/>
            <a:ext cx="7936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700" b="0" dirty="0">
                <a:solidFill>
                  <a:srgbClr val="191C25"/>
                </a:solidFill>
                <a:latin typeface="Roboto" panose="02000000000000000000"/>
              </a:rPr>
              <a:t>= </a:t>
            </a:r>
            <a:r>
              <a:rPr lang="en-US" altLang="en-US" sz="700" dirty="0">
                <a:solidFill>
                  <a:srgbClr val="191C25"/>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5" y="381448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385683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6" y="373485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3" y="381448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385683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4" y="373485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7" y="383366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387601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8" y="375403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74016" y="2650520"/>
            <a:ext cx="1945" cy="1034958"/>
          </a:xfrm>
          <a:prstGeom prst="line">
            <a:avLst/>
          </a:prstGeom>
          <a:solidFill>
            <a:schemeClr val="bg1"/>
          </a:solidFill>
          <a:ln w="50800" cmpd="dbl">
            <a:solidFill>
              <a:schemeClr val="tx1"/>
            </a:solidFill>
            <a:round/>
            <a:headEnd/>
            <a:tailEnd type="triangle" w="sm" len="sm"/>
          </a:ln>
        </p:spPr>
        <p:txBody>
          <a:bodyPr/>
          <a:lstStyle/>
          <a:p>
            <a:endParaRPr lang="en-US" sz="1100">
              <a:solidFill>
                <a:srgbClr val="191C25"/>
              </a:solidFill>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91510" y="3140077"/>
            <a:ext cx="451865" cy="22450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6790" y="3214528"/>
            <a:ext cx="200654" cy="15005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257" y="3384067"/>
            <a:ext cx="99537" cy="7445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208" y="3384067"/>
            <a:ext cx="99537" cy="7445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7900" y="3174608"/>
            <a:ext cx="599254" cy="16927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500" b="0" dirty="0">
                <a:solidFill>
                  <a:srgbClr val="191C25"/>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89" y="3846759"/>
            <a:ext cx="1150725" cy="256904"/>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7" y="3846759"/>
            <a:ext cx="1150725" cy="256904"/>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39" y="3846759"/>
            <a:ext cx="1150725" cy="256904"/>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3" y="3846759"/>
            <a:ext cx="816458" cy="256904"/>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6" y="3942343"/>
            <a:ext cx="320459" cy="231086"/>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3" y="3919038"/>
            <a:ext cx="320459" cy="231086"/>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7" y="3935368"/>
            <a:ext cx="320459" cy="231086"/>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74863" y="4203958"/>
            <a:ext cx="865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3,200 Sheets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423448" y="4203958"/>
            <a:ext cx="8170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5,250 Pieces</a:t>
            </a: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720839" y="4180137"/>
            <a:ext cx="8170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9,300 Pieces</a:t>
            </a: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933750" y="4180137"/>
            <a:ext cx="104124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2,300 Enclosures</a:t>
            </a: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40542" y="4037120"/>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5</a:t>
            </a: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63206" y="4013299"/>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1</a:t>
            </a: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77395" y="3997258"/>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1</a:t>
            </a: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2"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12 S</a:t>
            </a:r>
          </a:p>
          <a:p>
            <a:pPr algn="l"/>
            <a:r>
              <a:rPr lang="en-US" altLang="en-US" sz="800" b="0" dirty="0">
                <a:solidFill>
                  <a:srgbClr val="191C25"/>
                </a:solidFill>
                <a:latin typeface="Roboto" panose="02000000000000000000"/>
              </a:rPr>
              <a:t>C/O Time =30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99%</a:t>
            </a:r>
          </a:p>
          <a:p>
            <a:pPr algn="l"/>
            <a:r>
              <a:rPr lang="en-US" altLang="en-US" sz="800" b="0" dirty="0">
                <a:solidFill>
                  <a:srgbClr val="191C25"/>
                </a:solidFill>
                <a:latin typeface="Roboto" panose="02000000000000000000"/>
              </a:rPr>
              <a:t>5 Machines</a:t>
            </a:r>
          </a:p>
          <a:p>
            <a:pPr algn="l"/>
            <a:endParaRPr lang="en-US" altLang="en-US" sz="800" b="0" dirty="0">
              <a:solidFill>
                <a:srgbClr val="191C25"/>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69"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15 S</a:t>
            </a:r>
          </a:p>
          <a:p>
            <a:pPr algn="l"/>
            <a:r>
              <a:rPr lang="en-US" altLang="en-US" sz="800" b="0" dirty="0">
                <a:solidFill>
                  <a:srgbClr val="191C25"/>
                </a:solidFill>
                <a:latin typeface="Roboto" panose="02000000000000000000"/>
              </a:rPr>
              <a:t>C/O Time = 30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5"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20 S</a:t>
            </a:r>
          </a:p>
          <a:p>
            <a:pPr algn="l"/>
            <a:r>
              <a:rPr lang="en-US" altLang="en-US" sz="800" b="0" dirty="0">
                <a:solidFill>
                  <a:srgbClr val="191C25"/>
                </a:solidFill>
                <a:latin typeface="Roboto" panose="02000000000000000000"/>
              </a:rPr>
              <a:t>C/O Time = 120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8" y="4608091"/>
            <a:ext cx="866347" cy="338554"/>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1 sheet yields 4 pieces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89" y="2172586"/>
            <a:ext cx="1089799" cy="155097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9"/>
              <a:chOff x="435" y="1322"/>
              <a:chExt cx="583" cy="399"/>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500" b="0">
                    <a:solidFill>
                      <a:srgbClr val="191C25"/>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rgbClr val="191C25"/>
                    </a:solidFill>
                    <a:latin typeface="Roboto" panose="02000000000000000000"/>
                  </a:rPr>
                  <a:t>Acme</a:t>
                </a:r>
              </a:p>
              <a:p>
                <a:pPr>
                  <a:lnSpc>
                    <a:spcPct val="90000"/>
                  </a:lnSpc>
                  <a:spcBef>
                    <a:spcPct val="0"/>
                  </a:spcBef>
                </a:pPr>
                <a:r>
                  <a:rPr lang="en-US" altLang="en-US" sz="700" b="0" dirty="0">
                    <a:solidFill>
                      <a:srgbClr val="191C25"/>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rgbClr val="191C25"/>
                    </a:solidFill>
                    <a:latin typeface="Roboto" panose="02000000000000000000"/>
                  </a:rPr>
                  <a:t>1X</a:t>
                </a:r>
              </a:p>
              <a:p>
                <a:pPr>
                  <a:lnSpc>
                    <a:spcPct val="100000"/>
                  </a:lnSpc>
                  <a:spcBef>
                    <a:spcPct val="0"/>
                  </a:spcBef>
                </a:pPr>
                <a:r>
                  <a:rPr lang="en-US" altLang="en-US" sz="700" b="0" dirty="0">
                    <a:solidFill>
                      <a:srgbClr val="191C25"/>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5" y="5252409"/>
            <a:ext cx="7846168" cy="479795"/>
            <a:chOff x="2231195" y="9983474"/>
            <a:chExt cx="16050210" cy="1211040"/>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10"/>
              <a:ext cx="1476099"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6" y="10553610"/>
              <a:ext cx="1476099"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6" y="10553610"/>
              <a:ext cx="1476099"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41" y="10003962"/>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5" y="100083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8" y="99834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4" y="5176260"/>
            <a:ext cx="1657604" cy="460862"/>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700" b="0" dirty="0">
                  <a:solidFill>
                    <a:srgbClr val="191C25"/>
                  </a:solidFill>
                  <a:latin typeface="Roboto" panose="02000000000000000000"/>
                </a:rPr>
                <a:t>Production L.T. = 19.7 days</a:t>
              </a:r>
            </a:p>
            <a:p>
              <a:pPr>
                <a:lnSpc>
                  <a:spcPct val="100000"/>
                </a:lnSpc>
                <a:spcBef>
                  <a:spcPct val="35000"/>
                </a:spcBef>
              </a:pPr>
              <a:r>
                <a:rPr lang="en-US" altLang="en-US" sz="700" b="0" dirty="0">
                  <a:solidFill>
                    <a:srgbClr val="191C25"/>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262616"/>
            <a:ext cx="6930114" cy="1461219"/>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Monthly P.O.</a:t>
                </a:r>
              </a:p>
              <a:p>
                <a:pPr>
                  <a:lnSpc>
                    <a:spcPct val="90000"/>
                  </a:lnSpc>
                  <a:spcBef>
                    <a:spcPct val="0"/>
                  </a:spcBef>
                </a:pPr>
                <a:r>
                  <a:rPr lang="en-US" altLang="en-US" sz="800" b="0" dirty="0">
                    <a:solidFill>
                      <a:srgbClr val="191C25"/>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Daily Orders</a:t>
                </a:r>
              </a:p>
              <a:p>
                <a:pPr>
                  <a:lnSpc>
                    <a:spcPct val="90000"/>
                  </a:lnSpc>
                  <a:spcBef>
                    <a:spcPct val="0"/>
                  </a:spcBef>
                </a:pPr>
                <a:r>
                  <a:rPr lang="en-US" altLang="en-US" sz="800" b="0" dirty="0">
                    <a:solidFill>
                      <a:srgbClr val="191C25"/>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800" b="0">
                  <a:solidFill>
                    <a:srgbClr val="191C25"/>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MRP</a:t>
                </a:r>
              </a:p>
              <a:p>
                <a:pPr>
                  <a:lnSpc>
                    <a:spcPct val="90000"/>
                  </a:lnSpc>
                  <a:spcBef>
                    <a:spcPct val="0"/>
                  </a:spcBef>
                </a:pPr>
                <a:r>
                  <a:rPr lang="en-US" altLang="en-US" sz="800" b="0" dirty="0">
                    <a:solidFill>
                      <a:srgbClr val="191C25"/>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72" y="1283"/>
                <a:ext cx="54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800" b="0">
                    <a:solidFill>
                      <a:srgbClr val="191C25"/>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a:solidFill>
                      <a:srgbClr val="191C25"/>
                    </a:solidFill>
                    <a:latin typeface="Roboto" panose="02000000000000000000"/>
                  </a:rPr>
                  <a:t>Daily Ship</a:t>
                </a:r>
              </a:p>
              <a:p>
                <a:pPr>
                  <a:lnSpc>
                    <a:spcPct val="90000"/>
                  </a:lnSpc>
                  <a:spcBef>
                    <a:spcPct val="0"/>
                  </a:spcBef>
                </a:pPr>
                <a:r>
                  <a:rPr lang="en-US" altLang="en-US" sz="800" b="0">
                    <a:solidFill>
                      <a:srgbClr val="191C25"/>
                    </a:solidFill>
                    <a:latin typeface="Roboto" panose="02000000000000000000"/>
                  </a:rPr>
                  <a:t>Schedule</a:t>
                </a:r>
              </a:p>
              <a:p>
                <a:pPr>
                  <a:lnSpc>
                    <a:spcPct val="90000"/>
                  </a:lnSpc>
                  <a:spcBef>
                    <a:spcPct val="0"/>
                  </a:spcBef>
                </a:pPr>
                <a:r>
                  <a:rPr lang="en-US" altLang="en-US" sz="800" b="0">
                    <a:solidFill>
                      <a:srgbClr val="191C25"/>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81808" y="4282098"/>
            <a:ext cx="1410271" cy="958743"/>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191C25"/>
                </a:solidFill>
                <a:latin typeface="Roboto" panose="02000000000000000000"/>
              </a:rPr>
              <a:t>Improve</a:t>
            </a:r>
          </a:p>
          <a:p>
            <a:pPr>
              <a:lnSpc>
                <a:spcPct val="100000"/>
              </a:lnSpc>
              <a:spcBef>
                <a:spcPct val="0"/>
              </a:spcBef>
            </a:pPr>
            <a:r>
              <a:rPr lang="en-US" altLang="en-US" sz="1200" b="0" dirty="0">
                <a:solidFill>
                  <a:srgbClr val="191C25"/>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367386" y="3967908"/>
            <a:ext cx="3516909" cy="1270728"/>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826639" y="3864167"/>
            <a:ext cx="434962" cy="431867"/>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85284" y="4723555"/>
            <a:ext cx="1477730" cy="81288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191C25"/>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765382" y="3531173"/>
            <a:ext cx="447006" cy="419718"/>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0800000">
            <a:off x="8188308" y="3538159"/>
            <a:ext cx="447006" cy="419718"/>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440890" y="3861441"/>
            <a:ext cx="437883" cy="37514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968410" y="3636636"/>
            <a:ext cx="215051" cy="38684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262815" y="3853688"/>
            <a:ext cx="215051" cy="38684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689269" y="3973071"/>
            <a:ext cx="437883" cy="37514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426408" y="3925979"/>
            <a:ext cx="437883" cy="37514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135674" y="3847591"/>
            <a:ext cx="215051" cy="38684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777104" y="4057426"/>
            <a:ext cx="1176389" cy="758526"/>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Reduce</a:t>
            </a:r>
          </a:p>
          <a:p>
            <a:pPr>
              <a:lnSpc>
                <a:spcPct val="100000"/>
              </a:lnSpc>
              <a:spcBef>
                <a:spcPct val="30000"/>
              </a:spcBef>
            </a:pPr>
            <a:r>
              <a:rPr lang="en-US" altLang="en-US" sz="1050" b="0" dirty="0">
                <a:solidFill>
                  <a:srgbClr val="191C25"/>
                </a:solidFill>
                <a:latin typeface="Roboto" panose="02000000000000000000"/>
              </a:rPr>
              <a:t>Manpower</a:t>
            </a:r>
          </a:p>
        </p:txBody>
      </p:sp>
      <p:sp>
        <p:nvSpPr>
          <p:cNvPr id="109" name="Rectangle 144">
            <a:extLst>
              <a:ext uri="{FF2B5EF4-FFF2-40B4-BE49-F238E27FC236}">
                <a16:creationId xmlns:a16="http://schemas.microsoft.com/office/drawing/2014/main" id="{53D8CD4A-4168-4086-A63D-3F864E268F5E}"/>
              </a:ext>
            </a:extLst>
          </p:cNvPr>
          <p:cNvSpPr>
            <a:spLocks noChangeArrowheads="1"/>
          </p:cNvSpPr>
          <p:nvPr/>
        </p:nvSpPr>
        <p:spPr bwMode="auto">
          <a:xfrm>
            <a:off x="2096816" y="2005770"/>
            <a:ext cx="7436652" cy="1237262"/>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200" dirty="0">
                <a:solidFill>
                  <a:srgbClr val="191C25"/>
                </a:solidFill>
                <a:latin typeface="Roboto" panose="02000000000000000000"/>
              </a:rPr>
              <a:t>Re-assess manpower requirements (against TT) where operations are combined</a:t>
            </a:r>
          </a:p>
          <a:p>
            <a:pPr lvl="1" algn="l">
              <a:spcBef>
                <a:spcPct val="30000"/>
              </a:spcBef>
              <a:buFontTx/>
              <a:buChar char="•"/>
            </a:pPr>
            <a:r>
              <a:rPr lang="en-US" altLang="en-US" sz="1200" dirty="0">
                <a:solidFill>
                  <a:srgbClr val="191C25"/>
                </a:solidFill>
                <a:latin typeface="Roboto" panose="02000000000000000000"/>
              </a:rPr>
              <a:t>Can one person operate multiple machines (For MME case, no)</a:t>
            </a:r>
          </a:p>
          <a:p>
            <a:pPr algn="l">
              <a:lnSpc>
                <a:spcPct val="100000"/>
              </a:lnSpc>
              <a:spcBef>
                <a:spcPct val="30000"/>
              </a:spcBef>
              <a:buFontTx/>
              <a:buChar char="•"/>
            </a:pPr>
            <a:r>
              <a:rPr lang="en-US" altLang="en-US" sz="1200" dirty="0">
                <a:solidFill>
                  <a:srgbClr val="191C25"/>
                </a:solidFill>
                <a:latin typeface="Roboto" panose="02000000000000000000"/>
              </a:rPr>
              <a:t>Assess other process capacity vs Takt Time to identify potential* changes to manpower</a:t>
            </a:r>
          </a:p>
          <a:p>
            <a:pPr lvl="1" algn="l">
              <a:spcBef>
                <a:spcPct val="30000"/>
              </a:spcBef>
              <a:buFontTx/>
              <a:buChar char="•"/>
            </a:pPr>
            <a:r>
              <a:rPr lang="en-US" altLang="en-US" sz="1200" dirty="0">
                <a:solidFill>
                  <a:srgbClr val="191C25"/>
                </a:solidFill>
                <a:latin typeface="Roboto" panose="02000000000000000000"/>
              </a:rPr>
              <a:t>For MME, the cut process can be reduced by 1 man/machine</a:t>
            </a:r>
          </a:p>
          <a:p>
            <a:pPr lvl="1" algn="l">
              <a:spcBef>
                <a:spcPct val="30000"/>
              </a:spcBef>
              <a:buFontTx/>
              <a:buChar char="•"/>
            </a:pPr>
            <a:r>
              <a:rPr lang="en-US" altLang="en-US" sz="1200" dirty="0">
                <a:solidFill>
                  <a:srgbClr val="191C25"/>
                </a:solidFill>
                <a:latin typeface="Roboto" panose="02000000000000000000"/>
              </a:rPr>
              <a:t>Calc: 240”/processing time ÷ 4 pieces/cycle ÷ 4 operators = 15” DOI</a:t>
            </a:r>
          </a:p>
        </p:txBody>
      </p:sp>
      <p:sp>
        <p:nvSpPr>
          <p:cNvPr id="111" name="Text Box 172">
            <a:extLst>
              <a:ext uri="{FF2B5EF4-FFF2-40B4-BE49-F238E27FC236}">
                <a16:creationId xmlns:a16="http://schemas.microsoft.com/office/drawing/2014/main" id="{F629F077-5636-EA9E-8ACF-B991881E7066}"/>
              </a:ext>
            </a:extLst>
          </p:cNvPr>
          <p:cNvSpPr txBox="1">
            <a:spLocks noChangeArrowheads="1"/>
          </p:cNvSpPr>
          <p:nvPr/>
        </p:nvSpPr>
        <p:spPr bwMode="auto">
          <a:xfrm>
            <a:off x="1221915" y="6043244"/>
            <a:ext cx="9120416"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050" dirty="0">
                <a:solidFill>
                  <a:srgbClr val="191C25"/>
                </a:solidFill>
                <a:latin typeface="Roboto" panose="02000000000000000000"/>
              </a:rPr>
              <a:t>* </a:t>
            </a:r>
            <a:r>
              <a:rPr lang="en-US" altLang="en-US" sz="1050" u="sng" dirty="0">
                <a:solidFill>
                  <a:srgbClr val="191C25"/>
                </a:solidFill>
                <a:latin typeface="Roboto" panose="02000000000000000000"/>
              </a:rPr>
              <a:t>Potential</a:t>
            </a:r>
            <a:r>
              <a:rPr lang="en-US" altLang="en-US" sz="1050" dirty="0">
                <a:solidFill>
                  <a:srgbClr val="191C25"/>
                </a:solidFill>
                <a:latin typeface="Roboto" panose="02000000000000000000"/>
              </a:rPr>
              <a:t> manpower changes will be verified in subsequent kaizen events where Standard Work is established</a:t>
            </a:r>
          </a:p>
        </p:txBody>
      </p:sp>
      <p:grpSp>
        <p:nvGrpSpPr>
          <p:cNvPr id="105" name="Group 104">
            <a:extLst>
              <a:ext uri="{FF2B5EF4-FFF2-40B4-BE49-F238E27FC236}">
                <a16:creationId xmlns:a16="http://schemas.microsoft.com/office/drawing/2014/main" id="{E572E20B-6822-E25D-6B83-2CA76E7F52E7}"/>
              </a:ext>
            </a:extLst>
          </p:cNvPr>
          <p:cNvGrpSpPr/>
          <p:nvPr/>
        </p:nvGrpSpPr>
        <p:grpSpPr>
          <a:xfrm>
            <a:off x="940004" y="321492"/>
            <a:ext cx="6217883" cy="311851"/>
            <a:chOff x="940249" y="302538"/>
            <a:chExt cx="6219503" cy="311932"/>
          </a:xfrm>
        </p:grpSpPr>
        <p:sp>
          <p:nvSpPr>
            <p:cNvPr id="114" name="TextBox 113">
              <a:extLst>
                <a:ext uri="{FF2B5EF4-FFF2-40B4-BE49-F238E27FC236}">
                  <a16:creationId xmlns:a16="http://schemas.microsoft.com/office/drawing/2014/main" id="{60EC9875-29B8-1735-6AB1-522237DD6E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5" name="AutoShape 9">
              <a:extLst>
                <a:ext uri="{FF2B5EF4-FFF2-40B4-BE49-F238E27FC236}">
                  <a16:creationId xmlns:a16="http://schemas.microsoft.com/office/drawing/2014/main" id="{C85BCF61-9AAE-5DB8-3808-C377DB059C2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9" name="AutoShape 9">
              <a:extLst>
                <a:ext uri="{FF2B5EF4-FFF2-40B4-BE49-F238E27FC236}">
                  <a16:creationId xmlns:a16="http://schemas.microsoft.com/office/drawing/2014/main" id="{79ADB452-8409-9418-FE55-2D6BA0A975F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20" name="AutoShape 9">
              <a:extLst>
                <a:ext uri="{FF2B5EF4-FFF2-40B4-BE49-F238E27FC236}">
                  <a16:creationId xmlns:a16="http://schemas.microsoft.com/office/drawing/2014/main" id="{0676A46B-26F0-1BEA-C226-D284CE702A41}"/>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49" name="AutoShape 9">
              <a:extLst>
                <a:ext uri="{FF2B5EF4-FFF2-40B4-BE49-F238E27FC236}">
                  <a16:creationId xmlns:a16="http://schemas.microsoft.com/office/drawing/2014/main" id="{CD7C7B3A-88A3-2297-B260-1BB4D3139EC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50" name="AutoShape 11">
              <a:extLst>
                <a:ext uri="{FF2B5EF4-FFF2-40B4-BE49-F238E27FC236}">
                  <a16:creationId xmlns:a16="http://schemas.microsoft.com/office/drawing/2014/main" id="{708A5F68-779E-CE5E-EFAB-D5CDCF0EFBB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51" name="Slide Number Placeholder 2">
            <a:extLst>
              <a:ext uri="{FF2B5EF4-FFF2-40B4-BE49-F238E27FC236}">
                <a16:creationId xmlns:a16="http://schemas.microsoft.com/office/drawing/2014/main" id="{79540E72-03AB-664A-17AE-D4B0D6313FC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114</a:t>
            </a:fld>
            <a:endParaRPr lang="en-US" dirty="0">
              <a:latin typeface="Roboto" panose="02000000000000000000"/>
            </a:endParaRPr>
          </a:p>
        </p:txBody>
      </p:sp>
    </p:spTree>
    <p:extLst>
      <p:ext uri="{BB962C8B-B14F-4D97-AF65-F5344CB8AC3E}">
        <p14:creationId xmlns:p14="http://schemas.microsoft.com/office/powerpoint/2010/main" val="3332345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par>
                                <p:cTn id="115" presetID="1" presetClass="entr" presetSubtype="0" fill="hold" grpId="0" nodeType="withEffect">
                                  <p:stCondLst>
                                    <p:cond delay="0"/>
                                  </p:stCondLst>
                                  <p:childTnLst>
                                    <p:set>
                                      <p:cBhvr>
                                        <p:cTn id="116" dur="1" fill="hold">
                                          <p:stCondLst>
                                            <p:cond delay="0"/>
                                          </p:stCondLst>
                                        </p:cTn>
                                        <p:tgtEl>
                                          <p:spTgt spid="1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11"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latin typeface="Roboto" panose="02000000000000000000"/>
              </a:rPr>
              <a:t>Identifying Manpower Improvements</a:t>
            </a:r>
            <a:endParaRPr lang="en-US" dirty="0">
              <a:latin typeface="Roboto" panose="02000000000000000000"/>
            </a:endParaRPr>
          </a:p>
        </p:txBody>
      </p:sp>
      <p:grpSp>
        <p:nvGrpSpPr>
          <p:cNvPr id="56" name="Group 55">
            <a:extLst>
              <a:ext uri="{FF2B5EF4-FFF2-40B4-BE49-F238E27FC236}">
                <a16:creationId xmlns:a16="http://schemas.microsoft.com/office/drawing/2014/main" id="{A0450857-D716-BC62-7FBE-DF70A637F851}"/>
              </a:ext>
            </a:extLst>
          </p:cNvPr>
          <p:cNvGrpSpPr/>
          <p:nvPr/>
        </p:nvGrpSpPr>
        <p:grpSpPr>
          <a:xfrm>
            <a:off x="951596" y="1866504"/>
            <a:ext cx="10058911" cy="4035826"/>
            <a:chOff x="493713" y="962186"/>
            <a:chExt cx="8207374" cy="5057615"/>
          </a:xfrm>
          <a:solidFill>
            <a:schemeClr val="bg1"/>
          </a:solidFill>
        </p:grpSpPr>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493713" y="1387475"/>
              <a:ext cx="8207374" cy="4632326"/>
            </a:xfrm>
            <a:prstGeom prst="rect">
              <a:avLst/>
            </a:prstGeom>
            <a:grp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100" dirty="0">
                <a:solidFill>
                  <a:srgbClr val="191C25"/>
                </a:solidFill>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7023099" y="3744917"/>
              <a:ext cx="833438" cy="660401"/>
              <a:chOff x="4424" y="2359"/>
              <a:chExt cx="525" cy="416"/>
            </a:xfrm>
            <a:grp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59"/>
                <a:ext cx="492" cy="20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6940550" y="1939926"/>
              <a:ext cx="806450" cy="552450"/>
              <a:chOff x="474" y="1322"/>
              <a:chExt cx="508" cy="348"/>
            </a:xfrm>
            <a:grp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500" b="0">
                    <a:solidFill>
                      <a:srgbClr val="191C25"/>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28"/>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500" b="0" dirty="0">
                    <a:solidFill>
                      <a:srgbClr val="191C25"/>
                    </a:solidFill>
                    <a:latin typeface="Roboto" panose="02000000000000000000"/>
                  </a:rPr>
                  <a:t>Ed</a:t>
                </a:r>
                <a:r>
                  <a:rPr lang="ja-JP" altLang="en-US" sz="500" b="0" dirty="0">
                    <a:solidFill>
                      <a:srgbClr val="191C25"/>
                    </a:solidFill>
                    <a:latin typeface="Roboto" panose="02000000000000000000"/>
                  </a:rPr>
                  <a:t>’</a:t>
                </a:r>
                <a:r>
                  <a:rPr lang="en-US" altLang="ja-JP" sz="500" b="0" dirty="0">
                    <a:solidFill>
                      <a:srgbClr val="191C25"/>
                    </a:solidFill>
                    <a:latin typeface="Roboto" panose="02000000000000000000"/>
                  </a:rPr>
                  <a:t>s Electrical Supply</a:t>
                </a:r>
                <a:endParaRPr lang="en-US" altLang="en-US" sz="500" b="0" dirty="0">
                  <a:solidFill>
                    <a:srgbClr val="191C25"/>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3541934" y="962186"/>
              <a:ext cx="2043263" cy="347130"/>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rgbClr val="191C25"/>
                  </a:solidFill>
                  <a:latin typeface="Roboto" panose="02000000000000000000"/>
                </a:rPr>
                <a:t>Mike</a:t>
              </a:r>
              <a:r>
                <a:rPr lang="ja-JP" altLang="en-US" sz="1200" dirty="0">
                  <a:solidFill>
                    <a:srgbClr val="191C25"/>
                  </a:solidFill>
                  <a:latin typeface="Roboto" panose="02000000000000000000"/>
                </a:rPr>
                <a:t>’</a:t>
              </a:r>
              <a:r>
                <a:rPr lang="en-US" altLang="ja-JP" sz="1200" dirty="0">
                  <a:solidFill>
                    <a:srgbClr val="191C25"/>
                  </a:solidFill>
                  <a:latin typeface="Roboto" panose="02000000000000000000"/>
                </a:rPr>
                <a:t>s Metal Enclosures (MME)</a:t>
              </a:r>
              <a:endParaRPr lang="en-US" altLang="en-US" sz="1200" dirty="0">
                <a:solidFill>
                  <a:srgbClr val="191C25"/>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7791451" y="2139338"/>
              <a:ext cx="728903" cy="404984"/>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500" b="0" dirty="0">
                  <a:solidFill>
                    <a:srgbClr val="191C25"/>
                  </a:solidFill>
                  <a:latin typeface="Roboto" panose="02000000000000000000"/>
                </a:rPr>
                <a:t>Demand = 30,000 Enclosures/month</a:t>
              </a:r>
            </a:p>
            <a:p>
              <a:pPr algn="l">
                <a:lnSpc>
                  <a:spcPct val="100000"/>
                </a:lnSpc>
                <a:spcBef>
                  <a:spcPct val="0"/>
                </a:spcBef>
                <a:buFontTx/>
                <a:buChar char="•"/>
              </a:pPr>
              <a:r>
                <a:rPr lang="en-US" altLang="en-US" sz="500" b="0" dirty="0">
                  <a:solidFill>
                    <a:srgbClr val="191C25"/>
                  </a:solidFill>
                  <a:latin typeface="Roboto" panose="02000000000000000000"/>
                </a:rPr>
                <a:t>1 Shift</a:t>
              </a:r>
            </a:p>
          </p:txBody>
        </p:sp>
      </p:gr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4" y="2460400"/>
            <a:ext cx="1739317" cy="460862"/>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700" b="0" dirty="0">
                  <a:solidFill>
                    <a:srgbClr val="191C25"/>
                  </a:solidFill>
                  <a:latin typeface="Roboto" panose="02000000000000000000"/>
                </a:rPr>
                <a:t>27,000 Seconds</a:t>
              </a:r>
            </a:p>
            <a:p>
              <a:pPr>
                <a:lnSpc>
                  <a:spcPct val="100000"/>
                </a:lnSpc>
                <a:spcBef>
                  <a:spcPct val="35000"/>
                </a:spcBef>
              </a:pPr>
              <a:r>
                <a:rPr lang="en-US" altLang="en-US" sz="700" b="0" dirty="0">
                  <a:solidFill>
                    <a:srgbClr val="191C25"/>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dirty="0">
                  <a:solidFill>
                    <a:srgbClr val="191C25"/>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2628925"/>
            <a:ext cx="7936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700" b="0" dirty="0">
                <a:solidFill>
                  <a:srgbClr val="191C25"/>
                </a:solidFill>
                <a:latin typeface="Roboto" panose="02000000000000000000"/>
              </a:rPr>
              <a:t>= </a:t>
            </a:r>
            <a:r>
              <a:rPr lang="en-US" altLang="en-US" sz="700" dirty="0">
                <a:solidFill>
                  <a:srgbClr val="191C25"/>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5" y="381448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385683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6" y="373485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3" y="381448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385683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4" y="373485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7" y="3833660"/>
            <a:ext cx="1021456" cy="4623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3876010"/>
            <a:ext cx="1006948" cy="1267"/>
          </a:xfrm>
          <a:prstGeom prst="line">
            <a:avLst/>
          </a:prstGeom>
          <a:solidFill>
            <a:schemeClr val="bg1"/>
          </a:solidFill>
          <a:ln w="12700" cap="sq">
            <a:solidFill>
              <a:schemeClr val="tx1"/>
            </a:solidFill>
            <a:round/>
            <a:headEnd type="none" w="sm" len="sm"/>
            <a:tailEnd type="none" w="sm" len="sm"/>
          </a:ln>
        </p:spPr>
        <p:txBody>
          <a:bodyPr wrap="none"/>
          <a:lstStyle/>
          <a:p>
            <a:endParaRPr lang="en-US" sz="1100">
              <a:solidFill>
                <a:srgbClr val="191C25"/>
              </a:solidFill>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8" y="3754035"/>
            <a:ext cx="957252"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b="0" dirty="0">
                <a:solidFill>
                  <a:srgbClr val="191C25"/>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56940" y="3058769"/>
            <a:ext cx="1945" cy="1034958"/>
          </a:xfrm>
          <a:prstGeom prst="line">
            <a:avLst/>
          </a:prstGeom>
          <a:solidFill>
            <a:schemeClr val="bg1"/>
          </a:solidFill>
          <a:ln w="50800" cmpd="dbl">
            <a:solidFill>
              <a:schemeClr val="tx1"/>
            </a:solidFill>
            <a:round/>
            <a:headEnd/>
            <a:tailEnd type="triangle" w="sm" len="sm"/>
          </a:ln>
        </p:spPr>
        <p:txBody>
          <a:bodyPr/>
          <a:lstStyle/>
          <a:p>
            <a:endParaRPr lang="en-US" sz="1100" dirty="0">
              <a:solidFill>
                <a:srgbClr val="191C25"/>
              </a:solidFill>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328778" y="3461125"/>
            <a:ext cx="428365" cy="22450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7143" y="3524207"/>
            <a:ext cx="200654" cy="15005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610" y="3693746"/>
            <a:ext cx="99537" cy="7445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561" y="3693746"/>
            <a:ext cx="99537" cy="74454"/>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8253" y="3484287"/>
            <a:ext cx="599254" cy="16927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500" b="0" dirty="0">
                <a:solidFill>
                  <a:srgbClr val="191C25"/>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89" y="3846759"/>
            <a:ext cx="1150725" cy="256904"/>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7" y="3846759"/>
            <a:ext cx="1150725" cy="256904"/>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39" y="3846759"/>
            <a:ext cx="1150725" cy="256904"/>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3" y="3846759"/>
            <a:ext cx="816458" cy="256904"/>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50" dirty="0">
                  <a:solidFill>
                    <a:srgbClr val="191C25"/>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6" y="3942343"/>
            <a:ext cx="320459" cy="231086"/>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3" y="3919038"/>
            <a:ext cx="320459" cy="231086"/>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7" y="3935368"/>
            <a:ext cx="320459" cy="231086"/>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100">
                <a:solidFill>
                  <a:srgbClr val="191C25"/>
                </a:solidFill>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74863" y="4203958"/>
            <a:ext cx="865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3,200 Sheets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423448" y="4203958"/>
            <a:ext cx="8170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5,250 Pieces</a:t>
            </a: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720839" y="4180137"/>
            <a:ext cx="8170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9,300 Pieces</a:t>
            </a: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933750" y="4180137"/>
            <a:ext cx="104124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2,300 Enclosures</a:t>
            </a: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40542" y="4037120"/>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5</a:t>
            </a: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63206" y="4013299"/>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1</a:t>
            </a: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77395" y="3997258"/>
            <a:ext cx="335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 1</a:t>
            </a: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2"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12 S</a:t>
            </a:r>
          </a:p>
          <a:p>
            <a:pPr algn="l"/>
            <a:r>
              <a:rPr lang="en-US" altLang="en-US" sz="800" b="0" dirty="0">
                <a:solidFill>
                  <a:srgbClr val="191C25"/>
                </a:solidFill>
                <a:latin typeface="Roboto" panose="02000000000000000000"/>
              </a:rPr>
              <a:t>C/O Time =30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99%</a:t>
            </a:r>
          </a:p>
          <a:p>
            <a:pPr algn="l"/>
            <a:r>
              <a:rPr lang="en-US" altLang="en-US" sz="800" b="0" dirty="0">
                <a:solidFill>
                  <a:srgbClr val="191C25"/>
                </a:solidFill>
                <a:latin typeface="Roboto" panose="02000000000000000000"/>
              </a:rPr>
              <a:t>5 Machines</a:t>
            </a:r>
          </a:p>
          <a:p>
            <a:pPr algn="l"/>
            <a:endParaRPr lang="en-US" altLang="en-US" sz="800" b="0" dirty="0">
              <a:solidFill>
                <a:srgbClr val="191C25"/>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69"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15 S</a:t>
            </a:r>
          </a:p>
          <a:p>
            <a:pPr algn="l"/>
            <a:r>
              <a:rPr lang="en-US" altLang="en-US" sz="800" b="0" dirty="0">
                <a:solidFill>
                  <a:srgbClr val="191C25"/>
                </a:solidFill>
                <a:latin typeface="Roboto" panose="02000000000000000000"/>
              </a:rPr>
              <a:t>C/O Time = 30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5" y="4528497"/>
            <a:ext cx="1021456" cy="67216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800" b="0" dirty="0">
                <a:solidFill>
                  <a:srgbClr val="191C25"/>
                </a:solidFill>
                <a:latin typeface="Roboto" panose="02000000000000000000"/>
              </a:rPr>
              <a:t>DOI = 20 S</a:t>
            </a:r>
          </a:p>
          <a:p>
            <a:pPr algn="l"/>
            <a:r>
              <a:rPr lang="en-US" altLang="en-US" sz="800" b="0" dirty="0">
                <a:solidFill>
                  <a:srgbClr val="191C25"/>
                </a:solidFill>
                <a:latin typeface="Roboto" panose="02000000000000000000"/>
              </a:rPr>
              <a:t>C/O Time = 120 M</a:t>
            </a:r>
          </a:p>
          <a:p>
            <a:pPr algn="l"/>
            <a:r>
              <a:rPr lang="en-US" altLang="en-US" sz="800" b="0" dirty="0">
                <a:solidFill>
                  <a:srgbClr val="191C25"/>
                </a:solidFill>
                <a:latin typeface="Roboto" panose="02000000000000000000"/>
              </a:rPr>
              <a:t>Uptime = 99%</a:t>
            </a:r>
          </a:p>
          <a:p>
            <a:pPr algn="l"/>
            <a:r>
              <a:rPr lang="en-US" altLang="en-US" sz="800" b="0" dirty="0">
                <a:solidFill>
                  <a:srgbClr val="191C25"/>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8" y="4608091"/>
            <a:ext cx="866347" cy="338554"/>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rgbClr val="191C25"/>
                </a:solidFill>
                <a:latin typeface="Roboto" panose="02000000000000000000"/>
              </a:rPr>
              <a:t>1 sheet yields 4 pieces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89" y="2172586"/>
            <a:ext cx="1089799" cy="155097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99"/>
              <a:chOff x="435" y="1322"/>
              <a:chExt cx="583" cy="399"/>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500" b="0">
                    <a:solidFill>
                      <a:srgbClr val="191C25"/>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rgbClr val="191C25"/>
                    </a:solidFill>
                    <a:latin typeface="Roboto" panose="02000000000000000000"/>
                  </a:rPr>
                  <a:t>Acme</a:t>
                </a:r>
              </a:p>
              <a:p>
                <a:pPr>
                  <a:lnSpc>
                    <a:spcPct val="90000"/>
                  </a:lnSpc>
                  <a:spcBef>
                    <a:spcPct val="0"/>
                  </a:spcBef>
                </a:pPr>
                <a:r>
                  <a:rPr lang="en-US" altLang="en-US" sz="700" b="0" dirty="0">
                    <a:solidFill>
                      <a:srgbClr val="191C25"/>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rgbClr val="191C25"/>
                    </a:solidFill>
                    <a:latin typeface="Roboto" panose="02000000000000000000"/>
                  </a:rPr>
                  <a:t>1X</a:t>
                </a:r>
              </a:p>
              <a:p>
                <a:pPr>
                  <a:lnSpc>
                    <a:spcPct val="100000"/>
                  </a:lnSpc>
                  <a:spcBef>
                    <a:spcPct val="0"/>
                  </a:spcBef>
                </a:pPr>
                <a:r>
                  <a:rPr lang="en-US" altLang="en-US" sz="700" b="0" dirty="0">
                    <a:solidFill>
                      <a:srgbClr val="191C25"/>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5" y="5252409"/>
            <a:ext cx="7846168" cy="479795"/>
            <a:chOff x="2231195" y="9983474"/>
            <a:chExt cx="16050210" cy="1211040"/>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10"/>
              <a:ext cx="1195871"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6" y="10553610"/>
              <a:ext cx="1195871"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6" y="10553610"/>
              <a:ext cx="1195871" cy="640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41" y="10003962"/>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5" y="100083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8" y="9983474"/>
              <a:ext cx="1410218" cy="66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50" b="0" dirty="0">
                  <a:solidFill>
                    <a:srgbClr val="191C25"/>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4" y="5176260"/>
            <a:ext cx="1657604" cy="460862"/>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700" b="0" dirty="0">
                  <a:solidFill>
                    <a:srgbClr val="191C25"/>
                  </a:solidFill>
                  <a:latin typeface="Roboto" panose="02000000000000000000"/>
                </a:rPr>
                <a:t>Production L.T. = 19.7 days</a:t>
              </a:r>
            </a:p>
            <a:p>
              <a:pPr>
                <a:lnSpc>
                  <a:spcPct val="100000"/>
                </a:lnSpc>
                <a:spcBef>
                  <a:spcPct val="35000"/>
                </a:spcBef>
              </a:pPr>
              <a:r>
                <a:rPr lang="en-US" altLang="en-US" sz="700" b="0" dirty="0">
                  <a:solidFill>
                    <a:srgbClr val="191C25"/>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100">
                <a:solidFill>
                  <a:srgbClr val="191C25"/>
                </a:solidFill>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262616"/>
            <a:ext cx="6930114" cy="1461219"/>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Monthly P.O.</a:t>
                </a:r>
              </a:p>
              <a:p>
                <a:pPr>
                  <a:lnSpc>
                    <a:spcPct val="90000"/>
                  </a:lnSpc>
                  <a:spcBef>
                    <a:spcPct val="0"/>
                  </a:spcBef>
                </a:pPr>
                <a:r>
                  <a:rPr lang="en-US" altLang="en-US" sz="800" b="0" dirty="0">
                    <a:solidFill>
                      <a:srgbClr val="191C25"/>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Daily Orders</a:t>
                </a:r>
              </a:p>
              <a:p>
                <a:pPr>
                  <a:lnSpc>
                    <a:spcPct val="90000"/>
                  </a:lnSpc>
                  <a:spcBef>
                    <a:spcPct val="0"/>
                  </a:spcBef>
                </a:pPr>
                <a:r>
                  <a:rPr lang="en-US" altLang="en-US" sz="800" b="0" dirty="0">
                    <a:solidFill>
                      <a:srgbClr val="191C25"/>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800" b="0">
                  <a:solidFill>
                    <a:srgbClr val="191C25"/>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MRP</a:t>
                </a:r>
              </a:p>
              <a:p>
                <a:pPr>
                  <a:lnSpc>
                    <a:spcPct val="90000"/>
                  </a:lnSpc>
                  <a:spcBef>
                    <a:spcPct val="0"/>
                  </a:spcBef>
                </a:pPr>
                <a:r>
                  <a:rPr lang="en-US" altLang="en-US" sz="800" b="0" dirty="0">
                    <a:solidFill>
                      <a:srgbClr val="191C25"/>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72" y="1283"/>
                <a:ext cx="54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800" b="0">
                    <a:solidFill>
                      <a:srgbClr val="191C25"/>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rgbClr val="191C25"/>
                    </a:solidFill>
                    <a:latin typeface="Roboto" panose="02000000000000000000"/>
                  </a:rPr>
                  <a:t>Weekly Build</a:t>
                </a:r>
              </a:p>
              <a:p>
                <a:pPr>
                  <a:lnSpc>
                    <a:spcPct val="90000"/>
                  </a:lnSpc>
                  <a:spcBef>
                    <a:spcPct val="0"/>
                  </a:spcBef>
                </a:pPr>
                <a:r>
                  <a:rPr lang="en-US" altLang="en-US" sz="800" b="0" dirty="0">
                    <a:solidFill>
                      <a:srgbClr val="191C25"/>
                    </a:solidFill>
                    <a:latin typeface="Roboto" panose="02000000000000000000"/>
                  </a:rPr>
                  <a:t>Schedule</a:t>
                </a:r>
              </a:p>
              <a:p>
                <a:pPr>
                  <a:lnSpc>
                    <a:spcPct val="90000"/>
                  </a:lnSpc>
                  <a:spcBef>
                    <a:spcPct val="0"/>
                  </a:spcBef>
                </a:pPr>
                <a:r>
                  <a:rPr lang="en-US" altLang="en-US" sz="800" b="0" dirty="0">
                    <a:solidFill>
                      <a:srgbClr val="191C25"/>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800">
                  <a:solidFill>
                    <a:srgbClr val="191C25"/>
                  </a:solidFill>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a:solidFill>
                      <a:srgbClr val="191C25"/>
                    </a:solidFill>
                    <a:latin typeface="Roboto" panose="02000000000000000000"/>
                  </a:rPr>
                  <a:t>Daily Ship</a:t>
                </a:r>
              </a:p>
              <a:p>
                <a:pPr>
                  <a:lnSpc>
                    <a:spcPct val="90000"/>
                  </a:lnSpc>
                  <a:spcBef>
                    <a:spcPct val="0"/>
                  </a:spcBef>
                </a:pPr>
                <a:r>
                  <a:rPr lang="en-US" altLang="en-US" sz="800" b="0">
                    <a:solidFill>
                      <a:srgbClr val="191C25"/>
                    </a:solidFill>
                    <a:latin typeface="Roboto" panose="02000000000000000000"/>
                  </a:rPr>
                  <a:t>Schedule</a:t>
                </a:r>
              </a:p>
              <a:p>
                <a:pPr>
                  <a:lnSpc>
                    <a:spcPct val="90000"/>
                  </a:lnSpc>
                  <a:spcBef>
                    <a:spcPct val="0"/>
                  </a:spcBef>
                </a:pPr>
                <a:r>
                  <a:rPr lang="en-US" altLang="en-US" sz="800" b="0">
                    <a:solidFill>
                      <a:srgbClr val="191C25"/>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81808" y="4282098"/>
            <a:ext cx="1410271" cy="958743"/>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accent1"/>
                </a:solidFill>
                <a:latin typeface="Roboto" panose="02000000000000000000"/>
              </a:rPr>
              <a:t>Improve</a:t>
            </a:r>
          </a:p>
          <a:p>
            <a:pPr>
              <a:lnSpc>
                <a:spcPct val="100000"/>
              </a:lnSpc>
              <a:spcBef>
                <a:spcPct val="0"/>
              </a:spcBef>
            </a:pPr>
            <a:r>
              <a:rPr lang="en-US" altLang="en-US" sz="1200" b="0" dirty="0">
                <a:solidFill>
                  <a:schemeClr val="accent1"/>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367386" y="3967908"/>
            <a:ext cx="3516909" cy="1270728"/>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881008" y="3772091"/>
            <a:ext cx="434962" cy="431867"/>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85284" y="4723555"/>
            <a:ext cx="1477730" cy="81288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accent1"/>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765382" y="3531173"/>
            <a:ext cx="447006" cy="419718"/>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0800000">
            <a:off x="8188308" y="3538159"/>
            <a:ext cx="447006" cy="419718"/>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440890" y="3861441"/>
            <a:ext cx="437883" cy="37514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968410" y="3636636"/>
            <a:ext cx="215051" cy="38684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262815" y="3853688"/>
            <a:ext cx="215051" cy="38684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648640" y="3865753"/>
            <a:ext cx="437883" cy="37514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426408" y="3925979"/>
            <a:ext cx="437883" cy="37514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300">
                <a:solidFill>
                  <a:srgbClr val="191C25"/>
                </a:solidFill>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135674" y="3847591"/>
            <a:ext cx="215051" cy="38684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100">
                <a:solidFill>
                  <a:srgbClr val="191C25"/>
                </a:solidFill>
                <a:latin typeface="Roboto" panose="02000000000000000000"/>
              </a:endParaRPr>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777104" y="4057426"/>
            <a:ext cx="1176389" cy="758526"/>
          </a:xfrm>
          <a:prstGeom prst="irregularSeal1">
            <a:avLst/>
          </a:prstGeom>
          <a:noFill/>
          <a:ln w="5715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accent1"/>
                </a:solidFill>
                <a:latin typeface="Roboto" panose="02000000000000000000"/>
              </a:rPr>
              <a:t>Reduce</a:t>
            </a:r>
          </a:p>
          <a:p>
            <a:pPr>
              <a:lnSpc>
                <a:spcPct val="100000"/>
              </a:lnSpc>
              <a:spcBef>
                <a:spcPct val="30000"/>
              </a:spcBef>
            </a:pPr>
            <a:r>
              <a:rPr lang="en-US" altLang="en-US" sz="1000" b="0" dirty="0">
                <a:solidFill>
                  <a:schemeClr val="accent1"/>
                </a:solidFill>
                <a:latin typeface="Roboto" panose="02000000000000000000"/>
              </a:rPr>
              <a:t>Manpower</a:t>
            </a:r>
          </a:p>
        </p:txBody>
      </p:sp>
      <p:sp>
        <p:nvSpPr>
          <p:cNvPr id="111" name="Text Box 172">
            <a:extLst>
              <a:ext uri="{FF2B5EF4-FFF2-40B4-BE49-F238E27FC236}">
                <a16:creationId xmlns:a16="http://schemas.microsoft.com/office/drawing/2014/main" id="{F629F077-5636-EA9E-8ACF-B991881E7066}"/>
              </a:ext>
            </a:extLst>
          </p:cNvPr>
          <p:cNvSpPr txBox="1">
            <a:spLocks noChangeArrowheads="1"/>
          </p:cNvSpPr>
          <p:nvPr/>
        </p:nvSpPr>
        <p:spPr bwMode="auto">
          <a:xfrm>
            <a:off x="1221915" y="6043244"/>
            <a:ext cx="9120416"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050" dirty="0">
                <a:solidFill>
                  <a:srgbClr val="191C25"/>
                </a:solidFill>
                <a:latin typeface="Roboto" panose="02000000000000000000"/>
              </a:rPr>
              <a:t>* </a:t>
            </a:r>
            <a:r>
              <a:rPr lang="en-US" altLang="en-US" sz="1050" u="sng" dirty="0">
                <a:solidFill>
                  <a:srgbClr val="191C25"/>
                </a:solidFill>
                <a:latin typeface="Roboto" panose="02000000000000000000"/>
              </a:rPr>
              <a:t>Potential</a:t>
            </a:r>
            <a:r>
              <a:rPr lang="en-US" altLang="en-US" sz="1050" dirty="0">
                <a:solidFill>
                  <a:srgbClr val="191C25"/>
                </a:solidFill>
                <a:latin typeface="Roboto" panose="02000000000000000000"/>
              </a:rPr>
              <a:t> manpower changes will be verified in subsequent kaizen events where Standard Work is established</a:t>
            </a:r>
          </a:p>
        </p:txBody>
      </p:sp>
      <p:grpSp>
        <p:nvGrpSpPr>
          <p:cNvPr id="105" name="Group 104">
            <a:extLst>
              <a:ext uri="{FF2B5EF4-FFF2-40B4-BE49-F238E27FC236}">
                <a16:creationId xmlns:a16="http://schemas.microsoft.com/office/drawing/2014/main" id="{E572E20B-6822-E25D-6B83-2CA76E7F52E7}"/>
              </a:ext>
            </a:extLst>
          </p:cNvPr>
          <p:cNvGrpSpPr/>
          <p:nvPr/>
        </p:nvGrpSpPr>
        <p:grpSpPr>
          <a:xfrm>
            <a:off x="940004" y="321492"/>
            <a:ext cx="6217883" cy="311851"/>
            <a:chOff x="940249" y="302538"/>
            <a:chExt cx="6219503" cy="311932"/>
          </a:xfrm>
        </p:grpSpPr>
        <p:sp>
          <p:nvSpPr>
            <p:cNvPr id="114" name="TextBox 113">
              <a:extLst>
                <a:ext uri="{FF2B5EF4-FFF2-40B4-BE49-F238E27FC236}">
                  <a16:creationId xmlns:a16="http://schemas.microsoft.com/office/drawing/2014/main" id="{60EC9875-29B8-1735-6AB1-522237DD6E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5" name="AutoShape 9">
              <a:extLst>
                <a:ext uri="{FF2B5EF4-FFF2-40B4-BE49-F238E27FC236}">
                  <a16:creationId xmlns:a16="http://schemas.microsoft.com/office/drawing/2014/main" id="{C85BCF61-9AAE-5DB8-3808-C377DB059C2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19" name="AutoShape 9">
              <a:extLst>
                <a:ext uri="{FF2B5EF4-FFF2-40B4-BE49-F238E27FC236}">
                  <a16:creationId xmlns:a16="http://schemas.microsoft.com/office/drawing/2014/main" id="{79ADB452-8409-9418-FE55-2D6BA0A975F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20" name="AutoShape 9">
              <a:extLst>
                <a:ext uri="{FF2B5EF4-FFF2-40B4-BE49-F238E27FC236}">
                  <a16:creationId xmlns:a16="http://schemas.microsoft.com/office/drawing/2014/main" id="{0676A46B-26F0-1BEA-C226-D284CE702A41}"/>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49" name="AutoShape 9">
              <a:extLst>
                <a:ext uri="{FF2B5EF4-FFF2-40B4-BE49-F238E27FC236}">
                  <a16:creationId xmlns:a16="http://schemas.microsoft.com/office/drawing/2014/main" id="{CD7C7B3A-88A3-2297-B260-1BB4D3139EC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50" name="AutoShape 11">
              <a:extLst>
                <a:ext uri="{FF2B5EF4-FFF2-40B4-BE49-F238E27FC236}">
                  <a16:creationId xmlns:a16="http://schemas.microsoft.com/office/drawing/2014/main" id="{708A5F68-779E-CE5E-EFAB-D5CDCF0EFBB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51" name="Slide Number Placeholder 2">
            <a:extLst>
              <a:ext uri="{FF2B5EF4-FFF2-40B4-BE49-F238E27FC236}">
                <a16:creationId xmlns:a16="http://schemas.microsoft.com/office/drawing/2014/main" id="{79540E72-03AB-664A-17AE-D4B0D6313FCE}"/>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115</a:t>
            </a:fld>
            <a:endParaRPr lang="en-US" dirty="0">
              <a:latin typeface="Roboto" panose="02000000000000000000"/>
            </a:endParaRPr>
          </a:p>
        </p:txBody>
      </p:sp>
    </p:spTree>
    <p:extLst>
      <p:ext uri="{BB962C8B-B14F-4D97-AF65-F5344CB8AC3E}">
        <p14:creationId xmlns:p14="http://schemas.microsoft.com/office/powerpoint/2010/main" val="290250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par>
                                <p:cTn id="115" presetID="1" presetClass="entr" presetSubtype="0" fill="hold" grpId="0" nodeType="withEffect">
                                  <p:stCondLst>
                                    <p:cond delay="0"/>
                                  </p:stCondLst>
                                  <p:childTnLst>
                                    <p:set>
                                      <p:cBhvr>
                                        <p:cTn id="116" dur="1" fill="hold">
                                          <p:stCondLst>
                                            <p:cond delay="0"/>
                                          </p:stCondLst>
                                        </p:cTn>
                                        <p:tgtEl>
                                          <p:spTgt spid="1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11"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116</a:t>
            </a:fld>
            <a:endParaRPr lang="en-US" dirty="0"/>
          </a:p>
        </p:txBody>
      </p:sp>
    </p:spTree>
    <p:extLst>
      <p:ext uri="{BB962C8B-B14F-4D97-AF65-F5344CB8AC3E}">
        <p14:creationId xmlns:p14="http://schemas.microsoft.com/office/powerpoint/2010/main" val="192261856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00FC22-EB88-8413-0326-7FF31AD98F09}"/>
              </a:ext>
            </a:extLst>
          </p:cNvPr>
          <p:cNvSpPr>
            <a:spLocks noGrp="1"/>
          </p:cNvSpPr>
          <p:nvPr>
            <p:ph type="title"/>
          </p:nvPr>
        </p:nvSpPr>
        <p:spPr/>
        <p:txBody>
          <a:bodyPr>
            <a:noAutofit/>
          </a:bodyPr>
          <a:lstStyle/>
          <a:p>
            <a:r>
              <a:rPr lang="en-US" altLang="en-US" sz="3600" dirty="0"/>
              <a:t>Identifying Quality Improvement Opportunities</a:t>
            </a:r>
            <a:endParaRPr lang="en-US" sz="3600" dirty="0"/>
          </a:p>
        </p:txBody>
      </p:sp>
      <p:sp>
        <p:nvSpPr>
          <p:cNvPr id="3" name="Text Placeholder 2">
            <a:extLst>
              <a:ext uri="{FF2B5EF4-FFF2-40B4-BE49-F238E27FC236}">
                <a16:creationId xmlns:a16="http://schemas.microsoft.com/office/drawing/2014/main" id="{FCE730D9-616A-78F1-2FDE-26C227E7A8DD}"/>
              </a:ext>
            </a:extLst>
          </p:cNvPr>
          <p:cNvSpPr>
            <a:spLocks noGrp="1"/>
          </p:cNvSpPr>
          <p:nvPr>
            <p:ph idx="1"/>
          </p:nvPr>
        </p:nvSpPr>
        <p:spPr>
          <a:xfrm>
            <a:off x="837982" y="1825625"/>
            <a:ext cx="10512862" cy="2491040"/>
          </a:xfrm>
        </p:spPr>
        <p:txBody>
          <a:bodyPr>
            <a:normAutofit fontScale="85000" lnSpcReduction="20000"/>
          </a:bodyPr>
          <a:lstStyle/>
          <a:p>
            <a:pPr>
              <a:spcBef>
                <a:spcPct val="20000"/>
              </a:spcBef>
              <a:spcAft>
                <a:spcPct val="20000"/>
              </a:spcAft>
              <a:buSzPct val="90000"/>
            </a:pPr>
            <a:r>
              <a:rPr lang="en-US" altLang="en-US" dirty="0"/>
              <a:t>Quality is measured by First-Pass Yield (%) for every process</a:t>
            </a:r>
          </a:p>
          <a:p>
            <a:pPr>
              <a:spcBef>
                <a:spcPct val="20000"/>
              </a:spcBef>
              <a:spcAft>
                <a:spcPct val="20000"/>
              </a:spcAft>
              <a:buSzPct val="90000"/>
            </a:pPr>
            <a:r>
              <a:rPr lang="en-US" altLang="en-US" dirty="0"/>
              <a:t>All defects are waste which:</a:t>
            </a:r>
          </a:p>
          <a:p>
            <a:pPr lvl="1">
              <a:spcBef>
                <a:spcPct val="20000"/>
              </a:spcBef>
              <a:spcAft>
                <a:spcPct val="20000"/>
              </a:spcAft>
              <a:buSzPct val="90000"/>
            </a:pPr>
            <a:r>
              <a:rPr lang="en-US" altLang="en-US" dirty="0"/>
              <a:t>Consume materials (scrap) and people (rework)</a:t>
            </a:r>
          </a:p>
          <a:p>
            <a:pPr lvl="1">
              <a:spcBef>
                <a:spcPct val="20000"/>
              </a:spcBef>
              <a:spcAft>
                <a:spcPct val="20000"/>
              </a:spcAft>
              <a:buSzPct val="90000"/>
            </a:pPr>
            <a:r>
              <a:rPr lang="en-US" altLang="en-US" dirty="0"/>
              <a:t>Reduce process capacity</a:t>
            </a:r>
          </a:p>
          <a:p>
            <a:pPr lvl="1">
              <a:spcBef>
                <a:spcPct val="20000"/>
              </a:spcBef>
              <a:spcAft>
                <a:spcPct val="20000"/>
              </a:spcAft>
              <a:buSzPct val="90000"/>
            </a:pPr>
            <a:r>
              <a:rPr lang="en-US" altLang="en-US" dirty="0"/>
              <a:t>Inhibit Continuous Flow</a:t>
            </a:r>
          </a:p>
          <a:p>
            <a:pPr>
              <a:spcBef>
                <a:spcPct val="20000"/>
              </a:spcBef>
              <a:spcAft>
                <a:spcPct val="20000"/>
              </a:spcAft>
              <a:buSzPct val="90000"/>
            </a:pPr>
            <a:r>
              <a:rPr lang="en-US" altLang="en-US" dirty="0"/>
              <a:t>For MME (simple example), the quality issue in Brake Form, if not addressed, will prevent successful continuous flow</a:t>
            </a:r>
          </a:p>
        </p:txBody>
      </p:sp>
      <p:grpSp>
        <p:nvGrpSpPr>
          <p:cNvPr id="10" name="Group 4">
            <a:extLst>
              <a:ext uri="{FF2B5EF4-FFF2-40B4-BE49-F238E27FC236}">
                <a16:creationId xmlns:a16="http://schemas.microsoft.com/office/drawing/2014/main" id="{46EB6F2B-616B-EC56-FC47-049F29B5F20A}"/>
              </a:ext>
            </a:extLst>
          </p:cNvPr>
          <p:cNvGrpSpPr>
            <a:grpSpLocks/>
          </p:cNvGrpSpPr>
          <p:nvPr/>
        </p:nvGrpSpPr>
        <p:grpSpPr bwMode="auto">
          <a:xfrm>
            <a:off x="1090164" y="4709553"/>
            <a:ext cx="9690337" cy="1599122"/>
            <a:chOff x="637" y="3061"/>
            <a:chExt cx="3929" cy="928"/>
          </a:xfrm>
        </p:grpSpPr>
        <p:grpSp>
          <p:nvGrpSpPr>
            <p:cNvPr id="11" name="Group 5">
              <a:extLst>
                <a:ext uri="{FF2B5EF4-FFF2-40B4-BE49-F238E27FC236}">
                  <a16:creationId xmlns:a16="http://schemas.microsoft.com/office/drawing/2014/main" id="{0643A194-0335-B180-85AA-BA97269CE551}"/>
                </a:ext>
              </a:extLst>
            </p:cNvPr>
            <p:cNvGrpSpPr>
              <a:grpSpLocks/>
            </p:cNvGrpSpPr>
            <p:nvPr/>
          </p:nvGrpSpPr>
          <p:grpSpPr bwMode="auto">
            <a:xfrm>
              <a:off x="1151" y="3079"/>
              <a:ext cx="559" cy="910"/>
              <a:chOff x="1008" y="2380"/>
              <a:chExt cx="559" cy="910"/>
            </a:xfrm>
          </p:grpSpPr>
          <p:grpSp>
            <p:nvGrpSpPr>
              <p:cNvPr id="57" name="Group 6">
                <a:extLst>
                  <a:ext uri="{FF2B5EF4-FFF2-40B4-BE49-F238E27FC236}">
                    <a16:creationId xmlns:a16="http://schemas.microsoft.com/office/drawing/2014/main" id="{BBEA7401-1BAC-323F-1DCD-D430693140CC}"/>
                  </a:ext>
                </a:extLst>
              </p:cNvPr>
              <p:cNvGrpSpPr>
                <a:grpSpLocks/>
              </p:cNvGrpSpPr>
              <p:nvPr/>
            </p:nvGrpSpPr>
            <p:grpSpPr bwMode="auto">
              <a:xfrm>
                <a:off x="1008" y="2380"/>
                <a:ext cx="525" cy="390"/>
                <a:chOff x="1367" y="2370"/>
                <a:chExt cx="434" cy="390"/>
              </a:xfrm>
            </p:grpSpPr>
            <p:grpSp>
              <p:nvGrpSpPr>
                <p:cNvPr id="61" name="Group 7">
                  <a:extLst>
                    <a:ext uri="{FF2B5EF4-FFF2-40B4-BE49-F238E27FC236}">
                      <a16:creationId xmlns:a16="http://schemas.microsoft.com/office/drawing/2014/main" id="{E7F3DF5A-213D-A45E-A169-A1D9FFF04040}"/>
                    </a:ext>
                  </a:extLst>
                </p:cNvPr>
                <p:cNvGrpSpPr>
                  <a:grpSpLocks/>
                </p:cNvGrpSpPr>
                <p:nvPr/>
              </p:nvGrpSpPr>
              <p:grpSpPr bwMode="auto">
                <a:xfrm>
                  <a:off x="1367" y="2395"/>
                  <a:ext cx="434" cy="365"/>
                  <a:chOff x="418" y="2981"/>
                  <a:chExt cx="352" cy="365"/>
                </a:xfrm>
              </p:grpSpPr>
              <p:sp>
                <p:nvSpPr>
                  <p:cNvPr id="67" name="Rectangle 8">
                    <a:extLst>
                      <a:ext uri="{FF2B5EF4-FFF2-40B4-BE49-F238E27FC236}">
                        <a16:creationId xmlns:a16="http://schemas.microsoft.com/office/drawing/2014/main" id="{320E48D1-04F7-59D3-400B-366761C04A85}"/>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8" name="Line 9">
                    <a:extLst>
                      <a:ext uri="{FF2B5EF4-FFF2-40B4-BE49-F238E27FC236}">
                        <a16:creationId xmlns:a16="http://schemas.microsoft.com/office/drawing/2014/main" id="{8EC196A2-4B7F-9053-AED2-E9168D1695AF}"/>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62" name="Group 10">
                  <a:extLst>
                    <a:ext uri="{FF2B5EF4-FFF2-40B4-BE49-F238E27FC236}">
                      <a16:creationId xmlns:a16="http://schemas.microsoft.com/office/drawing/2014/main" id="{6A8D67EC-9EF5-DCD5-87B6-1E333D830033}"/>
                    </a:ext>
                  </a:extLst>
                </p:cNvPr>
                <p:cNvGrpSpPr>
                  <a:grpSpLocks/>
                </p:cNvGrpSpPr>
                <p:nvPr/>
              </p:nvGrpSpPr>
              <p:grpSpPr bwMode="auto">
                <a:xfrm flipV="1">
                  <a:off x="1462" y="2586"/>
                  <a:ext cx="96" cy="112"/>
                  <a:chOff x="720" y="3354"/>
                  <a:chExt cx="192" cy="198"/>
                </a:xfrm>
              </p:grpSpPr>
              <p:sp>
                <p:nvSpPr>
                  <p:cNvPr id="65" name="Oval 11">
                    <a:extLst>
                      <a:ext uri="{FF2B5EF4-FFF2-40B4-BE49-F238E27FC236}">
                        <a16:creationId xmlns:a16="http://schemas.microsoft.com/office/drawing/2014/main" id="{106EC64B-8FEB-3085-60D0-9705441B596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12">
                    <a:extLst>
                      <a:ext uri="{FF2B5EF4-FFF2-40B4-BE49-F238E27FC236}">
                        <a16:creationId xmlns:a16="http://schemas.microsoft.com/office/drawing/2014/main" id="{A2E06039-5C3B-243A-A5A7-650BE13BCAA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63" name="Text Box 13">
                  <a:extLst>
                    <a:ext uri="{FF2B5EF4-FFF2-40B4-BE49-F238E27FC236}">
                      <a16:creationId xmlns:a16="http://schemas.microsoft.com/office/drawing/2014/main" id="{5F9A5D3C-DBDF-5E18-DCF3-8FAD5DB4E621}"/>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5</a:t>
                  </a:r>
                </a:p>
              </p:txBody>
            </p:sp>
            <p:sp>
              <p:nvSpPr>
                <p:cNvPr id="64" name="Text Box 14">
                  <a:extLst>
                    <a:ext uri="{FF2B5EF4-FFF2-40B4-BE49-F238E27FC236}">
                      <a16:creationId xmlns:a16="http://schemas.microsoft.com/office/drawing/2014/main" id="{E4E7E8F5-917D-1B5D-1D6A-3043EE497FBD}"/>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grpSp>
          <p:grpSp>
            <p:nvGrpSpPr>
              <p:cNvPr id="58" name="Group 15">
                <a:extLst>
                  <a:ext uri="{FF2B5EF4-FFF2-40B4-BE49-F238E27FC236}">
                    <a16:creationId xmlns:a16="http://schemas.microsoft.com/office/drawing/2014/main" id="{58F67D2D-0CE3-8735-B183-D4657568472C}"/>
                  </a:ext>
                </a:extLst>
              </p:cNvPr>
              <p:cNvGrpSpPr>
                <a:grpSpLocks/>
              </p:cNvGrpSpPr>
              <p:nvPr/>
            </p:nvGrpSpPr>
            <p:grpSpPr bwMode="auto">
              <a:xfrm>
                <a:off x="1012" y="2832"/>
                <a:ext cx="555" cy="458"/>
                <a:chOff x="1012" y="2832"/>
                <a:chExt cx="555" cy="458"/>
              </a:xfrm>
            </p:grpSpPr>
            <p:sp>
              <p:nvSpPr>
                <p:cNvPr id="59" name="Rectangle 16">
                  <a:extLst>
                    <a:ext uri="{FF2B5EF4-FFF2-40B4-BE49-F238E27FC236}">
                      <a16:creationId xmlns:a16="http://schemas.microsoft.com/office/drawing/2014/main" id="{5F5A8C89-7A87-0A42-EDD6-83D4C887F3A5}"/>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0" name="Text Box 17">
                  <a:extLst>
                    <a:ext uri="{FF2B5EF4-FFF2-40B4-BE49-F238E27FC236}">
                      <a16:creationId xmlns:a16="http://schemas.microsoft.com/office/drawing/2014/main" id="{5FA08A0D-C1E5-AC0C-6B7E-F0F6C82EA4C9}"/>
                    </a:ext>
                  </a:extLst>
                </p:cNvPr>
                <p:cNvSpPr txBox="1">
                  <a:spLocks noChangeArrowheads="1"/>
                </p:cNvSpPr>
                <p:nvPr/>
              </p:nvSpPr>
              <p:spPr bwMode="auto">
                <a:xfrm>
                  <a:off x="1014" y="2835"/>
                  <a:ext cx="553" cy="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12</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99%</a:t>
                  </a:r>
                </a:p>
                <a:p>
                  <a:pPr algn="l">
                    <a:lnSpc>
                      <a:spcPct val="100000"/>
                    </a:lnSpc>
                    <a:spcBef>
                      <a:spcPct val="0"/>
                    </a:spcBef>
                  </a:pPr>
                  <a:r>
                    <a:rPr lang="en-US" altLang="en-US" b="0" dirty="0">
                      <a:solidFill>
                        <a:schemeClr val="tx1"/>
                      </a:solidFill>
                      <a:latin typeface="+mn-lt"/>
                    </a:rPr>
                    <a:t>5 Machines</a:t>
                  </a:r>
                </a:p>
              </p:txBody>
            </p:sp>
          </p:grpSp>
        </p:grpSp>
        <p:sp>
          <p:nvSpPr>
            <p:cNvPr id="12" name="Line 18">
              <a:extLst>
                <a:ext uri="{FF2B5EF4-FFF2-40B4-BE49-F238E27FC236}">
                  <a16:creationId xmlns:a16="http://schemas.microsoft.com/office/drawing/2014/main" id="{84878FB9-E0DC-9947-6DA6-28AD6F1B64B4}"/>
                </a:ext>
              </a:extLst>
            </p:cNvPr>
            <p:cNvSpPr>
              <a:spLocks noChangeShapeType="1"/>
            </p:cNvSpPr>
            <p:nvPr/>
          </p:nvSpPr>
          <p:spPr bwMode="auto">
            <a:xfrm flipV="1">
              <a:off x="1691" y="3295"/>
              <a:ext cx="618" cy="8"/>
            </a:xfrm>
            <a:prstGeom prst="line">
              <a:avLst/>
            </a:prstGeom>
            <a:noFill/>
            <a:ln w="63500">
              <a:solidFill>
                <a:srgbClr val="191C25"/>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13" name="AutoShape 19">
              <a:extLst>
                <a:ext uri="{FF2B5EF4-FFF2-40B4-BE49-F238E27FC236}">
                  <a16:creationId xmlns:a16="http://schemas.microsoft.com/office/drawing/2014/main" id="{D80874F5-35BF-6C03-3EBA-0A5311D547C1}"/>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grpSp>
          <p:nvGrpSpPr>
            <p:cNvPr id="22" name="Group 20">
              <a:extLst>
                <a:ext uri="{FF2B5EF4-FFF2-40B4-BE49-F238E27FC236}">
                  <a16:creationId xmlns:a16="http://schemas.microsoft.com/office/drawing/2014/main" id="{F86FA602-CE9A-EAFE-EE25-2E04912D26C6}"/>
                </a:ext>
              </a:extLst>
            </p:cNvPr>
            <p:cNvGrpSpPr>
              <a:grpSpLocks/>
            </p:cNvGrpSpPr>
            <p:nvPr/>
          </p:nvGrpSpPr>
          <p:grpSpPr bwMode="auto">
            <a:xfrm>
              <a:off x="2290" y="3066"/>
              <a:ext cx="558" cy="840"/>
              <a:chOff x="2187" y="2375"/>
              <a:chExt cx="558" cy="840"/>
            </a:xfrm>
          </p:grpSpPr>
          <p:sp>
            <p:nvSpPr>
              <p:cNvPr id="46" name="Rectangle 21">
                <a:extLst>
                  <a:ext uri="{FF2B5EF4-FFF2-40B4-BE49-F238E27FC236}">
                    <a16:creationId xmlns:a16="http://schemas.microsoft.com/office/drawing/2014/main" id="{4D103201-BCEB-682F-63D2-4CC64AF5D817}"/>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47" name="Group 22">
                <a:extLst>
                  <a:ext uri="{FF2B5EF4-FFF2-40B4-BE49-F238E27FC236}">
                    <a16:creationId xmlns:a16="http://schemas.microsoft.com/office/drawing/2014/main" id="{50B0DFF4-A3D8-2F65-38AD-7E695A734B2B}"/>
                  </a:ext>
                </a:extLst>
              </p:cNvPr>
              <p:cNvGrpSpPr>
                <a:grpSpLocks/>
              </p:cNvGrpSpPr>
              <p:nvPr/>
            </p:nvGrpSpPr>
            <p:grpSpPr bwMode="auto">
              <a:xfrm>
                <a:off x="2187" y="2375"/>
                <a:ext cx="525" cy="390"/>
                <a:chOff x="1367" y="2370"/>
                <a:chExt cx="434" cy="390"/>
              </a:xfrm>
            </p:grpSpPr>
            <p:grpSp>
              <p:nvGrpSpPr>
                <p:cNvPr id="49" name="Group 23">
                  <a:extLst>
                    <a:ext uri="{FF2B5EF4-FFF2-40B4-BE49-F238E27FC236}">
                      <a16:creationId xmlns:a16="http://schemas.microsoft.com/office/drawing/2014/main" id="{EA26A85F-2784-3E79-7169-FB228C4E0772}"/>
                    </a:ext>
                  </a:extLst>
                </p:cNvPr>
                <p:cNvGrpSpPr>
                  <a:grpSpLocks/>
                </p:cNvGrpSpPr>
                <p:nvPr/>
              </p:nvGrpSpPr>
              <p:grpSpPr bwMode="auto">
                <a:xfrm>
                  <a:off x="1367" y="2395"/>
                  <a:ext cx="434" cy="365"/>
                  <a:chOff x="418" y="2981"/>
                  <a:chExt cx="352" cy="365"/>
                </a:xfrm>
              </p:grpSpPr>
              <p:sp>
                <p:nvSpPr>
                  <p:cNvPr id="55" name="Rectangle 24">
                    <a:extLst>
                      <a:ext uri="{FF2B5EF4-FFF2-40B4-BE49-F238E27FC236}">
                        <a16:creationId xmlns:a16="http://schemas.microsoft.com/office/drawing/2014/main" id="{1F29B650-7ED7-D518-81A4-432FD02ACE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6" name="Line 25">
                    <a:extLst>
                      <a:ext uri="{FF2B5EF4-FFF2-40B4-BE49-F238E27FC236}">
                        <a16:creationId xmlns:a16="http://schemas.microsoft.com/office/drawing/2014/main" id="{582DE424-695F-6209-1D44-5799C52C000C}"/>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50" name="Group 26">
                  <a:extLst>
                    <a:ext uri="{FF2B5EF4-FFF2-40B4-BE49-F238E27FC236}">
                      <a16:creationId xmlns:a16="http://schemas.microsoft.com/office/drawing/2014/main" id="{1EFEF0DF-D233-4FD0-4CA5-16801F521A3E}"/>
                    </a:ext>
                  </a:extLst>
                </p:cNvPr>
                <p:cNvGrpSpPr>
                  <a:grpSpLocks/>
                </p:cNvGrpSpPr>
                <p:nvPr/>
              </p:nvGrpSpPr>
              <p:grpSpPr bwMode="auto">
                <a:xfrm flipV="1">
                  <a:off x="1462" y="2586"/>
                  <a:ext cx="96" cy="112"/>
                  <a:chOff x="720" y="3354"/>
                  <a:chExt cx="192" cy="198"/>
                </a:xfrm>
              </p:grpSpPr>
              <p:sp>
                <p:nvSpPr>
                  <p:cNvPr id="53" name="Oval 27">
                    <a:extLst>
                      <a:ext uri="{FF2B5EF4-FFF2-40B4-BE49-F238E27FC236}">
                        <a16:creationId xmlns:a16="http://schemas.microsoft.com/office/drawing/2014/main" id="{0A5D2B51-CCD3-2F19-54F1-A0E06DAC772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4" name="AutoShape 28">
                    <a:extLst>
                      <a:ext uri="{FF2B5EF4-FFF2-40B4-BE49-F238E27FC236}">
                        <a16:creationId xmlns:a16="http://schemas.microsoft.com/office/drawing/2014/main" id="{4ED3D746-0D3E-36D8-8B7A-50C01866CFE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51" name="Text Box 29">
                  <a:extLst>
                    <a:ext uri="{FF2B5EF4-FFF2-40B4-BE49-F238E27FC236}">
                      <a16:creationId xmlns:a16="http://schemas.microsoft.com/office/drawing/2014/main" id="{F4B76458-A647-F32A-4F96-71695D9D526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52" name="Text Box 30">
                  <a:extLst>
                    <a:ext uri="{FF2B5EF4-FFF2-40B4-BE49-F238E27FC236}">
                      <a16:creationId xmlns:a16="http://schemas.microsoft.com/office/drawing/2014/main" id="{20BFCF07-3607-EB06-36F9-96DFDDE1A07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grpSp>
          <p:sp>
            <p:nvSpPr>
              <p:cNvPr id="48" name="Text Box 31">
                <a:extLst>
                  <a:ext uri="{FF2B5EF4-FFF2-40B4-BE49-F238E27FC236}">
                    <a16:creationId xmlns:a16="http://schemas.microsoft.com/office/drawing/2014/main" id="{35691BD9-C81D-BA57-6B2A-7BE403012F52}"/>
                  </a:ext>
                </a:extLst>
              </p:cNvPr>
              <p:cNvSpPr txBox="1">
                <a:spLocks noChangeArrowheads="1"/>
              </p:cNvSpPr>
              <p:nvPr/>
            </p:nvSpPr>
            <p:spPr bwMode="auto">
              <a:xfrm>
                <a:off x="2192" y="2840"/>
                <a:ext cx="553"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15</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30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98%</a:t>
                </a:r>
              </a:p>
            </p:txBody>
          </p:sp>
        </p:grpSp>
        <p:grpSp>
          <p:nvGrpSpPr>
            <p:cNvPr id="23" name="Group 32">
              <a:extLst>
                <a:ext uri="{FF2B5EF4-FFF2-40B4-BE49-F238E27FC236}">
                  <a16:creationId xmlns:a16="http://schemas.microsoft.com/office/drawing/2014/main" id="{E02E3182-1DE3-F14B-E798-9AAAE488EB88}"/>
                </a:ext>
              </a:extLst>
            </p:cNvPr>
            <p:cNvGrpSpPr>
              <a:grpSpLocks/>
            </p:cNvGrpSpPr>
            <p:nvPr/>
          </p:nvGrpSpPr>
          <p:grpSpPr bwMode="auto">
            <a:xfrm>
              <a:off x="3429" y="3061"/>
              <a:ext cx="616" cy="841"/>
              <a:chOff x="3285" y="2370"/>
              <a:chExt cx="616" cy="841"/>
            </a:xfrm>
          </p:grpSpPr>
          <p:sp>
            <p:nvSpPr>
              <p:cNvPr id="35" name="Rectangle 33">
                <a:extLst>
                  <a:ext uri="{FF2B5EF4-FFF2-40B4-BE49-F238E27FC236}">
                    <a16:creationId xmlns:a16="http://schemas.microsoft.com/office/drawing/2014/main" id="{87C773C9-FA2A-B65C-CD3C-3584E95F5D67}"/>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36" name="Group 34">
                <a:extLst>
                  <a:ext uri="{FF2B5EF4-FFF2-40B4-BE49-F238E27FC236}">
                    <a16:creationId xmlns:a16="http://schemas.microsoft.com/office/drawing/2014/main" id="{9B633463-45AE-06A6-BD7D-ECB0ED3BC909}"/>
                  </a:ext>
                </a:extLst>
              </p:cNvPr>
              <p:cNvGrpSpPr>
                <a:grpSpLocks/>
              </p:cNvGrpSpPr>
              <p:nvPr/>
            </p:nvGrpSpPr>
            <p:grpSpPr bwMode="auto">
              <a:xfrm>
                <a:off x="3285" y="2370"/>
                <a:ext cx="525" cy="390"/>
                <a:chOff x="1367" y="2370"/>
                <a:chExt cx="434" cy="390"/>
              </a:xfrm>
            </p:grpSpPr>
            <p:grpSp>
              <p:nvGrpSpPr>
                <p:cNvPr id="38" name="Group 35">
                  <a:extLst>
                    <a:ext uri="{FF2B5EF4-FFF2-40B4-BE49-F238E27FC236}">
                      <a16:creationId xmlns:a16="http://schemas.microsoft.com/office/drawing/2014/main" id="{C8182D5F-6CE0-FD6C-4681-5F6172B215F5}"/>
                    </a:ext>
                  </a:extLst>
                </p:cNvPr>
                <p:cNvGrpSpPr>
                  <a:grpSpLocks/>
                </p:cNvGrpSpPr>
                <p:nvPr/>
              </p:nvGrpSpPr>
              <p:grpSpPr bwMode="auto">
                <a:xfrm>
                  <a:off x="1367" y="2395"/>
                  <a:ext cx="434" cy="365"/>
                  <a:chOff x="418" y="2981"/>
                  <a:chExt cx="352" cy="365"/>
                </a:xfrm>
              </p:grpSpPr>
              <p:sp>
                <p:nvSpPr>
                  <p:cNvPr id="44" name="Rectangle 36">
                    <a:extLst>
                      <a:ext uri="{FF2B5EF4-FFF2-40B4-BE49-F238E27FC236}">
                        <a16:creationId xmlns:a16="http://schemas.microsoft.com/office/drawing/2014/main" id="{C60B99CB-60A0-9BB1-DD28-DFE182CFD34E}"/>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5" name="Line 37">
                    <a:extLst>
                      <a:ext uri="{FF2B5EF4-FFF2-40B4-BE49-F238E27FC236}">
                        <a16:creationId xmlns:a16="http://schemas.microsoft.com/office/drawing/2014/main" id="{CCD55D74-BE7A-4E9A-ABE7-AA8CCD4B4591}"/>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39" name="Group 38">
                  <a:extLst>
                    <a:ext uri="{FF2B5EF4-FFF2-40B4-BE49-F238E27FC236}">
                      <a16:creationId xmlns:a16="http://schemas.microsoft.com/office/drawing/2014/main" id="{C0C49D44-991C-6F93-8625-F9769D115921}"/>
                    </a:ext>
                  </a:extLst>
                </p:cNvPr>
                <p:cNvGrpSpPr>
                  <a:grpSpLocks/>
                </p:cNvGrpSpPr>
                <p:nvPr/>
              </p:nvGrpSpPr>
              <p:grpSpPr bwMode="auto">
                <a:xfrm flipV="1">
                  <a:off x="1462" y="2586"/>
                  <a:ext cx="96" cy="112"/>
                  <a:chOff x="720" y="3354"/>
                  <a:chExt cx="192" cy="198"/>
                </a:xfrm>
              </p:grpSpPr>
              <p:sp>
                <p:nvSpPr>
                  <p:cNvPr id="42" name="Oval 39">
                    <a:extLst>
                      <a:ext uri="{FF2B5EF4-FFF2-40B4-BE49-F238E27FC236}">
                        <a16:creationId xmlns:a16="http://schemas.microsoft.com/office/drawing/2014/main" id="{685735FE-8982-7464-7F09-723D4A71316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3" name="AutoShape 40">
                    <a:extLst>
                      <a:ext uri="{FF2B5EF4-FFF2-40B4-BE49-F238E27FC236}">
                        <a16:creationId xmlns:a16="http://schemas.microsoft.com/office/drawing/2014/main" id="{16ADBA7A-9DD0-906F-9D84-72A674A555D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40" name="Text Box 41">
                  <a:extLst>
                    <a:ext uri="{FF2B5EF4-FFF2-40B4-BE49-F238E27FC236}">
                      <a16:creationId xmlns:a16="http://schemas.microsoft.com/office/drawing/2014/main" id="{D6898099-524A-1D28-B843-89A654DB785D}"/>
                    </a:ext>
                  </a:extLst>
                </p:cNvPr>
                <p:cNvSpPr txBox="1">
                  <a:spLocks noChangeArrowheads="1"/>
                </p:cNvSpPr>
                <p:nvPr/>
              </p:nvSpPr>
              <p:spPr bwMode="auto">
                <a:xfrm>
                  <a:off x="1590" y="2584"/>
                  <a:ext cx="126"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 1</a:t>
                  </a:r>
                </a:p>
              </p:txBody>
            </p:sp>
            <p:sp>
              <p:nvSpPr>
                <p:cNvPr id="41" name="Text Box 42">
                  <a:extLst>
                    <a:ext uri="{FF2B5EF4-FFF2-40B4-BE49-F238E27FC236}">
                      <a16:creationId xmlns:a16="http://schemas.microsoft.com/office/drawing/2014/main" id="{8CB4BD5A-CA36-4383-BDA1-5692ED05830C}"/>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mn-lt"/>
                    </a:rPr>
                    <a:t>Brake Form</a:t>
                  </a:r>
                </a:p>
              </p:txBody>
            </p:sp>
          </p:grpSp>
          <p:sp>
            <p:nvSpPr>
              <p:cNvPr id="37" name="Text Box 43">
                <a:extLst>
                  <a:ext uri="{FF2B5EF4-FFF2-40B4-BE49-F238E27FC236}">
                    <a16:creationId xmlns:a16="http://schemas.microsoft.com/office/drawing/2014/main" id="{F8A9504D-A0EC-1F54-0174-1102CE15AB88}"/>
                  </a:ext>
                </a:extLst>
              </p:cNvPr>
              <p:cNvSpPr txBox="1">
                <a:spLocks noChangeArrowheads="1"/>
              </p:cNvSpPr>
              <p:nvPr/>
            </p:nvSpPr>
            <p:spPr bwMode="auto">
              <a:xfrm>
                <a:off x="3296" y="2836"/>
                <a:ext cx="605"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DOI = 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C/O Time = 120</a:t>
                </a:r>
                <a:r>
                  <a:rPr lang="ja-JP" altLang="en-US" b="0" dirty="0">
                    <a:solidFill>
                      <a:schemeClr val="tx1"/>
                    </a:solidFill>
                    <a:latin typeface="+mn-lt"/>
                  </a:rPr>
                  <a:t>’</a:t>
                </a:r>
                <a:endParaRPr lang="en-US" altLang="ja-JP" b="0" dirty="0">
                  <a:solidFill>
                    <a:schemeClr val="tx1"/>
                  </a:solidFill>
                  <a:latin typeface="+mn-lt"/>
                </a:endParaRPr>
              </a:p>
              <a:p>
                <a:pPr algn="l">
                  <a:lnSpc>
                    <a:spcPct val="100000"/>
                  </a:lnSpc>
                  <a:spcBef>
                    <a:spcPct val="0"/>
                  </a:spcBef>
                </a:pPr>
                <a:r>
                  <a:rPr lang="en-US" altLang="en-US" b="0" dirty="0">
                    <a:solidFill>
                      <a:schemeClr val="tx1"/>
                    </a:solidFill>
                    <a:latin typeface="+mn-lt"/>
                  </a:rPr>
                  <a:t>Uptime = 99%</a:t>
                </a:r>
              </a:p>
              <a:p>
                <a:pPr algn="l">
                  <a:lnSpc>
                    <a:spcPct val="100000"/>
                  </a:lnSpc>
                  <a:spcBef>
                    <a:spcPct val="0"/>
                  </a:spcBef>
                </a:pPr>
                <a:r>
                  <a:rPr lang="en-US" altLang="en-US" b="0" dirty="0">
                    <a:solidFill>
                      <a:schemeClr val="tx1"/>
                    </a:solidFill>
                    <a:latin typeface="+mn-lt"/>
                  </a:rPr>
                  <a:t>Quality = 85%</a:t>
                </a:r>
              </a:p>
            </p:txBody>
          </p:sp>
        </p:grpSp>
        <p:sp>
          <p:nvSpPr>
            <p:cNvPr id="24" name="Line 44">
              <a:extLst>
                <a:ext uri="{FF2B5EF4-FFF2-40B4-BE49-F238E27FC236}">
                  <a16:creationId xmlns:a16="http://schemas.microsoft.com/office/drawing/2014/main" id="{682EF678-B495-EB08-B032-0EFCFCDD695A}"/>
                </a:ext>
              </a:extLst>
            </p:cNvPr>
            <p:cNvSpPr>
              <a:spLocks noChangeShapeType="1"/>
            </p:cNvSpPr>
            <p:nvPr/>
          </p:nvSpPr>
          <p:spPr bwMode="auto">
            <a:xfrm flipV="1">
              <a:off x="2829" y="3295"/>
              <a:ext cx="599" cy="8"/>
            </a:xfrm>
            <a:prstGeom prst="line">
              <a:avLst/>
            </a:prstGeom>
            <a:noFill/>
            <a:ln w="63500">
              <a:solidFill>
                <a:srgbClr val="191C25"/>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5" name="Line 45">
              <a:extLst>
                <a:ext uri="{FF2B5EF4-FFF2-40B4-BE49-F238E27FC236}">
                  <a16:creationId xmlns:a16="http://schemas.microsoft.com/office/drawing/2014/main" id="{991E73C0-70C0-9658-49F6-2F2C74B5FD8A}"/>
                </a:ext>
              </a:extLst>
            </p:cNvPr>
            <p:cNvSpPr>
              <a:spLocks noChangeShapeType="1"/>
            </p:cNvSpPr>
            <p:nvPr/>
          </p:nvSpPr>
          <p:spPr bwMode="auto">
            <a:xfrm flipV="1">
              <a:off x="3967" y="3295"/>
              <a:ext cx="599" cy="8"/>
            </a:xfrm>
            <a:prstGeom prst="line">
              <a:avLst/>
            </a:prstGeom>
            <a:noFill/>
            <a:ln w="63500">
              <a:solidFill>
                <a:srgbClr val="191C25"/>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6" name="AutoShape 46">
              <a:extLst>
                <a:ext uri="{FF2B5EF4-FFF2-40B4-BE49-F238E27FC236}">
                  <a16:creationId xmlns:a16="http://schemas.microsoft.com/office/drawing/2014/main" id="{4723343E-5D9B-7830-2D70-400E275EE072}"/>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7" name="AutoShape 47">
              <a:extLst>
                <a:ext uri="{FF2B5EF4-FFF2-40B4-BE49-F238E27FC236}">
                  <a16:creationId xmlns:a16="http://schemas.microsoft.com/office/drawing/2014/main" id="{6D2FF747-EB53-B7EE-DFC0-216D18FAD3E7}"/>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dirty="0">
                  <a:solidFill>
                    <a:schemeClr val="tx1"/>
                  </a:solidFill>
                  <a:latin typeface="Times New Roman" panose="02020603050405020304" pitchFamily="18" charset="0"/>
                </a:rPr>
                <a:t>I</a:t>
              </a:r>
            </a:p>
          </p:txBody>
        </p:sp>
        <p:sp>
          <p:nvSpPr>
            <p:cNvPr id="28" name="Line 48">
              <a:extLst>
                <a:ext uri="{FF2B5EF4-FFF2-40B4-BE49-F238E27FC236}">
                  <a16:creationId xmlns:a16="http://schemas.microsoft.com/office/drawing/2014/main" id="{791D5CD1-1555-6DE2-65D1-E0B9F889EFD2}"/>
                </a:ext>
              </a:extLst>
            </p:cNvPr>
            <p:cNvSpPr>
              <a:spLocks noChangeShapeType="1"/>
            </p:cNvSpPr>
            <p:nvPr/>
          </p:nvSpPr>
          <p:spPr bwMode="auto">
            <a:xfrm flipV="1">
              <a:off x="883" y="3296"/>
              <a:ext cx="268" cy="4"/>
            </a:xfrm>
            <a:prstGeom prst="line">
              <a:avLst/>
            </a:prstGeom>
            <a:noFill/>
            <a:ln w="63500">
              <a:solidFill>
                <a:srgbClr val="191C25"/>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29" name="AutoShape 49">
              <a:extLst>
                <a:ext uri="{FF2B5EF4-FFF2-40B4-BE49-F238E27FC236}">
                  <a16:creationId xmlns:a16="http://schemas.microsoft.com/office/drawing/2014/main" id="{81CF61A5-CB90-7C73-9DA7-91E0C46056C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a:solidFill>
                    <a:schemeClr val="tx1"/>
                  </a:solidFill>
                  <a:latin typeface="Times New Roman" panose="02020603050405020304" pitchFamily="18" charset="0"/>
                </a:rPr>
                <a:t>I</a:t>
              </a:r>
            </a:p>
          </p:txBody>
        </p:sp>
        <p:sp>
          <p:nvSpPr>
            <p:cNvPr id="30" name="Rectangle 50">
              <a:extLst>
                <a:ext uri="{FF2B5EF4-FFF2-40B4-BE49-F238E27FC236}">
                  <a16:creationId xmlns:a16="http://schemas.microsoft.com/office/drawing/2014/main" id="{76FF74A7-959F-E047-2BFB-4B48DAAEE34E}"/>
                </a:ext>
              </a:extLst>
            </p:cNvPr>
            <p:cNvSpPr>
              <a:spLocks noChangeArrowheads="1"/>
            </p:cNvSpPr>
            <p:nvPr/>
          </p:nvSpPr>
          <p:spPr bwMode="auto">
            <a:xfrm>
              <a:off x="637" y="3386"/>
              <a:ext cx="415"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3,200 Sheets </a:t>
              </a:r>
            </a:p>
          </p:txBody>
        </p:sp>
        <p:sp>
          <p:nvSpPr>
            <p:cNvPr id="31" name="Rectangle 51">
              <a:extLst>
                <a:ext uri="{FF2B5EF4-FFF2-40B4-BE49-F238E27FC236}">
                  <a16:creationId xmlns:a16="http://schemas.microsoft.com/office/drawing/2014/main" id="{70F13098-05CF-3C54-3739-F0F0427F7043}"/>
                </a:ext>
              </a:extLst>
            </p:cNvPr>
            <p:cNvSpPr>
              <a:spLocks noChangeArrowheads="1"/>
            </p:cNvSpPr>
            <p:nvPr/>
          </p:nvSpPr>
          <p:spPr bwMode="auto">
            <a:xfrm>
              <a:off x="1788" y="3386"/>
              <a:ext cx="393"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mn-lt"/>
                </a:rPr>
                <a:t>5,250 Pieces</a:t>
              </a:r>
            </a:p>
          </p:txBody>
        </p:sp>
        <p:sp>
          <p:nvSpPr>
            <p:cNvPr id="32" name="Rectangle 52">
              <a:extLst>
                <a:ext uri="{FF2B5EF4-FFF2-40B4-BE49-F238E27FC236}">
                  <a16:creationId xmlns:a16="http://schemas.microsoft.com/office/drawing/2014/main" id="{393CBC0C-E136-970E-5E63-206435954243}"/>
                </a:ext>
              </a:extLst>
            </p:cNvPr>
            <p:cNvSpPr>
              <a:spLocks noChangeArrowheads="1"/>
            </p:cNvSpPr>
            <p:nvPr/>
          </p:nvSpPr>
          <p:spPr bwMode="auto">
            <a:xfrm>
              <a:off x="2916" y="3386"/>
              <a:ext cx="393"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mn-lt"/>
                </a:rPr>
                <a:t>9,300 Pieces</a:t>
              </a:r>
            </a:p>
          </p:txBody>
        </p:sp>
        <p:sp>
          <p:nvSpPr>
            <p:cNvPr id="33" name="Rectangle 53">
              <a:extLst>
                <a:ext uri="{FF2B5EF4-FFF2-40B4-BE49-F238E27FC236}">
                  <a16:creationId xmlns:a16="http://schemas.microsoft.com/office/drawing/2014/main" id="{94F53223-497D-3BE9-1C6C-67225576DB21}"/>
                </a:ext>
              </a:extLst>
            </p:cNvPr>
            <p:cNvSpPr>
              <a:spLocks noChangeArrowheads="1"/>
            </p:cNvSpPr>
            <p:nvPr/>
          </p:nvSpPr>
          <p:spPr bwMode="auto">
            <a:xfrm>
              <a:off x="4012" y="3386"/>
              <a:ext cx="50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mn-lt"/>
                </a:rPr>
                <a:t>2,300 Enclosures</a:t>
              </a:r>
            </a:p>
          </p:txBody>
        </p:sp>
      </p:grpSp>
      <p:sp>
        <p:nvSpPr>
          <p:cNvPr id="4" name="Rectangle 52">
            <a:extLst>
              <a:ext uri="{FF2B5EF4-FFF2-40B4-BE49-F238E27FC236}">
                <a16:creationId xmlns:a16="http://schemas.microsoft.com/office/drawing/2014/main" id="{C2E118DE-DFB2-A349-F138-05153F4230A7}"/>
              </a:ext>
            </a:extLst>
          </p:cNvPr>
          <p:cNvSpPr>
            <a:spLocks noChangeArrowheads="1"/>
          </p:cNvSpPr>
          <p:nvPr/>
        </p:nvSpPr>
        <p:spPr bwMode="auto">
          <a:xfrm>
            <a:off x="4966090" y="4618508"/>
            <a:ext cx="4581427" cy="1645365"/>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AutoShape 53">
            <a:extLst>
              <a:ext uri="{FF2B5EF4-FFF2-40B4-BE49-F238E27FC236}">
                <a16:creationId xmlns:a16="http://schemas.microsoft.com/office/drawing/2014/main" id="{6C2AE3D6-4349-F37C-6201-A31909BAA411}"/>
              </a:ext>
            </a:extLst>
          </p:cNvPr>
          <p:cNvSpPr>
            <a:spLocks noChangeArrowheads="1"/>
          </p:cNvSpPr>
          <p:nvPr/>
        </p:nvSpPr>
        <p:spPr bwMode="auto">
          <a:xfrm>
            <a:off x="8137804" y="5704420"/>
            <a:ext cx="944162" cy="744419"/>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6" name="Group 5">
            <a:extLst>
              <a:ext uri="{FF2B5EF4-FFF2-40B4-BE49-F238E27FC236}">
                <a16:creationId xmlns:a16="http://schemas.microsoft.com/office/drawing/2014/main" id="{8585A7DF-E4E0-4D6C-676C-D471962A8AE9}"/>
              </a:ext>
            </a:extLst>
          </p:cNvPr>
          <p:cNvGrpSpPr/>
          <p:nvPr/>
        </p:nvGrpSpPr>
        <p:grpSpPr>
          <a:xfrm>
            <a:off x="940004" y="321492"/>
            <a:ext cx="6217883" cy="311851"/>
            <a:chOff x="940249" y="302538"/>
            <a:chExt cx="6219503" cy="311932"/>
          </a:xfrm>
        </p:grpSpPr>
        <p:sp>
          <p:nvSpPr>
            <p:cNvPr id="7" name="TextBox 6">
              <a:extLst>
                <a:ext uri="{FF2B5EF4-FFF2-40B4-BE49-F238E27FC236}">
                  <a16:creationId xmlns:a16="http://schemas.microsoft.com/office/drawing/2014/main" id="{85990784-5A16-7031-430A-F18E48FEDAB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8" name="AutoShape 9">
              <a:extLst>
                <a:ext uri="{FF2B5EF4-FFF2-40B4-BE49-F238E27FC236}">
                  <a16:creationId xmlns:a16="http://schemas.microsoft.com/office/drawing/2014/main" id="{D58FE127-BA64-2D07-F027-FE01848A2B6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68EE51D0-65F8-11D5-7B49-D5345E86ADD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34" name="AutoShape 9">
              <a:extLst>
                <a:ext uri="{FF2B5EF4-FFF2-40B4-BE49-F238E27FC236}">
                  <a16:creationId xmlns:a16="http://schemas.microsoft.com/office/drawing/2014/main" id="{B0591D18-463A-7FE1-AE9A-03AD9082DF41}"/>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9" name="AutoShape 9">
              <a:extLst>
                <a:ext uri="{FF2B5EF4-FFF2-40B4-BE49-F238E27FC236}">
                  <a16:creationId xmlns:a16="http://schemas.microsoft.com/office/drawing/2014/main" id="{AC276EA2-5094-FE9A-7C76-DE635EE2393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0" name="AutoShape 11">
              <a:extLst>
                <a:ext uri="{FF2B5EF4-FFF2-40B4-BE49-F238E27FC236}">
                  <a16:creationId xmlns:a16="http://schemas.microsoft.com/office/drawing/2014/main" id="{F91778B8-931D-B11A-0637-277F5A64B77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71" name="Slide Number Placeholder 2">
            <a:extLst>
              <a:ext uri="{FF2B5EF4-FFF2-40B4-BE49-F238E27FC236}">
                <a16:creationId xmlns:a16="http://schemas.microsoft.com/office/drawing/2014/main" id="{D72698B3-4941-742B-29A5-7B5B2FBDA6E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117</a:t>
            </a:fld>
            <a:endParaRPr lang="en-US" dirty="0"/>
          </a:p>
        </p:txBody>
      </p:sp>
    </p:spTree>
    <p:extLst>
      <p:ext uri="{BB962C8B-B14F-4D97-AF65-F5344CB8AC3E}">
        <p14:creationId xmlns:p14="http://schemas.microsoft.com/office/powerpoint/2010/main" val="68020786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altLang="en-US" dirty="0">
                <a:latin typeface="Roboto" panose="02000000000000000000"/>
              </a:rPr>
              <a:t>Identifying Quality Improvement Opportunities</a:t>
            </a:r>
            <a:endParaRPr lang="en-US" dirty="0">
              <a:latin typeface="Roboto" panose="02000000000000000000"/>
            </a:endParaRPr>
          </a:p>
        </p:txBody>
      </p:sp>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951596" y="1807535"/>
            <a:ext cx="10285631" cy="441059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399"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9134342" y="3990092"/>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9030890" y="2110485"/>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Roboto" panose="02000000000000000000"/>
                </a:rPr>
                <a:t>Ed</a:t>
              </a:r>
              <a:r>
                <a:rPr lang="ja-JP" altLang="en-US" sz="700" b="0" dirty="0">
                  <a:solidFill>
                    <a:schemeClr val="tx1"/>
                  </a:solidFill>
                  <a:latin typeface="Roboto" panose="02000000000000000000"/>
                </a:rPr>
                <a:t>’</a:t>
              </a:r>
              <a:r>
                <a:rPr lang="en-US" altLang="ja-JP" sz="700" b="0" dirty="0">
                  <a:solidFill>
                    <a:schemeClr val="tx1"/>
                  </a:solidFill>
                  <a:latin typeface="Roboto" panose="02000000000000000000"/>
                </a:rPr>
                <a:t>s Electrical Supply</a:t>
              </a:r>
              <a:endParaRPr lang="en-US" altLang="en-US" sz="7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67387" y="1810164"/>
            <a:ext cx="3283271"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Roboto" panose="02000000000000000000"/>
              </a:rPr>
              <a:t>Mike</a:t>
            </a:r>
            <a:r>
              <a:rPr lang="ja-JP" altLang="en-US" sz="1600" dirty="0">
                <a:solidFill>
                  <a:schemeClr val="tx1"/>
                </a:solidFill>
                <a:latin typeface="Roboto" panose="02000000000000000000"/>
              </a:rPr>
              <a:t>’</a:t>
            </a:r>
            <a:r>
              <a:rPr lang="en-US" altLang="ja-JP" sz="1600" dirty="0">
                <a:solidFill>
                  <a:schemeClr val="tx1"/>
                </a:solidFill>
                <a:latin typeface="Roboto" panose="02000000000000000000"/>
              </a:rPr>
              <a:t>s Metal Enclosures (MME)</a:t>
            </a:r>
            <a:endParaRPr lang="en-US" altLang="en-US" sz="16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10097255" y="2311253"/>
            <a:ext cx="1071380"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700" b="0" dirty="0">
                <a:solidFill>
                  <a:schemeClr val="tx1"/>
                </a:solidFill>
                <a:latin typeface="Roboto" panose="02000000000000000000"/>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5" y="2653235"/>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2894258"/>
            <a:ext cx="89340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5" y="4009271"/>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4172299"/>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5" y="399009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3" y="4009271"/>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4172299"/>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3" y="399009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7" y="4028451"/>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4191479"/>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7" y="400927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74018" y="2695464"/>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91510" y="3397120"/>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6791" y="3491058"/>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258" y="3680381"/>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209" y="3680381"/>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7900" y="3446668"/>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90" y="4095324"/>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8" y="4095324"/>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40" y="4095324"/>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2" y="4095324"/>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7" y="4197665"/>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4" y="4174360"/>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8" y="4190690"/>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33185" y="4465924"/>
            <a:ext cx="9685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3,200 Sheets</a:t>
            </a:r>
            <a:r>
              <a:rPr lang="en-US" altLang="en-US" sz="1000"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380970" y="4465924"/>
            <a:ext cx="9204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5,250 Pieces</a:t>
            </a:r>
            <a:endParaRPr lang="en-US" altLang="en-US" sz="1000"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678361" y="4442103"/>
            <a:ext cx="9204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9,300 Pieces</a:t>
            </a:r>
            <a:endParaRPr lang="en-US" altLang="en-US" sz="1000"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881652" y="4442103"/>
            <a:ext cx="11689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2,300 Enclosures</a:t>
            </a:r>
            <a:endParaRPr lang="en-US" altLang="en-US" sz="1000"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29322" y="4299086"/>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5</a:t>
            </a:r>
            <a:endParaRPr lang="en-US" altLang="en-US" sz="1000"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51986" y="4275265"/>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66175" y="4259224"/>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1</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2" y="4668385"/>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S</a:t>
            </a:r>
          </a:p>
          <a:p>
            <a:pPr algn="l"/>
            <a:r>
              <a:rPr lang="en-US" altLang="en-US" sz="1000" b="0" dirty="0">
                <a:solidFill>
                  <a:schemeClr val="tx1"/>
                </a:solidFill>
                <a:latin typeface="Roboto" panose="02000000000000000000"/>
              </a:rPr>
              <a:t>C/O Time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5 Machines</a:t>
            </a:r>
          </a:p>
          <a:p>
            <a:pPr algn="l"/>
            <a:endParaRPr lang="en-US" altLang="en-US" sz="1000"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69" y="4668385"/>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S</a:t>
            </a:r>
          </a:p>
          <a:p>
            <a:pPr algn="l"/>
            <a:r>
              <a:rPr lang="en-US" altLang="en-US" sz="1000" b="0" dirty="0">
                <a:solidFill>
                  <a:schemeClr val="tx1"/>
                </a:solidFill>
                <a:latin typeface="Roboto" panose="02000000000000000000"/>
              </a:rPr>
              <a:t>C/O Time = 30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5" y="4668385"/>
            <a:ext cx="1044479" cy="848071"/>
          </a:xfrm>
          <a:prstGeom prst="rect">
            <a:avLst/>
          </a:prstGeom>
          <a:solidFill>
            <a:schemeClr val="bg1"/>
          </a:solidFill>
          <a:ln w="57150" cap="sq">
            <a:solidFill>
              <a:srgbClr val="EE3228"/>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20 S</a:t>
            </a:r>
          </a:p>
          <a:p>
            <a:pPr algn="l"/>
            <a:r>
              <a:rPr lang="en-US" altLang="en-US" sz="1000" b="0" dirty="0">
                <a:solidFill>
                  <a:schemeClr val="tx1"/>
                </a:solidFill>
                <a:latin typeface="Roboto" panose="02000000000000000000"/>
              </a:rPr>
              <a:t>C/O Time = 120 M</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9" y="4836412"/>
            <a:ext cx="88587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90" y="2082479"/>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5" y="5448529"/>
            <a:ext cx="8023015" cy="561993"/>
            <a:chOff x="2231195" y="9983472"/>
            <a:chExt cx="16050210" cy="1124280"/>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313206"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313206"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313206"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59"/>
              <a:ext cx="1598304"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3"/>
              <a:ext cx="1598304"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3"/>
              <a:ext cx="1598304"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2"/>
              <a:ext cx="1598304"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6" y="5369095"/>
            <a:ext cx="1821150" cy="581473"/>
            <a:chOff x="3493" y="1604"/>
            <a:chExt cx="1068"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10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Production L.T. = 19.7 days</a:t>
              </a:r>
            </a:p>
            <a:p>
              <a:pPr>
                <a:lnSpc>
                  <a:spcPct val="100000"/>
                </a:lnSpc>
                <a:spcBef>
                  <a:spcPct val="35000"/>
                </a:spcBef>
              </a:pPr>
              <a:r>
                <a:rPr lang="en-US" altLang="en-US"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196001"/>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Monthly P.O.</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56040" y="2027239"/>
              <a:ext cx="1001713" cy="709613"/>
              <a:chOff x="2429" y="1277"/>
              <a:chExt cx="631"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MRP</a:t>
                </a:r>
              </a:p>
              <a:p>
                <a:pPr>
                  <a:lnSpc>
                    <a:spcPct val="90000"/>
                  </a:lnSpc>
                  <a:spcBef>
                    <a:spcPct val="0"/>
                  </a:spcBef>
                </a:pPr>
                <a:r>
                  <a:rPr lang="en-US" altLang="en-US" sz="1000"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29" y="1283"/>
                <a:ext cx="631"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 Build</a:t>
                </a:r>
              </a:p>
              <a:p>
                <a:pPr>
                  <a:lnSpc>
                    <a:spcPct val="90000"/>
                  </a:lnSpc>
                  <a:spcBef>
                    <a:spcPct val="0"/>
                  </a:spcBef>
                </a:pPr>
                <a:r>
                  <a:rPr lang="en-US" altLang="en-US" sz="1000" b="0" dirty="0">
                    <a:solidFill>
                      <a:schemeClr val="tx1"/>
                    </a:solidFill>
                    <a:latin typeface="Roboto" panose="02000000000000000000"/>
                  </a:rPr>
                  <a:t>Schedule</a:t>
                </a:r>
              </a:p>
              <a:p>
                <a:pPr>
                  <a:lnSpc>
                    <a:spcPct val="90000"/>
                  </a:lnSpc>
                  <a:spcBef>
                    <a:spcPct val="0"/>
                  </a:spcBef>
                </a:pPr>
                <a:r>
                  <a:rPr lang="en-US" altLang="en-US" sz="1000"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81809" y="4346985"/>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367387" y="3951145"/>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826639" y="4066942"/>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85284" y="4826615"/>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765384" y="3809612"/>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188310" y="3816598"/>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440890" y="4079060"/>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968411" y="3851196"/>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262816" y="4068248"/>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689269" y="4190690"/>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426408" y="4143598"/>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135675" y="4062151"/>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777105" y="4174711"/>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811909" y="5049170"/>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09" name="Group 108">
            <a:extLst>
              <a:ext uri="{FF2B5EF4-FFF2-40B4-BE49-F238E27FC236}">
                <a16:creationId xmlns:a16="http://schemas.microsoft.com/office/drawing/2014/main" id="{59214FCF-9AAE-FE4D-F121-393F1BC3FBBE}"/>
              </a:ext>
            </a:extLst>
          </p:cNvPr>
          <p:cNvGrpSpPr/>
          <p:nvPr/>
        </p:nvGrpSpPr>
        <p:grpSpPr>
          <a:xfrm>
            <a:off x="940004" y="321492"/>
            <a:ext cx="6217883" cy="311851"/>
            <a:chOff x="940249" y="302538"/>
            <a:chExt cx="6219503" cy="311932"/>
          </a:xfrm>
        </p:grpSpPr>
        <p:sp>
          <p:nvSpPr>
            <p:cNvPr id="111" name="TextBox 110">
              <a:extLst>
                <a:ext uri="{FF2B5EF4-FFF2-40B4-BE49-F238E27FC236}">
                  <a16:creationId xmlns:a16="http://schemas.microsoft.com/office/drawing/2014/main" id="{C6D10815-C860-64FA-41A9-D8A85ABFE4A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14" name="AutoShape 9">
              <a:extLst>
                <a:ext uri="{FF2B5EF4-FFF2-40B4-BE49-F238E27FC236}">
                  <a16:creationId xmlns:a16="http://schemas.microsoft.com/office/drawing/2014/main" id="{43D16D9A-2096-A566-1DFF-A6A1C5FB7AE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5" name="AutoShape 9">
              <a:extLst>
                <a:ext uri="{FF2B5EF4-FFF2-40B4-BE49-F238E27FC236}">
                  <a16:creationId xmlns:a16="http://schemas.microsoft.com/office/drawing/2014/main" id="{46A30659-09FA-807E-1179-3499DA7D19B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9" name="AutoShape 9">
              <a:extLst>
                <a:ext uri="{FF2B5EF4-FFF2-40B4-BE49-F238E27FC236}">
                  <a16:creationId xmlns:a16="http://schemas.microsoft.com/office/drawing/2014/main" id="{66002434-B8B8-2B87-51CC-8B8DB44C54BE}"/>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0" name="AutoShape 9">
              <a:extLst>
                <a:ext uri="{FF2B5EF4-FFF2-40B4-BE49-F238E27FC236}">
                  <a16:creationId xmlns:a16="http://schemas.microsoft.com/office/drawing/2014/main" id="{E3007B1C-815E-6925-59B4-4D404306EB34}"/>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9" name="AutoShape 11">
              <a:extLst>
                <a:ext uri="{FF2B5EF4-FFF2-40B4-BE49-F238E27FC236}">
                  <a16:creationId xmlns:a16="http://schemas.microsoft.com/office/drawing/2014/main" id="{7DAAFE41-6AA2-4CAE-EA1F-865CFF22E92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50" name="Slide Number Placeholder 2">
            <a:extLst>
              <a:ext uri="{FF2B5EF4-FFF2-40B4-BE49-F238E27FC236}">
                <a16:creationId xmlns:a16="http://schemas.microsoft.com/office/drawing/2014/main" id="{A950C0BC-2ED3-34AF-E945-80D0ADEAD2A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118</a:t>
            </a:fld>
            <a:endParaRPr lang="en-US" dirty="0"/>
          </a:p>
        </p:txBody>
      </p:sp>
    </p:spTree>
    <p:extLst>
      <p:ext uri="{BB962C8B-B14F-4D97-AF65-F5344CB8AC3E}">
        <p14:creationId xmlns:p14="http://schemas.microsoft.com/office/powerpoint/2010/main" val="1156486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119</a:t>
            </a:fld>
            <a:endParaRPr lang="en-US" dirty="0"/>
          </a:p>
        </p:txBody>
      </p:sp>
    </p:spTree>
    <p:extLst>
      <p:ext uri="{BB962C8B-B14F-4D97-AF65-F5344CB8AC3E}">
        <p14:creationId xmlns:p14="http://schemas.microsoft.com/office/powerpoint/2010/main" val="397995774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latin typeface="Roboto Medium" panose="02000000000000000000" pitchFamily="2" charset="0"/>
                <a:ea typeface="Roboto Medium" panose="02000000000000000000" pitchFamily="2" charset="0"/>
                <a:cs typeface="Roboto Medium" panose="02000000000000000000" pitchFamily="2" charset="0"/>
              </a:rPr>
              <a:t>Scheduling Changes</a:t>
            </a:r>
            <a:endParaRPr lang="en-US" dirty="0">
              <a:latin typeface="Roboto Medium" panose="02000000000000000000" pitchFamily="2" charset="0"/>
              <a:ea typeface="Roboto Medium" panose="02000000000000000000" pitchFamily="2" charset="0"/>
              <a:cs typeface="Roboto Medium" panose="02000000000000000000" pitchFamily="2" charset="0"/>
            </a:endParaRPr>
          </a:p>
        </p:txBody>
      </p:sp>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951596" y="1786797"/>
            <a:ext cx="10318916" cy="4465147"/>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200"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9160822" y="4068706"/>
            <a:ext cx="1047860" cy="590446"/>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200">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9057035" y="2226891"/>
            <a:ext cx="1013928" cy="571652"/>
            <a:chOff x="474" y="1322"/>
            <a:chExt cx="508" cy="365"/>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6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6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600" b="0" dirty="0">
                  <a:solidFill>
                    <a:schemeClr val="tx1"/>
                  </a:solidFill>
                  <a:latin typeface="Roboto" panose="02000000000000000000"/>
                </a:rPr>
                <a:t>Ed</a:t>
              </a:r>
              <a:r>
                <a:rPr lang="ja-JP" altLang="en-US" sz="600" b="0" dirty="0">
                  <a:solidFill>
                    <a:schemeClr val="tx1"/>
                  </a:solidFill>
                  <a:latin typeface="Roboto" panose="02000000000000000000"/>
                </a:rPr>
                <a:t>’</a:t>
              </a:r>
              <a:r>
                <a:rPr lang="en-US" altLang="ja-JP" sz="600" b="0" dirty="0">
                  <a:solidFill>
                    <a:schemeClr val="tx1"/>
                  </a:solidFill>
                  <a:latin typeface="Roboto" panose="02000000000000000000"/>
                </a:rPr>
                <a:t>s Electrical Supply</a:t>
              </a:r>
              <a:endParaRPr lang="en-US" altLang="en-US" sz="6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593950" y="1786798"/>
            <a:ext cx="2882520" cy="307777"/>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Roboto" panose="02000000000000000000"/>
              </a:rPr>
              <a:t>Mike</a:t>
            </a:r>
            <a:r>
              <a:rPr lang="ja-JP" altLang="en-US" sz="1400" dirty="0">
                <a:solidFill>
                  <a:schemeClr val="tx1"/>
                </a:solidFill>
                <a:latin typeface="Roboto" panose="02000000000000000000"/>
              </a:rPr>
              <a:t>’</a:t>
            </a:r>
            <a:r>
              <a:rPr lang="en-US" altLang="ja-JP" sz="1400" dirty="0">
                <a:solidFill>
                  <a:schemeClr val="tx1"/>
                </a:solidFill>
                <a:latin typeface="Roboto" panose="02000000000000000000"/>
              </a:rPr>
              <a:t>s Metal Enclosures (MME)</a:t>
            </a:r>
            <a:endParaRPr lang="en-US" altLang="en-US" sz="14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10126851" y="2423623"/>
            <a:ext cx="1064910" cy="58477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4" y="2780825"/>
            <a:ext cx="1784275" cy="569781"/>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800" b="0" dirty="0">
                  <a:solidFill>
                    <a:schemeClr val="tx1"/>
                  </a:solidFill>
                  <a:latin typeface="Roboto" panose="02000000000000000000"/>
                </a:rPr>
                <a:t>27,000 Seconds</a:t>
              </a:r>
            </a:p>
            <a:p>
              <a:pPr>
                <a:lnSpc>
                  <a:spcPct val="100000"/>
                </a:lnSpc>
                <a:spcBef>
                  <a:spcPct val="35000"/>
                </a:spcBef>
              </a:pPr>
              <a:r>
                <a:rPr lang="en-US" altLang="en-US" sz="800"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3021848"/>
            <a:ext cx="8141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dirty="0">
                <a:solidFill>
                  <a:schemeClr val="tx1"/>
                </a:solidFill>
                <a:latin typeface="Roboto" panose="02000000000000000000"/>
              </a:rPr>
              <a:t>= </a:t>
            </a:r>
            <a:r>
              <a:rPr lang="en-US" altLang="en-US" sz="800"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5" y="413686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429988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5" y="411768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3" y="413686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429988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3" y="411768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7" y="415604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431906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7" y="413686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74017" y="2823054"/>
            <a:ext cx="1995" cy="1279560"/>
          </a:xfrm>
          <a:prstGeom prst="line">
            <a:avLst/>
          </a:prstGeom>
          <a:solidFill>
            <a:schemeClr val="bg1"/>
          </a:solidFill>
          <a:ln w="50800" cmpd="dbl">
            <a:solidFill>
              <a:schemeClr val="tx1"/>
            </a:solidFill>
            <a:round/>
            <a:headEnd/>
            <a:tailEnd type="triangle" w="sm" len="sm"/>
          </a:ln>
        </p:spPr>
        <p:txBody>
          <a:bodyPr/>
          <a:lstStyle/>
          <a:p>
            <a:endParaRPr lang="en-US" sz="1200">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91509" y="3524710"/>
            <a:ext cx="463545" cy="277567"/>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6791" y="3618649"/>
            <a:ext cx="205840" cy="18551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257" y="3807972"/>
            <a:ext cx="102109" cy="92050"/>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208" y="3807972"/>
            <a:ext cx="102109" cy="92050"/>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7900" y="3574258"/>
            <a:ext cx="614744" cy="184666"/>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6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90" y="4222914"/>
            <a:ext cx="1180470" cy="317621"/>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8" y="4222914"/>
            <a:ext cx="1180470" cy="317621"/>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40" y="4222914"/>
            <a:ext cx="1180470" cy="317621"/>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2" y="4222914"/>
            <a:ext cx="837563" cy="317621"/>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7" y="4325255"/>
            <a:ext cx="328742" cy="285701"/>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4" y="4301950"/>
            <a:ext cx="328742" cy="285701"/>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8" y="4318280"/>
            <a:ext cx="328742" cy="285701"/>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74863" y="4593515"/>
            <a:ext cx="88804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3,200 Sheets</a:t>
            </a:r>
            <a:r>
              <a:rPr lang="en-US" altLang="en-US"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423449" y="4593515"/>
            <a:ext cx="8381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5,250 Pieces</a:t>
            </a:r>
            <a:endParaRPr lang="en-US" altLang="en-US"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720840" y="4569694"/>
            <a:ext cx="8381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9,300 Pieces</a:t>
            </a:r>
            <a:endParaRPr lang="en-US" altLang="en-US"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933750" y="4569694"/>
            <a:ext cx="10681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2,300 Enclosures</a:t>
            </a:r>
            <a:endParaRPr lang="en-US" altLang="en-US"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40542" y="4426677"/>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5</a:t>
            </a:r>
            <a:endParaRPr lang="en-US" altLang="en-US"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63206" y="4402856"/>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1</a:t>
            </a:r>
            <a:endParaRPr lang="en-US" altLang="en-US"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77395" y="4386815"/>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1</a:t>
            </a:r>
            <a:endParaRPr lang="en-US" altLang="en-US"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2"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12 S</a:t>
            </a:r>
          </a:p>
          <a:p>
            <a:pPr algn="l"/>
            <a:r>
              <a:rPr lang="en-US" altLang="en-US" b="0" dirty="0">
                <a:solidFill>
                  <a:schemeClr val="tx1"/>
                </a:solidFill>
                <a:latin typeface="Roboto" panose="02000000000000000000"/>
              </a:rPr>
              <a:t>C/O Time =30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99%</a:t>
            </a:r>
          </a:p>
          <a:p>
            <a:pPr algn="l"/>
            <a:r>
              <a:rPr lang="en-US" altLang="en-US" b="0" dirty="0">
                <a:solidFill>
                  <a:schemeClr val="tx1"/>
                </a:solidFill>
                <a:latin typeface="Roboto" panose="02000000000000000000"/>
              </a:rPr>
              <a:t>5 Machines</a:t>
            </a:r>
          </a:p>
          <a:p>
            <a:pPr algn="l"/>
            <a:endParaRPr lang="en-US" altLang="en-US"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69"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15 S</a:t>
            </a:r>
          </a:p>
          <a:p>
            <a:pPr algn="l"/>
            <a:r>
              <a:rPr lang="en-US" altLang="en-US" b="0" dirty="0">
                <a:solidFill>
                  <a:schemeClr val="tx1"/>
                </a:solidFill>
                <a:latin typeface="Roboto" panose="02000000000000000000"/>
              </a:rPr>
              <a:t>C/O Time = 30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5"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20 S</a:t>
            </a:r>
          </a:p>
          <a:p>
            <a:pPr algn="l"/>
            <a:r>
              <a:rPr lang="en-US" altLang="en-US" b="0" dirty="0">
                <a:solidFill>
                  <a:schemeClr val="tx1"/>
                </a:solidFill>
                <a:latin typeface="Roboto" panose="02000000000000000000"/>
              </a:rPr>
              <a:t>C/O Time = 120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8" y="4964002"/>
            <a:ext cx="888741" cy="369332"/>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 sheet yields 4 pieces</a:t>
            </a:r>
            <a:r>
              <a:rPr lang="en-US" altLang="en-US"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90" y="2210069"/>
            <a:ext cx="1117968" cy="191753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73"/>
              <a:chOff x="435" y="1322"/>
              <a:chExt cx="583" cy="373"/>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6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a:rPr>
                  <a:t>Acme</a:t>
                </a:r>
              </a:p>
              <a:p>
                <a:pPr>
                  <a:lnSpc>
                    <a:spcPct val="90000"/>
                  </a:lnSpc>
                  <a:spcBef>
                    <a:spcPct val="0"/>
                  </a:spcBef>
                </a:pPr>
                <a:r>
                  <a:rPr lang="en-US" altLang="en-US" sz="800"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a:rPr>
                  <a:t>1X</a:t>
                </a:r>
              </a:p>
              <a:p>
                <a:pPr>
                  <a:lnSpc>
                    <a:spcPct val="100000"/>
                  </a:lnSpc>
                  <a:spcBef>
                    <a:spcPct val="0"/>
                  </a:spcBef>
                </a:pPr>
                <a:r>
                  <a:rPr lang="en-US" altLang="en-US" sz="800"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5" y="5576120"/>
            <a:ext cx="8048978" cy="540873"/>
            <a:chOff x="2231195" y="9983474"/>
            <a:chExt cx="16050210" cy="1104232"/>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3" y="10553610"/>
              <a:ext cx="1353878"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7" y="10553610"/>
              <a:ext cx="1353878"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8" y="10553610"/>
              <a:ext cx="1353878"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4" y="5496685"/>
            <a:ext cx="1700450" cy="569781"/>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800" b="0" dirty="0">
                  <a:solidFill>
                    <a:schemeClr val="tx1"/>
                  </a:solidFill>
                  <a:latin typeface="Roboto" panose="02000000000000000000"/>
                </a:rPr>
                <a:t>Production L.T. = 19.7 days</a:t>
              </a:r>
            </a:p>
            <a:p>
              <a:pPr>
                <a:lnSpc>
                  <a:spcPct val="100000"/>
                </a:lnSpc>
                <a:spcBef>
                  <a:spcPct val="35000"/>
                </a:spcBef>
              </a:pPr>
              <a:r>
                <a:rPr lang="en-US" altLang="en-US" sz="800"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323591"/>
            <a:ext cx="7109246" cy="1806565"/>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Monthly P.O.</a:t>
                </a:r>
              </a:p>
              <a:p>
                <a:pPr>
                  <a:lnSpc>
                    <a:spcPct val="90000"/>
                  </a:lnSpc>
                  <a:spcBef>
                    <a:spcPct val="0"/>
                  </a:spcBef>
                </a:pPr>
                <a:r>
                  <a:rPr lang="en-US" altLang="en-US"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Daily Orders</a:t>
                </a:r>
              </a:p>
              <a:p>
                <a:pPr>
                  <a:lnSpc>
                    <a:spcPct val="90000"/>
                  </a:lnSpc>
                  <a:spcBef>
                    <a:spcPct val="0"/>
                  </a:spcBef>
                </a:pPr>
                <a:r>
                  <a:rPr lang="en-US" altLang="en-US"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MRP</a:t>
                </a:r>
              </a:p>
              <a:p>
                <a:pPr>
                  <a:lnSpc>
                    <a:spcPct val="90000"/>
                  </a:lnSpc>
                  <a:spcBef>
                    <a:spcPct val="0"/>
                  </a:spcBef>
                </a:pPr>
                <a:r>
                  <a:rPr lang="en-US" altLang="en-US"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56" y="1283"/>
                <a:ext cx="578"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a:solidFill>
                      <a:schemeClr val="tx1"/>
                    </a:solidFill>
                    <a:latin typeface="Roboto" panose="02000000000000000000"/>
                  </a:rPr>
                  <a:t>Daily Ship</a:t>
                </a:r>
              </a:p>
              <a:p>
                <a:pPr>
                  <a:lnSpc>
                    <a:spcPct val="90000"/>
                  </a:lnSpc>
                  <a:spcBef>
                    <a:spcPct val="0"/>
                  </a:spcBef>
                </a:pPr>
                <a:r>
                  <a:rPr lang="en-US" altLang="en-US" b="0">
                    <a:solidFill>
                      <a:schemeClr val="tx1"/>
                    </a:solidFill>
                    <a:latin typeface="Roboto" panose="02000000000000000000"/>
                  </a:rPr>
                  <a:t>Schedule</a:t>
                </a:r>
              </a:p>
              <a:p>
                <a:pPr>
                  <a:lnSpc>
                    <a:spcPct val="90000"/>
                  </a:lnSpc>
                  <a:spcBef>
                    <a:spcPct val="0"/>
                  </a:spcBef>
                </a:pPr>
                <a:r>
                  <a:rPr lang="en-US" altLang="en-US"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81809" y="4474575"/>
            <a:ext cx="1446724" cy="1185334"/>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b="0" dirty="0">
                <a:solidFill>
                  <a:srgbClr val="EE3228"/>
                </a:solidFill>
                <a:latin typeface="Roboto" panose="02000000000000000000"/>
              </a:rPr>
              <a:t>Improve</a:t>
            </a:r>
          </a:p>
          <a:p>
            <a:pPr>
              <a:lnSpc>
                <a:spcPct val="100000"/>
              </a:lnSpc>
              <a:spcBef>
                <a:spcPct val="0"/>
              </a:spcBef>
            </a:pPr>
            <a:r>
              <a:rPr lang="en-US" altLang="en-US" sz="14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367386" y="4078735"/>
            <a:ext cx="3607815" cy="1571053"/>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826638" y="4194532"/>
            <a:ext cx="521229" cy="533935"/>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85284" y="4954205"/>
            <a:ext cx="1515926" cy="1005003"/>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765383" y="3937201"/>
            <a:ext cx="458560" cy="458560"/>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188309" y="3944187"/>
            <a:ext cx="458560" cy="458560"/>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440889" y="4206651"/>
            <a:ext cx="449201" cy="463812"/>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968411" y="3978786"/>
            <a:ext cx="220611" cy="478267"/>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262816" y="4195838"/>
            <a:ext cx="220611" cy="478267"/>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689268" y="4318281"/>
            <a:ext cx="449201" cy="463812"/>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426407" y="4271189"/>
            <a:ext cx="449201" cy="463812"/>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135675" y="4189741"/>
            <a:ext cx="220611" cy="478267"/>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777105" y="4302301"/>
            <a:ext cx="1206796" cy="937797"/>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rgbClr val="EE3228"/>
                </a:solidFill>
                <a:latin typeface="Roboto" panose="02000000000000000000"/>
              </a:rPr>
              <a:t>Reduce</a:t>
            </a:r>
          </a:p>
          <a:p>
            <a:pPr>
              <a:lnSpc>
                <a:spcPct val="100000"/>
              </a:lnSpc>
              <a:spcBef>
                <a:spcPct val="30000"/>
              </a:spcBef>
            </a:pPr>
            <a:r>
              <a:rPr lang="en-US" altLang="en-US" sz="11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811909" y="5176761"/>
            <a:ext cx="1312643" cy="1014524"/>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rgbClr val="EE3228"/>
                </a:solidFill>
                <a:latin typeface="Roboto" panose="02000000000000000000"/>
              </a:rPr>
              <a:t>Improve</a:t>
            </a:r>
          </a:p>
          <a:p>
            <a:pPr>
              <a:lnSpc>
                <a:spcPct val="100000"/>
              </a:lnSpc>
              <a:spcBef>
                <a:spcPct val="30000"/>
              </a:spcBef>
            </a:pPr>
            <a:r>
              <a:rPr lang="en-US" altLang="en-US" b="0" dirty="0">
                <a:solidFill>
                  <a:srgbClr val="EE3228"/>
                </a:solidFill>
                <a:latin typeface="Roboto" panose="02000000000000000000"/>
              </a:rPr>
              <a:t>Quality</a:t>
            </a:r>
          </a:p>
        </p:txBody>
      </p:sp>
      <p:sp>
        <p:nvSpPr>
          <p:cNvPr id="109" name="Rectangle 144">
            <a:extLst>
              <a:ext uri="{FF2B5EF4-FFF2-40B4-BE49-F238E27FC236}">
                <a16:creationId xmlns:a16="http://schemas.microsoft.com/office/drawing/2014/main" id="{B9B02C40-C780-CB4C-4392-4F81C47D2C1B}"/>
              </a:ext>
            </a:extLst>
          </p:cNvPr>
          <p:cNvSpPr>
            <a:spLocks noChangeArrowheads="1"/>
          </p:cNvSpPr>
          <p:nvPr/>
        </p:nvSpPr>
        <p:spPr bwMode="auto">
          <a:xfrm>
            <a:off x="3140696" y="1773789"/>
            <a:ext cx="5913919" cy="1018740"/>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400" dirty="0">
                <a:solidFill>
                  <a:schemeClr val="tx1"/>
                </a:solidFill>
                <a:latin typeface="Roboto" panose="02000000000000000000"/>
              </a:rPr>
              <a:t>The Pacemaker operation (Shipping) becomes the single point of scheduling</a:t>
            </a:r>
          </a:p>
          <a:p>
            <a:pPr algn="l">
              <a:lnSpc>
                <a:spcPct val="100000"/>
              </a:lnSpc>
              <a:spcBef>
                <a:spcPct val="30000"/>
              </a:spcBef>
              <a:buFontTx/>
              <a:buChar char="•"/>
            </a:pPr>
            <a:r>
              <a:rPr lang="en-US" altLang="en-US" sz="1400" dirty="0">
                <a:solidFill>
                  <a:schemeClr val="tx1"/>
                </a:solidFill>
                <a:latin typeface="Roboto" panose="02000000000000000000"/>
              </a:rPr>
              <a:t>MRP is no longer used to schedule shop floor since production is controlled through pull and flow</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789019" y="3234245"/>
            <a:ext cx="449201" cy="463812"/>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5108950" y="3251992"/>
            <a:ext cx="449201" cy="463812"/>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560198" y="3239982"/>
            <a:ext cx="449201" cy="463812"/>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80" name="Group 179">
            <a:extLst>
              <a:ext uri="{FF2B5EF4-FFF2-40B4-BE49-F238E27FC236}">
                <a16:creationId xmlns:a16="http://schemas.microsoft.com/office/drawing/2014/main" id="{F62328F4-63E7-A362-9804-5DEBDBAC9ED2}"/>
              </a:ext>
            </a:extLst>
          </p:cNvPr>
          <p:cNvGrpSpPr/>
          <p:nvPr/>
        </p:nvGrpSpPr>
        <p:grpSpPr>
          <a:xfrm>
            <a:off x="940004" y="321492"/>
            <a:ext cx="6217883" cy="311851"/>
            <a:chOff x="940249" y="302538"/>
            <a:chExt cx="6219503" cy="311932"/>
          </a:xfrm>
        </p:grpSpPr>
        <p:sp>
          <p:nvSpPr>
            <p:cNvPr id="181" name="TextBox 180">
              <a:extLst>
                <a:ext uri="{FF2B5EF4-FFF2-40B4-BE49-F238E27FC236}">
                  <a16:creationId xmlns:a16="http://schemas.microsoft.com/office/drawing/2014/main" id="{2FDCDEAC-D5CA-9D80-FF69-19E323CAB6C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82" name="AutoShape 9">
              <a:extLst>
                <a:ext uri="{FF2B5EF4-FFF2-40B4-BE49-F238E27FC236}">
                  <a16:creationId xmlns:a16="http://schemas.microsoft.com/office/drawing/2014/main" id="{D5240EE9-3C55-9860-8D18-43F5CBC751E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3" name="AutoShape 9">
              <a:extLst>
                <a:ext uri="{FF2B5EF4-FFF2-40B4-BE49-F238E27FC236}">
                  <a16:creationId xmlns:a16="http://schemas.microsoft.com/office/drawing/2014/main" id="{8825A9BE-E00E-B8D2-9529-C4B83C30DA5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4" name="AutoShape 9">
              <a:extLst>
                <a:ext uri="{FF2B5EF4-FFF2-40B4-BE49-F238E27FC236}">
                  <a16:creationId xmlns:a16="http://schemas.microsoft.com/office/drawing/2014/main" id="{5686CB28-F05F-9806-4766-9A81AF788721}"/>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5" name="AutoShape 9">
              <a:extLst>
                <a:ext uri="{FF2B5EF4-FFF2-40B4-BE49-F238E27FC236}">
                  <a16:creationId xmlns:a16="http://schemas.microsoft.com/office/drawing/2014/main" id="{F725629D-B29B-7908-999C-5F4C1E98736A}"/>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0" name="AutoShape 11">
              <a:extLst>
                <a:ext uri="{FF2B5EF4-FFF2-40B4-BE49-F238E27FC236}">
                  <a16:creationId xmlns:a16="http://schemas.microsoft.com/office/drawing/2014/main" id="{CC6706E8-D78C-9507-5D39-7CA270F39CC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11" name="Slide Number Placeholder 2">
            <a:extLst>
              <a:ext uri="{FF2B5EF4-FFF2-40B4-BE49-F238E27FC236}">
                <a16:creationId xmlns:a16="http://schemas.microsoft.com/office/drawing/2014/main" id="{06C53004-7086-E6D8-2DBF-0460235285D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120</a:t>
            </a:fld>
            <a:endParaRPr lang="en-US" dirty="0"/>
          </a:p>
        </p:txBody>
      </p:sp>
    </p:spTree>
    <p:extLst>
      <p:ext uri="{BB962C8B-B14F-4D97-AF65-F5344CB8AC3E}">
        <p14:creationId xmlns:p14="http://schemas.microsoft.com/office/powerpoint/2010/main" val="351101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latin typeface="Roboto Medium" panose="02000000000000000000" pitchFamily="2" charset="0"/>
                <a:ea typeface="Roboto Medium" panose="02000000000000000000" pitchFamily="2" charset="0"/>
                <a:cs typeface="Roboto Medium" panose="02000000000000000000" pitchFamily="2" charset="0"/>
              </a:rPr>
              <a:t>Scheduling Changes</a:t>
            </a:r>
            <a:endParaRPr lang="en-US" dirty="0">
              <a:latin typeface="Roboto Medium" panose="02000000000000000000" pitchFamily="2" charset="0"/>
              <a:ea typeface="Roboto Medium" panose="02000000000000000000" pitchFamily="2" charset="0"/>
              <a:cs typeface="Roboto Medium" panose="02000000000000000000" pitchFamily="2" charset="0"/>
            </a:endParaRPr>
          </a:p>
        </p:txBody>
      </p:sp>
      <p:sp>
        <p:nvSpPr>
          <p:cNvPr id="25" name="Rectangle 33">
            <a:extLst>
              <a:ext uri="{FF2B5EF4-FFF2-40B4-BE49-F238E27FC236}">
                <a16:creationId xmlns:a16="http://schemas.microsoft.com/office/drawing/2014/main" id="{1F0FBBF7-3F12-2426-B1D0-02F283E02097}"/>
              </a:ext>
            </a:extLst>
          </p:cNvPr>
          <p:cNvSpPr>
            <a:spLocks noChangeArrowheads="1"/>
          </p:cNvSpPr>
          <p:nvPr/>
        </p:nvSpPr>
        <p:spPr bwMode="auto">
          <a:xfrm>
            <a:off x="951596" y="1786797"/>
            <a:ext cx="10318916" cy="4465147"/>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sz="1200" dirty="0">
              <a:latin typeface="Roboto" panose="02000000000000000000"/>
            </a:endParaRPr>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9160822" y="4068706"/>
            <a:ext cx="1047860" cy="590446"/>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200">
                  <a:latin typeface="Roboto" panose="02000000000000000000"/>
                </a:endParaRPr>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9057035" y="2226891"/>
            <a:ext cx="1013928" cy="571652"/>
            <a:chOff x="474" y="1322"/>
            <a:chExt cx="508" cy="365"/>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600" b="0">
                  <a:solidFill>
                    <a:srgbClr val="FF0000"/>
                  </a:solidFill>
                  <a:latin typeface="Roboto" panose="02000000000000000000"/>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65"/>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600" b="0" dirty="0">
                  <a:solidFill>
                    <a:schemeClr val="tx1"/>
                  </a:solidFill>
                  <a:latin typeface="Roboto" panose="02000000000000000000"/>
                </a:rPr>
                <a:t>Ed</a:t>
              </a:r>
              <a:r>
                <a:rPr lang="ja-JP" altLang="en-US" sz="600" b="0" dirty="0">
                  <a:solidFill>
                    <a:schemeClr val="tx1"/>
                  </a:solidFill>
                  <a:latin typeface="Roboto" panose="02000000000000000000"/>
                </a:rPr>
                <a:t>’</a:t>
              </a:r>
              <a:r>
                <a:rPr lang="en-US" altLang="ja-JP" sz="600" b="0" dirty="0">
                  <a:solidFill>
                    <a:schemeClr val="tx1"/>
                  </a:solidFill>
                  <a:latin typeface="Roboto" panose="02000000000000000000"/>
                </a:rPr>
                <a:t>s Electrical Supply</a:t>
              </a:r>
              <a:endParaRPr lang="en-US" altLang="en-US" sz="600" b="0" dirty="0">
                <a:solidFill>
                  <a:schemeClr val="tx1"/>
                </a:solidFill>
                <a:latin typeface="Roboto" panose="02000000000000000000"/>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593950" y="1786798"/>
            <a:ext cx="2882520" cy="307777"/>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Roboto" panose="02000000000000000000"/>
              </a:rPr>
              <a:t>Mike</a:t>
            </a:r>
            <a:r>
              <a:rPr lang="ja-JP" altLang="en-US" sz="1400" dirty="0">
                <a:solidFill>
                  <a:schemeClr val="tx1"/>
                </a:solidFill>
                <a:latin typeface="Roboto" panose="02000000000000000000"/>
              </a:rPr>
              <a:t>’</a:t>
            </a:r>
            <a:r>
              <a:rPr lang="en-US" altLang="ja-JP" sz="1400" dirty="0">
                <a:solidFill>
                  <a:schemeClr val="tx1"/>
                </a:solidFill>
                <a:latin typeface="Roboto" panose="02000000000000000000"/>
              </a:rPr>
              <a:t>s Metal Enclosures (MME)</a:t>
            </a:r>
            <a:endParaRPr lang="en-US" altLang="en-US" sz="1400" dirty="0">
              <a:solidFill>
                <a:schemeClr val="tx1"/>
              </a:solidFill>
              <a:latin typeface="Roboto" panose="02000000000000000000"/>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10126851" y="2423623"/>
            <a:ext cx="1027176" cy="707886"/>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074" y="2780825"/>
            <a:ext cx="1784275" cy="569781"/>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800" b="0" dirty="0">
                  <a:solidFill>
                    <a:schemeClr val="tx1"/>
                  </a:solidFill>
                  <a:latin typeface="Roboto" panose="02000000000000000000"/>
                </a:rPr>
                <a:t>27,000 Seconds</a:t>
              </a:r>
            </a:p>
            <a:p>
              <a:pPr>
                <a:lnSpc>
                  <a:spcPct val="100000"/>
                </a:lnSpc>
                <a:spcBef>
                  <a:spcPct val="35000"/>
                </a:spcBef>
              </a:pPr>
              <a:r>
                <a:rPr lang="en-US" altLang="en-US" sz="800"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03222" y="3021848"/>
            <a:ext cx="8141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dirty="0">
                <a:solidFill>
                  <a:schemeClr val="tx1"/>
                </a:solidFill>
                <a:latin typeface="Roboto" panose="02000000000000000000"/>
              </a:rPr>
              <a:t>= </a:t>
            </a:r>
            <a:r>
              <a:rPr lang="en-US" altLang="en-US" sz="800" dirty="0">
                <a:solidFill>
                  <a:srgbClr val="FF0000"/>
                </a:solidFill>
                <a:latin typeface="Roboto" panose="02000000000000000000"/>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805975" y="413686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811909" y="429988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841785" y="411768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476353" y="413686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482288" y="429988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512163" y="411768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34237" y="4156041"/>
            <a:ext cx="1047859" cy="5716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40171" y="4319069"/>
            <a:ext cx="1032975" cy="1566"/>
          </a:xfrm>
          <a:prstGeom prst="line">
            <a:avLst/>
          </a:prstGeom>
          <a:solidFill>
            <a:schemeClr val="bg1"/>
          </a:solidFill>
          <a:ln w="12700" cap="sq">
            <a:solidFill>
              <a:schemeClr val="tx1"/>
            </a:solidFill>
            <a:round/>
            <a:headEnd type="none" w="sm" len="sm"/>
            <a:tailEnd type="none" w="sm" len="sm"/>
          </a:ln>
        </p:spPr>
        <p:txBody>
          <a:bodyPr wrap="none"/>
          <a:lstStyle/>
          <a:p>
            <a:endParaRPr lang="en-US" sz="1200">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70047" y="4136862"/>
            <a:ext cx="981995" cy="261610"/>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74017" y="2823054"/>
            <a:ext cx="1995" cy="1279560"/>
          </a:xfrm>
          <a:prstGeom prst="line">
            <a:avLst/>
          </a:prstGeom>
          <a:solidFill>
            <a:schemeClr val="bg1"/>
          </a:solidFill>
          <a:ln w="50800" cmpd="dbl">
            <a:solidFill>
              <a:schemeClr val="tx1"/>
            </a:solidFill>
            <a:round/>
            <a:headEnd/>
            <a:tailEnd type="triangle" w="sm" len="sm"/>
          </a:ln>
        </p:spPr>
        <p:txBody>
          <a:bodyPr/>
          <a:lstStyle/>
          <a:p>
            <a:endParaRPr lang="en-US" sz="1200">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91509" y="3524710"/>
            <a:ext cx="463545" cy="277567"/>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56791" y="3618649"/>
            <a:ext cx="205840" cy="18551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05257" y="3807972"/>
            <a:ext cx="102109" cy="92050"/>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43208" y="3807972"/>
            <a:ext cx="102109" cy="92050"/>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17900" y="3574258"/>
            <a:ext cx="614744" cy="184666"/>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600" b="0" dirty="0">
                <a:solidFill>
                  <a:schemeClr val="tx1"/>
                </a:solidFill>
                <a:latin typeface="Roboto" panose="02000000000000000000"/>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299690" y="4222914"/>
            <a:ext cx="1180470" cy="317621"/>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577618" y="4222914"/>
            <a:ext cx="1180470" cy="317621"/>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908440" y="4222914"/>
            <a:ext cx="1180470" cy="317621"/>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379462" y="4222914"/>
            <a:ext cx="837563" cy="317621"/>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dirty="0">
                  <a:solidFill>
                    <a:schemeClr val="tx1"/>
                  </a:solidFill>
                  <a:latin typeface="Roboto" panose="0200000000000000000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368387" y="4325255"/>
            <a:ext cx="328742" cy="285701"/>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607364" y="4301950"/>
            <a:ext cx="328742" cy="285701"/>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905988" y="4318280"/>
            <a:ext cx="328742" cy="285701"/>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200">
                <a:latin typeface="Roboto" panose="02000000000000000000"/>
              </a:endParaRPr>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174863" y="4593515"/>
            <a:ext cx="88804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3,200 Sheets</a:t>
            </a:r>
            <a:r>
              <a:rPr lang="en-US" altLang="en-US" b="0" dirty="0">
                <a:solidFill>
                  <a:srgbClr val="FF0000"/>
                </a:solidFill>
                <a:latin typeface="Roboto" panose="02000000000000000000"/>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423449" y="4593515"/>
            <a:ext cx="8381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5,250 Pieces</a:t>
            </a:r>
            <a:endParaRPr lang="en-US" altLang="en-US" b="0" dirty="0">
              <a:solidFill>
                <a:srgbClr val="FF0000"/>
              </a:solidFill>
              <a:latin typeface="Roboto" panose="02000000000000000000"/>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720840" y="4569694"/>
            <a:ext cx="8381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9,300 Pieces</a:t>
            </a:r>
            <a:endParaRPr lang="en-US" altLang="en-US" b="0" dirty="0">
              <a:solidFill>
                <a:srgbClr val="FF0000"/>
              </a:solidFill>
              <a:latin typeface="Roboto" panose="02000000000000000000"/>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933750" y="4569694"/>
            <a:ext cx="10681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2,300 Enclosures</a:t>
            </a:r>
            <a:endParaRPr lang="en-US" altLang="en-US" b="0" dirty="0">
              <a:solidFill>
                <a:srgbClr val="FF0000"/>
              </a:solidFill>
              <a:latin typeface="Roboto" panose="02000000000000000000"/>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40542" y="4426677"/>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5</a:t>
            </a:r>
            <a:endParaRPr lang="en-US" altLang="en-US" b="0" dirty="0">
              <a:solidFill>
                <a:srgbClr val="FF0000"/>
              </a:solidFill>
              <a:latin typeface="Roboto" panose="02000000000000000000"/>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963206" y="4402856"/>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1</a:t>
            </a:r>
            <a:endParaRPr lang="en-US" altLang="en-US" b="0" dirty="0">
              <a:solidFill>
                <a:srgbClr val="FF0000"/>
              </a:solidFill>
              <a:latin typeface="Roboto" panose="02000000000000000000"/>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277395" y="4386815"/>
            <a:ext cx="34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 1</a:t>
            </a:r>
            <a:endParaRPr lang="en-US" altLang="en-US"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42002"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12 S</a:t>
            </a:r>
          </a:p>
          <a:p>
            <a:pPr algn="l"/>
            <a:r>
              <a:rPr lang="en-US" altLang="en-US" b="0" dirty="0">
                <a:solidFill>
                  <a:schemeClr val="tx1"/>
                </a:solidFill>
                <a:latin typeface="Roboto" panose="02000000000000000000"/>
              </a:rPr>
              <a:t>C/O Time =30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99%</a:t>
            </a:r>
          </a:p>
          <a:p>
            <a:pPr algn="l"/>
            <a:r>
              <a:rPr lang="en-US" altLang="en-US" b="0" dirty="0">
                <a:solidFill>
                  <a:schemeClr val="tx1"/>
                </a:solidFill>
                <a:latin typeface="Roboto" panose="02000000000000000000"/>
              </a:rPr>
              <a:t>5 Machines</a:t>
            </a:r>
          </a:p>
          <a:p>
            <a:pPr algn="l"/>
            <a:endParaRPr lang="en-US" altLang="en-US" b="0" dirty="0">
              <a:solidFill>
                <a:schemeClr val="tx1"/>
              </a:solidFill>
              <a:latin typeface="Roboto" panose="02000000000000000000"/>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474869"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15 S</a:t>
            </a:r>
          </a:p>
          <a:p>
            <a:pPr algn="l"/>
            <a:r>
              <a:rPr lang="en-US" altLang="en-US" b="0" dirty="0">
                <a:solidFill>
                  <a:schemeClr val="tx1"/>
                </a:solidFill>
                <a:latin typeface="Roboto" panose="02000000000000000000"/>
              </a:rPr>
              <a:t>C/O Time = 30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805975" y="4795975"/>
            <a:ext cx="1047859" cy="831019"/>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b="0" dirty="0">
                <a:solidFill>
                  <a:schemeClr val="tx1"/>
                </a:solidFill>
                <a:latin typeface="Roboto" panose="02000000000000000000"/>
              </a:rPr>
              <a:t>DOI = 20 S</a:t>
            </a:r>
          </a:p>
          <a:p>
            <a:pPr algn="l"/>
            <a:r>
              <a:rPr lang="en-US" altLang="en-US" b="0" dirty="0">
                <a:solidFill>
                  <a:schemeClr val="tx1"/>
                </a:solidFill>
                <a:latin typeface="Roboto" panose="02000000000000000000"/>
              </a:rPr>
              <a:t>C/O Time = 120 M</a:t>
            </a:r>
          </a:p>
          <a:p>
            <a:pPr algn="l"/>
            <a:r>
              <a:rPr lang="en-US" altLang="en-US" b="0" dirty="0">
                <a:solidFill>
                  <a:schemeClr val="tx1"/>
                </a:solidFill>
                <a:latin typeface="Roboto" panose="02000000000000000000"/>
              </a:rPr>
              <a:t>Uptime = 99%</a:t>
            </a:r>
          </a:p>
          <a:p>
            <a:pPr algn="l"/>
            <a:r>
              <a:rPr lang="en-US" altLang="en-US" b="0" dirty="0">
                <a:solidFill>
                  <a:schemeClr val="tx1"/>
                </a:solidFill>
                <a:latin typeface="Roboto" panose="02000000000000000000"/>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11358" y="4964002"/>
            <a:ext cx="888741" cy="369332"/>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 sheet yields 4 pieces</a:t>
            </a:r>
            <a:r>
              <a:rPr lang="en-US" altLang="en-US"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20190" y="2210069"/>
            <a:ext cx="1117968" cy="1917539"/>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73"/>
              <a:chOff x="435" y="1322"/>
              <a:chExt cx="583" cy="373"/>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6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800" b="0" dirty="0">
                    <a:solidFill>
                      <a:schemeClr val="tx1"/>
                    </a:solidFill>
                    <a:latin typeface="Roboto" panose="02000000000000000000"/>
                  </a:rPr>
                  <a:t>Acme</a:t>
                </a:r>
              </a:p>
              <a:p>
                <a:pPr>
                  <a:lnSpc>
                    <a:spcPct val="90000"/>
                  </a:lnSpc>
                  <a:spcBef>
                    <a:spcPct val="0"/>
                  </a:spcBef>
                </a:pPr>
                <a:r>
                  <a:rPr lang="en-US" altLang="en-US" sz="800"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a:rPr>
                  <a:t>1X</a:t>
                </a:r>
              </a:p>
              <a:p>
                <a:pPr>
                  <a:lnSpc>
                    <a:spcPct val="100000"/>
                  </a:lnSpc>
                  <a:spcBef>
                    <a:spcPct val="0"/>
                  </a:spcBef>
                </a:pPr>
                <a:r>
                  <a:rPr lang="en-US" altLang="en-US" sz="800" b="0" dirty="0">
                    <a:solidFill>
                      <a:schemeClr val="tx1"/>
                    </a:solidFill>
                    <a:latin typeface="Roboto" panose="02000000000000000000"/>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194885" y="5576120"/>
            <a:ext cx="8048978" cy="540873"/>
            <a:chOff x="2231195" y="9983474"/>
            <a:chExt cx="16050210" cy="1104232"/>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3" y="10553610"/>
              <a:ext cx="1302344"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7" y="10553610"/>
              <a:ext cx="1302344"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8" y="10553610"/>
              <a:ext cx="1302344" cy="53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87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357934" y="5496685"/>
            <a:ext cx="1700450" cy="569781"/>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sz="800" b="0" dirty="0">
                  <a:solidFill>
                    <a:schemeClr val="tx1"/>
                  </a:solidFill>
                  <a:latin typeface="Roboto" panose="02000000000000000000"/>
                </a:rPr>
                <a:t>Production L.T. = 19.7 days</a:t>
              </a:r>
            </a:p>
            <a:p>
              <a:pPr>
                <a:lnSpc>
                  <a:spcPct val="100000"/>
                </a:lnSpc>
                <a:spcBef>
                  <a:spcPct val="35000"/>
                </a:spcBef>
              </a:pPr>
              <a:r>
                <a:rPr lang="en-US" altLang="en-US" sz="800" b="0" dirty="0">
                  <a:solidFill>
                    <a:schemeClr val="tx1"/>
                  </a:solidFill>
                  <a:latin typeface="Roboto" panose="02000000000000000000"/>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200">
                <a:latin typeface="Roboto" panose="02000000000000000000"/>
              </a:endParaRPr>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201027" y="2323591"/>
            <a:ext cx="7109246" cy="1806565"/>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Monthly P.O.</a:t>
                </a:r>
              </a:p>
              <a:p>
                <a:pPr>
                  <a:lnSpc>
                    <a:spcPct val="90000"/>
                  </a:lnSpc>
                  <a:spcBef>
                    <a:spcPct val="0"/>
                  </a:spcBef>
                </a:pPr>
                <a:r>
                  <a:rPr lang="en-US" altLang="en-US" b="0" dirty="0">
                    <a:solidFill>
                      <a:schemeClr val="tx1"/>
                    </a:solidFill>
                    <a:latin typeface="Roboto" panose="02000000000000000000"/>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Daily Orders</a:t>
                </a:r>
              </a:p>
              <a:p>
                <a:pPr>
                  <a:lnSpc>
                    <a:spcPct val="90000"/>
                  </a:lnSpc>
                  <a:spcBef>
                    <a:spcPct val="0"/>
                  </a:spcBef>
                </a:pPr>
                <a:r>
                  <a:rPr lang="en-US" altLang="en-US"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b="0">
                  <a:solidFill>
                    <a:schemeClr val="tx1"/>
                  </a:solidFill>
                  <a:latin typeface="Roboto" panose="02000000000000000000"/>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MRP</a:t>
                </a:r>
              </a:p>
              <a:p>
                <a:pPr>
                  <a:lnSpc>
                    <a:spcPct val="90000"/>
                  </a:lnSpc>
                  <a:spcBef>
                    <a:spcPct val="0"/>
                  </a:spcBef>
                </a:pPr>
                <a:r>
                  <a:rPr lang="en-US" altLang="en-US" b="0" dirty="0">
                    <a:solidFill>
                      <a:schemeClr val="tx1"/>
                    </a:solidFill>
                    <a:latin typeface="Roboto" panose="02000000000000000000"/>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56" y="1283"/>
                <a:ext cx="578"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Weekly Build</a:t>
                </a:r>
              </a:p>
              <a:p>
                <a:pPr>
                  <a:lnSpc>
                    <a:spcPct val="90000"/>
                  </a:lnSpc>
                  <a:spcBef>
                    <a:spcPct val="0"/>
                  </a:spcBef>
                </a:pPr>
                <a:r>
                  <a:rPr lang="en-US" altLang="en-US" b="0" dirty="0">
                    <a:solidFill>
                      <a:schemeClr val="tx1"/>
                    </a:solidFill>
                    <a:latin typeface="Roboto" panose="02000000000000000000"/>
                  </a:rPr>
                  <a:t>Schedule</a:t>
                </a:r>
              </a:p>
              <a:p>
                <a:pPr>
                  <a:lnSpc>
                    <a:spcPct val="90000"/>
                  </a:lnSpc>
                  <a:spcBef>
                    <a:spcPct val="0"/>
                  </a:spcBef>
                </a:pPr>
                <a:r>
                  <a:rPr lang="en-US" altLang="en-US" b="0" dirty="0">
                    <a:solidFill>
                      <a:schemeClr val="tx1"/>
                    </a:solidFill>
                    <a:latin typeface="Roboto" panose="02000000000000000000"/>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9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a:solidFill>
                      <a:schemeClr val="tx1"/>
                    </a:solidFill>
                    <a:latin typeface="Roboto" panose="02000000000000000000"/>
                  </a:rPr>
                  <a:t>Daily Ship</a:t>
                </a:r>
              </a:p>
              <a:p>
                <a:pPr>
                  <a:lnSpc>
                    <a:spcPct val="90000"/>
                  </a:lnSpc>
                  <a:spcBef>
                    <a:spcPct val="0"/>
                  </a:spcBef>
                </a:pPr>
                <a:r>
                  <a:rPr lang="en-US" altLang="en-US" b="0">
                    <a:solidFill>
                      <a:schemeClr val="tx1"/>
                    </a:solidFill>
                    <a:latin typeface="Roboto" panose="02000000000000000000"/>
                  </a:rPr>
                  <a:t>Schedule</a:t>
                </a:r>
              </a:p>
              <a:p>
                <a:pPr>
                  <a:lnSpc>
                    <a:spcPct val="90000"/>
                  </a:lnSpc>
                  <a:spcBef>
                    <a:spcPct val="0"/>
                  </a:spcBef>
                </a:pPr>
                <a:r>
                  <a:rPr lang="en-US" altLang="en-US" b="0">
                    <a:solidFill>
                      <a:schemeClr val="tx1"/>
                    </a:solidFill>
                    <a:latin typeface="Roboto" panose="02000000000000000000"/>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581809" y="4474575"/>
            <a:ext cx="1446724" cy="1185334"/>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b="0" dirty="0">
                <a:solidFill>
                  <a:srgbClr val="EE3228"/>
                </a:solidFill>
                <a:latin typeface="Roboto" panose="02000000000000000000"/>
              </a:rPr>
              <a:t>Improve</a:t>
            </a:r>
          </a:p>
          <a:p>
            <a:pPr>
              <a:lnSpc>
                <a:spcPct val="100000"/>
              </a:lnSpc>
              <a:spcBef>
                <a:spcPct val="0"/>
              </a:spcBef>
            </a:pPr>
            <a:r>
              <a:rPr lang="en-US" altLang="en-US" sz="14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367386" y="4078735"/>
            <a:ext cx="3607815" cy="1571053"/>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826638" y="4194532"/>
            <a:ext cx="521229" cy="533935"/>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385284" y="4954205"/>
            <a:ext cx="1515926" cy="1005003"/>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765383" y="3937201"/>
            <a:ext cx="458560" cy="458560"/>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188309" y="3944187"/>
            <a:ext cx="458560" cy="458560"/>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440889" y="4206651"/>
            <a:ext cx="449201" cy="463812"/>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968411" y="3978786"/>
            <a:ext cx="220611" cy="478267"/>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262816" y="4195838"/>
            <a:ext cx="220611" cy="478267"/>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689268" y="4318281"/>
            <a:ext cx="449201" cy="463812"/>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426407" y="4271189"/>
            <a:ext cx="449201" cy="463812"/>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1135675" y="4189741"/>
            <a:ext cx="220611" cy="478267"/>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777105" y="4302301"/>
            <a:ext cx="1206796" cy="937797"/>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rgbClr val="EE3228"/>
                </a:solidFill>
                <a:latin typeface="Roboto" panose="02000000000000000000"/>
              </a:rPr>
              <a:t>Reduce</a:t>
            </a:r>
          </a:p>
          <a:p>
            <a:pPr>
              <a:lnSpc>
                <a:spcPct val="100000"/>
              </a:lnSpc>
              <a:spcBef>
                <a:spcPct val="30000"/>
              </a:spcBef>
            </a:pPr>
            <a:r>
              <a:rPr lang="en-US" altLang="en-US" sz="11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811909" y="5176761"/>
            <a:ext cx="1312643" cy="1014524"/>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rgbClr val="EE3228"/>
                </a:solidFill>
                <a:latin typeface="Roboto" panose="02000000000000000000"/>
              </a:rPr>
              <a:t>Improve</a:t>
            </a:r>
          </a:p>
          <a:p>
            <a:pPr>
              <a:lnSpc>
                <a:spcPct val="100000"/>
              </a:lnSpc>
              <a:spcBef>
                <a:spcPct val="30000"/>
              </a:spcBef>
            </a:pPr>
            <a:r>
              <a:rPr lang="en-US" altLang="en-US"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789019" y="3234245"/>
            <a:ext cx="449201" cy="463812"/>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5108950" y="3251992"/>
            <a:ext cx="449201" cy="463812"/>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560198" y="3239982"/>
            <a:ext cx="449201" cy="463812"/>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00">
                <a:latin typeface="Roboto" panose="02000000000000000000"/>
              </a:endParaRPr>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sz="1200">
                <a:latin typeface="Roboto" panose="02000000000000000000"/>
              </a:endParaRPr>
            </a:p>
          </p:txBody>
        </p:sp>
      </p:grpSp>
      <p:grpSp>
        <p:nvGrpSpPr>
          <p:cNvPr id="12" name="Group 11">
            <a:extLst>
              <a:ext uri="{FF2B5EF4-FFF2-40B4-BE49-F238E27FC236}">
                <a16:creationId xmlns:a16="http://schemas.microsoft.com/office/drawing/2014/main" id="{5EB37DF1-C222-E3BE-4E65-F1C1071C8EA5}"/>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844AC432-A9EA-96F1-33FA-9A1FFBEA0AB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4" name="AutoShape 9">
              <a:extLst>
                <a:ext uri="{FF2B5EF4-FFF2-40B4-BE49-F238E27FC236}">
                  <a16:creationId xmlns:a16="http://schemas.microsoft.com/office/drawing/2014/main" id="{96697B00-C9EF-95F5-0E65-F653E11BA89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0A9EB31E-B5AA-CAF2-C067-11852925153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8EA7A84D-AABE-F7A1-E874-F8078437941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852814DF-2250-C855-EF42-7B7FD86AB0F4}"/>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8AB79CF0-6952-3361-8064-7363E142275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C036FFFD-31A3-7B1B-45F8-39C2D4E43CC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121</a:t>
            </a:fld>
            <a:endParaRPr lang="en-US" dirty="0"/>
          </a:p>
        </p:txBody>
      </p:sp>
    </p:spTree>
    <p:extLst>
      <p:ext uri="{BB962C8B-B14F-4D97-AF65-F5344CB8AC3E}">
        <p14:creationId xmlns:p14="http://schemas.microsoft.com/office/powerpoint/2010/main" val="853919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122</a:t>
            </a:fld>
            <a:endParaRPr lang="en-US" dirty="0"/>
          </a:p>
        </p:txBody>
      </p:sp>
    </p:spTree>
    <p:extLst>
      <p:ext uri="{BB962C8B-B14F-4D97-AF65-F5344CB8AC3E}">
        <p14:creationId xmlns:p14="http://schemas.microsoft.com/office/powerpoint/2010/main" val="45075029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Other Information Flow Improvements</a:t>
            </a:r>
            <a:endParaRPr lang="en-US"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8990969" y="3958193"/>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8887517" y="2078586"/>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85718" y="1831991"/>
            <a:ext cx="2937022"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9953882" y="2279354"/>
            <a:ext cx="913475"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4702" y="2621336"/>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59849" y="2862359"/>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62602"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68536"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698412"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32980"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38915"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68790"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090864" y="39965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096798" y="41595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26674" y="39773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30645" y="26635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48137" y="33652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13418" y="34591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61885"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199836"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074527" y="34147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56317" y="4063425"/>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34245" y="4063425"/>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65067" y="4063425"/>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36089" y="4063425"/>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25014" y="41657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63991" y="4142461"/>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62615" y="4158791"/>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31490" y="4434025"/>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280076" y="4434025"/>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77467" y="4410204"/>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790377" y="4410204"/>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597170" y="4267187"/>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19834" y="424336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34023" y="422732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098629"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31496"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62602"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67986" y="4804513"/>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876817" y="20505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51512" y="5416631"/>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14561" y="5337196"/>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57654" y="2164102"/>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38436" y="4315086"/>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24014" y="3919246"/>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683266" y="4035043"/>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41911" y="4794716"/>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22011" y="3777713"/>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44937" y="3784699"/>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297517" y="4047161"/>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25038" y="3819297"/>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19443" y="4036349"/>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45896" y="4158791"/>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283035" y="4111699"/>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992302" y="4030252"/>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633732" y="4142812"/>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668536" y="5017271"/>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645647" y="3074755"/>
            <a:ext cx="447752" cy="473329"/>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4965578" y="3092502"/>
            <a:ext cx="447752" cy="473329"/>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416826" y="3080492"/>
            <a:ext cx="447752" cy="473329"/>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9" name="AutoShape 206">
            <a:extLst>
              <a:ext uri="{FF2B5EF4-FFF2-40B4-BE49-F238E27FC236}">
                <a16:creationId xmlns:a16="http://schemas.microsoft.com/office/drawing/2014/main" id="{DD0D4707-AECD-A5E1-F609-0CDA58A32D45}"/>
              </a:ext>
            </a:extLst>
          </p:cNvPr>
          <p:cNvSpPr>
            <a:spLocks noChangeArrowheads="1"/>
          </p:cNvSpPr>
          <p:nvPr/>
        </p:nvSpPr>
        <p:spPr bwMode="auto">
          <a:xfrm>
            <a:off x="2913989" y="1701083"/>
            <a:ext cx="1009862" cy="982360"/>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Weekly</a:t>
            </a:r>
          </a:p>
          <a:p>
            <a:pPr>
              <a:lnSpc>
                <a:spcPct val="100000"/>
              </a:lnSpc>
              <a:spcBef>
                <a:spcPct val="0"/>
              </a:spcBef>
            </a:pPr>
            <a:r>
              <a:rPr lang="en-US" altLang="en-US" sz="1200" b="0" dirty="0">
                <a:solidFill>
                  <a:schemeClr val="tx1"/>
                </a:solidFill>
                <a:latin typeface="Comic Sans MS" panose="030F0702030302020204" pitchFamily="66" charset="0"/>
              </a:rPr>
              <a:t>Fax</a:t>
            </a:r>
          </a:p>
        </p:txBody>
      </p:sp>
      <p:grpSp>
        <p:nvGrpSpPr>
          <p:cNvPr id="180" name="Group 179">
            <a:extLst>
              <a:ext uri="{FF2B5EF4-FFF2-40B4-BE49-F238E27FC236}">
                <a16:creationId xmlns:a16="http://schemas.microsoft.com/office/drawing/2014/main" id="{95F10168-146E-84AB-F573-F50132F676B6}"/>
              </a:ext>
            </a:extLst>
          </p:cNvPr>
          <p:cNvGrpSpPr/>
          <p:nvPr/>
        </p:nvGrpSpPr>
        <p:grpSpPr>
          <a:xfrm>
            <a:off x="940004" y="321492"/>
            <a:ext cx="6217883" cy="311851"/>
            <a:chOff x="940249" y="302538"/>
            <a:chExt cx="6219503" cy="311932"/>
          </a:xfrm>
        </p:grpSpPr>
        <p:sp>
          <p:nvSpPr>
            <p:cNvPr id="181" name="TextBox 180">
              <a:extLst>
                <a:ext uri="{FF2B5EF4-FFF2-40B4-BE49-F238E27FC236}">
                  <a16:creationId xmlns:a16="http://schemas.microsoft.com/office/drawing/2014/main" id="{AC72BF3C-A2DD-B732-3D3B-184E811A69C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82" name="AutoShape 9">
              <a:extLst>
                <a:ext uri="{FF2B5EF4-FFF2-40B4-BE49-F238E27FC236}">
                  <a16:creationId xmlns:a16="http://schemas.microsoft.com/office/drawing/2014/main" id="{2CD01056-05DA-F1CC-AAE4-1EF1D8B6A3A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3" name="AutoShape 9">
              <a:extLst>
                <a:ext uri="{FF2B5EF4-FFF2-40B4-BE49-F238E27FC236}">
                  <a16:creationId xmlns:a16="http://schemas.microsoft.com/office/drawing/2014/main" id="{610B928C-633C-8F60-97A9-DADB914988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4" name="AutoShape 9">
              <a:extLst>
                <a:ext uri="{FF2B5EF4-FFF2-40B4-BE49-F238E27FC236}">
                  <a16:creationId xmlns:a16="http://schemas.microsoft.com/office/drawing/2014/main" id="{A5F86CB8-4E7D-C871-3A45-CF83CBACFCCE}"/>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5" name="AutoShape 9">
              <a:extLst>
                <a:ext uri="{FF2B5EF4-FFF2-40B4-BE49-F238E27FC236}">
                  <a16:creationId xmlns:a16="http://schemas.microsoft.com/office/drawing/2014/main" id="{BCAD53B7-B00F-CDCB-ED8F-63024F7CAD0E}"/>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0" name="AutoShape 11">
              <a:extLst>
                <a:ext uri="{FF2B5EF4-FFF2-40B4-BE49-F238E27FC236}">
                  <a16:creationId xmlns:a16="http://schemas.microsoft.com/office/drawing/2014/main" id="{4CC6FC95-2A85-590C-CE41-B04C644BD426}"/>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11" name="Slide Number Placeholder 2">
            <a:extLst>
              <a:ext uri="{FF2B5EF4-FFF2-40B4-BE49-F238E27FC236}">
                <a16:creationId xmlns:a16="http://schemas.microsoft.com/office/drawing/2014/main" id="{1BEA3CB3-57A2-9389-BF28-DB7CE643A158}"/>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123</a:t>
            </a:fld>
            <a:endParaRPr lang="en-US" dirty="0"/>
          </a:p>
        </p:txBody>
      </p:sp>
    </p:spTree>
    <p:extLst>
      <p:ext uri="{BB962C8B-B14F-4D97-AF65-F5344CB8AC3E}">
        <p14:creationId xmlns:p14="http://schemas.microsoft.com/office/powerpoint/2010/main" val="816061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par>
                    <p:cTn id="135" fill="hold">
                      <p:stCondLst>
                        <p:cond delay="indefinite"/>
                      </p:stCondLst>
                      <p:childTnLst>
                        <p:par>
                          <p:cTn id="136" fill="hold">
                            <p:stCondLst>
                              <p:cond delay="0"/>
                            </p:stCondLst>
                            <p:childTnLst>
                              <p:par>
                                <p:cTn id="137" presetID="9" presetClass="entr" presetSubtype="0" fill="hold" grpId="0" nodeType="clickEffect">
                                  <p:stCondLst>
                                    <p:cond delay="0"/>
                                  </p:stCondLst>
                                  <p:childTnLst>
                                    <p:set>
                                      <p:cBhvr>
                                        <p:cTn id="138" dur="1" fill="hold">
                                          <p:stCondLst>
                                            <p:cond delay="0"/>
                                          </p:stCondLst>
                                        </p:cTn>
                                        <p:tgtEl>
                                          <p:spTgt spid="109"/>
                                        </p:tgtEl>
                                        <p:attrNameLst>
                                          <p:attrName>style.visibility</p:attrName>
                                        </p:attrNameLst>
                                      </p:cBhvr>
                                      <p:to>
                                        <p:strVal val="visible"/>
                                      </p:to>
                                    </p:set>
                                    <p:animEffect transition="in" filter="dissolve">
                                      <p:cBhvr>
                                        <p:cTn id="139" dur="10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P spid="109"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Other Information Flow Improvements</a:t>
            </a:r>
            <a:endParaRPr lang="en-US"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8990969" y="3958193"/>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8887517" y="2078586"/>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85718" y="1831991"/>
            <a:ext cx="2937022"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9953882" y="2279354"/>
            <a:ext cx="913475"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4702" y="2621336"/>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59849" y="2862359"/>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62602"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68536"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698412"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32980"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38915"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68790"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090864" y="39965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096798" y="41595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26674" y="39773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30645" y="26635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48137" y="33652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13418" y="34591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61885"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199836"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074527" y="34147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56317" y="4063425"/>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34245" y="4063425"/>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65067" y="4063425"/>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36089" y="4063425"/>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25014" y="41657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63991" y="4142461"/>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62615" y="4158791"/>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31490" y="4434025"/>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280076" y="4434025"/>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77467" y="4410204"/>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790377" y="4410204"/>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597170" y="4267187"/>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19834" y="424336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34023" y="422732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098629"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31496"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62602"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67986" y="4804513"/>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876817" y="20505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51512" y="5416631"/>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14561" y="5337196"/>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57654" y="2164102"/>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38436" y="4315086"/>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24014" y="3919246"/>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683266" y="4035043"/>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41911" y="4794716"/>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22011" y="3777713"/>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44937" y="3784699"/>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297517" y="4047161"/>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25038" y="3819297"/>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19443" y="4036349"/>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45896" y="4158791"/>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283035" y="4111699"/>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992302" y="4030252"/>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633732" y="4142812"/>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668536" y="5017271"/>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645647" y="3074755"/>
            <a:ext cx="447752" cy="473329"/>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4965578" y="3092502"/>
            <a:ext cx="447752" cy="473329"/>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416826" y="3080492"/>
            <a:ext cx="447752" cy="473329"/>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9" name="AutoShape 206">
            <a:extLst>
              <a:ext uri="{FF2B5EF4-FFF2-40B4-BE49-F238E27FC236}">
                <a16:creationId xmlns:a16="http://schemas.microsoft.com/office/drawing/2014/main" id="{DD0D4707-AECD-A5E1-F609-0CDA58A32D45}"/>
              </a:ext>
            </a:extLst>
          </p:cNvPr>
          <p:cNvSpPr>
            <a:spLocks noChangeArrowheads="1"/>
          </p:cNvSpPr>
          <p:nvPr/>
        </p:nvSpPr>
        <p:spPr bwMode="auto">
          <a:xfrm>
            <a:off x="2913989" y="1701083"/>
            <a:ext cx="1009862" cy="982360"/>
          </a:xfrm>
          <a:prstGeom prst="irregularSeal1">
            <a:avLst/>
          </a:prstGeom>
          <a:noFill/>
          <a:ln w="57150">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Weekly</a:t>
            </a:r>
          </a:p>
          <a:p>
            <a:pPr>
              <a:lnSpc>
                <a:spcPct val="100000"/>
              </a:lnSpc>
              <a:spcBef>
                <a:spcPct val="0"/>
              </a:spcBef>
            </a:pPr>
            <a:r>
              <a:rPr lang="en-US" altLang="en-US" sz="1200" b="0" dirty="0">
                <a:solidFill>
                  <a:schemeClr val="tx1"/>
                </a:solidFill>
                <a:latin typeface="Comic Sans MS" panose="030F0702030302020204" pitchFamily="66" charset="0"/>
              </a:rPr>
              <a:t>Fax</a:t>
            </a:r>
          </a:p>
        </p:txBody>
      </p:sp>
      <p:sp>
        <p:nvSpPr>
          <p:cNvPr id="12" name="AutoShape 206">
            <a:extLst>
              <a:ext uri="{FF2B5EF4-FFF2-40B4-BE49-F238E27FC236}">
                <a16:creationId xmlns:a16="http://schemas.microsoft.com/office/drawing/2014/main" id="{DE7CA39F-6D16-BD91-EA4D-C7B2EE5F35B3}"/>
              </a:ext>
            </a:extLst>
          </p:cNvPr>
          <p:cNvSpPr>
            <a:spLocks noChangeArrowheads="1"/>
          </p:cNvSpPr>
          <p:nvPr/>
        </p:nvSpPr>
        <p:spPr bwMode="auto">
          <a:xfrm>
            <a:off x="7874592" y="1301102"/>
            <a:ext cx="1579108" cy="982360"/>
          </a:xfrm>
          <a:prstGeom prst="irregularSeal1">
            <a:avLst/>
          </a:prstGeom>
          <a:noFill/>
          <a:ln w="539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30/60/90 </a:t>
            </a:r>
          </a:p>
          <a:p>
            <a:pPr>
              <a:lnSpc>
                <a:spcPct val="100000"/>
              </a:lnSpc>
              <a:spcBef>
                <a:spcPct val="0"/>
              </a:spcBef>
            </a:pPr>
            <a:r>
              <a:rPr lang="en-US" altLang="en-US" sz="1200" b="0" dirty="0">
                <a:solidFill>
                  <a:schemeClr val="tx1"/>
                </a:solidFill>
                <a:latin typeface="Comic Sans MS" panose="030F0702030302020204" pitchFamily="66" charset="0"/>
              </a:rPr>
              <a:t>Forecast</a:t>
            </a:r>
          </a:p>
        </p:txBody>
      </p:sp>
      <p:sp>
        <p:nvSpPr>
          <p:cNvPr id="14" name="Rectangle 144">
            <a:extLst>
              <a:ext uri="{FF2B5EF4-FFF2-40B4-BE49-F238E27FC236}">
                <a16:creationId xmlns:a16="http://schemas.microsoft.com/office/drawing/2014/main" id="{C14A82B6-E8A3-0AF3-6294-F2BFF7F98C30}"/>
              </a:ext>
            </a:extLst>
          </p:cNvPr>
          <p:cNvSpPr>
            <a:spLocks noChangeArrowheads="1"/>
          </p:cNvSpPr>
          <p:nvPr/>
        </p:nvSpPr>
        <p:spPr bwMode="auto">
          <a:xfrm>
            <a:off x="3014402" y="2840411"/>
            <a:ext cx="5894843" cy="1889748"/>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a:rPr>
              <a:t>If Ed’s Electrical Supply could provide a 30/60/90 day forecast in addition to daily orders, the planning of materials and capacity would be better served, especially where demand fluctuates over time</a:t>
            </a:r>
          </a:p>
          <a:p>
            <a:pPr algn="l">
              <a:lnSpc>
                <a:spcPct val="100000"/>
              </a:lnSpc>
              <a:spcBef>
                <a:spcPct val="30000"/>
              </a:spcBef>
              <a:buFontTx/>
              <a:buChar char="•"/>
            </a:pPr>
            <a:r>
              <a:rPr lang="en-US" altLang="en-US" sz="1600" dirty="0">
                <a:solidFill>
                  <a:schemeClr val="tx1"/>
                </a:solidFill>
                <a:latin typeface="Roboto" panose="02000000000000000000"/>
              </a:rPr>
              <a:t>A reliable customer-driven forecast would enable lower supermarket inventories and assure a 100% fill rate for daily orders</a:t>
            </a:r>
          </a:p>
        </p:txBody>
      </p:sp>
      <p:grpSp>
        <p:nvGrpSpPr>
          <p:cNvPr id="15" name="Group 14">
            <a:extLst>
              <a:ext uri="{FF2B5EF4-FFF2-40B4-BE49-F238E27FC236}">
                <a16:creationId xmlns:a16="http://schemas.microsoft.com/office/drawing/2014/main" id="{ECE97143-158B-229A-8668-52F2BB0DFAF5}"/>
              </a:ext>
            </a:extLst>
          </p:cNvPr>
          <p:cNvGrpSpPr/>
          <p:nvPr/>
        </p:nvGrpSpPr>
        <p:grpSpPr>
          <a:xfrm>
            <a:off x="940004" y="321492"/>
            <a:ext cx="6217883" cy="311851"/>
            <a:chOff x="940249" y="302538"/>
            <a:chExt cx="6219503" cy="311932"/>
          </a:xfrm>
        </p:grpSpPr>
        <p:sp>
          <p:nvSpPr>
            <p:cNvPr id="16" name="TextBox 15">
              <a:extLst>
                <a:ext uri="{FF2B5EF4-FFF2-40B4-BE49-F238E27FC236}">
                  <a16:creationId xmlns:a16="http://schemas.microsoft.com/office/drawing/2014/main" id="{AFAD169F-1148-D33A-8D61-B63B19D510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E1030AF8-DE14-1982-D86E-C5935DE40E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E80EAB7-72C1-7960-9988-335B622D4BA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0B1ACC8E-FD0B-5C69-8EBC-5EF8E3634C0E}"/>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6" name="AutoShape 9">
              <a:extLst>
                <a:ext uri="{FF2B5EF4-FFF2-40B4-BE49-F238E27FC236}">
                  <a16:creationId xmlns:a16="http://schemas.microsoft.com/office/drawing/2014/main" id="{FDF2A03D-2010-465F-4FC0-4F481FC567F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0" name="AutoShape 11">
              <a:extLst>
                <a:ext uri="{FF2B5EF4-FFF2-40B4-BE49-F238E27FC236}">
                  <a16:creationId xmlns:a16="http://schemas.microsoft.com/office/drawing/2014/main" id="{A52D78F8-EEAF-17DF-5232-6C47EF7A8D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81" name="Slide Number Placeholder 2">
            <a:extLst>
              <a:ext uri="{FF2B5EF4-FFF2-40B4-BE49-F238E27FC236}">
                <a16:creationId xmlns:a16="http://schemas.microsoft.com/office/drawing/2014/main" id="{0862FE3C-F60B-A9E7-87E2-6319DE64293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124</a:t>
            </a:fld>
            <a:endParaRPr lang="en-US" dirty="0"/>
          </a:p>
        </p:txBody>
      </p:sp>
    </p:spTree>
    <p:extLst>
      <p:ext uri="{BB962C8B-B14F-4D97-AF65-F5344CB8AC3E}">
        <p14:creationId xmlns:p14="http://schemas.microsoft.com/office/powerpoint/2010/main" val="3794552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par>
                    <p:cTn id="135" fill="hold">
                      <p:stCondLst>
                        <p:cond delay="indefinite"/>
                      </p:stCondLst>
                      <p:childTnLst>
                        <p:par>
                          <p:cTn id="136" fill="hold">
                            <p:stCondLst>
                              <p:cond delay="0"/>
                            </p:stCondLst>
                            <p:childTnLst>
                              <p:par>
                                <p:cTn id="137" presetID="9" presetClass="entr" presetSubtype="0" fill="hold" grpId="0" nodeType="clickEffect">
                                  <p:stCondLst>
                                    <p:cond delay="0"/>
                                  </p:stCondLst>
                                  <p:childTnLst>
                                    <p:set>
                                      <p:cBhvr>
                                        <p:cTn id="138" dur="1" fill="hold">
                                          <p:stCondLst>
                                            <p:cond delay="0"/>
                                          </p:stCondLst>
                                        </p:cTn>
                                        <p:tgtEl>
                                          <p:spTgt spid="109"/>
                                        </p:tgtEl>
                                        <p:attrNameLst>
                                          <p:attrName>style.visibility</p:attrName>
                                        </p:attrNameLst>
                                      </p:cBhvr>
                                      <p:to>
                                        <p:strVal val="visible"/>
                                      </p:to>
                                    </p:set>
                                    <p:animEffect transition="in" filter="dissolve">
                                      <p:cBhvr>
                                        <p:cTn id="139" dur="1000"/>
                                        <p:tgtEl>
                                          <p:spTgt spid="109"/>
                                        </p:tgtEl>
                                      </p:cBhvr>
                                    </p:animEffect>
                                  </p:childTnLst>
                                </p:cTn>
                              </p:par>
                            </p:childTnLst>
                          </p:cTn>
                        </p:par>
                      </p:childTnLst>
                    </p:cTn>
                  </p:par>
                  <p:par>
                    <p:cTn id="140" fill="hold">
                      <p:stCondLst>
                        <p:cond delay="indefinite"/>
                      </p:stCondLst>
                      <p:childTnLst>
                        <p:par>
                          <p:cTn id="141" fill="hold">
                            <p:stCondLst>
                              <p:cond delay="0"/>
                            </p:stCondLst>
                            <p:childTnLst>
                              <p:par>
                                <p:cTn id="142" presetID="9" presetClass="entr" presetSubtype="0" fill="hold" grpId="0" nodeType="click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dissolve">
                                      <p:cBhvr>
                                        <p:cTn id="14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P spid="109" grpId="0" animBg="1"/>
      <p:bldP spid="12"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Other Information Flow Improvements</a:t>
            </a:r>
            <a:endParaRPr lang="en-US"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8990969" y="3958193"/>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8887517" y="2078586"/>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85718" y="1831991"/>
            <a:ext cx="2937022"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9953882" y="2279354"/>
            <a:ext cx="913475"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4702" y="2621336"/>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59849" y="2862359"/>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62602"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68536"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698412"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32980"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38915"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68790"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090864" y="39965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096798" y="41595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26674" y="39773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30645" y="26635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48137" y="33652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13418" y="34591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61885"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199836"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074527" y="34147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56317" y="4063425"/>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34245" y="4063425"/>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65067" y="4063425"/>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36089" y="4063425"/>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25014" y="41657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63991" y="4142461"/>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62615" y="4158791"/>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31490" y="4434025"/>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280076" y="4434025"/>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77467" y="4410204"/>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790377" y="4410204"/>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597170" y="4267187"/>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19834" y="424336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34023" y="422732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098629"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31496"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62602"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67986" y="4804513"/>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876817" y="20505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51512" y="5416631"/>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14561" y="5337196"/>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57654" y="2164102"/>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38436" y="4315086"/>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24014" y="3919246"/>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683266" y="4035043"/>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41911" y="4794716"/>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22011" y="3777713"/>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44937" y="3784699"/>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297517" y="4047161"/>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25038" y="3819297"/>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19443" y="4036349"/>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45896" y="4158791"/>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283035" y="4111699"/>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992302" y="4030252"/>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633732" y="4142812"/>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668536" y="5017271"/>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645647" y="3074755"/>
            <a:ext cx="447752" cy="473329"/>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4965578" y="3092502"/>
            <a:ext cx="447752" cy="473329"/>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416826" y="3080492"/>
            <a:ext cx="447752" cy="473329"/>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9" name="AutoShape 206">
            <a:extLst>
              <a:ext uri="{FF2B5EF4-FFF2-40B4-BE49-F238E27FC236}">
                <a16:creationId xmlns:a16="http://schemas.microsoft.com/office/drawing/2014/main" id="{DD0D4707-AECD-A5E1-F609-0CDA58A32D45}"/>
              </a:ext>
            </a:extLst>
          </p:cNvPr>
          <p:cNvSpPr>
            <a:spLocks noChangeArrowheads="1"/>
          </p:cNvSpPr>
          <p:nvPr/>
        </p:nvSpPr>
        <p:spPr bwMode="auto">
          <a:xfrm>
            <a:off x="2913989" y="1701083"/>
            <a:ext cx="1009862" cy="98236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Weekly</a:t>
            </a:r>
          </a:p>
          <a:p>
            <a:pPr>
              <a:lnSpc>
                <a:spcPct val="100000"/>
              </a:lnSpc>
              <a:spcBef>
                <a:spcPct val="0"/>
              </a:spcBef>
            </a:pPr>
            <a:r>
              <a:rPr lang="en-US" altLang="en-US" sz="1200" b="0" dirty="0">
                <a:solidFill>
                  <a:schemeClr val="tx1"/>
                </a:solidFill>
                <a:latin typeface="Comic Sans MS" panose="030F0702030302020204" pitchFamily="66" charset="0"/>
              </a:rPr>
              <a:t>Fax</a:t>
            </a:r>
          </a:p>
        </p:txBody>
      </p:sp>
      <p:sp>
        <p:nvSpPr>
          <p:cNvPr id="12" name="AutoShape 206">
            <a:extLst>
              <a:ext uri="{FF2B5EF4-FFF2-40B4-BE49-F238E27FC236}">
                <a16:creationId xmlns:a16="http://schemas.microsoft.com/office/drawing/2014/main" id="{DE7CA39F-6D16-BD91-EA4D-C7B2EE5F35B3}"/>
              </a:ext>
            </a:extLst>
          </p:cNvPr>
          <p:cNvSpPr>
            <a:spLocks noChangeArrowheads="1"/>
          </p:cNvSpPr>
          <p:nvPr/>
        </p:nvSpPr>
        <p:spPr bwMode="auto">
          <a:xfrm>
            <a:off x="7874592" y="1301102"/>
            <a:ext cx="1579108" cy="982360"/>
          </a:xfrm>
          <a:prstGeom prst="irregularSeal1">
            <a:avLst/>
          </a:prstGeom>
          <a:noFill/>
          <a:ln w="539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30/60/90 </a:t>
            </a:r>
          </a:p>
          <a:p>
            <a:pPr>
              <a:lnSpc>
                <a:spcPct val="100000"/>
              </a:lnSpc>
              <a:spcBef>
                <a:spcPct val="0"/>
              </a:spcBef>
            </a:pPr>
            <a:r>
              <a:rPr lang="en-US" altLang="en-US" sz="1200" b="0" dirty="0">
                <a:solidFill>
                  <a:schemeClr val="tx1"/>
                </a:solidFill>
                <a:latin typeface="Comic Sans MS" panose="030F0702030302020204" pitchFamily="66" charset="0"/>
              </a:rPr>
              <a:t>Forecast</a:t>
            </a:r>
          </a:p>
        </p:txBody>
      </p:sp>
      <p:grpSp>
        <p:nvGrpSpPr>
          <p:cNvPr id="15" name="Group 14">
            <a:extLst>
              <a:ext uri="{FF2B5EF4-FFF2-40B4-BE49-F238E27FC236}">
                <a16:creationId xmlns:a16="http://schemas.microsoft.com/office/drawing/2014/main" id="{ECE97143-158B-229A-8668-52F2BB0DFAF5}"/>
              </a:ext>
            </a:extLst>
          </p:cNvPr>
          <p:cNvGrpSpPr/>
          <p:nvPr/>
        </p:nvGrpSpPr>
        <p:grpSpPr>
          <a:xfrm>
            <a:off x="940004" y="321492"/>
            <a:ext cx="6217883" cy="311851"/>
            <a:chOff x="940249" y="302538"/>
            <a:chExt cx="6219503" cy="311932"/>
          </a:xfrm>
        </p:grpSpPr>
        <p:sp>
          <p:nvSpPr>
            <p:cNvPr id="16" name="TextBox 15">
              <a:extLst>
                <a:ext uri="{FF2B5EF4-FFF2-40B4-BE49-F238E27FC236}">
                  <a16:creationId xmlns:a16="http://schemas.microsoft.com/office/drawing/2014/main" id="{AFAD169F-1148-D33A-8D61-B63B19D510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E1030AF8-DE14-1982-D86E-C5935DE40E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E80EAB7-72C1-7960-9988-335B622D4BA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0B1ACC8E-FD0B-5C69-8EBC-5EF8E3634C0E}"/>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6" name="AutoShape 9">
              <a:extLst>
                <a:ext uri="{FF2B5EF4-FFF2-40B4-BE49-F238E27FC236}">
                  <a16:creationId xmlns:a16="http://schemas.microsoft.com/office/drawing/2014/main" id="{FDF2A03D-2010-465F-4FC0-4F481FC567F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0" name="AutoShape 11">
              <a:extLst>
                <a:ext uri="{FF2B5EF4-FFF2-40B4-BE49-F238E27FC236}">
                  <a16:creationId xmlns:a16="http://schemas.microsoft.com/office/drawing/2014/main" id="{A52D78F8-EEAF-17DF-5232-6C47EF7A8D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81" name="Slide Number Placeholder 2">
            <a:extLst>
              <a:ext uri="{FF2B5EF4-FFF2-40B4-BE49-F238E27FC236}">
                <a16:creationId xmlns:a16="http://schemas.microsoft.com/office/drawing/2014/main" id="{0862FE3C-F60B-A9E7-87E2-6319DE64293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125</a:t>
            </a:fld>
            <a:endParaRPr lang="en-US" dirty="0"/>
          </a:p>
        </p:txBody>
      </p:sp>
    </p:spTree>
    <p:extLst>
      <p:ext uri="{BB962C8B-B14F-4D97-AF65-F5344CB8AC3E}">
        <p14:creationId xmlns:p14="http://schemas.microsoft.com/office/powerpoint/2010/main" val="278765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par>
                    <p:cTn id="135" fill="hold">
                      <p:stCondLst>
                        <p:cond delay="indefinite"/>
                      </p:stCondLst>
                      <p:childTnLst>
                        <p:par>
                          <p:cTn id="136" fill="hold">
                            <p:stCondLst>
                              <p:cond delay="0"/>
                            </p:stCondLst>
                            <p:childTnLst>
                              <p:par>
                                <p:cTn id="137" presetID="9" presetClass="entr" presetSubtype="0" fill="hold" grpId="0" nodeType="clickEffect">
                                  <p:stCondLst>
                                    <p:cond delay="0"/>
                                  </p:stCondLst>
                                  <p:childTnLst>
                                    <p:set>
                                      <p:cBhvr>
                                        <p:cTn id="138" dur="1" fill="hold">
                                          <p:stCondLst>
                                            <p:cond delay="0"/>
                                          </p:stCondLst>
                                        </p:cTn>
                                        <p:tgtEl>
                                          <p:spTgt spid="109"/>
                                        </p:tgtEl>
                                        <p:attrNameLst>
                                          <p:attrName>style.visibility</p:attrName>
                                        </p:attrNameLst>
                                      </p:cBhvr>
                                      <p:to>
                                        <p:strVal val="visible"/>
                                      </p:to>
                                    </p:set>
                                    <p:animEffect transition="in" filter="dissolve">
                                      <p:cBhvr>
                                        <p:cTn id="139" dur="1000"/>
                                        <p:tgtEl>
                                          <p:spTgt spid="109"/>
                                        </p:tgtEl>
                                      </p:cBhvr>
                                    </p:animEffect>
                                  </p:childTnLst>
                                </p:cTn>
                              </p:par>
                            </p:childTnLst>
                          </p:cTn>
                        </p:par>
                      </p:childTnLst>
                    </p:cTn>
                  </p:par>
                  <p:par>
                    <p:cTn id="140" fill="hold">
                      <p:stCondLst>
                        <p:cond delay="indefinite"/>
                      </p:stCondLst>
                      <p:childTnLst>
                        <p:par>
                          <p:cTn id="141" fill="hold">
                            <p:stCondLst>
                              <p:cond delay="0"/>
                            </p:stCondLst>
                            <p:childTnLst>
                              <p:par>
                                <p:cTn id="142" presetID="9" presetClass="entr" presetSubtype="0" fill="hold" grpId="0" nodeType="click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dissolve">
                                      <p:cBhvr>
                                        <p:cTn id="14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P spid="109" grpId="0" animBg="1"/>
      <p:bldP spid="12"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p:txBody>
          <a:bodyPr>
            <a:normAutofit fontScale="90000"/>
          </a:bodyPr>
          <a:lstStyle/>
          <a:p>
            <a:r>
              <a:rPr lang="en-US" dirty="0"/>
              <a:t>Questions Used to Interrogate a Current State Map (continued)</a:t>
            </a:r>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defTabSz="584200"/>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Where does changeover time need to be addressed?</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do improvements in machine uptime need to be addressed?</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Where are manpower improvement opportunities?</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Which processes need quality (first time yield) improvements?</a:t>
                </a: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changes to scheduling need to be implemented?</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information flow improvements are required?</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What other process improvements are required?</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30919"/>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126</a:t>
            </a:fld>
            <a:endParaRPr lang="en-US" dirty="0"/>
          </a:p>
        </p:txBody>
      </p:sp>
    </p:spTree>
    <p:extLst>
      <p:ext uri="{BB962C8B-B14F-4D97-AF65-F5344CB8AC3E}">
        <p14:creationId xmlns:p14="http://schemas.microsoft.com/office/powerpoint/2010/main" val="103050487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sz="4000" dirty="0"/>
              <a:t>Completed Marked-Up Current State Map</a:t>
            </a:r>
            <a:endParaRPr lang="en-US" sz="4000"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8990969" y="3958193"/>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8887517" y="2078586"/>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85718" y="1831991"/>
            <a:ext cx="2937022"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9953882" y="2279354"/>
            <a:ext cx="913475"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4702" y="2621336"/>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59849" y="2862359"/>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62602"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68536"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698412"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32980"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38915"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68790"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090864" y="39965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096798" y="41595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26674" y="39773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30645" y="26635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48137" y="33652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13418" y="34591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61885"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199836"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074527" y="34147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56317" y="4063425"/>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34245" y="4063425"/>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65067" y="4063425"/>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36089" y="4063425"/>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25014" y="41657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63991" y="4142461"/>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62615" y="4158791"/>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31490" y="4434025"/>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280076" y="4434025"/>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77467" y="4410204"/>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790377" y="4410204"/>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597170" y="4267187"/>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19834" y="424336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34023" y="422732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098629"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31496"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62602"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67986" y="4804513"/>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876817" y="20505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51512" y="5416631"/>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14561" y="5337196"/>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57654" y="2164102"/>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38436" y="4315086"/>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24014" y="3919246"/>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683266" y="4035043"/>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41911" y="4794716"/>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22011" y="3777713"/>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44937" y="3784699"/>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297517" y="4047161"/>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25038" y="3819297"/>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19443" y="4036349"/>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45896" y="4158791"/>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283035" y="4111699"/>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992302" y="4030252"/>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633732" y="4142812"/>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668536" y="5017271"/>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645647" y="3074755"/>
            <a:ext cx="447752" cy="473329"/>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4965578" y="3092502"/>
            <a:ext cx="447752" cy="473329"/>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416826" y="3080492"/>
            <a:ext cx="447752" cy="473329"/>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9" name="AutoShape 206">
            <a:extLst>
              <a:ext uri="{FF2B5EF4-FFF2-40B4-BE49-F238E27FC236}">
                <a16:creationId xmlns:a16="http://schemas.microsoft.com/office/drawing/2014/main" id="{DD0D4707-AECD-A5E1-F609-0CDA58A32D45}"/>
              </a:ext>
            </a:extLst>
          </p:cNvPr>
          <p:cNvSpPr>
            <a:spLocks noChangeArrowheads="1"/>
          </p:cNvSpPr>
          <p:nvPr/>
        </p:nvSpPr>
        <p:spPr bwMode="auto">
          <a:xfrm>
            <a:off x="2913989" y="1701083"/>
            <a:ext cx="1009862" cy="98236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Weekly</a:t>
            </a:r>
          </a:p>
          <a:p>
            <a:pPr>
              <a:lnSpc>
                <a:spcPct val="100000"/>
              </a:lnSpc>
              <a:spcBef>
                <a:spcPct val="0"/>
              </a:spcBef>
            </a:pPr>
            <a:r>
              <a:rPr lang="en-US" altLang="en-US" sz="1200" b="0" dirty="0">
                <a:solidFill>
                  <a:schemeClr val="tx1"/>
                </a:solidFill>
                <a:latin typeface="Comic Sans MS" panose="030F0702030302020204" pitchFamily="66" charset="0"/>
              </a:rPr>
              <a:t>Fax</a:t>
            </a:r>
          </a:p>
        </p:txBody>
      </p:sp>
      <p:sp>
        <p:nvSpPr>
          <p:cNvPr id="12" name="AutoShape 206">
            <a:extLst>
              <a:ext uri="{FF2B5EF4-FFF2-40B4-BE49-F238E27FC236}">
                <a16:creationId xmlns:a16="http://schemas.microsoft.com/office/drawing/2014/main" id="{DE7CA39F-6D16-BD91-EA4D-C7B2EE5F35B3}"/>
              </a:ext>
            </a:extLst>
          </p:cNvPr>
          <p:cNvSpPr>
            <a:spLocks noChangeArrowheads="1"/>
          </p:cNvSpPr>
          <p:nvPr/>
        </p:nvSpPr>
        <p:spPr bwMode="auto">
          <a:xfrm>
            <a:off x="7874592" y="1301102"/>
            <a:ext cx="1579108" cy="982360"/>
          </a:xfrm>
          <a:prstGeom prst="irregularSeal1">
            <a:avLst/>
          </a:prstGeom>
          <a:noFill/>
          <a:ln w="539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Comic Sans MS" panose="030F0702030302020204" pitchFamily="66" charset="0"/>
              </a:rPr>
              <a:t>30/60/90 </a:t>
            </a:r>
          </a:p>
          <a:p>
            <a:pPr>
              <a:lnSpc>
                <a:spcPct val="100000"/>
              </a:lnSpc>
              <a:spcBef>
                <a:spcPct val="0"/>
              </a:spcBef>
            </a:pPr>
            <a:r>
              <a:rPr lang="en-US" altLang="en-US" sz="1200" b="0" dirty="0">
                <a:solidFill>
                  <a:schemeClr val="tx1"/>
                </a:solidFill>
                <a:latin typeface="Comic Sans MS" panose="030F0702030302020204" pitchFamily="66" charset="0"/>
              </a:rPr>
              <a:t>Forecast</a:t>
            </a:r>
          </a:p>
        </p:txBody>
      </p:sp>
      <p:grpSp>
        <p:nvGrpSpPr>
          <p:cNvPr id="15" name="Group 14">
            <a:extLst>
              <a:ext uri="{FF2B5EF4-FFF2-40B4-BE49-F238E27FC236}">
                <a16:creationId xmlns:a16="http://schemas.microsoft.com/office/drawing/2014/main" id="{ECE97143-158B-229A-8668-52F2BB0DFAF5}"/>
              </a:ext>
            </a:extLst>
          </p:cNvPr>
          <p:cNvGrpSpPr/>
          <p:nvPr/>
        </p:nvGrpSpPr>
        <p:grpSpPr>
          <a:xfrm>
            <a:off x="940004" y="321492"/>
            <a:ext cx="6217883" cy="311851"/>
            <a:chOff x="940249" y="302538"/>
            <a:chExt cx="6219503" cy="311932"/>
          </a:xfrm>
        </p:grpSpPr>
        <p:sp>
          <p:nvSpPr>
            <p:cNvPr id="16" name="TextBox 15">
              <a:extLst>
                <a:ext uri="{FF2B5EF4-FFF2-40B4-BE49-F238E27FC236}">
                  <a16:creationId xmlns:a16="http://schemas.microsoft.com/office/drawing/2014/main" id="{AFAD169F-1148-D33A-8D61-B63B19D510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7" name="AutoShape 9">
              <a:extLst>
                <a:ext uri="{FF2B5EF4-FFF2-40B4-BE49-F238E27FC236}">
                  <a16:creationId xmlns:a16="http://schemas.microsoft.com/office/drawing/2014/main" id="{E1030AF8-DE14-1982-D86E-C5935DE40E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E80EAB7-72C1-7960-9988-335B622D4BA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0B1ACC8E-FD0B-5C69-8EBC-5EF8E3634C0E}"/>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6" name="AutoShape 9">
              <a:extLst>
                <a:ext uri="{FF2B5EF4-FFF2-40B4-BE49-F238E27FC236}">
                  <a16:creationId xmlns:a16="http://schemas.microsoft.com/office/drawing/2014/main" id="{FDF2A03D-2010-465F-4FC0-4F481FC567F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0" name="AutoShape 11">
              <a:extLst>
                <a:ext uri="{FF2B5EF4-FFF2-40B4-BE49-F238E27FC236}">
                  <a16:creationId xmlns:a16="http://schemas.microsoft.com/office/drawing/2014/main" id="{A52D78F8-EEAF-17DF-5232-6C47EF7A8D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81" name="Slide Number Placeholder 2">
            <a:extLst>
              <a:ext uri="{FF2B5EF4-FFF2-40B4-BE49-F238E27FC236}">
                <a16:creationId xmlns:a16="http://schemas.microsoft.com/office/drawing/2014/main" id="{0862FE3C-F60B-A9E7-87E2-6319DE64293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127</a:t>
            </a:fld>
            <a:endParaRPr lang="en-US" dirty="0"/>
          </a:p>
        </p:txBody>
      </p:sp>
    </p:spTree>
    <p:extLst>
      <p:ext uri="{BB962C8B-B14F-4D97-AF65-F5344CB8AC3E}">
        <p14:creationId xmlns:p14="http://schemas.microsoft.com/office/powerpoint/2010/main" val="4286439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par>
                    <p:cTn id="135" fill="hold">
                      <p:stCondLst>
                        <p:cond delay="indefinite"/>
                      </p:stCondLst>
                      <p:childTnLst>
                        <p:par>
                          <p:cTn id="136" fill="hold">
                            <p:stCondLst>
                              <p:cond delay="0"/>
                            </p:stCondLst>
                            <p:childTnLst>
                              <p:par>
                                <p:cTn id="137" presetID="9" presetClass="entr" presetSubtype="0" fill="hold" grpId="0" nodeType="clickEffect">
                                  <p:stCondLst>
                                    <p:cond delay="0"/>
                                  </p:stCondLst>
                                  <p:childTnLst>
                                    <p:set>
                                      <p:cBhvr>
                                        <p:cTn id="138" dur="1" fill="hold">
                                          <p:stCondLst>
                                            <p:cond delay="0"/>
                                          </p:stCondLst>
                                        </p:cTn>
                                        <p:tgtEl>
                                          <p:spTgt spid="109"/>
                                        </p:tgtEl>
                                        <p:attrNameLst>
                                          <p:attrName>style.visibility</p:attrName>
                                        </p:attrNameLst>
                                      </p:cBhvr>
                                      <p:to>
                                        <p:strVal val="visible"/>
                                      </p:to>
                                    </p:set>
                                    <p:animEffect transition="in" filter="dissolve">
                                      <p:cBhvr>
                                        <p:cTn id="139" dur="1000"/>
                                        <p:tgtEl>
                                          <p:spTgt spid="109"/>
                                        </p:tgtEl>
                                      </p:cBhvr>
                                    </p:animEffect>
                                  </p:childTnLst>
                                </p:cTn>
                              </p:par>
                            </p:childTnLst>
                          </p:cTn>
                        </p:par>
                      </p:childTnLst>
                    </p:cTn>
                  </p:par>
                  <p:par>
                    <p:cTn id="140" fill="hold">
                      <p:stCondLst>
                        <p:cond delay="indefinite"/>
                      </p:stCondLst>
                      <p:childTnLst>
                        <p:par>
                          <p:cTn id="141" fill="hold">
                            <p:stCondLst>
                              <p:cond delay="0"/>
                            </p:stCondLst>
                            <p:childTnLst>
                              <p:par>
                                <p:cTn id="142" presetID="9" presetClass="entr" presetSubtype="0" fill="hold" grpId="0" nodeType="click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dissolve">
                                      <p:cBhvr>
                                        <p:cTn id="14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P spid="109" grpId="0" animBg="1"/>
      <p:bldP spid="12"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Exercise</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Create a marked-up Current State Map for </a:t>
            </a:r>
            <a:r>
              <a:rPr lang="en-US" sz="2399" dirty="0" err="1">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Rusty’s</a:t>
            </a:r>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 Wrench.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In teams, mark-up your Current State Map using </a:t>
            </a:r>
            <a:r>
              <a:rPr lang="en-US" sz="2400" dirty="0">
                <a:solidFill>
                  <a:schemeClr val="accent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RED</a:t>
            </a: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 marker. Use the questions provided in sequence in this chapter as your guide.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15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7" y="4615200"/>
            <a:ext cx="4680073" cy="157938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One person from the team will present the map to the class. </a:t>
            </a:r>
          </a:p>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Comments and feedback will be encouraged.</a:t>
            </a:r>
          </a:p>
        </p:txBody>
      </p:sp>
      <p:grpSp>
        <p:nvGrpSpPr>
          <p:cNvPr id="3" name="Group 2">
            <a:extLst>
              <a:ext uri="{FF2B5EF4-FFF2-40B4-BE49-F238E27FC236}">
                <a16:creationId xmlns:a16="http://schemas.microsoft.com/office/drawing/2014/main" id="{C1540011-96CA-E36B-FE37-306DF66DD2C3}"/>
              </a:ext>
            </a:extLst>
          </p:cNvPr>
          <p:cNvGrpSpPr/>
          <p:nvPr/>
        </p:nvGrpSpPr>
        <p:grpSpPr>
          <a:xfrm>
            <a:off x="940004" y="317841"/>
            <a:ext cx="6217883" cy="311851"/>
            <a:chOff x="940249" y="302538"/>
            <a:chExt cx="6219503" cy="311932"/>
          </a:xfrm>
        </p:grpSpPr>
        <p:sp>
          <p:nvSpPr>
            <p:cNvPr id="4" name="TextBox 3">
              <a:extLst>
                <a:ext uri="{FF2B5EF4-FFF2-40B4-BE49-F238E27FC236}">
                  <a16:creationId xmlns:a16="http://schemas.microsoft.com/office/drawing/2014/main" id="{6FEE1B99-E991-4C8E-4502-4BD22DECAF0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5" name="AutoShape 9">
              <a:extLst>
                <a:ext uri="{FF2B5EF4-FFF2-40B4-BE49-F238E27FC236}">
                  <a16:creationId xmlns:a16="http://schemas.microsoft.com/office/drawing/2014/main" id="{F7601C38-3226-6AB7-4D8B-AC0DEC5F180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 name="AutoShape 9">
              <a:extLst>
                <a:ext uri="{FF2B5EF4-FFF2-40B4-BE49-F238E27FC236}">
                  <a16:creationId xmlns:a16="http://schemas.microsoft.com/office/drawing/2014/main" id="{0DD36390-FE99-4F9B-2D39-05309436EFF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 name="AutoShape 9">
              <a:extLst>
                <a:ext uri="{FF2B5EF4-FFF2-40B4-BE49-F238E27FC236}">
                  <a16:creationId xmlns:a16="http://schemas.microsoft.com/office/drawing/2014/main" id="{22572AD5-7D74-EF91-C77B-DEBDF415126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 name="AutoShape 9">
              <a:extLst>
                <a:ext uri="{FF2B5EF4-FFF2-40B4-BE49-F238E27FC236}">
                  <a16:creationId xmlns:a16="http://schemas.microsoft.com/office/drawing/2014/main" id="{7C26449D-D839-12CD-56F7-9DDF7068B9A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11">
              <a:extLst>
                <a:ext uri="{FF2B5EF4-FFF2-40B4-BE49-F238E27FC236}">
                  <a16:creationId xmlns:a16="http://schemas.microsoft.com/office/drawing/2014/main" id="{5F8B24C1-8EF8-58C4-5A1F-CF6C2434BFD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Tree>
    <p:extLst>
      <p:ext uri="{BB962C8B-B14F-4D97-AF65-F5344CB8AC3E}">
        <p14:creationId xmlns:p14="http://schemas.microsoft.com/office/powerpoint/2010/main" val="220083797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56FC2E-A4B5-FD1F-D049-AE59DA8D99ED}"/>
              </a:ext>
            </a:extLst>
          </p:cNvPr>
          <p:cNvSpPr>
            <a:spLocks noGrp="1"/>
          </p:cNvSpPr>
          <p:nvPr>
            <p:ph type="title"/>
          </p:nvPr>
        </p:nvSpPr>
        <p:spPr/>
        <p:txBody>
          <a:bodyPr>
            <a:normAutofit fontScale="90000"/>
          </a:bodyPr>
          <a:lstStyle/>
          <a:p>
            <a:r>
              <a:rPr lang="en-US" altLang="en-US" dirty="0"/>
              <a:t>Your Turn – </a:t>
            </a:r>
            <a:br>
              <a:rPr lang="en-US" altLang="en-US" dirty="0"/>
            </a:br>
            <a:r>
              <a:rPr lang="en-US" altLang="en-US" dirty="0"/>
              <a:t>Mark Up Current State Map for Business</a:t>
            </a:r>
            <a:endParaRPr lang="en-US" dirty="0"/>
          </a:p>
        </p:txBody>
      </p:sp>
      <p:sp>
        <p:nvSpPr>
          <p:cNvPr id="3" name="Text Placeholder 2">
            <a:extLst>
              <a:ext uri="{FF2B5EF4-FFF2-40B4-BE49-F238E27FC236}">
                <a16:creationId xmlns:a16="http://schemas.microsoft.com/office/drawing/2014/main" id="{4273EA64-EC56-29FF-C96F-63A5567ABCF7}"/>
              </a:ext>
            </a:extLst>
          </p:cNvPr>
          <p:cNvSpPr>
            <a:spLocks noGrp="1"/>
          </p:cNvSpPr>
          <p:nvPr>
            <p:ph idx="1"/>
          </p:nvPr>
        </p:nvSpPr>
        <p:spPr/>
        <p:txBody>
          <a:bodyPr>
            <a:normAutofit fontScale="92500" lnSpcReduction="20000"/>
          </a:bodyPr>
          <a:lstStyle/>
          <a:p>
            <a:r>
              <a:rPr lang="en-US" dirty="0"/>
              <a:t>Return to common area to jointly mark-up the Master Current State Map</a:t>
            </a:r>
          </a:p>
          <a:p>
            <a:r>
              <a:rPr lang="en-US" dirty="0"/>
              <a:t>Use the guidelines and method you just learned</a:t>
            </a:r>
          </a:p>
          <a:p>
            <a:r>
              <a:rPr lang="en-US" dirty="0"/>
              <a:t>Discuss each improvement opportunity as a team – reach consensus before marking up the Master Current State Map</a:t>
            </a:r>
          </a:p>
          <a:p>
            <a:r>
              <a:rPr lang="en-US" dirty="0"/>
              <a:t>All team members will be engaged in discussing opportunities and marking up the map</a:t>
            </a:r>
          </a:p>
          <a:p>
            <a:r>
              <a:rPr lang="en-US" dirty="0"/>
              <a:t>The marked-up map will be the basis for creating the Future State Map – make sure all improvements to the current state have been identified</a:t>
            </a:r>
          </a:p>
          <a:p>
            <a:r>
              <a:rPr lang="en-US" dirty="0"/>
              <a:t>Remember the Future State timeline in the charter – typically 6 months</a:t>
            </a:r>
          </a:p>
          <a:p>
            <a:endParaRPr lang="en-US" dirty="0"/>
          </a:p>
        </p:txBody>
      </p:sp>
      <p:grpSp>
        <p:nvGrpSpPr>
          <p:cNvPr id="12" name="Group 11">
            <a:extLst>
              <a:ext uri="{FF2B5EF4-FFF2-40B4-BE49-F238E27FC236}">
                <a16:creationId xmlns:a16="http://schemas.microsoft.com/office/drawing/2014/main" id="{6F541E99-9442-A434-F2FD-AD641F522B8F}"/>
              </a:ext>
            </a:extLst>
          </p:cNvPr>
          <p:cNvGrpSpPr/>
          <p:nvPr/>
        </p:nvGrpSpPr>
        <p:grpSpPr>
          <a:xfrm>
            <a:off x="940004" y="317841"/>
            <a:ext cx="6217883" cy="311851"/>
            <a:chOff x="940249" y="302538"/>
            <a:chExt cx="6219503" cy="311932"/>
          </a:xfrm>
        </p:grpSpPr>
        <p:sp>
          <p:nvSpPr>
            <p:cNvPr id="13" name="TextBox 12">
              <a:extLst>
                <a:ext uri="{FF2B5EF4-FFF2-40B4-BE49-F238E27FC236}">
                  <a16:creationId xmlns:a16="http://schemas.microsoft.com/office/drawing/2014/main" id="{D70E1C48-239F-EDD4-7BB4-005850AB9D9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4" name="AutoShape 9">
              <a:extLst>
                <a:ext uri="{FF2B5EF4-FFF2-40B4-BE49-F238E27FC236}">
                  <a16:creationId xmlns:a16="http://schemas.microsoft.com/office/drawing/2014/main" id="{EBF50965-7391-77DB-51E0-1A7770F5AD9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8111535C-7234-4A93-26CF-F2DAE7B83D4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58816B30-6A74-3E17-F684-801BF7D92B31}"/>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9F1B40D4-6279-4B33-2942-AD643378E342}"/>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8617C0D0-6C40-0673-2EAE-52EF35587FE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9" name="Slide Number Placeholder 2">
            <a:extLst>
              <a:ext uri="{FF2B5EF4-FFF2-40B4-BE49-F238E27FC236}">
                <a16:creationId xmlns:a16="http://schemas.microsoft.com/office/drawing/2014/main" id="{9AE7272D-D9AD-437E-6A05-06BECDC9D62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129</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81872167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56FC2E-A4B5-FD1F-D049-AE59DA8D99ED}"/>
              </a:ext>
            </a:extLst>
          </p:cNvPr>
          <p:cNvSpPr>
            <a:spLocks noGrp="1"/>
          </p:cNvSpPr>
          <p:nvPr>
            <p:ph type="title"/>
          </p:nvPr>
        </p:nvSpPr>
        <p:spPr/>
        <p:txBody>
          <a:bodyPr>
            <a:normAutofit fontScale="90000"/>
          </a:bodyPr>
          <a:lstStyle/>
          <a:p>
            <a:r>
              <a:rPr lang="en-US" altLang="en-US" dirty="0"/>
              <a:t>Your Turn – </a:t>
            </a:r>
            <a:br>
              <a:rPr lang="en-US" altLang="en-US" dirty="0"/>
            </a:br>
            <a:r>
              <a:rPr lang="en-US" altLang="en-US" dirty="0"/>
              <a:t>Mark Up Current State Map for Business</a:t>
            </a:r>
            <a:endParaRPr lang="en-US" dirty="0"/>
          </a:p>
        </p:txBody>
      </p:sp>
      <p:sp>
        <p:nvSpPr>
          <p:cNvPr id="3" name="Text Placeholder 2">
            <a:extLst>
              <a:ext uri="{FF2B5EF4-FFF2-40B4-BE49-F238E27FC236}">
                <a16:creationId xmlns:a16="http://schemas.microsoft.com/office/drawing/2014/main" id="{4273EA64-EC56-29FF-C96F-63A5567ABCF7}"/>
              </a:ext>
            </a:extLst>
          </p:cNvPr>
          <p:cNvSpPr>
            <a:spLocks noGrp="1"/>
          </p:cNvSpPr>
          <p:nvPr>
            <p:ph idx="1"/>
          </p:nvPr>
        </p:nvSpPr>
        <p:spPr/>
        <p:txBody>
          <a:bodyPr>
            <a:normAutofit/>
          </a:bodyPr>
          <a:lstStyle/>
          <a:p>
            <a:r>
              <a:rPr lang="en-US" dirty="0"/>
              <a:t>If needed, revisit the area to “validate” assumptions and gather any additional data – review as appropriate with stakeholders</a:t>
            </a:r>
          </a:p>
          <a:p>
            <a:pPr lvl="1"/>
            <a:r>
              <a:rPr lang="en-US" u="sng" dirty="0"/>
              <a:t>Caution</a:t>
            </a:r>
            <a:r>
              <a:rPr lang="en-US" dirty="0"/>
              <a:t>: Don’t get bogged down in a lot of detail – VSM is the “big picture”</a:t>
            </a:r>
          </a:p>
          <a:p>
            <a:r>
              <a:rPr lang="en-US" dirty="0"/>
              <a:t>The Current State Map will be reviewed by management – it is important to mark-up the map clearly so that the changes are easily viewable from a short distance</a:t>
            </a:r>
          </a:p>
          <a:p>
            <a:r>
              <a:rPr lang="en-US" dirty="0"/>
              <a:t>After the Marked-up Current State is drawn, convert to electronic file “off-line”</a:t>
            </a:r>
          </a:p>
        </p:txBody>
      </p:sp>
      <p:grpSp>
        <p:nvGrpSpPr>
          <p:cNvPr id="12" name="Group 11">
            <a:extLst>
              <a:ext uri="{FF2B5EF4-FFF2-40B4-BE49-F238E27FC236}">
                <a16:creationId xmlns:a16="http://schemas.microsoft.com/office/drawing/2014/main" id="{B16E96C5-C77E-CCDF-17F5-0889FA2FB43D}"/>
              </a:ext>
            </a:extLst>
          </p:cNvPr>
          <p:cNvGrpSpPr/>
          <p:nvPr/>
        </p:nvGrpSpPr>
        <p:grpSpPr>
          <a:xfrm>
            <a:off x="940004" y="317841"/>
            <a:ext cx="6217883" cy="311851"/>
            <a:chOff x="940249" y="302538"/>
            <a:chExt cx="6219503" cy="311932"/>
          </a:xfrm>
        </p:grpSpPr>
        <p:sp>
          <p:nvSpPr>
            <p:cNvPr id="13" name="TextBox 12">
              <a:extLst>
                <a:ext uri="{FF2B5EF4-FFF2-40B4-BE49-F238E27FC236}">
                  <a16:creationId xmlns:a16="http://schemas.microsoft.com/office/drawing/2014/main" id="{8C36D261-C9DF-29EE-1C28-A18C7C5F0B7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14" name="AutoShape 9">
              <a:extLst>
                <a:ext uri="{FF2B5EF4-FFF2-40B4-BE49-F238E27FC236}">
                  <a16:creationId xmlns:a16="http://schemas.microsoft.com/office/drawing/2014/main" id="{E97543E5-0E7A-BF5D-D551-3BA3DAA03C0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9">
              <a:extLst>
                <a:ext uri="{FF2B5EF4-FFF2-40B4-BE49-F238E27FC236}">
                  <a16:creationId xmlns:a16="http://schemas.microsoft.com/office/drawing/2014/main" id="{692C0CC5-60FF-8645-14DF-16047F19EF2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9">
              <a:extLst>
                <a:ext uri="{FF2B5EF4-FFF2-40B4-BE49-F238E27FC236}">
                  <a16:creationId xmlns:a16="http://schemas.microsoft.com/office/drawing/2014/main" id="{76C0AA19-BE25-C562-145E-7AF509127B3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9">
              <a:extLst>
                <a:ext uri="{FF2B5EF4-FFF2-40B4-BE49-F238E27FC236}">
                  <a16:creationId xmlns:a16="http://schemas.microsoft.com/office/drawing/2014/main" id="{427443DF-505F-2A7C-7E52-1D143B605D8A}"/>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1">
              <a:extLst>
                <a:ext uri="{FF2B5EF4-FFF2-40B4-BE49-F238E27FC236}">
                  <a16:creationId xmlns:a16="http://schemas.microsoft.com/office/drawing/2014/main" id="{82A956A8-BD35-7263-A7C4-ABD0395B6C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9" name="Slide Number Placeholder 2">
            <a:extLst>
              <a:ext uri="{FF2B5EF4-FFF2-40B4-BE49-F238E27FC236}">
                <a16:creationId xmlns:a16="http://schemas.microsoft.com/office/drawing/2014/main" id="{99ADEC61-C387-B48B-2ACD-9AD82FD92B6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pitchFamily="2" charset="0"/>
                <a:ea typeface="Roboto" panose="02000000000000000000" pitchFamily="2" charset="0"/>
                <a:cs typeface="Roboto" panose="02000000000000000000" pitchFamily="2" charset="0"/>
              </a:rPr>
              <a:pPr/>
              <a:t>130</a:t>
            </a:fld>
            <a:endParaRPr lang="en-US"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5348489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Mark-Up Current State Map and Report-Out</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Mark-Up Current State Map and Report-Out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As a team, reach consensus on kaizen bursts and improvement opportunities for your Current State Value Stream Map.</a:t>
            </a:r>
          </a:p>
          <a:p>
            <a:pPr defTabSz="584025"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Use a </a:t>
            </a:r>
            <a:r>
              <a:rPr lang="en-US" sz="2400" dirty="0">
                <a:solidFill>
                  <a:schemeClr val="accent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red</a:t>
            </a: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 </a:t>
            </a:r>
            <a:r>
              <a:rPr lang="en-US" sz="2400" dirty="0">
                <a:solidFill>
                  <a:schemeClr val="accent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marker</a:t>
            </a: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 to indicate changes.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2 hours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9" y="4613059"/>
            <a:ext cx="4680073" cy="1210177"/>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Marked up Current State Map Report Out to Management by team.</a:t>
            </a:r>
          </a:p>
        </p:txBody>
      </p:sp>
      <p:grpSp>
        <p:nvGrpSpPr>
          <p:cNvPr id="3" name="Group 2">
            <a:extLst>
              <a:ext uri="{FF2B5EF4-FFF2-40B4-BE49-F238E27FC236}">
                <a16:creationId xmlns:a16="http://schemas.microsoft.com/office/drawing/2014/main" id="{C1540011-96CA-E36B-FE37-306DF66DD2C3}"/>
              </a:ext>
            </a:extLst>
          </p:cNvPr>
          <p:cNvGrpSpPr/>
          <p:nvPr/>
        </p:nvGrpSpPr>
        <p:grpSpPr>
          <a:xfrm>
            <a:off x="940004" y="317841"/>
            <a:ext cx="6217883" cy="311851"/>
            <a:chOff x="940249" y="302538"/>
            <a:chExt cx="6219503" cy="311932"/>
          </a:xfrm>
        </p:grpSpPr>
        <p:sp>
          <p:nvSpPr>
            <p:cNvPr id="4" name="TextBox 3">
              <a:extLst>
                <a:ext uri="{FF2B5EF4-FFF2-40B4-BE49-F238E27FC236}">
                  <a16:creationId xmlns:a16="http://schemas.microsoft.com/office/drawing/2014/main" id="{6FEE1B99-E991-4C8E-4502-4BD22DECAF0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Interrogate the Current State</a:t>
              </a:r>
            </a:p>
          </p:txBody>
        </p:sp>
        <p:sp>
          <p:nvSpPr>
            <p:cNvPr id="5" name="AutoShape 9">
              <a:extLst>
                <a:ext uri="{FF2B5EF4-FFF2-40B4-BE49-F238E27FC236}">
                  <a16:creationId xmlns:a16="http://schemas.microsoft.com/office/drawing/2014/main" id="{F7601C38-3226-6AB7-4D8B-AC0DEC5F180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 name="AutoShape 9">
              <a:extLst>
                <a:ext uri="{FF2B5EF4-FFF2-40B4-BE49-F238E27FC236}">
                  <a16:creationId xmlns:a16="http://schemas.microsoft.com/office/drawing/2014/main" id="{0DD36390-FE99-4F9B-2D39-05309436EFF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 name="AutoShape 9">
              <a:extLst>
                <a:ext uri="{FF2B5EF4-FFF2-40B4-BE49-F238E27FC236}">
                  <a16:creationId xmlns:a16="http://schemas.microsoft.com/office/drawing/2014/main" id="{22572AD5-7D74-EF91-C77B-DEBDF415126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 name="AutoShape 9">
              <a:extLst>
                <a:ext uri="{FF2B5EF4-FFF2-40B4-BE49-F238E27FC236}">
                  <a16:creationId xmlns:a16="http://schemas.microsoft.com/office/drawing/2014/main" id="{7C26449D-D839-12CD-56F7-9DDF7068B9A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11">
              <a:extLst>
                <a:ext uri="{FF2B5EF4-FFF2-40B4-BE49-F238E27FC236}">
                  <a16:creationId xmlns:a16="http://schemas.microsoft.com/office/drawing/2014/main" id="{5F8B24C1-8EF8-58C4-5A1F-CF6C2434BFD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Tree>
    <p:extLst>
      <p:ext uri="{BB962C8B-B14F-4D97-AF65-F5344CB8AC3E}">
        <p14:creationId xmlns:p14="http://schemas.microsoft.com/office/powerpoint/2010/main" val="49392047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729" y="1497515"/>
            <a:ext cx="10535433" cy="1009387"/>
          </a:xfrm>
          <a:prstGeom prst="rect">
            <a:avLst/>
          </a:prstGeom>
        </p:spPr>
        <p:txBody>
          <a:bodyPr>
            <a:normAutofit/>
          </a:bodyPr>
          <a:lstStyle/>
          <a:p>
            <a:r>
              <a:rPr lang="en-US" sz="3999" dirty="0">
                <a:latin typeface="Roboto Medium"/>
                <a:ea typeface="Roboto Medium"/>
                <a:cs typeface="Roboto Medium"/>
              </a:rPr>
              <a:t>Creating the Future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300" y="2506902"/>
            <a:ext cx="10512862" cy="4350205"/>
          </a:xfrm>
        </p:spPr>
        <p:txBody>
          <a:bodyPr>
            <a:normAutofit/>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method to create the Future State Map</a:t>
            </a:r>
          </a:p>
          <a:p>
            <a:r>
              <a:rPr lang="en-US" dirty="0"/>
              <a:t>Complete Future State Map for Business</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729" y="2387190"/>
            <a:ext cx="3881964"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F0EA47C9-ED12-BFC6-9383-1D79A1F9B851}"/>
              </a:ext>
            </a:extLst>
          </p:cNvPr>
          <p:cNvGrpSpPr/>
          <p:nvPr/>
        </p:nvGrpSpPr>
        <p:grpSpPr>
          <a:xfrm>
            <a:off x="699728" y="837809"/>
            <a:ext cx="7271730" cy="659707"/>
            <a:chOff x="699911" y="1069861"/>
            <a:chExt cx="7273624" cy="350130"/>
          </a:xfrm>
        </p:grpSpPr>
        <p:sp>
          <p:nvSpPr>
            <p:cNvPr id="13" name="AutoShape 9">
              <a:extLst>
                <a:ext uri="{FF2B5EF4-FFF2-40B4-BE49-F238E27FC236}">
                  <a16:creationId xmlns:a16="http://schemas.microsoft.com/office/drawing/2014/main" id="{8BD99035-118F-A478-E1F3-642C122DDE48}"/>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14" name="AutoShape 9">
              <a:extLst>
                <a:ext uri="{FF2B5EF4-FFF2-40B4-BE49-F238E27FC236}">
                  <a16:creationId xmlns:a16="http://schemas.microsoft.com/office/drawing/2014/main" id="{5440A695-6F57-3099-27E4-FD69786A24EF}"/>
                </a:ext>
              </a:extLst>
            </p:cNvPr>
            <p:cNvSpPr>
              <a:spLocks noChangeArrowheads="1"/>
            </p:cNvSpPr>
            <p:nvPr/>
          </p:nvSpPr>
          <p:spPr bwMode="auto">
            <a:xfrm>
              <a:off x="4971710"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Future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a:t>
              </a:r>
            </a:p>
          </p:txBody>
        </p:sp>
        <p:grpSp>
          <p:nvGrpSpPr>
            <p:cNvPr id="15" name="Group 14">
              <a:extLst>
                <a:ext uri="{FF2B5EF4-FFF2-40B4-BE49-F238E27FC236}">
                  <a16:creationId xmlns:a16="http://schemas.microsoft.com/office/drawing/2014/main" id="{B38CDAFC-8CD0-DAA9-4960-E7F1A0900979}"/>
                </a:ext>
              </a:extLst>
            </p:cNvPr>
            <p:cNvGrpSpPr/>
            <p:nvPr/>
          </p:nvGrpSpPr>
          <p:grpSpPr>
            <a:xfrm>
              <a:off x="699911" y="1069861"/>
              <a:ext cx="4425950" cy="350130"/>
              <a:chOff x="5627530" y="641179"/>
              <a:chExt cx="6564470" cy="804977"/>
            </a:xfrm>
          </p:grpSpPr>
          <p:sp>
            <p:nvSpPr>
              <p:cNvPr id="16" name="AutoShape 9">
                <a:extLst>
                  <a:ext uri="{FF2B5EF4-FFF2-40B4-BE49-F238E27FC236}">
                    <a16:creationId xmlns:a16="http://schemas.microsoft.com/office/drawing/2014/main" id="{8946F87A-CD4D-C19B-7524-F7949D943F23}"/>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7" name="AutoShape 10">
                <a:extLst>
                  <a:ext uri="{FF2B5EF4-FFF2-40B4-BE49-F238E27FC236}">
                    <a16:creationId xmlns:a16="http://schemas.microsoft.com/office/drawing/2014/main" id="{20862A48-F7AE-C1A5-DD2F-CA906E13B749}"/>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8" name="AutoShape 11">
                <a:extLst>
                  <a:ext uri="{FF2B5EF4-FFF2-40B4-BE49-F238E27FC236}">
                    <a16:creationId xmlns:a16="http://schemas.microsoft.com/office/drawing/2014/main" id="{E23FE69C-2883-8169-CE2D-CD304A7C968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362139463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133</a:t>
            </a:fld>
            <a:endParaRPr lang="en-US" dirty="0"/>
          </a:p>
        </p:txBody>
      </p:sp>
    </p:spTree>
    <p:extLst>
      <p:ext uri="{BB962C8B-B14F-4D97-AF65-F5344CB8AC3E}">
        <p14:creationId xmlns:p14="http://schemas.microsoft.com/office/powerpoint/2010/main" val="131469936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134</a:t>
            </a:fld>
            <a:endParaRPr lang="en-US" dirty="0"/>
          </a:p>
        </p:txBody>
      </p:sp>
    </p:spTree>
    <p:extLst>
      <p:ext uri="{BB962C8B-B14F-4D97-AF65-F5344CB8AC3E}">
        <p14:creationId xmlns:p14="http://schemas.microsoft.com/office/powerpoint/2010/main" val="3309238846"/>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sz="4000" dirty="0"/>
              <a:t>Start with Marked-Up Current State Map</a:t>
            </a:r>
            <a:endParaRPr lang="en-US" sz="4000" dirty="0"/>
          </a:p>
        </p:txBody>
      </p:sp>
      <p:grpSp>
        <p:nvGrpSpPr>
          <p:cNvPr id="31" name="Group 5">
            <a:extLst>
              <a:ext uri="{FF2B5EF4-FFF2-40B4-BE49-F238E27FC236}">
                <a16:creationId xmlns:a16="http://schemas.microsoft.com/office/drawing/2014/main" id="{1183DC88-C1C4-1DA7-9179-7CD4710AA5BE}"/>
              </a:ext>
            </a:extLst>
          </p:cNvPr>
          <p:cNvGrpSpPr>
            <a:grpSpLocks/>
          </p:cNvGrpSpPr>
          <p:nvPr/>
        </p:nvGrpSpPr>
        <p:grpSpPr bwMode="auto">
          <a:xfrm>
            <a:off x="8990969" y="3958193"/>
            <a:ext cx="1044480" cy="602562"/>
            <a:chOff x="4424" y="2398"/>
            <a:chExt cx="525" cy="377"/>
          </a:xfrm>
          <a:solidFill>
            <a:schemeClr val="bg1"/>
          </a:solidFill>
        </p:grpSpPr>
        <p:grpSp>
          <p:nvGrpSpPr>
            <p:cNvPr id="32" name="Group 6">
              <a:extLst>
                <a:ext uri="{FF2B5EF4-FFF2-40B4-BE49-F238E27FC236}">
                  <a16:creationId xmlns:a16="http://schemas.microsoft.com/office/drawing/2014/main" id="{018D941A-0FF7-C474-EC1F-553C4706FE31}"/>
                </a:ext>
              </a:extLst>
            </p:cNvPr>
            <p:cNvGrpSpPr>
              <a:grpSpLocks/>
            </p:cNvGrpSpPr>
            <p:nvPr/>
          </p:nvGrpSpPr>
          <p:grpSpPr bwMode="auto">
            <a:xfrm>
              <a:off x="4424" y="2410"/>
              <a:ext cx="525" cy="365"/>
              <a:chOff x="418" y="2981"/>
              <a:chExt cx="352" cy="365"/>
            </a:xfrm>
            <a:grpFill/>
          </p:grpSpPr>
          <p:sp>
            <p:nvSpPr>
              <p:cNvPr id="34" name="Rectangle 7">
                <a:extLst>
                  <a:ext uri="{FF2B5EF4-FFF2-40B4-BE49-F238E27FC236}">
                    <a16:creationId xmlns:a16="http://schemas.microsoft.com/office/drawing/2014/main" id="{705F54C5-1032-AE36-7950-D6BA5781FB52}"/>
                  </a:ext>
                </a:extLst>
              </p:cNvPr>
              <p:cNvSpPr>
                <a:spLocks noChangeArrowheads="1"/>
              </p:cNvSpPr>
              <p:nvPr/>
            </p:nvSpPr>
            <p:spPr bwMode="auto">
              <a:xfrm>
                <a:off x="418" y="2981"/>
                <a:ext cx="352" cy="365"/>
              </a:xfrm>
              <a:prstGeom prst="rect">
                <a:avLst/>
              </a:prstGeom>
              <a:grp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5" name="Line 8">
                <a:extLst>
                  <a:ext uri="{FF2B5EF4-FFF2-40B4-BE49-F238E27FC236}">
                    <a16:creationId xmlns:a16="http://schemas.microsoft.com/office/drawing/2014/main" id="{34A629D7-8FCC-8975-F9DF-A97F60DCAE4E}"/>
                  </a:ext>
                </a:extLst>
              </p:cNvPr>
              <p:cNvSpPr>
                <a:spLocks noChangeShapeType="1"/>
              </p:cNvSpPr>
              <p:nvPr/>
            </p:nvSpPr>
            <p:spPr bwMode="auto">
              <a:xfrm>
                <a:off x="420" y="3083"/>
                <a:ext cx="347" cy="1"/>
              </a:xfrm>
              <a:prstGeom prst="line">
                <a:avLst/>
              </a:prstGeom>
              <a:grpFill/>
              <a:ln w="12700" cap="sq">
                <a:solidFill>
                  <a:schemeClr val="tx1"/>
                </a:solidFill>
                <a:round/>
                <a:headEnd type="none" w="sm" len="sm"/>
                <a:tailEnd type="none" w="sm" len="sm"/>
              </a:ln>
            </p:spPr>
            <p:txBody>
              <a:bodyPr wrap="none"/>
              <a:lstStyle/>
              <a:p>
                <a:endParaRPr lang="en-US" sz="1399"/>
              </a:p>
            </p:txBody>
          </p:sp>
        </p:grpSp>
        <p:sp>
          <p:nvSpPr>
            <p:cNvPr id="33" name="Text Box 9">
              <a:extLst>
                <a:ext uri="{FF2B5EF4-FFF2-40B4-BE49-F238E27FC236}">
                  <a16:creationId xmlns:a16="http://schemas.microsoft.com/office/drawing/2014/main" id="{1F0E3503-E633-E211-A8E4-910CB59D28ED}"/>
                </a:ext>
              </a:extLst>
            </p:cNvPr>
            <p:cNvSpPr txBox="1">
              <a:spLocks noChangeArrowheads="1"/>
            </p:cNvSpPr>
            <p:nvPr/>
          </p:nvSpPr>
          <p:spPr bwMode="auto">
            <a:xfrm>
              <a:off x="4442" y="2398"/>
              <a:ext cx="492" cy="173"/>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Ship</a:t>
              </a:r>
            </a:p>
          </p:txBody>
        </p:sp>
      </p:grpSp>
      <p:grpSp>
        <p:nvGrpSpPr>
          <p:cNvPr id="36" name="Group 10">
            <a:extLst>
              <a:ext uri="{FF2B5EF4-FFF2-40B4-BE49-F238E27FC236}">
                <a16:creationId xmlns:a16="http://schemas.microsoft.com/office/drawing/2014/main" id="{D35A0013-696B-F1DB-44D3-5D4C2C292801}"/>
              </a:ext>
            </a:extLst>
          </p:cNvPr>
          <p:cNvGrpSpPr>
            <a:grpSpLocks/>
          </p:cNvGrpSpPr>
          <p:nvPr/>
        </p:nvGrpSpPr>
        <p:grpSpPr bwMode="auto">
          <a:xfrm>
            <a:off x="8887517" y="2078586"/>
            <a:ext cx="1010658" cy="605758"/>
            <a:chOff x="474" y="1322"/>
            <a:chExt cx="508" cy="379"/>
          </a:xfrm>
          <a:solidFill>
            <a:schemeClr val="bg1"/>
          </a:solidFill>
        </p:grpSpPr>
        <p:grpSp>
          <p:nvGrpSpPr>
            <p:cNvPr id="37" name="Group 11">
              <a:extLst>
                <a:ext uri="{FF2B5EF4-FFF2-40B4-BE49-F238E27FC236}">
                  <a16:creationId xmlns:a16="http://schemas.microsoft.com/office/drawing/2014/main" id="{22A49EC5-7BE1-E58C-BEB4-A19E6AEDE9F7}"/>
                </a:ext>
              </a:extLst>
            </p:cNvPr>
            <p:cNvGrpSpPr>
              <a:grpSpLocks/>
            </p:cNvGrpSpPr>
            <p:nvPr/>
          </p:nvGrpSpPr>
          <p:grpSpPr bwMode="auto">
            <a:xfrm>
              <a:off x="474" y="1322"/>
              <a:ext cx="508" cy="348"/>
              <a:chOff x="536" y="1322"/>
              <a:chExt cx="446" cy="348"/>
            </a:xfrm>
            <a:grpFill/>
          </p:grpSpPr>
          <p:sp>
            <p:nvSpPr>
              <p:cNvPr id="39" name="Rectangle 12">
                <a:extLst>
                  <a:ext uri="{FF2B5EF4-FFF2-40B4-BE49-F238E27FC236}">
                    <a16:creationId xmlns:a16="http://schemas.microsoft.com/office/drawing/2014/main" id="{C7AF312C-5F34-7F3C-F9BD-4211C5BD8136}"/>
                  </a:ext>
                </a:extLst>
              </p:cNvPr>
              <p:cNvSpPr>
                <a:spLocks noChangeArrowheads="1"/>
              </p:cNvSpPr>
              <p:nvPr/>
            </p:nvSpPr>
            <p:spPr bwMode="auto">
              <a:xfrm>
                <a:off x="950" y="1322"/>
                <a:ext cx="29" cy="18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0" name="Rectangle 13">
                <a:extLst>
                  <a:ext uri="{FF2B5EF4-FFF2-40B4-BE49-F238E27FC236}">
                    <a16:creationId xmlns:a16="http://schemas.microsoft.com/office/drawing/2014/main" id="{82E85C29-4AFC-AB06-0907-3F21266E999E}"/>
                  </a:ext>
                </a:extLst>
              </p:cNvPr>
              <p:cNvSpPr>
                <a:spLocks noChangeArrowheads="1"/>
              </p:cNvSpPr>
              <p:nvPr/>
            </p:nvSpPr>
            <p:spPr bwMode="auto">
              <a:xfrm>
                <a:off x="536" y="1514"/>
                <a:ext cx="446" cy="156"/>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mn-lt"/>
                </a:endParaRPr>
              </a:p>
            </p:txBody>
          </p:sp>
          <p:sp>
            <p:nvSpPr>
              <p:cNvPr id="41" name="AutoShape 14">
                <a:extLst>
                  <a:ext uri="{FF2B5EF4-FFF2-40B4-BE49-F238E27FC236}">
                    <a16:creationId xmlns:a16="http://schemas.microsoft.com/office/drawing/2014/main" id="{00F4789B-26D2-F56E-2D2E-4BB7AE2E109E}"/>
                  </a:ext>
                </a:extLst>
              </p:cNvPr>
              <p:cNvSpPr>
                <a:spLocks noChangeArrowheads="1"/>
              </p:cNvSpPr>
              <p:nvPr/>
            </p:nvSpPr>
            <p:spPr bwMode="auto">
              <a:xfrm>
                <a:off x="813"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2" name="AutoShape 15">
                <a:extLst>
                  <a:ext uri="{FF2B5EF4-FFF2-40B4-BE49-F238E27FC236}">
                    <a16:creationId xmlns:a16="http://schemas.microsoft.com/office/drawing/2014/main" id="{6C2FC0D3-1C75-BDD2-5685-09EB9D80A977}"/>
                  </a:ext>
                </a:extLst>
              </p:cNvPr>
              <p:cNvSpPr>
                <a:spLocks noChangeArrowheads="1"/>
              </p:cNvSpPr>
              <p:nvPr/>
            </p:nvSpPr>
            <p:spPr bwMode="auto">
              <a:xfrm>
                <a:off x="675"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3" name="AutoShape 16">
                <a:extLst>
                  <a:ext uri="{FF2B5EF4-FFF2-40B4-BE49-F238E27FC236}">
                    <a16:creationId xmlns:a16="http://schemas.microsoft.com/office/drawing/2014/main" id="{EBC6B111-29FC-FE2E-8DC6-5BD302243C11}"/>
                  </a:ext>
                </a:extLst>
              </p:cNvPr>
              <p:cNvSpPr>
                <a:spLocks noChangeArrowheads="1"/>
              </p:cNvSpPr>
              <p:nvPr/>
            </p:nvSpPr>
            <p:spPr bwMode="auto">
              <a:xfrm>
                <a:off x="537" y="1372"/>
                <a:ext cx="137" cy="142"/>
              </a:xfrm>
              <a:prstGeom prst="rtTriangle">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4" name="Rectangle 17">
                <a:extLst>
                  <a:ext uri="{FF2B5EF4-FFF2-40B4-BE49-F238E27FC236}">
                    <a16:creationId xmlns:a16="http://schemas.microsoft.com/office/drawing/2014/main" id="{B8F4BC14-663F-5712-529C-12B6785F52A8}"/>
                  </a:ext>
                </a:extLst>
              </p:cNvPr>
              <p:cNvSpPr>
                <a:spLocks noChangeArrowheads="1"/>
              </p:cNvSpPr>
              <p:nvPr/>
            </p:nvSpPr>
            <p:spPr bwMode="auto">
              <a:xfrm>
                <a:off x="564"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5" name="Rectangle 18">
                <a:extLst>
                  <a:ext uri="{FF2B5EF4-FFF2-40B4-BE49-F238E27FC236}">
                    <a16:creationId xmlns:a16="http://schemas.microsoft.com/office/drawing/2014/main" id="{5EB287CE-5151-F194-BAD6-0087DE5B1E23}"/>
                  </a:ext>
                </a:extLst>
              </p:cNvPr>
              <p:cNvSpPr>
                <a:spLocks noChangeArrowheads="1"/>
              </p:cNvSpPr>
              <p:nvPr/>
            </p:nvSpPr>
            <p:spPr bwMode="auto">
              <a:xfrm>
                <a:off x="707"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6" name="Rectangle 19">
                <a:extLst>
                  <a:ext uri="{FF2B5EF4-FFF2-40B4-BE49-F238E27FC236}">
                    <a16:creationId xmlns:a16="http://schemas.microsoft.com/office/drawing/2014/main" id="{2599527A-E1AE-8420-ED50-D52699C92DCB}"/>
                  </a:ext>
                </a:extLst>
              </p:cNvPr>
              <p:cNvSpPr>
                <a:spLocks noChangeArrowheads="1"/>
              </p:cNvSpPr>
              <p:nvPr/>
            </p:nvSpPr>
            <p:spPr bwMode="auto">
              <a:xfrm>
                <a:off x="850" y="1454"/>
                <a:ext cx="18" cy="38"/>
              </a:xfrm>
              <a:prstGeom prst="rect">
                <a:avLst/>
              </a:prstGeom>
              <a:grp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grpSp>
        <p:sp>
          <p:nvSpPr>
            <p:cNvPr id="38" name="Text Box 20">
              <a:extLst>
                <a:ext uri="{FF2B5EF4-FFF2-40B4-BE49-F238E27FC236}">
                  <a16:creationId xmlns:a16="http://schemas.microsoft.com/office/drawing/2014/main" id="{71C2DBBE-6220-48C7-2CBA-27200A8AE702}"/>
                </a:ext>
              </a:extLst>
            </p:cNvPr>
            <p:cNvSpPr txBox="1">
              <a:spLocks noChangeArrowheads="1"/>
            </p:cNvSpPr>
            <p:nvPr/>
          </p:nvSpPr>
          <p:spPr bwMode="auto">
            <a:xfrm>
              <a:off x="502" y="1522"/>
              <a:ext cx="440" cy="179"/>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700" b="0" dirty="0">
                  <a:solidFill>
                    <a:schemeClr val="tx1"/>
                  </a:solidFill>
                  <a:latin typeface="+mn-lt"/>
                </a:rPr>
                <a:t>Ed</a:t>
              </a:r>
              <a:r>
                <a:rPr lang="ja-JP" altLang="en-US" sz="700" b="0" dirty="0">
                  <a:solidFill>
                    <a:schemeClr val="tx1"/>
                  </a:solidFill>
                  <a:latin typeface="+mn-lt"/>
                </a:rPr>
                <a:t>’</a:t>
              </a:r>
              <a:r>
                <a:rPr lang="en-US" altLang="ja-JP" sz="700" b="0" dirty="0">
                  <a:solidFill>
                    <a:schemeClr val="tx1"/>
                  </a:solidFill>
                  <a:latin typeface="+mn-lt"/>
                </a:rPr>
                <a:t>s Electrical Supply</a:t>
              </a:r>
              <a:endParaRPr lang="en-US" altLang="en-US" sz="700" b="0" dirty="0">
                <a:solidFill>
                  <a:schemeClr val="tx1"/>
                </a:solidFill>
                <a:latin typeface="+mn-lt"/>
              </a:endParaRPr>
            </a:p>
          </p:txBody>
        </p:sp>
      </p:grpSp>
      <p:sp>
        <p:nvSpPr>
          <p:cNvPr id="47" name="Text Box 21">
            <a:extLst>
              <a:ext uri="{FF2B5EF4-FFF2-40B4-BE49-F238E27FC236}">
                <a16:creationId xmlns:a16="http://schemas.microsoft.com/office/drawing/2014/main" id="{FDF77A1E-7237-A267-1A45-3EB2313EB376}"/>
              </a:ext>
            </a:extLst>
          </p:cNvPr>
          <p:cNvSpPr txBox="1">
            <a:spLocks noChangeArrowheads="1"/>
          </p:cNvSpPr>
          <p:nvPr/>
        </p:nvSpPr>
        <p:spPr bwMode="auto">
          <a:xfrm>
            <a:off x="4385718" y="1831991"/>
            <a:ext cx="2937022" cy="3385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dirty="0">
                <a:solidFill>
                  <a:schemeClr val="tx1"/>
                </a:solidFill>
                <a:latin typeface="+mn-lt"/>
              </a:rPr>
              <a:t>Mike</a:t>
            </a:r>
            <a:r>
              <a:rPr lang="ja-JP" altLang="en-US" sz="1600" dirty="0">
                <a:solidFill>
                  <a:schemeClr val="tx1"/>
                </a:solidFill>
                <a:latin typeface="+mn-lt"/>
              </a:rPr>
              <a:t>’</a:t>
            </a:r>
            <a:r>
              <a:rPr lang="en-US" altLang="ja-JP" sz="1600" dirty="0">
                <a:solidFill>
                  <a:schemeClr val="tx1"/>
                </a:solidFill>
                <a:latin typeface="+mn-lt"/>
              </a:rPr>
              <a:t>s Metal Enclosures (MME)</a:t>
            </a:r>
            <a:endParaRPr lang="en-US" altLang="en-US" sz="1600" dirty="0">
              <a:solidFill>
                <a:schemeClr val="tx1"/>
              </a:solidFill>
              <a:latin typeface="+mn-lt"/>
            </a:endParaRPr>
          </a:p>
        </p:txBody>
      </p:sp>
      <p:sp>
        <p:nvSpPr>
          <p:cNvPr id="48" name="Text Box 22">
            <a:extLst>
              <a:ext uri="{FF2B5EF4-FFF2-40B4-BE49-F238E27FC236}">
                <a16:creationId xmlns:a16="http://schemas.microsoft.com/office/drawing/2014/main" id="{0FE8ECB2-2829-9055-96D3-0BD7AA63B026}"/>
              </a:ext>
            </a:extLst>
          </p:cNvPr>
          <p:cNvSpPr txBox="1">
            <a:spLocks noChangeArrowheads="1"/>
          </p:cNvSpPr>
          <p:nvPr/>
        </p:nvSpPr>
        <p:spPr bwMode="auto">
          <a:xfrm>
            <a:off x="9953882" y="2279354"/>
            <a:ext cx="913475" cy="415498"/>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700" b="0" dirty="0">
                <a:solidFill>
                  <a:schemeClr val="tx1"/>
                </a:solidFill>
                <a:latin typeface="+mn-lt"/>
              </a:rPr>
              <a:t>Demand = 30,000 Enclosures/month</a:t>
            </a:r>
          </a:p>
          <a:p>
            <a:pPr algn="l">
              <a:lnSpc>
                <a:spcPct val="100000"/>
              </a:lnSpc>
              <a:spcBef>
                <a:spcPct val="0"/>
              </a:spcBef>
              <a:buFontTx/>
              <a:buChar char="•"/>
            </a:pPr>
            <a:r>
              <a:rPr lang="en-US" altLang="en-US" sz="700" b="0" dirty="0">
                <a:solidFill>
                  <a:schemeClr val="tx1"/>
                </a:solidFill>
                <a:latin typeface="+mn-lt"/>
              </a:rPr>
              <a:t>1 Shift</a:t>
            </a: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164702" y="2621336"/>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159849" y="2862359"/>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10" name="Rectangle 7">
            <a:extLst>
              <a:ext uri="{FF2B5EF4-FFF2-40B4-BE49-F238E27FC236}">
                <a16:creationId xmlns:a16="http://schemas.microsoft.com/office/drawing/2014/main" id="{333ACAFE-53E1-742B-2909-0500E2A6793E}"/>
              </a:ext>
            </a:extLst>
          </p:cNvPr>
          <p:cNvSpPr>
            <a:spLocks noChangeArrowheads="1"/>
          </p:cNvSpPr>
          <p:nvPr/>
        </p:nvSpPr>
        <p:spPr bwMode="auto">
          <a:xfrm>
            <a:off x="6662602"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11" name="Line 8">
            <a:extLst>
              <a:ext uri="{FF2B5EF4-FFF2-40B4-BE49-F238E27FC236}">
                <a16:creationId xmlns:a16="http://schemas.microsoft.com/office/drawing/2014/main" id="{D8DA1A2A-7718-9C0C-12A5-CE4B77D26F35}"/>
              </a:ext>
            </a:extLst>
          </p:cNvPr>
          <p:cNvSpPr>
            <a:spLocks noChangeShapeType="1"/>
          </p:cNvSpPr>
          <p:nvPr/>
        </p:nvSpPr>
        <p:spPr bwMode="auto">
          <a:xfrm>
            <a:off x="6668536"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0" name="Text Box 9">
            <a:extLst>
              <a:ext uri="{FF2B5EF4-FFF2-40B4-BE49-F238E27FC236}">
                <a16:creationId xmlns:a16="http://schemas.microsoft.com/office/drawing/2014/main" id="{031FCA60-A5D2-4FB7-E3E3-BDDCC2C535C8}"/>
              </a:ext>
            </a:extLst>
          </p:cNvPr>
          <p:cNvSpPr txBox="1">
            <a:spLocks noChangeArrowheads="1"/>
          </p:cNvSpPr>
          <p:nvPr/>
        </p:nvSpPr>
        <p:spPr bwMode="auto">
          <a:xfrm>
            <a:off x="6698412"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Brake Form</a:t>
            </a:r>
          </a:p>
        </p:txBody>
      </p:sp>
      <p:sp>
        <p:nvSpPr>
          <p:cNvPr id="22" name="Rectangle 7">
            <a:extLst>
              <a:ext uri="{FF2B5EF4-FFF2-40B4-BE49-F238E27FC236}">
                <a16:creationId xmlns:a16="http://schemas.microsoft.com/office/drawing/2014/main" id="{7579B974-931F-2931-1013-E70B8405238E}"/>
              </a:ext>
            </a:extLst>
          </p:cNvPr>
          <p:cNvSpPr>
            <a:spLocks noChangeArrowheads="1"/>
          </p:cNvSpPr>
          <p:nvPr/>
        </p:nvSpPr>
        <p:spPr bwMode="auto">
          <a:xfrm>
            <a:off x="4332980" y="397737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3" name="Line 8">
            <a:extLst>
              <a:ext uri="{FF2B5EF4-FFF2-40B4-BE49-F238E27FC236}">
                <a16:creationId xmlns:a16="http://schemas.microsoft.com/office/drawing/2014/main" id="{EF104D19-FE57-AB84-290A-C5FE68F2A943}"/>
              </a:ext>
            </a:extLst>
          </p:cNvPr>
          <p:cNvSpPr>
            <a:spLocks noChangeShapeType="1"/>
          </p:cNvSpPr>
          <p:nvPr/>
        </p:nvSpPr>
        <p:spPr bwMode="auto">
          <a:xfrm>
            <a:off x="4338915" y="414040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4" name="Text Box 9">
            <a:extLst>
              <a:ext uri="{FF2B5EF4-FFF2-40B4-BE49-F238E27FC236}">
                <a16:creationId xmlns:a16="http://schemas.microsoft.com/office/drawing/2014/main" id="{735814DC-9F72-C621-A733-32B12B104DF4}"/>
              </a:ext>
            </a:extLst>
          </p:cNvPr>
          <p:cNvSpPr txBox="1">
            <a:spLocks noChangeArrowheads="1"/>
          </p:cNvSpPr>
          <p:nvPr/>
        </p:nvSpPr>
        <p:spPr bwMode="auto">
          <a:xfrm>
            <a:off x="4368790" y="395819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090864" y="39965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096798" y="41595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26674" y="39773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30645" y="26635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148137" y="33652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13418" y="34591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661885"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199836" y="36484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074527" y="34147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51" name="Group 3">
            <a:extLst>
              <a:ext uri="{FF2B5EF4-FFF2-40B4-BE49-F238E27FC236}">
                <a16:creationId xmlns:a16="http://schemas.microsoft.com/office/drawing/2014/main" id="{36F11202-EC9D-A539-E6BD-6632841D307D}"/>
              </a:ext>
            </a:extLst>
          </p:cNvPr>
          <p:cNvGrpSpPr>
            <a:grpSpLocks/>
          </p:cNvGrpSpPr>
          <p:nvPr/>
        </p:nvGrpSpPr>
        <p:grpSpPr bwMode="auto">
          <a:xfrm>
            <a:off x="3156317" y="4063425"/>
            <a:ext cx="1176662" cy="324138"/>
            <a:chOff x="1547" y="2489"/>
            <a:chExt cx="599" cy="194"/>
          </a:xfrm>
        </p:grpSpPr>
        <p:sp>
          <p:nvSpPr>
            <p:cNvPr id="52" name="Line 4">
              <a:extLst>
                <a:ext uri="{FF2B5EF4-FFF2-40B4-BE49-F238E27FC236}">
                  <a16:creationId xmlns:a16="http://schemas.microsoft.com/office/drawing/2014/main" id="{13410319-5CD2-1178-ADC5-DE4619E7075D}"/>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3" name="AutoShape 5">
              <a:extLst>
                <a:ext uri="{FF2B5EF4-FFF2-40B4-BE49-F238E27FC236}">
                  <a16:creationId xmlns:a16="http://schemas.microsoft.com/office/drawing/2014/main" id="{E62DD3E3-40E4-0484-982A-95D7332FFD0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4" name="Group 3">
            <a:extLst>
              <a:ext uri="{FF2B5EF4-FFF2-40B4-BE49-F238E27FC236}">
                <a16:creationId xmlns:a16="http://schemas.microsoft.com/office/drawing/2014/main" id="{FBC553A2-054F-2BB3-279D-AFB5379F82BA}"/>
              </a:ext>
            </a:extLst>
          </p:cNvPr>
          <p:cNvGrpSpPr>
            <a:grpSpLocks/>
          </p:cNvGrpSpPr>
          <p:nvPr/>
        </p:nvGrpSpPr>
        <p:grpSpPr bwMode="auto">
          <a:xfrm>
            <a:off x="5434245" y="4063425"/>
            <a:ext cx="1176662" cy="324138"/>
            <a:chOff x="1547" y="2489"/>
            <a:chExt cx="599" cy="194"/>
          </a:xfrm>
        </p:grpSpPr>
        <p:sp>
          <p:nvSpPr>
            <p:cNvPr id="55" name="Line 4">
              <a:extLst>
                <a:ext uri="{FF2B5EF4-FFF2-40B4-BE49-F238E27FC236}">
                  <a16:creationId xmlns:a16="http://schemas.microsoft.com/office/drawing/2014/main" id="{5D3BD367-D10A-B9F4-B48D-806FFEC20D78}"/>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57" name="AutoShape 5">
              <a:extLst>
                <a:ext uri="{FF2B5EF4-FFF2-40B4-BE49-F238E27FC236}">
                  <a16:creationId xmlns:a16="http://schemas.microsoft.com/office/drawing/2014/main" id="{003E00AB-A714-55AD-1340-627D12ABBDA3}"/>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58" name="Group 3">
            <a:extLst>
              <a:ext uri="{FF2B5EF4-FFF2-40B4-BE49-F238E27FC236}">
                <a16:creationId xmlns:a16="http://schemas.microsoft.com/office/drawing/2014/main" id="{A9611FC7-86BF-696D-C116-83E5F89E1A4B}"/>
              </a:ext>
            </a:extLst>
          </p:cNvPr>
          <p:cNvGrpSpPr>
            <a:grpSpLocks/>
          </p:cNvGrpSpPr>
          <p:nvPr/>
        </p:nvGrpSpPr>
        <p:grpSpPr bwMode="auto">
          <a:xfrm>
            <a:off x="7765067" y="4063425"/>
            <a:ext cx="1176662" cy="324138"/>
            <a:chOff x="1547" y="2489"/>
            <a:chExt cx="599" cy="194"/>
          </a:xfrm>
        </p:grpSpPr>
        <p:sp>
          <p:nvSpPr>
            <p:cNvPr id="59" name="Line 4">
              <a:extLst>
                <a:ext uri="{FF2B5EF4-FFF2-40B4-BE49-F238E27FC236}">
                  <a16:creationId xmlns:a16="http://schemas.microsoft.com/office/drawing/2014/main" id="{F7050340-1A02-D774-2EEB-8C9832837F1C}"/>
                </a:ext>
              </a:extLst>
            </p:cNvPr>
            <p:cNvSpPr>
              <a:spLocks noChangeShapeType="1"/>
            </p:cNvSpPr>
            <p:nvPr/>
          </p:nvSpPr>
          <p:spPr bwMode="auto">
            <a:xfrm flipV="1">
              <a:off x="1547" y="2604"/>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0" name="AutoShape 5">
              <a:extLst>
                <a:ext uri="{FF2B5EF4-FFF2-40B4-BE49-F238E27FC236}">
                  <a16:creationId xmlns:a16="http://schemas.microsoft.com/office/drawing/2014/main" id="{5A5CE8EE-CD3B-A9C6-4E1E-D7681C63140A}"/>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1" name="Group 3">
            <a:extLst>
              <a:ext uri="{FF2B5EF4-FFF2-40B4-BE49-F238E27FC236}">
                <a16:creationId xmlns:a16="http://schemas.microsoft.com/office/drawing/2014/main" id="{F0BCD0A5-7756-C565-D72E-6ED8527323B9}"/>
              </a:ext>
            </a:extLst>
          </p:cNvPr>
          <p:cNvGrpSpPr>
            <a:grpSpLocks/>
          </p:cNvGrpSpPr>
          <p:nvPr/>
        </p:nvGrpSpPr>
        <p:grpSpPr bwMode="auto">
          <a:xfrm>
            <a:off x="1236089" y="4063425"/>
            <a:ext cx="834861" cy="324138"/>
            <a:chOff x="1721" y="2489"/>
            <a:chExt cx="425" cy="194"/>
          </a:xfrm>
        </p:grpSpPr>
        <p:sp>
          <p:nvSpPr>
            <p:cNvPr id="62" name="Line 4">
              <a:extLst>
                <a:ext uri="{FF2B5EF4-FFF2-40B4-BE49-F238E27FC236}">
                  <a16:creationId xmlns:a16="http://schemas.microsoft.com/office/drawing/2014/main" id="{67901B7B-7022-87D7-C65C-BDE31927A079}"/>
                </a:ext>
              </a:extLst>
            </p:cNvPr>
            <p:cNvSpPr>
              <a:spLocks noChangeShapeType="1"/>
            </p:cNvSpPr>
            <p:nvPr/>
          </p:nvSpPr>
          <p:spPr bwMode="auto">
            <a:xfrm flipV="1">
              <a:off x="1784" y="2604"/>
              <a:ext cx="362"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399"/>
            </a:p>
          </p:txBody>
        </p:sp>
        <p:sp>
          <p:nvSpPr>
            <p:cNvPr id="63" name="AutoShape 5">
              <a:extLst>
                <a:ext uri="{FF2B5EF4-FFF2-40B4-BE49-F238E27FC236}">
                  <a16:creationId xmlns:a16="http://schemas.microsoft.com/office/drawing/2014/main" id="{977B991C-7CDF-9652-AE4A-3A668EC4B89E}"/>
                </a:ext>
              </a:extLst>
            </p:cNvPr>
            <p:cNvSpPr>
              <a:spLocks noChangeArrowheads="1"/>
            </p:cNvSpPr>
            <p:nvPr/>
          </p:nvSpPr>
          <p:spPr bwMode="auto">
            <a:xfrm>
              <a:off x="1721" y="2489"/>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grpSp>
      <p:grpSp>
        <p:nvGrpSpPr>
          <p:cNvPr id="64" name="Group 63">
            <a:extLst>
              <a:ext uri="{FF2B5EF4-FFF2-40B4-BE49-F238E27FC236}">
                <a16:creationId xmlns:a16="http://schemas.microsoft.com/office/drawing/2014/main" id="{FDE4DC01-9DB4-0B90-0158-7B438695BEE1}"/>
              </a:ext>
            </a:extLst>
          </p:cNvPr>
          <p:cNvGrpSpPr/>
          <p:nvPr/>
        </p:nvGrpSpPr>
        <p:grpSpPr>
          <a:xfrm>
            <a:off x="2225014" y="41657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67" name="Group 66">
            <a:extLst>
              <a:ext uri="{FF2B5EF4-FFF2-40B4-BE49-F238E27FC236}">
                <a16:creationId xmlns:a16="http://schemas.microsoft.com/office/drawing/2014/main" id="{7802384B-9D8F-455D-4A54-E83AEE490EA8}"/>
              </a:ext>
            </a:extLst>
          </p:cNvPr>
          <p:cNvGrpSpPr/>
          <p:nvPr/>
        </p:nvGrpSpPr>
        <p:grpSpPr>
          <a:xfrm>
            <a:off x="4463991" y="4142461"/>
            <a:ext cx="327682" cy="291563"/>
            <a:chOff x="18363333" y="5039084"/>
            <a:chExt cx="327025" cy="358775"/>
          </a:xfrm>
        </p:grpSpPr>
        <p:sp>
          <p:nvSpPr>
            <p:cNvPr id="68" name="Oval 32">
              <a:extLst>
                <a:ext uri="{FF2B5EF4-FFF2-40B4-BE49-F238E27FC236}">
                  <a16:creationId xmlns:a16="http://schemas.microsoft.com/office/drawing/2014/main" id="{F2113592-F85D-681F-0930-162C5A50F0CE}"/>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9" name="AutoShape 33">
              <a:extLst>
                <a:ext uri="{FF2B5EF4-FFF2-40B4-BE49-F238E27FC236}">
                  <a16:creationId xmlns:a16="http://schemas.microsoft.com/office/drawing/2014/main" id="{BB6745CA-3118-51D0-05B7-50E107B4DFDA}"/>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grpSp>
        <p:nvGrpSpPr>
          <p:cNvPr id="70" name="Group 69">
            <a:extLst>
              <a:ext uri="{FF2B5EF4-FFF2-40B4-BE49-F238E27FC236}">
                <a16:creationId xmlns:a16="http://schemas.microsoft.com/office/drawing/2014/main" id="{2CCD7F60-340F-175E-10FE-06F13E88192D}"/>
              </a:ext>
            </a:extLst>
          </p:cNvPr>
          <p:cNvGrpSpPr/>
          <p:nvPr/>
        </p:nvGrpSpPr>
        <p:grpSpPr>
          <a:xfrm>
            <a:off x="6762615" y="4158791"/>
            <a:ext cx="327682" cy="291563"/>
            <a:chOff x="18363333" y="5039084"/>
            <a:chExt cx="327025" cy="358775"/>
          </a:xfrm>
        </p:grpSpPr>
        <p:sp>
          <p:nvSpPr>
            <p:cNvPr id="71" name="Oval 32">
              <a:extLst>
                <a:ext uri="{FF2B5EF4-FFF2-40B4-BE49-F238E27FC236}">
                  <a16:creationId xmlns:a16="http://schemas.microsoft.com/office/drawing/2014/main" id="{60C3B303-B825-900F-150C-FED2021AD61D}"/>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2" name="AutoShape 33">
              <a:extLst>
                <a:ext uri="{FF2B5EF4-FFF2-40B4-BE49-F238E27FC236}">
                  <a16:creationId xmlns:a16="http://schemas.microsoft.com/office/drawing/2014/main" id="{3DDC6F84-5941-7965-B9CB-08E05AA822F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3" name="Rectangle 84">
            <a:extLst>
              <a:ext uri="{FF2B5EF4-FFF2-40B4-BE49-F238E27FC236}">
                <a16:creationId xmlns:a16="http://schemas.microsoft.com/office/drawing/2014/main" id="{32F33C07-C86C-0561-284C-C768E6EED58E}"/>
              </a:ext>
            </a:extLst>
          </p:cNvPr>
          <p:cNvSpPr>
            <a:spLocks noChangeArrowheads="1"/>
          </p:cNvSpPr>
          <p:nvPr/>
        </p:nvSpPr>
        <p:spPr bwMode="auto">
          <a:xfrm>
            <a:off x="1031490" y="4434025"/>
            <a:ext cx="8851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3,200 Sheets</a:t>
            </a:r>
            <a:r>
              <a:rPr lang="en-US" altLang="en-US" sz="1000" b="0" dirty="0">
                <a:solidFill>
                  <a:srgbClr val="FF0000"/>
                </a:solidFill>
                <a:latin typeface="+mn-lt"/>
              </a:rPr>
              <a:t> </a:t>
            </a:r>
          </a:p>
        </p:txBody>
      </p:sp>
      <p:sp>
        <p:nvSpPr>
          <p:cNvPr id="74" name="Rectangle 84">
            <a:extLst>
              <a:ext uri="{FF2B5EF4-FFF2-40B4-BE49-F238E27FC236}">
                <a16:creationId xmlns:a16="http://schemas.microsoft.com/office/drawing/2014/main" id="{AED7FECB-E601-AA23-1E21-75EFD3A41E41}"/>
              </a:ext>
            </a:extLst>
          </p:cNvPr>
          <p:cNvSpPr>
            <a:spLocks noChangeArrowheads="1"/>
          </p:cNvSpPr>
          <p:nvPr/>
        </p:nvSpPr>
        <p:spPr bwMode="auto">
          <a:xfrm>
            <a:off x="3280076" y="4434025"/>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5,250 Pieces</a:t>
            </a:r>
            <a:endParaRPr lang="en-US" altLang="en-US" sz="1000" b="0" dirty="0">
              <a:solidFill>
                <a:srgbClr val="FF0000"/>
              </a:solidFill>
              <a:latin typeface="+mn-lt"/>
            </a:endParaRPr>
          </a:p>
        </p:txBody>
      </p:sp>
      <p:sp>
        <p:nvSpPr>
          <p:cNvPr id="75" name="Rectangle 84">
            <a:extLst>
              <a:ext uri="{FF2B5EF4-FFF2-40B4-BE49-F238E27FC236}">
                <a16:creationId xmlns:a16="http://schemas.microsoft.com/office/drawing/2014/main" id="{641A7FBA-9EDD-1755-160B-A357569987A0}"/>
              </a:ext>
            </a:extLst>
          </p:cNvPr>
          <p:cNvSpPr>
            <a:spLocks noChangeArrowheads="1"/>
          </p:cNvSpPr>
          <p:nvPr/>
        </p:nvSpPr>
        <p:spPr bwMode="auto">
          <a:xfrm>
            <a:off x="5577467" y="4410204"/>
            <a:ext cx="8354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9,300 Pieces</a:t>
            </a:r>
            <a:endParaRPr lang="en-US" altLang="en-US" sz="1000" b="0" dirty="0">
              <a:solidFill>
                <a:srgbClr val="FF0000"/>
              </a:solidFill>
              <a:latin typeface="+mn-lt"/>
            </a:endParaRPr>
          </a:p>
        </p:txBody>
      </p:sp>
      <p:sp>
        <p:nvSpPr>
          <p:cNvPr id="76" name="Rectangle 84">
            <a:extLst>
              <a:ext uri="{FF2B5EF4-FFF2-40B4-BE49-F238E27FC236}">
                <a16:creationId xmlns:a16="http://schemas.microsoft.com/office/drawing/2014/main" id="{4EC57E67-0AFC-4055-89A7-8F09EB1D86E8}"/>
              </a:ext>
            </a:extLst>
          </p:cNvPr>
          <p:cNvSpPr>
            <a:spLocks noChangeArrowheads="1"/>
          </p:cNvSpPr>
          <p:nvPr/>
        </p:nvSpPr>
        <p:spPr bwMode="auto">
          <a:xfrm>
            <a:off x="7790377" y="4410204"/>
            <a:ext cx="106471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2,300 Enclosures</a:t>
            </a:r>
            <a:endParaRPr lang="en-US" altLang="en-US" sz="1000" b="0" dirty="0">
              <a:solidFill>
                <a:srgbClr val="FF0000"/>
              </a:solidFill>
              <a:latin typeface="+mn-lt"/>
            </a:endParaRPr>
          </a:p>
        </p:txBody>
      </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597170" y="4267187"/>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5</a:t>
            </a:r>
            <a:endParaRPr lang="en-US" altLang="en-US" sz="1000" b="0" dirty="0">
              <a:solidFill>
                <a:srgbClr val="FF0000"/>
              </a:solidFill>
              <a:latin typeface="+mn-lt"/>
            </a:endParaRPr>
          </a:p>
        </p:txBody>
      </p:sp>
      <p:sp>
        <p:nvSpPr>
          <p:cNvPr id="78" name="Rectangle 84">
            <a:extLst>
              <a:ext uri="{FF2B5EF4-FFF2-40B4-BE49-F238E27FC236}">
                <a16:creationId xmlns:a16="http://schemas.microsoft.com/office/drawing/2014/main" id="{7A046C92-BD8F-D6E4-F283-2C191D55503D}"/>
              </a:ext>
            </a:extLst>
          </p:cNvPr>
          <p:cNvSpPr>
            <a:spLocks noChangeArrowheads="1"/>
          </p:cNvSpPr>
          <p:nvPr/>
        </p:nvSpPr>
        <p:spPr bwMode="auto">
          <a:xfrm>
            <a:off x="4819834" y="424336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79" name="Rectangle 84">
            <a:extLst>
              <a:ext uri="{FF2B5EF4-FFF2-40B4-BE49-F238E27FC236}">
                <a16:creationId xmlns:a16="http://schemas.microsoft.com/office/drawing/2014/main" id="{81649066-589B-5153-93FD-9056FD1B58BD}"/>
              </a:ext>
            </a:extLst>
          </p:cNvPr>
          <p:cNvSpPr>
            <a:spLocks noChangeArrowheads="1"/>
          </p:cNvSpPr>
          <p:nvPr/>
        </p:nvSpPr>
        <p:spPr bwMode="auto">
          <a:xfrm>
            <a:off x="7134023" y="4227325"/>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1</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098629"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S</a:t>
            </a:r>
          </a:p>
          <a:p>
            <a:pPr algn="l"/>
            <a:r>
              <a:rPr lang="en-US" altLang="en-US" sz="1000" b="0" dirty="0">
                <a:solidFill>
                  <a:schemeClr val="tx1"/>
                </a:solidFill>
                <a:latin typeface="+mn-lt"/>
              </a:rPr>
              <a:t>C/O Time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5 Machines</a:t>
            </a:r>
          </a:p>
          <a:p>
            <a:pPr algn="l"/>
            <a:endParaRPr lang="en-US" altLang="en-US" sz="1000" b="0" dirty="0">
              <a:solidFill>
                <a:schemeClr val="tx1"/>
              </a:solidFill>
              <a:latin typeface="+mn-lt"/>
            </a:endParaRPr>
          </a:p>
        </p:txBody>
      </p:sp>
      <p:sp>
        <p:nvSpPr>
          <p:cNvPr id="81" name="Rectangle 18">
            <a:extLst>
              <a:ext uri="{FF2B5EF4-FFF2-40B4-BE49-F238E27FC236}">
                <a16:creationId xmlns:a16="http://schemas.microsoft.com/office/drawing/2014/main" id="{317414E6-3B11-1AC1-E86C-C50F8CD76723}"/>
              </a:ext>
            </a:extLst>
          </p:cNvPr>
          <p:cNvSpPr>
            <a:spLocks noChangeArrowheads="1"/>
          </p:cNvSpPr>
          <p:nvPr/>
        </p:nvSpPr>
        <p:spPr bwMode="auto">
          <a:xfrm>
            <a:off x="4331496"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S</a:t>
            </a:r>
          </a:p>
          <a:p>
            <a:pPr algn="l"/>
            <a:r>
              <a:rPr lang="en-US" altLang="en-US" sz="1000" b="0" dirty="0">
                <a:solidFill>
                  <a:schemeClr val="tx1"/>
                </a:solidFill>
                <a:latin typeface="+mn-lt"/>
              </a:rPr>
              <a:t>C/O Time = 30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p:txBody>
      </p:sp>
      <p:sp>
        <p:nvSpPr>
          <p:cNvPr id="82" name="Rectangle 18">
            <a:extLst>
              <a:ext uri="{FF2B5EF4-FFF2-40B4-BE49-F238E27FC236}">
                <a16:creationId xmlns:a16="http://schemas.microsoft.com/office/drawing/2014/main" id="{195BC116-CB7A-2D06-C5E0-A57C16F95072}"/>
              </a:ext>
            </a:extLst>
          </p:cNvPr>
          <p:cNvSpPr>
            <a:spLocks noChangeArrowheads="1"/>
          </p:cNvSpPr>
          <p:nvPr/>
        </p:nvSpPr>
        <p:spPr bwMode="auto">
          <a:xfrm>
            <a:off x="6662602" y="46364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20 S</a:t>
            </a:r>
          </a:p>
          <a:p>
            <a:pPr algn="l"/>
            <a:r>
              <a:rPr lang="en-US" altLang="en-US" sz="1000" b="0" dirty="0">
                <a:solidFill>
                  <a:schemeClr val="tx1"/>
                </a:solidFill>
                <a:latin typeface="+mn-lt"/>
              </a:rPr>
              <a:t>C/O Time = 120 M</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85%</a:t>
            </a: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067986" y="4804513"/>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876817" y="20505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22" name="Group 121">
            <a:extLst>
              <a:ext uri="{FF2B5EF4-FFF2-40B4-BE49-F238E27FC236}">
                <a16:creationId xmlns:a16="http://schemas.microsoft.com/office/drawing/2014/main" id="{8E6F0348-B167-128F-9484-5AA4BD4CA07F}"/>
              </a:ext>
            </a:extLst>
          </p:cNvPr>
          <p:cNvGrpSpPr/>
          <p:nvPr/>
        </p:nvGrpSpPr>
        <p:grpSpPr>
          <a:xfrm>
            <a:off x="1051512" y="5416631"/>
            <a:ext cx="8023015" cy="561992"/>
            <a:chOff x="2231195" y="9983474"/>
            <a:chExt cx="16050210" cy="1124278"/>
          </a:xfrm>
        </p:grpSpPr>
        <p:grpSp>
          <p:nvGrpSpPr>
            <p:cNvPr id="123" name="Group 87">
              <a:extLst>
                <a:ext uri="{FF2B5EF4-FFF2-40B4-BE49-F238E27FC236}">
                  <a16:creationId xmlns:a16="http://schemas.microsoft.com/office/drawing/2014/main" id="{B74515F4-833A-E5F4-52BD-FBFC0008E9C7}"/>
                </a:ext>
              </a:extLst>
            </p:cNvPr>
            <p:cNvGrpSpPr>
              <a:grpSpLocks/>
            </p:cNvGrpSpPr>
            <p:nvPr/>
          </p:nvGrpSpPr>
          <p:grpSpPr bwMode="auto">
            <a:xfrm>
              <a:off x="2231195" y="10447974"/>
              <a:ext cx="16050210" cy="622242"/>
              <a:chOff x="577" y="3222"/>
              <a:chExt cx="3916" cy="141"/>
            </a:xfrm>
          </p:grpSpPr>
          <p:sp>
            <p:nvSpPr>
              <p:cNvPr id="131" name="Line 88">
                <a:extLst>
                  <a:ext uri="{FF2B5EF4-FFF2-40B4-BE49-F238E27FC236}">
                    <a16:creationId xmlns:a16="http://schemas.microsoft.com/office/drawing/2014/main" id="{B2C6283F-D34B-64EB-1751-D7E22B2E91E1}"/>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2" name="Line 89">
                <a:extLst>
                  <a:ext uri="{FF2B5EF4-FFF2-40B4-BE49-F238E27FC236}">
                    <a16:creationId xmlns:a16="http://schemas.microsoft.com/office/drawing/2014/main" id="{6AFE7ACA-8B23-23B9-5B66-B4621DD58A5A}"/>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3" name="Line 90">
                <a:extLst>
                  <a:ext uri="{FF2B5EF4-FFF2-40B4-BE49-F238E27FC236}">
                    <a16:creationId xmlns:a16="http://schemas.microsoft.com/office/drawing/2014/main" id="{AEB371D0-6121-231A-3CE5-004693B6996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4" name="Line 91">
                <a:extLst>
                  <a:ext uri="{FF2B5EF4-FFF2-40B4-BE49-F238E27FC236}">
                    <a16:creationId xmlns:a16="http://schemas.microsoft.com/office/drawing/2014/main" id="{B8DF5ED0-ACA6-9308-5E86-E2B0DF7C9C1D}"/>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5" name="Line 92">
                <a:extLst>
                  <a:ext uri="{FF2B5EF4-FFF2-40B4-BE49-F238E27FC236}">
                    <a16:creationId xmlns:a16="http://schemas.microsoft.com/office/drawing/2014/main" id="{E3B40B8A-7089-5EC0-A89A-5B247E8602B7}"/>
                  </a:ext>
                </a:extLst>
              </p:cNvPr>
              <p:cNvSpPr>
                <a:spLocks noChangeShapeType="1"/>
              </p:cNvSpPr>
              <p:nvPr/>
            </p:nvSpPr>
            <p:spPr bwMode="auto">
              <a:xfrm>
                <a:off x="2148"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6" name="Line 93">
                <a:extLst>
                  <a:ext uri="{FF2B5EF4-FFF2-40B4-BE49-F238E27FC236}">
                    <a16:creationId xmlns:a16="http://schemas.microsoft.com/office/drawing/2014/main" id="{9C693E60-D97B-D63D-6EDB-AB4493548CC2}"/>
                  </a:ext>
                </a:extLst>
              </p:cNvPr>
              <p:cNvSpPr>
                <a:spLocks noChangeShapeType="1"/>
              </p:cNvSpPr>
              <p:nvPr/>
            </p:nvSpPr>
            <p:spPr bwMode="auto">
              <a:xfrm>
                <a:off x="1538" y="3226"/>
                <a:ext cx="60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7" name="Line 94">
                <a:extLst>
                  <a:ext uri="{FF2B5EF4-FFF2-40B4-BE49-F238E27FC236}">
                    <a16:creationId xmlns:a16="http://schemas.microsoft.com/office/drawing/2014/main" id="{9F4E413B-B408-7CE8-7A94-5760C68F8857}"/>
                  </a:ext>
                </a:extLst>
              </p:cNvPr>
              <p:cNvSpPr>
                <a:spLocks noChangeShapeType="1"/>
              </p:cNvSpPr>
              <p:nvPr/>
            </p:nvSpPr>
            <p:spPr bwMode="auto">
              <a:xfrm>
                <a:off x="267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8" name="Line 95">
                <a:extLst>
                  <a:ext uri="{FF2B5EF4-FFF2-40B4-BE49-F238E27FC236}">
                    <a16:creationId xmlns:a16="http://schemas.microsoft.com/office/drawing/2014/main" id="{616B72D2-C696-7538-9F17-CC0DCB493259}"/>
                  </a:ext>
                </a:extLst>
              </p:cNvPr>
              <p:cNvSpPr>
                <a:spLocks noChangeShapeType="1"/>
              </p:cNvSpPr>
              <p:nvPr/>
            </p:nvSpPr>
            <p:spPr bwMode="auto">
              <a:xfrm>
                <a:off x="3285"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39" name="Line 96">
                <a:extLst>
                  <a:ext uri="{FF2B5EF4-FFF2-40B4-BE49-F238E27FC236}">
                    <a16:creationId xmlns:a16="http://schemas.microsoft.com/office/drawing/2014/main" id="{555BECC8-C258-5AE9-6638-3BAC7D1275D4}"/>
                  </a:ext>
                </a:extLst>
              </p:cNvPr>
              <p:cNvSpPr>
                <a:spLocks noChangeShapeType="1"/>
              </p:cNvSpPr>
              <p:nvPr/>
            </p:nvSpPr>
            <p:spPr bwMode="auto">
              <a:xfrm>
                <a:off x="3813"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0" name="Line 97">
                <a:extLst>
                  <a:ext uri="{FF2B5EF4-FFF2-40B4-BE49-F238E27FC236}">
                    <a16:creationId xmlns:a16="http://schemas.microsoft.com/office/drawing/2014/main" id="{ECFC7B5E-3A27-06FD-ADED-3454BF7FEC01}"/>
                  </a:ext>
                </a:extLst>
              </p:cNvPr>
              <p:cNvSpPr>
                <a:spLocks noChangeShapeType="1"/>
              </p:cNvSpPr>
              <p:nvPr/>
            </p:nvSpPr>
            <p:spPr bwMode="auto">
              <a:xfrm flipV="1">
                <a:off x="2146"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1" name="Line 98">
                <a:extLst>
                  <a:ext uri="{FF2B5EF4-FFF2-40B4-BE49-F238E27FC236}">
                    <a16:creationId xmlns:a16="http://schemas.microsoft.com/office/drawing/2014/main" id="{D1069543-7974-EE54-33FE-ECBC9D103989}"/>
                  </a:ext>
                </a:extLst>
              </p:cNvPr>
              <p:cNvSpPr>
                <a:spLocks noChangeShapeType="1"/>
              </p:cNvSpPr>
              <p:nvPr/>
            </p:nvSpPr>
            <p:spPr bwMode="auto">
              <a:xfrm flipV="1">
                <a:off x="328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2" name="Line 99">
                <a:extLst>
                  <a:ext uri="{FF2B5EF4-FFF2-40B4-BE49-F238E27FC236}">
                    <a16:creationId xmlns:a16="http://schemas.microsoft.com/office/drawing/2014/main" id="{AA06A6D7-DEB1-D07D-06A7-0346024E27B7}"/>
                  </a:ext>
                </a:extLst>
              </p:cNvPr>
              <p:cNvSpPr>
                <a:spLocks noChangeShapeType="1"/>
              </p:cNvSpPr>
              <p:nvPr/>
            </p:nvSpPr>
            <p:spPr bwMode="auto">
              <a:xfrm>
                <a:off x="2671" y="3226"/>
                <a:ext cx="611"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3" name="Line 100">
                <a:extLst>
                  <a:ext uri="{FF2B5EF4-FFF2-40B4-BE49-F238E27FC236}">
                    <a16:creationId xmlns:a16="http://schemas.microsoft.com/office/drawing/2014/main" id="{A7B0E313-1596-D1C5-8A52-D9FC9813E9C8}"/>
                  </a:ext>
                </a:extLst>
              </p:cNvPr>
              <p:cNvSpPr>
                <a:spLocks noChangeShapeType="1"/>
              </p:cNvSpPr>
              <p:nvPr/>
            </p:nvSpPr>
            <p:spPr bwMode="auto">
              <a:xfrm>
                <a:off x="3819" y="3226"/>
                <a:ext cx="67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24" name="Rectangle 106">
              <a:extLst>
                <a:ext uri="{FF2B5EF4-FFF2-40B4-BE49-F238E27FC236}">
                  <a16:creationId xmlns:a16="http://schemas.microsoft.com/office/drawing/2014/main" id="{36223517-C7C8-107C-8D41-BF8476A52E9C}"/>
                </a:ext>
              </a:extLst>
            </p:cNvPr>
            <p:cNvSpPr>
              <a:spLocks noChangeArrowheads="1"/>
            </p:cNvSpPr>
            <p:nvPr/>
          </p:nvSpPr>
          <p:spPr bwMode="auto">
            <a:xfrm>
              <a:off x="9166685"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sec</a:t>
              </a:r>
            </a:p>
          </p:txBody>
        </p:sp>
        <p:sp>
          <p:nvSpPr>
            <p:cNvPr id="125" name="Rectangle 106">
              <a:extLst>
                <a:ext uri="{FF2B5EF4-FFF2-40B4-BE49-F238E27FC236}">
                  <a16:creationId xmlns:a16="http://schemas.microsoft.com/office/drawing/2014/main" id="{23D015AC-0167-0089-62D7-12B885D849A0}"/>
                </a:ext>
              </a:extLst>
            </p:cNvPr>
            <p:cNvSpPr>
              <a:spLocks noChangeArrowheads="1"/>
            </p:cNvSpPr>
            <p:nvPr/>
          </p:nvSpPr>
          <p:spPr bwMode="auto">
            <a:xfrm>
              <a:off x="450579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60 sec</a:t>
              </a:r>
            </a:p>
          </p:txBody>
        </p:sp>
        <p:sp>
          <p:nvSpPr>
            <p:cNvPr id="126" name="Rectangle 106">
              <a:extLst>
                <a:ext uri="{FF2B5EF4-FFF2-40B4-BE49-F238E27FC236}">
                  <a16:creationId xmlns:a16="http://schemas.microsoft.com/office/drawing/2014/main" id="{FD45F9A2-8F3A-29CA-7181-2A559A6976E9}"/>
                </a:ext>
              </a:extLst>
            </p:cNvPr>
            <p:cNvSpPr>
              <a:spLocks noChangeArrowheads="1"/>
            </p:cNvSpPr>
            <p:nvPr/>
          </p:nvSpPr>
          <p:spPr bwMode="auto">
            <a:xfrm>
              <a:off x="13820259" y="10553609"/>
              <a:ext cx="1158670"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20 sec</a:t>
              </a:r>
            </a:p>
          </p:txBody>
        </p:sp>
        <p:sp>
          <p:nvSpPr>
            <p:cNvPr id="127" name="Rectangle 106">
              <a:extLst>
                <a:ext uri="{FF2B5EF4-FFF2-40B4-BE49-F238E27FC236}">
                  <a16:creationId xmlns:a16="http://schemas.microsoft.com/office/drawing/2014/main" id="{77831870-052D-C4A0-6E83-FA1931665B7C}"/>
                </a:ext>
              </a:extLst>
            </p:cNvPr>
            <p:cNvSpPr>
              <a:spLocks noChangeArrowheads="1"/>
            </p:cNvSpPr>
            <p:nvPr/>
          </p:nvSpPr>
          <p:spPr bwMode="auto">
            <a:xfrm>
              <a:off x="2347439" y="10003961"/>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8.5 days</a:t>
              </a:r>
            </a:p>
          </p:txBody>
        </p:sp>
        <p:sp>
          <p:nvSpPr>
            <p:cNvPr id="128" name="Rectangle 106">
              <a:extLst>
                <a:ext uri="{FF2B5EF4-FFF2-40B4-BE49-F238E27FC236}">
                  <a16:creationId xmlns:a16="http://schemas.microsoft.com/office/drawing/2014/main" id="{C22FCC6D-9F7D-7486-7791-0FCC7CE7EEF5}"/>
                </a:ext>
              </a:extLst>
            </p:cNvPr>
            <p:cNvSpPr>
              <a:spLocks noChangeArrowheads="1"/>
            </p:cNvSpPr>
            <p:nvPr/>
          </p:nvSpPr>
          <p:spPr bwMode="auto">
            <a:xfrm>
              <a:off x="6709627"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3.5 days</a:t>
              </a:r>
            </a:p>
          </p:txBody>
        </p:sp>
        <p:sp>
          <p:nvSpPr>
            <p:cNvPr id="129" name="Rectangle 106">
              <a:extLst>
                <a:ext uri="{FF2B5EF4-FFF2-40B4-BE49-F238E27FC236}">
                  <a16:creationId xmlns:a16="http://schemas.microsoft.com/office/drawing/2014/main" id="{1FD83E87-BAF4-C1E8-1B46-2BF66EE6BA97}"/>
                </a:ext>
              </a:extLst>
            </p:cNvPr>
            <p:cNvSpPr>
              <a:spLocks noChangeArrowheads="1"/>
            </p:cNvSpPr>
            <p:nvPr/>
          </p:nvSpPr>
          <p:spPr bwMode="auto">
            <a:xfrm>
              <a:off x="11367734" y="10008375"/>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6.2 days</a:t>
              </a:r>
            </a:p>
          </p:txBody>
        </p:sp>
        <p:sp>
          <p:nvSpPr>
            <p:cNvPr id="130" name="Rectangle 106">
              <a:extLst>
                <a:ext uri="{FF2B5EF4-FFF2-40B4-BE49-F238E27FC236}">
                  <a16:creationId xmlns:a16="http://schemas.microsoft.com/office/drawing/2014/main" id="{71903CD6-52DB-B1C0-B479-0F562902A5A0}"/>
                </a:ext>
              </a:extLst>
            </p:cNvPr>
            <p:cNvSpPr>
              <a:spLocks noChangeArrowheads="1"/>
            </p:cNvSpPr>
            <p:nvPr/>
          </p:nvSpPr>
          <p:spPr bwMode="auto">
            <a:xfrm>
              <a:off x="16199949" y="9983474"/>
              <a:ext cx="1410217" cy="554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mn-lt"/>
                </a:rPr>
                <a:t>1.5 days</a:t>
              </a:r>
            </a:p>
          </p:txBody>
        </p:sp>
      </p:grpSp>
      <p:grpSp>
        <p:nvGrpSpPr>
          <p:cNvPr id="144" name="Group 29">
            <a:extLst>
              <a:ext uri="{FF2B5EF4-FFF2-40B4-BE49-F238E27FC236}">
                <a16:creationId xmlns:a16="http://schemas.microsoft.com/office/drawing/2014/main" id="{D2EA4479-F856-A598-2C20-10CB0A694D4B}"/>
              </a:ext>
            </a:extLst>
          </p:cNvPr>
          <p:cNvGrpSpPr>
            <a:grpSpLocks/>
          </p:cNvGrpSpPr>
          <p:nvPr/>
        </p:nvGrpSpPr>
        <p:grpSpPr bwMode="auto">
          <a:xfrm>
            <a:off x="9214561" y="5337196"/>
            <a:ext cx="1694965" cy="581473"/>
            <a:chOff x="3493" y="1604"/>
            <a:chExt cx="994" cy="341"/>
          </a:xfrm>
        </p:grpSpPr>
        <p:sp>
          <p:nvSpPr>
            <p:cNvPr id="145" name="Rectangle 30">
              <a:extLst>
                <a:ext uri="{FF2B5EF4-FFF2-40B4-BE49-F238E27FC236}">
                  <a16:creationId xmlns:a16="http://schemas.microsoft.com/office/drawing/2014/main" id="{6DE67F35-607C-2B09-2C8E-B97B27A028C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6" name="Text Box 31">
              <a:extLst>
                <a:ext uri="{FF2B5EF4-FFF2-40B4-BE49-F238E27FC236}">
                  <a16:creationId xmlns:a16="http://schemas.microsoft.com/office/drawing/2014/main" id="{01E0D36F-874A-66E7-778A-C67DB4562443}"/>
                </a:ext>
              </a:extLst>
            </p:cNvPr>
            <p:cNvSpPr txBox="1">
              <a:spLocks noChangeArrowheads="1"/>
            </p:cNvSpPr>
            <p:nvPr/>
          </p:nvSpPr>
          <p:spPr bwMode="auto">
            <a:xfrm>
              <a:off x="3493" y="1689"/>
              <a:ext cx="97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Production L.T. = 19.7 days</a:t>
              </a:r>
            </a:p>
            <a:p>
              <a:pPr>
                <a:lnSpc>
                  <a:spcPct val="100000"/>
                </a:lnSpc>
                <a:spcBef>
                  <a:spcPct val="35000"/>
                </a:spcBef>
              </a:pPr>
              <a:r>
                <a:rPr lang="en-US" altLang="en-US" b="0" dirty="0">
                  <a:solidFill>
                    <a:schemeClr val="tx1"/>
                  </a:solidFill>
                  <a:latin typeface="+mn-lt"/>
                </a:rPr>
                <a:t>Processing Time = 95 seconds</a:t>
              </a:r>
            </a:p>
          </p:txBody>
        </p:sp>
        <p:sp>
          <p:nvSpPr>
            <p:cNvPr id="147" name="Line 32">
              <a:extLst>
                <a:ext uri="{FF2B5EF4-FFF2-40B4-BE49-F238E27FC236}">
                  <a16:creationId xmlns:a16="http://schemas.microsoft.com/office/drawing/2014/main" id="{0477D0E0-D32F-B182-E3B3-05BEE9D6EE5D}"/>
                </a:ext>
              </a:extLst>
            </p:cNvPr>
            <p:cNvSpPr>
              <a:spLocks noChangeShapeType="1"/>
            </p:cNvSpPr>
            <p:nvPr/>
          </p:nvSpPr>
          <p:spPr bwMode="auto">
            <a:xfrm>
              <a:off x="3526" y="1795"/>
              <a:ext cx="937"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9" name="Group 178">
            <a:extLst>
              <a:ext uri="{FF2B5EF4-FFF2-40B4-BE49-F238E27FC236}">
                <a16:creationId xmlns:a16="http://schemas.microsoft.com/office/drawing/2014/main" id="{61A08EE3-88BD-6065-1263-5195012F2AF9}"/>
              </a:ext>
            </a:extLst>
          </p:cNvPr>
          <p:cNvGrpSpPr/>
          <p:nvPr/>
        </p:nvGrpSpPr>
        <p:grpSpPr>
          <a:xfrm>
            <a:off x="2057654" y="2164102"/>
            <a:ext cx="7086314" cy="1843634"/>
            <a:chOff x="1503363" y="2027239"/>
            <a:chExt cx="5718175" cy="2271712"/>
          </a:xfrm>
        </p:grpSpPr>
        <p:grpSp>
          <p:nvGrpSpPr>
            <p:cNvPr id="153" name="Group 108">
              <a:extLst>
                <a:ext uri="{FF2B5EF4-FFF2-40B4-BE49-F238E27FC236}">
                  <a16:creationId xmlns:a16="http://schemas.microsoft.com/office/drawing/2014/main" id="{0DDAB2D9-253F-3DA1-AFA2-69F2A0F54BA1}"/>
                </a:ext>
              </a:extLst>
            </p:cNvPr>
            <p:cNvGrpSpPr>
              <a:grpSpLocks/>
            </p:cNvGrpSpPr>
            <p:nvPr/>
          </p:nvGrpSpPr>
          <p:grpSpPr bwMode="auto">
            <a:xfrm>
              <a:off x="1503363" y="2211389"/>
              <a:ext cx="2368550" cy="398462"/>
              <a:chOff x="947" y="1393"/>
              <a:chExt cx="1492" cy="251"/>
            </a:xfrm>
          </p:grpSpPr>
          <p:grpSp>
            <p:nvGrpSpPr>
              <p:cNvPr id="154" name="Group 109">
                <a:extLst>
                  <a:ext uri="{FF2B5EF4-FFF2-40B4-BE49-F238E27FC236}">
                    <a16:creationId xmlns:a16="http://schemas.microsoft.com/office/drawing/2014/main" id="{ED2E831C-C9A7-A3AA-613B-AF980FD9957C}"/>
                  </a:ext>
                </a:extLst>
              </p:cNvPr>
              <p:cNvGrpSpPr>
                <a:grpSpLocks/>
              </p:cNvGrpSpPr>
              <p:nvPr/>
            </p:nvGrpSpPr>
            <p:grpSpPr bwMode="auto">
              <a:xfrm>
                <a:off x="947" y="1481"/>
                <a:ext cx="1492" cy="51"/>
                <a:chOff x="947" y="1576"/>
                <a:chExt cx="1492" cy="51"/>
              </a:xfrm>
            </p:grpSpPr>
            <p:sp>
              <p:nvSpPr>
                <p:cNvPr id="156" name="Line 110">
                  <a:extLst>
                    <a:ext uri="{FF2B5EF4-FFF2-40B4-BE49-F238E27FC236}">
                      <a16:creationId xmlns:a16="http://schemas.microsoft.com/office/drawing/2014/main" id="{4A1FD282-BEE7-4D67-6360-B4FEA45757DC}"/>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57" name="Line 111">
                  <a:extLst>
                    <a:ext uri="{FF2B5EF4-FFF2-40B4-BE49-F238E27FC236}">
                      <a16:creationId xmlns:a16="http://schemas.microsoft.com/office/drawing/2014/main" id="{31A77ACE-0AB9-8AC7-4BD6-D592E8C223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58" name="Line 112">
                  <a:extLst>
                    <a:ext uri="{FF2B5EF4-FFF2-40B4-BE49-F238E27FC236}">
                      <a16:creationId xmlns:a16="http://schemas.microsoft.com/office/drawing/2014/main" id="{B213BB2F-F147-31F1-8A36-72208E332E47}"/>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55" name="Rectangle 113">
                <a:extLst>
                  <a:ext uri="{FF2B5EF4-FFF2-40B4-BE49-F238E27FC236}">
                    <a16:creationId xmlns:a16="http://schemas.microsoft.com/office/drawing/2014/main" id="{076A17B3-C496-538B-8554-1B402A6D91C4}"/>
                  </a:ext>
                </a:extLst>
              </p:cNvPr>
              <p:cNvSpPr>
                <a:spLocks noChangeArrowheads="1"/>
              </p:cNvSpPr>
              <p:nvPr/>
            </p:nvSpPr>
            <p:spPr bwMode="auto">
              <a:xfrm>
                <a:off x="1689" y="1393"/>
                <a:ext cx="417"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Monthly P.O.</a:t>
                </a:r>
              </a:p>
              <a:p>
                <a:pPr>
                  <a:lnSpc>
                    <a:spcPct val="90000"/>
                  </a:lnSpc>
                  <a:spcBef>
                    <a:spcPct val="0"/>
                  </a:spcBef>
                </a:pPr>
                <a:r>
                  <a:rPr lang="en-US" altLang="en-US" sz="1000" b="0" dirty="0">
                    <a:solidFill>
                      <a:schemeClr val="tx1"/>
                    </a:solidFill>
                    <a:latin typeface="+mn-lt"/>
                  </a:rPr>
                  <a:t>(Faxed)</a:t>
                </a:r>
              </a:p>
            </p:txBody>
          </p:sp>
        </p:grpSp>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39"/>
              <a:ext cx="974725" cy="709613"/>
              <a:chOff x="2440" y="1277"/>
              <a:chExt cx="614" cy="447"/>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7" name="Rectangle 122">
                <a:extLst>
                  <a:ext uri="{FF2B5EF4-FFF2-40B4-BE49-F238E27FC236}">
                    <a16:creationId xmlns:a16="http://schemas.microsoft.com/office/drawing/2014/main" id="{469072C4-49F0-22AC-FC98-C2579A70DFD2}"/>
                  </a:ext>
                </a:extLst>
              </p:cNvPr>
              <p:cNvSpPr>
                <a:spLocks noChangeArrowheads="1"/>
              </p:cNvSpPr>
              <p:nvPr/>
            </p:nvSpPr>
            <p:spPr bwMode="auto">
              <a:xfrm>
                <a:off x="2510" y="1455"/>
                <a:ext cx="473" cy="251"/>
              </a:xfrm>
              <a:prstGeom prst="rect">
                <a:avLst/>
              </a:prstGeom>
              <a:solidFill>
                <a:schemeClr val="bg1"/>
              </a:solidFill>
              <a:ln w="12700"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MRP</a:t>
                </a:r>
              </a:p>
              <a:p>
                <a:pPr>
                  <a:lnSpc>
                    <a:spcPct val="90000"/>
                  </a:lnSpc>
                  <a:spcBef>
                    <a:spcPct val="0"/>
                  </a:spcBef>
                </a:pPr>
                <a:r>
                  <a:rPr lang="en-US" altLang="en-US" sz="1000" b="0" dirty="0">
                    <a:solidFill>
                      <a:schemeClr val="tx1"/>
                    </a:solidFill>
                    <a:latin typeface="+mn-lt"/>
                  </a:rPr>
                  <a:t>System</a:t>
                </a: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46" y="1283"/>
                <a:ext cx="59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mn-lt"/>
                  </a:rPr>
                  <a:t>Production Control</a:t>
                </a:r>
              </a:p>
            </p:txBody>
          </p:sp>
        </p:grpSp>
        <p:grpSp>
          <p:nvGrpSpPr>
            <p:cNvPr id="169" name="Group 124">
              <a:extLst>
                <a:ext uri="{FF2B5EF4-FFF2-40B4-BE49-F238E27FC236}">
                  <a16:creationId xmlns:a16="http://schemas.microsoft.com/office/drawing/2014/main" id="{342A0137-9FBC-FDFC-EB17-CAF0BD86F398}"/>
                </a:ext>
              </a:extLst>
            </p:cNvPr>
            <p:cNvGrpSpPr>
              <a:grpSpLocks/>
            </p:cNvGrpSpPr>
            <p:nvPr/>
          </p:nvGrpSpPr>
          <p:grpSpPr bwMode="auto">
            <a:xfrm>
              <a:off x="2027238" y="2736850"/>
              <a:ext cx="3603624" cy="1562101"/>
              <a:chOff x="1277" y="1724"/>
              <a:chExt cx="2270" cy="984"/>
            </a:xfrm>
          </p:grpSpPr>
          <p:sp>
            <p:nvSpPr>
              <p:cNvPr id="170" name="Line 125">
                <a:extLst>
                  <a:ext uri="{FF2B5EF4-FFF2-40B4-BE49-F238E27FC236}">
                    <a16:creationId xmlns:a16="http://schemas.microsoft.com/office/drawing/2014/main" id="{5A00D3C0-7722-8329-74F4-C69290B99512}"/>
                  </a:ext>
                </a:extLst>
              </p:cNvPr>
              <p:cNvSpPr>
                <a:spLocks noChangeShapeType="1"/>
              </p:cNvSpPr>
              <p:nvPr/>
            </p:nvSpPr>
            <p:spPr bwMode="auto">
              <a:xfrm flipH="1">
                <a:off x="1277" y="1724"/>
                <a:ext cx="1245" cy="984"/>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1" name="Line 126">
                <a:extLst>
                  <a:ext uri="{FF2B5EF4-FFF2-40B4-BE49-F238E27FC236}">
                    <a16:creationId xmlns:a16="http://schemas.microsoft.com/office/drawing/2014/main" id="{EBAAFCD9-9BA3-6934-7CC7-F0F9017A12C7}"/>
                  </a:ext>
                </a:extLst>
              </p:cNvPr>
              <p:cNvSpPr>
                <a:spLocks noChangeShapeType="1"/>
              </p:cNvSpPr>
              <p:nvPr/>
            </p:nvSpPr>
            <p:spPr bwMode="auto">
              <a:xfrm flipH="1">
                <a:off x="2410" y="1727"/>
                <a:ext cx="259" cy="938"/>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2" name="Line 127">
                <a:extLst>
                  <a:ext uri="{FF2B5EF4-FFF2-40B4-BE49-F238E27FC236}">
                    <a16:creationId xmlns:a16="http://schemas.microsoft.com/office/drawing/2014/main" id="{E648D7E7-C406-C8F9-93A9-05AA06192ADF}"/>
                  </a:ext>
                </a:extLst>
              </p:cNvPr>
              <p:cNvSpPr>
                <a:spLocks noChangeShapeType="1"/>
              </p:cNvSpPr>
              <p:nvPr/>
            </p:nvSpPr>
            <p:spPr bwMode="auto">
              <a:xfrm>
                <a:off x="2818" y="1731"/>
                <a:ext cx="729" cy="917"/>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3" name="Rectangle 128">
                <a:extLst>
                  <a:ext uri="{FF2B5EF4-FFF2-40B4-BE49-F238E27FC236}">
                    <a16:creationId xmlns:a16="http://schemas.microsoft.com/office/drawing/2014/main" id="{FA934379-9FDC-9A85-A6F1-BF4A170E73E9}"/>
                  </a:ext>
                </a:extLst>
              </p:cNvPr>
              <p:cNvSpPr>
                <a:spLocks noChangeArrowheads="1"/>
              </p:cNvSpPr>
              <p:nvPr/>
            </p:nvSpPr>
            <p:spPr bwMode="auto">
              <a:xfrm>
                <a:off x="1660" y="2001"/>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4" name="Rectangle 129">
                <a:extLst>
                  <a:ext uri="{FF2B5EF4-FFF2-40B4-BE49-F238E27FC236}">
                    <a16:creationId xmlns:a16="http://schemas.microsoft.com/office/drawing/2014/main" id="{E2C0CD5A-CC6D-9488-1230-3CAAD8DCCD3C}"/>
                  </a:ext>
                </a:extLst>
              </p:cNvPr>
              <p:cNvSpPr>
                <a:spLocks noChangeArrowheads="1"/>
              </p:cNvSpPr>
              <p:nvPr/>
            </p:nvSpPr>
            <p:spPr bwMode="auto">
              <a:xfrm>
                <a:off x="2310"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sp>
            <p:nvSpPr>
              <p:cNvPr id="175" name="Rectangle 130">
                <a:extLst>
                  <a:ext uri="{FF2B5EF4-FFF2-40B4-BE49-F238E27FC236}">
                    <a16:creationId xmlns:a16="http://schemas.microsoft.com/office/drawing/2014/main" id="{A1919315-5CAF-5E91-BF80-7CAA87020470}"/>
                  </a:ext>
                </a:extLst>
              </p:cNvPr>
              <p:cNvSpPr>
                <a:spLocks noChangeArrowheads="1"/>
              </p:cNvSpPr>
              <p:nvPr/>
            </p:nvSpPr>
            <p:spPr bwMode="auto">
              <a:xfrm>
                <a:off x="3058" y="2007"/>
                <a:ext cx="415"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 Build</a:t>
                </a:r>
              </a:p>
              <a:p>
                <a:pPr>
                  <a:lnSpc>
                    <a:spcPct val="90000"/>
                  </a:lnSpc>
                  <a:spcBef>
                    <a:spcPct val="0"/>
                  </a:spcBef>
                </a:pPr>
                <a:r>
                  <a:rPr lang="en-US" altLang="en-US" sz="1000" b="0" dirty="0">
                    <a:solidFill>
                      <a:schemeClr val="tx1"/>
                    </a:solidFill>
                    <a:latin typeface="+mn-lt"/>
                  </a:rPr>
                  <a:t>Schedule</a:t>
                </a:r>
              </a:p>
              <a:p>
                <a:pPr>
                  <a:lnSpc>
                    <a:spcPct val="90000"/>
                  </a:lnSpc>
                  <a:spcBef>
                    <a:spcPct val="0"/>
                  </a:spcBef>
                </a:pPr>
                <a:r>
                  <a:rPr lang="en-US" altLang="en-US" sz="1000" b="0" dirty="0">
                    <a:solidFill>
                      <a:schemeClr val="tx1"/>
                    </a:solidFill>
                    <a:latin typeface="+mn-lt"/>
                  </a:rPr>
                  <a:t>Paper</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107" name="AutoShape 147">
            <a:extLst>
              <a:ext uri="{FF2B5EF4-FFF2-40B4-BE49-F238E27FC236}">
                <a16:creationId xmlns:a16="http://schemas.microsoft.com/office/drawing/2014/main" id="{C959892F-54BB-9D09-531B-8702617635CD}"/>
              </a:ext>
            </a:extLst>
          </p:cNvPr>
          <p:cNvSpPr>
            <a:spLocks noChangeArrowheads="1"/>
          </p:cNvSpPr>
          <p:nvPr/>
        </p:nvSpPr>
        <p:spPr bwMode="auto">
          <a:xfrm>
            <a:off x="7438436" y="4315086"/>
            <a:ext cx="1442057" cy="1209656"/>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600" b="0" dirty="0">
                <a:solidFill>
                  <a:srgbClr val="EE3228"/>
                </a:solidFill>
                <a:latin typeface="Roboto" panose="02000000000000000000"/>
              </a:rPr>
              <a:t>Improve</a:t>
            </a:r>
          </a:p>
          <a:p>
            <a:pPr>
              <a:lnSpc>
                <a:spcPct val="100000"/>
              </a:lnSpc>
              <a:spcBef>
                <a:spcPct val="0"/>
              </a:spcBef>
            </a:pPr>
            <a:r>
              <a:rPr lang="en-US" altLang="en-US" sz="1600" b="0" dirty="0">
                <a:solidFill>
                  <a:srgbClr val="EE3228"/>
                </a:solidFill>
                <a:latin typeface="Roboto" panose="02000000000000000000"/>
              </a:rPr>
              <a:t>DOI</a:t>
            </a:r>
          </a:p>
        </p:txBody>
      </p:sp>
      <p:sp>
        <p:nvSpPr>
          <p:cNvPr id="106" name="Rectangle 147">
            <a:extLst>
              <a:ext uri="{FF2B5EF4-FFF2-40B4-BE49-F238E27FC236}">
                <a16:creationId xmlns:a16="http://schemas.microsoft.com/office/drawing/2014/main" id="{1327BA20-4F23-1AF7-654D-E3202DB83A6B}"/>
              </a:ext>
            </a:extLst>
          </p:cNvPr>
          <p:cNvSpPr>
            <a:spLocks noChangeArrowheads="1"/>
          </p:cNvSpPr>
          <p:nvPr/>
        </p:nvSpPr>
        <p:spPr bwMode="auto">
          <a:xfrm>
            <a:off x="4224014" y="3919246"/>
            <a:ext cx="3596178" cy="1603290"/>
          </a:xfrm>
          <a:prstGeom prst="rect">
            <a:avLst/>
          </a:prstGeom>
          <a:noFill/>
          <a:ln w="57150">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108" name="Group 144">
            <a:extLst>
              <a:ext uri="{FF2B5EF4-FFF2-40B4-BE49-F238E27FC236}">
                <a16:creationId xmlns:a16="http://schemas.microsoft.com/office/drawing/2014/main" id="{BEE74CC3-4C44-F081-2409-DA5EB8C141F0}"/>
              </a:ext>
            </a:extLst>
          </p:cNvPr>
          <p:cNvGrpSpPr>
            <a:grpSpLocks/>
          </p:cNvGrpSpPr>
          <p:nvPr/>
        </p:nvGrpSpPr>
        <p:grpSpPr bwMode="auto">
          <a:xfrm>
            <a:off x="5683266" y="4035043"/>
            <a:ext cx="519548" cy="544891"/>
            <a:chOff x="4896" y="3312"/>
            <a:chExt cx="240" cy="240"/>
          </a:xfrm>
        </p:grpSpPr>
        <p:sp>
          <p:nvSpPr>
            <p:cNvPr id="110" name="Oval 145">
              <a:extLst>
                <a:ext uri="{FF2B5EF4-FFF2-40B4-BE49-F238E27FC236}">
                  <a16:creationId xmlns:a16="http://schemas.microsoft.com/office/drawing/2014/main" id="{950B6663-8FB5-4BE9-4520-642E4D20326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2" name="Line 146">
              <a:extLst>
                <a:ext uri="{FF2B5EF4-FFF2-40B4-BE49-F238E27FC236}">
                  <a16:creationId xmlns:a16="http://schemas.microsoft.com/office/drawing/2014/main" id="{5FD8500D-1838-9339-8FDB-7D7C54724765}"/>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13" name="AutoShape 148">
            <a:extLst>
              <a:ext uri="{FF2B5EF4-FFF2-40B4-BE49-F238E27FC236}">
                <a16:creationId xmlns:a16="http://schemas.microsoft.com/office/drawing/2014/main" id="{3B1901E8-1A4B-93D0-EB8B-1CDB20BE09B4}"/>
              </a:ext>
            </a:extLst>
          </p:cNvPr>
          <p:cNvSpPr>
            <a:spLocks noChangeArrowheads="1"/>
          </p:cNvSpPr>
          <p:nvPr/>
        </p:nvSpPr>
        <p:spPr bwMode="auto">
          <a:xfrm>
            <a:off x="3241911" y="4794716"/>
            <a:ext cx="1511036" cy="1025625"/>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dirty="0">
                <a:solidFill>
                  <a:srgbClr val="EE3228"/>
                </a:solidFill>
                <a:latin typeface="Roboto" panose="02000000000000000000"/>
              </a:rPr>
              <a:t>1 pc Flow </a:t>
            </a:r>
          </a:p>
        </p:txBody>
      </p:sp>
      <p:pic>
        <p:nvPicPr>
          <p:cNvPr id="121" name="Graphic 120" descr="Line arrow: Rotate left with solid fill">
            <a:extLst>
              <a:ext uri="{FF2B5EF4-FFF2-40B4-BE49-F238E27FC236}">
                <a16:creationId xmlns:a16="http://schemas.microsoft.com/office/drawing/2014/main" id="{7FEF5898-AF2D-9870-0666-E93785ABF5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3622011" y="3777713"/>
            <a:ext cx="457081" cy="457081"/>
          </a:xfrm>
          <a:prstGeom prst="rect">
            <a:avLst/>
          </a:prstGeom>
        </p:spPr>
      </p:pic>
      <p:pic>
        <p:nvPicPr>
          <p:cNvPr id="148" name="Graphic 147" descr="Line arrow: Rotate left with solid fill">
            <a:extLst>
              <a:ext uri="{FF2B5EF4-FFF2-40B4-BE49-F238E27FC236}">
                <a16:creationId xmlns:a16="http://schemas.microsoft.com/office/drawing/2014/main" id="{040F3F3E-FD26-E269-1A1C-6F34CA8C7D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0800000">
            <a:off x="8044937" y="3784699"/>
            <a:ext cx="457081" cy="457081"/>
          </a:xfrm>
          <a:prstGeom prst="rect">
            <a:avLst/>
          </a:prstGeom>
        </p:spPr>
      </p:pic>
      <p:grpSp>
        <p:nvGrpSpPr>
          <p:cNvPr id="116" name="Group 144">
            <a:extLst>
              <a:ext uri="{FF2B5EF4-FFF2-40B4-BE49-F238E27FC236}">
                <a16:creationId xmlns:a16="http://schemas.microsoft.com/office/drawing/2014/main" id="{57CACF34-FCAA-9F86-679D-8E009C722FCE}"/>
              </a:ext>
            </a:extLst>
          </p:cNvPr>
          <p:cNvGrpSpPr>
            <a:grpSpLocks/>
          </p:cNvGrpSpPr>
          <p:nvPr/>
        </p:nvGrpSpPr>
        <p:grpSpPr bwMode="auto">
          <a:xfrm>
            <a:off x="8297517" y="4047161"/>
            <a:ext cx="447752" cy="473329"/>
            <a:chOff x="4896" y="3312"/>
            <a:chExt cx="240" cy="240"/>
          </a:xfrm>
        </p:grpSpPr>
        <p:sp>
          <p:nvSpPr>
            <p:cNvPr id="117" name="Oval 145">
              <a:extLst>
                <a:ext uri="{FF2B5EF4-FFF2-40B4-BE49-F238E27FC236}">
                  <a16:creationId xmlns:a16="http://schemas.microsoft.com/office/drawing/2014/main" id="{F75640AB-2EB1-7809-D951-07F81F8CEBB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8" name="Line 146">
              <a:extLst>
                <a:ext uri="{FF2B5EF4-FFF2-40B4-BE49-F238E27FC236}">
                  <a16:creationId xmlns:a16="http://schemas.microsoft.com/office/drawing/2014/main" id="{4690B523-2AA8-DBEC-7D5A-8717D78AE60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86" name="Group 173">
            <a:extLst>
              <a:ext uri="{FF2B5EF4-FFF2-40B4-BE49-F238E27FC236}">
                <a16:creationId xmlns:a16="http://schemas.microsoft.com/office/drawing/2014/main" id="{CF9864EA-4646-0008-4F07-C70A04EAE2BC}"/>
              </a:ext>
            </a:extLst>
          </p:cNvPr>
          <p:cNvGrpSpPr>
            <a:grpSpLocks/>
          </p:cNvGrpSpPr>
          <p:nvPr/>
        </p:nvGrpSpPr>
        <p:grpSpPr bwMode="auto">
          <a:xfrm>
            <a:off x="7825038" y="3819297"/>
            <a:ext cx="219899" cy="488081"/>
            <a:chOff x="1336" y="1152"/>
            <a:chExt cx="296" cy="720"/>
          </a:xfrm>
        </p:grpSpPr>
        <p:sp>
          <p:nvSpPr>
            <p:cNvPr id="187" name="Line 174">
              <a:extLst>
                <a:ext uri="{FF2B5EF4-FFF2-40B4-BE49-F238E27FC236}">
                  <a16:creationId xmlns:a16="http://schemas.microsoft.com/office/drawing/2014/main" id="{45FBAFD2-6DD0-8882-EA1B-FB13AF353A1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8" name="Line 175">
              <a:extLst>
                <a:ext uri="{FF2B5EF4-FFF2-40B4-BE49-F238E27FC236}">
                  <a16:creationId xmlns:a16="http://schemas.microsoft.com/office/drawing/2014/main" id="{AC9CBD9F-C539-0F7B-B680-E40D6F47A704}"/>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89" name="Line 176">
              <a:extLst>
                <a:ext uri="{FF2B5EF4-FFF2-40B4-BE49-F238E27FC236}">
                  <a16:creationId xmlns:a16="http://schemas.microsoft.com/office/drawing/2014/main" id="{57F9FFBB-E012-024A-B23B-F57523DB6377}"/>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0" name="Line 177">
              <a:extLst>
                <a:ext uri="{FF2B5EF4-FFF2-40B4-BE49-F238E27FC236}">
                  <a16:creationId xmlns:a16="http://schemas.microsoft.com/office/drawing/2014/main" id="{4A3797B1-A40F-3DCC-6BB0-26C6C26DB4A0}"/>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1" name="Line 178">
              <a:extLst>
                <a:ext uri="{FF2B5EF4-FFF2-40B4-BE49-F238E27FC236}">
                  <a16:creationId xmlns:a16="http://schemas.microsoft.com/office/drawing/2014/main" id="{D2C8B478-F1BC-63B3-3590-50FE61D3CAB7}"/>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2" name="Group 173">
            <a:extLst>
              <a:ext uri="{FF2B5EF4-FFF2-40B4-BE49-F238E27FC236}">
                <a16:creationId xmlns:a16="http://schemas.microsoft.com/office/drawing/2014/main" id="{96D6987A-9E13-9412-4E05-EEF19A697308}"/>
              </a:ext>
            </a:extLst>
          </p:cNvPr>
          <p:cNvGrpSpPr>
            <a:grpSpLocks/>
          </p:cNvGrpSpPr>
          <p:nvPr/>
        </p:nvGrpSpPr>
        <p:grpSpPr bwMode="auto">
          <a:xfrm>
            <a:off x="3119443" y="4036349"/>
            <a:ext cx="219899" cy="488081"/>
            <a:chOff x="1336" y="1152"/>
            <a:chExt cx="296" cy="720"/>
          </a:xfrm>
        </p:grpSpPr>
        <p:sp>
          <p:nvSpPr>
            <p:cNvPr id="193" name="Line 174">
              <a:extLst>
                <a:ext uri="{FF2B5EF4-FFF2-40B4-BE49-F238E27FC236}">
                  <a16:creationId xmlns:a16="http://schemas.microsoft.com/office/drawing/2014/main" id="{CF5B5C87-7D66-6619-D7E6-5F43D26BF9B3}"/>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4" name="Line 175">
              <a:extLst>
                <a:ext uri="{FF2B5EF4-FFF2-40B4-BE49-F238E27FC236}">
                  <a16:creationId xmlns:a16="http://schemas.microsoft.com/office/drawing/2014/main" id="{A857FFE0-0336-00DE-EBDC-AD3BFE49EAA9}"/>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5" name="Line 176">
              <a:extLst>
                <a:ext uri="{FF2B5EF4-FFF2-40B4-BE49-F238E27FC236}">
                  <a16:creationId xmlns:a16="http://schemas.microsoft.com/office/drawing/2014/main" id="{363E069C-CA14-FB7D-B4B3-FD9DB2D494EB}"/>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6" name="Line 177">
              <a:extLst>
                <a:ext uri="{FF2B5EF4-FFF2-40B4-BE49-F238E27FC236}">
                  <a16:creationId xmlns:a16="http://schemas.microsoft.com/office/drawing/2014/main" id="{DF4CC1F2-ED0B-9B68-39D1-748AC19D1CA5}"/>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97" name="Line 178">
              <a:extLst>
                <a:ext uri="{FF2B5EF4-FFF2-40B4-BE49-F238E27FC236}">
                  <a16:creationId xmlns:a16="http://schemas.microsoft.com/office/drawing/2014/main" id="{88012EEA-2510-1948-62F6-30AFE42D3806}"/>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98" name="Group 144">
            <a:extLst>
              <a:ext uri="{FF2B5EF4-FFF2-40B4-BE49-F238E27FC236}">
                <a16:creationId xmlns:a16="http://schemas.microsoft.com/office/drawing/2014/main" id="{B63E0649-30E4-8584-7A72-56D8E32FE9EA}"/>
              </a:ext>
            </a:extLst>
          </p:cNvPr>
          <p:cNvGrpSpPr>
            <a:grpSpLocks/>
          </p:cNvGrpSpPr>
          <p:nvPr/>
        </p:nvGrpSpPr>
        <p:grpSpPr bwMode="auto">
          <a:xfrm>
            <a:off x="3545896" y="4158791"/>
            <a:ext cx="447752" cy="473329"/>
            <a:chOff x="4896" y="3312"/>
            <a:chExt cx="240" cy="240"/>
          </a:xfrm>
        </p:grpSpPr>
        <p:sp>
          <p:nvSpPr>
            <p:cNvPr id="199" name="Oval 145">
              <a:extLst>
                <a:ext uri="{FF2B5EF4-FFF2-40B4-BE49-F238E27FC236}">
                  <a16:creationId xmlns:a16="http://schemas.microsoft.com/office/drawing/2014/main" id="{9FAACDDD-D16E-2A00-F958-D6B83384E56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0" name="Line 146">
              <a:extLst>
                <a:ext uri="{FF2B5EF4-FFF2-40B4-BE49-F238E27FC236}">
                  <a16:creationId xmlns:a16="http://schemas.microsoft.com/office/drawing/2014/main" id="{188263D3-6B92-4718-9A52-C8DBDDC38DA9}"/>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1" name="Group 144">
            <a:extLst>
              <a:ext uri="{FF2B5EF4-FFF2-40B4-BE49-F238E27FC236}">
                <a16:creationId xmlns:a16="http://schemas.microsoft.com/office/drawing/2014/main" id="{A1F02DDD-D7B7-2475-CCE7-397BF8E94CB0}"/>
              </a:ext>
            </a:extLst>
          </p:cNvPr>
          <p:cNvGrpSpPr>
            <a:grpSpLocks/>
          </p:cNvGrpSpPr>
          <p:nvPr/>
        </p:nvGrpSpPr>
        <p:grpSpPr bwMode="auto">
          <a:xfrm>
            <a:off x="1283035" y="4111699"/>
            <a:ext cx="447752" cy="473329"/>
            <a:chOff x="4896" y="3312"/>
            <a:chExt cx="240" cy="240"/>
          </a:xfrm>
        </p:grpSpPr>
        <p:sp>
          <p:nvSpPr>
            <p:cNvPr id="202" name="Oval 145">
              <a:extLst>
                <a:ext uri="{FF2B5EF4-FFF2-40B4-BE49-F238E27FC236}">
                  <a16:creationId xmlns:a16="http://schemas.microsoft.com/office/drawing/2014/main" id="{ED577746-C4AF-D0D1-61A5-CF6991D86754}"/>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3" name="Line 146">
              <a:extLst>
                <a:ext uri="{FF2B5EF4-FFF2-40B4-BE49-F238E27FC236}">
                  <a16:creationId xmlns:a16="http://schemas.microsoft.com/office/drawing/2014/main" id="{5985198B-B71E-3156-CCE5-AFBC99D8422E}"/>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04" name="Group 173">
            <a:extLst>
              <a:ext uri="{FF2B5EF4-FFF2-40B4-BE49-F238E27FC236}">
                <a16:creationId xmlns:a16="http://schemas.microsoft.com/office/drawing/2014/main" id="{E8378DCA-4EBF-270B-4111-FC8A01536545}"/>
              </a:ext>
            </a:extLst>
          </p:cNvPr>
          <p:cNvGrpSpPr>
            <a:grpSpLocks/>
          </p:cNvGrpSpPr>
          <p:nvPr/>
        </p:nvGrpSpPr>
        <p:grpSpPr bwMode="auto">
          <a:xfrm>
            <a:off x="992302" y="4030252"/>
            <a:ext cx="219899" cy="488081"/>
            <a:chOff x="1336" y="1152"/>
            <a:chExt cx="296" cy="720"/>
          </a:xfrm>
        </p:grpSpPr>
        <p:sp>
          <p:nvSpPr>
            <p:cNvPr id="205" name="Line 174">
              <a:extLst>
                <a:ext uri="{FF2B5EF4-FFF2-40B4-BE49-F238E27FC236}">
                  <a16:creationId xmlns:a16="http://schemas.microsoft.com/office/drawing/2014/main" id="{13A2843D-5FA4-10F1-BF97-6290A88A1D9E}"/>
                </a:ext>
              </a:extLst>
            </p:cNvPr>
            <p:cNvSpPr>
              <a:spLocks noChangeShapeType="1"/>
            </p:cNvSpPr>
            <p:nvPr/>
          </p:nvSpPr>
          <p:spPr bwMode="auto">
            <a:xfrm>
              <a:off x="1344" y="115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6" name="Line 175">
              <a:extLst>
                <a:ext uri="{FF2B5EF4-FFF2-40B4-BE49-F238E27FC236}">
                  <a16:creationId xmlns:a16="http://schemas.microsoft.com/office/drawing/2014/main" id="{05AD11E2-5766-E240-B685-F048F6D9D41B}"/>
                </a:ext>
              </a:extLst>
            </p:cNvPr>
            <p:cNvSpPr>
              <a:spLocks noChangeShapeType="1"/>
            </p:cNvSpPr>
            <p:nvPr/>
          </p:nvSpPr>
          <p:spPr bwMode="auto">
            <a:xfrm>
              <a:off x="1632" y="1152"/>
              <a:ext cx="0" cy="72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7" name="Line 176">
              <a:extLst>
                <a:ext uri="{FF2B5EF4-FFF2-40B4-BE49-F238E27FC236}">
                  <a16:creationId xmlns:a16="http://schemas.microsoft.com/office/drawing/2014/main" id="{EC6B293C-3B99-912F-1E6D-565C9FFA9F10}"/>
                </a:ext>
              </a:extLst>
            </p:cNvPr>
            <p:cNvSpPr>
              <a:spLocks noChangeShapeType="1"/>
            </p:cNvSpPr>
            <p:nvPr/>
          </p:nvSpPr>
          <p:spPr bwMode="auto">
            <a:xfrm>
              <a:off x="1336" y="139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8" name="Line 177">
              <a:extLst>
                <a:ext uri="{FF2B5EF4-FFF2-40B4-BE49-F238E27FC236}">
                  <a16:creationId xmlns:a16="http://schemas.microsoft.com/office/drawing/2014/main" id="{A754387F-AB42-4E9F-3650-B82F17FAFEB8}"/>
                </a:ext>
              </a:extLst>
            </p:cNvPr>
            <p:cNvSpPr>
              <a:spLocks noChangeShapeType="1"/>
            </p:cNvSpPr>
            <p:nvPr/>
          </p:nvSpPr>
          <p:spPr bwMode="auto">
            <a:xfrm>
              <a:off x="1336" y="163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09" name="Line 178">
              <a:extLst>
                <a:ext uri="{FF2B5EF4-FFF2-40B4-BE49-F238E27FC236}">
                  <a16:creationId xmlns:a16="http://schemas.microsoft.com/office/drawing/2014/main" id="{BE1503B5-225D-8B57-A2A2-683A71F84EDE}"/>
                </a:ext>
              </a:extLst>
            </p:cNvPr>
            <p:cNvSpPr>
              <a:spLocks noChangeShapeType="1"/>
            </p:cNvSpPr>
            <p:nvPr/>
          </p:nvSpPr>
          <p:spPr bwMode="auto">
            <a:xfrm>
              <a:off x="1344" y="1872"/>
              <a:ext cx="288" cy="0"/>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4" name="AutoShape 148">
            <a:extLst>
              <a:ext uri="{FF2B5EF4-FFF2-40B4-BE49-F238E27FC236}">
                <a16:creationId xmlns:a16="http://schemas.microsoft.com/office/drawing/2014/main" id="{649C097F-ED70-52EE-FD88-964E577E2A4D}"/>
              </a:ext>
            </a:extLst>
          </p:cNvPr>
          <p:cNvSpPr>
            <a:spLocks noChangeArrowheads="1"/>
          </p:cNvSpPr>
          <p:nvPr/>
        </p:nvSpPr>
        <p:spPr bwMode="auto">
          <a:xfrm>
            <a:off x="1633732" y="4142812"/>
            <a:ext cx="1202903" cy="95704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a:rPr>
              <a:t>Reduce</a:t>
            </a:r>
          </a:p>
          <a:p>
            <a:pPr>
              <a:lnSpc>
                <a:spcPct val="100000"/>
              </a:lnSpc>
              <a:spcBef>
                <a:spcPct val="30000"/>
              </a:spcBef>
            </a:pPr>
            <a:r>
              <a:rPr lang="en-US" altLang="en-US" sz="1200" b="0" dirty="0">
                <a:solidFill>
                  <a:srgbClr val="EE3228"/>
                </a:solidFill>
                <a:latin typeface="Roboto" panose="02000000000000000000"/>
              </a:rPr>
              <a:t>Manpower</a:t>
            </a:r>
          </a:p>
        </p:txBody>
      </p:sp>
      <p:sp>
        <p:nvSpPr>
          <p:cNvPr id="105" name="AutoShape 148">
            <a:extLst>
              <a:ext uri="{FF2B5EF4-FFF2-40B4-BE49-F238E27FC236}">
                <a16:creationId xmlns:a16="http://schemas.microsoft.com/office/drawing/2014/main" id="{221C38F2-0A02-0ABC-0A09-7022D7C5EB61}"/>
              </a:ext>
            </a:extLst>
          </p:cNvPr>
          <p:cNvSpPr>
            <a:spLocks noChangeArrowheads="1"/>
          </p:cNvSpPr>
          <p:nvPr/>
        </p:nvSpPr>
        <p:spPr bwMode="auto">
          <a:xfrm>
            <a:off x="6668536" y="5017271"/>
            <a:ext cx="1308409" cy="1035341"/>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rgbClr val="EE3228"/>
                </a:solidFill>
                <a:latin typeface="Roboto" panose="02000000000000000000"/>
              </a:rPr>
              <a:t>Improve</a:t>
            </a:r>
          </a:p>
          <a:p>
            <a:pPr>
              <a:lnSpc>
                <a:spcPct val="100000"/>
              </a:lnSpc>
              <a:spcBef>
                <a:spcPct val="30000"/>
              </a:spcBef>
            </a:pPr>
            <a:r>
              <a:rPr lang="en-US" altLang="en-US" sz="1000" b="0" dirty="0">
                <a:solidFill>
                  <a:srgbClr val="EE3228"/>
                </a:solidFill>
                <a:latin typeface="Roboto" panose="02000000000000000000"/>
              </a:rPr>
              <a:t>Quality</a:t>
            </a:r>
          </a:p>
        </p:txBody>
      </p:sp>
      <p:grpSp>
        <p:nvGrpSpPr>
          <p:cNvPr id="111" name="Group 144">
            <a:extLst>
              <a:ext uri="{FF2B5EF4-FFF2-40B4-BE49-F238E27FC236}">
                <a16:creationId xmlns:a16="http://schemas.microsoft.com/office/drawing/2014/main" id="{28F7CBC3-451E-D4D2-9AC7-6E7C1225A55D}"/>
              </a:ext>
            </a:extLst>
          </p:cNvPr>
          <p:cNvGrpSpPr>
            <a:grpSpLocks/>
          </p:cNvGrpSpPr>
          <p:nvPr/>
        </p:nvGrpSpPr>
        <p:grpSpPr bwMode="auto">
          <a:xfrm>
            <a:off x="3645647" y="3074755"/>
            <a:ext cx="447752" cy="473329"/>
            <a:chOff x="4896" y="3312"/>
            <a:chExt cx="240" cy="240"/>
          </a:xfrm>
        </p:grpSpPr>
        <p:sp>
          <p:nvSpPr>
            <p:cNvPr id="114" name="Oval 145">
              <a:extLst>
                <a:ext uri="{FF2B5EF4-FFF2-40B4-BE49-F238E27FC236}">
                  <a16:creationId xmlns:a16="http://schemas.microsoft.com/office/drawing/2014/main" id="{462D76A3-0EE6-B895-4AF1-9F959DFD21A1}"/>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15" name="Line 146">
              <a:extLst>
                <a:ext uri="{FF2B5EF4-FFF2-40B4-BE49-F238E27FC236}">
                  <a16:creationId xmlns:a16="http://schemas.microsoft.com/office/drawing/2014/main" id="{64A278C7-5D0B-AA8A-5DAB-6E55D18262B8}"/>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19" name="Group 144">
            <a:extLst>
              <a:ext uri="{FF2B5EF4-FFF2-40B4-BE49-F238E27FC236}">
                <a16:creationId xmlns:a16="http://schemas.microsoft.com/office/drawing/2014/main" id="{07086247-2972-8941-7C08-18FE6D56C379}"/>
              </a:ext>
            </a:extLst>
          </p:cNvPr>
          <p:cNvGrpSpPr>
            <a:grpSpLocks/>
          </p:cNvGrpSpPr>
          <p:nvPr/>
        </p:nvGrpSpPr>
        <p:grpSpPr bwMode="auto">
          <a:xfrm>
            <a:off x="4965578" y="3092502"/>
            <a:ext cx="447752" cy="473329"/>
            <a:chOff x="4896" y="3312"/>
            <a:chExt cx="240" cy="240"/>
          </a:xfrm>
        </p:grpSpPr>
        <p:sp>
          <p:nvSpPr>
            <p:cNvPr id="120" name="Oval 145">
              <a:extLst>
                <a:ext uri="{FF2B5EF4-FFF2-40B4-BE49-F238E27FC236}">
                  <a16:creationId xmlns:a16="http://schemas.microsoft.com/office/drawing/2014/main" id="{BF20B3D9-F838-491A-219A-434A45B012DE}"/>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49" name="Line 146">
              <a:extLst>
                <a:ext uri="{FF2B5EF4-FFF2-40B4-BE49-F238E27FC236}">
                  <a16:creationId xmlns:a16="http://schemas.microsoft.com/office/drawing/2014/main" id="{5A01F862-5CE9-DBF5-53E7-CF6EDD693AF2}"/>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50" name="Group 144">
            <a:extLst>
              <a:ext uri="{FF2B5EF4-FFF2-40B4-BE49-F238E27FC236}">
                <a16:creationId xmlns:a16="http://schemas.microsoft.com/office/drawing/2014/main" id="{FA53BDE2-FF84-6950-80FC-37D9F48F97F4}"/>
              </a:ext>
            </a:extLst>
          </p:cNvPr>
          <p:cNvGrpSpPr>
            <a:grpSpLocks/>
          </p:cNvGrpSpPr>
          <p:nvPr/>
        </p:nvGrpSpPr>
        <p:grpSpPr bwMode="auto">
          <a:xfrm>
            <a:off x="6416826" y="3080492"/>
            <a:ext cx="447752" cy="473329"/>
            <a:chOff x="4896" y="3312"/>
            <a:chExt cx="240" cy="240"/>
          </a:xfrm>
        </p:grpSpPr>
        <p:sp>
          <p:nvSpPr>
            <p:cNvPr id="151" name="Oval 145">
              <a:extLst>
                <a:ext uri="{FF2B5EF4-FFF2-40B4-BE49-F238E27FC236}">
                  <a16:creationId xmlns:a16="http://schemas.microsoft.com/office/drawing/2014/main" id="{1BE83E0C-C234-3CE2-D17D-B780F0695BA6}"/>
                </a:ext>
              </a:extLst>
            </p:cNvPr>
            <p:cNvSpPr>
              <a:spLocks noChangeArrowheads="1"/>
            </p:cNvSpPr>
            <p:nvPr/>
          </p:nvSpPr>
          <p:spPr bwMode="auto">
            <a:xfrm>
              <a:off x="4896" y="3312"/>
              <a:ext cx="240" cy="240"/>
            </a:xfrm>
            <a:prstGeom prst="ellipse">
              <a:avLst/>
            </a:prstGeom>
            <a:noFill/>
            <a:ln w="5715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52" name="Line 146">
              <a:extLst>
                <a:ext uri="{FF2B5EF4-FFF2-40B4-BE49-F238E27FC236}">
                  <a16:creationId xmlns:a16="http://schemas.microsoft.com/office/drawing/2014/main" id="{B9054721-A872-1670-2AA2-8CDAE981D18A}"/>
                </a:ext>
              </a:extLst>
            </p:cNvPr>
            <p:cNvSpPr>
              <a:spLocks noChangeShapeType="1"/>
            </p:cNvSpPr>
            <p:nvPr/>
          </p:nvSpPr>
          <p:spPr bwMode="auto">
            <a:xfrm flipH="1">
              <a:off x="4950" y="3330"/>
              <a:ext cx="144" cy="192"/>
            </a:xfrm>
            <a:prstGeom prst="line">
              <a:avLst/>
            </a:prstGeom>
            <a:noFill/>
            <a:ln w="5715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109" name="AutoShape 206">
            <a:extLst>
              <a:ext uri="{FF2B5EF4-FFF2-40B4-BE49-F238E27FC236}">
                <a16:creationId xmlns:a16="http://schemas.microsoft.com/office/drawing/2014/main" id="{DD0D4707-AECD-A5E1-F609-0CDA58A32D45}"/>
              </a:ext>
            </a:extLst>
          </p:cNvPr>
          <p:cNvSpPr>
            <a:spLocks noChangeArrowheads="1"/>
          </p:cNvSpPr>
          <p:nvPr/>
        </p:nvSpPr>
        <p:spPr bwMode="auto">
          <a:xfrm>
            <a:off x="2913989" y="1701083"/>
            <a:ext cx="1009862" cy="982360"/>
          </a:xfrm>
          <a:prstGeom prst="irregularSeal1">
            <a:avLst/>
          </a:prstGeom>
          <a:noFill/>
          <a:ln w="57150">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accent1"/>
                </a:solidFill>
                <a:latin typeface="Comic Sans MS" panose="030F0702030302020204" pitchFamily="66" charset="0"/>
              </a:rPr>
              <a:t>Weekly</a:t>
            </a:r>
          </a:p>
          <a:p>
            <a:pPr>
              <a:lnSpc>
                <a:spcPct val="100000"/>
              </a:lnSpc>
              <a:spcBef>
                <a:spcPct val="0"/>
              </a:spcBef>
            </a:pPr>
            <a:r>
              <a:rPr lang="en-US" altLang="en-US" sz="1200" b="0" dirty="0">
                <a:solidFill>
                  <a:schemeClr val="accent1"/>
                </a:solidFill>
                <a:latin typeface="Comic Sans MS" panose="030F0702030302020204" pitchFamily="66" charset="0"/>
              </a:rPr>
              <a:t>Fax</a:t>
            </a:r>
          </a:p>
        </p:txBody>
      </p:sp>
      <p:sp>
        <p:nvSpPr>
          <p:cNvPr id="12" name="AutoShape 206">
            <a:extLst>
              <a:ext uri="{FF2B5EF4-FFF2-40B4-BE49-F238E27FC236}">
                <a16:creationId xmlns:a16="http://schemas.microsoft.com/office/drawing/2014/main" id="{DE7CA39F-6D16-BD91-EA4D-C7B2EE5F35B3}"/>
              </a:ext>
            </a:extLst>
          </p:cNvPr>
          <p:cNvSpPr>
            <a:spLocks noChangeArrowheads="1"/>
          </p:cNvSpPr>
          <p:nvPr/>
        </p:nvSpPr>
        <p:spPr bwMode="auto">
          <a:xfrm>
            <a:off x="7874592" y="1301102"/>
            <a:ext cx="1579108" cy="982360"/>
          </a:xfrm>
          <a:prstGeom prst="irregularSeal1">
            <a:avLst/>
          </a:prstGeom>
          <a:noFill/>
          <a:ln w="539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accent1"/>
                </a:solidFill>
                <a:latin typeface="Comic Sans MS" panose="030F0702030302020204" pitchFamily="66" charset="0"/>
              </a:rPr>
              <a:t>30/60/90 </a:t>
            </a:r>
          </a:p>
          <a:p>
            <a:pPr>
              <a:lnSpc>
                <a:spcPct val="100000"/>
              </a:lnSpc>
              <a:spcBef>
                <a:spcPct val="0"/>
              </a:spcBef>
            </a:pPr>
            <a:r>
              <a:rPr lang="en-US" altLang="en-US" sz="1200" b="0" dirty="0">
                <a:solidFill>
                  <a:schemeClr val="accent1"/>
                </a:solidFill>
                <a:latin typeface="Comic Sans MS" panose="030F0702030302020204" pitchFamily="66" charset="0"/>
              </a:rPr>
              <a:t>Forecast</a:t>
            </a:r>
          </a:p>
        </p:txBody>
      </p:sp>
      <p:grpSp>
        <p:nvGrpSpPr>
          <p:cNvPr id="15" name="Group 14">
            <a:extLst>
              <a:ext uri="{FF2B5EF4-FFF2-40B4-BE49-F238E27FC236}">
                <a16:creationId xmlns:a16="http://schemas.microsoft.com/office/drawing/2014/main" id="{ECE97143-158B-229A-8668-52F2BB0DFAF5}"/>
              </a:ext>
            </a:extLst>
          </p:cNvPr>
          <p:cNvGrpSpPr/>
          <p:nvPr/>
        </p:nvGrpSpPr>
        <p:grpSpPr>
          <a:xfrm>
            <a:off x="940004" y="321492"/>
            <a:ext cx="6217883" cy="311851"/>
            <a:chOff x="940249" y="302538"/>
            <a:chExt cx="6219503" cy="311932"/>
          </a:xfrm>
        </p:grpSpPr>
        <p:sp>
          <p:nvSpPr>
            <p:cNvPr id="16" name="TextBox 15">
              <a:extLst>
                <a:ext uri="{FF2B5EF4-FFF2-40B4-BE49-F238E27FC236}">
                  <a16:creationId xmlns:a16="http://schemas.microsoft.com/office/drawing/2014/main" id="{AFAD169F-1148-D33A-8D61-B63B19D5101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7" name="AutoShape 9">
              <a:extLst>
                <a:ext uri="{FF2B5EF4-FFF2-40B4-BE49-F238E27FC236}">
                  <a16:creationId xmlns:a16="http://schemas.microsoft.com/office/drawing/2014/main" id="{E1030AF8-DE14-1982-D86E-C5935DE40E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1E80EAB7-72C1-7960-9988-335B622D4BAC}"/>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0B1ACC8E-FD0B-5C69-8EBC-5EF8E3634C0E}"/>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6" name="AutoShape 9">
              <a:extLst>
                <a:ext uri="{FF2B5EF4-FFF2-40B4-BE49-F238E27FC236}">
                  <a16:creationId xmlns:a16="http://schemas.microsoft.com/office/drawing/2014/main" id="{FDF2A03D-2010-465F-4FC0-4F481FC567F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0" name="AutoShape 11">
              <a:extLst>
                <a:ext uri="{FF2B5EF4-FFF2-40B4-BE49-F238E27FC236}">
                  <a16:creationId xmlns:a16="http://schemas.microsoft.com/office/drawing/2014/main" id="{A52D78F8-EEAF-17DF-5232-6C47EF7A8D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81" name="Slide Number Placeholder 2">
            <a:extLst>
              <a:ext uri="{FF2B5EF4-FFF2-40B4-BE49-F238E27FC236}">
                <a16:creationId xmlns:a16="http://schemas.microsoft.com/office/drawing/2014/main" id="{0862FE3C-F60B-A9E7-87E2-6319DE64293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135</a:t>
            </a:fld>
            <a:endParaRPr lang="en-US" dirty="0"/>
          </a:p>
        </p:txBody>
      </p:sp>
    </p:spTree>
    <p:extLst>
      <p:ext uri="{BB962C8B-B14F-4D97-AF65-F5344CB8AC3E}">
        <p14:creationId xmlns:p14="http://schemas.microsoft.com/office/powerpoint/2010/main" val="1911437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83"/>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84"/>
                                        </p:tgtEl>
                                        <p:attrNameLst>
                                          <p:attrName>style.visibility</p:attrName>
                                        </p:attrNameLst>
                                      </p:cBhvr>
                                      <p:to>
                                        <p:strVal val="visible"/>
                                      </p:to>
                                    </p:set>
                                    <p:animEffect transition="in" filter="dissolve">
                                      <p:cBhvr>
                                        <p:cTn id="64" dur="1000"/>
                                        <p:tgtEl>
                                          <p:spTgt spid="8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06"/>
                                        </p:tgtEl>
                                        <p:attrNameLst>
                                          <p:attrName>style.visibility</p:attrName>
                                        </p:attrNameLst>
                                      </p:cBhvr>
                                      <p:to>
                                        <p:strVal val="visible"/>
                                      </p:to>
                                    </p:set>
                                    <p:animEffect transition="in" filter="dissolve">
                                      <p:cBhvr>
                                        <p:cTn id="69" dur="500"/>
                                        <p:tgtEl>
                                          <p:spTgt spid="10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1" fill="hold" nodeType="clickEffect">
                                  <p:stCondLst>
                                    <p:cond delay="0"/>
                                  </p:stCondLst>
                                  <p:childTnLst>
                                    <p:set>
                                      <p:cBhvr>
                                        <p:cTn id="73" dur="1" fill="hold">
                                          <p:stCondLst>
                                            <p:cond delay="0"/>
                                          </p:stCondLst>
                                        </p:cTn>
                                        <p:tgtEl>
                                          <p:spTgt spid="108"/>
                                        </p:tgtEl>
                                        <p:attrNameLst>
                                          <p:attrName>style.visibility</p:attrName>
                                        </p:attrNameLst>
                                      </p:cBhvr>
                                      <p:to>
                                        <p:strVal val="visible"/>
                                      </p:to>
                                    </p:set>
                                    <p:animEffect transition="in" filter="wipe(up)">
                                      <p:cBhvr>
                                        <p:cTn id="74" dur="500"/>
                                        <p:tgtEl>
                                          <p:spTgt spid="108"/>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wipe(up)">
                                      <p:cBhvr>
                                        <p:cTn id="79" dur="500"/>
                                        <p:tgtEl>
                                          <p:spTgt spid="1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116"/>
                                        </p:tgtEl>
                                        <p:attrNameLst>
                                          <p:attrName>style.visibility</p:attrName>
                                        </p:attrNameLst>
                                      </p:cBhvr>
                                      <p:to>
                                        <p:strVal val="visible"/>
                                      </p:to>
                                    </p:set>
                                    <p:animEffect transition="in" filter="wipe(up)">
                                      <p:cBhvr>
                                        <p:cTn id="84" dur="500"/>
                                        <p:tgtEl>
                                          <p:spTgt spid="116"/>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186"/>
                                        </p:tgtEl>
                                        <p:attrNameLst>
                                          <p:attrName>style.visibility</p:attrName>
                                        </p:attrNameLst>
                                      </p:cBhvr>
                                      <p:to>
                                        <p:strVal val="visible"/>
                                      </p:to>
                                    </p:set>
                                    <p:animEffect transition="in" filter="wipe(up)">
                                      <p:cBhvr>
                                        <p:cTn id="89" dur="500"/>
                                        <p:tgtEl>
                                          <p:spTgt spid="186"/>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nodeType="clickEffect">
                                  <p:stCondLst>
                                    <p:cond delay="0"/>
                                  </p:stCondLst>
                                  <p:childTnLst>
                                    <p:set>
                                      <p:cBhvr>
                                        <p:cTn id="93" dur="1" fill="hold">
                                          <p:stCondLst>
                                            <p:cond delay="0"/>
                                          </p:stCondLst>
                                        </p:cTn>
                                        <p:tgtEl>
                                          <p:spTgt spid="192"/>
                                        </p:tgtEl>
                                        <p:attrNameLst>
                                          <p:attrName>style.visibility</p:attrName>
                                        </p:attrNameLst>
                                      </p:cBhvr>
                                      <p:to>
                                        <p:strVal val="visible"/>
                                      </p:to>
                                    </p:set>
                                    <p:animEffect transition="in" filter="wipe(up)">
                                      <p:cBhvr>
                                        <p:cTn id="94" dur="500"/>
                                        <p:tgtEl>
                                          <p:spTgt spid="192"/>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1" fill="hold" nodeType="click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wipe(up)">
                                      <p:cBhvr>
                                        <p:cTn id="99" dur="500"/>
                                        <p:tgtEl>
                                          <p:spTgt spid="198"/>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nodeType="clickEffect">
                                  <p:stCondLst>
                                    <p:cond delay="0"/>
                                  </p:stCondLst>
                                  <p:childTnLst>
                                    <p:set>
                                      <p:cBhvr>
                                        <p:cTn id="103" dur="1" fill="hold">
                                          <p:stCondLst>
                                            <p:cond delay="0"/>
                                          </p:stCondLst>
                                        </p:cTn>
                                        <p:tgtEl>
                                          <p:spTgt spid="201"/>
                                        </p:tgtEl>
                                        <p:attrNameLst>
                                          <p:attrName>style.visibility</p:attrName>
                                        </p:attrNameLst>
                                      </p:cBhvr>
                                      <p:to>
                                        <p:strVal val="visible"/>
                                      </p:to>
                                    </p:set>
                                    <p:animEffect transition="in" filter="wipe(up)">
                                      <p:cBhvr>
                                        <p:cTn id="104" dur="500"/>
                                        <p:tgtEl>
                                          <p:spTgt spid="201"/>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nodeType="clickEffect">
                                  <p:stCondLst>
                                    <p:cond delay="0"/>
                                  </p:stCondLst>
                                  <p:childTnLst>
                                    <p:set>
                                      <p:cBhvr>
                                        <p:cTn id="108" dur="1" fill="hold">
                                          <p:stCondLst>
                                            <p:cond delay="0"/>
                                          </p:stCondLst>
                                        </p:cTn>
                                        <p:tgtEl>
                                          <p:spTgt spid="204"/>
                                        </p:tgtEl>
                                        <p:attrNameLst>
                                          <p:attrName>style.visibility</p:attrName>
                                        </p:attrNameLst>
                                      </p:cBhvr>
                                      <p:to>
                                        <p:strVal val="visible"/>
                                      </p:to>
                                    </p:set>
                                    <p:animEffect transition="in" filter="wipe(up)">
                                      <p:cBhvr>
                                        <p:cTn id="109" dur="500"/>
                                        <p:tgtEl>
                                          <p:spTgt spid="204"/>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Effect transition="in" filter="wipe(up)">
                                      <p:cBhvr>
                                        <p:cTn id="114" dur="500"/>
                                        <p:tgtEl>
                                          <p:spTgt spid="104"/>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105"/>
                                        </p:tgtEl>
                                        <p:attrNameLst>
                                          <p:attrName>style.visibility</p:attrName>
                                        </p:attrNameLst>
                                      </p:cBhvr>
                                      <p:to>
                                        <p:strVal val="visible"/>
                                      </p:to>
                                    </p:set>
                                    <p:animEffect transition="in" filter="wipe(up)">
                                      <p:cBhvr>
                                        <p:cTn id="119" dur="500"/>
                                        <p:tgtEl>
                                          <p:spTgt spid="105"/>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nodeType="clickEffect">
                                  <p:stCondLst>
                                    <p:cond delay="0"/>
                                  </p:stCondLst>
                                  <p:childTnLst>
                                    <p:set>
                                      <p:cBhvr>
                                        <p:cTn id="123" dur="1" fill="hold">
                                          <p:stCondLst>
                                            <p:cond delay="0"/>
                                          </p:stCondLst>
                                        </p:cTn>
                                        <p:tgtEl>
                                          <p:spTgt spid="111"/>
                                        </p:tgtEl>
                                        <p:attrNameLst>
                                          <p:attrName>style.visibility</p:attrName>
                                        </p:attrNameLst>
                                      </p:cBhvr>
                                      <p:to>
                                        <p:strVal val="visible"/>
                                      </p:to>
                                    </p:set>
                                    <p:animEffect transition="in" filter="wipe(up)">
                                      <p:cBhvr>
                                        <p:cTn id="124" dur="500"/>
                                        <p:tgtEl>
                                          <p:spTgt spid="111"/>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19"/>
                                        </p:tgtEl>
                                        <p:attrNameLst>
                                          <p:attrName>style.visibility</p:attrName>
                                        </p:attrNameLst>
                                      </p:cBhvr>
                                      <p:to>
                                        <p:strVal val="visible"/>
                                      </p:to>
                                    </p:set>
                                    <p:animEffect transition="in" filter="wipe(up)">
                                      <p:cBhvr>
                                        <p:cTn id="129" dur="500"/>
                                        <p:tgtEl>
                                          <p:spTgt spid="119"/>
                                        </p:tgtEl>
                                      </p:cBhvr>
                                    </p:animEffect>
                                  </p:childTnLst>
                                </p:cTn>
                              </p:par>
                            </p:childTnLst>
                          </p:cTn>
                        </p:par>
                      </p:childTnLst>
                    </p:cTn>
                  </p:par>
                  <p:par>
                    <p:cTn id="130" fill="hold">
                      <p:stCondLst>
                        <p:cond delay="indefinite"/>
                      </p:stCondLst>
                      <p:childTnLst>
                        <p:par>
                          <p:cTn id="131" fill="hold">
                            <p:stCondLst>
                              <p:cond delay="0"/>
                            </p:stCondLst>
                            <p:childTnLst>
                              <p:par>
                                <p:cTn id="132" presetID="22" presetClass="entr" presetSubtype="1" fill="hold" nodeType="clickEffect">
                                  <p:stCondLst>
                                    <p:cond delay="0"/>
                                  </p:stCondLst>
                                  <p:childTnLst>
                                    <p:set>
                                      <p:cBhvr>
                                        <p:cTn id="133" dur="1" fill="hold">
                                          <p:stCondLst>
                                            <p:cond delay="0"/>
                                          </p:stCondLst>
                                        </p:cTn>
                                        <p:tgtEl>
                                          <p:spTgt spid="150"/>
                                        </p:tgtEl>
                                        <p:attrNameLst>
                                          <p:attrName>style.visibility</p:attrName>
                                        </p:attrNameLst>
                                      </p:cBhvr>
                                      <p:to>
                                        <p:strVal val="visible"/>
                                      </p:to>
                                    </p:set>
                                    <p:animEffect transition="in" filter="wipe(up)">
                                      <p:cBhvr>
                                        <p:cTn id="134" dur="500"/>
                                        <p:tgtEl>
                                          <p:spTgt spid="150"/>
                                        </p:tgtEl>
                                      </p:cBhvr>
                                    </p:animEffect>
                                  </p:childTnLst>
                                </p:cTn>
                              </p:par>
                            </p:childTnLst>
                          </p:cTn>
                        </p:par>
                      </p:childTnLst>
                    </p:cTn>
                  </p:par>
                  <p:par>
                    <p:cTn id="135" fill="hold">
                      <p:stCondLst>
                        <p:cond delay="indefinite"/>
                      </p:stCondLst>
                      <p:childTnLst>
                        <p:par>
                          <p:cTn id="136" fill="hold">
                            <p:stCondLst>
                              <p:cond delay="0"/>
                            </p:stCondLst>
                            <p:childTnLst>
                              <p:par>
                                <p:cTn id="137" presetID="9" presetClass="entr" presetSubtype="0" fill="hold" grpId="0" nodeType="clickEffect">
                                  <p:stCondLst>
                                    <p:cond delay="0"/>
                                  </p:stCondLst>
                                  <p:childTnLst>
                                    <p:set>
                                      <p:cBhvr>
                                        <p:cTn id="138" dur="1" fill="hold">
                                          <p:stCondLst>
                                            <p:cond delay="0"/>
                                          </p:stCondLst>
                                        </p:cTn>
                                        <p:tgtEl>
                                          <p:spTgt spid="109"/>
                                        </p:tgtEl>
                                        <p:attrNameLst>
                                          <p:attrName>style.visibility</p:attrName>
                                        </p:attrNameLst>
                                      </p:cBhvr>
                                      <p:to>
                                        <p:strVal val="visible"/>
                                      </p:to>
                                    </p:set>
                                    <p:animEffect transition="in" filter="dissolve">
                                      <p:cBhvr>
                                        <p:cTn id="139" dur="1000"/>
                                        <p:tgtEl>
                                          <p:spTgt spid="109"/>
                                        </p:tgtEl>
                                      </p:cBhvr>
                                    </p:animEffect>
                                  </p:childTnLst>
                                </p:cTn>
                              </p:par>
                            </p:childTnLst>
                          </p:cTn>
                        </p:par>
                      </p:childTnLst>
                    </p:cTn>
                  </p:par>
                  <p:par>
                    <p:cTn id="140" fill="hold">
                      <p:stCondLst>
                        <p:cond delay="indefinite"/>
                      </p:stCondLst>
                      <p:childTnLst>
                        <p:par>
                          <p:cTn id="141" fill="hold">
                            <p:stCondLst>
                              <p:cond delay="0"/>
                            </p:stCondLst>
                            <p:childTnLst>
                              <p:par>
                                <p:cTn id="142" presetID="9" presetClass="entr" presetSubtype="0" fill="hold" grpId="0" nodeType="click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dissolve">
                                      <p:cBhvr>
                                        <p:cTn id="14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3" grpId="0"/>
      <p:bldP spid="74" grpId="0"/>
      <p:bldP spid="75" grpId="0"/>
      <p:bldP spid="76" grpId="0"/>
      <p:bldP spid="77" grpId="0"/>
      <p:bldP spid="78" grpId="0"/>
      <p:bldP spid="79" grpId="0"/>
      <p:bldP spid="83" grpId="0" animBg="1"/>
      <p:bldP spid="106" grpId="0" animBg="1"/>
      <p:bldP spid="113" grpId="0" animBg="1"/>
      <p:bldP spid="104" grpId="0" animBg="1"/>
      <p:bldP spid="105" grpId="0" animBg="1"/>
      <p:bldP spid="109" grpId="0" animBg="1"/>
      <p:bldP spid="12"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136</a:t>
            </a:fld>
            <a:endParaRPr lang="en-US" dirty="0"/>
          </a:p>
        </p:txBody>
      </p:sp>
    </p:spTree>
    <p:extLst>
      <p:ext uri="{BB962C8B-B14F-4D97-AF65-F5344CB8AC3E}">
        <p14:creationId xmlns:p14="http://schemas.microsoft.com/office/powerpoint/2010/main" val="123316460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sz="3600" dirty="0">
                <a:latin typeface="Roboto Medium" panose="02000000000000000000" pitchFamily="2" charset="0"/>
                <a:ea typeface="Roboto Medium" panose="02000000000000000000" pitchFamily="2" charset="0"/>
                <a:cs typeface="Roboto Medium" panose="02000000000000000000" pitchFamily="2" charset="0"/>
              </a:rPr>
              <a:t>Draw the pieces of the map that are the same</a:t>
            </a:r>
            <a:endParaRPr lang="en-US" sz="3600" dirty="0">
              <a:latin typeface="Roboto Medium" panose="02000000000000000000" pitchFamily="2" charset="0"/>
              <a:ea typeface="Roboto Medium" panose="02000000000000000000" pitchFamily="2" charset="0"/>
              <a:cs typeface="Roboto Medium" panose="02000000000000000000" pitchFamily="2" charset="0"/>
            </a:endParaRPr>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308576" y="3003067"/>
            <a:ext cx="1746121" cy="581473"/>
            <a:chOff x="3463" y="1604"/>
            <a:chExt cx="1024"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63"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71324" y="3244090"/>
            <a:ext cx="8934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02340" y="437828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08274" y="454131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38150" y="435910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42121" y="3045296"/>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59613" y="3746952"/>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24894" y="3840890"/>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73361" y="403021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11312" y="403021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86003" y="3796500"/>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336490" y="4547497"/>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97425" y="4648918"/>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4</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10105" y="501821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a:t>
            </a:r>
          </a:p>
          <a:p>
            <a:pPr algn="l"/>
            <a:r>
              <a:rPr lang="en-US" altLang="en-US" sz="1000" b="0" dirty="0">
                <a:solidFill>
                  <a:schemeClr val="tx1"/>
                </a:solidFill>
                <a:latin typeface="Roboto" panose="02000000000000000000"/>
              </a:rPr>
              <a:t>C/O Time =30 ’</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4 Machines</a:t>
            </a:r>
          </a:p>
          <a:p>
            <a:pPr algn="l"/>
            <a:endParaRPr lang="en-US" altLang="en-US" sz="1000" b="0" dirty="0">
              <a:solidFill>
                <a:schemeClr val="tx1"/>
              </a:solidFill>
              <a:latin typeface="Roboto" panose="02000000000000000000"/>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79462" y="5186244"/>
            <a:ext cx="885874" cy="553998"/>
          </a:xfrm>
          <a:prstGeom prst="rect">
            <a:avLst/>
          </a:prstGeom>
          <a:solidFill>
            <a:schemeClr val="accent2"/>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88293" y="2432311"/>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106351" y="2545834"/>
            <a:ext cx="4149093" cy="1766331"/>
            <a:chOff x="3873501" y="2027240"/>
            <a:chExt cx="3348037" cy="2176460"/>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40"/>
              <a:ext cx="974725" cy="733426"/>
              <a:chOff x="2440" y="1277"/>
              <a:chExt cx="614" cy="462"/>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81" y="1283"/>
                <a:ext cx="529"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Roboto" panose="02000000000000000000"/>
                  </a:rPr>
                  <a:t>Production</a:t>
                </a:r>
              </a:p>
              <a:p>
                <a:pPr>
                  <a:lnSpc>
                    <a:spcPct val="100000"/>
                  </a:lnSpc>
                  <a:spcBef>
                    <a:spcPct val="30000"/>
                  </a:spcBef>
                </a:pPr>
                <a:r>
                  <a:rPr lang="en-US" altLang="en-US" sz="1400" b="0" dirty="0">
                    <a:solidFill>
                      <a:schemeClr val="tx1"/>
                    </a:solidFill>
                    <a:latin typeface="Roboto" panose="02000000000000000000"/>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181" name="Rectangle 86">
            <a:extLst>
              <a:ext uri="{FF2B5EF4-FFF2-40B4-BE49-F238E27FC236}">
                <a16:creationId xmlns:a16="http://schemas.microsoft.com/office/drawing/2014/main" id="{F5E8FF08-BB08-5EE2-62A2-951DFA12FB32}"/>
              </a:ext>
            </a:extLst>
          </p:cNvPr>
          <p:cNvSpPr>
            <a:spLocks noChangeArrowheads="1"/>
          </p:cNvSpPr>
          <p:nvPr/>
        </p:nvSpPr>
        <p:spPr bwMode="auto">
          <a:xfrm>
            <a:off x="4129995" y="4386146"/>
            <a:ext cx="2919158" cy="830997"/>
          </a:xfrm>
          <a:prstGeom prst="rect">
            <a:avLst/>
          </a:prstGeom>
          <a:solidFill>
            <a:srgbClr val="EAEAEA"/>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a:rPr>
              <a:t>Note the change to manpower and # of machines</a:t>
            </a:r>
          </a:p>
        </p:txBody>
      </p:sp>
      <p:grpSp>
        <p:nvGrpSpPr>
          <p:cNvPr id="10" name="Group 9">
            <a:extLst>
              <a:ext uri="{FF2B5EF4-FFF2-40B4-BE49-F238E27FC236}">
                <a16:creationId xmlns:a16="http://schemas.microsoft.com/office/drawing/2014/main" id="{1B80ED3B-46F4-EA7A-167C-5F66107125A0}"/>
              </a:ext>
            </a:extLst>
          </p:cNvPr>
          <p:cNvGrpSpPr/>
          <p:nvPr/>
        </p:nvGrpSpPr>
        <p:grpSpPr>
          <a:xfrm>
            <a:off x="940004" y="321492"/>
            <a:ext cx="6217883" cy="311851"/>
            <a:chOff x="940249" y="302538"/>
            <a:chExt cx="6219503" cy="311932"/>
          </a:xfrm>
        </p:grpSpPr>
        <p:sp>
          <p:nvSpPr>
            <p:cNvPr id="11" name="TextBox 10">
              <a:extLst>
                <a:ext uri="{FF2B5EF4-FFF2-40B4-BE49-F238E27FC236}">
                  <a16:creationId xmlns:a16="http://schemas.microsoft.com/office/drawing/2014/main" id="{AECEFAFE-DBC5-D9F7-E04E-EE22A2EFFD7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658C2F4D-A144-D5DF-CAF9-CE891855E56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3" name="AutoShape 9">
              <a:extLst>
                <a:ext uri="{FF2B5EF4-FFF2-40B4-BE49-F238E27FC236}">
                  <a16:creationId xmlns:a16="http://schemas.microsoft.com/office/drawing/2014/main" id="{34F03FA7-C792-6A1F-ED12-0B497134EB33}"/>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4" name="AutoShape 9">
              <a:extLst>
                <a:ext uri="{FF2B5EF4-FFF2-40B4-BE49-F238E27FC236}">
                  <a16:creationId xmlns:a16="http://schemas.microsoft.com/office/drawing/2014/main" id="{CFB1FED3-9607-064F-63E8-FDB62180EE1A}"/>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5" name="AutoShape 9">
              <a:extLst>
                <a:ext uri="{FF2B5EF4-FFF2-40B4-BE49-F238E27FC236}">
                  <a16:creationId xmlns:a16="http://schemas.microsoft.com/office/drawing/2014/main" id="{9B2FB2D4-2F07-EEA0-6FB8-8E99E8D1D769}"/>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sp>
          <p:nvSpPr>
            <p:cNvPr id="16" name="AutoShape 11">
              <a:extLst>
                <a:ext uri="{FF2B5EF4-FFF2-40B4-BE49-F238E27FC236}">
                  <a16:creationId xmlns:a16="http://schemas.microsoft.com/office/drawing/2014/main" id="{ABCDE218-2147-8A72-90FA-02520558617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Roboto" panose="02000000000000000000"/>
              </a:endParaRPr>
            </a:p>
          </p:txBody>
        </p:sp>
      </p:grpSp>
      <p:sp>
        <p:nvSpPr>
          <p:cNvPr id="17" name="Slide Number Placeholder 2">
            <a:extLst>
              <a:ext uri="{FF2B5EF4-FFF2-40B4-BE49-F238E27FC236}">
                <a16:creationId xmlns:a16="http://schemas.microsoft.com/office/drawing/2014/main" id="{247DE347-90B2-FCE2-0E66-1B53398FF46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137</a:t>
            </a:fld>
            <a:endParaRPr lang="en-US" dirty="0">
              <a:latin typeface="Roboto" panose="02000000000000000000"/>
            </a:endParaRPr>
          </a:p>
        </p:txBody>
      </p:sp>
      <p:grpSp>
        <p:nvGrpSpPr>
          <p:cNvPr id="22" name="Group 21">
            <a:extLst>
              <a:ext uri="{FF2B5EF4-FFF2-40B4-BE49-F238E27FC236}">
                <a16:creationId xmlns:a16="http://schemas.microsoft.com/office/drawing/2014/main" id="{3900D680-088B-AD56-BDA0-A96217B503DC}"/>
              </a:ext>
            </a:extLst>
          </p:cNvPr>
          <p:cNvGrpSpPr/>
          <p:nvPr/>
        </p:nvGrpSpPr>
        <p:grpSpPr>
          <a:xfrm>
            <a:off x="9049469" y="4399146"/>
            <a:ext cx="1042416" cy="585216"/>
            <a:chOff x="18114246" y="7065835"/>
            <a:chExt cx="2089504" cy="1205437"/>
          </a:xfrm>
        </p:grpSpPr>
        <p:sp>
          <p:nvSpPr>
            <p:cNvPr id="18" name="Rectangle 7">
              <a:extLst>
                <a:ext uri="{FF2B5EF4-FFF2-40B4-BE49-F238E27FC236}">
                  <a16:creationId xmlns:a16="http://schemas.microsoft.com/office/drawing/2014/main" id="{73EDD263-77A5-5104-DCEA-10682D5C34F6}"/>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9" name="Text Box 9">
              <a:extLst>
                <a:ext uri="{FF2B5EF4-FFF2-40B4-BE49-F238E27FC236}">
                  <a16:creationId xmlns:a16="http://schemas.microsoft.com/office/drawing/2014/main" id="{16EB85D8-0579-F23A-0C6A-64121D298980}"/>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20" name="Line 8">
              <a:extLst>
                <a:ext uri="{FF2B5EF4-FFF2-40B4-BE49-F238E27FC236}">
                  <a16:creationId xmlns:a16="http://schemas.microsoft.com/office/drawing/2014/main" id="{5CC4E845-B5C0-67F6-CA22-5FD67D4F3A59}"/>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p>
          </p:txBody>
        </p:sp>
      </p:grpSp>
      <p:grpSp>
        <p:nvGrpSpPr>
          <p:cNvPr id="38" name="Group 37">
            <a:extLst>
              <a:ext uri="{FF2B5EF4-FFF2-40B4-BE49-F238E27FC236}">
                <a16:creationId xmlns:a16="http://schemas.microsoft.com/office/drawing/2014/main" id="{12E5FE78-120F-AE4C-2083-0BDDF42E0986}"/>
              </a:ext>
            </a:extLst>
          </p:cNvPr>
          <p:cNvGrpSpPr/>
          <p:nvPr/>
        </p:nvGrpSpPr>
        <p:grpSpPr>
          <a:xfrm>
            <a:off x="8928866" y="2010322"/>
            <a:ext cx="2907054" cy="950421"/>
            <a:chOff x="17907288" y="3305639"/>
            <a:chExt cx="4152283" cy="1112710"/>
          </a:xfrm>
        </p:grpSpPr>
        <p:sp>
          <p:nvSpPr>
            <p:cNvPr id="23" name="Rectangle 12">
              <a:extLst>
                <a:ext uri="{FF2B5EF4-FFF2-40B4-BE49-F238E27FC236}">
                  <a16:creationId xmlns:a16="http://schemas.microsoft.com/office/drawing/2014/main" id="{7A29AC33-BCEA-19D4-C331-3DA9E324BC3C}"/>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4" name="Rectangle 13">
              <a:extLst>
                <a:ext uri="{FF2B5EF4-FFF2-40B4-BE49-F238E27FC236}">
                  <a16:creationId xmlns:a16="http://schemas.microsoft.com/office/drawing/2014/main" id="{14903B23-D607-A91F-8B3C-371D3FA8A35E}"/>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25" name="AutoShape 14">
              <a:extLst>
                <a:ext uri="{FF2B5EF4-FFF2-40B4-BE49-F238E27FC236}">
                  <a16:creationId xmlns:a16="http://schemas.microsoft.com/office/drawing/2014/main" id="{37D74EEA-A53E-4643-2068-0582A2B2FAF5}"/>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1" name="AutoShape 15">
              <a:extLst>
                <a:ext uri="{FF2B5EF4-FFF2-40B4-BE49-F238E27FC236}">
                  <a16:creationId xmlns:a16="http://schemas.microsoft.com/office/drawing/2014/main" id="{FA30B954-0D60-B3E9-1D7D-D0051CF06688}"/>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16">
              <a:extLst>
                <a:ext uri="{FF2B5EF4-FFF2-40B4-BE49-F238E27FC236}">
                  <a16:creationId xmlns:a16="http://schemas.microsoft.com/office/drawing/2014/main" id="{18179B2F-ED34-42D9-84C7-4E8787C442FF}"/>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Rectangle 17">
              <a:extLst>
                <a:ext uri="{FF2B5EF4-FFF2-40B4-BE49-F238E27FC236}">
                  <a16:creationId xmlns:a16="http://schemas.microsoft.com/office/drawing/2014/main" id="{6BB398F0-EC99-2388-26E3-224F986AF573}"/>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8">
              <a:extLst>
                <a:ext uri="{FF2B5EF4-FFF2-40B4-BE49-F238E27FC236}">
                  <a16:creationId xmlns:a16="http://schemas.microsoft.com/office/drawing/2014/main" id="{651EB5E6-1FFF-A5BD-F9F8-B516CE43CEBE}"/>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9">
              <a:extLst>
                <a:ext uri="{FF2B5EF4-FFF2-40B4-BE49-F238E27FC236}">
                  <a16:creationId xmlns:a16="http://schemas.microsoft.com/office/drawing/2014/main" id="{67482677-A69D-E9C6-0763-7358AA73D771}"/>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Text Box 20">
              <a:extLst>
                <a:ext uri="{FF2B5EF4-FFF2-40B4-BE49-F238E27FC236}">
                  <a16:creationId xmlns:a16="http://schemas.microsoft.com/office/drawing/2014/main" id="{E05DFB29-2B1C-D7E6-1C76-06AFBA8A30CE}"/>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37" name="Text Box 22">
              <a:extLst>
                <a:ext uri="{FF2B5EF4-FFF2-40B4-BE49-F238E27FC236}">
                  <a16:creationId xmlns:a16="http://schemas.microsoft.com/office/drawing/2014/main" id="{D4A46597-10DB-4C71-960D-17C97E4A67D7}"/>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spTree>
    <p:extLst>
      <p:ext uri="{BB962C8B-B14F-4D97-AF65-F5344CB8AC3E}">
        <p14:creationId xmlns:p14="http://schemas.microsoft.com/office/powerpoint/2010/main" val="2180838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181"/>
                                        </p:tgtEl>
                                        <p:attrNameLst>
                                          <p:attrName>style.visibility</p:attrName>
                                        </p:attrNameLst>
                                      </p:cBhvr>
                                      <p:to>
                                        <p:strVal val="visible"/>
                                      </p:to>
                                    </p:set>
                                    <p:animEffect transition="in" filter="dissolve">
                                      <p:cBhvr>
                                        <p:cTn id="29"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181"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138</a:t>
            </a:fld>
            <a:endParaRPr lang="en-US" dirty="0"/>
          </a:p>
        </p:txBody>
      </p:sp>
    </p:spTree>
    <p:extLst>
      <p:ext uri="{BB962C8B-B14F-4D97-AF65-F5344CB8AC3E}">
        <p14:creationId xmlns:p14="http://schemas.microsoft.com/office/powerpoint/2010/main" val="236307959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Combine Processes that Flow</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92292" y="2727662"/>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87439" y="2968685"/>
            <a:ext cx="811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18454" y="4102878"/>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24388" y="4265906"/>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54264" y="4083699"/>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58235" y="2769891"/>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pitchFamily="2" charset="0"/>
              <a:ea typeface="Roboto" panose="02000000000000000000" pitchFamily="2" charset="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75727" y="3471547"/>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41008" y="3565485"/>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89475" y="3754808"/>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27426" y="3754808"/>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02117" y="3521095"/>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352604" y="4272092"/>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24760" y="4373513"/>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4</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26219" y="4742812"/>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a:t>
            </a:r>
          </a:p>
          <a:p>
            <a:pPr algn="l"/>
            <a:r>
              <a:rPr lang="en-US" altLang="en-US" sz="1000" b="0" dirty="0">
                <a:solidFill>
                  <a:schemeClr val="tx1"/>
                </a:solidFill>
                <a:latin typeface="Roboto" panose="02000000000000000000" pitchFamily="2" charset="0"/>
                <a:ea typeface="Roboto" panose="02000000000000000000" pitchFamily="2" charset="0"/>
              </a:rPr>
              <a:t>C/O Time =30 ’</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4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95576" y="4910839"/>
            <a:ext cx="885874" cy="553998"/>
          </a:xfrm>
          <a:prstGeom prst="rect">
            <a:avLst/>
          </a:prstGeom>
          <a:solidFill>
            <a:schemeClr val="accent2"/>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04407" y="2156906"/>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122465" y="2270429"/>
            <a:ext cx="4149093" cy="1766331"/>
            <a:chOff x="3873501" y="2027240"/>
            <a:chExt cx="3348037" cy="2176460"/>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Daily Orders</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40"/>
              <a:ext cx="974725" cy="733426"/>
              <a:chOff x="2440" y="1277"/>
              <a:chExt cx="614" cy="462"/>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pitchFamily="2" charset="0"/>
                  <a:ea typeface="Roboto" panose="02000000000000000000" pitchFamily="2" charset="0"/>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93" y="1283"/>
                <a:ext cx="540"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Roboto" panose="02000000000000000000" pitchFamily="2" charset="0"/>
                    <a:ea typeface="Roboto" panose="02000000000000000000" pitchFamily="2" charset="0"/>
                  </a:rPr>
                  <a:t>Production</a:t>
                </a:r>
              </a:p>
              <a:p>
                <a:pPr>
                  <a:lnSpc>
                    <a:spcPct val="100000"/>
                  </a:lnSpc>
                  <a:spcBef>
                    <a:spcPct val="30000"/>
                  </a:spcBef>
                </a:pPr>
                <a:r>
                  <a:rPr lang="en-US" altLang="en-US" sz="1400" b="0" dirty="0">
                    <a:solidFill>
                      <a:schemeClr val="tx1"/>
                    </a:solidFill>
                    <a:latin typeface="Roboto" panose="02000000000000000000" pitchFamily="2" charset="0"/>
                    <a:ea typeface="Roboto" panose="02000000000000000000" pitchFamily="2" charset="0"/>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Daily Ship</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Schedule</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165070" y="4102878"/>
            <a:ext cx="1044479" cy="583383"/>
          </a:xfrm>
          <a:prstGeom prst="rect">
            <a:avLst/>
          </a:prstGeom>
          <a:solidFill>
            <a:schemeClr val="bg1"/>
          </a:solidFill>
          <a:ln w="1270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latin typeface="Roboto" panose="02000000000000000000" pitchFamily="2" charset="0"/>
              <a:ea typeface="Roboto" panose="02000000000000000000" pitchFamily="2" charset="0"/>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171005" y="4265906"/>
            <a:ext cx="1029643" cy="1598"/>
          </a:xfrm>
          <a:prstGeom prst="line">
            <a:avLst/>
          </a:prstGeom>
          <a:solidFill>
            <a:schemeClr val="bg1"/>
          </a:solidFill>
          <a:ln w="12700" cap="sq">
            <a:solidFill>
              <a:srgbClr val="EE3228"/>
            </a:solidFill>
            <a:round/>
            <a:headEnd type="none" w="sm" len="sm"/>
            <a:tailEnd type="none" w="sm" len="sm"/>
          </a:ln>
        </p:spPr>
        <p:txBody>
          <a:bodyPr wrap="none"/>
          <a:lstStyle/>
          <a:p>
            <a:endParaRPr lang="en-US" sz="1399">
              <a:solidFill>
                <a:srgbClr val="EE3228"/>
              </a:solidFill>
              <a:latin typeface="Roboto" panose="02000000000000000000" pitchFamily="2" charset="0"/>
              <a:ea typeface="Roboto" panose="02000000000000000000" pitchFamily="2" charset="0"/>
            </a:endParaRPr>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200880" y="4083699"/>
            <a:ext cx="978827" cy="46166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rgbClr val="EE3228"/>
                </a:solidFill>
                <a:latin typeface="Roboto" panose="02000000000000000000" pitchFamily="2" charset="0"/>
                <a:ea typeface="Roboto" panose="02000000000000000000" pitchFamily="2" charset="0"/>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299221" y="4272092"/>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latin typeface="Roboto" panose="02000000000000000000" pitchFamily="2" charset="0"/>
                <a:ea typeface="Roboto" panose="02000000000000000000" pitchFamily="2" charset="0"/>
              </a:endParaRPr>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solidFill>
                  <a:srgbClr val="EE3228"/>
                </a:solidFill>
                <a:latin typeface="Roboto" panose="02000000000000000000" pitchFamily="2" charset="0"/>
                <a:ea typeface="Roboto" panose="02000000000000000000" pitchFamily="2" charset="0"/>
              </a:endParaRPr>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656949" y="4373513"/>
            <a:ext cx="391454" cy="246221"/>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rgbClr val="EE3228"/>
                </a:solidFill>
                <a:latin typeface="Roboto" panose="02000000000000000000" pitchFamily="2" charset="0"/>
                <a:ea typeface="Roboto" panose="02000000000000000000" pitchFamily="2" charset="0"/>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172836" y="4742812"/>
            <a:ext cx="1044479" cy="848071"/>
          </a:xfrm>
          <a:prstGeom prst="rect">
            <a:avLst/>
          </a:prstGeom>
          <a:solidFill>
            <a:schemeClr val="bg1"/>
          </a:solidFill>
          <a:ln w="12700" cap="sq">
            <a:solidFill>
              <a:srgbClr val="EE3228"/>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rgbClr val="EE3228"/>
                </a:solidFill>
                <a:latin typeface="Roboto" panose="02000000000000000000" pitchFamily="2" charset="0"/>
                <a:ea typeface="Roboto" panose="02000000000000000000" pitchFamily="2" charset="0"/>
              </a:rPr>
              <a:t>DOI = 15 “</a:t>
            </a:r>
          </a:p>
          <a:p>
            <a:pPr algn="l"/>
            <a:r>
              <a:rPr lang="en-US" altLang="en-US" sz="1000" b="0" dirty="0">
                <a:solidFill>
                  <a:srgbClr val="EE3228"/>
                </a:solidFill>
                <a:latin typeface="Roboto" panose="02000000000000000000" pitchFamily="2" charset="0"/>
                <a:ea typeface="Roboto" panose="02000000000000000000" pitchFamily="2" charset="0"/>
              </a:rPr>
              <a:t>C/O Time =120 ’</a:t>
            </a:r>
          </a:p>
          <a:p>
            <a:pPr algn="l"/>
            <a:r>
              <a:rPr lang="en-US" altLang="en-US" sz="1000" b="0" dirty="0">
                <a:solidFill>
                  <a:srgbClr val="EE3228"/>
                </a:solidFill>
                <a:latin typeface="Roboto" panose="02000000000000000000" pitchFamily="2" charset="0"/>
                <a:ea typeface="Roboto" panose="02000000000000000000" pitchFamily="2" charset="0"/>
              </a:rPr>
              <a:t>Uptime = 99%</a:t>
            </a:r>
          </a:p>
          <a:p>
            <a:pPr algn="l"/>
            <a:r>
              <a:rPr lang="en-US" altLang="en-US" sz="1000" b="0" dirty="0">
                <a:solidFill>
                  <a:srgbClr val="EE3228"/>
                </a:solidFill>
                <a:latin typeface="Roboto" panose="02000000000000000000" pitchFamily="2" charset="0"/>
                <a:ea typeface="Roboto" panose="02000000000000000000" pitchFamily="2" charset="0"/>
              </a:rPr>
              <a:t>Quality = 98%</a:t>
            </a:r>
          </a:p>
          <a:p>
            <a:pPr algn="l"/>
            <a:endParaRPr lang="en-US" altLang="en-US" sz="1000" b="0" dirty="0">
              <a:solidFill>
                <a:srgbClr val="EE3228"/>
              </a:solidFill>
              <a:latin typeface="Roboto" panose="02000000000000000000" pitchFamily="2" charset="0"/>
              <a:ea typeface="Roboto" panose="02000000000000000000" pitchFamily="2" charset="0"/>
            </a:endParaRPr>
          </a:p>
        </p:txBody>
      </p:sp>
      <p:grpSp>
        <p:nvGrpSpPr>
          <p:cNvPr id="10" name="Group 9">
            <a:extLst>
              <a:ext uri="{FF2B5EF4-FFF2-40B4-BE49-F238E27FC236}">
                <a16:creationId xmlns:a16="http://schemas.microsoft.com/office/drawing/2014/main" id="{B37A5AD1-4216-1793-D41F-D26842B2A86D}"/>
              </a:ext>
            </a:extLst>
          </p:cNvPr>
          <p:cNvGrpSpPr/>
          <p:nvPr/>
        </p:nvGrpSpPr>
        <p:grpSpPr>
          <a:xfrm>
            <a:off x="940004" y="321492"/>
            <a:ext cx="6217883" cy="311851"/>
            <a:chOff x="940249" y="302538"/>
            <a:chExt cx="6219503" cy="311932"/>
          </a:xfrm>
        </p:grpSpPr>
        <p:sp>
          <p:nvSpPr>
            <p:cNvPr id="11" name="TextBox 10">
              <a:extLst>
                <a:ext uri="{FF2B5EF4-FFF2-40B4-BE49-F238E27FC236}">
                  <a16:creationId xmlns:a16="http://schemas.microsoft.com/office/drawing/2014/main" id="{AC3C9DF6-AF6A-F194-D165-D38630DD478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E118B285-4C16-4CB0-98D6-88CF7403F82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9">
              <a:extLst>
                <a:ext uri="{FF2B5EF4-FFF2-40B4-BE49-F238E27FC236}">
                  <a16:creationId xmlns:a16="http://schemas.microsoft.com/office/drawing/2014/main" id="{F645029E-3AE8-BDA5-FF2F-2368BB389F69}"/>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146AAE69-9173-6FE9-61A4-8F79040B4E42}"/>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44C0C98D-017C-EEC0-B78B-41E0826D3D34}"/>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11">
              <a:extLst>
                <a:ext uri="{FF2B5EF4-FFF2-40B4-BE49-F238E27FC236}">
                  <a16:creationId xmlns:a16="http://schemas.microsoft.com/office/drawing/2014/main" id="{9C8B7012-BF4E-4DE0-86F2-1F36A7B47DB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7" name="Slide Number Placeholder 2">
            <a:extLst>
              <a:ext uri="{FF2B5EF4-FFF2-40B4-BE49-F238E27FC236}">
                <a16:creationId xmlns:a16="http://schemas.microsoft.com/office/drawing/2014/main" id="{E3612C0E-D36C-EEAF-6E15-863F687C635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139</a:t>
            </a:fld>
            <a:endParaRPr lang="en-US" dirty="0"/>
          </a:p>
        </p:txBody>
      </p:sp>
      <p:grpSp>
        <p:nvGrpSpPr>
          <p:cNvPr id="18" name="Group 17">
            <a:extLst>
              <a:ext uri="{FF2B5EF4-FFF2-40B4-BE49-F238E27FC236}">
                <a16:creationId xmlns:a16="http://schemas.microsoft.com/office/drawing/2014/main" id="{39DC680D-7F21-54F7-C6A5-C32A63E263DF}"/>
              </a:ext>
            </a:extLst>
          </p:cNvPr>
          <p:cNvGrpSpPr/>
          <p:nvPr/>
        </p:nvGrpSpPr>
        <p:grpSpPr>
          <a:xfrm>
            <a:off x="9037027" y="4113792"/>
            <a:ext cx="1042416" cy="585216"/>
            <a:chOff x="18114246" y="7065835"/>
            <a:chExt cx="2089504" cy="1205437"/>
          </a:xfrm>
        </p:grpSpPr>
        <p:sp>
          <p:nvSpPr>
            <p:cNvPr id="19" name="Rectangle 7">
              <a:extLst>
                <a:ext uri="{FF2B5EF4-FFF2-40B4-BE49-F238E27FC236}">
                  <a16:creationId xmlns:a16="http://schemas.microsoft.com/office/drawing/2014/main" id="{4CCAD9DE-B60E-4C1C-B00A-573BF96DC9A0}"/>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0" name="Text Box 9">
              <a:extLst>
                <a:ext uri="{FF2B5EF4-FFF2-40B4-BE49-F238E27FC236}">
                  <a16:creationId xmlns:a16="http://schemas.microsoft.com/office/drawing/2014/main" id="{0EE95F44-3F7A-75A2-351B-271539C495CF}"/>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22" name="Line 8">
              <a:extLst>
                <a:ext uri="{FF2B5EF4-FFF2-40B4-BE49-F238E27FC236}">
                  <a16:creationId xmlns:a16="http://schemas.microsoft.com/office/drawing/2014/main" id="{E00FD61E-11AB-628F-30C8-7D838F4C21F8}"/>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grpSp>
        <p:nvGrpSpPr>
          <p:cNvPr id="23" name="Group 22">
            <a:extLst>
              <a:ext uri="{FF2B5EF4-FFF2-40B4-BE49-F238E27FC236}">
                <a16:creationId xmlns:a16="http://schemas.microsoft.com/office/drawing/2014/main" id="{084B0F5E-DF06-A493-F6B0-C424332CB4F6}"/>
              </a:ext>
            </a:extLst>
          </p:cNvPr>
          <p:cNvGrpSpPr/>
          <p:nvPr/>
        </p:nvGrpSpPr>
        <p:grpSpPr>
          <a:xfrm>
            <a:off x="8984020" y="1810156"/>
            <a:ext cx="2907054" cy="950421"/>
            <a:chOff x="17907288" y="3305639"/>
            <a:chExt cx="4152283" cy="1112710"/>
          </a:xfrm>
        </p:grpSpPr>
        <p:sp>
          <p:nvSpPr>
            <p:cNvPr id="24" name="Rectangle 12">
              <a:extLst>
                <a:ext uri="{FF2B5EF4-FFF2-40B4-BE49-F238E27FC236}">
                  <a16:creationId xmlns:a16="http://schemas.microsoft.com/office/drawing/2014/main" id="{54633A13-D3F1-503A-3277-0996FAF4248D}"/>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Rectangle 13">
              <a:extLst>
                <a:ext uri="{FF2B5EF4-FFF2-40B4-BE49-F238E27FC236}">
                  <a16:creationId xmlns:a16="http://schemas.microsoft.com/office/drawing/2014/main" id="{240E8521-13E8-F43D-2DD4-22DD6F5C64B1}"/>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1" name="AutoShape 14">
              <a:extLst>
                <a:ext uri="{FF2B5EF4-FFF2-40B4-BE49-F238E27FC236}">
                  <a16:creationId xmlns:a16="http://schemas.microsoft.com/office/drawing/2014/main" id="{542D9FC0-244B-4698-5ADC-4811524F44EE}"/>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15">
              <a:extLst>
                <a:ext uri="{FF2B5EF4-FFF2-40B4-BE49-F238E27FC236}">
                  <a16:creationId xmlns:a16="http://schemas.microsoft.com/office/drawing/2014/main" id="{7D9BA32C-7A9B-E572-70D4-CF263D97AA49}"/>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16">
              <a:extLst>
                <a:ext uri="{FF2B5EF4-FFF2-40B4-BE49-F238E27FC236}">
                  <a16:creationId xmlns:a16="http://schemas.microsoft.com/office/drawing/2014/main" id="{726E04C1-5F48-AD21-7B1B-385552432E9B}"/>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7">
              <a:extLst>
                <a:ext uri="{FF2B5EF4-FFF2-40B4-BE49-F238E27FC236}">
                  <a16:creationId xmlns:a16="http://schemas.microsoft.com/office/drawing/2014/main" id="{ADC219DD-7E50-6130-F93D-953C4E22EF31}"/>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8">
              <a:extLst>
                <a:ext uri="{FF2B5EF4-FFF2-40B4-BE49-F238E27FC236}">
                  <a16:creationId xmlns:a16="http://schemas.microsoft.com/office/drawing/2014/main" id="{563759EC-97D9-D3C5-AF67-D8F342D373BA}"/>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9">
              <a:extLst>
                <a:ext uri="{FF2B5EF4-FFF2-40B4-BE49-F238E27FC236}">
                  <a16:creationId xmlns:a16="http://schemas.microsoft.com/office/drawing/2014/main" id="{75B03600-9263-14CF-FB6B-2A4659BBBB29}"/>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7" name="Text Box 20">
              <a:extLst>
                <a:ext uri="{FF2B5EF4-FFF2-40B4-BE49-F238E27FC236}">
                  <a16:creationId xmlns:a16="http://schemas.microsoft.com/office/drawing/2014/main" id="{CBF49D0F-424B-63F6-EDC5-34C973C443C2}"/>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38" name="Text Box 22">
              <a:extLst>
                <a:ext uri="{FF2B5EF4-FFF2-40B4-BE49-F238E27FC236}">
                  <a16:creationId xmlns:a16="http://schemas.microsoft.com/office/drawing/2014/main" id="{48AB9804-F78B-4BBF-8637-A852B09CBC00}"/>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spTree>
    <p:extLst>
      <p:ext uri="{BB962C8B-B14F-4D97-AF65-F5344CB8AC3E}">
        <p14:creationId xmlns:p14="http://schemas.microsoft.com/office/powerpoint/2010/main" val="1450432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140</a:t>
            </a:fld>
            <a:endParaRPr lang="en-US" dirty="0"/>
          </a:p>
        </p:txBody>
      </p:sp>
    </p:spTree>
    <p:extLst>
      <p:ext uri="{BB962C8B-B14F-4D97-AF65-F5344CB8AC3E}">
        <p14:creationId xmlns:p14="http://schemas.microsoft.com/office/powerpoint/2010/main" val="178382400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Add Supermarkets &amp; Kanban</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418233" y="2897783"/>
            <a:ext cx="1706902" cy="581473"/>
            <a:chOff x="3486" y="1604"/>
            <a:chExt cx="1001"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86"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341761" y="3138806"/>
            <a:ext cx="91467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72776" y="4272999"/>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78710" y="4436027"/>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308586" y="4253820"/>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612557" y="2940012"/>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330049" y="3641668"/>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95330" y="3735606"/>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843797" y="3924929"/>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81748" y="3924929"/>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256439" y="3691216"/>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406926" y="4442213"/>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67861" y="4543634"/>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4</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80541" y="4912933"/>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a:t>
            </a:r>
          </a:p>
          <a:p>
            <a:pPr algn="l"/>
            <a:r>
              <a:rPr lang="en-US" altLang="en-US" sz="1000" b="0" dirty="0">
                <a:solidFill>
                  <a:schemeClr val="tx1"/>
                </a:solidFill>
                <a:latin typeface="Roboto" panose="02000000000000000000"/>
              </a:rPr>
              <a:t>C/O Time =30 ’</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4 Machines</a:t>
            </a:r>
          </a:p>
          <a:p>
            <a:pPr algn="l"/>
            <a:endParaRPr lang="en-US" altLang="en-US" sz="1000" b="0" dirty="0">
              <a:solidFill>
                <a:schemeClr val="tx1"/>
              </a:solidFill>
              <a:latin typeface="Roboto" panose="02000000000000000000"/>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249898" y="5080960"/>
            <a:ext cx="88587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058729" y="2327027"/>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176787" y="2440550"/>
            <a:ext cx="4149093" cy="1766331"/>
            <a:chOff x="3873501" y="2027240"/>
            <a:chExt cx="3348037" cy="2176460"/>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2027240"/>
              <a:ext cx="974725" cy="733426"/>
              <a:chOff x="2440" y="1277"/>
              <a:chExt cx="614" cy="462"/>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81" y="1283"/>
                <a:ext cx="529"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Roboto" panose="02000000000000000000"/>
                  </a:rPr>
                  <a:t>Production</a:t>
                </a:r>
              </a:p>
              <a:p>
                <a:pPr>
                  <a:lnSpc>
                    <a:spcPct val="100000"/>
                  </a:lnSpc>
                  <a:spcBef>
                    <a:spcPct val="30000"/>
                  </a:spcBef>
                </a:pPr>
                <a:r>
                  <a:rPr lang="en-US" altLang="en-US" sz="1400" b="0" dirty="0">
                    <a:solidFill>
                      <a:schemeClr val="tx1"/>
                    </a:solidFill>
                    <a:latin typeface="Roboto" panose="02000000000000000000"/>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219392" y="4272999"/>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225327" y="4436027"/>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255202" y="4253820"/>
            <a:ext cx="978827" cy="261610"/>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100" b="0" dirty="0">
                <a:solidFill>
                  <a:schemeClr val="tx1"/>
                </a:solidFill>
                <a:latin typeface="Roboto" panose="02000000000000000000"/>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353543" y="4442213"/>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696844" y="4543634"/>
            <a:ext cx="4010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227158" y="4912933"/>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a:t>
            </a:r>
          </a:p>
          <a:p>
            <a:pPr algn="l"/>
            <a:r>
              <a:rPr lang="en-US" altLang="en-US" sz="1000" b="0" dirty="0">
                <a:solidFill>
                  <a:schemeClr val="tx1"/>
                </a:solidFill>
                <a:latin typeface="Roboto" panose="02000000000000000000"/>
              </a:rPr>
              <a:t>C/O Time =120 ’</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a:p>
            <a:pPr algn="l"/>
            <a:endParaRPr lang="en-US" altLang="en-US" sz="1000" b="0" dirty="0">
              <a:solidFill>
                <a:schemeClr val="tx1"/>
              </a:solidFill>
              <a:latin typeface="Roboto" panose="02000000000000000000"/>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239566" y="2555213"/>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a:t>
              </a:r>
            </a:p>
            <a:p>
              <a:pPr>
                <a:lnSpc>
                  <a:spcPct val="90000"/>
                </a:lnSpc>
                <a:spcBef>
                  <a:spcPct val="0"/>
                </a:spcBef>
              </a:pPr>
              <a:r>
                <a:rPr lang="en-US" altLang="en-US" sz="1000" b="0" dirty="0">
                  <a:solidFill>
                    <a:schemeClr val="tx1"/>
                  </a:solidFill>
                  <a:latin typeface="Roboto" panose="02000000000000000000"/>
                </a:rPr>
                <a:t>Replenishment</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1831398" y="3048904"/>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1270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latin typeface="Roboto" panose="02000000000000000000"/>
                </a:endParaRPr>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57150" cap="sq">
              <a:solidFill>
                <a:srgbClr val="EE3228"/>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rgbClr val="EE3228"/>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latin typeface="Roboto" panose="02000000000000000000"/>
                </a:endParaRPr>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solidFill>
                    <a:srgbClr val="EE3228"/>
                  </a:solidFill>
                  <a:latin typeface="Roboto" panose="02000000000000000000"/>
                </a:endParaRPr>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9525">
                <a:solidFill>
                  <a:srgbClr val="EE3228"/>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5400">
              <a:solidFill>
                <a:srgbClr val="EE3228"/>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solidFill>
                  <a:srgbClr val="EE3228"/>
                </a:solidFill>
                <a:latin typeface="Roboto" panose="02000000000000000000"/>
              </a:endParaRPr>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342230" y="4464564"/>
            <a:ext cx="5629975" cy="550917"/>
            <a:chOff x="559" y="2496"/>
            <a:chExt cx="2805"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a:endParaRPr>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59" y="2726"/>
              <a:ext cx="261"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rgbClr val="EE3228"/>
                  </a:solidFill>
                  <a:latin typeface="Roboto" panose="02000000000000000000"/>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06" y="2726"/>
              <a:ext cx="277"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rgbClr val="EE3228"/>
                  </a:solidFill>
                  <a:latin typeface="Roboto" panose="02000000000000000000"/>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03" y="2726"/>
              <a:ext cx="261"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rgbClr val="EE3228"/>
                  </a:solidFill>
                  <a:latin typeface="Roboto" panose="02000000000000000000"/>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2807077" y="3641668"/>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57150">
                <a:solidFill>
                  <a:srgbClr val="EE3228"/>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5715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5715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57150">
                <a:solidFill>
                  <a:srgbClr val="EE3228"/>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57150">
                <a:solidFill>
                  <a:srgbClr val="EE3228"/>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5715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5715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57150" cap="sq">
                <a:solidFill>
                  <a:srgbClr val="EE3228"/>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57150">
                <a:solidFill>
                  <a:srgbClr val="EE3228"/>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grpSp>
        <p:nvGrpSpPr>
          <p:cNvPr id="10" name="Group 9">
            <a:extLst>
              <a:ext uri="{FF2B5EF4-FFF2-40B4-BE49-F238E27FC236}">
                <a16:creationId xmlns:a16="http://schemas.microsoft.com/office/drawing/2014/main" id="{98140409-6883-366C-11DB-683B6EE4A326}"/>
              </a:ext>
            </a:extLst>
          </p:cNvPr>
          <p:cNvGrpSpPr/>
          <p:nvPr/>
        </p:nvGrpSpPr>
        <p:grpSpPr>
          <a:xfrm>
            <a:off x="940004" y="321492"/>
            <a:ext cx="6217883" cy="311851"/>
            <a:chOff x="940249" y="302538"/>
            <a:chExt cx="6219503" cy="311932"/>
          </a:xfrm>
        </p:grpSpPr>
        <p:sp>
          <p:nvSpPr>
            <p:cNvPr id="11" name="TextBox 10">
              <a:extLst>
                <a:ext uri="{FF2B5EF4-FFF2-40B4-BE49-F238E27FC236}">
                  <a16:creationId xmlns:a16="http://schemas.microsoft.com/office/drawing/2014/main" id="{37FC5147-9226-3F61-02ED-F60A0CC2918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D34F3638-63BD-E8E0-4DBC-78294AA6772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3" name="AutoShape 9">
              <a:extLst>
                <a:ext uri="{FF2B5EF4-FFF2-40B4-BE49-F238E27FC236}">
                  <a16:creationId xmlns:a16="http://schemas.microsoft.com/office/drawing/2014/main" id="{77679FCA-120E-5A53-3129-858134F6997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14D78D7A-221D-FB81-1987-6A88FD581FAB}"/>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E291202E-6FAB-7A3A-77BA-0E5E0DD84CDA}"/>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11">
              <a:extLst>
                <a:ext uri="{FF2B5EF4-FFF2-40B4-BE49-F238E27FC236}">
                  <a16:creationId xmlns:a16="http://schemas.microsoft.com/office/drawing/2014/main" id="{8EB50C54-67DA-7DF8-D833-A263B53F5261}"/>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7" name="Slide Number Placeholder 2">
            <a:extLst>
              <a:ext uri="{FF2B5EF4-FFF2-40B4-BE49-F238E27FC236}">
                <a16:creationId xmlns:a16="http://schemas.microsoft.com/office/drawing/2014/main" id="{21D4C5F6-2798-F1EB-1712-225DB3E7FC1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latin typeface="Roboto" panose="02000000000000000000"/>
              </a:rPr>
              <a:pPr/>
              <a:t>141</a:t>
            </a:fld>
            <a:endParaRPr lang="en-US" dirty="0">
              <a:latin typeface="Roboto" panose="02000000000000000000"/>
            </a:endParaRPr>
          </a:p>
        </p:txBody>
      </p:sp>
      <p:grpSp>
        <p:nvGrpSpPr>
          <p:cNvPr id="18" name="Group 17">
            <a:extLst>
              <a:ext uri="{FF2B5EF4-FFF2-40B4-BE49-F238E27FC236}">
                <a16:creationId xmlns:a16="http://schemas.microsoft.com/office/drawing/2014/main" id="{E481CB9B-7A42-B296-140A-3E804494179D}"/>
              </a:ext>
            </a:extLst>
          </p:cNvPr>
          <p:cNvGrpSpPr/>
          <p:nvPr/>
        </p:nvGrpSpPr>
        <p:grpSpPr>
          <a:xfrm>
            <a:off x="9210009" y="4277571"/>
            <a:ext cx="1042416" cy="585216"/>
            <a:chOff x="18114246" y="7065835"/>
            <a:chExt cx="2089504" cy="1205437"/>
          </a:xfrm>
        </p:grpSpPr>
        <p:sp>
          <p:nvSpPr>
            <p:cNvPr id="19" name="Rectangle 7">
              <a:extLst>
                <a:ext uri="{FF2B5EF4-FFF2-40B4-BE49-F238E27FC236}">
                  <a16:creationId xmlns:a16="http://schemas.microsoft.com/office/drawing/2014/main" id="{B9516593-80BF-D181-0F04-6840D8D23F8C}"/>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0" name="Text Box 9">
              <a:extLst>
                <a:ext uri="{FF2B5EF4-FFF2-40B4-BE49-F238E27FC236}">
                  <a16:creationId xmlns:a16="http://schemas.microsoft.com/office/drawing/2014/main" id="{FE455CA3-B651-538D-1267-0F3BA2430AAA}"/>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22" name="Line 8">
              <a:extLst>
                <a:ext uri="{FF2B5EF4-FFF2-40B4-BE49-F238E27FC236}">
                  <a16:creationId xmlns:a16="http://schemas.microsoft.com/office/drawing/2014/main" id="{3E923622-53E2-1434-9731-7815810EC610}"/>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grpSp>
        <p:nvGrpSpPr>
          <p:cNvPr id="23" name="Group 22">
            <a:extLst>
              <a:ext uri="{FF2B5EF4-FFF2-40B4-BE49-F238E27FC236}">
                <a16:creationId xmlns:a16="http://schemas.microsoft.com/office/drawing/2014/main" id="{BEE673D6-09F0-AADC-423A-540C81F83EA8}"/>
              </a:ext>
            </a:extLst>
          </p:cNvPr>
          <p:cNvGrpSpPr/>
          <p:nvPr/>
        </p:nvGrpSpPr>
        <p:grpSpPr>
          <a:xfrm>
            <a:off x="9074860" y="2010322"/>
            <a:ext cx="2907054" cy="950421"/>
            <a:chOff x="17907288" y="3305639"/>
            <a:chExt cx="4152283" cy="1112710"/>
          </a:xfrm>
        </p:grpSpPr>
        <p:sp>
          <p:nvSpPr>
            <p:cNvPr id="24" name="Rectangle 12">
              <a:extLst>
                <a:ext uri="{FF2B5EF4-FFF2-40B4-BE49-F238E27FC236}">
                  <a16:creationId xmlns:a16="http://schemas.microsoft.com/office/drawing/2014/main" id="{010D2486-9281-71C7-24EE-F8CF1F81FD4A}"/>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Rectangle 13">
              <a:extLst>
                <a:ext uri="{FF2B5EF4-FFF2-40B4-BE49-F238E27FC236}">
                  <a16:creationId xmlns:a16="http://schemas.microsoft.com/office/drawing/2014/main" id="{6E4355A9-1A7A-07AA-8BF7-1F2449642C78}"/>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1" name="AutoShape 14">
              <a:extLst>
                <a:ext uri="{FF2B5EF4-FFF2-40B4-BE49-F238E27FC236}">
                  <a16:creationId xmlns:a16="http://schemas.microsoft.com/office/drawing/2014/main" id="{0637D7AE-4189-E8E6-A01F-1AAD24C661BC}"/>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15">
              <a:extLst>
                <a:ext uri="{FF2B5EF4-FFF2-40B4-BE49-F238E27FC236}">
                  <a16:creationId xmlns:a16="http://schemas.microsoft.com/office/drawing/2014/main" id="{944ADF1C-FDAC-9F27-2B8F-8181112A3F95}"/>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16">
              <a:extLst>
                <a:ext uri="{FF2B5EF4-FFF2-40B4-BE49-F238E27FC236}">
                  <a16:creationId xmlns:a16="http://schemas.microsoft.com/office/drawing/2014/main" id="{A7F3605D-5774-2772-C334-420310DEDC96}"/>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7">
              <a:extLst>
                <a:ext uri="{FF2B5EF4-FFF2-40B4-BE49-F238E27FC236}">
                  <a16:creationId xmlns:a16="http://schemas.microsoft.com/office/drawing/2014/main" id="{CBCDF63D-14F9-305D-C38D-518660CC01E8}"/>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8">
              <a:extLst>
                <a:ext uri="{FF2B5EF4-FFF2-40B4-BE49-F238E27FC236}">
                  <a16:creationId xmlns:a16="http://schemas.microsoft.com/office/drawing/2014/main" id="{28FBA902-DE84-053B-5731-1AF62D00C925}"/>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9">
              <a:extLst>
                <a:ext uri="{FF2B5EF4-FFF2-40B4-BE49-F238E27FC236}">
                  <a16:creationId xmlns:a16="http://schemas.microsoft.com/office/drawing/2014/main" id="{A44E38B6-E5B0-47E7-1D96-A808FF0BB342}"/>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7" name="Text Box 20">
              <a:extLst>
                <a:ext uri="{FF2B5EF4-FFF2-40B4-BE49-F238E27FC236}">
                  <a16:creationId xmlns:a16="http://schemas.microsoft.com/office/drawing/2014/main" id="{328BCBF0-33A9-62C2-ED83-CA7CA7A40436}"/>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38" name="Text Box 22">
              <a:extLst>
                <a:ext uri="{FF2B5EF4-FFF2-40B4-BE49-F238E27FC236}">
                  <a16:creationId xmlns:a16="http://schemas.microsoft.com/office/drawing/2014/main" id="{A8DC7EBA-349F-4EF0-A843-3928FF32D7AB}"/>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spTree>
    <p:extLst>
      <p:ext uri="{BB962C8B-B14F-4D97-AF65-F5344CB8AC3E}">
        <p14:creationId xmlns:p14="http://schemas.microsoft.com/office/powerpoint/2010/main" val="4054939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142</a:t>
            </a:fld>
            <a:endParaRPr lang="en-US" dirty="0"/>
          </a:p>
        </p:txBody>
      </p:sp>
    </p:spTree>
    <p:extLst>
      <p:ext uri="{BB962C8B-B14F-4D97-AF65-F5344CB8AC3E}">
        <p14:creationId xmlns:p14="http://schemas.microsoft.com/office/powerpoint/2010/main" val="102998385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Add Additional Information Flow</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693120" y="3078536"/>
            <a:ext cx="1696671" cy="581473"/>
            <a:chOff x="3492" y="1604"/>
            <a:chExt cx="995"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92"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a:rPr>
                <a:t>27,000 Seconds</a:t>
              </a:r>
            </a:p>
            <a:p>
              <a:pPr>
                <a:lnSpc>
                  <a:spcPct val="100000"/>
                </a:lnSpc>
                <a:spcBef>
                  <a:spcPct val="35000"/>
                </a:spcBef>
              </a:pPr>
              <a:r>
                <a:rPr lang="en-US" altLang="en-US" b="0" dirty="0">
                  <a:solidFill>
                    <a:schemeClr val="tx1"/>
                  </a:solidFill>
                  <a:latin typeface="Roboto" panose="0200000000000000000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606415" y="3319559"/>
            <a:ext cx="9560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a:rPr>
              <a:t>= </a:t>
            </a:r>
            <a:r>
              <a:rPr lang="en-US" altLang="en-US" dirty="0">
                <a:solidFill>
                  <a:srgbClr val="FF0000"/>
                </a:solidFill>
                <a:latin typeface="Roboto" panose="02000000000000000000"/>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537431" y="44537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543365" y="46167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573241" y="4434573"/>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877212" y="3120765"/>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594704" y="3822421"/>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10059985" y="3916359"/>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10108452" y="41056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646403" y="4105682"/>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521094" y="3871969"/>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671581" y="4622966"/>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3032516" y="4724387"/>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4</a:t>
            </a:r>
            <a:endParaRPr lang="en-US" altLang="en-US" sz="1000" b="0" dirty="0">
              <a:solidFill>
                <a:srgbClr val="FF0000"/>
              </a:solidFill>
              <a:latin typeface="Roboto" panose="0200000000000000000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545196" y="50936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12 “</a:t>
            </a:r>
          </a:p>
          <a:p>
            <a:pPr algn="l"/>
            <a:r>
              <a:rPr lang="en-US" altLang="en-US" sz="1000" b="0" dirty="0">
                <a:solidFill>
                  <a:schemeClr val="tx1"/>
                </a:solidFill>
                <a:latin typeface="Roboto" panose="02000000000000000000"/>
              </a:rPr>
              <a:t>C/O Time =30 ’</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99%</a:t>
            </a:r>
          </a:p>
          <a:p>
            <a:pPr algn="l"/>
            <a:r>
              <a:rPr lang="en-US" altLang="en-US" sz="1000" b="0" dirty="0">
                <a:solidFill>
                  <a:schemeClr val="tx1"/>
                </a:solidFill>
                <a:latin typeface="Roboto" panose="02000000000000000000"/>
              </a:rPr>
              <a:t>4 Machines</a:t>
            </a:r>
          </a:p>
          <a:p>
            <a:pPr algn="l"/>
            <a:endParaRPr lang="en-US" altLang="en-US" sz="1000" b="0" dirty="0">
              <a:solidFill>
                <a:schemeClr val="tx1"/>
              </a:solidFill>
              <a:latin typeface="Roboto" panose="02000000000000000000"/>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514553" y="5261713"/>
            <a:ext cx="88587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1 sheet yields 4 pieces</a:t>
            </a:r>
            <a:r>
              <a:rPr lang="en-US" altLang="en-US" sz="1000" b="0" dirty="0">
                <a:solidFill>
                  <a:srgbClr val="FF0000"/>
                </a:solidFill>
                <a:latin typeface="Roboto" panose="0200000000000000000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1323384" y="2507780"/>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a:rPr>
                  <a:t>Acme</a:t>
                </a:r>
              </a:p>
              <a:p>
                <a:pPr>
                  <a:lnSpc>
                    <a:spcPct val="90000"/>
                  </a:lnSpc>
                  <a:spcBef>
                    <a:spcPct val="0"/>
                  </a:spcBef>
                </a:pPr>
                <a:r>
                  <a:rPr lang="en-US" altLang="en-US" b="0" dirty="0">
                    <a:solidFill>
                      <a:schemeClr val="tx1"/>
                    </a:solidFill>
                    <a:latin typeface="Roboto" panose="0200000000000000000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a:rPr>
                  <a:t>1X</a:t>
                </a:r>
              </a:p>
              <a:p>
                <a:pPr>
                  <a:lnSpc>
                    <a:spcPct val="100000"/>
                  </a:lnSpc>
                  <a:spcBef>
                    <a:spcPct val="0"/>
                  </a:spcBef>
                </a:pPr>
                <a:r>
                  <a:rPr lang="en-US" altLang="en-US" b="0" dirty="0">
                    <a:solidFill>
                      <a:schemeClr val="tx1"/>
                    </a:solidFill>
                    <a:latin typeface="Roboto" panose="02000000000000000000"/>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441442" y="2467989"/>
            <a:ext cx="4149093" cy="1919645"/>
            <a:chOff x="3873501" y="1838327"/>
            <a:chExt cx="3348037" cy="2365373"/>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Daily Orders</a:t>
                </a:r>
              </a:p>
              <a:p>
                <a:pPr>
                  <a:lnSpc>
                    <a:spcPct val="90000"/>
                  </a:lnSpc>
                  <a:spcBef>
                    <a:spcPct val="0"/>
                  </a:spcBef>
                </a:pPr>
                <a:r>
                  <a:rPr lang="en-US" altLang="en-US" sz="1000" b="0" dirty="0">
                    <a:solidFill>
                      <a:schemeClr val="tx1"/>
                    </a:solidFill>
                    <a:latin typeface="Roboto" panose="0200000000000000000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1838327"/>
              <a:ext cx="974725" cy="898526"/>
              <a:chOff x="2440" y="1158"/>
              <a:chExt cx="614" cy="566"/>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158"/>
                <a:ext cx="614" cy="56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81" y="1230"/>
                <a:ext cx="529"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Roboto" panose="02000000000000000000"/>
                  </a:rPr>
                  <a:t>Production</a:t>
                </a:r>
              </a:p>
              <a:p>
                <a:pPr>
                  <a:lnSpc>
                    <a:spcPct val="100000"/>
                  </a:lnSpc>
                  <a:spcBef>
                    <a:spcPct val="30000"/>
                  </a:spcBef>
                </a:pPr>
                <a:r>
                  <a:rPr lang="en-US" altLang="en-US" sz="1400" b="0" dirty="0">
                    <a:solidFill>
                      <a:schemeClr val="tx1"/>
                    </a:solidFill>
                    <a:latin typeface="Roboto" panose="02000000000000000000"/>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a:rPr>
                  <a:t>Daily Ship</a:t>
                </a:r>
              </a:p>
              <a:p>
                <a:pPr>
                  <a:lnSpc>
                    <a:spcPct val="90000"/>
                  </a:lnSpc>
                  <a:spcBef>
                    <a:spcPct val="0"/>
                  </a:spcBef>
                </a:pPr>
                <a:r>
                  <a:rPr lang="en-US" altLang="en-US" sz="1000" b="0">
                    <a:solidFill>
                      <a:schemeClr val="tx1"/>
                    </a:solidFill>
                    <a:latin typeface="Roboto" panose="02000000000000000000"/>
                  </a:rPr>
                  <a:t>Schedule</a:t>
                </a:r>
              </a:p>
              <a:p>
                <a:pPr>
                  <a:lnSpc>
                    <a:spcPct val="90000"/>
                  </a:lnSpc>
                  <a:spcBef>
                    <a:spcPct val="0"/>
                  </a:spcBef>
                </a:pPr>
                <a:r>
                  <a:rPr lang="en-US" altLang="en-US" sz="1000" b="0">
                    <a:solidFill>
                      <a:schemeClr val="tx1"/>
                    </a:solidFill>
                    <a:latin typeface="Roboto" panose="02000000000000000000"/>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484047" y="4453752"/>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489982" y="4616780"/>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a:endParaRPr>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519857" y="4434573"/>
            <a:ext cx="978827" cy="46166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618198" y="4622966"/>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a:endParaRPr>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961499" y="4724387"/>
            <a:ext cx="4010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491813" y="5093686"/>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a:rPr>
              <a:t>DOI = 15 “</a:t>
            </a:r>
          </a:p>
          <a:p>
            <a:pPr algn="l"/>
            <a:r>
              <a:rPr lang="en-US" altLang="en-US" sz="1000" b="0" dirty="0">
                <a:solidFill>
                  <a:schemeClr val="tx1"/>
                </a:solidFill>
                <a:latin typeface="Roboto" panose="02000000000000000000"/>
              </a:rPr>
              <a:t>C/O Time =120 ’</a:t>
            </a:r>
          </a:p>
          <a:p>
            <a:pPr algn="l"/>
            <a:r>
              <a:rPr lang="en-US" altLang="en-US" sz="1000" b="0" dirty="0">
                <a:solidFill>
                  <a:schemeClr val="tx1"/>
                </a:solidFill>
                <a:latin typeface="Roboto" panose="02000000000000000000"/>
              </a:rPr>
              <a:t>Uptime = 99%</a:t>
            </a:r>
          </a:p>
          <a:p>
            <a:pPr algn="l"/>
            <a:r>
              <a:rPr lang="en-US" altLang="en-US" sz="1000" b="0" dirty="0">
                <a:solidFill>
                  <a:schemeClr val="tx1"/>
                </a:solidFill>
                <a:latin typeface="Roboto" panose="02000000000000000000"/>
              </a:rPr>
              <a:t>Quality = 98%</a:t>
            </a:r>
          </a:p>
          <a:p>
            <a:pPr algn="l"/>
            <a:endParaRPr lang="en-US" altLang="en-US" sz="1000" b="0" dirty="0">
              <a:solidFill>
                <a:schemeClr val="tx1"/>
              </a:solidFill>
              <a:latin typeface="Roboto" panose="02000000000000000000"/>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504221" y="2735966"/>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a:endParaRPr>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a:rPr>
                <a:t>Weekly</a:t>
              </a:r>
            </a:p>
            <a:p>
              <a:pPr>
                <a:lnSpc>
                  <a:spcPct val="90000"/>
                </a:lnSpc>
                <a:spcBef>
                  <a:spcPct val="0"/>
                </a:spcBef>
              </a:pPr>
              <a:r>
                <a:rPr lang="en-US" altLang="en-US" sz="1000" b="0" dirty="0">
                  <a:solidFill>
                    <a:schemeClr val="tx1"/>
                  </a:solidFill>
                  <a:latin typeface="Roboto" panose="02000000000000000000"/>
                </a:rPr>
                <a:t>Replenishment</a:t>
              </a:r>
            </a:p>
            <a:p>
              <a:pPr>
                <a:lnSpc>
                  <a:spcPct val="90000"/>
                </a:lnSpc>
                <a:spcBef>
                  <a:spcPct val="0"/>
                </a:spcBef>
              </a:pPr>
              <a:r>
                <a:rPr lang="en-US" altLang="en-US" sz="1000" b="0" dirty="0">
                  <a:solidFill>
                    <a:schemeClr val="tx1"/>
                  </a:solidFill>
                  <a:latin typeface="Roboto" panose="02000000000000000000"/>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2096053" y="3229657"/>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28575" cap="sq">
              <a:solidFill>
                <a:schemeClr val="tx1"/>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2857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2857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608891" y="4645317"/>
            <a:ext cx="5629974" cy="550917"/>
            <a:chOff x="560" y="2496"/>
            <a:chExt cx="2805"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a:endParaRPr>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60" y="2726"/>
              <a:ext cx="261"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06" y="2726"/>
              <a:ext cx="277"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04" y="2726"/>
              <a:ext cx="261"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3071732" y="3822421"/>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a:endParaRPr>
              </a:p>
            </p:txBody>
          </p:sp>
        </p:grpSp>
      </p:grpSp>
      <p:sp>
        <p:nvSpPr>
          <p:cNvPr id="10" name="Line 116">
            <a:extLst>
              <a:ext uri="{FF2B5EF4-FFF2-40B4-BE49-F238E27FC236}">
                <a16:creationId xmlns:a16="http://schemas.microsoft.com/office/drawing/2014/main" id="{5F20D398-5608-5CD6-5B85-27331A304B23}"/>
              </a:ext>
            </a:extLst>
          </p:cNvPr>
          <p:cNvSpPr>
            <a:spLocks noChangeShapeType="1"/>
          </p:cNvSpPr>
          <p:nvPr/>
        </p:nvSpPr>
        <p:spPr bwMode="auto">
          <a:xfrm flipH="1">
            <a:off x="6663032" y="2498656"/>
            <a:ext cx="1341717" cy="0"/>
          </a:xfrm>
          <a:prstGeom prst="line">
            <a:avLst/>
          </a:prstGeom>
          <a:noFill/>
          <a:ln w="57150" cap="sq">
            <a:solidFill>
              <a:srgbClr val="EE3228"/>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solidFill>
                <a:schemeClr val="accent2"/>
              </a:solidFill>
              <a:latin typeface="Roboto" panose="02000000000000000000"/>
            </a:endParaRPr>
          </a:p>
        </p:txBody>
      </p:sp>
      <p:sp>
        <p:nvSpPr>
          <p:cNvPr id="11" name="Line 117">
            <a:extLst>
              <a:ext uri="{FF2B5EF4-FFF2-40B4-BE49-F238E27FC236}">
                <a16:creationId xmlns:a16="http://schemas.microsoft.com/office/drawing/2014/main" id="{E5CCFE93-168F-F6D8-7262-B5678C5E53AA}"/>
              </a:ext>
            </a:extLst>
          </p:cNvPr>
          <p:cNvSpPr>
            <a:spLocks noChangeShapeType="1"/>
          </p:cNvSpPr>
          <p:nvPr/>
        </p:nvSpPr>
        <p:spPr bwMode="auto">
          <a:xfrm flipV="1">
            <a:off x="7861135" y="2557921"/>
            <a:ext cx="1416476" cy="6442"/>
          </a:xfrm>
          <a:prstGeom prst="line">
            <a:avLst/>
          </a:prstGeom>
          <a:noFill/>
          <a:ln w="5715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accent2"/>
              </a:solidFill>
              <a:latin typeface="Roboto" panose="02000000000000000000"/>
            </a:endParaRPr>
          </a:p>
        </p:txBody>
      </p:sp>
      <p:sp>
        <p:nvSpPr>
          <p:cNvPr id="12" name="Line 118">
            <a:extLst>
              <a:ext uri="{FF2B5EF4-FFF2-40B4-BE49-F238E27FC236}">
                <a16:creationId xmlns:a16="http://schemas.microsoft.com/office/drawing/2014/main" id="{8509417C-F5D8-305B-149C-3865C07BAF06}"/>
              </a:ext>
            </a:extLst>
          </p:cNvPr>
          <p:cNvSpPr>
            <a:spLocks noChangeShapeType="1"/>
          </p:cNvSpPr>
          <p:nvPr/>
        </p:nvSpPr>
        <p:spPr bwMode="auto">
          <a:xfrm flipV="1">
            <a:off x="7851298" y="2508963"/>
            <a:ext cx="131811" cy="48958"/>
          </a:xfrm>
          <a:prstGeom prst="line">
            <a:avLst/>
          </a:prstGeom>
          <a:noFill/>
          <a:ln w="5715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accent2"/>
              </a:solidFill>
              <a:latin typeface="Roboto" panose="02000000000000000000"/>
            </a:endParaRPr>
          </a:p>
        </p:txBody>
      </p:sp>
      <p:sp>
        <p:nvSpPr>
          <p:cNvPr id="13" name="Rectangle 119">
            <a:extLst>
              <a:ext uri="{FF2B5EF4-FFF2-40B4-BE49-F238E27FC236}">
                <a16:creationId xmlns:a16="http://schemas.microsoft.com/office/drawing/2014/main" id="{957EC00A-E98E-6042-0B25-B2B1B1E0772B}"/>
              </a:ext>
            </a:extLst>
          </p:cNvPr>
          <p:cNvSpPr>
            <a:spLocks noChangeArrowheads="1"/>
          </p:cNvSpPr>
          <p:nvPr/>
        </p:nvSpPr>
        <p:spPr bwMode="auto">
          <a:xfrm>
            <a:off x="8085379" y="2361240"/>
            <a:ext cx="1058687" cy="323377"/>
          </a:xfrm>
          <a:prstGeom prst="rect">
            <a:avLst/>
          </a:prstGeom>
          <a:solidFill>
            <a:schemeClr val="bg1"/>
          </a:solidFill>
          <a:ln w="9525" cap="sq">
            <a:solidFill>
              <a:srgbClr val="EE3228"/>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rgbClr val="EE3228"/>
                </a:solidFill>
                <a:latin typeface="Roboto" panose="02000000000000000000"/>
              </a:rPr>
              <a:t>30/60/90 day</a:t>
            </a:r>
          </a:p>
          <a:p>
            <a:pPr>
              <a:lnSpc>
                <a:spcPct val="90000"/>
              </a:lnSpc>
              <a:spcBef>
                <a:spcPct val="0"/>
              </a:spcBef>
            </a:pPr>
            <a:r>
              <a:rPr lang="en-US" altLang="en-US" sz="1000" b="0" dirty="0">
                <a:solidFill>
                  <a:srgbClr val="EE3228"/>
                </a:solidFill>
                <a:latin typeface="Roboto" panose="02000000000000000000"/>
              </a:rPr>
              <a:t>Forecast (email)</a:t>
            </a:r>
          </a:p>
        </p:txBody>
      </p:sp>
      <p:grpSp>
        <p:nvGrpSpPr>
          <p:cNvPr id="14" name="Group 13">
            <a:extLst>
              <a:ext uri="{FF2B5EF4-FFF2-40B4-BE49-F238E27FC236}">
                <a16:creationId xmlns:a16="http://schemas.microsoft.com/office/drawing/2014/main" id="{43EEE86D-9945-ABA8-EF99-356FA403544E}"/>
              </a:ext>
            </a:extLst>
          </p:cNvPr>
          <p:cNvGrpSpPr/>
          <p:nvPr/>
        </p:nvGrpSpPr>
        <p:grpSpPr>
          <a:xfrm>
            <a:off x="940004" y="321492"/>
            <a:ext cx="6217883" cy="311851"/>
            <a:chOff x="940249" y="302538"/>
            <a:chExt cx="6219503" cy="311932"/>
          </a:xfrm>
        </p:grpSpPr>
        <p:sp>
          <p:nvSpPr>
            <p:cNvPr id="15" name="TextBox 14">
              <a:extLst>
                <a:ext uri="{FF2B5EF4-FFF2-40B4-BE49-F238E27FC236}">
                  <a16:creationId xmlns:a16="http://schemas.microsoft.com/office/drawing/2014/main" id="{E3AF5F72-F165-B933-FCB6-1C964EB64C0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6" name="AutoShape 9">
              <a:extLst>
                <a:ext uri="{FF2B5EF4-FFF2-40B4-BE49-F238E27FC236}">
                  <a16:creationId xmlns:a16="http://schemas.microsoft.com/office/drawing/2014/main" id="{AFAD8AE3-DF1E-1954-800D-5A84B77874F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2141E53A-6524-B719-0292-63784A287503}"/>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0A0DC997-AAC3-7FD2-B62D-55BAC1677CD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E34FCDD0-55AA-6273-AB9E-F10F02B3ECB9}"/>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11">
              <a:extLst>
                <a:ext uri="{FF2B5EF4-FFF2-40B4-BE49-F238E27FC236}">
                  <a16:creationId xmlns:a16="http://schemas.microsoft.com/office/drawing/2014/main" id="{0D386B69-5116-F5A3-C5F8-4FD8BED0982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2" name="Slide Number Placeholder 2">
            <a:extLst>
              <a:ext uri="{FF2B5EF4-FFF2-40B4-BE49-F238E27FC236}">
                <a16:creationId xmlns:a16="http://schemas.microsoft.com/office/drawing/2014/main" id="{B7FA2C08-C476-C926-499F-7C5FBE47C18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143</a:t>
            </a:fld>
            <a:endParaRPr lang="en-US" dirty="0"/>
          </a:p>
        </p:txBody>
      </p:sp>
      <p:grpSp>
        <p:nvGrpSpPr>
          <p:cNvPr id="23" name="Group 22">
            <a:extLst>
              <a:ext uri="{FF2B5EF4-FFF2-40B4-BE49-F238E27FC236}">
                <a16:creationId xmlns:a16="http://schemas.microsoft.com/office/drawing/2014/main" id="{29E43439-05DF-A278-1E8E-9EC0D210B9C9}"/>
              </a:ext>
            </a:extLst>
          </p:cNvPr>
          <p:cNvGrpSpPr/>
          <p:nvPr/>
        </p:nvGrpSpPr>
        <p:grpSpPr>
          <a:xfrm>
            <a:off x="9346086" y="2041035"/>
            <a:ext cx="2907054" cy="950421"/>
            <a:chOff x="17907288" y="3305639"/>
            <a:chExt cx="4152283" cy="1112710"/>
          </a:xfrm>
        </p:grpSpPr>
        <p:sp>
          <p:nvSpPr>
            <p:cNvPr id="24" name="Rectangle 12">
              <a:extLst>
                <a:ext uri="{FF2B5EF4-FFF2-40B4-BE49-F238E27FC236}">
                  <a16:creationId xmlns:a16="http://schemas.microsoft.com/office/drawing/2014/main" id="{238CDA32-0BB3-FA78-411E-6874A03AFAA9}"/>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Rectangle 13">
              <a:extLst>
                <a:ext uri="{FF2B5EF4-FFF2-40B4-BE49-F238E27FC236}">
                  <a16:creationId xmlns:a16="http://schemas.microsoft.com/office/drawing/2014/main" id="{1143F681-1402-5E4C-E3E9-1A699A476DDD}"/>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1" name="AutoShape 14">
              <a:extLst>
                <a:ext uri="{FF2B5EF4-FFF2-40B4-BE49-F238E27FC236}">
                  <a16:creationId xmlns:a16="http://schemas.microsoft.com/office/drawing/2014/main" id="{B52BDB5C-2E43-6F41-F9CB-9BF376D51CAE}"/>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15">
              <a:extLst>
                <a:ext uri="{FF2B5EF4-FFF2-40B4-BE49-F238E27FC236}">
                  <a16:creationId xmlns:a16="http://schemas.microsoft.com/office/drawing/2014/main" id="{E6AAAAAE-3497-1E3E-3DEA-A165139498A7}"/>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16">
              <a:extLst>
                <a:ext uri="{FF2B5EF4-FFF2-40B4-BE49-F238E27FC236}">
                  <a16:creationId xmlns:a16="http://schemas.microsoft.com/office/drawing/2014/main" id="{ECE86BC4-310A-3718-7498-E231ED6189B6}"/>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7">
              <a:extLst>
                <a:ext uri="{FF2B5EF4-FFF2-40B4-BE49-F238E27FC236}">
                  <a16:creationId xmlns:a16="http://schemas.microsoft.com/office/drawing/2014/main" id="{9A08B55D-7335-B8F4-DF94-05C1EA11EA5D}"/>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8">
              <a:extLst>
                <a:ext uri="{FF2B5EF4-FFF2-40B4-BE49-F238E27FC236}">
                  <a16:creationId xmlns:a16="http://schemas.microsoft.com/office/drawing/2014/main" id="{A6AFFD33-8324-B26E-FAEB-51AAA7583D60}"/>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9">
              <a:extLst>
                <a:ext uri="{FF2B5EF4-FFF2-40B4-BE49-F238E27FC236}">
                  <a16:creationId xmlns:a16="http://schemas.microsoft.com/office/drawing/2014/main" id="{BA9B1720-DC13-7E15-BFC0-8EB897DF10ED}"/>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7" name="Text Box 20">
              <a:extLst>
                <a:ext uri="{FF2B5EF4-FFF2-40B4-BE49-F238E27FC236}">
                  <a16:creationId xmlns:a16="http://schemas.microsoft.com/office/drawing/2014/main" id="{A8365478-1E1D-8D9A-3BBB-AAAF6710FEC7}"/>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38" name="Text Box 22">
              <a:extLst>
                <a:ext uri="{FF2B5EF4-FFF2-40B4-BE49-F238E27FC236}">
                  <a16:creationId xmlns:a16="http://schemas.microsoft.com/office/drawing/2014/main" id="{06D796F0-A3AA-C8CC-EA6B-A486D622611A}"/>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grpSp>
        <p:nvGrpSpPr>
          <p:cNvPr id="39" name="Group 38">
            <a:extLst>
              <a:ext uri="{FF2B5EF4-FFF2-40B4-BE49-F238E27FC236}">
                <a16:creationId xmlns:a16="http://schemas.microsoft.com/office/drawing/2014/main" id="{FE822068-CD02-2391-3DDA-C37C545D5A65}"/>
              </a:ext>
            </a:extLst>
          </p:cNvPr>
          <p:cNvGrpSpPr/>
          <p:nvPr/>
        </p:nvGrpSpPr>
        <p:grpSpPr>
          <a:xfrm>
            <a:off x="9540158" y="4439890"/>
            <a:ext cx="1042416" cy="585216"/>
            <a:chOff x="18114246" y="7065835"/>
            <a:chExt cx="2089504" cy="1205437"/>
          </a:xfrm>
        </p:grpSpPr>
        <p:sp>
          <p:nvSpPr>
            <p:cNvPr id="40" name="Rectangle 7">
              <a:extLst>
                <a:ext uri="{FF2B5EF4-FFF2-40B4-BE49-F238E27FC236}">
                  <a16:creationId xmlns:a16="http://schemas.microsoft.com/office/drawing/2014/main" id="{1BA5046E-D5B8-7272-9464-F45C61EDE87E}"/>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1" name="Text Box 9">
              <a:extLst>
                <a:ext uri="{FF2B5EF4-FFF2-40B4-BE49-F238E27FC236}">
                  <a16:creationId xmlns:a16="http://schemas.microsoft.com/office/drawing/2014/main" id="{C1491916-3292-DEE7-F84F-9918E6DA917E}"/>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42" name="Line 8">
              <a:extLst>
                <a:ext uri="{FF2B5EF4-FFF2-40B4-BE49-F238E27FC236}">
                  <a16:creationId xmlns:a16="http://schemas.microsoft.com/office/drawing/2014/main" id="{76F77901-9C26-BA03-9836-4494894756C7}"/>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373234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144</a:t>
            </a:fld>
            <a:endParaRPr lang="en-US" dirty="0"/>
          </a:p>
        </p:txBody>
      </p:sp>
    </p:spTree>
    <p:extLst>
      <p:ext uri="{BB962C8B-B14F-4D97-AF65-F5344CB8AC3E}">
        <p14:creationId xmlns:p14="http://schemas.microsoft.com/office/powerpoint/2010/main" val="317649764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altLang="en-US" dirty="0"/>
              <a:t>Calculate Lead Time and Processing Time</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87779" y="2748927"/>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82926" y="2989950"/>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13941" y="412414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19875" y="428717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49751" y="410496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53722" y="2791156"/>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71214" y="3492812"/>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36495" y="3586750"/>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84962" y="377607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22913" y="3776073"/>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97604" y="3542360"/>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348091" y="4293357"/>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20247" y="4394778"/>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4</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21706" y="476407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a:t>
            </a:r>
          </a:p>
          <a:p>
            <a:pPr algn="l"/>
            <a:r>
              <a:rPr lang="en-US" altLang="en-US" sz="1000" b="0" dirty="0">
                <a:solidFill>
                  <a:schemeClr val="tx1"/>
                </a:solidFill>
                <a:latin typeface="+mn-lt"/>
              </a:rPr>
              <a:t>C/O Time =30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4 Machines</a:t>
            </a:r>
          </a:p>
          <a:p>
            <a:pPr algn="l"/>
            <a:endParaRPr lang="en-US" altLang="en-US" sz="1000" b="0" dirty="0">
              <a:solidFill>
                <a:schemeClr val="tx1"/>
              </a:solidFill>
              <a:latin typeface="+mn-lt"/>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91063" y="4932104"/>
            <a:ext cx="885874" cy="400110"/>
          </a:xfrm>
          <a:prstGeom prst="rect">
            <a:avLst/>
          </a:prstGeom>
          <a:solidFill>
            <a:srgbClr val="FFC000"/>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99894" y="2178171"/>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117952" y="2138380"/>
            <a:ext cx="4149093" cy="1919645"/>
            <a:chOff x="3873501" y="1838327"/>
            <a:chExt cx="3348037" cy="2365373"/>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1838327"/>
              <a:ext cx="974725" cy="898526"/>
              <a:chOff x="2440" y="1158"/>
              <a:chExt cx="614" cy="566"/>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158"/>
                <a:ext cx="614" cy="56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93" y="1230"/>
                <a:ext cx="504"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mn-lt"/>
                  </a:rPr>
                  <a:t>Production</a:t>
                </a:r>
              </a:p>
              <a:p>
                <a:pPr>
                  <a:lnSpc>
                    <a:spcPct val="100000"/>
                  </a:lnSpc>
                  <a:spcBef>
                    <a:spcPct val="30000"/>
                  </a:spcBef>
                </a:pPr>
                <a:r>
                  <a:rPr lang="en-US" altLang="en-US" sz="1400" b="0" dirty="0">
                    <a:solidFill>
                      <a:schemeClr val="tx1"/>
                    </a:solidFill>
                    <a:latin typeface="+mn-lt"/>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160557" y="4124143"/>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166492" y="4287171"/>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196367" y="4104964"/>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294708" y="4293357"/>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652436" y="4394778"/>
            <a:ext cx="3722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168323" y="4764077"/>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a:t>
            </a:r>
          </a:p>
          <a:p>
            <a:pPr algn="l"/>
            <a:r>
              <a:rPr lang="en-US" altLang="en-US" sz="1000" b="0" dirty="0">
                <a:solidFill>
                  <a:schemeClr val="tx1"/>
                </a:solidFill>
                <a:latin typeface="+mn-lt"/>
              </a:rPr>
              <a:t>C/O Time =120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a:p>
            <a:pPr algn="l"/>
            <a:endParaRPr lang="en-US" altLang="en-US" sz="1000" b="0" dirty="0">
              <a:solidFill>
                <a:schemeClr val="tx1"/>
              </a:solidFill>
              <a:latin typeface="+mn-lt"/>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180731" y="2406357"/>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a:t>
              </a:r>
            </a:p>
            <a:p>
              <a:pPr>
                <a:lnSpc>
                  <a:spcPct val="90000"/>
                </a:lnSpc>
                <a:spcBef>
                  <a:spcPct val="0"/>
                </a:spcBef>
              </a:pPr>
              <a:r>
                <a:rPr lang="en-US" altLang="en-US" sz="1000" b="0" dirty="0">
                  <a:solidFill>
                    <a:schemeClr val="tx1"/>
                  </a:solidFill>
                  <a:latin typeface="+mn-lt"/>
                </a:rPr>
                <a:t>Replenishment</a:t>
              </a:r>
            </a:p>
            <a:p>
              <a:pPr>
                <a:lnSpc>
                  <a:spcPct val="90000"/>
                </a:lnSpc>
                <a:spcBef>
                  <a:spcPct val="0"/>
                </a:spcBef>
              </a:pPr>
              <a:r>
                <a:rPr lang="en-US" altLang="en-US" sz="1000" b="0" dirty="0">
                  <a:solidFill>
                    <a:schemeClr val="tx1"/>
                  </a:solidFill>
                  <a:latin typeface="+mn-lt"/>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1772563" y="2900048"/>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57150" cap="sq">
              <a:solidFill>
                <a:schemeClr val="tx1"/>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54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307479" y="4315708"/>
            <a:ext cx="5587825" cy="550917"/>
            <a:chOff x="571" y="2496"/>
            <a:chExt cx="2784"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71"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mn-lt"/>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18" y="2726"/>
              <a:ext cx="253"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15"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2748242" y="3492812"/>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sp>
        <p:nvSpPr>
          <p:cNvPr id="10" name="Line 116">
            <a:extLst>
              <a:ext uri="{FF2B5EF4-FFF2-40B4-BE49-F238E27FC236}">
                <a16:creationId xmlns:a16="http://schemas.microsoft.com/office/drawing/2014/main" id="{5F20D398-5608-5CD6-5B85-27331A304B23}"/>
              </a:ext>
            </a:extLst>
          </p:cNvPr>
          <p:cNvSpPr>
            <a:spLocks noChangeShapeType="1"/>
          </p:cNvSpPr>
          <p:nvPr/>
        </p:nvSpPr>
        <p:spPr bwMode="auto">
          <a:xfrm flipH="1">
            <a:off x="6339542" y="2169047"/>
            <a:ext cx="1341717"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1" name="Line 117">
            <a:extLst>
              <a:ext uri="{FF2B5EF4-FFF2-40B4-BE49-F238E27FC236}">
                <a16:creationId xmlns:a16="http://schemas.microsoft.com/office/drawing/2014/main" id="{E5CCFE93-168F-F6D8-7262-B5678C5E53AA}"/>
              </a:ext>
            </a:extLst>
          </p:cNvPr>
          <p:cNvSpPr>
            <a:spLocks noChangeShapeType="1"/>
          </p:cNvSpPr>
          <p:nvPr/>
        </p:nvSpPr>
        <p:spPr bwMode="auto">
          <a:xfrm flipV="1">
            <a:off x="7537645" y="2228312"/>
            <a:ext cx="1416476" cy="6442"/>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2" name="Line 118">
            <a:extLst>
              <a:ext uri="{FF2B5EF4-FFF2-40B4-BE49-F238E27FC236}">
                <a16:creationId xmlns:a16="http://schemas.microsoft.com/office/drawing/2014/main" id="{8509417C-F5D8-305B-149C-3865C07BAF06}"/>
              </a:ext>
            </a:extLst>
          </p:cNvPr>
          <p:cNvSpPr>
            <a:spLocks noChangeShapeType="1"/>
          </p:cNvSpPr>
          <p:nvPr/>
        </p:nvSpPr>
        <p:spPr bwMode="auto">
          <a:xfrm flipV="1">
            <a:off x="7527808" y="2179354"/>
            <a:ext cx="131811" cy="4895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3" name="Rectangle 119">
            <a:extLst>
              <a:ext uri="{FF2B5EF4-FFF2-40B4-BE49-F238E27FC236}">
                <a16:creationId xmlns:a16="http://schemas.microsoft.com/office/drawing/2014/main" id="{957EC00A-E98E-6042-0B25-B2B1B1E0772B}"/>
              </a:ext>
            </a:extLst>
          </p:cNvPr>
          <p:cNvSpPr>
            <a:spLocks noChangeArrowheads="1"/>
          </p:cNvSpPr>
          <p:nvPr/>
        </p:nvSpPr>
        <p:spPr bwMode="auto">
          <a:xfrm>
            <a:off x="7761889" y="2031631"/>
            <a:ext cx="1058687" cy="323377"/>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30/60/90 day</a:t>
            </a:r>
          </a:p>
          <a:p>
            <a:pPr>
              <a:lnSpc>
                <a:spcPct val="90000"/>
              </a:lnSpc>
              <a:spcBef>
                <a:spcPct val="0"/>
              </a:spcBef>
            </a:pPr>
            <a:r>
              <a:rPr lang="en-US" altLang="en-US" sz="1000" b="0" dirty="0">
                <a:solidFill>
                  <a:schemeClr val="tx1"/>
                </a:solidFill>
                <a:latin typeface="+mn-lt"/>
              </a:rPr>
              <a:t>Forecast (email)</a:t>
            </a:r>
          </a:p>
        </p:txBody>
      </p:sp>
      <p:grpSp>
        <p:nvGrpSpPr>
          <p:cNvPr id="67" name="Group 66">
            <a:extLst>
              <a:ext uri="{FF2B5EF4-FFF2-40B4-BE49-F238E27FC236}">
                <a16:creationId xmlns:a16="http://schemas.microsoft.com/office/drawing/2014/main" id="{B48E0987-B9A8-C3A8-6398-8F7661F01FE9}"/>
              </a:ext>
            </a:extLst>
          </p:cNvPr>
          <p:cNvGrpSpPr/>
          <p:nvPr/>
        </p:nvGrpSpPr>
        <p:grpSpPr>
          <a:xfrm>
            <a:off x="1174589" y="5551841"/>
            <a:ext cx="7945896" cy="561691"/>
            <a:chOff x="2231195" y="9998713"/>
            <a:chExt cx="14714059" cy="1123674"/>
          </a:xfrm>
        </p:grpSpPr>
        <p:grpSp>
          <p:nvGrpSpPr>
            <p:cNvPr id="68" name="Group 87">
              <a:extLst>
                <a:ext uri="{FF2B5EF4-FFF2-40B4-BE49-F238E27FC236}">
                  <a16:creationId xmlns:a16="http://schemas.microsoft.com/office/drawing/2014/main" id="{A30F663C-5ED5-219E-6D76-168E827F3A20}"/>
                </a:ext>
              </a:extLst>
            </p:cNvPr>
            <p:cNvGrpSpPr>
              <a:grpSpLocks/>
            </p:cNvGrpSpPr>
            <p:nvPr/>
          </p:nvGrpSpPr>
          <p:grpSpPr bwMode="auto">
            <a:xfrm>
              <a:off x="2231195" y="10447968"/>
              <a:ext cx="14714059" cy="639894"/>
              <a:chOff x="577" y="3222"/>
              <a:chExt cx="3590" cy="145"/>
            </a:xfrm>
          </p:grpSpPr>
          <p:sp>
            <p:nvSpPr>
              <p:cNvPr id="108" name="Line 88">
                <a:extLst>
                  <a:ext uri="{FF2B5EF4-FFF2-40B4-BE49-F238E27FC236}">
                    <a16:creationId xmlns:a16="http://schemas.microsoft.com/office/drawing/2014/main" id="{3D43DD8C-E9B9-E01C-9E21-A3465D29F30D}"/>
                  </a:ext>
                </a:extLst>
              </p:cNvPr>
              <p:cNvSpPr>
                <a:spLocks noChangeShapeType="1"/>
              </p:cNvSpPr>
              <p:nvPr/>
            </p:nvSpPr>
            <p:spPr bwMode="auto">
              <a:xfrm flipV="1">
                <a:off x="577" y="3226"/>
                <a:ext cx="434" cy="0"/>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09" name="Line 89">
                <a:extLst>
                  <a:ext uri="{FF2B5EF4-FFF2-40B4-BE49-F238E27FC236}">
                    <a16:creationId xmlns:a16="http://schemas.microsoft.com/office/drawing/2014/main" id="{A8EC0B9D-6648-2F30-ABA0-72209EA4412E}"/>
                  </a:ext>
                </a:extLst>
              </p:cNvPr>
              <p:cNvSpPr>
                <a:spLocks noChangeShapeType="1"/>
              </p:cNvSpPr>
              <p:nvPr/>
            </p:nvSpPr>
            <p:spPr bwMode="auto">
              <a:xfrm>
                <a:off x="1014" y="3222"/>
                <a:ext cx="0" cy="141"/>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0" name="Line 90">
                <a:extLst>
                  <a:ext uri="{FF2B5EF4-FFF2-40B4-BE49-F238E27FC236}">
                    <a16:creationId xmlns:a16="http://schemas.microsoft.com/office/drawing/2014/main" id="{6011E64E-EA9F-3D5E-4FBA-4BDE5BC7ADD6}"/>
                  </a:ext>
                </a:extLst>
              </p:cNvPr>
              <p:cNvSpPr>
                <a:spLocks noChangeShapeType="1"/>
              </p:cNvSpPr>
              <p:nvPr/>
            </p:nvSpPr>
            <p:spPr bwMode="auto">
              <a:xfrm flipV="1">
                <a:off x="1009" y="3362"/>
                <a:ext cx="529" cy="0"/>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1" name="Line 91">
                <a:extLst>
                  <a:ext uri="{FF2B5EF4-FFF2-40B4-BE49-F238E27FC236}">
                    <a16:creationId xmlns:a16="http://schemas.microsoft.com/office/drawing/2014/main" id="{3441EA6E-2A9A-E2D1-F876-C9A8D820EF6C}"/>
                  </a:ext>
                </a:extLst>
              </p:cNvPr>
              <p:cNvSpPr>
                <a:spLocks noChangeShapeType="1"/>
              </p:cNvSpPr>
              <p:nvPr/>
            </p:nvSpPr>
            <p:spPr bwMode="auto">
              <a:xfrm>
                <a:off x="1536" y="3222"/>
                <a:ext cx="0" cy="141"/>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2" name="Line 92">
                <a:extLst>
                  <a:ext uri="{FF2B5EF4-FFF2-40B4-BE49-F238E27FC236}">
                    <a16:creationId xmlns:a16="http://schemas.microsoft.com/office/drawing/2014/main" id="{1C291DFE-20EA-9668-C149-F15B5CE1C8A2}"/>
                  </a:ext>
                </a:extLst>
              </p:cNvPr>
              <p:cNvSpPr>
                <a:spLocks noChangeShapeType="1"/>
              </p:cNvSpPr>
              <p:nvPr/>
            </p:nvSpPr>
            <p:spPr bwMode="auto">
              <a:xfrm>
                <a:off x="2377" y="3226"/>
                <a:ext cx="0" cy="141"/>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3" name="Line 93">
                <a:extLst>
                  <a:ext uri="{FF2B5EF4-FFF2-40B4-BE49-F238E27FC236}">
                    <a16:creationId xmlns:a16="http://schemas.microsoft.com/office/drawing/2014/main" id="{B63EC977-0BC9-65E9-885D-B2DE6B2AFDE5}"/>
                  </a:ext>
                </a:extLst>
              </p:cNvPr>
              <p:cNvSpPr>
                <a:spLocks noChangeShapeType="1"/>
              </p:cNvSpPr>
              <p:nvPr/>
            </p:nvSpPr>
            <p:spPr bwMode="auto">
              <a:xfrm>
                <a:off x="1538" y="3226"/>
                <a:ext cx="840" cy="3"/>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4" name="Line 94">
                <a:extLst>
                  <a:ext uri="{FF2B5EF4-FFF2-40B4-BE49-F238E27FC236}">
                    <a16:creationId xmlns:a16="http://schemas.microsoft.com/office/drawing/2014/main" id="{02FB3D17-A50C-2776-975E-357DFCEA403B}"/>
                  </a:ext>
                </a:extLst>
              </p:cNvPr>
              <p:cNvSpPr>
                <a:spLocks noChangeShapeType="1"/>
              </p:cNvSpPr>
              <p:nvPr/>
            </p:nvSpPr>
            <p:spPr bwMode="auto">
              <a:xfrm>
                <a:off x="2902" y="3226"/>
                <a:ext cx="0" cy="141"/>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7" name="Line 97">
                <a:extLst>
                  <a:ext uri="{FF2B5EF4-FFF2-40B4-BE49-F238E27FC236}">
                    <a16:creationId xmlns:a16="http://schemas.microsoft.com/office/drawing/2014/main" id="{5404F6F0-9CBE-639A-DD7C-CBBCAA76DF73}"/>
                  </a:ext>
                </a:extLst>
              </p:cNvPr>
              <p:cNvSpPr>
                <a:spLocks noChangeShapeType="1"/>
              </p:cNvSpPr>
              <p:nvPr/>
            </p:nvSpPr>
            <p:spPr bwMode="auto">
              <a:xfrm flipV="1">
                <a:off x="2375" y="3366"/>
                <a:ext cx="529" cy="0"/>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sp>
            <p:nvSpPr>
              <p:cNvPr id="119" name="Line 99">
                <a:extLst>
                  <a:ext uri="{FF2B5EF4-FFF2-40B4-BE49-F238E27FC236}">
                    <a16:creationId xmlns:a16="http://schemas.microsoft.com/office/drawing/2014/main" id="{8D9D6097-1606-0120-712C-C96C946F2DE1}"/>
                  </a:ext>
                </a:extLst>
              </p:cNvPr>
              <p:cNvSpPr>
                <a:spLocks noChangeShapeType="1"/>
              </p:cNvSpPr>
              <p:nvPr/>
            </p:nvSpPr>
            <p:spPr bwMode="auto">
              <a:xfrm>
                <a:off x="2900" y="3230"/>
                <a:ext cx="1267" cy="0"/>
              </a:xfrm>
              <a:prstGeom prst="line">
                <a:avLst/>
              </a:prstGeom>
              <a:noFill/>
              <a:ln w="127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sz="1399">
                  <a:solidFill>
                    <a:srgbClr val="EE3228"/>
                  </a:solidFill>
                  <a:latin typeface="Roboto" panose="02000000000000000000" pitchFamily="2" charset="0"/>
                  <a:ea typeface="Roboto" panose="02000000000000000000" pitchFamily="2" charset="0"/>
                </a:endParaRPr>
              </a:p>
            </p:txBody>
          </p:sp>
        </p:grpSp>
        <p:sp>
          <p:nvSpPr>
            <p:cNvPr id="79" name="Rectangle 106">
              <a:extLst>
                <a:ext uri="{FF2B5EF4-FFF2-40B4-BE49-F238E27FC236}">
                  <a16:creationId xmlns:a16="http://schemas.microsoft.com/office/drawing/2014/main" id="{C4434D4A-4498-B3B2-4F07-02900406F07E}"/>
                </a:ext>
              </a:extLst>
            </p:cNvPr>
            <p:cNvSpPr>
              <a:spLocks noChangeArrowheads="1"/>
            </p:cNvSpPr>
            <p:nvPr/>
          </p:nvSpPr>
          <p:spPr bwMode="auto">
            <a:xfrm>
              <a:off x="10103025" y="10568245"/>
              <a:ext cx="1426971"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EE3228"/>
                  </a:solidFill>
                  <a:latin typeface="Roboto" panose="02000000000000000000" pitchFamily="2" charset="0"/>
                  <a:ea typeface="Roboto" panose="02000000000000000000" pitchFamily="2" charset="0"/>
                </a:rPr>
                <a:t>30 sec</a:t>
              </a:r>
            </a:p>
          </p:txBody>
        </p:sp>
        <p:sp>
          <p:nvSpPr>
            <p:cNvPr id="81" name="Rectangle 106">
              <a:extLst>
                <a:ext uri="{FF2B5EF4-FFF2-40B4-BE49-F238E27FC236}">
                  <a16:creationId xmlns:a16="http://schemas.microsoft.com/office/drawing/2014/main" id="{80F6566A-3F45-FFBC-21A8-A09E034F490E}"/>
                </a:ext>
              </a:extLst>
            </p:cNvPr>
            <p:cNvSpPr>
              <a:spLocks noChangeArrowheads="1"/>
            </p:cNvSpPr>
            <p:nvPr/>
          </p:nvSpPr>
          <p:spPr bwMode="auto">
            <a:xfrm>
              <a:off x="4505801" y="10553609"/>
              <a:ext cx="1428029"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EE3228"/>
                  </a:solidFill>
                  <a:latin typeface="Roboto" panose="02000000000000000000" pitchFamily="2" charset="0"/>
                  <a:ea typeface="Roboto" panose="02000000000000000000" pitchFamily="2" charset="0"/>
                </a:rPr>
                <a:t>240 sec</a:t>
              </a:r>
            </a:p>
          </p:txBody>
        </p:sp>
        <p:sp>
          <p:nvSpPr>
            <p:cNvPr id="104" name="Rectangle 106">
              <a:extLst>
                <a:ext uri="{FF2B5EF4-FFF2-40B4-BE49-F238E27FC236}">
                  <a16:creationId xmlns:a16="http://schemas.microsoft.com/office/drawing/2014/main" id="{164B8036-0B74-E85C-37AA-BE0A85A7C15A}"/>
                </a:ext>
              </a:extLst>
            </p:cNvPr>
            <p:cNvSpPr>
              <a:spLocks noChangeArrowheads="1"/>
            </p:cNvSpPr>
            <p:nvPr/>
          </p:nvSpPr>
          <p:spPr bwMode="auto">
            <a:xfrm>
              <a:off x="2347441" y="10003960"/>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EE3228"/>
                  </a:solidFill>
                  <a:latin typeface="Roboto" panose="02000000000000000000" pitchFamily="2" charset="0"/>
                  <a:ea typeface="Roboto" panose="02000000000000000000" pitchFamily="2" charset="0"/>
                </a:rPr>
                <a:t>6 days</a:t>
              </a:r>
            </a:p>
          </p:txBody>
        </p:sp>
        <p:sp>
          <p:nvSpPr>
            <p:cNvPr id="105" name="Rectangle 106">
              <a:extLst>
                <a:ext uri="{FF2B5EF4-FFF2-40B4-BE49-F238E27FC236}">
                  <a16:creationId xmlns:a16="http://schemas.microsoft.com/office/drawing/2014/main" id="{619520B8-33CC-573F-AA89-02BE2412E9E5}"/>
                </a:ext>
              </a:extLst>
            </p:cNvPr>
            <p:cNvSpPr>
              <a:spLocks noChangeArrowheads="1"/>
            </p:cNvSpPr>
            <p:nvPr/>
          </p:nvSpPr>
          <p:spPr bwMode="auto">
            <a:xfrm>
              <a:off x="7122736" y="10017194"/>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EE3228"/>
                  </a:solidFill>
                  <a:latin typeface="Roboto" panose="02000000000000000000" pitchFamily="2" charset="0"/>
                  <a:ea typeface="Roboto" panose="02000000000000000000" pitchFamily="2" charset="0"/>
                </a:rPr>
                <a:t>2 days</a:t>
              </a:r>
            </a:p>
          </p:txBody>
        </p:sp>
        <p:sp>
          <p:nvSpPr>
            <p:cNvPr id="106" name="Rectangle 106">
              <a:extLst>
                <a:ext uri="{FF2B5EF4-FFF2-40B4-BE49-F238E27FC236}">
                  <a16:creationId xmlns:a16="http://schemas.microsoft.com/office/drawing/2014/main" id="{F7788305-4DAB-FC83-4AC0-154293799B08}"/>
                </a:ext>
              </a:extLst>
            </p:cNvPr>
            <p:cNvSpPr>
              <a:spLocks noChangeArrowheads="1"/>
            </p:cNvSpPr>
            <p:nvPr/>
          </p:nvSpPr>
          <p:spPr bwMode="auto">
            <a:xfrm>
              <a:off x="13807881" y="9998713"/>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rgbClr val="EE3228"/>
                  </a:solidFill>
                  <a:latin typeface="Roboto" panose="02000000000000000000" pitchFamily="2" charset="0"/>
                  <a:ea typeface="Roboto" panose="02000000000000000000" pitchFamily="2" charset="0"/>
                </a:rPr>
                <a:t>2 days</a:t>
              </a:r>
            </a:p>
          </p:txBody>
        </p:sp>
      </p:grpSp>
      <p:grpSp>
        <p:nvGrpSpPr>
          <p:cNvPr id="202" name="Group 132">
            <a:extLst>
              <a:ext uri="{FF2B5EF4-FFF2-40B4-BE49-F238E27FC236}">
                <a16:creationId xmlns:a16="http://schemas.microsoft.com/office/drawing/2014/main" id="{1C019BE2-A40A-9FE4-FF96-C51267175298}"/>
              </a:ext>
            </a:extLst>
          </p:cNvPr>
          <p:cNvGrpSpPr>
            <a:grpSpLocks/>
          </p:cNvGrpSpPr>
          <p:nvPr/>
        </p:nvGrpSpPr>
        <p:grpSpPr bwMode="auto">
          <a:xfrm>
            <a:off x="9033210" y="5211308"/>
            <a:ext cx="2141489" cy="880002"/>
            <a:chOff x="3783" y="3408"/>
            <a:chExt cx="1689" cy="281"/>
          </a:xfrm>
        </p:grpSpPr>
        <p:sp>
          <p:nvSpPr>
            <p:cNvPr id="203" name="Text Box 133">
              <a:extLst>
                <a:ext uri="{FF2B5EF4-FFF2-40B4-BE49-F238E27FC236}">
                  <a16:creationId xmlns:a16="http://schemas.microsoft.com/office/drawing/2014/main" id="{5034081D-9E4D-D954-A7C2-10378C77617C}"/>
                </a:ext>
              </a:extLst>
            </p:cNvPr>
            <p:cNvSpPr txBox="1">
              <a:spLocks noChangeArrowheads="1"/>
            </p:cNvSpPr>
            <p:nvPr/>
          </p:nvSpPr>
          <p:spPr bwMode="auto">
            <a:xfrm>
              <a:off x="3783" y="3476"/>
              <a:ext cx="1603"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r">
                <a:lnSpc>
                  <a:spcPct val="100000"/>
                </a:lnSpc>
                <a:spcBef>
                  <a:spcPct val="30000"/>
                </a:spcBef>
              </a:pPr>
              <a:r>
                <a:rPr lang="en-US" altLang="en-US" sz="1000" dirty="0">
                  <a:solidFill>
                    <a:schemeClr val="accent1"/>
                  </a:solidFill>
                  <a:latin typeface="Roboto" panose="02000000000000000000" pitchFamily="2" charset="0"/>
                  <a:ea typeface="Roboto" panose="02000000000000000000" pitchFamily="2" charset="0"/>
                </a:rPr>
                <a:t>Production L.T. =  10 days    </a:t>
              </a:r>
            </a:p>
            <a:p>
              <a:pPr algn="r">
                <a:lnSpc>
                  <a:spcPct val="100000"/>
                </a:lnSpc>
                <a:spcBef>
                  <a:spcPct val="30000"/>
                </a:spcBef>
              </a:pPr>
              <a:r>
                <a:rPr lang="en-US" altLang="en-US" sz="1000" dirty="0">
                  <a:solidFill>
                    <a:schemeClr val="accent1"/>
                  </a:solidFill>
                  <a:latin typeface="Roboto" panose="02000000000000000000" pitchFamily="2" charset="0"/>
                  <a:ea typeface="Roboto" panose="02000000000000000000" pitchFamily="2" charset="0"/>
                </a:rPr>
                <a:t>Processing Time = 270 seconds</a:t>
              </a:r>
            </a:p>
          </p:txBody>
        </p:sp>
        <p:sp>
          <p:nvSpPr>
            <p:cNvPr id="204" name="Line 134">
              <a:extLst>
                <a:ext uri="{FF2B5EF4-FFF2-40B4-BE49-F238E27FC236}">
                  <a16:creationId xmlns:a16="http://schemas.microsoft.com/office/drawing/2014/main" id="{F8F77BA8-4E14-1255-3EB4-B9558BAF8AE2}"/>
                </a:ext>
              </a:extLst>
            </p:cNvPr>
            <p:cNvSpPr>
              <a:spLocks noChangeShapeType="1"/>
            </p:cNvSpPr>
            <p:nvPr/>
          </p:nvSpPr>
          <p:spPr bwMode="auto">
            <a:xfrm flipV="1">
              <a:off x="3938" y="3541"/>
              <a:ext cx="1448" cy="0"/>
            </a:xfrm>
            <a:prstGeom prst="line">
              <a:avLst/>
            </a:prstGeom>
            <a:noFill/>
            <a:ln w="1270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dirty="0">
                <a:latin typeface="Roboto" panose="02000000000000000000" pitchFamily="2" charset="0"/>
                <a:ea typeface="Roboto" panose="02000000000000000000" pitchFamily="2" charset="0"/>
              </a:endParaRPr>
            </a:p>
          </p:txBody>
        </p:sp>
        <p:sp>
          <p:nvSpPr>
            <p:cNvPr id="205" name="Rectangle 135">
              <a:extLst>
                <a:ext uri="{FF2B5EF4-FFF2-40B4-BE49-F238E27FC236}">
                  <a16:creationId xmlns:a16="http://schemas.microsoft.com/office/drawing/2014/main" id="{32E890D4-4914-FF17-F869-D64F2A855F19}"/>
                </a:ext>
              </a:extLst>
            </p:cNvPr>
            <p:cNvSpPr>
              <a:spLocks noChangeArrowheads="1"/>
            </p:cNvSpPr>
            <p:nvPr/>
          </p:nvSpPr>
          <p:spPr bwMode="auto">
            <a:xfrm>
              <a:off x="3875" y="3408"/>
              <a:ext cx="1597" cy="281"/>
            </a:xfrm>
            <a:prstGeom prst="rect">
              <a:avLst/>
            </a:prstGeom>
            <a:noFill/>
            <a:ln w="12700" cap="sq">
              <a:solidFill>
                <a:srgbClr val="C000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dirty="0">
                <a:latin typeface="Roboto" panose="02000000000000000000" pitchFamily="2" charset="0"/>
                <a:ea typeface="Roboto" panose="02000000000000000000" pitchFamily="2" charset="0"/>
              </a:endParaRPr>
            </a:p>
          </p:txBody>
        </p:sp>
      </p:grpSp>
      <p:grpSp>
        <p:nvGrpSpPr>
          <p:cNvPr id="14" name="Group 13">
            <a:extLst>
              <a:ext uri="{FF2B5EF4-FFF2-40B4-BE49-F238E27FC236}">
                <a16:creationId xmlns:a16="http://schemas.microsoft.com/office/drawing/2014/main" id="{27919DDB-CAE2-09CB-E207-826CA0400EDD}"/>
              </a:ext>
            </a:extLst>
          </p:cNvPr>
          <p:cNvGrpSpPr/>
          <p:nvPr/>
        </p:nvGrpSpPr>
        <p:grpSpPr>
          <a:xfrm>
            <a:off x="940004" y="321492"/>
            <a:ext cx="6217883" cy="311851"/>
            <a:chOff x="940249" y="302538"/>
            <a:chExt cx="6219503" cy="311932"/>
          </a:xfrm>
        </p:grpSpPr>
        <p:sp>
          <p:nvSpPr>
            <p:cNvPr id="15" name="TextBox 14">
              <a:extLst>
                <a:ext uri="{FF2B5EF4-FFF2-40B4-BE49-F238E27FC236}">
                  <a16:creationId xmlns:a16="http://schemas.microsoft.com/office/drawing/2014/main" id="{A2C2F47D-A23D-D040-8DA8-E10104ACE71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6" name="AutoShape 9">
              <a:extLst>
                <a:ext uri="{FF2B5EF4-FFF2-40B4-BE49-F238E27FC236}">
                  <a16:creationId xmlns:a16="http://schemas.microsoft.com/office/drawing/2014/main" id="{CCE96E43-2F2F-5BE4-1959-6D2637E5F3A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C13A9CBE-0772-3DBC-5424-7FB37E72029B}"/>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9">
              <a:extLst>
                <a:ext uri="{FF2B5EF4-FFF2-40B4-BE49-F238E27FC236}">
                  <a16:creationId xmlns:a16="http://schemas.microsoft.com/office/drawing/2014/main" id="{D985C843-BBFE-6110-4348-52251EEEFF9B}"/>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9" name="AutoShape 9">
              <a:extLst>
                <a:ext uri="{FF2B5EF4-FFF2-40B4-BE49-F238E27FC236}">
                  <a16:creationId xmlns:a16="http://schemas.microsoft.com/office/drawing/2014/main" id="{B7F93B07-BF38-A27A-05A7-BCE26C6BC871}"/>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11">
              <a:extLst>
                <a:ext uri="{FF2B5EF4-FFF2-40B4-BE49-F238E27FC236}">
                  <a16:creationId xmlns:a16="http://schemas.microsoft.com/office/drawing/2014/main" id="{B5CF8307-BF38-A754-C28F-D9805BC4858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2" name="Slide Number Placeholder 2">
            <a:extLst>
              <a:ext uri="{FF2B5EF4-FFF2-40B4-BE49-F238E27FC236}">
                <a16:creationId xmlns:a16="http://schemas.microsoft.com/office/drawing/2014/main" id="{01DA04BE-4ADB-E68D-48A3-D39C60BE801B}"/>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145</a:t>
            </a:fld>
            <a:endParaRPr lang="en-US" dirty="0"/>
          </a:p>
        </p:txBody>
      </p:sp>
      <p:grpSp>
        <p:nvGrpSpPr>
          <p:cNvPr id="23" name="Group 22">
            <a:extLst>
              <a:ext uri="{FF2B5EF4-FFF2-40B4-BE49-F238E27FC236}">
                <a16:creationId xmlns:a16="http://schemas.microsoft.com/office/drawing/2014/main" id="{BB0FAD2A-3B34-BD11-77EE-6917E5CAFB3A}"/>
              </a:ext>
            </a:extLst>
          </p:cNvPr>
          <p:cNvGrpSpPr/>
          <p:nvPr/>
        </p:nvGrpSpPr>
        <p:grpSpPr>
          <a:xfrm>
            <a:off x="9072129" y="1727032"/>
            <a:ext cx="2907054" cy="950421"/>
            <a:chOff x="17907288" y="3305639"/>
            <a:chExt cx="4152283" cy="1112710"/>
          </a:xfrm>
        </p:grpSpPr>
        <p:sp>
          <p:nvSpPr>
            <p:cNvPr id="24" name="Rectangle 12">
              <a:extLst>
                <a:ext uri="{FF2B5EF4-FFF2-40B4-BE49-F238E27FC236}">
                  <a16:creationId xmlns:a16="http://schemas.microsoft.com/office/drawing/2014/main" id="{92A2FEDF-13E3-3B05-7057-9081679765DE}"/>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Rectangle 13">
              <a:extLst>
                <a:ext uri="{FF2B5EF4-FFF2-40B4-BE49-F238E27FC236}">
                  <a16:creationId xmlns:a16="http://schemas.microsoft.com/office/drawing/2014/main" id="{D65928DA-7206-4931-A3D9-ED4794C56332}"/>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1" name="AutoShape 14">
              <a:extLst>
                <a:ext uri="{FF2B5EF4-FFF2-40B4-BE49-F238E27FC236}">
                  <a16:creationId xmlns:a16="http://schemas.microsoft.com/office/drawing/2014/main" id="{6E905A39-6E16-35F3-8FAD-8ECE4E5244D8}"/>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15">
              <a:extLst>
                <a:ext uri="{FF2B5EF4-FFF2-40B4-BE49-F238E27FC236}">
                  <a16:creationId xmlns:a16="http://schemas.microsoft.com/office/drawing/2014/main" id="{59F0BFF6-CA66-686B-70B3-1BDE0A290191}"/>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16">
              <a:extLst>
                <a:ext uri="{FF2B5EF4-FFF2-40B4-BE49-F238E27FC236}">
                  <a16:creationId xmlns:a16="http://schemas.microsoft.com/office/drawing/2014/main" id="{EC81F0F1-C37C-A140-128B-C88057FA63FA}"/>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7">
              <a:extLst>
                <a:ext uri="{FF2B5EF4-FFF2-40B4-BE49-F238E27FC236}">
                  <a16:creationId xmlns:a16="http://schemas.microsoft.com/office/drawing/2014/main" id="{EB3DDD76-53F4-B7B5-8354-C8F169024A99}"/>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8">
              <a:extLst>
                <a:ext uri="{FF2B5EF4-FFF2-40B4-BE49-F238E27FC236}">
                  <a16:creationId xmlns:a16="http://schemas.microsoft.com/office/drawing/2014/main" id="{67B629C8-91F3-9AA5-3E77-D27203AFDEE6}"/>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9">
              <a:extLst>
                <a:ext uri="{FF2B5EF4-FFF2-40B4-BE49-F238E27FC236}">
                  <a16:creationId xmlns:a16="http://schemas.microsoft.com/office/drawing/2014/main" id="{BB7EEB67-E285-3C4B-94ED-DEAB195D2E5C}"/>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7" name="Text Box 20">
              <a:extLst>
                <a:ext uri="{FF2B5EF4-FFF2-40B4-BE49-F238E27FC236}">
                  <a16:creationId xmlns:a16="http://schemas.microsoft.com/office/drawing/2014/main" id="{A33EFA65-C115-FED6-37FF-4B052F9692AF}"/>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38" name="Text Box 22">
              <a:extLst>
                <a:ext uri="{FF2B5EF4-FFF2-40B4-BE49-F238E27FC236}">
                  <a16:creationId xmlns:a16="http://schemas.microsoft.com/office/drawing/2014/main" id="{CFE707C4-7DFB-2BF0-6864-FB7E5890B8A2}"/>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grpSp>
        <p:nvGrpSpPr>
          <p:cNvPr id="39" name="Group 38">
            <a:extLst>
              <a:ext uri="{FF2B5EF4-FFF2-40B4-BE49-F238E27FC236}">
                <a16:creationId xmlns:a16="http://schemas.microsoft.com/office/drawing/2014/main" id="{3104C8D2-B4B0-D94D-CECD-BA5214FD7F2A}"/>
              </a:ext>
            </a:extLst>
          </p:cNvPr>
          <p:cNvGrpSpPr/>
          <p:nvPr/>
        </p:nvGrpSpPr>
        <p:grpSpPr>
          <a:xfrm>
            <a:off x="9133136" y="4104813"/>
            <a:ext cx="1042416" cy="585216"/>
            <a:chOff x="18114246" y="7065835"/>
            <a:chExt cx="2089504" cy="1205437"/>
          </a:xfrm>
        </p:grpSpPr>
        <p:sp>
          <p:nvSpPr>
            <p:cNvPr id="40" name="Rectangle 7">
              <a:extLst>
                <a:ext uri="{FF2B5EF4-FFF2-40B4-BE49-F238E27FC236}">
                  <a16:creationId xmlns:a16="http://schemas.microsoft.com/office/drawing/2014/main" id="{1598CE5F-8C6F-A19D-F6F4-786EB5819D33}"/>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1" name="Text Box 9">
              <a:extLst>
                <a:ext uri="{FF2B5EF4-FFF2-40B4-BE49-F238E27FC236}">
                  <a16:creationId xmlns:a16="http://schemas.microsoft.com/office/drawing/2014/main" id="{2ADD9EFA-B3F0-6EC7-D667-3810E0A44779}"/>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42" name="Line 8">
              <a:extLst>
                <a:ext uri="{FF2B5EF4-FFF2-40B4-BE49-F238E27FC236}">
                  <a16:creationId xmlns:a16="http://schemas.microsoft.com/office/drawing/2014/main" id="{AD1B2342-1A90-C4FC-90FC-23B6AF20AC4E}"/>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769861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02"/>
                                        </p:tgtEl>
                                        <p:attrNameLst>
                                          <p:attrName>style.visibility</p:attrName>
                                        </p:attrNameLst>
                                      </p:cBhvr>
                                      <p:to>
                                        <p:strVal val="visible"/>
                                      </p:to>
                                    </p:set>
                                    <p:animEffect transition="in" filter="dissolve">
                                      <p:cBhvr>
                                        <p:cTn id="48" dur="1000"/>
                                        <p:tgtEl>
                                          <p:spTgt spid="2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0D1A5-21EC-4051-CB3A-1BB55C9E9AA3}"/>
              </a:ext>
            </a:extLst>
          </p:cNvPr>
          <p:cNvSpPr>
            <a:spLocks noGrp="1"/>
          </p:cNvSpPr>
          <p:nvPr>
            <p:ph type="title"/>
          </p:nvPr>
        </p:nvSpPr>
        <p:spPr>
          <a:xfrm>
            <a:off x="837982" y="631597"/>
            <a:ext cx="10512862" cy="1106227"/>
          </a:xfrm>
        </p:spPr>
        <p:txBody>
          <a:bodyPr>
            <a:noAutofit/>
          </a:bodyPr>
          <a:lstStyle/>
          <a:p>
            <a:r>
              <a:rPr lang="en-US" altLang="en-US" sz="3600" dirty="0"/>
              <a:t>Steps to Draw the Future State Map</a:t>
            </a:r>
            <a:endParaRPr lang="en-US" sz="3600" dirty="0"/>
          </a:p>
        </p:txBody>
      </p:sp>
      <p:grpSp>
        <p:nvGrpSpPr>
          <p:cNvPr id="26" name="Group 25">
            <a:extLst>
              <a:ext uri="{FF2B5EF4-FFF2-40B4-BE49-F238E27FC236}">
                <a16:creationId xmlns:a16="http://schemas.microsoft.com/office/drawing/2014/main" id="{44E4F3C3-B8A9-09F6-6300-6F0A1C87B1F0}"/>
              </a:ext>
            </a:extLst>
          </p:cNvPr>
          <p:cNvGrpSpPr/>
          <p:nvPr/>
        </p:nvGrpSpPr>
        <p:grpSpPr>
          <a:xfrm>
            <a:off x="837982" y="2030817"/>
            <a:ext cx="10336717" cy="3989109"/>
            <a:chOff x="2176264" y="3327526"/>
            <a:chExt cx="10972800" cy="10428600"/>
          </a:xfrm>
          <a:solidFill>
            <a:srgbClr val="7A7A7A"/>
          </a:solidFill>
        </p:grpSpPr>
        <p:grpSp>
          <p:nvGrpSpPr>
            <p:cNvPr id="14" name="Group 13">
              <a:extLst>
                <a:ext uri="{FF2B5EF4-FFF2-40B4-BE49-F238E27FC236}">
                  <a16:creationId xmlns:a16="http://schemas.microsoft.com/office/drawing/2014/main" id="{D15B002A-5E8A-8B88-D84C-9C52F82C1E03}"/>
                </a:ext>
              </a:extLst>
            </p:cNvPr>
            <p:cNvGrpSpPr/>
            <p:nvPr/>
          </p:nvGrpSpPr>
          <p:grpSpPr>
            <a:xfrm>
              <a:off x="2176264" y="3327526"/>
              <a:ext cx="10972800" cy="7257200"/>
              <a:chOff x="1888435" y="3732998"/>
              <a:chExt cx="10972800" cy="7257200"/>
            </a:xfrm>
            <a:grpFill/>
          </p:grpSpPr>
          <p:sp>
            <p:nvSpPr>
              <p:cNvPr id="9" name="Rectangle 8">
                <a:extLst>
                  <a:ext uri="{FF2B5EF4-FFF2-40B4-BE49-F238E27FC236}">
                    <a16:creationId xmlns:a16="http://schemas.microsoft.com/office/drawing/2014/main" id="{5E568E45-80C4-D75D-668B-044C48C9B5AC}"/>
                  </a:ext>
                </a:extLst>
              </p:cNvPr>
              <p:cNvSpPr>
                <a:spLocks/>
              </p:cNvSpPr>
              <p:nvPr/>
            </p:nvSpPr>
            <p:spPr>
              <a:xfrm>
                <a:off x="1888435" y="37329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r>
                  <a:rPr lang="en-US" sz="20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rPr>
                  <a:t>Start with Marked-Up Current State Map</a:t>
                </a:r>
              </a:p>
            </p:txBody>
          </p:sp>
          <p:sp>
            <p:nvSpPr>
              <p:cNvPr id="10" name="Rectangle 9">
                <a:extLst>
                  <a:ext uri="{FF2B5EF4-FFF2-40B4-BE49-F238E27FC236}">
                    <a16:creationId xmlns:a16="http://schemas.microsoft.com/office/drawing/2014/main" id="{90DDD1AF-19B9-962B-6C12-5A29795ADACC}"/>
                  </a:ext>
                </a:extLst>
              </p:cNvPr>
              <p:cNvSpPr>
                <a:spLocks/>
              </p:cNvSpPr>
              <p:nvPr/>
            </p:nvSpPr>
            <p:spPr>
              <a:xfrm>
                <a:off x="1888435" y="53186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Draw the pieces of the map that are the same</a:t>
                </a:r>
              </a:p>
            </p:txBody>
          </p:sp>
          <p:sp>
            <p:nvSpPr>
              <p:cNvPr id="11" name="Rectangle 10">
                <a:extLst>
                  <a:ext uri="{FF2B5EF4-FFF2-40B4-BE49-F238E27FC236}">
                    <a16:creationId xmlns:a16="http://schemas.microsoft.com/office/drawing/2014/main" id="{334F976F-8BF7-919E-7E41-EC925CE68364}"/>
                  </a:ext>
                </a:extLst>
              </p:cNvPr>
              <p:cNvSpPr>
                <a:spLocks/>
              </p:cNvSpPr>
              <p:nvPr/>
            </p:nvSpPr>
            <p:spPr>
              <a:xfrm>
                <a:off x="1888435" y="69043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Combine processes that flow</a:t>
                </a:r>
              </a:p>
            </p:txBody>
          </p:sp>
          <p:sp>
            <p:nvSpPr>
              <p:cNvPr id="12" name="Rectangle 11">
                <a:extLst>
                  <a:ext uri="{FF2B5EF4-FFF2-40B4-BE49-F238E27FC236}">
                    <a16:creationId xmlns:a16="http://schemas.microsoft.com/office/drawing/2014/main" id="{54E57C20-F0C6-DCA7-8088-F271266CCEC1}"/>
                  </a:ext>
                </a:extLst>
              </p:cNvPr>
              <p:cNvSpPr/>
              <p:nvPr/>
            </p:nvSpPr>
            <p:spPr>
              <a:xfrm>
                <a:off x="1888435" y="84900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supermarkets and </a:t>
                </a:r>
                <a:r>
                  <a:rPr kumimoji="0" lang="en-US" sz="2000" b="0" i="0" u="none" strike="noStrike" cap="none" spc="0" normalizeH="0" baseline="0" dirty="0" err="1">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kanban</a:t>
                </a:r>
                <a:endPar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endParaRPr>
              </a:p>
            </p:txBody>
          </p:sp>
          <p:sp>
            <p:nvSpPr>
              <p:cNvPr id="13" name="Rectangle 12">
                <a:extLst>
                  <a:ext uri="{FF2B5EF4-FFF2-40B4-BE49-F238E27FC236}">
                    <a16:creationId xmlns:a16="http://schemas.microsoft.com/office/drawing/2014/main" id="{7DEA1160-8DB2-2634-3300-FFE9008AE027}"/>
                  </a:ext>
                </a:extLst>
              </p:cNvPr>
              <p:cNvSpPr>
                <a:spLocks/>
              </p:cNvSpPr>
              <p:nvPr/>
            </p:nvSpPr>
            <p:spPr>
              <a:xfrm>
                <a:off x="1888435" y="10075798"/>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Add additional information flow</a:t>
                </a:r>
              </a:p>
            </p:txBody>
          </p:sp>
        </p:grpSp>
        <p:sp>
          <p:nvSpPr>
            <p:cNvPr id="24" name="Rectangle 23">
              <a:extLst>
                <a:ext uri="{FF2B5EF4-FFF2-40B4-BE49-F238E27FC236}">
                  <a16:creationId xmlns:a16="http://schemas.microsoft.com/office/drawing/2014/main" id="{4BCE120C-4A94-A00F-37C1-8F0433B4BBF0}"/>
                </a:ext>
              </a:extLst>
            </p:cNvPr>
            <p:cNvSpPr/>
            <p:nvPr/>
          </p:nvSpPr>
          <p:spPr>
            <a:xfrm>
              <a:off x="2176264" y="11256026"/>
              <a:ext cx="10972800" cy="914400"/>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Calculate lead-time and processing time</a:t>
              </a:r>
            </a:p>
          </p:txBody>
        </p:sp>
        <p:sp>
          <p:nvSpPr>
            <p:cNvPr id="25" name="Rectangle 24">
              <a:extLst>
                <a:ext uri="{FF2B5EF4-FFF2-40B4-BE49-F238E27FC236}">
                  <a16:creationId xmlns:a16="http://schemas.microsoft.com/office/drawing/2014/main" id="{E8293F7D-BCB2-FE37-B727-7229F200A721}"/>
                </a:ext>
              </a:extLst>
            </p:cNvPr>
            <p:cNvSpPr>
              <a:spLocks/>
            </p:cNvSpPr>
            <p:nvPr/>
          </p:nvSpPr>
          <p:spPr>
            <a:xfrm>
              <a:off x="2176264" y="12841726"/>
              <a:ext cx="10972800" cy="91440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25393" rIns="25393" bIns="25393"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sym typeface="Roboto"/>
                </a:rPr>
                <a:t>Identify loops on the map</a:t>
              </a:r>
            </a:p>
          </p:txBody>
        </p:sp>
      </p:grpSp>
      <p:grpSp>
        <p:nvGrpSpPr>
          <p:cNvPr id="4" name="Group 3">
            <a:extLst>
              <a:ext uri="{FF2B5EF4-FFF2-40B4-BE49-F238E27FC236}">
                <a16:creationId xmlns:a16="http://schemas.microsoft.com/office/drawing/2014/main" id="{43817642-C8F7-BF38-E2BD-92112147878A}"/>
              </a:ext>
            </a:extLst>
          </p:cNvPr>
          <p:cNvGrpSpPr/>
          <p:nvPr/>
        </p:nvGrpSpPr>
        <p:grpSpPr>
          <a:xfrm>
            <a:off x="940004" y="321492"/>
            <a:ext cx="6217883" cy="311851"/>
            <a:chOff x="940249" y="302538"/>
            <a:chExt cx="6219503" cy="311932"/>
          </a:xfrm>
        </p:grpSpPr>
        <p:sp>
          <p:nvSpPr>
            <p:cNvPr id="5" name="TextBox 4">
              <a:extLst>
                <a:ext uri="{FF2B5EF4-FFF2-40B4-BE49-F238E27FC236}">
                  <a16:creationId xmlns:a16="http://schemas.microsoft.com/office/drawing/2014/main" id="{1CC91BBA-7328-78E8-5F8B-DCE2BFD4A5C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 name="AutoShape 9">
              <a:extLst>
                <a:ext uri="{FF2B5EF4-FFF2-40B4-BE49-F238E27FC236}">
                  <a16:creationId xmlns:a16="http://schemas.microsoft.com/office/drawing/2014/main" id="{737E6A82-39B6-78FB-4992-A1836B3E7CF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A72C6BF-7C10-8CA8-6085-665F29C7709A}"/>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5A7AC90F-450D-CC20-FABE-29EA63041B9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629C7EB-4BB1-D2F6-4440-D79D0C012DA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8" name="AutoShape 11">
              <a:extLst>
                <a:ext uri="{FF2B5EF4-FFF2-40B4-BE49-F238E27FC236}">
                  <a16:creationId xmlns:a16="http://schemas.microsoft.com/office/drawing/2014/main" id="{2CA9FDA1-0A01-F900-72C6-8E7D6420F1C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9" name="Slide Number Placeholder 2">
            <a:extLst>
              <a:ext uri="{FF2B5EF4-FFF2-40B4-BE49-F238E27FC236}">
                <a16:creationId xmlns:a16="http://schemas.microsoft.com/office/drawing/2014/main" id="{308D121E-A8C1-3067-3953-9E423F7A4F7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146</a:t>
            </a:fld>
            <a:endParaRPr lang="en-US" dirty="0"/>
          </a:p>
        </p:txBody>
      </p:sp>
    </p:spTree>
    <p:extLst>
      <p:ext uri="{BB962C8B-B14F-4D97-AF65-F5344CB8AC3E}">
        <p14:creationId xmlns:p14="http://schemas.microsoft.com/office/powerpoint/2010/main" val="64918491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D69CB3-FCC0-E068-DB23-CC1D5C1CA362}"/>
              </a:ext>
            </a:extLst>
          </p:cNvPr>
          <p:cNvSpPr>
            <a:spLocks noGrp="1"/>
          </p:cNvSpPr>
          <p:nvPr>
            <p:ph type="title"/>
          </p:nvPr>
        </p:nvSpPr>
        <p:spPr/>
        <p:txBody>
          <a:bodyPr>
            <a:normAutofit fontScale="90000"/>
          </a:bodyPr>
          <a:lstStyle/>
          <a:p>
            <a:r>
              <a:rPr lang="en-US" altLang="en-US" dirty="0"/>
              <a:t>Identifying </a:t>
            </a:r>
            <a:r>
              <a:rPr lang="ja-JP" altLang="en-US" dirty="0"/>
              <a:t>“</a:t>
            </a:r>
            <a:r>
              <a:rPr lang="en-US" altLang="ja-JP" dirty="0"/>
              <a:t>Loops</a:t>
            </a:r>
            <a:r>
              <a:rPr lang="ja-JP" altLang="en-US" dirty="0"/>
              <a:t>”</a:t>
            </a:r>
            <a:r>
              <a:rPr lang="en-US" altLang="ja-JP" dirty="0"/>
              <a:t> in the Future State Map</a:t>
            </a:r>
            <a:endParaRPr lang="en-US" dirty="0"/>
          </a:p>
        </p:txBody>
      </p:sp>
      <p:sp>
        <p:nvSpPr>
          <p:cNvPr id="3" name="Text Placeholder 2">
            <a:extLst>
              <a:ext uri="{FF2B5EF4-FFF2-40B4-BE49-F238E27FC236}">
                <a16:creationId xmlns:a16="http://schemas.microsoft.com/office/drawing/2014/main" id="{9354CD21-808C-8F64-6F75-1926A7E23589}"/>
              </a:ext>
            </a:extLst>
          </p:cNvPr>
          <p:cNvSpPr>
            <a:spLocks noGrp="1"/>
          </p:cNvSpPr>
          <p:nvPr>
            <p:ph idx="1"/>
          </p:nvPr>
        </p:nvSpPr>
        <p:spPr/>
        <p:txBody>
          <a:bodyPr>
            <a:normAutofit/>
          </a:bodyPr>
          <a:lstStyle/>
          <a:p>
            <a:r>
              <a:rPr lang="en-US" dirty="0"/>
              <a:t>A “Loop” is a logical grouping of improvements to be made to the Current State in order to achieve the Future State</a:t>
            </a:r>
          </a:p>
          <a:p>
            <a:r>
              <a:rPr lang="en-US" dirty="0"/>
              <a:t>Loops are used to link focus improvement activities in the Value Stream Plan in a manner around a particular new capability in the Future State</a:t>
            </a:r>
          </a:p>
          <a:p>
            <a:r>
              <a:rPr lang="en-US" dirty="0"/>
              <a:t>Loops are used to logically sequence improvement activities in the Value Stream Plan so that the Future State is achieved through incremental phased implementation vs. “big bang” (everything at once)</a:t>
            </a:r>
          </a:p>
          <a:p>
            <a:endParaRPr lang="en-US" dirty="0"/>
          </a:p>
        </p:txBody>
      </p:sp>
      <p:grpSp>
        <p:nvGrpSpPr>
          <p:cNvPr id="12" name="Group 11">
            <a:extLst>
              <a:ext uri="{FF2B5EF4-FFF2-40B4-BE49-F238E27FC236}">
                <a16:creationId xmlns:a16="http://schemas.microsoft.com/office/drawing/2014/main" id="{6E505BF3-FD43-D577-4A36-98DDA5571415}"/>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9C1B967E-E701-DACF-70A1-F6D940A9F68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4A678EE6-C474-4395-F11F-00ADA8FC90C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17D1A7C6-5198-A7DA-29DE-07E4BCBFC075}"/>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4BA3BA8B-604F-7323-1A98-E968C6DADA1C}"/>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8063AED4-8CAF-E94D-2295-E2F5C89150F6}"/>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C2889E93-5ABD-E458-749A-B9FE9496A00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90376B9D-A9D0-3CDD-701E-B37853088A7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147</a:t>
            </a:fld>
            <a:endParaRPr lang="en-US" dirty="0"/>
          </a:p>
        </p:txBody>
      </p:sp>
    </p:spTree>
    <p:extLst>
      <p:ext uri="{BB962C8B-B14F-4D97-AF65-F5344CB8AC3E}">
        <p14:creationId xmlns:p14="http://schemas.microsoft.com/office/powerpoint/2010/main" val="2732086773"/>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54988642-E292-9B38-4A8E-FBBC10A8DA86}"/>
              </a:ext>
            </a:extLst>
          </p:cNvPr>
          <p:cNvGrpSpPr/>
          <p:nvPr/>
        </p:nvGrpSpPr>
        <p:grpSpPr>
          <a:xfrm>
            <a:off x="9133136" y="4104813"/>
            <a:ext cx="1042416" cy="585216"/>
            <a:chOff x="18114246" y="7065835"/>
            <a:chExt cx="2089504" cy="1205437"/>
          </a:xfrm>
        </p:grpSpPr>
        <p:sp>
          <p:nvSpPr>
            <p:cNvPr id="42" name="Rectangle 7">
              <a:extLst>
                <a:ext uri="{FF2B5EF4-FFF2-40B4-BE49-F238E27FC236}">
                  <a16:creationId xmlns:a16="http://schemas.microsoft.com/office/drawing/2014/main" id="{DA54E735-FE11-F9F1-4CB9-4D45085976C8}"/>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3" name="Text Box 9">
              <a:extLst>
                <a:ext uri="{FF2B5EF4-FFF2-40B4-BE49-F238E27FC236}">
                  <a16:creationId xmlns:a16="http://schemas.microsoft.com/office/drawing/2014/main" id="{DEBA31E5-7D86-E88B-83D6-B476EF4CEFA9}"/>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44" name="Line 8">
              <a:extLst>
                <a:ext uri="{FF2B5EF4-FFF2-40B4-BE49-F238E27FC236}">
                  <a16:creationId xmlns:a16="http://schemas.microsoft.com/office/drawing/2014/main" id="{43E9559F-EA08-9CE2-E07E-D00D1B6FEE42}"/>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grpSp>
        <p:nvGrpSpPr>
          <p:cNvPr id="25" name="Group 24">
            <a:extLst>
              <a:ext uri="{FF2B5EF4-FFF2-40B4-BE49-F238E27FC236}">
                <a16:creationId xmlns:a16="http://schemas.microsoft.com/office/drawing/2014/main" id="{EB119911-2BB4-76E5-3339-DD8F7D2A0DD7}"/>
              </a:ext>
            </a:extLst>
          </p:cNvPr>
          <p:cNvGrpSpPr/>
          <p:nvPr/>
        </p:nvGrpSpPr>
        <p:grpSpPr>
          <a:xfrm>
            <a:off x="9072129" y="1727032"/>
            <a:ext cx="2907054" cy="950421"/>
            <a:chOff x="17907288" y="3305639"/>
            <a:chExt cx="4152283" cy="1112710"/>
          </a:xfrm>
        </p:grpSpPr>
        <p:sp>
          <p:nvSpPr>
            <p:cNvPr id="31" name="Rectangle 12">
              <a:extLst>
                <a:ext uri="{FF2B5EF4-FFF2-40B4-BE49-F238E27FC236}">
                  <a16:creationId xmlns:a16="http://schemas.microsoft.com/office/drawing/2014/main" id="{B47371C1-3284-D16B-3CB6-2FEC1C0C59D1}"/>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Rectangle 13">
              <a:extLst>
                <a:ext uri="{FF2B5EF4-FFF2-40B4-BE49-F238E27FC236}">
                  <a16:creationId xmlns:a16="http://schemas.microsoft.com/office/drawing/2014/main" id="{B3A57973-F5F6-69FF-6B02-EAFFBDD9FDF9}"/>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3" name="AutoShape 14">
              <a:extLst>
                <a:ext uri="{FF2B5EF4-FFF2-40B4-BE49-F238E27FC236}">
                  <a16:creationId xmlns:a16="http://schemas.microsoft.com/office/drawing/2014/main" id="{78FFE739-090A-5C92-9447-9CC15F7859CB}"/>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AutoShape 15">
              <a:extLst>
                <a:ext uri="{FF2B5EF4-FFF2-40B4-BE49-F238E27FC236}">
                  <a16:creationId xmlns:a16="http://schemas.microsoft.com/office/drawing/2014/main" id="{B3A0A3D5-CC04-97CB-783E-46802DA2F446}"/>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AutoShape 16">
              <a:extLst>
                <a:ext uri="{FF2B5EF4-FFF2-40B4-BE49-F238E27FC236}">
                  <a16:creationId xmlns:a16="http://schemas.microsoft.com/office/drawing/2014/main" id="{42A05E2F-5A36-2E3D-EB6F-0FA5BCCAE996}"/>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7">
              <a:extLst>
                <a:ext uri="{FF2B5EF4-FFF2-40B4-BE49-F238E27FC236}">
                  <a16:creationId xmlns:a16="http://schemas.microsoft.com/office/drawing/2014/main" id="{D6AFC3A6-6B01-A031-6F1D-B060C5688946}"/>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7" name="Rectangle 18">
              <a:extLst>
                <a:ext uri="{FF2B5EF4-FFF2-40B4-BE49-F238E27FC236}">
                  <a16:creationId xmlns:a16="http://schemas.microsoft.com/office/drawing/2014/main" id="{0677E2B8-6F79-384B-1836-69BB760F7427}"/>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8" name="Rectangle 19">
              <a:extLst>
                <a:ext uri="{FF2B5EF4-FFF2-40B4-BE49-F238E27FC236}">
                  <a16:creationId xmlns:a16="http://schemas.microsoft.com/office/drawing/2014/main" id="{B0145BE5-F0EC-6F34-A8F6-256719790C9D}"/>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9" name="Text Box 20">
              <a:extLst>
                <a:ext uri="{FF2B5EF4-FFF2-40B4-BE49-F238E27FC236}">
                  <a16:creationId xmlns:a16="http://schemas.microsoft.com/office/drawing/2014/main" id="{255B0E69-54A5-D60F-95EB-A0012AC41F0D}"/>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40" name="Text Box 22">
              <a:extLst>
                <a:ext uri="{FF2B5EF4-FFF2-40B4-BE49-F238E27FC236}">
                  <a16:creationId xmlns:a16="http://schemas.microsoft.com/office/drawing/2014/main" id="{CFF8FDC4-B2C4-992E-04B8-E50BDEF51DD0}"/>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Identify Loops</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833990"/>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3075013"/>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4209206"/>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372234"/>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4190027"/>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876219"/>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3577875"/>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671813"/>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861136"/>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861136"/>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3627423"/>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288809" y="4378420"/>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4479841"/>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4</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849140"/>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a:t>
            </a:r>
          </a:p>
          <a:p>
            <a:pPr algn="l"/>
            <a:r>
              <a:rPr lang="en-US" altLang="en-US" sz="1000" b="0" dirty="0">
                <a:solidFill>
                  <a:schemeClr val="tx1"/>
                </a:solidFill>
                <a:latin typeface="+mn-lt"/>
              </a:rPr>
              <a:t>C/O Time =30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4 Machines</a:t>
            </a:r>
          </a:p>
          <a:p>
            <a:pPr algn="l"/>
            <a:endParaRPr lang="en-US" altLang="en-US" sz="1000" b="0" dirty="0">
              <a:solidFill>
                <a:schemeClr val="tx1"/>
              </a:solidFill>
              <a:latin typeface="+mn-lt"/>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5017167"/>
            <a:ext cx="885874" cy="400110"/>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2263234"/>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058670" y="2223443"/>
            <a:ext cx="4149093" cy="1919645"/>
            <a:chOff x="3873501" y="1838327"/>
            <a:chExt cx="3348037" cy="2365373"/>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1838327"/>
              <a:ext cx="974725" cy="898526"/>
              <a:chOff x="2440" y="1158"/>
              <a:chExt cx="614" cy="566"/>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158"/>
                <a:ext cx="614" cy="56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93" y="1230"/>
                <a:ext cx="504"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mn-lt"/>
                  </a:rPr>
                  <a:t>Production</a:t>
                </a:r>
              </a:p>
              <a:p>
                <a:pPr>
                  <a:lnSpc>
                    <a:spcPct val="100000"/>
                  </a:lnSpc>
                  <a:spcBef>
                    <a:spcPct val="30000"/>
                  </a:spcBef>
                </a:pPr>
                <a:r>
                  <a:rPr lang="en-US" altLang="en-US" sz="1400" b="0" dirty="0">
                    <a:solidFill>
                      <a:schemeClr val="tx1"/>
                    </a:solidFill>
                    <a:latin typeface="+mn-lt"/>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101275" y="4209206"/>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107210" y="4372234"/>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137085" y="4190027"/>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235426" y="4378420"/>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593154" y="4479841"/>
            <a:ext cx="3722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109041" y="4849140"/>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a:t>
            </a:r>
          </a:p>
          <a:p>
            <a:pPr algn="l"/>
            <a:r>
              <a:rPr lang="en-US" altLang="en-US" sz="1000" b="0" dirty="0">
                <a:solidFill>
                  <a:schemeClr val="tx1"/>
                </a:solidFill>
                <a:latin typeface="+mn-lt"/>
              </a:rPr>
              <a:t>C/O Time =120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a:p>
            <a:pPr algn="l"/>
            <a:endParaRPr lang="en-US" altLang="en-US" sz="1000" b="0" dirty="0">
              <a:solidFill>
                <a:schemeClr val="tx1"/>
              </a:solidFill>
              <a:latin typeface="+mn-lt"/>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121449" y="2491420"/>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a:t>
              </a:r>
            </a:p>
            <a:p>
              <a:pPr>
                <a:lnSpc>
                  <a:spcPct val="90000"/>
                </a:lnSpc>
                <a:spcBef>
                  <a:spcPct val="0"/>
                </a:spcBef>
              </a:pPr>
              <a:r>
                <a:rPr lang="en-US" altLang="en-US" sz="1000" b="0" dirty="0">
                  <a:solidFill>
                    <a:schemeClr val="tx1"/>
                  </a:solidFill>
                  <a:latin typeface="+mn-lt"/>
                </a:rPr>
                <a:t>Replenishment</a:t>
              </a:r>
            </a:p>
            <a:p>
              <a:pPr>
                <a:lnSpc>
                  <a:spcPct val="90000"/>
                </a:lnSpc>
                <a:spcBef>
                  <a:spcPct val="0"/>
                </a:spcBef>
              </a:pPr>
              <a:r>
                <a:rPr lang="en-US" altLang="en-US" sz="1000" b="0" dirty="0">
                  <a:solidFill>
                    <a:schemeClr val="tx1"/>
                  </a:solidFill>
                  <a:latin typeface="+mn-lt"/>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1713281" y="2985111"/>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57150" cap="sq">
              <a:solidFill>
                <a:schemeClr val="tx1"/>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54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248197" y="4400771"/>
            <a:ext cx="5587825" cy="550917"/>
            <a:chOff x="571" y="2496"/>
            <a:chExt cx="2784"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71"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mn-lt"/>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18" y="2726"/>
              <a:ext cx="253"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15"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2688960" y="3577875"/>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sp>
        <p:nvSpPr>
          <p:cNvPr id="10" name="Line 116">
            <a:extLst>
              <a:ext uri="{FF2B5EF4-FFF2-40B4-BE49-F238E27FC236}">
                <a16:creationId xmlns:a16="http://schemas.microsoft.com/office/drawing/2014/main" id="{5F20D398-5608-5CD6-5B85-27331A304B23}"/>
              </a:ext>
            </a:extLst>
          </p:cNvPr>
          <p:cNvSpPr>
            <a:spLocks noChangeShapeType="1"/>
          </p:cNvSpPr>
          <p:nvPr/>
        </p:nvSpPr>
        <p:spPr bwMode="auto">
          <a:xfrm flipH="1">
            <a:off x="6280260" y="2254110"/>
            <a:ext cx="1341717"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1" name="Line 117">
            <a:extLst>
              <a:ext uri="{FF2B5EF4-FFF2-40B4-BE49-F238E27FC236}">
                <a16:creationId xmlns:a16="http://schemas.microsoft.com/office/drawing/2014/main" id="{E5CCFE93-168F-F6D8-7262-B5678C5E53AA}"/>
              </a:ext>
            </a:extLst>
          </p:cNvPr>
          <p:cNvSpPr>
            <a:spLocks noChangeShapeType="1"/>
          </p:cNvSpPr>
          <p:nvPr/>
        </p:nvSpPr>
        <p:spPr bwMode="auto">
          <a:xfrm flipV="1">
            <a:off x="7478363" y="2313375"/>
            <a:ext cx="1416476" cy="6442"/>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2" name="Line 118">
            <a:extLst>
              <a:ext uri="{FF2B5EF4-FFF2-40B4-BE49-F238E27FC236}">
                <a16:creationId xmlns:a16="http://schemas.microsoft.com/office/drawing/2014/main" id="{8509417C-F5D8-305B-149C-3865C07BAF06}"/>
              </a:ext>
            </a:extLst>
          </p:cNvPr>
          <p:cNvSpPr>
            <a:spLocks noChangeShapeType="1"/>
          </p:cNvSpPr>
          <p:nvPr/>
        </p:nvSpPr>
        <p:spPr bwMode="auto">
          <a:xfrm flipV="1">
            <a:off x="7468526" y="2264417"/>
            <a:ext cx="131811" cy="4895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3" name="Rectangle 119">
            <a:extLst>
              <a:ext uri="{FF2B5EF4-FFF2-40B4-BE49-F238E27FC236}">
                <a16:creationId xmlns:a16="http://schemas.microsoft.com/office/drawing/2014/main" id="{957EC00A-E98E-6042-0B25-B2B1B1E0772B}"/>
              </a:ext>
            </a:extLst>
          </p:cNvPr>
          <p:cNvSpPr>
            <a:spLocks noChangeArrowheads="1"/>
          </p:cNvSpPr>
          <p:nvPr/>
        </p:nvSpPr>
        <p:spPr bwMode="auto">
          <a:xfrm>
            <a:off x="7702607" y="2116694"/>
            <a:ext cx="1058687" cy="323377"/>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30/60/90 day</a:t>
            </a:r>
          </a:p>
          <a:p>
            <a:pPr>
              <a:lnSpc>
                <a:spcPct val="90000"/>
              </a:lnSpc>
              <a:spcBef>
                <a:spcPct val="0"/>
              </a:spcBef>
            </a:pPr>
            <a:r>
              <a:rPr lang="en-US" altLang="en-US" sz="1000" b="0" dirty="0">
                <a:solidFill>
                  <a:schemeClr val="tx1"/>
                </a:solidFill>
                <a:latin typeface="+mn-lt"/>
              </a:rPr>
              <a:t>Forecast (email)</a:t>
            </a:r>
          </a:p>
        </p:txBody>
      </p:sp>
      <p:grpSp>
        <p:nvGrpSpPr>
          <p:cNvPr id="67" name="Group 66">
            <a:extLst>
              <a:ext uri="{FF2B5EF4-FFF2-40B4-BE49-F238E27FC236}">
                <a16:creationId xmlns:a16="http://schemas.microsoft.com/office/drawing/2014/main" id="{B48E0987-B9A8-C3A8-6398-8F7661F01FE9}"/>
              </a:ext>
            </a:extLst>
          </p:cNvPr>
          <p:cNvGrpSpPr/>
          <p:nvPr/>
        </p:nvGrpSpPr>
        <p:grpSpPr>
          <a:xfrm>
            <a:off x="1115307" y="5636904"/>
            <a:ext cx="7945896" cy="561691"/>
            <a:chOff x="2231195" y="9998713"/>
            <a:chExt cx="14714059" cy="1123674"/>
          </a:xfrm>
        </p:grpSpPr>
        <p:grpSp>
          <p:nvGrpSpPr>
            <p:cNvPr id="68" name="Group 87">
              <a:extLst>
                <a:ext uri="{FF2B5EF4-FFF2-40B4-BE49-F238E27FC236}">
                  <a16:creationId xmlns:a16="http://schemas.microsoft.com/office/drawing/2014/main" id="{A30F663C-5ED5-219E-6D76-168E827F3A20}"/>
                </a:ext>
              </a:extLst>
            </p:cNvPr>
            <p:cNvGrpSpPr>
              <a:grpSpLocks/>
            </p:cNvGrpSpPr>
            <p:nvPr/>
          </p:nvGrpSpPr>
          <p:grpSpPr bwMode="auto">
            <a:xfrm>
              <a:off x="2231195" y="10447968"/>
              <a:ext cx="14714059" cy="639894"/>
              <a:chOff x="577" y="3222"/>
              <a:chExt cx="3590" cy="145"/>
            </a:xfrm>
          </p:grpSpPr>
          <p:sp>
            <p:nvSpPr>
              <p:cNvPr id="108" name="Line 88">
                <a:extLst>
                  <a:ext uri="{FF2B5EF4-FFF2-40B4-BE49-F238E27FC236}">
                    <a16:creationId xmlns:a16="http://schemas.microsoft.com/office/drawing/2014/main" id="{3D43DD8C-E9B9-E01C-9E21-A3465D29F30D}"/>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09" name="Line 89">
                <a:extLst>
                  <a:ext uri="{FF2B5EF4-FFF2-40B4-BE49-F238E27FC236}">
                    <a16:creationId xmlns:a16="http://schemas.microsoft.com/office/drawing/2014/main" id="{A8EC0B9D-6648-2F30-ABA0-72209EA4412E}"/>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0" name="Line 90">
                <a:extLst>
                  <a:ext uri="{FF2B5EF4-FFF2-40B4-BE49-F238E27FC236}">
                    <a16:creationId xmlns:a16="http://schemas.microsoft.com/office/drawing/2014/main" id="{6011E64E-EA9F-3D5E-4FBA-4BDE5BC7ADD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1" name="Line 91">
                <a:extLst>
                  <a:ext uri="{FF2B5EF4-FFF2-40B4-BE49-F238E27FC236}">
                    <a16:creationId xmlns:a16="http://schemas.microsoft.com/office/drawing/2014/main" id="{3441EA6E-2A9A-E2D1-F876-C9A8D820EF6C}"/>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2" name="Line 92">
                <a:extLst>
                  <a:ext uri="{FF2B5EF4-FFF2-40B4-BE49-F238E27FC236}">
                    <a16:creationId xmlns:a16="http://schemas.microsoft.com/office/drawing/2014/main" id="{1C291DFE-20EA-9668-C149-F15B5CE1C8A2}"/>
                  </a:ext>
                </a:extLst>
              </p:cNvPr>
              <p:cNvSpPr>
                <a:spLocks noChangeShapeType="1"/>
              </p:cNvSpPr>
              <p:nvPr/>
            </p:nvSpPr>
            <p:spPr bwMode="auto">
              <a:xfrm>
                <a:off x="2377"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3" name="Line 93">
                <a:extLst>
                  <a:ext uri="{FF2B5EF4-FFF2-40B4-BE49-F238E27FC236}">
                    <a16:creationId xmlns:a16="http://schemas.microsoft.com/office/drawing/2014/main" id="{B63EC977-0BC9-65E9-885D-B2DE6B2AFDE5}"/>
                  </a:ext>
                </a:extLst>
              </p:cNvPr>
              <p:cNvSpPr>
                <a:spLocks noChangeShapeType="1"/>
              </p:cNvSpPr>
              <p:nvPr/>
            </p:nvSpPr>
            <p:spPr bwMode="auto">
              <a:xfrm>
                <a:off x="1538" y="3226"/>
                <a:ext cx="840"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4" name="Line 94">
                <a:extLst>
                  <a:ext uri="{FF2B5EF4-FFF2-40B4-BE49-F238E27FC236}">
                    <a16:creationId xmlns:a16="http://schemas.microsoft.com/office/drawing/2014/main" id="{02FB3D17-A50C-2776-975E-357DFCEA403B}"/>
                  </a:ext>
                </a:extLst>
              </p:cNvPr>
              <p:cNvSpPr>
                <a:spLocks noChangeShapeType="1"/>
              </p:cNvSpPr>
              <p:nvPr/>
            </p:nvSpPr>
            <p:spPr bwMode="auto">
              <a:xfrm>
                <a:off x="2902"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7" name="Line 97">
                <a:extLst>
                  <a:ext uri="{FF2B5EF4-FFF2-40B4-BE49-F238E27FC236}">
                    <a16:creationId xmlns:a16="http://schemas.microsoft.com/office/drawing/2014/main" id="{5404F6F0-9CBE-639A-DD7C-CBBCAA76DF73}"/>
                  </a:ext>
                </a:extLst>
              </p:cNvPr>
              <p:cNvSpPr>
                <a:spLocks noChangeShapeType="1"/>
              </p:cNvSpPr>
              <p:nvPr/>
            </p:nvSpPr>
            <p:spPr bwMode="auto">
              <a:xfrm flipV="1">
                <a:off x="2375" y="3366"/>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9" name="Line 99">
                <a:extLst>
                  <a:ext uri="{FF2B5EF4-FFF2-40B4-BE49-F238E27FC236}">
                    <a16:creationId xmlns:a16="http://schemas.microsoft.com/office/drawing/2014/main" id="{8D9D6097-1606-0120-712C-C96C946F2DE1}"/>
                  </a:ext>
                </a:extLst>
              </p:cNvPr>
              <p:cNvSpPr>
                <a:spLocks noChangeShapeType="1"/>
              </p:cNvSpPr>
              <p:nvPr/>
            </p:nvSpPr>
            <p:spPr bwMode="auto">
              <a:xfrm>
                <a:off x="2900" y="3230"/>
                <a:ext cx="126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grpSp>
        <p:sp>
          <p:nvSpPr>
            <p:cNvPr id="79" name="Rectangle 106">
              <a:extLst>
                <a:ext uri="{FF2B5EF4-FFF2-40B4-BE49-F238E27FC236}">
                  <a16:creationId xmlns:a16="http://schemas.microsoft.com/office/drawing/2014/main" id="{C4434D4A-4498-B3B2-4F07-02900406F07E}"/>
                </a:ext>
              </a:extLst>
            </p:cNvPr>
            <p:cNvSpPr>
              <a:spLocks noChangeArrowheads="1"/>
            </p:cNvSpPr>
            <p:nvPr/>
          </p:nvSpPr>
          <p:spPr bwMode="auto">
            <a:xfrm>
              <a:off x="10103025" y="10568245"/>
              <a:ext cx="1459598"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30 sec</a:t>
              </a:r>
            </a:p>
          </p:txBody>
        </p:sp>
        <p:sp>
          <p:nvSpPr>
            <p:cNvPr id="81" name="Rectangle 106">
              <a:extLst>
                <a:ext uri="{FF2B5EF4-FFF2-40B4-BE49-F238E27FC236}">
                  <a16:creationId xmlns:a16="http://schemas.microsoft.com/office/drawing/2014/main" id="{80F6566A-3F45-FFBC-21A8-A09E034F490E}"/>
                </a:ext>
              </a:extLst>
            </p:cNvPr>
            <p:cNvSpPr>
              <a:spLocks noChangeArrowheads="1"/>
            </p:cNvSpPr>
            <p:nvPr/>
          </p:nvSpPr>
          <p:spPr bwMode="auto">
            <a:xfrm>
              <a:off x="4505801" y="10553609"/>
              <a:ext cx="1428029"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240 sec</a:t>
              </a:r>
            </a:p>
          </p:txBody>
        </p:sp>
        <p:sp>
          <p:nvSpPr>
            <p:cNvPr id="104" name="Rectangle 106">
              <a:extLst>
                <a:ext uri="{FF2B5EF4-FFF2-40B4-BE49-F238E27FC236}">
                  <a16:creationId xmlns:a16="http://schemas.microsoft.com/office/drawing/2014/main" id="{164B8036-0B74-E85C-37AA-BE0A85A7C15A}"/>
                </a:ext>
              </a:extLst>
            </p:cNvPr>
            <p:cNvSpPr>
              <a:spLocks noChangeArrowheads="1"/>
            </p:cNvSpPr>
            <p:nvPr/>
          </p:nvSpPr>
          <p:spPr bwMode="auto">
            <a:xfrm>
              <a:off x="2347441" y="10003960"/>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 days</a:t>
              </a:r>
            </a:p>
          </p:txBody>
        </p:sp>
        <p:sp>
          <p:nvSpPr>
            <p:cNvPr id="105" name="Rectangle 106">
              <a:extLst>
                <a:ext uri="{FF2B5EF4-FFF2-40B4-BE49-F238E27FC236}">
                  <a16:creationId xmlns:a16="http://schemas.microsoft.com/office/drawing/2014/main" id="{619520B8-33CC-573F-AA89-02BE2412E9E5}"/>
                </a:ext>
              </a:extLst>
            </p:cNvPr>
            <p:cNvSpPr>
              <a:spLocks noChangeArrowheads="1"/>
            </p:cNvSpPr>
            <p:nvPr/>
          </p:nvSpPr>
          <p:spPr bwMode="auto">
            <a:xfrm>
              <a:off x="7122736" y="10017194"/>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sp>
          <p:nvSpPr>
            <p:cNvPr id="106" name="Rectangle 106">
              <a:extLst>
                <a:ext uri="{FF2B5EF4-FFF2-40B4-BE49-F238E27FC236}">
                  <a16:creationId xmlns:a16="http://schemas.microsoft.com/office/drawing/2014/main" id="{F7788305-4DAB-FC83-4AC0-154293799B08}"/>
                </a:ext>
              </a:extLst>
            </p:cNvPr>
            <p:cNvSpPr>
              <a:spLocks noChangeArrowheads="1"/>
            </p:cNvSpPr>
            <p:nvPr/>
          </p:nvSpPr>
          <p:spPr bwMode="auto">
            <a:xfrm>
              <a:off x="13807881" y="9998713"/>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grpSp>
      <p:grpSp>
        <p:nvGrpSpPr>
          <p:cNvPr id="202" name="Group 132">
            <a:extLst>
              <a:ext uri="{FF2B5EF4-FFF2-40B4-BE49-F238E27FC236}">
                <a16:creationId xmlns:a16="http://schemas.microsoft.com/office/drawing/2014/main" id="{1C019BE2-A40A-9FE4-FF96-C51267175298}"/>
              </a:ext>
            </a:extLst>
          </p:cNvPr>
          <p:cNvGrpSpPr>
            <a:grpSpLocks/>
          </p:cNvGrpSpPr>
          <p:nvPr/>
        </p:nvGrpSpPr>
        <p:grpSpPr bwMode="auto">
          <a:xfrm>
            <a:off x="9090575" y="5296371"/>
            <a:ext cx="2024842" cy="880002"/>
            <a:chOff x="3875" y="3408"/>
            <a:chExt cx="1597" cy="281"/>
          </a:xfrm>
        </p:grpSpPr>
        <p:sp>
          <p:nvSpPr>
            <p:cNvPr id="203" name="Text Box 133">
              <a:extLst>
                <a:ext uri="{FF2B5EF4-FFF2-40B4-BE49-F238E27FC236}">
                  <a16:creationId xmlns:a16="http://schemas.microsoft.com/office/drawing/2014/main" id="{5034081D-9E4D-D954-A7C2-10378C77617C}"/>
                </a:ext>
              </a:extLst>
            </p:cNvPr>
            <p:cNvSpPr txBox="1">
              <a:spLocks noChangeArrowheads="1"/>
            </p:cNvSpPr>
            <p:nvPr/>
          </p:nvSpPr>
          <p:spPr bwMode="auto">
            <a:xfrm>
              <a:off x="3953" y="3476"/>
              <a:ext cx="1433" cy="143"/>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r">
                <a:lnSpc>
                  <a:spcPct val="100000"/>
                </a:lnSpc>
                <a:spcBef>
                  <a:spcPct val="30000"/>
                </a:spcBef>
              </a:pPr>
              <a:r>
                <a:rPr lang="en-US" altLang="en-US" sz="1000" dirty="0">
                  <a:solidFill>
                    <a:schemeClr val="tx1"/>
                  </a:solidFill>
                  <a:latin typeface="+mn-lt"/>
                </a:rPr>
                <a:t>Production L.T. =  10 days    </a:t>
              </a:r>
            </a:p>
            <a:p>
              <a:pPr algn="r">
                <a:lnSpc>
                  <a:spcPct val="100000"/>
                </a:lnSpc>
                <a:spcBef>
                  <a:spcPct val="30000"/>
                </a:spcBef>
              </a:pPr>
              <a:r>
                <a:rPr lang="en-US" altLang="en-US" sz="1000" dirty="0">
                  <a:solidFill>
                    <a:schemeClr val="tx1"/>
                  </a:solidFill>
                  <a:latin typeface="+mn-lt"/>
                </a:rPr>
                <a:t>Processing Time = 270 seconds</a:t>
              </a:r>
            </a:p>
          </p:txBody>
        </p:sp>
        <p:sp>
          <p:nvSpPr>
            <p:cNvPr id="204" name="Line 134">
              <a:extLst>
                <a:ext uri="{FF2B5EF4-FFF2-40B4-BE49-F238E27FC236}">
                  <a16:creationId xmlns:a16="http://schemas.microsoft.com/office/drawing/2014/main" id="{F8F77BA8-4E14-1255-3EB4-B9558BAF8AE2}"/>
                </a:ext>
              </a:extLst>
            </p:cNvPr>
            <p:cNvSpPr>
              <a:spLocks noChangeShapeType="1"/>
            </p:cNvSpPr>
            <p:nvPr/>
          </p:nvSpPr>
          <p:spPr bwMode="auto">
            <a:xfrm flipV="1">
              <a:off x="3938" y="3541"/>
              <a:ext cx="144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205" name="Rectangle 135">
              <a:extLst>
                <a:ext uri="{FF2B5EF4-FFF2-40B4-BE49-F238E27FC236}">
                  <a16:creationId xmlns:a16="http://schemas.microsoft.com/office/drawing/2014/main" id="{32E890D4-4914-FF17-F869-D64F2A855F19}"/>
                </a:ext>
              </a:extLst>
            </p:cNvPr>
            <p:cNvSpPr>
              <a:spLocks noChangeArrowheads="1"/>
            </p:cNvSpPr>
            <p:nvPr/>
          </p:nvSpPr>
          <p:spPr bwMode="auto">
            <a:xfrm>
              <a:off x="3875" y="3408"/>
              <a:ext cx="1597" cy="281"/>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14" name="Freeform: Shape 13">
            <a:extLst>
              <a:ext uri="{FF2B5EF4-FFF2-40B4-BE49-F238E27FC236}">
                <a16:creationId xmlns:a16="http://schemas.microsoft.com/office/drawing/2014/main" id="{415FCB6A-4505-201F-6965-CA49C121BD2B}"/>
              </a:ext>
            </a:extLst>
          </p:cNvPr>
          <p:cNvSpPr/>
          <p:nvPr/>
        </p:nvSpPr>
        <p:spPr>
          <a:xfrm>
            <a:off x="890721" y="2124349"/>
            <a:ext cx="4032406" cy="2464148"/>
          </a:xfrm>
          <a:custGeom>
            <a:avLst/>
            <a:gdLst>
              <a:gd name="connsiteX0" fmla="*/ 93784 w 8066912"/>
              <a:gd name="connsiteY0" fmla="*/ 146564 h 4929580"/>
              <a:gd name="connsiteX1" fmla="*/ 515815 w 8066912"/>
              <a:gd name="connsiteY1" fmla="*/ 76226 h 4929580"/>
              <a:gd name="connsiteX2" fmla="*/ 773723 w 8066912"/>
              <a:gd name="connsiteY2" fmla="*/ 52780 h 4929580"/>
              <a:gd name="connsiteX3" fmla="*/ 1805354 w 8066912"/>
              <a:gd name="connsiteY3" fmla="*/ 52780 h 4929580"/>
              <a:gd name="connsiteX4" fmla="*/ 2063261 w 8066912"/>
              <a:gd name="connsiteY4" fmla="*/ 76226 h 4929580"/>
              <a:gd name="connsiteX5" fmla="*/ 3446584 w 8066912"/>
              <a:gd name="connsiteY5" fmla="*/ 146564 h 4929580"/>
              <a:gd name="connsiteX6" fmla="*/ 3868615 w 8066912"/>
              <a:gd name="connsiteY6" fmla="*/ 193457 h 4929580"/>
              <a:gd name="connsiteX7" fmla="*/ 4314092 w 8066912"/>
              <a:gd name="connsiteY7" fmla="*/ 240349 h 4929580"/>
              <a:gd name="connsiteX8" fmla="*/ 4501661 w 8066912"/>
              <a:gd name="connsiteY8" fmla="*/ 263795 h 4929580"/>
              <a:gd name="connsiteX9" fmla="*/ 5158154 w 8066912"/>
              <a:gd name="connsiteY9" fmla="*/ 287241 h 4929580"/>
              <a:gd name="connsiteX10" fmla="*/ 5627077 w 8066912"/>
              <a:gd name="connsiteY10" fmla="*/ 334134 h 4929580"/>
              <a:gd name="connsiteX11" fmla="*/ 5767754 w 8066912"/>
              <a:gd name="connsiteY11" fmla="*/ 357580 h 4929580"/>
              <a:gd name="connsiteX12" fmla="*/ 6377354 w 8066912"/>
              <a:gd name="connsiteY12" fmla="*/ 381026 h 4929580"/>
              <a:gd name="connsiteX13" fmla="*/ 6799384 w 8066912"/>
              <a:gd name="connsiteY13" fmla="*/ 404472 h 4929580"/>
              <a:gd name="connsiteX14" fmla="*/ 7080738 w 8066912"/>
              <a:gd name="connsiteY14" fmla="*/ 451364 h 4929580"/>
              <a:gd name="connsiteX15" fmla="*/ 7315200 w 8066912"/>
              <a:gd name="connsiteY15" fmla="*/ 521703 h 4929580"/>
              <a:gd name="connsiteX16" fmla="*/ 7596554 w 8066912"/>
              <a:gd name="connsiteY16" fmla="*/ 545149 h 4929580"/>
              <a:gd name="connsiteX17" fmla="*/ 7690338 w 8066912"/>
              <a:gd name="connsiteY17" fmla="*/ 568595 h 4929580"/>
              <a:gd name="connsiteX18" fmla="*/ 7948246 w 8066912"/>
              <a:gd name="connsiteY18" fmla="*/ 779611 h 4929580"/>
              <a:gd name="connsiteX19" fmla="*/ 7995138 w 8066912"/>
              <a:gd name="connsiteY19" fmla="*/ 849949 h 4929580"/>
              <a:gd name="connsiteX20" fmla="*/ 8018584 w 8066912"/>
              <a:gd name="connsiteY20" fmla="*/ 920288 h 4929580"/>
              <a:gd name="connsiteX21" fmla="*/ 8065477 w 8066912"/>
              <a:gd name="connsiteY21" fmla="*/ 1037518 h 4929580"/>
              <a:gd name="connsiteX22" fmla="*/ 8042030 w 8066912"/>
              <a:gd name="connsiteY22" fmla="*/ 1553334 h 4929580"/>
              <a:gd name="connsiteX23" fmla="*/ 8018584 w 8066912"/>
              <a:gd name="connsiteY23" fmla="*/ 1623672 h 4929580"/>
              <a:gd name="connsiteX24" fmla="*/ 7971692 w 8066912"/>
              <a:gd name="connsiteY24" fmla="*/ 1694011 h 4929580"/>
              <a:gd name="connsiteX25" fmla="*/ 7713784 w 8066912"/>
              <a:gd name="connsiteY25" fmla="*/ 1928472 h 4929580"/>
              <a:gd name="connsiteX26" fmla="*/ 7596554 w 8066912"/>
              <a:gd name="connsiteY26" fmla="*/ 1998811 h 4929580"/>
              <a:gd name="connsiteX27" fmla="*/ 7502769 w 8066912"/>
              <a:gd name="connsiteY27" fmla="*/ 2022257 h 4929580"/>
              <a:gd name="connsiteX28" fmla="*/ 7291754 w 8066912"/>
              <a:gd name="connsiteY28" fmla="*/ 2092595 h 4929580"/>
              <a:gd name="connsiteX29" fmla="*/ 7151077 w 8066912"/>
              <a:gd name="connsiteY29" fmla="*/ 2162934 h 4929580"/>
              <a:gd name="connsiteX30" fmla="*/ 6986954 w 8066912"/>
              <a:gd name="connsiteY30" fmla="*/ 2209826 h 4929580"/>
              <a:gd name="connsiteX31" fmla="*/ 6799384 w 8066912"/>
              <a:gd name="connsiteY31" fmla="*/ 2256718 h 4929580"/>
              <a:gd name="connsiteX32" fmla="*/ 6588369 w 8066912"/>
              <a:gd name="connsiteY32" fmla="*/ 2327057 h 4929580"/>
              <a:gd name="connsiteX33" fmla="*/ 6471138 w 8066912"/>
              <a:gd name="connsiteY33" fmla="*/ 2373949 h 4929580"/>
              <a:gd name="connsiteX34" fmla="*/ 6353907 w 8066912"/>
              <a:gd name="connsiteY34" fmla="*/ 2397395 h 4929580"/>
              <a:gd name="connsiteX35" fmla="*/ 6213230 w 8066912"/>
              <a:gd name="connsiteY35" fmla="*/ 2444288 h 4929580"/>
              <a:gd name="connsiteX36" fmla="*/ 6025661 w 8066912"/>
              <a:gd name="connsiteY36" fmla="*/ 2514626 h 4929580"/>
              <a:gd name="connsiteX37" fmla="*/ 5462954 w 8066912"/>
              <a:gd name="connsiteY37" fmla="*/ 2608411 h 4929580"/>
              <a:gd name="connsiteX38" fmla="*/ 5181600 w 8066912"/>
              <a:gd name="connsiteY38" fmla="*/ 2678749 h 4929580"/>
              <a:gd name="connsiteX39" fmla="*/ 5017477 w 8066912"/>
              <a:gd name="connsiteY39" fmla="*/ 2749088 h 4929580"/>
              <a:gd name="connsiteX40" fmla="*/ 4759569 w 8066912"/>
              <a:gd name="connsiteY40" fmla="*/ 2795980 h 4929580"/>
              <a:gd name="connsiteX41" fmla="*/ 4454769 w 8066912"/>
              <a:gd name="connsiteY41" fmla="*/ 2842872 h 4929580"/>
              <a:gd name="connsiteX42" fmla="*/ 4384430 w 8066912"/>
              <a:gd name="connsiteY42" fmla="*/ 2866318 h 4929580"/>
              <a:gd name="connsiteX43" fmla="*/ 4267200 w 8066912"/>
              <a:gd name="connsiteY43" fmla="*/ 2889764 h 4929580"/>
              <a:gd name="connsiteX44" fmla="*/ 4149969 w 8066912"/>
              <a:gd name="connsiteY44" fmla="*/ 2936657 h 4929580"/>
              <a:gd name="connsiteX45" fmla="*/ 3962400 w 8066912"/>
              <a:gd name="connsiteY45" fmla="*/ 2983549 h 4929580"/>
              <a:gd name="connsiteX46" fmla="*/ 3727938 w 8066912"/>
              <a:gd name="connsiteY46" fmla="*/ 3053888 h 4929580"/>
              <a:gd name="connsiteX47" fmla="*/ 3657600 w 8066912"/>
              <a:gd name="connsiteY47" fmla="*/ 3077334 h 4929580"/>
              <a:gd name="connsiteX48" fmla="*/ 3493477 w 8066912"/>
              <a:gd name="connsiteY48" fmla="*/ 3171118 h 4929580"/>
              <a:gd name="connsiteX49" fmla="*/ 3446584 w 8066912"/>
              <a:gd name="connsiteY49" fmla="*/ 3218011 h 4929580"/>
              <a:gd name="connsiteX50" fmla="*/ 3376246 w 8066912"/>
              <a:gd name="connsiteY50" fmla="*/ 3241457 h 4929580"/>
              <a:gd name="connsiteX51" fmla="*/ 3305907 w 8066912"/>
              <a:gd name="connsiteY51" fmla="*/ 3288349 h 4929580"/>
              <a:gd name="connsiteX52" fmla="*/ 3282461 w 8066912"/>
              <a:gd name="connsiteY52" fmla="*/ 3358688 h 4929580"/>
              <a:gd name="connsiteX53" fmla="*/ 3188677 w 8066912"/>
              <a:gd name="connsiteY53" fmla="*/ 3405580 h 4929580"/>
              <a:gd name="connsiteX54" fmla="*/ 3048000 w 8066912"/>
              <a:gd name="connsiteY54" fmla="*/ 3475918 h 4929580"/>
              <a:gd name="connsiteX55" fmla="*/ 2836984 w 8066912"/>
              <a:gd name="connsiteY55" fmla="*/ 3640041 h 4929580"/>
              <a:gd name="connsiteX56" fmla="*/ 2743200 w 8066912"/>
              <a:gd name="connsiteY56" fmla="*/ 3710380 h 4929580"/>
              <a:gd name="connsiteX57" fmla="*/ 2696307 w 8066912"/>
              <a:gd name="connsiteY57" fmla="*/ 3780718 h 4929580"/>
              <a:gd name="connsiteX58" fmla="*/ 2602523 w 8066912"/>
              <a:gd name="connsiteY58" fmla="*/ 3921395 h 4929580"/>
              <a:gd name="connsiteX59" fmla="*/ 2508738 w 8066912"/>
              <a:gd name="connsiteY59" fmla="*/ 4108964 h 4929580"/>
              <a:gd name="connsiteX60" fmla="*/ 2414954 w 8066912"/>
              <a:gd name="connsiteY60" fmla="*/ 4249641 h 4929580"/>
              <a:gd name="connsiteX61" fmla="*/ 2368061 w 8066912"/>
              <a:gd name="connsiteY61" fmla="*/ 4437211 h 4929580"/>
              <a:gd name="connsiteX62" fmla="*/ 2321169 w 8066912"/>
              <a:gd name="connsiteY62" fmla="*/ 4530995 h 4929580"/>
              <a:gd name="connsiteX63" fmla="*/ 2297723 w 8066912"/>
              <a:gd name="connsiteY63" fmla="*/ 4601334 h 4929580"/>
              <a:gd name="connsiteX64" fmla="*/ 2250830 w 8066912"/>
              <a:gd name="connsiteY64" fmla="*/ 4648226 h 4929580"/>
              <a:gd name="connsiteX65" fmla="*/ 2180492 w 8066912"/>
              <a:gd name="connsiteY65" fmla="*/ 4742011 h 4929580"/>
              <a:gd name="connsiteX66" fmla="*/ 2039815 w 8066912"/>
              <a:gd name="connsiteY66" fmla="*/ 4788903 h 4929580"/>
              <a:gd name="connsiteX67" fmla="*/ 1969477 w 8066912"/>
              <a:gd name="connsiteY67" fmla="*/ 4835795 h 4929580"/>
              <a:gd name="connsiteX68" fmla="*/ 1688123 w 8066912"/>
              <a:gd name="connsiteY68" fmla="*/ 4906134 h 4929580"/>
              <a:gd name="connsiteX69" fmla="*/ 1500554 w 8066912"/>
              <a:gd name="connsiteY69" fmla="*/ 4929580 h 4929580"/>
              <a:gd name="connsiteX70" fmla="*/ 961292 w 8066912"/>
              <a:gd name="connsiteY70" fmla="*/ 4882688 h 4929580"/>
              <a:gd name="connsiteX71" fmla="*/ 890954 w 8066912"/>
              <a:gd name="connsiteY71" fmla="*/ 4835795 h 4929580"/>
              <a:gd name="connsiteX72" fmla="*/ 773723 w 8066912"/>
              <a:gd name="connsiteY72" fmla="*/ 4742011 h 4929580"/>
              <a:gd name="connsiteX73" fmla="*/ 422030 w 8066912"/>
              <a:gd name="connsiteY73" fmla="*/ 4366872 h 4929580"/>
              <a:gd name="connsiteX74" fmla="*/ 351692 w 8066912"/>
              <a:gd name="connsiteY74" fmla="*/ 4296534 h 4929580"/>
              <a:gd name="connsiteX75" fmla="*/ 304800 w 8066912"/>
              <a:gd name="connsiteY75" fmla="*/ 4179303 h 4929580"/>
              <a:gd name="connsiteX76" fmla="*/ 257907 w 8066912"/>
              <a:gd name="connsiteY76" fmla="*/ 4108964 h 4929580"/>
              <a:gd name="connsiteX77" fmla="*/ 211015 w 8066912"/>
              <a:gd name="connsiteY77" fmla="*/ 3874503 h 4929580"/>
              <a:gd name="connsiteX78" fmla="*/ 187569 w 8066912"/>
              <a:gd name="connsiteY78" fmla="*/ 3733826 h 4929580"/>
              <a:gd name="connsiteX79" fmla="*/ 140677 w 8066912"/>
              <a:gd name="connsiteY79" fmla="*/ 3640041 h 4929580"/>
              <a:gd name="connsiteX80" fmla="*/ 117230 w 8066912"/>
              <a:gd name="connsiteY80" fmla="*/ 3429026 h 4929580"/>
              <a:gd name="connsiteX81" fmla="*/ 70338 w 8066912"/>
              <a:gd name="connsiteY81" fmla="*/ 3264903 h 4929580"/>
              <a:gd name="connsiteX82" fmla="*/ 0 w 8066912"/>
              <a:gd name="connsiteY82" fmla="*/ 2866318 h 4929580"/>
              <a:gd name="connsiteX83" fmla="*/ 23446 w 8066912"/>
              <a:gd name="connsiteY83" fmla="*/ 1834688 h 4929580"/>
              <a:gd name="connsiteX84" fmla="*/ 46892 w 8066912"/>
              <a:gd name="connsiteY84" fmla="*/ 1764349 h 4929580"/>
              <a:gd name="connsiteX85" fmla="*/ 93784 w 8066912"/>
              <a:gd name="connsiteY85" fmla="*/ 263795 h 4929580"/>
              <a:gd name="connsiteX86" fmla="*/ 211015 w 8066912"/>
              <a:gd name="connsiteY86" fmla="*/ 146564 h 49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066912" h="4929580">
                <a:moveTo>
                  <a:pt x="93784" y="146564"/>
                </a:moveTo>
                <a:cubicBezTo>
                  <a:pt x="260494" y="113222"/>
                  <a:pt x="304008" y="102702"/>
                  <a:pt x="515815" y="76226"/>
                </a:cubicBezTo>
                <a:cubicBezTo>
                  <a:pt x="601472" y="65519"/>
                  <a:pt x="687754" y="60595"/>
                  <a:pt x="773723" y="52780"/>
                </a:cubicBezTo>
                <a:cubicBezTo>
                  <a:pt x="1165970" y="-45282"/>
                  <a:pt x="882974" y="16608"/>
                  <a:pt x="1805354" y="52780"/>
                </a:cubicBezTo>
                <a:cubicBezTo>
                  <a:pt x="1891611" y="56163"/>
                  <a:pt x="1977106" y="70841"/>
                  <a:pt x="2063261" y="76226"/>
                </a:cubicBezTo>
                <a:cubicBezTo>
                  <a:pt x="2587626" y="108999"/>
                  <a:pt x="2947566" y="123881"/>
                  <a:pt x="3446584" y="146564"/>
                </a:cubicBezTo>
                <a:cubicBezTo>
                  <a:pt x="4157602" y="217668"/>
                  <a:pt x="3271102" y="127067"/>
                  <a:pt x="3868615" y="193457"/>
                </a:cubicBezTo>
                <a:lnTo>
                  <a:pt x="4314092" y="240349"/>
                </a:lnTo>
                <a:cubicBezTo>
                  <a:pt x="4376716" y="247307"/>
                  <a:pt x="4438748" y="260300"/>
                  <a:pt x="4501661" y="263795"/>
                </a:cubicBezTo>
                <a:cubicBezTo>
                  <a:pt x="4720294" y="275941"/>
                  <a:pt x="4939323" y="279426"/>
                  <a:pt x="5158154" y="287241"/>
                </a:cubicBezTo>
                <a:cubicBezTo>
                  <a:pt x="5314462" y="302872"/>
                  <a:pt x="5472127" y="308309"/>
                  <a:pt x="5627077" y="334134"/>
                </a:cubicBezTo>
                <a:cubicBezTo>
                  <a:pt x="5673969" y="341949"/>
                  <a:pt x="5720307" y="354615"/>
                  <a:pt x="5767754" y="357580"/>
                </a:cubicBezTo>
                <a:cubicBezTo>
                  <a:pt x="5970708" y="370265"/>
                  <a:pt x="6174214" y="371792"/>
                  <a:pt x="6377354" y="381026"/>
                </a:cubicBezTo>
                <a:cubicBezTo>
                  <a:pt x="6518102" y="387424"/>
                  <a:pt x="6658707" y="396657"/>
                  <a:pt x="6799384" y="404472"/>
                </a:cubicBezTo>
                <a:cubicBezTo>
                  <a:pt x="6851680" y="411943"/>
                  <a:pt x="7018405" y="432664"/>
                  <a:pt x="7080738" y="451364"/>
                </a:cubicBezTo>
                <a:cubicBezTo>
                  <a:pt x="7243953" y="500329"/>
                  <a:pt x="7148193" y="502055"/>
                  <a:pt x="7315200" y="521703"/>
                </a:cubicBezTo>
                <a:cubicBezTo>
                  <a:pt x="7408665" y="532699"/>
                  <a:pt x="7502769" y="537334"/>
                  <a:pt x="7596554" y="545149"/>
                </a:cubicBezTo>
                <a:cubicBezTo>
                  <a:pt x="7627815" y="552964"/>
                  <a:pt x="7661516" y="554184"/>
                  <a:pt x="7690338" y="568595"/>
                </a:cubicBezTo>
                <a:cubicBezTo>
                  <a:pt x="7765790" y="606321"/>
                  <a:pt x="7900211" y="707559"/>
                  <a:pt x="7948246" y="779611"/>
                </a:cubicBezTo>
                <a:lnTo>
                  <a:pt x="7995138" y="849949"/>
                </a:lnTo>
                <a:cubicBezTo>
                  <a:pt x="8002953" y="873395"/>
                  <a:pt x="8009906" y="897147"/>
                  <a:pt x="8018584" y="920288"/>
                </a:cubicBezTo>
                <a:cubicBezTo>
                  <a:pt x="8033362" y="959695"/>
                  <a:pt x="8063919" y="995460"/>
                  <a:pt x="8065477" y="1037518"/>
                </a:cubicBezTo>
                <a:cubicBezTo>
                  <a:pt x="8071847" y="1209516"/>
                  <a:pt x="8055756" y="1381766"/>
                  <a:pt x="8042030" y="1553334"/>
                </a:cubicBezTo>
                <a:cubicBezTo>
                  <a:pt x="8040059" y="1577970"/>
                  <a:pt x="8029636" y="1601567"/>
                  <a:pt x="8018584" y="1623672"/>
                </a:cubicBezTo>
                <a:cubicBezTo>
                  <a:pt x="8005982" y="1648876"/>
                  <a:pt x="7990543" y="1673066"/>
                  <a:pt x="7971692" y="1694011"/>
                </a:cubicBezTo>
                <a:cubicBezTo>
                  <a:pt x="7885664" y="1789598"/>
                  <a:pt x="7816064" y="1860285"/>
                  <a:pt x="7713784" y="1928472"/>
                </a:cubicBezTo>
                <a:cubicBezTo>
                  <a:pt x="7675867" y="1953750"/>
                  <a:pt x="7638197" y="1980303"/>
                  <a:pt x="7596554" y="1998811"/>
                </a:cubicBezTo>
                <a:cubicBezTo>
                  <a:pt x="7567108" y="2011898"/>
                  <a:pt x="7532941" y="2010943"/>
                  <a:pt x="7502769" y="2022257"/>
                </a:cubicBezTo>
                <a:cubicBezTo>
                  <a:pt x="7280890" y="2105461"/>
                  <a:pt x="7548665" y="2041213"/>
                  <a:pt x="7291754" y="2092595"/>
                </a:cubicBezTo>
                <a:cubicBezTo>
                  <a:pt x="7244862" y="2116041"/>
                  <a:pt x="7200010" y="2144114"/>
                  <a:pt x="7151077" y="2162934"/>
                </a:cubicBezTo>
                <a:cubicBezTo>
                  <a:pt x="7097973" y="2183359"/>
                  <a:pt x="7041930" y="2195166"/>
                  <a:pt x="6986954" y="2209826"/>
                </a:cubicBezTo>
                <a:cubicBezTo>
                  <a:pt x="6924683" y="2226432"/>
                  <a:pt x="6859222" y="2232782"/>
                  <a:pt x="6799384" y="2256718"/>
                </a:cubicBezTo>
                <a:cubicBezTo>
                  <a:pt x="6432501" y="2403474"/>
                  <a:pt x="6891223" y="2226107"/>
                  <a:pt x="6588369" y="2327057"/>
                </a:cubicBezTo>
                <a:cubicBezTo>
                  <a:pt x="6548442" y="2340366"/>
                  <a:pt x="6511450" y="2361855"/>
                  <a:pt x="6471138" y="2373949"/>
                </a:cubicBezTo>
                <a:cubicBezTo>
                  <a:pt x="6432968" y="2385400"/>
                  <a:pt x="6392354" y="2386909"/>
                  <a:pt x="6353907" y="2397395"/>
                </a:cubicBezTo>
                <a:cubicBezTo>
                  <a:pt x="6306220" y="2410401"/>
                  <a:pt x="6259779" y="2427663"/>
                  <a:pt x="6213230" y="2444288"/>
                </a:cubicBezTo>
                <a:cubicBezTo>
                  <a:pt x="6150346" y="2466747"/>
                  <a:pt x="6090083" y="2497057"/>
                  <a:pt x="6025661" y="2514626"/>
                </a:cubicBezTo>
                <a:cubicBezTo>
                  <a:pt x="5757664" y="2587716"/>
                  <a:pt x="5712562" y="2583449"/>
                  <a:pt x="5462954" y="2608411"/>
                </a:cubicBezTo>
                <a:cubicBezTo>
                  <a:pt x="5178697" y="2703163"/>
                  <a:pt x="5465749" y="2615605"/>
                  <a:pt x="5181600" y="2678749"/>
                </a:cubicBezTo>
                <a:cubicBezTo>
                  <a:pt x="5058673" y="2706066"/>
                  <a:pt x="5160845" y="2701298"/>
                  <a:pt x="5017477" y="2749088"/>
                </a:cubicBezTo>
                <a:cubicBezTo>
                  <a:pt x="4982729" y="2760671"/>
                  <a:pt x="4785549" y="2791256"/>
                  <a:pt x="4759569" y="2795980"/>
                </a:cubicBezTo>
                <a:cubicBezTo>
                  <a:pt x="4523267" y="2838944"/>
                  <a:pt x="4772457" y="2803161"/>
                  <a:pt x="4454769" y="2842872"/>
                </a:cubicBezTo>
                <a:cubicBezTo>
                  <a:pt x="4431323" y="2850687"/>
                  <a:pt x="4408407" y="2860324"/>
                  <a:pt x="4384430" y="2866318"/>
                </a:cubicBezTo>
                <a:cubicBezTo>
                  <a:pt x="4345769" y="2875983"/>
                  <a:pt x="4305370" y="2878313"/>
                  <a:pt x="4267200" y="2889764"/>
                </a:cubicBezTo>
                <a:cubicBezTo>
                  <a:pt x="4226888" y="2901858"/>
                  <a:pt x="4190195" y="2924280"/>
                  <a:pt x="4149969" y="2936657"/>
                </a:cubicBezTo>
                <a:cubicBezTo>
                  <a:pt x="4088372" y="2955610"/>
                  <a:pt x="4024923" y="2967918"/>
                  <a:pt x="3962400" y="2983549"/>
                </a:cubicBezTo>
                <a:cubicBezTo>
                  <a:pt x="3820658" y="3018984"/>
                  <a:pt x="3899191" y="2996803"/>
                  <a:pt x="3727938" y="3053888"/>
                </a:cubicBezTo>
                <a:cubicBezTo>
                  <a:pt x="3704492" y="3061703"/>
                  <a:pt x="3679705" y="3066282"/>
                  <a:pt x="3657600" y="3077334"/>
                </a:cubicBezTo>
                <a:cubicBezTo>
                  <a:pt x="3593418" y="3109425"/>
                  <a:pt x="3548710" y="3126931"/>
                  <a:pt x="3493477" y="3171118"/>
                </a:cubicBezTo>
                <a:cubicBezTo>
                  <a:pt x="3476215" y="3184927"/>
                  <a:pt x="3465539" y="3206638"/>
                  <a:pt x="3446584" y="3218011"/>
                </a:cubicBezTo>
                <a:cubicBezTo>
                  <a:pt x="3425392" y="3230726"/>
                  <a:pt x="3398351" y="3230405"/>
                  <a:pt x="3376246" y="3241457"/>
                </a:cubicBezTo>
                <a:cubicBezTo>
                  <a:pt x="3351042" y="3254059"/>
                  <a:pt x="3329353" y="3272718"/>
                  <a:pt x="3305907" y="3288349"/>
                </a:cubicBezTo>
                <a:cubicBezTo>
                  <a:pt x="3298092" y="3311795"/>
                  <a:pt x="3299937" y="3341212"/>
                  <a:pt x="3282461" y="3358688"/>
                </a:cubicBezTo>
                <a:cubicBezTo>
                  <a:pt x="3257747" y="3383402"/>
                  <a:pt x="3219023" y="3388239"/>
                  <a:pt x="3188677" y="3405580"/>
                </a:cubicBezTo>
                <a:cubicBezTo>
                  <a:pt x="3061415" y="3478301"/>
                  <a:pt x="3176960" y="3432931"/>
                  <a:pt x="3048000" y="3475918"/>
                </a:cubicBezTo>
                <a:cubicBezTo>
                  <a:pt x="2739282" y="3681731"/>
                  <a:pt x="3029809" y="3474763"/>
                  <a:pt x="2836984" y="3640041"/>
                </a:cubicBezTo>
                <a:cubicBezTo>
                  <a:pt x="2807315" y="3665472"/>
                  <a:pt x="2770832" y="3682748"/>
                  <a:pt x="2743200" y="3710380"/>
                </a:cubicBezTo>
                <a:cubicBezTo>
                  <a:pt x="2723275" y="3730305"/>
                  <a:pt x="2713910" y="3758714"/>
                  <a:pt x="2696307" y="3780718"/>
                </a:cubicBezTo>
                <a:cubicBezTo>
                  <a:pt x="2600835" y="3900058"/>
                  <a:pt x="2697036" y="3732368"/>
                  <a:pt x="2602523" y="3921395"/>
                </a:cubicBezTo>
                <a:cubicBezTo>
                  <a:pt x="2566860" y="4064047"/>
                  <a:pt x="2601733" y="3976114"/>
                  <a:pt x="2508738" y="4108964"/>
                </a:cubicBezTo>
                <a:cubicBezTo>
                  <a:pt x="2476419" y="4155134"/>
                  <a:pt x="2414954" y="4249641"/>
                  <a:pt x="2414954" y="4249641"/>
                </a:cubicBezTo>
                <a:cubicBezTo>
                  <a:pt x="2401193" y="4318444"/>
                  <a:pt x="2395096" y="4374129"/>
                  <a:pt x="2368061" y="4437211"/>
                </a:cubicBezTo>
                <a:cubicBezTo>
                  <a:pt x="2354293" y="4469336"/>
                  <a:pt x="2334937" y="4498870"/>
                  <a:pt x="2321169" y="4530995"/>
                </a:cubicBezTo>
                <a:cubicBezTo>
                  <a:pt x="2311434" y="4553711"/>
                  <a:pt x="2310439" y="4580141"/>
                  <a:pt x="2297723" y="4601334"/>
                </a:cubicBezTo>
                <a:cubicBezTo>
                  <a:pt x="2286350" y="4620289"/>
                  <a:pt x="2264982" y="4631244"/>
                  <a:pt x="2250830" y="4648226"/>
                </a:cubicBezTo>
                <a:cubicBezTo>
                  <a:pt x="2225814" y="4678246"/>
                  <a:pt x="2213006" y="4720335"/>
                  <a:pt x="2180492" y="4742011"/>
                </a:cubicBezTo>
                <a:cubicBezTo>
                  <a:pt x="2139365" y="4769429"/>
                  <a:pt x="2086707" y="4773272"/>
                  <a:pt x="2039815" y="4788903"/>
                </a:cubicBezTo>
                <a:cubicBezTo>
                  <a:pt x="2016369" y="4804534"/>
                  <a:pt x="1995227" y="4824351"/>
                  <a:pt x="1969477" y="4835795"/>
                </a:cubicBezTo>
                <a:cubicBezTo>
                  <a:pt x="1867692" y="4881033"/>
                  <a:pt x="1796776" y="4890612"/>
                  <a:pt x="1688123" y="4906134"/>
                </a:cubicBezTo>
                <a:cubicBezTo>
                  <a:pt x="1625747" y="4915045"/>
                  <a:pt x="1563077" y="4921765"/>
                  <a:pt x="1500554" y="4929580"/>
                </a:cubicBezTo>
                <a:cubicBezTo>
                  <a:pt x="1320800" y="4913949"/>
                  <a:pt x="1139626" y="4910124"/>
                  <a:pt x="961292" y="4882688"/>
                </a:cubicBezTo>
                <a:cubicBezTo>
                  <a:pt x="933441" y="4878403"/>
                  <a:pt x="913497" y="4852702"/>
                  <a:pt x="890954" y="4835795"/>
                </a:cubicBezTo>
                <a:cubicBezTo>
                  <a:pt x="850920" y="4805769"/>
                  <a:pt x="810612" y="4775826"/>
                  <a:pt x="773723" y="4742011"/>
                </a:cubicBezTo>
                <a:cubicBezTo>
                  <a:pt x="614940" y="4596460"/>
                  <a:pt x="573559" y="4532177"/>
                  <a:pt x="422030" y="4366872"/>
                </a:cubicBezTo>
                <a:cubicBezTo>
                  <a:pt x="399625" y="4342430"/>
                  <a:pt x="375138" y="4319980"/>
                  <a:pt x="351692" y="4296534"/>
                </a:cubicBezTo>
                <a:cubicBezTo>
                  <a:pt x="336061" y="4257457"/>
                  <a:pt x="323622" y="4216947"/>
                  <a:pt x="304800" y="4179303"/>
                </a:cubicBezTo>
                <a:cubicBezTo>
                  <a:pt x="292198" y="4154099"/>
                  <a:pt x="266194" y="4135897"/>
                  <a:pt x="257907" y="4108964"/>
                </a:cubicBezTo>
                <a:cubicBezTo>
                  <a:pt x="234468" y="4032787"/>
                  <a:pt x="225703" y="3952839"/>
                  <a:pt x="211015" y="3874503"/>
                </a:cubicBezTo>
                <a:cubicBezTo>
                  <a:pt x="202254" y="3827778"/>
                  <a:pt x="201229" y="3779360"/>
                  <a:pt x="187569" y="3733826"/>
                </a:cubicBezTo>
                <a:cubicBezTo>
                  <a:pt x="177526" y="3700348"/>
                  <a:pt x="156308" y="3671303"/>
                  <a:pt x="140677" y="3640041"/>
                </a:cubicBezTo>
                <a:cubicBezTo>
                  <a:pt x="132861" y="3569703"/>
                  <a:pt x="130272" y="3498585"/>
                  <a:pt x="117230" y="3429026"/>
                </a:cubicBezTo>
                <a:cubicBezTo>
                  <a:pt x="106744" y="3373104"/>
                  <a:pt x="83370" y="3320287"/>
                  <a:pt x="70338" y="3264903"/>
                </a:cubicBezTo>
                <a:cubicBezTo>
                  <a:pt x="28353" y="3086464"/>
                  <a:pt x="23801" y="3032923"/>
                  <a:pt x="0" y="2866318"/>
                </a:cubicBezTo>
                <a:cubicBezTo>
                  <a:pt x="7815" y="2522441"/>
                  <a:pt x="8822" y="2178342"/>
                  <a:pt x="23446" y="1834688"/>
                </a:cubicBezTo>
                <a:cubicBezTo>
                  <a:pt x="24497" y="1809996"/>
                  <a:pt x="45786" y="1789039"/>
                  <a:pt x="46892" y="1764349"/>
                </a:cubicBezTo>
                <a:cubicBezTo>
                  <a:pt x="69277" y="1264421"/>
                  <a:pt x="43275" y="761668"/>
                  <a:pt x="93784" y="263795"/>
                </a:cubicBezTo>
                <a:cubicBezTo>
                  <a:pt x="99362" y="208814"/>
                  <a:pt x="211015" y="146564"/>
                  <a:pt x="211015" y="14656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6" name="Freeform: Shape 15">
            <a:extLst>
              <a:ext uri="{FF2B5EF4-FFF2-40B4-BE49-F238E27FC236}">
                <a16:creationId xmlns:a16="http://schemas.microsoft.com/office/drawing/2014/main" id="{9D661513-30A7-BC9E-1CC8-7CF0D4E6F7CE}"/>
              </a:ext>
            </a:extLst>
          </p:cNvPr>
          <p:cNvSpPr/>
          <p:nvPr/>
        </p:nvSpPr>
        <p:spPr>
          <a:xfrm>
            <a:off x="4897996" y="1998372"/>
            <a:ext cx="6107106" cy="1274474"/>
          </a:xfrm>
          <a:custGeom>
            <a:avLst/>
            <a:gdLst>
              <a:gd name="connsiteX0" fmla="*/ 95732 w 12217393"/>
              <a:gd name="connsiteY0" fmla="*/ 328246 h 2549612"/>
              <a:gd name="connsiteX1" fmla="*/ 470870 w 12217393"/>
              <a:gd name="connsiteY1" fmla="*/ 351692 h 2549612"/>
              <a:gd name="connsiteX2" fmla="*/ 1525947 w 12217393"/>
              <a:gd name="connsiteY2" fmla="*/ 398584 h 2549612"/>
              <a:gd name="connsiteX3" fmla="*/ 2510686 w 12217393"/>
              <a:gd name="connsiteY3" fmla="*/ 375138 h 2549612"/>
              <a:gd name="connsiteX4" fmla="*/ 2604470 w 12217393"/>
              <a:gd name="connsiteY4" fmla="*/ 351692 h 2549612"/>
              <a:gd name="connsiteX5" fmla="*/ 2745147 w 12217393"/>
              <a:gd name="connsiteY5" fmla="*/ 328246 h 2549612"/>
              <a:gd name="connsiteX6" fmla="*/ 2838932 w 12217393"/>
              <a:gd name="connsiteY6" fmla="*/ 304800 h 2549612"/>
              <a:gd name="connsiteX7" fmla="*/ 3682993 w 12217393"/>
              <a:gd name="connsiteY7" fmla="*/ 281354 h 2549612"/>
              <a:gd name="connsiteX8" fmla="*/ 4105024 w 12217393"/>
              <a:gd name="connsiteY8" fmla="*/ 257908 h 2549612"/>
              <a:gd name="connsiteX9" fmla="*/ 4456717 w 12217393"/>
              <a:gd name="connsiteY9" fmla="*/ 234461 h 2549612"/>
              <a:gd name="connsiteX10" fmla="*/ 5253886 w 12217393"/>
              <a:gd name="connsiteY10" fmla="*/ 211015 h 2549612"/>
              <a:gd name="connsiteX11" fmla="*/ 5769701 w 12217393"/>
              <a:gd name="connsiteY11" fmla="*/ 187569 h 2549612"/>
              <a:gd name="connsiteX12" fmla="*/ 6051055 w 12217393"/>
              <a:gd name="connsiteY12" fmla="*/ 140677 h 2549612"/>
              <a:gd name="connsiteX13" fmla="*/ 6543424 w 12217393"/>
              <a:gd name="connsiteY13" fmla="*/ 117231 h 2549612"/>
              <a:gd name="connsiteX14" fmla="*/ 6801332 w 12217393"/>
              <a:gd name="connsiteY14" fmla="*/ 70338 h 2549612"/>
              <a:gd name="connsiteX15" fmla="*/ 6988901 w 12217393"/>
              <a:gd name="connsiteY15" fmla="*/ 46892 h 2549612"/>
              <a:gd name="connsiteX16" fmla="*/ 7387486 w 12217393"/>
              <a:gd name="connsiteY16" fmla="*/ 23446 h 2549612"/>
              <a:gd name="connsiteX17" fmla="*/ 8723917 w 12217393"/>
              <a:gd name="connsiteY17" fmla="*/ 0 h 2549612"/>
              <a:gd name="connsiteX18" fmla="*/ 9990009 w 12217393"/>
              <a:gd name="connsiteY18" fmla="*/ 70338 h 2549612"/>
              <a:gd name="connsiteX19" fmla="*/ 10529270 w 12217393"/>
              <a:gd name="connsiteY19" fmla="*/ 164123 h 2549612"/>
              <a:gd name="connsiteX20" fmla="*/ 11045086 w 12217393"/>
              <a:gd name="connsiteY20" fmla="*/ 281354 h 2549612"/>
              <a:gd name="connsiteX21" fmla="*/ 11373332 w 12217393"/>
              <a:gd name="connsiteY21" fmla="*/ 351692 h 2549612"/>
              <a:gd name="connsiteX22" fmla="*/ 11514009 w 12217393"/>
              <a:gd name="connsiteY22" fmla="*/ 398584 h 2549612"/>
              <a:gd name="connsiteX23" fmla="*/ 11607793 w 12217393"/>
              <a:gd name="connsiteY23" fmla="*/ 422031 h 2549612"/>
              <a:gd name="connsiteX24" fmla="*/ 11771917 w 12217393"/>
              <a:gd name="connsiteY24" fmla="*/ 492369 h 2549612"/>
              <a:gd name="connsiteX25" fmla="*/ 11842255 w 12217393"/>
              <a:gd name="connsiteY25" fmla="*/ 562708 h 2549612"/>
              <a:gd name="connsiteX26" fmla="*/ 11959486 w 12217393"/>
              <a:gd name="connsiteY26" fmla="*/ 656492 h 2549612"/>
              <a:gd name="connsiteX27" fmla="*/ 12076717 w 12217393"/>
              <a:gd name="connsiteY27" fmla="*/ 867508 h 2549612"/>
              <a:gd name="connsiteX28" fmla="*/ 12147055 w 12217393"/>
              <a:gd name="connsiteY28" fmla="*/ 961292 h 2549612"/>
              <a:gd name="connsiteX29" fmla="*/ 12170501 w 12217393"/>
              <a:gd name="connsiteY29" fmla="*/ 1031631 h 2549612"/>
              <a:gd name="connsiteX30" fmla="*/ 12217393 w 12217393"/>
              <a:gd name="connsiteY30" fmla="*/ 1219200 h 2549612"/>
              <a:gd name="connsiteX31" fmla="*/ 12193947 w 12217393"/>
              <a:gd name="connsiteY31" fmla="*/ 1570892 h 2549612"/>
              <a:gd name="connsiteX32" fmla="*/ 12123609 w 12217393"/>
              <a:gd name="connsiteY32" fmla="*/ 1664677 h 2549612"/>
              <a:gd name="connsiteX33" fmla="*/ 11982932 w 12217393"/>
              <a:gd name="connsiteY33" fmla="*/ 1758461 h 2549612"/>
              <a:gd name="connsiteX34" fmla="*/ 10177578 w 12217393"/>
              <a:gd name="connsiteY34" fmla="*/ 1735015 h 2549612"/>
              <a:gd name="connsiteX35" fmla="*/ 9661763 w 12217393"/>
              <a:gd name="connsiteY35" fmla="*/ 1688123 h 2549612"/>
              <a:gd name="connsiteX36" fmla="*/ 9356963 w 12217393"/>
              <a:gd name="connsiteY36" fmla="*/ 1664677 h 2549612"/>
              <a:gd name="connsiteX37" fmla="*/ 8114317 w 12217393"/>
              <a:gd name="connsiteY37" fmla="*/ 1711569 h 2549612"/>
              <a:gd name="connsiteX38" fmla="*/ 3448532 w 12217393"/>
              <a:gd name="connsiteY38" fmla="*/ 1758461 h 2549612"/>
              <a:gd name="connsiteX39" fmla="*/ 3307855 w 12217393"/>
              <a:gd name="connsiteY39" fmla="*/ 1781908 h 2549612"/>
              <a:gd name="connsiteX40" fmla="*/ 3214070 w 12217393"/>
              <a:gd name="connsiteY40" fmla="*/ 1828800 h 2549612"/>
              <a:gd name="connsiteX41" fmla="*/ 2979609 w 12217393"/>
              <a:gd name="connsiteY41" fmla="*/ 1969477 h 2549612"/>
              <a:gd name="connsiteX42" fmla="*/ 2885824 w 12217393"/>
              <a:gd name="connsiteY42" fmla="*/ 2039815 h 2549612"/>
              <a:gd name="connsiteX43" fmla="*/ 2627917 w 12217393"/>
              <a:gd name="connsiteY43" fmla="*/ 2157046 h 2549612"/>
              <a:gd name="connsiteX44" fmla="*/ 2534132 w 12217393"/>
              <a:gd name="connsiteY44" fmla="*/ 2203938 h 2549612"/>
              <a:gd name="connsiteX45" fmla="*/ 2346563 w 12217393"/>
              <a:gd name="connsiteY45" fmla="*/ 2250831 h 2549612"/>
              <a:gd name="connsiteX46" fmla="*/ 2182440 w 12217393"/>
              <a:gd name="connsiteY46" fmla="*/ 2321169 h 2549612"/>
              <a:gd name="connsiteX47" fmla="*/ 2041763 w 12217393"/>
              <a:gd name="connsiteY47" fmla="*/ 2344615 h 2549612"/>
              <a:gd name="connsiteX48" fmla="*/ 1924532 w 12217393"/>
              <a:gd name="connsiteY48" fmla="*/ 2368061 h 2549612"/>
              <a:gd name="connsiteX49" fmla="*/ 1643178 w 12217393"/>
              <a:gd name="connsiteY49" fmla="*/ 2414954 h 2549612"/>
              <a:gd name="connsiteX50" fmla="*/ 1525947 w 12217393"/>
              <a:gd name="connsiteY50" fmla="*/ 2438400 h 2549612"/>
              <a:gd name="connsiteX51" fmla="*/ 1221147 w 12217393"/>
              <a:gd name="connsiteY51" fmla="*/ 2461846 h 2549612"/>
              <a:gd name="connsiteX52" fmla="*/ 119178 w 12217393"/>
              <a:gd name="connsiteY52" fmla="*/ 2321169 h 2549612"/>
              <a:gd name="connsiteX53" fmla="*/ 95732 w 12217393"/>
              <a:gd name="connsiteY53" fmla="*/ 2203938 h 2549612"/>
              <a:gd name="connsiteX54" fmla="*/ 48840 w 12217393"/>
              <a:gd name="connsiteY54" fmla="*/ 2110154 h 2549612"/>
              <a:gd name="connsiteX55" fmla="*/ 48840 w 12217393"/>
              <a:gd name="connsiteY55" fmla="*/ 750277 h 2549612"/>
              <a:gd name="connsiteX56" fmla="*/ 72286 w 12217393"/>
              <a:gd name="connsiteY56" fmla="*/ 398584 h 254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2217393" h="2549612">
                <a:moveTo>
                  <a:pt x="95732" y="328246"/>
                </a:moveTo>
                <a:cubicBezTo>
                  <a:pt x="220778" y="336061"/>
                  <a:pt x="345676" y="346782"/>
                  <a:pt x="470870" y="351692"/>
                </a:cubicBezTo>
                <a:cubicBezTo>
                  <a:pt x="1527448" y="393126"/>
                  <a:pt x="974002" y="343390"/>
                  <a:pt x="1525947" y="398584"/>
                </a:cubicBezTo>
                <a:lnTo>
                  <a:pt x="2510686" y="375138"/>
                </a:lnTo>
                <a:cubicBezTo>
                  <a:pt x="2542879" y="373738"/>
                  <a:pt x="2572872" y="358012"/>
                  <a:pt x="2604470" y="351692"/>
                </a:cubicBezTo>
                <a:cubicBezTo>
                  <a:pt x="2651086" y="342369"/>
                  <a:pt x="2698531" y="337569"/>
                  <a:pt x="2745147" y="328246"/>
                </a:cubicBezTo>
                <a:cubicBezTo>
                  <a:pt x="2776745" y="321926"/>
                  <a:pt x="2806748" y="306409"/>
                  <a:pt x="2838932" y="304800"/>
                </a:cubicBezTo>
                <a:cubicBezTo>
                  <a:pt x="3120043" y="290745"/>
                  <a:pt x="3401724" y="291771"/>
                  <a:pt x="3682993" y="281354"/>
                </a:cubicBezTo>
                <a:cubicBezTo>
                  <a:pt x="3823790" y="276139"/>
                  <a:pt x="3964388" y="266432"/>
                  <a:pt x="4105024" y="257908"/>
                </a:cubicBezTo>
                <a:cubicBezTo>
                  <a:pt x="4222300" y="250800"/>
                  <a:pt x="4339324" y="239253"/>
                  <a:pt x="4456717" y="234461"/>
                </a:cubicBezTo>
                <a:cubicBezTo>
                  <a:pt x="4722334" y="223619"/>
                  <a:pt x="4988217" y="220503"/>
                  <a:pt x="5253886" y="211015"/>
                </a:cubicBezTo>
                <a:lnTo>
                  <a:pt x="5769701" y="187569"/>
                </a:lnTo>
                <a:cubicBezTo>
                  <a:pt x="5859567" y="169596"/>
                  <a:pt x="5960578" y="147140"/>
                  <a:pt x="6051055" y="140677"/>
                </a:cubicBezTo>
                <a:cubicBezTo>
                  <a:pt x="6214946" y="128971"/>
                  <a:pt x="6379301" y="125046"/>
                  <a:pt x="6543424" y="117231"/>
                </a:cubicBezTo>
                <a:cubicBezTo>
                  <a:pt x="6644414" y="97032"/>
                  <a:pt x="6696329" y="85338"/>
                  <a:pt x="6801332" y="70338"/>
                </a:cubicBezTo>
                <a:cubicBezTo>
                  <a:pt x="6863708" y="61427"/>
                  <a:pt x="6926092" y="51917"/>
                  <a:pt x="6988901" y="46892"/>
                </a:cubicBezTo>
                <a:cubicBezTo>
                  <a:pt x="7121568" y="36279"/>
                  <a:pt x="7254443" y="27042"/>
                  <a:pt x="7387486" y="23446"/>
                </a:cubicBezTo>
                <a:lnTo>
                  <a:pt x="8723917" y="0"/>
                </a:lnTo>
                <a:cubicBezTo>
                  <a:pt x="8907245" y="7971"/>
                  <a:pt x="9613144" y="9553"/>
                  <a:pt x="9990009" y="70338"/>
                </a:cubicBezTo>
                <a:cubicBezTo>
                  <a:pt x="10170133" y="99390"/>
                  <a:pt x="10354513" y="111696"/>
                  <a:pt x="10529270" y="164123"/>
                </a:cubicBezTo>
                <a:cubicBezTo>
                  <a:pt x="11007020" y="307447"/>
                  <a:pt x="10505875" y="167835"/>
                  <a:pt x="11045086" y="281354"/>
                </a:cubicBezTo>
                <a:cubicBezTo>
                  <a:pt x="11503731" y="377911"/>
                  <a:pt x="10918430" y="286706"/>
                  <a:pt x="11373332" y="351692"/>
                </a:cubicBezTo>
                <a:cubicBezTo>
                  <a:pt x="11420224" y="367323"/>
                  <a:pt x="11466665" y="384381"/>
                  <a:pt x="11514009" y="398584"/>
                </a:cubicBezTo>
                <a:cubicBezTo>
                  <a:pt x="11544874" y="407843"/>
                  <a:pt x="11578175" y="409337"/>
                  <a:pt x="11607793" y="422031"/>
                </a:cubicBezTo>
                <a:cubicBezTo>
                  <a:pt x="11834467" y="519178"/>
                  <a:pt x="11502679" y="425060"/>
                  <a:pt x="11771917" y="492369"/>
                </a:cubicBezTo>
                <a:cubicBezTo>
                  <a:pt x="11795363" y="515815"/>
                  <a:pt x="11817301" y="540873"/>
                  <a:pt x="11842255" y="562708"/>
                </a:cubicBezTo>
                <a:cubicBezTo>
                  <a:pt x="11879916" y="595661"/>
                  <a:pt x="11924100" y="621106"/>
                  <a:pt x="11959486" y="656492"/>
                </a:cubicBezTo>
                <a:cubicBezTo>
                  <a:pt x="12000766" y="697772"/>
                  <a:pt x="12058324" y="836853"/>
                  <a:pt x="12076717" y="867508"/>
                </a:cubicBezTo>
                <a:cubicBezTo>
                  <a:pt x="12096822" y="901016"/>
                  <a:pt x="12123609" y="930031"/>
                  <a:pt x="12147055" y="961292"/>
                </a:cubicBezTo>
                <a:cubicBezTo>
                  <a:pt x="12154870" y="984738"/>
                  <a:pt x="12163998" y="1007787"/>
                  <a:pt x="12170501" y="1031631"/>
                </a:cubicBezTo>
                <a:cubicBezTo>
                  <a:pt x="12187458" y="1093807"/>
                  <a:pt x="12217393" y="1219200"/>
                  <a:pt x="12217393" y="1219200"/>
                </a:cubicBezTo>
                <a:cubicBezTo>
                  <a:pt x="12209578" y="1336431"/>
                  <a:pt x="12218151" y="1455921"/>
                  <a:pt x="12193947" y="1570892"/>
                </a:cubicBezTo>
                <a:cubicBezTo>
                  <a:pt x="12185897" y="1609131"/>
                  <a:pt x="12152815" y="1638716"/>
                  <a:pt x="12123609" y="1664677"/>
                </a:cubicBezTo>
                <a:cubicBezTo>
                  <a:pt x="12081487" y="1702119"/>
                  <a:pt x="11982932" y="1758461"/>
                  <a:pt x="11982932" y="1758461"/>
                </a:cubicBezTo>
                <a:lnTo>
                  <a:pt x="10177578" y="1735015"/>
                </a:lnTo>
                <a:cubicBezTo>
                  <a:pt x="9968894" y="1730378"/>
                  <a:pt x="9858294" y="1705989"/>
                  <a:pt x="9661763" y="1688123"/>
                </a:cubicBezTo>
                <a:cubicBezTo>
                  <a:pt x="9560281" y="1678897"/>
                  <a:pt x="9458563" y="1672492"/>
                  <a:pt x="9356963" y="1664677"/>
                </a:cubicBezTo>
                <a:cubicBezTo>
                  <a:pt x="8806239" y="1704014"/>
                  <a:pt x="8911432" y="1701521"/>
                  <a:pt x="8114317" y="1711569"/>
                </a:cubicBezTo>
                <a:lnTo>
                  <a:pt x="3448532" y="1758461"/>
                </a:lnTo>
                <a:cubicBezTo>
                  <a:pt x="3401640" y="1766277"/>
                  <a:pt x="3353389" y="1768248"/>
                  <a:pt x="3307855" y="1781908"/>
                </a:cubicBezTo>
                <a:cubicBezTo>
                  <a:pt x="3274378" y="1791951"/>
                  <a:pt x="3244416" y="1811459"/>
                  <a:pt x="3214070" y="1828800"/>
                </a:cubicBezTo>
                <a:cubicBezTo>
                  <a:pt x="3134936" y="1874019"/>
                  <a:pt x="3052523" y="1914792"/>
                  <a:pt x="2979609" y="1969477"/>
                </a:cubicBezTo>
                <a:cubicBezTo>
                  <a:pt x="2948347" y="1992923"/>
                  <a:pt x="2918961" y="2019104"/>
                  <a:pt x="2885824" y="2039815"/>
                </a:cubicBezTo>
                <a:cubicBezTo>
                  <a:pt x="2829048" y="2075300"/>
                  <a:pt x="2670484" y="2137697"/>
                  <a:pt x="2627917" y="2157046"/>
                </a:cubicBezTo>
                <a:cubicBezTo>
                  <a:pt x="2596098" y="2171509"/>
                  <a:pt x="2567290" y="2192885"/>
                  <a:pt x="2534132" y="2203938"/>
                </a:cubicBezTo>
                <a:cubicBezTo>
                  <a:pt x="2472992" y="2224318"/>
                  <a:pt x="2405799" y="2225444"/>
                  <a:pt x="2346563" y="2250831"/>
                </a:cubicBezTo>
                <a:cubicBezTo>
                  <a:pt x="2291855" y="2274277"/>
                  <a:pt x="2239328" y="2303665"/>
                  <a:pt x="2182440" y="2321169"/>
                </a:cubicBezTo>
                <a:cubicBezTo>
                  <a:pt x="2137003" y="2335150"/>
                  <a:pt x="2088535" y="2336111"/>
                  <a:pt x="2041763" y="2344615"/>
                </a:cubicBezTo>
                <a:cubicBezTo>
                  <a:pt x="2002555" y="2351744"/>
                  <a:pt x="1963776" y="2361135"/>
                  <a:pt x="1924532" y="2368061"/>
                </a:cubicBezTo>
                <a:cubicBezTo>
                  <a:pt x="1830900" y="2384584"/>
                  <a:pt x="1736410" y="2396308"/>
                  <a:pt x="1643178" y="2414954"/>
                </a:cubicBezTo>
                <a:cubicBezTo>
                  <a:pt x="1604101" y="2422769"/>
                  <a:pt x="1565554" y="2433999"/>
                  <a:pt x="1525947" y="2438400"/>
                </a:cubicBezTo>
                <a:cubicBezTo>
                  <a:pt x="1424670" y="2449653"/>
                  <a:pt x="1322747" y="2454031"/>
                  <a:pt x="1221147" y="2461846"/>
                </a:cubicBezTo>
                <a:cubicBezTo>
                  <a:pt x="249151" y="2419586"/>
                  <a:pt x="217477" y="2763517"/>
                  <a:pt x="119178" y="2321169"/>
                </a:cubicBezTo>
                <a:cubicBezTo>
                  <a:pt x="110533" y="2282267"/>
                  <a:pt x="108334" y="2241744"/>
                  <a:pt x="95732" y="2203938"/>
                </a:cubicBezTo>
                <a:cubicBezTo>
                  <a:pt x="84679" y="2170780"/>
                  <a:pt x="64471" y="2141415"/>
                  <a:pt x="48840" y="2110154"/>
                </a:cubicBezTo>
                <a:cubicBezTo>
                  <a:pt x="-40045" y="1576860"/>
                  <a:pt x="12611" y="1945805"/>
                  <a:pt x="48840" y="750277"/>
                </a:cubicBezTo>
                <a:cubicBezTo>
                  <a:pt x="72843" y="-41805"/>
                  <a:pt x="72286" y="564218"/>
                  <a:pt x="72286" y="39858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7" name="Freeform: Shape 16">
            <a:extLst>
              <a:ext uri="{FF2B5EF4-FFF2-40B4-BE49-F238E27FC236}">
                <a16:creationId xmlns:a16="http://schemas.microsoft.com/office/drawing/2014/main" id="{DB0A0FB8-7731-D334-A1AC-CF4E8FD99D36}"/>
              </a:ext>
            </a:extLst>
          </p:cNvPr>
          <p:cNvSpPr/>
          <p:nvPr/>
        </p:nvSpPr>
        <p:spPr>
          <a:xfrm>
            <a:off x="6749775" y="2804674"/>
            <a:ext cx="3704486" cy="2478594"/>
          </a:xfrm>
          <a:custGeom>
            <a:avLst/>
            <a:gdLst>
              <a:gd name="connsiteX0" fmla="*/ 25363 w 7410901"/>
              <a:gd name="connsiteY0" fmla="*/ 351692 h 5251939"/>
              <a:gd name="connsiteX1" fmla="*/ 95701 w 7410901"/>
              <a:gd name="connsiteY1" fmla="*/ 1266092 h 5251939"/>
              <a:gd name="connsiteX2" fmla="*/ 119147 w 7410901"/>
              <a:gd name="connsiteY2" fmla="*/ 1336431 h 5251939"/>
              <a:gd name="connsiteX3" fmla="*/ 142594 w 7410901"/>
              <a:gd name="connsiteY3" fmla="*/ 1430215 h 5251939"/>
              <a:gd name="connsiteX4" fmla="*/ 189486 w 7410901"/>
              <a:gd name="connsiteY4" fmla="*/ 1524000 h 5251939"/>
              <a:gd name="connsiteX5" fmla="*/ 212932 w 7410901"/>
              <a:gd name="connsiteY5" fmla="*/ 1641231 h 5251939"/>
              <a:gd name="connsiteX6" fmla="*/ 259824 w 7410901"/>
              <a:gd name="connsiteY6" fmla="*/ 1735015 h 5251939"/>
              <a:gd name="connsiteX7" fmla="*/ 306717 w 7410901"/>
              <a:gd name="connsiteY7" fmla="*/ 2133600 h 5251939"/>
              <a:gd name="connsiteX8" fmla="*/ 353609 w 7410901"/>
              <a:gd name="connsiteY8" fmla="*/ 2368062 h 5251939"/>
              <a:gd name="connsiteX9" fmla="*/ 400501 w 7410901"/>
              <a:gd name="connsiteY9" fmla="*/ 2883877 h 5251939"/>
              <a:gd name="connsiteX10" fmla="*/ 447394 w 7410901"/>
              <a:gd name="connsiteY10" fmla="*/ 3071446 h 5251939"/>
              <a:gd name="connsiteX11" fmla="*/ 564624 w 7410901"/>
              <a:gd name="connsiteY11" fmla="*/ 3470031 h 5251939"/>
              <a:gd name="connsiteX12" fmla="*/ 588070 w 7410901"/>
              <a:gd name="connsiteY12" fmla="*/ 3610708 h 5251939"/>
              <a:gd name="connsiteX13" fmla="*/ 658409 w 7410901"/>
              <a:gd name="connsiteY13" fmla="*/ 3727939 h 5251939"/>
              <a:gd name="connsiteX14" fmla="*/ 705301 w 7410901"/>
              <a:gd name="connsiteY14" fmla="*/ 3845169 h 5251939"/>
              <a:gd name="connsiteX15" fmla="*/ 752194 w 7410901"/>
              <a:gd name="connsiteY15" fmla="*/ 3915508 h 5251939"/>
              <a:gd name="connsiteX16" fmla="*/ 799086 w 7410901"/>
              <a:gd name="connsiteY16" fmla="*/ 4009292 h 5251939"/>
              <a:gd name="connsiteX17" fmla="*/ 845978 w 7410901"/>
              <a:gd name="connsiteY17" fmla="*/ 4079631 h 5251939"/>
              <a:gd name="connsiteX18" fmla="*/ 892870 w 7410901"/>
              <a:gd name="connsiteY18" fmla="*/ 4173415 h 5251939"/>
              <a:gd name="connsiteX19" fmla="*/ 939763 w 7410901"/>
              <a:gd name="connsiteY19" fmla="*/ 4243754 h 5251939"/>
              <a:gd name="connsiteX20" fmla="*/ 1010101 w 7410901"/>
              <a:gd name="connsiteY20" fmla="*/ 4407877 h 5251939"/>
              <a:gd name="connsiteX21" fmla="*/ 1080440 w 7410901"/>
              <a:gd name="connsiteY21" fmla="*/ 4478215 h 5251939"/>
              <a:gd name="connsiteX22" fmla="*/ 1174224 w 7410901"/>
              <a:gd name="connsiteY22" fmla="*/ 4618892 h 5251939"/>
              <a:gd name="connsiteX23" fmla="*/ 1291455 w 7410901"/>
              <a:gd name="connsiteY23" fmla="*/ 4712677 h 5251939"/>
              <a:gd name="connsiteX24" fmla="*/ 1432132 w 7410901"/>
              <a:gd name="connsiteY24" fmla="*/ 4853354 h 5251939"/>
              <a:gd name="connsiteX25" fmla="*/ 1549363 w 7410901"/>
              <a:gd name="connsiteY25" fmla="*/ 4900246 h 5251939"/>
              <a:gd name="connsiteX26" fmla="*/ 1877609 w 7410901"/>
              <a:gd name="connsiteY26" fmla="*/ 5017477 h 5251939"/>
              <a:gd name="connsiteX27" fmla="*/ 2018286 w 7410901"/>
              <a:gd name="connsiteY27" fmla="*/ 5087815 h 5251939"/>
              <a:gd name="connsiteX28" fmla="*/ 2252747 w 7410901"/>
              <a:gd name="connsiteY28" fmla="*/ 5134708 h 5251939"/>
              <a:gd name="connsiteX29" fmla="*/ 2534101 w 7410901"/>
              <a:gd name="connsiteY29" fmla="*/ 5205046 h 5251939"/>
              <a:gd name="connsiteX30" fmla="*/ 3237486 w 7410901"/>
              <a:gd name="connsiteY30" fmla="*/ 5251939 h 5251939"/>
              <a:gd name="connsiteX31" fmla="*/ 3917424 w 7410901"/>
              <a:gd name="connsiteY31" fmla="*/ 5228492 h 5251939"/>
              <a:gd name="connsiteX32" fmla="*/ 4151886 w 7410901"/>
              <a:gd name="connsiteY32" fmla="*/ 5111262 h 5251939"/>
              <a:gd name="connsiteX33" fmla="*/ 4339455 w 7410901"/>
              <a:gd name="connsiteY33" fmla="*/ 4970585 h 5251939"/>
              <a:gd name="connsiteX34" fmla="*/ 4644255 w 7410901"/>
              <a:gd name="connsiteY34" fmla="*/ 4712677 h 5251939"/>
              <a:gd name="connsiteX35" fmla="*/ 4761486 w 7410901"/>
              <a:gd name="connsiteY35" fmla="*/ 4665785 h 5251939"/>
              <a:gd name="connsiteX36" fmla="*/ 4925609 w 7410901"/>
              <a:gd name="connsiteY36" fmla="*/ 4618892 h 5251939"/>
              <a:gd name="connsiteX37" fmla="*/ 5253855 w 7410901"/>
              <a:gd name="connsiteY37" fmla="*/ 4548554 h 5251939"/>
              <a:gd name="connsiteX38" fmla="*/ 5628994 w 7410901"/>
              <a:gd name="connsiteY38" fmla="*/ 4384431 h 5251939"/>
              <a:gd name="connsiteX39" fmla="*/ 5793117 w 7410901"/>
              <a:gd name="connsiteY39" fmla="*/ 4314092 h 5251939"/>
              <a:gd name="connsiteX40" fmla="*/ 5957240 w 7410901"/>
              <a:gd name="connsiteY40" fmla="*/ 4220308 h 5251939"/>
              <a:gd name="connsiteX41" fmla="*/ 6308932 w 7410901"/>
              <a:gd name="connsiteY41" fmla="*/ 4103077 h 5251939"/>
              <a:gd name="connsiteX42" fmla="*/ 6449609 w 7410901"/>
              <a:gd name="connsiteY42" fmla="*/ 4056185 h 5251939"/>
              <a:gd name="connsiteX43" fmla="*/ 6637178 w 7410901"/>
              <a:gd name="connsiteY43" fmla="*/ 4009292 h 5251939"/>
              <a:gd name="connsiteX44" fmla="*/ 7106101 w 7410901"/>
              <a:gd name="connsiteY44" fmla="*/ 3774831 h 5251939"/>
              <a:gd name="connsiteX45" fmla="*/ 7223332 w 7410901"/>
              <a:gd name="connsiteY45" fmla="*/ 3657600 h 5251939"/>
              <a:gd name="connsiteX46" fmla="*/ 7364009 w 7410901"/>
              <a:gd name="connsiteY46" fmla="*/ 3282462 h 5251939"/>
              <a:gd name="connsiteX47" fmla="*/ 7410901 w 7410901"/>
              <a:gd name="connsiteY47" fmla="*/ 2860431 h 5251939"/>
              <a:gd name="connsiteX48" fmla="*/ 7387455 w 7410901"/>
              <a:gd name="connsiteY48" fmla="*/ 1922585 h 5251939"/>
              <a:gd name="connsiteX49" fmla="*/ 7340563 w 7410901"/>
              <a:gd name="connsiteY49" fmla="*/ 1500554 h 5251939"/>
              <a:gd name="connsiteX50" fmla="*/ 7317117 w 7410901"/>
              <a:gd name="connsiteY50" fmla="*/ 1336431 h 5251939"/>
              <a:gd name="connsiteX51" fmla="*/ 7223332 w 7410901"/>
              <a:gd name="connsiteY51" fmla="*/ 1101969 h 5251939"/>
              <a:gd name="connsiteX52" fmla="*/ 7129547 w 7410901"/>
              <a:gd name="connsiteY52" fmla="*/ 867508 h 5251939"/>
              <a:gd name="connsiteX53" fmla="*/ 7082655 w 7410901"/>
              <a:gd name="connsiteY53" fmla="*/ 773723 h 5251939"/>
              <a:gd name="connsiteX54" fmla="*/ 6941978 w 7410901"/>
              <a:gd name="connsiteY54" fmla="*/ 609600 h 5251939"/>
              <a:gd name="connsiteX55" fmla="*/ 6754409 w 7410901"/>
              <a:gd name="connsiteY55" fmla="*/ 515815 h 5251939"/>
              <a:gd name="connsiteX56" fmla="*/ 6613732 w 7410901"/>
              <a:gd name="connsiteY56" fmla="*/ 445477 h 5251939"/>
              <a:gd name="connsiteX57" fmla="*/ 6496501 w 7410901"/>
              <a:gd name="connsiteY57" fmla="*/ 375139 h 5251939"/>
              <a:gd name="connsiteX58" fmla="*/ 6332378 w 7410901"/>
              <a:gd name="connsiteY58" fmla="*/ 328246 h 5251939"/>
              <a:gd name="connsiteX59" fmla="*/ 6121363 w 7410901"/>
              <a:gd name="connsiteY59" fmla="*/ 257908 h 5251939"/>
              <a:gd name="connsiteX60" fmla="*/ 5933794 w 7410901"/>
              <a:gd name="connsiteY60" fmla="*/ 164123 h 5251939"/>
              <a:gd name="connsiteX61" fmla="*/ 5746224 w 7410901"/>
              <a:gd name="connsiteY61" fmla="*/ 117231 h 5251939"/>
              <a:gd name="connsiteX62" fmla="*/ 5652440 w 7410901"/>
              <a:gd name="connsiteY62" fmla="*/ 93785 h 5251939"/>
              <a:gd name="connsiteX63" fmla="*/ 5417978 w 7410901"/>
              <a:gd name="connsiteY63" fmla="*/ 46892 h 5251939"/>
              <a:gd name="connsiteX64" fmla="*/ 5347640 w 7410901"/>
              <a:gd name="connsiteY64" fmla="*/ 23446 h 5251939"/>
              <a:gd name="connsiteX65" fmla="*/ 5113178 w 7410901"/>
              <a:gd name="connsiteY65" fmla="*/ 0 h 5251939"/>
              <a:gd name="connsiteX66" fmla="*/ 3987763 w 7410901"/>
              <a:gd name="connsiteY66" fmla="*/ 46892 h 5251939"/>
              <a:gd name="connsiteX67" fmla="*/ 3471947 w 7410901"/>
              <a:gd name="connsiteY67" fmla="*/ 93785 h 5251939"/>
              <a:gd name="connsiteX68" fmla="*/ 3143701 w 7410901"/>
              <a:gd name="connsiteY68" fmla="*/ 140677 h 5251939"/>
              <a:gd name="connsiteX69" fmla="*/ 2299640 w 7410901"/>
              <a:gd name="connsiteY69" fmla="*/ 187569 h 5251939"/>
              <a:gd name="connsiteX70" fmla="*/ 681855 w 7410901"/>
              <a:gd name="connsiteY70" fmla="*/ 164123 h 5251939"/>
              <a:gd name="connsiteX71" fmla="*/ 142594 w 7410901"/>
              <a:gd name="connsiteY71" fmla="*/ 211015 h 5251939"/>
              <a:gd name="connsiteX72" fmla="*/ 48809 w 7410901"/>
              <a:gd name="connsiteY72" fmla="*/ 257908 h 5251939"/>
              <a:gd name="connsiteX73" fmla="*/ 1917 w 7410901"/>
              <a:gd name="connsiteY73" fmla="*/ 422031 h 5251939"/>
              <a:gd name="connsiteX74" fmla="*/ 1917 w 7410901"/>
              <a:gd name="connsiteY74" fmla="*/ 539262 h 525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410901" h="5251939">
                <a:moveTo>
                  <a:pt x="25363" y="351692"/>
                </a:moveTo>
                <a:cubicBezTo>
                  <a:pt x="46796" y="726772"/>
                  <a:pt x="9014" y="962687"/>
                  <a:pt x="95701" y="1266092"/>
                </a:cubicBezTo>
                <a:cubicBezTo>
                  <a:pt x="102491" y="1289856"/>
                  <a:pt x="112357" y="1312667"/>
                  <a:pt x="119147" y="1336431"/>
                </a:cubicBezTo>
                <a:cubicBezTo>
                  <a:pt x="128000" y="1367415"/>
                  <a:pt x="131279" y="1400043"/>
                  <a:pt x="142594" y="1430215"/>
                </a:cubicBezTo>
                <a:cubicBezTo>
                  <a:pt x="154866" y="1462941"/>
                  <a:pt x="173855" y="1492738"/>
                  <a:pt x="189486" y="1524000"/>
                </a:cubicBezTo>
                <a:cubicBezTo>
                  <a:pt x="197301" y="1563077"/>
                  <a:pt x="200330" y="1603425"/>
                  <a:pt x="212932" y="1641231"/>
                </a:cubicBezTo>
                <a:cubicBezTo>
                  <a:pt x="223985" y="1674389"/>
                  <a:pt x="251347" y="1701107"/>
                  <a:pt x="259824" y="1735015"/>
                </a:cubicBezTo>
                <a:cubicBezTo>
                  <a:pt x="267740" y="1766680"/>
                  <a:pt x="303613" y="2113944"/>
                  <a:pt x="306717" y="2133600"/>
                </a:cubicBezTo>
                <a:cubicBezTo>
                  <a:pt x="319148" y="2212326"/>
                  <a:pt x="353609" y="2368062"/>
                  <a:pt x="353609" y="2368062"/>
                </a:cubicBezTo>
                <a:cubicBezTo>
                  <a:pt x="365829" y="2526926"/>
                  <a:pt x="377368" y="2721947"/>
                  <a:pt x="400501" y="2883877"/>
                </a:cubicBezTo>
                <a:cubicBezTo>
                  <a:pt x="429310" y="3085541"/>
                  <a:pt x="411025" y="2925969"/>
                  <a:pt x="447394" y="3071446"/>
                </a:cubicBezTo>
                <a:cubicBezTo>
                  <a:pt x="531792" y="3409035"/>
                  <a:pt x="447652" y="3158105"/>
                  <a:pt x="564624" y="3470031"/>
                </a:cubicBezTo>
                <a:cubicBezTo>
                  <a:pt x="572439" y="3516923"/>
                  <a:pt x="571824" y="3566031"/>
                  <a:pt x="588070" y="3610708"/>
                </a:cubicBezTo>
                <a:cubicBezTo>
                  <a:pt x="603644" y="3653536"/>
                  <a:pt x="638029" y="3687179"/>
                  <a:pt x="658409" y="3727939"/>
                </a:cubicBezTo>
                <a:cubicBezTo>
                  <a:pt x="677231" y="3765583"/>
                  <a:pt x="686479" y="3807525"/>
                  <a:pt x="705301" y="3845169"/>
                </a:cubicBezTo>
                <a:cubicBezTo>
                  <a:pt x="717903" y="3870373"/>
                  <a:pt x="738213" y="3891042"/>
                  <a:pt x="752194" y="3915508"/>
                </a:cubicBezTo>
                <a:cubicBezTo>
                  <a:pt x="769535" y="3945854"/>
                  <a:pt x="781745" y="3978946"/>
                  <a:pt x="799086" y="4009292"/>
                </a:cubicBezTo>
                <a:cubicBezTo>
                  <a:pt x="813067" y="4033758"/>
                  <a:pt x="831997" y="4055165"/>
                  <a:pt x="845978" y="4079631"/>
                </a:cubicBezTo>
                <a:cubicBezTo>
                  <a:pt x="863319" y="4109977"/>
                  <a:pt x="875529" y="4143069"/>
                  <a:pt x="892870" y="4173415"/>
                </a:cubicBezTo>
                <a:cubicBezTo>
                  <a:pt x="906851" y="4197881"/>
                  <a:pt x="927161" y="4218550"/>
                  <a:pt x="939763" y="4243754"/>
                </a:cubicBezTo>
                <a:cubicBezTo>
                  <a:pt x="966381" y="4296990"/>
                  <a:pt x="979478" y="4356839"/>
                  <a:pt x="1010101" y="4407877"/>
                </a:cubicBezTo>
                <a:cubicBezTo>
                  <a:pt x="1027161" y="4436310"/>
                  <a:pt x="1060083" y="4452042"/>
                  <a:pt x="1080440" y="4478215"/>
                </a:cubicBezTo>
                <a:cubicBezTo>
                  <a:pt x="1115040" y="4522701"/>
                  <a:pt x="1136523" y="4577002"/>
                  <a:pt x="1174224" y="4618892"/>
                </a:cubicBezTo>
                <a:cubicBezTo>
                  <a:pt x="1207701" y="4656089"/>
                  <a:pt x="1254426" y="4679014"/>
                  <a:pt x="1291455" y="4712677"/>
                </a:cubicBezTo>
                <a:cubicBezTo>
                  <a:pt x="1340525" y="4757286"/>
                  <a:pt x="1378500" y="4814349"/>
                  <a:pt x="1432132" y="4853354"/>
                </a:cubicBezTo>
                <a:cubicBezTo>
                  <a:pt x="1466169" y="4878108"/>
                  <a:pt x="1511048" y="4882830"/>
                  <a:pt x="1549363" y="4900246"/>
                </a:cubicBezTo>
                <a:cubicBezTo>
                  <a:pt x="2053587" y="5129439"/>
                  <a:pt x="1263140" y="4798025"/>
                  <a:pt x="1877609" y="5017477"/>
                </a:cubicBezTo>
                <a:cubicBezTo>
                  <a:pt x="1926982" y="5035110"/>
                  <a:pt x="1968245" y="5072177"/>
                  <a:pt x="2018286" y="5087815"/>
                </a:cubicBezTo>
                <a:cubicBezTo>
                  <a:pt x="2094359" y="5111588"/>
                  <a:pt x="2175027" y="5117044"/>
                  <a:pt x="2252747" y="5134708"/>
                </a:cubicBezTo>
                <a:cubicBezTo>
                  <a:pt x="2347014" y="5156132"/>
                  <a:pt x="2438745" y="5189153"/>
                  <a:pt x="2534101" y="5205046"/>
                </a:cubicBezTo>
                <a:cubicBezTo>
                  <a:pt x="2639535" y="5222618"/>
                  <a:pt x="3195072" y="5249583"/>
                  <a:pt x="3237486" y="5251939"/>
                </a:cubicBezTo>
                <a:cubicBezTo>
                  <a:pt x="3464132" y="5244123"/>
                  <a:pt x="3693280" y="5262976"/>
                  <a:pt x="3917424" y="5228492"/>
                </a:cubicBezTo>
                <a:cubicBezTo>
                  <a:pt x="4003787" y="5215205"/>
                  <a:pt x="4077327" y="5156826"/>
                  <a:pt x="4151886" y="5111262"/>
                </a:cubicBezTo>
                <a:cubicBezTo>
                  <a:pt x="4218573" y="5070509"/>
                  <a:pt x="4280395" y="5021770"/>
                  <a:pt x="4339455" y="4970585"/>
                </a:cubicBezTo>
                <a:cubicBezTo>
                  <a:pt x="4521869" y="4812492"/>
                  <a:pt x="4454908" y="4815957"/>
                  <a:pt x="4644255" y="4712677"/>
                </a:cubicBezTo>
                <a:cubicBezTo>
                  <a:pt x="4681203" y="4692523"/>
                  <a:pt x="4721559" y="4679094"/>
                  <a:pt x="4761486" y="4665785"/>
                </a:cubicBezTo>
                <a:cubicBezTo>
                  <a:pt x="4815463" y="4647793"/>
                  <a:pt x="4870411" y="4632692"/>
                  <a:pt x="4925609" y="4618892"/>
                </a:cubicBezTo>
                <a:cubicBezTo>
                  <a:pt x="5175262" y="4556478"/>
                  <a:pt x="4892257" y="4648998"/>
                  <a:pt x="5253855" y="4548554"/>
                </a:cubicBezTo>
                <a:cubicBezTo>
                  <a:pt x="5543363" y="4468135"/>
                  <a:pt x="5384589" y="4506633"/>
                  <a:pt x="5628994" y="4384431"/>
                </a:cubicBezTo>
                <a:cubicBezTo>
                  <a:pt x="5682231" y="4357813"/>
                  <a:pt x="5739880" y="4340710"/>
                  <a:pt x="5793117" y="4314092"/>
                </a:cubicBezTo>
                <a:cubicBezTo>
                  <a:pt x="5849474" y="4285913"/>
                  <a:pt x="5898922" y="4244165"/>
                  <a:pt x="5957240" y="4220308"/>
                </a:cubicBezTo>
                <a:cubicBezTo>
                  <a:pt x="6071612" y="4173520"/>
                  <a:pt x="6191701" y="4142154"/>
                  <a:pt x="6308932" y="4103077"/>
                </a:cubicBezTo>
                <a:cubicBezTo>
                  <a:pt x="6355824" y="4087446"/>
                  <a:pt x="6401656" y="4068173"/>
                  <a:pt x="6449609" y="4056185"/>
                </a:cubicBezTo>
                <a:cubicBezTo>
                  <a:pt x="6512132" y="4040554"/>
                  <a:pt x="6576349" y="4030582"/>
                  <a:pt x="6637178" y="4009292"/>
                </a:cubicBezTo>
                <a:cubicBezTo>
                  <a:pt x="6801262" y="3951863"/>
                  <a:pt x="6966867" y="3881934"/>
                  <a:pt x="7106101" y="3774831"/>
                </a:cubicBezTo>
                <a:cubicBezTo>
                  <a:pt x="7149904" y="3741136"/>
                  <a:pt x="7184255" y="3696677"/>
                  <a:pt x="7223332" y="3657600"/>
                </a:cubicBezTo>
                <a:cubicBezTo>
                  <a:pt x="7270224" y="3532554"/>
                  <a:pt x="7349261" y="3415194"/>
                  <a:pt x="7364009" y="3282462"/>
                </a:cubicBezTo>
                <a:lnTo>
                  <a:pt x="7410901" y="2860431"/>
                </a:lnTo>
                <a:cubicBezTo>
                  <a:pt x="7403086" y="2547816"/>
                  <a:pt x="7399029" y="2235084"/>
                  <a:pt x="7387455" y="1922585"/>
                </a:cubicBezTo>
                <a:cubicBezTo>
                  <a:pt x="7365391" y="1326859"/>
                  <a:pt x="7389533" y="1769891"/>
                  <a:pt x="7340563" y="1500554"/>
                </a:cubicBezTo>
                <a:cubicBezTo>
                  <a:pt x="7330677" y="1446182"/>
                  <a:pt x="7332710" y="1389448"/>
                  <a:pt x="7317117" y="1336431"/>
                </a:cubicBezTo>
                <a:cubicBezTo>
                  <a:pt x="7293366" y="1255677"/>
                  <a:pt x="7249950" y="1181824"/>
                  <a:pt x="7223332" y="1101969"/>
                </a:cubicBezTo>
                <a:cubicBezTo>
                  <a:pt x="7186605" y="991787"/>
                  <a:pt x="7196277" y="1014315"/>
                  <a:pt x="7129547" y="867508"/>
                </a:cubicBezTo>
                <a:cubicBezTo>
                  <a:pt x="7115084" y="835689"/>
                  <a:pt x="7101179" y="803362"/>
                  <a:pt x="7082655" y="773723"/>
                </a:cubicBezTo>
                <a:cubicBezTo>
                  <a:pt x="7048907" y="719726"/>
                  <a:pt x="6992018" y="651300"/>
                  <a:pt x="6941978" y="609600"/>
                </a:cubicBezTo>
                <a:cubicBezTo>
                  <a:pt x="6869155" y="548914"/>
                  <a:pt x="6849211" y="558907"/>
                  <a:pt x="6754409" y="515815"/>
                </a:cubicBezTo>
                <a:cubicBezTo>
                  <a:pt x="6706681" y="494120"/>
                  <a:pt x="6659758" y="470582"/>
                  <a:pt x="6613732" y="445477"/>
                </a:cubicBezTo>
                <a:cubicBezTo>
                  <a:pt x="6573725" y="423655"/>
                  <a:pt x="6538567" y="392666"/>
                  <a:pt x="6496501" y="375139"/>
                </a:cubicBezTo>
                <a:cubicBezTo>
                  <a:pt x="6443981" y="353256"/>
                  <a:pt x="6386355" y="346238"/>
                  <a:pt x="6332378" y="328246"/>
                </a:cubicBezTo>
                <a:cubicBezTo>
                  <a:pt x="6067518" y="239959"/>
                  <a:pt x="6346101" y="314092"/>
                  <a:pt x="6121363" y="257908"/>
                </a:cubicBezTo>
                <a:cubicBezTo>
                  <a:pt x="6058840" y="226646"/>
                  <a:pt x="6000110" y="186228"/>
                  <a:pt x="5933794" y="164123"/>
                </a:cubicBezTo>
                <a:cubicBezTo>
                  <a:pt x="5808101" y="122226"/>
                  <a:pt x="5915985" y="154955"/>
                  <a:pt x="5746224" y="117231"/>
                </a:cubicBezTo>
                <a:cubicBezTo>
                  <a:pt x="5714768" y="110241"/>
                  <a:pt x="5683948" y="100537"/>
                  <a:pt x="5652440" y="93785"/>
                </a:cubicBezTo>
                <a:cubicBezTo>
                  <a:pt x="5574507" y="77085"/>
                  <a:pt x="5493590" y="72096"/>
                  <a:pt x="5417978" y="46892"/>
                </a:cubicBezTo>
                <a:cubicBezTo>
                  <a:pt x="5394532" y="39077"/>
                  <a:pt x="5372067" y="27204"/>
                  <a:pt x="5347640" y="23446"/>
                </a:cubicBezTo>
                <a:cubicBezTo>
                  <a:pt x="5270010" y="11503"/>
                  <a:pt x="5191332" y="7815"/>
                  <a:pt x="5113178" y="0"/>
                </a:cubicBezTo>
                <a:cubicBezTo>
                  <a:pt x="4738040" y="15631"/>
                  <a:pt x="4358118" y="-14836"/>
                  <a:pt x="3987763" y="46892"/>
                </a:cubicBezTo>
                <a:cubicBezTo>
                  <a:pt x="3723501" y="90937"/>
                  <a:pt x="3894533" y="67374"/>
                  <a:pt x="3471947" y="93785"/>
                </a:cubicBezTo>
                <a:cubicBezTo>
                  <a:pt x="3362532" y="109416"/>
                  <a:pt x="3253982" y="133325"/>
                  <a:pt x="3143701" y="140677"/>
                </a:cubicBezTo>
                <a:cubicBezTo>
                  <a:pt x="2628064" y="175053"/>
                  <a:pt x="2909367" y="158535"/>
                  <a:pt x="2299640" y="187569"/>
                </a:cubicBezTo>
                <a:lnTo>
                  <a:pt x="681855" y="164123"/>
                </a:lnTo>
                <a:cubicBezTo>
                  <a:pt x="553758" y="164123"/>
                  <a:pt x="303684" y="141976"/>
                  <a:pt x="142594" y="211015"/>
                </a:cubicBezTo>
                <a:cubicBezTo>
                  <a:pt x="110468" y="224783"/>
                  <a:pt x="80071" y="242277"/>
                  <a:pt x="48809" y="257908"/>
                </a:cubicBezTo>
                <a:cubicBezTo>
                  <a:pt x="33989" y="302368"/>
                  <a:pt x="6824" y="377869"/>
                  <a:pt x="1917" y="422031"/>
                </a:cubicBezTo>
                <a:cubicBezTo>
                  <a:pt x="-2398" y="460869"/>
                  <a:pt x="1917" y="500185"/>
                  <a:pt x="1917" y="539262"/>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9" name="Freeform: Shape 18">
            <a:extLst>
              <a:ext uri="{FF2B5EF4-FFF2-40B4-BE49-F238E27FC236}">
                <a16:creationId xmlns:a16="http://schemas.microsoft.com/office/drawing/2014/main" id="{EE117C04-2164-5E76-8B67-10F399304899}"/>
              </a:ext>
            </a:extLst>
          </p:cNvPr>
          <p:cNvSpPr/>
          <p:nvPr/>
        </p:nvSpPr>
        <p:spPr>
          <a:xfrm>
            <a:off x="1968964" y="3439935"/>
            <a:ext cx="4770049" cy="2477132"/>
          </a:xfrm>
          <a:custGeom>
            <a:avLst/>
            <a:gdLst>
              <a:gd name="connsiteX0" fmla="*/ 9542584 w 9542584"/>
              <a:gd name="connsiteY0" fmla="*/ 492369 h 4955554"/>
              <a:gd name="connsiteX1" fmla="*/ 9425354 w 9542584"/>
              <a:gd name="connsiteY1" fmla="*/ 468923 h 4955554"/>
              <a:gd name="connsiteX2" fmla="*/ 9050215 w 9542584"/>
              <a:gd name="connsiteY2" fmla="*/ 328246 h 4955554"/>
              <a:gd name="connsiteX3" fmla="*/ 8440615 w 9542584"/>
              <a:gd name="connsiteY3" fmla="*/ 257907 h 4955554"/>
              <a:gd name="connsiteX4" fmla="*/ 8229600 w 9542584"/>
              <a:gd name="connsiteY4" fmla="*/ 234461 h 4955554"/>
              <a:gd name="connsiteX5" fmla="*/ 7596554 w 9542584"/>
              <a:gd name="connsiteY5" fmla="*/ 164123 h 4955554"/>
              <a:gd name="connsiteX6" fmla="*/ 7104184 w 9542584"/>
              <a:gd name="connsiteY6" fmla="*/ 117231 h 4955554"/>
              <a:gd name="connsiteX7" fmla="*/ 6940061 w 9542584"/>
              <a:gd name="connsiteY7" fmla="*/ 93784 h 4955554"/>
              <a:gd name="connsiteX8" fmla="*/ 6494584 w 9542584"/>
              <a:gd name="connsiteY8" fmla="*/ 70338 h 4955554"/>
              <a:gd name="connsiteX9" fmla="*/ 5791200 w 9542584"/>
              <a:gd name="connsiteY9" fmla="*/ 23446 h 4955554"/>
              <a:gd name="connsiteX10" fmla="*/ 5392615 w 9542584"/>
              <a:gd name="connsiteY10" fmla="*/ 0 h 4955554"/>
              <a:gd name="connsiteX11" fmla="*/ 3938954 w 9542584"/>
              <a:gd name="connsiteY11" fmla="*/ 23446 h 4955554"/>
              <a:gd name="connsiteX12" fmla="*/ 3423138 w 9542584"/>
              <a:gd name="connsiteY12" fmla="*/ 117231 h 4955554"/>
              <a:gd name="connsiteX13" fmla="*/ 3094892 w 9542584"/>
              <a:gd name="connsiteY13" fmla="*/ 164123 h 4955554"/>
              <a:gd name="connsiteX14" fmla="*/ 2790092 w 9542584"/>
              <a:gd name="connsiteY14" fmla="*/ 211015 h 4955554"/>
              <a:gd name="connsiteX15" fmla="*/ 2461846 w 9542584"/>
              <a:gd name="connsiteY15" fmla="*/ 234461 h 4955554"/>
              <a:gd name="connsiteX16" fmla="*/ 2203938 w 9542584"/>
              <a:gd name="connsiteY16" fmla="*/ 304800 h 4955554"/>
              <a:gd name="connsiteX17" fmla="*/ 2063261 w 9542584"/>
              <a:gd name="connsiteY17" fmla="*/ 351692 h 4955554"/>
              <a:gd name="connsiteX18" fmla="*/ 1899138 w 9542584"/>
              <a:gd name="connsiteY18" fmla="*/ 398584 h 4955554"/>
              <a:gd name="connsiteX19" fmla="*/ 1688123 w 9542584"/>
              <a:gd name="connsiteY19" fmla="*/ 492369 h 4955554"/>
              <a:gd name="connsiteX20" fmla="*/ 1617784 w 9542584"/>
              <a:gd name="connsiteY20" fmla="*/ 539261 h 4955554"/>
              <a:gd name="connsiteX21" fmla="*/ 1524000 w 9542584"/>
              <a:gd name="connsiteY21" fmla="*/ 562707 h 4955554"/>
              <a:gd name="connsiteX22" fmla="*/ 1430215 w 9542584"/>
              <a:gd name="connsiteY22" fmla="*/ 609600 h 4955554"/>
              <a:gd name="connsiteX23" fmla="*/ 1336431 w 9542584"/>
              <a:gd name="connsiteY23" fmla="*/ 633046 h 4955554"/>
              <a:gd name="connsiteX24" fmla="*/ 1266092 w 9542584"/>
              <a:gd name="connsiteY24" fmla="*/ 679938 h 4955554"/>
              <a:gd name="connsiteX25" fmla="*/ 1101969 w 9542584"/>
              <a:gd name="connsiteY25" fmla="*/ 797169 h 4955554"/>
              <a:gd name="connsiteX26" fmla="*/ 1008184 w 9542584"/>
              <a:gd name="connsiteY26" fmla="*/ 844061 h 4955554"/>
              <a:gd name="connsiteX27" fmla="*/ 937846 w 9542584"/>
              <a:gd name="connsiteY27" fmla="*/ 890954 h 4955554"/>
              <a:gd name="connsiteX28" fmla="*/ 867508 w 9542584"/>
              <a:gd name="connsiteY28" fmla="*/ 914400 h 4955554"/>
              <a:gd name="connsiteX29" fmla="*/ 703384 w 9542584"/>
              <a:gd name="connsiteY29" fmla="*/ 984738 h 4955554"/>
              <a:gd name="connsiteX30" fmla="*/ 633046 w 9542584"/>
              <a:gd name="connsiteY30" fmla="*/ 1055077 h 4955554"/>
              <a:gd name="connsiteX31" fmla="*/ 539261 w 9542584"/>
              <a:gd name="connsiteY31" fmla="*/ 1125415 h 4955554"/>
              <a:gd name="connsiteX32" fmla="*/ 492369 w 9542584"/>
              <a:gd name="connsiteY32" fmla="*/ 1195754 h 4955554"/>
              <a:gd name="connsiteX33" fmla="*/ 422031 w 9542584"/>
              <a:gd name="connsiteY33" fmla="*/ 1312984 h 4955554"/>
              <a:gd name="connsiteX34" fmla="*/ 211015 w 9542584"/>
              <a:gd name="connsiteY34" fmla="*/ 1524000 h 4955554"/>
              <a:gd name="connsiteX35" fmla="*/ 164123 w 9542584"/>
              <a:gd name="connsiteY35" fmla="*/ 1641231 h 4955554"/>
              <a:gd name="connsiteX36" fmla="*/ 117231 w 9542584"/>
              <a:gd name="connsiteY36" fmla="*/ 1735015 h 4955554"/>
              <a:gd name="connsiteX37" fmla="*/ 70338 w 9542584"/>
              <a:gd name="connsiteY37" fmla="*/ 1875692 h 4955554"/>
              <a:gd name="connsiteX38" fmla="*/ 23446 w 9542584"/>
              <a:gd name="connsiteY38" fmla="*/ 2719754 h 4955554"/>
              <a:gd name="connsiteX39" fmla="*/ 0 w 9542584"/>
              <a:gd name="connsiteY39" fmla="*/ 3071446 h 4955554"/>
              <a:gd name="connsiteX40" fmla="*/ 23446 w 9542584"/>
              <a:gd name="connsiteY40" fmla="*/ 4337538 h 4955554"/>
              <a:gd name="connsiteX41" fmla="*/ 140677 w 9542584"/>
              <a:gd name="connsiteY41" fmla="*/ 4548554 h 4955554"/>
              <a:gd name="connsiteX42" fmla="*/ 234461 w 9542584"/>
              <a:gd name="connsiteY42" fmla="*/ 4618892 h 4955554"/>
              <a:gd name="connsiteX43" fmla="*/ 304800 w 9542584"/>
              <a:gd name="connsiteY43" fmla="*/ 4642338 h 4955554"/>
              <a:gd name="connsiteX44" fmla="*/ 539261 w 9542584"/>
              <a:gd name="connsiteY44" fmla="*/ 4806461 h 4955554"/>
              <a:gd name="connsiteX45" fmla="*/ 633046 w 9542584"/>
              <a:gd name="connsiteY45" fmla="*/ 4853354 h 4955554"/>
              <a:gd name="connsiteX46" fmla="*/ 773723 w 9542584"/>
              <a:gd name="connsiteY46" fmla="*/ 4876800 h 4955554"/>
              <a:gd name="connsiteX47" fmla="*/ 1312984 w 9542584"/>
              <a:gd name="connsiteY47" fmla="*/ 4900246 h 4955554"/>
              <a:gd name="connsiteX48" fmla="*/ 2063261 w 9542584"/>
              <a:gd name="connsiteY48" fmla="*/ 4900246 h 4955554"/>
              <a:gd name="connsiteX49" fmla="*/ 2180492 w 9542584"/>
              <a:gd name="connsiteY49" fmla="*/ 4876800 h 4955554"/>
              <a:gd name="connsiteX50" fmla="*/ 2250831 w 9542584"/>
              <a:gd name="connsiteY50" fmla="*/ 4853354 h 4955554"/>
              <a:gd name="connsiteX51" fmla="*/ 2602523 w 9542584"/>
              <a:gd name="connsiteY51" fmla="*/ 4829907 h 4955554"/>
              <a:gd name="connsiteX52" fmla="*/ 2743200 w 9542584"/>
              <a:gd name="connsiteY52" fmla="*/ 4783015 h 4955554"/>
              <a:gd name="connsiteX53" fmla="*/ 3094892 w 9542584"/>
              <a:gd name="connsiteY53" fmla="*/ 4712677 h 4955554"/>
              <a:gd name="connsiteX54" fmla="*/ 3329354 w 9542584"/>
              <a:gd name="connsiteY54" fmla="*/ 4665784 h 4955554"/>
              <a:gd name="connsiteX55" fmla="*/ 3446584 w 9542584"/>
              <a:gd name="connsiteY55" fmla="*/ 4642338 h 4955554"/>
              <a:gd name="connsiteX56" fmla="*/ 3704492 w 9542584"/>
              <a:gd name="connsiteY56" fmla="*/ 4572000 h 4955554"/>
              <a:gd name="connsiteX57" fmla="*/ 4923692 w 9542584"/>
              <a:gd name="connsiteY57" fmla="*/ 4595446 h 4955554"/>
              <a:gd name="connsiteX58" fmla="*/ 5087815 w 9542584"/>
              <a:gd name="connsiteY58" fmla="*/ 4618892 h 4955554"/>
              <a:gd name="connsiteX59" fmla="*/ 5322277 w 9542584"/>
              <a:gd name="connsiteY59" fmla="*/ 4642338 h 4955554"/>
              <a:gd name="connsiteX60" fmla="*/ 5580184 w 9542584"/>
              <a:gd name="connsiteY60" fmla="*/ 4689231 h 4955554"/>
              <a:gd name="connsiteX61" fmla="*/ 5884984 w 9542584"/>
              <a:gd name="connsiteY61" fmla="*/ 4712677 h 4955554"/>
              <a:gd name="connsiteX62" fmla="*/ 6189784 w 9542584"/>
              <a:gd name="connsiteY62" fmla="*/ 4759569 h 4955554"/>
              <a:gd name="connsiteX63" fmla="*/ 6353908 w 9542584"/>
              <a:gd name="connsiteY63" fmla="*/ 4783015 h 4955554"/>
              <a:gd name="connsiteX64" fmla="*/ 6541477 w 9542584"/>
              <a:gd name="connsiteY64" fmla="*/ 4806461 h 4955554"/>
              <a:gd name="connsiteX65" fmla="*/ 6986954 w 9542584"/>
              <a:gd name="connsiteY65" fmla="*/ 4876800 h 4955554"/>
              <a:gd name="connsiteX66" fmla="*/ 7268308 w 9542584"/>
              <a:gd name="connsiteY66" fmla="*/ 4900246 h 4955554"/>
              <a:gd name="connsiteX67" fmla="*/ 7455877 w 9542584"/>
              <a:gd name="connsiteY67" fmla="*/ 4923692 h 4955554"/>
              <a:gd name="connsiteX68" fmla="*/ 8088923 w 9542584"/>
              <a:gd name="connsiteY68" fmla="*/ 4947138 h 4955554"/>
              <a:gd name="connsiteX69" fmla="*/ 8604738 w 9542584"/>
              <a:gd name="connsiteY69" fmla="*/ 4923692 h 4955554"/>
              <a:gd name="connsiteX70" fmla="*/ 8721969 w 9542584"/>
              <a:gd name="connsiteY70" fmla="*/ 4900246 h 4955554"/>
              <a:gd name="connsiteX71" fmla="*/ 8815754 w 9542584"/>
              <a:gd name="connsiteY71" fmla="*/ 4853354 h 4955554"/>
              <a:gd name="connsiteX72" fmla="*/ 9073661 w 9542584"/>
              <a:gd name="connsiteY72" fmla="*/ 4572000 h 4955554"/>
              <a:gd name="connsiteX73" fmla="*/ 9167446 w 9542584"/>
              <a:gd name="connsiteY73" fmla="*/ 4337538 h 4955554"/>
              <a:gd name="connsiteX74" fmla="*/ 9214338 w 9542584"/>
              <a:gd name="connsiteY74" fmla="*/ 4267200 h 4955554"/>
              <a:gd name="connsiteX75" fmla="*/ 9261231 w 9542584"/>
              <a:gd name="connsiteY75" fmla="*/ 4149969 h 4955554"/>
              <a:gd name="connsiteX76" fmla="*/ 9308123 w 9542584"/>
              <a:gd name="connsiteY76" fmla="*/ 4009292 h 4955554"/>
              <a:gd name="connsiteX77" fmla="*/ 9355015 w 9542584"/>
              <a:gd name="connsiteY77" fmla="*/ 3915507 h 4955554"/>
              <a:gd name="connsiteX78" fmla="*/ 9378461 w 9542584"/>
              <a:gd name="connsiteY78" fmla="*/ 3704492 h 4955554"/>
              <a:gd name="connsiteX79" fmla="*/ 9401908 w 9542584"/>
              <a:gd name="connsiteY79" fmla="*/ 3540369 h 4955554"/>
              <a:gd name="connsiteX80" fmla="*/ 9425354 w 9542584"/>
              <a:gd name="connsiteY80" fmla="*/ 3235569 h 4955554"/>
              <a:gd name="connsiteX81" fmla="*/ 9448800 w 9542584"/>
              <a:gd name="connsiteY81" fmla="*/ 1312984 h 4955554"/>
              <a:gd name="connsiteX82" fmla="*/ 9472246 w 9542584"/>
              <a:gd name="connsiteY82" fmla="*/ 1219200 h 4955554"/>
              <a:gd name="connsiteX83" fmla="*/ 9495692 w 9542584"/>
              <a:gd name="connsiteY83" fmla="*/ 515815 h 495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542584" h="4955554">
                <a:moveTo>
                  <a:pt x="9542584" y="492369"/>
                </a:moveTo>
                <a:cubicBezTo>
                  <a:pt x="9503507" y="484554"/>
                  <a:pt x="9463160" y="481525"/>
                  <a:pt x="9425354" y="468923"/>
                </a:cubicBezTo>
                <a:cubicBezTo>
                  <a:pt x="9175533" y="385649"/>
                  <a:pt x="9339558" y="397137"/>
                  <a:pt x="9050215" y="328246"/>
                </a:cubicBezTo>
                <a:cubicBezTo>
                  <a:pt x="8807093" y="270360"/>
                  <a:pt x="8694754" y="280006"/>
                  <a:pt x="8440615" y="257907"/>
                </a:cubicBezTo>
                <a:cubicBezTo>
                  <a:pt x="8370110" y="251776"/>
                  <a:pt x="8299938" y="242276"/>
                  <a:pt x="8229600" y="234461"/>
                </a:cubicBezTo>
                <a:cubicBezTo>
                  <a:pt x="7869529" y="144444"/>
                  <a:pt x="8171556" y="207248"/>
                  <a:pt x="7596554" y="164123"/>
                </a:cubicBezTo>
                <a:cubicBezTo>
                  <a:pt x="7432150" y="151793"/>
                  <a:pt x="7267393" y="140547"/>
                  <a:pt x="7104184" y="117231"/>
                </a:cubicBezTo>
                <a:cubicBezTo>
                  <a:pt x="7049476" y="109415"/>
                  <a:pt x="6995161" y="98023"/>
                  <a:pt x="6940061" y="93784"/>
                </a:cubicBezTo>
                <a:cubicBezTo>
                  <a:pt x="6791801" y="82379"/>
                  <a:pt x="6643004" y="79425"/>
                  <a:pt x="6494584" y="70338"/>
                </a:cubicBezTo>
                <a:lnTo>
                  <a:pt x="5791200" y="23446"/>
                </a:lnTo>
                <a:lnTo>
                  <a:pt x="5392615" y="0"/>
                </a:lnTo>
                <a:cubicBezTo>
                  <a:pt x="4908061" y="7815"/>
                  <a:pt x="4423222" y="5056"/>
                  <a:pt x="3938954" y="23446"/>
                </a:cubicBezTo>
                <a:cubicBezTo>
                  <a:pt x="2859191" y="64449"/>
                  <a:pt x="3865731" y="24053"/>
                  <a:pt x="3423138" y="117231"/>
                </a:cubicBezTo>
                <a:cubicBezTo>
                  <a:pt x="3314983" y="140001"/>
                  <a:pt x="3204195" y="147728"/>
                  <a:pt x="3094892" y="164123"/>
                </a:cubicBezTo>
                <a:cubicBezTo>
                  <a:pt x="2998271" y="178616"/>
                  <a:pt x="2886694" y="201815"/>
                  <a:pt x="2790092" y="211015"/>
                </a:cubicBezTo>
                <a:cubicBezTo>
                  <a:pt x="2680892" y="221415"/>
                  <a:pt x="2571261" y="226646"/>
                  <a:pt x="2461846" y="234461"/>
                </a:cubicBezTo>
                <a:cubicBezTo>
                  <a:pt x="2036762" y="376158"/>
                  <a:pt x="2568455" y="205387"/>
                  <a:pt x="2203938" y="304800"/>
                </a:cubicBezTo>
                <a:cubicBezTo>
                  <a:pt x="2156251" y="317805"/>
                  <a:pt x="2110605" y="337489"/>
                  <a:pt x="2063261" y="351692"/>
                </a:cubicBezTo>
                <a:cubicBezTo>
                  <a:pt x="1940103" y="388639"/>
                  <a:pt x="2004187" y="359190"/>
                  <a:pt x="1899138" y="398584"/>
                </a:cubicBezTo>
                <a:cubicBezTo>
                  <a:pt x="1826063" y="425987"/>
                  <a:pt x="1755933" y="453621"/>
                  <a:pt x="1688123" y="492369"/>
                </a:cubicBezTo>
                <a:cubicBezTo>
                  <a:pt x="1663657" y="506350"/>
                  <a:pt x="1643684" y="528161"/>
                  <a:pt x="1617784" y="539261"/>
                </a:cubicBezTo>
                <a:cubicBezTo>
                  <a:pt x="1588166" y="551954"/>
                  <a:pt x="1555261" y="554892"/>
                  <a:pt x="1524000" y="562707"/>
                </a:cubicBezTo>
                <a:cubicBezTo>
                  <a:pt x="1492738" y="578338"/>
                  <a:pt x="1462941" y="597328"/>
                  <a:pt x="1430215" y="609600"/>
                </a:cubicBezTo>
                <a:cubicBezTo>
                  <a:pt x="1400043" y="620914"/>
                  <a:pt x="1366049" y="620353"/>
                  <a:pt x="1336431" y="633046"/>
                </a:cubicBezTo>
                <a:cubicBezTo>
                  <a:pt x="1310531" y="644146"/>
                  <a:pt x="1289022" y="663559"/>
                  <a:pt x="1266092" y="679938"/>
                </a:cubicBezTo>
                <a:cubicBezTo>
                  <a:pt x="1215757" y="715892"/>
                  <a:pt x="1157235" y="765589"/>
                  <a:pt x="1101969" y="797169"/>
                </a:cubicBezTo>
                <a:cubicBezTo>
                  <a:pt x="1071622" y="814510"/>
                  <a:pt x="1038530" y="826720"/>
                  <a:pt x="1008184" y="844061"/>
                </a:cubicBezTo>
                <a:cubicBezTo>
                  <a:pt x="983718" y="858042"/>
                  <a:pt x="963050" y="878352"/>
                  <a:pt x="937846" y="890954"/>
                </a:cubicBezTo>
                <a:cubicBezTo>
                  <a:pt x="915741" y="902007"/>
                  <a:pt x="890224" y="904665"/>
                  <a:pt x="867508" y="914400"/>
                </a:cubicBezTo>
                <a:cubicBezTo>
                  <a:pt x="664705" y="1001315"/>
                  <a:pt x="868338" y="929754"/>
                  <a:pt x="703384" y="984738"/>
                </a:cubicBezTo>
                <a:cubicBezTo>
                  <a:pt x="679938" y="1008184"/>
                  <a:pt x="658221" y="1033498"/>
                  <a:pt x="633046" y="1055077"/>
                </a:cubicBezTo>
                <a:cubicBezTo>
                  <a:pt x="603377" y="1080508"/>
                  <a:pt x="566893" y="1097783"/>
                  <a:pt x="539261" y="1125415"/>
                </a:cubicBezTo>
                <a:cubicBezTo>
                  <a:pt x="519336" y="1145340"/>
                  <a:pt x="507304" y="1171858"/>
                  <a:pt x="492369" y="1195754"/>
                </a:cubicBezTo>
                <a:cubicBezTo>
                  <a:pt x="468217" y="1234398"/>
                  <a:pt x="451688" y="1278384"/>
                  <a:pt x="422031" y="1312984"/>
                </a:cubicBezTo>
                <a:cubicBezTo>
                  <a:pt x="357294" y="1388510"/>
                  <a:pt x="211015" y="1524000"/>
                  <a:pt x="211015" y="1524000"/>
                </a:cubicBezTo>
                <a:cubicBezTo>
                  <a:pt x="195384" y="1563077"/>
                  <a:pt x="181216" y="1602771"/>
                  <a:pt x="164123" y="1641231"/>
                </a:cubicBezTo>
                <a:cubicBezTo>
                  <a:pt x="149928" y="1673170"/>
                  <a:pt x="130212" y="1702564"/>
                  <a:pt x="117231" y="1735015"/>
                </a:cubicBezTo>
                <a:cubicBezTo>
                  <a:pt x="98873" y="1780909"/>
                  <a:pt x="85969" y="1828800"/>
                  <a:pt x="70338" y="1875692"/>
                </a:cubicBezTo>
                <a:cubicBezTo>
                  <a:pt x="-2503" y="3041151"/>
                  <a:pt x="102654" y="1333602"/>
                  <a:pt x="23446" y="2719754"/>
                </a:cubicBezTo>
                <a:cubicBezTo>
                  <a:pt x="16743" y="2837054"/>
                  <a:pt x="7815" y="2954215"/>
                  <a:pt x="0" y="3071446"/>
                </a:cubicBezTo>
                <a:cubicBezTo>
                  <a:pt x="7815" y="3493477"/>
                  <a:pt x="8899" y="3915686"/>
                  <a:pt x="23446" y="4337538"/>
                </a:cubicBezTo>
                <a:cubicBezTo>
                  <a:pt x="26348" y="4421693"/>
                  <a:pt x="78322" y="4496591"/>
                  <a:pt x="140677" y="4548554"/>
                </a:cubicBezTo>
                <a:cubicBezTo>
                  <a:pt x="170697" y="4573570"/>
                  <a:pt x="200533" y="4599505"/>
                  <a:pt x="234461" y="4618892"/>
                </a:cubicBezTo>
                <a:cubicBezTo>
                  <a:pt x="255919" y="4631154"/>
                  <a:pt x="281354" y="4634523"/>
                  <a:pt x="304800" y="4642338"/>
                </a:cubicBezTo>
                <a:cubicBezTo>
                  <a:pt x="363619" y="4686453"/>
                  <a:pt x="481521" y="4777591"/>
                  <a:pt x="539261" y="4806461"/>
                </a:cubicBezTo>
                <a:cubicBezTo>
                  <a:pt x="570523" y="4822092"/>
                  <a:pt x="599568" y="4843311"/>
                  <a:pt x="633046" y="4853354"/>
                </a:cubicBezTo>
                <a:cubicBezTo>
                  <a:pt x="678580" y="4867014"/>
                  <a:pt x="726297" y="4873529"/>
                  <a:pt x="773723" y="4876800"/>
                </a:cubicBezTo>
                <a:cubicBezTo>
                  <a:pt x="953220" y="4889179"/>
                  <a:pt x="1133230" y="4892431"/>
                  <a:pt x="1312984" y="4900246"/>
                </a:cubicBezTo>
                <a:cubicBezTo>
                  <a:pt x="1683154" y="4992787"/>
                  <a:pt x="1436329" y="4952490"/>
                  <a:pt x="2063261" y="4900246"/>
                </a:cubicBezTo>
                <a:cubicBezTo>
                  <a:pt x="2102338" y="4892431"/>
                  <a:pt x="2141831" y="4886465"/>
                  <a:pt x="2180492" y="4876800"/>
                </a:cubicBezTo>
                <a:cubicBezTo>
                  <a:pt x="2204469" y="4870806"/>
                  <a:pt x="2226268" y="4856083"/>
                  <a:pt x="2250831" y="4853354"/>
                </a:cubicBezTo>
                <a:cubicBezTo>
                  <a:pt x="2367603" y="4840379"/>
                  <a:pt x="2485292" y="4837723"/>
                  <a:pt x="2602523" y="4829907"/>
                </a:cubicBezTo>
                <a:cubicBezTo>
                  <a:pt x="2649415" y="4814276"/>
                  <a:pt x="2695247" y="4795003"/>
                  <a:pt x="2743200" y="4783015"/>
                </a:cubicBezTo>
                <a:cubicBezTo>
                  <a:pt x="2743211" y="4783012"/>
                  <a:pt x="3036271" y="4724401"/>
                  <a:pt x="3094892" y="4712677"/>
                </a:cubicBezTo>
                <a:lnTo>
                  <a:pt x="3329354" y="4665784"/>
                </a:lnTo>
                <a:cubicBezTo>
                  <a:pt x="3368431" y="4657969"/>
                  <a:pt x="3408778" y="4654940"/>
                  <a:pt x="3446584" y="4642338"/>
                </a:cubicBezTo>
                <a:cubicBezTo>
                  <a:pt x="3625067" y="4582844"/>
                  <a:pt x="3538792" y="4605140"/>
                  <a:pt x="3704492" y="4572000"/>
                </a:cubicBezTo>
                <a:lnTo>
                  <a:pt x="4923692" y="4595446"/>
                </a:lnTo>
                <a:cubicBezTo>
                  <a:pt x="4978923" y="4597318"/>
                  <a:pt x="5032930" y="4612435"/>
                  <a:pt x="5087815" y="4618892"/>
                </a:cubicBezTo>
                <a:cubicBezTo>
                  <a:pt x="5165821" y="4628069"/>
                  <a:pt x="5244523" y="4631230"/>
                  <a:pt x="5322277" y="4642338"/>
                </a:cubicBezTo>
                <a:cubicBezTo>
                  <a:pt x="5408777" y="4654695"/>
                  <a:pt x="5493480" y="4678393"/>
                  <a:pt x="5580184" y="4689231"/>
                </a:cubicBezTo>
                <a:cubicBezTo>
                  <a:pt x="5681297" y="4701870"/>
                  <a:pt x="5783590" y="4702538"/>
                  <a:pt x="5884984" y="4712677"/>
                </a:cubicBezTo>
                <a:cubicBezTo>
                  <a:pt x="5982115" y="4722390"/>
                  <a:pt x="6092708" y="4744634"/>
                  <a:pt x="6189784" y="4759569"/>
                </a:cubicBezTo>
                <a:cubicBezTo>
                  <a:pt x="6244405" y="4767972"/>
                  <a:pt x="6299129" y="4775711"/>
                  <a:pt x="6353908" y="4783015"/>
                </a:cubicBezTo>
                <a:cubicBezTo>
                  <a:pt x="6416365" y="4791343"/>
                  <a:pt x="6479165" y="4797114"/>
                  <a:pt x="6541477" y="4806461"/>
                </a:cubicBezTo>
                <a:cubicBezTo>
                  <a:pt x="6629125" y="4819608"/>
                  <a:pt x="6872981" y="4864803"/>
                  <a:pt x="6986954" y="4876800"/>
                </a:cubicBezTo>
                <a:cubicBezTo>
                  <a:pt x="7080547" y="4886652"/>
                  <a:pt x="7174665" y="4890882"/>
                  <a:pt x="7268308" y="4900246"/>
                </a:cubicBezTo>
                <a:cubicBezTo>
                  <a:pt x="7331005" y="4906516"/>
                  <a:pt x="7392970" y="4920097"/>
                  <a:pt x="7455877" y="4923692"/>
                </a:cubicBezTo>
                <a:cubicBezTo>
                  <a:pt x="7666693" y="4935739"/>
                  <a:pt x="7877908" y="4939323"/>
                  <a:pt x="8088923" y="4947138"/>
                </a:cubicBezTo>
                <a:cubicBezTo>
                  <a:pt x="8260861" y="4939323"/>
                  <a:pt x="8433092" y="4936406"/>
                  <a:pt x="8604738" y="4923692"/>
                </a:cubicBezTo>
                <a:cubicBezTo>
                  <a:pt x="8644480" y="4920748"/>
                  <a:pt x="8684163" y="4912848"/>
                  <a:pt x="8721969" y="4900246"/>
                </a:cubicBezTo>
                <a:cubicBezTo>
                  <a:pt x="8755127" y="4889193"/>
                  <a:pt x="8786115" y="4871878"/>
                  <a:pt x="8815754" y="4853354"/>
                </a:cubicBezTo>
                <a:cubicBezTo>
                  <a:pt x="8924498" y="4785389"/>
                  <a:pt x="9016147" y="4687027"/>
                  <a:pt x="9073661" y="4572000"/>
                </a:cubicBezTo>
                <a:cubicBezTo>
                  <a:pt x="9111305" y="4496712"/>
                  <a:pt x="9120754" y="4407575"/>
                  <a:pt x="9167446" y="4337538"/>
                </a:cubicBezTo>
                <a:cubicBezTo>
                  <a:pt x="9183077" y="4314092"/>
                  <a:pt x="9201736" y="4292404"/>
                  <a:pt x="9214338" y="4267200"/>
                </a:cubicBezTo>
                <a:cubicBezTo>
                  <a:pt x="9233160" y="4229556"/>
                  <a:pt x="9246848" y="4189522"/>
                  <a:pt x="9261231" y="4149969"/>
                </a:cubicBezTo>
                <a:cubicBezTo>
                  <a:pt x="9278123" y="4103516"/>
                  <a:pt x="9286018" y="4053503"/>
                  <a:pt x="9308123" y="4009292"/>
                </a:cubicBezTo>
                <a:lnTo>
                  <a:pt x="9355015" y="3915507"/>
                </a:lnTo>
                <a:cubicBezTo>
                  <a:pt x="9362830" y="3845169"/>
                  <a:pt x="9369683" y="3774717"/>
                  <a:pt x="9378461" y="3704492"/>
                </a:cubicBezTo>
                <a:cubicBezTo>
                  <a:pt x="9385316" y="3649656"/>
                  <a:pt x="9396409" y="3595358"/>
                  <a:pt x="9401908" y="3540369"/>
                </a:cubicBezTo>
                <a:cubicBezTo>
                  <a:pt x="9412048" y="3438975"/>
                  <a:pt x="9417539" y="3337169"/>
                  <a:pt x="9425354" y="3235569"/>
                </a:cubicBezTo>
                <a:cubicBezTo>
                  <a:pt x="9433169" y="2594707"/>
                  <a:pt x="9433899" y="1953720"/>
                  <a:pt x="9448800" y="1312984"/>
                </a:cubicBezTo>
                <a:cubicBezTo>
                  <a:pt x="9449549" y="1280769"/>
                  <a:pt x="9469676" y="1251321"/>
                  <a:pt x="9472246" y="1219200"/>
                </a:cubicBezTo>
                <a:cubicBezTo>
                  <a:pt x="9499038" y="884303"/>
                  <a:pt x="9495692" y="793651"/>
                  <a:pt x="9495692" y="515815"/>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20" name="TextBox 19">
            <a:extLst>
              <a:ext uri="{FF2B5EF4-FFF2-40B4-BE49-F238E27FC236}">
                <a16:creationId xmlns:a16="http://schemas.microsoft.com/office/drawing/2014/main" id="{F4A18186-11C9-9381-EFC2-1CF5DA5ECAB6}"/>
              </a:ext>
            </a:extLst>
          </p:cNvPr>
          <p:cNvSpPr txBox="1"/>
          <p:nvPr/>
        </p:nvSpPr>
        <p:spPr>
          <a:xfrm>
            <a:off x="2075897" y="2937381"/>
            <a:ext cx="801921"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Supplier Loop</a:t>
            </a:r>
          </a:p>
        </p:txBody>
      </p:sp>
      <p:sp>
        <p:nvSpPr>
          <p:cNvPr id="22" name="TextBox 21">
            <a:extLst>
              <a:ext uri="{FF2B5EF4-FFF2-40B4-BE49-F238E27FC236}">
                <a16:creationId xmlns:a16="http://schemas.microsoft.com/office/drawing/2014/main" id="{45571E94-1BB5-5F31-323F-D1808A062DCA}"/>
              </a:ext>
            </a:extLst>
          </p:cNvPr>
          <p:cNvSpPr txBox="1"/>
          <p:nvPr/>
        </p:nvSpPr>
        <p:spPr>
          <a:xfrm>
            <a:off x="9734231" y="1759313"/>
            <a:ext cx="1010658"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Information Loop</a:t>
            </a:r>
          </a:p>
        </p:txBody>
      </p:sp>
      <p:sp>
        <p:nvSpPr>
          <p:cNvPr id="23" name="TextBox 22">
            <a:extLst>
              <a:ext uri="{FF2B5EF4-FFF2-40B4-BE49-F238E27FC236}">
                <a16:creationId xmlns:a16="http://schemas.microsoft.com/office/drawing/2014/main" id="{EAEEC748-DB3E-2775-6A5A-BEFB965257B4}"/>
              </a:ext>
            </a:extLst>
          </p:cNvPr>
          <p:cNvSpPr txBox="1"/>
          <p:nvPr/>
        </p:nvSpPr>
        <p:spPr>
          <a:xfrm>
            <a:off x="7629851" y="4156967"/>
            <a:ext cx="1010658"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Pacemaker Loop</a:t>
            </a:r>
          </a:p>
        </p:txBody>
      </p:sp>
      <p:sp>
        <p:nvSpPr>
          <p:cNvPr id="24" name="TextBox 23">
            <a:extLst>
              <a:ext uri="{FF2B5EF4-FFF2-40B4-BE49-F238E27FC236}">
                <a16:creationId xmlns:a16="http://schemas.microsoft.com/office/drawing/2014/main" id="{7F19B7FF-98FC-F19D-D1C3-AE4E7B1E7FC2}"/>
              </a:ext>
            </a:extLst>
          </p:cNvPr>
          <p:cNvSpPr txBox="1"/>
          <p:nvPr/>
        </p:nvSpPr>
        <p:spPr>
          <a:xfrm>
            <a:off x="3632283" y="5011632"/>
            <a:ext cx="1290844"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Manufacturing Loop</a:t>
            </a:r>
          </a:p>
        </p:txBody>
      </p:sp>
      <p:grpSp>
        <p:nvGrpSpPr>
          <p:cNvPr id="15" name="Group 14">
            <a:extLst>
              <a:ext uri="{FF2B5EF4-FFF2-40B4-BE49-F238E27FC236}">
                <a16:creationId xmlns:a16="http://schemas.microsoft.com/office/drawing/2014/main" id="{2F97A52E-4378-911F-4858-291552962271}"/>
              </a:ext>
            </a:extLst>
          </p:cNvPr>
          <p:cNvGrpSpPr/>
          <p:nvPr/>
        </p:nvGrpSpPr>
        <p:grpSpPr>
          <a:xfrm>
            <a:off x="940004" y="321492"/>
            <a:ext cx="6217883" cy="311851"/>
            <a:chOff x="940249" y="302538"/>
            <a:chExt cx="6219503" cy="311932"/>
          </a:xfrm>
        </p:grpSpPr>
        <p:sp>
          <p:nvSpPr>
            <p:cNvPr id="18" name="TextBox 17">
              <a:extLst>
                <a:ext uri="{FF2B5EF4-FFF2-40B4-BE49-F238E27FC236}">
                  <a16:creationId xmlns:a16="http://schemas.microsoft.com/office/drawing/2014/main" id="{35D9C409-4541-73B0-A093-16C9E4090D5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1" name="AutoShape 9">
              <a:extLst>
                <a:ext uri="{FF2B5EF4-FFF2-40B4-BE49-F238E27FC236}">
                  <a16:creationId xmlns:a16="http://schemas.microsoft.com/office/drawing/2014/main" id="{CF613421-CEBE-4970-47B5-684DE6A2C86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2" name="AutoShape 9">
              <a:extLst>
                <a:ext uri="{FF2B5EF4-FFF2-40B4-BE49-F238E27FC236}">
                  <a16:creationId xmlns:a16="http://schemas.microsoft.com/office/drawing/2014/main" id="{8AE318DF-66F1-CD03-06EE-4803B5691F27}"/>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3" name="AutoShape 9">
              <a:extLst>
                <a:ext uri="{FF2B5EF4-FFF2-40B4-BE49-F238E27FC236}">
                  <a16:creationId xmlns:a16="http://schemas.microsoft.com/office/drawing/2014/main" id="{7B75B2D9-7CFF-F2FE-1AA8-ACCA3468C47C}"/>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4" name="AutoShape 9">
              <a:extLst>
                <a:ext uri="{FF2B5EF4-FFF2-40B4-BE49-F238E27FC236}">
                  <a16:creationId xmlns:a16="http://schemas.microsoft.com/office/drawing/2014/main" id="{A0178468-E168-F277-3B8A-0238F399F831}"/>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5" name="AutoShape 11">
              <a:extLst>
                <a:ext uri="{FF2B5EF4-FFF2-40B4-BE49-F238E27FC236}">
                  <a16:creationId xmlns:a16="http://schemas.microsoft.com/office/drawing/2014/main" id="{FC1F31D9-06CB-51EA-E3F0-6B6012E62BF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57" name="Slide Number Placeholder 2">
            <a:extLst>
              <a:ext uri="{FF2B5EF4-FFF2-40B4-BE49-F238E27FC236}">
                <a16:creationId xmlns:a16="http://schemas.microsoft.com/office/drawing/2014/main" id="{DDEE353F-B0A4-CD6F-0177-51DECC07737B}"/>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148</a:t>
            </a:fld>
            <a:endParaRPr lang="en-US" dirty="0"/>
          </a:p>
        </p:txBody>
      </p:sp>
    </p:spTree>
    <p:extLst>
      <p:ext uri="{BB962C8B-B14F-4D97-AF65-F5344CB8AC3E}">
        <p14:creationId xmlns:p14="http://schemas.microsoft.com/office/powerpoint/2010/main" val="687844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02"/>
                                        </p:tgtEl>
                                        <p:attrNameLst>
                                          <p:attrName>style.visibility</p:attrName>
                                        </p:attrNameLst>
                                      </p:cBhvr>
                                      <p:to>
                                        <p:strVal val="visible"/>
                                      </p:to>
                                    </p:set>
                                    <p:animEffect transition="in" filter="dissolve">
                                      <p:cBhvr>
                                        <p:cTn id="48" dur="1000"/>
                                        <p:tgtEl>
                                          <p:spTgt spid="2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6298EE72-8D0F-4ABA-72FF-290F09D9483D}"/>
              </a:ext>
            </a:extLst>
          </p:cNvPr>
          <p:cNvGrpSpPr/>
          <p:nvPr/>
        </p:nvGrpSpPr>
        <p:grpSpPr>
          <a:xfrm>
            <a:off x="9133136" y="4104813"/>
            <a:ext cx="1042416" cy="585216"/>
            <a:chOff x="18114246" y="7065835"/>
            <a:chExt cx="2089504" cy="1205437"/>
          </a:xfrm>
        </p:grpSpPr>
        <p:sp>
          <p:nvSpPr>
            <p:cNvPr id="31" name="Rectangle 7">
              <a:extLst>
                <a:ext uri="{FF2B5EF4-FFF2-40B4-BE49-F238E27FC236}">
                  <a16:creationId xmlns:a16="http://schemas.microsoft.com/office/drawing/2014/main" id="{D65314D2-E40D-D29C-2338-E4BA293F991F}"/>
                </a:ext>
              </a:extLst>
            </p:cNvPr>
            <p:cNvSpPr>
              <a:spLocks noChangeArrowheads="1"/>
            </p:cNvSpPr>
            <p:nvPr/>
          </p:nvSpPr>
          <p:spPr bwMode="auto">
            <a:xfrm>
              <a:off x="18114246" y="7104204"/>
              <a:ext cx="2089504" cy="1167068"/>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Text Box 9">
              <a:extLst>
                <a:ext uri="{FF2B5EF4-FFF2-40B4-BE49-F238E27FC236}">
                  <a16:creationId xmlns:a16="http://schemas.microsoft.com/office/drawing/2014/main" id="{E1DBB08D-35A4-C041-4DD1-2FA3F78E08E7}"/>
                </a:ext>
              </a:extLst>
            </p:cNvPr>
            <p:cNvSpPr txBox="1">
              <a:spLocks noChangeArrowheads="1"/>
            </p:cNvSpPr>
            <p:nvPr/>
          </p:nvSpPr>
          <p:spPr bwMode="auto">
            <a:xfrm>
              <a:off x="18185886" y="7065835"/>
              <a:ext cx="1958164" cy="570567"/>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Ship</a:t>
              </a:r>
            </a:p>
          </p:txBody>
        </p:sp>
        <p:sp>
          <p:nvSpPr>
            <p:cNvPr id="33" name="Line 8">
              <a:extLst>
                <a:ext uri="{FF2B5EF4-FFF2-40B4-BE49-F238E27FC236}">
                  <a16:creationId xmlns:a16="http://schemas.microsoft.com/office/drawing/2014/main" id="{9C05FA04-1EFC-76DF-468A-A1747278F17A}"/>
                </a:ext>
              </a:extLst>
            </p:cNvPr>
            <p:cNvSpPr>
              <a:spLocks noChangeShapeType="1"/>
            </p:cNvSpPr>
            <p:nvPr/>
          </p:nvSpPr>
          <p:spPr bwMode="auto">
            <a:xfrm>
              <a:off x="18126118" y="7430344"/>
              <a:ext cx="2059824" cy="3197"/>
            </a:xfrm>
            <a:prstGeom prst="line">
              <a:avLst/>
            </a:prstGeom>
            <a:solidFill>
              <a:schemeClr val="bg1"/>
            </a:solidFill>
            <a:ln w="12700" cap="sq">
              <a:solidFill>
                <a:schemeClr val="tx1"/>
              </a:solidFill>
              <a:round/>
              <a:headEnd type="none" w="sm" len="sm"/>
              <a:tailEnd type="none" w="sm" len="sm"/>
            </a:ln>
          </p:spPr>
          <p:txBody>
            <a:bodyPr wrap="none"/>
            <a:lstStyle/>
            <a:p>
              <a:endParaRPr lang="en-US">
                <a:latin typeface="Roboto" panose="02000000000000000000" pitchFamily="2" charset="0"/>
                <a:ea typeface="Roboto" panose="02000000000000000000" pitchFamily="2" charset="0"/>
              </a:endParaRPr>
            </a:p>
          </p:txBody>
        </p:sp>
      </p:grpSp>
      <p:grpSp>
        <p:nvGrpSpPr>
          <p:cNvPr id="34" name="Group 33">
            <a:extLst>
              <a:ext uri="{FF2B5EF4-FFF2-40B4-BE49-F238E27FC236}">
                <a16:creationId xmlns:a16="http://schemas.microsoft.com/office/drawing/2014/main" id="{08FFAD95-A74B-E869-09DA-7C7A4F3B0A72}"/>
              </a:ext>
            </a:extLst>
          </p:cNvPr>
          <p:cNvGrpSpPr/>
          <p:nvPr/>
        </p:nvGrpSpPr>
        <p:grpSpPr>
          <a:xfrm>
            <a:off x="9072129" y="1727032"/>
            <a:ext cx="2907054" cy="950421"/>
            <a:chOff x="17907288" y="3305639"/>
            <a:chExt cx="4152283" cy="1112710"/>
          </a:xfrm>
        </p:grpSpPr>
        <p:sp>
          <p:nvSpPr>
            <p:cNvPr id="35" name="Rectangle 12">
              <a:extLst>
                <a:ext uri="{FF2B5EF4-FFF2-40B4-BE49-F238E27FC236}">
                  <a16:creationId xmlns:a16="http://schemas.microsoft.com/office/drawing/2014/main" id="{FE6AD9E1-B7A3-593D-8B7A-A3F4A780F9A0}"/>
                </a:ext>
              </a:extLst>
            </p:cNvPr>
            <p:cNvSpPr>
              <a:spLocks noChangeArrowheads="1"/>
            </p:cNvSpPr>
            <p:nvPr/>
          </p:nvSpPr>
          <p:spPr bwMode="auto">
            <a:xfrm>
              <a:off x="19784065" y="3305639"/>
              <a:ext cx="131465" cy="601119"/>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3">
              <a:extLst>
                <a:ext uri="{FF2B5EF4-FFF2-40B4-BE49-F238E27FC236}">
                  <a16:creationId xmlns:a16="http://schemas.microsoft.com/office/drawing/2014/main" id="{0D389832-117D-32AB-3EAB-E44B7B9C1D4B}"/>
                </a:ext>
              </a:extLst>
            </p:cNvPr>
            <p:cNvSpPr>
              <a:spLocks noChangeArrowheads="1"/>
            </p:cNvSpPr>
            <p:nvPr/>
          </p:nvSpPr>
          <p:spPr bwMode="auto">
            <a:xfrm>
              <a:off x="17907288" y="3919548"/>
              <a:ext cx="2021842" cy="498801"/>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37" name="AutoShape 14">
              <a:extLst>
                <a:ext uri="{FF2B5EF4-FFF2-40B4-BE49-F238E27FC236}">
                  <a16:creationId xmlns:a16="http://schemas.microsoft.com/office/drawing/2014/main" id="{EAE8C849-F71F-815C-ACB9-C3CE4C00E4A0}"/>
                </a:ext>
              </a:extLst>
            </p:cNvPr>
            <p:cNvSpPr>
              <a:spLocks noChangeArrowheads="1"/>
            </p:cNvSpPr>
            <p:nvPr/>
          </p:nvSpPr>
          <p:spPr bwMode="auto">
            <a:xfrm>
              <a:off x="19163006"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8" name="AutoShape 15">
              <a:extLst>
                <a:ext uri="{FF2B5EF4-FFF2-40B4-BE49-F238E27FC236}">
                  <a16:creationId xmlns:a16="http://schemas.microsoft.com/office/drawing/2014/main" id="{3D86F1F4-067F-7889-206C-440517CFBF2C}"/>
                </a:ext>
              </a:extLst>
            </p:cNvPr>
            <p:cNvSpPr>
              <a:spLocks noChangeArrowheads="1"/>
            </p:cNvSpPr>
            <p:nvPr/>
          </p:nvSpPr>
          <p:spPr bwMode="auto">
            <a:xfrm>
              <a:off x="18537414"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9" name="AutoShape 16">
              <a:extLst>
                <a:ext uri="{FF2B5EF4-FFF2-40B4-BE49-F238E27FC236}">
                  <a16:creationId xmlns:a16="http://schemas.microsoft.com/office/drawing/2014/main" id="{C0DA0620-AB45-6FEC-67C4-7DA001A968F7}"/>
                </a:ext>
              </a:extLst>
            </p:cNvPr>
            <p:cNvSpPr>
              <a:spLocks noChangeArrowheads="1"/>
            </p:cNvSpPr>
            <p:nvPr/>
          </p:nvSpPr>
          <p:spPr bwMode="auto">
            <a:xfrm>
              <a:off x="17911821" y="3465511"/>
              <a:ext cx="621059" cy="454037"/>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0" name="Rectangle 17">
              <a:extLst>
                <a:ext uri="{FF2B5EF4-FFF2-40B4-BE49-F238E27FC236}">
                  <a16:creationId xmlns:a16="http://schemas.microsoft.com/office/drawing/2014/main" id="{AF079102-5612-71F8-CDAE-B9D7961C1BD3}"/>
                </a:ext>
              </a:extLst>
            </p:cNvPr>
            <p:cNvSpPr>
              <a:spLocks noChangeArrowheads="1"/>
            </p:cNvSpPr>
            <p:nvPr/>
          </p:nvSpPr>
          <p:spPr bwMode="auto">
            <a:xfrm>
              <a:off x="18034220"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1" name="Rectangle 18">
              <a:extLst>
                <a:ext uri="{FF2B5EF4-FFF2-40B4-BE49-F238E27FC236}">
                  <a16:creationId xmlns:a16="http://schemas.microsoft.com/office/drawing/2014/main" id="{668B5B2D-BCFC-84B4-6122-E94A17274A23}"/>
                </a:ext>
              </a:extLst>
            </p:cNvPr>
            <p:cNvSpPr>
              <a:spLocks noChangeArrowheads="1"/>
            </p:cNvSpPr>
            <p:nvPr/>
          </p:nvSpPr>
          <p:spPr bwMode="auto">
            <a:xfrm>
              <a:off x="18682479"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Rectangle 19">
              <a:extLst>
                <a:ext uri="{FF2B5EF4-FFF2-40B4-BE49-F238E27FC236}">
                  <a16:creationId xmlns:a16="http://schemas.microsoft.com/office/drawing/2014/main" id="{AF3FB6F8-7580-E7E9-C383-E8BFE808025E}"/>
                </a:ext>
              </a:extLst>
            </p:cNvPr>
            <p:cNvSpPr>
              <a:spLocks noChangeArrowheads="1"/>
            </p:cNvSpPr>
            <p:nvPr/>
          </p:nvSpPr>
          <p:spPr bwMode="auto">
            <a:xfrm>
              <a:off x="19330737" y="3727701"/>
              <a:ext cx="81599" cy="121503"/>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3" name="Text Box 20">
              <a:extLst>
                <a:ext uri="{FF2B5EF4-FFF2-40B4-BE49-F238E27FC236}">
                  <a16:creationId xmlns:a16="http://schemas.microsoft.com/office/drawing/2014/main" id="{1F48BA25-281D-39FD-8C86-2FF7DD762DDC}"/>
                </a:ext>
              </a:extLst>
            </p:cNvPr>
            <p:cNvSpPr txBox="1">
              <a:spLocks noChangeArrowheads="1"/>
            </p:cNvSpPr>
            <p:nvPr/>
          </p:nvSpPr>
          <p:spPr bwMode="auto">
            <a:xfrm>
              <a:off x="18018728" y="3945127"/>
              <a:ext cx="1751202" cy="464827"/>
            </a:xfrm>
            <a:prstGeom prst="rect">
              <a:avLst/>
            </a:prstGeom>
            <a:noFill/>
            <a:ln w="12700" cap="sq">
              <a:no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Ed</a:t>
              </a:r>
              <a:r>
                <a:rPr lang="ja-JP" altLang="en-US" sz="1100" b="0" dirty="0">
                  <a:solidFill>
                    <a:schemeClr val="tx1"/>
                  </a:solidFill>
                  <a:latin typeface="Roboto" panose="02000000000000000000" pitchFamily="2" charset="0"/>
                </a:rPr>
                <a:t>’</a:t>
              </a:r>
              <a:r>
                <a:rPr lang="en-US" altLang="ja-JP" sz="1100" b="0" dirty="0">
                  <a:solidFill>
                    <a:schemeClr val="tx1"/>
                  </a:solidFill>
                  <a:latin typeface="Roboto" panose="02000000000000000000" pitchFamily="2" charset="0"/>
                  <a:ea typeface="Roboto" panose="02000000000000000000" pitchFamily="2" charset="0"/>
                </a:rPr>
                <a:t>s Electrical Supply</a:t>
              </a:r>
              <a:endParaRPr lang="en-US" altLang="en-US" sz="1100" b="0" dirty="0">
                <a:solidFill>
                  <a:schemeClr val="tx1"/>
                </a:solidFill>
                <a:latin typeface="Roboto" panose="02000000000000000000" pitchFamily="2" charset="0"/>
                <a:ea typeface="Roboto" panose="02000000000000000000" pitchFamily="2" charset="0"/>
              </a:endParaRPr>
            </a:p>
          </p:txBody>
        </p:sp>
        <p:sp>
          <p:nvSpPr>
            <p:cNvPr id="44" name="Text Box 22">
              <a:extLst>
                <a:ext uri="{FF2B5EF4-FFF2-40B4-BE49-F238E27FC236}">
                  <a16:creationId xmlns:a16="http://schemas.microsoft.com/office/drawing/2014/main" id="{A25F245A-DE2C-6518-C8E3-BAEBB2CD33D9}"/>
                </a:ext>
              </a:extLst>
            </p:cNvPr>
            <p:cNvSpPr txBox="1">
              <a:spLocks noChangeArrowheads="1"/>
            </p:cNvSpPr>
            <p:nvPr/>
          </p:nvSpPr>
          <p:spPr bwMode="auto">
            <a:xfrm>
              <a:off x="20040572" y="3707283"/>
              <a:ext cx="2018999" cy="702645"/>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1100" b="0" dirty="0">
                  <a:solidFill>
                    <a:schemeClr val="tx1"/>
                  </a:solidFill>
                  <a:latin typeface="Roboto" panose="02000000000000000000" pitchFamily="2" charset="0"/>
                  <a:ea typeface="Roboto" panose="02000000000000000000" pitchFamily="2" charset="0"/>
                </a:rPr>
                <a:t>1 Shift</a:t>
              </a:r>
            </a:p>
          </p:txBody>
        </p:sp>
      </p:grpSp>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The Complete Future State Map</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28497" y="2919055"/>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mn-lt"/>
                </a:rPr>
                <a:t>27,000 Seconds</a:t>
              </a:r>
            </a:p>
            <a:p>
              <a:pPr>
                <a:lnSpc>
                  <a:spcPct val="100000"/>
                </a:lnSpc>
                <a:spcBef>
                  <a:spcPct val="35000"/>
                </a:spcBef>
              </a:pPr>
              <a:r>
                <a:rPr lang="en-US" altLang="en-US" b="0" dirty="0">
                  <a:solidFill>
                    <a:schemeClr val="tx1"/>
                  </a:solidFill>
                  <a:latin typeface="+mn-lt"/>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mn-lt"/>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23644" y="3160078"/>
            <a:ext cx="811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mn-lt"/>
              </a:rPr>
              <a:t>= </a:t>
            </a:r>
            <a:r>
              <a:rPr lang="en-US" altLang="en-US" dirty="0">
                <a:solidFill>
                  <a:srgbClr val="FF0000"/>
                </a:solidFill>
                <a:latin typeface="+mn-lt"/>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154659" y="4294271"/>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160593" y="4457299"/>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190469" y="427509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494440" y="2961284"/>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11932" y="3662940"/>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677213" y="3756878"/>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25680" y="3946201"/>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263631" y="3946201"/>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38322" y="3712488"/>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mn-lt"/>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288809" y="4463485"/>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660965" y="4564906"/>
            <a:ext cx="343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4</a:t>
            </a:r>
            <a:endParaRPr lang="en-US" altLang="en-US" sz="1000" b="0" dirty="0">
              <a:solidFill>
                <a:srgbClr val="FF0000"/>
              </a:solidFill>
              <a:latin typeface="+mn-lt"/>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162424" y="4934205"/>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12 “</a:t>
            </a:r>
          </a:p>
          <a:p>
            <a:pPr algn="l"/>
            <a:r>
              <a:rPr lang="en-US" altLang="en-US" sz="1000" b="0" dirty="0">
                <a:solidFill>
                  <a:schemeClr val="tx1"/>
                </a:solidFill>
                <a:latin typeface="+mn-lt"/>
              </a:rPr>
              <a:t>C/O Time =30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99%</a:t>
            </a:r>
          </a:p>
          <a:p>
            <a:pPr algn="l"/>
            <a:r>
              <a:rPr lang="en-US" altLang="en-US" sz="1000" b="0" dirty="0">
                <a:solidFill>
                  <a:schemeClr val="tx1"/>
                </a:solidFill>
                <a:latin typeface="+mn-lt"/>
              </a:rPr>
              <a:t>4 Machines</a:t>
            </a:r>
          </a:p>
          <a:p>
            <a:pPr algn="l"/>
            <a:endParaRPr lang="en-US" altLang="en-US" sz="1000" b="0" dirty="0">
              <a:solidFill>
                <a:schemeClr val="tx1"/>
              </a:solidFill>
              <a:latin typeface="+mn-lt"/>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31781" y="5102232"/>
            <a:ext cx="885874" cy="400110"/>
          </a:xfrm>
          <a:prstGeom prst="rect">
            <a:avLst/>
          </a:prstGeom>
          <a:solidFill>
            <a:schemeClr val="accent2"/>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1 sheet yields 4 pieces</a:t>
            </a:r>
            <a:r>
              <a:rPr lang="en-US" altLang="en-US" sz="1000" b="0" dirty="0">
                <a:solidFill>
                  <a:srgbClr val="FF0000"/>
                </a:solidFill>
                <a:latin typeface="+mn-lt"/>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40612" y="2348299"/>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mn-lt"/>
                  </a:rPr>
                  <a:t>Acme</a:t>
                </a:r>
              </a:p>
              <a:p>
                <a:pPr>
                  <a:lnSpc>
                    <a:spcPct val="90000"/>
                  </a:lnSpc>
                  <a:spcBef>
                    <a:spcPct val="0"/>
                  </a:spcBef>
                </a:pPr>
                <a:r>
                  <a:rPr lang="en-US" altLang="en-US" b="0" dirty="0">
                    <a:solidFill>
                      <a:schemeClr val="tx1"/>
                    </a:solidFill>
                    <a:latin typeface="+mn-lt"/>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mn-lt"/>
                  </a:rPr>
                  <a:t>1X</a:t>
                </a:r>
              </a:p>
              <a:p>
                <a:pPr>
                  <a:lnSpc>
                    <a:spcPct val="100000"/>
                  </a:lnSpc>
                  <a:spcBef>
                    <a:spcPct val="0"/>
                  </a:spcBef>
                </a:pPr>
                <a:r>
                  <a:rPr lang="en-US" altLang="en-US" b="0" dirty="0">
                    <a:solidFill>
                      <a:schemeClr val="tx1"/>
                    </a:solidFill>
                    <a:latin typeface="+mn-lt"/>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058670" y="2308508"/>
            <a:ext cx="4149093" cy="1919645"/>
            <a:chOff x="3873501" y="1838327"/>
            <a:chExt cx="3348037" cy="2365373"/>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Daily Orders</a:t>
                </a:r>
              </a:p>
              <a:p>
                <a:pPr>
                  <a:lnSpc>
                    <a:spcPct val="90000"/>
                  </a:lnSpc>
                  <a:spcBef>
                    <a:spcPct val="0"/>
                  </a:spcBef>
                </a:pPr>
                <a:r>
                  <a:rPr lang="en-US" altLang="en-US" sz="1000" b="0" dirty="0">
                    <a:solidFill>
                      <a:schemeClr val="tx1"/>
                    </a:solidFill>
                    <a:latin typeface="+mn-lt"/>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1838327"/>
              <a:ext cx="974725" cy="898526"/>
              <a:chOff x="2440" y="1158"/>
              <a:chExt cx="614" cy="566"/>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158"/>
                <a:ext cx="614" cy="56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mn-lt"/>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93" y="1230"/>
                <a:ext cx="504"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mn-lt"/>
                  </a:rPr>
                  <a:t>Production</a:t>
                </a:r>
              </a:p>
              <a:p>
                <a:pPr>
                  <a:lnSpc>
                    <a:spcPct val="100000"/>
                  </a:lnSpc>
                  <a:spcBef>
                    <a:spcPct val="30000"/>
                  </a:spcBef>
                </a:pPr>
                <a:r>
                  <a:rPr lang="en-US" altLang="en-US" sz="1400" b="0" dirty="0">
                    <a:solidFill>
                      <a:schemeClr val="tx1"/>
                    </a:solidFill>
                    <a:latin typeface="+mn-lt"/>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mn-lt"/>
                  </a:rPr>
                  <a:t>Daily Ship</a:t>
                </a:r>
              </a:p>
              <a:p>
                <a:pPr>
                  <a:lnSpc>
                    <a:spcPct val="90000"/>
                  </a:lnSpc>
                  <a:spcBef>
                    <a:spcPct val="0"/>
                  </a:spcBef>
                </a:pPr>
                <a:r>
                  <a:rPr lang="en-US" altLang="en-US" sz="1000" b="0">
                    <a:solidFill>
                      <a:schemeClr val="tx1"/>
                    </a:solidFill>
                    <a:latin typeface="+mn-lt"/>
                  </a:rPr>
                  <a:t>Schedule</a:t>
                </a:r>
              </a:p>
              <a:p>
                <a:pPr>
                  <a:lnSpc>
                    <a:spcPct val="90000"/>
                  </a:lnSpc>
                  <a:spcBef>
                    <a:spcPct val="0"/>
                  </a:spcBef>
                </a:pPr>
                <a:r>
                  <a:rPr lang="en-US" altLang="en-US" sz="1000" b="0">
                    <a:solidFill>
                      <a:schemeClr val="tx1"/>
                    </a:solidFill>
                    <a:latin typeface="+mn-lt"/>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101275" y="4294271"/>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mn-lt"/>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107210" y="4457299"/>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137085" y="4275092"/>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mn-lt"/>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235426" y="4463485"/>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593154" y="4564906"/>
            <a:ext cx="3722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109041" y="4934205"/>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mn-lt"/>
              </a:rPr>
              <a:t>DOI = 15 “</a:t>
            </a:r>
          </a:p>
          <a:p>
            <a:pPr algn="l"/>
            <a:r>
              <a:rPr lang="en-US" altLang="en-US" sz="1000" b="0" dirty="0">
                <a:solidFill>
                  <a:schemeClr val="tx1"/>
                </a:solidFill>
                <a:latin typeface="+mn-lt"/>
              </a:rPr>
              <a:t>C/O Time =120 ’</a:t>
            </a:r>
          </a:p>
          <a:p>
            <a:pPr algn="l"/>
            <a:r>
              <a:rPr lang="en-US" altLang="en-US" sz="1000" b="0" dirty="0">
                <a:solidFill>
                  <a:schemeClr val="tx1"/>
                </a:solidFill>
                <a:latin typeface="+mn-lt"/>
              </a:rPr>
              <a:t>Uptime = 99%</a:t>
            </a:r>
          </a:p>
          <a:p>
            <a:pPr algn="l"/>
            <a:r>
              <a:rPr lang="en-US" altLang="en-US" sz="1000" b="0" dirty="0">
                <a:solidFill>
                  <a:schemeClr val="tx1"/>
                </a:solidFill>
                <a:latin typeface="+mn-lt"/>
              </a:rPr>
              <a:t>Quality = 98%</a:t>
            </a:r>
          </a:p>
          <a:p>
            <a:pPr algn="l"/>
            <a:endParaRPr lang="en-US" altLang="en-US" sz="1000" b="0" dirty="0">
              <a:solidFill>
                <a:schemeClr val="tx1"/>
              </a:solidFill>
              <a:latin typeface="+mn-lt"/>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121449" y="2576485"/>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Weekly</a:t>
              </a:r>
            </a:p>
            <a:p>
              <a:pPr>
                <a:lnSpc>
                  <a:spcPct val="90000"/>
                </a:lnSpc>
                <a:spcBef>
                  <a:spcPct val="0"/>
                </a:spcBef>
              </a:pPr>
              <a:r>
                <a:rPr lang="en-US" altLang="en-US" sz="1000" b="0" dirty="0">
                  <a:solidFill>
                    <a:schemeClr val="tx1"/>
                  </a:solidFill>
                  <a:latin typeface="+mn-lt"/>
                </a:rPr>
                <a:t>Replenishment</a:t>
              </a:r>
            </a:p>
            <a:p>
              <a:pPr>
                <a:lnSpc>
                  <a:spcPct val="90000"/>
                </a:lnSpc>
                <a:spcBef>
                  <a:spcPct val="0"/>
                </a:spcBef>
              </a:pPr>
              <a:r>
                <a:rPr lang="en-US" altLang="en-US" sz="1000" b="0" dirty="0">
                  <a:solidFill>
                    <a:schemeClr val="tx1"/>
                  </a:solidFill>
                  <a:latin typeface="+mn-lt"/>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1713281" y="3070176"/>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57150" cap="sq">
              <a:solidFill>
                <a:schemeClr val="tx1"/>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54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248197" y="4485836"/>
            <a:ext cx="5587825" cy="550917"/>
            <a:chOff x="571" y="2496"/>
            <a:chExt cx="2784"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71"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mn-lt"/>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18" y="2726"/>
              <a:ext cx="253"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15" y="2726"/>
              <a:ext cx="240"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mn-lt"/>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2688960" y="3662940"/>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p>
            </p:txBody>
          </p:sp>
        </p:grpSp>
      </p:grpSp>
      <p:sp>
        <p:nvSpPr>
          <p:cNvPr id="10" name="Line 116">
            <a:extLst>
              <a:ext uri="{FF2B5EF4-FFF2-40B4-BE49-F238E27FC236}">
                <a16:creationId xmlns:a16="http://schemas.microsoft.com/office/drawing/2014/main" id="{5F20D398-5608-5CD6-5B85-27331A304B23}"/>
              </a:ext>
            </a:extLst>
          </p:cNvPr>
          <p:cNvSpPr>
            <a:spLocks noChangeShapeType="1"/>
          </p:cNvSpPr>
          <p:nvPr/>
        </p:nvSpPr>
        <p:spPr bwMode="auto">
          <a:xfrm flipH="1">
            <a:off x="6280260" y="2339175"/>
            <a:ext cx="1341717"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1" name="Line 117">
            <a:extLst>
              <a:ext uri="{FF2B5EF4-FFF2-40B4-BE49-F238E27FC236}">
                <a16:creationId xmlns:a16="http://schemas.microsoft.com/office/drawing/2014/main" id="{E5CCFE93-168F-F6D8-7262-B5678C5E53AA}"/>
              </a:ext>
            </a:extLst>
          </p:cNvPr>
          <p:cNvSpPr>
            <a:spLocks noChangeShapeType="1"/>
          </p:cNvSpPr>
          <p:nvPr/>
        </p:nvSpPr>
        <p:spPr bwMode="auto">
          <a:xfrm flipV="1">
            <a:off x="7478363" y="2398440"/>
            <a:ext cx="1416476" cy="6442"/>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2" name="Line 118">
            <a:extLst>
              <a:ext uri="{FF2B5EF4-FFF2-40B4-BE49-F238E27FC236}">
                <a16:creationId xmlns:a16="http://schemas.microsoft.com/office/drawing/2014/main" id="{8509417C-F5D8-305B-149C-3865C07BAF06}"/>
              </a:ext>
            </a:extLst>
          </p:cNvPr>
          <p:cNvSpPr>
            <a:spLocks noChangeShapeType="1"/>
          </p:cNvSpPr>
          <p:nvPr/>
        </p:nvSpPr>
        <p:spPr bwMode="auto">
          <a:xfrm flipV="1">
            <a:off x="7468526" y="2349482"/>
            <a:ext cx="131811" cy="4895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endParaRPr>
          </a:p>
        </p:txBody>
      </p:sp>
      <p:sp>
        <p:nvSpPr>
          <p:cNvPr id="13" name="Rectangle 119">
            <a:extLst>
              <a:ext uri="{FF2B5EF4-FFF2-40B4-BE49-F238E27FC236}">
                <a16:creationId xmlns:a16="http://schemas.microsoft.com/office/drawing/2014/main" id="{957EC00A-E98E-6042-0B25-B2B1B1E0772B}"/>
              </a:ext>
            </a:extLst>
          </p:cNvPr>
          <p:cNvSpPr>
            <a:spLocks noChangeArrowheads="1"/>
          </p:cNvSpPr>
          <p:nvPr/>
        </p:nvSpPr>
        <p:spPr bwMode="auto">
          <a:xfrm>
            <a:off x="7702607" y="2201759"/>
            <a:ext cx="1058687" cy="323377"/>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mn-lt"/>
              </a:rPr>
              <a:t>30/60/90 day</a:t>
            </a:r>
          </a:p>
          <a:p>
            <a:pPr>
              <a:lnSpc>
                <a:spcPct val="90000"/>
              </a:lnSpc>
              <a:spcBef>
                <a:spcPct val="0"/>
              </a:spcBef>
            </a:pPr>
            <a:r>
              <a:rPr lang="en-US" altLang="en-US" sz="1000" b="0" dirty="0">
                <a:solidFill>
                  <a:schemeClr val="tx1"/>
                </a:solidFill>
                <a:latin typeface="+mn-lt"/>
              </a:rPr>
              <a:t>Forecast (email)</a:t>
            </a:r>
          </a:p>
        </p:txBody>
      </p:sp>
      <p:grpSp>
        <p:nvGrpSpPr>
          <p:cNvPr id="67" name="Group 66">
            <a:extLst>
              <a:ext uri="{FF2B5EF4-FFF2-40B4-BE49-F238E27FC236}">
                <a16:creationId xmlns:a16="http://schemas.microsoft.com/office/drawing/2014/main" id="{B48E0987-B9A8-C3A8-6398-8F7661F01FE9}"/>
              </a:ext>
            </a:extLst>
          </p:cNvPr>
          <p:cNvGrpSpPr/>
          <p:nvPr/>
        </p:nvGrpSpPr>
        <p:grpSpPr>
          <a:xfrm>
            <a:off x="1115307" y="5721969"/>
            <a:ext cx="7945896" cy="561691"/>
            <a:chOff x="2231195" y="9998713"/>
            <a:chExt cx="14714059" cy="1123674"/>
          </a:xfrm>
        </p:grpSpPr>
        <p:grpSp>
          <p:nvGrpSpPr>
            <p:cNvPr id="68" name="Group 87">
              <a:extLst>
                <a:ext uri="{FF2B5EF4-FFF2-40B4-BE49-F238E27FC236}">
                  <a16:creationId xmlns:a16="http://schemas.microsoft.com/office/drawing/2014/main" id="{A30F663C-5ED5-219E-6D76-168E827F3A20}"/>
                </a:ext>
              </a:extLst>
            </p:cNvPr>
            <p:cNvGrpSpPr>
              <a:grpSpLocks/>
            </p:cNvGrpSpPr>
            <p:nvPr/>
          </p:nvGrpSpPr>
          <p:grpSpPr bwMode="auto">
            <a:xfrm>
              <a:off x="2231195" y="10447968"/>
              <a:ext cx="14714059" cy="639894"/>
              <a:chOff x="577" y="3222"/>
              <a:chExt cx="3590" cy="145"/>
            </a:xfrm>
          </p:grpSpPr>
          <p:sp>
            <p:nvSpPr>
              <p:cNvPr id="108" name="Line 88">
                <a:extLst>
                  <a:ext uri="{FF2B5EF4-FFF2-40B4-BE49-F238E27FC236}">
                    <a16:creationId xmlns:a16="http://schemas.microsoft.com/office/drawing/2014/main" id="{3D43DD8C-E9B9-E01C-9E21-A3465D29F30D}"/>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09" name="Line 89">
                <a:extLst>
                  <a:ext uri="{FF2B5EF4-FFF2-40B4-BE49-F238E27FC236}">
                    <a16:creationId xmlns:a16="http://schemas.microsoft.com/office/drawing/2014/main" id="{A8EC0B9D-6648-2F30-ABA0-72209EA4412E}"/>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0" name="Line 90">
                <a:extLst>
                  <a:ext uri="{FF2B5EF4-FFF2-40B4-BE49-F238E27FC236}">
                    <a16:creationId xmlns:a16="http://schemas.microsoft.com/office/drawing/2014/main" id="{6011E64E-EA9F-3D5E-4FBA-4BDE5BC7ADD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1" name="Line 91">
                <a:extLst>
                  <a:ext uri="{FF2B5EF4-FFF2-40B4-BE49-F238E27FC236}">
                    <a16:creationId xmlns:a16="http://schemas.microsoft.com/office/drawing/2014/main" id="{3441EA6E-2A9A-E2D1-F876-C9A8D820EF6C}"/>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2" name="Line 92">
                <a:extLst>
                  <a:ext uri="{FF2B5EF4-FFF2-40B4-BE49-F238E27FC236}">
                    <a16:creationId xmlns:a16="http://schemas.microsoft.com/office/drawing/2014/main" id="{1C291DFE-20EA-9668-C149-F15B5CE1C8A2}"/>
                  </a:ext>
                </a:extLst>
              </p:cNvPr>
              <p:cNvSpPr>
                <a:spLocks noChangeShapeType="1"/>
              </p:cNvSpPr>
              <p:nvPr/>
            </p:nvSpPr>
            <p:spPr bwMode="auto">
              <a:xfrm>
                <a:off x="2377"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3" name="Line 93">
                <a:extLst>
                  <a:ext uri="{FF2B5EF4-FFF2-40B4-BE49-F238E27FC236}">
                    <a16:creationId xmlns:a16="http://schemas.microsoft.com/office/drawing/2014/main" id="{B63EC977-0BC9-65E9-885D-B2DE6B2AFDE5}"/>
                  </a:ext>
                </a:extLst>
              </p:cNvPr>
              <p:cNvSpPr>
                <a:spLocks noChangeShapeType="1"/>
              </p:cNvSpPr>
              <p:nvPr/>
            </p:nvSpPr>
            <p:spPr bwMode="auto">
              <a:xfrm>
                <a:off x="1538" y="3226"/>
                <a:ext cx="840"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4" name="Line 94">
                <a:extLst>
                  <a:ext uri="{FF2B5EF4-FFF2-40B4-BE49-F238E27FC236}">
                    <a16:creationId xmlns:a16="http://schemas.microsoft.com/office/drawing/2014/main" id="{02FB3D17-A50C-2776-975E-357DFCEA403B}"/>
                  </a:ext>
                </a:extLst>
              </p:cNvPr>
              <p:cNvSpPr>
                <a:spLocks noChangeShapeType="1"/>
              </p:cNvSpPr>
              <p:nvPr/>
            </p:nvSpPr>
            <p:spPr bwMode="auto">
              <a:xfrm>
                <a:off x="2902"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7" name="Line 97">
                <a:extLst>
                  <a:ext uri="{FF2B5EF4-FFF2-40B4-BE49-F238E27FC236}">
                    <a16:creationId xmlns:a16="http://schemas.microsoft.com/office/drawing/2014/main" id="{5404F6F0-9CBE-639A-DD7C-CBBCAA76DF73}"/>
                  </a:ext>
                </a:extLst>
              </p:cNvPr>
              <p:cNvSpPr>
                <a:spLocks noChangeShapeType="1"/>
              </p:cNvSpPr>
              <p:nvPr/>
            </p:nvSpPr>
            <p:spPr bwMode="auto">
              <a:xfrm flipV="1">
                <a:off x="2375" y="3366"/>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9" name="Line 99">
                <a:extLst>
                  <a:ext uri="{FF2B5EF4-FFF2-40B4-BE49-F238E27FC236}">
                    <a16:creationId xmlns:a16="http://schemas.microsoft.com/office/drawing/2014/main" id="{8D9D6097-1606-0120-712C-C96C946F2DE1}"/>
                  </a:ext>
                </a:extLst>
              </p:cNvPr>
              <p:cNvSpPr>
                <a:spLocks noChangeShapeType="1"/>
              </p:cNvSpPr>
              <p:nvPr/>
            </p:nvSpPr>
            <p:spPr bwMode="auto">
              <a:xfrm>
                <a:off x="2900" y="3230"/>
                <a:ext cx="126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grpSp>
        <p:sp>
          <p:nvSpPr>
            <p:cNvPr id="79" name="Rectangle 106">
              <a:extLst>
                <a:ext uri="{FF2B5EF4-FFF2-40B4-BE49-F238E27FC236}">
                  <a16:creationId xmlns:a16="http://schemas.microsoft.com/office/drawing/2014/main" id="{C4434D4A-4498-B3B2-4F07-02900406F07E}"/>
                </a:ext>
              </a:extLst>
            </p:cNvPr>
            <p:cNvSpPr>
              <a:spLocks noChangeArrowheads="1"/>
            </p:cNvSpPr>
            <p:nvPr/>
          </p:nvSpPr>
          <p:spPr bwMode="auto">
            <a:xfrm>
              <a:off x="10103025" y="10568245"/>
              <a:ext cx="1287241"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30 sec</a:t>
              </a:r>
            </a:p>
          </p:txBody>
        </p:sp>
        <p:sp>
          <p:nvSpPr>
            <p:cNvPr id="81" name="Rectangle 106">
              <a:extLst>
                <a:ext uri="{FF2B5EF4-FFF2-40B4-BE49-F238E27FC236}">
                  <a16:creationId xmlns:a16="http://schemas.microsoft.com/office/drawing/2014/main" id="{80F6566A-3F45-FFBC-21A8-A09E034F490E}"/>
                </a:ext>
              </a:extLst>
            </p:cNvPr>
            <p:cNvSpPr>
              <a:spLocks noChangeArrowheads="1"/>
            </p:cNvSpPr>
            <p:nvPr/>
          </p:nvSpPr>
          <p:spPr bwMode="auto">
            <a:xfrm>
              <a:off x="4505801" y="10553609"/>
              <a:ext cx="1428029"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240 sec</a:t>
              </a:r>
            </a:p>
          </p:txBody>
        </p:sp>
        <p:sp>
          <p:nvSpPr>
            <p:cNvPr id="104" name="Rectangle 106">
              <a:extLst>
                <a:ext uri="{FF2B5EF4-FFF2-40B4-BE49-F238E27FC236}">
                  <a16:creationId xmlns:a16="http://schemas.microsoft.com/office/drawing/2014/main" id="{164B8036-0B74-E85C-37AA-BE0A85A7C15A}"/>
                </a:ext>
              </a:extLst>
            </p:cNvPr>
            <p:cNvSpPr>
              <a:spLocks noChangeArrowheads="1"/>
            </p:cNvSpPr>
            <p:nvPr/>
          </p:nvSpPr>
          <p:spPr bwMode="auto">
            <a:xfrm>
              <a:off x="2347441" y="10003960"/>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 days</a:t>
              </a:r>
            </a:p>
          </p:txBody>
        </p:sp>
        <p:sp>
          <p:nvSpPr>
            <p:cNvPr id="105" name="Rectangle 106">
              <a:extLst>
                <a:ext uri="{FF2B5EF4-FFF2-40B4-BE49-F238E27FC236}">
                  <a16:creationId xmlns:a16="http://schemas.microsoft.com/office/drawing/2014/main" id="{619520B8-33CC-573F-AA89-02BE2412E9E5}"/>
                </a:ext>
              </a:extLst>
            </p:cNvPr>
            <p:cNvSpPr>
              <a:spLocks noChangeArrowheads="1"/>
            </p:cNvSpPr>
            <p:nvPr/>
          </p:nvSpPr>
          <p:spPr bwMode="auto">
            <a:xfrm>
              <a:off x="7122736" y="10017194"/>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sp>
          <p:nvSpPr>
            <p:cNvPr id="106" name="Rectangle 106">
              <a:extLst>
                <a:ext uri="{FF2B5EF4-FFF2-40B4-BE49-F238E27FC236}">
                  <a16:creationId xmlns:a16="http://schemas.microsoft.com/office/drawing/2014/main" id="{F7788305-4DAB-FC83-4AC0-154293799B08}"/>
                </a:ext>
              </a:extLst>
            </p:cNvPr>
            <p:cNvSpPr>
              <a:spLocks noChangeArrowheads="1"/>
            </p:cNvSpPr>
            <p:nvPr/>
          </p:nvSpPr>
          <p:spPr bwMode="auto">
            <a:xfrm>
              <a:off x="13807881" y="9998713"/>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grpSp>
      <p:grpSp>
        <p:nvGrpSpPr>
          <p:cNvPr id="202" name="Group 132">
            <a:extLst>
              <a:ext uri="{FF2B5EF4-FFF2-40B4-BE49-F238E27FC236}">
                <a16:creationId xmlns:a16="http://schemas.microsoft.com/office/drawing/2014/main" id="{1C019BE2-A40A-9FE4-FF96-C51267175298}"/>
              </a:ext>
            </a:extLst>
          </p:cNvPr>
          <p:cNvGrpSpPr>
            <a:grpSpLocks/>
          </p:cNvGrpSpPr>
          <p:nvPr/>
        </p:nvGrpSpPr>
        <p:grpSpPr bwMode="auto">
          <a:xfrm>
            <a:off x="9090575" y="5381436"/>
            <a:ext cx="2024842" cy="880002"/>
            <a:chOff x="3875" y="3408"/>
            <a:chExt cx="1597" cy="281"/>
          </a:xfrm>
        </p:grpSpPr>
        <p:sp>
          <p:nvSpPr>
            <p:cNvPr id="203" name="Text Box 133">
              <a:extLst>
                <a:ext uri="{FF2B5EF4-FFF2-40B4-BE49-F238E27FC236}">
                  <a16:creationId xmlns:a16="http://schemas.microsoft.com/office/drawing/2014/main" id="{5034081D-9E4D-D954-A7C2-10378C77617C}"/>
                </a:ext>
              </a:extLst>
            </p:cNvPr>
            <p:cNvSpPr txBox="1">
              <a:spLocks noChangeArrowheads="1"/>
            </p:cNvSpPr>
            <p:nvPr/>
          </p:nvSpPr>
          <p:spPr bwMode="auto">
            <a:xfrm>
              <a:off x="3953" y="3476"/>
              <a:ext cx="1433" cy="143"/>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r">
                <a:lnSpc>
                  <a:spcPct val="100000"/>
                </a:lnSpc>
                <a:spcBef>
                  <a:spcPct val="30000"/>
                </a:spcBef>
              </a:pPr>
              <a:r>
                <a:rPr lang="en-US" altLang="en-US" sz="1000" dirty="0">
                  <a:solidFill>
                    <a:schemeClr val="tx1"/>
                  </a:solidFill>
                  <a:latin typeface="+mn-lt"/>
                </a:rPr>
                <a:t>Production L.T. =  10 days    </a:t>
              </a:r>
            </a:p>
            <a:p>
              <a:pPr algn="r">
                <a:lnSpc>
                  <a:spcPct val="100000"/>
                </a:lnSpc>
                <a:spcBef>
                  <a:spcPct val="30000"/>
                </a:spcBef>
              </a:pPr>
              <a:r>
                <a:rPr lang="en-US" altLang="en-US" sz="1000" dirty="0">
                  <a:solidFill>
                    <a:schemeClr val="tx1"/>
                  </a:solidFill>
                  <a:latin typeface="+mn-lt"/>
                </a:rPr>
                <a:t>Processing Time = 270 seconds</a:t>
              </a:r>
            </a:p>
          </p:txBody>
        </p:sp>
        <p:sp>
          <p:nvSpPr>
            <p:cNvPr id="204" name="Line 134">
              <a:extLst>
                <a:ext uri="{FF2B5EF4-FFF2-40B4-BE49-F238E27FC236}">
                  <a16:creationId xmlns:a16="http://schemas.microsoft.com/office/drawing/2014/main" id="{F8F77BA8-4E14-1255-3EB4-B9558BAF8AE2}"/>
                </a:ext>
              </a:extLst>
            </p:cNvPr>
            <p:cNvSpPr>
              <a:spLocks noChangeShapeType="1"/>
            </p:cNvSpPr>
            <p:nvPr/>
          </p:nvSpPr>
          <p:spPr bwMode="auto">
            <a:xfrm flipV="1">
              <a:off x="3938" y="3541"/>
              <a:ext cx="144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205" name="Rectangle 135">
              <a:extLst>
                <a:ext uri="{FF2B5EF4-FFF2-40B4-BE49-F238E27FC236}">
                  <a16:creationId xmlns:a16="http://schemas.microsoft.com/office/drawing/2014/main" id="{32E890D4-4914-FF17-F869-D64F2A855F19}"/>
                </a:ext>
              </a:extLst>
            </p:cNvPr>
            <p:cNvSpPr>
              <a:spLocks noChangeArrowheads="1"/>
            </p:cNvSpPr>
            <p:nvPr/>
          </p:nvSpPr>
          <p:spPr bwMode="auto">
            <a:xfrm>
              <a:off x="3875" y="3408"/>
              <a:ext cx="1597" cy="281"/>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14" name="Freeform: Shape 13">
            <a:extLst>
              <a:ext uri="{FF2B5EF4-FFF2-40B4-BE49-F238E27FC236}">
                <a16:creationId xmlns:a16="http://schemas.microsoft.com/office/drawing/2014/main" id="{415FCB6A-4505-201F-6965-CA49C121BD2B}"/>
              </a:ext>
            </a:extLst>
          </p:cNvPr>
          <p:cNvSpPr/>
          <p:nvPr/>
        </p:nvSpPr>
        <p:spPr>
          <a:xfrm>
            <a:off x="890721" y="2209414"/>
            <a:ext cx="4032406" cy="2464148"/>
          </a:xfrm>
          <a:custGeom>
            <a:avLst/>
            <a:gdLst>
              <a:gd name="connsiteX0" fmla="*/ 93784 w 8066912"/>
              <a:gd name="connsiteY0" fmla="*/ 146564 h 4929580"/>
              <a:gd name="connsiteX1" fmla="*/ 515815 w 8066912"/>
              <a:gd name="connsiteY1" fmla="*/ 76226 h 4929580"/>
              <a:gd name="connsiteX2" fmla="*/ 773723 w 8066912"/>
              <a:gd name="connsiteY2" fmla="*/ 52780 h 4929580"/>
              <a:gd name="connsiteX3" fmla="*/ 1805354 w 8066912"/>
              <a:gd name="connsiteY3" fmla="*/ 52780 h 4929580"/>
              <a:gd name="connsiteX4" fmla="*/ 2063261 w 8066912"/>
              <a:gd name="connsiteY4" fmla="*/ 76226 h 4929580"/>
              <a:gd name="connsiteX5" fmla="*/ 3446584 w 8066912"/>
              <a:gd name="connsiteY5" fmla="*/ 146564 h 4929580"/>
              <a:gd name="connsiteX6" fmla="*/ 3868615 w 8066912"/>
              <a:gd name="connsiteY6" fmla="*/ 193457 h 4929580"/>
              <a:gd name="connsiteX7" fmla="*/ 4314092 w 8066912"/>
              <a:gd name="connsiteY7" fmla="*/ 240349 h 4929580"/>
              <a:gd name="connsiteX8" fmla="*/ 4501661 w 8066912"/>
              <a:gd name="connsiteY8" fmla="*/ 263795 h 4929580"/>
              <a:gd name="connsiteX9" fmla="*/ 5158154 w 8066912"/>
              <a:gd name="connsiteY9" fmla="*/ 287241 h 4929580"/>
              <a:gd name="connsiteX10" fmla="*/ 5627077 w 8066912"/>
              <a:gd name="connsiteY10" fmla="*/ 334134 h 4929580"/>
              <a:gd name="connsiteX11" fmla="*/ 5767754 w 8066912"/>
              <a:gd name="connsiteY11" fmla="*/ 357580 h 4929580"/>
              <a:gd name="connsiteX12" fmla="*/ 6377354 w 8066912"/>
              <a:gd name="connsiteY12" fmla="*/ 381026 h 4929580"/>
              <a:gd name="connsiteX13" fmla="*/ 6799384 w 8066912"/>
              <a:gd name="connsiteY13" fmla="*/ 404472 h 4929580"/>
              <a:gd name="connsiteX14" fmla="*/ 7080738 w 8066912"/>
              <a:gd name="connsiteY14" fmla="*/ 451364 h 4929580"/>
              <a:gd name="connsiteX15" fmla="*/ 7315200 w 8066912"/>
              <a:gd name="connsiteY15" fmla="*/ 521703 h 4929580"/>
              <a:gd name="connsiteX16" fmla="*/ 7596554 w 8066912"/>
              <a:gd name="connsiteY16" fmla="*/ 545149 h 4929580"/>
              <a:gd name="connsiteX17" fmla="*/ 7690338 w 8066912"/>
              <a:gd name="connsiteY17" fmla="*/ 568595 h 4929580"/>
              <a:gd name="connsiteX18" fmla="*/ 7948246 w 8066912"/>
              <a:gd name="connsiteY18" fmla="*/ 779611 h 4929580"/>
              <a:gd name="connsiteX19" fmla="*/ 7995138 w 8066912"/>
              <a:gd name="connsiteY19" fmla="*/ 849949 h 4929580"/>
              <a:gd name="connsiteX20" fmla="*/ 8018584 w 8066912"/>
              <a:gd name="connsiteY20" fmla="*/ 920288 h 4929580"/>
              <a:gd name="connsiteX21" fmla="*/ 8065477 w 8066912"/>
              <a:gd name="connsiteY21" fmla="*/ 1037518 h 4929580"/>
              <a:gd name="connsiteX22" fmla="*/ 8042030 w 8066912"/>
              <a:gd name="connsiteY22" fmla="*/ 1553334 h 4929580"/>
              <a:gd name="connsiteX23" fmla="*/ 8018584 w 8066912"/>
              <a:gd name="connsiteY23" fmla="*/ 1623672 h 4929580"/>
              <a:gd name="connsiteX24" fmla="*/ 7971692 w 8066912"/>
              <a:gd name="connsiteY24" fmla="*/ 1694011 h 4929580"/>
              <a:gd name="connsiteX25" fmla="*/ 7713784 w 8066912"/>
              <a:gd name="connsiteY25" fmla="*/ 1928472 h 4929580"/>
              <a:gd name="connsiteX26" fmla="*/ 7596554 w 8066912"/>
              <a:gd name="connsiteY26" fmla="*/ 1998811 h 4929580"/>
              <a:gd name="connsiteX27" fmla="*/ 7502769 w 8066912"/>
              <a:gd name="connsiteY27" fmla="*/ 2022257 h 4929580"/>
              <a:gd name="connsiteX28" fmla="*/ 7291754 w 8066912"/>
              <a:gd name="connsiteY28" fmla="*/ 2092595 h 4929580"/>
              <a:gd name="connsiteX29" fmla="*/ 7151077 w 8066912"/>
              <a:gd name="connsiteY29" fmla="*/ 2162934 h 4929580"/>
              <a:gd name="connsiteX30" fmla="*/ 6986954 w 8066912"/>
              <a:gd name="connsiteY30" fmla="*/ 2209826 h 4929580"/>
              <a:gd name="connsiteX31" fmla="*/ 6799384 w 8066912"/>
              <a:gd name="connsiteY31" fmla="*/ 2256718 h 4929580"/>
              <a:gd name="connsiteX32" fmla="*/ 6588369 w 8066912"/>
              <a:gd name="connsiteY32" fmla="*/ 2327057 h 4929580"/>
              <a:gd name="connsiteX33" fmla="*/ 6471138 w 8066912"/>
              <a:gd name="connsiteY33" fmla="*/ 2373949 h 4929580"/>
              <a:gd name="connsiteX34" fmla="*/ 6353907 w 8066912"/>
              <a:gd name="connsiteY34" fmla="*/ 2397395 h 4929580"/>
              <a:gd name="connsiteX35" fmla="*/ 6213230 w 8066912"/>
              <a:gd name="connsiteY35" fmla="*/ 2444288 h 4929580"/>
              <a:gd name="connsiteX36" fmla="*/ 6025661 w 8066912"/>
              <a:gd name="connsiteY36" fmla="*/ 2514626 h 4929580"/>
              <a:gd name="connsiteX37" fmla="*/ 5462954 w 8066912"/>
              <a:gd name="connsiteY37" fmla="*/ 2608411 h 4929580"/>
              <a:gd name="connsiteX38" fmla="*/ 5181600 w 8066912"/>
              <a:gd name="connsiteY38" fmla="*/ 2678749 h 4929580"/>
              <a:gd name="connsiteX39" fmla="*/ 5017477 w 8066912"/>
              <a:gd name="connsiteY39" fmla="*/ 2749088 h 4929580"/>
              <a:gd name="connsiteX40" fmla="*/ 4759569 w 8066912"/>
              <a:gd name="connsiteY40" fmla="*/ 2795980 h 4929580"/>
              <a:gd name="connsiteX41" fmla="*/ 4454769 w 8066912"/>
              <a:gd name="connsiteY41" fmla="*/ 2842872 h 4929580"/>
              <a:gd name="connsiteX42" fmla="*/ 4384430 w 8066912"/>
              <a:gd name="connsiteY42" fmla="*/ 2866318 h 4929580"/>
              <a:gd name="connsiteX43" fmla="*/ 4267200 w 8066912"/>
              <a:gd name="connsiteY43" fmla="*/ 2889764 h 4929580"/>
              <a:gd name="connsiteX44" fmla="*/ 4149969 w 8066912"/>
              <a:gd name="connsiteY44" fmla="*/ 2936657 h 4929580"/>
              <a:gd name="connsiteX45" fmla="*/ 3962400 w 8066912"/>
              <a:gd name="connsiteY45" fmla="*/ 2983549 h 4929580"/>
              <a:gd name="connsiteX46" fmla="*/ 3727938 w 8066912"/>
              <a:gd name="connsiteY46" fmla="*/ 3053888 h 4929580"/>
              <a:gd name="connsiteX47" fmla="*/ 3657600 w 8066912"/>
              <a:gd name="connsiteY47" fmla="*/ 3077334 h 4929580"/>
              <a:gd name="connsiteX48" fmla="*/ 3493477 w 8066912"/>
              <a:gd name="connsiteY48" fmla="*/ 3171118 h 4929580"/>
              <a:gd name="connsiteX49" fmla="*/ 3446584 w 8066912"/>
              <a:gd name="connsiteY49" fmla="*/ 3218011 h 4929580"/>
              <a:gd name="connsiteX50" fmla="*/ 3376246 w 8066912"/>
              <a:gd name="connsiteY50" fmla="*/ 3241457 h 4929580"/>
              <a:gd name="connsiteX51" fmla="*/ 3305907 w 8066912"/>
              <a:gd name="connsiteY51" fmla="*/ 3288349 h 4929580"/>
              <a:gd name="connsiteX52" fmla="*/ 3282461 w 8066912"/>
              <a:gd name="connsiteY52" fmla="*/ 3358688 h 4929580"/>
              <a:gd name="connsiteX53" fmla="*/ 3188677 w 8066912"/>
              <a:gd name="connsiteY53" fmla="*/ 3405580 h 4929580"/>
              <a:gd name="connsiteX54" fmla="*/ 3048000 w 8066912"/>
              <a:gd name="connsiteY54" fmla="*/ 3475918 h 4929580"/>
              <a:gd name="connsiteX55" fmla="*/ 2836984 w 8066912"/>
              <a:gd name="connsiteY55" fmla="*/ 3640041 h 4929580"/>
              <a:gd name="connsiteX56" fmla="*/ 2743200 w 8066912"/>
              <a:gd name="connsiteY56" fmla="*/ 3710380 h 4929580"/>
              <a:gd name="connsiteX57" fmla="*/ 2696307 w 8066912"/>
              <a:gd name="connsiteY57" fmla="*/ 3780718 h 4929580"/>
              <a:gd name="connsiteX58" fmla="*/ 2602523 w 8066912"/>
              <a:gd name="connsiteY58" fmla="*/ 3921395 h 4929580"/>
              <a:gd name="connsiteX59" fmla="*/ 2508738 w 8066912"/>
              <a:gd name="connsiteY59" fmla="*/ 4108964 h 4929580"/>
              <a:gd name="connsiteX60" fmla="*/ 2414954 w 8066912"/>
              <a:gd name="connsiteY60" fmla="*/ 4249641 h 4929580"/>
              <a:gd name="connsiteX61" fmla="*/ 2368061 w 8066912"/>
              <a:gd name="connsiteY61" fmla="*/ 4437211 h 4929580"/>
              <a:gd name="connsiteX62" fmla="*/ 2321169 w 8066912"/>
              <a:gd name="connsiteY62" fmla="*/ 4530995 h 4929580"/>
              <a:gd name="connsiteX63" fmla="*/ 2297723 w 8066912"/>
              <a:gd name="connsiteY63" fmla="*/ 4601334 h 4929580"/>
              <a:gd name="connsiteX64" fmla="*/ 2250830 w 8066912"/>
              <a:gd name="connsiteY64" fmla="*/ 4648226 h 4929580"/>
              <a:gd name="connsiteX65" fmla="*/ 2180492 w 8066912"/>
              <a:gd name="connsiteY65" fmla="*/ 4742011 h 4929580"/>
              <a:gd name="connsiteX66" fmla="*/ 2039815 w 8066912"/>
              <a:gd name="connsiteY66" fmla="*/ 4788903 h 4929580"/>
              <a:gd name="connsiteX67" fmla="*/ 1969477 w 8066912"/>
              <a:gd name="connsiteY67" fmla="*/ 4835795 h 4929580"/>
              <a:gd name="connsiteX68" fmla="*/ 1688123 w 8066912"/>
              <a:gd name="connsiteY68" fmla="*/ 4906134 h 4929580"/>
              <a:gd name="connsiteX69" fmla="*/ 1500554 w 8066912"/>
              <a:gd name="connsiteY69" fmla="*/ 4929580 h 4929580"/>
              <a:gd name="connsiteX70" fmla="*/ 961292 w 8066912"/>
              <a:gd name="connsiteY70" fmla="*/ 4882688 h 4929580"/>
              <a:gd name="connsiteX71" fmla="*/ 890954 w 8066912"/>
              <a:gd name="connsiteY71" fmla="*/ 4835795 h 4929580"/>
              <a:gd name="connsiteX72" fmla="*/ 773723 w 8066912"/>
              <a:gd name="connsiteY72" fmla="*/ 4742011 h 4929580"/>
              <a:gd name="connsiteX73" fmla="*/ 422030 w 8066912"/>
              <a:gd name="connsiteY73" fmla="*/ 4366872 h 4929580"/>
              <a:gd name="connsiteX74" fmla="*/ 351692 w 8066912"/>
              <a:gd name="connsiteY74" fmla="*/ 4296534 h 4929580"/>
              <a:gd name="connsiteX75" fmla="*/ 304800 w 8066912"/>
              <a:gd name="connsiteY75" fmla="*/ 4179303 h 4929580"/>
              <a:gd name="connsiteX76" fmla="*/ 257907 w 8066912"/>
              <a:gd name="connsiteY76" fmla="*/ 4108964 h 4929580"/>
              <a:gd name="connsiteX77" fmla="*/ 211015 w 8066912"/>
              <a:gd name="connsiteY77" fmla="*/ 3874503 h 4929580"/>
              <a:gd name="connsiteX78" fmla="*/ 187569 w 8066912"/>
              <a:gd name="connsiteY78" fmla="*/ 3733826 h 4929580"/>
              <a:gd name="connsiteX79" fmla="*/ 140677 w 8066912"/>
              <a:gd name="connsiteY79" fmla="*/ 3640041 h 4929580"/>
              <a:gd name="connsiteX80" fmla="*/ 117230 w 8066912"/>
              <a:gd name="connsiteY80" fmla="*/ 3429026 h 4929580"/>
              <a:gd name="connsiteX81" fmla="*/ 70338 w 8066912"/>
              <a:gd name="connsiteY81" fmla="*/ 3264903 h 4929580"/>
              <a:gd name="connsiteX82" fmla="*/ 0 w 8066912"/>
              <a:gd name="connsiteY82" fmla="*/ 2866318 h 4929580"/>
              <a:gd name="connsiteX83" fmla="*/ 23446 w 8066912"/>
              <a:gd name="connsiteY83" fmla="*/ 1834688 h 4929580"/>
              <a:gd name="connsiteX84" fmla="*/ 46892 w 8066912"/>
              <a:gd name="connsiteY84" fmla="*/ 1764349 h 4929580"/>
              <a:gd name="connsiteX85" fmla="*/ 93784 w 8066912"/>
              <a:gd name="connsiteY85" fmla="*/ 263795 h 4929580"/>
              <a:gd name="connsiteX86" fmla="*/ 211015 w 8066912"/>
              <a:gd name="connsiteY86" fmla="*/ 146564 h 49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066912" h="4929580">
                <a:moveTo>
                  <a:pt x="93784" y="146564"/>
                </a:moveTo>
                <a:cubicBezTo>
                  <a:pt x="260494" y="113222"/>
                  <a:pt x="304008" y="102702"/>
                  <a:pt x="515815" y="76226"/>
                </a:cubicBezTo>
                <a:cubicBezTo>
                  <a:pt x="601472" y="65519"/>
                  <a:pt x="687754" y="60595"/>
                  <a:pt x="773723" y="52780"/>
                </a:cubicBezTo>
                <a:cubicBezTo>
                  <a:pt x="1165970" y="-45282"/>
                  <a:pt x="882974" y="16608"/>
                  <a:pt x="1805354" y="52780"/>
                </a:cubicBezTo>
                <a:cubicBezTo>
                  <a:pt x="1891611" y="56163"/>
                  <a:pt x="1977106" y="70841"/>
                  <a:pt x="2063261" y="76226"/>
                </a:cubicBezTo>
                <a:cubicBezTo>
                  <a:pt x="2587626" y="108999"/>
                  <a:pt x="2947566" y="123881"/>
                  <a:pt x="3446584" y="146564"/>
                </a:cubicBezTo>
                <a:cubicBezTo>
                  <a:pt x="4157602" y="217668"/>
                  <a:pt x="3271102" y="127067"/>
                  <a:pt x="3868615" y="193457"/>
                </a:cubicBezTo>
                <a:lnTo>
                  <a:pt x="4314092" y="240349"/>
                </a:lnTo>
                <a:cubicBezTo>
                  <a:pt x="4376716" y="247307"/>
                  <a:pt x="4438748" y="260300"/>
                  <a:pt x="4501661" y="263795"/>
                </a:cubicBezTo>
                <a:cubicBezTo>
                  <a:pt x="4720294" y="275941"/>
                  <a:pt x="4939323" y="279426"/>
                  <a:pt x="5158154" y="287241"/>
                </a:cubicBezTo>
                <a:cubicBezTo>
                  <a:pt x="5314462" y="302872"/>
                  <a:pt x="5472127" y="308309"/>
                  <a:pt x="5627077" y="334134"/>
                </a:cubicBezTo>
                <a:cubicBezTo>
                  <a:pt x="5673969" y="341949"/>
                  <a:pt x="5720307" y="354615"/>
                  <a:pt x="5767754" y="357580"/>
                </a:cubicBezTo>
                <a:cubicBezTo>
                  <a:pt x="5970708" y="370265"/>
                  <a:pt x="6174214" y="371792"/>
                  <a:pt x="6377354" y="381026"/>
                </a:cubicBezTo>
                <a:cubicBezTo>
                  <a:pt x="6518102" y="387424"/>
                  <a:pt x="6658707" y="396657"/>
                  <a:pt x="6799384" y="404472"/>
                </a:cubicBezTo>
                <a:cubicBezTo>
                  <a:pt x="6851680" y="411943"/>
                  <a:pt x="7018405" y="432664"/>
                  <a:pt x="7080738" y="451364"/>
                </a:cubicBezTo>
                <a:cubicBezTo>
                  <a:pt x="7243953" y="500329"/>
                  <a:pt x="7148193" y="502055"/>
                  <a:pt x="7315200" y="521703"/>
                </a:cubicBezTo>
                <a:cubicBezTo>
                  <a:pt x="7408665" y="532699"/>
                  <a:pt x="7502769" y="537334"/>
                  <a:pt x="7596554" y="545149"/>
                </a:cubicBezTo>
                <a:cubicBezTo>
                  <a:pt x="7627815" y="552964"/>
                  <a:pt x="7661516" y="554184"/>
                  <a:pt x="7690338" y="568595"/>
                </a:cubicBezTo>
                <a:cubicBezTo>
                  <a:pt x="7765790" y="606321"/>
                  <a:pt x="7900211" y="707559"/>
                  <a:pt x="7948246" y="779611"/>
                </a:cubicBezTo>
                <a:lnTo>
                  <a:pt x="7995138" y="849949"/>
                </a:lnTo>
                <a:cubicBezTo>
                  <a:pt x="8002953" y="873395"/>
                  <a:pt x="8009906" y="897147"/>
                  <a:pt x="8018584" y="920288"/>
                </a:cubicBezTo>
                <a:cubicBezTo>
                  <a:pt x="8033362" y="959695"/>
                  <a:pt x="8063919" y="995460"/>
                  <a:pt x="8065477" y="1037518"/>
                </a:cubicBezTo>
                <a:cubicBezTo>
                  <a:pt x="8071847" y="1209516"/>
                  <a:pt x="8055756" y="1381766"/>
                  <a:pt x="8042030" y="1553334"/>
                </a:cubicBezTo>
                <a:cubicBezTo>
                  <a:pt x="8040059" y="1577970"/>
                  <a:pt x="8029636" y="1601567"/>
                  <a:pt x="8018584" y="1623672"/>
                </a:cubicBezTo>
                <a:cubicBezTo>
                  <a:pt x="8005982" y="1648876"/>
                  <a:pt x="7990543" y="1673066"/>
                  <a:pt x="7971692" y="1694011"/>
                </a:cubicBezTo>
                <a:cubicBezTo>
                  <a:pt x="7885664" y="1789598"/>
                  <a:pt x="7816064" y="1860285"/>
                  <a:pt x="7713784" y="1928472"/>
                </a:cubicBezTo>
                <a:cubicBezTo>
                  <a:pt x="7675867" y="1953750"/>
                  <a:pt x="7638197" y="1980303"/>
                  <a:pt x="7596554" y="1998811"/>
                </a:cubicBezTo>
                <a:cubicBezTo>
                  <a:pt x="7567108" y="2011898"/>
                  <a:pt x="7532941" y="2010943"/>
                  <a:pt x="7502769" y="2022257"/>
                </a:cubicBezTo>
                <a:cubicBezTo>
                  <a:pt x="7280890" y="2105461"/>
                  <a:pt x="7548665" y="2041213"/>
                  <a:pt x="7291754" y="2092595"/>
                </a:cubicBezTo>
                <a:cubicBezTo>
                  <a:pt x="7244862" y="2116041"/>
                  <a:pt x="7200010" y="2144114"/>
                  <a:pt x="7151077" y="2162934"/>
                </a:cubicBezTo>
                <a:cubicBezTo>
                  <a:pt x="7097973" y="2183359"/>
                  <a:pt x="7041930" y="2195166"/>
                  <a:pt x="6986954" y="2209826"/>
                </a:cubicBezTo>
                <a:cubicBezTo>
                  <a:pt x="6924683" y="2226432"/>
                  <a:pt x="6859222" y="2232782"/>
                  <a:pt x="6799384" y="2256718"/>
                </a:cubicBezTo>
                <a:cubicBezTo>
                  <a:pt x="6432501" y="2403474"/>
                  <a:pt x="6891223" y="2226107"/>
                  <a:pt x="6588369" y="2327057"/>
                </a:cubicBezTo>
                <a:cubicBezTo>
                  <a:pt x="6548442" y="2340366"/>
                  <a:pt x="6511450" y="2361855"/>
                  <a:pt x="6471138" y="2373949"/>
                </a:cubicBezTo>
                <a:cubicBezTo>
                  <a:pt x="6432968" y="2385400"/>
                  <a:pt x="6392354" y="2386909"/>
                  <a:pt x="6353907" y="2397395"/>
                </a:cubicBezTo>
                <a:cubicBezTo>
                  <a:pt x="6306220" y="2410401"/>
                  <a:pt x="6259779" y="2427663"/>
                  <a:pt x="6213230" y="2444288"/>
                </a:cubicBezTo>
                <a:cubicBezTo>
                  <a:pt x="6150346" y="2466747"/>
                  <a:pt x="6090083" y="2497057"/>
                  <a:pt x="6025661" y="2514626"/>
                </a:cubicBezTo>
                <a:cubicBezTo>
                  <a:pt x="5757664" y="2587716"/>
                  <a:pt x="5712562" y="2583449"/>
                  <a:pt x="5462954" y="2608411"/>
                </a:cubicBezTo>
                <a:cubicBezTo>
                  <a:pt x="5178697" y="2703163"/>
                  <a:pt x="5465749" y="2615605"/>
                  <a:pt x="5181600" y="2678749"/>
                </a:cubicBezTo>
                <a:cubicBezTo>
                  <a:pt x="5058673" y="2706066"/>
                  <a:pt x="5160845" y="2701298"/>
                  <a:pt x="5017477" y="2749088"/>
                </a:cubicBezTo>
                <a:cubicBezTo>
                  <a:pt x="4982729" y="2760671"/>
                  <a:pt x="4785549" y="2791256"/>
                  <a:pt x="4759569" y="2795980"/>
                </a:cubicBezTo>
                <a:cubicBezTo>
                  <a:pt x="4523267" y="2838944"/>
                  <a:pt x="4772457" y="2803161"/>
                  <a:pt x="4454769" y="2842872"/>
                </a:cubicBezTo>
                <a:cubicBezTo>
                  <a:pt x="4431323" y="2850687"/>
                  <a:pt x="4408407" y="2860324"/>
                  <a:pt x="4384430" y="2866318"/>
                </a:cubicBezTo>
                <a:cubicBezTo>
                  <a:pt x="4345769" y="2875983"/>
                  <a:pt x="4305370" y="2878313"/>
                  <a:pt x="4267200" y="2889764"/>
                </a:cubicBezTo>
                <a:cubicBezTo>
                  <a:pt x="4226888" y="2901858"/>
                  <a:pt x="4190195" y="2924280"/>
                  <a:pt x="4149969" y="2936657"/>
                </a:cubicBezTo>
                <a:cubicBezTo>
                  <a:pt x="4088372" y="2955610"/>
                  <a:pt x="4024923" y="2967918"/>
                  <a:pt x="3962400" y="2983549"/>
                </a:cubicBezTo>
                <a:cubicBezTo>
                  <a:pt x="3820658" y="3018984"/>
                  <a:pt x="3899191" y="2996803"/>
                  <a:pt x="3727938" y="3053888"/>
                </a:cubicBezTo>
                <a:cubicBezTo>
                  <a:pt x="3704492" y="3061703"/>
                  <a:pt x="3679705" y="3066282"/>
                  <a:pt x="3657600" y="3077334"/>
                </a:cubicBezTo>
                <a:cubicBezTo>
                  <a:pt x="3593418" y="3109425"/>
                  <a:pt x="3548710" y="3126931"/>
                  <a:pt x="3493477" y="3171118"/>
                </a:cubicBezTo>
                <a:cubicBezTo>
                  <a:pt x="3476215" y="3184927"/>
                  <a:pt x="3465539" y="3206638"/>
                  <a:pt x="3446584" y="3218011"/>
                </a:cubicBezTo>
                <a:cubicBezTo>
                  <a:pt x="3425392" y="3230726"/>
                  <a:pt x="3398351" y="3230405"/>
                  <a:pt x="3376246" y="3241457"/>
                </a:cubicBezTo>
                <a:cubicBezTo>
                  <a:pt x="3351042" y="3254059"/>
                  <a:pt x="3329353" y="3272718"/>
                  <a:pt x="3305907" y="3288349"/>
                </a:cubicBezTo>
                <a:cubicBezTo>
                  <a:pt x="3298092" y="3311795"/>
                  <a:pt x="3299937" y="3341212"/>
                  <a:pt x="3282461" y="3358688"/>
                </a:cubicBezTo>
                <a:cubicBezTo>
                  <a:pt x="3257747" y="3383402"/>
                  <a:pt x="3219023" y="3388239"/>
                  <a:pt x="3188677" y="3405580"/>
                </a:cubicBezTo>
                <a:cubicBezTo>
                  <a:pt x="3061415" y="3478301"/>
                  <a:pt x="3176960" y="3432931"/>
                  <a:pt x="3048000" y="3475918"/>
                </a:cubicBezTo>
                <a:cubicBezTo>
                  <a:pt x="2739282" y="3681731"/>
                  <a:pt x="3029809" y="3474763"/>
                  <a:pt x="2836984" y="3640041"/>
                </a:cubicBezTo>
                <a:cubicBezTo>
                  <a:pt x="2807315" y="3665472"/>
                  <a:pt x="2770832" y="3682748"/>
                  <a:pt x="2743200" y="3710380"/>
                </a:cubicBezTo>
                <a:cubicBezTo>
                  <a:pt x="2723275" y="3730305"/>
                  <a:pt x="2713910" y="3758714"/>
                  <a:pt x="2696307" y="3780718"/>
                </a:cubicBezTo>
                <a:cubicBezTo>
                  <a:pt x="2600835" y="3900058"/>
                  <a:pt x="2697036" y="3732368"/>
                  <a:pt x="2602523" y="3921395"/>
                </a:cubicBezTo>
                <a:cubicBezTo>
                  <a:pt x="2566860" y="4064047"/>
                  <a:pt x="2601733" y="3976114"/>
                  <a:pt x="2508738" y="4108964"/>
                </a:cubicBezTo>
                <a:cubicBezTo>
                  <a:pt x="2476419" y="4155134"/>
                  <a:pt x="2414954" y="4249641"/>
                  <a:pt x="2414954" y="4249641"/>
                </a:cubicBezTo>
                <a:cubicBezTo>
                  <a:pt x="2401193" y="4318444"/>
                  <a:pt x="2395096" y="4374129"/>
                  <a:pt x="2368061" y="4437211"/>
                </a:cubicBezTo>
                <a:cubicBezTo>
                  <a:pt x="2354293" y="4469336"/>
                  <a:pt x="2334937" y="4498870"/>
                  <a:pt x="2321169" y="4530995"/>
                </a:cubicBezTo>
                <a:cubicBezTo>
                  <a:pt x="2311434" y="4553711"/>
                  <a:pt x="2310439" y="4580141"/>
                  <a:pt x="2297723" y="4601334"/>
                </a:cubicBezTo>
                <a:cubicBezTo>
                  <a:pt x="2286350" y="4620289"/>
                  <a:pt x="2264982" y="4631244"/>
                  <a:pt x="2250830" y="4648226"/>
                </a:cubicBezTo>
                <a:cubicBezTo>
                  <a:pt x="2225814" y="4678246"/>
                  <a:pt x="2213006" y="4720335"/>
                  <a:pt x="2180492" y="4742011"/>
                </a:cubicBezTo>
                <a:cubicBezTo>
                  <a:pt x="2139365" y="4769429"/>
                  <a:pt x="2086707" y="4773272"/>
                  <a:pt x="2039815" y="4788903"/>
                </a:cubicBezTo>
                <a:cubicBezTo>
                  <a:pt x="2016369" y="4804534"/>
                  <a:pt x="1995227" y="4824351"/>
                  <a:pt x="1969477" y="4835795"/>
                </a:cubicBezTo>
                <a:cubicBezTo>
                  <a:pt x="1867692" y="4881033"/>
                  <a:pt x="1796776" y="4890612"/>
                  <a:pt x="1688123" y="4906134"/>
                </a:cubicBezTo>
                <a:cubicBezTo>
                  <a:pt x="1625747" y="4915045"/>
                  <a:pt x="1563077" y="4921765"/>
                  <a:pt x="1500554" y="4929580"/>
                </a:cubicBezTo>
                <a:cubicBezTo>
                  <a:pt x="1320800" y="4913949"/>
                  <a:pt x="1139626" y="4910124"/>
                  <a:pt x="961292" y="4882688"/>
                </a:cubicBezTo>
                <a:cubicBezTo>
                  <a:pt x="933441" y="4878403"/>
                  <a:pt x="913497" y="4852702"/>
                  <a:pt x="890954" y="4835795"/>
                </a:cubicBezTo>
                <a:cubicBezTo>
                  <a:pt x="850920" y="4805769"/>
                  <a:pt x="810612" y="4775826"/>
                  <a:pt x="773723" y="4742011"/>
                </a:cubicBezTo>
                <a:cubicBezTo>
                  <a:pt x="614940" y="4596460"/>
                  <a:pt x="573559" y="4532177"/>
                  <a:pt x="422030" y="4366872"/>
                </a:cubicBezTo>
                <a:cubicBezTo>
                  <a:pt x="399625" y="4342430"/>
                  <a:pt x="375138" y="4319980"/>
                  <a:pt x="351692" y="4296534"/>
                </a:cubicBezTo>
                <a:cubicBezTo>
                  <a:pt x="336061" y="4257457"/>
                  <a:pt x="323622" y="4216947"/>
                  <a:pt x="304800" y="4179303"/>
                </a:cubicBezTo>
                <a:cubicBezTo>
                  <a:pt x="292198" y="4154099"/>
                  <a:pt x="266194" y="4135897"/>
                  <a:pt x="257907" y="4108964"/>
                </a:cubicBezTo>
                <a:cubicBezTo>
                  <a:pt x="234468" y="4032787"/>
                  <a:pt x="225703" y="3952839"/>
                  <a:pt x="211015" y="3874503"/>
                </a:cubicBezTo>
                <a:cubicBezTo>
                  <a:pt x="202254" y="3827778"/>
                  <a:pt x="201229" y="3779360"/>
                  <a:pt x="187569" y="3733826"/>
                </a:cubicBezTo>
                <a:cubicBezTo>
                  <a:pt x="177526" y="3700348"/>
                  <a:pt x="156308" y="3671303"/>
                  <a:pt x="140677" y="3640041"/>
                </a:cubicBezTo>
                <a:cubicBezTo>
                  <a:pt x="132861" y="3569703"/>
                  <a:pt x="130272" y="3498585"/>
                  <a:pt x="117230" y="3429026"/>
                </a:cubicBezTo>
                <a:cubicBezTo>
                  <a:pt x="106744" y="3373104"/>
                  <a:pt x="83370" y="3320287"/>
                  <a:pt x="70338" y="3264903"/>
                </a:cubicBezTo>
                <a:cubicBezTo>
                  <a:pt x="28353" y="3086464"/>
                  <a:pt x="23801" y="3032923"/>
                  <a:pt x="0" y="2866318"/>
                </a:cubicBezTo>
                <a:cubicBezTo>
                  <a:pt x="7815" y="2522441"/>
                  <a:pt x="8822" y="2178342"/>
                  <a:pt x="23446" y="1834688"/>
                </a:cubicBezTo>
                <a:cubicBezTo>
                  <a:pt x="24497" y="1809996"/>
                  <a:pt x="45786" y="1789039"/>
                  <a:pt x="46892" y="1764349"/>
                </a:cubicBezTo>
                <a:cubicBezTo>
                  <a:pt x="69277" y="1264421"/>
                  <a:pt x="43275" y="761668"/>
                  <a:pt x="93784" y="263795"/>
                </a:cubicBezTo>
                <a:cubicBezTo>
                  <a:pt x="99362" y="208814"/>
                  <a:pt x="211015" y="146564"/>
                  <a:pt x="211015" y="14656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6" name="Freeform: Shape 15">
            <a:extLst>
              <a:ext uri="{FF2B5EF4-FFF2-40B4-BE49-F238E27FC236}">
                <a16:creationId xmlns:a16="http://schemas.microsoft.com/office/drawing/2014/main" id="{9D661513-30A7-BC9E-1CC8-7CF0D4E6F7CE}"/>
              </a:ext>
            </a:extLst>
          </p:cNvPr>
          <p:cNvSpPr/>
          <p:nvPr/>
        </p:nvSpPr>
        <p:spPr>
          <a:xfrm>
            <a:off x="4897996" y="2083437"/>
            <a:ext cx="6107106" cy="1274474"/>
          </a:xfrm>
          <a:custGeom>
            <a:avLst/>
            <a:gdLst>
              <a:gd name="connsiteX0" fmla="*/ 95732 w 12217393"/>
              <a:gd name="connsiteY0" fmla="*/ 328246 h 2549612"/>
              <a:gd name="connsiteX1" fmla="*/ 470870 w 12217393"/>
              <a:gd name="connsiteY1" fmla="*/ 351692 h 2549612"/>
              <a:gd name="connsiteX2" fmla="*/ 1525947 w 12217393"/>
              <a:gd name="connsiteY2" fmla="*/ 398584 h 2549612"/>
              <a:gd name="connsiteX3" fmla="*/ 2510686 w 12217393"/>
              <a:gd name="connsiteY3" fmla="*/ 375138 h 2549612"/>
              <a:gd name="connsiteX4" fmla="*/ 2604470 w 12217393"/>
              <a:gd name="connsiteY4" fmla="*/ 351692 h 2549612"/>
              <a:gd name="connsiteX5" fmla="*/ 2745147 w 12217393"/>
              <a:gd name="connsiteY5" fmla="*/ 328246 h 2549612"/>
              <a:gd name="connsiteX6" fmla="*/ 2838932 w 12217393"/>
              <a:gd name="connsiteY6" fmla="*/ 304800 h 2549612"/>
              <a:gd name="connsiteX7" fmla="*/ 3682993 w 12217393"/>
              <a:gd name="connsiteY7" fmla="*/ 281354 h 2549612"/>
              <a:gd name="connsiteX8" fmla="*/ 4105024 w 12217393"/>
              <a:gd name="connsiteY8" fmla="*/ 257908 h 2549612"/>
              <a:gd name="connsiteX9" fmla="*/ 4456717 w 12217393"/>
              <a:gd name="connsiteY9" fmla="*/ 234461 h 2549612"/>
              <a:gd name="connsiteX10" fmla="*/ 5253886 w 12217393"/>
              <a:gd name="connsiteY10" fmla="*/ 211015 h 2549612"/>
              <a:gd name="connsiteX11" fmla="*/ 5769701 w 12217393"/>
              <a:gd name="connsiteY11" fmla="*/ 187569 h 2549612"/>
              <a:gd name="connsiteX12" fmla="*/ 6051055 w 12217393"/>
              <a:gd name="connsiteY12" fmla="*/ 140677 h 2549612"/>
              <a:gd name="connsiteX13" fmla="*/ 6543424 w 12217393"/>
              <a:gd name="connsiteY13" fmla="*/ 117231 h 2549612"/>
              <a:gd name="connsiteX14" fmla="*/ 6801332 w 12217393"/>
              <a:gd name="connsiteY14" fmla="*/ 70338 h 2549612"/>
              <a:gd name="connsiteX15" fmla="*/ 6988901 w 12217393"/>
              <a:gd name="connsiteY15" fmla="*/ 46892 h 2549612"/>
              <a:gd name="connsiteX16" fmla="*/ 7387486 w 12217393"/>
              <a:gd name="connsiteY16" fmla="*/ 23446 h 2549612"/>
              <a:gd name="connsiteX17" fmla="*/ 8723917 w 12217393"/>
              <a:gd name="connsiteY17" fmla="*/ 0 h 2549612"/>
              <a:gd name="connsiteX18" fmla="*/ 9990009 w 12217393"/>
              <a:gd name="connsiteY18" fmla="*/ 70338 h 2549612"/>
              <a:gd name="connsiteX19" fmla="*/ 10529270 w 12217393"/>
              <a:gd name="connsiteY19" fmla="*/ 164123 h 2549612"/>
              <a:gd name="connsiteX20" fmla="*/ 11045086 w 12217393"/>
              <a:gd name="connsiteY20" fmla="*/ 281354 h 2549612"/>
              <a:gd name="connsiteX21" fmla="*/ 11373332 w 12217393"/>
              <a:gd name="connsiteY21" fmla="*/ 351692 h 2549612"/>
              <a:gd name="connsiteX22" fmla="*/ 11514009 w 12217393"/>
              <a:gd name="connsiteY22" fmla="*/ 398584 h 2549612"/>
              <a:gd name="connsiteX23" fmla="*/ 11607793 w 12217393"/>
              <a:gd name="connsiteY23" fmla="*/ 422031 h 2549612"/>
              <a:gd name="connsiteX24" fmla="*/ 11771917 w 12217393"/>
              <a:gd name="connsiteY24" fmla="*/ 492369 h 2549612"/>
              <a:gd name="connsiteX25" fmla="*/ 11842255 w 12217393"/>
              <a:gd name="connsiteY25" fmla="*/ 562708 h 2549612"/>
              <a:gd name="connsiteX26" fmla="*/ 11959486 w 12217393"/>
              <a:gd name="connsiteY26" fmla="*/ 656492 h 2549612"/>
              <a:gd name="connsiteX27" fmla="*/ 12076717 w 12217393"/>
              <a:gd name="connsiteY27" fmla="*/ 867508 h 2549612"/>
              <a:gd name="connsiteX28" fmla="*/ 12147055 w 12217393"/>
              <a:gd name="connsiteY28" fmla="*/ 961292 h 2549612"/>
              <a:gd name="connsiteX29" fmla="*/ 12170501 w 12217393"/>
              <a:gd name="connsiteY29" fmla="*/ 1031631 h 2549612"/>
              <a:gd name="connsiteX30" fmla="*/ 12217393 w 12217393"/>
              <a:gd name="connsiteY30" fmla="*/ 1219200 h 2549612"/>
              <a:gd name="connsiteX31" fmla="*/ 12193947 w 12217393"/>
              <a:gd name="connsiteY31" fmla="*/ 1570892 h 2549612"/>
              <a:gd name="connsiteX32" fmla="*/ 12123609 w 12217393"/>
              <a:gd name="connsiteY32" fmla="*/ 1664677 h 2549612"/>
              <a:gd name="connsiteX33" fmla="*/ 11982932 w 12217393"/>
              <a:gd name="connsiteY33" fmla="*/ 1758461 h 2549612"/>
              <a:gd name="connsiteX34" fmla="*/ 10177578 w 12217393"/>
              <a:gd name="connsiteY34" fmla="*/ 1735015 h 2549612"/>
              <a:gd name="connsiteX35" fmla="*/ 9661763 w 12217393"/>
              <a:gd name="connsiteY35" fmla="*/ 1688123 h 2549612"/>
              <a:gd name="connsiteX36" fmla="*/ 9356963 w 12217393"/>
              <a:gd name="connsiteY36" fmla="*/ 1664677 h 2549612"/>
              <a:gd name="connsiteX37" fmla="*/ 8114317 w 12217393"/>
              <a:gd name="connsiteY37" fmla="*/ 1711569 h 2549612"/>
              <a:gd name="connsiteX38" fmla="*/ 3448532 w 12217393"/>
              <a:gd name="connsiteY38" fmla="*/ 1758461 h 2549612"/>
              <a:gd name="connsiteX39" fmla="*/ 3307855 w 12217393"/>
              <a:gd name="connsiteY39" fmla="*/ 1781908 h 2549612"/>
              <a:gd name="connsiteX40" fmla="*/ 3214070 w 12217393"/>
              <a:gd name="connsiteY40" fmla="*/ 1828800 h 2549612"/>
              <a:gd name="connsiteX41" fmla="*/ 2979609 w 12217393"/>
              <a:gd name="connsiteY41" fmla="*/ 1969477 h 2549612"/>
              <a:gd name="connsiteX42" fmla="*/ 2885824 w 12217393"/>
              <a:gd name="connsiteY42" fmla="*/ 2039815 h 2549612"/>
              <a:gd name="connsiteX43" fmla="*/ 2627917 w 12217393"/>
              <a:gd name="connsiteY43" fmla="*/ 2157046 h 2549612"/>
              <a:gd name="connsiteX44" fmla="*/ 2534132 w 12217393"/>
              <a:gd name="connsiteY44" fmla="*/ 2203938 h 2549612"/>
              <a:gd name="connsiteX45" fmla="*/ 2346563 w 12217393"/>
              <a:gd name="connsiteY45" fmla="*/ 2250831 h 2549612"/>
              <a:gd name="connsiteX46" fmla="*/ 2182440 w 12217393"/>
              <a:gd name="connsiteY46" fmla="*/ 2321169 h 2549612"/>
              <a:gd name="connsiteX47" fmla="*/ 2041763 w 12217393"/>
              <a:gd name="connsiteY47" fmla="*/ 2344615 h 2549612"/>
              <a:gd name="connsiteX48" fmla="*/ 1924532 w 12217393"/>
              <a:gd name="connsiteY48" fmla="*/ 2368061 h 2549612"/>
              <a:gd name="connsiteX49" fmla="*/ 1643178 w 12217393"/>
              <a:gd name="connsiteY49" fmla="*/ 2414954 h 2549612"/>
              <a:gd name="connsiteX50" fmla="*/ 1525947 w 12217393"/>
              <a:gd name="connsiteY50" fmla="*/ 2438400 h 2549612"/>
              <a:gd name="connsiteX51" fmla="*/ 1221147 w 12217393"/>
              <a:gd name="connsiteY51" fmla="*/ 2461846 h 2549612"/>
              <a:gd name="connsiteX52" fmla="*/ 119178 w 12217393"/>
              <a:gd name="connsiteY52" fmla="*/ 2321169 h 2549612"/>
              <a:gd name="connsiteX53" fmla="*/ 95732 w 12217393"/>
              <a:gd name="connsiteY53" fmla="*/ 2203938 h 2549612"/>
              <a:gd name="connsiteX54" fmla="*/ 48840 w 12217393"/>
              <a:gd name="connsiteY54" fmla="*/ 2110154 h 2549612"/>
              <a:gd name="connsiteX55" fmla="*/ 48840 w 12217393"/>
              <a:gd name="connsiteY55" fmla="*/ 750277 h 2549612"/>
              <a:gd name="connsiteX56" fmla="*/ 72286 w 12217393"/>
              <a:gd name="connsiteY56" fmla="*/ 398584 h 254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2217393" h="2549612">
                <a:moveTo>
                  <a:pt x="95732" y="328246"/>
                </a:moveTo>
                <a:cubicBezTo>
                  <a:pt x="220778" y="336061"/>
                  <a:pt x="345676" y="346782"/>
                  <a:pt x="470870" y="351692"/>
                </a:cubicBezTo>
                <a:cubicBezTo>
                  <a:pt x="1527448" y="393126"/>
                  <a:pt x="974002" y="343390"/>
                  <a:pt x="1525947" y="398584"/>
                </a:cubicBezTo>
                <a:lnTo>
                  <a:pt x="2510686" y="375138"/>
                </a:lnTo>
                <a:cubicBezTo>
                  <a:pt x="2542879" y="373738"/>
                  <a:pt x="2572872" y="358012"/>
                  <a:pt x="2604470" y="351692"/>
                </a:cubicBezTo>
                <a:cubicBezTo>
                  <a:pt x="2651086" y="342369"/>
                  <a:pt x="2698531" y="337569"/>
                  <a:pt x="2745147" y="328246"/>
                </a:cubicBezTo>
                <a:cubicBezTo>
                  <a:pt x="2776745" y="321926"/>
                  <a:pt x="2806748" y="306409"/>
                  <a:pt x="2838932" y="304800"/>
                </a:cubicBezTo>
                <a:cubicBezTo>
                  <a:pt x="3120043" y="290745"/>
                  <a:pt x="3401724" y="291771"/>
                  <a:pt x="3682993" y="281354"/>
                </a:cubicBezTo>
                <a:cubicBezTo>
                  <a:pt x="3823790" y="276139"/>
                  <a:pt x="3964388" y="266432"/>
                  <a:pt x="4105024" y="257908"/>
                </a:cubicBezTo>
                <a:cubicBezTo>
                  <a:pt x="4222300" y="250800"/>
                  <a:pt x="4339324" y="239253"/>
                  <a:pt x="4456717" y="234461"/>
                </a:cubicBezTo>
                <a:cubicBezTo>
                  <a:pt x="4722334" y="223619"/>
                  <a:pt x="4988217" y="220503"/>
                  <a:pt x="5253886" y="211015"/>
                </a:cubicBezTo>
                <a:lnTo>
                  <a:pt x="5769701" y="187569"/>
                </a:lnTo>
                <a:cubicBezTo>
                  <a:pt x="5859567" y="169596"/>
                  <a:pt x="5960578" y="147140"/>
                  <a:pt x="6051055" y="140677"/>
                </a:cubicBezTo>
                <a:cubicBezTo>
                  <a:pt x="6214946" y="128971"/>
                  <a:pt x="6379301" y="125046"/>
                  <a:pt x="6543424" y="117231"/>
                </a:cubicBezTo>
                <a:cubicBezTo>
                  <a:pt x="6644414" y="97032"/>
                  <a:pt x="6696329" y="85338"/>
                  <a:pt x="6801332" y="70338"/>
                </a:cubicBezTo>
                <a:cubicBezTo>
                  <a:pt x="6863708" y="61427"/>
                  <a:pt x="6926092" y="51917"/>
                  <a:pt x="6988901" y="46892"/>
                </a:cubicBezTo>
                <a:cubicBezTo>
                  <a:pt x="7121568" y="36279"/>
                  <a:pt x="7254443" y="27042"/>
                  <a:pt x="7387486" y="23446"/>
                </a:cubicBezTo>
                <a:lnTo>
                  <a:pt x="8723917" y="0"/>
                </a:lnTo>
                <a:cubicBezTo>
                  <a:pt x="8907245" y="7971"/>
                  <a:pt x="9613144" y="9553"/>
                  <a:pt x="9990009" y="70338"/>
                </a:cubicBezTo>
                <a:cubicBezTo>
                  <a:pt x="10170133" y="99390"/>
                  <a:pt x="10354513" y="111696"/>
                  <a:pt x="10529270" y="164123"/>
                </a:cubicBezTo>
                <a:cubicBezTo>
                  <a:pt x="11007020" y="307447"/>
                  <a:pt x="10505875" y="167835"/>
                  <a:pt x="11045086" y="281354"/>
                </a:cubicBezTo>
                <a:cubicBezTo>
                  <a:pt x="11503731" y="377911"/>
                  <a:pt x="10918430" y="286706"/>
                  <a:pt x="11373332" y="351692"/>
                </a:cubicBezTo>
                <a:cubicBezTo>
                  <a:pt x="11420224" y="367323"/>
                  <a:pt x="11466665" y="384381"/>
                  <a:pt x="11514009" y="398584"/>
                </a:cubicBezTo>
                <a:cubicBezTo>
                  <a:pt x="11544874" y="407843"/>
                  <a:pt x="11578175" y="409337"/>
                  <a:pt x="11607793" y="422031"/>
                </a:cubicBezTo>
                <a:cubicBezTo>
                  <a:pt x="11834467" y="519178"/>
                  <a:pt x="11502679" y="425060"/>
                  <a:pt x="11771917" y="492369"/>
                </a:cubicBezTo>
                <a:cubicBezTo>
                  <a:pt x="11795363" y="515815"/>
                  <a:pt x="11817301" y="540873"/>
                  <a:pt x="11842255" y="562708"/>
                </a:cubicBezTo>
                <a:cubicBezTo>
                  <a:pt x="11879916" y="595661"/>
                  <a:pt x="11924100" y="621106"/>
                  <a:pt x="11959486" y="656492"/>
                </a:cubicBezTo>
                <a:cubicBezTo>
                  <a:pt x="12000766" y="697772"/>
                  <a:pt x="12058324" y="836853"/>
                  <a:pt x="12076717" y="867508"/>
                </a:cubicBezTo>
                <a:cubicBezTo>
                  <a:pt x="12096822" y="901016"/>
                  <a:pt x="12123609" y="930031"/>
                  <a:pt x="12147055" y="961292"/>
                </a:cubicBezTo>
                <a:cubicBezTo>
                  <a:pt x="12154870" y="984738"/>
                  <a:pt x="12163998" y="1007787"/>
                  <a:pt x="12170501" y="1031631"/>
                </a:cubicBezTo>
                <a:cubicBezTo>
                  <a:pt x="12187458" y="1093807"/>
                  <a:pt x="12217393" y="1219200"/>
                  <a:pt x="12217393" y="1219200"/>
                </a:cubicBezTo>
                <a:cubicBezTo>
                  <a:pt x="12209578" y="1336431"/>
                  <a:pt x="12218151" y="1455921"/>
                  <a:pt x="12193947" y="1570892"/>
                </a:cubicBezTo>
                <a:cubicBezTo>
                  <a:pt x="12185897" y="1609131"/>
                  <a:pt x="12152815" y="1638716"/>
                  <a:pt x="12123609" y="1664677"/>
                </a:cubicBezTo>
                <a:cubicBezTo>
                  <a:pt x="12081487" y="1702119"/>
                  <a:pt x="11982932" y="1758461"/>
                  <a:pt x="11982932" y="1758461"/>
                </a:cubicBezTo>
                <a:lnTo>
                  <a:pt x="10177578" y="1735015"/>
                </a:lnTo>
                <a:cubicBezTo>
                  <a:pt x="9968894" y="1730378"/>
                  <a:pt x="9858294" y="1705989"/>
                  <a:pt x="9661763" y="1688123"/>
                </a:cubicBezTo>
                <a:cubicBezTo>
                  <a:pt x="9560281" y="1678897"/>
                  <a:pt x="9458563" y="1672492"/>
                  <a:pt x="9356963" y="1664677"/>
                </a:cubicBezTo>
                <a:cubicBezTo>
                  <a:pt x="8806239" y="1704014"/>
                  <a:pt x="8911432" y="1701521"/>
                  <a:pt x="8114317" y="1711569"/>
                </a:cubicBezTo>
                <a:lnTo>
                  <a:pt x="3448532" y="1758461"/>
                </a:lnTo>
                <a:cubicBezTo>
                  <a:pt x="3401640" y="1766277"/>
                  <a:pt x="3353389" y="1768248"/>
                  <a:pt x="3307855" y="1781908"/>
                </a:cubicBezTo>
                <a:cubicBezTo>
                  <a:pt x="3274378" y="1791951"/>
                  <a:pt x="3244416" y="1811459"/>
                  <a:pt x="3214070" y="1828800"/>
                </a:cubicBezTo>
                <a:cubicBezTo>
                  <a:pt x="3134936" y="1874019"/>
                  <a:pt x="3052523" y="1914792"/>
                  <a:pt x="2979609" y="1969477"/>
                </a:cubicBezTo>
                <a:cubicBezTo>
                  <a:pt x="2948347" y="1992923"/>
                  <a:pt x="2918961" y="2019104"/>
                  <a:pt x="2885824" y="2039815"/>
                </a:cubicBezTo>
                <a:cubicBezTo>
                  <a:pt x="2829048" y="2075300"/>
                  <a:pt x="2670484" y="2137697"/>
                  <a:pt x="2627917" y="2157046"/>
                </a:cubicBezTo>
                <a:cubicBezTo>
                  <a:pt x="2596098" y="2171509"/>
                  <a:pt x="2567290" y="2192885"/>
                  <a:pt x="2534132" y="2203938"/>
                </a:cubicBezTo>
                <a:cubicBezTo>
                  <a:pt x="2472992" y="2224318"/>
                  <a:pt x="2405799" y="2225444"/>
                  <a:pt x="2346563" y="2250831"/>
                </a:cubicBezTo>
                <a:cubicBezTo>
                  <a:pt x="2291855" y="2274277"/>
                  <a:pt x="2239328" y="2303665"/>
                  <a:pt x="2182440" y="2321169"/>
                </a:cubicBezTo>
                <a:cubicBezTo>
                  <a:pt x="2137003" y="2335150"/>
                  <a:pt x="2088535" y="2336111"/>
                  <a:pt x="2041763" y="2344615"/>
                </a:cubicBezTo>
                <a:cubicBezTo>
                  <a:pt x="2002555" y="2351744"/>
                  <a:pt x="1963776" y="2361135"/>
                  <a:pt x="1924532" y="2368061"/>
                </a:cubicBezTo>
                <a:cubicBezTo>
                  <a:pt x="1830900" y="2384584"/>
                  <a:pt x="1736410" y="2396308"/>
                  <a:pt x="1643178" y="2414954"/>
                </a:cubicBezTo>
                <a:cubicBezTo>
                  <a:pt x="1604101" y="2422769"/>
                  <a:pt x="1565554" y="2433999"/>
                  <a:pt x="1525947" y="2438400"/>
                </a:cubicBezTo>
                <a:cubicBezTo>
                  <a:pt x="1424670" y="2449653"/>
                  <a:pt x="1322747" y="2454031"/>
                  <a:pt x="1221147" y="2461846"/>
                </a:cubicBezTo>
                <a:cubicBezTo>
                  <a:pt x="249151" y="2419586"/>
                  <a:pt x="217477" y="2763517"/>
                  <a:pt x="119178" y="2321169"/>
                </a:cubicBezTo>
                <a:cubicBezTo>
                  <a:pt x="110533" y="2282267"/>
                  <a:pt x="108334" y="2241744"/>
                  <a:pt x="95732" y="2203938"/>
                </a:cubicBezTo>
                <a:cubicBezTo>
                  <a:pt x="84679" y="2170780"/>
                  <a:pt x="64471" y="2141415"/>
                  <a:pt x="48840" y="2110154"/>
                </a:cubicBezTo>
                <a:cubicBezTo>
                  <a:pt x="-40045" y="1576860"/>
                  <a:pt x="12611" y="1945805"/>
                  <a:pt x="48840" y="750277"/>
                </a:cubicBezTo>
                <a:cubicBezTo>
                  <a:pt x="72843" y="-41805"/>
                  <a:pt x="72286" y="564218"/>
                  <a:pt x="72286" y="39858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7" name="Freeform: Shape 16">
            <a:extLst>
              <a:ext uri="{FF2B5EF4-FFF2-40B4-BE49-F238E27FC236}">
                <a16:creationId xmlns:a16="http://schemas.microsoft.com/office/drawing/2014/main" id="{DB0A0FB8-7731-D334-A1AC-CF4E8FD99D36}"/>
              </a:ext>
            </a:extLst>
          </p:cNvPr>
          <p:cNvSpPr/>
          <p:nvPr/>
        </p:nvSpPr>
        <p:spPr>
          <a:xfrm>
            <a:off x="6749775" y="2889739"/>
            <a:ext cx="3704486" cy="2478594"/>
          </a:xfrm>
          <a:custGeom>
            <a:avLst/>
            <a:gdLst>
              <a:gd name="connsiteX0" fmla="*/ 25363 w 7410901"/>
              <a:gd name="connsiteY0" fmla="*/ 351692 h 5251939"/>
              <a:gd name="connsiteX1" fmla="*/ 95701 w 7410901"/>
              <a:gd name="connsiteY1" fmla="*/ 1266092 h 5251939"/>
              <a:gd name="connsiteX2" fmla="*/ 119147 w 7410901"/>
              <a:gd name="connsiteY2" fmla="*/ 1336431 h 5251939"/>
              <a:gd name="connsiteX3" fmla="*/ 142594 w 7410901"/>
              <a:gd name="connsiteY3" fmla="*/ 1430215 h 5251939"/>
              <a:gd name="connsiteX4" fmla="*/ 189486 w 7410901"/>
              <a:gd name="connsiteY4" fmla="*/ 1524000 h 5251939"/>
              <a:gd name="connsiteX5" fmla="*/ 212932 w 7410901"/>
              <a:gd name="connsiteY5" fmla="*/ 1641231 h 5251939"/>
              <a:gd name="connsiteX6" fmla="*/ 259824 w 7410901"/>
              <a:gd name="connsiteY6" fmla="*/ 1735015 h 5251939"/>
              <a:gd name="connsiteX7" fmla="*/ 306717 w 7410901"/>
              <a:gd name="connsiteY7" fmla="*/ 2133600 h 5251939"/>
              <a:gd name="connsiteX8" fmla="*/ 353609 w 7410901"/>
              <a:gd name="connsiteY8" fmla="*/ 2368062 h 5251939"/>
              <a:gd name="connsiteX9" fmla="*/ 400501 w 7410901"/>
              <a:gd name="connsiteY9" fmla="*/ 2883877 h 5251939"/>
              <a:gd name="connsiteX10" fmla="*/ 447394 w 7410901"/>
              <a:gd name="connsiteY10" fmla="*/ 3071446 h 5251939"/>
              <a:gd name="connsiteX11" fmla="*/ 564624 w 7410901"/>
              <a:gd name="connsiteY11" fmla="*/ 3470031 h 5251939"/>
              <a:gd name="connsiteX12" fmla="*/ 588070 w 7410901"/>
              <a:gd name="connsiteY12" fmla="*/ 3610708 h 5251939"/>
              <a:gd name="connsiteX13" fmla="*/ 658409 w 7410901"/>
              <a:gd name="connsiteY13" fmla="*/ 3727939 h 5251939"/>
              <a:gd name="connsiteX14" fmla="*/ 705301 w 7410901"/>
              <a:gd name="connsiteY14" fmla="*/ 3845169 h 5251939"/>
              <a:gd name="connsiteX15" fmla="*/ 752194 w 7410901"/>
              <a:gd name="connsiteY15" fmla="*/ 3915508 h 5251939"/>
              <a:gd name="connsiteX16" fmla="*/ 799086 w 7410901"/>
              <a:gd name="connsiteY16" fmla="*/ 4009292 h 5251939"/>
              <a:gd name="connsiteX17" fmla="*/ 845978 w 7410901"/>
              <a:gd name="connsiteY17" fmla="*/ 4079631 h 5251939"/>
              <a:gd name="connsiteX18" fmla="*/ 892870 w 7410901"/>
              <a:gd name="connsiteY18" fmla="*/ 4173415 h 5251939"/>
              <a:gd name="connsiteX19" fmla="*/ 939763 w 7410901"/>
              <a:gd name="connsiteY19" fmla="*/ 4243754 h 5251939"/>
              <a:gd name="connsiteX20" fmla="*/ 1010101 w 7410901"/>
              <a:gd name="connsiteY20" fmla="*/ 4407877 h 5251939"/>
              <a:gd name="connsiteX21" fmla="*/ 1080440 w 7410901"/>
              <a:gd name="connsiteY21" fmla="*/ 4478215 h 5251939"/>
              <a:gd name="connsiteX22" fmla="*/ 1174224 w 7410901"/>
              <a:gd name="connsiteY22" fmla="*/ 4618892 h 5251939"/>
              <a:gd name="connsiteX23" fmla="*/ 1291455 w 7410901"/>
              <a:gd name="connsiteY23" fmla="*/ 4712677 h 5251939"/>
              <a:gd name="connsiteX24" fmla="*/ 1432132 w 7410901"/>
              <a:gd name="connsiteY24" fmla="*/ 4853354 h 5251939"/>
              <a:gd name="connsiteX25" fmla="*/ 1549363 w 7410901"/>
              <a:gd name="connsiteY25" fmla="*/ 4900246 h 5251939"/>
              <a:gd name="connsiteX26" fmla="*/ 1877609 w 7410901"/>
              <a:gd name="connsiteY26" fmla="*/ 5017477 h 5251939"/>
              <a:gd name="connsiteX27" fmla="*/ 2018286 w 7410901"/>
              <a:gd name="connsiteY27" fmla="*/ 5087815 h 5251939"/>
              <a:gd name="connsiteX28" fmla="*/ 2252747 w 7410901"/>
              <a:gd name="connsiteY28" fmla="*/ 5134708 h 5251939"/>
              <a:gd name="connsiteX29" fmla="*/ 2534101 w 7410901"/>
              <a:gd name="connsiteY29" fmla="*/ 5205046 h 5251939"/>
              <a:gd name="connsiteX30" fmla="*/ 3237486 w 7410901"/>
              <a:gd name="connsiteY30" fmla="*/ 5251939 h 5251939"/>
              <a:gd name="connsiteX31" fmla="*/ 3917424 w 7410901"/>
              <a:gd name="connsiteY31" fmla="*/ 5228492 h 5251939"/>
              <a:gd name="connsiteX32" fmla="*/ 4151886 w 7410901"/>
              <a:gd name="connsiteY32" fmla="*/ 5111262 h 5251939"/>
              <a:gd name="connsiteX33" fmla="*/ 4339455 w 7410901"/>
              <a:gd name="connsiteY33" fmla="*/ 4970585 h 5251939"/>
              <a:gd name="connsiteX34" fmla="*/ 4644255 w 7410901"/>
              <a:gd name="connsiteY34" fmla="*/ 4712677 h 5251939"/>
              <a:gd name="connsiteX35" fmla="*/ 4761486 w 7410901"/>
              <a:gd name="connsiteY35" fmla="*/ 4665785 h 5251939"/>
              <a:gd name="connsiteX36" fmla="*/ 4925609 w 7410901"/>
              <a:gd name="connsiteY36" fmla="*/ 4618892 h 5251939"/>
              <a:gd name="connsiteX37" fmla="*/ 5253855 w 7410901"/>
              <a:gd name="connsiteY37" fmla="*/ 4548554 h 5251939"/>
              <a:gd name="connsiteX38" fmla="*/ 5628994 w 7410901"/>
              <a:gd name="connsiteY38" fmla="*/ 4384431 h 5251939"/>
              <a:gd name="connsiteX39" fmla="*/ 5793117 w 7410901"/>
              <a:gd name="connsiteY39" fmla="*/ 4314092 h 5251939"/>
              <a:gd name="connsiteX40" fmla="*/ 5957240 w 7410901"/>
              <a:gd name="connsiteY40" fmla="*/ 4220308 h 5251939"/>
              <a:gd name="connsiteX41" fmla="*/ 6308932 w 7410901"/>
              <a:gd name="connsiteY41" fmla="*/ 4103077 h 5251939"/>
              <a:gd name="connsiteX42" fmla="*/ 6449609 w 7410901"/>
              <a:gd name="connsiteY42" fmla="*/ 4056185 h 5251939"/>
              <a:gd name="connsiteX43" fmla="*/ 6637178 w 7410901"/>
              <a:gd name="connsiteY43" fmla="*/ 4009292 h 5251939"/>
              <a:gd name="connsiteX44" fmla="*/ 7106101 w 7410901"/>
              <a:gd name="connsiteY44" fmla="*/ 3774831 h 5251939"/>
              <a:gd name="connsiteX45" fmla="*/ 7223332 w 7410901"/>
              <a:gd name="connsiteY45" fmla="*/ 3657600 h 5251939"/>
              <a:gd name="connsiteX46" fmla="*/ 7364009 w 7410901"/>
              <a:gd name="connsiteY46" fmla="*/ 3282462 h 5251939"/>
              <a:gd name="connsiteX47" fmla="*/ 7410901 w 7410901"/>
              <a:gd name="connsiteY47" fmla="*/ 2860431 h 5251939"/>
              <a:gd name="connsiteX48" fmla="*/ 7387455 w 7410901"/>
              <a:gd name="connsiteY48" fmla="*/ 1922585 h 5251939"/>
              <a:gd name="connsiteX49" fmla="*/ 7340563 w 7410901"/>
              <a:gd name="connsiteY49" fmla="*/ 1500554 h 5251939"/>
              <a:gd name="connsiteX50" fmla="*/ 7317117 w 7410901"/>
              <a:gd name="connsiteY50" fmla="*/ 1336431 h 5251939"/>
              <a:gd name="connsiteX51" fmla="*/ 7223332 w 7410901"/>
              <a:gd name="connsiteY51" fmla="*/ 1101969 h 5251939"/>
              <a:gd name="connsiteX52" fmla="*/ 7129547 w 7410901"/>
              <a:gd name="connsiteY52" fmla="*/ 867508 h 5251939"/>
              <a:gd name="connsiteX53" fmla="*/ 7082655 w 7410901"/>
              <a:gd name="connsiteY53" fmla="*/ 773723 h 5251939"/>
              <a:gd name="connsiteX54" fmla="*/ 6941978 w 7410901"/>
              <a:gd name="connsiteY54" fmla="*/ 609600 h 5251939"/>
              <a:gd name="connsiteX55" fmla="*/ 6754409 w 7410901"/>
              <a:gd name="connsiteY55" fmla="*/ 515815 h 5251939"/>
              <a:gd name="connsiteX56" fmla="*/ 6613732 w 7410901"/>
              <a:gd name="connsiteY56" fmla="*/ 445477 h 5251939"/>
              <a:gd name="connsiteX57" fmla="*/ 6496501 w 7410901"/>
              <a:gd name="connsiteY57" fmla="*/ 375139 h 5251939"/>
              <a:gd name="connsiteX58" fmla="*/ 6332378 w 7410901"/>
              <a:gd name="connsiteY58" fmla="*/ 328246 h 5251939"/>
              <a:gd name="connsiteX59" fmla="*/ 6121363 w 7410901"/>
              <a:gd name="connsiteY59" fmla="*/ 257908 h 5251939"/>
              <a:gd name="connsiteX60" fmla="*/ 5933794 w 7410901"/>
              <a:gd name="connsiteY60" fmla="*/ 164123 h 5251939"/>
              <a:gd name="connsiteX61" fmla="*/ 5746224 w 7410901"/>
              <a:gd name="connsiteY61" fmla="*/ 117231 h 5251939"/>
              <a:gd name="connsiteX62" fmla="*/ 5652440 w 7410901"/>
              <a:gd name="connsiteY62" fmla="*/ 93785 h 5251939"/>
              <a:gd name="connsiteX63" fmla="*/ 5417978 w 7410901"/>
              <a:gd name="connsiteY63" fmla="*/ 46892 h 5251939"/>
              <a:gd name="connsiteX64" fmla="*/ 5347640 w 7410901"/>
              <a:gd name="connsiteY64" fmla="*/ 23446 h 5251939"/>
              <a:gd name="connsiteX65" fmla="*/ 5113178 w 7410901"/>
              <a:gd name="connsiteY65" fmla="*/ 0 h 5251939"/>
              <a:gd name="connsiteX66" fmla="*/ 3987763 w 7410901"/>
              <a:gd name="connsiteY66" fmla="*/ 46892 h 5251939"/>
              <a:gd name="connsiteX67" fmla="*/ 3471947 w 7410901"/>
              <a:gd name="connsiteY67" fmla="*/ 93785 h 5251939"/>
              <a:gd name="connsiteX68" fmla="*/ 3143701 w 7410901"/>
              <a:gd name="connsiteY68" fmla="*/ 140677 h 5251939"/>
              <a:gd name="connsiteX69" fmla="*/ 2299640 w 7410901"/>
              <a:gd name="connsiteY69" fmla="*/ 187569 h 5251939"/>
              <a:gd name="connsiteX70" fmla="*/ 681855 w 7410901"/>
              <a:gd name="connsiteY70" fmla="*/ 164123 h 5251939"/>
              <a:gd name="connsiteX71" fmla="*/ 142594 w 7410901"/>
              <a:gd name="connsiteY71" fmla="*/ 211015 h 5251939"/>
              <a:gd name="connsiteX72" fmla="*/ 48809 w 7410901"/>
              <a:gd name="connsiteY72" fmla="*/ 257908 h 5251939"/>
              <a:gd name="connsiteX73" fmla="*/ 1917 w 7410901"/>
              <a:gd name="connsiteY73" fmla="*/ 422031 h 5251939"/>
              <a:gd name="connsiteX74" fmla="*/ 1917 w 7410901"/>
              <a:gd name="connsiteY74" fmla="*/ 539262 h 525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410901" h="5251939">
                <a:moveTo>
                  <a:pt x="25363" y="351692"/>
                </a:moveTo>
                <a:cubicBezTo>
                  <a:pt x="46796" y="726772"/>
                  <a:pt x="9014" y="962687"/>
                  <a:pt x="95701" y="1266092"/>
                </a:cubicBezTo>
                <a:cubicBezTo>
                  <a:pt x="102491" y="1289856"/>
                  <a:pt x="112357" y="1312667"/>
                  <a:pt x="119147" y="1336431"/>
                </a:cubicBezTo>
                <a:cubicBezTo>
                  <a:pt x="128000" y="1367415"/>
                  <a:pt x="131279" y="1400043"/>
                  <a:pt x="142594" y="1430215"/>
                </a:cubicBezTo>
                <a:cubicBezTo>
                  <a:pt x="154866" y="1462941"/>
                  <a:pt x="173855" y="1492738"/>
                  <a:pt x="189486" y="1524000"/>
                </a:cubicBezTo>
                <a:cubicBezTo>
                  <a:pt x="197301" y="1563077"/>
                  <a:pt x="200330" y="1603425"/>
                  <a:pt x="212932" y="1641231"/>
                </a:cubicBezTo>
                <a:cubicBezTo>
                  <a:pt x="223985" y="1674389"/>
                  <a:pt x="251347" y="1701107"/>
                  <a:pt x="259824" y="1735015"/>
                </a:cubicBezTo>
                <a:cubicBezTo>
                  <a:pt x="267740" y="1766680"/>
                  <a:pt x="303613" y="2113944"/>
                  <a:pt x="306717" y="2133600"/>
                </a:cubicBezTo>
                <a:cubicBezTo>
                  <a:pt x="319148" y="2212326"/>
                  <a:pt x="353609" y="2368062"/>
                  <a:pt x="353609" y="2368062"/>
                </a:cubicBezTo>
                <a:cubicBezTo>
                  <a:pt x="365829" y="2526926"/>
                  <a:pt x="377368" y="2721947"/>
                  <a:pt x="400501" y="2883877"/>
                </a:cubicBezTo>
                <a:cubicBezTo>
                  <a:pt x="429310" y="3085541"/>
                  <a:pt x="411025" y="2925969"/>
                  <a:pt x="447394" y="3071446"/>
                </a:cubicBezTo>
                <a:cubicBezTo>
                  <a:pt x="531792" y="3409035"/>
                  <a:pt x="447652" y="3158105"/>
                  <a:pt x="564624" y="3470031"/>
                </a:cubicBezTo>
                <a:cubicBezTo>
                  <a:pt x="572439" y="3516923"/>
                  <a:pt x="571824" y="3566031"/>
                  <a:pt x="588070" y="3610708"/>
                </a:cubicBezTo>
                <a:cubicBezTo>
                  <a:pt x="603644" y="3653536"/>
                  <a:pt x="638029" y="3687179"/>
                  <a:pt x="658409" y="3727939"/>
                </a:cubicBezTo>
                <a:cubicBezTo>
                  <a:pt x="677231" y="3765583"/>
                  <a:pt x="686479" y="3807525"/>
                  <a:pt x="705301" y="3845169"/>
                </a:cubicBezTo>
                <a:cubicBezTo>
                  <a:pt x="717903" y="3870373"/>
                  <a:pt x="738213" y="3891042"/>
                  <a:pt x="752194" y="3915508"/>
                </a:cubicBezTo>
                <a:cubicBezTo>
                  <a:pt x="769535" y="3945854"/>
                  <a:pt x="781745" y="3978946"/>
                  <a:pt x="799086" y="4009292"/>
                </a:cubicBezTo>
                <a:cubicBezTo>
                  <a:pt x="813067" y="4033758"/>
                  <a:pt x="831997" y="4055165"/>
                  <a:pt x="845978" y="4079631"/>
                </a:cubicBezTo>
                <a:cubicBezTo>
                  <a:pt x="863319" y="4109977"/>
                  <a:pt x="875529" y="4143069"/>
                  <a:pt x="892870" y="4173415"/>
                </a:cubicBezTo>
                <a:cubicBezTo>
                  <a:pt x="906851" y="4197881"/>
                  <a:pt x="927161" y="4218550"/>
                  <a:pt x="939763" y="4243754"/>
                </a:cubicBezTo>
                <a:cubicBezTo>
                  <a:pt x="966381" y="4296990"/>
                  <a:pt x="979478" y="4356839"/>
                  <a:pt x="1010101" y="4407877"/>
                </a:cubicBezTo>
                <a:cubicBezTo>
                  <a:pt x="1027161" y="4436310"/>
                  <a:pt x="1060083" y="4452042"/>
                  <a:pt x="1080440" y="4478215"/>
                </a:cubicBezTo>
                <a:cubicBezTo>
                  <a:pt x="1115040" y="4522701"/>
                  <a:pt x="1136523" y="4577002"/>
                  <a:pt x="1174224" y="4618892"/>
                </a:cubicBezTo>
                <a:cubicBezTo>
                  <a:pt x="1207701" y="4656089"/>
                  <a:pt x="1254426" y="4679014"/>
                  <a:pt x="1291455" y="4712677"/>
                </a:cubicBezTo>
                <a:cubicBezTo>
                  <a:pt x="1340525" y="4757286"/>
                  <a:pt x="1378500" y="4814349"/>
                  <a:pt x="1432132" y="4853354"/>
                </a:cubicBezTo>
                <a:cubicBezTo>
                  <a:pt x="1466169" y="4878108"/>
                  <a:pt x="1511048" y="4882830"/>
                  <a:pt x="1549363" y="4900246"/>
                </a:cubicBezTo>
                <a:cubicBezTo>
                  <a:pt x="2053587" y="5129439"/>
                  <a:pt x="1263140" y="4798025"/>
                  <a:pt x="1877609" y="5017477"/>
                </a:cubicBezTo>
                <a:cubicBezTo>
                  <a:pt x="1926982" y="5035110"/>
                  <a:pt x="1968245" y="5072177"/>
                  <a:pt x="2018286" y="5087815"/>
                </a:cubicBezTo>
                <a:cubicBezTo>
                  <a:pt x="2094359" y="5111588"/>
                  <a:pt x="2175027" y="5117044"/>
                  <a:pt x="2252747" y="5134708"/>
                </a:cubicBezTo>
                <a:cubicBezTo>
                  <a:pt x="2347014" y="5156132"/>
                  <a:pt x="2438745" y="5189153"/>
                  <a:pt x="2534101" y="5205046"/>
                </a:cubicBezTo>
                <a:cubicBezTo>
                  <a:pt x="2639535" y="5222618"/>
                  <a:pt x="3195072" y="5249583"/>
                  <a:pt x="3237486" y="5251939"/>
                </a:cubicBezTo>
                <a:cubicBezTo>
                  <a:pt x="3464132" y="5244123"/>
                  <a:pt x="3693280" y="5262976"/>
                  <a:pt x="3917424" y="5228492"/>
                </a:cubicBezTo>
                <a:cubicBezTo>
                  <a:pt x="4003787" y="5215205"/>
                  <a:pt x="4077327" y="5156826"/>
                  <a:pt x="4151886" y="5111262"/>
                </a:cubicBezTo>
                <a:cubicBezTo>
                  <a:pt x="4218573" y="5070509"/>
                  <a:pt x="4280395" y="5021770"/>
                  <a:pt x="4339455" y="4970585"/>
                </a:cubicBezTo>
                <a:cubicBezTo>
                  <a:pt x="4521869" y="4812492"/>
                  <a:pt x="4454908" y="4815957"/>
                  <a:pt x="4644255" y="4712677"/>
                </a:cubicBezTo>
                <a:cubicBezTo>
                  <a:pt x="4681203" y="4692523"/>
                  <a:pt x="4721559" y="4679094"/>
                  <a:pt x="4761486" y="4665785"/>
                </a:cubicBezTo>
                <a:cubicBezTo>
                  <a:pt x="4815463" y="4647793"/>
                  <a:pt x="4870411" y="4632692"/>
                  <a:pt x="4925609" y="4618892"/>
                </a:cubicBezTo>
                <a:cubicBezTo>
                  <a:pt x="5175262" y="4556478"/>
                  <a:pt x="4892257" y="4648998"/>
                  <a:pt x="5253855" y="4548554"/>
                </a:cubicBezTo>
                <a:cubicBezTo>
                  <a:pt x="5543363" y="4468135"/>
                  <a:pt x="5384589" y="4506633"/>
                  <a:pt x="5628994" y="4384431"/>
                </a:cubicBezTo>
                <a:cubicBezTo>
                  <a:pt x="5682231" y="4357813"/>
                  <a:pt x="5739880" y="4340710"/>
                  <a:pt x="5793117" y="4314092"/>
                </a:cubicBezTo>
                <a:cubicBezTo>
                  <a:pt x="5849474" y="4285913"/>
                  <a:pt x="5898922" y="4244165"/>
                  <a:pt x="5957240" y="4220308"/>
                </a:cubicBezTo>
                <a:cubicBezTo>
                  <a:pt x="6071612" y="4173520"/>
                  <a:pt x="6191701" y="4142154"/>
                  <a:pt x="6308932" y="4103077"/>
                </a:cubicBezTo>
                <a:cubicBezTo>
                  <a:pt x="6355824" y="4087446"/>
                  <a:pt x="6401656" y="4068173"/>
                  <a:pt x="6449609" y="4056185"/>
                </a:cubicBezTo>
                <a:cubicBezTo>
                  <a:pt x="6512132" y="4040554"/>
                  <a:pt x="6576349" y="4030582"/>
                  <a:pt x="6637178" y="4009292"/>
                </a:cubicBezTo>
                <a:cubicBezTo>
                  <a:pt x="6801262" y="3951863"/>
                  <a:pt x="6966867" y="3881934"/>
                  <a:pt x="7106101" y="3774831"/>
                </a:cubicBezTo>
                <a:cubicBezTo>
                  <a:pt x="7149904" y="3741136"/>
                  <a:pt x="7184255" y="3696677"/>
                  <a:pt x="7223332" y="3657600"/>
                </a:cubicBezTo>
                <a:cubicBezTo>
                  <a:pt x="7270224" y="3532554"/>
                  <a:pt x="7349261" y="3415194"/>
                  <a:pt x="7364009" y="3282462"/>
                </a:cubicBezTo>
                <a:lnTo>
                  <a:pt x="7410901" y="2860431"/>
                </a:lnTo>
                <a:cubicBezTo>
                  <a:pt x="7403086" y="2547816"/>
                  <a:pt x="7399029" y="2235084"/>
                  <a:pt x="7387455" y="1922585"/>
                </a:cubicBezTo>
                <a:cubicBezTo>
                  <a:pt x="7365391" y="1326859"/>
                  <a:pt x="7389533" y="1769891"/>
                  <a:pt x="7340563" y="1500554"/>
                </a:cubicBezTo>
                <a:cubicBezTo>
                  <a:pt x="7330677" y="1446182"/>
                  <a:pt x="7332710" y="1389448"/>
                  <a:pt x="7317117" y="1336431"/>
                </a:cubicBezTo>
                <a:cubicBezTo>
                  <a:pt x="7293366" y="1255677"/>
                  <a:pt x="7249950" y="1181824"/>
                  <a:pt x="7223332" y="1101969"/>
                </a:cubicBezTo>
                <a:cubicBezTo>
                  <a:pt x="7186605" y="991787"/>
                  <a:pt x="7196277" y="1014315"/>
                  <a:pt x="7129547" y="867508"/>
                </a:cubicBezTo>
                <a:cubicBezTo>
                  <a:pt x="7115084" y="835689"/>
                  <a:pt x="7101179" y="803362"/>
                  <a:pt x="7082655" y="773723"/>
                </a:cubicBezTo>
                <a:cubicBezTo>
                  <a:pt x="7048907" y="719726"/>
                  <a:pt x="6992018" y="651300"/>
                  <a:pt x="6941978" y="609600"/>
                </a:cubicBezTo>
                <a:cubicBezTo>
                  <a:pt x="6869155" y="548914"/>
                  <a:pt x="6849211" y="558907"/>
                  <a:pt x="6754409" y="515815"/>
                </a:cubicBezTo>
                <a:cubicBezTo>
                  <a:pt x="6706681" y="494120"/>
                  <a:pt x="6659758" y="470582"/>
                  <a:pt x="6613732" y="445477"/>
                </a:cubicBezTo>
                <a:cubicBezTo>
                  <a:pt x="6573725" y="423655"/>
                  <a:pt x="6538567" y="392666"/>
                  <a:pt x="6496501" y="375139"/>
                </a:cubicBezTo>
                <a:cubicBezTo>
                  <a:pt x="6443981" y="353256"/>
                  <a:pt x="6386355" y="346238"/>
                  <a:pt x="6332378" y="328246"/>
                </a:cubicBezTo>
                <a:cubicBezTo>
                  <a:pt x="6067518" y="239959"/>
                  <a:pt x="6346101" y="314092"/>
                  <a:pt x="6121363" y="257908"/>
                </a:cubicBezTo>
                <a:cubicBezTo>
                  <a:pt x="6058840" y="226646"/>
                  <a:pt x="6000110" y="186228"/>
                  <a:pt x="5933794" y="164123"/>
                </a:cubicBezTo>
                <a:cubicBezTo>
                  <a:pt x="5808101" y="122226"/>
                  <a:pt x="5915985" y="154955"/>
                  <a:pt x="5746224" y="117231"/>
                </a:cubicBezTo>
                <a:cubicBezTo>
                  <a:pt x="5714768" y="110241"/>
                  <a:pt x="5683948" y="100537"/>
                  <a:pt x="5652440" y="93785"/>
                </a:cubicBezTo>
                <a:cubicBezTo>
                  <a:pt x="5574507" y="77085"/>
                  <a:pt x="5493590" y="72096"/>
                  <a:pt x="5417978" y="46892"/>
                </a:cubicBezTo>
                <a:cubicBezTo>
                  <a:pt x="5394532" y="39077"/>
                  <a:pt x="5372067" y="27204"/>
                  <a:pt x="5347640" y="23446"/>
                </a:cubicBezTo>
                <a:cubicBezTo>
                  <a:pt x="5270010" y="11503"/>
                  <a:pt x="5191332" y="7815"/>
                  <a:pt x="5113178" y="0"/>
                </a:cubicBezTo>
                <a:cubicBezTo>
                  <a:pt x="4738040" y="15631"/>
                  <a:pt x="4358118" y="-14836"/>
                  <a:pt x="3987763" y="46892"/>
                </a:cubicBezTo>
                <a:cubicBezTo>
                  <a:pt x="3723501" y="90937"/>
                  <a:pt x="3894533" y="67374"/>
                  <a:pt x="3471947" y="93785"/>
                </a:cubicBezTo>
                <a:cubicBezTo>
                  <a:pt x="3362532" y="109416"/>
                  <a:pt x="3253982" y="133325"/>
                  <a:pt x="3143701" y="140677"/>
                </a:cubicBezTo>
                <a:cubicBezTo>
                  <a:pt x="2628064" y="175053"/>
                  <a:pt x="2909367" y="158535"/>
                  <a:pt x="2299640" y="187569"/>
                </a:cubicBezTo>
                <a:lnTo>
                  <a:pt x="681855" y="164123"/>
                </a:lnTo>
                <a:cubicBezTo>
                  <a:pt x="553758" y="164123"/>
                  <a:pt x="303684" y="141976"/>
                  <a:pt x="142594" y="211015"/>
                </a:cubicBezTo>
                <a:cubicBezTo>
                  <a:pt x="110468" y="224783"/>
                  <a:pt x="80071" y="242277"/>
                  <a:pt x="48809" y="257908"/>
                </a:cubicBezTo>
                <a:cubicBezTo>
                  <a:pt x="33989" y="302368"/>
                  <a:pt x="6824" y="377869"/>
                  <a:pt x="1917" y="422031"/>
                </a:cubicBezTo>
                <a:cubicBezTo>
                  <a:pt x="-2398" y="460869"/>
                  <a:pt x="1917" y="500185"/>
                  <a:pt x="1917" y="539262"/>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19" name="Freeform: Shape 18">
            <a:extLst>
              <a:ext uri="{FF2B5EF4-FFF2-40B4-BE49-F238E27FC236}">
                <a16:creationId xmlns:a16="http://schemas.microsoft.com/office/drawing/2014/main" id="{EE117C04-2164-5E76-8B67-10F399304899}"/>
              </a:ext>
            </a:extLst>
          </p:cNvPr>
          <p:cNvSpPr/>
          <p:nvPr/>
        </p:nvSpPr>
        <p:spPr>
          <a:xfrm>
            <a:off x="1968964" y="3525000"/>
            <a:ext cx="4770049" cy="2477132"/>
          </a:xfrm>
          <a:custGeom>
            <a:avLst/>
            <a:gdLst>
              <a:gd name="connsiteX0" fmla="*/ 9542584 w 9542584"/>
              <a:gd name="connsiteY0" fmla="*/ 492369 h 4955554"/>
              <a:gd name="connsiteX1" fmla="*/ 9425354 w 9542584"/>
              <a:gd name="connsiteY1" fmla="*/ 468923 h 4955554"/>
              <a:gd name="connsiteX2" fmla="*/ 9050215 w 9542584"/>
              <a:gd name="connsiteY2" fmla="*/ 328246 h 4955554"/>
              <a:gd name="connsiteX3" fmla="*/ 8440615 w 9542584"/>
              <a:gd name="connsiteY3" fmla="*/ 257907 h 4955554"/>
              <a:gd name="connsiteX4" fmla="*/ 8229600 w 9542584"/>
              <a:gd name="connsiteY4" fmla="*/ 234461 h 4955554"/>
              <a:gd name="connsiteX5" fmla="*/ 7596554 w 9542584"/>
              <a:gd name="connsiteY5" fmla="*/ 164123 h 4955554"/>
              <a:gd name="connsiteX6" fmla="*/ 7104184 w 9542584"/>
              <a:gd name="connsiteY6" fmla="*/ 117231 h 4955554"/>
              <a:gd name="connsiteX7" fmla="*/ 6940061 w 9542584"/>
              <a:gd name="connsiteY7" fmla="*/ 93784 h 4955554"/>
              <a:gd name="connsiteX8" fmla="*/ 6494584 w 9542584"/>
              <a:gd name="connsiteY8" fmla="*/ 70338 h 4955554"/>
              <a:gd name="connsiteX9" fmla="*/ 5791200 w 9542584"/>
              <a:gd name="connsiteY9" fmla="*/ 23446 h 4955554"/>
              <a:gd name="connsiteX10" fmla="*/ 5392615 w 9542584"/>
              <a:gd name="connsiteY10" fmla="*/ 0 h 4955554"/>
              <a:gd name="connsiteX11" fmla="*/ 3938954 w 9542584"/>
              <a:gd name="connsiteY11" fmla="*/ 23446 h 4955554"/>
              <a:gd name="connsiteX12" fmla="*/ 3423138 w 9542584"/>
              <a:gd name="connsiteY12" fmla="*/ 117231 h 4955554"/>
              <a:gd name="connsiteX13" fmla="*/ 3094892 w 9542584"/>
              <a:gd name="connsiteY13" fmla="*/ 164123 h 4955554"/>
              <a:gd name="connsiteX14" fmla="*/ 2790092 w 9542584"/>
              <a:gd name="connsiteY14" fmla="*/ 211015 h 4955554"/>
              <a:gd name="connsiteX15" fmla="*/ 2461846 w 9542584"/>
              <a:gd name="connsiteY15" fmla="*/ 234461 h 4955554"/>
              <a:gd name="connsiteX16" fmla="*/ 2203938 w 9542584"/>
              <a:gd name="connsiteY16" fmla="*/ 304800 h 4955554"/>
              <a:gd name="connsiteX17" fmla="*/ 2063261 w 9542584"/>
              <a:gd name="connsiteY17" fmla="*/ 351692 h 4955554"/>
              <a:gd name="connsiteX18" fmla="*/ 1899138 w 9542584"/>
              <a:gd name="connsiteY18" fmla="*/ 398584 h 4955554"/>
              <a:gd name="connsiteX19" fmla="*/ 1688123 w 9542584"/>
              <a:gd name="connsiteY19" fmla="*/ 492369 h 4955554"/>
              <a:gd name="connsiteX20" fmla="*/ 1617784 w 9542584"/>
              <a:gd name="connsiteY20" fmla="*/ 539261 h 4955554"/>
              <a:gd name="connsiteX21" fmla="*/ 1524000 w 9542584"/>
              <a:gd name="connsiteY21" fmla="*/ 562707 h 4955554"/>
              <a:gd name="connsiteX22" fmla="*/ 1430215 w 9542584"/>
              <a:gd name="connsiteY22" fmla="*/ 609600 h 4955554"/>
              <a:gd name="connsiteX23" fmla="*/ 1336431 w 9542584"/>
              <a:gd name="connsiteY23" fmla="*/ 633046 h 4955554"/>
              <a:gd name="connsiteX24" fmla="*/ 1266092 w 9542584"/>
              <a:gd name="connsiteY24" fmla="*/ 679938 h 4955554"/>
              <a:gd name="connsiteX25" fmla="*/ 1101969 w 9542584"/>
              <a:gd name="connsiteY25" fmla="*/ 797169 h 4955554"/>
              <a:gd name="connsiteX26" fmla="*/ 1008184 w 9542584"/>
              <a:gd name="connsiteY26" fmla="*/ 844061 h 4955554"/>
              <a:gd name="connsiteX27" fmla="*/ 937846 w 9542584"/>
              <a:gd name="connsiteY27" fmla="*/ 890954 h 4955554"/>
              <a:gd name="connsiteX28" fmla="*/ 867508 w 9542584"/>
              <a:gd name="connsiteY28" fmla="*/ 914400 h 4955554"/>
              <a:gd name="connsiteX29" fmla="*/ 703384 w 9542584"/>
              <a:gd name="connsiteY29" fmla="*/ 984738 h 4955554"/>
              <a:gd name="connsiteX30" fmla="*/ 633046 w 9542584"/>
              <a:gd name="connsiteY30" fmla="*/ 1055077 h 4955554"/>
              <a:gd name="connsiteX31" fmla="*/ 539261 w 9542584"/>
              <a:gd name="connsiteY31" fmla="*/ 1125415 h 4955554"/>
              <a:gd name="connsiteX32" fmla="*/ 492369 w 9542584"/>
              <a:gd name="connsiteY32" fmla="*/ 1195754 h 4955554"/>
              <a:gd name="connsiteX33" fmla="*/ 422031 w 9542584"/>
              <a:gd name="connsiteY33" fmla="*/ 1312984 h 4955554"/>
              <a:gd name="connsiteX34" fmla="*/ 211015 w 9542584"/>
              <a:gd name="connsiteY34" fmla="*/ 1524000 h 4955554"/>
              <a:gd name="connsiteX35" fmla="*/ 164123 w 9542584"/>
              <a:gd name="connsiteY35" fmla="*/ 1641231 h 4955554"/>
              <a:gd name="connsiteX36" fmla="*/ 117231 w 9542584"/>
              <a:gd name="connsiteY36" fmla="*/ 1735015 h 4955554"/>
              <a:gd name="connsiteX37" fmla="*/ 70338 w 9542584"/>
              <a:gd name="connsiteY37" fmla="*/ 1875692 h 4955554"/>
              <a:gd name="connsiteX38" fmla="*/ 23446 w 9542584"/>
              <a:gd name="connsiteY38" fmla="*/ 2719754 h 4955554"/>
              <a:gd name="connsiteX39" fmla="*/ 0 w 9542584"/>
              <a:gd name="connsiteY39" fmla="*/ 3071446 h 4955554"/>
              <a:gd name="connsiteX40" fmla="*/ 23446 w 9542584"/>
              <a:gd name="connsiteY40" fmla="*/ 4337538 h 4955554"/>
              <a:gd name="connsiteX41" fmla="*/ 140677 w 9542584"/>
              <a:gd name="connsiteY41" fmla="*/ 4548554 h 4955554"/>
              <a:gd name="connsiteX42" fmla="*/ 234461 w 9542584"/>
              <a:gd name="connsiteY42" fmla="*/ 4618892 h 4955554"/>
              <a:gd name="connsiteX43" fmla="*/ 304800 w 9542584"/>
              <a:gd name="connsiteY43" fmla="*/ 4642338 h 4955554"/>
              <a:gd name="connsiteX44" fmla="*/ 539261 w 9542584"/>
              <a:gd name="connsiteY44" fmla="*/ 4806461 h 4955554"/>
              <a:gd name="connsiteX45" fmla="*/ 633046 w 9542584"/>
              <a:gd name="connsiteY45" fmla="*/ 4853354 h 4955554"/>
              <a:gd name="connsiteX46" fmla="*/ 773723 w 9542584"/>
              <a:gd name="connsiteY46" fmla="*/ 4876800 h 4955554"/>
              <a:gd name="connsiteX47" fmla="*/ 1312984 w 9542584"/>
              <a:gd name="connsiteY47" fmla="*/ 4900246 h 4955554"/>
              <a:gd name="connsiteX48" fmla="*/ 2063261 w 9542584"/>
              <a:gd name="connsiteY48" fmla="*/ 4900246 h 4955554"/>
              <a:gd name="connsiteX49" fmla="*/ 2180492 w 9542584"/>
              <a:gd name="connsiteY49" fmla="*/ 4876800 h 4955554"/>
              <a:gd name="connsiteX50" fmla="*/ 2250831 w 9542584"/>
              <a:gd name="connsiteY50" fmla="*/ 4853354 h 4955554"/>
              <a:gd name="connsiteX51" fmla="*/ 2602523 w 9542584"/>
              <a:gd name="connsiteY51" fmla="*/ 4829907 h 4955554"/>
              <a:gd name="connsiteX52" fmla="*/ 2743200 w 9542584"/>
              <a:gd name="connsiteY52" fmla="*/ 4783015 h 4955554"/>
              <a:gd name="connsiteX53" fmla="*/ 3094892 w 9542584"/>
              <a:gd name="connsiteY53" fmla="*/ 4712677 h 4955554"/>
              <a:gd name="connsiteX54" fmla="*/ 3329354 w 9542584"/>
              <a:gd name="connsiteY54" fmla="*/ 4665784 h 4955554"/>
              <a:gd name="connsiteX55" fmla="*/ 3446584 w 9542584"/>
              <a:gd name="connsiteY55" fmla="*/ 4642338 h 4955554"/>
              <a:gd name="connsiteX56" fmla="*/ 3704492 w 9542584"/>
              <a:gd name="connsiteY56" fmla="*/ 4572000 h 4955554"/>
              <a:gd name="connsiteX57" fmla="*/ 4923692 w 9542584"/>
              <a:gd name="connsiteY57" fmla="*/ 4595446 h 4955554"/>
              <a:gd name="connsiteX58" fmla="*/ 5087815 w 9542584"/>
              <a:gd name="connsiteY58" fmla="*/ 4618892 h 4955554"/>
              <a:gd name="connsiteX59" fmla="*/ 5322277 w 9542584"/>
              <a:gd name="connsiteY59" fmla="*/ 4642338 h 4955554"/>
              <a:gd name="connsiteX60" fmla="*/ 5580184 w 9542584"/>
              <a:gd name="connsiteY60" fmla="*/ 4689231 h 4955554"/>
              <a:gd name="connsiteX61" fmla="*/ 5884984 w 9542584"/>
              <a:gd name="connsiteY61" fmla="*/ 4712677 h 4955554"/>
              <a:gd name="connsiteX62" fmla="*/ 6189784 w 9542584"/>
              <a:gd name="connsiteY62" fmla="*/ 4759569 h 4955554"/>
              <a:gd name="connsiteX63" fmla="*/ 6353908 w 9542584"/>
              <a:gd name="connsiteY63" fmla="*/ 4783015 h 4955554"/>
              <a:gd name="connsiteX64" fmla="*/ 6541477 w 9542584"/>
              <a:gd name="connsiteY64" fmla="*/ 4806461 h 4955554"/>
              <a:gd name="connsiteX65" fmla="*/ 6986954 w 9542584"/>
              <a:gd name="connsiteY65" fmla="*/ 4876800 h 4955554"/>
              <a:gd name="connsiteX66" fmla="*/ 7268308 w 9542584"/>
              <a:gd name="connsiteY66" fmla="*/ 4900246 h 4955554"/>
              <a:gd name="connsiteX67" fmla="*/ 7455877 w 9542584"/>
              <a:gd name="connsiteY67" fmla="*/ 4923692 h 4955554"/>
              <a:gd name="connsiteX68" fmla="*/ 8088923 w 9542584"/>
              <a:gd name="connsiteY68" fmla="*/ 4947138 h 4955554"/>
              <a:gd name="connsiteX69" fmla="*/ 8604738 w 9542584"/>
              <a:gd name="connsiteY69" fmla="*/ 4923692 h 4955554"/>
              <a:gd name="connsiteX70" fmla="*/ 8721969 w 9542584"/>
              <a:gd name="connsiteY70" fmla="*/ 4900246 h 4955554"/>
              <a:gd name="connsiteX71" fmla="*/ 8815754 w 9542584"/>
              <a:gd name="connsiteY71" fmla="*/ 4853354 h 4955554"/>
              <a:gd name="connsiteX72" fmla="*/ 9073661 w 9542584"/>
              <a:gd name="connsiteY72" fmla="*/ 4572000 h 4955554"/>
              <a:gd name="connsiteX73" fmla="*/ 9167446 w 9542584"/>
              <a:gd name="connsiteY73" fmla="*/ 4337538 h 4955554"/>
              <a:gd name="connsiteX74" fmla="*/ 9214338 w 9542584"/>
              <a:gd name="connsiteY74" fmla="*/ 4267200 h 4955554"/>
              <a:gd name="connsiteX75" fmla="*/ 9261231 w 9542584"/>
              <a:gd name="connsiteY75" fmla="*/ 4149969 h 4955554"/>
              <a:gd name="connsiteX76" fmla="*/ 9308123 w 9542584"/>
              <a:gd name="connsiteY76" fmla="*/ 4009292 h 4955554"/>
              <a:gd name="connsiteX77" fmla="*/ 9355015 w 9542584"/>
              <a:gd name="connsiteY77" fmla="*/ 3915507 h 4955554"/>
              <a:gd name="connsiteX78" fmla="*/ 9378461 w 9542584"/>
              <a:gd name="connsiteY78" fmla="*/ 3704492 h 4955554"/>
              <a:gd name="connsiteX79" fmla="*/ 9401908 w 9542584"/>
              <a:gd name="connsiteY79" fmla="*/ 3540369 h 4955554"/>
              <a:gd name="connsiteX80" fmla="*/ 9425354 w 9542584"/>
              <a:gd name="connsiteY80" fmla="*/ 3235569 h 4955554"/>
              <a:gd name="connsiteX81" fmla="*/ 9448800 w 9542584"/>
              <a:gd name="connsiteY81" fmla="*/ 1312984 h 4955554"/>
              <a:gd name="connsiteX82" fmla="*/ 9472246 w 9542584"/>
              <a:gd name="connsiteY82" fmla="*/ 1219200 h 4955554"/>
              <a:gd name="connsiteX83" fmla="*/ 9495692 w 9542584"/>
              <a:gd name="connsiteY83" fmla="*/ 515815 h 495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542584" h="4955554">
                <a:moveTo>
                  <a:pt x="9542584" y="492369"/>
                </a:moveTo>
                <a:cubicBezTo>
                  <a:pt x="9503507" y="484554"/>
                  <a:pt x="9463160" y="481525"/>
                  <a:pt x="9425354" y="468923"/>
                </a:cubicBezTo>
                <a:cubicBezTo>
                  <a:pt x="9175533" y="385649"/>
                  <a:pt x="9339558" y="397137"/>
                  <a:pt x="9050215" y="328246"/>
                </a:cubicBezTo>
                <a:cubicBezTo>
                  <a:pt x="8807093" y="270360"/>
                  <a:pt x="8694754" y="280006"/>
                  <a:pt x="8440615" y="257907"/>
                </a:cubicBezTo>
                <a:cubicBezTo>
                  <a:pt x="8370110" y="251776"/>
                  <a:pt x="8299938" y="242276"/>
                  <a:pt x="8229600" y="234461"/>
                </a:cubicBezTo>
                <a:cubicBezTo>
                  <a:pt x="7869529" y="144444"/>
                  <a:pt x="8171556" y="207248"/>
                  <a:pt x="7596554" y="164123"/>
                </a:cubicBezTo>
                <a:cubicBezTo>
                  <a:pt x="7432150" y="151793"/>
                  <a:pt x="7267393" y="140547"/>
                  <a:pt x="7104184" y="117231"/>
                </a:cubicBezTo>
                <a:cubicBezTo>
                  <a:pt x="7049476" y="109415"/>
                  <a:pt x="6995161" y="98023"/>
                  <a:pt x="6940061" y="93784"/>
                </a:cubicBezTo>
                <a:cubicBezTo>
                  <a:pt x="6791801" y="82379"/>
                  <a:pt x="6643004" y="79425"/>
                  <a:pt x="6494584" y="70338"/>
                </a:cubicBezTo>
                <a:lnTo>
                  <a:pt x="5791200" y="23446"/>
                </a:lnTo>
                <a:lnTo>
                  <a:pt x="5392615" y="0"/>
                </a:lnTo>
                <a:cubicBezTo>
                  <a:pt x="4908061" y="7815"/>
                  <a:pt x="4423222" y="5056"/>
                  <a:pt x="3938954" y="23446"/>
                </a:cubicBezTo>
                <a:cubicBezTo>
                  <a:pt x="2859191" y="64449"/>
                  <a:pt x="3865731" y="24053"/>
                  <a:pt x="3423138" y="117231"/>
                </a:cubicBezTo>
                <a:cubicBezTo>
                  <a:pt x="3314983" y="140001"/>
                  <a:pt x="3204195" y="147728"/>
                  <a:pt x="3094892" y="164123"/>
                </a:cubicBezTo>
                <a:cubicBezTo>
                  <a:pt x="2998271" y="178616"/>
                  <a:pt x="2886694" y="201815"/>
                  <a:pt x="2790092" y="211015"/>
                </a:cubicBezTo>
                <a:cubicBezTo>
                  <a:pt x="2680892" y="221415"/>
                  <a:pt x="2571261" y="226646"/>
                  <a:pt x="2461846" y="234461"/>
                </a:cubicBezTo>
                <a:cubicBezTo>
                  <a:pt x="2036762" y="376158"/>
                  <a:pt x="2568455" y="205387"/>
                  <a:pt x="2203938" y="304800"/>
                </a:cubicBezTo>
                <a:cubicBezTo>
                  <a:pt x="2156251" y="317805"/>
                  <a:pt x="2110605" y="337489"/>
                  <a:pt x="2063261" y="351692"/>
                </a:cubicBezTo>
                <a:cubicBezTo>
                  <a:pt x="1940103" y="388639"/>
                  <a:pt x="2004187" y="359190"/>
                  <a:pt x="1899138" y="398584"/>
                </a:cubicBezTo>
                <a:cubicBezTo>
                  <a:pt x="1826063" y="425987"/>
                  <a:pt x="1755933" y="453621"/>
                  <a:pt x="1688123" y="492369"/>
                </a:cubicBezTo>
                <a:cubicBezTo>
                  <a:pt x="1663657" y="506350"/>
                  <a:pt x="1643684" y="528161"/>
                  <a:pt x="1617784" y="539261"/>
                </a:cubicBezTo>
                <a:cubicBezTo>
                  <a:pt x="1588166" y="551954"/>
                  <a:pt x="1555261" y="554892"/>
                  <a:pt x="1524000" y="562707"/>
                </a:cubicBezTo>
                <a:cubicBezTo>
                  <a:pt x="1492738" y="578338"/>
                  <a:pt x="1462941" y="597328"/>
                  <a:pt x="1430215" y="609600"/>
                </a:cubicBezTo>
                <a:cubicBezTo>
                  <a:pt x="1400043" y="620914"/>
                  <a:pt x="1366049" y="620353"/>
                  <a:pt x="1336431" y="633046"/>
                </a:cubicBezTo>
                <a:cubicBezTo>
                  <a:pt x="1310531" y="644146"/>
                  <a:pt x="1289022" y="663559"/>
                  <a:pt x="1266092" y="679938"/>
                </a:cubicBezTo>
                <a:cubicBezTo>
                  <a:pt x="1215757" y="715892"/>
                  <a:pt x="1157235" y="765589"/>
                  <a:pt x="1101969" y="797169"/>
                </a:cubicBezTo>
                <a:cubicBezTo>
                  <a:pt x="1071622" y="814510"/>
                  <a:pt x="1038530" y="826720"/>
                  <a:pt x="1008184" y="844061"/>
                </a:cubicBezTo>
                <a:cubicBezTo>
                  <a:pt x="983718" y="858042"/>
                  <a:pt x="963050" y="878352"/>
                  <a:pt x="937846" y="890954"/>
                </a:cubicBezTo>
                <a:cubicBezTo>
                  <a:pt x="915741" y="902007"/>
                  <a:pt x="890224" y="904665"/>
                  <a:pt x="867508" y="914400"/>
                </a:cubicBezTo>
                <a:cubicBezTo>
                  <a:pt x="664705" y="1001315"/>
                  <a:pt x="868338" y="929754"/>
                  <a:pt x="703384" y="984738"/>
                </a:cubicBezTo>
                <a:cubicBezTo>
                  <a:pt x="679938" y="1008184"/>
                  <a:pt x="658221" y="1033498"/>
                  <a:pt x="633046" y="1055077"/>
                </a:cubicBezTo>
                <a:cubicBezTo>
                  <a:pt x="603377" y="1080508"/>
                  <a:pt x="566893" y="1097783"/>
                  <a:pt x="539261" y="1125415"/>
                </a:cubicBezTo>
                <a:cubicBezTo>
                  <a:pt x="519336" y="1145340"/>
                  <a:pt x="507304" y="1171858"/>
                  <a:pt x="492369" y="1195754"/>
                </a:cubicBezTo>
                <a:cubicBezTo>
                  <a:pt x="468217" y="1234398"/>
                  <a:pt x="451688" y="1278384"/>
                  <a:pt x="422031" y="1312984"/>
                </a:cubicBezTo>
                <a:cubicBezTo>
                  <a:pt x="357294" y="1388510"/>
                  <a:pt x="211015" y="1524000"/>
                  <a:pt x="211015" y="1524000"/>
                </a:cubicBezTo>
                <a:cubicBezTo>
                  <a:pt x="195384" y="1563077"/>
                  <a:pt x="181216" y="1602771"/>
                  <a:pt x="164123" y="1641231"/>
                </a:cubicBezTo>
                <a:cubicBezTo>
                  <a:pt x="149928" y="1673170"/>
                  <a:pt x="130212" y="1702564"/>
                  <a:pt x="117231" y="1735015"/>
                </a:cubicBezTo>
                <a:cubicBezTo>
                  <a:pt x="98873" y="1780909"/>
                  <a:pt x="85969" y="1828800"/>
                  <a:pt x="70338" y="1875692"/>
                </a:cubicBezTo>
                <a:cubicBezTo>
                  <a:pt x="-2503" y="3041151"/>
                  <a:pt x="102654" y="1333602"/>
                  <a:pt x="23446" y="2719754"/>
                </a:cubicBezTo>
                <a:cubicBezTo>
                  <a:pt x="16743" y="2837054"/>
                  <a:pt x="7815" y="2954215"/>
                  <a:pt x="0" y="3071446"/>
                </a:cubicBezTo>
                <a:cubicBezTo>
                  <a:pt x="7815" y="3493477"/>
                  <a:pt x="8899" y="3915686"/>
                  <a:pt x="23446" y="4337538"/>
                </a:cubicBezTo>
                <a:cubicBezTo>
                  <a:pt x="26348" y="4421693"/>
                  <a:pt x="78322" y="4496591"/>
                  <a:pt x="140677" y="4548554"/>
                </a:cubicBezTo>
                <a:cubicBezTo>
                  <a:pt x="170697" y="4573570"/>
                  <a:pt x="200533" y="4599505"/>
                  <a:pt x="234461" y="4618892"/>
                </a:cubicBezTo>
                <a:cubicBezTo>
                  <a:pt x="255919" y="4631154"/>
                  <a:pt x="281354" y="4634523"/>
                  <a:pt x="304800" y="4642338"/>
                </a:cubicBezTo>
                <a:cubicBezTo>
                  <a:pt x="363619" y="4686453"/>
                  <a:pt x="481521" y="4777591"/>
                  <a:pt x="539261" y="4806461"/>
                </a:cubicBezTo>
                <a:cubicBezTo>
                  <a:pt x="570523" y="4822092"/>
                  <a:pt x="599568" y="4843311"/>
                  <a:pt x="633046" y="4853354"/>
                </a:cubicBezTo>
                <a:cubicBezTo>
                  <a:pt x="678580" y="4867014"/>
                  <a:pt x="726297" y="4873529"/>
                  <a:pt x="773723" y="4876800"/>
                </a:cubicBezTo>
                <a:cubicBezTo>
                  <a:pt x="953220" y="4889179"/>
                  <a:pt x="1133230" y="4892431"/>
                  <a:pt x="1312984" y="4900246"/>
                </a:cubicBezTo>
                <a:cubicBezTo>
                  <a:pt x="1683154" y="4992787"/>
                  <a:pt x="1436329" y="4952490"/>
                  <a:pt x="2063261" y="4900246"/>
                </a:cubicBezTo>
                <a:cubicBezTo>
                  <a:pt x="2102338" y="4892431"/>
                  <a:pt x="2141831" y="4886465"/>
                  <a:pt x="2180492" y="4876800"/>
                </a:cubicBezTo>
                <a:cubicBezTo>
                  <a:pt x="2204469" y="4870806"/>
                  <a:pt x="2226268" y="4856083"/>
                  <a:pt x="2250831" y="4853354"/>
                </a:cubicBezTo>
                <a:cubicBezTo>
                  <a:pt x="2367603" y="4840379"/>
                  <a:pt x="2485292" y="4837723"/>
                  <a:pt x="2602523" y="4829907"/>
                </a:cubicBezTo>
                <a:cubicBezTo>
                  <a:pt x="2649415" y="4814276"/>
                  <a:pt x="2695247" y="4795003"/>
                  <a:pt x="2743200" y="4783015"/>
                </a:cubicBezTo>
                <a:cubicBezTo>
                  <a:pt x="2743211" y="4783012"/>
                  <a:pt x="3036271" y="4724401"/>
                  <a:pt x="3094892" y="4712677"/>
                </a:cubicBezTo>
                <a:lnTo>
                  <a:pt x="3329354" y="4665784"/>
                </a:lnTo>
                <a:cubicBezTo>
                  <a:pt x="3368431" y="4657969"/>
                  <a:pt x="3408778" y="4654940"/>
                  <a:pt x="3446584" y="4642338"/>
                </a:cubicBezTo>
                <a:cubicBezTo>
                  <a:pt x="3625067" y="4582844"/>
                  <a:pt x="3538792" y="4605140"/>
                  <a:pt x="3704492" y="4572000"/>
                </a:cubicBezTo>
                <a:lnTo>
                  <a:pt x="4923692" y="4595446"/>
                </a:lnTo>
                <a:cubicBezTo>
                  <a:pt x="4978923" y="4597318"/>
                  <a:pt x="5032930" y="4612435"/>
                  <a:pt x="5087815" y="4618892"/>
                </a:cubicBezTo>
                <a:cubicBezTo>
                  <a:pt x="5165821" y="4628069"/>
                  <a:pt x="5244523" y="4631230"/>
                  <a:pt x="5322277" y="4642338"/>
                </a:cubicBezTo>
                <a:cubicBezTo>
                  <a:pt x="5408777" y="4654695"/>
                  <a:pt x="5493480" y="4678393"/>
                  <a:pt x="5580184" y="4689231"/>
                </a:cubicBezTo>
                <a:cubicBezTo>
                  <a:pt x="5681297" y="4701870"/>
                  <a:pt x="5783590" y="4702538"/>
                  <a:pt x="5884984" y="4712677"/>
                </a:cubicBezTo>
                <a:cubicBezTo>
                  <a:pt x="5982115" y="4722390"/>
                  <a:pt x="6092708" y="4744634"/>
                  <a:pt x="6189784" y="4759569"/>
                </a:cubicBezTo>
                <a:cubicBezTo>
                  <a:pt x="6244405" y="4767972"/>
                  <a:pt x="6299129" y="4775711"/>
                  <a:pt x="6353908" y="4783015"/>
                </a:cubicBezTo>
                <a:cubicBezTo>
                  <a:pt x="6416365" y="4791343"/>
                  <a:pt x="6479165" y="4797114"/>
                  <a:pt x="6541477" y="4806461"/>
                </a:cubicBezTo>
                <a:cubicBezTo>
                  <a:pt x="6629125" y="4819608"/>
                  <a:pt x="6872981" y="4864803"/>
                  <a:pt x="6986954" y="4876800"/>
                </a:cubicBezTo>
                <a:cubicBezTo>
                  <a:pt x="7080547" y="4886652"/>
                  <a:pt x="7174665" y="4890882"/>
                  <a:pt x="7268308" y="4900246"/>
                </a:cubicBezTo>
                <a:cubicBezTo>
                  <a:pt x="7331005" y="4906516"/>
                  <a:pt x="7392970" y="4920097"/>
                  <a:pt x="7455877" y="4923692"/>
                </a:cubicBezTo>
                <a:cubicBezTo>
                  <a:pt x="7666693" y="4935739"/>
                  <a:pt x="7877908" y="4939323"/>
                  <a:pt x="8088923" y="4947138"/>
                </a:cubicBezTo>
                <a:cubicBezTo>
                  <a:pt x="8260861" y="4939323"/>
                  <a:pt x="8433092" y="4936406"/>
                  <a:pt x="8604738" y="4923692"/>
                </a:cubicBezTo>
                <a:cubicBezTo>
                  <a:pt x="8644480" y="4920748"/>
                  <a:pt x="8684163" y="4912848"/>
                  <a:pt x="8721969" y="4900246"/>
                </a:cubicBezTo>
                <a:cubicBezTo>
                  <a:pt x="8755127" y="4889193"/>
                  <a:pt x="8786115" y="4871878"/>
                  <a:pt x="8815754" y="4853354"/>
                </a:cubicBezTo>
                <a:cubicBezTo>
                  <a:pt x="8924498" y="4785389"/>
                  <a:pt x="9016147" y="4687027"/>
                  <a:pt x="9073661" y="4572000"/>
                </a:cubicBezTo>
                <a:cubicBezTo>
                  <a:pt x="9111305" y="4496712"/>
                  <a:pt x="9120754" y="4407575"/>
                  <a:pt x="9167446" y="4337538"/>
                </a:cubicBezTo>
                <a:cubicBezTo>
                  <a:pt x="9183077" y="4314092"/>
                  <a:pt x="9201736" y="4292404"/>
                  <a:pt x="9214338" y="4267200"/>
                </a:cubicBezTo>
                <a:cubicBezTo>
                  <a:pt x="9233160" y="4229556"/>
                  <a:pt x="9246848" y="4189522"/>
                  <a:pt x="9261231" y="4149969"/>
                </a:cubicBezTo>
                <a:cubicBezTo>
                  <a:pt x="9278123" y="4103516"/>
                  <a:pt x="9286018" y="4053503"/>
                  <a:pt x="9308123" y="4009292"/>
                </a:cubicBezTo>
                <a:lnTo>
                  <a:pt x="9355015" y="3915507"/>
                </a:lnTo>
                <a:cubicBezTo>
                  <a:pt x="9362830" y="3845169"/>
                  <a:pt x="9369683" y="3774717"/>
                  <a:pt x="9378461" y="3704492"/>
                </a:cubicBezTo>
                <a:cubicBezTo>
                  <a:pt x="9385316" y="3649656"/>
                  <a:pt x="9396409" y="3595358"/>
                  <a:pt x="9401908" y="3540369"/>
                </a:cubicBezTo>
                <a:cubicBezTo>
                  <a:pt x="9412048" y="3438975"/>
                  <a:pt x="9417539" y="3337169"/>
                  <a:pt x="9425354" y="3235569"/>
                </a:cubicBezTo>
                <a:cubicBezTo>
                  <a:pt x="9433169" y="2594707"/>
                  <a:pt x="9433899" y="1953720"/>
                  <a:pt x="9448800" y="1312984"/>
                </a:cubicBezTo>
                <a:cubicBezTo>
                  <a:pt x="9449549" y="1280769"/>
                  <a:pt x="9469676" y="1251321"/>
                  <a:pt x="9472246" y="1219200"/>
                </a:cubicBezTo>
                <a:cubicBezTo>
                  <a:pt x="9499038" y="884303"/>
                  <a:pt x="9495692" y="793651"/>
                  <a:pt x="9495692" y="515815"/>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p>
        </p:txBody>
      </p:sp>
      <p:sp>
        <p:nvSpPr>
          <p:cNvPr id="20" name="TextBox 19">
            <a:extLst>
              <a:ext uri="{FF2B5EF4-FFF2-40B4-BE49-F238E27FC236}">
                <a16:creationId xmlns:a16="http://schemas.microsoft.com/office/drawing/2014/main" id="{F4A18186-11C9-9381-EFC2-1CF5DA5ECAB6}"/>
              </a:ext>
            </a:extLst>
          </p:cNvPr>
          <p:cNvSpPr txBox="1"/>
          <p:nvPr/>
        </p:nvSpPr>
        <p:spPr>
          <a:xfrm>
            <a:off x="2075897" y="3022446"/>
            <a:ext cx="801921"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Supplier Loop</a:t>
            </a:r>
          </a:p>
        </p:txBody>
      </p:sp>
      <p:sp>
        <p:nvSpPr>
          <p:cNvPr id="22" name="TextBox 21">
            <a:extLst>
              <a:ext uri="{FF2B5EF4-FFF2-40B4-BE49-F238E27FC236}">
                <a16:creationId xmlns:a16="http://schemas.microsoft.com/office/drawing/2014/main" id="{45571E94-1BB5-5F31-323F-D1808A062DCA}"/>
              </a:ext>
            </a:extLst>
          </p:cNvPr>
          <p:cNvSpPr txBox="1"/>
          <p:nvPr/>
        </p:nvSpPr>
        <p:spPr>
          <a:xfrm>
            <a:off x="9734231" y="1844378"/>
            <a:ext cx="1010658"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Information Loop</a:t>
            </a:r>
          </a:p>
        </p:txBody>
      </p:sp>
      <p:sp>
        <p:nvSpPr>
          <p:cNvPr id="23" name="TextBox 22">
            <a:extLst>
              <a:ext uri="{FF2B5EF4-FFF2-40B4-BE49-F238E27FC236}">
                <a16:creationId xmlns:a16="http://schemas.microsoft.com/office/drawing/2014/main" id="{EAEEC748-DB3E-2775-6A5A-BEFB965257B4}"/>
              </a:ext>
            </a:extLst>
          </p:cNvPr>
          <p:cNvSpPr txBox="1"/>
          <p:nvPr/>
        </p:nvSpPr>
        <p:spPr>
          <a:xfrm>
            <a:off x="7629851" y="4242032"/>
            <a:ext cx="1010658"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Pacemaker Loop</a:t>
            </a:r>
          </a:p>
        </p:txBody>
      </p:sp>
      <p:sp>
        <p:nvSpPr>
          <p:cNvPr id="24" name="TextBox 23">
            <a:extLst>
              <a:ext uri="{FF2B5EF4-FFF2-40B4-BE49-F238E27FC236}">
                <a16:creationId xmlns:a16="http://schemas.microsoft.com/office/drawing/2014/main" id="{7F19B7FF-98FC-F19D-D1C3-AE4E7B1E7FC2}"/>
              </a:ext>
            </a:extLst>
          </p:cNvPr>
          <p:cNvSpPr txBox="1"/>
          <p:nvPr/>
        </p:nvSpPr>
        <p:spPr>
          <a:xfrm>
            <a:off x="3632283" y="5096697"/>
            <a:ext cx="1290844" cy="482169"/>
          </a:xfrm>
          <a:prstGeom prst="rect">
            <a:avLst/>
          </a:prstGeom>
          <a:solidFill>
            <a:schemeClr val="bg2"/>
          </a:solidFill>
          <a:ln w="12700" cap="flat">
            <a:solidFill>
              <a:schemeClr val="tx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pPr algn="ctr"/>
            <a:r>
              <a:rPr lang="en-US" sz="1400" dirty="0">
                <a:latin typeface="Roboto" panose="02000000000000000000" pitchFamily="2" charset="0"/>
                <a:ea typeface="Roboto" panose="02000000000000000000" pitchFamily="2" charset="0"/>
              </a:rPr>
              <a:t>Manufacturing Loop</a:t>
            </a:r>
          </a:p>
        </p:txBody>
      </p:sp>
      <p:grpSp>
        <p:nvGrpSpPr>
          <p:cNvPr id="15" name="Group 14">
            <a:extLst>
              <a:ext uri="{FF2B5EF4-FFF2-40B4-BE49-F238E27FC236}">
                <a16:creationId xmlns:a16="http://schemas.microsoft.com/office/drawing/2014/main" id="{A640628E-4E59-85EB-526B-C734C8903E70}"/>
              </a:ext>
            </a:extLst>
          </p:cNvPr>
          <p:cNvGrpSpPr/>
          <p:nvPr/>
        </p:nvGrpSpPr>
        <p:grpSpPr>
          <a:xfrm>
            <a:off x="940004" y="321492"/>
            <a:ext cx="6217883" cy="311851"/>
            <a:chOff x="940249" y="302538"/>
            <a:chExt cx="6219503" cy="311932"/>
          </a:xfrm>
        </p:grpSpPr>
        <p:sp>
          <p:nvSpPr>
            <p:cNvPr id="18" name="TextBox 17">
              <a:extLst>
                <a:ext uri="{FF2B5EF4-FFF2-40B4-BE49-F238E27FC236}">
                  <a16:creationId xmlns:a16="http://schemas.microsoft.com/office/drawing/2014/main" id="{5BB28493-9CAC-A960-F8C5-52247DB5D12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1" name="AutoShape 9">
              <a:extLst>
                <a:ext uri="{FF2B5EF4-FFF2-40B4-BE49-F238E27FC236}">
                  <a16:creationId xmlns:a16="http://schemas.microsoft.com/office/drawing/2014/main" id="{FD462A63-A4FB-47F6-A1B1-FBDD456F1C2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2" name="AutoShape 9">
              <a:extLst>
                <a:ext uri="{FF2B5EF4-FFF2-40B4-BE49-F238E27FC236}">
                  <a16:creationId xmlns:a16="http://schemas.microsoft.com/office/drawing/2014/main" id="{034892B2-175C-6604-828D-A3FBC937189F}"/>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3" name="AutoShape 9">
              <a:extLst>
                <a:ext uri="{FF2B5EF4-FFF2-40B4-BE49-F238E27FC236}">
                  <a16:creationId xmlns:a16="http://schemas.microsoft.com/office/drawing/2014/main" id="{5BEBDBEF-2D6B-BAD8-59DE-4C7D02BFFFC5}"/>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4" name="AutoShape 9">
              <a:extLst>
                <a:ext uri="{FF2B5EF4-FFF2-40B4-BE49-F238E27FC236}">
                  <a16:creationId xmlns:a16="http://schemas.microsoft.com/office/drawing/2014/main" id="{DE9ABBF7-1129-F66D-1872-49051833B0E7}"/>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55" name="AutoShape 11">
              <a:extLst>
                <a:ext uri="{FF2B5EF4-FFF2-40B4-BE49-F238E27FC236}">
                  <a16:creationId xmlns:a16="http://schemas.microsoft.com/office/drawing/2014/main" id="{C15FE2E9-5D3E-B371-C3B2-0B660ABEC02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57" name="Slide Number Placeholder 2">
            <a:extLst>
              <a:ext uri="{FF2B5EF4-FFF2-40B4-BE49-F238E27FC236}">
                <a16:creationId xmlns:a16="http://schemas.microsoft.com/office/drawing/2014/main" id="{AA9950E4-0462-E93C-5CB1-A1646E8C58E3}"/>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149</a:t>
            </a:fld>
            <a:endParaRPr lang="en-US" dirty="0"/>
          </a:p>
        </p:txBody>
      </p:sp>
    </p:spTree>
    <p:extLst>
      <p:ext uri="{BB962C8B-B14F-4D97-AF65-F5344CB8AC3E}">
        <p14:creationId xmlns:p14="http://schemas.microsoft.com/office/powerpoint/2010/main" val="3662769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02"/>
                                        </p:tgtEl>
                                        <p:attrNameLst>
                                          <p:attrName>style.visibility</p:attrName>
                                        </p:attrNameLst>
                                      </p:cBhvr>
                                      <p:to>
                                        <p:strVal val="visible"/>
                                      </p:to>
                                    </p:set>
                                    <p:animEffect transition="in" filter="dissolve">
                                      <p:cBhvr>
                                        <p:cTn id="48" dur="1000"/>
                                        <p:tgtEl>
                                          <p:spTgt spid="2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3999" dirty="0">
                <a:latin typeface="Roboto Medium"/>
                <a:ea typeface="Roboto Medium"/>
                <a:cs typeface="Roboto Medium"/>
              </a:rPr>
              <a:t>Create Future State Value Stream Map</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360027"/>
            <a:ext cx="9719810"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Create Current State Value Stream Map for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As a team, create the future state value stream map using the mark up Map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2 hours</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9" y="4613059"/>
            <a:ext cx="4680073" cy="47177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Future State Value Stream Map.</a:t>
            </a:r>
          </a:p>
        </p:txBody>
      </p:sp>
      <p:grpSp>
        <p:nvGrpSpPr>
          <p:cNvPr id="10" name="Group 9">
            <a:extLst>
              <a:ext uri="{FF2B5EF4-FFF2-40B4-BE49-F238E27FC236}">
                <a16:creationId xmlns:a16="http://schemas.microsoft.com/office/drawing/2014/main" id="{B4FAA675-E5ED-DDA8-631A-F80A81BC8BE7}"/>
              </a:ext>
            </a:extLst>
          </p:cNvPr>
          <p:cNvGrpSpPr/>
          <p:nvPr/>
        </p:nvGrpSpPr>
        <p:grpSpPr>
          <a:xfrm>
            <a:off x="940004" y="321492"/>
            <a:ext cx="6217883" cy="311851"/>
            <a:chOff x="940249" y="302538"/>
            <a:chExt cx="6219503" cy="311932"/>
          </a:xfrm>
        </p:grpSpPr>
        <p:sp>
          <p:nvSpPr>
            <p:cNvPr id="19" name="TextBox 18">
              <a:extLst>
                <a:ext uri="{FF2B5EF4-FFF2-40B4-BE49-F238E27FC236}">
                  <a16:creationId xmlns:a16="http://schemas.microsoft.com/office/drawing/2014/main" id="{DE45925E-D9E6-EB81-AF6E-279A31A1174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0" name="AutoShape 9">
              <a:extLst>
                <a:ext uri="{FF2B5EF4-FFF2-40B4-BE49-F238E27FC236}">
                  <a16:creationId xmlns:a16="http://schemas.microsoft.com/office/drawing/2014/main" id="{466E843B-91D3-83CF-01E9-69ADE472159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8F0D35C3-16FE-849A-C97E-7A0A686E5F00}"/>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3FBCFE8D-7C4F-2A4D-86D1-71B4A18A90D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E66470A6-74FF-32FD-1343-5B79B9BBA3F3}"/>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11">
              <a:extLst>
                <a:ext uri="{FF2B5EF4-FFF2-40B4-BE49-F238E27FC236}">
                  <a16:creationId xmlns:a16="http://schemas.microsoft.com/office/drawing/2014/main" id="{5397500A-3FB9-405B-AA4D-3378E04FC6B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32849409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729" y="1497515"/>
            <a:ext cx="10535433" cy="1009387"/>
          </a:xfrm>
          <a:prstGeom prst="rect">
            <a:avLst/>
          </a:prstGeom>
        </p:spPr>
        <p:txBody>
          <a:bodyPr>
            <a:normAutofit/>
          </a:bodyPr>
          <a:lstStyle/>
          <a:p>
            <a:r>
              <a:rPr lang="en-US" sz="3999" dirty="0">
                <a:latin typeface="Roboto Medium"/>
                <a:ea typeface="Roboto Medium"/>
                <a:cs typeface="Roboto Medium"/>
              </a:rPr>
              <a:t>Developing the Value Stream Plan</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300" y="2506902"/>
            <a:ext cx="10512862" cy="4350205"/>
          </a:xfrm>
        </p:spPr>
        <p:txBody>
          <a:bodyPr>
            <a:normAutofit/>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purpose of Value Stream Plan</a:t>
            </a:r>
          </a:p>
          <a:p>
            <a:r>
              <a:rPr lang="en-US" sz="2400" dirty="0"/>
              <a:t>Review timing of Future State Plan completion</a:t>
            </a:r>
          </a:p>
          <a:p>
            <a:r>
              <a:rPr lang="en-US" sz="2400" dirty="0"/>
              <a:t>Review roles of Leadership and Value Stream Manager in achieving Future State</a:t>
            </a:r>
          </a:p>
          <a:p>
            <a:r>
              <a:rPr lang="en-US" sz="2400" dirty="0"/>
              <a:t>Prioritize activities based on Current State Kaizen Bursts</a:t>
            </a:r>
          </a:p>
          <a:p>
            <a:r>
              <a:rPr lang="en-US" sz="2400" dirty="0"/>
              <a:t>Identify and define components of Value Stream Plan</a:t>
            </a:r>
          </a:p>
          <a:p>
            <a:r>
              <a:rPr lang="en-US" sz="2400" dirty="0"/>
              <a:t>Review example of completed Value Stream Plan</a:t>
            </a:r>
          </a:p>
          <a:p>
            <a:r>
              <a:rPr lang="en-US" sz="2400" dirty="0"/>
              <a:t>Complete Value Stream Plan for Business</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729" y="2387190"/>
            <a:ext cx="3881964"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F0EA47C9-ED12-BFC6-9383-1D79A1F9B851}"/>
              </a:ext>
            </a:extLst>
          </p:cNvPr>
          <p:cNvGrpSpPr/>
          <p:nvPr/>
        </p:nvGrpSpPr>
        <p:grpSpPr>
          <a:xfrm>
            <a:off x="699728" y="837809"/>
            <a:ext cx="7271730" cy="659707"/>
            <a:chOff x="699911" y="1069861"/>
            <a:chExt cx="7273624" cy="350130"/>
          </a:xfrm>
        </p:grpSpPr>
        <p:sp>
          <p:nvSpPr>
            <p:cNvPr id="13" name="AutoShape 9">
              <a:extLst>
                <a:ext uri="{FF2B5EF4-FFF2-40B4-BE49-F238E27FC236}">
                  <a16:creationId xmlns:a16="http://schemas.microsoft.com/office/drawing/2014/main" id="{8BD99035-118F-A478-E1F3-642C122DDE48}"/>
                </a:ext>
              </a:extLst>
            </p:cNvPr>
            <p:cNvSpPr>
              <a:spLocks noChangeArrowheads="1"/>
            </p:cNvSpPr>
            <p:nvPr/>
          </p:nvSpPr>
          <p:spPr bwMode="auto">
            <a:xfrm>
              <a:off x="6395259"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Develop Value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Stream Plan</a:t>
              </a:r>
            </a:p>
          </p:txBody>
        </p:sp>
        <p:sp>
          <p:nvSpPr>
            <p:cNvPr id="14" name="AutoShape 9">
              <a:extLst>
                <a:ext uri="{FF2B5EF4-FFF2-40B4-BE49-F238E27FC236}">
                  <a16:creationId xmlns:a16="http://schemas.microsoft.com/office/drawing/2014/main" id="{5440A695-6F57-3099-27E4-FD69786A24E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a:t>
              </a:r>
            </a:p>
          </p:txBody>
        </p:sp>
        <p:grpSp>
          <p:nvGrpSpPr>
            <p:cNvPr id="15" name="Group 14">
              <a:extLst>
                <a:ext uri="{FF2B5EF4-FFF2-40B4-BE49-F238E27FC236}">
                  <a16:creationId xmlns:a16="http://schemas.microsoft.com/office/drawing/2014/main" id="{B38CDAFC-8CD0-DAA9-4960-E7F1A0900979}"/>
                </a:ext>
              </a:extLst>
            </p:cNvPr>
            <p:cNvGrpSpPr/>
            <p:nvPr/>
          </p:nvGrpSpPr>
          <p:grpSpPr>
            <a:xfrm>
              <a:off x="699911" y="1069861"/>
              <a:ext cx="4425950" cy="350130"/>
              <a:chOff x="5627530" y="641179"/>
              <a:chExt cx="6564470" cy="804977"/>
            </a:xfrm>
          </p:grpSpPr>
          <p:sp>
            <p:nvSpPr>
              <p:cNvPr id="16" name="AutoShape 9">
                <a:extLst>
                  <a:ext uri="{FF2B5EF4-FFF2-40B4-BE49-F238E27FC236}">
                    <a16:creationId xmlns:a16="http://schemas.microsoft.com/office/drawing/2014/main" id="{8946F87A-CD4D-C19B-7524-F7949D943F23}"/>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7" name="AutoShape 10">
                <a:extLst>
                  <a:ext uri="{FF2B5EF4-FFF2-40B4-BE49-F238E27FC236}">
                    <a16:creationId xmlns:a16="http://schemas.microsoft.com/office/drawing/2014/main" id="{20862A48-F7AE-C1A5-DD2F-CA906E13B749}"/>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8" name="AutoShape 11">
                <a:extLst>
                  <a:ext uri="{FF2B5EF4-FFF2-40B4-BE49-F238E27FC236}">
                    <a16:creationId xmlns:a16="http://schemas.microsoft.com/office/drawing/2014/main" id="{E23FE69C-2883-8169-CE2D-CD304A7C968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315016403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4C1A5BB2-7192-0AD0-2418-43A8DDE3431C}"/>
              </a:ext>
            </a:extLst>
          </p:cNvPr>
          <p:cNvSpPr>
            <a:spLocks noGrp="1"/>
          </p:cNvSpPr>
          <p:nvPr>
            <p:ph type="title"/>
          </p:nvPr>
        </p:nvSpPr>
        <p:spPr/>
        <p:txBody>
          <a:bodyPr>
            <a:normAutofit/>
          </a:bodyPr>
          <a:lstStyle/>
          <a:p>
            <a:r>
              <a:rPr lang="en-US" altLang="en-US" dirty="0"/>
              <a:t>Purpose of the Value Stream Plan</a:t>
            </a:r>
            <a:endParaRPr lang="en-US" dirty="0"/>
          </a:p>
        </p:txBody>
      </p:sp>
      <p:grpSp>
        <p:nvGrpSpPr>
          <p:cNvPr id="21" name="Group 20">
            <a:extLst>
              <a:ext uri="{FF2B5EF4-FFF2-40B4-BE49-F238E27FC236}">
                <a16:creationId xmlns:a16="http://schemas.microsoft.com/office/drawing/2014/main" id="{52584347-1EAD-CC1D-08CD-BECCB024B8A8}"/>
              </a:ext>
            </a:extLst>
          </p:cNvPr>
          <p:cNvGrpSpPr/>
          <p:nvPr/>
        </p:nvGrpSpPr>
        <p:grpSpPr>
          <a:xfrm>
            <a:off x="1582766" y="1998921"/>
            <a:ext cx="9023293" cy="3670710"/>
            <a:chOff x="2854203" y="3109913"/>
            <a:chExt cx="8147050" cy="3759200"/>
          </a:xfrm>
        </p:grpSpPr>
        <p:sp>
          <p:nvSpPr>
            <p:cNvPr id="14" name="Rectangle 2">
              <a:extLst>
                <a:ext uri="{FF2B5EF4-FFF2-40B4-BE49-F238E27FC236}">
                  <a16:creationId xmlns:a16="http://schemas.microsoft.com/office/drawing/2014/main" id="{22A1C981-F819-22DD-1FA4-2F35499CBFE9}"/>
                </a:ext>
              </a:extLst>
            </p:cNvPr>
            <p:cNvSpPr>
              <a:spLocks noChangeArrowheads="1"/>
            </p:cNvSpPr>
            <p:nvPr/>
          </p:nvSpPr>
          <p:spPr bwMode="auto">
            <a:xfrm>
              <a:off x="3857503" y="5673725"/>
              <a:ext cx="6303962" cy="1195388"/>
            </a:xfrm>
            <a:prstGeom prst="rect">
              <a:avLst/>
            </a:prstGeom>
            <a:solidFill>
              <a:srgbClr val="FFB627"/>
            </a:solidFill>
            <a:ln w="19050">
              <a:noFill/>
              <a:prstDash val="sysDot"/>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3299" b="0" dirty="0">
                  <a:solidFill>
                    <a:schemeClr val="tx1"/>
                  </a:solidFill>
                  <a:latin typeface="Roboto" panose="02000000000000000000"/>
                </a:rPr>
                <a:t>CREATES PLAN TO ACHIEVE</a:t>
              </a:r>
              <a:br>
                <a:rPr lang="en-US" altLang="en-US" sz="3299" b="0" dirty="0">
                  <a:solidFill>
                    <a:schemeClr val="tx1"/>
                  </a:solidFill>
                  <a:latin typeface="Roboto" panose="02000000000000000000"/>
                </a:rPr>
              </a:br>
              <a:r>
                <a:rPr lang="en-US" altLang="en-US" sz="3299" b="0" dirty="0">
                  <a:solidFill>
                    <a:schemeClr val="tx1"/>
                  </a:solidFill>
                  <a:latin typeface="Roboto" panose="02000000000000000000"/>
                </a:rPr>
                <a:t>FUTURE STATE</a:t>
              </a:r>
            </a:p>
          </p:txBody>
        </p:sp>
        <p:sp>
          <p:nvSpPr>
            <p:cNvPr id="15" name="Rectangle 3">
              <a:extLst>
                <a:ext uri="{FF2B5EF4-FFF2-40B4-BE49-F238E27FC236}">
                  <a16:creationId xmlns:a16="http://schemas.microsoft.com/office/drawing/2014/main" id="{E4E934C5-EF5C-4E7B-6655-786899C63F54}"/>
                </a:ext>
              </a:extLst>
            </p:cNvPr>
            <p:cNvSpPr>
              <a:spLocks noChangeArrowheads="1"/>
            </p:cNvSpPr>
            <p:nvPr/>
          </p:nvSpPr>
          <p:spPr bwMode="auto">
            <a:xfrm>
              <a:off x="2854203" y="3109913"/>
              <a:ext cx="1936750" cy="1236662"/>
            </a:xfrm>
            <a:prstGeom prst="rect">
              <a:avLst/>
            </a:prstGeom>
            <a:solidFill>
              <a:srgbClr val="7A7A7A"/>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000" dirty="0">
                  <a:effectLst>
                    <a:outerShdw blurRad="38100" dist="38100" dir="2700000" algn="tl">
                      <a:srgbClr val="000000"/>
                    </a:outerShdw>
                  </a:effectLst>
                  <a:latin typeface="Roboto" panose="02000000000000000000"/>
                </a:rPr>
                <a:t>Establishes</a:t>
              </a:r>
              <a:br>
                <a:rPr lang="en-US" altLang="en-US" sz="2000" dirty="0">
                  <a:effectLst>
                    <a:outerShdw blurRad="38100" dist="38100" dir="2700000" algn="tl">
                      <a:srgbClr val="000000"/>
                    </a:outerShdw>
                  </a:effectLst>
                  <a:latin typeface="Roboto" panose="02000000000000000000"/>
                </a:rPr>
              </a:br>
              <a:r>
                <a:rPr lang="en-US" altLang="en-US" sz="2000" dirty="0">
                  <a:effectLst>
                    <a:outerShdw blurRad="38100" dist="38100" dir="2700000" algn="tl">
                      <a:srgbClr val="000000"/>
                    </a:outerShdw>
                  </a:effectLst>
                  <a:latin typeface="Roboto" panose="02000000000000000000"/>
                </a:rPr>
                <a:t>Priority</a:t>
              </a:r>
            </a:p>
          </p:txBody>
        </p:sp>
        <p:sp>
          <p:nvSpPr>
            <p:cNvPr id="16" name="Rectangle 4">
              <a:extLst>
                <a:ext uri="{FF2B5EF4-FFF2-40B4-BE49-F238E27FC236}">
                  <a16:creationId xmlns:a16="http://schemas.microsoft.com/office/drawing/2014/main" id="{49505EC3-E72E-BD32-6E43-C517DDA819A6}"/>
                </a:ext>
              </a:extLst>
            </p:cNvPr>
            <p:cNvSpPr>
              <a:spLocks noChangeArrowheads="1"/>
            </p:cNvSpPr>
            <p:nvPr/>
          </p:nvSpPr>
          <p:spPr bwMode="auto">
            <a:xfrm>
              <a:off x="4927478" y="3109913"/>
              <a:ext cx="1936750" cy="1200150"/>
            </a:xfrm>
            <a:prstGeom prst="rect">
              <a:avLst/>
            </a:prstGeom>
            <a:solidFill>
              <a:srgbClr val="7A7A7A"/>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000">
                  <a:effectLst>
                    <a:outerShdw blurRad="38100" dist="38100" dir="2700000" algn="tl">
                      <a:srgbClr val="000000"/>
                    </a:outerShdw>
                  </a:effectLst>
                  <a:latin typeface="Roboto" panose="02000000000000000000"/>
                </a:rPr>
                <a:t>Clearly Identifies</a:t>
              </a:r>
              <a:br>
                <a:rPr lang="en-US" altLang="en-US" sz="2000">
                  <a:effectLst>
                    <a:outerShdw blurRad="38100" dist="38100" dir="2700000" algn="tl">
                      <a:srgbClr val="000000"/>
                    </a:outerShdw>
                  </a:effectLst>
                  <a:latin typeface="Roboto" panose="02000000000000000000"/>
                </a:rPr>
              </a:br>
              <a:r>
                <a:rPr lang="en-US" altLang="en-US" sz="2000">
                  <a:effectLst>
                    <a:outerShdw blurRad="38100" dist="38100" dir="2700000" algn="tl">
                      <a:srgbClr val="000000"/>
                    </a:outerShdw>
                  </a:effectLst>
                  <a:latin typeface="Roboto" panose="02000000000000000000"/>
                </a:rPr>
                <a:t>Actions</a:t>
              </a:r>
            </a:p>
          </p:txBody>
        </p:sp>
        <p:sp>
          <p:nvSpPr>
            <p:cNvPr id="17" name="Rectangle 5">
              <a:extLst>
                <a:ext uri="{FF2B5EF4-FFF2-40B4-BE49-F238E27FC236}">
                  <a16:creationId xmlns:a16="http://schemas.microsoft.com/office/drawing/2014/main" id="{C0248A17-1074-20E4-6430-87A02A0AA120}"/>
                </a:ext>
              </a:extLst>
            </p:cNvPr>
            <p:cNvSpPr>
              <a:spLocks noChangeArrowheads="1"/>
            </p:cNvSpPr>
            <p:nvPr/>
          </p:nvSpPr>
          <p:spPr bwMode="auto">
            <a:xfrm>
              <a:off x="7002340" y="3109913"/>
              <a:ext cx="1936750" cy="1203325"/>
            </a:xfrm>
            <a:prstGeom prst="rect">
              <a:avLst/>
            </a:prstGeom>
            <a:solidFill>
              <a:srgbClr val="7A7A7A"/>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000">
                  <a:effectLst>
                    <a:outerShdw blurRad="38100" dist="38100" dir="2700000" algn="tl">
                      <a:srgbClr val="000000"/>
                    </a:outerShdw>
                  </a:effectLst>
                  <a:latin typeface="Roboto" panose="02000000000000000000"/>
                </a:rPr>
                <a:t>Details Rigorous</a:t>
              </a:r>
              <a:br>
                <a:rPr lang="en-US" altLang="en-US" sz="2000">
                  <a:effectLst>
                    <a:outerShdw blurRad="38100" dist="38100" dir="2700000" algn="tl">
                      <a:srgbClr val="000000"/>
                    </a:outerShdw>
                  </a:effectLst>
                  <a:latin typeface="Roboto" panose="02000000000000000000"/>
                </a:rPr>
              </a:br>
              <a:r>
                <a:rPr lang="en-US" altLang="en-US" sz="2000">
                  <a:effectLst>
                    <a:outerShdw blurRad="38100" dist="38100" dir="2700000" algn="tl">
                      <a:srgbClr val="000000"/>
                    </a:outerShdw>
                  </a:effectLst>
                  <a:latin typeface="Roboto" panose="02000000000000000000"/>
                </a:rPr>
                <a:t>Timeline</a:t>
              </a:r>
            </a:p>
          </p:txBody>
        </p:sp>
        <p:sp>
          <p:nvSpPr>
            <p:cNvPr id="18" name="Rectangle 6">
              <a:extLst>
                <a:ext uri="{FF2B5EF4-FFF2-40B4-BE49-F238E27FC236}">
                  <a16:creationId xmlns:a16="http://schemas.microsoft.com/office/drawing/2014/main" id="{FD56115F-A561-6642-8331-0399EE395E76}"/>
                </a:ext>
              </a:extLst>
            </p:cNvPr>
            <p:cNvSpPr>
              <a:spLocks noChangeArrowheads="1"/>
            </p:cNvSpPr>
            <p:nvPr/>
          </p:nvSpPr>
          <p:spPr bwMode="auto">
            <a:xfrm>
              <a:off x="9064503" y="3109913"/>
              <a:ext cx="1936750" cy="1211262"/>
            </a:xfrm>
            <a:prstGeom prst="rect">
              <a:avLst/>
            </a:prstGeom>
            <a:solidFill>
              <a:srgbClr val="7A7A7A"/>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000">
                  <a:effectLst>
                    <a:outerShdw blurRad="38100" dist="38100" dir="2700000" algn="tl">
                      <a:srgbClr val="000000"/>
                    </a:outerShdw>
                  </a:effectLst>
                  <a:latin typeface="Roboto" panose="02000000000000000000"/>
                </a:rPr>
                <a:t>Clearly Identifies</a:t>
              </a:r>
              <a:br>
                <a:rPr lang="en-US" altLang="en-US" sz="2000">
                  <a:effectLst>
                    <a:outerShdw blurRad="38100" dist="38100" dir="2700000" algn="tl">
                      <a:srgbClr val="000000"/>
                    </a:outerShdw>
                  </a:effectLst>
                  <a:latin typeface="Roboto" panose="02000000000000000000"/>
                </a:rPr>
              </a:br>
              <a:r>
                <a:rPr lang="en-US" altLang="en-US" sz="2000">
                  <a:effectLst>
                    <a:outerShdw blurRad="38100" dist="38100" dir="2700000" algn="tl">
                      <a:srgbClr val="000000"/>
                    </a:outerShdw>
                  </a:effectLst>
                  <a:latin typeface="Roboto" panose="02000000000000000000"/>
                </a:rPr>
                <a:t>Ownership</a:t>
              </a:r>
            </a:p>
          </p:txBody>
        </p:sp>
        <p:cxnSp>
          <p:nvCxnSpPr>
            <p:cNvPr id="19" name="AutoShape 10">
              <a:extLst>
                <a:ext uri="{FF2B5EF4-FFF2-40B4-BE49-F238E27FC236}">
                  <a16:creationId xmlns:a16="http://schemas.microsoft.com/office/drawing/2014/main" id="{7CB97E81-6366-98FE-26EE-5D05309A553E}"/>
                </a:ext>
              </a:extLst>
            </p:cNvPr>
            <p:cNvCxnSpPr>
              <a:cxnSpLocks noChangeShapeType="1"/>
              <a:stCxn id="15" idx="1"/>
              <a:endCxn id="14" idx="1"/>
            </p:cNvCxnSpPr>
            <p:nvPr/>
          </p:nvCxnSpPr>
          <p:spPr bwMode="auto">
            <a:xfrm rot="10800000" flipH="1" flipV="1">
              <a:off x="2854203" y="3729038"/>
              <a:ext cx="993775" cy="2543175"/>
            </a:xfrm>
            <a:prstGeom prst="bentConnector3">
              <a:avLst>
                <a:gd name="adj1" fmla="val -23005"/>
              </a:avLst>
            </a:prstGeom>
            <a:noFill/>
            <a:ln w="104775" cap="sq">
              <a:solidFill>
                <a:srgbClr val="EE3228"/>
              </a:solidFill>
              <a:miter lim="800000"/>
              <a:headEnd/>
              <a:tailEnd type="triangle" w="med" len="med"/>
            </a:ln>
            <a:extLst>
              <a:ext uri="{909E8E84-426E-40DD-AFC4-6F175D3DCCD1}">
                <a14:hiddenFill xmlns:a14="http://schemas.microsoft.com/office/drawing/2010/main">
                  <a:noFill/>
                </a14:hiddenFill>
              </a:ext>
            </a:extLst>
          </p:spPr>
        </p:cxnSp>
        <p:cxnSp>
          <p:nvCxnSpPr>
            <p:cNvPr id="20" name="AutoShape 11">
              <a:extLst>
                <a:ext uri="{FF2B5EF4-FFF2-40B4-BE49-F238E27FC236}">
                  <a16:creationId xmlns:a16="http://schemas.microsoft.com/office/drawing/2014/main" id="{B448057E-2651-7399-CB59-B7B3766CC82F}"/>
                </a:ext>
              </a:extLst>
            </p:cNvPr>
            <p:cNvCxnSpPr>
              <a:cxnSpLocks noChangeShapeType="1"/>
              <a:stCxn id="18" idx="3"/>
              <a:endCxn id="14" idx="3"/>
            </p:cNvCxnSpPr>
            <p:nvPr/>
          </p:nvCxnSpPr>
          <p:spPr bwMode="auto">
            <a:xfrm flipH="1">
              <a:off x="10170990" y="3716338"/>
              <a:ext cx="830263" cy="2555875"/>
            </a:xfrm>
            <a:prstGeom prst="bentConnector3">
              <a:avLst>
                <a:gd name="adj1" fmla="val -27532"/>
              </a:avLst>
            </a:prstGeom>
            <a:noFill/>
            <a:ln w="104775" cap="sq">
              <a:solidFill>
                <a:srgbClr val="EE3228"/>
              </a:solidFill>
              <a:miter lim="800000"/>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2055894B-67AE-7891-6E0D-BB0E8EFE80C8}"/>
              </a:ext>
            </a:extLst>
          </p:cNvPr>
          <p:cNvGrpSpPr/>
          <p:nvPr/>
        </p:nvGrpSpPr>
        <p:grpSpPr>
          <a:xfrm>
            <a:off x="940004" y="321492"/>
            <a:ext cx="6217883" cy="311851"/>
            <a:chOff x="940249" y="302538"/>
            <a:chExt cx="6219503" cy="311932"/>
          </a:xfrm>
        </p:grpSpPr>
        <p:sp>
          <p:nvSpPr>
            <p:cNvPr id="3" name="TextBox 2">
              <a:extLst>
                <a:ext uri="{FF2B5EF4-FFF2-40B4-BE49-F238E27FC236}">
                  <a16:creationId xmlns:a16="http://schemas.microsoft.com/office/drawing/2014/main" id="{F5912081-D476-1E7A-35A8-6E4F4C3AE87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5" name="AutoShape 9">
              <a:extLst>
                <a:ext uri="{FF2B5EF4-FFF2-40B4-BE49-F238E27FC236}">
                  <a16:creationId xmlns:a16="http://schemas.microsoft.com/office/drawing/2014/main" id="{ECC6A1D7-1FBB-15AC-E04E-21E386AC1E14}"/>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922A3752-2FD2-A61D-7AA0-6D6CDD6340EC}"/>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9">
              <a:extLst>
                <a:ext uri="{FF2B5EF4-FFF2-40B4-BE49-F238E27FC236}">
                  <a16:creationId xmlns:a16="http://schemas.microsoft.com/office/drawing/2014/main" id="{B6090B1D-03D3-849A-131B-43E0C89D6853}"/>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4" name="AutoShape 9">
              <a:extLst>
                <a:ext uri="{FF2B5EF4-FFF2-40B4-BE49-F238E27FC236}">
                  <a16:creationId xmlns:a16="http://schemas.microsoft.com/office/drawing/2014/main" id="{584D707B-BCE4-0B42-42F0-F22375E70DDC}"/>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5" name="AutoShape 11">
              <a:extLst>
                <a:ext uri="{FF2B5EF4-FFF2-40B4-BE49-F238E27FC236}">
                  <a16:creationId xmlns:a16="http://schemas.microsoft.com/office/drawing/2014/main" id="{8453DBC1-EF18-8014-4F34-DEFA8F9261B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6" name="Slide Number Placeholder 2">
            <a:extLst>
              <a:ext uri="{FF2B5EF4-FFF2-40B4-BE49-F238E27FC236}">
                <a16:creationId xmlns:a16="http://schemas.microsoft.com/office/drawing/2014/main" id="{4FB6A416-4C47-06E8-8C7D-D7E5652421F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152</a:t>
            </a:fld>
            <a:endParaRPr lang="en-US" dirty="0"/>
          </a:p>
        </p:txBody>
      </p:sp>
    </p:spTree>
    <p:extLst>
      <p:ext uri="{BB962C8B-B14F-4D97-AF65-F5344CB8AC3E}">
        <p14:creationId xmlns:p14="http://schemas.microsoft.com/office/powerpoint/2010/main" val="74561782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Timing of the Value Stream Plan</a:t>
            </a:r>
            <a:endParaRPr lang="en-US"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idx="1"/>
          </p:nvPr>
        </p:nvSpPr>
        <p:spPr/>
        <p:txBody>
          <a:bodyPr>
            <a:normAutofit/>
          </a:bodyPr>
          <a:lstStyle/>
          <a:p>
            <a:r>
              <a:rPr lang="en-US" dirty="0"/>
              <a:t>Timing must align with the predetermined Future State implementation</a:t>
            </a:r>
          </a:p>
          <a:p>
            <a:r>
              <a:rPr lang="en-US" dirty="0"/>
              <a:t>Identify actions needed to execute the timing for the plan</a:t>
            </a:r>
          </a:p>
          <a:p>
            <a:r>
              <a:rPr lang="en-US" dirty="0"/>
              <a:t>Ensure the team is duly challenged to achieve the future state objectives</a:t>
            </a:r>
          </a:p>
          <a:p>
            <a:r>
              <a:rPr lang="en-US" dirty="0"/>
              <a:t>Create a review cadence to update the status of the Value Stream Plan objectives on a regular basis</a:t>
            </a:r>
          </a:p>
          <a:p>
            <a:endParaRPr lang="en-US" dirty="0"/>
          </a:p>
          <a:p>
            <a:endParaRPr lang="en-US" dirty="0"/>
          </a:p>
        </p:txBody>
      </p:sp>
      <p:grpSp>
        <p:nvGrpSpPr>
          <p:cNvPr id="12" name="Group 11">
            <a:extLst>
              <a:ext uri="{FF2B5EF4-FFF2-40B4-BE49-F238E27FC236}">
                <a16:creationId xmlns:a16="http://schemas.microsoft.com/office/drawing/2014/main" id="{9BC7CE1C-6173-A93C-D867-062182DAD0D8}"/>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C01D5123-9449-938F-D9B5-075C9F833BB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63B99638-439B-275C-0F13-5555F507F657}"/>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2D50F549-87BB-2E54-E371-94A0D6723965}"/>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31E0AE09-5743-F823-1CFC-AD54B2F4EA5C}"/>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F81E346F-B05A-F9B8-2326-AD40D22196DB}"/>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274D8967-F5D6-E30F-95CF-856D1AF18EE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15427E70-02AD-ED41-5D5B-BE728FC3EC2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153</a:t>
            </a:fld>
            <a:endParaRPr lang="en-US" dirty="0"/>
          </a:p>
        </p:txBody>
      </p:sp>
    </p:spTree>
    <p:extLst>
      <p:ext uri="{BB962C8B-B14F-4D97-AF65-F5344CB8AC3E}">
        <p14:creationId xmlns:p14="http://schemas.microsoft.com/office/powerpoint/2010/main" val="3837451673"/>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Role of Leadership in VSM</a:t>
            </a:r>
            <a:endParaRPr lang="en-US"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idx="1"/>
          </p:nvPr>
        </p:nvSpPr>
        <p:spPr/>
        <p:txBody>
          <a:bodyPr>
            <a:normAutofit fontScale="92500" lnSpcReduction="10000"/>
          </a:bodyPr>
          <a:lstStyle/>
          <a:p>
            <a:r>
              <a:rPr lang="en-US" dirty="0"/>
              <a:t>Define and communicate the long-term “vision” for the business regularly</a:t>
            </a:r>
          </a:p>
          <a:p>
            <a:pPr lvl="1"/>
            <a:r>
              <a:rPr lang="en-US" dirty="0"/>
              <a:t>No sense in making short term improvements to a process that may be outsourced, eliminated or fundamentally transformed in the near future</a:t>
            </a:r>
          </a:p>
          <a:p>
            <a:r>
              <a:rPr lang="en-US" dirty="0"/>
              <a:t>Identify key value streams to be addressed by the business</a:t>
            </a:r>
          </a:p>
          <a:p>
            <a:pPr lvl="1"/>
            <a:r>
              <a:rPr lang="en-US" dirty="0"/>
              <a:t>Prioritized according to business need and strategy</a:t>
            </a:r>
          </a:p>
          <a:p>
            <a:pPr lvl="1"/>
            <a:r>
              <a:rPr lang="en-US" dirty="0"/>
              <a:t>Not every business process will need to be addressed by VSM</a:t>
            </a:r>
          </a:p>
          <a:p>
            <a:r>
              <a:rPr lang="en-US" dirty="0"/>
              <a:t>Provide sponsorship and support for VSM events and implementation</a:t>
            </a:r>
          </a:p>
          <a:p>
            <a:pPr lvl="1"/>
            <a:r>
              <a:rPr lang="en-US" dirty="0"/>
              <a:t>Internal/external resources and funding</a:t>
            </a:r>
          </a:p>
          <a:p>
            <a:pPr lvl="1"/>
            <a:r>
              <a:rPr lang="en-US" dirty="0"/>
              <a:t>Executive decision-making</a:t>
            </a:r>
          </a:p>
          <a:p>
            <a:pPr lvl="1"/>
            <a:r>
              <a:rPr lang="en-US" dirty="0"/>
              <a:t>Empowerment of teams</a:t>
            </a:r>
          </a:p>
        </p:txBody>
      </p:sp>
      <p:grpSp>
        <p:nvGrpSpPr>
          <p:cNvPr id="12" name="Group 11">
            <a:extLst>
              <a:ext uri="{FF2B5EF4-FFF2-40B4-BE49-F238E27FC236}">
                <a16:creationId xmlns:a16="http://schemas.microsoft.com/office/drawing/2014/main" id="{234AC6FD-6F3E-C0C9-8D58-5767BDD60F8E}"/>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DA96363D-F37D-810C-D1C5-2BD09E5E771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47D67365-BF95-48F2-8B61-A91973366610}"/>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2667BEC3-16CC-CEE0-491D-EC2CDCB19387}"/>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F5D2AC0E-2907-C0AA-4295-7B2C0D4EE831}"/>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D91A510F-788C-1EEA-7318-970B63D14B07}"/>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8EA04C98-68F2-886F-D305-CCD406F80D2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D7AB7349-AA35-EAEB-3F3A-F628F5C63E31}"/>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154</a:t>
            </a:fld>
            <a:endParaRPr lang="en-US" dirty="0"/>
          </a:p>
        </p:txBody>
      </p:sp>
    </p:spTree>
    <p:extLst>
      <p:ext uri="{BB962C8B-B14F-4D97-AF65-F5344CB8AC3E}">
        <p14:creationId xmlns:p14="http://schemas.microsoft.com/office/powerpoint/2010/main" val="335598146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Role of the Value Stream Manager</a:t>
            </a:r>
            <a:endParaRPr lang="en-US"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idx="1"/>
          </p:nvPr>
        </p:nvSpPr>
        <p:spPr/>
        <p:txBody>
          <a:bodyPr>
            <a:normAutofit/>
          </a:bodyPr>
          <a:lstStyle/>
          <a:p>
            <a:pPr>
              <a:buSzPct val="90000"/>
              <a:buFont typeface="Wingdings" panose="05000000000000000000" pitchFamily="2" charset="2"/>
              <a:buChar char="§"/>
            </a:pPr>
            <a:r>
              <a:rPr lang="en-US" altLang="en-US" dirty="0"/>
              <a:t>The Value Stream Manager is the business process </a:t>
            </a:r>
            <a:r>
              <a:rPr lang="ja-JP" altLang="en-US" dirty="0"/>
              <a:t>“</a:t>
            </a:r>
            <a:r>
              <a:rPr lang="en-US" altLang="ja-JP" dirty="0"/>
              <a:t>owner</a:t>
            </a:r>
            <a:r>
              <a:rPr lang="ja-JP" altLang="en-US" dirty="0"/>
              <a:t>”</a:t>
            </a:r>
            <a:endParaRPr lang="en-US" altLang="ja-JP" dirty="0"/>
          </a:p>
          <a:p>
            <a:pPr>
              <a:buSzPct val="90000"/>
              <a:buFont typeface="Wingdings" panose="05000000000000000000" pitchFamily="2" charset="2"/>
              <a:buChar char="§"/>
            </a:pPr>
            <a:r>
              <a:rPr lang="en-US" altLang="en-US" dirty="0"/>
              <a:t>Oversees, charters and typically leads VSM events</a:t>
            </a:r>
          </a:p>
          <a:p>
            <a:pPr>
              <a:buSzPct val="90000"/>
              <a:buFont typeface="Wingdings" panose="05000000000000000000" pitchFamily="2" charset="2"/>
              <a:buChar char="§"/>
            </a:pPr>
            <a:r>
              <a:rPr lang="ja-JP" altLang="en-US" dirty="0"/>
              <a:t>“</a:t>
            </a:r>
            <a:r>
              <a:rPr lang="en-US" altLang="ja-JP" dirty="0"/>
              <a:t>Owns</a:t>
            </a:r>
            <a:r>
              <a:rPr lang="ja-JP" altLang="en-US" dirty="0"/>
              <a:t>”</a:t>
            </a:r>
            <a:r>
              <a:rPr lang="en-US" altLang="ja-JP" dirty="0"/>
              <a:t> the Value Stream Plan</a:t>
            </a:r>
          </a:p>
          <a:p>
            <a:pPr lvl="1">
              <a:buSzPct val="90000"/>
              <a:buFont typeface="Wingdings" panose="05000000000000000000" pitchFamily="2" charset="2"/>
              <a:buChar char="§"/>
            </a:pPr>
            <a:r>
              <a:rPr lang="en-US" altLang="en-US" dirty="0"/>
              <a:t>Responsible for overseeing the completion of kaizen and other CI improvement activities that are identified on the VS Plan</a:t>
            </a:r>
          </a:p>
          <a:p>
            <a:pPr lvl="1">
              <a:buSzPct val="90000"/>
              <a:buFont typeface="Wingdings" panose="05000000000000000000" pitchFamily="2" charset="2"/>
              <a:buChar char="§"/>
            </a:pPr>
            <a:r>
              <a:rPr lang="en-US" altLang="en-US" dirty="0"/>
              <a:t>Provides leadership in resolving issues and removing obstacles that affect reaching the future state in the prescribed timeframe</a:t>
            </a:r>
          </a:p>
        </p:txBody>
      </p:sp>
      <p:grpSp>
        <p:nvGrpSpPr>
          <p:cNvPr id="12" name="Group 11">
            <a:extLst>
              <a:ext uri="{FF2B5EF4-FFF2-40B4-BE49-F238E27FC236}">
                <a16:creationId xmlns:a16="http://schemas.microsoft.com/office/drawing/2014/main" id="{532D0877-82B7-975C-0A52-2D272E73ACCF}"/>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C58F95C2-802E-7CF4-891D-83E919E4E0A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1B2E433B-CB00-8E9F-B949-4732B253C9C4}"/>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E0DC9CED-A88E-26EF-CD9C-35B4F53D55E8}"/>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CFD19A04-745E-D235-942C-23E6638B8D02}"/>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3E6B049D-AD13-DC12-C35D-53746B9D91C9}"/>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D622FE94-2590-EB19-44CC-39FB32D09DA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F520EA0D-63F0-29B6-D199-049990A977E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155</a:t>
            </a:fld>
            <a:endParaRPr lang="en-US" dirty="0"/>
          </a:p>
        </p:txBody>
      </p:sp>
    </p:spTree>
    <p:extLst>
      <p:ext uri="{BB962C8B-B14F-4D97-AF65-F5344CB8AC3E}">
        <p14:creationId xmlns:p14="http://schemas.microsoft.com/office/powerpoint/2010/main" val="135933697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Role of the Value Stream Manager</a:t>
            </a:r>
            <a:endParaRPr lang="en-US"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idx="1"/>
          </p:nvPr>
        </p:nvSpPr>
        <p:spPr/>
        <p:txBody>
          <a:bodyPr>
            <a:normAutofit/>
          </a:bodyPr>
          <a:lstStyle/>
          <a:p>
            <a:pPr>
              <a:buSzPct val="90000"/>
              <a:buFont typeface="Wingdings" panose="05000000000000000000" pitchFamily="2" charset="2"/>
              <a:buChar char="§"/>
            </a:pPr>
            <a:r>
              <a:rPr lang="ja-JP" altLang="en-US" dirty="0"/>
              <a:t>“</a:t>
            </a:r>
            <a:r>
              <a:rPr lang="en-US" altLang="ja-JP" dirty="0"/>
              <a:t>Owns</a:t>
            </a:r>
            <a:r>
              <a:rPr lang="ja-JP" altLang="en-US" dirty="0"/>
              <a:t>”</a:t>
            </a:r>
            <a:r>
              <a:rPr lang="en-US" altLang="ja-JP" dirty="0"/>
              <a:t> the operational aspects of the end-to-end process, even if it crosses organizational boundaries</a:t>
            </a:r>
          </a:p>
          <a:p>
            <a:pPr lvl="1">
              <a:buSzPct val="90000"/>
              <a:buFont typeface="Wingdings" panose="05000000000000000000" pitchFamily="2" charset="2"/>
              <a:buChar char="§"/>
            </a:pPr>
            <a:r>
              <a:rPr lang="en-US" altLang="en-US" dirty="0"/>
              <a:t>Reports (solid or dotted line) to the level where all VS processes and functions report to</a:t>
            </a:r>
          </a:p>
          <a:p>
            <a:pPr lvl="1">
              <a:buSzPct val="90000"/>
              <a:buFont typeface="Wingdings" panose="05000000000000000000" pitchFamily="2" charset="2"/>
              <a:buChar char="§"/>
            </a:pPr>
            <a:r>
              <a:rPr lang="en-US" altLang="en-US" dirty="0"/>
              <a:t>Ensures that the future state operational model is viable and achieves the benefits envisioned during the VSM event</a:t>
            </a:r>
          </a:p>
          <a:p>
            <a:pPr>
              <a:buSzPct val="90000"/>
              <a:buFont typeface="Wingdings" panose="05000000000000000000" pitchFamily="2" charset="2"/>
              <a:buChar char="§"/>
            </a:pPr>
            <a:r>
              <a:rPr lang="en-US" altLang="en-US" dirty="0"/>
              <a:t>Continues the VSM process through the second and subsequent cycles</a:t>
            </a:r>
          </a:p>
          <a:p>
            <a:pPr>
              <a:buSzPct val="90000"/>
              <a:buFont typeface="Wingdings" panose="05000000000000000000" pitchFamily="2" charset="2"/>
              <a:buChar char="§"/>
            </a:pPr>
            <a:r>
              <a:rPr lang="en-US" altLang="en-US" dirty="0"/>
              <a:t>Maintains the linkage between VSM and strategic vision of the business</a:t>
            </a:r>
          </a:p>
        </p:txBody>
      </p:sp>
      <p:grpSp>
        <p:nvGrpSpPr>
          <p:cNvPr id="12" name="Group 11">
            <a:extLst>
              <a:ext uri="{FF2B5EF4-FFF2-40B4-BE49-F238E27FC236}">
                <a16:creationId xmlns:a16="http://schemas.microsoft.com/office/drawing/2014/main" id="{3955728C-1EE3-561B-6BFB-07573330CBE9}"/>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1D545F23-29B2-87F1-D7A7-B5F51F422B4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F76D871D-E223-40C6-3297-C452E742C826}"/>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11B1A09D-3C90-05FE-A3B7-F80F96F9DB8F}"/>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FC398DEC-3F13-CC44-05F9-8B81BB0B6923}"/>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A5D728C8-5623-6850-B776-B0CEF09481A0}"/>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1630ABB1-343F-8759-3642-8812018DA70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911A7A72-C81C-8751-0380-24A0365BAD6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156</a:t>
            </a:fld>
            <a:endParaRPr lang="en-US" dirty="0"/>
          </a:p>
        </p:txBody>
      </p:sp>
    </p:spTree>
    <p:extLst>
      <p:ext uri="{BB962C8B-B14F-4D97-AF65-F5344CB8AC3E}">
        <p14:creationId xmlns:p14="http://schemas.microsoft.com/office/powerpoint/2010/main" val="79479446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Autofit/>
          </a:bodyPr>
          <a:lstStyle/>
          <a:p>
            <a:r>
              <a:rPr lang="en-US" altLang="en-US" sz="3600" dirty="0"/>
              <a:t>Prioritize Kaizen Bursts Translate </a:t>
            </a:r>
            <a:br>
              <a:rPr lang="en-US" altLang="en-US" sz="3600" dirty="0"/>
            </a:br>
            <a:r>
              <a:rPr lang="en-US" altLang="en-US" sz="3600" dirty="0"/>
              <a:t>to Value Stream Plan Activities</a:t>
            </a:r>
            <a:endParaRPr lang="en-US" sz="3600"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type="body" sz="quarter" idx="4294967295"/>
          </p:nvPr>
        </p:nvSpPr>
        <p:spPr>
          <a:xfrm>
            <a:off x="9072805" y="2246313"/>
            <a:ext cx="2149475" cy="3429000"/>
          </a:xfrm>
        </p:spPr>
        <p:txBody>
          <a:bodyPr>
            <a:normAutofit fontScale="92500" lnSpcReduction="10000"/>
          </a:bodyPr>
          <a:lstStyle/>
          <a:p>
            <a:pPr>
              <a:buSzPct val="90000"/>
            </a:pPr>
            <a:r>
              <a:rPr lang="nl-NL" altLang="ja-JP" dirty="0"/>
              <a:t>VS Loop X</a:t>
            </a:r>
          </a:p>
          <a:p>
            <a:pPr lvl="1">
              <a:buSzPct val="90000"/>
            </a:pPr>
            <a:r>
              <a:rPr lang="nl-NL" altLang="ja-JP" dirty="0"/>
              <a:t>Burst #1</a:t>
            </a:r>
          </a:p>
          <a:p>
            <a:pPr lvl="1">
              <a:buSzPct val="90000"/>
            </a:pPr>
            <a:r>
              <a:rPr lang="nl-NL" altLang="ja-JP" dirty="0"/>
              <a:t>Burst #2</a:t>
            </a:r>
          </a:p>
          <a:p>
            <a:pPr lvl="1">
              <a:buSzPct val="90000"/>
            </a:pPr>
            <a:r>
              <a:rPr lang="nl-NL" altLang="ja-JP" dirty="0"/>
              <a:t>Burst #3</a:t>
            </a:r>
          </a:p>
          <a:p>
            <a:pPr>
              <a:buSzPct val="90000"/>
            </a:pPr>
            <a:r>
              <a:rPr lang="nl-NL" altLang="ja-JP" dirty="0"/>
              <a:t>VS Loop Y</a:t>
            </a:r>
          </a:p>
          <a:p>
            <a:pPr lvl="1">
              <a:buSzPct val="90000"/>
            </a:pPr>
            <a:r>
              <a:rPr lang="nl-NL" altLang="ja-JP" dirty="0"/>
              <a:t>Burst #4</a:t>
            </a:r>
          </a:p>
          <a:p>
            <a:pPr lvl="1">
              <a:buSzPct val="90000"/>
            </a:pPr>
            <a:r>
              <a:rPr lang="nl-NL" altLang="ja-JP" dirty="0"/>
              <a:t>Burst #5</a:t>
            </a:r>
          </a:p>
          <a:p>
            <a:pPr>
              <a:buSzPct val="90000"/>
            </a:pPr>
            <a:r>
              <a:rPr lang="nl-NL" altLang="ja-JP" dirty="0"/>
              <a:t>VS Loop Z</a:t>
            </a:r>
          </a:p>
          <a:p>
            <a:pPr lvl="1">
              <a:buSzPct val="90000"/>
            </a:pPr>
            <a:r>
              <a:rPr lang="nl-NL" altLang="ja-JP" dirty="0"/>
              <a:t>Burst #6</a:t>
            </a:r>
          </a:p>
        </p:txBody>
      </p:sp>
      <p:pic>
        <p:nvPicPr>
          <p:cNvPr id="12" name="Picture 24" descr="MME Future State">
            <a:extLst>
              <a:ext uri="{FF2B5EF4-FFF2-40B4-BE49-F238E27FC236}">
                <a16:creationId xmlns:a16="http://schemas.microsoft.com/office/drawing/2014/main" id="{6D7C2956-E40F-494E-2D46-FCA4903055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6545" y="2246313"/>
            <a:ext cx="5639802" cy="3130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25" descr="MME Marked Up CSM">
            <a:extLst>
              <a:ext uri="{FF2B5EF4-FFF2-40B4-BE49-F238E27FC236}">
                <a16:creationId xmlns:a16="http://schemas.microsoft.com/office/drawing/2014/main" id="{57F0AF5D-D5F7-7AF6-FD73-C515BFE175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1150" t="49289" r="24353" b="13313"/>
          <a:stretch>
            <a:fillRect/>
          </a:stretch>
        </p:blipFill>
        <p:spPr bwMode="auto">
          <a:xfrm>
            <a:off x="4163636" y="4301428"/>
            <a:ext cx="4550113" cy="145340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4" name="Title 1">
            <a:extLst>
              <a:ext uri="{FF2B5EF4-FFF2-40B4-BE49-F238E27FC236}">
                <a16:creationId xmlns:a16="http://schemas.microsoft.com/office/drawing/2014/main" id="{0491B15D-E6BC-AA40-08AB-00217B77F5D8}"/>
              </a:ext>
            </a:extLst>
          </p:cNvPr>
          <p:cNvSpPr txBox="1">
            <a:spLocks/>
          </p:cNvSpPr>
          <p:nvPr/>
        </p:nvSpPr>
        <p:spPr>
          <a:xfrm>
            <a:off x="837982" y="1788597"/>
            <a:ext cx="5768365" cy="457716"/>
          </a:xfrm>
          <a:prstGeom prst="rect">
            <a:avLst/>
          </a:prstGeom>
        </p:spPr>
        <p:txBody>
          <a:bodyPr/>
          <a:lstStyle>
            <a:lvl1pPr marL="0" marR="0" indent="0" algn="l" defTabSz="825500" latinLnBrk="0">
              <a:lnSpc>
                <a:spcPct val="100000"/>
              </a:lnSpc>
              <a:spcBef>
                <a:spcPts val="0"/>
              </a:spcBef>
              <a:spcAft>
                <a:spcPts val="0"/>
              </a:spcAft>
              <a:buClrTx/>
              <a:buSzTx/>
              <a:buFontTx/>
              <a:buNone/>
              <a:tabLst/>
              <a:defRPr sz="5000" b="0" i="0" u="none" strike="noStrike" cap="none" spc="0" baseline="0">
                <a:solidFill>
                  <a:schemeClr val="bg1"/>
                </a:solidFill>
                <a:uFillTx/>
                <a:latin typeface="+mn-lt"/>
                <a:ea typeface="+mn-ea"/>
                <a:cs typeface="+mn-cs"/>
                <a:sym typeface="Roboto"/>
              </a:defRPr>
            </a:lvl1pPr>
            <a:lvl2pPr marL="0" marR="0" indent="3429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2pPr>
            <a:lvl3pPr marL="0" marR="0" indent="6858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3pPr>
            <a:lvl4pPr marL="0" marR="0" indent="10287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4pPr>
            <a:lvl5pPr marL="0" marR="0" indent="13716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5pPr>
            <a:lvl6pPr marL="0" marR="0" indent="17145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6pPr>
            <a:lvl7pPr marL="0" marR="0" indent="20574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7pPr>
            <a:lvl8pPr marL="0" marR="0" indent="24003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8pPr>
            <a:lvl9pPr marL="0" marR="0" indent="27432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9pPr>
          </a:lstStyle>
          <a:p>
            <a:pPr hangingPunct="1"/>
            <a:r>
              <a:rPr lang="en-US" altLang="en-US" sz="2500" dirty="0">
                <a:solidFill>
                  <a:srgbClr val="191C25"/>
                </a:solidFill>
              </a:rPr>
              <a:t>Completed Future State Map</a:t>
            </a:r>
            <a:endParaRPr lang="en-US" sz="2500" dirty="0">
              <a:solidFill>
                <a:srgbClr val="191C25"/>
              </a:solidFill>
            </a:endParaRPr>
          </a:p>
        </p:txBody>
      </p:sp>
      <p:sp>
        <p:nvSpPr>
          <p:cNvPr id="15" name="Title 1">
            <a:extLst>
              <a:ext uri="{FF2B5EF4-FFF2-40B4-BE49-F238E27FC236}">
                <a16:creationId xmlns:a16="http://schemas.microsoft.com/office/drawing/2014/main" id="{6550C848-2306-17EA-2E43-F8F5F85D59BA}"/>
              </a:ext>
            </a:extLst>
          </p:cNvPr>
          <p:cNvSpPr txBox="1">
            <a:spLocks/>
          </p:cNvSpPr>
          <p:nvPr/>
        </p:nvSpPr>
        <p:spPr>
          <a:xfrm>
            <a:off x="4291009" y="5754832"/>
            <a:ext cx="5639802" cy="410488"/>
          </a:xfrm>
          <a:prstGeom prst="rect">
            <a:avLst/>
          </a:prstGeom>
        </p:spPr>
        <p:txBody>
          <a:bodyPr/>
          <a:lstStyle>
            <a:lvl1pPr marL="0" marR="0" indent="0" algn="l" defTabSz="825500" latinLnBrk="0">
              <a:lnSpc>
                <a:spcPct val="100000"/>
              </a:lnSpc>
              <a:spcBef>
                <a:spcPts val="0"/>
              </a:spcBef>
              <a:spcAft>
                <a:spcPts val="0"/>
              </a:spcAft>
              <a:buClrTx/>
              <a:buSzTx/>
              <a:buFontTx/>
              <a:buNone/>
              <a:tabLst/>
              <a:defRPr sz="5000" b="0" i="0" u="none" strike="noStrike" cap="none" spc="0" baseline="0">
                <a:solidFill>
                  <a:schemeClr val="bg1"/>
                </a:solidFill>
                <a:uFillTx/>
                <a:latin typeface="+mn-lt"/>
                <a:ea typeface="+mn-ea"/>
                <a:cs typeface="+mn-cs"/>
                <a:sym typeface="Roboto"/>
              </a:defRPr>
            </a:lvl1pPr>
            <a:lvl2pPr marL="0" marR="0" indent="3429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2pPr>
            <a:lvl3pPr marL="0" marR="0" indent="6858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3pPr>
            <a:lvl4pPr marL="0" marR="0" indent="10287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4pPr>
            <a:lvl5pPr marL="0" marR="0" indent="13716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5pPr>
            <a:lvl6pPr marL="0" marR="0" indent="17145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6pPr>
            <a:lvl7pPr marL="0" marR="0" indent="20574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7pPr>
            <a:lvl8pPr marL="0" marR="0" indent="24003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8pPr>
            <a:lvl9pPr marL="0" marR="0" indent="2743200" algn="ctr" defTabSz="825500" latinLnBrk="0">
              <a:lnSpc>
                <a:spcPct val="100000"/>
              </a:lnSpc>
              <a:spcBef>
                <a:spcPts val="0"/>
              </a:spcBef>
              <a:spcAft>
                <a:spcPts val="0"/>
              </a:spcAft>
              <a:buClrTx/>
              <a:buSzTx/>
              <a:buFontTx/>
              <a:buNone/>
              <a:tabLst/>
              <a:defRPr sz="11600" b="0" i="0" u="none" strike="noStrike" cap="none" spc="0" baseline="0">
                <a:solidFill>
                  <a:srgbClr val="000000"/>
                </a:solidFill>
                <a:uFillTx/>
                <a:latin typeface="+mn-lt"/>
                <a:ea typeface="+mn-ea"/>
                <a:cs typeface="+mn-cs"/>
                <a:sym typeface="Roboto"/>
              </a:defRPr>
            </a:lvl9pPr>
          </a:lstStyle>
          <a:p>
            <a:pPr hangingPunct="1"/>
            <a:r>
              <a:rPr lang="en-US" altLang="en-US" sz="2500" dirty="0">
                <a:solidFill>
                  <a:srgbClr val="191C25"/>
                </a:solidFill>
              </a:rPr>
              <a:t>Marked Up Current State Map</a:t>
            </a:r>
            <a:endParaRPr lang="en-US" sz="2500" dirty="0">
              <a:solidFill>
                <a:srgbClr val="191C25"/>
              </a:solidFill>
            </a:endParaRPr>
          </a:p>
        </p:txBody>
      </p:sp>
      <p:grpSp>
        <p:nvGrpSpPr>
          <p:cNvPr id="17" name="Group 16">
            <a:extLst>
              <a:ext uri="{FF2B5EF4-FFF2-40B4-BE49-F238E27FC236}">
                <a16:creationId xmlns:a16="http://schemas.microsoft.com/office/drawing/2014/main" id="{50B23FFF-C796-1CE7-C5F4-997BF688D2A3}"/>
              </a:ext>
            </a:extLst>
          </p:cNvPr>
          <p:cNvGrpSpPr/>
          <p:nvPr/>
        </p:nvGrpSpPr>
        <p:grpSpPr>
          <a:xfrm>
            <a:off x="940004" y="321492"/>
            <a:ext cx="6217883" cy="311851"/>
            <a:chOff x="940249" y="302538"/>
            <a:chExt cx="6219503" cy="311932"/>
          </a:xfrm>
        </p:grpSpPr>
        <p:sp>
          <p:nvSpPr>
            <p:cNvPr id="18" name="TextBox 17">
              <a:extLst>
                <a:ext uri="{FF2B5EF4-FFF2-40B4-BE49-F238E27FC236}">
                  <a16:creationId xmlns:a16="http://schemas.microsoft.com/office/drawing/2014/main" id="{521E0607-CC5B-95DC-6FB5-0D9E751F49A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9" name="AutoShape 9">
              <a:extLst>
                <a:ext uri="{FF2B5EF4-FFF2-40B4-BE49-F238E27FC236}">
                  <a16:creationId xmlns:a16="http://schemas.microsoft.com/office/drawing/2014/main" id="{E6DB4835-1159-9116-7805-882FB4CCFBF8}"/>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0" name="AutoShape 9">
              <a:extLst>
                <a:ext uri="{FF2B5EF4-FFF2-40B4-BE49-F238E27FC236}">
                  <a16:creationId xmlns:a16="http://schemas.microsoft.com/office/drawing/2014/main" id="{66E1FF8C-209F-C009-6B2D-FC0F64358F7E}"/>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1" name="AutoShape 9">
              <a:extLst>
                <a:ext uri="{FF2B5EF4-FFF2-40B4-BE49-F238E27FC236}">
                  <a16:creationId xmlns:a16="http://schemas.microsoft.com/office/drawing/2014/main" id="{6D9D6FB7-825B-09E8-95BC-0FF416903FF0}"/>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2" name="AutoShape 9">
              <a:extLst>
                <a:ext uri="{FF2B5EF4-FFF2-40B4-BE49-F238E27FC236}">
                  <a16:creationId xmlns:a16="http://schemas.microsoft.com/office/drawing/2014/main" id="{88EF6CBB-A318-4D66-EB86-9FF398E89238}"/>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23" name="AutoShape 11">
              <a:extLst>
                <a:ext uri="{FF2B5EF4-FFF2-40B4-BE49-F238E27FC236}">
                  <a16:creationId xmlns:a16="http://schemas.microsoft.com/office/drawing/2014/main" id="{07B6D914-2CEF-FF37-A581-7396453D467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24" name="Slide Number Placeholder 2">
            <a:extLst>
              <a:ext uri="{FF2B5EF4-FFF2-40B4-BE49-F238E27FC236}">
                <a16:creationId xmlns:a16="http://schemas.microsoft.com/office/drawing/2014/main" id="{9B844549-771D-131B-247D-E56416A59237}"/>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157</a:t>
            </a:fld>
            <a:endParaRPr lang="en-US" dirty="0"/>
          </a:p>
        </p:txBody>
      </p:sp>
    </p:spTree>
    <p:extLst>
      <p:ext uri="{BB962C8B-B14F-4D97-AF65-F5344CB8AC3E}">
        <p14:creationId xmlns:p14="http://schemas.microsoft.com/office/powerpoint/2010/main" val="135317729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The Value Stream Plan</a:t>
            </a:r>
            <a:endParaRPr lang="en-US" dirty="0"/>
          </a:p>
        </p:txBody>
      </p:sp>
      <p:pic>
        <p:nvPicPr>
          <p:cNvPr id="17" name="Picture 13" descr="Blank VS Plan">
            <a:extLst>
              <a:ext uri="{FF2B5EF4-FFF2-40B4-BE49-F238E27FC236}">
                <a16:creationId xmlns:a16="http://schemas.microsoft.com/office/drawing/2014/main" id="{4AA2447C-1FD6-0101-B7EA-06D734F3CC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0665" y="1900037"/>
            <a:ext cx="7438907" cy="419935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6429741E-F872-0712-B07F-AE67DB52EEA6}"/>
              </a:ext>
            </a:extLst>
          </p:cNvPr>
          <p:cNvGrpSpPr/>
          <p:nvPr/>
        </p:nvGrpSpPr>
        <p:grpSpPr>
          <a:xfrm>
            <a:off x="940004" y="321492"/>
            <a:ext cx="6217883" cy="311851"/>
            <a:chOff x="940249" y="302538"/>
            <a:chExt cx="6219503" cy="311932"/>
          </a:xfrm>
        </p:grpSpPr>
        <p:sp>
          <p:nvSpPr>
            <p:cNvPr id="12" name="TextBox 11">
              <a:extLst>
                <a:ext uri="{FF2B5EF4-FFF2-40B4-BE49-F238E27FC236}">
                  <a16:creationId xmlns:a16="http://schemas.microsoft.com/office/drawing/2014/main" id="{E7A4E3CB-8527-99E2-8962-605F8D2EC28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3" name="AutoShape 9">
              <a:extLst>
                <a:ext uri="{FF2B5EF4-FFF2-40B4-BE49-F238E27FC236}">
                  <a16:creationId xmlns:a16="http://schemas.microsoft.com/office/drawing/2014/main" id="{21CB2054-E6EB-3B06-D008-1CAF8E5E56C2}"/>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4" name="AutoShape 9">
              <a:extLst>
                <a:ext uri="{FF2B5EF4-FFF2-40B4-BE49-F238E27FC236}">
                  <a16:creationId xmlns:a16="http://schemas.microsoft.com/office/drawing/2014/main" id="{B61D6056-4B88-5E1C-A5A0-ECCF521AA4A8}"/>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70A8028F-9752-425F-5F38-E41C596AC05A}"/>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82D6AA4D-E58C-6298-E624-916351AF4FD3}"/>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620C97C6-AE9E-25C2-D5CD-9D0D5CE4A18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D1954ADE-A995-E2B5-E512-835752A7EC6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158</a:t>
            </a:fld>
            <a:endParaRPr lang="en-US" dirty="0"/>
          </a:p>
        </p:txBody>
      </p:sp>
    </p:spTree>
    <p:extLst>
      <p:ext uri="{BB962C8B-B14F-4D97-AF65-F5344CB8AC3E}">
        <p14:creationId xmlns:p14="http://schemas.microsoft.com/office/powerpoint/2010/main" val="3609834626"/>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Completed Value Stream Plan</a:t>
            </a:r>
            <a:endParaRPr lang="en-US" dirty="0"/>
          </a:p>
        </p:txBody>
      </p:sp>
      <p:pic>
        <p:nvPicPr>
          <p:cNvPr id="3" name="Picture 14" descr="MME VS Plan">
            <a:extLst>
              <a:ext uri="{FF2B5EF4-FFF2-40B4-BE49-F238E27FC236}">
                <a16:creationId xmlns:a16="http://schemas.microsoft.com/office/drawing/2014/main" id="{066BDF4C-451D-3EA9-D9CB-35812C037F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7982" y="1932390"/>
            <a:ext cx="8437246" cy="411679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12" name="Group 11">
            <a:extLst>
              <a:ext uri="{FF2B5EF4-FFF2-40B4-BE49-F238E27FC236}">
                <a16:creationId xmlns:a16="http://schemas.microsoft.com/office/drawing/2014/main" id="{153056EE-5A21-347C-87B4-F2D9CE22C1E0}"/>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927103BB-72C2-CF26-BC44-43254EAC020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86D154D7-1D64-765D-CA15-791647B8F14F}"/>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510A0A75-385E-3841-B4C4-54C05C2A3B50}"/>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6D632E66-19AA-AF1A-6659-199E5F24EE71}"/>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67910E1E-57A1-9F7C-5A15-C7E69EE6299D}"/>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FAF4F91A-DFFC-99E9-4497-8A7AB1B57FE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93FA5495-1B94-8101-5F55-D2820AD73150}"/>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159</a:t>
            </a:fld>
            <a:endParaRPr lang="en-US" dirty="0"/>
          </a:p>
        </p:txBody>
      </p:sp>
    </p:spTree>
    <p:extLst>
      <p:ext uri="{BB962C8B-B14F-4D97-AF65-F5344CB8AC3E}">
        <p14:creationId xmlns:p14="http://schemas.microsoft.com/office/powerpoint/2010/main" val="298648444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Autofit/>
          </a:bodyPr>
          <a:lstStyle/>
          <a:p>
            <a:r>
              <a:rPr lang="en-US" altLang="en-US" sz="3600" dirty="0"/>
              <a:t>Follow up and monitoring of Value Stream Plan</a:t>
            </a:r>
            <a:endParaRPr lang="en-US" sz="3600"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idx="1"/>
          </p:nvPr>
        </p:nvSpPr>
        <p:spPr/>
        <p:txBody>
          <a:bodyPr>
            <a:normAutofit/>
          </a:bodyPr>
          <a:lstStyle/>
          <a:p>
            <a:pPr>
              <a:buSzPct val="90000"/>
            </a:pPr>
            <a:r>
              <a:rPr lang="en-US" altLang="ja-JP" dirty="0"/>
              <a:t>Monitoring of progress is crucial to success</a:t>
            </a:r>
          </a:p>
          <a:p>
            <a:pPr>
              <a:buSzPct val="90000"/>
            </a:pPr>
            <a:r>
              <a:rPr lang="en-US" altLang="ja-JP" dirty="0"/>
              <a:t>What does not get followed up on – does not get done</a:t>
            </a:r>
          </a:p>
          <a:p>
            <a:pPr>
              <a:buSzPct val="90000"/>
            </a:pPr>
            <a:r>
              <a:rPr lang="en-US" altLang="ja-JP" dirty="0"/>
              <a:t>Conduct weekly status review with Value Stream Owner</a:t>
            </a:r>
          </a:p>
          <a:p>
            <a:pPr>
              <a:buSzPct val="90000"/>
            </a:pPr>
            <a:r>
              <a:rPr lang="en-US" altLang="ja-JP" dirty="0"/>
              <a:t>Value Stream Manager should review progress every two weeks</a:t>
            </a:r>
          </a:p>
          <a:p>
            <a:pPr>
              <a:buSzPct val="90000"/>
            </a:pPr>
            <a:r>
              <a:rPr lang="en-US" altLang="ja-JP" dirty="0"/>
              <a:t>Reviews conducted on-site and focus on incomplete items</a:t>
            </a:r>
          </a:p>
          <a:p>
            <a:pPr>
              <a:buSzPct val="90000"/>
            </a:pPr>
            <a:r>
              <a:rPr lang="en-US" altLang="ja-JP" dirty="0"/>
              <a:t>Progress should be reviewed with Business Unit Owner Monthly</a:t>
            </a:r>
          </a:p>
        </p:txBody>
      </p:sp>
      <p:grpSp>
        <p:nvGrpSpPr>
          <p:cNvPr id="12" name="Group 11">
            <a:extLst>
              <a:ext uri="{FF2B5EF4-FFF2-40B4-BE49-F238E27FC236}">
                <a16:creationId xmlns:a16="http://schemas.microsoft.com/office/drawing/2014/main" id="{038241F4-79BB-BA66-62AA-B1FC295AEB14}"/>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F837007B-9588-01CF-FB71-EEB16BE070F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14" name="AutoShape 9">
              <a:extLst>
                <a:ext uri="{FF2B5EF4-FFF2-40B4-BE49-F238E27FC236}">
                  <a16:creationId xmlns:a16="http://schemas.microsoft.com/office/drawing/2014/main" id="{E76CC596-FA53-90F6-E752-14E394387232}"/>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B0A33811-E40E-021F-FE70-6155D462A0AC}"/>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616F12A4-23C8-A88B-B236-D78CA48CF18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0FB7C2DC-4621-A901-6B19-52F64DA8B2CF}"/>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4302E637-628F-DF6E-C569-AD4814FC9B7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C9C6B79F-5E7C-8D90-BA6B-E3E507CF88CB}"/>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160</a:t>
            </a:fld>
            <a:endParaRPr lang="en-US" dirty="0"/>
          </a:p>
        </p:txBody>
      </p:sp>
    </p:spTree>
    <p:extLst>
      <p:ext uri="{BB962C8B-B14F-4D97-AF65-F5344CB8AC3E}">
        <p14:creationId xmlns:p14="http://schemas.microsoft.com/office/powerpoint/2010/main" val="206517953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E6931-532C-5C2F-3F1C-9EADC7DBB4A5}"/>
              </a:ext>
            </a:extLst>
          </p:cNvPr>
          <p:cNvSpPr>
            <a:spLocks noGrp="1"/>
          </p:cNvSpPr>
          <p:nvPr>
            <p:ph type="title"/>
          </p:nvPr>
        </p:nvSpPr>
        <p:spPr/>
        <p:txBody>
          <a:bodyPr>
            <a:normAutofit/>
          </a:bodyPr>
          <a:lstStyle/>
          <a:p>
            <a:r>
              <a:rPr lang="en-US" altLang="en-US" dirty="0"/>
              <a:t>VSM in Context</a:t>
            </a:r>
            <a:endParaRPr lang="en-US" dirty="0"/>
          </a:p>
        </p:txBody>
      </p:sp>
      <p:sp>
        <p:nvSpPr>
          <p:cNvPr id="3" name="Text Placeholder 2">
            <a:extLst>
              <a:ext uri="{FF2B5EF4-FFF2-40B4-BE49-F238E27FC236}">
                <a16:creationId xmlns:a16="http://schemas.microsoft.com/office/drawing/2014/main" id="{E5F5E1A8-1D8B-06BB-CF07-1B65514F13A7}"/>
              </a:ext>
            </a:extLst>
          </p:cNvPr>
          <p:cNvSpPr>
            <a:spLocks noGrp="1"/>
          </p:cNvSpPr>
          <p:nvPr>
            <p:ph type="subTitle" idx="4294967295"/>
          </p:nvPr>
        </p:nvSpPr>
        <p:spPr>
          <a:xfrm>
            <a:off x="405105" y="2276820"/>
            <a:ext cx="2576513" cy="2636838"/>
          </a:xfrm>
        </p:spPr>
        <p:txBody>
          <a:bodyPr>
            <a:normAutofit/>
          </a:bodyPr>
          <a:lstStyle/>
          <a:p>
            <a:pPr>
              <a:buSzPct val="90000"/>
            </a:pPr>
            <a:r>
              <a:rPr lang="en-US" altLang="ja-JP" sz="2000" dirty="0"/>
              <a:t>VSM is an incremental and repeatable cycle</a:t>
            </a:r>
          </a:p>
          <a:p>
            <a:pPr>
              <a:buSzPct val="90000"/>
            </a:pPr>
            <a:r>
              <a:rPr lang="en-US" altLang="ja-JP" sz="2000" dirty="0"/>
              <a:t>VSM implementation cycles should support business’ long-term “vision” </a:t>
            </a:r>
          </a:p>
        </p:txBody>
      </p:sp>
      <p:grpSp>
        <p:nvGrpSpPr>
          <p:cNvPr id="43" name="Group 42">
            <a:extLst>
              <a:ext uri="{FF2B5EF4-FFF2-40B4-BE49-F238E27FC236}">
                <a16:creationId xmlns:a16="http://schemas.microsoft.com/office/drawing/2014/main" id="{AC696714-3B30-D2CD-50D4-B325BD3619A8}"/>
              </a:ext>
            </a:extLst>
          </p:cNvPr>
          <p:cNvGrpSpPr/>
          <p:nvPr/>
        </p:nvGrpSpPr>
        <p:grpSpPr>
          <a:xfrm>
            <a:off x="3700131" y="2105245"/>
            <a:ext cx="8343446" cy="3783827"/>
            <a:chOff x="2940736" y="1091084"/>
            <a:chExt cx="19997096" cy="11262654"/>
          </a:xfrm>
        </p:grpSpPr>
        <p:grpSp>
          <p:nvGrpSpPr>
            <p:cNvPr id="39" name="Group 38">
              <a:extLst>
                <a:ext uri="{FF2B5EF4-FFF2-40B4-BE49-F238E27FC236}">
                  <a16:creationId xmlns:a16="http://schemas.microsoft.com/office/drawing/2014/main" id="{0CEDF32C-7D72-0627-2FDD-21E2ED562238}"/>
                </a:ext>
              </a:extLst>
            </p:cNvPr>
            <p:cNvGrpSpPr/>
            <p:nvPr/>
          </p:nvGrpSpPr>
          <p:grpSpPr>
            <a:xfrm>
              <a:off x="2940736" y="1091084"/>
              <a:ext cx="19997096" cy="11262654"/>
              <a:chOff x="676275" y="1772810"/>
              <a:chExt cx="7811216" cy="4399390"/>
            </a:xfrm>
          </p:grpSpPr>
          <p:sp>
            <p:nvSpPr>
              <p:cNvPr id="12" name="Rectangle 13">
                <a:extLst>
                  <a:ext uri="{FF2B5EF4-FFF2-40B4-BE49-F238E27FC236}">
                    <a16:creationId xmlns:a16="http://schemas.microsoft.com/office/drawing/2014/main" id="{62DAAF7A-BEE9-5821-74E3-6F0C884691DC}"/>
                  </a:ext>
                </a:extLst>
              </p:cNvPr>
              <p:cNvSpPr>
                <a:spLocks noChangeArrowheads="1"/>
              </p:cNvSpPr>
              <p:nvPr/>
            </p:nvSpPr>
            <p:spPr bwMode="auto">
              <a:xfrm>
                <a:off x="676275" y="2819400"/>
                <a:ext cx="1066800" cy="685800"/>
              </a:xfrm>
              <a:prstGeom prst="rec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VSM</a:t>
                </a:r>
              </a:p>
              <a:p>
                <a:pPr algn="ctr">
                  <a:lnSpc>
                    <a:spcPct val="100000"/>
                  </a:lnSpc>
                  <a:spcBef>
                    <a:spcPct val="30000"/>
                  </a:spcBef>
                </a:pPr>
                <a:r>
                  <a:rPr lang="ja-JP" altLang="en-US" sz="1200" b="0" dirty="0">
                    <a:solidFill>
                      <a:schemeClr val="tx1"/>
                    </a:solidFill>
                    <a:latin typeface="Roboto" panose="02000000000000000000" pitchFamily="2" charset="0"/>
                  </a:rPr>
                  <a:t>“</a:t>
                </a:r>
                <a:r>
                  <a:rPr lang="en-US" altLang="ja-JP" sz="1200" b="0" dirty="0">
                    <a:solidFill>
                      <a:schemeClr val="tx1"/>
                    </a:solidFill>
                    <a:latin typeface="Roboto" panose="02000000000000000000" pitchFamily="2" charset="0"/>
                    <a:ea typeface="Roboto" panose="02000000000000000000" pitchFamily="2" charset="0"/>
                  </a:rPr>
                  <a:t>Event</a:t>
                </a:r>
                <a:r>
                  <a:rPr lang="ja-JP" altLang="en-US" sz="1200" b="0" dirty="0">
                    <a:solidFill>
                      <a:schemeClr val="tx1"/>
                    </a:solidFill>
                    <a:latin typeface="Roboto" panose="02000000000000000000" pitchFamily="2" charset="0"/>
                  </a:rPr>
                  <a:t>”</a:t>
                </a:r>
                <a:endParaRPr lang="en-US" altLang="en-US" sz="1200" b="0" dirty="0">
                  <a:solidFill>
                    <a:schemeClr val="tx1"/>
                  </a:solidFill>
                  <a:latin typeface="Roboto" panose="02000000000000000000" pitchFamily="2" charset="0"/>
                  <a:ea typeface="Roboto" panose="02000000000000000000" pitchFamily="2" charset="0"/>
                </a:endParaRPr>
              </a:p>
            </p:txBody>
          </p:sp>
          <p:sp>
            <p:nvSpPr>
              <p:cNvPr id="13" name="AutoShape 14">
                <a:extLst>
                  <a:ext uri="{FF2B5EF4-FFF2-40B4-BE49-F238E27FC236}">
                    <a16:creationId xmlns:a16="http://schemas.microsoft.com/office/drawing/2014/main" id="{75457908-BE26-0AD5-2C7B-921FC9C0E058}"/>
                  </a:ext>
                </a:extLst>
              </p:cNvPr>
              <p:cNvSpPr>
                <a:spLocks noChangeArrowheads="1"/>
              </p:cNvSpPr>
              <p:nvPr/>
            </p:nvSpPr>
            <p:spPr bwMode="auto">
              <a:xfrm>
                <a:off x="676275" y="4030545"/>
                <a:ext cx="914400" cy="713884"/>
              </a:xfrm>
              <a:prstGeom prst="flowChartDocumen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Future-State</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VSM</a:t>
                </a:r>
              </a:p>
            </p:txBody>
          </p:sp>
          <p:sp>
            <p:nvSpPr>
              <p:cNvPr id="14" name="AutoShape 15">
                <a:extLst>
                  <a:ext uri="{FF2B5EF4-FFF2-40B4-BE49-F238E27FC236}">
                    <a16:creationId xmlns:a16="http://schemas.microsoft.com/office/drawing/2014/main" id="{C366D516-0900-5909-020E-E1778A9BC70C}"/>
                  </a:ext>
                </a:extLst>
              </p:cNvPr>
              <p:cNvSpPr>
                <a:spLocks noChangeArrowheads="1"/>
              </p:cNvSpPr>
              <p:nvPr/>
            </p:nvSpPr>
            <p:spPr bwMode="auto">
              <a:xfrm>
                <a:off x="1819275" y="3576642"/>
                <a:ext cx="914400" cy="756743"/>
              </a:xfrm>
              <a:prstGeom prst="flowChartDocumen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Value Stream</a:t>
                </a:r>
              </a:p>
              <a:p>
                <a:pPr algn="ctr">
                  <a:lnSpc>
                    <a:spcPct val="100000"/>
                  </a:lnSpc>
                  <a:spcBef>
                    <a:spcPct val="30000"/>
                  </a:spcBef>
                </a:pPr>
                <a:r>
                  <a:rPr lang="en-US" altLang="en-US" sz="1200" b="0">
                    <a:solidFill>
                      <a:schemeClr val="tx1"/>
                    </a:solidFill>
                    <a:latin typeface="Roboto" panose="02000000000000000000" pitchFamily="2" charset="0"/>
                    <a:ea typeface="Roboto" panose="02000000000000000000" pitchFamily="2" charset="0"/>
                  </a:rPr>
                  <a:t>Plan</a:t>
                </a:r>
              </a:p>
            </p:txBody>
          </p:sp>
          <p:sp>
            <p:nvSpPr>
              <p:cNvPr id="15" name="Line 16">
                <a:extLst>
                  <a:ext uri="{FF2B5EF4-FFF2-40B4-BE49-F238E27FC236}">
                    <a16:creationId xmlns:a16="http://schemas.microsoft.com/office/drawing/2014/main" id="{467D4FAF-85E7-8F87-0C77-4901E7505A13}"/>
                  </a:ext>
                </a:extLst>
              </p:cNvPr>
              <p:cNvSpPr>
                <a:spLocks noChangeShapeType="1"/>
              </p:cNvSpPr>
              <p:nvPr/>
            </p:nvSpPr>
            <p:spPr bwMode="auto">
              <a:xfrm>
                <a:off x="1514475" y="3505200"/>
                <a:ext cx="342184" cy="414341"/>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6" name="Line 17">
                <a:extLst>
                  <a:ext uri="{FF2B5EF4-FFF2-40B4-BE49-F238E27FC236}">
                    <a16:creationId xmlns:a16="http://schemas.microsoft.com/office/drawing/2014/main" id="{19229138-A627-3C95-B7F6-5D86B982A334}"/>
                  </a:ext>
                </a:extLst>
              </p:cNvPr>
              <p:cNvSpPr>
                <a:spLocks noChangeShapeType="1"/>
              </p:cNvSpPr>
              <p:nvPr/>
            </p:nvSpPr>
            <p:spPr bwMode="auto">
              <a:xfrm>
                <a:off x="981075" y="3505200"/>
                <a:ext cx="114300" cy="525345"/>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7" name="Rectangle 18">
                <a:extLst>
                  <a:ext uri="{FF2B5EF4-FFF2-40B4-BE49-F238E27FC236}">
                    <a16:creationId xmlns:a16="http://schemas.microsoft.com/office/drawing/2014/main" id="{67C6D416-E06C-04F0-96F0-965A8538276A}"/>
                  </a:ext>
                </a:extLst>
              </p:cNvPr>
              <p:cNvSpPr>
                <a:spLocks noChangeArrowheads="1"/>
              </p:cNvSpPr>
              <p:nvPr/>
            </p:nvSpPr>
            <p:spPr bwMode="auto">
              <a:xfrm>
                <a:off x="2733675" y="2667000"/>
                <a:ext cx="1219200" cy="990600"/>
              </a:xfrm>
              <a:prstGeom prst="rec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VS Plan</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Implementation</a:t>
                </a:r>
              </a:p>
            </p:txBody>
          </p:sp>
          <p:sp>
            <p:nvSpPr>
              <p:cNvPr id="18" name="Rectangle 19">
                <a:extLst>
                  <a:ext uri="{FF2B5EF4-FFF2-40B4-BE49-F238E27FC236}">
                    <a16:creationId xmlns:a16="http://schemas.microsoft.com/office/drawing/2014/main" id="{6C631D99-A987-6F2D-E575-69D38F602473}"/>
                  </a:ext>
                </a:extLst>
              </p:cNvPr>
              <p:cNvSpPr>
                <a:spLocks noChangeArrowheads="1"/>
              </p:cNvSpPr>
              <p:nvPr/>
            </p:nvSpPr>
            <p:spPr bwMode="auto">
              <a:xfrm>
                <a:off x="4867275" y="2819400"/>
                <a:ext cx="1066800" cy="685800"/>
              </a:xfrm>
              <a:prstGeom prst="rec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New VSM</a:t>
                </a:r>
              </a:p>
              <a:p>
                <a:pPr algn="ctr">
                  <a:lnSpc>
                    <a:spcPct val="100000"/>
                  </a:lnSpc>
                  <a:spcBef>
                    <a:spcPct val="30000"/>
                  </a:spcBef>
                </a:pPr>
                <a:r>
                  <a:rPr lang="ja-JP" altLang="en-US" sz="1200" b="0" dirty="0">
                    <a:solidFill>
                      <a:schemeClr val="tx1"/>
                    </a:solidFill>
                    <a:latin typeface="Roboto" panose="02000000000000000000" pitchFamily="2" charset="0"/>
                  </a:rPr>
                  <a:t>“</a:t>
                </a:r>
                <a:r>
                  <a:rPr lang="en-US" altLang="ja-JP" sz="1200" b="0" dirty="0">
                    <a:solidFill>
                      <a:schemeClr val="tx1"/>
                    </a:solidFill>
                    <a:latin typeface="Roboto" panose="02000000000000000000" pitchFamily="2" charset="0"/>
                    <a:ea typeface="Roboto" panose="02000000000000000000" pitchFamily="2" charset="0"/>
                  </a:rPr>
                  <a:t>Event</a:t>
                </a:r>
                <a:r>
                  <a:rPr lang="ja-JP" altLang="en-US" sz="1200" b="0" dirty="0">
                    <a:solidFill>
                      <a:schemeClr val="tx1"/>
                    </a:solidFill>
                    <a:latin typeface="Roboto" panose="02000000000000000000" pitchFamily="2" charset="0"/>
                  </a:rPr>
                  <a:t>”</a:t>
                </a:r>
                <a:endParaRPr lang="en-US" altLang="en-US" sz="1200" b="0" dirty="0">
                  <a:solidFill>
                    <a:schemeClr val="tx1"/>
                  </a:solidFill>
                  <a:latin typeface="Roboto" panose="02000000000000000000" pitchFamily="2" charset="0"/>
                  <a:ea typeface="Roboto" panose="02000000000000000000" pitchFamily="2" charset="0"/>
                </a:endParaRPr>
              </a:p>
            </p:txBody>
          </p:sp>
          <p:sp>
            <p:nvSpPr>
              <p:cNvPr id="19" name="AutoShape 20">
                <a:extLst>
                  <a:ext uri="{FF2B5EF4-FFF2-40B4-BE49-F238E27FC236}">
                    <a16:creationId xmlns:a16="http://schemas.microsoft.com/office/drawing/2014/main" id="{D6156D8D-0F2B-D4FD-AD9E-30B1F09B989E}"/>
                  </a:ext>
                </a:extLst>
              </p:cNvPr>
              <p:cNvSpPr>
                <a:spLocks noChangeArrowheads="1"/>
              </p:cNvSpPr>
              <p:nvPr/>
            </p:nvSpPr>
            <p:spPr bwMode="auto">
              <a:xfrm>
                <a:off x="4867275" y="4095750"/>
                <a:ext cx="990600" cy="1104900"/>
              </a:xfrm>
              <a:prstGeom prst="flowChartDocumen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New</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Future-State</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VSM</a:t>
                </a:r>
              </a:p>
            </p:txBody>
          </p:sp>
          <p:sp>
            <p:nvSpPr>
              <p:cNvPr id="20" name="AutoShape 21">
                <a:extLst>
                  <a:ext uri="{FF2B5EF4-FFF2-40B4-BE49-F238E27FC236}">
                    <a16:creationId xmlns:a16="http://schemas.microsoft.com/office/drawing/2014/main" id="{FF4EC982-D94A-3C12-3D6E-6D0A52B9A330}"/>
                  </a:ext>
                </a:extLst>
              </p:cNvPr>
              <p:cNvSpPr>
                <a:spLocks noChangeArrowheads="1"/>
              </p:cNvSpPr>
              <p:nvPr/>
            </p:nvSpPr>
            <p:spPr bwMode="auto">
              <a:xfrm>
                <a:off x="5934075" y="3676649"/>
                <a:ext cx="914400" cy="1104900"/>
              </a:xfrm>
              <a:prstGeom prst="flowChartDocument">
                <a:avLst/>
              </a:prstGeom>
              <a:solidFill>
                <a:srgbClr val="EAEAEA"/>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New </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Value Stream</a:t>
                </a:r>
              </a:p>
              <a:p>
                <a:pPr algn="ct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Plan</a:t>
                </a:r>
              </a:p>
            </p:txBody>
          </p:sp>
          <p:sp>
            <p:nvSpPr>
              <p:cNvPr id="21" name="Line 22">
                <a:extLst>
                  <a:ext uri="{FF2B5EF4-FFF2-40B4-BE49-F238E27FC236}">
                    <a16:creationId xmlns:a16="http://schemas.microsoft.com/office/drawing/2014/main" id="{4B5AAFFF-BA59-71A4-F83A-A9C7443974BD}"/>
                  </a:ext>
                </a:extLst>
              </p:cNvPr>
              <p:cNvSpPr>
                <a:spLocks noChangeShapeType="1"/>
              </p:cNvSpPr>
              <p:nvPr/>
            </p:nvSpPr>
            <p:spPr bwMode="auto">
              <a:xfrm>
                <a:off x="5553075" y="3505200"/>
                <a:ext cx="381000" cy="304799"/>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2" name="Line 23">
                <a:extLst>
                  <a:ext uri="{FF2B5EF4-FFF2-40B4-BE49-F238E27FC236}">
                    <a16:creationId xmlns:a16="http://schemas.microsoft.com/office/drawing/2014/main" id="{1321F9B9-D789-B32E-4091-4497AD5DE9F8}"/>
                  </a:ext>
                </a:extLst>
              </p:cNvPr>
              <p:cNvSpPr>
                <a:spLocks noChangeShapeType="1"/>
              </p:cNvSpPr>
              <p:nvPr/>
            </p:nvSpPr>
            <p:spPr bwMode="auto">
              <a:xfrm>
                <a:off x="5019675" y="3505200"/>
                <a:ext cx="304800" cy="590549"/>
              </a:xfrm>
              <a:prstGeom prst="line">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cxnSp>
            <p:nvCxnSpPr>
              <p:cNvPr id="23" name="AutoShape 25">
                <a:extLst>
                  <a:ext uri="{FF2B5EF4-FFF2-40B4-BE49-F238E27FC236}">
                    <a16:creationId xmlns:a16="http://schemas.microsoft.com/office/drawing/2014/main" id="{22D0E848-62A1-05DB-A48A-18CC01538650}"/>
                  </a:ext>
                </a:extLst>
              </p:cNvPr>
              <p:cNvCxnSpPr>
                <a:cxnSpLocks noChangeShapeType="1"/>
                <a:stCxn id="17" idx="3"/>
                <a:endCxn id="18" idx="1"/>
              </p:cNvCxnSpPr>
              <p:nvPr/>
            </p:nvCxnSpPr>
            <p:spPr bwMode="auto">
              <a:xfrm>
                <a:off x="3952875" y="3162300"/>
                <a:ext cx="914400" cy="0"/>
              </a:xfrm>
              <a:prstGeom prst="straightConnector1">
                <a:avLst/>
              </a:prstGeom>
              <a:noFill/>
              <a:ln w="50800" cap="sq">
                <a:solidFill>
                  <a:srgbClr val="EE3228"/>
                </a:solidFill>
                <a:round/>
                <a:headEnd type="none" w="sm" len="sm"/>
                <a:tailEnd type="triangle" w="sm" len="sm"/>
              </a:ln>
              <a:extLst>
                <a:ext uri="{909E8E84-426E-40DD-AFC4-6F175D3DCCD1}">
                  <a14:hiddenFill xmlns:a14="http://schemas.microsoft.com/office/drawing/2010/main">
                    <a:noFill/>
                  </a14:hiddenFill>
                </a:ext>
              </a:extLst>
            </p:spPr>
          </p:cxnSp>
          <p:cxnSp>
            <p:nvCxnSpPr>
              <p:cNvPr id="24" name="AutoShape 26">
                <a:extLst>
                  <a:ext uri="{FF2B5EF4-FFF2-40B4-BE49-F238E27FC236}">
                    <a16:creationId xmlns:a16="http://schemas.microsoft.com/office/drawing/2014/main" id="{FEB498ED-2364-CC9A-FDEB-805BC7DCAB32}"/>
                  </a:ext>
                </a:extLst>
              </p:cNvPr>
              <p:cNvCxnSpPr>
                <a:cxnSpLocks noChangeShapeType="1"/>
                <a:stCxn id="18" idx="3"/>
                <a:endCxn id="30" idx="1"/>
              </p:cNvCxnSpPr>
              <p:nvPr/>
            </p:nvCxnSpPr>
            <p:spPr bwMode="auto">
              <a:xfrm>
                <a:off x="5934075" y="3162300"/>
                <a:ext cx="1029416" cy="0"/>
              </a:xfrm>
              <a:prstGeom prst="straightConnector1">
                <a:avLst/>
              </a:prstGeom>
              <a:noFill/>
              <a:ln w="50800" cap="sq">
                <a:solidFill>
                  <a:srgbClr val="EE3228"/>
                </a:solidFill>
                <a:round/>
                <a:headEnd type="none" w="sm" len="sm"/>
                <a:tailEnd type="triangle" w="sm" len="sm"/>
              </a:ln>
              <a:extLst>
                <a:ext uri="{909E8E84-426E-40DD-AFC4-6F175D3DCCD1}">
                  <a14:hiddenFill xmlns:a14="http://schemas.microsoft.com/office/drawing/2010/main">
                    <a:noFill/>
                  </a14:hiddenFill>
                </a:ext>
              </a:extLst>
            </p:spPr>
          </p:cxnSp>
          <p:sp>
            <p:nvSpPr>
              <p:cNvPr id="25" name="Line 27">
                <a:extLst>
                  <a:ext uri="{FF2B5EF4-FFF2-40B4-BE49-F238E27FC236}">
                    <a16:creationId xmlns:a16="http://schemas.microsoft.com/office/drawing/2014/main" id="{4220F002-844A-1D64-6537-1D86C3091EE5}"/>
                  </a:ext>
                </a:extLst>
              </p:cNvPr>
              <p:cNvSpPr>
                <a:spLocks noChangeShapeType="1"/>
              </p:cNvSpPr>
              <p:nvPr/>
            </p:nvSpPr>
            <p:spPr bwMode="auto">
              <a:xfrm flipV="1">
                <a:off x="1819275" y="2176458"/>
                <a:ext cx="3048000" cy="0"/>
              </a:xfrm>
              <a:prstGeom prst="line">
                <a:avLst/>
              </a:prstGeom>
              <a:noFill/>
              <a:ln w="50800" cap="sq">
                <a:solidFill>
                  <a:srgbClr val="EE3228"/>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6" name="Text Box 28">
                <a:extLst>
                  <a:ext uri="{FF2B5EF4-FFF2-40B4-BE49-F238E27FC236}">
                    <a16:creationId xmlns:a16="http://schemas.microsoft.com/office/drawing/2014/main" id="{315DA2C9-387A-D366-2718-DE7DEF5B1952}"/>
                  </a:ext>
                </a:extLst>
              </p:cNvPr>
              <p:cNvSpPr txBox="1">
                <a:spLocks noChangeArrowheads="1"/>
              </p:cNvSpPr>
              <p:nvPr/>
            </p:nvSpPr>
            <p:spPr bwMode="auto">
              <a:xfrm>
                <a:off x="2555875" y="1772810"/>
                <a:ext cx="1574800" cy="751478"/>
              </a:xfrm>
              <a:prstGeom prst="rect">
                <a:avLst/>
              </a:prstGeom>
              <a:solidFill>
                <a:schemeClr val="bg1"/>
              </a:solidFill>
              <a:ln w="12700" cap="sq">
                <a:solidFill>
                  <a:schemeClr val="tx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US" altLang="en-US" sz="1200" b="0" dirty="0">
                    <a:solidFill>
                      <a:schemeClr val="tx1"/>
                    </a:solidFill>
                    <a:latin typeface="Roboto" panose="02000000000000000000" pitchFamily="2" charset="0"/>
                    <a:ea typeface="Roboto" panose="02000000000000000000" pitchFamily="2" charset="0"/>
                  </a:rPr>
                  <a:t>Approx. ½ of time span from now to Future State</a:t>
                </a:r>
              </a:p>
            </p:txBody>
          </p:sp>
          <p:sp>
            <p:nvSpPr>
              <p:cNvPr id="27" name="Rectangle 30">
                <a:extLst>
                  <a:ext uri="{FF2B5EF4-FFF2-40B4-BE49-F238E27FC236}">
                    <a16:creationId xmlns:a16="http://schemas.microsoft.com/office/drawing/2014/main" id="{5ACDDF87-09C4-FC15-AD83-8EB17C27CB23}"/>
                  </a:ext>
                </a:extLst>
              </p:cNvPr>
              <p:cNvSpPr>
                <a:spLocks noChangeArrowheads="1"/>
              </p:cNvSpPr>
              <p:nvPr/>
            </p:nvSpPr>
            <p:spPr bwMode="auto">
              <a:xfrm>
                <a:off x="2352675" y="4744429"/>
                <a:ext cx="2514600" cy="1427771"/>
              </a:xfrm>
              <a:prstGeom prst="rect">
                <a:avLst/>
              </a:prstGeom>
              <a:solidFill>
                <a:schemeClr val="accent4"/>
              </a:solidFill>
              <a:ln w="12700" cap="sq">
                <a:no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latin typeface="Roboto" panose="02000000000000000000" pitchFamily="2" charset="0"/>
                    <a:ea typeface="Roboto" panose="02000000000000000000" pitchFamily="2" charset="0"/>
                  </a:rPr>
                  <a:t>Begin implementation of</a:t>
                </a:r>
              </a:p>
              <a:p>
                <a:pPr>
                  <a:lnSpc>
                    <a:spcPct val="100000"/>
                  </a:lnSpc>
                  <a:spcBef>
                    <a:spcPct val="30000"/>
                  </a:spcBef>
                </a:pPr>
                <a:r>
                  <a:rPr lang="en-US" altLang="en-US" sz="1200" b="0" u="sng" dirty="0">
                    <a:latin typeface="Roboto" panose="02000000000000000000" pitchFamily="2" charset="0"/>
                    <a:ea typeface="Roboto" panose="02000000000000000000" pitchFamily="2" charset="0"/>
                  </a:rPr>
                  <a:t>pacing</a:t>
                </a:r>
                <a:r>
                  <a:rPr lang="en-US" altLang="en-US" sz="1200" b="0" dirty="0">
                    <a:latin typeface="Roboto" panose="02000000000000000000" pitchFamily="2" charset="0"/>
                    <a:ea typeface="Roboto" panose="02000000000000000000" pitchFamily="2" charset="0"/>
                  </a:rPr>
                  <a:t> transformation activities</a:t>
                </a:r>
              </a:p>
              <a:p>
                <a:pPr>
                  <a:lnSpc>
                    <a:spcPct val="100000"/>
                  </a:lnSpc>
                  <a:spcBef>
                    <a:spcPct val="30000"/>
                  </a:spcBef>
                </a:pPr>
                <a:r>
                  <a:rPr lang="en-US" altLang="en-US" sz="1200" b="0" dirty="0">
                    <a:latin typeface="Roboto" panose="02000000000000000000" pitchFamily="2" charset="0"/>
                    <a:ea typeface="Roboto" panose="02000000000000000000" pitchFamily="2" charset="0"/>
                  </a:rPr>
                  <a:t>(&gt;6 months) required to achieve </a:t>
                </a:r>
              </a:p>
              <a:p>
                <a:pPr>
                  <a:lnSpc>
                    <a:spcPct val="100000"/>
                  </a:lnSpc>
                  <a:spcBef>
                    <a:spcPct val="30000"/>
                  </a:spcBef>
                </a:pPr>
                <a:r>
                  <a:rPr lang="en-US" altLang="en-US" sz="1200" b="0" dirty="0">
                    <a:latin typeface="Roboto" panose="02000000000000000000" pitchFamily="2" charset="0"/>
                    <a:ea typeface="Roboto" panose="02000000000000000000" pitchFamily="2" charset="0"/>
                  </a:rPr>
                  <a:t>long-term </a:t>
                </a:r>
                <a:r>
                  <a:rPr lang="ja-JP" altLang="en-US" sz="1200" b="0" dirty="0">
                    <a:latin typeface="Roboto" panose="02000000000000000000" pitchFamily="2" charset="0"/>
                  </a:rPr>
                  <a:t>“</a:t>
                </a:r>
                <a:r>
                  <a:rPr lang="en-US" altLang="ja-JP" sz="1200" b="0" dirty="0">
                    <a:latin typeface="Roboto" panose="02000000000000000000" pitchFamily="2" charset="0"/>
                    <a:ea typeface="Roboto" panose="02000000000000000000" pitchFamily="2" charset="0"/>
                  </a:rPr>
                  <a:t>vision</a:t>
                </a:r>
                <a:r>
                  <a:rPr lang="ja-JP" altLang="en-US" sz="1200" b="0" dirty="0">
                    <a:latin typeface="Roboto" panose="02000000000000000000" pitchFamily="2" charset="0"/>
                  </a:rPr>
                  <a:t>”</a:t>
                </a:r>
                <a:r>
                  <a:rPr lang="en-US" altLang="ja-JP" sz="1200" b="0" dirty="0">
                    <a:latin typeface="Roboto" panose="02000000000000000000" pitchFamily="2" charset="0"/>
                    <a:ea typeface="Roboto" panose="02000000000000000000" pitchFamily="2" charset="0"/>
                  </a:rPr>
                  <a:t> </a:t>
                </a:r>
                <a:endParaRPr lang="en-US" altLang="en-US" sz="1200" b="0" dirty="0">
                  <a:latin typeface="Roboto" panose="02000000000000000000" pitchFamily="2" charset="0"/>
                  <a:ea typeface="Roboto" panose="02000000000000000000" pitchFamily="2" charset="0"/>
                </a:endParaRPr>
              </a:p>
            </p:txBody>
          </p:sp>
          <p:sp>
            <p:nvSpPr>
              <p:cNvPr id="28" name="AutoShape 31">
                <a:extLst>
                  <a:ext uri="{FF2B5EF4-FFF2-40B4-BE49-F238E27FC236}">
                    <a16:creationId xmlns:a16="http://schemas.microsoft.com/office/drawing/2014/main" id="{A26E7B24-8CEA-96A7-B920-05093F8D6F44}"/>
                  </a:ext>
                </a:extLst>
              </p:cNvPr>
              <p:cNvSpPr>
                <a:spLocks noChangeArrowheads="1"/>
              </p:cNvSpPr>
              <p:nvPr/>
            </p:nvSpPr>
            <p:spPr bwMode="auto">
              <a:xfrm>
                <a:off x="904875" y="5153514"/>
                <a:ext cx="914400" cy="609600"/>
              </a:xfrm>
              <a:prstGeom prst="flowChartDocument">
                <a:avLst/>
              </a:prstGeom>
              <a:solidFill>
                <a:schemeClr val="accent4"/>
              </a:solidFill>
              <a:ln w="12700" cap="sq">
                <a:no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latin typeface="Roboto" panose="02000000000000000000" pitchFamily="2" charset="0"/>
                    <a:ea typeface="Roboto" panose="02000000000000000000" pitchFamily="2" charset="0"/>
                  </a:rPr>
                  <a:t>Long-term</a:t>
                </a:r>
              </a:p>
              <a:p>
                <a:pPr>
                  <a:lnSpc>
                    <a:spcPct val="100000"/>
                  </a:lnSpc>
                  <a:spcBef>
                    <a:spcPct val="30000"/>
                  </a:spcBef>
                </a:pPr>
                <a:r>
                  <a:rPr lang="en-US" altLang="en-US" sz="1200" b="0" dirty="0">
                    <a:latin typeface="Roboto" panose="02000000000000000000" pitchFamily="2" charset="0"/>
                    <a:ea typeface="Roboto" panose="02000000000000000000" pitchFamily="2" charset="0"/>
                  </a:rPr>
                  <a:t>Vision</a:t>
                </a:r>
              </a:p>
            </p:txBody>
          </p:sp>
          <p:cxnSp>
            <p:nvCxnSpPr>
              <p:cNvPr id="29" name="AutoShape 32">
                <a:extLst>
                  <a:ext uri="{FF2B5EF4-FFF2-40B4-BE49-F238E27FC236}">
                    <a16:creationId xmlns:a16="http://schemas.microsoft.com/office/drawing/2014/main" id="{E0FDAF0B-8A73-E759-63C5-C79F48CA9904}"/>
                  </a:ext>
                </a:extLst>
              </p:cNvPr>
              <p:cNvCxnSpPr>
                <a:cxnSpLocks noChangeShapeType="1"/>
                <a:stCxn id="28" idx="3"/>
                <a:endCxn id="27" idx="1"/>
              </p:cNvCxnSpPr>
              <p:nvPr/>
            </p:nvCxnSpPr>
            <p:spPr bwMode="auto">
              <a:xfrm>
                <a:off x="1819275" y="5458314"/>
                <a:ext cx="533400" cy="1"/>
              </a:xfrm>
              <a:prstGeom prst="straightConnector1">
                <a:avLst/>
              </a:prstGeom>
              <a:noFill/>
              <a:ln w="50800" cap="sq">
                <a:solidFill>
                  <a:srgbClr val="EE3228"/>
                </a:solidFill>
                <a:round/>
                <a:headEnd type="none" w="sm" len="sm"/>
                <a:tailEnd type="triangle" w="sm" len="sm"/>
              </a:ln>
              <a:extLst>
                <a:ext uri="{909E8E84-426E-40DD-AFC4-6F175D3DCCD1}">
                  <a14:hiddenFill xmlns:a14="http://schemas.microsoft.com/office/drawing/2010/main">
                    <a:noFill/>
                  </a14:hiddenFill>
                </a:ext>
              </a:extLst>
            </p:spPr>
          </p:cxnSp>
          <p:sp>
            <p:nvSpPr>
              <p:cNvPr id="30" name="AutoShape 33">
                <a:extLst>
                  <a:ext uri="{FF2B5EF4-FFF2-40B4-BE49-F238E27FC236}">
                    <a16:creationId xmlns:a16="http://schemas.microsoft.com/office/drawing/2014/main" id="{FC5660E9-0B95-9FEA-1434-203742B1F54C}"/>
                  </a:ext>
                </a:extLst>
              </p:cNvPr>
              <p:cNvSpPr>
                <a:spLocks noChangeArrowheads="1"/>
              </p:cNvSpPr>
              <p:nvPr/>
            </p:nvSpPr>
            <p:spPr bwMode="auto">
              <a:xfrm>
                <a:off x="6963491" y="2499078"/>
                <a:ext cx="1524000" cy="1326444"/>
              </a:xfrm>
              <a:prstGeom prst="flowChartAlternateProcess">
                <a:avLst/>
              </a:prstGeom>
              <a:solidFill>
                <a:schemeClr val="accent4"/>
              </a:solidFill>
              <a:ln w="12700" cap="sq">
                <a:no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latin typeface="Roboto" panose="02000000000000000000" pitchFamily="2" charset="0"/>
                    <a:ea typeface="Roboto" panose="02000000000000000000" pitchFamily="2" charset="0"/>
                  </a:rPr>
                  <a:t>Convergence</a:t>
                </a:r>
              </a:p>
              <a:p>
                <a:pPr>
                  <a:lnSpc>
                    <a:spcPct val="100000"/>
                  </a:lnSpc>
                  <a:spcBef>
                    <a:spcPct val="30000"/>
                  </a:spcBef>
                </a:pPr>
                <a:r>
                  <a:rPr lang="en-US" altLang="en-US" sz="1200" b="0" dirty="0">
                    <a:latin typeface="Roboto" panose="02000000000000000000" pitchFamily="2" charset="0"/>
                    <a:ea typeface="Roboto" panose="02000000000000000000" pitchFamily="2" charset="0"/>
                  </a:rPr>
                  <a:t>of future VSM and </a:t>
                </a:r>
              </a:p>
              <a:p>
                <a:pPr>
                  <a:lnSpc>
                    <a:spcPct val="100000"/>
                  </a:lnSpc>
                  <a:spcBef>
                    <a:spcPct val="30000"/>
                  </a:spcBef>
                </a:pPr>
                <a:r>
                  <a:rPr lang="en-US" altLang="en-US" sz="1200" b="0" dirty="0">
                    <a:latin typeface="Roboto" panose="02000000000000000000" pitchFamily="2" charset="0"/>
                    <a:ea typeface="Roboto" panose="02000000000000000000" pitchFamily="2" charset="0"/>
                  </a:rPr>
                  <a:t>long-term </a:t>
                </a:r>
                <a:r>
                  <a:rPr lang="ja-JP" altLang="en-US" sz="1200" b="0" dirty="0">
                    <a:latin typeface="Roboto" panose="02000000000000000000" pitchFamily="2" charset="0"/>
                  </a:rPr>
                  <a:t>“</a:t>
                </a:r>
                <a:r>
                  <a:rPr lang="en-US" altLang="ja-JP" sz="1200" b="0" dirty="0">
                    <a:latin typeface="Roboto" panose="02000000000000000000" pitchFamily="2" charset="0"/>
                    <a:ea typeface="Roboto" panose="02000000000000000000" pitchFamily="2" charset="0"/>
                  </a:rPr>
                  <a:t>Vision</a:t>
                </a:r>
                <a:r>
                  <a:rPr lang="ja-JP" altLang="en-US" sz="1200" b="0" dirty="0">
                    <a:latin typeface="Roboto" panose="02000000000000000000" pitchFamily="2" charset="0"/>
                  </a:rPr>
                  <a:t>”</a:t>
                </a:r>
                <a:endParaRPr lang="en-US" altLang="ja-JP" sz="1200" b="0" dirty="0">
                  <a:latin typeface="Roboto" panose="02000000000000000000" pitchFamily="2" charset="0"/>
                  <a:ea typeface="Roboto" panose="02000000000000000000" pitchFamily="2" charset="0"/>
                </a:endParaRPr>
              </a:p>
              <a:p>
                <a:pPr>
                  <a:lnSpc>
                    <a:spcPct val="100000"/>
                  </a:lnSpc>
                  <a:spcBef>
                    <a:spcPct val="30000"/>
                  </a:spcBef>
                </a:pPr>
                <a:r>
                  <a:rPr lang="en-US" altLang="en-US" sz="1200" b="0" dirty="0">
                    <a:latin typeface="Roboto" panose="02000000000000000000" pitchFamily="2" charset="0"/>
                    <a:ea typeface="Roboto" panose="02000000000000000000" pitchFamily="2" charset="0"/>
                  </a:rPr>
                  <a:t>transformation</a:t>
                </a:r>
              </a:p>
            </p:txBody>
          </p:sp>
          <p:cxnSp>
            <p:nvCxnSpPr>
              <p:cNvPr id="31" name="AutoShape 34">
                <a:extLst>
                  <a:ext uri="{FF2B5EF4-FFF2-40B4-BE49-F238E27FC236}">
                    <a16:creationId xmlns:a16="http://schemas.microsoft.com/office/drawing/2014/main" id="{759831CE-1F07-3D87-B77E-7013CC945F29}"/>
                  </a:ext>
                </a:extLst>
              </p:cNvPr>
              <p:cNvCxnSpPr>
                <a:cxnSpLocks noChangeShapeType="1"/>
                <a:stCxn id="27" idx="3"/>
                <a:endCxn id="30" idx="2"/>
              </p:cNvCxnSpPr>
              <p:nvPr/>
            </p:nvCxnSpPr>
            <p:spPr bwMode="auto">
              <a:xfrm flipV="1">
                <a:off x="4867275" y="3825522"/>
                <a:ext cx="2858216" cy="1632792"/>
              </a:xfrm>
              <a:prstGeom prst="bentConnector2">
                <a:avLst/>
              </a:prstGeom>
              <a:noFill/>
              <a:ln w="50800"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2" name="AutoShape 35">
                <a:extLst>
                  <a:ext uri="{FF2B5EF4-FFF2-40B4-BE49-F238E27FC236}">
                    <a16:creationId xmlns:a16="http://schemas.microsoft.com/office/drawing/2014/main" id="{2321A20C-A5B7-D486-8758-6486B72156EF}"/>
                  </a:ext>
                </a:extLst>
              </p:cNvPr>
              <p:cNvCxnSpPr>
                <a:cxnSpLocks noChangeShapeType="1"/>
                <a:stCxn id="13" idx="2"/>
                <a:endCxn id="28" idx="0"/>
              </p:cNvCxnSpPr>
              <p:nvPr/>
            </p:nvCxnSpPr>
            <p:spPr bwMode="auto">
              <a:xfrm>
                <a:off x="1133475" y="4697233"/>
                <a:ext cx="228600" cy="456280"/>
              </a:xfrm>
              <a:prstGeom prst="straightConnector1">
                <a:avLst/>
              </a:prstGeom>
              <a:noFill/>
              <a:ln w="50800">
                <a:solidFill>
                  <a:srgbClr val="EE3228"/>
                </a:solidFill>
                <a:prstDash val="dash"/>
                <a:round/>
                <a:headEnd type="none" w="sm" len="sm"/>
                <a:tailEnd type="none" w="sm" len="sm"/>
              </a:ln>
              <a:extLst>
                <a:ext uri="{909E8E84-426E-40DD-AFC4-6F175D3DCCD1}">
                  <a14:hiddenFill xmlns:a14="http://schemas.microsoft.com/office/drawing/2010/main">
                    <a:noFill/>
                  </a14:hiddenFill>
                </a:ext>
              </a:extLst>
            </p:spPr>
          </p:cxnSp>
          <p:grpSp>
            <p:nvGrpSpPr>
              <p:cNvPr id="33" name="Group 36">
                <a:extLst>
                  <a:ext uri="{FF2B5EF4-FFF2-40B4-BE49-F238E27FC236}">
                    <a16:creationId xmlns:a16="http://schemas.microsoft.com/office/drawing/2014/main" id="{7F1B5A78-3634-CB01-A22C-B7AF81254333}"/>
                  </a:ext>
                </a:extLst>
              </p:cNvPr>
              <p:cNvGrpSpPr>
                <a:grpSpLocks/>
              </p:cNvGrpSpPr>
              <p:nvPr/>
            </p:nvGrpSpPr>
            <p:grpSpPr bwMode="auto">
              <a:xfrm>
                <a:off x="6353175" y="3048000"/>
                <a:ext cx="152400" cy="228600"/>
                <a:chOff x="4056" y="1968"/>
                <a:chExt cx="96" cy="144"/>
              </a:xfrm>
            </p:grpSpPr>
            <p:sp>
              <p:nvSpPr>
                <p:cNvPr id="34" name="Rectangle 37">
                  <a:extLst>
                    <a:ext uri="{FF2B5EF4-FFF2-40B4-BE49-F238E27FC236}">
                      <a16:creationId xmlns:a16="http://schemas.microsoft.com/office/drawing/2014/main" id="{417F9F6E-624B-5136-568D-09A987E7E904}"/>
                    </a:ext>
                  </a:extLst>
                </p:cNvPr>
                <p:cNvSpPr>
                  <a:spLocks noChangeArrowheads="1"/>
                </p:cNvSpPr>
                <p:nvPr/>
              </p:nvSpPr>
              <p:spPr bwMode="auto">
                <a:xfrm>
                  <a:off x="4080" y="1968"/>
                  <a:ext cx="48" cy="144"/>
                </a:xfrm>
                <a:prstGeom prst="rect">
                  <a:avLst/>
                </a:prstGeom>
                <a:solidFill>
                  <a:schemeClr val="bg1"/>
                </a:solidFill>
                <a:ln w="12700" cap="sq">
                  <a:no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5" name="Line 38">
                  <a:extLst>
                    <a:ext uri="{FF2B5EF4-FFF2-40B4-BE49-F238E27FC236}">
                      <a16:creationId xmlns:a16="http://schemas.microsoft.com/office/drawing/2014/main" id="{8823EB28-B32D-4E30-A42D-E0AB4BF31983}"/>
                    </a:ext>
                  </a:extLst>
                </p:cNvPr>
                <p:cNvSpPr>
                  <a:spLocks noChangeShapeType="1"/>
                </p:cNvSpPr>
                <p:nvPr/>
              </p:nvSpPr>
              <p:spPr bwMode="auto">
                <a:xfrm flipH="1">
                  <a:off x="4056" y="1968"/>
                  <a:ext cx="48" cy="144"/>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6" name="Line 39">
                  <a:extLst>
                    <a:ext uri="{FF2B5EF4-FFF2-40B4-BE49-F238E27FC236}">
                      <a16:creationId xmlns:a16="http://schemas.microsoft.com/office/drawing/2014/main" id="{0F92E25C-92AE-9EB3-0B6E-01BAA9A8905F}"/>
                    </a:ext>
                  </a:extLst>
                </p:cNvPr>
                <p:cNvSpPr>
                  <a:spLocks noChangeShapeType="1"/>
                </p:cNvSpPr>
                <p:nvPr/>
              </p:nvSpPr>
              <p:spPr bwMode="auto">
                <a:xfrm flipH="1">
                  <a:off x="4104" y="1968"/>
                  <a:ext cx="48" cy="144"/>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37" name="Line 40">
                <a:extLst>
                  <a:ext uri="{FF2B5EF4-FFF2-40B4-BE49-F238E27FC236}">
                    <a16:creationId xmlns:a16="http://schemas.microsoft.com/office/drawing/2014/main" id="{8C5D0841-A55C-4AF0-DB64-64DD27B1A314}"/>
                  </a:ext>
                </a:extLst>
              </p:cNvPr>
              <p:cNvSpPr>
                <a:spLocks noChangeShapeType="1"/>
              </p:cNvSpPr>
              <p:nvPr/>
            </p:nvSpPr>
            <p:spPr bwMode="auto">
              <a:xfrm>
                <a:off x="1819275" y="1976433"/>
                <a:ext cx="0" cy="381000"/>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38" name="Line 41">
                <a:extLst>
                  <a:ext uri="{FF2B5EF4-FFF2-40B4-BE49-F238E27FC236}">
                    <a16:creationId xmlns:a16="http://schemas.microsoft.com/office/drawing/2014/main" id="{C17387D9-5701-9901-CDF9-40C0ABA3A429}"/>
                  </a:ext>
                </a:extLst>
              </p:cNvPr>
              <p:cNvSpPr>
                <a:spLocks noChangeShapeType="1"/>
              </p:cNvSpPr>
              <p:nvPr/>
            </p:nvSpPr>
            <p:spPr bwMode="auto">
              <a:xfrm>
                <a:off x="4867275" y="1976433"/>
                <a:ext cx="0" cy="381000"/>
              </a:xfrm>
              <a:prstGeom prst="line">
                <a:avLst/>
              </a:prstGeom>
              <a:noFill/>
              <a:ln w="508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cxnSp>
          <p:nvCxnSpPr>
            <p:cNvPr id="40" name="AutoShape 24">
              <a:extLst>
                <a:ext uri="{FF2B5EF4-FFF2-40B4-BE49-F238E27FC236}">
                  <a16:creationId xmlns:a16="http://schemas.microsoft.com/office/drawing/2014/main" id="{9D94AD61-E3F2-CB63-9329-B80D62FA7968}"/>
                </a:ext>
              </a:extLst>
            </p:cNvPr>
            <p:cNvCxnSpPr>
              <a:cxnSpLocks noChangeShapeType="1"/>
              <a:stCxn id="12" idx="3"/>
              <a:endCxn id="17" idx="1"/>
            </p:cNvCxnSpPr>
            <p:nvPr/>
          </p:nvCxnSpPr>
          <p:spPr bwMode="auto">
            <a:xfrm>
              <a:off x="5671796" y="4648247"/>
              <a:ext cx="2535985" cy="0"/>
            </a:xfrm>
            <a:prstGeom prst="straightConnector1">
              <a:avLst/>
            </a:prstGeom>
            <a:noFill/>
            <a:ln w="50800" cap="sq">
              <a:solidFill>
                <a:srgbClr val="EE3228"/>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41" name="Group 40">
            <a:extLst>
              <a:ext uri="{FF2B5EF4-FFF2-40B4-BE49-F238E27FC236}">
                <a16:creationId xmlns:a16="http://schemas.microsoft.com/office/drawing/2014/main" id="{A01640ED-191B-2678-5844-33D203E84F81}"/>
              </a:ext>
            </a:extLst>
          </p:cNvPr>
          <p:cNvGrpSpPr/>
          <p:nvPr/>
        </p:nvGrpSpPr>
        <p:grpSpPr>
          <a:xfrm>
            <a:off x="940004" y="321492"/>
            <a:ext cx="6217883" cy="311851"/>
            <a:chOff x="940249" y="302538"/>
            <a:chExt cx="6219503" cy="311932"/>
          </a:xfrm>
        </p:grpSpPr>
        <p:sp>
          <p:nvSpPr>
            <p:cNvPr id="42" name="TextBox 41">
              <a:extLst>
                <a:ext uri="{FF2B5EF4-FFF2-40B4-BE49-F238E27FC236}">
                  <a16:creationId xmlns:a16="http://schemas.microsoft.com/office/drawing/2014/main" id="{1E366BDF-0070-79D8-2874-6DF2BE56429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44" name="AutoShape 9">
              <a:extLst>
                <a:ext uri="{FF2B5EF4-FFF2-40B4-BE49-F238E27FC236}">
                  <a16:creationId xmlns:a16="http://schemas.microsoft.com/office/drawing/2014/main" id="{F007A055-9B2E-9D2B-5C33-BEBFB1FA52B3}"/>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5" name="AutoShape 9">
              <a:extLst>
                <a:ext uri="{FF2B5EF4-FFF2-40B4-BE49-F238E27FC236}">
                  <a16:creationId xmlns:a16="http://schemas.microsoft.com/office/drawing/2014/main" id="{1E5F9396-3921-EE0A-D6FB-EA474621884A}"/>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6" name="AutoShape 9">
              <a:extLst>
                <a:ext uri="{FF2B5EF4-FFF2-40B4-BE49-F238E27FC236}">
                  <a16:creationId xmlns:a16="http://schemas.microsoft.com/office/drawing/2014/main" id="{104B4D18-9A04-9035-73A3-ABD1DF019240}"/>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7" name="AutoShape 9">
              <a:extLst>
                <a:ext uri="{FF2B5EF4-FFF2-40B4-BE49-F238E27FC236}">
                  <a16:creationId xmlns:a16="http://schemas.microsoft.com/office/drawing/2014/main" id="{E5AE9107-F9D3-89AA-CA2E-A4535019475B}"/>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48" name="AutoShape 11">
              <a:extLst>
                <a:ext uri="{FF2B5EF4-FFF2-40B4-BE49-F238E27FC236}">
                  <a16:creationId xmlns:a16="http://schemas.microsoft.com/office/drawing/2014/main" id="{2E179C9E-24EF-3792-8569-8AD37EBD66EE}"/>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49" name="Slide Number Placeholder 2">
            <a:extLst>
              <a:ext uri="{FF2B5EF4-FFF2-40B4-BE49-F238E27FC236}">
                <a16:creationId xmlns:a16="http://schemas.microsoft.com/office/drawing/2014/main" id="{D92E3BA8-C675-B8E0-3C4B-B28C8C31B53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161</a:t>
            </a:fld>
            <a:endParaRPr lang="en-US" dirty="0"/>
          </a:p>
        </p:txBody>
      </p:sp>
    </p:spTree>
    <p:extLst>
      <p:ext uri="{BB962C8B-B14F-4D97-AF65-F5344CB8AC3E}">
        <p14:creationId xmlns:p14="http://schemas.microsoft.com/office/powerpoint/2010/main" val="3229110278"/>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altLang="en-US" dirty="0"/>
              <a:t>MME Possible Future VSM Revision Cycles</a:t>
            </a:r>
            <a:endParaRPr lang="en-US" dirty="0"/>
          </a:p>
        </p:txBody>
      </p:sp>
      <p:grpSp>
        <p:nvGrpSpPr>
          <p:cNvPr id="3" name="Group 29">
            <a:extLst>
              <a:ext uri="{FF2B5EF4-FFF2-40B4-BE49-F238E27FC236}">
                <a16:creationId xmlns:a16="http://schemas.microsoft.com/office/drawing/2014/main" id="{0BFA6EFE-F2CF-75C7-3E31-AEE99E824CDF}"/>
              </a:ext>
            </a:extLst>
          </p:cNvPr>
          <p:cNvGrpSpPr>
            <a:grpSpLocks/>
          </p:cNvGrpSpPr>
          <p:nvPr/>
        </p:nvGrpSpPr>
        <p:grpSpPr bwMode="auto">
          <a:xfrm>
            <a:off x="7276441" y="2829004"/>
            <a:ext cx="1778520" cy="581473"/>
            <a:chOff x="3444" y="1604"/>
            <a:chExt cx="1043" cy="341"/>
          </a:xfrm>
        </p:grpSpPr>
        <p:sp>
          <p:nvSpPr>
            <p:cNvPr id="4" name="Rectangle 30">
              <a:extLst>
                <a:ext uri="{FF2B5EF4-FFF2-40B4-BE49-F238E27FC236}">
                  <a16:creationId xmlns:a16="http://schemas.microsoft.com/office/drawing/2014/main" id="{A5E864A2-38C0-A0DB-77DE-E25CF2D82CAE}"/>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 name="Text Box 31">
              <a:extLst>
                <a:ext uri="{FF2B5EF4-FFF2-40B4-BE49-F238E27FC236}">
                  <a16:creationId xmlns:a16="http://schemas.microsoft.com/office/drawing/2014/main" id="{DEFEBCB4-0B02-0BDD-03CE-07872AE2702F}"/>
                </a:ext>
              </a:extLst>
            </p:cNvPr>
            <p:cNvSpPr txBox="1">
              <a:spLocks noChangeArrowheads="1"/>
            </p:cNvSpPr>
            <p:nvPr/>
          </p:nvSpPr>
          <p:spPr bwMode="auto">
            <a:xfrm>
              <a:off x="3444" y="1689"/>
              <a:ext cx="63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27,000 Seconds</a:t>
              </a:r>
            </a:p>
            <a:p>
              <a:pPr>
                <a:lnSpc>
                  <a:spcPct val="100000"/>
                </a:lnSpc>
                <a:spcBef>
                  <a:spcPct val="35000"/>
                </a:spcBef>
              </a:pPr>
              <a:r>
                <a:rPr lang="en-US" altLang="en-US" b="0" dirty="0">
                  <a:solidFill>
                    <a:schemeClr val="tx1"/>
                  </a:solidFill>
                  <a:latin typeface="Roboto" panose="02000000000000000000" pitchFamily="2" charset="0"/>
                  <a:ea typeface="Roboto" panose="02000000000000000000" pitchFamily="2" charset="0"/>
                </a:rPr>
                <a:t>1,500 Pieces</a:t>
              </a:r>
            </a:p>
          </p:txBody>
        </p:sp>
        <p:sp>
          <p:nvSpPr>
            <p:cNvPr id="6" name="Line 32">
              <a:extLst>
                <a:ext uri="{FF2B5EF4-FFF2-40B4-BE49-F238E27FC236}">
                  <a16:creationId xmlns:a16="http://schemas.microsoft.com/office/drawing/2014/main" id="{FB9C1622-5EAE-22DE-2ED2-D8D49DD3D796}"/>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7" name="Rectangle 33">
              <a:extLst>
                <a:ext uri="{FF2B5EF4-FFF2-40B4-BE49-F238E27FC236}">
                  <a16:creationId xmlns:a16="http://schemas.microsoft.com/office/drawing/2014/main" id="{60C57EA6-6E33-4E26-87F3-62D7B16FE71E}"/>
                </a:ext>
              </a:extLst>
            </p:cNvPr>
            <p:cNvSpPr>
              <a:spLocks noChangeArrowheads="1"/>
            </p:cNvSpPr>
            <p:nvPr/>
          </p:nvSpPr>
          <p:spPr bwMode="auto">
            <a:xfrm>
              <a:off x="3745" y="1609"/>
              <a:ext cx="52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rPr>
                <a:t>Takt Time</a:t>
              </a:r>
            </a:p>
          </p:txBody>
        </p:sp>
      </p:grpSp>
      <p:sp>
        <p:nvSpPr>
          <p:cNvPr id="8" name="Text Box 34">
            <a:extLst>
              <a:ext uri="{FF2B5EF4-FFF2-40B4-BE49-F238E27FC236}">
                <a16:creationId xmlns:a16="http://schemas.microsoft.com/office/drawing/2014/main" id="{A71C4939-BCFB-DF44-C6DA-C544ABF40DD2}"/>
              </a:ext>
            </a:extLst>
          </p:cNvPr>
          <p:cNvSpPr txBox="1">
            <a:spLocks noChangeArrowheads="1"/>
          </p:cNvSpPr>
          <p:nvPr/>
        </p:nvSpPr>
        <p:spPr bwMode="auto">
          <a:xfrm>
            <a:off x="8271588" y="3070027"/>
            <a:ext cx="811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rPr>
              <a:t>18 seconds</a:t>
            </a:r>
          </a:p>
        </p:txBody>
      </p:sp>
      <p:sp>
        <p:nvSpPr>
          <p:cNvPr id="27" name="Rectangle 7">
            <a:extLst>
              <a:ext uri="{FF2B5EF4-FFF2-40B4-BE49-F238E27FC236}">
                <a16:creationId xmlns:a16="http://schemas.microsoft.com/office/drawing/2014/main" id="{0FA7449A-0526-00E4-7642-4FDFCC63D2F8}"/>
              </a:ext>
            </a:extLst>
          </p:cNvPr>
          <p:cNvSpPr>
            <a:spLocks noChangeArrowheads="1"/>
          </p:cNvSpPr>
          <p:nvPr/>
        </p:nvSpPr>
        <p:spPr bwMode="auto">
          <a:xfrm>
            <a:off x="2202603" y="420422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8" name="Line 8">
            <a:extLst>
              <a:ext uri="{FF2B5EF4-FFF2-40B4-BE49-F238E27FC236}">
                <a16:creationId xmlns:a16="http://schemas.microsoft.com/office/drawing/2014/main" id="{6FFE5724-9238-8A7B-F9F9-FE1D99258E8B}"/>
              </a:ext>
            </a:extLst>
          </p:cNvPr>
          <p:cNvSpPr>
            <a:spLocks noChangeShapeType="1"/>
          </p:cNvSpPr>
          <p:nvPr/>
        </p:nvSpPr>
        <p:spPr bwMode="auto">
          <a:xfrm>
            <a:off x="2208537" y="436724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29" name="Text Box 9">
            <a:extLst>
              <a:ext uri="{FF2B5EF4-FFF2-40B4-BE49-F238E27FC236}">
                <a16:creationId xmlns:a16="http://schemas.microsoft.com/office/drawing/2014/main" id="{B03E7EBC-7A34-EEFD-C9EF-3B9DDEB4CA15}"/>
              </a:ext>
            </a:extLst>
          </p:cNvPr>
          <p:cNvSpPr txBox="1">
            <a:spLocks noChangeArrowheads="1"/>
          </p:cNvSpPr>
          <p:nvPr/>
        </p:nvSpPr>
        <p:spPr bwMode="auto">
          <a:xfrm>
            <a:off x="2238413" y="4185041"/>
            <a:ext cx="978827" cy="276999"/>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Cut</a:t>
            </a:r>
          </a:p>
        </p:txBody>
      </p:sp>
      <p:sp>
        <p:nvSpPr>
          <p:cNvPr id="9" name="Line 4">
            <a:extLst>
              <a:ext uri="{FF2B5EF4-FFF2-40B4-BE49-F238E27FC236}">
                <a16:creationId xmlns:a16="http://schemas.microsoft.com/office/drawing/2014/main" id="{BB125526-25F8-D5AA-6F4D-603C131F0BD1}"/>
              </a:ext>
            </a:extLst>
          </p:cNvPr>
          <p:cNvSpPr>
            <a:spLocks noChangeShapeType="1"/>
          </p:cNvSpPr>
          <p:nvPr/>
        </p:nvSpPr>
        <p:spPr bwMode="auto">
          <a:xfrm flipH="1" flipV="1">
            <a:off x="9542384" y="2871233"/>
            <a:ext cx="1989" cy="1305816"/>
          </a:xfrm>
          <a:prstGeom prst="line">
            <a:avLst/>
          </a:prstGeom>
          <a:solidFill>
            <a:schemeClr val="bg1"/>
          </a:solidFill>
          <a:ln w="50800" cmpd="dbl">
            <a:solidFill>
              <a:schemeClr val="tx1"/>
            </a:solidFill>
            <a:round/>
            <a:headEnd/>
            <a:tailEnd type="triangle" w="sm" len="sm"/>
          </a:ln>
        </p:spPr>
        <p:txBody>
          <a:bodyPr/>
          <a:lstStyle/>
          <a:p>
            <a:endParaRPr lang="en-US" sz="1399">
              <a:latin typeface="Roboto" panose="02000000000000000000" pitchFamily="2" charset="0"/>
              <a:ea typeface="Roboto" panose="02000000000000000000" pitchFamily="2" charset="0"/>
            </a:endParaRPr>
          </a:p>
        </p:txBody>
      </p:sp>
      <p:sp>
        <p:nvSpPr>
          <p:cNvPr id="21" name="Rectangle 25">
            <a:extLst>
              <a:ext uri="{FF2B5EF4-FFF2-40B4-BE49-F238E27FC236}">
                <a16:creationId xmlns:a16="http://schemas.microsoft.com/office/drawing/2014/main" id="{1D383959-B69D-FF61-192E-8FA20DC24307}"/>
              </a:ext>
            </a:extLst>
          </p:cNvPr>
          <p:cNvSpPr>
            <a:spLocks noChangeArrowheads="1"/>
          </p:cNvSpPr>
          <p:nvPr/>
        </p:nvSpPr>
        <p:spPr bwMode="auto">
          <a:xfrm>
            <a:off x="9259876" y="3572889"/>
            <a:ext cx="462050" cy="283262"/>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6" name="Rectangle 26">
            <a:extLst>
              <a:ext uri="{FF2B5EF4-FFF2-40B4-BE49-F238E27FC236}">
                <a16:creationId xmlns:a16="http://schemas.microsoft.com/office/drawing/2014/main" id="{575BC590-D3B9-3DA7-C01C-6F074E347D2F}"/>
              </a:ext>
            </a:extLst>
          </p:cNvPr>
          <p:cNvSpPr>
            <a:spLocks noChangeArrowheads="1"/>
          </p:cNvSpPr>
          <p:nvPr/>
        </p:nvSpPr>
        <p:spPr bwMode="auto">
          <a:xfrm>
            <a:off x="9725157" y="3666827"/>
            <a:ext cx="205176" cy="189323"/>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30" name="Oval 27">
            <a:extLst>
              <a:ext uri="{FF2B5EF4-FFF2-40B4-BE49-F238E27FC236}">
                <a16:creationId xmlns:a16="http://schemas.microsoft.com/office/drawing/2014/main" id="{24EBCE53-3176-F84E-1744-249E6CD492F4}"/>
              </a:ext>
            </a:extLst>
          </p:cNvPr>
          <p:cNvSpPr>
            <a:spLocks noChangeArrowheads="1"/>
          </p:cNvSpPr>
          <p:nvPr/>
        </p:nvSpPr>
        <p:spPr bwMode="auto">
          <a:xfrm>
            <a:off x="9773624" y="385615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49" name="Oval 28">
            <a:extLst>
              <a:ext uri="{FF2B5EF4-FFF2-40B4-BE49-F238E27FC236}">
                <a16:creationId xmlns:a16="http://schemas.microsoft.com/office/drawing/2014/main" id="{AA7DEA0A-112B-7FAB-9B9E-9899BA1F44EA}"/>
              </a:ext>
            </a:extLst>
          </p:cNvPr>
          <p:cNvSpPr>
            <a:spLocks noChangeArrowheads="1"/>
          </p:cNvSpPr>
          <p:nvPr/>
        </p:nvSpPr>
        <p:spPr bwMode="auto">
          <a:xfrm>
            <a:off x="9311575" y="3856150"/>
            <a:ext cx="101780" cy="93939"/>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50" name="Text Box 29">
            <a:extLst>
              <a:ext uri="{FF2B5EF4-FFF2-40B4-BE49-F238E27FC236}">
                <a16:creationId xmlns:a16="http://schemas.microsoft.com/office/drawing/2014/main" id="{A148BF71-CF0E-D3DA-09E9-26CC11E6FB77}"/>
              </a:ext>
            </a:extLst>
          </p:cNvPr>
          <p:cNvSpPr txBox="1">
            <a:spLocks noChangeArrowheads="1"/>
          </p:cNvSpPr>
          <p:nvPr/>
        </p:nvSpPr>
        <p:spPr bwMode="auto">
          <a:xfrm>
            <a:off x="9186266" y="3622437"/>
            <a:ext cx="612761" cy="20005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Daily</a:t>
            </a:r>
          </a:p>
        </p:txBody>
      </p:sp>
      <p:grpSp>
        <p:nvGrpSpPr>
          <p:cNvPr id="64" name="Group 63">
            <a:extLst>
              <a:ext uri="{FF2B5EF4-FFF2-40B4-BE49-F238E27FC236}">
                <a16:creationId xmlns:a16="http://schemas.microsoft.com/office/drawing/2014/main" id="{FDE4DC01-9DB4-0B90-0158-7B438695BEE1}"/>
              </a:ext>
            </a:extLst>
          </p:cNvPr>
          <p:cNvGrpSpPr/>
          <p:nvPr/>
        </p:nvGrpSpPr>
        <p:grpSpPr>
          <a:xfrm>
            <a:off x="2336753" y="4373434"/>
            <a:ext cx="327682" cy="291563"/>
            <a:chOff x="18363333" y="5039084"/>
            <a:chExt cx="327025" cy="358775"/>
          </a:xfrm>
        </p:grpSpPr>
        <p:sp>
          <p:nvSpPr>
            <p:cNvPr id="65" name="Oval 32">
              <a:extLst>
                <a:ext uri="{FF2B5EF4-FFF2-40B4-BE49-F238E27FC236}">
                  <a16:creationId xmlns:a16="http://schemas.microsoft.com/office/drawing/2014/main" id="{420B8F56-35F6-B673-3B2A-46A092E19EDB}"/>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66" name="AutoShape 33">
              <a:extLst>
                <a:ext uri="{FF2B5EF4-FFF2-40B4-BE49-F238E27FC236}">
                  <a16:creationId xmlns:a16="http://schemas.microsoft.com/office/drawing/2014/main" id="{FF6BFA41-D027-A961-BB33-99FB5ADCA634}"/>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77" name="Rectangle 84">
            <a:extLst>
              <a:ext uri="{FF2B5EF4-FFF2-40B4-BE49-F238E27FC236}">
                <a16:creationId xmlns:a16="http://schemas.microsoft.com/office/drawing/2014/main" id="{1125DB27-8040-A087-500A-D31DCEC18796}"/>
              </a:ext>
            </a:extLst>
          </p:cNvPr>
          <p:cNvSpPr>
            <a:spLocks noChangeArrowheads="1"/>
          </p:cNvSpPr>
          <p:nvPr/>
        </p:nvSpPr>
        <p:spPr bwMode="auto">
          <a:xfrm>
            <a:off x="2708909" y="4474855"/>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4</a:t>
            </a:r>
            <a:endParaRPr lang="en-US" altLang="en-US" sz="1000" b="0" dirty="0">
              <a:solidFill>
                <a:srgbClr val="FF0000"/>
              </a:solidFill>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CBB5A4D1-D657-7BF1-E4B8-C85EEB42CFE7}"/>
              </a:ext>
            </a:extLst>
          </p:cNvPr>
          <p:cNvSpPr>
            <a:spLocks noChangeArrowheads="1"/>
          </p:cNvSpPr>
          <p:nvPr/>
        </p:nvSpPr>
        <p:spPr bwMode="auto">
          <a:xfrm>
            <a:off x="2210368" y="484415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12 “</a:t>
            </a:r>
          </a:p>
          <a:p>
            <a:pPr algn="l"/>
            <a:r>
              <a:rPr lang="en-US" altLang="en-US" sz="1000" b="0" dirty="0">
                <a:solidFill>
                  <a:schemeClr val="tx1"/>
                </a:solidFill>
                <a:latin typeface="Roboto" panose="02000000000000000000" pitchFamily="2" charset="0"/>
                <a:ea typeface="Roboto" panose="02000000000000000000" pitchFamily="2" charset="0"/>
              </a:rPr>
              <a:t>C/O Time =30 ’</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99%</a:t>
            </a:r>
          </a:p>
          <a:p>
            <a:pPr algn="l"/>
            <a:r>
              <a:rPr lang="en-US" altLang="en-US" sz="1000" b="0" dirty="0">
                <a:solidFill>
                  <a:schemeClr val="tx1"/>
                </a:solidFill>
                <a:latin typeface="Roboto" panose="02000000000000000000" pitchFamily="2" charset="0"/>
                <a:ea typeface="Roboto" panose="02000000000000000000" pitchFamily="2" charset="0"/>
              </a:rPr>
              <a:t>4 Machines</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3DA6C6F5-3E48-3606-E8F6-E71EBA0EB2E7}"/>
              </a:ext>
            </a:extLst>
          </p:cNvPr>
          <p:cNvSpPr>
            <a:spLocks noChangeArrowheads="1"/>
          </p:cNvSpPr>
          <p:nvPr/>
        </p:nvSpPr>
        <p:spPr bwMode="auto">
          <a:xfrm>
            <a:off x="1179725" y="5012181"/>
            <a:ext cx="885874" cy="553998"/>
          </a:xfrm>
          <a:prstGeom prst="rect">
            <a:avLst/>
          </a:prstGeom>
          <a:solidFill>
            <a:srgbClr val="FFB627"/>
          </a:solidFill>
          <a:ln>
            <a:noFill/>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1 sheet yields 4 pieces</a:t>
            </a:r>
            <a:r>
              <a:rPr lang="en-US" altLang="en-US" sz="1000" b="0" dirty="0">
                <a:solidFill>
                  <a:srgbClr val="FF0000"/>
                </a:solidFill>
                <a:latin typeface="Roboto" panose="02000000000000000000" pitchFamily="2" charset="0"/>
                <a:ea typeface="Roboto" panose="02000000000000000000" pitchFamily="2" charset="0"/>
              </a:rPr>
              <a:t> </a:t>
            </a:r>
          </a:p>
        </p:txBody>
      </p:sp>
      <p:grpSp>
        <p:nvGrpSpPr>
          <p:cNvPr id="84" name="Group 54">
            <a:extLst>
              <a:ext uri="{FF2B5EF4-FFF2-40B4-BE49-F238E27FC236}">
                <a16:creationId xmlns:a16="http://schemas.microsoft.com/office/drawing/2014/main" id="{F5819A69-4D9E-E3EB-E21A-F4818D9241C8}"/>
              </a:ext>
            </a:extLst>
          </p:cNvPr>
          <p:cNvGrpSpPr>
            <a:grpSpLocks/>
          </p:cNvGrpSpPr>
          <p:nvPr/>
        </p:nvGrpSpPr>
        <p:grpSpPr bwMode="auto">
          <a:xfrm>
            <a:off x="988556" y="2258248"/>
            <a:ext cx="1114362" cy="1956886"/>
            <a:chOff x="390" y="1247"/>
            <a:chExt cx="583" cy="1230"/>
          </a:xfrm>
        </p:grpSpPr>
        <p:sp>
          <p:nvSpPr>
            <p:cNvPr id="85" name="Line 55">
              <a:extLst>
                <a:ext uri="{FF2B5EF4-FFF2-40B4-BE49-F238E27FC236}">
                  <a16:creationId xmlns:a16="http://schemas.microsoft.com/office/drawing/2014/main" id="{CCA0F30E-34D5-3BFB-240F-1B41E9A982F8}"/>
                </a:ext>
              </a:extLst>
            </p:cNvPr>
            <p:cNvSpPr>
              <a:spLocks noChangeShapeType="1"/>
            </p:cNvSpPr>
            <p:nvPr/>
          </p:nvSpPr>
          <p:spPr bwMode="auto">
            <a:xfrm>
              <a:off x="678" y="1602"/>
              <a:ext cx="5" cy="875"/>
            </a:xfrm>
            <a:prstGeom prst="line">
              <a:avLst/>
            </a:prstGeom>
            <a:noFill/>
            <a:ln w="5715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nvGrpSpPr>
            <p:cNvPr id="86" name="Group 56">
              <a:extLst>
                <a:ext uri="{FF2B5EF4-FFF2-40B4-BE49-F238E27FC236}">
                  <a16:creationId xmlns:a16="http://schemas.microsoft.com/office/drawing/2014/main" id="{8DA1E2FB-0C96-9971-80E9-D8207E2D7031}"/>
                </a:ext>
              </a:extLst>
            </p:cNvPr>
            <p:cNvGrpSpPr>
              <a:grpSpLocks/>
            </p:cNvGrpSpPr>
            <p:nvPr/>
          </p:nvGrpSpPr>
          <p:grpSpPr bwMode="auto">
            <a:xfrm>
              <a:off x="390" y="1247"/>
              <a:ext cx="583" cy="387"/>
              <a:chOff x="435" y="1322"/>
              <a:chExt cx="583" cy="387"/>
            </a:xfrm>
          </p:grpSpPr>
          <p:grpSp>
            <p:nvGrpSpPr>
              <p:cNvPr id="94" name="Group 57">
                <a:extLst>
                  <a:ext uri="{FF2B5EF4-FFF2-40B4-BE49-F238E27FC236}">
                    <a16:creationId xmlns:a16="http://schemas.microsoft.com/office/drawing/2014/main" id="{22B233E7-3F4C-8292-B927-CD212CDFBABE}"/>
                  </a:ext>
                </a:extLst>
              </p:cNvPr>
              <p:cNvGrpSpPr>
                <a:grpSpLocks/>
              </p:cNvGrpSpPr>
              <p:nvPr/>
            </p:nvGrpSpPr>
            <p:grpSpPr bwMode="auto">
              <a:xfrm>
                <a:off x="474" y="1322"/>
                <a:ext cx="508" cy="348"/>
                <a:chOff x="536" y="1322"/>
                <a:chExt cx="446" cy="348"/>
              </a:xfrm>
            </p:grpSpPr>
            <p:sp>
              <p:nvSpPr>
                <p:cNvPr id="96" name="Rectangle 58">
                  <a:extLst>
                    <a:ext uri="{FF2B5EF4-FFF2-40B4-BE49-F238E27FC236}">
                      <a16:creationId xmlns:a16="http://schemas.microsoft.com/office/drawing/2014/main" id="{B335C73F-59E9-4D79-1337-3DF84BB61BC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7" name="Rectangle 59">
                  <a:extLst>
                    <a:ext uri="{FF2B5EF4-FFF2-40B4-BE49-F238E27FC236}">
                      <a16:creationId xmlns:a16="http://schemas.microsoft.com/office/drawing/2014/main" id="{E7B85FE9-D59B-A46F-D7EA-4C5341CD8A7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latin typeface="Roboto" panose="02000000000000000000" pitchFamily="2" charset="0"/>
                    <a:ea typeface="Roboto" panose="02000000000000000000" pitchFamily="2" charset="0"/>
                  </a:endParaRPr>
                </a:p>
              </p:txBody>
            </p:sp>
            <p:sp>
              <p:nvSpPr>
                <p:cNvPr id="98" name="AutoShape 60">
                  <a:extLst>
                    <a:ext uri="{FF2B5EF4-FFF2-40B4-BE49-F238E27FC236}">
                      <a16:creationId xmlns:a16="http://schemas.microsoft.com/office/drawing/2014/main" id="{A33B8091-ECD0-0DCF-53ED-A40DBB94A288}"/>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9" name="AutoShape 61">
                  <a:extLst>
                    <a:ext uri="{FF2B5EF4-FFF2-40B4-BE49-F238E27FC236}">
                      <a16:creationId xmlns:a16="http://schemas.microsoft.com/office/drawing/2014/main" id="{685D44DB-9EC9-C455-5311-EA155571AC24}"/>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0" name="AutoShape 62">
                  <a:extLst>
                    <a:ext uri="{FF2B5EF4-FFF2-40B4-BE49-F238E27FC236}">
                      <a16:creationId xmlns:a16="http://schemas.microsoft.com/office/drawing/2014/main" id="{DAB9E5CF-309D-BCE9-C519-4C6E140C8A3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1" name="Rectangle 63">
                  <a:extLst>
                    <a:ext uri="{FF2B5EF4-FFF2-40B4-BE49-F238E27FC236}">
                      <a16:creationId xmlns:a16="http://schemas.microsoft.com/office/drawing/2014/main" id="{0E160246-684A-5774-CC01-24A14B3B68CB}"/>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2" name="Rectangle 64">
                  <a:extLst>
                    <a:ext uri="{FF2B5EF4-FFF2-40B4-BE49-F238E27FC236}">
                      <a16:creationId xmlns:a16="http://schemas.microsoft.com/office/drawing/2014/main" id="{28274B7D-3C55-4BE5-09E8-F6E4B662AFA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03" name="Rectangle 65">
                  <a:extLst>
                    <a:ext uri="{FF2B5EF4-FFF2-40B4-BE49-F238E27FC236}">
                      <a16:creationId xmlns:a16="http://schemas.microsoft.com/office/drawing/2014/main" id="{415427C5-155A-67D8-5E33-B489303412ED}"/>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95" name="Text Box 66">
                <a:extLst>
                  <a:ext uri="{FF2B5EF4-FFF2-40B4-BE49-F238E27FC236}">
                    <a16:creationId xmlns:a16="http://schemas.microsoft.com/office/drawing/2014/main" id="{66F48E78-9317-030C-CEBB-A2EFC1A284CA}"/>
                  </a:ext>
                </a:extLst>
              </p:cNvPr>
              <p:cNvSpPr txBox="1">
                <a:spLocks noChangeArrowheads="1"/>
              </p:cNvSpPr>
              <p:nvPr/>
            </p:nvSpPr>
            <p:spPr bwMode="auto">
              <a:xfrm>
                <a:off x="435" y="1494"/>
                <a:ext cx="583"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Acme</a:t>
                </a:r>
              </a:p>
              <a:p>
                <a:pP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Sheet Metal Co.</a:t>
                </a:r>
              </a:p>
            </p:txBody>
          </p:sp>
        </p:grpSp>
        <p:grpSp>
          <p:nvGrpSpPr>
            <p:cNvPr id="87" name="Group 67">
              <a:extLst>
                <a:ext uri="{FF2B5EF4-FFF2-40B4-BE49-F238E27FC236}">
                  <a16:creationId xmlns:a16="http://schemas.microsoft.com/office/drawing/2014/main" id="{F0064F45-2E17-C7DD-F8F6-D2CC69E87F61}"/>
                </a:ext>
              </a:extLst>
            </p:cNvPr>
            <p:cNvGrpSpPr>
              <a:grpSpLocks/>
            </p:cNvGrpSpPr>
            <p:nvPr/>
          </p:nvGrpSpPr>
          <p:grpSpPr bwMode="auto">
            <a:xfrm>
              <a:off x="493" y="1904"/>
              <a:ext cx="374" cy="258"/>
              <a:chOff x="513" y="2099"/>
              <a:chExt cx="374" cy="258"/>
            </a:xfrm>
          </p:grpSpPr>
          <p:grpSp>
            <p:nvGrpSpPr>
              <p:cNvPr id="88" name="Group 68">
                <a:extLst>
                  <a:ext uri="{FF2B5EF4-FFF2-40B4-BE49-F238E27FC236}">
                    <a16:creationId xmlns:a16="http://schemas.microsoft.com/office/drawing/2014/main" id="{E2B78B0C-0D28-6E7D-B51C-EB3E1892CFC7}"/>
                  </a:ext>
                </a:extLst>
              </p:cNvPr>
              <p:cNvGrpSpPr>
                <a:grpSpLocks/>
              </p:cNvGrpSpPr>
              <p:nvPr/>
            </p:nvGrpSpPr>
            <p:grpSpPr bwMode="auto">
              <a:xfrm>
                <a:off x="550" y="2121"/>
                <a:ext cx="337" cy="236"/>
                <a:chOff x="536" y="3744"/>
                <a:chExt cx="415" cy="261"/>
              </a:xfrm>
            </p:grpSpPr>
            <p:sp>
              <p:nvSpPr>
                <p:cNvPr id="90" name="Rectangle 69">
                  <a:extLst>
                    <a:ext uri="{FF2B5EF4-FFF2-40B4-BE49-F238E27FC236}">
                      <a16:creationId xmlns:a16="http://schemas.microsoft.com/office/drawing/2014/main" id="{02B73AEB-372F-818C-8304-DD6D1848732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1" name="Rectangle 70">
                  <a:extLst>
                    <a:ext uri="{FF2B5EF4-FFF2-40B4-BE49-F238E27FC236}">
                      <a16:creationId xmlns:a16="http://schemas.microsoft.com/office/drawing/2014/main" id="{A27DBB90-D564-DBF5-2085-F71ADDC0A4AF}"/>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2" name="Oval 71">
                  <a:extLst>
                    <a:ext uri="{FF2B5EF4-FFF2-40B4-BE49-F238E27FC236}">
                      <a16:creationId xmlns:a16="http://schemas.microsoft.com/office/drawing/2014/main" id="{2C4FDD98-73D8-3B05-88B1-5ACD4364994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93" name="Oval 72">
                  <a:extLst>
                    <a:ext uri="{FF2B5EF4-FFF2-40B4-BE49-F238E27FC236}">
                      <a16:creationId xmlns:a16="http://schemas.microsoft.com/office/drawing/2014/main" id="{0EAD681E-485A-AEDA-A295-344C7D3D736C}"/>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89" name="Text Box 73">
                <a:extLst>
                  <a:ext uri="{FF2B5EF4-FFF2-40B4-BE49-F238E27FC236}">
                    <a16:creationId xmlns:a16="http://schemas.microsoft.com/office/drawing/2014/main" id="{93967F73-3C18-3254-3B18-0E952B949A2E}"/>
                  </a:ext>
                </a:extLst>
              </p:cNvPr>
              <p:cNvSpPr txBox="1">
                <a:spLocks noChangeArrowheads="1"/>
              </p:cNvSpPr>
              <p:nvPr/>
            </p:nvSpPr>
            <p:spPr bwMode="auto">
              <a:xfrm>
                <a:off x="513" y="2099"/>
                <a:ext cx="30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1X</a:t>
                </a:r>
              </a:p>
              <a:p>
                <a:pP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Week</a:t>
                </a:r>
              </a:p>
            </p:txBody>
          </p:sp>
        </p:grpSp>
      </p:grpSp>
      <p:grpSp>
        <p:nvGrpSpPr>
          <p:cNvPr id="179" name="Group 178">
            <a:extLst>
              <a:ext uri="{FF2B5EF4-FFF2-40B4-BE49-F238E27FC236}">
                <a16:creationId xmlns:a16="http://schemas.microsoft.com/office/drawing/2014/main" id="{61A08EE3-88BD-6065-1263-5195012F2AF9}"/>
              </a:ext>
            </a:extLst>
          </p:cNvPr>
          <p:cNvGrpSpPr/>
          <p:nvPr/>
        </p:nvGrpSpPr>
        <p:grpSpPr>
          <a:xfrm>
            <a:off x="5106614" y="2218457"/>
            <a:ext cx="4149093" cy="1919645"/>
            <a:chOff x="3873501" y="1838327"/>
            <a:chExt cx="3348037" cy="2365373"/>
          </a:xfrm>
        </p:grpSpPr>
        <p:grpSp>
          <p:nvGrpSpPr>
            <p:cNvPr id="159" name="Group 114">
              <a:extLst>
                <a:ext uri="{FF2B5EF4-FFF2-40B4-BE49-F238E27FC236}">
                  <a16:creationId xmlns:a16="http://schemas.microsoft.com/office/drawing/2014/main" id="{0A8FBC87-A748-7D32-BB92-27D39AB81174}"/>
                </a:ext>
              </a:extLst>
            </p:cNvPr>
            <p:cNvGrpSpPr>
              <a:grpSpLocks/>
            </p:cNvGrpSpPr>
            <p:nvPr/>
          </p:nvGrpSpPr>
          <p:grpSpPr bwMode="auto">
            <a:xfrm>
              <a:off x="4840288" y="2138365"/>
              <a:ext cx="2109787" cy="398463"/>
              <a:chOff x="3049" y="1347"/>
              <a:chExt cx="1329" cy="251"/>
            </a:xfrm>
          </p:grpSpPr>
          <p:grpSp>
            <p:nvGrpSpPr>
              <p:cNvPr id="160" name="Group 115">
                <a:extLst>
                  <a:ext uri="{FF2B5EF4-FFF2-40B4-BE49-F238E27FC236}">
                    <a16:creationId xmlns:a16="http://schemas.microsoft.com/office/drawing/2014/main" id="{BA19906B-AC4D-4DE3-D33A-A8F011F7101A}"/>
                  </a:ext>
                </a:extLst>
              </p:cNvPr>
              <p:cNvGrpSpPr>
                <a:grpSpLocks/>
              </p:cNvGrpSpPr>
              <p:nvPr/>
            </p:nvGrpSpPr>
            <p:grpSpPr bwMode="auto">
              <a:xfrm>
                <a:off x="3049" y="1442"/>
                <a:ext cx="1329" cy="51"/>
                <a:chOff x="3049" y="1442"/>
                <a:chExt cx="1329" cy="51"/>
              </a:xfrm>
            </p:grpSpPr>
            <p:sp>
              <p:nvSpPr>
                <p:cNvPr id="162" name="Line 116">
                  <a:extLst>
                    <a:ext uri="{FF2B5EF4-FFF2-40B4-BE49-F238E27FC236}">
                      <a16:creationId xmlns:a16="http://schemas.microsoft.com/office/drawing/2014/main" id="{DD18FA34-3114-3A62-751B-852A6DDD63B3}"/>
                    </a:ext>
                  </a:extLst>
                </p:cNvPr>
                <p:cNvSpPr>
                  <a:spLocks noChangeShapeType="1"/>
                </p:cNvSpPr>
                <p:nvPr/>
              </p:nvSpPr>
              <p:spPr bwMode="auto">
                <a:xfrm flipH="1">
                  <a:off x="3049" y="1442"/>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63" name="Line 117">
                  <a:extLst>
                    <a:ext uri="{FF2B5EF4-FFF2-40B4-BE49-F238E27FC236}">
                      <a16:creationId xmlns:a16="http://schemas.microsoft.com/office/drawing/2014/main" id="{F5189901-4743-B260-E0C3-372B45086F8A}"/>
                    </a:ext>
                  </a:extLst>
                </p:cNvPr>
                <p:cNvSpPr>
                  <a:spLocks noChangeShapeType="1"/>
                </p:cNvSpPr>
                <p:nvPr/>
              </p:nvSpPr>
              <p:spPr bwMode="auto">
                <a:xfrm flipV="1">
                  <a:off x="3658" y="1488"/>
                  <a:ext cx="720" cy="5"/>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64" name="Line 118">
                  <a:extLst>
                    <a:ext uri="{FF2B5EF4-FFF2-40B4-BE49-F238E27FC236}">
                      <a16:creationId xmlns:a16="http://schemas.microsoft.com/office/drawing/2014/main" id="{482959FC-9551-F55E-2ADE-8D2C512B5867}"/>
                    </a:ext>
                  </a:extLst>
                </p:cNvPr>
                <p:cNvSpPr>
                  <a:spLocks noChangeShapeType="1"/>
                </p:cNvSpPr>
                <p:nvPr/>
              </p:nvSpPr>
              <p:spPr bwMode="auto">
                <a:xfrm flipV="1">
                  <a:off x="3653" y="1450"/>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grpSp>
          <p:sp>
            <p:nvSpPr>
              <p:cNvPr id="161" name="Rectangle 119">
                <a:extLst>
                  <a:ext uri="{FF2B5EF4-FFF2-40B4-BE49-F238E27FC236}">
                    <a16:creationId xmlns:a16="http://schemas.microsoft.com/office/drawing/2014/main" id="{13AA2853-CB09-198E-D2B5-7A96C4289121}"/>
                  </a:ext>
                </a:extLst>
              </p:cNvPr>
              <p:cNvSpPr>
                <a:spLocks noChangeArrowheads="1"/>
              </p:cNvSpPr>
              <p:nvPr/>
            </p:nvSpPr>
            <p:spPr bwMode="auto">
              <a:xfrm>
                <a:off x="3787" y="1347"/>
                <a:ext cx="398" cy="25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Daily Orders</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(EDI)</a:t>
                </a:r>
              </a:p>
            </p:txBody>
          </p:sp>
        </p:grpSp>
        <p:grpSp>
          <p:nvGrpSpPr>
            <p:cNvPr id="165" name="Group 120">
              <a:extLst>
                <a:ext uri="{FF2B5EF4-FFF2-40B4-BE49-F238E27FC236}">
                  <a16:creationId xmlns:a16="http://schemas.microsoft.com/office/drawing/2014/main" id="{6376A272-23A0-085B-96F2-E058F9B12472}"/>
                </a:ext>
              </a:extLst>
            </p:cNvPr>
            <p:cNvGrpSpPr>
              <a:grpSpLocks/>
            </p:cNvGrpSpPr>
            <p:nvPr/>
          </p:nvGrpSpPr>
          <p:grpSpPr bwMode="auto">
            <a:xfrm>
              <a:off x="3873501" y="1838327"/>
              <a:ext cx="974725" cy="898526"/>
              <a:chOff x="2440" y="1158"/>
              <a:chExt cx="614" cy="566"/>
            </a:xfrm>
          </p:grpSpPr>
          <p:sp>
            <p:nvSpPr>
              <p:cNvPr id="166" name="Rectangle 121">
                <a:extLst>
                  <a:ext uri="{FF2B5EF4-FFF2-40B4-BE49-F238E27FC236}">
                    <a16:creationId xmlns:a16="http://schemas.microsoft.com/office/drawing/2014/main" id="{E7791034-0B03-BC79-6D28-A62A57BF5554}"/>
                  </a:ext>
                </a:extLst>
              </p:cNvPr>
              <p:cNvSpPr>
                <a:spLocks noChangeArrowheads="1"/>
              </p:cNvSpPr>
              <p:nvPr/>
            </p:nvSpPr>
            <p:spPr bwMode="auto">
              <a:xfrm>
                <a:off x="2440" y="1158"/>
                <a:ext cx="614" cy="566"/>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000" b="0">
                  <a:solidFill>
                    <a:schemeClr val="tx1"/>
                  </a:solidFill>
                  <a:latin typeface="Roboto" panose="02000000000000000000" pitchFamily="2" charset="0"/>
                  <a:ea typeface="Roboto" panose="02000000000000000000" pitchFamily="2" charset="0"/>
                </a:endParaRPr>
              </a:p>
            </p:txBody>
          </p:sp>
          <p:sp>
            <p:nvSpPr>
              <p:cNvPr id="168" name="Text Box 123">
                <a:extLst>
                  <a:ext uri="{FF2B5EF4-FFF2-40B4-BE49-F238E27FC236}">
                    <a16:creationId xmlns:a16="http://schemas.microsoft.com/office/drawing/2014/main" id="{2E71D270-EECA-7F36-D99E-60EABF1A8101}"/>
                  </a:ext>
                </a:extLst>
              </p:cNvPr>
              <p:cNvSpPr txBox="1">
                <a:spLocks noChangeArrowheads="1"/>
              </p:cNvSpPr>
              <p:nvPr/>
            </p:nvSpPr>
            <p:spPr bwMode="auto">
              <a:xfrm>
                <a:off x="2493" y="1230"/>
                <a:ext cx="540"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latin typeface="Roboto" panose="02000000000000000000" pitchFamily="2" charset="0"/>
                    <a:ea typeface="Roboto" panose="02000000000000000000" pitchFamily="2" charset="0"/>
                  </a:rPr>
                  <a:t>Production</a:t>
                </a:r>
              </a:p>
              <a:p>
                <a:pPr>
                  <a:lnSpc>
                    <a:spcPct val="100000"/>
                  </a:lnSpc>
                  <a:spcBef>
                    <a:spcPct val="30000"/>
                  </a:spcBef>
                </a:pPr>
                <a:r>
                  <a:rPr lang="en-US" altLang="en-US" sz="1400" b="0" dirty="0">
                    <a:solidFill>
                      <a:schemeClr val="tx1"/>
                    </a:solidFill>
                    <a:latin typeface="Roboto" panose="02000000000000000000" pitchFamily="2" charset="0"/>
                    <a:ea typeface="Roboto" panose="02000000000000000000" pitchFamily="2" charset="0"/>
                  </a:rPr>
                  <a:t>Control</a:t>
                </a:r>
              </a:p>
            </p:txBody>
          </p:sp>
        </p:grpSp>
        <p:grpSp>
          <p:nvGrpSpPr>
            <p:cNvPr id="176" name="Group 131">
              <a:extLst>
                <a:ext uri="{FF2B5EF4-FFF2-40B4-BE49-F238E27FC236}">
                  <a16:creationId xmlns:a16="http://schemas.microsoft.com/office/drawing/2014/main" id="{CD712138-2EE3-15D5-A796-63A83992FC35}"/>
                </a:ext>
              </a:extLst>
            </p:cNvPr>
            <p:cNvGrpSpPr>
              <a:grpSpLocks/>
            </p:cNvGrpSpPr>
            <p:nvPr/>
          </p:nvGrpSpPr>
          <p:grpSpPr bwMode="auto">
            <a:xfrm>
              <a:off x="4722813" y="2740025"/>
              <a:ext cx="2498725" cy="1463675"/>
              <a:chOff x="2957" y="1720"/>
              <a:chExt cx="1574" cy="922"/>
            </a:xfrm>
          </p:grpSpPr>
          <p:sp>
            <p:nvSpPr>
              <p:cNvPr id="177" name="Line 132">
                <a:extLst>
                  <a:ext uri="{FF2B5EF4-FFF2-40B4-BE49-F238E27FC236}">
                    <a16:creationId xmlns:a16="http://schemas.microsoft.com/office/drawing/2014/main" id="{0EFCF7AC-3BEF-0C4F-F2C8-626BD6CE3171}"/>
                  </a:ext>
                </a:extLst>
              </p:cNvPr>
              <p:cNvSpPr>
                <a:spLocks noChangeShapeType="1"/>
              </p:cNvSpPr>
              <p:nvPr/>
            </p:nvSpPr>
            <p:spPr bwMode="auto">
              <a:xfrm>
                <a:off x="2957" y="1720"/>
                <a:ext cx="1574" cy="922"/>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78" name="Rectangle 133">
                <a:extLst>
                  <a:ext uri="{FF2B5EF4-FFF2-40B4-BE49-F238E27FC236}">
                    <a16:creationId xmlns:a16="http://schemas.microsoft.com/office/drawing/2014/main" id="{FB7D37B4-9DFD-CB87-C43B-EEDAA23A7308}"/>
                  </a:ext>
                </a:extLst>
              </p:cNvPr>
              <p:cNvSpPr>
                <a:spLocks noChangeArrowheads="1"/>
              </p:cNvSpPr>
              <p:nvPr/>
            </p:nvSpPr>
            <p:spPr bwMode="auto">
              <a:xfrm>
                <a:off x="3632" y="2010"/>
                <a:ext cx="331" cy="358"/>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Daily Ship</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Schedule</a:t>
                </a:r>
              </a:p>
              <a:p>
                <a:pPr>
                  <a:lnSpc>
                    <a:spcPct val="90000"/>
                  </a:lnSpc>
                  <a:spcBef>
                    <a:spcPct val="0"/>
                  </a:spcBef>
                </a:pPr>
                <a:r>
                  <a:rPr lang="en-US" altLang="en-US" sz="1000" b="0">
                    <a:solidFill>
                      <a:schemeClr val="tx1"/>
                    </a:solidFill>
                    <a:latin typeface="Roboto" panose="02000000000000000000" pitchFamily="2" charset="0"/>
                    <a:ea typeface="Roboto" panose="02000000000000000000" pitchFamily="2" charset="0"/>
                  </a:rPr>
                  <a:t>(Paper)</a:t>
                </a:r>
              </a:p>
            </p:txBody>
          </p:sp>
        </p:grpSp>
      </p:grpSp>
      <p:sp>
        <p:nvSpPr>
          <p:cNvPr id="69" name="Rectangle 7">
            <a:extLst>
              <a:ext uri="{FF2B5EF4-FFF2-40B4-BE49-F238E27FC236}">
                <a16:creationId xmlns:a16="http://schemas.microsoft.com/office/drawing/2014/main" id="{4158FEAC-FFFD-006B-4215-192139A6F950}"/>
              </a:ext>
            </a:extLst>
          </p:cNvPr>
          <p:cNvSpPr>
            <a:spLocks noChangeArrowheads="1"/>
          </p:cNvSpPr>
          <p:nvPr/>
        </p:nvSpPr>
        <p:spPr bwMode="auto">
          <a:xfrm>
            <a:off x="5149219" y="4204220"/>
            <a:ext cx="1044479" cy="58338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70" name="Line 8">
            <a:extLst>
              <a:ext uri="{FF2B5EF4-FFF2-40B4-BE49-F238E27FC236}">
                <a16:creationId xmlns:a16="http://schemas.microsoft.com/office/drawing/2014/main" id="{270BA912-AFE0-445D-A090-764B68D03DA6}"/>
              </a:ext>
            </a:extLst>
          </p:cNvPr>
          <p:cNvSpPr>
            <a:spLocks noChangeShapeType="1"/>
          </p:cNvSpPr>
          <p:nvPr/>
        </p:nvSpPr>
        <p:spPr bwMode="auto">
          <a:xfrm>
            <a:off x="5155154" y="4367248"/>
            <a:ext cx="1029643" cy="1598"/>
          </a:xfrm>
          <a:prstGeom prst="line">
            <a:avLst/>
          </a:prstGeom>
          <a:solidFill>
            <a:schemeClr val="bg1"/>
          </a:solidFill>
          <a:ln w="12700" cap="sq">
            <a:solidFill>
              <a:schemeClr val="tx1"/>
            </a:solidFill>
            <a:round/>
            <a:headEnd type="none" w="sm" len="sm"/>
            <a:tailEnd type="none" w="sm" len="sm"/>
          </a:ln>
        </p:spPr>
        <p:txBody>
          <a:bodyPr wrap="none"/>
          <a:lstStyle/>
          <a:p>
            <a:endParaRPr lang="en-US" sz="1399">
              <a:latin typeface="Roboto" panose="02000000000000000000" pitchFamily="2" charset="0"/>
              <a:ea typeface="Roboto" panose="02000000000000000000" pitchFamily="2" charset="0"/>
            </a:endParaRPr>
          </a:p>
        </p:txBody>
      </p:sp>
      <p:sp>
        <p:nvSpPr>
          <p:cNvPr id="71" name="Text Box 9">
            <a:extLst>
              <a:ext uri="{FF2B5EF4-FFF2-40B4-BE49-F238E27FC236}">
                <a16:creationId xmlns:a16="http://schemas.microsoft.com/office/drawing/2014/main" id="{3E1713D6-9A38-B297-7A6B-E5B60832AB25}"/>
              </a:ext>
            </a:extLst>
          </p:cNvPr>
          <p:cNvSpPr txBox="1">
            <a:spLocks noChangeArrowheads="1"/>
          </p:cNvSpPr>
          <p:nvPr/>
        </p:nvSpPr>
        <p:spPr bwMode="auto">
          <a:xfrm>
            <a:off x="5185029" y="4185041"/>
            <a:ext cx="978827" cy="461665"/>
          </a:xfrm>
          <a:prstGeom prst="rect">
            <a:avLst/>
          </a:prstGeom>
          <a:noFill/>
          <a:ln w="12700" cap="sq">
            <a:no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dirty="0">
                <a:solidFill>
                  <a:schemeClr val="tx1"/>
                </a:solidFill>
                <a:latin typeface="Roboto" panose="02000000000000000000" pitchFamily="2" charset="0"/>
                <a:ea typeface="Roboto" panose="02000000000000000000" pitchFamily="2" charset="0"/>
              </a:rPr>
              <a:t>Stamp/Form</a:t>
            </a:r>
          </a:p>
        </p:txBody>
      </p:sp>
      <p:grpSp>
        <p:nvGrpSpPr>
          <p:cNvPr id="72" name="Group 71">
            <a:extLst>
              <a:ext uri="{FF2B5EF4-FFF2-40B4-BE49-F238E27FC236}">
                <a16:creationId xmlns:a16="http://schemas.microsoft.com/office/drawing/2014/main" id="{48FFE030-6ED7-A283-AA13-56B41A8F0D52}"/>
              </a:ext>
            </a:extLst>
          </p:cNvPr>
          <p:cNvGrpSpPr/>
          <p:nvPr/>
        </p:nvGrpSpPr>
        <p:grpSpPr>
          <a:xfrm>
            <a:off x="5283370" y="4373434"/>
            <a:ext cx="327682" cy="291563"/>
            <a:chOff x="18363333" y="5039084"/>
            <a:chExt cx="327025" cy="358775"/>
          </a:xfrm>
        </p:grpSpPr>
        <p:sp>
          <p:nvSpPr>
            <p:cNvPr id="73" name="Oval 32">
              <a:extLst>
                <a:ext uri="{FF2B5EF4-FFF2-40B4-BE49-F238E27FC236}">
                  <a16:creationId xmlns:a16="http://schemas.microsoft.com/office/drawing/2014/main" id="{4DA30C2A-CBB8-2F32-FA9B-FE05F5D82901}"/>
                </a:ext>
              </a:extLst>
            </p:cNvPr>
            <p:cNvSpPr>
              <a:spLocks noChangeArrowheads="1"/>
            </p:cNvSpPr>
            <p:nvPr/>
          </p:nvSpPr>
          <p:spPr bwMode="auto">
            <a:xfrm flipV="1">
              <a:off x="18445089" y="5126060"/>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74" name="AutoShape 33">
              <a:extLst>
                <a:ext uri="{FF2B5EF4-FFF2-40B4-BE49-F238E27FC236}">
                  <a16:creationId xmlns:a16="http://schemas.microsoft.com/office/drawing/2014/main" id="{EBF55CFC-F904-F6F9-CD1D-5B53D2FE876B}"/>
                </a:ext>
              </a:extLst>
            </p:cNvPr>
            <p:cNvSpPr>
              <a:spLocks noChangeArrowheads="1"/>
            </p:cNvSpPr>
            <p:nvPr/>
          </p:nvSpPr>
          <p:spPr bwMode="auto">
            <a:xfrm flipV="1">
              <a:off x="18363333" y="5039084"/>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399">
                <a:latin typeface="Roboto" panose="02000000000000000000" pitchFamily="2" charset="0"/>
                <a:ea typeface="Roboto" panose="02000000000000000000" pitchFamily="2" charset="0"/>
              </a:endParaRPr>
            </a:p>
          </p:txBody>
        </p:sp>
      </p:grpSp>
      <p:sp>
        <p:nvSpPr>
          <p:cNvPr id="75" name="Rectangle 84">
            <a:extLst>
              <a:ext uri="{FF2B5EF4-FFF2-40B4-BE49-F238E27FC236}">
                <a16:creationId xmlns:a16="http://schemas.microsoft.com/office/drawing/2014/main" id="{B65CB59A-C096-65CD-D193-849338F600C2}"/>
              </a:ext>
            </a:extLst>
          </p:cNvPr>
          <p:cNvSpPr>
            <a:spLocks noChangeArrowheads="1"/>
          </p:cNvSpPr>
          <p:nvPr/>
        </p:nvSpPr>
        <p:spPr bwMode="auto">
          <a:xfrm>
            <a:off x="5641098" y="4474855"/>
            <a:ext cx="39145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Roboto" panose="02000000000000000000" pitchFamily="2" charset="0"/>
                <a:ea typeface="Roboto" panose="02000000000000000000" pitchFamily="2" charset="0"/>
              </a:rPr>
              <a:t>= 2 </a:t>
            </a:r>
          </a:p>
        </p:txBody>
      </p:sp>
      <p:sp>
        <p:nvSpPr>
          <p:cNvPr id="76" name="Rectangle 18">
            <a:extLst>
              <a:ext uri="{FF2B5EF4-FFF2-40B4-BE49-F238E27FC236}">
                <a16:creationId xmlns:a16="http://schemas.microsoft.com/office/drawing/2014/main" id="{F1DD3A21-E4A2-9C33-15AB-951ED6A06431}"/>
              </a:ext>
            </a:extLst>
          </p:cNvPr>
          <p:cNvSpPr>
            <a:spLocks noChangeArrowheads="1"/>
          </p:cNvSpPr>
          <p:nvPr/>
        </p:nvSpPr>
        <p:spPr bwMode="auto">
          <a:xfrm>
            <a:off x="5156985" y="4844154"/>
            <a:ext cx="1044479" cy="848071"/>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000" b="0" dirty="0">
                <a:solidFill>
                  <a:schemeClr val="tx1"/>
                </a:solidFill>
                <a:latin typeface="Roboto" panose="02000000000000000000" pitchFamily="2" charset="0"/>
                <a:ea typeface="Roboto" panose="02000000000000000000" pitchFamily="2" charset="0"/>
              </a:rPr>
              <a:t>DOI = 15 “</a:t>
            </a:r>
          </a:p>
          <a:p>
            <a:pPr algn="l"/>
            <a:r>
              <a:rPr lang="en-US" altLang="en-US" sz="1000" b="0" dirty="0">
                <a:solidFill>
                  <a:schemeClr val="tx1"/>
                </a:solidFill>
                <a:latin typeface="Roboto" panose="02000000000000000000" pitchFamily="2" charset="0"/>
                <a:ea typeface="Roboto" panose="02000000000000000000" pitchFamily="2" charset="0"/>
              </a:rPr>
              <a:t>C/O Time =120 ’</a:t>
            </a:r>
          </a:p>
          <a:p>
            <a:pPr algn="l"/>
            <a:r>
              <a:rPr lang="en-US" altLang="en-US" sz="1000" b="0" dirty="0">
                <a:solidFill>
                  <a:schemeClr val="tx1"/>
                </a:solidFill>
                <a:latin typeface="Roboto" panose="02000000000000000000" pitchFamily="2" charset="0"/>
                <a:ea typeface="Roboto" panose="02000000000000000000" pitchFamily="2" charset="0"/>
              </a:rPr>
              <a:t>Uptime = 99%</a:t>
            </a:r>
          </a:p>
          <a:p>
            <a:pPr algn="l"/>
            <a:r>
              <a:rPr lang="en-US" altLang="en-US" sz="1000" b="0" dirty="0">
                <a:solidFill>
                  <a:schemeClr val="tx1"/>
                </a:solidFill>
                <a:latin typeface="Roboto" panose="02000000000000000000" pitchFamily="2" charset="0"/>
                <a:ea typeface="Roboto" panose="02000000000000000000" pitchFamily="2" charset="0"/>
              </a:rPr>
              <a:t>Quality = 98%</a:t>
            </a:r>
          </a:p>
          <a:p>
            <a:pPr algn="l"/>
            <a:endParaRPr lang="en-US" altLang="en-US" sz="1000" b="0" dirty="0">
              <a:solidFill>
                <a:schemeClr val="tx1"/>
              </a:solidFill>
              <a:latin typeface="Roboto" panose="02000000000000000000" pitchFamily="2" charset="0"/>
              <a:ea typeface="Roboto" panose="02000000000000000000" pitchFamily="2" charset="0"/>
            </a:endParaRPr>
          </a:p>
        </p:txBody>
      </p:sp>
      <p:grpSp>
        <p:nvGrpSpPr>
          <p:cNvPr id="78" name="Group 108">
            <a:extLst>
              <a:ext uri="{FF2B5EF4-FFF2-40B4-BE49-F238E27FC236}">
                <a16:creationId xmlns:a16="http://schemas.microsoft.com/office/drawing/2014/main" id="{3AD1EBC6-006B-E43D-56A4-551F90D4D29F}"/>
              </a:ext>
            </a:extLst>
          </p:cNvPr>
          <p:cNvGrpSpPr>
            <a:grpSpLocks/>
          </p:cNvGrpSpPr>
          <p:nvPr/>
        </p:nvGrpSpPr>
        <p:grpSpPr bwMode="auto">
          <a:xfrm>
            <a:off x="2169393" y="2486434"/>
            <a:ext cx="2935253" cy="465095"/>
            <a:chOff x="947" y="1366"/>
            <a:chExt cx="1492" cy="361"/>
          </a:xfrm>
        </p:grpSpPr>
        <p:grpSp>
          <p:nvGrpSpPr>
            <p:cNvPr id="121" name="Group 109">
              <a:extLst>
                <a:ext uri="{FF2B5EF4-FFF2-40B4-BE49-F238E27FC236}">
                  <a16:creationId xmlns:a16="http://schemas.microsoft.com/office/drawing/2014/main" id="{187ECE1D-48DA-8547-E643-71718B1F72CF}"/>
                </a:ext>
              </a:extLst>
            </p:cNvPr>
            <p:cNvGrpSpPr>
              <a:grpSpLocks/>
            </p:cNvGrpSpPr>
            <p:nvPr/>
          </p:nvGrpSpPr>
          <p:grpSpPr bwMode="auto">
            <a:xfrm>
              <a:off x="947" y="1481"/>
              <a:ext cx="1492" cy="51"/>
              <a:chOff x="947" y="1576"/>
              <a:chExt cx="1492" cy="51"/>
            </a:xfrm>
          </p:grpSpPr>
          <p:sp>
            <p:nvSpPr>
              <p:cNvPr id="123" name="Line 110">
                <a:extLst>
                  <a:ext uri="{FF2B5EF4-FFF2-40B4-BE49-F238E27FC236}">
                    <a16:creationId xmlns:a16="http://schemas.microsoft.com/office/drawing/2014/main" id="{0956165C-5F27-A032-FAAE-A179C33D37AF}"/>
                  </a:ext>
                </a:extLst>
              </p:cNvPr>
              <p:cNvSpPr>
                <a:spLocks noChangeShapeType="1"/>
              </p:cNvSpPr>
              <p:nvPr/>
            </p:nvSpPr>
            <p:spPr bwMode="auto">
              <a:xfrm flipH="1">
                <a:off x="947" y="1576"/>
                <a:ext cx="682"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24" name="Line 111">
                <a:extLst>
                  <a:ext uri="{FF2B5EF4-FFF2-40B4-BE49-F238E27FC236}">
                    <a16:creationId xmlns:a16="http://schemas.microsoft.com/office/drawing/2014/main" id="{253CA108-E849-7C28-D256-D67137B00F4F}"/>
                  </a:ext>
                </a:extLst>
              </p:cNvPr>
              <p:cNvSpPr>
                <a:spLocks noChangeShapeType="1"/>
              </p:cNvSpPr>
              <p:nvPr/>
            </p:nvSpPr>
            <p:spPr bwMode="auto">
              <a:xfrm flipV="1">
                <a:off x="1556" y="1626"/>
                <a:ext cx="883" cy="1"/>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sp>
            <p:nvSpPr>
              <p:cNvPr id="125" name="Line 112">
                <a:extLst>
                  <a:ext uri="{FF2B5EF4-FFF2-40B4-BE49-F238E27FC236}">
                    <a16:creationId xmlns:a16="http://schemas.microsoft.com/office/drawing/2014/main" id="{5A3531A1-3C69-3A08-80A2-7ACAD99BB4F8}"/>
                  </a:ext>
                </a:extLst>
              </p:cNvPr>
              <p:cNvSpPr>
                <a:spLocks noChangeShapeType="1"/>
              </p:cNvSpPr>
              <p:nvPr/>
            </p:nvSpPr>
            <p:spPr bwMode="auto">
              <a:xfrm flipV="1">
                <a:off x="1551" y="1584"/>
                <a:ext cx="67" cy="3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latin typeface="Roboto" panose="02000000000000000000" pitchFamily="2" charset="0"/>
                  <a:ea typeface="Roboto" panose="02000000000000000000" pitchFamily="2" charset="0"/>
                </a:endParaRPr>
              </a:p>
            </p:txBody>
          </p:sp>
        </p:grpSp>
        <p:sp>
          <p:nvSpPr>
            <p:cNvPr id="122" name="Rectangle 113">
              <a:extLst>
                <a:ext uri="{FF2B5EF4-FFF2-40B4-BE49-F238E27FC236}">
                  <a16:creationId xmlns:a16="http://schemas.microsoft.com/office/drawing/2014/main" id="{EE577369-337C-727A-E233-4DAAA44CA612}"/>
                </a:ext>
              </a:extLst>
            </p:cNvPr>
            <p:cNvSpPr>
              <a:spLocks noChangeArrowheads="1"/>
            </p:cNvSpPr>
            <p:nvPr/>
          </p:nvSpPr>
          <p:spPr bwMode="auto">
            <a:xfrm>
              <a:off x="1689" y="1366"/>
              <a:ext cx="558" cy="361"/>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Weekly</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Replenishment</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(Faxed)</a:t>
              </a:r>
            </a:p>
          </p:txBody>
        </p:sp>
      </p:grpSp>
      <p:grpSp>
        <p:nvGrpSpPr>
          <p:cNvPr id="126" name="Group 129">
            <a:extLst>
              <a:ext uri="{FF2B5EF4-FFF2-40B4-BE49-F238E27FC236}">
                <a16:creationId xmlns:a16="http://schemas.microsoft.com/office/drawing/2014/main" id="{5441704F-08E2-2884-8EF2-D4057AB01C4A}"/>
              </a:ext>
            </a:extLst>
          </p:cNvPr>
          <p:cNvGrpSpPr>
            <a:grpSpLocks/>
          </p:cNvGrpSpPr>
          <p:nvPr/>
        </p:nvGrpSpPr>
        <p:grpSpPr bwMode="auto">
          <a:xfrm>
            <a:off x="1761225" y="2980125"/>
            <a:ext cx="2292797" cy="1898101"/>
            <a:chOff x="720" y="1654"/>
            <a:chExt cx="1614" cy="1106"/>
          </a:xfrm>
        </p:grpSpPr>
        <p:grpSp>
          <p:nvGrpSpPr>
            <p:cNvPr id="127" name="Group 130">
              <a:extLst>
                <a:ext uri="{FF2B5EF4-FFF2-40B4-BE49-F238E27FC236}">
                  <a16:creationId xmlns:a16="http://schemas.microsoft.com/office/drawing/2014/main" id="{655F0EA6-AC8A-6670-65B8-8576FAD90F19}"/>
                </a:ext>
              </a:extLst>
            </p:cNvPr>
            <p:cNvGrpSpPr>
              <a:grpSpLocks/>
            </p:cNvGrpSpPr>
            <p:nvPr/>
          </p:nvGrpSpPr>
          <p:grpSpPr bwMode="auto">
            <a:xfrm>
              <a:off x="768" y="2208"/>
              <a:ext cx="192" cy="336"/>
              <a:chOff x="1227" y="2208"/>
              <a:chExt cx="330" cy="672"/>
            </a:xfrm>
          </p:grpSpPr>
          <p:sp>
            <p:nvSpPr>
              <p:cNvPr id="134" name="AutoShape 131" descr="Light upward diagonal">
                <a:extLst>
                  <a:ext uri="{FF2B5EF4-FFF2-40B4-BE49-F238E27FC236}">
                    <a16:creationId xmlns:a16="http://schemas.microsoft.com/office/drawing/2014/main" id="{5FA7A01F-F53F-FB0E-06F5-9593F5235069}"/>
                  </a:ext>
                </a:extLst>
              </p:cNvPr>
              <p:cNvSpPr>
                <a:spLocks noChangeArrowheads="1"/>
              </p:cNvSpPr>
              <p:nvPr/>
            </p:nvSpPr>
            <p:spPr bwMode="auto">
              <a:xfrm rot="16200000" flipH="1">
                <a:off x="1236" y="2268"/>
                <a:ext cx="312" cy="192"/>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35" name="Line 132">
                <a:extLst>
                  <a:ext uri="{FF2B5EF4-FFF2-40B4-BE49-F238E27FC236}">
                    <a16:creationId xmlns:a16="http://schemas.microsoft.com/office/drawing/2014/main" id="{09782390-EB15-6D94-4A6A-BBDE759556D7}"/>
                  </a:ext>
                </a:extLst>
              </p:cNvPr>
              <p:cNvSpPr>
                <a:spLocks noChangeShapeType="1"/>
              </p:cNvSpPr>
              <p:nvPr/>
            </p:nvSpPr>
            <p:spPr bwMode="auto">
              <a:xfrm>
                <a:off x="1392" y="2592"/>
                <a:ext cx="0" cy="288"/>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36" name="Line 133">
                <a:extLst>
                  <a:ext uri="{FF2B5EF4-FFF2-40B4-BE49-F238E27FC236}">
                    <a16:creationId xmlns:a16="http://schemas.microsoft.com/office/drawing/2014/main" id="{240ECEE2-BDC2-0D18-BE0D-8238309DBC74}"/>
                  </a:ext>
                </a:extLst>
              </p:cNvPr>
              <p:cNvSpPr>
                <a:spLocks noChangeShapeType="1"/>
              </p:cNvSpPr>
              <p:nvPr/>
            </p:nvSpPr>
            <p:spPr bwMode="auto">
              <a:xfrm>
                <a:off x="1248" y="2592"/>
                <a:ext cx="288" cy="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37" name="Line 134">
                <a:extLst>
                  <a:ext uri="{FF2B5EF4-FFF2-40B4-BE49-F238E27FC236}">
                    <a16:creationId xmlns:a16="http://schemas.microsoft.com/office/drawing/2014/main" id="{59DEDF97-3A69-57BD-6541-879A6412958C}"/>
                  </a:ext>
                </a:extLst>
              </p:cNvPr>
              <p:cNvSpPr>
                <a:spLocks noChangeShapeType="1"/>
              </p:cNvSpPr>
              <p:nvPr/>
            </p:nvSpPr>
            <p:spPr bwMode="auto">
              <a:xfrm>
                <a:off x="1227"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38" name="Line 135">
                <a:extLst>
                  <a:ext uri="{FF2B5EF4-FFF2-40B4-BE49-F238E27FC236}">
                    <a16:creationId xmlns:a16="http://schemas.microsoft.com/office/drawing/2014/main" id="{ACF46BD3-A8EA-5CA5-F536-24573D832C57}"/>
                  </a:ext>
                </a:extLst>
              </p:cNvPr>
              <p:cNvSpPr>
                <a:spLocks noChangeShapeType="1"/>
              </p:cNvSpPr>
              <p:nvPr/>
            </p:nvSpPr>
            <p:spPr bwMode="auto">
              <a:xfrm flipH="1">
                <a:off x="1536" y="2352"/>
                <a:ext cx="21" cy="240"/>
              </a:xfrm>
              <a:prstGeom prst="line">
                <a:avLst/>
              </a:prstGeom>
              <a:noFill/>
              <a:ln w="508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sp>
          <p:nvSpPr>
            <p:cNvPr id="128" name="Line 136">
              <a:extLst>
                <a:ext uri="{FF2B5EF4-FFF2-40B4-BE49-F238E27FC236}">
                  <a16:creationId xmlns:a16="http://schemas.microsoft.com/office/drawing/2014/main" id="{03212E9D-DFB5-D3ED-68DA-561716477AC8}"/>
                </a:ext>
              </a:extLst>
            </p:cNvPr>
            <p:cNvSpPr>
              <a:spLocks noChangeShapeType="1"/>
            </p:cNvSpPr>
            <p:nvPr/>
          </p:nvSpPr>
          <p:spPr bwMode="auto">
            <a:xfrm flipV="1">
              <a:off x="960" y="1654"/>
              <a:ext cx="1374" cy="554"/>
            </a:xfrm>
            <a:prstGeom prst="line">
              <a:avLst/>
            </a:prstGeom>
            <a:noFill/>
            <a:ln w="57150" cap="sq">
              <a:solidFill>
                <a:schemeClr val="tx1"/>
              </a:solidFill>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nvGrpSpPr>
            <p:cNvPr id="129" name="Group 137">
              <a:extLst>
                <a:ext uri="{FF2B5EF4-FFF2-40B4-BE49-F238E27FC236}">
                  <a16:creationId xmlns:a16="http://schemas.microsoft.com/office/drawing/2014/main" id="{AD6C54EF-9759-3F4C-010C-26070FD467AC}"/>
                </a:ext>
              </a:extLst>
            </p:cNvPr>
            <p:cNvGrpSpPr>
              <a:grpSpLocks/>
            </p:cNvGrpSpPr>
            <p:nvPr/>
          </p:nvGrpSpPr>
          <p:grpSpPr bwMode="auto">
            <a:xfrm>
              <a:off x="768" y="2592"/>
              <a:ext cx="161" cy="168"/>
              <a:chOff x="594" y="1362"/>
              <a:chExt cx="161" cy="168"/>
            </a:xfrm>
          </p:grpSpPr>
          <p:sp>
            <p:nvSpPr>
              <p:cNvPr id="131" name="Oval 138">
                <a:extLst>
                  <a:ext uri="{FF2B5EF4-FFF2-40B4-BE49-F238E27FC236}">
                    <a16:creationId xmlns:a16="http://schemas.microsoft.com/office/drawing/2014/main" id="{E9CC48A9-C0DF-BEA5-7D9A-622E31A1BA12}"/>
                  </a:ext>
                </a:extLst>
              </p:cNvPr>
              <p:cNvSpPr>
                <a:spLocks noChangeArrowheads="1"/>
              </p:cNvSpPr>
              <p:nvPr/>
            </p:nvSpPr>
            <p:spPr bwMode="auto">
              <a:xfrm>
                <a:off x="594" y="1383"/>
                <a:ext cx="146" cy="147"/>
              </a:xfrm>
              <a:prstGeom prst="ellipse">
                <a:avLst/>
              </a:prstGeom>
              <a:solidFill>
                <a:schemeClr val="bg1"/>
              </a:solidFill>
              <a:ln w="2857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32" name="Rectangle 139">
                <a:extLst>
                  <a:ext uri="{FF2B5EF4-FFF2-40B4-BE49-F238E27FC236}">
                    <a16:creationId xmlns:a16="http://schemas.microsoft.com/office/drawing/2014/main" id="{1C17008C-8743-4A48-E010-9F6519F4C0AA}"/>
                  </a:ext>
                </a:extLst>
              </p:cNvPr>
              <p:cNvSpPr>
                <a:spLocks noChangeArrowheads="1"/>
              </p:cNvSpPr>
              <p:nvPr/>
            </p:nvSpPr>
            <p:spPr bwMode="auto">
              <a:xfrm>
                <a:off x="678" y="1362"/>
                <a:ext cx="77" cy="105"/>
              </a:xfrm>
              <a:prstGeom prst="rect">
                <a:avLst/>
              </a:prstGeom>
              <a:solidFill>
                <a:schemeClr val="bg1"/>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33" name="Line 140">
                <a:extLst>
                  <a:ext uri="{FF2B5EF4-FFF2-40B4-BE49-F238E27FC236}">
                    <a16:creationId xmlns:a16="http://schemas.microsoft.com/office/drawing/2014/main" id="{0D9D9E16-7238-9022-FED7-755B051F8935}"/>
                  </a:ext>
                </a:extLst>
              </p:cNvPr>
              <p:cNvSpPr>
                <a:spLocks noChangeShapeType="1"/>
              </p:cNvSpPr>
              <p:nvPr/>
            </p:nvSpPr>
            <p:spPr bwMode="auto">
              <a:xfrm rot="18086501" flipV="1">
                <a:off x="721" y="1442"/>
                <a:ext cx="42" cy="21"/>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sp>
          <p:nvSpPr>
            <p:cNvPr id="130" name="Line 141">
              <a:extLst>
                <a:ext uri="{FF2B5EF4-FFF2-40B4-BE49-F238E27FC236}">
                  <a16:creationId xmlns:a16="http://schemas.microsoft.com/office/drawing/2014/main" id="{8D25ED89-20A5-923E-F978-2D56AEB97458}"/>
                </a:ext>
              </a:extLst>
            </p:cNvPr>
            <p:cNvSpPr>
              <a:spLocks noChangeShapeType="1"/>
            </p:cNvSpPr>
            <p:nvPr/>
          </p:nvSpPr>
          <p:spPr bwMode="auto">
            <a:xfrm>
              <a:off x="720" y="2592"/>
              <a:ext cx="288" cy="0"/>
            </a:xfrm>
            <a:prstGeom prst="line">
              <a:avLst/>
            </a:prstGeom>
            <a:noFill/>
            <a:ln w="254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39" name="Group 3">
            <a:extLst>
              <a:ext uri="{FF2B5EF4-FFF2-40B4-BE49-F238E27FC236}">
                <a16:creationId xmlns:a16="http://schemas.microsoft.com/office/drawing/2014/main" id="{AD2EF22A-C15C-29E0-FB4C-DB410203FBD8}"/>
              </a:ext>
            </a:extLst>
          </p:cNvPr>
          <p:cNvGrpSpPr>
            <a:grpSpLocks/>
          </p:cNvGrpSpPr>
          <p:nvPr/>
        </p:nvGrpSpPr>
        <p:grpSpPr bwMode="auto">
          <a:xfrm>
            <a:off x="1296141" y="4395785"/>
            <a:ext cx="5625960" cy="550917"/>
            <a:chOff x="571" y="2496"/>
            <a:chExt cx="2803" cy="396"/>
          </a:xfrm>
        </p:grpSpPr>
        <p:grpSp>
          <p:nvGrpSpPr>
            <p:cNvPr id="140" name="Group 4">
              <a:extLst>
                <a:ext uri="{FF2B5EF4-FFF2-40B4-BE49-F238E27FC236}">
                  <a16:creationId xmlns:a16="http://schemas.microsoft.com/office/drawing/2014/main" id="{13F83788-ECFC-6582-D2F1-08DBFD188D39}"/>
                </a:ext>
              </a:extLst>
            </p:cNvPr>
            <p:cNvGrpSpPr>
              <a:grpSpLocks/>
            </p:cNvGrpSpPr>
            <p:nvPr/>
          </p:nvGrpSpPr>
          <p:grpSpPr bwMode="auto">
            <a:xfrm>
              <a:off x="624" y="2496"/>
              <a:ext cx="2650" cy="231"/>
              <a:chOff x="624" y="2496"/>
              <a:chExt cx="2650" cy="231"/>
            </a:xfrm>
          </p:grpSpPr>
          <p:grpSp>
            <p:nvGrpSpPr>
              <p:cNvPr id="144" name="Group 5">
                <a:extLst>
                  <a:ext uri="{FF2B5EF4-FFF2-40B4-BE49-F238E27FC236}">
                    <a16:creationId xmlns:a16="http://schemas.microsoft.com/office/drawing/2014/main" id="{5F30E960-AC02-9B23-CF69-AAE1B3059ACD}"/>
                  </a:ext>
                </a:extLst>
              </p:cNvPr>
              <p:cNvGrpSpPr>
                <a:grpSpLocks/>
              </p:cNvGrpSpPr>
              <p:nvPr/>
            </p:nvGrpSpPr>
            <p:grpSpPr bwMode="auto">
              <a:xfrm>
                <a:off x="624" y="2496"/>
                <a:ext cx="106" cy="231"/>
                <a:chOff x="1336" y="1152"/>
                <a:chExt cx="296" cy="720"/>
              </a:xfrm>
            </p:grpSpPr>
            <p:sp>
              <p:nvSpPr>
                <p:cNvPr id="157" name="Line 6">
                  <a:extLst>
                    <a:ext uri="{FF2B5EF4-FFF2-40B4-BE49-F238E27FC236}">
                      <a16:creationId xmlns:a16="http://schemas.microsoft.com/office/drawing/2014/main" id="{7945B837-6AB2-B2D5-F9F1-0467F87A9197}"/>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8" name="Line 7">
                  <a:extLst>
                    <a:ext uri="{FF2B5EF4-FFF2-40B4-BE49-F238E27FC236}">
                      <a16:creationId xmlns:a16="http://schemas.microsoft.com/office/drawing/2014/main" id="{0B4BB80D-C0EE-9E4F-72E0-81A7650B00A1}"/>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67" name="Line 8">
                  <a:extLst>
                    <a:ext uri="{FF2B5EF4-FFF2-40B4-BE49-F238E27FC236}">
                      <a16:creationId xmlns:a16="http://schemas.microsoft.com/office/drawing/2014/main" id="{ABD223B9-34A7-9590-43AC-607CB9720E69}"/>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69" name="Line 9">
                  <a:extLst>
                    <a:ext uri="{FF2B5EF4-FFF2-40B4-BE49-F238E27FC236}">
                      <a16:creationId xmlns:a16="http://schemas.microsoft.com/office/drawing/2014/main" id="{3FC773B1-F718-A06F-6F5D-3A3546EBCD4F}"/>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70" name="Line 10">
                  <a:extLst>
                    <a:ext uri="{FF2B5EF4-FFF2-40B4-BE49-F238E27FC236}">
                      <a16:creationId xmlns:a16="http://schemas.microsoft.com/office/drawing/2014/main" id="{C11BC56F-2370-62FE-2585-936E9C0372CF}"/>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grpSp>
            <p:nvGrpSpPr>
              <p:cNvPr id="145" name="Group 11">
                <a:extLst>
                  <a:ext uri="{FF2B5EF4-FFF2-40B4-BE49-F238E27FC236}">
                    <a16:creationId xmlns:a16="http://schemas.microsoft.com/office/drawing/2014/main" id="{B313AD9E-8F7A-A372-C954-1CE5472E669B}"/>
                  </a:ext>
                </a:extLst>
              </p:cNvPr>
              <p:cNvGrpSpPr>
                <a:grpSpLocks/>
              </p:cNvGrpSpPr>
              <p:nvPr/>
            </p:nvGrpSpPr>
            <p:grpSpPr bwMode="auto">
              <a:xfrm>
                <a:off x="1680" y="2496"/>
                <a:ext cx="106" cy="231"/>
                <a:chOff x="1336" y="1152"/>
                <a:chExt cx="296" cy="720"/>
              </a:xfrm>
            </p:grpSpPr>
            <p:sp>
              <p:nvSpPr>
                <p:cNvPr id="152" name="Line 12">
                  <a:extLst>
                    <a:ext uri="{FF2B5EF4-FFF2-40B4-BE49-F238E27FC236}">
                      <a16:creationId xmlns:a16="http://schemas.microsoft.com/office/drawing/2014/main" id="{E4A03336-F842-1039-0ADD-AEC9AD82AE2B}"/>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3" name="Line 13">
                  <a:extLst>
                    <a:ext uri="{FF2B5EF4-FFF2-40B4-BE49-F238E27FC236}">
                      <a16:creationId xmlns:a16="http://schemas.microsoft.com/office/drawing/2014/main" id="{8BEA36E7-8694-5A8F-1A60-AF3C8AD19127}"/>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4" name="Line 14">
                  <a:extLst>
                    <a:ext uri="{FF2B5EF4-FFF2-40B4-BE49-F238E27FC236}">
                      <a16:creationId xmlns:a16="http://schemas.microsoft.com/office/drawing/2014/main" id="{2F374BCF-303B-3E92-C08F-0288752C7B63}"/>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5" name="Line 15">
                  <a:extLst>
                    <a:ext uri="{FF2B5EF4-FFF2-40B4-BE49-F238E27FC236}">
                      <a16:creationId xmlns:a16="http://schemas.microsoft.com/office/drawing/2014/main" id="{1C17D93A-6EEE-BD38-45C8-5870F0C00A22}"/>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6" name="Line 16">
                  <a:extLst>
                    <a:ext uri="{FF2B5EF4-FFF2-40B4-BE49-F238E27FC236}">
                      <a16:creationId xmlns:a16="http://schemas.microsoft.com/office/drawing/2014/main" id="{2BD4A749-290C-FE43-7E7D-8227C153E818}"/>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grpSp>
            <p:nvGrpSpPr>
              <p:cNvPr id="146" name="Group 17">
                <a:extLst>
                  <a:ext uri="{FF2B5EF4-FFF2-40B4-BE49-F238E27FC236}">
                    <a16:creationId xmlns:a16="http://schemas.microsoft.com/office/drawing/2014/main" id="{19C714DC-3490-16D0-44A3-61052C7BDF4F}"/>
                  </a:ext>
                </a:extLst>
              </p:cNvPr>
              <p:cNvGrpSpPr>
                <a:grpSpLocks/>
              </p:cNvGrpSpPr>
              <p:nvPr/>
            </p:nvGrpSpPr>
            <p:grpSpPr bwMode="auto">
              <a:xfrm>
                <a:off x="3168" y="2496"/>
                <a:ext cx="106" cy="231"/>
                <a:chOff x="1336" y="1152"/>
                <a:chExt cx="296" cy="720"/>
              </a:xfrm>
            </p:grpSpPr>
            <p:sp>
              <p:nvSpPr>
                <p:cNvPr id="147" name="Line 18">
                  <a:extLst>
                    <a:ext uri="{FF2B5EF4-FFF2-40B4-BE49-F238E27FC236}">
                      <a16:creationId xmlns:a16="http://schemas.microsoft.com/office/drawing/2014/main" id="{0627A600-6171-BAF4-F5D0-0424CC75708C}"/>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48" name="Line 19">
                  <a:extLst>
                    <a:ext uri="{FF2B5EF4-FFF2-40B4-BE49-F238E27FC236}">
                      <a16:creationId xmlns:a16="http://schemas.microsoft.com/office/drawing/2014/main" id="{D470F864-4A11-4B80-E432-4B24D3C1D6CF}"/>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49" name="Line 20">
                  <a:extLst>
                    <a:ext uri="{FF2B5EF4-FFF2-40B4-BE49-F238E27FC236}">
                      <a16:creationId xmlns:a16="http://schemas.microsoft.com/office/drawing/2014/main" id="{33BCFAA4-31A5-B5B1-916C-DFFD287A0BA1}"/>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0" name="Line 21">
                  <a:extLst>
                    <a:ext uri="{FF2B5EF4-FFF2-40B4-BE49-F238E27FC236}">
                      <a16:creationId xmlns:a16="http://schemas.microsoft.com/office/drawing/2014/main" id="{4E57723F-E296-1461-AB37-B9BB7DB7AE15}"/>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sp>
              <p:nvSpPr>
                <p:cNvPr id="151" name="Line 22">
                  <a:extLst>
                    <a:ext uri="{FF2B5EF4-FFF2-40B4-BE49-F238E27FC236}">
                      <a16:creationId xmlns:a16="http://schemas.microsoft.com/office/drawing/2014/main" id="{0CAD7716-B308-2807-4EB3-B832433799EC}"/>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latin typeface="Roboto" panose="02000000000000000000" pitchFamily="2" charset="0"/>
                    <a:ea typeface="Roboto" panose="02000000000000000000" pitchFamily="2" charset="0"/>
                  </a:endParaRPr>
                </a:p>
              </p:txBody>
            </p:sp>
          </p:grpSp>
        </p:grpSp>
        <p:sp>
          <p:nvSpPr>
            <p:cNvPr id="141" name="Text Box 23">
              <a:extLst>
                <a:ext uri="{FF2B5EF4-FFF2-40B4-BE49-F238E27FC236}">
                  <a16:creationId xmlns:a16="http://schemas.microsoft.com/office/drawing/2014/main" id="{FA17D551-2882-000B-7362-A7997FA5D6E9}"/>
                </a:ext>
              </a:extLst>
            </p:cNvPr>
            <p:cNvSpPr txBox="1">
              <a:spLocks noChangeArrowheads="1"/>
            </p:cNvSpPr>
            <p:nvPr/>
          </p:nvSpPr>
          <p:spPr bwMode="auto">
            <a:xfrm>
              <a:off x="571" y="2726"/>
              <a:ext cx="259"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6 days</a:t>
              </a:r>
            </a:p>
          </p:txBody>
        </p:sp>
        <p:sp>
          <p:nvSpPr>
            <p:cNvPr id="142" name="Text Box 24">
              <a:extLst>
                <a:ext uri="{FF2B5EF4-FFF2-40B4-BE49-F238E27FC236}">
                  <a16:creationId xmlns:a16="http://schemas.microsoft.com/office/drawing/2014/main" id="{3F531059-25E4-4195-629B-FA7A9DC0DC95}"/>
                </a:ext>
              </a:extLst>
            </p:cNvPr>
            <p:cNvSpPr txBox="1">
              <a:spLocks noChangeArrowheads="1"/>
            </p:cNvSpPr>
            <p:nvPr/>
          </p:nvSpPr>
          <p:spPr bwMode="auto">
            <a:xfrm>
              <a:off x="1618" y="2726"/>
              <a:ext cx="273"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2 days </a:t>
              </a:r>
            </a:p>
          </p:txBody>
        </p:sp>
        <p:sp>
          <p:nvSpPr>
            <p:cNvPr id="143" name="Text Box 25">
              <a:extLst>
                <a:ext uri="{FF2B5EF4-FFF2-40B4-BE49-F238E27FC236}">
                  <a16:creationId xmlns:a16="http://schemas.microsoft.com/office/drawing/2014/main" id="{A5022400-915A-5DA6-2274-9E334F823BA9}"/>
                </a:ext>
              </a:extLst>
            </p:cNvPr>
            <p:cNvSpPr txBox="1">
              <a:spLocks noChangeArrowheads="1"/>
            </p:cNvSpPr>
            <p:nvPr/>
          </p:nvSpPr>
          <p:spPr bwMode="auto">
            <a:xfrm>
              <a:off x="3115" y="2726"/>
              <a:ext cx="259" cy="166"/>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2 days</a:t>
              </a:r>
            </a:p>
          </p:txBody>
        </p:sp>
      </p:grpSp>
      <p:grpSp>
        <p:nvGrpSpPr>
          <p:cNvPr id="171" name="Group 106">
            <a:extLst>
              <a:ext uri="{FF2B5EF4-FFF2-40B4-BE49-F238E27FC236}">
                <a16:creationId xmlns:a16="http://schemas.microsoft.com/office/drawing/2014/main" id="{3DB3CB7F-5DE2-0BA4-9520-5D85E51A8DAA}"/>
              </a:ext>
            </a:extLst>
          </p:cNvPr>
          <p:cNvGrpSpPr>
            <a:grpSpLocks/>
          </p:cNvGrpSpPr>
          <p:nvPr/>
        </p:nvGrpSpPr>
        <p:grpSpPr bwMode="auto">
          <a:xfrm>
            <a:off x="2736904" y="3572889"/>
            <a:ext cx="6574670" cy="1053057"/>
            <a:chOff x="1296" y="2208"/>
            <a:chExt cx="3216" cy="391"/>
          </a:xfrm>
        </p:grpSpPr>
        <p:grpSp>
          <p:nvGrpSpPr>
            <p:cNvPr id="172" name="Group 107">
              <a:extLst>
                <a:ext uri="{FF2B5EF4-FFF2-40B4-BE49-F238E27FC236}">
                  <a16:creationId xmlns:a16="http://schemas.microsoft.com/office/drawing/2014/main" id="{3066D248-E686-278B-B66B-D9E068F7D90C}"/>
                </a:ext>
              </a:extLst>
            </p:cNvPr>
            <p:cNvGrpSpPr>
              <a:grpSpLocks/>
            </p:cNvGrpSpPr>
            <p:nvPr/>
          </p:nvGrpSpPr>
          <p:grpSpPr bwMode="auto">
            <a:xfrm>
              <a:off x="1761" y="2256"/>
              <a:ext cx="783" cy="336"/>
              <a:chOff x="1761" y="2256"/>
              <a:chExt cx="783" cy="336"/>
            </a:xfrm>
          </p:grpSpPr>
          <p:sp>
            <p:nvSpPr>
              <p:cNvPr id="197" name="Line 108">
                <a:extLst>
                  <a:ext uri="{FF2B5EF4-FFF2-40B4-BE49-F238E27FC236}">
                    <a16:creationId xmlns:a16="http://schemas.microsoft.com/office/drawing/2014/main" id="{4840B38A-594B-3E6A-D9B7-761C5A646BAD}"/>
                  </a:ext>
                </a:extLst>
              </p:cNvPr>
              <p:cNvSpPr>
                <a:spLocks noChangeShapeType="1"/>
              </p:cNvSpPr>
              <p:nvPr/>
            </p:nvSpPr>
            <p:spPr bwMode="auto">
              <a:xfrm>
                <a:off x="1776" y="2592"/>
                <a:ext cx="678"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8" name="Line 109">
                <a:extLst>
                  <a:ext uri="{FF2B5EF4-FFF2-40B4-BE49-F238E27FC236}">
                    <a16:creationId xmlns:a16="http://schemas.microsoft.com/office/drawing/2014/main" id="{5AD036DA-CE83-214E-6AC3-D069C4DABAB5}"/>
                  </a:ext>
                </a:extLst>
              </p:cNvPr>
              <p:cNvSpPr>
                <a:spLocks noChangeShapeType="1"/>
              </p:cNvSpPr>
              <p:nvPr/>
            </p:nvSpPr>
            <p:spPr bwMode="auto">
              <a:xfrm>
                <a:off x="1776" y="2304"/>
                <a:ext cx="76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9" name="Line 110">
                <a:extLst>
                  <a:ext uri="{FF2B5EF4-FFF2-40B4-BE49-F238E27FC236}">
                    <a16:creationId xmlns:a16="http://schemas.microsoft.com/office/drawing/2014/main" id="{BDD0C32E-7A49-E46A-C4CD-93EF2A19F306}"/>
                  </a:ext>
                </a:extLst>
              </p:cNvPr>
              <p:cNvSpPr>
                <a:spLocks noChangeShapeType="1"/>
              </p:cNvSpPr>
              <p:nvPr/>
            </p:nvSpPr>
            <p:spPr bwMode="auto">
              <a:xfrm>
                <a:off x="1761" y="2304"/>
                <a:ext cx="0" cy="288"/>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00" name="AutoShape 111" descr="Light upward diagonal">
                <a:extLst>
                  <a:ext uri="{FF2B5EF4-FFF2-40B4-BE49-F238E27FC236}">
                    <a16:creationId xmlns:a16="http://schemas.microsoft.com/office/drawing/2014/main" id="{C469865E-80B8-029A-9F2E-CD1CA96B35A4}"/>
                  </a:ext>
                </a:extLst>
              </p:cNvPr>
              <p:cNvSpPr>
                <a:spLocks noChangeArrowheads="1"/>
              </p:cNvSpPr>
              <p:nvPr/>
            </p:nvSpPr>
            <p:spPr bwMode="auto">
              <a:xfrm flipH="1">
                <a:off x="2038" y="2256"/>
                <a:ext cx="218"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201" name="Line 112">
                <a:extLst>
                  <a:ext uri="{FF2B5EF4-FFF2-40B4-BE49-F238E27FC236}">
                    <a16:creationId xmlns:a16="http://schemas.microsoft.com/office/drawing/2014/main" id="{D7E488A4-4599-4399-14CA-95BFF8DB7F0A}"/>
                  </a:ext>
                </a:extLst>
              </p:cNvPr>
              <p:cNvSpPr>
                <a:spLocks noChangeShapeType="1"/>
              </p:cNvSpPr>
              <p:nvPr/>
            </p:nvSpPr>
            <p:spPr bwMode="auto">
              <a:xfrm>
                <a:off x="2544" y="2304"/>
                <a:ext cx="0" cy="136"/>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73" name="Group 113">
              <a:extLst>
                <a:ext uri="{FF2B5EF4-FFF2-40B4-BE49-F238E27FC236}">
                  <a16:creationId xmlns:a16="http://schemas.microsoft.com/office/drawing/2014/main" id="{51292C77-AC84-56E1-FD4E-A57CD2EB752B}"/>
                </a:ext>
              </a:extLst>
            </p:cNvPr>
            <p:cNvGrpSpPr>
              <a:grpSpLocks/>
            </p:cNvGrpSpPr>
            <p:nvPr/>
          </p:nvGrpSpPr>
          <p:grpSpPr bwMode="auto">
            <a:xfrm>
              <a:off x="1296" y="2256"/>
              <a:ext cx="432" cy="240"/>
              <a:chOff x="1296" y="2256"/>
              <a:chExt cx="432" cy="240"/>
            </a:xfrm>
          </p:grpSpPr>
          <p:sp>
            <p:nvSpPr>
              <p:cNvPr id="193" name="Line 114">
                <a:extLst>
                  <a:ext uri="{FF2B5EF4-FFF2-40B4-BE49-F238E27FC236}">
                    <a16:creationId xmlns:a16="http://schemas.microsoft.com/office/drawing/2014/main" id="{3B49DECA-994F-3B34-CC69-6CF52C0025E8}"/>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4" name="Line 115">
                <a:extLst>
                  <a:ext uri="{FF2B5EF4-FFF2-40B4-BE49-F238E27FC236}">
                    <a16:creationId xmlns:a16="http://schemas.microsoft.com/office/drawing/2014/main" id="{94F37A60-1814-9B51-4A48-387202AA60CB}"/>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5" name="AutoShape 116">
                <a:extLst>
                  <a:ext uri="{FF2B5EF4-FFF2-40B4-BE49-F238E27FC236}">
                    <a16:creationId xmlns:a16="http://schemas.microsoft.com/office/drawing/2014/main" id="{B81FA203-A09D-00D2-A0D2-3DEA854AB974}"/>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96" name="Line 117">
                <a:extLst>
                  <a:ext uri="{FF2B5EF4-FFF2-40B4-BE49-F238E27FC236}">
                    <a16:creationId xmlns:a16="http://schemas.microsoft.com/office/drawing/2014/main" id="{76A5C54F-F85E-A921-05C5-4F546A779588}"/>
                  </a:ext>
                </a:extLst>
              </p:cNvPr>
              <p:cNvSpPr>
                <a:spLocks noChangeShapeType="1"/>
              </p:cNvSpPr>
              <p:nvPr/>
            </p:nvSpPr>
            <p:spPr bwMode="auto">
              <a:xfrm>
                <a:off x="1296" y="2304"/>
                <a:ext cx="0" cy="136"/>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74" name="Group 118">
              <a:extLst>
                <a:ext uri="{FF2B5EF4-FFF2-40B4-BE49-F238E27FC236}">
                  <a16:creationId xmlns:a16="http://schemas.microsoft.com/office/drawing/2014/main" id="{02ED0F26-EA1C-7ED0-8842-03A010F22768}"/>
                </a:ext>
              </a:extLst>
            </p:cNvPr>
            <p:cNvGrpSpPr>
              <a:grpSpLocks/>
            </p:cNvGrpSpPr>
            <p:nvPr/>
          </p:nvGrpSpPr>
          <p:grpSpPr bwMode="auto">
            <a:xfrm>
              <a:off x="3234" y="2208"/>
              <a:ext cx="1278" cy="391"/>
              <a:chOff x="3234" y="2208"/>
              <a:chExt cx="1278" cy="391"/>
            </a:xfrm>
          </p:grpSpPr>
          <p:sp>
            <p:nvSpPr>
              <p:cNvPr id="188" name="Line 119">
                <a:extLst>
                  <a:ext uri="{FF2B5EF4-FFF2-40B4-BE49-F238E27FC236}">
                    <a16:creationId xmlns:a16="http://schemas.microsoft.com/office/drawing/2014/main" id="{BD6CC9A5-D574-CA6B-9801-123BD0885E69}"/>
                  </a:ext>
                </a:extLst>
              </p:cNvPr>
              <p:cNvSpPr>
                <a:spLocks noChangeShapeType="1"/>
              </p:cNvSpPr>
              <p:nvPr/>
            </p:nvSpPr>
            <p:spPr bwMode="auto">
              <a:xfrm>
                <a:off x="3235" y="2595"/>
                <a:ext cx="1181" cy="0"/>
              </a:xfrm>
              <a:prstGeom prst="line">
                <a:avLst/>
              </a:prstGeom>
              <a:noFill/>
              <a:ln w="50800">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89" name="Line 120">
                <a:extLst>
                  <a:ext uri="{FF2B5EF4-FFF2-40B4-BE49-F238E27FC236}">
                    <a16:creationId xmlns:a16="http://schemas.microsoft.com/office/drawing/2014/main" id="{589E39C6-53CC-1A92-1059-9471469C006F}"/>
                  </a:ext>
                </a:extLst>
              </p:cNvPr>
              <p:cNvSpPr>
                <a:spLocks noChangeShapeType="1"/>
              </p:cNvSpPr>
              <p:nvPr/>
            </p:nvSpPr>
            <p:spPr bwMode="auto">
              <a:xfrm>
                <a:off x="3264" y="2304"/>
                <a:ext cx="1248"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0" name="Line 121">
                <a:extLst>
                  <a:ext uri="{FF2B5EF4-FFF2-40B4-BE49-F238E27FC236}">
                    <a16:creationId xmlns:a16="http://schemas.microsoft.com/office/drawing/2014/main" id="{C03DF3A9-C429-C7F5-12F7-8FE50CACD73B}"/>
                  </a:ext>
                </a:extLst>
              </p:cNvPr>
              <p:cNvSpPr>
                <a:spLocks noChangeShapeType="1"/>
              </p:cNvSpPr>
              <p:nvPr/>
            </p:nvSpPr>
            <p:spPr bwMode="auto">
              <a:xfrm flipH="1">
                <a:off x="3234" y="2304"/>
                <a:ext cx="6" cy="295"/>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91" name="AutoShape 122" descr="Light upward diagonal">
                <a:extLst>
                  <a:ext uri="{FF2B5EF4-FFF2-40B4-BE49-F238E27FC236}">
                    <a16:creationId xmlns:a16="http://schemas.microsoft.com/office/drawing/2014/main" id="{153352FB-8965-41A1-09C8-D7AB2A38A709}"/>
                  </a:ext>
                </a:extLst>
              </p:cNvPr>
              <p:cNvSpPr>
                <a:spLocks noChangeArrowheads="1"/>
              </p:cNvSpPr>
              <p:nvPr/>
            </p:nvSpPr>
            <p:spPr bwMode="auto">
              <a:xfrm flipH="1">
                <a:off x="4103" y="2208"/>
                <a:ext cx="217" cy="144"/>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92" name="Line 123">
                <a:extLst>
                  <a:ext uri="{FF2B5EF4-FFF2-40B4-BE49-F238E27FC236}">
                    <a16:creationId xmlns:a16="http://schemas.microsoft.com/office/drawing/2014/main" id="{B356904B-4F10-368B-16A6-B41FC5E7954B}"/>
                  </a:ext>
                </a:extLst>
              </p:cNvPr>
              <p:cNvSpPr>
                <a:spLocks noChangeShapeType="1"/>
              </p:cNvSpPr>
              <p:nvPr/>
            </p:nvSpPr>
            <p:spPr bwMode="auto">
              <a:xfrm flipH="1">
                <a:off x="4512" y="2304"/>
                <a:ext cx="0" cy="131"/>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nvGrpSpPr>
            <p:cNvPr id="175" name="Group 124">
              <a:extLst>
                <a:ext uri="{FF2B5EF4-FFF2-40B4-BE49-F238E27FC236}">
                  <a16:creationId xmlns:a16="http://schemas.microsoft.com/office/drawing/2014/main" id="{8A06BA6D-0EF1-789F-9A6A-70674AA99A11}"/>
                </a:ext>
              </a:extLst>
            </p:cNvPr>
            <p:cNvGrpSpPr>
              <a:grpSpLocks/>
            </p:cNvGrpSpPr>
            <p:nvPr/>
          </p:nvGrpSpPr>
          <p:grpSpPr bwMode="auto">
            <a:xfrm>
              <a:off x="2766" y="2262"/>
              <a:ext cx="432" cy="240"/>
              <a:chOff x="1296" y="2256"/>
              <a:chExt cx="432" cy="240"/>
            </a:xfrm>
          </p:grpSpPr>
          <p:sp>
            <p:nvSpPr>
              <p:cNvPr id="180" name="Line 125">
                <a:extLst>
                  <a:ext uri="{FF2B5EF4-FFF2-40B4-BE49-F238E27FC236}">
                    <a16:creationId xmlns:a16="http://schemas.microsoft.com/office/drawing/2014/main" id="{F8B954E2-7C48-B027-344C-8BE84BB73242}"/>
                  </a:ext>
                </a:extLst>
              </p:cNvPr>
              <p:cNvSpPr>
                <a:spLocks noChangeShapeType="1"/>
              </p:cNvSpPr>
              <p:nvPr/>
            </p:nvSpPr>
            <p:spPr bwMode="auto">
              <a:xfrm>
                <a:off x="1728" y="2304"/>
                <a:ext cx="0" cy="192"/>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81" name="Line 126">
                <a:extLst>
                  <a:ext uri="{FF2B5EF4-FFF2-40B4-BE49-F238E27FC236}">
                    <a16:creationId xmlns:a16="http://schemas.microsoft.com/office/drawing/2014/main" id="{1958AF83-0124-0ED4-FE00-056B8811ACF3}"/>
                  </a:ext>
                </a:extLst>
              </p:cNvPr>
              <p:cNvSpPr>
                <a:spLocks noChangeShapeType="1"/>
              </p:cNvSpPr>
              <p:nvPr/>
            </p:nvSpPr>
            <p:spPr bwMode="auto">
              <a:xfrm>
                <a:off x="1296" y="2304"/>
                <a:ext cx="432" cy="0"/>
              </a:xfrm>
              <a:prstGeom prst="line">
                <a:avLst/>
              </a:prstGeom>
              <a:noFill/>
              <a:ln w="508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186" name="AutoShape 127">
                <a:extLst>
                  <a:ext uri="{FF2B5EF4-FFF2-40B4-BE49-F238E27FC236}">
                    <a16:creationId xmlns:a16="http://schemas.microsoft.com/office/drawing/2014/main" id="{78F00121-BB80-3FFC-F42F-F222BE87F38F}"/>
                  </a:ext>
                </a:extLst>
              </p:cNvPr>
              <p:cNvSpPr>
                <a:spLocks noChangeArrowheads="1"/>
              </p:cNvSpPr>
              <p:nvPr/>
            </p:nvSpPr>
            <p:spPr bwMode="auto">
              <a:xfrm flipV="1">
                <a:off x="1488" y="2256"/>
                <a:ext cx="144" cy="144"/>
              </a:xfrm>
              <a:prstGeom prst="triangle">
                <a:avLst>
                  <a:gd name="adj" fmla="val 50000"/>
                </a:avLst>
              </a:prstGeom>
              <a:solidFill>
                <a:schemeClr val="bg1"/>
              </a:solidFill>
              <a:ln w="508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sp>
            <p:nvSpPr>
              <p:cNvPr id="187" name="Line 128">
                <a:extLst>
                  <a:ext uri="{FF2B5EF4-FFF2-40B4-BE49-F238E27FC236}">
                    <a16:creationId xmlns:a16="http://schemas.microsoft.com/office/drawing/2014/main" id="{50CAF325-1D0F-C0B5-80F6-818EE27609D4}"/>
                  </a:ext>
                </a:extLst>
              </p:cNvPr>
              <p:cNvSpPr>
                <a:spLocks noChangeShapeType="1"/>
              </p:cNvSpPr>
              <p:nvPr/>
            </p:nvSpPr>
            <p:spPr bwMode="auto">
              <a:xfrm>
                <a:off x="1296" y="2304"/>
                <a:ext cx="0" cy="130"/>
              </a:xfrm>
              <a:prstGeom prst="line">
                <a:avLst/>
              </a:prstGeom>
              <a:noFill/>
              <a:ln w="50800">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grpSp>
      </p:grpSp>
      <p:sp>
        <p:nvSpPr>
          <p:cNvPr id="10" name="Line 116">
            <a:extLst>
              <a:ext uri="{FF2B5EF4-FFF2-40B4-BE49-F238E27FC236}">
                <a16:creationId xmlns:a16="http://schemas.microsoft.com/office/drawing/2014/main" id="{5F20D398-5608-5CD6-5B85-27331A304B23}"/>
              </a:ext>
            </a:extLst>
          </p:cNvPr>
          <p:cNvSpPr>
            <a:spLocks noChangeShapeType="1"/>
          </p:cNvSpPr>
          <p:nvPr/>
        </p:nvSpPr>
        <p:spPr bwMode="auto">
          <a:xfrm flipH="1">
            <a:off x="6328204" y="2249124"/>
            <a:ext cx="1341717" cy="0"/>
          </a:xfrm>
          <a:prstGeom prst="line">
            <a:avLst/>
          </a:prstGeom>
          <a:noFill/>
          <a:ln w="5715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latin typeface="Roboto" panose="02000000000000000000" pitchFamily="2" charset="0"/>
              <a:ea typeface="Roboto" panose="02000000000000000000" pitchFamily="2" charset="0"/>
            </a:endParaRPr>
          </a:p>
        </p:txBody>
      </p:sp>
      <p:sp>
        <p:nvSpPr>
          <p:cNvPr id="11" name="Line 117">
            <a:extLst>
              <a:ext uri="{FF2B5EF4-FFF2-40B4-BE49-F238E27FC236}">
                <a16:creationId xmlns:a16="http://schemas.microsoft.com/office/drawing/2014/main" id="{E5CCFE93-168F-F6D8-7262-B5678C5E53AA}"/>
              </a:ext>
            </a:extLst>
          </p:cNvPr>
          <p:cNvSpPr>
            <a:spLocks noChangeShapeType="1"/>
          </p:cNvSpPr>
          <p:nvPr/>
        </p:nvSpPr>
        <p:spPr bwMode="auto">
          <a:xfrm flipV="1">
            <a:off x="7526307" y="2308389"/>
            <a:ext cx="1416476" cy="6442"/>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latin typeface="Roboto" panose="02000000000000000000" pitchFamily="2" charset="0"/>
              <a:ea typeface="Roboto" panose="02000000000000000000" pitchFamily="2" charset="0"/>
            </a:endParaRPr>
          </a:p>
        </p:txBody>
      </p:sp>
      <p:sp>
        <p:nvSpPr>
          <p:cNvPr id="12" name="Line 118">
            <a:extLst>
              <a:ext uri="{FF2B5EF4-FFF2-40B4-BE49-F238E27FC236}">
                <a16:creationId xmlns:a16="http://schemas.microsoft.com/office/drawing/2014/main" id="{8509417C-F5D8-305B-149C-3865C07BAF06}"/>
              </a:ext>
            </a:extLst>
          </p:cNvPr>
          <p:cNvSpPr>
            <a:spLocks noChangeShapeType="1"/>
          </p:cNvSpPr>
          <p:nvPr/>
        </p:nvSpPr>
        <p:spPr bwMode="auto">
          <a:xfrm flipV="1">
            <a:off x="7516470" y="2259431"/>
            <a:ext cx="131811" cy="48958"/>
          </a:xfrm>
          <a:prstGeom prst="line">
            <a:avLst/>
          </a:prstGeom>
          <a:noFill/>
          <a:ln w="571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000">
              <a:solidFill>
                <a:schemeClr val="tx1"/>
              </a:solidFill>
              <a:latin typeface="Roboto" panose="02000000000000000000" pitchFamily="2" charset="0"/>
              <a:ea typeface="Roboto" panose="02000000000000000000" pitchFamily="2" charset="0"/>
            </a:endParaRPr>
          </a:p>
        </p:txBody>
      </p:sp>
      <p:sp>
        <p:nvSpPr>
          <p:cNvPr id="13" name="Rectangle 119">
            <a:extLst>
              <a:ext uri="{FF2B5EF4-FFF2-40B4-BE49-F238E27FC236}">
                <a16:creationId xmlns:a16="http://schemas.microsoft.com/office/drawing/2014/main" id="{957EC00A-E98E-6042-0B25-B2B1B1E0772B}"/>
              </a:ext>
            </a:extLst>
          </p:cNvPr>
          <p:cNvSpPr>
            <a:spLocks noChangeArrowheads="1"/>
          </p:cNvSpPr>
          <p:nvPr/>
        </p:nvSpPr>
        <p:spPr bwMode="auto">
          <a:xfrm>
            <a:off x="7750551" y="2111708"/>
            <a:ext cx="1058687" cy="323377"/>
          </a:xfrm>
          <a:prstGeom prst="rect">
            <a:avLst/>
          </a:prstGeom>
          <a:solidFill>
            <a:schemeClr val="bg1"/>
          </a:solidFill>
          <a:ln w="9525" cap="sq">
            <a:solidFill>
              <a:schemeClr val="tx1"/>
            </a:solidFill>
            <a:miter lim="800000"/>
            <a:headEnd type="none" w="sm" len="sm"/>
            <a:tailEnd type="none" w="sm" len="sm"/>
          </a:ln>
        </p:spPr>
        <p:txBody>
          <a:bodyPr wrap="none" anchor="ctr">
            <a:no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30/60/90 day</a:t>
            </a:r>
          </a:p>
          <a:p>
            <a:pPr>
              <a:lnSpc>
                <a:spcPct val="90000"/>
              </a:lnSpc>
              <a:spcBef>
                <a:spcPct val="0"/>
              </a:spcBef>
            </a:pPr>
            <a:r>
              <a:rPr lang="en-US" altLang="en-US" sz="1000" b="0" dirty="0">
                <a:solidFill>
                  <a:schemeClr val="tx1"/>
                </a:solidFill>
                <a:latin typeface="Roboto" panose="02000000000000000000" pitchFamily="2" charset="0"/>
                <a:ea typeface="Roboto" panose="02000000000000000000" pitchFamily="2" charset="0"/>
              </a:rPr>
              <a:t>Forecast (email)</a:t>
            </a:r>
          </a:p>
        </p:txBody>
      </p:sp>
      <p:grpSp>
        <p:nvGrpSpPr>
          <p:cNvPr id="67" name="Group 66">
            <a:extLst>
              <a:ext uri="{FF2B5EF4-FFF2-40B4-BE49-F238E27FC236}">
                <a16:creationId xmlns:a16="http://schemas.microsoft.com/office/drawing/2014/main" id="{B48E0987-B9A8-C3A8-6398-8F7661F01FE9}"/>
              </a:ext>
            </a:extLst>
          </p:cNvPr>
          <p:cNvGrpSpPr/>
          <p:nvPr/>
        </p:nvGrpSpPr>
        <p:grpSpPr>
          <a:xfrm>
            <a:off x="1163251" y="5631918"/>
            <a:ext cx="7945896" cy="746357"/>
            <a:chOff x="2231195" y="9998713"/>
            <a:chExt cx="14714059" cy="1493102"/>
          </a:xfrm>
        </p:grpSpPr>
        <p:grpSp>
          <p:nvGrpSpPr>
            <p:cNvPr id="68" name="Group 87">
              <a:extLst>
                <a:ext uri="{FF2B5EF4-FFF2-40B4-BE49-F238E27FC236}">
                  <a16:creationId xmlns:a16="http://schemas.microsoft.com/office/drawing/2014/main" id="{A30F663C-5ED5-219E-6D76-168E827F3A20}"/>
                </a:ext>
              </a:extLst>
            </p:cNvPr>
            <p:cNvGrpSpPr>
              <a:grpSpLocks/>
            </p:cNvGrpSpPr>
            <p:nvPr/>
          </p:nvGrpSpPr>
          <p:grpSpPr bwMode="auto">
            <a:xfrm>
              <a:off x="2231195" y="10447968"/>
              <a:ext cx="14714059" cy="639894"/>
              <a:chOff x="577" y="3222"/>
              <a:chExt cx="3590" cy="145"/>
            </a:xfrm>
          </p:grpSpPr>
          <p:sp>
            <p:nvSpPr>
              <p:cNvPr id="108" name="Line 88">
                <a:extLst>
                  <a:ext uri="{FF2B5EF4-FFF2-40B4-BE49-F238E27FC236}">
                    <a16:creationId xmlns:a16="http://schemas.microsoft.com/office/drawing/2014/main" id="{3D43DD8C-E9B9-E01C-9E21-A3465D29F30D}"/>
                  </a:ext>
                </a:extLst>
              </p:cNvPr>
              <p:cNvSpPr>
                <a:spLocks noChangeShapeType="1"/>
              </p:cNvSpPr>
              <p:nvPr/>
            </p:nvSpPr>
            <p:spPr bwMode="auto">
              <a:xfrm flipV="1">
                <a:off x="577" y="3226"/>
                <a:ext cx="43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09" name="Line 89">
                <a:extLst>
                  <a:ext uri="{FF2B5EF4-FFF2-40B4-BE49-F238E27FC236}">
                    <a16:creationId xmlns:a16="http://schemas.microsoft.com/office/drawing/2014/main" id="{A8EC0B9D-6648-2F30-ABA0-72209EA4412E}"/>
                  </a:ext>
                </a:extLst>
              </p:cNvPr>
              <p:cNvSpPr>
                <a:spLocks noChangeShapeType="1"/>
              </p:cNvSpPr>
              <p:nvPr/>
            </p:nvSpPr>
            <p:spPr bwMode="auto">
              <a:xfrm>
                <a:off x="1014"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0" name="Line 90">
                <a:extLst>
                  <a:ext uri="{FF2B5EF4-FFF2-40B4-BE49-F238E27FC236}">
                    <a16:creationId xmlns:a16="http://schemas.microsoft.com/office/drawing/2014/main" id="{6011E64E-EA9F-3D5E-4FBA-4BDE5BC7ADD6}"/>
                  </a:ext>
                </a:extLst>
              </p:cNvPr>
              <p:cNvSpPr>
                <a:spLocks noChangeShapeType="1"/>
              </p:cNvSpPr>
              <p:nvPr/>
            </p:nvSpPr>
            <p:spPr bwMode="auto">
              <a:xfrm flipV="1">
                <a:off x="1009" y="3362"/>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1" name="Line 91">
                <a:extLst>
                  <a:ext uri="{FF2B5EF4-FFF2-40B4-BE49-F238E27FC236}">
                    <a16:creationId xmlns:a16="http://schemas.microsoft.com/office/drawing/2014/main" id="{3441EA6E-2A9A-E2D1-F876-C9A8D820EF6C}"/>
                  </a:ext>
                </a:extLst>
              </p:cNvPr>
              <p:cNvSpPr>
                <a:spLocks noChangeShapeType="1"/>
              </p:cNvSpPr>
              <p:nvPr/>
            </p:nvSpPr>
            <p:spPr bwMode="auto">
              <a:xfrm>
                <a:off x="1536" y="3222"/>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2" name="Line 92">
                <a:extLst>
                  <a:ext uri="{FF2B5EF4-FFF2-40B4-BE49-F238E27FC236}">
                    <a16:creationId xmlns:a16="http://schemas.microsoft.com/office/drawing/2014/main" id="{1C291DFE-20EA-9668-C149-F15B5CE1C8A2}"/>
                  </a:ext>
                </a:extLst>
              </p:cNvPr>
              <p:cNvSpPr>
                <a:spLocks noChangeShapeType="1"/>
              </p:cNvSpPr>
              <p:nvPr/>
            </p:nvSpPr>
            <p:spPr bwMode="auto">
              <a:xfrm>
                <a:off x="2377"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3" name="Line 93">
                <a:extLst>
                  <a:ext uri="{FF2B5EF4-FFF2-40B4-BE49-F238E27FC236}">
                    <a16:creationId xmlns:a16="http://schemas.microsoft.com/office/drawing/2014/main" id="{B63EC977-0BC9-65E9-885D-B2DE6B2AFDE5}"/>
                  </a:ext>
                </a:extLst>
              </p:cNvPr>
              <p:cNvSpPr>
                <a:spLocks noChangeShapeType="1"/>
              </p:cNvSpPr>
              <p:nvPr/>
            </p:nvSpPr>
            <p:spPr bwMode="auto">
              <a:xfrm>
                <a:off x="1538" y="3226"/>
                <a:ext cx="840"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4" name="Line 94">
                <a:extLst>
                  <a:ext uri="{FF2B5EF4-FFF2-40B4-BE49-F238E27FC236}">
                    <a16:creationId xmlns:a16="http://schemas.microsoft.com/office/drawing/2014/main" id="{02FB3D17-A50C-2776-975E-357DFCEA403B}"/>
                  </a:ext>
                </a:extLst>
              </p:cNvPr>
              <p:cNvSpPr>
                <a:spLocks noChangeShapeType="1"/>
              </p:cNvSpPr>
              <p:nvPr/>
            </p:nvSpPr>
            <p:spPr bwMode="auto">
              <a:xfrm>
                <a:off x="2902" y="3226"/>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7" name="Line 97">
                <a:extLst>
                  <a:ext uri="{FF2B5EF4-FFF2-40B4-BE49-F238E27FC236}">
                    <a16:creationId xmlns:a16="http://schemas.microsoft.com/office/drawing/2014/main" id="{5404F6F0-9CBE-639A-DD7C-CBBCAA76DF73}"/>
                  </a:ext>
                </a:extLst>
              </p:cNvPr>
              <p:cNvSpPr>
                <a:spLocks noChangeShapeType="1"/>
              </p:cNvSpPr>
              <p:nvPr/>
            </p:nvSpPr>
            <p:spPr bwMode="auto">
              <a:xfrm flipV="1">
                <a:off x="2375" y="3366"/>
                <a:ext cx="52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sp>
            <p:nvSpPr>
              <p:cNvPr id="119" name="Line 99">
                <a:extLst>
                  <a:ext uri="{FF2B5EF4-FFF2-40B4-BE49-F238E27FC236}">
                    <a16:creationId xmlns:a16="http://schemas.microsoft.com/office/drawing/2014/main" id="{8D9D6097-1606-0120-712C-C96C946F2DE1}"/>
                  </a:ext>
                </a:extLst>
              </p:cNvPr>
              <p:cNvSpPr>
                <a:spLocks noChangeShapeType="1"/>
              </p:cNvSpPr>
              <p:nvPr/>
            </p:nvSpPr>
            <p:spPr bwMode="auto">
              <a:xfrm>
                <a:off x="2900" y="3230"/>
                <a:ext cx="126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399">
                  <a:solidFill>
                    <a:schemeClr val="tx1"/>
                  </a:solidFill>
                  <a:latin typeface="Roboto" panose="02000000000000000000" pitchFamily="2" charset="0"/>
                  <a:ea typeface="Roboto" panose="02000000000000000000" pitchFamily="2" charset="0"/>
                </a:endParaRPr>
              </a:p>
            </p:txBody>
          </p:sp>
        </p:grpSp>
        <p:sp>
          <p:nvSpPr>
            <p:cNvPr id="79" name="Rectangle 106">
              <a:extLst>
                <a:ext uri="{FF2B5EF4-FFF2-40B4-BE49-F238E27FC236}">
                  <a16:creationId xmlns:a16="http://schemas.microsoft.com/office/drawing/2014/main" id="{C4434D4A-4498-B3B2-4F07-02900406F07E}"/>
                </a:ext>
              </a:extLst>
            </p:cNvPr>
            <p:cNvSpPr>
              <a:spLocks noChangeArrowheads="1"/>
            </p:cNvSpPr>
            <p:nvPr/>
          </p:nvSpPr>
          <p:spPr bwMode="auto">
            <a:xfrm>
              <a:off x="10103025" y="10568245"/>
              <a:ext cx="1158669" cy="923570"/>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30 sec</a:t>
              </a:r>
            </a:p>
          </p:txBody>
        </p:sp>
        <p:sp>
          <p:nvSpPr>
            <p:cNvPr id="81" name="Rectangle 106">
              <a:extLst>
                <a:ext uri="{FF2B5EF4-FFF2-40B4-BE49-F238E27FC236}">
                  <a16:creationId xmlns:a16="http://schemas.microsoft.com/office/drawing/2014/main" id="{80F6566A-3F45-FFBC-21A8-A09E034F490E}"/>
                </a:ext>
              </a:extLst>
            </p:cNvPr>
            <p:cNvSpPr>
              <a:spLocks noChangeArrowheads="1"/>
            </p:cNvSpPr>
            <p:nvPr/>
          </p:nvSpPr>
          <p:spPr bwMode="auto">
            <a:xfrm>
              <a:off x="4505801" y="10553609"/>
              <a:ext cx="1428029"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240 sec</a:t>
              </a:r>
            </a:p>
          </p:txBody>
        </p:sp>
        <p:sp>
          <p:nvSpPr>
            <p:cNvPr id="104" name="Rectangle 106">
              <a:extLst>
                <a:ext uri="{FF2B5EF4-FFF2-40B4-BE49-F238E27FC236}">
                  <a16:creationId xmlns:a16="http://schemas.microsoft.com/office/drawing/2014/main" id="{164B8036-0B74-E85C-37AA-BE0A85A7C15A}"/>
                </a:ext>
              </a:extLst>
            </p:cNvPr>
            <p:cNvSpPr>
              <a:spLocks noChangeArrowheads="1"/>
            </p:cNvSpPr>
            <p:nvPr/>
          </p:nvSpPr>
          <p:spPr bwMode="auto">
            <a:xfrm>
              <a:off x="2347441" y="10003960"/>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6 days</a:t>
              </a:r>
            </a:p>
          </p:txBody>
        </p:sp>
        <p:sp>
          <p:nvSpPr>
            <p:cNvPr id="105" name="Rectangle 106">
              <a:extLst>
                <a:ext uri="{FF2B5EF4-FFF2-40B4-BE49-F238E27FC236}">
                  <a16:creationId xmlns:a16="http://schemas.microsoft.com/office/drawing/2014/main" id="{619520B8-33CC-573F-AA89-02BE2412E9E5}"/>
                </a:ext>
              </a:extLst>
            </p:cNvPr>
            <p:cNvSpPr>
              <a:spLocks noChangeArrowheads="1"/>
            </p:cNvSpPr>
            <p:nvPr/>
          </p:nvSpPr>
          <p:spPr bwMode="auto">
            <a:xfrm>
              <a:off x="7122736" y="10017194"/>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sp>
          <p:nvSpPr>
            <p:cNvPr id="106" name="Rectangle 106">
              <a:extLst>
                <a:ext uri="{FF2B5EF4-FFF2-40B4-BE49-F238E27FC236}">
                  <a16:creationId xmlns:a16="http://schemas.microsoft.com/office/drawing/2014/main" id="{F7788305-4DAB-FC83-4AC0-154293799B08}"/>
                </a:ext>
              </a:extLst>
            </p:cNvPr>
            <p:cNvSpPr>
              <a:spLocks noChangeArrowheads="1"/>
            </p:cNvSpPr>
            <p:nvPr/>
          </p:nvSpPr>
          <p:spPr bwMode="auto">
            <a:xfrm>
              <a:off x="13807881" y="9998713"/>
              <a:ext cx="1410216" cy="554142"/>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dirty="0">
                  <a:solidFill>
                    <a:schemeClr val="tx1"/>
                  </a:solidFill>
                  <a:latin typeface="Roboto" panose="02000000000000000000" pitchFamily="2" charset="0"/>
                  <a:ea typeface="Roboto" panose="02000000000000000000" pitchFamily="2" charset="0"/>
                </a:rPr>
                <a:t>2 days</a:t>
              </a:r>
            </a:p>
          </p:txBody>
        </p:sp>
      </p:grpSp>
      <p:grpSp>
        <p:nvGrpSpPr>
          <p:cNvPr id="202" name="Group 132">
            <a:extLst>
              <a:ext uri="{FF2B5EF4-FFF2-40B4-BE49-F238E27FC236}">
                <a16:creationId xmlns:a16="http://schemas.microsoft.com/office/drawing/2014/main" id="{1C019BE2-A40A-9FE4-FF96-C51267175298}"/>
              </a:ext>
            </a:extLst>
          </p:cNvPr>
          <p:cNvGrpSpPr>
            <a:grpSpLocks/>
          </p:cNvGrpSpPr>
          <p:nvPr/>
        </p:nvGrpSpPr>
        <p:grpSpPr bwMode="auto">
          <a:xfrm>
            <a:off x="9021872" y="5291385"/>
            <a:ext cx="2141489" cy="880002"/>
            <a:chOff x="3783" y="3408"/>
            <a:chExt cx="1689" cy="281"/>
          </a:xfrm>
        </p:grpSpPr>
        <p:sp>
          <p:nvSpPr>
            <p:cNvPr id="203" name="Text Box 133">
              <a:extLst>
                <a:ext uri="{FF2B5EF4-FFF2-40B4-BE49-F238E27FC236}">
                  <a16:creationId xmlns:a16="http://schemas.microsoft.com/office/drawing/2014/main" id="{5034081D-9E4D-D954-A7C2-10378C77617C}"/>
                </a:ext>
              </a:extLst>
            </p:cNvPr>
            <p:cNvSpPr txBox="1">
              <a:spLocks noChangeArrowheads="1"/>
            </p:cNvSpPr>
            <p:nvPr/>
          </p:nvSpPr>
          <p:spPr bwMode="auto">
            <a:xfrm>
              <a:off x="3783" y="3476"/>
              <a:ext cx="1603" cy="143"/>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Production L.T. =  10 days    </a:t>
              </a:r>
            </a:p>
            <a:p>
              <a:pPr algn="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Processing Time = 270 seconds</a:t>
              </a:r>
            </a:p>
          </p:txBody>
        </p:sp>
        <p:sp>
          <p:nvSpPr>
            <p:cNvPr id="204" name="Line 134">
              <a:extLst>
                <a:ext uri="{FF2B5EF4-FFF2-40B4-BE49-F238E27FC236}">
                  <a16:creationId xmlns:a16="http://schemas.microsoft.com/office/drawing/2014/main" id="{F8F77BA8-4E14-1255-3EB4-B9558BAF8AE2}"/>
                </a:ext>
              </a:extLst>
            </p:cNvPr>
            <p:cNvSpPr>
              <a:spLocks noChangeShapeType="1"/>
            </p:cNvSpPr>
            <p:nvPr/>
          </p:nvSpPr>
          <p:spPr bwMode="auto">
            <a:xfrm flipV="1">
              <a:off x="3938" y="3541"/>
              <a:ext cx="144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latin typeface="Roboto" panose="02000000000000000000" pitchFamily="2" charset="0"/>
                <a:ea typeface="Roboto" panose="02000000000000000000" pitchFamily="2" charset="0"/>
              </a:endParaRPr>
            </a:p>
          </p:txBody>
        </p:sp>
        <p:sp>
          <p:nvSpPr>
            <p:cNvPr id="205" name="Rectangle 135">
              <a:extLst>
                <a:ext uri="{FF2B5EF4-FFF2-40B4-BE49-F238E27FC236}">
                  <a16:creationId xmlns:a16="http://schemas.microsoft.com/office/drawing/2014/main" id="{32E890D4-4914-FF17-F869-D64F2A855F19}"/>
                </a:ext>
              </a:extLst>
            </p:cNvPr>
            <p:cNvSpPr>
              <a:spLocks noChangeArrowheads="1"/>
            </p:cNvSpPr>
            <p:nvPr/>
          </p:nvSpPr>
          <p:spPr bwMode="auto">
            <a:xfrm>
              <a:off x="3875" y="3408"/>
              <a:ext cx="1597" cy="281"/>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pitchFamily="2" charset="0"/>
                <a:ea typeface="Roboto" panose="02000000000000000000" pitchFamily="2" charset="0"/>
              </a:endParaRPr>
            </a:p>
          </p:txBody>
        </p:sp>
      </p:grpSp>
      <p:sp>
        <p:nvSpPr>
          <p:cNvPr id="14" name="Freeform: Shape 13">
            <a:extLst>
              <a:ext uri="{FF2B5EF4-FFF2-40B4-BE49-F238E27FC236}">
                <a16:creationId xmlns:a16="http://schemas.microsoft.com/office/drawing/2014/main" id="{415FCB6A-4505-201F-6965-CA49C121BD2B}"/>
              </a:ext>
            </a:extLst>
          </p:cNvPr>
          <p:cNvSpPr/>
          <p:nvPr/>
        </p:nvSpPr>
        <p:spPr>
          <a:xfrm>
            <a:off x="938665" y="2119363"/>
            <a:ext cx="4032406" cy="2464148"/>
          </a:xfrm>
          <a:custGeom>
            <a:avLst/>
            <a:gdLst>
              <a:gd name="connsiteX0" fmla="*/ 93784 w 8066912"/>
              <a:gd name="connsiteY0" fmla="*/ 146564 h 4929580"/>
              <a:gd name="connsiteX1" fmla="*/ 515815 w 8066912"/>
              <a:gd name="connsiteY1" fmla="*/ 76226 h 4929580"/>
              <a:gd name="connsiteX2" fmla="*/ 773723 w 8066912"/>
              <a:gd name="connsiteY2" fmla="*/ 52780 h 4929580"/>
              <a:gd name="connsiteX3" fmla="*/ 1805354 w 8066912"/>
              <a:gd name="connsiteY3" fmla="*/ 52780 h 4929580"/>
              <a:gd name="connsiteX4" fmla="*/ 2063261 w 8066912"/>
              <a:gd name="connsiteY4" fmla="*/ 76226 h 4929580"/>
              <a:gd name="connsiteX5" fmla="*/ 3446584 w 8066912"/>
              <a:gd name="connsiteY5" fmla="*/ 146564 h 4929580"/>
              <a:gd name="connsiteX6" fmla="*/ 3868615 w 8066912"/>
              <a:gd name="connsiteY6" fmla="*/ 193457 h 4929580"/>
              <a:gd name="connsiteX7" fmla="*/ 4314092 w 8066912"/>
              <a:gd name="connsiteY7" fmla="*/ 240349 h 4929580"/>
              <a:gd name="connsiteX8" fmla="*/ 4501661 w 8066912"/>
              <a:gd name="connsiteY8" fmla="*/ 263795 h 4929580"/>
              <a:gd name="connsiteX9" fmla="*/ 5158154 w 8066912"/>
              <a:gd name="connsiteY9" fmla="*/ 287241 h 4929580"/>
              <a:gd name="connsiteX10" fmla="*/ 5627077 w 8066912"/>
              <a:gd name="connsiteY10" fmla="*/ 334134 h 4929580"/>
              <a:gd name="connsiteX11" fmla="*/ 5767754 w 8066912"/>
              <a:gd name="connsiteY11" fmla="*/ 357580 h 4929580"/>
              <a:gd name="connsiteX12" fmla="*/ 6377354 w 8066912"/>
              <a:gd name="connsiteY12" fmla="*/ 381026 h 4929580"/>
              <a:gd name="connsiteX13" fmla="*/ 6799384 w 8066912"/>
              <a:gd name="connsiteY13" fmla="*/ 404472 h 4929580"/>
              <a:gd name="connsiteX14" fmla="*/ 7080738 w 8066912"/>
              <a:gd name="connsiteY14" fmla="*/ 451364 h 4929580"/>
              <a:gd name="connsiteX15" fmla="*/ 7315200 w 8066912"/>
              <a:gd name="connsiteY15" fmla="*/ 521703 h 4929580"/>
              <a:gd name="connsiteX16" fmla="*/ 7596554 w 8066912"/>
              <a:gd name="connsiteY16" fmla="*/ 545149 h 4929580"/>
              <a:gd name="connsiteX17" fmla="*/ 7690338 w 8066912"/>
              <a:gd name="connsiteY17" fmla="*/ 568595 h 4929580"/>
              <a:gd name="connsiteX18" fmla="*/ 7948246 w 8066912"/>
              <a:gd name="connsiteY18" fmla="*/ 779611 h 4929580"/>
              <a:gd name="connsiteX19" fmla="*/ 7995138 w 8066912"/>
              <a:gd name="connsiteY19" fmla="*/ 849949 h 4929580"/>
              <a:gd name="connsiteX20" fmla="*/ 8018584 w 8066912"/>
              <a:gd name="connsiteY20" fmla="*/ 920288 h 4929580"/>
              <a:gd name="connsiteX21" fmla="*/ 8065477 w 8066912"/>
              <a:gd name="connsiteY21" fmla="*/ 1037518 h 4929580"/>
              <a:gd name="connsiteX22" fmla="*/ 8042030 w 8066912"/>
              <a:gd name="connsiteY22" fmla="*/ 1553334 h 4929580"/>
              <a:gd name="connsiteX23" fmla="*/ 8018584 w 8066912"/>
              <a:gd name="connsiteY23" fmla="*/ 1623672 h 4929580"/>
              <a:gd name="connsiteX24" fmla="*/ 7971692 w 8066912"/>
              <a:gd name="connsiteY24" fmla="*/ 1694011 h 4929580"/>
              <a:gd name="connsiteX25" fmla="*/ 7713784 w 8066912"/>
              <a:gd name="connsiteY25" fmla="*/ 1928472 h 4929580"/>
              <a:gd name="connsiteX26" fmla="*/ 7596554 w 8066912"/>
              <a:gd name="connsiteY26" fmla="*/ 1998811 h 4929580"/>
              <a:gd name="connsiteX27" fmla="*/ 7502769 w 8066912"/>
              <a:gd name="connsiteY27" fmla="*/ 2022257 h 4929580"/>
              <a:gd name="connsiteX28" fmla="*/ 7291754 w 8066912"/>
              <a:gd name="connsiteY28" fmla="*/ 2092595 h 4929580"/>
              <a:gd name="connsiteX29" fmla="*/ 7151077 w 8066912"/>
              <a:gd name="connsiteY29" fmla="*/ 2162934 h 4929580"/>
              <a:gd name="connsiteX30" fmla="*/ 6986954 w 8066912"/>
              <a:gd name="connsiteY30" fmla="*/ 2209826 h 4929580"/>
              <a:gd name="connsiteX31" fmla="*/ 6799384 w 8066912"/>
              <a:gd name="connsiteY31" fmla="*/ 2256718 h 4929580"/>
              <a:gd name="connsiteX32" fmla="*/ 6588369 w 8066912"/>
              <a:gd name="connsiteY32" fmla="*/ 2327057 h 4929580"/>
              <a:gd name="connsiteX33" fmla="*/ 6471138 w 8066912"/>
              <a:gd name="connsiteY33" fmla="*/ 2373949 h 4929580"/>
              <a:gd name="connsiteX34" fmla="*/ 6353907 w 8066912"/>
              <a:gd name="connsiteY34" fmla="*/ 2397395 h 4929580"/>
              <a:gd name="connsiteX35" fmla="*/ 6213230 w 8066912"/>
              <a:gd name="connsiteY35" fmla="*/ 2444288 h 4929580"/>
              <a:gd name="connsiteX36" fmla="*/ 6025661 w 8066912"/>
              <a:gd name="connsiteY36" fmla="*/ 2514626 h 4929580"/>
              <a:gd name="connsiteX37" fmla="*/ 5462954 w 8066912"/>
              <a:gd name="connsiteY37" fmla="*/ 2608411 h 4929580"/>
              <a:gd name="connsiteX38" fmla="*/ 5181600 w 8066912"/>
              <a:gd name="connsiteY38" fmla="*/ 2678749 h 4929580"/>
              <a:gd name="connsiteX39" fmla="*/ 5017477 w 8066912"/>
              <a:gd name="connsiteY39" fmla="*/ 2749088 h 4929580"/>
              <a:gd name="connsiteX40" fmla="*/ 4759569 w 8066912"/>
              <a:gd name="connsiteY40" fmla="*/ 2795980 h 4929580"/>
              <a:gd name="connsiteX41" fmla="*/ 4454769 w 8066912"/>
              <a:gd name="connsiteY41" fmla="*/ 2842872 h 4929580"/>
              <a:gd name="connsiteX42" fmla="*/ 4384430 w 8066912"/>
              <a:gd name="connsiteY42" fmla="*/ 2866318 h 4929580"/>
              <a:gd name="connsiteX43" fmla="*/ 4267200 w 8066912"/>
              <a:gd name="connsiteY43" fmla="*/ 2889764 h 4929580"/>
              <a:gd name="connsiteX44" fmla="*/ 4149969 w 8066912"/>
              <a:gd name="connsiteY44" fmla="*/ 2936657 h 4929580"/>
              <a:gd name="connsiteX45" fmla="*/ 3962400 w 8066912"/>
              <a:gd name="connsiteY45" fmla="*/ 2983549 h 4929580"/>
              <a:gd name="connsiteX46" fmla="*/ 3727938 w 8066912"/>
              <a:gd name="connsiteY46" fmla="*/ 3053888 h 4929580"/>
              <a:gd name="connsiteX47" fmla="*/ 3657600 w 8066912"/>
              <a:gd name="connsiteY47" fmla="*/ 3077334 h 4929580"/>
              <a:gd name="connsiteX48" fmla="*/ 3493477 w 8066912"/>
              <a:gd name="connsiteY48" fmla="*/ 3171118 h 4929580"/>
              <a:gd name="connsiteX49" fmla="*/ 3446584 w 8066912"/>
              <a:gd name="connsiteY49" fmla="*/ 3218011 h 4929580"/>
              <a:gd name="connsiteX50" fmla="*/ 3376246 w 8066912"/>
              <a:gd name="connsiteY50" fmla="*/ 3241457 h 4929580"/>
              <a:gd name="connsiteX51" fmla="*/ 3305907 w 8066912"/>
              <a:gd name="connsiteY51" fmla="*/ 3288349 h 4929580"/>
              <a:gd name="connsiteX52" fmla="*/ 3282461 w 8066912"/>
              <a:gd name="connsiteY52" fmla="*/ 3358688 h 4929580"/>
              <a:gd name="connsiteX53" fmla="*/ 3188677 w 8066912"/>
              <a:gd name="connsiteY53" fmla="*/ 3405580 h 4929580"/>
              <a:gd name="connsiteX54" fmla="*/ 3048000 w 8066912"/>
              <a:gd name="connsiteY54" fmla="*/ 3475918 h 4929580"/>
              <a:gd name="connsiteX55" fmla="*/ 2836984 w 8066912"/>
              <a:gd name="connsiteY55" fmla="*/ 3640041 h 4929580"/>
              <a:gd name="connsiteX56" fmla="*/ 2743200 w 8066912"/>
              <a:gd name="connsiteY56" fmla="*/ 3710380 h 4929580"/>
              <a:gd name="connsiteX57" fmla="*/ 2696307 w 8066912"/>
              <a:gd name="connsiteY57" fmla="*/ 3780718 h 4929580"/>
              <a:gd name="connsiteX58" fmla="*/ 2602523 w 8066912"/>
              <a:gd name="connsiteY58" fmla="*/ 3921395 h 4929580"/>
              <a:gd name="connsiteX59" fmla="*/ 2508738 w 8066912"/>
              <a:gd name="connsiteY59" fmla="*/ 4108964 h 4929580"/>
              <a:gd name="connsiteX60" fmla="*/ 2414954 w 8066912"/>
              <a:gd name="connsiteY60" fmla="*/ 4249641 h 4929580"/>
              <a:gd name="connsiteX61" fmla="*/ 2368061 w 8066912"/>
              <a:gd name="connsiteY61" fmla="*/ 4437211 h 4929580"/>
              <a:gd name="connsiteX62" fmla="*/ 2321169 w 8066912"/>
              <a:gd name="connsiteY62" fmla="*/ 4530995 h 4929580"/>
              <a:gd name="connsiteX63" fmla="*/ 2297723 w 8066912"/>
              <a:gd name="connsiteY63" fmla="*/ 4601334 h 4929580"/>
              <a:gd name="connsiteX64" fmla="*/ 2250830 w 8066912"/>
              <a:gd name="connsiteY64" fmla="*/ 4648226 h 4929580"/>
              <a:gd name="connsiteX65" fmla="*/ 2180492 w 8066912"/>
              <a:gd name="connsiteY65" fmla="*/ 4742011 h 4929580"/>
              <a:gd name="connsiteX66" fmla="*/ 2039815 w 8066912"/>
              <a:gd name="connsiteY66" fmla="*/ 4788903 h 4929580"/>
              <a:gd name="connsiteX67" fmla="*/ 1969477 w 8066912"/>
              <a:gd name="connsiteY67" fmla="*/ 4835795 h 4929580"/>
              <a:gd name="connsiteX68" fmla="*/ 1688123 w 8066912"/>
              <a:gd name="connsiteY68" fmla="*/ 4906134 h 4929580"/>
              <a:gd name="connsiteX69" fmla="*/ 1500554 w 8066912"/>
              <a:gd name="connsiteY69" fmla="*/ 4929580 h 4929580"/>
              <a:gd name="connsiteX70" fmla="*/ 961292 w 8066912"/>
              <a:gd name="connsiteY70" fmla="*/ 4882688 h 4929580"/>
              <a:gd name="connsiteX71" fmla="*/ 890954 w 8066912"/>
              <a:gd name="connsiteY71" fmla="*/ 4835795 h 4929580"/>
              <a:gd name="connsiteX72" fmla="*/ 773723 w 8066912"/>
              <a:gd name="connsiteY72" fmla="*/ 4742011 h 4929580"/>
              <a:gd name="connsiteX73" fmla="*/ 422030 w 8066912"/>
              <a:gd name="connsiteY73" fmla="*/ 4366872 h 4929580"/>
              <a:gd name="connsiteX74" fmla="*/ 351692 w 8066912"/>
              <a:gd name="connsiteY74" fmla="*/ 4296534 h 4929580"/>
              <a:gd name="connsiteX75" fmla="*/ 304800 w 8066912"/>
              <a:gd name="connsiteY75" fmla="*/ 4179303 h 4929580"/>
              <a:gd name="connsiteX76" fmla="*/ 257907 w 8066912"/>
              <a:gd name="connsiteY76" fmla="*/ 4108964 h 4929580"/>
              <a:gd name="connsiteX77" fmla="*/ 211015 w 8066912"/>
              <a:gd name="connsiteY77" fmla="*/ 3874503 h 4929580"/>
              <a:gd name="connsiteX78" fmla="*/ 187569 w 8066912"/>
              <a:gd name="connsiteY78" fmla="*/ 3733826 h 4929580"/>
              <a:gd name="connsiteX79" fmla="*/ 140677 w 8066912"/>
              <a:gd name="connsiteY79" fmla="*/ 3640041 h 4929580"/>
              <a:gd name="connsiteX80" fmla="*/ 117230 w 8066912"/>
              <a:gd name="connsiteY80" fmla="*/ 3429026 h 4929580"/>
              <a:gd name="connsiteX81" fmla="*/ 70338 w 8066912"/>
              <a:gd name="connsiteY81" fmla="*/ 3264903 h 4929580"/>
              <a:gd name="connsiteX82" fmla="*/ 0 w 8066912"/>
              <a:gd name="connsiteY82" fmla="*/ 2866318 h 4929580"/>
              <a:gd name="connsiteX83" fmla="*/ 23446 w 8066912"/>
              <a:gd name="connsiteY83" fmla="*/ 1834688 h 4929580"/>
              <a:gd name="connsiteX84" fmla="*/ 46892 w 8066912"/>
              <a:gd name="connsiteY84" fmla="*/ 1764349 h 4929580"/>
              <a:gd name="connsiteX85" fmla="*/ 93784 w 8066912"/>
              <a:gd name="connsiteY85" fmla="*/ 263795 h 4929580"/>
              <a:gd name="connsiteX86" fmla="*/ 211015 w 8066912"/>
              <a:gd name="connsiteY86" fmla="*/ 146564 h 49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066912" h="4929580">
                <a:moveTo>
                  <a:pt x="93784" y="146564"/>
                </a:moveTo>
                <a:cubicBezTo>
                  <a:pt x="260494" y="113222"/>
                  <a:pt x="304008" y="102702"/>
                  <a:pt x="515815" y="76226"/>
                </a:cubicBezTo>
                <a:cubicBezTo>
                  <a:pt x="601472" y="65519"/>
                  <a:pt x="687754" y="60595"/>
                  <a:pt x="773723" y="52780"/>
                </a:cubicBezTo>
                <a:cubicBezTo>
                  <a:pt x="1165970" y="-45282"/>
                  <a:pt x="882974" y="16608"/>
                  <a:pt x="1805354" y="52780"/>
                </a:cubicBezTo>
                <a:cubicBezTo>
                  <a:pt x="1891611" y="56163"/>
                  <a:pt x="1977106" y="70841"/>
                  <a:pt x="2063261" y="76226"/>
                </a:cubicBezTo>
                <a:cubicBezTo>
                  <a:pt x="2587626" y="108999"/>
                  <a:pt x="2947566" y="123881"/>
                  <a:pt x="3446584" y="146564"/>
                </a:cubicBezTo>
                <a:cubicBezTo>
                  <a:pt x="4157602" y="217668"/>
                  <a:pt x="3271102" y="127067"/>
                  <a:pt x="3868615" y="193457"/>
                </a:cubicBezTo>
                <a:lnTo>
                  <a:pt x="4314092" y="240349"/>
                </a:lnTo>
                <a:cubicBezTo>
                  <a:pt x="4376716" y="247307"/>
                  <a:pt x="4438748" y="260300"/>
                  <a:pt x="4501661" y="263795"/>
                </a:cubicBezTo>
                <a:cubicBezTo>
                  <a:pt x="4720294" y="275941"/>
                  <a:pt x="4939323" y="279426"/>
                  <a:pt x="5158154" y="287241"/>
                </a:cubicBezTo>
                <a:cubicBezTo>
                  <a:pt x="5314462" y="302872"/>
                  <a:pt x="5472127" y="308309"/>
                  <a:pt x="5627077" y="334134"/>
                </a:cubicBezTo>
                <a:cubicBezTo>
                  <a:pt x="5673969" y="341949"/>
                  <a:pt x="5720307" y="354615"/>
                  <a:pt x="5767754" y="357580"/>
                </a:cubicBezTo>
                <a:cubicBezTo>
                  <a:pt x="5970708" y="370265"/>
                  <a:pt x="6174214" y="371792"/>
                  <a:pt x="6377354" y="381026"/>
                </a:cubicBezTo>
                <a:cubicBezTo>
                  <a:pt x="6518102" y="387424"/>
                  <a:pt x="6658707" y="396657"/>
                  <a:pt x="6799384" y="404472"/>
                </a:cubicBezTo>
                <a:cubicBezTo>
                  <a:pt x="6851680" y="411943"/>
                  <a:pt x="7018405" y="432664"/>
                  <a:pt x="7080738" y="451364"/>
                </a:cubicBezTo>
                <a:cubicBezTo>
                  <a:pt x="7243953" y="500329"/>
                  <a:pt x="7148193" y="502055"/>
                  <a:pt x="7315200" y="521703"/>
                </a:cubicBezTo>
                <a:cubicBezTo>
                  <a:pt x="7408665" y="532699"/>
                  <a:pt x="7502769" y="537334"/>
                  <a:pt x="7596554" y="545149"/>
                </a:cubicBezTo>
                <a:cubicBezTo>
                  <a:pt x="7627815" y="552964"/>
                  <a:pt x="7661516" y="554184"/>
                  <a:pt x="7690338" y="568595"/>
                </a:cubicBezTo>
                <a:cubicBezTo>
                  <a:pt x="7765790" y="606321"/>
                  <a:pt x="7900211" y="707559"/>
                  <a:pt x="7948246" y="779611"/>
                </a:cubicBezTo>
                <a:lnTo>
                  <a:pt x="7995138" y="849949"/>
                </a:lnTo>
                <a:cubicBezTo>
                  <a:pt x="8002953" y="873395"/>
                  <a:pt x="8009906" y="897147"/>
                  <a:pt x="8018584" y="920288"/>
                </a:cubicBezTo>
                <a:cubicBezTo>
                  <a:pt x="8033362" y="959695"/>
                  <a:pt x="8063919" y="995460"/>
                  <a:pt x="8065477" y="1037518"/>
                </a:cubicBezTo>
                <a:cubicBezTo>
                  <a:pt x="8071847" y="1209516"/>
                  <a:pt x="8055756" y="1381766"/>
                  <a:pt x="8042030" y="1553334"/>
                </a:cubicBezTo>
                <a:cubicBezTo>
                  <a:pt x="8040059" y="1577970"/>
                  <a:pt x="8029636" y="1601567"/>
                  <a:pt x="8018584" y="1623672"/>
                </a:cubicBezTo>
                <a:cubicBezTo>
                  <a:pt x="8005982" y="1648876"/>
                  <a:pt x="7990543" y="1673066"/>
                  <a:pt x="7971692" y="1694011"/>
                </a:cubicBezTo>
                <a:cubicBezTo>
                  <a:pt x="7885664" y="1789598"/>
                  <a:pt x="7816064" y="1860285"/>
                  <a:pt x="7713784" y="1928472"/>
                </a:cubicBezTo>
                <a:cubicBezTo>
                  <a:pt x="7675867" y="1953750"/>
                  <a:pt x="7638197" y="1980303"/>
                  <a:pt x="7596554" y="1998811"/>
                </a:cubicBezTo>
                <a:cubicBezTo>
                  <a:pt x="7567108" y="2011898"/>
                  <a:pt x="7532941" y="2010943"/>
                  <a:pt x="7502769" y="2022257"/>
                </a:cubicBezTo>
                <a:cubicBezTo>
                  <a:pt x="7280890" y="2105461"/>
                  <a:pt x="7548665" y="2041213"/>
                  <a:pt x="7291754" y="2092595"/>
                </a:cubicBezTo>
                <a:cubicBezTo>
                  <a:pt x="7244862" y="2116041"/>
                  <a:pt x="7200010" y="2144114"/>
                  <a:pt x="7151077" y="2162934"/>
                </a:cubicBezTo>
                <a:cubicBezTo>
                  <a:pt x="7097973" y="2183359"/>
                  <a:pt x="7041930" y="2195166"/>
                  <a:pt x="6986954" y="2209826"/>
                </a:cubicBezTo>
                <a:cubicBezTo>
                  <a:pt x="6924683" y="2226432"/>
                  <a:pt x="6859222" y="2232782"/>
                  <a:pt x="6799384" y="2256718"/>
                </a:cubicBezTo>
                <a:cubicBezTo>
                  <a:pt x="6432501" y="2403474"/>
                  <a:pt x="6891223" y="2226107"/>
                  <a:pt x="6588369" y="2327057"/>
                </a:cubicBezTo>
                <a:cubicBezTo>
                  <a:pt x="6548442" y="2340366"/>
                  <a:pt x="6511450" y="2361855"/>
                  <a:pt x="6471138" y="2373949"/>
                </a:cubicBezTo>
                <a:cubicBezTo>
                  <a:pt x="6432968" y="2385400"/>
                  <a:pt x="6392354" y="2386909"/>
                  <a:pt x="6353907" y="2397395"/>
                </a:cubicBezTo>
                <a:cubicBezTo>
                  <a:pt x="6306220" y="2410401"/>
                  <a:pt x="6259779" y="2427663"/>
                  <a:pt x="6213230" y="2444288"/>
                </a:cubicBezTo>
                <a:cubicBezTo>
                  <a:pt x="6150346" y="2466747"/>
                  <a:pt x="6090083" y="2497057"/>
                  <a:pt x="6025661" y="2514626"/>
                </a:cubicBezTo>
                <a:cubicBezTo>
                  <a:pt x="5757664" y="2587716"/>
                  <a:pt x="5712562" y="2583449"/>
                  <a:pt x="5462954" y="2608411"/>
                </a:cubicBezTo>
                <a:cubicBezTo>
                  <a:pt x="5178697" y="2703163"/>
                  <a:pt x="5465749" y="2615605"/>
                  <a:pt x="5181600" y="2678749"/>
                </a:cubicBezTo>
                <a:cubicBezTo>
                  <a:pt x="5058673" y="2706066"/>
                  <a:pt x="5160845" y="2701298"/>
                  <a:pt x="5017477" y="2749088"/>
                </a:cubicBezTo>
                <a:cubicBezTo>
                  <a:pt x="4982729" y="2760671"/>
                  <a:pt x="4785549" y="2791256"/>
                  <a:pt x="4759569" y="2795980"/>
                </a:cubicBezTo>
                <a:cubicBezTo>
                  <a:pt x="4523267" y="2838944"/>
                  <a:pt x="4772457" y="2803161"/>
                  <a:pt x="4454769" y="2842872"/>
                </a:cubicBezTo>
                <a:cubicBezTo>
                  <a:pt x="4431323" y="2850687"/>
                  <a:pt x="4408407" y="2860324"/>
                  <a:pt x="4384430" y="2866318"/>
                </a:cubicBezTo>
                <a:cubicBezTo>
                  <a:pt x="4345769" y="2875983"/>
                  <a:pt x="4305370" y="2878313"/>
                  <a:pt x="4267200" y="2889764"/>
                </a:cubicBezTo>
                <a:cubicBezTo>
                  <a:pt x="4226888" y="2901858"/>
                  <a:pt x="4190195" y="2924280"/>
                  <a:pt x="4149969" y="2936657"/>
                </a:cubicBezTo>
                <a:cubicBezTo>
                  <a:pt x="4088372" y="2955610"/>
                  <a:pt x="4024923" y="2967918"/>
                  <a:pt x="3962400" y="2983549"/>
                </a:cubicBezTo>
                <a:cubicBezTo>
                  <a:pt x="3820658" y="3018984"/>
                  <a:pt x="3899191" y="2996803"/>
                  <a:pt x="3727938" y="3053888"/>
                </a:cubicBezTo>
                <a:cubicBezTo>
                  <a:pt x="3704492" y="3061703"/>
                  <a:pt x="3679705" y="3066282"/>
                  <a:pt x="3657600" y="3077334"/>
                </a:cubicBezTo>
                <a:cubicBezTo>
                  <a:pt x="3593418" y="3109425"/>
                  <a:pt x="3548710" y="3126931"/>
                  <a:pt x="3493477" y="3171118"/>
                </a:cubicBezTo>
                <a:cubicBezTo>
                  <a:pt x="3476215" y="3184927"/>
                  <a:pt x="3465539" y="3206638"/>
                  <a:pt x="3446584" y="3218011"/>
                </a:cubicBezTo>
                <a:cubicBezTo>
                  <a:pt x="3425392" y="3230726"/>
                  <a:pt x="3398351" y="3230405"/>
                  <a:pt x="3376246" y="3241457"/>
                </a:cubicBezTo>
                <a:cubicBezTo>
                  <a:pt x="3351042" y="3254059"/>
                  <a:pt x="3329353" y="3272718"/>
                  <a:pt x="3305907" y="3288349"/>
                </a:cubicBezTo>
                <a:cubicBezTo>
                  <a:pt x="3298092" y="3311795"/>
                  <a:pt x="3299937" y="3341212"/>
                  <a:pt x="3282461" y="3358688"/>
                </a:cubicBezTo>
                <a:cubicBezTo>
                  <a:pt x="3257747" y="3383402"/>
                  <a:pt x="3219023" y="3388239"/>
                  <a:pt x="3188677" y="3405580"/>
                </a:cubicBezTo>
                <a:cubicBezTo>
                  <a:pt x="3061415" y="3478301"/>
                  <a:pt x="3176960" y="3432931"/>
                  <a:pt x="3048000" y="3475918"/>
                </a:cubicBezTo>
                <a:cubicBezTo>
                  <a:pt x="2739282" y="3681731"/>
                  <a:pt x="3029809" y="3474763"/>
                  <a:pt x="2836984" y="3640041"/>
                </a:cubicBezTo>
                <a:cubicBezTo>
                  <a:pt x="2807315" y="3665472"/>
                  <a:pt x="2770832" y="3682748"/>
                  <a:pt x="2743200" y="3710380"/>
                </a:cubicBezTo>
                <a:cubicBezTo>
                  <a:pt x="2723275" y="3730305"/>
                  <a:pt x="2713910" y="3758714"/>
                  <a:pt x="2696307" y="3780718"/>
                </a:cubicBezTo>
                <a:cubicBezTo>
                  <a:pt x="2600835" y="3900058"/>
                  <a:pt x="2697036" y="3732368"/>
                  <a:pt x="2602523" y="3921395"/>
                </a:cubicBezTo>
                <a:cubicBezTo>
                  <a:pt x="2566860" y="4064047"/>
                  <a:pt x="2601733" y="3976114"/>
                  <a:pt x="2508738" y="4108964"/>
                </a:cubicBezTo>
                <a:cubicBezTo>
                  <a:pt x="2476419" y="4155134"/>
                  <a:pt x="2414954" y="4249641"/>
                  <a:pt x="2414954" y="4249641"/>
                </a:cubicBezTo>
                <a:cubicBezTo>
                  <a:pt x="2401193" y="4318444"/>
                  <a:pt x="2395096" y="4374129"/>
                  <a:pt x="2368061" y="4437211"/>
                </a:cubicBezTo>
                <a:cubicBezTo>
                  <a:pt x="2354293" y="4469336"/>
                  <a:pt x="2334937" y="4498870"/>
                  <a:pt x="2321169" y="4530995"/>
                </a:cubicBezTo>
                <a:cubicBezTo>
                  <a:pt x="2311434" y="4553711"/>
                  <a:pt x="2310439" y="4580141"/>
                  <a:pt x="2297723" y="4601334"/>
                </a:cubicBezTo>
                <a:cubicBezTo>
                  <a:pt x="2286350" y="4620289"/>
                  <a:pt x="2264982" y="4631244"/>
                  <a:pt x="2250830" y="4648226"/>
                </a:cubicBezTo>
                <a:cubicBezTo>
                  <a:pt x="2225814" y="4678246"/>
                  <a:pt x="2213006" y="4720335"/>
                  <a:pt x="2180492" y="4742011"/>
                </a:cubicBezTo>
                <a:cubicBezTo>
                  <a:pt x="2139365" y="4769429"/>
                  <a:pt x="2086707" y="4773272"/>
                  <a:pt x="2039815" y="4788903"/>
                </a:cubicBezTo>
                <a:cubicBezTo>
                  <a:pt x="2016369" y="4804534"/>
                  <a:pt x="1995227" y="4824351"/>
                  <a:pt x="1969477" y="4835795"/>
                </a:cubicBezTo>
                <a:cubicBezTo>
                  <a:pt x="1867692" y="4881033"/>
                  <a:pt x="1796776" y="4890612"/>
                  <a:pt x="1688123" y="4906134"/>
                </a:cubicBezTo>
                <a:cubicBezTo>
                  <a:pt x="1625747" y="4915045"/>
                  <a:pt x="1563077" y="4921765"/>
                  <a:pt x="1500554" y="4929580"/>
                </a:cubicBezTo>
                <a:cubicBezTo>
                  <a:pt x="1320800" y="4913949"/>
                  <a:pt x="1139626" y="4910124"/>
                  <a:pt x="961292" y="4882688"/>
                </a:cubicBezTo>
                <a:cubicBezTo>
                  <a:pt x="933441" y="4878403"/>
                  <a:pt x="913497" y="4852702"/>
                  <a:pt x="890954" y="4835795"/>
                </a:cubicBezTo>
                <a:cubicBezTo>
                  <a:pt x="850920" y="4805769"/>
                  <a:pt x="810612" y="4775826"/>
                  <a:pt x="773723" y="4742011"/>
                </a:cubicBezTo>
                <a:cubicBezTo>
                  <a:pt x="614940" y="4596460"/>
                  <a:pt x="573559" y="4532177"/>
                  <a:pt x="422030" y="4366872"/>
                </a:cubicBezTo>
                <a:cubicBezTo>
                  <a:pt x="399625" y="4342430"/>
                  <a:pt x="375138" y="4319980"/>
                  <a:pt x="351692" y="4296534"/>
                </a:cubicBezTo>
                <a:cubicBezTo>
                  <a:pt x="336061" y="4257457"/>
                  <a:pt x="323622" y="4216947"/>
                  <a:pt x="304800" y="4179303"/>
                </a:cubicBezTo>
                <a:cubicBezTo>
                  <a:pt x="292198" y="4154099"/>
                  <a:pt x="266194" y="4135897"/>
                  <a:pt x="257907" y="4108964"/>
                </a:cubicBezTo>
                <a:cubicBezTo>
                  <a:pt x="234468" y="4032787"/>
                  <a:pt x="225703" y="3952839"/>
                  <a:pt x="211015" y="3874503"/>
                </a:cubicBezTo>
                <a:cubicBezTo>
                  <a:pt x="202254" y="3827778"/>
                  <a:pt x="201229" y="3779360"/>
                  <a:pt x="187569" y="3733826"/>
                </a:cubicBezTo>
                <a:cubicBezTo>
                  <a:pt x="177526" y="3700348"/>
                  <a:pt x="156308" y="3671303"/>
                  <a:pt x="140677" y="3640041"/>
                </a:cubicBezTo>
                <a:cubicBezTo>
                  <a:pt x="132861" y="3569703"/>
                  <a:pt x="130272" y="3498585"/>
                  <a:pt x="117230" y="3429026"/>
                </a:cubicBezTo>
                <a:cubicBezTo>
                  <a:pt x="106744" y="3373104"/>
                  <a:pt x="83370" y="3320287"/>
                  <a:pt x="70338" y="3264903"/>
                </a:cubicBezTo>
                <a:cubicBezTo>
                  <a:pt x="28353" y="3086464"/>
                  <a:pt x="23801" y="3032923"/>
                  <a:pt x="0" y="2866318"/>
                </a:cubicBezTo>
                <a:cubicBezTo>
                  <a:pt x="7815" y="2522441"/>
                  <a:pt x="8822" y="2178342"/>
                  <a:pt x="23446" y="1834688"/>
                </a:cubicBezTo>
                <a:cubicBezTo>
                  <a:pt x="24497" y="1809996"/>
                  <a:pt x="45786" y="1789039"/>
                  <a:pt x="46892" y="1764349"/>
                </a:cubicBezTo>
                <a:cubicBezTo>
                  <a:pt x="69277" y="1264421"/>
                  <a:pt x="43275" y="761668"/>
                  <a:pt x="93784" y="263795"/>
                </a:cubicBezTo>
                <a:cubicBezTo>
                  <a:pt x="99362" y="208814"/>
                  <a:pt x="211015" y="146564"/>
                  <a:pt x="211015" y="14656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latin typeface="Roboto" panose="02000000000000000000" pitchFamily="2" charset="0"/>
              <a:ea typeface="Roboto" panose="02000000000000000000" pitchFamily="2" charset="0"/>
            </a:endParaRPr>
          </a:p>
        </p:txBody>
      </p:sp>
      <p:sp>
        <p:nvSpPr>
          <p:cNvPr id="16" name="Freeform: Shape 15">
            <a:extLst>
              <a:ext uri="{FF2B5EF4-FFF2-40B4-BE49-F238E27FC236}">
                <a16:creationId xmlns:a16="http://schemas.microsoft.com/office/drawing/2014/main" id="{9D661513-30A7-BC9E-1CC8-7CF0D4E6F7CE}"/>
              </a:ext>
            </a:extLst>
          </p:cNvPr>
          <p:cNvSpPr/>
          <p:nvPr/>
        </p:nvSpPr>
        <p:spPr>
          <a:xfrm>
            <a:off x="4945940" y="1993386"/>
            <a:ext cx="6107106" cy="1274474"/>
          </a:xfrm>
          <a:custGeom>
            <a:avLst/>
            <a:gdLst>
              <a:gd name="connsiteX0" fmla="*/ 95732 w 12217393"/>
              <a:gd name="connsiteY0" fmla="*/ 328246 h 2549612"/>
              <a:gd name="connsiteX1" fmla="*/ 470870 w 12217393"/>
              <a:gd name="connsiteY1" fmla="*/ 351692 h 2549612"/>
              <a:gd name="connsiteX2" fmla="*/ 1525947 w 12217393"/>
              <a:gd name="connsiteY2" fmla="*/ 398584 h 2549612"/>
              <a:gd name="connsiteX3" fmla="*/ 2510686 w 12217393"/>
              <a:gd name="connsiteY3" fmla="*/ 375138 h 2549612"/>
              <a:gd name="connsiteX4" fmla="*/ 2604470 w 12217393"/>
              <a:gd name="connsiteY4" fmla="*/ 351692 h 2549612"/>
              <a:gd name="connsiteX5" fmla="*/ 2745147 w 12217393"/>
              <a:gd name="connsiteY5" fmla="*/ 328246 h 2549612"/>
              <a:gd name="connsiteX6" fmla="*/ 2838932 w 12217393"/>
              <a:gd name="connsiteY6" fmla="*/ 304800 h 2549612"/>
              <a:gd name="connsiteX7" fmla="*/ 3682993 w 12217393"/>
              <a:gd name="connsiteY7" fmla="*/ 281354 h 2549612"/>
              <a:gd name="connsiteX8" fmla="*/ 4105024 w 12217393"/>
              <a:gd name="connsiteY8" fmla="*/ 257908 h 2549612"/>
              <a:gd name="connsiteX9" fmla="*/ 4456717 w 12217393"/>
              <a:gd name="connsiteY9" fmla="*/ 234461 h 2549612"/>
              <a:gd name="connsiteX10" fmla="*/ 5253886 w 12217393"/>
              <a:gd name="connsiteY10" fmla="*/ 211015 h 2549612"/>
              <a:gd name="connsiteX11" fmla="*/ 5769701 w 12217393"/>
              <a:gd name="connsiteY11" fmla="*/ 187569 h 2549612"/>
              <a:gd name="connsiteX12" fmla="*/ 6051055 w 12217393"/>
              <a:gd name="connsiteY12" fmla="*/ 140677 h 2549612"/>
              <a:gd name="connsiteX13" fmla="*/ 6543424 w 12217393"/>
              <a:gd name="connsiteY13" fmla="*/ 117231 h 2549612"/>
              <a:gd name="connsiteX14" fmla="*/ 6801332 w 12217393"/>
              <a:gd name="connsiteY14" fmla="*/ 70338 h 2549612"/>
              <a:gd name="connsiteX15" fmla="*/ 6988901 w 12217393"/>
              <a:gd name="connsiteY15" fmla="*/ 46892 h 2549612"/>
              <a:gd name="connsiteX16" fmla="*/ 7387486 w 12217393"/>
              <a:gd name="connsiteY16" fmla="*/ 23446 h 2549612"/>
              <a:gd name="connsiteX17" fmla="*/ 8723917 w 12217393"/>
              <a:gd name="connsiteY17" fmla="*/ 0 h 2549612"/>
              <a:gd name="connsiteX18" fmla="*/ 9990009 w 12217393"/>
              <a:gd name="connsiteY18" fmla="*/ 70338 h 2549612"/>
              <a:gd name="connsiteX19" fmla="*/ 10529270 w 12217393"/>
              <a:gd name="connsiteY19" fmla="*/ 164123 h 2549612"/>
              <a:gd name="connsiteX20" fmla="*/ 11045086 w 12217393"/>
              <a:gd name="connsiteY20" fmla="*/ 281354 h 2549612"/>
              <a:gd name="connsiteX21" fmla="*/ 11373332 w 12217393"/>
              <a:gd name="connsiteY21" fmla="*/ 351692 h 2549612"/>
              <a:gd name="connsiteX22" fmla="*/ 11514009 w 12217393"/>
              <a:gd name="connsiteY22" fmla="*/ 398584 h 2549612"/>
              <a:gd name="connsiteX23" fmla="*/ 11607793 w 12217393"/>
              <a:gd name="connsiteY23" fmla="*/ 422031 h 2549612"/>
              <a:gd name="connsiteX24" fmla="*/ 11771917 w 12217393"/>
              <a:gd name="connsiteY24" fmla="*/ 492369 h 2549612"/>
              <a:gd name="connsiteX25" fmla="*/ 11842255 w 12217393"/>
              <a:gd name="connsiteY25" fmla="*/ 562708 h 2549612"/>
              <a:gd name="connsiteX26" fmla="*/ 11959486 w 12217393"/>
              <a:gd name="connsiteY26" fmla="*/ 656492 h 2549612"/>
              <a:gd name="connsiteX27" fmla="*/ 12076717 w 12217393"/>
              <a:gd name="connsiteY27" fmla="*/ 867508 h 2549612"/>
              <a:gd name="connsiteX28" fmla="*/ 12147055 w 12217393"/>
              <a:gd name="connsiteY28" fmla="*/ 961292 h 2549612"/>
              <a:gd name="connsiteX29" fmla="*/ 12170501 w 12217393"/>
              <a:gd name="connsiteY29" fmla="*/ 1031631 h 2549612"/>
              <a:gd name="connsiteX30" fmla="*/ 12217393 w 12217393"/>
              <a:gd name="connsiteY30" fmla="*/ 1219200 h 2549612"/>
              <a:gd name="connsiteX31" fmla="*/ 12193947 w 12217393"/>
              <a:gd name="connsiteY31" fmla="*/ 1570892 h 2549612"/>
              <a:gd name="connsiteX32" fmla="*/ 12123609 w 12217393"/>
              <a:gd name="connsiteY32" fmla="*/ 1664677 h 2549612"/>
              <a:gd name="connsiteX33" fmla="*/ 11982932 w 12217393"/>
              <a:gd name="connsiteY33" fmla="*/ 1758461 h 2549612"/>
              <a:gd name="connsiteX34" fmla="*/ 10177578 w 12217393"/>
              <a:gd name="connsiteY34" fmla="*/ 1735015 h 2549612"/>
              <a:gd name="connsiteX35" fmla="*/ 9661763 w 12217393"/>
              <a:gd name="connsiteY35" fmla="*/ 1688123 h 2549612"/>
              <a:gd name="connsiteX36" fmla="*/ 9356963 w 12217393"/>
              <a:gd name="connsiteY36" fmla="*/ 1664677 h 2549612"/>
              <a:gd name="connsiteX37" fmla="*/ 8114317 w 12217393"/>
              <a:gd name="connsiteY37" fmla="*/ 1711569 h 2549612"/>
              <a:gd name="connsiteX38" fmla="*/ 3448532 w 12217393"/>
              <a:gd name="connsiteY38" fmla="*/ 1758461 h 2549612"/>
              <a:gd name="connsiteX39" fmla="*/ 3307855 w 12217393"/>
              <a:gd name="connsiteY39" fmla="*/ 1781908 h 2549612"/>
              <a:gd name="connsiteX40" fmla="*/ 3214070 w 12217393"/>
              <a:gd name="connsiteY40" fmla="*/ 1828800 h 2549612"/>
              <a:gd name="connsiteX41" fmla="*/ 2979609 w 12217393"/>
              <a:gd name="connsiteY41" fmla="*/ 1969477 h 2549612"/>
              <a:gd name="connsiteX42" fmla="*/ 2885824 w 12217393"/>
              <a:gd name="connsiteY42" fmla="*/ 2039815 h 2549612"/>
              <a:gd name="connsiteX43" fmla="*/ 2627917 w 12217393"/>
              <a:gd name="connsiteY43" fmla="*/ 2157046 h 2549612"/>
              <a:gd name="connsiteX44" fmla="*/ 2534132 w 12217393"/>
              <a:gd name="connsiteY44" fmla="*/ 2203938 h 2549612"/>
              <a:gd name="connsiteX45" fmla="*/ 2346563 w 12217393"/>
              <a:gd name="connsiteY45" fmla="*/ 2250831 h 2549612"/>
              <a:gd name="connsiteX46" fmla="*/ 2182440 w 12217393"/>
              <a:gd name="connsiteY46" fmla="*/ 2321169 h 2549612"/>
              <a:gd name="connsiteX47" fmla="*/ 2041763 w 12217393"/>
              <a:gd name="connsiteY47" fmla="*/ 2344615 h 2549612"/>
              <a:gd name="connsiteX48" fmla="*/ 1924532 w 12217393"/>
              <a:gd name="connsiteY48" fmla="*/ 2368061 h 2549612"/>
              <a:gd name="connsiteX49" fmla="*/ 1643178 w 12217393"/>
              <a:gd name="connsiteY49" fmla="*/ 2414954 h 2549612"/>
              <a:gd name="connsiteX50" fmla="*/ 1525947 w 12217393"/>
              <a:gd name="connsiteY50" fmla="*/ 2438400 h 2549612"/>
              <a:gd name="connsiteX51" fmla="*/ 1221147 w 12217393"/>
              <a:gd name="connsiteY51" fmla="*/ 2461846 h 2549612"/>
              <a:gd name="connsiteX52" fmla="*/ 119178 w 12217393"/>
              <a:gd name="connsiteY52" fmla="*/ 2321169 h 2549612"/>
              <a:gd name="connsiteX53" fmla="*/ 95732 w 12217393"/>
              <a:gd name="connsiteY53" fmla="*/ 2203938 h 2549612"/>
              <a:gd name="connsiteX54" fmla="*/ 48840 w 12217393"/>
              <a:gd name="connsiteY54" fmla="*/ 2110154 h 2549612"/>
              <a:gd name="connsiteX55" fmla="*/ 48840 w 12217393"/>
              <a:gd name="connsiteY55" fmla="*/ 750277 h 2549612"/>
              <a:gd name="connsiteX56" fmla="*/ 72286 w 12217393"/>
              <a:gd name="connsiteY56" fmla="*/ 398584 h 254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2217393" h="2549612">
                <a:moveTo>
                  <a:pt x="95732" y="328246"/>
                </a:moveTo>
                <a:cubicBezTo>
                  <a:pt x="220778" y="336061"/>
                  <a:pt x="345676" y="346782"/>
                  <a:pt x="470870" y="351692"/>
                </a:cubicBezTo>
                <a:cubicBezTo>
                  <a:pt x="1527448" y="393126"/>
                  <a:pt x="974002" y="343390"/>
                  <a:pt x="1525947" y="398584"/>
                </a:cubicBezTo>
                <a:lnTo>
                  <a:pt x="2510686" y="375138"/>
                </a:lnTo>
                <a:cubicBezTo>
                  <a:pt x="2542879" y="373738"/>
                  <a:pt x="2572872" y="358012"/>
                  <a:pt x="2604470" y="351692"/>
                </a:cubicBezTo>
                <a:cubicBezTo>
                  <a:pt x="2651086" y="342369"/>
                  <a:pt x="2698531" y="337569"/>
                  <a:pt x="2745147" y="328246"/>
                </a:cubicBezTo>
                <a:cubicBezTo>
                  <a:pt x="2776745" y="321926"/>
                  <a:pt x="2806748" y="306409"/>
                  <a:pt x="2838932" y="304800"/>
                </a:cubicBezTo>
                <a:cubicBezTo>
                  <a:pt x="3120043" y="290745"/>
                  <a:pt x="3401724" y="291771"/>
                  <a:pt x="3682993" y="281354"/>
                </a:cubicBezTo>
                <a:cubicBezTo>
                  <a:pt x="3823790" y="276139"/>
                  <a:pt x="3964388" y="266432"/>
                  <a:pt x="4105024" y="257908"/>
                </a:cubicBezTo>
                <a:cubicBezTo>
                  <a:pt x="4222300" y="250800"/>
                  <a:pt x="4339324" y="239253"/>
                  <a:pt x="4456717" y="234461"/>
                </a:cubicBezTo>
                <a:cubicBezTo>
                  <a:pt x="4722334" y="223619"/>
                  <a:pt x="4988217" y="220503"/>
                  <a:pt x="5253886" y="211015"/>
                </a:cubicBezTo>
                <a:lnTo>
                  <a:pt x="5769701" y="187569"/>
                </a:lnTo>
                <a:cubicBezTo>
                  <a:pt x="5859567" y="169596"/>
                  <a:pt x="5960578" y="147140"/>
                  <a:pt x="6051055" y="140677"/>
                </a:cubicBezTo>
                <a:cubicBezTo>
                  <a:pt x="6214946" y="128971"/>
                  <a:pt x="6379301" y="125046"/>
                  <a:pt x="6543424" y="117231"/>
                </a:cubicBezTo>
                <a:cubicBezTo>
                  <a:pt x="6644414" y="97032"/>
                  <a:pt x="6696329" y="85338"/>
                  <a:pt x="6801332" y="70338"/>
                </a:cubicBezTo>
                <a:cubicBezTo>
                  <a:pt x="6863708" y="61427"/>
                  <a:pt x="6926092" y="51917"/>
                  <a:pt x="6988901" y="46892"/>
                </a:cubicBezTo>
                <a:cubicBezTo>
                  <a:pt x="7121568" y="36279"/>
                  <a:pt x="7254443" y="27042"/>
                  <a:pt x="7387486" y="23446"/>
                </a:cubicBezTo>
                <a:lnTo>
                  <a:pt x="8723917" y="0"/>
                </a:lnTo>
                <a:cubicBezTo>
                  <a:pt x="8907245" y="7971"/>
                  <a:pt x="9613144" y="9553"/>
                  <a:pt x="9990009" y="70338"/>
                </a:cubicBezTo>
                <a:cubicBezTo>
                  <a:pt x="10170133" y="99390"/>
                  <a:pt x="10354513" y="111696"/>
                  <a:pt x="10529270" y="164123"/>
                </a:cubicBezTo>
                <a:cubicBezTo>
                  <a:pt x="11007020" y="307447"/>
                  <a:pt x="10505875" y="167835"/>
                  <a:pt x="11045086" y="281354"/>
                </a:cubicBezTo>
                <a:cubicBezTo>
                  <a:pt x="11503731" y="377911"/>
                  <a:pt x="10918430" y="286706"/>
                  <a:pt x="11373332" y="351692"/>
                </a:cubicBezTo>
                <a:cubicBezTo>
                  <a:pt x="11420224" y="367323"/>
                  <a:pt x="11466665" y="384381"/>
                  <a:pt x="11514009" y="398584"/>
                </a:cubicBezTo>
                <a:cubicBezTo>
                  <a:pt x="11544874" y="407843"/>
                  <a:pt x="11578175" y="409337"/>
                  <a:pt x="11607793" y="422031"/>
                </a:cubicBezTo>
                <a:cubicBezTo>
                  <a:pt x="11834467" y="519178"/>
                  <a:pt x="11502679" y="425060"/>
                  <a:pt x="11771917" y="492369"/>
                </a:cubicBezTo>
                <a:cubicBezTo>
                  <a:pt x="11795363" y="515815"/>
                  <a:pt x="11817301" y="540873"/>
                  <a:pt x="11842255" y="562708"/>
                </a:cubicBezTo>
                <a:cubicBezTo>
                  <a:pt x="11879916" y="595661"/>
                  <a:pt x="11924100" y="621106"/>
                  <a:pt x="11959486" y="656492"/>
                </a:cubicBezTo>
                <a:cubicBezTo>
                  <a:pt x="12000766" y="697772"/>
                  <a:pt x="12058324" y="836853"/>
                  <a:pt x="12076717" y="867508"/>
                </a:cubicBezTo>
                <a:cubicBezTo>
                  <a:pt x="12096822" y="901016"/>
                  <a:pt x="12123609" y="930031"/>
                  <a:pt x="12147055" y="961292"/>
                </a:cubicBezTo>
                <a:cubicBezTo>
                  <a:pt x="12154870" y="984738"/>
                  <a:pt x="12163998" y="1007787"/>
                  <a:pt x="12170501" y="1031631"/>
                </a:cubicBezTo>
                <a:cubicBezTo>
                  <a:pt x="12187458" y="1093807"/>
                  <a:pt x="12217393" y="1219200"/>
                  <a:pt x="12217393" y="1219200"/>
                </a:cubicBezTo>
                <a:cubicBezTo>
                  <a:pt x="12209578" y="1336431"/>
                  <a:pt x="12218151" y="1455921"/>
                  <a:pt x="12193947" y="1570892"/>
                </a:cubicBezTo>
                <a:cubicBezTo>
                  <a:pt x="12185897" y="1609131"/>
                  <a:pt x="12152815" y="1638716"/>
                  <a:pt x="12123609" y="1664677"/>
                </a:cubicBezTo>
                <a:cubicBezTo>
                  <a:pt x="12081487" y="1702119"/>
                  <a:pt x="11982932" y="1758461"/>
                  <a:pt x="11982932" y="1758461"/>
                </a:cubicBezTo>
                <a:lnTo>
                  <a:pt x="10177578" y="1735015"/>
                </a:lnTo>
                <a:cubicBezTo>
                  <a:pt x="9968894" y="1730378"/>
                  <a:pt x="9858294" y="1705989"/>
                  <a:pt x="9661763" y="1688123"/>
                </a:cubicBezTo>
                <a:cubicBezTo>
                  <a:pt x="9560281" y="1678897"/>
                  <a:pt x="9458563" y="1672492"/>
                  <a:pt x="9356963" y="1664677"/>
                </a:cubicBezTo>
                <a:cubicBezTo>
                  <a:pt x="8806239" y="1704014"/>
                  <a:pt x="8911432" y="1701521"/>
                  <a:pt x="8114317" y="1711569"/>
                </a:cubicBezTo>
                <a:lnTo>
                  <a:pt x="3448532" y="1758461"/>
                </a:lnTo>
                <a:cubicBezTo>
                  <a:pt x="3401640" y="1766277"/>
                  <a:pt x="3353389" y="1768248"/>
                  <a:pt x="3307855" y="1781908"/>
                </a:cubicBezTo>
                <a:cubicBezTo>
                  <a:pt x="3274378" y="1791951"/>
                  <a:pt x="3244416" y="1811459"/>
                  <a:pt x="3214070" y="1828800"/>
                </a:cubicBezTo>
                <a:cubicBezTo>
                  <a:pt x="3134936" y="1874019"/>
                  <a:pt x="3052523" y="1914792"/>
                  <a:pt x="2979609" y="1969477"/>
                </a:cubicBezTo>
                <a:cubicBezTo>
                  <a:pt x="2948347" y="1992923"/>
                  <a:pt x="2918961" y="2019104"/>
                  <a:pt x="2885824" y="2039815"/>
                </a:cubicBezTo>
                <a:cubicBezTo>
                  <a:pt x="2829048" y="2075300"/>
                  <a:pt x="2670484" y="2137697"/>
                  <a:pt x="2627917" y="2157046"/>
                </a:cubicBezTo>
                <a:cubicBezTo>
                  <a:pt x="2596098" y="2171509"/>
                  <a:pt x="2567290" y="2192885"/>
                  <a:pt x="2534132" y="2203938"/>
                </a:cubicBezTo>
                <a:cubicBezTo>
                  <a:pt x="2472992" y="2224318"/>
                  <a:pt x="2405799" y="2225444"/>
                  <a:pt x="2346563" y="2250831"/>
                </a:cubicBezTo>
                <a:cubicBezTo>
                  <a:pt x="2291855" y="2274277"/>
                  <a:pt x="2239328" y="2303665"/>
                  <a:pt x="2182440" y="2321169"/>
                </a:cubicBezTo>
                <a:cubicBezTo>
                  <a:pt x="2137003" y="2335150"/>
                  <a:pt x="2088535" y="2336111"/>
                  <a:pt x="2041763" y="2344615"/>
                </a:cubicBezTo>
                <a:cubicBezTo>
                  <a:pt x="2002555" y="2351744"/>
                  <a:pt x="1963776" y="2361135"/>
                  <a:pt x="1924532" y="2368061"/>
                </a:cubicBezTo>
                <a:cubicBezTo>
                  <a:pt x="1830900" y="2384584"/>
                  <a:pt x="1736410" y="2396308"/>
                  <a:pt x="1643178" y="2414954"/>
                </a:cubicBezTo>
                <a:cubicBezTo>
                  <a:pt x="1604101" y="2422769"/>
                  <a:pt x="1565554" y="2433999"/>
                  <a:pt x="1525947" y="2438400"/>
                </a:cubicBezTo>
                <a:cubicBezTo>
                  <a:pt x="1424670" y="2449653"/>
                  <a:pt x="1322747" y="2454031"/>
                  <a:pt x="1221147" y="2461846"/>
                </a:cubicBezTo>
                <a:cubicBezTo>
                  <a:pt x="249151" y="2419586"/>
                  <a:pt x="217477" y="2763517"/>
                  <a:pt x="119178" y="2321169"/>
                </a:cubicBezTo>
                <a:cubicBezTo>
                  <a:pt x="110533" y="2282267"/>
                  <a:pt x="108334" y="2241744"/>
                  <a:pt x="95732" y="2203938"/>
                </a:cubicBezTo>
                <a:cubicBezTo>
                  <a:pt x="84679" y="2170780"/>
                  <a:pt x="64471" y="2141415"/>
                  <a:pt x="48840" y="2110154"/>
                </a:cubicBezTo>
                <a:cubicBezTo>
                  <a:pt x="-40045" y="1576860"/>
                  <a:pt x="12611" y="1945805"/>
                  <a:pt x="48840" y="750277"/>
                </a:cubicBezTo>
                <a:cubicBezTo>
                  <a:pt x="72843" y="-41805"/>
                  <a:pt x="72286" y="564218"/>
                  <a:pt x="72286" y="398584"/>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latin typeface="Roboto" panose="02000000000000000000" pitchFamily="2" charset="0"/>
              <a:ea typeface="Roboto" panose="02000000000000000000" pitchFamily="2" charset="0"/>
            </a:endParaRPr>
          </a:p>
        </p:txBody>
      </p:sp>
      <p:sp>
        <p:nvSpPr>
          <p:cNvPr id="17" name="Freeform: Shape 16">
            <a:extLst>
              <a:ext uri="{FF2B5EF4-FFF2-40B4-BE49-F238E27FC236}">
                <a16:creationId xmlns:a16="http://schemas.microsoft.com/office/drawing/2014/main" id="{DB0A0FB8-7731-D334-A1AC-CF4E8FD99D36}"/>
              </a:ext>
            </a:extLst>
          </p:cNvPr>
          <p:cNvSpPr/>
          <p:nvPr/>
        </p:nvSpPr>
        <p:spPr>
          <a:xfrm>
            <a:off x="6797719" y="2799688"/>
            <a:ext cx="3704486" cy="2478594"/>
          </a:xfrm>
          <a:custGeom>
            <a:avLst/>
            <a:gdLst>
              <a:gd name="connsiteX0" fmla="*/ 25363 w 7410901"/>
              <a:gd name="connsiteY0" fmla="*/ 351692 h 5251939"/>
              <a:gd name="connsiteX1" fmla="*/ 95701 w 7410901"/>
              <a:gd name="connsiteY1" fmla="*/ 1266092 h 5251939"/>
              <a:gd name="connsiteX2" fmla="*/ 119147 w 7410901"/>
              <a:gd name="connsiteY2" fmla="*/ 1336431 h 5251939"/>
              <a:gd name="connsiteX3" fmla="*/ 142594 w 7410901"/>
              <a:gd name="connsiteY3" fmla="*/ 1430215 h 5251939"/>
              <a:gd name="connsiteX4" fmla="*/ 189486 w 7410901"/>
              <a:gd name="connsiteY4" fmla="*/ 1524000 h 5251939"/>
              <a:gd name="connsiteX5" fmla="*/ 212932 w 7410901"/>
              <a:gd name="connsiteY5" fmla="*/ 1641231 h 5251939"/>
              <a:gd name="connsiteX6" fmla="*/ 259824 w 7410901"/>
              <a:gd name="connsiteY6" fmla="*/ 1735015 h 5251939"/>
              <a:gd name="connsiteX7" fmla="*/ 306717 w 7410901"/>
              <a:gd name="connsiteY7" fmla="*/ 2133600 h 5251939"/>
              <a:gd name="connsiteX8" fmla="*/ 353609 w 7410901"/>
              <a:gd name="connsiteY8" fmla="*/ 2368062 h 5251939"/>
              <a:gd name="connsiteX9" fmla="*/ 400501 w 7410901"/>
              <a:gd name="connsiteY9" fmla="*/ 2883877 h 5251939"/>
              <a:gd name="connsiteX10" fmla="*/ 447394 w 7410901"/>
              <a:gd name="connsiteY10" fmla="*/ 3071446 h 5251939"/>
              <a:gd name="connsiteX11" fmla="*/ 564624 w 7410901"/>
              <a:gd name="connsiteY11" fmla="*/ 3470031 h 5251939"/>
              <a:gd name="connsiteX12" fmla="*/ 588070 w 7410901"/>
              <a:gd name="connsiteY12" fmla="*/ 3610708 h 5251939"/>
              <a:gd name="connsiteX13" fmla="*/ 658409 w 7410901"/>
              <a:gd name="connsiteY13" fmla="*/ 3727939 h 5251939"/>
              <a:gd name="connsiteX14" fmla="*/ 705301 w 7410901"/>
              <a:gd name="connsiteY14" fmla="*/ 3845169 h 5251939"/>
              <a:gd name="connsiteX15" fmla="*/ 752194 w 7410901"/>
              <a:gd name="connsiteY15" fmla="*/ 3915508 h 5251939"/>
              <a:gd name="connsiteX16" fmla="*/ 799086 w 7410901"/>
              <a:gd name="connsiteY16" fmla="*/ 4009292 h 5251939"/>
              <a:gd name="connsiteX17" fmla="*/ 845978 w 7410901"/>
              <a:gd name="connsiteY17" fmla="*/ 4079631 h 5251939"/>
              <a:gd name="connsiteX18" fmla="*/ 892870 w 7410901"/>
              <a:gd name="connsiteY18" fmla="*/ 4173415 h 5251939"/>
              <a:gd name="connsiteX19" fmla="*/ 939763 w 7410901"/>
              <a:gd name="connsiteY19" fmla="*/ 4243754 h 5251939"/>
              <a:gd name="connsiteX20" fmla="*/ 1010101 w 7410901"/>
              <a:gd name="connsiteY20" fmla="*/ 4407877 h 5251939"/>
              <a:gd name="connsiteX21" fmla="*/ 1080440 w 7410901"/>
              <a:gd name="connsiteY21" fmla="*/ 4478215 h 5251939"/>
              <a:gd name="connsiteX22" fmla="*/ 1174224 w 7410901"/>
              <a:gd name="connsiteY22" fmla="*/ 4618892 h 5251939"/>
              <a:gd name="connsiteX23" fmla="*/ 1291455 w 7410901"/>
              <a:gd name="connsiteY23" fmla="*/ 4712677 h 5251939"/>
              <a:gd name="connsiteX24" fmla="*/ 1432132 w 7410901"/>
              <a:gd name="connsiteY24" fmla="*/ 4853354 h 5251939"/>
              <a:gd name="connsiteX25" fmla="*/ 1549363 w 7410901"/>
              <a:gd name="connsiteY25" fmla="*/ 4900246 h 5251939"/>
              <a:gd name="connsiteX26" fmla="*/ 1877609 w 7410901"/>
              <a:gd name="connsiteY26" fmla="*/ 5017477 h 5251939"/>
              <a:gd name="connsiteX27" fmla="*/ 2018286 w 7410901"/>
              <a:gd name="connsiteY27" fmla="*/ 5087815 h 5251939"/>
              <a:gd name="connsiteX28" fmla="*/ 2252747 w 7410901"/>
              <a:gd name="connsiteY28" fmla="*/ 5134708 h 5251939"/>
              <a:gd name="connsiteX29" fmla="*/ 2534101 w 7410901"/>
              <a:gd name="connsiteY29" fmla="*/ 5205046 h 5251939"/>
              <a:gd name="connsiteX30" fmla="*/ 3237486 w 7410901"/>
              <a:gd name="connsiteY30" fmla="*/ 5251939 h 5251939"/>
              <a:gd name="connsiteX31" fmla="*/ 3917424 w 7410901"/>
              <a:gd name="connsiteY31" fmla="*/ 5228492 h 5251939"/>
              <a:gd name="connsiteX32" fmla="*/ 4151886 w 7410901"/>
              <a:gd name="connsiteY32" fmla="*/ 5111262 h 5251939"/>
              <a:gd name="connsiteX33" fmla="*/ 4339455 w 7410901"/>
              <a:gd name="connsiteY33" fmla="*/ 4970585 h 5251939"/>
              <a:gd name="connsiteX34" fmla="*/ 4644255 w 7410901"/>
              <a:gd name="connsiteY34" fmla="*/ 4712677 h 5251939"/>
              <a:gd name="connsiteX35" fmla="*/ 4761486 w 7410901"/>
              <a:gd name="connsiteY35" fmla="*/ 4665785 h 5251939"/>
              <a:gd name="connsiteX36" fmla="*/ 4925609 w 7410901"/>
              <a:gd name="connsiteY36" fmla="*/ 4618892 h 5251939"/>
              <a:gd name="connsiteX37" fmla="*/ 5253855 w 7410901"/>
              <a:gd name="connsiteY37" fmla="*/ 4548554 h 5251939"/>
              <a:gd name="connsiteX38" fmla="*/ 5628994 w 7410901"/>
              <a:gd name="connsiteY38" fmla="*/ 4384431 h 5251939"/>
              <a:gd name="connsiteX39" fmla="*/ 5793117 w 7410901"/>
              <a:gd name="connsiteY39" fmla="*/ 4314092 h 5251939"/>
              <a:gd name="connsiteX40" fmla="*/ 5957240 w 7410901"/>
              <a:gd name="connsiteY40" fmla="*/ 4220308 h 5251939"/>
              <a:gd name="connsiteX41" fmla="*/ 6308932 w 7410901"/>
              <a:gd name="connsiteY41" fmla="*/ 4103077 h 5251939"/>
              <a:gd name="connsiteX42" fmla="*/ 6449609 w 7410901"/>
              <a:gd name="connsiteY42" fmla="*/ 4056185 h 5251939"/>
              <a:gd name="connsiteX43" fmla="*/ 6637178 w 7410901"/>
              <a:gd name="connsiteY43" fmla="*/ 4009292 h 5251939"/>
              <a:gd name="connsiteX44" fmla="*/ 7106101 w 7410901"/>
              <a:gd name="connsiteY44" fmla="*/ 3774831 h 5251939"/>
              <a:gd name="connsiteX45" fmla="*/ 7223332 w 7410901"/>
              <a:gd name="connsiteY45" fmla="*/ 3657600 h 5251939"/>
              <a:gd name="connsiteX46" fmla="*/ 7364009 w 7410901"/>
              <a:gd name="connsiteY46" fmla="*/ 3282462 h 5251939"/>
              <a:gd name="connsiteX47" fmla="*/ 7410901 w 7410901"/>
              <a:gd name="connsiteY47" fmla="*/ 2860431 h 5251939"/>
              <a:gd name="connsiteX48" fmla="*/ 7387455 w 7410901"/>
              <a:gd name="connsiteY48" fmla="*/ 1922585 h 5251939"/>
              <a:gd name="connsiteX49" fmla="*/ 7340563 w 7410901"/>
              <a:gd name="connsiteY49" fmla="*/ 1500554 h 5251939"/>
              <a:gd name="connsiteX50" fmla="*/ 7317117 w 7410901"/>
              <a:gd name="connsiteY50" fmla="*/ 1336431 h 5251939"/>
              <a:gd name="connsiteX51" fmla="*/ 7223332 w 7410901"/>
              <a:gd name="connsiteY51" fmla="*/ 1101969 h 5251939"/>
              <a:gd name="connsiteX52" fmla="*/ 7129547 w 7410901"/>
              <a:gd name="connsiteY52" fmla="*/ 867508 h 5251939"/>
              <a:gd name="connsiteX53" fmla="*/ 7082655 w 7410901"/>
              <a:gd name="connsiteY53" fmla="*/ 773723 h 5251939"/>
              <a:gd name="connsiteX54" fmla="*/ 6941978 w 7410901"/>
              <a:gd name="connsiteY54" fmla="*/ 609600 h 5251939"/>
              <a:gd name="connsiteX55" fmla="*/ 6754409 w 7410901"/>
              <a:gd name="connsiteY55" fmla="*/ 515815 h 5251939"/>
              <a:gd name="connsiteX56" fmla="*/ 6613732 w 7410901"/>
              <a:gd name="connsiteY56" fmla="*/ 445477 h 5251939"/>
              <a:gd name="connsiteX57" fmla="*/ 6496501 w 7410901"/>
              <a:gd name="connsiteY57" fmla="*/ 375139 h 5251939"/>
              <a:gd name="connsiteX58" fmla="*/ 6332378 w 7410901"/>
              <a:gd name="connsiteY58" fmla="*/ 328246 h 5251939"/>
              <a:gd name="connsiteX59" fmla="*/ 6121363 w 7410901"/>
              <a:gd name="connsiteY59" fmla="*/ 257908 h 5251939"/>
              <a:gd name="connsiteX60" fmla="*/ 5933794 w 7410901"/>
              <a:gd name="connsiteY60" fmla="*/ 164123 h 5251939"/>
              <a:gd name="connsiteX61" fmla="*/ 5746224 w 7410901"/>
              <a:gd name="connsiteY61" fmla="*/ 117231 h 5251939"/>
              <a:gd name="connsiteX62" fmla="*/ 5652440 w 7410901"/>
              <a:gd name="connsiteY62" fmla="*/ 93785 h 5251939"/>
              <a:gd name="connsiteX63" fmla="*/ 5417978 w 7410901"/>
              <a:gd name="connsiteY63" fmla="*/ 46892 h 5251939"/>
              <a:gd name="connsiteX64" fmla="*/ 5347640 w 7410901"/>
              <a:gd name="connsiteY64" fmla="*/ 23446 h 5251939"/>
              <a:gd name="connsiteX65" fmla="*/ 5113178 w 7410901"/>
              <a:gd name="connsiteY65" fmla="*/ 0 h 5251939"/>
              <a:gd name="connsiteX66" fmla="*/ 3987763 w 7410901"/>
              <a:gd name="connsiteY66" fmla="*/ 46892 h 5251939"/>
              <a:gd name="connsiteX67" fmla="*/ 3471947 w 7410901"/>
              <a:gd name="connsiteY67" fmla="*/ 93785 h 5251939"/>
              <a:gd name="connsiteX68" fmla="*/ 3143701 w 7410901"/>
              <a:gd name="connsiteY68" fmla="*/ 140677 h 5251939"/>
              <a:gd name="connsiteX69" fmla="*/ 2299640 w 7410901"/>
              <a:gd name="connsiteY69" fmla="*/ 187569 h 5251939"/>
              <a:gd name="connsiteX70" fmla="*/ 681855 w 7410901"/>
              <a:gd name="connsiteY70" fmla="*/ 164123 h 5251939"/>
              <a:gd name="connsiteX71" fmla="*/ 142594 w 7410901"/>
              <a:gd name="connsiteY71" fmla="*/ 211015 h 5251939"/>
              <a:gd name="connsiteX72" fmla="*/ 48809 w 7410901"/>
              <a:gd name="connsiteY72" fmla="*/ 257908 h 5251939"/>
              <a:gd name="connsiteX73" fmla="*/ 1917 w 7410901"/>
              <a:gd name="connsiteY73" fmla="*/ 422031 h 5251939"/>
              <a:gd name="connsiteX74" fmla="*/ 1917 w 7410901"/>
              <a:gd name="connsiteY74" fmla="*/ 539262 h 525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410901" h="5251939">
                <a:moveTo>
                  <a:pt x="25363" y="351692"/>
                </a:moveTo>
                <a:cubicBezTo>
                  <a:pt x="46796" y="726772"/>
                  <a:pt x="9014" y="962687"/>
                  <a:pt x="95701" y="1266092"/>
                </a:cubicBezTo>
                <a:cubicBezTo>
                  <a:pt x="102491" y="1289856"/>
                  <a:pt x="112357" y="1312667"/>
                  <a:pt x="119147" y="1336431"/>
                </a:cubicBezTo>
                <a:cubicBezTo>
                  <a:pt x="128000" y="1367415"/>
                  <a:pt x="131279" y="1400043"/>
                  <a:pt x="142594" y="1430215"/>
                </a:cubicBezTo>
                <a:cubicBezTo>
                  <a:pt x="154866" y="1462941"/>
                  <a:pt x="173855" y="1492738"/>
                  <a:pt x="189486" y="1524000"/>
                </a:cubicBezTo>
                <a:cubicBezTo>
                  <a:pt x="197301" y="1563077"/>
                  <a:pt x="200330" y="1603425"/>
                  <a:pt x="212932" y="1641231"/>
                </a:cubicBezTo>
                <a:cubicBezTo>
                  <a:pt x="223985" y="1674389"/>
                  <a:pt x="251347" y="1701107"/>
                  <a:pt x="259824" y="1735015"/>
                </a:cubicBezTo>
                <a:cubicBezTo>
                  <a:pt x="267740" y="1766680"/>
                  <a:pt x="303613" y="2113944"/>
                  <a:pt x="306717" y="2133600"/>
                </a:cubicBezTo>
                <a:cubicBezTo>
                  <a:pt x="319148" y="2212326"/>
                  <a:pt x="353609" y="2368062"/>
                  <a:pt x="353609" y="2368062"/>
                </a:cubicBezTo>
                <a:cubicBezTo>
                  <a:pt x="365829" y="2526926"/>
                  <a:pt x="377368" y="2721947"/>
                  <a:pt x="400501" y="2883877"/>
                </a:cubicBezTo>
                <a:cubicBezTo>
                  <a:pt x="429310" y="3085541"/>
                  <a:pt x="411025" y="2925969"/>
                  <a:pt x="447394" y="3071446"/>
                </a:cubicBezTo>
                <a:cubicBezTo>
                  <a:pt x="531792" y="3409035"/>
                  <a:pt x="447652" y="3158105"/>
                  <a:pt x="564624" y="3470031"/>
                </a:cubicBezTo>
                <a:cubicBezTo>
                  <a:pt x="572439" y="3516923"/>
                  <a:pt x="571824" y="3566031"/>
                  <a:pt x="588070" y="3610708"/>
                </a:cubicBezTo>
                <a:cubicBezTo>
                  <a:pt x="603644" y="3653536"/>
                  <a:pt x="638029" y="3687179"/>
                  <a:pt x="658409" y="3727939"/>
                </a:cubicBezTo>
                <a:cubicBezTo>
                  <a:pt x="677231" y="3765583"/>
                  <a:pt x="686479" y="3807525"/>
                  <a:pt x="705301" y="3845169"/>
                </a:cubicBezTo>
                <a:cubicBezTo>
                  <a:pt x="717903" y="3870373"/>
                  <a:pt x="738213" y="3891042"/>
                  <a:pt x="752194" y="3915508"/>
                </a:cubicBezTo>
                <a:cubicBezTo>
                  <a:pt x="769535" y="3945854"/>
                  <a:pt x="781745" y="3978946"/>
                  <a:pt x="799086" y="4009292"/>
                </a:cubicBezTo>
                <a:cubicBezTo>
                  <a:pt x="813067" y="4033758"/>
                  <a:pt x="831997" y="4055165"/>
                  <a:pt x="845978" y="4079631"/>
                </a:cubicBezTo>
                <a:cubicBezTo>
                  <a:pt x="863319" y="4109977"/>
                  <a:pt x="875529" y="4143069"/>
                  <a:pt x="892870" y="4173415"/>
                </a:cubicBezTo>
                <a:cubicBezTo>
                  <a:pt x="906851" y="4197881"/>
                  <a:pt x="927161" y="4218550"/>
                  <a:pt x="939763" y="4243754"/>
                </a:cubicBezTo>
                <a:cubicBezTo>
                  <a:pt x="966381" y="4296990"/>
                  <a:pt x="979478" y="4356839"/>
                  <a:pt x="1010101" y="4407877"/>
                </a:cubicBezTo>
                <a:cubicBezTo>
                  <a:pt x="1027161" y="4436310"/>
                  <a:pt x="1060083" y="4452042"/>
                  <a:pt x="1080440" y="4478215"/>
                </a:cubicBezTo>
                <a:cubicBezTo>
                  <a:pt x="1115040" y="4522701"/>
                  <a:pt x="1136523" y="4577002"/>
                  <a:pt x="1174224" y="4618892"/>
                </a:cubicBezTo>
                <a:cubicBezTo>
                  <a:pt x="1207701" y="4656089"/>
                  <a:pt x="1254426" y="4679014"/>
                  <a:pt x="1291455" y="4712677"/>
                </a:cubicBezTo>
                <a:cubicBezTo>
                  <a:pt x="1340525" y="4757286"/>
                  <a:pt x="1378500" y="4814349"/>
                  <a:pt x="1432132" y="4853354"/>
                </a:cubicBezTo>
                <a:cubicBezTo>
                  <a:pt x="1466169" y="4878108"/>
                  <a:pt x="1511048" y="4882830"/>
                  <a:pt x="1549363" y="4900246"/>
                </a:cubicBezTo>
                <a:cubicBezTo>
                  <a:pt x="2053587" y="5129439"/>
                  <a:pt x="1263140" y="4798025"/>
                  <a:pt x="1877609" y="5017477"/>
                </a:cubicBezTo>
                <a:cubicBezTo>
                  <a:pt x="1926982" y="5035110"/>
                  <a:pt x="1968245" y="5072177"/>
                  <a:pt x="2018286" y="5087815"/>
                </a:cubicBezTo>
                <a:cubicBezTo>
                  <a:pt x="2094359" y="5111588"/>
                  <a:pt x="2175027" y="5117044"/>
                  <a:pt x="2252747" y="5134708"/>
                </a:cubicBezTo>
                <a:cubicBezTo>
                  <a:pt x="2347014" y="5156132"/>
                  <a:pt x="2438745" y="5189153"/>
                  <a:pt x="2534101" y="5205046"/>
                </a:cubicBezTo>
                <a:cubicBezTo>
                  <a:pt x="2639535" y="5222618"/>
                  <a:pt x="3195072" y="5249583"/>
                  <a:pt x="3237486" y="5251939"/>
                </a:cubicBezTo>
                <a:cubicBezTo>
                  <a:pt x="3464132" y="5244123"/>
                  <a:pt x="3693280" y="5262976"/>
                  <a:pt x="3917424" y="5228492"/>
                </a:cubicBezTo>
                <a:cubicBezTo>
                  <a:pt x="4003787" y="5215205"/>
                  <a:pt x="4077327" y="5156826"/>
                  <a:pt x="4151886" y="5111262"/>
                </a:cubicBezTo>
                <a:cubicBezTo>
                  <a:pt x="4218573" y="5070509"/>
                  <a:pt x="4280395" y="5021770"/>
                  <a:pt x="4339455" y="4970585"/>
                </a:cubicBezTo>
                <a:cubicBezTo>
                  <a:pt x="4521869" y="4812492"/>
                  <a:pt x="4454908" y="4815957"/>
                  <a:pt x="4644255" y="4712677"/>
                </a:cubicBezTo>
                <a:cubicBezTo>
                  <a:pt x="4681203" y="4692523"/>
                  <a:pt x="4721559" y="4679094"/>
                  <a:pt x="4761486" y="4665785"/>
                </a:cubicBezTo>
                <a:cubicBezTo>
                  <a:pt x="4815463" y="4647793"/>
                  <a:pt x="4870411" y="4632692"/>
                  <a:pt x="4925609" y="4618892"/>
                </a:cubicBezTo>
                <a:cubicBezTo>
                  <a:pt x="5175262" y="4556478"/>
                  <a:pt x="4892257" y="4648998"/>
                  <a:pt x="5253855" y="4548554"/>
                </a:cubicBezTo>
                <a:cubicBezTo>
                  <a:pt x="5543363" y="4468135"/>
                  <a:pt x="5384589" y="4506633"/>
                  <a:pt x="5628994" y="4384431"/>
                </a:cubicBezTo>
                <a:cubicBezTo>
                  <a:pt x="5682231" y="4357813"/>
                  <a:pt x="5739880" y="4340710"/>
                  <a:pt x="5793117" y="4314092"/>
                </a:cubicBezTo>
                <a:cubicBezTo>
                  <a:pt x="5849474" y="4285913"/>
                  <a:pt x="5898922" y="4244165"/>
                  <a:pt x="5957240" y="4220308"/>
                </a:cubicBezTo>
                <a:cubicBezTo>
                  <a:pt x="6071612" y="4173520"/>
                  <a:pt x="6191701" y="4142154"/>
                  <a:pt x="6308932" y="4103077"/>
                </a:cubicBezTo>
                <a:cubicBezTo>
                  <a:pt x="6355824" y="4087446"/>
                  <a:pt x="6401656" y="4068173"/>
                  <a:pt x="6449609" y="4056185"/>
                </a:cubicBezTo>
                <a:cubicBezTo>
                  <a:pt x="6512132" y="4040554"/>
                  <a:pt x="6576349" y="4030582"/>
                  <a:pt x="6637178" y="4009292"/>
                </a:cubicBezTo>
                <a:cubicBezTo>
                  <a:pt x="6801262" y="3951863"/>
                  <a:pt x="6966867" y="3881934"/>
                  <a:pt x="7106101" y="3774831"/>
                </a:cubicBezTo>
                <a:cubicBezTo>
                  <a:pt x="7149904" y="3741136"/>
                  <a:pt x="7184255" y="3696677"/>
                  <a:pt x="7223332" y="3657600"/>
                </a:cubicBezTo>
                <a:cubicBezTo>
                  <a:pt x="7270224" y="3532554"/>
                  <a:pt x="7349261" y="3415194"/>
                  <a:pt x="7364009" y="3282462"/>
                </a:cubicBezTo>
                <a:lnTo>
                  <a:pt x="7410901" y="2860431"/>
                </a:lnTo>
                <a:cubicBezTo>
                  <a:pt x="7403086" y="2547816"/>
                  <a:pt x="7399029" y="2235084"/>
                  <a:pt x="7387455" y="1922585"/>
                </a:cubicBezTo>
                <a:cubicBezTo>
                  <a:pt x="7365391" y="1326859"/>
                  <a:pt x="7389533" y="1769891"/>
                  <a:pt x="7340563" y="1500554"/>
                </a:cubicBezTo>
                <a:cubicBezTo>
                  <a:pt x="7330677" y="1446182"/>
                  <a:pt x="7332710" y="1389448"/>
                  <a:pt x="7317117" y="1336431"/>
                </a:cubicBezTo>
                <a:cubicBezTo>
                  <a:pt x="7293366" y="1255677"/>
                  <a:pt x="7249950" y="1181824"/>
                  <a:pt x="7223332" y="1101969"/>
                </a:cubicBezTo>
                <a:cubicBezTo>
                  <a:pt x="7186605" y="991787"/>
                  <a:pt x="7196277" y="1014315"/>
                  <a:pt x="7129547" y="867508"/>
                </a:cubicBezTo>
                <a:cubicBezTo>
                  <a:pt x="7115084" y="835689"/>
                  <a:pt x="7101179" y="803362"/>
                  <a:pt x="7082655" y="773723"/>
                </a:cubicBezTo>
                <a:cubicBezTo>
                  <a:pt x="7048907" y="719726"/>
                  <a:pt x="6992018" y="651300"/>
                  <a:pt x="6941978" y="609600"/>
                </a:cubicBezTo>
                <a:cubicBezTo>
                  <a:pt x="6869155" y="548914"/>
                  <a:pt x="6849211" y="558907"/>
                  <a:pt x="6754409" y="515815"/>
                </a:cubicBezTo>
                <a:cubicBezTo>
                  <a:pt x="6706681" y="494120"/>
                  <a:pt x="6659758" y="470582"/>
                  <a:pt x="6613732" y="445477"/>
                </a:cubicBezTo>
                <a:cubicBezTo>
                  <a:pt x="6573725" y="423655"/>
                  <a:pt x="6538567" y="392666"/>
                  <a:pt x="6496501" y="375139"/>
                </a:cubicBezTo>
                <a:cubicBezTo>
                  <a:pt x="6443981" y="353256"/>
                  <a:pt x="6386355" y="346238"/>
                  <a:pt x="6332378" y="328246"/>
                </a:cubicBezTo>
                <a:cubicBezTo>
                  <a:pt x="6067518" y="239959"/>
                  <a:pt x="6346101" y="314092"/>
                  <a:pt x="6121363" y="257908"/>
                </a:cubicBezTo>
                <a:cubicBezTo>
                  <a:pt x="6058840" y="226646"/>
                  <a:pt x="6000110" y="186228"/>
                  <a:pt x="5933794" y="164123"/>
                </a:cubicBezTo>
                <a:cubicBezTo>
                  <a:pt x="5808101" y="122226"/>
                  <a:pt x="5915985" y="154955"/>
                  <a:pt x="5746224" y="117231"/>
                </a:cubicBezTo>
                <a:cubicBezTo>
                  <a:pt x="5714768" y="110241"/>
                  <a:pt x="5683948" y="100537"/>
                  <a:pt x="5652440" y="93785"/>
                </a:cubicBezTo>
                <a:cubicBezTo>
                  <a:pt x="5574507" y="77085"/>
                  <a:pt x="5493590" y="72096"/>
                  <a:pt x="5417978" y="46892"/>
                </a:cubicBezTo>
                <a:cubicBezTo>
                  <a:pt x="5394532" y="39077"/>
                  <a:pt x="5372067" y="27204"/>
                  <a:pt x="5347640" y="23446"/>
                </a:cubicBezTo>
                <a:cubicBezTo>
                  <a:pt x="5270010" y="11503"/>
                  <a:pt x="5191332" y="7815"/>
                  <a:pt x="5113178" y="0"/>
                </a:cubicBezTo>
                <a:cubicBezTo>
                  <a:pt x="4738040" y="15631"/>
                  <a:pt x="4358118" y="-14836"/>
                  <a:pt x="3987763" y="46892"/>
                </a:cubicBezTo>
                <a:cubicBezTo>
                  <a:pt x="3723501" y="90937"/>
                  <a:pt x="3894533" y="67374"/>
                  <a:pt x="3471947" y="93785"/>
                </a:cubicBezTo>
                <a:cubicBezTo>
                  <a:pt x="3362532" y="109416"/>
                  <a:pt x="3253982" y="133325"/>
                  <a:pt x="3143701" y="140677"/>
                </a:cubicBezTo>
                <a:cubicBezTo>
                  <a:pt x="2628064" y="175053"/>
                  <a:pt x="2909367" y="158535"/>
                  <a:pt x="2299640" y="187569"/>
                </a:cubicBezTo>
                <a:lnTo>
                  <a:pt x="681855" y="164123"/>
                </a:lnTo>
                <a:cubicBezTo>
                  <a:pt x="553758" y="164123"/>
                  <a:pt x="303684" y="141976"/>
                  <a:pt x="142594" y="211015"/>
                </a:cubicBezTo>
                <a:cubicBezTo>
                  <a:pt x="110468" y="224783"/>
                  <a:pt x="80071" y="242277"/>
                  <a:pt x="48809" y="257908"/>
                </a:cubicBezTo>
                <a:cubicBezTo>
                  <a:pt x="33989" y="302368"/>
                  <a:pt x="6824" y="377869"/>
                  <a:pt x="1917" y="422031"/>
                </a:cubicBezTo>
                <a:cubicBezTo>
                  <a:pt x="-2398" y="460869"/>
                  <a:pt x="1917" y="500185"/>
                  <a:pt x="1917" y="539262"/>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latin typeface="Roboto" panose="02000000000000000000" pitchFamily="2" charset="0"/>
              <a:ea typeface="Roboto" panose="02000000000000000000" pitchFamily="2" charset="0"/>
            </a:endParaRPr>
          </a:p>
        </p:txBody>
      </p:sp>
      <p:sp>
        <p:nvSpPr>
          <p:cNvPr id="19" name="Freeform: Shape 18">
            <a:extLst>
              <a:ext uri="{FF2B5EF4-FFF2-40B4-BE49-F238E27FC236}">
                <a16:creationId xmlns:a16="http://schemas.microsoft.com/office/drawing/2014/main" id="{EE117C04-2164-5E76-8B67-10F399304899}"/>
              </a:ext>
            </a:extLst>
          </p:cNvPr>
          <p:cNvSpPr/>
          <p:nvPr/>
        </p:nvSpPr>
        <p:spPr>
          <a:xfrm>
            <a:off x="2016908" y="3434949"/>
            <a:ext cx="4770049" cy="2477132"/>
          </a:xfrm>
          <a:custGeom>
            <a:avLst/>
            <a:gdLst>
              <a:gd name="connsiteX0" fmla="*/ 9542584 w 9542584"/>
              <a:gd name="connsiteY0" fmla="*/ 492369 h 4955554"/>
              <a:gd name="connsiteX1" fmla="*/ 9425354 w 9542584"/>
              <a:gd name="connsiteY1" fmla="*/ 468923 h 4955554"/>
              <a:gd name="connsiteX2" fmla="*/ 9050215 w 9542584"/>
              <a:gd name="connsiteY2" fmla="*/ 328246 h 4955554"/>
              <a:gd name="connsiteX3" fmla="*/ 8440615 w 9542584"/>
              <a:gd name="connsiteY3" fmla="*/ 257907 h 4955554"/>
              <a:gd name="connsiteX4" fmla="*/ 8229600 w 9542584"/>
              <a:gd name="connsiteY4" fmla="*/ 234461 h 4955554"/>
              <a:gd name="connsiteX5" fmla="*/ 7596554 w 9542584"/>
              <a:gd name="connsiteY5" fmla="*/ 164123 h 4955554"/>
              <a:gd name="connsiteX6" fmla="*/ 7104184 w 9542584"/>
              <a:gd name="connsiteY6" fmla="*/ 117231 h 4955554"/>
              <a:gd name="connsiteX7" fmla="*/ 6940061 w 9542584"/>
              <a:gd name="connsiteY7" fmla="*/ 93784 h 4955554"/>
              <a:gd name="connsiteX8" fmla="*/ 6494584 w 9542584"/>
              <a:gd name="connsiteY8" fmla="*/ 70338 h 4955554"/>
              <a:gd name="connsiteX9" fmla="*/ 5791200 w 9542584"/>
              <a:gd name="connsiteY9" fmla="*/ 23446 h 4955554"/>
              <a:gd name="connsiteX10" fmla="*/ 5392615 w 9542584"/>
              <a:gd name="connsiteY10" fmla="*/ 0 h 4955554"/>
              <a:gd name="connsiteX11" fmla="*/ 3938954 w 9542584"/>
              <a:gd name="connsiteY11" fmla="*/ 23446 h 4955554"/>
              <a:gd name="connsiteX12" fmla="*/ 3423138 w 9542584"/>
              <a:gd name="connsiteY12" fmla="*/ 117231 h 4955554"/>
              <a:gd name="connsiteX13" fmla="*/ 3094892 w 9542584"/>
              <a:gd name="connsiteY13" fmla="*/ 164123 h 4955554"/>
              <a:gd name="connsiteX14" fmla="*/ 2790092 w 9542584"/>
              <a:gd name="connsiteY14" fmla="*/ 211015 h 4955554"/>
              <a:gd name="connsiteX15" fmla="*/ 2461846 w 9542584"/>
              <a:gd name="connsiteY15" fmla="*/ 234461 h 4955554"/>
              <a:gd name="connsiteX16" fmla="*/ 2203938 w 9542584"/>
              <a:gd name="connsiteY16" fmla="*/ 304800 h 4955554"/>
              <a:gd name="connsiteX17" fmla="*/ 2063261 w 9542584"/>
              <a:gd name="connsiteY17" fmla="*/ 351692 h 4955554"/>
              <a:gd name="connsiteX18" fmla="*/ 1899138 w 9542584"/>
              <a:gd name="connsiteY18" fmla="*/ 398584 h 4955554"/>
              <a:gd name="connsiteX19" fmla="*/ 1688123 w 9542584"/>
              <a:gd name="connsiteY19" fmla="*/ 492369 h 4955554"/>
              <a:gd name="connsiteX20" fmla="*/ 1617784 w 9542584"/>
              <a:gd name="connsiteY20" fmla="*/ 539261 h 4955554"/>
              <a:gd name="connsiteX21" fmla="*/ 1524000 w 9542584"/>
              <a:gd name="connsiteY21" fmla="*/ 562707 h 4955554"/>
              <a:gd name="connsiteX22" fmla="*/ 1430215 w 9542584"/>
              <a:gd name="connsiteY22" fmla="*/ 609600 h 4955554"/>
              <a:gd name="connsiteX23" fmla="*/ 1336431 w 9542584"/>
              <a:gd name="connsiteY23" fmla="*/ 633046 h 4955554"/>
              <a:gd name="connsiteX24" fmla="*/ 1266092 w 9542584"/>
              <a:gd name="connsiteY24" fmla="*/ 679938 h 4955554"/>
              <a:gd name="connsiteX25" fmla="*/ 1101969 w 9542584"/>
              <a:gd name="connsiteY25" fmla="*/ 797169 h 4955554"/>
              <a:gd name="connsiteX26" fmla="*/ 1008184 w 9542584"/>
              <a:gd name="connsiteY26" fmla="*/ 844061 h 4955554"/>
              <a:gd name="connsiteX27" fmla="*/ 937846 w 9542584"/>
              <a:gd name="connsiteY27" fmla="*/ 890954 h 4955554"/>
              <a:gd name="connsiteX28" fmla="*/ 867508 w 9542584"/>
              <a:gd name="connsiteY28" fmla="*/ 914400 h 4955554"/>
              <a:gd name="connsiteX29" fmla="*/ 703384 w 9542584"/>
              <a:gd name="connsiteY29" fmla="*/ 984738 h 4955554"/>
              <a:gd name="connsiteX30" fmla="*/ 633046 w 9542584"/>
              <a:gd name="connsiteY30" fmla="*/ 1055077 h 4955554"/>
              <a:gd name="connsiteX31" fmla="*/ 539261 w 9542584"/>
              <a:gd name="connsiteY31" fmla="*/ 1125415 h 4955554"/>
              <a:gd name="connsiteX32" fmla="*/ 492369 w 9542584"/>
              <a:gd name="connsiteY32" fmla="*/ 1195754 h 4955554"/>
              <a:gd name="connsiteX33" fmla="*/ 422031 w 9542584"/>
              <a:gd name="connsiteY33" fmla="*/ 1312984 h 4955554"/>
              <a:gd name="connsiteX34" fmla="*/ 211015 w 9542584"/>
              <a:gd name="connsiteY34" fmla="*/ 1524000 h 4955554"/>
              <a:gd name="connsiteX35" fmla="*/ 164123 w 9542584"/>
              <a:gd name="connsiteY35" fmla="*/ 1641231 h 4955554"/>
              <a:gd name="connsiteX36" fmla="*/ 117231 w 9542584"/>
              <a:gd name="connsiteY36" fmla="*/ 1735015 h 4955554"/>
              <a:gd name="connsiteX37" fmla="*/ 70338 w 9542584"/>
              <a:gd name="connsiteY37" fmla="*/ 1875692 h 4955554"/>
              <a:gd name="connsiteX38" fmla="*/ 23446 w 9542584"/>
              <a:gd name="connsiteY38" fmla="*/ 2719754 h 4955554"/>
              <a:gd name="connsiteX39" fmla="*/ 0 w 9542584"/>
              <a:gd name="connsiteY39" fmla="*/ 3071446 h 4955554"/>
              <a:gd name="connsiteX40" fmla="*/ 23446 w 9542584"/>
              <a:gd name="connsiteY40" fmla="*/ 4337538 h 4955554"/>
              <a:gd name="connsiteX41" fmla="*/ 140677 w 9542584"/>
              <a:gd name="connsiteY41" fmla="*/ 4548554 h 4955554"/>
              <a:gd name="connsiteX42" fmla="*/ 234461 w 9542584"/>
              <a:gd name="connsiteY42" fmla="*/ 4618892 h 4955554"/>
              <a:gd name="connsiteX43" fmla="*/ 304800 w 9542584"/>
              <a:gd name="connsiteY43" fmla="*/ 4642338 h 4955554"/>
              <a:gd name="connsiteX44" fmla="*/ 539261 w 9542584"/>
              <a:gd name="connsiteY44" fmla="*/ 4806461 h 4955554"/>
              <a:gd name="connsiteX45" fmla="*/ 633046 w 9542584"/>
              <a:gd name="connsiteY45" fmla="*/ 4853354 h 4955554"/>
              <a:gd name="connsiteX46" fmla="*/ 773723 w 9542584"/>
              <a:gd name="connsiteY46" fmla="*/ 4876800 h 4955554"/>
              <a:gd name="connsiteX47" fmla="*/ 1312984 w 9542584"/>
              <a:gd name="connsiteY47" fmla="*/ 4900246 h 4955554"/>
              <a:gd name="connsiteX48" fmla="*/ 2063261 w 9542584"/>
              <a:gd name="connsiteY48" fmla="*/ 4900246 h 4955554"/>
              <a:gd name="connsiteX49" fmla="*/ 2180492 w 9542584"/>
              <a:gd name="connsiteY49" fmla="*/ 4876800 h 4955554"/>
              <a:gd name="connsiteX50" fmla="*/ 2250831 w 9542584"/>
              <a:gd name="connsiteY50" fmla="*/ 4853354 h 4955554"/>
              <a:gd name="connsiteX51" fmla="*/ 2602523 w 9542584"/>
              <a:gd name="connsiteY51" fmla="*/ 4829907 h 4955554"/>
              <a:gd name="connsiteX52" fmla="*/ 2743200 w 9542584"/>
              <a:gd name="connsiteY52" fmla="*/ 4783015 h 4955554"/>
              <a:gd name="connsiteX53" fmla="*/ 3094892 w 9542584"/>
              <a:gd name="connsiteY53" fmla="*/ 4712677 h 4955554"/>
              <a:gd name="connsiteX54" fmla="*/ 3329354 w 9542584"/>
              <a:gd name="connsiteY54" fmla="*/ 4665784 h 4955554"/>
              <a:gd name="connsiteX55" fmla="*/ 3446584 w 9542584"/>
              <a:gd name="connsiteY55" fmla="*/ 4642338 h 4955554"/>
              <a:gd name="connsiteX56" fmla="*/ 3704492 w 9542584"/>
              <a:gd name="connsiteY56" fmla="*/ 4572000 h 4955554"/>
              <a:gd name="connsiteX57" fmla="*/ 4923692 w 9542584"/>
              <a:gd name="connsiteY57" fmla="*/ 4595446 h 4955554"/>
              <a:gd name="connsiteX58" fmla="*/ 5087815 w 9542584"/>
              <a:gd name="connsiteY58" fmla="*/ 4618892 h 4955554"/>
              <a:gd name="connsiteX59" fmla="*/ 5322277 w 9542584"/>
              <a:gd name="connsiteY59" fmla="*/ 4642338 h 4955554"/>
              <a:gd name="connsiteX60" fmla="*/ 5580184 w 9542584"/>
              <a:gd name="connsiteY60" fmla="*/ 4689231 h 4955554"/>
              <a:gd name="connsiteX61" fmla="*/ 5884984 w 9542584"/>
              <a:gd name="connsiteY61" fmla="*/ 4712677 h 4955554"/>
              <a:gd name="connsiteX62" fmla="*/ 6189784 w 9542584"/>
              <a:gd name="connsiteY62" fmla="*/ 4759569 h 4955554"/>
              <a:gd name="connsiteX63" fmla="*/ 6353908 w 9542584"/>
              <a:gd name="connsiteY63" fmla="*/ 4783015 h 4955554"/>
              <a:gd name="connsiteX64" fmla="*/ 6541477 w 9542584"/>
              <a:gd name="connsiteY64" fmla="*/ 4806461 h 4955554"/>
              <a:gd name="connsiteX65" fmla="*/ 6986954 w 9542584"/>
              <a:gd name="connsiteY65" fmla="*/ 4876800 h 4955554"/>
              <a:gd name="connsiteX66" fmla="*/ 7268308 w 9542584"/>
              <a:gd name="connsiteY66" fmla="*/ 4900246 h 4955554"/>
              <a:gd name="connsiteX67" fmla="*/ 7455877 w 9542584"/>
              <a:gd name="connsiteY67" fmla="*/ 4923692 h 4955554"/>
              <a:gd name="connsiteX68" fmla="*/ 8088923 w 9542584"/>
              <a:gd name="connsiteY68" fmla="*/ 4947138 h 4955554"/>
              <a:gd name="connsiteX69" fmla="*/ 8604738 w 9542584"/>
              <a:gd name="connsiteY69" fmla="*/ 4923692 h 4955554"/>
              <a:gd name="connsiteX70" fmla="*/ 8721969 w 9542584"/>
              <a:gd name="connsiteY70" fmla="*/ 4900246 h 4955554"/>
              <a:gd name="connsiteX71" fmla="*/ 8815754 w 9542584"/>
              <a:gd name="connsiteY71" fmla="*/ 4853354 h 4955554"/>
              <a:gd name="connsiteX72" fmla="*/ 9073661 w 9542584"/>
              <a:gd name="connsiteY72" fmla="*/ 4572000 h 4955554"/>
              <a:gd name="connsiteX73" fmla="*/ 9167446 w 9542584"/>
              <a:gd name="connsiteY73" fmla="*/ 4337538 h 4955554"/>
              <a:gd name="connsiteX74" fmla="*/ 9214338 w 9542584"/>
              <a:gd name="connsiteY74" fmla="*/ 4267200 h 4955554"/>
              <a:gd name="connsiteX75" fmla="*/ 9261231 w 9542584"/>
              <a:gd name="connsiteY75" fmla="*/ 4149969 h 4955554"/>
              <a:gd name="connsiteX76" fmla="*/ 9308123 w 9542584"/>
              <a:gd name="connsiteY76" fmla="*/ 4009292 h 4955554"/>
              <a:gd name="connsiteX77" fmla="*/ 9355015 w 9542584"/>
              <a:gd name="connsiteY77" fmla="*/ 3915507 h 4955554"/>
              <a:gd name="connsiteX78" fmla="*/ 9378461 w 9542584"/>
              <a:gd name="connsiteY78" fmla="*/ 3704492 h 4955554"/>
              <a:gd name="connsiteX79" fmla="*/ 9401908 w 9542584"/>
              <a:gd name="connsiteY79" fmla="*/ 3540369 h 4955554"/>
              <a:gd name="connsiteX80" fmla="*/ 9425354 w 9542584"/>
              <a:gd name="connsiteY80" fmla="*/ 3235569 h 4955554"/>
              <a:gd name="connsiteX81" fmla="*/ 9448800 w 9542584"/>
              <a:gd name="connsiteY81" fmla="*/ 1312984 h 4955554"/>
              <a:gd name="connsiteX82" fmla="*/ 9472246 w 9542584"/>
              <a:gd name="connsiteY82" fmla="*/ 1219200 h 4955554"/>
              <a:gd name="connsiteX83" fmla="*/ 9495692 w 9542584"/>
              <a:gd name="connsiteY83" fmla="*/ 515815 h 495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542584" h="4955554">
                <a:moveTo>
                  <a:pt x="9542584" y="492369"/>
                </a:moveTo>
                <a:cubicBezTo>
                  <a:pt x="9503507" y="484554"/>
                  <a:pt x="9463160" y="481525"/>
                  <a:pt x="9425354" y="468923"/>
                </a:cubicBezTo>
                <a:cubicBezTo>
                  <a:pt x="9175533" y="385649"/>
                  <a:pt x="9339558" y="397137"/>
                  <a:pt x="9050215" y="328246"/>
                </a:cubicBezTo>
                <a:cubicBezTo>
                  <a:pt x="8807093" y="270360"/>
                  <a:pt x="8694754" y="280006"/>
                  <a:pt x="8440615" y="257907"/>
                </a:cubicBezTo>
                <a:cubicBezTo>
                  <a:pt x="8370110" y="251776"/>
                  <a:pt x="8299938" y="242276"/>
                  <a:pt x="8229600" y="234461"/>
                </a:cubicBezTo>
                <a:cubicBezTo>
                  <a:pt x="7869529" y="144444"/>
                  <a:pt x="8171556" y="207248"/>
                  <a:pt x="7596554" y="164123"/>
                </a:cubicBezTo>
                <a:cubicBezTo>
                  <a:pt x="7432150" y="151793"/>
                  <a:pt x="7267393" y="140547"/>
                  <a:pt x="7104184" y="117231"/>
                </a:cubicBezTo>
                <a:cubicBezTo>
                  <a:pt x="7049476" y="109415"/>
                  <a:pt x="6995161" y="98023"/>
                  <a:pt x="6940061" y="93784"/>
                </a:cubicBezTo>
                <a:cubicBezTo>
                  <a:pt x="6791801" y="82379"/>
                  <a:pt x="6643004" y="79425"/>
                  <a:pt x="6494584" y="70338"/>
                </a:cubicBezTo>
                <a:lnTo>
                  <a:pt x="5791200" y="23446"/>
                </a:lnTo>
                <a:lnTo>
                  <a:pt x="5392615" y="0"/>
                </a:lnTo>
                <a:cubicBezTo>
                  <a:pt x="4908061" y="7815"/>
                  <a:pt x="4423222" y="5056"/>
                  <a:pt x="3938954" y="23446"/>
                </a:cubicBezTo>
                <a:cubicBezTo>
                  <a:pt x="2859191" y="64449"/>
                  <a:pt x="3865731" y="24053"/>
                  <a:pt x="3423138" y="117231"/>
                </a:cubicBezTo>
                <a:cubicBezTo>
                  <a:pt x="3314983" y="140001"/>
                  <a:pt x="3204195" y="147728"/>
                  <a:pt x="3094892" y="164123"/>
                </a:cubicBezTo>
                <a:cubicBezTo>
                  <a:pt x="2998271" y="178616"/>
                  <a:pt x="2886694" y="201815"/>
                  <a:pt x="2790092" y="211015"/>
                </a:cubicBezTo>
                <a:cubicBezTo>
                  <a:pt x="2680892" y="221415"/>
                  <a:pt x="2571261" y="226646"/>
                  <a:pt x="2461846" y="234461"/>
                </a:cubicBezTo>
                <a:cubicBezTo>
                  <a:pt x="2036762" y="376158"/>
                  <a:pt x="2568455" y="205387"/>
                  <a:pt x="2203938" y="304800"/>
                </a:cubicBezTo>
                <a:cubicBezTo>
                  <a:pt x="2156251" y="317805"/>
                  <a:pt x="2110605" y="337489"/>
                  <a:pt x="2063261" y="351692"/>
                </a:cubicBezTo>
                <a:cubicBezTo>
                  <a:pt x="1940103" y="388639"/>
                  <a:pt x="2004187" y="359190"/>
                  <a:pt x="1899138" y="398584"/>
                </a:cubicBezTo>
                <a:cubicBezTo>
                  <a:pt x="1826063" y="425987"/>
                  <a:pt x="1755933" y="453621"/>
                  <a:pt x="1688123" y="492369"/>
                </a:cubicBezTo>
                <a:cubicBezTo>
                  <a:pt x="1663657" y="506350"/>
                  <a:pt x="1643684" y="528161"/>
                  <a:pt x="1617784" y="539261"/>
                </a:cubicBezTo>
                <a:cubicBezTo>
                  <a:pt x="1588166" y="551954"/>
                  <a:pt x="1555261" y="554892"/>
                  <a:pt x="1524000" y="562707"/>
                </a:cubicBezTo>
                <a:cubicBezTo>
                  <a:pt x="1492738" y="578338"/>
                  <a:pt x="1462941" y="597328"/>
                  <a:pt x="1430215" y="609600"/>
                </a:cubicBezTo>
                <a:cubicBezTo>
                  <a:pt x="1400043" y="620914"/>
                  <a:pt x="1366049" y="620353"/>
                  <a:pt x="1336431" y="633046"/>
                </a:cubicBezTo>
                <a:cubicBezTo>
                  <a:pt x="1310531" y="644146"/>
                  <a:pt x="1289022" y="663559"/>
                  <a:pt x="1266092" y="679938"/>
                </a:cubicBezTo>
                <a:cubicBezTo>
                  <a:pt x="1215757" y="715892"/>
                  <a:pt x="1157235" y="765589"/>
                  <a:pt x="1101969" y="797169"/>
                </a:cubicBezTo>
                <a:cubicBezTo>
                  <a:pt x="1071622" y="814510"/>
                  <a:pt x="1038530" y="826720"/>
                  <a:pt x="1008184" y="844061"/>
                </a:cubicBezTo>
                <a:cubicBezTo>
                  <a:pt x="983718" y="858042"/>
                  <a:pt x="963050" y="878352"/>
                  <a:pt x="937846" y="890954"/>
                </a:cubicBezTo>
                <a:cubicBezTo>
                  <a:pt x="915741" y="902007"/>
                  <a:pt x="890224" y="904665"/>
                  <a:pt x="867508" y="914400"/>
                </a:cubicBezTo>
                <a:cubicBezTo>
                  <a:pt x="664705" y="1001315"/>
                  <a:pt x="868338" y="929754"/>
                  <a:pt x="703384" y="984738"/>
                </a:cubicBezTo>
                <a:cubicBezTo>
                  <a:pt x="679938" y="1008184"/>
                  <a:pt x="658221" y="1033498"/>
                  <a:pt x="633046" y="1055077"/>
                </a:cubicBezTo>
                <a:cubicBezTo>
                  <a:pt x="603377" y="1080508"/>
                  <a:pt x="566893" y="1097783"/>
                  <a:pt x="539261" y="1125415"/>
                </a:cubicBezTo>
                <a:cubicBezTo>
                  <a:pt x="519336" y="1145340"/>
                  <a:pt x="507304" y="1171858"/>
                  <a:pt x="492369" y="1195754"/>
                </a:cubicBezTo>
                <a:cubicBezTo>
                  <a:pt x="468217" y="1234398"/>
                  <a:pt x="451688" y="1278384"/>
                  <a:pt x="422031" y="1312984"/>
                </a:cubicBezTo>
                <a:cubicBezTo>
                  <a:pt x="357294" y="1388510"/>
                  <a:pt x="211015" y="1524000"/>
                  <a:pt x="211015" y="1524000"/>
                </a:cubicBezTo>
                <a:cubicBezTo>
                  <a:pt x="195384" y="1563077"/>
                  <a:pt x="181216" y="1602771"/>
                  <a:pt x="164123" y="1641231"/>
                </a:cubicBezTo>
                <a:cubicBezTo>
                  <a:pt x="149928" y="1673170"/>
                  <a:pt x="130212" y="1702564"/>
                  <a:pt x="117231" y="1735015"/>
                </a:cubicBezTo>
                <a:cubicBezTo>
                  <a:pt x="98873" y="1780909"/>
                  <a:pt x="85969" y="1828800"/>
                  <a:pt x="70338" y="1875692"/>
                </a:cubicBezTo>
                <a:cubicBezTo>
                  <a:pt x="-2503" y="3041151"/>
                  <a:pt x="102654" y="1333602"/>
                  <a:pt x="23446" y="2719754"/>
                </a:cubicBezTo>
                <a:cubicBezTo>
                  <a:pt x="16743" y="2837054"/>
                  <a:pt x="7815" y="2954215"/>
                  <a:pt x="0" y="3071446"/>
                </a:cubicBezTo>
                <a:cubicBezTo>
                  <a:pt x="7815" y="3493477"/>
                  <a:pt x="8899" y="3915686"/>
                  <a:pt x="23446" y="4337538"/>
                </a:cubicBezTo>
                <a:cubicBezTo>
                  <a:pt x="26348" y="4421693"/>
                  <a:pt x="78322" y="4496591"/>
                  <a:pt x="140677" y="4548554"/>
                </a:cubicBezTo>
                <a:cubicBezTo>
                  <a:pt x="170697" y="4573570"/>
                  <a:pt x="200533" y="4599505"/>
                  <a:pt x="234461" y="4618892"/>
                </a:cubicBezTo>
                <a:cubicBezTo>
                  <a:pt x="255919" y="4631154"/>
                  <a:pt x="281354" y="4634523"/>
                  <a:pt x="304800" y="4642338"/>
                </a:cubicBezTo>
                <a:cubicBezTo>
                  <a:pt x="363619" y="4686453"/>
                  <a:pt x="481521" y="4777591"/>
                  <a:pt x="539261" y="4806461"/>
                </a:cubicBezTo>
                <a:cubicBezTo>
                  <a:pt x="570523" y="4822092"/>
                  <a:pt x="599568" y="4843311"/>
                  <a:pt x="633046" y="4853354"/>
                </a:cubicBezTo>
                <a:cubicBezTo>
                  <a:pt x="678580" y="4867014"/>
                  <a:pt x="726297" y="4873529"/>
                  <a:pt x="773723" y="4876800"/>
                </a:cubicBezTo>
                <a:cubicBezTo>
                  <a:pt x="953220" y="4889179"/>
                  <a:pt x="1133230" y="4892431"/>
                  <a:pt x="1312984" y="4900246"/>
                </a:cubicBezTo>
                <a:cubicBezTo>
                  <a:pt x="1683154" y="4992787"/>
                  <a:pt x="1436329" y="4952490"/>
                  <a:pt x="2063261" y="4900246"/>
                </a:cubicBezTo>
                <a:cubicBezTo>
                  <a:pt x="2102338" y="4892431"/>
                  <a:pt x="2141831" y="4886465"/>
                  <a:pt x="2180492" y="4876800"/>
                </a:cubicBezTo>
                <a:cubicBezTo>
                  <a:pt x="2204469" y="4870806"/>
                  <a:pt x="2226268" y="4856083"/>
                  <a:pt x="2250831" y="4853354"/>
                </a:cubicBezTo>
                <a:cubicBezTo>
                  <a:pt x="2367603" y="4840379"/>
                  <a:pt x="2485292" y="4837723"/>
                  <a:pt x="2602523" y="4829907"/>
                </a:cubicBezTo>
                <a:cubicBezTo>
                  <a:pt x="2649415" y="4814276"/>
                  <a:pt x="2695247" y="4795003"/>
                  <a:pt x="2743200" y="4783015"/>
                </a:cubicBezTo>
                <a:cubicBezTo>
                  <a:pt x="2743211" y="4783012"/>
                  <a:pt x="3036271" y="4724401"/>
                  <a:pt x="3094892" y="4712677"/>
                </a:cubicBezTo>
                <a:lnTo>
                  <a:pt x="3329354" y="4665784"/>
                </a:lnTo>
                <a:cubicBezTo>
                  <a:pt x="3368431" y="4657969"/>
                  <a:pt x="3408778" y="4654940"/>
                  <a:pt x="3446584" y="4642338"/>
                </a:cubicBezTo>
                <a:cubicBezTo>
                  <a:pt x="3625067" y="4582844"/>
                  <a:pt x="3538792" y="4605140"/>
                  <a:pt x="3704492" y="4572000"/>
                </a:cubicBezTo>
                <a:lnTo>
                  <a:pt x="4923692" y="4595446"/>
                </a:lnTo>
                <a:cubicBezTo>
                  <a:pt x="4978923" y="4597318"/>
                  <a:pt x="5032930" y="4612435"/>
                  <a:pt x="5087815" y="4618892"/>
                </a:cubicBezTo>
                <a:cubicBezTo>
                  <a:pt x="5165821" y="4628069"/>
                  <a:pt x="5244523" y="4631230"/>
                  <a:pt x="5322277" y="4642338"/>
                </a:cubicBezTo>
                <a:cubicBezTo>
                  <a:pt x="5408777" y="4654695"/>
                  <a:pt x="5493480" y="4678393"/>
                  <a:pt x="5580184" y="4689231"/>
                </a:cubicBezTo>
                <a:cubicBezTo>
                  <a:pt x="5681297" y="4701870"/>
                  <a:pt x="5783590" y="4702538"/>
                  <a:pt x="5884984" y="4712677"/>
                </a:cubicBezTo>
                <a:cubicBezTo>
                  <a:pt x="5982115" y="4722390"/>
                  <a:pt x="6092708" y="4744634"/>
                  <a:pt x="6189784" y="4759569"/>
                </a:cubicBezTo>
                <a:cubicBezTo>
                  <a:pt x="6244405" y="4767972"/>
                  <a:pt x="6299129" y="4775711"/>
                  <a:pt x="6353908" y="4783015"/>
                </a:cubicBezTo>
                <a:cubicBezTo>
                  <a:pt x="6416365" y="4791343"/>
                  <a:pt x="6479165" y="4797114"/>
                  <a:pt x="6541477" y="4806461"/>
                </a:cubicBezTo>
                <a:cubicBezTo>
                  <a:pt x="6629125" y="4819608"/>
                  <a:pt x="6872981" y="4864803"/>
                  <a:pt x="6986954" y="4876800"/>
                </a:cubicBezTo>
                <a:cubicBezTo>
                  <a:pt x="7080547" y="4886652"/>
                  <a:pt x="7174665" y="4890882"/>
                  <a:pt x="7268308" y="4900246"/>
                </a:cubicBezTo>
                <a:cubicBezTo>
                  <a:pt x="7331005" y="4906516"/>
                  <a:pt x="7392970" y="4920097"/>
                  <a:pt x="7455877" y="4923692"/>
                </a:cubicBezTo>
                <a:cubicBezTo>
                  <a:pt x="7666693" y="4935739"/>
                  <a:pt x="7877908" y="4939323"/>
                  <a:pt x="8088923" y="4947138"/>
                </a:cubicBezTo>
                <a:cubicBezTo>
                  <a:pt x="8260861" y="4939323"/>
                  <a:pt x="8433092" y="4936406"/>
                  <a:pt x="8604738" y="4923692"/>
                </a:cubicBezTo>
                <a:cubicBezTo>
                  <a:pt x="8644480" y="4920748"/>
                  <a:pt x="8684163" y="4912848"/>
                  <a:pt x="8721969" y="4900246"/>
                </a:cubicBezTo>
                <a:cubicBezTo>
                  <a:pt x="8755127" y="4889193"/>
                  <a:pt x="8786115" y="4871878"/>
                  <a:pt x="8815754" y="4853354"/>
                </a:cubicBezTo>
                <a:cubicBezTo>
                  <a:pt x="8924498" y="4785389"/>
                  <a:pt x="9016147" y="4687027"/>
                  <a:pt x="9073661" y="4572000"/>
                </a:cubicBezTo>
                <a:cubicBezTo>
                  <a:pt x="9111305" y="4496712"/>
                  <a:pt x="9120754" y="4407575"/>
                  <a:pt x="9167446" y="4337538"/>
                </a:cubicBezTo>
                <a:cubicBezTo>
                  <a:pt x="9183077" y="4314092"/>
                  <a:pt x="9201736" y="4292404"/>
                  <a:pt x="9214338" y="4267200"/>
                </a:cubicBezTo>
                <a:cubicBezTo>
                  <a:pt x="9233160" y="4229556"/>
                  <a:pt x="9246848" y="4189522"/>
                  <a:pt x="9261231" y="4149969"/>
                </a:cubicBezTo>
                <a:cubicBezTo>
                  <a:pt x="9278123" y="4103516"/>
                  <a:pt x="9286018" y="4053503"/>
                  <a:pt x="9308123" y="4009292"/>
                </a:cubicBezTo>
                <a:lnTo>
                  <a:pt x="9355015" y="3915507"/>
                </a:lnTo>
                <a:cubicBezTo>
                  <a:pt x="9362830" y="3845169"/>
                  <a:pt x="9369683" y="3774717"/>
                  <a:pt x="9378461" y="3704492"/>
                </a:cubicBezTo>
                <a:cubicBezTo>
                  <a:pt x="9385316" y="3649656"/>
                  <a:pt x="9396409" y="3595358"/>
                  <a:pt x="9401908" y="3540369"/>
                </a:cubicBezTo>
                <a:cubicBezTo>
                  <a:pt x="9412048" y="3438975"/>
                  <a:pt x="9417539" y="3337169"/>
                  <a:pt x="9425354" y="3235569"/>
                </a:cubicBezTo>
                <a:cubicBezTo>
                  <a:pt x="9433169" y="2594707"/>
                  <a:pt x="9433899" y="1953720"/>
                  <a:pt x="9448800" y="1312984"/>
                </a:cubicBezTo>
                <a:cubicBezTo>
                  <a:pt x="9449549" y="1280769"/>
                  <a:pt x="9469676" y="1251321"/>
                  <a:pt x="9472246" y="1219200"/>
                </a:cubicBezTo>
                <a:cubicBezTo>
                  <a:pt x="9499038" y="884303"/>
                  <a:pt x="9495692" y="793651"/>
                  <a:pt x="9495692" y="515815"/>
                </a:cubicBezTo>
              </a:path>
            </a:pathLst>
          </a:custGeom>
          <a:noFill/>
          <a:ln w="50800" cap="flat">
            <a:solidFill>
              <a:srgbClr val="EE3228"/>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08" tIns="22854" rIns="45708" bIns="22854" numCol="1" spcCol="38100" rtlCol="0" anchor="t">
            <a:noAutofit/>
          </a:bodyPr>
          <a:lstStyle/>
          <a:p>
            <a:pPr algn="l" defTabSz="457109" latinLnBrk="1"/>
            <a:endParaRPr lang="en-US" sz="900">
              <a:latin typeface="Roboto" panose="02000000000000000000" pitchFamily="2" charset="0"/>
              <a:ea typeface="Roboto" panose="02000000000000000000" pitchFamily="2" charset="0"/>
            </a:endParaRPr>
          </a:p>
        </p:txBody>
      </p:sp>
      <p:sp>
        <p:nvSpPr>
          <p:cNvPr id="20" name="TextBox 19">
            <a:extLst>
              <a:ext uri="{FF2B5EF4-FFF2-40B4-BE49-F238E27FC236}">
                <a16:creationId xmlns:a16="http://schemas.microsoft.com/office/drawing/2014/main" id="{F4A18186-11C9-9381-EFC2-1CF5DA5ECAB6}"/>
              </a:ext>
            </a:extLst>
          </p:cNvPr>
          <p:cNvSpPr txBox="1"/>
          <p:nvPr/>
        </p:nvSpPr>
        <p:spPr>
          <a:xfrm>
            <a:off x="2123841" y="2932395"/>
            <a:ext cx="801921" cy="482169"/>
          </a:xfrm>
          <a:prstGeom prst="rect">
            <a:avLst/>
          </a:prstGeom>
          <a:solidFill>
            <a:schemeClr val="accent4">
              <a:lumMod val="20000"/>
              <a:lumOff val="80000"/>
            </a:schemeClr>
          </a:solidFill>
          <a:ln w="12700" cap="flat">
            <a:solidFill>
              <a:schemeClr val="accent2"/>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1400" dirty="0">
                <a:solidFill>
                  <a:schemeClr val="accent2"/>
                </a:solidFill>
                <a:latin typeface="Roboto" panose="02000000000000000000" pitchFamily="2" charset="0"/>
                <a:ea typeface="Roboto" panose="02000000000000000000" pitchFamily="2" charset="0"/>
              </a:rPr>
              <a:t>Supplier Loop</a:t>
            </a:r>
          </a:p>
        </p:txBody>
      </p:sp>
      <p:sp>
        <p:nvSpPr>
          <p:cNvPr id="22" name="TextBox 21">
            <a:extLst>
              <a:ext uri="{FF2B5EF4-FFF2-40B4-BE49-F238E27FC236}">
                <a16:creationId xmlns:a16="http://schemas.microsoft.com/office/drawing/2014/main" id="{45571E94-1BB5-5F31-323F-D1808A062DCA}"/>
              </a:ext>
            </a:extLst>
          </p:cNvPr>
          <p:cNvSpPr txBox="1"/>
          <p:nvPr/>
        </p:nvSpPr>
        <p:spPr>
          <a:xfrm>
            <a:off x="9782175" y="1754327"/>
            <a:ext cx="1010658" cy="482169"/>
          </a:xfrm>
          <a:prstGeom prst="rect">
            <a:avLst/>
          </a:prstGeom>
          <a:solidFill>
            <a:srgbClr val="FFB627"/>
          </a:solidFill>
          <a:ln w="12700" cap="flat">
            <a:solidFill>
              <a:schemeClr val="accent2"/>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1400" dirty="0">
                <a:solidFill>
                  <a:srgbClr val="191C25"/>
                </a:solidFill>
                <a:latin typeface="Roboto" panose="02000000000000000000" pitchFamily="2" charset="0"/>
                <a:ea typeface="Roboto" panose="02000000000000000000" pitchFamily="2" charset="0"/>
              </a:rPr>
              <a:t>Information Loop</a:t>
            </a:r>
          </a:p>
        </p:txBody>
      </p:sp>
      <p:sp>
        <p:nvSpPr>
          <p:cNvPr id="23" name="TextBox 22">
            <a:extLst>
              <a:ext uri="{FF2B5EF4-FFF2-40B4-BE49-F238E27FC236}">
                <a16:creationId xmlns:a16="http://schemas.microsoft.com/office/drawing/2014/main" id="{EAEEC748-DB3E-2775-6A5A-BEFB965257B4}"/>
              </a:ext>
            </a:extLst>
          </p:cNvPr>
          <p:cNvSpPr txBox="1"/>
          <p:nvPr/>
        </p:nvSpPr>
        <p:spPr>
          <a:xfrm>
            <a:off x="7677795" y="4151981"/>
            <a:ext cx="1010658" cy="482169"/>
          </a:xfrm>
          <a:prstGeom prst="rect">
            <a:avLst/>
          </a:prstGeom>
          <a:solidFill>
            <a:schemeClr val="accent4">
              <a:lumMod val="20000"/>
              <a:lumOff val="80000"/>
            </a:schemeClr>
          </a:solidFill>
          <a:ln w="12700" cap="flat">
            <a:solidFill>
              <a:schemeClr val="accent2"/>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1400" dirty="0">
                <a:solidFill>
                  <a:schemeClr val="accent2"/>
                </a:solidFill>
                <a:latin typeface="Roboto" panose="02000000000000000000" pitchFamily="2" charset="0"/>
                <a:ea typeface="Roboto" panose="02000000000000000000" pitchFamily="2" charset="0"/>
              </a:rPr>
              <a:t>Pacemaker Loop</a:t>
            </a:r>
          </a:p>
        </p:txBody>
      </p:sp>
      <p:sp>
        <p:nvSpPr>
          <p:cNvPr id="24" name="TextBox 23">
            <a:extLst>
              <a:ext uri="{FF2B5EF4-FFF2-40B4-BE49-F238E27FC236}">
                <a16:creationId xmlns:a16="http://schemas.microsoft.com/office/drawing/2014/main" id="{7F19B7FF-98FC-F19D-D1C3-AE4E7B1E7FC2}"/>
              </a:ext>
            </a:extLst>
          </p:cNvPr>
          <p:cNvSpPr txBox="1"/>
          <p:nvPr/>
        </p:nvSpPr>
        <p:spPr>
          <a:xfrm>
            <a:off x="3680227" y="5006646"/>
            <a:ext cx="1290844" cy="482169"/>
          </a:xfrm>
          <a:prstGeom prst="rect">
            <a:avLst/>
          </a:prstGeom>
          <a:solidFill>
            <a:schemeClr val="accent4">
              <a:lumMod val="20000"/>
              <a:lumOff val="80000"/>
            </a:schemeClr>
          </a:solidFill>
          <a:ln w="12700" cap="flat">
            <a:solidFill>
              <a:schemeClr val="accent2"/>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t">
            <a:spAutoFit/>
          </a:bodyPr>
          <a:lstStyle/>
          <a:p>
            <a:r>
              <a:rPr lang="en-US" sz="1400" dirty="0">
                <a:solidFill>
                  <a:schemeClr val="accent2"/>
                </a:solidFill>
                <a:latin typeface="Roboto" panose="02000000000000000000" pitchFamily="2" charset="0"/>
                <a:ea typeface="Roboto" panose="02000000000000000000" pitchFamily="2" charset="0"/>
              </a:rPr>
              <a:t>Manufacturing Loop</a:t>
            </a:r>
          </a:p>
        </p:txBody>
      </p:sp>
      <p:sp>
        <p:nvSpPr>
          <p:cNvPr id="58" name="Rectangle 86">
            <a:extLst>
              <a:ext uri="{FF2B5EF4-FFF2-40B4-BE49-F238E27FC236}">
                <a16:creationId xmlns:a16="http://schemas.microsoft.com/office/drawing/2014/main" id="{71A9AD0F-21D5-9444-D387-3F865AE5DBFA}"/>
              </a:ext>
            </a:extLst>
          </p:cNvPr>
          <p:cNvSpPr>
            <a:spLocks noChangeArrowheads="1"/>
          </p:cNvSpPr>
          <p:nvPr/>
        </p:nvSpPr>
        <p:spPr bwMode="auto">
          <a:xfrm>
            <a:off x="1050658" y="2738014"/>
            <a:ext cx="4314632" cy="1446550"/>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spcBef>
                <a:spcPct val="50000"/>
              </a:spcBef>
            </a:pPr>
            <a:r>
              <a:rPr lang="en-US" altLang="en-US" sz="1600" u="sng" dirty="0">
                <a:solidFill>
                  <a:schemeClr val="tx1"/>
                </a:solidFill>
                <a:latin typeface="Roboto" panose="02000000000000000000" pitchFamily="2" charset="0"/>
                <a:ea typeface="Roboto" panose="02000000000000000000" pitchFamily="2" charset="0"/>
              </a:rPr>
              <a:t>Supplier Loop</a:t>
            </a:r>
            <a:r>
              <a:rPr lang="en-US" altLang="en-US" sz="1600" dirty="0">
                <a:solidFill>
                  <a:schemeClr val="tx1"/>
                </a:solidFill>
                <a:latin typeface="Roboto" panose="02000000000000000000" pitchFamily="2" charset="0"/>
                <a:ea typeface="Roboto" panose="02000000000000000000" pitchFamily="2" charset="0"/>
              </a:rPr>
              <a:t>:</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Since Acme is a local supplier, increase shipments to 1 x day</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Send real-time electronic </a:t>
            </a:r>
            <a:r>
              <a:rPr lang="en-US" altLang="en-US" sz="1200" dirty="0" err="1">
                <a:solidFill>
                  <a:schemeClr val="tx1"/>
                </a:solidFill>
                <a:latin typeface="Roboto" panose="02000000000000000000" pitchFamily="2" charset="0"/>
                <a:ea typeface="Roboto" panose="02000000000000000000" pitchFamily="2" charset="0"/>
              </a:rPr>
              <a:t>kanban</a:t>
            </a:r>
            <a:r>
              <a:rPr lang="en-US" altLang="en-US" sz="1200" dirty="0">
                <a:solidFill>
                  <a:schemeClr val="tx1"/>
                </a:solidFill>
                <a:latin typeface="Roboto" panose="02000000000000000000" pitchFamily="2" charset="0"/>
                <a:ea typeface="Roboto" panose="02000000000000000000" pitchFamily="2" charset="0"/>
              </a:rPr>
              <a:t> to Acme to determine exactly what to deliver each day based on consumption, also eliminating the weekly fax</a:t>
            </a:r>
          </a:p>
        </p:txBody>
      </p:sp>
      <p:sp>
        <p:nvSpPr>
          <p:cNvPr id="59" name="Rectangle 86">
            <a:extLst>
              <a:ext uri="{FF2B5EF4-FFF2-40B4-BE49-F238E27FC236}">
                <a16:creationId xmlns:a16="http://schemas.microsoft.com/office/drawing/2014/main" id="{B31901B6-2E9D-E6DE-08D0-AD1D87593A9F}"/>
              </a:ext>
            </a:extLst>
          </p:cNvPr>
          <p:cNvSpPr>
            <a:spLocks noChangeArrowheads="1"/>
          </p:cNvSpPr>
          <p:nvPr/>
        </p:nvSpPr>
        <p:spPr bwMode="auto">
          <a:xfrm>
            <a:off x="6134568" y="1875988"/>
            <a:ext cx="4960141" cy="1446550"/>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spcBef>
                <a:spcPct val="50000"/>
              </a:spcBef>
            </a:pPr>
            <a:r>
              <a:rPr lang="en-US" altLang="en-US" sz="1600" u="sng">
                <a:solidFill>
                  <a:schemeClr val="tx1"/>
                </a:solidFill>
                <a:latin typeface="Roboto" panose="02000000000000000000" pitchFamily="2" charset="0"/>
                <a:ea typeface="Roboto" panose="02000000000000000000" pitchFamily="2" charset="0"/>
              </a:rPr>
              <a:t>Information Loop</a:t>
            </a:r>
            <a:r>
              <a:rPr lang="en-US" altLang="en-US" sz="1600">
                <a:solidFill>
                  <a:schemeClr val="tx1"/>
                </a:solidFill>
                <a:latin typeface="Roboto" panose="02000000000000000000" pitchFamily="2" charset="0"/>
                <a:ea typeface="Roboto" panose="02000000000000000000" pitchFamily="2" charset="0"/>
              </a:rPr>
              <a:t>:</a:t>
            </a:r>
          </a:p>
          <a:p>
            <a:pPr marL="0" indent="0" algn="l">
              <a:spcBef>
                <a:spcPct val="50000"/>
              </a:spcBef>
            </a:pPr>
            <a:r>
              <a:rPr lang="en-US" altLang="en-US" sz="1200">
                <a:solidFill>
                  <a:schemeClr val="tx1"/>
                </a:solidFill>
                <a:latin typeface="Roboto" panose="02000000000000000000" pitchFamily="2" charset="0"/>
                <a:ea typeface="Roboto" panose="02000000000000000000" pitchFamily="2" charset="0"/>
              </a:rPr>
              <a:t>Work with the customer (Ed’s) to smooth out demand over longer periods of time, making forecasting and scheduling more stable and accurate</a:t>
            </a:r>
          </a:p>
          <a:p>
            <a:pPr marL="0" indent="0" algn="l">
              <a:spcBef>
                <a:spcPct val="50000"/>
              </a:spcBef>
            </a:pPr>
            <a:r>
              <a:rPr lang="en-US" altLang="en-US" sz="1200">
                <a:solidFill>
                  <a:schemeClr val="tx1"/>
                </a:solidFill>
                <a:latin typeface="Roboto" panose="02000000000000000000" pitchFamily="2" charset="0"/>
                <a:ea typeface="Roboto" panose="02000000000000000000" pitchFamily="2" charset="0"/>
              </a:rPr>
              <a:t>Production control role changes to long term oversight of inventories and supply chain</a:t>
            </a:r>
            <a:endParaRPr lang="en-US" altLang="en-US" sz="1200" dirty="0">
              <a:solidFill>
                <a:schemeClr val="tx1"/>
              </a:solidFill>
              <a:latin typeface="Roboto" panose="02000000000000000000" pitchFamily="2" charset="0"/>
              <a:ea typeface="Roboto" panose="02000000000000000000" pitchFamily="2" charset="0"/>
            </a:endParaRPr>
          </a:p>
        </p:txBody>
      </p:sp>
      <p:sp>
        <p:nvSpPr>
          <p:cNvPr id="60" name="Rectangle 86">
            <a:extLst>
              <a:ext uri="{FF2B5EF4-FFF2-40B4-BE49-F238E27FC236}">
                <a16:creationId xmlns:a16="http://schemas.microsoft.com/office/drawing/2014/main" id="{C7E85BFC-C0B9-6D88-BF18-ECCC8BB9BABA}"/>
              </a:ext>
            </a:extLst>
          </p:cNvPr>
          <p:cNvSpPr>
            <a:spLocks noChangeArrowheads="1"/>
          </p:cNvSpPr>
          <p:nvPr/>
        </p:nvSpPr>
        <p:spPr bwMode="auto">
          <a:xfrm>
            <a:off x="6113917" y="3452078"/>
            <a:ext cx="4960141" cy="1261884"/>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spcBef>
                <a:spcPct val="50000"/>
              </a:spcBef>
            </a:pPr>
            <a:r>
              <a:rPr lang="en-US" altLang="en-US" sz="1600" u="sng" dirty="0">
                <a:solidFill>
                  <a:schemeClr val="tx1"/>
                </a:solidFill>
                <a:latin typeface="Roboto" panose="02000000000000000000" pitchFamily="2" charset="0"/>
                <a:ea typeface="Roboto" panose="02000000000000000000" pitchFamily="2" charset="0"/>
              </a:rPr>
              <a:t>Pacemaker Loop</a:t>
            </a:r>
            <a:r>
              <a:rPr lang="en-US" altLang="en-US" sz="1600" dirty="0">
                <a:solidFill>
                  <a:schemeClr val="tx1"/>
                </a:solidFill>
                <a:latin typeface="Roboto" panose="02000000000000000000" pitchFamily="2" charset="0"/>
                <a:ea typeface="Roboto" panose="02000000000000000000" pitchFamily="2" charset="0"/>
              </a:rPr>
              <a:t>:</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Have Ed’s Electrical Supply send electronic </a:t>
            </a:r>
            <a:r>
              <a:rPr lang="en-US" altLang="en-US" sz="1200" dirty="0" err="1">
                <a:solidFill>
                  <a:schemeClr val="tx1"/>
                </a:solidFill>
                <a:latin typeface="Roboto" panose="02000000000000000000" pitchFamily="2" charset="0"/>
                <a:ea typeface="Roboto" panose="02000000000000000000" pitchFamily="2" charset="0"/>
              </a:rPr>
              <a:t>kanban</a:t>
            </a:r>
            <a:r>
              <a:rPr lang="en-US" altLang="en-US" sz="1200" dirty="0">
                <a:solidFill>
                  <a:schemeClr val="tx1"/>
                </a:solidFill>
                <a:latin typeface="Roboto" panose="02000000000000000000" pitchFamily="2" charset="0"/>
                <a:ea typeface="Roboto" panose="02000000000000000000" pitchFamily="2" charset="0"/>
              </a:rPr>
              <a:t> Withdrawal Cards to Shipping based on consumption</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Daily shipments are based on “real-time” </a:t>
            </a:r>
            <a:r>
              <a:rPr lang="en-US" altLang="en-US" sz="1200" dirty="0" err="1">
                <a:solidFill>
                  <a:schemeClr val="tx1"/>
                </a:solidFill>
                <a:latin typeface="Roboto" panose="02000000000000000000" pitchFamily="2" charset="0"/>
                <a:ea typeface="Roboto" panose="02000000000000000000" pitchFamily="2" charset="0"/>
              </a:rPr>
              <a:t>kanban</a:t>
            </a:r>
            <a:r>
              <a:rPr lang="en-US" altLang="en-US" sz="1200" dirty="0">
                <a:solidFill>
                  <a:schemeClr val="tx1"/>
                </a:solidFill>
                <a:latin typeface="Roboto" panose="02000000000000000000" pitchFamily="2" charset="0"/>
                <a:ea typeface="Roboto" panose="02000000000000000000" pitchFamily="2" charset="0"/>
              </a:rPr>
              <a:t> signals, replacing daily EDI Orders</a:t>
            </a:r>
          </a:p>
        </p:txBody>
      </p:sp>
      <p:sp>
        <p:nvSpPr>
          <p:cNvPr id="61" name="Rectangle 86">
            <a:extLst>
              <a:ext uri="{FF2B5EF4-FFF2-40B4-BE49-F238E27FC236}">
                <a16:creationId xmlns:a16="http://schemas.microsoft.com/office/drawing/2014/main" id="{ECD21E87-56FC-34CA-6989-7B9CEFC9136F}"/>
              </a:ext>
            </a:extLst>
          </p:cNvPr>
          <p:cNvSpPr>
            <a:spLocks noChangeArrowheads="1"/>
          </p:cNvSpPr>
          <p:nvPr/>
        </p:nvSpPr>
        <p:spPr bwMode="auto">
          <a:xfrm>
            <a:off x="2275250" y="4972920"/>
            <a:ext cx="4960141" cy="1261884"/>
          </a:xfrm>
          <a:prstGeom prst="rect">
            <a:avLst/>
          </a:prstGeom>
          <a:solidFill>
            <a:srgbClr val="FFB627"/>
          </a:solidFill>
          <a:ln w="12700" cap="sq">
            <a:solidFill>
              <a:schemeClr val="tx1"/>
            </a:solidFill>
            <a:miter lim="800000"/>
            <a:headEnd type="none" w="sm" len="sm"/>
            <a:tailEnd type="none" w="sm" len="sm"/>
          </a:ln>
        </p:spPr>
        <p:txBody>
          <a:bodyPr wrap="square" anchor="ct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spcBef>
                <a:spcPct val="50000"/>
              </a:spcBef>
            </a:pPr>
            <a:r>
              <a:rPr lang="en-US" altLang="en-US" sz="1600" u="sng" dirty="0">
                <a:solidFill>
                  <a:schemeClr val="tx1"/>
                </a:solidFill>
                <a:latin typeface="Roboto" panose="02000000000000000000" pitchFamily="2" charset="0"/>
                <a:ea typeface="Roboto" panose="02000000000000000000" pitchFamily="2" charset="0"/>
              </a:rPr>
              <a:t>Manufacturing Loop</a:t>
            </a:r>
            <a:r>
              <a:rPr lang="en-US" altLang="en-US" sz="1600" dirty="0">
                <a:solidFill>
                  <a:schemeClr val="tx1"/>
                </a:solidFill>
                <a:latin typeface="Roboto" panose="02000000000000000000" pitchFamily="2" charset="0"/>
                <a:ea typeface="Roboto" panose="02000000000000000000" pitchFamily="2" charset="0"/>
              </a:rPr>
              <a:t>:</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Continue to lower inventories as quality improves and demand is smoothed</a:t>
            </a:r>
          </a:p>
          <a:p>
            <a:pPr marL="0" indent="0" algn="l">
              <a:spcBef>
                <a:spcPct val="50000"/>
              </a:spcBef>
            </a:pPr>
            <a:r>
              <a:rPr lang="en-US" altLang="en-US" sz="1200" dirty="0">
                <a:solidFill>
                  <a:schemeClr val="tx1"/>
                </a:solidFill>
                <a:latin typeface="Roboto" panose="02000000000000000000" pitchFamily="2" charset="0"/>
                <a:ea typeface="Roboto" panose="02000000000000000000" pitchFamily="2" charset="0"/>
              </a:rPr>
              <a:t>(Long-term) – Have Acme deliver sheets in cut size to eliminate the Cut operation entirely</a:t>
            </a:r>
          </a:p>
        </p:txBody>
      </p:sp>
      <p:grpSp>
        <p:nvGrpSpPr>
          <p:cNvPr id="62" name="Group 61">
            <a:extLst>
              <a:ext uri="{FF2B5EF4-FFF2-40B4-BE49-F238E27FC236}">
                <a16:creationId xmlns:a16="http://schemas.microsoft.com/office/drawing/2014/main" id="{34196434-C66E-7E76-F404-532EE4439429}"/>
              </a:ext>
            </a:extLst>
          </p:cNvPr>
          <p:cNvGrpSpPr/>
          <p:nvPr/>
        </p:nvGrpSpPr>
        <p:grpSpPr>
          <a:xfrm>
            <a:off x="940004" y="321492"/>
            <a:ext cx="6217883" cy="311851"/>
            <a:chOff x="940249" y="302538"/>
            <a:chExt cx="6219503" cy="311932"/>
          </a:xfrm>
        </p:grpSpPr>
        <p:sp>
          <p:nvSpPr>
            <p:cNvPr id="63" name="TextBox 62">
              <a:extLst>
                <a:ext uri="{FF2B5EF4-FFF2-40B4-BE49-F238E27FC236}">
                  <a16:creationId xmlns:a16="http://schemas.microsoft.com/office/drawing/2014/main" id="{D6421FE4-878D-8193-D382-845E06CFC11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82" name="AutoShape 9">
              <a:extLst>
                <a:ext uri="{FF2B5EF4-FFF2-40B4-BE49-F238E27FC236}">
                  <a16:creationId xmlns:a16="http://schemas.microsoft.com/office/drawing/2014/main" id="{6E3A46A5-D839-76BE-0C42-80661A536F91}"/>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7" name="AutoShape 9">
              <a:extLst>
                <a:ext uri="{FF2B5EF4-FFF2-40B4-BE49-F238E27FC236}">
                  <a16:creationId xmlns:a16="http://schemas.microsoft.com/office/drawing/2014/main" id="{17630E7A-8AFC-05E2-6EA3-E0BC58FD5388}"/>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5" name="AutoShape 9">
              <a:extLst>
                <a:ext uri="{FF2B5EF4-FFF2-40B4-BE49-F238E27FC236}">
                  <a16:creationId xmlns:a16="http://schemas.microsoft.com/office/drawing/2014/main" id="{64F02504-75B0-9C52-3858-216A26712813}"/>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6" name="AutoShape 9">
              <a:extLst>
                <a:ext uri="{FF2B5EF4-FFF2-40B4-BE49-F238E27FC236}">
                  <a16:creationId xmlns:a16="http://schemas.microsoft.com/office/drawing/2014/main" id="{8B34FBA1-B8AC-49A4-0C4E-18BE57C5C036}"/>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8" name="AutoShape 11">
              <a:extLst>
                <a:ext uri="{FF2B5EF4-FFF2-40B4-BE49-F238E27FC236}">
                  <a16:creationId xmlns:a16="http://schemas.microsoft.com/office/drawing/2014/main" id="{440824D9-B871-9536-DA35-8243050E368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20" name="Slide Number Placeholder 2">
            <a:extLst>
              <a:ext uri="{FF2B5EF4-FFF2-40B4-BE49-F238E27FC236}">
                <a16:creationId xmlns:a16="http://schemas.microsoft.com/office/drawing/2014/main" id="{82EC9090-1089-9BF9-DC3F-850B8764F97B}"/>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162</a:t>
            </a:fld>
            <a:endParaRPr lang="en-US" dirty="0"/>
          </a:p>
        </p:txBody>
      </p:sp>
    </p:spTree>
    <p:extLst>
      <p:ext uri="{BB962C8B-B14F-4D97-AF65-F5344CB8AC3E}">
        <p14:creationId xmlns:p14="http://schemas.microsoft.com/office/powerpoint/2010/main" val="18667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8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dissolve">
                                      <p:cBhvr>
                                        <p:cTn id="24" dur="1000"/>
                                        <p:tgtEl>
                                          <p:spTgt spid="84"/>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dissolve">
                                      <p:cBhvr>
                                        <p:cTn id="33" dur="1000"/>
                                        <p:tgtEl>
                                          <p:spTgt spid="12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39"/>
                                        </p:tgtEl>
                                        <p:attrNameLst>
                                          <p:attrName>style.visibility</p:attrName>
                                        </p:attrNameLst>
                                      </p:cBhvr>
                                      <p:to>
                                        <p:strVal val="visible"/>
                                      </p:to>
                                    </p:set>
                                    <p:animEffect transition="in" filter="dissolve">
                                      <p:cBhvr>
                                        <p:cTn id="38" dur="1000"/>
                                        <p:tgtEl>
                                          <p:spTgt spid="13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71"/>
                                        </p:tgtEl>
                                        <p:attrNameLst>
                                          <p:attrName>style.visibility</p:attrName>
                                        </p:attrNameLst>
                                      </p:cBhvr>
                                      <p:to>
                                        <p:strVal val="visible"/>
                                      </p:to>
                                    </p:set>
                                    <p:animEffect transition="in" filter="dissolve">
                                      <p:cBhvr>
                                        <p:cTn id="43" dur="1000"/>
                                        <p:tgtEl>
                                          <p:spTgt spid="171"/>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02"/>
                                        </p:tgtEl>
                                        <p:attrNameLst>
                                          <p:attrName>style.visibility</p:attrName>
                                        </p:attrNameLst>
                                      </p:cBhvr>
                                      <p:to>
                                        <p:strVal val="visible"/>
                                      </p:to>
                                    </p:set>
                                    <p:animEffect transition="in" filter="dissolve">
                                      <p:cBhvr>
                                        <p:cTn id="48" dur="1000"/>
                                        <p:tgtEl>
                                          <p:spTgt spid="202"/>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dissolve">
                                      <p:cBhvr>
                                        <p:cTn id="53" dur="500"/>
                                        <p:tgtEl>
                                          <p:spTgt spid="5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59"/>
                                        </p:tgtEl>
                                        <p:attrNameLst>
                                          <p:attrName>style.visibility</p:attrName>
                                        </p:attrNameLst>
                                      </p:cBhvr>
                                      <p:to>
                                        <p:strVal val="visible"/>
                                      </p:to>
                                    </p:set>
                                    <p:animEffect transition="in" filter="dissolve">
                                      <p:cBhvr>
                                        <p:cTn id="58" dur="500"/>
                                        <p:tgtEl>
                                          <p:spTgt spid="5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60"/>
                                        </p:tgtEl>
                                        <p:attrNameLst>
                                          <p:attrName>style.visibility</p:attrName>
                                        </p:attrNameLst>
                                      </p:cBhvr>
                                      <p:to>
                                        <p:strVal val="visible"/>
                                      </p:to>
                                    </p:set>
                                    <p:animEffect transition="in" filter="dissolve">
                                      <p:cBhvr>
                                        <p:cTn id="63" dur="500"/>
                                        <p:tgtEl>
                                          <p:spTgt spid="60"/>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grpId="0" nodeType="clickEffect">
                                  <p:stCondLst>
                                    <p:cond delay="0"/>
                                  </p:stCondLst>
                                  <p:childTnLst>
                                    <p:set>
                                      <p:cBhvr>
                                        <p:cTn id="67" dur="1" fill="hold">
                                          <p:stCondLst>
                                            <p:cond delay="0"/>
                                          </p:stCondLst>
                                        </p:cTn>
                                        <p:tgtEl>
                                          <p:spTgt spid="61"/>
                                        </p:tgtEl>
                                        <p:attrNameLst>
                                          <p:attrName>style.visibility</p:attrName>
                                        </p:attrNameLst>
                                      </p:cBhvr>
                                      <p:to>
                                        <p:strVal val="visible"/>
                                      </p:to>
                                    </p:set>
                                    <p:animEffect transition="in" filter="dissolve">
                                      <p:cBhvr>
                                        <p:cTn id="68"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7" grpId="0"/>
      <p:bldP spid="83" grpId="0" animBg="1"/>
      <p:bldP spid="75" grpId="0"/>
      <p:bldP spid="58" grpId="0" animBg="1"/>
      <p:bldP spid="59" grpId="0" animBg="1"/>
      <p:bldP spid="60" grpId="0" animBg="1"/>
      <p:bldP spid="61"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fontScale="90000"/>
          </a:bodyPr>
          <a:lstStyle/>
          <a:p>
            <a:r>
              <a:rPr lang="en-US" altLang="en-US" dirty="0">
                <a:latin typeface="Roboto Medium" panose="02000000000000000000" pitchFamily="2" charset="0"/>
                <a:ea typeface="Roboto Medium" panose="02000000000000000000" pitchFamily="2" charset="0"/>
                <a:cs typeface="Roboto Medium" panose="02000000000000000000" pitchFamily="2" charset="0"/>
              </a:rPr>
              <a:t>Value Stream Mapping Roadmap to Success</a:t>
            </a:r>
            <a:endParaRPr lang="en-US" dirty="0">
              <a:latin typeface="Roboto Medium" panose="02000000000000000000" pitchFamily="2" charset="0"/>
              <a:ea typeface="Roboto Medium" panose="02000000000000000000" pitchFamily="2" charset="0"/>
              <a:cs typeface="Roboto Medium" panose="02000000000000000000" pitchFamily="2" charset="0"/>
            </a:endParaRPr>
          </a:p>
        </p:txBody>
      </p:sp>
      <p:grpSp>
        <p:nvGrpSpPr>
          <p:cNvPr id="216" name="Group 215">
            <a:extLst>
              <a:ext uri="{FF2B5EF4-FFF2-40B4-BE49-F238E27FC236}">
                <a16:creationId xmlns:a16="http://schemas.microsoft.com/office/drawing/2014/main" id="{22BC8C04-E8DA-55EC-B443-A2002E47A8C0}"/>
              </a:ext>
            </a:extLst>
          </p:cNvPr>
          <p:cNvGrpSpPr/>
          <p:nvPr/>
        </p:nvGrpSpPr>
        <p:grpSpPr>
          <a:xfrm>
            <a:off x="1188122" y="1903228"/>
            <a:ext cx="10358836" cy="4109838"/>
            <a:chOff x="414338" y="1624013"/>
            <a:chExt cx="8324850" cy="4124324"/>
          </a:xfrm>
        </p:grpSpPr>
        <p:grpSp>
          <p:nvGrpSpPr>
            <p:cNvPr id="62" name="Group 2">
              <a:extLst>
                <a:ext uri="{FF2B5EF4-FFF2-40B4-BE49-F238E27FC236}">
                  <a16:creationId xmlns:a16="http://schemas.microsoft.com/office/drawing/2014/main" id="{5404ED43-6BB1-C9DA-9D36-D7C2F1C554DB}"/>
                </a:ext>
              </a:extLst>
            </p:cNvPr>
            <p:cNvGrpSpPr>
              <a:grpSpLocks/>
            </p:cNvGrpSpPr>
            <p:nvPr/>
          </p:nvGrpSpPr>
          <p:grpSpPr bwMode="auto">
            <a:xfrm>
              <a:off x="2205038" y="1624013"/>
              <a:ext cx="6534150" cy="2776537"/>
              <a:chOff x="1389" y="1410"/>
              <a:chExt cx="4116" cy="1795"/>
            </a:xfrm>
          </p:grpSpPr>
          <p:sp>
            <p:nvSpPr>
              <p:cNvPr id="63" name="Rectangle 3">
                <a:extLst>
                  <a:ext uri="{FF2B5EF4-FFF2-40B4-BE49-F238E27FC236}">
                    <a16:creationId xmlns:a16="http://schemas.microsoft.com/office/drawing/2014/main" id="{1D83F69D-3F9C-0829-B6BC-EADCDFF0D7CC}"/>
                  </a:ext>
                </a:extLst>
              </p:cNvPr>
              <p:cNvSpPr>
                <a:spLocks noChangeArrowheads="1"/>
              </p:cNvSpPr>
              <p:nvPr/>
            </p:nvSpPr>
            <p:spPr bwMode="auto">
              <a:xfrm>
                <a:off x="1389" y="1410"/>
                <a:ext cx="4116" cy="1795"/>
              </a:xfrm>
              <a:prstGeom prst="rect">
                <a:avLst/>
              </a:prstGeom>
              <a:solidFill>
                <a:srgbClr val="EAEAEA"/>
              </a:solidFill>
              <a:ln w="12700" cap="sq">
                <a:no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sp>
            <p:nvSpPr>
              <p:cNvPr id="82" name="Text Box 4">
                <a:extLst>
                  <a:ext uri="{FF2B5EF4-FFF2-40B4-BE49-F238E27FC236}">
                    <a16:creationId xmlns:a16="http://schemas.microsoft.com/office/drawing/2014/main" id="{CDDEBA1F-B1B7-2B22-0F5E-2240F1CE5EEC}"/>
                  </a:ext>
                </a:extLst>
              </p:cNvPr>
              <p:cNvSpPr txBox="1">
                <a:spLocks noChangeArrowheads="1"/>
              </p:cNvSpPr>
              <p:nvPr/>
            </p:nvSpPr>
            <p:spPr bwMode="auto">
              <a:xfrm>
                <a:off x="2435" y="1507"/>
                <a:ext cx="2052" cy="220"/>
              </a:xfrm>
              <a:prstGeom prst="rect">
                <a:avLst/>
              </a:prstGeom>
              <a:solidFill>
                <a:srgbClr val="EAEAEA"/>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rgbClr val="191C25"/>
                    </a:solidFill>
                    <a:latin typeface="Roboto" panose="02000000000000000000"/>
                  </a:rPr>
                  <a:t>Repeat for each identified Value Stream</a:t>
                </a:r>
              </a:p>
            </p:txBody>
          </p:sp>
        </p:grpSp>
        <p:sp>
          <p:nvSpPr>
            <p:cNvPr id="107" name="Oval 6">
              <a:extLst>
                <a:ext uri="{FF2B5EF4-FFF2-40B4-BE49-F238E27FC236}">
                  <a16:creationId xmlns:a16="http://schemas.microsoft.com/office/drawing/2014/main" id="{43A88BA8-BE66-16DD-95F8-ECEA92630631}"/>
                </a:ext>
              </a:extLst>
            </p:cNvPr>
            <p:cNvSpPr>
              <a:spLocks noChangeArrowheads="1"/>
            </p:cNvSpPr>
            <p:nvPr/>
          </p:nvSpPr>
          <p:spPr bwMode="auto">
            <a:xfrm>
              <a:off x="7662863" y="3070225"/>
              <a:ext cx="976312" cy="1052513"/>
            </a:xfrm>
            <a:prstGeom prst="ellipse">
              <a:avLst/>
            </a:prstGeom>
            <a:solidFill>
              <a:srgbClr val="FFB627"/>
            </a:solidFill>
            <a:ln w="6350">
              <a:solidFill>
                <a:schemeClr val="tx1"/>
              </a:solidFill>
              <a:round/>
              <a:headEnd/>
              <a:tailEnd/>
            </a:ln>
          </p:spPr>
          <p:txBody>
            <a:bodyPr wrap="none" lIns="22854" rIns="22854" anchor="ctr"/>
            <a:lstStyle>
              <a:lvl1pPr marL="101600" indent="-101600">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buClr>
                  <a:schemeClr val="folHlink"/>
                </a:buClr>
              </a:pPr>
              <a:r>
                <a:rPr lang="en-GB" altLang="en-US" sz="1400" dirty="0">
                  <a:solidFill>
                    <a:srgbClr val="191C25"/>
                  </a:solidFill>
                  <a:latin typeface="Roboto" panose="02000000000000000000"/>
                </a:rPr>
                <a:t>Repeat</a:t>
              </a:r>
            </a:p>
            <a:p>
              <a:pPr algn="ctr">
                <a:lnSpc>
                  <a:spcPct val="100000"/>
                </a:lnSpc>
                <a:spcBef>
                  <a:spcPct val="30000"/>
                </a:spcBef>
                <a:buClr>
                  <a:schemeClr val="folHlink"/>
                </a:buClr>
              </a:pPr>
              <a:r>
                <a:rPr lang="en-GB" altLang="en-US" sz="1400" dirty="0">
                  <a:solidFill>
                    <a:srgbClr val="191C25"/>
                  </a:solidFill>
                  <a:latin typeface="Roboto" panose="02000000000000000000"/>
                </a:rPr>
                <a:t>Cycle</a:t>
              </a:r>
              <a:endParaRPr lang="en-GB" altLang="en-US" sz="1400" b="0" dirty="0">
                <a:solidFill>
                  <a:srgbClr val="191C25"/>
                </a:solidFill>
                <a:latin typeface="Roboto" panose="02000000000000000000"/>
              </a:endParaRPr>
            </a:p>
          </p:txBody>
        </p:sp>
        <p:sp>
          <p:nvSpPr>
            <p:cNvPr id="115" name="Rectangle 7">
              <a:extLst>
                <a:ext uri="{FF2B5EF4-FFF2-40B4-BE49-F238E27FC236}">
                  <a16:creationId xmlns:a16="http://schemas.microsoft.com/office/drawing/2014/main" id="{6695E173-DB18-B1C8-957D-4F7968946EB1}"/>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dirty="0">
                  <a:solidFill>
                    <a:schemeClr val="tx1"/>
                  </a:solidFill>
                  <a:latin typeface="Roboto" panose="02000000000000000000"/>
                </a:rPr>
                <a:t>Site Assessment</a:t>
              </a:r>
            </a:p>
          </p:txBody>
        </p:sp>
        <p:sp>
          <p:nvSpPr>
            <p:cNvPr id="116" name="Rectangle 8">
              <a:extLst>
                <a:ext uri="{FF2B5EF4-FFF2-40B4-BE49-F238E27FC236}">
                  <a16:creationId xmlns:a16="http://schemas.microsoft.com/office/drawing/2014/main" id="{F5308832-AABC-9B09-A10E-4E9686AD3E0D}"/>
                </a:ext>
              </a:extLst>
            </p:cNvPr>
            <p:cNvSpPr>
              <a:spLocks noChangeArrowheads="1"/>
            </p:cNvSpPr>
            <p:nvPr/>
          </p:nvSpPr>
          <p:spPr bwMode="auto">
            <a:xfrm>
              <a:off x="512763" y="2800350"/>
              <a:ext cx="1522412" cy="252413"/>
            </a:xfrm>
            <a:prstGeom prst="rect">
              <a:avLst/>
            </a:prstGeom>
            <a:solidFill>
              <a:srgbClr val="EE3228"/>
            </a:solidFill>
            <a:ln w="12700" cap="sq">
              <a:solidFill>
                <a:schemeClr val="tx1"/>
              </a:solidFill>
              <a:miter lim="800000"/>
              <a:headEnd/>
              <a:tailEnd/>
            </a:ln>
          </p:spPr>
          <p:txBody>
            <a:bodyPr wrap="none"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dirty="0">
                  <a:latin typeface="Roboto" panose="02000000000000000000"/>
                </a:rPr>
                <a:t>PROCESS STEP 1</a:t>
              </a:r>
            </a:p>
          </p:txBody>
        </p:sp>
        <p:sp>
          <p:nvSpPr>
            <p:cNvPr id="118" name="Rectangle 9">
              <a:extLst>
                <a:ext uri="{FF2B5EF4-FFF2-40B4-BE49-F238E27FC236}">
                  <a16:creationId xmlns:a16="http://schemas.microsoft.com/office/drawing/2014/main" id="{30D175CE-13C6-45AC-7940-2F9551038789}"/>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dirty="0">
                  <a:solidFill>
                    <a:schemeClr val="tx1"/>
                  </a:solidFill>
                  <a:latin typeface="Roboto" panose="02000000000000000000"/>
                </a:rPr>
                <a:t>VSM Event</a:t>
              </a:r>
              <a:br>
                <a:rPr lang="en-US" altLang="en-US" sz="1400" dirty="0">
                  <a:solidFill>
                    <a:schemeClr val="tx1"/>
                  </a:solidFill>
                  <a:latin typeface="Roboto" panose="02000000000000000000"/>
                </a:rPr>
              </a:br>
              <a:r>
                <a:rPr lang="en-US" altLang="en-US" sz="1400" dirty="0">
                  <a:solidFill>
                    <a:schemeClr val="tx1"/>
                  </a:solidFill>
                  <a:latin typeface="Roboto" panose="02000000000000000000"/>
                </a:rPr>
                <a:t>Preparation</a:t>
              </a:r>
            </a:p>
          </p:txBody>
        </p:sp>
        <p:sp>
          <p:nvSpPr>
            <p:cNvPr id="120" name="Rectangle 10">
              <a:extLst>
                <a:ext uri="{FF2B5EF4-FFF2-40B4-BE49-F238E27FC236}">
                  <a16:creationId xmlns:a16="http://schemas.microsoft.com/office/drawing/2014/main" id="{DE404452-11C1-31A1-E430-CD92897ACDCD}"/>
                </a:ext>
              </a:extLst>
            </p:cNvPr>
            <p:cNvSpPr>
              <a:spLocks noChangeArrowheads="1"/>
            </p:cNvSpPr>
            <p:nvPr/>
          </p:nvSpPr>
          <p:spPr bwMode="auto">
            <a:xfrm>
              <a:off x="2308225" y="2795588"/>
              <a:ext cx="1522413" cy="252412"/>
            </a:xfrm>
            <a:prstGeom prst="rect">
              <a:avLst/>
            </a:prstGeom>
            <a:solidFill>
              <a:srgbClr val="EE3228"/>
            </a:solidFill>
            <a:ln w="12700" cap="sq">
              <a:solidFill>
                <a:schemeClr val="tx1"/>
              </a:solidFill>
              <a:miter lim="800000"/>
              <a:headEnd/>
              <a:tailEnd/>
            </a:ln>
          </p:spPr>
          <p:txBody>
            <a:bodyPr wrap="none"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a:rPr>
                <a:t>PROCESS STEP 2</a:t>
              </a:r>
            </a:p>
          </p:txBody>
        </p:sp>
        <p:sp>
          <p:nvSpPr>
            <p:cNvPr id="182" name="Rectangle 11">
              <a:extLst>
                <a:ext uri="{FF2B5EF4-FFF2-40B4-BE49-F238E27FC236}">
                  <a16:creationId xmlns:a16="http://schemas.microsoft.com/office/drawing/2014/main" id="{0B8688AE-F05D-401B-006B-EF4F872F933F}"/>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dirty="0">
                  <a:solidFill>
                    <a:schemeClr val="tx1"/>
                  </a:solidFill>
                  <a:latin typeface="Roboto" panose="02000000000000000000"/>
                </a:rPr>
                <a:t>Conduct</a:t>
              </a:r>
              <a:br>
                <a:rPr lang="en-US" altLang="en-US" sz="1400" dirty="0">
                  <a:solidFill>
                    <a:schemeClr val="tx1"/>
                  </a:solidFill>
                  <a:latin typeface="Roboto" panose="02000000000000000000"/>
                </a:rPr>
              </a:br>
              <a:r>
                <a:rPr lang="en-US" altLang="en-US" sz="1400" dirty="0">
                  <a:solidFill>
                    <a:schemeClr val="tx1"/>
                  </a:solidFill>
                  <a:latin typeface="Roboto" panose="02000000000000000000"/>
                </a:rPr>
                <a:t>VSM Event</a:t>
              </a:r>
            </a:p>
          </p:txBody>
        </p:sp>
        <p:sp>
          <p:nvSpPr>
            <p:cNvPr id="183" name="Rectangle 12">
              <a:extLst>
                <a:ext uri="{FF2B5EF4-FFF2-40B4-BE49-F238E27FC236}">
                  <a16:creationId xmlns:a16="http://schemas.microsoft.com/office/drawing/2014/main" id="{442DBFAF-D43E-8F13-4241-9EE11431A448}"/>
                </a:ext>
              </a:extLst>
            </p:cNvPr>
            <p:cNvSpPr>
              <a:spLocks noChangeArrowheads="1"/>
            </p:cNvSpPr>
            <p:nvPr/>
          </p:nvSpPr>
          <p:spPr bwMode="auto">
            <a:xfrm>
              <a:off x="4122738" y="2795588"/>
              <a:ext cx="1522412" cy="252412"/>
            </a:xfrm>
            <a:prstGeom prst="rect">
              <a:avLst/>
            </a:prstGeom>
            <a:solidFill>
              <a:srgbClr val="EE3228"/>
            </a:solidFill>
            <a:ln w="12700" cap="sq">
              <a:solidFill>
                <a:schemeClr val="tx1"/>
              </a:solidFill>
              <a:miter lim="800000"/>
              <a:headEnd/>
              <a:tailEnd/>
            </a:ln>
          </p:spPr>
          <p:txBody>
            <a:bodyPr wrap="none"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a:rPr>
                <a:t>PROCESS STEP 3</a:t>
              </a:r>
            </a:p>
          </p:txBody>
        </p:sp>
        <p:sp>
          <p:nvSpPr>
            <p:cNvPr id="184" name="Rectangle 13">
              <a:extLst>
                <a:ext uri="{FF2B5EF4-FFF2-40B4-BE49-F238E27FC236}">
                  <a16:creationId xmlns:a16="http://schemas.microsoft.com/office/drawing/2014/main" id="{DAD2E85E-0224-382D-EE98-127D192E5DC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dirty="0">
                  <a:solidFill>
                    <a:schemeClr val="tx1"/>
                  </a:solidFill>
                  <a:latin typeface="Roboto" panose="02000000000000000000"/>
                </a:rPr>
                <a:t>Implement</a:t>
              </a:r>
              <a:br>
                <a:rPr lang="en-US" altLang="en-US" sz="1400" dirty="0">
                  <a:solidFill>
                    <a:schemeClr val="tx1"/>
                  </a:solidFill>
                  <a:latin typeface="Roboto" panose="02000000000000000000"/>
                </a:rPr>
              </a:br>
              <a:r>
                <a:rPr lang="en-US" altLang="en-US" sz="1400" dirty="0">
                  <a:solidFill>
                    <a:schemeClr val="tx1"/>
                  </a:solidFill>
                  <a:latin typeface="Roboto" panose="02000000000000000000"/>
                </a:rPr>
                <a:t>VS Plan</a:t>
              </a:r>
            </a:p>
          </p:txBody>
        </p:sp>
        <p:sp>
          <p:nvSpPr>
            <p:cNvPr id="185" name="Rectangle 14">
              <a:extLst>
                <a:ext uri="{FF2B5EF4-FFF2-40B4-BE49-F238E27FC236}">
                  <a16:creationId xmlns:a16="http://schemas.microsoft.com/office/drawing/2014/main" id="{EE418E74-3CDE-5D8D-A15A-A55F19DA511C}"/>
                </a:ext>
              </a:extLst>
            </p:cNvPr>
            <p:cNvSpPr>
              <a:spLocks noChangeArrowheads="1"/>
            </p:cNvSpPr>
            <p:nvPr/>
          </p:nvSpPr>
          <p:spPr bwMode="auto">
            <a:xfrm>
              <a:off x="5937250" y="2795588"/>
              <a:ext cx="1522413" cy="252412"/>
            </a:xfrm>
            <a:prstGeom prst="rect">
              <a:avLst/>
            </a:prstGeom>
            <a:solidFill>
              <a:srgbClr val="EE3228"/>
            </a:solidFill>
            <a:ln w="12700" cap="sq">
              <a:solidFill>
                <a:schemeClr val="tx1"/>
              </a:solidFill>
              <a:miter lim="800000"/>
              <a:headEnd/>
              <a:tailEnd/>
            </a:ln>
          </p:spPr>
          <p:txBody>
            <a:bodyPr wrap="none"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a:rPr>
                <a:t>PROCESS STEP 4</a:t>
              </a:r>
            </a:p>
          </p:txBody>
        </p:sp>
        <p:cxnSp>
          <p:nvCxnSpPr>
            <p:cNvPr id="206" name="AutoShape 15">
              <a:extLst>
                <a:ext uri="{FF2B5EF4-FFF2-40B4-BE49-F238E27FC236}">
                  <a16:creationId xmlns:a16="http://schemas.microsoft.com/office/drawing/2014/main" id="{6CE79DF9-E0C1-0ACA-41DF-F815B1059479}"/>
                </a:ext>
              </a:extLst>
            </p:cNvPr>
            <p:cNvCxnSpPr>
              <a:cxnSpLocks noChangeShapeType="1"/>
              <a:stCxn id="115" idx="3"/>
              <a:endCxn id="118"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7" name="AutoShape 16">
              <a:extLst>
                <a:ext uri="{FF2B5EF4-FFF2-40B4-BE49-F238E27FC236}">
                  <a16:creationId xmlns:a16="http://schemas.microsoft.com/office/drawing/2014/main" id="{2CFD6065-9DD2-C6A7-E03A-0B1D6B8D54D5}"/>
                </a:ext>
              </a:extLst>
            </p:cNvPr>
            <p:cNvCxnSpPr>
              <a:cxnSpLocks noChangeShapeType="1"/>
              <a:stCxn id="118" idx="3"/>
              <a:endCxn id="18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8" name="AutoShape 17">
              <a:extLst>
                <a:ext uri="{FF2B5EF4-FFF2-40B4-BE49-F238E27FC236}">
                  <a16:creationId xmlns:a16="http://schemas.microsoft.com/office/drawing/2014/main" id="{B7F92D4A-D3D5-B37B-36E2-1E37253B71FC}"/>
                </a:ext>
              </a:extLst>
            </p:cNvPr>
            <p:cNvCxnSpPr>
              <a:cxnSpLocks noChangeShapeType="1"/>
              <a:stCxn id="182" idx="3"/>
              <a:endCxn id="18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9" name="AutoShape 18">
              <a:extLst>
                <a:ext uri="{FF2B5EF4-FFF2-40B4-BE49-F238E27FC236}">
                  <a16:creationId xmlns:a16="http://schemas.microsoft.com/office/drawing/2014/main" id="{D8635EA4-62C5-2C53-3564-03F40B0BC9E4}"/>
                </a:ext>
              </a:extLst>
            </p:cNvPr>
            <p:cNvCxnSpPr>
              <a:cxnSpLocks noChangeShapeType="1"/>
              <a:stCxn id="184" idx="3"/>
              <a:endCxn id="10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10" name="AutoShape 19">
              <a:extLst>
                <a:ext uri="{FF2B5EF4-FFF2-40B4-BE49-F238E27FC236}">
                  <a16:creationId xmlns:a16="http://schemas.microsoft.com/office/drawing/2014/main" id="{5A74D23A-77E7-F85D-C606-7F04D65370E8}"/>
                </a:ext>
              </a:extLst>
            </p:cNvPr>
            <p:cNvCxnSpPr>
              <a:cxnSpLocks noChangeShapeType="1"/>
              <a:stCxn id="107" idx="0"/>
              <a:endCxn id="120" idx="0"/>
            </p:cNvCxnSpPr>
            <p:nvPr/>
          </p:nvCxnSpPr>
          <p:spPr bwMode="auto">
            <a:xfrm rot="5400000" flipH="1">
              <a:off x="5473700" y="392113"/>
              <a:ext cx="274637" cy="5081588"/>
            </a:xfrm>
            <a:prstGeom prst="bentConnector3">
              <a:avLst>
                <a:gd name="adj1" fmla="val 261269"/>
              </a:avLst>
            </a:prstGeom>
            <a:noFill/>
            <a:ln w="38100" cap="sq">
              <a:solidFill>
                <a:srgbClr val="EE3228"/>
              </a:solidFill>
              <a:miter lim="800000"/>
              <a:headEnd/>
              <a:tailEnd type="triangle" w="med" len="med"/>
            </a:ln>
            <a:extLst>
              <a:ext uri="{909E8E84-426E-40DD-AFC4-6F175D3DCCD1}">
                <a14:hiddenFill xmlns:a14="http://schemas.microsoft.com/office/drawing/2010/main">
                  <a:noFill/>
                </a14:hiddenFill>
              </a:ext>
            </a:extLst>
          </p:spPr>
        </p:cxnSp>
        <p:sp>
          <p:nvSpPr>
            <p:cNvPr id="211" name="Rectangle 20">
              <a:extLst>
                <a:ext uri="{FF2B5EF4-FFF2-40B4-BE49-F238E27FC236}">
                  <a16:creationId xmlns:a16="http://schemas.microsoft.com/office/drawing/2014/main" id="{AAEBA55A-1268-C6A7-C4C7-37A7AC09DE19}"/>
                </a:ext>
              </a:extLst>
            </p:cNvPr>
            <p:cNvSpPr>
              <a:spLocks noChangeArrowheads="1"/>
            </p:cNvSpPr>
            <p:nvPr/>
          </p:nvSpPr>
          <p:spPr bwMode="auto">
            <a:xfrm>
              <a:off x="414338" y="4378325"/>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Identify Strategic Value Streams and Product Families</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Plan VSM Events</a:t>
              </a:r>
            </a:p>
          </p:txBody>
        </p:sp>
        <p:sp>
          <p:nvSpPr>
            <p:cNvPr id="212" name="Rectangle 21">
              <a:extLst>
                <a:ext uri="{FF2B5EF4-FFF2-40B4-BE49-F238E27FC236}">
                  <a16:creationId xmlns:a16="http://schemas.microsoft.com/office/drawing/2014/main" id="{2AC2979A-79F4-BCC1-6A87-E6D3C70749FD}"/>
                </a:ext>
              </a:extLst>
            </p:cNvPr>
            <p:cNvSpPr>
              <a:spLocks noChangeArrowheads="1"/>
            </p:cNvSpPr>
            <p:nvPr/>
          </p:nvSpPr>
          <p:spPr bwMode="auto">
            <a:xfrm>
              <a:off x="22431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rgbClr val="FF0000"/>
                </a:buClr>
                <a:buSzPct val="90000"/>
                <a:buFont typeface="Arial" panose="020B0604020202020204" pitchFamily="34" charset="0"/>
                <a:buChar char="•"/>
              </a:pPr>
              <a:r>
                <a:rPr lang="en-US" altLang="en-US" sz="1400" b="0" dirty="0">
                  <a:solidFill>
                    <a:srgbClr val="191C25"/>
                  </a:solidFill>
                  <a:latin typeface="Roboto" panose="02000000000000000000"/>
                </a:rPr>
                <a:t>Complete Intro to Lean</a:t>
              </a:r>
            </a:p>
            <a:p>
              <a:pPr algn="l" eaLnBrk="1" hangingPunct="1">
                <a:lnSpc>
                  <a:spcPct val="100000"/>
                </a:lnSpc>
                <a:spcBef>
                  <a:spcPct val="30000"/>
                </a:spcBef>
                <a:buClr>
                  <a:srgbClr val="FF0000"/>
                </a:buClr>
                <a:buSzPct val="90000"/>
                <a:buFont typeface="Arial" panose="020B0604020202020204" pitchFamily="34" charset="0"/>
                <a:buChar char="•"/>
              </a:pPr>
              <a:r>
                <a:rPr lang="en-US" altLang="en-US" sz="1400" b="0" dirty="0">
                  <a:solidFill>
                    <a:srgbClr val="191C25"/>
                  </a:solidFill>
                  <a:latin typeface="Roboto" panose="02000000000000000000"/>
                </a:rPr>
                <a:t>Select Value Stream and Product Family</a:t>
              </a:r>
            </a:p>
            <a:p>
              <a:pPr algn="l" eaLnBrk="1" hangingPunct="1">
                <a:lnSpc>
                  <a:spcPct val="100000"/>
                </a:lnSpc>
                <a:spcBef>
                  <a:spcPct val="30000"/>
                </a:spcBef>
                <a:buClr>
                  <a:srgbClr val="FF0000"/>
                </a:buClr>
                <a:buSzPct val="90000"/>
                <a:buFont typeface="Arial" panose="020B0604020202020204" pitchFamily="34" charset="0"/>
                <a:buChar char="•"/>
              </a:pPr>
              <a:r>
                <a:rPr lang="en-US" altLang="en-US" sz="1400" b="0" dirty="0">
                  <a:solidFill>
                    <a:srgbClr val="191C25"/>
                  </a:solidFill>
                  <a:latin typeface="Roboto" panose="02000000000000000000"/>
                </a:rPr>
                <a:t>Confirm VSM Team</a:t>
              </a:r>
            </a:p>
            <a:p>
              <a:pPr algn="l" eaLnBrk="1" hangingPunct="1">
                <a:lnSpc>
                  <a:spcPct val="100000"/>
                </a:lnSpc>
                <a:spcBef>
                  <a:spcPct val="30000"/>
                </a:spcBef>
                <a:buClr>
                  <a:srgbClr val="FF0000"/>
                </a:buClr>
                <a:buSzPct val="90000"/>
                <a:buFont typeface="Arial" panose="020B0604020202020204" pitchFamily="34" charset="0"/>
                <a:buChar char="•"/>
              </a:pPr>
              <a:r>
                <a:rPr lang="en-US" altLang="en-US" sz="1400" b="0" dirty="0">
                  <a:solidFill>
                    <a:srgbClr val="191C25"/>
                  </a:solidFill>
                  <a:latin typeface="Roboto" panose="02000000000000000000"/>
                </a:rPr>
                <a:t>Plan logistics for VSM Event</a:t>
              </a:r>
            </a:p>
          </p:txBody>
        </p:sp>
        <p:sp>
          <p:nvSpPr>
            <p:cNvPr id="213" name="Rectangle 22">
              <a:extLst>
                <a:ext uri="{FF2B5EF4-FFF2-40B4-BE49-F238E27FC236}">
                  <a16:creationId xmlns:a16="http://schemas.microsoft.com/office/drawing/2014/main" id="{0B92E646-33CD-0A1E-4E8A-14D65E0DB1E3}"/>
                </a:ext>
              </a:extLst>
            </p:cNvPr>
            <p:cNvSpPr>
              <a:spLocks noChangeArrowheads="1"/>
            </p:cNvSpPr>
            <p:nvPr/>
          </p:nvSpPr>
          <p:spPr bwMode="auto">
            <a:xfrm>
              <a:off x="40084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Current State VSM</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Future State VSM</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Value stream Plan complete</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Site Plan updated</a:t>
              </a:r>
            </a:p>
          </p:txBody>
        </p:sp>
        <p:sp>
          <p:nvSpPr>
            <p:cNvPr id="214" name="Rectangle 23">
              <a:extLst>
                <a:ext uri="{FF2B5EF4-FFF2-40B4-BE49-F238E27FC236}">
                  <a16:creationId xmlns:a16="http://schemas.microsoft.com/office/drawing/2014/main" id="{8A9F8915-C0B1-5862-F012-8F4761D8C566}"/>
                </a:ext>
              </a:extLst>
            </p:cNvPr>
            <p:cNvSpPr>
              <a:spLocks noChangeArrowheads="1"/>
            </p:cNvSpPr>
            <p:nvPr/>
          </p:nvSpPr>
          <p:spPr bwMode="auto">
            <a:xfrm>
              <a:off x="5849938" y="4378325"/>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Plan kaizen events that link to VS Plan</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Train Kaizen Teams</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Conduct kaizen events and measure results</a:t>
              </a:r>
            </a:p>
            <a:p>
              <a:pPr algn="l" eaLnBrk="1" hangingPunct="1">
                <a:lnSpc>
                  <a:spcPct val="100000"/>
                </a:lnSpc>
                <a:spcBef>
                  <a:spcPct val="30000"/>
                </a:spcBef>
                <a:buClr>
                  <a:srgbClr val="EE3228"/>
                </a:buClr>
                <a:buSzPct val="90000"/>
                <a:buFont typeface="Arial" panose="020B0604020202020204" pitchFamily="34" charset="0"/>
                <a:buChar char="•"/>
              </a:pPr>
              <a:r>
                <a:rPr lang="en-US" altLang="en-US" sz="1400" b="0" dirty="0">
                  <a:solidFill>
                    <a:srgbClr val="191C25"/>
                  </a:solidFill>
                  <a:latin typeface="Roboto" panose="02000000000000000000"/>
                </a:rPr>
                <a:t>Manage VS Plan to completion</a:t>
              </a:r>
            </a:p>
          </p:txBody>
        </p:sp>
        <p:sp>
          <p:nvSpPr>
            <p:cNvPr id="215" name="Rectangle 24">
              <a:extLst>
                <a:ext uri="{FF2B5EF4-FFF2-40B4-BE49-F238E27FC236}">
                  <a16:creationId xmlns:a16="http://schemas.microsoft.com/office/drawing/2014/main" id="{095E68A4-302B-38CE-E670-91DD87CB5BA2}"/>
                </a:ext>
              </a:extLst>
            </p:cNvPr>
            <p:cNvSpPr>
              <a:spLocks noChangeArrowheads="1"/>
            </p:cNvSpPr>
            <p:nvPr/>
          </p:nvSpPr>
          <p:spPr bwMode="auto">
            <a:xfrm>
              <a:off x="3903663" y="5445123"/>
              <a:ext cx="2032000" cy="303214"/>
            </a:xfrm>
            <a:prstGeom prst="rect">
              <a:avLst/>
            </a:prstGeom>
            <a:noFill/>
            <a:ln w="38100" cap="sq">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latin typeface="Roboto" panose="02000000000000000000"/>
              </a:endParaRPr>
            </a:p>
          </p:txBody>
        </p:sp>
      </p:grpSp>
      <p:grpSp>
        <p:nvGrpSpPr>
          <p:cNvPr id="3" name="Group 2">
            <a:extLst>
              <a:ext uri="{FF2B5EF4-FFF2-40B4-BE49-F238E27FC236}">
                <a16:creationId xmlns:a16="http://schemas.microsoft.com/office/drawing/2014/main" id="{EF21E6BD-C401-C51B-15BF-568CAAB5BA24}"/>
              </a:ext>
            </a:extLst>
          </p:cNvPr>
          <p:cNvGrpSpPr/>
          <p:nvPr/>
        </p:nvGrpSpPr>
        <p:grpSpPr>
          <a:xfrm>
            <a:off x="940004" y="321492"/>
            <a:ext cx="6217883" cy="311851"/>
            <a:chOff x="940249" y="302538"/>
            <a:chExt cx="6219503" cy="311932"/>
          </a:xfrm>
        </p:grpSpPr>
        <p:sp>
          <p:nvSpPr>
            <p:cNvPr id="4" name="TextBox 3">
              <a:extLst>
                <a:ext uri="{FF2B5EF4-FFF2-40B4-BE49-F238E27FC236}">
                  <a16:creationId xmlns:a16="http://schemas.microsoft.com/office/drawing/2014/main" id="{EDAED75B-7FA9-CECE-B87C-A67B512423D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5" name="AutoShape 9">
              <a:extLst>
                <a:ext uri="{FF2B5EF4-FFF2-40B4-BE49-F238E27FC236}">
                  <a16:creationId xmlns:a16="http://schemas.microsoft.com/office/drawing/2014/main" id="{93AB510A-FF1F-A9C9-E19F-F205C2A307F6}"/>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 name="AutoShape 9">
              <a:extLst>
                <a:ext uri="{FF2B5EF4-FFF2-40B4-BE49-F238E27FC236}">
                  <a16:creationId xmlns:a16="http://schemas.microsoft.com/office/drawing/2014/main" id="{AACE2F23-9DF4-BDF7-606E-13D02EFEFF5B}"/>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E42960F1-AB6B-7B7C-718A-52CC073E3832}"/>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F14349AD-571B-3488-E776-3432D7221E9B}"/>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11">
              <a:extLst>
                <a:ext uri="{FF2B5EF4-FFF2-40B4-BE49-F238E27FC236}">
                  <a16:creationId xmlns:a16="http://schemas.microsoft.com/office/drawing/2014/main" id="{8FFF69A4-29B5-BABD-117B-B3D33926EEA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0" name="Slide Number Placeholder 2">
            <a:extLst>
              <a:ext uri="{FF2B5EF4-FFF2-40B4-BE49-F238E27FC236}">
                <a16:creationId xmlns:a16="http://schemas.microsoft.com/office/drawing/2014/main" id="{A4BD7BF9-0E34-153E-90AD-F4CB4C0C2C56}"/>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163</a:t>
            </a:fld>
            <a:endParaRPr lang="en-US" dirty="0"/>
          </a:p>
        </p:txBody>
      </p:sp>
    </p:spTree>
    <p:extLst>
      <p:ext uri="{BB962C8B-B14F-4D97-AF65-F5344CB8AC3E}">
        <p14:creationId xmlns:p14="http://schemas.microsoft.com/office/powerpoint/2010/main" val="829067616"/>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6D2EB-53B5-01D5-F593-58D7320B3043}"/>
              </a:ext>
            </a:extLst>
          </p:cNvPr>
          <p:cNvSpPr>
            <a:spLocks noGrp="1"/>
          </p:cNvSpPr>
          <p:nvPr>
            <p:ph type="title"/>
          </p:nvPr>
        </p:nvSpPr>
        <p:spPr/>
        <p:txBody>
          <a:bodyPr>
            <a:normAutofit/>
          </a:bodyPr>
          <a:lstStyle/>
          <a:p>
            <a:r>
              <a:rPr lang="en-US" altLang="en-US" dirty="0"/>
              <a:t>Site Plan</a:t>
            </a:r>
            <a:endParaRPr lang="en-US" dirty="0"/>
          </a:p>
        </p:txBody>
      </p:sp>
      <p:sp>
        <p:nvSpPr>
          <p:cNvPr id="3" name="Rectangle 3">
            <a:extLst>
              <a:ext uri="{FF2B5EF4-FFF2-40B4-BE49-F238E27FC236}">
                <a16:creationId xmlns:a16="http://schemas.microsoft.com/office/drawing/2014/main" id="{9907DDE2-8264-AB4F-87E0-0B90CD2FCD25}"/>
              </a:ext>
            </a:extLst>
          </p:cNvPr>
          <p:cNvSpPr txBox="1">
            <a:spLocks noChangeArrowheads="1"/>
          </p:cNvSpPr>
          <p:nvPr/>
        </p:nvSpPr>
        <p:spPr>
          <a:xfrm>
            <a:off x="854518" y="1869851"/>
            <a:ext cx="3100794" cy="2783021"/>
          </a:xfrm>
          <a:prstGeom prst="rect">
            <a:avLst/>
          </a:prstGeom>
        </p:spPr>
        <p:txBody>
          <a:bodyPr/>
          <a:lstStyle>
            <a:lvl1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1pPr>
            <a:lvl2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2pPr>
            <a:lvl3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3pPr>
            <a:lvl4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4pPr>
            <a:lvl5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5pPr>
            <a:lvl6pPr marL="0" marR="0" indent="3556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6pPr>
            <a:lvl7pPr marL="0" marR="0" indent="7112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7pPr>
            <a:lvl8pPr marL="0" marR="0" indent="10668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8pPr>
            <a:lvl9pPr marL="0" marR="0" indent="14224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9pPr>
          </a:lstStyle>
          <a:p>
            <a:pPr algn="l" hangingPunct="1">
              <a:buFont typeface="Wingdings" panose="05000000000000000000" pitchFamily="2" charset="2"/>
              <a:buNone/>
            </a:pPr>
            <a:r>
              <a:rPr lang="en-US" altLang="en-US" sz="2000" dirty="0">
                <a:solidFill>
                  <a:srgbClr val="191C25"/>
                </a:solidFill>
                <a:latin typeface="Roboto" panose="02000000000000000000" pitchFamily="2" charset="0"/>
                <a:ea typeface="Roboto" panose="02000000000000000000" pitchFamily="2" charset="0"/>
              </a:rPr>
              <a:t>A single plan and schedule of all kaizen and continuous improvement events for a particular facility.</a:t>
            </a:r>
          </a:p>
        </p:txBody>
      </p:sp>
      <p:graphicFrame>
        <p:nvGraphicFramePr>
          <p:cNvPr id="5" name="Table">
            <a:extLst>
              <a:ext uri="{FF2B5EF4-FFF2-40B4-BE49-F238E27FC236}">
                <a16:creationId xmlns:a16="http://schemas.microsoft.com/office/drawing/2014/main" id="{4201AEA0-9F43-0A36-6C39-6112F3B475C9}"/>
              </a:ext>
            </a:extLst>
          </p:cNvPr>
          <p:cNvGraphicFramePr/>
          <p:nvPr>
            <p:extLst>
              <p:ext uri="{D42A27DB-BD31-4B8C-83A1-F6EECF244321}">
                <p14:modId xmlns:p14="http://schemas.microsoft.com/office/powerpoint/2010/main" val="4076340331"/>
              </p:ext>
            </p:extLst>
          </p:nvPr>
        </p:nvGraphicFramePr>
        <p:xfrm>
          <a:off x="4382801" y="1506277"/>
          <a:ext cx="7355542" cy="4879585"/>
        </p:xfrm>
        <a:graphic>
          <a:graphicData uri="http://schemas.openxmlformats.org/drawingml/2006/table">
            <a:tbl>
              <a:tblPr>
                <a:tableStyleId>{4C3C2611-4C71-4FC5-86AE-919BDF0F9419}</a:tableStyleId>
              </a:tblPr>
              <a:tblGrid>
                <a:gridCol w="697199">
                  <a:extLst>
                    <a:ext uri="{9D8B030D-6E8A-4147-A177-3AD203B41FA5}">
                      <a16:colId xmlns:a16="http://schemas.microsoft.com/office/drawing/2014/main" val="20000"/>
                    </a:ext>
                  </a:extLst>
                </a:gridCol>
                <a:gridCol w="1119555">
                  <a:extLst>
                    <a:ext uri="{9D8B030D-6E8A-4147-A177-3AD203B41FA5}">
                      <a16:colId xmlns:a16="http://schemas.microsoft.com/office/drawing/2014/main" val="20001"/>
                    </a:ext>
                  </a:extLst>
                </a:gridCol>
                <a:gridCol w="699085">
                  <a:extLst>
                    <a:ext uri="{9D8B030D-6E8A-4147-A177-3AD203B41FA5}">
                      <a16:colId xmlns:a16="http://schemas.microsoft.com/office/drawing/2014/main" val="3429638595"/>
                    </a:ext>
                  </a:extLst>
                </a:gridCol>
                <a:gridCol w="801764">
                  <a:extLst>
                    <a:ext uri="{9D8B030D-6E8A-4147-A177-3AD203B41FA5}">
                      <a16:colId xmlns:a16="http://schemas.microsoft.com/office/drawing/2014/main" val="2714614416"/>
                    </a:ext>
                  </a:extLst>
                </a:gridCol>
                <a:gridCol w="942133">
                  <a:extLst>
                    <a:ext uri="{9D8B030D-6E8A-4147-A177-3AD203B41FA5}">
                      <a16:colId xmlns:a16="http://schemas.microsoft.com/office/drawing/2014/main" val="811592632"/>
                    </a:ext>
                  </a:extLst>
                </a:gridCol>
                <a:gridCol w="1091011">
                  <a:extLst>
                    <a:ext uri="{9D8B030D-6E8A-4147-A177-3AD203B41FA5}">
                      <a16:colId xmlns:a16="http://schemas.microsoft.com/office/drawing/2014/main" val="1783555653"/>
                    </a:ext>
                  </a:extLst>
                </a:gridCol>
                <a:gridCol w="823357">
                  <a:extLst>
                    <a:ext uri="{9D8B030D-6E8A-4147-A177-3AD203B41FA5}">
                      <a16:colId xmlns:a16="http://schemas.microsoft.com/office/drawing/2014/main" val="242160021"/>
                    </a:ext>
                  </a:extLst>
                </a:gridCol>
                <a:gridCol w="1181438">
                  <a:extLst>
                    <a:ext uri="{9D8B030D-6E8A-4147-A177-3AD203B41FA5}">
                      <a16:colId xmlns:a16="http://schemas.microsoft.com/office/drawing/2014/main" val="747964626"/>
                    </a:ext>
                  </a:extLst>
                </a:gridCol>
              </a:tblGrid>
              <a:tr h="717046">
                <a:tc>
                  <a:txBody>
                    <a:bodyPr/>
                    <a:lstStyle/>
                    <a:p>
                      <a:pPr algn="ctr" defTabSz="1828342">
                        <a:tabLst>
                          <a:tab pos="914400" algn="l"/>
                        </a:tabLst>
                        <a:defRPr sz="3500">
                          <a:solidFill>
                            <a:srgbClr val="999999"/>
                          </a:solidFill>
                        </a:defRPr>
                      </a:pPr>
                      <a:r>
                        <a:rPr lang="en-US" sz="1100" b="1" i="0" u="none" strike="noStrike" cap="none" spc="0" baseline="0" dirty="0">
                          <a:solidFill>
                            <a:schemeClr val="bg1"/>
                          </a:solidFill>
                          <a:uFillTx/>
                          <a:latin typeface="Roboto" panose="02000000000000000000"/>
                          <a:ea typeface="+mn-ea"/>
                          <a:cs typeface="+mn-cs"/>
                          <a:sym typeface="Roboto"/>
                        </a:rPr>
                        <a:t>Week</a:t>
                      </a:r>
                      <a:endParaRPr sz="1100" b="1" i="0" u="none" strike="noStrike" cap="none" spc="0" baseline="0" dirty="0">
                        <a:solidFill>
                          <a:schemeClr val="bg1"/>
                        </a:solidFill>
                        <a:uFillTx/>
                        <a:latin typeface="Roboto" panose="02000000000000000000"/>
                        <a:ea typeface="+mn-ea"/>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Area/Cell</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VSM</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Tool</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VS Plan Number</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Status</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Sensei</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algn="ctr" defTabSz="1828342">
                        <a:defRPr sz="1800">
                          <a:solidFill>
                            <a:srgbClr val="000000"/>
                          </a:solidFill>
                        </a:defRPr>
                      </a:pPr>
                      <a:r>
                        <a:rPr lang="en-US" sz="1100" b="1" dirty="0">
                          <a:solidFill>
                            <a:schemeClr val="bg1"/>
                          </a:solidFill>
                          <a:latin typeface="Roboto" panose="02000000000000000000"/>
                        </a:rPr>
                        <a:t>Comments</a:t>
                      </a:r>
                      <a:endParaRPr sz="11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507834">
                <a:tc>
                  <a:txBody>
                    <a:bodyPr/>
                    <a:lstStyle/>
                    <a:p>
                      <a:pPr marL="0" indent="0" algn="ctr" defTabSz="1828342">
                        <a:buNone/>
                        <a:defRPr sz="1800">
                          <a:solidFill>
                            <a:srgbClr val="000000"/>
                          </a:solidFill>
                        </a:defRPr>
                      </a:pPr>
                      <a:r>
                        <a:rPr lang="en-US" sz="800" dirty="0">
                          <a:solidFill>
                            <a:schemeClr val="bg1"/>
                          </a:solidFill>
                          <a:latin typeface="Roboto" panose="02000000000000000000"/>
                        </a:rPr>
                        <a:t>3-Jan</a:t>
                      </a:r>
                      <a:endParaRPr sz="8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Line 8 (KVF)</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KVF</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Standard Work</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3</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See kaizen results sheet</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507834">
                <a:tc>
                  <a:txBody>
                    <a:bodyPr/>
                    <a:lstStyle/>
                    <a:p>
                      <a:pPr marL="0" marR="0" lvl="0" indent="0" algn="ctr" defTabSz="1828342" eaLnBrk="1" fontAlgn="auto" latinLnBrk="0" hangingPunct="1">
                        <a:lnSpc>
                          <a:spcPct val="100000"/>
                        </a:lnSpc>
                        <a:spcBef>
                          <a:spcPts val="0"/>
                        </a:spcBef>
                        <a:spcAft>
                          <a:spcPts val="0"/>
                        </a:spcAft>
                        <a:buClrTx/>
                        <a:buSzTx/>
                        <a:buFontTx/>
                        <a:buNone/>
                        <a:tabLst/>
                        <a:defRPr sz="1800">
                          <a:solidFill>
                            <a:srgbClr val="000000"/>
                          </a:solidFill>
                        </a:defRPr>
                      </a:pPr>
                      <a:r>
                        <a:rPr lang="en-US" sz="800" dirty="0">
                          <a:solidFill>
                            <a:schemeClr val="bg1"/>
                          </a:solidFill>
                          <a:latin typeface="Roboto" panose="02000000000000000000"/>
                        </a:rPr>
                        <a:t>3-Jan</a:t>
                      </a: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Line 25</a:t>
                      </a: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SMMM</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Standard Work</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8</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See kaizen results sheet</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507834">
                <a:tc>
                  <a:txBody>
                    <a:bodyPr/>
                    <a:lstStyle/>
                    <a:p>
                      <a:pPr algn="ctr" defTabSz="1828342">
                        <a:defRPr sz="1800">
                          <a:solidFill>
                            <a:srgbClr val="000000"/>
                          </a:solidFill>
                        </a:defRPr>
                      </a:pPr>
                      <a:r>
                        <a:rPr lang="en-US" sz="800" dirty="0">
                          <a:solidFill>
                            <a:schemeClr val="bg1"/>
                          </a:solidFill>
                          <a:latin typeface="Roboto" panose="02000000000000000000"/>
                        </a:rPr>
                        <a:t>10-Jan</a:t>
                      </a:r>
                      <a:endParaRPr sz="8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ctr" defTabSz="1828342">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ATJ</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algn="ctr" defTabSz="1828342">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KVF</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SMED</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4</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endParaRPr lang="en-US" sz="800" b="0" i="0" u="none" strike="noStrike" cap="none" spc="0" baseline="0" dirty="0">
                        <a:solidFill>
                          <a:schemeClr val="bg1"/>
                        </a:solidFill>
                        <a:uFillTx/>
                        <a:latin typeface="Roboto" panose="02000000000000000000"/>
                        <a:ea typeface="+mn-ea"/>
                        <a:cs typeface="+mn-cs"/>
                        <a:sym typeface="Roboto"/>
                      </a:endParaRP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endParaRPr lang="en-US" sz="800" b="0" i="0" u="none" strike="noStrike" cap="none" spc="0" baseline="0" dirty="0">
                        <a:solidFill>
                          <a:schemeClr val="bg1"/>
                        </a:solidFill>
                        <a:uFillTx/>
                        <a:latin typeface="Roboto" panose="02000000000000000000"/>
                        <a:ea typeface="+mn-ea"/>
                        <a:cs typeface="+mn-cs"/>
                        <a:sym typeface="Roboto"/>
                      </a:endParaRP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algn="ctr" defTabSz="1828342">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PRE-RUN S/U WHEEL</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r h="507834">
                <a:tc>
                  <a:txBody>
                    <a:bodyPr/>
                    <a:lstStyle/>
                    <a:p>
                      <a:pPr algn="ctr" defTabSz="1828342">
                        <a:defRPr sz="1800">
                          <a:solidFill>
                            <a:srgbClr val="000000"/>
                          </a:solidFill>
                        </a:defRPr>
                      </a:pPr>
                      <a:r>
                        <a:rPr lang="en-US" sz="800" dirty="0">
                          <a:solidFill>
                            <a:schemeClr val="bg1"/>
                          </a:solidFill>
                          <a:latin typeface="Roboto" panose="02000000000000000000"/>
                        </a:rPr>
                        <a:t>10-Jan</a:t>
                      </a:r>
                      <a:endParaRPr sz="8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Anodize racking</a:t>
                      </a: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SMMM</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Standard Work</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6</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See kaizen results sheet</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4"/>
                  </a:ext>
                </a:extLst>
              </a:tr>
              <a:tr h="388327">
                <a:tc>
                  <a:txBody>
                    <a:bodyPr/>
                    <a:lstStyle/>
                    <a:p>
                      <a:pPr algn="ctr" defTabSz="1828342">
                        <a:defRPr sz="1800">
                          <a:solidFill>
                            <a:srgbClr val="000000"/>
                          </a:solidFill>
                        </a:defRPr>
                      </a:pPr>
                      <a:r>
                        <a:rPr lang="en-US" sz="800" dirty="0">
                          <a:solidFill>
                            <a:schemeClr val="bg1"/>
                          </a:solidFill>
                          <a:latin typeface="Roboto" panose="02000000000000000000"/>
                        </a:rPr>
                        <a:t>17-Jan</a:t>
                      </a:r>
                      <a:endParaRPr sz="800" dirty="0">
                        <a:solidFill>
                          <a:schemeClr val="bg1"/>
                        </a:solidFill>
                        <a:latin typeface="Roboto" panose="02000000000000000000"/>
                      </a:endParaRP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NO EVENTS</a:t>
                      </a:r>
                    </a:p>
                  </a:txBody>
                  <a:tcPr marL="184102" marR="184102" marT="137124" marB="137124" anchor="ctr" horzOverflow="overflow">
                    <a:lnL w="0">
                      <a:noFill/>
                      <a:miter lim="400000"/>
                    </a:lnL>
                    <a:lnR w="0">
                      <a:noFill/>
                      <a:miter lim="400000"/>
                    </a:lnR>
                    <a:lnT w="0">
                      <a:miter lim="400000"/>
                    </a:lnT>
                    <a:lnB w="0">
                      <a:noFill/>
                      <a:miter lim="400000"/>
                    </a:lnB>
                    <a:solidFill>
                      <a:srgbClr val="191C25"/>
                    </a:solidFill>
                  </a:tcPr>
                </a:tc>
                <a:tc>
                  <a:txBody>
                    <a:bodyPr/>
                    <a:lstStyle/>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 out</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extLst>
                  <a:ext uri="{0D108BD9-81ED-4DB2-BD59-A6C34878D82A}">
                    <a16:rowId xmlns:a16="http://schemas.microsoft.com/office/drawing/2014/main" val="1296931529"/>
                  </a:ext>
                </a:extLst>
              </a:tr>
              <a:tr h="507834">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24-Jan</a:t>
                      </a:r>
                      <a:endParaRPr sz="800" b="0" i="0" u="none" strike="noStrike" cap="none" spc="0" baseline="0" dirty="0">
                        <a:solidFill>
                          <a:schemeClr val="bg1"/>
                        </a:solidFill>
                        <a:uFillTx/>
                        <a:latin typeface="Roboto" panose="02000000000000000000"/>
                        <a:ea typeface="+mn-ea"/>
                        <a:cs typeface="+mn-cs"/>
                        <a:sym typeface="Roboto"/>
                      </a:endParaRP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ATJ</a:t>
                      </a:r>
                    </a:p>
                  </a:txBody>
                  <a:tcPr marL="184102" marR="184102" marT="137124" marB="137124" anchor="ctr" horzOverflow="overflow">
                    <a:lnL w="0">
                      <a:noFill/>
                      <a:miter lim="400000"/>
                    </a:lnL>
                    <a:lnR w="0">
                      <a:noFill/>
                      <a:miter lim="400000"/>
                    </a:lnR>
                    <a:lnT w="0">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KVF</a:t>
                      </a: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Standard Work</a:t>
                      </a: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2</a:t>
                      </a: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dirty="0">
                          <a:solidFill>
                            <a:schemeClr val="bg1"/>
                          </a:solidFill>
                          <a:latin typeface="Roboto" panose="02000000000000000000"/>
                        </a:rPr>
                        <a:t>Complete</a:t>
                      </a:r>
                      <a:endParaRPr lang="en-US" sz="800" b="0" i="0" u="none" strike="noStrike" cap="none" spc="0" baseline="0" dirty="0">
                        <a:solidFill>
                          <a:schemeClr val="bg1"/>
                        </a:solidFill>
                        <a:uFillTx/>
                        <a:latin typeface="Roboto" panose="02000000000000000000"/>
                        <a:ea typeface="+mn-ea"/>
                        <a:cs typeface="+mn-cs"/>
                        <a:sym typeface="Roboto"/>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dirty="0">
                          <a:solidFill>
                            <a:schemeClr val="bg1"/>
                          </a:solidFill>
                          <a:latin typeface="Roboto" panose="02000000000000000000"/>
                        </a:rPr>
                        <a:t>Clem</a:t>
                      </a:r>
                      <a:endParaRPr lang="en-US" sz="800" b="0" i="0" u="none" strike="noStrike" cap="none" spc="0" baseline="0" dirty="0">
                        <a:solidFill>
                          <a:schemeClr val="bg1"/>
                        </a:solidFill>
                        <a:uFillTx/>
                        <a:latin typeface="Roboto" panose="02000000000000000000"/>
                        <a:ea typeface="+mn-ea"/>
                        <a:cs typeface="+mn-cs"/>
                        <a:sym typeface="Roboto"/>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tc>
                  <a:txBody>
                    <a:bodyPr/>
                    <a:lstStyle/>
                    <a:p>
                      <a:pPr marL="0" marR="0" indent="0" algn="ctr" defTabSz="1828342" latinLnBrk="0">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DEMAND QUESTIONS</a:t>
                      </a:r>
                    </a:p>
                  </a:txBody>
                  <a:tcPr marL="184102" marR="184102" marT="137124" marB="137124" anchor="ctr" horzOverflow="overflow">
                    <a:lnL w="0">
                      <a:noFill/>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4277236797"/>
                  </a:ext>
                </a:extLst>
              </a:tr>
              <a:tr h="627341">
                <a:tc>
                  <a:txBody>
                    <a:bodyPr/>
                    <a:lstStyle/>
                    <a:p>
                      <a:pPr algn="ctr" defTabSz="1828342">
                        <a:defRPr sz="1800">
                          <a:solidFill>
                            <a:srgbClr val="000000"/>
                          </a:solidFill>
                        </a:defRPr>
                      </a:pPr>
                      <a:r>
                        <a:rPr lang="en-US" sz="800" dirty="0">
                          <a:solidFill>
                            <a:schemeClr val="bg1"/>
                          </a:solidFill>
                          <a:latin typeface="Roboto" panose="02000000000000000000"/>
                        </a:rPr>
                        <a:t>24-Jan</a:t>
                      </a:r>
                      <a:endParaRPr sz="800" dirty="0">
                        <a:solidFill>
                          <a:schemeClr val="bg1"/>
                        </a:solidFill>
                        <a:latin typeface="Roboto" panose="02000000000000000000"/>
                      </a:endParaRP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Line 28 (KVF new area)</a:t>
                      </a:r>
                    </a:p>
                  </a:txBody>
                  <a:tcPr marL="184102" marR="184102" marT="137124" marB="137124" anchor="ctr" horzOverflow="overflow">
                    <a:lnL w="0">
                      <a:noFill/>
                      <a:miter lim="400000"/>
                    </a:lnL>
                    <a:lnR w="0">
                      <a:noFill/>
                      <a:miter lim="400000"/>
                    </a:lnR>
                    <a:lnT w="0">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KVF</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Standard Work</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1</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tc>
                  <a:txBody>
                    <a:bodyPr/>
                    <a:lstStyle/>
                    <a:p>
                      <a:pPr marL="0" marR="0" lvl="0" indent="0" algn="ctr" defTabSz="1828342" eaLnBrk="1" fontAlgn="auto" latinLnBrk="0" hangingPunct="1">
                        <a:lnSpc>
                          <a:spcPct val="100000"/>
                        </a:lnSpc>
                        <a:spcBef>
                          <a:spcPts val="0"/>
                        </a:spcBef>
                        <a:spcAft>
                          <a:spcPts val="0"/>
                        </a:spcAft>
                        <a:buClrTx/>
                        <a:buSzTx/>
                        <a:buFontTx/>
                        <a:buNone/>
                        <a:tabLst/>
                        <a:defRPr sz="1800">
                          <a:solidFill>
                            <a:srgbClr val="000000"/>
                          </a:solidFill>
                        </a:defRPr>
                      </a:pPr>
                      <a:r>
                        <a:rPr lang="en-US" sz="800" b="0" i="0" u="none" strike="noStrike" cap="none" spc="0" baseline="0" dirty="0">
                          <a:solidFill>
                            <a:schemeClr val="bg1"/>
                          </a:solidFill>
                          <a:uFillTx/>
                          <a:latin typeface="Roboto" panose="02000000000000000000"/>
                          <a:ea typeface="+mn-ea"/>
                          <a:cs typeface="+mn-cs"/>
                          <a:sym typeface="Roboto"/>
                        </a:rPr>
                        <a:t>DEMAND QUESTIONS</a:t>
                      </a:r>
                    </a:p>
                    <a:p>
                      <a:pPr algn="ctr" defTabSz="1828342">
                        <a:defRPr sz="1800">
                          <a:solidFill>
                            <a:srgbClr val="000000"/>
                          </a:solidFill>
                        </a:defRPr>
                      </a:pPr>
                      <a:endParaRPr lang="en-US" sz="800" dirty="0">
                        <a:solidFill>
                          <a:schemeClr val="bg1"/>
                        </a:solidFill>
                        <a:latin typeface="Roboto" panose="02000000000000000000"/>
                      </a:endParaRP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extLst>
                  <a:ext uri="{0D108BD9-81ED-4DB2-BD59-A6C34878D82A}">
                    <a16:rowId xmlns:a16="http://schemas.microsoft.com/office/drawing/2014/main" val="3317423042"/>
                  </a:ext>
                </a:extLst>
              </a:tr>
              <a:tr h="535923">
                <a:tc>
                  <a:txBody>
                    <a:bodyPr/>
                    <a:lstStyle/>
                    <a:p>
                      <a:pPr algn="ctr" defTabSz="1828342">
                        <a:defRPr sz="1800">
                          <a:solidFill>
                            <a:srgbClr val="000000"/>
                          </a:solidFill>
                        </a:defRPr>
                      </a:pPr>
                      <a:r>
                        <a:rPr lang="en-US" sz="800" dirty="0">
                          <a:solidFill>
                            <a:schemeClr val="bg1"/>
                          </a:solidFill>
                          <a:latin typeface="Roboto" panose="02000000000000000000"/>
                        </a:rPr>
                        <a:t>24-Jan</a:t>
                      </a:r>
                      <a:endParaRPr sz="800" dirty="0">
                        <a:solidFill>
                          <a:schemeClr val="bg1"/>
                        </a:solidFill>
                        <a:latin typeface="Roboto" panose="02000000000000000000"/>
                      </a:endParaRP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Line 25</a:t>
                      </a:r>
                    </a:p>
                  </a:txBody>
                  <a:tcPr marL="184102" marR="184102" marT="137124" marB="137124" anchor="ctr" horzOverflow="overflow">
                    <a:lnL w="0">
                      <a:noFill/>
                      <a:miter lim="400000"/>
                    </a:lnL>
                    <a:lnR w="0">
                      <a:noFill/>
                      <a:miter lim="400000"/>
                    </a:lnR>
                    <a:lnT w="0">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SMMM</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5S</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3</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Complete</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Clem</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tc>
                  <a:txBody>
                    <a:bodyPr/>
                    <a:lstStyle/>
                    <a:p>
                      <a:pPr algn="ctr" defTabSz="1828342">
                        <a:defRPr sz="1800">
                          <a:solidFill>
                            <a:srgbClr val="000000"/>
                          </a:solidFill>
                        </a:defRPr>
                      </a:pPr>
                      <a:r>
                        <a:rPr lang="en-US" sz="800" dirty="0">
                          <a:solidFill>
                            <a:schemeClr val="bg1"/>
                          </a:solidFill>
                          <a:latin typeface="Roboto" panose="02000000000000000000"/>
                        </a:rPr>
                        <a:t>CELL MEMBERS ONLY</a:t>
                      </a:r>
                    </a:p>
                  </a:txBody>
                  <a:tcPr marL="184102" marR="184102" marT="137124" marB="137124" anchor="ctr" horzOverflow="overflow">
                    <a:lnL w="0">
                      <a:noFill/>
                      <a:miter lim="400000"/>
                    </a:lnL>
                    <a:lnR w="0">
                      <a:noFill/>
                      <a:miter lim="400000"/>
                    </a:lnR>
                    <a:lnT w="0">
                      <a:noFill/>
                      <a:miter lim="400000"/>
                    </a:lnT>
                    <a:lnB w="0">
                      <a:miter lim="400000"/>
                    </a:lnB>
                    <a:solidFill>
                      <a:srgbClr val="7A7A7A"/>
                    </a:solidFill>
                  </a:tcPr>
                </a:tc>
                <a:extLst>
                  <a:ext uri="{0D108BD9-81ED-4DB2-BD59-A6C34878D82A}">
                    <a16:rowId xmlns:a16="http://schemas.microsoft.com/office/drawing/2014/main" val="1205393752"/>
                  </a:ext>
                </a:extLst>
              </a:tr>
            </a:tbl>
          </a:graphicData>
        </a:graphic>
      </p:graphicFrame>
      <p:sp>
        <p:nvSpPr>
          <p:cNvPr id="6" name="Rectangle 3">
            <a:extLst>
              <a:ext uri="{FF2B5EF4-FFF2-40B4-BE49-F238E27FC236}">
                <a16:creationId xmlns:a16="http://schemas.microsoft.com/office/drawing/2014/main" id="{BB3A3DF0-DAC3-C33A-8242-5E65D0AAEC41}"/>
              </a:ext>
            </a:extLst>
          </p:cNvPr>
          <p:cNvSpPr txBox="1">
            <a:spLocks noChangeArrowheads="1"/>
          </p:cNvSpPr>
          <p:nvPr/>
        </p:nvSpPr>
        <p:spPr>
          <a:xfrm>
            <a:off x="854518" y="3429000"/>
            <a:ext cx="2738230" cy="926512"/>
          </a:xfrm>
          <a:prstGeom prst="rect">
            <a:avLst/>
          </a:prstGeom>
        </p:spPr>
        <p:txBody>
          <a:bodyPr/>
          <a:lstStyle>
            <a:lvl1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1pPr>
            <a:lvl2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2pPr>
            <a:lvl3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3pPr>
            <a:lvl4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4pPr>
            <a:lvl5pPr marL="0" marR="0" indent="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5pPr>
            <a:lvl6pPr marL="0" marR="0" indent="3556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6pPr>
            <a:lvl7pPr marL="0" marR="0" indent="7112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7pPr>
            <a:lvl8pPr marL="0" marR="0" indent="10668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8pPr>
            <a:lvl9pPr marL="0" marR="0" indent="1422400" algn="ctr" defTabSz="825500" latinLnBrk="0">
              <a:lnSpc>
                <a:spcPct val="100000"/>
              </a:lnSpc>
              <a:spcBef>
                <a:spcPts val="0"/>
              </a:spcBef>
              <a:spcAft>
                <a:spcPts val="0"/>
              </a:spcAft>
              <a:buClrTx/>
              <a:buSzTx/>
              <a:buFontTx/>
              <a:buNone/>
              <a:tabLst/>
              <a:defRPr sz="4800" b="0" i="0" u="none" strike="noStrike" cap="none" spc="0" baseline="0">
                <a:solidFill>
                  <a:srgbClr val="000000"/>
                </a:solidFill>
                <a:uFillTx/>
                <a:latin typeface="+mn-lt"/>
                <a:ea typeface="+mn-ea"/>
                <a:cs typeface="+mn-cs"/>
                <a:sym typeface="Roboto"/>
              </a:defRPr>
            </a:lvl9pPr>
          </a:lstStyle>
          <a:p>
            <a:pPr algn="l" hangingPunct="1">
              <a:buFont typeface="Wingdings" panose="05000000000000000000" pitchFamily="2" charset="2"/>
              <a:buNone/>
            </a:pPr>
            <a:r>
              <a:rPr lang="en-US" altLang="en-US" sz="1400" dirty="0">
                <a:solidFill>
                  <a:srgbClr val="191C25"/>
                </a:solidFill>
                <a:latin typeface="Roboto" panose="02000000000000000000" pitchFamily="2" charset="0"/>
                <a:ea typeface="Roboto" panose="02000000000000000000" pitchFamily="2" charset="0"/>
              </a:rPr>
              <a:t>Sample Site Plan excerpt showing scheduled events from two different Value Streams (KVF and SMMM)</a:t>
            </a:r>
          </a:p>
        </p:txBody>
      </p:sp>
      <p:grpSp>
        <p:nvGrpSpPr>
          <p:cNvPr id="4" name="Group 3">
            <a:extLst>
              <a:ext uri="{FF2B5EF4-FFF2-40B4-BE49-F238E27FC236}">
                <a16:creationId xmlns:a16="http://schemas.microsoft.com/office/drawing/2014/main" id="{51164338-E523-54FE-0836-4A78C7DCF00E}"/>
              </a:ext>
            </a:extLst>
          </p:cNvPr>
          <p:cNvGrpSpPr/>
          <p:nvPr/>
        </p:nvGrpSpPr>
        <p:grpSpPr>
          <a:xfrm>
            <a:off x="940004" y="321492"/>
            <a:ext cx="6217883" cy="311851"/>
            <a:chOff x="940249" y="302538"/>
            <a:chExt cx="6219503" cy="311932"/>
          </a:xfrm>
        </p:grpSpPr>
        <p:sp>
          <p:nvSpPr>
            <p:cNvPr id="7" name="TextBox 6">
              <a:extLst>
                <a:ext uri="{FF2B5EF4-FFF2-40B4-BE49-F238E27FC236}">
                  <a16:creationId xmlns:a16="http://schemas.microsoft.com/office/drawing/2014/main" id="{CE0CBEF7-6030-F852-920E-66669CB6B58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8" name="AutoShape 9">
              <a:extLst>
                <a:ext uri="{FF2B5EF4-FFF2-40B4-BE49-F238E27FC236}">
                  <a16:creationId xmlns:a16="http://schemas.microsoft.com/office/drawing/2014/main" id="{1F2AD7D1-A566-1D8E-CE64-E3576F30FABB}"/>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9">
              <a:extLst>
                <a:ext uri="{FF2B5EF4-FFF2-40B4-BE49-F238E27FC236}">
                  <a16:creationId xmlns:a16="http://schemas.microsoft.com/office/drawing/2014/main" id="{65FB2F18-ECA8-ACC4-33B4-B934456C24AF}"/>
                </a:ext>
              </a:extLst>
            </p:cNvPr>
            <p:cNvSpPr>
              <a:spLocks noChangeArrowheads="1"/>
            </p:cNvSpPr>
            <p:nvPr/>
          </p:nvSpPr>
          <p:spPr bwMode="auto">
            <a:xfrm>
              <a:off x="1835953"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0" name="AutoShape 9">
              <a:extLst>
                <a:ext uri="{FF2B5EF4-FFF2-40B4-BE49-F238E27FC236}">
                  <a16:creationId xmlns:a16="http://schemas.microsoft.com/office/drawing/2014/main" id="{B54161DC-CF1A-C19F-288A-1CC6DBC31B47}"/>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1" name="AutoShape 9">
              <a:extLst>
                <a:ext uri="{FF2B5EF4-FFF2-40B4-BE49-F238E27FC236}">
                  <a16:creationId xmlns:a16="http://schemas.microsoft.com/office/drawing/2014/main" id="{B4195371-3CEE-45A5-A588-5C699A139A6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2" name="AutoShape 11">
              <a:extLst>
                <a:ext uri="{FF2B5EF4-FFF2-40B4-BE49-F238E27FC236}">
                  <a16:creationId xmlns:a16="http://schemas.microsoft.com/office/drawing/2014/main" id="{8D77A1A5-9FED-522B-4115-1B8B4B8A2A2C}"/>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3" name="Slide Number Placeholder 2">
            <a:extLst>
              <a:ext uri="{FF2B5EF4-FFF2-40B4-BE49-F238E27FC236}">
                <a16:creationId xmlns:a16="http://schemas.microsoft.com/office/drawing/2014/main" id="{824B6314-37E4-C392-FCCC-055A4E74AC52}"/>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164</a:t>
            </a:fld>
            <a:endParaRPr lang="en-US" dirty="0"/>
          </a:p>
        </p:txBody>
      </p:sp>
    </p:spTree>
    <p:extLst>
      <p:ext uri="{BB962C8B-B14F-4D97-AF65-F5344CB8AC3E}">
        <p14:creationId xmlns:p14="http://schemas.microsoft.com/office/powerpoint/2010/main" val="52676375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Autofit/>
          </a:bodyPr>
          <a:lstStyle/>
          <a:p>
            <a:r>
              <a:rPr lang="en-US" sz="3200" dirty="0">
                <a:latin typeface="Roboto Medium"/>
                <a:ea typeface="Roboto Medium"/>
                <a:cs typeface="Roboto Medium"/>
              </a:rPr>
              <a:t>Complete Future State and Value Stream Plan for Business</a:t>
            </a:r>
          </a:p>
        </p:txBody>
      </p:sp>
      <p:sp>
        <p:nvSpPr>
          <p:cNvPr id="11" name="Rectangle 10">
            <a:extLst>
              <a:ext uri="{FF2B5EF4-FFF2-40B4-BE49-F238E27FC236}">
                <a16:creationId xmlns:a16="http://schemas.microsoft.com/office/drawing/2014/main" id="{3A9506B7-1A57-1322-5AB5-DA8522EE7602}"/>
              </a:ext>
            </a:extLst>
          </p:cNvPr>
          <p:cNvSpPr/>
          <p:nvPr/>
        </p:nvSpPr>
        <p:spPr>
          <a:xfrm>
            <a:off x="837981" y="2236868"/>
            <a:ext cx="9719810" cy="71811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 the Future State Value Stream Map and Value Stream Plan for the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7981" y="1822945"/>
            <a:ext cx="1602586"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7981" y="2913611"/>
            <a:ext cx="2022463"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lang="en-US" sz="5598" dirty="0">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728" y="3486013"/>
            <a:ext cx="4418658" cy="2317979"/>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noAutofit/>
          </a:bodyPr>
          <a:lstStyle/>
          <a:p>
            <a:pPr defTabSz="584025" hangingPunct="0"/>
            <a:r>
              <a:rPr lang="en-US"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As a team, create the Future State Map from the Marked Up Current State Map. </a:t>
            </a:r>
          </a:p>
          <a:p>
            <a:pPr defTabSz="584025" hangingPunct="0"/>
            <a:r>
              <a:rPr lang="en-US"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Together with the Value Stream Owner, complete detailed Value Stream Plan to achieve Future State.</a:t>
            </a:r>
          </a:p>
          <a:p>
            <a:pPr defTabSz="584025" hangingPunct="0"/>
            <a:r>
              <a:rPr lang="en-US"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with appropriate leadership to receive approval and resource support.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7719" y="2903175"/>
            <a:ext cx="2967988"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7719" y="4125853"/>
            <a:ext cx="1887845" cy="5333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787" tIns="50787" rIns="50787" bIns="50787" numCol="1" spcCol="38100" rtlCol="0" anchor="t">
            <a:spAutoFit/>
          </a:bodyPr>
          <a:lstStyle/>
          <a:p>
            <a:pPr defTabSz="825252" hangingPunct="0"/>
            <a:r>
              <a:rPr lang="en-US" sz="2799" dirty="0">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7718" y="3486543"/>
            <a:ext cx="4680073" cy="471801"/>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7717" y="4659193"/>
            <a:ext cx="4680073" cy="840973"/>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787" tIns="50787" rIns="50787" bIns="50787" numCol="1" spcCol="38100" rtlCol="0" anchor="ctr">
            <a:spAutoFit/>
          </a:bodyPr>
          <a:lstStyle/>
          <a:p>
            <a:pPr defTabSz="584025" hangingPunct="0"/>
            <a:r>
              <a:rPr lang="en-US" sz="2399"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Future State Map and Value Stream Plan.</a:t>
            </a:r>
          </a:p>
        </p:txBody>
      </p:sp>
      <p:grpSp>
        <p:nvGrpSpPr>
          <p:cNvPr id="3" name="Group 2">
            <a:extLst>
              <a:ext uri="{FF2B5EF4-FFF2-40B4-BE49-F238E27FC236}">
                <a16:creationId xmlns:a16="http://schemas.microsoft.com/office/drawing/2014/main" id="{CB456312-BFD5-B165-AC9F-8E1E0C21E434}"/>
              </a:ext>
            </a:extLst>
          </p:cNvPr>
          <p:cNvGrpSpPr/>
          <p:nvPr/>
        </p:nvGrpSpPr>
        <p:grpSpPr>
          <a:xfrm>
            <a:off x="940004" y="321492"/>
            <a:ext cx="6217883" cy="311851"/>
            <a:chOff x="940249" y="302538"/>
            <a:chExt cx="6219503" cy="311932"/>
          </a:xfrm>
        </p:grpSpPr>
        <p:sp>
          <p:nvSpPr>
            <p:cNvPr id="4" name="TextBox 3">
              <a:extLst>
                <a:ext uri="{FF2B5EF4-FFF2-40B4-BE49-F238E27FC236}">
                  <a16:creationId xmlns:a16="http://schemas.microsoft.com/office/drawing/2014/main" id="{0F7A9F44-D85B-EEDC-3B98-37332261410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5" name="AutoShape 9">
              <a:extLst>
                <a:ext uri="{FF2B5EF4-FFF2-40B4-BE49-F238E27FC236}">
                  <a16:creationId xmlns:a16="http://schemas.microsoft.com/office/drawing/2014/main" id="{54398405-4552-223B-AB9B-80CD9F42EEC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6" name="AutoShape 9">
              <a:extLst>
                <a:ext uri="{FF2B5EF4-FFF2-40B4-BE49-F238E27FC236}">
                  <a16:creationId xmlns:a16="http://schemas.microsoft.com/office/drawing/2014/main" id="{2672950D-3205-5335-0F40-0769E4EEA2AF}"/>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7" name="AutoShape 9">
              <a:extLst>
                <a:ext uri="{FF2B5EF4-FFF2-40B4-BE49-F238E27FC236}">
                  <a16:creationId xmlns:a16="http://schemas.microsoft.com/office/drawing/2014/main" id="{81955371-BF90-9ED2-74FD-903FD696EB4D}"/>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8" name="AutoShape 9">
              <a:extLst>
                <a:ext uri="{FF2B5EF4-FFF2-40B4-BE49-F238E27FC236}">
                  <a16:creationId xmlns:a16="http://schemas.microsoft.com/office/drawing/2014/main" id="{32A8727A-8A2B-E01F-2954-D175DAB20DFA}"/>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9" name="AutoShape 11">
              <a:extLst>
                <a:ext uri="{FF2B5EF4-FFF2-40B4-BE49-F238E27FC236}">
                  <a16:creationId xmlns:a16="http://schemas.microsoft.com/office/drawing/2014/main" id="{4225954F-F131-14F6-E941-CC2FE417B70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Tree>
    <p:extLst>
      <p:ext uri="{BB962C8B-B14F-4D97-AF65-F5344CB8AC3E}">
        <p14:creationId xmlns:p14="http://schemas.microsoft.com/office/powerpoint/2010/main" val="149720435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DAC5F3-793B-99D6-54D1-A86B8864703E}"/>
              </a:ext>
            </a:extLst>
          </p:cNvPr>
          <p:cNvSpPr>
            <a:spLocks noGrp="1"/>
          </p:cNvSpPr>
          <p:nvPr>
            <p:ph type="title"/>
          </p:nvPr>
        </p:nvSpPr>
        <p:spPr/>
        <p:txBody>
          <a:bodyPr>
            <a:normAutofit/>
          </a:bodyPr>
          <a:lstStyle/>
          <a:p>
            <a:r>
              <a:rPr lang="en-US" altLang="en-US" sz="3600" dirty="0"/>
              <a:t>Prepare for Final Report-Out to Management</a:t>
            </a:r>
            <a:endParaRPr lang="en-US" sz="3600" dirty="0"/>
          </a:p>
        </p:txBody>
      </p:sp>
      <p:sp>
        <p:nvSpPr>
          <p:cNvPr id="3" name="Text Placeholder 2">
            <a:extLst>
              <a:ext uri="{FF2B5EF4-FFF2-40B4-BE49-F238E27FC236}">
                <a16:creationId xmlns:a16="http://schemas.microsoft.com/office/drawing/2014/main" id="{BF677E0A-D036-FEF4-C12A-7AE66D3C43E2}"/>
              </a:ext>
            </a:extLst>
          </p:cNvPr>
          <p:cNvSpPr>
            <a:spLocks noGrp="1"/>
          </p:cNvSpPr>
          <p:nvPr>
            <p:ph idx="1"/>
          </p:nvPr>
        </p:nvSpPr>
        <p:spPr/>
        <p:txBody>
          <a:bodyPr>
            <a:normAutofit lnSpcReduction="10000"/>
          </a:bodyPr>
          <a:lstStyle/>
          <a:p>
            <a:r>
              <a:rPr lang="en-US" dirty="0"/>
              <a:t>All team members should contribute to the final report-out presentation to management</a:t>
            </a:r>
          </a:p>
          <a:p>
            <a:r>
              <a:rPr lang="en-US" dirty="0"/>
              <a:t>Report-out should include</a:t>
            </a:r>
          </a:p>
          <a:p>
            <a:pPr lvl="1"/>
            <a:r>
              <a:rPr lang="en-US" dirty="0"/>
              <a:t>Introduction of Team</a:t>
            </a:r>
          </a:p>
          <a:p>
            <a:pPr lvl="1"/>
            <a:r>
              <a:rPr lang="en-US" dirty="0"/>
              <a:t>Review of Event Charter</a:t>
            </a:r>
          </a:p>
          <a:p>
            <a:pPr lvl="1"/>
            <a:r>
              <a:rPr lang="en-US" dirty="0"/>
              <a:t>Review of Current State Map</a:t>
            </a:r>
          </a:p>
          <a:p>
            <a:pPr lvl="1"/>
            <a:r>
              <a:rPr lang="en-US" dirty="0"/>
              <a:t>Review of Improvement Opportunities Identified</a:t>
            </a:r>
          </a:p>
          <a:p>
            <a:pPr lvl="1"/>
            <a:r>
              <a:rPr lang="en-US" dirty="0"/>
              <a:t>Review of Future State Map</a:t>
            </a:r>
          </a:p>
          <a:p>
            <a:pPr lvl="1"/>
            <a:r>
              <a:rPr lang="en-US" dirty="0"/>
              <a:t>Review of Action Plan</a:t>
            </a:r>
          </a:p>
          <a:p>
            <a:r>
              <a:rPr lang="en-US" dirty="0"/>
              <a:t>Typical Report-Out times are 15 minutes for presentation and 15 minutes for questions</a:t>
            </a:r>
          </a:p>
          <a:p>
            <a:endParaRPr lang="en-US" dirty="0"/>
          </a:p>
        </p:txBody>
      </p:sp>
      <p:grpSp>
        <p:nvGrpSpPr>
          <p:cNvPr id="12" name="Group 11">
            <a:extLst>
              <a:ext uri="{FF2B5EF4-FFF2-40B4-BE49-F238E27FC236}">
                <a16:creationId xmlns:a16="http://schemas.microsoft.com/office/drawing/2014/main" id="{4BD4D526-53F2-4AC6-DAD5-00865BAE7930}"/>
              </a:ext>
            </a:extLst>
          </p:cNvPr>
          <p:cNvGrpSpPr/>
          <p:nvPr/>
        </p:nvGrpSpPr>
        <p:grpSpPr>
          <a:xfrm>
            <a:off x="940004" y="321492"/>
            <a:ext cx="6217883" cy="311851"/>
            <a:chOff x="940249" y="302538"/>
            <a:chExt cx="6219503" cy="311932"/>
          </a:xfrm>
        </p:grpSpPr>
        <p:sp>
          <p:nvSpPr>
            <p:cNvPr id="13" name="TextBox 12">
              <a:extLst>
                <a:ext uri="{FF2B5EF4-FFF2-40B4-BE49-F238E27FC236}">
                  <a16:creationId xmlns:a16="http://schemas.microsoft.com/office/drawing/2014/main" id="{21137F46-25CE-AED5-6335-51C1D822A02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l">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4D8C25B7-37B2-7AC0-A133-0DDE278C028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5" name="AutoShape 9">
              <a:extLst>
                <a:ext uri="{FF2B5EF4-FFF2-40B4-BE49-F238E27FC236}">
                  <a16:creationId xmlns:a16="http://schemas.microsoft.com/office/drawing/2014/main" id="{296ADE53-08C9-1BD8-FA4D-C63D07834CCE}"/>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6" name="AutoShape 9">
              <a:extLst>
                <a:ext uri="{FF2B5EF4-FFF2-40B4-BE49-F238E27FC236}">
                  <a16:creationId xmlns:a16="http://schemas.microsoft.com/office/drawing/2014/main" id="{E959797E-C739-8CF4-62C6-56D8E4CC9344}"/>
                </a:ext>
              </a:extLst>
            </p:cNvPr>
            <p:cNvSpPr>
              <a:spLocks noChangeArrowheads="1"/>
            </p:cNvSpPr>
            <p:nvPr/>
          </p:nvSpPr>
          <p:spPr bwMode="auto">
            <a:xfrm>
              <a:off x="1557658"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7" name="AutoShape 9">
              <a:extLst>
                <a:ext uri="{FF2B5EF4-FFF2-40B4-BE49-F238E27FC236}">
                  <a16:creationId xmlns:a16="http://schemas.microsoft.com/office/drawing/2014/main" id="{18B5F63B-C7B0-57C2-C326-ACCD2D21C485}"/>
                </a:ext>
              </a:extLst>
            </p:cNvPr>
            <p:cNvSpPr>
              <a:spLocks noChangeArrowheads="1"/>
            </p:cNvSpPr>
            <p:nvPr/>
          </p:nvSpPr>
          <p:spPr bwMode="auto">
            <a:xfrm>
              <a:off x="1231656" y="302538"/>
              <a:ext cx="432817" cy="290656"/>
            </a:xfrm>
            <a:prstGeom prst="homePlate">
              <a:avLst>
                <a:gd name="adj" fmla="val 29912"/>
              </a:avLst>
            </a:prstGeom>
            <a:solidFill>
              <a:srgbClr val="191C25"/>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sp>
          <p:nvSpPr>
            <p:cNvPr id="18" name="AutoShape 11">
              <a:extLst>
                <a:ext uri="{FF2B5EF4-FFF2-40B4-BE49-F238E27FC236}">
                  <a16:creationId xmlns:a16="http://schemas.microsoft.com/office/drawing/2014/main" id="{6B26088C-E820-7A87-8EAF-6B395A0A496A}"/>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1999" dirty="0">
                <a:solidFill>
                  <a:schemeClr val="bg1"/>
                </a:solidFill>
                <a:latin typeface="+mn-lt"/>
              </a:endParaRPr>
            </a:p>
          </p:txBody>
        </p:sp>
      </p:grpSp>
      <p:sp>
        <p:nvSpPr>
          <p:cNvPr id="19" name="Slide Number Placeholder 2">
            <a:extLst>
              <a:ext uri="{FF2B5EF4-FFF2-40B4-BE49-F238E27FC236}">
                <a16:creationId xmlns:a16="http://schemas.microsoft.com/office/drawing/2014/main" id="{9B152DA7-3AB0-81BC-21B1-8109416EF5DC}"/>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166</a:t>
            </a:fld>
            <a:endParaRPr lang="en-US" dirty="0"/>
          </a:p>
        </p:txBody>
      </p:sp>
    </p:spTree>
    <p:extLst>
      <p:ext uri="{BB962C8B-B14F-4D97-AF65-F5344CB8AC3E}">
        <p14:creationId xmlns:p14="http://schemas.microsoft.com/office/powerpoint/2010/main" val="415029364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D31F970-4EFC-FAE8-BF0F-61E419478FC1}"/>
              </a:ext>
            </a:extLst>
          </p:cNvPr>
          <p:cNvSpPr>
            <a:spLocks noGrp="1"/>
          </p:cNvSpPr>
          <p:nvPr>
            <p:ph type="ctrTitle"/>
          </p:nvPr>
        </p:nvSpPr>
        <p:spPr/>
        <p:txBody>
          <a:bodyPr/>
          <a:lstStyle/>
          <a:p>
            <a:r>
              <a:rPr lang="en-US" dirty="0"/>
              <a:t>Appendix A</a:t>
            </a:r>
          </a:p>
        </p:txBody>
      </p:sp>
      <p:sp>
        <p:nvSpPr>
          <p:cNvPr id="7" name="Slide Number Placeholder 2">
            <a:extLst>
              <a:ext uri="{FF2B5EF4-FFF2-40B4-BE49-F238E27FC236}">
                <a16:creationId xmlns:a16="http://schemas.microsoft.com/office/drawing/2014/main" id="{43B27D93-4187-CF71-435C-8894B5A79965}"/>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167</a:t>
            </a:fld>
            <a:endParaRPr lang="en-US" dirty="0"/>
          </a:p>
        </p:txBody>
      </p:sp>
    </p:spTree>
    <p:extLst>
      <p:ext uri="{BB962C8B-B14F-4D97-AF65-F5344CB8AC3E}">
        <p14:creationId xmlns:p14="http://schemas.microsoft.com/office/powerpoint/2010/main" val="3022492356"/>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DAC5F3-793B-99D6-54D1-A86B8864703E}"/>
              </a:ext>
            </a:extLst>
          </p:cNvPr>
          <p:cNvSpPr>
            <a:spLocks noGrp="1"/>
          </p:cNvSpPr>
          <p:nvPr>
            <p:ph type="title" idx="4294967295"/>
          </p:nvPr>
        </p:nvSpPr>
        <p:spPr>
          <a:xfrm>
            <a:off x="0" y="254000"/>
            <a:ext cx="10512425" cy="457200"/>
          </a:xfrm>
        </p:spPr>
        <p:txBody>
          <a:bodyPr>
            <a:normAutofit/>
          </a:bodyPr>
          <a:lstStyle/>
          <a:p>
            <a:r>
              <a:rPr lang="en-US" altLang="en-US" sz="2000" dirty="0">
                <a:solidFill>
                  <a:schemeClr val="bg1"/>
                </a:solidFill>
              </a:rPr>
              <a:t>VSM Icons</a:t>
            </a:r>
            <a:endParaRPr lang="en-US" sz="2000" dirty="0">
              <a:solidFill>
                <a:schemeClr val="bg1"/>
              </a:solidFill>
            </a:endParaRPr>
          </a:p>
        </p:txBody>
      </p:sp>
      <p:graphicFrame>
        <p:nvGraphicFramePr>
          <p:cNvPr id="14" name="Table">
            <a:extLst>
              <a:ext uri="{FF2B5EF4-FFF2-40B4-BE49-F238E27FC236}">
                <a16:creationId xmlns:a16="http://schemas.microsoft.com/office/drawing/2014/main" id="{29551A8D-3146-3626-679C-DBA530BF2F3F}"/>
              </a:ext>
            </a:extLst>
          </p:cNvPr>
          <p:cNvGraphicFramePr/>
          <p:nvPr>
            <p:extLst>
              <p:ext uri="{D42A27DB-BD31-4B8C-83A1-F6EECF244321}">
                <p14:modId xmlns:p14="http://schemas.microsoft.com/office/powerpoint/2010/main" val="2557932968"/>
              </p:ext>
            </p:extLst>
          </p:nvPr>
        </p:nvGraphicFramePr>
        <p:xfrm>
          <a:off x="1034439" y="690618"/>
          <a:ext cx="9468692" cy="5918200"/>
        </p:xfrm>
        <a:graphic>
          <a:graphicData uri="http://schemas.openxmlformats.org/drawingml/2006/table">
            <a:tbl>
              <a:tblPr firstRow="1">
                <a:tableStyleId>{4C3C2611-4C71-4FC5-86AE-919BDF0F9419}</a:tableStyleId>
              </a:tblPr>
              <a:tblGrid>
                <a:gridCol w="1871481">
                  <a:extLst>
                    <a:ext uri="{9D8B030D-6E8A-4147-A177-3AD203B41FA5}">
                      <a16:colId xmlns:a16="http://schemas.microsoft.com/office/drawing/2014/main" val="20000"/>
                    </a:ext>
                  </a:extLst>
                </a:gridCol>
                <a:gridCol w="2516356">
                  <a:extLst>
                    <a:ext uri="{9D8B030D-6E8A-4147-A177-3AD203B41FA5}">
                      <a16:colId xmlns:a16="http://schemas.microsoft.com/office/drawing/2014/main" val="20001"/>
                    </a:ext>
                  </a:extLst>
                </a:gridCol>
                <a:gridCol w="5080855">
                  <a:extLst>
                    <a:ext uri="{9D8B030D-6E8A-4147-A177-3AD203B41FA5}">
                      <a16:colId xmlns:a16="http://schemas.microsoft.com/office/drawing/2014/main" val="3429638595"/>
                    </a:ext>
                  </a:extLst>
                </a:gridCol>
              </a:tblGrid>
              <a:tr h="0">
                <a:tc>
                  <a:txBody>
                    <a:bodyPr/>
                    <a:lstStyle/>
                    <a:p>
                      <a:pPr algn="ctr" defTabSz="1828342">
                        <a:tabLst>
                          <a:tab pos="914400" algn="l"/>
                        </a:tabLst>
                        <a:defRPr sz="3500">
                          <a:solidFill>
                            <a:srgbClr val="999999"/>
                          </a:solidFill>
                        </a:defRPr>
                      </a:pPr>
                      <a:r>
                        <a:rPr lang="en-US" sz="1600" b="1" i="0" u="none" strike="noStrike" cap="none" spc="0" baseline="0" dirty="0">
                          <a:solidFill>
                            <a:schemeClr val="bg1"/>
                          </a:solidFill>
                          <a:uFillTx/>
                          <a:latin typeface="Roboto" panose="02000000000000000000"/>
                          <a:ea typeface="+mn-ea"/>
                          <a:cs typeface="+mn-cs"/>
                          <a:sym typeface="Roboto"/>
                        </a:rPr>
                        <a:t>VSM Icon</a:t>
                      </a:r>
                      <a:endParaRPr sz="1600" b="1" i="0" u="none" strike="noStrike" cap="none" spc="0" baseline="0" dirty="0">
                        <a:solidFill>
                          <a:schemeClr val="bg1"/>
                        </a:solidFill>
                        <a:uFillTx/>
                        <a:latin typeface="Roboto" panose="02000000000000000000"/>
                        <a:ea typeface="+mn-ea"/>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algn="ctr" defTabSz="1828342">
                        <a:defRPr sz="1800">
                          <a:solidFill>
                            <a:srgbClr val="000000"/>
                          </a:solidFill>
                        </a:defRPr>
                      </a:pPr>
                      <a:r>
                        <a:rPr lang="en-US" sz="1600" b="1" dirty="0">
                          <a:solidFill>
                            <a:schemeClr val="bg1"/>
                          </a:solidFill>
                          <a:latin typeface="Roboto" panose="02000000000000000000"/>
                        </a:rPr>
                        <a:t>Represents</a:t>
                      </a:r>
                      <a:endParaRPr sz="1600" b="1" dirty="0">
                        <a:solidFill>
                          <a:schemeClr val="bg1"/>
                        </a:solidFill>
                        <a:latin typeface="Roboto" panose="02000000000000000000"/>
                      </a:endParaRPr>
                    </a:p>
                  </a:txBody>
                  <a:tcPr marL="368300" marR="368300" marT="368300" marB="368300" anchor="ctr" horzOverflow="overflow">
                    <a:lnL w="0">
                      <a:miter lim="400000"/>
                    </a:lnL>
                    <a:lnR w="0">
                      <a:noFill/>
                      <a:miter lim="400000"/>
                    </a:lnR>
                    <a:lnT w="0">
                      <a:miter lim="400000"/>
                    </a:lnT>
                    <a:lnB w="0">
                      <a:miter lim="400000"/>
                    </a:lnB>
                    <a:solidFill>
                      <a:srgbClr val="EE3228"/>
                    </a:solidFill>
                  </a:tcPr>
                </a:tc>
                <a:tc>
                  <a:txBody>
                    <a:bodyPr/>
                    <a:lstStyle/>
                    <a:p>
                      <a:pPr algn="ctr" defTabSz="1828342">
                        <a:defRPr sz="1800">
                          <a:solidFill>
                            <a:srgbClr val="000000"/>
                          </a:solidFill>
                        </a:defRPr>
                      </a:pPr>
                      <a:r>
                        <a:rPr lang="en-US" sz="1600" b="1" dirty="0">
                          <a:solidFill>
                            <a:schemeClr val="bg1"/>
                          </a:solidFill>
                          <a:latin typeface="Roboto" panose="02000000000000000000"/>
                        </a:rPr>
                        <a:t>Notes</a:t>
                      </a:r>
                      <a:endParaRPr sz="1600" b="1" dirty="0">
                        <a:solidFill>
                          <a:schemeClr val="bg1"/>
                        </a:solidFill>
                        <a:latin typeface="Roboto" panose="02000000000000000000"/>
                      </a:endParaRPr>
                    </a:p>
                  </a:txBody>
                  <a:tcPr marL="368300" marR="368300" marT="368300" marB="368300"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896405">
                <a:tc>
                  <a:txBody>
                    <a:bodyPr/>
                    <a:lstStyle/>
                    <a:p>
                      <a:pPr marL="0" indent="0" algn="l" defTabSz="1828342">
                        <a:buNone/>
                        <a:defRPr sz="1800">
                          <a:solidFill>
                            <a:srgbClr val="000000"/>
                          </a:solidFill>
                        </a:defRPr>
                      </a:pPr>
                      <a:endParaRPr sz="1000" dirty="0">
                        <a:solidFill>
                          <a:schemeClr val="bg1"/>
                        </a:solidFill>
                        <a:latin typeface="Roboto" panose="02000000000000000000"/>
                      </a:endParaRPr>
                    </a:p>
                  </a:txBody>
                  <a:tcPr marL="368300" marR="368300" marT="274320" marB="274320"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200" dirty="0">
                          <a:solidFill>
                            <a:schemeClr val="bg1"/>
                          </a:solidFill>
                          <a:latin typeface="Roboto" panose="02000000000000000000"/>
                        </a:rPr>
                        <a:t>Process</a:t>
                      </a:r>
                    </a:p>
                  </a:txBody>
                  <a:tcPr marL="368300" marR="368300" marT="274320" marB="274320" anchor="ctr" horzOverflow="overflow">
                    <a:lnL w="0">
                      <a:miter lim="400000"/>
                    </a:lnL>
                    <a:lnR w="0">
                      <a:noFill/>
                      <a:miter lim="400000"/>
                    </a:lnR>
                    <a:lnT w="0">
                      <a:miter lim="400000"/>
                    </a:lnT>
                    <a:lnB w="0">
                      <a:miter lim="400000"/>
                    </a:lnB>
                    <a:solidFill>
                      <a:srgbClr val="191C26"/>
                    </a:solidFill>
                  </a:tcPr>
                </a:tc>
                <a:tc>
                  <a:txBody>
                    <a:bodyPr/>
                    <a:lstStyle/>
                    <a:p>
                      <a:pPr marL="571500" indent="-571500" algn="l" defTabSz="1828342">
                        <a:buClr>
                          <a:schemeClr val="bg1"/>
                        </a:buClr>
                        <a:buSzPct val="90000"/>
                        <a:buFont typeface="Arial" panose="020B0604020202020204" pitchFamily="34" charset="0"/>
                        <a:buChar char="•"/>
                        <a:defRPr sz="1800">
                          <a:solidFill>
                            <a:srgbClr val="000000"/>
                          </a:solidFill>
                        </a:defRPr>
                      </a:pPr>
                      <a:r>
                        <a:rPr lang="en-US" sz="1200" dirty="0">
                          <a:solidFill>
                            <a:schemeClr val="bg1"/>
                          </a:solidFill>
                          <a:latin typeface="Roboto" panose="02000000000000000000"/>
                        </a:rPr>
                        <a:t>One process box equals an area of flow</a:t>
                      </a:r>
                    </a:p>
                    <a:p>
                      <a:pPr marL="571500" indent="-571500" algn="l" defTabSz="1828342">
                        <a:buClr>
                          <a:schemeClr val="bg1"/>
                        </a:buClr>
                        <a:buSzPct val="90000"/>
                        <a:buFont typeface="Arial" panose="020B0604020202020204" pitchFamily="34" charset="0"/>
                        <a:buChar char="•"/>
                        <a:defRPr sz="1800">
                          <a:solidFill>
                            <a:srgbClr val="000000"/>
                          </a:solidFill>
                        </a:defRPr>
                      </a:pPr>
                      <a:r>
                        <a:rPr lang="en-US" sz="1200" dirty="0">
                          <a:solidFill>
                            <a:schemeClr val="bg1"/>
                          </a:solidFill>
                          <a:latin typeface="Roboto" panose="02000000000000000000"/>
                        </a:rPr>
                        <a:t>All processes should be labeled</a:t>
                      </a:r>
                    </a:p>
                    <a:p>
                      <a:pPr marL="571500" indent="-571500" algn="l" defTabSz="1828342">
                        <a:buClr>
                          <a:schemeClr val="bg1"/>
                        </a:buClr>
                        <a:buSzPct val="90000"/>
                        <a:buFont typeface="Arial" panose="020B0604020202020204" pitchFamily="34" charset="0"/>
                        <a:buChar char="•"/>
                        <a:defRPr sz="1800">
                          <a:solidFill>
                            <a:srgbClr val="000000"/>
                          </a:solidFill>
                        </a:defRPr>
                      </a:pPr>
                      <a:r>
                        <a:rPr lang="en-US" sz="1200" dirty="0">
                          <a:solidFill>
                            <a:schemeClr val="bg1"/>
                          </a:solidFill>
                          <a:latin typeface="Roboto" panose="02000000000000000000"/>
                        </a:rPr>
                        <a:t>Also used for departments such as production control</a:t>
                      </a:r>
                    </a:p>
                  </a:txBody>
                  <a:tcPr marL="368300" marR="368300" marT="274320" marB="274320"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1087217">
                <a:tc>
                  <a:txBody>
                    <a:bodyPr/>
                    <a:lstStyle/>
                    <a:p>
                      <a:pPr marL="0" marR="0" lvl="0" indent="0" algn="l" defTabSz="1828342" eaLnBrk="1" fontAlgn="auto" latinLnBrk="0" hangingPunct="1">
                        <a:lnSpc>
                          <a:spcPct val="100000"/>
                        </a:lnSpc>
                        <a:spcBef>
                          <a:spcPts val="0"/>
                        </a:spcBef>
                        <a:spcAft>
                          <a:spcPts val="0"/>
                        </a:spcAft>
                        <a:buClrTx/>
                        <a:buSzTx/>
                        <a:buFontTx/>
                        <a:buNone/>
                        <a:tabLst/>
                        <a:defRPr sz="1800">
                          <a:solidFill>
                            <a:srgbClr val="000000"/>
                          </a:solidFill>
                        </a:defRPr>
                      </a:pPr>
                      <a:endParaRPr lang="en-US" sz="1000" dirty="0">
                        <a:solidFill>
                          <a:schemeClr val="bg1"/>
                        </a:solidFill>
                        <a:latin typeface="Roboto" panose="02000000000000000000"/>
                      </a:endParaRPr>
                    </a:p>
                  </a:txBody>
                  <a:tcPr marL="368300" marR="368300" marT="274320" marB="274320"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200" dirty="0">
                          <a:solidFill>
                            <a:schemeClr val="bg1"/>
                          </a:solidFill>
                          <a:latin typeface="Roboto" panose="02000000000000000000"/>
                        </a:rPr>
                        <a:t>Outside Sources</a:t>
                      </a:r>
                    </a:p>
                  </a:txBody>
                  <a:tcPr marL="368300" marR="368300" marT="274320" marB="274320" anchor="ctr" horzOverflow="overflow">
                    <a:lnL w="0">
                      <a:miter lim="400000"/>
                    </a:lnL>
                    <a:lnR w="0">
                      <a:noFill/>
                      <a:miter lim="400000"/>
                    </a:lnR>
                    <a:lnT w="0">
                      <a:miter lim="400000"/>
                    </a:lnT>
                    <a:lnB w="0">
                      <a:miter lim="400000"/>
                    </a:lnB>
                    <a:solidFill>
                      <a:srgbClr val="7A7A7A"/>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Used to show customers, suppliers and outside manufacturing processes</a:t>
                      </a:r>
                    </a:p>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For project-based maps, could depict the start and end of the process</a:t>
                      </a:r>
                    </a:p>
                  </a:txBody>
                  <a:tcPr marL="368300" marR="368300" marT="274320" marB="274320"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760586">
                <a:tc>
                  <a:txBody>
                    <a:bodyPr/>
                    <a:lstStyle/>
                    <a:p>
                      <a:pPr algn="l" defTabSz="1828342">
                        <a:defRPr sz="1800">
                          <a:solidFill>
                            <a:srgbClr val="000000"/>
                          </a:solidFill>
                        </a:defRPr>
                      </a:pPr>
                      <a:endParaRPr sz="1000" dirty="0">
                        <a:solidFill>
                          <a:schemeClr val="bg1"/>
                        </a:solidFill>
                        <a:latin typeface="Roboto" panose="02000000000000000000"/>
                      </a:endParaRPr>
                    </a:p>
                  </a:txBody>
                  <a:tcPr marL="368300" marR="368300" marT="274320" marB="274320"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Data Box</a:t>
                      </a:r>
                    </a:p>
                  </a:txBody>
                  <a:tcPr marL="368300" marR="368300" marT="274320" marB="274320" anchor="ctr" horzOverflow="overflow">
                    <a:lnL w="0">
                      <a:miter lim="400000"/>
                    </a:lnL>
                    <a:lnR w="0">
                      <a:noFill/>
                      <a:miter lim="400000"/>
                    </a:lnR>
                    <a:lnT w="0">
                      <a:miter lim="400000"/>
                    </a:lnT>
                    <a:lnB w="0">
                      <a:miter lim="400000"/>
                    </a:lnB>
                    <a:solidFill>
                      <a:srgbClr val="191C26"/>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Used to record information concerning a process, department, customer, etc.</a:t>
                      </a:r>
                    </a:p>
                  </a:txBody>
                  <a:tcPr marL="368300" marR="368300" marT="274320" marB="274320"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r h="624767">
                <a:tc>
                  <a:txBody>
                    <a:bodyPr/>
                    <a:lstStyle/>
                    <a:p>
                      <a:pPr algn="l" defTabSz="1828342">
                        <a:defRPr sz="1800">
                          <a:solidFill>
                            <a:srgbClr val="000000"/>
                          </a:solidFill>
                        </a:defRPr>
                      </a:pPr>
                      <a:endParaRPr sz="1000" dirty="0">
                        <a:solidFill>
                          <a:schemeClr val="bg1"/>
                        </a:solidFill>
                        <a:latin typeface="Roboto" panose="02000000000000000000"/>
                      </a:endParaRPr>
                    </a:p>
                  </a:txBody>
                  <a:tcPr marL="368300" marR="368300" marT="274320" marB="274320" anchor="ctr" horzOverflow="overflow">
                    <a:lnL w="0">
                      <a:miter lim="400000"/>
                    </a:lnL>
                    <a:lnR w="0">
                      <a:miter lim="400000"/>
                    </a:lnR>
                    <a:lnT w="0">
                      <a:miter lim="400000"/>
                    </a:lnT>
                    <a:lnB w="0">
                      <a:noFill/>
                      <a:miter lim="400000"/>
                    </a:lnB>
                    <a:solidFill>
                      <a:srgbClr val="7A7A7A"/>
                    </a:solidFill>
                  </a:tcPr>
                </a:tc>
                <a:tc>
                  <a:txBody>
                    <a:bodyPr/>
                    <a:lstStyle/>
                    <a:p>
                      <a:pPr algn="l" defTabSz="1828342">
                        <a:defRPr sz="1800">
                          <a:solidFill>
                            <a:srgbClr val="000000"/>
                          </a:solidFill>
                        </a:defRPr>
                      </a:pPr>
                      <a:r>
                        <a:rPr lang="en-US" sz="1200" dirty="0">
                          <a:solidFill>
                            <a:schemeClr val="bg1"/>
                          </a:solidFill>
                          <a:latin typeface="Roboto" panose="02000000000000000000"/>
                        </a:rPr>
                        <a:t> Inventory</a:t>
                      </a:r>
                    </a:p>
                  </a:txBody>
                  <a:tcPr marL="368300" marR="368300" marT="274320" marB="274320" anchor="ctr" horzOverflow="overflow">
                    <a:lnL w="0">
                      <a:miter lim="400000"/>
                    </a:lnL>
                    <a:lnR w="0">
                      <a:noFill/>
                      <a:miter lim="400000"/>
                    </a:lnR>
                    <a:lnT w="0">
                      <a:miter lim="400000"/>
                    </a:lnT>
                    <a:lnB w="0">
                      <a:noFill/>
                      <a:miter lim="400000"/>
                    </a:lnB>
                    <a:solidFill>
                      <a:srgbClr val="7A7A7A"/>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Count and time should be noted</a:t>
                      </a:r>
                    </a:p>
                  </a:txBody>
                  <a:tcPr marL="368300" marR="368300" marT="274320" marB="274320"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4"/>
                  </a:ext>
                </a:extLst>
              </a:tr>
              <a:tr h="624767">
                <a:tc>
                  <a:txBody>
                    <a:bodyPr/>
                    <a:lstStyle/>
                    <a:p>
                      <a:pPr algn="l" defTabSz="1828342">
                        <a:defRPr sz="1800">
                          <a:solidFill>
                            <a:srgbClr val="000000"/>
                          </a:solidFill>
                        </a:defRPr>
                      </a:pPr>
                      <a:endParaRPr sz="1000" dirty="0">
                        <a:solidFill>
                          <a:schemeClr val="bg1"/>
                        </a:solidFill>
                        <a:latin typeface="Roboto" panose="02000000000000000000"/>
                      </a:endParaRPr>
                    </a:p>
                  </a:txBody>
                  <a:tcPr marL="368300" marR="368300" marT="274320" marB="274320" anchor="ctr" horzOverflow="overflow">
                    <a:lnL w="0">
                      <a:miter lim="400000"/>
                    </a:lnL>
                    <a:lnR w="0">
                      <a:noFill/>
                      <a:miter lim="400000"/>
                    </a:lnR>
                    <a:lnT w="0">
                      <a:miter lim="400000"/>
                    </a:lnT>
                    <a:lnB w="0">
                      <a:noFill/>
                      <a:miter lim="400000"/>
                    </a:lnB>
                    <a:solidFill>
                      <a:srgbClr val="191C25"/>
                    </a:solidFill>
                  </a:tcPr>
                </a:tc>
                <a:tc>
                  <a:txBody>
                    <a:bodyPr/>
                    <a:lstStyle/>
                    <a:p>
                      <a:pPr algn="l" defTabSz="1828342">
                        <a:defRPr sz="1800">
                          <a:solidFill>
                            <a:srgbClr val="000000"/>
                          </a:solidFill>
                        </a:defRPr>
                      </a:pPr>
                      <a:r>
                        <a:rPr lang="en-US" sz="1200" dirty="0">
                          <a:solidFill>
                            <a:schemeClr val="bg1"/>
                          </a:solidFill>
                          <a:latin typeface="Roboto" panose="02000000000000000000"/>
                        </a:rPr>
                        <a:t>Physical Shipment or Mailing</a:t>
                      </a:r>
                    </a:p>
                  </a:txBody>
                  <a:tcPr marL="368300" marR="368300" marT="274320" marB="274320" anchor="ctr" horzOverflow="overflow">
                    <a:lnL w="0">
                      <a:noFill/>
                      <a:miter lim="400000"/>
                    </a:lnL>
                    <a:lnR w="0">
                      <a:noFill/>
                      <a:miter lim="400000"/>
                    </a:lnR>
                    <a:lnT w="0">
                      <a:miter lim="400000"/>
                    </a:lnT>
                    <a:lnB w="0">
                      <a:noFill/>
                      <a:miter lim="400000"/>
                    </a:lnB>
                    <a:solidFill>
                      <a:srgbClr val="191C25"/>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200" b="0" i="0" u="none" strike="noStrike" cap="none" spc="0" baseline="0" dirty="0">
                          <a:solidFill>
                            <a:schemeClr val="bg1"/>
                          </a:solidFill>
                          <a:uFillTx/>
                          <a:latin typeface="Roboto" panose="02000000000000000000"/>
                          <a:ea typeface="+mn-ea"/>
                          <a:cs typeface="+mn-cs"/>
                          <a:sym typeface="Roboto"/>
                        </a:rPr>
                        <a:t>Note frequency of shipments</a:t>
                      </a:r>
                    </a:p>
                  </a:txBody>
                  <a:tcPr marL="368300" marR="368300" marT="274320" marB="274320" anchor="ctr" horzOverflow="overflow">
                    <a:lnL w="0">
                      <a:noFill/>
                      <a:miter lim="400000"/>
                    </a:lnL>
                    <a:lnR w="0">
                      <a:noFill/>
                      <a:miter lim="400000"/>
                    </a:lnR>
                    <a:lnT w="0">
                      <a:noFill/>
                      <a:miter lim="400000"/>
                    </a:lnT>
                    <a:lnB w="0">
                      <a:noFill/>
                      <a:miter lim="400000"/>
                    </a:lnB>
                    <a:solidFill>
                      <a:srgbClr val="191C25"/>
                    </a:solidFill>
                  </a:tcPr>
                </a:tc>
                <a:extLst>
                  <a:ext uri="{0D108BD9-81ED-4DB2-BD59-A6C34878D82A}">
                    <a16:rowId xmlns:a16="http://schemas.microsoft.com/office/drawing/2014/main" val="1296931529"/>
                  </a:ext>
                </a:extLst>
              </a:tr>
            </a:tbl>
          </a:graphicData>
        </a:graphic>
      </p:graphicFrame>
      <p:grpSp>
        <p:nvGrpSpPr>
          <p:cNvPr id="18" name="Group 17">
            <a:extLst>
              <a:ext uri="{FF2B5EF4-FFF2-40B4-BE49-F238E27FC236}">
                <a16:creationId xmlns:a16="http://schemas.microsoft.com/office/drawing/2014/main" id="{A761CFC1-42BB-5729-22DF-7ED636FE766D}"/>
              </a:ext>
            </a:extLst>
          </p:cNvPr>
          <p:cNvGrpSpPr/>
          <p:nvPr/>
        </p:nvGrpSpPr>
        <p:grpSpPr>
          <a:xfrm>
            <a:off x="1369718" y="1809385"/>
            <a:ext cx="1165376" cy="811632"/>
            <a:chOff x="3337010" y="3201904"/>
            <a:chExt cx="704173" cy="498475"/>
          </a:xfrm>
        </p:grpSpPr>
        <p:sp>
          <p:nvSpPr>
            <p:cNvPr id="15" name="Rectangle 39">
              <a:extLst>
                <a:ext uri="{FF2B5EF4-FFF2-40B4-BE49-F238E27FC236}">
                  <a16:creationId xmlns:a16="http://schemas.microsoft.com/office/drawing/2014/main" id="{3DC729B7-B06F-2FE3-DBE4-E6584CE91D16}"/>
                </a:ext>
              </a:extLst>
            </p:cNvPr>
            <p:cNvSpPr>
              <a:spLocks noChangeArrowheads="1"/>
            </p:cNvSpPr>
            <p:nvPr/>
          </p:nvSpPr>
          <p:spPr bwMode="auto">
            <a:xfrm>
              <a:off x="3337010" y="3201904"/>
              <a:ext cx="693737" cy="4984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6" name="Line 40">
              <a:extLst>
                <a:ext uri="{FF2B5EF4-FFF2-40B4-BE49-F238E27FC236}">
                  <a16:creationId xmlns:a16="http://schemas.microsoft.com/office/drawing/2014/main" id="{EE4FEBE2-F79F-AD3B-3BFD-C9320DFB07DA}"/>
                </a:ext>
              </a:extLst>
            </p:cNvPr>
            <p:cNvSpPr>
              <a:spLocks noChangeShapeType="1"/>
            </p:cNvSpPr>
            <p:nvPr/>
          </p:nvSpPr>
          <p:spPr bwMode="auto">
            <a:xfrm>
              <a:off x="3341772" y="3401347"/>
              <a:ext cx="69941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sz="1399"/>
            </a:p>
          </p:txBody>
        </p:sp>
        <p:sp>
          <p:nvSpPr>
            <p:cNvPr id="17" name="Text Box 41">
              <a:extLst>
                <a:ext uri="{FF2B5EF4-FFF2-40B4-BE49-F238E27FC236}">
                  <a16:creationId xmlns:a16="http://schemas.microsoft.com/office/drawing/2014/main" id="{F3CD045D-BBEF-205B-545E-03822C029905}"/>
                </a:ext>
              </a:extLst>
            </p:cNvPr>
            <p:cNvSpPr txBox="1">
              <a:spLocks noChangeArrowheads="1"/>
            </p:cNvSpPr>
            <p:nvPr/>
          </p:nvSpPr>
          <p:spPr bwMode="auto">
            <a:xfrm>
              <a:off x="3360822" y="3208679"/>
              <a:ext cx="649288" cy="189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b="0" dirty="0">
                  <a:solidFill>
                    <a:schemeClr val="tx1"/>
                  </a:solidFill>
                  <a:latin typeface="+mn-lt"/>
                </a:rPr>
                <a:t>Receipt</a:t>
              </a:r>
            </a:p>
          </p:txBody>
        </p:sp>
      </p:grpSp>
      <p:grpSp>
        <p:nvGrpSpPr>
          <p:cNvPr id="19" name="Group 42">
            <a:extLst>
              <a:ext uri="{FF2B5EF4-FFF2-40B4-BE49-F238E27FC236}">
                <a16:creationId xmlns:a16="http://schemas.microsoft.com/office/drawing/2014/main" id="{0B64D539-AAD0-B0D3-DBE8-AB18B2FEFCFB}"/>
              </a:ext>
            </a:extLst>
          </p:cNvPr>
          <p:cNvGrpSpPr>
            <a:grpSpLocks/>
          </p:cNvGrpSpPr>
          <p:nvPr/>
        </p:nvGrpSpPr>
        <p:grpSpPr bwMode="auto">
          <a:xfrm>
            <a:off x="1308946" y="2954372"/>
            <a:ext cx="1244751" cy="869434"/>
            <a:chOff x="435" y="1322"/>
            <a:chExt cx="583" cy="348"/>
          </a:xfrm>
        </p:grpSpPr>
        <p:grpSp>
          <p:nvGrpSpPr>
            <p:cNvPr id="20" name="Group 43">
              <a:extLst>
                <a:ext uri="{FF2B5EF4-FFF2-40B4-BE49-F238E27FC236}">
                  <a16:creationId xmlns:a16="http://schemas.microsoft.com/office/drawing/2014/main" id="{086BE54C-7933-1AA2-F397-C277E6833B08}"/>
                </a:ext>
              </a:extLst>
            </p:cNvPr>
            <p:cNvGrpSpPr>
              <a:grpSpLocks/>
            </p:cNvGrpSpPr>
            <p:nvPr/>
          </p:nvGrpSpPr>
          <p:grpSpPr bwMode="auto">
            <a:xfrm>
              <a:off x="474" y="1322"/>
              <a:ext cx="508" cy="348"/>
              <a:chOff x="536" y="1322"/>
              <a:chExt cx="446" cy="348"/>
            </a:xfrm>
          </p:grpSpPr>
          <p:sp>
            <p:nvSpPr>
              <p:cNvPr id="22" name="Rectangle 44">
                <a:extLst>
                  <a:ext uri="{FF2B5EF4-FFF2-40B4-BE49-F238E27FC236}">
                    <a16:creationId xmlns:a16="http://schemas.microsoft.com/office/drawing/2014/main" id="{1A4668DA-B0D0-2108-D53D-2BF43FF2E732}"/>
                  </a:ext>
                </a:extLst>
              </p:cNvPr>
              <p:cNvSpPr>
                <a:spLocks noChangeArrowheads="1"/>
              </p:cNvSpPr>
              <p:nvPr/>
            </p:nvSpPr>
            <p:spPr bwMode="auto">
              <a:xfrm>
                <a:off x="950" y="1322"/>
                <a:ext cx="29" cy="188"/>
              </a:xfrm>
              <a:prstGeom prst="rect">
                <a:avLst/>
              </a:prstGeom>
              <a:solidFill>
                <a:schemeClr val="tx1"/>
              </a:solidFill>
              <a:ln w="19050" cap="sq">
                <a:solidFill>
                  <a:schemeClr val="bg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3" name="Rectangle 45">
                <a:extLst>
                  <a:ext uri="{FF2B5EF4-FFF2-40B4-BE49-F238E27FC236}">
                    <a16:creationId xmlns:a16="http://schemas.microsoft.com/office/drawing/2014/main" id="{6EA35DA1-E913-0577-509E-0C1F9917CAE3}"/>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700" b="0">
                  <a:solidFill>
                    <a:srgbClr val="FF0000"/>
                  </a:solidFill>
                </a:endParaRPr>
              </a:p>
            </p:txBody>
          </p:sp>
          <p:sp>
            <p:nvSpPr>
              <p:cNvPr id="24" name="AutoShape 46">
                <a:extLst>
                  <a:ext uri="{FF2B5EF4-FFF2-40B4-BE49-F238E27FC236}">
                    <a16:creationId xmlns:a16="http://schemas.microsoft.com/office/drawing/2014/main" id="{927156F1-2932-721D-EC77-87B8A166F98D}"/>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5" name="AutoShape 47">
                <a:extLst>
                  <a:ext uri="{FF2B5EF4-FFF2-40B4-BE49-F238E27FC236}">
                    <a16:creationId xmlns:a16="http://schemas.microsoft.com/office/drawing/2014/main" id="{0311F126-E79B-DA0D-8DBC-DB7929B9D7E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6" name="AutoShape 48">
                <a:extLst>
                  <a:ext uri="{FF2B5EF4-FFF2-40B4-BE49-F238E27FC236}">
                    <a16:creationId xmlns:a16="http://schemas.microsoft.com/office/drawing/2014/main" id="{6C96034C-6928-E709-2309-BD9F99824D74}"/>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7" name="Rectangle 49">
                <a:extLst>
                  <a:ext uri="{FF2B5EF4-FFF2-40B4-BE49-F238E27FC236}">
                    <a16:creationId xmlns:a16="http://schemas.microsoft.com/office/drawing/2014/main" id="{07F51B92-77B0-869D-6000-C0FB53D5F29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8" name="Rectangle 50">
                <a:extLst>
                  <a:ext uri="{FF2B5EF4-FFF2-40B4-BE49-F238E27FC236}">
                    <a16:creationId xmlns:a16="http://schemas.microsoft.com/office/drawing/2014/main" id="{9CD51345-B0B8-0199-E5FC-40C4DA4DD7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9" name="Rectangle 51">
                <a:extLst>
                  <a:ext uri="{FF2B5EF4-FFF2-40B4-BE49-F238E27FC236}">
                    <a16:creationId xmlns:a16="http://schemas.microsoft.com/office/drawing/2014/main" id="{263FD259-83CE-73EC-9FC8-00626EFA6AF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21" name="Text Box 52">
              <a:extLst>
                <a:ext uri="{FF2B5EF4-FFF2-40B4-BE49-F238E27FC236}">
                  <a16:creationId xmlns:a16="http://schemas.microsoft.com/office/drawing/2014/main" id="{A9374E5C-C9D7-5E46-0087-0C40E966BD15}"/>
                </a:ext>
              </a:extLst>
            </p:cNvPr>
            <p:cNvSpPr txBox="1">
              <a:spLocks noChangeArrowheads="1"/>
            </p:cNvSpPr>
            <p:nvPr/>
          </p:nvSpPr>
          <p:spPr bwMode="auto">
            <a:xfrm>
              <a:off x="435" y="1494"/>
              <a:ext cx="583" cy="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endParaRPr lang="en-US" altLang="en-US" sz="350" b="0">
                <a:solidFill>
                  <a:schemeClr val="tx1"/>
                </a:solidFill>
              </a:endParaRPr>
            </a:p>
            <a:p>
              <a:pPr>
                <a:lnSpc>
                  <a:spcPct val="90000"/>
                </a:lnSpc>
                <a:spcBef>
                  <a:spcPct val="0"/>
                </a:spcBef>
              </a:pPr>
              <a:endParaRPr lang="en-US" altLang="en-US" sz="350" b="0">
                <a:solidFill>
                  <a:schemeClr val="tx1"/>
                </a:solidFill>
              </a:endParaRPr>
            </a:p>
          </p:txBody>
        </p:sp>
      </p:grpSp>
      <p:sp>
        <p:nvSpPr>
          <p:cNvPr id="37" name="Rectangle 36">
            <a:extLst>
              <a:ext uri="{FF2B5EF4-FFF2-40B4-BE49-F238E27FC236}">
                <a16:creationId xmlns:a16="http://schemas.microsoft.com/office/drawing/2014/main" id="{DA541740-5EB7-4321-02AB-6B2B5E29A433}"/>
              </a:ext>
            </a:extLst>
          </p:cNvPr>
          <p:cNvSpPr/>
          <p:nvPr/>
        </p:nvSpPr>
        <p:spPr>
          <a:xfrm>
            <a:off x="1154769" y="4159730"/>
            <a:ext cx="1475205" cy="666835"/>
          </a:xfrm>
          <a:prstGeom prst="rect">
            <a:avLst/>
          </a:pr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25393" tIns="25393" rIns="25393" bIns="25393" numCol="1" spcCol="38100" rtlCol="0" anchor="ctr">
            <a:spAutoFit/>
          </a:bodyPr>
          <a:lstStyle/>
          <a:p>
            <a:pPr algn="l" defTabSz="292042"/>
            <a:r>
              <a:rPr lang="en-US" sz="1000" dirty="0">
                <a:solidFill>
                  <a:schemeClr val="tx1"/>
                </a:solidFill>
                <a:effectLst>
                  <a:outerShdw blurRad="38100" dist="12700" dir="5400000" rotWithShape="0">
                    <a:srgbClr val="000000">
                      <a:alpha val="50000"/>
                    </a:srgbClr>
                  </a:outerShdw>
                </a:effectLst>
              </a:rPr>
              <a:t>Processing Time = 15”</a:t>
            </a:r>
          </a:p>
          <a:p>
            <a:pPr algn="l" defTabSz="292042"/>
            <a:r>
              <a:rPr lang="en-US" sz="1000" dirty="0">
                <a:solidFill>
                  <a:schemeClr val="tx1"/>
                </a:solidFill>
                <a:effectLst>
                  <a:outerShdw blurRad="38100" dist="12700" dir="5400000" rotWithShape="0">
                    <a:srgbClr val="000000">
                      <a:alpha val="50000"/>
                    </a:srgbClr>
                  </a:outerShdw>
                </a:effectLst>
              </a:rPr>
              <a:t>DOI =  8”</a:t>
            </a:r>
          </a:p>
          <a:p>
            <a:pPr algn="l" defTabSz="292042"/>
            <a:r>
              <a:rPr lang="en-US" sz="1000" dirty="0">
                <a:solidFill>
                  <a:schemeClr val="tx1"/>
                </a:solidFill>
                <a:effectLst>
                  <a:outerShdw blurRad="38100" dist="12700" dir="5400000" rotWithShape="0">
                    <a:srgbClr val="000000">
                      <a:alpha val="50000"/>
                    </a:srgbClr>
                  </a:outerShdw>
                </a:effectLst>
              </a:rPr>
              <a:t>Quality = 100%</a:t>
            </a:r>
          </a:p>
          <a:p>
            <a:pPr algn="l" defTabSz="292042"/>
            <a:r>
              <a:rPr lang="en-US" sz="1000" dirty="0">
                <a:solidFill>
                  <a:schemeClr val="tx1"/>
                </a:solidFill>
                <a:effectLst>
                  <a:outerShdw blurRad="38100" dist="12700" dir="5400000" rotWithShape="0">
                    <a:srgbClr val="000000">
                      <a:alpha val="50000"/>
                    </a:srgbClr>
                  </a:outerShdw>
                </a:effectLst>
              </a:rPr>
              <a:t># Rework = 0</a:t>
            </a:r>
          </a:p>
        </p:txBody>
      </p:sp>
      <p:sp>
        <p:nvSpPr>
          <p:cNvPr id="38" name="AutoShape 60">
            <a:extLst>
              <a:ext uri="{FF2B5EF4-FFF2-40B4-BE49-F238E27FC236}">
                <a16:creationId xmlns:a16="http://schemas.microsoft.com/office/drawing/2014/main" id="{1718B0AB-6E87-3B12-383F-741F1641EA7F}"/>
              </a:ext>
            </a:extLst>
          </p:cNvPr>
          <p:cNvSpPr>
            <a:spLocks noChangeArrowheads="1"/>
          </p:cNvSpPr>
          <p:nvPr/>
        </p:nvSpPr>
        <p:spPr bwMode="auto">
          <a:xfrm>
            <a:off x="1731488" y="4943113"/>
            <a:ext cx="441836" cy="40158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tx1"/>
                </a:solidFill>
                <a:latin typeface="Times New Roman" panose="02020603050405020304" pitchFamily="18" charset="0"/>
              </a:rPr>
              <a:t>I</a:t>
            </a:r>
          </a:p>
        </p:txBody>
      </p:sp>
      <p:sp>
        <p:nvSpPr>
          <p:cNvPr id="39" name="TextBox 38">
            <a:extLst>
              <a:ext uri="{FF2B5EF4-FFF2-40B4-BE49-F238E27FC236}">
                <a16:creationId xmlns:a16="http://schemas.microsoft.com/office/drawing/2014/main" id="{21F07277-8FD2-5D09-9A7B-49B5C188FFE1}"/>
              </a:ext>
            </a:extLst>
          </p:cNvPr>
          <p:cNvSpPr txBox="1"/>
          <p:nvPr/>
        </p:nvSpPr>
        <p:spPr>
          <a:xfrm>
            <a:off x="1649446" y="5344693"/>
            <a:ext cx="605921" cy="35905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altLang="en-US" sz="1000" dirty="0">
                <a:solidFill>
                  <a:schemeClr val="bg1"/>
                </a:solidFill>
              </a:rPr>
              <a:t>300 pieces</a:t>
            </a:r>
          </a:p>
          <a:p>
            <a:r>
              <a:rPr lang="en-US" altLang="en-US" sz="1000" dirty="0">
                <a:solidFill>
                  <a:schemeClr val="bg1"/>
                </a:solidFill>
              </a:rPr>
              <a:t>1 day</a:t>
            </a:r>
          </a:p>
        </p:txBody>
      </p:sp>
      <p:grpSp>
        <p:nvGrpSpPr>
          <p:cNvPr id="40" name="Group 62">
            <a:extLst>
              <a:ext uri="{FF2B5EF4-FFF2-40B4-BE49-F238E27FC236}">
                <a16:creationId xmlns:a16="http://schemas.microsoft.com/office/drawing/2014/main" id="{8584F79F-1E23-9A7E-D1E4-4221D6D704FB}"/>
              </a:ext>
            </a:extLst>
          </p:cNvPr>
          <p:cNvGrpSpPr>
            <a:grpSpLocks/>
          </p:cNvGrpSpPr>
          <p:nvPr/>
        </p:nvGrpSpPr>
        <p:grpSpPr bwMode="auto">
          <a:xfrm>
            <a:off x="1563716" y="5883392"/>
            <a:ext cx="724287" cy="442639"/>
            <a:chOff x="513" y="2099"/>
            <a:chExt cx="374" cy="258"/>
          </a:xfrm>
        </p:grpSpPr>
        <p:grpSp>
          <p:nvGrpSpPr>
            <p:cNvPr id="41" name="Group 63">
              <a:extLst>
                <a:ext uri="{FF2B5EF4-FFF2-40B4-BE49-F238E27FC236}">
                  <a16:creationId xmlns:a16="http://schemas.microsoft.com/office/drawing/2014/main" id="{6244493C-CF11-64BC-78FA-16BC2526A76E}"/>
                </a:ext>
              </a:extLst>
            </p:cNvPr>
            <p:cNvGrpSpPr>
              <a:grpSpLocks/>
            </p:cNvGrpSpPr>
            <p:nvPr/>
          </p:nvGrpSpPr>
          <p:grpSpPr bwMode="auto">
            <a:xfrm>
              <a:off x="550" y="2121"/>
              <a:ext cx="337" cy="236"/>
              <a:chOff x="536" y="3744"/>
              <a:chExt cx="415" cy="261"/>
            </a:xfrm>
          </p:grpSpPr>
          <p:sp>
            <p:nvSpPr>
              <p:cNvPr id="43" name="Rectangle 64">
                <a:extLst>
                  <a:ext uri="{FF2B5EF4-FFF2-40B4-BE49-F238E27FC236}">
                    <a16:creationId xmlns:a16="http://schemas.microsoft.com/office/drawing/2014/main" id="{74654191-3C68-8DE8-F5E4-C38FFAE6CDEC}"/>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4" name="Rectangle 65">
                <a:extLst>
                  <a:ext uri="{FF2B5EF4-FFF2-40B4-BE49-F238E27FC236}">
                    <a16:creationId xmlns:a16="http://schemas.microsoft.com/office/drawing/2014/main" id="{BEA3249D-AAE1-CEBF-8C31-67894E41166E}"/>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5" name="Oval 66">
                <a:extLst>
                  <a:ext uri="{FF2B5EF4-FFF2-40B4-BE49-F238E27FC236}">
                    <a16:creationId xmlns:a16="http://schemas.microsoft.com/office/drawing/2014/main" id="{84E085FC-4F78-0548-66CB-ED96AE7977FC}"/>
                  </a:ext>
                </a:extLst>
              </p:cNvPr>
              <p:cNvSpPr>
                <a:spLocks noChangeArrowheads="1"/>
              </p:cNvSpPr>
              <p:nvPr/>
            </p:nvSpPr>
            <p:spPr bwMode="auto">
              <a:xfrm>
                <a:off x="854" y="3940"/>
                <a:ext cx="63" cy="65"/>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6" name="Oval 67">
                <a:extLst>
                  <a:ext uri="{FF2B5EF4-FFF2-40B4-BE49-F238E27FC236}">
                    <a16:creationId xmlns:a16="http://schemas.microsoft.com/office/drawing/2014/main" id="{4DFAF909-904A-533A-DFC3-6FAEBF4ABAC5}"/>
                  </a:ext>
                </a:extLst>
              </p:cNvPr>
              <p:cNvSpPr>
                <a:spLocks noChangeArrowheads="1"/>
              </p:cNvSpPr>
              <p:nvPr/>
            </p:nvSpPr>
            <p:spPr bwMode="auto">
              <a:xfrm>
                <a:off x="568" y="3940"/>
                <a:ext cx="63" cy="65"/>
              </a:xfrm>
              <a:prstGeom prst="ellipse">
                <a:avLst/>
              </a:prstGeom>
              <a:solidFill>
                <a:schemeClr val="bg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sp>
          <p:nvSpPr>
            <p:cNvPr id="42" name="Text Box 68">
              <a:extLst>
                <a:ext uri="{FF2B5EF4-FFF2-40B4-BE49-F238E27FC236}">
                  <a16:creationId xmlns:a16="http://schemas.microsoft.com/office/drawing/2014/main" id="{B2BCC497-348C-66A4-1729-60D6E36338F4}"/>
                </a:ext>
              </a:extLst>
            </p:cNvPr>
            <p:cNvSpPr txBox="1">
              <a:spLocks noChangeArrowheads="1"/>
            </p:cNvSpPr>
            <p:nvPr/>
          </p:nvSpPr>
          <p:spPr bwMode="auto">
            <a:xfrm>
              <a:off x="513" y="2099"/>
              <a:ext cx="30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tx1"/>
                  </a:solidFill>
                  <a:latin typeface="+mn-lt"/>
                </a:rPr>
                <a:t>USPS Daily</a:t>
              </a:r>
            </a:p>
          </p:txBody>
        </p:sp>
      </p:grpSp>
      <p:sp>
        <p:nvSpPr>
          <p:cNvPr id="4" name="Slide Number Placeholder 2">
            <a:extLst>
              <a:ext uri="{FF2B5EF4-FFF2-40B4-BE49-F238E27FC236}">
                <a16:creationId xmlns:a16="http://schemas.microsoft.com/office/drawing/2014/main" id="{93C18D13-C56B-F423-6CF2-1281FC6D6F7A}"/>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168</a:t>
            </a:fld>
            <a:endParaRPr lang="en-US" dirty="0"/>
          </a:p>
        </p:txBody>
      </p:sp>
    </p:spTree>
    <p:extLst>
      <p:ext uri="{BB962C8B-B14F-4D97-AF65-F5344CB8AC3E}">
        <p14:creationId xmlns:p14="http://schemas.microsoft.com/office/powerpoint/2010/main" val="34455147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able">
            <a:extLst>
              <a:ext uri="{FF2B5EF4-FFF2-40B4-BE49-F238E27FC236}">
                <a16:creationId xmlns:a16="http://schemas.microsoft.com/office/drawing/2014/main" id="{29551A8D-3146-3626-679C-DBA530BF2F3F}"/>
              </a:ext>
            </a:extLst>
          </p:cNvPr>
          <p:cNvGraphicFramePr/>
          <p:nvPr>
            <p:extLst>
              <p:ext uri="{D42A27DB-BD31-4B8C-83A1-F6EECF244321}">
                <p14:modId xmlns:p14="http://schemas.microsoft.com/office/powerpoint/2010/main" val="2319175356"/>
              </p:ext>
            </p:extLst>
          </p:nvPr>
        </p:nvGraphicFramePr>
        <p:xfrm>
          <a:off x="633676" y="1145529"/>
          <a:ext cx="10478591" cy="5251073"/>
        </p:xfrm>
        <a:graphic>
          <a:graphicData uri="http://schemas.openxmlformats.org/drawingml/2006/table">
            <a:tbl>
              <a:tblPr>
                <a:tableStyleId>{4C3C2611-4C71-4FC5-86AE-919BDF0F9419}</a:tableStyleId>
              </a:tblPr>
              <a:tblGrid>
                <a:gridCol w="2071086">
                  <a:extLst>
                    <a:ext uri="{9D8B030D-6E8A-4147-A177-3AD203B41FA5}">
                      <a16:colId xmlns:a16="http://schemas.microsoft.com/office/drawing/2014/main" val="20000"/>
                    </a:ext>
                  </a:extLst>
                </a:gridCol>
                <a:gridCol w="2683457">
                  <a:extLst>
                    <a:ext uri="{9D8B030D-6E8A-4147-A177-3AD203B41FA5}">
                      <a16:colId xmlns:a16="http://schemas.microsoft.com/office/drawing/2014/main" val="20001"/>
                    </a:ext>
                  </a:extLst>
                </a:gridCol>
                <a:gridCol w="5724048">
                  <a:extLst>
                    <a:ext uri="{9D8B030D-6E8A-4147-A177-3AD203B41FA5}">
                      <a16:colId xmlns:a16="http://schemas.microsoft.com/office/drawing/2014/main" val="3429638595"/>
                    </a:ext>
                  </a:extLst>
                </a:gridCol>
              </a:tblGrid>
              <a:tr h="703557">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VSM Icon</a:t>
                      </a:r>
                      <a:endParaRPr sz="1500" b="1"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Represents</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pitchFamily="2" charset="0"/>
                          <a:ea typeface="Roboto" panose="02000000000000000000" pitchFamily="2" charset="0"/>
                        </a:rPr>
                        <a:t>Notes</a:t>
                      </a:r>
                      <a:endParaRPr sz="1500" b="1" dirty="0">
                        <a:solidFill>
                          <a:schemeClr val="bg1"/>
                        </a:solidFill>
                        <a:latin typeface="Roboto" panose="02000000000000000000" pitchFamily="2" charset="0"/>
                        <a:ea typeface="Roboto" panose="02000000000000000000" pitchFamily="2" charset="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880514">
                <a:tc>
                  <a:txBody>
                    <a:bodyPr/>
                    <a:lstStyle/>
                    <a:p>
                      <a:pPr marL="0" indent="0" algn="l" defTabSz="1828342">
                        <a:buNone/>
                        <a:defRPr sz="1800">
                          <a:solidFill>
                            <a:srgbClr val="000000"/>
                          </a:solidFill>
                        </a:defRPr>
                      </a:pPr>
                      <a:endParaRPr sz="20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dirty="0">
                          <a:solidFill>
                            <a:schemeClr val="bg1"/>
                          </a:solidFill>
                          <a:latin typeface="Roboto" panose="02000000000000000000" pitchFamily="2" charset="0"/>
                          <a:ea typeface="Roboto" panose="02000000000000000000" pitchFamily="2" charset="0"/>
                        </a:rPr>
                        <a:t>Movement of Finished Goods to the Customer</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571500" indent="-571500" algn="l" defTabSz="1828342">
                        <a:buClr>
                          <a:schemeClr val="bg1"/>
                        </a:buClr>
                        <a:buSzPct val="90000"/>
                        <a:buFont typeface="Arial" panose="020B0604020202020204" pitchFamily="34" charset="0"/>
                        <a:buChar char="•"/>
                        <a:defRPr sz="1800">
                          <a:solidFill>
                            <a:srgbClr val="000000"/>
                          </a:solidFill>
                        </a:defRPr>
                      </a:pPr>
                      <a:r>
                        <a:rPr lang="en-US" sz="1400" dirty="0">
                          <a:solidFill>
                            <a:schemeClr val="bg1"/>
                          </a:solidFill>
                          <a:latin typeface="Roboto" panose="02000000000000000000" pitchFamily="2" charset="0"/>
                          <a:ea typeface="Roboto" panose="02000000000000000000" pitchFamily="2" charset="0"/>
                        </a:rPr>
                        <a:t>Shows the movement of finished goods </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1085967">
                <a:tc>
                  <a:txBody>
                    <a:bodyPr/>
                    <a:lstStyle/>
                    <a:p>
                      <a:pPr marL="0" marR="0" lvl="0" indent="0" algn="l" defTabSz="1828342" eaLnBrk="1" fontAlgn="auto" latinLnBrk="0" hangingPunct="1">
                        <a:lnSpc>
                          <a:spcPct val="100000"/>
                        </a:lnSpc>
                        <a:spcBef>
                          <a:spcPts val="0"/>
                        </a:spcBef>
                        <a:spcAft>
                          <a:spcPts val="0"/>
                        </a:spcAft>
                        <a:buClrTx/>
                        <a:buSzTx/>
                        <a:buFontTx/>
                        <a:buNone/>
                        <a:tabLst/>
                        <a:defRPr sz="1800">
                          <a:solidFill>
                            <a:srgbClr val="000000"/>
                          </a:solidFill>
                        </a:defRPr>
                      </a:pPr>
                      <a:endParaRPr lang="en-US" sz="20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400" dirty="0">
                          <a:solidFill>
                            <a:schemeClr val="bg1"/>
                          </a:solidFill>
                          <a:latin typeface="Roboto" panose="02000000000000000000" pitchFamily="2" charset="0"/>
                          <a:ea typeface="Roboto" panose="02000000000000000000" pitchFamily="2" charset="0"/>
                        </a:rPr>
                        <a:t>Movement of VALUE OBJECT by push</a:t>
                      </a: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Value Object is produced and pushed forward before the next process step needs it – usually based on a schedule</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987217">
                <a:tc>
                  <a:txBody>
                    <a:bodyPr/>
                    <a:lstStyle/>
                    <a:p>
                      <a:pPr algn="l" defTabSz="1828342">
                        <a:defRPr sz="1800">
                          <a:solidFill>
                            <a:srgbClr val="000000"/>
                          </a:solidFill>
                        </a:defRPr>
                      </a:pPr>
                      <a:endParaRPr sz="20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Supermarket</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A controlled inventory of parts that is used to schedule production at an upstream process</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r h="679490">
                <a:tc>
                  <a:txBody>
                    <a:bodyPr/>
                    <a:lstStyle/>
                    <a:p>
                      <a:pPr algn="l" defTabSz="1828342">
                        <a:defRPr sz="1800">
                          <a:solidFill>
                            <a:srgbClr val="000000"/>
                          </a:solidFill>
                        </a:defRPr>
                      </a:pPr>
                      <a:endParaRPr sz="20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miter lim="400000"/>
                    </a:lnR>
                    <a:lnT w="0">
                      <a:miter lim="400000"/>
                    </a:lnT>
                    <a:lnB w="0">
                      <a:noFill/>
                      <a:miter lim="400000"/>
                    </a:lnB>
                    <a:solidFill>
                      <a:srgbClr val="7A7A7A"/>
                    </a:solidFill>
                  </a:tcPr>
                </a:tc>
                <a:tc>
                  <a:txBody>
                    <a:bodyPr/>
                    <a:lstStyle/>
                    <a:p>
                      <a:pPr algn="l" defTabSz="1828342">
                        <a:defRPr sz="1800">
                          <a:solidFill>
                            <a:srgbClr val="000000"/>
                          </a:solidFill>
                        </a:defRPr>
                      </a:pPr>
                      <a:r>
                        <a:rPr lang="en-US" sz="1400" dirty="0">
                          <a:solidFill>
                            <a:schemeClr val="bg1"/>
                          </a:solidFill>
                          <a:latin typeface="Roboto" panose="02000000000000000000" pitchFamily="2" charset="0"/>
                          <a:ea typeface="Roboto" panose="02000000000000000000" pitchFamily="2" charset="0"/>
                        </a:rPr>
                        <a:t> Withdrawal</a:t>
                      </a: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Pull of materials – usually from a supermarket</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4"/>
                  </a:ext>
                </a:extLst>
              </a:tr>
              <a:tr h="679490">
                <a:tc>
                  <a:txBody>
                    <a:bodyPr/>
                    <a:lstStyle/>
                    <a:p>
                      <a:pPr algn="l" defTabSz="1828342">
                        <a:defRPr sz="1800">
                          <a:solidFill>
                            <a:srgbClr val="000000"/>
                          </a:solidFill>
                        </a:defRPr>
                      </a:pPr>
                      <a:endParaRPr sz="2000" dirty="0">
                        <a:solidFill>
                          <a:schemeClr val="bg1"/>
                        </a:solidFill>
                        <a:latin typeface="Roboto" panose="02000000000000000000" pitchFamily="2" charset="0"/>
                        <a:ea typeface="Roboto" panose="02000000000000000000" pitchFamily="2" charset="0"/>
                      </a:endParaRP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tc>
                  <a:txBody>
                    <a:bodyPr/>
                    <a:lstStyle/>
                    <a:p>
                      <a:pPr algn="l" defTabSz="1828342">
                        <a:defRPr sz="1800">
                          <a:solidFill>
                            <a:srgbClr val="000000"/>
                          </a:solidFill>
                        </a:defRPr>
                      </a:pPr>
                      <a:r>
                        <a:rPr lang="en-US" sz="1400" dirty="0">
                          <a:solidFill>
                            <a:schemeClr val="bg1"/>
                          </a:solidFill>
                          <a:latin typeface="Roboto" panose="02000000000000000000" pitchFamily="2" charset="0"/>
                          <a:ea typeface="Roboto" panose="02000000000000000000" pitchFamily="2" charset="0"/>
                        </a:rPr>
                        <a:t>FIFO – First In First Out Sequence</a:t>
                      </a:r>
                    </a:p>
                  </a:txBody>
                  <a:tcPr marL="184102" marR="184102" marT="137124" marB="137124" anchor="ctr" horzOverflow="overflow">
                    <a:lnL w="0">
                      <a:noFill/>
                      <a:miter lim="400000"/>
                    </a:lnL>
                    <a:lnR w="0">
                      <a:noFill/>
                      <a:miter lim="400000"/>
                    </a:lnR>
                    <a:lnT w="0">
                      <a:miter lim="400000"/>
                    </a:lnT>
                    <a:lnB w="0">
                      <a:noFill/>
                      <a:miter lim="400000"/>
                    </a:lnB>
                    <a:solidFill>
                      <a:srgbClr val="191C25"/>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pitchFamily="2" charset="0"/>
                          <a:ea typeface="Roboto" panose="02000000000000000000" pitchFamily="2" charset="0"/>
                          <a:cs typeface="+mn-cs"/>
                          <a:sym typeface="Roboto"/>
                        </a:rPr>
                        <a:t>Indicates a device to limit quantity and ensure FIFO flow of value object between processes. Maximum number should be noted</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extLst>
                  <a:ext uri="{0D108BD9-81ED-4DB2-BD59-A6C34878D82A}">
                    <a16:rowId xmlns:a16="http://schemas.microsoft.com/office/drawing/2014/main" val="1296931529"/>
                  </a:ext>
                </a:extLst>
              </a:tr>
            </a:tbl>
          </a:graphicData>
        </a:graphic>
      </p:graphicFrame>
      <p:sp>
        <p:nvSpPr>
          <p:cNvPr id="3" name="Line 44">
            <a:extLst>
              <a:ext uri="{FF2B5EF4-FFF2-40B4-BE49-F238E27FC236}">
                <a16:creationId xmlns:a16="http://schemas.microsoft.com/office/drawing/2014/main" id="{8EDB378C-15B5-9A97-4C34-F844CE9C53A7}"/>
              </a:ext>
            </a:extLst>
          </p:cNvPr>
          <p:cNvSpPr>
            <a:spLocks noChangeShapeType="1"/>
          </p:cNvSpPr>
          <p:nvPr/>
        </p:nvSpPr>
        <p:spPr bwMode="auto">
          <a:xfrm>
            <a:off x="1213992" y="2289038"/>
            <a:ext cx="1076170" cy="0"/>
          </a:xfrm>
          <a:prstGeom prst="line">
            <a:avLst/>
          </a:prstGeom>
          <a:noFill/>
          <a:ln w="104775">
            <a:solidFill>
              <a:schemeClr val="bg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399"/>
          </a:p>
        </p:txBody>
      </p:sp>
      <p:sp>
        <p:nvSpPr>
          <p:cNvPr id="4" name="Line 43">
            <a:extLst>
              <a:ext uri="{FF2B5EF4-FFF2-40B4-BE49-F238E27FC236}">
                <a16:creationId xmlns:a16="http://schemas.microsoft.com/office/drawing/2014/main" id="{93CC69DF-8572-75B0-9718-052788D83E42}"/>
              </a:ext>
            </a:extLst>
          </p:cNvPr>
          <p:cNvSpPr>
            <a:spLocks noChangeShapeType="1"/>
          </p:cNvSpPr>
          <p:nvPr/>
        </p:nvSpPr>
        <p:spPr bwMode="auto">
          <a:xfrm>
            <a:off x="1179406" y="3216989"/>
            <a:ext cx="1074140" cy="0"/>
          </a:xfrm>
          <a:prstGeom prst="line">
            <a:avLst/>
          </a:prstGeom>
          <a:noFill/>
          <a:ln w="104775">
            <a:solidFill>
              <a:schemeClr val="bg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399"/>
          </a:p>
        </p:txBody>
      </p:sp>
      <p:grpSp>
        <p:nvGrpSpPr>
          <p:cNvPr id="5" name="Group 45">
            <a:extLst>
              <a:ext uri="{FF2B5EF4-FFF2-40B4-BE49-F238E27FC236}">
                <a16:creationId xmlns:a16="http://schemas.microsoft.com/office/drawing/2014/main" id="{A2472233-2D4E-7434-275E-019109256BB0}"/>
              </a:ext>
            </a:extLst>
          </p:cNvPr>
          <p:cNvGrpSpPr>
            <a:grpSpLocks/>
          </p:cNvGrpSpPr>
          <p:nvPr/>
        </p:nvGrpSpPr>
        <p:grpSpPr bwMode="auto">
          <a:xfrm>
            <a:off x="1693963" y="4040510"/>
            <a:ext cx="358499" cy="567275"/>
            <a:chOff x="1336" y="1152"/>
            <a:chExt cx="296" cy="720"/>
          </a:xfrm>
        </p:grpSpPr>
        <p:sp>
          <p:nvSpPr>
            <p:cNvPr id="6" name="Line 46">
              <a:extLst>
                <a:ext uri="{FF2B5EF4-FFF2-40B4-BE49-F238E27FC236}">
                  <a16:creationId xmlns:a16="http://schemas.microsoft.com/office/drawing/2014/main" id="{776BD81C-23D4-ED4B-B6AA-72BF51131526}"/>
                </a:ext>
              </a:extLst>
            </p:cNvPr>
            <p:cNvSpPr>
              <a:spLocks noChangeShapeType="1"/>
            </p:cNvSpPr>
            <p:nvPr/>
          </p:nvSpPr>
          <p:spPr bwMode="auto">
            <a:xfrm>
              <a:off x="1344" y="1152"/>
              <a:ext cx="288" cy="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7" name="Line 47">
              <a:extLst>
                <a:ext uri="{FF2B5EF4-FFF2-40B4-BE49-F238E27FC236}">
                  <a16:creationId xmlns:a16="http://schemas.microsoft.com/office/drawing/2014/main" id="{13C3379F-B50B-9D3D-DD3B-F508744F4755}"/>
                </a:ext>
              </a:extLst>
            </p:cNvPr>
            <p:cNvSpPr>
              <a:spLocks noChangeShapeType="1"/>
            </p:cNvSpPr>
            <p:nvPr/>
          </p:nvSpPr>
          <p:spPr bwMode="auto">
            <a:xfrm>
              <a:off x="1632" y="1152"/>
              <a:ext cx="0" cy="72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8" name="Line 48">
              <a:extLst>
                <a:ext uri="{FF2B5EF4-FFF2-40B4-BE49-F238E27FC236}">
                  <a16:creationId xmlns:a16="http://schemas.microsoft.com/office/drawing/2014/main" id="{304B8CFC-6624-A233-61BB-6F88E5AC1618}"/>
                </a:ext>
              </a:extLst>
            </p:cNvPr>
            <p:cNvSpPr>
              <a:spLocks noChangeShapeType="1"/>
            </p:cNvSpPr>
            <p:nvPr/>
          </p:nvSpPr>
          <p:spPr bwMode="auto">
            <a:xfrm>
              <a:off x="1336" y="1392"/>
              <a:ext cx="288" cy="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9" name="Line 49">
              <a:extLst>
                <a:ext uri="{FF2B5EF4-FFF2-40B4-BE49-F238E27FC236}">
                  <a16:creationId xmlns:a16="http://schemas.microsoft.com/office/drawing/2014/main" id="{54CB68E2-1CC3-AAAA-0992-9E0DACD05154}"/>
                </a:ext>
              </a:extLst>
            </p:cNvPr>
            <p:cNvSpPr>
              <a:spLocks noChangeShapeType="1"/>
            </p:cNvSpPr>
            <p:nvPr/>
          </p:nvSpPr>
          <p:spPr bwMode="auto">
            <a:xfrm>
              <a:off x="1336" y="1632"/>
              <a:ext cx="288" cy="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10" name="Line 50">
              <a:extLst>
                <a:ext uri="{FF2B5EF4-FFF2-40B4-BE49-F238E27FC236}">
                  <a16:creationId xmlns:a16="http://schemas.microsoft.com/office/drawing/2014/main" id="{93147BEC-B9CB-F62B-F039-7AB0427CD14F}"/>
                </a:ext>
              </a:extLst>
            </p:cNvPr>
            <p:cNvSpPr>
              <a:spLocks noChangeShapeType="1"/>
            </p:cNvSpPr>
            <p:nvPr/>
          </p:nvSpPr>
          <p:spPr bwMode="auto">
            <a:xfrm>
              <a:off x="1344" y="1872"/>
              <a:ext cx="288" cy="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50" name="Group 49">
            <a:extLst>
              <a:ext uri="{FF2B5EF4-FFF2-40B4-BE49-F238E27FC236}">
                <a16:creationId xmlns:a16="http://schemas.microsoft.com/office/drawing/2014/main" id="{E4BB9197-8BF7-0340-F8B5-1217A01D7AC5}"/>
              </a:ext>
            </a:extLst>
          </p:cNvPr>
          <p:cNvGrpSpPr/>
          <p:nvPr/>
        </p:nvGrpSpPr>
        <p:grpSpPr>
          <a:xfrm>
            <a:off x="1397405" y="4843708"/>
            <a:ext cx="558716" cy="527170"/>
            <a:chOff x="3194342" y="10089677"/>
            <a:chExt cx="255587" cy="241156"/>
          </a:xfrm>
        </p:grpSpPr>
        <p:sp>
          <p:nvSpPr>
            <p:cNvPr id="36" name="Oval 51">
              <a:extLst>
                <a:ext uri="{FF2B5EF4-FFF2-40B4-BE49-F238E27FC236}">
                  <a16:creationId xmlns:a16="http://schemas.microsoft.com/office/drawing/2014/main" id="{1B7F6941-56D3-CCCB-90E7-954D2AB7154E}"/>
                </a:ext>
              </a:extLst>
            </p:cNvPr>
            <p:cNvSpPr>
              <a:spLocks noChangeArrowheads="1"/>
            </p:cNvSpPr>
            <p:nvPr/>
          </p:nvSpPr>
          <p:spPr bwMode="auto">
            <a:xfrm>
              <a:off x="3194342" y="10097470"/>
              <a:ext cx="231775" cy="233363"/>
            </a:xfrm>
            <a:prstGeom prst="ellipse">
              <a:avLst/>
            </a:prstGeom>
            <a:noFill/>
            <a:ln w="38100">
              <a:solidFill>
                <a:schemeClr val="bg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8" name="Rectangle 52">
              <a:extLst>
                <a:ext uri="{FF2B5EF4-FFF2-40B4-BE49-F238E27FC236}">
                  <a16:creationId xmlns:a16="http://schemas.microsoft.com/office/drawing/2014/main" id="{3C89CF05-32EC-EE9B-DF3D-38302750CCFC}"/>
                </a:ext>
              </a:extLst>
            </p:cNvPr>
            <p:cNvSpPr>
              <a:spLocks noChangeArrowheads="1"/>
            </p:cNvSpPr>
            <p:nvPr/>
          </p:nvSpPr>
          <p:spPr bwMode="auto">
            <a:xfrm>
              <a:off x="3327692" y="10089677"/>
              <a:ext cx="122237" cy="177502"/>
            </a:xfrm>
            <a:prstGeom prst="rect">
              <a:avLst/>
            </a:prstGeom>
            <a:solidFill>
              <a:srgbClr val="7A7A7A"/>
            </a:solidFill>
            <a:ln w="9525">
              <a:no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49" name="Line 53">
              <a:extLst>
                <a:ext uri="{FF2B5EF4-FFF2-40B4-BE49-F238E27FC236}">
                  <a16:creationId xmlns:a16="http://schemas.microsoft.com/office/drawing/2014/main" id="{B4A9D1A7-CC0B-A9D1-9B97-EF7086444B00}"/>
                </a:ext>
              </a:extLst>
            </p:cNvPr>
            <p:cNvSpPr>
              <a:spLocks noChangeShapeType="1"/>
            </p:cNvSpPr>
            <p:nvPr/>
          </p:nvSpPr>
          <p:spPr bwMode="auto">
            <a:xfrm rot="18086501" flipV="1">
              <a:off x="3384222" y="10203873"/>
              <a:ext cx="66675" cy="33337"/>
            </a:xfrm>
            <a:prstGeom prst="line">
              <a:avLst/>
            </a:prstGeom>
            <a:noFill/>
            <a:ln w="38100">
              <a:solidFill>
                <a:schemeClr val="bg1"/>
              </a:solidFill>
              <a:round/>
              <a:headEnd/>
              <a:tailEnd type="triangle" w="med" len="lg"/>
            </a:ln>
            <a:extLst>
              <a:ext uri="{909E8E84-426E-40DD-AFC4-6F175D3DCCD1}">
                <a14:hiddenFill xmlns:a14="http://schemas.microsoft.com/office/drawing/2010/main">
                  <a:noFill/>
                </a14:hiddenFill>
              </a:ext>
            </a:extLst>
          </p:spPr>
          <p:txBody>
            <a:bodyPr/>
            <a:lstStyle/>
            <a:p>
              <a:endParaRPr lang="en-US" sz="1399"/>
            </a:p>
          </p:txBody>
        </p:sp>
      </p:grpSp>
      <p:grpSp>
        <p:nvGrpSpPr>
          <p:cNvPr id="56" name="Group 55">
            <a:extLst>
              <a:ext uri="{FF2B5EF4-FFF2-40B4-BE49-F238E27FC236}">
                <a16:creationId xmlns:a16="http://schemas.microsoft.com/office/drawing/2014/main" id="{8360B5E7-418D-EAB2-64B3-285375DAF219}"/>
              </a:ext>
            </a:extLst>
          </p:cNvPr>
          <p:cNvGrpSpPr/>
          <p:nvPr/>
        </p:nvGrpSpPr>
        <p:grpSpPr>
          <a:xfrm>
            <a:off x="910352" y="5639543"/>
            <a:ext cx="1820706" cy="543699"/>
            <a:chOff x="-83935" y="5225948"/>
            <a:chExt cx="3642360" cy="1087682"/>
          </a:xfrm>
        </p:grpSpPr>
        <p:sp>
          <p:nvSpPr>
            <p:cNvPr id="51" name="Line 54">
              <a:extLst>
                <a:ext uri="{FF2B5EF4-FFF2-40B4-BE49-F238E27FC236}">
                  <a16:creationId xmlns:a16="http://schemas.microsoft.com/office/drawing/2014/main" id="{2DBAFB9D-14CE-1B1E-61AF-C0BD6F872649}"/>
                </a:ext>
              </a:extLst>
            </p:cNvPr>
            <p:cNvSpPr>
              <a:spLocks noChangeShapeType="1"/>
            </p:cNvSpPr>
            <p:nvPr/>
          </p:nvSpPr>
          <p:spPr bwMode="auto">
            <a:xfrm>
              <a:off x="-83935" y="5711825"/>
              <a:ext cx="3642360" cy="0"/>
            </a:xfrm>
            <a:prstGeom prst="line">
              <a:avLst/>
            </a:prstGeom>
            <a:noFill/>
            <a:ln w="508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52" name="Line 56">
              <a:extLst>
                <a:ext uri="{FF2B5EF4-FFF2-40B4-BE49-F238E27FC236}">
                  <a16:creationId xmlns:a16="http://schemas.microsoft.com/office/drawing/2014/main" id="{A5161E7F-23B9-25ED-389E-8A6961D6A6AE}"/>
                </a:ext>
              </a:extLst>
            </p:cNvPr>
            <p:cNvSpPr>
              <a:spLocks noChangeShapeType="1"/>
            </p:cNvSpPr>
            <p:nvPr/>
          </p:nvSpPr>
          <p:spPr bwMode="auto">
            <a:xfrm>
              <a:off x="271148" y="5935860"/>
              <a:ext cx="838516" cy="0"/>
            </a:xfrm>
            <a:prstGeom prst="line">
              <a:avLst/>
            </a:prstGeom>
            <a:noFill/>
            <a:ln w="762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53" name="Line 57">
              <a:extLst>
                <a:ext uri="{FF2B5EF4-FFF2-40B4-BE49-F238E27FC236}">
                  <a16:creationId xmlns:a16="http://schemas.microsoft.com/office/drawing/2014/main" id="{107C755B-B498-F580-324A-D4F2EAE0C27F}"/>
                </a:ext>
              </a:extLst>
            </p:cNvPr>
            <p:cNvSpPr>
              <a:spLocks noChangeShapeType="1"/>
            </p:cNvSpPr>
            <p:nvPr/>
          </p:nvSpPr>
          <p:spPr bwMode="auto">
            <a:xfrm>
              <a:off x="2301125" y="5936615"/>
              <a:ext cx="897053" cy="0"/>
            </a:xfrm>
            <a:prstGeom prst="line">
              <a:avLst/>
            </a:prstGeom>
            <a:noFill/>
            <a:ln w="76200">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399"/>
            </a:p>
          </p:txBody>
        </p:sp>
        <p:sp>
          <p:nvSpPr>
            <p:cNvPr id="54" name="Text Box 58">
              <a:extLst>
                <a:ext uri="{FF2B5EF4-FFF2-40B4-BE49-F238E27FC236}">
                  <a16:creationId xmlns:a16="http://schemas.microsoft.com/office/drawing/2014/main" id="{1AA3957B-2820-7BBB-4112-6C4FCE3C44AB}"/>
                </a:ext>
              </a:extLst>
            </p:cNvPr>
            <p:cNvSpPr txBox="1">
              <a:spLocks noChangeArrowheads="1"/>
            </p:cNvSpPr>
            <p:nvPr/>
          </p:nvSpPr>
          <p:spPr bwMode="auto">
            <a:xfrm>
              <a:off x="1241966" y="5697915"/>
              <a:ext cx="1023624" cy="61571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1400" b="0" dirty="0">
                  <a:latin typeface="+mn-lt"/>
                </a:rPr>
                <a:t>FIFO</a:t>
              </a:r>
            </a:p>
          </p:txBody>
        </p:sp>
        <p:sp>
          <p:nvSpPr>
            <p:cNvPr id="55" name="Text Box 59">
              <a:extLst>
                <a:ext uri="{FF2B5EF4-FFF2-40B4-BE49-F238E27FC236}">
                  <a16:creationId xmlns:a16="http://schemas.microsoft.com/office/drawing/2014/main" id="{5EBF8256-4C84-EA99-2BF7-DA65A27AA908}"/>
                </a:ext>
              </a:extLst>
            </p:cNvPr>
            <p:cNvSpPr txBox="1">
              <a:spLocks noChangeArrowheads="1"/>
            </p:cNvSpPr>
            <p:nvPr/>
          </p:nvSpPr>
          <p:spPr bwMode="auto">
            <a:xfrm>
              <a:off x="248564" y="5225948"/>
              <a:ext cx="2902832" cy="4925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1000" b="0" dirty="0">
                  <a:latin typeface="+mn-lt"/>
                </a:rPr>
                <a:t>Max frequency/quantity</a:t>
              </a:r>
            </a:p>
          </p:txBody>
        </p:sp>
      </p:grpSp>
      <p:sp>
        <p:nvSpPr>
          <p:cNvPr id="13" name="Title 1">
            <a:extLst>
              <a:ext uri="{FF2B5EF4-FFF2-40B4-BE49-F238E27FC236}">
                <a16:creationId xmlns:a16="http://schemas.microsoft.com/office/drawing/2014/main" id="{F0EF3286-CEB6-7889-0A07-34F80C0D79AF}"/>
              </a:ext>
            </a:extLst>
          </p:cNvPr>
          <p:cNvSpPr txBox="1">
            <a:spLocks/>
          </p:cNvSpPr>
          <p:nvPr/>
        </p:nvSpPr>
        <p:spPr>
          <a:xfrm>
            <a:off x="512572" y="253834"/>
            <a:ext cx="10512425" cy="457363"/>
          </a:xfrm>
          <a:prstGeom prst="rect">
            <a:avLst/>
          </a:prstGeom>
        </p:spPr>
        <p:txBody>
          <a:bodyPr vert="horz" lIns="91440" tIns="45720" rIns="91440" bIns="45720" rtlCol="0" anchor="ctr">
            <a:normAutofit/>
          </a:bodyPr>
          <a:lstStyle>
            <a:lvl1pPr algn="l" defTabSz="914126" rtl="0" eaLnBrk="1" latinLnBrk="0" hangingPunct="1">
              <a:lnSpc>
                <a:spcPct val="90000"/>
              </a:lnSpc>
              <a:spcBef>
                <a:spcPct val="0"/>
              </a:spcBef>
              <a:buNone/>
              <a:defRPr sz="4399"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altLang="en-US" sz="2000">
                <a:solidFill>
                  <a:schemeClr val="bg1"/>
                </a:solidFill>
              </a:rPr>
              <a:t>VSM Icons</a:t>
            </a:r>
            <a:endParaRPr lang="en-US" sz="2000" dirty="0">
              <a:solidFill>
                <a:schemeClr val="bg1"/>
              </a:solidFill>
            </a:endParaRPr>
          </a:p>
        </p:txBody>
      </p:sp>
    </p:spTree>
    <p:extLst>
      <p:ext uri="{BB962C8B-B14F-4D97-AF65-F5344CB8AC3E}">
        <p14:creationId xmlns:p14="http://schemas.microsoft.com/office/powerpoint/2010/main" val="1602888158"/>
      </p:ext>
    </p:extLst>
  </p:cSld>
  <p:clrMapOvr>
    <a:masterClrMapping/>
  </p:clrMapOvr>
  <p:transition spd="med"/>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able">
            <a:extLst>
              <a:ext uri="{FF2B5EF4-FFF2-40B4-BE49-F238E27FC236}">
                <a16:creationId xmlns:a16="http://schemas.microsoft.com/office/drawing/2014/main" id="{29551A8D-3146-3626-679C-DBA530BF2F3F}"/>
              </a:ext>
            </a:extLst>
          </p:cNvPr>
          <p:cNvGraphicFramePr/>
          <p:nvPr>
            <p:extLst>
              <p:ext uri="{D42A27DB-BD31-4B8C-83A1-F6EECF244321}">
                <p14:modId xmlns:p14="http://schemas.microsoft.com/office/powerpoint/2010/main" val="3795832105"/>
              </p:ext>
            </p:extLst>
          </p:nvPr>
        </p:nvGraphicFramePr>
        <p:xfrm>
          <a:off x="799882" y="849983"/>
          <a:ext cx="10135660" cy="5328603"/>
        </p:xfrm>
        <a:graphic>
          <a:graphicData uri="http://schemas.openxmlformats.org/drawingml/2006/table">
            <a:tbl>
              <a:tblPr>
                <a:tableStyleId>{4C3C2611-4C71-4FC5-86AE-919BDF0F9419}</a:tableStyleId>
              </a:tblPr>
              <a:tblGrid>
                <a:gridCol w="2003306">
                  <a:extLst>
                    <a:ext uri="{9D8B030D-6E8A-4147-A177-3AD203B41FA5}">
                      <a16:colId xmlns:a16="http://schemas.microsoft.com/office/drawing/2014/main" val="20000"/>
                    </a:ext>
                  </a:extLst>
                </a:gridCol>
                <a:gridCol w="2595636">
                  <a:extLst>
                    <a:ext uri="{9D8B030D-6E8A-4147-A177-3AD203B41FA5}">
                      <a16:colId xmlns:a16="http://schemas.microsoft.com/office/drawing/2014/main" val="20001"/>
                    </a:ext>
                  </a:extLst>
                </a:gridCol>
                <a:gridCol w="5536718">
                  <a:extLst>
                    <a:ext uri="{9D8B030D-6E8A-4147-A177-3AD203B41FA5}">
                      <a16:colId xmlns:a16="http://schemas.microsoft.com/office/drawing/2014/main" val="3429638595"/>
                    </a:ext>
                  </a:extLst>
                </a:gridCol>
              </a:tblGrid>
              <a:tr h="709459">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a:ea typeface="+mn-ea"/>
                          <a:cs typeface="+mn-cs"/>
                          <a:sym typeface="Roboto"/>
                        </a:rPr>
                        <a:t>VSM Icon</a:t>
                      </a:r>
                      <a:endParaRPr sz="1500" b="1" i="0" u="none" strike="noStrike" cap="none" spc="0" baseline="0" dirty="0">
                        <a:solidFill>
                          <a:schemeClr val="bg1"/>
                        </a:solidFill>
                        <a:uFillTx/>
                        <a:latin typeface="Roboto" panose="02000000000000000000"/>
                        <a:ea typeface="+mn-ea"/>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a:rPr>
                        <a:t>Represents</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a:rPr>
                        <a:t>Notes</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887902">
                <a:tc>
                  <a:txBody>
                    <a:bodyPr/>
                    <a:lstStyle/>
                    <a:p>
                      <a:pPr marL="0" indent="0" algn="l" defTabSz="1828342">
                        <a:buNone/>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dirty="0">
                          <a:solidFill>
                            <a:schemeClr val="bg1"/>
                          </a:solidFill>
                          <a:latin typeface="Roboto" panose="02000000000000000000"/>
                        </a:rPr>
                        <a:t>Transport Kanban</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182880" indent="-182880" algn="l" defTabSz="1828342">
                        <a:buClr>
                          <a:schemeClr val="bg1"/>
                        </a:buClr>
                        <a:buSzPct val="90000"/>
                        <a:buFont typeface="Arial" panose="020B0604020202020204" pitchFamily="34" charset="0"/>
                        <a:buChar char="•"/>
                        <a:defRPr sz="1800">
                          <a:solidFill>
                            <a:srgbClr val="000000"/>
                          </a:solidFill>
                        </a:defRPr>
                      </a:pPr>
                      <a:r>
                        <a:rPr lang="en-US" sz="1400" dirty="0">
                          <a:solidFill>
                            <a:schemeClr val="bg1"/>
                          </a:solidFill>
                          <a:latin typeface="Roboto" panose="02000000000000000000"/>
                        </a:rPr>
                        <a:t>Card or device that instructs material handler to get and transfer parts</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915788">
                <a:tc>
                  <a:txBody>
                    <a:bodyPr/>
                    <a:lstStyle/>
                    <a:p>
                      <a:pPr marL="0" marR="0" lvl="0" indent="0" algn="l" defTabSz="1828342" eaLnBrk="1" fontAlgn="auto" latinLnBrk="0" hangingPunct="1">
                        <a:lnSpc>
                          <a:spcPct val="100000"/>
                        </a:lnSpc>
                        <a:spcBef>
                          <a:spcPts val="0"/>
                        </a:spcBef>
                        <a:spcAft>
                          <a:spcPts val="0"/>
                        </a:spcAft>
                        <a:buClrTx/>
                        <a:buSzTx/>
                        <a:buFontTx/>
                        <a:buNone/>
                        <a:tabLst/>
                        <a:defRPr sz="1800">
                          <a:solidFill>
                            <a:srgbClr val="000000"/>
                          </a:solidFill>
                        </a:defRPr>
                      </a:pPr>
                      <a:endParaRPr lang="en-US"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400" dirty="0">
                          <a:solidFill>
                            <a:schemeClr val="bg1"/>
                          </a:solidFill>
                          <a:latin typeface="Roboto" panose="02000000000000000000"/>
                        </a:rPr>
                        <a:t>Signal Kanban</a:t>
                      </a: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marL="182880" marR="0" indent="-18288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The “one-per-batch” </a:t>
                      </a:r>
                      <a:r>
                        <a:rPr lang="en-US" sz="1400" b="0" i="0" u="none" strike="noStrike" cap="none" spc="0" baseline="0" dirty="0" err="1">
                          <a:solidFill>
                            <a:schemeClr val="bg1"/>
                          </a:solidFill>
                          <a:uFillTx/>
                          <a:latin typeface="Roboto" panose="02000000000000000000"/>
                          <a:ea typeface="+mn-ea"/>
                          <a:cs typeface="+mn-cs"/>
                          <a:sym typeface="Roboto"/>
                        </a:rPr>
                        <a:t>kanban</a:t>
                      </a:r>
                      <a:r>
                        <a:rPr lang="en-US" sz="1400" b="0" i="0" u="none" strike="noStrike" cap="none" spc="0" baseline="0" dirty="0">
                          <a:solidFill>
                            <a:schemeClr val="bg1"/>
                          </a:solidFill>
                          <a:uFillTx/>
                          <a:latin typeface="Roboto" panose="02000000000000000000"/>
                          <a:ea typeface="+mn-ea"/>
                          <a:cs typeface="+mn-cs"/>
                          <a:sym typeface="Roboto"/>
                        </a:rPr>
                        <a:t>. Signal when a reorder point is reached and another batch needs to be produced. </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867905">
                <a:tc>
                  <a:txBody>
                    <a:bodyPr/>
                    <a:lstStyle/>
                    <a:p>
                      <a:pPr algn="l" defTabSz="1828342">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“Go See” Production Scheduling</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182880" marR="0" indent="-18288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A controlled inventory of parts that is used to schedule production at an upstream process</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r h="0">
                <a:tc>
                  <a:txBody>
                    <a:bodyPr/>
                    <a:lstStyle/>
                    <a:p>
                      <a:pPr algn="l" defTabSz="1828342">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noFill/>
                      <a:miter lim="400000"/>
                    </a:lnB>
                    <a:solidFill>
                      <a:srgbClr val="7A7A7A"/>
                    </a:solidFill>
                  </a:tcPr>
                </a:tc>
                <a:tc>
                  <a:txBody>
                    <a:bodyPr/>
                    <a:lstStyle/>
                    <a:p>
                      <a:pPr algn="l" defTabSz="1828342">
                        <a:defRPr sz="1800">
                          <a:solidFill>
                            <a:srgbClr val="000000"/>
                          </a:solidFill>
                        </a:defRPr>
                      </a:pPr>
                      <a:r>
                        <a:rPr lang="en-US" sz="1400" dirty="0">
                          <a:solidFill>
                            <a:schemeClr val="bg1"/>
                          </a:solidFill>
                          <a:latin typeface="Roboto" panose="02000000000000000000"/>
                        </a:rPr>
                        <a:t>Manual Information Flow</a:t>
                      </a:r>
                    </a:p>
                  </a:txBody>
                  <a:tcPr marL="184102" marR="184102" marT="137124" marB="137124" anchor="ctr" horzOverflow="overflow">
                    <a:lnL w="0">
                      <a:miter lim="400000"/>
                    </a:lnL>
                    <a:lnR w="0">
                      <a:noFill/>
                      <a:miter lim="400000"/>
                    </a:lnR>
                    <a:lnT w="0">
                      <a:miter lim="400000"/>
                    </a:lnT>
                    <a:lnB w="0">
                      <a:noFill/>
                      <a:miter lim="400000"/>
                    </a:lnB>
                    <a:solidFill>
                      <a:srgbClr val="7A7A7A"/>
                    </a:solidFill>
                  </a:tcPr>
                </a:tc>
                <a:tc>
                  <a:txBody>
                    <a:bodyPr/>
                    <a:lstStyle/>
                    <a:p>
                      <a:pPr marL="182880" marR="0" indent="-18288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Used to show information passed by people through non-electronic means, such as spoken instructions, paper forms, printed schedules, or hand-carried notes.</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4"/>
                  </a:ext>
                </a:extLst>
              </a:tr>
              <a:tr h="1033221">
                <a:tc>
                  <a:txBody>
                    <a:bodyPr/>
                    <a:lstStyle/>
                    <a:p>
                      <a:pPr algn="l" defTabSz="1828342">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noFill/>
                      <a:miter lim="400000"/>
                    </a:lnR>
                    <a:lnT w="0">
                      <a:miter lim="400000"/>
                    </a:lnT>
                    <a:lnB w="0">
                      <a:noFill/>
                      <a:miter lim="400000"/>
                    </a:lnB>
                    <a:solidFill>
                      <a:srgbClr val="191C25"/>
                    </a:solidFill>
                  </a:tcPr>
                </a:tc>
                <a:tc>
                  <a:txBody>
                    <a:bodyPr/>
                    <a:lstStyle/>
                    <a:p>
                      <a:pPr algn="l" defTabSz="1828342">
                        <a:defRPr sz="1800">
                          <a:solidFill>
                            <a:srgbClr val="000000"/>
                          </a:solidFill>
                        </a:defRPr>
                      </a:pPr>
                      <a:r>
                        <a:rPr lang="en-US" sz="1400" dirty="0">
                          <a:solidFill>
                            <a:schemeClr val="bg1"/>
                          </a:solidFill>
                          <a:latin typeface="Roboto" panose="02000000000000000000"/>
                        </a:rPr>
                        <a:t>Electronic Information Flow</a:t>
                      </a:r>
                    </a:p>
                  </a:txBody>
                  <a:tcPr marL="184102" marR="184102" marT="137124" marB="137124" anchor="ctr" horzOverflow="overflow">
                    <a:lnL w="0">
                      <a:noFill/>
                      <a:miter lim="400000"/>
                    </a:lnL>
                    <a:lnR w="0">
                      <a:noFill/>
                      <a:miter lim="400000"/>
                    </a:lnR>
                    <a:lnT w="0">
                      <a:miter lim="400000"/>
                    </a:lnT>
                    <a:lnB w="0">
                      <a:noFill/>
                      <a:miter lim="400000"/>
                    </a:lnB>
                    <a:solidFill>
                      <a:srgbClr val="191C25"/>
                    </a:solidFill>
                  </a:tcPr>
                </a:tc>
                <a:tc>
                  <a:txBody>
                    <a:bodyPr/>
                    <a:lstStyle/>
                    <a:p>
                      <a:pPr marL="182880" marR="0" indent="-18288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Used to show information passed through electronic systems, such as ERP/MRP transactions, email, shared files, scanners, barcodes, or automated signals between systems.</a:t>
                      </a:r>
                    </a:p>
                  </a:txBody>
                  <a:tcPr marL="184102" marR="184102" marT="137124" marB="137124" anchor="ctr" horzOverflow="overflow">
                    <a:lnL w="0">
                      <a:noFill/>
                      <a:miter lim="400000"/>
                    </a:lnL>
                    <a:lnR w="0">
                      <a:noFill/>
                      <a:miter lim="400000"/>
                    </a:lnR>
                    <a:lnT w="0">
                      <a:noFill/>
                      <a:miter lim="400000"/>
                    </a:lnT>
                    <a:lnB w="0">
                      <a:noFill/>
                      <a:miter lim="400000"/>
                    </a:lnB>
                    <a:solidFill>
                      <a:srgbClr val="191C25"/>
                    </a:solidFill>
                  </a:tcPr>
                </a:tc>
                <a:extLst>
                  <a:ext uri="{0D108BD9-81ED-4DB2-BD59-A6C34878D82A}">
                    <a16:rowId xmlns:a16="http://schemas.microsoft.com/office/drawing/2014/main" val="1296931529"/>
                  </a:ext>
                </a:extLst>
              </a:tr>
            </a:tbl>
          </a:graphicData>
        </a:graphic>
      </p:graphicFrame>
      <p:grpSp>
        <p:nvGrpSpPr>
          <p:cNvPr id="11" name="Group 72">
            <a:extLst>
              <a:ext uri="{FF2B5EF4-FFF2-40B4-BE49-F238E27FC236}">
                <a16:creationId xmlns:a16="http://schemas.microsoft.com/office/drawing/2014/main" id="{128912D4-1FFE-EF05-ED12-83862B03E786}"/>
              </a:ext>
            </a:extLst>
          </p:cNvPr>
          <p:cNvGrpSpPr>
            <a:grpSpLocks/>
          </p:cNvGrpSpPr>
          <p:nvPr/>
        </p:nvGrpSpPr>
        <p:grpSpPr bwMode="auto">
          <a:xfrm>
            <a:off x="1218882" y="5575247"/>
            <a:ext cx="849091" cy="188070"/>
            <a:chOff x="466" y="3301"/>
            <a:chExt cx="1216" cy="246"/>
          </a:xfrm>
        </p:grpSpPr>
        <p:sp>
          <p:nvSpPr>
            <p:cNvPr id="12" name="Line 73">
              <a:extLst>
                <a:ext uri="{FF2B5EF4-FFF2-40B4-BE49-F238E27FC236}">
                  <a16:creationId xmlns:a16="http://schemas.microsoft.com/office/drawing/2014/main" id="{49B8B2B4-FB8A-6A6F-9932-98489023EC54}"/>
                </a:ext>
              </a:extLst>
            </p:cNvPr>
            <p:cNvSpPr>
              <a:spLocks noChangeShapeType="1"/>
            </p:cNvSpPr>
            <p:nvPr/>
          </p:nvSpPr>
          <p:spPr bwMode="auto">
            <a:xfrm>
              <a:off x="466" y="3301"/>
              <a:ext cx="550" cy="0"/>
            </a:xfrm>
            <a:prstGeom prst="line">
              <a:avLst/>
            </a:prstGeom>
            <a:noFill/>
            <a:ln w="38100" cap="sq">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sz="1399"/>
            </a:p>
          </p:txBody>
        </p:sp>
        <p:sp>
          <p:nvSpPr>
            <p:cNvPr id="13" name="Line 74">
              <a:extLst>
                <a:ext uri="{FF2B5EF4-FFF2-40B4-BE49-F238E27FC236}">
                  <a16:creationId xmlns:a16="http://schemas.microsoft.com/office/drawing/2014/main" id="{7F7A20F1-8773-288B-71FF-2DA41C5BB0DE}"/>
                </a:ext>
              </a:extLst>
            </p:cNvPr>
            <p:cNvSpPr>
              <a:spLocks noChangeShapeType="1"/>
            </p:cNvSpPr>
            <p:nvPr/>
          </p:nvSpPr>
          <p:spPr bwMode="auto">
            <a:xfrm>
              <a:off x="961" y="3547"/>
              <a:ext cx="721" cy="0"/>
            </a:xfrm>
            <a:prstGeom prst="line">
              <a:avLst/>
            </a:prstGeom>
            <a:noFill/>
            <a:ln w="38100" cap="sq">
              <a:solidFill>
                <a:schemeClr val="bg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399"/>
            </a:p>
          </p:txBody>
        </p:sp>
        <p:sp>
          <p:nvSpPr>
            <p:cNvPr id="15" name="Line 75">
              <a:extLst>
                <a:ext uri="{FF2B5EF4-FFF2-40B4-BE49-F238E27FC236}">
                  <a16:creationId xmlns:a16="http://schemas.microsoft.com/office/drawing/2014/main" id="{4BA26EFD-C341-D951-A21B-F8A83E8E2E46}"/>
                </a:ext>
              </a:extLst>
            </p:cNvPr>
            <p:cNvSpPr>
              <a:spLocks noChangeShapeType="1"/>
            </p:cNvSpPr>
            <p:nvPr/>
          </p:nvSpPr>
          <p:spPr bwMode="auto">
            <a:xfrm flipH="1">
              <a:off x="961" y="3333"/>
              <a:ext cx="55" cy="208"/>
            </a:xfrm>
            <a:prstGeom prst="line">
              <a:avLst/>
            </a:prstGeom>
            <a:noFill/>
            <a:ln w="38100" cap="sq">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sz="1399"/>
            </a:p>
          </p:txBody>
        </p:sp>
      </p:grpSp>
      <p:sp>
        <p:nvSpPr>
          <p:cNvPr id="16" name="Line 71">
            <a:extLst>
              <a:ext uri="{FF2B5EF4-FFF2-40B4-BE49-F238E27FC236}">
                <a16:creationId xmlns:a16="http://schemas.microsoft.com/office/drawing/2014/main" id="{56D0A31D-136C-910F-028F-51B95A0D9D82}"/>
              </a:ext>
            </a:extLst>
          </p:cNvPr>
          <p:cNvSpPr>
            <a:spLocks noChangeShapeType="1"/>
          </p:cNvSpPr>
          <p:nvPr/>
        </p:nvSpPr>
        <p:spPr bwMode="auto">
          <a:xfrm>
            <a:off x="1204598" y="4693894"/>
            <a:ext cx="863375" cy="0"/>
          </a:xfrm>
          <a:prstGeom prst="line">
            <a:avLst/>
          </a:prstGeom>
          <a:noFill/>
          <a:ln w="38100" cap="sq">
            <a:solidFill>
              <a:schemeClr val="bg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399"/>
          </a:p>
        </p:txBody>
      </p:sp>
      <p:grpSp>
        <p:nvGrpSpPr>
          <p:cNvPr id="17" name="Group 63">
            <a:extLst>
              <a:ext uri="{FF2B5EF4-FFF2-40B4-BE49-F238E27FC236}">
                <a16:creationId xmlns:a16="http://schemas.microsoft.com/office/drawing/2014/main" id="{B239D91B-245A-56EB-FEA7-7209893C5C18}"/>
              </a:ext>
            </a:extLst>
          </p:cNvPr>
          <p:cNvGrpSpPr>
            <a:grpSpLocks/>
          </p:cNvGrpSpPr>
          <p:nvPr/>
        </p:nvGrpSpPr>
        <p:grpSpPr bwMode="auto">
          <a:xfrm>
            <a:off x="1225478" y="3455312"/>
            <a:ext cx="948346" cy="646773"/>
            <a:chOff x="2880" y="3264"/>
            <a:chExt cx="720" cy="432"/>
          </a:xfrm>
        </p:grpSpPr>
        <p:sp>
          <p:nvSpPr>
            <p:cNvPr id="18" name="Oval 64">
              <a:extLst>
                <a:ext uri="{FF2B5EF4-FFF2-40B4-BE49-F238E27FC236}">
                  <a16:creationId xmlns:a16="http://schemas.microsoft.com/office/drawing/2014/main" id="{3ACFA76A-E2F6-1423-C52E-B562559F884F}"/>
                </a:ext>
              </a:extLst>
            </p:cNvPr>
            <p:cNvSpPr>
              <a:spLocks noChangeArrowheads="1"/>
            </p:cNvSpPr>
            <p:nvPr/>
          </p:nvSpPr>
          <p:spPr bwMode="auto">
            <a:xfrm>
              <a:off x="2880" y="3456"/>
              <a:ext cx="240" cy="240"/>
            </a:xfrm>
            <a:prstGeom prst="ellipse">
              <a:avLst/>
            </a:prstGeom>
            <a:noFill/>
            <a:ln w="38100">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19" name="Oval 65">
              <a:extLst>
                <a:ext uri="{FF2B5EF4-FFF2-40B4-BE49-F238E27FC236}">
                  <a16:creationId xmlns:a16="http://schemas.microsoft.com/office/drawing/2014/main" id="{C224FD5B-8518-2BCC-9B92-99839408BBF3}"/>
                </a:ext>
              </a:extLst>
            </p:cNvPr>
            <p:cNvSpPr>
              <a:spLocks noChangeArrowheads="1"/>
            </p:cNvSpPr>
            <p:nvPr/>
          </p:nvSpPr>
          <p:spPr bwMode="auto">
            <a:xfrm>
              <a:off x="3216" y="3456"/>
              <a:ext cx="240" cy="240"/>
            </a:xfrm>
            <a:prstGeom prst="ellipse">
              <a:avLst/>
            </a:prstGeom>
            <a:noFill/>
            <a:ln w="38100">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cxnSp>
          <p:nvCxnSpPr>
            <p:cNvPr id="20" name="AutoShape 66">
              <a:extLst>
                <a:ext uri="{FF2B5EF4-FFF2-40B4-BE49-F238E27FC236}">
                  <a16:creationId xmlns:a16="http://schemas.microsoft.com/office/drawing/2014/main" id="{16A20B53-8E8A-10FA-4739-0AA9FD57ECE7}"/>
                </a:ext>
              </a:extLst>
            </p:cNvPr>
            <p:cNvCxnSpPr>
              <a:cxnSpLocks noChangeShapeType="1"/>
              <a:stCxn id="18" idx="6"/>
              <a:endCxn id="19" idx="2"/>
            </p:cNvCxnSpPr>
            <p:nvPr/>
          </p:nvCxnSpPr>
          <p:spPr bwMode="auto">
            <a:xfrm>
              <a:off x="3131" y="3576"/>
              <a:ext cx="74" cy="0"/>
            </a:xfrm>
            <a:prstGeom prst="straightConnector1">
              <a:avLst/>
            </a:prstGeom>
            <a:noFill/>
            <a:ln w="38100">
              <a:solidFill>
                <a:schemeClr val="bg1"/>
              </a:solidFill>
              <a:round/>
              <a:headEnd/>
              <a:tailEnd/>
            </a:ln>
            <a:extLst>
              <a:ext uri="{909E8E84-426E-40DD-AFC4-6F175D3DCCD1}">
                <a14:hiddenFill xmlns:a14="http://schemas.microsoft.com/office/drawing/2010/main">
                  <a:noFill/>
                </a14:hiddenFill>
              </a:ext>
            </a:extLst>
          </p:spPr>
        </p:cxnSp>
        <p:sp>
          <p:nvSpPr>
            <p:cNvPr id="21" name="Line 67">
              <a:extLst>
                <a:ext uri="{FF2B5EF4-FFF2-40B4-BE49-F238E27FC236}">
                  <a16:creationId xmlns:a16="http://schemas.microsoft.com/office/drawing/2014/main" id="{09C1ACBE-9F88-BE9E-A651-29A22A4864F4}"/>
                </a:ext>
              </a:extLst>
            </p:cNvPr>
            <p:cNvSpPr>
              <a:spLocks noChangeShapeType="1"/>
            </p:cNvSpPr>
            <p:nvPr/>
          </p:nvSpPr>
          <p:spPr bwMode="auto">
            <a:xfrm flipV="1">
              <a:off x="3456" y="3312"/>
              <a:ext cx="96" cy="192"/>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2" name="Line 68">
              <a:extLst>
                <a:ext uri="{FF2B5EF4-FFF2-40B4-BE49-F238E27FC236}">
                  <a16:creationId xmlns:a16="http://schemas.microsoft.com/office/drawing/2014/main" id="{E4698B79-15F6-AA37-B3E2-016EE3610397}"/>
                </a:ext>
              </a:extLst>
            </p:cNvPr>
            <p:cNvSpPr>
              <a:spLocks noChangeShapeType="1"/>
            </p:cNvSpPr>
            <p:nvPr/>
          </p:nvSpPr>
          <p:spPr bwMode="auto">
            <a:xfrm flipV="1">
              <a:off x="2928" y="3264"/>
              <a:ext cx="96" cy="192"/>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3" name="Line 69">
              <a:extLst>
                <a:ext uri="{FF2B5EF4-FFF2-40B4-BE49-F238E27FC236}">
                  <a16:creationId xmlns:a16="http://schemas.microsoft.com/office/drawing/2014/main" id="{D6570BCB-77B5-4AEB-2B04-747A63BBAA8E}"/>
                </a:ext>
              </a:extLst>
            </p:cNvPr>
            <p:cNvSpPr>
              <a:spLocks noChangeShapeType="1"/>
            </p:cNvSpPr>
            <p:nvPr/>
          </p:nvSpPr>
          <p:spPr bwMode="auto">
            <a:xfrm>
              <a:off x="3552" y="3312"/>
              <a:ext cx="48" cy="144"/>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24" name="Line 70">
              <a:extLst>
                <a:ext uri="{FF2B5EF4-FFF2-40B4-BE49-F238E27FC236}">
                  <a16:creationId xmlns:a16="http://schemas.microsoft.com/office/drawing/2014/main" id="{D6677DD7-6218-D44F-2D56-457A5F87BB7E}"/>
                </a:ext>
              </a:extLst>
            </p:cNvPr>
            <p:cNvSpPr>
              <a:spLocks noChangeShapeType="1"/>
            </p:cNvSpPr>
            <p:nvPr/>
          </p:nvSpPr>
          <p:spPr bwMode="auto">
            <a:xfrm rot="-601786">
              <a:off x="3024" y="3264"/>
              <a:ext cx="48" cy="144"/>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grpSp>
      <p:grpSp>
        <p:nvGrpSpPr>
          <p:cNvPr id="29" name="Group 28">
            <a:extLst>
              <a:ext uri="{FF2B5EF4-FFF2-40B4-BE49-F238E27FC236}">
                <a16:creationId xmlns:a16="http://schemas.microsoft.com/office/drawing/2014/main" id="{8077F1AA-CC56-0A19-CA6B-986323E843AA}"/>
              </a:ext>
            </a:extLst>
          </p:cNvPr>
          <p:cNvGrpSpPr/>
          <p:nvPr/>
        </p:nvGrpSpPr>
        <p:grpSpPr>
          <a:xfrm>
            <a:off x="1403459" y="2369435"/>
            <a:ext cx="694048" cy="952034"/>
            <a:chOff x="1130300" y="2762250"/>
            <a:chExt cx="482600" cy="661988"/>
          </a:xfrm>
        </p:grpSpPr>
        <p:sp>
          <p:nvSpPr>
            <p:cNvPr id="25" name="Rectangle 43">
              <a:extLst>
                <a:ext uri="{FF2B5EF4-FFF2-40B4-BE49-F238E27FC236}">
                  <a16:creationId xmlns:a16="http://schemas.microsoft.com/office/drawing/2014/main" id="{7D14137C-74EB-351D-7D4A-1ACEFF631C1F}"/>
                </a:ext>
              </a:extLst>
            </p:cNvPr>
            <p:cNvSpPr>
              <a:spLocks noChangeArrowheads="1"/>
            </p:cNvSpPr>
            <p:nvPr/>
          </p:nvSpPr>
          <p:spPr bwMode="auto">
            <a:xfrm>
              <a:off x="1130300" y="3081338"/>
              <a:ext cx="482600" cy="342900"/>
            </a:xfrm>
            <a:prstGeom prst="rect">
              <a:avLst/>
            </a:prstGeom>
            <a:noFill/>
            <a:ln w="38100">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26" name="Group 44">
              <a:extLst>
                <a:ext uri="{FF2B5EF4-FFF2-40B4-BE49-F238E27FC236}">
                  <a16:creationId xmlns:a16="http://schemas.microsoft.com/office/drawing/2014/main" id="{7E278A3A-2CD3-9AD3-A19A-4FC2DB5BB8E6}"/>
                </a:ext>
              </a:extLst>
            </p:cNvPr>
            <p:cNvGrpSpPr>
              <a:grpSpLocks/>
            </p:cNvGrpSpPr>
            <p:nvPr/>
          </p:nvGrpSpPr>
          <p:grpSpPr bwMode="auto">
            <a:xfrm>
              <a:off x="1173175" y="2762250"/>
              <a:ext cx="381001" cy="368300"/>
              <a:chOff x="4984" y="2143"/>
              <a:chExt cx="240" cy="232"/>
            </a:xfrm>
          </p:grpSpPr>
          <p:sp>
            <p:nvSpPr>
              <p:cNvPr id="27" name="AutoShape 45">
                <a:extLst>
                  <a:ext uri="{FF2B5EF4-FFF2-40B4-BE49-F238E27FC236}">
                    <a16:creationId xmlns:a16="http://schemas.microsoft.com/office/drawing/2014/main" id="{4515DBF0-D591-EE86-2B7E-729E0B362C15}"/>
                  </a:ext>
                </a:extLst>
              </p:cNvPr>
              <p:cNvSpPr>
                <a:spLocks noChangeAspect="1" noChangeArrowheads="1"/>
              </p:cNvSpPr>
              <p:nvPr/>
            </p:nvSpPr>
            <p:spPr bwMode="auto">
              <a:xfrm flipV="1">
                <a:off x="5031" y="2274"/>
                <a:ext cx="126" cy="101"/>
              </a:xfrm>
              <a:prstGeom prst="triangle">
                <a:avLst>
                  <a:gd name="adj" fmla="val 50000"/>
                </a:avLst>
              </a:prstGeom>
              <a:solidFill>
                <a:schemeClr val="bg1"/>
              </a:solidFill>
              <a:ln w="9525">
                <a:solidFill>
                  <a:schemeClr val="bg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sp>
            <p:nvSpPr>
              <p:cNvPr id="28" name="Text Box 46">
                <a:extLst>
                  <a:ext uri="{FF2B5EF4-FFF2-40B4-BE49-F238E27FC236}">
                    <a16:creationId xmlns:a16="http://schemas.microsoft.com/office/drawing/2014/main" id="{43DE2E24-2A3A-943B-55E3-FE9CBE07F5DD}"/>
                  </a:ext>
                </a:extLst>
              </p:cNvPr>
              <p:cNvSpPr txBox="1">
                <a:spLocks noChangeArrowheads="1"/>
              </p:cNvSpPr>
              <p:nvPr/>
            </p:nvSpPr>
            <p:spPr bwMode="auto">
              <a:xfrm>
                <a:off x="4984" y="2143"/>
                <a:ext cx="240" cy="12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1400" b="0">
                    <a:latin typeface="+mn-lt"/>
                  </a:rPr>
                  <a:t>Signal</a:t>
                </a:r>
              </a:p>
            </p:txBody>
          </p:sp>
        </p:grpSp>
      </p:grpSp>
      <p:grpSp>
        <p:nvGrpSpPr>
          <p:cNvPr id="30" name="Group 47">
            <a:extLst>
              <a:ext uri="{FF2B5EF4-FFF2-40B4-BE49-F238E27FC236}">
                <a16:creationId xmlns:a16="http://schemas.microsoft.com/office/drawing/2014/main" id="{2431EC27-2BFA-F2ED-6831-D72EF8CE9B7F}"/>
              </a:ext>
            </a:extLst>
          </p:cNvPr>
          <p:cNvGrpSpPr>
            <a:grpSpLocks/>
          </p:cNvGrpSpPr>
          <p:nvPr/>
        </p:nvGrpSpPr>
        <p:grpSpPr bwMode="auto">
          <a:xfrm>
            <a:off x="1122727" y="1751084"/>
            <a:ext cx="1387041" cy="585357"/>
            <a:chOff x="563" y="1375"/>
            <a:chExt cx="545" cy="230"/>
          </a:xfrm>
        </p:grpSpPr>
        <p:grpSp>
          <p:nvGrpSpPr>
            <p:cNvPr id="31" name="Group 48">
              <a:extLst>
                <a:ext uri="{FF2B5EF4-FFF2-40B4-BE49-F238E27FC236}">
                  <a16:creationId xmlns:a16="http://schemas.microsoft.com/office/drawing/2014/main" id="{20040BFF-E198-028D-4FB6-916260E4959D}"/>
                </a:ext>
              </a:extLst>
            </p:cNvPr>
            <p:cNvGrpSpPr>
              <a:grpSpLocks/>
            </p:cNvGrpSpPr>
            <p:nvPr/>
          </p:nvGrpSpPr>
          <p:grpSpPr bwMode="auto">
            <a:xfrm>
              <a:off x="679" y="1375"/>
              <a:ext cx="297" cy="142"/>
              <a:chOff x="2880" y="3024"/>
              <a:chExt cx="864" cy="384"/>
            </a:xfrm>
          </p:grpSpPr>
          <p:sp>
            <p:nvSpPr>
              <p:cNvPr id="42" name="Line 49">
                <a:extLst>
                  <a:ext uri="{FF2B5EF4-FFF2-40B4-BE49-F238E27FC236}">
                    <a16:creationId xmlns:a16="http://schemas.microsoft.com/office/drawing/2014/main" id="{49E59BD8-E4C2-59ED-BEBB-572A6EFBD4DC}"/>
                  </a:ext>
                </a:extLst>
              </p:cNvPr>
              <p:cNvSpPr>
                <a:spLocks noChangeShapeType="1"/>
              </p:cNvSpPr>
              <p:nvPr/>
            </p:nvSpPr>
            <p:spPr bwMode="auto">
              <a:xfrm flipH="1">
                <a:off x="2880" y="3024"/>
                <a:ext cx="6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3" name="Line 50">
                <a:extLst>
                  <a:ext uri="{FF2B5EF4-FFF2-40B4-BE49-F238E27FC236}">
                    <a16:creationId xmlns:a16="http://schemas.microsoft.com/office/drawing/2014/main" id="{416C0BDA-75F1-0AA2-2CED-C0B048A41FC3}"/>
                  </a:ext>
                </a:extLst>
              </p:cNvPr>
              <p:cNvSpPr>
                <a:spLocks noChangeShapeType="1"/>
              </p:cNvSpPr>
              <p:nvPr/>
            </p:nvSpPr>
            <p:spPr bwMode="auto">
              <a:xfrm flipH="1">
                <a:off x="2880" y="3408"/>
                <a:ext cx="8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4" name="Line 51">
                <a:extLst>
                  <a:ext uri="{FF2B5EF4-FFF2-40B4-BE49-F238E27FC236}">
                    <a16:creationId xmlns:a16="http://schemas.microsoft.com/office/drawing/2014/main" id="{E42B11CD-9D39-8514-5280-8035E5E5583F}"/>
                  </a:ext>
                </a:extLst>
              </p:cNvPr>
              <p:cNvSpPr>
                <a:spLocks noChangeShapeType="1"/>
              </p:cNvSpPr>
              <p:nvPr/>
            </p:nvSpPr>
            <p:spPr bwMode="auto">
              <a:xfrm>
                <a:off x="2880" y="3024"/>
                <a:ext cx="0" cy="38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5" name="Line 52">
                <a:extLst>
                  <a:ext uri="{FF2B5EF4-FFF2-40B4-BE49-F238E27FC236}">
                    <a16:creationId xmlns:a16="http://schemas.microsoft.com/office/drawing/2014/main" id="{F3AF30D8-F9A4-14D6-373E-A06663208492}"/>
                  </a:ext>
                </a:extLst>
              </p:cNvPr>
              <p:cNvSpPr>
                <a:spLocks noChangeShapeType="1"/>
              </p:cNvSpPr>
              <p:nvPr/>
            </p:nvSpPr>
            <p:spPr bwMode="auto">
              <a:xfrm flipV="1">
                <a:off x="3744" y="3168"/>
                <a:ext cx="0" cy="24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6" name="Line 53">
                <a:extLst>
                  <a:ext uri="{FF2B5EF4-FFF2-40B4-BE49-F238E27FC236}">
                    <a16:creationId xmlns:a16="http://schemas.microsoft.com/office/drawing/2014/main" id="{03741447-36A7-BD71-C384-E3D9E7652638}"/>
                  </a:ext>
                </a:extLst>
              </p:cNvPr>
              <p:cNvSpPr>
                <a:spLocks noChangeShapeType="1"/>
              </p:cNvSpPr>
              <p:nvPr/>
            </p:nvSpPr>
            <p:spPr bwMode="auto">
              <a:xfrm flipH="1" flipV="1">
                <a:off x="3552" y="3024"/>
                <a:ext cx="192" cy="14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32" name="Line 54">
              <a:extLst>
                <a:ext uri="{FF2B5EF4-FFF2-40B4-BE49-F238E27FC236}">
                  <a16:creationId xmlns:a16="http://schemas.microsoft.com/office/drawing/2014/main" id="{35093901-0B16-4000-BAE6-4F816AEA0099}"/>
                </a:ext>
              </a:extLst>
            </p:cNvPr>
            <p:cNvSpPr>
              <a:spLocks noChangeShapeType="1"/>
            </p:cNvSpPr>
            <p:nvPr/>
          </p:nvSpPr>
          <p:spPr bwMode="auto">
            <a:xfrm flipH="1">
              <a:off x="1009" y="1463"/>
              <a:ext cx="99" cy="0"/>
            </a:xfrm>
            <a:prstGeom prst="line">
              <a:avLst/>
            </a:prstGeom>
            <a:noFill/>
            <a:ln w="50800">
              <a:solidFill>
                <a:schemeClr val="bg1"/>
              </a:solidFill>
              <a:prstDash val="dash"/>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33" name="Line 55">
              <a:extLst>
                <a:ext uri="{FF2B5EF4-FFF2-40B4-BE49-F238E27FC236}">
                  <a16:creationId xmlns:a16="http://schemas.microsoft.com/office/drawing/2014/main" id="{BCCD7624-F026-2B88-DE58-BEA508D0C7E2}"/>
                </a:ext>
              </a:extLst>
            </p:cNvPr>
            <p:cNvSpPr>
              <a:spLocks noChangeShapeType="1"/>
            </p:cNvSpPr>
            <p:nvPr/>
          </p:nvSpPr>
          <p:spPr bwMode="auto">
            <a:xfrm flipH="1">
              <a:off x="563" y="1463"/>
              <a:ext cx="83" cy="0"/>
            </a:xfrm>
            <a:prstGeom prst="line">
              <a:avLst/>
            </a:prstGeom>
            <a:noFill/>
            <a:ln w="50800">
              <a:solidFill>
                <a:schemeClr val="bg1"/>
              </a:solidFill>
              <a:prstDash val="dash"/>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34" name="Line 56">
              <a:extLst>
                <a:ext uri="{FF2B5EF4-FFF2-40B4-BE49-F238E27FC236}">
                  <a16:creationId xmlns:a16="http://schemas.microsoft.com/office/drawing/2014/main" id="{353202F1-0B07-65C6-F974-F019E20796AC}"/>
                </a:ext>
              </a:extLst>
            </p:cNvPr>
            <p:cNvSpPr>
              <a:spLocks noChangeShapeType="1"/>
            </p:cNvSpPr>
            <p:nvPr/>
          </p:nvSpPr>
          <p:spPr bwMode="auto">
            <a:xfrm>
              <a:off x="563" y="1463"/>
              <a:ext cx="0" cy="142"/>
            </a:xfrm>
            <a:prstGeom prst="line">
              <a:avLst/>
            </a:prstGeom>
            <a:noFill/>
            <a:ln w="50800">
              <a:solidFill>
                <a:schemeClr val="bg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sz="1399"/>
            </a:p>
          </p:txBody>
        </p:sp>
        <p:sp>
          <p:nvSpPr>
            <p:cNvPr id="35" name="Line 57">
              <a:extLst>
                <a:ext uri="{FF2B5EF4-FFF2-40B4-BE49-F238E27FC236}">
                  <a16:creationId xmlns:a16="http://schemas.microsoft.com/office/drawing/2014/main" id="{5F2EA006-FFFF-44BA-B2EB-A0FA565C4445}"/>
                </a:ext>
              </a:extLst>
            </p:cNvPr>
            <p:cNvSpPr>
              <a:spLocks noChangeShapeType="1"/>
            </p:cNvSpPr>
            <p:nvPr/>
          </p:nvSpPr>
          <p:spPr bwMode="auto">
            <a:xfrm flipH="1">
              <a:off x="745" y="1375"/>
              <a:ext cx="165" cy="14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37" name="Line 58">
              <a:extLst>
                <a:ext uri="{FF2B5EF4-FFF2-40B4-BE49-F238E27FC236}">
                  <a16:creationId xmlns:a16="http://schemas.microsoft.com/office/drawing/2014/main" id="{B63B9AD3-0329-1ED7-E677-D7F74245E9EF}"/>
                </a:ext>
              </a:extLst>
            </p:cNvPr>
            <p:cNvSpPr>
              <a:spLocks noChangeShapeType="1"/>
            </p:cNvSpPr>
            <p:nvPr/>
          </p:nvSpPr>
          <p:spPr bwMode="auto">
            <a:xfrm flipH="1">
              <a:off x="860" y="1428"/>
              <a:ext cx="116" cy="89"/>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38" name="Line 59">
              <a:extLst>
                <a:ext uri="{FF2B5EF4-FFF2-40B4-BE49-F238E27FC236}">
                  <a16:creationId xmlns:a16="http://schemas.microsoft.com/office/drawing/2014/main" id="{8B891914-30A9-9151-E738-9DF361734996}"/>
                </a:ext>
              </a:extLst>
            </p:cNvPr>
            <p:cNvSpPr>
              <a:spLocks noChangeShapeType="1"/>
            </p:cNvSpPr>
            <p:nvPr/>
          </p:nvSpPr>
          <p:spPr bwMode="auto">
            <a:xfrm flipH="1">
              <a:off x="679" y="1375"/>
              <a:ext cx="132" cy="14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39" name="Line 60">
              <a:extLst>
                <a:ext uri="{FF2B5EF4-FFF2-40B4-BE49-F238E27FC236}">
                  <a16:creationId xmlns:a16="http://schemas.microsoft.com/office/drawing/2014/main" id="{CEC021A6-2950-29C5-F6B8-EB5DF45487CC}"/>
                </a:ext>
              </a:extLst>
            </p:cNvPr>
            <p:cNvSpPr>
              <a:spLocks noChangeShapeType="1"/>
            </p:cNvSpPr>
            <p:nvPr/>
          </p:nvSpPr>
          <p:spPr bwMode="auto">
            <a:xfrm flipH="1">
              <a:off x="679" y="1375"/>
              <a:ext cx="66" cy="7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0" name="Line 61">
              <a:extLst>
                <a:ext uri="{FF2B5EF4-FFF2-40B4-BE49-F238E27FC236}">
                  <a16:creationId xmlns:a16="http://schemas.microsoft.com/office/drawing/2014/main" id="{BE64F261-53FE-6A31-401B-A07000D628D9}"/>
                </a:ext>
              </a:extLst>
            </p:cNvPr>
            <p:cNvSpPr>
              <a:spLocks noChangeShapeType="1"/>
            </p:cNvSpPr>
            <p:nvPr/>
          </p:nvSpPr>
          <p:spPr bwMode="auto">
            <a:xfrm flipH="1">
              <a:off x="811" y="1393"/>
              <a:ext cx="132" cy="124"/>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1" name="Line 62">
              <a:extLst>
                <a:ext uri="{FF2B5EF4-FFF2-40B4-BE49-F238E27FC236}">
                  <a16:creationId xmlns:a16="http://schemas.microsoft.com/office/drawing/2014/main" id="{1725DE22-8537-9567-F8EA-9FC4FFE04A02}"/>
                </a:ext>
              </a:extLst>
            </p:cNvPr>
            <p:cNvSpPr>
              <a:spLocks noChangeShapeType="1"/>
            </p:cNvSpPr>
            <p:nvPr/>
          </p:nvSpPr>
          <p:spPr bwMode="auto">
            <a:xfrm flipH="1">
              <a:off x="712" y="1375"/>
              <a:ext cx="132" cy="14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5" name="Title 1">
            <a:extLst>
              <a:ext uri="{FF2B5EF4-FFF2-40B4-BE49-F238E27FC236}">
                <a16:creationId xmlns:a16="http://schemas.microsoft.com/office/drawing/2014/main" id="{C4D56326-279B-6342-1B3C-383A4C6EA1B4}"/>
              </a:ext>
            </a:extLst>
          </p:cNvPr>
          <p:cNvSpPr txBox="1">
            <a:spLocks/>
          </p:cNvSpPr>
          <p:nvPr/>
        </p:nvSpPr>
        <p:spPr>
          <a:xfrm>
            <a:off x="512572" y="253834"/>
            <a:ext cx="10512425" cy="457363"/>
          </a:xfrm>
          <a:prstGeom prst="rect">
            <a:avLst/>
          </a:prstGeom>
        </p:spPr>
        <p:txBody>
          <a:bodyPr vert="horz" lIns="91440" tIns="45720" rIns="91440" bIns="45720" rtlCol="0" anchor="ctr">
            <a:normAutofit/>
          </a:bodyPr>
          <a:lstStyle>
            <a:lvl1pPr algn="l" defTabSz="914126" rtl="0" eaLnBrk="1" latinLnBrk="0" hangingPunct="1">
              <a:lnSpc>
                <a:spcPct val="90000"/>
              </a:lnSpc>
              <a:spcBef>
                <a:spcPct val="0"/>
              </a:spcBef>
              <a:buNone/>
              <a:defRPr sz="4399"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altLang="en-US" sz="2000" dirty="0">
                <a:solidFill>
                  <a:schemeClr val="bg1"/>
                </a:solidFill>
              </a:rPr>
              <a:t>VSM Icons</a:t>
            </a:r>
            <a:endParaRPr lang="en-US" sz="2000" dirty="0">
              <a:solidFill>
                <a:schemeClr val="bg1"/>
              </a:solidFill>
            </a:endParaRPr>
          </a:p>
        </p:txBody>
      </p:sp>
      <p:sp>
        <p:nvSpPr>
          <p:cNvPr id="6" name="Slide Number Placeholder 2">
            <a:extLst>
              <a:ext uri="{FF2B5EF4-FFF2-40B4-BE49-F238E27FC236}">
                <a16:creationId xmlns:a16="http://schemas.microsoft.com/office/drawing/2014/main" id="{2E79C58F-305A-CA0F-9F1E-9B37A88C79CD}"/>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170</a:t>
            </a:fld>
            <a:endParaRPr lang="en-US" dirty="0"/>
          </a:p>
        </p:txBody>
      </p:sp>
    </p:spTree>
    <p:custDataLst>
      <p:tags r:id="rId1"/>
    </p:custDataLst>
    <p:extLst>
      <p:ext uri="{BB962C8B-B14F-4D97-AF65-F5344CB8AC3E}">
        <p14:creationId xmlns:p14="http://schemas.microsoft.com/office/powerpoint/2010/main" val="272763698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able">
            <a:extLst>
              <a:ext uri="{FF2B5EF4-FFF2-40B4-BE49-F238E27FC236}">
                <a16:creationId xmlns:a16="http://schemas.microsoft.com/office/drawing/2014/main" id="{29551A8D-3146-3626-679C-DBA530BF2F3F}"/>
              </a:ext>
            </a:extLst>
          </p:cNvPr>
          <p:cNvGraphicFramePr/>
          <p:nvPr>
            <p:extLst>
              <p:ext uri="{D42A27DB-BD31-4B8C-83A1-F6EECF244321}">
                <p14:modId xmlns:p14="http://schemas.microsoft.com/office/powerpoint/2010/main" val="433042682"/>
              </p:ext>
            </p:extLst>
          </p:nvPr>
        </p:nvGraphicFramePr>
        <p:xfrm>
          <a:off x="684135" y="1693058"/>
          <a:ext cx="10651190" cy="4187418"/>
        </p:xfrm>
        <a:graphic>
          <a:graphicData uri="http://schemas.openxmlformats.org/drawingml/2006/table">
            <a:tbl>
              <a:tblPr>
                <a:tableStyleId>{4C3C2611-4C71-4FC5-86AE-919BDF0F9419}</a:tableStyleId>
              </a:tblPr>
              <a:tblGrid>
                <a:gridCol w="2105200">
                  <a:extLst>
                    <a:ext uri="{9D8B030D-6E8A-4147-A177-3AD203B41FA5}">
                      <a16:colId xmlns:a16="http://schemas.microsoft.com/office/drawing/2014/main" val="20000"/>
                    </a:ext>
                  </a:extLst>
                </a:gridCol>
                <a:gridCol w="2727658">
                  <a:extLst>
                    <a:ext uri="{9D8B030D-6E8A-4147-A177-3AD203B41FA5}">
                      <a16:colId xmlns:a16="http://schemas.microsoft.com/office/drawing/2014/main" val="20001"/>
                    </a:ext>
                  </a:extLst>
                </a:gridCol>
                <a:gridCol w="5818332">
                  <a:extLst>
                    <a:ext uri="{9D8B030D-6E8A-4147-A177-3AD203B41FA5}">
                      <a16:colId xmlns:a16="http://schemas.microsoft.com/office/drawing/2014/main" val="3429638595"/>
                    </a:ext>
                  </a:extLst>
                </a:gridCol>
              </a:tblGrid>
              <a:tr h="805546">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a:ea typeface="+mn-ea"/>
                          <a:cs typeface="+mn-cs"/>
                          <a:sym typeface="Roboto"/>
                        </a:rPr>
                        <a:t>VSM Icon</a:t>
                      </a:r>
                      <a:endParaRPr sz="1500" b="1" i="0" u="none" strike="noStrike" cap="none" spc="0" baseline="0" dirty="0">
                        <a:solidFill>
                          <a:schemeClr val="bg1"/>
                        </a:solidFill>
                        <a:uFillTx/>
                        <a:latin typeface="Roboto" panose="02000000000000000000"/>
                        <a:ea typeface="+mn-ea"/>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a:rPr>
                        <a:t>Represents</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tc>
                  <a:txBody>
                    <a:bodyPr/>
                    <a:lstStyle/>
                    <a:p>
                      <a:pPr algn="ctr" defTabSz="1828342">
                        <a:defRPr sz="1800">
                          <a:solidFill>
                            <a:srgbClr val="000000"/>
                          </a:solidFill>
                        </a:defRPr>
                      </a:pPr>
                      <a:r>
                        <a:rPr lang="en-US" sz="1500" b="1" dirty="0">
                          <a:solidFill>
                            <a:schemeClr val="bg1"/>
                          </a:solidFill>
                          <a:latin typeface="Roboto" panose="02000000000000000000"/>
                        </a:rPr>
                        <a:t>Notes</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1008155">
                <a:tc>
                  <a:txBody>
                    <a:bodyPr/>
                    <a:lstStyle/>
                    <a:p>
                      <a:pPr marL="0" indent="0" algn="l" defTabSz="1828342">
                        <a:buNone/>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600" dirty="0">
                          <a:solidFill>
                            <a:schemeClr val="bg1"/>
                          </a:solidFill>
                          <a:latin typeface="Roboto" panose="02000000000000000000"/>
                        </a:rPr>
                        <a:t>Production Kanban</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571500" indent="-571500" algn="l" defTabSz="1828342">
                        <a:buClr>
                          <a:schemeClr val="bg1"/>
                        </a:buClr>
                        <a:buSzPct val="90000"/>
                        <a:buFont typeface="Arial" panose="020B0604020202020204" pitchFamily="34" charset="0"/>
                        <a:buChar char="•"/>
                        <a:defRPr sz="1800">
                          <a:solidFill>
                            <a:srgbClr val="000000"/>
                          </a:solidFill>
                        </a:defRPr>
                      </a:pPr>
                      <a:r>
                        <a:rPr lang="en-US" sz="1600" dirty="0">
                          <a:solidFill>
                            <a:schemeClr val="bg1"/>
                          </a:solidFill>
                          <a:latin typeface="Roboto" panose="02000000000000000000"/>
                        </a:rPr>
                        <a:t>The “one per container” </a:t>
                      </a:r>
                      <a:r>
                        <a:rPr lang="en-US" sz="1600" dirty="0" err="1">
                          <a:solidFill>
                            <a:schemeClr val="bg1"/>
                          </a:solidFill>
                          <a:latin typeface="Roboto" panose="02000000000000000000"/>
                        </a:rPr>
                        <a:t>kanban</a:t>
                      </a:r>
                      <a:r>
                        <a:rPr lang="en-US" sz="1600" dirty="0">
                          <a:solidFill>
                            <a:schemeClr val="bg1"/>
                          </a:solidFill>
                          <a:latin typeface="Roboto" panose="02000000000000000000"/>
                        </a:rPr>
                        <a:t>. Card or device that tells how many of what can be produced and gives permission to do so.</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1243391">
                <a:tc>
                  <a:txBody>
                    <a:bodyPr/>
                    <a:lstStyle/>
                    <a:p>
                      <a:pPr marL="0" marR="0" lvl="0" indent="0" algn="l" defTabSz="1828342" eaLnBrk="1" fontAlgn="auto" latinLnBrk="0" hangingPunct="1">
                        <a:lnSpc>
                          <a:spcPct val="100000"/>
                        </a:lnSpc>
                        <a:spcBef>
                          <a:spcPts val="0"/>
                        </a:spcBef>
                        <a:spcAft>
                          <a:spcPts val="0"/>
                        </a:spcAft>
                        <a:buClrTx/>
                        <a:buSzTx/>
                        <a:buFontTx/>
                        <a:buNone/>
                        <a:tabLst/>
                        <a:defRPr sz="1800">
                          <a:solidFill>
                            <a:srgbClr val="000000"/>
                          </a:solidFill>
                        </a:defRPr>
                      </a:pPr>
                      <a:endParaRPr lang="en-US"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600" dirty="0">
                          <a:solidFill>
                            <a:schemeClr val="bg1"/>
                          </a:solidFill>
                          <a:latin typeface="Roboto" panose="02000000000000000000"/>
                        </a:rPr>
                        <a:t>Kaizen Lightning Burst</a:t>
                      </a: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600" b="0" i="0" u="none" strike="noStrike" cap="none" spc="0" baseline="0" dirty="0">
                          <a:solidFill>
                            <a:schemeClr val="bg1"/>
                          </a:solidFill>
                          <a:uFillTx/>
                          <a:latin typeface="Roboto" panose="02000000000000000000"/>
                          <a:ea typeface="+mn-ea"/>
                          <a:cs typeface="+mn-cs"/>
                          <a:sym typeface="Roboto"/>
                        </a:rPr>
                        <a:t>Highlights improvement needs at specific processes that are critical to achieving the value stream vision</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1130326">
                <a:tc>
                  <a:txBody>
                    <a:bodyPr/>
                    <a:lstStyle/>
                    <a:p>
                      <a:pPr algn="l" defTabSz="1828342">
                        <a:defRPr sz="1800">
                          <a:solidFill>
                            <a:srgbClr val="000000"/>
                          </a:solidFill>
                        </a:defRPr>
                      </a:pP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600" b="0" i="0" u="none" strike="noStrike" cap="none" spc="0" baseline="0" dirty="0">
                          <a:solidFill>
                            <a:schemeClr val="bg1"/>
                          </a:solidFill>
                          <a:uFillTx/>
                          <a:latin typeface="Roboto" panose="02000000000000000000"/>
                          <a:ea typeface="+mn-ea"/>
                          <a:cs typeface="+mn-cs"/>
                          <a:sym typeface="Roboto"/>
                        </a:rPr>
                        <a:t>Operator/Associate</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571500" marR="0" indent="-571500" algn="l" defTabSz="1828342" latinLnBrk="0">
                        <a:lnSpc>
                          <a:spcPct val="100000"/>
                        </a:lnSpc>
                        <a:spcBef>
                          <a:spcPts val="0"/>
                        </a:spcBef>
                        <a:spcAft>
                          <a:spcPts val="0"/>
                        </a:spcAft>
                        <a:buClr>
                          <a:schemeClr val="bg1"/>
                        </a:buClr>
                        <a:buSzPct val="90000"/>
                        <a:buFont typeface="Arial" panose="020B0604020202020204" pitchFamily="34" charset="0"/>
                        <a:buChar char="•"/>
                        <a:tabLst/>
                        <a:defRPr sz="1800">
                          <a:solidFill>
                            <a:srgbClr val="000000"/>
                          </a:solidFill>
                        </a:defRPr>
                      </a:pPr>
                      <a:r>
                        <a:rPr lang="en-US" sz="1600" b="0" i="0" u="none" strike="noStrike" cap="none" spc="0" baseline="0" dirty="0">
                          <a:solidFill>
                            <a:schemeClr val="bg1"/>
                          </a:solidFill>
                          <a:uFillTx/>
                          <a:latin typeface="Roboto" panose="02000000000000000000"/>
                          <a:ea typeface="+mn-ea"/>
                          <a:cs typeface="+mn-cs"/>
                          <a:sym typeface="Roboto"/>
                        </a:rPr>
                        <a:t>Represents a person viewed from above</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bl>
          </a:graphicData>
        </a:graphic>
      </p:graphicFrame>
      <p:grpSp>
        <p:nvGrpSpPr>
          <p:cNvPr id="3" name="Group 43">
            <a:extLst>
              <a:ext uri="{FF2B5EF4-FFF2-40B4-BE49-F238E27FC236}">
                <a16:creationId xmlns:a16="http://schemas.microsoft.com/office/drawing/2014/main" id="{8D8B912C-51D8-5B42-4DDB-7DDBE5C3D414}"/>
              </a:ext>
            </a:extLst>
          </p:cNvPr>
          <p:cNvGrpSpPr>
            <a:grpSpLocks/>
          </p:cNvGrpSpPr>
          <p:nvPr/>
        </p:nvGrpSpPr>
        <p:grpSpPr bwMode="auto">
          <a:xfrm>
            <a:off x="1196606" y="5063814"/>
            <a:ext cx="1063348" cy="395184"/>
            <a:chOff x="654" y="2860"/>
            <a:chExt cx="1340" cy="498"/>
          </a:xfrm>
        </p:grpSpPr>
        <p:grpSp>
          <p:nvGrpSpPr>
            <p:cNvPr id="4" name="Group 44">
              <a:extLst>
                <a:ext uri="{FF2B5EF4-FFF2-40B4-BE49-F238E27FC236}">
                  <a16:creationId xmlns:a16="http://schemas.microsoft.com/office/drawing/2014/main" id="{475D0D61-EB71-B5BF-0AE1-85B41740B7C6}"/>
                </a:ext>
              </a:extLst>
            </p:cNvPr>
            <p:cNvGrpSpPr>
              <a:grpSpLocks/>
            </p:cNvGrpSpPr>
            <p:nvPr/>
          </p:nvGrpSpPr>
          <p:grpSpPr bwMode="auto">
            <a:xfrm flipV="1">
              <a:off x="654" y="2860"/>
              <a:ext cx="555" cy="455"/>
              <a:chOff x="679" y="3229"/>
              <a:chExt cx="358" cy="369"/>
            </a:xfrm>
          </p:grpSpPr>
          <p:sp>
            <p:nvSpPr>
              <p:cNvPr id="6" name="Oval 45">
                <a:extLst>
                  <a:ext uri="{FF2B5EF4-FFF2-40B4-BE49-F238E27FC236}">
                    <a16:creationId xmlns:a16="http://schemas.microsoft.com/office/drawing/2014/main" id="{7D4403D8-475B-9359-A1DD-C298B46ADB6D}"/>
                  </a:ext>
                </a:extLst>
              </p:cNvPr>
              <p:cNvSpPr>
                <a:spLocks noChangeArrowheads="1"/>
              </p:cNvSpPr>
              <p:nvPr/>
            </p:nvSpPr>
            <p:spPr bwMode="auto">
              <a:xfrm>
                <a:off x="768" y="3325"/>
                <a:ext cx="179" cy="179"/>
              </a:xfrm>
              <a:prstGeom prst="ellipse">
                <a:avLst/>
              </a:prstGeom>
              <a:noFill/>
              <a:ln w="50800">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1800">
                  <a:latin typeface="+mn-lt"/>
                </a:endParaRPr>
              </a:p>
            </p:txBody>
          </p:sp>
          <p:sp>
            <p:nvSpPr>
              <p:cNvPr id="7" name="AutoShape 46">
                <a:extLst>
                  <a:ext uri="{FF2B5EF4-FFF2-40B4-BE49-F238E27FC236}">
                    <a16:creationId xmlns:a16="http://schemas.microsoft.com/office/drawing/2014/main" id="{1CC9C9D3-DC86-7F52-A3CD-940E25B3161E}"/>
                  </a:ext>
                </a:extLst>
              </p:cNvPr>
              <p:cNvSpPr>
                <a:spLocks noChangeArrowheads="1"/>
              </p:cNvSpPr>
              <p:nvPr/>
            </p:nvSpPr>
            <p:spPr bwMode="auto">
              <a:xfrm>
                <a:off x="679" y="3229"/>
                <a:ext cx="358" cy="36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50800">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sz="1800">
                  <a:solidFill>
                    <a:schemeClr val="bg1"/>
                  </a:solidFill>
                </a:endParaRPr>
              </a:p>
            </p:txBody>
          </p:sp>
        </p:grpSp>
        <p:sp>
          <p:nvSpPr>
            <p:cNvPr id="5" name="Text Box 47">
              <a:extLst>
                <a:ext uri="{FF2B5EF4-FFF2-40B4-BE49-F238E27FC236}">
                  <a16:creationId xmlns:a16="http://schemas.microsoft.com/office/drawing/2014/main" id="{3B6855C5-CCA6-8E2C-93F1-B9907518213D}"/>
                </a:ext>
              </a:extLst>
            </p:cNvPr>
            <p:cNvSpPr txBox="1">
              <a:spLocks noChangeArrowheads="1"/>
            </p:cNvSpPr>
            <p:nvPr/>
          </p:nvSpPr>
          <p:spPr bwMode="auto">
            <a:xfrm>
              <a:off x="1402" y="2893"/>
              <a:ext cx="592" cy="46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dirty="0">
                  <a:latin typeface="+mn-lt"/>
                </a:rPr>
                <a:t>= 2</a:t>
              </a:r>
            </a:p>
          </p:txBody>
        </p:sp>
      </p:grpSp>
      <p:sp>
        <p:nvSpPr>
          <p:cNvPr id="8" name="AutoShape 42">
            <a:extLst>
              <a:ext uri="{FF2B5EF4-FFF2-40B4-BE49-F238E27FC236}">
                <a16:creationId xmlns:a16="http://schemas.microsoft.com/office/drawing/2014/main" id="{A207CAA0-73D1-E242-C654-E35F2E98BDE5}"/>
              </a:ext>
            </a:extLst>
          </p:cNvPr>
          <p:cNvSpPr>
            <a:spLocks noChangeArrowheads="1"/>
          </p:cNvSpPr>
          <p:nvPr/>
        </p:nvSpPr>
        <p:spPr bwMode="auto">
          <a:xfrm>
            <a:off x="1156649" y="3724091"/>
            <a:ext cx="1197557" cy="828185"/>
          </a:xfrm>
          <a:prstGeom prst="irregularSeal1">
            <a:avLst/>
          </a:prstGeom>
          <a:noFill/>
          <a:ln w="50800">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sz="450"/>
          </a:p>
        </p:txBody>
      </p:sp>
      <p:grpSp>
        <p:nvGrpSpPr>
          <p:cNvPr id="61" name="Group 60">
            <a:extLst>
              <a:ext uri="{FF2B5EF4-FFF2-40B4-BE49-F238E27FC236}">
                <a16:creationId xmlns:a16="http://schemas.microsoft.com/office/drawing/2014/main" id="{F9041662-636F-DBBE-A671-1AB73D5283F1}"/>
              </a:ext>
            </a:extLst>
          </p:cNvPr>
          <p:cNvGrpSpPr/>
          <p:nvPr/>
        </p:nvGrpSpPr>
        <p:grpSpPr>
          <a:xfrm>
            <a:off x="1137536" y="2684891"/>
            <a:ext cx="1387041" cy="612127"/>
            <a:chOff x="2507220" y="3192785"/>
            <a:chExt cx="2774804" cy="1224573"/>
          </a:xfrm>
        </p:grpSpPr>
        <p:grpSp>
          <p:nvGrpSpPr>
            <p:cNvPr id="9" name="Group 47">
              <a:extLst>
                <a:ext uri="{FF2B5EF4-FFF2-40B4-BE49-F238E27FC236}">
                  <a16:creationId xmlns:a16="http://schemas.microsoft.com/office/drawing/2014/main" id="{B35ACE50-DAC5-1171-103D-E69ACCAD124F}"/>
                </a:ext>
              </a:extLst>
            </p:cNvPr>
            <p:cNvGrpSpPr>
              <a:grpSpLocks/>
            </p:cNvGrpSpPr>
            <p:nvPr/>
          </p:nvGrpSpPr>
          <p:grpSpPr bwMode="auto">
            <a:xfrm>
              <a:off x="2507220" y="3246339"/>
              <a:ext cx="2774804" cy="1171019"/>
              <a:chOff x="563" y="1375"/>
              <a:chExt cx="545" cy="230"/>
            </a:xfrm>
          </p:grpSpPr>
          <p:grpSp>
            <p:nvGrpSpPr>
              <p:cNvPr id="10" name="Group 48">
                <a:extLst>
                  <a:ext uri="{FF2B5EF4-FFF2-40B4-BE49-F238E27FC236}">
                    <a16:creationId xmlns:a16="http://schemas.microsoft.com/office/drawing/2014/main" id="{8E72A172-6B11-0FB5-C926-145E4B4B3DB3}"/>
                  </a:ext>
                </a:extLst>
              </p:cNvPr>
              <p:cNvGrpSpPr>
                <a:grpSpLocks/>
              </p:cNvGrpSpPr>
              <p:nvPr/>
            </p:nvGrpSpPr>
            <p:grpSpPr bwMode="auto">
              <a:xfrm>
                <a:off x="679" y="1375"/>
                <a:ext cx="297" cy="142"/>
                <a:chOff x="2880" y="3024"/>
                <a:chExt cx="864" cy="384"/>
              </a:xfrm>
            </p:grpSpPr>
            <p:sp>
              <p:nvSpPr>
                <p:cNvPr id="55" name="Line 49">
                  <a:extLst>
                    <a:ext uri="{FF2B5EF4-FFF2-40B4-BE49-F238E27FC236}">
                      <a16:creationId xmlns:a16="http://schemas.microsoft.com/office/drawing/2014/main" id="{E0429C62-315C-B671-0687-2275F579E786}"/>
                    </a:ext>
                  </a:extLst>
                </p:cNvPr>
                <p:cNvSpPr>
                  <a:spLocks noChangeShapeType="1"/>
                </p:cNvSpPr>
                <p:nvPr/>
              </p:nvSpPr>
              <p:spPr bwMode="auto">
                <a:xfrm flipH="1">
                  <a:off x="2880" y="3024"/>
                  <a:ext cx="6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algn="r"/>
                  <a:endParaRPr lang="en-US" sz="1800" dirty="0"/>
                </a:p>
              </p:txBody>
            </p:sp>
            <p:sp>
              <p:nvSpPr>
                <p:cNvPr id="56" name="Line 50">
                  <a:extLst>
                    <a:ext uri="{FF2B5EF4-FFF2-40B4-BE49-F238E27FC236}">
                      <a16:creationId xmlns:a16="http://schemas.microsoft.com/office/drawing/2014/main" id="{086E0A70-29AD-7912-088C-C85AE653600C}"/>
                    </a:ext>
                  </a:extLst>
                </p:cNvPr>
                <p:cNvSpPr>
                  <a:spLocks noChangeShapeType="1"/>
                </p:cNvSpPr>
                <p:nvPr/>
              </p:nvSpPr>
              <p:spPr bwMode="auto">
                <a:xfrm flipH="1">
                  <a:off x="2880" y="3408"/>
                  <a:ext cx="8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57" name="Line 51">
                  <a:extLst>
                    <a:ext uri="{FF2B5EF4-FFF2-40B4-BE49-F238E27FC236}">
                      <a16:creationId xmlns:a16="http://schemas.microsoft.com/office/drawing/2014/main" id="{FFC1FB11-4C72-5531-5F02-37C17ECE81E4}"/>
                    </a:ext>
                  </a:extLst>
                </p:cNvPr>
                <p:cNvSpPr>
                  <a:spLocks noChangeShapeType="1"/>
                </p:cNvSpPr>
                <p:nvPr/>
              </p:nvSpPr>
              <p:spPr bwMode="auto">
                <a:xfrm>
                  <a:off x="2880" y="3024"/>
                  <a:ext cx="0" cy="38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58" name="Line 52">
                  <a:extLst>
                    <a:ext uri="{FF2B5EF4-FFF2-40B4-BE49-F238E27FC236}">
                      <a16:creationId xmlns:a16="http://schemas.microsoft.com/office/drawing/2014/main" id="{D45F3418-09F0-F969-062F-7885A09EF84B}"/>
                    </a:ext>
                  </a:extLst>
                </p:cNvPr>
                <p:cNvSpPr>
                  <a:spLocks noChangeShapeType="1"/>
                </p:cNvSpPr>
                <p:nvPr/>
              </p:nvSpPr>
              <p:spPr bwMode="auto">
                <a:xfrm flipV="1">
                  <a:off x="3744" y="3168"/>
                  <a:ext cx="0" cy="24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59" name="Line 53">
                  <a:extLst>
                    <a:ext uri="{FF2B5EF4-FFF2-40B4-BE49-F238E27FC236}">
                      <a16:creationId xmlns:a16="http://schemas.microsoft.com/office/drawing/2014/main" id="{40FABACF-447D-4776-AB2D-0E4FDCD5F764}"/>
                    </a:ext>
                  </a:extLst>
                </p:cNvPr>
                <p:cNvSpPr>
                  <a:spLocks noChangeShapeType="1"/>
                </p:cNvSpPr>
                <p:nvPr/>
              </p:nvSpPr>
              <p:spPr bwMode="auto">
                <a:xfrm flipH="1" flipV="1">
                  <a:off x="3552" y="3024"/>
                  <a:ext cx="192" cy="14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399"/>
                </a:p>
              </p:txBody>
            </p:sp>
          </p:grpSp>
          <p:sp>
            <p:nvSpPr>
              <p:cNvPr id="36" name="Line 54">
                <a:extLst>
                  <a:ext uri="{FF2B5EF4-FFF2-40B4-BE49-F238E27FC236}">
                    <a16:creationId xmlns:a16="http://schemas.microsoft.com/office/drawing/2014/main" id="{592152C6-52A7-1ED0-7BBC-54441F8C203C}"/>
                  </a:ext>
                </a:extLst>
              </p:cNvPr>
              <p:cNvSpPr>
                <a:spLocks noChangeShapeType="1"/>
              </p:cNvSpPr>
              <p:nvPr/>
            </p:nvSpPr>
            <p:spPr bwMode="auto">
              <a:xfrm flipH="1">
                <a:off x="1009" y="1463"/>
                <a:ext cx="99" cy="0"/>
              </a:xfrm>
              <a:prstGeom prst="line">
                <a:avLst/>
              </a:prstGeom>
              <a:noFill/>
              <a:ln w="50800">
                <a:solidFill>
                  <a:schemeClr val="bg1"/>
                </a:solidFill>
                <a:prstDash val="dash"/>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7" name="Line 55">
                <a:extLst>
                  <a:ext uri="{FF2B5EF4-FFF2-40B4-BE49-F238E27FC236}">
                    <a16:creationId xmlns:a16="http://schemas.microsoft.com/office/drawing/2014/main" id="{5C271FBF-99E4-DA66-9E33-AF8C439FD1AA}"/>
                  </a:ext>
                </a:extLst>
              </p:cNvPr>
              <p:cNvSpPr>
                <a:spLocks noChangeShapeType="1"/>
              </p:cNvSpPr>
              <p:nvPr/>
            </p:nvSpPr>
            <p:spPr bwMode="auto">
              <a:xfrm flipH="1">
                <a:off x="563" y="1463"/>
                <a:ext cx="83" cy="0"/>
              </a:xfrm>
              <a:prstGeom prst="line">
                <a:avLst/>
              </a:prstGeom>
              <a:noFill/>
              <a:ln w="50800">
                <a:solidFill>
                  <a:schemeClr val="bg1"/>
                </a:solidFill>
                <a:prstDash val="dash"/>
                <a:round/>
                <a:headEnd/>
                <a:tailEnd/>
              </a:ln>
              <a:extLst>
                <a:ext uri="{909E8E84-426E-40DD-AFC4-6F175D3DCCD1}">
                  <a14:hiddenFill xmlns:a14="http://schemas.microsoft.com/office/drawing/2010/main">
                    <a:noFill/>
                  </a14:hiddenFill>
                </a:ext>
              </a:extLst>
            </p:spPr>
            <p:txBody>
              <a:bodyPr/>
              <a:lstStyle/>
              <a:p>
                <a:endParaRPr lang="en-US" sz="1399"/>
              </a:p>
            </p:txBody>
          </p:sp>
          <p:sp>
            <p:nvSpPr>
              <p:cNvPr id="48" name="Line 56">
                <a:extLst>
                  <a:ext uri="{FF2B5EF4-FFF2-40B4-BE49-F238E27FC236}">
                    <a16:creationId xmlns:a16="http://schemas.microsoft.com/office/drawing/2014/main" id="{EA7BD054-8A9A-A6B7-E369-2C880B397E25}"/>
                  </a:ext>
                </a:extLst>
              </p:cNvPr>
              <p:cNvSpPr>
                <a:spLocks noChangeShapeType="1"/>
              </p:cNvSpPr>
              <p:nvPr/>
            </p:nvSpPr>
            <p:spPr bwMode="auto">
              <a:xfrm>
                <a:off x="563" y="1463"/>
                <a:ext cx="0" cy="142"/>
              </a:xfrm>
              <a:prstGeom prst="line">
                <a:avLst/>
              </a:prstGeom>
              <a:noFill/>
              <a:ln w="50800">
                <a:solidFill>
                  <a:schemeClr val="bg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sz="1399"/>
              </a:p>
            </p:txBody>
          </p:sp>
        </p:grpSp>
        <p:sp>
          <p:nvSpPr>
            <p:cNvPr id="60" name="TextBox 59">
              <a:extLst>
                <a:ext uri="{FF2B5EF4-FFF2-40B4-BE49-F238E27FC236}">
                  <a16:creationId xmlns:a16="http://schemas.microsoft.com/office/drawing/2014/main" id="{C2550C41-27C2-C61B-F536-EB5AAB01FE9C}"/>
                </a:ext>
              </a:extLst>
            </p:cNvPr>
            <p:cNvSpPr txBox="1"/>
            <p:nvPr/>
          </p:nvSpPr>
          <p:spPr>
            <a:xfrm>
              <a:off x="3430020" y="3192785"/>
              <a:ext cx="724719" cy="84144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25393" tIns="25393" rIns="25393" bIns="25393" numCol="1" spcCol="38100" rtlCol="0" anchor="t">
              <a:spAutoFit/>
            </a:bodyPr>
            <a:lstStyle/>
            <a:p>
              <a:r>
                <a:rPr lang="en-US" sz="2400" dirty="0">
                  <a:solidFill>
                    <a:schemeClr val="bg1"/>
                  </a:solidFill>
                </a:rPr>
                <a:t>20</a:t>
              </a:r>
            </a:p>
          </p:txBody>
        </p:sp>
      </p:grpSp>
      <p:sp>
        <p:nvSpPr>
          <p:cNvPr id="11" name="Slide Number Placeholder 2">
            <a:extLst>
              <a:ext uri="{FF2B5EF4-FFF2-40B4-BE49-F238E27FC236}">
                <a16:creationId xmlns:a16="http://schemas.microsoft.com/office/drawing/2014/main" id="{E9770C3A-7F19-0CC3-C168-D87A42604EDF}"/>
              </a:ext>
            </a:extLst>
          </p:cNvPr>
          <p:cNvSpPr txBox="1">
            <a:spLocks/>
          </p:cNvSpPr>
          <p:nvPr/>
        </p:nvSpPr>
        <p:spPr>
          <a:xfrm>
            <a:off x="8592839" y="6385862"/>
            <a:ext cx="2742486" cy="331846"/>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a:pPr/>
              <a:t>171</a:t>
            </a:fld>
            <a:endParaRPr lang="en-US" dirty="0"/>
          </a:p>
        </p:txBody>
      </p:sp>
      <p:sp>
        <p:nvSpPr>
          <p:cNvPr id="12" name="Title 1">
            <a:extLst>
              <a:ext uri="{FF2B5EF4-FFF2-40B4-BE49-F238E27FC236}">
                <a16:creationId xmlns:a16="http://schemas.microsoft.com/office/drawing/2014/main" id="{0AF234A4-94BB-F961-05F7-2178ECB3259C}"/>
              </a:ext>
            </a:extLst>
          </p:cNvPr>
          <p:cNvSpPr txBox="1">
            <a:spLocks/>
          </p:cNvSpPr>
          <p:nvPr/>
        </p:nvSpPr>
        <p:spPr>
          <a:xfrm>
            <a:off x="512572" y="253834"/>
            <a:ext cx="10512425" cy="457363"/>
          </a:xfrm>
          <a:prstGeom prst="rect">
            <a:avLst/>
          </a:prstGeom>
        </p:spPr>
        <p:txBody>
          <a:bodyPr vert="horz" lIns="91440" tIns="45720" rIns="91440" bIns="45720" rtlCol="0" anchor="ctr">
            <a:normAutofit/>
          </a:bodyPr>
          <a:lstStyle>
            <a:lvl1pPr algn="l" defTabSz="914126" rtl="0" eaLnBrk="1" latinLnBrk="0" hangingPunct="1">
              <a:lnSpc>
                <a:spcPct val="90000"/>
              </a:lnSpc>
              <a:spcBef>
                <a:spcPct val="0"/>
              </a:spcBef>
              <a:buNone/>
              <a:defRPr sz="4399"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altLang="en-US" sz="2000" dirty="0">
                <a:solidFill>
                  <a:schemeClr val="bg1"/>
                </a:solidFill>
              </a:rPr>
              <a:t>VSM Icons</a:t>
            </a:r>
            <a:endParaRPr lang="en-US" sz="2000" dirty="0">
              <a:solidFill>
                <a:schemeClr val="bg1"/>
              </a:solidFill>
            </a:endParaRPr>
          </a:p>
        </p:txBody>
      </p:sp>
    </p:spTree>
    <p:custDataLst>
      <p:tags r:id="rId1"/>
    </p:custDataLst>
    <p:extLst>
      <p:ext uri="{BB962C8B-B14F-4D97-AF65-F5344CB8AC3E}">
        <p14:creationId xmlns:p14="http://schemas.microsoft.com/office/powerpoint/2010/main" val="2629185242"/>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546" y="794530"/>
            <a:ext cx="10512862" cy="1022085"/>
          </a:xfrm>
          <a:prstGeom prst="rect">
            <a:avLst/>
          </a:prstGeom>
        </p:spPr>
        <p:txBody>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sz="4399" dirty="0">
                <a:solidFill>
                  <a:srgbClr val="222222"/>
                </a:solidFill>
                <a:latin typeface="Roboto Medium" panose="02000000000000000000" pitchFamily="2" charset="0"/>
                <a:ea typeface="Roboto Medium" panose="02000000000000000000" pitchFamily="2" charset="0"/>
                <a:cs typeface="Roboto Medium" panose="02000000000000000000" pitchFamily="2" charset="0"/>
              </a:rPr>
              <a:t>Other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3"/>
          <a:stretch>
            <a:fillRect/>
          </a:stretch>
        </p:blipFill>
        <p:spPr>
          <a:xfrm>
            <a:off x="604959" y="1638956"/>
            <a:ext cx="3938214" cy="45707"/>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975664" y="4202515"/>
            <a:ext cx="3661908" cy="1969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018" y="4590590"/>
            <a:ext cx="2879198" cy="837960"/>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lvl1pPr defTabSz="1155700">
              <a:defRPr sz="3000">
                <a:solidFill>
                  <a:srgbClr val="5D616E"/>
                </a:solidFill>
              </a:defRPr>
            </a:lvl1pPr>
          </a:lstStyle>
          <a:p>
            <a:pP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Mark DeLuzio, President and CEO</a:t>
            </a:r>
          </a:p>
          <a:p>
            <a:pP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+1.860.234.0915</a:t>
            </a:r>
          </a:p>
          <a:p>
            <a:pP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89" y="5618674"/>
            <a:ext cx="5600656" cy="26641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solidFill>
                  <a:srgbClr val="222222"/>
                </a:solidFill>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5" name="Content Placeholder 3">
            <a:extLst>
              <a:ext uri="{FF2B5EF4-FFF2-40B4-BE49-F238E27FC236}">
                <a16:creationId xmlns:a16="http://schemas.microsoft.com/office/drawing/2014/main" id="{6D5862E1-6CCB-F525-B192-15CBF9758DFB}"/>
              </a:ext>
            </a:extLst>
          </p:cNvPr>
          <p:cNvSpPr txBox="1">
            <a:spLocks/>
          </p:cNvSpPr>
          <p:nvPr/>
        </p:nvSpPr>
        <p:spPr>
          <a:xfrm>
            <a:off x="5962965" y="1167237"/>
            <a:ext cx="5156444" cy="501997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rgbClr val="222222"/>
                </a:solidFill>
              </a:rPr>
              <a:t>5S</a:t>
            </a:r>
          </a:p>
          <a:p>
            <a:pPr marL="0" indent="0" algn="r">
              <a:buNone/>
            </a:pPr>
            <a:r>
              <a:rPr lang="en-US" sz="1400" dirty="0">
                <a:solidFill>
                  <a:srgbClr val="222222"/>
                </a:solidFill>
              </a:rPr>
              <a:t>Standard Work</a:t>
            </a:r>
          </a:p>
          <a:p>
            <a:pPr marL="0" indent="0" algn="r">
              <a:buNone/>
            </a:pPr>
            <a:r>
              <a:rPr lang="en-US" sz="1400" dirty="0">
                <a:solidFill>
                  <a:srgbClr val="222222"/>
                </a:solidFill>
              </a:rPr>
              <a:t>Total Productive Maintenance (TPM)</a:t>
            </a:r>
          </a:p>
          <a:p>
            <a:pPr marL="0" indent="0" algn="r">
              <a:buNone/>
            </a:pPr>
            <a:r>
              <a:rPr lang="en-US" sz="1400" dirty="0">
                <a:solidFill>
                  <a:srgbClr val="222222"/>
                </a:solidFill>
              </a:rPr>
              <a:t>Cell Design/ Production Preparation Process (3P)</a:t>
            </a:r>
          </a:p>
          <a:p>
            <a:pPr marL="0" indent="0" algn="r">
              <a:buNone/>
            </a:pPr>
            <a:r>
              <a:rPr lang="en-US" sz="1400" dirty="0">
                <a:solidFill>
                  <a:srgbClr val="222222"/>
                </a:solidFill>
              </a:rPr>
              <a:t>Intro to Lean</a:t>
            </a:r>
          </a:p>
          <a:p>
            <a:pPr marL="0" indent="0" algn="r">
              <a:buNone/>
            </a:pPr>
            <a:r>
              <a:rPr lang="en-US" sz="1400" dirty="0">
                <a:solidFill>
                  <a:srgbClr val="222222"/>
                </a:solidFill>
              </a:rPr>
              <a:t>Kaizen</a:t>
            </a:r>
          </a:p>
          <a:p>
            <a:pPr marL="0" indent="0" algn="r">
              <a:buNone/>
            </a:pPr>
            <a:r>
              <a:rPr lang="en-US" sz="1400" dirty="0">
                <a:solidFill>
                  <a:srgbClr val="222222"/>
                </a:solidFill>
              </a:rPr>
              <a:t>Kanban</a:t>
            </a:r>
          </a:p>
          <a:p>
            <a:pPr marL="0" indent="0" algn="r">
              <a:buNone/>
            </a:pPr>
            <a:r>
              <a:rPr lang="en-US" sz="1400" dirty="0">
                <a:solidFill>
                  <a:srgbClr val="222222"/>
                </a:solidFill>
              </a:rPr>
              <a:t>Problem Solving</a:t>
            </a:r>
          </a:p>
          <a:p>
            <a:pPr marL="0" indent="0" algn="r">
              <a:buNone/>
            </a:pPr>
            <a:r>
              <a:rPr lang="en-US" sz="1400" dirty="0" err="1">
                <a:solidFill>
                  <a:srgbClr val="222222"/>
                </a:solidFill>
              </a:rPr>
              <a:t>Poka</a:t>
            </a:r>
            <a:r>
              <a:rPr lang="en-US" sz="1400" dirty="0">
                <a:solidFill>
                  <a:srgbClr val="222222"/>
                </a:solidFill>
              </a:rPr>
              <a:t> Yoke Quality Systems</a:t>
            </a:r>
          </a:p>
          <a:p>
            <a:pPr marL="0" indent="0" algn="r">
              <a:buNone/>
            </a:pPr>
            <a:r>
              <a:rPr lang="en-US" sz="1400" dirty="0">
                <a:solidFill>
                  <a:srgbClr val="222222"/>
                </a:solidFill>
              </a:rPr>
              <a:t>Process Mapping</a:t>
            </a:r>
          </a:p>
          <a:p>
            <a:pPr marL="0" indent="0" algn="r">
              <a:buNone/>
            </a:pPr>
            <a:r>
              <a:rPr lang="en-US" sz="1400" dirty="0">
                <a:solidFill>
                  <a:srgbClr val="222222"/>
                </a:solidFill>
              </a:rPr>
              <a:t>Single Minute Exchange of Dies (SMED)</a:t>
            </a:r>
          </a:p>
          <a:p>
            <a:pPr marL="0" indent="0" algn="r">
              <a:buNone/>
            </a:pPr>
            <a:r>
              <a:rPr lang="en-US" sz="1400" dirty="0">
                <a:solidFill>
                  <a:srgbClr val="222222"/>
                </a:solidFill>
              </a:rPr>
              <a:t>Transaction Process Improvement (TPI)</a:t>
            </a:r>
          </a:p>
          <a:p>
            <a:pPr marL="0" indent="0" algn="r">
              <a:buNone/>
            </a:pPr>
            <a:r>
              <a:rPr lang="en-US" sz="1400" dirty="0">
                <a:solidFill>
                  <a:srgbClr val="222222"/>
                </a:solidFill>
              </a:rPr>
              <a:t>Value Stream Mapping (VSM/</a:t>
            </a:r>
            <a:r>
              <a:rPr lang="en-US" sz="1400" dirty="0" err="1">
                <a:solidFill>
                  <a:srgbClr val="222222"/>
                </a:solidFill>
              </a:rPr>
              <a:t>VSMi</a:t>
            </a:r>
            <a:r>
              <a:rPr lang="en-US" sz="1400" dirty="0">
                <a:solidFill>
                  <a:srgbClr val="222222"/>
                </a:solidFill>
              </a:rPr>
              <a:t>)</a:t>
            </a:r>
          </a:p>
          <a:p>
            <a:pPr marL="0" indent="0" algn="r">
              <a:buNone/>
            </a:pPr>
            <a:r>
              <a:rPr lang="en-US" sz="1400" dirty="0">
                <a:solidFill>
                  <a:srgbClr val="222222"/>
                </a:solidFill>
              </a:rPr>
              <a:t>Visual Management</a:t>
            </a:r>
          </a:p>
        </p:txBody>
      </p:sp>
      <p:sp>
        <p:nvSpPr>
          <p:cNvPr id="4" name="Slide Number Placeholder 16">
            <a:extLst>
              <a:ext uri="{FF2B5EF4-FFF2-40B4-BE49-F238E27FC236}">
                <a16:creationId xmlns:a16="http://schemas.microsoft.com/office/drawing/2014/main" id="{E00373DC-78CB-3D04-3192-20C355FFEA46}"/>
              </a:ext>
            </a:extLst>
          </p:cNvPr>
          <p:cNvSpPr txBox="1">
            <a:spLocks/>
          </p:cNvSpPr>
          <p:nvPr/>
        </p:nvSpPr>
        <p:spPr>
          <a:xfrm>
            <a:off x="8592839" y="6385862"/>
            <a:ext cx="2742486" cy="331846"/>
          </a:xfrm>
          <a:prstGeom prst="rect">
            <a:avLst/>
          </a:prstGeom>
        </p:spPr>
        <p:txBody>
          <a:bodyPr vert="horz" lIns="91416" tIns="45708" rIns="91416" bIns="45708"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fld id="{CC6D4273-7FC1-0947-B9FE-19CB3C0D1FB6}" type="slidenum">
              <a:rPr lang="en-US" sz="1000"/>
              <a:pPr marL="0" indent="0" algn="r">
                <a:buNone/>
              </a:pPr>
              <a:t>172</a:t>
            </a:fld>
            <a:endParaRPr lang="en-US" sz="1000" dirty="0"/>
          </a:p>
        </p:txBody>
      </p:sp>
      <p:pic>
        <p:nvPicPr>
          <p:cNvPr id="6" name="Picture 5">
            <a:extLst>
              <a:ext uri="{FF2B5EF4-FFF2-40B4-BE49-F238E27FC236}">
                <a16:creationId xmlns:a16="http://schemas.microsoft.com/office/drawing/2014/main" id="{87A04EA8-9038-B4A7-1140-66E5C8E9E5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9824" y="2039633"/>
            <a:ext cx="2944659" cy="1753708"/>
          </a:xfrm>
          <a:prstGeom prst="rect">
            <a:avLst/>
          </a:prstGeom>
        </p:spPr>
      </p:pic>
    </p:spTree>
    <p:extLst>
      <p:ext uri="{BB962C8B-B14F-4D97-AF65-F5344CB8AC3E}">
        <p14:creationId xmlns:p14="http://schemas.microsoft.com/office/powerpoint/2010/main" val="245004856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4" name="Table">
            <a:extLst>
              <a:ext uri="{FF2B5EF4-FFF2-40B4-BE49-F238E27FC236}">
                <a16:creationId xmlns:a16="http://schemas.microsoft.com/office/drawing/2014/main" id="{29551A8D-3146-3626-679C-DBA530BF2F3F}"/>
              </a:ext>
            </a:extLst>
          </p:cNvPr>
          <p:cNvGraphicFramePr/>
          <p:nvPr>
            <p:extLst>
              <p:ext uri="{D42A27DB-BD31-4B8C-83A1-F6EECF244321}">
                <p14:modId xmlns:p14="http://schemas.microsoft.com/office/powerpoint/2010/main" val="2585422979"/>
              </p:ext>
            </p:extLst>
          </p:nvPr>
        </p:nvGraphicFramePr>
        <p:xfrm>
          <a:off x="879676" y="824832"/>
          <a:ext cx="8769079" cy="5458148"/>
        </p:xfrm>
        <a:graphic>
          <a:graphicData uri="http://schemas.openxmlformats.org/drawingml/2006/table">
            <a:tbl>
              <a:tblPr>
                <a:tableStyleId>{4C3C2611-4C71-4FC5-86AE-919BDF0F9419}</a:tableStyleId>
              </a:tblPr>
              <a:tblGrid>
                <a:gridCol w="1292569">
                  <a:extLst>
                    <a:ext uri="{9D8B030D-6E8A-4147-A177-3AD203B41FA5}">
                      <a16:colId xmlns:a16="http://schemas.microsoft.com/office/drawing/2014/main" val="20000"/>
                    </a:ext>
                  </a:extLst>
                </a:gridCol>
                <a:gridCol w="2661306">
                  <a:extLst>
                    <a:ext uri="{9D8B030D-6E8A-4147-A177-3AD203B41FA5}">
                      <a16:colId xmlns:a16="http://schemas.microsoft.com/office/drawing/2014/main" val="20001"/>
                    </a:ext>
                  </a:extLst>
                </a:gridCol>
                <a:gridCol w="1949651">
                  <a:extLst>
                    <a:ext uri="{9D8B030D-6E8A-4147-A177-3AD203B41FA5}">
                      <a16:colId xmlns:a16="http://schemas.microsoft.com/office/drawing/2014/main" val="3429638595"/>
                    </a:ext>
                  </a:extLst>
                </a:gridCol>
                <a:gridCol w="2865553">
                  <a:extLst>
                    <a:ext uri="{9D8B030D-6E8A-4147-A177-3AD203B41FA5}">
                      <a16:colId xmlns:a16="http://schemas.microsoft.com/office/drawing/2014/main" val="3038102208"/>
                    </a:ext>
                  </a:extLst>
                </a:gridCol>
              </a:tblGrid>
              <a:tr h="811859">
                <a:tc>
                  <a:txBody>
                    <a:bodyPr/>
                    <a:lstStyle/>
                    <a:p>
                      <a:pPr algn="ctr" defTabSz="1828342">
                        <a:tabLst>
                          <a:tab pos="914400" algn="l"/>
                        </a:tabLst>
                        <a:defRPr sz="3500">
                          <a:solidFill>
                            <a:srgbClr val="999999"/>
                          </a:solidFill>
                        </a:defRPr>
                      </a:pPr>
                      <a:r>
                        <a:rPr lang="en-US" sz="1500" b="1" i="0" u="none" strike="noStrike" cap="none" spc="0" baseline="0" dirty="0">
                          <a:solidFill>
                            <a:schemeClr val="bg1"/>
                          </a:solidFill>
                          <a:uFillTx/>
                          <a:latin typeface="Roboto" panose="02000000000000000000"/>
                          <a:ea typeface="+mn-ea"/>
                          <a:cs typeface="+mn-cs"/>
                          <a:sym typeface="Roboto"/>
                        </a:rPr>
                        <a:t>Revision</a:t>
                      </a:r>
                      <a:endParaRPr sz="1500" b="1" i="0" u="none" strike="noStrike" cap="none" spc="0" baseline="0" dirty="0">
                        <a:solidFill>
                          <a:schemeClr val="bg1"/>
                        </a:solidFill>
                        <a:uFillTx/>
                        <a:latin typeface="Roboto" panose="02000000000000000000"/>
                        <a:ea typeface="+mn-ea"/>
                        <a:cs typeface="+mn-cs"/>
                        <a:sym typeface="Roboto"/>
                      </a:endParaRPr>
                    </a:p>
                  </a:txBody>
                  <a:tcPr marL="0" marR="0" marT="0" marB="0" anchor="ctr" horzOverflow="overflow">
                    <a:lnL w="12700">
                      <a:miter lim="400000"/>
                    </a:lnL>
                    <a:lnR w="0">
                      <a:miter lim="400000"/>
                    </a:lnR>
                    <a:lnT w="12700">
                      <a:miter lim="400000"/>
                    </a:lnT>
                    <a:lnB w="0">
                      <a:miter lim="400000"/>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a:rPr>
                        <a:t>Description of Change</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miter lim="400000"/>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a:rPr>
                        <a:t>Date</a:t>
                      </a:r>
                    </a:p>
                    <a:p>
                      <a:pPr defTabSz="1828342">
                        <a:defRPr sz="1800">
                          <a:solidFill>
                            <a:srgbClr val="000000"/>
                          </a:solidFill>
                        </a:defRPr>
                      </a:pPr>
                      <a:r>
                        <a:rPr lang="en-US" sz="1500" b="1" dirty="0">
                          <a:solidFill>
                            <a:schemeClr val="bg1"/>
                          </a:solidFill>
                          <a:latin typeface="Roboto" panose="02000000000000000000"/>
                        </a:rPr>
                        <a:t>Mm/dd/</a:t>
                      </a:r>
                      <a:r>
                        <a:rPr lang="en-US" sz="1500" b="1" dirty="0" err="1">
                          <a:solidFill>
                            <a:schemeClr val="bg1"/>
                          </a:solidFill>
                          <a:latin typeface="Roboto" panose="02000000000000000000"/>
                        </a:rPr>
                        <a:t>yy</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tc>
                  <a:txBody>
                    <a:bodyPr/>
                    <a:lstStyle/>
                    <a:p>
                      <a:pPr defTabSz="1828342">
                        <a:defRPr sz="1800">
                          <a:solidFill>
                            <a:srgbClr val="000000"/>
                          </a:solidFill>
                        </a:defRPr>
                      </a:pPr>
                      <a:r>
                        <a:rPr lang="en-US" sz="1500" b="1" dirty="0">
                          <a:solidFill>
                            <a:schemeClr val="bg1"/>
                          </a:solidFill>
                          <a:latin typeface="Roboto" panose="02000000000000000000"/>
                        </a:rPr>
                        <a:t>Revised by Initials</a:t>
                      </a:r>
                      <a:endParaRPr sz="1500" b="1" dirty="0">
                        <a:solidFill>
                          <a:schemeClr val="bg1"/>
                        </a:solidFill>
                        <a:latin typeface="Roboto" panose="02000000000000000000"/>
                      </a:endParaRPr>
                    </a:p>
                  </a:txBody>
                  <a:tcPr marL="184102" marR="184102" marT="184102" marB="184102" anchor="ctr" horzOverflow="overflow">
                    <a:lnL w="0">
                      <a:miter lim="400000"/>
                    </a:lnL>
                    <a:lnR w="0">
                      <a:noFill/>
                      <a:miter lim="400000"/>
                    </a:lnR>
                    <a:lnT w="0">
                      <a:miter lim="400000"/>
                    </a:lnT>
                    <a:lnB w="0">
                      <a:noFill/>
                      <a:miter lim="400000"/>
                    </a:lnB>
                    <a:solidFill>
                      <a:srgbClr val="EE3228"/>
                    </a:solidFill>
                  </a:tcPr>
                </a:tc>
                <a:extLst>
                  <a:ext uri="{0D108BD9-81ED-4DB2-BD59-A6C34878D82A}">
                    <a16:rowId xmlns:a16="http://schemas.microsoft.com/office/drawing/2014/main" val="10000"/>
                  </a:ext>
                </a:extLst>
              </a:tr>
              <a:tr h="3417630">
                <a:tc>
                  <a:txBody>
                    <a:bodyPr/>
                    <a:lstStyle/>
                    <a:p>
                      <a:pPr marL="0" indent="0" algn="l" defTabSz="1828342">
                        <a:buNone/>
                        <a:defRPr sz="1800">
                          <a:solidFill>
                            <a:srgbClr val="000000"/>
                          </a:solidFill>
                        </a:defRPr>
                      </a:pPr>
                      <a:r>
                        <a:rPr lang="en-US" sz="2000" dirty="0">
                          <a:solidFill>
                            <a:schemeClr val="bg1"/>
                          </a:solidFill>
                          <a:latin typeface="Roboto" panose="02000000000000000000"/>
                        </a:rPr>
                        <a:t>3.1</a:t>
                      </a: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dirty="0">
                          <a:solidFill>
                            <a:schemeClr val="bg1"/>
                          </a:solidFill>
                          <a:latin typeface="Roboto" panose="02000000000000000000"/>
                        </a:rPr>
                        <a:t>Sl. 1: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5: Replaced slide</a:t>
                      </a:r>
                    </a:p>
                    <a:p>
                      <a:pPr algn="l" defTabSz="1828342">
                        <a:defRPr sz="1800">
                          <a:solidFill>
                            <a:srgbClr val="000000"/>
                          </a:solidFill>
                        </a:defRPr>
                      </a:pPr>
                      <a:r>
                        <a:rPr lang="en-US" sz="1400" dirty="0">
                          <a:solidFill>
                            <a:schemeClr val="bg1"/>
                          </a:solidFill>
                          <a:latin typeface="Roboto" panose="02000000000000000000"/>
                        </a:rPr>
                        <a:t>Sl. 6: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9: Replaced slide</a:t>
                      </a:r>
                    </a:p>
                    <a:p>
                      <a:pPr algn="l" defTabSz="1828342">
                        <a:defRPr sz="1800">
                          <a:solidFill>
                            <a:srgbClr val="000000"/>
                          </a:solidFill>
                        </a:defRPr>
                      </a:pPr>
                      <a:r>
                        <a:rPr lang="en-US" sz="1400" dirty="0">
                          <a:solidFill>
                            <a:schemeClr val="bg1"/>
                          </a:solidFill>
                          <a:latin typeface="Roboto" panose="02000000000000000000"/>
                        </a:rPr>
                        <a:t>Sl. 19: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26: Replaced slide</a:t>
                      </a:r>
                    </a:p>
                    <a:p>
                      <a:pPr algn="l" defTabSz="1828342">
                        <a:defRPr sz="1800">
                          <a:solidFill>
                            <a:srgbClr val="000000"/>
                          </a:solidFill>
                        </a:defRPr>
                      </a:pPr>
                      <a:r>
                        <a:rPr lang="en-US" sz="1400" dirty="0">
                          <a:solidFill>
                            <a:schemeClr val="bg1"/>
                          </a:solidFill>
                          <a:latin typeface="Roboto" panose="02000000000000000000"/>
                        </a:rPr>
                        <a:t>Sl. 43: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66: Typographical correction</a:t>
                      </a:r>
                    </a:p>
                    <a:p>
                      <a:pPr algn="l" defTabSz="1828342">
                        <a:defRPr sz="1800">
                          <a:solidFill>
                            <a:srgbClr val="000000"/>
                          </a:solidFill>
                        </a:defRPr>
                      </a:pPr>
                      <a:r>
                        <a:rPr lang="en-US" sz="1400" dirty="0">
                          <a:solidFill>
                            <a:schemeClr val="bg1"/>
                          </a:solidFill>
                          <a:latin typeface="Roboto" panose="02000000000000000000"/>
                        </a:rPr>
                        <a:t>Sl. 96: Replaced slide</a:t>
                      </a:r>
                    </a:p>
                    <a:p>
                      <a:pPr algn="l" defTabSz="1828342">
                        <a:defRPr sz="1800">
                          <a:solidFill>
                            <a:srgbClr val="000000"/>
                          </a:solidFill>
                        </a:defRPr>
                      </a:pPr>
                      <a:r>
                        <a:rPr lang="en-US" sz="1400" dirty="0">
                          <a:solidFill>
                            <a:schemeClr val="bg1"/>
                          </a:solidFill>
                          <a:latin typeface="Roboto" panose="02000000000000000000"/>
                        </a:rPr>
                        <a:t>Sl. 117: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118: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141: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146: </a:t>
                      </a:r>
                      <a:r>
                        <a:rPr lang="en-US" sz="1400" dirty="0" err="1">
                          <a:solidFill>
                            <a:schemeClr val="bg1"/>
                          </a:solidFill>
                          <a:latin typeface="Roboto" panose="02000000000000000000"/>
                        </a:rPr>
                        <a:t>Add’l</a:t>
                      </a:r>
                      <a:r>
                        <a:rPr lang="en-US" sz="1400" dirty="0">
                          <a:solidFill>
                            <a:schemeClr val="bg1"/>
                          </a:solidFill>
                          <a:latin typeface="Roboto" panose="02000000000000000000"/>
                        </a:rPr>
                        <a:t> leader’s notes</a:t>
                      </a:r>
                    </a:p>
                    <a:p>
                      <a:pPr algn="l" defTabSz="1828342">
                        <a:defRPr sz="1800">
                          <a:solidFill>
                            <a:srgbClr val="000000"/>
                          </a:solidFill>
                        </a:defRPr>
                      </a:pPr>
                      <a:r>
                        <a:rPr lang="en-US" sz="1400" dirty="0">
                          <a:solidFill>
                            <a:schemeClr val="bg1"/>
                          </a:solidFill>
                          <a:latin typeface="Roboto" panose="02000000000000000000"/>
                        </a:rPr>
                        <a:t>Sl. 154: Replaced slide</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0" indent="0" algn="l" defTabSz="1828342">
                        <a:buClr>
                          <a:schemeClr val="accent2"/>
                        </a:buClr>
                        <a:buFont typeface="Arial" panose="020B0604020202020204" pitchFamily="34" charset="0"/>
                        <a:buNone/>
                        <a:defRPr sz="1800">
                          <a:solidFill>
                            <a:srgbClr val="000000"/>
                          </a:solidFill>
                        </a:defRPr>
                      </a:pPr>
                      <a:r>
                        <a:rPr lang="en-US" sz="1400" dirty="0">
                          <a:solidFill>
                            <a:schemeClr val="bg1"/>
                          </a:solidFill>
                          <a:latin typeface="Roboto" panose="02000000000000000000"/>
                        </a:rPr>
                        <a:t>10/15/2008</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marL="0" indent="0" algn="l" defTabSz="1828342">
                        <a:buClr>
                          <a:schemeClr val="accent2"/>
                        </a:buClr>
                        <a:buFont typeface="Arial" panose="020B0604020202020204" pitchFamily="34" charset="0"/>
                        <a:buNone/>
                        <a:defRPr sz="1800">
                          <a:solidFill>
                            <a:srgbClr val="000000"/>
                          </a:solidFill>
                        </a:defRPr>
                      </a:pPr>
                      <a:r>
                        <a:rPr lang="en-US" sz="1400" dirty="0">
                          <a:solidFill>
                            <a:schemeClr val="bg1"/>
                          </a:solidFill>
                          <a:latin typeface="Roboto" panose="02000000000000000000"/>
                        </a:rPr>
                        <a:t>LEC</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1"/>
                  </a:ext>
                </a:extLst>
              </a:tr>
              <a:tr h="569546">
                <a:tc>
                  <a:txBody>
                    <a:bodyPr/>
                    <a:lstStyle/>
                    <a:p>
                      <a:pPr marL="0" marR="0" lvl="0" indent="0" algn="l" defTabSz="1828342" eaLnBrk="1" fontAlgn="auto" latinLnBrk="0" hangingPunct="1">
                        <a:lnSpc>
                          <a:spcPct val="100000"/>
                        </a:lnSpc>
                        <a:spcBef>
                          <a:spcPts val="0"/>
                        </a:spcBef>
                        <a:spcAft>
                          <a:spcPts val="0"/>
                        </a:spcAft>
                        <a:buClrTx/>
                        <a:buSzTx/>
                        <a:buFontTx/>
                        <a:buNone/>
                        <a:tabLst/>
                        <a:defRPr sz="1800">
                          <a:solidFill>
                            <a:srgbClr val="000000"/>
                          </a:solidFill>
                        </a:defRPr>
                      </a:pPr>
                      <a:r>
                        <a:rPr lang="en-US" sz="2000" dirty="0">
                          <a:solidFill>
                            <a:schemeClr val="bg1"/>
                          </a:solidFill>
                          <a:latin typeface="Roboto" panose="02000000000000000000"/>
                        </a:rPr>
                        <a:t>4.1</a:t>
                      </a:r>
                    </a:p>
                  </a:txBody>
                  <a:tcPr marL="184102" marR="184102" marT="137124" marB="137124" anchor="ctr" horzOverflow="overflow">
                    <a:lnL w="0">
                      <a:miter lim="400000"/>
                    </a:lnL>
                    <a:lnR w="0">
                      <a:miter lim="400000"/>
                    </a:lnR>
                    <a:lnT w="0">
                      <a:miter lim="400000"/>
                    </a:lnT>
                    <a:lnB w="0">
                      <a:miter lim="400000"/>
                    </a:lnB>
                    <a:solidFill>
                      <a:srgbClr val="7A7A7A"/>
                    </a:solidFill>
                  </a:tcPr>
                </a:tc>
                <a:tc>
                  <a:txBody>
                    <a:bodyPr/>
                    <a:lstStyle/>
                    <a:p>
                      <a:pPr algn="l" defTabSz="1828342">
                        <a:defRPr sz="1800">
                          <a:solidFill>
                            <a:srgbClr val="000000"/>
                          </a:solidFill>
                        </a:defRPr>
                      </a:pPr>
                      <a:r>
                        <a:rPr lang="en-US" sz="1400" dirty="0">
                          <a:solidFill>
                            <a:schemeClr val="bg1"/>
                          </a:solidFill>
                          <a:latin typeface="Roboto" panose="02000000000000000000"/>
                        </a:rPr>
                        <a:t>Copyright</a:t>
                      </a:r>
                    </a:p>
                  </a:txBody>
                  <a:tcPr marL="184102" marR="184102" marT="137124" marB="137124" anchor="ctr" horzOverflow="overflow">
                    <a:lnL w="0">
                      <a:miter lim="400000"/>
                    </a:lnL>
                    <a:lnR w="0">
                      <a:noFill/>
                      <a:miter lim="400000"/>
                    </a:lnR>
                    <a:lnT w="0">
                      <a:miter lim="400000"/>
                    </a:lnT>
                    <a:lnB w="0">
                      <a:miter lim="400000"/>
                    </a:lnB>
                    <a:solidFill>
                      <a:srgbClr val="7A7A7A"/>
                    </a:solidFill>
                  </a:tcPr>
                </a:tc>
                <a:tc>
                  <a:txBody>
                    <a:bodyPr/>
                    <a:lstStyle/>
                    <a:p>
                      <a:pPr marL="0" marR="0" indent="0" algn="l" defTabSz="1828342" latinLnBrk="0">
                        <a:lnSpc>
                          <a:spcPct val="100000"/>
                        </a:lnSpc>
                        <a:spcBef>
                          <a:spcPts val="0"/>
                        </a:spcBef>
                        <a:spcAft>
                          <a:spcPts val="0"/>
                        </a:spcAft>
                        <a:buClr>
                          <a:schemeClr val="accent2"/>
                        </a:buClr>
                        <a:buSzTx/>
                        <a:buFont typeface="Arial" panose="020B0604020202020204" pitchFamily="34" charset="0"/>
                        <a:buNone/>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01/2020</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tc>
                  <a:txBody>
                    <a:bodyPr/>
                    <a:lstStyle/>
                    <a:p>
                      <a:pPr marL="0" marR="0" indent="0" algn="l" defTabSz="1828342" latinLnBrk="0">
                        <a:lnSpc>
                          <a:spcPct val="100000"/>
                        </a:lnSpc>
                        <a:spcBef>
                          <a:spcPts val="0"/>
                        </a:spcBef>
                        <a:spcAft>
                          <a:spcPts val="0"/>
                        </a:spcAft>
                        <a:buClr>
                          <a:schemeClr val="accent2"/>
                        </a:buClr>
                        <a:buSzTx/>
                        <a:buFont typeface="Arial" panose="020B0604020202020204" pitchFamily="34" charset="0"/>
                        <a:buNone/>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KHA</a:t>
                      </a:r>
                    </a:p>
                  </a:txBody>
                  <a:tcPr marL="184102" marR="184102" marT="137124" marB="137124" anchor="ctr" horzOverflow="overflow">
                    <a:lnL w="0">
                      <a:miter lim="400000"/>
                    </a:lnL>
                    <a:lnR w="0">
                      <a:noFill/>
                      <a:miter lim="400000"/>
                    </a:lnR>
                    <a:lnT w="0">
                      <a:noFill/>
                      <a:miter lim="400000"/>
                    </a:lnT>
                    <a:lnB w="0">
                      <a:noFill/>
                      <a:miter lim="400000"/>
                    </a:lnB>
                    <a:solidFill>
                      <a:srgbClr val="7A7A7A"/>
                    </a:solidFill>
                  </a:tcPr>
                </a:tc>
                <a:extLst>
                  <a:ext uri="{0D108BD9-81ED-4DB2-BD59-A6C34878D82A}">
                    <a16:rowId xmlns:a16="http://schemas.microsoft.com/office/drawing/2014/main" val="10002"/>
                  </a:ext>
                </a:extLst>
              </a:tr>
              <a:tr h="569546">
                <a:tc>
                  <a:txBody>
                    <a:bodyPr/>
                    <a:lstStyle/>
                    <a:p>
                      <a:pPr algn="l" defTabSz="1828342">
                        <a:defRPr sz="1800">
                          <a:solidFill>
                            <a:srgbClr val="000000"/>
                          </a:solidFill>
                        </a:defRPr>
                      </a:pPr>
                      <a:r>
                        <a:rPr lang="en-US" sz="2000" dirty="0">
                          <a:solidFill>
                            <a:schemeClr val="bg1"/>
                          </a:solidFill>
                          <a:latin typeface="Roboto" panose="02000000000000000000"/>
                        </a:rPr>
                        <a:t>5.0</a:t>
                      </a:r>
                      <a:endParaRPr sz="2000" dirty="0">
                        <a:solidFill>
                          <a:schemeClr val="bg1"/>
                        </a:solidFill>
                        <a:latin typeface="Roboto" panose="02000000000000000000"/>
                      </a:endParaRPr>
                    </a:p>
                  </a:txBody>
                  <a:tcPr marL="184102" marR="184102" marT="137124" marB="137124" anchor="ctr" horzOverflow="overflow">
                    <a:lnL w="0">
                      <a:miter lim="400000"/>
                    </a:lnL>
                    <a:lnR w="0">
                      <a:miter lim="400000"/>
                    </a:lnR>
                    <a:lnT w="0">
                      <a:miter lim="400000"/>
                    </a:lnT>
                    <a:lnB w="0">
                      <a:miter lim="400000"/>
                    </a:lnB>
                    <a:solidFill>
                      <a:srgbClr val="191C26"/>
                    </a:solidFill>
                  </a:tcPr>
                </a:tc>
                <a:tc>
                  <a:txBody>
                    <a:bodyPr/>
                    <a:lstStyle/>
                    <a:p>
                      <a:pPr algn="l" defTabSz="1828342">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Slide format</a:t>
                      </a:r>
                    </a:p>
                  </a:txBody>
                  <a:tcPr marL="184102" marR="184102" marT="137124" marB="137124" anchor="ctr" horzOverflow="overflow">
                    <a:lnL w="0">
                      <a:miter lim="400000"/>
                    </a:lnL>
                    <a:lnR w="0">
                      <a:noFill/>
                      <a:miter lim="400000"/>
                    </a:lnR>
                    <a:lnT w="0">
                      <a:miter lim="400000"/>
                    </a:lnT>
                    <a:lnB w="0">
                      <a:miter lim="400000"/>
                    </a:lnB>
                    <a:solidFill>
                      <a:srgbClr val="191C26"/>
                    </a:solidFill>
                  </a:tcPr>
                </a:tc>
                <a:tc>
                  <a:txBody>
                    <a:bodyPr/>
                    <a:lstStyle/>
                    <a:p>
                      <a:pPr marL="0" marR="0" indent="0" algn="l" defTabSz="1828342" latinLnBrk="0">
                        <a:lnSpc>
                          <a:spcPct val="100000"/>
                        </a:lnSpc>
                        <a:spcBef>
                          <a:spcPts val="0"/>
                        </a:spcBef>
                        <a:spcAft>
                          <a:spcPts val="0"/>
                        </a:spcAft>
                        <a:buClr>
                          <a:schemeClr val="accent2"/>
                        </a:buClr>
                        <a:buSzTx/>
                        <a:buFont typeface="Arial" panose="020B0604020202020204" pitchFamily="34" charset="0"/>
                        <a:buNone/>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12/2022</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tc>
                  <a:txBody>
                    <a:bodyPr/>
                    <a:lstStyle/>
                    <a:p>
                      <a:pPr marL="0" marR="0" indent="0" algn="l" defTabSz="1828342" latinLnBrk="0">
                        <a:lnSpc>
                          <a:spcPct val="100000"/>
                        </a:lnSpc>
                        <a:spcBef>
                          <a:spcPts val="0"/>
                        </a:spcBef>
                        <a:spcAft>
                          <a:spcPts val="0"/>
                        </a:spcAft>
                        <a:buClr>
                          <a:schemeClr val="accent2"/>
                        </a:buClr>
                        <a:buSzTx/>
                        <a:buFont typeface="Arial" panose="020B0604020202020204" pitchFamily="34" charset="0"/>
                        <a:buNone/>
                        <a:tabLst/>
                        <a:defRPr sz="1800">
                          <a:solidFill>
                            <a:srgbClr val="000000"/>
                          </a:solidFill>
                        </a:defRPr>
                      </a:pPr>
                      <a:r>
                        <a:rPr lang="en-US" sz="1400" b="0" i="0" u="none" strike="noStrike" cap="none" spc="0" baseline="0" dirty="0">
                          <a:solidFill>
                            <a:schemeClr val="bg1"/>
                          </a:solidFill>
                          <a:uFillTx/>
                          <a:latin typeface="Roboto" panose="02000000000000000000"/>
                          <a:ea typeface="+mn-ea"/>
                          <a:cs typeface="+mn-cs"/>
                          <a:sym typeface="Roboto"/>
                        </a:rPr>
                        <a:t>SCD</a:t>
                      </a:r>
                    </a:p>
                  </a:txBody>
                  <a:tcPr marL="184102" marR="184102" marT="137124" marB="137124" anchor="ctr" horzOverflow="overflow">
                    <a:lnL w="0">
                      <a:miter lim="400000"/>
                    </a:lnL>
                    <a:lnR w="0">
                      <a:noFill/>
                      <a:miter lim="400000"/>
                    </a:lnR>
                    <a:lnT w="0">
                      <a:noFill/>
                      <a:miter lim="400000"/>
                    </a:lnT>
                    <a:lnB w="0">
                      <a:noFill/>
                      <a:miter lim="400000"/>
                    </a:lnB>
                    <a:solidFill>
                      <a:srgbClr val="191C26"/>
                    </a:solidFill>
                  </a:tcPr>
                </a:tc>
                <a:extLst>
                  <a:ext uri="{0D108BD9-81ED-4DB2-BD59-A6C34878D82A}">
                    <a16:rowId xmlns:a16="http://schemas.microsoft.com/office/drawing/2014/main" val="10003"/>
                  </a:ext>
                </a:extLst>
              </a:tr>
            </a:tbl>
          </a:graphicData>
        </a:graphic>
      </p:graphicFrame>
      <p:sp>
        <p:nvSpPr>
          <p:cNvPr id="3" name="Title 1">
            <a:extLst>
              <a:ext uri="{FF2B5EF4-FFF2-40B4-BE49-F238E27FC236}">
                <a16:creationId xmlns:a16="http://schemas.microsoft.com/office/drawing/2014/main" id="{2482A855-0C02-ED2A-FD52-03FC7C67055F}"/>
              </a:ext>
            </a:extLst>
          </p:cNvPr>
          <p:cNvSpPr txBox="1">
            <a:spLocks/>
          </p:cNvSpPr>
          <p:nvPr/>
        </p:nvSpPr>
        <p:spPr>
          <a:xfrm>
            <a:off x="512572" y="253834"/>
            <a:ext cx="10512425" cy="457363"/>
          </a:xfrm>
          <a:prstGeom prst="rect">
            <a:avLst/>
          </a:prstGeom>
        </p:spPr>
        <p:txBody>
          <a:bodyPr vert="horz" lIns="91440" tIns="45720" rIns="91440" bIns="45720" rtlCol="0" anchor="ctr">
            <a:normAutofit/>
          </a:bodyPr>
          <a:lstStyle>
            <a:lvl1pPr algn="l" defTabSz="914126" rtl="0" eaLnBrk="1" latinLnBrk="0" hangingPunct="1">
              <a:lnSpc>
                <a:spcPct val="90000"/>
              </a:lnSpc>
              <a:spcBef>
                <a:spcPct val="0"/>
              </a:spcBef>
              <a:buNone/>
              <a:defRPr sz="4399"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altLang="en-US" sz="2000" dirty="0">
                <a:solidFill>
                  <a:schemeClr val="bg1"/>
                </a:solidFill>
              </a:rPr>
              <a:t>File Revision Log</a:t>
            </a:r>
            <a:endParaRPr lang="en-US" sz="2000" dirty="0">
              <a:solidFill>
                <a:schemeClr val="bg1"/>
              </a:solidFill>
            </a:endParaRPr>
          </a:p>
        </p:txBody>
      </p:sp>
      <p:sp>
        <p:nvSpPr>
          <p:cNvPr id="4" name="Slide Number Placeholder 16">
            <a:extLst>
              <a:ext uri="{FF2B5EF4-FFF2-40B4-BE49-F238E27FC236}">
                <a16:creationId xmlns:a16="http://schemas.microsoft.com/office/drawing/2014/main" id="{6E633E38-8116-BE94-8645-1FE4F8E53017}"/>
              </a:ext>
            </a:extLst>
          </p:cNvPr>
          <p:cNvSpPr txBox="1">
            <a:spLocks/>
          </p:cNvSpPr>
          <p:nvPr/>
        </p:nvSpPr>
        <p:spPr>
          <a:xfrm>
            <a:off x="8592839" y="6385862"/>
            <a:ext cx="2742486" cy="331846"/>
          </a:xfrm>
          <a:prstGeom prst="rect">
            <a:avLst/>
          </a:prstGeom>
        </p:spPr>
        <p:txBody>
          <a:bodyPr vert="horz" lIns="91416" tIns="45708" rIns="91416" bIns="45708"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fld id="{CC6D4273-7FC1-0947-B9FE-19CB3C0D1FB6}" type="slidenum">
              <a:rPr lang="en-US" sz="1000"/>
              <a:pPr marL="0" indent="0" algn="r">
                <a:buNone/>
              </a:pPr>
              <a:t>173</a:t>
            </a:fld>
            <a:endParaRPr lang="en-US" sz="1000" dirty="0"/>
          </a:p>
        </p:txBody>
      </p:sp>
    </p:spTree>
    <p:extLst>
      <p:ext uri="{BB962C8B-B14F-4D97-AF65-F5344CB8AC3E}">
        <p14:creationId xmlns:p14="http://schemas.microsoft.com/office/powerpoint/2010/main" val="1733744317"/>
      </p:ext>
    </p:extLst>
  </p:cSld>
  <p:clrMapOvr>
    <a:masterClrMapping/>
  </p:clrMapOvr>
  <p:transition spd="med"/>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 name="ARTICULATE_SLIDE_COUNT" val="173"/>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_rels/theme3.xml.rels><?xml version="1.0" encoding="UTF-8" standalone="yes"?>
<Relationships xmlns="http://schemas.openxmlformats.org/package/2006/relationships"><Relationship Id="rId1" Type="http://schemas.openxmlformats.org/officeDocument/2006/relationships/image" Target="../media/image10.png"/></Relationships>
</file>

<file path=ppt/theme/theme1.xml><?xml version="1.0" encoding="utf-8"?>
<a:theme xmlns:a="http://schemas.openxmlformats.org/drawingml/2006/main" name="LHC 2023 Theme">
  <a:themeElements>
    <a:clrScheme name="Custom 1">
      <a:dk1>
        <a:srgbClr val="000000"/>
      </a:dk1>
      <a:lt1>
        <a:srgbClr val="FFFFFF"/>
      </a:lt1>
      <a:dk2>
        <a:srgbClr val="44546A"/>
      </a:dk2>
      <a:lt2>
        <a:srgbClr val="E7E6E6"/>
      </a:lt2>
      <a:accent1>
        <a:srgbClr val="EE3228"/>
      </a:accent1>
      <a:accent2>
        <a:srgbClr val="FDCA40"/>
      </a:accent2>
      <a:accent3>
        <a:srgbClr val="939598"/>
      </a:accent3>
      <a:accent4>
        <a:srgbClr val="76939F"/>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LHC 2023 Theme" id="{EB4B4D3F-4659-4C36-8DD2-1FB804F83EE3}" vid="{DE4FE9B2-76AD-4A2D-9981-BAF9C09EB78E}"/>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New_Template8">
  <a:themeElements>
    <a:clrScheme name="New_Template8">
      <a:dk1>
        <a:srgbClr val="000000"/>
      </a:dk1>
      <a:lt1>
        <a:srgbClr val="FFFFFF"/>
      </a:lt1>
      <a:dk2>
        <a:srgbClr val="5B5854"/>
      </a:dk2>
      <a:lt2>
        <a:srgbClr val="C9C3BA"/>
      </a:lt2>
      <a:accent1>
        <a:srgbClr val="708CA5"/>
      </a:accent1>
      <a:accent2>
        <a:srgbClr val="80A7A7"/>
      </a:accent2>
      <a:accent3>
        <a:srgbClr val="98A66D"/>
      </a:accent3>
      <a:accent4>
        <a:srgbClr val="CF9E5B"/>
      </a:accent4>
      <a:accent5>
        <a:srgbClr val="C87C6D"/>
      </a:accent5>
      <a:accent6>
        <a:srgbClr val="837B9A"/>
      </a:accent6>
      <a:hlink>
        <a:srgbClr val="0000FF"/>
      </a:hlink>
      <a:folHlink>
        <a:srgbClr val="FF00FF"/>
      </a:folHlink>
    </a:clrScheme>
    <a:fontScheme name="New_Template8">
      <a:majorFont>
        <a:latin typeface="Roboto"/>
        <a:ea typeface="Roboto"/>
        <a:cs typeface="Roboto"/>
      </a:majorFont>
      <a:minorFont>
        <a:latin typeface="Roboto"/>
        <a:ea typeface="Roboto"/>
        <a:cs typeface="Roboto"/>
      </a:minorFont>
    </a:fontScheme>
    <a:fmtScheme name="New_Template8">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rotWithShape="1">
          <a:blip xmlns:r="http://schemas.openxmlformats.org/officeDocument/2006/relationships" r:embed="rId1"/>
          <a:srcRect/>
          <a:tile tx="0" ty="0" sx="100000" sy="100000" flip="none" algn="tl"/>
        </a:blip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584200" rtl="0" fontAlgn="auto" latinLnBrk="0" hangingPunct="0">
          <a:lnSpc>
            <a:spcPct val="100000"/>
          </a:lnSpc>
          <a:spcBef>
            <a:spcPts val="0"/>
          </a:spcBef>
          <a:spcAft>
            <a:spcPts val="0"/>
          </a:spcAft>
          <a:buClrTx/>
          <a:buSzTx/>
          <a:buFontTx/>
          <a:buNone/>
          <a:tabLst/>
          <a:defRPr kumimoji="0" sz="4000" b="0" i="0" u="none" strike="noStrike" cap="none" spc="0" normalizeH="0" baseline="0">
            <a:ln>
              <a:noFill/>
            </a:ln>
            <a:solidFill>
              <a:srgbClr val="FFFFFF"/>
            </a:solidFill>
            <a:effectLst>
              <a:outerShdw blurRad="38100" dist="12700" dir="5400000" rotWithShape="0">
                <a:srgbClr val="000000">
                  <a:alpha val="50000"/>
                </a:srgbClr>
              </a:outerShdw>
            </a:effectLst>
            <a:uFillTx/>
            <a:latin typeface="+mn-lt"/>
            <a:ea typeface="+mn-ea"/>
            <a:cs typeface="+mn-cs"/>
            <a:sym typeface="Roboto"/>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5">
              <a:alpha val="75000"/>
            </a:schemeClr>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t">
        <a:spAutoFit/>
      </a:bodyPr>
      <a:lstStyle>
        <a:defPPr marL="0" marR="0" indent="0" algn="ctr" defTabSz="825500" rtl="0" fontAlgn="auto" latinLnBrk="0" hangingPunct="0">
          <a:lnSpc>
            <a:spcPct val="100000"/>
          </a:lnSpc>
          <a:spcBef>
            <a:spcPts val="0"/>
          </a:spcBef>
          <a:spcAft>
            <a:spcPts val="0"/>
          </a:spcAft>
          <a:buClrTx/>
          <a:buSzTx/>
          <a:buFontTx/>
          <a:buNone/>
          <a:tabLst/>
          <a:defRPr kumimoji="0" sz="5600" b="0" i="0" u="none" strike="noStrike" cap="none" spc="0" normalizeH="0" baseline="0">
            <a:ln>
              <a:noFill/>
            </a:ln>
            <a:solidFill>
              <a:srgbClr val="000000"/>
            </a:solidFill>
            <a:effectLst/>
            <a:uFillTx/>
            <a:latin typeface="+mn-lt"/>
            <a:ea typeface="+mn-ea"/>
            <a:cs typeface="+mn-cs"/>
            <a:sym typeface="Roboto"/>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LHC 2023 Theme</Template>
  <TotalTime>9300</TotalTime>
  <Words>24047</Words>
  <Application>Microsoft Office PowerPoint</Application>
  <PresentationFormat>Custom</PresentationFormat>
  <Paragraphs>4569</Paragraphs>
  <Slides>173</Slides>
  <Notes>173</Notes>
  <HiddenSlides>1</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173</vt:i4>
      </vt:variant>
    </vt:vector>
  </HeadingPairs>
  <TitlesOfParts>
    <vt:vector size="183" baseType="lpstr">
      <vt:lpstr>Arial</vt:lpstr>
      <vt:lpstr>Baskerville</vt:lpstr>
      <vt:lpstr>Calibri</vt:lpstr>
      <vt:lpstr>Comic Sans MS</vt:lpstr>
      <vt:lpstr>Roboto</vt:lpstr>
      <vt:lpstr>Roboto Medium</vt:lpstr>
      <vt:lpstr>Times New Roman</vt:lpstr>
      <vt:lpstr>Wingdings</vt:lpstr>
      <vt:lpstr>LHC 2023 Theme</vt:lpstr>
      <vt:lpstr>Custom Design</vt:lpstr>
      <vt:lpstr>PowerPoint Presentation</vt:lpstr>
      <vt:lpstr>Other Modules In This Series</vt:lpstr>
      <vt:lpstr>PowerPoint Presentation</vt:lpstr>
      <vt:lpstr>Ground Rules for Event</vt:lpstr>
      <vt:lpstr>Definition of VSM</vt:lpstr>
      <vt:lpstr>PowerPoint Presentation</vt:lpstr>
      <vt:lpstr>Goal of VSM</vt:lpstr>
      <vt:lpstr>Value Stream Mapping Linkage to Strategy</vt:lpstr>
      <vt:lpstr>Business Case Examples that Support Key Business Imperatives</vt:lpstr>
      <vt:lpstr>Value Stream Mapping Roadmap to Success</vt:lpstr>
      <vt:lpstr>Value Stream Mapping Process</vt:lpstr>
      <vt:lpstr>Value Stream Mapping Session Agenda</vt:lpstr>
      <vt:lpstr>Select Product or Service Family</vt:lpstr>
      <vt:lpstr>The Manufacturing Value Stream Defined</vt:lpstr>
      <vt:lpstr>Identify the Value Object within the Value System</vt:lpstr>
      <vt:lpstr>Defining and Selecting a Product Family</vt:lpstr>
      <vt:lpstr>Product Family Matrix Example</vt:lpstr>
      <vt:lpstr>Calculate the Total Demand for the Value Stream</vt:lpstr>
      <vt:lpstr>Determine the Boundaries of the Value Stream</vt:lpstr>
      <vt:lpstr>Identify “Who is the Customer”</vt:lpstr>
      <vt:lpstr>Completing Customer Analysis</vt:lpstr>
      <vt:lpstr>Complete Customer/Stakeholder Analysis</vt:lpstr>
      <vt:lpstr>Kaizen Charter Validation</vt:lpstr>
      <vt:lpstr>Creating the Current State Value Stream Map</vt:lpstr>
      <vt:lpstr>Method to Create the Current State Map</vt:lpstr>
      <vt:lpstr>Method to Create the Current State Map</vt:lpstr>
      <vt:lpstr>Layout of the Current State Map</vt:lpstr>
      <vt:lpstr>Current State Map Drawing Exercise</vt:lpstr>
      <vt:lpstr>Case Study Example:  Mike’s Metal Enclosures (MME) </vt:lpstr>
      <vt:lpstr>Case Study Example: Mike’s Metal Enclosures (MME) </vt:lpstr>
      <vt:lpstr>Case Study Example:  Mike’s Metal Enclosures (MME) </vt:lpstr>
      <vt:lpstr>Case Study Example:  Mike’s Metal Enclosures (MME) </vt:lpstr>
      <vt:lpstr>Steps to Mapping the Current State</vt:lpstr>
      <vt:lpstr>Mapping Customer Data</vt:lpstr>
      <vt:lpstr>Case Study Example: Mike’s Metal Enclosures (MME) </vt:lpstr>
      <vt:lpstr>Steps to Mapping the Current State</vt:lpstr>
      <vt:lpstr>Calculating Takt Time</vt:lpstr>
      <vt:lpstr>Case Study Example: Mike’s Metal Enclosures (MME) </vt:lpstr>
      <vt:lpstr>Steps to Mapping the Current State</vt:lpstr>
      <vt:lpstr>What Defines a Process in VSM?</vt:lpstr>
      <vt:lpstr>Mapping Processes</vt:lpstr>
      <vt:lpstr>Mapping Processes</vt:lpstr>
      <vt:lpstr>Mapping Processes</vt:lpstr>
      <vt:lpstr>Mapping Processes</vt:lpstr>
      <vt:lpstr>Case Study Example: Mike’s Metal Enclosures (MME) </vt:lpstr>
      <vt:lpstr>Your Turn….</vt:lpstr>
      <vt:lpstr>Method to Create the Current State Map:  Team Walk #1</vt:lpstr>
      <vt:lpstr>Supplies for the Current State Process Walk</vt:lpstr>
      <vt:lpstr>Question Examples</vt:lpstr>
      <vt:lpstr>Current State Mapping for Business: Team Walk #1</vt:lpstr>
      <vt:lpstr>Steps to Mapping the Current State</vt:lpstr>
      <vt:lpstr>Drop Off Interval (DOI)</vt:lpstr>
      <vt:lpstr>Processing Time</vt:lpstr>
      <vt:lpstr>Mapping Data Boxes</vt:lpstr>
      <vt:lpstr>Mapping Data Boxes</vt:lpstr>
      <vt:lpstr>Mapping Data Boxes</vt:lpstr>
      <vt:lpstr>Mapping Data Boxes</vt:lpstr>
      <vt:lpstr>Mapping Inventory</vt:lpstr>
      <vt:lpstr>Case Study Example: Mike’s Metal Enclosures (MME) </vt:lpstr>
      <vt:lpstr>Steps to Mapping the Current State</vt:lpstr>
      <vt:lpstr>Mapping Supplier Data</vt:lpstr>
      <vt:lpstr>Case Study Example:  Mike’s Metal Enclosures (MME) </vt:lpstr>
      <vt:lpstr>Steps to Mapping the Current State</vt:lpstr>
      <vt:lpstr>Calculating Processing Time for Each Process</vt:lpstr>
      <vt:lpstr>Calculating Processing Time for Each Process</vt:lpstr>
      <vt:lpstr>Case Study Example:  Mike’s Metal Enclosures (MME) </vt:lpstr>
      <vt:lpstr>Calculating Lead Time for each Process</vt:lpstr>
      <vt:lpstr>Calculating Totals</vt:lpstr>
      <vt:lpstr>Case Study Example: Mike’s Metal Enclosures (MME) </vt:lpstr>
      <vt:lpstr>Steps to Mapping the Current State</vt:lpstr>
      <vt:lpstr>Mapping Information Flow</vt:lpstr>
      <vt:lpstr>Case Study Example:  Mike’s Metal Enclosures (MME) </vt:lpstr>
      <vt:lpstr>Review Exercise</vt:lpstr>
      <vt:lpstr>Your Turn….</vt:lpstr>
      <vt:lpstr>Supplies for the Current State Process Walk</vt:lpstr>
      <vt:lpstr>Method to Create the Current State Map: Team Walk #2</vt:lpstr>
      <vt:lpstr>Data Gathering Hierarchy</vt:lpstr>
      <vt:lpstr>Group Roles and Assignments for Team Walk #2</vt:lpstr>
      <vt:lpstr>Key Interviewer Guideline Questions</vt:lpstr>
      <vt:lpstr>Question Examples</vt:lpstr>
      <vt:lpstr>After Data Gathering</vt:lpstr>
      <vt:lpstr>Current State Mapping for Business:  Team Walk #2</vt:lpstr>
      <vt:lpstr>Method to Create the Current State Map: Map Creation</vt:lpstr>
      <vt:lpstr>Current State Mapping for Business</vt:lpstr>
      <vt:lpstr>Interrogating the Current State Value Stream Map</vt:lpstr>
      <vt:lpstr>Exercise</vt:lpstr>
      <vt:lpstr>Questions Used to Interrogate a Current State Map</vt:lpstr>
      <vt:lpstr>Questions Used to Interrogate a Current State Map (continued)</vt:lpstr>
      <vt:lpstr>Questions Used to Interrogate a Current State Map</vt:lpstr>
      <vt:lpstr>Deciding on Build Strategy</vt:lpstr>
      <vt:lpstr>Questions Used to Interrogate a Current State Map</vt:lpstr>
      <vt:lpstr>Producing to Takt Time</vt:lpstr>
      <vt:lpstr>Producing to Takt Time</vt:lpstr>
      <vt:lpstr>Questions Used to Interrogate a Current State Map</vt:lpstr>
      <vt:lpstr>Coupling Processes for Continuous Flow</vt:lpstr>
      <vt:lpstr>Coupling Processes for Continuous Flow</vt:lpstr>
      <vt:lpstr>Questions Used to Interrogate a Current State Map</vt:lpstr>
      <vt:lpstr>Link Decoupled Processes Using Pull</vt:lpstr>
      <vt:lpstr>Link Decoupled Processes Using Pull</vt:lpstr>
      <vt:lpstr>Questions Used to Interrogate a Current State Map</vt:lpstr>
      <vt:lpstr>Supermarket &amp; FIFO Definition</vt:lpstr>
      <vt:lpstr>Supermarket vs. FIFO</vt:lpstr>
      <vt:lpstr>Replacing Inventory Queues with Supermarkets</vt:lpstr>
      <vt:lpstr>Replacing Inventory Queues with Supermarkets</vt:lpstr>
      <vt:lpstr>Questions Used to Interrogate a Current State Map</vt:lpstr>
      <vt:lpstr>Identifying the Pacemaker Operation</vt:lpstr>
      <vt:lpstr>Questions Used to Interrogate a Current State Map</vt:lpstr>
      <vt:lpstr>Leveling the Production Mix</vt:lpstr>
      <vt:lpstr>Questions Used to Interrogate a Current State Map (continued)</vt:lpstr>
      <vt:lpstr>Identifying Changeover Opportunities</vt:lpstr>
      <vt:lpstr>Questions Used to Interrogate a Current State Map (continued)</vt:lpstr>
      <vt:lpstr>Identifying Uptime Improvement  Opportunities</vt:lpstr>
      <vt:lpstr>Questions Used to Interrogate a Current State Map (continued)</vt:lpstr>
      <vt:lpstr>Identifying Manpower Improvements</vt:lpstr>
      <vt:lpstr>Identifying Manpower Improvements</vt:lpstr>
      <vt:lpstr>Questions Used to Interrogate a Current State Map (continued)</vt:lpstr>
      <vt:lpstr>Identifying Quality Improvement Opportunities</vt:lpstr>
      <vt:lpstr>Identifying Quality Improvement Opportunities</vt:lpstr>
      <vt:lpstr>Questions Used to Interrogate a Current State Map (continued)</vt:lpstr>
      <vt:lpstr>Scheduling Changes</vt:lpstr>
      <vt:lpstr>Scheduling Changes</vt:lpstr>
      <vt:lpstr>Questions Used to Interrogate a Current State Map (continued)</vt:lpstr>
      <vt:lpstr>Other Information Flow Improvements</vt:lpstr>
      <vt:lpstr>Other Information Flow Improvements</vt:lpstr>
      <vt:lpstr>Other Information Flow Improvements</vt:lpstr>
      <vt:lpstr>Questions Used to Interrogate a Current State Map (continued)</vt:lpstr>
      <vt:lpstr>Completed Marked-Up Current State Map</vt:lpstr>
      <vt:lpstr>Exercise</vt:lpstr>
      <vt:lpstr>Your Turn –  Mark Up Current State Map for Business</vt:lpstr>
      <vt:lpstr>Your Turn –  Mark Up Current State Map for Business</vt:lpstr>
      <vt:lpstr>Mark-Up Current State Map and Report-Out</vt:lpstr>
      <vt:lpstr>Creating the Future State Value Stream Map</vt:lpstr>
      <vt:lpstr>Steps to Draw the Future State Map</vt:lpstr>
      <vt:lpstr>Steps to Draw the Future State Map</vt:lpstr>
      <vt:lpstr>Start with Marked-Up Current State Map</vt:lpstr>
      <vt:lpstr>Steps to Draw the Future State Map</vt:lpstr>
      <vt:lpstr>Draw the pieces of the map that are the same</vt:lpstr>
      <vt:lpstr>Steps to Draw the Future State Map</vt:lpstr>
      <vt:lpstr>Combine Processes that Flow</vt:lpstr>
      <vt:lpstr>Steps to Draw the Future State Map</vt:lpstr>
      <vt:lpstr>Add Supermarkets &amp; Kanban</vt:lpstr>
      <vt:lpstr>Steps to Draw the Future State Map</vt:lpstr>
      <vt:lpstr>Add Additional Information Flow</vt:lpstr>
      <vt:lpstr>Steps to Draw the Future State Map</vt:lpstr>
      <vt:lpstr>Calculate Lead Time and Processing Time</vt:lpstr>
      <vt:lpstr>Steps to Draw the Future State Map</vt:lpstr>
      <vt:lpstr>Identifying “Loops” in the Future State Map</vt:lpstr>
      <vt:lpstr>Identify Loops</vt:lpstr>
      <vt:lpstr>The Complete Future State Map</vt:lpstr>
      <vt:lpstr>Create Future State Value Stream Map</vt:lpstr>
      <vt:lpstr>Developing the Value Stream Plan</vt:lpstr>
      <vt:lpstr>Purpose of the Value Stream Plan</vt:lpstr>
      <vt:lpstr>Timing of the Value Stream Plan</vt:lpstr>
      <vt:lpstr>Role of Leadership in VSM</vt:lpstr>
      <vt:lpstr>Role of the Value Stream Manager</vt:lpstr>
      <vt:lpstr>Role of the Value Stream Manager</vt:lpstr>
      <vt:lpstr>Prioritize Kaizen Bursts Translate  to Value Stream Plan Activities</vt:lpstr>
      <vt:lpstr>The Value Stream Plan</vt:lpstr>
      <vt:lpstr>Completed Value Stream Plan</vt:lpstr>
      <vt:lpstr>Follow up and monitoring of Value Stream Plan</vt:lpstr>
      <vt:lpstr>VSM in Context</vt:lpstr>
      <vt:lpstr>MME Possible Future VSM Revision Cycles</vt:lpstr>
      <vt:lpstr>Value Stream Mapping Roadmap to Success</vt:lpstr>
      <vt:lpstr>Site Plan</vt:lpstr>
      <vt:lpstr>Complete Future State and Value Stream Plan for Business</vt:lpstr>
      <vt:lpstr>Prepare for Final Report-Out to Management</vt:lpstr>
      <vt:lpstr>Appendix A</vt:lpstr>
      <vt:lpstr>VSM Icons</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Scott DeLuzio</dc:creator>
  <cp:lastModifiedBy>Scott DeLuzio</cp:lastModifiedBy>
  <cp:revision>516</cp:revision>
  <dcterms:modified xsi:type="dcterms:W3CDTF">2026-02-03T23:46:28Z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rticulateGUID">
    <vt:lpwstr>F82C9DFD-4EC2-4CDC-90E0-528DF1BE5F43</vt:lpwstr>
  </property>
  <property fmtid="{D5CDD505-2E9C-101B-9397-08002B2CF9AE}" pid="3" name="ArticulatePath">
    <vt:lpwstr>VSM PRESENTATION ENG REV6.0</vt:lpwstr>
  </property>
</Properties>
</file>