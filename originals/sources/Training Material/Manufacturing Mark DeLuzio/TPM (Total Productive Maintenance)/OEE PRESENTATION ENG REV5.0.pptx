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sldIdLst>
    <p:sldId id="258" r:id="rId2"/>
    <p:sldId id="283" r:id="rId3"/>
    <p:sldId id="284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3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B627"/>
    <a:srgbClr val="177E89"/>
    <a:srgbClr val="8EDCE6"/>
    <a:srgbClr val="F1BF98"/>
    <a:srgbClr val="2EC4B6"/>
    <a:srgbClr val="BDDBD0"/>
    <a:srgbClr val="2D7DD2"/>
    <a:srgbClr val="62929E"/>
    <a:srgbClr val="B3D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81849" autoAdjust="0"/>
  </p:normalViewPr>
  <p:slideViewPr>
    <p:cSldViewPr snapToGrid="0">
      <p:cViewPr varScale="1">
        <p:scale>
          <a:sx n="90" d="100"/>
          <a:sy n="90" d="100"/>
        </p:scale>
        <p:origin x="118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25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OEE deals in time and time can be directly correlated to money.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The chart explains how the OEE calculation is made and also clearly shows the opportunities for improvement in red.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The organization has strategic goals, focus and OEE as the key indicator.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Now they need the tools to attack the target opportunities and make improvements. 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80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Let</a:t>
            </a:r>
            <a:r>
              <a:rPr lang="ja-JP" altLang="en-US" dirty="0">
                <a:latin typeface="Arial" panose="020B0604020202020204" pitchFamily="34" charset="0"/>
              </a:rPr>
              <a:t>’</a:t>
            </a:r>
            <a:r>
              <a:rPr lang="en-US" altLang="ja-JP" dirty="0">
                <a:latin typeface="Times New Roman" panose="02020603050405020304" pitchFamily="18" charset="0"/>
              </a:rPr>
              <a:t>s address each opportunity in more detail.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The first component is Unplanned Downtime. It is measured as the Availability Rate.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Set-up / Adjustment and Equipment Failure make up this loss.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Availability is also know as % uptime.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75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We can specifically target Equipment Failure.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Equipment failure can be prioritized and analyzed by component and specific fault type.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Condition-based maintenance and predictive maintenance methods can be applied.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813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The next opportunity is speed loss. It is measured as the Efficiency Rate.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This example shows some common types of efficiency loss.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Efficiency is lost if the process is blocked by a subsequent process.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Efficiency is lost if the process is starved from a previous process.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Efficiency is lost if operators stop the process for any reason.  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9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We can specifically target operator stops and reasons.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Stops can be prioritized / analyzed / improved.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Constraints can be analyzed and bottlenecks can be eliminated.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5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The third component is Quality Loss. It is measured as the Quality Rate or Yield.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Scrap and Rework are the measurable components of Quality Loss.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91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Scrap and Rework can be reduced with better process control and capability.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In Station Process Control (ISPC) should be emphasized. Testing and inspection data can be directly correlated to ISPC.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Quality losses can be prioritized and analyzed by process and specific process variable.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Variability reduction teams can be focused and effective.  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50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36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138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6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99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6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34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Every organization has clear objectives.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People must be empowered and focused.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There must be a trusted way to measure and </a:t>
            </a:r>
            <a:r>
              <a:rPr lang="ja-JP" altLang="en-US" dirty="0">
                <a:latin typeface="Arial" panose="020B0604020202020204" pitchFamily="34" charset="0"/>
              </a:rPr>
              <a:t>“</a:t>
            </a:r>
            <a:r>
              <a:rPr lang="en-US" altLang="ja-JP" dirty="0">
                <a:latin typeface="Times New Roman" panose="02020603050405020304" pitchFamily="18" charset="0"/>
              </a:rPr>
              <a:t>One version of the truth.</a:t>
            </a:r>
            <a:r>
              <a:rPr lang="ja-JP" altLang="en-US" dirty="0">
                <a:latin typeface="Arial" panose="020B0604020202020204" pitchFamily="34" charset="0"/>
              </a:rPr>
              <a:t>”</a:t>
            </a:r>
            <a:endParaRPr lang="en-US" altLang="ja-JP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The proper tools must be provided if you want more than </a:t>
            </a:r>
            <a:r>
              <a:rPr lang="ja-JP" altLang="en-US" dirty="0">
                <a:latin typeface="Arial" panose="020B0604020202020204" pitchFamily="34" charset="0"/>
              </a:rPr>
              <a:t>“</a:t>
            </a:r>
            <a:r>
              <a:rPr lang="en-US" altLang="ja-JP" dirty="0">
                <a:latin typeface="Times New Roman" panose="02020603050405020304" pitchFamily="18" charset="0"/>
              </a:rPr>
              <a:t>just low hanging fruit.</a:t>
            </a:r>
            <a:r>
              <a:rPr lang="ja-JP" altLang="en-US" dirty="0">
                <a:latin typeface="Arial" panose="020B0604020202020204" pitchFamily="34" charset="0"/>
              </a:rPr>
              <a:t>”</a:t>
            </a:r>
            <a:endParaRPr lang="en-US" altLang="ja-JP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43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847F-0B94-F947-B172-F99DB1337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1B1ED-B2E3-19AE-DDFC-B157A0140513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5B500-689F-3416-FFFA-6EFE369BF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OEE PRESENTATION ENG REV5.0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60FA6-6E24-C6E2-C35D-A4139BCE2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929" y="4846192"/>
            <a:ext cx="2696138" cy="45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4BEED-3D12-D343-768A-9E83F9558AE0}"/>
              </a:ext>
            </a:extLst>
          </p:cNvPr>
          <p:cNvSpPr txBox="1"/>
          <p:nvPr/>
        </p:nvSpPr>
        <p:spPr>
          <a:xfrm>
            <a:off x="668594" y="4138306"/>
            <a:ext cx="107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Overall Equipment Effectiveness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EF716D-CC64-6765-89C4-B03733484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86632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4DFB542-416D-C61B-DDB3-4AC4C5C20E19}"/>
              </a:ext>
            </a:extLst>
          </p:cNvPr>
          <p:cNvSpPr txBox="1">
            <a:spLocks/>
          </p:cNvSpPr>
          <p:nvPr/>
        </p:nvSpPr>
        <p:spPr>
          <a:xfrm>
            <a:off x="1523998" y="4953466"/>
            <a:ext cx="9144000" cy="14570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Improve Process &amp; Equipment Reliability</a:t>
            </a:r>
          </a:p>
          <a:p>
            <a:pPr marL="0" indent="0" algn="ctr">
              <a:buNone/>
            </a:pPr>
            <a:r>
              <a:rPr lang="en-US" dirty="0"/>
              <a:t>Improve Process Control &amp; Capability</a:t>
            </a:r>
          </a:p>
        </p:txBody>
      </p:sp>
    </p:spTree>
    <p:extLst>
      <p:ext uri="{BB962C8B-B14F-4D97-AF65-F5344CB8AC3E}">
        <p14:creationId xmlns:p14="http://schemas.microsoft.com/office/powerpoint/2010/main" val="55279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1234-A0AA-5598-26B5-033CE6FE23E5}"/>
              </a:ext>
            </a:extLst>
          </p:cNvPr>
          <p:cNvSpPr txBox="1">
            <a:spLocks/>
          </p:cNvSpPr>
          <p:nvPr/>
        </p:nvSpPr>
        <p:spPr>
          <a:xfrm>
            <a:off x="606705" y="793843"/>
            <a:ext cx="10515600" cy="10223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Roboto Medium"/>
                <a:cs typeface="Roboto"/>
              </a:rPr>
              <a:t>Other</a:t>
            </a:r>
            <a:r>
              <a:rPr lang="en-US" dirty="0">
                <a:solidFill>
                  <a:schemeClr val="tx1"/>
                </a:solidFill>
                <a:latin typeface="Roboto Medium"/>
                <a:cs typeface="Roboto Medium"/>
              </a:rPr>
              <a:t> Modules In This Series: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825E-B951-729D-1675-8A890DAAC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17" y="1638489"/>
            <a:ext cx="3939240" cy="457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5839258" y="1166648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5S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Standard Work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Total Productive Maintenance (TPM)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Administrative Lean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Cell Design/ Production Preparation Process (3P)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Kaizen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Kanban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Problem Solving</a:t>
            </a:r>
          </a:p>
          <a:p>
            <a:pPr marL="0" indent="0" algn="r">
              <a:buNone/>
            </a:pPr>
            <a:r>
              <a:rPr lang="en-US" sz="1400" dirty="0" err="1">
                <a:solidFill>
                  <a:schemeClr val="tx1"/>
                </a:solidFill>
              </a:rPr>
              <a:t>Poka</a:t>
            </a:r>
            <a:r>
              <a:rPr lang="en-US" sz="1400" dirty="0">
                <a:solidFill>
                  <a:schemeClr val="tx1"/>
                </a:solidFill>
              </a:rPr>
              <a:t> Yoke Quality Systems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Process Improvement (TPI)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Cause &amp; Effect Diagram with the Additions of Cards (CEDAC)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Single Minute Exchange of Dies (SMED)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Value Stream Mapping (</a:t>
            </a:r>
            <a:r>
              <a:rPr lang="en-US" sz="1400" dirty="0" err="1">
                <a:solidFill>
                  <a:schemeClr val="tx1"/>
                </a:solidFill>
              </a:rPr>
              <a:t>VSMi</a:t>
            </a:r>
            <a:r>
              <a:rPr lang="en-US" sz="1400" dirty="0">
                <a:solidFill>
                  <a:schemeClr val="tx1"/>
                </a:solidFill>
              </a:rPr>
              <a:t>®)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Visual Management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Managing Daily Process Excellence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73560-3A07-DDBC-A93D-9C2969C3C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42" y="2039270"/>
            <a:ext cx="2945426" cy="1754165"/>
          </a:xfrm>
          <a:prstGeom prst="rect">
            <a:avLst/>
          </a:prstGeom>
        </p:spPr>
      </p:pic>
      <p:sp>
        <p:nvSpPr>
          <p:cNvPr id="13" name="Steve Jones">
            <a:extLst>
              <a:ext uri="{FF2B5EF4-FFF2-40B4-BE49-F238E27FC236}">
                <a16:creationId xmlns:a16="http://schemas.microsoft.com/office/drawing/2014/main" id="{32D7D26D-2286-A78A-74DF-8555FD64C346}"/>
              </a:ext>
            </a:extLst>
          </p:cNvPr>
          <p:cNvSpPr/>
          <p:nvPr/>
        </p:nvSpPr>
        <p:spPr>
          <a:xfrm>
            <a:off x="1069695" y="4201690"/>
            <a:ext cx="3475310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rgbClr val="EE32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More Information Please Contact:</a:t>
            </a:r>
          </a:p>
        </p:txBody>
      </p:sp>
      <p:sp>
        <p:nvSpPr>
          <p:cNvPr id="14" name="Head of Management Dept.">
            <a:extLst>
              <a:ext uri="{FF2B5EF4-FFF2-40B4-BE49-F238E27FC236}">
                <a16:creationId xmlns:a16="http://schemas.microsoft.com/office/drawing/2014/main" id="{13AAF857-F867-C38A-47E8-4FCE37EF32C8}"/>
              </a:ext>
            </a:extLst>
          </p:cNvPr>
          <p:cNvSpPr/>
          <p:nvPr/>
        </p:nvSpPr>
        <p:spPr>
          <a:xfrm>
            <a:off x="1367375" y="4590893"/>
            <a:ext cx="2879948" cy="8381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1155700">
              <a:defRPr sz="3000">
                <a:solidFill>
                  <a:srgbClr val="5D616E"/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DeLuzio, President and CEO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+1.860.234.0915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mark.deluzio@leanhorizons.com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9F7AC-495A-4FB8-042F-1DBECD3DB7C9}"/>
              </a:ext>
            </a:extLst>
          </p:cNvPr>
          <p:cNvSpPr txBox="1"/>
          <p:nvPr/>
        </p:nvSpPr>
        <p:spPr>
          <a:xfrm>
            <a:off x="6291" y="5619244"/>
            <a:ext cx="5602115" cy="266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Strategically Creating Value Through the Elimination of Waste</a:t>
            </a:r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1C8E8F-D781-AA13-E1D1-E5284A2427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029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3517106" y="2278809"/>
            <a:ext cx="5157787" cy="23003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This document contains confidential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and proprietary information owned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by Lean Horizons Consulting, LLC.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Any disclosure, use, copying or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distribution of this information without the express written consent of Lean Horizons Consulting is strictly prohibited.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A6FCFA-DB7B-71C3-70EC-F677EBA239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9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Equipment Effectiveness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7" descr="OEE">
            <a:extLst>
              <a:ext uri="{FF2B5EF4-FFF2-40B4-BE49-F238E27FC236}">
                <a16:creationId xmlns:a16="http://schemas.microsoft.com/office/drawing/2014/main" id="{A73F0197-5751-70B4-80EE-34082DEAA8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958" y="1971516"/>
            <a:ext cx="9062085" cy="3846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67171C04-ED48-1563-205E-0B74AAABD16A}"/>
              </a:ext>
            </a:extLst>
          </p:cNvPr>
          <p:cNvSpPr txBox="1">
            <a:spLocks noChangeArrowheads="1"/>
          </p:cNvSpPr>
          <p:nvPr/>
        </p:nvSpPr>
        <p:spPr>
          <a:xfrm>
            <a:off x="2013744" y="5855823"/>
            <a:ext cx="8164512" cy="4397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charset="0"/>
              <a:buNone/>
              <a:defRPr/>
            </a:pPr>
            <a:r>
              <a:rPr lang="en-US" dirty="0">
                <a:ea typeface="+mn-ea"/>
              </a:rPr>
              <a:t>OEE = Productivity * Availability * Yield</a:t>
            </a:r>
          </a:p>
        </p:txBody>
      </p:sp>
    </p:spTree>
    <p:extLst>
      <p:ext uri="{BB962C8B-B14F-4D97-AF65-F5344CB8AC3E}">
        <p14:creationId xmlns:p14="http://schemas.microsoft.com/office/powerpoint/2010/main" val="816369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F1BE-FC74-D20F-6189-931578F7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OEE Defined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D1452-04BC-1846-9D2B-D064B736E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Overall Equipment Effectiveness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7C3043-C5C3-113A-8520-6B843B812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38060" y="1681163"/>
            <a:ext cx="4017328" cy="823912"/>
          </a:xfrm>
        </p:spPr>
        <p:txBody>
          <a:bodyPr>
            <a:normAutofit/>
          </a:bodyPr>
          <a:lstStyle/>
          <a:p>
            <a:r>
              <a:rPr lang="en-US" dirty="0"/>
              <a:t>World Class Targets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B0951-5D5C-15E9-2447-60234BD31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38060" y="2505075"/>
            <a:ext cx="4017328" cy="3684588"/>
          </a:xfrm>
        </p:spPr>
        <p:txBody>
          <a:bodyPr/>
          <a:lstStyle/>
          <a:p>
            <a:r>
              <a:rPr lang="en-US" dirty="0"/>
              <a:t>Availability Rate = 90%</a:t>
            </a:r>
          </a:p>
          <a:p>
            <a:r>
              <a:rPr lang="en-US" dirty="0"/>
              <a:t>Efficiency Rate = 95%</a:t>
            </a:r>
          </a:p>
          <a:p>
            <a:r>
              <a:rPr lang="en-US" dirty="0"/>
              <a:t>Quality Rate = 99%</a:t>
            </a:r>
          </a:p>
          <a:p>
            <a:r>
              <a:rPr lang="en-US" dirty="0"/>
              <a:t>OEE = 89%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8954DA-A1B0-C7B8-680E-6D1AB2D2B6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16" descr="OEE Defined">
            <a:extLst>
              <a:ext uri="{FF2B5EF4-FFF2-40B4-BE49-F238E27FC236}">
                <a16:creationId xmlns:a16="http://schemas.microsoft.com/office/drawing/2014/main" id="{9FC52447-BEC9-03E5-F599-D1DD76CED4E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3" y="2703513"/>
            <a:ext cx="6501448" cy="241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7">
            <a:extLst>
              <a:ext uri="{FF2B5EF4-FFF2-40B4-BE49-F238E27FC236}">
                <a16:creationId xmlns:a16="http://schemas.microsoft.com/office/drawing/2014/main" id="{190FE7EA-3CE6-D12B-6277-1831972D1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4181" y="5467349"/>
            <a:ext cx="3429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Target Opportunities = $</a:t>
            </a:r>
          </a:p>
        </p:txBody>
      </p:sp>
    </p:spTree>
    <p:extLst>
      <p:ext uri="{BB962C8B-B14F-4D97-AF65-F5344CB8AC3E}">
        <p14:creationId xmlns:p14="http://schemas.microsoft.com/office/powerpoint/2010/main" val="1678375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F1BE-FC74-D20F-6189-931578F7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Unplanned Downtime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7C3043-C5C3-113A-8520-6B843B812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38060" y="1681163"/>
            <a:ext cx="4017328" cy="823912"/>
          </a:xfrm>
        </p:spPr>
        <p:txBody>
          <a:bodyPr>
            <a:normAutofit/>
          </a:bodyPr>
          <a:lstStyle/>
          <a:p>
            <a:r>
              <a:rPr lang="en-US" dirty="0"/>
              <a:t>World Class Targets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B0951-5D5C-15E9-2447-60234BD31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38060" y="2505075"/>
            <a:ext cx="4017328" cy="3684588"/>
          </a:xfrm>
        </p:spPr>
        <p:txBody>
          <a:bodyPr/>
          <a:lstStyle/>
          <a:p>
            <a:r>
              <a:rPr lang="en-US" dirty="0"/>
              <a:t>Availability Rate = 90%</a:t>
            </a:r>
          </a:p>
          <a:p>
            <a:r>
              <a:rPr lang="en-US" dirty="0"/>
              <a:t>Efficiency Rate = 95%</a:t>
            </a:r>
          </a:p>
          <a:p>
            <a:r>
              <a:rPr lang="en-US" dirty="0"/>
              <a:t>Quality Rate = 99%</a:t>
            </a:r>
          </a:p>
          <a:p>
            <a:r>
              <a:rPr lang="en-US" dirty="0"/>
              <a:t>OEE = 89%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8954DA-A1B0-C7B8-680E-6D1AB2D2B6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18" descr="Unplanned Downtime">
            <a:extLst>
              <a:ext uri="{FF2B5EF4-FFF2-40B4-BE49-F238E27FC236}">
                <a16:creationId xmlns:a16="http://schemas.microsoft.com/office/drawing/2014/main" id="{ECD09BA4-C5B4-1EF8-1F76-7093EDBD401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2" y="2333466"/>
            <a:ext cx="6453399" cy="2741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926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Unplanned Downtime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7</a:t>
            </a:fld>
            <a:endParaRPr lang="en-US"/>
          </a:p>
        </p:txBody>
      </p:sp>
      <p:pic>
        <p:nvPicPr>
          <p:cNvPr id="7" name="Content Placeholder 6" descr="Unplanned Downtime2">
            <a:extLst>
              <a:ext uri="{FF2B5EF4-FFF2-40B4-BE49-F238E27FC236}">
                <a16:creationId xmlns:a16="http://schemas.microsoft.com/office/drawing/2014/main" id="{010D127C-4CDC-64E2-79C7-E5CC4A2F2D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964" y="1825625"/>
            <a:ext cx="7906072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806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F1BE-FC74-D20F-6189-931578F7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 Loss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7C3043-C5C3-113A-8520-6B843B812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38060" y="1681163"/>
            <a:ext cx="4017328" cy="823912"/>
          </a:xfrm>
        </p:spPr>
        <p:txBody>
          <a:bodyPr>
            <a:normAutofit/>
          </a:bodyPr>
          <a:lstStyle/>
          <a:p>
            <a:r>
              <a:rPr lang="en-US" dirty="0"/>
              <a:t>World Class Targets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B0951-5D5C-15E9-2447-60234BD31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38060" y="2505075"/>
            <a:ext cx="4017328" cy="3684588"/>
          </a:xfrm>
        </p:spPr>
        <p:txBody>
          <a:bodyPr/>
          <a:lstStyle/>
          <a:p>
            <a:r>
              <a:rPr lang="en-US" dirty="0"/>
              <a:t>Availability Rate = 90%</a:t>
            </a:r>
          </a:p>
          <a:p>
            <a:r>
              <a:rPr lang="en-US" dirty="0"/>
              <a:t>Efficiency Rate = 95%</a:t>
            </a:r>
          </a:p>
          <a:p>
            <a:r>
              <a:rPr lang="en-US" dirty="0"/>
              <a:t>Quality Rate = 99%</a:t>
            </a:r>
          </a:p>
          <a:p>
            <a:r>
              <a:rPr lang="en-US" dirty="0"/>
              <a:t>OEE = 89%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8954DA-A1B0-C7B8-680E-6D1AB2D2B6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6" descr="Speed Loss">
            <a:extLst>
              <a:ext uri="{FF2B5EF4-FFF2-40B4-BE49-F238E27FC236}">
                <a16:creationId xmlns:a16="http://schemas.microsoft.com/office/drawing/2014/main" id="{0C07FFB7-137D-9C19-60BE-AEAE8CEFC15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2320290"/>
            <a:ext cx="6436745" cy="3382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0591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 Loss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6" descr="Speed Loss2">
            <a:extLst>
              <a:ext uri="{FF2B5EF4-FFF2-40B4-BE49-F238E27FC236}">
                <a16:creationId xmlns:a16="http://schemas.microsoft.com/office/drawing/2014/main" id="{CBA5B73F-2D35-28EF-2168-DFB33DD35F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985" y="1825625"/>
            <a:ext cx="753403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1532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F1BE-FC74-D20F-6189-931578F7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Losses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7C3043-C5C3-113A-8520-6B843B812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38060" y="1681163"/>
            <a:ext cx="4017328" cy="823912"/>
          </a:xfrm>
        </p:spPr>
        <p:txBody>
          <a:bodyPr>
            <a:normAutofit/>
          </a:bodyPr>
          <a:lstStyle/>
          <a:p>
            <a:r>
              <a:rPr lang="en-US" dirty="0"/>
              <a:t>World Class Targets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B0951-5D5C-15E9-2447-60234BD31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38060" y="2505075"/>
            <a:ext cx="4017328" cy="3684588"/>
          </a:xfrm>
        </p:spPr>
        <p:txBody>
          <a:bodyPr/>
          <a:lstStyle/>
          <a:p>
            <a:r>
              <a:rPr lang="en-US" dirty="0"/>
              <a:t>Availability Rate = 90%</a:t>
            </a:r>
          </a:p>
          <a:p>
            <a:r>
              <a:rPr lang="en-US" dirty="0"/>
              <a:t>Efficiency Rate = 95%</a:t>
            </a:r>
          </a:p>
          <a:p>
            <a:r>
              <a:rPr lang="en-US" dirty="0"/>
              <a:t>Quality Rate = 99%</a:t>
            </a:r>
          </a:p>
          <a:p>
            <a:r>
              <a:rPr lang="en-US" dirty="0"/>
              <a:t>OEE = 89%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8954DA-A1B0-C7B8-680E-6D1AB2D2B6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10</a:t>
            </a:fld>
            <a:endParaRPr lang="en-US"/>
          </a:p>
        </p:txBody>
      </p:sp>
      <p:pic>
        <p:nvPicPr>
          <p:cNvPr id="7" name="Content Placeholder 6" descr="Quality Losses">
            <a:extLst>
              <a:ext uri="{FF2B5EF4-FFF2-40B4-BE49-F238E27FC236}">
                <a16:creationId xmlns:a16="http://schemas.microsoft.com/office/drawing/2014/main" id="{ED358101-B7D4-FB5A-E959-336B520305D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2308861"/>
            <a:ext cx="6361136" cy="342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5489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4" descr="Quality Losses2">
            <a:extLst>
              <a:ext uri="{FF2B5EF4-FFF2-40B4-BE49-F238E27FC236}">
                <a16:creationId xmlns:a16="http://schemas.microsoft.com/office/drawing/2014/main" id="{8C041ED0-324F-2F81-9A4E-4569881C86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587" y="2039144"/>
            <a:ext cx="8124825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5068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 Metric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01F64254-1E5A-EEAE-AE44-8F69C5DE192D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4562708" y="1825625"/>
          <a:ext cx="3066584" cy="435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7639236" imgH="10839829" progId="Excel.Sheet.8">
                  <p:embed/>
                </p:oleObj>
              </mc:Choice>
              <mc:Fallback>
                <p:oleObj name="Worksheet" r:id="rId3" imgW="7639236" imgH="10839829" progId="Excel.Sheet.8">
                  <p:embed/>
                  <p:pic>
                    <p:nvPicPr>
                      <p:cNvPr id="27651" name="Object 4">
                        <a:extLst>
                          <a:ext uri="{FF2B5EF4-FFF2-40B4-BE49-F238E27FC236}">
                            <a16:creationId xmlns:a16="http://schemas.microsoft.com/office/drawing/2014/main" id="{414FFF49-0F91-D16E-CC71-26F2F6D643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708" y="1825625"/>
                        <a:ext cx="3066584" cy="435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2388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OEE Audit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9A1A5-5316-8534-23A9-771312E02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there enough information about the time losses to solve problems?</a:t>
            </a:r>
          </a:p>
          <a:p>
            <a:r>
              <a:rPr lang="en-US" dirty="0"/>
              <a:t>Is the OEE data collection sheet simple for the operators to calculate? </a:t>
            </a:r>
          </a:p>
          <a:p>
            <a:r>
              <a:rPr lang="en-US" dirty="0"/>
              <a:t>Who collates the information? </a:t>
            </a:r>
          </a:p>
          <a:p>
            <a:r>
              <a:rPr lang="en-US" dirty="0"/>
              <a:t>Are there OEE improvement action plans?  </a:t>
            </a:r>
          </a:p>
          <a:p>
            <a:r>
              <a:rPr lang="en-US" dirty="0"/>
              <a:t>Have responsibilities been assigned for each action?</a:t>
            </a:r>
          </a:p>
          <a:p>
            <a:r>
              <a:rPr lang="en-US" dirty="0"/>
              <a:t>Have the people got enough time  to calculate the OEE? </a:t>
            </a:r>
          </a:p>
          <a:p>
            <a:r>
              <a:rPr lang="en-US" dirty="0"/>
              <a:t>Do the people believe the OEE figure?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692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OEE Audit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9A1A5-5316-8534-23A9-771312E02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 the people know the OEE value for their line? </a:t>
            </a:r>
          </a:p>
          <a:p>
            <a:r>
              <a:rPr lang="en-US" dirty="0"/>
              <a:t>Do the people know the OEE goal?</a:t>
            </a:r>
          </a:p>
          <a:p>
            <a:r>
              <a:rPr lang="en-US" dirty="0"/>
              <a:t>How exact is the OEE data? </a:t>
            </a:r>
          </a:p>
          <a:p>
            <a:r>
              <a:rPr lang="en-US" dirty="0"/>
              <a:t>Does every shift and department  calculate the OEE in the same way?  How do you make sure?</a:t>
            </a:r>
          </a:p>
          <a:p>
            <a:r>
              <a:rPr lang="en-US" dirty="0"/>
              <a:t>Is there a standard for the data collection?</a:t>
            </a:r>
          </a:p>
          <a:p>
            <a:r>
              <a:rPr lang="en-US" dirty="0"/>
              <a:t>Is there an audit to check the OEE data?</a:t>
            </a:r>
          </a:p>
          <a:p>
            <a:r>
              <a:rPr lang="en-US" dirty="0"/>
              <a:t>Are the real problems shown by the data?</a:t>
            </a:r>
          </a:p>
          <a:p>
            <a:r>
              <a:rPr lang="en-US" dirty="0"/>
              <a:t>Do the people understand the importance of OEE?</a:t>
            </a:r>
          </a:p>
        </p:txBody>
      </p:sp>
    </p:spTree>
    <p:extLst>
      <p:ext uri="{BB962C8B-B14F-4D97-AF65-F5344CB8AC3E}">
        <p14:creationId xmlns:p14="http://schemas.microsoft.com/office/powerpoint/2010/main" val="1544909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OEE Board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5" descr="OEE Board">
            <a:extLst>
              <a:ext uri="{FF2B5EF4-FFF2-40B4-BE49-F238E27FC236}">
                <a16:creationId xmlns:a16="http://schemas.microsoft.com/office/drawing/2014/main" id="{FD09F359-C02C-146E-EE28-8D0E9A62B4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598" y="1825625"/>
            <a:ext cx="6826803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0F7E3C32-D0BF-6D1C-8B35-988A591EC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" y="3031798"/>
            <a:ext cx="150876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GB" alt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Set Targets and Monitor Progress</a:t>
            </a:r>
            <a:endParaRPr lang="en-US" altLang="en-US" sz="2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811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 Current State – Collect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5" descr="Understand Current State">
            <a:extLst>
              <a:ext uri="{FF2B5EF4-FFF2-40B4-BE49-F238E27FC236}">
                <a16:creationId xmlns:a16="http://schemas.microsoft.com/office/drawing/2014/main" id="{5209485F-F32D-C6B3-8294-2FD23F8F08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915" y="1825625"/>
            <a:ext cx="7442169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8695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Root Cause of the Losses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4" descr="Find the Root Cause of the Losses">
            <a:extLst>
              <a:ext uri="{FF2B5EF4-FFF2-40B4-BE49-F238E27FC236}">
                <a16:creationId xmlns:a16="http://schemas.microsoft.com/office/drawing/2014/main" id="{2896883A-AC46-E166-D383-B44039137D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722" y="1825625"/>
            <a:ext cx="7488555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9386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– Objectives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9A1A5-5316-8534-23A9-771312E02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Improve </a:t>
            </a:r>
          </a:p>
          <a:p>
            <a:pPr lvl="1"/>
            <a:r>
              <a:rPr lang="en-US" dirty="0"/>
              <a:t>Quality</a:t>
            </a:r>
          </a:p>
          <a:p>
            <a:pPr lvl="1"/>
            <a:r>
              <a:rPr lang="en-US" dirty="0"/>
              <a:t>Customer Satisfaction</a:t>
            </a:r>
          </a:p>
          <a:p>
            <a:pPr lvl="1"/>
            <a:r>
              <a:rPr lang="en-US" dirty="0"/>
              <a:t>Productivity </a:t>
            </a:r>
          </a:p>
          <a:p>
            <a:pPr lvl="1"/>
            <a:r>
              <a:rPr lang="en-US" dirty="0"/>
              <a:t>Process &amp; Equipment Reliability</a:t>
            </a:r>
          </a:p>
          <a:p>
            <a:pPr lvl="1"/>
            <a:r>
              <a:rPr lang="en-US" dirty="0"/>
              <a:t>Process Capability</a:t>
            </a:r>
          </a:p>
          <a:p>
            <a:r>
              <a:rPr lang="en-US" dirty="0"/>
              <a:t>Reduce Cost</a:t>
            </a:r>
          </a:p>
        </p:txBody>
      </p:sp>
    </p:spTree>
    <p:extLst>
      <p:ext uri="{BB962C8B-B14F-4D97-AF65-F5344CB8AC3E}">
        <p14:creationId xmlns:p14="http://schemas.microsoft.com/office/powerpoint/2010/main" val="2833865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1234-A0AA-5598-26B5-033CE6FE23E5}"/>
              </a:ext>
            </a:extLst>
          </p:cNvPr>
          <p:cNvSpPr txBox="1">
            <a:spLocks/>
          </p:cNvSpPr>
          <p:nvPr/>
        </p:nvSpPr>
        <p:spPr>
          <a:xfrm>
            <a:off x="606705" y="793843"/>
            <a:ext cx="10515600" cy="10223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Roboto Medium"/>
                <a:cs typeface="Roboto"/>
              </a:rPr>
              <a:t>Other</a:t>
            </a:r>
            <a:r>
              <a:rPr lang="en-US" dirty="0">
                <a:solidFill>
                  <a:schemeClr val="tx1"/>
                </a:solidFill>
                <a:latin typeface="Roboto Medium"/>
                <a:cs typeface="Roboto Medium"/>
              </a:rPr>
              <a:t> Modules In This Series: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825E-B951-729D-1675-8A890DAAC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17" y="1638489"/>
            <a:ext cx="3939240" cy="457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5839258" y="1166648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5S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Standard Work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Total Productive Maintenance (TPM)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Administrative Lean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Cell Design/ Production Preparation Process (3P)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Kaizen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Kanban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Problem Solving</a:t>
            </a:r>
          </a:p>
          <a:p>
            <a:pPr marL="0" indent="0" algn="r">
              <a:buNone/>
            </a:pPr>
            <a:r>
              <a:rPr lang="en-US" sz="1400" dirty="0" err="1">
                <a:solidFill>
                  <a:schemeClr val="tx1"/>
                </a:solidFill>
              </a:rPr>
              <a:t>Poka</a:t>
            </a:r>
            <a:r>
              <a:rPr lang="en-US" sz="1400" dirty="0">
                <a:solidFill>
                  <a:schemeClr val="tx1"/>
                </a:solidFill>
              </a:rPr>
              <a:t> Yoke Quality Systems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Process Improvement (TPI)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Cause &amp; Effect Diagram with the Additions of Cards (CEDAC)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Single Minute Exchange of Dies (SMED)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Value Stream Mapping (</a:t>
            </a:r>
            <a:r>
              <a:rPr lang="en-US" sz="1400" dirty="0" err="1">
                <a:solidFill>
                  <a:schemeClr val="tx1"/>
                </a:solidFill>
              </a:rPr>
              <a:t>VSMi</a:t>
            </a:r>
            <a:r>
              <a:rPr lang="en-US" sz="1400" dirty="0">
                <a:solidFill>
                  <a:schemeClr val="tx1"/>
                </a:solidFill>
              </a:rPr>
              <a:t>®)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Visual Management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Managing Daily Process Excellence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73560-3A07-DDBC-A93D-9C2969C3C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42" y="2039270"/>
            <a:ext cx="2945426" cy="1754165"/>
          </a:xfrm>
          <a:prstGeom prst="rect">
            <a:avLst/>
          </a:prstGeom>
        </p:spPr>
      </p:pic>
      <p:sp>
        <p:nvSpPr>
          <p:cNvPr id="13" name="Steve Jones">
            <a:extLst>
              <a:ext uri="{FF2B5EF4-FFF2-40B4-BE49-F238E27FC236}">
                <a16:creationId xmlns:a16="http://schemas.microsoft.com/office/drawing/2014/main" id="{32D7D26D-2286-A78A-74DF-8555FD64C346}"/>
              </a:ext>
            </a:extLst>
          </p:cNvPr>
          <p:cNvSpPr/>
          <p:nvPr/>
        </p:nvSpPr>
        <p:spPr>
          <a:xfrm>
            <a:off x="1069695" y="4201690"/>
            <a:ext cx="3475310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rgbClr val="EE32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More Information Please Contact:</a:t>
            </a:r>
          </a:p>
        </p:txBody>
      </p:sp>
      <p:sp>
        <p:nvSpPr>
          <p:cNvPr id="14" name="Head of Management Dept.">
            <a:extLst>
              <a:ext uri="{FF2B5EF4-FFF2-40B4-BE49-F238E27FC236}">
                <a16:creationId xmlns:a16="http://schemas.microsoft.com/office/drawing/2014/main" id="{13AAF857-F867-C38A-47E8-4FCE37EF32C8}"/>
              </a:ext>
            </a:extLst>
          </p:cNvPr>
          <p:cNvSpPr/>
          <p:nvPr/>
        </p:nvSpPr>
        <p:spPr>
          <a:xfrm>
            <a:off x="1367375" y="4590893"/>
            <a:ext cx="2879948" cy="8381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1155700">
              <a:defRPr sz="3000">
                <a:solidFill>
                  <a:srgbClr val="5D616E"/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DeLuzio, President and CEO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+1.860.234.0915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mark.deluzio@leanhorizons.com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9F7AC-495A-4FB8-042F-1DBECD3DB7C9}"/>
              </a:ext>
            </a:extLst>
          </p:cNvPr>
          <p:cNvSpPr txBox="1"/>
          <p:nvPr/>
        </p:nvSpPr>
        <p:spPr>
          <a:xfrm>
            <a:off x="6291" y="5619244"/>
            <a:ext cx="5602115" cy="266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Strategically Creating Value Through the Elimination of Waste</a:t>
            </a:r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1C8E8F-D781-AA13-E1D1-E5284A2427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523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14032</TotalTime>
  <Words>961</Words>
  <Application>Microsoft Office PowerPoint</Application>
  <PresentationFormat>Widescreen</PresentationFormat>
  <Paragraphs>193</Paragraphs>
  <Slides>19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Roboto</vt:lpstr>
      <vt:lpstr>Roboto Medium</vt:lpstr>
      <vt:lpstr>Times New Roman</vt:lpstr>
      <vt:lpstr>Wingdings</vt:lpstr>
      <vt:lpstr>Office Theme</vt:lpstr>
      <vt:lpstr>Worksheet</vt:lpstr>
      <vt:lpstr>PowerPoint Presentation</vt:lpstr>
      <vt:lpstr>PowerPoint Presentation</vt:lpstr>
      <vt:lpstr>PowerPoint Presentation</vt:lpstr>
      <vt:lpstr>Overall Equipment Effectiveness</vt:lpstr>
      <vt:lpstr>OEE Defined</vt:lpstr>
      <vt:lpstr>Unplanned Downtime</vt:lpstr>
      <vt:lpstr>Unplanned Downtime</vt:lpstr>
      <vt:lpstr>Speed Loss</vt:lpstr>
      <vt:lpstr>Speed Loss</vt:lpstr>
      <vt:lpstr>Quality Losses</vt:lpstr>
      <vt:lpstr>Quality Losses</vt:lpstr>
      <vt:lpstr>Improvement Metric</vt:lpstr>
      <vt:lpstr>OEE Audit</vt:lpstr>
      <vt:lpstr>OEE Audit</vt:lpstr>
      <vt:lpstr>OEE Board</vt:lpstr>
      <vt:lpstr>Understand Current State – Collect Data</vt:lpstr>
      <vt:lpstr>Find the Root Cause of the Losses</vt:lpstr>
      <vt:lpstr>Summary – Objectives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378</cp:revision>
  <dcterms:created xsi:type="dcterms:W3CDTF">2023-02-08T22:10:20Z</dcterms:created>
  <dcterms:modified xsi:type="dcterms:W3CDTF">2023-09-08T18:15:42Z</dcterms:modified>
</cp:coreProperties>
</file>