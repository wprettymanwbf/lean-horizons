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7"/>
  </p:notesMasterIdLst>
  <p:sldIdLst>
    <p:sldId id="258" r:id="rId2"/>
    <p:sldId id="283" r:id="rId3"/>
    <p:sldId id="284" r:id="rId4"/>
    <p:sldId id="285" r:id="rId5"/>
    <p:sldId id="351" r:id="rId6"/>
    <p:sldId id="352" r:id="rId7"/>
    <p:sldId id="353" r:id="rId8"/>
    <p:sldId id="354"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69" r:id="rId24"/>
    <p:sldId id="370" r:id="rId25"/>
    <p:sldId id="371" r:id="rId26"/>
    <p:sldId id="372" r:id="rId27"/>
    <p:sldId id="373" r:id="rId28"/>
    <p:sldId id="374" r:id="rId29"/>
    <p:sldId id="375" r:id="rId30"/>
    <p:sldId id="376"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396" r:id="rId51"/>
    <p:sldId id="398" r:id="rId52"/>
    <p:sldId id="399" r:id="rId53"/>
    <p:sldId id="400" r:id="rId54"/>
    <p:sldId id="401" r:id="rId55"/>
    <p:sldId id="403" r:id="rId56"/>
    <p:sldId id="402" r:id="rId57"/>
    <p:sldId id="404" r:id="rId58"/>
    <p:sldId id="405" r:id="rId59"/>
    <p:sldId id="406" r:id="rId60"/>
    <p:sldId id="407" r:id="rId61"/>
    <p:sldId id="408" r:id="rId62"/>
    <p:sldId id="409" r:id="rId63"/>
    <p:sldId id="410" r:id="rId64"/>
    <p:sldId id="411" r:id="rId65"/>
    <p:sldId id="412" r:id="rId66"/>
    <p:sldId id="413" r:id="rId67"/>
    <p:sldId id="414" r:id="rId68"/>
    <p:sldId id="415" r:id="rId69"/>
    <p:sldId id="416" r:id="rId70"/>
    <p:sldId id="417" r:id="rId71"/>
    <p:sldId id="418" r:id="rId72"/>
    <p:sldId id="419" r:id="rId73"/>
    <p:sldId id="420" r:id="rId74"/>
    <p:sldId id="421" r:id="rId75"/>
    <p:sldId id="422" r:id="rId76"/>
    <p:sldId id="423" r:id="rId77"/>
    <p:sldId id="424" r:id="rId78"/>
    <p:sldId id="425" r:id="rId79"/>
    <p:sldId id="426" r:id="rId80"/>
    <p:sldId id="427" r:id="rId81"/>
    <p:sldId id="428" r:id="rId82"/>
    <p:sldId id="429" r:id="rId83"/>
    <p:sldId id="430" r:id="rId84"/>
    <p:sldId id="431" r:id="rId85"/>
    <p:sldId id="432" r:id="rId86"/>
    <p:sldId id="433" r:id="rId87"/>
    <p:sldId id="434" r:id="rId88"/>
    <p:sldId id="436" r:id="rId89"/>
    <p:sldId id="437" r:id="rId90"/>
    <p:sldId id="438" r:id="rId91"/>
    <p:sldId id="439" r:id="rId92"/>
    <p:sldId id="440" r:id="rId93"/>
    <p:sldId id="441" r:id="rId94"/>
    <p:sldId id="442" r:id="rId95"/>
    <p:sldId id="443" r:id="rId96"/>
    <p:sldId id="444" r:id="rId97"/>
    <p:sldId id="286" r:id="rId98"/>
    <p:sldId id="287" r:id="rId99"/>
    <p:sldId id="450" r:id="rId100"/>
    <p:sldId id="446" r:id="rId101"/>
    <p:sldId id="445" r:id="rId102"/>
    <p:sldId id="447" r:id="rId103"/>
    <p:sldId id="448" r:id="rId104"/>
    <p:sldId id="449" r:id="rId105"/>
    <p:sldId id="451"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849" autoAdjust="0"/>
  </p:normalViewPr>
  <p:slideViewPr>
    <p:cSldViewPr snapToGrid="0">
      <p:cViewPr varScale="1">
        <p:scale>
          <a:sx n="67" d="100"/>
          <a:sy n="67" d="100"/>
        </p:scale>
        <p:origin x="1296" y="62"/>
      </p:cViewPr>
      <p:guideLst/>
    </p:cSldViewPr>
  </p:slideViewPr>
  <p:notesTextViewPr>
    <p:cViewPr>
      <p:scale>
        <a:sx n="3" d="2"/>
        <a:sy n="3" d="2"/>
      </p:scale>
      <p:origin x="0" y="0"/>
    </p:cViewPr>
  </p:notesTextViewPr>
  <p:sorterViewPr>
    <p:cViewPr varScale="1">
      <p:scale>
        <a:sx n="100" d="100"/>
        <a:sy n="100" d="100"/>
      </p:scale>
      <p:origin x="0" y="-12528"/>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microsoft.com/office/2018/10/relationships/authors" Target="author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54189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535910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1538028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 </a:t>
            </a:r>
            <a:r>
              <a:rPr lang="en-US" altLang="en-US" dirty="0">
                <a:latin typeface="Arial" panose="020B0604020202020204" pitchFamily="34" charset="0"/>
              </a:rPr>
              <a:t>Perform Group Introductions. Pick an ice-breaker or exercise to warm the team up to the event. (Icebreaker Example: Everyone uses their name tent and writes a </a:t>
            </a:r>
            <a:r>
              <a:rPr lang="ja-JP" altLang="en-US" dirty="0">
                <a:latin typeface="Arial" panose="020B0604020202020204" pitchFamily="34" charset="0"/>
              </a:rPr>
              <a:t>“</a:t>
            </a:r>
            <a:r>
              <a:rPr lang="en-US" altLang="ja-JP" dirty="0">
                <a:latin typeface="Arial" panose="020B0604020202020204" pitchFamily="34" charset="0"/>
              </a:rPr>
              <a:t>Personal License Plate</a:t>
            </a:r>
            <a:r>
              <a:rPr lang="ja-JP" altLang="en-US" dirty="0">
                <a:latin typeface="Arial" panose="020B0604020202020204" pitchFamily="34" charset="0"/>
              </a:rPr>
              <a:t>”</a:t>
            </a:r>
            <a:r>
              <a:rPr lang="en-US" altLang="ja-JP" dirty="0">
                <a:latin typeface="Arial" panose="020B0604020202020204" pitchFamily="34" charset="0"/>
              </a:rPr>
              <a:t> in which they have 2 minutes to creatively use a total of 7 letters or numbers to tell us something about themselves. Examples </a:t>
            </a:r>
            <a:r>
              <a:rPr lang="ja-JP" altLang="en-US" dirty="0">
                <a:latin typeface="Arial" panose="020B0604020202020204" pitchFamily="34" charset="0"/>
              </a:rPr>
              <a:t>“</a:t>
            </a:r>
            <a:r>
              <a:rPr lang="en-US" altLang="ja-JP" dirty="0">
                <a:latin typeface="Arial" panose="020B0604020202020204" pitchFamily="34" charset="0"/>
              </a:rPr>
              <a:t>LV2SAIL</a:t>
            </a:r>
            <a:r>
              <a:rPr lang="ja-JP" altLang="en-US" dirty="0">
                <a:latin typeface="Arial" panose="020B0604020202020204" pitchFamily="34" charset="0"/>
              </a:rPr>
              <a:t>”</a:t>
            </a:r>
            <a:r>
              <a:rPr lang="en-US" altLang="ja-JP" dirty="0">
                <a:latin typeface="Arial" panose="020B0604020202020204" pitchFamily="34" charset="0"/>
              </a:rPr>
              <a:t> OR </a:t>
            </a:r>
            <a:r>
              <a:rPr lang="ja-JP" altLang="en-US" dirty="0">
                <a:latin typeface="Arial" panose="020B0604020202020204" pitchFamily="34" charset="0"/>
              </a:rPr>
              <a:t>“</a:t>
            </a:r>
            <a:r>
              <a:rPr lang="en-US" altLang="ja-JP" dirty="0">
                <a:latin typeface="Arial" panose="020B0604020202020204" pitchFamily="34" charset="0"/>
              </a:rPr>
              <a:t>DADOV5</a:t>
            </a:r>
            <a:r>
              <a:rPr lang="ja-JP" altLang="en-US" dirty="0">
                <a:latin typeface="Arial" panose="020B0604020202020204" pitchFamily="34" charset="0"/>
              </a:rPr>
              <a:t>”</a:t>
            </a:r>
            <a:r>
              <a:rPr lang="en-US" altLang="ja-JP" dirty="0">
                <a:latin typeface="Arial" panose="020B0604020202020204" pitchFamily="34" charset="0"/>
              </a:rPr>
              <a:t> </a:t>
            </a:r>
          </a:p>
          <a:p>
            <a:r>
              <a:rPr lang="en-US" altLang="en-US" b="1" dirty="0">
                <a:latin typeface="Arial" panose="020B0604020202020204" pitchFamily="34" charset="0"/>
              </a:rPr>
              <a:t>DO</a:t>
            </a:r>
            <a:r>
              <a:rPr lang="en-US" altLang="en-US" dirty="0">
                <a:latin typeface="Arial" panose="020B0604020202020204" pitchFamily="34" charset="0"/>
              </a:rPr>
              <a:t>: Review Event Ground Rules. </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anyone have any rules they would like to see added?</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Does everyone agree to these?</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TPM brings CI to the maintenance of equipment and ties the equipment into the Lean program directives.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10508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800" b="1" dirty="0">
                <a:latin typeface="Arial" panose="020B0604020202020204" pitchFamily="34" charset="0"/>
                <a:sym typeface="MS Outlook" panose="05010100010000000000" pitchFamily="2" charset="2"/>
              </a:rPr>
              <a:t>SAY:</a:t>
            </a:r>
            <a:r>
              <a:rPr lang="en-US" altLang="en-US" sz="800" b="1" dirty="0">
                <a:latin typeface="Arial" panose="020B0604020202020204" pitchFamily="34" charset="0"/>
              </a:rPr>
              <a:t>  </a:t>
            </a:r>
            <a:r>
              <a:rPr lang="en-US" altLang="en-US" sz="800" dirty="0">
                <a:latin typeface="Arial" panose="020B0604020202020204" pitchFamily="34" charset="0"/>
              </a:rPr>
              <a:t>To change the mindset from what we always have done, to what we ought to be doing, or what we could be doing. This is a way to help maintenance people think about how their jobs will be changing in the lean environment. This issue of change in their jobs is a serious issue. You have to have some vehicle for enabling folks to try on the new role and see what it would be like. Visioning helps with that.</a:t>
            </a:r>
          </a:p>
          <a:p>
            <a:pPr lvl="1">
              <a:lnSpc>
                <a:spcPct val="80000"/>
              </a:lnSpc>
            </a:pPr>
            <a:r>
              <a:rPr lang="en-US" altLang="en-US" sz="800" b="1" dirty="0">
                <a:latin typeface="Arial" panose="020B0604020202020204" pitchFamily="34" charset="0"/>
              </a:rPr>
              <a:t> </a:t>
            </a:r>
            <a:r>
              <a:rPr lang="en-US" altLang="en-US" sz="800" dirty="0">
                <a:latin typeface="Arial" panose="020B0604020202020204" pitchFamily="34" charset="0"/>
              </a:rPr>
              <a:t>( 10 minutes)</a:t>
            </a:r>
            <a:r>
              <a:rPr lang="en-US" altLang="en-US" sz="800" b="1" dirty="0">
                <a:latin typeface="Arial" panose="020B0604020202020204" pitchFamily="34" charset="0"/>
              </a:rPr>
              <a:t>  </a:t>
            </a:r>
            <a:r>
              <a:rPr lang="en-US" altLang="en-US" sz="800" dirty="0">
                <a:latin typeface="Arial" panose="020B0604020202020204" pitchFamily="34" charset="0"/>
              </a:rPr>
              <a:t>Everyone thinks silently, jotting down ideas about what would make the best situation for this specific machine</a:t>
            </a:r>
          </a:p>
          <a:p>
            <a:pPr lvl="2">
              <a:lnSpc>
                <a:spcPct val="80000"/>
              </a:lnSpc>
            </a:pPr>
            <a:r>
              <a:rPr lang="en-US" altLang="en-US" sz="800" dirty="0">
                <a:latin typeface="Arial" panose="020B0604020202020204" pitchFamily="34" charset="0"/>
              </a:rPr>
              <a:t>Example:   no walking around machine, only using one wrench instead of 4 different ones, etc.</a:t>
            </a:r>
          </a:p>
          <a:p>
            <a:pPr lvl="1">
              <a:lnSpc>
                <a:spcPct val="80000"/>
              </a:lnSpc>
            </a:pPr>
            <a:r>
              <a:rPr lang="en-US" altLang="en-US" sz="800" b="1" dirty="0">
                <a:latin typeface="Arial" panose="020B0604020202020204" pitchFamily="34" charset="0"/>
              </a:rPr>
              <a:t> </a:t>
            </a:r>
            <a:r>
              <a:rPr lang="en-US" altLang="en-US" sz="800" dirty="0">
                <a:latin typeface="Arial" panose="020B0604020202020204" pitchFamily="34" charset="0"/>
              </a:rPr>
              <a:t>( 10 minutes)  Invite folks to share ideas with whole group, don</a:t>
            </a:r>
            <a:r>
              <a:rPr lang="ja-JP" altLang="en-US" sz="800" dirty="0">
                <a:latin typeface="Arial" panose="020B0604020202020204" pitchFamily="34" charset="0"/>
              </a:rPr>
              <a:t>’</a:t>
            </a:r>
            <a:r>
              <a:rPr lang="en-US" altLang="ja-JP" sz="800" dirty="0">
                <a:latin typeface="Arial" panose="020B0604020202020204" pitchFamily="34" charset="0"/>
              </a:rPr>
              <a:t>t </a:t>
            </a:r>
            <a:r>
              <a:rPr lang="en-US" altLang="ja-JP" sz="800" u="sng" dirty="0">
                <a:latin typeface="Arial" panose="020B0604020202020204" pitchFamily="34" charset="0"/>
              </a:rPr>
              <a:t>force</a:t>
            </a:r>
            <a:r>
              <a:rPr lang="en-US" altLang="ja-JP" sz="800" dirty="0">
                <a:latin typeface="Arial" panose="020B0604020202020204" pitchFamily="34" charset="0"/>
              </a:rPr>
              <a:t> them to share, facilitator writes on chart paper</a:t>
            </a:r>
          </a:p>
          <a:p>
            <a:pPr lvl="2">
              <a:lnSpc>
                <a:spcPct val="80000"/>
              </a:lnSpc>
            </a:pPr>
            <a:r>
              <a:rPr lang="en-US" altLang="en-US" sz="800" dirty="0">
                <a:latin typeface="Arial" panose="020B0604020202020204" pitchFamily="34" charset="0"/>
              </a:rPr>
              <a:t>Keep this collection of ideas up in the room during the work. Use it to remind people of the ways that things will change whenever folks get tied up in knots over some idea that challenges the way we do things now.</a:t>
            </a:r>
          </a:p>
          <a:p>
            <a:pPr lvl="1">
              <a:lnSpc>
                <a:spcPct val="80000"/>
              </a:lnSpc>
            </a:pPr>
            <a:r>
              <a:rPr lang="en-US" altLang="en-US" sz="800" dirty="0">
                <a:latin typeface="Arial" panose="020B0604020202020204" pitchFamily="34" charset="0"/>
              </a:rPr>
              <a:t>Examples of ideas which might be generated:</a:t>
            </a:r>
          </a:p>
          <a:p>
            <a:pPr lvl="1">
              <a:lnSpc>
                <a:spcPct val="80000"/>
              </a:lnSpc>
              <a:buFontTx/>
              <a:buAutoNum type="arabicPeriod"/>
            </a:pPr>
            <a:r>
              <a:rPr lang="en-US" altLang="en-US" sz="800" dirty="0">
                <a:latin typeface="Arial" panose="020B0604020202020204" pitchFamily="34" charset="0"/>
              </a:rPr>
              <a:t>  Less reactive</a:t>
            </a:r>
          </a:p>
          <a:p>
            <a:pPr lvl="1">
              <a:lnSpc>
                <a:spcPct val="80000"/>
              </a:lnSpc>
              <a:buFontTx/>
              <a:buAutoNum type="arabicPeriod"/>
            </a:pPr>
            <a:r>
              <a:rPr lang="en-US" altLang="en-US" sz="800" dirty="0">
                <a:latin typeface="Arial" panose="020B0604020202020204" pitchFamily="34" charset="0"/>
              </a:rPr>
              <a:t>  Collect more equipment data</a:t>
            </a:r>
          </a:p>
          <a:p>
            <a:pPr lvl="1">
              <a:lnSpc>
                <a:spcPct val="80000"/>
              </a:lnSpc>
              <a:buFontTx/>
              <a:buAutoNum type="arabicPeriod"/>
            </a:pPr>
            <a:r>
              <a:rPr lang="en-US" altLang="en-US" sz="800" dirty="0">
                <a:latin typeface="Arial" panose="020B0604020202020204" pitchFamily="34" charset="0"/>
              </a:rPr>
              <a:t>  Spend more time on machine improvements</a:t>
            </a:r>
          </a:p>
          <a:p>
            <a:pPr lvl="1">
              <a:lnSpc>
                <a:spcPct val="80000"/>
              </a:lnSpc>
              <a:buFontTx/>
              <a:buAutoNum type="arabicPeriod"/>
            </a:pPr>
            <a:r>
              <a:rPr lang="en-US" altLang="en-US" sz="800" dirty="0">
                <a:latin typeface="Arial" panose="020B0604020202020204" pitchFamily="34" charset="0"/>
              </a:rPr>
              <a:t>  Focus on improving speed of repairs</a:t>
            </a:r>
          </a:p>
          <a:p>
            <a:pPr lvl="1">
              <a:lnSpc>
                <a:spcPct val="80000"/>
              </a:lnSpc>
              <a:buFontTx/>
              <a:buAutoNum type="arabicPeriod"/>
            </a:pPr>
            <a:r>
              <a:rPr lang="en-US" altLang="en-US" sz="800" dirty="0">
                <a:latin typeface="Arial" panose="020B0604020202020204" pitchFamily="34" charset="0"/>
              </a:rPr>
              <a:t>  More predictive maintenance</a:t>
            </a:r>
          </a:p>
          <a:p>
            <a:pPr lvl="1">
              <a:lnSpc>
                <a:spcPct val="80000"/>
              </a:lnSpc>
              <a:buFontTx/>
              <a:buAutoNum type="arabicPeriod"/>
            </a:pPr>
            <a:r>
              <a:rPr lang="en-US" altLang="en-US" sz="800" dirty="0">
                <a:latin typeface="Arial" panose="020B0604020202020204" pitchFamily="34" charset="0"/>
              </a:rPr>
              <a:t>  More time to document what happened &amp; why</a:t>
            </a:r>
          </a:p>
          <a:p>
            <a:pPr lvl="1">
              <a:lnSpc>
                <a:spcPct val="80000"/>
              </a:lnSpc>
              <a:buFontTx/>
              <a:buAutoNum type="arabicPeriod"/>
            </a:pPr>
            <a:r>
              <a:rPr lang="en-US" altLang="en-US" sz="800" dirty="0">
                <a:latin typeface="Arial" panose="020B0604020202020204" pitchFamily="34" charset="0"/>
              </a:rPr>
              <a:t>  Increased focus on root cause analysis in problem solving</a:t>
            </a:r>
          </a:p>
          <a:p>
            <a:pPr lvl="1">
              <a:lnSpc>
                <a:spcPct val="80000"/>
              </a:lnSpc>
              <a:buFontTx/>
              <a:buAutoNum type="arabicPeriod"/>
            </a:pPr>
            <a:r>
              <a:rPr lang="en-US" altLang="en-US" sz="800" dirty="0">
                <a:latin typeface="Arial" panose="020B0604020202020204" pitchFamily="34" charset="0"/>
              </a:rPr>
              <a:t>  Well organized flow of work and materials</a:t>
            </a:r>
          </a:p>
          <a:p>
            <a:pPr lvl="1">
              <a:lnSpc>
                <a:spcPct val="80000"/>
              </a:lnSpc>
              <a:buFontTx/>
              <a:buAutoNum type="arabicPeriod"/>
            </a:pPr>
            <a:r>
              <a:rPr lang="en-US" altLang="en-US" sz="800" dirty="0">
                <a:latin typeface="Arial" panose="020B0604020202020204" pitchFamily="34" charset="0"/>
              </a:rPr>
              <a:t>  Upfront evaluation of maintenance issues during pre-install</a:t>
            </a:r>
          </a:p>
          <a:p>
            <a:pPr lvl="1">
              <a:lnSpc>
                <a:spcPct val="80000"/>
              </a:lnSpc>
              <a:buFontTx/>
              <a:buAutoNum type="arabicPeriod"/>
            </a:pPr>
            <a:r>
              <a:rPr lang="en-US" altLang="en-US" sz="800" dirty="0">
                <a:latin typeface="Arial" panose="020B0604020202020204" pitchFamily="34" charset="0"/>
              </a:rPr>
              <a:t> Develop methods to error proof maintenance work </a:t>
            </a:r>
          </a:p>
          <a:p>
            <a:pPr lvl="1">
              <a:lnSpc>
                <a:spcPct val="80000"/>
              </a:lnSpc>
              <a:buFontTx/>
              <a:buAutoNum type="arabicPeriod"/>
            </a:pPr>
            <a:r>
              <a:rPr lang="en-US" altLang="en-US" sz="800" dirty="0">
                <a:latin typeface="Arial" panose="020B0604020202020204" pitchFamily="34" charset="0"/>
              </a:rPr>
              <a:t> Less random tasks, more planning</a:t>
            </a:r>
          </a:p>
          <a:p>
            <a:pPr lvl="1">
              <a:lnSpc>
                <a:spcPct val="80000"/>
              </a:lnSpc>
              <a:buFontTx/>
              <a:buAutoNum type="arabicPeriod"/>
            </a:pPr>
            <a:r>
              <a:rPr lang="en-US" altLang="en-US" sz="800" dirty="0">
                <a:latin typeface="Arial" panose="020B0604020202020204" pitchFamily="34" charset="0"/>
              </a:rPr>
              <a:t> Maintenance &amp; machine operator partnerships</a:t>
            </a:r>
          </a:p>
          <a:p>
            <a:pPr lvl="1">
              <a:lnSpc>
                <a:spcPct val="80000"/>
              </a:lnSpc>
              <a:buFontTx/>
              <a:buAutoNum type="arabicPeriod"/>
            </a:pPr>
            <a:r>
              <a:rPr lang="en-US" altLang="en-US" sz="800" dirty="0">
                <a:latin typeface="Arial" panose="020B0604020202020204" pitchFamily="34" charset="0"/>
              </a:rPr>
              <a:t> More skills training for operators</a:t>
            </a:r>
          </a:p>
          <a:p>
            <a:pPr lvl="1">
              <a:lnSpc>
                <a:spcPct val="80000"/>
              </a:lnSpc>
              <a:buFontTx/>
              <a:buAutoNum type="arabicPeriod"/>
            </a:pPr>
            <a:r>
              <a:rPr lang="en-US" altLang="en-US" sz="800" dirty="0">
                <a:latin typeface="Arial" panose="020B0604020202020204" pitchFamily="34" charset="0"/>
              </a:rPr>
              <a:t> More pre-inspection &amp; pre-analysis</a:t>
            </a:r>
          </a:p>
          <a:p>
            <a:pPr lvl="1">
              <a:lnSpc>
                <a:spcPct val="80000"/>
              </a:lnSpc>
              <a:buFontTx/>
              <a:buAutoNum type="arabicPeriod"/>
            </a:pPr>
            <a:r>
              <a:rPr lang="en-US" altLang="en-US" sz="800" dirty="0">
                <a:latin typeface="Arial" panose="020B0604020202020204" pitchFamily="34" charset="0"/>
              </a:rPr>
              <a:t> Standardized maintenance protocol</a:t>
            </a:r>
          </a:p>
          <a:p>
            <a:pPr lvl="1">
              <a:lnSpc>
                <a:spcPct val="80000"/>
              </a:lnSpc>
              <a:buFontTx/>
              <a:buAutoNum type="arabicPeriod"/>
            </a:pPr>
            <a:r>
              <a:rPr lang="en-US" altLang="en-US" sz="800" dirty="0">
                <a:latin typeface="Arial" panose="020B0604020202020204" pitchFamily="34" charset="0"/>
              </a:rPr>
              <a:t> Move away from returning equipment back to baseline, and toward optimizing equipment</a:t>
            </a:r>
          </a:p>
          <a:p>
            <a:pPr lvl="1">
              <a:lnSpc>
                <a:spcPct val="80000"/>
              </a:lnSpc>
            </a:pPr>
            <a:endParaRPr lang="en-US" altLang="en-US" sz="800" dirty="0">
              <a:latin typeface="Arial" panose="020B0604020202020204" pitchFamily="34" charset="0"/>
            </a:endParaRPr>
          </a:p>
          <a:p>
            <a:pPr>
              <a:lnSpc>
                <a:spcPct val="80000"/>
              </a:lnSpc>
            </a:pPr>
            <a:endParaRPr lang="en-US" altLang="en-US" sz="8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186023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So why are we here? What do we want to accomplish?</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Cover points on the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3079398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119588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Discuss the behaviors associated with the traditional model. (Thinking very functionally, this is someone else</a:t>
            </a:r>
            <a:r>
              <a:rPr lang="ja-JP" altLang="en-US" dirty="0">
                <a:latin typeface="Arial" panose="020B0604020202020204" pitchFamily="34" charset="0"/>
              </a:rPr>
              <a:t>’</a:t>
            </a:r>
            <a:r>
              <a:rPr lang="en-US" altLang="ja-JP" dirty="0">
                <a:latin typeface="Arial" panose="020B0604020202020204" pitchFamily="34" charset="0"/>
              </a:rPr>
              <a:t>s job or responsibility… etc.)</a:t>
            </a: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Each department has unique knowledge and experience for each piece of equipment.  TPM will combine the strengths into a systematic Continuous Improvement maintenance program.</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410657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How does TPM improve each of these elements?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783277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80000"/>
              </a:lnSpc>
              <a:buFontTx/>
              <a:buNone/>
            </a:pPr>
            <a:r>
              <a:rPr lang="en-US" altLang="en-US" sz="1400" b="1" dirty="0">
                <a:latin typeface="Arial" panose="020B0604020202020204" pitchFamily="34" charset="0"/>
                <a:sym typeface="MS Outlook" panose="05010100010000000000" pitchFamily="2" charset="2"/>
              </a:rPr>
              <a:t>SAY:</a:t>
            </a:r>
            <a:r>
              <a:rPr lang="en-US" altLang="en-US" sz="1400" dirty="0">
                <a:latin typeface="Arial" panose="020B0604020202020204" pitchFamily="34" charset="0"/>
              </a:rPr>
              <a:t> </a:t>
            </a:r>
            <a:r>
              <a:rPr lang="ja-JP" altLang="en-US" sz="1400" dirty="0">
                <a:latin typeface="Arial" panose="020B0604020202020204" pitchFamily="34" charset="0"/>
              </a:rPr>
              <a:t>“</a:t>
            </a:r>
            <a:r>
              <a:rPr lang="en-US" altLang="ja-JP" sz="1400" dirty="0">
                <a:latin typeface="Arial" panose="020B0604020202020204" pitchFamily="34" charset="0"/>
              </a:rPr>
              <a:t>The product that maintenance offers </a:t>
            </a:r>
            <a:r>
              <a:rPr lang="en-US" altLang="ja-JP" sz="1400" b="1" dirty="0">
                <a:latin typeface="Arial" panose="020B0604020202020204" pitchFamily="34" charset="0"/>
              </a:rPr>
              <a:t>is capacity</a:t>
            </a:r>
            <a:r>
              <a:rPr lang="en-US" altLang="ja-JP" sz="1400" dirty="0">
                <a:latin typeface="Arial" panose="020B0604020202020204" pitchFamily="34" charset="0"/>
              </a:rPr>
              <a:t>. The more the equipment is up and running efficiently, the more product can be made.</a:t>
            </a:r>
            <a:r>
              <a:rPr lang="ja-JP" altLang="en-US" sz="1400" dirty="0">
                <a:latin typeface="Arial" panose="020B0604020202020204" pitchFamily="34" charset="0"/>
              </a:rPr>
              <a:t>”</a:t>
            </a:r>
            <a:endParaRPr lang="en-US" altLang="ja-JP" sz="1400" dirty="0">
              <a:latin typeface="Arial" panose="020B0604020202020204" pitchFamily="34" charset="0"/>
            </a:endParaRPr>
          </a:p>
          <a:p>
            <a:pPr lvl="1">
              <a:lnSpc>
                <a:spcPct val="80000"/>
              </a:lnSpc>
              <a:buFontTx/>
              <a:buNone/>
            </a:pPr>
            <a:endParaRPr lang="en-US" altLang="en-US" sz="1400" dirty="0">
              <a:latin typeface="Arial" panose="020B0604020202020204" pitchFamily="34" charset="0"/>
            </a:endParaRPr>
          </a:p>
          <a:p>
            <a:pPr lvl="1">
              <a:lnSpc>
                <a:spcPct val="80000"/>
              </a:lnSpc>
              <a:buFontTx/>
              <a:buNone/>
            </a:pPr>
            <a:r>
              <a:rPr lang="en-US" altLang="en-US" sz="1400" b="1" dirty="0">
                <a:latin typeface="Arial" panose="020B0604020202020204" pitchFamily="34" charset="0"/>
              </a:rPr>
              <a:t>SAY</a:t>
            </a:r>
            <a:r>
              <a:rPr lang="en-US" altLang="en-US" sz="1400" dirty="0">
                <a:latin typeface="Arial" panose="020B0604020202020204" pitchFamily="34" charset="0"/>
              </a:rPr>
              <a:t>: </a:t>
            </a:r>
            <a:r>
              <a:rPr lang="ja-JP" altLang="en-US" sz="1400" dirty="0">
                <a:latin typeface="Arial" panose="020B0604020202020204" pitchFamily="34" charset="0"/>
              </a:rPr>
              <a:t>“</a:t>
            </a:r>
            <a:r>
              <a:rPr lang="en-US" altLang="ja-JP" sz="1400" dirty="0">
                <a:latin typeface="Arial" panose="020B0604020202020204" pitchFamily="34" charset="0"/>
              </a:rPr>
              <a:t>Opening capacity will result in unneeded additional asset purchases and resources to run the equipment.</a:t>
            </a:r>
            <a:r>
              <a:rPr lang="ja-JP" altLang="en-US" sz="1400" dirty="0">
                <a:latin typeface="Arial" panose="020B0604020202020204" pitchFamily="34" charset="0"/>
              </a:rPr>
              <a:t>”</a:t>
            </a:r>
            <a:endParaRPr lang="en-US" altLang="ja-JP" sz="1400" dirty="0">
              <a:latin typeface="Arial" panose="020B0604020202020204" pitchFamily="34" charset="0"/>
            </a:endParaRPr>
          </a:p>
          <a:p>
            <a:pPr lvl="1">
              <a:lnSpc>
                <a:spcPct val="80000"/>
              </a:lnSpc>
              <a:buFontTx/>
              <a:buNone/>
            </a:pPr>
            <a:endParaRPr lang="en-US" altLang="en-US" sz="1400" dirty="0">
              <a:latin typeface="Arial" panose="020B0604020202020204" pitchFamily="34" charset="0"/>
            </a:endParaRPr>
          </a:p>
          <a:p>
            <a:pPr lvl="1">
              <a:lnSpc>
                <a:spcPct val="80000"/>
              </a:lnSpc>
              <a:buFontTx/>
              <a:buNone/>
            </a:pPr>
            <a:endParaRPr lang="en-US" altLang="en-US" sz="1400"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440556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SAY:</a:t>
            </a:r>
            <a:r>
              <a:rPr lang="en-US" altLang="en-US" dirty="0">
                <a:latin typeface="Arial" panose="020B0604020202020204" pitchFamily="34" charset="0"/>
                <a:sym typeface="MS Outlook" panose="05010100010000000000" pitchFamily="2" charset="2"/>
              </a:rPr>
              <a:t> </a:t>
            </a:r>
            <a:r>
              <a:rPr lang="ja-JP" altLang="en-US" dirty="0">
                <a:latin typeface="Arial" panose="020B0604020202020204" pitchFamily="34" charset="0"/>
              </a:rPr>
              <a:t>“</a:t>
            </a:r>
            <a:r>
              <a:rPr lang="en-US" altLang="ja-JP" dirty="0">
                <a:latin typeface="Arial" panose="020B0604020202020204" pitchFamily="34" charset="0"/>
              </a:rPr>
              <a:t>We don</a:t>
            </a:r>
            <a:r>
              <a:rPr lang="ja-JP" altLang="en-US" dirty="0">
                <a:latin typeface="Arial" panose="020B0604020202020204" pitchFamily="34" charset="0"/>
              </a:rPr>
              <a:t>’</a:t>
            </a:r>
            <a:r>
              <a:rPr lang="en-US" altLang="ja-JP" dirty="0">
                <a:latin typeface="Arial" panose="020B0604020202020204" pitchFamily="34" charset="0"/>
              </a:rPr>
              <a:t>t just want to make changes - anything done in a focused event has to be of value to the company. To make certain we produce the best results we will use a tried and true method :      </a:t>
            </a:r>
            <a:br>
              <a:rPr lang="en-US" altLang="ja-JP" dirty="0">
                <a:latin typeface="Arial" panose="020B0604020202020204" pitchFamily="34" charset="0"/>
              </a:rPr>
            </a:br>
            <a:r>
              <a:rPr lang="en-US" altLang="ja-JP" dirty="0">
                <a:latin typeface="Arial" panose="020B0604020202020204" pitchFamily="34" charset="0"/>
              </a:rPr>
              <a:t>PDCA =  Plan, Do, Check, Act</a:t>
            </a:r>
          </a:p>
          <a:p>
            <a:r>
              <a:rPr lang="en-US" altLang="en-US" dirty="0">
                <a:latin typeface="Arial" panose="020B0604020202020204" pitchFamily="34" charset="0"/>
              </a:rPr>
              <a:t>Events should be tied to Future State Value Stream Map </a:t>
            </a:r>
            <a:r>
              <a:rPr lang="ja-JP" altLang="en-US" dirty="0">
                <a:latin typeface="Arial" panose="020B0604020202020204" pitchFamily="34" charset="0"/>
              </a:rPr>
              <a:t>“</a:t>
            </a:r>
            <a:r>
              <a:rPr lang="en-US" altLang="ja-JP" dirty="0">
                <a:latin typeface="Arial" panose="020B0604020202020204" pitchFamily="34" charset="0"/>
              </a:rPr>
              <a:t>Kaizen Bursts</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dirty="0">
                <a:latin typeface="Arial" panose="020B0604020202020204" pitchFamily="34" charset="0"/>
              </a:rPr>
              <a:t>Where does this event fit into the map? What results should we achieve?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3907352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TPM process will allow you to capture meaningful and useful data to establish a baseline.</a:t>
            </a:r>
          </a:p>
          <a:p>
            <a:endParaRPr lang="en-US" altLang="en-US" dirty="0">
              <a:latin typeface="Arial" panose="020B0604020202020204" pitchFamily="34" charset="0"/>
            </a:endParaRPr>
          </a:p>
          <a:p>
            <a:r>
              <a:rPr lang="en-US" altLang="en-US" dirty="0">
                <a:latin typeface="Arial" panose="020B0604020202020204" pitchFamily="34" charset="0"/>
              </a:rPr>
              <a:t>PDCA cycle will be used to drive improved results, using data and </a:t>
            </a:r>
            <a:r>
              <a:rPr lang="ja-JP" altLang="en-US" dirty="0">
                <a:latin typeface="Arial" panose="020B0604020202020204" pitchFamily="34" charset="0"/>
              </a:rPr>
              <a:t>“</a:t>
            </a:r>
            <a:r>
              <a:rPr lang="en-US" altLang="ja-JP" dirty="0">
                <a:latin typeface="Arial" panose="020B0604020202020204" pitchFamily="34" charset="0"/>
              </a:rPr>
              <a:t>scientific</a:t>
            </a:r>
            <a:r>
              <a:rPr lang="ja-JP" altLang="en-US" dirty="0">
                <a:latin typeface="Arial" panose="020B0604020202020204" pitchFamily="34" charset="0"/>
              </a:rPr>
              <a:t>”</a:t>
            </a:r>
            <a:r>
              <a:rPr lang="en-US" altLang="ja-JP" dirty="0">
                <a:latin typeface="Arial" panose="020B0604020202020204" pitchFamily="34" charset="0"/>
              </a:rPr>
              <a:t> methods to eliminate root causes of downtime.</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3250519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TPM will lead to new procedures and checks for operators.  Maintenance will have a new focus of solving the problem versus just a quick fix to get it running again until another breakdown.  This will lead to countermeasures and modifications to equipment for permanent solutions.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42729191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800" b="1" dirty="0">
                <a:latin typeface="Arial" panose="020B0604020202020204" pitchFamily="34" charset="0"/>
              </a:rPr>
              <a:t>SAY:</a:t>
            </a:r>
            <a:r>
              <a:rPr lang="en-US" altLang="en-US" sz="800" dirty="0">
                <a:latin typeface="Arial" panose="020B0604020202020204" pitchFamily="34" charset="0"/>
              </a:rPr>
              <a:t> This is why we are here.  </a:t>
            </a:r>
          </a:p>
          <a:p>
            <a:pPr>
              <a:lnSpc>
                <a:spcPct val="80000"/>
              </a:lnSpc>
            </a:pPr>
            <a:r>
              <a:rPr lang="en-US" altLang="en-US" sz="800" dirty="0">
                <a:latin typeface="Arial" panose="020B0604020202020204" pitchFamily="34" charset="0"/>
              </a:rPr>
              <a:t>Example: We will find ways to reduce unplanned downtime by 50% and yield losses by 50%. To do this we have to analyze maintenance data to determine the root causes of our downtime and our yield losses.  What can we do to increase the capacity of the plant? What can we do to reduce the losses from defects caused by poorly operating equipment? </a:t>
            </a:r>
            <a:r>
              <a:rPr lang="en-US" altLang="en-US" sz="800" b="1" dirty="0">
                <a:latin typeface="Arial" panose="020B0604020202020204" pitchFamily="34" charset="0"/>
              </a:rPr>
              <a:t>Insert details for your company and departments. Describe the project they will be assigned in very specific terms.</a:t>
            </a:r>
          </a:p>
          <a:p>
            <a:pPr lvl="1">
              <a:lnSpc>
                <a:spcPct val="80000"/>
              </a:lnSpc>
            </a:pPr>
            <a:r>
              <a:rPr lang="en-US" altLang="en-US" sz="800" b="1" dirty="0">
                <a:latin typeface="Arial" panose="020B0604020202020204" pitchFamily="34" charset="0"/>
              </a:rPr>
              <a:t>GO  OVER  THE  PROJECT  DEFINITION  PAGE  IN  DETAIL.</a:t>
            </a:r>
            <a:endParaRPr lang="en-US" altLang="en-US" sz="800" dirty="0">
              <a:latin typeface="Arial" panose="020B0604020202020204" pitchFamily="34" charset="0"/>
            </a:endParaRPr>
          </a:p>
          <a:p>
            <a:pPr lvl="1">
              <a:lnSpc>
                <a:spcPct val="80000"/>
              </a:lnSpc>
            </a:pPr>
            <a:r>
              <a:rPr lang="en-US" altLang="en-US" sz="800" dirty="0">
                <a:latin typeface="Arial" panose="020B0604020202020204" pitchFamily="34" charset="0"/>
              </a:rPr>
              <a:t>Make sure everyone understands the scope of work and the deliverables.</a:t>
            </a:r>
          </a:p>
          <a:p>
            <a:pPr lvl="1">
              <a:lnSpc>
                <a:spcPct val="80000"/>
              </a:lnSpc>
            </a:pPr>
            <a:r>
              <a:rPr lang="en-US" altLang="en-US" sz="800" dirty="0">
                <a:latin typeface="Arial" panose="020B0604020202020204" pitchFamily="34" charset="0"/>
              </a:rPr>
              <a:t>EXPLAIN WHY THIS PIECE OF EQUIPMENT WAS SELECTED – Is it critical to the process? Is it pivotal for the next stages of improvement?</a:t>
            </a:r>
          </a:p>
          <a:p>
            <a:pPr>
              <a:lnSpc>
                <a:spcPct val="80000"/>
              </a:lnSpc>
            </a:pPr>
            <a:r>
              <a:rPr lang="en-US" altLang="en-US" sz="800" b="1" dirty="0">
                <a:latin typeface="Arial" panose="020B0604020202020204" pitchFamily="34" charset="0"/>
                <a:sym typeface="MS Outlook" panose="05010100010000000000" pitchFamily="2" charset="2"/>
              </a:rPr>
              <a:t>DO: </a:t>
            </a:r>
            <a:r>
              <a:rPr lang="en-US" altLang="en-US" sz="800" b="1" dirty="0">
                <a:latin typeface="Arial" panose="020B0604020202020204" pitchFamily="34" charset="0"/>
              </a:rPr>
              <a:t>Specifically describe on which areas or departments we are focused here today.</a:t>
            </a:r>
          </a:p>
          <a:p>
            <a:pPr>
              <a:lnSpc>
                <a:spcPct val="80000"/>
              </a:lnSpc>
            </a:pPr>
            <a:r>
              <a:rPr lang="en-US" altLang="en-US" sz="800" b="1" dirty="0">
                <a:latin typeface="Arial" panose="020B0604020202020204" pitchFamily="34" charset="0"/>
                <a:sym typeface="MS Outlook" panose="05010100010000000000" pitchFamily="2" charset="2"/>
              </a:rPr>
              <a:t>DO: </a:t>
            </a:r>
            <a:r>
              <a:rPr lang="en-US" altLang="en-US" sz="800" b="1" dirty="0">
                <a:latin typeface="Arial" panose="020B0604020202020204" pitchFamily="34" charset="0"/>
              </a:rPr>
              <a:t>Set the boundaries  -  where each </a:t>
            </a:r>
            <a:r>
              <a:rPr lang="ja-JP" altLang="en-US" sz="800" b="1" dirty="0">
                <a:latin typeface="Arial" panose="020B0604020202020204" pitchFamily="34" charset="0"/>
              </a:rPr>
              <a:t>“</a:t>
            </a:r>
            <a:r>
              <a:rPr lang="en-US" altLang="ja-JP" sz="800" b="1" dirty="0">
                <a:latin typeface="Arial" panose="020B0604020202020204" pitchFamily="34" charset="0"/>
              </a:rPr>
              <a:t>process</a:t>
            </a:r>
            <a:r>
              <a:rPr lang="ja-JP" altLang="en-US" sz="800" b="1" dirty="0">
                <a:latin typeface="Arial" panose="020B0604020202020204" pitchFamily="34" charset="0"/>
              </a:rPr>
              <a:t>”</a:t>
            </a:r>
            <a:r>
              <a:rPr lang="en-US" altLang="ja-JP" sz="800" b="1" dirty="0">
                <a:latin typeface="Arial" panose="020B0604020202020204" pitchFamily="34" charset="0"/>
              </a:rPr>
              <a:t> starts and where it ends.</a:t>
            </a:r>
          </a:p>
          <a:p>
            <a:pPr>
              <a:lnSpc>
                <a:spcPct val="80000"/>
              </a:lnSpc>
              <a:buFontTx/>
              <a:buChar char="•"/>
            </a:pPr>
            <a:r>
              <a:rPr lang="en-US" altLang="en-US" sz="800" dirty="0">
                <a:latin typeface="Arial" panose="020B0604020202020204" pitchFamily="34" charset="0"/>
              </a:rPr>
              <a:t>REDUCE UNPLANNED DOWNTIME BY 50% - only want equipment to be down when we have a planned maintenance event, or no work.</a:t>
            </a:r>
          </a:p>
          <a:p>
            <a:pPr>
              <a:lnSpc>
                <a:spcPct val="80000"/>
              </a:lnSpc>
              <a:buFontTx/>
              <a:buChar char="•"/>
            </a:pPr>
            <a:r>
              <a:rPr lang="en-US" altLang="en-US" sz="800" dirty="0">
                <a:latin typeface="Arial" panose="020B0604020202020204" pitchFamily="34" charset="0"/>
              </a:rPr>
              <a:t>REDUCE YIELD LOSSES BY 50% - reduce losses due to equipment problems.</a:t>
            </a:r>
          </a:p>
          <a:p>
            <a:pPr>
              <a:lnSpc>
                <a:spcPct val="80000"/>
              </a:lnSpc>
              <a:buFontTx/>
              <a:buChar char="•"/>
            </a:pPr>
            <a:r>
              <a:rPr lang="en-US" altLang="en-US" sz="800" dirty="0">
                <a:latin typeface="Arial" panose="020B0604020202020204" pitchFamily="34" charset="0"/>
              </a:rPr>
              <a:t>FIND ROOT CAUSE OF DOWNTIME - get to root cause of what causes equipment failures, how often is it happening? </a:t>
            </a:r>
          </a:p>
          <a:p>
            <a:pPr>
              <a:lnSpc>
                <a:spcPct val="80000"/>
              </a:lnSpc>
              <a:buFontTx/>
              <a:buChar char="•"/>
            </a:pPr>
            <a:r>
              <a:rPr lang="en-US" altLang="en-US" sz="800" dirty="0">
                <a:latin typeface="Arial" panose="020B0604020202020204" pitchFamily="34" charset="0"/>
              </a:rPr>
              <a:t>FIND ROOT CAUSE OF REDUCED PERFORMANCE – of the equipment, why </a:t>
            </a:r>
            <a:r>
              <a:rPr lang="en-US" altLang="en-US" sz="800" dirty="0" err="1">
                <a:latin typeface="Arial" panose="020B0604020202020204" pitchFamily="34" charset="0"/>
              </a:rPr>
              <a:t>isn</a:t>
            </a:r>
            <a:r>
              <a:rPr lang="ja-JP" altLang="en-US" sz="800" dirty="0">
                <a:latin typeface="Arial" panose="020B0604020202020204" pitchFamily="34" charset="0"/>
              </a:rPr>
              <a:t>’</a:t>
            </a:r>
            <a:r>
              <a:rPr lang="en-US" altLang="ja-JP" sz="800" dirty="0">
                <a:latin typeface="Arial" panose="020B0604020202020204" pitchFamily="34" charset="0"/>
              </a:rPr>
              <a:t>t it running at top speed?</a:t>
            </a:r>
          </a:p>
          <a:p>
            <a:pPr>
              <a:lnSpc>
                <a:spcPct val="80000"/>
              </a:lnSpc>
              <a:buFontTx/>
              <a:buChar char="•"/>
            </a:pPr>
            <a:r>
              <a:rPr lang="en-US" altLang="en-US" sz="800" dirty="0">
                <a:latin typeface="Arial" panose="020B0604020202020204" pitchFamily="34" charset="0"/>
              </a:rPr>
              <a:t>INCREASE RELIABILITY – of the equipment, need predictability.</a:t>
            </a:r>
          </a:p>
          <a:p>
            <a:pPr>
              <a:lnSpc>
                <a:spcPct val="80000"/>
              </a:lnSpc>
              <a:buFontTx/>
              <a:buChar char="•"/>
            </a:pPr>
            <a:r>
              <a:rPr lang="en-US" altLang="en-US" sz="800" dirty="0">
                <a:latin typeface="Arial" panose="020B0604020202020204" pitchFamily="34" charset="0"/>
              </a:rPr>
              <a:t>INCREASE EFFECTIVENESS – of the equipment – that it does everything it is supposed to do, and does those operations well.</a:t>
            </a:r>
          </a:p>
          <a:p>
            <a:pPr>
              <a:lnSpc>
                <a:spcPct val="80000"/>
              </a:lnSpc>
              <a:buFontTx/>
              <a:buChar char="•"/>
            </a:pPr>
            <a:r>
              <a:rPr lang="en-US" altLang="en-US" sz="800" dirty="0">
                <a:latin typeface="Arial" panose="020B0604020202020204" pitchFamily="34" charset="0"/>
              </a:rPr>
              <a:t>IMPROVE MAINTENANCE RESPONSE TIMES – </a:t>
            </a:r>
            <a:r>
              <a:rPr lang="en-US" altLang="en-US" sz="800" u="sng" dirty="0">
                <a:latin typeface="Arial" panose="020B0604020202020204" pitchFamily="34" charset="0"/>
              </a:rPr>
              <a:t>caution: this one could upset people if you don</a:t>
            </a:r>
            <a:r>
              <a:rPr lang="ja-JP" altLang="en-US" sz="800" u="sng" dirty="0">
                <a:latin typeface="Arial" panose="020B0604020202020204" pitchFamily="34" charset="0"/>
              </a:rPr>
              <a:t>’</a:t>
            </a:r>
            <a:r>
              <a:rPr lang="en-US" altLang="ja-JP" sz="800" u="sng" dirty="0">
                <a:latin typeface="Arial" panose="020B0604020202020204" pitchFamily="34" charset="0"/>
              </a:rPr>
              <a:t>t frame it right</a:t>
            </a:r>
            <a:r>
              <a:rPr lang="en-US" altLang="ja-JP" sz="800" dirty="0">
                <a:latin typeface="Arial" panose="020B0604020202020204" pitchFamily="34" charset="0"/>
              </a:rPr>
              <a:t>. The point </a:t>
            </a:r>
            <a:r>
              <a:rPr lang="en-US" altLang="ja-JP" sz="800" dirty="0" err="1">
                <a:latin typeface="Arial" panose="020B0604020202020204" pitchFamily="34" charset="0"/>
              </a:rPr>
              <a:t>isn</a:t>
            </a:r>
            <a:r>
              <a:rPr lang="ja-JP" altLang="en-US" sz="800" dirty="0">
                <a:latin typeface="Arial" panose="020B0604020202020204" pitchFamily="34" charset="0"/>
              </a:rPr>
              <a:t>’</a:t>
            </a:r>
            <a:r>
              <a:rPr lang="en-US" altLang="ja-JP" sz="800" dirty="0">
                <a:latin typeface="Arial" panose="020B0604020202020204" pitchFamily="34" charset="0"/>
              </a:rPr>
              <a:t>t that maintenance </a:t>
            </a:r>
            <a:r>
              <a:rPr lang="en-US" altLang="ja-JP" sz="800" dirty="0" err="1">
                <a:latin typeface="Arial" panose="020B0604020202020204" pitchFamily="34" charset="0"/>
              </a:rPr>
              <a:t>isn</a:t>
            </a:r>
            <a:r>
              <a:rPr lang="ja-JP" altLang="en-US" sz="800" dirty="0">
                <a:latin typeface="Arial" panose="020B0604020202020204" pitchFamily="34" charset="0"/>
              </a:rPr>
              <a:t>’</a:t>
            </a:r>
            <a:r>
              <a:rPr lang="en-US" altLang="ja-JP" sz="800" dirty="0">
                <a:latin typeface="Arial" panose="020B0604020202020204" pitchFamily="34" charset="0"/>
              </a:rPr>
              <a:t>t responsive, or customer service oriented. </a:t>
            </a:r>
            <a:r>
              <a:rPr lang="en-US" altLang="ja-JP" sz="800" b="1" dirty="0">
                <a:latin typeface="Arial" panose="020B0604020202020204" pitchFamily="34" charset="0"/>
              </a:rPr>
              <a:t>They are.</a:t>
            </a:r>
            <a:r>
              <a:rPr lang="en-US" altLang="ja-JP" sz="800" dirty="0">
                <a:latin typeface="Arial" panose="020B0604020202020204" pitchFamily="34" charset="0"/>
              </a:rPr>
              <a:t>  But they also have to set priorities and they cannot get to everything at once. So how long does it take before maintenance can respond to a problem on a critical piece of equipment? Is that an acceptable amount of time? Why </a:t>
            </a:r>
            <a:r>
              <a:rPr lang="en-US" altLang="ja-JP" sz="800" dirty="0" err="1">
                <a:latin typeface="Arial" panose="020B0604020202020204" pitchFamily="34" charset="0"/>
              </a:rPr>
              <a:t>isn</a:t>
            </a:r>
            <a:r>
              <a:rPr lang="ja-JP" altLang="en-US" sz="800" dirty="0">
                <a:latin typeface="Arial" panose="020B0604020202020204" pitchFamily="34" charset="0"/>
              </a:rPr>
              <a:t>’</a:t>
            </a:r>
            <a:r>
              <a:rPr lang="en-US" altLang="ja-JP" sz="800" dirty="0">
                <a:latin typeface="Arial" panose="020B0604020202020204" pitchFamily="34" charset="0"/>
              </a:rPr>
              <a:t>t the response time shorter? Because they have other fires to fight. Can we eliminate as many of the smaller fires as possible so that maintenance can respond quickly to the critical pieces of equipment? Sure we can, if we systematically implement TPM throughout the plant.</a:t>
            </a:r>
          </a:p>
          <a:p>
            <a:pPr lvl="1">
              <a:lnSpc>
                <a:spcPct val="80000"/>
              </a:lnSpc>
            </a:pPr>
            <a:r>
              <a:rPr lang="en-US" altLang="en-US" sz="800" dirty="0">
                <a:latin typeface="Arial" panose="020B0604020202020204" pitchFamily="34" charset="0"/>
                <a:sym typeface="WP IconicSymbolsA" pitchFamily="2" charset="2"/>
              </a:rPr>
              <a:t>  </a:t>
            </a:r>
            <a:r>
              <a:rPr lang="en-US" altLang="en-US" sz="800" dirty="0">
                <a:latin typeface="Arial" panose="020B0604020202020204" pitchFamily="34" charset="0"/>
              </a:rPr>
              <a:t>You want your group to have the project in mind while they hear everything else in today</a:t>
            </a:r>
            <a:r>
              <a:rPr lang="ja-JP" altLang="en-US" sz="800" dirty="0">
                <a:latin typeface="Arial" panose="020B0604020202020204" pitchFamily="34" charset="0"/>
              </a:rPr>
              <a:t>’</a:t>
            </a:r>
            <a:r>
              <a:rPr lang="en-US" altLang="ja-JP" sz="800" dirty="0">
                <a:latin typeface="Arial" panose="020B0604020202020204" pitchFamily="34" charset="0"/>
              </a:rPr>
              <a:t>s session. It all needs to tie to these objectives. </a:t>
            </a:r>
            <a:r>
              <a:rPr lang="en-US" altLang="ja-JP" sz="800" dirty="0">
                <a:latin typeface="Arial" panose="020B0604020202020204" pitchFamily="34" charset="0"/>
                <a:sym typeface="MS Outlook" panose="05010100010000000000" pitchFamily="2" charset="2"/>
              </a:rPr>
              <a:t>In fact, any time during the session, if they get off track, you can bring them back into focus by showing this slide again. This is what we are going to do. Any conversations that </a:t>
            </a:r>
            <a:r>
              <a:rPr lang="en-US" altLang="ja-JP" sz="800" dirty="0" err="1">
                <a:latin typeface="Arial" panose="020B0604020202020204" pitchFamily="34" charset="0"/>
                <a:sym typeface="MS Outlook" panose="05010100010000000000" pitchFamily="2" charset="2"/>
              </a:rPr>
              <a:t>aren</a:t>
            </a:r>
            <a:r>
              <a:rPr lang="ja-JP" altLang="en-US" sz="800" dirty="0">
                <a:latin typeface="Arial" panose="020B0604020202020204" pitchFamily="34" charset="0"/>
                <a:sym typeface="MS Outlook" panose="05010100010000000000" pitchFamily="2" charset="2"/>
              </a:rPr>
              <a:t>’</a:t>
            </a:r>
            <a:r>
              <a:rPr lang="en-US" altLang="ja-JP" sz="800" dirty="0">
                <a:latin typeface="Arial" panose="020B0604020202020204" pitchFamily="34" charset="0"/>
                <a:sym typeface="MS Outlook" panose="05010100010000000000" pitchFamily="2" charset="2"/>
              </a:rPr>
              <a:t>t about this work need to be tabled and issues recorded in the parking lot.</a:t>
            </a:r>
            <a:endParaRPr lang="en-US" altLang="ja-JP" sz="800" dirty="0">
              <a:latin typeface="Arial" panose="020B0604020202020204" pitchFamily="34" charset="0"/>
            </a:endParaRPr>
          </a:p>
          <a:p>
            <a:pPr lvl="1">
              <a:lnSpc>
                <a:spcPct val="80000"/>
              </a:lnSpc>
            </a:pPr>
            <a:r>
              <a:rPr lang="en-US" altLang="en-US" sz="800" dirty="0">
                <a:latin typeface="Arial" panose="020B0604020202020204" pitchFamily="34" charset="0"/>
                <a:sym typeface="WP IconicSymbolsA" pitchFamily="2" charset="2"/>
              </a:rPr>
              <a:t> </a:t>
            </a:r>
            <a:r>
              <a:rPr lang="en-US" altLang="en-US" sz="800" dirty="0">
                <a:latin typeface="Arial" panose="020B0604020202020204" pitchFamily="34" charset="0"/>
              </a:rPr>
              <a:t>The goal is set at a </a:t>
            </a:r>
            <a:r>
              <a:rPr lang="en-US" altLang="en-US" sz="800" b="1" i="1" dirty="0">
                <a:latin typeface="Arial" panose="020B0604020202020204" pitchFamily="34" charset="0"/>
              </a:rPr>
              <a:t>reasonable </a:t>
            </a:r>
            <a:r>
              <a:rPr lang="en-US" altLang="en-US" sz="800" dirty="0">
                <a:latin typeface="Arial" panose="020B0604020202020204" pitchFamily="34" charset="0"/>
              </a:rPr>
              <a:t>50% improvement!! No one actually knows if this is attainable, but try anyway. Maybe you can do better than that. If we make an improvement at all, We Win! And in the process of trying, we are likely to learn things that will lead to improvements later.</a:t>
            </a:r>
            <a:r>
              <a:rPr lang="en-US" altLang="en-US" sz="800" b="1" i="1" dirty="0">
                <a:latin typeface="Arial" panose="020B0604020202020204" pitchFamily="34" charset="0"/>
              </a:rPr>
              <a:t> </a:t>
            </a:r>
            <a:r>
              <a:rPr lang="en-US" altLang="en-US" sz="800" dirty="0">
                <a:latin typeface="Arial" panose="020B0604020202020204" pitchFamily="34" charset="0"/>
              </a:rPr>
              <a:t>We have been selected to do this because we are the people invested in this process and who have the expertise in this area. Some of us are here just to help give another perspective. We are going to work together to get this done. </a:t>
            </a:r>
            <a:r>
              <a:rPr lang="en-US" altLang="en-US" sz="800" b="1" dirty="0">
                <a:latin typeface="Arial" panose="020B0604020202020204" pitchFamily="34" charset="0"/>
              </a:rPr>
              <a:t>Collaboration!!</a:t>
            </a:r>
            <a:endParaRPr lang="en-US" altLang="en-US" sz="9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918967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4269516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S Outlook" panose="05010100010000000000" pitchFamily="2" charset="2"/>
              <a:buNone/>
            </a:pPr>
            <a:r>
              <a:rPr lang="en-US" altLang="en-US" sz="1000" b="1" dirty="0">
                <a:latin typeface="Arial" panose="020B0604020202020204" pitchFamily="34" charset="0"/>
                <a:sym typeface="MS Outlook" panose="05010100010000000000" pitchFamily="2" charset="2"/>
              </a:rPr>
              <a:t>SAY:</a:t>
            </a:r>
            <a:r>
              <a:rPr lang="en-US" altLang="en-US" sz="1000" b="1" dirty="0">
                <a:latin typeface="Arial" panose="020B0604020202020204" pitchFamily="34" charset="0"/>
              </a:rPr>
              <a:t> </a:t>
            </a:r>
            <a:r>
              <a:rPr lang="ja-JP" altLang="en-US" sz="1000" b="1" dirty="0">
                <a:latin typeface="Arial" panose="020B0604020202020204" pitchFamily="34" charset="0"/>
              </a:rPr>
              <a:t>“</a:t>
            </a:r>
            <a:r>
              <a:rPr lang="en-US" altLang="ja-JP" sz="1000" dirty="0">
                <a:latin typeface="Arial" panose="020B0604020202020204" pitchFamily="34" charset="0"/>
              </a:rPr>
              <a:t>Maintenance </a:t>
            </a:r>
            <a:r>
              <a:rPr lang="en-US" altLang="ja-JP" sz="1000" dirty="0" err="1">
                <a:latin typeface="Arial" panose="020B0604020202020204" pitchFamily="34" charset="0"/>
              </a:rPr>
              <a:t>doesn</a:t>
            </a:r>
            <a:r>
              <a:rPr lang="ja-JP" altLang="en-US" sz="1000" dirty="0">
                <a:latin typeface="Arial" panose="020B0604020202020204" pitchFamily="34" charset="0"/>
              </a:rPr>
              <a:t>’</a:t>
            </a:r>
            <a:r>
              <a:rPr lang="en-US" altLang="ja-JP" sz="1000" dirty="0">
                <a:latin typeface="Arial" panose="020B0604020202020204" pitchFamily="34" charset="0"/>
              </a:rPr>
              <a:t>t produce a revenue generating product! Instead what they provide the plant is capacity so that more of the revenue generating products can be made! Capacity is the product of the maintenance group.</a:t>
            </a:r>
            <a:r>
              <a:rPr lang="ja-JP" altLang="en-US" sz="1000" dirty="0">
                <a:latin typeface="Arial" panose="020B0604020202020204" pitchFamily="34" charset="0"/>
              </a:rPr>
              <a:t>”</a:t>
            </a:r>
            <a:endParaRPr lang="en-US" altLang="ja-JP" sz="1000" dirty="0">
              <a:latin typeface="Arial" panose="020B0604020202020204" pitchFamily="34" charset="0"/>
            </a:endParaRPr>
          </a:p>
          <a:p>
            <a:pPr>
              <a:buFont typeface="MS Outlook" panose="05010100010000000000" pitchFamily="2" charset="2"/>
              <a:buChar char="B"/>
            </a:pPr>
            <a:endParaRPr lang="en-US" altLang="en-US" sz="1000" b="1" dirty="0">
              <a:latin typeface="Arial" panose="020B0604020202020204" pitchFamily="34" charset="0"/>
            </a:endParaRPr>
          </a:p>
          <a:p>
            <a:pPr>
              <a:buFont typeface="MS Outlook" panose="05010100010000000000" pitchFamily="2" charset="2"/>
              <a:buNone/>
            </a:pPr>
            <a:r>
              <a:rPr lang="en-US" altLang="en-US" sz="1000" b="1" dirty="0">
                <a:latin typeface="Arial" panose="020B0604020202020204" pitchFamily="34" charset="0"/>
              </a:rPr>
              <a:t>Capacity =</a:t>
            </a:r>
          </a:p>
          <a:p>
            <a:pPr>
              <a:buFont typeface="MS Outlook" panose="05010100010000000000" pitchFamily="2" charset="2"/>
              <a:buNone/>
            </a:pPr>
            <a:r>
              <a:rPr lang="en-US" altLang="en-US" sz="1000" b="1" dirty="0">
                <a:latin typeface="Arial" panose="020B0604020202020204" pitchFamily="34" charset="0"/>
              </a:rPr>
              <a:t>More equipment availability – </a:t>
            </a:r>
            <a:r>
              <a:rPr lang="en-US" altLang="en-US" sz="1000" dirty="0">
                <a:latin typeface="Arial" panose="020B0604020202020204" pitchFamily="34" charset="0"/>
              </a:rPr>
              <a:t>uptime</a:t>
            </a:r>
          </a:p>
          <a:p>
            <a:pPr marL="1828800" lvl="4" indent="0">
              <a:buFont typeface="MS Outlook" panose="05010100010000000000" pitchFamily="2" charset="2"/>
              <a:buNone/>
            </a:pPr>
            <a:r>
              <a:rPr lang="en-US" altLang="en-US" sz="1000" dirty="0">
                <a:latin typeface="Arial" panose="020B0604020202020204" pitchFamily="34" charset="0"/>
              </a:rPr>
              <a:t>Longer time between failures (unplanned downtime, catastrophic failures, etc.)</a:t>
            </a:r>
          </a:p>
          <a:p>
            <a:pPr marL="1828800" lvl="4" indent="0">
              <a:buFont typeface="MS Outlook" panose="05010100010000000000" pitchFamily="2" charset="2"/>
              <a:buNone/>
            </a:pPr>
            <a:r>
              <a:rPr lang="en-US" altLang="en-US" sz="1000" dirty="0">
                <a:latin typeface="Arial" panose="020B0604020202020204" pitchFamily="34" charset="0"/>
              </a:rPr>
              <a:t>MTBF = mean time between failures (how long between failure events)</a:t>
            </a:r>
          </a:p>
          <a:p>
            <a:pPr>
              <a:buFont typeface="MS Outlook" panose="05010100010000000000" pitchFamily="2" charset="2"/>
              <a:buNone/>
            </a:pPr>
            <a:r>
              <a:rPr lang="en-US" altLang="en-US" sz="1000" b="1" dirty="0">
                <a:latin typeface="Arial" panose="020B0604020202020204" pitchFamily="34" charset="0"/>
              </a:rPr>
              <a:t>Better quality products – </a:t>
            </a:r>
            <a:r>
              <a:rPr lang="en-US" altLang="en-US" sz="1000" dirty="0">
                <a:latin typeface="Arial" panose="020B0604020202020204" pitchFamily="34" charset="0"/>
              </a:rPr>
              <a:t>less defects caused by equipment problems, does the fact that the tumble blast is running a little</a:t>
            </a:r>
          </a:p>
          <a:p>
            <a:pPr>
              <a:buFont typeface="MS Outlook" panose="05010100010000000000" pitchFamily="2" charset="2"/>
              <a:buNone/>
            </a:pPr>
            <a:r>
              <a:rPr lang="en-US" altLang="en-US" sz="1000" dirty="0">
                <a:latin typeface="Arial" panose="020B0604020202020204" pitchFamily="34" charset="0"/>
              </a:rPr>
              <a:t>slower than normal mean that the parts </a:t>
            </a:r>
            <a:r>
              <a:rPr lang="en-US" altLang="en-US" sz="1000" dirty="0" err="1">
                <a:latin typeface="Arial" panose="020B0604020202020204" pitchFamily="34" charset="0"/>
              </a:rPr>
              <a:t>aren</a:t>
            </a:r>
            <a:r>
              <a:rPr lang="ja-JP" altLang="en-US" sz="1000" dirty="0">
                <a:latin typeface="Arial" panose="020B0604020202020204" pitchFamily="34" charset="0"/>
              </a:rPr>
              <a:t>’</a:t>
            </a:r>
            <a:r>
              <a:rPr lang="en-US" altLang="ja-JP" sz="1000" dirty="0">
                <a:latin typeface="Arial" panose="020B0604020202020204" pitchFamily="34" charset="0"/>
              </a:rPr>
              <a:t>t getting as clean so there is more scale on them and more grinding has to be done? Are you running the parts longer to make up for the poor performance of the equipment?</a:t>
            </a:r>
          </a:p>
          <a:p>
            <a:pPr>
              <a:buFont typeface="MS Outlook" panose="05010100010000000000" pitchFamily="2" charset="2"/>
              <a:buNone/>
            </a:pPr>
            <a:r>
              <a:rPr lang="en-US" altLang="en-US" sz="1000" b="1" dirty="0">
                <a:latin typeface="Arial" panose="020B0604020202020204" pitchFamily="34" charset="0"/>
              </a:rPr>
              <a:t>Responsiveness to customer demands – </a:t>
            </a:r>
            <a:r>
              <a:rPr lang="en-US" altLang="en-US" sz="1000" dirty="0">
                <a:latin typeface="Arial" panose="020B0604020202020204" pitchFamily="34" charset="0"/>
              </a:rPr>
              <a:t>what if we need to be able to do something with the equipment that we cannot do now? Is maintenance available to work on this improvement project?</a:t>
            </a:r>
          </a:p>
          <a:p>
            <a:pPr marL="1828800" lvl="4" indent="0">
              <a:buFont typeface="MS Outlook" panose="05010100010000000000" pitchFamily="2" charset="2"/>
              <a:buNone/>
            </a:pPr>
            <a:endParaRPr lang="en-US" altLang="en-US" sz="1000" b="1" dirty="0">
              <a:latin typeface="Arial" panose="020B0604020202020204" pitchFamily="34" charset="0"/>
            </a:endParaRPr>
          </a:p>
          <a:p>
            <a:pPr>
              <a:buFont typeface="MS Outlook" panose="05010100010000000000" pitchFamily="2" charset="2"/>
              <a:buNone/>
            </a:pPr>
            <a:r>
              <a:rPr lang="en-US" altLang="en-US" sz="1000" dirty="0">
                <a:latin typeface="Arial" panose="020B0604020202020204" pitchFamily="34" charset="0"/>
                <a:sym typeface="MS Outlook" panose="05010100010000000000" pitchFamily="2" charset="2"/>
              </a:rPr>
              <a:t>The goal is to have maintenance mechanics spend more time on those TPM activities (like predictive &amp; preventative maintenance) which increase plant capacity. Less time on fighting fires and re-repairing nuisance breakdowns.</a:t>
            </a:r>
          </a:p>
          <a:p>
            <a:pPr marL="1371600" lvl="3" indent="0">
              <a:buFont typeface="MS Outlook" panose="05010100010000000000" pitchFamily="2" charset="2"/>
              <a:buNone/>
            </a:pPr>
            <a:endParaRPr lang="en-US" altLang="en-US" sz="1000"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711273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en-US" altLang="en-US" b="1" dirty="0">
                <a:latin typeface="Roboto" panose="02000000000000000000" pitchFamily="2" charset="0"/>
                <a:ea typeface="Roboto" panose="02000000000000000000" pitchFamily="2" charset="0"/>
              </a:rPr>
              <a:t>SAY:</a:t>
            </a:r>
          </a:p>
          <a:p>
            <a:pPr marL="228600" indent="-228600">
              <a:buFontTx/>
              <a:buChar char="•"/>
            </a:pPr>
            <a:r>
              <a:rPr lang="ja-JP" altLang="en-US" dirty="0">
                <a:latin typeface="Roboto" panose="02000000000000000000" pitchFamily="2" charset="0"/>
              </a:rPr>
              <a:t>“</a:t>
            </a:r>
            <a:r>
              <a:rPr lang="en-US" altLang="ja-JP" dirty="0">
                <a:latin typeface="Roboto" panose="02000000000000000000" pitchFamily="2" charset="0"/>
                <a:ea typeface="Roboto" panose="02000000000000000000" pitchFamily="2" charset="0"/>
              </a:rPr>
              <a:t>Downtime is not only breakdowns.  TPM metrics will measure setup and adjustment downtime also.  We talked about TPM being part of the Lean program, and driving down machine setup and adjustment is part of it.</a:t>
            </a:r>
          </a:p>
          <a:p>
            <a:pPr marL="228600" indent="-228600">
              <a:buFontTx/>
              <a:buChar char="•"/>
            </a:pPr>
            <a:r>
              <a:rPr lang="en-US" altLang="en-US" dirty="0">
                <a:latin typeface="Roboto" panose="02000000000000000000" pitchFamily="2" charset="0"/>
                <a:ea typeface="Roboto" panose="02000000000000000000" pitchFamily="2" charset="0"/>
              </a:rPr>
              <a:t>Operators will reduce the speed of machines because it </a:t>
            </a:r>
            <a:r>
              <a:rPr lang="ja-JP" altLang="en-US" dirty="0">
                <a:latin typeface="Roboto" panose="02000000000000000000" pitchFamily="2" charset="0"/>
              </a:rPr>
              <a:t>“</a:t>
            </a:r>
            <a:r>
              <a:rPr lang="en-US" altLang="ja-JP" dirty="0">
                <a:latin typeface="Roboto" panose="02000000000000000000" pitchFamily="2" charset="0"/>
                <a:ea typeface="Roboto" panose="02000000000000000000" pitchFamily="2" charset="0"/>
              </a:rPr>
              <a:t>runs better</a:t>
            </a:r>
            <a:r>
              <a:rPr lang="ja-JP" altLang="en-US" dirty="0">
                <a:latin typeface="Roboto" panose="02000000000000000000" pitchFamily="2" charset="0"/>
              </a:rPr>
              <a:t>”</a:t>
            </a:r>
            <a:r>
              <a:rPr lang="en-US" altLang="ja-JP" dirty="0">
                <a:latin typeface="Roboto" panose="02000000000000000000" pitchFamily="2" charset="0"/>
                <a:ea typeface="Roboto" panose="02000000000000000000" pitchFamily="2" charset="0"/>
              </a:rPr>
              <a:t>.  This could be true, but using problem solving tools, 5 why</a:t>
            </a:r>
            <a:r>
              <a:rPr lang="ja-JP" altLang="en-US" dirty="0">
                <a:latin typeface="Roboto" panose="02000000000000000000" pitchFamily="2" charset="0"/>
              </a:rPr>
              <a:t>’</a:t>
            </a:r>
            <a:r>
              <a:rPr lang="en-US" altLang="ja-JP" dirty="0">
                <a:latin typeface="Roboto" panose="02000000000000000000" pitchFamily="2" charset="0"/>
                <a:ea typeface="Roboto" panose="02000000000000000000" pitchFamily="2" charset="0"/>
              </a:rPr>
              <a:t>s and the PDCA loop, speed losses can be eliminated.  </a:t>
            </a:r>
          </a:p>
          <a:p>
            <a:pPr marL="228600" indent="-228600">
              <a:buFontTx/>
              <a:buChar char="•"/>
            </a:pPr>
            <a:r>
              <a:rPr lang="en-US" altLang="en-US" dirty="0">
                <a:latin typeface="Roboto" panose="02000000000000000000" pitchFamily="2" charset="0"/>
                <a:ea typeface="Roboto" panose="02000000000000000000" pitchFamily="2" charset="0"/>
              </a:rPr>
              <a:t>Defects, rework, and yield can be a big factor on downtime.  Building a pile of bad parts because of machine problems could be the cause.  Using problem solving tools to fix this will improve quality.</a:t>
            </a:r>
            <a:r>
              <a:rPr lang="ja-JP" altLang="en-US" dirty="0">
                <a:latin typeface="Roboto" panose="02000000000000000000" pitchFamily="2" charset="0"/>
              </a:rPr>
              <a:t>”</a:t>
            </a:r>
            <a:endParaRPr lang="en-US" altLang="en-US" dirty="0">
              <a:latin typeface="Roboto" panose="02000000000000000000" pitchFamily="2" charset="0"/>
              <a:ea typeface="Roboto" panose="02000000000000000000" pitchFamily="2"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9494038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data collection is the key to TPM improvement.  Often, data is lacking on the kickoff of TPM.  Establishing how, who, when, </a:t>
            </a:r>
            <a:r>
              <a:rPr lang="en-US" altLang="ja-JP" dirty="0" err="1">
                <a:latin typeface="Arial" panose="020B0604020202020204" pitchFamily="34" charset="0"/>
              </a:rPr>
              <a:t>etc</a:t>
            </a:r>
            <a:r>
              <a:rPr lang="en-US" altLang="ja-JP" dirty="0">
                <a:latin typeface="Arial" panose="020B0604020202020204" pitchFamily="34" charset="0"/>
              </a:rPr>
              <a:t>, on the data collection needs to be addressed up front.  Methods to start collecting the Machine, Quality, and Speed data needs to be established first.  Just like all Lean activities, let the data point to the focus of improvement.  Without a standard (data), achieving any improvement is difficult.</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167952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PDCA process is consistently used in the TPM program.  Focusing where the data is pointing will give you the biggest bang for the buck.</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48945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912736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263767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1579764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Ensure a standard is established on data collection.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Establish standards work for the Operator, Maintenance and Engineering on data collection, submission, and analyzing.  Review forms and practices.  There could be a problem in the details.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102568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8030940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Stay focused on the major problems.  Go an inch wide and a mile deep, versus a mile wide and an inch deep.  Attacking the top 2-3 problems could eliminate most of the downtime.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2508556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NOTE:</a:t>
            </a:r>
            <a:r>
              <a:rPr lang="en-US" altLang="en-US" b="1" dirty="0">
                <a:latin typeface="Arial" panose="020B0604020202020204" pitchFamily="34" charset="0"/>
              </a:rPr>
              <a:t> </a:t>
            </a:r>
            <a:r>
              <a:rPr lang="en-US" altLang="en-US" dirty="0">
                <a:latin typeface="Arial" panose="020B0604020202020204" pitchFamily="34" charset="0"/>
              </a:rPr>
              <a:t>This slide is here </a:t>
            </a:r>
            <a:r>
              <a:rPr lang="en-US" altLang="en-US" b="1" dirty="0">
                <a:latin typeface="Arial" panose="020B0604020202020204" pitchFamily="34" charset="0"/>
              </a:rPr>
              <a:t>ONLY</a:t>
            </a:r>
            <a:r>
              <a:rPr lang="en-US" altLang="en-US" dirty="0">
                <a:latin typeface="Arial" panose="020B0604020202020204" pitchFamily="34" charset="0"/>
              </a:rPr>
              <a:t> to illustrate what maintenance data looks like when plotted. You will want to refer to your own data here.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719040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907443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Very important to interact with the operators on this.  Operators spend more time on the machines than with their families.  They know the machines and can detect a problem by the way is sounds and feels.  They also know the reasons why they need to slow the machines down, often being the only person(s) that knows this information.</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731861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SAY:</a:t>
            </a:r>
            <a:r>
              <a:rPr lang="en-US" altLang="en-US" b="1"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Take any quality data you collected before the event and examine it to see what you learn about the equipment performance and effectiveness. If the equipment is causing defects, then improvements have to be made to eliminate this negative effect immediately.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Ask the 5 Why</a:t>
            </a:r>
            <a:r>
              <a:rPr lang="ja-JP" altLang="en-US" dirty="0">
                <a:latin typeface="Arial" panose="020B0604020202020204" pitchFamily="34" charset="0"/>
              </a:rPr>
              <a:t>’</a:t>
            </a:r>
            <a:r>
              <a:rPr lang="en-US" altLang="ja-JP" dirty="0">
                <a:latin typeface="Arial" panose="020B0604020202020204" pitchFamily="34" charset="0"/>
              </a:rPr>
              <a:t>s on the cause of the defects.  Use the PDCA cycle on implemented improvements, ensure the fixes are truly fixed.</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a:p>
            <a:endParaRPr lang="en-US" altLang="en-US" b="1"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945244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886479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5202723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959626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NOTE:</a:t>
            </a:r>
            <a:r>
              <a:rPr lang="en-US" altLang="en-US" dirty="0">
                <a:latin typeface="Arial" panose="020B0604020202020204" pitchFamily="34" charset="0"/>
              </a:rPr>
              <a:t> OEE deals in time and time can be directly correlated to money.</a:t>
            </a:r>
          </a:p>
          <a:p>
            <a:endParaRPr lang="en-US" altLang="en-US" dirty="0">
              <a:latin typeface="Arial" panose="020B0604020202020204" pitchFamily="34" charset="0"/>
            </a:endParaRPr>
          </a:p>
          <a:p>
            <a:r>
              <a:rPr lang="en-US" altLang="en-US" dirty="0">
                <a:latin typeface="Arial" panose="020B0604020202020204" pitchFamily="34" charset="0"/>
              </a:rPr>
              <a:t>The chart explains how the OEE calculation is made and also clearly shows the opportunities for improvement in red.</a:t>
            </a:r>
          </a:p>
          <a:p>
            <a:endParaRPr lang="en-US" altLang="en-US" dirty="0">
              <a:latin typeface="Arial" panose="020B0604020202020204" pitchFamily="34" charset="0"/>
            </a:endParaRPr>
          </a:p>
          <a:p>
            <a:r>
              <a:rPr lang="en-US" altLang="en-US" dirty="0">
                <a:latin typeface="Arial" panose="020B0604020202020204" pitchFamily="34" charset="0"/>
              </a:rPr>
              <a:t>The organization has strategic goals, focus and OEE as the key indicator.</a:t>
            </a:r>
          </a:p>
          <a:p>
            <a:endParaRPr lang="en-US" altLang="en-US" dirty="0">
              <a:latin typeface="Arial" panose="020B0604020202020204" pitchFamily="34" charset="0"/>
            </a:endParaRPr>
          </a:p>
          <a:p>
            <a:r>
              <a:rPr lang="en-US" altLang="en-US" dirty="0">
                <a:latin typeface="Arial" panose="020B0604020202020204" pitchFamily="34" charset="0"/>
              </a:rPr>
              <a:t>Now they need the tools to attack the target opportunities and make improvements. </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31592379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OEE will not only expose equipment failure, but problems with setup, speed and wait time, and quality defects caused by the equipment.</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8618595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22041651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7095077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0692706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4650935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35273460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36236008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Get equipment to </a:t>
            </a:r>
            <a:r>
              <a:rPr lang="ja-JP" altLang="en-US" dirty="0">
                <a:latin typeface="Arial" panose="020B0604020202020204" pitchFamily="34" charset="0"/>
              </a:rPr>
              <a:t>“</a:t>
            </a:r>
            <a:r>
              <a:rPr lang="en-US" altLang="ja-JP" dirty="0">
                <a:latin typeface="Arial" panose="020B0604020202020204" pitchFamily="34" charset="0"/>
              </a:rPr>
              <a:t>as new</a:t>
            </a:r>
            <a:r>
              <a:rPr lang="ja-JP" altLang="en-US" dirty="0">
                <a:latin typeface="Arial" panose="020B0604020202020204" pitchFamily="34" charset="0"/>
              </a:rPr>
              <a:t>”</a:t>
            </a:r>
            <a:r>
              <a:rPr lang="en-US" altLang="ja-JP" dirty="0">
                <a:latin typeface="Arial" panose="020B0604020202020204" pitchFamily="34" charset="0"/>
              </a:rPr>
              <a:t> condition for the purpose of sustaining it at this level.</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18242477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39899301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20132607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 dirty machine makes it impossible to see a leak, worn part, or a visual indication a repair is needed.  Clean machines allow for visual inspections and action before machine failure.  Identifying and repairing an oil leak can prevent downtime or catastrophic machine damage.</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3281582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red tag process is good conduit for operators to communicate problems or issues to Maintenance.  This is their work order to have something fixed.</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5003414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7821613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Visual inspections by operators will sustain clean machines and warn of any problems before failure.  Operators being the eyes and ears.</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33594680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red tag process needs to be organized and visual.  Checks and balances need to be in place to ensure the disposition of the red tag.</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9200997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24651631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0202307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25033162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0086533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5273103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9833122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Maintenance resources cannot spend 100% of their time at the machine.  The operator has intimate knowledge of the equipment.  This information needs to be utilized to improve the operation of equipment.  Operator ownership need to be developed.  </a:t>
            </a:r>
          </a:p>
          <a:p>
            <a:endParaRPr lang="en-US" altLang="en-US" dirty="0">
              <a:latin typeface="Arial" panose="020B0604020202020204" pitchFamily="34" charset="0"/>
            </a:endParaRPr>
          </a:p>
          <a:p>
            <a:r>
              <a:rPr lang="en-US" altLang="en-US" dirty="0">
                <a:latin typeface="Arial" panose="020B0604020202020204" pitchFamily="34" charset="0"/>
              </a:rPr>
              <a:t>Maintenance needs to focus on developing technical root cause solutions.  Simple tasks can be done by the operators.</a:t>
            </a:r>
            <a:r>
              <a:rPr lang="ja-JP" altLang="en-US" dirty="0">
                <a:latin typeface="Arial" panose="020B0604020202020204" pitchFamily="34" charset="0"/>
              </a:rPr>
              <a:t>”</a:t>
            </a:r>
            <a:r>
              <a:rPr lang="en-US" altLang="ja-JP" dirty="0">
                <a:latin typeface="Arial" panose="020B0604020202020204" pitchFamily="34" charset="0"/>
              </a:rPr>
              <a:t>  </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11744563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Just like operator value-added standard work, TPM standard work needs to be documented and posted.  Checks and balances needed to ensure standard work is performed as designed.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33677831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1749665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11752458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42766470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29023955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NOTE:</a:t>
            </a:r>
            <a:r>
              <a:rPr lang="en-US" altLang="en-US" b="1" dirty="0">
                <a:latin typeface="Arial" panose="020B0604020202020204" pitchFamily="34" charset="0"/>
              </a:rPr>
              <a:t>  </a:t>
            </a:r>
            <a:r>
              <a:rPr lang="en-US" altLang="en-US" dirty="0">
                <a:latin typeface="Arial" panose="020B0604020202020204" pitchFamily="34" charset="0"/>
              </a:rPr>
              <a:t>You must clean the area so leaks become obvious, so you can see where damage is occurring, and where heat is being generated. Dirt and grime hide clues and symptoms of problems.</a:t>
            </a:r>
          </a:p>
          <a:p>
            <a:endParaRPr lang="en-US" altLang="en-US" dirty="0">
              <a:latin typeface="Arial" panose="020B0604020202020204" pitchFamily="34" charset="0"/>
            </a:endParaRPr>
          </a:p>
          <a:p>
            <a:pPr lvl="1"/>
            <a:r>
              <a:rPr lang="en-US" altLang="en-US" dirty="0">
                <a:latin typeface="Arial" panose="020B0604020202020204" pitchFamily="34" charset="0"/>
              </a:rPr>
              <a:t>Wipe hoses, lines and areas around moving parts. What is grime, grease and dirt doing to damage moving parts?</a:t>
            </a:r>
          </a:p>
          <a:p>
            <a:pPr lvl="1"/>
            <a:endParaRPr lang="en-US" altLang="en-US" dirty="0">
              <a:latin typeface="Arial" panose="020B0604020202020204" pitchFamily="34" charset="0"/>
            </a:endParaRPr>
          </a:p>
          <a:p>
            <a:pPr lvl="1"/>
            <a:r>
              <a:rPr lang="en-US" altLang="en-US" dirty="0">
                <a:latin typeface="Arial" panose="020B0604020202020204" pitchFamily="34" charset="0"/>
              </a:rPr>
              <a:t>Paint surfaces so that leaks are obvious. Use a light color paint.</a:t>
            </a:r>
          </a:p>
          <a:p>
            <a:pPr lvl="1"/>
            <a:endParaRPr lang="en-US" altLang="en-US" dirty="0">
              <a:latin typeface="Arial" panose="020B0604020202020204" pitchFamily="34" charset="0"/>
            </a:endParaRPr>
          </a:p>
          <a:p>
            <a:pPr lvl="1"/>
            <a:r>
              <a:rPr lang="en-US" altLang="en-US" dirty="0">
                <a:latin typeface="Arial" panose="020B0604020202020204" pitchFamily="34" charset="0"/>
              </a:rPr>
              <a:t>What would you think if you saw metal shavings under moving parts? Would you be able to see that when everything is dirty?</a:t>
            </a:r>
          </a:p>
          <a:p>
            <a:pPr lvl="1"/>
            <a:endParaRPr lang="en-US" altLang="en-US" dirty="0">
              <a:latin typeface="Arial" panose="020B0604020202020204" pitchFamily="34" charset="0"/>
            </a:endParaRPr>
          </a:p>
          <a:p>
            <a:pPr lvl="1"/>
            <a:r>
              <a:rPr lang="en-US" altLang="en-US" dirty="0">
                <a:latin typeface="Arial" panose="020B0604020202020204" pitchFamily="34" charset="0"/>
              </a:rPr>
              <a:t>Are wires, hoses and cords tangled?  What is this doing to their performance?</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16016865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160379650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988456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40151457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33303722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1806937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16290252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25458632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This is where the PDCA cycle is incorporated into the maintenance process.</a:t>
            </a:r>
            <a:r>
              <a:rPr lang="ja-JP" altLang="en-US" dirty="0">
                <a:latin typeface="Arial" panose="020B0604020202020204" pitchFamily="34" charset="0"/>
              </a:rPr>
              <a:t>”</a:t>
            </a:r>
            <a:r>
              <a:rPr lang="en-US" altLang="ja-JP" dirty="0">
                <a:latin typeface="Arial" panose="020B0604020202020204" pitchFamily="34" charset="0"/>
              </a:rPr>
              <a:t>  </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34414925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171651713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19564986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292881870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These are simple problem solving tools even operators can use to drive to the root cause of problems.  Scientific methods to fix problems.</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210508849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b="1" dirty="0">
                <a:latin typeface="Arial" panose="020B0604020202020204" pitchFamily="34" charset="0"/>
              </a:rPr>
              <a:t>ASK: </a:t>
            </a:r>
            <a:r>
              <a:rPr lang="en-US" altLang="en-US" sz="1200" dirty="0">
                <a:latin typeface="Arial" panose="020B0604020202020204" pitchFamily="34" charset="0"/>
              </a:rPr>
              <a:t>What </a:t>
            </a:r>
            <a:r>
              <a:rPr lang="en-US" altLang="en-US" sz="1200" b="1" dirty="0">
                <a:latin typeface="Arial" panose="020B0604020202020204" pitchFamily="34" charset="0"/>
              </a:rPr>
              <a:t>PM activities</a:t>
            </a:r>
            <a:r>
              <a:rPr lang="en-US" altLang="en-US" sz="1200" dirty="0">
                <a:latin typeface="Arial" panose="020B0604020202020204" pitchFamily="34" charset="0"/>
              </a:rPr>
              <a:t> would lessen the deterioration or prevent breakdowns? Ask the group to come up with some ideas.</a:t>
            </a:r>
          </a:p>
          <a:p>
            <a:r>
              <a:rPr lang="en-US" altLang="en-US" sz="1200" u="sng" dirty="0">
                <a:latin typeface="Arial" panose="020B0604020202020204" pitchFamily="34" charset="0"/>
              </a:rPr>
              <a:t>Examples:</a:t>
            </a:r>
          </a:p>
          <a:p>
            <a:r>
              <a:rPr lang="en-US" altLang="en-US" sz="1200" dirty="0">
                <a:latin typeface="Arial" panose="020B0604020202020204" pitchFamily="34" charset="0"/>
              </a:rPr>
              <a:t>Lubrication, Cleaning, Inspecting, Tightening: nuts, screws, belts?</a:t>
            </a:r>
          </a:p>
          <a:p>
            <a:r>
              <a:rPr lang="en-US" altLang="en-US" sz="1200" dirty="0">
                <a:latin typeface="Arial" panose="020B0604020202020204" pitchFamily="34" charset="0"/>
              </a:rPr>
              <a:t>Precision Checks of tolerances, fits, etc., Fluid Levels</a:t>
            </a:r>
          </a:p>
          <a:p>
            <a:r>
              <a:rPr lang="en-US" altLang="en-US" sz="1200" dirty="0">
                <a:latin typeface="Arial" panose="020B0604020202020204" pitchFamily="34" charset="0"/>
              </a:rPr>
              <a:t>What PM activities can be offloaded to operators? How would you do it so these PM activities are done correctly and on time?</a:t>
            </a:r>
          </a:p>
          <a:p>
            <a:pPr>
              <a:buFontTx/>
              <a:buChar char="•"/>
            </a:pPr>
            <a:r>
              <a:rPr lang="en-US" altLang="en-US" sz="1200" dirty="0">
                <a:latin typeface="Arial" panose="020B0604020202020204" pitchFamily="34" charset="0"/>
              </a:rPr>
              <a:t>Standardize with work instructions</a:t>
            </a:r>
          </a:p>
          <a:p>
            <a:pPr>
              <a:buFontTx/>
              <a:buChar char="•"/>
            </a:pPr>
            <a:r>
              <a:rPr lang="en-US" altLang="en-US" sz="1200" dirty="0">
                <a:latin typeface="Arial" panose="020B0604020202020204" pitchFamily="34" charset="0"/>
              </a:rPr>
              <a:t>Make a PM kit so everything is right where it is needed and the PM  can happen quickly</a:t>
            </a:r>
          </a:p>
          <a:p>
            <a:pPr>
              <a:buFontTx/>
              <a:buChar char="•"/>
            </a:pPr>
            <a:r>
              <a:rPr lang="en-US" altLang="en-US" sz="1200" dirty="0">
                <a:latin typeface="Arial" panose="020B0604020202020204" pitchFamily="34" charset="0"/>
              </a:rPr>
              <a:t>Train the operators – teach the principles, for example, in lubrication more </a:t>
            </a:r>
            <a:r>
              <a:rPr lang="en-US" altLang="en-US" sz="1200" dirty="0" err="1">
                <a:latin typeface="Arial" panose="020B0604020202020204" pitchFamily="34" charset="0"/>
              </a:rPr>
              <a:t>isn</a:t>
            </a:r>
            <a:r>
              <a:rPr lang="ja-JP" altLang="en-US" sz="1200" dirty="0">
                <a:latin typeface="Arial" panose="020B0604020202020204" pitchFamily="34" charset="0"/>
              </a:rPr>
              <a:t>’</a:t>
            </a:r>
            <a:r>
              <a:rPr lang="en-US" altLang="ja-JP" sz="1200" dirty="0">
                <a:latin typeface="Arial" panose="020B0604020202020204" pitchFamily="34" charset="0"/>
              </a:rPr>
              <a:t>t always better, what are the significant characteristics of the different types of oil,  what are the safety issues, what should they look for what checking tension on a belt, why does it matter?</a:t>
            </a:r>
          </a:p>
          <a:p>
            <a:pPr>
              <a:buFontTx/>
              <a:buChar char="•"/>
            </a:pPr>
            <a:r>
              <a:rPr lang="en-US" altLang="en-US" sz="1200" dirty="0">
                <a:latin typeface="Arial" panose="020B0604020202020204" pitchFamily="34" charset="0"/>
              </a:rPr>
              <a:t>Maintenance mechanics certify operators to do the PM – certified to perform only certain tasks</a:t>
            </a:r>
          </a:p>
          <a:p>
            <a:pPr>
              <a:buFontTx/>
              <a:buChar char="•"/>
            </a:pPr>
            <a:r>
              <a:rPr lang="en-US" altLang="en-US" sz="1200" dirty="0">
                <a:latin typeface="Arial" panose="020B0604020202020204" pitchFamily="34" charset="0"/>
              </a:rPr>
              <a:t>Supervisor controls and limits the maintenance that is done by operators - no random acts of maintenance - have to be certified to do it</a:t>
            </a:r>
          </a:p>
          <a:p>
            <a:pPr>
              <a:buFontTx/>
              <a:buChar char="•"/>
            </a:pPr>
            <a:r>
              <a:rPr lang="en-US" altLang="en-US" sz="1200" dirty="0">
                <a:latin typeface="Arial" panose="020B0604020202020204" pitchFamily="34" charset="0"/>
              </a:rPr>
              <a:t>Don</a:t>
            </a:r>
            <a:r>
              <a:rPr lang="ja-JP" altLang="en-US" sz="1200" dirty="0">
                <a:latin typeface="Arial" panose="020B0604020202020204" pitchFamily="34" charset="0"/>
              </a:rPr>
              <a:t>’</a:t>
            </a:r>
            <a:r>
              <a:rPr lang="en-US" altLang="ja-JP" sz="1200" dirty="0">
                <a:latin typeface="Arial" panose="020B0604020202020204" pitchFamily="34" charset="0"/>
              </a:rPr>
              <a:t>t want to introduce variation - need to be able to predict what should happen, what the conditions are supposed to be, don</a:t>
            </a:r>
            <a:r>
              <a:rPr lang="ja-JP" altLang="en-US" sz="1200" dirty="0">
                <a:latin typeface="Arial" panose="020B0604020202020204" pitchFamily="34" charset="0"/>
              </a:rPr>
              <a:t>’</a:t>
            </a:r>
            <a:r>
              <a:rPr lang="en-US" altLang="ja-JP" sz="1200" dirty="0">
                <a:latin typeface="Arial" panose="020B0604020202020204" pitchFamily="34" charset="0"/>
              </a:rPr>
              <a:t>t want anyone making unauthorized changes without it being part of the standard procedures or settings</a:t>
            </a:r>
          </a:p>
          <a:p>
            <a:endParaRPr lang="en-US" altLang="en-US" sz="1200" dirty="0">
              <a:latin typeface="Arial" panose="020B0604020202020204" pitchFamily="34" charset="0"/>
            </a:endParaRPr>
          </a:p>
          <a:p>
            <a:endParaRPr lang="en-US" altLang="en-US" sz="12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14007114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ASK:</a:t>
            </a:r>
            <a:r>
              <a:rPr lang="en-US" altLang="en-US" b="1" dirty="0">
                <a:latin typeface="Arial" panose="020B0604020202020204" pitchFamily="34" charset="0"/>
              </a:rPr>
              <a:t> </a:t>
            </a:r>
            <a:r>
              <a:rPr lang="en-US" altLang="en-US" dirty="0">
                <a:latin typeface="Arial" panose="020B0604020202020204" pitchFamily="34" charset="0"/>
              </a:rPr>
              <a:t>What </a:t>
            </a:r>
            <a:r>
              <a:rPr lang="en-US" altLang="en-US" b="1" dirty="0">
                <a:latin typeface="Arial" panose="020B0604020202020204" pitchFamily="34" charset="0"/>
              </a:rPr>
              <a:t>improvements or equipment modifications</a:t>
            </a:r>
            <a:r>
              <a:rPr lang="en-US" altLang="en-US" dirty="0">
                <a:latin typeface="Arial" panose="020B0604020202020204" pitchFamily="34" charset="0"/>
              </a:rPr>
              <a:t> would lessen the deterioration or prevent breakdowns? Ask the group to come up with some ideas.  Some are listed here on the slide. What specific ideas would work in our situation?</a:t>
            </a:r>
          </a:p>
          <a:p>
            <a:endParaRPr lang="en-US" altLang="en-US" dirty="0">
              <a:latin typeface="Arial" panose="020B0604020202020204" pitchFamily="34" charset="0"/>
            </a:endParaRPr>
          </a:p>
          <a:p>
            <a:pPr lvl="1"/>
            <a:r>
              <a:rPr lang="en-US" altLang="en-US" dirty="0">
                <a:latin typeface="Arial" panose="020B0604020202020204" pitchFamily="34" charset="0"/>
              </a:rPr>
              <a:t>**Also need a way for everyone to learn from breakdowns. Can maintenance share </a:t>
            </a:r>
            <a:r>
              <a:rPr lang="en-US" altLang="en-US" i="1" dirty="0">
                <a:latin typeface="Arial" panose="020B0604020202020204" pitchFamily="34" charset="0"/>
              </a:rPr>
              <a:t>lessons learned</a:t>
            </a:r>
            <a:r>
              <a:rPr lang="en-US" altLang="en-US" dirty="0">
                <a:latin typeface="Arial" panose="020B0604020202020204" pitchFamily="34" charset="0"/>
              </a:rPr>
              <a:t> with operators so operators will also know what to look for and the warning signs along the way?</a:t>
            </a:r>
            <a:endParaRPr lang="en-US" altLang="en-US" b="1"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40870826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ASK</a:t>
            </a:r>
            <a:r>
              <a:rPr lang="en-US" altLang="en-US" dirty="0">
                <a:latin typeface="Arial" panose="020B0604020202020204" pitchFamily="34" charset="0"/>
              </a:rPr>
              <a:t>:</a:t>
            </a:r>
            <a:r>
              <a:rPr lang="en-US" altLang="en-US" b="1" dirty="0">
                <a:latin typeface="Arial" panose="020B0604020202020204" pitchFamily="34" charset="0"/>
              </a:rPr>
              <a:t> </a:t>
            </a:r>
            <a:r>
              <a:rPr lang="en-US" altLang="en-US" dirty="0">
                <a:latin typeface="Arial" panose="020B0604020202020204" pitchFamily="34" charset="0"/>
              </a:rPr>
              <a:t>What </a:t>
            </a:r>
            <a:r>
              <a:rPr lang="en-US" altLang="en-US" b="1" dirty="0">
                <a:latin typeface="Arial" panose="020B0604020202020204" pitchFamily="34" charset="0"/>
              </a:rPr>
              <a:t>parameters</a:t>
            </a:r>
            <a:r>
              <a:rPr lang="en-US" altLang="en-US" dirty="0">
                <a:latin typeface="Arial" panose="020B0604020202020204" pitchFamily="34" charset="0"/>
              </a:rPr>
              <a:t> should be watched to predict the deterioration or to prevent breakdowns? Ask the group to come up with some ideas. Some are listed here on the slide. What specific ideas would work in our situation?</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5964693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18144987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sym typeface="MS Outlook" panose="05010100010000000000" pitchFamily="2" charset="2"/>
              </a:rPr>
              <a:t>SAY</a:t>
            </a:r>
            <a:r>
              <a:rPr lang="en-US" altLang="en-US" dirty="0">
                <a:latin typeface="Arial" panose="020B0604020202020204" pitchFamily="34" charset="0"/>
              </a:rPr>
              <a:t>:</a:t>
            </a:r>
            <a:r>
              <a:rPr lang="en-US" altLang="en-US" b="1" dirty="0">
                <a:latin typeface="Arial" panose="020B0604020202020204" pitchFamily="34" charset="0"/>
              </a:rPr>
              <a:t> </a:t>
            </a:r>
            <a:r>
              <a:rPr lang="ja-JP" altLang="en-US" b="1" dirty="0">
                <a:latin typeface="Arial" panose="020B0604020202020204" pitchFamily="34" charset="0"/>
              </a:rPr>
              <a:t>“</a:t>
            </a:r>
            <a:r>
              <a:rPr lang="en-US" altLang="ja-JP" dirty="0">
                <a:latin typeface="Arial" panose="020B0604020202020204" pitchFamily="34" charset="0"/>
              </a:rPr>
              <a:t>Can</a:t>
            </a:r>
            <a:r>
              <a:rPr lang="ja-JP" altLang="en-US" dirty="0">
                <a:latin typeface="Arial" panose="020B0604020202020204" pitchFamily="34" charset="0"/>
              </a:rPr>
              <a:t>’</a:t>
            </a:r>
            <a:r>
              <a:rPr lang="en-US" altLang="ja-JP" dirty="0">
                <a:latin typeface="Arial" panose="020B0604020202020204" pitchFamily="34" charset="0"/>
              </a:rPr>
              <a:t>t begin the work of problem solving and making improvements until we understand the current situation. This is data that should have been collected before the event began.</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NOTE:</a:t>
            </a:r>
            <a:r>
              <a:rPr lang="en-US" altLang="en-US" dirty="0">
                <a:latin typeface="Arial" panose="020B0604020202020204" pitchFamily="34" charset="0"/>
              </a:rPr>
              <a:t> There is an example slide of this type of data in this PowerPoint presentation.</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Take the time now to go over the data you</a:t>
            </a:r>
            <a:r>
              <a:rPr lang="ja-JP" altLang="en-US" dirty="0">
                <a:latin typeface="Arial" panose="020B0604020202020204" pitchFamily="34" charset="0"/>
              </a:rPr>
              <a:t>’</a:t>
            </a:r>
            <a:r>
              <a:rPr lang="en-US" altLang="ja-JP" dirty="0" err="1">
                <a:latin typeface="Arial" panose="020B0604020202020204" pitchFamily="34" charset="0"/>
              </a:rPr>
              <a:t>ve</a:t>
            </a:r>
            <a:r>
              <a:rPr lang="en-US" altLang="ja-JP" dirty="0">
                <a:latin typeface="Arial" panose="020B0604020202020204" pitchFamily="34" charset="0"/>
              </a:rPr>
              <a:t> collected and to discuss the causes of downtime. What percentage of the available time is the equipment actually available to run product if you need it to? This is the key question. Are these typical results for your area? What might be different now than at other times?</a:t>
            </a:r>
          </a:p>
          <a:p>
            <a:pPr lvl="1"/>
            <a:endParaRPr lang="en-US" altLang="en-US" b="1" dirty="0">
              <a:latin typeface="Arial" panose="020B0604020202020204" pitchFamily="34" charset="0"/>
            </a:endParaRPr>
          </a:p>
          <a:p>
            <a:pPr lvl="1"/>
            <a:r>
              <a:rPr lang="en-US" altLang="en-US" dirty="0">
                <a:latin typeface="Arial" panose="020B0604020202020204" pitchFamily="34" charset="0"/>
              </a:rPr>
              <a:t>You can, at this time, get out the maintenance data you</a:t>
            </a:r>
            <a:r>
              <a:rPr lang="ja-JP" altLang="en-US" dirty="0">
                <a:latin typeface="Arial" panose="020B0604020202020204" pitchFamily="34" charset="0"/>
              </a:rPr>
              <a:t>’</a:t>
            </a:r>
            <a:r>
              <a:rPr lang="en-US" altLang="ja-JP" dirty="0" err="1">
                <a:latin typeface="Arial" panose="020B0604020202020204" pitchFamily="34" charset="0"/>
              </a:rPr>
              <a:t>ve</a:t>
            </a:r>
            <a:r>
              <a:rPr lang="en-US" altLang="ja-JP" dirty="0">
                <a:latin typeface="Arial" panose="020B0604020202020204" pitchFamily="34" charset="0"/>
              </a:rPr>
              <a:t> collected (in advance of the event) and look at the reasons for downtime due to Breakdowns.</a:t>
            </a: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26857008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124171715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TPM visual board enables Team Leaders, Supervisors, Management, to quickly see the status on equipment.  Visual verification if scheduled checks are being done, downtime problems are being solved, and action items are being addressed.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91104514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13003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28118576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TPM is no different from the other Lean tools, change for the better.  Changes and modifications will be necessary to procedure, tooling, equipment as problem solving solutions are determined.</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250148452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Maintenance resources are a premium.  These resources should be used to solve technical, root cause solutions.</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385627231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425461826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295681641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137971984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286218327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406916994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415384829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429221084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366210059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233247806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Use problem solving techniques previously discussed to come to conclusions.  Ask the 5-why</a:t>
            </a:r>
            <a:r>
              <a:rPr lang="ja-JP" altLang="en-US" dirty="0">
                <a:latin typeface="Arial" panose="020B0604020202020204" pitchFamily="34" charset="0"/>
              </a:rPr>
              <a:t>’</a:t>
            </a:r>
            <a:r>
              <a:rPr lang="en-US" altLang="ja-JP" dirty="0">
                <a:latin typeface="Arial" panose="020B0604020202020204" pitchFamily="34" charset="0"/>
              </a:rPr>
              <a:t>s, fishbone diagram…</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11288180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309940186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343897967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320818445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340020031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380102576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180113745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7317813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256333206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203094636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18397289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246221"/>
          </a:xfrm>
          <a:prstGeom prst="rect">
            <a:avLst/>
          </a:prstGeom>
          <a:noFill/>
        </p:spPr>
        <p:txBody>
          <a:bodyPr wrap="square" rtlCol="0">
            <a:spAutoFit/>
          </a:bodyPr>
          <a:lstStyle/>
          <a:p>
            <a:r>
              <a:rPr lang="en-US" sz="1000" dirty="0"/>
              <a:t>TPM PRESENTATION ENG REV5</a:t>
            </a: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hyperlink" Target="http://www.kodak.com/" TargetMode="External"/><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7.jpeg"/><Relationship Id="rId5" Type="http://schemas.openxmlformats.org/officeDocument/2006/relationships/hyperlink" Target="http://www.harley-davidson.com/wcm/Content/Pages/home.jsp?HDCWPSession=Cp57Gz2Lc1nrCWdQW2Wp4v1hGJfCMVTdzyv0pGQ14fkXSgQ9GhQj!1147519905!-230521115&amp;locale=en_US" TargetMode="External"/><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hyperlink" Target="http://www2.dupont.com/DuPont_Home/en_U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3.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5.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Total Productive Maintenance</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
        <p:nvSpPr>
          <p:cNvPr id="2" name="Subtitle 2">
            <a:extLst>
              <a:ext uri="{FF2B5EF4-FFF2-40B4-BE49-F238E27FC236}">
                <a16:creationId xmlns:a16="http://schemas.microsoft.com/office/drawing/2014/main" id="{B626BED7-3356-2864-5EE6-3FB9F756891C}"/>
              </a:ext>
            </a:extLst>
          </p:cNvPr>
          <p:cNvSpPr txBox="1">
            <a:spLocks/>
          </p:cNvSpPr>
          <p:nvPr/>
        </p:nvSpPr>
        <p:spPr>
          <a:xfrm>
            <a:off x="1523998" y="4953466"/>
            <a:ext cx="9144000" cy="14570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A Team Effort to Improve Overall Equipment Effectivity</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What is TPM?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2400" dirty="0"/>
              <a:t>It is an approach to maximize the effectivity of the plant’s equipment in the areas of uptime, speed, and quality</a:t>
            </a:r>
          </a:p>
          <a:p>
            <a:r>
              <a:rPr lang="en-US" sz="2400" dirty="0"/>
              <a:t>It is an approach that utilizes the experience and talent of the operator, the maintenance technician, and engineering as a team</a:t>
            </a:r>
          </a:p>
          <a:p>
            <a:r>
              <a:rPr lang="en-US" sz="2400" dirty="0"/>
              <a:t>It goes beyond simply restoring and repairing the equipment. It includes sustaining processes and continuous improvement  </a:t>
            </a:r>
          </a:p>
          <a:p>
            <a:r>
              <a:rPr lang="en-US" sz="2400" dirty="0"/>
              <a:t>It improves the efficiency of those people involved in the setup, operation and maintenance of the equipment</a:t>
            </a:r>
          </a:p>
          <a:p>
            <a:endParaRPr lang="en-US" sz="24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sp>
        <p:nvSpPr>
          <p:cNvPr id="4" name="Text Box 5">
            <a:extLst>
              <a:ext uri="{FF2B5EF4-FFF2-40B4-BE49-F238E27FC236}">
                <a16:creationId xmlns:a16="http://schemas.microsoft.com/office/drawing/2014/main" id="{F4B16CCC-6783-407C-6AF8-2D3D80125159}"/>
              </a:ext>
            </a:extLst>
          </p:cNvPr>
          <p:cNvSpPr txBox="1">
            <a:spLocks noChangeArrowheads="1"/>
          </p:cNvSpPr>
          <p:nvPr/>
        </p:nvSpPr>
        <p:spPr bwMode="auto">
          <a:xfrm>
            <a:off x="1978025" y="5188256"/>
            <a:ext cx="8235950" cy="711200"/>
          </a:xfrm>
          <a:prstGeom prst="rect">
            <a:avLst/>
          </a:prstGeom>
          <a:solidFill>
            <a:srgbClr val="EAEAEA"/>
          </a:solidFill>
          <a:ln w="9525">
            <a:solidFill>
              <a:srgbClr val="003366"/>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b="0" i="1" dirty="0">
                <a:latin typeface="Roboto" panose="02000000000000000000" pitchFamily="2" charset="0"/>
                <a:ea typeface="Roboto" panose="02000000000000000000" pitchFamily="2" charset="0"/>
                <a:cs typeface="Arial" panose="020B0604020202020204" pitchFamily="34" charset="0"/>
              </a:rPr>
              <a:t>TPM is NOT </a:t>
            </a:r>
            <a:r>
              <a:rPr lang="ja-JP" altLang="en-US" sz="2000" b="0" i="1" dirty="0">
                <a:latin typeface="Roboto" panose="02000000000000000000" pitchFamily="2" charset="0"/>
                <a:cs typeface="Arial" panose="020B0604020202020204" pitchFamily="34" charset="0"/>
              </a:rPr>
              <a:t>“</a:t>
            </a:r>
            <a:r>
              <a:rPr lang="en-US" altLang="ja-JP" sz="2000" b="0" i="1" dirty="0">
                <a:latin typeface="Roboto" panose="02000000000000000000" pitchFamily="2" charset="0"/>
                <a:ea typeface="Roboto" panose="02000000000000000000" pitchFamily="2" charset="0"/>
                <a:cs typeface="Arial" panose="020B0604020202020204" pitchFamily="34" charset="0"/>
              </a:rPr>
              <a:t>Totally Painted Machines</a:t>
            </a:r>
            <a:r>
              <a:rPr lang="ja-JP" altLang="en-US" sz="2000" b="0" i="1" dirty="0">
                <a:latin typeface="Roboto" panose="02000000000000000000" pitchFamily="2" charset="0"/>
                <a:cs typeface="Arial" panose="020B0604020202020204" pitchFamily="34" charset="0"/>
              </a:rPr>
              <a:t>”</a:t>
            </a:r>
            <a:r>
              <a:rPr lang="en-US" altLang="ja-JP" sz="2000" b="0" i="1" dirty="0">
                <a:latin typeface="Roboto" panose="02000000000000000000" pitchFamily="2" charset="0"/>
                <a:ea typeface="Roboto" panose="02000000000000000000" pitchFamily="2" charset="0"/>
                <a:cs typeface="Arial" panose="020B0604020202020204" pitchFamily="34" charset="0"/>
              </a:rPr>
              <a:t> but rather </a:t>
            </a:r>
            <a:br>
              <a:rPr lang="en-US" altLang="ja-JP" sz="2000" b="0" i="1" dirty="0">
                <a:latin typeface="Roboto" panose="02000000000000000000" pitchFamily="2" charset="0"/>
                <a:ea typeface="Roboto" panose="02000000000000000000" pitchFamily="2" charset="0"/>
                <a:cs typeface="Arial" panose="020B0604020202020204" pitchFamily="34" charset="0"/>
              </a:rPr>
            </a:br>
            <a:r>
              <a:rPr lang="ja-JP" altLang="en-US" sz="2000" b="0" i="1" dirty="0">
                <a:latin typeface="Roboto" panose="02000000000000000000" pitchFamily="2" charset="0"/>
                <a:cs typeface="Arial" panose="020B0604020202020204" pitchFamily="34" charset="0"/>
              </a:rPr>
              <a:t>“</a:t>
            </a:r>
            <a:r>
              <a:rPr lang="en-US" altLang="ja-JP" sz="2000" b="0" i="1" dirty="0">
                <a:latin typeface="Roboto" panose="02000000000000000000" pitchFamily="2" charset="0"/>
                <a:ea typeface="Roboto" panose="02000000000000000000" pitchFamily="2" charset="0"/>
                <a:cs typeface="Arial" panose="020B0604020202020204" pitchFamily="34" charset="0"/>
              </a:rPr>
              <a:t>Taking Pride in our Machines</a:t>
            </a:r>
            <a:r>
              <a:rPr lang="ja-JP" altLang="en-US" sz="2000" b="0" i="1" dirty="0">
                <a:latin typeface="Roboto" panose="02000000000000000000" pitchFamily="2" charset="0"/>
                <a:cs typeface="Arial" panose="020B0604020202020204" pitchFamily="34" charset="0"/>
              </a:rPr>
              <a:t>”</a:t>
            </a:r>
            <a:endParaRPr lang="en-US" altLang="en-US" sz="2000" b="0" i="1" dirty="0">
              <a:latin typeface="Roboto" panose="02000000000000000000" pitchFamily="2"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1362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past equipment maintenance experiences.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discuss and answer:</a:t>
            </a:r>
          </a:p>
          <a:p>
            <a:pPr marL="342900" marR="0" indent="-34290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some of the problems we face in maintaining equipment?”</a:t>
            </a:r>
          </a:p>
          <a:p>
            <a:pPr marL="0" marR="0" indent="0" algn="l" defTabSz="584200" rtl="0" fontAlgn="auto" latinLnBrk="0" hangingPunct="0">
              <a:lnSpc>
                <a:spcPct val="100000"/>
              </a:lnSpc>
              <a:spcBef>
                <a:spcPts val="0"/>
              </a:spcBef>
              <a:spcAft>
                <a:spcPts val="0"/>
              </a:spcAft>
              <a:buClrTx/>
              <a:buSzTx/>
              <a:buFontTx/>
              <a:buNone/>
              <a:tabLst/>
            </a:pPr>
            <a:r>
              <a:rPr kumimoji="0" lang="en-US" sz="2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one person to record answers.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121058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participant from each group reports answers discussed to class</a:t>
            </a:r>
          </a:p>
        </p:txBody>
      </p:sp>
    </p:spTree>
    <p:extLst>
      <p:ext uri="{BB962C8B-B14F-4D97-AF65-F5344CB8AC3E}">
        <p14:creationId xmlns:p14="http://schemas.microsoft.com/office/powerpoint/2010/main" val="2003601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Total Productive Maintenance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Apply the TPM Process on targeted equipment to improve uptime, speed and quality as well as implement a process to sustain and continuously improve the results.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4" name="Group 11">
            <a:extLst>
              <a:ext uri="{FF2B5EF4-FFF2-40B4-BE49-F238E27FC236}">
                <a16:creationId xmlns:a16="http://schemas.microsoft.com/office/drawing/2014/main" id="{C2BD554C-08B9-98CC-7607-5C3D82968805}"/>
              </a:ext>
            </a:extLst>
          </p:cNvPr>
          <p:cNvGrpSpPr>
            <a:grpSpLocks/>
          </p:cNvGrpSpPr>
          <p:nvPr/>
        </p:nvGrpSpPr>
        <p:grpSpPr bwMode="auto">
          <a:xfrm>
            <a:off x="1950244" y="3724593"/>
            <a:ext cx="8291512" cy="1406525"/>
            <a:chOff x="1350" y="2060"/>
            <a:chExt cx="3035" cy="208"/>
          </a:xfrm>
        </p:grpSpPr>
        <p:sp>
          <p:nvSpPr>
            <p:cNvPr id="6" name="AutoShape 12">
              <a:extLst>
                <a:ext uri="{FF2B5EF4-FFF2-40B4-BE49-F238E27FC236}">
                  <a16:creationId xmlns:a16="http://schemas.microsoft.com/office/drawing/2014/main" id="{1AB09967-C293-93D2-64AD-0B287DA3A5DC}"/>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Maintainability</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Improvement </a:t>
              </a:r>
            </a:p>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and</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Maintenance</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Avoidance</a:t>
              </a:r>
            </a:p>
          </p:txBody>
        </p:sp>
        <p:sp>
          <p:nvSpPr>
            <p:cNvPr id="7" name="AutoShape 13">
              <a:extLst>
                <a:ext uri="{FF2B5EF4-FFF2-40B4-BE49-F238E27FC236}">
                  <a16:creationId xmlns:a16="http://schemas.microsoft.com/office/drawing/2014/main" id="{9B9A7F8B-0016-4AE2-4F40-9338F9036B7E}"/>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OEE</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Sustain and</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Improve</a:t>
              </a:r>
            </a:p>
          </p:txBody>
        </p:sp>
        <p:sp>
          <p:nvSpPr>
            <p:cNvPr id="8" name="AutoShape 14">
              <a:extLst>
                <a:ext uri="{FF2B5EF4-FFF2-40B4-BE49-F238E27FC236}">
                  <a16:creationId xmlns:a16="http://schemas.microsoft.com/office/drawing/2014/main" id="{BC9FE173-AEAD-D847-84F6-853651DF2FCA}"/>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Autonomous</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Maintenance</a:t>
              </a:r>
            </a:p>
          </p:txBody>
        </p:sp>
        <p:sp>
          <p:nvSpPr>
            <p:cNvPr id="9" name="AutoShape 15">
              <a:extLst>
                <a:ext uri="{FF2B5EF4-FFF2-40B4-BE49-F238E27FC236}">
                  <a16:creationId xmlns:a16="http://schemas.microsoft.com/office/drawing/2014/main" id="{629845CD-17C6-6B29-B030-EBFA2213EB5D}"/>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Restore</a:t>
              </a:r>
              <a:br>
                <a:rPr lang="en-US" altLang="en-US" sz="1600" dirty="0">
                  <a:solidFill>
                    <a:schemeClr val="bg1"/>
                  </a:solidFill>
                  <a:latin typeface="Roboto" panose="02000000000000000000" pitchFamily="2" charset="0"/>
                  <a:ea typeface="Roboto" panose="02000000000000000000" pitchFamily="2" charset="0"/>
                </a:rPr>
              </a:br>
              <a:r>
                <a:rPr lang="en-US" altLang="en-US" sz="1600" dirty="0">
                  <a:solidFill>
                    <a:schemeClr val="bg1"/>
                  </a:solidFill>
                  <a:latin typeface="Roboto" panose="02000000000000000000" pitchFamily="2" charset="0"/>
                  <a:ea typeface="Roboto" panose="02000000000000000000" pitchFamily="2" charset="0"/>
                </a:rPr>
                <a:t>Deterioration </a:t>
              </a:r>
            </a:p>
          </p:txBody>
        </p:sp>
        <p:sp>
          <p:nvSpPr>
            <p:cNvPr id="10" name="AutoShape 16">
              <a:extLst>
                <a:ext uri="{FF2B5EF4-FFF2-40B4-BE49-F238E27FC236}">
                  <a16:creationId xmlns:a16="http://schemas.microsoft.com/office/drawing/2014/main" id="{FEAF248B-64D7-9F33-FB35-C84D7FE3E2BE}"/>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Loss Data</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Analysis and</a:t>
              </a:r>
              <a:br>
                <a:rPr lang="en-US" altLang="en-US" sz="1600">
                  <a:solidFill>
                    <a:schemeClr val="bg1"/>
                  </a:solidFill>
                  <a:latin typeface="Roboto" panose="02000000000000000000" pitchFamily="2" charset="0"/>
                  <a:ea typeface="Roboto" panose="02000000000000000000" pitchFamily="2" charset="0"/>
                </a:rPr>
              </a:br>
              <a:r>
                <a:rPr lang="en-US" altLang="en-US" sz="1600">
                  <a:solidFill>
                    <a:schemeClr val="bg1"/>
                  </a:solidFill>
                  <a:latin typeface="Roboto" panose="02000000000000000000" pitchFamily="2" charset="0"/>
                  <a:ea typeface="Roboto" panose="02000000000000000000" pitchFamily="2" charset="0"/>
                </a:rPr>
                <a:t>OEE</a:t>
              </a:r>
            </a:p>
          </p:txBody>
        </p:sp>
      </p:grpSp>
    </p:spTree>
    <p:extLst>
      <p:ext uri="{BB962C8B-B14F-4D97-AF65-F5344CB8AC3E}">
        <p14:creationId xmlns:p14="http://schemas.microsoft.com/office/powerpoint/2010/main" val="2562685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Who uses TPM?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20" name="Group 19">
            <a:extLst>
              <a:ext uri="{FF2B5EF4-FFF2-40B4-BE49-F238E27FC236}">
                <a16:creationId xmlns:a16="http://schemas.microsoft.com/office/drawing/2014/main" id="{8216B0FD-6D0B-D5BF-DE9B-BD941B22ADFE}"/>
              </a:ext>
            </a:extLst>
          </p:cNvPr>
          <p:cNvGrpSpPr/>
          <p:nvPr/>
        </p:nvGrpSpPr>
        <p:grpSpPr>
          <a:xfrm>
            <a:off x="952500" y="1817370"/>
            <a:ext cx="10287000" cy="4275882"/>
            <a:chOff x="457200" y="1536700"/>
            <a:chExt cx="8264525" cy="4551363"/>
          </a:xfrm>
        </p:grpSpPr>
        <p:sp>
          <p:nvSpPr>
            <p:cNvPr id="3" name="Line 8">
              <a:extLst>
                <a:ext uri="{FF2B5EF4-FFF2-40B4-BE49-F238E27FC236}">
                  <a16:creationId xmlns:a16="http://schemas.microsoft.com/office/drawing/2014/main" id="{FE8D0F44-BBDF-83E1-552E-7D1704253664}"/>
                </a:ext>
              </a:extLst>
            </p:cNvPr>
            <p:cNvSpPr>
              <a:spLocks noChangeShapeType="1"/>
            </p:cNvSpPr>
            <p:nvPr/>
          </p:nvSpPr>
          <p:spPr bwMode="auto">
            <a:xfrm>
              <a:off x="471488" y="2706688"/>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 name="Line 9">
              <a:extLst>
                <a:ext uri="{FF2B5EF4-FFF2-40B4-BE49-F238E27FC236}">
                  <a16:creationId xmlns:a16="http://schemas.microsoft.com/office/drawing/2014/main" id="{AC39C187-8580-AE86-1511-0EEA9D488B1B}"/>
                </a:ext>
              </a:extLst>
            </p:cNvPr>
            <p:cNvSpPr>
              <a:spLocks noChangeShapeType="1"/>
            </p:cNvSpPr>
            <p:nvPr/>
          </p:nvSpPr>
          <p:spPr bwMode="auto">
            <a:xfrm>
              <a:off x="487363" y="3711575"/>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 name="Line 10">
              <a:extLst>
                <a:ext uri="{FF2B5EF4-FFF2-40B4-BE49-F238E27FC236}">
                  <a16:creationId xmlns:a16="http://schemas.microsoft.com/office/drawing/2014/main" id="{4BB7687F-570A-0B98-CC94-D2B34F657B14}"/>
                </a:ext>
              </a:extLst>
            </p:cNvPr>
            <p:cNvSpPr>
              <a:spLocks noChangeShapeType="1"/>
            </p:cNvSpPr>
            <p:nvPr/>
          </p:nvSpPr>
          <p:spPr bwMode="auto">
            <a:xfrm>
              <a:off x="457200" y="4516438"/>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 name="Line 11">
              <a:extLst>
                <a:ext uri="{FF2B5EF4-FFF2-40B4-BE49-F238E27FC236}">
                  <a16:creationId xmlns:a16="http://schemas.microsoft.com/office/drawing/2014/main" id="{6A7D3460-B63A-B677-EDC1-DB657041900F}"/>
                </a:ext>
              </a:extLst>
            </p:cNvPr>
            <p:cNvSpPr>
              <a:spLocks noChangeShapeType="1"/>
            </p:cNvSpPr>
            <p:nvPr/>
          </p:nvSpPr>
          <p:spPr bwMode="auto">
            <a:xfrm>
              <a:off x="473075" y="530701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 name="Rectangle 12">
              <a:extLst>
                <a:ext uri="{FF2B5EF4-FFF2-40B4-BE49-F238E27FC236}">
                  <a16:creationId xmlns:a16="http://schemas.microsoft.com/office/drawing/2014/main" id="{2AC4AA8A-6BBE-B393-D47B-96B0B5276C79}"/>
                </a:ext>
              </a:extLst>
            </p:cNvPr>
            <p:cNvSpPr>
              <a:spLocks noChangeArrowheads="1"/>
            </p:cNvSpPr>
            <p:nvPr/>
          </p:nvSpPr>
          <p:spPr bwMode="auto">
            <a:xfrm>
              <a:off x="3638550" y="1954213"/>
              <a:ext cx="4970463" cy="5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 $5MM investment resulted in a $16MM increase in profits which could be traced to TPM implementation</a:t>
              </a:r>
            </a:p>
          </p:txBody>
        </p:sp>
        <p:sp>
          <p:nvSpPr>
            <p:cNvPr id="9" name="Rectangle 13">
              <a:extLst>
                <a:ext uri="{FF2B5EF4-FFF2-40B4-BE49-F238E27FC236}">
                  <a16:creationId xmlns:a16="http://schemas.microsoft.com/office/drawing/2014/main" id="{1C17F835-FAFE-A86C-CAFD-10AA84FA5C0C}"/>
                </a:ext>
              </a:extLst>
            </p:cNvPr>
            <p:cNvSpPr>
              <a:spLocks noChangeArrowheads="1"/>
            </p:cNvSpPr>
            <p:nvPr/>
          </p:nvSpPr>
          <p:spPr bwMode="auto">
            <a:xfrm>
              <a:off x="3641725" y="2898775"/>
              <a:ext cx="4981575" cy="30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Began in 1992 – led to improvements in productivity and costs</a:t>
              </a:r>
              <a:endParaRPr lang="en-US" altLang="en-US" sz="1400" b="0">
                <a:latin typeface="Roboto" panose="02000000000000000000" pitchFamily="2" charset="0"/>
                <a:ea typeface="Roboto" panose="02000000000000000000" pitchFamily="2" charset="0"/>
              </a:endParaRPr>
            </a:p>
          </p:txBody>
        </p:sp>
        <p:sp>
          <p:nvSpPr>
            <p:cNvPr id="10" name="Rectangle 14">
              <a:extLst>
                <a:ext uri="{FF2B5EF4-FFF2-40B4-BE49-F238E27FC236}">
                  <a16:creationId xmlns:a16="http://schemas.microsoft.com/office/drawing/2014/main" id="{50F62F7B-2259-8BFC-58F0-C64B377D5BC7}"/>
                </a:ext>
              </a:extLst>
            </p:cNvPr>
            <p:cNvSpPr>
              <a:spLocks noChangeArrowheads="1"/>
            </p:cNvSpPr>
            <p:nvPr/>
          </p:nvSpPr>
          <p:spPr bwMode="auto">
            <a:xfrm>
              <a:off x="3641725" y="3690938"/>
              <a:ext cx="4970463" cy="640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Started in 1986 – productivity increase of 50-80%</a:t>
              </a:r>
            </a:p>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Improvements in maintenance costs, lead times, and OTD</a:t>
              </a:r>
              <a:endParaRPr lang="en-US" altLang="en-US" sz="1400" b="0">
                <a:latin typeface="Roboto" panose="02000000000000000000" pitchFamily="2" charset="0"/>
                <a:ea typeface="Roboto" panose="02000000000000000000" pitchFamily="2" charset="0"/>
              </a:endParaRPr>
            </a:p>
          </p:txBody>
        </p:sp>
        <p:sp>
          <p:nvSpPr>
            <p:cNvPr id="11" name="Rectangle 15">
              <a:extLst>
                <a:ext uri="{FF2B5EF4-FFF2-40B4-BE49-F238E27FC236}">
                  <a16:creationId xmlns:a16="http://schemas.microsoft.com/office/drawing/2014/main" id="{3ACFAE8A-427C-FF2A-652E-FD2CB4ECC872}"/>
                </a:ext>
              </a:extLst>
            </p:cNvPr>
            <p:cNvSpPr>
              <a:spLocks noChangeArrowheads="1"/>
            </p:cNvSpPr>
            <p:nvPr/>
          </p:nvSpPr>
          <p:spPr bwMode="auto">
            <a:xfrm>
              <a:off x="3641725" y="4600575"/>
              <a:ext cx="4970463" cy="30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Started in 1991 – increased capacity, cost reductions</a:t>
              </a:r>
              <a:endParaRPr lang="en-US" altLang="en-US" sz="1400" b="0">
                <a:latin typeface="Roboto" panose="02000000000000000000" pitchFamily="2" charset="0"/>
                <a:ea typeface="Roboto" panose="02000000000000000000" pitchFamily="2" charset="0"/>
              </a:endParaRPr>
            </a:p>
          </p:txBody>
        </p:sp>
        <p:sp>
          <p:nvSpPr>
            <p:cNvPr id="12" name="Line 16">
              <a:extLst>
                <a:ext uri="{FF2B5EF4-FFF2-40B4-BE49-F238E27FC236}">
                  <a16:creationId xmlns:a16="http://schemas.microsoft.com/office/drawing/2014/main" id="{B66A3337-2DAC-8415-4C1B-FF590534F0D1}"/>
                </a:ext>
              </a:extLst>
            </p:cNvPr>
            <p:cNvSpPr>
              <a:spLocks noChangeShapeType="1"/>
            </p:cNvSpPr>
            <p:nvPr/>
          </p:nvSpPr>
          <p:spPr bwMode="auto">
            <a:xfrm flipV="1">
              <a:off x="461963" y="1824038"/>
              <a:ext cx="8250237" cy="158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3" name="Text Box 17">
              <a:extLst>
                <a:ext uri="{FF2B5EF4-FFF2-40B4-BE49-F238E27FC236}">
                  <a16:creationId xmlns:a16="http://schemas.microsoft.com/office/drawing/2014/main" id="{C95F0612-C96D-8DC1-CAC0-BB37BB089B57}"/>
                </a:ext>
              </a:extLst>
            </p:cNvPr>
            <p:cNvSpPr txBox="1">
              <a:spLocks noChangeArrowheads="1"/>
            </p:cNvSpPr>
            <p:nvPr/>
          </p:nvSpPr>
          <p:spPr bwMode="auto">
            <a:xfrm>
              <a:off x="471488" y="1536700"/>
              <a:ext cx="3970683" cy="33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Company		                  Results</a:t>
              </a:r>
            </a:p>
          </p:txBody>
        </p:sp>
        <p:sp>
          <p:nvSpPr>
            <p:cNvPr id="14" name="Rectangle 24">
              <a:extLst>
                <a:ext uri="{FF2B5EF4-FFF2-40B4-BE49-F238E27FC236}">
                  <a16:creationId xmlns:a16="http://schemas.microsoft.com/office/drawing/2014/main" id="{60811149-65C4-0989-F159-6AAF6F15B7DC}"/>
                </a:ext>
              </a:extLst>
            </p:cNvPr>
            <p:cNvSpPr>
              <a:spLocks noChangeArrowheads="1"/>
            </p:cNvSpPr>
            <p:nvPr/>
          </p:nvSpPr>
          <p:spPr bwMode="auto">
            <a:xfrm>
              <a:off x="3651250" y="5367338"/>
              <a:ext cx="4970463" cy="640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$200MM/year savings attributable to TPM</a:t>
              </a:r>
            </a:p>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Established </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Maintenance Excellence Recognition Award</a:t>
              </a:r>
              <a:r>
                <a:rPr lang="ja-JP" altLang="en-US" sz="1400">
                  <a:latin typeface="Roboto" panose="02000000000000000000" pitchFamily="2" charset="0"/>
                </a:rPr>
                <a:t>”</a:t>
              </a:r>
              <a:endParaRPr lang="en-US" altLang="en-US" sz="1400" b="0">
                <a:latin typeface="Roboto" panose="02000000000000000000" pitchFamily="2" charset="0"/>
                <a:ea typeface="Roboto" panose="02000000000000000000" pitchFamily="2" charset="0"/>
              </a:endParaRPr>
            </a:p>
          </p:txBody>
        </p:sp>
        <p:pic>
          <p:nvPicPr>
            <p:cNvPr id="15" name="Picture 29" descr="kLogo">
              <a:hlinkClick r:id="rId3"/>
              <a:extLst>
                <a:ext uri="{FF2B5EF4-FFF2-40B4-BE49-F238E27FC236}">
                  <a16:creationId xmlns:a16="http://schemas.microsoft.com/office/drawing/2014/main" id="{CB57A46B-467D-BA84-9B8A-155BC8EB27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5" y="2041525"/>
              <a:ext cx="14509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1" descr="img_logo">
              <a:hlinkClick r:id="rId5"/>
              <a:extLst>
                <a:ext uri="{FF2B5EF4-FFF2-40B4-BE49-F238E27FC236}">
                  <a16:creationId xmlns:a16="http://schemas.microsoft.com/office/drawing/2014/main" id="{4FB3EE8E-205D-D606-8F5E-827E992AAD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2700" y="2811463"/>
              <a:ext cx="107315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8">
              <a:extLst>
                <a:ext uri="{FF2B5EF4-FFF2-40B4-BE49-F238E27FC236}">
                  <a16:creationId xmlns:a16="http://schemas.microsoft.com/office/drawing/2014/main" id="{DE5DF7B3-1B27-788E-5A62-7B6F33F50BC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256" b="-529"/>
            <a:stretch>
              <a:fillRect/>
            </a:stretch>
          </p:blipFill>
          <p:spPr bwMode="auto">
            <a:xfrm>
              <a:off x="509588" y="3898900"/>
              <a:ext cx="26797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8" name="Picture 40" descr="logo">
              <a:extLst>
                <a:ext uri="{FF2B5EF4-FFF2-40B4-BE49-F238E27FC236}">
                  <a16:creationId xmlns:a16="http://schemas.microsoft.com/office/drawing/2014/main" id="{78F1A759-079E-590D-84C5-72D23090DF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6300" y="4648200"/>
              <a:ext cx="19161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42" descr="The miracles of science™">
              <a:hlinkClick r:id="rId9"/>
              <a:extLst>
                <a:ext uri="{FF2B5EF4-FFF2-40B4-BE49-F238E27FC236}">
                  <a16:creationId xmlns:a16="http://schemas.microsoft.com/office/drawing/2014/main" id="{B4858EB3-9703-81ED-5C5F-CCD1C3E5AC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5445125"/>
              <a:ext cx="20351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27219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Traditional vs. TPM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pic>
        <p:nvPicPr>
          <p:cNvPr id="21" name="Picture 5" descr="Traditional vs TPM">
            <a:extLst>
              <a:ext uri="{FF2B5EF4-FFF2-40B4-BE49-F238E27FC236}">
                <a16:creationId xmlns:a16="http://schemas.microsoft.com/office/drawing/2014/main" id="{E308E6D7-167E-BB38-285D-66935A7C2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8206" y="1796073"/>
            <a:ext cx="787558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579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Why Implement TPM?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Improve Customer Service</a:t>
            </a:r>
          </a:p>
          <a:p>
            <a:r>
              <a:rPr lang="en-US" dirty="0"/>
              <a:t>Improve Quality</a:t>
            </a:r>
          </a:p>
          <a:p>
            <a:r>
              <a:rPr lang="en-US" dirty="0"/>
              <a:t>Improve Cost</a:t>
            </a:r>
          </a:p>
          <a:p>
            <a:r>
              <a:rPr lang="en-US" dirty="0"/>
              <a:t>Improve Environmental, Health, and Safety</a:t>
            </a:r>
          </a:p>
          <a:p>
            <a:r>
              <a:rPr lang="en-US" dirty="0"/>
              <a:t>IMPROVE PROFITABILITY!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spTree>
    <p:extLst>
      <p:ext uri="{BB962C8B-B14F-4D97-AF65-F5344CB8AC3E}">
        <p14:creationId xmlns:p14="http://schemas.microsoft.com/office/powerpoint/2010/main" val="3423772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Can We Respond to the Challenge?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pic>
        <p:nvPicPr>
          <p:cNvPr id="4" name="Picture 9" descr="Untitled">
            <a:extLst>
              <a:ext uri="{FF2B5EF4-FFF2-40B4-BE49-F238E27FC236}">
                <a16:creationId xmlns:a16="http://schemas.microsoft.com/office/drawing/2014/main" id="{B09A7B9C-5A27-D02E-8DF8-298A9A6B4FB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18251" y="1933303"/>
            <a:ext cx="7555498" cy="4152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205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dirty="0"/>
              <a:t>TPM should be tied to VSM Kaizen Bursts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215" name="Group 214">
            <a:extLst>
              <a:ext uri="{FF2B5EF4-FFF2-40B4-BE49-F238E27FC236}">
                <a16:creationId xmlns:a16="http://schemas.microsoft.com/office/drawing/2014/main" id="{394A793F-A824-3A16-D830-2103A5A473EB}"/>
              </a:ext>
            </a:extLst>
          </p:cNvPr>
          <p:cNvGrpSpPr/>
          <p:nvPr/>
        </p:nvGrpSpPr>
        <p:grpSpPr>
          <a:xfrm>
            <a:off x="838200" y="1908810"/>
            <a:ext cx="10648950" cy="4145280"/>
            <a:chOff x="493713" y="1387475"/>
            <a:chExt cx="8334375" cy="4632325"/>
          </a:xfrm>
        </p:grpSpPr>
        <p:sp>
          <p:nvSpPr>
            <p:cNvPr id="3" name="Rectangle 2">
              <a:extLst>
                <a:ext uri="{FF2B5EF4-FFF2-40B4-BE49-F238E27FC236}">
                  <a16:creationId xmlns:a16="http://schemas.microsoft.com/office/drawing/2014/main" id="{CB3017C5-88CE-7EF5-1911-7464B66CE1C1}"/>
                </a:ext>
              </a:extLst>
            </p:cNvPr>
            <p:cNvSpPr>
              <a:spLocks noChangeArrowheads="1"/>
            </p:cNvSpPr>
            <p:nvPr/>
          </p:nvSpPr>
          <p:spPr bwMode="auto">
            <a:xfrm>
              <a:off x="493713" y="1387475"/>
              <a:ext cx="8207375" cy="4632325"/>
            </a:xfrm>
            <a:prstGeom prst="rect">
              <a:avLst/>
            </a:prstGeom>
            <a:solidFill>
              <a:schemeClr val="bg2"/>
            </a:solidFill>
            <a:ln w="12700" cap="sq">
              <a:solidFill>
                <a:schemeClr val="tx1"/>
              </a:solidFill>
              <a:miter lim="800000"/>
              <a:headEnd type="none" w="sm" len="sm"/>
              <a:tailEnd type="none" w="sm" len="sm"/>
            </a:ln>
            <a:effectLst>
              <a:outerShdw dist="63500" dir="3187806" algn="ctr" rotWithShape="0">
                <a:schemeClr val="tx1"/>
              </a:outerShdw>
            </a:effectLst>
          </p:spPr>
          <p:txBody>
            <a:bodyPr wrap="none" anchor="ctr"/>
            <a:lstStyle/>
            <a:p>
              <a:pPr algn="ctr">
                <a:lnSpc>
                  <a:spcPct val="80000"/>
                </a:lnSpc>
                <a:spcBef>
                  <a:spcPct val="20000"/>
                </a:spcBef>
                <a:defRPr/>
              </a:pPr>
              <a:endParaRPr lang="en-US">
                <a:latin typeface="Roboto" panose="02000000000000000000" pitchFamily="2" charset="0"/>
                <a:ea typeface="Roboto" panose="02000000000000000000" pitchFamily="2" charset="0"/>
              </a:endParaRPr>
            </a:p>
          </p:txBody>
        </p:sp>
        <p:sp>
          <p:nvSpPr>
            <p:cNvPr id="5" name="Text Box 3">
              <a:extLst>
                <a:ext uri="{FF2B5EF4-FFF2-40B4-BE49-F238E27FC236}">
                  <a16:creationId xmlns:a16="http://schemas.microsoft.com/office/drawing/2014/main" id="{413A09BA-F0C6-07C9-6FE1-78CF6E347757}"/>
                </a:ext>
              </a:extLst>
            </p:cNvPr>
            <p:cNvSpPr txBox="1">
              <a:spLocks noChangeArrowheads="1"/>
            </p:cNvSpPr>
            <p:nvPr/>
          </p:nvSpPr>
          <p:spPr bwMode="auto">
            <a:xfrm>
              <a:off x="7693025" y="2090738"/>
              <a:ext cx="11350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58738" indent="-58738">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Char char="•"/>
              </a:pPr>
              <a:r>
                <a:rPr lang="en-US" altLang="en-US" sz="800" b="0">
                  <a:latin typeface="Roboto" panose="02000000000000000000" pitchFamily="2" charset="0"/>
                  <a:ea typeface="Roboto" panose="02000000000000000000" pitchFamily="2" charset="0"/>
                </a:rPr>
                <a:t>Demand = 30,000 Enclosures/month</a:t>
              </a:r>
            </a:p>
            <a:p>
              <a:pPr>
                <a:lnSpc>
                  <a:spcPct val="100000"/>
                </a:lnSpc>
                <a:spcBef>
                  <a:spcPct val="0"/>
                </a:spcBef>
                <a:spcAft>
                  <a:spcPct val="0"/>
                </a:spcAft>
                <a:buClrTx/>
                <a:buSzTx/>
                <a:buFontTx/>
                <a:buChar char="•"/>
              </a:pPr>
              <a:r>
                <a:rPr lang="en-US" altLang="en-US" sz="800" b="0">
                  <a:latin typeface="Roboto" panose="02000000000000000000" pitchFamily="2" charset="0"/>
                  <a:ea typeface="Roboto" panose="02000000000000000000" pitchFamily="2" charset="0"/>
                </a:rPr>
                <a:t>1 Shift</a:t>
              </a:r>
            </a:p>
          </p:txBody>
        </p:sp>
        <p:grpSp>
          <p:nvGrpSpPr>
            <p:cNvPr id="6" name="Group 4">
              <a:extLst>
                <a:ext uri="{FF2B5EF4-FFF2-40B4-BE49-F238E27FC236}">
                  <a16:creationId xmlns:a16="http://schemas.microsoft.com/office/drawing/2014/main" id="{1E3F7CEA-6DA9-712E-8C67-B9B857755885}"/>
                </a:ext>
              </a:extLst>
            </p:cNvPr>
            <p:cNvGrpSpPr>
              <a:grpSpLocks/>
            </p:cNvGrpSpPr>
            <p:nvPr/>
          </p:nvGrpSpPr>
          <p:grpSpPr bwMode="auto">
            <a:xfrm>
              <a:off x="7077075" y="5375275"/>
              <a:ext cx="1654175" cy="446088"/>
              <a:chOff x="4584" y="3386"/>
              <a:chExt cx="1042" cy="281"/>
            </a:xfrm>
          </p:grpSpPr>
          <p:grpSp>
            <p:nvGrpSpPr>
              <p:cNvPr id="7" name="Group 5">
                <a:extLst>
                  <a:ext uri="{FF2B5EF4-FFF2-40B4-BE49-F238E27FC236}">
                    <a16:creationId xmlns:a16="http://schemas.microsoft.com/office/drawing/2014/main" id="{2CBC9F12-3B1A-4724-9C92-0D8EDEEE31D9}"/>
                  </a:ext>
                </a:extLst>
              </p:cNvPr>
              <p:cNvGrpSpPr>
                <a:grpSpLocks/>
              </p:cNvGrpSpPr>
              <p:nvPr/>
            </p:nvGrpSpPr>
            <p:grpSpPr bwMode="auto">
              <a:xfrm>
                <a:off x="4584" y="3402"/>
                <a:ext cx="1033" cy="235"/>
                <a:chOff x="4471" y="3427"/>
                <a:chExt cx="1033" cy="235"/>
              </a:xfrm>
            </p:grpSpPr>
            <p:sp>
              <p:nvSpPr>
                <p:cNvPr id="9" name="Text Box 6">
                  <a:extLst>
                    <a:ext uri="{FF2B5EF4-FFF2-40B4-BE49-F238E27FC236}">
                      <a16:creationId xmlns:a16="http://schemas.microsoft.com/office/drawing/2014/main" id="{1E329DE3-444A-2F3F-19CD-B1140D111C18}"/>
                    </a:ext>
                  </a:extLst>
                </p:cNvPr>
                <p:cNvSpPr txBox="1">
                  <a:spLocks noChangeArrowheads="1"/>
                </p:cNvSpPr>
                <p:nvPr/>
              </p:nvSpPr>
              <p:spPr bwMode="auto">
                <a:xfrm>
                  <a:off x="4471" y="3427"/>
                  <a:ext cx="103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r">
                    <a:lnSpc>
                      <a:spcPct val="100000"/>
                    </a:lnSpc>
                    <a:spcBef>
                      <a:spcPct val="30000"/>
                    </a:spcBef>
                    <a:spcAft>
                      <a:spcPct val="0"/>
                    </a:spcAft>
                    <a:buClrTx/>
                    <a:buSzTx/>
                    <a:buFontTx/>
                    <a:buNone/>
                  </a:pPr>
                  <a:r>
                    <a:rPr lang="en-US" altLang="en-US" sz="800" b="0">
                      <a:latin typeface="Roboto" panose="02000000000000000000" pitchFamily="2" charset="0"/>
                      <a:ea typeface="Roboto" panose="02000000000000000000" pitchFamily="2" charset="0"/>
                    </a:rPr>
                    <a:t>Production L.T. =  19.7 days    </a:t>
                  </a:r>
                </a:p>
                <a:p>
                  <a:pPr algn="r">
                    <a:lnSpc>
                      <a:spcPct val="100000"/>
                    </a:lnSpc>
                    <a:spcBef>
                      <a:spcPct val="30000"/>
                    </a:spcBef>
                    <a:spcAft>
                      <a:spcPct val="0"/>
                    </a:spcAft>
                    <a:buClrTx/>
                    <a:buSzTx/>
                    <a:buFontTx/>
                    <a:buNone/>
                  </a:pPr>
                  <a:r>
                    <a:rPr lang="en-US" altLang="en-US" sz="800" b="0">
                      <a:latin typeface="Roboto" panose="02000000000000000000" pitchFamily="2" charset="0"/>
                      <a:ea typeface="Roboto" panose="02000000000000000000" pitchFamily="2" charset="0"/>
                    </a:rPr>
                    <a:t>Processing Time = 275 seconds</a:t>
                  </a:r>
                </a:p>
              </p:txBody>
            </p:sp>
            <p:sp>
              <p:nvSpPr>
                <p:cNvPr id="10" name="Line 7">
                  <a:extLst>
                    <a:ext uri="{FF2B5EF4-FFF2-40B4-BE49-F238E27FC236}">
                      <a16:creationId xmlns:a16="http://schemas.microsoft.com/office/drawing/2014/main" id="{342AB4F1-A211-AE2C-0C74-ED177E4CAB5C}"/>
                    </a:ext>
                  </a:extLst>
                </p:cNvPr>
                <p:cNvSpPr>
                  <a:spLocks noChangeShapeType="1"/>
                </p:cNvSpPr>
                <p:nvPr/>
              </p:nvSpPr>
              <p:spPr bwMode="auto">
                <a:xfrm flipV="1">
                  <a:off x="4550" y="3539"/>
                  <a:ext cx="893"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8" name="Rectangle 8">
                <a:extLst>
                  <a:ext uri="{FF2B5EF4-FFF2-40B4-BE49-F238E27FC236}">
                    <a16:creationId xmlns:a16="http://schemas.microsoft.com/office/drawing/2014/main" id="{A8307D87-B56C-F9B0-4542-BAB4A81FD2EA}"/>
                  </a:ext>
                </a:extLst>
              </p:cNvPr>
              <p:cNvSpPr>
                <a:spLocks noChangeArrowheads="1"/>
              </p:cNvSpPr>
              <p:nvPr/>
            </p:nvSpPr>
            <p:spPr bwMode="auto">
              <a:xfrm>
                <a:off x="4589" y="3386"/>
                <a:ext cx="1037" cy="281"/>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grpSp>
          <p:nvGrpSpPr>
            <p:cNvPr id="11" name="Group 9">
              <a:extLst>
                <a:ext uri="{FF2B5EF4-FFF2-40B4-BE49-F238E27FC236}">
                  <a16:creationId xmlns:a16="http://schemas.microsoft.com/office/drawing/2014/main" id="{EF23C6BC-3232-8936-88B8-6DFB64C67A7B}"/>
                </a:ext>
              </a:extLst>
            </p:cNvPr>
            <p:cNvGrpSpPr>
              <a:grpSpLocks/>
            </p:cNvGrpSpPr>
            <p:nvPr/>
          </p:nvGrpSpPr>
          <p:grpSpPr bwMode="auto">
            <a:xfrm>
              <a:off x="1558925" y="3810000"/>
              <a:ext cx="879475" cy="1547813"/>
              <a:chOff x="983" y="2380"/>
              <a:chExt cx="554" cy="975"/>
            </a:xfrm>
          </p:grpSpPr>
          <p:grpSp>
            <p:nvGrpSpPr>
              <p:cNvPr id="12" name="Group 10">
                <a:extLst>
                  <a:ext uri="{FF2B5EF4-FFF2-40B4-BE49-F238E27FC236}">
                    <a16:creationId xmlns:a16="http://schemas.microsoft.com/office/drawing/2014/main" id="{7D1C3909-90F2-BAC8-E08D-3001B67C83E2}"/>
                  </a:ext>
                </a:extLst>
              </p:cNvPr>
              <p:cNvGrpSpPr>
                <a:grpSpLocks/>
              </p:cNvGrpSpPr>
              <p:nvPr/>
            </p:nvGrpSpPr>
            <p:grpSpPr bwMode="auto">
              <a:xfrm>
                <a:off x="1008" y="2380"/>
                <a:ext cx="525" cy="390"/>
                <a:chOff x="1367" y="2370"/>
                <a:chExt cx="434" cy="390"/>
              </a:xfrm>
            </p:grpSpPr>
            <p:grpSp>
              <p:nvGrpSpPr>
                <p:cNvPr id="16" name="Group 11">
                  <a:extLst>
                    <a:ext uri="{FF2B5EF4-FFF2-40B4-BE49-F238E27FC236}">
                      <a16:creationId xmlns:a16="http://schemas.microsoft.com/office/drawing/2014/main" id="{925846F6-9B2E-9A4B-A866-B97C4495B4AF}"/>
                    </a:ext>
                  </a:extLst>
                </p:cNvPr>
                <p:cNvGrpSpPr>
                  <a:grpSpLocks/>
                </p:cNvGrpSpPr>
                <p:nvPr/>
              </p:nvGrpSpPr>
              <p:grpSpPr bwMode="auto">
                <a:xfrm>
                  <a:off x="1367" y="2395"/>
                  <a:ext cx="434" cy="365"/>
                  <a:chOff x="418" y="2981"/>
                  <a:chExt cx="352" cy="365"/>
                </a:xfrm>
              </p:grpSpPr>
              <p:sp>
                <p:nvSpPr>
                  <p:cNvPr id="22" name="Rectangle 12">
                    <a:extLst>
                      <a:ext uri="{FF2B5EF4-FFF2-40B4-BE49-F238E27FC236}">
                        <a16:creationId xmlns:a16="http://schemas.microsoft.com/office/drawing/2014/main" id="{80BA0BA5-22D9-2374-BA23-4AF3C4D19E80}"/>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Line 13">
                    <a:extLst>
                      <a:ext uri="{FF2B5EF4-FFF2-40B4-BE49-F238E27FC236}">
                        <a16:creationId xmlns:a16="http://schemas.microsoft.com/office/drawing/2014/main" id="{C24DEB62-06A6-9236-8D45-1AA422634DA9}"/>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17" name="Group 14">
                  <a:extLst>
                    <a:ext uri="{FF2B5EF4-FFF2-40B4-BE49-F238E27FC236}">
                      <a16:creationId xmlns:a16="http://schemas.microsoft.com/office/drawing/2014/main" id="{8541B6B2-0186-6844-3EBC-0ED88DB2F7D5}"/>
                    </a:ext>
                  </a:extLst>
                </p:cNvPr>
                <p:cNvGrpSpPr>
                  <a:grpSpLocks/>
                </p:cNvGrpSpPr>
                <p:nvPr/>
              </p:nvGrpSpPr>
              <p:grpSpPr bwMode="auto">
                <a:xfrm flipV="1">
                  <a:off x="1462" y="2586"/>
                  <a:ext cx="96" cy="112"/>
                  <a:chOff x="720" y="3354"/>
                  <a:chExt cx="192" cy="198"/>
                </a:xfrm>
              </p:grpSpPr>
              <p:sp>
                <p:nvSpPr>
                  <p:cNvPr id="20" name="Oval 15">
                    <a:extLst>
                      <a:ext uri="{FF2B5EF4-FFF2-40B4-BE49-F238E27FC236}">
                        <a16:creationId xmlns:a16="http://schemas.microsoft.com/office/drawing/2014/main" id="{50CBAEE2-28CE-4AAC-A83C-F71CCF4946FC}"/>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1" name="AutoShape 16">
                    <a:extLst>
                      <a:ext uri="{FF2B5EF4-FFF2-40B4-BE49-F238E27FC236}">
                        <a16:creationId xmlns:a16="http://schemas.microsoft.com/office/drawing/2014/main" id="{8C43D968-5A6A-3B41-24EB-A26FEA7FFE24}"/>
                      </a:ext>
                    </a:extLst>
                  </p:cNvPr>
                  <p:cNvSpPr>
                    <a:spLocks noChangeArrowheads="1"/>
                  </p:cNvSpPr>
                  <p:nvPr/>
                </p:nvSpPr>
                <p:spPr bwMode="auto">
                  <a:xfrm>
                    <a:off x="720" y="3354"/>
                    <a:ext cx="192" cy="1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8" name="Text Box 17">
                  <a:extLst>
                    <a:ext uri="{FF2B5EF4-FFF2-40B4-BE49-F238E27FC236}">
                      <a16:creationId xmlns:a16="http://schemas.microsoft.com/office/drawing/2014/main" id="{D89A7C04-F31B-BAE1-EC85-42EAF80933A8}"/>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 5</a:t>
                  </a:r>
                </a:p>
              </p:txBody>
            </p:sp>
            <p:sp>
              <p:nvSpPr>
                <p:cNvPr id="19" name="Text Box 18">
                  <a:extLst>
                    <a:ext uri="{FF2B5EF4-FFF2-40B4-BE49-F238E27FC236}">
                      <a16:creationId xmlns:a16="http://schemas.microsoft.com/office/drawing/2014/main" id="{E381FDE4-50F4-2635-33F6-F586B6595CE9}"/>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Cut</a:t>
                  </a:r>
                </a:p>
              </p:txBody>
            </p:sp>
          </p:grpSp>
          <p:grpSp>
            <p:nvGrpSpPr>
              <p:cNvPr id="13" name="Group 19">
                <a:extLst>
                  <a:ext uri="{FF2B5EF4-FFF2-40B4-BE49-F238E27FC236}">
                    <a16:creationId xmlns:a16="http://schemas.microsoft.com/office/drawing/2014/main" id="{4DBAA730-09A5-9024-C4E3-5DDE9EADAB9A}"/>
                  </a:ext>
                </a:extLst>
              </p:cNvPr>
              <p:cNvGrpSpPr>
                <a:grpSpLocks/>
              </p:cNvGrpSpPr>
              <p:nvPr/>
            </p:nvGrpSpPr>
            <p:grpSpPr bwMode="auto">
              <a:xfrm>
                <a:off x="983" y="2832"/>
                <a:ext cx="554" cy="523"/>
                <a:chOff x="983" y="2832"/>
                <a:chExt cx="554" cy="523"/>
              </a:xfrm>
            </p:grpSpPr>
            <p:sp>
              <p:nvSpPr>
                <p:cNvPr id="14" name="Rectangle 20">
                  <a:extLst>
                    <a:ext uri="{FF2B5EF4-FFF2-40B4-BE49-F238E27FC236}">
                      <a16:creationId xmlns:a16="http://schemas.microsoft.com/office/drawing/2014/main" id="{150EAADB-0C30-25C9-27D7-04634BC74630}"/>
                    </a:ext>
                  </a:extLst>
                </p:cNvPr>
                <p:cNvSpPr>
                  <a:spLocks noChangeArrowheads="1"/>
                </p:cNvSpPr>
                <p:nvPr/>
              </p:nvSpPr>
              <p:spPr bwMode="auto">
                <a:xfrm>
                  <a:off x="1012" y="2832"/>
                  <a:ext cx="525" cy="432"/>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5" name="Text Box 21">
                  <a:extLst>
                    <a:ext uri="{FF2B5EF4-FFF2-40B4-BE49-F238E27FC236}">
                      <a16:creationId xmlns:a16="http://schemas.microsoft.com/office/drawing/2014/main" id="{9312E168-87E7-0F50-6E1D-22D5AEA8F19C}"/>
                    </a:ext>
                  </a:extLst>
                </p:cNvPr>
                <p:cNvSpPr txBox="1">
                  <a:spLocks noChangeArrowheads="1"/>
                </p:cNvSpPr>
                <p:nvPr/>
              </p:nvSpPr>
              <p:spPr bwMode="auto">
                <a:xfrm>
                  <a:off x="983" y="2832"/>
                  <a:ext cx="55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12</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30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5 Machines</a:t>
                  </a:r>
                </a:p>
              </p:txBody>
            </p:sp>
          </p:grpSp>
        </p:grpSp>
        <p:sp>
          <p:nvSpPr>
            <p:cNvPr id="24" name="Line 23">
              <a:extLst>
                <a:ext uri="{FF2B5EF4-FFF2-40B4-BE49-F238E27FC236}">
                  <a16:creationId xmlns:a16="http://schemas.microsoft.com/office/drawing/2014/main" id="{EDBDACB2-E012-AA85-53FB-B20673BCD0A7}"/>
                </a:ext>
              </a:extLst>
            </p:cNvPr>
            <p:cNvSpPr>
              <a:spLocks noChangeShapeType="1"/>
            </p:cNvSpPr>
            <p:nvPr/>
          </p:nvSpPr>
          <p:spPr bwMode="auto">
            <a:xfrm flipV="1">
              <a:off x="2455863" y="4133850"/>
              <a:ext cx="981075"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25" name="AutoShape 24">
              <a:extLst>
                <a:ext uri="{FF2B5EF4-FFF2-40B4-BE49-F238E27FC236}">
                  <a16:creationId xmlns:a16="http://schemas.microsoft.com/office/drawing/2014/main" id="{9BC5137B-A5BB-DE72-6D83-F36B100B4634}"/>
                </a:ext>
              </a:extLst>
            </p:cNvPr>
            <p:cNvSpPr>
              <a:spLocks noChangeArrowheads="1"/>
            </p:cNvSpPr>
            <p:nvPr/>
          </p:nvSpPr>
          <p:spPr bwMode="auto">
            <a:xfrm>
              <a:off x="2732088"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Roboto" panose="02000000000000000000" pitchFamily="2" charset="0"/>
                  <a:ea typeface="Roboto" panose="02000000000000000000" pitchFamily="2" charset="0"/>
                </a:rPr>
                <a:t>I</a:t>
              </a:r>
            </a:p>
          </p:txBody>
        </p:sp>
        <p:sp>
          <p:nvSpPr>
            <p:cNvPr id="26" name="Line 25">
              <a:extLst>
                <a:ext uri="{FF2B5EF4-FFF2-40B4-BE49-F238E27FC236}">
                  <a16:creationId xmlns:a16="http://schemas.microsoft.com/office/drawing/2014/main" id="{D1206CA1-1CA6-4B14-950F-A85C76A0ECF0}"/>
                </a:ext>
              </a:extLst>
            </p:cNvPr>
            <p:cNvSpPr>
              <a:spLocks noChangeShapeType="1"/>
            </p:cNvSpPr>
            <p:nvPr/>
          </p:nvSpPr>
          <p:spPr bwMode="auto">
            <a:xfrm>
              <a:off x="1076325" y="2543175"/>
              <a:ext cx="7938" cy="1389063"/>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 name="Line 26">
              <a:extLst>
                <a:ext uri="{FF2B5EF4-FFF2-40B4-BE49-F238E27FC236}">
                  <a16:creationId xmlns:a16="http://schemas.microsoft.com/office/drawing/2014/main" id="{4EFEA6D2-499F-B39C-EE94-3A5D34CA0A63}"/>
                </a:ext>
              </a:extLst>
            </p:cNvPr>
            <p:cNvSpPr>
              <a:spLocks noChangeShapeType="1"/>
            </p:cNvSpPr>
            <p:nvPr/>
          </p:nvSpPr>
          <p:spPr bwMode="auto">
            <a:xfrm flipH="1" flipV="1">
              <a:off x="7373938" y="2520950"/>
              <a:ext cx="1587" cy="1296988"/>
            </a:xfrm>
            <a:prstGeom prst="line">
              <a:avLst/>
            </a:prstGeom>
            <a:noFill/>
            <a:ln w="50800" cmpd="dbl">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8" name="Group 27">
              <a:extLst>
                <a:ext uri="{FF2B5EF4-FFF2-40B4-BE49-F238E27FC236}">
                  <a16:creationId xmlns:a16="http://schemas.microsoft.com/office/drawing/2014/main" id="{DAF31450-0D1A-41EB-E595-661B749C231F}"/>
                </a:ext>
              </a:extLst>
            </p:cNvPr>
            <p:cNvGrpSpPr>
              <a:grpSpLocks/>
            </p:cNvGrpSpPr>
            <p:nvPr/>
          </p:nvGrpSpPr>
          <p:grpSpPr bwMode="auto">
            <a:xfrm>
              <a:off x="3355975" y="3770313"/>
              <a:ext cx="890588" cy="1441450"/>
              <a:chOff x="2155" y="2375"/>
              <a:chExt cx="561" cy="908"/>
            </a:xfrm>
          </p:grpSpPr>
          <p:sp>
            <p:nvSpPr>
              <p:cNvPr id="29" name="Rectangle 28">
                <a:extLst>
                  <a:ext uri="{FF2B5EF4-FFF2-40B4-BE49-F238E27FC236}">
                    <a16:creationId xmlns:a16="http://schemas.microsoft.com/office/drawing/2014/main" id="{B92862B6-80A3-583E-C35A-6CA62B16CE0D}"/>
                  </a:ext>
                </a:extLst>
              </p:cNvPr>
              <p:cNvSpPr>
                <a:spLocks noChangeArrowheads="1"/>
              </p:cNvSpPr>
              <p:nvPr/>
            </p:nvSpPr>
            <p:spPr bwMode="auto">
              <a:xfrm>
                <a:off x="2191" y="2827"/>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nvGrpSpPr>
              <p:cNvPr id="30" name="Group 29">
                <a:extLst>
                  <a:ext uri="{FF2B5EF4-FFF2-40B4-BE49-F238E27FC236}">
                    <a16:creationId xmlns:a16="http://schemas.microsoft.com/office/drawing/2014/main" id="{4600F7E7-7B4E-A916-9DBD-DF1C054C418F}"/>
                  </a:ext>
                </a:extLst>
              </p:cNvPr>
              <p:cNvGrpSpPr>
                <a:grpSpLocks/>
              </p:cNvGrpSpPr>
              <p:nvPr/>
            </p:nvGrpSpPr>
            <p:grpSpPr bwMode="auto">
              <a:xfrm>
                <a:off x="2187" y="2375"/>
                <a:ext cx="525" cy="390"/>
                <a:chOff x="1367" y="2370"/>
                <a:chExt cx="434" cy="390"/>
              </a:xfrm>
            </p:grpSpPr>
            <p:grpSp>
              <p:nvGrpSpPr>
                <p:cNvPr id="32" name="Group 30">
                  <a:extLst>
                    <a:ext uri="{FF2B5EF4-FFF2-40B4-BE49-F238E27FC236}">
                      <a16:creationId xmlns:a16="http://schemas.microsoft.com/office/drawing/2014/main" id="{AE834ACD-5EFA-7506-69E8-B6245ACD371E}"/>
                    </a:ext>
                  </a:extLst>
                </p:cNvPr>
                <p:cNvGrpSpPr>
                  <a:grpSpLocks/>
                </p:cNvGrpSpPr>
                <p:nvPr/>
              </p:nvGrpSpPr>
              <p:grpSpPr bwMode="auto">
                <a:xfrm>
                  <a:off x="1367" y="2395"/>
                  <a:ext cx="434" cy="365"/>
                  <a:chOff x="418" y="2981"/>
                  <a:chExt cx="352" cy="365"/>
                </a:xfrm>
              </p:grpSpPr>
              <p:sp>
                <p:nvSpPr>
                  <p:cNvPr id="38" name="Rectangle 31">
                    <a:extLst>
                      <a:ext uri="{FF2B5EF4-FFF2-40B4-BE49-F238E27FC236}">
                        <a16:creationId xmlns:a16="http://schemas.microsoft.com/office/drawing/2014/main" id="{40AB9AAF-EC0D-0139-12A6-93B2B59986C2}"/>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9" name="Line 32">
                    <a:extLst>
                      <a:ext uri="{FF2B5EF4-FFF2-40B4-BE49-F238E27FC236}">
                        <a16:creationId xmlns:a16="http://schemas.microsoft.com/office/drawing/2014/main" id="{02CB6274-6AA6-4083-E0D0-86D1BAF17AB4}"/>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33" name="Group 33">
                  <a:extLst>
                    <a:ext uri="{FF2B5EF4-FFF2-40B4-BE49-F238E27FC236}">
                      <a16:creationId xmlns:a16="http://schemas.microsoft.com/office/drawing/2014/main" id="{51565E8D-1A3F-6932-3AEF-BD0E86B45A6F}"/>
                    </a:ext>
                  </a:extLst>
                </p:cNvPr>
                <p:cNvGrpSpPr>
                  <a:grpSpLocks/>
                </p:cNvGrpSpPr>
                <p:nvPr/>
              </p:nvGrpSpPr>
              <p:grpSpPr bwMode="auto">
                <a:xfrm flipV="1">
                  <a:off x="1462" y="2586"/>
                  <a:ext cx="96" cy="112"/>
                  <a:chOff x="720" y="3354"/>
                  <a:chExt cx="192" cy="198"/>
                </a:xfrm>
              </p:grpSpPr>
              <p:sp>
                <p:nvSpPr>
                  <p:cNvPr id="36" name="Oval 34">
                    <a:extLst>
                      <a:ext uri="{FF2B5EF4-FFF2-40B4-BE49-F238E27FC236}">
                        <a16:creationId xmlns:a16="http://schemas.microsoft.com/office/drawing/2014/main" id="{540A01D9-EF79-6A5F-0E0A-18B4396E7CDE}"/>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7" name="AutoShape 35">
                    <a:extLst>
                      <a:ext uri="{FF2B5EF4-FFF2-40B4-BE49-F238E27FC236}">
                        <a16:creationId xmlns:a16="http://schemas.microsoft.com/office/drawing/2014/main" id="{85097CB9-252A-958E-5744-8755BC28BB8D}"/>
                      </a:ext>
                    </a:extLst>
                  </p:cNvPr>
                  <p:cNvSpPr>
                    <a:spLocks noChangeArrowheads="1"/>
                  </p:cNvSpPr>
                  <p:nvPr/>
                </p:nvSpPr>
                <p:spPr bwMode="auto">
                  <a:xfrm>
                    <a:off x="720" y="3354"/>
                    <a:ext cx="192" cy="1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34" name="Text Box 36">
                  <a:extLst>
                    <a:ext uri="{FF2B5EF4-FFF2-40B4-BE49-F238E27FC236}">
                      <a16:creationId xmlns:a16="http://schemas.microsoft.com/office/drawing/2014/main" id="{930880F8-1753-24D6-F0A5-095C519F93B7}"/>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 1</a:t>
                  </a:r>
                </a:p>
              </p:txBody>
            </p:sp>
            <p:sp>
              <p:nvSpPr>
                <p:cNvPr id="35" name="Text Box 37">
                  <a:extLst>
                    <a:ext uri="{FF2B5EF4-FFF2-40B4-BE49-F238E27FC236}">
                      <a16:creationId xmlns:a16="http://schemas.microsoft.com/office/drawing/2014/main" id="{C3DC1FD0-A662-AC85-2CFE-530B024794CF}"/>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Stamp</a:t>
                  </a:r>
                </a:p>
              </p:txBody>
            </p:sp>
          </p:grpSp>
          <p:sp>
            <p:nvSpPr>
              <p:cNvPr id="31" name="Text Box 38">
                <a:extLst>
                  <a:ext uri="{FF2B5EF4-FFF2-40B4-BE49-F238E27FC236}">
                    <a16:creationId xmlns:a16="http://schemas.microsoft.com/office/drawing/2014/main" id="{7EA09B0B-A3E1-75AE-C13A-970273ECDD6F}"/>
                  </a:ext>
                </a:extLst>
              </p:cNvPr>
              <p:cNvSpPr txBox="1">
                <a:spLocks noChangeArrowheads="1"/>
              </p:cNvSpPr>
              <p:nvPr/>
            </p:nvSpPr>
            <p:spPr bwMode="auto">
              <a:xfrm>
                <a:off x="2155" y="2837"/>
                <a:ext cx="55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15</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30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99%</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98%</a:t>
                </a:r>
              </a:p>
            </p:txBody>
          </p:sp>
        </p:grpSp>
        <p:grpSp>
          <p:nvGrpSpPr>
            <p:cNvPr id="40" name="Group 39">
              <a:extLst>
                <a:ext uri="{FF2B5EF4-FFF2-40B4-BE49-F238E27FC236}">
                  <a16:creationId xmlns:a16="http://schemas.microsoft.com/office/drawing/2014/main" id="{5125F195-E64B-F888-BB76-917002729AD3}"/>
                </a:ext>
              </a:extLst>
            </p:cNvPr>
            <p:cNvGrpSpPr>
              <a:grpSpLocks/>
            </p:cNvGrpSpPr>
            <p:nvPr/>
          </p:nvGrpSpPr>
          <p:grpSpPr bwMode="auto">
            <a:xfrm>
              <a:off x="5164138" y="3762375"/>
              <a:ext cx="960437" cy="1314450"/>
              <a:chOff x="3253" y="2370"/>
              <a:chExt cx="605" cy="828"/>
            </a:xfrm>
          </p:grpSpPr>
          <p:sp>
            <p:nvSpPr>
              <p:cNvPr id="41" name="Rectangle 40">
                <a:extLst>
                  <a:ext uri="{FF2B5EF4-FFF2-40B4-BE49-F238E27FC236}">
                    <a16:creationId xmlns:a16="http://schemas.microsoft.com/office/drawing/2014/main" id="{DA02983A-069D-C24D-7EA6-8153CE2517EC}"/>
                  </a:ext>
                </a:extLst>
              </p:cNvPr>
              <p:cNvSpPr>
                <a:spLocks noChangeArrowheads="1"/>
              </p:cNvSpPr>
              <p:nvPr/>
            </p:nvSpPr>
            <p:spPr bwMode="auto">
              <a:xfrm>
                <a:off x="3289" y="2822"/>
                <a:ext cx="525"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nvGrpSpPr>
              <p:cNvPr id="42" name="Group 41">
                <a:extLst>
                  <a:ext uri="{FF2B5EF4-FFF2-40B4-BE49-F238E27FC236}">
                    <a16:creationId xmlns:a16="http://schemas.microsoft.com/office/drawing/2014/main" id="{C65DEB8D-EBE6-F93B-3532-03056BAA396B}"/>
                  </a:ext>
                </a:extLst>
              </p:cNvPr>
              <p:cNvGrpSpPr>
                <a:grpSpLocks/>
              </p:cNvGrpSpPr>
              <p:nvPr/>
            </p:nvGrpSpPr>
            <p:grpSpPr bwMode="auto">
              <a:xfrm>
                <a:off x="3285" y="2370"/>
                <a:ext cx="525" cy="390"/>
                <a:chOff x="1367" y="2370"/>
                <a:chExt cx="434" cy="390"/>
              </a:xfrm>
            </p:grpSpPr>
            <p:grpSp>
              <p:nvGrpSpPr>
                <p:cNvPr id="44" name="Group 42">
                  <a:extLst>
                    <a:ext uri="{FF2B5EF4-FFF2-40B4-BE49-F238E27FC236}">
                      <a16:creationId xmlns:a16="http://schemas.microsoft.com/office/drawing/2014/main" id="{8C621BB9-E09D-B863-A399-B9200EED52E4}"/>
                    </a:ext>
                  </a:extLst>
                </p:cNvPr>
                <p:cNvGrpSpPr>
                  <a:grpSpLocks/>
                </p:cNvGrpSpPr>
                <p:nvPr/>
              </p:nvGrpSpPr>
              <p:grpSpPr bwMode="auto">
                <a:xfrm>
                  <a:off x="1367" y="2395"/>
                  <a:ext cx="434" cy="365"/>
                  <a:chOff x="418" y="2981"/>
                  <a:chExt cx="352" cy="365"/>
                </a:xfrm>
              </p:grpSpPr>
              <p:sp>
                <p:nvSpPr>
                  <p:cNvPr id="50" name="Rectangle 43">
                    <a:extLst>
                      <a:ext uri="{FF2B5EF4-FFF2-40B4-BE49-F238E27FC236}">
                        <a16:creationId xmlns:a16="http://schemas.microsoft.com/office/drawing/2014/main" id="{1AE7E95B-6D59-CC2F-8BFD-5123FAC16837}"/>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51" name="Line 44">
                    <a:extLst>
                      <a:ext uri="{FF2B5EF4-FFF2-40B4-BE49-F238E27FC236}">
                        <a16:creationId xmlns:a16="http://schemas.microsoft.com/office/drawing/2014/main" id="{AA8EA9A8-3F27-2A19-12AF-B06DFDD0489C}"/>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grpSp>
              <p:nvGrpSpPr>
                <p:cNvPr id="45" name="Group 45">
                  <a:extLst>
                    <a:ext uri="{FF2B5EF4-FFF2-40B4-BE49-F238E27FC236}">
                      <a16:creationId xmlns:a16="http://schemas.microsoft.com/office/drawing/2014/main" id="{9B8DBF5F-8B70-6D70-CA1B-9B4E3F8EFDB0}"/>
                    </a:ext>
                  </a:extLst>
                </p:cNvPr>
                <p:cNvGrpSpPr>
                  <a:grpSpLocks/>
                </p:cNvGrpSpPr>
                <p:nvPr/>
              </p:nvGrpSpPr>
              <p:grpSpPr bwMode="auto">
                <a:xfrm flipV="1">
                  <a:off x="1462" y="2586"/>
                  <a:ext cx="96" cy="112"/>
                  <a:chOff x="720" y="3354"/>
                  <a:chExt cx="192" cy="198"/>
                </a:xfrm>
              </p:grpSpPr>
              <p:sp>
                <p:nvSpPr>
                  <p:cNvPr id="48" name="Oval 46">
                    <a:extLst>
                      <a:ext uri="{FF2B5EF4-FFF2-40B4-BE49-F238E27FC236}">
                        <a16:creationId xmlns:a16="http://schemas.microsoft.com/office/drawing/2014/main" id="{2263FE10-EBD1-DF7A-F0AE-C6DE79F8DE07}"/>
                      </a:ext>
                    </a:extLst>
                  </p:cNvPr>
                  <p:cNvSpPr>
                    <a:spLocks noChangeArrowheads="1"/>
                  </p:cNvSpPr>
                  <p:nvPr/>
                </p:nvSpPr>
                <p:spPr bwMode="auto">
                  <a:xfrm>
                    <a:off x="768" y="3408"/>
                    <a:ext cx="96" cy="9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49" name="AutoShape 47">
                    <a:extLst>
                      <a:ext uri="{FF2B5EF4-FFF2-40B4-BE49-F238E27FC236}">
                        <a16:creationId xmlns:a16="http://schemas.microsoft.com/office/drawing/2014/main" id="{A5F230A4-B1A5-8530-30A6-69AECEC24E80}"/>
                      </a:ext>
                    </a:extLst>
                  </p:cNvPr>
                  <p:cNvSpPr>
                    <a:spLocks noChangeArrowheads="1"/>
                  </p:cNvSpPr>
                  <p:nvPr/>
                </p:nvSpPr>
                <p:spPr bwMode="auto">
                  <a:xfrm>
                    <a:off x="720" y="3354"/>
                    <a:ext cx="192" cy="19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45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46" name="Text Box 48">
                  <a:extLst>
                    <a:ext uri="{FF2B5EF4-FFF2-40B4-BE49-F238E27FC236}">
                      <a16:creationId xmlns:a16="http://schemas.microsoft.com/office/drawing/2014/main" id="{60737A54-E771-3491-41B1-762348F82E03}"/>
                    </a:ext>
                  </a:extLst>
                </p:cNvPr>
                <p:cNvSpPr txBox="1">
                  <a:spLocks noChangeArrowheads="1"/>
                </p:cNvSpPr>
                <p:nvPr/>
              </p:nvSpPr>
              <p:spPr bwMode="auto">
                <a:xfrm>
                  <a:off x="1562" y="2584"/>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 1</a:t>
                  </a:r>
                </a:p>
              </p:txBody>
            </p:sp>
            <p:sp>
              <p:nvSpPr>
                <p:cNvPr id="47" name="Text Box 49">
                  <a:extLst>
                    <a:ext uri="{FF2B5EF4-FFF2-40B4-BE49-F238E27FC236}">
                      <a16:creationId xmlns:a16="http://schemas.microsoft.com/office/drawing/2014/main" id="{5492EDB6-D014-3F15-9E91-44DC1031E3DB}"/>
                    </a:ext>
                  </a:extLst>
                </p:cNvPr>
                <p:cNvSpPr txBox="1">
                  <a:spLocks noChangeArrowheads="1"/>
                </p:cNvSpPr>
                <p:nvPr/>
              </p:nvSpPr>
              <p:spPr bwMode="auto">
                <a:xfrm>
                  <a:off x="1382" y="2370"/>
                  <a:ext cx="4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Brake Form</a:t>
                  </a:r>
                </a:p>
              </p:txBody>
            </p:sp>
          </p:grpSp>
          <p:sp>
            <p:nvSpPr>
              <p:cNvPr id="43" name="Text Box 50">
                <a:extLst>
                  <a:ext uri="{FF2B5EF4-FFF2-40B4-BE49-F238E27FC236}">
                    <a16:creationId xmlns:a16="http://schemas.microsoft.com/office/drawing/2014/main" id="{65AC3D5F-E5AB-6468-6D82-C7592E107301}"/>
                  </a:ext>
                </a:extLst>
              </p:cNvPr>
              <p:cNvSpPr txBox="1">
                <a:spLocks noChangeArrowheads="1"/>
              </p:cNvSpPr>
              <p:nvPr/>
            </p:nvSpPr>
            <p:spPr bwMode="auto">
              <a:xfrm>
                <a:off x="3253" y="2832"/>
                <a:ext cx="60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DOI = 20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C/O Time = 120</a:t>
                </a:r>
                <a:r>
                  <a:rPr lang="ja-JP" altLang="en-US" sz="800" b="0">
                    <a:latin typeface="Roboto" panose="02000000000000000000" pitchFamily="2" charset="0"/>
                  </a:rPr>
                  <a:t>’</a:t>
                </a:r>
                <a:endParaRPr lang="en-US" altLang="ja-JP" sz="8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Uptime = 80%</a:t>
                </a:r>
              </a:p>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Quality = 99%</a:t>
                </a:r>
              </a:p>
            </p:txBody>
          </p:sp>
        </p:grpSp>
        <p:grpSp>
          <p:nvGrpSpPr>
            <p:cNvPr id="52" name="Group 51">
              <a:extLst>
                <a:ext uri="{FF2B5EF4-FFF2-40B4-BE49-F238E27FC236}">
                  <a16:creationId xmlns:a16="http://schemas.microsoft.com/office/drawing/2014/main" id="{C7D5D91F-437B-0D4B-3DC5-2E0F4E12A655}"/>
                </a:ext>
              </a:extLst>
            </p:cNvPr>
            <p:cNvGrpSpPr>
              <a:grpSpLocks/>
            </p:cNvGrpSpPr>
            <p:nvPr/>
          </p:nvGrpSpPr>
          <p:grpSpPr bwMode="auto">
            <a:xfrm>
              <a:off x="7023100" y="3786188"/>
              <a:ext cx="833438" cy="619125"/>
              <a:chOff x="4424" y="2385"/>
              <a:chExt cx="525" cy="390"/>
            </a:xfrm>
          </p:grpSpPr>
          <p:grpSp>
            <p:nvGrpSpPr>
              <p:cNvPr id="53" name="Group 52">
                <a:extLst>
                  <a:ext uri="{FF2B5EF4-FFF2-40B4-BE49-F238E27FC236}">
                    <a16:creationId xmlns:a16="http://schemas.microsoft.com/office/drawing/2014/main" id="{4F3B489E-C92E-CCF4-8600-BB8A0EE5BB57}"/>
                  </a:ext>
                </a:extLst>
              </p:cNvPr>
              <p:cNvGrpSpPr>
                <a:grpSpLocks/>
              </p:cNvGrpSpPr>
              <p:nvPr/>
            </p:nvGrpSpPr>
            <p:grpSpPr bwMode="auto">
              <a:xfrm>
                <a:off x="4424" y="2410"/>
                <a:ext cx="525" cy="365"/>
                <a:chOff x="418" y="2981"/>
                <a:chExt cx="352" cy="365"/>
              </a:xfrm>
            </p:grpSpPr>
            <p:sp>
              <p:nvSpPr>
                <p:cNvPr id="55" name="Rectangle 53">
                  <a:extLst>
                    <a:ext uri="{FF2B5EF4-FFF2-40B4-BE49-F238E27FC236}">
                      <a16:creationId xmlns:a16="http://schemas.microsoft.com/office/drawing/2014/main" id="{72C1D127-AA26-1FAC-DA30-BD12F25271BE}"/>
                    </a:ext>
                  </a:extLst>
                </p:cNvPr>
                <p:cNvSpPr>
                  <a:spLocks noChangeArrowheads="1"/>
                </p:cNvSpPr>
                <p:nvPr/>
              </p:nvSpPr>
              <p:spPr bwMode="auto">
                <a:xfrm>
                  <a:off x="418" y="2981"/>
                  <a:ext cx="352" cy="365"/>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56" name="Line 54">
                  <a:extLst>
                    <a:ext uri="{FF2B5EF4-FFF2-40B4-BE49-F238E27FC236}">
                      <a16:creationId xmlns:a16="http://schemas.microsoft.com/office/drawing/2014/main" id="{26A1DBAF-40BA-6574-E14D-E037A3CA2D80}"/>
                    </a:ext>
                  </a:extLst>
                </p:cNvPr>
                <p:cNvSpPr>
                  <a:spLocks noChangeShapeType="1"/>
                </p:cNvSpPr>
                <p:nvPr/>
              </p:nvSpPr>
              <p:spPr bwMode="auto">
                <a:xfrm>
                  <a:off x="420" y="3083"/>
                  <a:ext cx="347"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54" name="Text Box 55">
                <a:extLst>
                  <a:ext uri="{FF2B5EF4-FFF2-40B4-BE49-F238E27FC236}">
                    <a16:creationId xmlns:a16="http://schemas.microsoft.com/office/drawing/2014/main" id="{AC4F798C-84E7-705A-0CB6-291AA02ACA56}"/>
                  </a:ext>
                </a:extLst>
              </p:cNvPr>
              <p:cNvSpPr txBox="1">
                <a:spLocks noChangeArrowheads="1"/>
              </p:cNvSpPr>
              <p:nvPr/>
            </p:nvSpPr>
            <p:spPr bwMode="auto">
              <a:xfrm>
                <a:off x="4442" y="2385"/>
                <a:ext cx="4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Ship</a:t>
                </a:r>
              </a:p>
            </p:txBody>
          </p:sp>
        </p:grpSp>
        <p:sp>
          <p:nvSpPr>
            <p:cNvPr id="57" name="Line 56">
              <a:extLst>
                <a:ext uri="{FF2B5EF4-FFF2-40B4-BE49-F238E27FC236}">
                  <a16:creationId xmlns:a16="http://schemas.microsoft.com/office/drawing/2014/main" id="{DA96FE3D-1E83-5667-138A-62998B96B750}"/>
                </a:ext>
              </a:extLst>
            </p:cNvPr>
            <p:cNvSpPr>
              <a:spLocks noChangeShapeType="1"/>
            </p:cNvSpPr>
            <p:nvPr/>
          </p:nvSpPr>
          <p:spPr bwMode="auto">
            <a:xfrm flipV="1">
              <a:off x="4262438" y="4133850"/>
              <a:ext cx="950912"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58" name="Line 57">
              <a:extLst>
                <a:ext uri="{FF2B5EF4-FFF2-40B4-BE49-F238E27FC236}">
                  <a16:creationId xmlns:a16="http://schemas.microsoft.com/office/drawing/2014/main" id="{F9F8A475-D052-82CC-E32C-22A600BD611A}"/>
                </a:ext>
              </a:extLst>
            </p:cNvPr>
            <p:cNvSpPr>
              <a:spLocks noChangeShapeType="1"/>
            </p:cNvSpPr>
            <p:nvPr/>
          </p:nvSpPr>
          <p:spPr bwMode="auto">
            <a:xfrm flipV="1">
              <a:off x="6069013" y="4133850"/>
              <a:ext cx="950912" cy="1270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nvGrpSpPr>
            <p:cNvPr id="59" name="Group 58">
              <a:extLst>
                <a:ext uri="{FF2B5EF4-FFF2-40B4-BE49-F238E27FC236}">
                  <a16:creationId xmlns:a16="http://schemas.microsoft.com/office/drawing/2014/main" id="{5A330D64-2243-1103-836B-97545964C992}"/>
                </a:ext>
              </a:extLst>
            </p:cNvPr>
            <p:cNvGrpSpPr>
              <a:grpSpLocks/>
            </p:cNvGrpSpPr>
            <p:nvPr/>
          </p:nvGrpSpPr>
          <p:grpSpPr bwMode="auto">
            <a:xfrm>
              <a:off x="619125" y="1979613"/>
              <a:ext cx="925513" cy="584200"/>
              <a:chOff x="435" y="1322"/>
              <a:chExt cx="583" cy="368"/>
            </a:xfrm>
          </p:grpSpPr>
          <p:grpSp>
            <p:nvGrpSpPr>
              <p:cNvPr id="60" name="Group 59">
                <a:extLst>
                  <a:ext uri="{FF2B5EF4-FFF2-40B4-BE49-F238E27FC236}">
                    <a16:creationId xmlns:a16="http://schemas.microsoft.com/office/drawing/2014/main" id="{05579297-18FD-C92F-5005-C4D4E180D6AA}"/>
                  </a:ext>
                </a:extLst>
              </p:cNvPr>
              <p:cNvGrpSpPr>
                <a:grpSpLocks/>
              </p:cNvGrpSpPr>
              <p:nvPr/>
            </p:nvGrpSpPr>
            <p:grpSpPr bwMode="auto">
              <a:xfrm>
                <a:off x="474" y="1322"/>
                <a:ext cx="508" cy="348"/>
                <a:chOff x="536" y="1322"/>
                <a:chExt cx="446" cy="348"/>
              </a:xfrm>
            </p:grpSpPr>
            <p:sp>
              <p:nvSpPr>
                <p:cNvPr id="62" name="Rectangle 60">
                  <a:extLst>
                    <a:ext uri="{FF2B5EF4-FFF2-40B4-BE49-F238E27FC236}">
                      <a16:creationId xmlns:a16="http://schemas.microsoft.com/office/drawing/2014/main" id="{9460338D-B30D-9100-5495-F7D6A4EA405A}"/>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3" name="Rectangle 61">
                  <a:extLst>
                    <a:ext uri="{FF2B5EF4-FFF2-40B4-BE49-F238E27FC236}">
                      <a16:creationId xmlns:a16="http://schemas.microsoft.com/office/drawing/2014/main" id="{450CF245-C944-34EF-2132-8215BF1A3A8F}"/>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endParaRPr lang="en-US" altLang="en-US" sz="1400" b="0">
                    <a:solidFill>
                      <a:srgbClr val="FF0000"/>
                    </a:solidFill>
                    <a:latin typeface="Roboto" panose="02000000000000000000" pitchFamily="2" charset="0"/>
                    <a:ea typeface="Roboto" panose="02000000000000000000" pitchFamily="2" charset="0"/>
                  </a:endParaRPr>
                </a:p>
              </p:txBody>
            </p:sp>
            <p:sp>
              <p:nvSpPr>
                <p:cNvPr id="64" name="AutoShape 62">
                  <a:extLst>
                    <a:ext uri="{FF2B5EF4-FFF2-40B4-BE49-F238E27FC236}">
                      <a16:creationId xmlns:a16="http://schemas.microsoft.com/office/drawing/2014/main" id="{5C7EAC9C-88A0-28CB-F46C-38B7DF0CEA12}"/>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5" name="AutoShape 63">
                  <a:extLst>
                    <a:ext uri="{FF2B5EF4-FFF2-40B4-BE49-F238E27FC236}">
                      <a16:creationId xmlns:a16="http://schemas.microsoft.com/office/drawing/2014/main" id="{A15283D1-1E2E-E463-5568-5FB6D3EBC2C7}"/>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6" name="AutoShape 64">
                  <a:extLst>
                    <a:ext uri="{FF2B5EF4-FFF2-40B4-BE49-F238E27FC236}">
                      <a16:creationId xmlns:a16="http://schemas.microsoft.com/office/drawing/2014/main" id="{2CF53B2E-48E6-25CD-0AF4-C9BB4FE7B5FE}"/>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7" name="Rectangle 65">
                  <a:extLst>
                    <a:ext uri="{FF2B5EF4-FFF2-40B4-BE49-F238E27FC236}">
                      <a16:creationId xmlns:a16="http://schemas.microsoft.com/office/drawing/2014/main" id="{5EE33EA4-3937-DFD9-9DCB-FC8E1D69B29C}"/>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8" name="Rectangle 66">
                  <a:extLst>
                    <a:ext uri="{FF2B5EF4-FFF2-40B4-BE49-F238E27FC236}">
                      <a16:creationId xmlns:a16="http://schemas.microsoft.com/office/drawing/2014/main" id="{A405C3FC-1C25-DA4F-9126-B3BAAEEC14DA}"/>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9" name="Rectangle 67">
                  <a:extLst>
                    <a:ext uri="{FF2B5EF4-FFF2-40B4-BE49-F238E27FC236}">
                      <a16:creationId xmlns:a16="http://schemas.microsoft.com/office/drawing/2014/main" id="{DD8937C1-DACD-E430-A3A0-CA291FD93AE9}"/>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sp>
            <p:nvSpPr>
              <p:cNvPr id="61" name="Text Box 68">
                <a:extLst>
                  <a:ext uri="{FF2B5EF4-FFF2-40B4-BE49-F238E27FC236}">
                    <a16:creationId xmlns:a16="http://schemas.microsoft.com/office/drawing/2014/main" id="{BC1061DB-E51C-50A6-CEAB-86EB749B41A8}"/>
                  </a:ext>
                </a:extLst>
              </p:cNvPr>
              <p:cNvSpPr txBox="1">
                <a:spLocks noChangeArrowheads="1"/>
              </p:cNvSpPr>
              <p:nvPr/>
            </p:nvSpPr>
            <p:spPr bwMode="auto">
              <a:xfrm>
                <a:off x="435" y="1494"/>
                <a:ext cx="5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Acme</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Sheet Metal Co.</a:t>
                </a:r>
              </a:p>
            </p:txBody>
          </p:sp>
        </p:grpSp>
        <p:grpSp>
          <p:nvGrpSpPr>
            <p:cNvPr id="70" name="Group 69">
              <a:extLst>
                <a:ext uri="{FF2B5EF4-FFF2-40B4-BE49-F238E27FC236}">
                  <a16:creationId xmlns:a16="http://schemas.microsoft.com/office/drawing/2014/main" id="{4DE862F9-DFA6-163A-BC45-8E879E40D42D}"/>
                </a:ext>
              </a:extLst>
            </p:cNvPr>
            <p:cNvGrpSpPr>
              <a:grpSpLocks/>
            </p:cNvGrpSpPr>
            <p:nvPr/>
          </p:nvGrpSpPr>
          <p:grpSpPr bwMode="auto">
            <a:xfrm>
              <a:off x="6878638" y="1939925"/>
              <a:ext cx="925512" cy="584200"/>
              <a:chOff x="435" y="1322"/>
              <a:chExt cx="583" cy="368"/>
            </a:xfrm>
          </p:grpSpPr>
          <p:grpSp>
            <p:nvGrpSpPr>
              <p:cNvPr id="71" name="Group 70">
                <a:extLst>
                  <a:ext uri="{FF2B5EF4-FFF2-40B4-BE49-F238E27FC236}">
                    <a16:creationId xmlns:a16="http://schemas.microsoft.com/office/drawing/2014/main" id="{EBABD7DC-F5A4-8E1F-2250-F772B6ED89AA}"/>
                  </a:ext>
                </a:extLst>
              </p:cNvPr>
              <p:cNvGrpSpPr>
                <a:grpSpLocks/>
              </p:cNvGrpSpPr>
              <p:nvPr/>
            </p:nvGrpSpPr>
            <p:grpSpPr bwMode="auto">
              <a:xfrm>
                <a:off x="474" y="1322"/>
                <a:ext cx="508" cy="348"/>
                <a:chOff x="536" y="1322"/>
                <a:chExt cx="446" cy="348"/>
              </a:xfrm>
            </p:grpSpPr>
            <p:sp>
              <p:nvSpPr>
                <p:cNvPr id="73" name="Rectangle 71">
                  <a:extLst>
                    <a:ext uri="{FF2B5EF4-FFF2-40B4-BE49-F238E27FC236}">
                      <a16:creationId xmlns:a16="http://schemas.microsoft.com/office/drawing/2014/main" id="{B86E7473-06E4-6153-9605-641CEC7DDE29}"/>
                    </a:ext>
                  </a:extLst>
                </p:cNvPr>
                <p:cNvSpPr>
                  <a:spLocks noChangeArrowheads="1"/>
                </p:cNvSpPr>
                <p:nvPr/>
              </p:nvSpPr>
              <p:spPr bwMode="auto">
                <a:xfrm>
                  <a:off x="950" y="1322"/>
                  <a:ext cx="29" cy="18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4" name="Rectangle 72">
                  <a:extLst>
                    <a:ext uri="{FF2B5EF4-FFF2-40B4-BE49-F238E27FC236}">
                      <a16:creationId xmlns:a16="http://schemas.microsoft.com/office/drawing/2014/main" id="{F94F27C3-8C87-75B7-F3DB-5A4F64EB595B}"/>
                    </a:ext>
                  </a:extLst>
                </p:cNvPr>
                <p:cNvSpPr>
                  <a:spLocks noChangeArrowheads="1"/>
                </p:cNvSpPr>
                <p:nvPr/>
              </p:nvSpPr>
              <p:spPr bwMode="auto">
                <a:xfrm>
                  <a:off x="536" y="1514"/>
                  <a:ext cx="446" cy="156"/>
                </a:xfrm>
                <a:prstGeom prst="rect">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endParaRPr lang="en-US" altLang="en-US" sz="1400" b="0">
                    <a:solidFill>
                      <a:srgbClr val="FF0000"/>
                    </a:solidFill>
                    <a:latin typeface="Roboto" panose="02000000000000000000" pitchFamily="2" charset="0"/>
                    <a:ea typeface="Roboto" panose="02000000000000000000" pitchFamily="2" charset="0"/>
                  </a:endParaRPr>
                </a:p>
              </p:txBody>
            </p:sp>
            <p:sp>
              <p:nvSpPr>
                <p:cNvPr id="75" name="AutoShape 73">
                  <a:extLst>
                    <a:ext uri="{FF2B5EF4-FFF2-40B4-BE49-F238E27FC236}">
                      <a16:creationId xmlns:a16="http://schemas.microsoft.com/office/drawing/2014/main" id="{7A4CE920-676B-5AFD-3857-2E6BD5B44D13}"/>
                    </a:ext>
                  </a:extLst>
                </p:cNvPr>
                <p:cNvSpPr>
                  <a:spLocks noChangeArrowheads="1"/>
                </p:cNvSpPr>
                <p:nvPr/>
              </p:nvSpPr>
              <p:spPr bwMode="auto">
                <a:xfrm>
                  <a:off x="813"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6" name="AutoShape 74">
                  <a:extLst>
                    <a:ext uri="{FF2B5EF4-FFF2-40B4-BE49-F238E27FC236}">
                      <a16:creationId xmlns:a16="http://schemas.microsoft.com/office/drawing/2014/main" id="{A4674351-7290-CD22-E312-F15282A85D39}"/>
                    </a:ext>
                  </a:extLst>
                </p:cNvPr>
                <p:cNvSpPr>
                  <a:spLocks noChangeArrowheads="1"/>
                </p:cNvSpPr>
                <p:nvPr/>
              </p:nvSpPr>
              <p:spPr bwMode="auto">
                <a:xfrm>
                  <a:off x="675"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7" name="AutoShape 75">
                  <a:extLst>
                    <a:ext uri="{FF2B5EF4-FFF2-40B4-BE49-F238E27FC236}">
                      <a16:creationId xmlns:a16="http://schemas.microsoft.com/office/drawing/2014/main" id="{CE9EAAE6-A589-1361-23D7-94E3B78FEDE8}"/>
                    </a:ext>
                  </a:extLst>
                </p:cNvPr>
                <p:cNvSpPr>
                  <a:spLocks noChangeArrowheads="1"/>
                </p:cNvSpPr>
                <p:nvPr/>
              </p:nvSpPr>
              <p:spPr bwMode="auto">
                <a:xfrm>
                  <a:off x="537" y="1372"/>
                  <a:ext cx="137" cy="142"/>
                </a:xfrm>
                <a:prstGeom prst="rtTriangle">
                  <a:avLst/>
                </a:prstGeom>
                <a:solidFill>
                  <a:schemeClr val="bg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8" name="Rectangle 76">
                  <a:extLst>
                    <a:ext uri="{FF2B5EF4-FFF2-40B4-BE49-F238E27FC236}">
                      <a16:creationId xmlns:a16="http://schemas.microsoft.com/office/drawing/2014/main" id="{1103CC50-1205-3C23-4359-6C86B805D4D5}"/>
                    </a:ext>
                  </a:extLst>
                </p:cNvPr>
                <p:cNvSpPr>
                  <a:spLocks noChangeArrowheads="1"/>
                </p:cNvSpPr>
                <p:nvPr/>
              </p:nvSpPr>
              <p:spPr bwMode="auto">
                <a:xfrm>
                  <a:off x="564"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9" name="Rectangle 77">
                  <a:extLst>
                    <a:ext uri="{FF2B5EF4-FFF2-40B4-BE49-F238E27FC236}">
                      <a16:creationId xmlns:a16="http://schemas.microsoft.com/office/drawing/2014/main" id="{EE285EE3-DED1-A8DF-660A-C805F4CF1DD9}"/>
                    </a:ext>
                  </a:extLst>
                </p:cNvPr>
                <p:cNvSpPr>
                  <a:spLocks noChangeArrowheads="1"/>
                </p:cNvSpPr>
                <p:nvPr/>
              </p:nvSpPr>
              <p:spPr bwMode="auto">
                <a:xfrm>
                  <a:off x="707"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0" name="Rectangle 78">
                  <a:extLst>
                    <a:ext uri="{FF2B5EF4-FFF2-40B4-BE49-F238E27FC236}">
                      <a16:creationId xmlns:a16="http://schemas.microsoft.com/office/drawing/2014/main" id="{36D9D82C-516B-76D6-31C9-81D3B171F4AE}"/>
                    </a:ext>
                  </a:extLst>
                </p:cNvPr>
                <p:cNvSpPr>
                  <a:spLocks noChangeArrowheads="1"/>
                </p:cNvSpPr>
                <p:nvPr/>
              </p:nvSpPr>
              <p:spPr bwMode="auto">
                <a:xfrm>
                  <a:off x="850" y="1454"/>
                  <a:ext cx="18" cy="38"/>
                </a:xfrm>
                <a:prstGeom prst="rect">
                  <a:avLst/>
                </a:prstGeom>
                <a:solidFill>
                  <a:schemeClr val="tx1"/>
                </a:solid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sp>
            <p:nvSpPr>
              <p:cNvPr id="72" name="Text Box 79">
                <a:extLst>
                  <a:ext uri="{FF2B5EF4-FFF2-40B4-BE49-F238E27FC236}">
                    <a16:creationId xmlns:a16="http://schemas.microsoft.com/office/drawing/2014/main" id="{24ECCD50-0220-98E2-1704-78E5D2305A04}"/>
                  </a:ext>
                </a:extLst>
              </p:cNvPr>
              <p:cNvSpPr txBox="1">
                <a:spLocks noChangeArrowheads="1"/>
              </p:cNvSpPr>
              <p:nvPr/>
            </p:nvSpPr>
            <p:spPr bwMode="auto">
              <a:xfrm>
                <a:off x="435" y="1494"/>
                <a:ext cx="58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Ed</a:t>
                </a:r>
                <a:r>
                  <a:rPr lang="ja-JP" altLang="en-US" sz="800" b="0">
                    <a:latin typeface="Roboto" panose="02000000000000000000" pitchFamily="2" charset="0"/>
                  </a:rPr>
                  <a:t>’</a:t>
                </a:r>
                <a:r>
                  <a:rPr lang="en-US" altLang="ja-JP" sz="800" b="0">
                    <a:latin typeface="Roboto" panose="02000000000000000000" pitchFamily="2" charset="0"/>
                    <a:ea typeface="Roboto" panose="02000000000000000000" pitchFamily="2" charset="0"/>
                  </a:rPr>
                  <a:t>s Electrical Supply</a:t>
                </a:r>
                <a:endParaRPr lang="en-US" altLang="en-US" sz="800" b="0">
                  <a:latin typeface="Roboto" panose="02000000000000000000" pitchFamily="2" charset="0"/>
                  <a:ea typeface="Roboto" panose="02000000000000000000" pitchFamily="2" charset="0"/>
                </a:endParaRPr>
              </a:p>
            </p:txBody>
          </p:sp>
        </p:grpSp>
        <p:sp>
          <p:nvSpPr>
            <p:cNvPr id="81" name="Text Box 80">
              <a:extLst>
                <a:ext uri="{FF2B5EF4-FFF2-40B4-BE49-F238E27FC236}">
                  <a16:creationId xmlns:a16="http://schemas.microsoft.com/office/drawing/2014/main" id="{11F5224D-EE91-9B4F-5013-9ABC7C5F762F}"/>
                </a:ext>
              </a:extLst>
            </p:cNvPr>
            <p:cNvSpPr txBox="1">
              <a:spLocks noChangeArrowheads="1"/>
            </p:cNvSpPr>
            <p:nvPr/>
          </p:nvSpPr>
          <p:spPr bwMode="auto">
            <a:xfrm>
              <a:off x="3130550" y="1493838"/>
              <a:ext cx="2813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a:latin typeface="Roboto" panose="02000000000000000000" pitchFamily="2" charset="0"/>
                  <a:ea typeface="Roboto" panose="02000000000000000000" pitchFamily="2" charset="0"/>
                </a:rPr>
                <a:t>Mike</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 Metal Enclosures (MME)</a:t>
              </a:r>
              <a:endParaRPr lang="en-US" altLang="en-US" sz="1400">
                <a:latin typeface="Roboto" panose="02000000000000000000" pitchFamily="2" charset="0"/>
                <a:ea typeface="Roboto" panose="02000000000000000000" pitchFamily="2" charset="0"/>
              </a:endParaRPr>
            </a:p>
          </p:txBody>
        </p:sp>
        <p:sp>
          <p:nvSpPr>
            <p:cNvPr id="82" name="AutoShape 81">
              <a:extLst>
                <a:ext uri="{FF2B5EF4-FFF2-40B4-BE49-F238E27FC236}">
                  <a16:creationId xmlns:a16="http://schemas.microsoft.com/office/drawing/2014/main" id="{326C1E8F-8171-3015-B10E-4E90193EE580}"/>
                </a:ext>
              </a:extLst>
            </p:cNvPr>
            <p:cNvSpPr>
              <a:spLocks noChangeArrowheads="1"/>
            </p:cNvSpPr>
            <p:nvPr/>
          </p:nvSpPr>
          <p:spPr bwMode="auto">
            <a:xfrm>
              <a:off x="4538663"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Roboto" panose="02000000000000000000" pitchFamily="2" charset="0"/>
                  <a:ea typeface="Roboto" panose="02000000000000000000" pitchFamily="2" charset="0"/>
                </a:rPr>
                <a:t>I</a:t>
              </a:r>
            </a:p>
          </p:txBody>
        </p:sp>
        <p:sp>
          <p:nvSpPr>
            <p:cNvPr id="83" name="AutoShape 82">
              <a:extLst>
                <a:ext uri="{FF2B5EF4-FFF2-40B4-BE49-F238E27FC236}">
                  <a16:creationId xmlns:a16="http://schemas.microsoft.com/office/drawing/2014/main" id="{FD2204E1-D2DA-48B0-721B-1906D6B5D505}"/>
                </a:ext>
              </a:extLst>
            </p:cNvPr>
            <p:cNvSpPr>
              <a:spLocks noChangeArrowheads="1"/>
            </p:cNvSpPr>
            <p:nvPr/>
          </p:nvSpPr>
          <p:spPr bwMode="auto">
            <a:xfrm>
              <a:off x="6345238" y="395128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Roboto" panose="02000000000000000000" pitchFamily="2" charset="0"/>
                  <a:ea typeface="Roboto" panose="02000000000000000000" pitchFamily="2" charset="0"/>
                </a:rPr>
                <a:t>I</a:t>
              </a:r>
            </a:p>
          </p:txBody>
        </p:sp>
        <p:sp>
          <p:nvSpPr>
            <p:cNvPr id="84" name="Line 83">
              <a:extLst>
                <a:ext uri="{FF2B5EF4-FFF2-40B4-BE49-F238E27FC236}">
                  <a16:creationId xmlns:a16="http://schemas.microsoft.com/office/drawing/2014/main" id="{3D3624D7-F463-5108-0E14-3918B8936BFA}"/>
                </a:ext>
              </a:extLst>
            </p:cNvPr>
            <p:cNvSpPr>
              <a:spLocks noChangeShapeType="1"/>
            </p:cNvSpPr>
            <p:nvPr/>
          </p:nvSpPr>
          <p:spPr bwMode="auto">
            <a:xfrm flipV="1">
              <a:off x="1173163" y="4135438"/>
              <a:ext cx="425450" cy="6350"/>
            </a:xfrm>
            <a:prstGeom prst="line">
              <a:avLst/>
            </a:prstGeom>
            <a:noFill/>
            <a:ln w="5715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85" name="AutoShape 84">
              <a:extLst>
                <a:ext uri="{FF2B5EF4-FFF2-40B4-BE49-F238E27FC236}">
                  <a16:creationId xmlns:a16="http://schemas.microsoft.com/office/drawing/2014/main" id="{43C1EC4A-5B7B-E0B4-6663-82A906CAA72B}"/>
                </a:ext>
              </a:extLst>
            </p:cNvPr>
            <p:cNvSpPr>
              <a:spLocks noChangeArrowheads="1"/>
            </p:cNvSpPr>
            <p:nvPr/>
          </p:nvSpPr>
          <p:spPr bwMode="auto">
            <a:xfrm>
              <a:off x="919163" y="3944938"/>
              <a:ext cx="333375" cy="307975"/>
            </a:xfrm>
            <a:prstGeom prst="triangle">
              <a:avLst>
                <a:gd name="adj" fmla="val 50000"/>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Roboto" panose="02000000000000000000" pitchFamily="2" charset="0"/>
                  <a:ea typeface="Roboto" panose="02000000000000000000" pitchFamily="2" charset="0"/>
                </a:rPr>
                <a:t>I</a:t>
              </a:r>
            </a:p>
          </p:txBody>
        </p:sp>
        <p:grpSp>
          <p:nvGrpSpPr>
            <p:cNvPr id="86" name="Group 85">
              <a:extLst>
                <a:ext uri="{FF2B5EF4-FFF2-40B4-BE49-F238E27FC236}">
                  <a16:creationId xmlns:a16="http://schemas.microsoft.com/office/drawing/2014/main" id="{4961A6A5-B5DD-7217-BE8E-FF48E0E7CF6C}"/>
                </a:ext>
              </a:extLst>
            </p:cNvPr>
            <p:cNvGrpSpPr>
              <a:grpSpLocks/>
            </p:cNvGrpSpPr>
            <p:nvPr/>
          </p:nvGrpSpPr>
          <p:grpSpPr bwMode="auto">
            <a:xfrm>
              <a:off x="782638" y="3022600"/>
              <a:ext cx="593725" cy="409575"/>
              <a:chOff x="513" y="2099"/>
              <a:chExt cx="374" cy="258"/>
            </a:xfrm>
          </p:grpSpPr>
          <p:grpSp>
            <p:nvGrpSpPr>
              <p:cNvPr id="87" name="Group 86">
                <a:extLst>
                  <a:ext uri="{FF2B5EF4-FFF2-40B4-BE49-F238E27FC236}">
                    <a16:creationId xmlns:a16="http://schemas.microsoft.com/office/drawing/2014/main" id="{82E4508B-C096-E880-4BF3-498C4980BF07}"/>
                  </a:ext>
                </a:extLst>
              </p:cNvPr>
              <p:cNvGrpSpPr>
                <a:grpSpLocks/>
              </p:cNvGrpSpPr>
              <p:nvPr/>
            </p:nvGrpSpPr>
            <p:grpSpPr bwMode="auto">
              <a:xfrm>
                <a:off x="550" y="2121"/>
                <a:ext cx="337" cy="236"/>
                <a:chOff x="536" y="3744"/>
                <a:chExt cx="415" cy="261"/>
              </a:xfrm>
            </p:grpSpPr>
            <p:sp>
              <p:nvSpPr>
                <p:cNvPr id="89" name="Rectangle 87">
                  <a:extLst>
                    <a:ext uri="{FF2B5EF4-FFF2-40B4-BE49-F238E27FC236}">
                      <a16:creationId xmlns:a16="http://schemas.microsoft.com/office/drawing/2014/main" id="{60BB165F-0A95-F112-4C57-0E61AB05D33C}"/>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0" name="Rectangle 88">
                  <a:extLst>
                    <a:ext uri="{FF2B5EF4-FFF2-40B4-BE49-F238E27FC236}">
                      <a16:creationId xmlns:a16="http://schemas.microsoft.com/office/drawing/2014/main" id="{B7296BF6-3521-4284-F6E3-B9AD69114C27}"/>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1" name="Oval 89">
                  <a:extLst>
                    <a:ext uri="{FF2B5EF4-FFF2-40B4-BE49-F238E27FC236}">
                      <a16:creationId xmlns:a16="http://schemas.microsoft.com/office/drawing/2014/main" id="{31EB6E07-3BB2-6CA2-0B9E-1B7180D064E2}"/>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2" name="Oval 90">
                  <a:extLst>
                    <a:ext uri="{FF2B5EF4-FFF2-40B4-BE49-F238E27FC236}">
                      <a16:creationId xmlns:a16="http://schemas.microsoft.com/office/drawing/2014/main" id="{5BE4554A-67F6-F7C1-5804-ED9B77949496}"/>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sp>
            <p:nvSpPr>
              <p:cNvPr id="88" name="Text Box 91">
                <a:extLst>
                  <a:ext uri="{FF2B5EF4-FFF2-40B4-BE49-F238E27FC236}">
                    <a16:creationId xmlns:a16="http://schemas.microsoft.com/office/drawing/2014/main" id="{7B0C2A09-7E16-599A-5038-0451E2904A25}"/>
                  </a:ext>
                </a:extLst>
              </p:cNvPr>
              <p:cNvSpPr txBox="1">
                <a:spLocks noChangeArrowheads="1"/>
              </p:cNvSpPr>
              <p:nvPr/>
            </p:nvSpPr>
            <p:spPr bwMode="auto">
              <a:xfrm>
                <a:off x="513" y="2099"/>
                <a:ext cx="3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1X</a:t>
                </a:r>
              </a:p>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Week</a:t>
                </a:r>
              </a:p>
            </p:txBody>
          </p:sp>
        </p:grpSp>
        <p:grpSp>
          <p:nvGrpSpPr>
            <p:cNvPr id="93" name="Group 92">
              <a:extLst>
                <a:ext uri="{FF2B5EF4-FFF2-40B4-BE49-F238E27FC236}">
                  <a16:creationId xmlns:a16="http://schemas.microsoft.com/office/drawing/2014/main" id="{D08B8A10-A15E-862A-092E-2DF6FA5FABAE}"/>
                </a:ext>
              </a:extLst>
            </p:cNvPr>
            <p:cNvGrpSpPr>
              <a:grpSpLocks/>
            </p:cNvGrpSpPr>
            <p:nvPr/>
          </p:nvGrpSpPr>
          <p:grpSpPr bwMode="auto">
            <a:xfrm>
              <a:off x="7089775" y="3182938"/>
              <a:ext cx="593725" cy="409575"/>
              <a:chOff x="513" y="2099"/>
              <a:chExt cx="374" cy="258"/>
            </a:xfrm>
          </p:grpSpPr>
          <p:grpSp>
            <p:nvGrpSpPr>
              <p:cNvPr id="94" name="Group 93">
                <a:extLst>
                  <a:ext uri="{FF2B5EF4-FFF2-40B4-BE49-F238E27FC236}">
                    <a16:creationId xmlns:a16="http://schemas.microsoft.com/office/drawing/2014/main" id="{416946E3-D19D-0AD1-18A5-2FA866780071}"/>
                  </a:ext>
                </a:extLst>
              </p:cNvPr>
              <p:cNvGrpSpPr>
                <a:grpSpLocks/>
              </p:cNvGrpSpPr>
              <p:nvPr/>
            </p:nvGrpSpPr>
            <p:grpSpPr bwMode="auto">
              <a:xfrm>
                <a:off x="550" y="2121"/>
                <a:ext cx="337" cy="236"/>
                <a:chOff x="536" y="3744"/>
                <a:chExt cx="415" cy="261"/>
              </a:xfrm>
            </p:grpSpPr>
            <p:sp>
              <p:nvSpPr>
                <p:cNvPr id="96" name="Rectangle 94">
                  <a:extLst>
                    <a:ext uri="{FF2B5EF4-FFF2-40B4-BE49-F238E27FC236}">
                      <a16:creationId xmlns:a16="http://schemas.microsoft.com/office/drawing/2014/main" id="{D0FCB9C6-A318-2E01-C362-03E2ECE901DA}"/>
                    </a:ext>
                  </a:extLst>
                </p:cNvPr>
                <p:cNvSpPr>
                  <a:spLocks noChangeArrowheads="1"/>
                </p:cNvSpPr>
                <p:nvPr/>
              </p:nvSpPr>
              <p:spPr bwMode="auto">
                <a:xfrm>
                  <a:off x="536" y="3744"/>
                  <a:ext cx="286" cy="196"/>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7" name="Rectangle 95">
                  <a:extLst>
                    <a:ext uri="{FF2B5EF4-FFF2-40B4-BE49-F238E27FC236}">
                      <a16:creationId xmlns:a16="http://schemas.microsoft.com/office/drawing/2014/main" id="{4384356C-381B-D4CC-A885-1E87992E18C3}"/>
                    </a:ext>
                  </a:extLst>
                </p:cNvPr>
                <p:cNvSpPr>
                  <a:spLocks noChangeArrowheads="1"/>
                </p:cNvSpPr>
                <p:nvPr/>
              </p:nvSpPr>
              <p:spPr bwMode="auto">
                <a:xfrm>
                  <a:off x="824" y="3809"/>
                  <a:ext cx="127" cy="131"/>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8" name="Oval 96">
                  <a:extLst>
                    <a:ext uri="{FF2B5EF4-FFF2-40B4-BE49-F238E27FC236}">
                      <a16:creationId xmlns:a16="http://schemas.microsoft.com/office/drawing/2014/main" id="{75C8BC13-62AF-7C92-C906-E3249898E8E3}"/>
                    </a:ext>
                  </a:extLst>
                </p:cNvPr>
                <p:cNvSpPr>
                  <a:spLocks noChangeArrowheads="1"/>
                </p:cNvSpPr>
                <p:nvPr/>
              </p:nvSpPr>
              <p:spPr bwMode="auto">
                <a:xfrm>
                  <a:off x="854" y="3940"/>
                  <a:ext cx="63" cy="65"/>
                </a:xfrm>
                <a:prstGeom prst="ellipse">
                  <a:avLst/>
                </a:prstGeom>
                <a:solidFill>
                  <a:schemeClr val="tx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9" name="Oval 97">
                  <a:extLst>
                    <a:ext uri="{FF2B5EF4-FFF2-40B4-BE49-F238E27FC236}">
                      <a16:creationId xmlns:a16="http://schemas.microsoft.com/office/drawing/2014/main" id="{3E5D4E33-7AE3-47C4-017B-2E84F9044DEA}"/>
                    </a:ext>
                  </a:extLst>
                </p:cNvPr>
                <p:cNvSpPr>
                  <a:spLocks noChangeArrowheads="1"/>
                </p:cNvSpPr>
                <p:nvPr/>
              </p:nvSpPr>
              <p:spPr bwMode="auto">
                <a:xfrm>
                  <a:off x="568" y="3940"/>
                  <a:ext cx="63" cy="65"/>
                </a:xfrm>
                <a:prstGeom prst="ellipse">
                  <a:avLst/>
                </a:prstGeom>
                <a:solidFill>
                  <a:schemeClr val="tx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sp>
            <p:nvSpPr>
              <p:cNvPr id="95" name="Text Box 98">
                <a:extLst>
                  <a:ext uri="{FF2B5EF4-FFF2-40B4-BE49-F238E27FC236}">
                    <a16:creationId xmlns:a16="http://schemas.microsoft.com/office/drawing/2014/main" id="{7BA7DE86-4CD6-78CB-65F8-AE94CD21DF27}"/>
                  </a:ext>
                </a:extLst>
              </p:cNvPr>
              <p:cNvSpPr txBox="1">
                <a:spLocks noChangeArrowheads="1"/>
              </p:cNvSpPr>
              <p:nvPr/>
            </p:nvSpPr>
            <p:spPr bwMode="auto">
              <a:xfrm>
                <a:off x="513" y="2099"/>
                <a:ext cx="30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Daily</a:t>
                </a:r>
              </a:p>
            </p:txBody>
          </p:sp>
        </p:grpSp>
        <p:grpSp>
          <p:nvGrpSpPr>
            <p:cNvPr id="100" name="Group 99">
              <a:extLst>
                <a:ext uri="{FF2B5EF4-FFF2-40B4-BE49-F238E27FC236}">
                  <a16:creationId xmlns:a16="http://schemas.microsoft.com/office/drawing/2014/main" id="{A64A2687-87BE-AEEA-5600-A8F453045DE8}"/>
                </a:ext>
              </a:extLst>
            </p:cNvPr>
            <p:cNvGrpSpPr>
              <a:grpSpLocks/>
            </p:cNvGrpSpPr>
            <p:nvPr/>
          </p:nvGrpSpPr>
          <p:grpSpPr bwMode="auto">
            <a:xfrm>
              <a:off x="5467350" y="2505075"/>
              <a:ext cx="1741488" cy="582613"/>
              <a:chOff x="3444" y="1578"/>
              <a:chExt cx="1097" cy="367"/>
            </a:xfrm>
          </p:grpSpPr>
          <p:sp>
            <p:nvSpPr>
              <p:cNvPr id="101" name="Rectangle 100">
                <a:extLst>
                  <a:ext uri="{FF2B5EF4-FFF2-40B4-BE49-F238E27FC236}">
                    <a16:creationId xmlns:a16="http://schemas.microsoft.com/office/drawing/2014/main" id="{86B43D20-C6AC-622E-CF8F-58FFC0C24DBD}"/>
                  </a:ext>
                </a:extLst>
              </p:cNvPr>
              <p:cNvSpPr>
                <a:spLocks noChangeArrowheads="1"/>
              </p:cNvSpPr>
              <p:nvPr/>
            </p:nvSpPr>
            <p:spPr bwMode="auto">
              <a:xfrm>
                <a:off x="3503" y="1604"/>
                <a:ext cx="984" cy="341"/>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02" name="Text Box 101">
                <a:extLst>
                  <a:ext uri="{FF2B5EF4-FFF2-40B4-BE49-F238E27FC236}">
                    <a16:creationId xmlns:a16="http://schemas.microsoft.com/office/drawing/2014/main" id="{588359C3-FC37-E003-5188-5A5EDBA263EA}"/>
                  </a:ext>
                </a:extLst>
              </p:cNvPr>
              <p:cNvSpPr txBox="1">
                <a:spLocks noChangeArrowheads="1"/>
              </p:cNvSpPr>
              <p:nvPr/>
            </p:nvSpPr>
            <p:spPr bwMode="auto">
              <a:xfrm>
                <a:off x="3444" y="1689"/>
                <a:ext cx="63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5000"/>
                  </a:spcBef>
                  <a:spcAft>
                    <a:spcPct val="0"/>
                  </a:spcAft>
                  <a:buClrTx/>
                  <a:buSzTx/>
                  <a:buFontTx/>
                  <a:buNone/>
                </a:pPr>
                <a:r>
                  <a:rPr lang="en-US" altLang="en-US" sz="800" b="0">
                    <a:latin typeface="Roboto" panose="02000000000000000000" pitchFamily="2" charset="0"/>
                    <a:ea typeface="Roboto" panose="02000000000000000000" pitchFamily="2" charset="0"/>
                  </a:rPr>
                  <a:t>27,000 Seconds</a:t>
                </a:r>
              </a:p>
              <a:p>
                <a:pPr algn="ctr">
                  <a:lnSpc>
                    <a:spcPct val="100000"/>
                  </a:lnSpc>
                  <a:spcBef>
                    <a:spcPct val="35000"/>
                  </a:spcBef>
                  <a:spcAft>
                    <a:spcPct val="0"/>
                  </a:spcAft>
                  <a:buClrTx/>
                  <a:buSzTx/>
                  <a:buFontTx/>
                  <a:buNone/>
                </a:pPr>
                <a:r>
                  <a:rPr lang="en-US" altLang="en-US" sz="800" b="0">
                    <a:latin typeface="Roboto" panose="02000000000000000000" pitchFamily="2" charset="0"/>
                    <a:ea typeface="Roboto" panose="02000000000000000000" pitchFamily="2" charset="0"/>
                  </a:rPr>
                  <a:t>1,500 Pieces</a:t>
                </a:r>
              </a:p>
            </p:txBody>
          </p:sp>
          <p:sp>
            <p:nvSpPr>
              <p:cNvPr id="103" name="Line 102">
                <a:extLst>
                  <a:ext uri="{FF2B5EF4-FFF2-40B4-BE49-F238E27FC236}">
                    <a16:creationId xmlns:a16="http://schemas.microsoft.com/office/drawing/2014/main" id="{7AF15C53-98B3-C7AC-352F-978E545BB8F4}"/>
                  </a:ext>
                </a:extLst>
              </p:cNvPr>
              <p:cNvSpPr>
                <a:spLocks noChangeShapeType="1"/>
              </p:cNvSpPr>
              <p:nvPr/>
            </p:nvSpPr>
            <p:spPr bwMode="auto">
              <a:xfrm>
                <a:off x="3526" y="1804"/>
                <a:ext cx="445" cy="3"/>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04" name="Rectangle 103">
                <a:extLst>
                  <a:ext uri="{FF2B5EF4-FFF2-40B4-BE49-F238E27FC236}">
                    <a16:creationId xmlns:a16="http://schemas.microsoft.com/office/drawing/2014/main" id="{643F8B4D-25A3-A40B-D39E-D70EF3AF8878}"/>
                  </a:ext>
                </a:extLst>
              </p:cNvPr>
              <p:cNvSpPr>
                <a:spLocks noChangeArrowheads="1"/>
              </p:cNvSpPr>
              <p:nvPr/>
            </p:nvSpPr>
            <p:spPr bwMode="auto">
              <a:xfrm>
                <a:off x="3729" y="1578"/>
                <a:ext cx="5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900">
                    <a:latin typeface="Roboto" panose="02000000000000000000" pitchFamily="2" charset="0"/>
                    <a:ea typeface="Roboto" panose="02000000000000000000" pitchFamily="2" charset="0"/>
                  </a:rPr>
                  <a:t>Takt Time</a:t>
                </a:r>
              </a:p>
            </p:txBody>
          </p:sp>
          <p:sp>
            <p:nvSpPr>
              <p:cNvPr id="105" name="Text Box 104">
                <a:extLst>
                  <a:ext uri="{FF2B5EF4-FFF2-40B4-BE49-F238E27FC236}">
                    <a16:creationId xmlns:a16="http://schemas.microsoft.com/office/drawing/2014/main" id="{337B900F-912D-E69F-B3B9-348C822C207F}"/>
                  </a:ext>
                </a:extLst>
              </p:cNvPr>
              <p:cNvSpPr txBox="1">
                <a:spLocks noChangeArrowheads="1"/>
              </p:cNvSpPr>
              <p:nvPr/>
            </p:nvSpPr>
            <p:spPr bwMode="auto">
              <a:xfrm>
                <a:off x="3949" y="1713"/>
                <a:ext cx="59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 </a:t>
                </a:r>
                <a:r>
                  <a:rPr lang="en-US" altLang="en-US" sz="800">
                    <a:solidFill>
                      <a:srgbClr val="FF0000"/>
                    </a:solidFill>
                    <a:latin typeface="Roboto" panose="02000000000000000000" pitchFamily="2" charset="0"/>
                    <a:ea typeface="Roboto" panose="02000000000000000000" pitchFamily="2" charset="0"/>
                  </a:rPr>
                  <a:t>18 seconds</a:t>
                </a:r>
              </a:p>
            </p:txBody>
          </p:sp>
        </p:grpSp>
        <p:grpSp>
          <p:nvGrpSpPr>
            <p:cNvPr id="106" name="Group 105">
              <a:extLst>
                <a:ext uri="{FF2B5EF4-FFF2-40B4-BE49-F238E27FC236}">
                  <a16:creationId xmlns:a16="http://schemas.microsoft.com/office/drawing/2014/main" id="{CEB56B42-089B-3E8D-A4AB-50CF4F0ED84A}"/>
                </a:ext>
              </a:extLst>
            </p:cNvPr>
            <p:cNvGrpSpPr>
              <a:grpSpLocks/>
            </p:cNvGrpSpPr>
            <p:nvPr/>
          </p:nvGrpSpPr>
          <p:grpSpPr bwMode="auto">
            <a:xfrm>
              <a:off x="884238" y="5384800"/>
              <a:ext cx="6276975" cy="422275"/>
              <a:chOff x="557" y="3392"/>
              <a:chExt cx="3954" cy="266"/>
            </a:xfrm>
          </p:grpSpPr>
          <p:grpSp>
            <p:nvGrpSpPr>
              <p:cNvPr id="107" name="Group 106">
                <a:extLst>
                  <a:ext uri="{FF2B5EF4-FFF2-40B4-BE49-F238E27FC236}">
                    <a16:creationId xmlns:a16="http://schemas.microsoft.com/office/drawing/2014/main" id="{1E467EFC-A6D8-0B21-8604-CF39AC7BF2E7}"/>
                  </a:ext>
                </a:extLst>
              </p:cNvPr>
              <p:cNvGrpSpPr>
                <a:grpSpLocks/>
              </p:cNvGrpSpPr>
              <p:nvPr/>
            </p:nvGrpSpPr>
            <p:grpSpPr bwMode="auto">
              <a:xfrm>
                <a:off x="587" y="3500"/>
                <a:ext cx="3916" cy="141"/>
                <a:chOff x="577" y="3222"/>
                <a:chExt cx="3916" cy="141"/>
              </a:xfrm>
            </p:grpSpPr>
            <p:sp>
              <p:nvSpPr>
                <p:cNvPr id="115" name="Line 107">
                  <a:extLst>
                    <a:ext uri="{FF2B5EF4-FFF2-40B4-BE49-F238E27FC236}">
                      <a16:creationId xmlns:a16="http://schemas.microsoft.com/office/drawing/2014/main" id="{6304CF13-2024-8393-2933-7226F9BE0796}"/>
                    </a:ext>
                  </a:extLst>
                </p:cNvPr>
                <p:cNvSpPr>
                  <a:spLocks noChangeShapeType="1"/>
                </p:cNvSpPr>
                <p:nvPr/>
              </p:nvSpPr>
              <p:spPr bwMode="auto">
                <a:xfrm flipV="1">
                  <a:off x="577" y="3226"/>
                  <a:ext cx="4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6" name="Line 108">
                  <a:extLst>
                    <a:ext uri="{FF2B5EF4-FFF2-40B4-BE49-F238E27FC236}">
                      <a16:creationId xmlns:a16="http://schemas.microsoft.com/office/drawing/2014/main" id="{81DA0694-BBBB-DF76-7E20-3CC72F74020E}"/>
                    </a:ext>
                  </a:extLst>
                </p:cNvPr>
                <p:cNvSpPr>
                  <a:spLocks noChangeShapeType="1"/>
                </p:cNvSpPr>
                <p:nvPr/>
              </p:nvSpPr>
              <p:spPr bwMode="auto">
                <a:xfrm>
                  <a:off x="1014"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7" name="Line 109">
                  <a:extLst>
                    <a:ext uri="{FF2B5EF4-FFF2-40B4-BE49-F238E27FC236}">
                      <a16:creationId xmlns:a16="http://schemas.microsoft.com/office/drawing/2014/main" id="{AF86C6A3-E2F8-ECCA-E9FC-FB10793BD46E}"/>
                    </a:ext>
                  </a:extLst>
                </p:cNvPr>
                <p:cNvSpPr>
                  <a:spLocks noChangeShapeType="1"/>
                </p:cNvSpPr>
                <p:nvPr/>
              </p:nvSpPr>
              <p:spPr bwMode="auto">
                <a:xfrm flipV="1">
                  <a:off x="1009"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8" name="Line 110">
                  <a:extLst>
                    <a:ext uri="{FF2B5EF4-FFF2-40B4-BE49-F238E27FC236}">
                      <a16:creationId xmlns:a16="http://schemas.microsoft.com/office/drawing/2014/main" id="{F90BB232-A24B-B6D0-F7BF-4D3CCDE9FC4C}"/>
                    </a:ext>
                  </a:extLst>
                </p:cNvPr>
                <p:cNvSpPr>
                  <a:spLocks noChangeShapeType="1"/>
                </p:cNvSpPr>
                <p:nvPr/>
              </p:nvSpPr>
              <p:spPr bwMode="auto">
                <a:xfrm>
                  <a:off x="1536"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9" name="Line 111">
                  <a:extLst>
                    <a:ext uri="{FF2B5EF4-FFF2-40B4-BE49-F238E27FC236}">
                      <a16:creationId xmlns:a16="http://schemas.microsoft.com/office/drawing/2014/main" id="{BB1033DA-4EEF-6A71-0D37-0319D7B95D1B}"/>
                    </a:ext>
                  </a:extLst>
                </p:cNvPr>
                <p:cNvSpPr>
                  <a:spLocks noChangeShapeType="1"/>
                </p:cNvSpPr>
                <p:nvPr/>
              </p:nvSpPr>
              <p:spPr bwMode="auto">
                <a:xfrm>
                  <a:off x="2148"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0" name="Line 112">
                  <a:extLst>
                    <a:ext uri="{FF2B5EF4-FFF2-40B4-BE49-F238E27FC236}">
                      <a16:creationId xmlns:a16="http://schemas.microsoft.com/office/drawing/2014/main" id="{E8838A48-7503-31E3-6F75-8276300B7385}"/>
                    </a:ext>
                  </a:extLst>
                </p:cNvPr>
                <p:cNvSpPr>
                  <a:spLocks noChangeShapeType="1"/>
                </p:cNvSpPr>
                <p:nvPr/>
              </p:nvSpPr>
              <p:spPr bwMode="auto">
                <a:xfrm>
                  <a:off x="1538" y="3226"/>
                  <a:ext cx="606"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113">
                  <a:extLst>
                    <a:ext uri="{FF2B5EF4-FFF2-40B4-BE49-F238E27FC236}">
                      <a16:creationId xmlns:a16="http://schemas.microsoft.com/office/drawing/2014/main" id="{0C53B437-42FE-6196-33D7-86969160801C}"/>
                    </a:ext>
                  </a:extLst>
                </p:cNvPr>
                <p:cNvSpPr>
                  <a:spLocks noChangeShapeType="1"/>
                </p:cNvSpPr>
                <p:nvPr/>
              </p:nvSpPr>
              <p:spPr bwMode="auto">
                <a:xfrm>
                  <a:off x="2673"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2" name="Line 114">
                  <a:extLst>
                    <a:ext uri="{FF2B5EF4-FFF2-40B4-BE49-F238E27FC236}">
                      <a16:creationId xmlns:a16="http://schemas.microsoft.com/office/drawing/2014/main" id="{DC7B356A-B783-9606-BEB9-2B215D1812CF}"/>
                    </a:ext>
                  </a:extLst>
                </p:cNvPr>
                <p:cNvSpPr>
                  <a:spLocks noChangeShapeType="1"/>
                </p:cNvSpPr>
                <p:nvPr/>
              </p:nvSpPr>
              <p:spPr bwMode="auto">
                <a:xfrm>
                  <a:off x="3285"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3" name="Line 115">
                  <a:extLst>
                    <a:ext uri="{FF2B5EF4-FFF2-40B4-BE49-F238E27FC236}">
                      <a16:creationId xmlns:a16="http://schemas.microsoft.com/office/drawing/2014/main" id="{DE1F539C-9B3E-9C8D-846B-9E7D7F280217}"/>
                    </a:ext>
                  </a:extLst>
                </p:cNvPr>
                <p:cNvSpPr>
                  <a:spLocks noChangeShapeType="1"/>
                </p:cNvSpPr>
                <p:nvPr/>
              </p:nvSpPr>
              <p:spPr bwMode="auto">
                <a:xfrm>
                  <a:off x="3813" y="3222"/>
                  <a:ext cx="0" cy="1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4" name="Line 116">
                  <a:extLst>
                    <a:ext uri="{FF2B5EF4-FFF2-40B4-BE49-F238E27FC236}">
                      <a16:creationId xmlns:a16="http://schemas.microsoft.com/office/drawing/2014/main" id="{7DC923A9-2FEC-B9EB-DAF4-89E5E050D325}"/>
                    </a:ext>
                  </a:extLst>
                </p:cNvPr>
                <p:cNvSpPr>
                  <a:spLocks noChangeShapeType="1"/>
                </p:cNvSpPr>
                <p:nvPr/>
              </p:nvSpPr>
              <p:spPr bwMode="auto">
                <a:xfrm flipV="1">
                  <a:off x="2146"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5" name="Line 117">
                  <a:extLst>
                    <a:ext uri="{FF2B5EF4-FFF2-40B4-BE49-F238E27FC236}">
                      <a16:creationId xmlns:a16="http://schemas.microsoft.com/office/drawing/2014/main" id="{423D8B83-A729-8457-6CEE-2A5D134AF135}"/>
                    </a:ext>
                  </a:extLst>
                </p:cNvPr>
                <p:cNvSpPr>
                  <a:spLocks noChangeShapeType="1"/>
                </p:cNvSpPr>
                <p:nvPr/>
              </p:nvSpPr>
              <p:spPr bwMode="auto">
                <a:xfrm flipV="1">
                  <a:off x="3289" y="3362"/>
                  <a:ext cx="529"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6" name="Line 118">
                  <a:extLst>
                    <a:ext uri="{FF2B5EF4-FFF2-40B4-BE49-F238E27FC236}">
                      <a16:creationId xmlns:a16="http://schemas.microsoft.com/office/drawing/2014/main" id="{8DB22279-7CB1-9887-9598-E6425E2C338C}"/>
                    </a:ext>
                  </a:extLst>
                </p:cNvPr>
                <p:cNvSpPr>
                  <a:spLocks noChangeShapeType="1"/>
                </p:cNvSpPr>
                <p:nvPr/>
              </p:nvSpPr>
              <p:spPr bwMode="auto">
                <a:xfrm>
                  <a:off x="2671" y="3226"/>
                  <a:ext cx="611"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Line 119">
                  <a:extLst>
                    <a:ext uri="{FF2B5EF4-FFF2-40B4-BE49-F238E27FC236}">
                      <a16:creationId xmlns:a16="http://schemas.microsoft.com/office/drawing/2014/main" id="{22F95309-9FE3-F2A3-9BCF-1F8FBEDB0E62}"/>
                    </a:ext>
                  </a:extLst>
                </p:cNvPr>
                <p:cNvSpPr>
                  <a:spLocks noChangeShapeType="1"/>
                </p:cNvSpPr>
                <p:nvPr/>
              </p:nvSpPr>
              <p:spPr bwMode="auto">
                <a:xfrm>
                  <a:off x="3819" y="3226"/>
                  <a:ext cx="67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08" name="Rectangle 120">
                <a:extLst>
                  <a:ext uri="{FF2B5EF4-FFF2-40B4-BE49-F238E27FC236}">
                    <a16:creationId xmlns:a16="http://schemas.microsoft.com/office/drawing/2014/main" id="{A593EF22-7BCC-340E-D7C7-45BF8E95AF42}"/>
                  </a:ext>
                </a:extLst>
              </p:cNvPr>
              <p:cNvSpPr>
                <a:spLocks noChangeArrowheads="1"/>
              </p:cNvSpPr>
              <p:nvPr/>
            </p:nvSpPr>
            <p:spPr bwMode="auto">
              <a:xfrm>
                <a:off x="557" y="3392"/>
                <a:ext cx="46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8.5 days</a:t>
                </a:r>
              </a:p>
            </p:txBody>
          </p:sp>
          <p:sp>
            <p:nvSpPr>
              <p:cNvPr id="109" name="Rectangle 121">
                <a:extLst>
                  <a:ext uri="{FF2B5EF4-FFF2-40B4-BE49-F238E27FC236}">
                    <a16:creationId xmlns:a16="http://schemas.microsoft.com/office/drawing/2014/main" id="{473AAE95-B99A-FBF2-2209-EB70DB237EE3}"/>
                  </a:ext>
                </a:extLst>
              </p:cNvPr>
              <p:cNvSpPr>
                <a:spLocks noChangeArrowheads="1"/>
              </p:cNvSpPr>
              <p:nvPr/>
            </p:nvSpPr>
            <p:spPr bwMode="auto">
              <a:xfrm>
                <a:off x="1537" y="3392"/>
                <a:ext cx="61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3.5 days</a:t>
                </a:r>
              </a:p>
            </p:txBody>
          </p:sp>
          <p:sp>
            <p:nvSpPr>
              <p:cNvPr id="110" name="Rectangle 122">
                <a:extLst>
                  <a:ext uri="{FF2B5EF4-FFF2-40B4-BE49-F238E27FC236}">
                    <a16:creationId xmlns:a16="http://schemas.microsoft.com/office/drawing/2014/main" id="{547560D0-5C74-738E-F4D0-3103AD37F29F}"/>
                  </a:ext>
                </a:extLst>
              </p:cNvPr>
              <p:cNvSpPr>
                <a:spLocks noChangeArrowheads="1"/>
              </p:cNvSpPr>
              <p:nvPr/>
            </p:nvSpPr>
            <p:spPr bwMode="auto">
              <a:xfrm>
                <a:off x="2668" y="3392"/>
                <a:ext cx="63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6.2 days</a:t>
                </a:r>
              </a:p>
            </p:txBody>
          </p:sp>
          <p:sp>
            <p:nvSpPr>
              <p:cNvPr id="111" name="Rectangle 123">
                <a:extLst>
                  <a:ext uri="{FF2B5EF4-FFF2-40B4-BE49-F238E27FC236}">
                    <a16:creationId xmlns:a16="http://schemas.microsoft.com/office/drawing/2014/main" id="{89A75D3B-E711-A503-6EF0-6C414F5A238B}"/>
                  </a:ext>
                </a:extLst>
              </p:cNvPr>
              <p:cNvSpPr>
                <a:spLocks noChangeArrowheads="1"/>
              </p:cNvSpPr>
              <p:nvPr/>
            </p:nvSpPr>
            <p:spPr bwMode="auto">
              <a:xfrm>
                <a:off x="3823" y="3392"/>
                <a:ext cx="688"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1.5 days</a:t>
                </a:r>
              </a:p>
            </p:txBody>
          </p:sp>
          <p:sp>
            <p:nvSpPr>
              <p:cNvPr id="112" name="Rectangle 124">
                <a:extLst>
                  <a:ext uri="{FF2B5EF4-FFF2-40B4-BE49-F238E27FC236}">
                    <a16:creationId xmlns:a16="http://schemas.microsoft.com/office/drawing/2014/main" id="{2693DFF9-7618-780D-AA40-E7EDC811E1EC}"/>
                  </a:ext>
                </a:extLst>
              </p:cNvPr>
              <p:cNvSpPr>
                <a:spLocks noChangeArrowheads="1"/>
              </p:cNvSpPr>
              <p:nvPr/>
            </p:nvSpPr>
            <p:spPr bwMode="auto">
              <a:xfrm>
                <a:off x="1004" y="3523"/>
                <a:ext cx="55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240 sec</a:t>
                </a:r>
              </a:p>
            </p:txBody>
          </p:sp>
          <p:sp>
            <p:nvSpPr>
              <p:cNvPr id="113" name="Rectangle 125">
                <a:extLst>
                  <a:ext uri="{FF2B5EF4-FFF2-40B4-BE49-F238E27FC236}">
                    <a16:creationId xmlns:a16="http://schemas.microsoft.com/office/drawing/2014/main" id="{31559505-C03F-7A55-709B-7B4BAC5D2EB9}"/>
                  </a:ext>
                </a:extLst>
              </p:cNvPr>
              <p:cNvSpPr>
                <a:spLocks noChangeArrowheads="1"/>
              </p:cNvSpPr>
              <p:nvPr/>
            </p:nvSpPr>
            <p:spPr bwMode="auto">
              <a:xfrm>
                <a:off x="2131" y="3523"/>
                <a:ext cx="567"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15 sec</a:t>
                </a:r>
              </a:p>
            </p:txBody>
          </p:sp>
          <p:sp>
            <p:nvSpPr>
              <p:cNvPr id="114" name="Rectangle 126">
                <a:extLst>
                  <a:ext uri="{FF2B5EF4-FFF2-40B4-BE49-F238E27FC236}">
                    <a16:creationId xmlns:a16="http://schemas.microsoft.com/office/drawing/2014/main" id="{E10B2F04-7B2F-2735-514F-D2C1C754A798}"/>
                  </a:ext>
                </a:extLst>
              </p:cNvPr>
              <p:cNvSpPr>
                <a:spLocks noChangeArrowheads="1"/>
              </p:cNvSpPr>
              <p:nvPr/>
            </p:nvSpPr>
            <p:spPr bwMode="auto">
              <a:xfrm>
                <a:off x="3296" y="3523"/>
                <a:ext cx="51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20 sec</a:t>
                </a:r>
              </a:p>
            </p:txBody>
          </p:sp>
        </p:grpSp>
        <p:grpSp>
          <p:nvGrpSpPr>
            <p:cNvPr id="128" name="Group 127">
              <a:extLst>
                <a:ext uri="{FF2B5EF4-FFF2-40B4-BE49-F238E27FC236}">
                  <a16:creationId xmlns:a16="http://schemas.microsoft.com/office/drawing/2014/main" id="{D85ACD0E-9542-45B9-D754-8CD3EC998A69}"/>
                </a:ext>
              </a:extLst>
            </p:cNvPr>
            <p:cNvGrpSpPr>
              <a:grpSpLocks/>
            </p:cNvGrpSpPr>
            <p:nvPr/>
          </p:nvGrpSpPr>
          <p:grpSpPr bwMode="auto">
            <a:xfrm>
              <a:off x="1503363" y="2274888"/>
              <a:ext cx="2368550" cy="271462"/>
              <a:chOff x="947" y="1433"/>
              <a:chExt cx="1492" cy="171"/>
            </a:xfrm>
          </p:grpSpPr>
          <p:grpSp>
            <p:nvGrpSpPr>
              <p:cNvPr id="129" name="Group 128">
                <a:extLst>
                  <a:ext uri="{FF2B5EF4-FFF2-40B4-BE49-F238E27FC236}">
                    <a16:creationId xmlns:a16="http://schemas.microsoft.com/office/drawing/2014/main" id="{8ED48E6E-A434-3C3B-1B13-7D70579E279A}"/>
                  </a:ext>
                </a:extLst>
              </p:cNvPr>
              <p:cNvGrpSpPr>
                <a:grpSpLocks/>
              </p:cNvGrpSpPr>
              <p:nvPr/>
            </p:nvGrpSpPr>
            <p:grpSpPr bwMode="auto">
              <a:xfrm>
                <a:off x="947" y="1481"/>
                <a:ext cx="1492" cy="51"/>
                <a:chOff x="947" y="1576"/>
                <a:chExt cx="1492" cy="51"/>
              </a:xfrm>
            </p:grpSpPr>
            <p:sp>
              <p:nvSpPr>
                <p:cNvPr id="131" name="Line 129">
                  <a:extLst>
                    <a:ext uri="{FF2B5EF4-FFF2-40B4-BE49-F238E27FC236}">
                      <a16:creationId xmlns:a16="http://schemas.microsoft.com/office/drawing/2014/main" id="{AFB96DED-3672-301F-634C-7A1FB4ABEF6A}"/>
                    </a:ext>
                  </a:extLst>
                </p:cNvPr>
                <p:cNvSpPr>
                  <a:spLocks noChangeShapeType="1"/>
                </p:cNvSpPr>
                <p:nvPr/>
              </p:nvSpPr>
              <p:spPr bwMode="auto">
                <a:xfrm flipH="1">
                  <a:off x="947" y="1576"/>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2" name="Line 130">
                  <a:extLst>
                    <a:ext uri="{FF2B5EF4-FFF2-40B4-BE49-F238E27FC236}">
                      <a16:creationId xmlns:a16="http://schemas.microsoft.com/office/drawing/2014/main" id="{B8AD32D6-9081-CD72-33F2-8694962D8222}"/>
                    </a:ext>
                  </a:extLst>
                </p:cNvPr>
                <p:cNvSpPr>
                  <a:spLocks noChangeShapeType="1"/>
                </p:cNvSpPr>
                <p:nvPr/>
              </p:nvSpPr>
              <p:spPr bwMode="auto">
                <a:xfrm flipV="1">
                  <a:off x="1556" y="1626"/>
                  <a:ext cx="883" cy="1"/>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3" name="Line 131">
                  <a:extLst>
                    <a:ext uri="{FF2B5EF4-FFF2-40B4-BE49-F238E27FC236}">
                      <a16:creationId xmlns:a16="http://schemas.microsoft.com/office/drawing/2014/main" id="{3FEB8A47-AB02-47D9-A274-C87A3CA08669}"/>
                    </a:ext>
                  </a:extLst>
                </p:cNvPr>
                <p:cNvSpPr>
                  <a:spLocks noChangeShapeType="1"/>
                </p:cNvSpPr>
                <p:nvPr/>
              </p:nvSpPr>
              <p:spPr bwMode="auto">
                <a:xfrm flipV="1">
                  <a:off x="1551" y="1584"/>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30" name="Rectangle 132">
                <a:extLst>
                  <a:ext uri="{FF2B5EF4-FFF2-40B4-BE49-F238E27FC236}">
                    <a16:creationId xmlns:a16="http://schemas.microsoft.com/office/drawing/2014/main" id="{6AC5273E-86F7-710D-05F3-C73A2BECD202}"/>
                  </a:ext>
                </a:extLst>
              </p:cNvPr>
              <p:cNvSpPr>
                <a:spLocks noChangeArrowheads="1"/>
              </p:cNvSpPr>
              <p:nvPr/>
            </p:nvSpPr>
            <p:spPr bwMode="auto">
              <a:xfrm>
                <a:off x="1700" y="1433"/>
                <a:ext cx="395" cy="171"/>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Monthly P.O.</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(Faxed)</a:t>
                </a:r>
              </a:p>
            </p:txBody>
          </p:sp>
        </p:grpSp>
        <p:grpSp>
          <p:nvGrpSpPr>
            <p:cNvPr id="134" name="Group 133">
              <a:extLst>
                <a:ext uri="{FF2B5EF4-FFF2-40B4-BE49-F238E27FC236}">
                  <a16:creationId xmlns:a16="http://schemas.microsoft.com/office/drawing/2014/main" id="{912EDBD4-0658-B6AF-B025-1F29791A4C91}"/>
                </a:ext>
              </a:extLst>
            </p:cNvPr>
            <p:cNvGrpSpPr>
              <a:grpSpLocks/>
            </p:cNvGrpSpPr>
            <p:nvPr/>
          </p:nvGrpSpPr>
          <p:grpSpPr bwMode="auto">
            <a:xfrm>
              <a:off x="4840288" y="2206625"/>
              <a:ext cx="2109787" cy="260350"/>
              <a:chOff x="3049" y="1390"/>
              <a:chExt cx="1329" cy="164"/>
            </a:xfrm>
          </p:grpSpPr>
          <p:grpSp>
            <p:nvGrpSpPr>
              <p:cNvPr id="135" name="Group 134">
                <a:extLst>
                  <a:ext uri="{FF2B5EF4-FFF2-40B4-BE49-F238E27FC236}">
                    <a16:creationId xmlns:a16="http://schemas.microsoft.com/office/drawing/2014/main" id="{C1EA3D23-D335-364A-DB38-725FD4CD3A10}"/>
                  </a:ext>
                </a:extLst>
              </p:cNvPr>
              <p:cNvGrpSpPr>
                <a:grpSpLocks/>
              </p:cNvGrpSpPr>
              <p:nvPr/>
            </p:nvGrpSpPr>
            <p:grpSpPr bwMode="auto">
              <a:xfrm>
                <a:off x="3049" y="1442"/>
                <a:ext cx="1329" cy="51"/>
                <a:chOff x="3049" y="1442"/>
                <a:chExt cx="1329" cy="51"/>
              </a:xfrm>
            </p:grpSpPr>
            <p:sp>
              <p:nvSpPr>
                <p:cNvPr id="137" name="Line 135">
                  <a:extLst>
                    <a:ext uri="{FF2B5EF4-FFF2-40B4-BE49-F238E27FC236}">
                      <a16:creationId xmlns:a16="http://schemas.microsoft.com/office/drawing/2014/main" id="{4743EDB7-1F51-7369-82CA-3AC6018EBB11}"/>
                    </a:ext>
                  </a:extLst>
                </p:cNvPr>
                <p:cNvSpPr>
                  <a:spLocks noChangeShapeType="1"/>
                </p:cNvSpPr>
                <p:nvPr/>
              </p:nvSpPr>
              <p:spPr bwMode="auto">
                <a:xfrm flipH="1">
                  <a:off x="3049" y="1442"/>
                  <a:ext cx="682" cy="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8" name="Line 136">
                  <a:extLst>
                    <a:ext uri="{FF2B5EF4-FFF2-40B4-BE49-F238E27FC236}">
                      <a16:creationId xmlns:a16="http://schemas.microsoft.com/office/drawing/2014/main" id="{DE3BC7B3-3C5D-413F-6EFB-851DCF571896}"/>
                    </a:ext>
                  </a:extLst>
                </p:cNvPr>
                <p:cNvSpPr>
                  <a:spLocks noChangeShapeType="1"/>
                </p:cNvSpPr>
                <p:nvPr/>
              </p:nvSpPr>
              <p:spPr bwMode="auto">
                <a:xfrm flipV="1">
                  <a:off x="3658" y="1488"/>
                  <a:ext cx="720" cy="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39" name="Line 137">
                  <a:extLst>
                    <a:ext uri="{FF2B5EF4-FFF2-40B4-BE49-F238E27FC236}">
                      <a16:creationId xmlns:a16="http://schemas.microsoft.com/office/drawing/2014/main" id="{BDB411A5-F7B2-C198-9841-E3DEC092F9E3}"/>
                    </a:ext>
                  </a:extLst>
                </p:cNvPr>
                <p:cNvSpPr>
                  <a:spLocks noChangeShapeType="1"/>
                </p:cNvSpPr>
                <p:nvPr/>
              </p:nvSpPr>
              <p:spPr bwMode="auto">
                <a:xfrm flipV="1">
                  <a:off x="3653" y="1450"/>
                  <a:ext cx="67" cy="3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grpSp>
          <p:sp>
            <p:nvSpPr>
              <p:cNvPr id="136" name="Rectangle 138">
                <a:extLst>
                  <a:ext uri="{FF2B5EF4-FFF2-40B4-BE49-F238E27FC236}">
                    <a16:creationId xmlns:a16="http://schemas.microsoft.com/office/drawing/2014/main" id="{742553C4-8FFB-E9F8-C170-58040BE0B2C3}"/>
                  </a:ext>
                </a:extLst>
              </p:cNvPr>
              <p:cNvSpPr>
                <a:spLocks noChangeArrowheads="1"/>
              </p:cNvSpPr>
              <p:nvPr/>
            </p:nvSpPr>
            <p:spPr bwMode="auto">
              <a:xfrm>
                <a:off x="3784" y="1390"/>
                <a:ext cx="404" cy="164"/>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Daily Orders</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(EDI)</a:t>
                </a:r>
              </a:p>
            </p:txBody>
          </p:sp>
        </p:grpSp>
        <p:grpSp>
          <p:nvGrpSpPr>
            <p:cNvPr id="140" name="Group 139">
              <a:extLst>
                <a:ext uri="{FF2B5EF4-FFF2-40B4-BE49-F238E27FC236}">
                  <a16:creationId xmlns:a16="http://schemas.microsoft.com/office/drawing/2014/main" id="{9B2AD2E6-B366-1AA0-A7A8-BC66D7FD943A}"/>
                </a:ext>
              </a:extLst>
            </p:cNvPr>
            <p:cNvGrpSpPr>
              <a:grpSpLocks/>
            </p:cNvGrpSpPr>
            <p:nvPr/>
          </p:nvGrpSpPr>
          <p:grpSpPr bwMode="auto">
            <a:xfrm>
              <a:off x="3781427" y="2027238"/>
              <a:ext cx="1150938" cy="711200"/>
              <a:chOff x="2382" y="1277"/>
              <a:chExt cx="725" cy="448"/>
            </a:xfrm>
          </p:grpSpPr>
          <p:sp>
            <p:nvSpPr>
              <p:cNvPr id="141" name="Rectangle 140">
                <a:extLst>
                  <a:ext uri="{FF2B5EF4-FFF2-40B4-BE49-F238E27FC236}">
                    <a16:creationId xmlns:a16="http://schemas.microsoft.com/office/drawing/2014/main" id="{0CFBC639-FD70-7C2B-9FDE-0A95D60AF1A7}"/>
                  </a:ext>
                </a:extLst>
              </p:cNvPr>
              <p:cNvSpPr>
                <a:spLocks noChangeArrowheads="1"/>
              </p:cNvSpPr>
              <p:nvPr/>
            </p:nvSpPr>
            <p:spPr bwMode="auto">
              <a:xfrm>
                <a:off x="2440" y="1277"/>
                <a:ext cx="614" cy="447"/>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endParaRPr lang="en-US" altLang="en-US" sz="1200" b="0">
                  <a:latin typeface="Roboto" panose="02000000000000000000" pitchFamily="2" charset="0"/>
                  <a:ea typeface="Roboto" panose="02000000000000000000" pitchFamily="2" charset="0"/>
                </a:endParaRPr>
              </a:p>
            </p:txBody>
          </p:sp>
          <p:sp>
            <p:nvSpPr>
              <p:cNvPr id="142" name="Rectangle 141">
                <a:extLst>
                  <a:ext uri="{FF2B5EF4-FFF2-40B4-BE49-F238E27FC236}">
                    <a16:creationId xmlns:a16="http://schemas.microsoft.com/office/drawing/2014/main" id="{B52B38B7-BD2F-F577-FFE8-BBF23483003A}"/>
                  </a:ext>
                </a:extLst>
              </p:cNvPr>
              <p:cNvSpPr>
                <a:spLocks noChangeArrowheads="1"/>
              </p:cNvSpPr>
              <p:nvPr/>
            </p:nvSpPr>
            <p:spPr bwMode="auto">
              <a:xfrm>
                <a:off x="2501" y="1566"/>
                <a:ext cx="490" cy="159"/>
              </a:xfrm>
              <a:prstGeom prst="rect">
                <a:avLst/>
              </a:prstGeom>
              <a:solidFill>
                <a:schemeClr val="bg1"/>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900" b="0">
                    <a:latin typeface="Roboto" panose="02000000000000000000" pitchFamily="2" charset="0"/>
                    <a:ea typeface="Roboto" panose="02000000000000000000" pitchFamily="2" charset="0"/>
                  </a:rPr>
                  <a:t>MRP</a:t>
                </a:r>
              </a:p>
              <a:p>
                <a:pPr algn="ctr">
                  <a:lnSpc>
                    <a:spcPct val="90000"/>
                  </a:lnSpc>
                  <a:spcBef>
                    <a:spcPct val="0"/>
                  </a:spcBef>
                  <a:spcAft>
                    <a:spcPct val="0"/>
                  </a:spcAft>
                  <a:buClrTx/>
                  <a:buSzTx/>
                  <a:buFontTx/>
                  <a:buNone/>
                </a:pPr>
                <a:r>
                  <a:rPr lang="en-US" altLang="en-US" sz="900" b="0">
                    <a:latin typeface="Roboto" panose="02000000000000000000" pitchFamily="2" charset="0"/>
                    <a:ea typeface="Roboto" panose="02000000000000000000" pitchFamily="2" charset="0"/>
                  </a:rPr>
                  <a:t>System</a:t>
                </a:r>
              </a:p>
            </p:txBody>
          </p:sp>
          <p:sp>
            <p:nvSpPr>
              <p:cNvPr id="143" name="Text Box 142">
                <a:extLst>
                  <a:ext uri="{FF2B5EF4-FFF2-40B4-BE49-F238E27FC236}">
                    <a16:creationId xmlns:a16="http://schemas.microsoft.com/office/drawing/2014/main" id="{361AD46A-8223-2823-A06A-8C860F054C18}"/>
                  </a:ext>
                </a:extLst>
              </p:cNvPr>
              <p:cNvSpPr txBox="1">
                <a:spLocks noChangeArrowheads="1"/>
              </p:cNvSpPr>
              <p:nvPr/>
            </p:nvSpPr>
            <p:spPr bwMode="auto">
              <a:xfrm>
                <a:off x="2382" y="1283"/>
                <a:ext cx="725"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900" b="0">
                    <a:latin typeface="Roboto" panose="02000000000000000000" pitchFamily="2" charset="0"/>
                    <a:ea typeface="Roboto" panose="02000000000000000000" pitchFamily="2" charset="0"/>
                  </a:rPr>
                  <a:t>Production Control</a:t>
                </a:r>
              </a:p>
            </p:txBody>
          </p:sp>
        </p:grpSp>
        <p:grpSp>
          <p:nvGrpSpPr>
            <p:cNvPr id="144" name="Group 143">
              <a:extLst>
                <a:ext uri="{FF2B5EF4-FFF2-40B4-BE49-F238E27FC236}">
                  <a16:creationId xmlns:a16="http://schemas.microsoft.com/office/drawing/2014/main" id="{FDB885C3-AE61-D71D-6F07-ADA10D21351A}"/>
                </a:ext>
              </a:extLst>
            </p:cNvPr>
            <p:cNvGrpSpPr>
              <a:grpSpLocks/>
            </p:cNvGrpSpPr>
            <p:nvPr/>
          </p:nvGrpSpPr>
          <p:grpSpPr bwMode="auto">
            <a:xfrm>
              <a:off x="2424113" y="2736850"/>
              <a:ext cx="3176587" cy="1084263"/>
              <a:chOff x="1527" y="1724"/>
              <a:chExt cx="2001" cy="683"/>
            </a:xfrm>
          </p:grpSpPr>
          <p:sp>
            <p:nvSpPr>
              <p:cNvPr id="145" name="Line 144">
                <a:extLst>
                  <a:ext uri="{FF2B5EF4-FFF2-40B4-BE49-F238E27FC236}">
                    <a16:creationId xmlns:a16="http://schemas.microsoft.com/office/drawing/2014/main" id="{CF6319ED-735A-4F93-190C-8A557E070E58}"/>
                  </a:ext>
                </a:extLst>
              </p:cNvPr>
              <p:cNvSpPr>
                <a:spLocks noChangeShapeType="1"/>
              </p:cNvSpPr>
              <p:nvPr/>
            </p:nvSpPr>
            <p:spPr bwMode="auto">
              <a:xfrm flipH="1">
                <a:off x="1527" y="1724"/>
                <a:ext cx="995" cy="681"/>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6" name="Line 145">
                <a:extLst>
                  <a:ext uri="{FF2B5EF4-FFF2-40B4-BE49-F238E27FC236}">
                    <a16:creationId xmlns:a16="http://schemas.microsoft.com/office/drawing/2014/main" id="{68F7CEA4-BB13-8DA1-9362-7840B15E402C}"/>
                  </a:ext>
                </a:extLst>
              </p:cNvPr>
              <p:cNvSpPr>
                <a:spLocks noChangeShapeType="1"/>
              </p:cNvSpPr>
              <p:nvPr/>
            </p:nvSpPr>
            <p:spPr bwMode="auto">
              <a:xfrm flipH="1">
                <a:off x="2424" y="1727"/>
                <a:ext cx="245" cy="68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7" name="Line 146">
                <a:extLst>
                  <a:ext uri="{FF2B5EF4-FFF2-40B4-BE49-F238E27FC236}">
                    <a16:creationId xmlns:a16="http://schemas.microsoft.com/office/drawing/2014/main" id="{D4696A94-8F7C-677A-5038-63BFC8A7C61B}"/>
                  </a:ext>
                </a:extLst>
              </p:cNvPr>
              <p:cNvSpPr>
                <a:spLocks noChangeShapeType="1"/>
              </p:cNvSpPr>
              <p:nvPr/>
            </p:nvSpPr>
            <p:spPr bwMode="auto">
              <a:xfrm>
                <a:off x="2818" y="1731"/>
                <a:ext cx="710" cy="666"/>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8" name="Rectangle 147">
                <a:extLst>
                  <a:ext uri="{FF2B5EF4-FFF2-40B4-BE49-F238E27FC236}">
                    <a16:creationId xmlns:a16="http://schemas.microsoft.com/office/drawing/2014/main" id="{0DBB125E-24C7-8049-6A0C-DC13B0E9A327}"/>
                  </a:ext>
                </a:extLst>
              </p:cNvPr>
              <p:cNvSpPr>
                <a:spLocks noChangeArrowheads="1"/>
              </p:cNvSpPr>
              <p:nvPr/>
            </p:nvSpPr>
            <p:spPr bwMode="auto">
              <a:xfrm>
                <a:off x="1670" y="2079"/>
                <a:ext cx="395" cy="203"/>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Weekly Build</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Schedule</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(Paper)</a:t>
                </a:r>
              </a:p>
            </p:txBody>
          </p:sp>
          <p:sp>
            <p:nvSpPr>
              <p:cNvPr id="149" name="Rectangle 148">
                <a:extLst>
                  <a:ext uri="{FF2B5EF4-FFF2-40B4-BE49-F238E27FC236}">
                    <a16:creationId xmlns:a16="http://schemas.microsoft.com/office/drawing/2014/main" id="{9B555ABA-F4A8-7F88-06BB-5EE572F4A659}"/>
                  </a:ext>
                </a:extLst>
              </p:cNvPr>
              <p:cNvSpPr>
                <a:spLocks noChangeArrowheads="1"/>
              </p:cNvSpPr>
              <p:nvPr/>
            </p:nvSpPr>
            <p:spPr bwMode="auto">
              <a:xfrm>
                <a:off x="2317" y="2085"/>
                <a:ext cx="401" cy="203"/>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dirty="0">
                    <a:latin typeface="Roboto" panose="02000000000000000000" pitchFamily="2" charset="0"/>
                    <a:ea typeface="Roboto" panose="02000000000000000000" pitchFamily="2" charset="0"/>
                  </a:rPr>
                  <a:t>Weekly Build</a:t>
                </a:r>
              </a:p>
              <a:p>
                <a:pPr algn="ctr">
                  <a:lnSpc>
                    <a:spcPct val="90000"/>
                  </a:lnSpc>
                  <a:spcBef>
                    <a:spcPct val="0"/>
                  </a:spcBef>
                  <a:spcAft>
                    <a:spcPct val="0"/>
                  </a:spcAft>
                  <a:buClrTx/>
                  <a:buSzTx/>
                  <a:buFontTx/>
                  <a:buNone/>
                </a:pPr>
                <a:r>
                  <a:rPr lang="en-US" altLang="en-US" sz="800" b="0" dirty="0">
                    <a:latin typeface="Roboto" panose="02000000000000000000" pitchFamily="2" charset="0"/>
                    <a:ea typeface="Roboto" panose="02000000000000000000" pitchFamily="2" charset="0"/>
                  </a:rPr>
                  <a:t>Schedule</a:t>
                </a:r>
              </a:p>
              <a:p>
                <a:pPr algn="ctr">
                  <a:lnSpc>
                    <a:spcPct val="90000"/>
                  </a:lnSpc>
                  <a:spcBef>
                    <a:spcPct val="0"/>
                  </a:spcBef>
                  <a:spcAft>
                    <a:spcPct val="0"/>
                  </a:spcAft>
                  <a:buClrTx/>
                  <a:buSzTx/>
                  <a:buFontTx/>
                  <a:buNone/>
                </a:pPr>
                <a:r>
                  <a:rPr lang="en-US" altLang="en-US" sz="800" b="0" dirty="0">
                    <a:latin typeface="Roboto" panose="02000000000000000000" pitchFamily="2" charset="0"/>
                    <a:ea typeface="Roboto" panose="02000000000000000000" pitchFamily="2" charset="0"/>
                  </a:rPr>
                  <a:t>(Paper)</a:t>
                </a:r>
              </a:p>
            </p:txBody>
          </p:sp>
          <p:sp>
            <p:nvSpPr>
              <p:cNvPr id="150" name="Rectangle 149">
                <a:extLst>
                  <a:ext uri="{FF2B5EF4-FFF2-40B4-BE49-F238E27FC236}">
                    <a16:creationId xmlns:a16="http://schemas.microsoft.com/office/drawing/2014/main" id="{BB0B9161-B496-93B5-7299-1617DB0BBACE}"/>
                  </a:ext>
                </a:extLst>
              </p:cNvPr>
              <p:cNvSpPr>
                <a:spLocks noChangeArrowheads="1"/>
              </p:cNvSpPr>
              <p:nvPr/>
            </p:nvSpPr>
            <p:spPr bwMode="auto">
              <a:xfrm>
                <a:off x="3068" y="2085"/>
                <a:ext cx="395" cy="203"/>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Weekly Build</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Schedule</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Paper</a:t>
                </a:r>
              </a:p>
            </p:txBody>
          </p:sp>
        </p:grpSp>
        <p:grpSp>
          <p:nvGrpSpPr>
            <p:cNvPr id="151" name="Group 150">
              <a:extLst>
                <a:ext uri="{FF2B5EF4-FFF2-40B4-BE49-F238E27FC236}">
                  <a16:creationId xmlns:a16="http://schemas.microsoft.com/office/drawing/2014/main" id="{5D1020DE-2294-97A9-1661-0099497E3BDA}"/>
                </a:ext>
              </a:extLst>
            </p:cNvPr>
            <p:cNvGrpSpPr>
              <a:grpSpLocks/>
            </p:cNvGrpSpPr>
            <p:nvPr/>
          </p:nvGrpSpPr>
          <p:grpSpPr bwMode="auto">
            <a:xfrm>
              <a:off x="4722813" y="2740025"/>
              <a:ext cx="2311400" cy="1285875"/>
              <a:chOff x="2957" y="1720"/>
              <a:chExt cx="1456" cy="810"/>
            </a:xfrm>
          </p:grpSpPr>
          <p:sp>
            <p:nvSpPr>
              <p:cNvPr id="152" name="Line 151">
                <a:extLst>
                  <a:ext uri="{FF2B5EF4-FFF2-40B4-BE49-F238E27FC236}">
                    <a16:creationId xmlns:a16="http://schemas.microsoft.com/office/drawing/2014/main" id="{F1250C69-C431-3EEA-34C8-9B9E0D5DAA3A}"/>
                  </a:ext>
                </a:extLst>
              </p:cNvPr>
              <p:cNvSpPr>
                <a:spLocks noChangeShapeType="1"/>
              </p:cNvSpPr>
              <p:nvPr/>
            </p:nvSpPr>
            <p:spPr bwMode="auto">
              <a:xfrm>
                <a:off x="2957" y="1720"/>
                <a:ext cx="1456" cy="81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53" name="Rectangle 152">
                <a:extLst>
                  <a:ext uri="{FF2B5EF4-FFF2-40B4-BE49-F238E27FC236}">
                    <a16:creationId xmlns:a16="http://schemas.microsoft.com/office/drawing/2014/main" id="{FF9202C0-654F-8BAD-5AD4-5E43988B7B54}"/>
                  </a:ext>
                </a:extLst>
              </p:cNvPr>
              <p:cNvSpPr>
                <a:spLocks noChangeArrowheads="1"/>
              </p:cNvSpPr>
              <p:nvPr/>
            </p:nvSpPr>
            <p:spPr bwMode="auto">
              <a:xfrm>
                <a:off x="3600" y="2091"/>
                <a:ext cx="395" cy="196"/>
              </a:xfrm>
              <a:prstGeom prst="rect">
                <a:avLst/>
              </a:prstGeom>
              <a:solidFill>
                <a:schemeClr val="bg1"/>
              </a:solidFill>
              <a:ln w="9525"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Daily Ship</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Schedule</a:t>
                </a:r>
              </a:p>
              <a:p>
                <a:pPr algn="ctr">
                  <a:lnSpc>
                    <a:spcPct val="9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(Paper)</a:t>
                </a:r>
              </a:p>
            </p:txBody>
          </p:sp>
        </p:grpSp>
        <p:sp>
          <p:nvSpPr>
            <p:cNvPr id="154" name="Rectangle 153">
              <a:extLst>
                <a:ext uri="{FF2B5EF4-FFF2-40B4-BE49-F238E27FC236}">
                  <a16:creationId xmlns:a16="http://schemas.microsoft.com/office/drawing/2014/main" id="{AE7953F0-EB67-D2BA-D368-B5D5E0AD999B}"/>
                </a:ext>
              </a:extLst>
            </p:cNvPr>
            <p:cNvSpPr>
              <a:spLocks noChangeArrowheads="1"/>
            </p:cNvSpPr>
            <p:nvPr/>
          </p:nvSpPr>
          <p:spPr bwMode="auto">
            <a:xfrm>
              <a:off x="704850" y="4233863"/>
              <a:ext cx="8175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3,200 Sheets</a:t>
              </a:r>
              <a:r>
                <a:rPr lang="en-US" altLang="en-US" sz="800" b="0">
                  <a:solidFill>
                    <a:srgbClr val="FF0000"/>
                  </a:solidFill>
                  <a:latin typeface="Roboto" panose="02000000000000000000" pitchFamily="2" charset="0"/>
                  <a:ea typeface="Roboto" panose="02000000000000000000" pitchFamily="2" charset="0"/>
                </a:rPr>
                <a:t> </a:t>
              </a:r>
            </a:p>
          </p:txBody>
        </p:sp>
        <p:sp>
          <p:nvSpPr>
            <p:cNvPr id="155" name="Rectangle 154">
              <a:extLst>
                <a:ext uri="{FF2B5EF4-FFF2-40B4-BE49-F238E27FC236}">
                  <a16:creationId xmlns:a16="http://schemas.microsoft.com/office/drawing/2014/main" id="{B367E118-B804-68EE-E0BC-998D29E9E68D}"/>
                </a:ext>
              </a:extLst>
            </p:cNvPr>
            <p:cNvSpPr>
              <a:spLocks noChangeArrowheads="1"/>
            </p:cNvSpPr>
            <p:nvPr/>
          </p:nvSpPr>
          <p:spPr bwMode="auto">
            <a:xfrm>
              <a:off x="2532063" y="4233863"/>
              <a:ext cx="7762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5,250 Pieces</a:t>
              </a:r>
              <a:endParaRPr lang="en-US" altLang="en-US" sz="800" b="0">
                <a:solidFill>
                  <a:srgbClr val="FF0000"/>
                </a:solidFill>
                <a:latin typeface="Roboto" panose="02000000000000000000" pitchFamily="2" charset="0"/>
                <a:ea typeface="Roboto" panose="02000000000000000000" pitchFamily="2" charset="0"/>
              </a:endParaRPr>
            </a:p>
          </p:txBody>
        </p:sp>
        <p:sp>
          <p:nvSpPr>
            <p:cNvPr id="156" name="Rectangle 155">
              <a:extLst>
                <a:ext uri="{FF2B5EF4-FFF2-40B4-BE49-F238E27FC236}">
                  <a16:creationId xmlns:a16="http://schemas.microsoft.com/office/drawing/2014/main" id="{1B5AC7F9-D1BE-42E1-32C1-C69A731A3DCF}"/>
                </a:ext>
              </a:extLst>
            </p:cNvPr>
            <p:cNvSpPr>
              <a:spLocks noChangeArrowheads="1"/>
            </p:cNvSpPr>
            <p:nvPr/>
          </p:nvSpPr>
          <p:spPr bwMode="auto">
            <a:xfrm>
              <a:off x="4322763" y="4233863"/>
              <a:ext cx="7762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9,300 Pieces</a:t>
              </a:r>
              <a:endParaRPr lang="en-US" altLang="en-US" sz="800" b="0">
                <a:solidFill>
                  <a:srgbClr val="FF0000"/>
                </a:solidFill>
                <a:latin typeface="Roboto" panose="02000000000000000000" pitchFamily="2" charset="0"/>
                <a:ea typeface="Roboto" panose="02000000000000000000" pitchFamily="2" charset="0"/>
              </a:endParaRPr>
            </a:p>
          </p:txBody>
        </p:sp>
        <p:sp>
          <p:nvSpPr>
            <p:cNvPr id="157" name="Rectangle 156">
              <a:extLst>
                <a:ext uri="{FF2B5EF4-FFF2-40B4-BE49-F238E27FC236}">
                  <a16:creationId xmlns:a16="http://schemas.microsoft.com/office/drawing/2014/main" id="{EAC6E0EB-0F74-5B2E-7AAC-8906DA380ED7}"/>
                </a:ext>
              </a:extLst>
            </p:cNvPr>
            <p:cNvSpPr>
              <a:spLocks noChangeArrowheads="1"/>
            </p:cNvSpPr>
            <p:nvPr/>
          </p:nvSpPr>
          <p:spPr bwMode="auto">
            <a:xfrm>
              <a:off x="6053138" y="4233863"/>
              <a:ext cx="9747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2,300 Enclosures</a:t>
              </a:r>
              <a:endParaRPr lang="en-US" altLang="en-US" sz="800" b="0">
                <a:solidFill>
                  <a:srgbClr val="FF0000"/>
                </a:solidFill>
                <a:latin typeface="Roboto" panose="02000000000000000000" pitchFamily="2" charset="0"/>
                <a:ea typeface="Roboto" panose="02000000000000000000" pitchFamily="2" charset="0"/>
              </a:endParaRPr>
            </a:p>
          </p:txBody>
        </p:sp>
        <p:sp>
          <p:nvSpPr>
            <p:cNvPr id="158" name="Rectangle 157">
              <a:extLst>
                <a:ext uri="{FF2B5EF4-FFF2-40B4-BE49-F238E27FC236}">
                  <a16:creationId xmlns:a16="http://schemas.microsoft.com/office/drawing/2014/main" id="{A0B40A02-28CA-CF85-B06B-B3ED2B67232B}"/>
                </a:ext>
              </a:extLst>
            </p:cNvPr>
            <p:cNvSpPr>
              <a:spLocks noChangeArrowheads="1"/>
            </p:cNvSpPr>
            <p:nvPr/>
          </p:nvSpPr>
          <p:spPr bwMode="auto">
            <a:xfrm>
              <a:off x="560388" y="4581525"/>
              <a:ext cx="873125" cy="336550"/>
            </a:xfrm>
            <a:prstGeom prst="rect">
              <a:avLst/>
            </a:prstGeom>
            <a:solidFill>
              <a:srgbClr val="FFFF0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latin typeface="Roboto" panose="02000000000000000000" pitchFamily="2" charset="0"/>
                  <a:ea typeface="Roboto" panose="02000000000000000000" pitchFamily="2" charset="0"/>
                </a:rPr>
                <a:t>1 sheet yields 4 pieces</a:t>
              </a:r>
              <a:r>
                <a:rPr lang="en-US" altLang="en-US" sz="800" b="0">
                  <a:solidFill>
                    <a:srgbClr val="FF0000"/>
                  </a:solidFill>
                  <a:latin typeface="Roboto" panose="02000000000000000000" pitchFamily="2" charset="0"/>
                  <a:ea typeface="Roboto" panose="02000000000000000000" pitchFamily="2" charset="0"/>
                </a:rPr>
                <a:t> </a:t>
              </a:r>
            </a:p>
          </p:txBody>
        </p:sp>
        <p:grpSp>
          <p:nvGrpSpPr>
            <p:cNvPr id="159" name="Group 158">
              <a:extLst>
                <a:ext uri="{FF2B5EF4-FFF2-40B4-BE49-F238E27FC236}">
                  <a16:creationId xmlns:a16="http://schemas.microsoft.com/office/drawing/2014/main" id="{D15F80BA-67D7-6A15-41E4-0C9F439CBEA4}"/>
                </a:ext>
              </a:extLst>
            </p:cNvPr>
            <p:cNvGrpSpPr>
              <a:grpSpLocks/>
            </p:cNvGrpSpPr>
            <p:nvPr/>
          </p:nvGrpSpPr>
          <p:grpSpPr bwMode="auto">
            <a:xfrm>
              <a:off x="4470400" y="3971925"/>
              <a:ext cx="381000" cy="381000"/>
              <a:chOff x="4896" y="3312"/>
              <a:chExt cx="240" cy="240"/>
            </a:xfrm>
          </p:grpSpPr>
          <p:sp>
            <p:nvSpPr>
              <p:cNvPr id="160" name="Oval 159">
                <a:extLst>
                  <a:ext uri="{FF2B5EF4-FFF2-40B4-BE49-F238E27FC236}">
                    <a16:creationId xmlns:a16="http://schemas.microsoft.com/office/drawing/2014/main" id="{55A0131B-A7EC-89A7-DE01-B14A8A620832}"/>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61" name="Line 160">
                <a:extLst>
                  <a:ext uri="{FF2B5EF4-FFF2-40B4-BE49-F238E27FC236}">
                    <a16:creationId xmlns:a16="http://schemas.microsoft.com/office/drawing/2014/main" id="{856DCEA1-6B0A-44E5-37EC-82F255C7B1CB}"/>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62" name="Rectangle 161">
              <a:extLst>
                <a:ext uri="{FF2B5EF4-FFF2-40B4-BE49-F238E27FC236}">
                  <a16:creationId xmlns:a16="http://schemas.microsoft.com/office/drawing/2014/main" id="{FC9D2F4C-C13F-4533-EF62-E691F0C7CA08}"/>
                </a:ext>
              </a:extLst>
            </p:cNvPr>
            <p:cNvSpPr>
              <a:spLocks noChangeArrowheads="1"/>
            </p:cNvSpPr>
            <p:nvPr/>
          </p:nvSpPr>
          <p:spPr bwMode="auto">
            <a:xfrm>
              <a:off x="3284538" y="3787775"/>
              <a:ext cx="2813050" cy="1262063"/>
            </a:xfrm>
            <a:prstGeom prst="rect">
              <a:avLst/>
            </a:prstGeom>
            <a:noFill/>
            <a:ln w="28575">
              <a:solidFill>
                <a:srgbClr val="FF0000"/>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nvGrpSpPr>
            <p:cNvPr id="163" name="Group 162">
              <a:extLst>
                <a:ext uri="{FF2B5EF4-FFF2-40B4-BE49-F238E27FC236}">
                  <a16:creationId xmlns:a16="http://schemas.microsoft.com/office/drawing/2014/main" id="{59DBF6F7-1CFB-2513-27F8-F43E79C96CCC}"/>
                </a:ext>
              </a:extLst>
            </p:cNvPr>
            <p:cNvGrpSpPr>
              <a:grpSpLocks/>
            </p:cNvGrpSpPr>
            <p:nvPr/>
          </p:nvGrpSpPr>
          <p:grpSpPr bwMode="auto">
            <a:xfrm>
              <a:off x="2859088" y="3771900"/>
              <a:ext cx="3713162" cy="266700"/>
              <a:chOff x="1801" y="2735"/>
              <a:chExt cx="2339" cy="168"/>
            </a:xfrm>
          </p:grpSpPr>
          <p:grpSp>
            <p:nvGrpSpPr>
              <p:cNvPr id="164" name="Group 163">
                <a:extLst>
                  <a:ext uri="{FF2B5EF4-FFF2-40B4-BE49-F238E27FC236}">
                    <a16:creationId xmlns:a16="http://schemas.microsoft.com/office/drawing/2014/main" id="{B80D18DE-5CD9-E8C1-C6B3-C291041EC0A8}"/>
                  </a:ext>
                </a:extLst>
              </p:cNvPr>
              <p:cNvGrpSpPr>
                <a:grpSpLocks/>
              </p:cNvGrpSpPr>
              <p:nvPr/>
            </p:nvGrpSpPr>
            <p:grpSpPr bwMode="auto">
              <a:xfrm>
                <a:off x="1801" y="2735"/>
                <a:ext cx="161" cy="168"/>
                <a:chOff x="594" y="1362"/>
                <a:chExt cx="161" cy="168"/>
              </a:xfrm>
            </p:grpSpPr>
            <p:sp>
              <p:nvSpPr>
                <p:cNvPr id="169" name="Oval 164">
                  <a:extLst>
                    <a:ext uri="{FF2B5EF4-FFF2-40B4-BE49-F238E27FC236}">
                      <a16:creationId xmlns:a16="http://schemas.microsoft.com/office/drawing/2014/main" id="{69FB669A-92CE-D528-98F9-0EAB79B37170}"/>
                    </a:ext>
                  </a:extLst>
                </p:cNvPr>
                <p:cNvSpPr>
                  <a:spLocks noChangeArrowheads="1"/>
                </p:cNvSpPr>
                <p:nvPr/>
              </p:nvSpPr>
              <p:spPr bwMode="auto">
                <a:xfrm>
                  <a:off x="594" y="1383"/>
                  <a:ext cx="146" cy="147"/>
                </a:xfrm>
                <a:prstGeom prst="ellipse">
                  <a:avLst/>
                </a:prstGeom>
                <a:solidFill>
                  <a:schemeClr val="bg1"/>
                </a:solidFill>
                <a:ln w="19050">
                  <a:solidFill>
                    <a:srgbClr val="FF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70" name="Rectangle 165">
                  <a:extLst>
                    <a:ext uri="{FF2B5EF4-FFF2-40B4-BE49-F238E27FC236}">
                      <a16:creationId xmlns:a16="http://schemas.microsoft.com/office/drawing/2014/main" id="{7732DDE3-6445-8288-43B1-01E6D2A3555F}"/>
                    </a:ext>
                  </a:extLst>
                </p:cNvPr>
                <p:cNvSpPr>
                  <a:spLocks noChangeArrowheads="1"/>
                </p:cNvSpPr>
                <p:nvPr/>
              </p:nvSpPr>
              <p:spPr bwMode="auto">
                <a:xfrm>
                  <a:off x="678" y="1362"/>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71" name="Line 166">
                  <a:extLst>
                    <a:ext uri="{FF2B5EF4-FFF2-40B4-BE49-F238E27FC236}">
                      <a16:creationId xmlns:a16="http://schemas.microsoft.com/office/drawing/2014/main" id="{0D2C102D-5384-BC41-A152-947EFDEA55D7}"/>
                    </a:ext>
                  </a:extLst>
                </p:cNvPr>
                <p:cNvSpPr>
                  <a:spLocks noChangeShapeType="1"/>
                </p:cNvSpPr>
                <p:nvPr/>
              </p:nvSpPr>
              <p:spPr bwMode="auto">
                <a:xfrm rot="18086501" flipV="1">
                  <a:off x="720" y="1425"/>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65" name="Group 167">
                <a:extLst>
                  <a:ext uri="{FF2B5EF4-FFF2-40B4-BE49-F238E27FC236}">
                    <a16:creationId xmlns:a16="http://schemas.microsoft.com/office/drawing/2014/main" id="{B4E750FD-BED8-93A9-B3E8-10A51D592DC9}"/>
                  </a:ext>
                </a:extLst>
              </p:cNvPr>
              <p:cNvGrpSpPr>
                <a:grpSpLocks/>
              </p:cNvGrpSpPr>
              <p:nvPr/>
            </p:nvGrpSpPr>
            <p:grpSpPr bwMode="auto">
              <a:xfrm>
                <a:off x="3979" y="2735"/>
                <a:ext cx="161" cy="168"/>
                <a:chOff x="594" y="1362"/>
                <a:chExt cx="161" cy="168"/>
              </a:xfrm>
            </p:grpSpPr>
            <p:sp>
              <p:nvSpPr>
                <p:cNvPr id="166" name="Oval 168">
                  <a:extLst>
                    <a:ext uri="{FF2B5EF4-FFF2-40B4-BE49-F238E27FC236}">
                      <a16:creationId xmlns:a16="http://schemas.microsoft.com/office/drawing/2014/main" id="{FEF2D5CF-520C-7DE3-7CA4-74AB30AAABFF}"/>
                    </a:ext>
                  </a:extLst>
                </p:cNvPr>
                <p:cNvSpPr>
                  <a:spLocks noChangeArrowheads="1"/>
                </p:cNvSpPr>
                <p:nvPr/>
              </p:nvSpPr>
              <p:spPr bwMode="auto">
                <a:xfrm>
                  <a:off x="594" y="1383"/>
                  <a:ext cx="146" cy="147"/>
                </a:xfrm>
                <a:prstGeom prst="ellipse">
                  <a:avLst/>
                </a:prstGeom>
                <a:solidFill>
                  <a:schemeClr val="bg1"/>
                </a:solidFill>
                <a:ln w="19050">
                  <a:solidFill>
                    <a:srgbClr val="FF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67" name="Rectangle 169">
                  <a:extLst>
                    <a:ext uri="{FF2B5EF4-FFF2-40B4-BE49-F238E27FC236}">
                      <a16:creationId xmlns:a16="http://schemas.microsoft.com/office/drawing/2014/main" id="{D8222167-A4F9-0A3A-8BE0-1E36FD9FECF9}"/>
                    </a:ext>
                  </a:extLst>
                </p:cNvPr>
                <p:cNvSpPr>
                  <a:spLocks noChangeArrowheads="1"/>
                </p:cNvSpPr>
                <p:nvPr/>
              </p:nvSpPr>
              <p:spPr bwMode="auto">
                <a:xfrm>
                  <a:off x="678" y="1362"/>
                  <a:ext cx="77" cy="10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68" name="Line 170">
                  <a:extLst>
                    <a:ext uri="{FF2B5EF4-FFF2-40B4-BE49-F238E27FC236}">
                      <a16:creationId xmlns:a16="http://schemas.microsoft.com/office/drawing/2014/main" id="{E24AEA0F-E94B-05D1-0861-08D3FCD79E92}"/>
                    </a:ext>
                  </a:extLst>
                </p:cNvPr>
                <p:cNvSpPr>
                  <a:spLocks noChangeShapeType="1"/>
                </p:cNvSpPr>
                <p:nvPr/>
              </p:nvSpPr>
              <p:spPr bwMode="auto">
                <a:xfrm rot="18086501" flipV="1">
                  <a:off x="720" y="1425"/>
                  <a:ext cx="42" cy="21"/>
                </a:xfrm>
                <a:prstGeom prst="line">
                  <a:avLst/>
                </a:prstGeom>
                <a:noFill/>
                <a:ln w="952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172" name="Group 171">
              <a:extLst>
                <a:ext uri="{FF2B5EF4-FFF2-40B4-BE49-F238E27FC236}">
                  <a16:creationId xmlns:a16="http://schemas.microsoft.com/office/drawing/2014/main" id="{54737A23-A494-1593-1E9C-9A079ED4BABC}"/>
                </a:ext>
              </a:extLst>
            </p:cNvPr>
            <p:cNvGrpSpPr>
              <a:grpSpLocks/>
            </p:cNvGrpSpPr>
            <p:nvPr/>
          </p:nvGrpSpPr>
          <p:grpSpPr bwMode="auto">
            <a:xfrm>
              <a:off x="2819400" y="3240088"/>
              <a:ext cx="381000" cy="381000"/>
              <a:chOff x="4896" y="3312"/>
              <a:chExt cx="240" cy="240"/>
            </a:xfrm>
          </p:grpSpPr>
          <p:sp>
            <p:nvSpPr>
              <p:cNvPr id="173" name="Oval 172">
                <a:extLst>
                  <a:ext uri="{FF2B5EF4-FFF2-40B4-BE49-F238E27FC236}">
                    <a16:creationId xmlns:a16="http://schemas.microsoft.com/office/drawing/2014/main" id="{7120D81F-1560-CBEF-330E-FF8CB6B125DA}"/>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74" name="Line 173">
                <a:extLst>
                  <a:ext uri="{FF2B5EF4-FFF2-40B4-BE49-F238E27FC236}">
                    <a16:creationId xmlns:a16="http://schemas.microsoft.com/office/drawing/2014/main" id="{F39C32AA-2DBD-03F3-23D2-DFD997054C91}"/>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75" name="Group 174">
              <a:extLst>
                <a:ext uri="{FF2B5EF4-FFF2-40B4-BE49-F238E27FC236}">
                  <a16:creationId xmlns:a16="http://schemas.microsoft.com/office/drawing/2014/main" id="{8567157C-7CD8-57B5-BD70-D043C55A676D}"/>
                </a:ext>
              </a:extLst>
            </p:cNvPr>
            <p:cNvGrpSpPr>
              <a:grpSpLocks/>
            </p:cNvGrpSpPr>
            <p:nvPr/>
          </p:nvGrpSpPr>
          <p:grpSpPr bwMode="auto">
            <a:xfrm>
              <a:off x="3751263" y="3257550"/>
              <a:ext cx="381000" cy="381000"/>
              <a:chOff x="4896" y="3312"/>
              <a:chExt cx="240" cy="240"/>
            </a:xfrm>
          </p:grpSpPr>
          <p:sp>
            <p:nvSpPr>
              <p:cNvPr id="176" name="Oval 175">
                <a:extLst>
                  <a:ext uri="{FF2B5EF4-FFF2-40B4-BE49-F238E27FC236}">
                    <a16:creationId xmlns:a16="http://schemas.microsoft.com/office/drawing/2014/main" id="{FC0F3295-9A3C-82C8-1ABE-53E995714E8B}"/>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77" name="Line 176">
                <a:extLst>
                  <a:ext uri="{FF2B5EF4-FFF2-40B4-BE49-F238E27FC236}">
                    <a16:creationId xmlns:a16="http://schemas.microsoft.com/office/drawing/2014/main" id="{EAFC8CFA-485D-6A46-5147-DBA9FDE92D36}"/>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78" name="Group 177">
              <a:extLst>
                <a:ext uri="{FF2B5EF4-FFF2-40B4-BE49-F238E27FC236}">
                  <a16:creationId xmlns:a16="http://schemas.microsoft.com/office/drawing/2014/main" id="{2D023FED-00C5-6E0A-28E0-31EDACC7B8A3}"/>
                </a:ext>
              </a:extLst>
            </p:cNvPr>
            <p:cNvGrpSpPr>
              <a:grpSpLocks/>
            </p:cNvGrpSpPr>
            <p:nvPr/>
          </p:nvGrpSpPr>
          <p:grpSpPr bwMode="auto">
            <a:xfrm>
              <a:off x="4881563" y="3276600"/>
              <a:ext cx="381000" cy="381000"/>
              <a:chOff x="4896" y="3312"/>
              <a:chExt cx="240" cy="240"/>
            </a:xfrm>
          </p:grpSpPr>
          <p:sp>
            <p:nvSpPr>
              <p:cNvPr id="179" name="Oval 178">
                <a:extLst>
                  <a:ext uri="{FF2B5EF4-FFF2-40B4-BE49-F238E27FC236}">
                    <a16:creationId xmlns:a16="http://schemas.microsoft.com/office/drawing/2014/main" id="{F30CDE66-0E3E-EE1F-C7AD-F3ED89621474}"/>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80" name="Line 179">
                <a:extLst>
                  <a:ext uri="{FF2B5EF4-FFF2-40B4-BE49-F238E27FC236}">
                    <a16:creationId xmlns:a16="http://schemas.microsoft.com/office/drawing/2014/main" id="{7396ABAB-C4BE-5FB4-BA79-9D471045760A}"/>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81" name="Group 180">
              <a:extLst>
                <a:ext uri="{FF2B5EF4-FFF2-40B4-BE49-F238E27FC236}">
                  <a16:creationId xmlns:a16="http://schemas.microsoft.com/office/drawing/2014/main" id="{439FDDF1-2576-0BB4-3FF8-92C47D2482AE}"/>
                </a:ext>
              </a:extLst>
            </p:cNvPr>
            <p:cNvGrpSpPr>
              <a:grpSpLocks/>
            </p:cNvGrpSpPr>
            <p:nvPr/>
          </p:nvGrpSpPr>
          <p:grpSpPr bwMode="auto">
            <a:xfrm>
              <a:off x="998538" y="4041775"/>
              <a:ext cx="276225" cy="277813"/>
              <a:chOff x="4896" y="3312"/>
              <a:chExt cx="240" cy="240"/>
            </a:xfrm>
          </p:grpSpPr>
          <p:sp>
            <p:nvSpPr>
              <p:cNvPr id="182" name="Oval 181">
                <a:extLst>
                  <a:ext uri="{FF2B5EF4-FFF2-40B4-BE49-F238E27FC236}">
                    <a16:creationId xmlns:a16="http://schemas.microsoft.com/office/drawing/2014/main" id="{E81C7D30-79DA-D9AC-A773-B58A44DDE324}"/>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83" name="Line 182">
                <a:extLst>
                  <a:ext uri="{FF2B5EF4-FFF2-40B4-BE49-F238E27FC236}">
                    <a16:creationId xmlns:a16="http://schemas.microsoft.com/office/drawing/2014/main" id="{AF10D2D0-709E-A22F-8CE4-BB132A56CB1F}"/>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84" name="Group 183">
              <a:extLst>
                <a:ext uri="{FF2B5EF4-FFF2-40B4-BE49-F238E27FC236}">
                  <a16:creationId xmlns:a16="http://schemas.microsoft.com/office/drawing/2014/main" id="{F2DBEEDA-5717-79CF-9DE1-D72677E64480}"/>
                </a:ext>
              </a:extLst>
            </p:cNvPr>
            <p:cNvGrpSpPr>
              <a:grpSpLocks/>
            </p:cNvGrpSpPr>
            <p:nvPr/>
          </p:nvGrpSpPr>
          <p:grpSpPr bwMode="auto">
            <a:xfrm>
              <a:off x="2500313" y="3865563"/>
              <a:ext cx="147637" cy="346075"/>
              <a:chOff x="1336" y="1152"/>
              <a:chExt cx="296" cy="720"/>
            </a:xfrm>
          </p:grpSpPr>
          <p:sp>
            <p:nvSpPr>
              <p:cNvPr id="185" name="Line 184">
                <a:extLst>
                  <a:ext uri="{FF2B5EF4-FFF2-40B4-BE49-F238E27FC236}">
                    <a16:creationId xmlns:a16="http://schemas.microsoft.com/office/drawing/2014/main" id="{7302696A-5316-7AA7-47D4-77757CA60978}"/>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6" name="Line 185">
                <a:extLst>
                  <a:ext uri="{FF2B5EF4-FFF2-40B4-BE49-F238E27FC236}">
                    <a16:creationId xmlns:a16="http://schemas.microsoft.com/office/drawing/2014/main" id="{C59E1C35-1FD1-40DA-E73F-34A177023677}"/>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7" name="Line 186">
                <a:extLst>
                  <a:ext uri="{FF2B5EF4-FFF2-40B4-BE49-F238E27FC236}">
                    <a16:creationId xmlns:a16="http://schemas.microsoft.com/office/drawing/2014/main" id="{B7280F48-0F49-47DC-18B0-B3DB8419E239}"/>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8" name="Line 187">
                <a:extLst>
                  <a:ext uri="{FF2B5EF4-FFF2-40B4-BE49-F238E27FC236}">
                    <a16:creationId xmlns:a16="http://schemas.microsoft.com/office/drawing/2014/main" id="{9C022E71-C0C4-8D18-19CC-A226EBA8AB7E}"/>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9" name="Line 188">
                <a:extLst>
                  <a:ext uri="{FF2B5EF4-FFF2-40B4-BE49-F238E27FC236}">
                    <a16:creationId xmlns:a16="http://schemas.microsoft.com/office/drawing/2014/main" id="{1CF9B852-AD39-80D2-8F7C-32E6563847A2}"/>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90" name="Group 189">
              <a:extLst>
                <a:ext uri="{FF2B5EF4-FFF2-40B4-BE49-F238E27FC236}">
                  <a16:creationId xmlns:a16="http://schemas.microsoft.com/office/drawing/2014/main" id="{C822D5F9-4D94-3E57-FEF4-3F5A0026EFD4}"/>
                </a:ext>
              </a:extLst>
            </p:cNvPr>
            <p:cNvGrpSpPr>
              <a:grpSpLocks/>
            </p:cNvGrpSpPr>
            <p:nvPr/>
          </p:nvGrpSpPr>
          <p:grpSpPr bwMode="auto">
            <a:xfrm>
              <a:off x="6053138" y="3913188"/>
              <a:ext cx="179387" cy="366712"/>
              <a:chOff x="1336" y="1152"/>
              <a:chExt cx="296" cy="720"/>
            </a:xfrm>
          </p:grpSpPr>
          <p:sp>
            <p:nvSpPr>
              <p:cNvPr id="191" name="Line 190">
                <a:extLst>
                  <a:ext uri="{FF2B5EF4-FFF2-40B4-BE49-F238E27FC236}">
                    <a16:creationId xmlns:a16="http://schemas.microsoft.com/office/drawing/2014/main" id="{CADA4A18-8CC5-A866-1EE8-44C5EFF0B02B}"/>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2" name="Line 191">
                <a:extLst>
                  <a:ext uri="{FF2B5EF4-FFF2-40B4-BE49-F238E27FC236}">
                    <a16:creationId xmlns:a16="http://schemas.microsoft.com/office/drawing/2014/main" id="{B7C4ED20-2A3D-CCBD-F048-C3B289259850}"/>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3" name="Line 192">
                <a:extLst>
                  <a:ext uri="{FF2B5EF4-FFF2-40B4-BE49-F238E27FC236}">
                    <a16:creationId xmlns:a16="http://schemas.microsoft.com/office/drawing/2014/main" id="{44AB675F-0815-B074-9FCD-7230E8109582}"/>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4" name="Line 193">
                <a:extLst>
                  <a:ext uri="{FF2B5EF4-FFF2-40B4-BE49-F238E27FC236}">
                    <a16:creationId xmlns:a16="http://schemas.microsoft.com/office/drawing/2014/main" id="{798CA910-80AE-1DEC-4175-E389598E838D}"/>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5" name="Line 194">
                <a:extLst>
                  <a:ext uri="{FF2B5EF4-FFF2-40B4-BE49-F238E27FC236}">
                    <a16:creationId xmlns:a16="http://schemas.microsoft.com/office/drawing/2014/main" id="{6DFE4686-2D98-24B8-0244-9A425A61674D}"/>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96" name="Group 195">
              <a:extLst>
                <a:ext uri="{FF2B5EF4-FFF2-40B4-BE49-F238E27FC236}">
                  <a16:creationId xmlns:a16="http://schemas.microsoft.com/office/drawing/2014/main" id="{8E28A342-FA29-CA76-8CD2-82B1EF7F3933}"/>
                </a:ext>
              </a:extLst>
            </p:cNvPr>
            <p:cNvGrpSpPr>
              <a:grpSpLocks/>
            </p:cNvGrpSpPr>
            <p:nvPr/>
          </p:nvGrpSpPr>
          <p:grpSpPr bwMode="auto">
            <a:xfrm>
              <a:off x="762000" y="3862388"/>
              <a:ext cx="168275" cy="366712"/>
              <a:chOff x="1336" y="1152"/>
              <a:chExt cx="296" cy="720"/>
            </a:xfrm>
          </p:grpSpPr>
          <p:sp>
            <p:nvSpPr>
              <p:cNvPr id="197" name="Line 196">
                <a:extLst>
                  <a:ext uri="{FF2B5EF4-FFF2-40B4-BE49-F238E27FC236}">
                    <a16:creationId xmlns:a16="http://schemas.microsoft.com/office/drawing/2014/main" id="{9C000FAC-71CD-3408-1536-17E5083DF2E6}"/>
                  </a:ext>
                </a:extLst>
              </p:cNvPr>
              <p:cNvSpPr>
                <a:spLocks noChangeShapeType="1"/>
              </p:cNvSpPr>
              <p:nvPr/>
            </p:nvSpPr>
            <p:spPr bwMode="auto">
              <a:xfrm>
                <a:off x="1344" y="115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8" name="Line 197">
                <a:extLst>
                  <a:ext uri="{FF2B5EF4-FFF2-40B4-BE49-F238E27FC236}">
                    <a16:creationId xmlns:a16="http://schemas.microsoft.com/office/drawing/2014/main" id="{61E5DEEB-1F91-BBC2-2D38-DB00E247FAA4}"/>
                  </a:ext>
                </a:extLst>
              </p:cNvPr>
              <p:cNvSpPr>
                <a:spLocks noChangeShapeType="1"/>
              </p:cNvSpPr>
              <p:nvPr/>
            </p:nvSpPr>
            <p:spPr bwMode="auto">
              <a:xfrm>
                <a:off x="1632" y="1152"/>
                <a:ext cx="0" cy="72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9" name="Line 198">
                <a:extLst>
                  <a:ext uri="{FF2B5EF4-FFF2-40B4-BE49-F238E27FC236}">
                    <a16:creationId xmlns:a16="http://schemas.microsoft.com/office/drawing/2014/main" id="{0E26FD73-0362-C6FE-77F9-9FE87BC360BB}"/>
                  </a:ext>
                </a:extLst>
              </p:cNvPr>
              <p:cNvSpPr>
                <a:spLocks noChangeShapeType="1"/>
              </p:cNvSpPr>
              <p:nvPr/>
            </p:nvSpPr>
            <p:spPr bwMode="auto">
              <a:xfrm>
                <a:off x="1336" y="139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0" name="Line 199">
                <a:extLst>
                  <a:ext uri="{FF2B5EF4-FFF2-40B4-BE49-F238E27FC236}">
                    <a16:creationId xmlns:a16="http://schemas.microsoft.com/office/drawing/2014/main" id="{DFD9F308-3B90-53D2-055D-C59D79D6795C}"/>
                  </a:ext>
                </a:extLst>
              </p:cNvPr>
              <p:cNvSpPr>
                <a:spLocks noChangeShapeType="1"/>
              </p:cNvSpPr>
              <p:nvPr/>
            </p:nvSpPr>
            <p:spPr bwMode="auto">
              <a:xfrm>
                <a:off x="1336" y="163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1" name="Line 200">
                <a:extLst>
                  <a:ext uri="{FF2B5EF4-FFF2-40B4-BE49-F238E27FC236}">
                    <a16:creationId xmlns:a16="http://schemas.microsoft.com/office/drawing/2014/main" id="{39A3AD90-EF2F-0DE7-1ED5-E38E9FE70E45}"/>
                  </a:ext>
                </a:extLst>
              </p:cNvPr>
              <p:cNvSpPr>
                <a:spLocks noChangeShapeType="1"/>
              </p:cNvSpPr>
              <p:nvPr/>
            </p:nvSpPr>
            <p:spPr bwMode="auto">
              <a:xfrm>
                <a:off x="1344" y="1872"/>
                <a:ext cx="28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02" name="Group 201">
              <a:extLst>
                <a:ext uri="{FF2B5EF4-FFF2-40B4-BE49-F238E27FC236}">
                  <a16:creationId xmlns:a16="http://schemas.microsoft.com/office/drawing/2014/main" id="{4B29375F-867C-0CA0-0A84-5AC8FAD9474B}"/>
                </a:ext>
              </a:extLst>
            </p:cNvPr>
            <p:cNvGrpSpPr>
              <a:grpSpLocks/>
            </p:cNvGrpSpPr>
            <p:nvPr/>
          </p:nvGrpSpPr>
          <p:grpSpPr bwMode="auto">
            <a:xfrm>
              <a:off x="2709863" y="4059238"/>
              <a:ext cx="276225" cy="277812"/>
              <a:chOff x="4896" y="3312"/>
              <a:chExt cx="240" cy="240"/>
            </a:xfrm>
          </p:grpSpPr>
          <p:sp>
            <p:nvSpPr>
              <p:cNvPr id="203" name="Oval 202">
                <a:extLst>
                  <a:ext uri="{FF2B5EF4-FFF2-40B4-BE49-F238E27FC236}">
                    <a16:creationId xmlns:a16="http://schemas.microsoft.com/office/drawing/2014/main" id="{5C649044-2BB2-51E3-88C3-8E78B6880FFC}"/>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04" name="Line 203">
                <a:extLst>
                  <a:ext uri="{FF2B5EF4-FFF2-40B4-BE49-F238E27FC236}">
                    <a16:creationId xmlns:a16="http://schemas.microsoft.com/office/drawing/2014/main" id="{0F4C2B86-1CD3-5005-90D5-AFE0950B087D}"/>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05" name="Group 204">
              <a:extLst>
                <a:ext uri="{FF2B5EF4-FFF2-40B4-BE49-F238E27FC236}">
                  <a16:creationId xmlns:a16="http://schemas.microsoft.com/office/drawing/2014/main" id="{8FFE964D-56E0-5FBC-97B1-5B8714E6057D}"/>
                </a:ext>
              </a:extLst>
            </p:cNvPr>
            <p:cNvGrpSpPr>
              <a:grpSpLocks/>
            </p:cNvGrpSpPr>
            <p:nvPr/>
          </p:nvGrpSpPr>
          <p:grpSpPr bwMode="auto">
            <a:xfrm>
              <a:off x="6276975" y="4065588"/>
              <a:ext cx="276225" cy="277812"/>
              <a:chOff x="4896" y="3312"/>
              <a:chExt cx="240" cy="240"/>
            </a:xfrm>
          </p:grpSpPr>
          <p:sp>
            <p:nvSpPr>
              <p:cNvPr id="206" name="Oval 205">
                <a:extLst>
                  <a:ext uri="{FF2B5EF4-FFF2-40B4-BE49-F238E27FC236}">
                    <a16:creationId xmlns:a16="http://schemas.microsoft.com/office/drawing/2014/main" id="{B46693F1-E29F-FA23-7417-B2367116805F}"/>
                  </a:ext>
                </a:extLst>
              </p:cNvPr>
              <p:cNvSpPr>
                <a:spLocks noChangeArrowheads="1"/>
              </p:cNvSpPr>
              <p:nvPr/>
            </p:nvSpPr>
            <p:spPr bwMode="auto">
              <a:xfrm>
                <a:off x="4896" y="3312"/>
                <a:ext cx="240" cy="24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07" name="Line 206">
                <a:extLst>
                  <a:ext uri="{FF2B5EF4-FFF2-40B4-BE49-F238E27FC236}">
                    <a16:creationId xmlns:a16="http://schemas.microsoft.com/office/drawing/2014/main" id="{910DA98B-E712-9341-2748-F4EB3FA5DA2A}"/>
                  </a:ext>
                </a:extLst>
              </p:cNvPr>
              <p:cNvSpPr>
                <a:spLocks noChangeShapeType="1"/>
              </p:cNvSpPr>
              <p:nvPr/>
            </p:nvSpPr>
            <p:spPr bwMode="auto">
              <a:xfrm flipH="1">
                <a:off x="4950" y="3330"/>
                <a:ext cx="144" cy="19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08" name="AutoShape 207">
              <a:extLst>
                <a:ext uri="{FF2B5EF4-FFF2-40B4-BE49-F238E27FC236}">
                  <a16:creationId xmlns:a16="http://schemas.microsoft.com/office/drawing/2014/main" id="{06E62641-833F-1A90-C4B3-8CB2EBDF34F8}"/>
                </a:ext>
              </a:extLst>
            </p:cNvPr>
            <p:cNvSpPr>
              <a:spLocks noChangeArrowheads="1"/>
            </p:cNvSpPr>
            <p:nvPr/>
          </p:nvSpPr>
          <p:spPr bwMode="auto">
            <a:xfrm>
              <a:off x="5943600" y="1600200"/>
              <a:ext cx="990600" cy="6858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30/60/90</a:t>
              </a:r>
            </a:p>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Forecast</a:t>
              </a:r>
            </a:p>
          </p:txBody>
        </p:sp>
        <p:sp>
          <p:nvSpPr>
            <p:cNvPr id="209" name="AutoShape 208">
              <a:extLst>
                <a:ext uri="{FF2B5EF4-FFF2-40B4-BE49-F238E27FC236}">
                  <a16:creationId xmlns:a16="http://schemas.microsoft.com/office/drawing/2014/main" id="{EF063FFB-D9B6-52F2-5A07-792404783CC8}"/>
                </a:ext>
              </a:extLst>
            </p:cNvPr>
            <p:cNvSpPr>
              <a:spLocks noChangeArrowheads="1"/>
            </p:cNvSpPr>
            <p:nvPr/>
          </p:nvSpPr>
          <p:spPr bwMode="auto">
            <a:xfrm>
              <a:off x="2209800" y="1828800"/>
              <a:ext cx="838200" cy="6096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Weekly</a:t>
              </a:r>
            </a:p>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Fax</a:t>
              </a:r>
            </a:p>
          </p:txBody>
        </p:sp>
        <p:sp>
          <p:nvSpPr>
            <p:cNvPr id="210" name="AutoShape 209">
              <a:extLst>
                <a:ext uri="{FF2B5EF4-FFF2-40B4-BE49-F238E27FC236}">
                  <a16:creationId xmlns:a16="http://schemas.microsoft.com/office/drawing/2014/main" id="{4BEE403B-BEF2-F2E8-5D10-9C1594426AEB}"/>
                </a:ext>
              </a:extLst>
            </p:cNvPr>
            <p:cNvSpPr>
              <a:spLocks noChangeArrowheads="1"/>
            </p:cNvSpPr>
            <p:nvPr/>
          </p:nvSpPr>
          <p:spPr bwMode="auto">
            <a:xfrm>
              <a:off x="1371600" y="4157663"/>
              <a:ext cx="9144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Reduce</a:t>
              </a:r>
            </a:p>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Manpower</a:t>
              </a:r>
            </a:p>
          </p:txBody>
        </p:sp>
        <p:sp>
          <p:nvSpPr>
            <p:cNvPr id="211" name="AutoShape 210">
              <a:extLst>
                <a:ext uri="{FF2B5EF4-FFF2-40B4-BE49-F238E27FC236}">
                  <a16:creationId xmlns:a16="http://schemas.microsoft.com/office/drawing/2014/main" id="{10CDFCF0-99E5-2F6C-6D13-BC00C1843FE4}"/>
                </a:ext>
              </a:extLst>
            </p:cNvPr>
            <p:cNvSpPr>
              <a:spLocks noChangeArrowheads="1"/>
            </p:cNvSpPr>
            <p:nvPr/>
          </p:nvSpPr>
          <p:spPr bwMode="auto">
            <a:xfrm>
              <a:off x="5349875" y="4895850"/>
              <a:ext cx="8985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TPM</a:t>
              </a:r>
            </a:p>
          </p:txBody>
        </p:sp>
        <p:sp>
          <p:nvSpPr>
            <p:cNvPr id="212" name="AutoShape 211">
              <a:extLst>
                <a:ext uri="{FF2B5EF4-FFF2-40B4-BE49-F238E27FC236}">
                  <a16:creationId xmlns:a16="http://schemas.microsoft.com/office/drawing/2014/main" id="{6383DF09-3AFA-BD63-9D17-E4D6B4B2D258}"/>
                </a:ext>
              </a:extLst>
            </p:cNvPr>
            <p:cNvSpPr>
              <a:spLocks noChangeArrowheads="1"/>
            </p:cNvSpPr>
            <p:nvPr/>
          </p:nvSpPr>
          <p:spPr bwMode="auto">
            <a:xfrm>
              <a:off x="2806700" y="4692650"/>
              <a:ext cx="746125"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1 pc Flow</a:t>
              </a:r>
            </a:p>
          </p:txBody>
        </p:sp>
        <p:sp>
          <p:nvSpPr>
            <p:cNvPr id="213" name="AutoShape 212">
              <a:extLst>
                <a:ext uri="{FF2B5EF4-FFF2-40B4-BE49-F238E27FC236}">
                  <a16:creationId xmlns:a16="http://schemas.microsoft.com/office/drawing/2014/main" id="{8D115A92-545B-149B-0E36-10F87174FA68}"/>
                </a:ext>
              </a:extLst>
            </p:cNvPr>
            <p:cNvSpPr>
              <a:spLocks noChangeArrowheads="1"/>
            </p:cNvSpPr>
            <p:nvPr/>
          </p:nvSpPr>
          <p:spPr bwMode="auto">
            <a:xfrm>
              <a:off x="5391150" y="4014788"/>
              <a:ext cx="990600" cy="533400"/>
            </a:xfrm>
            <a:prstGeom prst="irregularSeal1">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Improve</a:t>
              </a:r>
            </a:p>
            <a:p>
              <a:pPr algn="ctr">
                <a:lnSpc>
                  <a:spcPct val="100000"/>
                </a:lnSpc>
                <a:spcBef>
                  <a:spcPct val="0"/>
                </a:spcBef>
                <a:spcAft>
                  <a:spcPct val="0"/>
                </a:spcAft>
                <a:buClrTx/>
                <a:buSzTx/>
                <a:buFontTx/>
                <a:buNone/>
              </a:pPr>
              <a:r>
                <a:rPr lang="en-US" altLang="en-US" sz="800" b="0">
                  <a:solidFill>
                    <a:srgbClr val="FF0000"/>
                  </a:solidFill>
                  <a:latin typeface="Roboto" panose="02000000000000000000" pitchFamily="2" charset="0"/>
                  <a:ea typeface="Roboto" panose="02000000000000000000" pitchFamily="2" charset="0"/>
                </a:rPr>
                <a:t>DOI</a:t>
              </a:r>
            </a:p>
          </p:txBody>
        </p:sp>
        <p:sp>
          <p:nvSpPr>
            <p:cNvPr id="214" name="Oval 220">
              <a:extLst>
                <a:ext uri="{FF2B5EF4-FFF2-40B4-BE49-F238E27FC236}">
                  <a16:creationId xmlns:a16="http://schemas.microsoft.com/office/drawing/2014/main" id="{6F1B87A7-C1CF-EDF9-2BF4-879D0ECB6315}"/>
                </a:ext>
              </a:extLst>
            </p:cNvPr>
            <p:cNvSpPr>
              <a:spLocks noChangeArrowheads="1"/>
            </p:cNvSpPr>
            <p:nvPr/>
          </p:nvSpPr>
          <p:spPr bwMode="auto">
            <a:xfrm>
              <a:off x="5080000" y="3627438"/>
              <a:ext cx="1349375" cy="2163762"/>
            </a:xfrm>
            <a:prstGeom prst="ellipse">
              <a:avLst/>
            </a:prstGeom>
            <a:noFill/>
            <a:ln w="381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504139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TPM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514350" indent="-514350">
              <a:buFont typeface="+mj-lt"/>
              <a:buAutoNum type="arabicPeriod"/>
            </a:pPr>
            <a:r>
              <a:rPr lang="en-US" dirty="0"/>
              <a:t>Analyze data to understand historical performance</a:t>
            </a:r>
          </a:p>
          <a:p>
            <a:pPr marL="514350" indent="-514350">
              <a:buFont typeface="+mj-lt"/>
              <a:buAutoNum type="arabicPeriod"/>
            </a:pPr>
            <a:r>
              <a:rPr lang="en-US" dirty="0"/>
              <a:t>Corrective Maintenance, stabilize equipment condition and restore deterioration</a:t>
            </a:r>
          </a:p>
          <a:p>
            <a:pPr marL="514350" indent="-514350">
              <a:buFont typeface="+mj-lt"/>
              <a:buAutoNum type="arabicPeriod"/>
            </a:pPr>
            <a:r>
              <a:rPr lang="en-US" dirty="0"/>
              <a:t>Autonomous Maintenance, effectively utilize operators to act as the eyes and ears of the mechanics</a:t>
            </a:r>
          </a:p>
          <a:p>
            <a:pPr marL="514350" indent="-514350">
              <a:buFont typeface="+mj-lt"/>
              <a:buAutoNum type="arabicPeriod"/>
            </a:pPr>
            <a:r>
              <a:rPr lang="en-US" dirty="0"/>
              <a:t>Install a process to sustain and improve Overall Equipment Effectivity </a:t>
            </a:r>
          </a:p>
          <a:p>
            <a:pPr marL="514350" indent="-514350">
              <a:buFont typeface="+mj-lt"/>
              <a:buAutoNum type="arabicPeriod"/>
            </a:pPr>
            <a:r>
              <a:rPr lang="en-US" dirty="0"/>
              <a:t>Improve maintainability of equipment</a:t>
            </a:r>
          </a:p>
          <a:p>
            <a:pPr marL="514350" indent="-514350">
              <a:buFont typeface="+mj-lt"/>
              <a:buAutoNum type="arabicPeriod"/>
            </a:pPr>
            <a:r>
              <a:rPr lang="en-US" dirty="0"/>
              <a:t>Reduce the need for maintenance</a:t>
            </a:r>
          </a:p>
          <a:p>
            <a:pPr marL="514350" indent="-514350">
              <a:buFont typeface="+mj-lt"/>
              <a:buAutoNum type="arabicPeriod"/>
            </a:pPr>
            <a:endParaRPr lang="en-US" dirty="0"/>
          </a:p>
          <a:p>
            <a:pPr marL="514350" indent="-514350">
              <a:buFont typeface="+mj-lt"/>
              <a:buAutoNum type="arabicPeriod"/>
            </a:pP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89296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“Big Three”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If you have not changed	</a:t>
            </a:r>
          </a:p>
          <a:p>
            <a:pPr lvl="1">
              <a:buClr>
                <a:schemeClr val="tx1"/>
              </a:buClr>
            </a:pPr>
            <a:r>
              <a:rPr lang="en-US" sz="3200" b="1" i="1" u="sng" dirty="0">
                <a:solidFill>
                  <a:schemeClr val="accent1"/>
                </a:solidFill>
              </a:rPr>
              <a:t>Operating Procedure</a:t>
            </a:r>
          </a:p>
          <a:p>
            <a:pPr lvl="1">
              <a:buClr>
                <a:schemeClr val="tx1"/>
              </a:buClr>
            </a:pPr>
            <a:r>
              <a:rPr lang="en-US" sz="3200" b="1" i="1" u="sng" dirty="0">
                <a:solidFill>
                  <a:schemeClr val="accent1"/>
                </a:solidFill>
              </a:rPr>
              <a:t>Maintenance Procedure</a:t>
            </a:r>
          </a:p>
          <a:p>
            <a:pPr lvl="1">
              <a:buClr>
                <a:schemeClr val="tx1"/>
              </a:buClr>
            </a:pPr>
            <a:r>
              <a:rPr lang="en-US" sz="3200" b="1" i="1" u="sng" dirty="0">
                <a:solidFill>
                  <a:schemeClr val="accent1"/>
                </a:solidFill>
              </a:rPr>
              <a:t>Equipment Design</a:t>
            </a:r>
          </a:p>
          <a:p>
            <a:r>
              <a:rPr lang="en-US" sz="3600" dirty="0"/>
              <a:t>You are doomed to repeat history!</a:t>
            </a:r>
          </a:p>
          <a:p>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1877400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TPM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TPM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pre-selected departments?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event boundaries?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to charter as necessary. </a:t>
            </a:r>
          </a:p>
        </p:txBody>
      </p:sp>
    </p:spTree>
    <p:extLst>
      <p:ext uri="{BB962C8B-B14F-4D97-AF65-F5344CB8AC3E}">
        <p14:creationId xmlns:p14="http://schemas.microsoft.com/office/powerpoint/2010/main" val="178408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Loss Data Analysis and Overall Equipment Effectiveness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equipment effectiveness</a:t>
            </a:r>
          </a:p>
          <a:p>
            <a:r>
              <a:rPr lang="en-US" dirty="0"/>
              <a:t>Identify the Six Big Losses</a:t>
            </a:r>
          </a:p>
          <a:p>
            <a:r>
              <a:rPr lang="en-US" dirty="0"/>
              <a:t>Complete an analysis of historical performance</a:t>
            </a:r>
          </a:p>
          <a:p>
            <a:r>
              <a:rPr lang="en-US" dirty="0"/>
              <a:t>Identify components of OEE</a:t>
            </a:r>
          </a:p>
          <a:p>
            <a:r>
              <a:rPr lang="en-US" dirty="0"/>
              <a:t>Calculate OEE</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268A97C-C65B-04F0-A7F3-2819E57EFB4F}"/>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0CD6385B-4921-FE67-37E1-72E739A24328}"/>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Maintainability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Improvement &amp;</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sp>
          <p:nvSpPr>
            <p:cNvPr id="7" name="AutoShape 9">
              <a:extLst>
                <a:ext uri="{FF2B5EF4-FFF2-40B4-BE49-F238E27FC236}">
                  <a16:creationId xmlns:a16="http://schemas.microsoft.com/office/drawing/2014/main" id="{9A726636-BF76-0181-D682-C10D4DB4B078}"/>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Sustain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OEE</a:t>
              </a:r>
            </a:p>
          </p:txBody>
        </p:sp>
        <p:grpSp>
          <p:nvGrpSpPr>
            <p:cNvPr id="8" name="Group 7">
              <a:extLst>
                <a:ext uri="{FF2B5EF4-FFF2-40B4-BE49-F238E27FC236}">
                  <a16:creationId xmlns:a16="http://schemas.microsoft.com/office/drawing/2014/main" id="{016A7A82-FAC5-8034-B791-6247B2AFA753}"/>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2E8C84CC-B3AC-C21D-8B7B-FC6ED3B2D47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Autonomous</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Maintenance</a:t>
                </a:r>
              </a:p>
            </p:txBody>
          </p:sp>
          <p:sp>
            <p:nvSpPr>
              <p:cNvPr id="10" name="AutoShape 10">
                <a:extLst>
                  <a:ext uri="{FF2B5EF4-FFF2-40B4-BE49-F238E27FC236}">
                    <a16:creationId xmlns:a16="http://schemas.microsoft.com/office/drawing/2014/main" id="{255C6DD9-9CFC-003C-0964-3C906E950020}"/>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Restore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Deterioration </a:t>
                </a:r>
              </a:p>
            </p:txBody>
          </p:sp>
          <p:sp>
            <p:nvSpPr>
              <p:cNvPr id="11" name="AutoShape 11">
                <a:extLst>
                  <a:ext uri="{FF2B5EF4-FFF2-40B4-BE49-F238E27FC236}">
                    <a16:creationId xmlns:a16="http://schemas.microsoft.com/office/drawing/2014/main" id="{93D6F1FF-B8F6-95F3-877C-A3692A9F33C9}"/>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Loss Data Analysis and OEE</a:t>
                </a:r>
              </a:p>
            </p:txBody>
          </p:sp>
        </p:grpSp>
      </p:grpSp>
    </p:spTree>
    <p:extLst>
      <p:ext uri="{BB962C8B-B14F-4D97-AF65-F5344CB8AC3E}">
        <p14:creationId xmlns:p14="http://schemas.microsoft.com/office/powerpoint/2010/main" val="823959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B259-6B79-5335-4D7A-7B762309FA4B}"/>
              </a:ext>
            </a:extLst>
          </p:cNvPr>
          <p:cNvSpPr>
            <a:spLocks noGrp="1"/>
          </p:cNvSpPr>
          <p:nvPr>
            <p:ph type="title"/>
          </p:nvPr>
        </p:nvSpPr>
        <p:spPr/>
        <p:txBody>
          <a:bodyPr/>
          <a:lstStyle/>
          <a:p>
            <a:r>
              <a:rPr lang="en-US" dirty="0"/>
              <a:t>What is Maintenance’s Product?</a:t>
            </a:r>
          </a:p>
        </p:txBody>
      </p:sp>
      <p:sp>
        <p:nvSpPr>
          <p:cNvPr id="3" name="Text Placeholder 2">
            <a:extLst>
              <a:ext uri="{FF2B5EF4-FFF2-40B4-BE49-F238E27FC236}">
                <a16:creationId xmlns:a16="http://schemas.microsoft.com/office/drawing/2014/main" id="{488AFD07-8B4C-B490-1E25-B4D44154B756}"/>
              </a:ext>
            </a:extLst>
          </p:cNvPr>
          <p:cNvSpPr>
            <a:spLocks noGrp="1"/>
          </p:cNvSpPr>
          <p:nvPr>
            <p:ph type="body" idx="1"/>
          </p:nvPr>
        </p:nvSpPr>
        <p:spPr/>
        <p:txBody>
          <a:bodyPr/>
          <a:lstStyle/>
          <a:p>
            <a:r>
              <a:rPr lang="en-US" dirty="0"/>
              <a:t>Equipment Effectiveness           	 </a:t>
            </a:r>
          </a:p>
        </p:txBody>
      </p:sp>
      <p:sp>
        <p:nvSpPr>
          <p:cNvPr id="6" name="Content Placeholder 5">
            <a:extLst>
              <a:ext uri="{FF2B5EF4-FFF2-40B4-BE49-F238E27FC236}">
                <a16:creationId xmlns:a16="http://schemas.microsoft.com/office/drawing/2014/main" id="{731B5099-C6AF-510A-8ACC-BC347DBB5640}"/>
              </a:ext>
            </a:extLst>
          </p:cNvPr>
          <p:cNvSpPr>
            <a:spLocks noGrp="1"/>
          </p:cNvSpPr>
          <p:nvPr>
            <p:ph sz="quarter" idx="4"/>
          </p:nvPr>
        </p:nvSpPr>
        <p:spPr/>
        <p:txBody>
          <a:bodyPr>
            <a:normAutofit/>
          </a:bodyPr>
          <a:lstStyle/>
          <a:p>
            <a:r>
              <a:rPr lang="en-US" sz="2000" dirty="0"/>
              <a:t>More equipment availability</a:t>
            </a:r>
          </a:p>
          <a:p>
            <a:r>
              <a:rPr lang="en-US" sz="2000" dirty="0"/>
              <a:t>More robust quality output</a:t>
            </a:r>
          </a:p>
          <a:p>
            <a:r>
              <a:rPr lang="en-US" sz="2000" dirty="0"/>
              <a:t>Reduced interruptions longer time between failures (MTBF)</a:t>
            </a:r>
          </a:p>
          <a:p>
            <a:r>
              <a:rPr lang="en-US" sz="2000" dirty="0"/>
              <a:t>Responsiveness to customer demands</a:t>
            </a:r>
          </a:p>
          <a:p>
            <a:r>
              <a:rPr lang="en-US" sz="2000" dirty="0"/>
              <a:t>Safety</a:t>
            </a:r>
          </a:p>
          <a:p>
            <a:endParaRPr lang="en-US" sz="2000" dirty="0"/>
          </a:p>
        </p:txBody>
      </p:sp>
      <p:grpSp>
        <p:nvGrpSpPr>
          <p:cNvPr id="7" name="Group 6">
            <a:extLst>
              <a:ext uri="{FF2B5EF4-FFF2-40B4-BE49-F238E27FC236}">
                <a16:creationId xmlns:a16="http://schemas.microsoft.com/office/drawing/2014/main" id="{01CDD74D-507A-0A98-9029-ED09D63EEF51}"/>
              </a:ext>
            </a:extLst>
          </p:cNvPr>
          <p:cNvGrpSpPr/>
          <p:nvPr/>
        </p:nvGrpSpPr>
        <p:grpSpPr>
          <a:xfrm>
            <a:off x="838200" y="297639"/>
            <a:ext cx="5257799" cy="307138"/>
            <a:chOff x="838200" y="297639"/>
            <a:chExt cx="5257799" cy="307138"/>
          </a:xfrm>
        </p:grpSpPr>
        <p:grpSp>
          <p:nvGrpSpPr>
            <p:cNvPr id="8" name="Group 7">
              <a:extLst>
                <a:ext uri="{FF2B5EF4-FFF2-40B4-BE49-F238E27FC236}">
                  <a16:creationId xmlns:a16="http://schemas.microsoft.com/office/drawing/2014/main" id="{81D90FA0-1E5D-30A2-E4EE-28977C3201D5}"/>
                </a:ext>
              </a:extLst>
            </p:cNvPr>
            <p:cNvGrpSpPr/>
            <p:nvPr/>
          </p:nvGrpSpPr>
          <p:grpSpPr>
            <a:xfrm>
              <a:off x="838200" y="297639"/>
              <a:ext cx="1687517" cy="290657"/>
              <a:chOff x="838200" y="297639"/>
              <a:chExt cx="1687517" cy="290657"/>
            </a:xfrm>
          </p:grpSpPr>
          <p:sp>
            <p:nvSpPr>
              <p:cNvPr id="10" name="AutoShape 9">
                <a:extLst>
                  <a:ext uri="{FF2B5EF4-FFF2-40B4-BE49-F238E27FC236}">
                    <a16:creationId xmlns:a16="http://schemas.microsoft.com/office/drawing/2014/main" id="{541E1234-32C3-8042-1CCD-7F8BF01B8F8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9">
                <a:extLst>
                  <a:ext uri="{FF2B5EF4-FFF2-40B4-BE49-F238E27FC236}">
                    <a16:creationId xmlns:a16="http://schemas.microsoft.com/office/drawing/2014/main" id="{D35EBED7-D621-21DD-1ACC-E4CA090056D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E2BCEEE0-591C-F822-5A81-2230B9F81796}"/>
                  </a:ext>
                </a:extLst>
              </p:cNvPr>
              <p:cNvGrpSpPr/>
              <p:nvPr/>
            </p:nvGrpSpPr>
            <p:grpSpPr>
              <a:xfrm>
                <a:off x="838200" y="297639"/>
                <a:ext cx="1060167" cy="290657"/>
                <a:chOff x="826426" y="4041857"/>
                <a:chExt cx="1060167" cy="290657"/>
              </a:xfrm>
            </p:grpSpPr>
            <p:sp>
              <p:nvSpPr>
                <p:cNvPr id="13" name="AutoShape 9">
                  <a:extLst>
                    <a:ext uri="{FF2B5EF4-FFF2-40B4-BE49-F238E27FC236}">
                      <a16:creationId xmlns:a16="http://schemas.microsoft.com/office/drawing/2014/main" id="{65FF5C0E-2CB9-C766-F862-D927ECD29D9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D8A15E2E-D8A1-E496-06B9-4B7AF2BA890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7912CCF5-8F5B-B634-4361-7D49C3B2A31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9" name="TextBox 8">
              <a:extLst>
                <a:ext uri="{FF2B5EF4-FFF2-40B4-BE49-F238E27FC236}">
                  <a16:creationId xmlns:a16="http://schemas.microsoft.com/office/drawing/2014/main" id="{4C962907-2FF0-B17F-3F6A-BD0301E83E6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16" name="Picture 4" descr="bigstockphoto_Tatami_Workshop_54065">
            <a:extLst>
              <a:ext uri="{FF2B5EF4-FFF2-40B4-BE49-F238E27FC236}">
                <a16:creationId xmlns:a16="http://schemas.microsoft.com/office/drawing/2014/main" id="{11A3C153-F5C4-4454-7B6B-3BD5F42AFD2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684020" y="2529841"/>
            <a:ext cx="36195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6">
            <a:extLst>
              <a:ext uri="{FF2B5EF4-FFF2-40B4-BE49-F238E27FC236}">
                <a16:creationId xmlns:a16="http://schemas.microsoft.com/office/drawing/2014/main" id="{8DA358EC-FEAD-E61F-4E40-08AE3C505770}"/>
              </a:ext>
            </a:extLst>
          </p:cNvPr>
          <p:cNvSpPr txBox="1">
            <a:spLocks noChangeArrowheads="1"/>
          </p:cNvSpPr>
          <p:nvPr/>
        </p:nvSpPr>
        <p:spPr bwMode="auto">
          <a:xfrm>
            <a:off x="1978025" y="5307965"/>
            <a:ext cx="8235950" cy="1016000"/>
          </a:xfrm>
          <a:prstGeom prst="rect">
            <a:avLst/>
          </a:prstGeom>
          <a:solidFill>
            <a:srgbClr val="EAEAEA"/>
          </a:solidFill>
          <a:ln w="9525">
            <a:solidFill>
              <a:srgbClr val="003366"/>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2000" b="0" i="1" dirty="0">
                <a:latin typeface="Roboto" panose="02000000000000000000" pitchFamily="2" charset="0"/>
                <a:ea typeface="Roboto" panose="02000000000000000000" pitchFamily="2" charset="0"/>
                <a:cs typeface="Arial" panose="020B0604020202020204" pitchFamily="34" charset="0"/>
              </a:rPr>
              <a:t>The goal is collaboration among maintenance, engineering and operations so more time can be spent on those activities which add value</a:t>
            </a:r>
          </a:p>
        </p:txBody>
      </p:sp>
    </p:spTree>
    <p:extLst>
      <p:ext uri="{BB962C8B-B14F-4D97-AF65-F5344CB8AC3E}">
        <p14:creationId xmlns:p14="http://schemas.microsoft.com/office/powerpoint/2010/main" val="15298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Goal: To reduce losses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3" name="Group 2">
            <a:extLst>
              <a:ext uri="{FF2B5EF4-FFF2-40B4-BE49-F238E27FC236}">
                <a16:creationId xmlns:a16="http://schemas.microsoft.com/office/drawing/2014/main" id="{56C1BAF0-DD22-37CB-78C1-FB14276BF5EE}"/>
              </a:ext>
            </a:extLst>
          </p:cNvPr>
          <p:cNvGrpSpPr/>
          <p:nvPr/>
        </p:nvGrpSpPr>
        <p:grpSpPr>
          <a:xfrm>
            <a:off x="838200" y="297639"/>
            <a:ext cx="5257799" cy="307138"/>
            <a:chOff x="838200" y="297639"/>
            <a:chExt cx="5257799" cy="307138"/>
          </a:xfrm>
        </p:grpSpPr>
        <p:grpSp>
          <p:nvGrpSpPr>
            <p:cNvPr id="5" name="Group 4">
              <a:extLst>
                <a:ext uri="{FF2B5EF4-FFF2-40B4-BE49-F238E27FC236}">
                  <a16:creationId xmlns:a16="http://schemas.microsoft.com/office/drawing/2014/main" id="{141C78E8-AB9A-A04A-1FBC-D236875CDE1B}"/>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40325D84-9A18-AEFC-435A-D1C0DFD9A34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D3754CC-B1E7-61CC-8C57-5D7CA325882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6EB7AE0-6479-0271-3B07-F8B9074C874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67A66548-BF27-5613-784E-E3A3FFD5EBD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40A129AF-73BD-16CE-012F-E24313F2DAB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8B5D5949-7643-342C-7968-46284E6A9E2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55B06AFA-5602-FC2A-E493-87A71AFABD5F}"/>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grpSp>
        <p:nvGrpSpPr>
          <p:cNvPr id="27" name="Group 26">
            <a:extLst>
              <a:ext uri="{FF2B5EF4-FFF2-40B4-BE49-F238E27FC236}">
                <a16:creationId xmlns:a16="http://schemas.microsoft.com/office/drawing/2014/main" id="{F6696086-0C04-A48E-5858-941CC9C6B598}"/>
              </a:ext>
            </a:extLst>
          </p:cNvPr>
          <p:cNvGrpSpPr/>
          <p:nvPr/>
        </p:nvGrpSpPr>
        <p:grpSpPr>
          <a:xfrm>
            <a:off x="838200" y="1783429"/>
            <a:ext cx="9974580" cy="4240181"/>
            <a:chOff x="457200" y="1536700"/>
            <a:chExt cx="8264525" cy="3108325"/>
          </a:xfrm>
        </p:grpSpPr>
        <p:sp>
          <p:nvSpPr>
            <p:cNvPr id="13" name="Rectangle 2">
              <a:extLst>
                <a:ext uri="{FF2B5EF4-FFF2-40B4-BE49-F238E27FC236}">
                  <a16:creationId xmlns:a16="http://schemas.microsoft.com/office/drawing/2014/main" id="{37EBBC5E-2218-68A8-B834-FF5D40E7EFD2}"/>
                </a:ext>
              </a:extLst>
            </p:cNvPr>
            <p:cNvSpPr>
              <a:spLocks noChangeArrowheads="1"/>
            </p:cNvSpPr>
            <p:nvPr/>
          </p:nvSpPr>
          <p:spPr bwMode="auto">
            <a:xfrm>
              <a:off x="1196975" y="1971675"/>
              <a:ext cx="1908175" cy="568325"/>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Downtime</a:t>
              </a:r>
            </a:p>
          </p:txBody>
        </p:sp>
        <p:sp>
          <p:nvSpPr>
            <p:cNvPr id="14" name="Rectangle 3">
              <a:extLst>
                <a:ext uri="{FF2B5EF4-FFF2-40B4-BE49-F238E27FC236}">
                  <a16:creationId xmlns:a16="http://schemas.microsoft.com/office/drawing/2014/main" id="{5716034A-E7E9-FAD5-0C8C-AA9A90A686F2}"/>
                </a:ext>
              </a:extLst>
            </p:cNvPr>
            <p:cNvSpPr>
              <a:spLocks noChangeArrowheads="1"/>
            </p:cNvSpPr>
            <p:nvPr/>
          </p:nvSpPr>
          <p:spPr bwMode="auto">
            <a:xfrm>
              <a:off x="1196975" y="2894013"/>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Speed Losses</a:t>
              </a:r>
            </a:p>
          </p:txBody>
        </p:sp>
        <p:sp>
          <p:nvSpPr>
            <p:cNvPr id="15" name="Rectangle 4">
              <a:extLst>
                <a:ext uri="{FF2B5EF4-FFF2-40B4-BE49-F238E27FC236}">
                  <a16:creationId xmlns:a16="http://schemas.microsoft.com/office/drawing/2014/main" id="{85E30D39-8A0F-ADEA-EF20-E59096B850D7}"/>
                </a:ext>
              </a:extLst>
            </p:cNvPr>
            <p:cNvSpPr>
              <a:spLocks noChangeArrowheads="1"/>
            </p:cNvSpPr>
            <p:nvPr/>
          </p:nvSpPr>
          <p:spPr bwMode="auto">
            <a:xfrm>
              <a:off x="1196975" y="3786188"/>
              <a:ext cx="1908175" cy="568325"/>
            </a:xfrm>
            <a:prstGeom prst="rect">
              <a:avLst/>
            </a:prstGeom>
            <a:solidFill>
              <a:schemeClr val="accent3"/>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Quality Losses</a:t>
              </a:r>
            </a:p>
          </p:txBody>
        </p:sp>
        <p:sp>
          <p:nvSpPr>
            <p:cNvPr id="16" name="Line 6">
              <a:extLst>
                <a:ext uri="{FF2B5EF4-FFF2-40B4-BE49-F238E27FC236}">
                  <a16:creationId xmlns:a16="http://schemas.microsoft.com/office/drawing/2014/main" id="{A13CD784-47E0-D23F-BD70-FEBB92CA26E1}"/>
                </a:ext>
              </a:extLst>
            </p:cNvPr>
            <p:cNvSpPr>
              <a:spLocks noChangeShapeType="1"/>
            </p:cNvSpPr>
            <p:nvPr/>
          </p:nvSpPr>
          <p:spPr bwMode="auto">
            <a:xfrm>
              <a:off x="471488" y="27924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Line 7">
              <a:extLst>
                <a:ext uri="{FF2B5EF4-FFF2-40B4-BE49-F238E27FC236}">
                  <a16:creationId xmlns:a16="http://schemas.microsoft.com/office/drawing/2014/main" id="{BF31092F-FE36-EF7C-6D31-E0C54D45C748}"/>
                </a:ext>
              </a:extLst>
            </p:cNvPr>
            <p:cNvSpPr>
              <a:spLocks noChangeShapeType="1"/>
            </p:cNvSpPr>
            <p:nvPr/>
          </p:nvSpPr>
          <p:spPr bwMode="auto">
            <a:xfrm>
              <a:off x="487363" y="36972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8" name="Line 8">
              <a:extLst>
                <a:ext uri="{FF2B5EF4-FFF2-40B4-BE49-F238E27FC236}">
                  <a16:creationId xmlns:a16="http://schemas.microsoft.com/office/drawing/2014/main" id="{A2C30E85-AE01-75F8-ECF9-06E329D5F7DF}"/>
                </a:ext>
              </a:extLst>
            </p:cNvPr>
            <p:cNvSpPr>
              <a:spLocks noChangeShapeType="1"/>
            </p:cNvSpPr>
            <p:nvPr/>
          </p:nvSpPr>
          <p:spPr bwMode="auto">
            <a:xfrm>
              <a:off x="457200" y="4645025"/>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Rectangle 10">
              <a:extLst>
                <a:ext uri="{FF2B5EF4-FFF2-40B4-BE49-F238E27FC236}">
                  <a16:creationId xmlns:a16="http://schemas.microsoft.com/office/drawing/2014/main" id="{119058C3-41E0-3EB1-A64A-4A8B1832A8B1}"/>
                </a:ext>
              </a:extLst>
            </p:cNvPr>
            <p:cNvSpPr>
              <a:spLocks noChangeArrowheads="1"/>
            </p:cNvSpPr>
            <p:nvPr/>
          </p:nvSpPr>
          <p:spPr bwMode="auto">
            <a:xfrm>
              <a:off x="3638550" y="1954213"/>
              <a:ext cx="4970463"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Breakdowns</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Setup and adjustment</a:t>
              </a:r>
            </a:p>
          </p:txBody>
        </p:sp>
        <p:sp>
          <p:nvSpPr>
            <p:cNvPr id="20" name="Rectangle 11">
              <a:extLst>
                <a:ext uri="{FF2B5EF4-FFF2-40B4-BE49-F238E27FC236}">
                  <a16:creationId xmlns:a16="http://schemas.microsoft.com/office/drawing/2014/main" id="{F6FB7534-6839-6A83-9ADB-86E25CD88A3A}"/>
                </a:ext>
              </a:extLst>
            </p:cNvPr>
            <p:cNvSpPr>
              <a:spLocks noChangeArrowheads="1"/>
            </p:cNvSpPr>
            <p:nvPr/>
          </p:nvSpPr>
          <p:spPr bwMode="auto">
            <a:xfrm>
              <a:off x="3641725" y="2898775"/>
              <a:ext cx="4981575"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Idling, minor stoppages</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Reduce speed </a:t>
              </a:r>
              <a:endParaRPr lang="en-US" altLang="en-US" sz="1400" b="0" dirty="0">
                <a:latin typeface="Roboto" panose="02000000000000000000" pitchFamily="2" charset="0"/>
                <a:ea typeface="Roboto" panose="02000000000000000000" pitchFamily="2" charset="0"/>
              </a:endParaRPr>
            </a:p>
          </p:txBody>
        </p:sp>
        <p:sp>
          <p:nvSpPr>
            <p:cNvPr id="21" name="Rectangle 12">
              <a:extLst>
                <a:ext uri="{FF2B5EF4-FFF2-40B4-BE49-F238E27FC236}">
                  <a16:creationId xmlns:a16="http://schemas.microsoft.com/office/drawing/2014/main" id="{1D50F68A-4A66-48A7-D20E-0905E05A54D3}"/>
                </a:ext>
              </a:extLst>
            </p:cNvPr>
            <p:cNvSpPr>
              <a:spLocks noChangeArrowheads="1"/>
            </p:cNvSpPr>
            <p:nvPr/>
          </p:nvSpPr>
          <p:spPr bwMode="auto">
            <a:xfrm>
              <a:off x="3641725" y="3790950"/>
              <a:ext cx="4970463" cy="601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Startup and yield</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Defects and rework</a:t>
              </a:r>
              <a:endParaRPr lang="en-US" altLang="en-US" sz="1400" b="0" dirty="0">
                <a:latin typeface="Roboto" panose="02000000000000000000" pitchFamily="2" charset="0"/>
                <a:ea typeface="Roboto" panose="02000000000000000000" pitchFamily="2" charset="0"/>
              </a:endParaRPr>
            </a:p>
          </p:txBody>
        </p:sp>
        <p:sp>
          <p:nvSpPr>
            <p:cNvPr id="22" name="Line 14">
              <a:extLst>
                <a:ext uri="{FF2B5EF4-FFF2-40B4-BE49-F238E27FC236}">
                  <a16:creationId xmlns:a16="http://schemas.microsoft.com/office/drawing/2014/main" id="{0ABC7BAA-9F17-F91A-A936-9EE6FC4F3246}"/>
                </a:ext>
              </a:extLst>
            </p:cNvPr>
            <p:cNvSpPr>
              <a:spLocks noChangeShapeType="1"/>
            </p:cNvSpPr>
            <p:nvPr/>
          </p:nvSpPr>
          <p:spPr bwMode="auto">
            <a:xfrm flipV="1">
              <a:off x="461963" y="18240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Text Box 15">
              <a:extLst>
                <a:ext uri="{FF2B5EF4-FFF2-40B4-BE49-F238E27FC236}">
                  <a16:creationId xmlns:a16="http://schemas.microsoft.com/office/drawing/2014/main" id="{4986C8E2-8783-FB04-B4CE-9012EB866D55}"/>
                </a:ext>
              </a:extLst>
            </p:cNvPr>
            <p:cNvSpPr txBox="1">
              <a:spLocks noChangeArrowheads="1"/>
            </p:cNvSpPr>
            <p:nvPr/>
          </p:nvSpPr>
          <p:spPr bwMode="auto">
            <a:xfrm>
              <a:off x="471488" y="1536700"/>
              <a:ext cx="4752502" cy="23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Loss Categories		                      Six Big Losses</a:t>
              </a:r>
            </a:p>
          </p:txBody>
        </p:sp>
        <p:sp>
          <p:nvSpPr>
            <p:cNvPr id="24" name="Oval 16">
              <a:extLst>
                <a:ext uri="{FF2B5EF4-FFF2-40B4-BE49-F238E27FC236}">
                  <a16:creationId xmlns:a16="http://schemas.microsoft.com/office/drawing/2014/main" id="{69314827-571B-054E-C556-4F0252498159}"/>
                </a:ext>
              </a:extLst>
            </p:cNvPr>
            <p:cNvSpPr>
              <a:spLocks noChangeArrowheads="1"/>
            </p:cNvSpPr>
            <p:nvPr/>
          </p:nvSpPr>
          <p:spPr bwMode="auto">
            <a:xfrm>
              <a:off x="519113" y="2079625"/>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a:t>
              </a:r>
            </a:p>
          </p:txBody>
        </p:sp>
        <p:sp>
          <p:nvSpPr>
            <p:cNvPr id="25" name="Oval 17">
              <a:extLst>
                <a:ext uri="{FF2B5EF4-FFF2-40B4-BE49-F238E27FC236}">
                  <a16:creationId xmlns:a16="http://schemas.microsoft.com/office/drawing/2014/main" id="{170FD746-CEE7-5067-2300-6887771462FD}"/>
                </a:ext>
              </a:extLst>
            </p:cNvPr>
            <p:cNvSpPr>
              <a:spLocks noChangeArrowheads="1"/>
            </p:cNvSpPr>
            <p:nvPr/>
          </p:nvSpPr>
          <p:spPr bwMode="auto">
            <a:xfrm>
              <a:off x="519113" y="3005138"/>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a:t>
              </a:r>
            </a:p>
          </p:txBody>
        </p:sp>
        <p:sp>
          <p:nvSpPr>
            <p:cNvPr id="26" name="Oval 18">
              <a:extLst>
                <a:ext uri="{FF2B5EF4-FFF2-40B4-BE49-F238E27FC236}">
                  <a16:creationId xmlns:a16="http://schemas.microsoft.com/office/drawing/2014/main" id="{2237C466-288F-6782-246E-F3F0C1A8CB5A}"/>
                </a:ext>
              </a:extLst>
            </p:cNvPr>
            <p:cNvSpPr>
              <a:spLocks noChangeArrowheads="1"/>
            </p:cNvSpPr>
            <p:nvPr/>
          </p:nvSpPr>
          <p:spPr bwMode="auto">
            <a:xfrm>
              <a:off x="519113" y="3894138"/>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a:t>
              </a:r>
            </a:p>
          </p:txBody>
        </p:sp>
      </p:grpSp>
    </p:spTree>
    <p:extLst>
      <p:ext uri="{BB962C8B-B14F-4D97-AF65-F5344CB8AC3E}">
        <p14:creationId xmlns:p14="http://schemas.microsoft.com/office/powerpoint/2010/main" val="2903840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Analysis of Historical Performance That Is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sz="3600" dirty="0"/>
              <a:t>A process by which you review the past performance of a particular machine in three areas using objective quantifiable data</a:t>
            </a:r>
          </a:p>
          <a:p>
            <a:pPr lvl="1"/>
            <a:r>
              <a:rPr lang="en-US" sz="3200" dirty="0"/>
              <a:t>Machine related Uptime </a:t>
            </a:r>
          </a:p>
          <a:p>
            <a:pPr lvl="2"/>
            <a:r>
              <a:rPr lang="en-US" sz="2800" dirty="0"/>
              <a:t>Easy</a:t>
            </a:r>
          </a:p>
          <a:p>
            <a:pPr lvl="1"/>
            <a:r>
              <a:rPr lang="en-US" sz="3200" dirty="0"/>
              <a:t>Quality output</a:t>
            </a:r>
          </a:p>
          <a:p>
            <a:pPr lvl="2"/>
            <a:r>
              <a:rPr lang="en-US" sz="2800" dirty="0"/>
              <a:t>Harder</a:t>
            </a:r>
          </a:p>
          <a:p>
            <a:pPr lvl="1"/>
            <a:r>
              <a:rPr lang="en-US" sz="3200" dirty="0"/>
              <a:t>Speed output</a:t>
            </a:r>
          </a:p>
          <a:p>
            <a:pPr lvl="2"/>
            <a:r>
              <a:rPr lang="en-US" sz="2800" dirty="0"/>
              <a:t>Hardest!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4" name="Group 3">
            <a:extLst>
              <a:ext uri="{FF2B5EF4-FFF2-40B4-BE49-F238E27FC236}">
                <a16:creationId xmlns:a16="http://schemas.microsoft.com/office/drawing/2014/main" id="{20A6315C-446C-A092-F734-9675625116D8}"/>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E8329535-9694-348F-E846-5ABECF7AE3C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310B9338-48E2-6894-302C-3AE5936C9F8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C977CCC3-B648-D1F6-D637-CBE83156AFF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152EA8B8-0822-B88F-E1BF-A67F2C49785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2694095D-F576-EDB4-9220-7438473F648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2F1AC21-4592-A3D4-AFB5-4925D43D3922}"/>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834E5152-EAFC-E746-B522-548B4B5D76A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4FA850D4-4409-2CF2-DF97-92E4ACE45343}"/>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1396389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Analysis of Historical Performance: </a:t>
            </a:r>
            <a:br>
              <a:rPr lang="en-US" dirty="0"/>
            </a:br>
            <a:r>
              <a:rPr lang="en-US" dirty="0"/>
              <a:t>Why do you do it?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PM programs typically only look at equipment down time</a:t>
            </a:r>
          </a:p>
          <a:p>
            <a:pPr lvl="1"/>
            <a:r>
              <a:rPr lang="en-US" dirty="0"/>
              <a:t>Often even this is not measured in an accurate and rigorous manner</a:t>
            </a:r>
          </a:p>
          <a:p>
            <a:pPr lvl="1"/>
            <a:r>
              <a:rPr lang="en-US" dirty="0"/>
              <a:t>PM plans are rarely modified</a:t>
            </a:r>
          </a:p>
          <a:p>
            <a:pPr lvl="1"/>
            <a:r>
              <a:rPr lang="en-US" dirty="0"/>
              <a:t>Improving equipment effectiveness is a scientific process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5" name="Group 4">
            <a:extLst>
              <a:ext uri="{FF2B5EF4-FFF2-40B4-BE49-F238E27FC236}">
                <a16:creationId xmlns:a16="http://schemas.microsoft.com/office/drawing/2014/main" id="{67DB1E2C-1486-89D0-3115-9930B92E974B}"/>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0112BA98-99F9-6991-6D9D-1EF300EA165F}"/>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CEC35A2-9F74-2AFE-DC92-9D4A7E989DD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E1B98EF9-35AB-75C8-7340-6B93CA43B06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AD8A3871-CC1F-8D31-FF00-CCFBD8D687EF}"/>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61FBF09-136C-4C5C-2790-F8DDCC09B3E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A770A354-1F88-A178-6DB8-FD0E391C87D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35B7EB60-A43C-9178-7265-69122D94050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141BF891-D77C-1CB6-F509-35CB95BA610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15" name="Picture 6" descr="bigstockphoto_Xerox_Repair_929992">
            <a:extLst>
              <a:ext uri="{FF2B5EF4-FFF2-40B4-BE49-F238E27FC236}">
                <a16:creationId xmlns:a16="http://schemas.microsoft.com/office/drawing/2014/main" id="{7DDED3E6-3EBF-620F-A66B-6A99C1DC9417}"/>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64895" y="2297430"/>
            <a:ext cx="4954906" cy="3303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7549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Analysis of Historical Performance: </a:t>
            </a:r>
            <a:br>
              <a:rPr lang="en-US" sz="4000" dirty="0">
                <a:solidFill>
                  <a:schemeClr val="bg2">
                    <a:lumMod val="10000"/>
                  </a:schemeClr>
                </a:solidFill>
                <a:latin typeface="Roboto Medium"/>
                <a:ea typeface="Roboto Medium"/>
                <a:cs typeface="Roboto Medium"/>
              </a:rPr>
            </a:br>
            <a:r>
              <a:rPr lang="en-US" sz="4000" dirty="0">
                <a:solidFill>
                  <a:schemeClr val="bg2">
                    <a:lumMod val="10000"/>
                  </a:schemeClr>
                </a:solidFill>
                <a:latin typeface="Roboto Medium"/>
                <a:ea typeface="Roboto Medium"/>
                <a:cs typeface="Roboto Medium"/>
              </a:rPr>
              <a:t>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21</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Production, Quality, and Downtime data</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Pareto each failure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7" y="4122795"/>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“Loss Data Analysis” chart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856951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problem solving tools for highest occurrences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B1CF149-B172-C1FC-2235-9EFA4528E29A}"/>
              </a:ext>
            </a:extLst>
          </p:cNvPr>
          <p:cNvGrpSpPr/>
          <p:nvPr/>
        </p:nvGrpSpPr>
        <p:grpSpPr>
          <a:xfrm>
            <a:off x="838200" y="297639"/>
            <a:ext cx="5257799" cy="307138"/>
            <a:chOff x="838200" y="297639"/>
            <a:chExt cx="5257799" cy="307138"/>
          </a:xfrm>
        </p:grpSpPr>
        <p:grpSp>
          <p:nvGrpSpPr>
            <p:cNvPr id="3" name="Group 2">
              <a:extLst>
                <a:ext uri="{FF2B5EF4-FFF2-40B4-BE49-F238E27FC236}">
                  <a16:creationId xmlns:a16="http://schemas.microsoft.com/office/drawing/2014/main" id="{20457BCB-CB5F-CF35-68B2-695DC56921F3}"/>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AA6C797-76C0-1323-7F7B-4EAFF69B27B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45BB123-45C3-AE21-FD6C-8CE3D16464E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F93DC91-60D5-4E8D-8844-EABC1F39133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F0D8A2E7-ACA6-F763-9EC3-7613CED0A6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3D7D4C24-BF39-50C6-D015-D0F50A4570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E2C25A5C-5310-157E-A524-17D1DF13D3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4" name="TextBox 3">
              <a:extLst>
                <a:ext uri="{FF2B5EF4-FFF2-40B4-BE49-F238E27FC236}">
                  <a16:creationId xmlns:a16="http://schemas.microsoft.com/office/drawing/2014/main" id="{735967B3-F166-073A-1F0D-068727FE574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321736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Analysis of Historical Performance: </a:t>
            </a:r>
            <a:br>
              <a:rPr lang="en-US" sz="4000" dirty="0">
                <a:solidFill>
                  <a:schemeClr val="bg2">
                    <a:lumMod val="10000"/>
                  </a:schemeClr>
                </a:solidFill>
                <a:latin typeface="Roboto Medium"/>
                <a:ea typeface="Roboto Medium"/>
                <a:cs typeface="Roboto Medium"/>
              </a:rPr>
            </a:br>
            <a:r>
              <a:rPr lang="en-US" sz="4000" dirty="0">
                <a:solidFill>
                  <a:schemeClr val="bg2">
                    <a:lumMod val="10000"/>
                  </a:schemeClr>
                </a:solidFill>
                <a:latin typeface="Roboto Medium"/>
                <a:ea typeface="Roboto Medium"/>
                <a:cs typeface="Roboto Medium"/>
              </a:rPr>
              <a:t>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Production, Quality, and Downtime data</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Pareto each failure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7" y="4122795"/>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“Loss Data Analysis” chart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856951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problem solving tools for highest occurrences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B1CF149-B172-C1FC-2235-9EFA4528E29A}"/>
              </a:ext>
            </a:extLst>
          </p:cNvPr>
          <p:cNvGrpSpPr/>
          <p:nvPr/>
        </p:nvGrpSpPr>
        <p:grpSpPr>
          <a:xfrm>
            <a:off x="838200" y="297639"/>
            <a:ext cx="5257799" cy="307138"/>
            <a:chOff x="838200" y="297639"/>
            <a:chExt cx="5257799" cy="307138"/>
          </a:xfrm>
        </p:grpSpPr>
        <p:grpSp>
          <p:nvGrpSpPr>
            <p:cNvPr id="3" name="Group 2">
              <a:extLst>
                <a:ext uri="{FF2B5EF4-FFF2-40B4-BE49-F238E27FC236}">
                  <a16:creationId xmlns:a16="http://schemas.microsoft.com/office/drawing/2014/main" id="{20457BCB-CB5F-CF35-68B2-695DC56921F3}"/>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AA6C797-76C0-1323-7F7B-4EAFF69B27B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45BB123-45C3-AE21-FD6C-8CE3D16464E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F93DC91-60D5-4E8D-8844-EABC1F39133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F0D8A2E7-ACA6-F763-9EC3-7613CED0A6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3D7D4C24-BF39-50C6-D015-D0F50A4570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E2C25A5C-5310-157E-A524-17D1DF13D3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4" name="TextBox 3">
              <a:extLst>
                <a:ext uri="{FF2B5EF4-FFF2-40B4-BE49-F238E27FC236}">
                  <a16:creationId xmlns:a16="http://schemas.microsoft.com/office/drawing/2014/main" id="{735967B3-F166-073A-1F0D-068727FE574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3388408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Analysis of Historical Performance: </a:t>
            </a:r>
            <a:br>
              <a:rPr lang="en-US" dirty="0"/>
            </a:br>
            <a:r>
              <a:rPr lang="en-US" dirty="0"/>
              <a:t>How do you do it?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chor="ctr"/>
          <a:lstStyle/>
          <a:p>
            <a:r>
              <a:rPr lang="en-US" dirty="0"/>
              <a:t>Gather Production, Quality, and Downtime reports from the previous three months (or more) of operation</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5" name="Group 4">
            <a:extLst>
              <a:ext uri="{FF2B5EF4-FFF2-40B4-BE49-F238E27FC236}">
                <a16:creationId xmlns:a16="http://schemas.microsoft.com/office/drawing/2014/main" id="{6B6289A3-A76B-F829-E3F2-711EAC03AB97}"/>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E26F963-2FD4-573C-6C9F-A77CF798DB46}"/>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6F1AAA9D-C3AA-4412-8398-F9B3A65586F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8A7824D-CCE8-5883-DA8E-B443D868FC2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A36C80D-A8D4-24C8-6564-C85B6A944DB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FFD5069-C583-2835-6348-8B3BABE76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D07F67C-BE0B-1EC9-D797-049D61DD64C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D912BD1E-51EE-9E03-CFCF-1A286AA4B52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229CBEBA-03F3-075D-81D9-E693DBDE58D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15" name="Picture 4" descr="bigstockphoto_Document_Icons_228782">
            <a:extLst>
              <a:ext uri="{FF2B5EF4-FFF2-40B4-BE49-F238E27FC236}">
                <a16:creationId xmlns:a16="http://schemas.microsoft.com/office/drawing/2014/main" id="{F773F381-BAA4-586D-2847-39895910CC2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b="3"/>
          <a:stretch>
            <a:fillRect/>
          </a:stretch>
        </p:blipFill>
        <p:spPr bwMode="auto">
          <a:xfrm>
            <a:off x="1633537" y="2458290"/>
            <a:ext cx="3590925" cy="3086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86103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Analysis of Historical Performance: </a:t>
            </a:r>
            <a:br>
              <a:rPr lang="en-US" dirty="0"/>
            </a:br>
            <a:r>
              <a:rPr lang="en-US" dirty="0"/>
              <a:t>How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For speed losses, interview operators and observe the process for subtle interruptions that are so short as to go unnoticed</a:t>
            </a:r>
          </a:p>
          <a:p>
            <a:pPr lvl="1"/>
            <a:r>
              <a:rPr lang="en-US" dirty="0"/>
              <a:t>Use high-speed video playback if you can</a:t>
            </a:r>
          </a:p>
          <a:p>
            <a:pPr lvl="1"/>
            <a:r>
              <a:rPr lang="en-US" dirty="0"/>
              <a:t>Conduct root cause analysis and corrective action</a:t>
            </a:r>
          </a:p>
          <a:p>
            <a:r>
              <a:rPr lang="en-US" dirty="0"/>
              <a:t>For quality losses identify each defective product generated at the work center and identify those that potentially have any contribution from equipment capability</a:t>
            </a:r>
          </a:p>
          <a:p>
            <a:pPr lvl="1"/>
            <a:r>
              <a:rPr lang="en-US" dirty="0"/>
              <a:t>Conduct root cause analysis and corrective action</a:t>
            </a:r>
          </a:p>
          <a:p>
            <a:r>
              <a:rPr lang="en-US" dirty="0"/>
              <a:t>For Downtime losses identify the subsystem involved</a:t>
            </a:r>
          </a:p>
          <a:p>
            <a:pPr lvl="1"/>
            <a:r>
              <a:rPr lang="en-US" dirty="0"/>
              <a:t>Conduct root cause analysis and corrective action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4" name="Group 3">
            <a:extLst>
              <a:ext uri="{FF2B5EF4-FFF2-40B4-BE49-F238E27FC236}">
                <a16:creationId xmlns:a16="http://schemas.microsoft.com/office/drawing/2014/main" id="{A5FC63BB-D805-4961-4C7B-D57A24FCEE3D}"/>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0ED79EF9-A2D1-A881-D17C-4186BE79D71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13358B1E-ACBC-ED5F-FBB7-DB049A6360C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E71180F-B8EB-D179-3746-7614BF51F2A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1DCDDA9-994D-86E3-EA6B-775DD0AEA1D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11C1316B-BD30-BF65-2305-33EE6ADB78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26E34081-6347-0607-8C71-38C035377B7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3BD8F2AC-23E7-68DE-C204-1829472ED5F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E21BA7EE-0A53-BA04-2FF7-958BF5E34697}"/>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1136519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Analysis of Historical Performance: </a:t>
            </a:r>
            <a:br>
              <a:rPr lang="en-US" sz="4000" dirty="0">
                <a:solidFill>
                  <a:schemeClr val="bg2">
                    <a:lumMod val="10000"/>
                  </a:schemeClr>
                </a:solidFill>
                <a:latin typeface="Roboto Medium"/>
                <a:ea typeface="Roboto Medium"/>
                <a:cs typeface="Roboto Medium"/>
              </a:rPr>
            </a:br>
            <a:r>
              <a:rPr lang="en-US" sz="4000" dirty="0">
                <a:solidFill>
                  <a:schemeClr val="bg2">
                    <a:lumMod val="10000"/>
                  </a:schemeClr>
                </a:solidFill>
                <a:latin typeface="Roboto Medium"/>
                <a:ea typeface="Roboto Medium"/>
                <a:cs typeface="Roboto Medium"/>
              </a:rPr>
              <a:t>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Production, Quality, and Downtime data</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Pareto each failure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7" y="4122795"/>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“Loss Data Analysis” chart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856951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problem solving tools for highest occurrences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B1CF149-B172-C1FC-2235-9EFA4528E29A}"/>
              </a:ext>
            </a:extLst>
          </p:cNvPr>
          <p:cNvGrpSpPr/>
          <p:nvPr/>
        </p:nvGrpSpPr>
        <p:grpSpPr>
          <a:xfrm>
            <a:off x="838200" y="297639"/>
            <a:ext cx="5257799" cy="307138"/>
            <a:chOff x="838200" y="297639"/>
            <a:chExt cx="5257799" cy="307138"/>
          </a:xfrm>
        </p:grpSpPr>
        <p:grpSp>
          <p:nvGrpSpPr>
            <p:cNvPr id="3" name="Group 2">
              <a:extLst>
                <a:ext uri="{FF2B5EF4-FFF2-40B4-BE49-F238E27FC236}">
                  <a16:creationId xmlns:a16="http://schemas.microsoft.com/office/drawing/2014/main" id="{20457BCB-CB5F-CF35-68B2-695DC56921F3}"/>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AA6C797-76C0-1323-7F7B-4EAFF69B27B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45BB123-45C3-AE21-FD6C-8CE3D16464E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F93DC91-60D5-4E8D-8844-EABC1F39133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F0D8A2E7-ACA6-F763-9EC3-7613CED0A6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3D7D4C24-BF39-50C6-D015-D0F50A4570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E2C25A5C-5310-157E-A524-17D1DF13D3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4" name="TextBox 3">
              <a:extLst>
                <a:ext uri="{FF2B5EF4-FFF2-40B4-BE49-F238E27FC236}">
                  <a16:creationId xmlns:a16="http://schemas.microsoft.com/office/drawing/2014/main" id="{735967B3-F166-073A-1F0D-068727FE574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4223047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Pareto Analysis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5" name="Group 4">
            <a:extLst>
              <a:ext uri="{FF2B5EF4-FFF2-40B4-BE49-F238E27FC236}">
                <a16:creationId xmlns:a16="http://schemas.microsoft.com/office/drawing/2014/main" id="{6B6289A3-A76B-F829-E3F2-711EAC03AB97}"/>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E26F963-2FD4-573C-6C9F-A77CF798DB46}"/>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6F1AAA9D-C3AA-4412-8398-F9B3A65586F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8A7824D-CCE8-5883-DA8E-B443D868FC2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A36C80D-A8D4-24C8-6564-C85B6A944DB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FFD5069-C583-2835-6348-8B3BABE76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D07F67C-BE0B-1EC9-D797-049D61DD64C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D912BD1E-51EE-9E03-CFCF-1A286AA4B52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229CBEBA-03F3-075D-81D9-E693DBDE58D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3" name="Object 4">
            <a:extLst>
              <a:ext uri="{FF2B5EF4-FFF2-40B4-BE49-F238E27FC236}">
                <a16:creationId xmlns:a16="http://schemas.microsoft.com/office/drawing/2014/main" id="{81AC900C-FDA2-6226-7195-1573F525E4FD}"/>
              </a:ext>
            </a:extLst>
          </p:cNvPr>
          <p:cNvPicPr>
            <a:picLocks noGrp="1" noChangeAspect="1" noChangeArrowheads="1"/>
          </p:cNvPicPr>
          <p:nvPr>
            <p:ph sz="half" idx="2"/>
          </p:nvPr>
        </p:nvPicPr>
        <p:blipFill>
          <a:blip r:embed="rId3"/>
          <a:srcRect t="22923"/>
          <a:stretch>
            <a:fillRect/>
          </a:stretch>
        </p:blipFill>
        <p:spPr>
          <a:xfrm>
            <a:off x="6738937" y="2253997"/>
            <a:ext cx="4048125" cy="3494594"/>
          </a:xfrm>
        </p:spPr>
      </p:pic>
      <p:sp>
        <p:nvSpPr>
          <p:cNvPr id="16" name="Content Placeholder 15">
            <a:extLst>
              <a:ext uri="{FF2B5EF4-FFF2-40B4-BE49-F238E27FC236}">
                <a16:creationId xmlns:a16="http://schemas.microsoft.com/office/drawing/2014/main" id="{66B62076-CFD2-F780-C3A4-A7D4D600397C}"/>
              </a:ext>
            </a:extLst>
          </p:cNvPr>
          <p:cNvSpPr>
            <a:spLocks noGrp="1"/>
          </p:cNvSpPr>
          <p:nvPr>
            <p:ph sz="half" idx="1"/>
          </p:nvPr>
        </p:nvSpPr>
        <p:spPr/>
        <p:txBody>
          <a:bodyPr>
            <a:normAutofit fontScale="92500" lnSpcReduction="10000"/>
          </a:bodyPr>
          <a:lstStyle/>
          <a:p>
            <a:pPr>
              <a:lnSpc>
                <a:spcPct val="95000"/>
              </a:lnSpc>
            </a:pPr>
            <a:r>
              <a:rPr lang="en-US" altLang="en-US" sz="2800" dirty="0"/>
              <a:t>The majority of the impact generally comes from the minority of the problems.  The </a:t>
            </a:r>
            <a:r>
              <a:rPr lang="ja-JP" altLang="en-US" sz="2800" dirty="0"/>
              <a:t>“</a:t>
            </a:r>
            <a:r>
              <a:rPr lang="en-US" altLang="ja-JP" sz="2800" dirty="0"/>
              <a:t>80-20 rule:</a:t>
            </a:r>
            <a:r>
              <a:rPr lang="ja-JP" altLang="en-US" sz="2800" dirty="0"/>
              <a:t>”</a:t>
            </a:r>
            <a:endParaRPr lang="en-US" altLang="ja-JP" sz="2800" dirty="0"/>
          </a:p>
          <a:p>
            <a:pPr>
              <a:lnSpc>
                <a:spcPct val="95000"/>
              </a:lnSpc>
            </a:pPr>
            <a:r>
              <a:rPr lang="en-US" altLang="en-US" sz="2800" dirty="0"/>
              <a:t>Problem </a:t>
            </a:r>
            <a:r>
              <a:rPr lang="ja-JP" altLang="en-US" sz="2800" dirty="0"/>
              <a:t>“</a:t>
            </a:r>
            <a:r>
              <a:rPr lang="en-US" altLang="ja-JP" sz="2800" dirty="0"/>
              <a:t>A</a:t>
            </a:r>
            <a:r>
              <a:rPr lang="ja-JP" altLang="en-US" sz="2800" dirty="0"/>
              <a:t>”</a:t>
            </a:r>
            <a:r>
              <a:rPr lang="en-US" altLang="ja-JP" sz="2800" dirty="0"/>
              <a:t>…</a:t>
            </a:r>
          </a:p>
          <a:p>
            <a:pPr>
              <a:lnSpc>
                <a:spcPct val="95000"/>
              </a:lnSpc>
            </a:pPr>
            <a:r>
              <a:rPr lang="en-US" altLang="en-US" sz="2800" dirty="0"/>
              <a:t>Problem </a:t>
            </a:r>
            <a:r>
              <a:rPr lang="ja-JP" altLang="en-US" sz="2800" dirty="0"/>
              <a:t>“</a:t>
            </a:r>
            <a:r>
              <a:rPr lang="en-US" altLang="ja-JP" sz="2800" dirty="0"/>
              <a:t>B</a:t>
            </a:r>
            <a:r>
              <a:rPr lang="ja-JP" altLang="en-US" sz="2800" dirty="0"/>
              <a:t>”</a:t>
            </a:r>
            <a:r>
              <a:rPr lang="en-US" altLang="ja-JP" sz="2800" dirty="0"/>
              <a:t>…</a:t>
            </a:r>
          </a:p>
          <a:p>
            <a:pPr>
              <a:lnSpc>
                <a:spcPct val="95000"/>
              </a:lnSpc>
            </a:pPr>
            <a:r>
              <a:rPr lang="en-US" altLang="en-US" sz="2800" dirty="0"/>
              <a:t>Problem </a:t>
            </a:r>
            <a:r>
              <a:rPr lang="ja-JP" altLang="en-US" sz="2800" dirty="0"/>
              <a:t>“</a:t>
            </a:r>
            <a:r>
              <a:rPr lang="en-US" altLang="ja-JP" sz="2800" dirty="0"/>
              <a:t>C</a:t>
            </a:r>
            <a:r>
              <a:rPr lang="ja-JP" altLang="en-US" sz="2800" dirty="0"/>
              <a:t>”</a:t>
            </a:r>
            <a:r>
              <a:rPr lang="en-US" altLang="ja-JP" sz="2800" dirty="0"/>
              <a:t>…</a:t>
            </a:r>
          </a:p>
          <a:p>
            <a:pPr>
              <a:lnSpc>
                <a:spcPct val="95000"/>
              </a:lnSpc>
            </a:pPr>
            <a:r>
              <a:rPr lang="en-US" altLang="en-US" sz="2800" dirty="0"/>
              <a:t>Problem </a:t>
            </a:r>
            <a:r>
              <a:rPr lang="ja-JP" altLang="en-US" sz="2800" dirty="0"/>
              <a:t>“</a:t>
            </a:r>
            <a:r>
              <a:rPr lang="en-US" altLang="ja-JP" sz="2800" dirty="0"/>
              <a:t>D</a:t>
            </a:r>
            <a:r>
              <a:rPr lang="ja-JP" altLang="en-US" sz="2800" dirty="0"/>
              <a:t>”</a:t>
            </a:r>
            <a:r>
              <a:rPr lang="en-US" altLang="ja-JP" sz="2800" dirty="0"/>
              <a:t>…</a:t>
            </a:r>
          </a:p>
          <a:p>
            <a:pPr>
              <a:lnSpc>
                <a:spcPct val="95000"/>
              </a:lnSpc>
            </a:pPr>
            <a:r>
              <a:rPr lang="en-US" altLang="en-US" sz="2800" dirty="0"/>
              <a:t>Problem </a:t>
            </a:r>
            <a:r>
              <a:rPr lang="ja-JP" altLang="en-US" sz="2800" dirty="0"/>
              <a:t>“</a:t>
            </a:r>
            <a:r>
              <a:rPr lang="en-US" altLang="ja-JP" sz="2800" dirty="0"/>
              <a:t>E</a:t>
            </a:r>
            <a:r>
              <a:rPr lang="ja-JP" altLang="en-US" sz="2800" dirty="0"/>
              <a:t>”</a:t>
            </a:r>
            <a:r>
              <a:rPr lang="en-US" altLang="ja-JP" sz="2800" dirty="0"/>
              <a:t>…</a:t>
            </a:r>
          </a:p>
          <a:p>
            <a:pPr>
              <a:lnSpc>
                <a:spcPct val="95000"/>
              </a:lnSpc>
            </a:pPr>
            <a:r>
              <a:rPr lang="en-US" altLang="en-US" sz="2800" dirty="0"/>
              <a:t>Problem </a:t>
            </a:r>
            <a:r>
              <a:rPr lang="ja-JP" altLang="en-US" sz="2800" dirty="0"/>
              <a:t>“</a:t>
            </a:r>
            <a:r>
              <a:rPr lang="en-US" altLang="ja-JP" sz="2800" dirty="0"/>
              <a:t>F</a:t>
            </a:r>
            <a:r>
              <a:rPr lang="ja-JP" altLang="en-US" sz="2800" dirty="0"/>
              <a:t>”</a:t>
            </a:r>
            <a:r>
              <a:rPr lang="en-US" altLang="ja-JP" sz="2800" dirty="0"/>
              <a:t>…</a:t>
            </a:r>
            <a:endParaRPr lang="en-US" altLang="en-US" sz="2800" dirty="0"/>
          </a:p>
          <a:p>
            <a:endParaRPr lang="en-US" dirty="0"/>
          </a:p>
        </p:txBody>
      </p:sp>
      <p:sp>
        <p:nvSpPr>
          <p:cNvPr id="17" name="Text Box 14">
            <a:extLst>
              <a:ext uri="{FF2B5EF4-FFF2-40B4-BE49-F238E27FC236}">
                <a16:creationId xmlns:a16="http://schemas.microsoft.com/office/drawing/2014/main" id="{08E2FEC0-37C7-5089-E84A-8404A1D5919A}"/>
              </a:ext>
            </a:extLst>
          </p:cNvPr>
          <p:cNvSpPr txBox="1">
            <a:spLocks noChangeArrowheads="1"/>
          </p:cNvSpPr>
          <p:nvPr/>
        </p:nvSpPr>
        <p:spPr bwMode="auto">
          <a:xfrm>
            <a:off x="6738937" y="1988884"/>
            <a:ext cx="4048125" cy="53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Failure Modes</a:t>
            </a:r>
            <a:br>
              <a:rPr lang="en-US" altLang="en-US" sz="1800" dirty="0">
                <a:latin typeface="Roboto" panose="02000000000000000000" pitchFamily="2" charset="0"/>
                <a:ea typeface="Roboto" panose="02000000000000000000" pitchFamily="2" charset="0"/>
              </a:rPr>
            </a:br>
            <a:r>
              <a:rPr lang="en-US" altLang="en-US" sz="1800" dirty="0">
                <a:latin typeface="Roboto" panose="02000000000000000000" pitchFamily="2" charset="0"/>
                <a:ea typeface="Roboto" panose="02000000000000000000" pitchFamily="2" charset="0"/>
              </a:rPr>
              <a:t>Frequency of Occurrence</a:t>
            </a:r>
          </a:p>
        </p:txBody>
      </p:sp>
    </p:spTree>
    <p:extLst>
      <p:ext uri="{BB962C8B-B14F-4D97-AF65-F5344CB8AC3E}">
        <p14:creationId xmlns:p14="http://schemas.microsoft.com/office/powerpoint/2010/main" val="1205547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Maintenance Work Order History Example: Mold Machine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5" name="Group 4">
            <a:extLst>
              <a:ext uri="{FF2B5EF4-FFF2-40B4-BE49-F238E27FC236}">
                <a16:creationId xmlns:a16="http://schemas.microsoft.com/office/drawing/2014/main" id="{6B6289A3-A76B-F829-E3F2-711EAC03AB97}"/>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E26F963-2FD4-573C-6C9F-A77CF798DB46}"/>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6F1AAA9D-C3AA-4412-8398-F9B3A65586F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8A7824D-CCE8-5883-DA8E-B443D868FC2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A36C80D-A8D4-24C8-6564-C85B6A944DB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FFD5069-C583-2835-6348-8B3BABE76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D07F67C-BE0B-1EC9-D797-049D61DD64C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D912BD1E-51EE-9E03-CFCF-1A286AA4B52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229CBEBA-03F3-075D-81D9-E693DBDE58D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4" name="Object 4">
            <a:extLst>
              <a:ext uri="{FF2B5EF4-FFF2-40B4-BE49-F238E27FC236}">
                <a16:creationId xmlns:a16="http://schemas.microsoft.com/office/drawing/2014/main" id="{14115B1C-C220-EACB-B16F-5B57DA7424EA}"/>
              </a:ext>
            </a:extLst>
          </p:cNvPr>
          <p:cNvPicPr>
            <a:picLocks noGrp="1" noChangeAspect="1" noChangeArrowheads="1"/>
          </p:cNvPicPr>
          <p:nvPr>
            <p:ph sz="half" idx="1"/>
          </p:nvPr>
        </p:nvPicPr>
        <p:blipFill>
          <a:blip r:embed="rId3"/>
          <a:srcRect/>
          <a:stretch>
            <a:fillRect/>
          </a:stretch>
        </p:blipFill>
        <p:spPr>
          <a:xfrm>
            <a:off x="838200" y="2070894"/>
            <a:ext cx="5181600" cy="3860800"/>
          </a:xfrm>
        </p:spPr>
      </p:pic>
      <p:sp>
        <p:nvSpPr>
          <p:cNvPr id="18" name="Content Placeholder 17">
            <a:extLst>
              <a:ext uri="{FF2B5EF4-FFF2-40B4-BE49-F238E27FC236}">
                <a16:creationId xmlns:a16="http://schemas.microsoft.com/office/drawing/2014/main" id="{7CF6D7B3-FEA0-8DB2-2579-0AEEA5465747}"/>
              </a:ext>
            </a:extLst>
          </p:cNvPr>
          <p:cNvSpPr>
            <a:spLocks noGrp="1"/>
          </p:cNvSpPr>
          <p:nvPr>
            <p:ph sz="half" idx="2"/>
          </p:nvPr>
        </p:nvSpPr>
        <p:spPr/>
        <p:txBody>
          <a:bodyPr anchor="ctr"/>
          <a:lstStyle/>
          <a:p>
            <a:pPr>
              <a:lnSpc>
                <a:spcPct val="105000"/>
              </a:lnSpc>
            </a:pPr>
            <a:r>
              <a:rPr lang="en-US" altLang="en-US" sz="2800" dirty="0"/>
              <a:t>How many total failures?</a:t>
            </a:r>
          </a:p>
          <a:p>
            <a:pPr>
              <a:lnSpc>
                <a:spcPct val="105000"/>
              </a:lnSpc>
            </a:pPr>
            <a:r>
              <a:rPr lang="en-US" altLang="en-US" sz="2800" dirty="0"/>
              <a:t>Which modes represent 80% of the occurrences?</a:t>
            </a:r>
            <a:r>
              <a:rPr lang="en-US" altLang="en-US" sz="2400" dirty="0"/>
              <a:t> </a:t>
            </a:r>
          </a:p>
          <a:p>
            <a:pPr eaLnBrk="1" hangingPunct="1">
              <a:lnSpc>
                <a:spcPct val="100000"/>
              </a:lnSpc>
              <a:spcBef>
                <a:spcPct val="0"/>
              </a:spcBef>
              <a:spcAft>
                <a:spcPct val="0"/>
              </a:spcAft>
              <a:buClr>
                <a:schemeClr val="accent2"/>
              </a:buClr>
              <a:buSzTx/>
            </a:pPr>
            <a:endParaRPr lang="en-US" altLang="en-US" sz="2400" dirty="0"/>
          </a:p>
          <a:p>
            <a:endParaRPr lang="en-US" dirty="0"/>
          </a:p>
        </p:txBody>
      </p:sp>
    </p:spTree>
    <p:extLst>
      <p:ext uri="{BB962C8B-B14F-4D97-AF65-F5344CB8AC3E}">
        <p14:creationId xmlns:p14="http://schemas.microsoft.com/office/powerpoint/2010/main" val="544063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Analysis of Historical Performance: </a:t>
            </a:r>
            <a:br>
              <a:rPr lang="en-US" sz="4000" dirty="0">
                <a:solidFill>
                  <a:schemeClr val="bg2">
                    <a:lumMod val="10000"/>
                  </a:schemeClr>
                </a:solidFill>
                <a:latin typeface="Roboto Medium"/>
                <a:ea typeface="Roboto Medium"/>
                <a:cs typeface="Roboto Medium"/>
              </a:rPr>
            </a:br>
            <a:r>
              <a:rPr lang="en-US" sz="4000" dirty="0">
                <a:solidFill>
                  <a:schemeClr val="bg2">
                    <a:lumMod val="10000"/>
                  </a:schemeClr>
                </a:solidFill>
                <a:latin typeface="Roboto Medium"/>
                <a:ea typeface="Roboto Medium"/>
                <a:cs typeface="Roboto Medium"/>
              </a:rPr>
              <a:t>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28</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Production, Quality, and Downtime data</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Pareto each failure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7" y="4122795"/>
            <a:ext cx="85679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“Loss Data Analysis” chart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856951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problem solving tools for highest occurrences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B1CF149-B172-C1FC-2235-9EFA4528E29A}"/>
              </a:ext>
            </a:extLst>
          </p:cNvPr>
          <p:cNvGrpSpPr/>
          <p:nvPr/>
        </p:nvGrpSpPr>
        <p:grpSpPr>
          <a:xfrm>
            <a:off x="838200" y="297639"/>
            <a:ext cx="5257799" cy="307138"/>
            <a:chOff x="838200" y="297639"/>
            <a:chExt cx="5257799" cy="307138"/>
          </a:xfrm>
        </p:grpSpPr>
        <p:grpSp>
          <p:nvGrpSpPr>
            <p:cNvPr id="3" name="Group 2">
              <a:extLst>
                <a:ext uri="{FF2B5EF4-FFF2-40B4-BE49-F238E27FC236}">
                  <a16:creationId xmlns:a16="http://schemas.microsoft.com/office/drawing/2014/main" id="{20457BCB-CB5F-CF35-68B2-695DC56921F3}"/>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AA6C797-76C0-1323-7F7B-4EAFF69B27B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45BB123-45C3-AE21-FD6C-8CE3D16464E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F93DC91-60D5-4E8D-8844-EABC1F39133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F0D8A2E7-ACA6-F763-9EC3-7613CED0A6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3D7D4C24-BF39-50C6-D015-D0F50A4570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E2C25A5C-5310-157E-A524-17D1DF13D3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4" name="TextBox 3">
              <a:extLst>
                <a:ext uri="{FF2B5EF4-FFF2-40B4-BE49-F238E27FC236}">
                  <a16:creationId xmlns:a16="http://schemas.microsoft.com/office/drawing/2014/main" id="{735967B3-F166-073A-1F0D-068727FE574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3809811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Loss Data Analysis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4" name="Group 3">
            <a:extLst>
              <a:ext uri="{FF2B5EF4-FFF2-40B4-BE49-F238E27FC236}">
                <a16:creationId xmlns:a16="http://schemas.microsoft.com/office/drawing/2014/main" id="{B7DF32FF-F4B8-4A44-0FE2-32BE9776D9C0}"/>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00D7456E-6849-602B-79FB-3B18AAF64C58}"/>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EA452E4-E17E-FE87-46CD-3509BE0DE8E2}"/>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27BB1DC5-3C7C-AA7E-D691-8963897D698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84722D6-5DBB-5365-06CE-F24E82FB542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9138348B-0760-A3ED-83AC-4DDF60795FD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0D18BC19-E983-1622-26D5-0B011675D7E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8172C23B-1217-833A-CF09-FA381D502457}"/>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F2436BEB-8F53-E901-0051-310628A652D9}"/>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graphicFrame>
        <p:nvGraphicFramePr>
          <p:cNvPr id="16" name="Group 187">
            <a:extLst>
              <a:ext uri="{FF2B5EF4-FFF2-40B4-BE49-F238E27FC236}">
                <a16:creationId xmlns:a16="http://schemas.microsoft.com/office/drawing/2014/main" id="{97D930ED-DF28-EEC4-1064-F15E835EE3D4}"/>
              </a:ext>
            </a:extLst>
          </p:cNvPr>
          <p:cNvGraphicFramePr>
            <a:graphicFrameLocks noGrp="1"/>
          </p:cNvGraphicFramePr>
          <p:nvPr>
            <p:ph idx="1"/>
            <p:extLst>
              <p:ext uri="{D42A27DB-BD31-4B8C-83A1-F6EECF244321}">
                <p14:modId xmlns:p14="http://schemas.microsoft.com/office/powerpoint/2010/main" val="3199288649"/>
              </p:ext>
            </p:extLst>
          </p:nvPr>
        </p:nvGraphicFramePr>
        <p:xfrm>
          <a:off x="2013744" y="1690688"/>
          <a:ext cx="8241347" cy="4509537"/>
        </p:xfrm>
        <a:graphic>
          <a:graphicData uri="http://schemas.openxmlformats.org/drawingml/2006/table">
            <a:tbl>
              <a:tblPr/>
              <a:tblGrid>
                <a:gridCol w="1611313">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973137">
                  <a:extLst>
                    <a:ext uri="{9D8B030D-6E8A-4147-A177-3AD203B41FA5}">
                      <a16:colId xmlns:a16="http://schemas.microsoft.com/office/drawing/2014/main" val="20002"/>
                    </a:ext>
                  </a:extLst>
                </a:gridCol>
                <a:gridCol w="478155">
                  <a:extLst>
                    <a:ext uri="{9D8B030D-6E8A-4147-A177-3AD203B41FA5}">
                      <a16:colId xmlns:a16="http://schemas.microsoft.com/office/drawing/2014/main" val="20003"/>
                    </a:ext>
                  </a:extLst>
                </a:gridCol>
                <a:gridCol w="966787">
                  <a:extLst>
                    <a:ext uri="{9D8B030D-6E8A-4147-A177-3AD203B41FA5}">
                      <a16:colId xmlns:a16="http://schemas.microsoft.com/office/drawing/2014/main" val="20004"/>
                    </a:ext>
                  </a:extLst>
                </a:gridCol>
                <a:gridCol w="430530">
                  <a:extLst>
                    <a:ext uri="{9D8B030D-6E8A-4147-A177-3AD203B41FA5}">
                      <a16:colId xmlns:a16="http://schemas.microsoft.com/office/drawing/2014/main" val="20005"/>
                    </a:ext>
                  </a:extLst>
                </a:gridCol>
                <a:gridCol w="887412">
                  <a:extLst>
                    <a:ext uri="{9D8B030D-6E8A-4147-A177-3AD203B41FA5}">
                      <a16:colId xmlns:a16="http://schemas.microsoft.com/office/drawing/2014/main" val="20006"/>
                    </a:ext>
                  </a:extLst>
                </a:gridCol>
                <a:gridCol w="466725">
                  <a:extLst>
                    <a:ext uri="{9D8B030D-6E8A-4147-A177-3AD203B41FA5}">
                      <a16:colId xmlns:a16="http://schemas.microsoft.com/office/drawing/2014/main" val="20007"/>
                    </a:ext>
                  </a:extLst>
                </a:gridCol>
                <a:gridCol w="1814513">
                  <a:extLst>
                    <a:ext uri="{9D8B030D-6E8A-4147-A177-3AD203B41FA5}">
                      <a16:colId xmlns:a16="http://schemas.microsoft.com/office/drawing/2014/main" val="20008"/>
                    </a:ext>
                  </a:extLst>
                </a:gridCol>
              </a:tblGrid>
              <a:tr h="489032">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Loss Data Analysis Chart</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636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Failure Description</a:t>
                      </a:r>
                    </a:p>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&amp; Frequency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Type of Loss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Root Cause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Modify</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9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Comments</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8546">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Down Time</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Speed</a:t>
                      </a:r>
                      <a:endParaRPr kumimoji="0" lang="en-US" alt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7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Quality</a:t>
                      </a:r>
                      <a:endPar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3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7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Maint</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7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Operation</a:t>
                      </a:r>
                      <a:endParaRPr kumimoji="0" lang="en-US" altLang="en-US" sz="9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7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Design</a:t>
                      </a:r>
                      <a:endParaRPr kumimoji="0" lang="en-US" altLang="en-US" sz="9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2287">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22287">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2287">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20700">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anose="05000000000000000000" pitchFamily="2" charset="2"/>
                        <a:defRPr sz="28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0" fontAlgn="b" latinLnBrk="0" hangingPunct="0">
                        <a:lnSpc>
                          <a:spcPct val="115000"/>
                        </a:lnSpc>
                        <a:spcBef>
                          <a:spcPct val="0"/>
                        </a:spcBef>
                        <a:spcAft>
                          <a:spcPct val="50000"/>
                        </a:spcAft>
                        <a:buClr>
                          <a:srgbClr val="006699"/>
                        </a:buClr>
                        <a:buSzPct val="90000"/>
                        <a:buFont typeface="Wingdings" panose="05000000000000000000" pitchFamily="2" charset="2"/>
                        <a:buNone/>
                        <a:tabLst/>
                      </a:pPr>
                      <a:r>
                        <a:rPr kumimoji="0" lang="en-US" altLang="en-US" sz="6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 </a:t>
                      </a:r>
                      <a:endParaRPr kumimoji="0" lang="en-US" altLang="en-US" sz="10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28" marB="45728"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891120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Evaluate Quality Data</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lstStyle/>
          <a:p>
            <a:r>
              <a:rPr lang="en-US" dirty="0"/>
              <a:t>What defects are caused by the equipment?</a:t>
            </a:r>
          </a:p>
          <a:p>
            <a:endParaRPr lang="en-US" dirty="0"/>
          </a:p>
          <a:p>
            <a:r>
              <a:rPr lang="en-US" dirty="0"/>
              <a:t>Can these be reduced?</a:t>
            </a:r>
          </a:p>
          <a:p>
            <a:endParaRPr lang="en-US" dirty="0"/>
          </a:p>
          <a:p>
            <a:endParaRPr lang="en-US" dirty="0"/>
          </a:p>
          <a:p>
            <a:r>
              <a:rPr lang="en-US" dirty="0"/>
              <a:t>Find the root cause</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Be sure data is accurate and useful</a:t>
            </a:r>
          </a:p>
          <a:p>
            <a:endParaRPr lang="en-US" dirty="0"/>
          </a:p>
          <a:p>
            <a:r>
              <a:rPr lang="en-US" dirty="0"/>
              <a:t>Find improvements that will increase output of good parts</a:t>
            </a:r>
          </a:p>
          <a:p>
            <a:endParaRPr lang="en-US" dirty="0"/>
          </a:p>
          <a:p>
            <a:r>
              <a:rPr lang="en-US" dirty="0"/>
              <a:t>Reduce dependency on special skills if possible </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5" name="Group 4">
            <a:extLst>
              <a:ext uri="{FF2B5EF4-FFF2-40B4-BE49-F238E27FC236}">
                <a16:creationId xmlns:a16="http://schemas.microsoft.com/office/drawing/2014/main" id="{EBEE4DBB-1521-374E-A7A8-34A405CD7E6F}"/>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D99E41A9-37E3-8736-E240-6D2B5B8D2E05}"/>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AC70CD3E-8593-5709-AA9C-3D038B9AF4E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364A1760-BAE6-DF87-3FE0-1FBEFEA8AA4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A5ECBF01-078E-4FEB-36EB-C156C8F1B599}"/>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E9BDE1E3-9D46-8E34-EF70-16E672821A5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570C374F-9BA7-25D3-E86F-1483628B5DD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92AC4DFC-807E-1FC6-FE17-EA1FF24B4B3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2A634725-D183-034F-D1A2-B037306B5184}"/>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428366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Analysis of Historical Performance: </a:t>
            </a:r>
            <a:br>
              <a:rPr lang="en-US" sz="4000" dirty="0">
                <a:solidFill>
                  <a:schemeClr val="bg2">
                    <a:lumMod val="10000"/>
                  </a:schemeClr>
                </a:solidFill>
                <a:latin typeface="Roboto Medium"/>
                <a:ea typeface="Roboto Medium"/>
                <a:cs typeface="Roboto Medium"/>
              </a:rPr>
            </a:br>
            <a:r>
              <a:rPr lang="en-US" sz="4000" dirty="0">
                <a:solidFill>
                  <a:schemeClr val="bg2">
                    <a:lumMod val="10000"/>
                  </a:schemeClr>
                </a:solidFill>
                <a:latin typeface="Roboto Medium"/>
                <a:ea typeface="Roboto Medium"/>
                <a:cs typeface="Roboto Medium"/>
              </a:rPr>
              <a:t>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31</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Gather Production, Quality, and Downtime data</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Pareto each failure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7" y="4122795"/>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“Loss Data Analysis” chart</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8569512"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problem solving tools for highest occurrences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9B1CF149-B172-C1FC-2235-9EFA4528E29A}"/>
              </a:ext>
            </a:extLst>
          </p:cNvPr>
          <p:cNvGrpSpPr/>
          <p:nvPr/>
        </p:nvGrpSpPr>
        <p:grpSpPr>
          <a:xfrm>
            <a:off x="838200" y="297639"/>
            <a:ext cx="5257799" cy="307138"/>
            <a:chOff x="838200" y="297639"/>
            <a:chExt cx="5257799" cy="307138"/>
          </a:xfrm>
        </p:grpSpPr>
        <p:grpSp>
          <p:nvGrpSpPr>
            <p:cNvPr id="3" name="Group 2">
              <a:extLst>
                <a:ext uri="{FF2B5EF4-FFF2-40B4-BE49-F238E27FC236}">
                  <a16:creationId xmlns:a16="http://schemas.microsoft.com/office/drawing/2014/main" id="{20457BCB-CB5F-CF35-68B2-695DC56921F3}"/>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AA6C797-76C0-1323-7F7B-4EAFF69B27B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45BB123-45C3-AE21-FD6C-8CE3D16464E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BF93DC91-60D5-4E8D-8844-EABC1F391338}"/>
                  </a:ext>
                </a:extLst>
              </p:cNvPr>
              <p:cNvGrpSpPr/>
              <p:nvPr/>
            </p:nvGrpSpPr>
            <p:grpSpPr>
              <a:xfrm>
                <a:off x="838200" y="297639"/>
                <a:ext cx="1060167" cy="290657"/>
                <a:chOff x="826426" y="4041857"/>
                <a:chExt cx="1060167" cy="290657"/>
              </a:xfrm>
            </p:grpSpPr>
            <p:sp>
              <p:nvSpPr>
                <p:cNvPr id="9" name="AutoShape 9">
                  <a:extLst>
                    <a:ext uri="{FF2B5EF4-FFF2-40B4-BE49-F238E27FC236}">
                      <a16:creationId xmlns:a16="http://schemas.microsoft.com/office/drawing/2014/main" id="{F0D8A2E7-ACA6-F763-9EC3-7613CED0A65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1">
                  <a:extLst>
                    <a:ext uri="{FF2B5EF4-FFF2-40B4-BE49-F238E27FC236}">
                      <a16:creationId xmlns:a16="http://schemas.microsoft.com/office/drawing/2014/main" id="{3D7D4C24-BF39-50C6-D015-D0F50A4570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E2C25A5C-5310-157E-A524-17D1DF13D3A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4" name="TextBox 3">
              <a:extLst>
                <a:ext uri="{FF2B5EF4-FFF2-40B4-BE49-F238E27FC236}">
                  <a16:creationId xmlns:a16="http://schemas.microsoft.com/office/drawing/2014/main" id="{735967B3-F166-073A-1F0D-068727FE5746}"/>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1665270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Analysis of Historical Performance: </a:t>
            </a:r>
            <a:br>
              <a:rPr lang="en-US" dirty="0"/>
            </a:br>
            <a:r>
              <a:rPr lang="en-US" dirty="0"/>
              <a:t>How do you do it?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5" name="Group 4">
            <a:extLst>
              <a:ext uri="{FF2B5EF4-FFF2-40B4-BE49-F238E27FC236}">
                <a16:creationId xmlns:a16="http://schemas.microsoft.com/office/drawing/2014/main" id="{6B6289A3-A76B-F829-E3F2-711EAC03AB97}"/>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E26F963-2FD4-573C-6C9F-A77CF798DB46}"/>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6F1AAA9D-C3AA-4412-8398-F9B3A65586F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8A7824D-CCE8-5883-DA8E-B443D868FC2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A36C80D-A8D4-24C8-6564-C85B6A944DB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FFD5069-C583-2835-6348-8B3BABE76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D07F67C-BE0B-1EC9-D797-049D61DD64C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D912BD1E-51EE-9E03-CFCF-1A286AA4B52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229CBEBA-03F3-075D-81D9-E693DBDE58D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
        <p:nvSpPr>
          <p:cNvPr id="18" name="Content Placeholder 17">
            <a:extLst>
              <a:ext uri="{FF2B5EF4-FFF2-40B4-BE49-F238E27FC236}">
                <a16:creationId xmlns:a16="http://schemas.microsoft.com/office/drawing/2014/main" id="{7CF6D7B3-FEA0-8DB2-2579-0AEEA5465747}"/>
              </a:ext>
            </a:extLst>
          </p:cNvPr>
          <p:cNvSpPr>
            <a:spLocks noGrp="1"/>
          </p:cNvSpPr>
          <p:nvPr>
            <p:ph sz="half" idx="2"/>
          </p:nvPr>
        </p:nvSpPr>
        <p:spPr/>
        <p:txBody>
          <a:bodyPr anchor="ctr">
            <a:normAutofit fontScale="92500"/>
          </a:bodyPr>
          <a:lstStyle/>
          <a:p>
            <a:pPr>
              <a:lnSpc>
                <a:spcPct val="105000"/>
              </a:lnSpc>
            </a:pPr>
            <a:r>
              <a:rPr lang="en-US" altLang="en-US" sz="2800" dirty="0"/>
              <a:t>Starting with the highest occurrence, use readily available means such as 5 whys analysis, fish bone diagrams, drawings &amp; schematics  </a:t>
            </a:r>
          </a:p>
          <a:p>
            <a:pPr>
              <a:lnSpc>
                <a:spcPct val="105000"/>
              </a:lnSpc>
            </a:pPr>
            <a:r>
              <a:rPr lang="en-US" altLang="en-US" sz="2800" dirty="0"/>
              <a:t>If root cause is still not determined, use more sophisticated problem solving techniques outlined in Six Sigma</a:t>
            </a:r>
          </a:p>
        </p:txBody>
      </p:sp>
      <p:pic>
        <p:nvPicPr>
          <p:cNvPr id="16" name="Picture 4" descr="bigstockphoto_Electronics_804313">
            <a:extLst>
              <a:ext uri="{FF2B5EF4-FFF2-40B4-BE49-F238E27FC236}">
                <a16:creationId xmlns:a16="http://schemas.microsoft.com/office/drawing/2014/main" id="{D90AD1FC-87F9-8A2D-895B-0BFA1DB6D22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439497"/>
            <a:ext cx="4991694" cy="3076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0528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Analysis of Historical Performance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Analyze the historical performance of the equipment.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process outlined on the previous slides to analyze the performance of the target equipment. </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What failure modes represent 80% of the occurrences in the target equipment?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the top failure modes of the target equipment.</a:t>
            </a:r>
          </a:p>
        </p:txBody>
      </p:sp>
      <p:grpSp>
        <p:nvGrpSpPr>
          <p:cNvPr id="3" name="Group 2">
            <a:extLst>
              <a:ext uri="{FF2B5EF4-FFF2-40B4-BE49-F238E27FC236}">
                <a16:creationId xmlns:a16="http://schemas.microsoft.com/office/drawing/2014/main" id="{4A590335-E7E0-F81C-2120-AA1E1CCE4EE0}"/>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85C963F8-B7D7-8906-6503-68B27030C485}"/>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0CF7B13-8476-CCEE-35E5-20F7D720755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575702-20DF-1FBF-D27E-F1455347ACA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77F0162-958E-CE29-FB7A-86266C4351A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316DC69-68AC-7415-8F73-5019A218CF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CF2CF119-A192-EBC7-598C-BC957E6F36A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164925C7-8C3A-5BB9-8D94-DEA1E25AF35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5785A014-D5FD-6BAF-E51D-F533CEF05270}"/>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2725488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a:bodyPr>
          <a:lstStyle/>
          <a:p>
            <a:r>
              <a:rPr lang="en-US" sz="3600" dirty="0"/>
              <a:t>Calculating Overall Equipment Effectiveness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Overall Equipment Effectiveness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World Class Targets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Availability Rate = 90%</a:t>
            </a:r>
          </a:p>
          <a:p>
            <a:r>
              <a:rPr lang="en-US" dirty="0"/>
              <a:t>Efficiency Rate = 95%</a:t>
            </a:r>
          </a:p>
          <a:p>
            <a:r>
              <a:rPr lang="en-US" dirty="0"/>
              <a:t>Quality Rate = 99%</a:t>
            </a:r>
          </a:p>
          <a:p>
            <a:r>
              <a:rPr lang="en-US" dirty="0"/>
              <a:t>OEE = 89%</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7" name="Group 6">
            <a:extLst>
              <a:ext uri="{FF2B5EF4-FFF2-40B4-BE49-F238E27FC236}">
                <a16:creationId xmlns:a16="http://schemas.microsoft.com/office/drawing/2014/main" id="{DC6917DF-5B57-2580-8ACA-E5834B48DD7C}"/>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8C4AAD3D-34F2-4C83-19A0-000AC003687B}"/>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236F6273-EC7D-AE2F-CC4C-72703022B24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D6A09C52-5FD2-7CC4-2AA1-C2BB6FFCD89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BA938EF3-98ED-38E6-9F53-0078C3F129DB}"/>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851D35A7-9498-0064-C8AD-2864A7FF98F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FC7F5CDD-2D8D-E785-7112-FAF3FBEFE26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C97023F0-1547-B0CA-323D-79A60D7755D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952885F1-0CC1-3D3F-C616-D901DB83B2E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pic>
        <p:nvPicPr>
          <p:cNvPr id="17" name="Picture 6" descr="OEE Defined">
            <a:extLst>
              <a:ext uri="{FF2B5EF4-FFF2-40B4-BE49-F238E27FC236}">
                <a16:creationId xmlns:a16="http://schemas.microsoft.com/office/drawing/2014/main" id="{E6DDC353-4187-AF3B-B3B5-D32B67748DD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31678" y="3012124"/>
            <a:ext cx="4974006" cy="229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D5463F58-9CB5-2027-0E49-10F590D67729}"/>
              </a:ext>
            </a:extLst>
          </p:cNvPr>
          <p:cNvSpPr txBox="1"/>
          <p:nvPr/>
        </p:nvSpPr>
        <p:spPr>
          <a:xfrm>
            <a:off x="836612" y="2505075"/>
            <a:ext cx="4055428" cy="830997"/>
          </a:xfrm>
          <a:prstGeom prst="rect">
            <a:avLst/>
          </a:prstGeom>
          <a:noFill/>
        </p:spPr>
        <p:txBody>
          <a:bodyPr wrap="square" rtlCol="0">
            <a:spAutoFit/>
          </a:bodyPr>
          <a:lstStyle/>
          <a:p>
            <a:r>
              <a:rPr lang="pt-BR" sz="2400" dirty="0">
                <a:latin typeface="Roboto" panose="02000000000000000000" pitchFamily="2" charset="0"/>
                <a:ea typeface="Roboto" panose="02000000000000000000" pitchFamily="2" charset="0"/>
              </a:rPr>
              <a:t>OEE = AR * ER * QR = E/B</a:t>
            </a:r>
          </a:p>
          <a:p>
            <a:endParaRPr lang="en-US" sz="2400" dirty="0">
              <a:latin typeface="Roboto" panose="02000000000000000000" pitchFamily="2" charset="0"/>
              <a:ea typeface="Roboto" panose="02000000000000000000" pitchFamily="2" charset="0"/>
            </a:endParaRPr>
          </a:p>
        </p:txBody>
      </p:sp>
      <p:sp>
        <p:nvSpPr>
          <p:cNvPr id="19" name="Rectangle 7">
            <a:extLst>
              <a:ext uri="{FF2B5EF4-FFF2-40B4-BE49-F238E27FC236}">
                <a16:creationId xmlns:a16="http://schemas.microsoft.com/office/drawing/2014/main" id="{394D24DE-B124-C77B-8B35-6FBC34BEB7A7}"/>
              </a:ext>
            </a:extLst>
          </p:cNvPr>
          <p:cNvSpPr>
            <a:spLocks noChangeArrowheads="1"/>
          </p:cNvSpPr>
          <p:nvPr/>
        </p:nvSpPr>
        <p:spPr bwMode="auto">
          <a:xfrm>
            <a:off x="1465550" y="5423536"/>
            <a:ext cx="3429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Target Opportunities = $</a:t>
            </a:r>
          </a:p>
        </p:txBody>
      </p:sp>
    </p:spTree>
    <p:extLst>
      <p:ext uri="{BB962C8B-B14F-4D97-AF65-F5344CB8AC3E}">
        <p14:creationId xmlns:p14="http://schemas.microsoft.com/office/powerpoint/2010/main" val="8210964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Calculating Overall Equipment Effectiveness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pic>
        <p:nvPicPr>
          <p:cNvPr id="4" name="Picture 7" descr="OEE">
            <a:extLst>
              <a:ext uri="{FF2B5EF4-FFF2-40B4-BE49-F238E27FC236}">
                <a16:creationId xmlns:a16="http://schemas.microsoft.com/office/drawing/2014/main" id="{A73F0197-5751-70B4-80EE-34082DEAA81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64958" y="1971516"/>
            <a:ext cx="9062085" cy="384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67171C04-ED48-1563-205E-0B74AAABD16A}"/>
              </a:ext>
            </a:extLst>
          </p:cNvPr>
          <p:cNvSpPr txBox="1">
            <a:spLocks noChangeArrowheads="1"/>
          </p:cNvSpPr>
          <p:nvPr/>
        </p:nvSpPr>
        <p:spPr>
          <a:xfrm>
            <a:off x="2013744" y="5855823"/>
            <a:ext cx="8164512" cy="43973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Wingdings" charset="0"/>
              <a:buNone/>
              <a:defRPr/>
            </a:pPr>
            <a:r>
              <a:rPr lang="en-US" dirty="0">
                <a:ea typeface="+mn-ea"/>
              </a:rPr>
              <a:t>OEE = Productivity * Availability * Yield</a:t>
            </a:r>
          </a:p>
        </p:txBody>
      </p:sp>
    </p:spTree>
    <p:extLst>
      <p:ext uri="{BB962C8B-B14F-4D97-AF65-F5344CB8AC3E}">
        <p14:creationId xmlns:p14="http://schemas.microsoft.com/office/powerpoint/2010/main" val="816369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Calculating Overall Equipment Effectiveness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pic>
        <p:nvPicPr>
          <p:cNvPr id="7" name="Picture 13" descr="Overall Equipment Effectiveness">
            <a:extLst>
              <a:ext uri="{FF2B5EF4-FFF2-40B4-BE49-F238E27FC236}">
                <a16:creationId xmlns:a16="http://schemas.microsoft.com/office/drawing/2014/main" id="{5983A63C-73C9-6F9F-64F6-C610AD95FBF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08189" y="1828799"/>
            <a:ext cx="7375622"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2013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Calculate OEE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the OEE for an example.</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information provided on the following slide to calculate OEE.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silently, jotting down ideas.</a:t>
            </a:r>
          </a:p>
        </p:txBody>
      </p:sp>
      <p:grpSp>
        <p:nvGrpSpPr>
          <p:cNvPr id="3" name="Group 2">
            <a:extLst>
              <a:ext uri="{FF2B5EF4-FFF2-40B4-BE49-F238E27FC236}">
                <a16:creationId xmlns:a16="http://schemas.microsoft.com/office/drawing/2014/main" id="{4A590335-E7E0-F81C-2120-AA1E1CCE4EE0}"/>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85C963F8-B7D7-8906-6503-68B27030C485}"/>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0CF7B13-8476-CCEE-35E5-20F7D720755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575702-20DF-1FBF-D27E-F1455347ACA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77F0162-958E-CE29-FB7A-86266C4351A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316DC69-68AC-7415-8F73-5019A218CF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CF2CF119-A192-EBC7-598C-BC957E6F36A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164925C7-8C3A-5BB9-8D94-DEA1E25AF35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5785A014-D5FD-6BAF-E51D-F533CEF05270}"/>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1957867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Exercise: Calculate OEE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85000" lnSpcReduction="20000"/>
          </a:bodyPr>
          <a:lstStyle/>
          <a:p>
            <a:r>
              <a:rPr lang="en-US" dirty="0"/>
              <a:t>An OEE observation was conducted for an entire workday </a:t>
            </a:r>
          </a:p>
          <a:p>
            <a:r>
              <a:rPr lang="en-US" dirty="0"/>
              <a:t>Two shifts of 8 hours each  </a:t>
            </a:r>
          </a:p>
          <a:p>
            <a:r>
              <a:rPr lang="en-US" dirty="0"/>
              <a:t>Lunch period of 30 minutes during which equipment is shut down</a:t>
            </a:r>
          </a:p>
          <a:p>
            <a:r>
              <a:rPr lang="en-US" dirty="0"/>
              <a:t>Two (10) minute breaks, allowed for fatigue and personal needs, equipment is kept running utilizing Team leader to relieve operators</a:t>
            </a:r>
          </a:p>
          <a:p>
            <a:r>
              <a:rPr lang="en-US" dirty="0"/>
              <a:t>There was one die change which required 10 minutes, and one downtime incident which required 15 minutes to repair  </a:t>
            </a:r>
          </a:p>
          <a:p>
            <a:r>
              <a:rPr lang="en-US" dirty="0"/>
              <a:t>The press cycle time is 45 seconds</a:t>
            </a:r>
          </a:p>
          <a:p>
            <a:r>
              <a:rPr lang="en-US" dirty="0"/>
              <a:t>457 parts were made on the first shift</a:t>
            </a:r>
          </a:p>
          <a:p>
            <a:r>
              <a:rPr lang="en-US" dirty="0"/>
              <a:t>451 parts on the second shift</a:t>
            </a:r>
          </a:p>
          <a:p>
            <a:r>
              <a:rPr lang="en-US" dirty="0"/>
              <a:t>There were 26 rejected parts in the two-shift period </a:t>
            </a:r>
          </a:p>
          <a:p>
            <a:pPr marL="0" indent="0" algn="ctr">
              <a:buNone/>
            </a:pPr>
            <a:r>
              <a:rPr lang="en-US" b="1" i="1" dirty="0"/>
              <a:t>What’s the Machine’s OEE??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4" name="Group 3">
            <a:extLst>
              <a:ext uri="{FF2B5EF4-FFF2-40B4-BE49-F238E27FC236}">
                <a16:creationId xmlns:a16="http://schemas.microsoft.com/office/drawing/2014/main" id="{A5FC63BB-D805-4961-4C7B-D57A24FCEE3D}"/>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0ED79EF9-A2D1-A881-D17C-4186BE79D71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13358B1E-ACBC-ED5F-FBB7-DB049A6360C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E71180F-B8EB-D179-3746-7614BF51F2A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1DCDDA9-994D-86E3-EA6B-775DD0AEA1D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11C1316B-BD30-BF65-2305-33EE6ADB78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26E34081-6347-0607-8C71-38C035377B7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3BD8F2AC-23E7-68DE-C204-1829472ED5F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E21BA7EE-0A53-BA04-2FF7-958BF5E34697}"/>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2122451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OEE Example – The Answer!</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11197590" cy="4351338"/>
          </a:xfrm>
        </p:spPr>
        <p:txBody>
          <a:bodyPr>
            <a:normAutofit/>
          </a:bodyPr>
          <a:lstStyle/>
          <a:p>
            <a:r>
              <a:rPr lang="en-US" dirty="0"/>
              <a:t>Scheduled time = (7.5 </a:t>
            </a:r>
            <a:r>
              <a:rPr lang="en-US" dirty="0" err="1"/>
              <a:t>Hrs</a:t>
            </a:r>
            <a:r>
              <a:rPr lang="en-US" dirty="0"/>
              <a:t> x 2 Shifts) 			 = 900 minutes</a:t>
            </a:r>
          </a:p>
          <a:p>
            <a:r>
              <a:rPr lang="en-US" dirty="0"/>
              <a:t>Availability = 			  				 = 97.2%</a:t>
            </a:r>
          </a:p>
          <a:p>
            <a:endParaRPr lang="en-US" dirty="0"/>
          </a:p>
          <a:p>
            <a:r>
              <a:rPr lang="en-US" dirty="0"/>
              <a:t>Performance = 						 	 = 77.8%</a:t>
            </a:r>
          </a:p>
          <a:p>
            <a:endParaRPr lang="en-US" dirty="0"/>
          </a:p>
          <a:p>
            <a:r>
              <a:rPr lang="en-US" dirty="0"/>
              <a:t>Quality Rate = 							 = 97.1%</a:t>
            </a:r>
          </a:p>
          <a:p>
            <a:endParaRPr lang="en-US" dirty="0"/>
          </a:p>
          <a:p>
            <a:r>
              <a:rPr lang="en-US" dirty="0"/>
              <a:t>OEE = 97.2% x 77.8% x 97.1% = 73.4%</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4" name="Group 3">
            <a:extLst>
              <a:ext uri="{FF2B5EF4-FFF2-40B4-BE49-F238E27FC236}">
                <a16:creationId xmlns:a16="http://schemas.microsoft.com/office/drawing/2014/main" id="{A5FC63BB-D805-4961-4C7B-D57A24FCEE3D}"/>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0ED79EF9-A2D1-A881-D17C-4186BE79D71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13358B1E-ACBC-ED5F-FBB7-DB049A6360C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6E71180F-B8EB-D179-3746-7614BF51F2A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F1DCDDA9-994D-86E3-EA6B-775DD0AEA1D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11C1316B-BD30-BF65-2305-33EE6ADB78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26E34081-6347-0607-8C71-38C035377B7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3BD8F2AC-23E7-68DE-C204-1829472ED5F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E21BA7EE-0A53-BA04-2FF7-958BF5E34697}"/>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
        <p:nvSpPr>
          <p:cNvPr id="14" name="Rectangle 8">
            <a:extLst>
              <a:ext uri="{FF2B5EF4-FFF2-40B4-BE49-F238E27FC236}">
                <a16:creationId xmlns:a16="http://schemas.microsoft.com/office/drawing/2014/main" id="{913D3535-2C70-25B6-FB05-1C1C021AE2B2}"/>
              </a:ext>
            </a:extLst>
          </p:cNvPr>
          <p:cNvSpPr>
            <a:spLocks noChangeArrowheads="1"/>
          </p:cNvSpPr>
          <p:nvPr/>
        </p:nvSpPr>
        <p:spPr bwMode="auto">
          <a:xfrm>
            <a:off x="3542566" y="2306624"/>
            <a:ext cx="3032883"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800" b="0" u="sng" dirty="0">
                <a:latin typeface="Roboto" panose="02000000000000000000" pitchFamily="2" charset="0"/>
                <a:ea typeface="Roboto" panose="02000000000000000000" pitchFamily="2" charset="0"/>
              </a:rPr>
              <a:t>900 Min. - 25 min.</a:t>
            </a:r>
            <a:endParaRPr lang="en-US" altLang="en-US" sz="2800" b="0" dirty="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2800" b="0" dirty="0">
                <a:latin typeface="Roboto" panose="02000000000000000000" pitchFamily="2" charset="0"/>
                <a:ea typeface="Roboto" panose="02000000000000000000" pitchFamily="2" charset="0"/>
              </a:rPr>
              <a:t>         900 Min.</a:t>
            </a:r>
          </a:p>
        </p:txBody>
      </p:sp>
      <p:sp>
        <p:nvSpPr>
          <p:cNvPr id="15" name="Rectangle 11">
            <a:extLst>
              <a:ext uri="{FF2B5EF4-FFF2-40B4-BE49-F238E27FC236}">
                <a16:creationId xmlns:a16="http://schemas.microsoft.com/office/drawing/2014/main" id="{99A728C2-712B-83AA-48A3-8834040D49E4}"/>
              </a:ext>
            </a:extLst>
          </p:cNvPr>
          <p:cNvSpPr>
            <a:spLocks noChangeArrowheads="1"/>
          </p:cNvSpPr>
          <p:nvPr/>
        </p:nvSpPr>
        <p:spPr bwMode="auto">
          <a:xfrm>
            <a:off x="3542566" y="3168130"/>
            <a:ext cx="4310476"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800" b="0" u="sng" dirty="0">
                <a:latin typeface="Roboto" panose="02000000000000000000" pitchFamily="2" charset="0"/>
                <a:ea typeface="Roboto" panose="02000000000000000000" pitchFamily="2" charset="0"/>
              </a:rPr>
              <a:t>.75 Min. X (457+451 Pcs.)</a:t>
            </a:r>
          </a:p>
          <a:p>
            <a:pPr>
              <a:lnSpc>
                <a:spcPct val="100000"/>
              </a:lnSpc>
              <a:spcBef>
                <a:spcPct val="0"/>
              </a:spcBef>
              <a:spcAft>
                <a:spcPct val="0"/>
              </a:spcAft>
              <a:buClrTx/>
              <a:buSzTx/>
              <a:buFontTx/>
              <a:buNone/>
            </a:pPr>
            <a:r>
              <a:rPr lang="en-US" altLang="en-US" sz="2800" b="0" dirty="0">
                <a:latin typeface="Roboto" panose="02000000000000000000" pitchFamily="2" charset="0"/>
                <a:ea typeface="Roboto" panose="02000000000000000000" pitchFamily="2" charset="0"/>
              </a:rPr>
              <a:t>                875 Min.</a:t>
            </a:r>
          </a:p>
        </p:txBody>
      </p:sp>
      <p:sp>
        <p:nvSpPr>
          <p:cNvPr id="16" name="Rectangle 14">
            <a:extLst>
              <a:ext uri="{FF2B5EF4-FFF2-40B4-BE49-F238E27FC236}">
                <a16:creationId xmlns:a16="http://schemas.microsoft.com/office/drawing/2014/main" id="{D8CCA30F-BFE7-58F5-D462-A5F8ED3411FF}"/>
              </a:ext>
            </a:extLst>
          </p:cNvPr>
          <p:cNvSpPr>
            <a:spLocks noChangeArrowheads="1"/>
          </p:cNvSpPr>
          <p:nvPr/>
        </p:nvSpPr>
        <p:spPr bwMode="auto">
          <a:xfrm>
            <a:off x="3542566" y="4230546"/>
            <a:ext cx="5812490" cy="9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800" b="0" u="sng" dirty="0">
                <a:latin typeface="Roboto" panose="02000000000000000000" pitchFamily="2" charset="0"/>
                <a:ea typeface="Roboto" panose="02000000000000000000" pitchFamily="2" charset="0"/>
              </a:rPr>
              <a:t>(457+451 Pcs.) - (26 Pcs. Rejected)</a:t>
            </a:r>
            <a:endParaRPr lang="en-US" altLang="en-US" sz="2800" b="0" dirty="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2800" b="0" dirty="0">
                <a:latin typeface="Roboto" panose="02000000000000000000" pitchFamily="2" charset="0"/>
                <a:ea typeface="Roboto" panose="02000000000000000000" pitchFamily="2" charset="0"/>
              </a:rPr>
              <a:t>                   (457+451 Pcs.)</a:t>
            </a:r>
          </a:p>
        </p:txBody>
      </p:sp>
    </p:spTree>
    <p:extLst>
      <p:ext uri="{BB962C8B-B14F-4D97-AF65-F5344CB8AC3E}">
        <p14:creationId xmlns:p14="http://schemas.microsoft.com/office/powerpoint/2010/main" val="3701003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Calculate OEE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Calculate the OEE for the equipment for this event.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the calculation provided on the previous pages with the data for this event to calculate OEE.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Calculated OEE. </a:t>
            </a:r>
          </a:p>
        </p:txBody>
      </p:sp>
      <p:grpSp>
        <p:nvGrpSpPr>
          <p:cNvPr id="3" name="Group 2">
            <a:extLst>
              <a:ext uri="{FF2B5EF4-FFF2-40B4-BE49-F238E27FC236}">
                <a16:creationId xmlns:a16="http://schemas.microsoft.com/office/drawing/2014/main" id="{4A590335-E7E0-F81C-2120-AA1E1CCE4EE0}"/>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85C963F8-B7D7-8906-6503-68B27030C485}"/>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90CF7B13-8476-CCEE-35E5-20F7D720755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2575702-20DF-1FBF-D27E-F1455347ACA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77F0162-958E-CE29-FB7A-86266C4351A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316DC69-68AC-7415-8F73-5019A218CF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CF2CF119-A192-EBC7-598C-BC957E6F36A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164925C7-8C3A-5BB9-8D94-DEA1E25AF35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5785A014-D5FD-6BAF-E51D-F533CEF05270}"/>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Loss Data Analysis and OEE</a:t>
              </a:r>
            </a:p>
          </p:txBody>
        </p:sp>
      </p:grpSp>
    </p:spTree>
    <p:extLst>
      <p:ext uri="{BB962C8B-B14F-4D97-AF65-F5344CB8AC3E}">
        <p14:creationId xmlns:p14="http://schemas.microsoft.com/office/powerpoint/2010/main" val="21993474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4000" dirty="0">
                <a:latin typeface="Roboto Medium"/>
                <a:ea typeface="Roboto Medium"/>
                <a:cs typeface="Roboto Medium"/>
              </a:rPr>
              <a:t>Restore Deterioration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“Restore Deterioration” process and identify importance</a:t>
            </a:r>
          </a:p>
          <a:p>
            <a:r>
              <a:rPr lang="en-US" dirty="0"/>
              <a:t>Identify how to “Clean to Inspect” the equipment</a:t>
            </a:r>
          </a:p>
          <a:p>
            <a:r>
              <a:rPr lang="en-US" dirty="0"/>
              <a:t>Discuss the Red Tag procedure</a:t>
            </a:r>
          </a:p>
          <a:p>
            <a:r>
              <a:rPr lang="en-US" dirty="0"/>
              <a:t>Identify how to “Inspect to Correct” components of the equipment</a:t>
            </a:r>
          </a:p>
          <a:p>
            <a:r>
              <a:rPr lang="en-US" dirty="0"/>
              <a:t>Implement “Clean to Inspect” and “Inspect to Correct” for target equipment</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268A97C-C65B-04F0-A7F3-2819E57EFB4F}"/>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0CD6385B-4921-FE67-37E1-72E739A24328}"/>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Maintainability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Improvement &amp;</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sp>
          <p:nvSpPr>
            <p:cNvPr id="7" name="AutoShape 9">
              <a:extLst>
                <a:ext uri="{FF2B5EF4-FFF2-40B4-BE49-F238E27FC236}">
                  <a16:creationId xmlns:a16="http://schemas.microsoft.com/office/drawing/2014/main" id="{9A726636-BF76-0181-D682-C10D4DB4B078}"/>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Sustain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OEE</a:t>
              </a:r>
            </a:p>
          </p:txBody>
        </p:sp>
        <p:grpSp>
          <p:nvGrpSpPr>
            <p:cNvPr id="8" name="Group 7">
              <a:extLst>
                <a:ext uri="{FF2B5EF4-FFF2-40B4-BE49-F238E27FC236}">
                  <a16:creationId xmlns:a16="http://schemas.microsoft.com/office/drawing/2014/main" id="{016A7A82-FAC5-8034-B791-6247B2AFA753}"/>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2E8C84CC-B3AC-C21D-8B7B-FC6ED3B2D47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Autonomous</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Maintenance</a:t>
                </a:r>
              </a:p>
            </p:txBody>
          </p:sp>
          <p:sp>
            <p:nvSpPr>
              <p:cNvPr id="10" name="AutoShape 10">
                <a:extLst>
                  <a:ext uri="{FF2B5EF4-FFF2-40B4-BE49-F238E27FC236}">
                    <a16:creationId xmlns:a16="http://schemas.microsoft.com/office/drawing/2014/main" id="{255C6DD9-9CFC-003C-0964-3C906E950020}"/>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Restore</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Deterioration </a:t>
                </a:r>
              </a:p>
            </p:txBody>
          </p:sp>
          <p:sp>
            <p:nvSpPr>
              <p:cNvPr id="11" name="AutoShape 11">
                <a:extLst>
                  <a:ext uri="{FF2B5EF4-FFF2-40B4-BE49-F238E27FC236}">
                    <a16:creationId xmlns:a16="http://schemas.microsoft.com/office/drawing/2014/main" id="{93D6F1FF-B8F6-95F3-877C-A3692A9F33C9}"/>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Loss Data Analysis and OEE</a:t>
                </a:r>
              </a:p>
            </p:txBody>
          </p:sp>
        </p:grpSp>
      </p:grpSp>
    </p:spTree>
    <p:extLst>
      <p:ext uri="{BB962C8B-B14F-4D97-AF65-F5344CB8AC3E}">
        <p14:creationId xmlns:p14="http://schemas.microsoft.com/office/powerpoint/2010/main" val="3448346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Restore Deterioration: What Is It?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5" name="Group 4">
            <a:extLst>
              <a:ext uri="{FF2B5EF4-FFF2-40B4-BE49-F238E27FC236}">
                <a16:creationId xmlns:a16="http://schemas.microsoft.com/office/drawing/2014/main" id="{6B6289A3-A76B-F829-E3F2-711EAC03AB97}"/>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E26F963-2FD4-573C-6C9F-A77CF798DB46}"/>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6F1AAA9D-C3AA-4412-8398-F9B3A65586F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8A7824D-CCE8-5883-DA8E-B443D868FC2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A36C80D-A8D4-24C8-6564-C85B6A944DB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FFD5069-C583-2835-6348-8B3BABE764E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1D07F67C-BE0B-1EC9-D797-049D61DD64CC}"/>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912BD1E-51EE-9E03-CFCF-1A286AA4B52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229CBEBA-03F3-075D-81D9-E693DBDE58D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
        <p:nvSpPr>
          <p:cNvPr id="18" name="Content Placeholder 17">
            <a:extLst>
              <a:ext uri="{FF2B5EF4-FFF2-40B4-BE49-F238E27FC236}">
                <a16:creationId xmlns:a16="http://schemas.microsoft.com/office/drawing/2014/main" id="{7CF6D7B3-FEA0-8DB2-2579-0AEEA5465747}"/>
              </a:ext>
            </a:extLst>
          </p:cNvPr>
          <p:cNvSpPr>
            <a:spLocks noGrp="1"/>
          </p:cNvSpPr>
          <p:nvPr>
            <p:ph sz="half" idx="2"/>
          </p:nvPr>
        </p:nvSpPr>
        <p:spPr/>
        <p:txBody>
          <a:bodyPr anchor="ctr">
            <a:normAutofit/>
          </a:bodyPr>
          <a:lstStyle/>
          <a:p>
            <a:pPr>
              <a:lnSpc>
                <a:spcPct val="105000"/>
              </a:lnSpc>
            </a:pPr>
            <a:r>
              <a:rPr lang="en-US" altLang="en-US" sz="2800" dirty="0"/>
              <a:t> A concentrated effort to repair all known defects in the equipment and return it to “as new” operating condition</a:t>
            </a:r>
          </a:p>
          <a:p>
            <a:pPr>
              <a:lnSpc>
                <a:spcPct val="105000"/>
              </a:lnSpc>
            </a:pPr>
            <a:r>
              <a:rPr lang="en-US" altLang="en-US" sz="2800" dirty="0"/>
              <a:t>A method of catching up on minor non-conformances that have built up over time</a:t>
            </a:r>
          </a:p>
        </p:txBody>
      </p:sp>
      <p:pic>
        <p:nvPicPr>
          <p:cNvPr id="4" name="Picture 4" descr="bigstockphoto_Tools_677362">
            <a:extLst>
              <a:ext uri="{FF2B5EF4-FFF2-40B4-BE49-F238E27FC236}">
                <a16:creationId xmlns:a16="http://schemas.microsoft.com/office/drawing/2014/main" id="{A84C88AB-9622-4A0F-C7A2-79DA0856FFB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982981" y="2256498"/>
            <a:ext cx="5036819" cy="335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5">
            <a:extLst>
              <a:ext uri="{FF2B5EF4-FFF2-40B4-BE49-F238E27FC236}">
                <a16:creationId xmlns:a16="http://schemas.microsoft.com/office/drawing/2014/main" id="{3AF63ACF-5BE7-F0F7-8460-B94B6008373A}"/>
              </a:ext>
            </a:extLst>
          </p:cNvPr>
          <p:cNvSpPr txBox="1">
            <a:spLocks noChangeArrowheads="1"/>
          </p:cNvSpPr>
          <p:nvPr/>
        </p:nvSpPr>
        <p:spPr bwMode="auto">
          <a:xfrm>
            <a:off x="1978025" y="5770563"/>
            <a:ext cx="8235950" cy="406400"/>
          </a:xfrm>
          <a:prstGeom prst="rect">
            <a:avLst/>
          </a:prstGeom>
          <a:solidFill>
            <a:srgbClr val="EAEAEA"/>
          </a:solidFill>
          <a:ln w="9525">
            <a:solidFill>
              <a:srgbClr val="003366"/>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b="0" i="1">
                <a:latin typeface="Roboto" panose="02000000000000000000" pitchFamily="2" charset="0"/>
                <a:ea typeface="Roboto" panose="02000000000000000000" pitchFamily="2" charset="0"/>
                <a:cs typeface="Arial" panose="020B0604020202020204" pitchFamily="34" charset="0"/>
              </a:rPr>
              <a:t>Some day, later, when we have time….. TODAY!!!!!!!</a:t>
            </a:r>
          </a:p>
        </p:txBody>
      </p:sp>
    </p:spTree>
    <p:extLst>
      <p:ext uri="{BB962C8B-B14F-4D97-AF65-F5344CB8AC3E}">
        <p14:creationId xmlns:p14="http://schemas.microsoft.com/office/powerpoint/2010/main" val="102587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Restore Deterioration: Why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Over years of operation relatively minor equipment malfunctions are accepted as the norm</a:t>
            </a:r>
          </a:p>
          <a:p>
            <a:r>
              <a:rPr lang="en-US" dirty="0"/>
              <a:t>The system compensates for the minor discrepancies and tends to hide the waste associated with the equipment not being up to spec</a:t>
            </a:r>
          </a:p>
          <a:p>
            <a:endParaRPr lang="en-US" dirty="0"/>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14" name="Group 13">
            <a:extLst>
              <a:ext uri="{FF2B5EF4-FFF2-40B4-BE49-F238E27FC236}">
                <a16:creationId xmlns:a16="http://schemas.microsoft.com/office/drawing/2014/main" id="{433928E6-2A87-BB25-AC41-0F0090561C2C}"/>
              </a:ext>
            </a:extLst>
          </p:cNvPr>
          <p:cNvGrpSpPr/>
          <p:nvPr/>
        </p:nvGrpSpPr>
        <p:grpSpPr>
          <a:xfrm>
            <a:off x="838200" y="297639"/>
            <a:ext cx="5257799" cy="307138"/>
            <a:chOff x="838200" y="297639"/>
            <a:chExt cx="5257799" cy="307138"/>
          </a:xfrm>
        </p:grpSpPr>
        <p:grpSp>
          <p:nvGrpSpPr>
            <p:cNvPr id="15" name="Group 14">
              <a:extLst>
                <a:ext uri="{FF2B5EF4-FFF2-40B4-BE49-F238E27FC236}">
                  <a16:creationId xmlns:a16="http://schemas.microsoft.com/office/drawing/2014/main" id="{112AADE9-3254-9B38-85D1-A5DD36B4A380}"/>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96176942-7F30-64DF-FF27-40BD6CD320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88448AAF-EA87-AA45-82F3-78D8734F88C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37EFD686-4669-F092-027C-89C364D494DC}"/>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800D2E3E-EDFC-3FD4-C93E-F615B39ABEB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8CF21EF8-CEBD-F7C8-E848-6FA618409D3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7649F41-6C26-88A6-E040-7D4CF980AB5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248B5DDB-191D-38D4-3B33-44D3B0E5A0B9}"/>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Tree>
    <p:extLst>
      <p:ext uri="{BB962C8B-B14F-4D97-AF65-F5344CB8AC3E}">
        <p14:creationId xmlns:p14="http://schemas.microsoft.com/office/powerpoint/2010/main" val="36026780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Restore Deterioration: 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Clean to inspect</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Inspect to correct</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15" name="Group 14">
            <a:extLst>
              <a:ext uri="{FF2B5EF4-FFF2-40B4-BE49-F238E27FC236}">
                <a16:creationId xmlns:a16="http://schemas.microsoft.com/office/drawing/2014/main" id="{5FB3FF2B-671C-44D1-6E11-2053179B3D66}"/>
              </a:ext>
            </a:extLst>
          </p:cNvPr>
          <p:cNvGrpSpPr/>
          <p:nvPr/>
        </p:nvGrpSpPr>
        <p:grpSpPr>
          <a:xfrm>
            <a:off x="838200" y="297639"/>
            <a:ext cx="5257799" cy="307138"/>
            <a:chOff x="838200" y="297639"/>
            <a:chExt cx="5257799" cy="307138"/>
          </a:xfrm>
        </p:grpSpPr>
        <p:grpSp>
          <p:nvGrpSpPr>
            <p:cNvPr id="18" name="Group 17">
              <a:extLst>
                <a:ext uri="{FF2B5EF4-FFF2-40B4-BE49-F238E27FC236}">
                  <a16:creationId xmlns:a16="http://schemas.microsoft.com/office/drawing/2014/main" id="{BEE3A386-D721-E57B-2A34-BC1F0A4C4ADB}"/>
                </a:ext>
              </a:extLst>
            </p:cNvPr>
            <p:cNvGrpSpPr/>
            <p:nvPr/>
          </p:nvGrpSpPr>
          <p:grpSpPr>
            <a:xfrm>
              <a:off x="838200" y="297639"/>
              <a:ext cx="1687517" cy="290657"/>
              <a:chOff x="838200" y="297639"/>
              <a:chExt cx="1687517" cy="290657"/>
            </a:xfrm>
          </p:grpSpPr>
          <p:sp>
            <p:nvSpPr>
              <p:cNvPr id="21" name="AutoShape 9">
                <a:extLst>
                  <a:ext uri="{FF2B5EF4-FFF2-40B4-BE49-F238E27FC236}">
                    <a16:creationId xmlns:a16="http://schemas.microsoft.com/office/drawing/2014/main" id="{C555EF3B-1FE4-6028-B9A0-FE02CCACE60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4B5D8149-085F-247B-5D52-272940BE0FD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B3BBB016-576F-1B71-5271-B98B89E9495E}"/>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AF38389-7E7E-0B6A-5F8B-7C60C20F2A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654CE33C-7704-9378-342E-360402506B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5E85930E-A595-77D8-D35F-A9E5A1AB46C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013C627-D74A-BC45-9A25-9F5BAE01CE9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Tree>
    <p:extLst>
      <p:ext uri="{BB962C8B-B14F-4D97-AF65-F5344CB8AC3E}">
        <p14:creationId xmlns:p14="http://schemas.microsoft.com/office/powerpoint/2010/main" val="1311883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dirty="0"/>
              <a:t>“Clean to Inspect”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All Kaizen begins and ends with 5S. TPM is no exception!</a:t>
            </a:r>
          </a:p>
          <a:p>
            <a:r>
              <a:rPr lang="en-US" dirty="0"/>
              <a:t>Limit access to the “Speedy Dry, “pigs,” or other oil-absorbent material </a:t>
            </a:r>
          </a:p>
          <a:p>
            <a:pPr lvl="1"/>
            <a:r>
              <a:rPr lang="en-US" dirty="0"/>
              <a:t>“Clean to Inspect”</a:t>
            </a:r>
          </a:p>
          <a:p>
            <a:pPr lvl="2"/>
            <a:r>
              <a:rPr lang="en-US" dirty="0"/>
              <a:t>Cleaning the equipment leads to an in-depth inspection of components</a:t>
            </a:r>
          </a:p>
          <a:p>
            <a:pPr lvl="2"/>
            <a:r>
              <a:rPr lang="en-US" dirty="0"/>
              <a:t>A comprehensive list of equipment defects is compiled using the </a:t>
            </a:r>
            <a:br>
              <a:rPr lang="en-US" dirty="0"/>
            </a:br>
            <a:r>
              <a:rPr lang="en-US" dirty="0"/>
              <a:t>“Red Tag” process</a:t>
            </a:r>
          </a:p>
          <a:p>
            <a:pPr lvl="2"/>
            <a:r>
              <a:rPr lang="en-US" dirty="0"/>
              <a:t>Document ALL defects including leaks, missing screws, loose covers, sticky/missing proximity switches, door latches, all defects both minor and major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14" name="Group 13">
            <a:extLst>
              <a:ext uri="{FF2B5EF4-FFF2-40B4-BE49-F238E27FC236}">
                <a16:creationId xmlns:a16="http://schemas.microsoft.com/office/drawing/2014/main" id="{433928E6-2A87-BB25-AC41-0F0090561C2C}"/>
              </a:ext>
            </a:extLst>
          </p:cNvPr>
          <p:cNvGrpSpPr/>
          <p:nvPr/>
        </p:nvGrpSpPr>
        <p:grpSpPr>
          <a:xfrm>
            <a:off x="838200" y="297639"/>
            <a:ext cx="5257799" cy="307138"/>
            <a:chOff x="838200" y="297639"/>
            <a:chExt cx="5257799" cy="307138"/>
          </a:xfrm>
        </p:grpSpPr>
        <p:grpSp>
          <p:nvGrpSpPr>
            <p:cNvPr id="15" name="Group 14">
              <a:extLst>
                <a:ext uri="{FF2B5EF4-FFF2-40B4-BE49-F238E27FC236}">
                  <a16:creationId xmlns:a16="http://schemas.microsoft.com/office/drawing/2014/main" id="{112AADE9-3254-9B38-85D1-A5DD36B4A380}"/>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96176942-7F30-64DF-FF27-40BD6CD320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88448AAF-EA87-AA45-82F3-78D8734F88C5}"/>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37EFD686-4669-F092-027C-89C364D494DC}"/>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800D2E3E-EDFC-3FD4-C93E-F615B39ABEB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8CF21EF8-CEBD-F7C8-E848-6FA618409D3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B7649F41-6C26-88A6-E040-7D4CF980AB52}"/>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248B5DDB-191D-38D4-3B33-44D3B0E5A0B9}"/>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Tree>
    <p:extLst>
      <p:ext uri="{BB962C8B-B14F-4D97-AF65-F5344CB8AC3E}">
        <p14:creationId xmlns:p14="http://schemas.microsoft.com/office/powerpoint/2010/main" val="3835059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The Red Tag Process</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lnSpcReduction="10000"/>
          </a:bodyPr>
          <a:lstStyle/>
          <a:p>
            <a:r>
              <a:rPr lang="en-US" dirty="0"/>
              <a:t>During the “Clean to Inspect” process each defect is identified with a red tag</a:t>
            </a:r>
          </a:p>
          <a:p>
            <a:pPr lvl="1"/>
            <a:r>
              <a:rPr lang="en-US" dirty="0"/>
              <a:t>Keeps things from “falling between the cracks”</a:t>
            </a:r>
          </a:p>
          <a:p>
            <a:pPr lvl="1"/>
            <a:r>
              <a:rPr lang="en-US" dirty="0"/>
              <a:t>Prevents overlooking what could become major problems later on</a:t>
            </a:r>
          </a:p>
          <a:p>
            <a:pPr lvl="1"/>
            <a:r>
              <a:rPr lang="en-US" dirty="0"/>
              <a:t>Provides a metric on progress over time</a:t>
            </a:r>
          </a:p>
          <a:p>
            <a:r>
              <a:rPr lang="en-US" dirty="0"/>
              <a:t>Typically expect to identify at least 25 items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grpSp>
        <p:nvGrpSpPr>
          <p:cNvPr id="5" name="Group 4">
            <a:extLst>
              <a:ext uri="{FF2B5EF4-FFF2-40B4-BE49-F238E27FC236}">
                <a16:creationId xmlns:a16="http://schemas.microsoft.com/office/drawing/2014/main" id="{A06672E6-1272-A4A7-2AD8-934565907CC0}"/>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3EA93CE9-0E23-B881-87FD-1009CCE81F4F}"/>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FEF05D1-8CF5-D956-A2F2-78F88C94B14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E71A530-E5B4-00CD-FBE2-C6E416B03E4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2D422568-9CCB-A3A8-3708-830CAAD6DFD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8171F83-328A-B89F-335A-C6ED1C392E7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DDDC15C-1ECE-E1FE-DC9F-94673523E91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6FE1C016-FD10-AB75-CE2D-2946C6A80F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971306DE-6D92-27B1-4C6E-DEEEC9A88357}"/>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pic>
        <p:nvPicPr>
          <p:cNvPr id="15" name="Picture 6" descr="Red Tag">
            <a:extLst>
              <a:ext uri="{FF2B5EF4-FFF2-40B4-BE49-F238E27FC236}">
                <a16:creationId xmlns:a16="http://schemas.microsoft.com/office/drawing/2014/main" id="{87440B7B-D8B8-570E-98BE-AE251CC801D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304722" y="2524919"/>
            <a:ext cx="1476375"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7">
            <a:extLst>
              <a:ext uri="{FF2B5EF4-FFF2-40B4-BE49-F238E27FC236}">
                <a16:creationId xmlns:a16="http://schemas.microsoft.com/office/drawing/2014/main" id="{A0B8F76B-C461-5568-8D2D-F918815C1525}"/>
              </a:ext>
            </a:extLst>
          </p:cNvPr>
          <p:cNvSpPr>
            <a:spLocks noChangeArrowheads="1"/>
          </p:cNvSpPr>
          <p:nvPr/>
        </p:nvSpPr>
        <p:spPr bwMode="auto">
          <a:xfrm>
            <a:off x="9057321" y="2422037"/>
            <a:ext cx="1752600" cy="3179762"/>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u="sng" dirty="0">
                <a:latin typeface="Roboto" panose="02000000000000000000" pitchFamily="2" charset="0"/>
                <a:ea typeface="Roboto" panose="02000000000000000000" pitchFamily="2" charset="0"/>
              </a:rPr>
              <a:t>Red Tag List</a:t>
            </a:r>
          </a:p>
          <a:p>
            <a:pPr algn="ctr" eaLnBrk="1" hangingPunct="1">
              <a:lnSpc>
                <a:spcPct val="100000"/>
              </a:lnSpc>
              <a:spcBef>
                <a:spcPct val="0"/>
              </a:spcBef>
              <a:spcAft>
                <a:spcPct val="0"/>
              </a:spcAft>
              <a:buClrTx/>
              <a:buSzTx/>
              <a:buFontTx/>
              <a:buNone/>
            </a:pPr>
            <a:endParaRPr lang="en-US" altLang="en-US" sz="1800" dirty="0">
              <a:latin typeface="Roboto" panose="02000000000000000000" pitchFamily="2" charset="0"/>
              <a:ea typeface="Roboto" panose="02000000000000000000" pitchFamily="2" charset="0"/>
            </a:endParaRP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#436118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#436119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#436120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#436121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#436122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#436123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#436124 XXXX</a:t>
            </a:r>
          </a:p>
          <a:p>
            <a:pPr algn="ctr" eaLnBrk="1" hangingPunct="1">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#436125 XXXX</a:t>
            </a:r>
            <a:r>
              <a:rPr lang="en-US" altLang="en-US" sz="1800" b="0" dirty="0">
                <a:latin typeface="Roboto" panose="02000000000000000000" pitchFamily="2" charset="0"/>
                <a:ea typeface="Roboto" panose="02000000000000000000" pitchFamily="2" charset="0"/>
              </a:rPr>
              <a:t> </a:t>
            </a:r>
          </a:p>
          <a:p>
            <a:pPr algn="ctr" eaLnBrk="1" hangingPunct="1">
              <a:lnSpc>
                <a:spcPct val="100000"/>
              </a:lnSpc>
              <a:spcBef>
                <a:spcPct val="0"/>
              </a:spcBef>
              <a:spcAft>
                <a:spcPct val="0"/>
              </a:spcAft>
              <a:buClrTx/>
              <a:buSzTx/>
              <a:buFontTx/>
              <a:buNone/>
            </a:pPr>
            <a:endParaRPr lang="en-US" altLang="en-US" sz="1800" b="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884972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Restore Deterioration: How Do You Do It?</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47</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7" y="1934137"/>
            <a:ext cx="8567928"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Clean to inspect</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3028466"/>
            <a:ext cx="8567928"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Inspect to correct</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15" name="Group 14">
            <a:extLst>
              <a:ext uri="{FF2B5EF4-FFF2-40B4-BE49-F238E27FC236}">
                <a16:creationId xmlns:a16="http://schemas.microsoft.com/office/drawing/2014/main" id="{5FB3FF2B-671C-44D1-6E11-2053179B3D66}"/>
              </a:ext>
            </a:extLst>
          </p:cNvPr>
          <p:cNvGrpSpPr/>
          <p:nvPr/>
        </p:nvGrpSpPr>
        <p:grpSpPr>
          <a:xfrm>
            <a:off x="838200" y="297639"/>
            <a:ext cx="5257799" cy="307138"/>
            <a:chOff x="838200" y="297639"/>
            <a:chExt cx="5257799" cy="307138"/>
          </a:xfrm>
        </p:grpSpPr>
        <p:grpSp>
          <p:nvGrpSpPr>
            <p:cNvPr id="18" name="Group 17">
              <a:extLst>
                <a:ext uri="{FF2B5EF4-FFF2-40B4-BE49-F238E27FC236}">
                  <a16:creationId xmlns:a16="http://schemas.microsoft.com/office/drawing/2014/main" id="{BEE3A386-D721-E57B-2A34-BC1F0A4C4ADB}"/>
                </a:ext>
              </a:extLst>
            </p:cNvPr>
            <p:cNvGrpSpPr/>
            <p:nvPr/>
          </p:nvGrpSpPr>
          <p:grpSpPr>
            <a:xfrm>
              <a:off x="838200" y="297639"/>
              <a:ext cx="1687517" cy="290657"/>
              <a:chOff x="838200" y="297639"/>
              <a:chExt cx="1687517" cy="290657"/>
            </a:xfrm>
          </p:grpSpPr>
          <p:sp>
            <p:nvSpPr>
              <p:cNvPr id="21" name="AutoShape 9">
                <a:extLst>
                  <a:ext uri="{FF2B5EF4-FFF2-40B4-BE49-F238E27FC236}">
                    <a16:creationId xmlns:a16="http://schemas.microsoft.com/office/drawing/2014/main" id="{C555EF3B-1FE4-6028-B9A0-FE02CCACE60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9">
                <a:extLst>
                  <a:ext uri="{FF2B5EF4-FFF2-40B4-BE49-F238E27FC236}">
                    <a16:creationId xmlns:a16="http://schemas.microsoft.com/office/drawing/2014/main" id="{4B5D8149-085F-247B-5D52-272940BE0FD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B3BBB016-576F-1B71-5271-B98B89E9495E}"/>
                  </a:ext>
                </a:extLst>
              </p:cNvPr>
              <p:cNvGrpSpPr/>
              <p:nvPr/>
            </p:nvGrpSpPr>
            <p:grpSpPr>
              <a:xfrm>
                <a:off x="838200" y="297639"/>
                <a:ext cx="1060167" cy="290657"/>
                <a:chOff x="826426" y="4041857"/>
                <a:chExt cx="1060167" cy="290657"/>
              </a:xfrm>
            </p:grpSpPr>
            <p:sp>
              <p:nvSpPr>
                <p:cNvPr id="24" name="AutoShape 9">
                  <a:extLst>
                    <a:ext uri="{FF2B5EF4-FFF2-40B4-BE49-F238E27FC236}">
                      <a16:creationId xmlns:a16="http://schemas.microsoft.com/office/drawing/2014/main" id="{1AF38389-7E7E-0B6A-5F8B-7C60C20F2A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654CE33C-7704-9378-342E-360402506B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6" name="AutoShape 10">
                  <a:extLst>
                    <a:ext uri="{FF2B5EF4-FFF2-40B4-BE49-F238E27FC236}">
                      <a16:creationId xmlns:a16="http://schemas.microsoft.com/office/drawing/2014/main" id="{5E85930E-A595-77D8-D35F-A9E5A1AB46C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3013C627-D74A-BC45-9A25-9F5BAE01CE9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Tree>
    <p:extLst>
      <p:ext uri="{BB962C8B-B14F-4D97-AF65-F5344CB8AC3E}">
        <p14:creationId xmlns:p14="http://schemas.microsoft.com/office/powerpoint/2010/main" val="17748913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“Inspect to Correct”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“Inspect to Correct”</a:t>
            </a:r>
          </a:p>
          <a:p>
            <a:pPr lvl="1"/>
            <a:r>
              <a:rPr lang="en-US" sz="3200" dirty="0"/>
              <a:t>Red Tag items are repaired</a:t>
            </a:r>
          </a:p>
          <a:p>
            <a:pPr lvl="1"/>
            <a:r>
              <a:rPr lang="en-US" sz="3200" dirty="0"/>
              <a:t>Uncover Drains</a:t>
            </a:r>
          </a:p>
          <a:p>
            <a:pPr lvl="2"/>
            <a:r>
              <a:rPr lang="en-US" sz="2800" dirty="0"/>
              <a:t>Assures proper lubricant flow</a:t>
            </a:r>
          </a:p>
          <a:p>
            <a:pPr lvl="2"/>
            <a:r>
              <a:rPr lang="en-US" sz="2800" dirty="0"/>
              <a:t>Detects air and hydraulic fluid leaks</a:t>
            </a:r>
          </a:p>
          <a:p>
            <a:pPr lvl="2"/>
            <a:r>
              <a:rPr lang="en-US" sz="2800" dirty="0"/>
              <a:t>Detects wear and damaged parts (abnormalities)</a:t>
            </a:r>
          </a:p>
          <a:p>
            <a:pPr lvl="1"/>
            <a:r>
              <a:rPr lang="en-US" sz="3200" dirty="0"/>
              <a:t>Cleaning is Inspecting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4" name="Group 3">
            <a:extLst>
              <a:ext uri="{FF2B5EF4-FFF2-40B4-BE49-F238E27FC236}">
                <a16:creationId xmlns:a16="http://schemas.microsoft.com/office/drawing/2014/main" id="{A61A8A0E-0756-6D4D-47B8-61C19E04041D}"/>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707CE75D-57DD-017C-1FC5-B87F23580B2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243550E0-ABC2-6A10-1837-1C4CDA2877E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4290A2CC-EC47-B020-C741-5FC90265519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1062ECB-BEA0-0E2D-FEFF-4B52DF85C87E}"/>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BF38CBA-54C8-0F65-BA91-28776C8C9CA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9AA0402F-3896-CBA7-429C-4C515647EE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FC340E7D-BB70-3EDF-D49B-C0883B71174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E606EF4-2777-7E13-266F-DF4ED097522A}"/>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
        <p:nvSpPr>
          <p:cNvPr id="14" name="Text Box 10">
            <a:extLst>
              <a:ext uri="{FF2B5EF4-FFF2-40B4-BE49-F238E27FC236}">
                <a16:creationId xmlns:a16="http://schemas.microsoft.com/office/drawing/2014/main" id="{92A62170-6699-7DE8-E387-885C14FEBBB2}"/>
              </a:ext>
            </a:extLst>
          </p:cNvPr>
          <p:cNvSpPr txBox="1">
            <a:spLocks noChangeArrowheads="1"/>
          </p:cNvSpPr>
          <p:nvPr/>
        </p:nvSpPr>
        <p:spPr bwMode="auto">
          <a:xfrm>
            <a:off x="1978025" y="5365115"/>
            <a:ext cx="8235950" cy="711200"/>
          </a:xfrm>
          <a:prstGeom prst="rect">
            <a:avLst/>
          </a:prstGeom>
          <a:solidFill>
            <a:srgbClr val="EAEAEA"/>
          </a:solidFill>
          <a:ln w="9525">
            <a:solidFill>
              <a:srgbClr val="003366"/>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2000" b="0" i="1" dirty="0">
                <a:latin typeface="Roboto" panose="02000000000000000000" pitchFamily="2" charset="0"/>
                <a:ea typeface="Roboto" panose="02000000000000000000" pitchFamily="2" charset="0"/>
                <a:cs typeface="Arial" panose="020B0604020202020204" pitchFamily="34" charset="0"/>
              </a:rPr>
              <a:t>It is easier (less labor intensive) to maintain equipment than it is to catch up with cascading failures in operation.</a:t>
            </a:r>
          </a:p>
        </p:txBody>
      </p:sp>
    </p:spTree>
    <p:extLst>
      <p:ext uri="{BB962C8B-B14F-4D97-AF65-F5344CB8AC3E}">
        <p14:creationId xmlns:p14="http://schemas.microsoft.com/office/powerpoint/2010/main" val="5441262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The Red Tag Process</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a:xfrm>
            <a:off x="2747010" y="1825625"/>
            <a:ext cx="5181600" cy="4351338"/>
          </a:xfrm>
        </p:spPr>
        <p:txBody>
          <a:bodyPr>
            <a:normAutofit lnSpcReduction="10000"/>
          </a:bodyPr>
          <a:lstStyle/>
          <a:p>
            <a:pPr marL="514350" indent="-514350">
              <a:buFont typeface="+mj-lt"/>
              <a:buAutoNum type="arabicPeriod"/>
            </a:pPr>
            <a:r>
              <a:rPr lang="en-US" dirty="0"/>
              <a:t>Number and attach tag to item in need of repair</a:t>
            </a:r>
          </a:p>
          <a:p>
            <a:pPr marL="514350" indent="-514350">
              <a:buFont typeface="+mj-lt"/>
              <a:buAutoNum type="arabicPeriod"/>
            </a:pPr>
            <a:r>
              <a:rPr lang="en-US" dirty="0"/>
              <a:t>Post Red Tag on board</a:t>
            </a:r>
          </a:p>
          <a:p>
            <a:pPr marL="514350" indent="-514350">
              <a:buFont typeface="+mj-lt"/>
              <a:buAutoNum type="arabicPeriod"/>
            </a:pPr>
            <a:r>
              <a:rPr lang="en-US" dirty="0"/>
              <a:t>When item is repaired, rip off yellow tag and post on board with date</a:t>
            </a:r>
          </a:p>
          <a:p>
            <a:pPr marL="514350" indent="-514350">
              <a:buFont typeface="+mj-lt"/>
              <a:buAutoNum type="arabicPeriod"/>
            </a:pPr>
            <a:r>
              <a:rPr lang="en-US" dirty="0"/>
              <a:t>Four weeks later verify that repair was root cause</a:t>
            </a:r>
          </a:p>
          <a:p>
            <a:pPr marL="514350" indent="-514350">
              <a:buFont typeface="+mj-lt"/>
              <a:buAutoNum type="arabicPeriod"/>
            </a:pPr>
            <a:r>
              <a:rPr lang="en-US" dirty="0"/>
              <a:t>Remove green tag and post on board for one month   </a:t>
            </a:r>
          </a:p>
          <a:p>
            <a:pPr marL="514350" indent="-514350">
              <a:buFont typeface="+mj-lt"/>
              <a:buAutoNum type="arabicPeriod"/>
            </a:pP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grpSp>
        <p:nvGrpSpPr>
          <p:cNvPr id="5" name="Group 4">
            <a:extLst>
              <a:ext uri="{FF2B5EF4-FFF2-40B4-BE49-F238E27FC236}">
                <a16:creationId xmlns:a16="http://schemas.microsoft.com/office/drawing/2014/main" id="{A06672E6-1272-A4A7-2AD8-934565907CC0}"/>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3EA93CE9-0E23-B881-87FD-1009CCE81F4F}"/>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FEF05D1-8CF5-D956-A2F2-78F88C94B14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E71A530-E5B4-00CD-FBE2-C6E416B03E4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2D422568-9CCB-A3A8-3708-830CAAD6DFD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38171F83-328A-B89F-335A-C6ED1C392E7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DDDDC15C-1ECE-E1FE-DC9F-94673523E91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6FE1C016-FD10-AB75-CE2D-2946C6A80F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971306DE-6D92-27B1-4C6E-DEEEC9A88357}"/>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pic>
        <p:nvPicPr>
          <p:cNvPr id="17" name="Picture 9" descr="The Red Tag Process">
            <a:extLst>
              <a:ext uri="{FF2B5EF4-FFF2-40B4-BE49-F238E27FC236}">
                <a16:creationId xmlns:a16="http://schemas.microsoft.com/office/drawing/2014/main" id="{13185EB2-3661-4195-E3DF-9BA9ED8B9D0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306752" y="2096294"/>
            <a:ext cx="326707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descr="Red Tag">
            <a:extLst>
              <a:ext uri="{FF2B5EF4-FFF2-40B4-BE49-F238E27FC236}">
                <a16:creationId xmlns:a16="http://schemas.microsoft.com/office/drawing/2014/main" id="{5DB5CA7F-4436-1862-827B-A5DD71B0AD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975" y="1931988"/>
            <a:ext cx="177165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5753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The Red Tag Process</a:t>
            </a:r>
          </a:p>
        </p:txBody>
      </p:sp>
      <p:pic>
        <p:nvPicPr>
          <p:cNvPr id="20" name="Content Placeholder 19">
            <a:extLst>
              <a:ext uri="{FF2B5EF4-FFF2-40B4-BE49-F238E27FC236}">
                <a16:creationId xmlns:a16="http://schemas.microsoft.com/office/drawing/2014/main" id="{D3D48F5E-BF03-5B54-B192-791F5D906D9A}"/>
              </a:ext>
            </a:extLst>
          </p:cNvPr>
          <p:cNvPicPr>
            <a:picLocks noGrp="1" noChangeAspect="1"/>
          </p:cNvPicPr>
          <p:nvPr>
            <p:ph sz="half" idx="2"/>
          </p:nvPr>
        </p:nvPicPr>
        <p:blipFill>
          <a:blip r:embed="rId3"/>
          <a:stretch>
            <a:fillRect/>
          </a:stretch>
        </p:blipFill>
        <p:spPr>
          <a:xfrm>
            <a:off x="7172103" y="1891212"/>
            <a:ext cx="3181794" cy="4220164"/>
          </a:xfrm>
        </p:spPr>
      </p:pic>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5" name="Group 4">
            <a:extLst>
              <a:ext uri="{FF2B5EF4-FFF2-40B4-BE49-F238E27FC236}">
                <a16:creationId xmlns:a16="http://schemas.microsoft.com/office/drawing/2014/main" id="{C761E2D1-DC14-E169-D07C-2E56039205BC}"/>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6E99B28E-C3F2-F864-B7C3-BBA9F94045D0}"/>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D127DA10-5AED-6FBC-1D6A-CAE715B5954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1391D08-4B2E-5385-B07F-D88B31D3856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A5A82DCE-4999-2BBA-6BA0-8FE9CC2E78D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F7A3C9D4-F713-3C1B-A867-9D140859338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075B2365-6FC8-1A8F-03E0-051724F1B78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A5EE08DF-7D78-96EC-28E1-BDA1D379469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140CD98-8BFB-52AE-1429-AFFC55640D6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pic>
        <p:nvPicPr>
          <p:cNvPr id="18" name="Content Placeholder 17">
            <a:extLst>
              <a:ext uri="{FF2B5EF4-FFF2-40B4-BE49-F238E27FC236}">
                <a16:creationId xmlns:a16="http://schemas.microsoft.com/office/drawing/2014/main" id="{540A2DFD-B98F-23C5-92B6-3CB71C6C79FB}"/>
              </a:ext>
            </a:extLst>
          </p:cNvPr>
          <p:cNvPicPr>
            <a:picLocks noGrp="1" noChangeAspect="1"/>
          </p:cNvPicPr>
          <p:nvPr>
            <p:ph sz="half" idx="1"/>
          </p:nvPr>
        </p:nvPicPr>
        <p:blipFill>
          <a:blip r:embed="rId4"/>
          <a:stretch>
            <a:fillRect/>
          </a:stretch>
        </p:blipFill>
        <p:spPr>
          <a:xfrm>
            <a:off x="1857155" y="1905501"/>
            <a:ext cx="3143689" cy="4191585"/>
          </a:xfrm>
        </p:spPr>
      </p:pic>
    </p:spTree>
    <p:extLst>
      <p:ext uri="{BB962C8B-B14F-4D97-AF65-F5344CB8AC3E}">
        <p14:creationId xmlns:p14="http://schemas.microsoft.com/office/powerpoint/2010/main" val="1591366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The Red Tag Process: Welder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4" name="Group 3">
            <a:extLst>
              <a:ext uri="{FF2B5EF4-FFF2-40B4-BE49-F238E27FC236}">
                <a16:creationId xmlns:a16="http://schemas.microsoft.com/office/drawing/2014/main" id="{B63A53E7-7ABE-C345-23B4-1524A346D5D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737D347E-E892-77E1-DDF1-4F47558661A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B9B566AE-E763-084D-EC8E-7D8A0E315E5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242912F-2A96-F22A-F78E-2B22CE241B6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1D83649-6F86-F00F-5124-8317518F025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BC8D608-3846-C5C1-41A3-921C78703D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92F1DE8-9429-CB85-AC98-C1CEDD9495A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C9FC18A-F8B9-409D-87DC-B295F0DB0E5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092F694-0AA6-0523-4D74-B5224DA57E0E}"/>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pic>
        <p:nvPicPr>
          <p:cNvPr id="16" name="Picture 5" descr="TPM 2">
            <a:extLst>
              <a:ext uri="{FF2B5EF4-FFF2-40B4-BE49-F238E27FC236}">
                <a16:creationId xmlns:a16="http://schemas.microsoft.com/office/drawing/2014/main" id="{8E5616D8-629D-DA12-DBB1-57DC3C461B4F}"/>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5544"/>
          <a:stretch/>
        </p:blipFill>
        <p:spPr bwMode="auto">
          <a:xfrm>
            <a:off x="2598263" y="1866741"/>
            <a:ext cx="6995474" cy="447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267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The Red Tag Process: Material Transport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4" name="Group 3">
            <a:extLst>
              <a:ext uri="{FF2B5EF4-FFF2-40B4-BE49-F238E27FC236}">
                <a16:creationId xmlns:a16="http://schemas.microsoft.com/office/drawing/2014/main" id="{B63A53E7-7ABE-C345-23B4-1524A346D5D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737D347E-E892-77E1-DDF1-4F47558661A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B9B566AE-E763-084D-EC8E-7D8A0E315E5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242912F-2A96-F22A-F78E-2B22CE241B6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1D83649-6F86-F00F-5124-8317518F025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4BC8D608-3846-C5C1-41A3-921C78703DC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892F1DE8-9429-CB85-AC98-C1CEDD9495A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C9FC18A-F8B9-409D-87DC-B295F0DB0E5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092F694-0AA6-0523-4D74-B5224DA57E0E}"/>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pic>
        <p:nvPicPr>
          <p:cNvPr id="14" name="Picture 5" descr="TPM 3">
            <a:extLst>
              <a:ext uri="{FF2B5EF4-FFF2-40B4-BE49-F238E27FC236}">
                <a16:creationId xmlns:a16="http://schemas.microsoft.com/office/drawing/2014/main" id="{25E319FE-0941-0EB9-1C41-A6BC6BF20392}"/>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13053"/>
          <a:stretch/>
        </p:blipFill>
        <p:spPr bwMode="auto">
          <a:xfrm>
            <a:off x="2303360" y="1783429"/>
            <a:ext cx="7585278" cy="446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2065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Restore Deterioration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236637"/>
            <a:ext cx="9722342" cy="718145"/>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Begin the “Clean to Inspect” and “Inspect to Correct” process for the target equipment.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process outlined on the previous slides to begin the Restore Deterioration process for the target equipment. </a:t>
            </a:r>
          </a:p>
          <a:p>
            <a:pPr marL="0" marR="0" indent="0" algn="l" defTabSz="584200" rtl="0" fontAlgn="auto" latinLnBrk="0" hangingPunct="0">
              <a:lnSpc>
                <a:spcPct val="100000"/>
              </a:lnSpc>
              <a:spcBef>
                <a:spcPts val="0"/>
              </a:spcBef>
              <a:spcAft>
                <a:spcPts val="0"/>
              </a:spcAft>
              <a:buClrTx/>
              <a:buSzTx/>
              <a:buFontTx/>
              <a:buNone/>
              <a:tabLst/>
            </a:pP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many defects can you find on the target equipment?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59513"/>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Red Tag listing and status.</a:t>
            </a:r>
          </a:p>
        </p:txBody>
      </p:sp>
      <p:grpSp>
        <p:nvGrpSpPr>
          <p:cNvPr id="21" name="Group 20">
            <a:extLst>
              <a:ext uri="{FF2B5EF4-FFF2-40B4-BE49-F238E27FC236}">
                <a16:creationId xmlns:a16="http://schemas.microsoft.com/office/drawing/2014/main" id="{3D7DDF8D-26CB-DD36-A3D7-12CBA7E4C82E}"/>
              </a:ext>
            </a:extLst>
          </p:cNvPr>
          <p:cNvGrpSpPr/>
          <p:nvPr/>
        </p:nvGrpSpPr>
        <p:grpSpPr>
          <a:xfrm>
            <a:off x="838200" y="297639"/>
            <a:ext cx="5257799" cy="307138"/>
            <a:chOff x="838200" y="297639"/>
            <a:chExt cx="5257799" cy="307138"/>
          </a:xfrm>
        </p:grpSpPr>
        <p:grpSp>
          <p:nvGrpSpPr>
            <p:cNvPr id="22" name="Group 21">
              <a:extLst>
                <a:ext uri="{FF2B5EF4-FFF2-40B4-BE49-F238E27FC236}">
                  <a16:creationId xmlns:a16="http://schemas.microsoft.com/office/drawing/2014/main" id="{D9F7EA9A-3B81-6119-2857-F38A7710F086}"/>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A7256FC8-4170-580D-E551-05A8105128F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C9FDC3C2-77EE-99AC-4F1C-A147F8A4630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5FED3E36-BEAD-3224-C350-9EEEB757EF4A}"/>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84AAC0E2-06EA-DB62-5355-5E8A28AFBF1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1">
                  <a:extLst>
                    <a:ext uri="{FF2B5EF4-FFF2-40B4-BE49-F238E27FC236}">
                      <a16:creationId xmlns:a16="http://schemas.microsoft.com/office/drawing/2014/main" id="{1327E7A0-EFFD-2DE6-D48F-DEA33E93B8EF}"/>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94FCCCFF-A15C-CB58-09E4-39CC8F41D898}"/>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FDE21B8C-3E02-72FF-81F9-C80C1C9027BD}"/>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Restore Deterioration</a:t>
              </a:r>
            </a:p>
          </p:txBody>
        </p:sp>
      </p:grpSp>
    </p:spTree>
    <p:extLst>
      <p:ext uri="{BB962C8B-B14F-4D97-AF65-F5344CB8AC3E}">
        <p14:creationId xmlns:p14="http://schemas.microsoft.com/office/powerpoint/2010/main" val="5476664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4000" dirty="0">
                <a:latin typeface="Roboto Medium"/>
                <a:ea typeface="Roboto Medium"/>
                <a:cs typeface="Roboto Medium"/>
              </a:rPr>
              <a:t>Autonomous Maintenance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Autonomous Maintenance and its importance</a:t>
            </a:r>
          </a:p>
          <a:p>
            <a:r>
              <a:rPr lang="en-US" dirty="0"/>
              <a:t>Identify the steps to Autonomous Maintenance</a:t>
            </a:r>
          </a:p>
          <a:p>
            <a:r>
              <a:rPr lang="en-US" dirty="0"/>
              <a:t>Review examples of Autonomous Maintenance</a:t>
            </a:r>
          </a:p>
          <a:p>
            <a:r>
              <a:rPr lang="en-US" dirty="0"/>
              <a:t>Implement Autonomous Maintenance to target equipment</a:t>
            </a:r>
          </a:p>
          <a:p>
            <a:endParaRPr lang="en-US" dirty="0"/>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268A97C-C65B-04F0-A7F3-2819E57EFB4F}"/>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0CD6385B-4921-FE67-37E1-72E739A24328}"/>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Maintainability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Improvement &amp;</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sp>
          <p:nvSpPr>
            <p:cNvPr id="7" name="AutoShape 9">
              <a:extLst>
                <a:ext uri="{FF2B5EF4-FFF2-40B4-BE49-F238E27FC236}">
                  <a16:creationId xmlns:a16="http://schemas.microsoft.com/office/drawing/2014/main" id="{9A726636-BF76-0181-D682-C10D4DB4B078}"/>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Sustain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OEE</a:t>
              </a:r>
            </a:p>
          </p:txBody>
        </p:sp>
        <p:grpSp>
          <p:nvGrpSpPr>
            <p:cNvPr id="8" name="Group 7">
              <a:extLst>
                <a:ext uri="{FF2B5EF4-FFF2-40B4-BE49-F238E27FC236}">
                  <a16:creationId xmlns:a16="http://schemas.microsoft.com/office/drawing/2014/main" id="{016A7A82-FAC5-8034-B791-6247B2AFA753}"/>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2E8C84CC-B3AC-C21D-8B7B-FC6ED3B2D473}"/>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Autonomous</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Maintenance</a:t>
                </a:r>
              </a:p>
            </p:txBody>
          </p:sp>
          <p:sp>
            <p:nvSpPr>
              <p:cNvPr id="10" name="AutoShape 10">
                <a:extLst>
                  <a:ext uri="{FF2B5EF4-FFF2-40B4-BE49-F238E27FC236}">
                    <a16:creationId xmlns:a16="http://schemas.microsoft.com/office/drawing/2014/main" id="{255C6DD9-9CFC-003C-0964-3C906E950020}"/>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Restore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Deterioration </a:t>
                </a:r>
              </a:p>
            </p:txBody>
          </p:sp>
          <p:sp>
            <p:nvSpPr>
              <p:cNvPr id="11" name="AutoShape 11">
                <a:extLst>
                  <a:ext uri="{FF2B5EF4-FFF2-40B4-BE49-F238E27FC236}">
                    <a16:creationId xmlns:a16="http://schemas.microsoft.com/office/drawing/2014/main" id="{93D6F1FF-B8F6-95F3-877C-A3692A9F33C9}"/>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Loss Data Analysis and OEE</a:t>
                </a:r>
              </a:p>
            </p:txBody>
          </p:sp>
        </p:grpSp>
      </p:grpSp>
    </p:spTree>
    <p:extLst>
      <p:ext uri="{BB962C8B-B14F-4D97-AF65-F5344CB8AC3E}">
        <p14:creationId xmlns:p14="http://schemas.microsoft.com/office/powerpoint/2010/main" val="14836066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Autonomous Maintenance: What Is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Involving the operator in the upkeep of the equipment and enabling them to function as the eyes and ears of the mechanics on an ongoing basis</a:t>
            </a:r>
          </a:p>
          <a:p>
            <a:r>
              <a:rPr lang="en-US" dirty="0"/>
              <a:t>Improves everyone’s understanding of the equipment, operating conditions, and product quality drivers</a:t>
            </a:r>
          </a:p>
          <a:p>
            <a:pPr marL="0" indent="0">
              <a:buNone/>
            </a:pPr>
            <a:r>
              <a:rPr lang="en-US" dirty="0"/>
              <a:t>Production participates in TPM: </a:t>
            </a:r>
          </a:p>
          <a:p>
            <a:r>
              <a:rPr lang="en-US" dirty="0"/>
              <a:t>Cleaning, inspection, &amp; simple adjustments</a:t>
            </a:r>
          </a:p>
          <a:p>
            <a:r>
              <a:rPr lang="en-US" dirty="0"/>
              <a:t>Learn more about the equipment</a:t>
            </a:r>
          </a:p>
          <a:p>
            <a:r>
              <a:rPr lang="en-US" dirty="0"/>
              <a:t>Active partners in improving overall performance &amp; reliability of equipment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2694879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Autonomous Maintenance: </a:t>
            </a:r>
            <a:br>
              <a:rPr lang="en-US" dirty="0"/>
            </a:br>
            <a:r>
              <a:rPr lang="en-US" dirty="0"/>
              <a:t>Why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Those that are interacting with the machine full time are in the best position to monitor ongoing performance and equipment condition  </a:t>
            </a:r>
          </a:p>
          <a:p>
            <a:pPr lvl="1"/>
            <a:r>
              <a:rPr lang="en-US" dirty="0"/>
              <a:t>They are there all the time!  </a:t>
            </a:r>
          </a:p>
          <a:p>
            <a:r>
              <a:rPr lang="en-US" dirty="0"/>
              <a:t>Leverage the capabilities of the plant’s maintenance personnel</a:t>
            </a:r>
          </a:p>
          <a:p>
            <a:pPr lvl="1"/>
            <a:r>
              <a:rPr lang="en-US" dirty="0"/>
              <a:t>There are x number of mechanics in the plant while there are y operators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13287700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Autonomous Maintenance: How Is It Done?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The equipment history is reviewed to determine key uptime drivers</a:t>
            </a:r>
          </a:p>
          <a:p>
            <a:pPr lvl="1"/>
            <a:r>
              <a:rPr lang="en-US" dirty="0"/>
              <a:t>Investigate items that can be monitored daily to </a:t>
            </a:r>
            <a:br>
              <a:rPr lang="en-US" dirty="0"/>
            </a:br>
            <a:r>
              <a:rPr lang="en-US" dirty="0"/>
              <a:t>prevent recurrence </a:t>
            </a:r>
          </a:p>
          <a:p>
            <a:r>
              <a:rPr lang="en-US" dirty="0"/>
              <a:t>Each element is reviewed to make it simple and mistake-proof for the operator to maintain it to specification</a:t>
            </a:r>
          </a:p>
          <a:p>
            <a:r>
              <a:rPr lang="en-US" dirty="0"/>
              <a:t>Standard work is developed for the operator to work in the most efficient manner possible</a:t>
            </a:r>
          </a:p>
          <a:p>
            <a:r>
              <a:rPr lang="en-US" dirty="0"/>
              <a:t>The equipment is modified to support visual control and </a:t>
            </a:r>
            <a:br>
              <a:rPr lang="en-US" dirty="0"/>
            </a:br>
            <a:r>
              <a:rPr lang="en-US" dirty="0"/>
              <a:t>mistake proofing</a:t>
            </a:r>
          </a:p>
          <a:p>
            <a:r>
              <a:rPr lang="en-US" dirty="0"/>
              <a:t>Operators are trained in the Standard Work</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25885932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Autonomous Maintenance: How Is It Done?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Sight glasses are marked with upper and lower ranges</a:t>
            </a:r>
          </a:p>
          <a:p>
            <a:r>
              <a:rPr lang="en-US" dirty="0"/>
              <a:t>Digital readouts are marked with normal ranges</a:t>
            </a:r>
          </a:p>
          <a:p>
            <a:r>
              <a:rPr lang="en-US" dirty="0"/>
              <a:t>Filters are mounted externally to enable easy replacement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31750809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Visual Management of Equipment: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Mark the proper operating ranges on temperature, pressure, flow, and speed gauges </a:t>
            </a:r>
          </a:p>
          <a:p>
            <a:r>
              <a:rPr lang="en-US" dirty="0"/>
              <a:t>Label equipment components to take the mystery out of nomenclature and maintain accurate equipment repair history </a:t>
            </a:r>
          </a:p>
          <a:p>
            <a:r>
              <a:rPr lang="en-US" dirty="0"/>
              <a:t>Label lubrication and fluid fill points  </a:t>
            </a:r>
          </a:p>
          <a:p>
            <a:r>
              <a:rPr lang="en-US" dirty="0"/>
              <a:t>Mark directions of flow, feed, or rotation to prevent installation errors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4014551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Visual Management of Equipment: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Apply temperature-sensitive recording labels to critical machine components to provide a 24 hour/day visual monitoring of hydraulics, electrical components, bearings, motors, etc. </a:t>
            </a:r>
          </a:p>
          <a:p>
            <a:r>
              <a:rPr lang="en-US" dirty="0"/>
              <a:t>Use color-coded grease fitting caps to protect and designate lubrication types and frequency </a:t>
            </a:r>
          </a:p>
          <a:p>
            <a:r>
              <a:rPr lang="en-US" dirty="0"/>
              <a:t>Permanently attaching vibration analysis pickup discs to equipment and applying identification labels for reliable and repeatable vibration monitoring </a:t>
            </a:r>
          </a:p>
          <a:p>
            <a:r>
              <a:rPr lang="en-US" dirty="0"/>
              <a:t>Labeling replacement belt, filter, chain sizes and part numbers on the equipment to save time looking up replacement part numbers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41339301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Visual Management of Equipment: Summary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Labeling pneumatic lines and devices to aid troubleshooting </a:t>
            </a:r>
          </a:p>
          <a:p>
            <a:r>
              <a:rPr lang="en-US" dirty="0"/>
              <a:t>Labeling electrical and electronic wiring and devices to aid troubleshooting </a:t>
            </a:r>
          </a:p>
          <a:p>
            <a:r>
              <a:rPr lang="en-US" dirty="0"/>
              <a:t>Torque stripe nuts and bolts to visually indicate that proper tightness is being maintained </a:t>
            </a:r>
          </a:p>
          <a:p>
            <a:r>
              <a:rPr lang="en-US" dirty="0"/>
              <a:t>Label inspection points and gauge reading sequence numbers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25807438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Autonomous Maintenance: How Is It Done?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Operator Checklist</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a:xfrm>
            <a:off x="839788" y="2505075"/>
            <a:ext cx="6201092" cy="3684588"/>
          </a:xfrm>
        </p:spPr>
        <p:txBody>
          <a:bodyPr>
            <a:normAutofit fontScale="85000" lnSpcReduction="20000"/>
          </a:bodyPr>
          <a:lstStyle/>
          <a:p>
            <a:pPr>
              <a:buFont typeface="Wingdings" panose="05000000000000000000" pitchFamily="2" charset="2"/>
              <a:buChar char="q"/>
            </a:pPr>
            <a:r>
              <a:rPr lang="en-US" dirty="0"/>
              <a:t> What to clean:</a:t>
            </a:r>
          </a:p>
          <a:p>
            <a:pPr marL="0" indent="0">
              <a:buNone/>
            </a:pPr>
            <a:r>
              <a:rPr lang="en-US" dirty="0"/>
              <a:t>Dirt &amp; contaminants cause abrasion and wear</a:t>
            </a:r>
          </a:p>
          <a:p>
            <a:endParaRPr lang="en-US" dirty="0"/>
          </a:p>
          <a:p>
            <a:pPr>
              <a:buFont typeface="Wingdings" panose="05000000000000000000" pitchFamily="2" charset="2"/>
              <a:buChar char="q"/>
            </a:pPr>
            <a:r>
              <a:rPr lang="en-US" dirty="0"/>
              <a:t>    What to inspect:</a:t>
            </a:r>
          </a:p>
          <a:p>
            <a:pPr marL="0" indent="0">
              <a:buNone/>
            </a:pPr>
            <a:r>
              <a:rPr lang="en-US" dirty="0"/>
              <a:t>Find clues about condition and performance of the equipment</a:t>
            </a:r>
          </a:p>
          <a:p>
            <a:endParaRPr lang="en-US" dirty="0"/>
          </a:p>
          <a:p>
            <a:pPr>
              <a:buFont typeface="Wingdings" panose="05000000000000000000" pitchFamily="2" charset="2"/>
              <a:buChar char="q"/>
            </a:pPr>
            <a:r>
              <a:rPr lang="en-US" dirty="0"/>
              <a:t>    What to lube, tighten, grease &amp; replace</a:t>
            </a:r>
          </a:p>
          <a:p>
            <a:pPr marL="0" indent="0">
              <a:buNone/>
            </a:pPr>
            <a:r>
              <a:rPr lang="en-US" dirty="0">
                <a:solidFill>
                  <a:srgbClr val="FF0000"/>
                </a:solidFill>
              </a:rPr>
              <a:t>Need visual work instructions!</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a:xfrm>
            <a:off x="7223760" y="1681163"/>
            <a:ext cx="4131628" cy="823912"/>
          </a:xfrm>
        </p:spPr>
        <p:txBody>
          <a:bodyPr/>
          <a:lstStyle/>
          <a:p>
            <a:r>
              <a:rPr lang="en-US" dirty="0"/>
              <a:t>Look for: </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7223760" y="2505075"/>
            <a:ext cx="4131628" cy="3684588"/>
          </a:xfrm>
        </p:spPr>
        <p:txBody>
          <a:bodyPr>
            <a:normAutofit fontScale="85000" lnSpcReduction="20000"/>
          </a:bodyPr>
          <a:lstStyle/>
          <a:p>
            <a:r>
              <a:rPr lang="en-US" dirty="0"/>
              <a:t>Loose fasteners</a:t>
            </a:r>
          </a:p>
          <a:p>
            <a:r>
              <a:rPr lang="en-US" dirty="0"/>
              <a:t>Missing nuts, bolts, and screws</a:t>
            </a:r>
          </a:p>
          <a:p>
            <a:r>
              <a:rPr lang="en-US" dirty="0"/>
              <a:t>Worn components</a:t>
            </a:r>
          </a:p>
          <a:p>
            <a:r>
              <a:rPr lang="en-US" dirty="0"/>
              <a:t>Corrosion</a:t>
            </a:r>
          </a:p>
          <a:p>
            <a:r>
              <a:rPr lang="en-US" dirty="0"/>
              <a:t>Bow, warp</a:t>
            </a:r>
          </a:p>
          <a:p>
            <a:r>
              <a:rPr lang="en-US" dirty="0"/>
              <a:t>Misshapen parts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grpSp>
        <p:nvGrpSpPr>
          <p:cNvPr id="7" name="Group 6">
            <a:extLst>
              <a:ext uri="{FF2B5EF4-FFF2-40B4-BE49-F238E27FC236}">
                <a16:creationId xmlns:a16="http://schemas.microsoft.com/office/drawing/2014/main" id="{01AC5078-746A-F0D3-234C-564B8BA97DA9}"/>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E4E72184-FCCF-89EC-47FB-8B16B0CFE30D}"/>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A591D001-4667-F5EF-E5BA-E95AAC632D3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49DD0820-5A3E-9D0C-B988-393190EC67A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AF282063-8EA1-6C42-D232-129252B51B44}"/>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53321A4E-C55F-613C-EDC7-0B2BEDB9509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F72960D7-6B9B-A793-646A-B8F3D15223A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587FB3BD-980E-4419-9901-D77F9BA6965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D519EA4-184A-0444-BB7B-1F89F3F6396F}"/>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28360791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normAutofit fontScale="90000"/>
          </a:bodyPr>
          <a:lstStyle/>
          <a:p>
            <a:r>
              <a:rPr lang="en-US" dirty="0"/>
              <a:t>Autonomous Maintenance: How Is It Done?</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Time: Less than 3 Minutes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515100" y="2505075"/>
            <a:ext cx="4840288" cy="3684588"/>
          </a:xfrm>
        </p:spPr>
        <p:txBody>
          <a:bodyPr>
            <a:normAutofit/>
          </a:bodyPr>
          <a:lstStyle/>
          <a:p>
            <a:r>
              <a:rPr lang="en-US" dirty="0"/>
              <a:t>Standard work is developed to maximize efficiency</a:t>
            </a:r>
          </a:p>
          <a:p>
            <a:r>
              <a:rPr lang="en-US" dirty="0"/>
              <a:t>It’s made visual- and mistake-proof!</a:t>
            </a:r>
          </a:p>
          <a:p>
            <a:pPr lvl="1"/>
            <a:r>
              <a:rPr lang="en-US" dirty="0"/>
              <a:t>Number each item</a:t>
            </a:r>
          </a:p>
          <a:p>
            <a:pPr lvl="1"/>
            <a:r>
              <a:rPr lang="en-US" dirty="0"/>
              <a:t>Mark last item</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grpSp>
        <p:nvGrpSpPr>
          <p:cNvPr id="7" name="Group 6">
            <a:extLst>
              <a:ext uri="{FF2B5EF4-FFF2-40B4-BE49-F238E27FC236}">
                <a16:creationId xmlns:a16="http://schemas.microsoft.com/office/drawing/2014/main" id="{01AC5078-746A-F0D3-234C-564B8BA97DA9}"/>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E4E72184-FCCF-89EC-47FB-8B16B0CFE30D}"/>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A591D001-4667-F5EF-E5BA-E95AAC632D3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49DD0820-5A3E-9D0C-B988-393190EC67A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AF282063-8EA1-6C42-D232-129252B51B44}"/>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53321A4E-C55F-613C-EDC7-0B2BEDB95093}"/>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F72960D7-6B9B-A793-646A-B8F3D15223A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587FB3BD-980E-4419-9901-D77F9BA6965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D519EA4-184A-0444-BB7B-1F89F3F6396F}"/>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pic>
        <p:nvPicPr>
          <p:cNvPr id="19" name="Picture 16" descr="Autonomous Maintenance">
            <a:extLst>
              <a:ext uri="{FF2B5EF4-FFF2-40B4-BE49-F238E27FC236}">
                <a16:creationId xmlns:a16="http://schemas.microsoft.com/office/drawing/2014/main" id="{B0380203-E49A-2999-DED7-CFE25E0AA25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271017" y="2454791"/>
            <a:ext cx="4131628" cy="36408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14316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Autonomous Inspection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4" name="Group 3">
            <a:extLst>
              <a:ext uri="{FF2B5EF4-FFF2-40B4-BE49-F238E27FC236}">
                <a16:creationId xmlns:a16="http://schemas.microsoft.com/office/drawing/2014/main" id="{6E64618B-8AEB-C522-F898-E1B518AB6274}"/>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593CE30-BED8-2EDE-3E0F-5681C98129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B22E1EB-347A-337A-E51F-02FE932E659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3A7CCCC-7E54-2A5F-F785-01D21DEBB0E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10954BF4-5CBA-91C0-3376-499DE142677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8FFDFBC-DABC-C747-4B82-EF7643ED5F6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38543EC7-2A02-082A-44E4-73FF7514F48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1325468-CC5D-2340-AFEC-F111DA649D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DB6CBA0-1690-FC88-1F40-D1D767E6557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pic>
        <p:nvPicPr>
          <p:cNvPr id="14" name="Picture 4" descr="TPM 4">
            <a:extLst>
              <a:ext uri="{FF2B5EF4-FFF2-40B4-BE49-F238E27FC236}">
                <a16:creationId xmlns:a16="http://schemas.microsoft.com/office/drawing/2014/main" id="{E650CBBB-64D8-2EB3-C29E-2DBAC8C04D8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75253" y="1816201"/>
            <a:ext cx="7041495" cy="3961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5">
            <a:extLst>
              <a:ext uri="{FF2B5EF4-FFF2-40B4-BE49-F238E27FC236}">
                <a16:creationId xmlns:a16="http://schemas.microsoft.com/office/drawing/2014/main" id="{F6064077-C1A3-6FCB-4793-BAD7F0004ED7}"/>
              </a:ext>
            </a:extLst>
          </p:cNvPr>
          <p:cNvSpPr>
            <a:spLocks noChangeArrowheads="1"/>
          </p:cNvSpPr>
          <p:nvPr/>
        </p:nvSpPr>
        <p:spPr bwMode="auto">
          <a:xfrm>
            <a:off x="2966136" y="5855018"/>
            <a:ext cx="6259728"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Cut Holes in Cabinet Doors in Order to See (Inspect) Inside</a:t>
            </a:r>
          </a:p>
        </p:txBody>
      </p:sp>
    </p:spTree>
    <p:extLst>
      <p:ext uri="{BB962C8B-B14F-4D97-AF65-F5344CB8AC3E}">
        <p14:creationId xmlns:p14="http://schemas.microsoft.com/office/powerpoint/2010/main" val="15171359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Replaceable Filters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4" name="Group 3">
            <a:extLst>
              <a:ext uri="{FF2B5EF4-FFF2-40B4-BE49-F238E27FC236}">
                <a16:creationId xmlns:a16="http://schemas.microsoft.com/office/drawing/2014/main" id="{6E64618B-8AEB-C522-F898-E1B518AB6274}"/>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593CE30-BED8-2EDE-3E0F-5681C98129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B22E1EB-347A-337A-E51F-02FE932E659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F3A7CCCC-7E54-2A5F-F785-01D21DEBB0E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10954BF4-5CBA-91C0-3376-499DE142677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8FFDFBC-DABC-C747-4B82-EF7643ED5F66}"/>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38543EC7-2A02-082A-44E4-73FF7514F48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1325468-CC5D-2340-AFEC-F111DA649D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7DB6CBA0-1690-FC88-1F40-D1D767E6557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pic>
        <p:nvPicPr>
          <p:cNvPr id="16" name="Picture 5" descr="TPM 5">
            <a:extLst>
              <a:ext uri="{FF2B5EF4-FFF2-40B4-BE49-F238E27FC236}">
                <a16:creationId xmlns:a16="http://schemas.microsoft.com/office/drawing/2014/main" id="{FB7F3AF4-2134-5D19-08D3-D0D59EAB9FA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21944" y="1888716"/>
            <a:ext cx="7948112" cy="424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01064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Autonomous Maintenance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Apply Autonomous Maintenance to the target equipment.</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process outlined on the previous slides, identify how many failure modes you can control through autonomous maintenance. </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long does it take to perform?</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standard work for the operators.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instructor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13368"/>
            <a:ext cx="4681292" cy="157992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Autonomous maintenance opportunities identified,  implemented, and standard work developed.</a:t>
            </a:r>
          </a:p>
        </p:txBody>
      </p:sp>
      <p:grpSp>
        <p:nvGrpSpPr>
          <p:cNvPr id="3" name="Group 2">
            <a:extLst>
              <a:ext uri="{FF2B5EF4-FFF2-40B4-BE49-F238E27FC236}">
                <a16:creationId xmlns:a16="http://schemas.microsoft.com/office/drawing/2014/main" id="{1C38F86A-C942-4B35-9956-CB5D5CFD1D2D}"/>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E26C8FD3-23F2-A238-E69F-295179B95630}"/>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203AB414-4B31-4F2D-86EE-3412CC8E7C9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BC7CEA6A-DE35-65DC-ADB9-2C63E0DC6DC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40028A21-62CC-C186-B6DD-7C9771AEAC68}"/>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206AB02A-51D3-0033-57DB-D87D721F378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3E1C09D2-D9C0-1040-E09E-E55010DAD103}"/>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31298E08-0B94-0190-B7D7-5ED4A0D61E3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CA075B1A-7731-A863-C949-FD85CA4755D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Autonomous Maintenance</a:t>
              </a:r>
            </a:p>
          </p:txBody>
        </p:sp>
      </p:grpSp>
    </p:spTree>
    <p:extLst>
      <p:ext uri="{BB962C8B-B14F-4D97-AF65-F5344CB8AC3E}">
        <p14:creationId xmlns:p14="http://schemas.microsoft.com/office/powerpoint/2010/main" val="37060877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4000" dirty="0">
                <a:latin typeface="Roboto Medium"/>
                <a:ea typeface="Roboto Medium"/>
                <a:cs typeface="Roboto Medium"/>
              </a:rPr>
              <a:t>Sustain and Improve OEE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the sustain and improve OEE phase and its importance</a:t>
            </a:r>
          </a:p>
          <a:p>
            <a:r>
              <a:rPr lang="en-US" dirty="0"/>
              <a:t>Identify how to sustain and improve OEE</a:t>
            </a:r>
          </a:p>
          <a:p>
            <a:r>
              <a:rPr lang="en-US" dirty="0"/>
              <a:t>Review root cause analysis and 5 Why procedure</a:t>
            </a:r>
          </a:p>
          <a:p>
            <a:r>
              <a:rPr lang="en-US" dirty="0"/>
              <a:t>Identify how to take action when root causes are uncovered</a:t>
            </a:r>
          </a:p>
          <a:p>
            <a:r>
              <a:rPr lang="en-US" dirty="0"/>
              <a:t>Calculate equipment uptime</a:t>
            </a:r>
          </a:p>
          <a:p>
            <a:r>
              <a:rPr lang="en-US" dirty="0"/>
              <a:t>Create TPM visual board</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268A97C-C65B-04F0-A7F3-2819E57EFB4F}"/>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0CD6385B-4921-FE67-37E1-72E739A24328}"/>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Maintainability</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Improvement &amp;</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sp>
          <p:nvSpPr>
            <p:cNvPr id="7" name="AutoShape 9">
              <a:extLst>
                <a:ext uri="{FF2B5EF4-FFF2-40B4-BE49-F238E27FC236}">
                  <a16:creationId xmlns:a16="http://schemas.microsoft.com/office/drawing/2014/main" id="{9A726636-BF76-0181-D682-C10D4DB4B078}"/>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Sustain and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Improve</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OEE</a:t>
              </a:r>
            </a:p>
          </p:txBody>
        </p:sp>
        <p:grpSp>
          <p:nvGrpSpPr>
            <p:cNvPr id="8" name="Group 7">
              <a:extLst>
                <a:ext uri="{FF2B5EF4-FFF2-40B4-BE49-F238E27FC236}">
                  <a16:creationId xmlns:a16="http://schemas.microsoft.com/office/drawing/2014/main" id="{016A7A82-FAC5-8034-B791-6247B2AFA753}"/>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2E8C84CC-B3AC-C21D-8B7B-FC6ED3B2D47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Autonomous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Maintenance</a:t>
                </a:r>
              </a:p>
            </p:txBody>
          </p:sp>
          <p:sp>
            <p:nvSpPr>
              <p:cNvPr id="10" name="AutoShape 10">
                <a:extLst>
                  <a:ext uri="{FF2B5EF4-FFF2-40B4-BE49-F238E27FC236}">
                    <a16:creationId xmlns:a16="http://schemas.microsoft.com/office/drawing/2014/main" id="{255C6DD9-9CFC-003C-0964-3C906E950020}"/>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Restore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Deterioration </a:t>
                </a:r>
              </a:p>
            </p:txBody>
          </p:sp>
          <p:sp>
            <p:nvSpPr>
              <p:cNvPr id="11" name="AutoShape 11">
                <a:extLst>
                  <a:ext uri="{FF2B5EF4-FFF2-40B4-BE49-F238E27FC236}">
                    <a16:creationId xmlns:a16="http://schemas.microsoft.com/office/drawing/2014/main" id="{93D6F1FF-B8F6-95F3-877C-A3692A9F33C9}"/>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Loss Data Analysis and OEE</a:t>
                </a:r>
              </a:p>
            </p:txBody>
          </p:sp>
        </p:grpSp>
      </p:grpSp>
    </p:spTree>
    <p:extLst>
      <p:ext uri="{BB962C8B-B14F-4D97-AF65-F5344CB8AC3E}">
        <p14:creationId xmlns:p14="http://schemas.microsoft.com/office/powerpoint/2010/main" val="3676206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Sustain and Improve OEE: What Is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Adhering to a rigorous discipline greatly reducing the probability of equipment going down in an unscheduled manner, running at reduced production rate, or producing defective products </a:t>
            </a:r>
          </a:p>
          <a:p>
            <a:r>
              <a:rPr lang="en-US" dirty="0"/>
              <a:t>Systemically and continuously improving the effectivity </a:t>
            </a:r>
            <a:br>
              <a:rPr lang="en-US" dirty="0"/>
            </a:br>
            <a:r>
              <a:rPr lang="en-US" dirty="0"/>
              <a:t>of the equipment  </a:t>
            </a:r>
          </a:p>
          <a:p>
            <a:r>
              <a:rPr lang="en-US" dirty="0"/>
              <a:t>Every breakdown is an opportunity to improve!!!!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2874171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Sustain and Improve OEE: Why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 process that is not improved tends to deteriorate over time </a:t>
            </a:r>
          </a:p>
          <a:p>
            <a:r>
              <a:rPr lang="en-US" dirty="0"/>
              <a:t>By continuously working to improve equipment uptime the plant efficiency is improved and protected from backsliding</a:t>
            </a:r>
          </a:p>
          <a:p>
            <a:r>
              <a:rPr lang="en-US" dirty="0"/>
              <a:t>Continuously reducing waste = improved customer service and increased profits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5977928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Sustain and Improve OEE: How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Each event is an opportunity to improve the business</a:t>
            </a:r>
          </a:p>
          <a:p>
            <a:pPr lvl="1"/>
            <a:r>
              <a:rPr lang="en-US" dirty="0"/>
              <a:t>Has the maintenance program been formally modified?</a:t>
            </a:r>
          </a:p>
          <a:p>
            <a:pPr lvl="1"/>
            <a:r>
              <a:rPr lang="en-US" dirty="0"/>
              <a:t>Has the Operating procedure (Standard Work) been modified?</a:t>
            </a:r>
          </a:p>
          <a:p>
            <a:pPr lvl="1"/>
            <a:r>
              <a:rPr lang="en-US" dirty="0"/>
              <a:t>Has the machine design been modified?</a:t>
            </a:r>
          </a:p>
          <a:p>
            <a:pPr lvl="1"/>
            <a:r>
              <a:rPr lang="en-US" dirty="0"/>
              <a:t>If not then you are doomed to repeat history!</a:t>
            </a:r>
          </a:p>
          <a:p>
            <a:r>
              <a:rPr lang="en-US" dirty="0"/>
              <a:t>Corrective Maintenance</a:t>
            </a:r>
          </a:p>
          <a:p>
            <a:r>
              <a:rPr lang="en-US" dirty="0"/>
              <a:t>Early detection </a:t>
            </a:r>
          </a:p>
          <a:p>
            <a:pPr lvl="1"/>
            <a:r>
              <a:rPr lang="en-US" dirty="0"/>
              <a:t>Autonomous maintenance</a:t>
            </a:r>
          </a:p>
          <a:p>
            <a:r>
              <a:rPr lang="en-US" dirty="0"/>
              <a:t>Preventive Maintenance</a:t>
            </a:r>
          </a:p>
          <a:p>
            <a:r>
              <a:rPr lang="en-US" dirty="0"/>
              <a:t>Predictive Maintenance</a:t>
            </a:r>
          </a:p>
          <a:p>
            <a:r>
              <a:rPr lang="en-US" dirty="0"/>
              <a:t>Maintenance Avoidance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19616849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2800" dirty="0"/>
              <a:t>Sustain and Continuously Improve OEE: How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u="sng" dirty="0"/>
              <a:t>Root cause analysis of every failure!</a:t>
            </a:r>
          </a:p>
          <a:p>
            <a:pPr lvl="1"/>
            <a:r>
              <a:rPr lang="en-US" dirty="0"/>
              <a:t>Understand what the fundamental equipment or process deficiency was and correct it on a permanent basis! </a:t>
            </a:r>
          </a:p>
          <a:p>
            <a:r>
              <a:rPr lang="en-US" dirty="0"/>
              <a:t>The 5 Whys</a:t>
            </a:r>
          </a:p>
          <a:p>
            <a:pPr lvl="1"/>
            <a:r>
              <a:rPr lang="en-US" dirty="0"/>
              <a:t>Get to the root cause, not the symptom</a:t>
            </a:r>
          </a:p>
          <a:p>
            <a:pPr lvl="1"/>
            <a:r>
              <a:rPr lang="en-US" dirty="0"/>
              <a:t>Ask why to take corrective action</a:t>
            </a:r>
          </a:p>
          <a:p>
            <a:pPr lvl="1"/>
            <a:r>
              <a:rPr lang="en-US" dirty="0"/>
              <a:t>Asking why five times generally will get you to root cause</a:t>
            </a:r>
          </a:p>
          <a:p>
            <a:r>
              <a:rPr lang="en-US" dirty="0"/>
              <a:t>The objective is to prevent that particular failure mode from occurring again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21013062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Five Whys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sz="2000" dirty="0"/>
              <a:t>Problem Description: __________________________________________________________________________________________</a:t>
            </a:r>
          </a:p>
          <a:p>
            <a:pPr marL="0" indent="0">
              <a:buNone/>
            </a:pPr>
            <a:r>
              <a:rPr lang="en-US" sz="2000" dirty="0"/>
              <a:t>Why did the failure occur?:</a:t>
            </a:r>
          </a:p>
          <a:p>
            <a:pPr marL="0" indent="0">
              <a:buNone/>
            </a:pPr>
            <a:r>
              <a:rPr lang="en-US" sz="2000" dirty="0"/>
              <a:t>Why?:</a:t>
            </a:r>
          </a:p>
          <a:p>
            <a:pPr marL="0" indent="0">
              <a:buNone/>
            </a:pPr>
            <a:r>
              <a:rPr lang="en-US" sz="2000" dirty="0"/>
              <a:t>Why?:</a:t>
            </a:r>
          </a:p>
          <a:p>
            <a:pPr marL="0" indent="0">
              <a:buNone/>
            </a:pPr>
            <a:r>
              <a:rPr lang="en-US" sz="2000" dirty="0"/>
              <a:t>Why?:</a:t>
            </a:r>
          </a:p>
          <a:p>
            <a:pPr marL="0" indent="0">
              <a:buNone/>
            </a:pPr>
            <a:r>
              <a:rPr lang="en-US" sz="2000" dirty="0"/>
              <a:t>Why?:</a:t>
            </a:r>
          </a:p>
          <a:p>
            <a:pPr marL="0" indent="0">
              <a:buNone/>
            </a:pPr>
            <a:r>
              <a:rPr lang="en-US" sz="2000" dirty="0"/>
              <a:t>Root Cause:</a:t>
            </a:r>
          </a:p>
          <a:p>
            <a:pPr marL="0" indent="0">
              <a:buNone/>
            </a:pPr>
            <a:r>
              <a:rPr lang="en-US" sz="2000" dirty="0"/>
              <a:t>Corrective Action:</a:t>
            </a:r>
          </a:p>
          <a:p>
            <a:pPr marL="0" indent="0">
              <a:buNone/>
            </a:pPr>
            <a:r>
              <a:rPr lang="en-US" sz="2000" dirty="0"/>
              <a:t>Is there a repetitive history of this failure? Yes / No</a:t>
            </a:r>
          </a:p>
          <a:p>
            <a:pPr marL="0" indent="0">
              <a:buNone/>
            </a:pPr>
            <a:r>
              <a:rPr lang="en-US" sz="2000" dirty="0"/>
              <a:t>If yes then Plant Manager must sign off __________________________</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28949243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Five Whys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b="1" dirty="0"/>
              <a:t>Problem Description: </a:t>
            </a:r>
            <a:r>
              <a:rPr lang="en-US" dirty="0"/>
              <a:t>Worn drive chain on table positioner</a:t>
            </a:r>
          </a:p>
          <a:p>
            <a:r>
              <a:rPr lang="en-US" b="1" dirty="0"/>
              <a:t>Why did the failure occur?: </a:t>
            </a:r>
            <a:r>
              <a:rPr lang="en-US" dirty="0"/>
              <a:t>Sprocket was worn</a:t>
            </a:r>
          </a:p>
          <a:p>
            <a:r>
              <a:rPr lang="en-US" b="1" dirty="0"/>
              <a:t>Why?: </a:t>
            </a:r>
            <a:r>
              <a:rPr lang="en-US" dirty="0"/>
              <a:t>Pillow block bearings holding drive shaft were worn and running out</a:t>
            </a:r>
          </a:p>
          <a:p>
            <a:r>
              <a:rPr lang="en-US" b="1" dirty="0"/>
              <a:t>Why?: </a:t>
            </a:r>
            <a:r>
              <a:rPr lang="en-US" dirty="0"/>
              <a:t>Not adequately greased</a:t>
            </a:r>
          </a:p>
          <a:p>
            <a:r>
              <a:rPr lang="en-US" b="1" dirty="0"/>
              <a:t>Why?: </a:t>
            </a:r>
            <a:r>
              <a:rPr lang="en-US" dirty="0"/>
              <a:t>Remote grease line broken</a:t>
            </a:r>
          </a:p>
          <a:p>
            <a:r>
              <a:rPr lang="en-US" b="1" dirty="0"/>
              <a:t>Why?: </a:t>
            </a:r>
            <a:r>
              <a:rPr lang="en-US" dirty="0"/>
              <a:t>Banged into line during cleaning process</a:t>
            </a:r>
          </a:p>
          <a:p>
            <a:r>
              <a:rPr lang="en-US" b="1" dirty="0"/>
              <a:t>Root Cause: </a:t>
            </a:r>
            <a:r>
              <a:rPr lang="en-US" dirty="0"/>
              <a:t>Grease line in bad position and too fragile</a:t>
            </a:r>
          </a:p>
          <a:p>
            <a:r>
              <a:rPr lang="en-US" b="1" dirty="0"/>
              <a:t>Corrective Action: </a:t>
            </a:r>
            <a:r>
              <a:rPr lang="en-US" dirty="0"/>
              <a:t>Re-routed line and added protective armor</a:t>
            </a:r>
          </a:p>
          <a:p>
            <a:r>
              <a:rPr lang="en-US" b="1" dirty="0"/>
              <a:t>Is there a repetitive history of this failure? </a:t>
            </a:r>
            <a:r>
              <a:rPr lang="en-US" dirty="0"/>
              <a:t>Yes / No</a:t>
            </a:r>
          </a:p>
          <a:p>
            <a:r>
              <a:rPr lang="en-US" dirty="0"/>
              <a:t>If yes then Plant Manager must sign off__________________________</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
        <p:nvSpPr>
          <p:cNvPr id="14" name="Oval 5">
            <a:extLst>
              <a:ext uri="{FF2B5EF4-FFF2-40B4-BE49-F238E27FC236}">
                <a16:creationId xmlns:a16="http://schemas.microsoft.com/office/drawing/2014/main" id="{D7387772-D522-7061-B20F-F4078EDF330C}"/>
              </a:ext>
            </a:extLst>
          </p:cNvPr>
          <p:cNvSpPr>
            <a:spLocks noChangeArrowheads="1"/>
          </p:cNvSpPr>
          <p:nvPr/>
        </p:nvSpPr>
        <p:spPr bwMode="auto">
          <a:xfrm>
            <a:off x="8110220" y="5255894"/>
            <a:ext cx="690880" cy="424815"/>
          </a:xfrm>
          <a:prstGeom prst="ellipse">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Tree>
    <p:extLst>
      <p:ext uri="{BB962C8B-B14F-4D97-AF65-F5344CB8AC3E}">
        <p14:creationId xmlns:p14="http://schemas.microsoft.com/office/powerpoint/2010/main" val="329143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70" decel="100000"/>
                                        <p:tgtEl>
                                          <p:spTgt spid="14"/>
                                        </p:tgtEl>
                                      </p:cBhvr>
                                    </p:animEffect>
                                    <p:animScale>
                                      <p:cBhvr>
                                        <p:cTn id="8" dur="770" decel="100000"/>
                                        <p:tgtEl>
                                          <p:spTgt spid="14"/>
                                        </p:tgtEl>
                                      </p:cBhvr>
                                      <p:from x="10000" y="10000"/>
                                      <p:to x="200000" y="450000"/>
                                    </p:animScale>
                                    <p:animScale>
                                      <p:cBhvr>
                                        <p:cTn id="9" dur="1230" accel="100000" fill="hold">
                                          <p:stCondLst>
                                            <p:cond delay="770"/>
                                          </p:stCondLst>
                                        </p:cTn>
                                        <p:tgtEl>
                                          <p:spTgt spid="14"/>
                                        </p:tgtEl>
                                      </p:cBhvr>
                                      <p:from x="200000" y="450000"/>
                                      <p:to x="100000" y="100000"/>
                                    </p:animScale>
                                    <p:set>
                                      <p:cBhvr>
                                        <p:cTn id="10" dur="770" fill="hold"/>
                                        <p:tgtEl>
                                          <p:spTgt spid="14"/>
                                        </p:tgtEl>
                                        <p:attrNameLst>
                                          <p:attrName>ppt_x</p:attrName>
                                        </p:attrNameLst>
                                      </p:cBhvr>
                                      <p:to>
                                        <p:strVal val="(0.5)"/>
                                      </p:to>
                                    </p:set>
                                    <p:anim from="(0.5)" to="(#ppt_x)" calcmode="lin" valueType="num">
                                      <p:cBhvr>
                                        <p:cTn id="11" dur="1230" accel="100000" fill="hold">
                                          <p:stCondLst>
                                            <p:cond delay="770"/>
                                          </p:stCondLst>
                                        </p:cTn>
                                        <p:tgtEl>
                                          <p:spTgt spid="14"/>
                                        </p:tgtEl>
                                        <p:attrNameLst>
                                          <p:attrName>ppt_x</p:attrName>
                                        </p:attrNameLst>
                                      </p:cBhvr>
                                    </p:anim>
                                    <p:set>
                                      <p:cBhvr>
                                        <p:cTn id="12" dur="770" fill="hold"/>
                                        <p:tgtEl>
                                          <p:spTgt spid="14"/>
                                        </p:tgtEl>
                                        <p:attrNameLst>
                                          <p:attrName>ppt_y</p:attrName>
                                        </p:attrNameLst>
                                      </p:cBhvr>
                                      <p:to>
                                        <p:strVal val="(#ppt_y+0.4)"/>
                                      </p:to>
                                    </p:set>
                                    <p:anim from="(#ppt_y+0.4)" to="(#ppt_y)" calcmode="lin" valueType="num">
                                      <p:cBhvr>
                                        <p:cTn id="13" dur="1230" accel="100000" fill="hold">
                                          <p:stCondLst>
                                            <p:cond delay="770"/>
                                          </p:stCondLst>
                                        </p:cTn>
                                        <p:tgtEl>
                                          <p:spTgt spid="1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The Fishbone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pic>
        <p:nvPicPr>
          <p:cNvPr id="15" name="Object 5">
            <a:extLst>
              <a:ext uri="{FF2B5EF4-FFF2-40B4-BE49-F238E27FC236}">
                <a16:creationId xmlns:a16="http://schemas.microsoft.com/office/drawing/2014/main" id="{1FC63AFD-33B4-B4B4-A6B5-DB27EE626366}"/>
              </a:ext>
            </a:extLst>
          </p:cNvPr>
          <p:cNvPicPr>
            <a:picLocks noGrp="1" noChangeAspect="1" noChangeArrowheads="1"/>
          </p:cNvPicPr>
          <p:nvPr>
            <p:ph idx="1"/>
          </p:nvPr>
        </p:nvPicPr>
        <p:blipFill>
          <a:blip r:embed="rId3"/>
          <a:srcRect/>
          <a:stretch>
            <a:fillRect/>
          </a:stretch>
        </p:blipFill>
        <p:spPr>
          <a:xfrm>
            <a:off x="2834640" y="1825625"/>
            <a:ext cx="6217919" cy="4351338"/>
          </a:xfrm>
        </p:spPr>
      </p:pic>
    </p:spTree>
    <p:extLst>
      <p:ext uri="{BB962C8B-B14F-4D97-AF65-F5344CB8AC3E}">
        <p14:creationId xmlns:p14="http://schemas.microsoft.com/office/powerpoint/2010/main" val="24446523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From Root Causes….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1. Identify Preventative Activities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chor="ctr"/>
          <a:lstStyle/>
          <a:p>
            <a:r>
              <a:rPr lang="en-US" dirty="0"/>
              <a:t>What would lessen the deterioration or prevent breakdowns?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chor="ctr"/>
          <a:lstStyle/>
          <a:p>
            <a:r>
              <a:rPr lang="en-US" dirty="0"/>
              <a:t>How can we modify the maintenance procedures? </a:t>
            </a:r>
          </a:p>
          <a:p>
            <a:r>
              <a:rPr lang="en-US" dirty="0"/>
              <a:t>How can we modify the operating procedures?</a:t>
            </a:r>
          </a:p>
          <a:p>
            <a:r>
              <a:rPr lang="en-US" dirty="0"/>
              <a:t>How can we modify the equipment design?</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75</a:t>
            </a:fld>
            <a:endParaRPr lang="en-US"/>
          </a:p>
        </p:txBody>
      </p:sp>
      <p:grpSp>
        <p:nvGrpSpPr>
          <p:cNvPr id="7" name="Group 6">
            <a:extLst>
              <a:ext uri="{FF2B5EF4-FFF2-40B4-BE49-F238E27FC236}">
                <a16:creationId xmlns:a16="http://schemas.microsoft.com/office/drawing/2014/main" id="{456A91C1-FE6D-41C8-DCC2-240BE62EDBC1}"/>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FE003574-E8E7-4F5F-ED82-9550D5661A6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21BEC84B-1659-150F-0D82-ACCF58D88E0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8491FBEE-E64E-97F6-08D1-881E86745503}"/>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3" name="Group 12">
                <a:extLst>
                  <a:ext uri="{FF2B5EF4-FFF2-40B4-BE49-F238E27FC236}">
                    <a16:creationId xmlns:a16="http://schemas.microsoft.com/office/drawing/2014/main" id="{E2D42360-D3CC-0A3E-31C9-B8946B22319A}"/>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A9C81BF9-AB3D-F6AF-0E6B-6B768E13C9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73CF7685-5059-4686-844E-650954D43D1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21C7F0EE-0FD8-F5C8-FAC8-E8357353A5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5EC0F35-72F1-2960-4630-A170B309FD8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42556109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From Root Causes….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2. Make Improvements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chor="ctr">
            <a:normAutofit lnSpcReduction="10000"/>
          </a:bodyPr>
          <a:lstStyle/>
          <a:p>
            <a:r>
              <a:rPr lang="en-US" dirty="0"/>
              <a:t>Lessen the deterioration</a:t>
            </a:r>
          </a:p>
          <a:p>
            <a:r>
              <a:rPr lang="en-US" dirty="0"/>
              <a:t>Prevent breakdowns</a:t>
            </a:r>
          </a:p>
          <a:p>
            <a:r>
              <a:rPr lang="en-US" dirty="0"/>
              <a:t>Improve Performance</a:t>
            </a:r>
          </a:p>
          <a:p>
            <a:endParaRPr lang="en-US" dirty="0"/>
          </a:p>
          <a:p>
            <a:r>
              <a:rPr lang="en-US" dirty="0"/>
              <a:t>Can we change procedures so we can meet Takt Time?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chor="ctr">
            <a:normAutofit lnSpcReduction="10000"/>
          </a:bodyPr>
          <a:lstStyle/>
          <a:p>
            <a:r>
              <a:rPr lang="en-US" dirty="0"/>
              <a:t>Modify the documented standard work and train operators</a:t>
            </a:r>
          </a:p>
          <a:p>
            <a:r>
              <a:rPr lang="en-US" dirty="0"/>
              <a:t>Modify the maintenance procedure and train mechanics</a:t>
            </a:r>
          </a:p>
          <a:p>
            <a:r>
              <a:rPr lang="en-US" dirty="0"/>
              <a:t>Modify the equipment design and alter the equipment</a:t>
            </a:r>
          </a:p>
          <a:p>
            <a:r>
              <a:rPr lang="en-US" dirty="0"/>
              <a:t>Sustain the Gain!</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grpSp>
        <p:nvGrpSpPr>
          <p:cNvPr id="7" name="Group 6">
            <a:extLst>
              <a:ext uri="{FF2B5EF4-FFF2-40B4-BE49-F238E27FC236}">
                <a16:creationId xmlns:a16="http://schemas.microsoft.com/office/drawing/2014/main" id="{456A91C1-FE6D-41C8-DCC2-240BE62EDBC1}"/>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FE003574-E8E7-4F5F-ED82-9550D5661A6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21BEC84B-1659-150F-0D82-ACCF58D88E0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8491FBEE-E64E-97F6-08D1-881E86745503}"/>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3" name="Group 12">
                <a:extLst>
                  <a:ext uri="{FF2B5EF4-FFF2-40B4-BE49-F238E27FC236}">
                    <a16:creationId xmlns:a16="http://schemas.microsoft.com/office/drawing/2014/main" id="{E2D42360-D3CC-0A3E-31C9-B8946B22319A}"/>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A9C81BF9-AB3D-F6AF-0E6B-6B768E13C9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73CF7685-5059-4686-844E-650954D43D1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21C7F0EE-0FD8-F5C8-FAC8-E8357353A5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5EC0F35-72F1-2960-4630-A170B309FD8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33821262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From Root Causes….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normAutofit fontScale="85000" lnSpcReduction="10000"/>
          </a:bodyPr>
          <a:lstStyle/>
          <a:p>
            <a:r>
              <a:rPr lang="en-US" dirty="0"/>
              <a:t>3. Identify key process parameters that will </a:t>
            </a:r>
          </a:p>
          <a:p>
            <a:r>
              <a:rPr lang="en-US" dirty="0"/>
              <a:t>indicate deterioration</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chor="ctr">
            <a:normAutofit fontScale="92500" lnSpcReduction="20000"/>
          </a:bodyPr>
          <a:lstStyle/>
          <a:p>
            <a:r>
              <a:rPr lang="en-US" dirty="0"/>
              <a:t>What would warn that this specific breakdown is near?</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chor="ctr">
            <a:normAutofit fontScale="92500" lnSpcReduction="20000"/>
          </a:bodyPr>
          <a:lstStyle/>
          <a:p>
            <a:r>
              <a:rPr lang="en-US" dirty="0"/>
              <a:t>Vibration</a:t>
            </a:r>
          </a:p>
          <a:p>
            <a:r>
              <a:rPr lang="en-US" dirty="0"/>
              <a:t>Noise</a:t>
            </a:r>
          </a:p>
          <a:p>
            <a:r>
              <a:rPr lang="en-US" dirty="0"/>
              <a:t>Temperature</a:t>
            </a:r>
          </a:p>
          <a:p>
            <a:r>
              <a:rPr lang="en-US" dirty="0"/>
              <a:t>Lubrication</a:t>
            </a:r>
          </a:p>
          <a:p>
            <a:r>
              <a:rPr lang="en-US" dirty="0"/>
              <a:t>Changes in fluid levels</a:t>
            </a:r>
          </a:p>
          <a:p>
            <a:r>
              <a:rPr lang="en-US" dirty="0"/>
              <a:t>Find ways to measure and monitor (sensors)</a:t>
            </a:r>
          </a:p>
          <a:p>
            <a:r>
              <a:rPr lang="en-US" dirty="0"/>
              <a:t>Establish plan to address deterioration when it occurs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77</a:t>
            </a:fld>
            <a:endParaRPr lang="en-US"/>
          </a:p>
        </p:txBody>
      </p:sp>
      <p:grpSp>
        <p:nvGrpSpPr>
          <p:cNvPr id="7" name="Group 6">
            <a:extLst>
              <a:ext uri="{FF2B5EF4-FFF2-40B4-BE49-F238E27FC236}">
                <a16:creationId xmlns:a16="http://schemas.microsoft.com/office/drawing/2014/main" id="{456A91C1-FE6D-41C8-DCC2-240BE62EDBC1}"/>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FE003574-E8E7-4F5F-ED82-9550D5661A6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21BEC84B-1659-150F-0D82-ACCF58D88E0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8491FBEE-E64E-97F6-08D1-881E86745503}"/>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3" name="Group 12">
                <a:extLst>
                  <a:ext uri="{FF2B5EF4-FFF2-40B4-BE49-F238E27FC236}">
                    <a16:creationId xmlns:a16="http://schemas.microsoft.com/office/drawing/2014/main" id="{E2D42360-D3CC-0A3E-31C9-B8946B22319A}"/>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A9C81BF9-AB3D-F6AF-0E6B-6B768E13C9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73CF7685-5059-4686-844E-650954D43D1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21C7F0EE-0FD8-F5C8-FAC8-E8357353A5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5EC0F35-72F1-2960-4630-A170B309FD8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1265964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Measurement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Visual indication of the effectivity of the improvement process</a:t>
            </a:r>
          </a:p>
          <a:p>
            <a:r>
              <a:rPr lang="en-US" sz="3200" dirty="0"/>
              <a:t>Show both current and trend data</a:t>
            </a:r>
          </a:p>
          <a:p>
            <a:r>
              <a:rPr lang="en-US" sz="3200" dirty="0"/>
              <a:t>Simple, Visual, Relevant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78</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29901265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What Are Our Losses?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79</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pic>
        <p:nvPicPr>
          <p:cNvPr id="14" name="Object 5">
            <a:extLst>
              <a:ext uri="{FF2B5EF4-FFF2-40B4-BE49-F238E27FC236}">
                <a16:creationId xmlns:a16="http://schemas.microsoft.com/office/drawing/2014/main" id="{08097F50-0487-5B1F-60F9-09AD3DB5DB62}"/>
              </a:ext>
            </a:extLst>
          </p:cNvPr>
          <p:cNvPicPr>
            <a:picLocks noGrp="1" noChangeAspect="1" noChangeArrowheads="1"/>
          </p:cNvPicPr>
          <p:nvPr>
            <p:ph idx="1"/>
          </p:nvPr>
        </p:nvPicPr>
        <p:blipFill>
          <a:blip r:embed="rId3"/>
          <a:srcRect/>
          <a:stretch>
            <a:fillRect/>
          </a:stretch>
        </p:blipFill>
        <p:spPr>
          <a:xfrm>
            <a:off x="2353280" y="1720215"/>
            <a:ext cx="7485440" cy="3511688"/>
          </a:xfrm>
        </p:spPr>
      </p:pic>
      <p:sp>
        <p:nvSpPr>
          <p:cNvPr id="15" name="Oval 7">
            <a:extLst>
              <a:ext uri="{FF2B5EF4-FFF2-40B4-BE49-F238E27FC236}">
                <a16:creationId xmlns:a16="http://schemas.microsoft.com/office/drawing/2014/main" id="{1A248752-EC60-5EC2-664F-41FE0B207736}"/>
              </a:ext>
            </a:extLst>
          </p:cNvPr>
          <p:cNvSpPr>
            <a:spLocks noChangeArrowheads="1"/>
          </p:cNvSpPr>
          <p:nvPr/>
        </p:nvSpPr>
        <p:spPr bwMode="auto">
          <a:xfrm>
            <a:off x="4191000" y="5041583"/>
            <a:ext cx="3810000" cy="1295400"/>
          </a:xfrm>
          <a:prstGeom prst="ellipse">
            <a:avLst/>
          </a:prstGeom>
          <a:solidFill>
            <a:schemeClr val="accent1"/>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Can be integrated into </a:t>
            </a:r>
          </a:p>
          <a:p>
            <a:pPr algn="ctr" eaLnBrk="1" hangingPunct="1">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the </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Pitch</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 process!</a:t>
            </a:r>
            <a:endParaRPr lang="en-US" altLang="en-US" sz="18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9548531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Equipment Uptime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a:xfrm>
            <a:off x="6492240" y="2225824"/>
            <a:ext cx="5394960" cy="3766503"/>
          </a:xfrm>
        </p:spPr>
        <p:txBody>
          <a:bodyPr anchor="ctr">
            <a:normAutofit/>
          </a:bodyPr>
          <a:lstStyle/>
          <a:p>
            <a:pPr marL="0" indent="0">
              <a:buNone/>
            </a:pPr>
            <a:r>
              <a:rPr lang="en-US" dirty="0"/>
              <a:t>Equip. Uptime = </a:t>
            </a:r>
          </a:p>
          <a:p>
            <a:pPr marL="0" indent="0" algn="ctr">
              <a:buNone/>
            </a:pPr>
            <a:r>
              <a:rPr lang="en-US" sz="2000" u="sng" dirty="0"/>
              <a:t>Scheduled – Equipment Downtime x 100</a:t>
            </a:r>
          </a:p>
          <a:p>
            <a:pPr marL="0" indent="0" algn="ctr">
              <a:buNone/>
            </a:pPr>
            <a:r>
              <a:rPr lang="en-US" sz="2000" dirty="0"/>
              <a:t>Scheduled Time</a:t>
            </a:r>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80</a:t>
            </a:fld>
            <a:endParaRPr lang="en-US"/>
          </a:p>
        </p:txBody>
      </p:sp>
      <p:grpSp>
        <p:nvGrpSpPr>
          <p:cNvPr id="7" name="Group 6">
            <a:extLst>
              <a:ext uri="{FF2B5EF4-FFF2-40B4-BE49-F238E27FC236}">
                <a16:creationId xmlns:a16="http://schemas.microsoft.com/office/drawing/2014/main" id="{456A91C1-FE6D-41C8-DCC2-240BE62EDBC1}"/>
              </a:ext>
            </a:extLst>
          </p:cNvPr>
          <p:cNvGrpSpPr/>
          <p:nvPr/>
        </p:nvGrpSpPr>
        <p:grpSpPr>
          <a:xfrm>
            <a:off x="838200" y="297639"/>
            <a:ext cx="5257799" cy="307138"/>
            <a:chOff x="838200" y="297639"/>
            <a:chExt cx="5257799" cy="307138"/>
          </a:xfrm>
        </p:grpSpPr>
        <p:grpSp>
          <p:nvGrpSpPr>
            <p:cNvPr id="9" name="Group 8">
              <a:extLst>
                <a:ext uri="{FF2B5EF4-FFF2-40B4-BE49-F238E27FC236}">
                  <a16:creationId xmlns:a16="http://schemas.microsoft.com/office/drawing/2014/main" id="{FE003574-E8E7-4F5F-ED82-9550D5661A6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21BEC84B-1659-150F-0D82-ACCF58D88E0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9">
                <a:extLst>
                  <a:ext uri="{FF2B5EF4-FFF2-40B4-BE49-F238E27FC236}">
                    <a16:creationId xmlns:a16="http://schemas.microsoft.com/office/drawing/2014/main" id="{8491FBEE-E64E-97F6-08D1-881E86745503}"/>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3" name="Group 12">
                <a:extLst>
                  <a:ext uri="{FF2B5EF4-FFF2-40B4-BE49-F238E27FC236}">
                    <a16:creationId xmlns:a16="http://schemas.microsoft.com/office/drawing/2014/main" id="{E2D42360-D3CC-0A3E-31C9-B8946B22319A}"/>
                  </a:ext>
                </a:extLst>
              </p:cNvPr>
              <p:cNvGrpSpPr/>
              <p:nvPr/>
            </p:nvGrpSpPr>
            <p:grpSpPr>
              <a:xfrm>
                <a:off x="838200" y="297639"/>
                <a:ext cx="1060167" cy="290657"/>
                <a:chOff x="826426" y="4041857"/>
                <a:chExt cx="1060167" cy="290657"/>
              </a:xfrm>
            </p:grpSpPr>
            <p:sp>
              <p:nvSpPr>
                <p:cNvPr id="14" name="AutoShape 9">
                  <a:extLst>
                    <a:ext uri="{FF2B5EF4-FFF2-40B4-BE49-F238E27FC236}">
                      <a16:creationId xmlns:a16="http://schemas.microsoft.com/office/drawing/2014/main" id="{A9C81BF9-AB3D-F6AF-0E6B-6B768E13C9E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5" name="AutoShape 11">
                  <a:extLst>
                    <a:ext uri="{FF2B5EF4-FFF2-40B4-BE49-F238E27FC236}">
                      <a16:creationId xmlns:a16="http://schemas.microsoft.com/office/drawing/2014/main" id="{73CF7685-5059-4686-844E-650954D43D1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21C7F0EE-0FD8-F5C8-FAC8-E8357353A52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0" name="TextBox 9">
              <a:extLst>
                <a:ext uri="{FF2B5EF4-FFF2-40B4-BE49-F238E27FC236}">
                  <a16:creationId xmlns:a16="http://schemas.microsoft.com/office/drawing/2014/main" id="{75EC0F35-72F1-2960-4630-A170B309FD8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pic>
        <p:nvPicPr>
          <p:cNvPr id="5" name="Object 15">
            <a:extLst>
              <a:ext uri="{FF2B5EF4-FFF2-40B4-BE49-F238E27FC236}">
                <a16:creationId xmlns:a16="http://schemas.microsoft.com/office/drawing/2014/main" id="{CE1BF1ED-24BC-C2FC-CD0B-078182BDD070}"/>
              </a:ext>
            </a:extLst>
          </p:cNvPr>
          <p:cNvPicPr>
            <a:picLocks noGrp="1" noChangeAspect="1" noChangeArrowheads="1"/>
          </p:cNvPicPr>
          <p:nvPr>
            <p:ph sz="half" idx="2"/>
          </p:nvPr>
        </p:nvPicPr>
        <p:blipFill>
          <a:blip r:embed="rId3"/>
          <a:srcRect/>
          <a:stretch>
            <a:fillRect/>
          </a:stretch>
        </p:blipFill>
        <p:spPr>
          <a:xfrm>
            <a:off x="839788" y="2148840"/>
            <a:ext cx="5871551" cy="3920473"/>
          </a:xfrm>
        </p:spPr>
      </p:pic>
    </p:spTree>
    <p:extLst>
      <p:ext uri="{BB962C8B-B14F-4D97-AF65-F5344CB8AC3E}">
        <p14:creationId xmlns:p14="http://schemas.microsoft.com/office/powerpoint/2010/main" val="17193435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TPM Visual Board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81</a:t>
            </a:fld>
            <a:endParaRPr lang="en-US"/>
          </a:p>
        </p:txBody>
      </p:sp>
      <p:grpSp>
        <p:nvGrpSpPr>
          <p:cNvPr id="4" name="Group 3">
            <a:extLst>
              <a:ext uri="{FF2B5EF4-FFF2-40B4-BE49-F238E27FC236}">
                <a16:creationId xmlns:a16="http://schemas.microsoft.com/office/drawing/2014/main" id="{A0BA023C-A6A5-69AE-522A-975BD34C83F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62BB9A0B-5FF5-C83F-2C41-833FAD650A3C}"/>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91FCCFEC-27F8-90DE-7393-A1802722951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75F6AF09-D547-E9F7-BAF4-296EA4B51AEE}"/>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4F0EC6EE-4F0B-4DAB-FF4D-20CA1327159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D055E98B-EC7E-672F-8CFA-E06E289EF73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A2A20FDA-F96A-FAF2-9B05-7813BF42A81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D8376EFE-F5AB-9BA7-4DF0-216665417461}"/>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393C0923-FF05-42C9-4731-38D2D7D1BF31}"/>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grpSp>
        <p:nvGrpSpPr>
          <p:cNvPr id="24" name="Group 23">
            <a:extLst>
              <a:ext uri="{FF2B5EF4-FFF2-40B4-BE49-F238E27FC236}">
                <a16:creationId xmlns:a16="http://schemas.microsoft.com/office/drawing/2014/main" id="{F7B933D8-E215-AB11-61E0-A8C9AA75425D}"/>
              </a:ext>
            </a:extLst>
          </p:cNvPr>
          <p:cNvGrpSpPr/>
          <p:nvPr/>
        </p:nvGrpSpPr>
        <p:grpSpPr>
          <a:xfrm>
            <a:off x="3766185" y="1967865"/>
            <a:ext cx="4659630" cy="4187189"/>
            <a:chOff x="2659380" y="1967865"/>
            <a:chExt cx="4659630" cy="4187189"/>
          </a:xfrm>
        </p:grpSpPr>
        <p:sp>
          <p:nvSpPr>
            <p:cNvPr id="15" name="Rectangle 14">
              <a:extLst>
                <a:ext uri="{FF2B5EF4-FFF2-40B4-BE49-F238E27FC236}">
                  <a16:creationId xmlns:a16="http://schemas.microsoft.com/office/drawing/2014/main" id="{CCA62BDF-C149-9F00-38F7-ED221E68A274}"/>
                </a:ext>
              </a:extLst>
            </p:cNvPr>
            <p:cNvSpPr/>
            <p:nvPr/>
          </p:nvSpPr>
          <p:spPr>
            <a:xfrm>
              <a:off x="2659380" y="1967865"/>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OEE Trend Data</a:t>
              </a:r>
            </a:p>
          </p:txBody>
        </p:sp>
        <p:sp>
          <p:nvSpPr>
            <p:cNvPr id="16" name="Rectangle 15">
              <a:extLst>
                <a:ext uri="{FF2B5EF4-FFF2-40B4-BE49-F238E27FC236}">
                  <a16:creationId xmlns:a16="http://schemas.microsoft.com/office/drawing/2014/main" id="{BCC10864-A86C-0E73-5945-8BA27C415BFB}"/>
                </a:ext>
              </a:extLst>
            </p:cNvPr>
            <p:cNvSpPr/>
            <p:nvPr/>
          </p:nvSpPr>
          <p:spPr>
            <a:xfrm>
              <a:off x="2659380" y="4954904"/>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Open Action Items</a:t>
              </a:r>
            </a:p>
          </p:txBody>
        </p:sp>
        <p:sp>
          <p:nvSpPr>
            <p:cNvPr id="17" name="Rectangle 16">
              <a:extLst>
                <a:ext uri="{FF2B5EF4-FFF2-40B4-BE49-F238E27FC236}">
                  <a16:creationId xmlns:a16="http://schemas.microsoft.com/office/drawing/2014/main" id="{FC2CDA7A-D640-4036-4814-4DDC973AB263}"/>
                </a:ext>
              </a:extLst>
            </p:cNvPr>
            <p:cNvSpPr/>
            <p:nvPr/>
          </p:nvSpPr>
          <p:spPr>
            <a:xfrm>
              <a:off x="2659380" y="3461384"/>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Autonomous Maintenance</a:t>
              </a:r>
            </a:p>
          </p:txBody>
        </p:sp>
        <p:sp>
          <p:nvSpPr>
            <p:cNvPr id="21" name="Rectangle 20">
              <a:extLst>
                <a:ext uri="{FF2B5EF4-FFF2-40B4-BE49-F238E27FC236}">
                  <a16:creationId xmlns:a16="http://schemas.microsoft.com/office/drawing/2014/main" id="{4A9F9B9C-90F2-F805-28BC-9AF6C424DA36}"/>
                </a:ext>
              </a:extLst>
            </p:cNvPr>
            <p:cNvSpPr/>
            <p:nvPr/>
          </p:nvSpPr>
          <p:spPr>
            <a:xfrm>
              <a:off x="5612130" y="1967865"/>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Red Tags</a:t>
              </a:r>
            </a:p>
          </p:txBody>
        </p:sp>
        <p:sp>
          <p:nvSpPr>
            <p:cNvPr id="22" name="Rectangle 21">
              <a:extLst>
                <a:ext uri="{FF2B5EF4-FFF2-40B4-BE49-F238E27FC236}">
                  <a16:creationId xmlns:a16="http://schemas.microsoft.com/office/drawing/2014/main" id="{8175E016-874A-031F-7AF3-CD9B102EF37A}"/>
                </a:ext>
              </a:extLst>
            </p:cNvPr>
            <p:cNvSpPr/>
            <p:nvPr/>
          </p:nvSpPr>
          <p:spPr>
            <a:xfrm>
              <a:off x="5612130" y="4954904"/>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Pitch Charts</a:t>
              </a:r>
            </a:p>
          </p:txBody>
        </p:sp>
        <p:sp>
          <p:nvSpPr>
            <p:cNvPr id="23" name="Rectangle 22">
              <a:extLst>
                <a:ext uri="{FF2B5EF4-FFF2-40B4-BE49-F238E27FC236}">
                  <a16:creationId xmlns:a16="http://schemas.microsoft.com/office/drawing/2014/main" id="{67348958-0803-5974-5C31-98A19E39DDC5}"/>
                </a:ext>
              </a:extLst>
            </p:cNvPr>
            <p:cNvSpPr/>
            <p:nvPr/>
          </p:nvSpPr>
          <p:spPr>
            <a:xfrm>
              <a:off x="5612130" y="3461384"/>
              <a:ext cx="1706880" cy="120015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rPr>
                <a:t>TPM Five Why’s History</a:t>
              </a:r>
            </a:p>
          </p:txBody>
        </p:sp>
      </p:grpSp>
    </p:spTree>
    <p:extLst>
      <p:ext uri="{BB962C8B-B14F-4D97-AF65-F5344CB8AC3E}">
        <p14:creationId xmlns:p14="http://schemas.microsoft.com/office/powerpoint/2010/main" val="42162014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200" dirty="0">
                <a:latin typeface="Roboto Medium"/>
                <a:ea typeface="Roboto Medium"/>
                <a:cs typeface="Roboto Medium"/>
              </a:rPr>
              <a:t>Exercise: OEE Sustaining and Continuous Improvement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Apply OEE Sustain and Continuous Improvement concepts to target equipment.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would the loss data analysis have been improved if done immediately after the breakdown?</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Answer question.</a:t>
            </a:r>
          </a:p>
        </p:txBody>
      </p:sp>
      <p:grpSp>
        <p:nvGrpSpPr>
          <p:cNvPr id="21" name="Group 20">
            <a:extLst>
              <a:ext uri="{FF2B5EF4-FFF2-40B4-BE49-F238E27FC236}">
                <a16:creationId xmlns:a16="http://schemas.microsoft.com/office/drawing/2014/main" id="{EFE136AB-523B-0C48-7622-BC42A30B6E7B}"/>
              </a:ext>
            </a:extLst>
          </p:cNvPr>
          <p:cNvGrpSpPr/>
          <p:nvPr/>
        </p:nvGrpSpPr>
        <p:grpSpPr>
          <a:xfrm>
            <a:off x="838200" y="297639"/>
            <a:ext cx="5257799" cy="307138"/>
            <a:chOff x="838200" y="297639"/>
            <a:chExt cx="5257799" cy="307138"/>
          </a:xfrm>
        </p:grpSpPr>
        <p:grpSp>
          <p:nvGrpSpPr>
            <p:cNvPr id="22" name="Group 21">
              <a:extLst>
                <a:ext uri="{FF2B5EF4-FFF2-40B4-BE49-F238E27FC236}">
                  <a16:creationId xmlns:a16="http://schemas.microsoft.com/office/drawing/2014/main" id="{F6E62162-459E-2331-BC31-76FE54EFCD09}"/>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47E1470A-650D-A811-50B9-C4A58A0F80E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826F40E9-BB39-4578-F1C1-60FB56798DF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4F4D1BEB-FF56-F950-20EC-10C60992521D}"/>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805FD0BC-00D6-7790-B9F1-75E9254DBC0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E5D192E8-ADBF-5925-DAA1-7085284C330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F36F51B5-4FDD-8F96-A48C-428060A0D0E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FEA878FE-D7E4-6E3E-F08A-9E6895919C8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Sustain and Improve OEE</a:t>
              </a:r>
            </a:p>
          </p:txBody>
        </p:sp>
      </p:grpSp>
    </p:spTree>
    <p:extLst>
      <p:ext uri="{BB962C8B-B14F-4D97-AF65-F5344CB8AC3E}">
        <p14:creationId xmlns:p14="http://schemas.microsoft.com/office/powerpoint/2010/main" val="384328470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Improve Maintainability and Maintenance Avoidance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“Improve Maintainability” and identify its importance</a:t>
            </a:r>
          </a:p>
          <a:p>
            <a:r>
              <a:rPr lang="en-US" dirty="0"/>
              <a:t>Identify how to improve maintainability</a:t>
            </a:r>
          </a:p>
          <a:p>
            <a:r>
              <a:rPr lang="en-US" dirty="0"/>
              <a:t>Review visual management examples</a:t>
            </a:r>
          </a:p>
          <a:p>
            <a:r>
              <a:rPr lang="en-US" dirty="0"/>
              <a:t>Define “Maintenance Avoidance” and identify its importance</a:t>
            </a:r>
          </a:p>
          <a:p>
            <a:r>
              <a:rPr lang="en-US" dirty="0"/>
              <a:t>Identify how to apply maintenance avoidance concepts</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268A97C-C65B-04F0-A7F3-2819E57EFB4F}"/>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0CD6385B-4921-FE67-37E1-72E739A24328}"/>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Maintainability</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Improvement &amp;</a:t>
              </a:r>
              <a:br>
                <a:rPr lang="en-US" altLang="en-US" sz="1200" dirty="0">
                  <a:latin typeface="Roboto" panose="02000000000000000000" pitchFamily="2" charset="0"/>
                  <a:ea typeface="Roboto" panose="02000000000000000000" pitchFamily="2" charset="0"/>
                </a:rPr>
              </a:br>
              <a:r>
                <a:rPr lang="en-US" altLang="en-US" sz="1200" dirty="0" err="1">
                  <a:latin typeface="Roboto" panose="02000000000000000000" pitchFamily="2" charset="0"/>
                  <a:ea typeface="Roboto" panose="02000000000000000000" pitchFamily="2" charset="0"/>
                </a:rPr>
                <a:t>Maint</a:t>
              </a:r>
              <a:r>
                <a:rPr lang="en-US" altLang="en-US" sz="1200" dirty="0">
                  <a:latin typeface="Roboto" panose="02000000000000000000" pitchFamily="2" charset="0"/>
                  <a:ea typeface="Roboto" panose="02000000000000000000" pitchFamily="2" charset="0"/>
                </a:rPr>
                <a:t>. Avoidance</a:t>
              </a:r>
            </a:p>
          </p:txBody>
        </p:sp>
        <p:sp>
          <p:nvSpPr>
            <p:cNvPr id="7" name="AutoShape 9">
              <a:extLst>
                <a:ext uri="{FF2B5EF4-FFF2-40B4-BE49-F238E27FC236}">
                  <a16:creationId xmlns:a16="http://schemas.microsoft.com/office/drawing/2014/main" id="{9A726636-BF76-0181-D682-C10D4DB4B078}"/>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Sustain and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Improve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OEE</a:t>
              </a:r>
            </a:p>
          </p:txBody>
        </p:sp>
        <p:grpSp>
          <p:nvGrpSpPr>
            <p:cNvPr id="8" name="Group 7">
              <a:extLst>
                <a:ext uri="{FF2B5EF4-FFF2-40B4-BE49-F238E27FC236}">
                  <a16:creationId xmlns:a16="http://schemas.microsoft.com/office/drawing/2014/main" id="{016A7A82-FAC5-8034-B791-6247B2AFA753}"/>
                </a:ext>
              </a:extLst>
            </p:cNvPr>
            <p:cNvGrpSpPr/>
            <p:nvPr/>
          </p:nvGrpSpPr>
          <p:grpSpPr>
            <a:xfrm>
              <a:off x="699911" y="1069861"/>
              <a:ext cx="4425950" cy="350130"/>
              <a:chOff x="5627530" y="641179"/>
              <a:chExt cx="6564470" cy="804977"/>
            </a:xfrm>
          </p:grpSpPr>
          <p:sp>
            <p:nvSpPr>
              <p:cNvPr id="9" name="AutoShape 9">
                <a:extLst>
                  <a:ext uri="{FF2B5EF4-FFF2-40B4-BE49-F238E27FC236}">
                    <a16:creationId xmlns:a16="http://schemas.microsoft.com/office/drawing/2014/main" id="{2E8C84CC-B3AC-C21D-8B7B-FC6ED3B2D473}"/>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Autonomous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Maintenance</a:t>
                </a:r>
              </a:p>
            </p:txBody>
          </p:sp>
          <p:sp>
            <p:nvSpPr>
              <p:cNvPr id="10" name="AutoShape 10">
                <a:extLst>
                  <a:ext uri="{FF2B5EF4-FFF2-40B4-BE49-F238E27FC236}">
                    <a16:creationId xmlns:a16="http://schemas.microsoft.com/office/drawing/2014/main" id="{255C6DD9-9CFC-003C-0964-3C906E950020}"/>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Restore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Deterioration </a:t>
                </a:r>
              </a:p>
            </p:txBody>
          </p:sp>
          <p:sp>
            <p:nvSpPr>
              <p:cNvPr id="11" name="AutoShape 11">
                <a:extLst>
                  <a:ext uri="{FF2B5EF4-FFF2-40B4-BE49-F238E27FC236}">
                    <a16:creationId xmlns:a16="http://schemas.microsoft.com/office/drawing/2014/main" id="{93D6F1FF-B8F6-95F3-877C-A3692A9F33C9}"/>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Loss Data Analysis and OEE</a:t>
                </a:r>
              </a:p>
            </p:txBody>
          </p:sp>
        </p:grpSp>
      </p:grpSp>
    </p:spTree>
    <p:extLst>
      <p:ext uri="{BB962C8B-B14F-4D97-AF65-F5344CB8AC3E}">
        <p14:creationId xmlns:p14="http://schemas.microsoft.com/office/powerpoint/2010/main" val="27429016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Improve Maintainability: What Is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We use the tools of Standard Work, Poka Yoke, Visual Management, for the manufacturing process…</a:t>
            </a:r>
          </a:p>
          <a:p>
            <a:pPr lvl="1"/>
            <a:r>
              <a:rPr lang="en-US" dirty="0"/>
              <a:t>Why not the maintenance process?</a:t>
            </a:r>
          </a:p>
          <a:p>
            <a:r>
              <a:rPr lang="en-US" dirty="0"/>
              <a:t>Requires modification of equipment design</a:t>
            </a:r>
          </a:p>
          <a:p>
            <a:r>
              <a:rPr lang="en-US" dirty="0"/>
              <a:t>Requires modification of tooling</a:t>
            </a:r>
          </a:p>
          <a:p>
            <a:r>
              <a:rPr lang="en-US" dirty="0"/>
              <a:t>Requires modification of maintenance procedure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37161988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Improve Maintainability: Why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Better utilize scarce resources in maintenance</a:t>
            </a:r>
          </a:p>
          <a:p>
            <a:r>
              <a:rPr lang="en-US" dirty="0"/>
              <a:t>Improve the quality of the maintenance performed</a:t>
            </a:r>
          </a:p>
          <a:p>
            <a:r>
              <a:rPr lang="en-US" dirty="0"/>
              <a:t>Increase the probability of it being done on schedule</a:t>
            </a:r>
          </a:p>
          <a:p>
            <a:r>
              <a:rPr lang="en-US" dirty="0"/>
              <a:t>Further reinforce the Lean way of management</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85</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10070474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dirty="0"/>
              <a:t>Improve Maintainability: How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Pareto maintenance procedures based on cycle time and frequency</a:t>
            </a:r>
          </a:p>
          <a:p>
            <a:r>
              <a:rPr lang="en-US" dirty="0"/>
              <a:t>Observe and video tape repetitive maintenance procedures</a:t>
            </a:r>
          </a:p>
          <a:p>
            <a:pPr lvl="1"/>
            <a:r>
              <a:rPr lang="en-US" dirty="0"/>
              <a:t>Record each step, the time it takes, and look for ways of improving</a:t>
            </a:r>
          </a:p>
          <a:p>
            <a:pPr lvl="1"/>
            <a:r>
              <a:rPr lang="en-US" dirty="0"/>
              <a:t>Quick fasteners</a:t>
            </a:r>
          </a:p>
          <a:p>
            <a:pPr lvl="1"/>
            <a:r>
              <a:rPr lang="en-US" dirty="0"/>
              <a:t>Easier access</a:t>
            </a:r>
          </a:p>
          <a:p>
            <a:pPr lvl="1"/>
            <a:r>
              <a:rPr lang="en-US" dirty="0"/>
              <a:t>Relocation of components</a:t>
            </a:r>
          </a:p>
          <a:p>
            <a:pPr lvl="1"/>
            <a:r>
              <a:rPr lang="en-US" dirty="0"/>
              <a:t>Externalize operations</a:t>
            </a:r>
          </a:p>
          <a:p>
            <a:r>
              <a:rPr lang="en-US" dirty="0"/>
              <a:t>Create Standard Work for PM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86</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16142969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sz="4000" dirty="0"/>
              <a:t>Improve Maintainability: Visual Management of Spares Room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Using shaft targets as a reminder to rotate motor and fan shafts while in storage to prevent "false brinelling" of bearings and armature sag due to lack of rotation </a:t>
            </a:r>
          </a:p>
          <a:p>
            <a:r>
              <a:rPr lang="en-US" dirty="0"/>
              <a:t>Inventory control cards with photograph of parts, part numbers, lead time for re-ordering, supplier or source, minimum/maximum levels </a:t>
            </a:r>
          </a:p>
          <a:p>
            <a:r>
              <a:rPr lang="en-US" dirty="0"/>
              <a:t>Reorder signal cards placed at the minimum inventory level</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87</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11070170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88</a:t>
            </a:fld>
            <a:endParaRPr lang="en-US"/>
          </a:p>
        </p:txBody>
      </p:sp>
      <p:pic>
        <p:nvPicPr>
          <p:cNvPr id="2" name="Picture 6" descr="TPM 6">
            <a:extLst>
              <a:ext uri="{FF2B5EF4-FFF2-40B4-BE49-F238E27FC236}">
                <a16:creationId xmlns:a16="http://schemas.microsoft.com/office/drawing/2014/main" id="{BFADCA57-4C7E-FCF7-A413-87ECCE2BA9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25" b="101"/>
          <a:stretch>
            <a:fillRect/>
          </a:stretch>
        </p:blipFill>
        <p:spPr bwMode="auto">
          <a:xfrm>
            <a:off x="3490913" y="840737"/>
            <a:ext cx="5210175" cy="5492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B1476F8E-3575-B4E2-792A-064BBF85938F}"/>
              </a:ext>
            </a:extLst>
          </p:cNvPr>
          <p:cNvGrpSpPr/>
          <p:nvPr/>
        </p:nvGrpSpPr>
        <p:grpSpPr>
          <a:xfrm>
            <a:off x="838200" y="297639"/>
            <a:ext cx="9260900" cy="307138"/>
            <a:chOff x="838200" y="297639"/>
            <a:chExt cx="9260900" cy="307138"/>
          </a:xfrm>
        </p:grpSpPr>
        <p:grpSp>
          <p:nvGrpSpPr>
            <p:cNvPr id="5" name="Group 4">
              <a:extLst>
                <a:ext uri="{FF2B5EF4-FFF2-40B4-BE49-F238E27FC236}">
                  <a16:creationId xmlns:a16="http://schemas.microsoft.com/office/drawing/2014/main" id="{6037FE0C-B61A-9BAF-D2BF-2F508958E6D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DFA08BBF-1852-68A0-6539-7E185F3027B1}"/>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33F7F938-5DF4-CAC0-C3E6-CE91DBC83DA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9A987D29-9F82-E883-DB09-53BD9B5B20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E816E74-CAAD-1A85-9F4E-2790377D04F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38B03B98-D380-C07A-F351-F92D7E968D8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67319646-BE2E-1D12-F119-34C835BC834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D482AE5B-7395-0004-E45B-648AA8FB8B57}"/>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32150834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89</a:t>
            </a:fld>
            <a:endParaRPr lang="en-US"/>
          </a:p>
        </p:txBody>
      </p:sp>
      <p:pic>
        <p:nvPicPr>
          <p:cNvPr id="2" name="Picture 6">
            <a:extLst>
              <a:ext uri="{FF2B5EF4-FFF2-40B4-BE49-F238E27FC236}">
                <a16:creationId xmlns:a16="http://schemas.microsoft.com/office/drawing/2014/main" id="{BFADCA57-4C7E-FCF7-A413-87ECCE2BA9F8}"/>
              </a:ext>
            </a:extLst>
          </p:cNvPr>
          <p:cNvPicPr>
            <a:picLocks noChangeAspect="1" noChangeArrowheads="1"/>
          </p:cNvPicPr>
          <p:nvPr/>
        </p:nvPicPr>
        <p:blipFill>
          <a:blip r:embed="rId3"/>
          <a:srcRect t="2725" b="2725"/>
          <a:stretch/>
        </p:blipFill>
        <p:spPr bwMode="auto">
          <a:xfrm>
            <a:off x="3490913" y="840737"/>
            <a:ext cx="5210175" cy="5492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B1476F8E-3575-B4E2-792A-064BBF85938F}"/>
              </a:ext>
            </a:extLst>
          </p:cNvPr>
          <p:cNvGrpSpPr/>
          <p:nvPr/>
        </p:nvGrpSpPr>
        <p:grpSpPr>
          <a:xfrm>
            <a:off x="838200" y="297639"/>
            <a:ext cx="9260900" cy="307138"/>
            <a:chOff x="838200" y="297639"/>
            <a:chExt cx="9260900" cy="307138"/>
          </a:xfrm>
        </p:grpSpPr>
        <p:grpSp>
          <p:nvGrpSpPr>
            <p:cNvPr id="5" name="Group 4">
              <a:extLst>
                <a:ext uri="{FF2B5EF4-FFF2-40B4-BE49-F238E27FC236}">
                  <a16:creationId xmlns:a16="http://schemas.microsoft.com/office/drawing/2014/main" id="{6037FE0C-B61A-9BAF-D2BF-2F508958E6D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DFA08BBF-1852-68A0-6539-7E185F3027B1}"/>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33F7F938-5DF4-CAC0-C3E6-CE91DBC83DA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9A987D29-9F82-E883-DB09-53BD9B5B20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E816E74-CAAD-1A85-9F4E-2790377D04F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38B03B98-D380-C07A-F351-F92D7E968D8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67319646-BE2E-1D12-F119-34C835BC834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D482AE5B-7395-0004-E45B-648AA8FB8B57}"/>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42416639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LPPS Coater 3 Month PM Carts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90</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pic>
        <p:nvPicPr>
          <p:cNvPr id="14" name="Picture 5" descr="TPM 8">
            <a:extLst>
              <a:ext uri="{FF2B5EF4-FFF2-40B4-BE49-F238E27FC236}">
                <a16:creationId xmlns:a16="http://schemas.microsoft.com/office/drawing/2014/main" id="{BE2D56FF-50D7-F8FB-6D20-B67493A49CF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82" b="128"/>
          <a:stretch>
            <a:fillRect/>
          </a:stretch>
        </p:blipFill>
        <p:spPr bwMode="auto">
          <a:xfrm>
            <a:off x="2463475" y="1748004"/>
            <a:ext cx="7265051" cy="4585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47569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37F4462-F7E9-B722-4A9D-64F0A6166E00}"/>
              </a:ext>
            </a:extLst>
          </p:cNvPr>
          <p:cNvSpPr>
            <a:spLocks noGrp="1"/>
          </p:cNvSpPr>
          <p:nvPr>
            <p:ph type="sldNum" sz="quarter" idx="11"/>
          </p:nvPr>
        </p:nvSpPr>
        <p:spPr>
          <a:xfrm>
            <a:off x="8595078" y="6333148"/>
            <a:ext cx="2743200" cy="365125"/>
          </a:xfrm>
        </p:spPr>
        <p:txBody>
          <a:bodyPr/>
          <a:lstStyle/>
          <a:p>
            <a:fld id="{CC6D4273-7FC1-0947-B9FE-19CB3C0D1FB6}" type="slidenum">
              <a:rPr lang="en-US" smtClean="0"/>
              <a:t>91</a:t>
            </a:fld>
            <a:endParaRPr lang="en-US"/>
          </a:p>
        </p:txBody>
      </p:sp>
      <p:grpSp>
        <p:nvGrpSpPr>
          <p:cNvPr id="4" name="Group 3">
            <a:extLst>
              <a:ext uri="{FF2B5EF4-FFF2-40B4-BE49-F238E27FC236}">
                <a16:creationId xmlns:a16="http://schemas.microsoft.com/office/drawing/2014/main" id="{B1476F8E-3575-B4E2-792A-064BBF85938F}"/>
              </a:ext>
            </a:extLst>
          </p:cNvPr>
          <p:cNvGrpSpPr/>
          <p:nvPr/>
        </p:nvGrpSpPr>
        <p:grpSpPr>
          <a:xfrm>
            <a:off x="838200" y="297639"/>
            <a:ext cx="9260900" cy="307138"/>
            <a:chOff x="838200" y="297639"/>
            <a:chExt cx="9260900" cy="307138"/>
          </a:xfrm>
        </p:grpSpPr>
        <p:grpSp>
          <p:nvGrpSpPr>
            <p:cNvPr id="5" name="Group 4">
              <a:extLst>
                <a:ext uri="{FF2B5EF4-FFF2-40B4-BE49-F238E27FC236}">
                  <a16:creationId xmlns:a16="http://schemas.microsoft.com/office/drawing/2014/main" id="{6037FE0C-B61A-9BAF-D2BF-2F508958E6D3}"/>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DFA08BBF-1852-68A0-6539-7E185F3027B1}"/>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33F7F938-5DF4-CAC0-C3E6-CE91DBC83DA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9A987D29-9F82-E883-DB09-53BD9B5B204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E816E74-CAAD-1A85-9F4E-2790377D04F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38B03B98-D380-C07A-F351-F92D7E968D8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67319646-BE2E-1D12-F119-34C835BC834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D482AE5B-7395-0004-E45B-648AA8FB8B57}"/>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pic>
        <p:nvPicPr>
          <p:cNvPr id="13" name="Picture 3">
            <a:extLst>
              <a:ext uri="{FF2B5EF4-FFF2-40B4-BE49-F238E27FC236}">
                <a16:creationId xmlns:a16="http://schemas.microsoft.com/office/drawing/2014/main" id="{0A20FFC3-FC39-FC63-8192-D09F724C7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781368"/>
            <a:ext cx="9575148" cy="536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2814715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200" dirty="0">
                <a:latin typeface="Roboto Medium"/>
                <a:ea typeface="Roboto Medium"/>
                <a:cs typeface="Roboto Medium"/>
              </a:rPr>
              <a:t>Exercise: Maintenance Improvement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Apply Maintenance Improvement Concepts.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consider and discuss common maintenance procedures performed routinely. </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By applying the Maintenance Improvement concepts outlined on the previous slides, how much time can you remove from the most common maintenance procedure?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jotting down ideas. Report answers to class. </a:t>
            </a:r>
          </a:p>
        </p:txBody>
      </p:sp>
      <p:grpSp>
        <p:nvGrpSpPr>
          <p:cNvPr id="3" name="Group 2">
            <a:extLst>
              <a:ext uri="{FF2B5EF4-FFF2-40B4-BE49-F238E27FC236}">
                <a16:creationId xmlns:a16="http://schemas.microsoft.com/office/drawing/2014/main" id="{00BCE2A8-EC09-FF11-1B1D-76D485909FB5}"/>
              </a:ext>
            </a:extLst>
          </p:cNvPr>
          <p:cNvGrpSpPr/>
          <p:nvPr/>
        </p:nvGrpSpPr>
        <p:grpSpPr>
          <a:xfrm>
            <a:off x="838200" y="297639"/>
            <a:ext cx="9260900" cy="307138"/>
            <a:chOff x="838200" y="297639"/>
            <a:chExt cx="9260900" cy="307138"/>
          </a:xfrm>
        </p:grpSpPr>
        <p:grpSp>
          <p:nvGrpSpPr>
            <p:cNvPr id="4" name="Group 3">
              <a:extLst>
                <a:ext uri="{FF2B5EF4-FFF2-40B4-BE49-F238E27FC236}">
                  <a16:creationId xmlns:a16="http://schemas.microsoft.com/office/drawing/2014/main" id="{631E142E-C0AC-C22E-0560-1C42479EF19D}"/>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2D3C8DC0-B6E3-FAEC-8C05-33E18465E5C4}"/>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7C36A3B5-BFE8-BA32-F83F-A9934E75F76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F273BE9B-5DD0-3B40-8D20-272114D73AE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E59EDC6-CD47-648C-DACD-85155A9A57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08671F9-61D3-67F0-7EF6-EC73FACE20E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C5ADA29-120A-D50C-E91F-1786FEB114A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3921BA2B-B53B-2B9E-0AB1-D9327C0FC8A2}"/>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21787262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Maintenance Avoidance: What Is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Analyzing the equipment design for opportunities to eliminate or reduce the need for a specific maintenance procedure</a:t>
            </a:r>
          </a:p>
          <a:p>
            <a:r>
              <a:rPr lang="en-US" dirty="0"/>
              <a:t>The best maintenance is no required maintenance!!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93</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7770660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Maintenance Avoidance: Why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Improve quality by eliminating the deteriorate and restore cycle</a:t>
            </a:r>
          </a:p>
          <a:p>
            <a:r>
              <a:rPr lang="en-US" dirty="0"/>
              <a:t>Improve productivity of maintenance personnel</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94</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9713233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Maintenance Avoidance: How Do You Do It?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Pareto maintenance procedures based on cycle time and frequency</a:t>
            </a:r>
          </a:p>
          <a:p>
            <a:r>
              <a:rPr lang="en-US" dirty="0"/>
              <a:t>Focus on top hitters to redesign equipment</a:t>
            </a:r>
          </a:p>
          <a:p>
            <a:pPr lvl="1"/>
            <a:r>
              <a:rPr lang="en-US" dirty="0"/>
              <a:t>Self lubricating bearings</a:t>
            </a:r>
          </a:p>
          <a:p>
            <a:pPr lvl="1"/>
            <a:r>
              <a:rPr lang="en-US" dirty="0"/>
              <a:t>Larger filters</a:t>
            </a:r>
          </a:p>
          <a:p>
            <a:pPr lvl="1"/>
            <a:r>
              <a:rPr lang="en-US" dirty="0"/>
              <a:t>Skimmers</a:t>
            </a:r>
          </a:p>
          <a:p>
            <a:pPr lvl="1"/>
            <a:r>
              <a:rPr lang="en-US" dirty="0" err="1"/>
              <a:t>Etc</a:t>
            </a:r>
            <a:r>
              <a:rPr lang="en-US" dirty="0"/>
              <a: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95</a:t>
            </a:fld>
            <a:endParaRPr lang="en-US"/>
          </a:p>
        </p:txBody>
      </p:sp>
      <p:grpSp>
        <p:nvGrpSpPr>
          <p:cNvPr id="4" name="Group 3">
            <a:extLst>
              <a:ext uri="{FF2B5EF4-FFF2-40B4-BE49-F238E27FC236}">
                <a16:creationId xmlns:a16="http://schemas.microsoft.com/office/drawing/2014/main" id="{AEBCB73D-A026-C11E-B0D2-6E7E45D59D53}"/>
              </a:ext>
            </a:extLst>
          </p:cNvPr>
          <p:cNvGrpSpPr/>
          <p:nvPr/>
        </p:nvGrpSpPr>
        <p:grpSpPr>
          <a:xfrm>
            <a:off x="838200" y="297639"/>
            <a:ext cx="9260900" cy="307138"/>
            <a:chOff x="838200" y="297639"/>
            <a:chExt cx="9260900" cy="307138"/>
          </a:xfrm>
        </p:grpSpPr>
        <p:grpSp>
          <p:nvGrpSpPr>
            <p:cNvPr id="6" name="Group 5">
              <a:extLst>
                <a:ext uri="{FF2B5EF4-FFF2-40B4-BE49-F238E27FC236}">
                  <a16:creationId xmlns:a16="http://schemas.microsoft.com/office/drawing/2014/main" id="{CF96C4CE-7D4C-6B9C-7307-F6694A43AF4B}"/>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E03D32B8-ED67-93EE-6087-AAAD062D2095}"/>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BF04B1C4-0435-4898-FF2B-CBE58E1A7D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DF5F6E02-270D-DF98-1E36-12DC6AE899B0}"/>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6EEB81DC-8513-DFCD-83B4-09FCECB4975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C9E4A258-D7A2-4556-EA97-F4986598250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6F68557B-670A-3F54-7329-C154A50E2C3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6741014C-A191-A8CB-51E4-13667E01A4F6}"/>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169490549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200" dirty="0">
                <a:latin typeface="Roboto Medium"/>
                <a:ea typeface="Roboto Medium"/>
                <a:cs typeface="Roboto Medium"/>
              </a:rPr>
              <a:t>Exercise: Maintenance Avoidance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Apply Maintenance Avoidance concepts.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consider and discuss common maintenance procedures.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Can you eliminate a maintenance procedure, or extend its interval, by altering the equipment?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Brainstorm, jotting down ideas. Report answers to class. </a:t>
            </a:r>
          </a:p>
        </p:txBody>
      </p:sp>
      <p:grpSp>
        <p:nvGrpSpPr>
          <p:cNvPr id="3" name="Group 2">
            <a:extLst>
              <a:ext uri="{FF2B5EF4-FFF2-40B4-BE49-F238E27FC236}">
                <a16:creationId xmlns:a16="http://schemas.microsoft.com/office/drawing/2014/main" id="{00BCE2A8-EC09-FF11-1B1D-76D485909FB5}"/>
              </a:ext>
            </a:extLst>
          </p:cNvPr>
          <p:cNvGrpSpPr/>
          <p:nvPr/>
        </p:nvGrpSpPr>
        <p:grpSpPr>
          <a:xfrm>
            <a:off x="838200" y="297639"/>
            <a:ext cx="9260900" cy="307138"/>
            <a:chOff x="838200" y="297639"/>
            <a:chExt cx="9260900" cy="307138"/>
          </a:xfrm>
        </p:grpSpPr>
        <p:grpSp>
          <p:nvGrpSpPr>
            <p:cNvPr id="4" name="Group 3">
              <a:extLst>
                <a:ext uri="{FF2B5EF4-FFF2-40B4-BE49-F238E27FC236}">
                  <a16:creationId xmlns:a16="http://schemas.microsoft.com/office/drawing/2014/main" id="{631E142E-C0AC-C22E-0560-1C42479EF19D}"/>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2D3C8DC0-B6E3-FAEC-8C05-33E18465E5C4}"/>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7C36A3B5-BFE8-BA32-F83F-A9934E75F76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F273BE9B-5DD0-3B40-8D20-272114D73AE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E59EDC6-CD47-648C-DACD-85155A9A57C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08671F9-61D3-67F0-7EF6-EC73FACE20E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EC5ADA29-120A-D50C-E91F-1786FEB114A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3921BA2B-B53B-2B9E-0AB1-D9327C0FC8A2}"/>
                </a:ext>
              </a:extLst>
            </p:cNvPr>
            <p:cNvSpPr txBox="1"/>
            <p:nvPr/>
          </p:nvSpPr>
          <p:spPr>
            <a:xfrm>
              <a:off x="2525716" y="313415"/>
              <a:ext cx="7573384"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Maintainability Improvement &amp; </a:t>
              </a:r>
              <a:r>
                <a:rPr lang="en-US" altLang="en-US" sz="1600" dirty="0" err="1">
                  <a:solidFill>
                    <a:schemeClr val="bg1"/>
                  </a:solidFill>
                  <a:latin typeface="Roboto" panose="02000000000000000000" pitchFamily="2" charset="0"/>
                  <a:ea typeface="Roboto" panose="02000000000000000000" pitchFamily="2" charset="0"/>
                  <a:cs typeface="Roboto" panose="02000000000000000000" pitchFamily="2" charset="0"/>
                </a:rPr>
                <a:t>Maint</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Avoidance</a:t>
              </a:r>
            </a:p>
          </p:txBody>
        </p:sp>
      </p:grpSp>
    </p:spTree>
    <p:extLst>
      <p:ext uri="{BB962C8B-B14F-4D97-AF65-F5344CB8AC3E}">
        <p14:creationId xmlns:p14="http://schemas.microsoft.com/office/powerpoint/2010/main" val="9146991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9C19-D9DE-E2E1-B56E-07E75302E78F}"/>
              </a:ext>
            </a:extLst>
          </p:cNvPr>
          <p:cNvSpPr>
            <a:spLocks noGrp="1"/>
          </p:cNvSpPr>
          <p:nvPr>
            <p:ph type="ctrTitle"/>
          </p:nvPr>
        </p:nvSpPr>
        <p:spPr/>
        <p:txBody>
          <a:bodyPr/>
          <a:lstStyle/>
          <a:p>
            <a:r>
              <a:rPr lang="en-US" dirty="0"/>
              <a:t>Running the Event</a:t>
            </a:r>
          </a:p>
        </p:txBody>
      </p:sp>
      <p:sp>
        <p:nvSpPr>
          <p:cNvPr id="5" name="Slide Number Placeholder 4">
            <a:extLst>
              <a:ext uri="{FF2B5EF4-FFF2-40B4-BE49-F238E27FC236}">
                <a16:creationId xmlns:a16="http://schemas.microsoft.com/office/drawing/2014/main" id="{F8827CDC-E359-D8C5-1138-53B58F0B6B22}"/>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97</a:t>
            </a:fld>
            <a:endParaRPr lang="en-US"/>
          </a:p>
        </p:txBody>
      </p:sp>
    </p:spTree>
    <p:extLst>
      <p:ext uri="{BB962C8B-B14F-4D97-AF65-F5344CB8AC3E}">
        <p14:creationId xmlns:p14="http://schemas.microsoft.com/office/powerpoint/2010/main" val="19049783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Event Goals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Three minutes to conduct autonomous maintenance procedure! </a:t>
            </a:r>
          </a:p>
          <a:p>
            <a:r>
              <a:rPr lang="en-US" dirty="0"/>
              <a:t>25% reduction in the time required to perform routine maintenance!</a:t>
            </a:r>
          </a:p>
          <a:p>
            <a:r>
              <a:rPr lang="en-US" dirty="0"/>
              <a:t>Address root causes for most significant failure modes!</a:t>
            </a:r>
          </a:p>
          <a:p>
            <a:r>
              <a:rPr lang="en-US" dirty="0"/>
              <a:t>Implement a process of sustaining continuous improvement of equipment effectivity beyond the end of the event!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98</a:t>
            </a:fld>
            <a:endParaRPr lang="en-US"/>
          </a:p>
        </p:txBody>
      </p:sp>
    </p:spTree>
    <p:extLst>
      <p:ext uri="{BB962C8B-B14F-4D97-AF65-F5344CB8AC3E}">
        <p14:creationId xmlns:p14="http://schemas.microsoft.com/office/powerpoint/2010/main" val="22811713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Lets Get Started! TPM Team Checklist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Monday - Tuesday Analysis</a:t>
            </a:r>
          </a:p>
          <a:p>
            <a:pPr lvl="1"/>
            <a:r>
              <a:rPr lang="en-US" dirty="0"/>
              <a:t>The team should introduce themselves to the operators running the target machinery on all shifts. Explain the objective of the event and ask for their participation on an as-needed basis.  Share the down time information with them and ask for confirmation that this is in line with their experiences, especially minor stoppages. </a:t>
            </a:r>
          </a:p>
          <a:p>
            <a:pPr lvl="1"/>
            <a:r>
              <a:rPr lang="en-US" dirty="0"/>
              <a:t>The team should gather and review as much data as possible on historical breakdowns, minor stoppages, compromised operations, quality output, and maintenance hours spent. </a:t>
            </a:r>
          </a:p>
          <a:p>
            <a:pPr lvl="1"/>
            <a:r>
              <a:rPr lang="en-US" dirty="0"/>
              <a:t>Complete the Loss Data Analysis sheet and modify “The Big Three” based on “Five Whys”</a:t>
            </a:r>
          </a:p>
          <a:p>
            <a:pPr lvl="1"/>
            <a:r>
              <a:rPr lang="en-US" dirty="0"/>
              <a:t>Complete current state OEE calculation</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99</a:t>
            </a:fld>
            <a:endParaRPr lang="en-US"/>
          </a:p>
        </p:txBody>
      </p:sp>
    </p:spTree>
    <p:extLst>
      <p:ext uri="{BB962C8B-B14F-4D97-AF65-F5344CB8AC3E}">
        <p14:creationId xmlns:p14="http://schemas.microsoft.com/office/powerpoint/2010/main" val="15462459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Lets Get Started! TPM Team Checklist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Monday - Tuesday Analysis (continued)</a:t>
            </a:r>
          </a:p>
          <a:p>
            <a:pPr lvl="1"/>
            <a:r>
              <a:rPr lang="en-US" dirty="0"/>
              <a:t>Each person should investigate the equipment and fill out a 5S score sheet. Regroup and agree on what the score should be and designate one of the charts and assessment sheets the masters for the team. The Team Captain should keep a folder for all masters. If a team member needs the form a copy should be made so that masters are kept clean, are not lost, and represent the teams’ latest information. </a:t>
            </a:r>
          </a:p>
          <a:p>
            <a:pPr lvl="1"/>
            <a:r>
              <a:rPr lang="en-US" dirty="0"/>
              <a:t>Start the “Clean to Detect” phase and record each and every machine deficiency observed on a “Red Tag List.” TPM begins and ends with 5S. A Simplify, Straighten, and Scrub activity should be conducted immediately</a:t>
            </a:r>
          </a:p>
          <a:p>
            <a:pPr lvl="1"/>
            <a:r>
              <a:rPr lang="en-US" dirty="0"/>
              <a:t>Report on findings</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100</a:t>
            </a:fld>
            <a:endParaRPr lang="en-US"/>
          </a:p>
        </p:txBody>
      </p:sp>
    </p:spTree>
    <p:extLst>
      <p:ext uri="{BB962C8B-B14F-4D97-AF65-F5344CB8AC3E}">
        <p14:creationId xmlns:p14="http://schemas.microsoft.com/office/powerpoint/2010/main" val="27894377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Lets Get Started! TPM Team Checklist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End of Day Tuesday Restoration</a:t>
            </a:r>
          </a:p>
          <a:p>
            <a:pPr lvl="1"/>
            <a:r>
              <a:rPr lang="en-US" dirty="0"/>
              <a:t>During the equipment cleaning process the machine should be thoroughly inspected for any deficiencies and these should be tagged and listed on the “Red Tag List”</a:t>
            </a:r>
          </a:p>
          <a:p>
            <a:pPr lvl="1"/>
            <a:r>
              <a:rPr lang="en-US" dirty="0"/>
              <a:t>The team should brainstorm ideas for 5S improvements that can be done as a prelude to the TPM activity </a:t>
            </a:r>
          </a:p>
          <a:p>
            <a:pPr lvl="1"/>
            <a:r>
              <a:rPr lang="en-US" dirty="0"/>
              <a:t>Report on Red Tags identified to this point and the 5S plan for the week</a:t>
            </a:r>
          </a:p>
          <a:p>
            <a:r>
              <a:rPr lang="en-US" dirty="0"/>
              <a:t>Mid-day Wednesday Sustain &amp; Improve</a:t>
            </a:r>
          </a:p>
          <a:p>
            <a:pPr lvl="1"/>
            <a:r>
              <a:rPr lang="en-US" dirty="0"/>
              <a:t>Develop and practice Autonomous Maintenance</a:t>
            </a:r>
          </a:p>
          <a:p>
            <a:pPr lvl="1"/>
            <a:r>
              <a:rPr lang="en-US" dirty="0"/>
              <a:t>Practice Five Whys Analysis with Maintenance </a:t>
            </a:r>
          </a:p>
          <a:p>
            <a:pPr lvl="1"/>
            <a:r>
              <a:rPr lang="en-US" dirty="0"/>
              <a:t>Report on Autonomous Maintenance and Red Tag Status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101</a:t>
            </a:fld>
            <a:endParaRPr lang="en-US"/>
          </a:p>
        </p:txBody>
      </p:sp>
    </p:spTree>
    <p:extLst>
      <p:ext uri="{BB962C8B-B14F-4D97-AF65-F5344CB8AC3E}">
        <p14:creationId xmlns:p14="http://schemas.microsoft.com/office/powerpoint/2010/main" val="14382726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Lets Get Started! TPM Team Checklist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End of day Wednesday Improve Maintainability</a:t>
            </a:r>
          </a:p>
          <a:p>
            <a:pPr lvl="1"/>
            <a:r>
              <a:rPr lang="en-US" dirty="0"/>
              <a:t>Complete cleaning and painting  </a:t>
            </a:r>
          </a:p>
          <a:p>
            <a:pPr lvl="1"/>
            <a:r>
              <a:rPr lang="en-US" dirty="0"/>
              <a:t>Post all labels and visual management tools</a:t>
            </a:r>
          </a:p>
          <a:p>
            <a:pPr lvl="1"/>
            <a:r>
              <a:rPr lang="en-US" dirty="0"/>
              <a:t>Select and observe a repetitive maintenance procedure and observe it </a:t>
            </a:r>
          </a:p>
          <a:p>
            <a:pPr lvl="1"/>
            <a:r>
              <a:rPr lang="en-US" dirty="0"/>
              <a:t>Report on Maintenance observation status</a:t>
            </a:r>
          </a:p>
          <a:p>
            <a:r>
              <a:rPr lang="en-US" dirty="0"/>
              <a:t>Mid-day Thursday Improve Maintainability </a:t>
            </a:r>
          </a:p>
          <a:p>
            <a:pPr lvl="1"/>
            <a:r>
              <a:rPr lang="en-US" dirty="0"/>
              <a:t>Complete the Maintenance Observation Form </a:t>
            </a:r>
          </a:p>
          <a:p>
            <a:pPr lvl="1"/>
            <a:r>
              <a:rPr lang="en-US" dirty="0"/>
              <a:t>Report on waste reduction on observed maintenance procedure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102</a:t>
            </a:fld>
            <a:endParaRPr lang="en-US"/>
          </a:p>
        </p:txBody>
      </p:sp>
    </p:spTree>
    <p:extLst>
      <p:ext uri="{BB962C8B-B14F-4D97-AF65-F5344CB8AC3E}">
        <p14:creationId xmlns:p14="http://schemas.microsoft.com/office/powerpoint/2010/main" val="23401628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Lets Get Started! TPM Team Checklist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10000"/>
          </a:bodyPr>
          <a:lstStyle/>
          <a:p>
            <a:r>
              <a:rPr lang="en-US" dirty="0"/>
              <a:t>End of Day Thursday Continuous Improvement of OEE</a:t>
            </a:r>
          </a:p>
          <a:p>
            <a:pPr lvl="1"/>
            <a:r>
              <a:rPr lang="en-US" dirty="0"/>
              <a:t>Review Operating Procedures, PM Procedures, and Equipment Design for necessary changes and make documented improvements based on 5 Whys analysis</a:t>
            </a:r>
          </a:p>
          <a:p>
            <a:pPr lvl="1"/>
            <a:r>
              <a:rPr lang="en-US" dirty="0"/>
              <a:t>Complete all visuals</a:t>
            </a:r>
          </a:p>
          <a:p>
            <a:pPr lvl="1"/>
            <a:r>
              <a:rPr lang="en-US" dirty="0"/>
              <a:t>Complete Open action items documentation</a:t>
            </a:r>
          </a:p>
          <a:p>
            <a:pPr lvl="1"/>
            <a:r>
              <a:rPr lang="en-US" dirty="0"/>
              <a:t>Report on Red Tag status, Autonomous Maintenance, Maintenance Improvement</a:t>
            </a:r>
          </a:p>
          <a:p>
            <a:r>
              <a:rPr lang="en-US" dirty="0"/>
              <a:t>Friday</a:t>
            </a:r>
          </a:p>
          <a:p>
            <a:pPr lvl="1"/>
            <a:r>
              <a:rPr lang="en-US" dirty="0"/>
              <a:t>Prepare for closeout presentation</a:t>
            </a:r>
          </a:p>
          <a:p>
            <a:pPr lvl="1"/>
            <a:r>
              <a:rPr lang="en-US" dirty="0"/>
              <a:t>Practice 15 minute presentation</a:t>
            </a:r>
          </a:p>
          <a:p>
            <a:pPr lvl="1"/>
            <a:r>
              <a:rPr lang="en-US" dirty="0"/>
              <a:t>Close out session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103</a:t>
            </a:fld>
            <a:endParaRPr lang="en-US"/>
          </a:p>
        </p:txBody>
      </p:sp>
    </p:spTree>
    <p:extLst>
      <p:ext uri="{BB962C8B-B14F-4D97-AF65-F5344CB8AC3E}">
        <p14:creationId xmlns:p14="http://schemas.microsoft.com/office/powerpoint/2010/main" val="19008502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Recommended Further Reading</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i="1" dirty="0"/>
              <a:t>The New Manufacturing Challenge</a:t>
            </a:r>
            <a:r>
              <a:rPr lang="en-US" dirty="0"/>
              <a:t>, Kiyoshi </a:t>
            </a:r>
            <a:r>
              <a:rPr lang="en-US" dirty="0" err="1"/>
              <a:t>Suzaki</a:t>
            </a:r>
            <a:endParaRPr lang="en-US" dirty="0"/>
          </a:p>
          <a:p>
            <a:r>
              <a:rPr lang="en-US" i="1" dirty="0"/>
              <a:t>TPM for Every Operator</a:t>
            </a:r>
            <a:r>
              <a:rPr lang="en-US" dirty="0"/>
              <a:t>, Productivity Press</a:t>
            </a:r>
          </a:p>
          <a:p>
            <a:r>
              <a:rPr lang="en-US" i="1" dirty="0"/>
              <a:t>TPM Team Guide</a:t>
            </a:r>
            <a:r>
              <a:rPr lang="en-US" dirty="0"/>
              <a:t>, Productivity Press</a:t>
            </a:r>
          </a:p>
          <a:p>
            <a:r>
              <a:rPr lang="en-US" i="1" dirty="0"/>
              <a:t>Introduction to TPM</a:t>
            </a:r>
            <a:r>
              <a:rPr lang="en-US" dirty="0"/>
              <a:t>, Seiichi Nakajima, Productivity Press</a:t>
            </a:r>
          </a:p>
          <a:p>
            <a:r>
              <a:rPr lang="en-US" i="1" dirty="0"/>
              <a:t>The Visual Factory</a:t>
            </a:r>
            <a:r>
              <a:rPr lang="en-US" dirty="0"/>
              <a:t>, Michael Greif</a:t>
            </a:r>
          </a:p>
          <a:p>
            <a:r>
              <a:rPr lang="en-US" i="1" dirty="0"/>
              <a:t>TPM for Workshop Leaders</a:t>
            </a:r>
            <a:r>
              <a:rPr lang="en-US" dirty="0"/>
              <a:t>, Kunio </a:t>
            </a:r>
            <a:r>
              <a:rPr lang="en-US" dirty="0" err="1"/>
              <a:t>Shirose</a:t>
            </a:r>
            <a:r>
              <a:rPr lang="en-US" dirty="0"/>
              <a:t>, Productivity Press</a:t>
            </a:r>
          </a:p>
          <a:p>
            <a:r>
              <a:rPr lang="en-US" i="1" dirty="0"/>
              <a:t>TPM Program Development</a:t>
            </a:r>
            <a:r>
              <a:rPr lang="en-US" dirty="0"/>
              <a:t>, Seiichi Nakajima, Productivity Press </a:t>
            </a:r>
          </a:p>
          <a:p>
            <a:endParaRPr lang="en-US" i="1"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104</a:t>
            </a:fld>
            <a:endParaRPr lang="en-US"/>
          </a:p>
        </p:txBody>
      </p:sp>
    </p:spTree>
    <p:extLst>
      <p:ext uri="{BB962C8B-B14F-4D97-AF65-F5344CB8AC3E}">
        <p14:creationId xmlns:p14="http://schemas.microsoft.com/office/powerpoint/2010/main" val="3538471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105</a:t>
            </a:fld>
            <a:endParaRPr lang="en-US" dirty="0"/>
          </a:p>
        </p:txBody>
      </p:sp>
    </p:spTree>
    <p:extLst>
      <p:ext uri="{BB962C8B-B14F-4D97-AF65-F5344CB8AC3E}">
        <p14:creationId xmlns:p14="http://schemas.microsoft.com/office/powerpoint/2010/main" val="2749385288"/>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14286</TotalTime>
  <Words>9228</Words>
  <Application>Microsoft Office PowerPoint</Application>
  <PresentationFormat>Widescreen</PresentationFormat>
  <Paragraphs>1368</Paragraphs>
  <Slides>105</Slides>
  <Notes>105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105</vt:i4>
      </vt:variant>
    </vt:vector>
  </HeadingPairs>
  <TitlesOfParts>
    <vt:vector size="113" baseType="lpstr">
      <vt:lpstr>Arial</vt:lpstr>
      <vt:lpstr>Baskerville</vt:lpstr>
      <vt:lpstr>Calibri</vt:lpstr>
      <vt:lpstr>MS Outlook</vt:lpstr>
      <vt:lpstr>Roboto</vt:lpstr>
      <vt:lpstr>Roboto Medium</vt:lpstr>
      <vt:lpstr>Wingdings</vt:lpstr>
      <vt:lpstr>Office Theme</vt:lpstr>
      <vt:lpstr>PowerPoint Presentation</vt:lpstr>
      <vt:lpstr>PowerPoint Presentation</vt:lpstr>
      <vt:lpstr>PowerPoint Presentation</vt:lpstr>
      <vt:lpstr>Ground Rules for Event</vt:lpstr>
      <vt:lpstr>What is TPM?</vt:lpstr>
      <vt:lpstr>Exercise: Discussion</vt:lpstr>
      <vt:lpstr>Goal Of Total Productive Maintenance</vt:lpstr>
      <vt:lpstr>Who uses TPM?</vt:lpstr>
      <vt:lpstr>Traditional vs. TPM</vt:lpstr>
      <vt:lpstr>Why Implement TPM?</vt:lpstr>
      <vt:lpstr>Can We Respond to the Challenge?</vt:lpstr>
      <vt:lpstr>TPM should be tied to VSM Kaizen Bursts</vt:lpstr>
      <vt:lpstr>The TPM Process</vt:lpstr>
      <vt:lpstr>The “Big Three”</vt:lpstr>
      <vt:lpstr>Exercise: TPM Charter Review</vt:lpstr>
      <vt:lpstr>Loss Data Analysis and Overall Equipment Effectiveness</vt:lpstr>
      <vt:lpstr>What is Maintenance’s Product?</vt:lpstr>
      <vt:lpstr>Goal: To reduce losses</vt:lpstr>
      <vt:lpstr>Analysis of Historical Performance That Is It?</vt:lpstr>
      <vt:lpstr>Analysis of Historical Performance:  Why do you do it?</vt:lpstr>
      <vt:lpstr>Analysis of Historical Performance:  How do you do it?</vt:lpstr>
      <vt:lpstr>Analysis of Historical Performance:  How do you do it?</vt:lpstr>
      <vt:lpstr>Analysis of Historical Performance:  How do you do it?</vt:lpstr>
      <vt:lpstr>Analysis of Historical Performance:  How do you do it?</vt:lpstr>
      <vt:lpstr>Analysis of Historical Performance:  How do you do it?</vt:lpstr>
      <vt:lpstr>Pareto Analysis</vt:lpstr>
      <vt:lpstr>Maintenance Work Order History Example: Mold Machine</vt:lpstr>
      <vt:lpstr>Analysis of Historical Performance:  How do you do it?</vt:lpstr>
      <vt:lpstr>Loss Data Analysis</vt:lpstr>
      <vt:lpstr>Evaluate Quality Data</vt:lpstr>
      <vt:lpstr>Analysis of Historical Performance:  How do you do it?</vt:lpstr>
      <vt:lpstr>Analysis of Historical Performance:  How do you do it?</vt:lpstr>
      <vt:lpstr>Exercise: Analysis of Historical Performance</vt:lpstr>
      <vt:lpstr>Calculating Overall Equipment Effectiveness</vt:lpstr>
      <vt:lpstr>Calculating Overall Equipment Effectiveness</vt:lpstr>
      <vt:lpstr>Calculating Overall Equipment Effectiveness</vt:lpstr>
      <vt:lpstr>Exercise: Calculate OEE</vt:lpstr>
      <vt:lpstr>Exercise: Calculate OEE</vt:lpstr>
      <vt:lpstr>OEE Example – The Answer!</vt:lpstr>
      <vt:lpstr>Exercise: Calculate OEE</vt:lpstr>
      <vt:lpstr>Restore Deterioration</vt:lpstr>
      <vt:lpstr>Restore Deterioration: What Is It?</vt:lpstr>
      <vt:lpstr>Restore Deterioration: Why Do You Do It?</vt:lpstr>
      <vt:lpstr>Restore Deterioration: How Do You Do It?</vt:lpstr>
      <vt:lpstr>“Clean to Inspect”</vt:lpstr>
      <vt:lpstr>The Red Tag Process</vt:lpstr>
      <vt:lpstr>Restore Deterioration: How Do You Do It?</vt:lpstr>
      <vt:lpstr>“Inspect to Correct”</vt:lpstr>
      <vt:lpstr>The Red Tag Process</vt:lpstr>
      <vt:lpstr>The Red Tag Process</vt:lpstr>
      <vt:lpstr>The Red Tag Process: Welder </vt:lpstr>
      <vt:lpstr>The Red Tag Process: Material Transport </vt:lpstr>
      <vt:lpstr>Exercise: Restore Deterioration</vt:lpstr>
      <vt:lpstr>Autonomous Maintenance</vt:lpstr>
      <vt:lpstr>Autonomous Maintenance: What Is It?</vt:lpstr>
      <vt:lpstr>Autonomous Maintenance:  Why Do You Do It?</vt:lpstr>
      <vt:lpstr>Autonomous Maintenance: How Is It Done?</vt:lpstr>
      <vt:lpstr>Autonomous Maintenance: How Is It Done?</vt:lpstr>
      <vt:lpstr>Visual Management of Equipment: Summary</vt:lpstr>
      <vt:lpstr>Visual Management of Equipment: Summary</vt:lpstr>
      <vt:lpstr>Visual Management of Equipment: Summary</vt:lpstr>
      <vt:lpstr>Autonomous Maintenance: How Is It Done?</vt:lpstr>
      <vt:lpstr>Autonomous Maintenance: How Is It Done?</vt:lpstr>
      <vt:lpstr>Autonomous Inspection</vt:lpstr>
      <vt:lpstr>Replaceable Filters</vt:lpstr>
      <vt:lpstr>Exercise: Autonomous Maintenance</vt:lpstr>
      <vt:lpstr>Sustain and Improve OEE</vt:lpstr>
      <vt:lpstr>Sustain and Improve OEE: What Is It?</vt:lpstr>
      <vt:lpstr>Sustain and Improve OEE: Why Do You Do It?</vt:lpstr>
      <vt:lpstr>Sustain and Improve OEE: How Do You Do It?</vt:lpstr>
      <vt:lpstr>Sustain and Continuously Improve OEE: How Do You Do It?</vt:lpstr>
      <vt:lpstr>Five Whys</vt:lpstr>
      <vt:lpstr>Five Whys</vt:lpstr>
      <vt:lpstr>The Fishbone</vt:lpstr>
      <vt:lpstr>From Root Causes….</vt:lpstr>
      <vt:lpstr>From Root Causes….</vt:lpstr>
      <vt:lpstr>From Root Causes….</vt:lpstr>
      <vt:lpstr>Measurement</vt:lpstr>
      <vt:lpstr>What Are Our Losses?</vt:lpstr>
      <vt:lpstr>Equipment Uptime</vt:lpstr>
      <vt:lpstr>TPM Visual Board</vt:lpstr>
      <vt:lpstr>Exercise: OEE Sustaining and Continuous Improvement</vt:lpstr>
      <vt:lpstr>Improve Maintainability and Maintenance Avoidance</vt:lpstr>
      <vt:lpstr>Improve Maintainability: What Is It?</vt:lpstr>
      <vt:lpstr>Improve Maintainability: Why Do It?</vt:lpstr>
      <vt:lpstr>Improve Maintainability: How Do You Do It?</vt:lpstr>
      <vt:lpstr>Improve Maintainability: Visual Management of Spares Room</vt:lpstr>
      <vt:lpstr>PowerPoint Presentation</vt:lpstr>
      <vt:lpstr>PowerPoint Presentation</vt:lpstr>
      <vt:lpstr>LPPS Coater 3 Month PM Carts</vt:lpstr>
      <vt:lpstr>PowerPoint Presentation</vt:lpstr>
      <vt:lpstr>Exercise: Maintenance Improvement</vt:lpstr>
      <vt:lpstr>Maintenance Avoidance: What Is It?</vt:lpstr>
      <vt:lpstr>Maintenance Avoidance: Why Do It?</vt:lpstr>
      <vt:lpstr>Maintenance Avoidance: How Do You Do It?</vt:lpstr>
      <vt:lpstr>Exercise: Maintenance Avoidance</vt:lpstr>
      <vt:lpstr>Running the Event</vt:lpstr>
      <vt:lpstr>Event Goals</vt:lpstr>
      <vt:lpstr>Lets Get Started! TPM Team Checklist</vt:lpstr>
      <vt:lpstr>Lets Get Started! TPM Team Checklist</vt:lpstr>
      <vt:lpstr>Lets Get Started! TPM Team Checklist</vt:lpstr>
      <vt:lpstr>Lets Get Started! TPM Team Checklist</vt:lpstr>
      <vt:lpstr>Lets Get Started! TPM Team Checklist</vt:lpstr>
      <vt:lpstr>Recommended Further Reading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436</cp:revision>
  <dcterms:created xsi:type="dcterms:W3CDTF">2023-02-08T22:10:20Z</dcterms:created>
  <dcterms:modified xsi:type="dcterms:W3CDTF">2023-09-29T21:29:38Z</dcterms:modified>
</cp:coreProperties>
</file>