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rawings/drawing1.xml" ContentType="application/vnd.openxmlformats-officedocument.drawingml.chartshapes+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 id="2147483663" r:id="rId2"/>
  </p:sldMasterIdLst>
  <p:notesMasterIdLst>
    <p:notesMasterId r:id="rId68"/>
  </p:notesMasterIdLst>
  <p:sldIdLst>
    <p:sldId id="258" r:id="rId3"/>
    <p:sldId id="283" r:id="rId4"/>
    <p:sldId id="284" r:id="rId5"/>
    <p:sldId id="285" r:id="rId6"/>
    <p:sldId id="286" r:id="rId7"/>
    <p:sldId id="287" r:id="rId8"/>
    <p:sldId id="288" r:id="rId9"/>
    <p:sldId id="289" r:id="rId10"/>
    <p:sldId id="290" r:id="rId11"/>
    <p:sldId id="292" r:id="rId12"/>
    <p:sldId id="291" r:id="rId13"/>
    <p:sldId id="293" r:id="rId14"/>
    <p:sldId id="1382" r:id="rId15"/>
    <p:sldId id="343" r:id="rId16"/>
    <p:sldId id="296" r:id="rId17"/>
    <p:sldId id="297" r:id="rId18"/>
    <p:sldId id="1370" r:id="rId19"/>
    <p:sldId id="330" r:id="rId20"/>
    <p:sldId id="298" r:id="rId21"/>
    <p:sldId id="299" r:id="rId22"/>
    <p:sldId id="331" r:id="rId23"/>
    <p:sldId id="332" r:id="rId24"/>
    <p:sldId id="301" r:id="rId25"/>
    <p:sldId id="344" r:id="rId26"/>
    <p:sldId id="345" r:id="rId27"/>
    <p:sldId id="304" r:id="rId28"/>
    <p:sldId id="346" r:id="rId29"/>
    <p:sldId id="306" r:id="rId30"/>
    <p:sldId id="310" r:id="rId31"/>
    <p:sldId id="347" r:id="rId32"/>
    <p:sldId id="348" r:id="rId33"/>
    <p:sldId id="313" r:id="rId34"/>
    <p:sldId id="315" r:id="rId35"/>
    <p:sldId id="316" r:id="rId36"/>
    <p:sldId id="317" r:id="rId37"/>
    <p:sldId id="349" r:id="rId38"/>
    <p:sldId id="319" r:id="rId39"/>
    <p:sldId id="320" r:id="rId40"/>
    <p:sldId id="321" r:id="rId41"/>
    <p:sldId id="322" r:id="rId42"/>
    <p:sldId id="1324" r:id="rId43"/>
    <p:sldId id="1118" r:id="rId44"/>
    <p:sldId id="1371" r:id="rId45"/>
    <p:sldId id="1372" r:id="rId46"/>
    <p:sldId id="1373" r:id="rId47"/>
    <p:sldId id="1364" r:id="rId48"/>
    <p:sldId id="1374" r:id="rId49"/>
    <p:sldId id="1375" r:id="rId50"/>
    <p:sldId id="1365" r:id="rId51"/>
    <p:sldId id="1376" r:id="rId52"/>
    <p:sldId id="1366" r:id="rId53"/>
    <p:sldId id="1377" r:id="rId54"/>
    <p:sldId id="1367" r:id="rId55"/>
    <p:sldId id="1379" r:id="rId56"/>
    <p:sldId id="1368" r:id="rId57"/>
    <p:sldId id="1378" r:id="rId58"/>
    <p:sldId id="1369" r:id="rId59"/>
    <p:sldId id="1380" r:id="rId60"/>
    <p:sldId id="323" r:id="rId61"/>
    <p:sldId id="324" r:id="rId62"/>
    <p:sldId id="325" r:id="rId63"/>
    <p:sldId id="326" r:id="rId64"/>
    <p:sldId id="327" r:id="rId65"/>
    <p:sldId id="328" r:id="rId66"/>
    <p:sldId id="1381" r:id="rId6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7B6AAEF-3415-5D22-AFDC-F31A005CEED7}" name="Joe Rutz" initials="JR" userId="S::joe.rutz@leancoachingllc.com::74172d3c-f68f-4a41-af3d-37d02d9c966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B627"/>
    <a:srgbClr val="222222"/>
    <a:srgbClr val="177E89"/>
    <a:srgbClr val="8EDCE6"/>
    <a:srgbClr val="F1BF98"/>
    <a:srgbClr val="2EC4B6"/>
    <a:srgbClr val="BDDBD0"/>
    <a:srgbClr val="2D7DD2"/>
    <a:srgbClr val="62929E"/>
    <a:srgbClr val="B3DEE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5283"/>
    <p:restoredTop sz="81860" autoAdjust="0"/>
  </p:normalViewPr>
  <p:slideViewPr>
    <p:cSldViewPr snapToGrid="0">
      <p:cViewPr varScale="1">
        <p:scale>
          <a:sx n="155" d="100"/>
          <a:sy n="155" d="100"/>
        </p:scale>
        <p:origin x="1112" y="192"/>
      </p:cViewPr>
      <p:guideLst/>
    </p:cSldViewPr>
  </p:slideViewPr>
  <p:notesTextViewPr>
    <p:cViewPr>
      <p:scale>
        <a:sx n="3" d="2"/>
        <a:sy n="3" d="2"/>
      </p:scale>
      <p:origin x="0" y="0"/>
    </p:cViewPr>
  </p:notesTextViewPr>
  <p:sorterViewPr>
    <p:cViewPr varScale="1">
      <p:scale>
        <a:sx n="100" d="100"/>
        <a:sy n="100" d="100"/>
      </p:scale>
      <p:origin x="0" y="-12528"/>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tableStyles" Target="tableStyle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microsoft.com/office/2018/10/relationships/authors" Target="author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 Type="http://schemas.openxmlformats.org/officeDocument/2006/relationships/slide" Target="slides/slide5.xml"/><Relationship Id="rId71"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chartUserShapes" Target="../drawings/drawing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6.0906910501714866E-2"/>
          <c:w val="0.96682400920568434"/>
          <c:h val="0.92480628333121617"/>
        </c:manualLayout>
      </c:layout>
      <c:lineChart>
        <c:grouping val="standard"/>
        <c:varyColors val="0"/>
        <c:ser>
          <c:idx val="0"/>
          <c:order val="0"/>
          <c:tx>
            <c:strRef>
              <c:f>Sheet1!$B$1</c:f>
              <c:strCache>
                <c:ptCount val="1"/>
                <c:pt idx="0">
                  <c:v>Series 1</c:v>
                </c:pt>
              </c:strCache>
            </c:strRef>
          </c:tx>
          <c:spPr>
            <a:ln w="50800" cap="rnd">
              <a:solidFill>
                <a:schemeClr val="accent1"/>
              </a:solidFill>
              <a:round/>
            </a:ln>
            <a:effectLst/>
          </c:spPr>
          <c:marker>
            <c:symbol val="none"/>
          </c:marker>
          <c:cat>
            <c:strRef>
              <c:f>Sheet1!$A$2:$A$11</c:f>
              <c:strCache>
                <c:ptCount val="4"/>
                <c:pt idx="0">
                  <c:v>Category 1</c:v>
                </c:pt>
                <c:pt idx="1">
                  <c:v>Category 2</c:v>
                </c:pt>
                <c:pt idx="2">
                  <c:v>Category 3</c:v>
                </c:pt>
                <c:pt idx="3">
                  <c:v>Category 4</c:v>
                </c:pt>
              </c:strCache>
            </c:strRef>
          </c:cat>
          <c:val>
            <c:numRef>
              <c:f>Sheet1!$B$2:$B$11</c:f>
              <c:numCache>
                <c:formatCode>General</c:formatCode>
                <c:ptCount val="10"/>
                <c:pt idx="0">
                  <c:v>0</c:v>
                </c:pt>
                <c:pt idx="1">
                  <c:v>10</c:v>
                </c:pt>
                <c:pt idx="2">
                  <c:v>10</c:v>
                </c:pt>
                <c:pt idx="3">
                  <c:v>20</c:v>
                </c:pt>
                <c:pt idx="4">
                  <c:v>20</c:v>
                </c:pt>
                <c:pt idx="5">
                  <c:v>30</c:v>
                </c:pt>
                <c:pt idx="6">
                  <c:v>30</c:v>
                </c:pt>
                <c:pt idx="7">
                  <c:v>40</c:v>
                </c:pt>
                <c:pt idx="8">
                  <c:v>40</c:v>
                </c:pt>
                <c:pt idx="9">
                  <c:v>50</c:v>
                </c:pt>
              </c:numCache>
            </c:numRef>
          </c:val>
          <c:smooth val="0"/>
          <c:extLst>
            <c:ext xmlns:c16="http://schemas.microsoft.com/office/drawing/2014/chart" uri="{C3380CC4-5D6E-409C-BE32-E72D297353CC}">
              <c16:uniqueId val="{00000000-55CD-4C10-B2AE-7B71BEADFC0B}"/>
            </c:ext>
          </c:extLst>
        </c:ser>
        <c:ser>
          <c:idx val="1"/>
          <c:order val="1"/>
          <c:tx>
            <c:strRef>
              <c:f>Sheet1!$C$1</c:f>
              <c:strCache>
                <c:ptCount val="1"/>
                <c:pt idx="0">
                  <c:v>Series 2</c:v>
                </c:pt>
              </c:strCache>
            </c:strRef>
          </c:tx>
          <c:spPr>
            <a:ln w="50800" cap="rnd">
              <a:solidFill>
                <a:schemeClr val="bg2">
                  <a:lumMod val="10000"/>
                </a:schemeClr>
              </a:solidFill>
              <a:round/>
            </a:ln>
            <a:effectLst/>
          </c:spPr>
          <c:marker>
            <c:symbol val="none"/>
          </c:marker>
          <c:cat>
            <c:strRef>
              <c:f>Sheet1!$A$2:$A$11</c:f>
              <c:strCache>
                <c:ptCount val="4"/>
                <c:pt idx="0">
                  <c:v>Category 1</c:v>
                </c:pt>
                <c:pt idx="1">
                  <c:v>Category 2</c:v>
                </c:pt>
                <c:pt idx="2">
                  <c:v>Category 3</c:v>
                </c:pt>
                <c:pt idx="3">
                  <c:v>Category 4</c:v>
                </c:pt>
              </c:strCache>
            </c:strRef>
          </c:cat>
          <c:val>
            <c:numRef>
              <c:f>Sheet1!$C$2:$C$11</c:f>
              <c:numCache>
                <c:formatCode>General</c:formatCode>
                <c:ptCount val="10"/>
                <c:pt idx="0">
                  <c:v>0</c:v>
                </c:pt>
                <c:pt idx="1">
                  <c:v>10</c:v>
                </c:pt>
                <c:pt idx="2">
                  <c:v>8</c:v>
                </c:pt>
                <c:pt idx="3">
                  <c:v>3</c:v>
                </c:pt>
                <c:pt idx="4">
                  <c:v>13</c:v>
                </c:pt>
                <c:pt idx="5">
                  <c:v>5</c:v>
                </c:pt>
                <c:pt idx="6">
                  <c:v>10</c:v>
                </c:pt>
                <c:pt idx="7">
                  <c:v>8</c:v>
                </c:pt>
                <c:pt idx="8">
                  <c:v>5</c:v>
                </c:pt>
                <c:pt idx="9">
                  <c:v>13</c:v>
                </c:pt>
              </c:numCache>
            </c:numRef>
          </c:val>
          <c:smooth val="0"/>
          <c:extLst>
            <c:ext xmlns:c16="http://schemas.microsoft.com/office/drawing/2014/chart" uri="{C3380CC4-5D6E-409C-BE32-E72D297353CC}">
              <c16:uniqueId val="{00000001-55CD-4C10-B2AE-7B71BEADFC0B}"/>
            </c:ext>
          </c:extLst>
        </c:ser>
        <c:dLbls>
          <c:showLegendKey val="0"/>
          <c:showVal val="0"/>
          <c:showCatName val="0"/>
          <c:showSerName val="0"/>
          <c:showPercent val="0"/>
          <c:showBubbleSize val="0"/>
        </c:dLbls>
        <c:smooth val="0"/>
        <c:axId val="1498353967"/>
        <c:axId val="1498343983"/>
      </c:lineChart>
      <c:catAx>
        <c:axId val="1498353967"/>
        <c:scaling>
          <c:orientation val="minMax"/>
        </c:scaling>
        <c:delete val="0"/>
        <c:axPos val="b"/>
        <c:numFmt formatCode="General" sourceLinked="1"/>
        <c:majorTickMark val="none"/>
        <c:minorTickMark val="none"/>
        <c:tickLblPos val="none"/>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Roboto" panose="02000000000000000000" pitchFamily="2" charset="0"/>
                <a:ea typeface="Roboto" panose="02000000000000000000" pitchFamily="2" charset="0"/>
                <a:cs typeface="Roboto" panose="02000000000000000000" pitchFamily="2" charset="0"/>
              </a:defRPr>
            </a:pPr>
            <a:endParaRPr lang="en-US"/>
          </a:p>
        </c:txPr>
        <c:crossAx val="1498343983"/>
        <c:crosses val="autoZero"/>
        <c:auto val="1"/>
        <c:lblAlgn val="ctr"/>
        <c:lblOffset val="100"/>
        <c:noMultiLvlLbl val="0"/>
      </c:catAx>
      <c:valAx>
        <c:axId val="1498343983"/>
        <c:scaling>
          <c:orientation val="minMax"/>
        </c:scaling>
        <c:delete val="0"/>
        <c:axPos val="l"/>
        <c:majorGridlines>
          <c:spPr>
            <a:ln w="9525" cap="flat" cmpd="sng" algn="ctr">
              <a:noFill/>
              <a:round/>
            </a:ln>
            <a:effectLst/>
          </c:spPr>
        </c:majorGridlines>
        <c:numFmt formatCode="General" sourceLinked="1"/>
        <c:majorTickMark val="none"/>
        <c:minorTickMark val="none"/>
        <c:tickLblPos val="none"/>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Roboto" panose="02000000000000000000" pitchFamily="2" charset="0"/>
                <a:ea typeface="Roboto" panose="02000000000000000000" pitchFamily="2" charset="0"/>
                <a:cs typeface="Roboto" panose="02000000000000000000" pitchFamily="2" charset="0"/>
              </a:defRPr>
            </a:pPr>
            <a:endParaRPr lang="en-US"/>
          </a:p>
        </c:txPr>
        <c:crossAx val="1498353967"/>
        <c:crosses val="autoZero"/>
        <c:crossBetween val="between"/>
      </c:valAx>
      <c:spPr>
        <a:solidFill>
          <a:schemeClr val="accent3"/>
        </a:solid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latin typeface="Roboto" panose="02000000000000000000" pitchFamily="2" charset="0"/>
          <a:ea typeface="Roboto" panose="02000000000000000000" pitchFamily="2" charset="0"/>
          <a:cs typeface="Roboto" panose="02000000000000000000" pitchFamily="2" charset="0"/>
        </a:defRPr>
      </a:pPr>
      <a:endParaRPr lang="en-US"/>
    </a:p>
  </c:txPr>
  <c:externalData r:id="rId3">
    <c:autoUpdate val="0"/>
  </c:externalData>
  <c:userShapes r:id="rId4"/>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F8CEBF2-2E3A-4E03-BB9A-282149A5D77C}" type="doc">
      <dgm:prSet loTypeId="urn:microsoft.com/office/officeart/2005/8/layout/hProcess11" loCatId="process" qsTypeId="urn:microsoft.com/office/officeart/2005/8/quickstyle/simple1" qsCatId="simple" csTypeId="urn:microsoft.com/office/officeart/2005/8/colors/colorful3" csCatId="colorful" phldr="1"/>
      <dgm:spPr/>
    </dgm:pt>
    <dgm:pt modelId="{8439AEC3-9BC6-47C5-AB1D-11FD7AF7900C}">
      <dgm:prSet phldrT="[Text]"/>
      <dgm:spPr/>
      <dgm:t>
        <a:bodyPr anchor="ctr"/>
        <a:lstStyle/>
        <a:p>
          <a:r>
            <a:rPr lang="en-US" dirty="0">
              <a:solidFill>
                <a:schemeClr val="bg2">
                  <a:lumMod val="10000"/>
                </a:schemeClr>
              </a:solidFill>
            </a:rPr>
            <a:t>1850</a:t>
          </a:r>
        </a:p>
      </dgm:t>
    </dgm:pt>
    <dgm:pt modelId="{DCE1D1D2-2E8D-4993-986D-64692F8446B6}" type="parTrans" cxnId="{D9DCD9DF-48DA-4488-87E4-95DB856C8B1E}">
      <dgm:prSet/>
      <dgm:spPr/>
      <dgm:t>
        <a:bodyPr/>
        <a:lstStyle/>
        <a:p>
          <a:endParaRPr lang="en-US"/>
        </a:p>
      </dgm:t>
    </dgm:pt>
    <dgm:pt modelId="{1AA0E5D5-F2FA-4E97-9B3F-14C70D79ECCE}" type="sibTrans" cxnId="{D9DCD9DF-48DA-4488-87E4-95DB856C8B1E}">
      <dgm:prSet/>
      <dgm:spPr/>
      <dgm:t>
        <a:bodyPr/>
        <a:lstStyle/>
        <a:p>
          <a:endParaRPr lang="en-US"/>
        </a:p>
      </dgm:t>
    </dgm:pt>
    <dgm:pt modelId="{7F600F17-E123-47C0-BC7D-CAE728A7ED15}">
      <dgm:prSet phldrT="[Text]"/>
      <dgm:spPr/>
      <dgm:t>
        <a:bodyPr anchor="ctr"/>
        <a:lstStyle/>
        <a:p>
          <a:r>
            <a:rPr lang="en-US" dirty="0">
              <a:solidFill>
                <a:schemeClr val="bg2">
                  <a:lumMod val="10000"/>
                </a:schemeClr>
              </a:solidFill>
            </a:rPr>
            <a:t>1900</a:t>
          </a:r>
        </a:p>
      </dgm:t>
    </dgm:pt>
    <dgm:pt modelId="{CCFC5126-456A-4170-B37A-92D0B11B8DE1}" type="parTrans" cxnId="{E94EB7C5-9744-42E2-AE60-799DC162F5AC}">
      <dgm:prSet/>
      <dgm:spPr/>
      <dgm:t>
        <a:bodyPr/>
        <a:lstStyle/>
        <a:p>
          <a:endParaRPr lang="en-US"/>
        </a:p>
      </dgm:t>
    </dgm:pt>
    <dgm:pt modelId="{379EEBA7-4F39-48B9-9A5A-867A459E8521}" type="sibTrans" cxnId="{E94EB7C5-9744-42E2-AE60-799DC162F5AC}">
      <dgm:prSet/>
      <dgm:spPr/>
      <dgm:t>
        <a:bodyPr/>
        <a:lstStyle/>
        <a:p>
          <a:endParaRPr lang="en-US"/>
        </a:p>
      </dgm:t>
    </dgm:pt>
    <dgm:pt modelId="{2D33C714-F094-4A79-835B-9C5EA0A19D10}">
      <dgm:prSet phldrT="[Text]"/>
      <dgm:spPr/>
      <dgm:t>
        <a:bodyPr anchor="ctr"/>
        <a:lstStyle/>
        <a:p>
          <a:r>
            <a:rPr lang="en-US" dirty="0">
              <a:solidFill>
                <a:schemeClr val="bg2">
                  <a:lumMod val="10000"/>
                </a:schemeClr>
              </a:solidFill>
            </a:rPr>
            <a:t>1950</a:t>
          </a:r>
        </a:p>
      </dgm:t>
    </dgm:pt>
    <dgm:pt modelId="{AC73EA1B-7077-475E-965D-76ABF643008C}" type="parTrans" cxnId="{4B5918F5-3623-4506-9D69-597C62FE96F2}">
      <dgm:prSet/>
      <dgm:spPr/>
      <dgm:t>
        <a:bodyPr/>
        <a:lstStyle/>
        <a:p>
          <a:endParaRPr lang="en-US"/>
        </a:p>
      </dgm:t>
    </dgm:pt>
    <dgm:pt modelId="{37639F2E-9FD0-4232-BD38-3D87E6A162D7}" type="sibTrans" cxnId="{4B5918F5-3623-4506-9D69-597C62FE96F2}">
      <dgm:prSet/>
      <dgm:spPr/>
      <dgm:t>
        <a:bodyPr/>
        <a:lstStyle/>
        <a:p>
          <a:endParaRPr lang="en-US"/>
        </a:p>
      </dgm:t>
    </dgm:pt>
    <dgm:pt modelId="{88CC54D6-B89F-464B-8671-3D93AB7EBC09}">
      <dgm:prSet phldrT="[Text]"/>
      <dgm:spPr/>
      <dgm:t>
        <a:bodyPr anchor="ctr"/>
        <a:lstStyle/>
        <a:p>
          <a:r>
            <a:rPr lang="en-US" dirty="0">
              <a:solidFill>
                <a:schemeClr val="bg2">
                  <a:lumMod val="10000"/>
                </a:schemeClr>
              </a:solidFill>
            </a:rPr>
            <a:t>2000</a:t>
          </a:r>
        </a:p>
      </dgm:t>
    </dgm:pt>
    <dgm:pt modelId="{C64BE4BC-627F-4CE3-B2C9-6391DDEC1FDB}" type="parTrans" cxnId="{C84A4929-1957-4C47-8428-9D78F914E44B}">
      <dgm:prSet/>
      <dgm:spPr/>
      <dgm:t>
        <a:bodyPr/>
        <a:lstStyle/>
        <a:p>
          <a:endParaRPr lang="en-US"/>
        </a:p>
      </dgm:t>
    </dgm:pt>
    <dgm:pt modelId="{04A1ACD7-9B27-4196-8702-9316C979C934}" type="sibTrans" cxnId="{C84A4929-1957-4C47-8428-9D78F914E44B}">
      <dgm:prSet/>
      <dgm:spPr/>
      <dgm:t>
        <a:bodyPr/>
        <a:lstStyle/>
        <a:p>
          <a:endParaRPr lang="en-US"/>
        </a:p>
      </dgm:t>
    </dgm:pt>
    <dgm:pt modelId="{C5BD3EE5-A83B-42BA-B0D6-92BEE0382BFE}">
      <dgm:prSet phldrT="[Text]"/>
      <dgm:spPr/>
      <dgm:t>
        <a:bodyPr/>
        <a:lstStyle/>
        <a:p>
          <a:endParaRPr lang="en-US" dirty="0">
            <a:solidFill>
              <a:schemeClr val="bg2">
                <a:lumMod val="10000"/>
              </a:schemeClr>
            </a:solidFill>
          </a:endParaRPr>
        </a:p>
      </dgm:t>
    </dgm:pt>
    <dgm:pt modelId="{64E593F3-8C8D-4658-95CA-C93092A54771}" type="parTrans" cxnId="{B7CEEE4F-E4A3-447E-ACBC-989CE3880AE0}">
      <dgm:prSet/>
      <dgm:spPr/>
      <dgm:t>
        <a:bodyPr/>
        <a:lstStyle/>
        <a:p>
          <a:endParaRPr lang="en-US"/>
        </a:p>
      </dgm:t>
    </dgm:pt>
    <dgm:pt modelId="{F9E31405-A97B-4086-B225-3B2A6CABB6C9}" type="sibTrans" cxnId="{B7CEEE4F-E4A3-447E-ACBC-989CE3880AE0}">
      <dgm:prSet/>
      <dgm:spPr/>
      <dgm:t>
        <a:bodyPr/>
        <a:lstStyle/>
        <a:p>
          <a:endParaRPr lang="en-US"/>
        </a:p>
      </dgm:t>
    </dgm:pt>
    <dgm:pt modelId="{3233A7B8-C167-4237-8911-94E4041350E5}">
      <dgm:prSet phldrT="[Text]"/>
      <dgm:spPr/>
      <dgm:t>
        <a:bodyPr/>
        <a:lstStyle/>
        <a:p>
          <a:endParaRPr lang="en-US" dirty="0">
            <a:solidFill>
              <a:schemeClr val="bg2">
                <a:lumMod val="10000"/>
              </a:schemeClr>
            </a:solidFill>
          </a:endParaRPr>
        </a:p>
      </dgm:t>
    </dgm:pt>
    <dgm:pt modelId="{40852FE6-965B-47EF-9D1D-71B679BB3B17}" type="parTrans" cxnId="{9E598755-5A53-44F2-A2B9-C3D7B8A71EFA}">
      <dgm:prSet/>
      <dgm:spPr/>
      <dgm:t>
        <a:bodyPr/>
        <a:lstStyle/>
        <a:p>
          <a:endParaRPr lang="en-US"/>
        </a:p>
      </dgm:t>
    </dgm:pt>
    <dgm:pt modelId="{FDE3BEA2-0930-4449-903A-7AFDE09A8000}" type="sibTrans" cxnId="{9E598755-5A53-44F2-A2B9-C3D7B8A71EFA}">
      <dgm:prSet/>
      <dgm:spPr/>
      <dgm:t>
        <a:bodyPr/>
        <a:lstStyle/>
        <a:p>
          <a:endParaRPr lang="en-US"/>
        </a:p>
      </dgm:t>
    </dgm:pt>
    <dgm:pt modelId="{C9ECC495-E461-4212-B918-12C62F2F1AA8}">
      <dgm:prSet phldrT="[Text]"/>
      <dgm:spPr/>
      <dgm:t>
        <a:bodyPr/>
        <a:lstStyle/>
        <a:p>
          <a:endParaRPr lang="en-US" dirty="0">
            <a:solidFill>
              <a:schemeClr val="bg2">
                <a:lumMod val="10000"/>
              </a:schemeClr>
            </a:solidFill>
          </a:endParaRPr>
        </a:p>
      </dgm:t>
    </dgm:pt>
    <dgm:pt modelId="{8B2D7B45-C493-4ECB-B688-D85894A1143F}" type="parTrans" cxnId="{A61901D2-94ED-4F95-8C12-991505F65313}">
      <dgm:prSet/>
      <dgm:spPr/>
      <dgm:t>
        <a:bodyPr/>
        <a:lstStyle/>
        <a:p>
          <a:endParaRPr lang="en-US"/>
        </a:p>
      </dgm:t>
    </dgm:pt>
    <dgm:pt modelId="{ED15A481-39F4-4070-912C-DED8453DFF14}" type="sibTrans" cxnId="{A61901D2-94ED-4F95-8C12-991505F65313}">
      <dgm:prSet/>
      <dgm:spPr/>
      <dgm:t>
        <a:bodyPr/>
        <a:lstStyle/>
        <a:p>
          <a:endParaRPr lang="en-US"/>
        </a:p>
      </dgm:t>
    </dgm:pt>
    <dgm:pt modelId="{42CC1DB1-2692-4A6F-9BF7-C816188D4592}">
      <dgm:prSet phldrT="[Text]"/>
      <dgm:spPr/>
      <dgm:t>
        <a:bodyPr/>
        <a:lstStyle/>
        <a:p>
          <a:endParaRPr lang="en-US" dirty="0">
            <a:solidFill>
              <a:schemeClr val="bg2">
                <a:lumMod val="10000"/>
              </a:schemeClr>
            </a:solidFill>
          </a:endParaRPr>
        </a:p>
      </dgm:t>
    </dgm:pt>
    <dgm:pt modelId="{D3FFCE2C-7D18-4D58-823A-407F069B5582}" type="parTrans" cxnId="{BF392791-F886-4F06-8A39-E06517B97DBE}">
      <dgm:prSet/>
      <dgm:spPr/>
      <dgm:t>
        <a:bodyPr/>
        <a:lstStyle/>
        <a:p>
          <a:endParaRPr lang="en-US"/>
        </a:p>
      </dgm:t>
    </dgm:pt>
    <dgm:pt modelId="{1367CC2F-54EE-46D2-8E67-6CC6393C8320}" type="sibTrans" cxnId="{BF392791-F886-4F06-8A39-E06517B97DBE}">
      <dgm:prSet/>
      <dgm:spPr/>
      <dgm:t>
        <a:bodyPr/>
        <a:lstStyle/>
        <a:p>
          <a:endParaRPr lang="en-US"/>
        </a:p>
      </dgm:t>
    </dgm:pt>
    <dgm:pt modelId="{3B43A99A-8C84-4049-8A41-2A1C6F6A9376}">
      <dgm:prSet phldrT="[Text]"/>
      <dgm:spPr/>
      <dgm:t>
        <a:bodyPr/>
        <a:lstStyle/>
        <a:p>
          <a:endParaRPr lang="en-US" dirty="0">
            <a:solidFill>
              <a:schemeClr val="bg2">
                <a:lumMod val="10000"/>
              </a:schemeClr>
            </a:solidFill>
          </a:endParaRPr>
        </a:p>
      </dgm:t>
    </dgm:pt>
    <dgm:pt modelId="{C14F5F7A-910D-410D-AE9C-E2270E055E1A}" type="parTrans" cxnId="{D4986E91-3384-4B92-8FB0-283B8A2D20C2}">
      <dgm:prSet/>
      <dgm:spPr/>
      <dgm:t>
        <a:bodyPr/>
        <a:lstStyle/>
        <a:p>
          <a:endParaRPr lang="en-US"/>
        </a:p>
      </dgm:t>
    </dgm:pt>
    <dgm:pt modelId="{C4D9E467-AFFD-49CA-9F7B-7F20C8BFFA7A}" type="sibTrans" cxnId="{D4986E91-3384-4B92-8FB0-283B8A2D20C2}">
      <dgm:prSet/>
      <dgm:spPr/>
      <dgm:t>
        <a:bodyPr/>
        <a:lstStyle/>
        <a:p>
          <a:endParaRPr lang="en-US"/>
        </a:p>
      </dgm:t>
    </dgm:pt>
    <dgm:pt modelId="{702BE1B1-EBF4-4608-8701-8F8A4CE9926A}">
      <dgm:prSet phldrT="[Text]"/>
      <dgm:spPr/>
      <dgm:t>
        <a:bodyPr/>
        <a:lstStyle/>
        <a:p>
          <a:endParaRPr lang="en-US" dirty="0">
            <a:solidFill>
              <a:schemeClr val="bg2">
                <a:lumMod val="10000"/>
              </a:schemeClr>
            </a:solidFill>
          </a:endParaRPr>
        </a:p>
      </dgm:t>
    </dgm:pt>
    <dgm:pt modelId="{FC92F143-C9F7-4D7F-8B76-A1898C923DC9}" type="parTrans" cxnId="{2A03EE78-9D68-40A6-9619-7AF216945110}">
      <dgm:prSet/>
      <dgm:spPr/>
      <dgm:t>
        <a:bodyPr/>
        <a:lstStyle/>
        <a:p>
          <a:endParaRPr lang="en-US"/>
        </a:p>
      </dgm:t>
    </dgm:pt>
    <dgm:pt modelId="{4356C31C-5CEB-457A-8837-871D8FAB60FF}" type="sibTrans" cxnId="{2A03EE78-9D68-40A6-9619-7AF216945110}">
      <dgm:prSet/>
      <dgm:spPr/>
      <dgm:t>
        <a:bodyPr/>
        <a:lstStyle/>
        <a:p>
          <a:endParaRPr lang="en-US"/>
        </a:p>
      </dgm:t>
    </dgm:pt>
    <dgm:pt modelId="{8D9BEFF3-3C78-4718-A5AD-7BF99958A1E6}">
      <dgm:prSet phldrT="[Text]"/>
      <dgm:spPr/>
      <dgm:t>
        <a:bodyPr/>
        <a:lstStyle/>
        <a:p>
          <a:endParaRPr lang="en-US" dirty="0">
            <a:solidFill>
              <a:schemeClr val="bg2">
                <a:lumMod val="10000"/>
              </a:schemeClr>
            </a:solidFill>
          </a:endParaRPr>
        </a:p>
      </dgm:t>
    </dgm:pt>
    <dgm:pt modelId="{00F4CA87-EA82-47F6-8755-2415F559A27D}" type="parTrans" cxnId="{6BE636B9-9AE6-42EC-BC3E-72EEDA8E1A65}">
      <dgm:prSet/>
      <dgm:spPr/>
      <dgm:t>
        <a:bodyPr/>
        <a:lstStyle/>
        <a:p>
          <a:endParaRPr lang="en-US"/>
        </a:p>
      </dgm:t>
    </dgm:pt>
    <dgm:pt modelId="{A4CE7954-7BDE-4BD5-BEF8-9D9B82CC2B37}" type="sibTrans" cxnId="{6BE636B9-9AE6-42EC-BC3E-72EEDA8E1A65}">
      <dgm:prSet/>
      <dgm:spPr/>
      <dgm:t>
        <a:bodyPr/>
        <a:lstStyle/>
        <a:p>
          <a:endParaRPr lang="en-US"/>
        </a:p>
      </dgm:t>
    </dgm:pt>
    <dgm:pt modelId="{419B8074-7AC4-4B13-B474-63A4E1FABD7E}">
      <dgm:prSet phldrT="[Text]"/>
      <dgm:spPr/>
      <dgm:t>
        <a:bodyPr/>
        <a:lstStyle/>
        <a:p>
          <a:endParaRPr lang="en-US" dirty="0">
            <a:solidFill>
              <a:schemeClr val="bg2">
                <a:lumMod val="10000"/>
              </a:schemeClr>
            </a:solidFill>
          </a:endParaRPr>
        </a:p>
      </dgm:t>
    </dgm:pt>
    <dgm:pt modelId="{82220545-7A75-48EF-8505-0B2D5E2AEFBE}" type="parTrans" cxnId="{EB44AD86-DA79-4AD1-976B-5CC9979A2062}">
      <dgm:prSet/>
      <dgm:spPr/>
      <dgm:t>
        <a:bodyPr/>
        <a:lstStyle/>
        <a:p>
          <a:endParaRPr lang="en-US"/>
        </a:p>
      </dgm:t>
    </dgm:pt>
    <dgm:pt modelId="{63F5642C-D20C-48B4-B271-686FEA2C3995}" type="sibTrans" cxnId="{EB44AD86-DA79-4AD1-976B-5CC9979A2062}">
      <dgm:prSet/>
      <dgm:spPr/>
      <dgm:t>
        <a:bodyPr/>
        <a:lstStyle/>
        <a:p>
          <a:endParaRPr lang="en-US"/>
        </a:p>
      </dgm:t>
    </dgm:pt>
    <dgm:pt modelId="{ABE24355-62FD-4A8D-8D8C-41AEDD3CDA7A}">
      <dgm:prSet phldrT="[Text]"/>
      <dgm:spPr/>
      <dgm:t>
        <a:bodyPr/>
        <a:lstStyle/>
        <a:p>
          <a:endParaRPr lang="en-US" dirty="0">
            <a:solidFill>
              <a:schemeClr val="bg2">
                <a:lumMod val="10000"/>
              </a:schemeClr>
            </a:solidFill>
          </a:endParaRPr>
        </a:p>
      </dgm:t>
    </dgm:pt>
    <dgm:pt modelId="{DE9A951F-B9DB-44A3-B982-FED2699E9760}" type="parTrans" cxnId="{075B7725-CF97-4082-8F0C-8848EFE84579}">
      <dgm:prSet/>
      <dgm:spPr/>
      <dgm:t>
        <a:bodyPr/>
        <a:lstStyle/>
        <a:p>
          <a:endParaRPr lang="en-US"/>
        </a:p>
      </dgm:t>
    </dgm:pt>
    <dgm:pt modelId="{B89E968D-EBA8-48B2-9BFE-AB1A167AB00E}" type="sibTrans" cxnId="{075B7725-CF97-4082-8F0C-8848EFE84579}">
      <dgm:prSet/>
      <dgm:spPr/>
      <dgm:t>
        <a:bodyPr/>
        <a:lstStyle/>
        <a:p>
          <a:endParaRPr lang="en-US"/>
        </a:p>
      </dgm:t>
    </dgm:pt>
    <dgm:pt modelId="{25BE3705-0C03-4AEC-A5C9-BA5C6F01D193}" type="pres">
      <dgm:prSet presAssocID="{9F8CEBF2-2E3A-4E03-BB9A-282149A5D77C}" presName="Name0" presStyleCnt="0">
        <dgm:presLayoutVars>
          <dgm:dir/>
          <dgm:resizeHandles val="exact"/>
        </dgm:presLayoutVars>
      </dgm:prSet>
      <dgm:spPr/>
    </dgm:pt>
    <dgm:pt modelId="{B80A10C1-E974-4430-8366-0063126F5B0D}" type="pres">
      <dgm:prSet presAssocID="{9F8CEBF2-2E3A-4E03-BB9A-282149A5D77C}" presName="arrow" presStyleLbl="bgShp" presStyleIdx="0" presStyleCnt="1"/>
      <dgm:spPr>
        <a:solidFill>
          <a:srgbClr val="222222"/>
        </a:solidFill>
        <a:ln>
          <a:solidFill>
            <a:schemeClr val="tx1"/>
          </a:solidFill>
        </a:ln>
      </dgm:spPr>
    </dgm:pt>
    <dgm:pt modelId="{A00312DB-3228-48D4-805E-E22F4B5BB5C6}" type="pres">
      <dgm:prSet presAssocID="{9F8CEBF2-2E3A-4E03-BB9A-282149A5D77C}" presName="points" presStyleCnt="0"/>
      <dgm:spPr/>
    </dgm:pt>
    <dgm:pt modelId="{6D92E2A2-20C0-4B3F-8D80-0F41A5B409A9}" type="pres">
      <dgm:prSet presAssocID="{8439AEC3-9BC6-47C5-AB1D-11FD7AF7900C}" presName="compositeA" presStyleCnt="0"/>
      <dgm:spPr/>
    </dgm:pt>
    <dgm:pt modelId="{A5D89F72-E4A9-4F28-A397-903903684C16}" type="pres">
      <dgm:prSet presAssocID="{8439AEC3-9BC6-47C5-AB1D-11FD7AF7900C}" presName="textA" presStyleLbl="revTx" presStyleIdx="0" presStyleCnt="13">
        <dgm:presLayoutVars>
          <dgm:bulletEnabled val="1"/>
        </dgm:presLayoutVars>
      </dgm:prSet>
      <dgm:spPr/>
    </dgm:pt>
    <dgm:pt modelId="{D0684367-F33D-4F80-93A0-324E43F3386D}" type="pres">
      <dgm:prSet presAssocID="{8439AEC3-9BC6-47C5-AB1D-11FD7AF7900C}" presName="circleA" presStyleLbl="node1" presStyleIdx="0" presStyleCnt="13"/>
      <dgm:spPr>
        <a:solidFill>
          <a:srgbClr val="EE3228"/>
        </a:solidFill>
      </dgm:spPr>
    </dgm:pt>
    <dgm:pt modelId="{72A8AA2F-0C7B-45DC-A6D4-4B6059813F5D}" type="pres">
      <dgm:prSet presAssocID="{8439AEC3-9BC6-47C5-AB1D-11FD7AF7900C}" presName="spaceA" presStyleCnt="0"/>
      <dgm:spPr/>
    </dgm:pt>
    <dgm:pt modelId="{C7AB5733-A1B2-4812-AD78-1394633F889C}" type="pres">
      <dgm:prSet presAssocID="{1AA0E5D5-F2FA-4E97-9B3F-14C70D79ECCE}" presName="space" presStyleCnt="0"/>
      <dgm:spPr/>
    </dgm:pt>
    <dgm:pt modelId="{D2235BFB-F800-4FF1-9938-78589A6A5FA8}" type="pres">
      <dgm:prSet presAssocID="{C5BD3EE5-A83B-42BA-B0D6-92BEE0382BFE}" presName="compositeB" presStyleCnt="0"/>
      <dgm:spPr/>
    </dgm:pt>
    <dgm:pt modelId="{5F6DE521-F6B2-4A35-9FEC-081DFA690DCD}" type="pres">
      <dgm:prSet presAssocID="{C5BD3EE5-A83B-42BA-B0D6-92BEE0382BFE}" presName="textB" presStyleLbl="revTx" presStyleIdx="1" presStyleCnt="13">
        <dgm:presLayoutVars>
          <dgm:bulletEnabled val="1"/>
        </dgm:presLayoutVars>
      </dgm:prSet>
      <dgm:spPr/>
    </dgm:pt>
    <dgm:pt modelId="{4CECD502-74B9-4DFE-8D42-F20D4A35A1F2}" type="pres">
      <dgm:prSet presAssocID="{C5BD3EE5-A83B-42BA-B0D6-92BEE0382BFE}" presName="circleB" presStyleLbl="node1" presStyleIdx="1" presStyleCnt="13"/>
      <dgm:spPr>
        <a:solidFill>
          <a:srgbClr val="EE3228"/>
        </a:solidFill>
      </dgm:spPr>
    </dgm:pt>
    <dgm:pt modelId="{53ACB5BB-B8CD-4B9F-88F7-87EFF5FB7717}" type="pres">
      <dgm:prSet presAssocID="{C5BD3EE5-A83B-42BA-B0D6-92BEE0382BFE}" presName="spaceB" presStyleCnt="0"/>
      <dgm:spPr/>
    </dgm:pt>
    <dgm:pt modelId="{4A9A2F57-B527-40D9-8E5E-277D3A7945D7}" type="pres">
      <dgm:prSet presAssocID="{F9E31405-A97B-4086-B225-3B2A6CABB6C9}" presName="space" presStyleCnt="0"/>
      <dgm:spPr/>
    </dgm:pt>
    <dgm:pt modelId="{EA8EDCD2-F2A3-4C99-B7C6-44EDDC170996}" type="pres">
      <dgm:prSet presAssocID="{3233A7B8-C167-4237-8911-94E4041350E5}" presName="compositeA" presStyleCnt="0"/>
      <dgm:spPr/>
    </dgm:pt>
    <dgm:pt modelId="{8B57A02F-780C-4BEB-AAA9-A38E012EA9A1}" type="pres">
      <dgm:prSet presAssocID="{3233A7B8-C167-4237-8911-94E4041350E5}" presName="textA" presStyleLbl="revTx" presStyleIdx="2" presStyleCnt="13">
        <dgm:presLayoutVars>
          <dgm:bulletEnabled val="1"/>
        </dgm:presLayoutVars>
      </dgm:prSet>
      <dgm:spPr/>
    </dgm:pt>
    <dgm:pt modelId="{5C8E534A-EDCA-49A8-A65F-6B710C8D63DD}" type="pres">
      <dgm:prSet presAssocID="{3233A7B8-C167-4237-8911-94E4041350E5}" presName="circleA" presStyleLbl="node1" presStyleIdx="2" presStyleCnt="13"/>
      <dgm:spPr>
        <a:solidFill>
          <a:srgbClr val="EE3228"/>
        </a:solidFill>
      </dgm:spPr>
    </dgm:pt>
    <dgm:pt modelId="{DDA90344-6DB8-4E88-9819-E7B4212671AA}" type="pres">
      <dgm:prSet presAssocID="{3233A7B8-C167-4237-8911-94E4041350E5}" presName="spaceA" presStyleCnt="0"/>
      <dgm:spPr/>
    </dgm:pt>
    <dgm:pt modelId="{8F86CFCB-56E7-4FB9-9117-7C4DBD27BF0A}" type="pres">
      <dgm:prSet presAssocID="{FDE3BEA2-0930-4449-903A-7AFDE09A8000}" presName="space" presStyleCnt="0"/>
      <dgm:spPr/>
    </dgm:pt>
    <dgm:pt modelId="{CE6E761B-15BD-442A-99D3-3D4AE00044C2}" type="pres">
      <dgm:prSet presAssocID="{C9ECC495-E461-4212-B918-12C62F2F1AA8}" presName="compositeB" presStyleCnt="0"/>
      <dgm:spPr/>
    </dgm:pt>
    <dgm:pt modelId="{5F65ACE6-C4D8-4BB7-B256-BC05E94D0428}" type="pres">
      <dgm:prSet presAssocID="{C9ECC495-E461-4212-B918-12C62F2F1AA8}" presName="textB" presStyleLbl="revTx" presStyleIdx="3" presStyleCnt="13">
        <dgm:presLayoutVars>
          <dgm:bulletEnabled val="1"/>
        </dgm:presLayoutVars>
      </dgm:prSet>
      <dgm:spPr/>
    </dgm:pt>
    <dgm:pt modelId="{6A7663AB-DB8E-4306-9EE8-D2909B9C1A0F}" type="pres">
      <dgm:prSet presAssocID="{C9ECC495-E461-4212-B918-12C62F2F1AA8}" presName="circleB" presStyleLbl="node1" presStyleIdx="3" presStyleCnt="13"/>
      <dgm:spPr>
        <a:solidFill>
          <a:srgbClr val="EE3228"/>
        </a:solidFill>
      </dgm:spPr>
    </dgm:pt>
    <dgm:pt modelId="{3FA8D0BE-19A4-4C1A-BAE1-C143679F9599}" type="pres">
      <dgm:prSet presAssocID="{C9ECC495-E461-4212-B918-12C62F2F1AA8}" presName="spaceB" presStyleCnt="0"/>
      <dgm:spPr/>
    </dgm:pt>
    <dgm:pt modelId="{41089F48-5DB1-49BA-B3EA-CE13E778E2CB}" type="pres">
      <dgm:prSet presAssocID="{ED15A481-39F4-4070-912C-DED8453DFF14}" presName="space" presStyleCnt="0"/>
      <dgm:spPr/>
    </dgm:pt>
    <dgm:pt modelId="{17D6FD2D-C1C9-4BD8-BE36-1C98AA6B6178}" type="pres">
      <dgm:prSet presAssocID="{7F600F17-E123-47C0-BC7D-CAE728A7ED15}" presName="compositeA" presStyleCnt="0"/>
      <dgm:spPr/>
    </dgm:pt>
    <dgm:pt modelId="{05C28E79-D4E5-486F-988B-8ECD8A757630}" type="pres">
      <dgm:prSet presAssocID="{7F600F17-E123-47C0-BC7D-CAE728A7ED15}" presName="textA" presStyleLbl="revTx" presStyleIdx="4" presStyleCnt="13">
        <dgm:presLayoutVars>
          <dgm:bulletEnabled val="1"/>
        </dgm:presLayoutVars>
      </dgm:prSet>
      <dgm:spPr/>
    </dgm:pt>
    <dgm:pt modelId="{AE532651-358C-4C73-B9CB-F8AECB2A0C2B}" type="pres">
      <dgm:prSet presAssocID="{7F600F17-E123-47C0-BC7D-CAE728A7ED15}" presName="circleA" presStyleLbl="node1" presStyleIdx="4" presStyleCnt="13"/>
      <dgm:spPr>
        <a:solidFill>
          <a:srgbClr val="EE3228"/>
        </a:solidFill>
      </dgm:spPr>
    </dgm:pt>
    <dgm:pt modelId="{93F18258-6C1F-4E84-8B93-2F2516AA87DB}" type="pres">
      <dgm:prSet presAssocID="{7F600F17-E123-47C0-BC7D-CAE728A7ED15}" presName="spaceA" presStyleCnt="0"/>
      <dgm:spPr/>
    </dgm:pt>
    <dgm:pt modelId="{EA7AC877-F6AE-49CF-B329-4B26B2C20CA0}" type="pres">
      <dgm:prSet presAssocID="{379EEBA7-4F39-48B9-9A5A-867A459E8521}" presName="space" presStyleCnt="0"/>
      <dgm:spPr/>
    </dgm:pt>
    <dgm:pt modelId="{14FC7170-91A3-4D80-9E8A-DCB816A2ED87}" type="pres">
      <dgm:prSet presAssocID="{42CC1DB1-2692-4A6F-9BF7-C816188D4592}" presName="compositeB" presStyleCnt="0"/>
      <dgm:spPr/>
    </dgm:pt>
    <dgm:pt modelId="{28CD05E7-B1E7-4968-AD07-17A752F664EC}" type="pres">
      <dgm:prSet presAssocID="{42CC1DB1-2692-4A6F-9BF7-C816188D4592}" presName="textB" presStyleLbl="revTx" presStyleIdx="5" presStyleCnt="13">
        <dgm:presLayoutVars>
          <dgm:bulletEnabled val="1"/>
        </dgm:presLayoutVars>
      </dgm:prSet>
      <dgm:spPr/>
    </dgm:pt>
    <dgm:pt modelId="{2775D6E8-C967-49F3-BDA2-9D05A782DE28}" type="pres">
      <dgm:prSet presAssocID="{42CC1DB1-2692-4A6F-9BF7-C816188D4592}" presName="circleB" presStyleLbl="node1" presStyleIdx="5" presStyleCnt="13"/>
      <dgm:spPr>
        <a:solidFill>
          <a:srgbClr val="EE3228"/>
        </a:solidFill>
      </dgm:spPr>
    </dgm:pt>
    <dgm:pt modelId="{9807A7FE-B7F5-4BC0-B889-26EB8124FA5C}" type="pres">
      <dgm:prSet presAssocID="{42CC1DB1-2692-4A6F-9BF7-C816188D4592}" presName="spaceB" presStyleCnt="0"/>
      <dgm:spPr/>
    </dgm:pt>
    <dgm:pt modelId="{4336F336-2F6A-4729-AEF1-57C4A8373C95}" type="pres">
      <dgm:prSet presAssocID="{1367CC2F-54EE-46D2-8E67-6CC6393C8320}" presName="space" presStyleCnt="0"/>
      <dgm:spPr/>
    </dgm:pt>
    <dgm:pt modelId="{1003D92B-E048-4CBD-A1B4-75E47B7B7E00}" type="pres">
      <dgm:prSet presAssocID="{3B43A99A-8C84-4049-8A41-2A1C6F6A9376}" presName="compositeA" presStyleCnt="0"/>
      <dgm:spPr/>
    </dgm:pt>
    <dgm:pt modelId="{8E4FF20C-6E85-40CD-9AD9-AF83ACBB30C4}" type="pres">
      <dgm:prSet presAssocID="{3B43A99A-8C84-4049-8A41-2A1C6F6A9376}" presName="textA" presStyleLbl="revTx" presStyleIdx="6" presStyleCnt="13">
        <dgm:presLayoutVars>
          <dgm:bulletEnabled val="1"/>
        </dgm:presLayoutVars>
      </dgm:prSet>
      <dgm:spPr/>
    </dgm:pt>
    <dgm:pt modelId="{69107A70-F12D-4B51-A257-97712B001BF0}" type="pres">
      <dgm:prSet presAssocID="{3B43A99A-8C84-4049-8A41-2A1C6F6A9376}" presName="circleA" presStyleLbl="node1" presStyleIdx="6" presStyleCnt="13"/>
      <dgm:spPr>
        <a:solidFill>
          <a:srgbClr val="EE3228"/>
        </a:solidFill>
      </dgm:spPr>
    </dgm:pt>
    <dgm:pt modelId="{33FDBCDD-586B-42A4-8B77-891488B1B5D9}" type="pres">
      <dgm:prSet presAssocID="{3B43A99A-8C84-4049-8A41-2A1C6F6A9376}" presName="spaceA" presStyleCnt="0"/>
      <dgm:spPr/>
    </dgm:pt>
    <dgm:pt modelId="{2A63AFE9-A8B4-49D2-A64C-8E681D90ADDA}" type="pres">
      <dgm:prSet presAssocID="{C4D9E467-AFFD-49CA-9F7B-7F20C8BFFA7A}" presName="space" presStyleCnt="0"/>
      <dgm:spPr/>
    </dgm:pt>
    <dgm:pt modelId="{B3E08D67-3D8B-477B-92CD-E39FCBCF1016}" type="pres">
      <dgm:prSet presAssocID="{702BE1B1-EBF4-4608-8701-8F8A4CE9926A}" presName="compositeB" presStyleCnt="0"/>
      <dgm:spPr/>
    </dgm:pt>
    <dgm:pt modelId="{E7AD48BF-951C-46B0-B23F-A14CE5E8830F}" type="pres">
      <dgm:prSet presAssocID="{702BE1B1-EBF4-4608-8701-8F8A4CE9926A}" presName="textB" presStyleLbl="revTx" presStyleIdx="7" presStyleCnt="13">
        <dgm:presLayoutVars>
          <dgm:bulletEnabled val="1"/>
        </dgm:presLayoutVars>
      </dgm:prSet>
      <dgm:spPr/>
    </dgm:pt>
    <dgm:pt modelId="{8C665515-889C-4F52-9036-9D4C2CE8ABEA}" type="pres">
      <dgm:prSet presAssocID="{702BE1B1-EBF4-4608-8701-8F8A4CE9926A}" presName="circleB" presStyleLbl="node1" presStyleIdx="7" presStyleCnt="13"/>
      <dgm:spPr>
        <a:solidFill>
          <a:srgbClr val="EE3228"/>
        </a:solidFill>
      </dgm:spPr>
    </dgm:pt>
    <dgm:pt modelId="{80793515-736C-4914-ACB1-F9D31CAABF8B}" type="pres">
      <dgm:prSet presAssocID="{702BE1B1-EBF4-4608-8701-8F8A4CE9926A}" presName="spaceB" presStyleCnt="0"/>
      <dgm:spPr/>
    </dgm:pt>
    <dgm:pt modelId="{8DB40514-8432-4AC4-B20B-A4540D677DB1}" type="pres">
      <dgm:prSet presAssocID="{4356C31C-5CEB-457A-8837-871D8FAB60FF}" presName="space" presStyleCnt="0"/>
      <dgm:spPr/>
    </dgm:pt>
    <dgm:pt modelId="{EE0A5FB8-9235-4001-BFCC-11633732EEA2}" type="pres">
      <dgm:prSet presAssocID="{2D33C714-F094-4A79-835B-9C5EA0A19D10}" presName="compositeA" presStyleCnt="0"/>
      <dgm:spPr/>
    </dgm:pt>
    <dgm:pt modelId="{E6AB4F9F-58F2-4DA0-B555-B281216CD1DF}" type="pres">
      <dgm:prSet presAssocID="{2D33C714-F094-4A79-835B-9C5EA0A19D10}" presName="textA" presStyleLbl="revTx" presStyleIdx="8" presStyleCnt="13">
        <dgm:presLayoutVars>
          <dgm:bulletEnabled val="1"/>
        </dgm:presLayoutVars>
      </dgm:prSet>
      <dgm:spPr/>
    </dgm:pt>
    <dgm:pt modelId="{6A8E5EC9-41E0-494C-91AB-1A4C16DB4987}" type="pres">
      <dgm:prSet presAssocID="{2D33C714-F094-4A79-835B-9C5EA0A19D10}" presName="circleA" presStyleLbl="node1" presStyleIdx="8" presStyleCnt="13"/>
      <dgm:spPr>
        <a:solidFill>
          <a:srgbClr val="EE3228"/>
        </a:solidFill>
      </dgm:spPr>
    </dgm:pt>
    <dgm:pt modelId="{7540FD6B-B16E-4689-B3E2-9B5A3EF116A0}" type="pres">
      <dgm:prSet presAssocID="{2D33C714-F094-4A79-835B-9C5EA0A19D10}" presName="spaceA" presStyleCnt="0"/>
      <dgm:spPr/>
    </dgm:pt>
    <dgm:pt modelId="{45AF90A4-1AF9-4BBF-BC58-2320D9DC3407}" type="pres">
      <dgm:prSet presAssocID="{37639F2E-9FD0-4232-BD38-3D87E6A162D7}" presName="space" presStyleCnt="0"/>
      <dgm:spPr/>
    </dgm:pt>
    <dgm:pt modelId="{36B8AA88-8829-4733-917F-015C95333A16}" type="pres">
      <dgm:prSet presAssocID="{8D9BEFF3-3C78-4718-A5AD-7BF99958A1E6}" presName="compositeB" presStyleCnt="0"/>
      <dgm:spPr/>
    </dgm:pt>
    <dgm:pt modelId="{597D87DE-C22A-4B5F-95EA-0B4F63C22896}" type="pres">
      <dgm:prSet presAssocID="{8D9BEFF3-3C78-4718-A5AD-7BF99958A1E6}" presName="textB" presStyleLbl="revTx" presStyleIdx="9" presStyleCnt="13">
        <dgm:presLayoutVars>
          <dgm:bulletEnabled val="1"/>
        </dgm:presLayoutVars>
      </dgm:prSet>
      <dgm:spPr/>
    </dgm:pt>
    <dgm:pt modelId="{6508F5B0-B2F0-4C25-BF61-8907D3B30F98}" type="pres">
      <dgm:prSet presAssocID="{8D9BEFF3-3C78-4718-A5AD-7BF99958A1E6}" presName="circleB" presStyleLbl="node1" presStyleIdx="9" presStyleCnt="13"/>
      <dgm:spPr>
        <a:solidFill>
          <a:srgbClr val="EE3228"/>
        </a:solidFill>
      </dgm:spPr>
    </dgm:pt>
    <dgm:pt modelId="{78237FA7-7A8C-4E02-803C-5B73CE1B939C}" type="pres">
      <dgm:prSet presAssocID="{8D9BEFF3-3C78-4718-A5AD-7BF99958A1E6}" presName="spaceB" presStyleCnt="0"/>
      <dgm:spPr/>
    </dgm:pt>
    <dgm:pt modelId="{F7819B04-A73C-4A37-99AF-26D8C6558081}" type="pres">
      <dgm:prSet presAssocID="{A4CE7954-7BDE-4BD5-BEF8-9D9B82CC2B37}" presName="space" presStyleCnt="0"/>
      <dgm:spPr/>
    </dgm:pt>
    <dgm:pt modelId="{BE01C5E2-5719-476D-B273-CA8FE54F8CD4}" type="pres">
      <dgm:prSet presAssocID="{419B8074-7AC4-4B13-B474-63A4E1FABD7E}" presName="compositeA" presStyleCnt="0"/>
      <dgm:spPr/>
    </dgm:pt>
    <dgm:pt modelId="{E2BE8CD9-D4CB-4C97-836A-1494B8E4A5F6}" type="pres">
      <dgm:prSet presAssocID="{419B8074-7AC4-4B13-B474-63A4E1FABD7E}" presName="textA" presStyleLbl="revTx" presStyleIdx="10" presStyleCnt="13">
        <dgm:presLayoutVars>
          <dgm:bulletEnabled val="1"/>
        </dgm:presLayoutVars>
      </dgm:prSet>
      <dgm:spPr/>
    </dgm:pt>
    <dgm:pt modelId="{7FB6FBFF-A7B0-41D1-B749-5B42CC63A311}" type="pres">
      <dgm:prSet presAssocID="{419B8074-7AC4-4B13-B474-63A4E1FABD7E}" presName="circleA" presStyleLbl="node1" presStyleIdx="10" presStyleCnt="13"/>
      <dgm:spPr>
        <a:solidFill>
          <a:srgbClr val="EE3228"/>
        </a:solidFill>
      </dgm:spPr>
    </dgm:pt>
    <dgm:pt modelId="{D2FCC8CF-23B7-49FB-92C5-0C01E1B1EE07}" type="pres">
      <dgm:prSet presAssocID="{419B8074-7AC4-4B13-B474-63A4E1FABD7E}" presName="spaceA" presStyleCnt="0"/>
      <dgm:spPr/>
    </dgm:pt>
    <dgm:pt modelId="{35148CD3-2FB1-4724-B468-37248976A35A}" type="pres">
      <dgm:prSet presAssocID="{63F5642C-D20C-48B4-B271-686FEA2C3995}" presName="space" presStyleCnt="0"/>
      <dgm:spPr/>
    </dgm:pt>
    <dgm:pt modelId="{F4D742EB-5B22-4E58-B58F-7835D5F4F5CB}" type="pres">
      <dgm:prSet presAssocID="{ABE24355-62FD-4A8D-8D8C-41AEDD3CDA7A}" presName="compositeB" presStyleCnt="0"/>
      <dgm:spPr/>
    </dgm:pt>
    <dgm:pt modelId="{9ACED34C-F763-45B4-B8E5-9B40BB2A2F83}" type="pres">
      <dgm:prSet presAssocID="{ABE24355-62FD-4A8D-8D8C-41AEDD3CDA7A}" presName="textB" presStyleLbl="revTx" presStyleIdx="11" presStyleCnt="13">
        <dgm:presLayoutVars>
          <dgm:bulletEnabled val="1"/>
        </dgm:presLayoutVars>
      </dgm:prSet>
      <dgm:spPr/>
    </dgm:pt>
    <dgm:pt modelId="{56D087FC-7597-43AE-B754-E61B1E09C90D}" type="pres">
      <dgm:prSet presAssocID="{ABE24355-62FD-4A8D-8D8C-41AEDD3CDA7A}" presName="circleB" presStyleLbl="node1" presStyleIdx="11" presStyleCnt="13"/>
      <dgm:spPr>
        <a:solidFill>
          <a:srgbClr val="EE3228"/>
        </a:solidFill>
      </dgm:spPr>
    </dgm:pt>
    <dgm:pt modelId="{88CD154C-0A9C-44FC-9DF2-EBCEB1C50CE7}" type="pres">
      <dgm:prSet presAssocID="{ABE24355-62FD-4A8D-8D8C-41AEDD3CDA7A}" presName="spaceB" presStyleCnt="0"/>
      <dgm:spPr/>
    </dgm:pt>
    <dgm:pt modelId="{EF57D572-8A9F-4795-9B3F-A730BC1012B7}" type="pres">
      <dgm:prSet presAssocID="{B89E968D-EBA8-48B2-9BFE-AB1A167AB00E}" presName="space" presStyleCnt="0"/>
      <dgm:spPr/>
    </dgm:pt>
    <dgm:pt modelId="{A44CD5B2-A5CF-4646-9457-BA223E5227DB}" type="pres">
      <dgm:prSet presAssocID="{88CC54D6-B89F-464B-8671-3D93AB7EBC09}" presName="compositeA" presStyleCnt="0"/>
      <dgm:spPr/>
    </dgm:pt>
    <dgm:pt modelId="{4B3FFDA9-183E-4253-B9C8-0CCDDD2A41D2}" type="pres">
      <dgm:prSet presAssocID="{88CC54D6-B89F-464B-8671-3D93AB7EBC09}" presName="textA" presStyleLbl="revTx" presStyleIdx="12" presStyleCnt="13">
        <dgm:presLayoutVars>
          <dgm:bulletEnabled val="1"/>
        </dgm:presLayoutVars>
      </dgm:prSet>
      <dgm:spPr/>
    </dgm:pt>
    <dgm:pt modelId="{536C66BA-4A20-4CF0-AEC8-CBBFC1AD1B3E}" type="pres">
      <dgm:prSet presAssocID="{88CC54D6-B89F-464B-8671-3D93AB7EBC09}" presName="circleA" presStyleLbl="node1" presStyleIdx="12" presStyleCnt="13"/>
      <dgm:spPr>
        <a:solidFill>
          <a:srgbClr val="EE3228"/>
        </a:solidFill>
      </dgm:spPr>
    </dgm:pt>
    <dgm:pt modelId="{5AE35AD1-02F9-4C13-A3A7-E7DAC60086EA}" type="pres">
      <dgm:prSet presAssocID="{88CC54D6-B89F-464B-8671-3D93AB7EBC09}" presName="spaceA" presStyleCnt="0"/>
      <dgm:spPr/>
    </dgm:pt>
  </dgm:ptLst>
  <dgm:cxnLst>
    <dgm:cxn modelId="{505A3815-35F7-4497-BBB2-29E36D3BBAFE}" type="presOf" srcId="{2D33C714-F094-4A79-835B-9C5EA0A19D10}" destId="{E6AB4F9F-58F2-4DA0-B555-B281216CD1DF}" srcOrd="0" destOrd="0" presId="urn:microsoft.com/office/officeart/2005/8/layout/hProcess11"/>
    <dgm:cxn modelId="{8CEBE41C-1D16-49EA-AAC6-48799984606C}" type="presOf" srcId="{42CC1DB1-2692-4A6F-9BF7-C816188D4592}" destId="{28CD05E7-B1E7-4968-AD07-17A752F664EC}" srcOrd="0" destOrd="0" presId="urn:microsoft.com/office/officeart/2005/8/layout/hProcess11"/>
    <dgm:cxn modelId="{075B7725-CF97-4082-8F0C-8848EFE84579}" srcId="{9F8CEBF2-2E3A-4E03-BB9A-282149A5D77C}" destId="{ABE24355-62FD-4A8D-8D8C-41AEDD3CDA7A}" srcOrd="11" destOrd="0" parTransId="{DE9A951F-B9DB-44A3-B982-FED2699E9760}" sibTransId="{B89E968D-EBA8-48B2-9BFE-AB1A167AB00E}"/>
    <dgm:cxn modelId="{C84A4929-1957-4C47-8428-9D78F914E44B}" srcId="{9F8CEBF2-2E3A-4E03-BB9A-282149A5D77C}" destId="{88CC54D6-B89F-464B-8671-3D93AB7EBC09}" srcOrd="12" destOrd="0" parTransId="{C64BE4BC-627F-4CE3-B2C9-6391DDEC1FDB}" sibTransId="{04A1ACD7-9B27-4196-8702-9316C979C934}"/>
    <dgm:cxn modelId="{C101F74E-35C0-4C18-A87B-7B6B2330E7EA}" type="presOf" srcId="{9F8CEBF2-2E3A-4E03-BB9A-282149A5D77C}" destId="{25BE3705-0C03-4AEC-A5C9-BA5C6F01D193}" srcOrd="0" destOrd="0" presId="urn:microsoft.com/office/officeart/2005/8/layout/hProcess11"/>
    <dgm:cxn modelId="{B7CEEE4F-E4A3-447E-ACBC-989CE3880AE0}" srcId="{9F8CEBF2-2E3A-4E03-BB9A-282149A5D77C}" destId="{C5BD3EE5-A83B-42BA-B0D6-92BEE0382BFE}" srcOrd="1" destOrd="0" parTransId="{64E593F3-8C8D-4658-95CA-C93092A54771}" sibTransId="{F9E31405-A97B-4086-B225-3B2A6CABB6C9}"/>
    <dgm:cxn modelId="{B0360450-B552-4A88-A21A-30B4916BA17A}" type="presOf" srcId="{ABE24355-62FD-4A8D-8D8C-41AEDD3CDA7A}" destId="{9ACED34C-F763-45B4-B8E5-9B40BB2A2F83}" srcOrd="0" destOrd="0" presId="urn:microsoft.com/office/officeart/2005/8/layout/hProcess11"/>
    <dgm:cxn modelId="{9E598755-5A53-44F2-A2B9-C3D7B8A71EFA}" srcId="{9F8CEBF2-2E3A-4E03-BB9A-282149A5D77C}" destId="{3233A7B8-C167-4237-8911-94E4041350E5}" srcOrd="2" destOrd="0" parTransId="{40852FE6-965B-47EF-9D1D-71B679BB3B17}" sibTransId="{FDE3BEA2-0930-4449-903A-7AFDE09A8000}"/>
    <dgm:cxn modelId="{50C0A967-7366-4733-B5B3-1148C08A041D}" type="presOf" srcId="{3233A7B8-C167-4237-8911-94E4041350E5}" destId="{8B57A02F-780C-4BEB-AAA9-A38E012EA9A1}" srcOrd="0" destOrd="0" presId="urn:microsoft.com/office/officeart/2005/8/layout/hProcess11"/>
    <dgm:cxn modelId="{2A03EE78-9D68-40A6-9619-7AF216945110}" srcId="{9F8CEBF2-2E3A-4E03-BB9A-282149A5D77C}" destId="{702BE1B1-EBF4-4608-8701-8F8A4CE9926A}" srcOrd="7" destOrd="0" parTransId="{FC92F143-C9F7-4D7F-8B76-A1898C923DC9}" sibTransId="{4356C31C-5CEB-457A-8837-871D8FAB60FF}"/>
    <dgm:cxn modelId="{EB44AD86-DA79-4AD1-976B-5CC9979A2062}" srcId="{9F8CEBF2-2E3A-4E03-BB9A-282149A5D77C}" destId="{419B8074-7AC4-4B13-B474-63A4E1FABD7E}" srcOrd="10" destOrd="0" parTransId="{82220545-7A75-48EF-8505-0B2D5E2AEFBE}" sibTransId="{63F5642C-D20C-48B4-B271-686FEA2C3995}"/>
    <dgm:cxn modelId="{7A780F88-46C3-4EA8-A84E-15BA31ED1D8E}" type="presOf" srcId="{7F600F17-E123-47C0-BC7D-CAE728A7ED15}" destId="{05C28E79-D4E5-486F-988B-8ECD8A757630}" srcOrd="0" destOrd="0" presId="urn:microsoft.com/office/officeart/2005/8/layout/hProcess11"/>
    <dgm:cxn modelId="{BF392791-F886-4F06-8A39-E06517B97DBE}" srcId="{9F8CEBF2-2E3A-4E03-BB9A-282149A5D77C}" destId="{42CC1DB1-2692-4A6F-9BF7-C816188D4592}" srcOrd="5" destOrd="0" parTransId="{D3FFCE2C-7D18-4D58-823A-407F069B5582}" sibTransId="{1367CC2F-54EE-46D2-8E67-6CC6393C8320}"/>
    <dgm:cxn modelId="{D4986E91-3384-4B92-8FB0-283B8A2D20C2}" srcId="{9F8CEBF2-2E3A-4E03-BB9A-282149A5D77C}" destId="{3B43A99A-8C84-4049-8A41-2A1C6F6A9376}" srcOrd="6" destOrd="0" parTransId="{C14F5F7A-910D-410D-AE9C-E2270E055E1A}" sibTransId="{C4D9E467-AFFD-49CA-9F7B-7F20C8BFFA7A}"/>
    <dgm:cxn modelId="{41BF1393-61B5-49C6-A69B-C9D9E9DFD912}" type="presOf" srcId="{C5BD3EE5-A83B-42BA-B0D6-92BEE0382BFE}" destId="{5F6DE521-F6B2-4A35-9FEC-081DFA690DCD}" srcOrd="0" destOrd="0" presId="urn:microsoft.com/office/officeart/2005/8/layout/hProcess11"/>
    <dgm:cxn modelId="{75B62E96-DC02-4151-BAB8-4C21660F0133}" type="presOf" srcId="{88CC54D6-B89F-464B-8671-3D93AB7EBC09}" destId="{4B3FFDA9-183E-4253-B9C8-0CCDDD2A41D2}" srcOrd="0" destOrd="0" presId="urn:microsoft.com/office/officeart/2005/8/layout/hProcess11"/>
    <dgm:cxn modelId="{8508629C-881B-4CAC-AA2E-6641630497FD}" type="presOf" srcId="{C9ECC495-E461-4212-B918-12C62F2F1AA8}" destId="{5F65ACE6-C4D8-4BB7-B256-BC05E94D0428}" srcOrd="0" destOrd="0" presId="urn:microsoft.com/office/officeart/2005/8/layout/hProcess11"/>
    <dgm:cxn modelId="{6BE636B9-9AE6-42EC-BC3E-72EEDA8E1A65}" srcId="{9F8CEBF2-2E3A-4E03-BB9A-282149A5D77C}" destId="{8D9BEFF3-3C78-4718-A5AD-7BF99958A1E6}" srcOrd="9" destOrd="0" parTransId="{00F4CA87-EA82-47F6-8755-2415F559A27D}" sibTransId="{A4CE7954-7BDE-4BD5-BEF8-9D9B82CC2B37}"/>
    <dgm:cxn modelId="{E94EB7C5-9744-42E2-AE60-799DC162F5AC}" srcId="{9F8CEBF2-2E3A-4E03-BB9A-282149A5D77C}" destId="{7F600F17-E123-47C0-BC7D-CAE728A7ED15}" srcOrd="4" destOrd="0" parTransId="{CCFC5126-456A-4170-B37A-92D0B11B8DE1}" sibTransId="{379EEBA7-4F39-48B9-9A5A-867A459E8521}"/>
    <dgm:cxn modelId="{A61901D2-94ED-4F95-8C12-991505F65313}" srcId="{9F8CEBF2-2E3A-4E03-BB9A-282149A5D77C}" destId="{C9ECC495-E461-4212-B918-12C62F2F1AA8}" srcOrd="3" destOrd="0" parTransId="{8B2D7B45-C493-4ECB-B688-D85894A1143F}" sibTransId="{ED15A481-39F4-4070-912C-DED8453DFF14}"/>
    <dgm:cxn modelId="{F585B8D5-2CDF-4642-8D6B-18EA206A7A8D}" type="presOf" srcId="{8439AEC3-9BC6-47C5-AB1D-11FD7AF7900C}" destId="{A5D89F72-E4A9-4F28-A397-903903684C16}" srcOrd="0" destOrd="0" presId="urn:microsoft.com/office/officeart/2005/8/layout/hProcess11"/>
    <dgm:cxn modelId="{D9DCD9DF-48DA-4488-87E4-95DB856C8B1E}" srcId="{9F8CEBF2-2E3A-4E03-BB9A-282149A5D77C}" destId="{8439AEC3-9BC6-47C5-AB1D-11FD7AF7900C}" srcOrd="0" destOrd="0" parTransId="{DCE1D1D2-2E8D-4993-986D-64692F8446B6}" sibTransId="{1AA0E5D5-F2FA-4E97-9B3F-14C70D79ECCE}"/>
    <dgm:cxn modelId="{497EF7E4-BA94-4FEA-AA0D-797FAD751B12}" type="presOf" srcId="{419B8074-7AC4-4B13-B474-63A4E1FABD7E}" destId="{E2BE8CD9-D4CB-4C97-836A-1494B8E4A5F6}" srcOrd="0" destOrd="0" presId="urn:microsoft.com/office/officeart/2005/8/layout/hProcess11"/>
    <dgm:cxn modelId="{DB4DFEE5-B62D-4CB4-AEA9-88D4DCAFCED3}" type="presOf" srcId="{3B43A99A-8C84-4049-8A41-2A1C6F6A9376}" destId="{8E4FF20C-6E85-40CD-9AD9-AF83ACBB30C4}" srcOrd="0" destOrd="0" presId="urn:microsoft.com/office/officeart/2005/8/layout/hProcess11"/>
    <dgm:cxn modelId="{254308E6-F4B5-4F68-9C44-744580FC93B3}" type="presOf" srcId="{702BE1B1-EBF4-4608-8701-8F8A4CE9926A}" destId="{E7AD48BF-951C-46B0-B23F-A14CE5E8830F}" srcOrd="0" destOrd="0" presId="urn:microsoft.com/office/officeart/2005/8/layout/hProcess11"/>
    <dgm:cxn modelId="{4B5918F5-3623-4506-9D69-597C62FE96F2}" srcId="{9F8CEBF2-2E3A-4E03-BB9A-282149A5D77C}" destId="{2D33C714-F094-4A79-835B-9C5EA0A19D10}" srcOrd="8" destOrd="0" parTransId="{AC73EA1B-7077-475E-965D-76ABF643008C}" sibTransId="{37639F2E-9FD0-4232-BD38-3D87E6A162D7}"/>
    <dgm:cxn modelId="{C9BE2FFF-1F14-4EEC-BBDB-8E171BDEFE36}" type="presOf" srcId="{8D9BEFF3-3C78-4718-A5AD-7BF99958A1E6}" destId="{597D87DE-C22A-4B5F-95EA-0B4F63C22896}" srcOrd="0" destOrd="0" presId="urn:microsoft.com/office/officeart/2005/8/layout/hProcess11"/>
    <dgm:cxn modelId="{651F404E-28E0-4C69-AA96-4B5100E0B661}" type="presParOf" srcId="{25BE3705-0C03-4AEC-A5C9-BA5C6F01D193}" destId="{B80A10C1-E974-4430-8366-0063126F5B0D}" srcOrd="0" destOrd="0" presId="urn:microsoft.com/office/officeart/2005/8/layout/hProcess11"/>
    <dgm:cxn modelId="{5F73FB8B-81DD-41C7-A998-59C687F77B91}" type="presParOf" srcId="{25BE3705-0C03-4AEC-A5C9-BA5C6F01D193}" destId="{A00312DB-3228-48D4-805E-E22F4B5BB5C6}" srcOrd="1" destOrd="0" presId="urn:microsoft.com/office/officeart/2005/8/layout/hProcess11"/>
    <dgm:cxn modelId="{457DF2DF-CA24-480D-8261-A5BADA82E346}" type="presParOf" srcId="{A00312DB-3228-48D4-805E-E22F4B5BB5C6}" destId="{6D92E2A2-20C0-4B3F-8D80-0F41A5B409A9}" srcOrd="0" destOrd="0" presId="urn:microsoft.com/office/officeart/2005/8/layout/hProcess11"/>
    <dgm:cxn modelId="{95BE41E3-0EDF-468B-8BCA-0851DDB0DB9F}" type="presParOf" srcId="{6D92E2A2-20C0-4B3F-8D80-0F41A5B409A9}" destId="{A5D89F72-E4A9-4F28-A397-903903684C16}" srcOrd="0" destOrd="0" presId="urn:microsoft.com/office/officeart/2005/8/layout/hProcess11"/>
    <dgm:cxn modelId="{AA2DC01E-B025-4F08-95FF-B57008E60C47}" type="presParOf" srcId="{6D92E2A2-20C0-4B3F-8D80-0F41A5B409A9}" destId="{D0684367-F33D-4F80-93A0-324E43F3386D}" srcOrd="1" destOrd="0" presId="urn:microsoft.com/office/officeart/2005/8/layout/hProcess11"/>
    <dgm:cxn modelId="{C526B476-B244-4D4B-A465-F9DCAA2B0386}" type="presParOf" srcId="{6D92E2A2-20C0-4B3F-8D80-0F41A5B409A9}" destId="{72A8AA2F-0C7B-45DC-A6D4-4B6059813F5D}" srcOrd="2" destOrd="0" presId="urn:microsoft.com/office/officeart/2005/8/layout/hProcess11"/>
    <dgm:cxn modelId="{04A2B7F5-67B2-498A-8A6F-F056A5F96161}" type="presParOf" srcId="{A00312DB-3228-48D4-805E-E22F4B5BB5C6}" destId="{C7AB5733-A1B2-4812-AD78-1394633F889C}" srcOrd="1" destOrd="0" presId="urn:microsoft.com/office/officeart/2005/8/layout/hProcess11"/>
    <dgm:cxn modelId="{C7B7A13E-3DDB-4BA3-A2DE-DD0D1057E8CC}" type="presParOf" srcId="{A00312DB-3228-48D4-805E-E22F4B5BB5C6}" destId="{D2235BFB-F800-4FF1-9938-78589A6A5FA8}" srcOrd="2" destOrd="0" presId="urn:microsoft.com/office/officeart/2005/8/layout/hProcess11"/>
    <dgm:cxn modelId="{32C6CB1B-1E3A-4451-871F-F20427FA95B9}" type="presParOf" srcId="{D2235BFB-F800-4FF1-9938-78589A6A5FA8}" destId="{5F6DE521-F6B2-4A35-9FEC-081DFA690DCD}" srcOrd="0" destOrd="0" presId="urn:microsoft.com/office/officeart/2005/8/layout/hProcess11"/>
    <dgm:cxn modelId="{E46D0BD7-05A7-4224-93CB-45DBCF5D9272}" type="presParOf" srcId="{D2235BFB-F800-4FF1-9938-78589A6A5FA8}" destId="{4CECD502-74B9-4DFE-8D42-F20D4A35A1F2}" srcOrd="1" destOrd="0" presId="urn:microsoft.com/office/officeart/2005/8/layout/hProcess11"/>
    <dgm:cxn modelId="{828A4DC9-F0A7-4387-B5E7-CD7B12A71A0D}" type="presParOf" srcId="{D2235BFB-F800-4FF1-9938-78589A6A5FA8}" destId="{53ACB5BB-B8CD-4B9F-88F7-87EFF5FB7717}" srcOrd="2" destOrd="0" presId="urn:microsoft.com/office/officeart/2005/8/layout/hProcess11"/>
    <dgm:cxn modelId="{29EBAE62-FCD5-47CB-BAC8-9CFCF28A4F17}" type="presParOf" srcId="{A00312DB-3228-48D4-805E-E22F4B5BB5C6}" destId="{4A9A2F57-B527-40D9-8E5E-277D3A7945D7}" srcOrd="3" destOrd="0" presId="urn:microsoft.com/office/officeart/2005/8/layout/hProcess11"/>
    <dgm:cxn modelId="{9B54BDBA-97FD-43BC-A55F-8C8235912D08}" type="presParOf" srcId="{A00312DB-3228-48D4-805E-E22F4B5BB5C6}" destId="{EA8EDCD2-F2A3-4C99-B7C6-44EDDC170996}" srcOrd="4" destOrd="0" presId="urn:microsoft.com/office/officeart/2005/8/layout/hProcess11"/>
    <dgm:cxn modelId="{0D29C7BC-8639-4D71-AE86-0EDE3C52E49A}" type="presParOf" srcId="{EA8EDCD2-F2A3-4C99-B7C6-44EDDC170996}" destId="{8B57A02F-780C-4BEB-AAA9-A38E012EA9A1}" srcOrd="0" destOrd="0" presId="urn:microsoft.com/office/officeart/2005/8/layout/hProcess11"/>
    <dgm:cxn modelId="{ECD9D9C1-68A4-4057-867A-5BDF6A25811C}" type="presParOf" srcId="{EA8EDCD2-F2A3-4C99-B7C6-44EDDC170996}" destId="{5C8E534A-EDCA-49A8-A65F-6B710C8D63DD}" srcOrd="1" destOrd="0" presId="urn:microsoft.com/office/officeart/2005/8/layout/hProcess11"/>
    <dgm:cxn modelId="{4320304F-F7D7-49F8-BC80-15F8371D3B5B}" type="presParOf" srcId="{EA8EDCD2-F2A3-4C99-B7C6-44EDDC170996}" destId="{DDA90344-6DB8-4E88-9819-E7B4212671AA}" srcOrd="2" destOrd="0" presId="urn:microsoft.com/office/officeart/2005/8/layout/hProcess11"/>
    <dgm:cxn modelId="{3AF18A68-6B7B-4F89-AF07-E8DFD81E2124}" type="presParOf" srcId="{A00312DB-3228-48D4-805E-E22F4B5BB5C6}" destId="{8F86CFCB-56E7-4FB9-9117-7C4DBD27BF0A}" srcOrd="5" destOrd="0" presId="urn:microsoft.com/office/officeart/2005/8/layout/hProcess11"/>
    <dgm:cxn modelId="{CE899D37-A320-4273-9AF1-ADEDC8CF6258}" type="presParOf" srcId="{A00312DB-3228-48D4-805E-E22F4B5BB5C6}" destId="{CE6E761B-15BD-442A-99D3-3D4AE00044C2}" srcOrd="6" destOrd="0" presId="urn:microsoft.com/office/officeart/2005/8/layout/hProcess11"/>
    <dgm:cxn modelId="{5D6FE42D-5CFB-4C63-B233-6340F2400724}" type="presParOf" srcId="{CE6E761B-15BD-442A-99D3-3D4AE00044C2}" destId="{5F65ACE6-C4D8-4BB7-B256-BC05E94D0428}" srcOrd="0" destOrd="0" presId="urn:microsoft.com/office/officeart/2005/8/layout/hProcess11"/>
    <dgm:cxn modelId="{069931F5-17BA-4AD8-9ACA-00392B1358C8}" type="presParOf" srcId="{CE6E761B-15BD-442A-99D3-3D4AE00044C2}" destId="{6A7663AB-DB8E-4306-9EE8-D2909B9C1A0F}" srcOrd="1" destOrd="0" presId="urn:microsoft.com/office/officeart/2005/8/layout/hProcess11"/>
    <dgm:cxn modelId="{A502E830-FD63-498C-8F4C-08F49DF9750C}" type="presParOf" srcId="{CE6E761B-15BD-442A-99D3-3D4AE00044C2}" destId="{3FA8D0BE-19A4-4C1A-BAE1-C143679F9599}" srcOrd="2" destOrd="0" presId="urn:microsoft.com/office/officeart/2005/8/layout/hProcess11"/>
    <dgm:cxn modelId="{91DB9DA7-7729-4DF4-87BF-2698CE5D85DE}" type="presParOf" srcId="{A00312DB-3228-48D4-805E-E22F4B5BB5C6}" destId="{41089F48-5DB1-49BA-B3EA-CE13E778E2CB}" srcOrd="7" destOrd="0" presId="urn:microsoft.com/office/officeart/2005/8/layout/hProcess11"/>
    <dgm:cxn modelId="{C72E6DD1-913E-4054-8872-8F9FAA3A41BA}" type="presParOf" srcId="{A00312DB-3228-48D4-805E-E22F4B5BB5C6}" destId="{17D6FD2D-C1C9-4BD8-BE36-1C98AA6B6178}" srcOrd="8" destOrd="0" presId="urn:microsoft.com/office/officeart/2005/8/layout/hProcess11"/>
    <dgm:cxn modelId="{AE030BDC-D659-4404-A029-4EC70F727280}" type="presParOf" srcId="{17D6FD2D-C1C9-4BD8-BE36-1C98AA6B6178}" destId="{05C28E79-D4E5-486F-988B-8ECD8A757630}" srcOrd="0" destOrd="0" presId="urn:microsoft.com/office/officeart/2005/8/layout/hProcess11"/>
    <dgm:cxn modelId="{9038BFFD-0ED0-49D1-9EC3-1AB44163E5EA}" type="presParOf" srcId="{17D6FD2D-C1C9-4BD8-BE36-1C98AA6B6178}" destId="{AE532651-358C-4C73-B9CB-F8AECB2A0C2B}" srcOrd="1" destOrd="0" presId="urn:microsoft.com/office/officeart/2005/8/layout/hProcess11"/>
    <dgm:cxn modelId="{6E9DCAA3-F65F-4AD4-BA9D-C21A6D7347B6}" type="presParOf" srcId="{17D6FD2D-C1C9-4BD8-BE36-1C98AA6B6178}" destId="{93F18258-6C1F-4E84-8B93-2F2516AA87DB}" srcOrd="2" destOrd="0" presId="urn:microsoft.com/office/officeart/2005/8/layout/hProcess11"/>
    <dgm:cxn modelId="{7CFA720E-66BA-47C6-B34D-EA2342381168}" type="presParOf" srcId="{A00312DB-3228-48D4-805E-E22F4B5BB5C6}" destId="{EA7AC877-F6AE-49CF-B329-4B26B2C20CA0}" srcOrd="9" destOrd="0" presId="urn:microsoft.com/office/officeart/2005/8/layout/hProcess11"/>
    <dgm:cxn modelId="{B51B4FB9-BE0B-43D2-A218-A8DF2ECF71DE}" type="presParOf" srcId="{A00312DB-3228-48D4-805E-E22F4B5BB5C6}" destId="{14FC7170-91A3-4D80-9E8A-DCB816A2ED87}" srcOrd="10" destOrd="0" presId="urn:microsoft.com/office/officeart/2005/8/layout/hProcess11"/>
    <dgm:cxn modelId="{34D37ED7-0AEA-4881-8E5B-306AAAF647FC}" type="presParOf" srcId="{14FC7170-91A3-4D80-9E8A-DCB816A2ED87}" destId="{28CD05E7-B1E7-4968-AD07-17A752F664EC}" srcOrd="0" destOrd="0" presId="urn:microsoft.com/office/officeart/2005/8/layout/hProcess11"/>
    <dgm:cxn modelId="{1AAA9F12-4AAA-4659-987E-81172A0B4388}" type="presParOf" srcId="{14FC7170-91A3-4D80-9E8A-DCB816A2ED87}" destId="{2775D6E8-C967-49F3-BDA2-9D05A782DE28}" srcOrd="1" destOrd="0" presId="urn:microsoft.com/office/officeart/2005/8/layout/hProcess11"/>
    <dgm:cxn modelId="{A1F617D9-F141-4215-B44B-653AE5F92606}" type="presParOf" srcId="{14FC7170-91A3-4D80-9E8A-DCB816A2ED87}" destId="{9807A7FE-B7F5-4BC0-B889-26EB8124FA5C}" srcOrd="2" destOrd="0" presId="urn:microsoft.com/office/officeart/2005/8/layout/hProcess11"/>
    <dgm:cxn modelId="{79CC8462-12AF-4DED-B14F-5376EE035137}" type="presParOf" srcId="{A00312DB-3228-48D4-805E-E22F4B5BB5C6}" destId="{4336F336-2F6A-4729-AEF1-57C4A8373C95}" srcOrd="11" destOrd="0" presId="urn:microsoft.com/office/officeart/2005/8/layout/hProcess11"/>
    <dgm:cxn modelId="{0B2442BB-9318-4EBE-8E02-113C37156E96}" type="presParOf" srcId="{A00312DB-3228-48D4-805E-E22F4B5BB5C6}" destId="{1003D92B-E048-4CBD-A1B4-75E47B7B7E00}" srcOrd="12" destOrd="0" presId="urn:microsoft.com/office/officeart/2005/8/layout/hProcess11"/>
    <dgm:cxn modelId="{932C847D-1BC9-443B-8689-756CF62F1CA4}" type="presParOf" srcId="{1003D92B-E048-4CBD-A1B4-75E47B7B7E00}" destId="{8E4FF20C-6E85-40CD-9AD9-AF83ACBB30C4}" srcOrd="0" destOrd="0" presId="urn:microsoft.com/office/officeart/2005/8/layout/hProcess11"/>
    <dgm:cxn modelId="{2011F2EB-599A-41FE-90B8-B2B620F21B70}" type="presParOf" srcId="{1003D92B-E048-4CBD-A1B4-75E47B7B7E00}" destId="{69107A70-F12D-4B51-A257-97712B001BF0}" srcOrd="1" destOrd="0" presId="urn:microsoft.com/office/officeart/2005/8/layout/hProcess11"/>
    <dgm:cxn modelId="{76F02F49-2A5A-40CD-B69C-8CC716932FDD}" type="presParOf" srcId="{1003D92B-E048-4CBD-A1B4-75E47B7B7E00}" destId="{33FDBCDD-586B-42A4-8B77-891488B1B5D9}" srcOrd="2" destOrd="0" presId="urn:microsoft.com/office/officeart/2005/8/layout/hProcess11"/>
    <dgm:cxn modelId="{4233D6C0-E297-4C09-9580-AD60B99FB1D1}" type="presParOf" srcId="{A00312DB-3228-48D4-805E-E22F4B5BB5C6}" destId="{2A63AFE9-A8B4-49D2-A64C-8E681D90ADDA}" srcOrd="13" destOrd="0" presId="urn:microsoft.com/office/officeart/2005/8/layout/hProcess11"/>
    <dgm:cxn modelId="{C0C44156-A167-4E61-9785-25DC176244AD}" type="presParOf" srcId="{A00312DB-3228-48D4-805E-E22F4B5BB5C6}" destId="{B3E08D67-3D8B-477B-92CD-E39FCBCF1016}" srcOrd="14" destOrd="0" presId="urn:microsoft.com/office/officeart/2005/8/layout/hProcess11"/>
    <dgm:cxn modelId="{543F3AE8-4286-4D08-B7AB-76A8A23DA434}" type="presParOf" srcId="{B3E08D67-3D8B-477B-92CD-E39FCBCF1016}" destId="{E7AD48BF-951C-46B0-B23F-A14CE5E8830F}" srcOrd="0" destOrd="0" presId="urn:microsoft.com/office/officeart/2005/8/layout/hProcess11"/>
    <dgm:cxn modelId="{2209F368-5BD0-4902-9F32-64081FBB7401}" type="presParOf" srcId="{B3E08D67-3D8B-477B-92CD-E39FCBCF1016}" destId="{8C665515-889C-4F52-9036-9D4C2CE8ABEA}" srcOrd="1" destOrd="0" presId="urn:microsoft.com/office/officeart/2005/8/layout/hProcess11"/>
    <dgm:cxn modelId="{FC4556F7-6724-4F71-AB6A-61A05394BA1E}" type="presParOf" srcId="{B3E08D67-3D8B-477B-92CD-E39FCBCF1016}" destId="{80793515-736C-4914-ACB1-F9D31CAABF8B}" srcOrd="2" destOrd="0" presId="urn:microsoft.com/office/officeart/2005/8/layout/hProcess11"/>
    <dgm:cxn modelId="{DF5DEAC1-2D0E-4B9A-A392-ABEE2C4A4863}" type="presParOf" srcId="{A00312DB-3228-48D4-805E-E22F4B5BB5C6}" destId="{8DB40514-8432-4AC4-B20B-A4540D677DB1}" srcOrd="15" destOrd="0" presId="urn:microsoft.com/office/officeart/2005/8/layout/hProcess11"/>
    <dgm:cxn modelId="{2151A703-D4B1-4704-96A2-CF06ABC62C77}" type="presParOf" srcId="{A00312DB-3228-48D4-805E-E22F4B5BB5C6}" destId="{EE0A5FB8-9235-4001-BFCC-11633732EEA2}" srcOrd="16" destOrd="0" presId="urn:microsoft.com/office/officeart/2005/8/layout/hProcess11"/>
    <dgm:cxn modelId="{64D0F790-598B-4F8D-9E46-DCA107B58F9A}" type="presParOf" srcId="{EE0A5FB8-9235-4001-BFCC-11633732EEA2}" destId="{E6AB4F9F-58F2-4DA0-B555-B281216CD1DF}" srcOrd="0" destOrd="0" presId="urn:microsoft.com/office/officeart/2005/8/layout/hProcess11"/>
    <dgm:cxn modelId="{C54E2456-05D8-4ED1-BD79-4BD198F9256D}" type="presParOf" srcId="{EE0A5FB8-9235-4001-BFCC-11633732EEA2}" destId="{6A8E5EC9-41E0-494C-91AB-1A4C16DB4987}" srcOrd="1" destOrd="0" presId="urn:microsoft.com/office/officeart/2005/8/layout/hProcess11"/>
    <dgm:cxn modelId="{B9BDA9D9-741D-4353-94D7-A70EAB6DB263}" type="presParOf" srcId="{EE0A5FB8-9235-4001-BFCC-11633732EEA2}" destId="{7540FD6B-B16E-4689-B3E2-9B5A3EF116A0}" srcOrd="2" destOrd="0" presId="urn:microsoft.com/office/officeart/2005/8/layout/hProcess11"/>
    <dgm:cxn modelId="{75CC6571-DD8A-466C-BAFE-965B546542D7}" type="presParOf" srcId="{A00312DB-3228-48D4-805E-E22F4B5BB5C6}" destId="{45AF90A4-1AF9-4BBF-BC58-2320D9DC3407}" srcOrd="17" destOrd="0" presId="urn:microsoft.com/office/officeart/2005/8/layout/hProcess11"/>
    <dgm:cxn modelId="{CA2BBB9D-156A-49FD-89C8-97C645DCD811}" type="presParOf" srcId="{A00312DB-3228-48D4-805E-E22F4B5BB5C6}" destId="{36B8AA88-8829-4733-917F-015C95333A16}" srcOrd="18" destOrd="0" presId="urn:microsoft.com/office/officeart/2005/8/layout/hProcess11"/>
    <dgm:cxn modelId="{AC401E77-6209-4036-9297-08D3615716EE}" type="presParOf" srcId="{36B8AA88-8829-4733-917F-015C95333A16}" destId="{597D87DE-C22A-4B5F-95EA-0B4F63C22896}" srcOrd="0" destOrd="0" presId="urn:microsoft.com/office/officeart/2005/8/layout/hProcess11"/>
    <dgm:cxn modelId="{7E4F4FBA-BBA9-494D-90B2-E13438FC7CC4}" type="presParOf" srcId="{36B8AA88-8829-4733-917F-015C95333A16}" destId="{6508F5B0-B2F0-4C25-BF61-8907D3B30F98}" srcOrd="1" destOrd="0" presId="urn:microsoft.com/office/officeart/2005/8/layout/hProcess11"/>
    <dgm:cxn modelId="{6906A69A-4739-428B-A80D-322B91C03C32}" type="presParOf" srcId="{36B8AA88-8829-4733-917F-015C95333A16}" destId="{78237FA7-7A8C-4E02-803C-5B73CE1B939C}" srcOrd="2" destOrd="0" presId="urn:microsoft.com/office/officeart/2005/8/layout/hProcess11"/>
    <dgm:cxn modelId="{D28DD278-4278-4474-905A-16E2EB5FD034}" type="presParOf" srcId="{A00312DB-3228-48D4-805E-E22F4B5BB5C6}" destId="{F7819B04-A73C-4A37-99AF-26D8C6558081}" srcOrd="19" destOrd="0" presId="urn:microsoft.com/office/officeart/2005/8/layout/hProcess11"/>
    <dgm:cxn modelId="{93BD9909-0438-4072-A6C5-8210A709B850}" type="presParOf" srcId="{A00312DB-3228-48D4-805E-E22F4B5BB5C6}" destId="{BE01C5E2-5719-476D-B273-CA8FE54F8CD4}" srcOrd="20" destOrd="0" presId="urn:microsoft.com/office/officeart/2005/8/layout/hProcess11"/>
    <dgm:cxn modelId="{98946E05-B849-4FDA-9F91-92F4BB08BD7C}" type="presParOf" srcId="{BE01C5E2-5719-476D-B273-CA8FE54F8CD4}" destId="{E2BE8CD9-D4CB-4C97-836A-1494B8E4A5F6}" srcOrd="0" destOrd="0" presId="urn:microsoft.com/office/officeart/2005/8/layout/hProcess11"/>
    <dgm:cxn modelId="{232C6E75-3815-4E9D-93B5-198425293F63}" type="presParOf" srcId="{BE01C5E2-5719-476D-B273-CA8FE54F8CD4}" destId="{7FB6FBFF-A7B0-41D1-B749-5B42CC63A311}" srcOrd="1" destOrd="0" presId="urn:microsoft.com/office/officeart/2005/8/layout/hProcess11"/>
    <dgm:cxn modelId="{5A89935E-DB4A-4ED3-BFCA-8C4098BF4EC8}" type="presParOf" srcId="{BE01C5E2-5719-476D-B273-CA8FE54F8CD4}" destId="{D2FCC8CF-23B7-49FB-92C5-0C01E1B1EE07}" srcOrd="2" destOrd="0" presId="urn:microsoft.com/office/officeart/2005/8/layout/hProcess11"/>
    <dgm:cxn modelId="{BF7075CB-76DE-4B68-BE36-F1D4879378BD}" type="presParOf" srcId="{A00312DB-3228-48D4-805E-E22F4B5BB5C6}" destId="{35148CD3-2FB1-4724-B468-37248976A35A}" srcOrd="21" destOrd="0" presId="urn:microsoft.com/office/officeart/2005/8/layout/hProcess11"/>
    <dgm:cxn modelId="{D6915A7B-E901-4166-93CC-D2DE8EF34FBE}" type="presParOf" srcId="{A00312DB-3228-48D4-805E-E22F4B5BB5C6}" destId="{F4D742EB-5B22-4E58-B58F-7835D5F4F5CB}" srcOrd="22" destOrd="0" presId="urn:microsoft.com/office/officeart/2005/8/layout/hProcess11"/>
    <dgm:cxn modelId="{518DA073-617F-4DA2-8583-2471C6BD2398}" type="presParOf" srcId="{F4D742EB-5B22-4E58-B58F-7835D5F4F5CB}" destId="{9ACED34C-F763-45B4-B8E5-9B40BB2A2F83}" srcOrd="0" destOrd="0" presId="urn:microsoft.com/office/officeart/2005/8/layout/hProcess11"/>
    <dgm:cxn modelId="{BC127A88-561A-4173-A4C5-0102E5DEB8C9}" type="presParOf" srcId="{F4D742EB-5B22-4E58-B58F-7835D5F4F5CB}" destId="{56D087FC-7597-43AE-B754-E61B1E09C90D}" srcOrd="1" destOrd="0" presId="urn:microsoft.com/office/officeart/2005/8/layout/hProcess11"/>
    <dgm:cxn modelId="{EA3BD6E7-572F-4AA1-8576-87CC8A031C5E}" type="presParOf" srcId="{F4D742EB-5B22-4E58-B58F-7835D5F4F5CB}" destId="{88CD154C-0A9C-44FC-9DF2-EBCEB1C50CE7}" srcOrd="2" destOrd="0" presId="urn:microsoft.com/office/officeart/2005/8/layout/hProcess11"/>
    <dgm:cxn modelId="{9CF3E3F7-6BEE-41E5-852F-D9141A09C931}" type="presParOf" srcId="{A00312DB-3228-48D4-805E-E22F4B5BB5C6}" destId="{EF57D572-8A9F-4795-9B3F-A730BC1012B7}" srcOrd="23" destOrd="0" presId="urn:microsoft.com/office/officeart/2005/8/layout/hProcess11"/>
    <dgm:cxn modelId="{8A88C01B-923E-491E-962A-2E04275CC75C}" type="presParOf" srcId="{A00312DB-3228-48D4-805E-E22F4B5BB5C6}" destId="{A44CD5B2-A5CF-4646-9457-BA223E5227DB}" srcOrd="24" destOrd="0" presId="urn:microsoft.com/office/officeart/2005/8/layout/hProcess11"/>
    <dgm:cxn modelId="{8DD120AA-FEFA-4A1B-9AC7-1A7EB65997A6}" type="presParOf" srcId="{A44CD5B2-A5CF-4646-9457-BA223E5227DB}" destId="{4B3FFDA9-183E-4253-B9C8-0CCDDD2A41D2}" srcOrd="0" destOrd="0" presId="urn:microsoft.com/office/officeart/2005/8/layout/hProcess11"/>
    <dgm:cxn modelId="{A64D47AA-FAB3-4791-9AAC-D26738D2A698}" type="presParOf" srcId="{A44CD5B2-A5CF-4646-9457-BA223E5227DB}" destId="{536C66BA-4A20-4CF0-AEC8-CBBFC1AD1B3E}" srcOrd="1" destOrd="0" presId="urn:microsoft.com/office/officeart/2005/8/layout/hProcess11"/>
    <dgm:cxn modelId="{C2D15DB0-B72F-4715-B39D-CD9C2D75A763}" type="presParOf" srcId="{A44CD5B2-A5CF-4646-9457-BA223E5227DB}" destId="{5AE35AD1-02F9-4C13-A3A7-E7DAC60086EA}" srcOrd="2" destOrd="0" presId="urn:microsoft.com/office/officeart/2005/8/layout/hProcess1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80A10C1-E974-4430-8366-0063126F5B0D}">
      <dsp:nvSpPr>
        <dsp:cNvPr id="0" name=""/>
        <dsp:cNvSpPr/>
      </dsp:nvSpPr>
      <dsp:spPr>
        <a:xfrm>
          <a:off x="0" y="1304227"/>
          <a:ext cx="11561897" cy="1738970"/>
        </a:xfrm>
        <a:prstGeom prst="notchedRightArrow">
          <a:avLst/>
        </a:prstGeom>
        <a:solidFill>
          <a:srgbClr val="222222"/>
        </a:solidFill>
        <a:ln>
          <a:solidFill>
            <a:schemeClr val="tx1"/>
          </a:solidFill>
        </a:ln>
        <a:effectLst/>
      </dsp:spPr>
      <dsp:style>
        <a:lnRef idx="0">
          <a:scrgbClr r="0" g="0" b="0"/>
        </a:lnRef>
        <a:fillRef idx="1">
          <a:scrgbClr r="0" g="0" b="0"/>
        </a:fillRef>
        <a:effectRef idx="0">
          <a:scrgbClr r="0" g="0" b="0"/>
        </a:effectRef>
        <a:fontRef idx="minor"/>
      </dsp:style>
    </dsp:sp>
    <dsp:sp modelId="{A5D89F72-E4A9-4F28-A397-903903684C16}">
      <dsp:nvSpPr>
        <dsp:cNvPr id="0" name=""/>
        <dsp:cNvSpPr/>
      </dsp:nvSpPr>
      <dsp:spPr>
        <a:xfrm>
          <a:off x="3048" y="0"/>
          <a:ext cx="764677" cy="17389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5128" tIns="135128" rIns="135128" bIns="135128" numCol="1" spcCol="1270" anchor="ctr" anchorCtr="0">
          <a:noAutofit/>
        </a:bodyPr>
        <a:lstStyle/>
        <a:p>
          <a:pPr marL="0" lvl="0" indent="0" algn="ctr" defTabSz="844550">
            <a:lnSpc>
              <a:spcPct val="90000"/>
            </a:lnSpc>
            <a:spcBef>
              <a:spcPct val="0"/>
            </a:spcBef>
            <a:spcAft>
              <a:spcPct val="35000"/>
            </a:spcAft>
            <a:buNone/>
          </a:pPr>
          <a:r>
            <a:rPr lang="en-US" sz="1900" kern="1200" dirty="0">
              <a:solidFill>
                <a:schemeClr val="bg2">
                  <a:lumMod val="10000"/>
                </a:schemeClr>
              </a:solidFill>
            </a:rPr>
            <a:t>1850</a:t>
          </a:r>
        </a:p>
      </dsp:txBody>
      <dsp:txXfrm>
        <a:off x="3048" y="0"/>
        <a:ext cx="764677" cy="1738970"/>
      </dsp:txXfrm>
    </dsp:sp>
    <dsp:sp modelId="{D0684367-F33D-4F80-93A0-324E43F3386D}">
      <dsp:nvSpPr>
        <dsp:cNvPr id="0" name=""/>
        <dsp:cNvSpPr/>
      </dsp:nvSpPr>
      <dsp:spPr>
        <a:xfrm>
          <a:off x="168015" y="1956341"/>
          <a:ext cx="434742" cy="434742"/>
        </a:xfrm>
        <a:prstGeom prst="ellipse">
          <a:avLst/>
        </a:prstGeom>
        <a:solidFill>
          <a:srgbClr val="EE3228"/>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F6DE521-F6B2-4A35-9FEC-081DFA690DCD}">
      <dsp:nvSpPr>
        <dsp:cNvPr id="0" name=""/>
        <dsp:cNvSpPr/>
      </dsp:nvSpPr>
      <dsp:spPr>
        <a:xfrm>
          <a:off x="805959" y="2608455"/>
          <a:ext cx="764677" cy="17389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5128" tIns="135128" rIns="135128" bIns="135128" numCol="1" spcCol="1270" anchor="t" anchorCtr="0">
          <a:noAutofit/>
        </a:bodyPr>
        <a:lstStyle/>
        <a:p>
          <a:pPr marL="0" lvl="0" indent="0" algn="ctr" defTabSz="844550">
            <a:lnSpc>
              <a:spcPct val="90000"/>
            </a:lnSpc>
            <a:spcBef>
              <a:spcPct val="0"/>
            </a:spcBef>
            <a:spcAft>
              <a:spcPct val="35000"/>
            </a:spcAft>
            <a:buNone/>
          </a:pPr>
          <a:endParaRPr lang="en-US" sz="1900" kern="1200" dirty="0">
            <a:solidFill>
              <a:schemeClr val="bg2">
                <a:lumMod val="10000"/>
              </a:schemeClr>
            </a:solidFill>
          </a:endParaRPr>
        </a:p>
      </dsp:txBody>
      <dsp:txXfrm>
        <a:off x="805959" y="2608455"/>
        <a:ext cx="764677" cy="1738970"/>
      </dsp:txXfrm>
    </dsp:sp>
    <dsp:sp modelId="{4CECD502-74B9-4DFE-8D42-F20D4A35A1F2}">
      <dsp:nvSpPr>
        <dsp:cNvPr id="0" name=""/>
        <dsp:cNvSpPr/>
      </dsp:nvSpPr>
      <dsp:spPr>
        <a:xfrm>
          <a:off x="970926" y="1956341"/>
          <a:ext cx="434742" cy="434742"/>
        </a:xfrm>
        <a:prstGeom prst="ellipse">
          <a:avLst/>
        </a:prstGeom>
        <a:solidFill>
          <a:srgbClr val="EE3228"/>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B57A02F-780C-4BEB-AAA9-A38E012EA9A1}">
      <dsp:nvSpPr>
        <dsp:cNvPr id="0" name=""/>
        <dsp:cNvSpPr/>
      </dsp:nvSpPr>
      <dsp:spPr>
        <a:xfrm>
          <a:off x="1608870" y="0"/>
          <a:ext cx="764677" cy="17389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5128" tIns="135128" rIns="135128" bIns="135128" numCol="1" spcCol="1270" anchor="b" anchorCtr="0">
          <a:noAutofit/>
        </a:bodyPr>
        <a:lstStyle/>
        <a:p>
          <a:pPr marL="0" lvl="0" indent="0" algn="ctr" defTabSz="844550">
            <a:lnSpc>
              <a:spcPct val="90000"/>
            </a:lnSpc>
            <a:spcBef>
              <a:spcPct val="0"/>
            </a:spcBef>
            <a:spcAft>
              <a:spcPct val="35000"/>
            </a:spcAft>
            <a:buNone/>
          </a:pPr>
          <a:endParaRPr lang="en-US" sz="1900" kern="1200" dirty="0">
            <a:solidFill>
              <a:schemeClr val="bg2">
                <a:lumMod val="10000"/>
              </a:schemeClr>
            </a:solidFill>
          </a:endParaRPr>
        </a:p>
      </dsp:txBody>
      <dsp:txXfrm>
        <a:off x="1608870" y="0"/>
        <a:ext cx="764677" cy="1738970"/>
      </dsp:txXfrm>
    </dsp:sp>
    <dsp:sp modelId="{5C8E534A-EDCA-49A8-A65F-6B710C8D63DD}">
      <dsp:nvSpPr>
        <dsp:cNvPr id="0" name=""/>
        <dsp:cNvSpPr/>
      </dsp:nvSpPr>
      <dsp:spPr>
        <a:xfrm>
          <a:off x="1773838" y="1956341"/>
          <a:ext cx="434742" cy="434742"/>
        </a:xfrm>
        <a:prstGeom prst="ellipse">
          <a:avLst/>
        </a:prstGeom>
        <a:solidFill>
          <a:srgbClr val="EE3228"/>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F65ACE6-C4D8-4BB7-B256-BC05E94D0428}">
      <dsp:nvSpPr>
        <dsp:cNvPr id="0" name=""/>
        <dsp:cNvSpPr/>
      </dsp:nvSpPr>
      <dsp:spPr>
        <a:xfrm>
          <a:off x="2411781" y="2608455"/>
          <a:ext cx="764677" cy="17389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5128" tIns="135128" rIns="135128" bIns="135128" numCol="1" spcCol="1270" anchor="t" anchorCtr="0">
          <a:noAutofit/>
        </a:bodyPr>
        <a:lstStyle/>
        <a:p>
          <a:pPr marL="0" lvl="0" indent="0" algn="ctr" defTabSz="844550">
            <a:lnSpc>
              <a:spcPct val="90000"/>
            </a:lnSpc>
            <a:spcBef>
              <a:spcPct val="0"/>
            </a:spcBef>
            <a:spcAft>
              <a:spcPct val="35000"/>
            </a:spcAft>
            <a:buNone/>
          </a:pPr>
          <a:endParaRPr lang="en-US" sz="1900" kern="1200" dirty="0">
            <a:solidFill>
              <a:schemeClr val="bg2">
                <a:lumMod val="10000"/>
              </a:schemeClr>
            </a:solidFill>
          </a:endParaRPr>
        </a:p>
      </dsp:txBody>
      <dsp:txXfrm>
        <a:off x="2411781" y="2608455"/>
        <a:ext cx="764677" cy="1738970"/>
      </dsp:txXfrm>
    </dsp:sp>
    <dsp:sp modelId="{6A7663AB-DB8E-4306-9EE8-D2909B9C1A0F}">
      <dsp:nvSpPr>
        <dsp:cNvPr id="0" name=""/>
        <dsp:cNvSpPr/>
      </dsp:nvSpPr>
      <dsp:spPr>
        <a:xfrm>
          <a:off x="2576749" y="1956341"/>
          <a:ext cx="434742" cy="434742"/>
        </a:xfrm>
        <a:prstGeom prst="ellipse">
          <a:avLst/>
        </a:prstGeom>
        <a:solidFill>
          <a:srgbClr val="EE3228"/>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5C28E79-D4E5-486F-988B-8ECD8A757630}">
      <dsp:nvSpPr>
        <dsp:cNvPr id="0" name=""/>
        <dsp:cNvSpPr/>
      </dsp:nvSpPr>
      <dsp:spPr>
        <a:xfrm>
          <a:off x="3214692" y="0"/>
          <a:ext cx="764677" cy="17389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5128" tIns="135128" rIns="135128" bIns="135128" numCol="1" spcCol="1270" anchor="ctr" anchorCtr="0">
          <a:noAutofit/>
        </a:bodyPr>
        <a:lstStyle/>
        <a:p>
          <a:pPr marL="0" lvl="0" indent="0" algn="ctr" defTabSz="844550">
            <a:lnSpc>
              <a:spcPct val="90000"/>
            </a:lnSpc>
            <a:spcBef>
              <a:spcPct val="0"/>
            </a:spcBef>
            <a:spcAft>
              <a:spcPct val="35000"/>
            </a:spcAft>
            <a:buNone/>
          </a:pPr>
          <a:r>
            <a:rPr lang="en-US" sz="1900" kern="1200" dirty="0">
              <a:solidFill>
                <a:schemeClr val="bg2">
                  <a:lumMod val="10000"/>
                </a:schemeClr>
              </a:solidFill>
            </a:rPr>
            <a:t>1900</a:t>
          </a:r>
        </a:p>
      </dsp:txBody>
      <dsp:txXfrm>
        <a:off x="3214692" y="0"/>
        <a:ext cx="764677" cy="1738970"/>
      </dsp:txXfrm>
    </dsp:sp>
    <dsp:sp modelId="{AE532651-358C-4C73-B9CB-F8AECB2A0C2B}">
      <dsp:nvSpPr>
        <dsp:cNvPr id="0" name=""/>
        <dsp:cNvSpPr/>
      </dsp:nvSpPr>
      <dsp:spPr>
        <a:xfrm>
          <a:off x="3379660" y="1956341"/>
          <a:ext cx="434742" cy="434742"/>
        </a:xfrm>
        <a:prstGeom prst="ellipse">
          <a:avLst/>
        </a:prstGeom>
        <a:solidFill>
          <a:srgbClr val="EE3228"/>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8CD05E7-B1E7-4968-AD07-17A752F664EC}">
      <dsp:nvSpPr>
        <dsp:cNvPr id="0" name=""/>
        <dsp:cNvSpPr/>
      </dsp:nvSpPr>
      <dsp:spPr>
        <a:xfrm>
          <a:off x="4017603" y="2608455"/>
          <a:ext cx="764677" cy="17389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5128" tIns="135128" rIns="135128" bIns="135128" numCol="1" spcCol="1270" anchor="t" anchorCtr="0">
          <a:noAutofit/>
        </a:bodyPr>
        <a:lstStyle/>
        <a:p>
          <a:pPr marL="0" lvl="0" indent="0" algn="ctr" defTabSz="844550">
            <a:lnSpc>
              <a:spcPct val="90000"/>
            </a:lnSpc>
            <a:spcBef>
              <a:spcPct val="0"/>
            </a:spcBef>
            <a:spcAft>
              <a:spcPct val="35000"/>
            </a:spcAft>
            <a:buNone/>
          </a:pPr>
          <a:endParaRPr lang="en-US" sz="1900" kern="1200" dirty="0">
            <a:solidFill>
              <a:schemeClr val="bg2">
                <a:lumMod val="10000"/>
              </a:schemeClr>
            </a:solidFill>
          </a:endParaRPr>
        </a:p>
      </dsp:txBody>
      <dsp:txXfrm>
        <a:off x="4017603" y="2608455"/>
        <a:ext cx="764677" cy="1738970"/>
      </dsp:txXfrm>
    </dsp:sp>
    <dsp:sp modelId="{2775D6E8-C967-49F3-BDA2-9D05A782DE28}">
      <dsp:nvSpPr>
        <dsp:cNvPr id="0" name=""/>
        <dsp:cNvSpPr/>
      </dsp:nvSpPr>
      <dsp:spPr>
        <a:xfrm>
          <a:off x="4182571" y="1956341"/>
          <a:ext cx="434742" cy="434742"/>
        </a:xfrm>
        <a:prstGeom prst="ellipse">
          <a:avLst/>
        </a:prstGeom>
        <a:solidFill>
          <a:srgbClr val="EE3228"/>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E4FF20C-6E85-40CD-9AD9-AF83ACBB30C4}">
      <dsp:nvSpPr>
        <dsp:cNvPr id="0" name=""/>
        <dsp:cNvSpPr/>
      </dsp:nvSpPr>
      <dsp:spPr>
        <a:xfrm>
          <a:off x="4820515" y="0"/>
          <a:ext cx="764677" cy="17389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5128" tIns="135128" rIns="135128" bIns="135128" numCol="1" spcCol="1270" anchor="b" anchorCtr="0">
          <a:noAutofit/>
        </a:bodyPr>
        <a:lstStyle/>
        <a:p>
          <a:pPr marL="0" lvl="0" indent="0" algn="ctr" defTabSz="844550">
            <a:lnSpc>
              <a:spcPct val="90000"/>
            </a:lnSpc>
            <a:spcBef>
              <a:spcPct val="0"/>
            </a:spcBef>
            <a:spcAft>
              <a:spcPct val="35000"/>
            </a:spcAft>
            <a:buNone/>
          </a:pPr>
          <a:endParaRPr lang="en-US" sz="1900" kern="1200" dirty="0">
            <a:solidFill>
              <a:schemeClr val="bg2">
                <a:lumMod val="10000"/>
              </a:schemeClr>
            </a:solidFill>
          </a:endParaRPr>
        </a:p>
      </dsp:txBody>
      <dsp:txXfrm>
        <a:off x="4820515" y="0"/>
        <a:ext cx="764677" cy="1738970"/>
      </dsp:txXfrm>
    </dsp:sp>
    <dsp:sp modelId="{69107A70-F12D-4B51-A257-97712B001BF0}">
      <dsp:nvSpPr>
        <dsp:cNvPr id="0" name=""/>
        <dsp:cNvSpPr/>
      </dsp:nvSpPr>
      <dsp:spPr>
        <a:xfrm>
          <a:off x="4985482" y="1956341"/>
          <a:ext cx="434742" cy="434742"/>
        </a:xfrm>
        <a:prstGeom prst="ellipse">
          <a:avLst/>
        </a:prstGeom>
        <a:solidFill>
          <a:srgbClr val="EE3228"/>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7AD48BF-951C-46B0-B23F-A14CE5E8830F}">
      <dsp:nvSpPr>
        <dsp:cNvPr id="0" name=""/>
        <dsp:cNvSpPr/>
      </dsp:nvSpPr>
      <dsp:spPr>
        <a:xfrm>
          <a:off x="5623426" y="2608455"/>
          <a:ext cx="764677" cy="17389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5128" tIns="135128" rIns="135128" bIns="135128" numCol="1" spcCol="1270" anchor="t" anchorCtr="0">
          <a:noAutofit/>
        </a:bodyPr>
        <a:lstStyle/>
        <a:p>
          <a:pPr marL="0" lvl="0" indent="0" algn="ctr" defTabSz="844550">
            <a:lnSpc>
              <a:spcPct val="90000"/>
            </a:lnSpc>
            <a:spcBef>
              <a:spcPct val="0"/>
            </a:spcBef>
            <a:spcAft>
              <a:spcPct val="35000"/>
            </a:spcAft>
            <a:buNone/>
          </a:pPr>
          <a:endParaRPr lang="en-US" sz="1900" kern="1200" dirty="0">
            <a:solidFill>
              <a:schemeClr val="bg2">
                <a:lumMod val="10000"/>
              </a:schemeClr>
            </a:solidFill>
          </a:endParaRPr>
        </a:p>
      </dsp:txBody>
      <dsp:txXfrm>
        <a:off x="5623426" y="2608455"/>
        <a:ext cx="764677" cy="1738970"/>
      </dsp:txXfrm>
    </dsp:sp>
    <dsp:sp modelId="{8C665515-889C-4F52-9036-9D4C2CE8ABEA}">
      <dsp:nvSpPr>
        <dsp:cNvPr id="0" name=""/>
        <dsp:cNvSpPr/>
      </dsp:nvSpPr>
      <dsp:spPr>
        <a:xfrm>
          <a:off x="5788393" y="1956341"/>
          <a:ext cx="434742" cy="434742"/>
        </a:xfrm>
        <a:prstGeom prst="ellipse">
          <a:avLst/>
        </a:prstGeom>
        <a:solidFill>
          <a:srgbClr val="EE3228"/>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6AB4F9F-58F2-4DA0-B555-B281216CD1DF}">
      <dsp:nvSpPr>
        <dsp:cNvPr id="0" name=""/>
        <dsp:cNvSpPr/>
      </dsp:nvSpPr>
      <dsp:spPr>
        <a:xfrm>
          <a:off x="6426337" y="0"/>
          <a:ext cx="764677" cy="17389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5128" tIns="135128" rIns="135128" bIns="135128" numCol="1" spcCol="1270" anchor="ctr" anchorCtr="0">
          <a:noAutofit/>
        </a:bodyPr>
        <a:lstStyle/>
        <a:p>
          <a:pPr marL="0" lvl="0" indent="0" algn="ctr" defTabSz="844550">
            <a:lnSpc>
              <a:spcPct val="90000"/>
            </a:lnSpc>
            <a:spcBef>
              <a:spcPct val="0"/>
            </a:spcBef>
            <a:spcAft>
              <a:spcPct val="35000"/>
            </a:spcAft>
            <a:buNone/>
          </a:pPr>
          <a:r>
            <a:rPr lang="en-US" sz="1900" kern="1200" dirty="0">
              <a:solidFill>
                <a:schemeClr val="bg2">
                  <a:lumMod val="10000"/>
                </a:schemeClr>
              </a:solidFill>
            </a:rPr>
            <a:t>1950</a:t>
          </a:r>
        </a:p>
      </dsp:txBody>
      <dsp:txXfrm>
        <a:off x="6426337" y="0"/>
        <a:ext cx="764677" cy="1738970"/>
      </dsp:txXfrm>
    </dsp:sp>
    <dsp:sp modelId="{6A8E5EC9-41E0-494C-91AB-1A4C16DB4987}">
      <dsp:nvSpPr>
        <dsp:cNvPr id="0" name=""/>
        <dsp:cNvSpPr/>
      </dsp:nvSpPr>
      <dsp:spPr>
        <a:xfrm>
          <a:off x="6591304" y="1956341"/>
          <a:ext cx="434742" cy="434742"/>
        </a:xfrm>
        <a:prstGeom prst="ellipse">
          <a:avLst/>
        </a:prstGeom>
        <a:solidFill>
          <a:srgbClr val="EE3228"/>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97D87DE-C22A-4B5F-95EA-0B4F63C22896}">
      <dsp:nvSpPr>
        <dsp:cNvPr id="0" name=""/>
        <dsp:cNvSpPr/>
      </dsp:nvSpPr>
      <dsp:spPr>
        <a:xfrm>
          <a:off x="7229248" y="2608455"/>
          <a:ext cx="764677" cy="17389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5128" tIns="135128" rIns="135128" bIns="135128" numCol="1" spcCol="1270" anchor="t" anchorCtr="0">
          <a:noAutofit/>
        </a:bodyPr>
        <a:lstStyle/>
        <a:p>
          <a:pPr marL="0" lvl="0" indent="0" algn="ctr" defTabSz="844550">
            <a:lnSpc>
              <a:spcPct val="90000"/>
            </a:lnSpc>
            <a:spcBef>
              <a:spcPct val="0"/>
            </a:spcBef>
            <a:spcAft>
              <a:spcPct val="35000"/>
            </a:spcAft>
            <a:buNone/>
          </a:pPr>
          <a:endParaRPr lang="en-US" sz="1900" kern="1200" dirty="0">
            <a:solidFill>
              <a:schemeClr val="bg2">
                <a:lumMod val="10000"/>
              </a:schemeClr>
            </a:solidFill>
          </a:endParaRPr>
        </a:p>
      </dsp:txBody>
      <dsp:txXfrm>
        <a:off x="7229248" y="2608455"/>
        <a:ext cx="764677" cy="1738970"/>
      </dsp:txXfrm>
    </dsp:sp>
    <dsp:sp modelId="{6508F5B0-B2F0-4C25-BF61-8907D3B30F98}">
      <dsp:nvSpPr>
        <dsp:cNvPr id="0" name=""/>
        <dsp:cNvSpPr/>
      </dsp:nvSpPr>
      <dsp:spPr>
        <a:xfrm>
          <a:off x="7394215" y="1956341"/>
          <a:ext cx="434742" cy="434742"/>
        </a:xfrm>
        <a:prstGeom prst="ellipse">
          <a:avLst/>
        </a:prstGeom>
        <a:solidFill>
          <a:srgbClr val="EE3228"/>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2BE8CD9-D4CB-4C97-836A-1494B8E4A5F6}">
      <dsp:nvSpPr>
        <dsp:cNvPr id="0" name=""/>
        <dsp:cNvSpPr/>
      </dsp:nvSpPr>
      <dsp:spPr>
        <a:xfrm>
          <a:off x="8032159" y="0"/>
          <a:ext cx="764677" cy="17389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5128" tIns="135128" rIns="135128" bIns="135128" numCol="1" spcCol="1270" anchor="b" anchorCtr="0">
          <a:noAutofit/>
        </a:bodyPr>
        <a:lstStyle/>
        <a:p>
          <a:pPr marL="0" lvl="0" indent="0" algn="ctr" defTabSz="844550">
            <a:lnSpc>
              <a:spcPct val="90000"/>
            </a:lnSpc>
            <a:spcBef>
              <a:spcPct val="0"/>
            </a:spcBef>
            <a:spcAft>
              <a:spcPct val="35000"/>
            </a:spcAft>
            <a:buNone/>
          </a:pPr>
          <a:endParaRPr lang="en-US" sz="1900" kern="1200" dirty="0">
            <a:solidFill>
              <a:schemeClr val="bg2">
                <a:lumMod val="10000"/>
              </a:schemeClr>
            </a:solidFill>
          </a:endParaRPr>
        </a:p>
      </dsp:txBody>
      <dsp:txXfrm>
        <a:off x="8032159" y="0"/>
        <a:ext cx="764677" cy="1738970"/>
      </dsp:txXfrm>
    </dsp:sp>
    <dsp:sp modelId="{7FB6FBFF-A7B0-41D1-B749-5B42CC63A311}">
      <dsp:nvSpPr>
        <dsp:cNvPr id="0" name=""/>
        <dsp:cNvSpPr/>
      </dsp:nvSpPr>
      <dsp:spPr>
        <a:xfrm>
          <a:off x="8197126" y="1956341"/>
          <a:ext cx="434742" cy="434742"/>
        </a:xfrm>
        <a:prstGeom prst="ellipse">
          <a:avLst/>
        </a:prstGeom>
        <a:solidFill>
          <a:srgbClr val="EE3228"/>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ACED34C-F763-45B4-B8E5-9B40BB2A2F83}">
      <dsp:nvSpPr>
        <dsp:cNvPr id="0" name=""/>
        <dsp:cNvSpPr/>
      </dsp:nvSpPr>
      <dsp:spPr>
        <a:xfrm>
          <a:off x="8835070" y="2608455"/>
          <a:ext cx="764677" cy="17389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5128" tIns="135128" rIns="135128" bIns="135128" numCol="1" spcCol="1270" anchor="t" anchorCtr="0">
          <a:noAutofit/>
        </a:bodyPr>
        <a:lstStyle/>
        <a:p>
          <a:pPr marL="0" lvl="0" indent="0" algn="ctr" defTabSz="844550">
            <a:lnSpc>
              <a:spcPct val="90000"/>
            </a:lnSpc>
            <a:spcBef>
              <a:spcPct val="0"/>
            </a:spcBef>
            <a:spcAft>
              <a:spcPct val="35000"/>
            </a:spcAft>
            <a:buNone/>
          </a:pPr>
          <a:endParaRPr lang="en-US" sz="1900" kern="1200" dirty="0">
            <a:solidFill>
              <a:schemeClr val="bg2">
                <a:lumMod val="10000"/>
              </a:schemeClr>
            </a:solidFill>
          </a:endParaRPr>
        </a:p>
      </dsp:txBody>
      <dsp:txXfrm>
        <a:off x="8835070" y="2608455"/>
        <a:ext cx="764677" cy="1738970"/>
      </dsp:txXfrm>
    </dsp:sp>
    <dsp:sp modelId="{56D087FC-7597-43AE-B754-E61B1E09C90D}">
      <dsp:nvSpPr>
        <dsp:cNvPr id="0" name=""/>
        <dsp:cNvSpPr/>
      </dsp:nvSpPr>
      <dsp:spPr>
        <a:xfrm>
          <a:off x="9000037" y="1956341"/>
          <a:ext cx="434742" cy="434742"/>
        </a:xfrm>
        <a:prstGeom prst="ellipse">
          <a:avLst/>
        </a:prstGeom>
        <a:solidFill>
          <a:srgbClr val="EE3228"/>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B3FFDA9-183E-4253-B9C8-0CCDDD2A41D2}">
      <dsp:nvSpPr>
        <dsp:cNvPr id="0" name=""/>
        <dsp:cNvSpPr/>
      </dsp:nvSpPr>
      <dsp:spPr>
        <a:xfrm>
          <a:off x="9637981" y="0"/>
          <a:ext cx="764677" cy="17389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5128" tIns="135128" rIns="135128" bIns="135128" numCol="1" spcCol="1270" anchor="ctr" anchorCtr="0">
          <a:noAutofit/>
        </a:bodyPr>
        <a:lstStyle/>
        <a:p>
          <a:pPr marL="0" lvl="0" indent="0" algn="ctr" defTabSz="844550">
            <a:lnSpc>
              <a:spcPct val="90000"/>
            </a:lnSpc>
            <a:spcBef>
              <a:spcPct val="0"/>
            </a:spcBef>
            <a:spcAft>
              <a:spcPct val="35000"/>
            </a:spcAft>
            <a:buNone/>
          </a:pPr>
          <a:r>
            <a:rPr lang="en-US" sz="1900" kern="1200" dirty="0">
              <a:solidFill>
                <a:schemeClr val="bg2">
                  <a:lumMod val="10000"/>
                </a:schemeClr>
              </a:solidFill>
            </a:rPr>
            <a:t>2000</a:t>
          </a:r>
        </a:p>
      </dsp:txBody>
      <dsp:txXfrm>
        <a:off x="9637981" y="0"/>
        <a:ext cx="764677" cy="1738970"/>
      </dsp:txXfrm>
    </dsp:sp>
    <dsp:sp modelId="{536C66BA-4A20-4CF0-AEC8-CBBFC1AD1B3E}">
      <dsp:nvSpPr>
        <dsp:cNvPr id="0" name=""/>
        <dsp:cNvSpPr/>
      </dsp:nvSpPr>
      <dsp:spPr>
        <a:xfrm>
          <a:off x="9802948" y="1956341"/>
          <a:ext cx="434742" cy="434742"/>
        </a:xfrm>
        <a:prstGeom prst="ellipse">
          <a:avLst/>
        </a:prstGeom>
        <a:solidFill>
          <a:srgbClr val="EE3228"/>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drawing1.xml><?xml version="1.0" encoding="utf-8"?>
<c:userShapes xmlns:c="http://schemas.openxmlformats.org/drawingml/2006/chart">
  <cdr:relSizeAnchor xmlns:cdr="http://schemas.openxmlformats.org/drawingml/2006/chartDrawing">
    <cdr:from>
      <cdr:x>0.19133</cdr:x>
      <cdr:y>0.68481</cdr:y>
    </cdr:from>
    <cdr:to>
      <cdr:x>0.22883</cdr:x>
      <cdr:y>0.82839</cdr:y>
    </cdr:to>
    <cdr:sp macro="" textlink="">
      <cdr:nvSpPr>
        <cdr:cNvPr id="2" name="TextBox 15">
          <a:extLst xmlns:a="http://schemas.openxmlformats.org/drawingml/2006/main">
            <a:ext uri="{FF2B5EF4-FFF2-40B4-BE49-F238E27FC236}">
              <a16:creationId xmlns:a16="http://schemas.microsoft.com/office/drawing/2014/main" id="{3B8BEB15-DF01-FC46-5B04-DB754EC888F1}"/>
            </a:ext>
          </a:extLst>
        </cdr:cNvPr>
        <cdr:cNvSpPr txBox="1"/>
      </cdr:nvSpPr>
      <cdr:spPr>
        <a:xfrm xmlns:a="http://schemas.openxmlformats.org/drawingml/2006/main">
          <a:off x="1611317" y="2544585"/>
          <a:ext cx="315792" cy="533479"/>
        </a:xfrm>
        <a:prstGeom xmlns:a="http://schemas.openxmlformats.org/drawingml/2006/main" prst="rect">
          <a:avLst/>
        </a:prstGeom>
        <a:noFill xmlns:a="http://schemas.openxmlformats.org/drawingml/2006/main"/>
        <a:ln xmlns:a="http://schemas.openxmlformats.org/drawingml/2006/main" w="12700" cap="flat">
          <a:noFill/>
          <a:miter lim="400000"/>
        </a:ln>
        <a:effectLst xmlns:a="http://schemas.openxmlformats.org/drawingml/2006/main"/>
        <a:sp3d xmlns:a="http://schemas.openxmlformats.org/drawingml/2006/main"/>
      </cdr:spPr>
      <cdr:style>
        <a:lnRef xmlns:a="http://schemas.openxmlformats.org/drawingml/2006/main" idx="0">
          <a:scrgbClr r="0" g="0" b="0"/>
        </a:lnRef>
        <a:fillRef xmlns:a="http://schemas.openxmlformats.org/drawingml/2006/main" idx="0">
          <a:scrgbClr r="0" g="0" b="0"/>
        </a:fillRef>
        <a:effectRef xmlns:a="http://schemas.openxmlformats.org/drawingml/2006/main" idx="0">
          <a:scrgbClr r="0" g="0" b="0"/>
        </a:effectRef>
        <a:fontRef xmlns:a="http://schemas.openxmlformats.org/drawingml/2006/main" idx="none"/>
      </cdr:style>
      <cdr:txBody>
        <a:bodyPr xmlns:a="http://schemas.openxmlformats.org/drawingml/2006/main" rot="0" spcFirstLastPara="1" vert="horz" wrap="none" lIns="50800" tIns="50800" rIns="50800" bIns="50800" numCol="1" spcCol="38100" rtlCol="0" anchor="t">
          <a:spAutoFit/>
        </a:bodyPr>
        <a:lstStyle xmlns:a="http://schemas.openxmlformats.org/drawingml/2006/main">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mn-lt"/>
              <a:ea typeface="+mn-ea"/>
              <a:cs typeface="+mn-cs"/>
              <a:sym typeface="Roboto"/>
            </a:defRPr>
          </a:lvl1pPr>
          <a:lvl2pPr marL="0" marR="0" indent="34290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mn-lt"/>
              <a:ea typeface="+mn-ea"/>
              <a:cs typeface="+mn-cs"/>
              <a:sym typeface="Roboto"/>
            </a:defRPr>
          </a:lvl2pPr>
          <a:lvl3pPr marL="0" marR="0" indent="68580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mn-lt"/>
              <a:ea typeface="+mn-ea"/>
              <a:cs typeface="+mn-cs"/>
              <a:sym typeface="Roboto"/>
            </a:defRPr>
          </a:lvl3pPr>
          <a:lvl4pPr marL="0" marR="0" indent="102870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mn-lt"/>
              <a:ea typeface="+mn-ea"/>
              <a:cs typeface="+mn-cs"/>
              <a:sym typeface="Roboto"/>
            </a:defRPr>
          </a:lvl4pPr>
          <a:lvl5pPr marL="0" marR="0" indent="137160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mn-lt"/>
              <a:ea typeface="+mn-ea"/>
              <a:cs typeface="+mn-cs"/>
              <a:sym typeface="Roboto"/>
            </a:defRPr>
          </a:lvl5pPr>
          <a:lvl6pPr marL="0" marR="0" indent="171450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mn-lt"/>
              <a:ea typeface="+mn-ea"/>
              <a:cs typeface="+mn-cs"/>
              <a:sym typeface="Roboto"/>
            </a:defRPr>
          </a:lvl6pPr>
          <a:lvl7pPr marL="0" marR="0" indent="205740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mn-lt"/>
              <a:ea typeface="+mn-ea"/>
              <a:cs typeface="+mn-cs"/>
              <a:sym typeface="Roboto"/>
            </a:defRPr>
          </a:lvl7pPr>
          <a:lvl8pPr marL="0" marR="0" indent="240030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mn-lt"/>
              <a:ea typeface="+mn-ea"/>
              <a:cs typeface="+mn-cs"/>
              <a:sym typeface="Roboto"/>
            </a:defRPr>
          </a:lvl8pPr>
          <a:lvl9pPr marL="0" marR="0" indent="274320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mn-lt"/>
              <a:ea typeface="+mn-ea"/>
              <a:cs typeface="+mn-cs"/>
              <a:sym typeface="Roboto"/>
            </a:defRPr>
          </a:lvl9pPr>
        </a:lstStyle>
        <a:p xmlns:a="http://schemas.openxmlformats.org/drawingml/2006/main">
          <a:pPr marL="0" marR="0" indent="0" algn="ctr"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chemeClr val="bg1"/>
              </a:solidFill>
              <a:effectLst/>
              <a:uFillTx/>
              <a:latin typeface="Roboto" panose="02000000000000000000" pitchFamily="2" charset="0"/>
              <a:ea typeface="Roboto" panose="02000000000000000000" pitchFamily="2" charset="0"/>
              <a:cs typeface="Roboto" panose="02000000000000000000" pitchFamily="2" charset="0"/>
              <a:sym typeface="Roboto"/>
            </a:rPr>
            <a:t>S</a:t>
          </a:r>
        </a:p>
      </cdr:txBody>
    </cdr:sp>
  </cdr:relSizeAnchor>
  <cdr:relSizeAnchor xmlns:cdr="http://schemas.openxmlformats.org/drawingml/2006/chartDrawing">
    <cdr:from>
      <cdr:x>0.38118</cdr:x>
      <cdr:y>0.53136</cdr:y>
    </cdr:from>
    <cdr:to>
      <cdr:x>0.41867</cdr:x>
      <cdr:y>0.67493</cdr:y>
    </cdr:to>
    <cdr:sp macro="" textlink="">
      <cdr:nvSpPr>
        <cdr:cNvPr id="3" name="TextBox 15">
          <a:extLst xmlns:a="http://schemas.openxmlformats.org/drawingml/2006/main">
            <a:ext uri="{FF2B5EF4-FFF2-40B4-BE49-F238E27FC236}">
              <a16:creationId xmlns:a16="http://schemas.microsoft.com/office/drawing/2014/main" id="{3B8BEB15-DF01-FC46-5B04-DB754EC888F1}"/>
            </a:ext>
          </a:extLst>
        </cdr:cNvPr>
        <cdr:cNvSpPr txBox="1"/>
      </cdr:nvSpPr>
      <cdr:spPr>
        <a:xfrm xmlns:a="http://schemas.openxmlformats.org/drawingml/2006/main">
          <a:off x="3210179" y="1974380"/>
          <a:ext cx="315792" cy="533479"/>
        </a:xfrm>
        <a:prstGeom xmlns:a="http://schemas.openxmlformats.org/drawingml/2006/main" prst="rect">
          <a:avLst/>
        </a:prstGeom>
        <a:noFill xmlns:a="http://schemas.openxmlformats.org/drawingml/2006/main"/>
        <a:ln xmlns:a="http://schemas.openxmlformats.org/drawingml/2006/main" w="12700" cap="flat">
          <a:noFill/>
          <a:miter lim="400000"/>
        </a:ln>
        <a:effectLst xmlns:a="http://schemas.openxmlformats.org/drawingml/2006/main"/>
        <a:sp3d xmlns:a="http://schemas.openxmlformats.org/drawingml/2006/main"/>
      </cdr:spPr>
      <cdr:style>
        <a:lnRef xmlns:a="http://schemas.openxmlformats.org/drawingml/2006/main" idx="0">
          <a:scrgbClr r="0" g="0" b="0"/>
        </a:lnRef>
        <a:fillRef xmlns:a="http://schemas.openxmlformats.org/drawingml/2006/main" idx="0">
          <a:scrgbClr r="0" g="0" b="0"/>
        </a:fillRef>
        <a:effectRef xmlns:a="http://schemas.openxmlformats.org/drawingml/2006/main" idx="0">
          <a:scrgbClr r="0" g="0" b="0"/>
        </a:effectRef>
        <a:fontRef xmlns:a="http://schemas.openxmlformats.org/drawingml/2006/main" idx="none"/>
      </cdr:style>
      <cdr:txBody>
        <a:bodyPr xmlns:a="http://schemas.openxmlformats.org/drawingml/2006/main" rot="0" spcFirstLastPara="1" vert="horz" wrap="none" lIns="50800" tIns="50800" rIns="50800" bIns="50800" numCol="1" spcCol="38100" rtlCol="0" anchor="t">
          <a:spAutoFit/>
        </a:bodyPr>
        <a:lstStyle xmlns:a="http://schemas.openxmlformats.org/drawingml/2006/main">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mn-lt"/>
              <a:ea typeface="+mn-ea"/>
              <a:cs typeface="+mn-cs"/>
              <a:sym typeface="Roboto"/>
            </a:defRPr>
          </a:lvl1pPr>
          <a:lvl2pPr marL="0" marR="0" indent="34290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mn-lt"/>
              <a:ea typeface="+mn-ea"/>
              <a:cs typeface="+mn-cs"/>
              <a:sym typeface="Roboto"/>
            </a:defRPr>
          </a:lvl2pPr>
          <a:lvl3pPr marL="0" marR="0" indent="68580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mn-lt"/>
              <a:ea typeface="+mn-ea"/>
              <a:cs typeface="+mn-cs"/>
              <a:sym typeface="Roboto"/>
            </a:defRPr>
          </a:lvl3pPr>
          <a:lvl4pPr marL="0" marR="0" indent="102870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mn-lt"/>
              <a:ea typeface="+mn-ea"/>
              <a:cs typeface="+mn-cs"/>
              <a:sym typeface="Roboto"/>
            </a:defRPr>
          </a:lvl4pPr>
          <a:lvl5pPr marL="0" marR="0" indent="137160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mn-lt"/>
              <a:ea typeface="+mn-ea"/>
              <a:cs typeface="+mn-cs"/>
              <a:sym typeface="Roboto"/>
            </a:defRPr>
          </a:lvl5pPr>
          <a:lvl6pPr marL="0" marR="0" indent="171450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mn-lt"/>
              <a:ea typeface="+mn-ea"/>
              <a:cs typeface="+mn-cs"/>
              <a:sym typeface="Roboto"/>
            </a:defRPr>
          </a:lvl6pPr>
          <a:lvl7pPr marL="0" marR="0" indent="205740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mn-lt"/>
              <a:ea typeface="+mn-ea"/>
              <a:cs typeface="+mn-cs"/>
              <a:sym typeface="Roboto"/>
            </a:defRPr>
          </a:lvl7pPr>
          <a:lvl8pPr marL="0" marR="0" indent="240030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mn-lt"/>
              <a:ea typeface="+mn-ea"/>
              <a:cs typeface="+mn-cs"/>
              <a:sym typeface="Roboto"/>
            </a:defRPr>
          </a:lvl8pPr>
          <a:lvl9pPr marL="0" marR="0" indent="274320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mn-lt"/>
              <a:ea typeface="+mn-ea"/>
              <a:cs typeface="+mn-cs"/>
              <a:sym typeface="Roboto"/>
            </a:defRPr>
          </a:lvl9pPr>
        </a:lstStyle>
        <a:p xmlns:a="http://schemas.openxmlformats.org/drawingml/2006/main">
          <a:pPr marL="0" marR="0" indent="0" algn="ctr"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chemeClr val="bg1"/>
              </a:solidFill>
              <a:effectLst/>
              <a:uFillTx/>
              <a:latin typeface="Roboto" panose="02000000000000000000" pitchFamily="2" charset="0"/>
              <a:ea typeface="Roboto" panose="02000000000000000000" pitchFamily="2" charset="0"/>
              <a:cs typeface="Roboto" panose="02000000000000000000" pitchFamily="2" charset="0"/>
              <a:sym typeface="Roboto"/>
            </a:rPr>
            <a:t>S</a:t>
          </a:r>
        </a:p>
      </cdr:txBody>
    </cdr:sp>
  </cdr:relSizeAnchor>
  <cdr:relSizeAnchor xmlns:cdr="http://schemas.openxmlformats.org/drawingml/2006/chartDrawing">
    <cdr:from>
      <cdr:x>0.57932</cdr:x>
      <cdr:y>0.37903</cdr:y>
    </cdr:from>
    <cdr:to>
      <cdr:x>0.61682</cdr:x>
      <cdr:y>0.52261</cdr:y>
    </cdr:to>
    <cdr:sp macro="" textlink="">
      <cdr:nvSpPr>
        <cdr:cNvPr id="4" name="TextBox 15">
          <a:extLst xmlns:a="http://schemas.openxmlformats.org/drawingml/2006/main">
            <a:ext uri="{FF2B5EF4-FFF2-40B4-BE49-F238E27FC236}">
              <a16:creationId xmlns:a16="http://schemas.microsoft.com/office/drawing/2014/main" id="{3B8BEB15-DF01-FC46-5B04-DB754EC888F1}"/>
            </a:ext>
          </a:extLst>
        </cdr:cNvPr>
        <cdr:cNvSpPr txBox="1"/>
      </cdr:nvSpPr>
      <cdr:spPr>
        <a:xfrm xmlns:a="http://schemas.openxmlformats.org/drawingml/2006/main">
          <a:off x="4878898" y="1408390"/>
          <a:ext cx="315792" cy="533479"/>
        </a:xfrm>
        <a:prstGeom xmlns:a="http://schemas.openxmlformats.org/drawingml/2006/main" prst="rect">
          <a:avLst/>
        </a:prstGeom>
        <a:noFill xmlns:a="http://schemas.openxmlformats.org/drawingml/2006/main"/>
        <a:ln xmlns:a="http://schemas.openxmlformats.org/drawingml/2006/main" w="12700" cap="flat">
          <a:noFill/>
          <a:miter lim="400000"/>
        </a:ln>
        <a:effectLst xmlns:a="http://schemas.openxmlformats.org/drawingml/2006/main"/>
        <a:sp3d xmlns:a="http://schemas.openxmlformats.org/drawingml/2006/main"/>
      </cdr:spPr>
      <cdr:style>
        <a:lnRef xmlns:a="http://schemas.openxmlformats.org/drawingml/2006/main" idx="0">
          <a:scrgbClr r="0" g="0" b="0"/>
        </a:lnRef>
        <a:fillRef xmlns:a="http://schemas.openxmlformats.org/drawingml/2006/main" idx="0">
          <a:scrgbClr r="0" g="0" b="0"/>
        </a:fillRef>
        <a:effectRef xmlns:a="http://schemas.openxmlformats.org/drawingml/2006/main" idx="0">
          <a:scrgbClr r="0" g="0" b="0"/>
        </a:effectRef>
        <a:fontRef xmlns:a="http://schemas.openxmlformats.org/drawingml/2006/main" idx="none"/>
      </cdr:style>
      <cdr:txBody>
        <a:bodyPr xmlns:a="http://schemas.openxmlformats.org/drawingml/2006/main" rot="0" spcFirstLastPara="1" vert="horz" wrap="none" lIns="50800" tIns="50800" rIns="50800" bIns="50800" numCol="1" spcCol="38100" rtlCol="0" anchor="t">
          <a:spAutoFit/>
        </a:bodyPr>
        <a:lstStyle xmlns:a="http://schemas.openxmlformats.org/drawingml/2006/main">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mn-lt"/>
              <a:ea typeface="+mn-ea"/>
              <a:cs typeface="+mn-cs"/>
              <a:sym typeface="Roboto"/>
            </a:defRPr>
          </a:lvl1pPr>
          <a:lvl2pPr marL="0" marR="0" indent="34290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mn-lt"/>
              <a:ea typeface="+mn-ea"/>
              <a:cs typeface="+mn-cs"/>
              <a:sym typeface="Roboto"/>
            </a:defRPr>
          </a:lvl2pPr>
          <a:lvl3pPr marL="0" marR="0" indent="68580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mn-lt"/>
              <a:ea typeface="+mn-ea"/>
              <a:cs typeface="+mn-cs"/>
              <a:sym typeface="Roboto"/>
            </a:defRPr>
          </a:lvl3pPr>
          <a:lvl4pPr marL="0" marR="0" indent="102870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mn-lt"/>
              <a:ea typeface="+mn-ea"/>
              <a:cs typeface="+mn-cs"/>
              <a:sym typeface="Roboto"/>
            </a:defRPr>
          </a:lvl4pPr>
          <a:lvl5pPr marL="0" marR="0" indent="137160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mn-lt"/>
              <a:ea typeface="+mn-ea"/>
              <a:cs typeface="+mn-cs"/>
              <a:sym typeface="Roboto"/>
            </a:defRPr>
          </a:lvl5pPr>
          <a:lvl6pPr marL="0" marR="0" indent="171450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mn-lt"/>
              <a:ea typeface="+mn-ea"/>
              <a:cs typeface="+mn-cs"/>
              <a:sym typeface="Roboto"/>
            </a:defRPr>
          </a:lvl6pPr>
          <a:lvl7pPr marL="0" marR="0" indent="205740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mn-lt"/>
              <a:ea typeface="+mn-ea"/>
              <a:cs typeface="+mn-cs"/>
              <a:sym typeface="Roboto"/>
            </a:defRPr>
          </a:lvl7pPr>
          <a:lvl8pPr marL="0" marR="0" indent="240030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mn-lt"/>
              <a:ea typeface="+mn-ea"/>
              <a:cs typeface="+mn-cs"/>
              <a:sym typeface="Roboto"/>
            </a:defRPr>
          </a:lvl8pPr>
          <a:lvl9pPr marL="0" marR="0" indent="274320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mn-lt"/>
              <a:ea typeface="+mn-ea"/>
              <a:cs typeface="+mn-cs"/>
              <a:sym typeface="Roboto"/>
            </a:defRPr>
          </a:lvl9pPr>
        </a:lstStyle>
        <a:p xmlns:a="http://schemas.openxmlformats.org/drawingml/2006/main">
          <a:pPr marL="0" marR="0" indent="0" algn="ctr"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chemeClr val="bg1"/>
              </a:solidFill>
              <a:effectLst/>
              <a:uFillTx/>
              <a:latin typeface="Roboto" panose="02000000000000000000" pitchFamily="2" charset="0"/>
              <a:ea typeface="Roboto" panose="02000000000000000000" pitchFamily="2" charset="0"/>
              <a:cs typeface="Roboto" panose="02000000000000000000" pitchFamily="2" charset="0"/>
              <a:sym typeface="Roboto"/>
            </a:rPr>
            <a:t>S</a:t>
          </a:r>
        </a:p>
      </cdr:txBody>
    </cdr:sp>
  </cdr:relSizeAnchor>
  <cdr:relSizeAnchor xmlns:cdr="http://schemas.openxmlformats.org/drawingml/2006/chartDrawing">
    <cdr:from>
      <cdr:x>0.78353</cdr:x>
      <cdr:y>0.22546</cdr:y>
    </cdr:from>
    <cdr:to>
      <cdr:x>0.82102</cdr:x>
      <cdr:y>0.36903</cdr:y>
    </cdr:to>
    <cdr:sp macro="" textlink="">
      <cdr:nvSpPr>
        <cdr:cNvPr id="5" name="TextBox 15">
          <a:extLst xmlns:a="http://schemas.openxmlformats.org/drawingml/2006/main">
            <a:ext uri="{FF2B5EF4-FFF2-40B4-BE49-F238E27FC236}">
              <a16:creationId xmlns:a16="http://schemas.microsoft.com/office/drawing/2014/main" id="{3B8BEB15-DF01-FC46-5B04-DB754EC888F1}"/>
            </a:ext>
          </a:extLst>
        </cdr:cNvPr>
        <cdr:cNvSpPr txBox="1"/>
      </cdr:nvSpPr>
      <cdr:spPr>
        <a:xfrm xmlns:a="http://schemas.openxmlformats.org/drawingml/2006/main">
          <a:off x="6598663" y="837735"/>
          <a:ext cx="315792" cy="533479"/>
        </a:xfrm>
        <a:prstGeom xmlns:a="http://schemas.openxmlformats.org/drawingml/2006/main" prst="rect">
          <a:avLst/>
        </a:prstGeom>
        <a:noFill xmlns:a="http://schemas.openxmlformats.org/drawingml/2006/main"/>
        <a:ln xmlns:a="http://schemas.openxmlformats.org/drawingml/2006/main" w="12700" cap="flat">
          <a:noFill/>
          <a:miter lim="400000"/>
        </a:ln>
        <a:effectLst xmlns:a="http://schemas.openxmlformats.org/drawingml/2006/main"/>
        <a:sp3d xmlns:a="http://schemas.openxmlformats.org/drawingml/2006/main"/>
      </cdr:spPr>
      <cdr:style>
        <a:lnRef xmlns:a="http://schemas.openxmlformats.org/drawingml/2006/main" idx="0">
          <a:scrgbClr r="0" g="0" b="0"/>
        </a:lnRef>
        <a:fillRef xmlns:a="http://schemas.openxmlformats.org/drawingml/2006/main" idx="0">
          <a:scrgbClr r="0" g="0" b="0"/>
        </a:fillRef>
        <a:effectRef xmlns:a="http://schemas.openxmlformats.org/drawingml/2006/main" idx="0">
          <a:scrgbClr r="0" g="0" b="0"/>
        </a:effectRef>
        <a:fontRef xmlns:a="http://schemas.openxmlformats.org/drawingml/2006/main" idx="none"/>
      </cdr:style>
      <cdr:txBody>
        <a:bodyPr xmlns:a="http://schemas.openxmlformats.org/drawingml/2006/main" rot="0" spcFirstLastPara="1" vert="horz" wrap="none" lIns="50800" tIns="50800" rIns="50800" bIns="50800" numCol="1" spcCol="38100" rtlCol="0" anchor="t">
          <a:spAutoFit/>
        </a:bodyPr>
        <a:lstStyle xmlns:a="http://schemas.openxmlformats.org/drawingml/2006/main">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mn-lt"/>
              <a:ea typeface="+mn-ea"/>
              <a:cs typeface="+mn-cs"/>
              <a:sym typeface="Roboto"/>
            </a:defRPr>
          </a:lvl1pPr>
          <a:lvl2pPr marL="0" marR="0" indent="34290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mn-lt"/>
              <a:ea typeface="+mn-ea"/>
              <a:cs typeface="+mn-cs"/>
              <a:sym typeface="Roboto"/>
            </a:defRPr>
          </a:lvl2pPr>
          <a:lvl3pPr marL="0" marR="0" indent="68580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mn-lt"/>
              <a:ea typeface="+mn-ea"/>
              <a:cs typeface="+mn-cs"/>
              <a:sym typeface="Roboto"/>
            </a:defRPr>
          </a:lvl3pPr>
          <a:lvl4pPr marL="0" marR="0" indent="102870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mn-lt"/>
              <a:ea typeface="+mn-ea"/>
              <a:cs typeface="+mn-cs"/>
              <a:sym typeface="Roboto"/>
            </a:defRPr>
          </a:lvl4pPr>
          <a:lvl5pPr marL="0" marR="0" indent="137160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mn-lt"/>
              <a:ea typeface="+mn-ea"/>
              <a:cs typeface="+mn-cs"/>
              <a:sym typeface="Roboto"/>
            </a:defRPr>
          </a:lvl5pPr>
          <a:lvl6pPr marL="0" marR="0" indent="171450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mn-lt"/>
              <a:ea typeface="+mn-ea"/>
              <a:cs typeface="+mn-cs"/>
              <a:sym typeface="Roboto"/>
            </a:defRPr>
          </a:lvl6pPr>
          <a:lvl7pPr marL="0" marR="0" indent="205740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mn-lt"/>
              <a:ea typeface="+mn-ea"/>
              <a:cs typeface="+mn-cs"/>
              <a:sym typeface="Roboto"/>
            </a:defRPr>
          </a:lvl7pPr>
          <a:lvl8pPr marL="0" marR="0" indent="240030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mn-lt"/>
              <a:ea typeface="+mn-ea"/>
              <a:cs typeface="+mn-cs"/>
              <a:sym typeface="Roboto"/>
            </a:defRPr>
          </a:lvl8pPr>
          <a:lvl9pPr marL="0" marR="0" indent="274320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mn-lt"/>
              <a:ea typeface="+mn-ea"/>
              <a:cs typeface="+mn-cs"/>
              <a:sym typeface="Roboto"/>
            </a:defRPr>
          </a:lvl9pPr>
        </a:lstStyle>
        <a:p xmlns:a="http://schemas.openxmlformats.org/drawingml/2006/main">
          <a:pPr marL="0" marR="0" indent="0" algn="ctr"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chemeClr val="bg1"/>
              </a:solidFill>
              <a:effectLst/>
              <a:uFillTx/>
              <a:latin typeface="Roboto" panose="02000000000000000000" pitchFamily="2" charset="0"/>
              <a:ea typeface="Roboto" panose="02000000000000000000" pitchFamily="2" charset="0"/>
              <a:cs typeface="Roboto" panose="02000000000000000000" pitchFamily="2" charset="0"/>
              <a:sym typeface="Roboto"/>
            </a:rPr>
            <a:t>S</a:t>
          </a:r>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86C400-5EB2-4620-B71B-A7454A7EC846}" type="datetimeFigureOut">
              <a:rPr lang="en-US" smtClean="0"/>
              <a:t>7/3/23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ECD8548-F1A2-4EDF-A416-5F2BB6B8F64C}" type="slidenum">
              <a:rPr lang="en-US" smtClean="0"/>
              <a:t>‹#›</a:t>
            </a:fld>
            <a:endParaRPr lang="en-US"/>
          </a:p>
        </p:txBody>
      </p:sp>
    </p:spTree>
    <p:extLst>
      <p:ext uri="{BB962C8B-B14F-4D97-AF65-F5344CB8AC3E}">
        <p14:creationId xmlns:p14="http://schemas.microsoft.com/office/powerpoint/2010/main" val="19732378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a:t>
            </a:fld>
            <a:endParaRPr lang="en-US"/>
          </a:p>
        </p:txBody>
      </p:sp>
    </p:spTree>
    <p:extLst>
      <p:ext uri="{BB962C8B-B14F-4D97-AF65-F5344CB8AC3E}">
        <p14:creationId xmlns:p14="http://schemas.microsoft.com/office/powerpoint/2010/main" val="36113797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DO:</a:t>
            </a:r>
            <a:r>
              <a:rPr lang="en-US" altLang="en-US" dirty="0">
                <a:latin typeface="Arial" panose="020B0604020202020204" pitchFamily="34" charset="0"/>
              </a:rPr>
              <a:t> Ask the group if they have any ground rules to add (capture them on chart paper). </a:t>
            </a:r>
          </a:p>
          <a:p>
            <a:r>
              <a:rPr lang="en-US" altLang="en-US" dirty="0">
                <a:latin typeface="Arial" panose="020B0604020202020204" pitchFamily="34" charset="0"/>
              </a:rPr>
              <a:t>Ask the group if they agree to these ground rules. </a:t>
            </a:r>
          </a:p>
          <a:p>
            <a:endParaRPr lang="en-US" altLang="en-US" dirty="0">
              <a:latin typeface="Arial" panose="020B0604020202020204" pitchFamily="34" charset="0"/>
            </a:endParaRPr>
          </a:p>
          <a:p>
            <a:r>
              <a:rPr lang="en-US" altLang="en-US" b="1" dirty="0">
                <a:latin typeface="Arial" panose="020B0604020202020204" pitchFamily="34" charset="0"/>
              </a:rPr>
              <a:t>DO:</a:t>
            </a:r>
            <a:r>
              <a:rPr lang="en-US" altLang="en-US" dirty="0">
                <a:latin typeface="Arial" panose="020B0604020202020204" pitchFamily="34" charset="0"/>
              </a:rPr>
              <a:t> Perform Group Introductions</a:t>
            </a:r>
          </a:p>
        </p:txBody>
      </p:sp>
      <p:sp>
        <p:nvSpPr>
          <p:cNvPr id="4" name="Slide Number Placeholder 3"/>
          <p:cNvSpPr>
            <a:spLocks noGrp="1"/>
          </p:cNvSpPr>
          <p:nvPr>
            <p:ph type="sldNum" sz="quarter" idx="5"/>
          </p:nvPr>
        </p:nvSpPr>
        <p:spPr/>
        <p:txBody>
          <a:bodyPr/>
          <a:lstStyle/>
          <a:p>
            <a:fld id="{AECD8548-F1A2-4EDF-A416-5F2BB6B8F64C}" type="slidenum">
              <a:rPr lang="en-US" smtClean="0"/>
              <a:t>4</a:t>
            </a:fld>
            <a:endParaRPr lang="en-US"/>
          </a:p>
        </p:txBody>
      </p:sp>
    </p:spTree>
    <p:extLst>
      <p:ext uri="{BB962C8B-B14F-4D97-AF65-F5344CB8AC3E}">
        <p14:creationId xmlns:p14="http://schemas.microsoft.com/office/powerpoint/2010/main" val="13057167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5</a:t>
            </a:fld>
            <a:endParaRPr lang="en-US"/>
          </a:p>
        </p:txBody>
      </p:sp>
    </p:spTree>
    <p:extLst>
      <p:ext uri="{BB962C8B-B14F-4D97-AF65-F5344CB8AC3E}">
        <p14:creationId xmlns:p14="http://schemas.microsoft.com/office/powerpoint/2010/main" val="30921759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rPr>
              <a:t>NOTE:</a:t>
            </a:r>
            <a:r>
              <a:rPr lang="en-US" altLang="en-US" dirty="0">
                <a:latin typeface="Arial" panose="020B0604020202020204" pitchFamily="34" charset="0"/>
              </a:rPr>
              <a:t> Lean creates the need for less effort, less equipment, less time, less space…</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7</a:t>
            </a:fld>
            <a:endParaRPr lang="en-US"/>
          </a:p>
        </p:txBody>
      </p:sp>
    </p:spTree>
    <p:extLst>
      <p:ext uri="{BB962C8B-B14F-4D97-AF65-F5344CB8AC3E}">
        <p14:creationId xmlns:p14="http://schemas.microsoft.com/office/powerpoint/2010/main" val="28695952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 </a:t>
            </a:r>
            <a:r>
              <a:rPr lang="ja-JP" altLang="en-US" b="1" dirty="0">
                <a:latin typeface="Arial" panose="020B0604020202020204" pitchFamily="34" charset="0"/>
              </a:rPr>
              <a:t>“</a:t>
            </a:r>
            <a:r>
              <a:rPr lang="en-US" altLang="ja-JP" dirty="0">
                <a:latin typeface="Arial" panose="020B0604020202020204" pitchFamily="34" charset="0"/>
              </a:rPr>
              <a:t>Lean enables us to look at our processes in an unemotional, quantitative way. Lean is designed with two objectives: (1) Identify waste (2) Eliminate waste.</a:t>
            </a:r>
            <a:r>
              <a:rPr lang="ja-JP" altLang="en-US" dirty="0">
                <a:latin typeface="Arial" panose="020B0604020202020204" pitchFamily="34" charset="0"/>
              </a:rPr>
              <a:t>”</a:t>
            </a:r>
            <a:endParaRPr lang="en-US" altLang="ja-JP" dirty="0">
              <a:latin typeface="Arial" panose="020B0604020202020204" pitchFamily="34" charset="0"/>
            </a:endParaRPr>
          </a:p>
          <a:p>
            <a:endParaRPr lang="en-US" altLang="en-US" dirty="0">
              <a:latin typeface="Arial" panose="020B0604020202020204" pitchFamily="34" charset="0"/>
            </a:endParaRPr>
          </a:p>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At the end of the day – lean is quite simply about shrinking the lead time from concept to cash.</a:t>
            </a:r>
            <a:r>
              <a:rPr lang="ja-JP" altLang="en-US" dirty="0">
                <a:latin typeface="Arial" panose="020B0604020202020204" pitchFamily="34" charset="0"/>
              </a:rPr>
              <a:t>”</a:t>
            </a:r>
            <a:endParaRPr lang="en-US" altLang="en-US" dirty="0">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8</a:t>
            </a:fld>
            <a:endParaRPr lang="en-US"/>
          </a:p>
        </p:txBody>
      </p:sp>
    </p:spTree>
    <p:extLst>
      <p:ext uri="{BB962C8B-B14F-4D97-AF65-F5344CB8AC3E}">
        <p14:creationId xmlns:p14="http://schemas.microsoft.com/office/powerpoint/2010/main" val="18764676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90000"/>
              </a:lnSpc>
            </a:pPr>
            <a:r>
              <a:rPr lang="en-US" altLang="en-US" sz="1200" b="1" dirty="0">
                <a:latin typeface="Arial" panose="020B0604020202020204" pitchFamily="34" charset="0"/>
              </a:rPr>
              <a:t>NOTE:</a:t>
            </a:r>
            <a:r>
              <a:rPr lang="en-US" altLang="en-US" sz="1200" dirty="0">
                <a:latin typeface="Arial" panose="020B0604020202020204" pitchFamily="34" charset="0"/>
              </a:rPr>
              <a:t> Before saying each of the below, ask the participants first for each bullet how they think Lean will drive that bullet (i.e. How do you think Lean drives respect for the individual?</a:t>
            </a:r>
            <a:r>
              <a:rPr lang="ja-JP" altLang="en-US" sz="1200" dirty="0">
                <a:latin typeface="Arial" panose="020B0604020202020204" pitchFamily="34" charset="0"/>
              </a:rPr>
              <a:t>”</a:t>
            </a:r>
            <a:r>
              <a:rPr lang="en-US" altLang="ja-JP" sz="1200" dirty="0">
                <a:latin typeface="Arial" panose="020B0604020202020204" pitchFamily="34" charset="0"/>
              </a:rPr>
              <a:t>)</a:t>
            </a:r>
          </a:p>
          <a:p>
            <a:pPr>
              <a:lnSpc>
                <a:spcPct val="90000"/>
              </a:lnSpc>
            </a:pPr>
            <a:endParaRPr lang="en-US" altLang="en-US" sz="1200" dirty="0">
              <a:latin typeface="Arial" panose="020B0604020202020204" pitchFamily="34" charset="0"/>
            </a:endParaRPr>
          </a:p>
          <a:p>
            <a:pPr>
              <a:lnSpc>
                <a:spcPct val="90000"/>
              </a:lnSpc>
            </a:pPr>
            <a:r>
              <a:rPr lang="en-US" altLang="en-US" sz="1200" b="1" dirty="0">
                <a:latin typeface="Arial" panose="020B0604020202020204" pitchFamily="34" charset="0"/>
              </a:rPr>
              <a:t>SAY:</a:t>
            </a:r>
            <a:r>
              <a:rPr lang="en-US" altLang="en-US" sz="1200" dirty="0">
                <a:latin typeface="Arial" panose="020B0604020202020204" pitchFamily="34" charset="0"/>
              </a:rPr>
              <a:t> </a:t>
            </a:r>
            <a:r>
              <a:rPr lang="ja-JP" altLang="en-US" sz="1200" dirty="0">
                <a:latin typeface="Arial" panose="020B0604020202020204" pitchFamily="34" charset="0"/>
              </a:rPr>
              <a:t>“</a:t>
            </a:r>
            <a:r>
              <a:rPr lang="en-US" altLang="ja-JP" sz="1200" dirty="0">
                <a:latin typeface="Arial" panose="020B0604020202020204" pitchFamily="34" charset="0"/>
              </a:rPr>
              <a:t>Respect for the Individual: Virtually all work processes contain over 90%+ non-value adding activity. People by nature want to make a positive contribution. Lean provides the opportunity for people to add value to the customer. The skill set that the Lean transformation provides will enhance career potential.</a:t>
            </a:r>
            <a:r>
              <a:rPr lang="ja-JP" altLang="en-US" sz="1200" dirty="0">
                <a:latin typeface="Arial" panose="020B0604020202020204" pitchFamily="34" charset="0"/>
              </a:rPr>
              <a:t>”</a:t>
            </a:r>
            <a:endParaRPr lang="en-US" altLang="ja-JP" sz="1200" dirty="0">
              <a:latin typeface="Arial" panose="020B0604020202020204" pitchFamily="34" charset="0"/>
            </a:endParaRPr>
          </a:p>
          <a:p>
            <a:pPr>
              <a:lnSpc>
                <a:spcPct val="90000"/>
              </a:lnSpc>
            </a:pPr>
            <a:endParaRPr lang="en-US" altLang="en-US" sz="1200" dirty="0">
              <a:latin typeface="Arial" panose="020B0604020202020204" pitchFamily="34" charset="0"/>
            </a:endParaRPr>
          </a:p>
          <a:p>
            <a:pPr>
              <a:lnSpc>
                <a:spcPct val="90000"/>
              </a:lnSpc>
            </a:pPr>
            <a:r>
              <a:rPr lang="en-US" altLang="ja-JP" sz="1200" b="1" dirty="0">
                <a:latin typeface="Arial" panose="020B0604020202020204" pitchFamily="34" charset="0"/>
              </a:rPr>
              <a:t>SAY:</a:t>
            </a:r>
            <a:r>
              <a:rPr lang="en-US" altLang="ja-JP" sz="1200" dirty="0">
                <a:latin typeface="Arial" panose="020B0604020202020204" pitchFamily="34" charset="0"/>
              </a:rPr>
              <a:t> “Desire to fully utilize the creativity and capability of the individual: </a:t>
            </a:r>
            <a:r>
              <a:rPr lang="en-US" altLang="en-US" sz="1200" dirty="0">
                <a:latin typeface="Arial" panose="020B0604020202020204" pitchFamily="34" charset="0"/>
              </a:rPr>
              <a:t>Again, with 90%+ processes filled with waste, it is unreasonable to not to have a structure in place for individuals to create improvement. A Lean transformation drives accountability as far down in an organization as possible.  </a:t>
            </a:r>
          </a:p>
          <a:p>
            <a:pPr>
              <a:lnSpc>
                <a:spcPct val="90000"/>
              </a:lnSpc>
            </a:pPr>
            <a:r>
              <a:rPr lang="en-US" altLang="en-US" sz="1200" dirty="0">
                <a:latin typeface="Arial" panose="020B0604020202020204" pitchFamily="34" charset="0"/>
              </a:rPr>
              <a:t>This accountability creates ownership, which results in a much higher level of engagement.  In this case engagement equals an employee</a:t>
            </a:r>
            <a:r>
              <a:rPr lang="ja-JP" altLang="en-US" sz="1200" dirty="0">
                <a:latin typeface="Arial" panose="020B0604020202020204" pitchFamily="34" charset="0"/>
              </a:rPr>
              <a:t>’</a:t>
            </a:r>
            <a:r>
              <a:rPr lang="en-US" altLang="ja-JP" sz="1200" dirty="0">
                <a:latin typeface="Arial" panose="020B0604020202020204" pitchFamily="34" charset="0"/>
              </a:rPr>
              <a:t>s ability to bring his / her creative input into their work process.</a:t>
            </a:r>
          </a:p>
          <a:p>
            <a:pPr>
              <a:lnSpc>
                <a:spcPct val="90000"/>
              </a:lnSpc>
            </a:pPr>
            <a:endParaRPr lang="en-US" altLang="ja-JP" sz="1200" dirty="0">
              <a:latin typeface="Arial" panose="020B0604020202020204" pitchFamily="34" charset="0"/>
            </a:endParaRPr>
          </a:p>
          <a:p>
            <a:pPr>
              <a:lnSpc>
                <a:spcPct val="90000"/>
              </a:lnSpc>
            </a:pPr>
            <a:r>
              <a:rPr lang="en-US" altLang="en-US" sz="1200" b="1" dirty="0">
                <a:latin typeface="Arial" panose="020B0604020202020204" pitchFamily="34" charset="0"/>
              </a:rPr>
              <a:t>SAY:</a:t>
            </a:r>
            <a:r>
              <a:rPr lang="en-US" altLang="en-US" sz="1200" dirty="0">
                <a:latin typeface="Arial" panose="020B0604020202020204" pitchFamily="34" charset="0"/>
              </a:rPr>
              <a:t> </a:t>
            </a:r>
            <a:r>
              <a:rPr lang="ja-JP" altLang="en-US" sz="1200" dirty="0">
                <a:latin typeface="Arial" panose="020B0604020202020204" pitchFamily="34" charset="0"/>
              </a:rPr>
              <a:t>“</a:t>
            </a:r>
            <a:r>
              <a:rPr lang="en-US" altLang="ja-JP" sz="1200" dirty="0">
                <a:latin typeface="Arial" panose="020B0604020202020204" pitchFamily="34" charset="0"/>
              </a:rPr>
              <a:t>Respect for the customer: Again, with 90%+ processes filled with waste. Typically customers</a:t>
            </a:r>
            <a:r>
              <a:rPr lang="ja-JP" altLang="en-US" sz="1200" dirty="0">
                <a:latin typeface="Arial" panose="020B0604020202020204" pitchFamily="34" charset="0"/>
              </a:rPr>
              <a:t>’</a:t>
            </a:r>
            <a:r>
              <a:rPr lang="en-US" altLang="ja-JP" sz="1200" dirty="0">
                <a:latin typeface="Arial" panose="020B0604020202020204" pitchFamily="34" charset="0"/>
              </a:rPr>
              <a:t> frustrations are not related to the actual product or service. Most frustrations are experienced with the processes they endure.  Processes must be improved to delight and achieve expectations of the customer.</a:t>
            </a:r>
            <a:r>
              <a:rPr lang="ja-JP" altLang="en-US" sz="1200" dirty="0">
                <a:latin typeface="Arial" panose="020B0604020202020204" pitchFamily="34" charset="0"/>
              </a:rPr>
              <a:t>”</a:t>
            </a:r>
            <a:r>
              <a:rPr lang="en-US" altLang="ja-JP" sz="1200" dirty="0">
                <a:latin typeface="Arial" panose="020B0604020202020204" pitchFamily="34" charset="0"/>
              </a:rPr>
              <a:t> </a:t>
            </a:r>
          </a:p>
          <a:p>
            <a:pPr>
              <a:lnSpc>
                <a:spcPct val="90000"/>
              </a:lnSpc>
            </a:pPr>
            <a:endParaRPr lang="en-US" altLang="en-US" sz="1200" dirty="0">
              <a:latin typeface="Arial" panose="020B0604020202020204" pitchFamily="34" charset="0"/>
            </a:endParaRPr>
          </a:p>
          <a:p>
            <a:pPr>
              <a:lnSpc>
                <a:spcPct val="90000"/>
              </a:lnSpc>
            </a:pPr>
            <a:r>
              <a:rPr lang="en-US" altLang="en-US" sz="1200" b="1" dirty="0">
                <a:latin typeface="Arial" panose="020B0604020202020204" pitchFamily="34" charset="0"/>
              </a:rPr>
              <a:t>SAY:</a:t>
            </a:r>
            <a:r>
              <a:rPr lang="en-US" altLang="en-US" sz="1200" dirty="0">
                <a:latin typeface="Arial" panose="020B0604020202020204" pitchFamily="34" charset="0"/>
              </a:rPr>
              <a:t> Enterprise-wide sustainable competitive advantage: Again, with 90%+ processes filled with waste, Lean enables companies to compete and win against competitors in the marketplace. This provides the growth that is required to protect security of jobs and finance new products both of which are required to sustain the company on a long-term basis. Lean will improve safety, quality, on-time delivery, inventory, and productivity.</a:t>
            </a:r>
            <a:r>
              <a:rPr lang="ja-JP" altLang="en-US" sz="1200" dirty="0">
                <a:latin typeface="Arial" panose="020B0604020202020204" pitchFamily="34" charset="0"/>
              </a:rPr>
              <a:t>”</a:t>
            </a:r>
            <a:endParaRPr lang="en-US" altLang="ja-JP" sz="1200" dirty="0">
              <a:latin typeface="Arial" panose="020B0604020202020204" pitchFamily="34" charset="0"/>
            </a:endParaRPr>
          </a:p>
          <a:p>
            <a:endParaRPr lang="en-US" altLang="en-US" sz="1200" dirty="0">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9</a:t>
            </a:fld>
            <a:endParaRPr lang="en-US"/>
          </a:p>
        </p:txBody>
      </p:sp>
    </p:spTree>
    <p:extLst>
      <p:ext uri="{BB962C8B-B14F-4D97-AF65-F5344CB8AC3E}">
        <p14:creationId xmlns:p14="http://schemas.microsoft.com/office/powerpoint/2010/main" val="18321445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10</a:t>
            </a:fld>
            <a:endParaRPr lang="en-US"/>
          </a:p>
        </p:txBody>
      </p:sp>
    </p:spTree>
    <p:extLst>
      <p:ext uri="{BB962C8B-B14F-4D97-AF65-F5344CB8AC3E}">
        <p14:creationId xmlns:p14="http://schemas.microsoft.com/office/powerpoint/2010/main" val="14208828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sz="1200" dirty="0" err="1">
                <a:latin typeface="Arial" panose="020B0604020202020204" pitchFamily="34" charset="0"/>
              </a:rPr>
              <a:t>Eiji</a:t>
            </a:r>
            <a:r>
              <a:rPr lang="en-US" altLang="en-US" sz="1200" dirty="0">
                <a:latin typeface="Arial" panose="020B0604020202020204" pitchFamily="34" charset="0"/>
              </a:rPr>
              <a:t> Toyoda photo By Thejorge11 CC BY-SA 4.0, https://commons.wikimedia.org/w/index.php?curid=63145509</a:t>
            </a:r>
          </a:p>
          <a:p>
            <a:r>
              <a:rPr lang="en-US" altLang="en-US" sz="1200" dirty="0" err="1">
                <a:latin typeface="Arial" panose="020B0604020202020204" pitchFamily="34" charset="0"/>
              </a:rPr>
              <a:t>Sakichi</a:t>
            </a:r>
            <a:r>
              <a:rPr lang="en-US" altLang="en-US" sz="1200" dirty="0">
                <a:latin typeface="Arial" panose="020B0604020202020204" pitchFamily="34" charset="0"/>
              </a:rPr>
              <a:t> Toyoda &amp; Kiichiro Toyoda photos are public domain.</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11</a:t>
            </a:fld>
            <a:endParaRPr lang="en-US"/>
          </a:p>
        </p:txBody>
      </p:sp>
    </p:spTree>
    <p:extLst>
      <p:ext uri="{BB962C8B-B14F-4D97-AF65-F5344CB8AC3E}">
        <p14:creationId xmlns:p14="http://schemas.microsoft.com/office/powerpoint/2010/main" val="5647057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12</a:t>
            </a:fld>
            <a:endParaRPr lang="en-US"/>
          </a:p>
        </p:txBody>
      </p:sp>
    </p:spTree>
    <p:extLst>
      <p:ext uri="{BB962C8B-B14F-4D97-AF65-F5344CB8AC3E}">
        <p14:creationId xmlns:p14="http://schemas.microsoft.com/office/powerpoint/2010/main" val="99843674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INSTRUCTIONS:</a:t>
            </a:r>
            <a:r>
              <a:rPr lang="en-US" altLang="en-US" dirty="0">
                <a:latin typeface="Arial" panose="020B0604020202020204" pitchFamily="34" charset="0"/>
              </a:rPr>
              <a:t> Discuss each one of these. Have the class decide if they are value-added or non-value added activities in the eyes of both the ultimate  customer and the customer who is the recipient of the process itself (if other than the ultimate customer). </a:t>
            </a:r>
          </a:p>
          <a:p>
            <a:r>
              <a:rPr lang="en-US" altLang="en-US" dirty="0">
                <a:latin typeface="Arial" panose="020B0604020202020204" pitchFamily="34" charset="0"/>
              </a:rPr>
              <a:t>e.g.: The end customer may not view reviewing resumes of candidates to interview for hire as value-added, but the supervisor of the department that has the open position may view that as value added. </a:t>
            </a:r>
          </a:p>
          <a:p>
            <a:endParaRPr lang="en-US" dirty="0"/>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18</a:t>
            </a:fld>
            <a:endParaRPr lang="en-US"/>
          </a:p>
        </p:txBody>
      </p:sp>
    </p:spTree>
    <p:extLst>
      <p:ext uri="{BB962C8B-B14F-4D97-AF65-F5344CB8AC3E}">
        <p14:creationId xmlns:p14="http://schemas.microsoft.com/office/powerpoint/2010/main" val="29106992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DO:</a:t>
            </a:r>
            <a:r>
              <a:rPr lang="en-US" altLang="en-US" dirty="0">
                <a:latin typeface="Arial" panose="020B0604020202020204" pitchFamily="34" charset="0"/>
              </a:rPr>
              <a:t> Explain the three types of waste that originate from the Japanese. </a:t>
            </a:r>
          </a:p>
        </p:txBody>
      </p:sp>
      <p:sp>
        <p:nvSpPr>
          <p:cNvPr id="4" name="Slide Number Placeholder 3"/>
          <p:cNvSpPr>
            <a:spLocks noGrp="1"/>
          </p:cNvSpPr>
          <p:nvPr>
            <p:ph type="sldNum" sz="quarter" idx="5"/>
          </p:nvPr>
        </p:nvSpPr>
        <p:spPr/>
        <p:txBody>
          <a:bodyPr/>
          <a:lstStyle/>
          <a:p>
            <a:fld id="{AECD8548-F1A2-4EDF-A416-5F2BB6B8F64C}" type="slidenum">
              <a:rPr lang="en-US" smtClean="0"/>
              <a:t>19</a:t>
            </a:fld>
            <a:endParaRPr lang="en-US"/>
          </a:p>
        </p:txBody>
      </p:sp>
    </p:spTree>
    <p:extLst>
      <p:ext uri="{BB962C8B-B14F-4D97-AF65-F5344CB8AC3E}">
        <p14:creationId xmlns:p14="http://schemas.microsoft.com/office/powerpoint/2010/main" val="29914675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anose="020B0604020202020204" pitchFamily="34" charset="0"/>
              </a:rPr>
              <a:t>Mnemonics: DOWNTIME</a:t>
            </a:r>
          </a:p>
        </p:txBody>
      </p:sp>
      <p:sp>
        <p:nvSpPr>
          <p:cNvPr id="4" name="Slide Number Placeholder 3"/>
          <p:cNvSpPr>
            <a:spLocks noGrp="1"/>
          </p:cNvSpPr>
          <p:nvPr>
            <p:ph type="sldNum" sz="quarter" idx="5"/>
          </p:nvPr>
        </p:nvSpPr>
        <p:spPr/>
        <p:txBody>
          <a:bodyPr/>
          <a:lstStyle/>
          <a:p>
            <a:fld id="{AECD8548-F1A2-4EDF-A416-5F2BB6B8F64C}" type="slidenum">
              <a:rPr lang="en-US" smtClean="0"/>
              <a:t>20</a:t>
            </a:fld>
            <a:endParaRPr lang="en-US"/>
          </a:p>
        </p:txBody>
      </p:sp>
    </p:spTree>
    <p:extLst>
      <p:ext uri="{BB962C8B-B14F-4D97-AF65-F5344CB8AC3E}">
        <p14:creationId xmlns:p14="http://schemas.microsoft.com/office/powerpoint/2010/main" val="90387260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21</a:t>
            </a:fld>
            <a:endParaRPr lang="en-US"/>
          </a:p>
        </p:txBody>
      </p:sp>
    </p:spTree>
    <p:extLst>
      <p:ext uri="{BB962C8B-B14F-4D97-AF65-F5344CB8AC3E}">
        <p14:creationId xmlns:p14="http://schemas.microsoft.com/office/powerpoint/2010/main" val="28450952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22</a:t>
            </a:fld>
            <a:endParaRPr lang="en-US"/>
          </a:p>
        </p:txBody>
      </p:sp>
    </p:spTree>
    <p:extLst>
      <p:ext uri="{BB962C8B-B14F-4D97-AF65-F5344CB8AC3E}">
        <p14:creationId xmlns:p14="http://schemas.microsoft.com/office/powerpoint/2010/main" val="71723050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23</a:t>
            </a:fld>
            <a:endParaRPr lang="en-US"/>
          </a:p>
        </p:txBody>
      </p:sp>
    </p:spTree>
    <p:extLst>
      <p:ext uri="{BB962C8B-B14F-4D97-AF65-F5344CB8AC3E}">
        <p14:creationId xmlns:p14="http://schemas.microsoft.com/office/powerpoint/2010/main" val="18921777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VSM is a graphical representation that uses a common mapping language</a:t>
            </a:r>
          </a:p>
          <a:p>
            <a:r>
              <a:rPr lang="en-US" altLang="en-US" dirty="0">
                <a:latin typeface="Arial" panose="020B0604020202020204" pitchFamily="34" charset="0"/>
              </a:rPr>
              <a:t>VSM provides the basis and direction for identifying improvement opportunities</a:t>
            </a:r>
          </a:p>
          <a:p>
            <a:r>
              <a:rPr lang="en-US" altLang="en-US" dirty="0">
                <a:latin typeface="Arial" panose="020B0604020202020204" pitchFamily="34" charset="0"/>
              </a:rPr>
              <a:t>The power is in the plan!</a:t>
            </a:r>
            <a:r>
              <a:rPr lang="ja-JP" altLang="en-US" dirty="0">
                <a:latin typeface="Arial" panose="020B0604020202020204" pitchFamily="34" charset="0"/>
              </a:rPr>
              <a:t>”</a:t>
            </a:r>
            <a:endParaRPr lang="en-US" altLang="en-US" dirty="0">
              <a:latin typeface="Arial" panose="020B0604020202020204" pitchFamily="34" charset="0"/>
            </a:endParaRPr>
          </a:p>
          <a:p>
            <a:endParaRPr lang="en-US" dirty="0"/>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25</a:t>
            </a:fld>
            <a:endParaRPr lang="en-US"/>
          </a:p>
        </p:txBody>
      </p:sp>
    </p:spTree>
    <p:extLst>
      <p:ext uri="{BB962C8B-B14F-4D97-AF65-F5344CB8AC3E}">
        <p14:creationId xmlns:p14="http://schemas.microsoft.com/office/powerpoint/2010/main" val="19978034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defTabSz="45720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VSM is an incremental and repeatable cycle. Full optimization of the value stream sometimes isn’t realized until the third or fourth iteration.</a:t>
            </a:r>
            <a:r>
              <a:rPr lang="ja-JP" altLang="en-US" dirty="0">
                <a:latin typeface="Arial" panose="020B0604020202020204" pitchFamily="34" charset="0"/>
              </a:rPr>
              <a:t>”</a:t>
            </a:r>
            <a:r>
              <a:rPr lang="en-US" altLang="ja-JP" dirty="0">
                <a:latin typeface="Arial" panose="020B0604020202020204" pitchFamily="34" charset="0"/>
              </a:rPr>
              <a:t>  For companies early on their journey it is common to reset the Current State Map and Future State Map and the VS Plan at the ½ way point – that is – if you set the Future State at one year out – you would reset at the 6 month point.</a:t>
            </a:r>
            <a:r>
              <a:rPr lang="ja-JP" altLang="en-US" dirty="0">
                <a:latin typeface="Arial" panose="020B0604020202020204" pitchFamily="34" charset="0"/>
              </a:rPr>
              <a:t>”</a:t>
            </a:r>
            <a:endParaRPr lang="en-US" altLang="en-US" dirty="0">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26</a:t>
            </a:fld>
            <a:endParaRPr lang="en-US"/>
          </a:p>
        </p:txBody>
      </p:sp>
    </p:spTree>
    <p:extLst>
      <p:ext uri="{BB962C8B-B14F-4D97-AF65-F5344CB8AC3E}">
        <p14:creationId xmlns:p14="http://schemas.microsoft.com/office/powerpoint/2010/main" val="398201631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Then we look to establish opportunities to create flow. Continuous flow is defined as producing or completing one item at a time and then passing the item immediately to the next step.</a:t>
            </a:r>
            <a:r>
              <a:rPr lang="ja-JP" altLang="en-US" dirty="0">
                <a:latin typeface="Arial" panose="020B0604020202020204" pitchFamily="34" charset="0"/>
              </a:rPr>
              <a:t>”</a:t>
            </a:r>
            <a:endParaRPr lang="en-US" altLang="ja-JP" dirty="0">
              <a:latin typeface="Arial" panose="020B0604020202020204" pitchFamily="34" charset="0"/>
            </a:endParaRPr>
          </a:p>
          <a:p>
            <a:r>
              <a:rPr lang="en-US" altLang="en-US" b="1" dirty="0">
                <a:latin typeface="Arial" panose="020B0604020202020204" pitchFamily="34" charset="0"/>
              </a:rPr>
              <a:t>ASK:</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What does continuous flow look like in your environment (</a:t>
            </a:r>
            <a:r>
              <a:rPr lang="en-US" altLang="ja-JP" dirty="0" err="1">
                <a:latin typeface="Arial" panose="020B0604020202020204" pitchFamily="34" charset="0"/>
              </a:rPr>
              <a:t>ie</a:t>
            </a:r>
            <a:r>
              <a:rPr lang="en-US" altLang="ja-JP" dirty="0">
                <a:latin typeface="Arial" panose="020B0604020202020204" pitchFamily="34" charset="0"/>
              </a:rPr>
              <a:t>: traffic, line at fast food station, train, supermarket, </a:t>
            </a:r>
            <a:r>
              <a:rPr lang="en-US" altLang="ja-JP" dirty="0" err="1">
                <a:latin typeface="Arial" panose="020B0604020202020204" pitchFamily="34" charset="0"/>
              </a:rPr>
              <a:t>etc</a:t>
            </a:r>
            <a:r>
              <a:rPr lang="en-US" altLang="ja-JP"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What does continuous flow look like in some of your daily processes at work?</a:t>
            </a:r>
            <a:r>
              <a:rPr lang="ja-JP" altLang="en-US" dirty="0">
                <a:latin typeface="Arial" panose="020B0604020202020204" pitchFamily="34" charset="0"/>
              </a:rPr>
              <a:t>”</a:t>
            </a:r>
            <a:endParaRPr lang="en-US" altLang="ja-JP" dirty="0">
              <a:latin typeface="Arial" panose="020B0604020202020204" pitchFamily="34" charset="0"/>
            </a:endParaRPr>
          </a:p>
          <a:p>
            <a:endParaRPr lang="en-US" altLang="en-US" dirty="0">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28</a:t>
            </a:fld>
            <a:endParaRPr lang="en-US"/>
          </a:p>
        </p:txBody>
      </p:sp>
    </p:spTree>
    <p:extLst>
      <p:ext uri="{BB962C8B-B14F-4D97-AF65-F5344CB8AC3E}">
        <p14:creationId xmlns:p14="http://schemas.microsoft.com/office/powerpoint/2010/main" val="2635215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Characteristics of traditional batch processes:</a:t>
            </a:r>
          </a:p>
          <a:p>
            <a:pPr lvl="1"/>
            <a:r>
              <a:rPr lang="en-US" altLang="en-US" dirty="0">
                <a:latin typeface="Arial" panose="020B0604020202020204" pitchFamily="34" charset="0"/>
              </a:rPr>
              <a:t>Not customer focused, internally focused</a:t>
            </a:r>
          </a:p>
          <a:p>
            <a:pPr lvl="1"/>
            <a:r>
              <a:rPr lang="en-US" altLang="en-US" dirty="0">
                <a:latin typeface="Arial" panose="020B0604020202020204" pitchFamily="34" charset="0"/>
              </a:rPr>
              <a:t>Front Line Associates are focused on their task</a:t>
            </a:r>
          </a:p>
          <a:p>
            <a:pPr lvl="1"/>
            <a:r>
              <a:rPr lang="en-US" altLang="en-US" dirty="0">
                <a:latin typeface="Arial" panose="020B0604020202020204" pitchFamily="34" charset="0"/>
              </a:rPr>
              <a:t>Measurements considered bad</a:t>
            </a:r>
          </a:p>
          <a:p>
            <a:pPr lvl="1"/>
            <a:r>
              <a:rPr lang="en-US" altLang="en-US" dirty="0">
                <a:latin typeface="Arial" panose="020B0604020202020204" pitchFamily="34" charset="0"/>
              </a:rPr>
              <a:t>Cannot see flow from initiation to customer</a:t>
            </a:r>
          </a:p>
          <a:p>
            <a:pPr lvl="1"/>
            <a:r>
              <a:rPr lang="en-US" altLang="en-US" dirty="0">
                <a:latin typeface="Arial" panose="020B0604020202020204" pitchFamily="34" charset="0"/>
              </a:rPr>
              <a:t>High exposure to inventory ($)</a:t>
            </a:r>
          </a:p>
          <a:p>
            <a:pPr lvl="1"/>
            <a:r>
              <a:rPr lang="en-US" altLang="en-US" dirty="0">
                <a:latin typeface="Arial" panose="020B0604020202020204" pitchFamily="34" charset="0"/>
              </a:rPr>
              <a:t>Accountability difficult</a:t>
            </a:r>
          </a:p>
          <a:p>
            <a:pPr lvl="1"/>
            <a:r>
              <a:rPr lang="en-US" altLang="en-US" dirty="0">
                <a:latin typeface="Arial" panose="020B0604020202020204" pitchFamily="34" charset="0"/>
              </a:rPr>
              <a:t>Expediting is a primary method for short-term scheduling</a:t>
            </a:r>
            <a:r>
              <a:rPr lang="ja-JP" altLang="en-US" dirty="0">
                <a:latin typeface="Arial" panose="020B0604020202020204" pitchFamily="34" charset="0"/>
              </a:rPr>
              <a:t>”</a:t>
            </a:r>
            <a:endParaRPr lang="en-US" altLang="ja-JP" dirty="0">
              <a:latin typeface="Arial" panose="020B0604020202020204" pitchFamily="34" charset="0"/>
            </a:endParaRPr>
          </a:p>
          <a:p>
            <a:pPr lvl="1"/>
            <a:r>
              <a:rPr lang="en-US" altLang="en-US" dirty="0">
                <a:latin typeface="Arial" panose="020B0604020202020204" pitchFamily="34" charset="0"/>
              </a:rPr>
              <a:t>Organizations often go to batch processing because they feel that it makes them more efficient.  Unfortunately this reflects an internal focus rather than a customer focus and sacrifices serving the customer to perceived organizational efficiency.</a:t>
            </a:r>
            <a:r>
              <a:rPr lang="ja-JP" altLang="en-US" dirty="0">
                <a:latin typeface="Arial" panose="020B0604020202020204" pitchFamily="34" charset="0"/>
              </a:rPr>
              <a:t>”</a:t>
            </a:r>
            <a:endParaRPr lang="en-US" altLang="ja-JP" dirty="0">
              <a:latin typeface="Arial" panose="020B0604020202020204" pitchFamily="34" charset="0"/>
            </a:endParaRPr>
          </a:p>
          <a:p>
            <a:endParaRPr lang="en-US" altLang="en-US" dirty="0">
              <a:latin typeface="Arial" panose="020B0604020202020204" pitchFamily="34" charset="0"/>
            </a:endParaRPr>
          </a:p>
          <a:p>
            <a:r>
              <a:rPr lang="en-US" altLang="en-US" b="1" dirty="0">
                <a:latin typeface="Arial" panose="020B0604020202020204" pitchFamily="34" charset="0"/>
              </a:rPr>
              <a:t>ASK</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At what time does the first customer get served?</a:t>
            </a:r>
            <a:r>
              <a:rPr lang="ja-JP" altLang="en-US" dirty="0">
                <a:latin typeface="Arial" panose="020B0604020202020204" pitchFamily="34" charset="0"/>
              </a:rPr>
              <a:t>”</a:t>
            </a:r>
            <a:r>
              <a:rPr lang="en-US" altLang="ja-JP" dirty="0">
                <a:latin typeface="Arial" panose="020B0604020202020204" pitchFamily="34" charset="0"/>
              </a:rPr>
              <a:t> (answer: 17 minutes)</a:t>
            </a:r>
          </a:p>
          <a:p>
            <a:r>
              <a:rPr lang="en-US" altLang="en-US" b="1" dirty="0">
                <a:latin typeface="Arial" panose="020B0604020202020204" pitchFamily="34" charset="0"/>
              </a:rPr>
              <a:t>ASK</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Do you do any batch processing in your operation?  Can anyone give me an example?</a:t>
            </a:r>
            <a:r>
              <a:rPr lang="ja-JP" altLang="en-US" dirty="0">
                <a:latin typeface="Arial" panose="020B0604020202020204" pitchFamily="34" charset="0"/>
              </a:rPr>
              <a:t>”</a:t>
            </a:r>
            <a:endParaRPr lang="en-US" altLang="ja-JP" dirty="0">
              <a:latin typeface="Arial" panose="020B0604020202020204" pitchFamily="34" charset="0"/>
            </a:endParaRPr>
          </a:p>
          <a:p>
            <a:pPr lvl="1"/>
            <a:endParaRPr lang="en-US" altLang="en-US" dirty="0">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29</a:t>
            </a:fld>
            <a:endParaRPr lang="en-US"/>
          </a:p>
        </p:txBody>
      </p:sp>
    </p:spTree>
    <p:extLst>
      <p:ext uri="{BB962C8B-B14F-4D97-AF65-F5344CB8AC3E}">
        <p14:creationId xmlns:p14="http://schemas.microsoft.com/office/powerpoint/2010/main" val="275579424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 Single Piece Flow significantly reduces:</a:t>
            </a:r>
          </a:p>
          <a:p>
            <a:pPr lvl="1"/>
            <a:r>
              <a:rPr lang="en-US" altLang="en-US" dirty="0">
                <a:latin typeface="Arial" panose="020B0604020202020204" pitchFamily="34" charset="0"/>
              </a:rPr>
              <a:t>Lead time</a:t>
            </a:r>
          </a:p>
          <a:p>
            <a:pPr lvl="1"/>
            <a:r>
              <a:rPr lang="en-US" altLang="en-US" dirty="0">
                <a:latin typeface="Arial" panose="020B0604020202020204" pitchFamily="34" charset="0"/>
              </a:rPr>
              <a:t>Velocity/Through-put</a:t>
            </a:r>
          </a:p>
          <a:p>
            <a:pPr lvl="1"/>
            <a:r>
              <a:rPr lang="en-US" altLang="en-US" dirty="0">
                <a:latin typeface="Arial" panose="020B0604020202020204" pitchFamily="34" charset="0"/>
              </a:rPr>
              <a:t>Inventory</a:t>
            </a:r>
          </a:p>
          <a:p>
            <a:endParaRPr lang="en-US" altLang="en-US" dirty="0">
              <a:latin typeface="Arial" panose="020B0604020202020204" pitchFamily="34" charset="0"/>
            </a:endParaRPr>
          </a:p>
          <a:p>
            <a:r>
              <a:rPr lang="en-US" altLang="en-US" dirty="0">
                <a:latin typeface="Arial" panose="020B0604020202020204" pitchFamily="34" charset="0"/>
              </a:rPr>
              <a:t>While improving:</a:t>
            </a:r>
          </a:p>
          <a:p>
            <a:pPr lvl="1"/>
            <a:r>
              <a:rPr lang="en-US" altLang="en-US" dirty="0">
                <a:latin typeface="Arial" panose="020B0604020202020204" pitchFamily="34" charset="0"/>
              </a:rPr>
              <a:t>Quality</a:t>
            </a:r>
          </a:p>
          <a:p>
            <a:pPr lvl="1"/>
            <a:r>
              <a:rPr lang="en-US" altLang="en-US" dirty="0">
                <a:latin typeface="Arial" panose="020B0604020202020204" pitchFamily="34" charset="0"/>
              </a:rPr>
              <a:t>Delivery</a:t>
            </a:r>
          </a:p>
          <a:p>
            <a:pPr lvl="1"/>
            <a:r>
              <a:rPr lang="en-US" altLang="en-US" dirty="0">
                <a:latin typeface="Arial" panose="020B0604020202020204" pitchFamily="34" charset="0"/>
              </a:rPr>
              <a:t>Cost</a:t>
            </a:r>
            <a:r>
              <a:rPr lang="ja-JP" altLang="en-US" dirty="0">
                <a:latin typeface="Arial" panose="020B0604020202020204" pitchFamily="34" charset="0"/>
              </a:rPr>
              <a:t>”</a:t>
            </a:r>
            <a:endParaRPr lang="en-US" altLang="ja-JP" dirty="0">
              <a:latin typeface="Arial" panose="020B0604020202020204" pitchFamily="34" charset="0"/>
            </a:endParaRPr>
          </a:p>
          <a:p>
            <a:pPr>
              <a:lnSpc>
                <a:spcPct val="115000"/>
              </a:lnSpc>
              <a:spcBef>
                <a:spcPct val="20000"/>
              </a:spcBef>
              <a:spcAft>
                <a:spcPct val="20000"/>
              </a:spcAft>
              <a:buClr>
                <a:schemeClr val="accent1"/>
              </a:buClr>
              <a:buSzPct val="40000"/>
              <a:buFont typeface="Wingdings 2" panose="05020102010507070707" pitchFamily="18" charset="2"/>
              <a:buNone/>
            </a:pPr>
            <a:r>
              <a:rPr lang="en-US" altLang="en-US" dirty="0">
                <a:latin typeface="Arial" panose="020B0604020202020204" pitchFamily="34" charset="0"/>
              </a:rPr>
              <a:t>By moving to a 1 piece flow environment we shift our focus externally to the customer.  In this example we are using exactly the same Associates following exactly the same process steps using exactly the same process times but the result for the customer is significantly different</a:t>
            </a:r>
            <a:r>
              <a:rPr lang="ja-JP" altLang="en-US" dirty="0">
                <a:latin typeface="Arial" panose="020B0604020202020204" pitchFamily="34" charset="0"/>
              </a:rPr>
              <a:t>”</a:t>
            </a:r>
            <a:endParaRPr lang="en-US" altLang="ja-JP" dirty="0">
              <a:latin typeface="Arial" panose="020B0604020202020204" pitchFamily="34" charset="0"/>
            </a:endParaRPr>
          </a:p>
          <a:p>
            <a:endParaRPr lang="en-US" altLang="en-US" dirty="0">
              <a:latin typeface="Arial" panose="020B0604020202020204" pitchFamily="34" charset="0"/>
            </a:endParaRPr>
          </a:p>
          <a:p>
            <a:r>
              <a:rPr lang="en-US" altLang="en-US" b="1" dirty="0">
                <a:latin typeface="Arial" panose="020B0604020202020204" pitchFamily="34" charset="0"/>
              </a:rPr>
              <a:t>ASK:</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Now what time does the first customer get served</a:t>
            </a:r>
            <a:r>
              <a:rPr lang="ja-JP" altLang="en-US" dirty="0">
                <a:latin typeface="Arial" panose="020B0604020202020204" pitchFamily="34" charset="0"/>
              </a:rPr>
              <a:t>”</a:t>
            </a:r>
            <a:r>
              <a:rPr lang="en-US" altLang="ja-JP" dirty="0">
                <a:latin typeface="Arial" panose="020B0604020202020204" pitchFamily="34" charset="0"/>
              </a:rPr>
              <a:t> (answer: 5 minutes)</a:t>
            </a:r>
          </a:p>
          <a:p>
            <a:pPr>
              <a:lnSpc>
                <a:spcPct val="115000"/>
              </a:lnSpc>
              <a:spcBef>
                <a:spcPct val="20000"/>
              </a:spcBef>
              <a:spcAft>
                <a:spcPct val="20000"/>
              </a:spcAft>
              <a:buClr>
                <a:schemeClr val="accent1"/>
              </a:buClr>
              <a:buSzPct val="40000"/>
              <a:buFont typeface="Wingdings 2" panose="05020102010507070707" pitchFamily="18" charset="2"/>
              <a:buNone/>
            </a:pPr>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30</a:t>
            </a:fld>
            <a:endParaRPr lang="en-US"/>
          </a:p>
        </p:txBody>
      </p:sp>
    </p:spTree>
    <p:extLst>
      <p:ext uri="{BB962C8B-B14F-4D97-AF65-F5344CB8AC3E}">
        <p14:creationId xmlns:p14="http://schemas.microsoft.com/office/powerpoint/2010/main" val="75758797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Now while we always strive for flow, flow may not always be possible. In these instance we look to establish pull. Pull is a method of controlling how much you are creating or providing between flows – ensuring the downstream process is only getting exactly what it needs when it needs it.</a:t>
            </a:r>
            <a:r>
              <a:rPr lang="ja-JP" altLang="en-US" dirty="0">
                <a:latin typeface="Arial" panose="020B0604020202020204" pitchFamily="34" charset="0"/>
              </a:rPr>
              <a:t>”</a:t>
            </a:r>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32</a:t>
            </a:fld>
            <a:endParaRPr lang="en-US"/>
          </a:p>
        </p:txBody>
      </p:sp>
    </p:spTree>
    <p:extLst>
      <p:ext uri="{BB962C8B-B14F-4D97-AF65-F5344CB8AC3E}">
        <p14:creationId xmlns:p14="http://schemas.microsoft.com/office/powerpoint/2010/main" val="396891707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defTabSz="457200" eaLnBrk="1" fontAlgn="auto" latinLnBrk="0" hangingPunct="1">
              <a:lnSpc>
                <a:spcPct val="100000"/>
              </a:lnSpc>
              <a:spcBef>
                <a:spcPts val="0"/>
              </a:spcBef>
              <a:spcAft>
                <a:spcPts val="0"/>
              </a:spcAft>
              <a:buClrTx/>
              <a:buSzTx/>
              <a:buFontTx/>
              <a:buNone/>
              <a:tabLst/>
              <a:defRPr/>
            </a:pPr>
            <a:r>
              <a:rPr lang="en-US" altLang="en-US" sz="1200" b="1" dirty="0">
                <a:latin typeface="Arial" panose="020B0604020202020204" pitchFamily="34" charset="0"/>
              </a:rPr>
              <a:t>DO</a:t>
            </a:r>
            <a:r>
              <a:rPr lang="en-US" altLang="en-US" sz="1200" dirty="0">
                <a:latin typeface="Arial" panose="020B0604020202020204" pitchFamily="34" charset="0"/>
              </a:rPr>
              <a:t>: Have the class provide examples aloud. Capture their answers on a </a:t>
            </a:r>
            <a:r>
              <a:rPr lang="en-US" altLang="en-US" sz="1200" dirty="0" err="1">
                <a:latin typeface="Arial" panose="020B0604020202020204" pitchFamily="34" charset="0"/>
              </a:rPr>
              <a:t>chartpaper</a:t>
            </a:r>
            <a:r>
              <a:rPr lang="en-US" altLang="en-US" sz="1200" dirty="0">
                <a:latin typeface="Arial" panose="020B0604020202020204" pitchFamily="34" charset="0"/>
              </a:rPr>
              <a:t>. The participants can write their answers in their workbooks. </a:t>
            </a:r>
          </a:p>
          <a:p>
            <a:endParaRPr lang="en-US" altLang="en-US" sz="2000" dirty="0">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33</a:t>
            </a:fld>
            <a:endParaRPr lang="en-US"/>
          </a:p>
        </p:txBody>
      </p:sp>
    </p:spTree>
    <p:extLst>
      <p:ext uri="{BB962C8B-B14F-4D97-AF65-F5344CB8AC3E}">
        <p14:creationId xmlns:p14="http://schemas.microsoft.com/office/powerpoint/2010/main" val="129508297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sz="1000" b="1" dirty="0">
                <a:latin typeface="Arial" panose="020B0604020202020204" pitchFamily="34" charset="0"/>
              </a:rPr>
              <a:t>DO:</a:t>
            </a:r>
            <a:r>
              <a:rPr lang="en-US" altLang="en-US" sz="1000" dirty="0">
                <a:latin typeface="Arial" panose="020B0604020202020204" pitchFamily="34" charset="0"/>
              </a:rPr>
              <a:t> </a:t>
            </a:r>
            <a:r>
              <a:rPr lang="en-US" altLang="en-US" sz="1000" b="1" dirty="0">
                <a:latin typeface="Arial" panose="020B0604020202020204" pitchFamily="34" charset="0"/>
              </a:rPr>
              <a:t>Post-it® exercise batch flow.</a:t>
            </a:r>
          </a:p>
          <a:p>
            <a:pPr lvl="1"/>
            <a:r>
              <a:rPr lang="en-US" altLang="en-US" sz="1000" dirty="0">
                <a:latin typeface="Arial" panose="020B0604020202020204" pitchFamily="34" charset="0"/>
              </a:rPr>
              <a:t>Batch Process</a:t>
            </a:r>
          </a:p>
          <a:p>
            <a:pPr lvl="1"/>
            <a:r>
              <a:rPr lang="en-US" altLang="en-US" sz="1000" dirty="0">
                <a:latin typeface="Arial" panose="020B0604020202020204" pitchFamily="34" charset="0"/>
              </a:rPr>
              <a:t>Each team member is write their name on each of the five post-its.</a:t>
            </a:r>
          </a:p>
          <a:p>
            <a:pPr lvl="1"/>
            <a:r>
              <a:rPr lang="en-US" altLang="en-US" sz="1000" dirty="0">
                <a:latin typeface="Arial" panose="020B0604020202020204" pitchFamily="34" charset="0"/>
              </a:rPr>
              <a:t>When you completed this pass the five post-its as a group to the next person in the sequence.</a:t>
            </a:r>
          </a:p>
          <a:p>
            <a:pPr lvl="1"/>
            <a:r>
              <a:rPr lang="en-US" altLang="en-US" sz="1000" dirty="0">
                <a:latin typeface="Arial" panose="020B0604020202020204" pitchFamily="34" charset="0"/>
              </a:rPr>
              <a:t>Record two times for each team</a:t>
            </a:r>
          </a:p>
          <a:p>
            <a:pPr lvl="2"/>
            <a:r>
              <a:rPr lang="en-US" altLang="en-US" sz="1000" dirty="0">
                <a:latin typeface="Arial" panose="020B0604020202020204" pitchFamily="34" charset="0"/>
              </a:rPr>
              <a:t>The time it takes for the 1</a:t>
            </a:r>
            <a:r>
              <a:rPr lang="en-US" altLang="en-US" sz="1000" baseline="30000" dirty="0">
                <a:latin typeface="Arial" panose="020B0604020202020204" pitchFamily="34" charset="0"/>
              </a:rPr>
              <a:t>st</a:t>
            </a:r>
            <a:r>
              <a:rPr lang="en-US" altLang="en-US" sz="1000" dirty="0">
                <a:latin typeface="Arial" panose="020B0604020202020204" pitchFamily="34" charset="0"/>
              </a:rPr>
              <a:t> post-it of the pack of five to be signed by all of the team members</a:t>
            </a:r>
          </a:p>
          <a:p>
            <a:pPr lvl="2"/>
            <a:r>
              <a:rPr lang="en-US" altLang="en-US" sz="1000" dirty="0">
                <a:latin typeface="Arial" panose="020B0604020202020204" pitchFamily="34" charset="0"/>
              </a:rPr>
              <a:t>The time it takes for the last pos-it of the pack of five to be signed by all of the team members</a:t>
            </a:r>
          </a:p>
          <a:p>
            <a:pPr lvl="2"/>
            <a:endParaRPr lang="en-US" altLang="en-US" sz="1000" dirty="0">
              <a:latin typeface="Arial" panose="020B0604020202020204" pitchFamily="34" charset="0"/>
            </a:endParaRPr>
          </a:p>
          <a:p>
            <a:r>
              <a:rPr lang="en-US" altLang="en-US" sz="1000" dirty="0">
                <a:latin typeface="Arial" panose="020B0604020202020204" pitchFamily="34" charset="0"/>
              </a:rPr>
              <a:t>NOTE: </a:t>
            </a:r>
            <a:r>
              <a:rPr lang="en-US" altLang="en-US" sz="1000" b="1" dirty="0">
                <a:latin typeface="Arial" panose="020B0604020202020204" pitchFamily="34" charset="0"/>
              </a:rPr>
              <a:t>Use Flip Chart to create Matrix</a:t>
            </a:r>
          </a:p>
          <a:p>
            <a:r>
              <a:rPr lang="en-US" altLang="en-US" sz="1000" dirty="0">
                <a:latin typeface="Arial" panose="020B0604020202020204" pitchFamily="34" charset="0"/>
              </a:rPr>
              <a:t>		    Trial</a:t>
            </a:r>
          </a:p>
          <a:p>
            <a:r>
              <a:rPr lang="en-US" altLang="en-US" sz="1000" dirty="0">
                <a:latin typeface="Arial" panose="020B0604020202020204" pitchFamily="34" charset="0"/>
              </a:rPr>
              <a:t>		1</a:t>
            </a:r>
            <a:r>
              <a:rPr lang="en-US" altLang="en-US" sz="1000" baseline="30000" dirty="0">
                <a:latin typeface="Arial" panose="020B0604020202020204" pitchFamily="34" charset="0"/>
              </a:rPr>
              <a:t>st</a:t>
            </a:r>
            <a:r>
              <a:rPr lang="en-US" altLang="en-US" sz="1000" dirty="0">
                <a:latin typeface="Arial" panose="020B0604020202020204" pitchFamily="34" charset="0"/>
              </a:rPr>
              <a:t>	Last</a:t>
            </a:r>
          </a:p>
          <a:p>
            <a:pPr lvl="2"/>
            <a:r>
              <a:rPr lang="en-US" altLang="en-US" sz="1000" dirty="0">
                <a:latin typeface="Arial" panose="020B0604020202020204" pitchFamily="34" charset="0"/>
              </a:rPr>
              <a:t>Team</a:t>
            </a:r>
          </a:p>
          <a:p>
            <a:pPr lvl="2"/>
            <a:r>
              <a:rPr lang="en-US" altLang="en-US" sz="1000" dirty="0">
                <a:latin typeface="Arial" panose="020B0604020202020204" pitchFamily="34" charset="0"/>
              </a:rPr>
              <a:t>#1</a:t>
            </a:r>
          </a:p>
          <a:p>
            <a:pPr lvl="2"/>
            <a:r>
              <a:rPr lang="en-US" altLang="en-US" sz="1000" dirty="0">
                <a:latin typeface="Arial" panose="020B0604020202020204" pitchFamily="34" charset="0"/>
              </a:rPr>
              <a:t>#2</a:t>
            </a:r>
          </a:p>
          <a:p>
            <a:pPr lvl="2"/>
            <a:r>
              <a:rPr lang="en-US" altLang="en-US" sz="1000" dirty="0">
                <a:latin typeface="Arial" panose="020B0604020202020204" pitchFamily="34" charset="0"/>
              </a:rPr>
              <a:t>#3</a:t>
            </a:r>
          </a:p>
          <a:p>
            <a:pPr lvl="2"/>
            <a:r>
              <a:rPr lang="en-US" altLang="en-US" sz="1000" dirty="0">
                <a:latin typeface="Arial" panose="020B0604020202020204" pitchFamily="34" charset="0"/>
              </a:rPr>
              <a:t>#4</a:t>
            </a:r>
          </a:p>
          <a:p>
            <a:endParaRPr lang="en-US" altLang="en-US" sz="1000" dirty="0">
              <a:latin typeface="Arial" panose="020B0604020202020204" pitchFamily="34" charset="0"/>
            </a:endParaRPr>
          </a:p>
          <a:p>
            <a:endParaRPr lang="en-US" altLang="en-US" sz="1000" dirty="0">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34</a:t>
            </a:fld>
            <a:endParaRPr lang="en-US"/>
          </a:p>
        </p:txBody>
      </p:sp>
    </p:spTree>
    <p:extLst>
      <p:ext uri="{BB962C8B-B14F-4D97-AF65-F5344CB8AC3E}">
        <p14:creationId xmlns:p14="http://schemas.microsoft.com/office/powerpoint/2010/main" val="222764770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15000"/>
              </a:lnSpc>
              <a:spcBef>
                <a:spcPct val="20000"/>
              </a:spcBef>
              <a:spcAft>
                <a:spcPct val="20000"/>
              </a:spcAft>
              <a:buClr>
                <a:schemeClr val="accent1"/>
              </a:buClr>
              <a:buSzPct val="40000"/>
              <a:buFont typeface="Wingdings 2" panose="05020102010507070707" pitchFamily="18" charset="2"/>
              <a:buNone/>
            </a:pPr>
            <a:r>
              <a:rPr lang="en-US" altLang="en-US" sz="800" b="1" dirty="0">
                <a:latin typeface="Arial" panose="020B0604020202020204" pitchFamily="34" charset="0"/>
              </a:rPr>
              <a:t>DO</a:t>
            </a:r>
            <a:r>
              <a:rPr lang="en-US" altLang="en-US" sz="800" dirty="0">
                <a:latin typeface="Arial" panose="020B0604020202020204" pitchFamily="34" charset="0"/>
              </a:rPr>
              <a:t>:</a:t>
            </a:r>
            <a:r>
              <a:rPr lang="en-US" altLang="en-US" sz="800" b="1" dirty="0">
                <a:latin typeface="Arial" panose="020B0604020202020204" pitchFamily="34" charset="0"/>
              </a:rPr>
              <a:t> Post-it® exercise One Piece Flow.</a:t>
            </a:r>
          </a:p>
          <a:p>
            <a:pPr lvl="1">
              <a:lnSpc>
                <a:spcPct val="115000"/>
              </a:lnSpc>
              <a:spcBef>
                <a:spcPct val="20000"/>
              </a:spcBef>
              <a:spcAft>
                <a:spcPct val="20000"/>
              </a:spcAft>
              <a:buClr>
                <a:schemeClr val="accent1"/>
              </a:buClr>
              <a:buSzPct val="40000"/>
              <a:buFont typeface="Wingdings 2" panose="05020102010507070707" pitchFamily="18" charset="2"/>
              <a:buChar char="¢"/>
            </a:pPr>
            <a:r>
              <a:rPr lang="en-US" altLang="en-US" sz="800" dirty="0">
                <a:latin typeface="Arial" panose="020B0604020202020204" pitchFamily="34" charset="0"/>
              </a:rPr>
              <a:t>One Piece Flow Process</a:t>
            </a:r>
          </a:p>
          <a:p>
            <a:pPr lvl="1">
              <a:lnSpc>
                <a:spcPct val="80000"/>
              </a:lnSpc>
            </a:pPr>
            <a:r>
              <a:rPr lang="en-US" altLang="en-US" sz="800" dirty="0">
                <a:latin typeface="Arial" panose="020B0604020202020204" pitchFamily="34" charset="0"/>
              </a:rPr>
              <a:t>Each team member is write their name on one of the five post-its.</a:t>
            </a:r>
          </a:p>
          <a:p>
            <a:pPr lvl="1">
              <a:lnSpc>
                <a:spcPct val="80000"/>
              </a:lnSpc>
            </a:pPr>
            <a:r>
              <a:rPr lang="en-US" altLang="en-US" sz="800" dirty="0">
                <a:latin typeface="Arial" panose="020B0604020202020204" pitchFamily="34" charset="0"/>
              </a:rPr>
              <a:t>When you completed this pass the post-it as a single piece to the next person in the sequence.</a:t>
            </a:r>
          </a:p>
          <a:p>
            <a:pPr lvl="1">
              <a:lnSpc>
                <a:spcPct val="80000"/>
              </a:lnSpc>
            </a:pPr>
            <a:r>
              <a:rPr lang="en-US" altLang="en-US" sz="800" dirty="0">
                <a:latin typeface="Arial" panose="020B0604020202020204" pitchFamily="34" charset="0"/>
              </a:rPr>
              <a:t>Repeat this for the remaining post-its passing them as soon as they are signed and the next person in the sequence is prepared to accept it.  Do not pass the post-it until the person is ready to accept it.</a:t>
            </a:r>
          </a:p>
          <a:p>
            <a:pPr lvl="1">
              <a:lnSpc>
                <a:spcPct val="80000"/>
              </a:lnSpc>
            </a:pPr>
            <a:r>
              <a:rPr lang="en-US" altLang="en-US" sz="800" dirty="0">
                <a:latin typeface="Arial" panose="020B0604020202020204" pitchFamily="34" charset="0"/>
              </a:rPr>
              <a:t>Record two times for each team</a:t>
            </a:r>
          </a:p>
          <a:p>
            <a:pPr lvl="2">
              <a:lnSpc>
                <a:spcPct val="80000"/>
              </a:lnSpc>
            </a:pPr>
            <a:r>
              <a:rPr lang="en-US" altLang="en-US" sz="800" dirty="0">
                <a:latin typeface="Arial" panose="020B0604020202020204" pitchFamily="34" charset="0"/>
              </a:rPr>
              <a:t>The time it takes for the 1</a:t>
            </a:r>
            <a:r>
              <a:rPr lang="en-US" altLang="en-US" sz="800" baseline="30000" dirty="0">
                <a:latin typeface="Arial" panose="020B0604020202020204" pitchFamily="34" charset="0"/>
              </a:rPr>
              <a:t>st</a:t>
            </a:r>
            <a:r>
              <a:rPr lang="en-US" altLang="en-US" sz="800" dirty="0">
                <a:latin typeface="Arial" panose="020B0604020202020204" pitchFamily="34" charset="0"/>
              </a:rPr>
              <a:t> post-it of the pack of three to be signed by all of the team members</a:t>
            </a:r>
          </a:p>
          <a:p>
            <a:pPr lvl="2">
              <a:lnSpc>
                <a:spcPct val="80000"/>
              </a:lnSpc>
            </a:pPr>
            <a:r>
              <a:rPr lang="en-US" altLang="en-US" sz="800" dirty="0">
                <a:latin typeface="Arial" panose="020B0604020202020204" pitchFamily="34" charset="0"/>
              </a:rPr>
              <a:t>The time it takes for the last post-it of the pack of three to be signed by all of the team members</a:t>
            </a:r>
          </a:p>
          <a:p>
            <a:pPr lvl="2">
              <a:lnSpc>
                <a:spcPct val="80000"/>
              </a:lnSpc>
            </a:pPr>
            <a:endParaRPr lang="en-US" altLang="en-US" sz="800" b="1" dirty="0">
              <a:latin typeface="Arial" panose="020B0604020202020204" pitchFamily="34" charset="0"/>
            </a:endParaRPr>
          </a:p>
          <a:p>
            <a:pPr>
              <a:lnSpc>
                <a:spcPct val="80000"/>
              </a:lnSpc>
            </a:pPr>
            <a:r>
              <a:rPr lang="en-US" altLang="en-US" sz="800" dirty="0">
                <a:latin typeface="Arial" panose="020B0604020202020204" pitchFamily="34" charset="0"/>
              </a:rPr>
              <a:t>Use: </a:t>
            </a:r>
            <a:r>
              <a:rPr lang="en-US" altLang="en-US" sz="800" b="1" dirty="0">
                <a:latin typeface="Arial" panose="020B0604020202020204" pitchFamily="34" charset="0"/>
              </a:rPr>
              <a:t>Flip Chart to create Matrix</a:t>
            </a:r>
          </a:p>
          <a:p>
            <a:pPr>
              <a:lnSpc>
                <a:spcPct val="80000"/>
              </a:lnSpc>
            </a:pPr>
            <a:r>
              <a:rPr lang="en-US" altLang="en-US" sz="800" dirty="0">
                <a:latin typeface="Arial" panose="020B0604020202020204" pitchFamily="34" charset="0"/>
              </a:rPr>
              <a:t>		</a:t>
            </a:r>
            <a:r>
              <a:rPr lang="en-US" altLang="en-US" sz="800">
                <a:latin typeface="Arial" panose="020B0604020202020204" pitchFamily="34" charset="0"/>
              </a:rPr>
              <a:t>         Trial </a:t>
            </a:r>
            <a:r>
              <a:rPr lang="en-US" altLang="en-US" sz="800" dirty="0">
                <a:latin typeface="Arial" panose="020B0604020202020204" pitchFamily="34" charset="0"/>
              </a:rPr>
              <a:t>1</a:t>
            </a:r>
            <a:r>
              <a:rPr lang="en-US" altLang="en-US" sz="800">
                <a:latin typeface="Arial" panose="020B0604020202020204" pitchFamily="34" charset="0"/>
              </a:rPr>
              <a:t>	                                   </a:t>
            </a:r>
            <a:r>
              <a:rPr lang="en-US" altLang="en-US" sz="800" dirty="0">
                <a:latin typeface="Arial" panose="020B0604020202020204" pitchFamily="34" charset="0"/>
              </a:rPr>
              <a:t>Trial 2</a:t>
            </a:r>
            <a:r>
              <a:rPr lang="en-US" altLang="en-US" sz="800">
                <a:latin typeface="Arial" panose="020B0604020202020204" pitchFamily="34" charset="0"/>
              </a:rPr>
              <a:t>		Delta</a:t>
            </a:r>
            <a:endParaRPr lang="en-US" altLang="en-US" sz="800" dirty="0">
              <a:latin typeface="Arial" panose="020B0604020202020204" pitchFamily="34" charset="0"/>
            </a:endParaRPr>
          </a:p>
          <a:p>
            <a:pPr>
              <a:lnSpc>
                <a:spcPct val="80000"/>
              </a:lnSpc>
            </a:pPr>
            <a:r>
              <a:rPr lang="en-US" altLang="en-US" sz="800" dirty="0">
                <a:latin typeface="Arial" panose="020B0604020202020204" pitchFamily="34" charset="0"/>
              </a:rPr>
              <a:t>		1</a:t>
            </a:r>
            <a:r>
              <a:rPr lang="en-US" altLang="en-US" sz="800" baseline="30000" dirty="0">
                <a:latin typeface="Arial" panose="020B0604020202020204" pitchFamily="34" charset="0"/>
              </a:rPr>
              <a:t>st</a:t>
            </a:r>
            <a:r>
              <a:rPr lang="en-US" altLang="en-US" sz="800" dirty="0">
                <a:latin typeface="Arial" panose="020B0604020202020204" pitchFamily="34" charset="0"/>
              </a:rPr>
              <a:t>	Last	1</a:t>
            </a:r>
            <a:r>
              <a:rPr lang="en-US" altLang="en-US" sz="800" baseline="30000" dirty="0">
                <a:latin typeface="Arial" panose="020B0604020202020204" pitchFamily="34" charset="0"/>
              </a:rPr>
              <a:t>st</a:t>
            </a:r>
            <a:r>
              <a:rPr lang="en-US" altLang="en-US" sz="800" dirty="0">
                <a:latin typeface="Arial" panose="020B0604020202020204" pitchFamily="34" charset="0"/>
              </a:rPr>
              <a:t>	Last</a:t>
            </a:r>
          </a:p>
          <a:p>
            <a:pPr lvl="2">
              <a:lnSpc>
                <a:spcPct val="80000"/>
              </a:lnSpc>
            </a:pPr>
            <a:r>
              <a:rPr lang="en-US" altLang="en-US" sz="800" dirty="0">
                <a:latin typeface="Arial" panose="020B0604020202020204" pitchFamily="34" charset="0"/>
              </a:rPr>
              <a:t>Team</a:t>
            </a:r>
          </a:p>
          <a:p>
            <a:pPr lvl="2">
              <a:lnSpc>
                <a:spcPct val="80000"/>
              </a:lnSpc>
            </a:pPr>
            <a:r>
              <a:rPr lang="en-US" altLang="en-US" sz="800" dirty="0">
                <a:latin typeface="Arial" panose="020B0604020202020204" pitchFamily="34" charset="0"/>
              </a:rPr>
              <a:t>#1</a:t>
            </a:r>
          </a:p>
          <a:p>
            <a:pPr lvl="2">
              <a:lnSpc>
                <a:spcPct val="80000"/>
              </a:lnSpc>
            </a:pPr>
            <a:r>
              <a:rPr lang="en-US" altLang="en-US" sz="800" dirty="0">
                <a:latin typeface="Arial" panose="020B0604020202020204" pitchFamily="34" charset="0"/>
              </a:rPr>
              <a:t>#2</a:t>
            </a:r>
          </a:p>
          <a:p>
            <a:pPr lvl="2">
              <a:lnSpc>
                <a:spcPct val="80000"/>
              </a:lnSpc>
            </a:pPr>
            <a:r>
              <a:rPr lang="en-US" altLang="en-US" sz="800" dirty="0">
                <a:latin typeface="Arial" panose="020B0604020202020204" pitchFamily="34" charset="0"/>
              </a:rPr>
              <a:t>#3</a:t>
            </a:r>
          </a:p>
          <a:p>
            <a:pPr lvl="2">
              <a:lnSpc>
                <a:spcPct val="80000"/>
              </a:lnSpc>
            </a:pPr>
            <a:r>
              <a:rPr lang="en-US" altLang="en-US" sz="800" dirty="0">
                <a:latin typeface="Arial" panose="020B0604020202020204" pitchFamily="34" charset="0"/>
              </a:rPr>
              <a:t>#4</a:t>
            </a:r>
          </a:p>
          <a:p>
            <a:pPr>
              <a:lnSpc>
                <a:spcPct val="80000"/>
              </a:lnSpc>
            </a:pPr>
            <a:endParaRPr lang="en-US" altLang="en-US" sz="800" b="1" dirty="0">
              <a:latin typeface="Arial" panose="020B0604020202020204" pitchFamily="34" charset="0"/>
            </a:endParaRPr>
          </a:p>
          <a:p>
            <a:pPr>
              <a:lnSpc>
                <a:spcPct val="80000"/>
              </a:lnSpc>
            </a:pPr>
            <a:r>
              <a:rPr lang="en-US" altLang="en-US" sz="800" dirty="0">
                <a:latin typeface="Arial" panose="020B0604020202020204" pitchFamily="34" charset="0"/>
              </a:rPr>
              <a:t>DO:</a:t>
            </a:r>
            <a:r>
              <a:rPr lang="en-US" altLang="en-US" sz="800" b="1" dirty="0">
                <a:latin typeface="Arial" panose="020B0604020202020204" pitchFamily="34" charset="0"/>
              </a:rPr>
              <a:t> Compare the results of the two trials noting the % change in performance</a:t>
            </a:r>
          </a:p>
          <a:p>
            <a:pPr>
              <a:lnSpc>
                <a:spcPct val="80000"/>
              </a:lnSpc>
            </a:pPr>
            <a:endParaRPr lang="en-US" altLang="en-US" sz="800" b="1" dirty="0">
              <a:latin typeface="Arial" panose="020B0604020202020204" pitchFamily="34" charset="0"/>
            </a:endParaRPr>
          </a:p>
          <a:p>
            <a:pPr>
              <a:lnSpc>
                <a:spcPct val="80000"/>
              </a:lnSpc>
            </a:pPr>
            <a:r>
              <a:rPr lang="en-US" altLang="en-US" sz="800" dirty="0">
                <a:latin typeface="Arial" panose="020B0604020202020204" pitchFamily="34" charset="0"/>
              </a:rPr>
              <a:t>SAY: </a:t>
            </a:r>
            <a:r>
              <a:rPr lang="ja-JP" altLang="en-US" sz="800" b="1" dirty="0">
                <a:latin typeface="Arial" panose="020B0604020202020204" pitchFamily="34" charset="0"/>
              </a:rPr>
              <a:t>“</a:t>
            </a:r>
            <a:r>
              <a:rPr lang="en-US" altLang="ja-JP" sz="800" b="1" dirty="0">
                <a:latin typeface="Arial" panose="020B0604020202020204" pitchFamily="34" charset="0"/>
              </a:rPr>
              <a:t>You all did something that you do multiple times everyday, sign your name, so there really </a:t>
            </a:r>
            <a:r>
              <a:rPr lang="en-US" altLang="ja-JP" sz="800" b="1" dirty="0" err="1">
                <a:latin typeface="Arial" panose="020B0604020202020204" pitchFamily="34" charset="0"/>
              </a:rPr>
              <a:t>wasn</a:t>
            </a:r>
            <a:r>
              <a:rPr lang="ja-JP" altLang="en-US" sz="800" b="1" dirty="0">
                <a:latin typeface="Arial" panose="020B0604020202020204" pitchFamily="34" charset="0"/>
              </a:rPr>
              <a:t>’</a:t>
            </a:r>
            <a:r>
              <a:rPr lang="en-US" altLang="ja-JP" sz="800" b="1" dirty="0">
                <a:latin typeface="Arial" panose="020B0604020202020204" pitchFamily="34" charset="0"/>
              </a:rPr>
              <a:t>t any learning curve involved.  You did exactly the same thing using the same technologies.  You didn't get a new IT system, or a preprinted form, or a faster pen, or slicker paper, it was all exactly the same except for the way you approached the process.  And by changing the way you approached the process, by moving to one piece flow and focusing on the customer there was a significantly different result.</a:t>
            </a:r>
            <a:r>
              <a:rPr lang="ja-JP" altLang="en-US" sz="800" b="1" dirty="0">
                <a:latin typeface="Arial" panose="020B0604020202020204" pitchFamily="34" charset="0"/>
              </a:rPr>
              <a:t>”</a:t>
            </a:r>
            <a:endParaRPr lang="en-US" altLang="en-US" sz="800" b="1"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35</a:t>
            </a:fld>
            <a:endParaRPr lang="en-US"/>
          </a:p>
        </p:txBody>
      </p:sp>
    </p:spTree>
    <p:extLst>
      <p:ext uri="{BB962C8B-B14F-4D97-AF65-F5344CB8AC3E}">
        <p14:creationId xmlns:p14="http://schemas.microsoft.com/office/powerpoint/2010/main" val="371212675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Keep the goal of continuous flow always in mind. While </a:t>
            </a:r>
            <a:r>
              <a:rPr lang="ja-JP" altLang="en-US" dirty="0">
                <a:latin typeface="Arial" panose="020B0604020202020204" pitchFamily="34" charset="0"/>
              </a:rPr>
              <a:t>“</a:t>
            </a:r>
            <a:r>
              <a:rPr lang="en-US" altLang="ja-JP" dirty="0">
                <a:latin typeface="Arial" panose="020B0604020202020204" pitchFamily="34" charset="0"/>
              </a:rPr>
              <a:t>pull</a:t>
            </a:r>
            <a:r>
              <a:rPr lang="ja-JP" altLang="en-US" dirty="0">
                <a:latin typeface="Arial" panose="020B0604020202020204" pitchFamily="34" charset="0"/>
              </a:rPr>
              <a:t>”</a:t>
            </a:r>
            <a:r>
              <a:rPr lang="en-US" altLang="ja-JP" dirty="0">
                <a:latin typeface="Arial" panose="020B0604020202020204" pitchFamily="34" charset="0"/>
              </a:rPr>
              <a:t> is the next best thing, pull is still a failure to flow.</a:t>
            </a:r>
            <a:r>
              <a:rPr lang="ja-JP" altLang="en-US" dirty="0">
                <a:latin typeface="Arial" panose="020B0604020202020204" pitchFamily="34" charset="0"/>
              </a:rPr>
              <a:t>”</a:t>
            </a:r>
            <a:endParaRPr lang="en-US" altLang="ja-JP" dirty="0">
              <a:latin typeface="Arial" panose="020B0604020202020204" pitchFamily="34" charset="0"/>
            </a:endParaRPr>
          </a:p>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Whenever we reduce inventory, we expose problems that had been covered up by that inventory. This is a good thing (although at first it may not feel that way). (ASK) Why is this a good thing?</a:t>
            </a:r>
            <a:r>
              <a:rPr lang="ja-JP" altLang="en-US" dirty="0">
                <a:latin typeface="Arial" panose="020B0604020202020204" pitchFamily="34" charset="0"/>
              </a:rPr>
              <a:t>”</a:t>
            </a:r>
            <a:r>
              <a:rPr lang="en-US" altLang="ja-JP" dirty="0">
                <a:latin typeface="Arial" panose="020B0604020202020204" pitchFamily="34" charset="0"/>
              </a:rPr>
              <a:t> (because you can</a:t>
            </a:r>
            <a:r>
              <a:rPr lang="ja-JP" altLang="en-US" dirty="0">
                <a:latin typeface="Arial" panose="020B0604020202020204" pitchFamily="34" charset="0"/>
              </a:rPr>
              <a:t>’</a:t>
            </a:r>
            <a:r>
              <a:rPr lang="en-US" altLang="ja-JP" dirty="0">
                <a:latin typeface="Arial" panose="020B0604020202020204" pitchFamily="34" charset="0"/>
              </a:rPr>
              <a:t>t solve problems that haven</a:t>
            </a:r>
            <a:r>
              <a:rPr lang="ja-JP" altLang="en-US" dirty="0">
                <a:latin typeface="Arial" panose="020B0604020202020204" pitchFamily="34" charset="0"/>
              </a:rPr>
              <a:t>’</a:t>
            </a:r>
            <a:r>
              <a:rPr lang="en-US" altLang="ja-JP" dirty="0">
                <a:latin typeface="Arial" panose="020B0604020202020204" pitchFamily="34" charset="0"/>
              </a:rPr>
              <a:t>t been identified).</a:t>
            </a:r>
          </a:p>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The commitment to striving for perfection is a big part of the cultural change that needs to take place.  We need to acknowledge that everything that we do can be done better and striving for perfection is how we make continuous improvement a part of our everyday lives.</a:t>
            </a:r>
            <a:r>
              <a:rPr lang="ja-JP" altLang="en-US" dirty="0">
                <a:latin typeface="Arial" panose="020B0604020202020204" pitchFamily="34" charset="0"/>
              </a:rPr>
              <a:t>”</a:t>
            </a:r>
            <a:endParaRPr lang="en-US" altLang="ja-JP" dirty="0">
              <a:latin typeface="Arial" panose="020B0604020202020204" pitchFamily="34" charset="0"/>
            </a:endParaRP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37</a:t>
            </a:fld>
            <a:endParaRPr lang="en-US"/>
          </a:p>
        </p:txBody>
      </p:sp>
    </p:spTree>
    <p:extLst>
      <p:ext uri="{BB962C8B-B14F-4D97-AF65-F5344CB8AC3E}">
        <p14:creationId xmlns:p14="http://schemas.microsoft.com/office/powerpoint/2010/main" val="428850721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38</a:t>
            </a:fld>
            <a:endParaRPr lang="en-US"/>
          </a:p>
        </p:txBody>
      </p:sp>
    </p:spTree>
    <p:extLst>
      <p:ext uri="{BB962C8B-B14F-4D97-AF65-F5344CB8AC3E}">
        <p14:creationId xmlns:p14="http://schemas.microsoft.com/office/powerpoint/2010/main" val="248383542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39</a:t>
            </a:fld>
            <a:endParaRPr lang="en-US"/>
          </a:p>
        </p:txBody>
      </p:sp>
    </p:spTree>
    <p:extLst>
      <p:ext uri="{BB962C8B-B14F-4D97-AF65-F5344CB8AC3E}">
        <p14:creationId xmlns:p14="http://schemas.microsoft.com/office/powerpoint/2010/main" val="230117801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Rectangle 7">
            <a:extLst>
              <a:ext uri="{FF2B5EF4-FFF2-40B4-BE49-F238E27FC236}">
                <a16:creationId xmlns:a16="http://schemas.microsoft.com/office/drawing/2014/main" id="{1EBC7989-A671-4EFF-B476-6762AC9400F7}"/>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938213">
              <a:defRPr sz="900" b="1">
                <a:solidFill>
                  <a:schemeClr val="bg1"/>
                </a:solidFill>
                <a:latin typeface="Arial" panose="020B0604020202020204" pitchFamily="34" charset="0"/>
                <a:ea typeface="MS PGothic" panose="020B0600070205080204" pitchFamily="34" charset="-128"/>
              </a:defRPr>
            </a:lvl1pPr>
            <a:lvl2pPr marL="742950" indent="-285750" defTabSz="938213">
              <a:defRPr sz="900" b="1">
                <a:solidFill>
                  <a:schemeClr val="bg1"/>
                </a:solidFill>
                <a:latin typeface="Arial" panose="020B0604020202020204" pitchFamily="34" charset="0"/>
                <a:ea typeface="MS PGothic" panose="020B0600070205080204" pitchFamily="34" charset="-128"/>
              </a:defRPr>
            </a:lvl2pPr>
            <a:lvl3pPr marL="1143000" indent="-228600" defTabSz="938213">
              <a:defRPr sz="900" b="1">
                <a:solidFill>
                  <a:schemeClr val="bg1"/>
                </a:solidFill>
                <a:latin typeface="Arial" panose="020B0604020202020204" pitchFamily="34" charset="0"/>
                <a:ea typeface="MS PGothic" panose="020B0600070205080204" pitchFamily="34" charset="-128"/>
              </a:defRPr>
            </a:lvl3pPr>
            <a:lvl4pPr marL="1600200" indent="-228600" defTabSz="938213">
              <a:defRPr sz="900" b="1">
                <a:solidFill>
                  <a:schemeClr val="bg1"/>
                </a:solidFill>
                <a:latin typeface="Arial" panose="020B0604020202020204" pitchFamily="34" charset="0"/>
                <a:ea typeface="MS PGothic" panose="020B0600070205080204" pitchFamily="34" charset="-128"/>
              </a:defRPr>
            </a:lvl4pPr>
            <a:lvl5pPr marL="2057400" indent="-228600" defTabSz="938213">
              <a:defRPr sz="900" b="1">
                <a:solidFill>
                  <a:schemeClr val="bg1"/>
                </a:solidFill>
                <a:latin typeface="Arial" panose="020B0604020202020204" pitchFamily="34" charset="0"/>
                <a:ea typeface="MS PGothic" panose="020B0600070205080204" pitchFamily="34" charset="-128"/>
              </a:defRPr>
            </a:lvl5pPr>
            <a:lvl6pPr marL="2514600" indent="-228600" algn="ctr" defTabSz="938213"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defTabSz="938213"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defTabSz="938213"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defTabSz="938213"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fld id="{86FFF7CD-7B5B-4E4F-80E8-1989DB61F29E}" type="slidenum">
              <a:rPr lang="en-US" altLang="en-US" sz="1200" b="0">
                <a:solidFill>
                  <a:schemeClr val="tx1"/>
                </a:solidFill>
                <a:latin typeface="Times New Roman" panose="02020603050405020304" pitchFamily="18" charset="0"/>
              </a:rPr>
              <a:pPr/>
              <a:t>42</a:t>
            </a:fld>
            <a:endParaRPr lang="en-US" altLang="en-US" sz="1200" b="0">
              <a:solidFill>
                <a:schemeClr val="tx1"/>
              </a:solidFill>
              <a:latin typeface="Times New Roman" panose="02020603050405020304" pitchFamily="18" charset="0"/>
            </a:endParaRPr>
          </a:p>
        </p:txBody>
      </p:sp>
      <p:sp>
        <p:nvSpPr>
          <p:cNvPr id="98306" name="Rectangle 2">
            <a:extLst>
              <a:ext uri="{FF2B5EF4-FFF2-40B4-BE49-F238E27FC236}">
                <a16:creationId xmlns:a16="http://schemas.microsoft.com/office/drawing/2014/main" id="{EDADC018-09B6-445E-A9A5-D5263828C7B6}"/>
              </a:ext>
            </a:extLst>
          </p:cNvPr>
          <p:cNvSpPr>
            <a:spLocks noGrp="1" noRot="1" noChangeAspect="1" noChangeArrowheads="1" noTextEdit="1"/>
          </p:cNvSpPr>
          <p:nvPr>
            <p:ph type="sldImg"/>
          </p:nvPr>
        </p:nvSpPr>
        <p:spPr>
          <a:ln/>
        </p:spPr>
      </p:sp>
      <p:sp>
        <p:nvSpPr>
          <p:cNvPr id="98307" name="Rectangle 3">
            <a:extLst>
              <a:ext uri="{FF2B5EF4-FFF2-40B4-BE49-F238E27FC236}">
                <a16:creationId xmlns:a16="http://schemas.microsoft.com/office/drawing/2014/main" id="{D34A90B2-76BE-461F-966C-B4EC0D774E47}"/>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dirty="0">
              <a:latin typeface="Arial" panose="020B0604020202020204" pitchFamily="34"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54</a:t>
            </a:fld>
            <a:endParaRPr lang="en-US"/>
          </a:p>
        </p:txBody>
      </p:sp>
    </p:spTree>
    <p:extLst>
      <p:ext uri="{BB962C8B-B14F-4D97-AF65-F5344CB8AC3E}">
        <p14:creationId xmlns:p14="http://schemas.microsoft.com/office/powerpoint/2010/main" val="384576195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58</a:t>
            </a:fld>
            <a:endParaRPr lang="en-US"/>
          </a:p>
        </p:txBody>
      </p:sp>
    </p:spTree>
    <p:extLst>
      <p:ext uri="{BB962C8B-B14F-4D97-AF65-F5344CB8AC3E}">
        <p14:creationId xmlns:p14="http://schemas.microsoft.com/office/powerpoint/2010/main" val="367142338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59</a:t>
            </a:fld>
            <a:endParaRPr lang="en-US"/>
          </a:p>
        </p:txBody>
      </p:sp>
    </p:spTree>
    <p:extLst>
      <p:ext uri="{BB962C8B-B14F-4D97-AF65-F5344CB8AC3E}">
        <p14:creationId xmlns:p14="http://schemas.microsoft.com/office/powerpoint/2010/main" val="357624226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defTabSz="45720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rPr>
              <a:t>ASK:</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Where are you in this journey?</a:t>
            </a:r>
            <a:r>
              <a:rPr lang="ja-JP" altLang="en-US" dirty="0">
                <a:latin typeface="Arial" panose="020B0604020202020204" pitchFamily="34" charset="0"/>
              </a:rPr>
              <a:t>”</a:t>
            </a:r>
            <a:endParaRPr lang="en-US" altLang="en-US" dirty="0">
              <a:latin typeface="Arial" panose="020B0604020202020204" pitchFamily="34" charset="0"/>
            </a:endParaRPr>
          </a:p>
          <a:p>
            <a:endParaRPr lang="en-US" altLang="en-US" dirty="0">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61</a:t>
            </a:fld>
            <a:endParaRPr lang="en-US"/>
          </a:p>
        </p:txBody>
      </p:sp>
    </p:spTree>
    <p:extLst>
      <p:ext uri="{BB962C8B-B14F-4D97-AF65-F5344CB8AC3E}">
        <p14:creationId xmlns:p14="http://schemas.microsoft.com/office/powerpoint/2010/main" val="217817653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defTabSz="45720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The key take-away from this graphic is that true Lean transformation takes place when Lean activity is the </a:t>
            </a:r>
            <a:r>
              <a:rPr lang="ja-JP" altLang="en-US" dirty="0">
                <a:latin typeface="Arial" panose="020B0604020202020204" pitchFamily="34" charset="0"/>
              </a:rPr>
              <a:t>“</a:t>
            </a:r>
            <a:r>
              <a:rPr lang="en-US" altLang="ja-JP" dirty="0">
                <a:latin typeface="Arial" panose="020B0604020202020204" pitchFamily="34" charset="0"/>
              </a:rPr>
              <a:t>go-to</a:t>
            </a:r>
            <a:r>
              <a:rPr lang="ja-JP" altLang="en-US" dirty="0">
                <a:latin typeface="Arial" panose="020B0604020202020204" pitchFamily="34" charset="0"/>
              </a:rPr>
              <a:t>”</a:t>
            </a:r>
            <a:r>
              <a:rPr lang="en-US" altLang="ja-JP" dirty="0">
                <a:latin typeface="Arial" panose="020B0604020202020204" pitchFamily="34" charset="0"/>
              </a:rPr>
              <a:t> way to drive improvements in all areas of the business: Administration, SD, Logistics, Manufacturing, Product Development, Employee Development/HR, etc.</a:t>
            </a:r>
            <a:r>
              <a:rPr lang="ja-JP" altLang="en-US" dirty="0">
                <a:latin typeface="Arial" panose="020B0604020202020204" pitchFamily="34" charset="0"/>
              </a:rPr>
              <a:t>”</a:t>
            </a:r>
            <a:endParaRPr lang="en-US" altLang="en-US" dirty="0">
              <a:latin typeface="Arial" panose="020B0604020202020204" pitchFamily="34" charset="0"/>
            </a:endParaRP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62</a:t>
            </a:fld>
            <a:endParaRPr lang="en-US"/>
          </a:p>
        </p:txBody>
      </p:sp>
    </p:spTree>
    <p:extLst>
      <p:ext uri="{BB962C8B-B14F-4D97-AF65-F5344CB8AC3E}">
        <p14:creationId xmlns:p14="http://schemas.microsoft.com/office/powerpoint/2010/main" val="173349848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Overall; Lean is about having a process to use everybody's "brains</a:t>
            </a:r>
            <a:r>
              <a:rPr lang="ja-JP" altLang="en-US" dirty="0">
                <a:latin typeface="Arial" panose="020B0604020202020204" pitchFamily="34" charset="0"/>
              </a:rPr>
              <a:t>“</a:t>
            </a:r>
            <a:r>
              <a:rPr lang="en-US" altLang="ja-JP" dirty="0">
                <a:latin typeface="Arial" panose="020B0604020202020204" pitchFamily="34" charset="0"/>
              </a:rPr>
              <a:t> to understand what is important for the customer, and identify and eliminate waste consistently.</a:t>
            </a:r>
            <a:r>
              <a:rPr lang="ja-JP" altLang="en-US" dirty="0">
                <a:latin typeface="Arial" panose="020B0604020202020204" pitchFamily="34" charset="0"/>
              </a:rPr>
              <a:t>”</a:t>
            </a:r>
            <a:endParaRPr lang="en-US" altLang="en-US" dirty="0">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63</a:t>
            </a:fld>
            <a:endParaRPr lang="en-US"/>
          </a:p>
        </p:txBody>
      </p:sp>
    </p:spTree>
    <p:extLst>
      <p:ext uri="{BB962C8B-B14F-4D97-AF65-F5344CB8AC3E}">
        <p14:creationId xmlns:p14="http://schemas.microsoft.com/office/powerpoint/2010/main" val="58794008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64</a:t>
            </a:fld>
            <a:endParaRPr lang="en-US"/>
          </a:p>
        </p:txBody>
      </p:sp>
    </p:spTree>
    <p:extLst>
      <p:ext uri="{BB962C8B-B14F-4D97-AF65-F5344CB8AC3E}">
        <p14:creationId xmlns:p14="http://schemas.microsoft.com/office/powerpoint/2010/main" val="219867519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65</a:t>
            </a:fld>
            <a:endParaRPr lang="en-US"/>
          </a:p>
        </p:txBody>
      </p:sp>
    </p:spTree>
    <p:extLst>
      <p:ext uri="{BB962C8B-B14F-4D97-AF65-F5344CB8AC3E}">
        <p14:creationId xmlns:p14="http://schemas.microsoft.com/office/powerpoint/2010/main" val="42060796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jp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0F6632C7-24FA-80B1-73E9-5FA4B7E6FDDC}"/>
              </a:ext>
            </a:extLst>
          </p:cNvPr>
          <p:cNvSpPr>
            <a:spLocks noGrp="1"/>
          </p:cNvSpPr>
          <p:nvPr>
            <p:ph type="dt" sz="half" idx="10"/>
          </p:nvPr>
        </p:nvSpPr>
        <p:spPr>
          <a:xfrm>
            <a:off x="838200" y="6203423"/>
            <a:ext cx="2743200" cy="365125"/>
          </a:xfrm>
          <a:prstGeom prst="rect">
            <a:avLst/>
          </a:prstGeom>
        </p:spPr>
        <p:txBody>
          <a:bodyPr/>
          <a:lstStyle>
            <a:lvl1pPr>
              <a:defRPr>
                <a:solidFill>
                  <a:schemeClr val="tx1"/>
                </a:solidFill>
              </a:defRPr>
            </a:lvl1pPr>
          </a:lstStyle>
          <a:p>
            <a:r>
              <a:rPr lang="en-US"/>
              <a:t>ADMIN INTRO PRESENTATION_2 HOUR ENG REV4.0</a:t>
            </a:r>
            <a:endParaRPr lang="en-US" dirty="0"/>
          </a:p>
        </p:txBody>
      </p:sp>
      <p:sp>
        <p:nvSpPr>
          <p:cNvPr id="4" name="Footer Placeholder 3">
            <a:extLst>
              <a:ext uri="{FF2B5EF4-FFF2-40B4-BE49-F238E27FC236}">
                <a16:creationId xmlns:a16="http://schemas.microsoft.com/office/drawing/2014/main" id="{35F5A2D9-AC06-FF12-6355-C48FA499A0B3}"/>
              </a:ext>
            </a:extLst>
          </p:cNvPr>
          <p:cNvSpPr>
            <a:spLocks noGrp="1"/>
          </p:cNvSpPr>
          <p:nvPr>
            <p:ph type="ftr" sz="quarter" idx="11"/>
          </p:nvPr>
        </p:nvSpPr>
        <p:spPr/>
        <p:txBody>
          <a:bodyPr/>
          <a:lstStyle>
            <a:lvl1pPr>
              <a:defRPr>
                <a:solidFill>
                  <a:schemeClr val="tx1"/>
                </a:solidFill>
              </a:defRPr>
            </a:lvl1pPr>
          </a:lstStyle>
          <a:p>
            <a:r>
              <a:rPr lang="en-US"/>
              <a:t>© Lean Horizons Consulting, LLC 2023. All Rights Reserved</a:t>
            </a:r>
            <a:endParaRPr lang="en-US" dirty="0"/>
          </a:p>
        </p:txBody>
      </p:sp>
      <p:sp>
        <p:nvSpPr>
          <p:cNvPr id="5" name="Slide Number Placeholder 4">
            <a:extLst>
              <a:ext uri="{FF2B5EF4-FFF2-40B4-BE49-F238E27FC236}">
                <a16:creationId xmlns:a16="http://schemas.microsoft.com/office/drawing/2014/main" id="{CE665616-5CDC-80BA-E0E4-D0753230454A}"/>
              </a:ext>
            </a:extLst>
          </p:cNvPr>
          <p:cNvSpPr>
            <a:spLocks noGrp="1"/>
          </p:cNvSpPr>
          <p:nvPr>
            <p:ph type="sldNum" sz="quarter" idx="12"/>
          </p:nvPr>
        </p:nvSpPr>
        <p:spPr/>
        <p:txBody>
          <a:bodyPr/>
          <a:lstStyle>
            <a:lvl1pPr>
              <a:defRPr>
                <a:solidFill>
                  <a:schemeClr val="tx1"/>
                </a:solidFill>
              </a:defRPr>
            </a:lvl1pPr>
          </a:lstStyle>
          <a:p>
            <a:fld id="{CC6D4273-7FC1-0947-B9FE-19CB3C0D1FB6}" type="slidenum">
              <a:rPr lang="en-US" smtClean="0"/>
              <a:pPr/>
              <a:t>‹#›</a:t>
            </a:fld>
            <a:endParaRPr lang="en-US" dirty="0"/>
          </a:p>
        </p:txBody>
      </p:sp>
      <p:pic>
        <p:nvPicPr>
          <p:cNvPr id="6" name="Picture 5" descr="Logo&#10;&#10;Description automatically generated">
            <a:extLst>
              <a:ext uri="{FF2B5EF4-FFF2-40B4-BE49-F238E27FC236}">
                <a16:creationId xmlns:a16="http://schemas.microsoft.com/office/drawing/2014/main" id="{7B85E90D-7DD7-92B5-E387-8C0441E41AC3}"/>
              </a:ext>
            </a:extLst>
          </p:cNvPr>
          <p:cNvPicPr>
            <a:picLocks noChangeAspect="1"/>
          </p:cNvPicPr>
          <p:nvPr userDrawn="1"/>
        </p:nvPicPr>
        <p:blipFill>
          <a:blip r:embed="rId2"/>
          <a:stretch>
            <a:fillRect/>
          </a:stretch>
        </p:blipFill>
        <p:spPr>
          <a:xfrm>
            <a:off x="2385391" y="1950112"/>
            <a:ext cx="7772400" cy="2590800"/>
          </a:xfrm>
          <a:prstGeom prst="rect">
            <a:avLst/>
          </a:prstGeom>
        </p:spPr>
      </p:pic>
    </p:spTree>
    <p:extLst>
      <p:ext uri="{BB962C8B-B14F-4D97-AF65-F5344CB8AC3E}">
        <p14:creationId xmlns:p14="http://schemas.microsoft.com/office/powerpoint/2010/main" val="1856233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0F6632C7-24FA-80B1-73E9-5FA4B7E6FDDC}"/>
              </a:ext>
            </a:extLst>
          </p:cNvPr>
          <p:cNvSpPr>
            <a:spLocks noGrp="1"/>
          </p:cNvSpPr>
          <p:nvPr>
            <p:ph type="dt" sz="half" idx="10"/>
          </p:nvPr>
        </p:nvSpPr>
        <p:spPr>
          <a:xfrm>
            <a:off x="838200" y="6203423"/>
            <a:ext cx="2743200" cy="365125"/>
          </a:xfrm>
          <a:prstGeom prst="rect">
            <a:avLst/>
          </a:prstGeom>
        </p:spPr>
        <p:txBody>
          <a:bodyPr/>
          <a:lstStyle/>
          <a:p>
            <a:r>
              <a:rPr lang="en-US"/>
              <a:t>ADMIN INTRO PRESENTATION_2 HOUR ENG REV4.0</a:t>
            </a:r>
            <a:endParaRPr lang="en-US" dirty="0"/>
          </a:p>
        </p:txBody>
      </p:sp>
      <p:sp>
        <p:nvSpPr>
          <p:cNvPr id="4" name="Footer Placeholder 3">
            <a:extLst>
              <a:ext uri="{FF2B5EF4-FFF2-40B4-BE49-F238E27FC236}">
                <a16:creationId xmlns:a16="http://schemas.microsoft.com/office/drawing/2014/main" id="{35F5A2D9-AC06-FF12-6355-C48FA499A0B3}"/>
              </a:ext>
            </a:extLst>
          </p:cNvPr>
          <p:cNvSpPr>
            <a:spLocks noGrp="1"/>
          </p:cNvSpPr>
          <p:nvPr>
            <p:ph type="ftr" sz="quarter" idx="11"/>
          </p:nvPr>
        </p:nvSpPr>
        <p:spPr/>
        <p:txBody>
          <a:bodyPr/>
          <a:lstStyle/>
          <a:p>
            <a:r>
              <a:rPr lang="en-US"/>
              <a:t>© Lean Horizons Consulting, LLC 2023. All Rights Reserved</a:t>
            </a:r>
            <a:endParaRPr lang="en-US" dirty="0"/>
          </a:p>
        </p:txBody>
      </p:sp>
      <p:sp>
        <p:nvSpPr>
          <p:cNvPr id="5" name="Slide Number Placeholder 4">
            <a:extLst>
              <a:ext uri="{FF2B5EF4-FFF2-40B4-BE49-F238E27FC236}">
                <a16:creationId xmlns:a16="http://schemas.microsoft.com/office/drawing/2014/main" id="{CE665616-5CDC-80BA-E0E4-D0753230454A}"/>
              </a:ext>
            </a:extLst>
          </p:cNvPr>
          <p:cNvSpPr>
            <a:spLocks noGrp="1"/>
          </p:cNvSpPr>
          <p:nvPr>
            <p:ph type="sldNum" sz="quarter" idx="12"/>
          </p:nvPr>
        </p:nvSpPr>
        <p:spPr/>
        <p:txBody>
          <a:bodyPr/>
          <a:lstStyle/>
          <a:p>
            <a:fld id="{CC6D4273-7FC1-0947-B9FE-19CB3C0D1FB6}" type="slidenum">
              <a:rPr lang="en-US" smtClean="0"/>
              <a:t>‹#›</a:t>
            </a:fld>
            <a:endParaRPr lang="en-US"/>
          </a:p>
        </p:txBody>
      </p:sp>
    </p:spTree>
    <p:extLst>
      <p:ext uri="{BB962C8B-B14F-4D97-AF65-F5344CB8AC3E}">
        <p14:creationId xmlns:p14="http://schemas.microsoft.com/office/powerpoint/2010/main" val="6853604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pic>
        <p:nvPicPr>
          <p:cNvPr id="2" name="Picture 1" descr="Logo&#10;&#10;Description automatically generated">
            <a:extLst>
              <a:ext uri="{FF2B5EF4-FFF2-40B4-BE49-F238E27FC236}">
                <a16:creationId xmlns:a16="http://schemas.microsoft.com/office/drawing/2014/main" id="{DFA04139-8C44-65B7-CCE0-3C7273396743}"/>
              </a:ext>
            </a:extLst>
          </p:cNvPr>
          <p:cNvPicPr>
            <a:picLocks noChangeAspect="1"/>
          </p:cNvPicPr>
          <p:nvPr userDrawn="1"/>
        </p:nvPicPr>
        <p:blipFill>
          <a:blip r:embed="rId2"/>
          <a:stretch>
            <a:fillRect/>
          </a:stretch>
        </p:blipFill>
        <p:spPr>
          <a:xfrm>
            <a:off x="10041954" y="6012921"/>
            <a:ext cx="1825625" cy="365125"/>
          </a:xfrm>
          <a:prstGeom prst="rect">
            <a:avLst/>
          </a:prstGeom>
        </p:spPr>
      </p:pic>
      <p:sp>
        <p:nvSpPr>
          <p:cNvPr id="6" name="Date Placeholder 5">
            <a:extLst>
              <a:ext uri="{FF2B5EF4-FFF2-40B4-BE49-F238E27FC236}">
                <a16:creationId xmlns:a16="http://schemas.microsoft.com/office/drawing/2014/main" id="{EE713FB0-61CF-B0CE-CBAF-8D8C4C3F6831}"/>
              </a:ext>
            </a:extLst>
          </p:cNvPr>
          <p:cNvSpPr>
            <a:spLocks noGrp="1"/>
          </p:cNvSpPr>
          <p:nvPr>
            <p:ph type="dt" sz="half" idx="10"/>
          </p:nvPr>
        </p:nvSpPr>
        <p:spPr>
          <a:xfrm>
            <a:off x="838200" y="6203423"/>
            <a:ext cx="2743200" cy="365125"/>
          </a:xfrm>
          <a:prstGeom prst="rect">
            <a:avLst/>
          </a:prstGeom>
        </p:spPr>
        <p:txBody>
          <a:bodyPr/>
          <a:lstStyle>
            <a:lvl1pPr>
              <a:defRPr sz="1000">
                <a:solidFill>
                  <a:schemeClr val="tx1"/>
                </a:solidFill>
              </a:defRPr>
            </a:lvl1pPr>
          </a:lstStyle>
          <a:p>
            <a:r>
              <a:rPr lang="en-US" dirty="0"/>
              <a:t>ADMIN INTRO PRESENTATION_2 HOUR ENG REV4.0</a:t>
            </a:r>
          </a:p>
        </p:txBody>
      </p:sp>
      <p:sp>
        <p:nvSpPr>
          <p:cNvPr id="7" name="Footer Placeholder 6">
            <a:extLst>
              <a:ext uri="{FF2B5EF4-FFF2-40B4-BE49-F238E27FC236}">
                <a16:creationId xmlns:a16="http://schemas.microsoft.com/office/drawing/2014/main" id="{16E45F08-93F9-9D42-B041-5B80AA46621B}"/>
              </a:ext>
            </a:extLst>
          </p:cNvPr>
          <p:cNvSpPr>
            <a:spLocks noGrp="1"/>
          </p:cNvSpPr>
          <p:nvPr>
            <p:ph type="ftr" sz="quarter" idx="11"/>
          </p:nvPr>
        </p:nvSpPr>
        <p:spPr/>
        <p:txBody>
          <a:bodyPr/>
          <a:lstStyle>
            <a:lvl1pPr>
              <a:defRPr sz="1000">
                <a:solidFill>
                  <a:schemeClr val="tx1"/>
                </a:solidFill>
              </a:defRPr>
            </a:lvl1pPr>
          </a:lstStyle>
          <a:p>
            <a:r>
              <a:rPr lang="en-US" sz="900"/>
              <a:t>© Lean Horizons Consulting, LLC 2023. All Rights Reserved</a:t>
            </a:r>
            <a:endParaRPr lang="en-US" sz="900" dirty="0"/>
          </a:p>
        </p:txBody>
      </p:sp>
      <p:sp>
        <p:nvSpPr>
          <p:cNvPr id="8" name="Slide Number Placeholder 7">
            <a:extLst>
              <a:ext uri="{FF2B5EF4-FFF2-40B4-BE49-F238E27FC236}">
                <a16:creationId xmlns:a16="http://schemas.microsoft.com/office/drawing/2014/main" id="{295FBD58-62EF-8C10-7A01-0254C658585E}"/>
              </a:ext>
            </a:extLst>
          </p:cNvPr>
          <p:cNvSpPr>
            <a:spLocks noGrp="1"/>
          </p:cNvSpPr>
          <p:nvPr>
            <p:ph type="sldNum" sz="quarter" idx="12"/>
          </p:nvPr>
        </p:nvSpPr>
        <p:spPr/>
        <p:txBody>
          <a:bodyPr/>
          <a:lstStyle>
            <a:lvl1pPr>
              <a:defRPr sz="1000">
                <a:solidFill>
                  <a:schemeClr val="tx1"/>
                </a:solidFill>
              </a:defRPr>
            </a:lvl1pPr>
          </a:lstStyle>
          <a:p>
            <a:fld id="{CC6D4273-7FC1-0947-B9FE-19CB3C0D1FB6}" type="slidenum">
              <a:rPr lang="en-US" smtClean="0"/>
              <a:pPr/>
              <a:t>‹#›</a:t>
            </a:fld>
            <a:endParaRPr lang="en-US" dirty="0"/>
          </a:p>
        </p:txBody>
      </p:sp>
    </p:spTree>
    <p:extLst>
      <p:ext uri="{BB962C8B-B14F-4D97-AF65-F5344CB8AC3E}">
        <p14:creationId xmlns:p14="http://schemas.microsoft.com/office/powerpoint/2010/main" val="13405463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B640B0-16F5-BFBE-E22F-812ED893EE45}"/>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A30DE2FD-1979-A3D6-90A4-45D744A02739}"/>
              </a:ext>
            </a:extLst>
          </p:cNvPr>
          <p:cNvSpPr>
            <a:spLocks noGrp="1"/>
          </p:cNvSpPr>
          <p:nvPr>
            <p:ph type="subTitle" idx="1"/>
          </p:nvPr>
        </p:nvSpPr>
        <p:spPr>
          <a:xfrm>
            <a:off x="1524000" y="3800722"/>
            <a:ext cx="9144000" cy="1457077"/>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5D150109-7ADC-F773-0644-47B288B293E9}"/>
              </a:ext>
            </a:extLst>
          </p:cNvPr>
          <p:cNvSpPr>
            <a:spLocks noGrp="1"/>
          </p:cNvSpPr>
          <p:nvPr>
            <p:ph type="dt" sz="half" idx="10"/>
          </p:nvPr>
        </p:nvSpPr>
        <p:spPr>
          <a:xfrm>
            <a:off x="838200" y="6203423"/>
            <a:ext cx="2743200" cy="365125"/>
          </a:xfrm>
          <a:prstGeom prst="rect">
            <a:avLst/>
          </a:prstGeom>
        </p:spPr>
        <p:txBody>
          <a:bodyPr/>
          <a:lstStyle/>
          <a:p>
            <a:r>
              <a:rPr lang="en-US"/>
              <a:t>ADMIN INTRO PRESENTATION_2 HOUR ENG REV4.0</a:t>
            </a:r>
            <a:endParaRPr lang="en-US" dirty="0"/>
          </a:p>
        </p:txBody>
      </p:sp>
      <p:sp>
        <p:nvSpPr>
          <p:cNvPr id="5" name="Footer Placeholder 4">
            <a:extLst>
              <a:ext uri="{FF2B5EF4-FFF2-40B4-BE49-F238E27FC236}">
                <a16:creationId xmlns:a16="http://schemas.microsoft.com/office/drawing/2014/main" id="{7972D5BD-8AA3-D530-AD6F-24E7F8B2ECE9}"/>
              </a:ext>
            </a:extLst>
          </p:cNvPr>
          <p:cNvSpPr>
            <a:spLocks noGrp="1"/>
          </p:cNvSpPr>
          <p:nvPr>
            <p:ph type="ftr" sz="quarter" idx="11"/>
          </p:nvPr>
        </p:nvSpPr>
        <p:spPr/>
        <p:txBody>
          <a:bodyPr/>
          <a:lstStyle/>
          <a:p>
            <a:r>
              <a:rPr lang="en-US"/>
              <a:t>© Lean Horizons Consulting, LLC 2023. All Rights Reserved</a:t>
            </a:r>
            <a:endParaRPr lang="en-US" dirty="0"/>
          </a:p>
        </p:txBody>
      </p:sp>
      <p:sp>
        <p:nvSpPr>
          <p:cNvPr id="6" name="Slide Number Placeholder 5">
            <a:extLst>
              <a:ext uri="{FF2B5EF4-FFF2-40B4-BE49-F238E27FC236}">
                <a16:creationId xmlns:a16="http://schemas.microsoft.com/office/drawing/2014/main" id="{745A5EBA-0644-69EA-6FF4-392BCDDDA88B}"/>
              </a:ext>
            </a:extLst>
          </p:cNvPr>
          <p:cNvSpPr>
            <a:spLocks noGrp="1"/>
          </p:cNvSpPr>
          <p:nvPr>
            <p:ph type="sldNum" sz="quarter" idx="12"/>
          </p:nvPr>
        </p:nvSpPr>
        <p:spPr/>
        <p:txBody>
          <a:bodyPr/>
          <a:lstStyle/>
          <a:p>
            <a:fld id="{CC6D4273-7FC1-0947-B9FE-19CB3C0D1FB6}" type="slidenum">
              <a:rPr lang="en-US" smtClean="0"/>
              <a:t>‹#›</a:t>
            </a:fld>
            <a:endParaRPr lang="en-US"/>
          </a:p>
        </p:txBody>
      </p:sp>
      <p:pic>
        <p:nvPicPr>
          <p:cNvPr id="7" name="Picture 6">
            <a:extLst>
              <a:ext uri="{FF2B5EF4-FFF2-40B4-BE49-F238E27FC236}">
                <a16:creationId xmlns:a16="http://schemas.microsoft.com/office/drawing/2014/main" id="{79394B0F-E5B4-CFAF-7473-46BB2646C463}"/>
              </a:ext>
            </a:extLst>
          </p:cNvPr>
          <p:cNvPicPr>
            <a:picLocks noChangeAspect="1"/>
          </p:cNvPicPr>
          <p:nvPr userDrawn="1"/>
        </p:nvPicPr>
        <p:blipFill>
          <a:blip r:embed="rId2"/>
          <a:stretch>
            <a:fillRect/>
          </a:stretch>
        </p:blipFill>
        <p:spPr>
          <a:xfrm>
            <a:off x="4126380" y="3556319"/>
            <a:ext cx="3939240" cy="45719"/>
          </a:xfrm>
          <a:prstGeom prst="rect">
            <a:avLst/>
          </a:prstGeom>
        </p:spPr>
      </p:pic>
    </p:spTree>
    <p:extLst>
      <p:ext uri="{BB962C8B-B14F-4D97-AF65-F5344CB8AC3E}">
        <p14:creationId xmlns:p14="http://schemas.microsoft.com/office/powerpoint/2010/main" val="26260657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E36242-F70A-0032-2B4B-BCCF0734FAFB}"/>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D039E81F-378B-8CF2-E1C3-1D9054EF712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0EB431E-3AEB-85FA-F679-5848C4E79803}"/>
              </a:ext>
            </a:extLst>
          </p:cNvPr>
          <p:cNvSpPr>
            <a:spLocks noGrp="1"/>
          </p:cNvSpPr>
          <p:nvPr>
            <p:ph type="dt" sz="half" idx="10"/>
          </p:nvPr>
        </p:nvSpPr>
        <p:spPr>
          <a:xfrm>
            <a:off x="838200" y="6203423"/>
            <a:ext cx="2743200" cy="365125"/>
          </a:xfrm>
          <a:prstGeom prst="rect">
            <a:avLst/>
          </a:prstGeom>
        </p:spPr>
        <p:txBody>
          <a:bodyPr/>
          <a:lstStyle/>
          <a:p>
            <a:r>
              <a:rPr lang="en-US"/>
              <a:t>ADMIN INTRO PRESENTATION_2 HOUR ENG REV4.0</a:t>
            </a:r>
            <a:endParaRPr lang="en-US" dirty="0"/>
          </a:p>
        </p:txBody>
      </p:sp>
      <p:sp>
        <p:nvSpPr>
          <p:cNvPr id="5" name="Footer Placeholder 4">
            <a:extLst>
              <a:ext uri="{FF2B5EF4-FFF2-40B4-BE49-F238E27FC236}">
                <a16:creationId xmlns:a16="http://schemas.microsoft.com/office/drawing/2014/main" id="{5603C48C-555D-E19B-6C0D-F0EBB3B964AE}"/>
              </a:ext>
            </a:extLst>
          </p:cNvPr>
          <p:cNvSpPr>
            <a:spLocks noGrp="1"/>
          </p:cNvSpPr>
          <p:nvPr>
            <p:ph type="ftr" sz="quarter" idx="11"/>
          </p:nvPr>
        </p:nvSpPr>
        <p:spPr/>
        <p:txBody>
          <a:bodyPr/>
          <a:lstStyle/>
          <a:p>
            <a:r>
              <a:rPr lang="en-US"/>
              <a:t>© Lean Horizons Consulting, LLC 2023. All Rights Reserved</a:t>
            </a:r>
            <a:endParaRPr lang="en-US" dirty="0"/>
          </a:p>
        </p:txBody>
      </p:sp>
      <p:sp>
        <p:nvSpPr>
          <p:cNvPr id="6" name="Slide Number Placeholder 5">
            <a:extLst>
              <a:ext uri="{FF2B5EF4-FFF2-40B4-BE49-F238E27FC236}">
                <a16:creationId xmlns:a16="http://schemas.microsoft.com/office/drawing/2014/main" id="{CF6D597A-E702-F15E-D548-75267A58DBC4}"/>
              </a:ext>
            </a:extLst>
          </p:cNvPr>
          <p:cNvSpPr>
            <a:spLocks noGrp="1"/>
          </p:cNvSpPr>
          <p:nvPr>
            <p:ph type="sldNum" sz="quarter" idx="12"/>
          </p:nvPr>
        </p:nvSpPr>
        <p:spPr/>
        <p:txBody>
          <a:bodyPr/>
          <a:lstStyle/>
          <a:p>
            <a:fld id="{CC6D4273-7FC1-0947-B9FE-19CB3C0D1FB6}" type="slidenum">
              <a:rPr lang="en-US" smtClean="0"/>
              <a:t>‹#›</a:t>
            </a:fld>
            <a:endParaRPr lang="en-US"/>
          </a:p>
        </p:txBody>
      </p:sp>
      <p:cxnSp>
        <p:nvCxnSpPr>
          <p:cNvPr id="8" name="Straight Connector 7">
            <a:extLst>
              <a:ext uri="{FF2B5EF4-FFF2-40B4-BE49-F238E27FC236}">
                <a16:creationId xmlns:a16="http://schemas.microsoft.com/office/drawing/2014/main" id="{EDBCBB7B-054A-FE83-5F7C-FE4A1CDFEEBA}"/>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116115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1EA9C9-FDCA-934D-785B-BFD907843AD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7695437-1877-C6A2-EE04-3EF98092E16F}"/>
              </a:ext>
            </a:extLst>
          </p:cNvPr>
          <p:cNvSpPr>
            <a:spLocks noGrp="1"/>
          </p:cNvSpPr>
          <p:nvPr>
            <p:ph type="body" idx="1"/>
          </p:nvPr>
        </p:nvSpPr>
        <p:spPr>
          <a:xfrm>
            <a:off x="831850" y="4715123"/>
            <a:ext cx="10515600" cy="137452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6A10F95-6923-6F86-6DB3-8B27B6BB2F75}"/>
              </a:ext>
            </a:extLst>
          </p:cNvPr>
          <p:cNvSpPr>
            <a:spLocks noGrp="1"/>
          </p:cNvSpPr>
          <p:nvPr>
            <p:ph type="dt" sz="half" idx="10"/>
          </p:nvPr>
        </p:nvSpPr>
        <p:spPr>
          <a:xfrm>
            <a:off x="838200" y="6203423"/>
            <a:ext cx="2743200" cy="365125"/>
          </a:xfrm>
          <a:prstGeom prst="rect">
            <a:avLst/>
          </a:prstGeom>
        </p:spPr>
        <p:txBody>
          <a:bodyPr/>
          <a:lstStyle/>
          <a:p>
            <a:r>
              <a:rPr lang="en-US"/>
              <a:t>ADMIN INTRO PRESENTATION_2 HOUR ENG REV4.0</a:t>
            </a:r>
            <a:endParaRPr lang="en-US" dirty="0"/>
          </a:p>
        </p:txBody>
      </p:sp>
      <p:sp>
        <p:nvSpPr>
          <p:cNvPr id="5" name="Footer Placeholder 4">
            <a:extLst>
              <a:ext uri="{FF2B5EF4-FFF2-40B4-BE49-F238E27FC236}">
                <a16:creationId xmlns:a16="http://schemas.microsoft.com/office/drawing/2014/main" id="{BA984A5B-BAB1-E2B6-D0CD-9CC55AE4BE5A}"/>
              </a:ext>
            </a:extLst>
          </p:cNvPr>
          <p:cNvSpPr>
            <a:spLocks noGrp="1"/>
          </p:cNvSpPr>
          <p:nvPr>
            <p:ph type="ftr" sz="quarter" idx="11"/>
          </p:nvPr>
        </p:nvSpPr>
        <p:spPr/>
        <p:txBody>
          <a:bodyPr/>
          <a:lstStyle/>
          <a:p>
            <a:r>
              <a:rPr lang="en-US"/>
              <a:t>© Lean Horizons Consulting, LLC 2023. All Rights Reserved</a:t>
            </a:r>
            <a:endParaRPr lang="en-US" dirty="0"/>
          </a:p>
        </p:txBody>
      </p:sp>
      <p:sp>
        <p:nvSpPr>
          <p:cNvPr id="6" name="Slide Number Placeholder 5">
            <a:extLst>
              <a:ext uri="{FF2B5EF4-FFF2-40B4-BE49-F238E27FC236}">
                <a16:creationId xmlns:a16="http://schemas.microsoft.com/office/drawing/2014/main" id="{5DF0252A-D6B3-C5D2-39B9-8F581A590479}"/>
              </a:ext>
            </a:extLst>
          </p:cNvPr>
          <p:cNvSpPr>
            <a:spLocks noGrp="1"/>
          </p:cNvSpPr>
          <p:nvPr>
            <p:ph type="sldNum" sz="quarter" idx="12"/>
          </p:nvPr>
        </p:nvSpPr>
        <p:spPr/>
        <p:txBody>
          <a:bodyPr/>
          <a:lstStyle/>
          <a:p>
            <a:fld id="{CC6D4273-7FC1-0947-B9FE-19CB3C0D1FB6}" type="slidenum">
              <a:rPr lang="en-US" smtClean="0"/>
              <a:t>‹#›</a:t>
            </a:fld>
            <a:endParaRPr lang="en-US"/>
          </a:p>
        </p:txBody>
      </p:sp>
    </p:spTree>
    <p:extLst>
      <p:ext uri="{BB962C8B-B14F-4D97-AF65-F5344CB8AC3E}">
        <p14:creationId xmlns:p14="http://schemas.microsoft.com/office/powerpoint/2010/main" val="14287208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A8C054-8592-E116-8DB0-D7814A8CDB6B}"/>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B35C802A-EC64-E4D9-44D3-54E728E3E9B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1EA5B75-CA16-4AC3-A34C-C3C4FF82FD7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6F7D4AF-D681-9AE6-CDE6-C635C74B2D79}"/>
              </a:ext>
            </a:extLst>
          </p:cNvPr>
          <p:cNvSpPr>
            <a:spLocks noGrp="1"/>
          </p:cNvSpPr>
          <p:nvPr>
            <p:ph type="dt" sz="half" idx="10"/>
          </p:nvPr>
        </p:nvSpPr>
        <p:spPr>
          <a:xfrm>
            <a:off x="838200" y="6203423"/>
            <a:ext cx="2743200" cy="365125"/>
          </a:xfrm>
          <a:prstGeom prst="rect">
            <a:avLst/>
          </a:prstGeom>
        </p:spPr>
        <p:txBody>
          <a:bodyPr/>
          <a:lstStyle/>
          <a:p>
            <a:r>
              <a:rPr lang="en-US"/>
              <a:t>ADMIN INTRO PRESENTATION_2 HOUR ENG REV4.0</a:t>
            </a:r>
            <a:endParaRPr lang="en-US" dirty="0"/>
          </a:p>
        </p:txBody>
      </p:sp>
      <p:sp>
        <p:nvSpPr>
          <p:cNvPr id="6" name="Footer Placeholder 5">
            <a:extLst>
              <a:ext uri="{FF2B5EF4-FFF2-40B4-BE49-F238E27FC236}">
                <a16:creationId xmlns:a16="http://schemas.microsoft.com/office/drawing/2014/main" id="{03EE89AE-FB7D-E45D-2D78-CB19FE5E7985}"/>
              </a:ext>
            </a:extLst>
          </p:cNvPr>
          <p:cNvSpPr>
            <a:spLocks noGrp="1"/>
          </p:cNvSpPr>
          <p:nvPr>
            <p:ph type="ftr" sz="quarter" idx="11"/>
          </p:nvPr>
        </p:nvSpPr>
        <p:spPr/>
        <p:txBody>
          <a:bodyPr/>
          <a:lstStyle/>
          <a:p>
            <a:r>
              <a:rPr lang="en-US"/>
              <a:t>© Lean Horizons Consulting, LLC 2023. All Rights Reserved</a:t>
            </a:r>
            <a:endParaRPr lang="en-US" dirty="0"/>
          </a:p>
        </p:txBody>
      </p:sp>
      <p:sp>
        <p:nvSpPr>
          <p:cNvPr id="7" name="Slide Number Placeholder 6">
            <a:extLst>
              <a:ext uri="{FF2B5EF4-FFF2-40B4-BE49-F238E27FC236}">
                <a16:creationId xmlns:a16="http://schemas.microsoft.com/office/drawing/2014/main" id="{84E244BA-92CD-53BA-52F7-BBD4B18AD02A}"/>
              </a:ext>
            </a:extLst>
          </p:cNvPr>
          <p:cNvSpPr>
            <a:spLocks noGrp="1"/>
          </p:cNvSpPr>
          <p:nvPr>
            <p:ph type="sldNum" sz="quarter" idx="12"/>
          </p:nvPr>
        </p:nvSpPr>
        <p:spPr/>
        <p:txBody>
          <a:bodyPr/>
          <a:lstStyle/>
          <a:p>
            <a:fld id="{CC6D4273-7FC1-0947-B9FE-19CB3C0D1FB6}" type="slidenum">
              <a:rPr lang="en-US" smtClean="0"/>
              <a:t>‹#›</a:t>
            </a:fld>
            <a:endParaRPr lang="en-US"/>
          </a:p>
        </p:txBody>
      </p:sp>
      <p:cxnSp>
        <p:nvCxnSpPr>
          <p:cNvPr id="9" name="Straight Connector 8">
            <a:extLst>
              <a:ext uri="{FF2B5EF4-FFF2-40B4-BE49-F238E27FC236}">
                <a16:creationId xmlns:a16="http://schemas.microsoft.com/office/drawing/2014/main" id="{23186D81-5D29-FE58-C442-6A6A0689DB5B}"/>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0594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62F87-A7AE-9269-55EC-7B1C8A4D2FA0}"/>
              </a:ext>
            </a:extLst>
          </p:cNvPr>
          <p:cNvSpPr>
            <a:spLocks noGrp="1"/>
          </p:cNvSpPr>
          <p:nvPr>
            <p:ph type="title"/>
          </p:nvPr>
        </p:nvSpPr>
        <p:spPr>
          <a:xfrm>
            <a:off x="839788" y="668337"/>
            <a:ext cx="10515600" cy="1022351"/>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23727D69-EB01-A889-0CC3-A64B4F7DAB1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1F1EC85-625B-CEAA-F97D-EF024B15F27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3D5D1D7-7D1D-2F5D-8D5E-152CC8269A9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9D830EE-92A6-15ED-D99F-35788F37AD9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8EE6E3A-DA48-CFA4-3D7E-645048521969}"/>
              </a:ext>
            </a:extLst>
          </p:cNvPr>
          <p:cNvSpPr>
            <a:spLocks noGrp="1"/>
          </p:cNvSpPr>
          <p:nvPr>
            <p:ph type="dt" sz="half" idx="10"/>
          </p:nvPr>
        </p:nvSpPr>
        <p:spPr>
          <a:xfrm>
            <a:off x="838200" y="6203423"/>
            <a:ext cx="2743200" cy="365125"/>
          </a:xfrm>
          <a:prstGeom prst="rect">
            <a:avLst/>
          </a:prstGeom>
        </p:spPr>
        <p:txBody>
          <a:bodyPr/>
          <a:lstStyle/>
          <a:p>
            <a:r>
              <a:rPr lang="en-US"/>
              <a:t>ADMIN INTRO PRESENTATION_2 HOUR ENG REV4.0</a:t>
            </a:r>
            <a:endParaRPr lang="en-US" dirty="0"/>
          </a:p>
        </p:txBody>
      </p:sp>
      <p:sp>
        <p:nvSpPr>
          <p:cNvPr id="8" name="Footer Placeholder 7">
            <a:extLst>
              <a:ext uri="{FF2B5EF4-FFF2-40B4-BE49-F238E27FC236}">
                <a16:creationId xmlns:a16="http://schemas.microsoft.com/office/drawing/2014/main" id="{DFBDB157-0ED0-D086-85D0-FD18E6BF05F7}"/>
              </a:ext>
            </a:extLst>
          </p:cNvPr>
          <p:cNvSpPr>
            <a:spLocks noGrp="1"/>
          </p:cNvSpPr>
          <p:nvPr>
            <p:ph type="ftr" sz="quarter" idx="11"/>
          </p:nvPr>
        </p:nvSpPr>
        <p:spPr/>
        <p:txBody>
          <a:bodyPr/>
          <a:lstStyle/>
          <a:p>
            <a:r>
              <a:rPr lang="en-US"/>
              <a:t>© Lean Horizons Consulting, LLC 2023. All Rights Reserved</a:t>
            </a:r>
            <a:endParaRPr lang="en-US" dirty="0"/>
          </a:p>
        </p:txBody>
      </p:sp>
      <p:sp>
        <p:nvSpPr>
          <p:cNvPr id="9" name="Slide Number Placeholder 8">
            <a:extLst>
              <a:ext uri="{FF2B5EF4-FFF2-40B4-BE49-F238E27FC236}">
                <a16:creationId xmlns:a16="http://schemas.microsoft.com/office/drawing/2014/main" id="{5E6905DB-F816-87A8-892D-CE139D03D9A2}"/>
              </a:ext>
            </a:extLst>
          </p:cNvPr>
          <p:cNvSpPr>
            <a:spLocks noGrp="1"/>
          </p:cNvSpPr>
          <p:nvPr>
            <p:ph type="sldNum" sz="quarter" idx="12"/>
          </p:nvPr>
        </p:nvSpPr>
        <p:spPr/>
        <p:txBody>
          <a:bodyPr/>
          <a:lstStyle/>
          <a:p>
            <a:fld id="{CC6D4273-7FC1-0947-B9FE-19CB3C0D1FB6}" type="slidenum">
              <a:rPr lang="en-US" smtClean="0"/>
              <a:t>‹#›</a:t>
            </a:fld>
            <a:endParaRPr lang="en-US"/>
          </a:p>
        </p:txBody>
      </p:sp>
      <p:cxnSp>
        <p:nvCxnSpPr>
          <p:cNvPr id="10" name="Straight Connector 9">
            <a:extLst>
              <a:ext uri="{FF2B5EF4-FFF2-40B4-BE49-F238E27FC236}">
                <a16:creationId xmlns:a16="http://schemas.microsoft.com/office/drawing/2014/main" id="{74CBFE9C-CE1B-ED6E-1745-391F9496BE1D}"/>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035150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D9D87-BBC7-C5DC-191E-E5E1CA2BC2BE}"/>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449A1AFE-69C1-AC25-7298-9EDDDD59C09B}"/>
              </a:ext>
            </a:extLst>
          </p:cNvPr>
          <p:cNvSpPr>
            <a:spLocks noGrp="1"/>
          </p:cNvSpPr>
          <p:nvPr>
            <p:ph type="dt" sz="half" idx="10"/>
          </p:nvPr>
        </p:nvSpPr>
        <p:spPr>
          <a:xfrm>
            <a:off x="838200" y="6203423"/>
            <a:ext cx="2743200" cy="365125"/>
          </a:xfrm>
          <a:prstGeom prst="rect">
            <a:avLst/>
          </a:prstGeom>
        </p:spPr>
        <p:txBody>
          <a:bodyPr/>
          <a:lstStyle/>
          <a:p>
            <a:r>
              <a:rPr lang="en-US"/>
              <a:t>ADMIN INTRO PRESENTATION_2 HOUR ENG REV4.0</a:t>
            </a:r>
            <a:endParaRPr lang="en-US" dirty="0"/>
          </a:p>
        </p:txBody>
      </p:sp>
      <p:sp>
        <p:nvSpPr>
          <p:cNvPr id="4" name="Footer Placeholder 3">
            <a:extLst>
              <a:ext uri="{FF2B5EF4-FFF2-40B4-BE49-F238E27FC236}">
                <a16:creationId xmlns:a16="http://schemas.microsoft.com/office/drawing/2014/main" id="{49D82A40-09A0-281B-895A-7C4BA7B18025}"/>
              </a:ext>
            </a:extLst>
          </p:cNvPr>
          <p:cNvSpPr>
            <a:spLocks noGrp="1"/>
          </p:cNvSpPr>
          <p:nvPr>
            <p:ph type="ftr" sz="quarter" idx="11"/>
          </p:nvPr>
        </p:nvSpPr>
        <p:spPr/>
        <p:txBody>
          <a:bodyPr/>
          <a:lstStyle/>
          <a:p>
            <a:r>
              <a:rPr lang="en-US"/>
              <a:t>© Lean Horizons Consulting, LLC 2023. All Rights Reserved</a:t>
            </a:r>
            <a:endParaRPr lang="en-US" dirty="0"/>
          </a:p>
        </p:txBody>
      </p:sp>
      <p:sp>
        <p:nvSpPr>
          <p:cNvPr id="5" name="Slide Number Placeholder 4">
            <a:extLst>
              <a:ext uri="{FF2B5EF4-FFF2-40B4-BE49-F238E27FC236}">
                <a16:creationId xmlns:a16="http://schemas.microsoft.com/office/drawing/2014/main" id="{886D8C61-7155-9BDA-7051-F36EDD2B29FB}"/>
              </a:ext>
            </a:extLst>
          </p:cNvPr>
          <p:cNvSpPr>
            <a:spLocks noGrp="1"/>
          </p:cNvSpPr>
          <p:nvPr>
            <p:ph type="sldNum" sz="quarter" idx="12"/>
          </p:nvPr>
        </p:nvSpPr>
        <p:spPr/>
        <p:txBody>
          <a:bodyPr/>
          <a:lstStyle/>
          <a:p>
            <a:fld id="{CC6D4273-7FC1-0947-B9FE-19CB3C0D1FB6}" type="slidenum">
              <a:rPr lang="en-US" smtClean="0"/>
              <a:t>‹#›</a:t>
            </a:fld>
            <a:endParaRPr lang="en-US"/>
          </a:p>
        </p:txBody>
      </p:sp>
      <p:cxnSp>
        <p:nvCxnSpPr>
          <p:cNvPr id="6" name="Straight Connector 5">
            <a:extLst>
              <a:ext uri="{FF2B5EF4-FFF2-40B4-BE49-F238E27FC236}">
                <a16:creationId xmlns:a16="http://schemas.microsoft.com/office/drawing/2014/main" id="{7E55C65A-BA96-51C7-B6FE-07AB4FB9C96C}"/>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153027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FFE3706-6AC7-63F6-F1E8-0E7E0D688EDD}"/>
              </a:ext>
            </a:extLst>
          </p:cNvPr>
          <p:cNvSpPr>
            <a:spLocks noGrp="1"/>
          </p:cNvSpPr>
          <p:nvPr>
            <p:ph type="dt" sz="half" idx="10"/>
          </p:nvPr>
        </p:nvSpPr>
        <p:spPr>
          <a:xfrm>
            <a:off x="838200" y="6203423"/>
            <a:ext cx="2743200" cy="365125"/>
          </a:xfrm>
          <a:prstGeom prst="rect">
            <a:avLst/>
          </a:prstGeom>
        </p:spPr>
        <p:txBody>
          <a:bodyPr/>
          <a:lstStyle/>
          <a:p>
            <a:r>
              <a:rPr lang="en-US"/>
              <a:t>ADMIN INTRO PRESENTATION_2 HOUR ENG REV4.0</a:t>
            </a:r>
            <a:endParaRPr lang="en-US" dirty="0"/>
          </a:p>
        </p:txBody>
      </p:sp>
      <p:sp>
        <p:nvSpPr>
          <p:cNvPr id="3" name="Footer Placeholder 2">
            <a:extLst>
              <a:ext uri="{FF2B5EF4-FFF2-40B4-BE49-F238E27FC236}">
                <a16:creationId xmlns:a16="http://schemas.microsoft.com/office/drawing/2014/main" id="{27548B48-C490-1860-8A88-4C5120E48F7B}"/>
              </a:ext>
            </a:extLst>
          </p:cNvPr>
          <p:cNvSpPr>
            <a:spLocks noGrp="1"/>
          </p:cNvSpPr>
          <p:nvPr>
            <p:ph type="ftr" sz="quarter" idx="11"/>
          </p:nvPr>
        </p:nvSpPr>
        <p:spPr/>
        <p:txBody>
          <a:bodyPr/>
          <a:lstStyle/>
          <a:p>
            <a:r>
              <a:rPr lang="en-US"/>
              <a:t>© Lean Horizons Consulting, LLC 2023. All Rights Reserved</a:t>
            </a:r>
            <a:endParaRPr lang="en-US" dirty="0"/>
          </a:p>
        </p:txBody>
      </p:sp>
      <p:sp>
        <p:nvSpPr>
          <p:cNvPr id="4" name="Slide Number Placeholder 3">
            <a:extLst>
              <a:ext uri="{FF2B5EF4-FFF2-40B4-BE49-F238E27FC236}">
                <a16:creationId xmlns:a16="http://schemas.microsoft.com/office/drawing/2014/main" id="{3DCE7AC8-0B24-F5A4-6030-2D90FFC23100}"/>
              </a:ext>
            </a:extLst>
          </p:cNvPr>
          <p:cNvSpPr>
            <a:spLocks noGrp="1"/>
          </p:cNvSpPr>
          <p:nvPr>
            <p:ph type="sldNum" sz="quarter" idx="12"/>
          </p:nvPr>
        </p:nvSpPr>
        <p:spPr/>
        <p:txBody>
          <a:bodyPr/>
          <a:lstStyle/>
          <a:p>
            <a:fld id="{CC6D4273-7FC1-0947-B9FE-19CB3C0D1FB6}" type="slidenum">
              <a:rPr lang="en-US" smtClean="0"/>
              <a:t>‹#›</a:t>
            </a:fld>
            <a:endParaRPr lang="en-US"/>
          </a:p>
        </p:txBody>
      </p:sp>
    </p:spTree>
    <p:extLst>
      <p:ext uri="{BB962C8B-B14F-4D97-AF65-F5344CB8AC3E}">
        <p14:creationId xmlns:p14="http://schemas.microsoft.com/office/powerpoint/2010/main" val="20677971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55009C-FECA-9E9B-9F45-5710762AEB4B}"/>
              </a:ext>
            </a:extLst>
          </p:cNvPr>
          <p:cNvSpPr>
            <a:spLocks noGrp="1"/>
          </p:cNvSpPr>
          <p:nvPr>
            <p:ph type="title"/>
          </p:nvPr>
        </p:nvSpPr>
        <p:spPr>
          <a:xfrm>
            <a:off x="839788" y="457200"/>
            <a:ext cx="3932237" cy="1465029"/>
          </a:xfrm>
        </p:spPr>
        <p:txBody>
          <a:bodyPr anchor="b"/>
          <a:lstStyle>
            <a:lvl1pPr>
              <a:defRPr sz="3200"/>
            </a:lvl1pPr>
          </a:lstStyle>
          <a:p>
            <a:r>
              <a:rPr lang="en-US" dirty="0"/>
              <a:t>Click to edit Master title style</a:t>
            </a:r>
          </a:p>
        </p:txBody>
      </p:sp>
      <p:sp>
        <p:nvSpPr>
          <p:cNvPr id="3" name="Content Placeholder 2">
            <a:extLst>
              <a:ext uri="{FF2B5EF4-FFF2-40B4-BE49-F238E27FC236}">
                <a16:creationId xmlns:a16="http://schemas.microsoft.com/office/drawing/2014/main" id="{925B4662-A656-519F-E5DC-FEF8051A04B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C555F82-CA62-EC30-181A-37223E01FDD3}"/>
              </a:ext>
            </a:extLst>
          </p:cNvPr>
          <p:cNvSpPr>
            <a:spLocks noGrp="1"/>
          </p:cNvSpPr>
          <p:nvPr>
            <p:ph type="body" sz="half" idx="2"/>
          </p:nvPr>
        </p:nvSpPr>
        <p:spPr>
          <a:xfrm>
            <a:off x="839788" y="2146852"/>
            <a:ext cx="3932237" cy="372213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145F99E2-C24D-FE99-362C-0462256753C6}"/>
              </a:ext>
            </a:extLst>
          </p:cNvPr>
          <p:cNvSpPr>
            <a:spLocks noGrp="1"/>
          </p:cNvSpPr>
          <p:nvPr>
            <p:ph type="dt" sz="half" idx="10"/>
          </p:nvPr>
        </p:nvSpPr>
        <p:spPr>
          <a:xfrm>
            <a:off x="838200" y="6203423"/>
            <a:ext cx="2743200" cy="365125"/>
          </a:xfrm>
          <a:prstGeom prst="rect">
            <a:avLst/>
          </a:prstGeom>
        </p:spPr>
        <p:txBody>
          <a:bodyPr/>
          <a:lstStyle/>
          <a:p>
            <a:r>
              <a:rPr lang="en-US"/>
              <a:t>ADMIN INTRO PRESENTATION_2 HOUR ENG REV4.0</a:t>
            </a:r>
            <a:endParaRPr lang="en-US" dirty="0"/>
          </a:p>
        </p:txBody>
      </p:sp>
      <p:sp>
        <p:nvSpPr>
          <p:cNvPr id="6" name="Footer Placeholder 5">
            <a:extLst>
              <a:ext uri="{FF2B5EF4-FFF2-40B4-BE49-F238E27FC236}">
                <a16:creationId xmlns:a16="http://schemas.microsoft.com/office/drawing/2014/main" id="{89A7F841-A65F-A6E8-6EE6-C3E63DF63EFE}"/>
              </a:ext>
            </a:extLst>
          </p:cNvPr>
          <p:cNvSpPr>
            <a:spLocks noGrp="1"/>
          </p:cNvSpPr>
          <p:nvPr>
            <p:ph type="ftr" sz="quarter" idx="11"/>
          </p:nvPr>
        </p:nvSpPr>
        <p:spPr/>
        <p:txBody>
          <a:bodyPr/>
          <a:lstStyle/>
          <a:p>
            <a:r>
              <a:rPr lang="en-US"/>
              <a:t>© Lean Horizons Consulting, LLC 2023. All Rights Reserved</a:t>
            </a:r>
            <a:endParaRPr lang="en-US" dirty="0"/>
          </a:p>
        </p:txBody>
      </p:sp>
      <p:sp>
        <p:nvSpPr>
          <p:cNvPr id="7" name="Slide Number Placeholder 6">
            <a:extLst>
              <a:ext uri="{FF2B5EF4-FFF2-40B4-BE49-F238E27FC236}">
                <a16:creationId xmlns:a16="http://schemas.microsoft.com/office/drawing/2014/main" id="{F6258CD4-264C-5365-7905-A79F5537FC69}"/>
              </a:ext>
            </a:extLst>
          </p:cNvPr>
          <p:cNvSpPr>
            <a:spLocks noGrp="1"/>
          </p:cNvSpPr>
          <p:nvPr>
            <p:ph type="sldNum" sz="quarter" idx="12"/>
          </p:nvPr>
        </p:nvSpPr>
        <p:spPr/>
        <p:txBody>
          <a:bodyPr/>
          <a:lstStyle/>
          <a:p>
            <a:fld id="{CC6D4273-7FC1-0947-B9FE-19CB3C0D1FB6}" type="slidenum">
              <a:rPr lang="en-US" smtClean="0"/>
              <a:t>‹#›</a:t>
            </a:fld>
            <a:endParaRPr lang="en-US"/>
          </a:p>
        </p:txBody>
      </p:sp>
      <p:cxnSp>
        <p:nvCxnSpPr>
          <p:cNvPr id="8" name="Straight Connector 7">
            <a:extLst>
              <a:ext uri="{FF2B5EF4-FFF2-40B4-BE49-F238E27FC236}">
                <a16:creationId xmlns:a16="http://schemas.microsoft.com/office/drawing/2014/main" id="{EB026B9A-5C7E-C150-5C07-A68A167F0F67}"/>
              </a:ext>
            </a:extLst>
          </p:cNvPr>
          <p:cNvCxnSpPr>
            <a:cxnSpLocks/>
          </p:cNvCxnSpPr>
          <p:nvPr userDrawn="1"/>
        </p:nvCxnSpPr>
        <p:spPr>
          <a:xfrm>
            <a:off x="838200" y="1922229"/>
            <a:ext cx="3933825"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792259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C35D53-C186-1B2C-FD72-2AC470B82098}"/>
              </a:ext>
            </a:extLst>
          </p:cNvPr>
          <p:cNvSpPr>
            <a:spLocks noGrp="1"/>
          </p:cNvSpPr>
          <p:nvPr>
            <p:ph type="title"/>
          </p:nvPr>
        </p:nvSpPr>
        <p:spPr>
          <a:xfrm>
            <a:off x="839788" y="457200"/>
            <a:ext cx="3932237" cy="1463045"/>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8C7372F6-C6B1-D2F4-8DED-EF3C3DBEAA4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566E1FE-9DAE-4781-C70A-CF8F68AAFDD6}"/>
              </a:ext>
            </a:extLst>
          </p:cNvPr>
          <p:cNvSpPr>
            <a:spLocks noGrp="1"/>
          </p:cNvSpPr>
          <p:nvPr>
            <p:ph type="body" sz="half" idx="2"/>
          </p:nvPr>
        </p:nvSpPr>
        <p:spPr>
          <a:xfrm>
            <a:off x="839788" y="2148836"/>
            <a:ext cx="3932237" cy="372015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3CE63F64-6D3B-B64F-6BF1-40558F86F785}"/>
              </a:ext>
            </a:extLst>
          </p:cNvPr>
          <p:cNvSpPr>
            <a:spLocks noGrp="1"/>
          </p:cNvSpPr>
          <p:nvPr>
            <p:ph type="dt" sz="half" idx="10"/>
          </p:nvPr>
        </p:nvSpPr>
        <p:spPr>
          <a:xfrm>
            <a:off x="838200" y="6203423"/>
            <a:ext cx="2743200" cy="365125"/>
          </a:xfrm>
          <a:prstGeom prst="rect">
            <a:avLst/>
          </a:prstGeom>
        </p:spPr>
        <p:txBody>
          <a:bodyPr/>
          <a:lstStyle/>
          <a:p>
            <a:r>
              <a:rPr lang="en-US"/>
              <a:t>ADMIN INTRO PRESENTATION_2 HOUR ENG REV4.0</a:t>
            </a:r>
            <a:endParaRPr lang="en-US" dirty="0"/>
          </a:p>
        </p:txBody>
      </p:sp>
      <p:sp>
        <p:nvSpPr>
          <p:cNvPr id="6" name="Footer Placeholder 5">
            <a:extLst>
              <a:ext uri="{FF2B5EF4-FFF2-40B4-BE49-F238E27FC236}">
                <a16:creationId xmlns:a16="http://schemas.microsoft.com/office/drawing/2014/main" id="{E5B05D0F-49B9-1631-A0A4-DA81A4136287}"/>
              </a:ext>
            </a:extLst>
          </p:cNvPr>
          <p:cNvSpPr>
            <a:spLocks noGrp="1"/>
          </p:cNvSpPr>
          <p:nvPr>
            <p:ph type="ftr" sz="quarter" idx="11"/>
          </p:nvPr>
        </p:nvSpPr>
        <p:spPr/>
        <p:txBody>
          <a:bodyPr/>
          <a:lstStyle/>
          <a:p>
            <a:r>
              <a:rPr lang="en-US"/>
              <a:t>© Lean Horizons Consulting, LLC 2023. All Rights Reserved</a:t>
            </a:r>
            <a:endParaRPr lang="en-US" dirty="0"/>
          </a:p>
        </p:txBody>
      </p:sp>
      <p:sp>
        <p:nvSpPr>
          <p:cNvPr id="7" name="Slide Number Placeholder 6">
            <a:extLst>
              <a:ext uri="{FF2B5EF4-FFF2-40B4-BE49-F238E27FC236}">
                <a16:creationId xmlns:a16="http://schemas.microsoft.com/office/drawing/2014/main" id="{DB6BE1D2-BB2D-D13B-8D29-A0BAC8F76FB7}"/>
              </a:ext>
            </a:extLst>
          </p:cNvPr>
          <p:cNvSpPr>
            <a:spLocks noGrp="1"/>
          </p:cNvSpPr>
          <p:nvPr>
            <p:ph type="sldNum" sz="quarter" idx="12"/>
          </p:nvPr>
        </p:nvSpPr>
        <p:spPr/>
        <p:txBody>
          <a:bodyPr/>
          <a:lstStyle/>
          <a:p>
            <a:fld id="{CC6D4273-7FC1-0947-B9FE-19CB3C0D1FB6}" type="slidenum">
              <a:rPr lang="en-US" smtClean="0"/>
              <a:t>‹#›</a:t>
            </a:fld>
            <a:endParaRPr lang="en-US"/>
          </a:p>
        </p:txBody>
      </p:sp>
      <p:cxnSp>
        <p:nvCxnSpPr>
          <p:cNvPr id="8" name="Straight Connector 7">
            <a:extLst>
              <a:ext uri="{FF2B5EF4-FFF2-40B4-BE49-F238E27FC236}">
                <a16:creationId xmlns:a16="http://schemas.microsoft.com/office/drawing/2014/main" id="{6BBD52B6-C25E-E933-F2B7-D40B2BFDF83D}"/>
              </a:ext>
            </a:extLst>
          </p:cNvPr>
          <p:cNvCxnSpPr>
            <a:cxnSpLocks/>
          </p:cNvCxnSpPr>
          <p:nvPr userDrawn="1"/>
        </p:nvCxnSpPr>
        <p:spPr>
          <a:xfrm>
            <a:off x="838200" y="1920245"/>
            <a:ext cx="3933825"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801948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F5CEA-F0B2-6EAB-4435-59D188AF388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32B515F-CCC6-5F3D-26FA-AF419F9D87C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77759D1-AA1C-3E3D-41B9-09BBFFD03C61}"/>
              </a:ext>
            </a:extLst>
          </p:cNvPr>
          <p:cNvSpPr>
            <a:spLocks noGrp="1"/>
          </p:cNvSpPr>
          <p:nvPr>
            <p:ph type="dt" sz="half" idx="10"/>
          </p:nvPr>
        </p:nvSpPr>
        <p:spPr>
          <a:xfrm>
            <a:off x="838200" y="6203423"/>
            <a:ext cx="2743200" cy="365125"/>
          </a:xfrm>
          <a:prstGeom prst="rect">
            <a:avLst/>
          </a:prstGeom>
        </p:spPr>
        <p:txBody>
          <a:bodyPr/>
          <a:lstStyle/>
          <a:p>
            <a:r>
              <a:rPr lang="en-US"/>
              <a:t>ADMIN INTRO PRESENTATION_2 HOUR ENG REV4.0</a:t>
            </a:r>
            <a:endParaRPr lang="en-US" dirty="0"/>
          </a:p>
        </p:txBody>
      </p:sp>
      <p:sp>
        <p:nvSpPr>
          <p:cNvPr id="5" name="Footer Placeholder 4">
            <a:extLst>
              <a:ext uri="{FF2B5EF4-FFF2-40B4-BE49-F238E27FC236}">
                <a16:creationId xmlns:a16="http://schemas.microsoft.com/office/drawing/2014/main" id="{317C86C7-C15C-5C6D-6665-CCE62ED66853}"/>
              </a:ext>
            </a:extLst>
          </p:cNvPr>
          <p:cNvSpPr>
            <a:spLocks noGrp="1"/>
          </p:cNvSpPr>
          <p:nvPr>
            <p:ph type="ftr" sz="quarter" idx="11"/>
          </p:nvPr>
        </p:nvSpPr>
        <p:spPr/>
        <p:txBody>
          <a:bodyPr/>
          <a:lstStyle/>
          <a:p>
            <a:r>
              <a:rPr lang="en-US"/>
              <a:t>© Lean Horizons Consulting, LLC 2023. All Rights Reserved</a:t>
            </a:r>
            <a:endParaRPr lang="en-US" dirty="0"/>
          </a:p>
        </p:txBody>
      </p:sp>
      <p:sp>
        <p:nvSpPr>
          <p:cNvPr id="6" name="Slide Number Placeholder 5">
            <a:extLst>
              <a:ext uri="{FF2B5EF4-FFF2-40B4-BE49-F238E27FC236}">
                <a16:creationId xmlns:a16="http://schemas.microsoft.com/office/drawing/2014/main" id="{29981EE2-027A-B340-D7DC-8816FC379C37}"/>
              </a:ext>
            </a:extLst>
          </p:cNvPr>
          <p:cNvSpPr>
            <a:spLocks noGrp="1"/>
          </p:cNvSpPr>
          <p:nvPr>
            <p:ph type="sldNum" sz="quarter" idx="12"/>
          </p:nvPr>
        </p:nvSpPr>
        <p:spPr/>
        <p:txBody>
          <a:bodyPr/>
          <a:lstStyle/>
          <a:p>
            <a:fld id="{CC6D4273-7FC1-0947-B9FE-19CB3C0D1FB6}" type="slidenum">
              <a:rPr lang="en-US" smtClean="0"/>
              <a:t>‹#›</a:t>
            </a:fld>
            <a:endParaRPr lang="en-US"/>
          </a:p>
        </p:txBody>
      </p:sp>
      <p:cxnSp>
        <p:nvCxnSpPr>
          <p:cNvPr id="7" name="Straight Connector 6">
            <a:extLst>
              <a:ext uri="{FF2B5EF4-FFF2-40B4-BE49-F238E27FC236}">
                <a16:creationId xmlns:a16="http://schemas.microsoft.com/office/drawing/2014/main" id="{E155FD7A-35A4-E3BB-30E7-93993A9F2FCF}"/>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228601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6EEA24E-3139-367F-63CD-6BE14639C42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2D504B8-9AC5-F3B2-2873-A2C23446016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60016E3-2DF0-D61A-20AD-13F7ACE79465}"/>
              </a:ext>
            </a:extLst>
          </p:cNvPr>
          <p:cNvSpPr>
            <a:spLocks noGrp="1"/>
          </p:cNvSpPr>
          <p:nvPr>
            <p:ph type="dt" sz="half" idx="10"/>
          </p:nvPr>
        </p:nvSpPr>
        <p:spPr>
          <a:xfrm>
            <a:off x="838200" y="6203423"/>
            <a:ext cx="2743200" cy="365125"/>
          </a:xfrm>
          <a:prstGeom prst="rect">
            <a:avLst/>
          </a:prstGeom>
        </p:spPr>
        <p:txBody>
          <a:bodyPr/>
          <a:lstStyle/>
          <a:p>
            <a:r>
              <a:rPr lang="en-US"/>
              <a:t>ADMIN INTRO PRESENTATION_2 HOUR ENG REV4.0</a:t>
            </a:r>
            <a:endParaRPr lang="en-US" dirty="0"/>
          </a:p>
        </p:txBody>
      </p:sp>
      <p:sp>
        <p:nvSpPr>
          <p:cNvPr id="5" name="Footer Placeholder 4">
            <a:extLst>
              <a:ext uri="{FF2B5EF4-FFF2-40B4-BE49-F238E27FC236}">
                <a16:creationId xmlns:a16="http://schemas.microsoft.com/office/drawing/2014/main" id="{F23248DE-BC9F-A0D6-339E-4A8EDC889021}"/>
              </a:ext>
            </a:extLst>
          </p:cNvPr>
          <p:cNvSpPr>
            <a:spLocks noGrp="1"/>
          </p:cNvSpPr>
          <p:nvPr>
            <p:ph type="ftr" sz="quarter" idx="11"/>
          </p:nvPr>
        </p:nvSpPr>
        <p:spPr/>
        <p:txBody>
          <a:bodyPr/>
          <a:lstStyle/>
          <a:p>
            <a:r>
              <a:rPr lang="en-US"/>
              <a:t>© Lean Horizons Consulting, LLC 2023. All Rights Reserved</a:t>
            </a:r>
            <a:endParaRPr lang="en-US" dirty="0"/>
          </a:p>
        </p:txBody>
      </p:sp>
      <p:sp>
        <p:nvSpPr>
          <p:cNvPr id="6" name="Slide Number Placeholder 5">
            <a:extLst>
              <a:ext uri="{FF2B5EF4-FFF2-40B4-BE49-F238E27FC236}">
                <a16:creationId xmlns:a16="http://schemas.microsoft.com/office/drawing/2014/main" id="{EB6C0887-9F6F-A7EB-8CE2-C201AC86B8D6}"/>
              </a:ext>
            </a:extLst>
          </p:cNvPr>
          <p:cNvSpPr>
            <a:spLocks noGrp="1"/>
          </p:cNvSpPr>
          <p:nvPr>
            <p:ph type="sldNum" sz="quarter" idx="12"/>
          </p:nvPr>
        </p:nvSpPr>
        <p:spPr/>
        <p:txBody>
          <a:bodyPr/>
          <a:lstStyle/>
          <a:p>
            <a:fld id="{CC6D4273-7FC1-0947-B9FE-19CB3C0D1FB6}" type="slidenum">
              <a:rPr lang="en-US" smtClean="0"/>
              <a:t>‹#›</a:t>
            </a:fld>
            <a:endParaRPr lang="en-US"/>
          </a:p>
        </p:txBody>
      </p:sp>
    </p:spTree>
    <p:extLst>
      <p:ext uri="{BB962C8B-B14F-4D97-AF65-F5344CB8AC3E}">
        <p14:creationId xmlns:p14="http://schemas.microsoft.com/office/powerpoint/2010/main" val="297328992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D582F6BE-E76F-A3D4-1EC4-43C57BAE20CA}"/>
              </a:ext>
            </a:extLst>
          </p:cNvPr>
          <p:cNvPicPr>
            <a:picLocks noChangeAspect="1"/>
          </p:cNvPicPr>
          <p:nvPr userDrawn="1"/>
        </p:nvPicPr>
        <p:blipFill>
          <a:blip r:embed="rId2"/>
          <a:srcRect/>
          <a:stretch/>
        </p:blipFill>
        <p:spPr>
          <a:xfrm>
            <a:off x="-50006" y="0"/>
            <a:ext cx="12330906" cy="6908006"/>
          </a:xfrm>
          <a:prstGeom prst="rect">
            <a:avLst/>
          </a:prstGeom>
        </p:spPr>
      </p:pic>
      <p:sp>
        <p:nvSpPr>
          <p:cNvPr id="3" name="Date Placeholder 2">
            <a:extLst>
              <a:ext uri="{FF2B5EF4-FFF2-40B4-BE49-F238E27FC236}">
                <a16:creationId xmlns:a16="http://schemas.microsoft.com/office/drawing/2014/main" id="{0F6632C7-24FA-80B1-73E9-5FA4B7E6FDDC}"/>
              </a:ext>
            </a:extLst>
          </p:cNvPr>
          <p:cNvSpPr>
            <a:spLocks noGrp="1"/>
          </p:cNvSpPr>
          <p:nvPr>
            <p:ph type="dt" sz="half" idx="10"/>
          </p:nvPr>
        </p:nvSpPr>
        <p:spPr/>
        <p:txBody>
          <a:bodyPr/>
          <a:lstStyle/>
          <a:p>
            <a:r>
              <a:rPr lang="en-US"/>
              <a:t>ADMIN INTRO PRESENTATION_2 HOUR ENG REV4.0</a:t>
            </a:r>
          </a:p>
        </p:txBody>
      </p:sp>
      <p:sp>
        <p:nvSpPr>
          <p:cNvPr id="4" name="Footer Placeholder 3">
            <a:extLst>
              <a:ext uri="{FF2B5EF4-FFF2-40B4-BE49-F238E27FC236}">
                <a16:creationId xmlns:a16="http://schemas.microsoft.com/office/drawing/2014/main" id="{35F5A2D9-AC06-FF12-6355-C48FA499A0B3}"/>
              </a:ext>
            </a:extLst>
          </p:cNvPr>
          <p:cNvSpPr>
            <a:spLocks noGrp="1"/>
          </p:cNvSpPr>
          <p:nvPr>
            <p:ph type="ftr" sz="quarter" idx="11"/>
          </p:nvPr>
        </p:nvSpPr>
        <p:spPr/>
        <p:txBody>
          <a:bodyPr/>
          <a:lstStyle/>
          <a:p>
            <a:r>
              <a:rPr lang="en-US"/>
              <a:t>© Lean Horizons Consulting, LLC 2023. All Rights Reserved</a:t>
            </a:r>
          </a:p>
        </p:txBody>
      </p:sp>
      <p:sp>
        <p:nvSpPr>
          <p:cNvPr id="5" name="Slide Number Placeholder 4">
            <a:extLst>
              <a:ext uri="{FF2B5EF4-FFF2-40B4-BE49-F238E27FC236}">
                <a16:creationId xmlns:a16="http://schemas.microsoft.com/office/drawing/2014/main" id="{CE665616-5CDC-80BA-E0E4-D0753230454A}"/>
              </a:ext>
            </a:extLst>
          </p:cNvPr>
          <p:cNvSpPr>
            <a:spLocks noGrp="1"/>
          </p:cNvSpPr>
          <p:nvPr>
            <p:ph type="sldNum" sz="quarter" idx="12"/>
          </p:nvPr>
        </p:nvSpPr>
        <p:spPr/>
        <p:txBody>
          <a:bodyPr/>
          <a:lstStyle/>
          <a:p>
            <a:fld id="{CC6D4273-7FC1-0947-B9FE-19CB3C0D1FB6}" type="slidenum">
              <a:rPr lang="en-US" smtClean="0"/>
              <a:t>‹#›</a:t>
            </a:fld>
            <a:endParaRPr lang="en-US"/>
          </a:p>
        </p:txBody>
      </p:sp>
      <p:pic>
        <p:nvPicPr>
          <p:cNvPr id="7" name="Picture 6">
            <a:extLst>
              <a:ext uri="{FF2B5EF4-FFF2-40B4-BE49-F238E27FC236}">
                <a16:creationId xmlns:a16="http://schemas.microsoft.com/office/drawing/2014/main" id="{884BC923-7EF2-2B42-330A-BBA81AB60849}"/>
              </a:ext>
            </a:extLst>
          </p:cNvPr>
          <p:cNvPicPr>
            <a:picLocks noChangeAspect="1"/>
          </p:cNvPicPr>
          <p:nvPr userDrawn="1"/>
        </p:nvPicPr>
        <p:blipFill>
          <a:blip r:embed="rId3"/>
          <a:srcRect/>
          <a:stretch/>
        </p:blipFill>
        <p:spPr>
          <a:xfrm>
            <a:off x="2767386" y="1000733"/>
            <a:ext cx="6657227" cy="2219076"/>
          </a:xfrm>
          <a:prstGeom prst="rect">
            <a:avLst/>
          </a:prstGeom>
        </p:spPr>
      </p:pic>
    </p:spTree>
    <p:extLst>
      <p:ext uri="{BB962C8B-B14F-4D97-AF65-F5344CB8AC3E}">
        <p14:creationId xmlns:p14="http://schemas.microsoft.com/office/powerpoint/2010/main" val="417167911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47DA1D-0B0E-9621-50E1-0921931F0F7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6596180-262C-90B5-B1E9-106CE1F260E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F308211-A242-0976-254C-510D30CB345E}"/>
              </a:ext>
            </a:extLst>
          </p:cNvPr>
          <p:cNvSpPr>
            <a:spLocks noGrp="1"/>
          </p:cNvSpPr>
          <p:nvPr>
            <p:ph type="dt" sz="half" idx="10"/>
          </p:nvPr>
        </p:nvSpPr>
        <p:spPr/>
        <p:txBody>
          <a:bodyPr/>
          <a:lstStyle/>
          <a:p>
            <a:r>
              <a:rPr lang="en-US"/>
              <a:t>ADMIN INTRO PRESENTATION_2 HOUR ENG REV4.0</a:t>
            </a:r>
          </a:p>
        </p:txBody>
      </p:sp>
      <p:sp>
        <p:nvSpPr>
          <p:cNvPr id="5" name="Footer Placeholder 4">
            <a:extLst>
              <a:ext uri="{FF2B5EF4-FFF2-40B4-BE49-F238E27FC236}">
                <a16:creationId xmlns:a16="http://schemas.microsoft.com/office/drawing/2014/main" id="{9F523553-3E22-1AA8-87B5-1E95F7E409BD}"/>
              </a:ext>
            </a:extLst>
          </p:cNvPr>
          <p:cNvSpPr>
            <a:spLocks noGrp="1"/>
          </p:cNvSpPr>
          <p:nvPr>
            <p:ph type="ftr" sz="quarter" idx="11"/>
          </p:nvPr>
        </p:nvSpPr>
        <p:spPr/>
        <p:txBody>
          <a:bodyPr/>
          <a:lstStyle/>
          <a:p>
            <a:r>
              <a:rPr lang="en-US"/>
              <a:t>© Lean Horizons Consulting, LLC 2023. All Rights Reserved</a:t>
            </a:r>
          </a:p>
        </p:txBody>
      </p:sp>
      <p:sp>
        <p:nvSpPr>
          <p:cNvPr id="6" name="Slide Number Placeholder 5">
            <a:extLst>
              <a:ext uri="{FF2B5EF4-FFF2-40B4-BE49-F238E27FC236}">
                <a16:creationId xmlns:a16="http://schemas.microsoft.com/office/drawing/2014/main" id="{664D21DF-4281-8B07-B1CD-C88268E51127}"/>
              </a:ext>
            </a:extLst>
          </p:cNvPr>
          <p:cNvSpPr>
            <a:spLocks noGrp="1"/>
          </p:cNvSpPr>
          <p:nvPr>
            <p:ph type="sldNum" sz="quarter" idx="12"/>
          </p:nvPr>
        </p:nvSpPr>
        <p:spPr/>
        <p:txBody>
          <a:bodyPr/>
          <a:lstStyle/>
          <a:p>
            <a:fld id="{2F84A206-C76B-7246-BC40-39ACD45B947D}" type="slidenum">
              <a:rPr lang="en-US" smtClean="0"/>
              <a:t>‹#›</a:t>
            </a:fld>
            <a:endParaRPr lang="en-US"/>
          </a:p>
        </p:txBody>
      </p:sp>
      <p:pic>
        <p:nvPicPr>
          <p:cNvPr id="7" name="Picture 6">
            <a:extLst>
              <a:ext uri="{FF2B5EF4-FFF2-40B4-BE49-F238E27FC236}">
                <a16:creationId xmlns:a16="http://schemas.microsoft.com/office/drawing/2014/main" id="{EAE7B440-0A3E-2230-9D94-690E898AEDC3}"/>
              </a:ext>
            </a:extLst>
          </p:cNvPr>
          <p:cNvPicPr>
            <a:picLocks noChangeAspect="1"/>
          </p:cNvPicPr>
          <p:nvPr userDrawn="1"/>
        </p:nvPicPr>
        <p:blipFill>
          <a:blip r:embed="rId2"/>
          <a:stretch>
            <a:fillRect/>
          </a:stretch>
        </p:blipFill>
        <p:spPr>
          <a:xfrm>
            <a:off x="4126380" y="3556319"/>
            <a:ext cx="3939240" cy="45719"/>
          </a:xfrm>
          <a:prstGeom prst="rect">
            <a:avLst/>
          </a:prstGeom>
        </p:spPr>
      </p:pic>
    </p:spTree>
    <p:extLst>
      <p:ext uri="{BB962C8B-B14F-4D97-AF65-F5344CB8AC3E}">
        <p14:creationId xmlns:p14="http://schemas.microsoft.com/office/powerpoint/2010/main" val="268694256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D582F6BE-E76F-A3D4-1EC4-43C57BAE20CA}"/>
              </a:ext>
            </a:extLst>
          </p:cNvPr>
          <p:cNvPicPr>
            <a:picLocks noChangeAspect="1"/>
          </p:cNvPicPr>
          <p:nvPr userDrawn="1"/>
        </p:nvPicPr>
        <p:blipFill>
          <a:blip r:embed="rId2"/>
          <a:srcRect/>
          <a:stretch/>
        </p:blipFill>
        <p:spPr>
          <a:xfrm>
            <a:off x="0" y="0"/>
            <a:ext cx="12192000" cy="6858000"/>
          </a:xfrm>
          <a:prstGeom prst="rect">
            <a:avLst/>
          </a:prstGeom>
        </p:spPr>
      </p:pic>
      <p:sp>
        <p:nvSpPr>
          <p:cNvPr id="3" name="Date Placeholder 2">
            <a:extLst>
              <a:ext uri="{FF2B5EF4-FFF2-40B4-BE49-F238E27FC236}">
                <a16:creationId xmlns:a16="http://schemas.microsoft.com/office/drawing/2014/main" id="{0F6632C7-24FA-80B1-73E9-5FA4B7E6FDDC}"/>
              </a:ext>
            </a:extLst>
          </p:cNvPr>
          <p:cNvSpPr>
            <a:spLocks noGrp="1"/>
          </p:cNvSpPr>
          <p:nvPr>
            <p:ph type="dt" sz="half" idx="10"/>
          </p:nvPr>
        </p:nvSpPr>
        <p:spPr/>
        <p:txBody>
          <a:bodyPr/>
          <a:lstStyle/>
          <a:p>
            <a:r>
              <a:rPr lang="en-US"/>
              <a:t>ADMIN INTRO PRESENTATION_2 HOUR ENG REV4.0</a:t>
            </a:r>
          </a:p>
        </p:txBody>
      </p:sp>
      <p:sp>
        <p:nvSpPr>
          <p:cNvPr id="4" name="Footer Placeholder 3">
            <a:extLst>
              <a:ext uri="{FF2B5EF4-FFF2-40B4-BE49-F238E27FC236}">
                <a16:creationId xmlns:a16="http://schemas.microsoft.com/office/drawing/2014/main" id="{35F5A2D9-AC06-FF12-6355-C48FA499A0B3}"/>
              </a:ext>
            </a:extLst>
          </p:cNvPr>
          <p:cNvSpPr>
            <a:spLocks noGrp="1"/>
          </p:cNvSpPr>
          <p:nvPr>
            <p:ph type="ftr" sz="quarter" idx="11"/>
          </p:nvPr>
        </p:nvSpPr>
        <p:spPr/>
        <p:txBody>
          <a:bodyPr/>
          <a:lstStyle/>
          <a:p>
            <a:r>
              <a:rPr lang="en-US"/>
              <a:t>© Lean Horizons Consulting, LLC 2023. All Rights Reserved</a:t>
            </a:r>
          </a:p>
        </p:txBody>
      </p:sp>
      <p:sp>
        <p:nvSpPr>
          <p:cNvPr id="5" name="Slide Number Placeholder 4">
            <a:extLst>
              <a:ext uri="{FF2B5EF4-FFF2-40B4-BE49-F238E27FC236}">
                <a16:creationId xmlns:a16="http://schemas.microsoft.com/office/drawing/2014/main" id="{CE665616-5CDC-80BA-E0E4-D0753230454A}"/>
              </a:ext>
            </a:extLst>
          </p:cNvPr>
          <p:cNvSpPr>
            <a:spLocks noGrp="1"/>
          </p:cNvSpPr>
          <p:nvPr>
            <p:ph type="sldNum" sz="quarter" idx="12"/>
          </p:nvPr>
        </p:nvSpPr>
        <p:spPr/>
        <p:txBody>
          <a:bodyPr/>
          <a:lstStyle/>
          <a:p>
            <a:fld id="{CC6D4273-7FC1-0947-B9FE-19CB3C0D1FB6}" type="slidenum">
              <a:rPr lang="en-US" smtClean="0"/>
              <a:t>‹#›</a:t>
            </a:fld>
            <a:endParaRPr lang="en-US"/>
          </a:p>
        </p:txBody>
      </p:sp>
      <p:pic>
        <p:nvPicPr>
          <p:cNvPr id="2" name="Picture 1" descr="Logo&#10;&#10;Description automatically generated">
            <a:extLst>
              <a:ext uri="{FF2B5EF4-FFF2-40B4-BE49-F238E27FC236}">
                <a16:creationId xmlns:a16="http://schemas.microsoft.com/office/drawing/2014/main" id="{99747FCE-AAF3-EC7E-3FFF-7AB4D562C24D}"/>
              </a:ext>
            </a:extLst>
          </p:cNvPr>
          <p:cNvPicPr>
            <a:picLocks noChangeAspect="1"/>
          </p:cNvPicPr>
          <p:nvPr userDrawn="1"/>
        </p:nvPicPr>
        <p:blipFill>
          <a:blip r:embed="rId3"/>
          <a:stretch>
            <a:fillRect/>
          </a:stretch>
        </p:blipFill>
        <p:spPr>
          <a:xfrm>
            <a:off x="10051479" y="6022446"/>
            <a:ext cx="1825625" cy="365125"/>
          </a:xfrm>
          <a:prstGeom prst="rect">
            <a:avLst/>
          </a:prstGeom>
        </p:spPr>
      </p:pic>
    </p:spTree>
    <p:extLst>
      <p:ext uri="{BB962C8B-B14F-4D97-AF65-F5344CB8AC3E}">
        <p14:creationId xmlns:p14="http://schemas.microsoft.com/office/powerpoint/2010/main" val="58271908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018A61-137D-A5A8-3320-21524BC0F66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2728DEE-50C3-A36C-68DD-9F17C1C8BB2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83D68B0-59E9-41C1-6087-ADFE07C7E47A}"/>
              </a:ext>
            </a:extLst>
          </p:cNvPr>
          <p:cNvSpPr>
            <a:spLocks noGrp="1"/>
          </p:cNvSpPr>
          <p:nvPr>
            <p:ph type="dt" sz="half" idx="10"/>
          </p:nvPr>
        </p:nvSpPr>
        <p:spPr/>
        <p:txBody>
          <a:bodyPr/>
          <a:lstStyle/>
          <a:p>
            <a:r>
              <a:rPr lang="en-US"/>
              <a:t>ADMIN INTRO PRESENTATION_2 HOUR ENG REV4.0</a:t>
            </a:r>
          </a:p>
        </p:txBody>
      </p:sp>
      <p:sp>
        <p:nvSpPr>
          <p:cNvPr id="5" name="Footer Placeholder 4">
            <a:extLst>
              <a:ext uri="{FF2B5EF4-FFF2-40B4-BE49-F238E27FC236}">
                <a16:creationId xmlns:a16="http://schemas.microsoft.com/office/drawing/2014/main" id="{BD1BA927-2BA2-388C-11F5-AEEECC16F70B}"/>
              </a:ext>
            </a:extLst>
          </p:cNvPr>
          <p:cNvSpPr>
            <a:spLocks noGrp="1"/>
          </p:cNvSpPr>
          <p:nvPr>
            <p:ph type="ftr" sz="quarter" idx="11"/>
          </p:nvPr>
        </p:nvSpPr>
        <p:spPr/>
        <p:txBody>
          <a:bodyPr/>
          <a:lstStyle/>
          <a:p>
            <a:r>
              <a:rPr lang="en-US"/>
              <a:t>© Lean Horizons Consulting, LLC 2023. All Rights Reserved</a:t>
            </a:r>
          </a:p>
        </p:txBody>
      </p:sp>
      <p:sp>
        <p:nvSpPr>
          <p:cNvPr id="6" name="Slide Number Placeholder 5">
            <a:extLst>
              <a:ext uri="{FF2B5EF4-FFF2-40B4-BE49-F238E27FC236}">
                <a16:creationId xmlns:a16="http://schemas.microsoft.com/office/drawing/2014/main" id="{F2952C3A-3C94-605B-2F14-9905E330F3E4}"/>
              </a:ext>
            </a:extLst>
          </p:cNvPr>
          <p:cNvSpPr>
            <a:spLocks noGrp="1"/>
          </p:cNvSpPr>
          <p:nvPr>
            <p:ph type="sldNum" sz="quarter" idx="12"/>
          </p:nvPr>
        </p:nvSpPr>
        <p:spPr/>
        <p:txBody>
          <a:bodyPr/>
          <a:lstStyle/>
          <a:p>
            <a:fld id="{2F84A206-C76B-7246-BC40-39ACD45B947D}" type="slidenum">
              <a:rPr lang="en-US" smtClean="0"/>
              <a:t>‹#›</a:t>
            </a:fld>
            <a:endParaRPr lang="en-US"/>
          </a:p>
        </p:txBody>
      </p:sp>
    </p:spTree>
    <p:extLst>
      <p:ext uri="{BB962C8B-B14F-4D97-AF65-F5344CB8AC3E}">
        <p14:creationId xmlns:p14="http://schemas.microsoft.com/office/powerpoint/2010/main" val="331008431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590F13-7BBE-BAD4-2395-711563C9EAA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EFA5AB9-7805-B3DE-9666-C2723A913FE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2BFE6A7-39DE-7C6C-B653-26FD8FD7F13F}"/>
              </a:ext>
            </a:extLst>
          </p:cNvPr>
          <p:cNvSpPr>
            <a:spLocks noGrp="1"/>
          </p:cNvSpPr>
          <p:nvPr>
            <p:ph type="dt" sz="half" idx="10"/>
          </p:nvPr>
        </p:nvSpPr>
        <p:spPr/>
        <p:txBody>
          <a:bodyPr/>
          <a:lstStyle/>
          <a:p>
            <a:r>
              <a:rPr lang="en-US"/>
              <a:t>ADMIN INTRO PRESENTATION_2 HOUR ENG REV4.0</a:t>
            </a:r>
          </a:p>
        </p:txBody>
      </p:sp>
      <p:sp>
        <p:nvSpPr>
          <p:cNvPr id="5" name="Footer Placeholder 4">
            <a:extLst>
              <a:ext uri="{FF2B5EF4-FFF2-40B4-BE49-F238E27FC236}">
                <a16:creationId xmlns:a16="http://schemas.microsoft.com/office/drawing/2014/main" id="{40C7A9D4-947B-463C-EB72-A536F7E21808}"/>
              </a:ext>
            </a:extLst>
          </p:cNvPr>
          <p:cNvSpPr>
            <a:spLocks noGrp="1"/>
          </p:cNvSpPr>
          <p:nvPr>
            <p:ph type="ftr" sz="quarter" idx="11"/>
          </p:nvPr>
        </p:nvSpPr>
        <p:spPr/>
        <p:txBody>
          <a:bodyPr/>
          <a:lstStyle/>
          <a:p>
            <a:r>
              <a:rPr lang="en-US"/>
              <a:t>© Lean Horizons Consulting, LLC 2023. All Rights Reserved</a:t>
            </a:r>
          </a:p>
        </p:txBody>
      </p:sp>
      <p:sp>
        <p:nvSpPr>
          <p:cNvPr id="6" name="Slide Number Placeholder 5">
            <a:extLst>
              <a:ext uri="{FF2B5EF4-FFF2-40B4-BE49-F238E27FC236}">
                <a16:creationId xmlns:a16="http://schemas.microsoft.com/office/drawing/2014/main" id="{04D6C84B-DC9B-D192-D2C3-DF19CE008279}"/>
              </a:ext>
            </a:extLst>
          </p:cNvPr>
          <p:cNvSpPr>
            <a:spLocks noGrp="1"/>
          </p:cNvSpPr>
          <p:nvPr>
            <p:ph type="sldNum" sz="quarter" idx="12"/>
          </p:nvPr>
        </p:nvSpPr>
        <p:spPr/>
        <p:txBody>
          <a:bodyPr/>
          <a:lstStyle/>
          <a:p>
            <a:fld id="{2F84A206-C76B-7246-BC40-39ACD45B947D}" type="slidenum">
              <a:rPr lang="en-US" smtClean="0"/>
              <a:t>‹#›</a:t>
            </a:fld>
            <a:endParaRPr lang="en-US"/>
          </a:p>
        </p:txBody>
      </p:sp>
    </p:spTree>
    <p:extLst>
      <p:ext uri="{BB962C8B-B14F-4D97-AF65-F5344CB8AC3E}">
        <p14:creationId xmlns:p14="http://schemas.microsoft.com/office/powerpoint/2010/main" val="236507857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85B913-6F49-B4E8-0A32-93D5DE7D9B2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4918105-E4AD-1DD0-E896-5E3BAF903F0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E96725A-7803-9BA1-175E-E18DDFBA89B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0C55510-D0C9-7502-F4E3-96A61F06AE6B}"/>
              </a:ext>
            </a:extLst>
          </p:cNvPr>
          <p:cNvSpPr>
            <a:spLocks noGrp="1"/>
          </p:cNvSpPr>
          <p:nvPr>
            <p:ph type="dt" sz="half" idx="10"/>
          </p:nvPr>
        </p:nvSpPr>
        <p:spPr/>
        <p:txBody>
          <a:bodyPr/>
          <a:lstStyle/>
          <a:p>
            <a:r>
              <a:rPr lang="en-US"/>
              <a:t>ADMIN INTRO PRESENTATION_2 HOUR ENG REV4.0</a:t>
            </a:r>
          </a:p>
        </p:txBody>
      </p:sp>
      <p:sp>
        <p:nvSpPr>
          <p:cNvPr id="6" name="Footer Placeholder 5">
            <a:extLst>
              <a:ext uri="{FF2B5EF4-FFF2-40B4-BE49-F238E27FC236}">
                <a16:creationId xmlns:a16="http://schemas.microsoft.com/office/drawing/2014/main" id="{C0E00DCC-2BEF-A932-B8CB-9B35FEFD24D7}"/>
              </a:ext>
            </a:extLst>
          </p:cNvPr>
          <p:cNvSpPr>
            <a:spLocks noGrp="1"/>
          </p:cNvSpPr>
          <p:nvPr>
            <p:ph type="ftr" sz="quarter" idx="11"/>
          </p:nvPr>
        </p:nvSpPr>
        <p:spPr/>
        <p:txBody>
          <a:bodyPr/>
          <a:lstStyle/>
          <a:p>
            <a:r>
              <a:rPr lang="en-US"/>
              <a:t>© Lean Horizons Consulting, LLC 2023. All Rights Reserved</a:t>
            </a:r>
          </a:p>
        </p:txBody>
      </p:sp>
      <p:sp>
        <p:nvSpPr>
          <p:cNvPr id="7" name="Slide Number Placeholder 6">
            <a:extLst>
              <a:ext uri="{FF2B5EF4-FFF2-40B4-BE49-F238E27FC236}">
                <a16:creationId xmlns:a16="http://schemas.microsoft.com/office/drawing/2014/main" id="{DA95234A-669E-A4AC-DEA9-A2E424E9742A}"/>
              </a:ext>
            </a:extLst>
          </p:cNvPr>
          <p:cNvSpPr>
            <a:spLocks noGrp="1"/>
          </p:cNvSpPr>
          <p:nvPr>
            <p:ph type="sldNum" sz="quarter" idx="12"/>
          </p:nvPr>
        </p:nvSpPr>
        <p:spPr/>
        <p:txBody>
          <a:bodyPr/>
          <a:lstStyle/>
          <a:p>
            <a:fld id="{2F84A206-C76B-7246-BC40-39ACD45B947D}" type="slidenum">
              <a:rPr lang="en-US" smtClean="0"/>
              <a:t>‹#›</a:t>
            </a:fld>
            <a:endParaRPr lang="en-US"/>
          </a:p>
        </p:txBody>
      </p:sp>
    </p:spTree>
    <p:extLst>
      <p:ext uri="{BB962C8B-B14F-4D97-AF65-F5344CB8AC3E}">
        <p14:creationId xmlns:p14="http://schemas.microsoft.com/office/powerpoint/2010/main" val="260730820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4C5B5E-495A-37BA-5BBA-7CBE30AFEFD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3614905-D2B3-0710-76CD-2A1A9DA2AE8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8F57B75-B3E9-F1CB-A968-B09673C2DA9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55A1AE0-32D0-FF2C-DA48-2FACD67BEE4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3A51260-B233-7227-7D3E-30A1D7D2305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611A779-F4B6-55BE-080E-B0B8114CEF97}"/>
              </a:ext>
            </a:extLst>
          </p:cNvPr>
          <p:cNvSpPr>
            <a:spLocks noGrp="1"/>
          </p:cNvSpPr>
          <p:nvPr>
            <p:ph type="dt" sz="half" idx="10"/>
          </p:nvPr>
        </p:nvSpPr>
        <p:spPr/>
        <p:txBody>
          <a:bodyPr/>
          <a:lstStyle/>
          <a:p>
            <a:r>
              <a:rPr lang="en-US"/>
              <a:t>ADMIN INTRO PRESENTATION_2 HOUR ENG REV4.0</a:t>
            </a:r>
          </a:p>
        </p:txBody>
      </p:sp>
      <p:sp>
        <p:nvSpPr>
          <p:cNvPr id="8" name="Footer Placeholder 7">
            <a:extLst>
              <a:ext uri="{FF2B5EF4-FFF2-40B4-BE49-F238E27FC236}">
                <a16:creationId xmlns:a16="http://schemas.microsoft.com/office/drawing/2014/main" id="{67A69CED-D7CA-3FD9-9FF9-180F7D464B15}"/>
              </a:ext>
            </a:extLst>
          </p:cNvPr>
          <p:cNvSpPr>
            <a:spLocks noGrp="1"/>
          </p:cNvSpPr>
          <p:nvPr>
            <p:ph type="ftr" sz="quarter" idx="11"/>
          </p:nvPr>
        </p:nvSpPr>
        <p:spPr/>
        <p:txBody>
          <a:bodyPr/>
          <a:lstStyle/>
          <a:p>
            <a:r>
              <a:rPr lang="en-US"/>
              <a:t>© Lean Horizons Consulting, LLC 2023. All Rights Reserved</a:t>
            </a:r>
          </a:p>
        </p:txBody>
      </p:sp>
      <p:sp>
        <p:nvSpPr>
          <p:cNvPr id="9" name="Slide Number Placeholder 8">
            <a:extLst>
              <a:ext uri="{FF2B5EF4-FFF2-40B4-BE49-F238E27FC236}">
                <a16:creationId xmlns:a16="http://schemas.microsoft.com/office/drawing/2014/main" id="{3A02EFCF-F5A5-49DA-2381-ADE014B2D41E}"/>
              </a:ext>
            </a:extLst>
          </p:cNvPr>
          <p:cNvSpPr>
            <a:spLocks noGrp="1"/>
          </p:cNvSpPr>
          <p:nvPr>
            <p:ph type="sldNum" sz="quarter" idx="12"/>
          </p:nvPr>
        </p:nvSpPr>
        <p:spPr/>
        <p:txBody>
          <a:bodyPr/>
          <a:lstStyle/>
          <a:p>
            <a:fld id="{2F84A206-C76B-7246-BC40-39ACD45B947D}" type="slidenum">
              <a:rPr lang="en-US" smtClean="0"/>
              <a:t>‹#›</a:t>
            </a:fld>
            <a:endParaRPr lang="en-US"/>
          </a:p>
        </p:txBody>
      </p:sp>
    </p:spTree>
    <p:extLst>
      <p:ext uri="{BB962C8B-B14F-4D97-AF65-F5344CB8AC3E}">
        <p14:creationId xmlns:p14="http://schemas.microsoft.com/office/powerpoint/2010/main" val="100292793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64BD4A-F292-D0E9-DCA8-0C149FFA28F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63062F2-C42F-F97A-E10E-35157A7402DF}"/>
              </a:ext>
            </a:extLst>
          </p:cNvPr>
          <p:cNvSpPr>
            <a:spLocks noGrp="1"/>
          </p:cNvSpPr>
          <p:nvPr>
            <p:ph type="dt" sz="half" idx="10"/>
          </p:nvPr>
        </p:nvSpPr>
        <p:spPr/>
        <p:txBody>
          <a:bodyPr/>
          <a:lstStyle/>
          <a:p>
            <a:r>
              <a:rPr lang="en-US"/>
              <a:t>ADMIN INTRO PRESENTATION_2 HOUR ENG REV4.0</a:t>
            </a:r>
          </a:p>
        </p:txBody>
      </p:sp>
      <p:sp>
        <p:nvSpPr>
          <p:cNvPr id="4" name="Footer Placeholder 3">
            <a:extLst>
              <a:ext uri="{FF2B5EF4-FFF2-40B4-BE49-F238E27FC236}">
                <a16:creationId xmlns:a16="http://schemas.microsoft.com/office/drawing/2014/main" id="{A3758EC9-93B4-1457-7048-C2B4DAE26E57}"/>
              </a:ext>
            </a:extLst>
          </p:cNvPr>
          <p:cNvSpPr>
            <a:spLocks noGrp="1"/>
          </p:cNvSpPr>
          <p:nvPr>
            <p:ph type="ftr" sz="quarter" idx="11"/>
          </p:nvPr>
        </p:nvSpPr>
        <p:spPr/>
        <p:txBody>
          <a:bodyPr/>
          <a:lstStyle/>
          <a:p>
            <a:r>
              <a:rPr lang="en-US"/>
              <a:t>© Lean Horizons Consulting, LLC 2023. All Rights Reserved</a:t>
            </a:r>
          </a:p>
        </p:txBody>
      </p:sp>
      <p:sp>
        <p:nvSpPr>
          <p:cNvPr id="5" name="Slide Number Placeholder 4">
            <a:extLst>
              <a:ext uri="{FF2B5EF4-FFF2-40B4-BE49-F238E27FC236}">
                <a16:creationId xmlns:a16="http://schemas.microsoft.com/office/drawing/2014/main" id="{A47F54E1-BB11-1BC8-4FEB-A74AE64A4128}"/>
              </a:ext>
            </a:extLst>
          </p:cNvPr>
          <p:cNvSpPr>
            <a:spLocks noGrp="1"/>
          </p:cNvSpPr>
          <p:nvPr>
            <p:ph type="sldNum" sz="quarter" idx="12"/>
          </p:nvPr>
        </p:nvSpPr>
        <p:spPr/>
        <p:txBody>
          <a:bodyPr/>
          <a:lstStyle/>
          <a:p>
            <a:fld id="{2F84A206-C76B-7246-BC40-39ACD45B947D}" type="slidenum">
              <a:rPr lang="en-US" smtClean="0"/>
              <a:t>‹#›</a:t>
            </a:fld>
            <a:endParaRPr lang="en-US"/>
          </a:p>
        </p:txBody>
      </p:sp>
    </p:spTree>
    <p:extLst>
      <p:ext uri="{BB962C8B-B14F-4D97-AF65-F5344CB8AC3E}">
        <p14:creationId xmlns:p14="http://schemas.microsoft.com/office/powerpoint/2010/main" val="206342590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D398FAB-29B1-A4CB-46EC-6577E1E0F673}"/>
              </a:ext>
            </a:extLst>
          </p:cNvPr>
          <p:cNvSpPr>
            <a:spLocks noGrp="1"/>
          </p:cNvSpPr>
          <p:nvPr>
            <p:ph type="dt" sz="half" idx="10"/>
          </p:nvPr>
        </p:nvSpPr>
        <p:spPr/>
        <p:txBody>
          <a:bodyPr/>
          <a:lstStyle/>
          <a:p>
            <a:r>
              <a:rPr lang="en-US"/>
              <a:t>ADMIN INTRO PRESENTATION_2 HOUR ENG REV4.0</a:t>
            </a:r>
          </a:p>
        </p:txBody>
      </p:sp>
      <p:sp>
        <p:nvSpPr>
          <p:cNvPr id="3" name="Footer Placeholder 2">
            <a:extLst>
              <a:ext uri="{FF2B5EF4-FFF2-40B4-BE49-F238E27FC236}">
                <a16:creationId xmlns:a16="http://schemas.microsoft.com/office/drawing/2014/main" id="{131B147A-BE5D-2E65-8CA4-EE207E41D0A2}"/>
              </a:ext>
            </a:extLst>
          </p:cNvPr>
          <p:cNvSpPr>
            <a:spLocks noGrp="1"/>
          </p:cNvSpPr>
          <p:nvPr>
            <p:ph type="ftr" sz="quarter" idx="11"/>
          </p:nvPr>
        </p:nvSpPr>
        <p:spPr/>
        <p:txBody>
          <a:bodyPr/>
          <a:lstStyle/>
          <a:p>
            <a:r>
              <a:rPr lang="en-US"/>
              <a:t>© Lean Horizons Consulting, LLC 2023. All Rights Reserved</a:t>
            </a:r>
          </a:p>
        </p:txBody>
      </p:sp>
      <p:sp>
        <p:nvSpPr>
          <p:cNvPr id="4" name="Slide Number Placeholder 3">
            <a:extLst>
              <a:ext uri="{FF2B5EF4-FFF2-40B4-BE49-F238E27FC236}">
                <a16:creationId xmlns:a16="http://schemas.microsoft.com/office/drawing/2014/main" id="{FDA1B3D4-5A99-63DB-D394-0CB0F70C8C73}"/>
              </a:ext>
            </a:extLst>
          </p:cNvPr>
          <p:cNvSpPr>
            <a:spLocks noGrp="1"/>
          </p:cNvSpPr>
          <p:nvPr>
            <p:ph type="sldNum" sz="quarter" idx="12"/>
          </p:nvPr>
        </p:nvSpPr>
        <p:spPr/>
        <p:txBody>
          <a:bodyPr/>
          <a:lstStyle/>
          <a:p>
            <a:fld id="{2F84A206-C76B-7246-BC40-39ACD45B947D}" type="slidenum">
              <a:rPr lang="en-US" smtClean="0"/>
              <a:t>‹#›</a:t>
            </a:fld>
            <a:endParaRPr lang="en-US"/>
          </a:p>
        </p:txBody>
      </p:sp>
    </p:spTree>
    <p:extLst>
      <p:ext uri="{BB962C8B-B14F-4D97-AF65-F5344CB8AC3E}">
        <p14:creationId xmlns:p14="http://schemas.microsoft.com/office/powerpoint/2010/main" val="140782315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0CE988-824A-FBDB-56EE-C8B28CA6C09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0E4CAAB-C2A5-C339-D0F9-A426D155FBA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43B6AA2-40D9-6BC8-6030-761DB1A71E2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4DDE8B1-CED5-51BC-B987-ECA39695DB90}"/>
              </a:ext>
            </a:extLst>
          </p:cNvPr>
          <p:cNvSpPr>
            <a:spLocks noGrp="1"/>
          </p:cNvSpPr>
          <p:nvPr>
            <p:ph type="dt" sz="half" idx="10"/>
          </p:nvPr>
        </p:nvSpPr>
        <p:spPr/>
        <p:txBody>
          <a:bodyPr/>
          <a:lstStyle/>
          <a:p>
            <a:r>
              <a:rPr lang="en-US"/>
              <a:t>ADMIN INTRO PRESENTATION_2 HOUR ENG REV4.0</a:t>
            </a:r>
          </a:p>
        </p:txBody>
      </p:sp>
      <p:sp>
        <p:nvSpPr>
          <p:cNvPr id="6" name="Footer Placeholder 5">
            <a:extLst>
              <a:ext uri="{FF2B5EF4-FFF2-40B4-BE49-F238E27FC236}">
                <a16:creationId xmlns:a16="http://schemas.microsoft.com/office/drawing/2014/main" id="{BECB2149-AEFF-EB09-1C70-70E6033600E8}"/>
              </a:ext>
            </a:extLst>
          </p:cNvPr>
          <p:cNvSpPr>
            <a:spLocks noGrp="1"/>
          </p:cNvSpPr>
          <p:nvPr>
            <p:ph type="ftr" sz="quarter" idx="11"/>
          </p:nvPr>
        </p:nvSpPr>
        <p:spPr/>
        <p:txBody>
          <a:bodyPr/>
          <a:lstStyle/>
          <a:p>
            <a:r>
              <a:rPr lang="en-US"/>
              <a:t>© Lean Horizons Consulting, LLC 2023. All Rights Reserved</a:t>
            </a:r>
          </a:p>
        </p:txBody>
      </p:sp>
      <p:sp>
        <p:nvSpPr>
          <p:cNvPr id="7" name="Slide Number Placeholder 6">
            <a:extLst>
              <a:ext uri="{FF2B5EF4-FFF2-40B4-BE49-F238E27FC236}">
                <a16:creationId xmlns:a16="http://schemas.microsoft.com/office/drawing/2014/main" id="{A3BA71F0-F0F1-4DCD-5144-C51ED87E231F}"/>
              </a:ext>
            </a:extLst>
          </p:cNvPr>
          <p:cNvSpPr>
            <a:spLocks noGrp="1"/>
          </p:cNvSpPr>
          <p:nvPr>
            <p:ph type="sldNum" sz="quarter" idx="12"/>
          </p:nvPr>
        </p:nvSpPr>
        <p:spPr/>
        <p:txBody>
          <a:bodyPr/>
          <a:lstStyle/>
          <a:p>
            <a:fld id="{2F84A206-C76B-7246-BC40-39ACD45B947D}" type="slidenum">
              <a:rPr lang="en-US" smtClean="0"/>
              <a:t>‹#›</a:t>
            </a:fld>
            <a:endParaRPr lang="en-US"/>
          </a:p>
        </p:txBody>
      </p:sp>
    </p:spTree>
    <p:extLst>
      <p:ext uri="{BB962C8B-B14F-4D97-AF65-F5344CB8AC3E}">
        <p14:creationId xmlns:p14="http://schemas.microsoft.com/office/powerpoint/2010/main" val="312950323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37E0C4-79E5-A0D4-BDE3-2C9ED3A08DC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6E68823-C490-A883-2E6D-E7FBCB34492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ECC8A22-C844-6C28-DCB0-95CE589AABC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F6CA3B5-9A6F-0AEF-7C2D-948D8F3DCABE}"/>
              </a:ext>
            </a:extLst>
          </p:cNvPr>
          <p:cNvSpPr>
            <a:spLocks noGrp="1"/>
          </p:cNvSpPr>
          <p:nvPr>
            <p:ph type="dt" sz="half" idx="10"/>
          </p:nvPr>
        </p:nvSpPr>
        <p:spPr/>
        <p:txBody>
          <a:bodyPr/>
          <a:lstStyle/>
          <a:p>
            <a:r>
              <a:rPr lang="en-US"/>
              <a:t>ADMIN INTRO PRESENTATION_2 HOUR ENG REV4.0</a:t>
            </a:r>
          </a:p>
        </p:txBody>
      </p:sp>
      <p:sp>
        <p:nvSpPr>
          <p:cNvPr id="6" name="Footer Placeholder 5">
            <a:extLst>
              <a:ext uri="{FF2B5EF4-FFF2-40B4-BE49-F238E27FC236}">
                <a16:creationId xmlns:a16="http://schemas.microsoft.com/office/drawing/2014/main" id="{C1BB8707-1A2A-104E-4173-9679F249230A}"/>
              </a:ext>
            </a:extLst>
          </p:cNvPr>
          <p:cNvSpPr>
            <a:spLocks noGrp="1"/>
          </p:cNvSpPr>
          <p:nvPr>
            <p:ph type="ftr" sz="quarter" idx="11"/>
          </p:nvPr>
        </p:nvSpPr>
        <p:spPr/>
        <p:txBody>
          <a:bodyPr/>
          <a:lstStyle/>
          <a:p>
            <a:r>
              <a:rPr lang="en-US"/>
              <a:t>© Lean Horizons Consulting, LLC 2023. All Rights Reserved</a:t>
            </a:r>
          </a:p>
        </p:txBody>
      </p:sp>
      <p:sp>
        <p:nvSpPr>
          <p:cNvPr id="7" name="Slide Number Placeholder 6">
            <a:extLst>
              <a:ext uri="{FF2B5EF4-FFF2-40B4-BE49-F238E27FC236}">
                <a16:creationId xmlns:a16="http://schemas.microsoft.com/office/drawing/2014/main" id="{7D2BFF66-2F37-76AB-24D7-1EFD62C694D6}"/>
              </a:ext>
            </a:extLst>
          </p:cNvPr>
          <p:cNvSpPr>
            <a:spLocks noGrp="1"/>
          </p:cNvSpPr>
          <p:nvPr>
            <p:ph type="sldNum" sz="quarter" idx="12"/>
          </p:nvPr>
        </p:nvSpPr>
        <p:spPr/>
        <p:txBody>
          <a:bodyPr/>
          <a:lstStyle/>
          <a:p>
            <a:fld id="{2F84A206-C76B-7246-BC40-39ACD45B947D}" type="slidenum">
              <a:rPr lang="en-US" smtClean="0"/>
              <a:t>‹#›</a:t>
            </a:fld>
            <a:endParaRPr lang="en-US"/>
          </a:p>
        </p:txBody>
      </p:sp>
    </p:spTree>
    <p:extLst>
      <p:ext uri="{BB962C8B-B14F-4D97-AF65-F5344CB8AC3E}">
        <p14:creationId xmlns:p14="http://schemas.microsoft.com/office/powerpoint/2010/main" val="178632067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EBA5A1-0702-7EEF-A2E3-A0BFB8902EE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646D5D1-C1A1-CA41-3B7E-E8B66259D98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E44C0CA-2A0F-0832-4CB3-08F98C1B8DDA}"/>
              </a:ext>
            </a:extLst>
          </p:cNvPr>
          <p:cNvSpPr>
            <a:spLocks noGrp="1"/>
          </p:cNvSpPr>
          <p:nvPr>
            <p:ph type="dt" sz="half" idx="10"/>
          </p:nvPr>
        </p:nvSpPr>
        <p:spPr/>
        <p:txBody>
          <a:bodyPr/>
          <a:lstStyle/>
          <a:p>
            <a:r>
              <a:rPr lang="en-US"/>
              <a:t>ADMIN INTRO PRESENTATION_2 HOUR ENG REV4.0</a:t>
            </a:r>
          </a:p>
        </p:txBody>
      </p:sp>
      <p:sp>
        <p:nvSpPr>
          <p:cNvPr id="5" name="Footer Placeholder 4">
            <a:extLst>
              <a:ext uri="{FF2B5EF4-FFF2-40B4-BE49-F238E27FC236}">
                <a16:creationId xmlns:a16="http://schemas.microsoft.com/office/drawing/2014/main" id="{E06808F1-2BEC-C915-8BDE-5084A38C3BA3}"/>
              </a:ext>
            </a:extLst>
          </p:cNvPr>
          <p:cNvSpPr>
            <a:spLocks noGrp="1"/>
          </p:cNvSpPr>
          <p:nvPr>
            <p:ph type="ftr" sz="quarter" idx="11"/>
          </p:nvPr>
        </p:nvSpPr>
        <p:spPr/>
        <p:txBody>
          <a:bodyPr/>
          <a:lstStyle/>
          <a:p>
            <a:r>
              <a:rPr lang="en-US"/>
              <a:t>© Lean Horizons Consulting, LLC 2023. All Rights Reserved</a:t>
            </a:r>
          </a:p>
        </p:txBody>
      </p:sp>
      <p:sp>
        <p:nvSpPr>
          <p:cNvPr id="6" name="Slide Number Placeholder 5">
            <a:extLst>
              <a:ext uri="{FF2B5EF4-FFF2-40B4-BE49-F238E27FC236}">
                <a16:creationId xmlns:a16="http://schemas.microsoft.com/office/drawing/2014/main" id="{094BB926-4CCF-D763-0762-DE1AA6479E1A}"/>
              </a:ext>
            </a:extLst>
          </p:cNvPr>
          <p:cNvSpPr>
            <a:spLocks noGrp="1"/>
          </p:cNvSpPr>
          <p:nvPr>
            <p:ph type="sldNum" sz="quarter" idx="12"/>
          </p:nvPr>
        </p:nvSpPr>
        <p:spPr/>
        <p:txBody>
          <a:bodyPr/>
          <a:lstStyle/>
          <a:p>
            <a:fld id="{2F84A206-C76B-7246-BC40-39ACD45B947D}" type="slidenum">
              <a:rPr lang="en-US" smtClean="0"/>
              <a:t>‹#›</a:t>
            </a:fld>
            <a:endParaRPr lang="en-US"/>
          </a:p>
        </p:txBody>
      </p:sp>
    </p:spTree>
    <p:extLst>
      <p:ext uri="{BB962C8B-B14F-4D97-AF65-F5344CB8AC3E}">
        <p14:creationId xmlns:p14="http://schemas.microsoft.com/office/powerpoint/2010/main" val="156366187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9E653CC-AFA7-CB16-DC45-848D152C9D7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3B7C763-4411-9116-52D0-067C0F27B1C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705DCF-E6CB-66BE-A67C-A7EA05FFF571}"/>
              </a:ext>
            </a:extLst>
          </p:cNvPr>
          <p:cNvSpPr>
            <a:spLocks noGrp="1"/>
          </p:cNvSpPr>
          <p:nvPr>
            <p:ph type="dt" sz="half" idx="10"/>
          </p:nvPr>
        </p:nvSpPr>
        <p:spPr/>
        <p:txBody>
          <a:bodyPr/>
          <a:lstStyle/>
          <a:p>
            <a:r>
              <a:rPr lang="en-US"/>
              <a:t>ADMIN INTRO PRESENTATION_2 HOUR ENG REV4.0</a:t>
            </a:r>
          </a:p>
        </p:txBody>
      </p:sp>
      <p:sp>
        <p:nvSpPr>
          <p:cNvPr id="5" name="Footer Placeholder 4">
            <a:extLst>
              <a:ext uri="{FF2B5EF4-FFF2-40B4-BE49-F238E27FC236}">
                <a16:creationId xmlns:a16="http://schemas.microsoft.com/office/drawing/2014/main" id="{8170ADFE-AE0F-29A8-8E45-5EAC92DC08CF}"/>
              </a:ext>
            </a:extLst>
          </p:cNvPr>
          <p:cNvSpPr>
            <a:spLocks noGrp="1"/>
          </p:cNvSpPr>
          <p:nvPr>
            <p:ph type="ftr" sz="quarter" idx="11"/>
          </p:nvPr>
        </p:nvSpPr>
        <p:spPr/>
        <p:txBody>
          <a:bodyPr/>
          <a:lstStyle/>
          <a:p>
            <a:r>
              <a:rPr lang="en-US"/>
              <a:t>© Lean Horizons Consulting, LLC 2023. All Rights Reserved</a:t>
            </a:r>
          </a:p>
        </p:txBody>
      </p:sp>
      <p:sp>
        <p:nvSpPr>
          <p:cNvPr id="6" name="Slide Number Placeholder 5">
            <a:extLst>
              <a:ext uri="{FF2B5EF4-FFF2-40B4-BE49-F238E27FC236}">
                <a16:creationId xmlns:a16="http://schemas.microsoft.com/office/drawing/2014/main" id="{0D016257-E7A7-6B25-66A0-5082E129C70C}"/>
              </a:ext>
            </a:extLst>
          </p:cNvPr>
          <p:cNvSpPr>
            <a:spLocks noGrp="1"/>
          </p:cNvSpPr>
          <p:nvPr>
            <p:ph type="sldNum" sz="quarter" idx="12"/>
          </p:nvPr>
        </p:nvSpPr>
        <p:spPr/>
        <p:txBody>
          <a:bodyPr/>
          <a:lstStyle/>
          <a:p>
            <a:fld id="{2F84A206-C76B-7246-BC40-39ACD45B947D}" type="slidenum">
              <a:rPr lang="en-US" smtClean="0"/>
              <a:t>‹#›</a:t>
            </a:fld>
            <a:endParaRPr lang="en-US"/>
          </a:p>
        </p:txBody>
      </p:sp>
    </p:spTree>
    <p:extLst>
      <p:ext uri="{BB962C8B-B14F-4D97-AF65-F5344CB8AC3E}">
        <p14:creationId xmlns:p14="http://schemas.microsoft.com/office/powerpoint/2010/main" val="37424916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slideLayout" Target="../slideLayouts/slideLayout27.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2" Type="http://schemas.openxmlformats.org/officeDocument/2006/relationships/slideLayout" Target="../slideLayouts/slideLayout16.xml"/><Relationship Id="rId16" Type="http://schemas.openxmlformats.org/officeDocument/2006/relationships/image" Target="../media/image2.png"/><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5" Type="http://schemas.openxmlformats.org/officeDocument/2006/relationships/image" Target="../media/image5.png"/><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FC7573B6-84E2-B075-59F6-13B735C1EA0C}"/>
              </a:ext>
            </a:extLst>
          </p:cNvPr>
          <p:cNvPicPr>
            <a:picLocks noChangeAspect="1"/>
          </p:cNvPicPr>
          <p:nvPr userDrawn="1"/>
        </p:nvPicPr>
        <p:blipFill>
          <a:blip r:embed="rId16"/>
          <a:srcRect/>
          <a:stretch/>
        </p:blipFill>
        <p:spPr>
          <a:xfrm>
            <a:off x="0" y="0"/>
            <a:ext cx="12192000" cy="6858000"/>
          </a:xfrm>
          <a:prstGeom prst="rect">
            <a:avLst/>
          </a:prstGeom>
        </p:spPr>
      </p:pic>
      <p:sp>
        <p:nvSpPr>
          <p:cNvPr id="2" name="Title Placeholder 1">
            <a:extLst>
              <a:ext uri="{FF2B5EF4-FFF2-40B4-BE49-F238E27FC236}">
                <a16:creationId xmlns:a16="http://schemas.microsoft.com/office/drawing/2014/main" id="{AF899C9A-A2FC-CD4A-1E66-538BA9DCD182}"/>
              </a:ext>
            </a:extLst>
          </p:cNvPr>
          <p:cNvSpPr>
            <a:spLocks noGrp="1"/>
          </p:cNvSpPr>
          <p:nvPr>
            <p:ph type="title"/>
          </p:nvPr>
        </p:nvSpPr>
        <p:spPr>
          <a:xfrm>
            <a:off x="838200" y="681037"/>
            <a:ext cx="10515600" cy="1009651"/>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F5BEC040-D756-ECEA-9BEA-816A77F6A3E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147FBE5A-A705-EBC7-B685-FCD7518C6317}"/>
              </a:ext>
            </a:extLst>
          </p:cNvPr>
          <p:cNvSpPr>
            <a:spLocks noGrp="1"/>
          </p:cNvSpPr>
          <p:nvPr>
            <p:ph type="ftr" sz="quarter" idx="3"/>
          </p:nvPr>
        </p:nvSpPr>
        <p:spPr>
          <a:xfrm>
            <a:off x="4038600" y="6333149"/>
            <a:ext cx="4114800" cy="365125"/>
          </a:xfrm>
          <a:prstGeom prst="rect">
            <a:avLst/>
          </a:prstGeom>
        </p:spPr>
        <p:txBody>
          <a:bodyPr vert="horz" lIns="91440" tIns="45720" rIns="91440" bIns="45720" rtlCol="0" anchor="ctr"/>
          <a:lstStyle>
            <a:lvl1pPr algn="ctr">
              <a:defRPr sz="1000">
                <a:solidFill>
                  <a:schemeClr val="tx1"/>
                </a:solidFill>
              </a:defRPr>
            </a:lvl1pPr>
          </a:lstStyle>
          <a:p>
            <a:r>
              <a:rPr lang="en-US"/>
              <a:t>© Lean Horizons Consulting, LLC 2023. All Rights Reserved</a:t>
            </a:r>
            <a:endParaRPr lang="en-US" dirty="0"/>
          </a:p>
        </p:txBody>
      </p:sp>
      <p:sp>
        <p:nvSpPr>
          <p:cNvPr id="6" name="Slide Number Placeholder 5">
            <a:extLst>
              <a:ext uri="{FF2B5EF4-FFF2-40B4-BE49-F238E27FC236}">
                <a16:creationId xmlns:a16="http://schemas.microsoft.com/office/drawing/2014/main" id="{0655B500-689F-3416-FFFA-6EFE369BF707}"/>
              </a:ext>
            </a:extLst>
          </p:cNvPr>
          <p:cNvSpPr>
            <a:spLocks noGrp="1"/>
          </p:cNvSpPr>
          <p:nvPr>
            <p:ph type="sldNum" sz="quarter" idx="4"/>
          </p:nvPr>
        </p:nvSpPr>
        <p:spPr>
          <a:xfrm>
            <a:off x="8595078" y="6333148"/>
            <a:ext cx="2743200" cy="365125"/>
          </a:xfrm>
          <a:prstGeom prst="rect">
            <a:avLst/>
          </a:prstGeom>
        </p:spPr>
        <p:txBody>
          <a:bodyPr vert="horz" lIns="91440" tIns="45720" rIns="91440" bIns="45720" rtlCol="0" anchor="ctr"/>
          <a:lstStyle>
            <a:lvl1pPr algn="r">
              <a:defRPr sz="1200">
                <a:solidFill>
                  <a:schemeClr val="tx1"/>
                </a:solidFill>
              </a:defRPr>
            </a:lvl1pPr>
          </a:lstStyle>
          <a:p>
            <a:fld id="{CC6D4273-7FC1-0947-B9FE-19CB3C0D1FB6}" type="slidenum">
              <a:rPr lang="en-US" smtClean="0"/>
              <a:pPr/>
              <a:t>‹#›</a:t>
            </a:fld>
            <a:endParaRPr lang="en-US" dirty="0"/>
          </a:p>
        </p:txBody>
      </p:sp>
      <p:pic>
        <p:nvPicPr>
          <p:cNvPr id="10" name="Picture 9" descr="Logo&#10;&#10;Description automatically generated">
            <a:extLst>
              <a:ext uri="{FF2B5EF4-FFF2-40B4-BE49-F238E27FC236}">
                <a16:creationId xmlns:a16="http://schemas.microsoft.com/office/drawing/2014/main" id="{83AB58F5-18C5-C368-94F4-CC4D543C8982}"/>
              </a:ext>
            </a:extLst>
          </p:cNvPr>
          <p:cNvPicPr>
            <a:picLocks noChangeAspect="1"/>
          </p:cNvPicPr>
          <p:nvPr userDrawn="1"/>
        </p:nvPicPr>
        <p:blipFill>
          <a:blip r:embed="rId17"/>
          <a:stretch>
            <a:fillRect/>
          </a:stretch>
        </p:blipFill>
        <p:spPr>
          <a:xfrm>
            <a:off x="10650147" y="311856"/>
            <a:ext cx="1376262" cy="275252"/>
          </a:xfrm>
          <a:prstGeom prst="rect">
            <a:avLst/>
          </a:prstGeom>
        </p:spPr>
      </p:pic>
      <p:cxnSp>
        <p:nvCxnSpPr>
          <p:cNvPr id="16" name="Straight Connector 15">
            <a:extLst>
              <a:ext uri="{FF2B5EF4-FFF2-40B4-BE49-F238E27FC236}">
                <a16:creationId xmlns:a16="http://schemas.microsoft.com/office/drawing/2014/main" id="{BFFEF531-ADF4-AB70-CB0F-227DD4FA1B4F}"/>
              </a:ext>
            </a:extLst>
          </p:cNvPr>
          <p:cNvCxnSpPr/>
          <p:nvPr userDrawn="1"/>
        </p:nvCxnSpPr>
        <p:spPr>
          <a:xfrm>
            <a:off x="838200" y="6382347"/>
            <a:ext cx="10515599" cy="26460"/>
          </a:xfrm>
          <a:prstGeom prst="line">
            <a:avLst/>
          </a:prstGeom>
          <a:ln w="254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92232385"/>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 id="2147483659" r:id="rId14"/>
  </p:sldLayoutIdLst>
  <p:hf hdr="0" dt="0"/>
  <p:txStyles>
    <p:titleStyle>
      <a:lvl1pPr algn="l" defTabSz="914400" rtl="0" eaLnBrk="1" latinLnBrk="0" hangingPunct="1">
        <a:lnSpc>
          <a:spcPct val="90000"/>
        </a:lnSpc>
        <a:spcBef>
          <a:spcPct val="0"/>
        </a:spcBef>
        <a:buNone/>
        <a:defRPr sz="4400" b="0" i="0" kern="1200">
          <a:solidFill>
            <a:schemeClr val="tx1"/>
          </a:solidFill>
          <a:latin typeface="Roboto Medium" panose="02000000000000000000" pitchFamily="2" charset="0"/>
          <a:ea typeface="Roboto Medium" panose="02000000000000000000" pitchFamily="2" charset="0"/>
          <a:cs typeface="Roboto Medium" panose="02000000000000000000" pitchFamily="2"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Picture 7" descr="Shape, rectangle&#10;&#10;Description automatically generated">
            <a:extLst>
              <a:ext uri="{FF2B5EF4-FFF2-40B4-BE49-F238E27FC236}">
                <a16:creationId xmlns:a16="http://schemas.microsoft.com/office/drawing/2014/main" id="{5EB68655-2B5D-4914-06F4-EEE57B91E852}"/>
              </a:ext>
            </a:extLst>
          </p:cNvPr>
          <p:cNvPicPr>
            <a:picLocks noChangeAspect="1"/>
          </p:cNvPicPr>
          <p:nvPr userDrawn="1"/>
        </p:nvPicPr>
        <p:blipFill>
          <a:blip r:embed="rId15"/>
          <a:stretch>
            <a:fillRect/>
          </a:stretch>
        </p:blipFill>
        <p:spPr>
          <a:xfrm>
            <a:off x="0" y="27764"/>
            <a:ext cx="12192000" cy="6858000"/>
          </a:xfrm>
          <a:prstGeom prst="rect">
            <a:avLst/>
          </a:prstGeom>
        </p:spPr>
      </p:pic>
      <p:sp>
        <p:nvSpPr>
          <p:cNvPr id="2" name="Title Placeholder 1">
            <a:extLst>
              <a:ext uri="{FF2B5EF4-FFF2-40B4-BE49-F238E27FC236}">
                <a16:creationId xmlns:a16="http://schemas.microsoft.com/office/drawing/2014/main" id="{5709625D-D51A-2881-A3FF-7BD1D0F7AFF4}"/>
              </a:ext>
            </a:extLst>
          </p:cNvPr>
          <p:cNvSpPr>
            <a:spLocks noGrp="1"/>
          </p:cNvSpPr>
          <p:nvPr>
            <p:ph type="title"/>
          </p:nvPr>
        </p:nvSpPr>
        <p:spPr>
          <a:xfrm>
            <a:off x="838200" y="611616"/>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5E69FCC6-7E83-5F90-FCEA-ABDCB794127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45FBE107-31AD-D06F-AC42-0D2085805ED6}"/>
              </a:ext>
            </a:extLst>
          </p:cNvPr>
          <p:cNvSpPr>
            <a:spLocks noGrp="1"/>
          </p:cNvSpPr>
          <p:nvPr>
            <p:ph type="dt" sz="half" idx="2"/>
          </p:nvPr>
        </p:nvSpPr>
        <p:spPr>
          <a:xfrm>
            <a:off x="838200" y="6465111"/>
            <a:ext cx="2743200" cy="365125"/>
          </a:xfrm>
          <a:prstGeom prst="rect">
            <a:avLst/>
          </a:prstGeom>
        </p:spPr>
        <p:txBody>
          <a:bodyPr vert="horz" lIns="91440" tIns="45720" rIns="91440" bIns="45720" rtlCol="0" anchor="ctr"/>
          <a:lstStyle>
            <a:lvl1pPr algn="l">
              <a:defRPr sz="1200">
                <a:solidFill>
                  <a:schemeClr val="bg1"/>
                </a:solidFill>
              </a:defRPr>
            </a:lvl1pPr>
          </a:lstStyle>
          <a:p>
            <a:r>
              <a:rPr lang="en-US"/>
              <a:t>ADMIN INTRO PRESENTATION_2 HOUR ENG REV4.0</a:t>
            </a:r>
            <a:endParaRPr lang="en-US" dirty="0"/>
          </a:p>
        </p:txBody>
      </p:sp>
      <p:sp>
        <p:nvSpPr>
          <p:cNvPr id="5" name="Footer Placeholder 4">
            <a:extLst>
              <a:ext uri="{FF2B5EF4-FFF2-40B4-BE49-F238E27FC236}">
                <a16:creationId xmlns:a16="http://schemas.microsoft.com/office/drawing/2014/main" id="{8DC49212-B3BA-8424-73B5-9532C98F8F66}"/>
              </a:ext>
            </a:extLst>
          </p:cNvPr>
          <p:cNvSpPr>
            <a:spLocks noGrp="1"/>
          </p:cNvSpPr>
          <p:nvPr>
            <p:ph type="ftr" sz="quarter" idx="3"/>
          </p:nvPr>
        </p:nvSpPr>
        <p:spPr>
          <a:xfrm>
            <a:off x="4038600" y="6490604"/>
            <a:ext cx="4114800" cy="365125"/>
          </a:xfrm>
          <a:prstGeom prst="rect">
            <a:avLst/>
          </a:prstGeom>
        </p:spPr>
        <p:txBody>
          <a:bodyPr vert="horz" lIns="91440" tIns="45720" rIns="91440" bIns="45720" rtlCol="0" anchor="ctr"/>
          <a:lstStyle>
            <a:lvl1pPr algn="ctr">
              <a:defRPr sz="1200">
                <a:solidFill>
                  <a:schemeClr val="bg1"/>
                </a:solidFill>
              </a:defRPr>
            </a:lvl1pPr>
          </a:lstStyle>
          <a:p>
            <a:r>
              <a:rPr lang="en-US"/>
              <a:t>© Lean Horizons Consulting, LLC 2023. All Rights Reserved</a:t>
            </a:r>
            <a:endParaRPr lang="en-US" dirty="0"/>
          </a:p>
        </p:txBody>
      </p:sp>
      <p:sp>
        <p:nvSpPr>
          <p:cNvPr id="6" name="Slide Number Placeholder 5">
            <a:extLst>
              <a:ext uri="{FF2B5EF4-FFF2-40B4-BE49-F238E27FC236}">
                <a16:creationId xmlns:a16="http://schemas.microsoft.com/office/drawing/2014/main" id="{8478A42D-C625-020F-9348-40409F8E81BA}"/>
              </a:ext>
            </a:extLst>
          </p:cNvPr>
          <p:cNvSpPr>
            <a:spLocks noGrp="1"/>
          </p:cNvSpPr>
          <p:nvPr>
            <p:ph type="sldNum" sz="quarter" idx="4"/>
          </p:nvPr>
        </p:nvSpPr>
        <p:spPr>
          <a:xfrm>
            <a:off x="8610600" y="6467133"/>
            <a:ext cx="2743200" cy="365125"/>
          </a:xfrm>
          <a:prstGeom prst="rect">
            <a:avLst/>
          </a:prstGeom>
        </p:spPr>
        <p:txBody>
          <a:bodyPr vert="horz" lIns="91440" tIns="45720" rIns="91440" bIns="45720" rtlCol="0" anchor="ctr"/>
          <a:lstStyle>
            <a:lvl1pPr algn="r">
              <a:defRPr sz="1200">
                <a:solidFill>
                  <a:schemeClr val="bg1"/>
                </a:solidFill>
              </a:defRPr>
            </a:lvl1pPr>
          </a:lstStyle>
          <a:p>
            <a:fld id="{2F84A206-C76B-7246-BC40-39ACD45B947D}" type="slidenum">
              <a:rPr lang="en-US" smtClean="0"/>
              <a:pPr/>
              <a:t>‹#›</a:t>
            </a:fld>
            <a:endParaRPr lang="en-US" dirty="0"/>
          </a:p>
        </p:txBody>
      </p:sp>
      <p:pic>
        <p:nvPicPr>
          <p:cNvPr id="7" name="Picture 6" descr="Logo&#10;&#10;Description automatically generated">
            <a:extLst>
              <a:ext uri="{FF2B5EF4-FFF2-40B4-BE49-F238E27FC236}">
                <a16:creationId xmlns:a16="http://schemas.microsoft.com/office/drawing/2014/main" id="{BEA1B394-3161-CE28-8246-D8944DC8D3E2}"/>
              </a:ext>
            </a:extLst>
          </p:cNvPr>
          <p:cNvPicPr>
            <a:picLocks noChangeAspect="1"/>
          </p:cNvPicPr>
          <p:nvPr userDrawn="1"/>
        </p:nvPicPr>
        <p:blipFill>
          <a:blip r:embed="rId16"/>
          <a:stretch>
            <a:fillRect/>
          </a:stretch>
        </p:blipFill>
        <p:spPr>
          <a:xfrm>
            <a:off x="10165779" y="6031971"/>
            <a:ext cx="1825625" cy="365125"/>
          </a:xfrm>
          <a:prstGeom prst="rect">
            <a:avLst/>
          </a:prstGeom>
        </p:spPr>
      </p:pic>
    </p:spTree>
    <p:extLst>
      <p:ext uri="{BB962C8B-B14F-4D97-AF65-F5344CB8AC3E}">
        <p14:creationId xmlns:p14="http://schemas.microsoft.com/office/powerpoint/2010/main" val="1973913045"/>
      </p:ext>
    </p:extLst>
  </p:cSld>
  <p:clrMap bg1="lt1" tx1="dk1" bg2="lt2" tx2="dk2" accent1="accent1" accent2="accent2" accent3="accent3" accent4="accent4" accent5="accent5" accent6="accent6" hlink="hlink" folHlink="folHlink"/>
  <p:sldLayoutIdLst>
    <p:sldLayoutId id="2147483675" r:id="rId1"/>
    <p:sldLayoutId id="2147483664" r:id="rId2"/>
    <p:sldLayoutId id="2147483676"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Lst>
  <p:hf hdr="0" dt="0"/>
  <p:txStyles>
    <p:titleStyle>
      <a:lvl1pPr algn="l" defTabSz="914400" rtl="0" eaLnBrk="1" latinLnBrk="0" hangingPunct="1">
        <a:lnSpc>
          <a:spcPct val="90000"/>
        </a:lnSpc>
        <a:spcBef>
          <a:spcPct val="0"/>
        </a:spcBef>
        <a:buNone/>
        <a:defRPr sz="4400" kern="1200">
          <a:solidFill>
            <a:schemeClr val="tx1"/>
          </a:solidFill>
          <a:latin typeface="Baskerville" panose="02020502070401020303" pitchFamily="18" charset="0"/>
          <a:ea typeface="Baskerville" panose="02020502070401020303" pitchFamily="18" charset="0"/>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3" Type="http://schemas.openxmlformats.org/officeDocument/2006/relationships/image" Target="../media/image8.gif"/><Relationship Id="rId2" Type="http://schemas.openxmlformats.org/officeDocument/2006/relationships/image" Target="../media/image4.emf"/><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9.xml"/><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image" Target="../media/image18.jpg"/><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8" Type="http://schemas.openxmlformats.org/officeDocument/2006/relationships/image" Target="../media/image23.png"/><Relationship Id="rId13" Type="http://schemas.microsoft.com/office/2007/relationships/hdphoto" Target="../media/hdphoto5.wdp"/><Relationship Id="rId3" Type="http://schemas.openxmlformats.org/officeDocument/2006/relationships/image" Target="../media/image20.jpeg"/><Relationship Id="rId7" Type="http://schemas.microsoft.com/office/2007/relationships/hdphoto" Target="../media/hdphoto2.wdp"/><Relationship Id="rId12" Type="http://schemas.openxmlformats.org/officeDocument/2006/relationships/image" Target="../media/image25.png"/><Relationship Id="rId2" Type="http://schemas.openxmlformats.org/officeDocument/2006/relationships/notesSlide" Target="../notesSlides/notesSlide15.xml"/><Relationship Id="rId1" Type="http://schemas.openxmlformats.org/officeDocument/2006/relationships/slideLayout" Target="../slideLayouts/slideLayout3.xml"/><Relationship Id="rId6" Type="http://schemas.openxmlformats.org/officeDocument/2006/relationships/image" Target="../media/image22.png"/><Relationship Id="rId11" Type="http://schemas.microsoft.com/office/2007/relationships/hdphoto" Target="../media/hdphoto4.wdp"/><Relationship Id="rId5" Type="http://schemas.microsoft.com/office/2007/relationships/hdphoto" Target="../media/hdphoto1.wdp"/><Relationship Id="rId10" Type="http://schemas.openxmlformats.org/officeDocument/2006/relationships/image" Target="../media/image24.png"/><Relationship Id="rId4" Type="http://schemas.openxmlformats.org/officeDocument/2006/relationships/image" Target="../media/image21.png"/><Relationship Id="rId9" Type="http://schemas.microsoft.com/office/2007/relationships/hdphoto" Target="../media/hdphoto3.wdp"/></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9.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2.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28.xml"/><Relationship Id="rId1" Type="http://schemas.openxmlformats.org/officeDocument/2006/relationships/slideLayout" Target="../slideLayouts/slideLayout9.xml"/><Relationship Id="rId5" Type="http://schemas.openxmlformats.org/officeDocument/2006/relationships/image" Target="../media/image30.jpeg"/><Relationship Id="rId4" Type="http://schemas.openxmlformats.org/officeDocument/2006/relationships/image" Target="../media/image29.jpe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9.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6.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9.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9.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0.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64.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3" Type="http://schemas.openxmlformats.org/officeDocument/2006/relationships/image" Target="../media/image8.gif"/><Relationship Id="rId2" Type="http://schemas.openxmlformats.org/officeDocument/2006/relationships/notesSlide" Target="../notesSlides/notesSlide36.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9B60FA6-6E24-C6E2-C35D-A4139BCE2E8B}"/>
              </a:ext>
            </a:extLst>
          </p:cNvPr>
          <p:cNvPicPr>
            <a:picLocks noChangeAspect="1"/>
          </p:cNvPicPr>
          <p:nvPr/>
        </p:nvPicPr>
        <p:blipFill>
          <a:blip r:embed="rId3"/>
          <a:stretch>
            <a:fillRect/>
          </a:stretch>
        </p:blipFill>
        <p:spPr>
          <a:xfrm>
            <a:off x="4747929" y="4846192"/>
            <a:ext cx="2696138" cy="45719"/>
          </a:xfrm>
          <a:prstGeom prst="rect">
            <a:avLst/>
          </a:prstGeom>
        </p:spPr>
      </p:pic>
      <p:sp>
        <p:nvSpPr>
          <p:cNvPr id="5" name="TextBox 4">
            <a:extLst>
              <a:ext uri="{FF2B5EF4-FFF2-40B4-BE49-F238E27FC236}">
                <a16:creationId xmlns:a16="http://schemas.microsoft.com/office/drawing/2014/main" id="{0BF4BEED-3D12-D343-768A-9E83F9558AE0}"/>
              </a:ext>
            </a:extLst>
          </p:cNvPr>
          <p:cNvSpPr txBox="1"/>
          <p:nvPr/>
        </p:nvSpPr>
        <p:spPr>
          <a:xfrm>
            <a:off x="3442234" y="3900266"/>
            <a:ext cx="5674290" cy="2314801"/>
          </a:xfrm>
          <a:prstGeom prst="rect">
            <a:avLst/>
          </a:prstGeom>
          <a:noFill/>
        </p:spPr>
        <p:txBody>
          <a:bodyPr wrap="square" rtlCol="0">
            <a:spAutoFit/>
          </a:bodyPr>
          <a:lstStyle/>
          <a:p>
            <a:pPr algn="ctr">
              <a:lnSpc>
                <a:spcPct val="150000"/>
              </a:lnSpc>
              <a:spcBef>
                <a:spcPct val="0"/>
              </a:spcBef>
            </a:pPr>
            <a:r>
              <a:rPr lang="en-GB" altLang="en-US" sz="4000" b="0" dirty="0"/>
              <a:t>Lean Basics Overview</a:t>
            </a:r>
          </a:p>
          <a:p>
            <a:pPr algn="ctr">
              <a:lnSpc>
                <a:spcPct val="150000"/>
              </a:lnSpc>
              <a:spcBef>
                <a:spcPct val="0"/>
              </a:spcBef>
            </a:pPr>
            <a:r>
              <a:rPr lang="en-GB" altLang="en-US" sz="2400" b="0" dirty="0"/>
              <a:t>Overview of History, Principles and Tools</a:t>
            </a:r>
            <a:endParaRPr lang="en-US" altLang="en-US" sz="2400" b="0" dirty="0"/>
          </a:p>
          <a:p>
            <a:pPr algn="ctr">
              <a:lnSpc>
                <a:spcPct val="150000"/>
              </a:lnSpc>
              <a:spcBef>
                <a:spcPct val="0"/>
              </a:spcBef>
            </a:pPr>
            <a:endParaRPr lang="en-US" altLang="en-US" sz="3600" b="0" dirty="0"/>
          </a:p>
        </p:txBody>
      </p:sp>
    </p:spTree>
    <p:extLst>
      <p:ext uri="{BB962C8B-B14F-4D97-AF65-F5344CB8AC3E}">
        <p14:creationId xmlns:p14="http://schemas.microsoft.com/office/powerpoint/2010/main" val="5527953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301234-A0AA-5598-26B5-033CE6FE23E5}"/>
              </a:ext>
            </a:extLst>
          </p:cNvPr>
          <p:cNvSpPr txBox="1">
            <a:spLocks/>
          </p:cNvSpPr>
          <p:nvPr/>
        </p:nvSpPr>
        <p:spPr>
          <a:xfrm>
            <a:off x="606705" y="793843"/>
            <a:ext cx="10515600" cy="1022351"/>
          </a:xfrm>
          <a:prstGeom prst="rect">
            <a:avLst/>
          </a:prstGeom>
        </p:spPr>
        <p:txBody>
          <a:bodyPr lIns="91440" tIns="45720" rIns="91440" bIns="45720" anchor="t"/>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r>
              <a:rPr lang="en-US" dirty="0">
                <a:solidFill>
                  <a:schemeClr val="tx1"/>
                </a:solidFill>
                <a:latin typeface="Roboto Medium"/>
                <a:cs typeface="Roboto"/>
              </a:rPr>
              <a:t>Other</a:t>
            </a:r>
            <a:r>
              <a:rPr lang="en-US" dirty="0">
                <a:solidFill>
                  <a:schemeClr val="tx1"/>
                </a:solidFill>
                <a:latin typeface="Roboto Medium"/>
                <a:cs typeface="Roboto Medium"/>
              </a:rPr>
              <a:t> Modules In This Series:</a:t>
            </a:r>
          </a:p>
        </p:txBody>
      </p:sp>
      <p:pic>
        <p:nvPicPr>
          <p:cNvPr id="3" name="Picture 2">
            <a:extLst>
              <a:ext uri="{FF2B5EF4-FFF2-40B4-BE49-F238E27FC236}">
                <a16:creationId xmlns:a16="http://schemas.microsoft.com/office/drawing/2014/main" id="{5DF3825E-B951-729D-1675-8A890DAAC766}"/>
              </a:ext>
            </a:extLst>
          </p:cNvPr>
          <p:cNvPicPr>
            <a:picLocks noChangeAspect="1"/>
          </p:cNvPicPr>
          <p:nvPr/>
        </p:nvPicPr>
        <p:blipFill>
          <a:blip r:embed="rId2"/>
          <a:stretch>
            <a:fillRect/>
          </a:stretch>
        </p:blipFill>
        <p:spPr>
          <a:xfrm>
            <a:off x="605117" y="1638489"/>
            <a:ext cx="3939240" cy="45719"/>
          </a:xfrm>
          <a:prstGeom prst="rect">
            <a:avLst/>
          </a:prstGeom>
        </p:spPr>
      </p:pic>
      <p:sp>
        <p:nvSpPr>
          <p:cNvPr id="4" name="Content Placeholder 3">
            <a:extLst>
              <a:ext uri="{FF2B5EF4-FFF2-40B4-BE49-F238E27FC236}">
                <a16:creationId xmlns:a16="http://schemas.microsoft.com/office/drawing/2014/main" id="{C9914E55-E875-9B78-1E43-35D121FD9751}"/>
              </a:ext>
            </a:extLst>
          </p:cNvPr>
          <p:cNvSpPr txBox="1">
            <a:spLocks/>
          </p:cNvSpPr>
          <p:nvPr/>
        </p:nvSpPr>
        <p:spPr>
          <a:xfrm>
            <a:off x="5839258" y="1166648"/>
            <a:ext cx="5157787" cy="368458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sz="1400" dirty="0">
                <a:solidFill>
                  <a:schemeClr val="tx1"/>
                </a:solidFill>
              </a:rPr>
              <a:t>5S</a:t>
            </a:r>
          </a:p>
          <a:p>
            <a:pPr marL="0" indent="0" algn="r">
              <a:buNone/>
            </a:pPr>
            <a:r>
              <a:rPr lang="en-US" sz="1400" dirty="0">
                <a:solidFill>
                  <a:schemeClr val="tx1"/>
                </a:solidFill>
              </a:rPr>
              <a:t>Standard Work</a:t>
            </a:r>
          </a:p>
          <a:p>
            <a:pPr marL="0" indent="0" algn="r">
              <a:buNone/>
            </a:pPr>
            <a:r>
              <a:rPr lang="en-US" sz="1400" dirty="0">
                <a:solidFill>
                  <a:schemeClr val="tx1"/>
                </a:solidFill>
              </a:rPr>
              <a:t>Total Productive Maintenance (TPM)</a:t>
            </a:r>
          </a:p>
          <a:p>
            <a:pPr marL="0" indent="0" algn="r">
              <a:buNone/>
            </a:pPr>
            <a:r>
              <a:rPr lang="en-US" sz="1400" dirty="0">
                <a:solidFill>
                  <a:schemeClr val="tx1"/>
                </a:solidFill>
              </a:rPr>
              <a:t>Administrative Lean</a:t>
            </a:r>
          </a:p>
          <a:p>
            <a:pPr marL="0" indent="0" algn="r">
              <a:buNone/>
            </a:pPr>
            <a:r>
              <a:rPr lang="en-US" sz="1400" dirty="0">
                <a:solidFill>
                  <a:schemeClr val="tx1"/>
                </a:solidFill>
              </a:rPr>
              <a:t>Cell Design/ Production Preparation Process (3P)</a:t>
            </a:r>
          </a:p>
          <a:p>
            <a:pPr marL="0" indent="0" algn="r">
              <a:buNone/>
            </a:pPr>
            <a:r>
              <a:rPr lang="en-US" sz="1400" dirty="0">
                <a:solidFill>
                  <a:schemeClr val="tx1"/>
                </a:solidFill>
              </a:rPr>
              <a:t>Kaizen</a:t>
            </a:r>
          </a:p>
          <a:p>
            <a:pPr marL="0" indent="0" algn="r">
              <a:buNone/>
            </a:pPr>
            <a:r>
              <a:rPr lang="en-US" sz="1400" dirty="0">
                <a:solidFill>
                  <a:schemeClr val="tx1"/>
                </a:solidFill>
              </a:rPr>
              <a:t>Kanban</a:t>
            </a:r>
          </a:p>
          <a:p>
            <a:pPr marL="0" indent="0" algn="r">
              <a:buNone/>
            </a:pPr>
            <a:r>
              <a:rPr lang="en-US" sz="1400" dirty="0">
                <a:solidFill>
                  <a:schemeClr val="tx1"/>
                </a:solidFill>
              </a:rPr>
              <a:t>Problem Solving</a:t>
            </a:r>
          </a:p>
          <a:p>
            <a:pPr marL="0" indent="0" algn="r">
              <a:buNone/>
            </a:pPr>
            <a:r>
              <a:rPr lang="en-US" sz="1400" dirty="0" err="1">
                <a:solidFill>
                  <a:schemeClr val="tx1"/>
                </a:solidFill>
              </a:rPr>
              <a:t>Poka</a:t>
            </a:r>
            <a:r>
              <a:rPr lang="en-US" sz="1400" dirty="0">
                <a:solidFill>
                  <a:schemeClr val="tx1"/>
                </a:solidFill>
              </a:rPr>
              <a:t> Yoke Quality Systems</a:t>
            </a:r>
          </a:p>
          <a:p>
            <a:pPr marL="0" indent="0" algn="r">
              <a:buNone/>
            </a:pPr>
            <a:r>
              <a:rPr lang="en-US" sz="1400" dirty="0">
                <a:solidFill>
                  <a:schemeClr val="tx1"/>
                </a:solidFill>
              </a:rPr>
              <a:t>Transaction Process Improvement (TPI)</a:t>
            </a:r>
          </a:p>
          <a:p>
            <a:pPr marL="0" indent="0" algn="r">
              <a:buNone/>
            </a:pPr>
            <a:r>
              <a:rPr lang="en-US" sz="1400" dirty="0">
                <a:solidFill>
                  <a:schemeClr val="tx1"/>
                </a:solidFill>
              </a:rPr>
              <a:t>Cause &amp; Effect Diagram with the Additions of Cards (CEDAC)</a:t>
            </a:r>
          </a:p>
          <a:p>
            <a:pPr marL="0" indent="0" algn="r">
              <a:buNone/>
            </a:pPr>
            <a:r>
              <a:rPr lang="en-US" sz="1400" dirty="0">
                <a:solidFill>
                  <a:schemeClr val="tx1"/>
                </a:solidFill>
              </a:rPr>
              <a:t>Single Minute Exchange of Dies (SMED)</a:t>
            </a:r>
          </a:p>
          <a:p>
            <a:pPr marL="0" indent="0" algn="r">
              <a:buNone/>
            </a:pPr>
            <a:r>
              <a:rPr lang="en-US" sz="1400" dirty="0">
                <a:solidFill>
                  <a:schemeClr val="tx1"/>
                </a:solidFill>
              </a:rPr>
              <a:t>Value Stream Mapping (</a:t>
            </a:r>
            <a:r>
              <a:rPr lang="en-US" sz="1400" dirty="0" err="1">
                <a:solidFill>
                  <a:schemeClr val="tx1"/>
                </a:solidFill>
              </a:rPr>
              <a:t>VSMi</a:t>
            </a:r>
            <a:r>
              <a:rPr lang="en-US" sz="1400" dirty="0">
                <a:solidFill>
                  <a:schemeClr val="tx1"/>
                </a:solidFill>
              </a:rPr>
              <a:t>®)</a:t>
            </a:r>
          </a:p>
          <a:p>
            <a:pPr marL="0" indent="0" algn="r">
              <a:buNone/>
            </a:pPr>
            <a:r>
              <a:rPr lang="en-US" sz="1400" dirty="0">
                <a:solidFill>
                  <a:schemeClr val="tx1"/>
                </a:solidFill>
              </a:rPr>
              <a:t>Visual Management</a:t>
            </a:r>
          </a:p>
          <a:p>
            <a:pPr marL="0" indent="0" algn="r">
              <a:buNone/>
            </a:pPr>
            <a:r>
              <a:rPr lang="en-US" sz="1400" dirty="0">
                <a:solidFill>
                  <a:schemeClr val="tx1"/>
                </a:solidFill>
              </a:rPr>
              <a:t>Managing Daily Process Excellence</a:t>
            </a:r>
          </a:p>
        </p:txBody>
      </p:sp>
      <p:pic>
        <p:nvPicPr>
          <p:cNvPr id="11" name="Picture 10">
            <a:extLst>
              <a:ext uri="{FF2B5EF4-FFF2-40B4-BE49-F238E27FC236}">
                <a16:creationId xmlns:a16="http://schemas.microsoft.com/office/drawing/2014/main" id="{11F73560-3A07-DDBC-A93D-9C2969C3C85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20142" y="2039270"/>
            <a:ext cx="2945426" cy="1754165"/>
          </a:xfrm>
          <a:prstGeom prst="rect">
            <a:avLst/>
          </a:prstGeom>
        </p:spPr>
      </p:pic>
      <p:sp>
        <p:nvSpPr>
          <p:cNvPr id="13" name="Steve Jones">
            <a:extLst>
              <a:ext uri="{FF2B5EF4-FFF2-40B4-BE49-F238E27FC236}">
                <a16:creationId xmlns:a16="http://schemas.microsoft.com/office/drawing/2014/main" id="{32D7D26D-2286-A78A-74DF-8555FD64C346}"/>
              </a:ext>
            </a:extLst>
          </p:cNvPr>
          <p:cNvSpPr/>
          <p:nvPr/>
        </p:nvSpPr>
        <p:spPr>
          <a:xfrm>
            <a:off x="1069695" y="4201690"/>
            <a:ext cx="3475310" cy="199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nchor="ctr">
            <a:spAutoFit/>
          </a:bodyPr>
          <a:lstStyle>
            <a:lvl1pPr defTabSz="1155700">
              <a:lnSpc>
                <a:spcPct val="80000"/>
              </a:lnSpc>
              <a:defRPr sz="3000" b="1">
                <a:solidFill>
                  <a:srgbClr val="FFFFFF"/>
                </a:solidFill>
              </a:defRPr>
            </a:lvl1pPr>
          </a:lstStyle>
          <a:p>
            <a:r>
              <a:rPr lang="en-US" sz="1600" dirty="0">
                <a:solidFill>
                  <a:srgbClr val="EE3228"/>
                </a:solidFill>
                <a:latin typeface="Roboto" panose="02000000000000000000" pitchFamily="2" charset="0"/>
                <a:ea typeface="Roboto" panose="02000000000000000000" pitchFamily="2" charset="0"/>
                <a:cs typeface="Roboto" panose="02000000000000000000" pitchFamily="2" charset="0"/>
              </a:rPr>
              <a:t>For More Information Please Contact:</a:t>
            </a:r>
          </a:p>
        </p:txBody>
      </p:sp>
      <p:sp>
        <p:nvSpPr>
          <p:cNvPr id="14" name="Head of Management Dept.">
            <a:extLst>
              <a:ext uri="{FF2B5EF4-FFF2-40B4-BE49-F238E27FC236}">
                <a16:creationId xmlns:a16="http://schemas.microsoft.com/office/drawing/2014/main" id="{13AAF857-F867-C38A-47E8-4FCE37EF32C8}"/>
              </a:ext>
            </a:extLst>
          </p:cNvPr>
          <p:cNvSpPr/>
          <p:nvPr/>
        </p:nvSpPr>
        <p:spPr>
          <a:xfrm>
            <a:off x="1367375" y="4590893"/>
            <a:ext cx="2879948" cy="838178"/>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defTabSz="1155700">
              <a:defRPr sz="3000">
                <a:solidFill>
                  <a:srgbClr val="5D616E"/>
                </a:solidFill>
              </a:defRPr>
            </a:lvl1pPr>
          </a:lstStyle>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Mark DeLuzio, President and CEO</a:t>
            </a:r>
          </a:p>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+1.860.234.0915</a:t>
            </a:r>
          </a:p>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mark.deluzio@leanhorizons.com</a:t>
            </a:r>
            <a:endParaRPr sz="14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15" name="TextBox 14">
            <a:extLst>
              <a:ext uri="{FF2B5EF4-FFF2-40B4-BE49-F238E27FC236}">
                <a16:creationId xmlns:a16="http://schemas.microsoft.com/office/drawing/2014/main" id="{1729F7AC-495A-4FB8-042F-1DBECD3DB7C9}"/>
              </a:ext>
            </a:extLst>
          </p:cNvPr>
          <p:cNvSpPr txBox="1"/>
          <p:nvPr/>
        </p:nvSpPr>
        <p:spPr>
          <a:xfrm>
            <a:off x="6291" y="5619244"/>
            <a:ext cx="5602115" cy="26648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ctr">
              <a:lnSpc>
                <a:spcPct val="80000"/>
              </a:lnSpc>
              <a:spcAft>
                <a:spcPct val="0"/>
              </a:spcAft>
              <a:buClrTx/>
              <a:buSzTx/>
              <a:buFontTx/>
              <a:buNone/>
            </a:pPr>
            <a:r>
              <a:rPr lang="en-US" altLang="en-US" sz="1400" i="1" dirty="0">
                <a:solidFill>
                  <a:schemeClr val="bg1"/>
                </a:solidFill>
                <a:latin typeface="Roboto" panose="02000000000000000000" pitchFamily="2" charset="0"/>
                <a:ea typeface="Roboto" panose="02000000000000000000" pitchFamily="2" charset="0"/>
                <a:cs typeface="Roboto" panose="02000000000000000000" pitchFamily="2" charset="0"/>
              </a:rPr>
              <a:t>Strategically Creating Value Through the Elimination of Waste</a:t>
            </a:r>
            <a:endParaRPr lang="en-US" altLang="en-US" sz="1400"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27" name="Footer Placeholder 26">
            <a:extLst>
              <a:ext uri="{FF2B5EF4-FFF2-40B4-BE49-F238E27FC236}">
                <a16:creationId xmlns:a16="http://schemas.microsoft.com/office/drawing/2014/main" id="{8E17FBA7-A8FD-56A3-9A9B-B7892140971A}"/>
              </a:ext>
            </a:extLst>
          </p:cNvPr>
          <p:cNvSpPr>
            <a:spLocks noGrp="1"/>
          </p:cNvSpPr>
          <p:nvPr>
            <p:ph type="ftr" sz="quarter" idx="11"/>
          </p:nvPr>
        </p:nvSpPr>
        <p:spPr/>
        <p:txBody>
          <a:bodyPr/>
          <a:lstStyle/>
          <a:p>
            <a:r>
              <a:rPr lang="en-US" sz="900"/>
              <a:t>© Lean Horizons Consulting, LLC 2023. All Rights Reserved</a:t>
            </a:r>
            <a:endParaRPr lang="en-US" sz="900" dirty="0"/>
          </a:p>
        </p:txBody>
      </p:sp>
      <p:sp>
        <p:nvSpPr>
          <p:cNvPr id="28" name="Slide Number Placeholder 27">
            <a:extLst>
              <a:ext uri="{FF2B5EF4-FFF2-40B4-BE49-F238E27FC236}">
                <a16:creationId xmlns:a16="http://schemas.microsoft.com/office/drawing/2014/main" id="{EF3366BB-7378-5248-E1AB-E3F4D5A711FB}"/>
              </a:ext>
            </a:extLst>
          </p:cNvPr>
          <p:cNvSpPr>
            <a:spLocks noGrp="1"/>
          </p:cNvSpPr>
          <p:nvPr>
            <p:ph type="sldNum" sz="quarter" idx="12"/>
          </p:nvPr>
        </p:nvSpPr>
        <p:spPr/>
        <p:txBody>
          <a:bodyPr/>
          <a:lstStyle/>
          <a:p>
            <a:fld id="{CC6D4273-7FC1-0947-B9FE-19CB3C0D1FB6}" type="slidenum">
              <a:rPr lang="en-US" smtClean="0"/>
              <a:pPr/>
              <a:t>2</a:t>
            </a:fld>
            <a:endParaRPr lang="en-US" dirty="0"/>
          </a:p>
        </p:txBody>
      </p:sp>
    </p:spTree>
    <p:extLst>
      <p:ext uri="{BB962C8B-B14F-4D97-AF65-F5344CB8AC3E}">
        <p14:creationId xmlns:p14="http://schemas.microsoft.com/office/powerpoint/2010/main" val="8110293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C9914E55-E875-9B78-1E43-35D121FD9751}"/>
              </a:ext>
            </a:extLst>
          </p:cNvPr>
          <p:cNvSpPr txBox="1">
            <a:spLocks/>
          </p:cNvSpPr>
          <p:nvPr/>
        </p:nvSpPr>
        <p:spPr>
          <a:xfrm>
            <a:off x="3517106" y="2278809"/>
            <a:ext cx="5157787" cy="230038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000" dirty="0">
                <a:solidFill>
                  <a:schemeClr val="tx1"/>
                </a:solidFill>
              </a:rPr>
              <a:t>This document contains confidential</a:t>
            </a:r>
            <a:br>
              <a:rPr lang="en-US" sz="2000" dirty="0">
                <a:solidFill>
                  <a:schemeClr val="tx1"/>
                </a:solidFill>
              </a:rPr>
            </a:br>
            <a:r>
              <a:rPr lang="en-US" sz="2000" dirty="0">
                <a:solidFill>
                  <a:schemeClr val="tx1"/>
                </a:solidFill>
              </a:rPr>
              <a:t>and proprietary information owned</a:t>
            </a:r>
            <a:br>
              <a:rPr lang="en-US" sz="2000" dirty="0">
                <a:solidFill>
                  <a:schemeClr val="tx1"/>
                </a:solidFill>
              </a:rPr>
            </a:br>
            <a:r>
              <a:rPr lang="en-US" sz="2000" dirty="0">
                <a:solidFill>
                  <a:schemeClr val="tx1"/>
                </a:solidFill>
              </a:rPr>
              <a:t> by Lean Horizons Consulting, LLC.</a:t>
            </a:r>
            <a:br>
              <a:rPr lang="en-US" sz="2000" dirty="0">
                <a:solidFill>
                  <a:schemeClr val="tx1"/>
                </a:solidFill>
              </a:rPr>
            </a:br>
            <a:br>
              <a:rPr lang="en-US" sz="2000" dirty="0">
                <a:solidFill>
                  <a:schemeClr val="tx1"/>
                </a:solidFill>
              </a:rPr>
            </a:br>
            <a:r>
              <a:rPr lang="en-US" sz="2000" dirty="0">
                <a:solidFill>
                  <a:schemeClr val="tx1"/>
                </a:solidFill>
              </a:rPr>
              <a:t>Any disclosure, use, copying or</a:t>
            </a:r>
            <a:br>
              <a:rPr lang="en-US" sz="2000" dirty="0">
                <a:solidFill>
                  <a:schemeClr val="tx1"/>
                </a:solidFill>
              </a:rPr>
            </a:br>
            <a:r>
              <a:rPr lang="en-US" sz="2000" dirty="0">
                <a:solidFill>
                  <a:schemeClr val="tx1"/>
                </a:solidFill>
              </a:rPr>
              <a:t>distribution of this information without the express written consent of Lean Horizons Consulting is strictly prohibited.</a:t>
            </a:r>
          </a:p>
        </p:txBody>
      </p:sp>
      <p:sp>
        <p:nvSpPr>
          <p:cNvPr id="22" name="Footer Placeholder 21">
            <a:extLst>
              <a:ext uri="{FF2B5EF4-FFF2-40B4-BE49-F238E27FC236}">
                <a16:creationId xmlns:a16="http://schemas.microsoft.com/office/drawing/2014/main" id="{37E44B27-0C2C-17AA-86BA-F10AD6313612}"/>
              </a:ext>
            </a:extLst>
          </p:cNvPr>
          <p:cNvSpPr>
            <a:spLocks noGrp="1"/>
          </p:cNvSpPr>
          <p:nvPr>
            <p:ph type="ftr" sz="quarter" idx="11"/>
          </p:nvPr>
        </p:nvSpPr>
        <p:spPr/>
        <p:txBody>
          <a:bodyPr/>
          <a:lstStyle/>
          <a:p>
            <a:r>
              <a:rPr lang="en-US" sz="900"/>
              <a:t>© Lean Horizons Consulting, LLC 2023. All Rights Reserved</a:t>
            </a:r>
            <a:endParaRPr lang="en-US" sz="900" dirty="0"/>
          </a:p>
        </p:txBody>
      </p:sp>
      <p:sp>
        <p:nvSpPr>
          <p:cNvPr id="23" name="Slide Number Placeholder 22">
            <a:extLst>
              <a:ext uri="{FF2B5EF4-FFF2-40B4-BE49-F238E27FC236}">
                <a16:creationId xmlns:a16="http://schemas.microsoft.com/office/drawing/2014/main" id="{987CD68F-F529-1AC7-B116-6B9B66B4D6DB}"/>
              </a:ext>
            </a:extLst>
          </p:cNvPr>
          <p:cNvSpPr>
            <a:spLocks noGrp="1"/>
          </p:cNvSpPr>
          <p:nvPr>
            <p:ph type="sldNum" sz="quarter" idx="12"/>
          </p:nvPr>
        </p:nvSpPr>
        <p:spPr/>
        <p:txBody>
          <a:bodyPr/>
          <a:lstStyle/>
          <a:p>
            <a:fld id="{CC6D4273-7FC1-0947-B9FE-19CB3C0D1FB6}" type="slidenum">
              <a:rPr lang="en-US" smtClean="0"/>
              <a:pPr/>
              <a:t>3</a:t>
            </a:fld>
            <a:endParaRPr lang="en-US" dirty="0"/>
          </a:p>
        </p:txBody>
      </p:sp>
    </p:spTree>
    <p:extLst>
      <p:ext uri="{BB962C8B-B14F-4D97-AF65-F5344CB8AC3E}">
        <p14:creationId xmlns:p14="http://schemas.microsoft.com/office/powerpoint/2010/main" val="37852960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761B1F-82BB-20AA-556E-27FE22CCD7A0}"/>
              </a:ext>
            </a:extLst>
          </p:cNvPr>
          <p:cNvSpPr>
            <a:spLocks noGrp="1"/>
          </p:cNvSpPr>
          <p:nvPr>
            <p:ph type="title"/>
          </p:nvPr>
        </p:nvSpPr>
        <p:spPr/>
        <p:txBody>
          <a:bodyPr>
            <a:normAutofit/>
          </a:bodyPr>
          <a:lstStyle/>
          <a:p>
            <a:r>
              <a:rPr lang="en-US" sz="4000" dirty="0">
                <a:latin typeface="Roboto Medium"/>
                <a:ea typeface="Roboto Medium"/>
                <a:cs typeface="Roboto Medium"/>
              </a:rPr>
              <a:t>Ground Rules for Event</a:t>
            </a:r>
          </a:p>
        </p:txBody>
      </p:sp>
      <p:sp>
        <p:nvSpPr>
          <p:cNvPr id="3" name="Content Placeholder 2">
            <a:extLst>
              <a:ext uri="{FF2B5EF4-FFF2-40B4-BE49-F238E27FC236}">
                <a16:creationId xmlns:a16="http://schemas.microsoft.com/office/drawing/2014/main" id="{D1CAA202-895A-70BD-7319-C214C2BDD1B2}"/>
              </a:ext>
            </a:extLst>
          </p:cNvPr>
          <p:cNvSpPr>
            <a:spLocks noGrp="1"/>
          </p:cNvSpPr>
          <p:nvPr>
            <p:ph idx="1"/>
          </p:nvPr>
        </p:nvSpPr>
        <p:spPr/>
        <p:txBody>
          <a:bodyPr/>
          <a:lstStyle/>
          <a:p>
            <a:r>
              <a:rPr lang="en-US" dirty="0"/>
              <a:t>Safety first (use personal protective equipment)</a:t>
            </a:r>
          </a:p>
          <a:p>
            <a:r>
              <a:rPr lang="en-US" dirty="0"/>
              <a:t>Active participation by all</a:t>
            </a:r>
          </a:p>
          <a:p>
            <a:r>
              <a:rPr lang="en-US" dirty="0"/>
              <a:t>Start and end on time</a:t>
            </a:r>
          </a:p>
          <a:p>
            <a:r>
              <a:rPr lang="en-US" dirty="0"/>
              <a:t>All electronic gadgets (phones, pagers, </a:t>
            </a:r>
            <a:r>
              <a:rPr lang="en-US" dirty="0" err="1"/>
              <a:t>etc</a:t>
            </a:r>
            <a:r>
              <a:rPr lang="en-US" dirty="0"/>
              <a:t>) turned to “off” or “silent”</a:t>
            </a:r>
          </a:p>
          <a:p>
            <a:r>
              <a:rPr lang="en-US" dirty="0"/>
              <a:t>Computers to be used only when instructed</a:t>
            </a:r>
          </a:p>
          <a:p>
            <a:r>
              <a:rPr lang="en-US" dirty="0"/>
              <a:t>Keep an open mind to change</a:t>
            </a:r>
          </a:p>
          <a:p>
            <a:r>
              <a:rPr lang="en-US" dirty="0"/>
              <a:t>Don’t let “perfect” get in the way of “better”</a:t>
            </a:r>
          </a:p>
        </p:txBody>
      </p:sp>
      <p:sp>
        <p:nvSpPr>
          <p:cNvPr id="16" name="Footer Placeholder 15">
            <a:extLst>
              <a:ext uri="{FF2B5EF4-FFF2-40B4-BE49-F238E27FC236}">
                <a16:creationId xmlns:a16="http://schemas.microsoft.com/office/drawing/2014/main" id="{16AA3366-CBBC-42C9-2CA7-8E1133D4C50B}"/>
              </a:ext>
            </a:extLst>
          </p:cNvPr>
          <p:cNvSpPr>
            <a:spLocks noGrp="1"/>
          </p:cNvSpPr>
          <p:nvPr>
            <p:ph type="ftr" sz="quarter" idx="11"/>
          </p:nvPr>
        </p:nvSpPr>
        <p:spPr/>
        <p:txBody>
          <a:bodyPr/>
          <a:lstStyle/>
          <a:p>
            <a:r>
              <a:rPr lang="en-US"/>
              <a:t>© Lean Horizons Consulting, LLC 2023. All Rights Reserved</a:t>
            </a:r>
            <a:endParaRPr lang="en-US" dirty="0"/>
          </a:p>
        </p:txBody>
      </p:sp>
      <p:sp>
        <p:nvSpPr>
          <p:cNvPr id="17" name="Slide Number Placeholder 16">
            <a:extLst>
              <a:ext uri="{FF2B5EF4-FFF2-40B4-BE49-F238E27FC236}">
                <a16:creationId xmlns:a16="http://schemas.microsoft.com/office/drawing/2014/main" id="{C5C65792-2A36-FB9E-3DF5-7A139A9DCDC9}"/>
              </a:ext>
            </a:extLst>
          </p:cNvPr>
          <p:cNvSpPr>
            <a:spLocks noGrp="1"/>
          </p:cNvSpPr>
          <p:nvPr>
            <p:ph type="sldNum" sz="quarter" idx="12"/>
          </p:nvPr>
        </p:nvSpPr>
        <p:spPr/>
        <p:txBody>
          <a:bodyPr/>
          <a:lstStyle/>
          <a:p>
            <a:fld id="{CC6D4273-7FC1-0947-B9FE-19CB3C0D1FB6}" type="slidenum">
              <a:rPr lang="en-US" smtClean="0"/>
              <a:t>4</a:t>
            </a:fld>
            <a:endParaRPr lang="en-US"/>
          </a:p>
        </p:txBody>
      </p:sp>
    </p:spTree>
    <p:extLst>
      <p:ext uri="{BB962C8B-B14F-4D97-AF65-F5344CB8AC3E}">
        <p14:creationId xmlns:p14="http://schemas.microsoft.com/office/powerpoint/2010/main" val="27261886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89E472-DB78-D545-2AF4-17157A84BB80}"/>
              </a:ext>
            </a:extLst>
          </p:cNvPr>
          <p:cNvSpPr>
            <a:spLocks noGrp="1"/>
          </p:cNvSpPr>
          <p:nvPr>
            <p:ph type="title"/>
          </p:nvPr>
        </p:nvSpPr>
        <p:spPr>
          <a:xfrm>
            <a:off x="849149" y="919568"/>
            <a:ext cx="10515600" cy="615553"/>
          </a:xfrm>
        </p:spPr>
        <p:txBody>
          <a:bodyPr>
            <a:noAutofit/>
          </a:bodyPr>
          <a:lstStyle/>
          <a:p>
            <a:r>
              <a:rPr lang="en-US" sz="4000" dirty="0">
                <a:latin typeface="Roboto Medium"/>
                <a:ea typeface="Roboto Medium"/>
                <a:cs typeface="Roboto Medium"/>
              </a:rPr>
              <a:t>Introduction to Lean</a:t>
            </a:r>
          </a:p>
        </p:txBody>
      </p:sp>
      <p:sp>
        <p:nvSpPr>
          <p:cNvPr id="4" name="Footer Placeholder 3">
            <a:extLst>
              <a:ext uri="{FF2B5EF4-FFF2-40B4-BE49-F238E27FC236}">
                <a16:creationId xmlns:a16="http://schemas.microsoft.com/office/drawing/2014/main" id="{BAFB8315-EF2C-5076-411F-CC683A93A72F}"/>
              </a:ext>
            </a:extLst>
          </p:cNvPr>
          <p:cNvSpPr>
            <a:spLocks noGrp="1"/>
          </p:cNvSpPr>
          <p:nvPr>
            <p:ph type="ftr" sz="quarter" idx="11"/>
          </p:nvPr>
        </p:nvSpPr>
        <p:spPr/>
        <p:txBody>
          <a:bodyPr/>
          <a:lstStyle/>
          <a:p>
            <a:r>
              <a:rPr lang="en-US"/>
              <a:t>© Lean Horizons Consulting, LLC 2023. All Rights Reserved</a:t>
            </a:r>
            <a:endParaRPr lang="en-US" dirty="0"/>
          </a:p>
        </p:txBody>
      </p:sp>
      <p:sp>
        <p:nvSpPr>
          <p:cNvPr id="5" name="Slide Number Placeholder 4">
            <a:extLst>
              <a:ext uri="{FF2B5EF4-FFF2-40B4-BE49-F238E27FC236}">
                <a16:creationId xmlns:a16="http://schemas.microsoft.com/office/drawing/2014/main" id="{1FBABA61-41D6-C99B-A956-C4DC4E6E7AFD}"/>
              </a:ext>
            </a:extLst>
          </p:cNvPr>
          <p:cNvSpPr>
            <a:spLocks noGrp="1"/>
          </p:cNvSpPr>
          <p:nvPr>
            <p:ph type="sldNum" sz="quarter" idx="12"/>
          </p:nvPr>
        </p:nvSpPr>
        <p:spPr/>
        <p:txBody>
          <a:bodyPr/>
          <a:lstStyle/>
          <a:p>
            <a:fld id="{CC6D4273-7FC1-0947-B9FE-19CB3C0D1FB6}" type="slidenum">
              <a:rPr lang="en-US" smtClean="0"/>
              <a:t>5</a:t>
            </a:fld>
            <a:endParaRPr lang="en-US"/>
          </a:p>
        </p:txBody>
      </p:sp>
      <p:grpSp>
        <p:nvGrpSpPr>
          <p:cNvPr id="42" name="Group 41">
            <a:extLst>
              <a:ext uri="{FF2B5EF4-FFF2-40B4-BE49-F238E27FC236}">
                <a16:creationId xmlns:a16="http://schemas.microsoft.com/office/drawing/2014/main" id="{306A45EF-10B1-FE76-86C8-1E4E13FF70E0}"/>
              </a:ext>
            </a:extLst>
          </p:cNvPr>
          <p:cNvGrpSpPr/>
          <p:nvPr/>
        </p:nvGrpSpPr>
        <p:grpSpPr>
          <a:xfrm>
            <a:off x="609504" y="2562059"/>
            <a:ext cx="11301037" cy="2800159"/>
            <a:chOff x="1594131" y="4403095"/>
            <a:chExt cx="18986928" cy="4704563"/>
          </a:xfrm>
        </p:grpSpPr>
        <p:sp>
          <p:nvSpPr>
            <p:cNvPr id="24" name="Circle">
              <a:extLst>
                <a:ext uri="{FF2B5EF4-FFF2-40B4-BE49-F238E27FC236}">
                  <a16:creationId xmlns:a16="http://schemas.microsoft.com/office/drawing/2014/main" id="{B02B299C-AE5F-3A1E-2F42-289CDC5B326D}"/>
                </a:ext>
              </a:extLst>
            </p:cNvPr>
            <p:cNvSpPr/>
            <p:nvPr/>
          </p:nvSpPr>
          <p:spPr>
            <a:xfrm>
              <a:off x="1594131" y="4867369"/>
              <a:ext cx="2346159" cy="2346160"/>
            </a:xfrm>
            <a:prstGeom prst="ellipse">
              <a:avLst/>
            </a:prstGeom>
            <a:solidFill>
              <a:srgbClr val="EE3228"/>
            </a:solidFill>
            <a:ln w="12700">
              <a:miter lim="400000"/>
            </a:ln>
          </p:spPr>
          <p:txBody>
            <a:bodyPr lIns="50800" tIns="50800" rIns="50800" bIns="50800" anchor="ctr"/>
            <a:lstStyle/>
            <a:p>
              <a:pPr defTabSz="584200">
                <a:defRPr sz="4000">
                  <a:solidFill>
                    <a:srgbClr val="FFFFFF"/>
                  </a:solidFill>
                  <a:effectLst>
                    <a:outerShdw blurRad="38100" dist="12700" dir="5400000" rotWithShape="0">
                      <a:srgbClr val="000000">
                        <a:alpha val="50000"/>
                      </a:srgbClr>
                    </a:outerShdw>
                  </a:effectLst>
                </a:defRPr>
              </a:pPr>
              <a:endParaRPr/>
            </a:p>
          </p:txBody>
        </p:sp>
        <p:sp>
          <p:nvSpPr>
            <p:cNvPr id="26" name="Circle">
              <a:extLst>
                <a:ext uri="{FF2B5EF4-FFF2-40B4-BE49-F238E27FC236}">
                  <a16:creationId xmlns:a16="http://schemas.microsoft.com/office/drawing/2014/main" id="{0562CAF8-E5CA-8FF9-0FDE-865B2018734F}"/>
                </a:ext>
              </a:extLst>
            </p:cNvPr>
            <p:cNvSpPr/>
            <p:nvPr/>
          </p:nvSpPr>
          <p:spPr>
            <a:xfrm>
              <a:off x="5753703" y="4867371"/>
              <a:ext cx="2346159" cy="2346160"/>
            </a:xfrm>
            <a:prstGeom prst="ellipse">
              <a:avLst/>
            </a:prstGeom>
            <a:solidFill>
              <a:srgbClr val="EE3228"/>
            </a:solidFill>
            <a:ln w="12700">
              <a:miter lim="400000"/>
            </a:ln>
          </p:spPr>
          <p:txBody>
            <a:bodyPr lIns="50800" tIns="50800" rIns="50800" bIns="50800" anchor="ctr"/>
            <a:lstStyle/>
            <a:p>
              <a:pPr defTabSz="584200">
                <a:defRPr sz="4000">
                  <a:solidFill>
                    <a:srgbClr val="FFFFFF"/>
                  </a:solidFill>
                  <a:effectLst>
                    <a:outerShdw blurRad="38100" dist="12700" dir="5400000" rotWithShape="0">
                      <a:srgbClr val="000000">
                        <a:alpha val="50000"/>
                      </a:srgbClr>
                    </a:outerShdw>
                  </a:effectLst>
                </a:defRPr>
              </a:pPr>
              <a:endParaRPr/>
            </a:p>
          </p:txBody>
        </p:sp>
        <p:sp>
          <p:nvSpPr>
            <p:cNvPr id="27" name="Circle">
              <a:extLst>
                <a:ext uri="{FF2B5EF4-FFF2-40B4-BE49-F238E27FC236}">
                  <a16:creationId xmlns:a16="http://schemas.microsoft.com/office/drawing/2014/main" id="{F2372175-68F1-6857-EA02-B595DD5D1BD9}"/>
                </a:ext>
              </a:extLst>
            </p:cNvPr>
            <p:cNvSpPr/>
            <p:nvPr/>
          </p:nvSpPr>
          <p:spPr>
            <a:xfrm>
              <a:off x="5971347" y="5085015"/>
              <a:ext cx="1910871" cy="1910871"/>
            </a:xfrm>
            <a:prstGeom prst="ellipse">
              <a:avLst/>
            </a:prstGeom>
            <a:solidFill>
              <a:srgbClr val="191C26"/>
            </a:solidFill>
            <a:ln w="12700">
              <a:miter lim="400000"/>
            </a:ln>
          </p:spPr>
          <p:txBody>
            <a:bodyPr lIns="50800" tIns="50800" rIns="50800" bIns="50800" anchor="ctr"/>
            <a:lstStyle/>
            <a:p>
              <a:pPr defTabSz="584200">
                <a:defRPr sz="4000">
                  <a:solidFill>
                    <a:srgbClr val="FFFFFF"/>
                  </a:solidFill>
                  <a:effectLst>
                    <a:outerShdw blurRad="38100" dist="12700" dir="5400000" rotWithShape="0">
                      <a:srgbClr val="000000">
                        <a:alpha val="50000"/>
                      </a:srgbClr>
                    </a:outerShdw>
                  </a:effectLst>
                </a:defRPr>
              </a:pPr>
              <a:endParaRPr/>
            </a:p>
          </p:txBody>
        </p:sp>
        <p:sp>
          <p:nvSpPr>
            <p:cNvPr id="28" name="Arrow">
              <a:extLst>
                <a:ext uri="{FF2B5EF4-FFF2-40B4-BE49-F238E27FC236}">
                  <a16:creationId xmlns:a16="http://schemas.microsoft.com/office/drawing/2014/main" id="{77AFE016-C94C-38E2-41F9-6333E1A405D7}"/>
                </a:ext>
              </a:extLst>
            </p:cNvPr>
            <p:cNvSpPr/>
            <p:nvPr/>
          </p:nvSpPr>
          <p:spPr>
            <a:xfrm>
              <a:off x="4437005" y="5583647"/>
              <a:ext cx="913607" cy="913608"/>
            </a:xfrm>
            <a:prstGeom prst="rightArrow">
              <a:avLst>
                <a:gd name="adj1" fmla="val 54641"/>
                <a:gd name="adj2" fmla="val 68352"/>
              </a:avLst>
            </a:prstGeom>
            <a:solidFill>
              <a:srgbClr val="222222"/>
            </a:solidFill>
            <a:ln w="12700">
              <a:miter lim="400000"/>
            </a:ln>
          </p:spPr>
          <p:txBody>
            <a:bodyPr lIns="50800" tIns="50800" rIns="50800" bIns="50800" anchor="ctr"/>
            <a:lstStyle/>
            <a:p>
              <a:pPr defTabSz="584200">
                <a:defRPr sz="4000">
                  <a:solidFill>
                    <a:srgbClr val="A9AFC3"/>
                  </a:solidFill>
                  <a:effectLst>
                    <a:outerShdw blurRad="38100" dist="12700" dir="5400000" rotWithShape="0">
                      <a:srgbClr val="000000">
                        <a:alpha val="50000"/>
                      </a:srgbClr>
                    </a:outerShdw>
                  </a:effectLst>
                </a:defRPr>
              </a:pPr>
              <a:endParaRPr/>
            </a:p>
          </p:txBody>
        </p:sp>
        <p:sp>
          <p:nvSpPr>
            <p:cNvPr id="29" name="Arrow">
              <a:extLst>
                <a:ext uri="{FF2B5EF4-FFF2-40B4-BE49-F238E27FC236}">
                  <a16:creationId xmlns:a16="http://schemas.microsoft.com/office/drawing/2014/main" id="{903C119F-74F7-C737-6735-8BA9447E3A42}"/>
                </a:ext>
              </a:extLst>
            </p:cNvPr>
            <p:cNvSpPr/>
            <p:nvPr/>
          </p:nvSpPr>
          <p:spPr>
            <a:xfrm>
              <a:off x="8596577" y="5583647"/>
              <a:ext cx="913607" cy="913608"/>
            </a:xfrm>
            <a:prstGeom prst="rightArrow">
              <a:avLst>
                <a:gd name="adj1" fmla="val 54641"/>
                <a:gd name="adj2" fmla="val 68352"/>
              </a:avLst>
            </a:prstGeom>
            <a:solidFill>
              <a:srgbClr val="222222"/>
            </a:solidFill>
            <a:ln w="12700">
              <a:miter lim="400000"/>
            </a:ln>
          </p:spPr>
          <p:txBody>
            <a:bodyPr lIns="50800" tIns="50800" rIns="50800" bIns="50800" anchor="ctr"/>
            <a:lstStyle/>
            <a:p>
              <a:pPr defTabSz="584200">
                <a:defRPr sz="4000">
                  <a:solidFill>
                    <a:srgbClr val="A9AFC3"/>
                  </a:solidFill>
                  <a:effectLst>
                    <a:outerShdw blurRad="38100" dist="12700" dir="5400000" rotWithShape="0">
                      <a:srgbClr val="000000">
                        <a:alpha val="50000"/>
                      </a:srgbClr>
                    </a:outerShdw>
                  </a:effectLst>
                </a:defRPr>
              </a:pPr>
              <a:endParaRPr/>
            </a:p>
          </p:txBody>
        </p:sp>
        <p:sp>
          <p:nvSpPr>
            <p:cNvPr id="30" name="Circle">
              <a:extLst>
                <a:ext uri="{FF2B5EF4-FFF2-40B4-BE49-F238E27FC236}">
                  <a16:creationId xmlns:a16="http://schemas.microsoft.com/office/drawing/2014/main" id="{7CFA75CF-9CE6-2B20-86F8-7967424F7A72}"/>
                </a:ext>
              </a:extLst>
            </p:cNvPr>
            <p:cNvSpPr/>
            <p:nvPr/>
          </p:nvSpPr>
          <p:spPr>
            <a:xfrm>
              <a:off x="9932369" y="4867371"/>
              <a:ext cx="2346159" cy="2346160"/>
            </a:xfrm>
            <a:prstGeom prst="ellipse">
              <a:avLst/>
            </a:prstGeom>
            <a:solidFill>
              <a:srgbClr val="EE3228"/>
            </a:solidFill>
            <a:ln w="12700">
              <a:miter lim="400000"/>
            </a:ln>
          </p:spPr>
          <p:txBody>
            <a:bodyPr lIns="50800" tIns="50800" rIns="50800" bIns="50800" anchor="ctr"/>
            <a:lstStyle/>
            <a:p>
              <a:pPr defTabSz="584200">
                <a:defRPr sz="4000">
                  <a:solidFill>
                    <a:srgbClr val="FFFFFF"/>
                  </a:solidFill>
                  <a:effectLst>
                    <a:outerShdw blurRad="38100" dist="12700" dir="5400000" rotWithShape="0">
                      <a:srgbClr val="000000">
                        <a:alpha val="50000"/>
                      </a:srgbClr>
                    </a:outerShdw>
                  </a:effectLst>
                </a:defRPr>
              </a:pPr>
              <a:endParaRPr/>
            </a:p>
          </p:txBody>
        </p:sp>
        <p:sp>
          <p:nvSpPr>
            <p:cNvPr id="31" name="Circle">
              <a:extLst>
                <a:ext uri="{FF2B5EF4-FFF2-40B4-BE49-F238E27FC236}">
                  <a16:creationId xmlns:a16="http://schemas.microsoft.com/office/drawing/2014/main" id="{393F050E-FC49-2545-B3E1-17FABF322481}"/>
                </a:ext>
              </a:extLst>
            </p:cNvPr>
            <p:cNvSpPr/>
            <p:nvPr/>
          </p:nvSpPr>
          <p:spPr>
            <a:xfrm>
              <a:off x="10150012" y="5085015"/>
              <a:ext cx="1910871" cy="1910871"/>
            </a:xfrm>
            <a:prstGeom prst="ellipse">
              <a:avLst/>
            </a:prstGeom>
            <a:solidFill>
              <a:srgbClr val="191C26"/>
            </a:solidFill>
            <a:ln w="12700">
              <a:miter lim="400000"/>
            </a:ln>
          </p:spPr>
          <p:txBody>
            <a:bodyPr lIns="50800" tIns="50800" rIns="50800" bIns="50800" anchor="ctr"/>
            <a:lstStyle/>
            <a:p>
              <a:pPr defTabSz="584200">
                <a:defRPr sz="4000">
                  <a:solidFill>
                    <a:srgbClr val="FFFFFF"/>
                  </a:solidFill>
                  <a:effectLst>
                    <a:outerShdw blurRad="38100" dist="12700" dir="5400000" rotWithShape="0">
                      <a:srgbClr val="000000">
                        <a:alpha val="50000"/>
                      </a:srgbClr>
                    </a:outerShdw>
                  </a:effectLst>
                </a:defRPr>
              </a:pPr>
              <a:endParaRPr/>
            </a:p>
          </p:txBody>
        </p:sp>
        <p:sp>
          <p:nvSpPr>
            <p:cNvPr id="32" name="Increase…">
              <a:extLst>
                <a:ext uri="{FF2B5EF4-FFF2-40B4-BE49-F238E27FC236}">
                  <a16:creationId xmlns:a16="http://schemas.microsoft.com/office/drawing/2014/main" id="{EA47C7D3-79B4-4B68-9FCD-C3A265B67413}"/>
                </a:ext>
              </a:extLst>
            </p:cNvPr>
            <p:cNvSpPr/>
            <p:nvPr/>
          </p:nvSpPr>
          <p:spPr>
            <a:xfrm>
              <a:off x="1636967" y="7783449"/>
              <a:ext cx="3538015" cy="51709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p>
              <a:pPr defTabSz="1155700">
                <a:defRPr sz="3000" b="1">
                  <a:solidFill>
                    <a:srgbClr val="DD4242"/>
                  </a:solidFill>
                </a:defRPr>
              </a:pPr>
              <a:r>
                <a:rPr lang="en-US" sz="2000" dirty="0">
                  <a:solidFill>
                    <a:schemeClr val="tx2"/>
                  </a:solidFill>
                  <a:latin typeface="Roboto" panose="02000000000000000000" pitchFamily="2" charset="0"/>
                  <a:ea typeface="Roboto" panose="02000000000000000000" pitchFamily="2" charset="0"/>
                  <a:cs typeface="Roboto" panose="02000000000000000000" pitchFamily="2" charset="0"/>
                </a:rPr>
                <a:t>Introduction</a:t>
              </a:r>
              <a:endParaRPr sz="2000" dirty="0">
                <a:solidFill>
                  <a:schemeClr val="tx2"/>
                </a:solidFill>
                <a:latin typeface="Roboto" panose="02000000000000000000" pitchFamily="2" charset="0"/>
                <a:ea typeface="Roboto" panose="02000000000000000000" pitchFamily="2" charset="0"/>
                <a:cs typeface="Roboto" panose="02000000000000000000" pitchFamily="2" charset="0"/>
              </a:endParaRPr>
            </a:p>
          </p:txBody>
        </p:sp>
        <p:sp>
          <p:nvSpPr>
            <p:cNvPr id="33" name="Increase  E-Commerce sales">
              <a:extLst>
                <a:ext uri="{FF2B5EF4-FFF2-40B4-BE49-F238E27FC236}">
                  <a16:creationId xmlns:a16="http://schemas.microsoft.com/office/drawing/2014/main" id="{8D17CE2D-D155-14A2-7C95-6E2D66EFC58B}"/>
                </a:ext>
              </a:extLst>
            </p:cNvPr>
            <p:cNvSpPr/>
            <p:nvPr/>
          </p:nvSpPr>
          <p:spPr>
            <a:xfrm>
              <a:off x="5246103" y="7524901"/>
              <a:ext cx="3361359" cy="103419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p>
              <a:pPr algn="ctr" defTabSz="1155700">
                <a:defRPr sz="3000" b="1">
                  <a:solidFill>
                    <a:srgbClr val="DD4242"/>
                  </a:solidFill>
                </a:defRPr>
              </a:pPr>
              <a:r>
                <a:rPr lang="en-US" sz="2000" dirty="0">
                  <a:solidFill>
                    <a:schemeClr val="tx2"/>
                  </a:solidFill>
                  <a:latin typeface="Roboto" panose="02000000000000000000" pitchFamily="2" charset="0"/>
                  <a:ea typeface="Roboto" panose="02000000000000000000" pitchFamily="2" charset="0"/>
                  <a:cs typeface="Roboto" panose="02000000000000000000" pitchFamily="2" charset="0"/>
                </a:rPr>
                <a:t>Lean Fundamentals</a:t>
              </a:r>
              <a:endParaRPr sz="2000" dirty="0">
                <a:solidFill>
                  <a:schemeClr val="tx2"/>
                </a:solidFill>
                <a:latin typeface="Roboto" panose="02000000000000000000" pitchFamily="2" charset="0"/>
                <a:ea typeface="Roboto" panose="02000000000000000000" pitchFamily="2" charset="0"/>
                <a:cs typeface="Roboto" panose="02000000000000000000" pitchFamily="2" charset="0"/>
              </a:endParaRPr>
            </a:p>
          </p:txBody>
        </p:sp>
        <p:sp>
          <p:nvSpPr>
            <p:cNvPr id="34" name="Maximize Profit">
              <a:extLst>
                <a:ext uri="{FF2B5EF4-FFF2-40B4-BE49-F238E27FC236}">
                  <a16:creationId xmlns:a16="http://schemas.microsoft.com/office/drawing/2014/main" id="{A191146B-31A3-99EE-A1BA-EE53742390C8}"/>
                </a:ext>
              </a:extLst>
            </p:cNvPr>
            <p:cNvSpPr/>
            <p:nvPr/>
          </p:nvSpPr>
          <p:spPr>
            <a:xfrm>
              <a:off x="9592843" y="7491188"/>
              <a:ext cx="3025205" cy="103419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defTabSz="1155700">
                <a:defRPr sz="3000" b="1">
                  <a:solidFill>
                    <a:srgbClr val="DD4242"/>
                  </a:solidFill>
                </a:defRPr>
              </a:lvl1pPr>
            </a:lstStyle>
            <a:p>
              <a:pPr algn="ctr"/>
              <a:r>
                <a:rPr lang="en-US" sz="2000" dirty="0">
                  <a:solidFill>
                    <a:schemeClr val="tx2"/>
                  </a:solidFill>
                  <a:latin typeface="Roboto" panose="02000000000000000000" pitchFamily="2" charset="0"/>
                  <a:ea typeface="Roboto" panose="02000000000000000000" pitchFamily="2" charset="0"/>
                  <a:cs typeface="Roboto" panose="02000000000000000000" pitchFamily="2" charset="0"/>
                </a:rPr>
                <a:t>Lean Transformation</a:t>
              </a:r>
              <a:endParaRPr sz="2000" dirty="0">
                <a:solidFill>
                  <a:schemeClr val="tx2"/>
                </a:solidFill>
                <a:latin typeface="Roboto" panose="02000000000000000000" pitchFamily="2" charset="0"/>
                <a:ea typeface="Roboto" panose="02000000000000000000" pitchFamily="2" charset="0"/>
                <a:cs typeface="Roboto" panose="02000000000000000000" pitchFamily="2" charset="0"/>
              </a:endParaRPr>
            </a:p>
          </p:txBody>
        </p:sp>
        <p:sp>
          <p:nvSpPr>
            <p:cNvPr id="35" name="Lorem ipsum, or lipsum as it is sometimes known, is dummy text used in laying out print, graphic or web designs. The passage is attributed to an unknown typesetter in the 15th century who is thought to have scrambled parts of Cicero's De Finibus Bonorum ">
              <a:extLst>
                <a:ext uri="{FF2B5EF4-FFF2-40B4-BE49-F238E27FC236}">
                  <a16:creationId xmlns:a16="http://schemas.microsoft.com/office/drawing/2014/main" id="{712125D3-FE52-DF47-08F6-76134D09F2F2}"/>
                </a:ext>
              </a:extLst>
            </p:cNvPr>
            <p:cNvSpPr/>
            <p:nvPr/>
          </p:nvSpPr>
          <p:spPr>
            <a:xfrm>
              <a:off x="13793012" y="6479081"/>
              <a:ext cx="6788047" cy="2628577"/>
            </a:xfrm>
            <a:prstGeom prst="rect">
              <a:avLst/>
            </a:prstGeom>
            <a:ln w="12700"/>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nchor="ctr">
              <a:spAutoFit/>
            </a:bodyPr>
            <a:lstStyle>
              <a:lvl1pPr defTabSz="952500">
                <a:lnSpc>
                  <a:spcPct val="130000"/>
                </a:lnSpc>
                <a:buClr>
                  <a:srgbClr val="E9F6FA"/>
                </a:buClr>
                <a:defRPr sz="3000">
                  <a:solidFill>
                    <a:srgbClr val="A9AFC3"/>
                  </a:solidFill>
                  <a:uFill>
                    <a:solidFill>
                      <a:srgbClr val="323C40"/>
                    </a:solidFill>
                  </a:uFill>
                </a:defRPr>
              </a:lvl1pPr>
            </a:lstStyle>
            <a:p>
              <a:pPr algn="l">
                <a:spcBef>
                  <a:spcPct val="20000"/>
                </a:spcBef>
                <a:buClrTx/>
                <a:buSzTx/>
                <a:buFontTx/>
                <a:buNone/>
              </a:pPr>
              <a:r>
                <a:rPr lang="en-US" altLang="en-US" sz="2000" dirty="0">
                  <a:solidFill>
                    <a:schemeClr val="tx1"/>
                  </a:solidFill>
                  <a:latin typeface="Roboto" panose="02000000000000000000" pitchFamily="2" charset="0"/>
                  <a:ea typeface="Roboto" panose="02000000000000000000" pitchFamily="2" charset="0"/>
                  <a:cs typeface="Roboto" panose="02000000000000000000" pitchFamily="2" charset="0"/>
                </a:rPr>
                <a:t>To define “Lean” and identify all of the appropriate Lean tools to launch and support your journey to a Lean enterprise.</a:t>
              </a:r>
            </a:p>
          </p:txBody>
        </p:sp>
        <p:sp>
          <p:nvSpPr>
            <p:cNvPr id="36" name="Arrow">
              <a:extLst>
                <a:ext uri="{FF2B5EF4-FFF2-40B4-BE49-F238E27FC236}">
                  <a16:creationId xmlns:a16="http://schemas.microsoft.com/office/drawing/2014/main" id="{8666AAF9-6430-45AB-8D93-AD851D7E2B64}"/>
                </a:ext>
              </a:extLst>
            </p:cNvPr>
            <p:cNvSpPr/>
            <p:nvPr/>
          </p:nvSpPr>
          <p:spPr>
            <a:xfrm>
              <a:off x="12645186" y="5542978"/>
              <a:ext cx="913607" cy="913608"/>
            </a:xfrm>
            <a:prstGeom prst="rightArrow">
              <a:avLst>
                <a:gd name="adj1" fmla="val 54641"/>
                <a:gd name="adj2" fmla="val 68352"/>
              </a:avLst>
            </a:prstGeom>
            <a:solidFill>
              <a:srgbClr val="222222"/>
            </a:solidFill>
            <a:ln w="12700">
              <a:miter lim="400000"/>
            </a:ln>
          </p:spPr>
          <p:txBody>
            <a:bodyPr lIns="50800" tIns="50800" rIns="50800" bIns="50800" anchor="ctr"/>
            <a:lstStyle/>
            <a:p>
              <a:pPr defTabSz="584200">
                <a:defRPr sz="4000">
                  <a:solidFill>
                    <a:srgbClr val="A9AFC3"/>
                  </a:solidFill>
                  <a:effectLst>
                    <a:outerShdw blurRad="38100" dist="12700" dir="5400000" rotWithShape="0">
                      <a:srgbClr val="000000">
                        <a:alpha val="50000"/>
                      </a:srgbClr>
                    </a:outerShdw>
                  </a:effectLst>
                </a:defRPr>
              </a:pPr>
              <a:endParaRPr/>
            </a:p>
          </p:txBody>
        </p:sp>
        <p:sp>
          <p:nvSpPr>
            <p:cNvPr id="37" name="Change your…">
              <a:extLst>
                <a:ext uri="{FF2B5EF4-FFF2-40B4-BE49-F238E27FC236}">
                  <a16:creationId xmlns:a16="http://schemas.microsoft.com/office/drawing/2014/main" id="{F0CBF9A5-C821-FAC6-F01D-B90A1A9DCB72}"/>
                </a:ext>
              </a:extLst>
            </p:cNvPr>
            <p:cNvSpPr/>
            <p:nvPr/>
          </p:nvSpPr>
          <p:spPr>
            <a:xfrm>
              <a:off x="13793012" y="4403095"/>
              <a:ext cx="6788047" cy="11169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nchor="ctr">
              <a:spAutoFit/>
            </a:bodyPr>
            <a:lstStyle/>
            <a:p>
              <a:pPr algn="l" defTabSz="1155700">
                <a:lnSpc>
                  <a:spcPct val="90000"/>
                </a:lnSpc>
                <a:defRPr sz="8000" b="1">
                  <a:solidFill>
                    <a:srgbClr val="FFFFFF"/>
                  </a:solidFill>
                </a:defRPr>
              </a:pPr>
              <a:r>
                <a:rPr lang="en-US" sz="24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Goals of the Introduction </a:t>
              </a:r>
              <a:br>
                <a:rPr lang="en-US" sz="24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br>
              <a:r>
                <a:rPr lang="en-US" sz="24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to Lean Experience:</a:t>
              </a:r>
            </a:p>
          </p:txBody>
        </p:sp>
        <p:pic>
          <p:nvPicPr>
            <p:cNvPr id="38" name="Graphic 37" descr="Classroom with solid fill">
              <a:extLst>
                <a:ext uri="{FF2B5EF4-FFF2-40B4-BE49-F238E27FC236}">
                  <a16:creationId xmlns:a16="http://schemas.microsoft.com/office/drawing/2014/main" id="{5175A9D9-7A7B-6027-61F4-96B4CBF246F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469582" y="5605013"/>
              <a:ext cx="914401" cy="914401"/>
            </a:xfrm>
            <a:prstGeom prst="rect">
              <a:avLst/>
            </a:prstGeom>
          </p:spPr>
        </p:pic>
        <p:sp>
          <p:nvSpPr>
            <p:cNvPr id="39" name="Circle">
              <a:extLst>
                <a:ext uri="{FF2B5EF4-FFF2-40B4-BE49-F238E27FC236}">
                  <a16:creationId xmlns:a16="http://schemas.microsoft.com/office/drawing/2014/main" id="{3AF1CAA7-1910-DF93-7F29-50206F72C8A8}"/>
                </a:ext>
              </a:extLst>
            </p:cNvPr>
            <p:cNvSpPr/>
            <p:nvPr/>
          </p:nvSpPr>
          <p:spPr>
            <a:xfrm>
              <a:off x="1811773" y="5104602"/>
              <a:ext cx="1910871" cy="1910871"/>
            </a:xfrm>
            <a:prstGeom prst="ellipse">
              <a:avLst/>
            </a:prstGeom>
            <a:solidFill>
              <a:srgbClr val="191C26"/>
            </a:solidFill>
            <a:ln w="12700">
              <a:miter lim="400000"/>
            </a:ln>
          </p:spPr>
          <p:txBody>
            <a:bodyPr lIns="50800" tIns="50800" rIns="50800" bIns="50800" anchor="ctr"/>
            <a:lstStyle/>
            <a:p>
              <a:pPr defTabSz="584200">
                <a:defRPr sz="4000">
                  <a:solidFill>
                    <a:srgbClr val="FFFFFF"/>
                  </a:solidFill>
                  <a:effectLst>
                    <a:outerShdw blurRad="38100" dist="12700" dir="5400000" rotWithShape="0">
                      <a:srgbClr val="000000">
                        <a:alpha val="50000"/>
                      </a:srgbClr>
                    </a:outerShdw>
                  </a:effectLst>
                </a:defRPr>
              </a:pPr>
              <a:endParaRPr/>
            </a:p>
          </p:txBody>
        </p:sp>
        <p:pic>
          <p:nvPicPr>
            <p:cNvPr id="40" name="Graphic 39" descr="Books on shelf with solid fill">
              <a:extLst>
                <a:ext uri="{FF2B5EF4-FFF2-40B4-BE49-F238E27FC236}">
                  <a16:creationId xmlns:a16="http://schemas.microsoft.com/office/drawing/2014/main" id="{2D97DBE4-078B-BDDA-1B3A-7D0AEA9AD040}"/>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310009" y="5605013"/>
              <a:ext cx="914401" cy="914401"/>
            </a:xfrm>
            <a:prstGeom prst="rect">
              <a:avLst/>
            </a:prstGeom>
          </p:spPr>
        </p:pic>
        <p:pic>
          <p:nvPicPr>
            <p:cNvPr id="41" name="Graphic 40" descr="Tools with solid fill">
              <a:extLst>
                <a:ext uri="{FF2B5EF4-FFF2-40B4-BE49-F238E27FC236}">
                  <a16:creationId xmlns:a16="http://schemas.microsoft.com/office/drawing/2014/main" id="{EB321298-2827-9C2D-2AB3-2D46A5C66ACA}"/>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648247" y="5571007"/>
              <a:ext cx="914401" cy="914401"/>
            </a:xfrm>
            <a:prstGeom prst="rect">
              <a:avLst/>
            </a:prstGeom>
          </p:spPr>
        </p:pic>
      </p:grpSp>
    </p:spTree>
    <p:extLst>
      <p:ext uri="{BB962C8B-B14F-4D97-AF65-F5344CB8AC3E}">
        <p14:creationId xmlns:p14="http://schemas.microsoft.com/office/powerpoint/2010/main" val="13507862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5FD9B20F-B4C0-1580-D76B-3C4EAAEA9B53}"/>
              </a:ext>
            </a:extLst>
          </p:cNvPr>
          <p:cNvSpPr>
            <a:spLocks noGrp="1"/>
          </p:cNvSpPr>
          <p:nvPr>
            <p:ph type="ftr" sz="quarter" idx="11"/>
          </p:nvPr>
        </p:nvSpPr>
        <p:spPr/>
        <p:txBody>
          <a:bodyPr/>
          <a:lstStyle/>
          <a:p>
            <a:r>
              <a:rPr lang="en-US"/>
              <a:t>© Lean Horizons Consulting, LLC 2023. All Rights Reserved</a:t>
            </a:r>
            <a:endParaRPr lang="en-US" dirty="0"/>
          </a:p>
        </p:txBody>
      </p:sp>
      <p:sp>
        <p:nvSpPr>
          <p:cNvPr id="6" name="Slide Number Placeholder 5">
            <a:extLst>
              <a:ext uri="{FF2B5EF4-FFF2-40B4-BE49-F238E27FC236}">
                <a16:creationId xmlns:a16="http://schemas.microsoft.com/office/drawing/2014/main" id="{2DF11FF7-095F-D1A9-6784-C53D538A36FF}"/>
              </a:ext>
            </a:extLst>
          </p:cNvPr>
          <p:cNvSpPr>
            <a:spLocks noGrp="1"/>
          </p:cNvSpPr>
          <p:nvPr>
            <p:ph type="sldNum" sz="quarter" idx="12"/>
          </p:nvPr>
        </p:nvSpPr>
        <p:spPr/>
        <p:txBody>
          <a:bodyPr/>
          <a:lstStyle/>
          <a:p>
            <a:fld id="{CC6D4273-7FC1-0947-B9FE-19CB3C0D1FB6}" type="slidenum">
              <a:rPr lang="en-US" smtClean="0"/>
              <a:t>6</a:t>
            </a:fld>
            <a:endParaRPr lang="en-US"/>
          </a:p>
        </p:txBody>
      </p:sp>
      <p:sp>
        <p:nvSpPr>
          <p:cNvPr id="2" name="Title 1">
            <a:extLst>
              <a:ext uri="{FF2B5EF4-FFF2-40B4-BE49-F238E27FC236}">
                <a16:creationId xmlns:a16="http://schemas.microsoft.com/office/drawing/2014/main" id="{0D77BA17-B180-9889-85DC-DBE8C080CFB7}"/>
              </a:ext>
            </a:extLst>
          </p:cNvPr>
          <p:cNvSpPr>
            <a:spLocks noGrp="1"/>
          </p:cNvSpPr>
          <p:nvPr>
            <p:ph type="title" idx="4294967295"/>
          </p:nvPr>
        </p:nvSpPr>
        <p:spPr>
          <a:xfrm>
            <a:off x="699911" y="1497012"/>
            <a:ext cx="9815689" cy="1009650"/>
          </a:xfrm>
        </p:spPr>
        <p:txBody>
          <a:bodyPr>
            <a:normAutofit/>
          </a:bodyPr>
          <a:lstStyle/>
          <a:p>
            <a:r>
              <a:rPr lang="en-US" sz="4000" dirty="0">
                <a:latin typeface="Roboto Medium"/>
                <a:ea typeface="Roboto Medium"/>
                <a:cs typeface="Roboto Medium"/>
              </a:rPr>
              <a:t>Introduction</a:t>
            </a:r>
          </a:p>
        </p:txBody>
      </p:sp>
      <p:sp>
        <p:nvSpPr>
          <p:cNvPr id="3" name="Content Placeholder 2">
            <a:extLst>
              <a:ext uri="{FF2B5EF4-FFF2-40B4-BE49-F238E27FC236}">
                <a16:creationId xmlns:a16="http://schemas.microsoft.com/office/drawing/2014/main" id="{30534846-F3D4-20E7-25C0-91FCF7736CB5}"/>
              </a:ext>
            </a:extLst>
          </p:cNvPr>
          <p:cNvSpPr>
            <a:spLocks noGrp="1"/>
          </p:cNvSpPr>
          <p:nvPr>
            <p:ph idx="4294967295"/>
          </p:nvPr>
        </p:nvSpPr>
        <p:spPr>
          <a:xfrm>
            <a:off x="722489" y="2506662"/>
            <a:ext cx="10515600" cy="4351338"/>
          </a:xfrm>
        </p:spPr>
        <p:txBody>
          <a:bodyPr/>
          <a:lstStyle/>
          <a:p>
            <a:pPr marL="0" indent="0">
              <a:buNone/>
            </a:pPr>
            <a:r>
              <a:rPr lang="en-US" dirty="0">
                <a:latin typeface="Roboto Medium" panose="02000000000000000000" pitchFamily="2" charset="0"/>
                <a:ea typeface="Roboto Medium" panose="02000000000000000000" pitchFamily="2" charset="0"/>
                <a:cs typeface="Roboto Medium" panose="02000000000000000000" pitchFamily="2" charset="0"/>
              </a:rPr>
              <a:t>Objectives:</a:t>
            </a:r>
          </a:p>
          <a:p>
            <a:r>
              <a:rPr lang="en-US" dirty="0"/>
              <a:t>Define “Lean”</a:t>
            </a:r>
          </a:p>
          <a:p>
            <a:r>
              <a:rPr lang="en-US" dirty="0"/>
              <a:t>Review history of Lean in the U.S.</a:t>
            </a:r>
          </a:p>
        </p:txBody>
      </p:sp>
      <p:grpSp>
        <p:nvGrpSpPr>
          <p:cNvPr id="10" name="Group 9">
            <a:extLst>
              <a:ext uri="{FF2B5EF4-FFF2-40B4-BE49-F238E27FC236}">
                <a16:creationId xmlns:a16="http://schemas.microsoft.com/office/drawing/2014/main" id="{DF07BA82-F1D2-01EE-36D7-0CE1E1021337}"/>
              </a:ext>
            </a:extLst>
          </p:cNvPr>
          <p:cNvGrpSpPr/>
          <p:nvPr/>
        </p:nvGrpSpPr>
        <p:grpSpPr>
          <a:xfrm>
            <a:off x="699911" y="1069861"/>
            <a:ext cx="4425950" cy="350130"/>
            <a:chOff x="5627530" y="641179"/>
            <a:chExt cx="6564470" cy="804977"/>
          </a:xfrm>
        </p:grpSpPr>
        <p:sp>
          <p:nvSpPr>
            <p:cNvPr id="7" name="AutoShape 9">
              <a:extLst>
                <a:ext uri="{FF2B5EF4-FFF2-40B4-BE49-F238E27FC236}">
                  <a16:creationId xmlns:a16="http://schemas.microsoft.com/office/drawing/2014/main" id="{E658DE7F-EAE7-7BD9-8492-805CBFCFF7F5}"/>
                </a:ext>
              </a:extLst>
            </p:cNvPr>
            <p:cNvSpPr>
              <a:spLocks noChangeArrowheads="1"/>
            </p:cNvSpPr>
            <p:nvPr/>
          </p:nvSpPr>
          <p:spPr bwMode="auto">
            <a:xfrm>
              <a:off x="9851136" y="641179"/>
              <a:ext cx="2340864" cy="804977"/>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Lean</a:t>
              </a:r>
            </a:p>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Transformation</a:t>
              </a:r>
            </a:p>
          </p:txBody>
        </p:sp>
        <p:sp>
          <p:nvSpPr>
            <p:cNvPr id="8" name="AutoShape 10">
              <a:extLst>
                <a:ext uri="{FF2B5EF4-FFF2-40B4-BE49-F238E27FC236}">
                  <a16:creationId xmlns:a16="http://schemas.microsoft.com/office/drawing/2014/main" id="{3B341166-AC1F-8D30-9314-0FB3D948387F}"/>
                </a:ext>
              </a:extLst>
            </p:cNvPr>
            <p:cNvSpPr>
              <a:spLocks noChangeArrowheads="1"/>
            </p:cNvSpPr>
            <p:nvPr/>
          </p:nvSpPr>
          <p:spPr bwMode="auto">
            <a:xfrm>
              <a:off x="7737856" y="641180"/>
              <a:ext cx="2342768" cy="80497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Lean</a:t>
              </a:r>
              <a:b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b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Fundamentals</a:t>
              </a:r>
            </a:p>
          </p:txBody>
        </p:sp>
        <p:sp>
          <p:nvSpPr>
            <p:cNvPr id="9" name="AutoShape 11">
              <a:extLst>
                <a:ext uri="{FF2B5EF4-FFF2-40B4-BE49-F238E27FC236}">
                  <a16:creationId xmlns:a16="http://schemas.microsoft.com/office/drawing/2014/main" id="{2AB16F46-B5FA-96F3-91C2-07B2F2F1CC6C}"/>
                </a:ext>
              </a:extLst>
            </p:cNvPr>
            <p:cNvSpPr>
              <a:spLocks noChangeArrowheads="1"/>
            </p:cNvSpPr>
            <p:nvPr/>
          </p:nvSpPr>
          <p:spPr bwMode="auto">
            <a:xfrm>
              <a:off x="5627530" y="641179"/>
              <a:ext cx="2340864" cy="804977"/>
            </a:xfrm>
            <a:prstGeom prst="homePlate">
              <a:avLst>
                <a:gd name="adj" fmla="val 29912"/>
              </a:avLst>
            </a:prstGeom>
            <a:solidFill>
              <a:srgbClr val="FFB627"/>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latin typeface="Roboto" panose="02000000000000000000" pitchFamily="2" charset="0"/>
                  <a:ea typeface="Roboto" panose="02000000000000000000" pitchFamily="2" charset="0"/>
                  <a:cs typeface="Roboto" panose="02000000000000000000" pitchFamily="2" charset="0"/>
                </a:rPr>
                <a:t>Introduction</a:t>
              </a:r>
            </a:p>
          </p:txBody>
        </p:sp>
      </p:grpSp>
      <p:cxnSp>
        <p:nvCxnSpPr>
          <p:cNvPr id="12" name="Straight Connector 11">
            <a:extLst>
              <a:ext uri="{FF2B5EF4-FFF2-40B4-BE49-F238E27FC236}">
                <a16:creationId xmlns:a16="http://schemas.microsoft.com/office/drawing/2014/main" id="{A4FB0DFD-2D15-952D-9825-996B08251FD4}"/>
              </a:ext>
            </a:extLst>
          </p:cNvPr>
          <p:cNvCxnSpPr/>
          <p:nvPr/>
        </p:nvCxnSpPr>
        <p:spPr>
          <a:xfrm>
            <a:off x="699911" y="2386919"/>
            <a:ext cx="3882975"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58300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Content Placeholder 14">
            <a:extLst>
              <a:ext uri="{FF2B5EF4-FFF2-40B4-BE49-F238E27FC236}">
                <a16:creationId xmlns:a16="http://schemas.microsoft.com/office/drawing/2014/main" id="{8A17BB63-7A0B-4CB1-8138-248D0F45F207}"/>
              </a:ext>
              <a:ext uri="{C183D7F6-B498-43B3-948B-1728B52AA6E4}">
                <adec:decorative xmlns:adec="http://schemas.microsoft.com/office/drawing/2017/decorative" val="1"/>
              </a:ext>
            </a:extLst>
          </p:cNvPr>
          <p:cNvPicPr>
            <a:picLocks noGrp="1" noChangeAspect="1"/>
          </p:cNvPicPr>
          <p:nvPr>
            <p:ph idx="1"/>
          </p:nvPr>
        </p:nvPicPr>
        <p:blipFill>
          <a:blip r:embed="rId3"/>
          <a:stretch>
            <a:fillRect/>
          </a:stretch>
        </p:blipFill>
        <p:spPr>
          <a:xfrm>
            <a:off x="5349739" y="2242788"/>
            <a:ext cx="5559601" cy="2779801"/>
          </a:xfrm>
        </p:spPr>
      </p:pic>
      <p:sp>
        <p:nvSpPr>
          <p:cNvPr id="4" name="Text Placeholder 3">
            <a:extLst>
              <a:ext uri="{FF2B5EF4-FFF2-40B4-BE49-F238E27FC236}">
                <a16:creationId xmlns:a16="http://schemas.microsoft.com/office/drawing/2014/main" id="{1287BA79-BC0E-9B68-5E47-60ACB12957C8}"/>
              </a:ext>
            </a:extLst>
          </p:cNvPr>
          <p:cNvSpPr>
            <a:spLocks noGrp="1"/>
          </p:cNvSpPr>
          <p:nvPr>
            <p:ph type="body" sz="half" idx="2"/>
          </p:nvPr>
        </p:nvSpPr>
        <p:spPr/>
        <p:txBody>
          <a:bodyPr>
            <a:normAutofit/>
          </a:bodyPr>
          <a:lstStyle/>
          <a:p>
            <a:r>
              <a:rPr lang="ja-JP" altLang="en-US" sz="2200" dirty="0">
                <a:solidFill>
                  <a:schemeClr val="bg2">
                    <a:lumMod val="10000"/>
                  </a:schemeClr>
                </a:solidFill>
              </a:rPr>
              <a:t>“</a:t>
            </a:r>
            <a:r>
              <a:rPr lang="en-US" altLang="ja-JP" sz="2200" dirty="0">
                <a:solidFill>
                  <a:schemeClr val="bg2">
                    <a:lumMod val="10000"/>
                  </a:schemeClr>
                </a:solidFill>
              </a:rPr>
              <a:t>The relentless pursuit of the elimination of waste from every business process with the ultimate goal of providing World-Class quality, delivery and service to our customers at the lowest possible cost.</a:t>
            </a:r>
            <a:r>
              <a:rPr lang="ja-JP" altLang="en-US" sz="2200" dirty="0">
                <a:solidFill>
                  <a:schemeClr val="bg2">
                    <a:lumMod val="10000"/>
                  </a:schemeClr>
                </a:solidFill>
              </a:rPr>
              <a:t>”</a:t>
            </a:r>
            <a:endParaRPr lang="en-US" sz="2200" dirty="0">
              <a:solidFill>
                <a:schemeClr val="bg2">
                  <a:lumMod val="10000"/>
                </a:schemeClr>
              </a:solidFill>
            </a:endParaRPr>
          </a:p>
        </p:txBody>
      </p:sp>
      <p:sp>
        <p:nvSpPr>
          <p:cNvPr id="6" name="Footer Placeholder 5">
            <a:extLst>
              <a:ext uri="{FF2B5EF4-FFF2-40B4-BE49-F238E27FC236}">
                <a16:creationId xmlns:a16="http://schemas.microsoft.com/office/drawing/2014/main" id="{C265196D-3665-42A0-455C-3E62D45552D6}"/>
              </a:ext>
            </a:extLst>
          </p:cNvPr>
          <p:cNvSpPr>
            <a:spLocks noGrp="1"/>
          </p:cNvSpPr>
          <p:nvPr>
            <p:ph type="ftr" sz="quarter" idx="11"/>
          </p:nvPr>
        </p:nvSpPr>
        <p:spPr>
          <a:xfrm>
            <a:off x="4038600" y="6341253"/>
            <a:ext cx="4114800" cy="365125"/>
          </a:xfrm>
        </p:spPr>
        <p:txBody>
          <a:bodyPr/>
          <a:lstStyle/>
          <a:p>
            <a:r>
              <a:rPr lang="en-US" dirty="0"/>
              <a:t>© Lean Horizons Consulting, LLC </a:t>
            </a:r>
            <a:fld id="{7F979B26-9D61-423F-BB67-79388D32AD51}" type="datetimeyyyy">
              <a:rPr lang="en-US" smtClean="0"/>
              <a:pPr/>
              <a:t>2023</a:t>
            </a:fld>
            <a:r>
              <a:rPr lang="en-US" dirty="0"/>
              <a:t>. All Rights Reserved</a:t>
            </a:r>
          </a:p>
        </p:txBody>
      </p:sp>
      <p:sp>
        <p:nvSpPr>
          <p:cNvPr id="7" name="Slide Number Placeholder 6">
            <a:extLst>
              <a:ext uri="{FF2B5EF4-FFF2-40B4-BE49-F238E27FC236}">
                <a16:creationId xmlns:a16="http://schemas.microsoft.com/office/drawing/2014/main" id="{8DDF98C7-E326-67DA-15D8-AD0EFBA4380C}"/>
              </a:ext>
            </a:extLst>
          </p:cNvPr>
          <p:cNvSpPr>
            <a:spLocks noGrp="1"/>
          </p:cNvSpPr>
          <p:nvPr>
            <p:ph type="sldNum" sz="quarter" idx="12"/>
          </p:nvPr>
        </p:nvSpPr>
        <p:spPr/>
        <p:txBody>
          <a:bodyPr/>
          <a:lstStyle/>
          <a:p>
            <a:fld id="{CC6D4273-7FC1-0947-B9FE-19CB3C0D1FB6}" type="slidenum">
              <a:rPr lang="en-US" smtClean="0"/>
              <a:t>7</a:t>
            </a:fld>
            <a:endParaRPr lang="en-US"/>
          </a:p>
        </p:txBody>
      </p:sp>
      <p:sp>
        <p:nvSpPr>
          <p:cNvPr id="2" name="Title 1">
            <a:extLst>
              <a:ext uri="{FF2B5EF4-FFF2-40B4-BE49-F238E27FC236}">
                <a16:creationId xmlns:a16="http://schemas.microsoft.com/office/drawing/2014/main" id="{3BEF1C1C-86A0-4488-68EC-1E6D1847DB51}"/>
              </a:ext>
            </a:extLst>
          </p:cNvPr>
          <p:cNvSpPr>
            <a:spLocks noGrp="1"/>
          </p:cNvSpPr>
          <p:nvPr>
            <p:ph type="title"/>
          </p:nvPr>
        </p:nvSpPr>
        <p:spPr>
          <a:xfrm>
            <a:off x="839788" y="1222913"/>
            <a:ext cx="3932237" cy="531812"/>
          </a:xfrm>
        </p:spPr>
        <p:txBody>
          <a:bodyPr>
            <a:noAutofit/>
          </a:bodyPr>
          <a:lstStyle/>
          <a:p>
            <a:r>
              <a:rPr lang="en-US" sz="4000" dirty="0">
                <a:latin typeface="Roboto Medium"/>
                <a:ea typeface="Roboto Medium"/>
                <a:cs typeface="Roboto Medium"/>
              </a:rPr>
              <a:t>What is “Lean?”</a:t>
            </a:r>
          </a:p>
        </p:txBody>
      </p:sp>
      <p:sp>
        <p:nvSpPr>
          <p:cNvPr id="8" name="AutoShape 155">
            <a:extLst>
              <a:ext uri="{FF2B5EF4-FFF2-40B4-BE49-F238E27FC236}">
                <a16:creationId xmlns:a16="http://schemas.microsoft.com/office/drawing/2014/main" id="{9845AFBB-D887-5F6F-9239-8CA41EEC5C88}"/>
              </a:ext>
            </a:extLst>
          </p:cNvPr>
          <p:cNvSpPr>
            <a:spLocks noChangeArrowheads="1"/>
          </p:cNvSpPr>
          <p:nvPr/>
        </p:nvSpPr>
        <p:spPr bwMode="auto">
          <a:xfrm>
            <a:off x="622771" y="4836700"/>
            <a:ext cx="4366269" cy="788939"/>
          </a:xfrm>
          <a:prstGeom prst="homePlate">
            <a:avLst>
              <a:gd name="adj" fmla="val 32169"/>
            </a:avLst>
          </a:prstGeom>
          <a:solidFill>
            <a:srgbClr val="EE3228"/>
          </a:solidFill>
          <a:ln>
            <a:noFill/>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US" altLang="en-US" dirty="0">
                <a:solidFill>
                  <a:schemeClr val="bg1"/>
                </a:solidFill>
                <a:latin typeface="Roboto" panose="02000000000000000000" pitchFamily="2" charset="0"/>
                <a:ea typeface="Roboto" panose="02000000000000000000" pitchFamily="2" charset="0"/>
                <a:cs typeface="Roboto" panose="02000000000000000000" pitchFamily="2" charset="0"/>
              </a:rPr>
              <a:t>Lean is about driving customer value</a:t>
            </a:r>
          </a:p>
        </p:txBody>
      </p:sp>
      <p:sp>
        <p:nvSpPr>
          <p:cNvPr id="10" name="AutoShape 9">
            <a:extLst>
              <a:ext uri="{FF2B5EF4-FFF2-40B4-BE49-F238E27FC236}">
                <a16:creationId xmlns:a16="http://schemas.microsoft.com/office/drawing/2014/main" id="{7A8F5BB9-FAB4-6395-81D0-200F966608E3}"/>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1" name="AutoShape 10">
            <a:extLst>
              <a:ext uri="{FF2B5EF4-FFF2-40B4-BE49-F238E27FC236}">
                <a16:creationId xmlns:a16="http://schemas.microsoft.com/office/drawing/2014/main" id="{FC1625F7-8FC0-B69E-AF21-90E6799907A1}"/>
              </a:ext>
            </a:extLst>
          </p:cNvPr>
          <p:cNvSpPr>
            <a:spLocks noChangeArrowheads="1"/>
          </p:cNvSpPr>
          <p:nvPr/>
        </p:nvSpPr>
        <p:spPr bwMode="auto">
          <a:xfrm>
            <a:off x="1253924"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11">
            <a:extLst>
              <a:ext uri="{FF2B5EF4-FFF2-40B4-BE49-F238E27FC236}">
                <a16:creationId xmlns:a16="http://schemas.microsoft.com/office/drawing/2014/main" id="{1C4EF245-2BA4-F3FA-D88C-263F47010761}"/>
              </a:ext>
            </a:extLst>
          </p:cNvPr>
          <p:cNvSpPr>
            <a:spLocks noChangeArrowheads="1"/>
          </p:cNvSpPr>
          <p:nvPr/>
        </p:nvSpPr>
        <p:spPr bwMode="auto">
          <a:xfrm>
            <a:off x="940249"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3" name="TextBox 12">
            <a:extLst>
              <a:ext uri="{FF2B5EF4-FFF2-40B4-BE49-F238E27FC236}">
                <a16:creationId xmlns:a16="http://schemas.microsoft.com/office/drawing/2014/main" id="{025EF277-5594-1C4C-8F9F-17DAF97192EC}"/>
              </a:ext>
            </a:extLst>
          </p:cNvPr>
          <p:cNvSpPr txBox="1"/>
          <p:nvPr/>
        </p:nvSpPr>
        <p:spPr>
          <a:xfrm>
            <a:off x="2000416" y="323813"/>
            <a:ext cx="1708645"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Introduction</a:t>
            </a:r>
          </a:p>
        </p:txBody>
      </p:sp>
    </p:spTree>
    <p:extLst>
      <p:ext uri="{BB962C8B-B14F-4D97-AF65-F5344CB8AC3E}">
        <p14:creationId xmlns:p14="http://schemas.microsoft.com/office/powerpoint/2010/main" val="25899899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EC131781-3858-0851-3868-2AC8487B8247}"/>
              </a:ext>
            </a:extLst>
          </p:cNvPr>
          <p:cNvSpPr>
            <a:spLocks noGrp="1"/>
          </p:cNvSpPr>
          <p:nvPr>
            <p:ph type="ftr" sz="quarter" idx="11"/>
          </p:nvPr>
        </p:nvSpPr>
        <p:spPr/>
        <p:txBody>
          <a:bodyPr/>
          <a:lstStyle/>
          <a:p>
            <a:r>
              <a:rPr lang="en-US" sz="900"/>
              <a:t>© Lean Horizons Consulting, LLC 2023. All Rights Reserved</a:t>
            </a:r>
            <a:endParaRPr lang="en-US" sz="900" dirty="0"/>
          </a:p>
        </p:txBody>
      </p:sp>
      <p:sp>
        <p:nvSpPr>
          <p:cNvPr id="4" name="Slide Number Placeholder 3">
            <a:extLst>
              <a:ext uri="{FF2B5EF4-FFF2-40B4-BE49-F238E27FC236}">
                <a16:creationId xmlns:a16="http://schemas.microsoft.com/office/drawing/2014/main" id="{3808457A-80E3-DE97-AFB7-8F48A1405C69}"/>
              </a:ext>
            </a:extLst>
          </p:cNvPr>
          <p:cNvSpPr>
            <a:spLocks noGrp="1"/>
          </p:cNvSpPr>
          <p:nvPr>
            <p:ph type="sldNum" sz="quarter" idx="12"/>
          </p:nvPr>
        </p:nvSpPr>
        <p:spPr/>
        <p:txBody>
          <a:bodyPr/>
          <a:lstStyle/>
          <a:p>
            <a:fld id="{CC6D4273-7FC1-0947-B9FE-19CB3C0D1FB6}" type="slidenum">
              <a:rPr lang="en-US" smtClean="0"/>
              <a:pPr/>
              <a:t>8</a:t>
            </a:fld>
            <a:endParaRPr lang="en-US" dirty="0"/>
          </a:p>
        </p:txBody>
      </p:sp>
      <p:sp>
        <p:nvSpPr>
          <p:cNvPr id="10" name="Title 1">
            <a:extLst>
              <a:ext uri="{FF2B5EF4-FFF2-40B4-BE49-F238E27FC236}">
                <a16:creationId xmlns:a16="http://schemas.microsoft.com/office/drawing/2014/main" id="{FA64EF14-686A-E3E4-B13B-8F4D7FF43C6B}"/>
              </a:ext>
            </a:extLst>
          </p:cNvPr>
          <p:cNvSpPr txBox="1">
            <a:spLocks/>
          </p:cNvSpPr>
          <p:nvPr/>
        </p:nvSpPr>
        <p:spPr>
          <a:xfrm>
            <a:off x="838200" y="681037"/>
            <a:ext cx="10515600" cy="1009651"/>
          </a:xfrm>
          <a:prstGeom prst="rect">
            <a:avLst/>
          </a:prstGeom>
        </p:spPr>
        <p:txBody>
          <a:bodyPr/>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r>
              <a:rPr lang="en-US" sz="2800" dirty="0"/>
              <a:t>Lean is about customer focus and waste elimination at all levels</a:t>
            </a:r>
          </a:p>
        </p:txBody>
      </p:sp>
      <p:sp>
        <p:nvSpPr>
          <p:cNvPr id="12" name="Rectangle 11">
            <a:extLst>
              <a:ext uri="{FF2B5EF4-FFF2-40B4-BE49-F238E27FC236}">
                <a16:creationId xmlns:a16="http://schemas.microsoft.com/office/drawing/2014/main" id="{6FE66574-847E-17D0-6B9E-EAE30D62834D}"/>
              </a:ext>
            </a:extLst>
          </p:cNvPr>
          <p:cNvSpPr>
            <a:spLocks noChangeAspect="1"/>
          </p:cNvSpPr>
          <p:nvPr/>
        </p:nvSpPr>
        <p:spPr>
          <a:xfrm>
            <a:off x="413879" y="2239955"/>
            <a:ext cx="1298448" cy="718145"/>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Sales</a:t>
            </a:r>
          </a:p>
        </p:txBody>
      </p:sp>
      <p:sp>
        <p:nvSpPr>
          <p:cNvPr id="13" name="Rectangle 12">
            <a:extLst>
              <a:ext uri="{FF2B5EF4-FFF2-40B4-BE49-F238E27FC236}">
                <a16:creationId xmlns:a16="http://schemas.microsoft.com/office/drawing/2014/main" id="{EF1A787D-5562-BE89-E79B-0545F022263D}"/>
              </a:ext>
            </a:extLst>
          </p:cNvPr>
          <p:cNvSpPr>
            <a:spLocks noChangeAspect="1"/>
          </p:cNvSpPr>
          <p:nvPr/>
        </p:nvSpPr>
        <p:spPr>
          <a:xfrm>
            <a:off x="1710920" y="2239753"/>
            <a:ext cx="1298448" cy="718145"/>
          </a:xfrm>
          <a:prstGeom prst="rect">
            <a:avLst/>
          </a:prstGeom>
          <a:solidFill>
            <a:schemeClr val="bg2">
              <a:lumMod val="2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Order Entry</a:t>
            </a:r>
          </a:p>
        </p:txBody>
      </p:sp>
      <p:sp>
        <p:nvSpPr>
          <p:cNvPr id="14" name="Rectangle 13">
            <a:extLst>
              <a:ext uri="{FF2B5EF4-FFF2-40B4-BE49-F238E27FC236}">
                <a16:creationId xmlns:a16="http://schemas.microsoft.com/office/drawing/2014/main" id="{AF530858-BEEB-E2EF-B469-E655D2599194}"/>
              </a:ext>
            </a:extLst>
          </p:cNvPr>
          <p:cNvSpPr>
            <a:spLocks noChangeAspect="1"/>
          </p:cNvSpPr>
          <p:nvPr/>
        </p:nvSpPr>
        <p:spPr>
          <a:xfrm>
            <a:off x="3006169" y="2239753"/>
            <a:ext cx="1298448" cy="718145"/>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Order Coding</a:t>
            </a:r>
            <a:endParaRPr kumimoji="0" lang="en-US" sz="2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endParaRPr>
          </a:p>
        </p:txBody>
      </p:sp>
      <p:sp>
        <p:nvSpPr>
          <p:cNvPr id="15" name="Rectangle 14">
            <a:extLst>
              <a:ext uri="{FF2B5EF4-FFF2-40B4-BE49-F238E27FC236}">
                <a16:creationId xmlns:a16="http://schemas.microsoft.com/office/drawing/2014/main" id="{C7F4A7BE-0CFA-D0FA-095B-7CB26A672845}"/>
              </a:ext>
            </a:extLst>
          </p:cNvPr>
          <p:cNvSpPr>
            <a:spLocks noChangeAspect="1"/>
          </p:cNvSpPr>
          <p:nvPr/>
        </p:nvSpPr>
        <p:spPr>
          <a:xfrm>
            <a:off x="4303209" y="2236611"/>
            <a:ext cx="1298448" cy="718145"/>
          </a:xfrm>
          <a:prstGeom prst="rect">
            <a:avLst/>
          </a:prstGeom>
          <a:solidFill>
            <a:srgbClr val="FFB627"/>
          </a:solidFill>
          <a:ln w="158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Engineering</a:t>
            </a:r>
          </a:p>
        </p:txBody>
      </p:sp>
      <p:sp>
        <p:nvSpPr>
          <p:cNvPr id="16" name="Rectangle 15">
            <a:extLst>
              <a:ext uri="{FF2B5EF4-FFF2-40B4-BE49-F238E27FC236}">
                <a16:creationId xmlns:a16="http://schemas.microsoft.com/office/drawing/2014/main" id="{0D2DFC43-C9C5-F024-4290-2291CB4DE248}"/>
              </a:ext>
            </a:extLst>
          </p:cNvPr>
          <p:cNvSpPr>
            <a:spLocks noChangeAspect="1"/>
          </p:cNvSpPr>
          <p:nvPr/>
        </p:nvSpPr>
        <p:spPr>
          <a:xfrm>
            <a:off x="5585194" y="2236611"/>
            <a:ext cx="1298448" cy="722376"/>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Scheduling</a:t>
            </a:r>
          </a:p>
        </p:txBody>
      </p:sp>
      <p:sp>
        <p:nvSpPr>
          <p:cNvPr id="17" name="Rectangle 16">
            <a:extLst>
              <a:ext uri="{FF2B5EF4-FFF2-40B4-BE49-F238E27FC236}">
                <a16:creationId xmlns:a16="http://schemas.microsoft.com/office/drawing/2014/main" id="{DA67EB78-ABCF-D004-A393-FCCD2181349B}"/>
              </a:ext>
            </a:extLst>
          </p:cNvPr>
          <p:cNvSpPr>
            <a:spLocks noChangeAspect="1"/>
          </p:cNvSpPr>
          <p:nvPr/>
        </p:nvSpPr>
        <p:spPr>
          <a:xfrm>
            <a:off x="6864477" y="2236611"/>
            <a:ext cx="1298448" cy="722376"/>
          </a:xfrm>
          <a:prstGeom prst="rect">
            <a:avLst/>
          </a:prstGeom>
          <a:solidFill>
            <a:schemeClr val="bg2">
              <a:lumMod val="2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0" hangingPunct="0">
              <a:lnSpc>
                <a:spcPct val="100000"/>
              </a:lnSpc>
              <a:spcBef>
                <a:spcPts val="0"/>
              </a:spcBef>
              <a:spcAft>
                <a:spcPts val="0"/>
              </a:spcAft>
              <a:buClrTx/>
              <a:buSzTx/>
              <a:buFontTx/>
              <a:buNone/>
              <a:tabLst/>
            </a:pPr>
            <a:r>
              <a:rPr lang="en-US" sz="20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Finance</a:t>
            </a:r>
            <a:endPar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endParaRPr>
          </a:p>
        </p:txBody>
      </p:sp>
      <p:sp>
        <p:nvSpPr>
          <p:cNvPr id="18" name="Rectangle 17">
            <a:extLst>
              <a:ext uri="{FF2B5EF4-FFF2-40B4-BE49-F238E27FC236}">
                <a16:creationId xmlns:a16="http://schemas.microsoft.com/office/drawing/2014/main" id="{15AD595E-5F16-4ACA-1214-2F9664AD97B4}"/>
              </a:ext>
            </a:extLst>
          </p:cNvPr>
          <p:cNvSpPr>
            <a:spLocks noChangeAspect="1"/>
          </p:cNvSpPr>
          <p:nvPr/>
        </p:nvSpPr>
        <p:spPr>
          <a:xfrm>
            <a:off x="8158318" y="2236181"/>
            <a:ext cx="1298448" cy="722376"/>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Delivery</a:t>
            </a:r>
          </a:p>
        </p:txBody>
      </p:sp>
      <p:sp>
        <p:nvSpPr>
          <p:cNvPr id="19" name="Arrow">
            <a:extLst>
              <a:ext uri="{FF2B5EF4-FFF2-40B4-BE49-F238E27FC236}">
                <a16:creationId xmlns:a16="http://schemas.microsoft.com/office/drawing/2014/main" id="{37026D1F-43BF-0FED-B7A1-FCA8B4210DD7}"/>
              </a:ext>
            </a:extLst>
          </p:cNvPr>
          <p:cNvSpPr/>
          <p:nvPr/>
        </p:nvSpPr>
        <p:spPr>
          <a:xfrm>
            <a:off x="9745576" y="2237228"/>
            <a:ext cx="456329" cy="456329"/>
          </a:xfrm>
          <a:prstGeom prst="rightArrow">
            <a:avLst>
              <a:gd name="adj1" fmla="val 54641"/>
              <a:gd name="adj2" fmla="val 68352"/>
            </a:avLst>
          </a:prstGeom>
          <a:solidFill>
            <a:srgbClr val="EE3228"/>
          </a:solidFill>
          <a:ln w="12700">
            <a:miter lim="400000"/>
          </a:ln>
        </p:spPr>
        <p:txBody>
          <a:bodyPr lIns="50800" tIns="50800" rIns="50800" bIns="50800" anchor="ctr"/>
          <a:lstStyle/>
          <a:p>
            <a:pPr defTabSz="584200">
              <a:defRPr sz="4000">
                <a:solidFill>
                  <a:srgbClr val="A9AFC3"/>
                </a:solidFill>
                <a:effectLst>
                  <a:outerShdw blurRad="38100" dist="12700" dir="5400000" rotWithShape="0">
                    <a:srgbClr val="000000">
                      <a:alpha val="50000"/>
                    </a:srgbClr>
                  </a:outerShdw>
                </a:effectLst>
              </a:defRPr>
            </a:pPr>
            <a:endParaRPr/>
          </a:p>
        </p:txBody>
      </p:sp>
      <p:sp>
        <p:nvSpPr>
          <p:cNvPr id="20" name="TextBox 19">
            <a:extLst>
              <a:ext uri="{FF2B5EF4-FFF2-40B4-BE49-F238E27FC236}">
                <a16:creationId xmlns:a16="http://schemas.microsoft.com/office/drawing/2014/main" id="{AC9F350A-D5C4-8F50-B5F9-47738E1711FD}"/>
              </a:ext>
            </a:extLst>
          </p:cNvPr>
          <p:cNvSpPr txBox="1"/>
          <p:nvPr/>
        </p:nvSpPr>
        <p:spPr>
          <a:xfrm rot="16200000">
            <a:off x="9610018" y="2137096"/>
            <a:ext cx="2117567" cy="65659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600" b="0" i="0" u="none" strike="noStrike" cap="none" spc="0" normalizeH="0" baseline="0" dirty="0">
                <a:ln>
                  <a:noFill/>
                </a:ln>
                <a:solidFill>
                  <a:schemeClr val="bg2">
                    <a:lumMod val="10000"/>
                  </a:schemeClr>
                </a:solidFill>
                <a:effectLst/>
                <a:uFillTx/>
                <a:latin typeface="Roboto" panose="02000000000000000000" pitchFamily="2" charset="0"/>
                <a:ea typeface="Roboto" panose="02000000000000000000" pitchFamily="2" charset="0"/>
                <a:cs typeface="Roboto" panose="02000000000000000000" pitchFamily="2" charset="0"/>
                <a:sym typeface="Roboto"/>
              </a:rPr>
              <a:t>Customer</a:t>
            </a:r>
          </a:p>
        </p:txBody>
      </p:sp>
      <p:sp>
        <p:nvSpPr>
          <p:cNvPr id="21" name="Left Brace 20">
            <a:extLst>
              <a:ext uri="{FF2B5EF4-FFF2-40B4-BE49-F238E27FC236}">
                <a16:creationId xmlns:a16="http://schemas.microsoft.com/office/drawing/2014/main" id="{C683F8E0-DEF4-204C-057F-2EBE39FA06B4}"/>
              </a:ext>
            </a:extLst>
          </p:cNvPr>
          <p:cNvSpPr/>
          <p:nvPr/>
        </p:nvSpPr>
        <p:spPr>
          <a:xfrm rot="5400000">
            <a:off x="4811371" y="-2742732"/>
            <a:ext cx="310660" cy="9105642"/>
          </a:xfrm>
          <a:prstGeom prst="leftBrace">
            <a:avLst>
              <a:gd name="adj1" fmla="val 8333"/>
              <a:gd name="adj2" fmla="val 50129"/>
            </a:avLst>
          </a:prstGeom>
          <a:noFill/>
          <a:ln w="25400" cap="flat">
            <a:solidFill>
              <a:srgbClr val="EE3228">
                <a:alpha val="75000"/>
              </a:srgbClr>
            </a:solidFill>
            <a:prstDash val="solid"/>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en-US" sz="1800" b="0" i="0" u="none" strike="noStrike" cap="none" spc="0" normalizeH="0" baseline="0" dirty="0">
              <a:ln>
                <a:noFill/>
              </a:ln>
              <a:solidFill>
                <a:srgbClr val="000000"/>
              </a:solidFill>
              <a:effectLst/>
              <a:uFillTx/>
            </a:endParaRPr>
          </a:p>
        </p:txBody>
      </p:sp>
      <p:sp>
        <p:nvSpPr>
          <p:cNvPr id="22" name="TextBox 21">
            <a:extLst>
              <a:ext uri="{FF2B5EF4-FFF2-40B4-BE49-F238E27FC236}">
                <a16:creationId xmlns:a16="http://schemas.microsoft.com/office/drawing/2014/main" id="{0C4F9658-5EB8-DC48-46A8-E2B9124E83FA}"/>
              </a:ext>
            </a:extLst>
          </p:cNvPr>
          <p:cNvSpPr txBox="1"/>
          <p:nvPr/>
        </p:nvSpPr>
        <p:spPr>
          <a:xfrm>
            <a:off x="4231884" y="1196499"/>
            <a:ext cx="1413849"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chemeClr val="bg2">
                    <a:lumMod val="10000"/>
                  </a:schemeClr>
                </a:solidFill>
                <a:effectLst/>
                <a:uFillTx/>
                <a:latin typeface="Roboto" panose="02000000000000000000" pitchFamily="2" charset="0"/>
                <a:ea typeface="Roboto" panose="02000000000000000000" pitchFamily="2" charset="0"/>
                <a:cs typeface="Roboto" panose="02000000000000000000" pitchFamily="2" charset="0"/>
                <a:sym typeface="Roboto"/>
              </a:rPr>
              <a:t>6 weeks</a:t>
            </a:r>
          </a:p>
        </p:txBody>
      </p:sp>
      <p:sp>
        <p:nvSpPr>
          <p:cNvPr id="23" name="Left Brace 22">
            <a:extLst>
              <a:ext uri="{FF2B5EF4-FFF2-40B4-BE49-F238E27FC236}">
                <a16:creationId xmlns:a16="http://schemas.microsoft.com/office/drawing/2014/main" id="{F42954D0-9FC5-53F6-6A14-12A24FAA1F26}"/>
              </a:ext>
            </a:extLst>
          </p:cNvPr>
          <p:cNvSpPr/>
          <p:nvPr/>
        </p:nvSpPr>
        <p:spPr>
          <a:xfrm rot="16200000">
            <a:off x="4801647" y="2557781"/>
            <a:ext cx="270568" cy="1143129"/>
          </a:xfrm>
          <a:prstGeom prst="leftBrace">
            <a:avLst>
              <a:gd name="adj1" fmla="val 8333"/>
              <a:gd name="adj2" fmla="val 50129"/>
            </a:avLst>
          </a:prstGeom>
          <a:noFill/>
          <a:ln w="25400" cap="flat">
            <a:solidFill>
              <a:schemeClr val="bg1">
                <a:alpha val="75000"/>
              </a:schemeClr>
            </a:solidFill>
            <a:prstDash val="solid"/>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endParaRPr>
          </a:p>
        </p:txBody>
      </p:sp>
      <p:sp>
        <p:nvSpPr>
          <p:cNvPr id="24" name="TextBox 23">
            <a:extLst>
              <a:ext uri="{FF2B5EF4-FFF2-40B4-BE49-F238E27FC236}">
                <a16:creationId xmlns:a16="http://schemas.microsoft.com/office/drawing/2014/main" id="{D19EFD5F-EA99-5106-8FEE-29735DC3CD61}"/>
              </a:ext>
            </a:extLst>
          </p:cNvPr>
          <p:cNvSpPr txBox="1"/>
          <p:nvPr/>
        </p:nvSpPr>
        <p:spPr>
          <a:xfrm>
            <a:off x="4231884" y="3201575"/>
            <a:ext cx="1413849"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chemeClr val="bg1"/>
                </a:solidFill>
                <a:effectLst/>
                <a:uFillTx/>
                <a:latin typeface="Roboto" panose="02000000000000000000" pitchFamily="2" charset="0"/>
                <a:ea typeface="Roboto" panose="02000000000000000000" pitchFamily="2" charset="0"/>
                <a:cs typeface="Roboto" panose="02000000000000000000" pitchFamily="2" charset="0"/>
                <a:sym typeface="Roboto"/>
              </a:rPr>
              <a:t>2 </a:t>
            </a:r>
            <a:r>
              <a:rPr kumimoji="0" lang="en-US" sz="2800" b="0" i="0" u="none" strike="noStrike" cap="none" spc="0" normalizeH="0" baseline="0" dirty="0">
                <a:ln>
                  <a:noFill/>
                </a:ln>
                <a:solidFill>
                  <a:schemeClr val="bg2">
                    <a:lumMod val="10000"/>
                  </a:schemeClr>
                </a:solidFill>
                <a:effectLst/>
                <a:uFillTx/>
                <a:latin typeface="Roboto" panose="02000000000000000000" pitchFamily="2" charset="0"/>
                <a:ea typeface="Roboto" panose="02000000000000000000" pitchFamily="2" charset="0"/>
                <a:cs typeface="Roboto" panose="02000000000000000000" pitchFamily="2" charset="0"/>
                <a:sym typeface="Roboto"/>
              </a:rPr>
              <a:t>weeks</a:t>
            </a:r>
          </a:p>
        </p:txBody>
      </p:sp>
      <p:sp>
        <p:nvSpPr>
          <p:cNvPr id="26" name="Rectangle 25">
            <a:extLst>
              <a:ext uri="{FF2B5EF4-FFF2-40B4-BE49-F238E27FC236}">
                <a16:creationId xmlns:a16="http://schemas.microsoft.com/office/drawing/2014/main" id="{7C30B633-7309-337D-16C7-9264BB3E1EEB}"/>
              </a:ext>
            </a:extLst>
          </p:cNvPr>
          <p:cNvSpPr/>
          <p:nvPr/>
        </p:nvSpPr>
        <p:spPr>
          <a:xfrm>
            <a:off x="1750943" y="4059380"/>
            <a:ext cx="393192" cy="1152144"/>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mn-lt"/>
              <a:ea typeface="+mn-ea"/>
              <a:cs typeface="+mn-cs"/>
              <a:sym typeface="Roboto"/>
            </a:endParaRPr>
          </a:p>
        </p:txBody>
      </p:sp>
      <p:sp>
        <p:nvSpPr>
          <p:cNvPr id="27" name="Rectangle 26">
            <a:extLst>
              <a:ext uri="{FF2B5EF4-FFF2-40B4-BE49-F238E27FC236}">
                <a16:creationId xmlns:a16="http://schemas.microsoft.com/office/drawing/2014/main" id="{E9E79EA1-A453-7E03-C983-D071234676C1}"/>
              </a:ext>
            </a:extLst>
          </p:cNvPr>
          <p:cNvSpPr/>
          <p:nvPr/>
        </p:nvSpPr>
        <p:spPr>
          <a:xfrm>
            <a:off x="2141485" y="4059891"/>
            <a:ext cx="393192" cy="1152144"/>
          </a:xfrm>
          <a:prstGeom prst="rect">
            <a:avLst/>
          </a:prstGeom>
          <a:solidFill>
            <a:schemeClr val="bg2">
              <a:lumMod val="2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mn-lt"/>
              <a:ea typeface="+mn-ea"/>
              <a:cs typeface="+mn-cs"/>
              <a:sym typeface="Roboto"/>
            </a:endParaRPr>
          </a:p>
        </p:txBody>
      </p:sp>
      <p:sp>
        <p:nvSpPr>
          <p:cNvPr id="28" name="Rectangle 27">
            <a:extLst>
              <a:ext uri="{FF2B5EF4-FFF2-40B4-BE49-F238E27FC236}">
                <a16:creationId xmlns:a16="http://schemas.microsoft.com/office/drawing/2014/main" id="{2364818C-AC53-F61B-40A3-053B3A79F810}"/>
              </a:ext>
            </a:extLst>
          </p:cNvPr>
          <p:cNvSpPr/>
          <p:nvPr/>
        </p:nvSpPr>
        <p:spPr>
          <a:xfrm>
            <a:off x="2532027" y="4060402"/>
            <a:ext cx="393192" cy="115214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mn-lt"/>
              <a:ea typeface="+mn-ea"/>
              <a:cs typeface="+mn-cs"/>
              <a:sym typeface="Roboto"/>
            </a:endParaRPr>
          </a:p>
        </p:txBody>
      </p:sp>
      <p:sp>
        <p:nvSpPr>
          <p:cNvPr id="29" name="Rectangle 28">
            <a:extLst>
              <a:ext uri="{FF2B5EF4-FFF2-40B4-BE49-F238E27FC236}">
                <a16:creationId xmlns:a16="http://schemas.microsoft.com/office/drawing/2014/main" id="{341E43E4-472B-F018-F30B-3BB7A6850BBD}"/>
              </a:ext>
            </a:extLst>
          </p:cNvPr>
          <p:cNvSpPr/>
          <p:nvPr/>
        </p:nvSpPr>
        <p:spPr>
          <a:xfrm>
            <a:off x="2922569" y="4060913"/>
            <a:ext cx="393192" cy="1152144"/>
          </a:xfrm>
          <a:prstGeom prst="rect">
            <a:avLst/>
          </a:prstGeom>
          <a:solidFill>
            <a:srgbClr val="FFB627"/>
          </a:solidFill>
          <a:ln w="158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mn-lt"/>
              <a:ea typeface="+mn-ea"/>
              <a:cs typeface="+mn-cs"/>
              <a:sym typeface="Roboto"/>
            </a:endParaRPr>
          </a:p>
        </p:txBody>
      </p:sp>
      <p:sp>
        <p:nvSpPr>
          <p:cNvPr id="30" name="Rectangle 29">
            <a:extLst>
              <a:ext uri="{FF2B5EF4-FFF2-40B4-BE49-F238E27FC236}">
                <a16:creationId xmlns:a16="http://schemas.microsoft.com/office/drawing/2014/main" id="{B27BE332-BF0D-4CD6-EEAC-BCE6D20E27C0}"/>
              </a:ext>
            </a:extLst>
          </p:cNvPr>
          <p:cNvSpPr/>
          <p:nvPr/>
        </p:nvSpPr>
        <p:spPr>
          <a:xfrm>
            <a:off x="3313111" y="4061427"/>
            <a:ext cx="393192" cy="1152144"/>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mn-lt"/>
              <a:ea typeface="+mn-ea"/>
              <a:cs typeface="+mn-cs"/>
              <a:sym typeface="Roboto"/>
            </a:endParaRPr>
          </a:p>
        </p:txBody>
      </p:sp>
      <p:sp>
        <p:nvSpPr>
          <p:cNvPr id="33" name="Left Brace 32">
            <a:extLst>
              <a:ext uri="{FF2B5EF4-FFF2-40B4-BE49-F238E27FC236}">
                <a16:creationId xmlns:a16="http://schemas.microsoft.com/office/drawing/2014/main" id="{494EA461-5506-6D52-45BA-06E8E29B90F4}"/>
              </a:ext>
            </a:extLst>
          </p:cNvPr>
          <p:cNvSpPr/>
          <p:nvPr/>
        </p:nvSpPr>
        <p:spPr>
          <a:xfrm rot="16200000">
            <a:off x="2993919" y="5159138"/>
            <a:ext cx="270568" cy="367283"/>
          </a:xfrm>
          <a:prstGeom prst="leftBrace">
            <a:avLst>
              <a:gd name="adj1" fmla="val 8333"/>
              <a:gd name="adj2" fmla="val 50129"/>
            </a:avLst>
          </a:prstGeom>
          <a:noFill/>
          <a:ln w="25400" cap="flat">
            <a:solidFill>
              <a:schemeClr val="bg1">
                <a:alpha val="75000"/>
              </a:schemeClr>
            </a:solidFill>
            <a:prstDash val="solid"/>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endParaRPr>
          </a:p>
        </p:txBody>
      </p:sp>
      <p:sp>
        <p:nvSpPr>
          <p:cNvPr id="34" name="TextBox 33">
            <a:extLst>
              <a:ext uri="{FF2B5EF4-FFF2-40B4-BE49-F238E27FC236}">
                <a16:creationId xmlns:a16="http://schemas.microsoft.com/office/drawing/2014/main" id="{800E7B87-F5D7-F40E-2716-B1B9880CD907}"/>
              </a:ext>
            </a:extLst>
          </p:cNvPr>
          <p:cNvSpPr txBox="1"/>
          <p:nvPr/>
        </p:nvSpPr>
        <p:spPr>
          <a:xfrm>
            <a:off x="2589021" y="5415010"/>
            <a:ext cx="114775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t">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chemeClr val="bg2">
                    <a:lumMod val="10000"/>
                  </a:schemeClr>
                </a:solidFill>
                <a:effectLst/>
                <a:uFillTx/>
                <a:latin typeface="Roboto" panose="02000000000000000000" pitchFamily="2" charset="0"/>
                <a:ea typeface="Roboto" panose="02000000000000000000" pitchFamily="2" charset="0"/>
                <a:cs typeface="Roboto" panose="02000000000000000000" pitchFamily="2" charset="0"/>
                <a:sym typeface="Roboto"/>
              </a:rPr>
              <a:t>3 days</a:t>
            </a:r>
          </a:p>
        </p:txBody>
      </p:sp>
      <p:sp>
        <p:nvSpPr>
          <p:cNvPr id="35" name="Left Brace 34">
            <a:extLst>
              <a:ext uri="{FF2B5EF4-FFF2-40B4-BE49-F238E27FC236}">
                <a16:creationId xmlns:a16="http://schemas.microsoft.com/office/drawing/2014/main" id="{AB91DB34-1BD2-95DF-C867-3DFA78BBFB00}"/>
              </a:ext>
            </a:extLst>
          </p:cNvPr>
          <p:cNvSpPr/>
          <p:nvPr/>
        </p:nvSpPr>
        <p:spPr>
          <a:xfrm rot="5400000">
            <a:off x="3014329" y="2478998"/>
            <a:ext cx="270568" cy="2761111"/>
          </a:xfrm>
          <a:prstGeom prst="leftBrace">
            <a:avLst>
              <a:gd name="adj1" fmla="val 8333"/>
              <a:gd name="adj2" fmla="val 50129"/>
            </a:avLst>
          </a:prstGeom>
          <a:noFill/>
          <a:ln w="25400" cap="flat">
            <a:solidFill>
              <a:schemeClr val="bg1">
                <a:alpha val="75000"/>
              </a:schemeClr>
            </a:solidFill>
            <a:prstDash val="solid"/>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endParaRPr>
          </a:p>
        </p:txBody>
      </p:sp>
      <p:sp>
        <p:nvSpPr>
          <p:cNvPr id="36" name="TextBox 35">
            <a:extLst>
              <a:ext uri="{FF2B5EF4-FFF2-40B4-BE49-F238E27FC236}">
                <a16:creationId xmlns:a16="http://schemas.microsoft.com/office/drawing/2014/main" id="{772B207E-F581-D3FC-D13E-64AF408714F6}"/>
              </a:ext>
            </a:extLst>
          </p:cNvPr>
          <p:cNvSpPr txBox="1"/>
          <p:nvPr/>
        </p:nvSpPr>
        <p:spPr>
          <a:xfrm>
            <a:off x="2543595" y="3292191"/>
            <a:ext cx="114775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chemeClr val="bg2">
                    <a:lumMod val="10000"/>
                  </a:schemeClr>
                </a:solidFill>
                <a:effectLst/>
                <a:uFillTx/>
                <a:latin typeface="Roboto" panose="02000000000000000000" pitchFamily="2" charset="0"/>
                <a:ea typeface="Roboto" panose="02000000000000000000" pitchFamily="2" charset="0"/>
                <a:cs typeface="Roboto" panose="02000000000000000000" pitchFamily="2" charset="0"/>
                <a:sym typeface="Roboto"/>
              </a:rPr>
              <a:t>8 days</a:t>
            </a:r>
          </a:p>
        </p:txBody>
      </p:sp>
      <p:sp>
        <p:nvSpPr>
          <p:cNvPr id="37" name="Line">
            <a:extLst>
              <a:ext uri="{FF2B5EF4-FFF2-40B4-BE49-F238E27FC236}">
                <a16:creationId xmlns:a16="http://schemas.microsoft.com/office/drawing/2014/main" id="{9D7F823C-9C52-7450-2BAE-F4F9F1AF306D}"/>
              </a:ext>
            </a:extLst>
          </p:cNvPr>
          <p:cNvSpPr/>
          <p:nvPr/>
        </p:nvSpPr>
        <p:spPr>
          <a:xfrm flipV="1">
            <a:off x="4620866" y="3111377"/>
            <a:ext cx="4898656" cy="1443593"/>
          </a:xfrm>
          <a:prstGeom prst="line">
            <a:avLst/>
          </a:prstGeom>
          <a:ln w="63500">
            <a:solidFill>
              <a:srgbClr val="EE3228"/>
            </a:solidFill>
            <a:miter lim="400000"/>
            <a:headEnd type="arrow"/>
          </a:ln>
        </p:spPr>
        <p:txBody>
          <a:bodyPr lIns="50800" tIns="50800" rIns="50800" bIns="50800" anchor="ctr"/>
          <a:lstStyle/>
          <a:p>
            <a:pPr algn="l" defTabSz="457200">
              <a:defRPr sz="1200"/>
            </a:pPr>
            <a:endParaRPr/>
          </a:p>
        </p:txBody>
      </p:sp>
      <p:sp>
        <p:nvSpPr>
          <p:cNvPr id="38" name="Line">
            <a:extLst>
              <a:ext uri="{FF2B5EF4-FFF2-40B4-BE49-F238E27FC236}">
                <a16:creationId xmlns:a16="http://schemas.microsoft.com/office/drawing/2014/main" id="{49108B15-EA4D-5054-8B4E-F4A4F2828FA3}"/>
              </a:ext>
            </a:extLst>
          </p:cNvPr>
          <p:cNvSpPr/>
          <p:nvPr/>
        </p:nvSpPr>
        <p:spPr>
          <a:xfrm flipH="1" flipV="1">
            <a:off x="491576" y="3017090"/>
            <a:ext cx="1168669" cy="1443594"/>
          </a:xfrm>
          <a:prstGeom prst="line">
            <a:avLst/>
          </a:prstGeom>
          <a:ln w="63500">
            <a:solidFill>
              <a:srgbClr val="EE3228"/>
            </a:solidFill>
            <a:miter lim="400000"/>
            <a:headEnd type="arrow"/>
          </a:ln>
        </p:spPr>
        <p:txBody>
          <a:bodyPr lIns="50800" tIns="50800" rIns="50800" bIns="50800" anchor="ctr"/>
          <a:lstStyle/>
          <a:p>
            <a:pPr algn="l" defTabSz="457200">
              <a:defRPr sz="1200"/>
            </a:pPr>
            <a:endParaRPr/>
          </a:p>
        </p:txBody>
      </p:sp>
      <p:sp>
        <p:nvSpPr>
          <p:cNvPr id="25" name="Rectangle 24">
            <a:extLst>
              <a:ext uri="{FF2B5EF4-FFF2-40B4-BE49-F238E27FC236}">
                <a16:creationId xmlns:a16="http://schemas.microsoft.com/office/drawing/2014/main" id="{9C108D9A-5A10-6979-CB2C-306FA148A31E}"/>
              </a:ext>
            </a:extLst>
          </p:cNvPr>
          <p:cNvSpPr/>
          <p:nvPr/>
        </p:nvSpPr>
        <p:spPr>
          <a:xfrm>
            <a:off x="3691345" y="4059380"/>
            <a:ext cx="393192" cy="1152144"/>
          </a:xfrm>
          <a:prstGeom prst="rect">
            <a:avLst/>
          </a:prstGeom>
          <a:solidFill>
            <a:schemeClr val="bg2">
              <a:lumMod val="2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mn-lt"/>
              <a:ea typeface="+mn-ea"/>
              <a:cs typeface="+mn-cs"/>
              <a:sym typeface="Roboto"/>
            </a:endParaRPr>
          </a:p>
        </p:txBody>
      </p:sp>
      <p:sp>
        <p:nvSpPr>
          <p:cNvPr id="40" name="Rectangle 39">
            <a:extLst>
              <a:ext uri="{FF2B5EF4-FFF2-40B4-BE49-F238E27FC236}">
                <a16:creationId xmlns:a16="http://schemas.microsoft.com/office/drawing/2014/main" id="{9646EAFA-66EA-7DD3-2411-480288C4F044}"/>
              </a:ext>
            </a:extLst>
          </p:cNvPr>
          <p:cNvSpPr/>
          <p:nvPr/>
        </p:nvSpPr>
        <p:spPr>
          <a:xfrm>
            <a:off x="4081887" y="4059891"/>
            <a:ext cx="393192" cy="115214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mn-lt"/>
              <a:ea typeface="+mn-ea"/>
              <a:cs typeface="+mn-cs"/>
              <a:sym typeface="Roboto"/>
            </a:endParaRPr>
          </a:p>
        </p:txBody>
      </p:sp>
      <p:sp>
        <p:nvSpPr>
          <p:cNvPr id="8" name="TextBox 7">
            <a:extLst>
              <a:ext uri="{FF2B5EF4-FFF2-40B4-BE49-F238E27FC236}">
                <a16:creationId xmlns:a16="http://schemas.microsoft.com/office/drawing/2014/main" id="{C2A73849-F063-316D-C8AE-E6D57EE81203}"/>
              </a:ext>
            </a:extLst>
          </p:cNvPr>
          <p:cNvSpPr txBox="1"/>
          <p:nvPr/>
        </p:nvSpPr>
        <p:spPr>
          <a:xfrm>
            <a:off x="2000416" y="323813"/>
            <a:ext cx="1708645"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Introduction</a:t>
            </a:r>
          </a:p>
        </p:txBody>
      </p:sp>
      <p:sp>
        <p:nvSpPr>
          <p:cNvPr id="31" name="AutoShape 9">
            <a:extLst>
              <a:ext uri="{FF2B5EF4-FFF2-40B4-BE49-F238E27FC236}">
                <a16:creationId xmlns:a16="http://schemas.microsoft.com/office/drawing/2014/main" id="{28CEAD42-30C3-9B60-111B-616CB71A31D7}"/>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32" name="AutoShape 10">
            <a:extLst>
              <a:ext uri="{FF2B5EF4-FFF2-40B4-BE49-F238E27FC236}">
                <a16:creationId xmlns:a16="http://schemas.microsoft.com/office/drawing/2014/main" id="{09D1D9E9-C1F3-E360-1AF4-D7AB23DCEA96}"/>
              </a:ext>
            </a:extLst>
          </p:cNvPr>
          <p:cNvSpPr>
            <a:spLocks noChangeArrowheads="1"/>
          </p:cNvSpPr>
          <p:nvPr/>
        </p:nvSpPr>
        <p:spPr bwMode="auto">
          <a:xfrm>
            <a:off x="1253924"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39" name="AutoShape 11">
            <a:extLst>
              <a:ext uri="{FF2B5EF4-FFF2-40B4-BE49-F238E27FC236}">
                <a16:creationId xmlns:a16="http://schemas.microsoft.com/office/drawing/2014/main" id="{291240AA-7D96-F389-D5F7-964EC623F890}"/>
              </a:ext>
            </a:extLst>
          </p:cNvPr>
          <p:cNvSpPr>
            <a:spLocks noChangeArrowheads="1"/>
          </p:cNvSpPr>
          <p:nvPr/>
        </p:nvSpPr>
        <p:spPr bwMode="auto">
          <a:xfrm>
            <a:off x="940249"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Tree>
    <p:extLst>
      <p:ext uri="{BB962C8B-B14F-4D97-AF65-F5344CB8AC3E}">
        <p14:creationId xmlns:p14="http://schemas.microsoft.com/office/powerpoint/2010/main" val="40372080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287BA79-BC0E-9B68-5E47-60ACB12957C8}"/>
              </a:ext>
            </a:extLst>
          </p:cNvPr>
          <p:cNvSpPr>
            <a:spLocks noGrp="1"/>
          </p:cNvSpPr>
          <p:nvPr>
            <p:ph type="body" sz="half" idx="2"/>
          </p:nvPr>
        </p:nvSpPr>
        <p:spPr/>
        <p:txBody>
          <a:bodyPr>
            <a:normAutofit/>
          </a:bodyPr>
          <a:lstStyle/>
          <a:p>
            <a:pPr marL="342900" indent="-342900">
              <a:buFont typeface="Arial" panose="020B0604020202020204" pitchFamily="34" charset="0"/>
              <a:buChar char="•"/>
            </a:pPr>
            <a:r>
              <a:rPr lang="en-US" altLang="ja-JP" sz="2200" dirty="0"/>
              <a:t>Respect for the individual</a:t>
            </a:r>
          </a:p>
          <a:p>
            <a:pPr marL="342900" indent="-342900">
              <a:buFont typeface="Arial" panose="020B0604020202020204" pitchFamily="34" charset="0"/>
              <a:buChar char="•"/>
            </a:pPr>
            <a:r>
              <a:rPr lang="en-US" altLang="ja-JP" sz="2200" dirty="0"/>
              <a:t>Desire to fully utilize the creativity and capability of the individual</a:t>
            </a:r>
          </a:p>
          <a:p>
            <a:pPr marL="342900" indent="-342900">
              <a:buFont typeface="Arial" panose="020B0604020202020204" pitchFamily="34" charset="0"/>
              <a:buChar char="•"/>
            </a:pPr>
            <a:r>
              <a:rPr lang="en-US" altLang="ja-JP" sz="2200" dirty="0"/>
              <a:t>Respect for the customer</a:t>
            </a:r>
          </a:p>
          <a:p>
            <a:pPr marL="342900" indent="-342900">
              <a:buFont typeface="Arial" panose="020B0604020202020204" pitchFamily="34" charset="0"/>
              <a:buChar char="•"/>
            </a:pPr>
            <a:r>
              <a:rPr lang="en-US" altLang="ja-JP" sz="2200" dirty="0"/>
              <a:t>Enterprise-wide sustainable competitive advantage</a:t>
            </a:r>
          </a:p>
        </p:txBody>
      </p:sp>
      <p:sp>
        <p:nvSpPr>
          <p:cNvPr id="6" name="Footer Placeholder 5">
            <a:extLst>
              <a:ext uri="{FF2B5EF4-FFF2-40B4-BE49-F238E27FC236}">
                <a16:creationId xmlns:a16="http://schemas.microsoft.com/office/drawing/2014/main" id="{C265196D-3665-42A0-455C-3E62D45552D6}"/>
              </a:ext>
            </a:extLst>
          </p:cNvPr>
          <p:cNvSpPr>
            <a:spLocks noGrp="1"/>
          </p:cNvSpPr>
          <p:nvPr>
            <p:ph type="ftr" sz="quarter" idx="11"/>
          </p:nvPr>
        </p:nvSpPr>
        <p:spPr/>
        <p:txBody>
          <a:bodyPr/>
          <a:lstStyle/>
          <a:p>
            <a:r>
              <a:rPr lang="en-US"/>
              <a:t>© Lean Horizons Consulting, LLC 2023. All Rights Reserved</a:t>
            </a:r>
            <a:endParaRPr lang="en-US" dirty="0"/>
          </a:p>
        </p:txBody>
      </p:sp>
      <p:sp>
        <p:nvSpPr>
          <p:cNvPr id="7" name="Slide Number Placeholder 6">
            <a:extLst>
              <a:ext uri="{FF2B5EF4-FFF2-40B4-BE49-F238E27FC236}">
                <a16:creationId xmlns:a16="http://schemas.microsoft.com/office/drawing/2014/main" id="{8DDF98C7-E326-67DA-15D8-AD0EFBA4380C}"/>
              </a:ext>
            </a:extLst>
          </p:cNvPr>
          <p:cNvSpPr>
            <a:spLocks noGrp="1"/>
          </p:cNvSpPr>
          <p:nvPr>
            <p:ph type="sldNum" sz="quarter" idx="12"/>
          </p:nvPr>
        </p:nvSpPr>
        <p:spPr/>
        <p:txBody>
          <a:bodyPr/>
          <a:lstStyle/>
          <a:p>
            <a:fld id="{CC6D4273-7FC1-0947-B9FE-19CB3C0D1FB6}" type="slidenum">
              <a:rPr lang="en-US" smtClean="0"/>
              <a:t>9</a:t>
            </a:fld>
            <a:endParaRPr lang="en-US"/>
          </a:p>
        </p:txBody>
      </p:sp>
      <p:pic>
        <p:nvPicPr>
          <p:cNvPr id="17" name="Content Placeholder 16" descr="A person with the hand on the chin">
            <a:extLst>
              <a:ext uri="{FF2B5EF4-FFF2-40B4-BE49-F238E27FC236}">
                <a16:creationId xmlns:a16="http://schemas.microsoft.com/office/drawing/2014/main" id="{51FC5A95-8AF9-704B-0862-DB36D2BC26FC}"/>
              </a:ext>
            </a:extLst>
          </p:cNvPr>
          <p:cNvPicPr>
            <a:picLocks noGrp="1" noChangeAspect="1"/>
          </p:cNvPicPr>
          <p:nvPr>
            <p:ph idx="1"/>
          </p:nvPr>
        </p:nvPicPr>
        <p:blipFill rotWithShape="1">
          <a:blip r:embed="rId3"/>
          <a:srcRect l="10645" r="14531"/>
          <a:stretch/>
        </p:blipFill>
        <p:spPr>
          <a:xfrm flipH="1">
            <a:off x="5560216" y="1395412"/>
            <a:ext cx="4561237" cy="4067175"/>
          </a:xfrm>
        </p:spPr>
      </p:pic>
      <p:sp>
        <p:nvSpPr>
          <p:cNvPr id="12" name="TextBox 11">
            <a:extLst>
              <a:ext uri="{FF2B5EF4-FFF2-40B4-BE49-F238E27FC236}">
                <a16:creationId xmlns:a16="http://schemas.microsoft.com/office/drawing/2014/main" id="{3FED22B0-B2B7-9840-0B1F-66F773992CBC}"/>
              </a:ext>
            </a:extLst>
          </p:cNvPr>
          <p:cNvSpPr txBox="1"/>
          <p:nvPr/>
        </p:nvSpPr>
        <p:spPr>
          <a:xfrm>
            <a:off x="2000416" y="323813"/>
            <a:ext cx="1708645"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Introduction</a:t>
            </a:r>
          </a:p>
        </p:txBody>
      </p:sp>
      <p:sp>
        <p:nvSpPr>
          <p:cNvPr id="8" name="Title 1">
            <a:extLst>
              <a:ext uri="{FF2B5EF4-FFF2-40B4-BE49-F238E27FC236}">
                <a16:creationId xmlns:a16="http://schemas.microsoft.com/office/drawing/2014/main" id="{3BDD162C-1682-C140-3181-DE873F988CBF}"/>
              </a:ext>
            </a:extLst>
          </p:cNvPr>
          <p:cNvSpPr txBox="1">
            <a:spLocks/>
          </p:cNvSpPr>
          <p:nvPr/>
        </p:nvSpPr>
        <p:spPr>
          <a:xfrm>
            <a:off x="839788" y="1222913"/>
            <a:ext cx="3932237" cy="531812"/>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3200" b="0" i="0" kern="1200">
                <a:solidFill>
                  <a:schemeClr val="tx1"/>
                </a:solidFill>
                <a:latin typeface="Roboto Medium" panose="02000000000000000000" pitchFamily="2" charset="0"/>
                <a:ea typeface="Roboto Medium" panose="02000000000000000000" pitchFamily="2" charset="0"/>
                <a:cs typeface="Roboto Medium" panose="02000000000000000000" pitchFamily="2" charset="0"/>
              </a:defRPr>
            </a:lvl1pPr>
          </a:lstStyle>
          <a:p>
            <a:r>
              <a:rPr lang="en-US" sz="4000" dirty="0">
                <a:latin typeface="Roboto Medium"/>
                <a:ea typeface="Roboto Medium"/>
                <a:cs typeface="Roboto Medium"/>
              </a:rPr>
              <a:t>Why Lean?</a:t>
            </a:r>
            <a:endParaRPr lang="en-US" dirty="0"/>
          </a:p>
        </p:txBody>
      </p:sp>
      <p:sp>
        <p:nvSpPr>
          <p:cNvPr id="2" name="AutoShape 9">
            <a:extLst>
              <a:ext uri="{FF2B5EF4-FFF2-40B4-BE49-F238E27FC236}">
                <a16:creationId xmlns:a16="http://schemas.microsoft.com/office/drawing/2014/main" id="{E05A15D5-5DA2-FE2E-847D-51F0C69129F3}"/>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3" name="AutoShape 10">
            <a:extLst>
              <a:ext uri="{FF2B5EF4-FFF2-40B4-BE49-F238E27FC236}">
                <a16:creationId xmlns:a16="http://schemas.microsoft.com/office/drawing/2014/main" id="{92CAFE90-FD2B-B846-BE6A-62129856DA11}"/>
              </a:ext>
            </a:extLst>
          </p:cNvPr>
          <p:cNvSpPr>
            <a:spLocks noChangeArrowheads="1"/>
          </p:cNvSpPr>
          <p:nvPr/>
        </p:nvSpPr>
        <p:spPr bwMode="auto">
          <a:xfrm>
            <a:off x="1253924"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5" name="AutoShape 11">
            <a:extLst>
              <a:ext uri="{FF2B5EF4-FFF2-40B4-BE49-F238E27FC236}">
                <a16:creationId xmlns:a16="http://schemas.microsoft.com/office/drawing/2014/main" id="{7EB97BAB-0428-312B-3B87-1B9D75EBBF5E}"/>
              </a:ext>
            </a:extLst>
          </p:cNvPr>
          <p:cNvSpPr>
            <a:spLocks noChangeArrowheads="1"/>
          </p:cNvSpPr>
          <p:nvPr/>
        </p:nvSpPr>
        <p:spPr bwMode="auto">
          <a:xfrm>
            <a:off x="940249"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Tree>
    <p:extLst>
      <p:ext uri="{BB962C8B-B14F-4D97-AF65-F5344CB8AC3E}">
        <p14:creationId xmlns:p14="http://schemas.microsoft.com/office/powerpoint/2010/main" val="19233684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EC131781-3858-0851-3868-2AC8487B8247}"/>
              </a:ext>
            </a:extLst>
          </p:cNvPr>
          <p:cNvSpPr>
            <a:spLocks noGrp="1"/>
          </p:cNvSpPr>
          <p:nvPr>
            <p:ph type="ftr" sz="quarter" idx="11"/>
          </p:nvPr>
        </p:nvSpPr>
        <p:spPr/>
        <p:txBody>
          <a:bodyPr/>
          <a:lstStyle/>
          <a:p>
            <a:r>
              <a:rPr lang="en-US" sz="900">
                <a:latin typeface="Roboto" panose="02000000000000000000" pitchFamily="2" charset="0"/>
                <a:ea typeface="Roboto" panose="02000000000000000000" pitchFamily="2" charset="0"/>
                <a:cs typeface="Roboto" panose="02000000000000000000" pitchFamily="2" charset="0"/>
              </a:rPr>
              <a:t>© Lean Horizons Consulting, LLC 2023. All Rights Reserved</a:t>
            </a:r>
            <a:endParaRPr lang="en-US" sz="900" dirty="0">
              <a:latin typeface="Roboto" panose="02000000000000000000" pitchFamily="2" charset="0"/>
              <a:ea typeface="Roboto" panose="02000000000000000000" pitchFamily="2" charset="0"/>
              <a:cs typeface="Roboto" panose="02000000000000000000" pitchFamily="2" charset="0"/>
            </a:endParaRPr>
          </a:p>
        </p:txBody>
      </p:sp>
      <p:sp>
        <p:nvSpPr>
          <p:cNvPr id="4" name="Slide Number Placeholder 3">
            <a:extLst>
              <a:ext uri="{FF2B5EF4-FFF2-40B4-BE49-F238E27FC236}">
                <a16:creationId xmlns:a16="http://schemas.microsoft.com/office/drawing/2014/main" id="{3808457A-80E3-DE97-AFB7-8F48A1405C69}"/>
              </a:ext>
            </a:extLst>
          </p:cNvPr>
          <p:cNvSpPr>
            <a:spLocks noGrp="1"/>
          </p:cNvSpPr>
          <p:nvPr>
            <p:ph type="sldNum" sz="quarter" idx="12"/>
          </p:nvPr>
        </p:nvSpPr>
        <p:spPr/>
        <p:txBody>
          <a:bodyPr/>
          <a:lstStyle/>
          <a:p>
            <a:fld id="{CC6D4273-7FC1-0947-B9FE-19CB3C0D1FB6}" type="slidenum">
              <a:rPr lang="en-US" smtClean="0">
                <a:latin typeface="Roboto" panose="02000000000000000000" pitchFamily="2" charset="0"/>
                <a:ea typeface="Roboto" panose="02000000000000000000" pitchFamily="2" charset="0"/>
                <a:cs typeface="Roboto" panose="02000000000000000000" pitchFamily="2" charset="0"/>
              </a:rPr>
              <a:pPr/>
              <a:t>10</a:t>
            </a:fld>
            <a:endParaRPr lang="en-US" dirty="0">
              <a:latin typeface="Roboto" panose="02000000000000000000" pitchFamily="2" charset="0"/>
              <a:ea typeface="Roboto" panose="02000000000000000000" pitchFamily="2" charset="0"/>
              <a:cs typeface="Roboto" panose="02000000000000000000" pitchFamily="2" charset="0"/>
            </a:endParaRPr>
          </a:p>
        </p:txBody>
      </p:sp>
      <p:sp>
        <p:nvSpPr>
          <p:cNvPr id="10" name="Title 1">
            <a:extLst>
              <a:ext uri="{FF2B5EF4-FFF2-40B4-BE49-F238E27FC236}">
                <a16:creationId xmlns:a16="http://schemas.microsoft.com/office/drawing/2014/main" id="{FA64EF14-686A-E3E4-B13B-8F4D7FF43C6B}"/>
              </a:ext>
            </a:extLst>
          </p:cNvPr>
          <p:cNvSpPr txBox="1">
            <a:spLocks/>
          </p:cNvSpPr>
          <p:nvPr/>
        </p:nvSpPr>
        <p:spPr>
          <a:xfrm>
            <a:off x="656229" y="962988"/>
            <a:ext cx="10515600" cy="1009651"/>
          </a:xfrm>
          <a:prstGeom prst="rect">
            <a:avLst/>
          </a:prstGeom>
        </p:spPr>
        <p:txBody>
          <a:bodyPr/>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r>
              <a:rPr lang="en-US" sz="3600" dirty="0">
                <a:solidFill>
                  <a:schemeClr val="bg2">
                    <a:lumMod val="10000"/>
                  </a:schemeClr>
                </a:solidFill>
                <a:latin typeface="Roboto Medium" panose="02000000000000000000" pitchFamily="2" charset="0"/>
                <a:ea typeface="Roboto Medium" panose="02000000000000000000" pitchFamily="2" charset="0"/>
                <a:cs typeface="Roboto Medium" panose="02000000000000000000" pitchFamily="2" charset="0"/>
              </a:rPr>
              <a:t>History of Lean - Timeline</a:t>
            </a:r>
            <a:endParaRPr lang="en-US" sz="2800" dirty="0">
              <a:solidFill>
                <a:schemeClr val="bg2">
                  <a:lumMod val="10000"/>
                </a:schemeClr>
              </a:solidFill>
              <a:latin typeface="Roboto Medium" panose="02000000000000000000" pitchFamily="2" charset="0"/>
              <a:ea typeface="Roboto Medium" panose="02000000000000000000" pitchFamily="2" charset="0"/>
              <a:cs typeface="Roboto Medium" panose="02000000000000000000" pitchFamily="2" charset="0"/>
            </a:endParaRPr>
          </a:p>
        </p:txBody>
      </p:sp>
      <p:grpSp>
        <p:nvGrpSpPr>
          <p:cNvPr id="132" name="Group 131">
            <a:extLst>
              <a:ext uri="{FF2B5EF4-FFF2-40B4-BE49-F238E27FC236}">
                <a16:creationId xmlns:a16="http://schemas.microsoft.com/office/drawing/2014/main" id="{E78D4EEB-496F-20B3-E8ED-9E07BE5CA236}"/>
              </a:ext>
            </a:extLst>
          </p:cNvPr>
          <p:cNvGrpSpPr/>
          <p:nvPr/>
        </p:nvGrpSpPr>
        <p:grpSpPr>
          <a:xfrm>
            <a:off x="154341" y="1033972"/>
            <a:ext cx="12037659" cy="4790056"/>
            <a:chOff x="1056719" y="462915"/>
            <a:chExt cx="21423831" cy="14092393"/>
          </a:xfrm>
        </p:grpSpPr>
        <p:grpSp>
          <p:nvGrpSpPr>
            <p:cNvPr id="85" name="Group 84">
              <a:extLst>
                <a:ext uri="{FF2B5EF4-FFF2-40B4-BE49-F238E27FC236}">
                  <a16:creationId xmlns:a16="http://schemas.microsoft.com/office/drawing/2014/main" id="{E61B3751-2B30-039E-30D0-759E2479D473}"/>
                </a:ext>
              </a:extLst>
            </p:cNvPr>
            <p:cNvGrpSpPr/>
            <p:nvPr/>
          </p:nvGrpSpPr>
          <p:grpSpPr>
            <a:xfrm>
              <a:off x="1903449" y="462915"/>
              <a:ext cx="20577101" cy="12790170"/>
              <a:chOff x="1198377" y="462915"/>
              <a:chExt cx="20577101" cy="12790170"/>
            </a:xfrm>
          </p:grpSpPr>
          <p:graphicFrame>
            <p:nvGraphicFramePr>
              <p:cNvPr id="86" name="Diagram 85">
                <a:extLst>
                  <a:ext uri="{FF2B5EF4-FFF2-40B4-BE49-F238E27FC236}">
                    <a16:creationId xmlns:a16="http://schemas.microsoft.com/office/drawing/2014/main" id="{E024D621-F4F1-E57A-E88B-5D46BC54D93B}"/>
                  </a:ext>
                </a:extLst>
              </p:cNvPr>
              <p:cNvGraphicFramePr/>
              <p:nvPr>
                <p:extLst>
                  <p:ext uri="{D42A27DB-BD31-4B8C-83A1-F6EECF244321}">
                    <p14:modId xmlns:p14="http://schemas.microsoft.com/office/powerpoint/2010/main" val="3483425721"/>
                  </p:ext>
                </p:extLst>
              </p:nvPr>
            </p:nvGraphicFramePr>
            <p:xfrm>
              <a:off x="1198377" y="462915"/>
              <a:ext cx="20577101" cy="1279017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87" name="Straight Connector 86">
                <a:extLst>
                  <a:ext uri="{FF2B5EF4-FFF2-40B4-BE49-F238E27FC236}">
                    <a16:creationId xmlns:a16="http://schemas.microsoft.com/office/drawing/2014/main" id="{0BFC2A35-6E2C-171D-7517-103B33A796EB}"/>
                  </a:ext>
                </a:extLst>
              </p:cNvPr>
              <p:cNvCxnSpPr/>
              <p:nvPr/>
            </p:nvCxnSpPr>
            <p:spPr>
              <a:xfrm>
                <a:off x="1892595" y="3189767"/>
                <a:ext cx="0" cy="2402959"/>
              </a:xfrm>
              <a:prstGeom prst="line">
                <a:avLst/>
              </a:prstGeom>
              <a:noFill/>
              <a:ln w="25400" cap="flat">
                <a:solidFill>
                  <a:schemeClr val="tx1">
                    <a:alpha val="75000"/>
                  </a:schemeClr>
                </a:solidFill>
                <a:prstDash val="solid"/>
                <a:miter lim="400000"/>
              </a:ln>
              <a:effectLst/>
              <a:sp3d/>
            </p:spPr>
            <p:style>
              <a:lnRef idx="0">
                <a:scrgbClr r="0" g="0" b="0"/>
              </a:lnRef>
              <a:fillRef idx="0">
                <a:scrgbClr r="0" g="0" b="0"/>
              </a:fillRef>
              <a:effectRef idx="0">
                <a:scrgbClr r="0" g="0" b="0"/>
              </a:effectRef>
              <a:fontRef idx="none"/>
            </p:style>
          </p:cxnSp>
          <p:cxnSp>
            <p:nvCxnSpPr>
              <p:cNvPr id="88" name="Straight Connector 87">
                <a:extLst>
                  <a:ext uri="{FF2B5EF4-FFF2-40B4-BE49-F238E27FC236}">
                    <a16:creationId xmlns:a16="http://schemas.microsoft.com/office/drawing/2014/main" id="{6DEB8DC4-5437-0CB9-93CE-E9C0519E1479}"/>
                  </a:ext>
                </a:extLst>
              </p:cNvPr>
              <p:cNvCxnSpPr/>
              <p:nvPr/>
            </p:nvCxnSpPr>
            <p:spPr>
              <a:xfrm>
                <a:off x="7637721" y="3189767"/>
                <a:ext cx="0" cy="2402959"/>
              </a:xfrm>
              <a:prstGeom prst="line">
                <a:avLst/>
              </a:prstGeom>
              <a:noFill/>
              <a:ln w="25400" cap="flat">
                <a:solidFill>
                  <a:schemeClr val="tx1">
                    <a:alpha val="75000"/>
                  </a:schemeClr>
                </a:solidFill>
                <a:prstDash val="solid"/>
                <a:miter lim="400000"/>
              </a:ln>
              <a:effectLst/>
              <a:sp3d/>
            </p:spPr>
            <p:style>
              <a:lnRef idx="0">
                <a:scrgbClr r="0" g="0" b="0"/>
              </a:lnRef>
              <a:fillRef idx="0">
                <a:scrgbClr r="0" g="0" b="0"/>
              </a:fillRef>
              <a:effectRef idx="0">
                <a:scrgbClr r="0" g="0" b="0"/>
              </a:effectRef>
              <a:fontRef idx="none"/>
            </p:style>
          </p:cxnSp>
          <p:cxnSp>
            <p:nvCxnSpPr>
              <p:cNvPr id="89" name="Straight Connector 88">
                <a:extLst>
                  <a:ext uri="{FF2B5EF4-FFF2-40B4-BE49-F238E27FC236}">
                    <a16:creationId xmlns:a16="http://schemas.microsoft.com/office/drawing/2014/main" id="{45333AAB-6167-11EF-9013-671FE9E1B9E0}"/>
                  </a:ext>
                </a:extLst>
              </p:cNvPr>
              <p:cNvCxnSpPr/>
              <p:nvPr/>
            </p:nvCxnSpPr>
            <p:spPr>
              <a:xfrm>
                <a:off x="13379302" y="3189767"/>
                <a:ext cx="0" cy="2402959"/>
              </a:xfrm>
              <a:prstGeom prst="line">
                <a:avLst/>
              </a:prstGeom>
              <a:noFill/>
              <a:ln w="25400" cap="flat">
                <a:solidFill>
                  <a:schemeClr val="tx1">
                    <a:alpha val="75000"/>
                  </a:schemeClr>
                </a:solidFill>
                <a:prstDash val="solid"/>
                <a:miter lim="400000"/>
              </a:ln>
              <a:effectLst/>
              <a:sp3d/>
            </p:spPr>
            <p:style>
              <a:lnRef idx="0">
                <a:scrgbClr r="0" g="0" b="0"/>
              </a:lnRef>
              <a:fillRef idx="0">
                <a:scrgbClr r="0" g="0" b="0"/>
              </a:fillRef>
              <a:effectRef idx="0">
                <a:scrgbClr r="0" g="0" b="0"/>
              </a:effectRef>
              <a:fontRef idx="none"/>
            </p:style>
          </p:cxnSp>
          <p:cxnSp>
            <p:nvCxnSpPr>
              <p:cNvPr id="90" name="Straight Connector 89">
                <a:extLst>
                  <a:ext uri="{FF2B5EF4-FFF2-40B4-BE49-F238E27FC236}">
                    <a16:creationId xmlns:a16="http://schemas.microsoft.com/office/drawing/2014/main" id="{040E0523-2424-DB53-9497-E9760C2398D6}"/>
                  </a:ext>
                </a:extLst>
              </p:cNvPr>
              <p:cNvCxnSpPr/>
              <p:nvPr/>
            </p:nvCxnSpPr>
            <p:spPr>
              <a:xfrm>
                <a:off x="19057088" y="3189767"/>
                <a:ext cx="0" cy="2402959"/>
              </a:xfrm>
              <a:prstGeom prst="line">
                <a:avLst/>
              </a:prstGeom>
              <a:noFill/>
              <a:ln w="25400" cap="flat">
                <a:solidFill>
                  <a:schemeClr val="tx1">
                    <a:alpha val="75000"/>
                  </a:schemeClr>
                </a:solidFill>
                <a:prstDash val="solid"/>
                <a:miter lim="400000"/>
              </a:ln>
              <a:effectLst/>
              <a:sp3d/>
            </p:spPr>
            <p:style>
              <a:lnRef idx="0">
                <a:scrgbClr r="0" g="0" b="0"/>
              </a:lnRef>
              <a:fillRef idx="0">
                <a:scrgbClr r="0" g="0" b="0"/>
              </a:fillRef>
              <a:effectRef idx="0">
                <a:scrgbClr r="0" g="0" b="0"/>
              </a:effectRef>
              <a:fontRef idx="none"/>
            </p:style>
          </p:cxnSp>
        </p:grpSp>
        <p:grpSp>
          <p:nvGrpSpPr>
            <p:cNvPr id="91" name="Group 90">
              <a:extLst>
                <a:ext uri="{FF2B5EF4-FFF2-40B4-BE49-F238E27FC236}">
                  <a16:creationId xmlns:a16="http://schemas.microsoft.com/office/drawing/2014/main" id="{F42AAFDC-B1BD-3D05-F02C-C3E830C978FD}"/>
                </a:ext>
              </a:extLst>
            </p:cNvPr>
            <p:cNvGrpSpPr/>
            <p:nvPr/>
          </p:nvGrpSpPr>
          <p:grpSpPr>
            <a:xfrm>
              <a:off x="2644153" y="3623020"/>
              <a:ext cx="1600488" cy="1969706"/>
              <a:chOff x="2644153" y="3623020"/>
              <a:chExt cx="1600488" cy="1969706"/>
            </a:xfrm>
          </p:grpSpPr>
          <p:sp>
            <p:nvSpPr>
              <p:cNvPr id="92" name="TextBox 91">
                <a:extLst>
                  <a:ext uri="{FF2B5EF4-FFF2-40B4-BE49-F238E27FC236}">
                    <a16:creationId xmlns:a16="http://schemas.microsoft.com/office/drawing/2014/main" id="{491278F9-6F16-C437-5EC2-DF5607D02541}"/>
                  </a:ext>
                </a:extLst>
              </p:cNvPr>
              <p:cNvSpPr txBox="1"/>
              <p:nvPr/>
            </p:nvSpPr>
            <p:spPr>
              <a:xfrm>
                <a:off x="2644153" y="3623020"/>
                <a:ext cx="1600488" cy="156950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1400" b="0" i="0" u="none" strike="noStrike" cap="none" spc="0" normalizeH="0" baseline="0" dirty="0">
                    <a:ln>
                      <a:noFill/>
                    </a:ln>
                    <a:solidFill>
                      <a:schemeClr val="bg2">
                        <a:lumMod val="10000"/>
                      </a:schemeClr>
                    </a:solidFill>
                    <a:effectLst/>
                    <a:uFillTx/>
                    <a:latin typeface="Roboto" panose="02000000000000000000" pitchFamily="2" charset="0"/>
                    <a:ea typeface="Roboto" panose="02000000000000000000" pitchFamily="2" charset="0"/>
                    <a:cs typeface="Roboto" panose="02000000000000000000" pitchFamily="2" charset="0"/>
                    <a:sym typeface="Roboto"/>
                  </a:rPr>
                  <a:t>American</a:t>
                </a:r>
              </a:p>
              <a:p>
                <a:pPr marL="0" marR="0" indent="0" algn="ctr" defTabSz="825500" rtl="0" fontAlgn="auto" latinLnBrk="0" hangingPunct="0">
                  <a:lnSpc>
                    <a:spcPct val="100000"/>
                  </a:lnSpc>
                  <a:spcBef>
                    <a:spcPts val="0"/>
                  </a:spcBef>
                  <a:spcAft>
                    <a:spcPts val="0"/>
                  </a:spcAft>
                  <a:buClrTx/>
                  <a:buSzTx/>
                  <a:buFontTx/>
                  <a:buNone/>
                  <a:tabLst/>
                </a:pPr>
                <a:r>
                  <a:rPr kumimoji="0" lang="en-US" sz="1400" b="0" i="0" u="none" strike="noStrike" cap="none" spc="0" normalizeH="0" baseline="0" dirty="0">
                    <a:ln>
                      <a:noFill/>
                    </a:ln>
                    <a:solidFill>
                      <a:schemeClr val="bg2">
                        <a:lumMod val="10000"/>
                      </a:schemeClr>
                    </a:solidFill>
                    <a:effectLst/>
                    <a:uFillTx/>
                    <a:latin typeface="Roboto" panose="02000000000000000000" pitchFamily="2" charset="0"/>
                    <a:ea typeface="Roboto" panose="02000000000000000000" pitchFamily="2" charset="0"/>
                    <a:cs typeface="Roboto" panose="02000000000000000000" pitchFamily="2" charset="0"/>
                    <a:sym typeface="Roboto"/>
                  </a:rPr>
                  <a:t>Civil War</a:t>
                </a:r>
              </a:p>
            </p:txBody>
          </p:sp>
          <p:cxnSp>
            <p:nvCxnSpPr>
              <p:cNvPr id="93" name="Straight Connector 92">
                <a:extLst>
                  <a:ext uri="{FF2B5EF4-FFF2-40B4-BE49-F238E27FC236}">
                    <a16:creationId xmlns:a16="http://schemas.microsoft.com/office/drawing/2014/main" id="{B4A1F465-E822-886E-62A9-43B13F2549DF}"/>
                  </a:ext>
                </a:extLst>
              </p:cNvPr>
              <p:cNvCxnSpPr/>
              <p:nvPr/>
            </p:nvCxnSpPr>
            <p:spPr>
              <a:xfrm>
                <a:off x="3291886" y="4994674"/>
                <a:ext cx="0" cy="598052"/>
              </a:xfrm>
              <a:prstGeom prst="line">
                <a:avLst/>
              </a:prstGeom>
              <a:noFill/>
              <a:ln w="25400" cap="flat">
                <a:solidFill>
                  <a:schemeClr val="tx1">
                    <a:alpha val="75000"/>
                  </a:schemeClr>
                </a:solidFill>
                <a:prstDash val="solid"/>
                <a:miter lim="400000"/>
              </a:ln>
              <a:effectLst/>
              <a:sp3d/>
            </p:spPr>
            <p:style>
              <a:lnRef idx="0">
                <a:scrgbClr r="0" g="0" b="0"/>
              </a:lnRef>
              <a:fillRef idx="0">
                <a:scrgbClr r="0" g="0" b="0"/>
              </a:fillRef>
              <a:effectRef idx="0">
                <a:scrgbClr r="0" g="0" b="0"/>
              </a:effectRef>
              <a:fontRef idx="none"/>
            </p:style>
          </p:cxnSp>
        </p:grpSp>
        <p:grpSp>
          <p:nvGrpSpPr>
            <p:cNvPr id="94" name="Group 93">
              <a:extLst>
                <a:ext uri="{FF2B5EF4-FFF2-40B4-BE49-F238E27FC236}">
                  <a16:creationId xmlns:a16="http://schemas.microsoft.com/office/drawing/2014/main" id="{91511F9C-5718-7FC9-9EEC-D612220248D1}"/>
                </a:ext>
              </a:extLst>
            </p:cNvPr>
            <p:cNvGrpSpPr/>
            <p:nvPr/>
          </p:nvGrpSpPr>
          <p:grpSpPr>
            <a:xfrm>
              <a:off x="8595457" y="3650700"/>
              <a:ext cx="955726" cy="1971295"/>
              <a:chOff x="2780555" y="3621431"/>
              <a:chExt cx="955726" cy="1971295"/>
            </a:xfrm>
          </p:grpSpPr>
          <p:sp>
            <p:nvSpPr>
              <p:cNvPr id="95" name="TextBox 94">
                <a:extLst>
                  <a:ext uri="{FF2B5EF4-FFF2-40B4-BE49-F238E27FC236}">
                    <a16:creationId xmlns:a16="http://schemas.microsoft.com/office/drawing/2014/main" id="{4ACE0A82-E5CA-29D2-7DFB-6C135872CEBF}"/>
                  </a:ext>
                </a:extLst>
              </p:cNvPr>
              <p:cNvSpPr txBox="1"/>
              <p:nvPr/>
            </p:nvSpPr>
            <p:spPr>
              <a:xfrm>
                <a:off x="2780555" y="3621431"/>
                <a:ext cx="955726" cy="156950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1400" b="0" i="0" u="none" strike="noStrike" cap="none" spc="0" normalizeH="0" baseline="0" dirty="0">
                    <a:ln>
                      <a:noFill/>
                    </a:ln>
                    <a:solidFill>
                      <a:schemeClr val="bg2">
                        <a:lumMod val="10000"/>
                      </a:schemeClr>
                    </a:solidFill>
                    <a:effectLst/>
                    <a:uFillTx/>
                    <a:latin typeface="Roboto" panose="02000000000000000000" pitchFamily="2" charset="0"/>
                    <a:ea typeface="Roboto" panose="02000000000000000000" pitchFamily="2" charset="0"/>
                    <a:cs typeface="Roboto" panose="02000000000000000000" pitchFamily="2" charset="0"/>
                    <a:sym typeface="Roboto"/>
                  </a:rPr>
                  <a:t>Great</a:t>
                </a:r>
              </a:p>
              <a:p>
                <a:pPr marL="0" marR="0" indent="0" algn="ctr" defTabSz="825500" rtl="0" fontAlgn="auto" latinLnBrk="0" hangingPunct="0">
                  <a:lnSpc>
                    <a:spcPct val="100000"/>
                  </a:lnSpc>
                  <a:spcBef>
                    <a:spcPts val="0"/>
                  </a:spcBef>
                  <a:spcAft>
                    <a:spcPts val="0"/>
                  </a:spcAft>
                  <a:buClrTx/>
                  <a:buSzTx/>
                  <a:buFontTx/>
                  <a:buNone/>
                  <a:tabLst/>
                </a:pPr>
                <a:r>
                  <a:rPr kumimoji="0" lang="en-US" sz="1400" b="0" i="0" u="none" strike="noStrike" cap="none" spc="0" normalizeH="0" baseline="0" dirty="0">
                    <a:ln>
                      <a:noFill/>
                    </a:ln>
                    <a:solidFill>
                      <a:schemeClr val="bg2">
                        <a:lumMod val="10000"/>
                      </a:schemeClr>
                    </a:solidFill>
                    <a:effectLst/>
                    <a:uFillTx/>
                    <a:latin typeface="Roboto" panose="02000000000000000000" pitchFamily="2" charset="0"/>
                    <a:ea typeface="Roboto" panose="02000000000000000000" pitchFamily="2" charset="0"/>
                    <a:cs typeface="Roboto" panose="02000000000000000000" pitchFamily="2" charset="0"/>
                    <a:sym typeface="Roboto"/>
                  </a:rPr>
                  <a:t>War</a:t>
                </a:r>
              </a:p>
            </p:txBody>
          </p:sp>
          <p:cxnSp>
            <p:nvCxnSpPr>
              <p:cNvPr id="96" name="Straight Connector 95">
                <a:extLst>
                  <a:ext uri="{FF2B5EF4-FFF2-40B4-BE49-F238E27FC236}">
                    <a16:creationId xmlns:a16="http://schemas.microsoft.com/office/drawing/2014/main" id="{084DAFA3-23F8-E851-BFA5-2AB501239C7A}"/>
                  </a:ext>
                </a:extLst>
              </p:cNvPr>
              <p:cNvCxnSpPr/>
              <p:nvPr/>
            </p:nvCxnSpPr>
            <p:spPr>
              <a:xfrm>
                <a:off x="3291886" y="4994674"/>
                <a:ext cx="0" cy="598052"/>
              </a:xfrm>
              <a:prstGeom prst="line">
                <a:avLst/>
              </a:prstGeom>
              <a:noFill/>
              <a:ln w="25400" cap="flat">
                <a:solidFill>
                  <a:schemeClr val="tx1">
                    <a:alpha val="75000"/>
                  </a:schemeClr>
                </a:solidFill>
                <a:prstDash val="solid"/>
                <a:miter lim="400000"/>
              </a:ln>
              <a:effectLst/>
              <a:sp3d/>
            </p:spPr>
            <p:style>
              <a:lnRef idx="0">
                <a:scrgbClr r="0" g="0" b="0"/>
              </a:lnRef>
              <a:fillRef idx="0">
                <a:scrgbClr r="0" g="0" b="0"/>
              </a:fillRef>
              <a:effectRef idx="0">
                <a:scrgbClr r="0" g="0" b="0"/>
              </a:effectRef>
              <a:fontRef idx="none"/>
            </p:style>
          </p:cxnSp>
        </p:grpSp>
        <p:grpSp>
          <p:nvGrpSpPr>
            <p:cNvPr id="97" name="Group 96">
              <a:extLst>
                <a:ext uri="{FF2B5EF4-FFF2-40B4-BE49-F238E27FC236}">
                  <a16:creationId xmlns:a16="http://schemas.microsoft.com/office/drawing/2014/main" id="{D56B4010-4367-248E-0876-5B6D26B882DF}"/>
                </a:ext>
              </a:extLst>
            </p:cNvPr>
            <p:cNvGrpSpPr/>
            <p:nvPr/>
          </p:nvGrpSpPr>
          <p:grpSpPr>
            <a:xfrm>
              <a:off x="12621469" y="3538632"/>
              <a:ext cx="1012787" cy="2054094"/>
              <a:chOff x="2785492" y="3538632"/>
              <a:chExt cx="1012787" cy="2054094"/>
            </a:xfrm>
          </p:grpSpPr>
          <p:sp>
            <p:nvSpPr>
              <p:cNvPr id="98" name="TextBox 97">
                <a:extLst>
                  <a:ext uri="{FF2B5EF4-FFF2-40B4-BE49-F238E27FC236}">
                    <a16:creationId xmlns:a16="http://schemas.microsoft.com/office/drawing/2014/main" id="{F315DDBD-070A-032F-A09D-6E532BD3E698}"/>
                  </a:ext>
                </a:extLst>
              </p:cNvPr>
              <p:cNvSpPr txBox="1"/>
              <p:nvPr/>
            </p:nvSpPr>
            <p:spPr>
              <a:xfrm>
                <a:off x="2785492" y="3538632"/>
                <a:ext cx="1012787" cy="156950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1400" b="0" i="0" u="none" strike="noStrike" cap="none" spc="0" normalizeH="0" baseline="0" dirty="0">
                    <a:ln>
                      <a:noFill/>
                    </a:ln>
                    <a:solidFill>
                      <a:schemeClr val="bg2">
                        <a:lumMod val="10000"/>
                      </a:schemeClr>
                    </a:solidFill>
                    <a:effectLst/>
                    <a:uFillTx/>
                    <a:latin typeface="Roboto" panose="02000000000000000000" pitchFamily="2" charset="0"/>
                    <a:ea typeface="Roboto" panose="02000000000000000000" pitchFamily="2" charset="0"/>
                    <a:cs typeface="Roboto" panose="02000000000000000000" pitchFamily="2" charset="0"/>
                    <a:sym typeface="Roboto"/>
                  </a:rPr>
                  <a:t>World</a:t>
                </a:r>
              </a:p>
              <a:p>
                <a:pPr marL="0" marR="0" indent="0" algn="ctr" defTabSz="825500" rtl="0" fontAlgn="auto" latinLnBrk="0" hangingPunct="0">
                  <a:lnSpc>
                    <a:spcPct val="100000"/>
                  </a:lnSpc>
                  <a:spcBef>
                    <a:spcPts val="0"/>
                  </a:spcBef>
                  <a:spcAft>
                    <a:spcPts val="0"/>
                  </a:spcAft>
                  <a:buClrTx/>
                  <a:buSzTx/>
                  <a:buFontTx/>
                  <a:buNone/>
                  <a:tabLst/>
                </a:pPr>
                <a:r>
                  <a:rPr lang="en-US" sz="14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War II</a:t>
                </a:r>
                <a:endParaRPr kumimoji="0" lang="en-US" sz="1400" b="0" i="0" u="none" strike="noStrike" cap="none" spc="0" normalizeH="0" baseline="0" dirty="0">
                  <a:ln>
                    <a:noFill/>
                  </a:ln>
                  <a:solidFill>
                    <a:schemeClr val="bg2">
                      <a:lumMod val="10000"/>
                    </a:schemeClr>
                  </a:solidFill>
                  <a:effectLst/>
                  <a:uFillTx/>
                  <a:latin typeface="Roboto" panose="02000000000000000000" pitchFamily="2" charset="0"/>
                  <a:ea typeface="Roboto" panose="02000000000000000000" pitchFamily="2" charset="0"/>
                  <a:cs typeface="Roboto" panose="02000000000000000000" pitchFamily="2" charset="0"/>
                  <a:sym typeface="Roboto"/>
                </a:endParaRPr>
              </a:p>
            </p:txBody>
          </p:sp>
          <p:cxnSp>
            <p:nvCxnSpPr>
              <p:cNvPr id="99" name="Straight Connector 98">
                <a:extLst>
                  <a:ext uri="{FF2B5EF4-FFF2-40B4-BE49-F238E27FC236}">
                    <a16:creationId xmlns:a16="http://schemas.microsoft.com/office/drawing/2014/main" id="{C347A6E4-F012-87EB-390B-C473C1D8843E}"/>
                  </a:ext>
                </a:extLst>
              </p:cNvPr>
              <p:cNvCxnSpPr/>
              <p:nvPr/>
            </p:nvCxnSpPr>
            <p:spPr>
              <a:xfrm>
                <a:off x="3291886" y="4994674"/>
                <a:ext cx="0" cy="598052"/>
              </a:xfrm>
              <a:prstGeom prst="line">
                <a:avLst/>
              </a:prstGeom>
              <a:noFill/>
              <a:ln w="25400" cap="flat">
                <a:solidFill>
                  <a:schemeClr val="tx1">
                    <a:alpha val="75000"/>
                  </a:schemeClr>
                </a:solidFill>
                <a:prstDash val="solid"/>
                <a:miter lim="400000"/>
              </a:ln>
              <a:effectLst/>
              <a:sp3d/>
            </p:spPr>
            <p:style>
              <a:lnRef idx="0">
                <a:scrgbClr r="0" g="0" b="0"/>
              </a:lnRef>
              <a:fillRef idx="0">
                <a:scrgbClr r="0" g="0" b="0"/>
              </a:fillRef>
              <a:effectRef idx="0">
                <a:scrgbClr r="0" g="0" b="0"/>
              </a:effectRef>
              <a:fontRef idx="none"/>
            </p:style>
          </p:cxnSp>
        </p:grpSp>
        <p:grpSp>
          <p:nvGrpSpPr>
            <p:cNvPr id="100" name="Group 99">
              <a:extLst>
                <a:ext uri="{FF2B5EF4-FFF2-40B4-BE49-F238E27FC236}">
                  <a16:creationId xmlns:a16="http://schemas.microsoft.com/office/drawing/2014/main" id="{2776B3D9-458C-D158-605C-F6CD2FC3281A}"/>
                </a:ext>
              </a:extLst>
            </p:cNvPr>
            <p:cNvGrpSpPr/>
            <p:nvPr/>
          </p:nvGrpSpPr>
          <p:grpSpPr>
            <a:xfrm>
              <a:off x="1056719" y="8094005"/>
              <a:ext cx="2858625" cy="4444077"/>
              <a:chOff x="1056719" y="8094005"/>
              <a:chExt cx="2858625" cy="4444077"/>
            </a:xfrm>
          </p:grpSpPr>
          <p:cxnSp>
            <p:nvCxnSpPr>
              <p:cNvPr id="101" name="Straight Connector 100">
                <a:extLst>
                  <a:ext uri="{FF2B5EF4-FFF2-40B4-BE49-F238E27FC236}">
                    <a16:creationId xmlns:a16="http://schemas.microsoft.com/office/drawing/2014/main" id="{47CD312A-B0AD-6873-FE9C-55080798BFC1}"/>
                  </a:ext>
                </a:extLst>
              </p:cNvPr>
              <p:cNvCxnSpPr>
                <a:cxnSpLocks/>
                <a:endCxn id="102" idx="0"/>
              </p:cNvCxnSpPr>
              <p:nvPr/>
            </p:nvCxnSpPr>
            <p:spPr>
              <a:xfrm>
                <a:off x="2477887" y="8094005"/>
                <a:ext cx="8146" cy="3055672"/>
              </a:xfrm>
              <a:prstGeom prst="line">
                <a:avLst/>
              </a:prstGeom>
              <a:noFill/>
              <a:ln w="25400" cap="flat">
                <a:solidFill>
                  <a:schemeClr val="tx1">
                    <a:alpha val="75000"/>
                  </a:schemeClr>
                </a:solidFill>
                <a:prstDash val="solid"/>
                <a:miter lim="400000"/>
              </a:ln>
              <a:effectLst/>
              <a:sp3d/>
            </p:spPr>
            <p:style>
              <a:lnRef idx="0">
                <a:scrgbClr r="0" g="0" b="0"/>
              </a:lnRef>
              <a:fillRef idx="0">
                <a:scrgbClr r="0" g="0" b="0"/>
              </a:fillRef>
              <a:effectRef idx="0">
                <a:scrgbClr r="0" g="0" b="0"/>
              </a:effectRef>
              <a:fontRef idx="none"/>
            </p:style>
          </p:cxnSp>
          <p:sp>
            <p:nvSpPr>
              <p:cNvPr id="102" name="TextBox 101">
                <a:extLst>
                  <a:ext uri="{FF2B5EF4-FFF2-40B4-BE49-F238E27FC236}">
                    <a16:creationId xmlns:a16="http://schemas.microsoft.com/office/drawing/2014/main" id="{E24468C2-04C7-F220-98F0-30235F3930C2}"/>
                  </a:ext>
                </a:extLst>
              </p:cNvPr>
              <p:cNvSpPr txBox="1"/>
              <p:nvPr/>
            </p:nvSpPr>
            <p:spPr>
              <a:xfrm>
                <a:off x="1056719" y="11149677"/>
                <a:ext cx="2858625" cy="138840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1200" b="0" i="0" u="none" strike="noStrike" cap="none" spc="0" normalizeH="0" baseline="0" dirty="0">
                    <a:ln>
                      <a:noFill/>
                    </a:ln>
                    <a:solidFill>
                      <a:schemeClr val="bg2">
                        <a:lumMod val="10000"/>
                      </a:schemeClr>
                    </a:solidFill>
                    <a:effectLst/>
                    <a:uFillTx/>
                    <a:latin typeface="Roboto" panose="02000000000000000000" pitchFamily="2" charset="0"/>
                    <a:ea typeface="Roboto" panose="02000000000000000000" pitchFamily="2" charset="0"/>
                    <a:cs typeface="Roboto" panose="02000000000000000000" pitchFamily="2" charset="0"/>
                    <a:sym typeface="Roboto"/>
                  </a:rPr>
                  <a:t>Eli Whitney</a:t>
                </a:r>
              </a:p>
              <a:p>
                <a:pPr marR="0" algn="ctr" defTabSz="825500" rtl="0" fontAlgn="auto" latinLnBrk="0" hangingPunct="0">
                  <a:lnSpc>
                    <a:spcPct val="100000"/>
                  </a:lnSpc>
                  <a:spcBef>
                    <a:spcPts val="0"/>
                  </a:spcBef>
                  <a:spcAft>
                    <a:spcPts val="0"/>
                  </a:spcAft>
                  <a:buClrTx/>
                  <a:buSzTx/>
                  <a:tabLst/>
                </a:pPr>
                <a:r>
                  <a:rPr lang="en-US" sz="12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Interchangeable Parts</a:t>
                </a:r>
              </a:p>
            </p:txBody>
          </p:sp>
        </p:grpSp>
        <p:grpSp>
          <p:nvGrpSpPr>
            <p:cNvPr id="103" name="Group 102">
              <a:extLst>
                <a:ext uri="{FF2B5EF4-FFF2-40B4-BE49-F238E27FC236}">
                  <a16:creationId xmlns:a16="http://schemas.microsoft.com/office/drawing/2014/main" id="{B58667E5-4C49-6058-B46E-32934938006B}"/>
                </a:ext>
              </a:extLst>
            </p:cNvPr>
            <p:cNvGrpSpPr/>
            <p:nvPr/>
          </p:nvGrpSpPr>
          <p:grpSpPr>
            <a:xfrm>
              <a:off x="2677936" y="8094006"/>
              <a:ext cx="4521877" cy="2529747"/>
              <a:chOff x="256614" y="8094006"/>
              <a:chExt cx="4521877" cy="2529747"/>
            </a:xfrm>
          </p:grpSpPr>
          <p:sp>
            <p:nvSpPr>
              <p:cNvPr id="104" name="TextBox 103">
                <a:extLst>
                  <a:ext uri="{FF2B5EF4-FFF2-40B4-BE49-F238E27FC236}">
                    <a16:creationId xmlns:a16="http://schemas.microsoft.com/office/drawing/2014/main" id="{59929352-E75B-927C-7DB1-E742A5AE0709}"/>
                  </a:ext>
                </a:extLst>
              </p:cNvPr>
              <p:cNvSpPr txBox="1"/>
              <p:nvPr/>
            </p:nvSpPr>
            <p:spPr>
              <a:xfrm>
                <a:off x="256614" y="8692058"/>
                <a:ext cx="4521877" cy="193169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1200" b="0" i="0" u="none" strike="noStrike" cap="none" spc="0" normalizeH="0" baseline="0" dirty="0">
                    <a:ln>
                      <a:noFill/>
                    </a:ln>
                    <a:solidFill>
                      <a:schemeClr val="bg2">
                        <a:lumMod val="10000"/>
                      </a:schemeClr>
                    </a:solidFill>
                    <a:effectLst/>
                    <a:uFillTx/>
                    <a:latin typeface="Roboto" panose="02000000000000000000" pitchFamily="2" charset="0"/>
                    <a:ea typeface="Roboto" panose="02000000000000000000" pitchFamily="2" charset="0"/>
                    <a:cs typeface="Roboto" panose="02000000000000000000" pitchFamily="2" charset="0"/>
                    <a:sym typeface="Roboto"/>
                  </a:rPr>
                  <a:t>Drawing Conventions</a:t>
                </a:r>
              </a:p>
              <a:p>
                <a:pPr marL="0" marR="0" indent="0" algn="ctr" defTabSz="825500" rtl="0" fontAlgn="auto" latinLnBrk="0" hangingPunct="0">
                  <a:lnSpc>
                    <a:spcPct val="100000"/>
                  </a:lnSpc>
                  <a:spcBef>
                    <a:spcPts val="0"/>
                  </a:spcBef>
                  <a:spcAft>
                    <a:spcPts val="0"/>
                  </a:spcAft>
                  <a:buClrTx/>
                  <a:buSzTx/>
                  <a:buFontTx/>
                  <a:buNone/>
                  <a:tabLst/>
                </a:pPr>
                <a:r>
                  <a:rPr lang="en-US" sz="12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Tolerances</a:t>
                </a:r>
              </a:p>
              <a:p>
                <a:pPr marL="0" marR="0" indent="0" algn="ctr" defTabSz="825500" rtl="0" fontAlgn="auto" latinLnBrk="0" hangingPunct="0">
                  <a:lnSpc>
                    <a:spcPct val="100000"/>
                  </a:lnSpc>
                  <a:spcBef>
                    <a:spcPts val="0"/>
                  </a:spcBef>
                  <a:spcAft>
                    <a:spcPts val="0"/>
                  </a:spcAft>
                  <a:buClrTx/>
                  <a:buSzTx/>
                  <a:buFontTx/>
                  <a:buNone/>
                  <a:tabLst/>
                </a:pPr>
                <a:r>
                  <a:rPr lang="en-US" sz="12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Modern Machine Tool Development</a:t>
                </a:r>
              </a:p>
            </p:txBody>
          </p:sp>
          <p:cxnSp>
            <p:nvCxnSpPr>
              <p:cNvPr id="105" name="Straight Connector 104">
                <a:extLst>
                  <a:ext uri="{FF2B5EF4-FFF2-40B4-BE49-F238E27FC236}">
                    <a16:creationId xmlns:a16="http://schemas.microsoft.com/office/drawing/2014/main" id="{35ABD56F-3082-EF4C-76C8-AE3FADB5F357}"/>
                  </a:ext>
                </a:extLst>
              </p:cNvPr>
              <p:cNvCxnSpPr>
                <a:cxnSpLocks/>
              </p:cNvCxnSpPr>
              <p:nvPr/>
            </p:nvCxnSpPr>
            <p:spPr>
              <a:xfrm>
                <a:off x="2749269" y="8094006"/>
                <a:ext cx="0" cy="598052"/>
              </a:xfrm>
              <a:prstGeom prst="line">
                <a:avLst/>
              </a:prstGeom>
              <a:noFill/>
              <a:ln w="25400" cap="flat">
                <a:solidFill>
                  <a:schemeClr val="tx1">
                    <a:alpha val="75000"/>
                  </a:schemeClr>
                </a:solidFill>
                <a:prstDash val="solid"/>
                <a:miter lim="400000"/>
              </a:ln>
              <a:effectLst/>
              <a:sp3d/>
            </p:spPr>
            <p:style>
              <a:lnRef idx="0">
                <a:scrgbClr r="0" g="0" b="0"/>
              </a:lnRef>
              <a:fillRef idx="0">
                <a:scrgbClr r="0" g="0" b="0"/>
              </a:fillRef>
              <a:effectRef idx="0">
                <a:scrgbClr r="0" g="0" b="0"/>
              </a:effectRef>
              <a:fontRef idx="none"/>
            </p:style>
          </p:cxnSp>
        </p:grpSp>
        <p:sp>
          <p:nvSpPr>
            <p:cNvPr id="106" name="TextBox 105">
              <a:extLst>
                <a:ext uri="{FF2B5EF4-FFF2-40B4-BE49-F238E27FC236}">
                  <a16:creationId xmlns:a16="http://schemas.microsoft.com/office/drawing/2014/main" id="{D69A7C3A-8C10-D54E-7F40-7ECDF17FD628}"/>
                </a:ext>
              </a:extLst>
            </p:cNvPr>
            <p:cNvSpPr txBox="1"/>
            <p:nvPr/>
          </p:nvSpPr>
          <p:spPr>
            <a:xfrm>
              <a:off x="9990336" y="12015594"/>
              <a:ext cx="3041211" cy="247498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12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Henry Ford</a:t>
              </a:r>
            </a:p>
            <a:p>
              <a:pPr marL="0" marR="0" indent="0" algn="ctr" defTabSz="825500" rtl="0" fontAlgn="auto" latinLnBrk="0" hangingPunct="0">
                <a:lnSpc>
                  <a:spcPct val="100000"/>
                </a:lnSpc>
                <a:spcBef>
                  <a:spcPts val="0"/>
                </a:spcBef>
                <a:spcAft>
                  <a:spcPts val="0"/>
                </a:spcAft>
                <a:buClrTx/>
                <a:buSzTx/>
                <a:buFontTx/>
                <a:buNone/>
                <a:tabLst/>
              </a:pPr>
              <a:r>
                <a:rPr lang="en-US" sz="12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Assembly Lines</a:t>
              </a:r>
            </a:p>
            <a:p>
              <a:pPr marL="0" marR="0" indent="0" algn="ctr" defTabSz="825500" rtl="0" fontAlgn="auto" latinLnBrk="0" hangingPunct="0">
                <a:lnSpc>
                  <a:spcPct val="100000"/>
                </a:lnSpc>
                <a:spcBef>
                  <a:spcPts val="0"/>
                </a:spcBef>
                <a:spcAft>
                  <a:spcPts val="0"/>
                </a:spcAft>
                <a:buClrTx/>
                <a:buSzTx/>
                <a:buFontTx/>
                <a:buNone/>
                <a:tabLst/>
              </a:pPr>
              <a:r>
                <a:rPr lang="en-US" sz="12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Flow Lines</a:t>
              </a:r>
            </a:p>
            <a:p>
              <a:pPr marL="0" marR="0" indent="0" algn="ctr" defTabSz="825500" rtl="0" fontAlgn="auto" latinLnBrk="0" hangingPunct="0">
                <a:lnSpc>
                  <a:spcPct val="100000"/>
                </a:lnSpc>
                <a:spcBef>
                  <a:spcPts val="0"/>
                </a:spcBef>
                <a:spcAft>
                  <a:spcPts val="0"/>
                </a:spcAft>
                <a:buClrTx/>
                <a:buSzTx/>
                <a:buFontTx/>
                <a:buNone/>
                <a:tabLst/>
              </a:pPr>
              <a:r>
                <a:rPr lang="en-US" sz="12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Manufacturing Strategy</a:t>
              </a:r>
            </a:p>
          </p:txBody>
        </p:sp>
        <p:grpSp>
          <p:nvGrpSpPr>
            <p:cNvPr id="107" name="Group 106">
              <a:extLst>
                <a:ext uri="{FF2B5EF4-FFF2-40B4-BE49-F238E27FC236}">
                  <a16:creationId xmlns:a16="http://schemas.microsoft.com/office/drawing/2014/main" id="{DAFFA1E2-332B-F558-7F3A-DFDA7B7C886C}"/>
                </a:ext>
              </a:extLst>
            </p:cNvPr>
            <p:cNvGrpSpPr/>
            <p:nvPr/>
          </p:nvGrpSpPr>
          <p:grpSpPr>
            <a:xfrm>
              <a:off x="4694505" y="8094006"/>
              <a:ext cx="5555620" cy="6461302"/>
              <a:chOff x="4694505" y="8094006"/>
              <a:chExt cx="5555620" cy="6461302"/>
            </a:xfrm>
          </p:grpSpPr>
          <p:grpSp>
            <p:nvGrpSpPr>
              <p:cNvPr id="108" name="Group 107">
                <a:extLst>
                  <a:ext uri="{FF2B5EF4-FFF2-40B4-BE49-F238E27FC236}">
                    <a16:creationId xmlns:a16="http://schemas.microsoft.com/office/drawing/2014/main" id="{5830C675-2A8C-4375-7734-A251F8282696}"/>
                  </a:ext>
                </a:extLst>
              </p:cNvPr>
              <p:cNvGrpSpPr/>
              <p:nvPr/>
            </p:nvGrpSpPr>
            <p:grpSpPr>
              <a:xfrm>
                <a:off x="7761767" y="8094006"/>
                <a:ext cx="1039612" cy="598052"/>
                <a:chOff x="7761767" y="8094006"/>
                <a:chExt cx="1039612" cy="598052"/>
              </a:xfrm>
            </p:grpSpPr>
            <p:cxnSp>
              <p:nvCxnSpPr>
                <p:cNvPr id="114" name="Straight Connector 113">
                  <a:extLst>
                    <a:ext uri="{FF2B5EF4-FFF2-40B4-BE49-F238E27FC236}">
                      <a16:creationId xmlns:a16="http://schemas.microsoft.com/office/drawing/2014/main" id="{8E880AF8-9362-603B-2E08-D21B6962EEF7}"/>
                    </a:ext>
                  </a:extLst>
                </p:cNvPr>
                <p:cNvCxnSpPr/>
                <p:nvPr/>
              </p:nvCxnSpPr>
              <p:spPr>
                <a:xfrm>
                  <a:off x="7761767" y="8094006"/>
                  <a:ext cx="0" cy="598052"/>
                </a:xfrm>
                <a:prstGeom prst="line">
                  <a:avLst/>
                </a:prstGeom>
                <a:noFill/>
                <a:ln w="25400" cap="flat">
                  <a:solidFill>
                    <a:schemeClr val="tx1">
                      <a:alpha val="75000"/>
                    </a:schemeClr>
                  </a:solidFill>
                  <a:prstDash val="solid"/>
                  <a:miter lim="400000"/>
                </a:ln>
                <a:effectLst/>
                <a:sp3d/>
              </p:spPr>
              <p:style>
                <a:lnRef idx="0">
                  <a:scrgbClr r="0" g="0" b="0"/>
                </a:lnRef>
                <a:fillRef idx="0">
                  <a:scrgbClr r="0" g="0" b="0"/>
                </a:fillRef>
                <a:effectRef idx="0">
                  <a:scrgbClr r="0" g="0" b="0"/>
                </a:effectRef>
                <a:fontRef idx="none"/>
              </p:style>
            </p:cxnSp>
            <p:cxnSp>
              <p:nvCxnSpPr>
                <p:cNvPr id="115" name="Straight Connector 114">
                  <a:extLst>
                    <a:ext uri="{FF2B5EF4-FFF2-40B4-BE49-F238E27FC236}">
                      <a16:creationId xmlns:a16="http://schemas.microsoft.com/office/drawing/2014/main" id="{093F4C80-F44E-F798-B86A-0359C69BD7EC}"/>
                    </a:ext>
                  </a:extLst>
                </p:cNvPr>
                <p:cNvCxnSpPr/>
                <p:nvPr/>
              </p:nvCxnSpPr>
              <p:spPr>
                <a:xfrm>
                  <a:off x="8801379" y="8094006"/>
                  <a:ext cx="0" cy="598052"/>
                </a:xfrm>
                <a:prstGeom prst="line">
                  <a:avLst/>
                </a:prstGeom>
                <a:noFill/>
                <a:ln w="25400" cap="flat">
                  <a:solidFill>
                    <a:schemeClr val="tx1">
                      <a:alpha val="75000"/>
                    </a:schemeClr>
                  </a:solidFill>
                  <a:prstDash val="solid"/>
                  <a:miter lim="400000"/>
                </a:ln>
                <a:effectLst/>
                <a:sp3d/>
              </p:spPr>
              <p:style>
                <a:lnRef idx="0">
                  <a:scrgbClr r="0" g="0" b="0"/>
                </a:lnRef>
                <a:fillRef idx="0">
                  <a:scrgbClr r="0" g="0" b="0"/>
                </a:fillRef>
                <a:effectRef idx="0">
                  <a:scrgbClr r="0" g="0" b="0"/>
                </a:effectRef>
                <a:fontRef idx="none"/>
              </p:style>
            </p:cxnSp>
            <p:cxnSp>
              <p:nvCxnSpPr>
                <p:cNvPr id="116" name="Straight Connector 115">
                  <a:extLst>
                    <a:ext uri="{FF2B5EF4-FFF2-40B4-BE49-F238E27FC236}">
                      <a16:creationId xmlns:a16="http://schemas.microsoft.com/office/drawing/2014/main" id="{485B86B6-F792-7BDE-4B53-2D6CB84CA3BC}"/>
                    </a:ext>
                  </a:extLst>
                </p:cNvPr>
                <p:cNvCxnSpPr>
                  <a:cxnSpLocks/>
                </p:cNvCxnSpPr>
                <p:nvPr/>
              </p:nvCxnSpPr>
              <p:spPr>
                <a:xfrm>
                  <a:off x="7761767" y="8692058"/>
                  <a:ext cx="1039612" cy="0"/>
                </a:xfrm>
                <a:prstGeom prst="line">
                  <a:avLst/>
                </a:prstGeom>
                <a:noFill/>
                <a:ln w="25400" cap="flat">
                  <a:solidFill>
                    <a:schemeClr val="tx1">
                      <a:alpha val="75000"/>
                    </a:schemeClr>
                  </a:solidFill>
                  <a:prstDash val="solid"/>
                  <a:miter lim="400000"/>
                </a:ln>
                <a:effectLst/>
                <a:sp3d/>
              </p:spPr>
              <p:style>
                <a:lnRef idx="0">
                  <a:scrgbClr r="0" g="0" b="0"/>
                </a:lnRef>
                <a:fillRef idx="0">
                  <a:scrgbClr r="0" g="0" b="0"/>
                </a:fillRef>
                <a:effectRef idx="0">
                  <a:scrgbClr r="0" g="0" b="0"/>
                </a:effectRef>
                <a:fontRef idx="none"/>
              </p:style>
            </p:cxnSp>
          </p:grpSp>
          <p:sp>
            <p:nvSpPr>
              <p:cNvPr id="109" name="TextBox 108">
                <a:extLst>
                  <a:ext uri="{FF2B5EF4-FFF2-40B4-BE49-F238E27FC236}">
                    <a16:creationId xmlns:a16="http://schemas.microsoft.com/office/drawing/2014/main" id="{3116844F-F03D-46C6-29E5-1D96E7AE22BC}"/>
                  </a:ext>
                </a:extLst>
              </p:cNvPr>
              <p:cNvSpPr txBox="1"/>
              <p:nvPr/>
            </p:nvSpPr>
            <p:spPr>
              <a:xfrm>
                <a:off x="4694505" y="12080325"/>
                <a:ext cx="4159556" cy="247498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12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Frederick Taylor</a:t>
                </a:r>
              </a:p>
              <a:p>
                <a:pPr marL="0" marR="0" indent="0" algn="ctr" defTabSz="825500" rtl="0" fontAlgn="auto" latinLnBrk="0" hangingPunct="0">
                  <a:lnSpc>
                    <a:spcPct val="100000"/>
                  </a:lnSpc>
                  <a:spcBef>
                    <a:spcPts val="0"/>
                  </a:spcBef>
                  <a:spcAft>
                    <a:spcPts val="0"/>
                  </a:spcAft>
                  <a:buClrTx/>
                  <a:buSzTx/>
                  <a:buFontTx/>
                  <a:buNone/>
                  <a:tabLst/>
                </a:pPr>
                <a:r>
                  <a:rPr lang="en-US" sz="12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Standardized Work</a:t>
                </a:r>
              </a:p>
              <a:p>
                <a:pPr marL="0" marR="0" indent="0" algn="ctr" defTabSz="825500" rtl="0" fontAlgn="auto" latinLnBrk="0" hangingPunct="0">
                  <a:lnSpc>
                    <a:spcPct val="100000"/>
                  </a:lnSpc>
                  <a:spcBef>
                    <a:spcPts val="0"/>
                  </a:spcBef>
                  <a:spcAft>
                    <a:spcPts val="0"/>
                  </a:spcAft>
                  <a:buClrTx/>
                  <a:buSzTx/>
                  <a:buFontTx/>
                  <a:buNone/>
                  <a:tabLst/>
                </a:pPr>
                <a:r>
                  <a:rPr lang="en-US" sz="12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Time Study &amp; Work Standards</a:t>
                </a:r>
              </a:p>
              <a:p>
                <a:pPr marL="0" marR="0" indent="0" algn="ctr" defTabSz="825500" rtl="0" fontAlgn="auto" latinLnBrk="0" hangingPunct="0">
                  <a:lnSpc>
                    <a:spcPct val="100000"/>
                  </a:lnSpc>
                  <a:spcBef>
                    <a:spcPts val="0"/>
                  </a:spcBef>
                  <a:spcAft>
                    <a:spcPts val="0"/>
                  </a:spcAft>
                  <a:buClrTx/>
                  <a:buSzTx/>
                  <a:buFontTx/>
                  <a:buNone/>
                  <a:tabLst/>
                </a:pPr>
                <a:r>
                  <a:rPr lang="en-US" sz="12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Worker/Management Dichotomy</a:t>
                </a:r>
              </a:p>
            </p:txBody>
          </p:sp>
          <p:grpSp>
            <p:nvGrpSpPr>
              <p:cNvPr id="110" name="Group 109">
                <a:extLst>
                  <a:ext uri="{FF2B5EF4-FFF2-40B4-BE49-F238E27FC236}">
                    <a16:creationId xmlns:a16="http://schemas.microsoft.com/office/drawing/2014/main" id="{88E01F32-D8C9-7EBB-1748-47F24A464FFF}"/>
                  </a:ext>
                </a:extLst>
              </p:cNvPr>
              <p:cNvGrpSpPr/>
              <p:nvPr/>
            </p:nvGrpSpPr>
            <p:grpSpPr>
              <a:xfrm>
                <a:off x="8198875" y="8692057"/>
                <a:ext cx="2051250" cy="3526066"/>
                <a:chOff x="2346816" y="8064737"/>
                <a:chExt cx="2051250" cy="3526066"/>
              </a:xfrm>
            </p:grpSpPr>
            <p:sp>
              <p:nvSpPr>
                <p:cNvPr id="112" name="TextBox 111">
                  <a:extLst>
                    <a:ext uri="{FF2B5EF4-FFF2-40B4-BE49-F238E27FC236}">
                      <a16:creationId xmlns:a16="http://schemas.microsoft.com/office/drawing/2014/main" id="{B36E6B71-8CCF-DDB8-FB0B-610250B9A03B}"/>
                    </a:ext>
                  </a:extLst>
                </p:cNvPr>
                <p:cNvSpPr txBox="1"/>
                <p:nvPr/>
              </p:nvSpPr>
              <p:spPr>
                <a:xfrm>
                  <a:off x="2346816" y="9659109"/>
                  <a:ext cx="2051250" cy="193169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12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Frank </a:t>
                  </a:r>
                  <a:r>
                    <a:rPr lang="en-US" sz="1200" dirty="0" err="1">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Gilbrech</a:t>
                  </a:r>
                  <a:endParaRPr lang="en-US" sz="12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endParaRPr>
                </a:p>
                <a:p>
                  <a:pPr marL="0" marR="0" indent="0" algn="ctr" defTabSz="825500" rtl="0" fontAlgn="auto" latinLnBrk="0" hangingPunct="0">
                    <a:lnSpc>
                      <a:spcPct val="100000"/>
                    </a:lnSpc>
                    <a:spcBef>
                      <a:spcPts val="0"/>
                    </a:spcBef>
                    <a:spcAft>
                      <a:spcPts val="0"/>
                    </a:spcAft>
                    <a:buClrTx/>
                    <a:buSzTx/>
                    <a:buFontTx/>
                    <a:buNone/>
                    <a:tabLst/>
                  </a:pPr>
                  <a:r>
                    <a:rPr lang="en-US" sz="12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Process Charts</a:t>
                  </a:r>
                </a:p>
                <a:p>
                  <a:pPr marL="0" marR="0" indent="0" algn="ctr" defTabSz="825500" rtl="0" fontAlgn="auto" latinLnBrk="0" hangingPunct="0">
                    <a:lnSpc>
                      <a:spcPct val="100000"/>
                    </a:lnSpc>
                    <a:spcBef>
                      <a:spcPts val="0"/>
                    </a:spcBef>
                    <a:spcAft>
                      <a:spcPts val="0"/>
                    </a:spcAft>
                    <a:buClrTx/>
                    <a:buSzTx/>
                    <a:buFontTx/>
                    <a:buNone/>
                    <a:tabLst/>
                  </a:pPr>
                  <a:r>
                    <a:rPr lang="en-US" sz="12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Motion Study</a:t>
                  </a:r>
                </a:p>
              </p:txBody>
            </p:sp>
            <p:cxnSp>
              <p:nvCxnSpPr>
                <p:cNvPr id="113" name="Straight Connector 112">
                  <a:extLst>
                    <a:ext uri="{FF2B5EF4-FFF2-40B4-BE49-F238E27FC236}">
                      <a16:creationId xmlns:a16="http://schemas.microsoft.com/office/drawing/2014/main" id="{64D37E8C-6FE8-284D-226C-2E0AD9987055}"/>
                    </a:ext>
                  </a:extLst>
                </p:cNvPr>
                <p:cNvCxnSpPr>
                  <a:cxnSpLocks/>
                </p:cNvCxnSpPr>
                <p:nvPr/>
              </p:nvCxnSpPr>
              <p:spPr>
                <a:xfrm>
                  <a:off x="2749269" y="8064737"/>
                  <a:ext cx="0" cy="1735041"/>
                </a:xfrm>
                <a:prstGeom prst="line">
                  <a:avLst/>
                </a:prstGeom>
                <a:noFill/>
                <a:ln w="25400" cap="flat">
                  <a:solidFill>
                    <a:schemeClr val="tx1">
                      <a:alpha val="75000"/>
                    </a:schemeClr>
                  </a:solidFill>
                  <a:prstDash val="solid"/>
                  <a:miter lim="400000"/>
                </a:ln>
                <a:effectLst/>
                <a:sp3d/>
              </p:spPr>
              <p:style>
                <a:lnRef idx="0">
                  <a:scrgbClr r="0" g="0" b="0"/>
                </a:lnRef>
                <a:fillRef idx="0">
                  <a:scrgbClr r="0" g="0" b="0"/>
                </a:fillRef>
                <a:effectRef idx="0">
                  <a:scrgbClr r="0" g="0" b="0"/>
                </a:effectRef>
                <a:fontRef idx="none"/>
              </p:style>
            </p:cxnSp>
          </p:grpSp>
          <p:cxnSp>
            <p:nvCxnSpPr>
              <p:cNvPr id="111" name="Connector: Elbow 110">
                <a:extLst>
                  <a:ext uri="{FF2B5EF4-FFF2-40B4-BE49-F238E27FC236}">
                    <a16:creationId xmlns:a16="http://schemas.microsoft.com/office/drawing/2014/main" id="{251C0C3D-67B1-AB77-C261-AE30FC9CD1AB}"/>
                  </a:ext>
                </a:extLst>
              </p:cNvPr>
              <p:cNvCxnSpPr>
                <a:cxnSpLocks/>
                <a:endCxn id="109" idx="0"/>
              </p:cNvCxnSpPr>
              <p:nvPr/>
            </p:nvCxnSpPr>
            <p:spPr>
              <a:xfrm rot="5400000">
                <a:off x="5590233" y="9876106"/>
                <a:ext cx="3388269" cy="1020167"/>
              </a:xfrm>
              <a:prstGeom prst="bentConnector3">
                <a:avLst>
                  <a:gd name="adj1" fmla="val 58822"/>
                </a:avLst>
              </a:prstGeom>
              <a:noFill/>
              <a:ln w="25400" cap="flat">
                <a:solidFill>
                  <a:schemeClr val="tx1">
                    <a:alpha val="75000"/>
                  </a:schemeClr>
                </a:solidFill>
                <a:prstDash val="solid"/>
                <a:miter lim="400000"/>
              </a:ln>
              <a:effectLst/>
              <a:sp3d/>
            </p:spPr>
            <p:style>
              <a:lnRef idx="0">
                <a:scrgbClr r="0" g="0" b="0"/>
              </a:lnRef>
              <a:fillRef idx="0">
                <a:scrgbClr r="0" g="0" b="0"/>
              </a:fillRef>
              <a:effectRef idx="0">
                <a:scrgbClr r="0" g="0" b="0"/>
              </a:effectRef>
              <a:fontRef idx="none"/>
            </p:style>
          </p:cxnSp>
        </p:grpSp>
        <p:grpSp>
          <p:nvGrpSpPr>
            <p:cNvPr id="117" name="Group 116">
              <a:extLst>
                <a:ext uri="{FF2B5EF4-FFF2-40B4-BE49-F238E27FC236}">
                  <a16:creationId xmlns:a16="http://schemas.microsoft.com/office/drawing/2014/main" id="{2F4EE457-D18C-62EA-E710-907F06A0CF54}"/>
                </a:ext>
              </a:extLst>
            </p:cNvPr>
            <p:cNvGrpSpPr/>
            <p:nvPr/>
          </p:nvGrpSpPr>
          <p:grpSpPr>
            <a:xfrm>
              <a:off x="12545000" y="8094006"/>
              <a:ext cx="2242394" cy="3749875"/>
              <a:chOff x="1628072" y="8064737"/>
              <a:chExt cx="2242394" cy="3749875"/>
            </a:xfrm>
          </p:grpSpPr>
          <p:sp>
            <p:nvSpPr>
              <p:cNvPr id="118" name="TextBox 117">
                <a:extLst>
                  <a:ext uri="{FF2B5EF4-FFF2-40B4-BE49-F238E27FC236}">
                    <a16:creationId xmlns:a16="http://schemas.microsoft.com/office/drawing/2014/main" id="{8987B2FF-2AB6-42BF-24B4-7C9435F761AF}"/>
                  </a:ext>
                </a:extLst>
              </p:cNvPr>
              <p:cNvSpPr txBox="1"/>
              <p:nvPr/>
            </p:nvSpPr>
            <p:spPr>
              <a:xfrm>
                <a:off x="1628072" y="9339628"/>
                <a:ext cx="2242394" cy="24749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12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Edwards Deming</a:t>
                </a:r>
              </a:p>
              <a:p>
                <a:pPr marL="0" marR="0" indent="0" algn="ctr" defTabSz="825500" rtl="0" fontAlgn="auto" latinLnBrk="0" hangingPunct="0">
                  <a:lnSpc>
                    <a:spcPct val="100000"/>
                  </a:lnSpc>
                  <a:spcBef>
                    <a:spcPts val="0"/>
                  </a:spcBef>
                  <a:spcAft>
                    <a:spcPts val="0"/>
                  </a:spcAft>
                  <a:buClrTx/>
                  <a:buSzTx/>
                  <a:buFontTx/>
                  <a:buNone/>
                  <a:tabLst/>
                </a:pPr>
                <a:r>
                  <a:rPr lang="en-US" sz="12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Joseph </a:t>
                </a:r>
                <a:r>
                  <a:rPr lang="en-US" sz="1200" dirty="0" err="1">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Juran</a:t>
                </a:r>
                <a:endParaRPr lang="en-US" sz="12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endParaRPr>
              </a:p>
              <a:p>
                <a:pPr marL="0" marR="0" indent="0" algn="ctr" defTabSz="825500" rtl="0" fontAlgn="auto" latinLnBrk="0" hangingPunct="0">
                  <a:lnSpc>
                    <a:spcPct val="100000"/>
                  </a:lnSpc>
                  <a:spcBef>
                    <a:spcPts val="0"/>
                  </a:spcBef>
                  <a:spcAft>
                    <a:spcPts val="0"/>
                  </a:spcAft>
                  <a:buClrTx/>
                  <a:buSzTx/>
                  <a:buFontTx/>
                  <a:buNone/>
                  <a:tabLst/>
                </a:pPr>
                <a:r>
                  <a:rPr lang="en-US" sz="12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Ishikawa</a:t>
                </a:r>
              </a:p>
              <a:p>
                <a:pPr marL="0" marR="0" indent="0" algn="ctr" defTabSz="825500" rtl="0" fontAlgn="auto" latinLnBrk="0" hangingPunct="0">
                  <a:lnSpc>
                    <a:spcPct val="100000"/>
                  </a:lnSpc>
                  <a:spcBef>
                    <a:spcPts val="0"/>
                  </a:spcBef>
                  <a:spcAft>
                    <a:spcPts val="0"/>
                  </a:spcAft>
                  <a:buClrTx/>
                  <a:buSzTx/>
                  <a:buFontTx/>
                  <a:buNone/>
                  <a:tabLst/>
                </a:pPr>
                <a:r>
                  <a:rPr lang="en-US" sz="12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SPC, TQM</a:t>
                </a:r>
              </a:p>
            </p:txBody>
          </p:sp>
          <p:cxnSp>
            <p:nvCxnSpPr>
              <p:cNvPr id="119" name="Straight Connector 118">
                <a:extLst>
                  <a:ext uri="{FF2B5EF4-FFF2-40B4-BE49-F238E27FC236}">
                    <a16:creationId xmlns:a16="http://schemas.microsoft.com/office/drawing/2014/main" id="{DC7BB784-96A6-1A6B-0F8A-24235A19F6F5}"/>
                  </a:ext>
                </a:extLst>
              </p:cNvPr>
              <p:cNvCxnSpPr>
                <a:cxnSpLocks/>
                <a:endCxn id="118" idx="0"/>
              </p:cNvCxnSpPr>
              <p:nvPr/>
            </p:nvCxnSpPr>
            <p:spPr>
              <a:xfrm flipH="1">
                <a:off x="2749269" y="8064737"/>
                <a:ext cx="2" cy="1274891"/>
              </a:xfrm>
              <a:prstGeom prst="line">
                <a:avLst/>
              </a:prstGeom>
              <a:noFill/>
              <a:ln w="25400" cap="flat">
                <a:solidFill>
                  <a:schemeClr val="tx1">
                    <a:alpha val="75000"/>
                  </a:schemeClr>
                </a:solidFill>
                <a:prstDash val="solid"/>
                <a:miter lim="400000"/>
              </a:ln>
              <a:effectLst/>
              <a:sp3d/>
            </p:spPr>
            <p:style>
              <a:lnRef idx="0">
                <a:scrgbClr r="0" g="0" b="0"/>
              </a:lnRef>
              <a:fillRef idx="0">
                <a:scrgbClr r="0" g="0" b="0"/>
              </a:fillRef>
              <a:effectRef idx="0">
                <a:scrgbClr r="0" g="0" b="0"/>
              </a:effectRef>
              <a:fontRef idx="none"/>
            </p:style>
          </p:cxnSp>
        </p:grpSp>
        <p:grpSp>
          <p:nvGrpSpPr>
            <p:cNvPr id="120" name="Group 119">
              <a:extLst>
                <a:ext uri="{FF2B5EF4-FFF2-40B4-BE49-F238E27FC236}">
                  <a16:creationId xmlns:a16="http://schemas.microsoft.com/office/drawing/2014/main" id="{F77B8496-F88A-B607-336D-4CFF295605EE}"/>
                </a:ext>
              </a:extLst>
            </p:cNvPr>
            <p:cNvGrpSpPr/>
            <p:nvPr/>
          </p:nvGrpSpPr>
          <p:grpSpPr>
            <a:xfrm>
              <a:off x="14084375" y="8094005"/>
              <a:ext cx="4218864" cy="5713705"/>
              <a:chOff x="14084375" y="8094005"/>
              <a:chExt cx="4218864" cy="5713705"/>
            </a:xfrm>
          </p:grpSpPr>
          <p:grpSp>
            <p:nvGrpSpPr>
              <p:cNvPr id="121" name="Group 120">
                <a:extLst>
                  <a:ext uri="{FF2B5EF4-FFF2-40B4-BE49-F238E27FC236}">
                    <a16:creationId xmlns:a16="http://schemas.microsoft.com/office/drawing/2014/main" id="{612467DA-F16A-E4F7-1E60-D82400A2E8F5}"/>
                  </a:ext>
                </a:extLst>
              </p:cNvPr>
              <p:cNvGrpSpPr/>
              <p:nvPr/>
            </p:nvGrpSpPr>
            <p:grpSpPr>
              <a:xfrm>
                <a:off x="14084375" y="8094005"/>
                <a:ext cx="4218864" cy="598052"/>
                <a:chOff x="7761767" y="8094006"/>
                <a:chExt cx="1039612" cy="598052"/>
              </a:xfrm>
            </p:grpSpPr>
            <p:cxnSp>
              <p:nvCxnSpPr>
                <p:cNvPr id="124" name="Straight Connector 123">
                  <a:extLst>
                    <a:ext uri="{FF2B5EF4-FFF2-40B4-BE49-F238E27FC236}">
                      <a16:creationId xmlns:a16="http://schemas.microsoft.com/office/drawing/2014/main" id="{2D323DA0-77E5-91C8-D712-F89D50172597}"/>
                    </a:ext>
                  </a:extLst>
                </p:cNvPr>
                <p:cNvCxnSpPr/>
                <p:nvPr/>
              </p:nvCxnSpPr>
              <p:spPr>
                <a:xfrm>
                  <a:off x="7761767" y="8094006"/>
                  <a:ext cx="0" cy="598052"/>
                </a:xfrm>
                <a:prstGeom prst="line">
                  <a:avLst/>
                </a:prstGeom>
                <a:noFill/>
                <a:ln w="25400" cap="flat">
                  <a:solidFill>
                    <a:schemeClr val="tx1">
                      <a:alpha val="75000"/>
                    </a:schemeClr>
                  </a:solidFill>
                  <a:prstDash val="solid"/>
                  <a:miter lim="400000"/>
                </a:ln>
                <a:effectLst/>
                <a:sp3d/>
              </p:spPr>
              <p:style>
                <a:lnRef idx="0">
                  <a:scrgbClr r="0" g="0" b="0"/>
                </a:lnRef>
                <a:fillRef idx="0">
                  <a:scrgbClr r="0" g="0" b="0"/>
                </a:fillRef>
                <a:effectRef idx="0">
                  <a:scrgbClr r="0" g="0" b="0"/>
                </a:effectRef>
                <a:fontRef idx="none"/>
              </p:style>
            </p:cxnSp>
            <p:cxnSp>
              <p:nvCxnSpPr>
                <p:cNvPr id="125" name="Straight Connector 124">
                  <a:extLst>
                    <a:ext uri="{FF2B5EF4-FFF2-40B4-BE49-F238E27FC236}">
                      <a16:creationId xmlns:a16="http://schemas.microsoft.com/office/drawing/2014/main" id="{2091C0E6-669B-B7EA-E191-553C113DD54B}"/>
                    </a:ext>
                  </a:extLst>
                </p:cNvPr>
                <p:cNvCxnSpPr/>
                <p:nvPr/>
              </p:nvCxnSpPr>
              <p:spPr>
                <a:xfrm>
                  <a:off x="8801379" y="8094006"/>
                  <a:ext cx="0" cy="598052"/>
                </a:xfrm>
                <a:prstGeom prst="line">
                  <a:avLst/>
                </a:prstGeom>
                <a:noFill/>
                <a:ln w="25400" cap="flat">
                  <a:solidFill>
                    <a:schemeClr val="tx1">
                      <a:alpha val="75000"/>
                    </a:schemeClr>
                  </a:solidFill>
                  <a:prstDash val="solid"/>
                  <a:miter lim="400000"/>
                </a:ln>
                <a:effectLst/>
                <a:sp3d/>
              </p:spPr>
              <p:style>
                <a:lnRef idx="0">
                  <a:scrgbClr r="0" g="0" b="0"/>
                </a:lnRef>
                <a:fillRef idx="0">
                  <a:scrgbClr r="0" g="0" b="0"/>
                </a:fillRef>
                <a:effectRef idx="0">
                  <a:scrgbClr r="0" g="0" b="0"/>
                </a:effectRef>
                <a:fontRef idx="none"/>
              </p:style>
            </p:cxnSp>
            <p:cxnSp>
              <p:nvCxnSpPr>
                <p:cNvPr id="126" name="Straight Connector 125">
                  <a:extLst>
                    <a:ext uri="{FF2B5EF4-FFF2-40B4-BE49-F238E27FC236}">
                      <a16:creationId xmlns:a16="http://schemas.microsoft.com/office/drawing/2014/main" id="{31A23D99-DBEF-9CFA-2CD4-710E439C24E3}"/>
                    </a:ext>
                  </a:extLst>
                </p:cNvPr>
                <p:cNvCxnSpPr>
                  <a:cxnSpLocks/>
                </p:cNvCxnSpPr>
                <p:nvPr/>
              </p:nvCxnSpPr>
              <p:spPr>
                <a:xfrm>
                  <a:off x="7761767" y="8692058"/>
                  <a:ext cx="1039612" cy="0"/>
                </a:xfrm>
                <a:prstGeom prst="line">
                  <a:avLst/>
                </a:prstGeom>
                <a:noFill/>
                <a:ln w="25400" cap="flat">
                  <a:solidFill>
                    <a:schemeClr val="tx1">
                      <a:alpha val="75000"/>
                    </a:schemeClr>
                  </a:solidFill>
                  <a:prstDash val="solid"/>
                  <a:miter lim="400000"/>
                </a:ln>
                <a:effectLst/>
                <a:sp3d/>
              </p:spPr>
              <p:style>
                <a:lnRef idx="0">
                  <a:scrgbClr r="0" g="0" b="0"/>
                </a:lnRef>
                <a:fillRef idx="0">
                  <a:scrgbClr r="0" g="0" b="0"/>
                </a:fillRef>
                <a:effectRef idx="0">
                  <a:scrgbClr r="0" g="0" b="0"/>
                </a:effectRef>
                <a:fontRef idx="none"/>
              </p:style>
            </p:cxnSp>
          </p:grpSp>
          <p:cxnSp>
            <p:nvCxnSpPr>
              <p:cNvPr id="122" name="Straight Connector 121">
                <a:extLst>
                  <a:ext uri="{FF2B5EF4-FFF2-40B4-BE49-F238E27FC236}">
                    <a16:creationId xmlns:a16="http://schemas.microsoft.com/office/drawing/2014/main" id="{4019E0BC-0FCD-E595-F36E-A70D0247F20C}"/>
                  </a:ext>
                </a:extLst>
              </p:cNvPr>
              <p:cNvCxnSpPr/>
              <p:nvPr/>
            </p:nvCxnSpPr>
            <p:spPr>
              <a:xfrm>
                <a:off x="16196310" y="8692058"/>
                <a:ext cx="0" cy="933590"/>
              </a:xfrm>
              <a:prstGeom prst="line">
                <a:avLst/>
              </a:prstGeom>
              <a:noFill/>
              <a:ln w="25400" cap="flat">
                <a:solidFill>
                  <a:schemeClr val="tx1">
                    <a:alpha val="75000"/>
                  </a:schemeClr>
                </a:solidFill>
                <a:prstDash val="solid"/>
                <a:miter lim="400000"/>
              </a:ln>
              <a:effectLst/>
              <a:sp3d/>
            </p:spPr>
            <p:style>
              <a:lnRef idx="0">
                <a:scrgbClr r="0" g="0" b="0"/>
              </a:lnRef>
              <a:fillRef idx="0">
                <a:scrgbClr r="0" g="0" b="0"/>
              </a:fillRef>
              <a:effectRef idx="0">
                <a:scrgbClr r="0" g="0" b="0"/>
              </a:effectRef>
              <a:fontRef idx="none"/>
            </p:style>
          </p:cxnSp>
          <p:sp>
            <p:nvSpPr>
              <p:cNvPr id="123" name="TextBox 122">
                <a:extLst>
                  <a:ext uri="{FF2B5EF4-FFF2-40B4-BE49-F238E27FC236}">
                    <a16:creationId xmlns:a16="http://schemas.microsoft.com/office/drawing/2014/main" id="{763096E1-8993-0E8A-87E1-2576F9E78CF8}"/>
                  </a:ext>
                </a:extLst>
              </p:cNvPr>
              <p:cNvSpPr txBox="1"/>
              <p:nvPr/>
            </p:nvSpPr>
            <p:spPr>
              <a:xfrm>
                <a:off x="14451753" y="9702858"/>
                <a:ext cx="3489120" cy="410485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1200" dirty="0" err="1">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Eiji</a:t>
                </a:r>
                <a:r>
                  <a:rPr lang="en-US" sz="12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 Toyoda</a:t>
                </a:r>
              </a:p>
              <a:p>
                <a:pPr marL="0" marR="0" indent="0" algn="ctr" defTabSz="825500" rtl="0" fontAlgn="auto" latinLnBrk="0" hangingPunct="0">
                  <a:lnSpc>
                    <a:spcPct val="100000"/>
                  </a:lnSpc>
                  <a:spcBef>
                    <a:spcPts val="0"/>
                  </a:spcBef>
                  <a:spcAft>
                    <a:spcPts val="0"/>
                  </a:spcAft>
                  <a:buClrTx/>
                  <a:buSzTx/>
                  <a:buFontTx/>
                  <a:buNone/>
                  <a:tabLst/>
                </a:pPr>
                <a:r>
                  <a:rPr lang="en-US" sz="1200" dirty="0" err="1">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Taichi</a:t>
                </a:r>
                <a:r>
                  <a:rPr lang="en-US" sz="12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 Ohno</a:t>
                </a:r>
              </a:p>
              <a:p>
                <a:pPr marL="0" marR="0" indent="0" algn="ctr" defTabSz="825500" rtl="0" fontAlgn="auto" latinLnBrk="0" hangingPunct="0">
                  <a:lnSpc>
                    <a:spcPct val="100000"/>
                  </a:lnSpc>
                  <a:spcBef>
                    <a:spcPts val="0"/>
                  </a:spcBef>
                  <a:spcAft>
                    <a:spcPts val="0"/>
                  </a:spcAft>
                  <a:buClrTx/>
                  <a:buSzTx/>
                  <a:buFontTx/>
                  <a:buNone/>
                  <a:tabLst/>
                </a:pPr>
                <a:r>
                  <a:rPr lang="en-US" sz="12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Shigeo Shingo</a:t>
                </a:r>
              </a:p>
              <a:p>
                <a:pPr marL="0" marR="0" indent="0" algn="ctr" defTabSz="825500" rtl="0" fontAlgn="auto" latinLnBrk="0" hangingPunct="0">
                  <a:lnSpc>
                    <a:spcPct val="100000"/>
                  </a:lnSpc>
                  <a:spcBef>
                    <a:spcPts val="0"/>
                  </a:spcBef>
                  <a:spcAft>
                    <a:spcPts val="0"/>
                  </a:spcAft>
                  <a:buClrTx/>
                  <a:buSzTx/>
                  <a:buFontTx/>
                  <a:buNone/>
                  <a:tabLst/>
                </a:pPr>
                <a:r>
                  <a:rPr lang="en-US" sz="12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Toyota Production System</a:t>
                </a:r>
              </a:p>
              <a:p>
                <a:pPr marL="0" marR="0" indent="0" algn="ctr" defTabSz="825500" rtl="0" fontAlgn="auto" latinLnBrk="0" hangingPunct="0">
                  <a:lnSpc>
                    <a:spcPct val="100000"/>
                  </a:lnSpc>
                  <a:spcBef>
                    <a:spcPts val="0"/>
                  </a:spcBef>
                  <a:spcAft>
                    <a:spcPts val="0"/>
                  </a:spcAft>
                  <a:buClrTx/>
                  <a:buSzTx/>
                  <a:buFontTx/>
                  <a:buNone/>
                  <a:tabLst/>
                </a:pPr>
                <a:r>
                  <a:rPr lang="en-US" sz="12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Just-In-Time</a:t>
                </a:r>
              </a:p>
              <a:p>
                <a:pPr marL="0" marR="0" indent="0" algn="ctr" defTabSz="825500" rtl="0" fontAlgn="auto" latinLnBrk="0" hangingPunct="0">
                  <a:lnSpc>
                    <a:spcPct val="100000"/>
                  </a:lnSpc>
                  <a:spcBef>
                    <a:spcPts val="0"/>
                  </a:spcBef>
                  <a:spcAft>
                    <a:spcPts val="0"/>
                  </a:spcAft>
                  <a:buClrTx/>
                  <a:buSzTx/>
                  <a:buFontTx/>
                  <a:buNone/>
                  <a:tabLst/>
                </a:pPr>
                <a:r>
                  <a:rPr lang="en-US" sz="12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Stockless Production</a:t>
                </a:r>
              </a:p>
              <a:p>
                <a:pPr marL="0" marR="0" indent="0" algn="ctr" defTabSz="825500" rtl="0" fontAlgn="auto" latinLnBrk="0" hangingPunct="0">
                  <a:lnSpc>
                    <a:spcPct val="100000"/>
                  </a:lnSpc>
                  <a:spcBef>
                    <a:spcPts val="0"/>
                  </a:spcBef>
                  <a:spcAft>
                    <a:spcPts val="0"/>
                  </a:spcAft>
                  <a:buClrTx/>
                  <a:buSzTx/>
                  <a:buFontTx/>
                  <a:buNone/>
                  <a:tabLst/>
                </a:pPr>
                <a:r>
                  <a:rPr lang="en-US" sz="12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World Class Manufacturing</a:t>
                </a:r>
              </a:p>
            </p:txBody>
          </p:sp>
        </p:grpSp>
        <p:grpSp>
          <p:nvGrpSpPr>
            <p:cNvPr id="127" name="Group 126">
              <a:extLst>
                <a:ext uri="{FF2B5EF4-FFF2-40B4-BE49-F238E27FC236}">
                  <a16:creationId xmlns:a16="http://schemas.microsoft.com/office/drawing/2014/main" id="{3D3F9C4A-B90A-1F3C-1EBE-9F23EE4FDA67}"/>
                </a:ext>
              </a:extLst>
            </p:cNvPr>
            <p:cNvGrpSpPr/>
            <p:nvPr/>
          </p:nvGrpSpPr>
          <p:grpSpPr>
            <a:xfrm>
              <a:off x="18161032" y="8094006"/>
              <a:ext cx="2624686" cy="2706282"/>
              <a:chOff x="1436928" y="8011849"/>
              <a:chExt cx="2624686" cy="2706282"/>
            </a:xfrm>
          </p:grpSpPr>
          <p:sp>
            <p:nvSpPr>
              <p:cNvPr id="128" name="TextBox 127">
                <a:extLst>
                  <a:ext uri="{FF2B5EF4-FFF2-40B4-BE49-F238E27FC236}">
                    <a16:creationId xmlns:a16="http://schemas.microsoft.com/office/drawing/2014/main" id="{A3F4437C-5083-3276-BFCD-2DAF1300B7B3}"/>
                  </a:ext>
                </a:extLst>
              </p:cNvPr>
              <p:cNvSpPr txBox="1"/>
              <p:nvPr/>
            </p:nvSpPr>
            <p:spPr>
              <a:xfrm>
                <a:off x="1436928" y="9873015"/>
                <a:ext cx="2624686" cy="84511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12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Lean Manufacturing</a:t>
                </a:r>
              </a:p>
            </p:txBody>
          </p:sp>
          <p:cxnSp>
            <p:nvCxnSpPr>
              <p:cNvPr id="129" name="Straight Connector 128">
                <a:extLst>
                  <a:ext uri="{FF2B5EF4-FFF2-40B4-BE49-F238E27FC236}">
                    <a16:creationId xmlns:a16="http://schemas.microsoft.com/office/drawing/2014/main" id="{1356235D-E1A5-79FA-52D3-97878B41F2C3}"/>
                  </a:ext>
                </a:extLst>
              </p:cNvPr>
              <p:cNvCxnSpPr>
                <a:cxnSpLocks/>
                <a:endCxn id="128" idx="0"/>
              </p:cNvCxnSpPr>
              <p:nvPr/>
            </p:nvCxnSpPr>
            <p:spPr>
              <a:xfrm flipH="1">
                <a:off x="2749272" y="8011849"/>
                <a:ext cx="2" cy="1861166"/>
              </a:xfrm>
              <a:prstGeom prst="line">
                <a:avLst/>
              </a:prstGeom>
              <a:noFill/>
              <a:ln w="25400" cap="flat">
                <a:solidFill>
                  <a:schemeClr val="tx1">
                    <a:alpha val="75000"/>
                  </a:schemeClr>
                </a:solidFill>
                <a:prstDash val="solid"/>
                <a:miter lim="400000"/>
              </a:ln>
              <a:effectLst/>
              <a:sp3d/>
            </p:spPr>
            <p:style>
              <a:lnRef idx="0">
                <a:scrgbClr r="0" g="0" b="0"/>
              </a:lnRef>
              <a:fillRef idx="0">
                <a:scrgbClr r="0" g="0" b="0"/>
              </a:fillRef>
              <a:effectRef idx="0">
                <a:scrgbClr r="0" g="0" b="0"/>
              </a:effectRef>
              <a:fontRef idx="none"/>
            </p:style>
          </p:cxnSp>
        </p:grpSp>
        <p:cxnSp>
          <p:nvCxnSpPr>
            <p:cNvPr id="130" name="Connector: Elbow 129">
              <a:extLst>
                <a:ext uri="{FF2B5EF4-FFF2-40B4-BE49-F238E27FC236}">
                  <a16:creationId xmlns:a16="http://schemas.microsoft.com/office/drawing/2014/main" id="{91710D2E-8AF4-97A6-D3FB-AF4F84E991A5}"/>
                </a:ext>
              </a:extLst>
            </p:cNvPr>
            <p:cNvCxnSpPr>
              <a:cxnSpLocks/>
              <a:endCxn id="106" idx="0"/>
            </p:cNvCxnSpPr>
            <p:nvPr/>
          </p:nvCxnSpPr>
          <p:spPr>
            <a:xfrm>
              <a:off x="9106789" y="8625839"/>
              <a:ext cx="2404154" cy="3389754"/>
            </a:xfrm>
            <a:prstGeom prst="bentConnector2">
              <a:avLst/>
            </a:prstGeom>
            <a:noFill/>
            <a:ln w="25400" cap="flat">
              <a:solidFill>
                <a:schemeClr val="tx1">
                  <a:alpha val="75000"/>
                </a:schemeClr>
              </a:solidFill>
              <a:prstDash val="solid"/>
              <a:miter lim="400000"/>
            </a:ln>
            <a:effectLst/>
            <a:sp3d/>
          </p:spPr>
          <p:style>
            <a:lnRef idx="0">
              <a:scrgbClr r="0" g="0" b="0"/>
            </a:lnRef>
            <a:fillRef idx="0">
              <a:scrgbClr r="0" g="0" b="0"/>
            </a:fillRef>
            <a:effectRef idx="0">
              <a:scrgbClr r="0" g="0" b="0"/>
            </a:effectRef>
            <a:fontRef idx="none"/>
          </p:style>
        </p:cxnSp>
        <p:cxnSp>
          <p:nvCxnSpPr>
            <p:cNvPr id="131" name="Straight Connector 130">
              <a:extLst>
                <a:ext uri="{FF2B5EF4-FFF2-40B4-BE49-F238E27FC236}">
                  <a16:creationId xmlns:a16="http://schemas.microsoft.com/office/drawing/2014/main" id="{1FEE022B-FA35-48BD-CAD0-9A0B3776088C}"/>
                </a:ext>
              </a:extLst>
            </p:cNvPr>
            <p:cNvCxnSpPr>
              <a:cxnSpLocks/>
            </p:cNvCxnSpPr>
            <p:nvPr/>
          </p:nvCxnSpPr>
          <p:spPr>
            <a:xfrm>
              <a:off x="9106788" y="8094006"/>
              <a:ext cx="0" cy="531834"/>
            </a:xfrm>
            <a:prstGeom prst="line">
              <a:avLst/>
            </a:prstGeom>
            <a:noFill/>
            <a:ln w="25400" cap="flat">
              <a:solidFill>
                <a:schemeClr val="tx1">
                  <a:alpha val="75000"/>
                </a:schemeClr>
              </a:solidFill>
              <a:prstDash val="solid"/>
              <a:miter lim="400000"/>
            </a:ln>
            <a:effectLst/>
            <a:sp3d/>
          </p:spPr>
          <p:style>
            <a:lnRef idx="0">
              <a:scrgbClr r="0" g="0" b="0"/>
            </a:lnRef>
            <a:fillRef idx="0">
              <a:scrgbClr r="0" g="0" b="0"/>
            </a:fillRef>
            <a:effectRef idx="0">
              <a:scrgbClr r="0" g="0" b="0"/>
            </a:effectRef>
            <a:fontRef idx="none"/>
          </p:style>
        </p:cxnSp>
      </p:grpSp>
      <p:sp>
        <p:nvSpPr>
          <p:cNvPr id="8" name="TextBox 7">
            <a:extLst>
              <a:ext uri="{FF2B5EF4-FFF2-40B4-BE49-F238E27FC236}">
                <a16:creationId xmlns:a16="http://schemas.microsoft.com/office/drawing/2014/main" id="{EBB1FCA6-0117-2F07-8F45-2E391A49A2A7}"/>
              </a:ext>
            </a:extLst>
          </p:cNvPr>
          <p:cNvSpPr txBox="1"/>
          <p:nvPr/>
        </p:nvSpPr>
        <p:spPr>
          <a:xfrm>
            <a:off x="2000416" y="323813"/>
            <a:ext cx="1708645"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Introduction</a:t>
            </a:r>
          </a:p>
        </p:txBody>
      </p:sp>
      <p:sp>
        <p:nvSpPr>
          <p:cNvPr id="2" name="AutoShape 9">
            <a:extLst>
              <a:ext uri="{FF2B5EF4-FFF2-40B4-BE49-F238E27FC236}">
                <a16:creationId xmlns:a16="http://schemas.microsoft.com/office/drawing/2014/main" id="{57E8D011-F20B-70ED-965D-78B47139BA3C}"/>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10">
            <a:extLst>
              <a:ext uri="{FF2B5EF4-FFF2-40B4-BE49-F238E27FC236}">
                <a16:creationId xmlns:a16="http://schemas.microsoft.com/office/drawing/2014/main" id="{98461C97-7ABB-DDF7-1547-5B80C1B8D951}"/>
              </a:ext>
            </a:extLst>
          </p:cNvPr>
          <p:cNvSpPr>
            <a:spLocks noChangeArrowheads="1"/>
          </p:cNvSpPr>
          <p:nvPr/>
        </p:nvSpPr>
        <p:spPr bwMode="auto">
          <a:xfrm>
            <a:off x="1253924"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1" name="AutoShape 11">
            <a:extLst>
              <a:ext uri="{FF2B5EF4-FFF2-40B4-BE49-F238E27FC236}">
                <a16:creationId xmlns:a16="http://schemas.microsoft.com/office/drawing/2014/main" id="{1288E52E-D881-1F4A-2EA4-A55648129FBC}"/>
              </a:ext>
            </a:extLst>
          </p:cNvPr>
          <p:cNvSpPr>
            <a:spLocks noChangeArrowheads="1"/>
          </p:cNvSpPr>
          <p:nvPr/>
        </p:nvSpPr>
        <p:spPr bwMode="auto">
          <a:xfrm>
            <a:off x="940249"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Tree>
    <p:extLst>
      <p:ext uri="{BB962C8B-B14F-4D97-AF65-F5344CB8AC3E}">
        <p14:creationId xmlns:p14="http://schemas.microsoft.com/office/powerpoint/2010/main" val="8731411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287BA79-BC0E-9B68-5E47-60ACB12957C8}"/>
              </a:ext>
            </a:extLst>
          </p:cNvPr>
          <p:cNvSpPr>
            <a:spLocks noGrp="1"/>
          </p:cNvSpPr>
          <p:nvPr>
            <p:ph type="body" sz="half" idx="2"/>
          </p:nvPr>
        </p:nvSpPr>
        <p:spPr/>
        <p:txBody>
          <a:bodyPr>
            <a:normAutofit fontScale="77500" lnSpcReduction="20000"/>
          </a:bodyPr>
          <a:lstStyle/>
          <a:p>
            <a:pPr marL="342900" indent="-342900">
              <a:lnSpc>
                <a:spcPct val="100000"/>
              </a:lnSpc>
              <a:buFont typeface="Arial" panose="020B0604020202020204" pitchFamily="34" charset="0"/>
              <a:buChar char="•"/>
            </a:pPr>
            <a:r>
              <a:rPr lang="en-US" altLang="ja-JP" sz="2200" dirty="0" err="1"/>
              <a:t>Sakichi</a:t>
            </a:r>
            <a:r>
              <a:rPr lang="en-US" altLang="ja-JP" sz="2200" dirty="0"/>
              <a:t> Toyoda developed the concept of </a:t>
            </a:r>
            <a:r>
              <a:rPr lang="en-US" altLang="ja-JP" sz="2200" dirty="0" err="1"/>
              <a:t>jidoka</a:t>
            </a:r>
            <a:r>
              <a:rPr lang="en-US" altLang="ja-JP" sz="2200" dirty="0"/>
              <a:t> (autonomation), which became one of the pillars of TPS. Founded Toyota Motor Co. in 1937.</a:t>
            </a:r>
          </a:p>
          <a:p>
            <a:pPr marL="342900" indent="-342900">
              <a:lnSpc>
                <a:spcPct val="100000"/>
              </a:lnSpc>
              <a:buFont typeface="Arial" panose="020B0604020202020204" pitchFamily="34" charset="0"/>
              <a:buChar char="•"/>
            </a:pPr>
            <a:r>
              <a:rPr lang="en-US" altLang="ja-JP" sz="2200" dirty="0" err="1"/>
              <a:t>Eiji</a:t>
            </a:r>
            <a:r>
              <a:rPr lang="en-US" altLang="ja-JP" sz="2200" dirty="0"/>
              <a:t> Toyoda adapted the Ford suggestion scheme into a system for continuous improvement which became known as kaizen.</a:t>
            </a:r>
          </a:p>
          <a:p>
            <a:pPr marL="342900" indent="-342900">
              <a:lnSpc>
                <a:spcPct val="100000"/>
              </a:lnSpc>
              <a:buFont typeface="Arial" panose="020B0604020202020204" pitchFamily="34" charset="0"/>
              <a:buChar char="•"/>
            </a:pPr>
            <a:r>
              <a:rPr lang="en-US" altLang="ja-JP" sz="2200" dirty="0"/>
              <a:t>Kiichiro Toyoda studied Ford’s production system and adapted it to the smaller, more diverse Japanese market. Developed the key concepts </a:t>
            </a:r>
            <a:br>
              <a:rPr lang="en-US" altLang="ja-JP" sz="2200" dirty="0"/>
            </a:br>
            <a:r>
              <a:rPr lang="en-US" altLang="ja-JP" sz="2200" dirty="0"/>
              <a:t>behind “just-in-time”</a:t>
            </a:r>
          </a:p>
        </p:txBody>
      </p:sp>
      <p:sp>
        <p:nvSpPr>
          <p:cNvPr id="6" name="Footer Placeholder 5">
            <a:extLst>
              <a:ext uri="{FF2B5EF4-FFF2-40B4-BE49-F238E27FC236}">
                <a16:creationId xmlns:a16="http://schemas.microsoft.com/office/drawing/2014/main" id="{C265196D-3665-42A0-455C-3E62D45552D6}"/>
              </a:ext>
            </a:extLst>
          </p:cNvPr>
          <p:cNvSpPr>
            <a:spLocks noGrp="1"/>
          </p:cNvSpPr>
          <p:nvPr>
            <p:ph type="ftr" sz="quarter" idx="11"/>
          </p:nvPr>
        </p:nvSpPr>
        <p:spPr/>
        <p:txBody>
          <a:bodyPr/>
          <a:lstStyle/>
          <a:p>
            <a:r>
              <a:rPr lang="en-US"/>
              <a:t>© Lean Horizons Consulting, LLC 2023. All Rights Reserved</a:t>
            </a:r>
            <a:endParaRPr lang="en-US" dirty="0"/>
          </a:p>
        </p:txBody>
      </p:sp>
      <p:sp>
        <p:nvSpPr>
          <p:cNvPr id="7" name="Slide Number Placeholder 6">
            <a:extLst>
              <a:ext uri="{FF2B5EF4-FFF2-40B4-BE49-F238E27FC236}">
                <a16:creationId xmlns:a16="http://schemas.microsoft.com/office/drawing/2014/main" id="{8DDF98C7-E326-67DA-15D8-AD0EFBA4380C}"/>
              </a:ext>
            </a:extLst>
          </p:cNvPr>
          <p:cNvSpPr>
            <a:spLocks noGrp="1"/>
          </p:cNvSpPr>
          <p:nvPr>
            <p:ph type="sldNum" sz="quarter" idx="12"/>
          </p:nvPr>
        </p:nvSpPr>
        <p:spPr/>
        <p:txBody>
          <a:bodyPr/>
          <a:lstStyle/>
          <a:p>
            <a:fld id="{CC6D4273-7FC1-0947-B9FE-19CB3C0D1FB6}" type="slidenum">
              <a:rPr lang="en-US" smtClean="0"/>
              <a:t>11</a:t>
            </a:fld>
            <a:endParaRPr lang="en-US"/>
          </a:p>
        </p:txBody>
      </p:sp>
      <p:sp>
        <p:nvSpPr>
          <p:cNvPr id="2" name="Title 1">
            <a:extLst>
              <a:ext uri="{FF2B5EF4-FFF2-40B4-BE49-F238E27FC236}">
                <a16:creationId xmlns:a16="http://schemas.microsoft.com/office/drawing/2014/main" id="{3BEF1C1C-86A0-4488-68EC-1E6D1847DB51}"/>
              </a:ext>
            </a:extLst>
          </p:cNvPr>
          <p:cNvSpPr>
            <a:spLocks noGrp="1"/>
          </p:cNvSpPr>
          <p:nvPr>
            <p:ph type="title"/>
          </p:nvPr>
        </p:nvSpPr>
        <p:spPr>
          <a:xfrm>
            <a:off x="839788" y="352816"/>
            <a:ext cx="3932237" cy="1465029"/>
          </a:xfrm>
        </p:spPr>
        <p:txBody>
          <a:bodyPr>
            <a:normAutofit/>
          </a:bodyPr>
          <a:lstStyle/>
          <a:p>
            <a:r>
              <a:rPr lang="en-US" sz="4000" dirty="0">
                <a:latin typeface="Roboto Medium"/>
                <a:ea typeface="Roboto Medium"/>
                <a:cs typeface="Roboto Medium"/>
              </a:rPr>
              <a:t>History of Lean</a:t>
            </a:r>
          </a:p>
        </p:txBody>
      </p:sp>
      <p:pic>
        <p:nvPicPr>
          <p:cNvPr id="15" name="Content Placeholder 14" descr="A collage of Sakichi Toyoda, Eiji Toyoda, and Kiichiro Toyoda">
            <a:extLst>
              <a:ext uri="{FF2B5EF4-FFF2-40B4-BE49-F238E27FC236}">
                <a16:creationId xmlns:a16="http://schemas.microsoft.com/office/drawing/2014/main" id="{51BF8A90-AED8-1661-9A2B-425A2CF6C100}"/>
              </a:ext>
            </a:extLst>
          </p:cNvPr>
          <p:cNvPicPr>
            <a:picLocks noGrp="1" noChangeAspect="1"/>
          </p:cNvPicPr>
          <p:nvPr>
            <p:ph idx="1"/>
          </p:nvPr>
        </p:nvPicPr>
        <p:blipFill>
          <a:blip r:embed="rId3"/>
          <a:stretch>
            <a:fillRect/>
          </a:stretch>
        </p:blipFill>
        <p:spPr>
          <a:xfrm>
            <a:off x="5641010" y="933185"/>
            <a:ext cx="3921463" cy="4873625"/>
          </a:xfrm>
        </p:spPr>
      </p:pic>
      <p:sp>
        <p:nvSpPr>
          <p:cNvPr id="12" name="TextBox 11">
            <a:extLst>
              <a:ext uri="{FF2B5EF4-FFF2-40B4-BE49-F238E27FC236}">
                <a16:creationId xmlns:a16="http://schemas.microsoft.com/office/drawing/2014/main" id="{8B943A8B-1B59-B918-AA53-2FFD8D5707D3}"/>
              </a:ext>
            </a:extLst>
          </p:cNvPr>
          <p:cNvSpPr txBox="1"/>
          <p:nvPr/>
        </p:nvSpPr>
        <p:spPr>
          <a:xfrm>
            <a:off x="2000416" y="323813"/>
            <a:ext cx="1708645"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Introduction</a:t>
            </a:r>
          </a:p>
        </p:txBody>
      </p:sp>
      <p:sp>
        <p:nvSpPr>
          <p:cNvPr id="3" name="AutoShape 9">
            <a:extLst>
              <a:ext uri="{FF2B5EF4-FFF2-40B4-BE49-F238E27FC236}">
                <a16:creationId xmlns:a16="http://schemas.microsoft.com/office/drawing/2014/main" id="{E1185582-2FD0-A04A-79C5-2899EEAC8CC0}"/>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5" name="AutoShape 10">
            <a:extLst>
              <a:ext uri="{FF2B5EF4-FFF2-40B4-BE49-F238E27FC236}">
                <a16:creationId xmlns:a16="http://schemas.microsoft.com/office/drawing/2014/main" id="{DF213158-AA5F-1E0B-D00D-CDE3CCB696B6}"/>
              </a:ext>
            </a:extLst>
          </p:cNvPr>
          <p:cNvSpPr>
            <a:spLocks noChangeArrowheads="1"/>
          </p:cNvSpPr>
          <p:nvPr/>
        </p:nvSpPr>
        <p:spPr bwMode="auto">
          <a:xfrm>
            <a:off x="1253924"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11">
            <a:extLst>
              <a:ext uri="{FF2B5EF4-FFF2-40B4-BE49-F238E27FC236}">
                <a16:creationId xmlns:a16="http://schemas.microsoft.com/office/drawing/2014/main" id="{A025C1F1-8DA9-09FE-948A-D7ED250C7D3F}"/>
              </a:ext>
            </a:extLst>
          </p:cNvPr>
          <p:cNvSpPr>
            <a:spLocks noChangeArrowheads="1"/>
          </p:cNvSpPr>
          <p:nvPr/>
        </p:nvSpPr>
        <p:spPr bwMode="auto">
          <a:xfrm>
            <a:off x="940249"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Tree>
    <p:extLst>
      <p:ext uri="{BB962C8B-B14F-4D97-AF65-F5344CB8AC3E}">
        <p14:creationId xmlns:p14="http://schemas.microsoft.com/office/powerpoint/2010/main" val="29677130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Title 35">
            <a:extLst>
              <a:ext uri="{FF2B5EF4-FFF2-40B4-BE49-F238E27FC236}">
                <a16:creationId xmlns:a16="http://schemas.microsoft.com/office/drawing/2014/main" id="{C634ADB4-0FCC-1A92-2D37-7CFF8C8E2123}"/>
              </a:ext>
            </a:extLst>
          </p:cNvPr>
          <p:cNvSpPr>
            <a:spLocks noGrp="1"/>
          </p:cNvSpPr>
          <p:nvPr>
            <p:ph type="title"/>
          </p:nvPr>
        </p:nvSpPr>
        <p:spPr>
          <a:xfrm>
            <a:off x="838200" y="845601"/>
            <a:ext cx="10515600" cy="809026"/>
          </a:xfrm>
        </p:spPr>
        <p:txBody>
          <a:bodyPr>
            <a:noAutofit/>
          </a:bodyPr>
          <a:lstStyle/>
          <a:p>
            <a:r>
              <a:rPr lang="en-US" sz="3600" dirty="0">
                <a:solidFill>
                  <a:schemeClr val="bg2">
                    <a:lumMod val="10000"/>
                  </a:schemeClr>
                </a:solidFill>
              </a:rPr>
              <a:t>Taiichi Ohno and the Toyota Production System</a:t>
            </a:r>
            <a:endParaRPr lang="en-US" sz="2800" dirty="0">
              <a:solidFill>
                <a:schemeClr val="bg2">
                  <a:lumMod val="10000"/>
                </a:schemeClr>
              </a:solidFill>
            </a:endParaRPr>
          </a:p>
        </p:txBody>
      </p:sp>
      <p:sp>
        <p:nvSpPr>
          <p:cNvPr id="3" name="Footer Placeholder 2">
            <a:extLst>
              <a:ext uri="{FF2B5EF4-FFF2-40B4-BE49-F238E27FC236}">
                <a16:creationId xmlns:a16="http://schemas.microsoft.com/office/drawing/2014/main" id="{EC131781-3858-0851-3868-2AC8487B8247}"/>
              </a:ext>
            </a:extLst>
          </p:cNvPr>
          <p:cNvSpPr>
            <a:spLocks noGrp="1"/>
          </p:cNvSpPr>
          <p:nvPr>
            <p:ph type="ftr" sz="quarter" idx="11"/>
          </p:nvPr>
        </p:nvSpPr>
        <p:spPr/>
        <p:txBody>
          <a:bodyPr/>
          <a:lstStyle/>
          <a:p>
            <a:r>
              <a:rPr lang="en-US" sz="900">
                <a:latin typeface="Roboto" panose="02000000000000000000" pitchFamily="2" charset="0"/>
                <a:ea typeface="Roboto" panose="02000000000000000000" pitchFamily="2" charset="0"/>
                <a:cs typeface="Roboto" panose="02000000000000000000" pitchFamily="2" charset="0"/>
              </a:rPr>
              <a:t>© Lean Horizons Consulting, LLC 2023. All Rights Reserved</a:t>
            </a:r>
            <a:endParaRPr lang="en-US" sz="900" dirty="0">
              <a:latin typeface="Roboto" panose="02000000000000000000" pitchFamily="2" charset="0"/>
              <a:ea typeface="Roboto" panose="02000000000000000000" pitchFamily="2" charset="0"/>
              <a:cs typeface="Roboto" panose="02000000000000000000" pitchFamily="2" charset="0"/>
            </a:endParaRPr>
          </a:p>
        </p:txBody>
      </p:sp>
      <p:sp>
        <p:nvSpPr>
          <p:cNvPr id="4" name="Slide Number Placeholder 3">
            <a:extLst>
              <a:ext uri="{FF2B5EF4-FFF2-40B4-BE49-F238E27FC236}">
                <a16:creationId xmlns:a16="http://schemas.microsoft.com/office/drawing/2014/main" id="{3808457A-80E3-DE97-AFB7-8F48A1405C69}"/>
              </a:ext>
            </a:extLst>
          </p:cNvPr>
          <p:cNvSpPr>
            <a:spLocks noGrp="1"/>
          </p:cNvSpPr>
          <p:nvPr>
            <p:ph type="sldNum" sz="quarter" idx="12"/>
          </p:nvPr>
        </p:nvSpPr>
        <p:spPr/>
        <p:txBody>
          <a:bodyPr/>
          <a:lstStyle/>
          <a:p>
            <a:fld id="{CC6D4273-7FC1-0947-B9FE-19CB3C0D1FB6}" type="slidenum">
              <a:rPr lang="en-US" smtClean="0">
                <a:latin typeface="Roboto" panose="02000000000000000000" pitchFamily="2" charset="0"/>
                <a:ea typeface="Roboto" panose="02000000000000000000" pitchFamily="2" charset="0"/>
                <a:cs typeface="Roboto" panose="02000000000000000000" pitchFamily="2" charset="0"/>
              </a:rPr>
              <a:pPr/>
              <a:t>12</a:t>
            </a:fld>
            <a:endParaRPr lang="en-US" dirty="0">
              <a:latin typeface="Roboto" panose="02000000000000000000" pitchFamily="2" charset="0"/>
              <a:ea typeface="Roboto" panose="02000000000000000000" pitchFamily="2" charset="0"/>
              <a:cs typeface="Roboto" panose="02000000000000000000" pitchFamily="2" charset="0"/>
            </a:endParaRPr>
          </a:p>
        </p:txBody>
      </p:sp>
      <p:sp>
        <p:nvSpPr>
          <p:cNvPr id="10" name="Title 1">
            <a:extLst>
              <a:ext uri="{FF2B5EF4-FFF2-40B4-BE49-F238E27FC236}">
                <a16:creationId xmlns:a16="http://schemas.microsoft.com/office/drawing/2014/main" id="{FA64EF14-686A-E3E4-B13B-8F4D7FF43C6B}"/>
              </a:ext>
            </a:extLst>
          </p:cNvPr>
          <p:cNvSpPr txBox="1">
            <a:spLocks/>
          </p:cNvSpPr>
          <p:nvPr/>
        </p:nvSpPr>
        <p:spPr>
          <a:xfrm>
            <a:off x="838200" y="1018743"/>
            <a:ext cx="10515600" cy="640630"/>
          </a:xfrm>
          <a:prstGeom prst="rect">
            <a:avLst/>
          </a:prstGeom>
        </p:spPr>
        <p:txBody>
          <a:bodyPr/>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endParaRPr lang="en-US" sz="2800" dirty="0">
              <a:solidFill>
                <a:schemeClr val="bg2">
                  <a:lumMod val="10000"/>
                </a:schemeClr>
              </a:solidFill>
            </a:endParaRPr>
          </a:p>
        </p:txBody>
      </p:sp>
      <p:sp>
        <p:nvSpPr>
          <p:cNvPr id="28" name="Rectangle 8">
            <a:extLst>
              <a:ext uri="{FF2B5EF4-FFF2-40B4-BE49-F238E27FC236}">
                <a16:creationId xmlns:a16="http://schemas.microsoft.com/office/drawing/2014/main" id="{6FC9F347-21F4-905A-64D6-37FE81502195}"/>
              </a:ext>
            </a:extLst>
          </p:cNvPr>
          <p:cNvSpPr>
            <a:spLocks noChangeArrowheads="1"/>
          </p:cNvSpPr>
          <p:nvPr/>
        </p:nvSpPr>
        <p:spPr bwMode="auto">
          <a:xfrm>
            <a:off x="828757" y="5055048"/>
            <a:ext cx="4347449" cy="589966"/>
          </a:xfrm>
          <a:prstGeom prst="rect">
            <a:avLst/>
          </a:prstGeom>
          <a:gradFill rotWithShape="0">
            <a:gsLst>
              <a:gs pos="0">
                <a:schemeClr val="accent4"/>
              </a:gs>
              <a:gs pos="50000">
                <a:schemeClr val="bg1"/>
              </a:gs>
              <a:gs pos="100000">
                <a:schemeClr val="accent4"/>
              </a:gs>
            </a:gsLst>
            <a:lin ang="0" scaled="1"/>
          </a:gradFill>
          <a:ln w="25400">
            <a:solidFill>
              <a:srgbClr val="000000"/>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a:solidFill>
                <a:schemeClr val="bg1"/>
              </a:solidFill>
            </a:endParaRPr>
          </a:p>
        </p:txBody>
      </p:sp>
      <p:grpSp>
        <p:nvGrpSpPr>
          <p:cNvPr id="11" name="Group 10">
            <a:extLst>
              <a:ext uri="{FF2B5EF4-FFF2-40B4-BE49-F238E27FC236}">
                <a16:creationId xmlns:a16="http://schemas.microsoft.com/office/drawing/2014/main" id="{23E1B5BD-B5F2-83A0-69DB-145E5C9188B8}"/>
              </a:ext>
            </a:extLst>
          </p:cNvPr>
          <p:cNvGrpSpPr/>
          <p:nvPr/>
        </p:nvGrpSpPr>
        <p:grpSpPr>
          <a:xfrm>
            <a:off x="708595" y="1857921"/>
            <a:ext cx="4524575" cy="3875711"/>
            <a:chOff x="2024164" y="3457616"/>
            <a:chExt cx="7225308" cy="7370530"/>
          </a:xfrm>
        </p:grpSpPr>
        <p:grpSp>
          <p:nvGrpSpPr>
            <p:cNvPr id="12" name="Group 11">
              <a:extLst>
                <a:ext uri="{FF2B5EF4-FFF2-40B4-BE49-F238E27FC236}">
                  <a16:creationId xmlns:a16="http://schemas.microsoft.com/office/drawing/2014/main" id="{1AECED02-3354-D135-B52F-2A0B97A8D6C2}"/>
                </a:ext>
              </a:extLst>
            </p:cNvPr>
            <p:cNvGrpSpPr/>
            <p:nvPr/>
          </p:nvGrpSpPr>
          <p:grpSpPr>
            <a:xfrm>
              <a:off x="2165593" y="4236036"/>
              <a:ext cx="6942455" cy="6592110"/>
              <a:chOff x="631825" y="2111375"/>
              <a:chExt cx="3713163" cy="3525781"/>
            </a:xfrm>
          </p:grpSpPr>
          <p:sp>
            <p:nvSpPr>
              <p:cNvPr id="14" name="Rectangle 6">
                <a:extLst>
                  <a:ext uri="{FF2B5EF4-FFF2-40B4-BE49-F238E27FC236}">
                    <a16:creationId xmlns:a16="http://schemas.microsoft.com/office/drawing/2014/main" id="{7015C0E1-1CB2-0267-CD6F-009D96CDD564}"/>
                  </a:ext>
                </a:extLst>
              </p:cNvPr>
              <p:cNvSpPr>
                <a:spLocks noChangeArrowheads="1"/>
              </p:cNvSpPr>
              <p:nvPr/>
            </p:nvSpPr>
            <p:spPr bwMode="auto">
              <a:xfrm>
                <a:off x="741363" y="2725738"/>
                <a:ext cx="560387" cy="2136775"/>
              </a:xfrm>
              <a:prstGeom prst="rect">
                <a:avLst/>
              </a:prstGeom>
              <a:gradFill rotWithShape="0">
                <a:gsLst>
                  <a:gs pos="0">
                    <a:schemeClr val="accent4"/>
                  </a:gs>
                  <a:gs pos="50000">
                    <a:schemeClr val="bg1"/>
                  </a:gs>
                  <a:gs pos="100000">
                    <a:schemeClr val="accent4"/>
                  </a:gs>
                </a:gsLst>
                <a:lin ang="0" scaled="1"/>
              </a:gradFill>
              <a:ln w="25400">
                <a:solidFill>
                  <a:srgbClr val="000000"/>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16" name="Rectangle 8">
                <a:extLst>
                  <a:ext uri="{FF2B5EF4-FFF2-40B4-BE49-F238E27FC236}">
                    <a16:creationId xmlns:a16="http://schemas.microsoft.com/office/drawing/2014/main" id="{ABB5A2F6-4211-6005-EB6B-B5EB3589A08C}"/>
                  </a:ext>
                </a:extLst>
              </p:cNvPr>
              <p:cNvSpPr>
                <a:spLocks noChangeArrowheads="1"/>
              </p:cNvSpPr>
              <p:nvPr/>
            </p:nvSpPr>
            <p:spPr bwMode="auto">
              <a:xfrm>
                <a:off x="631825" y="2111375"/>
                <a:ext cx="3713163" cy="600075"/>
              </a:xfrm>
              <a:prstGeom prst="rect">
                <a:avLst/>
              </a:prstGeom>
              <a:gradFill rotWithShape="0">
                <a:gsLst>
                  <a:gs pos="0">
                    <a:schemeClr val="accent4"/>
                  </a:gs>
                  <a:gs pos="50000">
                    <a:schemeClr val="bg1"/>
                  </a:gs>
                  <a:gs pos="100000">
                    <a:schemeClr val="accent4"/>
                  </a:gs>
                </a:gsLst>
                <a:lin ang="0" scaled="1"/>
              </a:gradFill>
              <a:ln w="25400">
                <a:solidFill>
                  <a:srgbClr val="000000"/>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a:solidFill>
                    <a:schemeClr val="bg1"/>
                  </a:solidFill>
                </a:endParaRPr>
              </a:p>
            </p:txBody>
          </p:sp>
          <p:sp>
            <p:nvSpPr>
              <p:cNvPr id="17" name="Rectangle 9">
                <a:extLst>
                  <a:ext uri="{FF2B5EF4-FFF2-40B4-BE49-F238E27FC236}">
                    <a16:creationId xmlns:a16="http://schemas.microsoft.com/office/drawing/2014/main" id="{E22FBA21-8792-0C73-7FCF-075A639FFFB6}"/>
                  </a:ext>
                </a:extLst>
              </p:cNvPr>
              <p:cNvSpPr>
                <a:spLocks noChangeArrowheads="1"/>
              </p:cNvSpPr>
              <p:nvPr/>
            </p:nvSpPr>
            <p:spPr bwMode="auto">
              <a:xfrm>
                <a:off x="3686175" y="2741613"/>
                <a:ext cx="560388" cy="2136775"/>
              </a:xfrm>
              <a:prstGeom prst="rect">
                <a:avLst/>
              </a:prstGeom>
              <a:gradFill rotWithShape="0">
                <a:gsLst>
                  <a:gs pos="0">
                    <a:schemeClr val="accent4"/>
                  </a:gs>
                  <a:gs pos="50000">
                    <a:schemeClr val="bg1"/>
                  </a:gs>
                  <a:gs pos="100000">
                    <a:schemeClr val="accent4"/>
                  </a:gs>
                </a:gsLst>
                <a:lin ang="0" scaled="1"/>
              </a:gradFill>
              <a:ln w="25400">
                <a:solidFill>
                  <a:srgbClr val="000000"/>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a:solidFill>
                    <a:schemeClr val="bg1"/>
                  </a:solidFill>
                </a:endParaRPr>
              </a:p>
            </p:txBody>
          </p:sp>
          <p:sp>
            <p:nvSpPr>
              <p:cNvPr id="18" name="Rectangle 10">
                <a:extLst>
                  <a:ext uri="{FF2B5EF4-FFF2-40B4-BE49-F238E27FC236}">
                    <a16:creationId xmlns:a16="http://schemas.microsoft.com/office/drawing/2014/main" id="{5EF3C991-AB84-BECA-8313-1DF2C9C9D3A7}"/>
                  </a:ext>
                </a:extLst>
              </p:cNvPr>
              <p:cNvSpPr>
                <a:spLocks noChangeArrowheads="1"/>
              </p:cNvSpPr>
              <p:nvPr/>
            </p:nvSpPr>
            <p:spPr bwMode="auto">
              <a:xfrm>
                <a:off x="1154010" y="2201863"/>
                <a:ext cx="2616403" cy="4076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US" altLang="en-US" sz="2000" dirty="0">
                    <a:latin typeface="Roboto" panose="02000000000000000000" pitchFamily="2" charset="0"/>
                    <a:ea typeface="Roboto" panose="02000000000000000000" pitchFamily="2" charset="0"/>
                    <a:cs typeface="Roboto" panose="02000000000000000000" pitchFamily="2" charset="0"/>
                  </a:rPr>
                  <a:t>Toyota Production Model</a:t>
                </a:r>
              </a:p>
            </p:txBody>
          </p:sp>
          <p:sp>
            <p:nvSpPr>
              <p:cNvPr id="19" name="Rectangle 11">
                <a:extLst>
                  <a:ext uri="{FF2B5EF4-FFF2-40B4-BE49-F238E27FC236}">
                    <a16:creationId xmlns:a16="http://schemas.microsoft.com/office/drawing/2014/main" id="{B309A372-C0E3-E5BF-27BC-6C7B860F78A6}"/>
                  </a:ext>
                </a:extLst>
              </p:cNvPr>
              <p:cNvSpPr>
                <a:spLocks noChangeArrowheads="1"/>
              </p:cNvSpPr>
              <p:nvPr/>
            </p:nvSpPr>
            <p:spPr bwMode="auto">
              <a:xfrm>
                <a:off x="665210" y="5056188"/>
                <a:ext cx="1007678" cy="4076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2000" dirty="0" err="1">
                    <a:latin typeface="Roboto" panose="02000000000000000000" pitchFamily="2" charset="0"/>
                    <a:ea typeface="Roboto" panose="02000000000000000000" pitchFamily="2" charset="0"/>
                    <a:cs typeface="Roboto" panose="02000000000000000000" pitchFamily="2" charset="0"/>
                  </a:rPr>
                  <a:t>Heijunka</a:t>
                </a:r>
                <a:endParaRPr lang="en-US" altLang="en-US" sz="2000" dirty="0">
                  <a:latin typeface="Roboto" panose="02000000000000000000" pitchFamily="2" charset="0"/>
                  <a:ea typeface="Roboto" panose="02000000000000000000" pitchFamily="2" charset="0"/>
                  <a:cs typeface="Roboto" panose="02000000000000000000" pitchFamily="2" charset="0"/>
                </a:endParaRPr>
              </a:p>
            </p:txBody>
          </p:sp>
          <p:sp>
            <p:nvSpPr>
              <p:cNvPr id="20" name="Rectangle 19">
                <a:extLst>
                  <a:ext uri="{FF2B5EF4-FFF2-40B4-BE49-F238E27FC236}">
                    <a16:creationId xmlns:a16="http://schemas.microsoft.com/office/drawing/2014/main" id="{D4D2A693-487F-F7D3-B396-3760D0F8278D}"/>
                  </a:ext>
                </a:extLst>
              </p:cNvPr>
              <p:cNvSpPr>
                <a:spLocks noChangeArrowheads="1"/>
              </p:cNvSpPr>
              <p:nvPr/>
            </p:nvSpPr>
            <p:spPr bwMode="auto">
              <a:xfrm>
                <a:off x="3489092" y="5056188"/>
                <a:ext cx="813262" cy="4076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US" altLang="en-US" sz="2000" dirty="0">
                    <a:latin typeface="Roboto" panose="02000000000000000000" pitchFamily="2" charset="0"/>
                    <a:ea typeface="Roboto" panose="02000000000000000000" pitchFamily="2" charset="0"/>
                    <a:cs typeface="Roboto" panose="02000000000000000000" pitchFamily="2" charset="0"/>
                  </a:rPr>
                  <a:t>Kaizen</a:t>
                </a:r>
              </a:p>
            </p:txBody>
          </p:sp>
          <p:sp>
            <p:nvSpPr>
              <p:cNvPr id="21" name="Rectangle 13">
                <a:extLst>
                  <a:ext uri="{FF2B5EF4-FFF2-40B4-BE49-F238E27FC236}">
                    <a16:creationId xmlns:a16="http://schemas.microsoft.com/office/drawing/2014/main" id="{FC6A9633-59FA-77CB-1926-2AF999C4B686}"/>
                  </a:ext>
                </a:extLst>
              </p:cNvPr>
              <p:cNvSpPr>
                <a:spLocks noChangeArrowheads="1"/>
              </p:cNvSpPr>
              <p:nvPr/>
            </p:nvSpPr>
            <p:spPr bwMode="auto">
              <a:xfrm>
                <a:off x="2006127" y="4916488"/>
                <a:ext cx="1039168" cy="7206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US" altLang="en-US" sz="2000" dirty="0">
                    <a:latin typeface="Roboto" panose="02000000000000000000" pitchFamily="2" charset="0"/>
                    <a:ea typeface="Roboto" panose="02000000000000000000" pitchFamily="2" charset="0"/>
                    <a:cs typeface="Roboto" panose="02000000000000000000" pitchFamily="2" charset="0"/>
                  </a:rPr>
                  <a:t>Standard</a:t>
                </a:r>
              </a:p>
              <a:p>
                <a:pPr algn="ctr">
                  <a:lnSpc>
                    <a:spcPct val="100000"/>
                  </a:lnSpc>
                  <a:spcBef>
                    <a:spcPct val="0"/>
                  </a:spcBef>
                  <a:spcAft>
                    <a:spcPct val="0"/>
                  </a:spcAft>
                  <a:buClrTx/>
                  <a:buSzTx/>
                  <a:buFontTx/>
                  <a:buNone/>
                </a:pPr>
                <a:r>
                  <a:rPr lang="en-US" altLang="en-US" sz="2000" dirty="0">
                    <a:latin typeface="Roboto" panose="02000000000000000000" pitchFamily="2" charset="0"/>
                    <a:ea typeface="Roboto" panose="02000000000000000000" pitchFamily="2" charset="0"/>
                    <a:cs typeface="Roboto" panose="02000000000000000000" pitchFamily="2" charset="0"/>
                  </a:rPr>
                  <a:t>Work</a:t>
                </a:r>
              </a:p>
            </p:txBody>
          </p:sp>
          <p:sp>
            <p:nvSpPr>
              <p:cNvPr id="22" name="Rectangle 14">
                <a:extLst>
                  <a:ext uri="{FF2B5EF4-FFF2-40B4-BE49-F238E27FC236}">
                    <a16:creationId xmlns:a16="http://schemas.microsoft.com/office/drawing/2014/main" id="{C663512A-49CA-7F35-759E-690D913E8F40}"/>
                  </a:ext>
                </a:extLst>
              </p:cNvPr>
              <p:cNvSpPr>
                <a:spLocks noChangeArrowheads="1"/>
              </p:cNvSpPr>
              <p:nvPr/>
            </p:nvSpPr>
            <p:spPr bwMode="auto">
              <a:xfrm>
                <a:off x="658813" y="2713038"/>
                <a:ext cx="717550" cy="131762"/>
              </a:xfrm>
              <a:prstGeom prst="rect">
                <a:avLst/>
              </a:prstGeom>
              <a:gradFill flip="none" rotWithShape="1">
                <a:gsLst>
                  <a:gs pos="0">
                    <a:schemeClr val="accent3">
                      <a:lumMod val="40000"/>
                      <a:lumOff val="60000"/>
                    </a:schemeClr>
                  </a:gs>
                  <a:gs pos="46000">
                    <a:schemeClr val="accent3">
                      <a:lumMod val="95000"/>
                      <a:lumOff val="5000"/>
                    </a:schemeClr>
                  </a:gs>
                  <a:gs pos="100000">
                    <a:schemeClr val="accent3">
                      <a:lumMod val="60000"/>
                    </a:schemeClr>
                  </a:gs>
                </a:gsLst>
                <a:path path="circle">
                  <a:fillToRect l="50000" t="130000" r="50000" b="-30000"/>
                </a:path>
                <a:tileRect/>
              </a:gradFill>
              <a:ln>
                <a:noFill/>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23" name="Rectangle 15">
                <a:extLst>
                  <a:ext uri="{FF2B5EF4-FFF2-40B4-BE49-F238E27FC236}">
                    <a16:creationId xmlns:a16="http://schemas.microsoft.com/office/drawing/2014/main" id="{2F96594A-AAA6-2EAD-9430-DE071D67F24B}"/>
                  </a:ext>
                </a:extLst>
              </p:cNvPr>
              <p:cNvSpPr>
                <a:spLocks noChangeArrowheads="1"/>
              </p:cNvSpPr>
              <p:nvPr/>
            </p:nvSpPr>
            <p:spPr bwMode="auto">
              <a:xfrm>
                <a:off x="658813" y="4781550"/>
                <a:ext cx="717550" cy="133350"/>
              </a:xfrm>
              <a:prstGeom prst="rect">
                <a:avLst/>
              </a:prstGeom>
              <a:gradFill flip="none" rotWithShape="1">
                <a:gsLst>
                  <a:gs pos="0">
                    <a:schemeClr val="accent3">
                      <a:lumMod val="40000"/>
                      <a:lumOff val="60000"/>
                    </a:schemeClr>
                  </a:gs>
                  <a:gs pos="46000">
                    <a:schemeClr val="accent3">
                      <a:lumMod val="95000"/>
                      <a:lumOff val="5000"/>
                    </a:schemeClr>
                  </a:gs>
                  <a:gs pos="100000">
                    <a:schemeClr val="accent3">
                      <a:lumMod val="60000"/>
                    </a:schemeClr>
                  </a:gs>
                </a:gsLst>
                <a:path path="circle">
                  <a:fillToRect l="50000" t="130000" r="50000" b="-30000"/>
                </a:path>
                <a:tileRect/>
              </a:gradFill>
              <a:ln>
                <a:noFill/>
              </a:ln>
            </p:spPr>
            <p:txBody>
              <a:bodyPr wrap="none" anchor="ctr"/>
              <a:lstStyle/>
              <a:p>
                <a:pPr>
                  <a:lnSpc>
                    <a:spcPct val="80000"/>
                  </a:lnSpc>
                  <a:spcBef>
                    <a:spcPct val="20000"/>
                  </a:spcBef>
                  <a:spcAft>
                    <a:spcPct val="0"/>
                  </a:spcAft>
                </a:pPr>
                <a:endParaRPr lang="en-US" altLang="en-US">
                  <a:solidFill>
                    <a:schemeClr val="bg1"/>
                  </a:solidFill>
                  <a:latin typeface="Arial" panose="020B0604020202020204" pitchFamily="34" charset="0"/>
                  <a:ea typeface="MS PGothic" panose="020B0600070205080204" pitchFamily="34" charset="-128"/>
                </a:endParaRPr>
              </a:p>
            </p:txBody>
          </p:sp>
          <p:sp>
            <p:nvSpPr>
              <p:cNvPr id="24" name="Rectangle 16">
                <a:extLst>
                  <a:ext uri="{FF2B5EF4-FFF2-40B4-BE49-F238E27FC236}">
                    <a16:creationId xmlns:a16="http://schemas.microsoft.com/office/drawing/2014/main" id="{BD35F26A-F58D-BB26-6308-B36B24AD968E}"/>
                  </a:ext>
                </a:extLst>
              </p:cNvPr>
              <p:cNvSpPr>
                <a:spLocks noChangeArrowheads="1"/>
              </p:cNvSpPr>
              <p:nvPr/>
            </p:nvSpPr>
            <p:spPr bwMode="auto">
              <a:xfrm>
                <a:off x="3603625" y="4781550"/>
                <a:ext cx="715963" cy="133350"/>
              </a:xfrm>
              <a:prstGeom prst="rect">
                <a:avLst/>
              </a:prstGeom>
              <a:gradFill flip="none" rotWithShape="1">
                <a:gsLst>
                  <a:gs pos="0">
                    <a:schemeClr val="accent3">
                      <a:lumMod val="40000"/>
                      <a:lumOff val="60000"/>
                    </a:schemeClr>
                  </a:gs>
                  <a:gs pos="46000">
                    <a:schemeClr val="accent3">
                      <a:lumMod val="95000"/>
                      <a:lumOff val="5000"/>
                    </a:schemeClr>
                  </a:gs>
                  <a:gs pos="100000">
                    <a:schemeClr val="accent3">
                      <a:lumMod val="60000"/>
                    </a:schemeClr>
                  </a:gs>
                </a:gsLst>
                <a:path path="circle">
                  <a:fillToRect l="50000" t="130000" r="50000" b="-30000"/>
                </a:path>
                <a:tileRect/>
              </a:gradFill>
              <a:ln>
                <a:noFill/>
              </a:ln>
            </p:spPr>
            <p:txBody>
              <a:bodyPr wrap="none" anchor="ctr"/>
              <a:lstStyle/>
              <a:p>
                <a:pPr>
                  <a:lnSpc>
                    <a:spcPct val="80000"/>
                  </a:lnSpc>
                  <a:spcBef>
                    <a:spcPct val="20000"/>
                  </a:spcBef>
                  <a:spcAft>
                    <a:spcPct val="0"/>
                  </a:spcAft>
                </a:pPr>
                <a:endParaRPr lang="en-US" altLang="en-US">
                  <a:solidFill>
                    <a:schemeClr val="bg1"/>
                  </a:solidFill>
                  <a:latin typeface="Arial" panose="020B0604020202020204" pitchFamily="34" charset="0"/>
                  <a:ea typeface="MS PGothic" panose="020B0600070205080204" pitchFamily="34" charset="-128"/>
                </a:endParaRPr>
              </a:p>
            </p:txBody>
          </p:sp>
          <p:sp>
            <p:nvSpPr>
              <p:cNvPr id="25" name="Rectangle 17">
                <a:extLst>
                  <a:ext uri="{FF2B5EF4-FFF2-40B4-BE49-F238E27FC236}">
                    <a16:creationId xmlns:a16="http://schemas.microsoft.com/office/drawing/2014/main" id="{FBC19EA8-BE6F-4C2F-22F0-DF2741C93477}"/>
                  </a:ext>
                </a:extLst>
              </p:cNvPr>
              <p:cNvSpPr>
                <a:spLocks noChangeArrowheads="1"/>
              </p:cNvSpPr>
              <p:nvPr/>
            </p:nvSpPr>
            <p:spPr bwMode="auto">
              <a:xfrm>
                <a:off x="3605213" y="2709863"/>
                <a:ext cx="715962" cy="131762"/>
              </a:xfrm>
              <a:prstGeom prst="rect">
                <a:avLst/>
              </a:prstGeom>
              <a:gradFill flip="none" rotWithShape="1">
                <a:gsLst>
                  <a:gs pos="0">
                    <a:schemeClr val="accent3">
                      <a:lumMod val="40000"/>
                      <a:lumOff val="60000"/>
                    </a:schemeClr>
                  </a:gs>
                  <a:gs pos="46000">
                    <a:schemeClr val="accent3">
                      <a:lumMod val="95000"/>
                      <a:lumOff val="5000"/>
                    </a:schemeClr>
                  </a:gs>
                  <a:gs pos="100000">
                    <a:schemeClr val="accent3">
                      <a:lumMod val="60000"/>
                    </a:schemeClr>
                  </a:gs>
                </a:gsLst>
                <a:path path="circle">
                  <a:fillToRect l="50000" t="130000" r="50000" b="-30000"/>
                </a:path>
                <a:tileRect/>
              </a:gradFill>
              <a:ln>
                <a:noFill/>
              </a:ln>
            </p:spPr>
            <p:txBody>
              <a:bodyPr wrap="none" anchor="ctr"/>
              <a:lstStyle/>
              <a:p>
                <a:pPr>
                  <a:lnSpc>
                    <a:spcPct val="80000"/>
                  </a:lnSpc>
                  <a:spcBef>
                    <a:spcPct val="20000"/>
                  </a:spcBef>
                  <a:spcAft>
                    <a:spcPct val="0"/>
                  </a:spcAft>
                </a:pPr>
                <a:endParaRPr lang="en-US" altLang="en-US">
                  <a:solidFill>
                    <a:schemeClr val="bg1"/>
                  </a:solidFill>
                  <a:latin typeface="Arial" panose="020B0604020202020204" pitchFamily="34" charset="0"/>
                  <a:ea typeface="MS PGothic" panose="020B0600070205080204" pitchFamily="34" charset="-128"/>
                </a:endParaRPr>
              </a:p>
            </p:txBody>
          </p:sp>
          <p:sp>
            <p:nvSpPr>
              <p:cNvPr id="26" name="Rectangle 18">
                <a:extLst>
                  <a:ext uri="{FF2B5EF4-FFF2-40B4-BE49-F238E27FC236}">
                    <a16:creationId xmlns:a16="http://schemas.microsoft.com/office/drawing/2014/main" id="{C66C78C5-3938-74D8-F0E1-BFA1994973B7}"/>
                  </a:ext>
                </a:extLst>
              </p:cNvPr>
              <p:cNvSpPr>
                <a:spLocks noChangeArrowheads="1"/>
              </p:cNvSpPr>
              <p:nvPr/>
            </p:nvSpPr>
            <p:spPr bwMode="auto">
              <a:xfrm rot="16200000">
                <a:off x="223043" y="3468530"/>
                <a:ext cx="1604963" cy="605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US" altLang="en-US" sz="2000" dirty="0">
                    <a:latin typeface="Roboto" panose="02000000000000000000" pitchFamily="2" charset="0"/>
                    <a:ea typeface="Roboto" panose="02000000000000000000" pitchFamily="2" charset="0"/>
                    <a:cs typeface="Roboto" panose="02000000000000000000" pitchFamily="2" charset="0"/>
                  </a:rPr>
                  <a:t>Just In Time</a:t>
                </a:r>
              </a:p>
            </p:txBody>
          </p:sp>
          <p:sp>
            <p:nvSpPr>
              <p:cNvPr id="27" name="Rectangle 19">
                <a:extLst>
                  <a:ext uri="{FF2B5EF4-FFF2-40B4-BE49-F238E27FC236}">
                    <a16:creationId xmlns:a16="http://schemas.microsoft.com/office/drawing/2014/main" id="{0F554B23-298F-4AF3-EC01-C09451B1CD7A}"/>
                  </a:ext>
                </a:extLst>
              </p:cNvPr>
              <p:cNvSpPr>
                <a:spLocks noChangeArrowheads="1"/>
              </p:cNvSpPr>
              <p:nvPr/>
            </p:nvSpPr>
            <p:spPr bwMode="auto">
              <a:xfrm rot="16200000">
                <a:off x="3498831" y="3557102"/>
                <a:ext cx="965238" cy="342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US" altLang="en-US" sz="2000" dirty="0" err="1">
                    <a:latin typeface="Roboto" panose="02000000000000000000" pitchFamily="2" charset="0"/>
                    <a:ea typeface="Roboto" panose="02000000000000000000" pitchFamily="2" charset="0"/>
                    <a:cs typeface="Roboto" panose="02000000000000000000" pitchFamily="2" charset="0"/>
                  </a:rPr>
                  <a:t>Jidoka</a:t>
                </a:r>
                <a:endParaRPr lang="en-US" altLang="en-US" sz="2000" dirty="0">
                  <a:latin typeface="Roboto" panose="02000000000000000000" pitchFamily="2" charset="0"/>
                  <a:ea typeface="Roboto" panose="02000000000000000000" pitchFamily="2" charset="0"/>
                  <a:cs typeface="Roboto" panose="02000000000000000000" pitchFamily="2" charset="0"/>
                </a:endParaRPr>
              </a:p>
            </p:txBody>
          </p:sp>
        </p:grpSp>
        <p:sp>
          <p:nvSpPr>
            <p:cNvPr id="13" name="Change your…">
              <a:extLst>
                <a:ext uri="{FF2B5EF4-FFF2-40B4-BE49-F238E27FC236}">
                  <a16:creationId xmlns:a16="http://schemas.microsoft.com/office/drawing/2014/main" id="{1E1B6FCE-B3F7-F71D-993D-D3FC5E4628F9}"/>
                </a:ext>
              </a:extLst>
            </p:cNvPr>
            <p:cNvSpPr/>
            <p:nvPr/>
          </p:nvSpPr>
          <p:spPr>
            <a:xfrm>
              <a:off x="2024164" y="3457616"/>
              <a:ext cx="7225308" cy="73748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nchor="ctr">
              <a:spAutoFit/>
            </a:bodyPr>
            <a:lstStyle/>
            <a:p>
              <a:pPr algn="ctr" defTabSz="1155700">
                <a:lnSpc>
                  <a:spcPct val="90000"/>
                </a:lnSpc>
                <a:defRPr sz="8000" b="1">
                  <a:solidFill>
                    <a:srgbClr val="FFFFFF"/>
                  </a:solidFill>
                </a:defRPr>
              </a:pPr>
              <a:r>
                <a:rPr lang="en-US" sz="28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Toyota Production Model</a:t>
              </a:r>
              <a:endParaRPr sz="28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endParaRPr>
            </a:p>
          </p:txBody>
        </p:sp>
      </p:grpSp>
      <p:sp>
        <p:nvSpPr>
          <p:cNvPr id="32" name="Arrow: Right 31">
            <a:extLst>
              <a:ext uri="{FF2B5EF4-FFF2-40B4-BE49-F238E27FC236}">
                <a16:creationId xmlns:a16="http://schemas.microsoft.com/office/drawing/2014/main" id="{A2EA33DD-4D0A-D6B7-D120-65F886F06E83}"/>
              </a:ext>
            </a:extLst>
          </p:cNvPr>
          <p:cNvSpPr/>
          <p:nvPr/>
        </p:nvSpPr>
        <p:spPr>
          <a:xfrm>
            <a:off x="5568825" y="3110055"/>
            <a:ext cx="1214602" cy="1072791"/>
          </a:xfrm>
          <a:prstGeom prst="rightArrow">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endParaRPr kumimoji="0" lang="en-US" sz="40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mn-lt"/>
              <a:ea typeface="+mn-ea"/>
              <a:cs typeface="+mn-cs"/>
              <a:sym typeface="Roboto"/>
            </a:endParaRPr>
          </a:p>
        </p:txBody>
      </p:sp>
      <p:sp>
        <p:nvSpPr>
          <p:cNvPr id="33" name="Text Placeholder 3">
            <a:extLst>
              <a:ext uri="{FF2B5EF4-FFF2-40B4-BE49-F238E27FC236}">
                <a16:creationId xmlns:a16="http://schemas.microsoft.com/office/drawing/2014/main" id="{C26CC6AB-EFE4-098E-C03C-756E9681740D}"/>
              </a:ext>
            </a:extLst>
          </p:cNvPr>
          <p:cNvSpPr txBox="1">
            <a:spLocks/>
          </p:cNvSpPr>
          <p:nvPr/>
        </p:nvSpPr>
        <p:spPr>
          <a:xfrm>
            <a:off x="7232765" y="2212324"/>
            <a:ext cx="3932237" cy="3722136"/>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ja-JP" dirty="0">
                <a:solidFill>
                  <a:schemeClr val="bg2">
                    <a:lumMod val="10000"/>
                  </a:schemeClr>
                </a:solidFill>
              </a:rPr>
              <a:t>Taiichi Ohno took the concepts from </a:t>
            </a:r>
            <a:r>
              <a:rPr lang="en-US" altLang="ja-JP" dirty="0" err="1">
                <a:solidFill>
                  <a:schemeClr val="bg2">
                    <a:lumMod val="10000"/>
                  </a:schemeClr>
                </a:solidFill>
              </a:rPr>
              <a:t>Sakichi</a:t>
            </a:r>
            <a:r>
              <a:rPr lang="en-US" altLang="ja-JP" dirty="0">
                <a:solidFill>
                  <a:schemeClr val="bg2">
                    <a:lumMod val="10000"/>
                  </a:schemeClr>
                </a:solidFill>
              </a:rPr>
              <a:t> Toyoda, Kiichiro Toyoda, and </a:t>
            </a:r>
            <a:r>
              <a:rPr lang="en-US" altLang="ja-JP" dirty="0" err="1">
                <a:solidFill>
                  <a:schemeClr val="bg2">
                    <a:lumMod val="10000"/>
                  </a:schemeClr>
                </a:solidFill>
              </a:rPr>
              <a:t>Eiji</a:t>
            </a:r>
            <a:r>
              <a:rPr lang="en-US" altLang="ja-JP" dirty="0">
                <a:solidFill>
                  <a:schemeClr val="bg2">
                    <a:lumMod val="10000"/>
                  </a:schemeClr>
                </a:solidFill>
              </a:rPr>
              <a:t> Toyoda and created a system called the Toyota Production System</a:t>
            </a:r>
          </a:p>
        </p:txBody>
      </p:sp>
      <p:sp>
        <p:nvSpPr>
          <p:cNvPr id="8" name="TextBox 7">
            <a:extLst>
              <a:ext uri="{FF2B5EF4-FFF2-40B4-BE49-F238E27FC236}">
                <a16:creationId xmlns:a16="http://schemas.microsoft.com/office/drawing/2014/main" id="{A38CF654-85FA-8C7C-C1C6-6CFDEDF0811B}"/>
              </a:ext>
            </a:extLst>
          </p:cNvPr>
          <p:cNvSpPr txBox="1"/>
          <p:nvPr/>
        </p:nvSpPr>
        <p:spPr>
          <a:xfrm>
            <a:off x="2000416" y="323813"/>
            <a:ext cx="1708645"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Introduction</a:t>
            </a:r>
          </a:p>
        </p:txBody>
      </p:sp>
      <p:sp>
        <p:nvSpPr>
          <p:cNvPr id="2" name="AutoShape 9">
            <a:extLst>
              <a:ext uri="{FF2B5EF4-FFF2-40B4-BE49-F238E27FC236}">
                <a16:creationId xmlns:a16="http://schemas.microsoft.com/office/drawing/2014/main" id="{75827653-4C05-7549-6879-B95615292B6A}"/>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10">
            <a:extLst>
              <a:ext uri="{FF2B5EF4-FFF2-40B4-BE49-F238E27FC236}">
                <a16:creationId xmlns:a16="http://schemas.microsoft.com/office/drawing/2014/main" id="{67F2B63E-4789-151E-66F9-EE66085B91D1}"/>
              </a:ext>
            </a:extLst>
          </p:cNvPr>
          <p:cNvSpPr>
            <a:spLocks noChangeArrowheads="1"/>
          </p:cNvSpPr>
          <p:nvPr/>
        </p:nvSpPr>
        <p:spPr bwMode="auto">
          <a:xfrm>
            <a:off x="1253924"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5" name="AutoShape 11">
            <a:extLst>
              <a:ext uri="{FF2B5EF4-FFF2-40B4-BE49-F238E27FC236}">
                <a16:creationId xmlns:a16="http://schemas.microsoft.com/office/drawing/2014/main" id="{4787A728-AE33-740F-E415-D1094C6C1C66}"/>
              </a:ext>
            </a:extLst>
          </p:cNvPr>
          <p:cNvSpPr>
            <a:spLocks noChangeArrowheads="1"/>
          </p:cNvSpPr>
          <p:nvPr/>
        </p:nvSpPr>
        <p:spPr bwMode="auto">
          <a:xfrm>
            <a:off x="940249"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Tree>
    <p:extLst>
      <p:ext uri="{BB962C8B-B14F-4D97-AF65-F5344CB8AC3E}">
        <p14:creationId xmlns:p14="http://schemas.microsoft.com/office/powerpoint/2010/main" val="23617334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C9EC4E-8EB2-0646-8B2D-08C2C5129BEE}"/>
              </a:ext>
            </a:extLst>
          </p:cNvPr>
          <p:cNvSpPr>
            <a:spLocks noGrp="1"/>
          </p:cNvSpPr>
          <p:nvPr>
            <p:ph type="title"/>
          </p:nvPr>
        </p:nvSpPr>
        <p:spPr/>
        <p:txBody>
          <a:bodyPr>
            <a:normAutofit/>
          </a:bodyPr>
          <a:lstStyle/>
          <a:p>
            <a:r>
              <a:rPr lang="en-US" sz="4000" dirty="0">
                <a:latin typeface="Roboto Medium"/>
                <a:ea typeface="Roboto Medium"/>
                <a:cs typeface="Roboto Medium"/>
              </a:rPr>
              <a:t>Lean Fundamentals</a:t>
            </a:r>
            <a:endParaRPr lang="en-US" sz="4000"/>
          </a:p>
        </p:txBody>
      </p:sp>
      <p:sp>
        <p:nvSpPr>
          <p:cNvPr id="3" name="Content Placeholder 2">
            <a:extLst>
              <a:ext uri="{FF2B5EF4-FFF2-40B4-BE49-F238E27FC236}">
                <a16:creationId xmlns:a16="http://schemas.microsoft.com/office/drawing/2014/main" id="{E8E2E4E3-D96B-B7BF-C9D6-DE152383063F}"/>
              </a:ext>
            </a:extLst>
          </p:cNvPr>
          <p:cNvSpPr>
            <a:spLocks noGrp="1"/>
          </p:cNvSpPr>
          <p:nvPr>
            <p:ph idx="1"/>
          </p:nvPr>
        </p:nvSpPr>
        <p:spPr/>
        <p:txBody>
          <a:bodyPr vert="horz" lIns="91440" tIns="45720" rIns="91440" bIns="45720" rtlCol="0" anchor="t">
            <a:normAutofit/>
          </a:bodyPr>
          <a:lstStyle/>
          <a:p>
            <a:r>
              <a:rPr lang="en-US" b="1" dirty="0">
                <a:latin typeface="Roboto"/>
                <a:ea typeface="Roboto"/>
                <a:cs typeface="Roboto"/>
              </a:rPr>
              <a:t>Objectives</a:t>
            </a:r>
            <a:endParaRPr lang="en-US" b="1" dirty="0"/>
          </a:p>
          <a:p>
            <a:pPr lvl="1"/>
            <a:r>
              <a:rPr lang="en-US" dirty="0">
                <a:latin typeface="Arial"/>
                <a:cs typeface="Arial"/>
              </a:rPr>
              <a:t>Identify and explain core lean concepts</a:t>
            </a:r>
          </a:p>
          <a:p>
            <a:pPr lvl="1"/>
            <a:r>
              <a:rPr lang="en-US" dirty="0">
                <a:latin typeface="Arial"/>
                <a:cs typeface="Arial"/>
              </a:rPr>
              <a:t>Define and distinguish Value Added from Non Value Added activities</a:t>
            </a:r>
          </a:p>
          <a:p>
            <a:pPr lvl="1"/>
            <a:r>
              <a:rPr lang="en-US" dirty="0">
                <a:latin typeface="Arial"/>
                <a:ea typeface="Roboto"/>
                <a:cs typeface="Arial"/>
              </a:rPr>
              <a:t>Define “waste”</a:t>
            </a:r>
          </a:p>
          <a:p>
            <a:pPr lvl="1"/>
            <a:r>
              <a:rPr lang="en-US" dirty="0">
                <a:latin typeface="Arial"/>
                <a:ea typeface="Roboto"/>
                <a:cs typeface="Arial"/>
              </a:rPr>
              <a:t>Identify the 8 Wastes</a:t>
            </a:r>
          </a:p>
          <a:p>
            <a:pPr lvl="1"/>
            <a:r>
              <a:rPr lang="en-US" dirty="0">
                <a:latin typeface="Arial"/>
                <a:ea typeface="Roboto"/>
                <a:cs typeface="Arial"/>
              </a:rPr>
              <a:t>Define philosophy and principles of continuous improvement</a:t>
            </a:r>
          </a:p>
          <a:p>
            <a:pPr lvl="1"/>
            <a:r>
              <a:rPr lang="en-US" dirty="0">
                <a:latin typeface="Arial"/>
                <a:ea typeface="Roboto"/>
                <a:cs typeface="Arial"/>
              </a:rPr>
              <a:t>Conduct flow production exercise</a:t>
            </a:r>
            <a:endParaRPr lang="en-US" dirty="0">
              <a:ea typeface="Roboto"/>
            </a:endParaRPr>
          </a:p>
        </p:txBody>
      </p:sp>
      <p:sp>
        <p:nvSpPr>
          <p:cNvPr id="5" name="Footer Placeholder 4">
            <a:extLst>
              <a:ext uri="{FF2B5EF4-FFF2-40B4-BE49-F238E27FC236}">
                <a16:creationId xmlns:a16="http://schemas.microsoft.com/office/drawing/2014/main" id="{FA173919-58D6-288F-CC26-BC9FA5250CE8}"/>
              </a:ext>
            </a:extLst>
          </p:cNvPr>
          <p:cNvSpPr>
            <a:spLocks noGrp="1"/>
          </p:cNvSpPr>
          <p:nvPr>
            <p:ph type="ftr" sz="quarter" idx="11"/>
          </p:nvPr>
        </p:nvSpPr>
        <p:spPr/>
        <p:txBody>
          <a:bodyPr/>
          <a:lstStyle/>
          <a:p>
            <a:r>
              <a:rPr lang="en-US"/>
              <a:t>© Lean Horizons Consulting, LLC 2023. All Rights Reserved</a:t>
            </a:r>
            <a:endParaRPr lang="en-US" dirty="0"/>
          </a:p>
        </p:txBody>
      </p:sp>
      <p:sp>
        <p:nvSpPr>
          <p:cNvPr id="6" name="Slide Number Placeholder 5">
            <a:extLst>
              <a:ext uri="{FF2B5EF4-FFF2-40B4-BE49-F238E27FC236}">
                <a16:creationId xmlns:a16="http://schemas.microsoft.com/office/drawing/2014/main" id="{50526313-5A43-C57F-8D5F-46359D3CAFD8}"/>
              </a:ext>
            </a:extLst>
          </p:cNvPr>
          <p:cNvSpPr>
            <a:spLocks noGrp="1"/>
          </p:cNvSpPr>
          <p:nvPr>
            <p:ph type="sldNum" sz="quarter" idx="12"/>
          </p:nvPr>
        </p:nvSpPr>
        <p:spPr/>
        <p:txBody>
          <a:bodyPr/>
          <a:lstStyle/>
          <a:p>
            <a:fld id="{CC6D4273-7FC1-0947-B9FE-19CB3C0D1FB6}" type="slidenum">
              <a:rPr lang="en-US" smtClean="0"/>
              <a:t>13</a:t>
            </a:fld>
            <a:endParaRPr lang="en-US"/>
          </a:p>
        </p:txBody>
      </p:sp>
    </p:spTree>
    <p:extLst>
      <p:ext uri="{BB962C8B-B14F-4D97-AF65-F5344CB8AC3E}">
        <p14:creationId xmlns:p14="http://schemas.microsoft.com/office/powerpoint/2010/main" val="27300569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07838C41-1EE5-BD1F-22B5-E1F30F03D632}"/>
              </a:ext>
            </a:extLst>
          </p:cNvPr>
          <p:cNvSpPr>
            <a:spLocks noGrp="1"/>
          </p:cNvSpPr>
          <p:nvPr>
            <p:ph type="title"/>
          </p:nvPr>
        </p:nvSpPr>
        <p:spPr/>
        <p:txBody>
          <a:bodyPr>
            <a:normAutofit/>
          </a:bodyPr>
          <a:lstStyle/>
          <a:p>
            <a:r>
              <a:rPr lang="en-US" sz="4000" dirty="0">
                <a:solidFill>
                  <a:schemeClr val="bg2">
                    <a:lumMod val="10000"/>
                  </a:schemeClr>
                </a:solidFill>
                <a:latin typeface="Roboto Medium"/>
                <a:ea typeface="Roboto Medium"/>
                <a:cs typeface="Roboto Medium"/>
              </a:rPr>
              <a:t>Core Lean Concepts</a:t>
            </a:r>
          </a:p>
        </p:txBody>
      </p:sp>
      <p:sp>
        <p:nvSpPr>
          <p:cNvPr id="4" name="Footer Placeholder 3">
            <a:extLst>
              <a:ext uri="{FF2B5EF4-FFF2-40B4-BE49-F238E27FC236}">
                <a16:creationId xmlns:a16="http://schemas.microsoft.com/office/drawing/2014/main" id="{CB1F8C30-D81C-1E27-D266-2BC421C72FD6}"/>
              </a:ext>
            </a:extLst>
          </p:cNvPr>
          <p:cNvSpPr>
            <a:spLocks noGrp="1"/>
          </p:cNvSpPr>
          <p:nvPr>
            <p:ph type="ftr" sz="quarter" idx="11"/>
          </p:nvPr>
        </p:nvSpPr>
        <p:spPr/>
        <p:txBody>
          <a:bodyPr/>
          <a:lstStyle/>
          <a:p>
            <a:r>
              <a:rPr lang="en-US"/>
              <a:t>© Lean Horizons Consulting, LLC 2023. All Rights Reserved</a:t>
            </a:r>
            <a:endParaRPr lang="en-US" dirty="0"/>
          </a:p>
        </p:txBody>
      </p:sp>
      <p:sp>
        <p:nvSpPr>
          <p:cNvPr id="5" name="Slide Number Placeholder 4">
            <a:extLst>
              <a:ext uri="{FF2B5EF4-FFF2-40B4-BE49-F238E27FC236}">
                <a16:creationId xmlns:a16="http://schemas.microsoft.com/office/drawing/2014/main" id="{1AA34B74-93DA-5F21-CF4A-77FE692D026C}"/>
              </a:ext>
            </a:extLst>
          </p:cNvPr>
          <p:cNvSpPr>
            <a:spLocks noGrp="1"/>
          </p:cNvSpPr>
          <p:nvPr>
            <p:ph type="sldNum" sz="quarter" idx="12"/>
          </p:nvPr>
        </p:nvSpPr>
        <p:spPr/>
        <p:txBody>
          <a:bodyPr/>
          <a:lstStyle/>
          <a:p>
            <a:fld id="{CC6D4273-7FC1-0947-B9FE-19CB3C0D1FB6}" type="slidenum">
              <a:rPr lang="en-US" smtClean="0"/>
              <a:t>14</a:t>
            </a:fld>
            <a:endParaRPr lang="en-US"/>
          </a:p>
        </p:txBody>
      </p:sp>
      <p:sp>
        <p:nvSpPr>
          <p:cNvPr id="12" name="Rectangle 11">
            <a:extLst>
              <a:ext uri="{FF2B5EF4-FFF2-40B4-BE49-F238E27FC236}">
                <a16:creationId xmlns:a16="http://schemas.microsoft.com/office/drawing/2014/main" id="{B0B54629-2D9F-D857-EE31-4C21CDD2E4A2}"/>
              </a:ext>
            </a:extLst>
          </p:cNvPr>
          <p:cNvSpPr>
            <a:spLocks/>
          </p:cNvSpPr>
          <p:nvPr/>
        </p:nvSpPr>
        <p:spPr>
          <a:xfrm>
            <a:off x="940249" y="1934137"/>
            <a:ext cx="5722970" cy="452898"/>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lvl="2" defTabSz="584200"/>
            <a:r>
              <a:rPr kumimoji="0" lang="en-US" sz="28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Specify Value</a:t>
            </a:r>
          </a:p>
        </p:txBody>
      </p:sp>
      <p:sp>
        <p:nvSpPr>
          <p:cNvPr id="13" name="Rectangle 12">
            <a:extLst>
              <a:ext uri="{FF2B5EF4-FFF2-40B4-BE49-F238E27FC236}">
                <a16:creationId xmlns:a16="http://schemas.microsoft.com/office/drawing/2014/main" id="{DF4EAF32-E1A1-D4A2-9FCD-515A5F96DE04}"/>
              </a:ext>
            </a:extLst>
          </p:cNvPr>
          <p:cNvSpPr>
            <a:spLocks/>
          </p:cNvSpPr>
          <p:nvPr/>
        </p:nvSpPr>
        <p:spPr>
          <a:xfrm>
            <a:off x="940249" y="2722192"/>
            <a:ext cx="5722970" cy="452898"/>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Identify the Value Stream</a:t>
            </a:r>
          </a:p>
        </p:txBody>
      </p:sp>
      <p:sp>
        <p:nvSpPr>
          <p:cNvPr id="14" name="Rectangle 13">
            <a:extLst>
              <a:ext uri="{FF2B5EF4-FFF2-40B4-BE49-F238E27FC236}">
                <a16:creationId xmlns:a16="http://schemas.microsoft.com/office/drawing/2014/main" id="{FBE3767D-7BA2-9FC1-934C-8354A66E63AC}"/>
              </a:ext>
            </a:extLst>
          </p:cNvPr>
          <p:cNvSpPr>
            <a:spLocks/>
          </p:cNvSpPr>
          <p:nvPr/>
        </p:nvSpPr>
        <p:spPr>
          <a:xfrm>
            <a:off x="940249" y="3507769"/>
            <a:ext cx="5722970" cy="452898"/>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algn="l" defTabSz="584200"/>
            <a:r>
              <a:rPr kumimoji="0" lang="en-US" sz="28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Flow</a:t>
            </a:r>
          </a:p>
        </p:txBody>
      </p:sp>
      <p:sp>
        <p:nvSpPr>
          <p:cNvPr id="15" name="Rectangle 14">
            <a:extLst>
              <a:ext uri="{FF2B5EF4-FFF2-40B4-BE49-F238E27FC236}">
                <a16:creationId xmlns:a16="http://schemas.microsoft.com/office/drawing/2014/main" id="{D87C53B4-48B2-AD29-AFD8-1C5B6871B984}"/>
              </a:ext>
            </a:extLst>
          </p:cNvPr>
          <p:cNvSpPr/>
          <p:nvPr/>
        </p:nvSpPr>
        <p:spPr>
          <a:xfrm>
            <a:off x="940249" y="4293346"/>
            <a:ext cx="5722970" cy="452898"/>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Pull</a:t>
            </a:r>
          </a:p>
        </p:txBody>
      </p:sp>
      <p:sp>
        <p:nvSpPr>
          <p:cNvPr id="16" name="Rectangle 15">
            <a:extLst>
              <a:ext uri="{FF2B5EF4-FFF2-40B4-BE49-F238E27FC236}">
                <a16:creationId xmlns:a16="http://schemas.microsoft.com/office/drawing/2014/main" id="{589CEA7D-9312-9D7A-0D93-C8AE0124D074}"/>
              </a:ext>
            </a:extLst>
          </p:cNvPr>
          <p:cNvSpPr>
            <a:spLocks/>
          </p:cNvSpPr>
          <p:nvPr/>
        </p:nvSpPr>
        <p:spPr>
          <a:xfrm>
            <a:off x="940249" y="5078923"/>
            <a:ext cx="5722970" cy="452898"/>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Perfection</a:t>
            </a:r>
          </a:p>
        </p:txBody>
      </p:sp>
      <p:sp>
        <p:nvSpPr>
          <p:cNvPr id="20" name="Title 1">
            <a:extLst>
              <a:ext uri="{FF2B5EF4-FFF2-40B4-BE49-F238E27FC236}">
                <a16:creationId xmlns:a16="http://schemas.microsoft.com/office/drawing/2014/main" id="{9B1715EE-FB55-A550-4CE5-A4D05A73859A}"/>
              </a:ext>
            </a:extLst>
          </p:cNvPr>
          <p:cNvSpPr txBox="1">
            <a:spLocks/>
          </p:cNvSpPr>
          <p:nvPr/>
        </p:nvSpPr>
        <p:spPr>
          <a:xfrm>
            <a:off x="699910" y="681038"/>
            <a:ext cx="9815689" cy="1009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endParaRPr lang="en-US" dirty="0">
              <a:solidFill>
                <a:schemeClr val="bg2">
                  <a:lumMod val="10000"/>
                </a:schemeClr>
              </a:solidFill>
            </a:endParaRPr>
          </a:p>
        </p:txBody>
      </p:sp>
      <p:sp>
        <p:nvSpPr>
          <p:cNvPr id="9" name="AutoShape 9">
            <a:extLst>
              <a:ext uri="{FF2B5EF4-FFF2-40B4-BE49-F238E27FC236}">
                <a16:creationId xmlns:a16="http://schemas.microsoft.com/office/drawing/2014/main" id="{6044AFCF-593A-89DB-8FFD-B0F6D78F2E08}"/>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11">
            <a:extLst>
              <a:ext uri="{FF2B5EF4-FFF2-40B4-BE49-F238E27FC236}">
                <a16:creationId xmlns:a16="http://schemas.microsoft.com/office/drawing/2014/main" id="{58CB8F04-2946-C28D-CE55-D587EF9F8B9A}"/>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8" name="AutoShape 10">
            <a:extLst>
              <a:ext uri="{FF2B5EF4-FFF2-40B4-BE49-F238E27FC236}">
                <a16:creationId xmlns:a16="http://schemas.microsoft.com/office/drawing/2014/main" id="{AC45A982-22A8-3864-2EE2-182D24AF2DAD}"/>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9" name="TextBox 18">
            <a:extLst>
              <a:ext uri="{FF2B5EF4-FFF2-40B4-BE49-F238E27FC236}">
                <a16:creationId xmlns:a16="http://schemas.microsoft.com/office/drawing/2014/main" id="{F0829312-9117-46AB-EDB1-194D53CB9D78}"/>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Lean Fundamentals</a:t>
            </a:r>
          </a:p>
        </p:txBody>
      </p:sp>
    </p:spTree>
    <p:extLst>
      <p:ext uri="{BB962C8B-B14F-4D97-AF65-F5344CB8AC3E}">
        <p14:creationId xmlns:p14="http://schemas.microsoft.com/office/powerpoint/2010/main" val="17110932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itle 17">
            <a:extLst>
              <a:ext uri="{FF2B5EF4-FFF2-40B4-BE49-F238E27FC236}">
                <a16:creationId xmlns:a16="http://schemas.microsoft.com/office/drawing/2014/main" id="{F6505EEA-4B08-7022-F6C0-4E5F328981B5}"/>
              </a:ext>
            </a:extLst>
          </p:cNvPr>
          <p:cNvSpPr>
            <a:spLocks noGrp="1"/>
          </p:cNvSpPr>
          <p:nvPr>
            <p:ph type="title"/>
          </p:nvPr>
        </p:nvSpPr>
        <p:spPr/>
        <p:txBody>
          <a:bodyPr>
            <a:normAutofit/>
          </a:bodyPr>
          <a:lstStyle/>
          <a:p>
            <a:r>
              <a:rPr lang="en-US" sz="4000" dirty="0">
                <a:latin typeface="Roboto Medium"/>
                <a:ea typeface="Roboto Medium"/>
                <a:cs typeface="Roboto Medium"/>
              </a:rPr>
              <a:t>Value Added vs. Non-Value Added</a:t>
            </a:r>
          </a:p>
        </p:txBody>
      </p:sp>
      <p:sp>
        <p:nvSpPr>
          <p:cNvPr id="4" name="Footer Placeholder 3">
            <a:extLst>
              <a:ext uri="{FF2B5EF4-FFF2-40B4-BE49-F238E27FC236}">
                <a16:creationId xmlns:a16="http://schemas.microsoft.com/office/drawing/2014/main" id="{A360F320-8A36-CC33-9741-E639D9007377}"/>
              </a:ext>
            </a:extLst>
          </p:cNvPr>
          <p:cNvSpPr>
            <a:spLocks noGrp="1"/>
          </p:cNvSpPr>
          <p:nvPr>
            <p:ph type="ftr" sz="quarter" idx="11"/>
          </p:nvPr>
        </p:nvSpPr>
        <p:spPr/>
        <p:txBody>
          <a:bodyPr/>
          <a:lstStyle/>
          <a:p>
            <a:r>
              <a:rPr lang="en-US"/>
              <a:t>© Lean Horizons Consulting, LLC 2023. All Rights Reserved</a:t>
            </a:r>
            <a:endParaRPr lang="en-US" dirty="0"/>
          </a:p>
        </p:txBody>
      </p:sp>
      <p:sp>
        <p:nvSpPr>
          <p:cNvPr id="5" name="Slide Number Placeholder 4">
            <a:extLst>
              <a:ext uri="{FF2B5EF4-FFF2-40B4-BE49-F238E27FC236}">
                <a16:creationId xmlns:a16="http://schemas.microsoft.com/office/drawing/2014/main" id="{E7725E3B-1EF4-AA11-87DC-D90875938207}"/>
              </a:ext>
            </a:extLst>
          </p:cNvPr>
          <p:cNvSpPr>
            <a:spLocks noGrp="1"/>
          </p:cNvSpPr>
          <p:nvPr>
            <p:ph type="sldNum" sz="quarter" idx="12"/>
          </p:nvPr>
        </p:nvSpPr>
        <p:spPr/>
        <p:txBody>
          <a:bodyPr/>
          <a:lstStyle/>
          <a:p>
            <a:fld id="{CC6D4273-7FC1-0947-B9FE-19CB3C0D1FB6}" type="slidenum">
              <a:rPr lang="en-US" smtClean="0"/>
              <a:t>15</a:t>
            </a:fld>
            <a:endParaRPr lang="en-US"/>
          </a:p>
        </p:txBody>
      </p:sp>
      <p:grpSp>
        <p:nvGrpSpPr>
          <p:cNvPr id="15" name="Group 14">
            <a:extLst>
              <a:ext uri="{FF2B5EF4-FFF2-40B4-BE49-F238E27FC236}">
                <a16:creationId xmlns:a16="http://schemas.microsoft.com/office/drawing/2014/main" id="{D994E87C-FE66-B367-E7E9-8CF873F952A4}"/>
              </a:ext>
            </a:extLst>
          </p:cNvPr>
          <p:cNvGrpSpPr/>
          <p:nvPr/>
        </p:nvGrpSpPr>
        <p:grpSpPr>
          <a:xfrm>
            <a:off x="1901073" y="1998892"/>
            <a:ext cx="8455805" cy="3837376"/>
            <a:chOff x="1665023" y="1002307"/>
            <a:chExt cx="20243187" cy="9186674"/>
          </a:xfrm>
        </p:grpSpPr>
        <p:sp>
          <p:nvSpPr>
            <p:cNvPr id="11" name="Rectangle 10">
              <a:extLst>
                <a:ext uri="{FF2B5EF4-FFF2-40B4-BE49-F238E27FC236}">
                  <a16:creationId xmlns:a16="http://schemas.microsoft.com/office/drawing/2014/main" id="{CD820E6C-7EFF-732F-2D50-BE4C86A54534}"/>
                </a:ext>
              </a:extLst>
            </p:cNvPr>
            <p:cNvSpPr/>
            <p:nvPr/>
          </p:nvSpPr>
          <p:spPr>
            <a:xfrm>
              <a:off x="1665023" y="1002307"/>
              <a:ext cx="9359592" cy="4224417"/>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en-US" b="1"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Non-Value Adding Processes</a:t>
              </a:r>
            </a:p>
            <a:p>
              <a:pPr marL="0" marR="0" indent="0" algn="ctr" defTabSz="584200" rtl="0" fontAlgn="auto" latinLnBrk="0" hangingPunct="0">
                <a:lnSpc>
                  <a:spcPct val="100000"/>
                </a:lnSpc>
                <a:spcBef>
                  <a:spcPts val="0"/>
                </a:spcBef>
                <a:spcAft>
                  <a:spcPts val="0"/>
                </a:spcAft>
                <a:buClrTx/>
                <a:buSzTx/>
                <a:buFontTx/>
                <a:buNone/>
                <a:tabLst/>
              </a:pPr>
              <a:r>
                <a:rPr lang="en-US" b="1"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rPr>
                <a:t>(NVA)</a:t>
              </a:r>
              <a:br>
                <a:rPr lang="en-US" b="1"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rPr>
              </a:br>
              <a:endParaRPr lang="en-US" b="1"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endParaRPr>
            </a:p>
            <a:p>
              <a:pPr marL="0" marR="0" indent="0" algn="ctr" defTabSz="584200" rtl="0" fontAlgn="auto" latinLnBrk="0" hangingPunct="0">
                <a:lnSpc>
                  <a:spcPct val="100000"/>
                </a:lnSpc>
                <a:spcBef>
                  <a:spcPts val="0"/>
                </a:spcBef>
                <a:spcAft>
                  <a:spcPts val="0"/>
                </a:spcAft>
                <a:buClrTx/>
                <a:buSzTx/>
                <a:buFontTx/>
                <a:buNone/>
                <a:tabLst/>
              </a:pPr>
              <a:r>
                <a:rPr lang="en-US" altLang="en-US" dirty="0">
                  <a:solidFill>
                    <a:schemeClr val="bg1"/>
                  </a:solidFill>
                  <a:latin typeface="Roboto" panose="02000000000000000000" pitchFamily="2" charset="0"/>
                  <a:ea typeface="Roboto" panose="02000000000000000000" pitchFamily="2" charset="0"/>
                  <a:cs typeface="Roboto" panose="02000000000000000000" pitchFamily="2" charset="0"/>
                </a:rPr>
                <a:t>Those process steps that take time, resources, or space, but do not add value to the product or service</a:t>
              </a:r>
              <a:endPar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endParaRPr>
            </a:p>
          </p:txBody>
        </p:sp>
        <p:sp>
          <p:nvSpPr>
            <p:cNvPr id="12" name="Rectangle 11">
              <a:extLst>
                <a:ext uri="{FF2B5EF4-FFF2-40B4-BE49-F238E27FC236}">
                  <a16:creationId xmlns:a16="http://schemas.microsoft.com/office/drawing/2014/main" id="{AC79534B-BD58-AD3E-AD16-A47315F8DEC5}"/>
                </a:ext>
              </a:extLst>
            </p:cNvPr>
            <p:cNvSpPr/>
            <p:nvPr/>
          </p:nvSpPr>
          <p:spPr>
            <a:xfrm>
              <a:off x="12544754" y="1002886"/>
              <a:ext cx="9363456" cy="4224417"/>
            </a:xfrm>
            <a:prstGeom prst="rect">
              <a:avLst/>
            </a:prstGeom>
            <a:solidFill>
              <a:srgbClr val="FFB627"/>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en-US" b="1"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Value Adding Processes</a:t>
              </a:r>
            </a:p>
            <a:p>
              <a:pPr marL="0" marR="0" indent="0" algn="ctr" defTabSz="584200" rtl="0" fontAlgn="auto" latinLnBrk="0" hangingPunct="0">
                <a:lnSpc>
                  <a:spcPct val="100000"/>
                </a:lnSpc>
                <a:spcBef>
                  <a:spcPts val="0"/>
                </a:spcBef>
                <a:spcAft>
                  <a:spcPts val="0"/>
                </a:spcAft>
                <a:buClrTx/>
                <a:buSzTx/>
                <a:buFontTx/>
                <a:buNone/>
                <a:tabLst/>
              </a:pPr>
              <a:br>
                <a:rPr lang="en-US" altLang="en-US" dirty="0">
                  <a:latin typeface="Roboto" panose="02000000000000000000" pitchFamily="2" charset="0"/>
                  <a:ea typeface="Roboto" panose="02000000000000000000" pitchFamily="2" charset="0"/>
                  <a:cs typeface="Roboto" panose="02000000000000000000" pitchFamily="2" charset="0"/>
                </a:rPr>
              </a:br>
              <a:r>
                <a:rPr lang="en-US" altLang="en-US" dirty="0">
                  <a:latin typeface="Roboto" panose="02000000000000000000" pitchFamily="2" charset="0"/>
                  <a:ea typeface="Roboto" panose="02000000000000000000" pitchFamily="2" charset="0"/>
                  <a:cs typeface="Roboto" panose="02000000000000000000" pitchFamily="2" charset="0"/>
                </a:rPr>
                <a:t>A process step that transforms or shapes a product or service which is eventually sold to a customer</a:t>
              </a:r>
            </a:p>
            <a:p>
              <a:pPr marL="0" marR="0" indent="0" algn="ctr" defTabSz="584200" rtl="0" fontAlgn="auto" latinLnBrk="0" hangingPunct="0">
                <a:lnSpc>
                  <a:spcPct val="100000"/>
                </a:lnSpc>
                <a:spcBef>
                  <a:spcPts val="0"/>
                </a:spcBef>
                <a:spcAft>
                  <a:spcPts val="0"/>
                </a:spcAft>
                <a:buClrTx/>
                <a:buSzTx/>
                <a:buFontTx/>
                <a:buNone/>
                <a:tabLst/>
              </a:pPr>
              <a:endParaRPr kumimoji="0" lang="en-US"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endParaRPr>
            </a:p>
          </p:txBody>
        </p:sp>
        <p:sp>
          <p:nvSpPr>
            <p:cNvPr id="13" name="TextBox 12">
              <a:extLst>
                <a:ext uri="{FF2B5EF4-FFF2-40B4-BE49-F238E27FC236}">
                  <a16:creationId xmlns:a16="http://schemas.microsoft.com/office/drawing/2014/main" id="{0D8D35FC-DC8A-922F-C8D6-06C9882088ED}"/>
                </a:ext>
              </a:extLst>
            </p:cNvPr>
            <p:cNvSpPr txBox="1"/>
            <p:nvPr/>
          </p:nvSpPr>
          <p:spPr>
            <a:xfrm>
              <a:off x="12544754" y="6632957"/>
              <a:ext cx="8861755" cy="223501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112713" marR="0" indent="-112713" algn="l" defTabSz="825500" rtl="0" fontAlgn="auto" latinLnBrk="0" hangingPunct="0">
                <a:lnSpc>
                  <a:spcPct val="100000"/>
                </a:lnSpc>
                <a:spcBef>
                  <a:spcPts val="0"/>
                </a:spcBef>
                <a:spcAft>
                  <a:spcPts val="0"/>
                </a:spcAft>
                <a:buClrTx/>
                <a:buSzTx/>
                <a:buFont typeface="Arial" panose="020B0604020202020204" pitchFamily="34" charset="0"/>
                <a:buChar char="•"/>
                <a:tabLst/>
              </a:pPr>
              <a:r>
                <a:rPr kumimoji="0" lang="en-US" b="0" i="0" u="none" strike="noStrike" cap="none" spc="0" normalizeH="0" baseline="0" dirty="0">
                  <a:ln>
                    <a:noFill/>
                  </a:ln>
                  <a:solidFill>
                    <a:schemeClr val="bg2">
                      <a:lumMod val="10000"/>
                    </a:schemeClr>
                  </a:solidFill>
                  <a:effectLst/>
                  <a:uFillTx/>
                  <a:latin typeface="Roboto" panose="02000000000000000000" pitchFamily="2" charset="0"/>
                  <a:ea typeface="Roboto" panose="02000000000000000000" pitchFamily="2" charset="0"/>
                  <a:cs typeface="Roboto" panose="02000000000000000000" pitchFamily="2" charset="0"/>
                  <a:sym typeface="Roboto"/>
                </a:rPr>
                <a:t>Something the customer wants</a:t>
              </a:r>
            </a:p>
            <a:p>
              <a:pPr marL="112713" marR="0" indent="-112713" algn="l" defTabSz="825500" rtl="0" fontAlgn="auto" latinLnBrk="0" hangingPunct="0">
                <a:lnSpc>
                  <a:spcPct val="100000"/>
                </a:lnSpc>
                <a:spcBef>
                  <a:spcPts val="0"/>
                </a:spcBef>
                <a:spcAft>
                  <a:spcPts val="0"/>
                </a:spcAft>
                <a:buClrTx/>
                <a:buSzTx/>
                <a:buFont typeface="Arial" panose="020B0604020202020204" pitchFamily="34" charset="0"/>
                <a:buChar char="•"/>
                <a:tabLst/>
              </a:pPr>
              <a:r>
                <a:rPr kumimoji="0" lang="en-US" b="0" i="0" u="none" strike="noStrike" cap="none" spc="0" normalizeH="0" baseline="0" dirty="0">
                  <a:ln>
                    <a:noFill/>
                  </a:ln>
                  <a:solidFill>
                    <a:schemeClr val="bg2">
                      <a:lumMod val="10000"/>
                    </a:schemeClr>
                  </a:solidFill>
                  <a:effectLst/>
                  <a:uFillTx/>
                  <a:latin typeface="Roboto" panose="02000000000000000000" pitchFamily="2" charset="0"/>
                  <a:ea typeface="Roboto" panose="02000000000000000000" pitchFamily="2" charset="0"/>
                  <a:cs typeface="Roboto" panose="02000000000000000000" pitchFamily="2" charset="0"/>
                  <a:sym typeface="Roboto"/>
                </a:rPr>
                <a:t>Transforms the product or service</a:t>
              </a:r>
            </a:p>
            <a:p>
              <a:pPr marL="112713" marR="0" indent="-112713" algn="l" defTabSz="825500" rtl="0" fontAlgn="auto" latinLnBrk="0" hangingPunct="0">
                <a:lnSpc>
                  <a:spcPct val="100000"/>
                </a:lnSpc>
                <a:spcBef>
                  <a:spcPts val="0"/>
                </a:spcBef>
                <a:spcAft>
                  <a:spcPts val="0"/>
                </a:spcAft>
                <a:buClrTx/>
                <a:buSzTx/>
                <a:buFont typeface="Arial" panose="020B0604020202020204" pitchFamily="34" charset="0"/>
                <a:buChar char="•"/>
                <a:tabLst/>
              </a:pPr>
              <a:r>
                <a:rPr kumimoji="0" lang="en-US" b="0" i="0" u="none" strike="noStrike" cap="none" spc="0" normalizeH="0" baseline="0" dirty="0">
                  <a:ln>
                    <a:noFill/>
                  </a:ln>
                  <a:solidFill>
                    <a:schemeClr val="bg2">
                      <a:lumMod val="10000"/>
                    </a:schemeClr>
                  </a:solidFill>
                  <a:effectLst/>
                  <a:uFillTx/>
                  <a:latin typeface="Roboto" panose="02000000000000000000" pitchFamily="2" charset="0"/>
                  <a:ea typeface="Roboto" panose="02000000000000000000" pitchFamily="2" charset="0"/>
                  <a:cs typeface="Roboto" panose="02000000000000000000" pitchFamily="2" charset="0"/>
                  <a:sym typeface="Roboto"/>
                </a:rPr>
                <a:t>Done right the first time</a:t>
              </a:r>
            </a:p>
          </p:txBody>
        </p:sp>
        <p:sp>
          <p:nvSpPr>
            <p:cNvPr id="14" name="Rectangle 13">
              <a:extLst>
                <a:ext uri="{FF2B5EF4-FFF2-40B4-BE49-F238E27FC236}">
                  <a16:creationId xmlns:a16="http://schemas.microsoft.com/office/drawing/2014/main" id="{ED918269-26C2-CE52-12B2-B93E43161BFD}"/>
                </a:ext>
              </a:extLst>
            </p:cNvPr>
            <p:cNvSpPr/>
            <p:nvPr/>
          </p:nvSpPr>
          <p:spPr>
            <a:xfrm>
              <a:off x="1665023" y="5964564"/>
              <a:ext cx="9359592" cy="4224417"/>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b="1"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rPr>
                <a:t>“Business </a:t>
              </a:r>
              <a:r>
                <a:rPr kumimoji="0" lang="en-US" b="1"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Value Adding” Processes</a:t>
              </a:r>
            </a:p>
            <a:p>
              <a:pPr marL="0" marR="0" indent="0" algn="ctr" defTabSz="584200" rtl="0" fontAlgn="auto" latinLnBrk="0" hangingPunct="0">
                <a:lnSpc>
                  <a:spcPct val="100000"/>
                </a:lnSpc>
                <a:spcBef>
                  <a:spcPts val="0"/>
                </a:spcBef>
                <a:spcAft>
                  <a:spcPts val="0"/>
                </a:spcAft>
                <a:buClrTx/>
                <a:buSzTx/>
                <a:buFontTx/>
                <a:buNone/>
                <a:tabLst/>
              </a:pPr>
              <a:br>
                <a:rPr lang="en-US" altLang="en-US" dirty="0">
                  <a:solidFill>
                    <a:schemeClr val="bg1"/>
                  </a:solidFill>
                  <a:latin typeface="Roboto" panose="02000000000000000000" pitchFamily="2" charset="0"/>
                  <a:ea typeface="Roboto" panose="02000000000000000000" pitchFamily="2" charset="0"/>
                  <a:cs typeface="Roboto" panose="02000000000000000000" pitchFamily="2" charset="0"/>
                </a:rPr>
              </a:br>
              <a:r>
                <a:rPr lang="en-US" altLang="en-US" dirty="0">
                  <a:solidFill>
                    <a:schemeClr val="bg1"/>
                  </a:solidFill>
                  <a:latin typeface="Roboto" panose="02000000000000000000" pitchFamily="2" charset="0"/>
                  <a:ea typeface="Roboto" panose="02000000000000000000" pitchFamily="2" charset="0"/>
                  <a:cs typeface="Roboto" panose="02000000000000000000" pitchFamily="2" charset="0"/>
                </a:rPr>
                <a:t>A Non-Value Adding process that is required by law or regulation to operate the business</a:t>
              </a:r>
            </a:p>
            <a:p>
              <a:pPr marL="0" marR="0" indent="0" algn="ctr" defTabSz="584200" rtl="0" fontAlgn="auto" latinLnBrk="0" hangingPunct="0">
                <a:lnSpc>
                  <a:spcPct val="100000"/>
                </a:lnSpc>
                <a:spcBef>
                  <a:spcPts val="0"/>
                </a:spcBef>
                <a:spcAft>
                  <a:spcPts val="0"/>
                </a:spcAft>
                <a:buClrTx/>
                <a:buSzTx/>
                <a:buFontTx/>
                <a:buNone/>
                <a:tabLst/>
              </a:pPr>
              <a:r>
                <a:rPr lang="en-US" altLang="en-US" dirty="0">
                  <a:solidFill>
                    <a:schemeClr val="bg1"/>
                  </a:solidFill>
                  <a:latin typeface="Roboto" panose="02000000000000000000" pitchFamily="2" charset="0"/>
                  <a:ea typeface="Roboto" panose="02000000000000000000" pitchFamily="2" charset="0"/>
                  <a:cs typeface="Roboto" panose="02000000000000000000" pitchFamily="2" charset="0"/>
                </a:rPr>
                <a:t>Example: Tax Filing</a:t>
              </a:r>
              <a:endPar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endParaRPr>
            </a:p>
          </p:txBody>
        </p:sp>
      </p:grpSp>
      <p:sp>
        <p:nvSpPr>
          <p:cNvPr id="16" name="Title 1">
            <a:extLst>
              <a:ext uri="{FF2B5EF4-FFF2-40B4-BE49-F238E27FC236}">
                <a16:creationId xmlns:a16="http://schemas.microsoft.com/office/drawing/2014/main" id="{89E4A3BE-56AE-24A7-9500-23D05090D627}"/>
              </a:ext>
            </a:extLst>
          </p:cNvPr>
          <p:cNvSpPr txBox="1">
            <a:spLocks/>
          </p:cNvSpPr>
          <p:nvPr/>
        </p:nvSpPr>
        <p:spPr>
          <a:xfrm>
            <a:off x="699910" y="681038"/>
            <a:ext cx="9815689" cy="1009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endParaRPr lang="en-US" dirty="0"/>
          </a:p>
        </p:txBody>
      </p:sp>
      <p:sp>
        <p:nvSpPr>
          <p:cNvPr id="19" name="TextBox 18">
            <a:extLst>
              <a:ext uri="{FF2B5EF4-FFF2-40B4-BE49-F238E27FC236}">
                <a16:creationId xmlns:a16="http://schemas.microsoft.com/office/drawing/2014/main" id="{FD2B6FF9-2B40-8F42-437C-B180A22DEAC0}"/>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Lean Fundamentals</a:t>
            </a:r>
          </a:p>
        </p:txBody>
      </p:sp>
      <p:sp>
        <p:nvSpPr>
          <p:cNvPr id="2" name="AutoShape 9">
            <a:extLst>
              <a:ext uri="{FF2B5EF4-FFF2-40B4-BE49-F238E27FC236}">
                <a16:creationId xmlns:a16="http://schemas.microsoft.com/office/drawing/2014/main" id="{55CB5FD0-FA71-286C-7541-A436C210B823}"/>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3" name="AutoShape 11">
            <a:extLst>
              <a:ext uri="{FF2B5EF4-FFF2-40B4-BE49-F238E27FC236}">
                <a16:creationId xmlns:a16="http://schemas.microsoft.com/office/drawing/2014/main" id="{2BEE464A-D276-A7E8-FB96-5DC2282F5B33}"/>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6" name="AutoShape 10">
            <a:extLst>
              <a:ext uri="{FF2B5EF4-FFF2-40B4-BE49-F238E27FC236}">
                <a16:creationId xmlns:a16="http://schemas.microsoft.com/office/drawing/2014/main" id="{B80C082D-F527-7C1F-DB6B-AEB23EACD63E}"/>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Tree>
    <p:extLst>
      <p:ext uri="{BB962C8B-B14F-4D97-AF65-F5344CB8AC3E}">
        <p14:creationId xmlns:p14="http://schemas.microsoft.com/office/powerpoint/2010/main" val="30065612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0F75D42F-7867-FA6C-40B5-E8FBDADB39EB}"/>
              </a:ext>
            </a:extLst>
          </p:cNvPr>
          <p:cNvSpPr>
            <a:spLocks noGrp="1"/>
          </p:cNvSpPr>
          <p:nvPr>
            <p:ph type="title" idx="4294967295"/>
          </p:nvPr>
        </p:nvSpPr>
        <p:spPr>
          <a:xfrm>
            <a:off x="905585" y="821803"/>
            <a:ext cx="10515600" cy="919163"/>
          </a:xfrm>
        </p:spPr>
        <p:txBody>
          <a:bodyPr>
            <a:normAutofit fontScale="90000"/>
          </a:bodyPr>
          <a:lstStyle/>
          <a:p>
            <a:r>
              <a:rPr lang="en-US" sz="4400" dirty="0"/>
              <a:t>Tasks can only be defined as </a:t>
            </a:r>
            <a:br>
              <a:rPr lang="en-US" sz="4400" dirty="0"/>
            </a:br>
            <a:r>
              <a:rPr lang="en-US" sz="4400" dirty="0"/>
              <a:t>“Value-adding” by the customer</a:t>
            </a:r>
          </a:p>
        </p:txBody>
      </p:sp>
      <p:sp>
        <p:nvSpPr>
          <p:cNvPr id="3" name="Footer Placeholder 2">
            <a:extLst>
              <a:ext uri="{FF2B5EF4-FFF2-40B4-BE49-F238E27FC236}">
                <a16:creationId xmlns:a16="http://schemas.microsoft.com/office/drawing/2014/main" id="{68245A6A-7BC3-E07D-A7A8-AD3F25E003CD}"/>
              </a:ext>
            </a:extLst>
          </p:cNvPr>
          <p:cNvSpPr>
            <a:spLocks noGrp="1"/>
          </p:cNvSpPr>
          <p:nvPr>
            <p:ph type="ftr" sz="quarter" idx="11"/>
          </p:nvPr>
        </p:nvSpPr>
        <p:spPr/>
        <p:txBody>
          <a:bodyPr/>
          <a:lstStyle/>
          <a:p>
            <a:r>
              <a:rPr lang="en-US" sz="900"/>
              <a:t>© Lean Horizons Consulting, LLC 2023. All Rights Reserved</a:t>
            </a:r>
            <a:endParaRPr lang="en-US" sz="900" dirty="0"/>
          </a:p>
        </p:txBody>
      </p:sp>
      <p:sp>
        <p:nvSpPr>
          <p:cNvPr id="4" name="Slide Number Placeholder 3">
            <a:extLst>
              <a:ext uri="{FF2B5EF4-FFF2-40B4-BE49-F238E27FC236}">
                <a16:creationId xmlns:a16="http://schemas.microsoft.com/office/drawing/2014/main" id="{A755ECC6-7B60-E70F-09E0-A537E450F357}"/>
              </a:ext>
            </a:extLst>
          </p:cNvPr>
          <p:cNvSpPr>
            <a:spLocks noGrp="1"/>
          </p:cNvSpPr>
          <p:nvPr>
            <p:ph type="sldNum" sz="quarter" idx="12"/>
          </p:nvPr>
        </p:nvSpPr>
        <p:spPr/>
        <p:txBody>
          <a:bodyPr/>
          <a:lstStyle/>
          <a:p>
            <a:fld id="{CC6D4273-7FC1-0947-B9FE-19CB3C0D1FB6}" type="slidenum">
              <a:rPr lang="en-US" smtClean="0"/>
              <a:pPr/>
              <a:t>16</a:t>
            </a:fld>
            <a:endParaRPr lang="en-US" dirty="0"/>
          </a:p>
        </p:txBody>
      </p:sp>
      <p:pic>
        <p:nvPicPr>
          <p:cNvPr id="17" name="Picture 16" descr="A red emergency room sign in front of a building">
            <a:extLst>
              <a:ext uri="{FF2B5EF4-FFF2-40B4-BE49-F238E27FC236}">
                <a16:creationId xmlns:a16="http://schemas.microsoft.com/office/drawing/2014/main" id="{907CA127-A24D-19C3-0260-AFB461DE46B0}"/>
              </a:ext>
            </a:extLst>
          </p:cNvPr>
          <p:cNvPicPr>
            <a:picLocks noChangeAspect="1"/>
          </p:cNvPicPr>
          <p:nvPr/>
        </p:nvPicPr>
        <p:blipFill>
          <a:blip r:embed="rId2"/>
          <a:stretch>
            <a:fillRect/>
          </a:stretch>
        </p:blipFill>
        <p:spPr>
          <a:xfrm>
            <a:off x="905586" y="2178636"/>
            <a:ext cx="2148051" cy="3208652"/>
          </a:xfrm>
          <a:prstGeom prst="rect">
            <a:avLst/>
          </a:prstGeom>
        </p:spPr>
      </p:pic>
      <p:pic>
        <p:nvPicPr>
          <p:cNvPr id="19" name="Picture 18" descr="A roller coaster with people on it">
            <a:extLst>
              <a:ext uri="{FF2B5EF4-FFF2-40B4-BE49-F238E27FC236}">
                <a16:creationId xmlns:a16="http://schemas.microsoft.com/office/drawing/2014/main" id="{2BABE6B9-7BAA-2865-6F54-39AD94877BB9}"/>
              </a:ext>
            </a:extLst>
          </p:cNvPr>
          <p:cNvPicPr>
            <a:picLocks noChangeAspect="1"/>
          </p:cNvPicPr>
          <p:nvPr/>
        </p:nvPicPr>
        <p:blipFill>
          <a:blip r:embed="rId3"/>
          <a:stretch>
            <a:fillRect/>
          </a:stretch>
        </p:blipFill>
        <p:spPr>
          <a:xfrm>
            <a:off x="6717170" y="2178636"/>
            <a:ext cx="1805016" cy="3209544"/>
          </a:xfrm>
          <a:prstGeom prst="rect">
            <a:avLst/>
          </a:prstGeom>
        </p:spPr>
      </p:pic>
      <p:sp>
        <p:nvSpPr>
          <p:cNvPr id="20" name="Text Placeholder 3">
            <a:extLst>
              <a:ext uri="{FF2B5EF4-FFF2-40B4-BE49-F238E27FC236}">
                <a16:creationId xmlns:a16="http://schemas.microsoft.com/office/drawing/2014/main" id="{53CDEDC5-78E1-717B-DAB7-0B82D9684913}"/>
              </a:ext>
            </a:extLst>
          </p:cNvPr>
          <p:cNvSpPr txBox="1">
            <a:spLocks/>
          </p:cNvSpPr>
          <p:nvPr/>
        </p:nvSpPr>
        <p:spPr>
          <a:xfrm>
            <a:off x="3617524" y="2178636"/>
            <a:ext cx="2148840" cy="3209544"/>
          </a:xfrm>
          <a:prstGeom prst="rect">
            <a:avLst/>
          </a:prstGeom>
        </p:spPr>
        <p:txBody>
          <a:bodyPr>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ja-JP" sz="2400" dirty="0">
                <a:solidFill>
                  <a:schemeClr val="bg2">
                    <a:lumMod val="10000"/>
                  </a:schemeClr>
                </a:solidFill>
              </a:rPr>
              <a:t>How long will you spend at the hospital?</a:t>
            </a:r>
            <a:br>
              <a:rPr lang="en-US" altLang="ja-JP" sz="2400" dirty="0">
                <a:solidFill>
                  <a:schemeClr val="bg2">
                    <a:lumMod val="10000"/>
                  </a:schemeClr>
                </a:solidFill>
              </a:rPr>
            </a:br>
            <a:endParaRPr lang="en-US" altLang="ja-JP" sz="2400" dirty="0">
              <a:solidFill>
                <a:schemeClr val="bg2">
                  <a:lumMod val="10000"/>
                </a:schemeClr>
              </a:solidFill>
            </a:endParaRPr>
          </a:p>
          <a:p>
            <a:r>
              <a:rPr lang="en-US" altLang="ja-JP" sz="2400" dirty="0">
                <a:solidFill>
                  <a:schemeClr val="bg2">
                    <a:lumMod val="10000"/>
                  </a:schemeClr>
                </a:solidFill>
              </a:rPr>
              <a:t>Registration</a:t>
            </a:r>
          </a:p>
          <a:p>
            <a:r>
              <a:rPr lang="en-US" altLang="ja-JP" sz="2400" dirty="0">
                <a:solidFill>
                  <a:schemeClr val="bg2">
                    <a:lumMod val="10000"/>
                  </a:schemeClr>
                </a:solidFill>
              </a:rPr>
              <a:t>Waiting</a:t>
            </a:r>
          </a:p>
          <a:p>
            <a:r>
              <a:rPr lang="en-US" altLang="ja-JP" sz="2400" dirty="0">
                <a:solidFill>
                  <a:schemeClr val="bg2">
                    <a:lumMod val="10000"/>
                  </a:schemeClr>
                </a:solidFill>
              </a:rPr>
              <a:t>Pre-screen</a:t>
            </a:r>
          </a:p>
          <a:p>
            <a:r>
              <a:rPr lang="en-US" altLang="ja-JP" sz="2400" dirty="0">
                <a:solidFill>
                  <a:schemeClr val="bg2">
                    <a:lumMod val="10000"/>
                  </a:schemeClr>
                </a:solidFill>
              </a:rPr>
              <a:t>Diagnosis</a:t>
            </a:r>
          </a:p>
        </p:txBody>
      </p:sp>
      <p:sp>
        <p:nvSpPr>
          <p:cNvPr id="21" name="Text Placeholder 3">
            <a:extLst>
              <a:ext uri="{FF2B5EF4-FFF2-40B4-BE49-F238E27FC236}">
                <a16:creationId xmlns:a16="http://schemas.microsoft.com/office/drawing/2014/main" id="{76C619CA-9E5C-498E-B50A-0F5B88B8D734}"/>
              </a:ext>
            </a:extLst>
          </p:cNvPr>
          <p:cNvSpPr txBox="1">
            <a:spLocks/>
          </p:cNvSpPr>
          <p:nvPr/>
        </p:nvSpPr>
        <p:spPr>
          <a:xfrm>
            <a:off x="9045230" y="2178190"/>
            <a:ext cx="2148840" cy="3209544"/>
          </a:xfrm>
          <a:prstGeom prst="rect">
            <a:avLst/>
          </a:prstGeom>
        </p:spPr>
        <p:txBody>
          <a:bodyPr>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ja-JP" sz="2400" dirty="0">
                <a:solidFill>
                  <a:schemeClr val="bg2">
                    <a:lumMod val="10000"/>
                  </a:schemeClr>
                </a:solidFill>
              </a:rPr>
              <a:t>How long will you be at the park?</a:t>
            </a:r>
            <a:br>
              <a:rPr lang="en-US" altLang="ja-JP" sz="2400" dirty="0">
                <a:solidFill>
                  <a:schemeClr val="bg2">
                    <a:lumMod val="10000"/>
                  </a:schemeClr>
                </a:solidFill>
              </a:rPr>
            </a:br>
            <a:endParaRPr lang="en-US" altLang="ja-JP" sz="2400" dirty="0">
              <a:solidFill>
                <a:schemeClr val="bg2">
                  <a:lumMod val="10000"/>
                </a:schemeClr>
              </a:solidFill>
            </a:endParaRPr>
          </a:p>
          <a:p>
            <a:r>
              <a:rPr lang="en-US" altLang="ja-JP" sz="2400" dirty="0">
                <a:solidFill>
                  <a:schemeClr val="bg2">
                    <a:lumMod val="10000"/>
                  </a:schemeClr>
                </a:solidFill>
              </a:rPr>
              <a:t>Ride the rides</a:t>
            </a:r>
          </a:p>
          <a:p>
            <a:r>
              <a:rPr lang="en-US" altLang="ja-JP" sz="2400" dirty="0">
                <a:solidFill>
                  <a:schemeClr val="bg2">
                    <a:lumMod val="10000"/>
                  </a:schemeClr>
                </a:solidFill>
              </a:rPr>
              <a:t>Wait in line</a:t>
            </a:r>
          </a:p>
          <a:p>
            <a:r>
              <a:rPr lang="en-US" altLang="ja-JP" sz="2400" dirty="0">
                <a:solidFill>
                  <a:schemeClr val="bg2">
                    <a:lumMod val="10000"/>
                  </a:schemeClr>
                </a:solidFill>
              </a:rPr>
              <a:t>Eat the food</a:t>
            </a:r>
          </a:p>
          <a:p>
            <a:r>
              <a:rPr lang="en-US" altLang="ja-JP" sz="2400" dirty="0">
                <a:solidFill>
                  <a:schemeClr val="bg2">
                    <a:lumMod val="10000"/>
                  </a:schemeClr>
                </a:solidFill>
              </a:rPr>
              <a:t>Play the games</a:t>
            </a:r>
          </a:p>
        </p:txBody>
      </p:sp>
      <p:sp>
        <p:nvSpPr>
          <p:cNvPr id="23" name="Right Brace 22">
            <a:extLst>
              <a:ext uri="{FF2B5EF4-FFF2-40B4-BE49-F238E27FC236}">
                <a16:creationId xmlns:a16="http://schemas.microsoft.com/office/drawing/2014/main" id="{441C093D-B70A-FD82-2E53-3F3B05402488}"/>
              </a:ext>
            </a:extLst>
          </p:cNvPr>
          <p:cNvSpPr/>
          <p:nvPr/>
        </p:nvSpPr>
        <p:spPr>
          <a:xfrm rot="5400000">
            <a:off x="5836146" y="495563"/>
            <a:ext cx="365125" cy="10226246"/>
          </a:xfrm>
          <a:prstGeom prst="rightBrace">
            <a:avLst/>
          </a:prstGeom>
          <a:noFill/>
          <a:ln w="38100" cap="flat">
            <a:solidFill>
              <a:srgbClr val="EE3228">
                <a:alpha val="75000"/>
              </a:srgbClr>
            </a:solidFill>
            <a:prstDash val="solid"/>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en-US" sz="1800" b="0" i="0" u="none" strike="noStrike" cap="none" spc="0" normalizeH="0" baseline="0" dirty="0">
              <a:ln>
                <a:noFill/>
              </a:ln>
              <a:solidFill>
                <a:srgbClr val="000000"/>
              </a:solidFill>
              <a:effectLst/>
              <a:uFillTx/>
            </a:endParaRPr>
          </a:p>
        </p:txBody>
      </p:sp>
      <p:sp>
        <p:nvSpPr>
          <p:cNvPr id="24" name="Text Placeholder 3">
            <a:extLst>
              <a:ext uri="{FF2B5EF4-FFF2-40B4-BE49-F238E27FC236}">
                <a16:creationId xmlns:a16="http://schemas.microsoft.com/office/drawing/2014/main" id="{331F9739-BD21-DBAF-ABD6-599D158C3FE1}"/>
              </a:ext>
            </a:extLst>
          </p:cNvPr>
          <p:cNvSpPr txBox="1">
            <a:spLocks/>
          </p:cNvSpPr>
          <p:nvPr/>
        </p:nvSpPr>
        <p:spPr>
          <a:xfrm>
            <a:off x="4818058" y="5824108"/>
            <a:ext cx="2453599" cy="365125"/>
          </a:xfrm>
          <a:prstGeom prst="rect">
            <a:avLst/>
          </a:prstGeom>
        </p:spPr>
        <p:txBody>
          <a:bodyPr>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ja-JP" sz="2400" dirty="0">
                <a:solidFill>
                  <a:schemeClr val="bg2">
                    <a:lumMod val="10000"/>
                  </a:schemeClr>
                </a:solidFill>
              </a:rPr>
              <a:t>What is the value?</a:t>
            </a:r>
          </a:p>
        </p:txBody>
      </p:sp>
      <p:sp>
        <p:nvSpPr>
          <p:cNvPr id="12" name="Title 1">
            <a:extLst>
              <a:ext uri="{FF2B5EF4-FFF2-40B4-BE49-F238E27FC236}">
                <a16:creationId xmlns:a16="http://schemas.microsoft.com/office/drawing/2014/main" id="{660B6DFE-19F2-A0F6-ADBA-21EB1D9ACE91}"/>
              </a:ext>
            </a:extLst>
          </p:cNvPr>
          <p:cNvSpPr txBox="1">
            <a:spLocks/>
          </p:cNvSpPr>
          <p:nvPr/>
        </p:nvSpPr>
        <p:spPr>
          <a:xfrm>
            <a:off x="699910" y="681038"/>
            <a:ext cx="9815689" cy="1009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endParaRPr lang="en-US" sz="2800" dirty="0"/>
          </a:p>
        </p:txBody>
      </p:sp>
      <p:cxnSp>
        <p:nvCxnSpPr>
          <p:cNvPr id="25" name="Straight Connector 24">
            <a:extLst>
              <a:ext uri="{FF2B5EF4-FFF2-40B4-BE49-F238E27FC236}">
                <a16:creationId xmlns:a16="http://schemas.microsoft.com/office/drawing/2014/main" id="{0D7B7DE2-FEC6-AF6E-9688-604020E4577D}"/>
              </a:ext>
            </a:extLst>
          </p:cNvPr>
          <p:cNvCxnSpPr/>
          <p:nvPr/>
        </p:nvCxnSpPr>
        <p:spPr>
          <a:xfrm>
            <a:off x="905585" y="1959536"/>
            <a:ext cx="7689493"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18DF734A-CE37-F09F-C9CE-39A83C33CD18}"/>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Lean Fundamentals</a:t>
            </a:r>
          </a:p>
        </p:txBody>
      </p:sp>
      <p:sp>
        <p:nvSpPr>
          <p:cNvPr id="7" name="AutoShape 9">
            <a:extLst>
              <a:ext uri="{FF2B5EF4-FFF2-40B4-BE49-F238E27FC236}">
                <a16:creationId xmlns:a16="http://schemas.microsoft.com/office/drawing/2014/main" id="{FBA89C99-ECFD-4EFE-0E74-36F32E147B3D}"/>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11">
            <a:extLst>
              <a:ext uri="{FF2B5EF4-FFF2-40B4-BE49-F238E27FC236}">
                <a16:creationId xmlns:a16="http://schemas.microsoft.com/office/drawing/2014/main" id="{6EE22ACF-6A00-FC7D-A3C5-E84A764AA9E3}"/>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1" name="AutoShape 10">
            <a:extLst>
              <a:ext uri="{FF2B5EF4-FFF2-40B4-BE49-F238E27FC236}">
                <a16:creationId xmlns:a16="http://schemas.microsoft.com/office/drawing/2014/main" id="{9EF88173-CA13-E853-8895-416A37ACC5F2}"/>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Tree>
    <p:extLst>
      <p:ext uri="{BB962C8B-B14F-4D97-AF65-F5344CB8AC3E}">
        <p14:creationId xmlns:p14="http://schemas.microsoft.com/office/powerpoint/2010/main" val="20663703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0F75D42F-7867-FA6C-40B5-E8FBDADB39EB}"/>
              </a:ext>
            </a:extLst>
          </p:cNvPr>
          <p:cNvSpPr>
            <a:spLocks noGrp="1"/>
          </p:cNvSpPr>
          <p:nvPr>
            <p:ph type="title" idx="4294967295"/>
          </p:nvPr>
        </p:nvSpPr>
        <p:spPr>
          <a:xfrm>
            <a:off x="905585" y="821803"/>
            <a:ext cx="10515600" cy="919163"/>
          </a:xfrm>
        </p:spPr>
        <p:txBody>
          <a:bodyPr>
            <a:normAutofit fontScale="90000"/>
          </a:bodyPr>
          <a:lstStyle/>
          <a:p>
            <a:r>
              <a:rPr lang="en-US" dirty="0">
                <a:latin typeface="Roboto Medium"/>
                <a:ea typeface="Roboto Medium"/>
                <a:cs typeface="Roboto Medium"/>
              </a:rPr>
              <a:t>Identifying Your Customers: </a:t>
            </a:r>
            <a:br>
              <a:rPr lang="en-US" dirty="0">
                <a:latin typeface="Roboto Medium"/>
                <a:ea typeface="Roboto Medium"/>
                <a:cs typeface="Roboto Medium"/>
              </a:rPr>
            </a:br>
            <a:r>
              <a:rPr lang="en-US" dirty="0">
                <a:latin typeface="Roboto Medium"/>
                <a:ea typeface="Roboto Medium"/>
                <a:cs typeface="Roboto Medium"/>
              </a:rPr>
              <a:t>What do they value?</a:t>
            </a:r>
            <a:endParaRPr lang="en-US" dirty="0"/>
          </a:p>
        </p:txBody>
      </p:sp>
      <p:sp>
        <p:nvSpPr>
          <p:cNvPr id="3" name="Footer Placeholder 2">
            <a:extLst>
              <a:ext uri="{FF2B5EF4-FFF2-40B4-BE49-F238E27FC236}">
                <a16:creationId xmlns:a16="http://schemas.microsoft.com/office/drawing/2014/main" id="{68245A6A-7BC3-E07D-A7A8-AD3F25E003CD}"/>
              </a:ext>
            </a:extLst>
          </p:cNvPr>
          <p:cNvSpPr>
            <a:spLocks noGrp="1"/>
          </p:cNvSpPr>
          <p:nvPr>
            <p:ph type="ftr" sz="quarter" idx="11"/>
          </p:nvPr>
        </p:nvSpPr>
        <p:spPr/>
        <p:txBody>
          <a:bodyPr/>
          <a:lstStyle/>
          <a:p>
            <a:r>
              <a:rPr lang="en-US" sz="900"/>
              <a:t>© Lean Horizons Consulting, LLC 2023. All Rights Reserved</a:t>
            </a:r>
            <a:endParaRPr lang="en-US" sz="900" dirty="0"/>
          </a:p>
        </p:txBody>
      </p:sp>
      <p:sp>
        <p:nvSpPr>
          <p:cNvPr id="4" name="Slide Number Placeholder 3">
            <a:extLst>
              <a:ext uri="{FF2B5EF4-FFF2-40B4-BE49-F238E27FC236}">
                <a16:creationId xmlns:a16="http://schemas.microsoft.com/office/drawing/2014/main" id="{A755ECC6-7B60-E70F-09E0-A537E450F357}"/>
              </a:ext>
            </a:extLst>
          </p:cNvPr>
          <p:cNvSpPr>
            <a:spLocks noGrp="1"/>
          </p:cNvSpPr>
          <p:nvPr>
            <p:ph type="sldNum" sz="quarter" idx="12"/>
          </p:nvPr>
        </p:nvSpPr>
        <p:spPr/>
        <p:txBody>
          <a:bodyPr/>
          <a:lstStyle/>
          <a:p>
            <a:fld id="{CC6D4273-7FC1-0947-B9FE-19CB3C0D1FB6}" type="slidenum">
              <a:rPr lang="en-US" smtClean="0"/>
              <a:pPr/>
              <a:t>17</a:t>
            </a:fld>
            <a:endParaRPr lang="en-US" dirty="0"/>
          </a:p>
        </p:txBody>
      </p:sp>
      <p:sp>
        <p:nvSpPr>
          <p:cNvPr id="12" name="Title 1">
            <a:extLst>
              <a:ext uri="{FF2B5EF4-FFF2-40B4-BE49-F238E27FC236}">
                <a16:creationId xmlns:a16="http://schemas.microsoft.com/office/drawing/2014/main" id="{660B6DFE-19F2-A0F6-ADBA-21EB1D9ACE91}"/>
              </a:ext>
            </a:extLst>
          </p:cNvPr>
          <p:cNvSpPr txBox="1">
            <a:spLocks/>
          </p:cNvSpPr>
          <p:nvPr/>
        </p:nvSpPr>
        <p:spPr>
          <a:xfrm>
            <a:off x="699910" y="681038"/>
            <a:ext cx="9815689" cy="1009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endParaRPr lang="en-US" sz="2800" dirty="0"/>
          </a:p>
        </p:txBody>
      </p:sp>
      <p:cxnSp>
        <p:nvCxnSpPr>
          <p:cNvPr id="25" name="Straight Connector 24">
            <a:extLst>
              <a:ext uri="{FF2B5EF4-FFF2-40B4-BE49-F238E27FC236}">
                <a16:creationId xmlns:a16="http://schemas.microsoft.com/office/drawing/2014/main" id="{0D7B7DE2-FEC6-AF6E-9688-604020E4577D}"/>
              </a:ext>
            </a:extLst>
          </p:cNvPr>
          <p:cNvCxnSpPr/>
          <p:nvPr/>
        </p:nvCxnSpPr>
        <p:spPr>
          <a:xfrm>
            <a:off x="905585" y="1959536"/>
            <a:ext cx="7689493"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18DF734A-CE37-F09F-C9CE-39A83C33CD18}"/>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Lean Fundamentals</a:t>
            </a:r>
          </a:p>
        </p:txBody>
      </p:sp>
      <p:sp>
        <p:nvSpPr>
          <p:cNvPr id="7" name="Rectangle 6">
            <a:extLst>
              <a:ext uri="{FF2B5EF4-FFF2-40B4-BE49-F238E27FC236}">
                <a16:creationId xmlns:a16="http://schemas.microsoft.com/office/drawing/2014/main" id="{E1089CA0-5503-BDF4-CC88-3E70CA4B6F49}"/>
              </a:ext>
            </a:extLst>
          </p:cNvPr>
          <p:cNvSpPr>
            <a:spLocks noGrp="1" noChangeArrowheads="1"/>
          </p:cNvSpPr>
          <p:nvPr/>
        </p:nvSpPr>
        <p:spPr>
          <a:xfrm>
            <a:off x="838200" y="2149214"/>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dirty="0"/>
              <a:t>Lean focuses on providing the customer with what require, when needed, in the right amounts, and at the expected level of quality</a:t>
            </a:r>
          </a:p>
          <a:p>
            <a:r>
              <a:rPr lang="en-US" altLang="en-US" dirty="0"/>
              <a:t>Know who your customers are… both internal and external</a:t>
            </a:r>
          </a:p>
          <a:p>
            <a:pPr lvl="1"/>
            <a:r>
              <a:rPr lang="en-US" altLang="en-US" sz="2800" dirty="0"/>
              <a:t>What are their requirements? Expectations?</a:t>
            </a:r>
          </a:p>
          <a:p>
            <a:r>
              <a:rPr lang="en-US" altLang="en-US" dirty="0"/>
              <a:t>Customers include both the next downstream process as well as the end user</a:t>
            </a:r>
          </a:p>
        </p:txBody>
      </p:sp>
      <p:sp>
        <p:nvSpPr>
          <p:cNvPr id="2" name="AutoShape 9">
            <a:extLst>
              <a:ext uri="{FF2B5EF4-FFF2-40B4-BE49-F238E27FC236}">
                <a16:creationId xmlns:a16="http://schemas.microsoft.com/office/drawing/2014/main" id="{662D8E95-41B9-24E0-D9FB-C6AD048A38CE}"/>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5" name="AutoShape 11">
            <a:extLst>
              <a:ext uri="{FF2B5EF4-FFF2-40B4-BE49-F238E27FC236}">
                <a16:creationId xmlns:a16="http://schemas.microsoft.com/office/drawing/2014/main" id="{3FA65190-C2AB-F8B9-1BFA-057919765BD5}"/>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6" name="AutoShape 10">
            <a:extLst>
              <a:ext uri="{FF2B5EF4-FFF2-40B4-BE49-F238E27FC236}">
                <a16:creationId xmlns:a16="http://schemas.microsoft.com/office/drawing/2014/main" id="{9DD9C498-B09D-9D52-B6E4-7E10175968B6}"/>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Tree>
    <p:extLst>
      <p:ext uri="{BB962C8B-B14F-4D97-AF65-F5344CB8AC3E}">
        <p14:creationId xmlns:p14="http://schemas.microsoft.com/office/powerpoint/2010/main" val="36248934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51E0F923-BF2B-DB43-27A7-CB2326AF632C}"/>
              </a:ext>
            </a:extLst>
          </p:cNvPr>
          <p:cNvSpPr>
            <a:spLocks noGrp="1"/>
          </p:cNvSpPr>
          <p:nvPr>
            <p:ph type="ftr" sz="quarter" idx="11"/>
          </p:nvPr>
        </p:nvSpPr>
        <p:spPr/>
        <p:txBody>
          <a:bodyPr/>
          <a:lstStyle/>
          <a:p>
            <a:r>
              <a:rPr lang="en-US" sz="900"/>
              <a:t>© Lean Horizons Consulting, LLC 2023. All Rights Reserved</a:t>
            </a:r>
            <a:endParaRPr lang="en-US" sz="900" dirty="0"/>
          </a:p>
        </p:txBody>
      </p:sp>
      <p:sp>
        <p:nvSpPr>
          <p:cNvPr id="4" name="Slide Number Placeholder 3">
            <a:extLst>
              <a:ext uri="{FF2B5EF4-FFF2-40B4-BE49-F238E27FC236}">
                <a16:creationId xmlns:a16="http://schemas.microsoft.com/office/drawing/2014/main" id="{399B9463-4CDE-3EF7-2811-BC679B707FFB}"/>
              </a:ext>
            </a:extLst>
          </p:cNvPr>
          <p:cNvSpPr>
            <a:spLocks noGrp="1"/>
          </p:cNvSpPr>
          <p:nvPr>
            <p:ph type="sldNum" sz="quarter" idx="12"/>
          </p:nvPr>
        </p:nvSpPr>
        <p:spPr/>
        <p:txBody>
          <a:bodyPr/>
          <a:lstStyle/>
          <a:p>
            <a:fld id="{CC6D4273-7FC1-0947-B9FE-19CB3C0D1FB6}" type="slidenum">
              <a:rPr lang="en-US" smtClean="0"/>
              <a:pPr/>
              <a:t>18</a:t>
            </a:fld>
            <a:endParaRPr lang="en-US" dirty="0"/>
          </a:p>
        </p:txBody>
      </p:sp>
      <p:sp>
        <p:nvSpPr>
          <p:cNvPr id="5" name="Title 4">
            <a:extLst>
              <a:ext uri="{FF2B5EF4-FFF2-40B4-BE49-F238E27FC236}">
                <a16:creationId xmlns:a16="http://schemas.microsoft.com/office/drawing/2014/main" id="{598A23F7-7CBA-02B3-BCE0-D58B9AE10B65}"/>
              </a:ext>
            </a:extLst>
          </p:cNvPr>
          <p:cNvSpPr>
            <a:spLocks noGrp="1"/>
          </p:cNvSpPr>
          <p:nvPr>
            <p:ph type="title" idx="4294967295"/>
          </p:nvPr>
        </p:nvSpPr>
        <p:spPr>
          <a:xfrm>
            <a:off x="1207915" y="693482"/>
            <a:ext cx="10515600" cy="1009650"/>
          </a:xfrm>
        </p:spPr>
        <p:txBody>
          <a:bodyPr/>
          <a:lstStyle/>
          <a:p>
            <a:r>
              <a:rPr lang="en-US" dirty="0"/>
              <a:t>Distinguish VA from NVA Activities</a:t>
            </a:r>
          </a:p>
        </p:txBody>
      </p:sp>
      <p:graphicFrame>
        <p:nvGraphicFramePr>
          <p:cNvPr id="14" name="Table">
            <a:extLst>
              <a:ext uri="{FF2B5EF4-FFF2-40B4-BE49-F238E27FC236}">
                <a16:creationId xmlns:a16="http://schemas.microsoft.com/office/drawing/2014/main" id="{E517C667-B767-4995-357A-139D3B28AFF6}"/>
              </a:ext>
            </a:extLst>
          </p:cNvPr>
          <p:cNvGraphicFramePr/>
          <p:nvPr>
            <p:extLst>
              <p:ext uri="{D42A27DB-BD31-4B8C-83A1-F6EECF244321}">
                <p14:modId xmlns:p14="http://schemas.microsoft.com/office/powerpoint/2010/main" val="3676882755"/>
              </p:ext>
            </p:extLst>
          </p:nvPr>
        </p:nvGraphicFramePr>
        <p:xfrm>
          <a:off x="1207915" y="1756685"/>
          <a:ext cx="9776170" cy="3864510"/>
        </p:xfrm>
        <a:graphic>
          <a:graphicData uri="http://schemas.openxmlformats.org/drawingml/2006/table">
            <a:tbl>
              <a:tblPr/>
              <a:tblGrid>
                <a:gridCol w="5264005">
                  <a:extLst>
                    <a:ext uri="{9D8B030D-6E8A-4147-A177-3AD203B41FA5}">
                      <a16:colId xmlns:a16="http://schemas.microsoft.com/office/drawing/2014/main" val="20000"/>
                    </a:ext>
                  </a:extLst>
                </a:gridCol>
                <a:gridCol w="2082800">
                  <a:extLst>
                    <a:ext uri="{9D8B030D-6E8A-4147-A177-3AD203B41FA5}">
                      <a16:colId xmlns:a16="http://schemas.microsoft.com/office/drawing/2014/main" val="20001"/>
                    </a:ext>
                  </a:extLst>
                </a:gridCol>
                <a:gridCol w="2429365">
                  <a:extLst>
                    <a:ext uri="{9D8B030D-6E8A-4147-A177-3AD203B41FA5}">
                      <a16:colId xmlns:a16="http://schemas.microsoft.com/office/drawing/2014/main" val="3981583184"/>
                    </a:ext>
                  </a:extLst>
                </a:gridCol>
              </a:tblGrid>
              <a:tr h="429390">
                <a:tc>
                  <a:txBody>
                    <a:bodyPr/>
                    <a:lstStyle/>
                    <a:p>
                      <a:pPr algn="ctr" defTabSz="1828342">
                        <a:tabLst>
                          <a:tab pos="914400" algn="l"/>
                        </a:tabLst>
                        <a:defRPr sz="3500">
                          <a:solidFill>
                            <a:srgbClr val="999999"/>
                          </a:solidFill>
                        </a:defRPr>
                      </a:pPr>
                      <a:r>
                        <a:rPr lang="en-US" sz="1400" b="1" kern="1200" dirty="0">
                          <a:solidFill>
                            <a:schemeClr val="bg1"/>
                          </a:solidFill>
                          <a:latin typeface="Roboto" panose="02000000000000000000" pitchFamily="2" charset="0"/>
                          <a:ea typeface="Roboto" panose="02000000000000000000" pitchFamily="2" charset="0"/>
                          <a:cs typeface="Roboto" panose="02000000000000000000" pitchFamily="2" charset="0"/>
                          <a:sym typeface="Roboto"/>
                        </a:rPr>
                        <a:t>Activity</a:t>
                      </a:r>
                      <a:endParaRPr sz="1400" b="1" kern="1200" dirty="0">
                        <a:solidFill>
                          <a:schemeClr val="bg1"/>
                        </a:solidFill>
                        <a:latin typeface="Roboto" panose="02000000000000000000" pitchFamily="2" charset="0"/>
                        <a:ea typeface="Roboto" panose="02000000000000000000" pitchFamily="2" charset="0"/>
                        <a:cs typeface="Roboto" panose="02000000000000000000" pitchFamily="2" charset="0"/>
                        <a:sym typeface="Roboto"/>
                      </a:endParaRPr>
                    </a:p>
                  </a:txBody>
                  <a:tcPr anchor="ctr" horzOverflow="overflow">
                    <a:lnL w="0">
                      <a:noFill/>
                      <a:miter lim="400000"/>
                    </a:lnL>
                    <a:lnR w="0">
                      <a:noFill/>
                      <a:miter lim="400000"/>
                    </a:lnR>
                    <a:lnT w="0">
                      <a:noFill/>
                      <a:miter lim="400000"/>
                    </a:lnT>
                    <a:lnB w="0">
                      <a:noFill/>
                      <a:miter lim="400000"/>
                    </a:lnB>
                    <a:solidFill>
                      <a:srgbClr val="EE3228"/>
                    </a:solidFill>
                  </a:tcPr>
                </a:tc>
                <a:tc>
                  <a:txBody>
                    <a:bodyPr/>
                    <a:lstStyle/>
                    <a:p>
                      <a:pPr algn="ctr" defTabSz="1828342">
                        <a:defRPr sz="1800">
                          <a:solidFill>
                            <a:srgbClr val="000000"/>
                          </a:solidFill>
                        </a:defRPr>
                      </a:pPr>
                      <a:r>
                        <a:rPr lang="en-US" sz="1400" b="1" dirty="0">
                          <a:solidFill>
                            <a:schemeClr val="bg1"/>
                          </a:solidFill>
                          <a:latin typeface="Roboto" panose="02000000000000000000" pitchFamily="2" charset="0"/>
                          <a:ea typeface="Roboto" panose="02000000000000000000" pitchFamily="2" charset="0"/>
                          <a:cs typeface="Roboto" panose="02000000000000000000" pitchFamily="2" charset="0"/>
                        </a:rPr>
                        <a:t>Internal Customer</a:t>
                      </a:r>
                      <a:endParaRPr sz="1400" b="1" dirty="0">
                        <a:solidFill>
                          <a:schemeClr val="bg1"/>
                        </a:solidFill>
                        <a:latin typeface="Roboto" panose="02000000000000000000" pitchFamily="2" charset="0"/>
                        <a:ea typeface="Roboto" panose="02000000000000000000" pitchFamily="2" charset="0"/>
                        <a:cs typeface="Roboto" panose="02000000000000000000" pitchFamily="2" charset="0"/>
                      </a:endParaRPr>
                    </a:p>
                  </a:txBody>
                  <a:tcPr anchor="ctr" horzOverflow="overflow">
                    <a:lnL w="0">
                      <a:noFill/>
                      <a:miter lim="400000"/>
                    </a:lnL>
                    <a:lnR w="0">
                      <a:noFill/>
                      <a:miter lim="400000"/>
                    </a:lnR>
                    <a:lnT w="0">
                      <a:miter lim="400000"/>
                    </a:lnT>
                    <a:lnB w="0">
                      <a:miter lim="400000"/>
                    </a:lnB>
                    <a:solidFill>
                      <a:srgbClr val="EE3228"/>
                    </a:solidFill>
                  </a:tcPr>
                </a:tc>
                <a:tc>
                  <a:txBody>
                    <a:bodyPr/>
                    <a:lstStyle/>
                    <a:p>
                      <a:pPr algn="ctr" defTabSz="1828342">
                        <a:defRPr sz="1800">
                          <a:solidFill>
                            <a:srgbClr val="000000"/>
                          </a:solidFill>
                        </a:defRPr>
                      </a:pPr>
                      <a:r>
                        <a:rPr lang="en-US" sz="1400" b="1" dirty="0">
                          <a:solidFill>
                            <a:schemeClr val="bg1"/>
                          </a:solidFill>
                          <a:latin typeface="Roboto" panose="02000000000000000000" pitchFamily="2" charset="0"/>
                          <a:ea typeface="Roboto" panose="02000000000000000000" pitchFamily="2" charset="0"/>
                          <a:cs typeface="Roboto" panose="02000000000000000000" pitchFamily="2" charset="0"/>
                        </a:rPr>
                        <a:t>External Customer</a:t>
                      </a:r>
                      <a:endParaRPr sz="1400" b="1" dirty="0">
                        <a:solidFill>
                          <a:schemeClr val="bg1"/>
                        </a:solidFill>
                        <a:latin typeface="Roboto" panose="02000000000000000000" pitchFamily="2" charset="0"/>
                        <a:ea typeface="Roboto" panose="02000000000000000000" pitchFamily="2" charset="0"/>
                        <a:cs typeface="Roboto" panose="02000000000000000000" pitchFamily="2" charset="0"/>
                      </a:endParaRPr>
                    </a:p>
                  </a:txBody>
                  <a:tcPr anchor="ctr" horzOverflow="overflow">
                    <a:lnL w="0">
                      <a:miter lim="400000"/>
                    </a:lnL>
                    <a:lnR w="0">
                      <a:miter lim="400000"/>
                    </a:lnR>
                    <a:lnT w="0">
                      <a:miter lim="400000"/>
                    </a:lnT>
                    <a:lnB w="0">
                      <a:noFill/>
                      <a:miter lim="400000"/>
                    </a:lnB>
                    <a:solidFill>
                      <a:srgbClr val="EE3228"/>
                    </a:solidFill>
                  </a:tcPr>
                </a:tc>
                <a:extLst>
                  <a:ext uri="{0D108BD9-81ED-4DB2-BD59-A6C34878D82A}">
                    <a16:rowId xmlns:a16="http://schemas.microsoft.com/office/drawing/2014/main" val="10000"/>
                  </a:ext>
                </a:extLst>
              </a:tr>
              <a:tr h="429390">
                <a:tc>
                  <a:txBody>
                    <a:bodyPr/>
                    <a:lstStyle/>
                    <a:p>
                      <a:pPr marL="0" indent="0" algn="l" defTabSz="1828342">
                        <a:buNone/>
                        <a:defRPr sz="1800">
                          <a:solidFill>
                            <a:srgbClr val="000000"/>
                          </a:solidFill>
                        </a:defRPr>
                      </a:pPr>
                      <a:r>
                        <a:rPr lang="en-US" sz="1400" kern="1200" dirty="0">
                          <a:solidFill>
                            <a:schemeClr val="tx1"/>
                          </a:solidFill>
                          <a:latin typeface="Roboto" panose="02000000000000000000" pitchFamily="2" charset="0"/>
                          <a:ea typeface="Roboto" panose="02000000000000000000" pitchFamily="2" charset="0"/>
                          <a:cs typeface="Roboto" panose="02000000000000000000" pitchFamily="2" charset="0"/>
                        </a:rPr>
                        <a:t>Selecting candidates to interview for hire </a:t>
                      </a:r>
                    </a:p>
                  </a:txBody>
                  <a:tcPr marL="45720" marR="45720" anchor="ctr" horzOverflow="overflow">
                    <a:lnL w="0">
                      <a:miter lim="400000"/>
                    </a:lnL>
                    <a:lnR w="0">
                      <a:miter lim="400000"/>
                    </a:lnR>
                    <a:lnT w="0">
                      <a:noFill/>
                      <a:miter lim="400000"/>
                    </a:lnT>
                    <a:lnB w="0">
                      <a:miter lim="400000"/>
                    </a:lnB>
                    <a:solidFill>
                      <a:schemeClr val="bg1">
                        <a:lumMod val="85000"/>
                      </a:schemeClr>
                    </a:solidFill>
                  </a:tcPr>
                </a:tc>
                <a:tc>
                  <a:txBody>
                    <a:bodyPr/>
                    <a:lstStyle/>
                    <a:p>
                      <a:pPr marL="0" marR="0" lvl="0" indent="0" algn="ctr" defTabSz="1828342" eaLnBrk="1" fontAlgn="auto" latinLnBrk="0" hangingPunct="1">
                        <a:lnSpc>
                          <a:spcPct val="100000"/>
                        </a:lnSpc>
                        <a:spcBef>
                          <a:spcPts val="0"/>
                        </a:spcBef>
                        <a:spcAft>
                          <a:spcPts val="0"/>
                        </a:spcAft>
                        <a:buClrTx/>
                        <a:buSzTx/>
                        <a:buFontTx/>
                        <a:buNone/>
                        <a:tabLst/>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VA</a:t>
                      </a:r>
                    </a:p>
                  </a:txBody>
                  <a:tcPr marL="45720" marR="45720" anchor="ctr" horzOverflow="overflow">
                    <a:lnL w="0">
                      <a:miter lim="400000"/>
                    </a:lnL>
                    <a:lnR w="0">
                      <a:noFill/>
                      <a:miter lim="400000"/>
                    </a:lnR>
                    <a:lnT w="0">
                      <a:miter lim="400000"/>
                    </a:lnT>
                    <a:lnB w="0">
                      <a:miter lim="400000"/>
                    </a:lnB>
                    <a:solidFill>
                      <a:schemeClr val="bg1">
                        <a:lumMod val="85000"/>
                      </a:schemeClr>
                    </a:solidFill>
                  </a:tcPr>
                </a:tc>
                <a:tc>
                  <a:txBody>
                    <a:bodyPr/>
                    <a:lstStyle/>
                    <a:p>
                      <a:pPr marL="0" marR="0" lvl="0" indent="0" algn="ctr" defTabSz="1828342" eaLnBrk="1" fontAlgn="auto" latinLnBrk="0" hangingPunct="1">
                        <a:lnSpc>
                          <a:spcPct val="100000"/>
                        </a:lnSpc>
                        <a:spcBef>
                          <a:spcPts val="0"/>
                        </a:spcBef>
                        <a:spcAft>
                          <a:spcPts val="0"/>
                        </a:spcAft>
                        <a:buClrTx/>
                        <a:buSzTx/>
                        <a:buFontTx/>
                        <a:buNone/>
                        <a:tabLst/>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NVA</a:t>
                      </a:r>
                    </a:p>
                  </a:txBody>
                  <a:tcPr marL="45720" marR="45720" anchor="ctr" horzOverflow="overflow">
                    <a:lnL w="0">
                      <a:miter lim="400000"/>
                    </a:lnL>
                    <a:lnR w="0">
                      <a:miter lim="400000"/>
                    </a:lnR>
                    <a:lnT w="0">
                      <a:noFill/>
                      <a:miter lim="400000"/>
                    </a:lnT>
                    <a:lnB w="0">
                      <a:noFill/>
                      <a:miter lim="400000"/>
                    </a:lnB>
                    <a:solidFill>
                      <a:schemeClr val="bg1">
                        <a:lumMod val="85000"/>
                      </a:schemeClr>
                    </a:solidFill>
                  </a:tcPr>
                </a:tc>
                <a:extLst>
                  <a:ext uri="{0D108BD9-81ED-4DB2-BD59-A6C34878D82A}">
                    <a16:rowId xmlns:a16="http://schemas.microsoft.com/office/drawing/2014/main" val="10001"/>
                  </a:ext>
                </a:extLst>
              </a:tr>
              <a:tr h="429390">
                <a:tc>
                  <a:txBody>
                    <a:bodyPr/>
                    <a:lstStyle/>
                    <a:p>
                      <a:pPr algn="l" defTabSz="1828342">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Completing weekly expense report</a:t>
                      </a:r>
                    </a:p>
                  </a:txBody>
                  <a:tcPr marL="45720" marR="45720" anchor="ctr" horzOverflow="overflow">
                    <a:lnL w="0">
                      <a:miter lim="400000"/>
                    </a:lnL>
                    <a:lnR w="0">
                      <a:miter lim="400000"/>
                    </a:lnR>
                    <a:lnT w="0">
                      <a:miter lim="400000"/>
                    </a:lnT>
                    <a:lnB w="0">
                      <a:miter lim="400000"/>
                    </a:lnB>
                    <a:solidFill>
                      <a:schemeClr val="bg1">
                        <a:lumMod val="85000"/>
                      </a:schemeClr>
                    </a:solidFill>
                  </a:tcPr>
                </a:tc>
                <a:tc>
                  <a:txBody>
                    <a:bodyPr/>
                    <a:lstStyle/>
                    <a:p>
                      <a:pPr algn="ctr" defTabSz="1828342">
                        <a:defRPr sz="1800">
                          <a:solidFill>
                            <a:srgbClr val="000000"/>
                          </a:solidFill>
                        </a:defRPr>
                      </a:pPr>
                      <a:endParaRPr lang="en-US" sz="14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anchor="ctr" horzOverflow="overflow">
                    <a:lnL w="0">
                      <a:miter lim="400000"/>
                    </a:lnL>
                    <a:lnR w="0">
                      <a:noFill/>
                      <a:miter lim="400000"/>
                    </a:lnR>
                    <a:lnT w="0">
                      <a:miter lim="400000"/>
                    </a:lnT>
                    <a:lnB w="0">
                      <a:miter lim="400000"/>
                    </a:lnB>
                    <a:solidFill>
                      <a:schemeClr val="bg1">
                        <a:lumMod val="85000"/>
                      </a:schemeClr>
                    </a:solidFill>
                  </a:tcPr>
                </a:tc>
                <a:tc>
                  <a:txBody>
                    <a:bodyPr/>
                    <a:lstStyle/>
                    <a:p>
                      <a:pPr algn="ctr" defTabSz="1828342">
                        <a:defRPr sz="1800">
                          <a:solidFill>
                            <a:srgbClr val="000000"/>
                          </a:solidFill>
                        </a:defRPr>
                      </a:pPr>
                      <a:endParaRPr lang="en-US" sz="14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anchor="ctr" horzOverflow="overflow">
                    <a:lnL w="0">
                      <a:miter lim="400000"/>
                    </a:lnL>
                    <a:lnR w="0">
                      <a:miter lim="400000"/>
                    </a:lnR>
                    <a:lnT w="0">
                      <a:noFill/>
                      <a:miter lim="400000"/>
                    </a:lnT>
                    <a:lnB w="0">
                      <a:noFill/>
                      <a:miter lim="400000"/>
                    </a:lnB>
                    <a:solidFill>
                      <a:schemeClr val="bg1">
                        <a:lumMod val="85000"/>
                      </a:schemeClr>
                    </a:solidFill>
                  </a:tcPr>
                </a:tc>
                <a:extLst>
                  <a:ext uri="{0D108BD9-81ED-4DB2-BD59-A6C34878D82A}">
                    <a16:rowId xmlns:a16="http://schemas.microsoft.com/office/drawing/2014/main" val="10002"/>
                  </a:ext>
                </a:extLst>
              </a:tr>
              <a:tr h="429390">
                <a:tc>
                  <a:txBody>
                    <a:bodyPr/>
                    <a:lstStyle/>
                    <a:p>
                      <a:pPr algn="l" defTabSz="1828342">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Entering a customer order</a:t>
                      </a:r>
                    </a:p>
                  </a:txBody>
                  <a:tcPr marL="45720" marR="45720" anchor="ctr" horzOverflow="overflow">
                    <a:lnL w="0">
                      <a:miter lim="400000"/>
                    </a:lnL>
                    <a:lnR w="0">
                      <a:miter lim="400000"/>
                    </a:lnR>
                    <a:lnT w="0">
                      <a:miter lim="400000"/>
                    </a:lnT>
                    <a:lnB w="0">
                      <a:miter lim="400000"/>
                    </a:lnB>
                    <a:solidFill>
                      <a:schemeClr val="bg1">
                        <a:lumMod val="85000"/>
                      </a:schemeClr>
                    </a:solidFill>
                  </a:tcPr>
                </a:tc>
                <a:tc>
                  <a:txBody>
                    <a:bodyPr/>
                    <a:lstStyle/>
                    <a:p>
                      <a:pPr marL="0" marR="0" lvl="0" indent="0" algn="ctr" defTabSz="1828342" eaLnBrk="1" fontAlgn="auto" latinLnBrk="0" hangingPunct="1">
                        <a:lnSpc>
                          <a:spcPct val="100000"/>
                        </a:lnSpc>
                        <a:spcBef>
                          <a:spcPts val="0"/>
                        </a:spcBef>
                        <a:spcAft>
                          <a:spcPts val="0"/>
                        </a:spcAft>
                        <a:buClrTx/>
                        <a:buSzTx/>
                        <a:buFontTx/>
                        <a:buNone/>
                        <a:tabLst/>
                        <a:defRPr sz="1800">
                          <a:solidFill>
                            <a:srgbClr val="000000"/>
                          </a:solidFill>
                        </a:defRPr>
                      </a:pPr>
                      <a:endParaRPr lang="en-US" sz="14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anchor="ctr" horzOverflow="overflow">
                    <a:lnL w="0">
                      <a:miter lim="400000"/>
                    </a:lnL>
                    <a:lnR w="0">
                      <a:noFill/>
                      <a:miter lim="400000"/>
                    </a:lnR>
                    <a:lnT w="0">
                      <a:miter lim="400000"/>
                    </a:lnT>
                    <a:lnB w="0">
                      <a:miter lim="400000"/>
                    </a:lnB>
                    <a:solidFill>
                      <a:schemeClr val="bg1">
                        <a:lumMod val="85000"/>
                      </a:schemeClr>
                    </a:solidFill>
                  </a:tcPr>
                </a:tc>
                <a:tc>
                  <a:txBody>
                    <a:bodyPr/>
                    <a:lstStyle/>
                    <a:p>
                      <a:pPr marL="0" marR="0" lvl="0" indent="0" algn="ctr" defTabSz="1828342" eaLnBrk="1" fontAlgn="auto" latinLnBrk="0" hangingPunct="1">
                        <a:lnSpc>
                          <a:spcPct val="100000"/>
                        </a:lnSpc>
                        <a:spcBef>
                          <a:spcPts val="0"/>
                        </a:spcBef>
                        <a:spcAft>
                          <a:spcPts val="0"/>
                        </a:spcAft>
                        <a:buClrTx/>
                        <a:buSzTx/>
                        <a:buFontTx/>
                        <a:buNone/>
                        <a:tabLst/>
                        <a:defRPr sz="1800">
                          <a:solidFill>
                            <a:srgbClr val="000000"/>
                          </a:solidFill>
                        </a:defRPr>
                      </a:pPr>
                      <a:endParaRPr lang="en-US" sz="14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anchor="ctr" horzOverflow="overflow">
                    <a:lnL w="0">
                      <a:miter lim="400000"/>
                    </a:lnL>
                    <a:lnR w="0">
                      <a:miter lim="400000"/>
                    </a:lnR>
                    <a:lnT w="0">
                      <a:noFill/>
                      <a:miter lim="400000"/>
                    </a:lnT>
                    <a:lnB w="0">
                      <a:noFill/>
                      <a:miter lim="400000"/>
                    </a:lnB>
                    <a:solidFill>
                      <a:schemeClr val="bg1">
                        <a:lumMod val="85000"/>
                      </a:schemeClr>
                    </a:solidFill>
                  </a:tcPr>
                </a:tc>
                <a:extLst>
                  <a:ext uri="{0D108BD9-81ED-4DB2-BD59-A6C34878D82A}">
                    <a16:rowId xmlns:a16="http://schemas.microsoft.com/office/drawing/2014/main" val="10003"/>
                  </a:ext>
                </a:extLst>
              </a:tr>
              <a:tr h="429390">
                <a:tc>
                  <a:txBody>
                    <a:bodyPr/>
                    <a:lstStyle/>
                    <a:p>
                      <a:pPr algn="l" defTabSz="1828342">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Resolving a customer billing error by phone</a:t>
                      </a:r>
                    </a:p>
                  </a:txBody>
                  <a:tcPr marL="45720" marR="45720" anchor="ctr" horzOverflow="overflow">
                    <a:lnL w="0">
                      <a:miter lim="400000"/>
                    </a:lnL>
                    <a:lnR w="0">
                      <a:miter lim="400000"/>
                    </a:lnR>
                    <a:lnT w="0">
                      <a:miter lim="400000"/>
                    </a:lnT>
                    <a:lnB w="0">
                      <a:noFill/>
                      <a:miter lim="400000"/>
                    </a:lnB>
                    <a:solidFill>
                      <a:schemeClr val="bg1">
                        <a:lumMod val="85000"/>
                      </a:schemeClr>
                    </a:solidFill>
                  </a:tcPr>
                </a:tc>
                <a:tc>
                  <a:txBody>
                    <a:bodyPr/>
                    <a:lstStyle/>
                    <a:p>
                      <a:pPr marL="0" marR="0" lvl="0" indent="0" algn="ctr" defTabSz="1828342" eaLnBrk="1" fontAlgn="auto" latinLnBrk="0" hangingPunct="1">
                        <a:lnSpc>
                          <a:spcPct val="100000"/>
                        </a:lnSpc>
                        <a:spcBef>
                          <a:spcPts val="0"/>
                        </a:spcBef>
                        <a:spcAft>
                          <a:spcPts val="0"/>
                        </a:spcAft>
                        <a:buClrTx/>
                        <a:buSzTx/>
                        <a:buFontTx/>
                        <a:buNone/>
                        <a:tabLst/>
                        <a:defRPr sz="1800">
                          <a:solidFill>
                            <a:srgbClr val="000000"/>
                          </a:solidFill>
                        </a:defRPr>
                      </a:pPr>
                      <a:endParaRPr lang="en-US" sz="14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anchor="ctr" horzOverflow="overflow">
                    <a:lnL w="0">
                      <a:miter lim="400000"/>
                    </a:lnL>
                    <a:lnR w="0">
                      <a:noFill/>
                      <a:miter lim="400000"/>
                    </a:lnR>
                    <a:lnT w="0">
                      <a:miter lim="400000"/>
                    </a:lnT>
                    <a:lnB w="0">
                      <a:noFill/>
                      <a:miter lim="400000"/>
                    </a:lnB>
                    <a:solidFill>
                      <a:schemeClr val="bg1">
                        <a:lumMod val="85000"/>
                      </a:schemeClr>
                    </a:solidFill>
                  </a:tcPr>
                </a:tc>
                <a:tc>
                  <a:txBody>
                    <a:bodyPr/>
                    <a:lstStyle/>
                    <a:p>
                      <a:pPr marL="0" marR="0" lvl="0" indent="0" algn="ctr" defTabSz="1828342" eaLnBrk="1" fontAlgn="auto" latinLnBrk="0" hangingPunct="1">
                        <a:lnSpc>
                          <a:spcPct val="100000"/>
                        </a:lnSpc>
                        <a:spcBef>
                          <a:spcPts val="0"/>
                        </a:spcBef>
                        <a:spcAft>
                          <a:spcPts val="0"/>
                        </a:spcAft>
                        <a:buClrTx/>
                        <a:buSzTx/>
                        <a:buFontTx/>
                        <a:buNone/>
                        <a:tabLst/>
                        <a:defRPr sz="1800">
                          <a:solidFill>
                            <a:srgbClr val="000000"/>
                          </a:solidFill>
                        </a:defRPr>
                      </a:pPr>
                      <a:endParaRPr lang="en-US" sz="14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anchor="ctr" horzOverflow="overflow">
                    <a:lnL w="0">
                      <a:miter lim="400000"/>
                    </a:lnL>
                    <a:lnR w="0">
                      <a:miter lim="400000"/>
                    </a:lnR>
                    <a:lnT w="0">
                      <a:noFill/>
                      <a:miter lim="400000"/>
                    </a:lnT>
                    <a:lnB w="0">
                      <a:noFill/>
                      <a:miter lim="400000"/>
                    </a:lnB>
                    <a:solidFill>
                      <a:schemeClr val="bg1">
                        <a:lumMod val="85000"/>
                      </a:schemeClr>
                    </a:solidFill>
                  </a:tcPr>
                </a:tc>
                <a:extLst>
                  <a:ext uri="{0D108BD9-81ED-4DB2-BD59-A6C34878D82A}">
                    <a16:rowId xmlns:a16="http://schemas.microsoft.com/office/drawing/2014/main" val="10004"/>
                  </a:ext>
                </a:extLst>
              </a:tr>
              <a:tr h="429390">
                <a:tc>
                  <a:txBody>
                    <a:bodyPr/>
                    <a:lstStyle/>
                    <a:p>
                      <a:pPr algn="l" defTabSz="1828342">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Walking to the printer to pick up documents</a:t>
                      </a:r>
                    </a:p>
                  </a:txBody>
                  <a:tcPr marL="45720" marR="45720" anchor="ctr" horzOverflow="overflow">
                    <a:lnL w="0">
                      <a:miter lim="400000"/>
                    </a:lnL>
                    <a:lnR w="0">
                      <a:noFill/>
                      <a:miter lim="400000"/>
                    </a:lnR>
                    <a:lnT w="0">
                      <a:miter lim="400000"/>
                    </a:lnT>
                    <a:lnB w="0">
                      <a:noFill/>
                      <a:miter lim="400000"/>
                    </a:lnB>
                    <a:solidFill>
                      <a:schemeClr val="bg1">
                        <a:lumMod val="85000"/>
                      </a:schemeClr>
                    </a:solidFill>
                  </a:tcPr>
                </a:tc>
                <a:tc>
                  <a:txBody>
                    <a:bodyPr/>
                    <a:lstStyle/>
                    <a:p>
                      <a:pPr marL="0" marR="0" lvl="0" indent="0" algn="ctr" defTabSz="1828342" eaLnBrk="1" fontAlgn="auto" latinLnBrk="0" hangingPunct="1">
                        <a:lnSpc>
                          <a:spcPct val="100000"/>
                        </a:lnSpc>
                        <a:spcBef>
                          <a:spcPts val="0"/>
                        </a:spcBef>
                        <a:spcAft>
                          <a:spcPts val="0"/>
                        </a:spcAft>
                        <a:buClrTx/>
                        <a:buSzTx/>
                        <a:buFontTx/>
                        <a:buNone/>
                        <a:tabLst/>
                        <a:defRPr sz="1800">
                          <a:solidFill>
                            <a:srgbClr val="000000"/>
                          </a:solidFill>
                        </a:defRPr>
                      </a:pPr>
                      <a:endParaRPr lang="en-US" sz="14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anchor="ctr" horzOverflow="overflow">
                    <a:lnL w="0">
                      <a:noFill/>
                      <a:miter lim="400000"/>
                    </a:lnL>
                    <a:lnR w="0">
                      <a:noFill/>
                      <a:miter lim="400000"/>
                    </a:lnR>
                    <a:lnT w="0">
                      <a:miter lim="400000"/>
                    </a:lnT>
                    <a:lnB w="0">
                      <a:noFill/>
                      <a:miter lim="400000"/>
                    </a:lnB>
                    <a:solidFill>
                      <a:schemeClr val="bg1">
                        <a:lumMod val="85000"/>
                      </a:schemeClr>
                    </a:solidFill>
                  </a:tcPr>
                </a:tc>
                <a:tc>
                  <a:txBody>
                    <a:bodyPr/>
                    <a:lstStyle/>
                    <a:p>
                      <a:pPr marL="0" marR="0" lvl="0" indent="0" algn="ctr" defTabSz="1828342" eaLnBrk="1" fontAlgn="auto" latinLnBrk="0" hangingPunct="1">
                        <a:lnSpc>
                          <a:spcPct val="100000"/>
                        </a:lnSpc>
                        <a:spcBef>
                          <a:spcPts val="0"/>
                        </a:spcBef>
                        <a:spcAft>
                          <a:spcPts val="0"/>
                        </a:spcAft>
                        <a:buClrTx/>
                        <a:buSzTx/>
                        <a:buFontTx/>
                        <a:buNone/>
                        <a:tabLst/>
                        <a:defRPr sz="1800">
                          <a:solidFill>
                            <a:srgbClr val="000000"/>
                          </a:solidFill>
                        </a:defRPr>
                      </a:pPr>
                      <a:endParaRPr lang="en-US" sz="14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anchor="ctr" horzOverflow="overflow">
                    <a:lnL w="0">
                      <a:noFill/>
                      <a:miter lim="400000"/>
                    </a:lnL>
                    <a:lnR w="0">
                      <a:miter lim="400000"/>
                    </a:lnR>
                    <a:lnT w="0">
                      <a:noFill/>
                      <a:miter lim="400000"/>
                    </a:lnT>
                    <a:lnB w="0">
                      <a:noFill/>
                      <a:miter lim="400000"/>
                    </a:lnB>
                    <a:solidFill>
                      <a:schemeClr val="bg1">
                        <a:lumMod val="85000"/>
                      </a:schemeClr>
                    </a:solidFill>
                  </a:tcPr>
                </a:tc>
                <a:extLst>
                  <a:ext uri="{0D108BD9-81ED-4DB2-BD59-A6C34878D82A}">
                    <a16:rowId xmlns:a16="http://schemas.microsoft.com/office/drawing/2014/main" val="1878127364"/>
                  </a:ext>
                </a:extLst>
              </a:tr>
              <a:tr h="429390">
                <a:tc>
                  <a:txBody>
                    <a:bodyPr/>
                    <a:lstStyle/>
                    <a:p>
                      <a:pPr algn="l" defTabSz="1828342">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Attending training to learn about a new software application</a:t>
                      </a:r>
                    </a:p>
                  </a:txBody>
                  <a:tcPr marL="45720" marR="45720" anchor="ctr" horzOverflow="overflow">
                    <a:lnL w="0">
                      <a:miter lim="400000"/>
                    </a:lnL>
                    <a:lnR w="0">
                      <a:noFill/>
                      <a:miter lim="400000"/>
                    </a:lnR>
                    <a:lnT w="0">
                      <a:miter lim="400000"/>
                    </a:lnT>
                    <a:lnB w="0">
                      <a:noFill/>
                      <a:miter lim="400000"/>
                    </a:lnB>
                    <a:solidFill>
                      <a:schemeClr val="bg1">
                        <a:lumMod val="85000"/>
                      </a:schemeClr>
                    </a:solidFill>
                  </a:tcPr>
                </a:tc>
                <a:tc>
                  <a:txBody>
                    <a:bodyPr/>
                    <a:lstStyle/>
                    <a:p>
                      <a:pPr marL="0" marR="0" lvl="0" indent="0" algn="ctr" defTabSz="1828342" eaLnBrk="1" fontAlgn="auto" latinLnBrk="0" hangingPunct="1">
                        <a:lnSpc>
                          <a:spcPct val="100000"/>
                        </a:lnSpc>
                        <a:spcBef>
                          <a:spcPts val="0"/>
                        </a:spcBef>
                        <a:spcAft>
                          <a:spcPts val="0"/>
                        </a:spcAft>
                        <a:buClrTx/>
                        <a:buSzTx/>
                        <a:buFontTx/>
                        <a:buNone/>
                        <a:tabLst/>
                        <a:defRPr sz="1800">
                          <a:solidFill>
                            <a:srgbClr val="000000"/>
                          </a:solidFill>
                        </a:defRPr>
                      </a:pPr>
                      <a:endParaRPr lang="en-US" sz="14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anchor="ctr" horzOverflow="overflow">
                    <a:lnL w="0">
                      <a:noFill/>
                      <a:miter lim="400000"/>
                    </a:lnL>
                    <a:lnR w="0">
                      <a:noFill/>
                      <a:miter lim="400000"/>
                    </a:lnR>
                    <a:lnT w="0">
                      <a:miter lim="400000"/>
                    </a:lnT>
                    <a:lnB w="0">
                      <a:noFill/>
                      <a:miter lim="400000"/>
                    </a:lnB>
                    <a:solidFill>
                      <a:schemeClr val="bg1">
                        <a:lumMod val="85000"/>
                      </a:schemeClr>
                    </a:solidFill>
                  </a:tcPr>
                </a:tc>
                <a:tc>
                  <a:txBody>
                    <a:bodyPr/>
                    <a:lstStyle/>
                    <a:p>
                      <a:pPr marL="0" marR="0" lvl="0" indent="0" algn="ctr" defTabSz="1828342" eaLnBrk="1" fontAlgn="auto" latinLnBrk="0" hangingPunct="1">
                        <a:lnSpc>
                          <a:spcPct val="100000"/>
                        </a:lnSpc>
                        <a:spcBef>
                          <a:spcPts val="0"/>
                        </a:spcBef>
                        <a:spcAft>
                          <a:spcPts val="0"/>
                        </a:spcAft>
                        <a:buClrTx/>
                        <a:buSzTx/>
                        <a:buFontTx/>
                        <a:buNone/>
                        <a:tabLst/>
                        <a:defRPr sz="1800">
                          <a:solidFill>
                            <a:srgbClr val="000000"/>
                          </a:solidFill>
                        </a:defRPr>
                      </a:pPr>
                      <a:endParaRPr lang="en-US" sz="14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anchor="ctr" horzOverflow="overflow">
                    <a:lnL w="0">
                      <a:noFill/>
                      <a:miter lim="400000"/>
                    </a:lnL>
                    <a:lnR w="0">
                      <a:miter lim="400000"/>
                    </a:lnR>
                    <a:lnT w="0">
                      <a:noFill/>
                      <a:miter lim="400000"/>
                    </a:lnT>
                    <a:lnB w="0">
                      <a:noFill/>
                      <a:miter lim="400000"/>
                    </a:lnB>
                    <a:solidFill>
                      <a:schemeClr val="bg1">
                        <a:lumMod val="85000"/>
                      </a:schemeClr>
                    </a:solidFill>
                  </a:tcPr>
                </a:tc>
                <a:extLst>
                  <a:ext uri="{0D108BD9-81ED-4DB2-BD59-A6C34878D82A}">
                    <a16:rowId xmlns:a16="http://schemas.microsoft.com/office/drawing/2014/main" val="2392731201"/>
                  </a:ext>
                </a:extLst>
              </a:tr>
              <a:tr h="429390">
                <a:tc>
                  <a:txBody>
                    <a:bodyPr/>
                    <a:lstStyle/>
                    <a:p>
                      <a:pPr algn="l" defTabSz="1828342">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Getting specifications from the customer</a:t>
                      </a:r>
                    </a:p>
                  </a:txBody>
                  <a:tcPr marL="45720" marR="45720" anchor="ctr" horzOverflow="overflow">
                    <a:lnL w="0">
                      <a:miter lim="400000"/>
                    </a:lnL>
                    <a:lnR w="0">
                      <a:noFill/>
                      <a:miter lim="400000"/>
                    </a:lnR>
                    <a:lnT w="0">
                      <a:miter lim="400000"/>
                    </a:lnT>
                    <a:lnB w="0">
                      <a:noFill/>
                      <a:miter lim="400000"/>
                    </a:lnB>
                    <a:solidFill>
                      <a:schemeClr val="bg1">
                        <a:lumMod val="85000"/>
                      </a:schemeClr>
                    </a:solidFill>
                  </a:tcPr>
                </a:tc>
                <a:tc>
                  <a:txBody>
                    <a:bodyPr/>
                    <a:lstStyle/>
                    <a:p>
                      <a:pPr algn="ctr" defTabSz="1828342">
                        <a:defRPr sz="1800">
                          <a:solidFill>
                            <a:srgbClr val="000000"/>
                          </a:solidFill>
                        </a:defRPr>
                      </a:pPr>
                      <a:endParaRPr lang="en-US" sz="14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anchor="ctr" horzOverflow="overflow">
                    <a:lnL w="0">
                      <a:noFill/>
                      <a:miter lim="400000"/>
                    </a:lnL>
                    <a:lnR w="0">
                      <a:noFill/>
                      <a:miter lim="400000"/>
                    </a:lnR>
                    <a:lnT w="0">
                      <a:miter lim="400000"/>
                    </a:lnT>
                    <a:lnB w="0">
                      <a:noFill/>
                      <a:miter lim="400000"/>
                    </a:lnB>
                    <a:solidFill>
                      <a:schemeClr val="bg1">
                        <a:lumMod val="85000"/>
                      </a:schemeClr>
                    </a:solidFill>
                  </a:tcPr>
                </a:tc>
                <a:tc>
                  <a:txBody>
                    <a:bodyPr/>
                    <a:lstStyle/>
                    <a:p>
                      <a:pPr algn="ctr" defTabSz="1828342">
                        <a:defRPr sz="1800">
                          <a:solidFill>
                            <a:srgbClr val="000000"/>
                          </a:solidFill>
                        </a:defRPr>
                      </a:pPr>
                      <a:endParaRPr lang="en-US" sz="14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anchor="ctr" horzOverflow="overflow">
                    <a:lnL w="0">
                      <a:noFill/>
                      <a:miter lim="400000"/>
                    </a:lnL>
                    <a:lnR w="0">
                      <a:miter lim="400000"/>
                    </a:lnR>
                    <a:lnT w="0">
                      <a:noFill/>
                      <a:miter lim="400000"/>
                    </a:lnT>
                    <a:lnB w="0">
                      <a:noFill/>
                      <a:miter lim="400000"/>
                    </a:lnB>
                    <a:solidFill>
                      <a:schemeClr val="bg1">
                        <a:lumMod val="85000"/>
                      </a:schemeClr>
                    </a:solidFill>
                  </a:tcPr>
                </a:tc>
                <a:extLst>
                  <a:ext uri="{0D108BD9-81ED-4DB2-BD59-A6C34878D82A}">
                    <a16:rowId xmlns:a16="http://schemas.microsoft.com/office/drawing/2014/main" val="1780965238"/>
                  </a:ext>
                </a:extLst>
              </a:tr>
              <a:tr h="429390">
                <a:tc>
                  <a:txBody>
                    <a:bodyPr/>
                    <a:lstStyle/>
                    <a:p>
                      <a:pPr algn="l" defTabSz="1828342">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Waiting for approval before completing a special transaction</a:t>
                      </a:r>
                    </a:p>
                  </a:txBody>
                  <a:tcPr marL="45720" marR="45720" anchor="ctr" horzOverflow="overflow">
                    <a:lnL w="0">
                      <a:miter lim="400000"/>
                    </a:lnL>
                    <a:lnR w="0">
                      <a:noFill/>
                      <a:miter lim="400000"/>
                    </a:lnR>
                    <a:lnT w="0">
                      <a:miter lim="400000"/>
                    </a:lnT>
                    <a:lnB w="0">
                      <a:miter lim="400000"/>
                    </a:lnB>
                    <a:solidFill>
                      <a:schemeClr val="bg1">
                        <a:lumMod val="85000"/>
                      </a:schemeClr>
                    </a:solidFill>
                  </a:tcPr>
                </a:tc>
                <a:tc>
                  <a:txBody>
                    <a:bodyPr/>
                    <a:lstStyle/>
                    <a:p>
                      <a:pPr marL="0" marR="0" lvl="0" indent="0" algn="ctr" defTabSz="1828342" eaLnBrk="1" fontAlgn="auto" latinLnBrk="0" hangingPunct="1">
                        <a:lnSpc>
                          <a:spcPct val="100000"/>
                        </a:lnSpc>
                        <a:spcBef>
                          <a:spcPts val="0"/>
                        </a:spcBef>
                        <a:spcAft>
                          <a:spcPts val="0"/>
                        </a:spcAft>
                        <a:buClrTx/>
                        <a:buSzTx/>
                        <a:buFontTx/>
                        <a:buNone/>
                        <a:tabLst/>
                        <a:defRPr sz="1800">
                          <a:solidFill>
                            <a:srgbClr val="000000"/>
                          </a:solidFill>
                        </a:defRPr>
                      </a:pPr>
                      <a:endParaRPr lang="en-US" sz="14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anchor="ctr" horzOverflow="overflow">
                    <a:lnL w="0">
                      <a:noFill/>
                      <a:miter lim="400000"/>
                    </a:lnL>
                    <a:lnR w="0">
                      <a:noFill/>
                      <a:miter lim="400000"/>
                    </a:lnR>
                    <a:lnT w="0">
                      <a:miter lim="400000"/>
                    </a:lnT>
                    <a:lnB w="0">
                      <a:miter lim="400000"/>
                    </a:lnB>
                    <a:solidFill>
                      <a:schemeClr val="bg1">
                        <a:lumMod val="85000"/>
                      </a:schemeClr>
                    </a:solidFill>
                  </a:tcPr>
                </a:tc>
                <a:tc>
                  <a:txBody>
                    <a:bodyPr/>
                    <a:lstStyle/>
                    <a:p>
                      <a:pPr marL="0" marR="0" lvl="0" indent="0" algn="ctr" defTabSz="1828342" eaLnBrk="1" fontAlgn="auto" latinLnBrk="0" hangingPunct="1">
                        <a:lnSpc>
                          <a:spcPct val="100000"/>
                        </a:lnSpc>
                        <a:spcBef>
                          <a:spcPts val="0"/>
                        </a:spcBef>
                        <a:spcAft>
                          <a:spcPts val="0"/>
                        </a:spcAft>
                        <a:buClrTx/>
                        <a:buSzTx/>
                        <a:buFontTx/>
                        <a:buNone/>
                        <a:tabLst/>
                        <a:defRPr sz="1800">
                          <a:solidFill>
                            <a:srgbClr val="000000"/>
                          </a:solidFill>
                        </a:defRPr>
                      </a:pPr>
                      <a:endParaRPr lang="en-US" sz="14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anchor="ctr" horzOverflow="overflow">
                    <a:lnL w="0">
                      <a:noFill/>
                      <a:miter lim="400000"/>
                    </a:lnL>
                    <a:lnR w="0">
                      <a:miter lim="400000"/>
                    </a:lnR>
                    <a:lnT w="0">
                      <a:noFill/>
                      <a:miter lim="400000"/>
                    </a:lnT>
                    <a:lnB w="0">
                      <a:miter lim="400000"/>
                    </a:lnB>
                    <a:solidFill>
                      <a:schemeClr val="bg1">
                        <a:lumMod val="85000"/>
                      </a:schemeClr>
                    </a:solidFill>
                  </a:tcPr>
                </a:tc>
                <a:extLst>
                  <a:ext uri="{0D108BD9-81ED-4DB2-BD59-A6C34878D82A}">
                    <a16:rowId xmlns:a16="http://schemas.microsoft.com/office/drawing/2014/main" val="514211142"/>
                  </a:ext>
                </a:extLst>
              </a:tr>
            </a:tbl>
          </a:graphicData>
        </a:graphic>
      </p:graphicFrame>
      <p:sp>
        <p:nvSpPr>
          <p:cNvPr id="11" name="Title 1">
            <a:extLst>
              <a:ext uri="{FF2B5EF4-FFF2-40B4-BE49-F238E27FC236}">
                <a16:creationId xmlns:a16="http://schemas.microsoft.com/office/drawing/2014/main" id="{EBA58326-2396-7FE1-EC21-73DE0010FF0C}"/>
              </a:ext>
            </a:extLst>
          </p:cNvPr>
          <p:cNvSpPr txBox="1">
            <a:spLocks/>
          </p:cNvSpPr>
          <p:nvPr/>
        </p:nvSpPr>
        <p:spPr>
          <a:xfrm>
            <a:off x="699910" y="681038"/>
            <a:ext cx="9815689" cy="1009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endParaRPr lang="en-US" dirty="0"/>
          </a:p>
        </p:txBody>
      </p:sp>
      <p:sp>
        <p:nvSpPr>
          <p:cNvPr id="15" name="TextBox 14">
            <a:extLst>
              <a:ext uri="{FF2B5EF4-FFF2-40B4-BE49-F238E27FC236}">
                <a16:creationId xmlns:a16="http://schemas.microsoft.com/office/drawing/2014/main" id="{EED06934-1BC7-4884-FAF1-1D7FDA57538D}"/>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Lean Fundamentals</a:t>
            </a:r>
          </a:p>
        </p:txBody>
      </p:sp>
      <p:sp>
        <p:nvSpPr>
          <p:cNvPr id="2" name="AutoShape 9">
            <a:extLst>
              <a:ext uri="{FF2B5EF4-FFF2-40B4-BE49-F238E27FC236}">
                <a16:creationId xmlns:a16="http://schemas.microsoft.com/office/drawing/2014/main" id="{C57DF95F-91D8-D7C9-52A0-443470F03CBA}"/>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6" name="AutoShape 11">
            <a:extLst>
              <a:ext uri="{FF2B5EF4-FFF2-40B4-BE49-F238E27FC236}">
                <a16:creationId xmlns:a16="http://schemas.microsoft.com/office/drawing/2014/main" id="{6F589982-DA3B-0A4A-AD10-B071B503640C}"/>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10">
            <a:extLst>
              <a:ext uri="{FF2B5EF4-FFF2-40B4-BE49-F238E27FC236}">
                <a16:creationId xmlns:a16="http://schemas.microsoft.com/office/drawing/2014/main" id="{9341F7B2-5F42-DB43-5847-AFBEBD1B7C2B}"/>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Tree>
    <p:extLst>
      <p:ext uri="{BB962C8B-B14F-4D97-AF65-F5344CB8AC3E}">
        <p14:creationId xmlns:p14="http://schemas.microsoft.com/office/powerpoint/2010/main" val="36626036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itle 22">
            <a:extLst>
              <a:ext uri="{FF2B5EF4-FFF2-40B4-BE49-F238E27FC236}">
                <a16:creationId xmlns:a16="http://schemas.microsoft.com/office/drawing/2014/main" id="{6506AA79-0F98-B20B-E8F1-86A7725522BA}"/>
              </a:ext>
            </a:extLst>
          </p:cNvPr>
          <p:cNvSpPr>
            <a:spLocks noGrp="1"/>
          </p:cNvSpPr>
          <p:nvPr>
            <p:ph type="title"/>
          </p:nvPr>
        </p:nvSpPr>
        <p:spPr/>
        <p:txBody>
          <a:bodyPr>
            <a:normAutofit/>
          </a:bodyPr>
          <a:lstStyle/>
          <a:p>
            <a:r>
              <a:rPr lang="en-US" sz="4000" dirty="0">
                <a:solidFill>
                  <a:schemeClr val="bg2">
                    <a:lumMod val="10000"/>
                  </a:schemeClr>
                </a:solidFill>
                <a:latin typeface="Roboto Medium"/>
                <a:ea typeface="Roboto Medium"/>
                <a:cs typeface="Roboto Medium"/>
              </a:rPr>
              <a:t>What is “Waste”?</a:t>
            </a:r>
          </a:p>
        </p:txBody>
      </p:sp>
      <p:sp>
        <p:nvSpPr>
          <p:cNvPr id="3" name="Footer Placeholder 2">
            <a:extLst>
              <a:ext uri="{FF2B5EF4-FFF2-40B4-BE49-F238E27FC236}">
                <a16:creationId xmlns:a16="http://schemas.microsoft.com/office/drawing/2014/main" id="{51E0F923-BF2B-DB43-27A7-CB2326AF632C}"/>
              </a:ext>
            </a:extLst>
          </p:cNvPr>
          <p:cNvSpPr>
            <a:spLocks noGrp="1"/>
          </p:cNvSpPr>
          <p:nvPr>
            <p:ph type="ftr" sz="quarter" idx="11"/>
          </p:nvPr>
        </p:nvSpPr>
        <p:spPr/>
        <p:txBody>
          <a:bodyPr/>
          <a:lstStyle/>
          <a:p>
            <a:r>
              <a:rPr lang="en-US" sz="900"/>
              <a:t>© Lean Horizons Consulting, LLC 2023. All Rights Reserved</a:t>
            </a:r>
            <a:endParaRPr lang="en-US" sz="900" dirty="0"/>
          </a:p>
        </p:txBody>
      </p:sp>
      <p:sp>
        <p:nvSpPr>
          <p:cNvPr id="4" name="Slide Number Placeholder 3">
            <a:extLst>
              <a:ext uri="{FF2B5EF4-FFF2-40B4-BE49-F238E27FC236}">
                <a16:creationId xmlns:a16="http://schemas.microsoft.com/office/drawing/2014/main" id="{399B9463-4CDE-3EF7-2811-BC679B707FFB}"/>
              </a:ext>
            </a:extLst>
          </p:cNvPr>
          <p:cNvSpPr>
            <a:spLocks noGrp="1"/>
          </p:cNvSpPr>
          <p:nvPr>
            <p:ph type="sldNum" sz="quarter" idx="12"/>
          </p:nvPr>
        </p:nvSpPr>
        <p:spPr/>
        <p:txBody>
          <a:bodyPr/>
          <a:lstStyle/>
          <a:p>
            <a:fld id="{CC6D4273-7FC1-0947-B9FE-19CB3C0D1FB6}" type="slidenum">
              <a:rPr lang="en-US" smtClean="0"/>
              <a:pPr/>
              <a:t>19</a:t>
            </a:fld>
            <a:endParaRPr lang="en-US" dirty="0"/>
          </a:p>
        </p:txBody>
      </p:sp>
      <p:grpSp>
        <p:nvGrpSpPr>
          <p:cNvPr id="11" name="Group 10">
            <a:extLst>
              <a:ext uri="{FF2B5EF4-FFF2-40B4-BE49-F238E27FC236}">
                <a16:creationId xmlns:a16="http://schemas.microsoft.com/office/drawing/2014/main" id="{39E8B8BC-0595-954D-7514-BFE194B231B8}"/>
              </a:ext>
            </a:extLst>
          </p:cNvPr>
          <p:cNvGrpSpPr/>
          <p:nvPr/>
        </p:nvGrpSpPr>
        <p:grpSpPr>
          <a:xfrm>
            <a:off x="838862" y="1877842"/>
            <a:ext cx="9770435" cy="3652710"/>
            <a:chOff x="-30228207" y="936425"/>
            <a:chExt cx="241338089" cy="29832423"/>
          </a:xfrm>
        </p:grpSpPr>
        <p:graphicFrame>
          <p:nvGraphicFramePr>
            <p:cNvPr id="12" name="Table">
              <a:extLst>
                <a:ext uri="{FF2B5EF4-FFF2-40B4-BE49-F238E27FC236}">
                  <a16:creationId xmlns:a16="http://schemas.microsoft.com/office/drawing/2014/main" id="{4DC24FE0-DEBE-2440-59A4-EAA62B706ECC}"/>
                </a:ext>
              </a:extLst>
            </p:cNvPr>
            <p:cNvGraphicFramePr/>
            <p:nvPr>
              <p:extLst>
                <p:ext uri="{D42A27DB-BD31-4B8C-83A1-F6EECF244321}">
                  <p14:modId xmlns:p14="http://schemas.microsoft.com/office/powerpoint/2010/main" val="1489832098"/>
                </p:ext>
              </p:extLst>
            </p:nvPr>
          </p:nvGraphicFramePr>
          <p:xfrm>
            <a:off x="-27324943" y="4864539"/>
            <a:ext cx="238434825" cy="25904309"/>
          </p:xfrm>
          <a:graphic>
            <a:graphicData uri="http://schemas.openxmlformats.org/drawingml/2006/table">
              <a:tbl>
                <a:tblPr/>
                <a:tblGrid>
                  <a:gridCol w="2508703">
                    <a:extLst>
                      <a:ext uri="{9D8B030D-6E8A-4147-A177-3AD203B41FA5}">
                        <a16:colId xmlns:a16="http://schemas.microsoft.com/office/drawing/2014/main" val="20000"/>
                      </a:ext>
                    </a:extLst>
                  </a:gridCol>
                  <a:gridCol w="7144195">
                    <a:extLst>
                      <a:ext uri="{9D8B030D-6E8A-4147-A177-3AD203B41FA5}">
                        <a16:colId xmlns:a16="http://schemas.microsoft.com/office/drawing/2014/main" val="20002"/>
                      </a:ext>
                    </a:extLst>
                  </a:gridCol>
                </a:tblGrid>
                <a:tr h="0">
                  <a:tc>
                    <a:txBody>
                      <a:bodyPr/>
                      <a:lstStyle/>
                      <a:p>
                        <a:pPr marL="0" marR="0" indent="0" algn="ctr" defTabSz="1828342" latinLnBrk="0">
                          <a:lnSpc>
                            <a:spcPct val="100000"/>
                          </a:lnSpc>
                          <a:spcBef>
                            <a:spcPts val="0"/>
                          </a:spcBef>
                          <a:spcAft>
                            <a:spcPts val="0"/>
                          </a:spcAft>
                          <a:buClrTx/>
                          <a:buSzTx/>
                          <a:buFontTx/>
                          <a:buNone/>
                          <a:tabLst/>
                          <a:defRPr sz="1800">
                            <a:solidFill>
                              <a:srgbClr val="000000"/>
                            </a:solidFill>
                          </a:defRPr>
                        </a:pPr>
                        <a:r>
                          <a:rPr lang="en-US" sz="1600" b="1" i="0" u="none" strike="noStrike" cap="none" spc="0" baseline="0" dirty="0">
                            <a:solidFill>
                              <a:schemeClr val="bg1"/>
                            </a:solidFill>
                            <a:uFillTx/>
                            <a:latin typeface="Roboto" panose="02000000000000000000" pitchFamily="2" charset="0"/>
                            <a:ea typeface="Roboto" panose="02000000000000000000" pitchFamily="2" charset="0"/>
                            <a:cs typeface="Roboto" panose="02000000000000000000" pitchFamily="2" charset="0"/>
                            <a:sym typeface="Roboto"/>
                          </a:rPr>
                          <a:t>The Three M’s</a:t>
                        </a:r>
                      </a:p>
                    </a:txBody>
                    <a:tcPr anchor="ctr" horzOverflow="overflow">
                      <a:lnL w="0">
                        <a:noFill/>
                        <a:miter lim="400000"/>
                      </a:lnL>
                      <a:lnR w="0">
                        <a:noFill/>
                        <a:miter lim="400000"/>
                      </a:lnR>
                      <a:lnT w="0">
                        <a:noFill/>
                        <a:miter lim="400000"/>
                      </a:lnT>
                      <a:lnB w="0">
                        <a:noFill/>
                        <a:miter lim="400000"/>
                      </a:lnB>
                      <a:solidFill>
                        <a:schemeClr val="accent1"/>
                      </a:solidFill>
                    </a:tcPr>
                  </a:tc>
                  <a:tc>
                    <a:txBody>
                      <a:bodyPr/>
                      <a:lstStyle/>
                      <a:p>
                        <a:pPr algn="ctr" defTabSz="1828342">
                          <a:defRPr sz="1800">
                            <a:solidFill>
                              <a:srgbClr val="000000"/>
                            </a:solidFill>
                          </a:defRPr>
                        </a:pPr>
                        <a:r>
                          <a:rPr lang="en-US" sz="1600" b="1" dirty="0">
                            <a:solidFill>
                              <a:schemeClr val="bg1"/>
                            </a:solidFill>
                            <a:latin typeface="Roboto" panose="02000000000000000000" pitchFamily="2" charset="0"/>
                            <a:ea typeface="Roboto" panose="02000000000000000000" pitchFamily="2" charset="0"/>
                            <a:cs typeface="Roboto" panose="02000000000000000000" pitchFamily="2" charset="0"/>
                          </a:rPr>
                          <a:t>Descriptions*</a:t>
                        </a:r>
                        <a:endParaRPr sz="1600" b="1" dirty="0">
                          <a:solidFill>
                            <a:schemeClr val="bg1"/>
                          </a:solidFill>
                          <a:latin typeface="Roboto" panose="02000000000000000000" pitchFamily="2" charset="0"/>
                          <a:ea typeface="Roboto" panose="02000000000000000000" pitchFamily="2" charset="0"/>
                          <a:cs typeface="Roboto" panose="02000000000000000000" pitchFamily="2" charset="0"/>
                        </a:endParaRPr>
                      </a:p>
                    </a:txBody>
                    <a:tcPr anchor="ctr" horzOverflow="overflow">
                      <a:lnL w="0">
                        <a:noFill/>
                        <a:miter lim="400000"/>
                      </a:lnL>
                      <a:lnR w="0">
                        <a:miter lim="400000"/>
                      </a:lnR>
                      <a:lnT w="0">
                        <a:miter lim="400000"/>
                      </a:lnT>
                      <a:lnB w="0">
                        <a:noFill/>
                        <a:miter lim="400000"/>
                      </a:lnB>
                      <a:solidFill>
                        <a:schemeClr val="accent1"/>
                      </a:solidFill>
                    </a:tcPr>
                  </a:tc>
                  <a:extLst>
                    <a:ext uri="{0D108BD9-81ED-4DB2-BD59-A6C34878D82A}">
                      <a16:rowId xmlns:a16="http://schemas.microsoft.com/office/drawing/2014/main" val="10000"/>
                    </a:ext>
                  </a:extLst>
                </a:tr>
                <a:tr h="1064623">
                  <a:tc>
                    <a:txBody>
                      <a:bodyPr/>
                      <a:lstStyle/>
                      <a:p>
                        <a:pPr marL="0" indent="0" algn="l">
                          <a:buNone/>
                        </a:pPr>
                        <a:r>
                          <a:rPr lang="en-US" sz="1600" dirty="0">
                            <a:solidFill>
                              <a:schemeClr val="bg2">
                                <a:lumMod val="10000"/>
                              </a:schemeClr>
                            </a:solidFill>
                            <a:latin typeface="Roboto"/>
                            <a:ea typeface="Roboto"/>
                            <a:cs typeface="Roboto"/>
                          </a:rPr>
                          <a:t>1. Muda</a:t>
                        </a:r>
                        <a:endParaRPr lang="en-US" dirty="0"/>
                      </a:p>
                    </a:txBody>
                    <a:tcPr anchor="ctr" horzOverflow="overflow">
                      <a:lnL w="0">
                        <a:miter lim="400000"/>
                      </a:lnL>
                      <a:lnR w="0">
                        <a:miter lim="400000"/>
                      </a:lnR>
                      <a:lnT w="0">
                        <a:noFill/>
                        <a:miter lim="400000"/>
                      </a:lnT>
                      <a:lnB w="0">
                        <a:miter lim="400000"/>
                      </a:lnB>
                      <a:solidFill>
                        <a:schemeClr val="bg1">
                          <a:lumMod val="85000"/>
                        </a:schemeClr>
                      </a:solidFill>
                    </a:tcPr>
                  </a:tc>
                  <a:tc>
                    <a:txBody>
                      <a:bodyPr/>
                      <a:lstStyle/>
                      <a:p>
                        <a:pPr algn="l" defTabSz="1828342">
                          <a:spcBef>
                            <a:spcPts val="2300"/>
                          </a:spcBef>
                          <a:defRPr sz="1800">
                            <a:solidFill>
                              <a:srgbClr val="000000"/>
                            </a:solidFill>
                          </a:defRPr>
                        </a:pPr>
                        <a:r>
                          <a:rPr lang="en-US" sz="16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Any activity that consumes resources without creating value for the customer</a:t>
                        </a:r>
                        <a:br>
                          <a:rPr lang="en-US" sz="16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br>
                        <a:r>
                          <a:rPr lang="en-US" sz="16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Aka: The Seven (or Eight) Wastes</a:t>
                        </a:r>
                      </a:p>
                    </a:txBody>
                    <a:tcPr anchor="ctr" horzOverflow="overflow">
                      <a:lnL w="0">
                        <a:noFill/>
                        <a:miter lim="400000"/>
                      </a:lnL>
                      <a:lnR w="0">
                        <a:miter lim="400000"/>
                      </a:lnR>
                      <a:lnT w="0">
                        <a:noFill/>
                        <a:miter lim="400000"/>
                      </a:lnT>
                      <a:lnB w="0">
                        <a:noFill/>
                        <a:miter lim="400000"/>
                      </a:lnB>
                      <a:solidFill>
                        <a:schemeClr val="bg1">
                          <a:lumMod val="85000"/>
                        </a:schemeClr>
                      </a:solidFill>
                    </a:tcPr>
                  </a:tc>
                  <a:extLst>
                    <a:ext uri="{0D108BD9-81ED-4DB2-BD59-A6C34878D82A}">
                      <a16:rowId xmlns:a16="http://schemas.microsoft.com/office/drawing/2014/main" val="10001"/>
                    </a:ext>
                  </a:extLst>
                </a:tr>
                <a:tr h="739900">
                  <a:tc>
                    <a:txBody>
                      <a:bodyPr/>
                      <a:lstStyle/>
                      <a:p>
                        <a:pPr marL="0" indent="0" algn="l" rtl="0" eaLnBrk="1" latinLnBrk="0" hangingPunct="1">
                          <a:buNone/>
                        </a:pPr>
                        <a:r>
                          <a:rPr lang="en-US" sz="1600" kern="1200" dirty="0">
                            <a:solidFill>
                              <a:schemeClr val="bg2">
                                <a:lumMod val="10000"/>
                              </a:schemeClr>
                            </a:solidFill>
                            <a:latin typeface="Roboto"/>
                            <a:ea typeface="Roboto"/>
                            <a:cs typeface="Roboto"/>
                          </a:rPr>
                          <a:t>2. Mura</a:t>
                        </a:r>
                      </a:p>
                    </a:txBody>
                    <a:tcPr anchor="ctr" horzOverflow="overflow">
                      <a:lnL w="0">
                        <a:miter lim="400000"/>
                      </a:lnL>
                      <a:lnR w="0">
                        <a:miter lim="400000"/>
                      </a:lnR>
                      <a:lnT w="0">
                        <a:miter lim="400000"/>
                      </a:lnT>
                      <a:lnB w="0">
                        <a:miter lim="400000"/>
                      </a:lnB>
                      <a:solidFill>
                        <a:schemeClr val="bg1">
                          <a:lumMod val="85000"/>
                        </a:schemeClr>
                      </a:solidFill>
                    </a:tcPr>
                  </a:tc>
                  <a:tc>
                    <a:txBody>
                      <a:bodyPr/>
                      <a:lstStyle/>
                      <a:p>
                        <a:pPr marL="0" algn="l" defTabSz="1828342" rtl="0" eaLnBrk="1" latinLnBrk="0" hangingPunct="1">
                          <a:spcBef>
                            <a:spcPts val="2300"/>
                          </a:spcBef>
                          <a:defRPr sz="1800">
                            <a:solidFill>
                              <a:srgbClr val="000000"/>
                            </a:solidFill>
                          </a:defRPr>
                        </a:pPr>
                        <a:r>
                          <a:rPr lang="en-US" sz="1600" kern="12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Unevenness in an operation, inconsistency, shifting schedules or priorities, variation </a:t>
                        </a:r>
                      </a:p>
                    </a:txBody>
                    <a:tcPr anchor="ctr" horzOverflow="overflow">
                      <a:lnL w="0">
                        <a:noFill/>
                        <a:miter lim="400000"/>
                      </a:lnL>
                      <a:lnR w="0">
                        <a:miter lim="400000"/>
                      </a:lnR>
                      <a:lnT w="0">
                        <a:noFill/>
                        <a:miter lim="400000"/>
                      </a:lnT>
                      <a:lnB w="0">
                        <a:noFill/>
                        <a:miter lim="400000"/>
                      </a:lnB>
                      <a:solidFill>
                        <a:schemeClr val="bg1">
                          <a:lumMod val="85000"/>
                        </a:schemeClr>
                      </a:solidFill>
                    </a:tcPr>
                  </a:tc>
                  <a:extLst>
                    <a:ext uri="{0D108BD9-81ED-4DB2-BD59-A6C34878D82A}">
                      <a16:rowId xmlns:a16="http://schemas.microsoft.com/office/drawing/2014/main" val="10002"/>
                    </a:ext>
                  </a:extLst>
                </a:tr>
                <a:tr h="1031945">
                  <a:tc>
                    <a:txBody>
                      <a:bodyPr/>
                      <a:lstStyle/>
                      <a:p>
                        <a:pPr algn="l"/>
                        <a:r>
                          <a:rPr lang="en-US" sz="1600" dirty="0">
                            <a:solidFill>
                              <a:schemeClr val="bg2">
                                <a:lumMod val="10000"/>
                              </a:schemeClr>
                            </a:solidFill>
                            <a:latin typeface="Roboto"/>
                            <a:ea typeface="Roboto"/>
                            <a:cs typeface="Roboto"/>
                          </a:rPr>
                          <a:t>3. Muri</a:t>
                        </a:r>
                      </a:p>
                    </a:txBody>
                    <a:tcPr anchor="ctr" horzOverflow="overflow">
                      <a:lnL w="0">
                        <a:miter lim="400000"/>
                      </a:lnL>
                      <a:lnR w="0">
                        <a:miter lim="400000"/>
                      </a:lnR>
                      <a:lnT w="0">
                        <a:miter lim="400000"/>
                      </a:lnT>
                      <a:lnB w="0">
                        <a:miter lim="400000"/>
                      </a:lnB>
                      <a:solidFill>
                        <a:schemeClr val="bg1">
                          <a:lumMod val="85000"/>
                        </a:schemeClr>
                      </a:solidFill>
                    </a:tcPr>
                  </a:tc>
                  <a:tc>
                    <a:txBody>
                      <a:bodyPr/>
                      <a:lstStyle/>
                      <a:p>
                        <a:pPr algn="l" defTabSz="1828342">
                          <a:spcBef>
                            <a:spcPts val="2300"/>
                          </a:spcBef>
                          <a:defRPr sz="1800">
                            <a:solidFill>
                              <a:srgbClr val="000000"/>
                            </a:solidFill>
                          </a:defRPr>
                        </a:pPr>
                        <a:r>
                          <a:rPr lang="en-US" sz="16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Overburdening people and equipment by requiring them to run at a higher or harder pace with more force or effort for a longer period of time than equipment designs or appropriate workforce management allow</a:t>
                        </a:r>
                      </a:p>
                    </a:txBody>
                    <a:tcPr anchor="ctr" horzOverflow="overflow">
                      <a:lnL w="0">
                        <a:noFill/>
                        <a:miter lim="400000"/>
                      </a:lnL>
                      <a:lnR w="0">
                        <a:miter lim="400000"/>
                      </a:lnR>
                      <a:lnT w="0">
                        <a:noFill/>
                        <a:miter lim="400000"/>
                      </a:lnT>
                      <a:lnB w="0">
                        <a:miter lim="400000"/>
                      </a:lnB>
                      <a:solidFill>
                        <a:schemeClr val="bg1">
                          <a:lumMod val="85000"/>
                        </a:schemeClr>
                      </a:solidFill>
                    </a:tcPr>
                  </a:tc>
                  <a:extLst>
                    <a:ext uri="{0D108BD9-81ED-4DB2-BD59-A6C34878D82A}">
                      <a16:rowId xmlns:a16="http://schemas.microsoft.com/office/drawing/2014/main" val="10003"/>
                    </a:ext>
                  </a:extLst>
                </a:tr>
              </a:tbl>
            </a:graphicData>
          </a:graphic>
        </p:graphicFrame>
        <p:sp>
          <p:nvSpPr>
            <p:cNvPr id="13" name="TextBox 12">
              <a:extLst>
                <a:ext uri="{FF2B5EF4-FFF2-40B4-BE49-F238E27FC236}">
                  <a16:creationId xmlns:a16="http://schemas.microsoft.com/office/drawing/2014/main" id="{88941240-F188-431B-AE51-38DEB2CD320F}"/>
                </a:ext>
              </a:extLst>
            </p:cNvPr>
            <p:cNvSpPr txBox="1"/>
            <p:nvPr/>
          </p:nvSpPr>
          <p:spPr>
            <a:xfrm>
              <a:off x="-30228207" y="936425"/>
              <a:ext cx="225377855" cy="335156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chemeClr val="bg2">
                      <a:lumMod val="10000"/>
                    </a:schemeClr>
                  </a:solidFill>
                  <a:effectLst/>
                  <a:uFillTx/>
                  <a:latin typeface="Roboto" panose="02000000000000000000" pitchFamily="2" charset="0"/>
                  <a:ea typeface="Roboto" panose="02000000000000000000" pitchFamily="2" charset="0"/>
                  <a:cs typeface="Roboto" panose="02000000000000000000" pitchFamily="2" charset="0"/>
                  <a:sym typeface="Roboto"/>
                </a:rPr>
                <a:t>Terms originating from the Toyota Production System, and called the Three M’s</a:t>
              </a:r>
            </a:p>
          </p:txBody>
        </p:sp>
      </p:grpSp>
      <p:sp>
        <p:nvSpPr>
          <p:cNvPr id="15" name="TextBox 14">
            <a:extLst>
              <a:ext uri="{FF2B5EF4-FFF2-40B4-BE49-F238E27FC236}">
                <a16:creationId xmlns:a16="http://schemas.microsoft.com/office/drawing/2014/main" id="{96D66AFF-B835-064B-5CD8-8E2D647EC435}"/>
              </a:ext>
            </a:extLst>
          </p:cNvPr>
          <p:cNvSpPr txBox="1"/>
          <p:nvPr/>
        </p:nvSpPr>
        <p:spPr>
          <a:xfrm>
            <a:off x="7118799" y="5636973"/>
            <a:ext cx="3803650" cy="253916"/>
          </a:xfrm>
          <a:prstGeom prst="rect">
            <a:avLst/>
          </a:prstGeom>
          <a:noFill/>
        </p:spPr>
        <p:txBody>
          <a:bodyPr wrap="square">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1050" b="0" i="0" u="none" strike="noStrike" cap="none" spc="0" normalizeH="0" baseline="0" dirty="0">
                <a:ln>
                  <a:noFill/>
                </a:ln>
                <a:solidFill>
                  <a:schemeClr val="bg2">
                    <a:lumMod val="10000"/>
                  </a:schemeClr>
                </a:solidFill>
                <a:effectLst/>
                <a:uFillTx/>
                <a:latin typeface="Roboto" panose="02000000000000000000" pitchFamily="2" charset="0"/>
                <a:ea typeface="Roboto" panose="02000000000000000000" pitchFamily="2" charset="0"/>
                <a:cs typeface="Roboto" panose="02000000000000000000" pitchFamily="2" charset="0"/>
                <a:sym typeface="Roboto"/>
              </a:rPr>
              <a:t>* Source: Lean Lexicon, 3rd Edition, Lean Enterprise Institute</a:t>
            </a:r>
          </a:p>
        </p:txBody>
      </p:sp>
      <p:sp>
        <p:nvSpPr>
          <p:cNvPr id="21" name="TextBox 20">
            <a:extLst>
              <a:ext uri="{FF2B5EF4-FFF2-40B4-BE49-F238E27FC236}">
                <a16:creationId xmlns:a16="http://schemas.microsoft.com/office/drawing/2014/main" id="{ABB26EC5-81A4-7C44-FDB2-6E0BB8939BA0}"/>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Lean Fundamentals</a:t>
            </a:r>
          </a:p>
        </p:txBody>
      </p:sp>
      <p:sp>
        <p:nvSpPr>
          <p:cNvPr id="2" name="AutoShape 9">
            <a:extLst>
              <a:ext uri="{FF2B5EF4-FFF2-40B4-BE49-F238E27FC236}">
                <a16:creationId xmlns:a16="http://schemas.microsoft.com/office/drawing/2014/main" id="{96B441B6-E1AC-1795-42CA-F63CB590988C}"/>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5" name="AutoShape 11">
            <a:extLst>
              <a:ext uri="{FF2B5EF4-FFF2-40B4-BE49-F238E27FC236}">
                <a16:creationId xmlns:a16="http://schemas.microsoft.com/office/drawing/2014/main" id="{DC9C4AAA-0D29-15A5-1AF1-63538F6AE313}"/>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6" name="AutoShape 10">
            <a:extLst>
              <a:ext uri="{FF2B5EF4-FFF2-40B4-BE49-F238E27FC236}">
                <a16:creationId xmlns:a16="http://schemas.microsoft.com/office/drawing/2014/main" id="{C0879F4D-23EE-2F6A-23E2-243BEAAFC334}"/>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Tree>
    <p:extLst>
      <p:ext uri="{BB962C8B-B14F-4D97-AF65-F5344CB8AC3E}">
        <p14:creationId xmlns:p14="http://schemas.microsoft.com/office/powerpoint/2010/main" val="11461252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51E0F923-BF2B-DB43-27A7-CB2326AF632C}"/>
              </a:ext>
            </a:extLst>
          </p:cNvPr>
          <p:cNvSpPr>
            <a:spLocks noGrp="1"/>
          </p:cNvSpPr>
          <p:nvPr>
            <p:ph type="ftr" sz="quarter" idx="11"/>
          </p:nvPr>
        </p:nvSpPr>
        <p:spPr/>
        <p:txBody>
          <a:bodyPr/>
          <a:lstStyle/>
          <a:p>
            <a:r>
              <a:rPr lang="en-US" sz="900"/>
              <a:t>© Lean Horizons Consulting, LLC 2023. All Rights Reserved</a:t>
            </a:r>
            <a:endParaRPr lang="en-US" sz="900" dirty="0"/>
          </a:p>
        </p:txBody>
      </p:sp>
      <p:sp>
        <p:nvSpPr>
          <p:cNvPr id="4" name="Slide Number Placeholder 3">
            <a:extLst>
              <a:ext uri="{FF2B5EF4-FFF2-40B4-BE49-F238E27FC236}">
                <a16:creationId xmlns:a16="http://schemas.microsoft.com/office/drawing/2014/main" id="{399B9463-4CDE-3EF7-2811-BC679B707FFB}"/>
              </a:ext>
            </a:extLst>
          </p:cNvPr>
          <p:cNvSpPr>
            <a:spLocks noGrp="1"/>
          </p:cNvSpPr>
          <p:nvPr>
            <p:ph type="sldNum" sz="quarter" idx="12"/>
          </p:nvPr>
        </p:nvSpPr>
        <p:spPr/>
        <p:txBody>
          <a:bodyPr/>
          <a:lstStyle/>
          <a:p>
            <a:fld id="{CC6D4273-7FC1-0947-B9FE-19CB3C0D1FB6}" type="slidenum">
              <a:rPr lang="en-US" smtClean="0"/>
              <a:pPr/>
              <a:t>20</a:t>
            </a:fld>
            <a:endParaRPr lang="en-US" dirty="0"/>
          </a:p>
        </p:txBody>
      </p:sp>
      <p:graphicFrame>
        <p:nvGraphicFramePr>
          <p:cNvPr id="14" name="Table">
            <a:extLst>
              <a:ext uri="{FF2B5EF4-FFF2-40B4-BE49-F238E27FC236}">
                <a16:creationId xmlns:a16="http://schemas.microsoft.com/office/drawing/2014/main" id="{E517C667-B767-4995-357A-139D3B28AFF6}"/>
              </a:ext>
            </a:extLst>
          </p:cNvPr>
          <p:cNvGraphicFramePr/>
          <p:nvPr>
            <p:extLst>
              <p:ext uri="{D42A27DB-BD31-4B8C-83A1-F6EECF244321}">
                <p14:modId xmlns:p14="http://schemas.microsoft.com/office/powerpoint/2010/main" val="2673159095"/>
              </p:ext>
            </p:extLst>
          </p:nvPr>
        </p:nvGraphicFramePr>
        <p:xfrm>
          <a:off x="838200" y="1308024"/>
          <a:ext cx="10209170" cy="4687029"/>
        </p:xfrm>
        <a:graphic>
          <a:graphicData uri="http://schemas.openxmlformats.org/drawingml/2006/table">
            <a:tbl>
              <a:tblPr/>
              <a:tblGrid>
                <a:gridCol w="3017574">
                  <a:extLst>
                    <a:ext uri="{9D8B030D-6E8A-4147-A177-3AD203B41FA5}">
                      <a16:colId xmlns:a16="http://schemas.microsoft.com/office/drawing/2014/main" val="20000"/>
                    </a:ext>
                  </a:extLst>
                </a:gridCol>
                <a:gridCol w="7191596">
                  <a:extLst>
                    <a:ext uri="{9D8B030D-6E8A-4147-A177-3AD203B41FA5}">
                      <a16:colId xmlns:a16="http://schemas.microsoft.com/office/drawing/2014/main" val="20001"/>
                    </a:ext>
                  </a:extLst>
                </a:gridCol>
              </a:tblGrid>
              <a:tr h="520781">
                <a:tc>
                  <a:txBody>
                    <a:bodyPr/>
                    <a:lstStyle/>
                    <a:p>
                      <a:pPr algn="ctr" defTabSz="1828342">
                        <a:tabLst>
                          <a:tab pos="914400" algn="l"/>
                        </a:tabLst>
                        <a:defRPr sz="3500">
                          <a:solidFill>
                            <a:srgbClr val="999999"/>
                          </a:solidFill>
                        </a:defRPr>
                      </a:pPr>
                      <a:r>
                        <a:rPr lang="en-US" sz="1600" b="1" i="0" u="none" strike="noStrike" kern="1200" cap="none" spc="0" baseline="0" dirty="0">
                          <a:solidFill>
                            <a:schemeClr val="bg1"/>
                          </a:solidFill>
                          <a:uFillTx/>
                          <a:latin typeface="Roboto" panose="02000000000000000000" pitchFamily="2" charset="0"/>
                          <a:ea typeface="Roboto" panose="02000000000000000000" pitchFamily="2" charset="0"/>
                          <a:cs typeface="Roboto" panose="02000000000000000000" pitchFamily="2" charset="0"/>
                          <a:sym typeface="Roboto"/>
                        </a:rPr>
                        <a:t>Wastes</a:t>
                      </a:r>
                      <a:endParaRPr sz="1600" b="1" i="0" u="none" strike="noStrike" kern="1200" cap="none" spc="0" baseline="0" dirty="0">
                        <a:solidFill>
                          <a:schemeClr val="bg1"/>
                        </a:solidFill>
                        <a:uFillTx/>
                        <a:latin typeface="Roboto" panose="02000000000000000000" pitchFamily="2" charset="0"/>
                        <a:ea typeface="Roboto" panose="02000000000000000000" pitchFamily="2" charset="0"/>
                        <a:cs typeface="Roboto" panose="02000000000000000000" pitchFamily="2" charset="0"/>
                        <a:sym typeface="Roboto"/>
                      </a:endParaRPr>
                    </a:p>
                  </a:txBody>
                  <a:tcPr anchor="ctr" horzOverflow="overflow">
                    <a:lnL w="0">
                      <a:noFill/>
                      <a:miter lim="400000"/>
                    </a:lnL>
                    <a:lnR w="0">
                      <a:noFill/>
                      <a:miter lim="400000"/>
                    </a:lnR>
                    <a:lnT w="0">
                      <a:noFill/>
                      <a:miter lim="400000"/>
                    </a:lnT>
                    <a:lnB w="0">
                      <a:noFill/>
                      <a:miter lim="400000"/>
                    </a:lnB>
                    <a:solidFill>
                      <a:schemeClr val="accent1"/>
                    </a:solidFill>
                  </a:tcPr>
                </a:tc>
                <a:tc>
                  <a:txBody>
                    <a:bodyPr/>
                    <a:lstStyle/>
                    <a:p>
                      <a:pPr algn="ctr" defTabSz="1828342">
                        <a:defRPr sz="1800">
                          <a:solidFill>
                            <a:srgbClr val="000000"/>
                          </a:solidFill>
                        </a:defRPr>
                      </a:pPr>
                      <a:r>
                        <a:rPr lang="en-US" sz="1600" b="1" i="0" u="none" strike="noStrike" kern="1200" cap="none" spc="0" baseline="0" dirty="0">
                          <a:solidFill>
                            <a:schemeClr val="bg1"/>
                          </a:solidFill>
                          <a:uFillTx/>
                          <a:latin typeface="Roboto" panose="02000000000000000000" pitchFamily="2" charset="0"/>
                          <a:ea typeface="Roboto" panose="02000000000000000000" pitchFamily="2" charset="0"/>
                          <a:cs typeface="Roboto" panose="02000000000000000000" pitchFamily="2" charset="0"/>
                        </a:rPr>
                        <a:t>Definition</a:t>
                      </a:r>
                      <a:endParaRPr sz="1600" b="1" i="0" u="none" strike="noStrike" kern="1200" cap="none" spc="0" baseline="0" dirty="0">
                        <a:solidFill>
                          <a:schemeClr val="bg1"/>
                        </a:solidFill>
                        <a:uFillTx/>
                        <a:latin typeface="Roboto" panose="02000000000000000000" pitchFamily="2" charset="0"/>
                        <a:ea typeface="Roboto" panose="02000000000000000000" pitchFamily="2" charset="0"/>
                        <a:cs typeface="Roboto" panose="02000000000000000000" pitchFamily="2" charset="0"/>
                      </a:endParaRPr>
                    </a:p>
                  </a:txBody>
                  <a:tcPr anchor="ctr" horzOverflow="overflow">
                    <a:lnL w="0">
                      <a:noFill/>
                      <a:miter lim="400000"/>
                    </a:lnL>
                    <a:lnR w="0">
                      <a:miter lim="400000"/>
                    </a:lnR>
                    <a:lnT w="0">
                      <a:miter lim="400000"/>
                    </a:lnT>
                    <a:lnB w="0">
                      <a:miter lim="400000"/>
                    </a:lnB>
                    <a:solidFill>
                      <a:schemeClr val="accent1"/>
                    </a:solidFill>
                  </a:tcPr>
                </a:tc>
                <a:extLst>
                  <a:ext uri="{0D108BD9-81ED-4DB2-BD59-A6C34878D82A}">
                    <a16:rowId xmlns:a16="http://schemas.microsoft.com/office/drawing/2014/main" val="10000"/>
                  </a:ext>
                </a:extLst>
              </a:tr>
              <a:tr h="520781">
                <a:tc>
                  <a:txBody>
                    <a:bodyPr/>
                    <a:lstStyle/>
                    <a:p>
                      <a:pPr marL="0" indent="0" algn="l" defTabSz="1828342">
                        <a:buAutoNum type="arabicPeriod"/>
                        <a:defRPr sz="1800">
                          <a:solidFill>
                            <a:srgbClr val="000000"/>
                          </a:solidFill>
                        </a:defRPr>
                      </a:pPr>
                      <a:r>
                        <a:rPr lang="en-US" sz="1800" kern="1200" dirty="0">
                          <a:solidFill>
                            <a:schemeClr val="tx1"/>
                          </a:solidFill>
                          <a:latin typeface="Roboto" panose="02000000000000000000" pitchFamily="2" charset="0"/>
                          <a:ea typeface="Roboto" panose="02000000000000000000" pitchFamily="2" charset="0"/>
                          <a:cs typeface="Roboto" panose="02000000000000000000" pitchFamily="2" charset="0"/>
                        </a:rPr>
                        <a:t> </a:t>
                      </a:r>
                      <a:r>
                        <a:rPr lang="en-US" sz="1800" b="1" u="sng" kern="1200" dirty="0">
                          <a:solidFill>
                            <a:schemeClr val="tx1"/>
                          </a:solidFill>
                          <a:latin typeface="Roboto" panose="02000000000000000000" pitchFamily="2" charset="0"/>
                          <a:ea typeface="Roboto" panose="02000000000000000000" pitchFamily="2" charset="0"/>
                          <a:cs typeface="Roboto" panose="02000000000000000000" pitchFamily="2" charset="0"/>
                        </a:rPr>
                        <a:t>D</a:t>
                      </a:r>
                      <a:r>
                        <a:rPr lang="en-US" sz="1800" kern="1200" dirty="0">
                          <a:solidFill>
                            <a:schemeClr val="tx1"/>
                          </a:solidFill>
                          <a:latin typeface="Roboto" panose="02000000000000000000" pitchFamily="2" charset="0"/>
                          <a:ea typeface="Roboto" panose="02000000000000000000" pitchFamily="2" charset="0"/>
                          <a:cs typeface="Roboto" panose="02000000000000000000" pitchFamily="2" charset="0"/>
                        </a:rPr>
                        <a:t>efects</a:t>
                      </a:r>
                    </a:p>
                  </a:txBody>
                  <a:tcPr marL="45720" marR="45720" anchor="ctr" horzOverflow="overflow">
                    <a:lnL w="0">
                      <a:miter lim="400000"/>
                    </a:lnL>
                    <a:lnR w="0">
                      <a:miter lim="400000"/>
                    </a:lnR>
                    <a:lnT w="0">
                      <a:noFill/>
                      <a:miter lim="400000"/>
                    </a:lnT>
                    <a:lnB w="0">
                      <a:miter lim="400000"/>
                    </a:lnB>
                    <a:solidFill>
                      <a:schemeClr val="bg1">
                        <a:lumMod val="85000"/>
                      </a:schemeClr>
                    </a:solidFill>
                  </a:tcPr>
                </a:tc>
                <a:tc>
                  <a:txBody>
                    <a:bodyPr/>
                    <a:lstStyle/>
                    <a:p>
                      <a:pPr marL="0" marR="0" lvl="0" indent="0" algn="l" defTabSz="1828342" eaLnBrk="1" fontAlgn="auto" latinLnBrk="0" hangingPunct="1">
                        <a:lnSpc>
                          <a:spcPct val="100000"/>
                        </a:lnSpc>
                        <a:spcBef>
                          <a:spcPts val="0"/>
                        </a:spcBef>
                        <a:spcAft>
                          <a:spcPts val="0"/>
                        </a:spcAft>
                        <a:buClrTx/>
                        <a:buSzTx/>
                        <a:buFontTx/>
                        <a:buNone/>
                        <a:tabLst/>
                        <a:defRPr sz="1800">
                          <a:solidFill>
                            <a:srgbClr val="000000"/>
                          </a:solidFill>
                        </a:defRPr>
                      </a:pPr>
                      <a:r>
                        <a:rPr lang="en-US" sz="1600" dirty="0">
                          <a:solidFill>
                            <a:schemeClr val="tx1"/>
                          </a:solidFill>
                          <a:latin typeface="Roboto" panose="02000000000000000000" pitchFamily="2" charset="0"/>
                          <a:ea typeface="Roboto" panose="02000000000000000000" pitchFamily="2" charset="0"/>
                          <a:cs typeface="Roboto" panose="02000000000000000000" pitchFamily="2" charset="0"/>
                        </a:rPr>
                        <a:t>Process steps that result in scrap, rework or re-processing.</a:t>
                      </a:r>
                    </a:p>
                  </a:txBody>
                  <a:tcPr marL="45720" marR="45720" anchor="ctr" horzOverflow="overflow">
                    <a:lnL w="0">
                      <a:miter lim="400000"/>
                    </a:lnL>
                    <a:lnR w="0">
                      <a:miter lim="400000"/>
                    </a:lnR>
                    <a:lnT w="0">
                      <a:miter lim="400000"/>
                    </a:lnT>
                    <a:lnB w="0">
                      <a:miter lim="400000"/>
                    </a:lnB>
                    <a:solidFill>
                      <a:schemeClr val="bg1">
                        <a:lumMod val="85000"/>
                      </a:schemeClr>
                    </a:solidFill>
                  </a:tcPr>
                </a:tc>
                <a:extLst>
                  <a:ext uri="{0D108BD9-81ED-4DB2-BD59-A6C34878D82A}">
                    <a16:rowId xmlns:a16="http://schemas.microsoft.com/office/drawing/2014/main" val="10001"/>
                  </a:ext>
                </a:extLst>
              </a:tr>
              <a:tr h="520781">
                <a:tc>
                  <a:txBody>
                    <a:bodyPr/>
                    <a:lstStyle/>
                    <a:p>
                      <a:pPr algn="l" defTabSz="1828342">
                        <a:defRPr sz="1800">
                          <a:solidFill>
                            <a:srgbClr val="000000"/>
                          </a:solidFill>
                        </a:defRPr>
                      </a:pPr>
                      <a:r>
                        <a:rPr lang="en-US" sz="1800" dirty="0">
                          <a:solidFill>
                            <a:schemeClr val="tx1"/>
                          </a:solidFill>
                          <a:latin typeface="Roboto" panose="02000000000000000000" pitchFamily="2" charset="0"/>
                          <a:ea typeface="Roboto" panose="02000000000000000000" pitchFamily="2" charset="0"/>
                          <a:cs typeface="Roboto" panose="02000000000000000000" pitchFamily="2" charset="0"/>
                        </a:rPr>
                        <a:t>2. </a:t>
                      </a:r>
                      <a:r>
                        <a:rPr lang="en-US" sz="1800" b="1" u="sng" dirty="0">
                          <a:solidFill>
                            <a:schemeClr val="tx1"/>
                          </a:solidFill>
                          <a:latin typeface="Roboto" panose="02000000000000000000" pitchFamily="2" charset="0"/>
                          <a:ea typeface="Roboto" panose="02000000000000000000" pitchFamily="2" charset="0"/>
                          <a:cs typeface="Roboto" panose="02000000000000000000" pitchFamily="2" charset="0"/>
                        </a:rPr>
                        <a:t>O</a:t>
                      </a:r>
                      <a:r>
                        <a:rPr lang="en-US" sz="1800" dirty="0">
                          <a:solidFill>
                            <a:schemeClr val="tx1"/>
                          </a:solidFill>
                          <a:latin typeface="Roboto" panose="02000000000000000000" pitchFamily="2" charset="0"/>
                          <a:ea typeface="Roboto" panose="02000000000000000000" pitchFamily="2" charset="0"/>
                          <a:cs typeface="Roboto" panose="02000000000000000000" pitchFamily="2" charset="0"/>
                        </a:rPr>
                        <a:t>ver Production</a:t>
                      </a:r>
                      <a:endParaRPr sz="18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anchor="ctr" horzOverflow="overflow">
                    <a:lnL w="0">
                      <a:miter lim="400000"/>
                    </a:lnL>
                    <a:lnR w="0">
                      <a:miter lim="400000"/>
                    </a:lnR>
                    <a:lnT w="0">
                      <a:miter lim="400000"/>
                    </a:lnT>
                    <a:lnB w="0">
                      <a:miter lim="400000"/>
                    </a:lnB>
                    <a:solidFill>
                      <a:schemeClr val="bg1">
                        <a:lumMod val="85000"/>
                      </a:schemeClr>
                    </a:solidFill>
                  </a:tcPr>
                </a:tc>
                <a:tc>
                  <a:txBody>
                    <a:bodyPr/>
                    <a:lstStyle/>
                    <a:p>
                      <a:pPr algn="l" defTabSz="1828342">
                        <a:defRPr sz="1800">
                          <a:solidFill>
                            <a:srgbClr val="000000"/>
                          </a:solidFill>
                        </a:defRPr>
                      </a:pPr>
                      <a:r>
                        <a:rPr lang="en-US" sz="1600" b="0" i="0" u="none" strike="noStrike" cap="none" spc="0" baseline="0" dirty="0">
                          <a:solidFill>
                            <a:schemeClr val="tx1"/>
                          </a:solidFill>
                          <a:uFillTx/>
                          <a:latin typeface="Roboto" panose="02000000000000000000" pitchFamily="2" charset="0"/>
                          <a:ea typeface="Roboto" panose="02000000000000000000" pitchFamily="2" charset="0"/>
                          <a:cs typeface="Roboto" panose="02000000000000000000" pitchFamily="2" charset="0"/>
                          <a:sym typeface="Roboto"/>
                        </a:rPr>
                        <a:t>Producing more product than is required at the current time.</a:t>
                      </a:r>
                      <a:endParaRPr lang="en-US" sz="16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anchor="ctr" horzOverflow="overflow">
                    <a:lnL w="0">
                      <a:miter lim="400000"/>
                    </a:lnL>
                    <a:lnR w="0">
                      <a:miter lim="400000"/>
                    </a:lnR>
                    <a:lnT w="0">
                      <a:miter lim="400000"/>
                    </a:lnT>
                    <a:lnB w="0">
                      <a:miter lim="400000"/>
                    </a:lnB>
                    <a:solidFill>
                      <a:schemeClr val="bg1">
                        <a:lumMod val="85000"/>
                      </a:schemeClr>
                    </a:solidFill>
                  </a:tcPr>
                </a:tc>
                <a:extLst>
                  <a:ext uri="{0D108BD9-81ED-4DB2-BD59-A6C34878D82A}">
                    <a16:rowId xmlns:a16="http://schemas.microsoft.com/office/drawing/2014/main" val="10002"/>
                  </a:ext>
                </a:extLst>
              </a:tr>
              <a:tr h="520781">
                <a:tc>
                  <a:txBody>
                    <a:bodyPr/>
                    <a:lstStyle/>
                    <a:p>
                      <a:pPr algn="l" defTabSz="1828342">
                        <a:defRPr sz="1800">
                          <a:solidFill>
                            <a:srgbClr val="000000"/>
                          </a:solidFill>
                        </a:defRPr>
                      </a:pPr>
                      <a:r>
                        <a:rPr lang="en-US" sz="1800" dirty="0">
                          <a:solidFill>
                            <a:schemeClr val="tx1"/>
                          </a:solidFill>
                          <a:latin typeface="Roboto" panose="02000000000000000000" pitchFamily="2" charset="0"/>
                          <a:ea typeface="Roboto" panose="02000000000000000000" pitchFamily="2" charset="0"/>
                          <a:cs typeface="Roboto" panose="02000000000000000000" pitchFamily="2" charset="0"/>
                        </a:rPr>
                        <a:t>3. </a:t>
                      </a:r>
                      <a:r>
                        <a:rPr lang="en-US" sz="1800" b="1" u="sng" dirty="0">
                          <a:solidFill>
                            <a:schemeClr val="tx1"/>
                          </a:solidFill>
                          <a:latin typeface="Roboto" panose="02000000000000000000" pitchFamily="2" charset="0"/>
                          <a:ea typeface="Roboto" panose="02000000000000000000" pitchFamily="2" charset="0"/>
                          <a:cs typeface="Roboto" panose="02000000000000000000" pitchFamily="2" charset="0"/>
                        </a:rPr>
                        <a:t>W</a:t>
                      </a:r>
                      <a:r>
                        <a:rPr lang="en-US" sz="1800" dirty="0">
                          <a:solidFill>
                            <a:schemeClr val="tx1"/>
                          </a:solidFill>
                          <a:latin typeface="Roboto" panose="02000000000000000000" pitchFamily="2" charset="0"/>
                          <a:ea typeface="Roboto" panose="02000000000000000000" pitchFamily="2" charset="0"/>
                          <a:cs typeface="Roboto" panose="02000000000000000000" pitchFamily="2" charset="0"/>
                        </a:rPr>
                        <a:t>aiting</a:t>
                      </a:r>
                      <a:endParaRPr sz="18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anchor="ctr" horzOverflow="overflow">
                    <a:lnL w="0">
                      <a:miter lim="400000"/>
                    </a:lnL>
                    <a:lnR w="0">
                      <a:miter lim="400000"/>
                    </a:lnR>
                    <a:lnT w="0">
                      <a:miter lim="400000"/>
                    </a:lnT>
                    <a:lnB w="0">
                      <a:miter lim="400000"/>
                    </a:lnB>
                    <a:solidFill>
                      <a:schemeClr val="bg1">
                        <a:lumMod val="85000"/>
                      </a:schemeClr>
                    </a:solidFill>
                  </a:tcPr>
                </a:tc>
                <a:tc>
                  <a:txBody>
                    <a:bodyPr/>
                    <a:lstStyle/>
                    <a:p>
                      <a:pPr marL="0" marR="0" lvl="0" indent="0" algn="l" defTabSz="1828342" eaLnBrk="1" fontAlgn="auto" latinLnBrk="0" hangingPunct="1">
                        <a:lnSpc>
                          <a:spcPct val="100000"/>
                        </a:lnSpc>
                        <a:spcBef>
                          <a:spcPts val="0"/>
                        </a:spcBef>
                        <a:spcAft>
                          <a:spcPts val="0"/>
                        </a:spcAft>
                        <a:buClrTx/>
                        <a:buSzTx/>
                        <a:buFontTx/>
                        <a:buNone/>
                        <a:tabLst/>
                        <a:defRPr sz="1800">
                          <a:solidFill>
                            <a:srgbClr val="000000"/>
                          </a:solidFill>
                        </a:defRPr>
                      </a:pPr>
                      <a:r>
                        <a:rPr lang="en-US" sz="1600" dirty="0">
                          <a:solidFill>
                            <a:schemeClr val="tx1"/>
                          </a:solidFill>
                          <a:latin typeface="Roboto" panose="02000000000000000000" pitchFamily="2" charset="0"/>
                          <a:ea typeface="Roboto" panose="02000000000000000000" pitchFamily="2" charset="0"/>
                          <a:cs typeface="Roboto" panose="02000000000000000000" pitchFamily="2" charset="0"/>
                        </a:rPr>
                        <a:t>Periods of inactivity while waiting for the next process step to begin.</a:t>
                      </a:r>
                    </a:p>
                  </a:txBody>
                  <a:tcPr marL="45720" marR="45720" anchor="ctr" horzOverflow="overflow">
                    <a:lnL w="0">
                      <a:miter lim="400000"/>
                    </a:lnL>
                    <a:lnR w="0">
                      <a:miter lim="400000"/>
                    </a:lnR>
                    <a:lnT w="0">
                      <a:miter lim="400000"/>
                    </a:lnT>
                    <a:lnB w="0">
                      <a:miter lim="400000"/>
                    </a:lnB>
                    <a:solidFill>
                      <a:schemeClr val="bg1">
                        <a:lumMod val="85000"/>
                      </a:schemeClr>
                    </a:solidFill>
                  </a:tcPr>
                </a:tc>
                <a:extLst>
                  <a:ext uri="{0D108BD9-81ED-4DB2-BD59-A6C34878D82A}">
                    <a16:rowId xmlns:a16="http://schemas.microsoft.com/office/drawing/2014/main" val="10003"/>
                  </a:ext>
                </a:extLst>
              </a:tr>
              <a:tr h="520781">
                <a:tc>
                  <a:txBody>
                    <a:bodyPr/>
                    <a:lstStyle/>
                    <a:p>
                      <a:pPr algn="l" defTabSz="1828342">
                        <a:defRPr sz="1800">
                          <a:solidFill>
                            <a:srgbClr val="000000"/>
                          </a:solidFill>
                        </a:defRPr>
                      </a:pPr>
                      <a:r>
                        <a:rPr lang="en-US" sz="1800" dirty="0">
                          <a:solidFill>
                            <a:schemeClr val="tx1"/>
                          </a:solidFill>
                          <a:latin typeface="Roboto" panose="02000000000000000000" pitchFamily="2" charset="0"/>
                          <a:ea typeface="Roboto" panose="02000000000000000000" pitchFamily="2" charset="0"/>
                          <a:cs typeface="Roboto" panose="02000000000000000000" pitchFamily="2" charset="0"/>
                        </a:rPr>
                        <a:t>4. </a:t>
                      </a:r>
                      <a:r>
                        <a:rPr lang="en-US" sz="1800" b="1" u="sng" dirty="0">
                          <a:solidFill>
                            <a:schemeClr val="tx1"/>
                          </a:solidFill>
                          <a:latin typeface="Roboto" panose="02000000000000000000" pitchFamily="2" charset="0"/>
                          <a:ea typeface="Roboto" panose="02000000000000000000" pitchFamily="2" charset="0"/>
                          <a:cs typeface="Roboto" panose="02000000000000000000" pitchFamily="2" charset="0"/>
                        </a:rPr>
                        <a:t>N</a:t>
                      </a:r>
                      <a:r>
                        <a:rPr lang="en-US" sz="1800" dirty="0">
                          <a:solidFill>
                            <a:schemeClr val="tx1"/>
                          </a:solidFill>
                          <a:latin typeface="Roboto" panose="02000000000000000000" pitchFamily="2" charset="0"/>
                          <a:ea typeface="Roboto" panose="02000000000000000000" pitchFamily="2" charset="0"/>
                          <a:cs typeface="Roboto" panose="02000000000000000000" pitchFamily="2" charset="0"/>
                        </a:rPr>
                        <a:t>on-Utilized Talent</a:t>
                      </a:r>
                    </a:p>
                  </a:txBody>
                  <a:tcPr marL="45720" marR="45720" anchor="ctr" horzOverflow="overflow">
                    <a:lnL w="0">
                      <a:miter lim="400000"/>
                    </a:lnL>
                    <a:lnR w="0">
                      <a:miter lim="400000"/>
                    </a:lnR>
                    <a:lnT w="0">
                      <a:miter lim="400000"/>
                    </a:lnT>
                    <a:lnB w="0">
                      <a:noFill/>
                      <a:miter lim="400000"/>
                    </a:lnB>
                    <a:solidFill>
                      <a:schemeClr val="bg1">
                        <a:lumMod val="85000"/>
                      </a:schemeClr>
                    </a:solidFill>
                  </a:tcPr>
                </a:tc>
                <a:tc>
                  <a:txBody>
                    <a:bodyPr/>
                    <a:lstStyle/>
                    <a:p>
                      <a:pPr marL="0" marR="0" lvl="0" indent="0" algn="l" defTabSz="1828342" eaLnBrk="1" fontAlgn="auto" latinLnBrk="0" hangingPunct="1">
                        <a:lnSpc>
                          <a:spcPct val="100000"/>
                        </a:lnSpc>
                        <a:spcBef>
                          <a:spcPts val="0"/>
                        </a:spcBef>
                        <a:spcAft>
                          <a:spcPts val="0"/>
                        </a:spcAft>
                        <a:buClrTx/>
                        <a:buSzTx/>
                        <a:buFontTx/>
                        <a:buNone/>
                        <a:tabLst/>
                        <a:defRPr sz="1800">
                          <a:solidFill>
                            <a:srgbClr val="000000"/>
                          </a:solidFill>
                        </a:defRPr>
                      </a:pPr>
                      <a:r>
                        <a:rPr lang="en-US" sz="1600" dirty="0">
                          <a:solidFill>
                            <a:schemeClr val="tx1"/>
                          </a:solidFill>
                          <a:latin typeface="Roboto" panose="02000000000000000000" pitchFamily="2" charset="0"/>
                          <a:ea typeface="Roboto" panose="02000000000000000000" pitchFamily="2" charset="0"/>
                          <a:cs typeface="Roboto" panose="02000000000000000000" pitchFamily="2" charset="0"/>
                        </a:rPr>
                        <a:t>Unused creativity and underutilized human capital.</a:t>
                      </a:r>
                    </a:p>
                  </a:txBody>
                  <a:tcPr marL="45720" marR="45720" anchor="ctr" horzOverflow="overflow">
                    <a:lnL w="0">
                      <a:miter lim="400000"/>
                    </a:lnL>
                    <a:lnR w="0">
                      <a:miter lim="400000"/>
                    </a:lnR>
                    <a:lnT w="0">
                      <a:miter lim="400000"/>
                    </a:lnT>
                    <a:lnB w="0">
                      <a:noFill/>
                      <a:miter lim="400000"/>
                    </a:lnB>
                    <a:solidFill>
                      <a:schemeClr val="bg1">
                        <a:lumMod val="85000"/>
                      </a:schemeClr>
                    </a:solidFill>
                  </a:tcPr>
                </a:tc>
                <a:extLst>
                  <a:ext uri="{0D108BD9-81ED-4DB2-BD59-A6C34878D82A}">
                    <a16:rowId xmlns:a16="http://schemas.microsoft.com/office/drawing/2014/main" val="10004"/>
                  </a:ext>
                </a:extLst>
              </a:tr>
              <a:tr h="520781">
                <a:tc>
                  <a:txBody>
                    <a:bodyPr/>
                    <a:lstStyle/>
                    <a:p>
                      <a:pPr algn="l" defTabSz="1828342">
                        <a:defRPr sz="1800">
                          <a:solidFill>
                            <a:srgbClr val="000000"/>
                          </a:solidFill>
                        </a:defRPr>
                      </a:pPr>
                      <a:r>
                        <a:rPr lang="en-US" sz="1800" dirty="0">
                          <a:solidFill>
                            <a:schemeClr val="tx1"/>
                          </a:solidFill>
                          <a:latin typeface="Roboto" panose="02000000000000000000" pitchFamily="2" charset="0"/>
                          <a:ea typeface="Roboto" panose="02000000000000000000" pitchFamily="2" charset="0"/>
                          <a:cs typeface="Roboto" panose="02000000000000000000" pitchFamily="2" charset="0"/>
                        </a:rPr>
                        <a:t>5. </a:t>
                      </a:r>
                      <a:r>
                        <a:rPr lang="en-US" sz="1800" b="1" u="sng" dirty="0">
                          <a:solidFill>
                            <a:schemeClr val="tx1"/>
                          </a:solidFill>
                          <a:latin typeface="Roboto" panose="02000000000000000000" pitchFamily="2" charset="0"/>
                          <a:ea typeface="Roboto" panose="02000000000000000000" pitchFamily="2" charset="0"/>
                          <a:cs typeface="Roboto" panose="02000000000000000000" pitchFamily="2" charset="0"/>
                        </a:rPr>
                        <a:t>T</a:t>
                      </a:r>
                      <a:r>
                        <a:rPr lang="en-US" sz="1800" dirty="0">
                          <a:solidFill>
                            <a:schemeClr val="tx1"/>
                          </a:solidFill>
                          <a:latin typeface="Roboto" panose="02000000000000000000" pitchFamily="2" charset="0"/>
                          <a:ea typeface="Roboto" panose="02000000000000000000" pitchFamily="2" charset="0"/>
                          <a:cs typeface="Roboto" panose="02000000000000000000" pitchFamily="2" charset="0"/>
                        </a:rPr>
                        <a:t>ransportation</a:t>
                      </a:r>
                      <a:endParaRPr sz="18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anchor="ctr" horzOverflow="overflow">
                    <a:lnL w="0">
                      <a:miter lim="400000"/>
                    </a:lnL>
                    <a:lnR w="0">
                      <a:noFill/>
                      <a:miter lim="400000"/>
                    </a:lnR>
                    <a:lnT w="0">
                      <a:miter lim="400000"/>
                    </a:lnT>
                    <a:lnB w="0">
                      <a:noFill/>
                      <a:miter lim="400000"/>
                    </a:lnB>
                    <a:solidFill>
                      <a:schemeClr val="bg1">
                        <a:lumMod val="85000"/>
                      </a:schemeClr>
                    </a:solidFill>
                  </a:tcPr>
                </a:tc>
                <a:tc>
                  <a:txBody>
                    <a:bodyPr/>
                    <a:lstStyle/>
                    <a:p>
                      <a:pPr marL="0" marR="0" lvl="0" indent="0" algn="l" defTabSz="1828342" eaLnBrk="1" fontAlgn="auto" latinLnBrk="0" hangingPunct="1">
                        <a:lnSpc>
                          <a:spcPct val="100000"/>
                        </a:lnSpc>
                        <a:spcBef>
                          <a:spcPts val="0"/>
                        </a:spcBef>
                        <a:spcAft>
                          <a:spcPts val="0"/>
                        </a:spcAft>
                        <a:buClrTx/>
                        <a:buSzTx/>
                        <a:buFontTx/>
                        <a:buNone/>
                        <a:tabLst/>
                        <a:defRPr sz="1800">
                          <a:solidFill>
                            <a:srgbClr val="000000"/>
                          </a:solidFill>
                        </a:defRPr>
                      </a:pPr>
                      <a:r>
                        <a:rPr lang="en-US" sz="1600" dirty="0">
                          <a:solidFill>
                            <a:schemeClr val="tx1"/>
                          </a:solidFill>
                          <a:latin typeface="Roboto" panose="02000000000000000000" pitchFamily="2" charset="0"/>
                          <a:ea typeface="Roboto" panose="02000000000000000000" pitchFamily="2" charset="0"/>
                          <a:cs typeface="Roboto" panose="02000000000000000000" pitchFamily="2" charset="0"/>
                        </a:rPr>
                        <a:t>Product moving from person to person or between locations.</a:t>
                      </a:r>
                    </a:p>
                  </a:txBody>
                  <a:tcPr marL="45720" marR="45720" anchor="ctr" horzOverflow="overflow">
                    <a:lnL w="0">
                      <a:noFill/>
                      <a:miter lim="400000"/>
                    </a:lnL>
                    <a:lnR w="0">
                      <a:miter lim="400000"/>
                    </a:lnR>
                    <a:lnT w="0">
                      <a:miter lim="400000"/>
                    </a:lnT>
                    <a:lnB w="0">
                      <a:noFill/>
                      <a:miter lim="400000"/>
                    </a:lnB>
                    <a:solidFill>
                      <a:schemeClr val="bg1">
                        <a:lumMod val="85000"/>
                      </a:schemeClr>
                    </a:solidFill>
                  </a:tcPr>
                </a:tc>
                <a:extLst>
                  <a:ext uri="{0D108BD9-81ED-4DB2-BD59-A6C34878D82A}">
                    <a16:rowId xmlns:a16="http://schemas.microsoft.com/office/drawing/2014/main" val="1878127364"/>
                  </a:ext>
                </a:extLst>
              </a:tr>
              <a:tr h="520781">
                <a:tc>
                  <a:txBody>
                    <a:bodyPr/>
                    <a:lstStyle/>
                    <a:p>
                      <a:pPr algn="l" defTabSz="1828342">
                        <a:defRPr sz="1800">
                          <a:solidFill>
                            <a:srgbClr val="000000"/>
                          </a:solidFill>
                        </a:defRPr>
                      </a:pPr>
                      <a:r>
                        <a:rPr lang="en-US" sz="1800" dirty="0">
                          <a:solidFill>
                            <a:schemeClr val="tx1"/>
                          </a:solidFill>
                          <a:latin typeface="Roboto" panose="02000000000000000000" pitchFamily="2" charset="0"/>
                          <a:ea typeface="Roboto" panose="02000000000000000000" pitchFamily="2" charset="0"/>
                          <a:cs typeface="Roboto" panose="02000000000000000000" pitchFamily="2" charset="0"/>
                        </a:rPr>
                        <a:t>6. </a:t>
                      </a:r>
                      <a:r>
                        <a:rPr lang="en-US" sz="1800" b="1" u="sng" dirty="0">
                          <a:solidFill>
                            <a:schemeClr val="tx1"/>
                          </a:solidFill>
                          <a:latin typeface="Roboto" panose="02000000000000000000" pitchFamily="2" charset="0"/>
                          <a:ea typeface="Roboto" panose="02000000000000000000" pitchFamily="2" charset="0"/>
                          <a:cs typeface="Roboto" panose="02000000000000000000" pitchFamily="2" charset="0"/>
                        </a:rPr>
                        <a:t>I</a:t>
                      </a:r>
                      <a:r>
                        <a:rPr lang="en-US" sz="1800" dirty="0">
                          <a:solidFill>
                            <a:schemeClr val="tx1"/>
                          </a:solidFill>
                          <a:latin typeface="Roboto" panose="02000000000000000000" pitchFamily="2" charset="0"/>
                          <a:ea typeface="Roboto" panose="02000000000000000000" pitchFamily="2" charset="0"/>
                          <a:cs typeface="Roboto" panose="02000000000000000000" pitchFamily="2" charset="0"/>
                        </a:rPr>
                        <a:t>nventory </a:t>
                      </a:r>
                      <a:endParaRPr sz="18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anchor="ctr" horzOverflow="overflow">
                    <a:lnL w="0">
                      <a:miter lim="400000"/>
                    </a:lnL>
                    <a:lnR w="0">
                      <a:noFill/>
                      <a:miter lim="400000"/>
                    </a:lnR>
                    <a:lnT w="0">
                      <a:miter lim="400000"/>
                    </a:lnT>
                    <a:lnB w="0">
                      <a:noFill/>
                      <a:miter lim="400000"/>
                    </a:lnB>
                    <a:solidFill>
                      <a:schemeClr val="bg1">
                        <a:lumMod val="85000"/>
                      </a:schemeClr>
                    </a:solidFill>
                  </a:tcPr>
                </a:tc>
                <a:tc>
                  <a:txBody>
                    <a:bodyPr/>
                    <a:lstStyle/>
                    <a:p>
                      <a:pPr marL="0" marR="0" lvl="0" indent="0" algn="l" defTabSz="1828342" eaLnBrk="1" fontAlgn="auto" latinLnBrk="0" hangingPunct="1">
                        <a:lnSpc>
                          <a:spcPct val="100000"/>
                        </a:lnSpc>
                        <a:spcBef>
                          <a:spcPts val="0"/>
                        </a:spcBef>
                        <a:spcAft>
                          <a:spcPts val="0"/>
                        </a:spcAft>
                        <a:buClrTx/>
                        <a:buSzTx/>
                        <a:buFontTx/>
                        <a:buNone/>
                        <a:tabLst/>
                        <a:defRPr sz="1800">
                          <a:solidFill>
                            <a:srgbClr val="000000"/>
                          </a:solidFill>
                        </a:defRPr>
                      </a:pPr>
                      <a:r>
                        <a:rPr lang="en-US" sz="1600" dirty="0">
                          <a:solidFill>
                            <a:schemeClr val="tx1"/>
                          </a:solidFill>
                          <a:latin typeface="Roboto" panose="02000000000000000000" pitchFamily="2" charset="0"/>
                          <a:ea typeface="Roboto" panose="02000000000000000000" pitchFamily="2" charset="0"/>
                          <a:cs typeface="Roboto" panose="02000000000000000000" pitchFamily="2" charset="0"/>
                        </a:rPr>
                        <a:t>Unprocessed or partially processed materials, or undelivered finished goods.</a:t>
                      </a:r>
                    </a:p>
                  </a:txBody>
                  <a:tcPr marL="45720" marR="45720" anchor="ctr" horzOverflow="overflow">
                    <a:lnL w="0">
                      <a:noFill/>
                      <a:miter lim="400000"/>
                    </a:lnL>
                    <a:lnR w="0">
                      <a:miter lim="400000"/>
                    </a:lnR>
                    <a:lnT w="0">
                      <a:miter lim="400000"/>
                    </a:lnT>
                    <a:lnB w="0">
                      <a:noFill/>
                      <a:miter lim="400000"/>
                    </a:lnB>
                    <a:solidFill>
                      <a:schemeClr val="bg1">
                        <a:lumMod val="85000"/>
                      </a:schemeClr>
                    </a:solidFill>
                  </a:tcPr>
                </a:tc>
                <a:extLst>
                  <a:ext uri="{0D108BD9-81ED-4DB2-BD59-A6C34878D82A}">
                    <a16:rowId xmlns:a16="http://schemas.microsoft.com/office/drawing/2014/main" val="2392731201"/>
                  </a:ext>
                </a:extLst>
              </a:tr>
              <a:tr h="520781">
                <a:tc>
                  <a:txBody>
                    <a:bodyPr/>
                    <a:lstStyle/>
                    <a:p>
                      <a:pPr algn="l" defTabSz="1828342">
                        <a:defRPr sz="1800">
                          <a:solidFill>
                            <a:srgbClr val="000000"/>
                          </a:solidFill>
                        </a:defRPr>
                      </a:pPr>
                      <a:r>
                        <a:rPr lang="en-US" sz="1800" dirty="0">
                          <a:solidFill>
                            <a:schemeClr val="tx1"/>
                          </a:solidFill>
                          <a:latin typeface="Roboto" panose="02000000000000000000" pitchFamily="2" charset="0"/>
                          <a:ea typeface="Roboto" panose="02000000000000000000" pitchFamily="2" charset="0"/>
                          <a:cs typeface="Roboto" panose="02000000000000000000" pitchFamily="2" charset="0"/>
                        </a:rPr>
                        <a:t>7. </a:t>
                      </a:r>
                      <a:r>
                        <a:rPr lang="en-US" sz="1800" b="1" u="sng" dirty="0">
                          <a:solidFill>
                            <a:schemeClr val="tx1"/>
                          </a:solidFill>
                          <a:latin typeface="Roboto" panose="02000000000000000000" pitchFamily="2" charset="0"/>
                          <a:ea typeface="Roboto" panose="02000000000000000000" pitchFamily="2" charset="0"/>
                          <a:cs typeface="Roboto" panose="02000000000000000000" pitchFamily="2" charset="0"/>
                        </a:rPr>
                        <a:t>M</a:t>
                      </a:r>
                      <a:r>
                        <a:rPr lang="en-US" sz="1800" dirty="0">
                          <a:solidFill>
                            <a:schemeClr val="tx1"/>
                          </a:solidFill>
                          <a:latin typeface="Roboto" panose="02000000000000000000" pitchFamily="2" charset="0"/>
                          <a:ea typeface="Roboto" panose="02000000000000000000" pitchFamily="2" charset="0"/>
                          <a:cs typeface="Roboto" panose="02000000000000000000" pitchFamily="2" charset="0"/>
                        </a:rPr>
                        <a:t>otion</a:t>
                      </a:r>
                      <a:endParaRPr sz="18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anchor="ctr" horzOverflow="overflow">
                    <a:lnL w="0">
                      <a:miter lim="400000"/>
                    </a:lnL>
                    <a:lnR w="0">
                      <a:noFill/>
                      <a:miter lim="400000"/>
                    </a:lnR>
                    <a:lnT w="0">
                      <a:miter lim="400000"/>
                    </a:lnT>
                    <a:lnB w="0">
                      <a:noFill/>
                      <a:miter lim="400000"/>
                    </a:lnB>
                    <a:solidFill>
                      <a:schemeClr val="bg1">
                        <a:lumMod val="85000"/>
                      </a:schemeClr>
                    </a:solidFill>
                  </a:tcPr>
                </a:tc>
                <a:tc>
                  <a:txBody>
                    <a:bodyPr/>
                    <a:lstStyle/>
                    <a:p>
                      <a:pPr algn="l" defTabSz="1828342">
                        <a:defRPr sz="1800">
                          <a:solidFill>
                            <a:srgbClr val="000000"/>
                          </a:solidFill>
                        </a:defRPr>
                      </a:pPr>
                      <a:r>
                        <a:rPr lang="en-US" sz="1600" dirty="0">
                          <a:solidFill>
                            <a:schemeClr val="tx1"/>
                          </a:solidFill>
                          <a:latin typeface="Roboto" panose="02000000000000000000" pitchFamily="2" charset="0"/>
                          <a:ea typeface="Roboto" panose="02000000000000000000" pitchFamily="2" charset="0"/>
                          <a:cs typeface="Roboto" panose="02000000000000000000" pitchFamily="2" charset="0"/>
                        </a:rPr>
                        <a:t>Excessive movement by people or machines.</a:t>
                      </a:r>
                    </a:p>
                  </a:txBody>
                  <a:tcPr marL="45720" marR="45720" anchor="ctr" horzOverflow="overflow">
                    <a:lnL w="0">
                      <a:noFill/>
                      <a:miter lim="400000"/>
                    </a:lnL>
                    <a:lnR w="0">
                      <a:miter lim="400000"/>
                    </a:lnR>
                    <a:lnT w="0">
                      <a:miter lim="400000"/>
                    </a:lnT>
                    <a:lnB w="0">
                      <a:noFill/>
                      <a:miter lim="400000"/>
                    </a:lnB>
                    <a:solidFill>
                      <a:schemeClr val="bg1">
                        <a:lumMod val="85000"/>
                      </a:schemeClr>
                    </a:solidFill>
                  </a:tcPr>
                </a:tc>
                <a:extLst>
                  <a:ext uri="{0D108BD9-81ED-4DB2-BD59-A6C34878D82A}">
                    <a16:rowId xmlns:a16="http://schemas.microsoft.com/office/drawing/2014/main" val="1780965238"/>
                  </a:ext>
                </a:extLst>
              </a:tr>
              <a:tr h="520781">
                <a:tc>
                  <a:txBody>
                    <a:bodyPr/>
                    <a:lstStyle/>
                    <a:p>
                      <a:pPr algn="l" defTabSz="1828342">
                        <a:defRPr sz="1800">
                          <a:solidFill>
                            <a:srgbClr val="000000"/>
                          </a:solidFill>
                        </a:defRPr>
                      </a:pPr>
                      <a:r>
                        <a:rPr lang="en-US" sz="1800" dirty="0">
                          <a:solidFill>
                            <a:schemeClr val="tx1"/>
                          </a:solidFill>
                          <a:latin typeface="Roboto" panose="02000000000000000000" pitchFamily="2" charset="0"/>
                          <a:ea typeface="Roboto" panose="02000000000000000000" pitchFamily="2" charset="0"/>
                          <a:cs typeface="Roboto" panose="02000000000000000000" pitchFamily="2" charset="0"/>
                        </a:rPr>
                        <a:t>8. </a:t>
                      </a:r>
                      <a:r>
                        <a:rPr lang="en-US" sz="1800" b="1" u="sng" dirty="0">
                          <a:solidFill>
                            <a:schemeClr val="tx1"/>
                          </a:solidFill>
                          <a:latin typeface="Roboto" panose="02000000000000000000" pitchFamily="2" charset="0"/>
                          <a:ea typeface="Roboto" panose="02000000000000000000" pitchFamily="2" charset="0"/>
                          <a:cs typeface="Roboto" panose="02000000000000000000" pitchFamily="2" charset="0"/>
                        </a:rPr>
                        <a:t>E</a:t>
                      </a:r>
                      <a:r>
                        <a:rPr lang="en-US" sz="1800" dirty="0">
                          <a:solidFill>
                            <a:schemeClr val="tx1"/>
                          </a:solidFill>
                          <a:latin typeface="Roboto" panose="02000000000000000000" pitchFamily="2" charset="0"/>
                          <a:ea typeface="Roboto" panose="02000000000000000000" pitchFamily="2" charset="0"/>
                          <a:cs typeface="Roboto" panose="02000000000000000000" pitchFamily="2" charset="0"/>
                        </a:rPr>
                        <a:t>xtra Processing</a:t>
                      </a:r>
                      <a:endParaRPr sz="18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anchor="ctr" horzOverflow="overflow">
                    <a:lnL w="0">
                      <a:miter lim="400000"/>
                    </a:lnL>
                    <a:lnR w="0">
                      <a:noFill/>
                      <a:miter lim="400000"/>
                    </a:lnR>
                    <a:lnT w="0">
                      <a:miter lim="400000"/>
                    </a:lnT>
                    <a:lnB w="0">
                      <a:miter lim="400000"/>
                    </a:lnB>
                    <a:solidFill>
                      <a:schemeClr val="bg1">
                        <a:lumMod val="85000"/>
                      </a:schemeClr>
                    </a:solidFill>
                  </a:tcPr>
                </a:tc>
                <a:tc>
                  <a:txBody>
                    <a:bodyPr/>
                    <a:lstStyle/>
                    <a:p>
                      <a:pPr marL="0" marR="0" lvl="0" indent="0" algn="l" defTabSz="1828342" eaLnBrk="1" fontAlgn="auto" latinLnBrk="0" hangingPunct="1">
                        <a:lnSpc>
                          <a:spcPct val="100000"/>
                        </a:lnSpc>
                        <a:spcBef>
                          <a:spcPts val="0"/>
                        </a:spcBef>
                        <a:spcAft>
                          <a:spcPts val="0"/>
                        </a:spcAft>
                        <a:buClrTx/>
                        <a:buSzTx/>
                        <a:buFontTx/>
                        <a:buNone/>
                        <a:tabLst/>
                        <a:defRPr sz="1800">
                          <a:solidFill>
                            <a:srgbClr val="000000"/>
                          </a:solidFill>
                        </a:defRPr>
                      </a:pPr>
                      <a:r>
                        <a:rPr lang="en-US" sz="1600" dirty="0">
                          <a:solidFill>
                            <a:schemeClr val="tx1"/>
                          </a:solidFill>
                          <a:latin typeface="Roboto" panose="02000000000000000000" pitchFamily="2" charset="0"/>
                          <a:ea typeface="Roboto" panose="02000000000000000000" pitchFamily="2" charset="0"/>
                          <a:cs typeface="Roboto" panose="02000000000000000000" pitchFamily="2" charset="0"/>
                        </a:rPr>
                        <a:t>Unnecessary work beyond what is required to meet customer requirements.</a:t>
                      </a:r>
                    </a:p>
                  </a:txBody>
                  <a:tcPr marL="45720" marR="45720" anchor="ctr" horzOverflow="overflow">
                    <a:lnL w="0">
                      <a:noFill/>
                      <a:miter lim="400000"/>
                    </a:lnL>
                    <a:lnR w="0">
                      <a:miter lim="400000"/>
                    </a:lnR>
                    <a:lnT w="0">
                      <a:miter lim="400000"/>
                    </a:lnT>
                    <a:lnB w="0">
                      <a:miter lim="400000"/>
                    </a:lnB>
                    <a:solidFill>
                      <a:schemeClr val="bg1">
                        <a:lumMod val="85000"/>
                      </a:schemeClr>
                    </a:solidFill>
                  </a:tcPr>
                </a:tc>
                <a:extLst>
                  <a:ext uri="{0D108BD9-81ED-4DB2-BD59-A6C34878D82A}">
                    <a16:rowId xmlns:a16="http://schemas.microsoft.com/office/drawing/2014/main" val="514211142"/>
                  </a:ext>
                </a:extLst>
              </a:tr>
            </a:tbl>
          </a:graphicData>
        </a:graphic>
      </p:graphicFrame>
      <p:sp>
        <p:nvSpPr>
          <p:cNvPr id="11" name="Title 1">
            <a:extLst>
              <a:ext uri="{FF2B5EF4-FFF2-40B4-BE49-F238E27FC236}">
                <a16:creationId xmlns:a16="http://schemas.microsoft.com/office/drawing/2014/main" id="{1234640B-AB39-3DA4-F2A4-7CFCE83819D1}"/>
              </a:ext>
            </a:extLst>
          </p:cNvPr>
          <p:cNvSpPr txBox="1">
            <a:spLocks/>
          </p:cNvSpPr>
          <p:nvPr/>
        </p:nvSpPr>
        <p:spPr>
          <a:xfrm>
            <a:off x="744255" y="687435"/>
            <a:ext cx="9815689" cy="57012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r>
              <a:rPr lang="en-US" sz="3200" dirty="0">
                <a:solidFill>
                  <a:schemeClr val="bg2">
                    <a:lumMod val="10000"/>
                  </a:schemeClr>
                </a:solidFill>
                <a:latin typeface="Roboto Medium" panose="02000000000000000000" pitchFamily="2" charset="0"/>
                <a:ea typeface="Roboto Medium" panose="02000000000000000000" pitchFamily="2" charset="0"/>
                <a:cs typeface="Roboto Medium" panose="02000000000000000000" pitchFamily="2" charset="0"/>
              </a:rPr>
              <a:t>The Eight Wastes Defined</a:t>
            </a:r>
          </a:p>
        </p:txBody>
      </p:sp>
      <p:sp>
        <p:nvSpPr>
          <p:cNvPr id="13" name="TextBox 12">
            <a:extLst>
              <a:ext uri="{FF2B5EF4-FFF2-40B4-BE49-F238E27FC236}">
                <a16:creationId xmlns:a16="http://schemas.microsoft.com/office/drawing/2014/main" id="{2D500C20-E9D8-2519-26B4-2789477B50C5}"/>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Lean Fundamentals</a:t>
            </a:r>
          </a:p>
        </p:txBody>
      </p:sp>
      <p:sp>
        <p:nvSpPr>
          <p:cNvPr id="2" name="AutoShape 9">
            <a:extLst>
              <a:ext uri="{FF2B5EF4-FFF2-40B4-BE49-F238E27FC236}">
                <a16:creationId xmlns:a16="http://schemas.microsoft.com/office/drawing/2014/main" id="{A2396542-173B-99A7-3E33-66CA308F0777}"/>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5" name="AutoShape 11">
            <a:extLst>
              <a:ext uri="{FF2B5EF4-FFF2-40B4-BE49-F238E27FC236}">
                <a16:creationId xmlns:a16="http://schemas.microsoft.com/office/drawing/2014/main" id="{9A80B413-17A7-9C72-3997-3A50BE39FFD4}"/>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6" name="AutoShape 10">
            <a:extLst>
              <a:ext uri="{FF2B5EF4-FFF2-40B4-BE49-F238E27FC236}">
                <a16:creationId xmlns:a16="http://schemas.microsoft.com/office/drawing/2014/main" id="{0F657731-48A8-1D07-E231-EB7D069F477C}"/>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Tree>
    <p:extLst>
      <p:ext uri="{BB962C8B-B14F-4D97-AF65-F5344CB8AC3E}">
        <p14:creationId xmlns:p14="http://schemas.microsoft.com/office/powerpoint/2010/main" val="19468475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34A6059C-D3A6-A5DA-3B98-CA1A8ED6E313}"/>
              </a:ext>
            </a:extLst>
          </p:cNvPr>
          <p:cNvSpPr>
            <a:spLocks noGrp="1"/>
          </p:cNvSpPr>
          <p:nvPr>
            <p:ph type="title"/>
          </p:nvPr>
        </p:nvSpPr>
        <p:spPr>
          <a:xfrm>
            <a:off x="822678" y="800882"/>
            <a:ext cx="10515600" cy="1009651"/>
          </a:xfrm>
        </p:spPr>
        <p:txBody>
          <a:bodyPr/>
          <a:lstStyle/>
          <a:p>
            <a:r>
              <a:rPr lang="en-US" sz="4000" dirty="0">
                <a:latin typeface="Roboto Medium"/>
                <a:ea typeface="Roboto Medium"/>
                <a:cs typeface="Roboto Medium"/>
              </a:rPr>
              <a:t>Eight Wastes Examples</a:t>
            </a:r>
          </a:p>
        </p:txBody>
      </p:sp>
      <p:sp>
        <p:nvSpPr>
          <p:cNvPr id="3" name="Footer Placeholder 2">
            <a:extLst>
              <a:ext uri="{FF2B5EF4-FFF2-40B4-BE49-F238E27FC236}">
                <a16:creationId xmlns:a16="http://schemas.microsoft.com/office/drawing/2014/main" id="{51E0F923-BF2B-DB43-27A7-CB2326AF632C}"/>
              </a:ext>
            </a:extLst>
          </p:cNvPr>
          <p:cNvSpPr>
            <a:spLocks noGrp="1"/>
          </p:cNvSpPr>
          <p:nvPr>
            <p:ph type="ftr" sz="quarter" idx="11"/>
          </p:nvPr>
        </p:nvSpPr>
        <p:spPr/>
        <p:txBody>
          <a:bodyPr/>
          <a:lstStyle/>
          <a:p>
            <a:r>
              <a:rPr lang="en-US" sz="900"/>
              <a:t>© Lean Horizons Consulting, LLC 2023. All Rights Reserved</a:t>
            </a:r>
            <a:endParaRPr lang="en-US" sz="900" dirty="0"/>
          </a:p>
        </p:txBody>
      </p:sp>
      <p:sp>
        <p:nvSpPr>
          <p:cNvPr id="4" name="Slide Number Placeholder 3">
            <a:extLst>
              <a:ext uri="{FF2B5EF4-FFF2-40B4-BE49-F238E27FC236}">
                <a16:creationId xmlns:a16="http://schemas.microsoft.com/office/drawing/2014/main" id="{399B9463-4CDE-3EF7-2811-BC679B707FFB}"/>
              </a:ext>
            </a:extLst>
          </p:cNvPr>
          <p:cNvSpPr>
            <a:spLocks noGrp="1"/>
          </p:cNvSpPr>
          <p:nvPr>
            <p:ph type="sldNum" sz="quarter" idx="12"/>
          </p:nvPr>
        </p:nvSpPr>
        <p:spPr/>
        <p:txBody>
          <a:bodyPr/>
          <a:lstStyle/>
          <a:p>
            <a:fld id="{CC6D4273-7FC1-0947-B9FE-19CB3C0D1FB6}" type="slidenum">
              <a:rPr lang="en-US" smtClean="0"/>
              <a:pPr/>
              <a:t>21</a:t>
            </a:fld>
            <a:endParaRPr lang="en-US" dirty="0"/>
          </a:p>
        </p:txBody>
      </p:sp>
      <p:graphicFrame>
        <p:nvGraphicFramePr>
          <p:cNvPr id="14" name="Table">
            <a:extLst>
              <a:ext uri="{FF2B5EF4-FFF2-40B4-BE49-F238E27FC236}">
                <a16:creationId xmlns:a16="http://schemas.microsoft.com/office/drawing/2014/main" id="{E517C667-B767-4995-357A-139D3B28AFF6}"/>
              </a:ext>
            </a:extLst>
          </p:cNvPr>
          <p:cNvGraphicFramePr/>
          <p:nvPr>
            <p:extLst>
              <p:ext uri="{D42A27DB-BD31-4B8C-83A1-F6EECF244321}">
                <p14:modId xmlns:p14="http://schemas.microsoft.com/office/powerpoint/2010/main" val="1958052793"/>
              </p:ext>
            </p:extLst>
          </p:nvPr>
        </p:nvGraphicFramePr>
        <p:xfrm>
          <a:off x="838200" y="2071304"/>
          <a:ext cx="10447486" cy="3650766"/>
        </p:xfrm>
        <a:graphic>
          <a:graphicData uri="http://schemas.openxmlformats.org/drawingml/2006/table">
            <a:tbl>
              <a:tblPr/>
              <a:tblGrid>
                <a:gridCol w="1944726">
                  <a:extLst>
                    <a:ext uri="{9D8B030D-6E8A-4147-A177-3AD203B41FA5}">
                      <a16:colId xmlns:a16="http://schemas.microsoft.com/office/drawing/2014/main" val="20000"/>
                    </a:ext>
                  </a:extLst>
                </a:gridCol>
                <a:gridCol w="4184899">
                  <a:extLst>
                    <a:ext uri="{9D8B030D-6E8A-4147-A177-3AD203B41FA5}">
                      <a16:colId xmlns:a16="http://schemas.microsoft.com/office/drawing/2014/main" val="20001"/>
                    </a:ext>
                  </a:extLst>
                </a:gridCol>
                <a:gridCol w="4317861">
                  <a:extLst>
                    <a:ext uri="{9D8B030D-6E8A-4147-A177-3AD203B41FA5}">
                      <a16:colId xmlns:a16="http://schemas.microsoft.com/office/drawing/2014/main" val="2663648458"/>
                    </a:ext>
                  </a:extLst>
                </a:gridCol>
              </a:tblGrid>
              <a:tr h="576250">
                <a:tc>
                  <a:txBody>
                    <a:bodyPr/>
                    <a:lstStyle/>
                    <a:p>
                      <a:pPr algn="ctr" defTabSz="1828342">
                        <a:tabLst>
                          <a:tab pos="914400" algn="l"/>
                        </a:tabLst>
                        <a:defRPr sz="3500">
                          <a:solidFill>
                            <a:srgbClr val="999999"/>
                          </a:solidFill>
                        </a:defRPr>
                      </a:pPr>
                      <a:r>
                        <a:rPr lang="en-US" sz="1500" b="1" i="0" u="none" strike="noStrike" cap="none" spc="0" baseline="0" dirty="0">
                          <a:solidFill>
                            <a:schemeClr val="bg1"/>
                          </a:solidFill>
                          <a:uFillTx/>
                          <a:latin typeface="Roboto" panose="02000000000000000000" pitchFamily="2" charset="0"/>
                          <a:ea typeface="Roboto" panose="02000000000000000000" pitchFamily="2" charset="0"/>
                          <a:cs typeface="Roboto" panose="02000000000000000000" pitchFamily="2" charset="0"/>
                          <a:sym typeface="Roboto"/>
                        </a:rPr>
                        <a:t>Wastes</a:t>
                      </a:r>
                      <a:endParaRPr sz="1500" b="1" i="0" u="none" strike="noStrike" cap="none" spc="0" baseline="0" dirty="0">
                        <a:solidFill>
                          <a:schemeClr val="bg1"/>
                        </a:solidFill>
                        <a:uFillTx/>
                        <a:latin typeface="Roboto" panose="02000000000000000000" pitchFamily="2" charset="0"/>
                        <a:ea typeface="Roboto" panose="02000000000000000000" pitchFamily="2" charset="0"/>
                        <a:cs typeface="Roboto" panose="02000000000000000000" pitchFamily="2" charset="0"/>
                        <a:sym typeface="Roboto"/>
                      </a:endParaRPr>
                    </a:p>
                  </a:txBody>
                  <a:tcPr marL="97719" marR="97719" marT="48860" marB="48860" anchor="ctr" horzOverflow="overflow">
                    <a:lnL w="0">
                      <a:noFill/>
                      <a:miter lim="400000"/>
                    </a:lnL>
                    <a:lnR w="0">
                      <a:noFill/>
                      <a:miter lim="400000"/>
                    </a:lnR>
                    <a:lnT w="0">
                      <a:noFill/>
                      <a:miter lim="400000"/>
                    </a:lnT>
                    <a:lnB w="0">
                      <a:noFill/>
                      <a:miter lim="400000"/>
                    </a:lnB>
                    <a:solidFill>
                      <a:srgbClr val="EE3228"/>
                    </a:solidFill>
                  </a:tcPr>
                </a:tc>
                <a:tc>
                  <a:txBody>
                    <a:bodyPr/>
                    <a:lstStyle/>
                    <a:p>
                      <a:pPr algn="ctr" defTabSz="1828342">
                        <a:defRPr sz="1800">
                          <a:solidFill>
                            <a:srgbClr val="000000"/>
                          </a:solidFill>
                        </a:defRPr>
                      </a:pPr>
                      <a:r>
                        <a:rPr lang="en-US" sz="1500" b="1" dirty="0">
                          <a:solidFill>
                            <a:schemeClr val="bg1"/>
                          </a:solidFill>
                          <a:latin typeface="Roboto" panose="02000000000000000000" pitchFamily="2" charset="0"/>
                          <a:ea typeface="Roboto" panose="02000000000000000000" pitchFamily="2" charset="0"/>
                          <a:cs typeface="Roboto" panose="02000000000000000000" pitchFamily="2" charset="0"/>
                        </a:rPr>
                        <a:t>Manufacturing Example</a:t>
                      </a:r>
                    </a:p>
                  </a:txBody>
                  <a:tcPr marL="97719" marR="97719" marT="48860" marB="48860" anchor="ctr" horzOverflow="overflow">
                    <a:lnL w="0">
                      <a:noFill/>
                      <a:miter lim="400000"/>
                    </a:lnL>
                    <a:lnR w="0">
                      <a:noFill/>
                      <a:miter lim="400000"/>
                    </a:lnR>
                    <a:lnT w="0">
                      <a:miter lim="400000"/>
                    </a:lnT>
                    <a:lnB w="0">
                      <a:miter lim="400000"/>
                    </a:lnB>
                    <a:solidFill>
                      <a:srgbClr val="EE3228"/>
                    </a:solidFill>
                  </a:tcPr>
                </a:tc>
                <a:tc>
                  <a:txBody>
                    <a:bodyPr/>
                    <a:lstStyle/>
                    <a:p>
                      <a:pPr algn="ctr" defTabSz="1828342">
                        <a:defRPr sz="1800">
                          <a:solidFill>
                            <a:srgbClr val="000000"/>
                          </a:solidFill>
                        </a:defRPr>
                      </a:pPr>
                      <a:r>
                        <a:rPr lang="en-US" sz="1500" b="1" dirty="0">
                          <a:solidFill>
                            <a:schemeClr val="bg1"/>
                          </a:solidFill>
                          <a:latin typeface="Roboto" panose="02000000000000000000" pitchFamily="2" charset="0"/>
                          <a:ea typeface="Roboto" panose="02000000000000000000" pitchFamily="2" charset="0"/>
                          <a:cs typeface="Roboto" panose="02000000000000000000" pitchFamily="2" charset="0"/>
                        </a:rPr>
                        <a:t>Office Example</a:t>
                      </a:r>
                    </a:p>
                  </a:txBody>
                  <a:tcPr marL="97719" marR="97719" marT="48860" marB="48860" anchor="ctr" horzOverflow="overflow">
                    <a:lnL w="0">
                      <a:miter lim="400000"/>
                    </a:lnL>
                    <a:lnR w="0">
                      <a:miter lim="400000"/>
                    </a:lnR>
                    <a:lnT w="0">
                      <a:miter lim="400000"/>
                    </a:lnT>
                    <a:lnB w="0">
                      <a:noFill/>
                      <a:miter lim="400000"/>
                    </a:lnB>
                    <a:solidFill>
                      <a:srgbClr val="EE3228"/>
                    </a:solidFill>
                  </a:tcPr>
                </a:tc>
                <a:extLst>
                  <a:ext uri="{0D108BD9-81ED-4DB2-BD59-A6C34878D82A}">
                    <a16:rowId xmlns:a16="http://schemas.microsoft.com/office/drawing/2014/main" val="10000"/>
                  </a:ext>
                </a:extLst>
              </a:tr>
              <a:tr h="983933">
                <a:tc>
                  <a:txBody>
                    <a:bodyPr/>
                    <a:lstStyle/>
                    <a:p>
                      <a:pPr marL="0" indent="0" algn="l" defTabSz="1828342">
                        <a:buAutoNum type="arabicPeriod"/>
                        <a:defRPr sz="1800">
                          <a:solidFill>
                            <a:srgbClr val="000000"/>
                          </a:solidFill>
                        </a:defRPr>
                      </a:pPr>
                      <a:r>
                        <a:rPr lang="en-US" sz="1500" kern="1200" dirty="0">
                          <a:solidFill>
                            <a:schemeClr val="tx1"/>
                          </a:solidFill>
                          <a:latin typeface="Roboto" panose="02000000000000000000" pitchFamily="2" charset="0"/>
                          <a:ea typeface="Roboto" panose="02000000000000000000" pitchFamily="2" charset="0"/>
                          <a:cs typeface="Roboto" panose="02000000000000000000" pitchFamily="2" charset="0"/>
                        </a:rPr>
                        <a:t> Defects</a:t>
                      </a:r>
                    </a:p>
                  </a:txBody>
                  <a:tcPr marL="48860" marR="48860" marT="48860" marB="48860" anchor="ctr" horzOverflow="overflow">
                    <a:lnL w="0">
                      <a:miter lim="400000"/>
                    </a:lnL>
                    <a:lnR w="0">
                      <a:miter lim="400000"/>
                    </a:lnR>
                    <a:lnT w="0">
                      <a:noFill/>
                      <a:miter lim="400000"/>
                    </a:lnT>
                    <a:lnB w="0">
                      <a:miter lim="400000"/>
                    </a:lnB>
                    <a:solidFill>
                      <a:schemeClr val="bg1">
                        <a:lumMod val="85000"/>
                      </a:schemeClr>
                    </a:solidFill>
                  </a:tcPr>
                </a:tc>
                <a:tc>
                  <a:txBody>
                    <a:bodyPr/>
                    <a:lstStyle/>
                    <a:p>
                      <a:pPr marL="0" marR="0" lvl="0" indent="0" algn="l" defTabSz="1828342" eaLnBrk="1" fontAlgn="auto" latinLnBrk="0" hangingPunct="1">
                        <a:lnSpc>
                          <a:spcPct val="100000"/>
                        </a:lnSpc>
                        <a:spcBef>
                          <a:spcPts val="0"/>
                        </a:spcBef>
                        <a:spcAft>
                          <a:spcPts val="0"/>
                        </a:spcAft>
                        <a:buClrTx/>
                        <a:buSzTx/>
                        <a:buFontTx/>
                        <a:buNone/>
                        <a:tabLst/>
                        <a:defRPr sz="1800">
                          <a:solidFill>
                            <a:srgbClr val="000000"/>
                          </a:solidFill>
                        </a:defRPr>
                      </a:pPr>
                      <a:r>
                        <a:rPr lang="en-US" sz="1500" dirty="0">
                          <a:solidFill>
                            <a:schemeClr val="tx1"/>
                          </a:solidFill>
                          <a:latin typeface="Roboto" panose="02000000000000000000" pitchFamily="2" charset="0"/>
                          <a:ea typeface="Roboto" panose="02000000000000000000" pitchFamily="2" charset="0"/>
                          <a:cs typeface="Roboto" panose="02000000000000000000" pitchFamily="2" charset="0"/>
                        </a:rPr>
                        <a:t>Rejected parts that do not meet specifications, parts damaged during processing or transportation</a:t>
                      </a:r>
                    </a:p>
                  </a:txBody>
                  <a:tcPr marL="48860" marR="48860" marT="48860" marB="48860" anchor="ctr" horzOverflow="overflow">
                    <a:lnL w="0">
                      <a:miter lim="400000"/>
                    </a:lnL>
                    <a:lnR w="0">
                      <a:noFill/>
                      <a:miter lim="400000"/>
                    </a:lnR>
                    <a:lnT w="0">
                      <a:miter lim="400000"/>
                    </a:lnT>
                    <a:lnB w="0">
                      <a:miter lim="400000"/>
                    </a:lnB>
                    <a:solidFill>
                      <a:schemeClr val="bg1">
                        <a:lumMod val="85000"/>
                      </a:schemeClr>
                    </a:solidFill>
                  </a:tcPr>
                </a:tc>
                <a:tc>
                  <a:txBody>
                    <a:bodyPr/>
                    <a:lstStyle/>
                    <a:p>
                      <a:pPr marL="0" marR="0" lvl="0" indent="0" algn="l" defTabSz="1828342" eaLnBrk="1" fontAlgn="auto" latinLnBrk="0" hangingPunct="1">
                        <a:lnSpc>
                          <a:spcPct val="100000"/>
                        </a:lnSpc>
                        <a:spcBef>
                          <a:spcPts val="0"/>
                        </a:spcBef>
                        <a:spcAft>
                          <a:spcPts val="0"/>
                        </a:spcAft>
                        <a:buClrTx/>
                        <a:buSzTx/>
                        <a:buFontTx/>
                        <a:buNone/>
                        <a:tabLst/>
                        <a:defRPr sz="1800">
                          <a:solidFill>
                            <a:srgbClr val="000000"/>
                          </a:solidFill>
                        </a:defRPr>
                      </a:pPr>
                      <a:r>
                        <a:rPr lang="en-US" sz="1500" dirty="0">
                          <a:solidFill>
                            <a:schemeClr val="tx1"/>
                          </a:solidFill>
                          <a:latin typeface="Roboto" panose="02000000000000000000" pitchFamily="2" charset="0"/>
                          <a:ea typeface="Roboto" panose="02000000000000000000" pitchFamily="2" charset="0"/>
                          <a:cs typeface="Roboto" panose="02000000000000000000" pitchFamily="2" charset="0"/>
                        </a:rPr>
                        <a:t>Customer orders with incomplete information, rejected drawings and documents, revisions/iterations</a:t>
                      </a:r>
                    </a:p>
                  </a:txBody>
                  <a:tcPr marL="48860" marR="48860" marT="48860" marB="48860" anchor="ctr" horzOverflow="overflow">
                    <a:lnL w="0">
                      <a:miter lim="400000"/>
                    </a:lnL>
                    <a:lnR w="0">
                      <a:miter lim="400000"/>
                    </a:lnR>
                    <a:lnT w="0">
                      <a:noFill/>
                      <a:miter lim="400000"/>
                    </a:lnT>
                    <a:lnB w="0">
                      <a:noFill/>
                      <a:miter lim="400000"/>
                    </a:lnB>
                    <a:solidFill>
                      <a:schemeClr val="bg1">
                        <a:lumMod val="85000"/>
                      </a:schemeClr>
                    </a:solidFill>
                  </a:tcPr>
                </a:tc>
                <a:extLst>
                  <a:ext uri="{0D108BD9-81ED-4DB2-BD59-A6C34878D82A}">
                    <a16:rowId xmlns:a16="http://schemas.microsoft.com/office/drawing/2014/main" val="10001"/>
                  </a:ext>
                </a:extLst>
              </a:tr>
              <a:tr h="696861">
                <a:tc>
                  <a:txBody>
                    <a:bodyPr/>
                    <a:lstStyle/>
                    <a:p>
                      <a:pPr algn="l" defTabSz="1828342">
                        <a:defRPr sz="1800">
                          <a:solidFill>
                            <a:srgbClr val="000000"/>
                          </a:solidFill>
                        </a:defRPr>
                      </a:pPr>
                      <a:r>
                        <a:rPr lang="en-US" sz="1500" dirty="0">
                          <a:solidFill>
                            <a:schemeClr val="tx1"/>
                          </a:solidFill>
                          <a:latin typeface="Roboto" panose="02000000000000000000" pitchFamily="2" charset="0"/>
                          <a:ea typeface="Roboto" panose="02000000000000000000" pitchFamily="2" charset="0"/>
                          <a:cs typeface="Roboto" panose="02000000000000000000" pitchFamily="2" charset="0"/>
                        </a:rPr>
                        <a:t>2. Over Production</a:t>
                      </a:r>
                      <a:endParaRPr sz="15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8860" marR="48860" marT="48860" marB="48860" anchor="ctr" horzOverflow="overflow">
                    <a:lnL w="0">
                      <a:miter lim="400000"/>
                    </a:lnL>
                    <a:lnR w="0">
                      <a:miter lim="400000"/>
                    </a:lnR>
                    <a:lnT w="0">
                      <a:miter lim="400000"/>
                    </a:lnT>
                    <a:lnB w="0">
                      <a:miter lim="400000"/>
                    </a:lnB>
                    <a:solidFill>
                      <a:schemeClr val="bg1">
                        <a:lumMod val="85000"/>
                      </a:schemeClr>
                    </a:solidFill>
                  </a:tcPr>
                </a:tc>
                <a:tc>
                  <a:txBody>
                    <a:bodyPr/>
                    <a:lstStyle/>
                    <a:p>
                      <a:pPr algn="l" defTabSz="1828342">
                        <a:defRPr sz="1800">
                          <a:solidFill>
                            <a:srgbClr val="000000"/>
                          </a:solidFill>
                        </a:defRPr>
                      </a:pPr>
                      <a:r>
                        <a:rPr lang="en-US" sz="1500" dirty="0">
                          <a:solidFill>
                            <a:schemeClr val="tx1"/>
                          </a:solidFill>
                          <a:latin typeface="Roboto" panose="02000000000000000000" pitchFamily="2" charset="0"/>
                          <a:ea typeface="Roboto" panose="02000000000000000000" pitchFamily="2" charset="0"/>
                          <a:cs typeface="Roboto" panose="02000000000000000000" pitchFamily="2" charset="0"/>
                        </a:rPr>
                        <a:t>Producing more pieces than required, large batches, keeping machines “busy”</a:t>
                      </a:r>
                    </a:p>
                  </a:txBody>
                  <a:tcPr marL="48860" marR="48860" marT="48860" marB="48860" anchor="ctr" horzOverflow="overflow">
                    <a:lnL w="0">
                      <a:miter lim="400000"/>
                    </a:lnL>
                    <a:lnR w="0">
                      <a:noFill/>
                      <a:miter lim="400000"/>
                    </a:lnR>
                    <a:lnT w="0">
                      <a:miter lim="400000"/>
                    </a:lnT>
                    <a:lnB w="0">
                      <a:miter lim="400000"/>
                    </a:lnB>
                    <a:solidFill>
                      <a:schemeClr val="bg1">
                        <a:lumMod val="85000"/>
                      </a:schemeClr>
                    </a:solidFill>
                  </a:tcPr>
                </a:tc>
                <a:tc>
                  <a:txBody>
                    <a:bodyPr/>
                    <a:lstStyle/>
                    <a:p>
                      <a:pPr algn="l" defTabSz="1828342">
                        <a:defRPr sz="1800">
                          <a:solidFill>
                            <a:srgbClr val="000000"/>
                          </a:solidFill>
                        </a:defRPr>
                      </a:pPr>
                      <a:r>
                        <a:rPr lang="en-US" sz="1500" dirty="0">
                          <a:solidFill>
                            <a:schemeClr val="tx1"/>
                          </a:solidFill>
                          <a:latin typeface="Roboto" panose="02000000000000000000" pitchFamily="2" charset="0"/>
                          <a:ea typeface="Roboto" panose="02000000000000000000" pitchFamily="2" charset="0"/>
                          <a:cs typeface="Roboto" panose="02000000000000000000" pitchFamily="2" charset="0"/>
                        </a:rPr>
                        <a:t>Working ahead of schedule, building up large transaction queues, keeping people “busy”</a:t>
                      </a:r>
                    </a:p>
                  </a:txBody>
                  <a:tcPr marL="48860" marR="48860" marT="48860" marB="48860" anchor="ctr" horzOverflow="overflow">
                    <a:lnL w="0">
                      <a:miter lim="400000"/>
                    </a:lnL>
                    <a:lnR w="0">
                      <a:miter lim="400000"/>
                    </a:lnR>
                    <a:lnT w="0">
                      <a:noFill/>
                      <a:miter lim="400000"/>
                    </a:lnT>
                    <a:lnB w="0">
                      <a:noFill/>
                      <a:miter lim="400000"/>
                    </a:lnB>
                    <a:solidFill>
                      <a:schemeClr val="bg1">
                        <a:lumMod val="85000"/>
                      </a:schemeClr>
                    </a:solidFill>
                  </a:tcPr>
                </a:tc>
                <a:extLst>
                  <a:ext uri="{0D108BD9-81ED-4DB2-BD59-A6C34878D82A}">
                    <a16:rowId xmlns:a16="http://schemas.microsoft.com/office/drawing/2014/main" val="10002"/>
                  </a:ext>
                </a:extLst>
              </a:tr>
              <a:tr h="696861">
                <a:tc>
                  <a:txBody>
                    <a:bodyPr/>
                    <a:lstStyle/>
                    <a:p>
                      <a:pPr algn="l" defTabSz="1828342">
                        <a:defRPr sz="1800">
                          <a:solidFill>
                            <a:srgbClr val="000000"/>
                          </a:solidFill>
                        </a:defRPr>
                      </a:pPr>
                      <a:r>
                        <a:rPr lang="en-US" sz="1500" dirty="0">
                          <a:solidFill>
                            <a:schemeClr val="tx1"/>
                          </a:solidFill>
                          <a:latin typeface="Roboto" panose="02000000000000000000" pitchFamily="2" charset="0"/>
                          <a:ea typeface="Roboto" panose="02000000000000000000" pitchFamily="2" charset="0"/>
                          <a:cs typeface="Roboto" panose="02000000000000000000" pitchFamily="2" charset="0"/>
                        </a:rPr>
                        <a:t>3. Waiting</a:t>
                      </a:r>
                      <a:endParaRPr sz="15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8860" marR="48860" marT="48860" marB="48860" anchor="ctr" horzOverflow="overflow">
                    <a:lnL w="0">
                      <a:miter lim="400000"/>
                    </a:lnL>
                    <a:lnR w="0">
                      <a:miter lim="400000"/>
                    </a:lnR>
                    <a:lnT w="0">
                      <a:miter lim="400000"/>
                    </a:lnT>
                    <a:lnB w="0">
                      <a:miter lim="400000"/>
                    </a:lnB>
                    <a:solidFill>
                      <a:schemeClr val="bg1">
                        <a:lumMod val="85000"/>
                      </a:schemeClr>
                    </a:solidFill>
                  </a:tcPr>
                </a:tc>
                <a:tc>
                  <a:txBody>
                    <a:bodyPr/>
                    <a:lstStyle/>
                    <a:p>
                      <a:pPr marL="0" marR="0" lvl="0" indent="0" algn="l" defTabSz="1828342" eaLnBrk="1" fontAlgn="auto" latinLnBrk="0" hangingPunct="1">
                        <a:lnSpc>
                          <a:spcPct val="100000"/>
                        </a:lnSpc>
                        <a:spcBef>
                          <a:spcPts val="0"/>
                        </a:spcBef>
                        <a:spcAft>
                          <a:spcPts val="0"/>
                        </a:spcAft>
                        <a:buClrTx/>
                        <a:buSzTx/>
                        <a:buFontTx/>
                        <a:buNone/>
                        <a:tabLst/>
                        <a:defRPr sz="1800">
                          <a:solidFill>
                            <a:srgbClr val="000000"/>
                          </a:solidFill>
                        </a:defRPr>
                      </a:pPr>
                      <a:r>
                        <a:rPr lang="en-US" sz="1500" dirty="0">
                          <a:solidFill>
                            <a:schemeClr val="tx1"/>
                          </a:solidFill>
                          <a:latin typeface="Roboto" panose="02000000000000000000" pitchFamily="2" charset="0"/>
                          <a:ea typeface="Roboto" panose="02000000000000000000" pitchFamily="2" charset="0"/>
                          <a:cs typeface="Roboto" panose="02000000000000000000" pitchFamily="2" charset="0"/>
                        </a:rPr>
                        <a:t>Parts waiting to be processed by a machine or work cell</a:t>
                      </a:r>
                    </a:p>
                  </a:txBody>
                  <a:tcPr marL="48860" marR="48860" marT="48860" marB="48860" anchor="ctr" horzOverflow="overflow">
                    <a:lnL w="0">
                      <a:miter lim="400000"/>
                    </a:lnL>
                    <a:lnR w="0">
                      <a:noFill/>
                      <a:miter lim="400000"/>
                    </a:lnR>
                    <a:lnT w="0">
                      <a:miter lim="400000"/>
                    </a:lnT>
                    <a:lnB w="0">
                      <a:miter lim="400000"/>
                    </a:lnB>
                    <a:solidFill>
                      <a:schemeClr val="bg1">
                        <a:lumMod val="85000"/>
                      </a:schemeClr>
                    </a:solidFill>
                  </a:tcPr>
                </a:tc>
                <a:tc>
                  <a:txBody>
                    <a:bodyPr/>
                    <a:lstStyle/>
                    <a:p>
                      <a:pPr marL="0" marR="0" lvl="0" indent="0" algn="l" defTabSz="1828342" eaLnBrk="1" fontAlgn="auto" latinLnBrk="0" hangingPunct="1">
                        <a:lnSpc>
                          <a:spcPct val="100000"/>
                        </a:lnSpc>
                        <a:spcBef>
                          <a:spcPts val="0"/>
                        </a:spcBef>
                        <a:spcAft>
                          <a:spcPts val="0"/>
                        </a:spcAft>
                        <a:buClrTx/>
                        <a:buSzTx/>
                        <a:buFontTx/>
                        <a:buNone/>
                        <a:tabLst/>
                        <a:defRPr sz="1800">
                          <a:solidFill>
                            <a:srgbClr val="000000"/>
                          </a:solidFill>
                        </a:defRPr>
                      </a:pPr>
                      <a:r>
                        <a:rPr lang="en-US" sz="1500" dirty="0">
                          <a:solidFill>
                            <a:schemeClr val="tx1"/>
                          </a:solidFill>
                          <a:latin typeface="Roboto" panose="02000000000000000000" pitchFamily="2" charset="0"/>
                          <a:ea typeface="Roboto" panose="02000000000000000000" pitchFamily="2" charset="0"/>
                          <a:cs typeface="Roboto" panose="02000000000000000000" pitchFamily="2" charset="0"/>
                        </a:rPr>
                        <a:t>Time waiting to receive a quote from a supplier, turnaround time to get an approval </a:t>
                      </a:r>
                    </a:p>
                  </a:txBody>
                  <a:tcPr marL="48860" marR="48860" marT="48860" marB="48860" anchor="ctr" horzOverflow="overflow">
                    <a:lnL w="0">
                      <a:miter lim="400000"/>
                    </a:lnL>
                    <a:lnR w="0">
                      <a:miter lim="400000"/>
                    </a:lnR>
                    <a:lnT w="0">
                      <a:noFill/>
                      <a:miter lim="400000"/>
                    </a:lnT>
                    <a:lnB w="0">
                      <a:noFill/>
                      <a:miter lim="400000"/>
                    </a:lnB>
                    <a:solidFill>
                      <a:schemeClr val="bg1">
                        <a:lumMod val="85000"/>
                      </a:schemeClr>
                    </a:solidFill>
                  </a:tcPr>
                </a:tc>
                <a:extLst>
                  <a:ext uri="{0D108BD9-81ED-4DB2-BD59-A6C34878D82A}">
                    <a16:rowId xmlns:a16="http://schemas.microsoft.com/office/drawing/2014/main" val="10003"/>
                  </a:ext>
                </a:extLst>
              </a:tr>
              <a:tr h="696861">
                <a:tc>
                  <a:txBody>
                    <a:bodyPr/>
                    <a:lstStyle/>
                    <a:p>
                      <a:pPr algn="l" defTabSz="1828342">
                        <a:defRPr sz="1800">
                          <a:solidFill>
                            <a:srgbClr val="000000"/>
                          </a:solidFill>
                        </a:defRPr>
                      </a:pPr>
                      <a:r>
                        <a:rPr lang="en-US" sz="1500" dirty="0">
                          <a:solidFill>
                            <a:schemeClr val="tx1"/>
                          </a:solidFill>
                          <a:latin typeface="Roboto" panose="02000000000000000000" pitchFamily="2" charset="0"/>
                          <a:ea typeface="Roboto" panose="02000000000000000000" pitchFamily="2" charset="0"/>
                          <a:cs typeface="Roboto" panose="02000000000000000000" pitchFamily="2" charset="0"/>
                        </a:rPr>
                        <a:t>4. Non-Utilized Talent</a:t>
                      </a:r>
                    </a:p>
                  </a:txBody>
                  <a:tcPr marL="48860" marR="48860" marT="48860" marB="48860" anchor="ctr" horzOverflow="overflow">
                    <a:lnL w="0">
                      <a:miter lim="400000"/>
                    </a:lnL>
                    <a:lnR w="0">
                      <a:miter lim="400000"/>
                    </a:lnR>
                    <a:lnT w="0">
                      <a:miter lim="400000"/>
                    </a:lnT>
                    <a:lnB w="0">
                      <a:noFill/>
                      <a:miter lim="400000"/>
                    </a:lnB>
                    <a:solidFill>
                      <a:schemeClr val="bg1">
                        <a:lumMod val="85000"/>
                      </a:schemeClr>
                    </a:solidFill>
                  </a:tcPr>
                </a:tc>
                <a:tc>
                  <a:txBody>
                    <a:bodyPr/>
                    <a:lstStyle/>
                    <a:p>
                      <a:pPr marL="0" marR="0" lvl="0" indent="0" algn="l" defTabSz="1828342" eaLnBrk="1" fontAlgn="auto" latinLnBrk="0" hangingPunct="1">
                        <a:lnSpc>
                          <a:spcPct val="100000"/>
                        </a:lnSpc>
                        <a:spcBef>
                          <a:spcPts val="0"/>
                        </a:spcBef>
                        <a:spcAft>
                          <a:spcPts val="0"/>
                        </a:spcAft>
                        <a:buClrTx/>
                        <a:buSzTx/>
                        <a:buFontTx/>
                        <a:buNone/>
                        <a:tabLst/>
                        <a:defRPr sz="1800">
                          <a:solidFill>
                            <a:srgbClr val="000000"/>
                          </a:solidFill>
                        </a:defRPr>
                      </a:pPr>
                      <a:r>
                        <a:rPr lang="en-US" sz="1500" dirty="0">
                          <a:solidFill>
                            <a:schemeClr val="tx1"/>
                          </a:solidFill>
                          <a:latin typeface="Roboto" panose="02000000000000000000" pitchFamily="2" charset="0"/>
                          <a:ea typeface="Roboto" panose="02000000000000000000" pitchFamily="2" charset="0"/>
                          <a:cs typeface="Roboto" panose="02000000000000000000" pitchFamily="2" charset="0"/>
                        </a:rPr>
                        <a:t>Insufficient time devoted to  continuous improvement, limited knowledge sharing</a:t>
                      </a:r>
                    </a:p>
                  </a:txBody>
                  <a:tcPr marL="48860" marR="48860" marT="48860" marB="48860" anchor="ctr" horzOverflow="overflow">
                    <a:lnL w="0">
                      <a:miter lim="400000"/>
                    </a:lnL>
                    <a:lnR w="0">
                      <a:noFill/>
                      <a:miter lim="400000"/>
                    </a:lnR>
                    <a:lnT w="0">
                      <a:miter lim="400000"/>
                    </a:lnT>
                    <a:lnB w="0">
                      <a:noFill/>
                      <a:miter lim="400000"/>
                    </a:lnB>
                    <a:solidFill>
                      <a:schemeClr val="bg1">
                        <a:lumMod val="85000"/>
                      </a:schemeClr>
                    </a:solidFill>
                  </a:tcPr>
                </a:tc>
                <a:tc>
                  <a:txBody>
                    <a:bodyPr/>
                    <a:lstStyle/>
                    <a:p>
                      <a:pPr marL="0" marR="0" lvl="0" indent="0" algn="l" defTabSz="1828342" eaLnBrk="1" fontAlgn="auto" latinLnBrk="0" hangingPunct="1">
                        <a:lnSpc>
                          <a:spcPct val="100000"/>
                        </a:lnSpc>
                        <a:spcBef>
                          <a:spcPts val="0"/>
                        </a:spcBef>
                        <a:spcAft>
                          <a:spcPts val="0"/>
                        </a:spcAft>
                        <a:buClrTx/>
                        <a:buSzTx/>
                        <a:buFontTx/>
                        <a:buNone/>
                        <a:tabLst/>
                        <a:defRPr sz="1800">
                          <a:solidFill>
                            <a:srgbClr val="000000"/>
                          </a:solidFill>
                        </a:defRPr>
                      </a:pPr>
                      <a:r>
                        <a:rPr lang="en-US" sz="1500" dirty="0">
                          <a:solidFill>
                            <a:schemeClr val="tx1"/>
                          </a:solidFill>
                          <a:latin typeface="Roboto" panose="02000000000000000000" pitchFamily="2" charset="0"/>
                          <a:ea typeface="Roboto" panose="02000000000000000000" pitchFamily="2" charset="0"/>
                          <a:cs typeface="Roboto" panose="02000000000000000000" pitchFamily="2" charset="0"/>
                        </a:rPr>
                        <a:t>Insufficient time devoted to  continuous improvement, limited knowledge sharing</a:t>
                      </a:r>
                    </a:p>
                  </a:txBody>
                  <a:tcPr marL="48860" marR="48860" marT="48860" marB="48860" anchor="ctr" horzOverflow="overflow">
                    <a:lnL w="0">
                      <a:miter lim="400000"/>
                    </a:lnL>
                    <a:lnR w="0">
                      <a:miter lim="400000"/>
                    </a:lnR>
                    <a:lnT w="0">
                      <a:noFill/>
                      <a:miter lim="400000"/>
                    </a:lnT>
                    <a:lnB w="0">
                      <a:noFill/>
                      <a:miter lim="400000"/>
                    </a:lnB>
                    <a:solidFill>
                      <a:schemeClr val="bg1">
                        <a:lumMod val="85000"/>
                      </a:schemeClr>
                    </a:solidFill>
                  </a:tcPr>
                </a:tc>
                <a:extLst>
                  <a:ext uri="{0D108BD9-81ED-4DB2-BD59-A6C34878D82A}">
                    <a16:rowId xmlns:a16="http://schemas.microsoft.com/office/drawing/2014/main" val="10004"/>
                  </a:ext>
                </a:extLst>
              </a:tr>
            </a:tbl>
          </a:graphicData>
        </a:graphic>
      </p:graphicFrame>
      <p:sp>
        <p:nvSpPr>
          <p:cNvPr id="11" name="Title 1">
            <a:extLst>
              <a:ext uri="{FF2B5EF4-FFF2-40B4-BE49-F238E27FC236}">
                <a16:creationId xmlns:a16="http://schemas.microsoft.com/office/drawing/2014/main" id="{8DA916FB-8E1E-A4D2-9740-281F0453B1AE}"/>
              </a:ext>
            </a:extLst>
          </p:cNvPr>
          <p:cNvSpPr txBox="1">
            <a:spLocks/>
          </p:cNvSpPr>
          <p:nvPr/>
        </p:nvSpPr>
        <p:spPr>
          <a:xfrm>
            <a:off x="699910" y="681038"/>
            <a:ext cx="9815689" cy="1009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endParaRPr lang="en-US" dirty="0">
              <a:solidFill>
                <a:schemeClr val="tx1"/>
              </a:solidFill>
            </a:endParaRPr>
          </a:p>
        </p:txBody>
      </p:sp>
      <p:sp>
        <p:nvSpPr>
          <p:cNvPr id="19" name="TextBox 18">
            <a:extLst>
              <a:ext uri="{FF2B5EF4-FFF2-40B4-BE49-F238E27FC236}">
                <a16:creationId xmlns:a16="http://schemas.microsoft.com/office/drawing/2014/main" id="{BD25A8AF-CFCD-FAC1-D3FA-B8B948F55982}"/>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Lean Fundamentals</a:t>
            </a:r>
          </a:p>
        </p:txBody>
      </p:sp>
      <p:sp>
        <p:nvSpPr>
          <p:cNvPr id="2" name="AutoShape 9">
            <a:extLst>
              <a:ext uri="{FF2B5EF4-FFF2-40B4-BE49-F238E27FC236}">
                <a16:creationId xmlns:a16="http://schemas.microsoft.com/office/drawing/2014/main" id="{E93463C2-E40E-030A-0002-0C1C3A0EDADA}"/>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5" name="AutoShape 11">
            <a:extLst>
              <a:ext uri="{FF2B5EF4-FFF2-40B4-BE49-F238E27FC236}">
                <a16:creationId xmlns:a16="http://schemas.microsoft.com/office/drawing/2014/main" id="{12C2872D-D1BF-F1D0-1B44-64630EF05448}"/>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6" name="AutoShape 10">
            <a:extLst>
              <a:ext uri="{FF2B5EF4-FFF2-40B4-BE49-F238E27FC236}">
                <a16:creationId xmlns:a16="http://schemas.microsoft.com/office/drawing/2014/main" id="{75C3450A-7C40-B672-29A1-85067197B6ED}"/>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Tree>
    <p:extLst>
      <p:ext uri="{BB962C8B-B14F-4D97-AF65-F5344CB8AC3E}">
        <p14:creationId xmlns:p14="http://schemas.microsoft.com/office/powerpoint/2010/main" val="13398145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1A18CF98-FA57-9690-D556-5804A074FA92}"/>
              </a:ext>
            </a:extLst>
          </p:cNvPr>
          <p:cNvSpPr>
            <a:spLocks noGrp="1"/>
          </p:cNvSpPr>
          <p:nvPr>
            <p:ph type="title"/>
          </p:nvPr>
        </p:nvSpPr>
        <p:spPr/>
        <p:txBody>
          <a:bodyPr>
            <a:normAutofit/>
          </a:bodyPr>
          <a:lstStyle/>
          <a:p>
            <a:r>
              <a:rPr lang="en-US" dirty="0">
                <a:solidFill>
                  <a:schemeClr val="tx1"/>
                </a:solidFill>
              </a:rPr>
              <a:t>Eight Wastes Examples (</a:t>
            </a:r>
            <a:r>
              <a:rPr lang="en-US" dirty="0" err="1">
                <a:solidFill>
                  <a:schemeClr val="tx1"/>
                </a:solidFill>
              </a:rPr>
              <a:t>Con’t</a:t>
            </a:r>
            <a:r>
              <a:rPr lang="en-US" dirty="0">
                <a:solidFill>
                  <a:schemeClr val="tx1"/>
                </a:solidFill>
              </a:rPr>
              <a:t>)</a:t>
            </a:r>
            <a:endParaRPr lang="en-US" dirty="0"/>
          </a:p>
        </p:txBody>
      </p:sp>
      <p:sp>
        <p:nvSpPr>
          <p:cNvPr id="3" name="Footer Placeholder 2">
            <a:extLst>
              <a:ext uri="{FF2B5EF4-FFF2-40B4-BE49-F238E27FC236}">
                <a16:creationId xmlns:a16="http://schemas.microsoft.com/office/drawing/2014/main" id="{51E0F923-BF2B-DB43-27A7-CB2326AF632C}"/>
              </a:ext>
            </a:extLst>
          </p:cNvPr>
          <p:cNvSpPr>
            <a:spLocks noGrp="1"/>
          </p:cNvSpPr>
          <p:nvPr>
            <p:ph type="ftr" sz="quarter" idx="11"/>
          </p:nvPr>
        </p:nvSpPr>
        <p:spPr/>
        <p:txBody>
          <a:bodyPr/>
          <a:lstStyle/>
          <a:p>
            <a:r>
              <a:rPr lang="en-US" sz="900"/>
              <a:t>© Lean Horizons Consulting, LLC 2023. All Rights Reserved</a:t>
            </a:r>
            <a:endParaRPr lang="en-US" sz="900" dirty="0"/>
          </a:p>
        </p:txBody>
      </p:sp>
      <p:sp>
        <p:nvSpPr>
          <p:cNvPr id="4" name="Slide Number Placeholder 3">
            <a:extLst>
              <a:ext uri="{FF2B5EF4-FFF2-40B4-BE49-F238E27FC236}">
                <a16:creationId xmlns:a16="http://schemas.microsoft.com/office/drawing/2014/main" id="{399B9463-4CDE-3EF7-2811-BC679B707FFB}"/>
              </a:ext>
            </a:extLst>
          </p:cNvPr>
          <p:cNvSpPr>
            <a:spLocks noGrp="1"/>
          </p:cNvSpPr>
          <p:nvPr>
            <p:ph type="sldNum" sz="quarter" idx="12"/>
          </p:nvPr>
        </p:nvSpPr>
        <p:spPr/>
        <p:txBody>
          <a:bodyPr/>
          <a:lstStyle/>
          <a:p>
            <a:fld id="{CC6D4273-7FC1-0947-B9FE-19CB3C0D1FB6}" type="slidenum">
              <a:rPr lang="en-US" smtClean="0"/>
              <a:pPr/>
              <a:t>22</a:t>
            </a:fld>
            <a:endParaRPr lang="en-US" dirty="0"/>
          </a:p>
        </p:txBody>
      </p:sp>
      <p:graphicFrame>
        <p:nvGraphicFramePr>
          <p:cNvPr id="14" name="Table">
            <a:extLst>
              <a:ext uri="{FF2B5EF4-FFF2-40B4-BE49-F238E27FC236}">
                <a16:creationId xmlns:a16="http://schemas.microsoft.com/office/drawing/2014/main" id="{E517C667-B767-4995-357A-139D3B28AFF6}"/>
              </a:ext>
            </a:extLst>
          </p:cNvPr>
          <p:cNvGraphicFramePr/>
          <p:nvPr>
            <p:extLst>
              <p:ext uri="{D42A27DB-BD31-4B8C-83A1-F6EECF244321}">
                <p14:modId xmlns:p14="http://schemas.microsoft.com/office/powerpoint/2010/main" val="2864649255"/>
              </p:ext>
            </p:extLst>
          </p:nvPr>
        </p:nvGraphicFramePr>
        <p:xfrm>
          <a:off x="838200" y="1964624"/>
          <a:ext cx="10500077" cy="3757445"/>
        </p:xfrm>
        <a:graphic>
          <a:graphicData uri="http://schemas.openxmlformats.org/drawingml/2006/table">
            <a:tbl>
              <a:tblPr/>
              <a:tblGrid>
                <a:gridCol w="1954515">
                  <a:extLst>
                    <a:ext uri="{9D8B030D-6E8A-4147-A177-3AD203B41FA5}">
                      <a16:colId xmlns:a16="http://schemas.microsoft.com/office/drawing/2014/main" val="20000"/>
                    </a:ext>
                  </a:extLst>
                </a:gridCol>
                <a:gridCol w="4205965">
                  <a:extLst>
                    <a:ext uri="{9D8B030D-6E8A-4147-A177-3AD203B41FA5}">
                      <a16:colId xmlns:a16="http://schemas.microsoft.com/office/drawing/2014/main" val="20001"/>
                    </a:ext>
                  </a:extLst>
                </a:gridCol>
                <a:gridCol w="4339597">
                  <a:extLst>
                    <a:ext uri="{9D8B030D-6E8A-4147-A177-3AD203B41FA5}">
                      <a16:colId xmlns:a16="http://schemas.microsoft.com/office/drawing/2014/main" val="2663648458"/>
                    </a:ext>
                  </a:extLst>
                </a:gridCol>
              </a:tblGrid>
              <a:tr h="550887">
                <a:tc>
                  <a:txBody>
                    <a:bodyPr/>
                    <a:lstStyle/>
                    <a:p>
                      <a:pPr algn="ctr" defTabSz="1828342">
                        <a:tabLst>
                          <a:tab pos="914400" algn="l"/>
                        </a:tabLst>
                        <a:defRPr sz="3500">
                          <a:solidFill>
                            <a:srgbClr val="999999"/>
                          </a:solidFill>
                        </a:defRPr>
                      </a:pPr>
                      <a:r>
                        <a:rPr lang="en-US" sz="1400" b="1" i="0" u="none" strike="noStrike" cap="none" spc="0" baseline="0" dirty="0">
                          <a:solidFill>
                            <a:schemeClr val="bg1"/>
                          </a:solidFill>
                          <a:uFillTx/>
                          <a:latin typeface="Roboto" panose="02000000000000000000" pitchFamily="2" charset="0"/>
                          <a:ea typeface="Roboto" panose="02000000000000000000" pitchFamily="2" charset="0"/>
                          <a:cs typeface="Roboto" panose="02000000000000000000" pitchFamily="2" charset="0"/>
                          <a:sym typeface="Roboto"/>
                        </a:rPr>
                        <a:t>Wastes</a:t>
                      </a:r>
                      <a:endParaRPr sz="1400" b="1" i="0" u="none" strike="noStrike" cap="none" spc="0" baseline="0" dirty="0">
                        <a:solidFill>
                          <a:schemeClr val="bg1"/>
                        </a:solidFill>
                        <a:uFillTx/>
                        <a:latin typeface="Roboto" panose="02000000000000000000" pitchFamily="2" charset="0"/>
                        <a:ea typeface="Roboto" panose="02000000000000000000" pitchFamily="2" charset="0"/>
                        <a:cs typeface="Roboto" panose="02000000000000000000" pitchFamily="2" charset="0"/>
                        <a:sym typeface="Roboto"/>
                      </a:endParaRPr>
                    </a:p>
                  </a:txBody>
                  <a:tcPr anchor="ctr" horzOverflow="overflow">
                    <a:lnL w="12700">
                      <a:miter lim="400000"/>
                    </a:lnL>
                    <a:lnR w="0">
                      <a:miter lim="400000"/>
                    </a:lnR>
                    <a:lnT w="12700">
                      <a:miter lim="400000"/>
                    </a:lnT>
                    <a:lnB w="0">
                      <a:miter lim="400000"/>
                    </a:lnB>
                    <a:solidFill>
                      <a:srgbClr val="EE3228"/>
                    </a:solidFill>
                  </a:tcPr>
                </a:tc>
                <a:tc>
                  <a:txBody>
                    <a:bodyPr/>
                    <a:lstStyle/>
                    <a:p>
                      <a:pPr algn="ctr" defTabSz="1828342">
                        <a:defRPr sz="1800">
                          <a:solidFill>
                            <a:srgbClr val="000000"/>
                          </a:solidFill>
                        </a:defRPr>
                      </a:pPr>
                      <a:r>
                        <a:rPr lang="en-US" sz="1400" b="1" dirty="0">
                          <a:solidFill>
                            <a:schemeClr val="bg1"/>
                          </a:solidFill>
                          <a:latin typeface="Roboto" panose="02000000000000000000" pitchFamily="2" charset="0"/>
                          <a:ea typeface="Roboto" panose="02000000000000000000" pitchFamily="2" charset="0"/>
                          <a:cs typeface="Roboto" panose="02000000000000000000" pitchFamily="2" charset="0"/>
                        </a:rPr>
                        <a:t>Manufacturing Example</a:t>
                      </a:r>
                    </a:p>
                  </a:txBody>
                  <a:tcPr anchor="ctr" horzOverflow="overflow">
                    <a:lnL w="0">
                      <a:miter lim="400000"/>
                    </a:lnL>
                    <a:lnR w="0">
                      <a:noFill/>
                      <a:miter lim="400000"/>
                    </a:lnR>
                    <a:lnT w="0">
                      <a:miter lim="400000"/>
                    </a:lnT>
                    <a:lnB w="0">
                      <a:miter lim="400000"/>
                    </a:lnB>
                    <a:solidFill>
                      <a:srgbClr val="EE3228"/>
                    </a:solidFill>
                  </a:tcPr>
                </a:tc>
                <a:tc>
                  <a:txBody>
                    <a:bodyPr/>
                    <a:lstStyle/>
                    <a:p>
                      <a:pPr algn="ctr" defTabSz="1828342">
                        <a:defRPr sz="1800">
                          <a:solidFill>
                            <a:srgbClr val="000000"/>
                          </a:solidFill>
                        </a:defRPr>
                      </a:pPr>
                      <a:r>
                        <a:rPr lang="en-US" sz="1400" b="1" dirty="0">
                          <a:solidFill>
                            <a:schemeClr val="bg1"/>
                          </a:solidFill>
                          <a:latin typeface="Roboto" panose="02000000000000000000" pitchFamily="2" charset="0"/>
                          <a:ea typeface="Roboto" panose="02000000000000000000" pitchFamily="2" charset="0"/>
                          <a:cs typeface="Roboto" panose="02000000000000000000" pitchFamily="2" charset="0"/>
                        </a:rPr>
                        <a:t>Office Example</a:t>
                      </a:r>
                    </a:p>
                  </a:txBody>
                  <a:tcPr anchor="ctr" horzOverflow="overflow">
                    <a:lnL w="0">
                      <a:miter lim="400000"/>
                    </a:lnL>
                    <a:lnR w="0">
                      <a:miter lim="400000"/>
                    </a:lnR>
                    <a:lnT w="0">
                      <a:miter lim="400000"/>
                    </a:lnT>
                    <a:lnB w="0">
                      <a:noFill/>
                      <a:miter lim="400000"/>
                    </a:lnB>
                    <a:solidFill>
                      <a:srgbClr val="EE3228"/>
                    </a:solidFill>
                  </a:tcPr>
                </a:tc>
                <a:extLst>
                  <a:ext uri="{0D108BD9-81ED-4DB2-BD59-A6C34878D82A}">
                    <a16:rowId xmlns:a16="http://schemas.microsoft.com/office/drawing/2014/main" val="10000"/>
                  </a:ext>
                </a:extLst>
              </a:tr>
              <a:tr h="938505">
                <a:tc>
                  <a:txBody>
                    <a:bodyPr/>
                    <a:lstStyle/>
                    <a:p>
                      <a:pPr algn="l" defTabSz="1828342">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5. Transportation</a:t>
                      </a:r>
                      <a:endParaRPr sz="14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anchor="ctr" horzOverflow="overflow">
                    <a:lnL w="0">
                      <a:miter lim="400000"/>
                    </a:lnL>
                    <a:lnR w="0">
                      <a:noFill/>
                      <a:miter lim="400000"/>
                    </a:lnR>
                    <a:lnT w="0">
                      <a:noFill/>
                      <a:miter lim="400000"/>
                    </a:lnT>
                    <a:lnB w="0">
                      <a:noFill/>
                      <a:miter lim="400000"/>
                    </a:lnB>
                    <a:solidFill>
                      <a:schemeClr val="bg1">
                        <a:lumMod val="85000"/>
                      </a:schemeClr>
                    </a:solidFill>
                  </a:tcPr>
                </a:tc>
                <a:tc>
                  <a:txBody>
                    <a:bodyPr/>
                    <a:lstStyle/>
                    <a:p>
                      <a:pPr marL="0" marR="0" lvl="0" indent="0" algn="l" defTabSz="1828342" eaLnBrk="1" fontAlgn="auto" latinLnBrk="0" hangingPunct="1">
                        <a:lnSpc>
                          <a:spcPct val="100000"/>
                        </a:lnSpc>
                        <a:spcBef>
                          <a:spcPts val="0"/>
                        </a:spcBef>
                        <a:spcAft>
                          <a:spcPts val="0"/>
                        </a:spcAft>
                        <a:buClrTx/>
                        <a:buSzTx/>
                        <a:buFontTx/>
                        <a:buNone/>
                        <a:tabLst/>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Parts that are  hand-carried or moved by conveyor, hand truck, tow motor, truck, ship, plane.</a:t>
                      </a:r>
                    </a:p>
                  </a:txBody>
                  <a:tcPr marL="45720" marR="45720" anchor="ctr" horzOverflow="overflow">
                    <a:lnL w="0">
                      <a:noFill/>
                      <a:miter lim="400000"/>
                    </a:lnL>
                    <a:lnR w="0">
                      <a:noFill/>
                      <a:miter lim="400000"/>
                    </a:lnR>
                    <a:lnT w="0">
                      <a:noFill/>
                      <a:miter lim="400000"/>
                    </a:lnT>
                    <a:lnB w="0">
                      <a:noFill/>
                      <a:miter lim="400000"/>
                    </a:lnB>
                    <a:solidFill>
                      <a:schemeClr val="bg1">
                        <a:lumMod val="85000"/>
                      </a:schemeClr>
                    </a:solidFill>
                  </a:tcPr>
                </a:tc>
                <a:tc>
                  <a:txBody>
                    <a:bodyPr/>
                    <a:lstStyle/>
                    <a:p>
                      <a:pPr marL="0" marR="0" lvl="0" indent="0" algn="l" defTabSz="1828342" eaLnBrk="1" fontAlgn="auto" latinLnBrk="0" hangingPunct="1">
                        <a:lnSpc>
                          <a:spcPct val="100000"/>
                        </a:lnSpc>
                        <a:spcBef>
                          <a:spcPts val="0"/>
                        </a:spcBef>
                        <a:spcAft>
                          <a:spcPts val="0"/>
                        </a:spcAft>
                        <a:buClrTx/>
                        <a:buSzTx/>
                        <a:buFontTx/>
                        <a:buNone/>
                        <a:tabLst/>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Functional hand-offs (including electronic), document movement (physical or electronic)</a:t>
                      </a:r>
                    </a:p>
                  </a:txBody>
                  <a:tcPr marL="45720" marR="45720" anchor="ctr" horzOverflow="overflow">
                    <a:lnL w="0">
                      <a:noFill/>
                      <a:miter lim="400000"/>
                    </a:lnL>
                    <a:lnR w="0">
                      <a:miter lim="400000"/>
                    </a:lnR>
                    <a:lnT w="0">
                      <a:noFill/>
                      <a:miter lim="400000"/>
                    </a:lnT>
                    <a:lnB w="0">
                      <a:noFill/>
                      <a:miter lim="400000"/>
                    </a:lnB>
                    <a:solidFill>
                      <a:schemeClr val="bg1">
                        <a:lumMod val="85000"/>
                      </a:schemeClr>
                    </a:solidFill>
                  </a:tcPr>
                </a:tc>
                <a:extLst>
                  <a:ext uri="{0D108BD9-81ED-4DB2-BD59-A6C34878D82A}">
                    <a16:rowId xmlns:a16="http://schemas.microsoft.com/office/drawing/2014/main" val="1878127364"/>
                  </a:ext>
                </a:extLst>
              </a:tr>
              <a:tr h="938505">
                <a:tc>
                  <a:txBody>
                    <a:bodyPr/>
                    <a:lstStyle/>
                    <a:p>
                      <a:pPr algn="l" defTabSz="1828342">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6. Inventory </a:t>
                      </a:r>
                      <a:endParaRPr sz="14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anchor="ctr" horzOverflow="overflow">
                    <a:lnL w="0">
                      <a:miter lim="400000"/>
                    </a:lnL>
                    <a:lnR w="0">
                      <a:noFill/>
                      <a:miter lim="400000"/>
                    </a:lnR>
                    <a:lnT w="0">
                      <a:miter lim="400000"/>
                    </a:lnT>
                    <a:lnB w="0">
                      <a:noFill/>
                      <a:miter lim="400000"/>
                    </a:lnB>
                    <a:solidFill>
                      <a:schemeClr val="bg1">
                        <a:lumMod val="85000"/>
                      </a:schemeClr>
                    </a:solidFill>
                  </a:tcPr>
                </a:tc>
                <a:tc>
                  <a:txBody>
                    <a:bodyPr/>
                    <a:lstStyle/>
                    <a:p>
                      <a:pPr marL="0" marR="0" lvl="0" indent="0" algn="l" defTabSz="1828342" eaLnBrk="1" fontAlgn="auto" latinLnBrk="0" hangingPunct="1">
                        <a:lnSpc>
                          <a:spcPct val="100000"/>
                        </a:lnSpc>
                        <a:spcBef>
                          <a:spcPts val="0"/>
                        </a:spcBef>
                        <a:spcAft>
                          <a:spcPts val="0"/>
                        </a:spcAft>
                        <a:buClrTx/>
                        <a:buSzTx/>
                        <a:buFontTx/>
                        <a:buNone/>
                        <a:tabLst/>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Accumulation of raw materials, WIP and finished goods stored in warehouses, or staging areas</a:t>
                      </a:r>
                    </a:p>
                  </a:txBody>
                  <a:tcPr marL="45720" marR="45720" anchor="ctr" horzOverflow="overflow">
                    <a:lnL w="0">
                      <a:noFill/>
                      <a:miter lim="400000"/>
                    </a:lnL>
                    <a:lnR w="0">
                      <a:noFill/>
                      <a:miter lim="400000"/>
                    </a:lnR>
                    <a:lnT w="0">
                      <a:miter lim="400000"/>
                    </a:lnT>
                    <a:lnB w="0">
                      <a:noFill/>
                      <a:miter lim="400000"/>
                    </a:lnB>
                    <a:solidFill>
                      <a:schemeClr val="bg1">
                        <a:lumMod val="85000"/>
                      </a:schemeClr>
                    </a:solidFill>
                  </a:tcPr>
                </a:tc>
                <a:tc>
                  <a:txBody>
                    <a:bodyPr/>
                    <a:lstStyle/>
                    <a:p>
                      <a:pPr marL="0" marR="0" lvl="0" indent="0" algn="l" defTabSz="1828342" eaLnBrk="1" fontAlgn="auto" latinLnBrk="0" hangingPunct="1">
                        <a:lnSpc>
                          <a:spcPct val="100000"/>
                        </a:lnSpc>
                        <a:spcBef>
                          <a:spcPts val="0"/>
                        </a:spcBef>
                        <a:spcAft>
                          <a:spcPts val="0"/>
                        </a:spcAft>
                        <a:buClrTx/>
                        <a:buSzTx/>
                        <a:buFontTx/>
                        <a:buNone/>
                        <a:tabLst/>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Transactions/documents waiting in queue (e.g. incomplete customer order, unreleased engineering drawing)</a:t>
                      </a:r>
                    </a:p>
                  </a:txBody>
                  <a:tcPr marL="45720" marR="45720" anchor="ctr" horzOverflow="overflow">
                    <a:lnL w="0">
                      <a:noFill/>
                      <a:miter lim="400000"/>
                    </a:lnL>
                    <a:lnR w="0">
                      <a:miter lim="400000"/>
                    </a:lnR>
                    <a:lnT w="0">
                      <a:noFill/>
                      <a:miter lim="400000"/>
                    </a:lnT>
                    <a:lnB w="0">
                      <a:noFill/>
                      <a:miter lim="400000"/>
                    </a:lnB>
                    <a:solidFill>
                      <a:schemeClr val="bg1">
                        <a:lumMod val="85000"/>
                      </a:schemeClr>
                    </a:solidFill>
                  </a:tcPr>
                </a:tc>
                <a:extLst>
                  <a:ext uri="{0D108BD9-81ED-4DB2-BD59-A6C34878D82A}">
                    <a16:rowId xmlns:a16="http://schemas.microsoft.com/office/drawing/2014/main" val="2392731201"/>
                  </a:ext>
                </a:extLst>
              </a:tr>
              <a:tr h="664774">
                <a:tc>
                  <a:txBody>
                    <a:bodyPr/>
                    <a:lstStyle/>
                    <a:p>
                      <a:pPr algn="l" defTabSz="1828342">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7. Motion</a:t>
                      </a:r>
                      <a:endParaRPr sz="14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anchor="ctr" horzOverflow="overflow">
                    <a:lnL w="0">
                      <a:miter lim="400000"/>
                    </a:lnL>
                    <a:lnR w="0">
                      <a:noFill/>
                      <a:miter lim="400000"/>
                    </a:lnR>
                    <a:lnT w="0">
                      <a:miter lim="400000"/>
                    </a:lnT>
                    <a:lnB w="0">
                      <a:noFill/>
                      <a:miter lim="400000"/>
                    </a:lnB>
                    <a:solidFill>
                      <a:schemeClr val="bg1">
                        <a:lumMod val="85000"/>
                      </a:schemeClr>
                    </a:solidFill>
                  </a:tcPr>
                </a:tc>
                <a:tc>
                  <a:txBody>
                    <a:bodyPr/>
                    <a:lstStyle/>
                    <a:p>
                      <a:pPr algn="l" defTabSz="1828342">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Operators reaching for parts, bending, lifting, excessive movement within cell</a:t>
                      </a:r>
                    </a:p>
                  </a:txBody>
                  <a:tcPr marL="45720" marR="45720" anchor="ctr" horzOverflow="overflow">
                    <a:lnL w="0">
                      <a:noFill/>
                      <a:miter lim="400000"/>
                    </a:lnL>
                    <a:lnR w="0">
                      <a:noFill/>
                      <a:miter lim="400000"/>
                    </a:lnR>
                    <a:lnT w="0">
                      <a:miter lim="400000"/>
                    </a:lnT>
                    <a:lnB w="0">
                      <a:noFill/>
                      <a:miter lim="400000"/>
                    </a:lnB>
                    <a:solidFill>
                      <a:schemeClr val="bg1">
                        <a:lumMod val="85000"/>
                      </a:schemeClr>
                    </a:solidFill>
                  </a:tcPr>
                </a:tc>
                <a:tc>
                  <a:txBody>
                    <a:bodyPr/>
                    <a:lstStyle/>
                    <a:p>
                      <a:pPr algn="l" defTabSz="1828342">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Reaching, bending, unnecessary steps within office or work area</a:t>
                      </a:r>
                    </a:p>
                  </a:txBody>
                  <a:tcPr marL="45720" marR="45720" anchor="ctr" horzOverflow="overflow">
                    <a:lnL w="0">
                      <a:noFill/>
                      <a:miter lim="400000"/>
                    </a:lnL>
                    <a:lnR w="0">
                      <a:miter lim="400000"/>
                    </a:lnR>
                    <a:lnT w="0">
                      <a:noFill/>
                      <a:miter lim="400000"/>
                    </a:lnT>
                    <a:lnB w="0">
                      <a:noFill/>
                      <a:miter lim="400000"/>
                    </a:lnB>
                    <a:solidFill>
                      <a:schemeClr val="bg1">
                        <a:lumMod val="85000"/>
                      </a:schemeClr>
                    </a:solidFill>
                  </a:tcPr>
                </a:tc>
                <a:extLst>
                  <a:ext uri="{0D108BD9-81ED-4DB2-BD59-A6C34878D82A}">
                    <a16:rowId xmlns:a16="http://schemas.microsoft.com/office/drawing/2014/main" val="1780965238"/>
                  </a:ext>
                </a:extLst>
              </a:tr>
              <a:tr h="664774">
                <a:tc>
                  <a:txBody>
                    <a:bodyPr/>
                    <a:lstStyle/>
                    <a:p>
                      <a:pPr algn="l" defTabSz="1828342">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8. Extra Processing</a:t>
                      </a:r>
                      <a:endParaRPr sz="14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anchor="ctr" horzOverflow="overflow">
                    <a:lnL w="0">
                      <a:miter lim="400000"/>
                    </a:lnL>
                    <a:lnR w="0">
                      <a:noFill/>
                      <a:miter lim="400000"/>
                    </a:lnR>
                    <a:lnT w="0">
                      <a:miter lim="400000"/>
                    </a:lnT>
                    <a:lnB w="0">
                      <a:miter lim="400000"/>
                    </a:lnB>
                    <a:solidFill>
                      <a:schemeClr val="bg1">
                        <a:lumMod val="85000"/>
                      </a:schemeClr>
                    </a:solidFill>
                  </a:tcPr>
                </a:tc>
                <a:tc>
                  <a:txBody>
                    <a:bodyPr/>
                    <a:lstStyle/>
                    <a:p>
                      <a:pPr marL="0" marR="0" lvl="0" indent="0" algn="l" defTabSz="1828342" eaLnBrk="1" fontAlgn="auto" latinLnBrk="0" hangingPunct="1">
                        <a:lnSpc>
                          <a:spcPct val="100000"/>
                        </a:lnSpc>
                        <a:spcBef>
                          <a:spcPts val="0"/>
                        </a:spcBef>
                        <a:spcAft>
                          <a:spcPts val="0"/>
                        </a:spcAft>
                        <a:buClrTx/>
                        <a:buSzTx/>
                        <a:buFontTx/>
                        <a:buNone/>
                        <a:tabLst/>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Machining to overly tight tolerances, washing parts longer than required, excessive polishing</a:t>
                      </a:r>
                    </a:p>
                  </a:txBody>
                  <a:tcPr marL="45720" marR="45720" anchor="ctr" horzOverflow="overflow">
                    <a:lnL w="0">
                      <a:noFill/>
                      <a:miter lim="400000"/>
                    </a:lnL>
                    <a:lnR w="0">
                      <a:noFill/>
                      <a:miter lim="400000"/>
                    </a:lnR>
                    <a:lnT w="0">
                      <a:miter lim="400000"/>
                    </a:lnT>
                    <a:lnB w="0">
                      <a:miter lim="400000"/>
                    </a:lnB>
                    <a:solidFill>
                      <a:schemeClr val="bg1">
                        <a:lumMod val="85000"/>
                      </a:schemeClr>
                    </a:solidFill>
                  </a:tcPr>
                </a:tc>
                <a:tc>
                  <a:txBody>
                    <a:bodyPr/>
                    <a:lstStyle/>
                    <a:p>
                      <a:pPr marL="0" marR="0" lvl="0" indent="0" algn="l" defTabSz="1828342" eaLnBrk="1" fontAlgn="auto" latinLnBrk="0" hangingPunct="1">
                        <a:lnSpc>
                          <a:spcPct val="100000"/>
                        </a:lnSpc>
                        <a:spcBef>
                          <a:spcPts val="0"/>
                        </a:spcBef>
                        <a:spcAft>
                          <a:spcPts val="0"/>
                        </a:spcAft>
                        <a:buClrTx/>
                        <a:buSzTx/>
                        <a:buFontTx/>
                        <a:buNone/>
                        <a:tabLst/>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Excessive information, unnecessary reports, unnecessary approvals, excessive specifications</a:t>
                      </a:r>
                    </a:p>
                  </a:txBody>
                  <a:tcPr marL="45720" marR="45720" anchor="ctr" horzOverflow="overflow">
                    <a:lnL w="0">
                      <a:noFill/>
                      <a:miter lim="400000"/>
                    </a:lnL>
                    <a:lnR w="0">
                      <a:miter lim="400000"/>
                    </a:lnR>
                    <a:lnT w="0">
                      <a:noFill/>
                      <a:miter lim="400000"/>
                    </a:lnT>
                    <a:lnB w="0">
                      <a:miter lim="400000"/>
                    </a:lnB>
                    <a:solidFill>
                      <a:schemeClr val="bg1">
                        <a:lumMod val="85000"/>
                      </a:schemeClr>
                    </a:solidFill>
                  </a:tcPr>
                </a:tc>
                <a:extLst>
                  <a:ext uri="{0D108BD9-81ED-4DB2-BD59-A6C34878D82A}">
                    <a16:rowId xmlns:a16="http://schemas.microsoft.com/office/drawing/2014/main" val="514211142"/>
                  </a:ext>
                </a:extLst>
              </a:tr>
            </a:tbl>
          </a:graphicData>
        </a:graphic>
      </p:graphicFrame>
      <p:sp>
        <p:nvSpPr>
          <p:cNvPr id="11" name="Title 1">
            <a:extLst>
              <a:ext uri="{FF2B5EF4-FFF2-40B4-BE49-F238E27FC236}">
                <a16:creationId xmlns:a16="http://schemas.microsoft.com/office/drawing/2014/main" id="{88193168-C150-6CDE-FF02-7E7D4879A68B}"/>
              </a:ext>
            </a:extLst>
          </p:cNvPr>
          <p:cNvSpPr txBox="1">
            <a:spLocks/>
          </p:cNvSpPr>
          <p:nvPr/>
        </p:nvSpPr>
        <p:spPr>
          <a:xfrm>
            <a:off x="699910" y="681038"/>
            <a:ext cx="9815689" cy="1009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endParaRPr lang="en-US" dirty="0">
              <a:solidFill>
                <a:schemeClr val="tx1"/>
              </a:solidFill>
            </a:endParaRPr>
          </a:p>
        </p:txBody>
      </p:sp>
      <p:sp>
        <p:nvSpPr>
          <p:cNvPr id="19" name="TextBox 18">
            <a:extLst>
              <a:ext uri="{FF2B5EF4-FFF2-40B4-BE49-F238E27FC236}">
                <a16:creationId xmlns:a16="http://schemas.microsoft.com/office/drawing/2014/main" id="{E3B35907-7A00-D6A1-F404-61604F7F6E37}"/>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Lean Fundamentals</a:t>
            </a:r>
          </a:p>
        </p:txBody>
      </p:sp>
      <p:sp>
        <p:nvSpPr>
          <p:cNvPr id="7" name="AutoShape 9">
            <a:extLst>
              <a:ext uri="{FF2B5EF4-FFF2-40B4-BE49-F238E27FC236}">
                <a16:creationId xmlns:a16="http://schemas.microsoft.com/office/drawing/2014/main" id="{9C3DD007-0C91-7D7A-9768-F8F7918D69B2}"/>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11">
            <a:extLst>
              <a:ext uri="{FF2B5EF4-FFF2-40B4-BE49-F238E27FC236}">
                <a16:creationId xmlns:a16="http://schemas.microsoft.com/office/drawing/2014/main" id="{75B5FEC7-2460-6F78-2E42-91A1FED9A001}"/>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10">
            <a:extLst>
              <a:ext uri="{FF2B5EF4-FFF2-40B4-BE49-F238E27FC236}">
                <a16:creationId xmlns:a16="http://schemas.microsoft.com/office/drawing/2014/main" id="{BC770AD1-69B5-CB47-6F89-ED3FBC576805}"/>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Tree>
    <p:extLst>
      <p:ext uri="{BB962C8B-B14F-4D97-AF65-F5344CB8AC3E}">
        <p14:creationId xmlns:p14="http://schemas.microsoft.com/office/powerpoint/2010/main" val="12496967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51E0F923-BF2B-DB43-27A7-CB2326AF632C}"/>
              </a:ext>
            </a:extLst>
          </p:cNvPr>
          <p:cNvSpPr>
            <a:spLocks noGrp="1"/>
          </p:cNvSpPr>
          <p:nvPr>
            <p:ph type="ftr" sz="quarter" idx="11"/>
          </p:nvPr>
        </p:nvSpPr>
        <p:spPr/>
        <p:txBody>
          <a:bodyPr/>
          <a:lstStyle/>
          <a:p>
            <a:r>
              <a:rPr lang="en-US" sz="900"/>
              <a:t>© Lean Horizons Consulting, LLC 2023. All Rights Reserved</a:t>
            </a:r>
            <a:endParaRPr lang="en-US" sz="900" dirty="0"/>
          </a:p>
        </p:txBody>
      </p:sp>
      <p:sp>
        <p:nvSpPr>
          <p:cNvPr id="4" name="Slide Number Placeholder 3">
            <a:extLst>
              <a:ext uri="{FF2B5EF4-FFF2-40B4-BE49-F238E27FC236}">
                <a16:creationId xmlns:a16="http://schemas.microsoft.com/office/drawing/2014/main" id="{399B9463-4CDE-3EF7-2811-BC679B707FFB}"/>
              </a:ext>
            </a:extLst>
          </p:cNvPr>
          <p:cNvSpPr>
            <a:spLocks noGrp="1"/>
          </p:cNvSpPr>
          <p:nvPr>
            <p:ph type="sldNum" sz="quarter" idx="12"/>
          </p:nvPr>
        </p:nvSpPr>
        <p:spPr/>
        <p:txBody>
          <a:bodyPr/>
          <a:lstStyle/>
          <a:p>
            <a:fld id="{CC6D4273-7FC1-0947-B9FE-19CB3C0D1FB6}" type="slidenum">
              <a:rPr lang="en-US" smtClean="0"/>
              <a:pPr/>
              <a:t>23</a:t>
            </a:fld>
            <a:endParaRPr lang="en-US" dirty="0"/>
          </a:p>
        </p:txBody>
      </p:sp>
      <p:grpSp>
        <p:nvGrpSpPr>
          <p:cNvPr id="11" name="Group 10">
            <a:extLst>
              <a:ext uri="{FF2B5EF4-FFF2-40B4-BE49-F238E27FC236}">
                <a16:creationId xmlns:a16="http://schemas.microsoft.com/office/drawing/2014/main" id="{749E0832-AACB-CAE5-0C64-3DF068BB6CCF}"/>
              </a:ext>
            </a:extLst>
          </p:cNvPr>
          <p:cNvGrpSpPr/>
          <p:nvPr/>
        </p:nvGrpSpPr>
        <p:grpSpPr>
          <a:xfrm>
            <a:off x="1028700" y="1687909"/>
            <a:ext cx="10103132" cy="4202981"/>
            <a:chOff x="8281557" y="4737895"/>
            <a:chExt cx="7821249" cy="4240215"/>
          </a:xfrm>
        </p:grpSpPr>
        <p:grpSp>
          <p:nvGrpSpPr>
            <p:cNvPr id="12" name="Group 11">
              <a:extLst>
                <a:ext uri="{FF2B5EF4-FFF2-40B4-BE49-F238E27FC236}">
                  <a16:creationId xmlns:a16="http://schemas.microsoft.com/office/drawing/2014/main" id="{6A1B8612-05F1-EDC5-7187-0E57D310DAE2}"/>
                </a:ext>
              </a:extLst>
            </p:cNvPr>
            <p:cNvGrpSpPr>
              <a:grpSpLocks/>
            </p:cNvGrpSpPr>
            <p:nvPr/>
          </p:nvGrpSpPr>
          <p:grpSpPr bwMode="auto">
            <a:xfrm>
              <a:off x="8281557" y="4737895"/>
              <a:ext cx="7821249" cy="4240215"/>
              <a:chOff x="1128079" y="2791379"/>
              <a:chExt cx="6619312" cy="2792502"/>
            </a:xfrm>
          </p:grpSpPr>
          <p:sp>
            <p:nvSpPr>
              <p:cNvPr id="17" name="Rectangle 16">
                <a:extLst>
                  <a:ext uri="{FF2B5EF4-FFF2-40B4-BE49-F238E27FC236}">
                    <a16:creationId xmlns:a16="http://schemas.microsoft.com/office/drawing/2014/main" id="{79027B07-B3E6-7ECD-4074-39A89A45A30B}"/>
                  </a:ext>
                </a:extLst>
              </p:cNvPr>
              <p:cNvSpPr/>
              <p:nvPr/>
            </p:nvSpPr>
            <p:spPr>
              <a:xfrm>
                <a:off x="1142550" y="2791379"/>
                <a:ext cx="6604841" cy="120682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sz="900" b="1" kern="1200">
                    <a:solidFill>
                      <a:schemeClr val="lt1"/>
                    </a:solidFill>
                    <a:latin typeface="+mn-lt"/>
                    <a:ea typeface="+mn-ea"/>
                    <a:cs typeface="+mn-cs"/>
                  </a:defRPr>
                </a:lvl1pPr>
                <a:lvl2pPr marL="457200" algn="l" rtl="0" eaLnBrk="0" fontAlgn="base" hangingPunct="0">
                  <a:spcBef>
                    <a:spcPct val="0"/>
                  </a:spcBef>
                  <a:spcAft>
                    <a:spcPct val="0"/>
                  </a:spcAft>
                  <a:defRPr sz="900" b="1" kern="1200">
                    <a:solidFill>
                      <a:schemeClr val="lt1"/>
                    </a:solidFill>
                    <a:latin typeface="+mn-lt"/>
                    <a:ea typeface="+mn-ea"/>
                    <a:cs typeface="+mn-cs"/>
                  </a:defRPr>
                </a:lvl2pPr>
                <a:lvl3pPr marL="914400" algn="l" rtl="0" eaLnBrk="0" fontAlgn="base" hangingPunct="0">
                  <a:spcBef>
                    <a:spcPct val="0"/>
                  </a:spcBef>
                  <a:spcAft>
                    <a:spcPct val="0"/>
                  </a:spcAft>
                  <a:defRPr sz="900" b="1" kern="1200">
                    <a:solidFill>
                      <a:schemeClr val="lt1"/>
                    </a:solidFill>
                    <a:latin typeface="+mn-lt"/>
                    <a:ea typeface="+mn-ea"/>
                    <a:cs typeface="+mn-cs"/>
                  </a:defRPr>
                </a:lvl3pPr>
                <a:lvl4pPr marL="1371600" algn="l" rtl="0" eaLnBrk="0" fontAlgn="base" hangingPunct="0">
                  <a:spcBef>
                    <a:spcPct val="0"/>
                  </a:spcBef>
                  <a:spcAft>
                    <a:spcPct val="0"/>
                  </a:spcAft>
                  <a:defRPr sz="900" b="1" kern="1200">
                    <a:solidFill>
                      <a:schemeClr val="lt1"/>
                    </a:solidFill>
                    <a:latin typeface="+mn-lt"/>
                    <a:ea typeface="+mn-ea"/>
                    <a:cs typeface="+mn-cs"/>
                  </a:defRPr>
                </a:lvl4pPr>
                <a:lvl5pPr marL="1828800" algn="l" rtl="0" eaLnBrk="0" fontAlgn="base" hangingPunct="0">
                  <a:spcBef>
                    <a:spcPct val="0"/>
                  </a:spcBef>
                  <a:spcAft>
                    <a:spcPct val="0"/>
                  </a:spcAft>
                  <a:defRPr sz="900" b="1" kern="1200">
                    <a:solidFill>
                      <a:schemeClr val="lt1"/>
                    </a:solidFill>
                    <a:latin typeface="+mn-lt"/>
                    <a:ea typeface="+mn-ea"/>
                    <a:cs typeface="+mn-cs"/>
                  </a:defRPr>
                </a:lvl5pPr>
                <a:lvl6pPr marL="2286000" algn="l" defTabSz="914400" rtl="0" eaLnBrk="1" latinLnBrk="0" hangingPunct="1">
                  <a:defRPr sz="900" b="1" kern="1200">
                    <a:solidFill>
                      <a:schemeClr val="lt1"/>
                    </a:solidFill>
                    <a:latin typeface="+mn-lt"/>
                    <a:ea typeface="+mn-ea"/>
                    <a:cs typeface="+mn-cs"/>
                  </a:defRPr>
                </a:lvl6pPr>
                <a:lvl7pPr marL="2743200" algn="l" defTabSz="914400" rtl="0" eaLnBrk="1" latinLnBrk="0" hangingPunct="1">
                  <a:defRPr sz="900" b="1" kern="1200">
                    <a:solidFill>
                      <a:schemeClr val="lt1"/>
                    </a:solidFill>
                    <a:latin typeface="+mn-lt"/>
                    <a:ea typeface="+mn-ea"/>
                    <a:cs typeface="+mn-cs"/>
                  </a:defRPr>
                </a:lvl7pPr>
                <a:lvl8pPr marL="3200400" algn="l" defTabSz="914400" rtl="0" eaLnBrk="1" latinLnBrk="0" hangingPunct="1">
                  <a:defRPr sz="900" b="1" kern="1200">
                    <a:solidFill>
                      <a:schemeClr val="lt1"/>
                    </a:solidFill>
                    <a:latin typeface="+mn-lt"/>
                    <a:ea typeface="+mn-ea"/>
                    <a:cs typeface="+mn-cs"/>
                  </a:defRPr>
                </a:lvl8pPr>
                <a:lvl9pPr marL="3657600" algn="l" defTabSz="914400" rtl="0" eaLnBrk="1" latinLnBrk="0" hangingPunct="1">
                  <a:defRPr sz="900" b="1" kern="1200">
                    <a:solidFill>
                      <a:schemeClr val="lt1"/>
                    </a:solidFill>
                    <a:latin typeface="+mn-lt"/>
                    <a:ea typeface="+mn-ea"/>
                    <a:cs typeface="+mn-cs"/>
                  </a:defRPr>
                </a:lvl9pPr>
              </a:lstStyle>
              <a:p>
                <a:pPr algn="ctr">
                  <a:lnSpc>
                    <a:spcPct val="80000"/>
                  </a:lnSpc>
                  <a:spcBef>
                    <a:spcPct val="20000"/>
                  </a:spcBef>
                  <a:defRPr/>
                </a:pPr>
                <a:endParaRPr lang="en-US" sz="675"/>
              </a:p>
            </p:txBody>
          </p:sp>
          <p:pic>
            <p:nvPicPr>
              <p:cNvPr id="18" name="Picture 17" descr="&#10;">
                <a:extLst>
                  <a:ext uri="{FF2B5EF4-FFF2-40B4-BE49-F238E27FC236}">
                    <a16:creationId xmlns:a16="http://schemas.microsoft.com/office/drawing/2014/main" id="{DDA0E773-9090-6F53-2E7D-C1CD023D13D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28079" y="2791379"/>
                <a:ext cx="2753267" cy="11685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Rectangle 18">
                <a:extLst>
                  <a:ext uri="{FF2B5EF4-FFF2-40B4-BE49-F238E27FC236}">
                    <a16:creationId xmlns:a16="http://schemas.microsoft.com/office/drawing/2014/main" id="{A18823BE-7B7A-4A69-0694-6DCD968CCE67}"/>
                  </a:ext>
                </a:extLst>
              </p:cNvPr>
              <p:cNvSpPr/>
              <p:nvPr/>
            </p:nvSpPr>
            <p:spPr>
              <a:xfrm>
                <a:off x="1142550" y="3960236"/>
                <a:ext cx="6604841" cy="1613190"/>
              </a:xfrm>
              <a:prstGeom prst="rect">
                <a:avLst/>
              </a:prstGeom>
              <a:solidFill>
                <a:srgbClr val="A4C9F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sz="900" b="1" kern="1200">
                    <a:solidFill>
                      <a:schemeClr val="lt1"/>
                    </a:solidFill>
                    <a:latin typeface="+mn-lt"/>
                    <a:ea typeface="+mn-ea"/>
                    <a:cs typeface="+mn-cs"/>
                  </a:defRPr>
                </a:lvl1pPr>
                <a:lvl2pPr marL="457200" algn="l" rtl="0" eaLnBrk="0" fontAlgn="base" hangingPunct="0">
                  <a:spcBef>
                    <a:spcPct val="0"/>
                  </a:spcBef>
                  <a:spcAft>
                    <a:spcPct val="0"/>
                  </a:spcAft>
                  <a:defRPr sz="900" b="1" kern="1200">
                    <a:solidFill>
                      <a:schemeClr val="lt1"/>
                    </a:solidFill>
                    <a:latin typeface="+mn-lt"/>
                    <a:ea typeface="+mn-ea"/>
                    <a:cs typeface="+mn-cs"/>
                  </a:defRPr>
                </a:lvl2pPr>
                <a:lvl3pPr marL="914400" algn="l" rtl="0" eaLnBrk="0" fontAlgn="base" hangingPunct="0">
                  <a:spcBef>
                    <a:spcPct val="0"/>
                  </a:spcBef>
                  <a:spcAft>
                    <a:spcPct val="0"/>
                  </a:spcAft>
                  <a:defRPr sz="900" b="1" kern="1200">
                    <a:solidFill>
                      <a:schemeClr val="lt1"/>
                    </a:solidFill>
                    <a:latin typeface="+mn-lt"/>
                    <a:ea typeface="+mn-ea"/>
                    <a:cs typeface="+mn-cs"/>
                  </a:defRPr>
                </a:lvl3pPr>
                <a:lvl4pPr marL="1371600" algn="l" rtl="0" eaLnBrk="0" fontAlgn="base" hangingPunct="0">
                  <a:spcBef>
                    <a:spcPct val="0"/>
                  </a:spcBef>
                  <a:spcAft>
                    <a:spcPct val="0"/>
                  </a:spcAft>
                  <a:defRPr sz="900" b="1" kern="1200">
                    <a:solidFill>
                      <a:schemeClr val="lt1"/>
                    </a:solidFill>
                    <a:latin typeface="+mn-lt"/>
                    <a:ea typeface="+mn-ea"/>
                    <a:cs typeface="+mn-cs"/>
                  </a:defRPr>
                </a:lvl4pPr>
                <a:lvl5pPr marL="1828800" algn="l" rtl="0" eaLnBrk="0" fontAlgn="base" hangingPunct="0">
                  <a:spcBef>
                    <a:spcPct val="0"/>
                  </a:spcBef>
                  <a:spcAft>
                    <a:spcPct val="0"/>
                  </a:spcAft>
                  <a:defRPr sz="900" b="1" kern="1200">
                    <a:solidFill>
                      <a:schemeClr val="lt1"/>
                    </a:solidFill>
                    <a:latin typeface="+mn-lt"/>
                    <a:ea typeface="+mn-ea"/>
                    <a:cs typeface="+mn-cs"/>
                  </a:defRPr>
                </a:lvl5pPr>
                <a:lvl6pPr marL="2286000" algn="l" defTabSz="914400" rtl="0" eaLnBrk="1" latinLnBrk="0" hangingPunct="1">
                  <a:defRPr sz="900" b="1" kern="1200">
                    <a:solidFill>
                      <a:schemeClr val="lt1"/>
                    </a:solidFill>
                    <a:latin typeface="+mn-lt"/>
                    <a:ea typeface="+mn-ea"/>
                    <a:cs typeface="+mn-cs"/>
                  </a:defRPr>
                </a:lvl6pPr>
                <a:lvl7pPr marL="2743200" algn="l" defTabSz="914400" rtl="0" eaLnBrk="1" latinLnBrk="0" hangingPunct="1">
                  <a:defRPr sz="900" b="1" kern="1200">
                    <a:solidFill>
                      <a:schemeClr val="lt1"/>
                    </a:solidFill>
                    <a:latin typeface="+mn-lt"/>
                    <a:ea typeface="+mn-ea"/>
                    <a:cs typeface="+mn-cs"/>
                  </a:defRPr>
                </a:lvl7pPr>
                <a:lvl8pPr marL="3200400" algn="l" defTabSz="914400" rtl="0" eaLnBrk="1" latinLnBrk="0" hangingPunct="1">
                  <a:defRPr sz="900" b="1" kern="1200">
                    <a:solidFill>
                      <a:schemeClr val="lt1"/>
                    </a:solidFill>
                    <a:latin typeface="+mn-lt"/>
                    <a:ea typeface="+mn-ea"/>
                    <a:cs typeface="+mn-cs"/>
                  </a:defRPr>
                </a:lvl8pPr>
                <a:lvl9pPr marL="3657600" algn="l" defTabSz="914400" rtl="0" eaLnBrk="1" latinLnBrk="0" hangingPunct="1">
                  <a:defRPr sz="900" b="1" kern="1200">
                    <a:solidFill>
                      <a:schemeClr val="lt1"/>
                    </a:solidFill>
                    <a:latin typeface="+mn-lt"/>
                    <a:ea typeface="+mn-ea"/>
                    <a:cs typeface="+mn-cs"/>
                  </a:defRPr>
                </a:lvl9pPr>
              </a:lstStyle>
              <a:p>
                <a:pPr algn="ctr">
                  <a:lnSpc>
                    <a:spcPct val="80000"/>
                  </a:lnSpc>
                  <a:spcBef>
                    <a:spcPct val="20000"/>
                  </a:spcBef>
                  <a:defRPr/>
                </a:pPr>
                <a:endParaRPr lang="en-US" sz="675"/>
              </a:p>
            </p:txBody>
          </p:sp>
          <p:pic>
            <p:nvPicPr>
              <p:cNvPr id="20" name="Picture 19" descr="Image result for rock clipart">
                <a:extLst>
                  <a:ext uri="{FF2B5EF4-FFF2-40B4-BE49-F238E27FC236}">
                    <a16:creationId xmlns:a16="http://schemas.microsoft.com/office/drawing/2014/main" id="{C998EC1D-1DBC-C872-717E-1C2517258DBC}"/>
                  </a:ext>
                </a:extLst>
              </p:cNvPr>
              <p:cNvPicPr>
                <a:picLocks noChangeAspect="1" noChangeArrowheads="1"/>
              </p:cNvPicPr>
              <p:nvPr/>
            </p:nvPicPr>
            <p:blipFill>
              <a:blip r:embed="rId4">
                <a:duotone>
                  <a:prstClr val="black"/>
                  <a:srgbClr val="FEFEFE">
                    <a:tint val="45000"/>
                    <a:satMod val="400000"/>
                  </a:srgbClr>
                </a:duotone>
                <a:extLst>
                  <a:ext uri="{BEBA8EAE-BF5A-486C-A8C5-ECC9F3942E4B}">
                    <a14:imgProps xmlns:a14="http://schemas.microsoft.com/office/drawing/2010/main">
                      <a14:imgLayer r:embed="rId5">
                        <a14:imgEffect>
                          <a14:backgroundRemoval t="3226" b="93548" l="10000" r="90000">
                            <a14:foregroundMark x1="56667" y1="8065" x2="56667" y2="8065"/>
                            <a14:foregroundMark x1="58148" y1="3226" x2="58148" y2="3226"/>
                            <a14:foregroundMark x1="75926" y1="88172" x2="75926" y2="88172"/>
                            <a14:foregroundMark x1="79259" y1="84409" x2="69259" y2="87634"/>
                            <a14:foregroundMark x1="85926" y1="93548" x2="82593" y2="92473"/>
                          </a14:backgroundRemoval>
                        </a14:imgEffect>
                      </a14:imgLayer>
                    </a14:imgProps>
                  </a:ext>
                </a:extLst>
              </a:blip>
              <a:srcRect/>
              <a:stretch>
                <a:fillRect/>
              </a:stretch>
            </p:blipFill>
            <p:spPr bwMode="auto">
              <a:xfrm>
                <a:off x="3893656" y="4140689"/>
                <a:ext cx="1929315" cy="1329084"/>
              </a:xfrm>
              <a:prstGeom prst="rect">
                <a:avLst/>
              </a:prstGeom>
              <a:solidFill>
                <a:srgbClr val="A4C9F9"/>
              </a:solidFill>
              <a:ln>
                <a:noFill/>
              </a:ln>
              <a:effectLst/>
            </p:spPr>
          </p:pic>
          <p:pic>
            <p:nvPicPr>
              <p:cNvPr id="21" name="Picture 20">
                <a:extLst>
                  <a:ext uri="{FF2B5EF4-FFF2-40B4-BE49-F238E27FC236}">
                    <a16:creationId xmlns:a16="http://schemas.microsoft.com/office/drawing/2014/main" id="{036D77DD-E4A8-6170-EE9D-085A3DB095DA}"/>
                  </a:ext>
                </a:extLst>
              </p:cNvPr>
              <p:cNvPicPr>
                <a:picLocks noChangeAspect="1"/>
              </p:cNvPicPr>
              <p:nvPr/>
            </p:nvPicPr>
            <p:blipFill>
              <a:blip r:embed="rId6">
                <a:clrChange>
                  <a:clrFrom>
                    <a:srgbClr val="000000">
                      <a:alpha val="0"/>
                    </a:srgbClr>
                  </a:clrFrom>
                  <a:clrTo>
                    <a:srgbClr val="000000">
                      <a:alpha val="0"/>
                    </a:srgbClr>
                  </a:clrTo>
                </a:clrChange>
                <a:duotone>
                  <a:prstClr val="black"/>
                  <a:srgbClr val="FEFEFE">
                    <a:tint val="45000"/>
                    <a:satMod val="400000"/>
                  </a:srgbClr>
                </a:duotone>
                <a:extLst>
                  <a:ext uri="{BEBA8EAE-BF5A-486C-A8C5-ECC9F3942E4B}">
                    <a14:imgProps xmlns:a14="http://schemas.microsoft.com/office/drawing/2010/main">
                      <a14:imgLayer r:embed="rId7">
                        <a14:imgEffect>
                          <a14:backgroundRemoval t="1667" b="97917" l="1429" r="97143">
                            <a14:foregroundMark x1="10476" y1="42083" x2="10952" y2="72500"/>
                            <a14:foregroundMark x1="10952" y1="72500" x2="12381" y2="76250"/>
                            <a14:foregroundMark x1="6667" y1="65000" x2="5238" y2="61250"/>
                            <a14:foregroundMark x1="2381" y1="57917" x2="2381" y2="57917"/>
                            <a14:foregroundMark x1="1429" y1="43750" x2="1429" y2="43750"/>
                            <a14:foregroundMark x1="3333" y1="67083" x2="3333" y2="67083"/>
                            <a14:foregroundMark x1="9048" y1="81250" x2="9048" y2="81250"/>
                            <a14:foregroundMark x1="20000" y1="84583" x2="20000" y2="84583"/>
                            <a14:foregroundMark x1="24762" y1="95000" x2="19048" y2="95417"/>
                            <a14:foregroundMark x1="42381" y1="97917" x2="42381" y2="97917"/>
                            <a14:foregroundMark x1="50952" y1="97500" x2="50952" y2="97500"/>
                            <a14:foregroundMark x1="60000" y1="96250" x2="60000" y2="96250"/>
                            <a14:foregroundMark x1="68095" y1="94583" x2="68095" y2="94583"/>
                            <a14:foregroundMark x1="81429" y1="90417" x2="81429" y2="90417"/>
                            <a14:foregroundMark x1="90000" y1="85833" x2="90000" y2="85833"/>
                            <a14:foregroundMark x1="94762" y1="75417" x2="94762" y2="75417"/>
                            <a14:foregroundMark x1="82381" y1="74583" x2="82381" y2="74583"/>
                            <a14:foregroundMark x1="95714" y1="68750" x2="95714" y2="68750"/>
                            <a14:foregroundMark x1="97143" y1="62917" x2="97143" y2="62917"/>
                            <a14:foregroundMark x1="57143" y1="60833" x2="57143" y2="60833"/>
                            <a14:foregroundMark x1="79524" y1="48750" x2="79524" y2="48750"/>
                            <a14:foregroundMark x1="80476" y1="40000" x2="80476" y2="40000"/>
                            <a14:foregroundMark x1="75714" y1="25417" x2="75714" y2="25417"/>
                            <a14:foregroundMark x1="59048" y1="13333" x2="59048" y2="13333"/>
                            <a14:foregroundMark x1="69524" y1="12917" x2="69524" y2="12917"/>
                            <a14:foregroundMark x1="17143" y1="30833" x2="17143" y2="30833"/>
                            <a14:foregroundMark x1="11905" y1="27500" x2="11905" y2="27500"/>
                            <a14:foregroundMark x1="38571" y1="1667" x2="41905" y2="6667"/>
                            <a14:foregroundMark x1="31905" y1="15000" x2="31905" y2="15000"/>
                            <a14:backgroundMark x1="12381" y1="5000" x2="7143" y2="17917"/>
                            <a14:backgroundMark x1="79524" y1="5833" x2="94286" y2="17500"/>
                            <a14:backgroundMark x1="94286" y1="92500" x2="83810" y2="99167"/>
                            <a14:backgroundMark x1="3333" y1="95000" x2="11429" y2="98750"/>
                          </a14:backgroundRemoval>
                        </a14:imgEffect>
                      </a14:imgLayer>
                    </a14:imgProps>
                  </a:ext>
                </a:extLst>
              </a:blip>
              <a:stretch>
                <a:fillRect/>
              </a:stretch>
            </p:blipFill>
            <p:spPr>
              <a:xfrm>
                <a:off x="3023995" y="4261518"/>
                <a:ext cx="1106856" cy="1264979"/>
              </a:xfrm>
              <a:prstGeom prst="rect">
                <a:avLst/>
              </a:prstGeom>
              <a:solidFill>
                <a:srgbClr val="A4C9F9"/>
              </a:solidFill>
              <a:ln>
                <a:noFill/>
              </a:ln>
              <a:effectLst/>
            </p:spPr>
          </p:pic>
          <p:pic>
            <p:nvPicPr>
              <p:cNvPr id="22" name="Picture 21">
                <a:extLst>
                  <a:ext uri="{FF2B5EF4-FFF2-40B4-BE49-F238E27FC236}">
                    <a16:creationId xmlns:a16="http://schemas.microsoft.com/office/drawing/2014/main" id="{912684F8-17F2-3DFD-B500-463FDDA19C86}"/>
                  </a:ext>
                </a:extLst>
              </p:cNvPr>
              <p:cNvPicPr>
                <a:picLocks noChangeAspect="1"/>
              </p:cNvPicPr>
              <p:nvPr/>
            </p:nvPicPr>
            <p:blipFill>
              <a:blip r:embed="rId8">
                <a:duotone>
                  <a:prstClr val="black"/>
                  <a:srgbClr val="FEFEFE">
                    <a:tint val="45000"/>
                    <a:satMod val="400000"/>
                  </a:srgbClr>
                </a:duotone>
                <a:extLst>
                  <a:ext uri="{BEBA8EAE-BF5A-486C-A8C5-ECC9F3942E4B}">
                    <a14:imgProps xmlns:a14="http://schemas.microsoft.com/office/drawing/2010/main">
                      <a14:imgLayer r:embed="rId9">
                        <a14:imgEffect>
                          <a14:backgroundRemoval t="2917" b="99167" l="2381" r="97143">
                            <a14:foregroundMark x1="36190" y1="6250" x2="60000" y2="34167"/>
                            <a14:foregroundMark x1="60000" y1="34167" x2="67619" y2="87083"/>
                            <a14:foregroundMark x1="67619" y1="87083" x2="40000" y2="92083"/>
                            <a14:foregroundMark x1="40000" y1="92083" x2="12381" y2="85000"/>
                            <a14:foregroundMark x1="12381" y1="85000" x2="2381" y2="62083"/>
                            <a14:foregroundMark x1="2381" y1="62083" x2="14286" y2="25833"/>
                            <a14:foregroundMark x1="14286" y1="25833" x2="32381" y2="8750"/>
                            <a14:foregroundMark x1="32381" y1="8750" x2="58571" y2="4167"/>
                            <a14:foregroundMark x1="58571" y1="4167" x2="94762" y2="62500"/>
                            <a14:foregroundMark x1="94762" y1="62500" x2="91905" y2="81250"/>
                            <a14:foregroundMark x1="91905" y1="81250" x2="65714" y2="93750"/>
                            <a14:foregroundMark x1="65714" y1="93750" x2="20952" y2="95417"/>
                            <a14:foregroundMark x1="16190" y1="18750" x2="2857" y2="53333"/>
                            <a14:foregroundMark x1="2857" y1="53333" x2="9048" y2="85417"/>
                            <a14:foregroundMark x1="79524" y1="49583" x2="75238" y2="42083"/>
                            <a14:foregroundMark x1="57619" y1="65000" x2="56190" y2="52917"/>
                            <a14:foregroundMark x1="14286" y1="56250" x2="14762" y2="46667"/>
                            <a14:foregroundMark x1="19048" y1="14583" x2="36190" y2="3333"/>
                            <a14:foregroundMark x1="36190" y1="3333" x2="59524" y2="8750"/>
                            <a14:foregroundMark x1="59524" y1="8750" x2="57619" y2="12500"/>
                            <a14:foregroundMark x1="50000" y1="2917" x2="41429" y2="2917"/>
                            <a14:foregroundMark x1="31429" y1="15833" x2="28571" y2="20417"/>
                            <a14:foregroundMark x1="60000" y1="15833" x2="59048" y2="18333"/>
                            <a14:foregroundMark x1="13333" y1="60417" x2="13333" y2="61250"/>
                            <a14:foregroundMark x1="20952" y1="79583" x2="20952" y2="79583"/>
                            <a14:foregroundMark x1="6190" y1="87083" x2="9524" y2="89167"/>
                            <a14:foregroundMark x1="34286" y1="99167" x2="34286" y2="99167"/>
                            <a14:foregroundMark x1="82857" y1="76250" x2="82857" y2="76250"/>
                            <a14:foregroundMark x1="91429" y1="63750" x2="91429" y2="63750"/>
                            <a14:foregroundMark x1="97143" y1="62917" x2="97143" y2="62917"/>
                            <a14:foregroundMark x1="75714" y1="24583" x2="75714" y2="24583"/>
                            <a14:foregroundMark x1="70000" y1="14167" x2="70000" y2="14167"/>
                          </a14:backgroundRemoval>
                        </a14:imgEffect>
                      </a14:imgLayer>
                    </a14:imgProps>
                  </a:ext>
                </a:extLst>
              </a:blip>
              <a:stretch>
                <a:fillRect/>
              </a:stretch>
            </p:blipFill>
            <p:spPr>
              <a:xfrm>
                <a:off x="1806175" y="4652806"/>
                <a:ext cx="814690" cy="931075"/>
              </a:xfrm>
              <a:prstGeom prst="rect">
                <a:avLst/>
              </a:prstGeom>
              <a:noFill/>
              <a:ln>
                <a:noFill/>
              </a:ln>
              <a:effectLst/>
            </p:spPr>
          </p:pic>
          <p:pic>
            <p:nvPicPr>
              <p:cNvPr id="23" name="Picture 22">
                <a:extLst>
                  <a:ext uri="{FF2B5EF4-FFF2-40B4-BE49-F238E27FC236}">
                    <a16:creationId xmlns:a16="http://schemas.microsoft.com/office/drawing/2014/main" id="{6E813264-4C26-2DFD-7EAC-0A2651EEC909}"/>
                  </a:ext>
                </a:extLst>
              </p:cNvPr>
              <p:cNvPicPr>
                <a:picLocks noChangeAspect="1"/>
              </p:cNvPicPr>
              <p:nvPr/>
            </p:nvPicPr>
            <p:blipFill>
              <a:blip r:embed="rId10">
                <a:duotone>
                  <a:prstClr val="black"/>
                  <a:srgbClr val="FEFEFE">
                    <a:tint val="45000"/>
                    <a:satMod val="400000"/>
                  </a:srgbClr>
                </a:duotone>
                <a:extLst>
                  <a:ext uri="{BEBA8EAE-BF5A-486C-A8C5-ECC9F3942E4B}">
                    <a14:imgProps xmlns:a14="http://schemas.microsoft.com/office/drawing/2010/main">
                      <a14:imgLayer r:embed="rId11">
                        <a14:imgEffect>
                          <a14:backgroundRemoval t="2660" b="96809" l="1866" r="97015">
                            <a14:foregroundMark x1="18284" y1="23936" x2="39552" y2="55851"/>
                            <a14:foregroundMark x1="39552" y1="55851" x2="42910" y2="74468"/>
                            <a14:foregroundMark x1="42910" y1="74468" x2="50746" y2="82447"/>
                            <a14:foregroundMark x1="50746" y1="82447" x2="72761" y2="86702"/>
                            <a14:foregroundMark x1="7836" y1="65957" x2="18657" y2="92021"/>
                            <a14:foregroundMark x1="18657" y1="92021" x2="19403" y2="93617"/>
                            <a14:foregroundMark x1="4104" y1="61170" x2="3731" y2="69681"/>
                            <a14:foregroundMark x1="72015" y1="19149" x2="83955" y2="37234"/>
                            <a14:foregroundMark x1="71642" y1="3191" x2="71642" y2="3191"/>
                            <a14:foregroundMark x1="89552" y1="51596" x2="89552" y2="51596"/>
                            <a14:foregroundMark x1="93657" y1="44681" x2="94776" y2="50000"/>
                            <a14:foregroundMark x1="97761" y1="45213" x2="97761" y2="45213"/>
                            <a14:foregroundMark x1="28358" y1="88298" x2="26119" y2="89894"/>
                            <a14:foregroundMark x1="23507" y1="97340" x2="23507" y2="97340"/>
                            <a14:foregroundMark x1="1866" y1="70745" x2="1866" y2="70745"/>
                          </a14:backgroundRemoval>
                        </a14:imgEffect>
                      </a14:imgLayer>
                    </a14:imgProps>
                  </a:ext>
                </a:extLst>
              </a:blip>
              <a:stretch>
                <a:fillRect/>
              </a:stretch>
            </p:blipFill>
            <p:spPr>
              <a:xfrm>
                <a:off x="5261651" y="3994637"/>
                <a:ext cx="1915024" cy="1343375"/>
              </a:xfrm>
              <a:prstGeom prst="rect">
                <a:avLst/>
              </a:prstGeom>
              <a:noFill/>
              <a:ln>
                <a:noFill/>
              </a:ln>
              <a:effectLst/>
            </p:spPr>
          </p:pic>
          <p:sp>
            <p:nvSpPr>
              <p:cNvPr id="24" name="Freeform 22">
                <a:extLst>
                  <a:ext uri="{FF2B5EF4-FFF2-40B4-BE49-F238E27FC236}">
                    <a16:creationId xmlns:a16="http://schemas.microsoft.com/office/drawing/2014/main" id="{832865C2-1836-A6EC-DD30-F1BB3B6D5102}"/>
                  </a:ext>
                </a:extLst>
              </p:cNvPr>
              <p:cNvSpPr>
                <a:spLocks/>
              </p:cNvSpPr>
              <p:nvPr/>
            </p:nvSpPr>
            <p:spPr bwMode="auto">
              <a:xfrm>
                <a:off x="1142550" y="3748002"/>
                <a:ext cx="6590061" cy="247781"/>
              </a:xfrm>
              <a:custGeom>
                <a:avLst/>
                <a:gdLst>
                  <a:gd name="T0" fmla="*/ 1 w 9966"/>
                  <a:gd name="T1" fmla="*/ 1 h 415"/>
                  <a:gd name="T2" fmla="*/ 1 w 9966"/>
                  <a:gd name="T3" fmla="*/ 1 h 415"/>
                  <a:gd name="T4" fmla="*/ 1 w 9966"/>
                  <a:gd name="T5" fmla="*/ 1 h 415"/>
                  <a:gd name="T6" fmla="*/ 1 w 9966"/>
                  <a:gd name="T7" fmla="*/ 1 h 415"/>
                  <a:gd name="T8" fmla="*/ 1 w 9966"/>
                  <a:gd name="T9" fmla="*/ 1 h 415"/>
                  <a:gd name="T10" fmla="*/ 1 w 9966"/>
                  <a:gd name="T11" fmla="*/ 1 h 415"/>
                  <a:gd name="T12" fmla="*/ 1 w 9966"/>
                  <a:gd name="T13" fmla="*/ 1 h 415"/>
                  <a:gd name="T14" fmla="*/ 1 w 9966"/>
                  <a:gd name="T15" fmla="*/ 1 h 415"/>
                  <a:gd name="T16" fmla="*/ 1 w 9966"/>
                  <a:gd name="T17" fmla="*/ 1 h 415"/>
                  <a:gd name="T18" fmla="*/ 1 w 9966"/>
                  <a:gd name="T19" fmla="*/ 1 h 415"/>
                  <a:gd name="T20" fmla="*/ 1 w 9966"/>
                  <a:gd name="T21" fmla="*/ 1 h 415"/>
                  <a:gd name="T22" fmla="*/ 1 w 9966"/>
                  <a:gd name="T23" fmla="*/ 1 h 415"/>
                  <a:gd name="T24" fmla="*/ 1 w 9966"/>
                  <a:gd name="T25" fmla="*/ 1 h 415"/>
                  <a:gd name="T26" fmla="*/ 1 w 9966"/>
                  <a:gd name="T27" fmla="*/ 1 h 415"/>
                  <a:gd name="T28" fmla="*/ 1 w 9966"/>
                  <a:gd name="T29" fmla="*/ 1 h 415"/>
                  <a:gd name="T30" fmla="*/ 1 w 9966"/>
                  <a:gd name="T31" fmla="*/ 1 h 415"/>
                  <a:gd name="T32" fmla="*/ 1 w 9966"/>
                  <a:gd name="T33" fmla="*/ 1 h 415"/>
                  <a:gd name="T34" fmla="*/ 1 w 9966"/>
                  <a:gd name="T35" fmla="*/ 1 h 415"/>
                  <a:gd name="T36" fmla="*/ 1 w 9966"/>
                  <a:gd name="T37" fmla="*/ 1 h 415"/>
                  <a:gd name="T38" fmla="*/ 1 w 9966"/>
                  <a:gd name="T39" fmla="*/ 1 h 415"/>
                  <a:gd name="T40" fmla="*/ 1 w 9966"/>
                  <a:gd name="T41" fmla="*/ 1 h 415"/>
                  <a:gd name="T42" fmla="*/ 1 w 9966"/>
                  <a:gd name="T43" fmla="*/ 1 h 415"/>
                  <a:gd name="T44" fmla="*/ 1 w 9966"/>
                  <a:gd name="T45" fmla="*/ 1 h 415"/>
                  <a:gd name="T46" fmla="*/ 1 w 9966"/>
                  <a:gd name="T47" fmla="*/ 1 h 415"/>
                  <a:gd name="T48" fmla="*/ 1 w 9966"/>
                  <a:gd name="T49" fmla="*/ 1 h 415"/>
                  <a:gd name="T50" fmla="*/ 1 w 9966"/>
                  <a:gd name="T51" fmla="*/ 1 h 415"/>
                  <a:gd name="T52" fmla="*/ 1 w 9966"/>
                  <a:gd name="T53" fmla="*/ 1 h 415"/>
                  <a:gd name="T54" fmla="*/ 1 w 9966"/>
                  <a:gd name="T55" fmla="*/ 1 h 415"/>
                  <a:gd name="T56" fmla="*/ 1 w 9966"/>
                  <a:gd name="T57" fmla="*/ 1 h 415"/>
                  <a:gd name="T58" fmla="*/ 1 w 9966"/>
                  <a:gd name="T59" fmla="*/ 1 h 415"/>
                  <a:gd name="T60" fmla="*/ 1 w 9966"/>
                  <a:gd name="T61" fmla="*/ 1 h 415"/>
                  <a:gd name="T62" fmla="*/ 1 w 9966"/>
                  <a:gd name="T63" fmla="*/ 1 h 415"/>
                  <a:gd name="T64" fmla="*/ 1 w 9966"/>
                  <a:gd name="T65" fmla="*/ 1 h 415"/>
                  <a:gd name="T66" fmla="*/ 1 w 9966"/>
                  <a:gd name="T67" fmla="*/ 1 h 415"/>
                  <a:gd name="T68" fmla="*/ 1 w 9966"/>
                  <a:gd name="T69" fmla="*/ 1 h 415"/>
                  <a:gd name="T70" fmla="*/ 1 w 9966"/>
                  <a:gd name="T71" fmla="*/ 1 h 415"/>
                  <a:gd name="T72" fmla="*/ 1 w 9966"/>
                  <a:gd name="T73" fmla="*/ 1 h 415"/>
                  <a:gd name="T74" fmla="*/ 1 w 9966"/>
                  <a:gd name="T75" fmla="*/ 1 h 415"/>
                  <a:gd name="T76" fmla="*/ 1 w 9966"/>
                  <a:gd name="T77" fmla="*/ 1 h 415"/>
                  <a:gd name="T78" fmla="*/ 1 w 9966"/>
                  <a:gd name="T79" fmla="*/ 1 h 415"/>
                  <a:gd name="T80" fmla="*/ 1 w 9966"/>
                  <a:gd name="T81" fmla="*/ 1 h 415"/>
                  <a:gd name="T82" fmla="*/ 1 w 9966"/>
                  <a:gd name="T83" fmla="*/ 1 h 415"/>
                  <a:gd name="T84" fmla="*/ 1 w 9966"/>
                  <a:gd name="T85" fmla="*/ 1 h 415"/>
                  <a:gd name="T86" fmla="*/ 1 w 9966"/>
                  <a:gd name="T87" fmla="*/ 1 h 415"/>
                  <a:gd name="T88" fmla="*/ 1 w 9966"/>
                  <a:gd name="T89" fmla="*/ 1 h 415"/>
                  <a:gd name="T90" fmla="*/ 1 w 9966"/>
                  <a:gd name="T91" fmla="*/ 1 h 415"/>
                  <a:gd name="T92" fmla="*/ 1 w 9966"/>
                  <a:gd name="T93" fmla="*/ 1 h 415"/>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9966"/>
                  <a:gd name="T142" fmla="*/ 0 h 415"/>
                  <a:gd name="T143" fmla="*/ 9966 w 9966"/>
                  <a:gd name="T144" fmla="*/ 415 h 415"/>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9966" h="415">
                    <a:moveTo>
                      <a:pt x="0" y="415"/>
                    </a:moveTo>
                    <a:lnTo>
                      <a:pt x="352" y="280"/>
                    </a:lnTo>
                    <a:lnTo>
                      <a:pt x="643" y="186"/>
                    </a:lnTo>
                    <a:lnTo>
                      <a:pt x="877" y="138"/>
                    </a:lnTo>
                    <a:lnTo>
                      <a:pt x="897" y="138"/>
                    </a:lnTo>
                    <a:lnTo>
                      <a:pt x="920" y="139"/>
                    </a:lnTo>
                    <a:lnTo>
                      <a:pt x="969" y="145"/>
                    </a:lnTo>
                    <a:lnTo>
                      <a:pt x="1076" y="167"/>
                    </a:lnTo>
                    <a:lnTo>
                      <a:pt x="1316" y="240"/>
                    </a:lnTo>
                    <a:lnTo>
                      <a:pt x="1553" y="313"/>
                    </a:lnTo>
                    <a:lnTo>
                      <a:pt x="1660" y="338"/>
                    </a:lnTo>
                    <a:lnTo>
                      <a:pt x="1709" y="344"/>
                    </a:lnTo>
                    <a:lnTo>
                      <a:pt x="1731" y="346"/>
                    </a:lnTo>
                    <a:lnTo>
                      <a:pt x="1754" y="347"/>
                    </a:lnTo>
                    <a:lnTo>
                      <a:pt x="1858" y="334"/>
                    </a:lnTo>
                    <a:lnTo>
                      <a:pt x="1981" y="302"/>
                    </a:lnTo>
                    <a:lnTo>
                      <a:pt x="2250" y="206"/>
                    </a:lnTo>
                    <a:lnTo>
                      <a:pt x="2519" y="112"/>
                    </a:lnTo>
                    <a:lnTo>
                      <a:pt x="2640" y="81"/>
                    </a:lnTo>
                    <a:lnTo>
                      <a:pt x="2695" y="72"/>
                    </a:lnTo>
                    <a:lnTo>
                      <a:pt x="2720" y="71"/>
                    </a:lnTo>
                    <a:lnTo>
                      <a:pt x="2747" y="70"/>
                    </a:lnTo>
                    <a:lnTo>
                      <a:pt x="2767" y="70"/>
                    </a:lnTo>
                    <a:lnTo>
                      <a:pt x="2790" y="72"/>
                    </a:lnTo>
                    <a:lnTo>
                      <a:pt x="2839" y="81"/>
                    </a:lnTo>
                    <a:lnTo>
                      <a:pt x="2946" y="113"/>
                    </a:lnTo>
                    <a:lnTo>
                      <a:pt x="3184" y="210"/>
                    </a:lnTo>
                    <a:lnTo>
                      <a:pt x="3420" y="305"/>
                    </a:lnTo>
                    <a:lnTo>
                      <a:pt x="3527" y="336"/>
                    </a:lnTo>
                    <a:lnTo>
                      <a:pt x="3576" y="344"/>
                    </a:lnTo>
                    <a:lnTo>
                      <a:pt x="3599" y="346"/>
                    </a:lnTo>
                    <a:lnTo>
                      <a:pt x="3622" y="347"/>
                    </a:lnTo>
                    <a:lnTo>
                      <a:pt x="3701" y="336"/>
                    </a:lnTo>
                    <a:lnTo>
                      <a:pt x="3792" y="303"/>
                    </a:lnTo>
                    <a:lnTo>
                      <a:pt x="3991" y="209"/>
                    </a:lnTo>
                    <a:lnTo>
                      <a:pt x="4190" y="115"/>
                    </a:lnTo>
                    <a:lnTo>
                      <a:pt x="4280" y="83"/>
                    </a:lnTo>
                    <a:lnTo>
                      <a:pt x="4361" y="70"/>
                    </a:lnTo>
                    <a:lnTo>
                      <a:pt x="4381" y="70"/>
                    </a:lnTo>
                    <a:lnTo>
                      <a:pt x="4404" y="71"/>
                    </a:lnTo>
                    <a:lnTo>
                      <a:pt x="4453" y="80"/>
                    </a:lnTo>
                    <a:lnTo>
                      <a:pt x="4562" y="112"/>
                    </a:lnTo>
                    <a:lnTo>
                      <a:pt x="4799" y="211"/>
                    </a:lnTo>
                    <a:lnTo>
                      <a:pt x="5036" y="308"/>
                    </a:lnTo>
                    <a:lnTo>
                      <a:pt x="5142" y="338"/>
                    </a:lnTo>
                    <a:lnTo>
                      <a:pt x="5191" y="344"/>
                    </a:lnTo>
                    <a:lnTo>
                      <a:pt x="5214" y="346"/>
                    </a:lnTo>
                    <a:lnTo>
                      <a:pt x="5238" y="347"/>
                    </a:lnTo>
                    <a:lnTo>
                      <a:pt x="5315" y="329"/>
                    </a:lnTo>
                    <a:lnTo>
                      <a:pt x="5404" y="290"/>
                    </a:lnTo>
                    <a:lnTo>
                      <a:pt x="5594" y="176"/>
                    </a:lnTo>
                    <a:lnTo>
                      <a:pt x="5784" y="62"/>
                    </a:lnTo>
                    <a:lnTo>
                      <a:pt x="5871" y="22"/>
                    </a:lnTo>
                    <a:lnTo>
                      <a:pt x="5952" y="1"/>
                    </a:lnTo>
                    <a:lnTo>
                      <a:pt x="6001" y="0"/>
                    </a:lnTo>
                    <a:lnTo>
                      <a:pt x="6028" y="1"/>
                    </a:lnTo>
                    <a:lnTo>
                      <a:pt x="6057" y="5"/>
                    </a:lnTo>
                    <a:lnTo>
                      <a:pt x="6179" y="34"/>
                    </a:lnTo>
                    <a:lnTo>
                      <a:pt x="6449" y="133"/>
                    </a:lnTo>
                    <a:lnTo>
                      <a:pt x="6717" y="234"/>
                    </a:lnTo>
                    <a:lnTo>
                      <a:pt x="6838" y="266"/>
                    </a:lnTo>
                    <a:lnTo>
                      <a:pt x="6894" y="275"/>
                    </a:lnTo>
                    <a:lnTo>
                      <a:pt x="6918" y="276"/>
                    </a:lnTo>
                    <a:lnTo>
                      <a:pt x="6945" y="277"/>
                    </a:lnTo>
                    <a:lnTo>
                      <a:pt x="7028" y="265"/>
                    </a:lnTo>
                    <a:lnTo>
                      <a:pt x="7125" y="231"/>
                    </a:lnTo>
                    <a:lnTo>
                      <a:pt x="7337" y="135"/>
                    </a:lnTo>
                    <a:lnTo>
                      <a:pt x="7548" y="41"/>
                    </a:lnTo>
                    <a:lnTo>
                      <a:pt x="7643" y="12"/>
                    </a:lnTo>
                    <a:lnTo>
                      <a:pt x="7686" y="3"/>
                    </a:lnTo>
                    <a:lnTo>
                      <a:pt x="7706" y="2"/>
                    </a:lnTo>
                    <a:lnTo>
                      <a:pt x="7729" y="1"/>
                    </a:lnTo>
                    <a:lnTo>
                      <a:pt x="7745" y="1"/>
                    </a:lnTo>
                    <a:lnTo>
                      <a:pt x="7763" y="3"/>
                    </a:lnTo>
                    <a:lnTo>
                      <a:pt x="7801" y="12"/>
                    </a:lnTo>
                    <a:lnTo>
                      <a:pt x="7883" y="44"/>
                    </a:lnTo>
                    <a:lnTo>
                      <a:pt x="8063" y="139"/>
                    </a:lnTo>
                    <a:lnTo>
                      <a:pt x="8241" y="234"/>
                    </a:lnTo>
                    <a:lnTo>
                      <a:pt x="8324" y="266"/>
                    </a:lnTo>
                    <a:lnTo>
                      <a:pt x="8361" y="275"/>
                    </a:lnTo>
                    <a:lnTo>
                      <a:pt x="8378" y="276"/>
                    </a:lnTo>
                    <a:lnTo>
                      <a:pt x="8398" y="277"/>
                    </a:lnTo>
                    <a:lnTo>
                      <a:pt x="8466" y="267"/>
                    </a:lnTo>
                    <a:lnTo>
                      <a:pt x="8542" y="235"/>
                    </a:lnTo>
                    <a:lnTo>
                      <a:pt x="8709" y="141"/>
                    </a:lnTo>
                    <a:lnTo>
                      <a:pt x="8875" y="46"/>
                    </a:lnTo>
                    <a:lnTo>
                      <a:pt x="8952" y="14"/>
                    </a:lnTo>
                    <a:lnTo>
                      <a:pt x="9021" y="1"/>
                    </a:lnTo>
                    <a:lnTo>
                      <a:pt x="9044" y="1"/>
                    </a:lnTo>
                    <a:lnTo>
                      <a:pt x="9072" y="2"/>
                    </a:lnTo>
                    <a:lnTo>
                      <a:pt x="9132" y="12"/>
                    </a:lnTo>
                    <a:lnTo>
                      <a:pt x="9273" y="51"/>
                    </a:lnTo>
                    <a:lnTo>
                      <a:pt x="9587" y="170"/>
                    </a:lnTo>
                    <a:lnTo>
                      <a:pt x="9966" y="347"/>
                    </a:lnTo>
                  </a:path>
                </a:pathLst>
              </a:custGeom>
              <a:solidFill>
                <a:srgbClr val="A4C9F9"/>
              </a:solidFill>
              <a:ln>
                <a:noFill/>
              </a:ln>
            </p:spPr>
            <p:style>
              <a:lnRef idx="2">
                <a:schemeClr val="accent1">
                  <a:shade val="50000"/>
                </a:schemeClr>
              </a:lnRef>
              <a:fillRef idx="1">
                <a:schemeClr val="accent1"/>
              </a:fillRef>
              <a:effectRef idx="0">
                <a:schemeClr val="accent1"/>
              </a:effectRef>
              <a:fontRef idx="minor">
                <a:schemeClr val="lt1"/>
              </a:fontRef>
            </p:style>
            <p:txBody>
              <a:bodyPr lIns="68598" tIns="34299" rIns="68598" bIns="34299" anchor="ctr"/>
              <a:lstStyle>
                <a:defPPr>
                  <a:defRPr lang="en-US"/>
                </a:defPPr>
                <a:lvl1pPr algn="l" rtl="0" eaLnBrk="0" fontAlgn="base" hangingPunct="0">
                  <a:spcBef>
                    <a:spcPct val="0"/>
                  </a:spcBef>
                  <a:spcAft>
                    <a:spcPct val="0"/>
                  </a:spcAft>
                  <a:defRPr sz="900" b="1" kern="1200">
                    <a:solidFill>
                      <a:schemeClr val="lt1"/>
                    </a:solidFill>
                    <a:latin typeface="+mn-lt"/>
                    <a:ea typeface="+mn-ea"/>
                    <a:cs typeface="+mn-cs"/>
                  </a:defRPr>
                </a:lvl1pPr>
                <a:lvl2pPr marL="457200" algn="l" rtl="0" eaLnBrk="0" fontAlgn="base" hangingPunct="0">
                  <a:spcBef>
                    <a:spcPct val="0"/>
                  </a:spcBef>
                  <a:spcAft>
                    <a:spcPct val="0"/>
                  </a:spcAft>
                  <a:defRPr sz="900" b="1" kern="1200">
                    <a:solidFill>
                      <a:schemeClr val="lt1"/>
                    </a:solidFill>
                    <a:latin typeface="+mn-lt"/>
                    <a:ea typeface="+mn-ea"/>
                    <a:cs typeface="+mn-cs"/>
                  </a:defRPr>
                </a:lvl2pPr>
                <a:lvl3pPr marL="914400" algn="l" rtl="0" eaLnBrk="0" fontAlgn="base" hangingPunct="0">
                  <a:spcBef>
                    <a:spcPct val="0"/>
                  </a:spcBef>
                  <a:spcAft>
                    <a:spcPct val="0"/>
                  </a:spcAft>
                  <a:defRPr sz="900" b="1" kern="1200">
                    <a:solidFill>
                      <a:schemeClr val="lt1"/>
                    </a:solidFill>
                    <a:latin typeface="+mn-lt"/>
                    <a:ea typeface="+mn-ea"/>
                    <a:cs typeface="+mn-cs"/>
                  </a:defRPr>
                </a:lvl3pPr>
                <a:lvl4pPr marL="1371600" algn="l" rtl="0" eaLnBrk="0" fontAlgn="base" hangingPunct="0">
                  <a:spcBef>
                    <a:spcPct val="0"/>
                  </a:spcBef>
                  <a:spcAft>
                    <a:spcPct val="0"/>
                  </a:spcAft>
                  <a:defRPr sz="900" b="1" kern="1200">
                    <a:solidFill>
                      <a:schemeClr val="lt1"/>
                    </a:solidFill>
                    <a:latin typeface="+mn-lt"/>
                    <a:ea typeface="+mn-ea"/>
                    <a:cs typeface="+mn-cs"/>
                  </a:defRPr>
                </a:lvl4pPr>
                <a:lvl5pPr marL="1828800" algn="l" rtl="0" eaLnBrk="0" fontAlgn="base" hangingPunct="0">
                  <a:spcBef>
                    <a:spcPct val="0"/>
                  </a:spcBef>
                  <a:spcAft>
                    <a:spcPct val="0"/>
                  </a:spcAft>
                  <a:defRPr sz="900" b="1" kern="1200">
                    <a:solidFill>
                      <a:schemeClr val="lt1"/>
                    </a:solidFill>
                    <a:latin typeface="+mn-lt"/>
                    <a:ea typeface="+mn-ea"/>
                    <a:cs typeface="+mn-cs"/>
                  </a:defRPr>
                </a:lvl5pPr>
                <a:lvl6pPr marL="2286000" algn="l" defTabSz="914400" rtl="0" eaLnBrk="1" latinLnBrk="0" hangingPunct="1">
                  <a:defRPr sz="900" b="1" kern="1200">
                    <a:solidFill>
                      <a:schemeClr val="lt1"/>
                    </a:solidFill>
                    <a:latin typeface="+mn-lt"/>
                    <a:ea typeface="+mn-ea"/>
                    <a:cs typeface="+mn-cs"/>
                  </a:defRPr>
                </a:lvl6pPr>
                <a:lvl7pPr marL="2743200" algn="l" defTabSz="914400" rtl="0" eaLnBrk="1" latinLnBrk="0" hangingPunct="1">
                  <a:defRPr sz="900" b="1" kern="1200">
                    <a:solidFill>
                      <a:schemeClr val="lt1"/>
                    </a:solidFill>
                    <a:latin typeface="+mn-lt"/>
                    <a:ea typeface="+mn-ea"/>
                    <a:cs typeface="+mn-cs"/>
                  </a:defRPr>
                </a:lvl7pPr>
                <a:lvl8pPr marL="3200400" algn="l" defTabSz="914400" rtl="0" eaLnBrk="1" latinLnBrk="0" hangingPunct="1">
                  <a:defRPr sz="900" b="1" kern="1200">
                    <a:solidFill>
                      <a:schemeClr val="lt1"/>
                    </a:solidFill>
                    <a:latin typeface="+mn-lt"/>
                    <a:ea typeface="+mn-ea"/>
                    <a:cs typeface="+mn-cs"/>
                  </a:defRPr>
                </a:lvl8pPr>
                <a:lvl9pPr marL="3657600" algn="l" defTabSz="914400" rtl="0" eaLnBrk="1" latinLnBrk="0" hangingPunct="1">
                  <a:defRPr sz="900" b="1" kern="1200">
                    <a:solidFill>
                      <a:schemeClr val="lt1"/>
                    </a:solidFill>
                    <a:latin typeface="+mn-lt"/>
                    <a:ea typeface="+mn-ea"/>
                    <a:cs typeface="+mn-cs"/>
                  </a:defRPr>
                </a:lvl9pPr>
              </a:lstStyle>
              <a:p>
                <a:pPr algn="ctr">
                  <a:lnSpc>
                    <a:spcPct val="80000"/>
                  </a:lnSpc>
                  <a:spcBef>
                    <a:spcPct val="20000"/>
                  </a:spcBef>
                  <a:defRPr/>
                </a:pPr>
                <a:endParaRPr lang="en-US" sz="675"/>
              </a:p>
            </p:txBody>
          </p:sp>
          <p:sp>
            <p:nvSpPr>
              <p:cNvPr id="25" name="Rectangle 24">
                <a:extLst>
                  <a:ext uri="{FF2B5EF4-FFF2-40B4-BE49-F238E27FC236}">
                    <a16:creationId xmlns:a16="http://schemas.microsoft.com/office/drawing/2014/main" id="{045C54DD-1965-503F-D73E-327F84A48278}"/>
                  </a:ext>
                </a:extLst>
              </p:cNvPr>
              <p:cNvSpPr>
                <a:spLocks noChangeArrowheads="1"/>
              </p:cNvSpPr>
              <p:nvPr/>
            </p:nvSpPr>
            <p:spPr bwMode="auto">
              <a:xfrm>
                <a:off x="6308432" y="4108646"/>
                <a:ext cx="536931" cy="201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defPPr>
                  <a:defRPr lang="en-US"/>
                </a:defPPr>
                <a:lvl1pPr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9pPr>
              </a:lstStyle>
              <a:p>
                <a:pPr algn="ctr">
                  <a:lnSpc>
                    <a:spcPct val="80000"/>
                  </a:lnSpc>
                  <a:spcBef>
                    <a:spcPct val="20000"/>
                  </a:spcBef>
                  <a:spcAft>
                    <a:spcPct val="0"/>
                  </a:spcAft>
                  <a:buClrTx/>
                  <a:buSzTx/>
                  <a:buFontTx/>
                  <a:buNone/>
                </a:pPr>
                <a:r>
                  <a:rPr lang="en-US" altLang="en-US" sz="2400" dirty="0">
                    <a:solidFill>
                      <a:schemeClr val="bg1"/>
                    </a:solidFill>
                    <a:latin typeface="+mn-lt"/>
                  </a:rPr>
                  <a:t>Long</a:t>
                </a:r>
              </a:p>
            </p:txBody>
          </p:sp>
          <p:sp>
            <p:nvSpPr>
              <p:cNvPr id="26" name="Rectangle 25">
                <a:extLst>
                  <a:ext uri="{FF2B5EF4-FFF2-40B4-BE49-F238E27FC236}">
                    <a16:creationId xmlns:a16="http://schemas.microsoft.com/office/drawing/2014/main" id="{57440901-A299-6DAE-E2D1-3EB69B690454}"/>
                  </a:ext>
                </a:extLst>
              </p:cNvPr>
              <p:cNvSpPr>
                <a:spLocks noChangeArrowheads="1"/>
              </p:cNvSpPr>
              <p:nvPr/>
            </p:nvSpPr>
            <p:spPr bwMode="auto">
              <a:xfrm>
                <a:off x="6402379" y="4288276"/>
                <a:ext cx="383156" cy="928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defPPr>
                  <a:defRPr lang="en-US"/>
                </a:defPPr>
                <a:lvl1pPr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9pPr>
              </a:lstStyle>
              <a:p>
                <a:pPr algn="ctr">
                  <a:lnSpc>
                    <a:spcPct val="80000"/>
                  </a:lnSpc>
                  <a:spcBef>
                    <a:spcPct val="20000"/>
                  </a:spcBef>
                  <a:spcAft>
                    <a:spcPct val="0"/>
                  </a:spcAft>
                  <a:buClrTx/>
                  <a:buSzTx/>
                  <a:buFontTx/>
                  <a:buNone/>
                </a:pPr>
                <a:r>
                  <a:rPr lang="en-US" altLang="en-US" sz="2400" dirty="0">
                    <a:solidFill>
                      <a:schemeClr val="bg1"/>
                    </a:solidFill>
                    <a:latin typeface="+mn-lt"/>
                  </a:rPr>
                  <a:t>Set-Up</a:t>
                </a:r>
              </a:p>
            </p:txBody>
          </p:sp>
          <p:sp>
            <p:nvSpPr>
              <p:cNvPr id="27" name="Rectangle 26">
                <a:extLst>
                  <a:ext uri="{FF2B5EF4-FFF2-40B4-BE49-F238E27FC236}">
                    <a16:creationId xmlns:a16="http://schemas.microsoft.com/office/drawing/2014/main" id="{AD5B37EB-5D44-2278-2869-402ADCB09B2C}"/>
                  </a:ext>
                </a:extLst>
              </p:cNvPr>
              <p:cNvSpPr>
                <a:spLocks noChangeArrowheads="1"/>
              </p:cNvSpPr>
              <p:nvPr/>
            </p:nvSpPr>
            <p:spPr bwMode="auto">
              <a:xfrm>
                <a:off x="6387511" y="4439142"/>
                <a:ext cx="343431" cy="928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defPPr>
                  <a:defRPr lang="en-US"/>
                </a:defPPr>
                <a:lvl1pPr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9pPr>
              </a:lstStyle>
              <a:p>
                <a:pPr algn="ctr">
                  <a:lnSpc>
                    <a:spcPct val="80000"/>
                  </a:lnSpc>
                  <a:spcBef>
                    <a:spcPct val="20000"/>
                  </a:spcBef>
                  <a:spcAft>
                    <a:spcPct val="0"/>
                  </a:spcAft>
                  <a:buClrTx/>
                  <a:buSzTx/>
                  <a:buFontTx/>
                  <a:buNone/>
                </a:pPr>
                <a:r>
                  <a:rPr lang="en-US" altLang="en-US" sz="2400" dirty="0">
                    <a:solidFill>
                      <a:schemeClr val="bg1"/>
                    </a:solidFill>
                    <a:latin typeface="+mn-lt"/>
                  </a:rPr>
                  <a:t>  Time</a:t>
                </a:r>
              </a:p>
            </p:txBody>
          </p:sp>
          <p:sp>
            <p:nvSpPr>
              <p:cNvPr id="28" name="Rectangle 27">
                <a:extLst>
                  <a:ext uri="{FF2B5EF4-FFF2-40B4-BE49-F238E27FC236}">
                    <a16:creationId xmlns:a16="http://schemas.microsoft.com/office/drawing/2014/main" id="{602CF09F-7F1F-64F3-3F75-3449CEFAC8C7}"/>
                  </a:ext>
                </a:extLst>
              </p:cNvPr>
              <p:cNvSpPr>
                <a:spLocks noChangeArrowheads="1"/>
              </p:cNvSpPr>
              <p:nvPr/>
            </p:nvSpPr>
            <p:spPr bwMode="auto">
              <a:xfrm>
                <a:off x="4698056" y="4596118"/>
                <a:ext cx="354964" cy="928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defPPr>
                  <a:defRPr lang="en-US"/>
                </a:defPPr>
                <a:lvl1pPr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9pPr>
              </a:lstStyle>
              <a:p>
                <a:pPr algn="ctr">
                  <a:lnSpc>
                    <a:spcPct val="80000"/>
                  </a:lnSpc>
                  <a:spcBef>
                    <a:spcPct val="20000"/>
                  </a:spcBef>
                  <a:spcAft>
                    <a:spcPct val="0"/>
                  </a:spcAft>
                  <a:buClrTx/>
                  <a:buSzTx/>
                  <a:buFontTx/>
                  <a:buNone/>
                </a:pPr>
                <a:r>
                  <a:rPr lang="en-US" altLang="en-US" sz="2400">
                    <a:solidFill>
                      <a:schemeClr val="bg1"/>
                    </a:solidFill>
                    <a:latin typeface="+mn-lt"/>
                  </a:rPr>
                  <a:t>  Poor </a:t>
                </a:r>
              </a:p>
            </p:txBody>
          </p:sp>
          <p:sp>
            <p:nvSpPr>
              <p:cNvPr id="29" name="Rectangle 28">
                <a:extLst>
                  <a:ext uri="{FF2B5EF4-FFF2-40B4-BE49-F238E27FC236}">
                    <a16:creationId xmlns:a16="http://schemas.microsoft.com/office/drawing/2014/main" id="{F6F578C6-0D51-E88C-230F-8268EB830235}"/>
                  </a:ext>
                </a:extLst>
              </p:cNvPr>
              <p:cNvSpPr>
                <a:spLocks noChangeArrowheads="1"/>
              </p:cNvSpPr>
              <p:nvPr/>
            </p:nvSpPr>
            <p:spPr bwMode="auto">
              <a:xfrm>
                <a:off x="4692899" y="4809294"/>
                <a:ext cx="388922" cy="928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defPPr>
                  <a:defRPr lang="en-US"/>
                </a:defPPr>
                <a:lvl1pPr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9pPr>
              </a:lstStyle>
              <a:p>
                <a:pPr algn="ctr">
                  <a:lnSpc>
                    <a:spcPct val="80000"/>
                  </a:lnSpc>
                  <a:spcBef>
                    <a:spcPct val="20000"/>
                  </a:spcBef>
                  <a:spcAft>
                    <a:spcPct val="0"/>
                  </a:spcAft>
                  <a:buClrTx/>
                  <a:buSzTx/>
                  <a:buFontTx/>
                  <a:buNone/>
                </a:pPr>
                <a:r>
                  <a:rPr lang="en-US" altLang="en-US" sz="2400">
                    <a:solidFill>
                      <a:schemeClr val="bg1"/>
                    </a:solidFill>
                    <a:latin typeface="+mn-lt"/>
                  </a:rPr>
                  <a:t>Quality</a:t>
                </a:r>
              </a:p>
            </p:txBody>
          </p:sp>
          <p:sp>
            <p:nvSpPr>
              <p:cNvPr id="30" name="Rectangle 29">
                <a:extLst>
                  <a:ext uri="{FF2B5EF4-FFF2-40B4-BE49-F238E27FC236}">
                    <a16:creationId xmlns:a16="http://schemas.microsoft.com/office/drawing/2014/main" id="{ACDFB818-4367-6B0D-DA09-9BF09820F3E2}"/>
                  </a:ext>
                </a:extLst>
              </p:cNvPr>
              <p:cNvSpPr>
                <a:spLocks noChangeArrowheads="1"/>
              </p:cNvSpPr>
              <p:nvPr/>
            </p:nvSpPr>
            <p:spPr bwMode="auto">
              <a:xfrm>
                <a:off x="1958364" y="5017944"/>
                <a:ext cx="406863" cy="928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defPPr>
                  <a:defRPr lang="en-US"/>
                </a:defPPr>
                <a:lvl1pPr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9pPr>
              </a:lstStyle>
              <a:p>
                <a:pPr algn="ctr">
                  <a:lnSpc>
                    <a:spcPct val="80000"/>
                  </a:lnSpc>
                  <a:spcBef>
                    <a:spcPct val="20000"/>
                  </a:spcBef>
                  <a:spcAft>
                    <a:spcPct val="0"/>
                  </a:spcAft>
                  <a:buClrTx/>
                  <a:buSzTx/>
                  <a:buFontTx/>
                  <a:buNone/>
                </a:pPr>
                <a:r>
                  <a:rPr lang="en-US" altLang="en-US" sz="2400" dirty="0">
                    <a:solidFill>
                      <a:schemeClr val="bg1"/>
                    </a:solidFill>
                    <a:latin typeface="+mn-lt"/>
                  </a:rPr>
                  <a:t>Lack of</a:t>
                </a:r>
              </a:p>
            </p:txBody>
          </p:sp>
          <p:sp>
            <p:nvSpPr>
              <p:cNvPr id="31" name="Rectangle 30">
                <a:extLst>
                  <a:ext uri="{FF2B5EF4-FFF2-40B4-BE49-F238E27FC236}">
                    <a16:creationId xmlns:a16="http://schemas.microsoft.com/office/drawing/2014/main" id="{A2E61AB7-5F03-0661-6936-9E69F5C88EFF}"/>
                  </a:ext>
                </a:extLst>
              </p:cNvPr>
              <p:cNvSpPr>
                <a:spLocks noChangeArrowheads="1"/>
              </p:cNvSpPr>
              <p:nvPr/>
            </p:nvSpPr>
            <p:spPr bwMode="auto">
              <a:xfrm>
                <a:off x="1931134" y="5160936"/>
                <a:ext cx="461325" cy="928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defPPr>
                  <a:defRPr lang="en-US"/>
                </a:defPPr>
                <a:lvl1pPr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9pPr>
              </a:lstStyle>
              <a:p>
                <a:pPr algn="ctr">
                  <a:lnSpc>
                    <a:spcPct val="80000"/>
                  </a:lnSpc>
                  <a:spcBef>
                    <a:spcPct val="20000"/>
                  </a:spcBef>
                  <a:spcAft>
                    <a:spcPct val="0"/>
                  </a:spcAft>
                  <a:buClrTx/>
                  <a:buSzTx/>
                  <a:buFontTx/>
                  <a:buNone/>
                </a:pPr>
                <a:r>
                  <a:rPr lang="en-US" altLang="en-US" sz="2400" dirty="0">
                    <a:solidFill>
                      <a:schemeClr val="bg1"/>
                    </a:solidFill>
                    <a:latin typeface="+mn-lt"/>
                  </a:rPr>
                  <a:t>Training</a:t>
                </a:r>
              </a:p>
            </p:txBody>
          </p:sp>
          <p:sp>
            <p:nvSpPr>
              <p:cNvPr id="32" name="Rectangle 31">
                <a:extLst>
                  <a:ext uri="{FF2B5EF4-FFF2-40B4-BE49-F238E27FC236}">
                    <a16:creationId xmlns:a16="http://schemas.microsoft.com/office/drawing/2014/main" id="{618B77EC-74DA-8E3E-5CDA-B998E18A5FFF}"/>
                  </a:ext>
                </a:extLst>
              </p:cNvPr>
              <p:cNvSpPr>
                <a:spLocks noChangeArrowheads="1"/>
              </p:cNvSpPr>
              <p:nvPr/>
            </p:nvSpPr>
            <p:spPr bwMode="auto">
              <a:xfrm>
                <a:off x="6345026" y="4704364"/>
                <a:ext cx="536931" cy="928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defPPr>
                  <a:defRPr lang="en-US"/>
                </a:defPPr>
                <a:lvl1pPr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9pPr>
              </a:lstStyle>
              <a:p>
                <a:pPr algn="ctr">
                  <a:lnSpc>
                    <a:spcPct val="80000"/>
                  </a:lnSpc>
                  <a:spcBef>
                    <a:spcPct val="20000"/>
                  </a:spcBef>
                  <a:spcAft>
                    <a:spcPct val="0"/>
                  </a:spcAft>
                  <a:buClrTx/>
                  <a:buSzTx/>
                  <a:buFontTx/>
                  <a:buNone/>
                </a:pPr>
                <a:r>
                  <a:rPr lang="en-US" altLang="en-US" sz="2400" dirty="0">
                    <a:solidFill>
                      <a:schemeClr val="bg1"/>
                    </a:solidFill>
                    <a:latin typeface="+mn-lt"/>
                  </a:rPr>
                  <a:t>  Machine</a:t>
                </a:r>
              </a:p>
            </p:txBody>
          </p:sp>
          <p:sp>
            <p:nvSpPr>
              <p:cNvPr id="33" name="Rectangle 32">
                <a:extLst>
                  <a:ext uri="{FF2B5EF4-FFF2-40B4-BE49-F238E27FC236}">
                    <a16:creationId xmlns:a16="http://schemas.microsoft.com/office/drawing/2014/main" id="{2795AE7E-0E73-3C55-A921-F556F3C85140}"/>
                  </a:ext>
                </a:extLst>
              </p:cNvPr>
              <p:cNvSpPr>
                <a:spLocks noChangeArrowheads="1"/>
              </p:cNvSpPr>
              <p:nvPr/>
            </p:nvSpPr>
            <p:spPr bwMode="auto">
              <a:xfrm>
                <a:off x="6411218" y="4894008"/>
                <a:ext cx="639447" cy="928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defPPr>
                  <a:defRPr lang="en-US"/>
                </a:defPPr>
                <a:lvl1pPr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9pPr>
              </a:lstStyle>
              <a:p>
                <a:pPr algn="ctr">
                  <a:lnSpc>
                    <a:spcPct val="80000"/>
                  </a:lnSpc>
                  <a:spcBef>
                    <a:spcPct val="20000"/>
                  </a:spcBef>
                  <a:spcAft>
                    <a:spcPct val="0"/>
                  </a:spcAft>
                  <a:buClrTx/>
                  <a:buSzTx/>
                  <a:buFontTx/>
                  <a:buNone/>
                </a:pPr>
                <a:r>
                  <a:rPr lang="en-US" altLang="en-US" sz="2400" dirty="0">
                    <a:solidFill>
                      <a:schemeClr val="bg1"/>
                    </a:solidFill>
                    <a:latin typeface="+mn-lt"/>
                  </a:rPr>
                  <a:t>Down-Time</a:t>
                </a:r>
              </a:p>
            </p:txBody>
          </p:sp>
          <p:sp>
            <p:nvSpPr>
              <p:cNvPr id="34" name="Rectangle 33">
                <a:extLst>
                  <a:ext uri="{FF2B5EF4-FFF2-40B4-BE49-F238E27FC236}">
                    <a16:creationId xmlns:a16="http://schemas.microsoft.com/office/drawing/2014/main" id="{E30AFDB2-63DE-20DF-A740-36FA669D3688}"/>
                  </a:ext>
                </a:extLst>
              </p:cNvPr>
              <p:cNvSpPr>
                <a:spLocks noChangeArrowheads="1"/>
              </p:cNvSpPr>
              <p:nvPr/>
            </p:nvSpPr>
            <p:spPr bwMode="auto">
              <a:xfrm>
                <a:off x="3151704" y="4842641"/>
                <a:ext cx="416474" cy="928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defPPr>
                  <a:defRPr lang="en-US"/>
                </a:defPPr>
                <a:lvl1pPr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9pPr>
              </a:lstStyle>
              <a:p>
                <a:pPr algn="ctr">
                  <a:lnSpc>
                    <a:spcPct val="80000"/>
                  </a:lnSpc>
                  <a:spcBef>
                    <a:spcPct val="20000"/>
                  </a:spcBef>
                  <a:spcAft>
                    <a:spcPct val="0"/>
                  </a:spcAft>
                  <a:buClrTx/>
                  <a:buSzTx/>
                  <a:buFontTx/>
                  <a:buNone/>
                </a:pPr>
                <a:r>
                  <a:rPr lang="en-US" altLang="en-US" sz="2400">
                    <a:solidFill>
                      <a:schemeClr val="bg1"/>
                    </a:solidFill>
                    <a:latin typeface="+mn-lt"/>
                  </a:rPr>
                  <a:t>     Poor</a:t>
                </a:r>
              </a:p>
            </p:txBody>
          </p:sp>
          <p:sp>
            <p:nvSpPr>
              <p:cNvPr id="35" name="Rectangle 34">
                <a:extLst>
                  <a:ext uri="{FF2B5EF4-FFF2-40B4-BE49-F238E27FC236}">
                    <a16:creationId xmlns:a16="http://schemas.microsoft.com/office/drawing/2014/main" id="{60C461A8-1072-670C-D671-4C5E957D4B1B}"/>
                  </a:ext>
                </a:extLst>
              </p:cNvPr>
              <p:cNvSpPr>
                <a:spLocks noChangeArrowheads="1"/>
              </p:cNvSpPr>
              <p:nvPr/>
            </p:nvSpPr>
            <p:spPr bwMode="auto">
              <a:xfrm>
                <a:off x="3175536" y="5058201"/>
                <a:ext cx="618944" cy="928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defPPr>
                  <a:defRPr lang="en-US"/>
                </a:defPPr>
                <a:lvl1pPr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9pPr>
              </a:lstStyle>
              <a:p>
                <a:pPr algn="ctr">
                  <a:lnSpc>
                    <a:spcPct val="80000"/>
                  </a:lnSpc>
                  <a:spcBef>
                    <a:spcPct val="20000"/>
                  </a:spcBef>
                  <a:spcAft>
                    <a:spcPct val="0"/>
                  </a:spcAft>
                  <a:buClrTx/>
                  <a:buSzTx/>
                  <a:buFontTx/>
                  <a:buNone/>
                </a:pPr>
                <a:r>
                  <a:rPr lang="en-US" altLang="en-US" sz="2400">
                    <a:solidFill>
                      <a:schemeClr val="bg1"/>
                    </a:solidFill>
                    <a:latin typeface="+mn-lt"/>
                  </a:rPr>
                  <a:t>Scheduling</a:t>
                </a:r>
              </a:p>
            </p:txBody>
          </p:sp>
        </p:grpSp>
        <p:sp>
          <p:nvSpPr>
            <p:cNvPr id="13" name="Text Box 40">
              <a:extLst>
                <a:ext uri="{FF2B5EF4-FFF2-40B4-BE49-F238E27FC236}">
                  <a16:creationId xmlns:a16="http://schemas.microsoft.com/office/drawing/2014/main" id="{5E49BFF9-D048-58D5-794D-2B50C8E3748C}"/>
                </a:ext>
              </a:extLst>
            </p:cNvPr>
            <p:cNvSpPr txBox="1">
              <a:spLocks noChangeArrowheads="1"/>
            </p:cNvSpPr>
            <p:nvPr/>
          </p:nvSpPr>
          <p:spPr bwMode="auto">
            <a:xfrm>
              <a:off x="10443640" y="6532288"/>
              <a:ext cx="3258592" cy="218037"/>
            </a:xfrm>
            <a:prstGeom prst="rect">
              <a:avLst/>
            </a:prstGeom>
            <a:noFill/>
            <a:ln w="9525">
              <a:noFill/>
              <a:miter lim="800000"/>
              <a:headEnd/>
              <a:tailEnd/>
            </a:ln>
          </p:spPr>
          <p:txBody>
            <a:bodyPr wrap="none" anchor="ctr">
              <a:spAutoFit/>
            </a:bodyPr>
            <a:lstStyle>
              <a:defPPr>
                <a:defRPr lang="en-US"/>
              </a:defPPr>
              <a:lvl1pPr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9pPr>
            </a:lstStyle>
            <a:p>
              <a:pPr algn="ctr" defTabSz="685983" fontAlgn="auto">
                <a:spcBef>
                  <a:spcPts val="0"/>
                </a:spcBef>
                <a:spcAft>
                  <a:spcPts val="0"/>
                </a:spcAft>
                <a:defRPr/>
              </a:pPr>
              <a:r>
                <a:rPr lang="en-US" sz="2400" u="sng" dirty="0">
                  <a:solidFill>
                    <a:schemeClr val="tx1"/>
                  </a:solidFill>
                  <a:latin typeface="+mn-lt"/>
                  <a:ea typeface="+mn-ea"/>
                </a:rPr>
                <a:t>Sea of Excess Inventory,  Manpower, Equipment </a:t>
              </a:r>
            </a:p>
          </p:txBody>
        </p:sp>
        <p:sp>
          <p:nvSpPr>
            <p:cNvPr id="15" name="Rectangle 14">
              <a:extLst>
                <a:ext uri="{FF2B5EF4-FFF2-40B4-BE49-F238E27FC236}">
                  <a16:creationId xmlns:a16="http://schemas.microsoft.com/office/drawing/2014/main" id="{CA3C8548-033F-C0B0-7AF1-E398713DEBEC}"/>
                </a:ext>
              </a:extLst>
            </p:cNvPr>
            <p:cNvSpPr>
              <a:spLocks noChangeArrowheads="1"/>
            </p:cNvSpPr>
            <p:nvPr/>
          </p:nvSpPr>
          <p:spPr bwMode="auto">
            <a:xfrm>
              <a:off x="13316490" y="7145698"/>
              <a:ext cx="977481" cy="285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defPPr>
                <a:defRPr lang="en-US"/>
              </a:defPPr>
              <a:lvl1pPr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9pPr>
            </a:lstStyle>
            <a:p>
              <a:pPr algn="ctr">
                <a:lnSpc>
                  <a:spcPct val="80000"/>
                </a:lnSpc>
                <a:spcBef>
                  <a:spcPct val="20000"/>
                </a:spcBef>
                <a:spcAft>
                  <a:spcPct val="0"/>
                </a:spcAft>
                <a:buClrTx/>
                <a:buSzTx/>
                <a:buFontTx/>
                <a:buNone/>
              </a:pPr>
              <a:r>
                <a:rPr lang="en-US" altLang="en-US" sz="2400" dirty="0">
                  <a:solidFill>
                    <a:schemeClr val="bg1"/>
                  </a:solidFill>
                  <a:latin typeface="+mn-lt"/>
                </a:rPr>
                <a:t>  No Standard Work</a:t>
              </a:r>
            </a:p>
          </p:txBody>
        </p:sp>
        <p:pic>
          <p:nvPicPr>
            <p:cNvPr id="16" name="Picture 15" descr="Image result for alligator">
              <a:extLst>
                <a:ext uri="{FF2B5EF4-FFF2-40B4-BE49-F238E27FC236}">
                  <a16:creationId xmlns:a16="http://schemas.microsoft.com/office/drawing/2014/main" id="{7CE2DAAC-2820-F737-EC86-523EB233E113}"/>
                </a:ext>
              </a:extLst>
            </p:cNvPr>
            <p:cNvPicPr>
              <a:picLocks noChangeAspect="1" noChangeArrowheads="1"/>
            </p:cNvPicPr>
            <p:nvPr/>
          </p:nvPicPr>
          <p:blipFill>
            <a:blip r:embed="rId12" cstate="print">
              <a:duotone>
                <a:prstClr val="black"/>
                <a:srgbClr val="006699">
                  <a:tint val="45000"/>
                  <a:satMod val="400000"/>
                </a:srgbClr>
              </a:duotone>
              <a:extLst>
                <a:ext uri="{BEBA8EAE-BF5A-486C-A8C5-ECC9F3942E4B}">
                  <a14:imgProps xmlns:a14="http://schemas.microsoft.com/office/drawing/2010/main">
                    <a14:imgLayer r:embed="rId13">
                      <a14:imgEffect>
                        <a14:backgroundRemoval t="7752" b="95349" l="1279" r="98721">
                          <a14:foregroundMark x1="2558" y1="9302" x2="12020" y2="31008"/>
                          <a14:foregroundMark x1="1279" y1="21705" x2="1279" y2="21705"/>
                          <a14:foregroundMark x1="24297" y1="16279" x2="27110" y2="27907"/>
                          <a14:foregroundMark x1="35294" y1="92248" x2="33504" y2="96124"/>
                          <a14:foregroundMark x1="89003" y1="44961" x2="95141" y2="35659"/>
                          <a14:foregroundMark x1="98721" y1="34884" x2="98721" y2="37984"/>
                        </a14:backgroundRemoval>
                      </a14:imgEffect>
                    </a14:imgLayer>
                  </a14:imgProps>
                </a:ext>
              </a:extLst>
            </a:blip>
            <a:srcRect/>
            <a:stretch>
              <a:fillRect/>
            </a:stretch>
          </p:blipFill>
          <p:spPr bwMode="auto">
            <a:xfrm>
              <a:off x="14365674" y="8212295"/>
              <a:ext cx="1704109" cy="698774"/>
            </a:xfrm>
            <a:prstGeom prst="rect">
              <a:avLst/>
            </a:prstGeom>
            <a:noFill/>
            <a:ln>
              <a:noFill/>
            </a:ln>
            <a:effectLst/>
          </p:spPr>
        </p:pic>
      </p:grpSp>
      <p:sp>
        <p:nvSpPr>
          <p:cNvPr id="14" name="Title 1">
            <a:extLst>
              <a:ext uri="{FF2B5EF4-FFF2-40B4-BE49-F238E27FC236}">
                <a16:creationId xmlns:a16="http://schemas.microsoft.com/office/drawing/2014/main" id="{F9E6FFB4-C969-A497-8C3A-D5B105AA4FAA}"/>
              </a:ext>
            </a:extLst>
          </p:cNvPr>
          <p:cNvSpPr txBox="1">
            <a:spLocks/>
          </p:cNvSpPr>
          <p:nvPr/>
        </p:nvSpPr>
        <p:spPr>
          <a:xfrm>
            <a:off x="699910" y="681038"/>
            <a:ext cx="9815689" cy="1009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r>
              <a:rPr lang="en-US" dirty="0"/>
              <a:t>Sample Drivers of Waste</a:t>
            </a:r>
          </a:p>
        </p:txBody>
      </p:sp>
      <p:sp>
        <p:nvSpPr>
          <p:cNvPr id="42" name="TextBox 41">
            <a:extLst>
              <a:ext uri="{FF2B5EF4-FFF2-40B4-BE49-F238E27FC236}">
                <a16:creationId xmlns:a16="http://schemas.microsoft.com/office/drawing/2014/main" id="{3137547E-498C-5DD9-E823-8499FEE1CDEF}"/>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Lean Fundamentals</a:t>
            </a:r>
          </a:p>
        </p:txBody>
      </p:sp>
      <p:sp>
        <p:nvSpPr>
          <p:cNvPr id="2" name="AutoShape 9">
            <a:extLst>
              <a:ext uri="{FF2B5EF4-FFF2-40B4-BE49-F238E27FC236}">
                <a16:creationId xmlns:a16="http://schemas.microsoft.com/office/drawing/2014/main" id="{3023F374-C3F3-6E74-60E7-275903045DCF}"/>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5" name="AutoShape 11">
            <a:extLst>
              <a:ext uri="{FF2B5EF4-FFF2-40B4-BE49-F238E27FC236}">
                <a16:creationId xmlns:a16="http://schemas.microsoft.com/office/drawing/2014/main" id="{8F0698B7-EC69-9C80-34BB-3E31CA1EB31B}"/>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6" name="AutoShape 10">
            <a:extLst>
              <a:ext uri="{FF2B5EF4-FFF2-40B4-BE49-F238E27FC236}">
                <a16:creationId xmlns:a16="http://schemas.microsoft.com/office/drawing/2014/main" id="{F6778A8D-7E12-645A-489D-980B5FCA4A49}"/>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Tree>
    <p:extLst>
      <p:ext uri="{BB962C8B-B14F-4D97-AF65-F5344CB8AC3E}">
        <p14:creationId xmlns:p14="http://schemas.microsoft.com/office/powerpoint/2010/main" val="66327421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itle 24">
            <a:extLst>
              <a:ext uri="{FF2B5EF4-FFF2-40B4-BE49-F238E27FC236}">
                <a16:creationId xmlns:a16="http://schemas.microsoft.com/office/drawing/2014/main" id="{218D22A9-1F02-C4A5-E3B0-42BFA087C9A8}"/>
              </a:ext>
            </a:extLst>
          </p:cNvPr>
          <p:cNvSpPr>
            <a:spLocks noGrp="1"/>
          </p:cNvSpPr>
          <p:nvPr>
            <p:ph type="title"/>
          </p:nvPr>
        </p:nvSpPr>
        <p:spPr/>
        <p:txBody>
          <a:bodyPr>
            <a:normAutofit/>
          </a:bodyPr>
          <a:lstStyle/>
          <a:p>
            <a:r>
              <a:rPr lang="en-US" sz="4000" dirty="0">
                <a:latin typeface="Roboto Medium"/>
                <a:ea typeface="Roboto Medium"/>
                <a:cs typeface="Roboto Medium"/>
              </a:rPr>
              <a:t>Core Lean Concepts</a:t>
            </a:r>
          </a:p>
        </p:txBody>
      </p:sp>
      <p:sp>
        <p:nvSpPr>
          <p:cNvPr id="4" name="Footer Placeholder 3">
            <a:extLst>
              <a:ext uri="{FF2B5EF4-FFF2-40B4-BE49-F238E27FC236}">
                <a16:creationId xmlns:a16="http://schemas.microsoft.com/office/drawing/2014/main" id="{CB1F8C30-D81C-1E27-D266-2BC421C72FD6}"/>
              </a:ext>
            </a:extLst>
          </p:cNvPr>
          <p:cNvSpPr>
            <a:spLocks noGrp="1"/>
          </p:cNvSpPr>
          <p:nvPr>
            <p:ph type="ftr" sz="quarter" idx="11"/>
          </p:nvPr>
        </p:nvSpPr>
        <p:spPr/>
        <p:txBody>
          <a:bodyPr/>
          <a:lstStyle/>
          <a:p>
            <a:r>
              <a:rPr lang="en-US"/>
              <a:t>© Lean Horizons Consulting, LLC 2023. All Rights Reserved</a:t>
            </a:r>
            <a:endParaRPr lang="en-US" dirty="0"/>
          </a:p>
        </p:txBody>
      </p:sp>
      <p:sp>
        <p:nvSpPr>
          <p:cNvPr id="5" name="Slide Number Placeholder 4">
            <a:extLst>
              <a:ext uri="{FF2B5EF4-FFF2-40B4-BE49-F238E27FC236}">
                <a16:creationId xmlns:a16="http://schemas.microsoft.com/office/drawing/2014/main" id="{1AA34B74-93DA-5F21-CF4A-77FE692D026C}"/>
              </a:ext>
            </a:extLst>
          </p:cNvPr>
          <p:cNvSpPr>
            <a:spLocks noGrp="1"/>
          </p:cNvSpPr>
          <p:nvPr>
            <p:ph type="sldNum" sz="quarter" idx="12"/>
          </p:nvPr>
        </p:nvSpPr>
        <p:spPr/>
        <p:txBody>
          <a:bodyPr/>
          <a:lstStyle/>
          <a:p>
            <a:fld id="{CC6D4273-7FC1-0947-B9FE-19CB3C0D1FB6}" type="slidenum">
              <a:rPr lang="en-US" smtClean="0"/>
              <a:t>24</a:t>
            </a:fld>
            <a:endParaRPr lang="en-US"/>
          </a:p>
        </p:txBody>
      </p:sp>
      <p:grpSp>
        <p:nvGrpSpPr>
          <p:cNvPr id="11" name="Group 10">
            <a:extLst>
              <a:ext uri="{FF2B5EF4-FFF2-40B4-BE49-F238E27FC236}">
                <a16:creationId xmlns:a16="http://schemas.microsoft.com/office/drawing/2014/main" id="{C67C5071-808E-C71E-D2AF-8FF15DEE27A2}"/>
              </a:ext>
            </a:extLst>
          </p:cNvPr>
          <p:cNvGrpSpPr/>
          <p:nvPr/>
        </p:nvGrpSpPr>
        <p:grpSpPr>
          <a:xfrm>
            <a:off x="940248" y="1921594"/>
            <a:ext cx="6120427" cy="3847610"/>
            <a:chOff x="1888435" y="3868398"/>
            <a:chExt cx="10972800" cy="7263723"/>
          </a:xfrm>
        </p:grpSpPr>
        <p:sp>
          <p:nvSpPr>
            <p:cNvPr id="12" name="Rectangle 11">
              <a:extLst>
                <a:ext uri="{FF2B5EF4-FFF2-40B4-BE49-F238E27FC236}">
                  <a16:creationId xmlns:a16="http://schemas.microsoft.com/office/drawing/2014/main" id="{B0B54629-2D9F-D857-EE31-4C21CDD2E4A2}"/>
                </a:ext>
              </a:extLst>
            </p:cNvPr>
            <p:cNvSpPr>
              <a:spLocks/>
            </p:cNvSpPr>
            <p:nvPr/>
          </p:nvSpPr>
          <p:spPr>
            <a:xfrm>
              <a:off x="1888435" y="3868398"/>
              <a:ext cx="10972800" cy="914401"/>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lvl="2"/>
              <a:r>
                <a:rPr lang="en-US" sz="28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Specify</a:t>
              </a:r>
              <a:r>
                <a:rPr lang="en-US" sz="2800" dirty="0">
                  <a:latin typeface="Roboto" panose="02000000000000000000" pitchFamily="2" charset="0"/>
                  <a:ea typeface="Roboto" panose="02000000000000000000" pitchFamily="2" charset="0"/>
                  <a:cs typeface="Roboto" panose="02000000000000000000" pitchFamily="2" charset="0"/>
                  <a:sym typeface="Roboto"/>
                </a:rPr>
                <a:t> </a:t>
              </a:r>
              <a:r>
                <a:rPr lang="en-US" sz="28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Value</a:t>
              </a:r>
            </a:p>
          </p:txBody>
        </p:sp>
        <p:sp>
          <p:nvSpPr>
            <p:cNvPr id="13" name="Rectangle 12">
              <a:extLst>
                <a:ext uri="{FF2B5EF4-FFF2-40B4-BE49-F238E27FC236}">
                  <a16:creationId xmlns:a16="http://schemas.microsoft.com/office/drawing/2014/main" id="{DF4EAF32-E1A1-D4A2-9FCD-515A5F96DE04}"/>
                </a:ext>
              </a:extLst>
            </p:cNvPr>
            <p:cNvSpPr>
              <a:spLocks/>
            </p:cNvSpPr>
            <p:nvPr/>
          </p:nvSpPr>
          <p:spPr>
            <a:xfrm>
              <a:off x="1888435" y="5459481"/>
              <a:ext cx="10972800" cy="914401"/>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r>
                <a:rPr lang="en-US" sz="28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Identify the Value Stream</a:t>
              </a:r>
            </a:p>
          </p:txBody>
        </p:sp>
        <p:sp>
          <p:nvSpPr>
            <p:cNvPr id="14" name="Rectangle 13">
              <a:extLst>
                <a:ext uri="{FF2B5EF4-FFF2-40B4-BE49-F238E27FC236}">
                  <a16:creationId xmlns:a16="http://schemas.microsoft.com/office/drawing/2014/main" id="{FBE3767D-7BA2-9FC1-934C-8354A66E63AC}"/>
                </a:ext>
              </a:extLst>
            </p:cNvPr>
            <p:cNvSpPr>
              <a:spLocks/>
            </p:cNvSpPr>
            <p:nvPr/>
          </p:nvSpPr>
          <p:spPr>
            <a:xfrm>
              <a:off x="1888435" y="7045561"/>
              <a:ext cx="10972800" cy="914401"/>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algn="l" defTabSz="584200"/>
              <a:r>
                <a:rPr kumimoji="0" lang="en-US" sz="28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Flow</a:t>
              </a:r>
            </a:p>
          </p:txBody>
        </p:sp>
        <p:sp>
          <p:nvSpPr>
            <p:cNvPr id="15" name="Rectangle 14">
              <a:extLst>
                <a:ext uri="{FF2B5EF4-FFF2-40B4-BE49-F238E27FC236}">
                  <a16:creationId xmlns:a16="http://schemas.microsoft.com/office/drawing/2014/main" id="{D87C53B4-48B2-AD29-AFD8-1C5B6871B984}"/>
                </a:ext>
              </a:extLst>
            </p:cNvPr>
            <p:cNvSpPr/>
            <p:nvPr/>
          </p:nvSpPr>
          <p:spPr>
            <a:xfrm>
              <a:off x="1888435" y="8631640"/>
              <a:ext cx="10972800" cy="914401"/>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Pull</a:t>
              </a:r>
            </a:p>
          </p:txBody>
        </p:sp>
        <p:sp>
          <p:nvSpPr>
            <p:cNvPr id="16" name="Rectangle 15">
              <a:extLst>
                <a:ext uri="{FF2B5EF4-FFF2-40B4-BE49-F238E27FC236}">
                  <a16:creationId xmlns:a16="http://schemas.microsoft.com/office/drawing/2014/main" id="{589CEA7D-9312-9D7A-0D93-C8AE0124D074}"/>
                </a:ext>
              </a:extLst>
            </p:cNvPr>
            <p:cNvSpPr>
              <a:spLocks/>
            </p:cNvSpPr>
            <p:nvPr/>
          </p:nvSpPr>
          <p:spPr>
            <a:xfrm>
              <a:off x="1888435" y="10217720"/>
              <a:ext cx="10972800" cy="914401"/>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Perfection</a:t>
              </a:r>
            </a:p>
          </p:txBody>
        </p:sp>
      </p:grpSp>
      <p:sp>
        <p:nvSpPr>
          <p:cNvPr id="24" name="TextBox 23">
            <a:extLst>
              <a:ext uri="{FF2B5EF4-FFF2-40B4-BE49-F238E27FC236}">
                <a16:creationId xmlns:a16="http://schemas.microsoft.com/office/drawing/2014/main" id="{CA9660DE-D289-53E3-DA88-9FAFC871E39F}"/>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Lean Fundamentals</a:t>
            </a:r>
          </a:p>
        </p:txBody>
      </p:sp>
      <p:sp>
        <p:nvSpPr>
          <p:cNvPr id="2" name="AutoShape 9">
            <a:extLst>
              <a:ext uri="{FF2B5EF4-FFF2-40B4-BE49-F238E27FC236}">
                <a16:creationId xmlns:a16="http://schemas.microsoft.com/office/drawing/2014/main" id="{EE724718-4ADB-2926-920D-46FBA1715C0D}"/>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3" name="AutoShape 11">
            <a:extLst>
              <a:ext uri="{FF2B5EF4-FFF2-40B4-BE49-F238E27FC236}">
                <a16:creationId xmlns:a16="http://schemas.microsoft.com/office/drawing/2014/main" id="{8F96E8A3-D149-C000-5333-074D630FE80D}"/>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6" name="AutoShape 10">
            <a:extLst>
              <a:ext uri="{FF2B5EF4-FFF2-40B4-BE49-F238E27FC236}">
                <a16:creationId xmlns:a16="http://schemas.microsoft.com/office/drawing/2014/main" id="{7EBB5256-11E9-0E92-6E7A-59845898ACEA}"/>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Tree>
    <p:extLst>
      <p:ext uri="{BB962C8B-B14F-4D97-AF65-F5344CB8AC3E}">
        <p14:creationId xmlns:p14="http://schemas.microsoft.com/office/powerpoint/2010/main" val="27952697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CB1F8C30-D81C-1E27-D266-2BC421C72FD6}"/>
              </a:ext>
            </a:extLst>
          </p:cNvPr>
          <p:cNvSpPr>
            <a:spLocks noGrp="1"/>
          </p:cNvSpPr>
          <p:nvPr>
            <p:ph type="ftr" sz="quarter" idx="11"/>
          </p:nvPr>
        </p:nvSpPr>
        <p:spPr/>
        <p:txBody>
          <a:bodyPr/>
          <a:lstStyle/>
          <a:p>
            <a:r>
              <a:rPr lang="en-US"/>
              <a:t>© Lean Horizons Consulting, LLC 2023. All Rights Reserved</a:t>
            </a:r>
            <a:endParaRPr lang="en-US" dirty="0"/>
          </a:p>
        </p:txBody>
      </p:sp>
      <p:sp>
        <p:nvSpPr>
          <p:cNvPr id="5" name="Slide Number Placeholder 4">
            <a:extLst>
              <a:ext uri="{FF2B5EF4-FFF2-40B4-BE49-F238E27FC236}">
                <a16:creationId xmlns:a16="http://schemas.microsoft.com/office/drawing/2014/main" id="{1AA34B74-93DA-5F21-CF4A-77FE692D026C}"/>
              </a:ext>
            </a:extLst>
          </p:cNvPr>
          <p:cNvSpPr>
            <a:spLocks noGrp="1"/>
          </p:cNvSpPr>
          <p:nvPr>
            <p:ph type="sldNum" sz="quarter" idx="12"/>
          </p:nvPr>
        </p:nvSpPr>
        <p:spPr/>
        <p:txBody>
          <a:bodyPr/>
          <a:lstStyle/>
          <a:p>
            <a:fld id="{CC6D4273-7FC1-0947-B9FE-19CB3C0D1FB6}" type="slidenum">
              <a:rPr lang="en-US" smtClean="0"/>
              <a:t>25</a:t>
            </a:fld>
            <a:endParaRPr lang="en-US"/>
          </a:p>
        </p:txBody>
      </p:sp>
      <p:sp>
        <p:nvSpPr>
          <p:cNvPr id="28" name="Title 27">
            <a:extLst>
              <a:ext uri="{FF2B5EF4-FFF2-40B4-BE49-F238E27FC236}">
                <a16:creationId xmlns:a16="http://schemas.microsoft.com/office/drawing/2014/main" id="{056E40AF-12EC-54FA-E29C-0609A49CFD25}"/>
              </a:ext>
            </a:extLst>
          </p:cNvPr>
          <p:cNvSpPr>
            <a:spLocks noGrp="1"/>
          </p:cNvSpPr>
          <p:nvPr>
            <p:ph type="title" idx="4294967295"/>
          </p:nvPr>
        </p:nvSpPr>
        <p:spPr>
          <a:xfrm>
            <a:off x="271397" y="618408"/>
            <a:ext cx="10515600" cy="1009650"/>
          </a:xfrm>
        </p:spPr>
        <p:txBody>
          <a:bodyPr>
            <a:normAutofit/>
          </a:bodyPr>
          <a:lstStyle/>
          <a:p>
            <a:r>
              <a:rPr lang="en-US" sz="4000" dirty="0">
                <a:latin typeface="Roboto Medium"/>
                <a:ea typeface="Roboto Medium"/>
                <a:cs typeface="Roboto Medium"/>
              </a:rPr>
              <a:t>Define Value Stream</a:t>
            </a:r>
          </a:p>
        </p:txBody>
      </p:sp>
      <p:grpSp>
        <p:nvGrpSpPr>
          <p:cNvPr id="84" name="Group 83">
            <a:extLst>
              <a:ext uri="{FF2B5EF4-FFF2-40B4-BE49-F238E27FC236}">
                <a16:creationId xmlns:a16="http://schemas.microsoft.com/office/drawing/2014/main" id="{DE5B0DCC-7FF8-E92B-207E-BD75EC1256D3}"/>
              </a:ext>
            </a:extLst>
          </p:cNvPr>
          <p:cNvGrpSpPr/>
          <p:nvPr/>
        </p:nvGrpSpPr>
        <p:grpSpPr>
          <a:xfrm>
            <a:off x="270729" y="1575947"/>
            <a:ext cx="11650543" cy="4314942"/>
            <a:chOff x="312857" y="1352144"/>
            <a:chExt cx="16843252" cy="9841126"/>
          </a:xfrm>
          <a:solidFill>
            <a:srgbClr val="EE3228"/>
          </a:solidFill>
        </p:grpSpPr>
        <p:sp>
          <p:nvSpPr>
            <p:cNvPr id="17" name="Rectangle 2">
              <a:extLst>
                <a:ext uri="{FF2B5EF4-FFF2-40B4-BE49-F238E27FC236}">
                  <a16:creationId xmlns:a16="http://schemas.microsoft.com/office/drawing/2014/main" id="{B16DE5CB-14A3-E6D7-7AB2-4691767A802C}"/>
                </a:ext>
              </a:extLst>
            </p:cNvPr>
            <p:cNvSpPr>
              <a:spLocks noChangeArrowheads="1"/>
            </p:cNvSpPr>
            <p:nvPr/>
          </p:nvSpPr>
          <p:spPr bwMode="auto">
            <a:xfrm>
              <a:off x="1872988" y="9283313"/>
              <a:ext cx="13661062" cy="1909957"/>
            </a:xfrm>
            <a:prstGeom prst="rect">
              <a:avLst/>
            </a:prstGeom>
            <a:grpFill/>
            <a:ln w="19050">
              <a:solidFill>
                <a:schemeClr val="tx1"/>
              </a:solidFill>
              <a:prstDash val="sysDot"/>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30000"/>
                </a:spcBef>
                <a:spcAft>
                  <a:spcPct val="0"/>
                </a:spcAft>
                <a:buClrTx/>
                <a:buSzTx/>
                <a:buFontTx/>
                <a:buNone/>
              </a:pPr>
              <a:r>
                <a:rPr lang="en-US" altLang="en-US" dirty="0">
                  <a:solidFill>
                    <a:schemeClr val="bg1"/>
                  </a:solidFill>
                  <a:latin typeface="Roboto" panose="02000000000000000000" pitchFamily="2" charset="0"/>
                  <a:ea typeface="Roboto" panose="02000000000000000000" pitchFamily="2" charset="0"/>
                  <a:cs typeface="Roboto" panose="02000000000000000000" pitchFamily="2" charset="0"/>
                </a:rPr>
                <a:t>All of the actions required to bring a product or service through the main flows essential to providing that product or service from inception point to receipt by customer</a:t>
              </a:r>
            </a:p>
          </p:txBody>
        </p:sp>
        <p:sp>
          <p:nvSpPr>
            <p:cNvPr id="18" name="Rectangle 3">
              <a:extLst>
                <a:ext uri="{FF2B5EF4-FFF2-40B4-BE49-F238E27FC236}">
                  <a16:creationId xmlns:a16="http://schemas.microsoft.com/office/drawing/2014/main" id="{5B442C60-4F90-1ED3-6C74-9CFC5181C8B6}"/>
                </a:ext>
              </a:extLst>
            </p:cNvPr>
            <p:cNvSpPr>
              <a:spLocks noChangeArrowheads="1"/>
            </p:cNvSpPr>
            <p:nvPr/>
          </p:nvSpPr>
          <p:spPr bwMode="auto">
            <a:xfrm>
              <a:off x="312857" y="1352144"/>
              <a:ext cx="3725743" cy="1325662"/>
            </a:xfrm>
            <a:prstGeom prst="rect">
              <a:avLst/>
            </a:prstGeom>
            <a:grpFill/>
            <a:ln w="12700" cap="sq">
              <a:solidFill>
                <a:schemeClr val="tx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400" dirty="0">
                  <a:solidFill>
                    <a:schemeClr val="bg1"/>
                  </a:solidFill>
                  <a:latin typeface="Roboto" panose="02000000000000000000" pitchFamily="2" charset="0"/>
                  <a:ea typeface="Roboto" panose="02000000000000000000" pitchFamily="2" charset="0"/>
                  <a:cs typeface="Roboto" panose="02000000000000000000" pitchFamily="2" charset="0"/>
                </a:rPr>
                <a:t>Value Added and Non-Value Added Processes</a:t>
              </a:r>
            </a:p>
          </p:txBody>
        </p:sp>
        <p:sp>
          <p:nvSpPr>
            <p:cNvPr id="19" name="Rectangle 4">
              <a:extLst>
                <a:ext uri="{FF2B5EF4-FFF2-40B4-BE49-F238E27FC236}">
                  <a16:creationId xmlns:a16="http://schemas.microsoft.com/office/drawing/2014/main" id="{0223FDCD-9D7C-1910-6CF3-76A74733E67E}"/>
                </a:ext>
              </a:extLst>
            </p:cNvPr>
            <p:cNvSpPr>
              <a:spLocks noChangeArrowheads="1"/>
            </p:cNvSpPr>
            <p:nvPr/>
          </p:nvSpPr>
          <p:spPr bwMode="auto">
            <a:xfrm>
              <a:off x="4619996" y="1380418"/>
              <a:ext cx="3725743" cy="1297388"/>
            </a:xfrm>
            <a:prstGeom prst="rect">
              <a:avLst/>
            </a:prstGeom>
            <a:grpFill/>
            <a:ln w="12700" cap="sq">
              <a:solidFill>
                <a:schemeClr val="tx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400" dirty="0">
                  <a:solidFill>
                    <a:schemeClr val="bg1"/>
                  </a:solidFill>
                  <a:latin typeface="Roboto" panose="02000000000000000000" pitchFamily="2" charset="0"/>
                  <a:ea typeface="Roboto" panose="02000000000000000000" pitchFamily="2" charset="0"/>
                  <a:cs typeface="Roboto" panose="02000000000000000000" pitchFamily="2" charset="0"/>
                </a:rPr>
                <a:t>Product and Information Flow</a:t>
              </a:r>
            </a:p>
          </p:txBody>
        </p:sp>
        <p:sp>
          <p:nvSpPr>
            <p:cNvPr id="20" name="Rectangle 5">
              <a:extLst>
                <a:ext uri="{FF2B5EF4-FFF2-40B4-BE49-F238E27FC236}">
                  <a16:creationId xmlns:a16="http://schemas.microsoft.com/office/drawing/2014/main" id="{0229AB02-56CF-3887-2F25-DD66474C51AF}"/>
                </a:ext>
              </a:extLst>
            </p:cNvPr>
            <p:cNvSpPr>
              <a:spLocks noChangeArrowheads="1"/>
            </p:cNvSpPr>
            <p:nvPr/>
          </p:nvSpPr>
          <p:spPr bwMode="auto">
            <a:xfrm>
              <a:off x="9054421" y="1380418"/>
              <a:ext cx="3725745" cy="1297388"/>
            </a:xfrm>
            <a:prstGeom prst="rect">
              <a:avLst/>
            </a:prstGeom>
            <a:grpFill/>
            <a:ln w="12700" cap="sq">
              <a:solidFill>
                <a:schemeClr val="tx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400" dirty="0">
                  <a:solidFill>
                    <a:schemeClr val="bg1"/>
                  </a:solidFill>
                  <a:latin typeface="Roboto" panose="02000000000000000000" pitchFamily="2" charset="0"/>
                  <a:ea typeface="Roboto" panose="02000000000000000000" pitchFamily="2" charset="0"/>
                  <a:cs typeface="Roboto" panose="02000000000000000000" pitchFamily="2" charset="0"/>
                </a:rPr>
                <a:t>Cross function and organization boundaries</a:t>
              </a:r>
            </a:p>
          </p:txBody>
        </p:sp>
        <p:sp>
          <p:nvSpPr>
            <p:cNvPr id="21" name="Rectangle 6">
              <a:extLst>
                <a:ext uri="{FF2B5EF4-FFF2-40B4-BE49-F238E27FC236}">
                  <a16:creationId xmlns:a16="http://schemas.microsoft.com/office/drawing/2014/main" id="{E428E185-78FA-E4F1-BC59-3BAD00625B36}"/>
                </a:ext>
              </a:extLst>
            </p:cNvPr>
            <p:cNvSpPr>
              <a:spLocks noChangeArrowheads="1"/>
            </p:cNvSpPr>
            <p:nvPr/>
          </p:nvSpPr>
          <p:spPr bwMode="auto">
            <a:xfrm>
              <a:off x="13430364" y="1408690"/>
              <a:ext cx="3725745" cy="1269116"/>
            </a:xfrm>
            <a:prstGeom prst="rect">
              <a:avLst/>
            </a:prstGeom>
            <a:grpFill/>
            <a:ln w="12700" cap="sq">
              <a:solidFill>
                <a:schemeClr val="tx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400" dirty="0">
                  <a:solidFill>
                    <a:schemeClr val="bg1"/>
                  </a:solidFill>
                  <a:latin typeface="Roboto" panose="02000000000000000000" pitchFamily="2" charset="0"/>
                  <a:ea typeface="Roboto" panose="02000000000000000000" pitchFamily="2" charset="0"/>
                  <a:cs typeface="Roboto" panose="02000000000000000000" pitchFamily="2" charset="0"/>
                </a:rPr>
                <a:t>From Initiation to the Customer</a:t>
              </a:r>
            </a:p>
          </p:txBody>
        </p:sp>
        <p:cxnSp>
          <p:nvCxnSpPr>
            <p:cNvPr id="22" name="AutoShape 7">
              <a:extLst>
                <a:ext uri="{FF2B5EF4-FFF2-40B4-BE49-F238E27FC236}">
                  <a16:creationId xmlns:a16="http://schemas.microsoft.com/office/drawing/2014/main" id="{EF478139-4FEF-C591-8026-F9A38F77E207}"/>
                </a:ext>
              </a:extLst>
            </p:cNvPr>
            <p:cNvCxnSpPr>
              <a:cxnSpLocks noChangeShapeType="1"/>
              <a:stCxn id="18" idx="3"/>
              <a:endCxn id="19" idx="1"/>
            </p:cNvCxnSpPr>
            <p:nvPr/>
          </p:nvCxnSpPr>
          <p:spPr bwMode="auto">
            <a:xfrm>
              <a:off x="4038600" y="2014975"/>
              <a:ext cx="581396" cy="14138"/>
            </a:xfrm>
            <a:prstGeom prst="straightConnector1">
              <a:avLst/>
            </a:prstGeom>
            <a:grpFill/>
            <a:ln w="12700" cap="sq">
              <a:solidFill>
                <a:schemeClr val="tx1"/>
              </a:solidFill>
              <a:round/>
              <a:headEnd/>
              <a:tailEnd/>
            </a:ln>
          </p:spPr>
        </p:cxnSp>
        <p:cxnSp>
          <p:nvCxnSpPr>
            <p:cNvPr id="23" name="AutoShape 8">
              <a:extLst>
                <a:ext uri="{FF2B5EF4-FFF2-40B4-BE49-F238E27FC236}">
                  <a16:creationId xmlns:a16="http://schemas.microsoft.com/office/drawing/2014/main" id="{46DB4865-694D-C4A3-1D2A-E6E971144FC8}"/>
                </a:ext>
              </a:extLst>
            </p:cNvPr>
            <p:cNvCxnSpPr>
              <a:cxnSpLocks noChangeShapeType="1"/>
              <a:stCxn id="19" idx="3"/>
              <a:endCxn id="20" idx="1"/>
            </p:cNvCxnSpPr>
            <p:nvPr/>
          </p:nvCxnSpPr>
          <p:spPr bwMode="auto">
            <a:xfrm>
              <a:off x="8345739" y="2029113"/>
              <a:ext cx="708682" cy="0"/>
            </a:xfrm>
            <a:prstGeom prst="straightConnector1">
              <a:avLst/>
            </a:prstGeom>
            <a:grpFill/>
            <a:ln w="12700" cap="sq">
              <a:solidFill>
                <a:schemeClr val="tx1"/>
              </a:solidFill>
              <a:round/>
              <a:headEnd/>
              <a:tailEnd/>
            </a:ln>
          </p:spPr>
        </p:cxnSp>
        <p:cxnSp>
          <p:nvCxnSpPr>
            <p:cNvPr id="24" name="AutoShape 9">
              <a:extLst>
                <a:ext uri="{FF2B5EF4-FFF2-40B4-BE49-F238E27FC236}">
                  <a16:creationId xmlns:a16="http://schemas.microsoft.com/office/drawing/2014/main" id="{F18B13EE-A010-29BB-969E-0CA863509517}"/>
                </a:ext>
              </a:extLst>
            </p:cNvPr>
            <p:cNvCxnSpPr>
              <a:cxnSpLocks noChangeShapeType="1"/>
              <a:stCxn id="20" idx="3"/>
              <a:endCxn id="21" idx="1"/>
            </p:cNvCxnSpPr>
            <p:nvPr/>
          </p:nvCxnSpPr>
          <p:spPr bwMode="auto">
            <a:xfrm>
              <a:off x="12780166" y="2029113"/>
              <a:ext cx="650199" cy="14136"/>
            </a:xfrm>
            <a:prstGeom prst="straightConnector1">
              <a:avLst/>
            </a:prstGeom>
            <a:grpFill/>
            <a:ln w="12700" cap="sq">
              <a:solidFill>
                <a:schemeClr val="tx1"/>
              </a:solidFill>
              <a:round/>
              <a:headEnd/>
              <a:tailEnd/>
            </a:ln>
          </p:spPr>
        </p:cxnSp>
        <p:cxnSp>
          <p:nvCxnSpPr>
            <p:cNvPr id="26" name="AutoShape 11">
              <a:extLst>
                <a:ext uri="{FF2B5EF4-FFF2-40B4-BE49-F238E27FC236}">
                  <a16:creationId xmlns:a16="http://schemas.microsoft.com/office/drawing/2014/main" id="{2D8BDA2B-DC22-6260-2A32-E0ECD03EF47C}"/>
                </a:ext>
              </a:extLst>
            </p:cNvPr>
            <p:cNvCxnSpPr>
              <a:cxnSpLocks noChangeShapeType="1"/>
              <a:stCxn id="21" idx="3"/>
              <a:endCxn id="17" idx="3"/>
            </p:cNvCxnSpPr>
            <p:nvPr/>
          </p:nvCxnSpPr>
          <p:spPr bwMode="auto">
            <a:xfrm flipH="1">
              <a:off x="15534051" y="2043249"/>
              <a:ext cx="1622058" cy="8195043"/>
            </a:xfrm>
            <a:prstGeom prst="bentConnector3">
              <a:avLst>
                <a:gd name="adj1" fmla="val -20375"/>
              </a:avLst>
            </a:prstGeom>
            <a:grpFill/>
            <a:ln w="12700" cap="sq">
              <a:solidFill>
                <a:schemeClr val="tx1"/>
              </a:solidFill>
              <a:miter lim="800000"/>
              <a:headEnd/>
              <a:tailEnd type="triangle" w="med" len="med"/>
            </a:ln>
          </p:spPr>
        </p:cxnSp>
      </p:grpSp>
      <p:pic>
        <p:nvPicPr>
          <p:cNvPr id="263" name="Picture 262">
            <a:extLst>
              <a:ext uri="{FF2B5EF4-FFF2-40B4-BE49-F238E27FC236}">
                <a16:creationId xmlns:a16="http://schemas.microsoft.com/office/drawing/2014/main" id="{37F56A6A-CA0B-BA39-3260-B330414576A9}"/>
              </a:ext>
            </a:extLst>
          </p:cNvPr>
          <p:cNvPicPr>
            <a:picLocks noChangeAspect="1"/>
          </p:cNvPicPr>
          <p:nvPr/>
        </p:nvPicPr>
        <p:blipFill>
          <a:blip r:embed="rId3"/>
          <a:stretch>
            <a:fillRect/>
          </a:stretch>
        </p:blipFill>
        <p:spPr>
          <a:xfrm>
            <a:off x="3147755" y="2292675"/>
            <a:ext cx="5853657" cy="2686358"/>
          </a:xfrm>
          <a:prstGeom prst="rect">
            <a:avLst/>
          </a:prstGeom>
        </p:spPr>
      </p:pic>
      <p:sp>
        <p:nvSpPr>
          <p:cNvPr id="27" name="TextBox 26">
            <a:extLst>
              <a:ext uri="{FF2B5EF4-FFF2-40B4-BE49-F238E27FC236}">
                <a16:creationId xmlns:a16="http://schemas.microsoft.com/office/drawing/2014/main" id="{D291F02D-4F8D-90B5-51A5-2F2DB40703B6}"/>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Lean Fundamentals</a:t>
            </a:r>
          </a:p>
        </p:txBody>
      </p:sp>
      <p:sp>
        <p:nvSpPr>
          <p:cNvPr id="2" name="AutoShape 9">
            <a:extLst>
              <a:ext uri="{FF2B5EF4-FFF2-40B4-BE49-F238E27FC236}">
                <a16:creationId xmlns:a16="http://schemas.microsoft.com/office/drawing/2014/main" id="{BEC0AAEA-73B8-EEA5-5763-8CD247637695}"/>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3" name="AutoShape 11">
            <a:extLst>
              <a:ext uri="{FF2B5EF4-FFF2-40B4-BE49-F238E27FC236}">
                <a16:creationId xmlns:a16="http://schemas.microsoft.com/office/drawing/2014/main" id="{107056C0-DAB5-A19D-46AE-FF5AD732CF3B}"/>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6" name="AutoShape 10">
            <a:extLst>
              <a:ext uri="{FF2B5EF4-FFF2-40B4-BE49-F238E27FC236}">
                <a16:creationId xmlns:a16="http://schemas.microsoft.com/office/drawing/2014/main" id="{EBCDB049-C5E5-2671-DC9E-491596DC2AC2}"/>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Tree>
    <p:extLst>
      <p:ext uri="{BB962C8B-B14F-4D97-AF65-F5344CB8AC3E}">
        <p14:creationId xmlns:p14="http://schemas.microsoft.com/office/powerpoint/2010/main" val="181768020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CB1F8C30-D81C-1E27-D266-2BC421C72FD6}"/>
              </a:ext>
            </a:extLst>
          </p:cNvPr>
          <p:cNvSpPr>
            <a:spLocks noGrp="1"/>
          </p:cNvSpPr>
          <p:nvPr>
            <p:ph type="ftr" sz="quarter" idx="11"/>
          </p:nvPr>
        </p:nvSpPr>
        <p:spPr/>
        <p:txBody>
          <a:bodyPr/>
          <a:lstStyle/>
          <a:p>
            <a:r>
              <a:rPr lang="en-US"/>
              <a:t>© Lean Horizons Consulting, LLC 2023. All Rights Reserved</a:t>
            </a:r>
            <a:endParaRPr lang="en-US" dirty="0"/>
          </a:p>
        </p:txBody>
      </p:sp>
      <p:sp>
        <p:nvSpPr>
          <p:cNvPr id="5" name="Slide Number Placeholder 4">
            <a:extLst>
              <a:ext uri="{FF2B5EF4-FFF2-40B4-BE49-F238E27FC236}">
                <a16:creationId xmlns:a16="http://schemas.microsoft.com/office/drawing/2014/main" id="{1AA34B74-93DA-5F21-CF4A-77FE692D026C}"/>
              </a:ext>
            </a:extLst>
          </p:cNvPr>
          <p:cNvSpPr>
            <a:spLocks noGrp="1"/>
          </p:cNvSpPr>
          <p:nvPr>
            <p:ph type="sldNum" sz="quarter" idx="12"/>
          </p:nvPr>
        </p:nvSpPr>
        <p:spPr/>
        <p:txBody>
          <a:bodyPr/>
          <a:lstStyle/>
          <a:p>
            <a:fld id="{CC6D4273-7FC1-0947-B9FE-19CB3C0D1FB6}" type="slidenum">
              <a:rPr lang="en-US" smtClean="0"/>
              <a:t>26</a:t>
            </a:fld>
            <a:endParaRPr lang="en-US"/>
          </a:p>
        </p:txBody>
      </p:sp>
      <p:sp>
        <p:nvSpPr>
          <p:cNvPr id="31" name="Title 30">
            <a:extLst>
              <a:ext uri="{FF2B5EF4-FFF2-40B4-BE49-F238E27FC236}">
                <a16:creationId xmlns:a16="http://schemas.microsoft.com/office/drawing/2014/main" id="{F352E467-5A03-8897-FF57-55F0DEFD213B}"/>
              </a:ext>
            </a:extLst>
          </p:cNvPr>
          <p:cNvSpPr>
            <a:spLocks noGrp="1"/>
          </p:cNvSpPr>
          <p:nvPr>
            <p:ph type="title" idx="4294967295"/>
          </p:nvPr>
        </p:nvSpPr>
        <p:spPr>
          <a:xfrm>
            <a:off x="177452" y="607970"/>
            <a:ext cx="10515600" cy="1009650"/>
          </a:xfrm>
        </p:spPr>
        <p:txBody>
          <a:bodyPr>
            <a:normAutofit fontScale="90000"/>
          </a:bodyPr>
          <a:lstStyle/>
          <a:p>
            <a:r>
              <a:rPr lang="en-US" dirty="0"/>
              <a:t>Multiple Passes through the Value Stream</a:t>
            </a:r>
          </a:p>
        </p:txBody>
      </p:sp>
      <p:sp>
        <p:nvSpPr>
          <p:cNvPr id="12" name="Rectangle 71">
            <a:extLst>
              <a:ext uri="{FF2B5EF4-FFF2-40B4-BE49-F238E27FC236}">
                <a16:creationId xmlns:a16="http://schemas.microsoft.com/office/drawing/2014/main" id="{DD3FC86F-0D9A-81DD-31DC-009D03438062}"/>
              </a:ext>
            </a:extLst>
          </p:cNvPr>
          <p:cNvSpPr>
            <a:spLocks noChangeArrowheads="1"/>
          </p:cNvSpPr>
          <p:nvPr/>
        </p:nvSpPr>
        <p:spPr bwMode="auto">
          <a:xfrm>
            <a:off x="479812" y="2323654"/>
            <a:ext cx="1534799" cy="649505"/>
          </a:xfrm>
          <a:prstGeom prst="rect">
            <a:avLst/>
          </a:prstGeom>
          <a:solidFill>
            <a:schemeClr val="bg1">
              <a:lumMod val="75000"/>
            </a:schemeClr>
          </a:solidFill>
          <a:ln w="12700" cap="sq">
            <a:solidFill>
              <a:schemeClr val="tx1"/>
            </a:solidFill>
            <a:miter lim="800000"/>
            <a:headEnd type="none" w="sm" len="sm"/>
            <a:tailEnd type="none" w="sm" len="sm"/>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30000"/>
              </a:spcBef>
              <a:spcAft>
                <a:spcPct val="0"/>
              </a:spcAft>
              <a:buClrTx/>
              <a:buSzTx/>
              <a:buFontTx/>
              <a:buNone/>
            </a:pPr>
            <a:r>
              <a:rPr lang="en-US" altLang="en-US" dirty="0">
                <a:latin typeface="Roboto" panose="02000000000000000000" pitchFamily="2" charset="0"/>
                <a:ea typeface="Roboto" panose="02000000000000000000" pitchFamily="2" charset="0"/>
                <a:cs typeface="Roboto" panose="02000000000000000000" pitchFamily="2" charset="0"/>
              </a:rPr>
              <a:t>VSM</a:t>
            </a:r>
          </a:p>
          <a:p>
            <a:pPr algn="ctr">
              <a:lnSpc>
                <a:spcPct val="100000"/>
              </a:lnSpc>
              <a:spcBef>
                <a:spcPct val="30000"/>
              </a:spcBef>
              <a:spcAft>
                <a:spcPct val="0"/>
              </a:spcAft>
              <a:buClrTx/>
              <a:buSzTx/>
              <a:buFontTx/>
              <a:buNone/>
            </a:pPr>
            <a:r>
              <a:rPr lang="ja-JP" altLang="en-US" dirty="0">
                <a:latin typeface="Roboto" panose="02000000000000000000" pitchFamily="2" charset="0"/>
                <a:cs typeface="Roboto" panose="02000000000000000000" pitchFamily="2" charset="0"/>
              </a:rPr>
              <a:t>“</a:t>
            </a:r>
            <a:r>
              <a:rPr lang="en-US" altLang="ja-JP" dirty="0">
                <a:latin typeface="Roboto" panose="02000000000000000000" pitchFamily="2" charset="0"/>
                <a:ea typeface="Roboto" panose="02000000000000000000" pitchFamily="2" charset="0"/>
                <a:cs typeface="Roboto" panose="02000000000000000000" pitchFamily="2" charset="0"/>
              </a:rPr>
              <a:t>Event</a:t>
            </a:r>
            <a:r>
              <a:rPr lang="ja-JP" altLang="en-US" dirty="0">
                <a:latin typeface="Roboto" panose="02000000000000000000" pitchFamily="2" charset="0"/>
                <a:cs typeface="Roboto" panose="02000000000000000000" pitchFamily="2" charset="0"/>
              </a:rPr>
              <a:t>”</a:t>
            </a:r>
            <a:endParaRPr lang="en-US" altLang="en-US" dirty="0">
              <a:latin typeface="Roboto" panose="02000000000000000000" pitchFamily="2" charset="0"/>
              <a:ea typeface="Roboto" panose="02000000000000000000" pitchFamily="2" charset="0"/>
              <a:cs typeface="Roboto" panose="02000000000000000000" pitchFamily="2" charset="0"/>
            </a:endParaRPr>
          </a:p>
        </p:txBody>
      </p:sp>
      <p:sp>
        <p:nvSpPr>
          <p:cNvPr id="13" name="AutoShape 72">
            <a:extLst>
              <a:ext uri="{FF2B5EF4-FFF2-40B4-BE49-F238E27FC236}">
                <a16:creationId xmlns:a16="http://schemas.microsoft.com/office/drawing/2014/main" id="{4285C922-780F-172A-E148-08F808C23BC9}"/>
              </a:ext>
            </a:extLst>
          </p:cNvPr>
          <p:cNvSpPr>
            <a:spLocks noChangeArrowheads="1"/>
          </p:cNvSpPr>
          <p:nvPr/>
        </p:nvSpPr>
        <p:spPr bwMode="auto">
          <a:xfrm>
            <a:off x="371146" y="3753518"/>
            <a:ext cx="1315542" cy="577338"/>
          </a:xfrm>
          <a:prstGeom prst="flowChartDocument">
            <a:avLst/>
          </a:prstGeom>
          <a:solidFill>
            <a:schemeClr val="bg1">
              <a:lumMod val="75000"/>
            </a:schemeClr>
          </a:solidFill>
          <a:ln w="12700" cap="sq">
            <a:solidFill>
              <a:schemeClr val="tx1"/>
            </a:solidFill>
            <a:miter lim="800000"/>
            <a:headEnd type="none" w="sm" len="sm"/>
            <a:tailEnd type="none" w="sm" len="sm"/>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30000"/>
              </a:spcBef>
              <a:spcAft>
                <a:spcPct val="0"/>
              </a:spcAft>
              <a:buClrTx/>
              <a:buSzTx/>
              <a:buFontTx/>
              <a:buNone/>
            </a:pPr>
            <a:r>
              <a:rPr lang="en-US" altLang="en-US" sz="1200" dirty="0">
                <a:latin typeface="Roboto" panose="02000000000000000000" pitchFamily="2" charset="0"/>
                <a:ea typeface="Roboto" panose="02000000000000000000" pitchFamily="2" charset="0"/>
                <a:cs typeface="Roboto" panose="02000000000000000000" pitchFamily="2" charset="0"/>
              </a:rPr>
              <a:t>Future-State</a:t>
            </a:r>
          </a:p>
          <a:p>
            <a:pPr algn="ctr">
              <a:lnSpc>
                <a:spcPct val="100000"/>
              </a:lnSpc>
              <a:spcBef>
                <a:spcPct val="30000"/>
              </a:spcBef>
              <a:spcAft>
                <a:spcPct val="0"/>
              </a:spcAft>
              <a:buClrTx/>
              <a:buSzTx/>
              <a:buFontTx/>
              <a:buNone/>
            </a:pPr>
            <a:r>
              <a:rPr lang="en-US" altLang="en-US" sz="1200" dirty="0">
                <a:latin typeface="Roboto" panose="02000000000000000000" pitchFamily="2" charset="0"/>
                <a:ea typeface="Roboto" panose="02000000000000000000" pitchFamily="2" charset="0"/>
                <a:cs typeface="Roboto" panose="02000000000000000000" pitchFamily="2" charset="0"/>
              </a:rPr>
              <a:t>VSM</a:t>
            </a:r>
          </a:p>
        </p:txBody>
      </p:sp>
      <p:sp>
        <p:nvSpPr>
          <p:cNvPr id="14" name="AutoShape 73">
            <a:extLst>
              <a:ext uri="{FF2B5EF4-FFF2-40B4-BE49-F238E27FC236}">
                <a16:creationId xmlns:a16="http://schemas.microsoft.com/office/drawing/2014/main" id="{A17A1773-637B-C901-022D-FA662EF112B8}"/>
              </a:ext>
            </a:extLst>
          </p:cNvPr>
          <p:cNvSpPr>
            <a:spLocks noChangeArrowheads="1"/>
          </p:cNvSpPr>
          <p:nvPr/>
        </p:nvSpPr>
        <p:spPr bwMode="auto">
          <a:xfrm>
            <a:off x="1904982" y="3225743"/>
            <a:ext cx="1315542" cy="746423"/>
          </a:xfrm>
          <a:prstGeom prst="flowChartDocument">
            <a:avLst/>
          </a:prstGeom>
          <a:solidFill>
            <a:schemeClr val="bg1">
              <a:lumMod val="75000"/>
            </a:schemeClr>
          </a:solidFill>
          <a:ln w="12700" cap="sq">
            <a:solidFill>
              <a:schemeClr val="tx1"/>
            </a:solidFill>
            <a:miter lim="800000"/>
            <a:headEnd type="none" w="sm" len="sm"/>
            <a:tailEnd type="none" w="sm" len="sm"/>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30000"/>
              </a:spcBef>
              <a:spcAft>
                <a:spcPct val="0"/>
              </a:spcAft>
              <a:buClrTx/>
              <a:buSzTx/>
              <a:buFontTx/>
              <a:buNone/>
            </a:pPr>
            <a:r>
              <a:rPr lang="en-US" altLang="en-US" sz="1400" dirty="0">
                <a:latin typeface="Roboto" panose="02000000000000000000" pitchFamily="2" charset="0"/>
                <a:ea typeface="Roboto" panose="02000000000000000000" pitchFamily="2" charset="0"/>
                <a:cs typeface="Roboto" panose="02000000000000000000" pitchFamily="2" charset="0"/>
              </a:rPr>
              <a:t>Value Stream</a:t>
            </a:r>
          </a:p>
          <a:p>
            <a:pPr algn="ctr">
              <a:lnSpc>
                <a:spcPct val="100000"/>
              </a:lnSpc>
              <a:spcBef>
                <a:spcPct val="30000"/>
              </a:spcBef>
              <a:spcAft>
                <a:spcPct val="0"/>
              </a:spcAft>
              <a:buClrTx/>
              <a:buSzTx/>
              <a:buFontTx/>
              <a:buNone/>
            </a:pPr>
            <a:r>
              <a:rPr lang="en-US" altLang="en-US" sz="1400" dirty="0">
                <a:latin typeface="Roboto" panose="02000000000000000000" pitchFamily="2" charset="0"/>
                <a:ea typeface="Roboto" panose="02000000000000000000" pitchFamily="2" charset="0"/>
                <a:cs typeface="Roboto" panose="02000000000000000000" pitchFamily="2" charset="0"/>
              </a:rPr>
              <a:t>Plan</a:t>
            </a:r>
          </a:p>
        </p:txBody>
      </p:sp>
      <p:sp>
        <p:nvSpPr>
          <p:cNvPr id="15" name="Line 74">
            <a:extLst>
              <a:ext uri="{FF2B5EF4-FFF2-40B4-BE49-F238E27FC236}">
                <a16:creationId xmlns:a16="http://schemas.microsoft.com/office/drawing/2014/main" id="{7922B74B-BF9A-4B39-8E26-8BB2C1DEE200}"/>
              </a:ext>
            </a:extLst>
          </p:cNvPr>
          <p:cNvSpPr>
            <a:spLocks noChangeShapeType="1"/>
          </p:cNvSpPr>
          <p:nvPr/>
        </p:nvSpPr>
        <p:spPr bwMode="auto">
          <a:xfrm>
            <a:off x="1685725" y="2973159"/>
            <a:ext cx="328886" cy="288669"/>
          </a:xfrm>
          <a:prstGeom prst="line">
            <a:avLst/>
          </a:prstGeom>
          <a:noFill/>
          <a:ln w="127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6" name="Line 75">
            <a:extLst>
              <a:ext uri="{FF2B5EF4-FFF2-40B4-BE49-F238E27FC236}">
                <a16:creationId xmlns:a16="http://schemas.microsoft.com/office/drawing/2014/main" id="{5B0D3A64-4926-6D16-BC22-D950B924A45A}"/>
              </a:ext>
            </a:extLst>
          </p:cNvPr>
          <p:cNvSpPr>
            <a:spLocks noChangeShapeType="1"/>
          </p:cNvSpPr>
          <p:nvPr/>
        </p:nvSpPr>
        <p:spPr bwMode="auto">
          <a:xfrm>
            <a:off x="1027954" y="2973159"/>
            <a:ext cx="1" cy="770501"/>
          </a:xfrm>
          <a:prstGeom prst="line">
            <a:avLst/>
          </a:prstGeom>
          <a:noFill/>
          <a:ln w="127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25" name="Rectangle 76">
            <a:extLst>
              <a:ext uri="{FF2B5EF4-FFF2-40B4-BE49-F238E27FC236}">
                <a16:creationId xmlns:a16="http://schemas.microsoft.com/office/drawing/2014/main" id="{0E3DF1B1-B93D-801B-B304-9FFA05F3A390}"/>
              </a:ext>
            </a:extLst>
          </p:cNvPr>
          <p:cNvSpPr>
            <a:spLocks noChangeArrowheads="1"/>
          </p:cNvSpPr>
          <p:nvPr/>
        </p:nvSpPr>
        <p:spPr bwMode="auto">
          <a:xfrm>
            <a:off x="3439781" y="2179320"/>
            <a:ext cx="1754056" cy="938174"/>
          </a:xfrm>
          <a:prstGeom prst="rect">
            <a:avLst/>
          </a:prstGeom>
          <a:solidFill>
            <a:schemeClr val="bg1">
              <a:lumMod val="75000"/>
            </a:schemeClr>
          </a:solidFill>
          <a:ln w="12700" cap="sq">
            <a:solidFill>
              <a:schemeClr val="tx1"/>
            </a:solidFill>
            <a:miter lim="800000"/>
            <a:headEnd type="none" w="sm" len="sm"/>
            <a:tailEnd type="none" w="sm" len="sm"/>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30000"/>
              </a:spcBef>
              <a:spcAft>
                <a:spcPct val="0"/>
              </a:spcAft>
              <a:buClrTx/>
              <a:buSzTx/>
              <a:buFontTx/>
              <a:buNone/>
            </a:pPr>
            <a:r>
              <a:rPr lang="en-US" altLang="en-US" sz="1600" dirty="0">
                <a:latin typeface="Roboto" panose="02000000000000000000" pitchFamily="2" charset="0"/>
                <a:ea typeface="Roboto" panose="02000000000000000000" pitchFamily="2" charset="0"/>
                <a:cs typeface="Roboto" panose="02000000000000000000" pitchFamily="2" charset="0"/>
              </a:rPr>
              <a:t>VS Plan</a:t>
            </a:r>
          </a:p>
          <a:p>
            <a:pPr algn="ctr">
              <a:lnSpc>
                <a:spcPct val="100000"/>
              </a:lnSpc>
              <a:spcBef>
                <a:spcPct val="30000"/>
              </a:spcBef>
              <a:spcAft>
                <a:spcPct val="0"/>
              </a:spcAft>
              <a:buClrTx/>
              <a:buSzTx/>
              <a:buFontTx/>
              <a:buNone/>
            </a:pPr>
            <a:r>
              <a:rPr lang="en-US" altLang="en-US" sz="1600" dirty="0">
                <a:latin typeface="Roboto" panose="02000000000000000000" pitchFamily="2" charset="0"/>
                <a:ea typeface="Roboto" panose="02000000000000000000" pitchFamily="2" charset="0"/>
                <a:cs typeface="Roboto" panose="02000000000000000000" pitchFamily="2" charset="0"/>
              </a:rPr>
              <a:t>Implementation</a:t>
            </a:r>
          </a:p>
        </p:txBody>
      </p:sp>
      <p:sp>
        <p:nvSpPr>
          <p:cNvPr id="85" name="Rectangle 77">
            <a:extLst>
              <a:ext uri="{FF2B5EF4-FFF2-40B4-BE49-F238E27FC236}">
                <a16:creationId xmlns:a16="http://schemas.microsoft.com/office/drawing/2014/main" id="{45FB0E91-60B9-EA7A-EACF-1A220584AC18}"/>
              </a:ext>
            </a:extLst>
          </p:cNvPr>
          <p:cNvSpPr>
            <a:spLocks noChangeArrowheads="1"/>
          </p:cNvSpPr>
          <p:nvPr/>
        </p:nvSpPr>
        <p:spPr bwMode="auto">
          <a:xfrm>
            <a:off x="6509380" y="2323654"/>
            <a:ext cx="1534799" cy="649505"/>
          </a:xfrm>
          <a:prstGeom prst="rect">
            <a:avLst/>
          </a:prstGeom>
          <a:solidFill>
            <a:schemeClr val="bg1">
              <a:lumMod val="75000"/>
            </a:schemeClr>
          </a:solidFill>
          <a:ln w="12700" cap="sq">
            <a:solidFill>
              <a:schemeClr val="tx1"/>
            </a:solidFill>
            <a:miter lim="800000"/>
            <a:headEnd type="none" w="sm" len="sm"/>
            <a:tailEnd type="none" w="sm" len="sm"/>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30000"/>
              </a:spcBef>
              <a:spcAft>
                <a:spcPct val="0"/>
              </a:spcAft>
              <a:buClrTx/>
              <a:buSzTx/>
              <a:buFontTx/>
              <a:buNone/>
            </a:pPr>
            <a:r>
              <a:rPr lang="en-US" altLang="en-US" dirty="0">
                <a:latin typeface="Roboto" panose="02000000000000000000" pitchFamily="2" charset="0"/>
                <a:ea typeface="Roboto" panose="02000000000000000000" pitchFamily="2" charset="0"/>
                <a:cs typeface="Roboto" panose="02000000000000000000" pitchFamily="2" charset="0"/>
              </a:rPr>
              <a:t>New VSM </a:t>
            </a:r>
            <a:r>
              <a:rPr lang="ja-JP" altLang="en-US" dirty="0">
                <a:latin typeface="Roboto" panose="02000000000000000000" pitchFamily="2" charset="0"/>
                <a:cs typeface="Roboto" panose="02000000000000000000" pitchFamily="2" charset="0"/>
              </a:rPr>
              <a:t>“</a:t>
            </a:r>
            <a:r>
              <a:rPr lang="en-US" altLang="ja-JP" dirty="0">
                <a:latin typeface="Roboto" panose="02000000000000000000" pitchFamily="2" charset="0"/>
                <a:ea typeface="Roboto" panose="02000000000000000000" pitchFamily="2" charset="0"/>
                <a:cs typeface="Roboto" panose="02000000000000000000" pitchFamily="2" charset="0"/>
              </a:rPr>
              <a:t>Event</a:t>
            </a:r>
            <a:r>
              <a:rPr lang="ja-JP" altLang="en-US" dirty="0">
                <a:latin typeface="Roboto" panose="02000000000000000000" pitchFamily="2" charset="0"/>
                <a:cs typeface="Roboto" panose="02000000000000000000" pitchFamily="2" charset="0"/>
              </a:rPr>
              <a:t>”</a:t>
            </a:r>
            <a:endParaRPr lang="en-US" altLang="en-US" dirty="0">
              <a:latin typeface="Roboto" panose="02000000000000000000" pitchFamily="2" charset="0"/>
              <a:ea typeface="Roboto" panose="02000000000000000000" pitchFamily="2" charset="0"/>
              <a:cs typeface="Roboto" panose="02000000000000000000" pitchFamily="2" charset="0"/>
            </a:endParaRPr>
          </a:p>
        </p:txBody>
      </p:sp>
      <p:sp>
        <p:nvSpPr>
          <p:cNvPr id="86" name="AutoShape 78">
            <a:extLst>
              <a:ext uri="{FF2B5EF4-FFF2-40B4-BE49-F238E27FC236}">
                <a16:creationId xmlns:a16="http://schemas.microsoft.com/office/drawing/2014/main" id="{5357DA67-AA0C-722C-2679-B342CA5F1B62}"/>
              </a:ext>
            </a:extLst>
          </p:cNvPr>
          <p:cNvSpPr>
            <a:spLocks noChangeArrowheads="1"/>
          </p:cNvSpPr>
          <p:nvPr/>
        </p:nvSpPr>
        <p:spPr bwMode="auto">
          <a:xfrm>
            <a:off x="6728637" y="4199959"/>
            <a:ext cx="1315542" cy="649505"/>
          </a:xfrm>
          <a:prstGeom prst="flowChartDocument">
            <a:avLst/>
          </a:prstGeom>
          <a:solidFill>
            <a:schemeClr val="bg1">
              <a:lumMod val="75000"/>
            </a:schemeClr>
          </a:solidFill>
          <a:ln w="12700" cap="sq">
            <a:solidFill>
              <a:schemeClr val="tx1"/>
            </a:solidFill>
            <a:miter lim="800000"/>
            <a:headEnd type="none" w="sm" len="sm"/>
            <a:tailEnd type="none" w="sm" len="sm"/>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30000"/>
              </a:spcBef>
              <a:spcAft>
                <a:spcPct val="0"/>
              </a:spcAft>
              <a:buClrTx/>
              <a:buSzTx/>
              <a:buFontTx/>
              <a:buNone/>
            </a:pPr>
            <a:r>
              <a:rPr lang="en-US" altLang="en-US" sz="1400" dirty="0">
                <a:latin typeface="Roboto" panose="02000000000000000000" pitchFamily="2" charset="0"/>
                <a:ea typeface="Roboto" panose="02000000000000000000" pitchFamily="2" charset="0"/>
                <a:cs typeface="Roboto" panose="02000000000000000000" pitchFamily="2" charset="0"/>
              </a:rPr>
              <a:t>New Future-State VSM</a:t>
            </a:r>
          </a:p>
        </p:txBody>
      </p:sp>
      <p:sp>
        <p:nvSpPr>
          <p:cNvPr id="87" name="AutoShape 79">
            <a:extLst>
              <a:ext uri="{FF2B5EF4-FFF2-40B4-BE49-F238E27FC236}">
                <a16:creationId xmlns:a16="http://schemas.microsoft.com/office/drawing/2014/main" id="{2C31AC6B-50E8-6727-3B71-DD30FF384FC2}"/>
              </a:ext>
            </a:extLst>
          </p:cNvPr>
          <p:cNvSpPr>
            <a:spLocks noChangeArrowheads="1"/>
          </p:cNvSpPr>
          <p:nvPr/>
        </p:nvSpPr>
        <p:spPr bwMode="auto">
          <a:xfrm>
            <a:off x="7167151" y="3117494"/>
            <a:ext cx="1315542" cy="721672"/>
          </a:xfrm>
          <a:prstGeom prst="flowChartDocument">
            <a:avLst/>
          </a:prstGeom>
          <a:solidFill>
            <a:schemeClr val="bg1">
              <a:lumMod val="75000"/>
            </a:schemeClr>
          </a:solidFill>
          <a:ln w="12700" cap="sq">
            <a:solidFill>
              <a:schemeClr val="tx1"/>
            </a:solidFill>
            <a:miter lim="800000"/>
            <a:headEnd type="none" w="sm" len="sm"/>
            <a:tailEnd type="none" w="sm" len="sm"/>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30000"/>
              </a:spcBef>
              <a:spcAft>
                <a:spcPct val="0"/>
              </a:spcAft>
              <a:buClrTx/>
              <a:buSzTx/>
              <a:buFontTx/>
              <a:buNone/>
            </a:pPr>
            <a:r>
              <a:rPr lang="en-US" altLang="en-US" sz="1600" dirty="0">
                <a:latin typeface="Roboto" panose="02000000000000000000" pitchFamily="2" charset="0"/>
                <a:ea typeface="Roboto" panose="02000000000000000000" pitchFamily="2" charset="0"/>
                <a:cs typeface="Roboto" panose="02000000000000000000" pitchFamily="2" charset="0"/>
              </a:rPr>
              <a:t>New Value Stream Plan</a:t>
            </a:r>
          </a:p>
        </p:txBody>
      </p:sp>
      <p:sp>
        <p:nvSpPr>
          <p:cNvPr id="88" name="Line 80">
            <a:extLst>
              <a:ext uri="{FF2B5EF4-FFF2-40B4-BE49-F238E27FC236}">
                <a16:creationId xmlns:a16="http://schemas.microsoft.com/office/drawing/2014/main" id="{721DA978-5665-D703-EBDD-59CC6DAD36B3}"/>
              </a:ext>
            </a:extLst>
          </p:cNvPr>
          <p:cNvSpPr>
            <a:spLocks noChangeShapeType="1"/>
          </p:cNvSpPr>
          <p:nvPr/>
        </p:nvSpPr>
        <p:spPr bwMode="auto">
          <a:xfrm>
            <a:off x="7496036" y="2973159"/>
            <a:ext cx="219257" cy="144334"/>
          </a:xfrm>
          <a:prstGeom prst="line">
            <a:avLst/>
          </a:prstGeom>
          <a:noFill/>
          <a:ln w="127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89" name="Line 81">
            <a:extLst>
              <a:ext uri="{FF2B5EF4-FFF2-40B4-BE49-F238E27FC236}">
                <a16:creationId xmlns:a16="http://schemas.microsoft.com/office/drawing/2014/main" id="{68CAD7AE-CD88-40D4-2B36-BC2179D0504F}"/>
              </a:ext>
            </a:extLst>
          </p:cNvPr>
          <p:cNvSpPr>
            <a:spLocks noChangeShapeType="1"/>
          </p:cNvSpPr>
          <p:nvPr/>
        </p:nvSpPr>
        <p:spPr bwMode="auto">
          <a:xfrm>
            <a:off x="6728637" y="2973159"/>
            <a:ext cx="438513" cy="1226800"/>
          </a:xfrm>
          <a:prstGeom prst="line">
            <a:avLst/>
          </a:prstGeom>
          <a:noFill/>
          <a:ln w="127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cs typeface="Roboto" panose="02000000000000000000" pitchFamily="2" charset="0"/>
            </a:endParaRPr>
          </a:p>
        </p:txBody>
      </p:sp>
      <p:cxnSp>
        <p:nvCxnSpPr>
          <p:cNvPr id="90" name="AutoShape 82">
            <a:extLst>
              <a:ext uri="{FF2B5EF4-FFF2-40B4-BE49-F238E27FC236}">
                <a16:creationId xmlns:a16="http://schemas.microsoft.com/office/drawing/2014/main" id="{9FC6E89B-808C-38D4-5559-9BBD144E9925}"/>
              </a:ext>
            </a:extLst>
          </p:cNvPr>
          <p:cNvCxnSpPr>
            <a:cxnSpLocks noChangeShapeType="1"/>
            <a:stCxn id="12" idx="3"/>
            <a:endCxn id="25" idx="1"/>
          </p:cNvCxnSpPr>
          <p:nvPr/>
        </p:nvCxnSpPr>
        <p:spPr bwMode="auto">
          <a:xfrm>
            <a:off x="2014611" y="2648407"/>
            <a:ext cx="1425171" cy="0"/>
          </a:xfrm>
          <a:prstGeom prst="straightConnector1">
            <a:avLst/>
          </a:prstGeom>
          <a:noFill/>
          <a:ln w="12700" cap="sq">
            <a:solidFill>
              <a:schemeClr val="bg2">
                <a:lumMod val="10000"/>
              </a:schemeClr>
            </a:solidFill>
            <a:round/>
            <a:headEnd type="none" w="sm" len="sm"/>
            <a:tailEnd type="triangle" w="sm" len="sm"/>
          </a:ln>
          <a:extLst>
            <a:ext uri="{909E8E84-426E-40DD-AFC4-6F175D3DCCD1}">
              <a14:hiddenFill xmlns:a14="http://schemas.microsoft.com/office/drawing/2010/main">
                <a:noFill/>
              </a14:hiddenFill>
            </a:ext>
          </a:extLst>
        </p:spPr>
      </p:cxnSp>
      <p:cxnSp>
        <p:nvCxnSpPr>
          <p:cNvPr id="91" name="AutoShape 83">
            <a:extLst>
              <a:ext uri="{FF2B5EF4-FFF2-40B4-BE49-F238E27FC236}">
                <a16:creationId xmlns:a16="http://schemas.microsoft.com/office/drawing/2014/main" id="{59CBB7FA-D4F7-5BEE-2BB2-AE408A33FA54}"/>
              </a:ext>
            </a:extLst>
          </p:cNvPr>
          <p:cNvCxnSpPr>
            <a:cxnSpLocks noChangeShapeType="1"/>
            <a:stCxn id="25" idx="3"/>
            <a:endCxn id="85" idx="1"/>
          </p:cNvCxnSpPr>
          <p:nvPr/>
        </p:nvCxnSpPr>
        <p:spPr bwMode="auto">
          <a:xfrm>
            <a:off x="5193838" y="2648407"/>
            <a:ext cx="1315542" cy="0"/>
          </a:xfrm>
          <a:prstGeom prst="straightConnector1">
            <a:avLst/>
          </a:prstGeom>
          <a:noFill/>
          <a:ln w="12700" cap="sq">
            <a:solidFill>
              <a:schemeClr val="bg2">
                <a:lumMod val="10000"/>
              </a:schemeClr>
            </a:solidFill>
            <a:round/>
            <a:headEnd type="none" w="sm" len="sm"/>
            <a:tailEnd type="triangle" w="sm" len="sm"/>
          </a:ln>
          <a:extLst>
            <a:ext uri="{909E8E84-426E-40DD-AFC4-6F175D3DCCD1}">
              <a14:hiddenFill xmlns:a14="http://schemas.microsoft.com/office/drawing/2010/main">
                <a:noFill/>
              </a14:hiddenFill>
            </a:ext>
          </a:extLst>
        </p:spPr>
      </p:cxnSp>
      <p:cxnSp>
        <p:nvCxnSpPr>
          <p:cNvPr id="92" name="AutoShape 84">
            <a:extLst>
              <a:ext uri="{FF2B5EF4-FFF2-40B4-BE49-F238E27FC236}">
                <a16:creationId xmlns:a16="http://schemas.microsoft.com/office/drawing/2014/main" id="{DA522FF4-3890-0538-704F-CF53D18F56B9}"/>
              </a:ext>
            </a:extLst>
          </p:cNvPr>
          <p:cNvCxnSpPr>
            <a:cxnSpLocks noChangeShapeType="1"/>
            <a:stCxn id="85" idx="3"/>
            <a:endCxn id="97" idx="1"/>
          </p:cNvCxnSpPr>
          <p:nvPr/>
        </p:nvCxnSpPr>
        <p:spPr bwMode="auto">
          <a:xfrm>
            <a:off x="8044179" y="2648407"/>
            <a:ext cx="1427763" cy="6623"/>
          </a:xfrm>
          <a:prstGeom prst="straightConnector1">
            <a:avLst/>
          </a:prstGeom>
          <a:noFill/>
          <a:ln w="12700" cap="sq">
            <a:solidFill>
              <a:schemeClr val="bg2">
                <a:lumMod val="10000"/>
              </a:schemeClr>
            </a:solidFill>
            <a:round/>
            <a:headEnd type="none" w="sm" len="sm"/>
            <a:tailEnd type="triangle" w="sm" len="sm"/>
          </a:ln>
          <a:extLst>
            <a:ext uri="{909E8E84-426E-40DD-AFC4-6F175D3DCCD1}">
              <a14:hiddenFill xmlns:a14="http://schemas.microsoft.com/office/drawing/2010/main">
                <a:noFill/>
              </a14:hiddenFill>
            </a:ext>
          </a:extLst>
        </p:spPr>
      </p:cxnSp>
      <p:sp>
        <p:nvSpPr>
          <p:cNvPr id="93" name="Text Box 87">
            <a:extLst>
              <a:ext uri="{FF2B5EF4-FFF2-40B4-BE49-F238E27FC236}">
                <a16:creationId xmlns:a16="http://schemas.microsoft.com/office/drawing/2014/main" id="{67A32EA8-B658-F324-CB26-D65F316E046E}"/>
              </a:ext>
            </a:extLst>
          </p:cNvPr>
          <p:cNvSpPr txBox="1">
            <a:spLocks noChangeArrowheads="1"/>
          </p:cNvSpPr>
          <p:nvPr/>
        </p:nvSpPr>
        <p:spPr bwMode="auto">
          <a:xfrm>
            <a:off x="3556336" y="3101532"/>
            <a:ext cx="1973313"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30000"/>
              </a:spcBef>
              <a:spcAft>
                <a:spcPct val="0"/>
              </a:spcAft>
              <a:buClrTx/>
              <a:buSzTx/>
              <a:buFontTx/>
              <a:buNone/>
            </a:pPr>
            <a:r>
              <a:rPr lang="en-US" altLang="en-US" sz="1000" b="0" dirty="0">
                <a:latin typeface="Roboto" panose="02000000000000000000" pitchFamily="2" charset="0"/>
                <a:ea typeface="Roboto" panose="02000000000000000000" pitchFamily="2" charset="0"/>
                <a:cs typeface="Roboto" panose="02000000000000000000" pitchFamily="2" charset="0"/>
              </a:rPr>
              <a:t>Kaizen events, other  improvement and transformational activities</a:t>
            </a:r>
          </a:p>
        </p:txBody>
      </p:sp>
      <p:sp>
        <p:nvSpPr>
          <p:cNvPr id="94" name="Rectangle 88">
            <a:extLst>
              <a:ext uri="{FF2B5EF4-FFF2-40B4-BE49-F238E27FC236}">
                <a16:creationId xmlns:a16="http://schemas.microsoft.com/office/drawing/2014/main" id="{156D4D82-3118-CF42-B5EE-627FD891547D}"/>
              </a:ext>
            </a:extLst>
          </p:cNvPr>
          <p:cNvSpPr>
            <a:spLocks noChangeArrowheads="1"/>
          </p:cNvSpPr>
          <p:nvPr/>
        </p:nvSpPr>
        <p:spPr bwMode="auto">
          <a:xfrm>
            <a:off x="2891639" y="4633005"/>
            <a:ext cx="3617741" cy="1262984"/>
          </a:xfrm>
          <a:prstGeom prst="rect">
            <a:avLst/>
          </a:prstGeom>
          <a:solidFill>
            <a:srgbClr val="EE3228"/>
          </a:solidFill>
          <a:ln w="12700" cap="sq">
            <a:solidFill>
              <a:schemeClr val="tx1"/>
            </a:solidFill>
            <a:miter lim="800000"/>
            <a:headEnd type="none" w="sm" len="sm"/>
            <a:tailEnd type="none" w="sm" len="sm"/>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3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Begin implementation of</a:t>
            </a:r>
          </a:p>
          <a:p>
            <a:pPr algn="ctr">
              <a:lnSpc>
                <a:spcPct val="100000"/>
              </a:lnSpc>
              <a:spcBef>
                <a:spcPct val="30000"/>
              </a:spcBef>
              <a:spcAft>
                <a:spcPct val="0"/>
              </a:spcAft>
              <a:buClrTx/>
              <a:buSzTx/>
              <a:buFontTx/>
              <a:buNone/>
            </a:pPr>
            <a:r>
              <a:rPr lang="en-US" altLang="en-US" sz="1600" u="sng" dirty="0">
                <a:solidFill>
                  <a:schemeClr val="bg1"/>
                </a:solidFill>
                <a:latin typeface="Roboto" panose="02000000000000000000" pitchFamily="2" charset="0"/>
                <a:ea typeface="Roboto" panose="02000000000000000000" pitchFamily="2" charset="0"/>
                <a:cs typeface="Roboto" panose="02000000000000000000" pitchFamily="2" charset="0"/>
              </a:rPr>
              <a:t>pacing</a:t>
            </a: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 transformation activities</a:t>
            </a:r>
          </a:p>
          <a:p>
            <a:pPr algn="ctr">
              <a:lnSpc>
                <a:spcPct val="100000"/>
              </a:lnSpc>
              <a:spcBef>
                <a:spcPct val="3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(&gt;6 months) required to achieve </a:t>
            </a:r>
          </a:p>
          <a:p>
            <a:pPr algn="ctr">
              <a:lnSpc>
                <a:spcPct val="100000"/>
              </a:lnSpc>
              <a:spcBef>
                <a:spcPct val="3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long-term </a:t>
            </a:r>
            <a:r>
              <a:rPr lang="ja-JP" altLang="en-US" sz="1600" dirty="0">
                <a:solidFill>
                  <a:schemeClr val="bg1"/>
                </a:solidFill>
                <a:latin typeface="Roboto" panose="02000000000000000000" pitchFamily="2" charset="0"/>
                <a:cs typeface="Roboto" panose="02000000000000000000" pitchFamily="2" charset="0"/>
              </a:rPr>
              <a:t>“</a:t>
            </a:r>
            <a:r>
              <a:rPr lang="en-US" altLang="ja-JP" sz="1600" dirty="0">
                <a:solidFill>
                  <a:schemeClr val="bg1"/>
                </a:solidFill>
                <a:latin typeface="Roboto" panose="02000000000000000000" pitchFamily="2" charset="0"/>
                <a:ea typeface="Roboto" panose="02000000000000000000" pitchFamily="2" charset="0"/>
                <a:cs typeface="Roboto" panose="02000000000000000000" pitchFamily="2" charset="0"/>
              </a:rPr>
              <a:t>vision</a:t>
            </a:r>
            <a:r>
              <a:rPr lang="ja-JP" altLang="en-US" sz="1600" dirty="0">
                <a:solidFill>
                  <a:schemeClr val="bg1"/>
                </a:solidFill>
                <a:latin typeface="Roboto" panose="02000000000000000000" pitchFamily="2" charset="0"/>
                <a:cs typeface="Roboto" panose="02000000000000000000" pitchFamily="2" charset="0"/>
              </a:rPr>
              <a:t>”</a:t>
            </a:r>
            <a:r>
              <a:rPr lang="en-US" altLang="ja-JP" sz="1600" dirty="0">
                <a:solidFill>
                  <a:schemeClr val="bg1"/>
                </a:solidFill>
                <a:latin typeface="Roboto" panose="02000000000000000000" pitchFamily="2" charset="0"/>
                <a:ea typeface="Roboto" panose="02000000000000000000" pitchFamily="2" charset="0"/>
                <a:cs typeface="Roboto" panose="02000000000000000000" pitchFamily="2" charset="0"/>
              </a:rPr>
              <a:t> </a:t>
            </a:r>
            <a:endPar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95" name="AutoShape 89">
            <a:extLst>
              <a:ext uri="{FF2B5EF4-FFF2-40B4-BE49-F238E27FC236}">
                <a16:creationId xmlns:a16="http://schemas.microsoft.com/office/drawing/2014/main" id="{CA67C3E5-E9CC-9A18-70DE-5092214F82E2}"/>
              </a:ext>
            </a:extLst>
          </p:cNvPr>
          <p:cNvSpPr>
            <a:spLocks noChangeArrowheads="1"/>
          </p:cNvSpPr>
          <p:nvPr/>
        </p:nvSpPr>
        <p:spPr bwMode="auto">
          <a:xfrm>
            <a:off x="370402" y="4985687"/>
            <a:ext cx="1315542" cy="577338"/>
          </a:xfrm>
          <a:prstGeom prst="flowChartDocument">
            <a:avLst/>
          </a:prstGeom>
          <a:solidFill>
            <a:srgbClr val="EE3228"/>
          </a:solidFill>
          <a:ln w="12700" cap="sq">
            <a:solidFill>
              <a:schemeClr val="tx1"/>
            </a:solidFill>
            <a:miter lim="800000"/>
            <a:headEnd type="none" w="sm" len="sm"/>
            <a:tailEnd type="none" w="sm" len="sm"/>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3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Long-term</a:t>
            </a:r>
          </a:p>
          <a:p>
            <a:pPr algn="ctr">
              <a:lnSpc>
                <a:spcPct val="100000"/>
              </a:lnSpc>
              <a:spcBef>
                <a:spcPct val="3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Vision</a:t>
            </a:r>
          </a:p>
        </p:txBody>
      </p:sp>
      <p:cxnSp>
        <p:nvCxnSpPr>
          <p:cNvPr id="96" name="AutoShape 90">
            <a:extLst>
              <a:ext uri="{FF2B5EF4-FFF2-40B4-BE49-F238E27FC236}">
                <a16:creationId xmlns:a16="http://schemas.microsoft.com/office/drawing/2014/main" id="{0A4D2904-9646-BD34-6EE0-D17030BF52F2}"/>
              </a:ext>
            </a:extLst>
          </p:cNvPr>
          <p:cNvCxnSpPr>
            <a:cxnSpLocks noChangeShapeType="1"/>
            <a:stCxn id="95" idx="3"/>
            <a:endCxn id="94" idx="1"/>
          </p:cNvCxnSpPr>
          <p:nvPr/>
        </p:nvCxnSpPr>
        <p:spPr bwMode="auto">
          <a:xfrm flipV="1">
            <a:off x="1685944" y="5264497"/>
            <a:ext cx="1205695" cy="9859"/>
          </a:xfrm>
          <a:prstGeom prst="straightConnector1">
            <a:avLst/>
          </a:prstGeom>
          <a:noFill/>
          <a:ln w="12700" cap="sq">
            <a:solidFill>
              <a:schemeClr val="tx1"/>
            </a:solidFill>
            <a:round/>
            <a:headEnd type="none" w="sm" len="sm"/>
            <a:tailEnd type="triangle" w="sm" len="sm"/>
          </a:ln>
          <a:extLst>
            <a:ext uri="{909E8E84-426E-40DD-AFC4-6F175D3DCCD1}">
              <a14:hiddenFill xmlns:a14="http://schemas.microsoft.com/office/drawing/2010/main">
                <a:noFill/>
              </a14:hiddenFill>
            </a:ext>
          </a:extLst>
        </p:spPr>
      </p:cxnSp>
      <p:sp>
        <p:nvSpPr>
          <p:cNvPr id="97" name="AutoShape 91">
            <a:extLst>
              <a:ext uri="{FF2B5EF4-FFF2-40B4-BE49-F238E27FC236}">
                <a16:creationId xmlns:a16="http://schemas.microsoft.com/office/drawing/2014/main" id="{A1283D5F-BE88-BB0D-BE9B-31292BA9B001}"/>
              </a:ext>
            </a:extLst>
          </p:cNvPr>
          <p:cNvSpPr>
            <a:spLocks noChangeArrowheads="1"/>
          </p:cNvSpPr>
          <p:nvPr/>
        </p:nvSpPr>
        <p:spPr bwMode="auto">
          <a:xfrm>
            <a:off x="9471942" y="2084315"/>
            <a:ext cx="2192570" cy="1141429"/>
          </a:xfrm>
          <a:prstGeom prst="flowChartAlternateProcess">
            <a:avLst/>
          </a:prstGeom>
          <a:solidFill>
            <a:srgbClr val="EE3228"/>
          </a:solidFill>
          <a:ln w="12700" cap="sq">
            <a:solidFill>
              <a:schemeClr val="tx1"/>
            </a:solidFill>
            <a:miter lim="800000"/>
            <a:headEnd type="none" w="sm" len="sm"/>
            <a:tailEnd type="none" w="sm" len="sm"/>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30000"/>
              </a:spcBef>
              <a:spcAft>
                <a:spcPct val="0"/>
              </a:spcAft>
              <a:buClrTx/>
              <a:buSzTx/>
              <a:buFontTx/>
              <a:buNone/>
            </a:pPr>
            <a:r>
              <a:rPr lang="en-US" altLang="en-US" sz="1400" dirty="0">
                <a:solidFill>
                  <a:schemeClr val="bg1"/>
                </a:solidFill>
                <a:latin typeface="Roboto" panose="02000000000000000000" pitchFamily="2" charset="0"/>
                <a:ea typeface="Roboto" panose="02000000000000000000" pitchFamily="2" charset="0"/>
                <a:cs typeface="Roboto" panose="02000000000000000000" pitchFamily="2" charset="0"/>
              </a:rPr>
              <a:t>Convergence</a:t>
            </a:r>
          </a:p>
          <a:p>
            <a:pPr algn="ctr">
              <a:lnSpc>
                <a:spcPct val="100000"/>
              </a:lnSpc>
              <a:spcBef>
                <a:spcPct val="30000"/>
              </a:spcBef>
              <a:spcAft>
                <a:spcPct val="0"/>
              </a:spcAft>
              <a:buClrTx/>
              <a:buSzTx/>
              <a:buFontTx/>
              <a:buNone/>
            </a:pPr>
            <a:r>
              <a:rPr lang="en-US" altLang="en-US" sz="1400" dirty="0">
                <a:solidFill>
                  <a:schemeClr val="bg1"/>
                </a:solidFill>
                <a:latin typeface="Roboto" panose="02000000000000000000" pitchFamily="2" charset="0"/>
                <a:ea typeface="Roboto" panose="02000000000000000000" pitchFamily="2" charset="0"/>
                <a:cs typeface="Roboto" panose="02000000000000000000" pitchFamily="2" charset="0"/>
              </a:rPr>
              <a:t>of future VSM and </a:t>
            </a:r>
          </a:p>
          <a:p>
            <a:pPr algn="ctr">
              <a:lnSpc>
                <a:spcPct val="100000"/>
              </a:lnSpc>
              <a:spcBef>
                <a:spcPct val="30000"/>
              </a:spcBef>
              <a:spcAft>
                <a:spcPct val="0"/>
              </a:spcAft>
              <a:buClrTx/>
              <a:buSzTx/>
              <a:buFontTx/>
              <a:buNone/>
            </a:pPr>
            <a:r>
              <a:rPr lang="en-US" altLang="en-US" sz="1400" dirty="0">
                <a:solidFill>
                  <a:schemeClr val="bg1"/>
                </a:solidFill>
                <a:latin typeface="Roboto" panose="02000000000000000000" pitchFamily="2" charset="0"/>
                <a:ea typeface="Roboto" panose="02000000000000000000" pitchFamily="2" charset="0"/>
                <a:cs typeface="Roboto" panose="02000000000000000000" pitchFamily="2" charset="0"/>
              </a:rPr>
              <a:t>long-term </a:t>
            </a:r>
            <a:r>
              <a:rPr lang="ja-JP" altLang="en-US" sz="1400" dirty="0">
                <a:solidFill>
                  <a:schemeClr val="bg1"/>
                </a:solidFill>
                <a:latin typeface="Roboto" panose="02000000000000000000" pitchFamily="2" charset="0"/>
                <a:cs typeface="Roboto" panose="02000000000000000000" pitchFamily="2" charset="0"/>
              </a:rPr>
              <a:t>“</a:t>
            </a:r>
            <a:r>
              <a:rPr lang="en-US" altLang="ja-JP" sz="1400" dirty="0">
                <a:solidFill>
                  <a:schemeClr val="bg1"/>
                </a:solidFill>
                <a:latin typeface="Roboto" panose="02000000000000000000" pitchFamily="2" charset="0"/>
                <a:ea typeface="Roboto" panose="02000000000000000000" pitchFamily="2" charset="0"/>
                <a:cs typeface="Roboto" panose="02000000000000000000" pitchFamily="2" charset="0"/>
              </a:rPr>
              <a:t>Vision</a:t>
            </a:r>
            <a:r>
              <a:rPr lang="ja-JP" altLang="en-US" sz="1400" dirty="0">
                <a:solidFill>
                  <a:schemeClr val="bg1"/>
                </a:solidFill>
                <a:latin typeface="Roboto" panose="02000000000000000000" pitchFamily="2" charset="0"/>
                <a:cs typeface="Roboto" panose="02000000000000000000" pitchFamily="2" charset="0"/>
              </a:rPr>
              <a:t>”</a:t>
            </a:r>
            <a:endParaRPr lang="en-US" altLang="ja-JP" sz="1400" dirty="0">
              <a:solidFill>
                <a:schemeClr val="bg1"/>
              </a:solidFill>
              <a:latin typeface="Roboto" panose="02000000000000000000" pitchFamily="2" charset="0"/>
              <a:ea typeface="Roboto" panose="02000000000000000000" pitchFamily="2" charset="0"/>
              <a:cs typeface="Roboto" panose="02000000000000000000" pitchFamily="2" charset="0"/>
            </a:endParaRPr>
          </a:p>
          <a:p>
            <a:pPr algn="ctr">
              <a:lnSpc>
                <a:spcPct val="100000"/>
              </a:lnSpc>
              <a:spcBef>
                <a:spcPct val="30000"/>
              </a:spcBef>
              <a:spcAft>
                <a:spcPct val="0"/>
              </a:spcAft>
              <a:buClrTx/>
              <a:buSzTx/>
              <a:buFontTx/>
              <a:buNone/>
            </a:pPr>
            <a:r>
              <a:rPr lang="en-US" altLang="en-US" sz="1400" dirty="0">
                <a:solidFill>
                  <a:schemeClr val="bg1"/>
                </a:solidFill>
                <a:latin typeface="Roboto" panose="02000000000000000000" pitchFamily="2" charset="0"/>
                <a:ea typeface="Roboto" panose="02000000000000000000" pitchFamily="2" charset="0"/>
                <a:cs typeface="Roboto" panose="02000000000000000000" pitchFamily="2" charset="0"/>
              </a:rPr>
              <a:t>transformation</a:t>
            </a:r>
          </a:p>
        </p:txBody>
      </p:sp>
      <p:cxnSp>
        <p:nvCxnSpPr>
          <p:cNvPr id="98" name="AutoShape 92">
            <a:extLst>
              <a:ext uri="{FF2B5EF4-FFF2-40B4-BE49-F238E27FC236}">
                <a16:creationId xmlns:a16="http://schemas.microsoft.com/office/drawing/2014/main" id="{0C35D3D5-83E6-4765-FB3B-8F82E8466166}"/>
              </a:ext>
            </a:extLst>
          </p:cNvPr>
          <p:cNvCxnSpPr>
            <a:cxnSpLocks noChangeShapeType="1"/>
            <a:stCxn id="94" idx="3"/>
            <a:endCxn id="97" idx="2"/>
          </p:cNvCxnSpPr>
          <p:nvPr/>
        </p:nvCxnSpPr>
        <p:spPr bwMode="auto">
          <a:xfrm flipV="1">
            <a:off x="6509380" y="3225744"/>
            <a:ext cx="4058847" cy="2038753"/>
          </a:xfrm>
          <a:prstGeom prst="bentConnector2">
            <a:avLst/>
          </a:prstGeom>
          <a:noFill/>
          <a:ln w="12700" cap="sq">
            <a:solidFill>
              <a:schemeClr val="bg2">
                <a:lumMod val="10000"/>
              </a:schemeClr>
            </a:solidFill>
            <a:miter lim="800000"/>
            <a:headEnd type="none" w="sm" len="sm"/>
            <a:tailEnd type="triangle" w="sm" len="sm"/>
          </a:ln>
          <a:extLst>
            <a:ext uri="{909E8E84-426E-40DD-AFC4-6F175D3DCCD1}">
              <a14:hiddenFill xmlns:a14="http://schemas.microsoft.com/office/drawing/2010/main">
                <a:noFill/>
              </a14:hiddenFill>
            </a:ext>
          </a:extLst>
        </p:spPr>
      </p:cxnSp>
      <p:cxnSp>
        <p:nvCxnSpPr>
          <p:cNvPr id="99" name="AutoShape 93">
            <a:extLst>
              <a:ext uri="{FF2B5EF4-FFF2-40B4-BE49-F238E27FC236}">
                <a16:creationId xmlns:a16="http://schemas.microsoft.com/office/drawing/2014/main" id="{C504B3DF-F920-965B-DE6A-07A940BC0C92}"/>
              </a:ext>
            </a:extLst>
          </p:cNvPr>
          <p:cNvCxnSpPr>
            <a:cxnSpLocks noChangeShapeType="1"/>
            <a:stCxn id="13" idx="2"/>
            <a:endCxn id="95" idx="0"/>
          </p:cNvCxnSpPr>
          <p:nvPr/>
        </p:nvCxnSpPr>
        <p:spPr bwMode="auto">
          <a:xfrm flipH="1">
            <a:off x="1028173" y="4292688"/>
            <a:ext cx="744" cy="692999"/>
          </a:xfrm>
          <a:prstGeom prst="straightConnector1">
            <a:avLst/>
          </a:prstGeom>
          <a:noFill/>
          <a:ln w="127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cxnSp>
      <p:grpSp>
        <p:nvGrpSpPr>
          <p:cNvPr id="100" name="Group 94">
            <a:extLst>
              <a:ext uri="{FF2B5EF4-FFF2-40B4-BE49-F238E27FC236}">
                <a16:creationId xmlns:a16="http://schemas.microsoft.com/office/drawing/2014/main" id="{AA62DA55-DFA2-21BC-64C6-24BFA09F96D3}"/>
              </a:ext>
            </a:extLst>
          </p:cNvPr>
          <p:cNvGrpSpPr>
            <a:grpSpLocks/>
          </p:cNvGrpSpPr>
          <p:nvPr/>
        </p:nvGrpSpPr>
        <p:grpSpPr bwMode="auto">
          <a:xfrm>
            <a:off x="8647136" y="2540156"/>
            <a:ext cx="219257" cy="216502"/>
            <a:chOff x="4056" y="1968"/>
            <a:chExt cx="96" cy="144"/>
          </a:xfrm>
        </p:grpSpPr>
        <p:sp>
          <p:nvSpPr>
            <p:cNvPr id="105" name="Rectangle 95">
              <a:extLst>
                <a:ext uri="{FF2B5EF4-FFF2-40B4-BE49-F238E27FC236}">
                  <a16:creationId xmlns:a16="http://schemas.microsoft.com/office/drawing/2014/main" id="{6714DBE1-5030-65B8-3B99-92F3F019C393}"/>
                </a:ext>
              </a:extLst>
            </p:cNvPr>
            <p:cNvSpPr>
              <a:spLocks noChangeArrowheads="1"/>
            </p:cNvSpPr>
            <p:nvPr/>
          </p:nvSpPr>
          <p:spPr bwMode="auto">
            <a:xfrm>
              <a:off x="4080" y="1968"/>
              <a:ext cx="48" cy="144"/>
            </a:xfrm>
            <a:prstGeom prst="rect">
              <a:avLst/>
            </a:prstGeom>
            <a:solidFill>
              <a:srgbClr val="222222"/>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06" name="Line 96">
              <a:extLst>
                <a:ext uri="{FF2B5EF4-FFF2-40B4-BE49-F238E27FC236}">
                  <a16:creationId xmlns:a16="http://schemas.microsoft.com/office/drawing/2014/main" id="{60318210-1235-8BCB-7387-103D2AF58A31}"/>
                </a:ext>
              </a:extLst>
            </p:cNvPr>
            <p:cNvSpPr>
              <a:spLocks noChangeShapeType="1"/>
            </p:cNvSpPr>
            <p:nvPr/>
          </p:nvSpPr>
          <p:spPr bwMode="auto">
            <a:xfrm flipH="1">
              <a:off x="4056" y="1968"/>
              <a:ext cx="48" cy="144"/>
            </a:xfrm>
            <a:prstGeom prst="line">
              <a:avLst/>
            </a:prstGeom>
            <a:noFill/>
            <a:ln w="12700" cap="sq">
              <a:solidFill>
                <a:srgbClr val="EE3228"/>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07" name="Line 97">
              <a:extLst>
                <a:ext uri="{FF2B5EF4-FFF2-40B4-BE49-F238E27FC236}">
                  <a16:creationId xmlns:a16="http://schemas.microsoft.com/office/drawing/2014/main" id="{0FD965E2-C4E4-C3E7-F70F-FF57C5F4F56F}"/>
                </a:ext>
              </a:extLst>
            </p:cNvPr>
            <p:cNvSpPr>
              <a:spLocks noChangeShapeType="1"/>
            </p:cNvSpPr>
            <p:nvPr/>
          </p:nvSpPr>
          <p:spPr bwMode="auto">
            <a:xfrm flipH="1">
              <a:off x="4104" y="1968"/>
              <a:ext cx="48" cy="144"/>
            </a:xfrm>
            <a:prstGeom prst="line">
              <a:avLst/>
            </a:prstGeom>
            <a:noFill/>
            <a:ln w="12700" cap="sq">
              <a:solidFill>
                <a:srgbClr val="EE3228"/>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dirty="0">
                <a:latin typeface="Roboto" panose="02000000000000000000" pitchFamily="2" charset="0"/>
                <a:ea typeface="Roboto" panose="02000000000000000000" pitchFamily="2" charset="0"/>
                <a:cs typeface="Roboto" panose="02000000000000000000" pitchFamily="2" charset="0"/>
              </a:endParaRPr>
            </a:p>
          </p:txBody>
        </p:sp>
      </p:grpSp>
      <p:sp>
        <p:nvSpPr>
          <p:cNvPr id="101" name="Line 27">
            <a:extLst>
              <a:ext uri="{FF2B5EF4-FFF2-40B4-BE49-F238E27FC236}">
                <a16:creationId xmlns:a16="http://schemas.microsoft.com/office/drawing/2014/main" id="{143B30A5-3759-B2E1-A6EA-FC3DB568A7A7}"/>
              </a:ext>
            </a:extLst>
          </p:cNvPr>
          <p:cNvSpPr>
            <a:spLocks noChangeShapeType="1"/>
          </p:cNvSpPr>
          <p:nvPr/>
        </p:nvSpPr>
        <p:spPr bwMode="auto">
          <a:xfrm flipV="1">
            <a:off x="1980351" y="1880127"/>
            <a:ext cx="4385140" cy="0"/>
          </a:xfrm>
          <a:prstGeom prst="line">
            <a:avLst/>
          </a:prstGeom>
          <a:noFill/>
          <a:ln w="28575" cap="sq">
            <a:solidFill>
              <a:schemeClr val="tx1"/>
            </a:solidFill>
            <a:round/>
            <a:headEnd type="triangle" w="med" len="med"/>
            <a:tailEnd type="triangle" w="med" len="med"/>
          </a:ln>
        </p:spPr>
        <p:txBody>
          <a:bodyPr wrap="none"/>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02" name="Text Box 28">
            <a:extLst>
              <a:ext uri="{FF2B5EF4-FFF2-40B4-BE49-F238E27FC236}">
                <a16:creationId xmlns:a16="http://schemas.microsoft.com/office/drawing/2014/main" id="{3CDE5265-2E19-39C2-BFE7-001481E1E7FD}"/>
              </a:ext>
            </a:extLst>
          </p:cNvPr>
          <p:cNvSpPr txBox="1">
            <a:spLocks noChangeArrowheads="1"/>
          </p:cNvSpPr>
          <p:nvPr/>
        </p:nvSpPr>
        <p:spPr bwMode="auto">
          <a:xfrm>
            <a:off x="2907565" y="1592950"/>
            <a:ext cx="2533801" cy="523220"/>
          </a:xfrm>
          <a:prstGeom prst="rect">
            <a:avLst/>
          </a:prstGeom>
          <a:solidFill>
            <a:srgbClr val="EE3228"/>
          </a:solidFill>
          <a:ln w="12700" cap="sq">
            <a:solidFill>
              <a:schemeClr val="tx1"/>
            </a:solidFill>
            <a:miter lim="800000"/>
            <a:headEnd type="none" w="sm" len="sm"/>
            <a:tailEnd type="none" w="sm" len="sm"/>
          </a:ln>
        </p:spPr>
        <p:txBody>
          <a:bodyPr wrap="squar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Aft>
                <a:spcPct val="0"/>
              </a:spcAft>
              <a:buClrTx/>
              <a:buSzTx/>
              <a:buFontTx/>
              <a:buNone/>
            </a:pPr>
            <a:r>
              <a:rPr lang="en-US" altLang="en-US" sz="1400" dirty="0">
                <a:latin typeface="Roboto" panose="02000000000000000000" pitchFamily="2" charset="0"/>
                <a:ea typeface="Roboto" panose="02000000000000000000" pitchFamily="2" charset="0"/>
                <a:cs typeface="Roboto" panose="02000000000000000000" pitchFamily="2" charset="0"/>
              </a:rPr>
              <a:t>Approx. ½ of time span from now to Future State</a:t>
            </a:r>
          </a:p>
        </p:txBody>
      </p:sp>
      <p:sp>
        <p:nvSpPr>
          <p:cNvPr id="103" name="Line 40">
            <a:extLst>
              <a:ext uri="{FF2B5EF4-FFF2-40B4-BE49-F238E27FC236}">
                <a16:creationId xmlns:a16="http://schemas.microsoft.com/office/drawing/2014/main" id="{B79306EE-78EE-8282-5E15-803336032E07}"/>
              </a:ext>
            </a:extLst>
          </p:cNvPr>
          <p:cNvSpPr>
            <a:spLocks noChangeShapeType="1"/>
          </p:cNvSpPr>
          <p:nvPr/>
        </p:nvSpPr>
        <p:spPr bwMode="auto">
          <a:xfrm>
            <a:off x="1980351" y="1690688"/>
            <a:ext cx="0" cy="360836"/>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04" name="Line 41">
            <a:extLst>
              <a:ext uri="{FF2B5EF4-FFF2-40B4-BE49-F238E27FC236}">
                <a16:creationId xmlns:a16="http://schemas.microsoft.com/office/drawing/2014/main" id="{6E571F02-AC05-4A84-89F6-E388C315E5B6}"/>
              </a:ext>
            </a:extLst>
          </p:cNvPr>
          <p:cNvSpPr>
            <a:spLocks noChangeShapeType="1"/>
          </p:cNvSpPr>
          <p:nvPr/>
        </p:nvSpPr>
        <p:spPr bwMode="auto">
          <a:xfrm>
            <a:off x="6365492" y="1690688"/>
            <a:ext cx="0" cy="360836"/>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7" name="Title 1">
            <a:extLst>
              <a:ext uri="{FF2B5EF4-FFF2-40B4-BE49-F238E27FC236}">
                <a16:creationId xmlns:a16="http://schemas.microsoft.com/office/drawing/2014/main" id="{B4A3F4F9-1B8C-AB06-2F79-99DB085E35DB}"/>
              </a:ext>
            </a:extLst>
          </p:cNvPr>
          <p:cNvSpPr txBox="1">
            <a:spLocks/>
          </p:cNvSpPr>
          <p:nvPr/>
        </p:nvSpPr>
        <p:spPr>
          <a:xfrm>
            <a:off x="699910" y="681038"/>
            <a:ext cx="9815689" cy="1009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endParaRPr lang="en-US" dirty="0"/>
          </a:p>
        </p:txBody>
      </p:sp>
      <p:sp>
        <p:nvSpPr>
          <p:cNvPr id="29" name="TextBox 28">
            <a:extLst>
              <a:ext uri="{FF2B5EF4-FFF2-40B4-BE49-F238E27FC236}">
                <a16:creationId xmlns:a16="http://schemas.microsoft.com/office/drawing/2014/main" id="{0868535D-DC26-D319-55DC-7142700B2EF2}"/>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Lean Fundamentals</a:t>
            </a:r>
          </a:p>
        </p:txBody>
      </p:sp>
      <p:sp>
        <p:nvSpPr>
          <p:cNvPr id="2" name="AutoShape 9">
            <a:extLst>
              <a:ext uri="{FF2B5EF4-FFF2-40B4-BE49-F238E27FC236}">
                <a16:creationId xmlns:a16="http://schemas.microsoft.com/office/drawing/2014/main" id="{F288938A-1F0C-A93F-532B-D1BD929392ED}"/>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3" name="AutoShape 11">
            <a:extLst>
              <a:ext uri="{FF2B5EF4-FFF2-40B4-BE49-F238E27FC236}">
                <a16:creationId xmlns:a16="http://schemas.microsoft.com/office/drawing/2014/main" id="{10E63972-D89E-92B7-8F73-9F47D43C8F9E}"/>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6" name="AutoShape 10">
            <a:extLst>
              <a:ext uri="{FF2B5EF4-FFF2-40B4-BE49-F238E27FC236}">
                <a16:creationId xmlns:a16="http://schemas.microsoft.com/office/drawing/2014/main" id="{53962819-5516-6404-5955-DD3C88504DD5}"/>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Tree>
    <p:extLst>
      <p:ext uri="{BB962C8B-B14F-4D97-AF65-F5344CB8AC3E}">
        <p14:creationId xmlns:p14="http://schemas.microsoft.com/office/powerpoint/2010/main" val="32690934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itle 24">
            <a:extLst>
              <a:ext uri="{FF2B5EF4-FFF2-40B4-BE49-F238E27FC236}">
                <a16:creationId xmlns:a16="http://schemas.microsoft.com/office/drawing/2014/main" id="{3FF83368-1E6F-DD48-B3B7-84492632A931}"/>
              </a:ext>
            </a:extLst>
          </p:cNvPr>
          <p:cNvSpPr>
            <a:spLocks noGrp="1"/>
          </p:cNvSpPr>
          <p:nvPr>
            <p:ph type="title"/>
          </p:nvPr>
        </p:nvSpPr>
        <p:spPr/>
        <p:txBody>
          <a:bodyPr>
            <a:normAutofit/>
          </a:bodyPr>
          <a:lstStyle/>
          <a:p>
            <a:r>
              <a:rPr lang="en-US" sz="4000" dirty="0">
                <a:latin typeface="Roboto Medium"/>
                <a:ea typeface="Roboto Medium"/>
                <a:cs typeface="Roboto Medium"/>
              </a:rPr>
              <a:t>Core Lean Concepts</a:t>
            </a:r>
          </a:p>
        </p:txBody>
      </p:sp>
      <p:sp>
        <p:nvSpPr>
          <p:cNvPr id="4" name="Footer Placeholder 3">
            <a:extLst>
              <a:ext uri="{FF2B5EF4-FFF2-40B4-BE49-F238E27FC236}">
                <a16:creationId xmlns:a16="http://schemas.microsoft.com/office/drawing/2014/main" id="{CB1F8C30-D81C-1E27-D266-2BC421C72FD6}"/>
              </a:ext>
            </a:extLst>
          </p:cNvPr>
          <p:cNvSpPr>
            <a:spLocks noGrp="1"/>
          </p:cNvSpPr>
          <p:nvPr>
            <p:ph type="ftr" sz="quarter" idx="11"/>
          </p:nvPr>
        </p:nvSpPr>
        <p:spPr/>
        <p:txBody>
          <a:bodyPr/>
          <a:lstStyle/>
          <a:p>
            <a:r>
              <a:rPr lang="en-US"/>
              <a:t>© Lean Horizons Consulting, LLC 2023. All Rights Reserved</a:t>
            </a:r>
            <a:endParaRPr lang="en-US" dirty="0"/>
          </a:p>
        </p:txBody>
      </p:sp>
      <p:sp>
        <p:nvSpPr>
          <p:cNvPr id="5" name="Slide Number Placeholder 4">
            <a:extLst>
              <a:ext uri="{FF2B5EF4-FFF2-40B4-BE49-F238E27FC236}">
                <a16:creationId xmlns:a16="http://schemas.microsoft.com/office/drawing/2014/main" id="{1AA34B74-93DA-5F21-CF4A-77FE692D026C}"/>
              </a:ext>
            </a:extLst>
          </p:cNvPr>
          <p:cNvSpPr>
            <a:spLocks noGrp="1"/>
          </p:cNvSpPr>
          <p:nvPr>
            <p:ph type="sldNum" sz="quarter" idx="12"/>
          </p:nvPr>
        </p:nvSpPr>
        <p:spPr/>
        <p:txBody>
          <a:bodyPr/>
          <a:lstStyle/>
          <a:p>
            <a:fld id="{CC6D4273-7FC1-0947-B9FE-19CB3C0D1FB6}" type="slidenum">
              <a:rPr lang="en-US" smtClean="0"/>
              <a:t>27</a:t>
            </a:fld>
            <a:endParaRPr lang="en-US"/>
          </a:p>
        </p:txBody>
      </p:sp>
      <p:grpSp>
        <p:nvGrpSpPr>
          <p:cNvPr id="11" name="Group 10">
            <a:extLst>
              <a:ext uri="{FF2B5EF4-FFF2-40B4-BE49-F238E27FC236}">
                <a16:creationId xmlns:a16="http://schemas.microsoft.com/office/drawing/2014/main" id="{C67C5071-808E-C71E-D2AF-8FF15DEE27A2}"/>
              </a:ext>
            </a:extLst>
          </p:cNvPr>
          <p:cNvGrpSpPr/>
          <p:nvPr/>
        </p:nvGrpSpPr>
        <p:grpSpPr>
          <a:xfrm>
            <a:off x="940249" y="1883886"/>
            <a:ext cx="5722970" cy="3597684"/>
            <a:chOff x="1888435" y="3868398"/>
            <a:chExt cx="10972800" cy="7263723"/>
          </a:xfrm>
        </p:grpSpPr>
        <p:sp>
          <p:nvSpPr>
            <p:cNvPr id="12" name="Rectangle 11">
              <a:extLst>
                <a:ext uri="{FF2B5EF4-FFF2-40B4-BE49-F238E27FC236}">
                  <a16:creationId xmlns:a16="http://schemas.microsoft.com/office/drawing/2014/main" id="{B0B54629-2D9F-D857-EE31-4C21CDD2E4A2}"/>
                </a:ext>
              </a:extLst>
            </p:cNvPr>
            <p:cNvSpPr>
              <a:spLocks/>
            </p:cNvSpPr>
            <p:nvPr/>
          </p:nvSpPr>
          <p:spPr>
            <a:xfrm>
              <a:off x="1888435" y="3868398"/>
              <a:ext cx="10972800" cy="914401"/>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lvl="2"/>
              <a:r>
                <a:rPr lang="en-US" sz="28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Specify</a:t>
              </a:r>
              <a:r>
                <a:rPr lang="en-US" sz="2800" dirty="0">
                  <a:latin typeface="Roboto" panose="02000000000000000000" pitchFamily="2" charset="0"/>
                  <a:ea typeface="Roboto" panose="02000000000000000000" pitchFamily="2" charset="0"/>
                  <a:cs typeface="Roboto" panose="02000000000000000000" pitchFamily="2" charset="0"/>
                  <a:sym typeface="Roboto"/>
                </a:rPr>
                <a:t> </a:t>
              </a:r>
              <a:r>
                <a:rPr lang="en-US" sz="28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Value</a:t>
              </a:r>
            </a:p>
          </p:txBody>
        </p:sp>
        <p:sp>
          <p:nvSpPr>
            <p:cNvPr id="13" name="Rectangle 12">
              <a:extLst>
                <a:ext uri="{FF2B5EF4-FFF2-40B4-BE49-F238E27FC236}">
                  <a16:creationId xmlns:a16="http://schemas.microsoft.com/office/drawing/2014/main" id="{DF4EAF32-E1A1-D4A2-9FCD-515A5F96DE04}"/>
                </a:ext>
              </a:extLst>
            </p:cNvPr>
            <p:cNvSpPr>
              <a:spLocks/>
            </p:cNvSpPr>
            <p:nvPr/>
          </p:nvSpPr>
          <p:spPr>
            <a:xfrm>
              <a:off x="1888435" y="5459481"/>
              <a:ext cx="10972800" cy="914401"/>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defTabSz="584200" hangingPunct="0"/>
              <a:r>
                <a:rPr lang="en-US" sz="28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Identify the Value Stream</a:t>
              </a:r>
            </a:p>
          </p:txBody>
        </p:sp>
        <p:sp>
          <p:nvSpPr>
            <p:cNvPr id="14" name="Rectangle 13">
              <a:extLst>
                <a:ext uri="{FF2B5EF4-FFF2-40B4-BE49-F238E27FC236}">
                  <a16:creationId xmlns:a16="http://schemas.microsoft.com/office/drawing/2014/main" id="{FBE3767D-7BA2-9FC1-934C-8354A66E63AC}"/>
                </a:ext>
              </a:extLst>
            </p:cNvPr>
            <p:cNvSpPr>
              <a:spLocks/>
            </p:cNvSpPr>
            <p:nvPr/>
          </p:nvSpPr>
          <p:spPr>
            <a:xfrm>
              <a:off x="1888435" y="7045561"/>
              <a:ext cx="10972800" cy="914401"/>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r>
                <a:rPr lang="en-US" sz="28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Flow</a:t>
              </a:r>
            </a:p>
          </p:txBody>
        </p:sp>
        <p:sp>
          <p:nvSpPr>
            <p:cNvPr id="15" name="Rectangle 14">
              <a:extLst>
                <a:ext uri="{FF2B5EF4-FFF2-40B4-BE49-F238E27FC236}">
                  <a16:creationId xmlns:a16="http://schemas.microsoft.com/office/drawing/2014/main" id="{D87C53B4-48B2-AD29-AFD8-1C5B6871B984}"/>
                </a:ext>
              </a:extLst>
            </p:cNvPr>
            <p:cNvSpPr/>
            <p:nvPr/>
          </p:nvSpPr>
          <p:spPr>
            <a:xfrm>
              <a:off x="1888435" y="8631640"/>
              <a:ext cx="10972800" cy="914401"/>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Pull</a:t>
              </a:r>
            </a:p>
          </p:txBody>
        </p:sp>
        <p:sp>
          <p:nvSpPr>
            <p:cNvPr id="16" name="Rectangle 15">
              <a:extLst>
                <a:ext uri="{FF2B5EF4-FFF2-40B4-BE49-F238E27FC236}">
                  <a16:creationId xmlns:a16="http://schemas.microsoft.com/office/drawing/2014/main" id="{589CEA7D-9312-9D7A-0D93-C8AE0124D074}"/>
                </a:ext>
              </a:extLst>
            </p:cNvPr>
            <p:cNvSpPr>
              <a:spLocks/>
            </p:cNvSpPr>
            <p:nvPr/>
          </p:nvSpPr>
          <p:spPr>
            <a:xfrm>
              <a:off x="1888435" y="10217720"/>
              <a:ext cx="10972800" cy="914401"/>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Perfection</a:t>
              </a:r>
            </a:p>
          </p:txBody>
        </p:sp>
      </p:grpSp>
      <p:sp>
        <p:nvSpPr>
          <p:cNvPr id="20" name="Title 1">
            <a:extLst>
              <a:ext uri="{FF2B5EF4-FFF2-40B4-BE49-F238E27FC236}">
                <a16:creationId xmlns:a16="http://schemas.microsoft.com/office/drawing/2014/main" id="{9B1715EE-FB55-A550-4CE5-A4D05A73859A}"/>
              </a:ext>
            </a:extLst>
          </p:cNvPr>
          <p:cNvSpPr txBox="1">
            <a:spLocks/>
          </p:cNvSpPr>
          <p:nvPr/>
        </p:nvSpPr>
        <p:spPr>
          <a:xfrm>
            <a:off x="699910" y="681038"/>
            <a:ext cx="9815689" cy="1009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endParaRPr lang="en-US" dirty="0">
              <a:solidFill>
                <a:schemeClr val="tx1"/>
              </a:solidFill>
            </a:endParaRPr>
          </a:p>
        </p:txBody>
      </p:sp>
      <p:sp>
        <p:nvSpPr>
          <p:cNvPr id="24" name="TextBox 23">
            <a:extLst>
              <a:ext uri="{FF2B5EF4-FFF2-40B4-BE49-F238E27FC236}">
                <a16:creationId xmlns:a16="http://schemas.microsoft.com/office/drawing/2014/main" id="{1403AF1A-2106-34FB-7DBA-C4ABCE7D9638}"/>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Lean Fundamentals</a:t>
            </a:r>
          </a:p>
        </p:txBody>
      </p:sp>
      <p:sp>
        <p:nvSpPr>
          <p:cNvPr id="2" name="AutoShape 9">
            <a:extLst>
              <a:ext uri="{FF2B5EF4-FFF2-40B4-BE49-F238E27FC236}">
                <a16:creationId xmlns:a16="http://schemas.microsoft.com/office/drawing/2014/main" id="{43DC8683-F848-5AD6-CF01-F2121F0708FC}"/>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3" name="AutoShape 11">
            <a:extLst>
              <a:ext uri="{FF2B5EF4-FFF2-40B4-BE49-F238E27FC236}">
                <a16:creationId xmlns:a16="http://schemas.microsoft.com/office/drawing/2014/main" id="{04CD29D3-2A3C-D70B-3123-114CDE456394}"/>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6" name="AutoShape 10">
            <a:extLst>
              <a:ext uri="{FF2B5EF4-FFF2-40B4-BE49-F238E27FC236}">
                <a16:creationId xmlns:a16="http://schemas.microsoft.com/office/drawing/2014/main" id="{A23B3AE4-77C7-2580-04BF-C6DBE4186BDC}"/>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Tree>
    <p:extLst>
      <p:ext uri="{BB962C8B-B14F-4D97-AF65-F5344CB8AC3E}">
        <p14:creationId xmlns:p14="http://schemas.microsoft.com/office/powerpoint/2010/main" val="105271083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933D00-F243-B3D2-0146-A7F8D16D252B}"/>
              </a:ext>
            </a:extLst>
          </p:cNvPr>
          <p:cNvSpPr>
            <a:spLocks noGrp="1"/>
          </p:cNvSpPr>
          <p:nvPr>
            <p:ph type="title"/>
          </p:nvPr>
        </p:nvSpPr>
        <p:spPr/>
        <p:txBody>
          <a:bodyPr>
            <a:normAutofit/>
          </a:bodyPr>
          <a:lstStyle/>
          <a:p>
            <a:r>
              <a:rPr lang="en-US" sz="4000" dirty="0">
                <a:latin typeface="Roboto Medium"/>
                <a:ea typeface="Roboto Medium"/>
                <a:cs typeface="Roboto Medium"/>
              </a:rPr>
              <a:t>Flow</a:t>
            </a:r>
          </a:p>
        </p:txBody>
      </p:sp>
      <p:sp>
        <p:nvSpPr>
          <p:cNvPr id="3" name="Content Placeholder 2">
            <a:extLst>
              <a:ext uri="{FF2B5EF4-FFF2-40B4-BE49-F238E27FC236}">
                <a16:creationId xmlns:a16="http://schemas.microsoft.com/office/drawing/2014/main" id="{21980AE6-8978-92D6-F572-3E11FBDE9D1B}"/>
              </a:ext>
            </a:extLst>
          </p:cNvPr>
          <p:cNvSpPr>
            <a:spLocks noGrp="1"/>
          </p:cNvSpPr>
          <p:nvPr>
            <p:ph idx="1"/>
          </p:nvPr>
        </p:nvSpPr>
        <p:spPr>
          <a:xfrm>
            <a:off x="838200" y="1825625"/>
            <a:ext cx="10293632" cy="4351338"/>
          </a:xfrm>
        </p:spPr>
        <p:txBody>
          <a:bodyPr/>
          <a:lstStyle/>
          <a:p>
            <a:r>
              <a:rPr lang="en-US" sz="2400" dirty="0"/>
              <a:t>Movement of information, services and knowledge through the value stream</a:t>
            </a:r>
          </a:p>
          <a:p>
            <a:r>
              <a:rPr lang="en-US" sz="2400" dirty="0"/>
              <a:t>A perfect process has continuous flow as information, service and knowledge are transformed continuously without delay from step to step</a:t>
            </a:r>
          </a:p>
          <a:p>
            <a:r>
              <a:rPr lang="en-US" sz="2400" dirty="0"/>
              <a:t>Flow is created by eliminating queues and stops, facilitating improved process flexibility &amp; reliability</a:t>
            </a:r>
          </a:p>
          <a:p>
            <a:pPr marL="0" indent="0">
              <a:buNone/>
            </a:pPr>
            <a:endParaRPr lang="en-US" dirty="0"/>
          </a:p>
        </p:txBody>
      </p:sp>
      <p:sp>
        <p:nvSpPr>
          <p:cNvPr id="5" name="Footer Placeholder 4">
            <a:extLst>
              <a:ext uri="{FF2B5EF4-FFF2-40B4-BE49-F238E27FC236}">
                <a16:creationId xmlns:a16="http://schemas.microsoft.com/office/drawing/2014/main" id="{017A104C-D978-CD3B-D535-2585FFEDD37C}"/>
              </a:ext>
            </a:extLst>
          </p:cNvPr>
          <p:cNvSpPr>
            <a:spLocks noGrp="1"/>
          </p:cNvSpPr>
          <p:nvPr>
            <p:ph type="ftr" sz="quarter" idx="11"/>
          </p:nvPr>
        </p:nvSpPr>
        <p:spPr/>
        <p:txBody>
          <a:bodyPr/>
          <a:lstStyle/>
          <a:p>
            <a:r>
              <a:rPr lang="en-US"/>
              <a:t>© Lean Horizons Consulting, LLC 2023. All Rights Reserved</a:t>
            </a:r>
            <a:endParaRPr lang="en-US" dirty="0"/>
          </a:p>
        </p:txBody>
      </p:sp>
      <p:sp>
        <p:nvSpPr>
          <p:cNvPr id="6" name="Slide Number Placeholder 5">
            <a:extLst>
              <a:ext uri="{FF2B5EF4-FFF2-40B4-BE49-F238E27FC236}">
                <a16:creationId xmlns:a16="http://schemas.microsoft.com/office/drawing/2014/main" id="{B9358E55-563D-C67E-6F1C-2D85668924D5}"/>
              </a:ext>
            </a:extLst>
          </p:cNvPr>
          <p:cNvSpPr>
            <a:spLocks noGrp="1"/>
          </p:cNvSpPr>
          <p:nvPr>
            <p:ph type="sldNum" sz="quarter" idx="12"/>
          </p:nvPr>
        </p:nvSpPr>
        <p:spPr/>
        <p:txBody>
          <a:bodyPr/>
          <a:lstStyle/>
          <a:p>
            <a:fld id="{CC6D4273-7FC1-0947-B9FE-19CB3C0D1FB6}" type="slidenum">
              <a:rPr lang="en-US" smtClean="0"/>
              <a:t>28</a:t>
            </a:fld>
            <a:endParaRPr lang="en-US"/>
          </a:p>
        </p:txBody>
      </p:sp>
      <p:sp>
        <p:nvSpPr>
          <p:cNvPr id="19" name="TextBox 18">
            <a:extLst>
              <a:ext uri="{FF2B5EF4-FFF2-40B4-BE49-F238E27FC236}">
                <a16:creationId xmlns:a16="http://schemas.microsoft.com/office/drawing/2014/main" id="{4FF78C74-C75F-53CD-4175-5AF949F0064E}"/>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Lean Fundamentals</a:t>
            </a:r>
          </a:p>
        </p:txBody>
      </p:sp>
      <p:sp>
        <p:nvSpPr>
          <p:cNvPr id="4" name="AutoShape 9">
            <a:extLst>
              <a:ext uri="{FF2B5EF4-FFF2-40B4-BE49-F238E27FC236}">
                <a16:creationId xmlns:a16="http://schemas.microsoft.com/office/drawing/2014/main" id="{2A68FA2A-934A-5601-A5BF-0BF8F70A5DB2}"/>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11">
            <a:extLst>
              <a:ext uri="{FF2B5EF4-FFF2-40B4-BE49-F238E27FC236}">
                <a16:creationId xmlns:a16="http://schemas.microsoft.com/office/drawing/2014/main" id="{A7B463C9-40D6-8FE2-BE5B-6960CA3AE1ED}"/>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10">
            <a:extLst>
              <a:ext uri="{FF2B5EF4-FFF2-40B4-BE49-F238E27FC236}">
                <a16:creationId xmlns:a16="http://schemas.microsoft.com/office/drawing/2014/main" id="{AEFC03AB-06B2-B698-974E-8CE7F4B79FD7}"/>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Tree>
    <p:extLst>
      <p:ext uri="{BB962C8B-B14F-4D97-AF65-F5344CB8AC3E}">
        <p14:creationId xmlns:p14="http://schemas.microsoft.com/office/powerpoint/2010/main" val="421314958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36305-E156-6111-5A80-545645BEDA67}"/>
              </a:ext>
            </a:extLst>
          </p:cNvPr>
          <p:cNvSpPr>
            <a:spLocks noGrp="1"/>
          </p:cNvSpPr>
          <p:nvPr>
            <p:ph type="title"/>
          </p:nvPr>
        </p:nvSpPr>
        <p:spPr/>
        <p:txBody>
          <a:bodyPr>
            <a:normAutofit/>
          </a:bodyPr>
          <a:lstStyle/>
          <a:p>
            <a:r>
              <a:rPr lang="en-US" sz="4000" dirty="0">
                <a:latin typeface="Roboto Medium"/>
                <a:ea typeface="Roboto Medium"/>
                <a:cs typeface="Roboto Medium"/>
              </a:rPr>
              <a:t>Batch Processes</a:t>
            </a:r>
          </a:p>
        </p:txBody>
      </p:sp>
      <p:sp>
        <p:nvSpPr>
          <p:cNvPr id="4" name="Footer Placeholder 3">
            <a:extLst>
              <a:ext uri="{FF2B5EF4-FFF2-40B4-BE49-F238E27FC236}">
                <a16:creationId xmlns:a16="http://schemas.microsoft.com/office/drawing/2014/main" id="{404F892A-FFE4-DF32-49E3-85CD2BAD31DA}"/>
              </a:ext>
            </a:extLst>
          </p:cNvPr>
          <p:cNvSpPr>
            <a:spLocks noGrp="1"/>
          </p:cNvSpPr>
          <p:nvPr>
            <p:ph type="ftr" sz="quarter" idx="11"/>
          </p:nvPr>
        </p:nvSpPr>
        <p:spPr/>
        <p:txBody>
          <a:bodyPr/>
          <a:lstStyle/>
          <a:p>
            <a:r>
              <a:rPr lang="en-US"/>
              <a:t>© Lean Horizons Consulting, LLC 2023. All Rights Reserved</a:t>
            </a:r>
            <a:endParaRPr lang="en-US" dirty="0"/>
          </a:p>
        </p:txBody>
      </p:sp>
      <p:sp>
        <p:nvSpPr>
          <p:cNvPr id="5" name="Slide Number Placeholder 4">
            <a:extLst>
              <a:ext uri="{FF2B5EF4-FFF2-40B4-BE49-F238E27FC236}">
                <a16:creationId xmlns:a16="http://schemas.microsoft.com/office/drawing/2014/main" id="{DB0F1BCE-FF38-1BB0-9D28-67C39AFE49FF}"/>
              </a:ext>
            </a:extLst>
          </p:cNvPr>
          <p:cNvSpPr>
            <a:spLocks noGrp="1"/>
          </p:cNvSpPr>
          <p:nvPr>
            <p:ph type="sldNum" sz="quarter" idx="12"/>
          </p:nvPr>
        </p:nvSpPr>
        <p:spPr/>
        <p:txBody>
          <a:bodyPr/>
          <a:lstStyle/>
          <a:p>
            <a:fld id="{CC6D4273-7FC1-0947-B9FE-19CB3C0D1FB6}" type="slidenum">
              <a:rPr lang="en-US" smtClean="0"/>
              <a:t>29</a:t>
            </a:fld>
            <a:endParaRPr lang="en-US"/>
          </a:p>
        </p:txBody>
      </p:sp>
      <p:sp>
        <p:nvSpPr>
          <p:cNvPr id="119" name="Text Placeholder 3">
            <a:extLst>
              <a:ext uri="{FF2B5EF4-FFF2-40B4-BE49-F238E27FC236}">
                <a16:creationId xmlns:a16="http://schemas.microsoft.com/office/drawing/2014/main" id="{5ADF625A-D530-FEE8-378C-BE6223C49F53}"/>
              </a:ext>
            </a:extLst>
          </p:cNvPr>
          <p:cNvSpPr txBox="1">
            <a:spLocks/>
          </p:cNvSpPr>
          <p:nvPr/>
        </p:nvSpPr>
        <p:spPr>
          <a:xfrm>
            <a:off x="4862286" y="1984796"/>
            <a:ext cx="4049485" cy="493485"/>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ja-JP" dirty="0"/>
              <a:t>Lead Time = 20 Minutes</a:t>
            </a:r>
          </a:p>
        </p:txBody>
      </p:sp>
      <p:graphicFrame>
        <p:nvGraphicFramePr>
          <p:cNvPr id="12" name="Table 12">
            <a:extLst>
              <a:ext uri="{FF2B5EF4-FFF2-40B4-BE49-F238E27FC236}">
                <a16:creationId xmlns:a16="http://schemas.microsoft.com/office/drawing/2014/main" id="{C526C9C9-5E7A-5211-EAA5-430E640DCF1A}"/>
              </a:ext>
            </a:extLst>
          </p:cNvPr>
          <p:cNvGraphicFramePr>
            <a:graphicFrameLocks noGrp="1"/>
          </p:cNvGraphicFramePr>
          <p:nvPr>
            <p:extLst>
              <p:ext uri="{D42A27DB-BD31-4B8C-83A1-F6EECF244321}">
                <p14:modId xmlns:p14="http://schemas.microsoft.com/office/powerpoint/2010/main" val="2077139076"/>
              </p:ext>
            </p:extLst>
          </p:nvPr>
        </p:nvGraphicFramePr>
        <p:xfrm>
          <a:off x="118157" y="2189213"/>
          <a:ext cx="11955686" cy="2225040"/>
        </p:xfrm>
        <a:graphic>
          <a:graphicData uri="http://schemas.openxmlformats.org/drawingml/2006/table">
            <a:tbl>
              <a:tblPr firstRow="1" bandRow="1">
                <a:tableStyleId>{5C22544A-7EE6-4342-B048-85BDC9FD1C3A}</a:tableStyleId>
              </a:tblPr>
              <a:tblGrid>
                <a:gridCol w="2168906">
                  <a:extLst>
                    <a:ext uri="{9D8B030D-6E8A-4147-A177-3AD203B41FA5}">
                      <a16:colId xmlns:a16="http://schemas.microsoft.com/office/drawing/2014/main" val="3305747784"/>
                    </a:ext>
                  </a:extLst>
                </a:gridCol>
                <a:gridCol w="489339">
                  <a:extLst>
                    <a:ext uri="{9D8B030D-6E8A-4147-A177-3AD203B41FA5}">
                      <a16:colId xmlns:a16="http://schemas.microsoft.com/office/drawing/2014/main" val="3787802989"/>
                    </a:ext>
                  </a:extLst>
                </a:gridCol>
                <a:gridCol w="489339">
                  <a:extLst>
                    <a:ext uri="{9D8B030D-6E8A-4147-A177-3AD203B41FA5}">
                      <a16:colId xmlns:a16="http://schemas.microsoft.com/office/drawing/2014/main" val="3217539517"/>
                    </a:ext>
                  </a:extLst>
                </a:gridCol>
                <a:gridCol w="489339">
                  <a:extLst>
                    <a:ext uri="{9D8B030D-6E8A-4147-A177-3AD203B41FA5}">
                      <a16:colId xmlns:a16="http://schemas.microsoft.com/office/drawing/2014/main" val="3290890097"/>
                    </a:ext>
                  </a:extLst>
                </a:gridCol>
                <a:gridCol w="489339">
                  <a:extLst>
                    <a:ext uri="{9D8B030D-6E8A-4147-A177-3AD203B41FA5}">
                      <a16:colId xmlns:a16="http://schemas.microsoft.com/office/drawing/2014/main" val="2604833729"/>
                    </a:ext>
                  </a:extLst>
                </a:gridCol>
                <a:gridCol w="489339">
                  <a:extLst>
                    <a:ext uri="{9D8B030D-6E8A-4147-A177-3AD203B41FA5}">
                      <a16:colId xmlns:a16="http://schemas.microsoft.com/office/drawing/2014/main" val="1658724359"/>
                    </a:ext>
                  </a:extLst>
                </a:gridCol>
                <a:gridCol w="489339">
                  <a:extLst>
                    <a:ext uri="{9D8B030D-6E8A-4147-A177-3AD203B41FA5}">
                      <a16:colId xmlns:a16="http://schemas.microsoft.com/office/drawing/2014/main" val="3124544396"/>
                    </a:ext>
                  </a:extLst>
                </a:gridCol>
                <a:gridCol w="489339">
                  <a:extLst>
                    <a:ext uri="{9D8B030D-6E8A-4147-A177-3AD203B41FA5}">
                      <a16:colId xmlns:a16="http://schemas.microsoft.com/office/drawing/2014/main" val="3795357198"/>
                    </a:ext>
                  </a:extLst>
                </a:gridCol>
                <a:gridCol w="489339">
                  <a:extLst>
                    <a:ext uri="{9D8B030D-6E8A-4147-A177-3AD203B41FA5}">
                      <a16:colId xmlns:a16="http://schemas.microsoft.com/office/drawing/2014/main" val="3371787500"/>
                    </a:ext>
                  </a:extLst>
                </a:gridCol>
                <a:gridCol w="489339">
                  <a:extLst>
                    <a:ext uri="{9D8B030D-6E8A-4147-A177-3AD203B41FA5}">
                      <a16:colId xmlns:a16="http://schemas.microsoft.com/office/drawing/2014/main" val="353464211"/>
                    </a:ext>
                  </a:extLst>
                </a:gridCol>
                <a:gridCol w="489339">
                  <a:extLst>
                    <a:ext uri="{9D8B030D-6E8A-4147-A177-3AD203B41FA5}">
                      <a16:colId xmlns:a16="http://schemas.microsoft.com/office/drawing/2014/main" val="3567026330"/>
                    </a:ext>
                  </a:extLst>
                </a:gridCol>
                <a:gridCol w="489339">
                  <a:extLst>
                    <a:ext uri="{9D8B030D-6E8A-4147-A177-3AD203B41FA5}">
                      <a16:colId xmlns:a16="http://schemas.microsoft.com/office/drawing/2014/main" val="2266691436"/>
                    </a:ext>
                  </a:extLst>
                </a:gridCol>
                <a:gridCol w="489339">
                  <a:extLst>
                    <a:ext uri="{9D8B030D-6E8A-4147-A177-3AD203B41FA5}">
                      <a16:colId xmlns:a16="http://schemas.microsoft.com/office/drawing/2014/main" val="3244669962"/>
                    </a:ext>
                  </a:extLst>
                </a:gridCol>
                <a:gridCol w="489339">
                  <a:extLst>
                    <a:ext uri="{9D8B030D-6E8A-4147-A177-3AD203B41FA5}">
                      <a16:colId xmlns:a16="http://schemas.microsoft.com/office/drawing/2014/main" val="2165493625"/>
                    </a:ext>
                  </a:extLst>
                </a:gridCol>
                <a:gridCol w="489339">
                  <a:extLst>
                    <a:ext uri="{9D8B030D-6E8A-4147-A177-3AD203B41FA5}">
                      <a16:colId xmlns:a16="http://schemas.microsoft.com/office/drawing/2014/main" val="3980417428"/>
                    </a:ext>
                  </a:extLst>
                </a:gridCol>
                <a:gridCol w="489339">
                  <a:extLst>
                    <a:ext uri="{9D8B030D-6E8A-4147-A177-3AD203B41FA5}">
                      <a16:colId xmlns:a16="http://schemas.microsoft.com/office/drawing/2014/main" val="740794364"/>
                    </a:ext>
                  </a:extLst>
                </a:gridCol>
                <a:gridCol w="489339">
                  <a:extLst>
                    <a:ext uri="{9D8B030D-6E8A-4147-A177-3AD203B41FA5}">
                      <a16:colId xmlns:a16="http://schemas.microsoft.com/office/drawing/2014/main" val="2621391218"/>
                    </a:ext>
                  </a:extLst>
                </a:gridCol>
                <a:gridCol w="489339">
                  <a:extLst>
                    <a:ext uri="{9D8B030D-6E8A-4147-A177-3AD203B41FA5}">
                      <a16:colId xmlns:a16="http://schemas.microsoft.com/office/drawing/2014/main" val="758593109"/>
                    </a:ext>
                  </a:extLst>
                </a:gridCol>
                <a:gridCol w="489339">
                  <a:extLst>
                    <a:ext uri="{9D8B030D-6E8A-4147-A177-3AD203B41FA5}">
                      <a16:colId xmlns:a16="http://schemas.microsoft.com/office/drawing/2014/main" val="1266673124"/>
                    </a:ext>
                  </a:extLst>
                </a:gridCol>
                <a:gridCol w="489339">
                  <a:extLst>
                    <a:ext uri="{9D8B030D-6E8A-4147-A177-3AD203B41FA5}">
                      <a16:colId xmlns:a16="http://schemas.microsoft.com/office/drawing/2014/main" val="59913489"/>
                    </a:ext>
                  </a:extLst>
                </a:gridCol>
                <a:gridCol w="489339">
                  <a:extLst>
                    <a:ext uri="{9D8B030D-6E8A-4147-A177-3AD203B41FA5}">
                      <a16:colId xmlns:a16="http://schemas.microsoft.com/office/drawing/2014/main" val="1291663199"/>
                    </a:ext>
                  </a:extLst>
                </a:gridCol>
              </a:tblGrid>
              <a:tr h="370840">
                <a:tc>
                  <a:txBody>
                    <a:bodyPr/>
                    <a:lstStyle/>
                    <a:p>
                      <a:r>
                        <a:rPr lang="en-US" dirty="0"/>
                        <a:t>Elapsed Time</a:t>
                      </a:r>
                    </a:p>
                  </a:txBody>
                  <a:tcPr>
                    <a:solidFill>
                      <a:srgbClr val="EE3228"/>
                    </a:solidFill>
                  </a:tcPr>
                </a:tc>
                <a:tc>
                  <a:txBody>
                    <a:bodyPr/>
                    <a:lstStyle/>
                    <a:p>
                      <a:pPr algn="ctr"/>
                      <a:r>
                        <a:rPr lang="en-US" dirty="0"/>
                        <a:t>1</a:t>
                      </a:r>
                    </a:p>
                  </a:txBody>
                  <a:tcPr>
                    <a:solidFill>
                      <a:srgbClr val="EE3228"/>
                    </a:solidFill>
                  </a:tcPr>
                </a:tc>
                <a:tc>
                  <a:txBody>
                    <a:bodyPr/>
                    <a:lstStyle/>
                    <a:p>
                      <a:pPr algn="ctr"/>
                      <a:r>
                        <a:rPr lang="en-US" dirty="0"/>
                        <a:t>2</a:t>
                      </a:r>
                    </a:p>
                  </a:txBody>
                  <a:tcPr>
                    <a:solidFill>
                      <a:srgbClr val="EE3228"/>
                    </a:solidFill>
                  </a:tcPr>
                </a:tc>
                <a:tc>
                  <a:txBody>
                    <a:bodyPr/>
                    <a:lstStyle/>
                    <a:p>
                      <a:pPr algn="ctr"/>
                      <a:r>
                        <a:rPr lang="en-US" dirty="0"/>
                        <a:t>3</a:t>
                      </a:r>
                    </a:p>
                  </a:txBody>
                  <a:tcPr>
                    <a:solidFill>
                      <a:srgbClr val="EE3228"/>
                    </a:solidFill>
                  </a:tcPr>
                </a:tc>
                <a:tc>
                  <a:txBody>
                    <a:bodyPr/>
                    <a:lstStyle/>
                    <a:p>
                      <a:pPr algn="ctr"/>
                      <a:r>
                        <a:rPr lang="en-US" dirty="0"/>
                        <a:t>4</a:t>
                      </a:r>
                    </a:p>
                  </a:txBody>
                  <a:tcPr>
                    <a:solidFill>
                      <a:srgbClr val="EE3228"/>
                    </a:solidFill>
                  </a:tcPr>
                </a:tc>
                <a:tc>
                  <a:txBody>
                    <a:bodyPr/>
                    <a:lstStyle/>
                    <a:p>
                      <a:pPr algn="ctr"/>
                      <a:r>
                        <a:rPr lang="en-US" dirty="0"/>
                        <a:t>5</a:t>
                      </a:r>
                    </a:p>
                  </a:txBody>
                  <a:tcPr>
                    <a:solidFill>
                      <a:srgbClr val="EE3228"/>
                    </a:solidFill>
                  </a:tcPr>
                </a:tc>
                <a:tc>
                  <a:txBody>
                    <a:bodyPr/>
                    <a:lstStyle/>
                    <a:p>
                      <a:pPr algn="ctr"/>
                      <a:r>
                        <a:rPr lang="en-US" dirty="0"/>
                        <a:t>6</a:t>
                      </a:r>
                    </a:p>
                  </a:txBody>
                  <a:tcPr>
                    <a:solidFill>
                      <a:srgbClr val="EE3228"/>
                    </a:solidFill>
                  </a:tcPr>
                </a:tc>
                <a:tc>
                  <a:txBody>
                    <a:bodyPr/>
                    <a:lstStyle/>
                    <a:p>
                      <a:pPr algn="ctr"/>
                      <a:r>
                        <a:rPr lang="en-US" dirty="0"/>
                        <a:t>7</a:t>
                      </a:r>
                    </a:p>
                  </a:txBody>
                  <a:tcPr>
                    <a:solidFill>
                      <a:srgbClr val="EE3228"/>
                    </a:solidFill>
                  </a:tcPr>
                </a:tc>
                <a:tc>
                  <a:txBody>
                    <a:bodyPr/>
                    <a:lstStyle/>
                    <a:p>
                      <a:pPr algn="ctr"/>
                      <a:r>
                        <a:rPr lang="en-US" dirty="0"/>
                        <a:t>8</a:t>
                      </a:r>
                    </a:p>
                  </a:txBody>
                  <a:tcPr>
                    <a:solidFill>
                      <a:srgbClr val="EE3228"/>
                    </a:solidFill>
                  </a:tcPr>
                </a:tc>
                <a:tc>
                  <a:txBody>
                    <a:bodyPr/>
                    <a:lstStyle/>
                    <a:p>
                      <a:pPr algn="ctr"/>
                      <a:r>
                        <a:rPr lang="en-US" dirty="0"/>
                        <a:t>9</a:t>
                      </a:r>
                    </a:p>
                  </a:txBody>
                  <a:tcPr>
                    <a:solidFill>
                      <a:srgbClr val="EE3228"/>
                    </a:solidFill>
                  </a:tcPr>
                </a:tc>
                <a:tc>
                  <a:txBody>
                    <a:bodyPr/>
                    <a:lstStyle/>
                    <a:p>
                      <a:pPr algn="ctr"/>
                      <a:r>
                        <a:rPr lang="en-US" dirty="0"/>
                        <a:t>10</a:t>
                      </a:r>
                    </a:p>
                  </a:txBody>
                  <a:tcPr>
                    <a:solidFill>
                      <a:srgbClr val="EE3228"/>
                    </a:solidFill>
                  </a:tcPr>
                </a:tc>
                <a:tc>
                  <a:txBody>
                    <a:bodyPr/>
                    <a:lstStyle/>
                    <a:p>
                      <a:pPr algn="ctr"/>
                      <a:r>
                        <a:rPr lang="en-US" dirty="0"/>
                        <a:t>11</a:t>
                      </a:r>
                    </a:p>
                  </a:txBody>
                  <a:tcPr>
                    <a:solidFill>
                      <a:srgbClr val="EE3228"/>
                    </a:solidFill>
                  </a:tcPr>
                </a:tc>
                <a:tc>
                  <a:txBody>
                    <a:bodyPr/>
                    <a:lstStyle/>
                    <a:p>
                      <a:pPr algn="ctr"/>
                      <a:r>
                        <a:rPr lang="en-US" dirty="0"/>
                        <a:t>12</a:t>
                      </a:r>
                    </a:p>
                  </a:txBody>
                  <a:tcPr>
                    <a:solidFill>
                      <a:srgbClr val="EE3228"/>
                    </a:solidFill>
                  </a:tcPr>
                </a:tc>
                <a:tc>
                  <a:txBody>
                    <a:bodyPr/>
                    <a:lstStyle/>
                    <a:p>
                      <a:pPr algn="ctr"/>
                      <a:r>
                        <a:rPr lang="en-US" dirty="0"/>
                        <a:t>13</a:t>
                      </a:r>
                    </a:p>
                  </a:txBody>
                  <a:tcPr>
                    <a:solidFill>
                      <a:srgbClr val="EE3228"/>
                    </a:solidFill>
                  </a:tcPr>
                </a:tc>
                <a:tc>
                  <a:txBody>
                    <a:bodyPr/>
                    <a:lstStyle/>
                    <a:p>
                      <a:pPr algn="ctr"/>
                      <a:r>
                        <a:rPr lang="en-US" dirty="0"/>
                        <a:t>14</a:t>
                      </a:r>
                    </a:p>
                  </a:txBody>
                  <a:tcPr>
                    <a:solidFill>
                      <a:srgbClr val="EE3228"/>
                    </a:solidFill>
                  </a:tcPr>
                </a:tc>
                <a:tc>
                  <a:txBody>
                    <a:bodyPr/>
                    <a:lstStyle/>
                    <a:p>
                      <a:pPr algn="ctr"/>
                      <a:r>
                        <a:rPr lang="en-US" dirty="0"/>
                        <a:t>15</a:t>
                      </a:r>
                    </a:p>
                  </a:txBody>
                  <a:tcPr>
                    <a:solidFill>
                      <a:srgbClr val="EE3228"/>
                    </a:solidFill>
                  </a:tcPr>
                </a:tc>
                <a:tc>
                  <a:txBody>
                    <a:bodyPr/>
                    <a:lstStyle/>
                    <a:p>
                      <a:pPr algn="ctr"/>
                      <a:r>
                        <a:rPr lang="en-US" dirty="0"/>
                        <a:t>16</a:t>
                      </a:r>
                    </a:p>
                  </a:txBody>
                  <a:tcPr>
                    <a:solidFill>
                      <a:srgbClr val="EE3228"/>
                    </a:solidFill>
                  </a:tcPr>
                </a:tc>
                <a:tc>
                  <a:txBody>
                    <a:bodyPr/>
                    <a:lstStyle/>
                    <a:p>
                      <a:pPr algn="ctr"/>
                      <a:r>
                        <a:rPr lang="en-US" dirty="0"/>
                        <a:t>17</a:t>
                      </a:r>
                    </a:p>
                  </a:txBody>
                  <a:tcPr>
                    <a:solidFill>
                      <a:srgbClr val="EE3228"/>
                    </a:solidFill>
                  </a:tcPr>
                </a:tc>
                <a:tc>
                  <a:txBody>
                    <a:bodyPr/>
                    <a:lstStyle/>
                    <a:p>
                      <a:pPr algn="ctr"/>
                      <a:r>
                        <a:rPr lang="en-US" dirty="0"/>
                        <a:t>18</a:t>
                      </a:r>
                    </a:p>
                  </a:txBody>
                  <a:tcPr>
                    <a:solidFill>
                      <a:srgbClr val="EE3228"/>
                    </a:solidFill>
                  </a:tcPr>
                </a:tc>
                <a:tc>
                  <a:txBody>
                    <a:bodyPr/>
                    <a:lstStyle/>
                    <a:p>
                      <a:pPr algn="ctr"/>
                      <a:r>
                        <a:rPr lang="en-US" dirty="0"/>
                        <a:t>19</a:t>
                      </a:r>
                    </a:p>
                  </a:txBody>
                  <a:tcPr>
                    <a:solidFill>
                      <a:srgbClr val="EE3228"/>
                    </a:solidFill>
                  </a:tcPr>
                </a:tc>
                <a:tc>
                  <a:txBody>
                    <a:bodyPr/>
                    <a:lstStyle/>
                    <a:p>
                      <a:pPr algn="ctr"/>
                      <a:r>
                        <a:rPr lang="en-US" dirty="0"/>
                        <a:t>20</a:t>
                      </a:r>
                    </a:p>
                  </a:txBody>
                  <a:tcPr>
                    <a:solidFill>
                      <a:srgbClr val="EE3228"/>
                    </a:solidFill>
                  </a:tcPr>
                </a:tc>
                <a:extLst>
                  <a:ext uri="{0D108BD9-81ED-4DB2-BD59-A6C34878D82A}">
                    <a16:rowId xmlns:a16="http://schemas.microsoft.com/office/drawing/2014/main" val="2524657938"/>
                  </a:ext>
                </a:extLst>
              </a:tr>
              <a:tr h="370840">
                <a:tc>
                  <a:txBody>
                    <a:bodyPr/>
                    <a:lstStyle/>
                    <a:p>
                      <a:r>
                        <a:rPr lang="en-US" dirty="0">
                          <a:solidFill>
                            <a:schemeClr val="bg1"/>
                          </a:solidFill>
                        </a:rPr>
                        <a:t>Receive Application</a:t>
                      </a:r>
                    </a:p>
                  </a:txBody>
                  <a:tcPr>
                    <a:solidFill>
                      <a:schemeClr val="tx1"/>
                    </a:solidFill>
                  </a:tcPr>
                </a:tc>
                <a:tc>
                  <a:txBody>
                    <a:bodyPr/>
                    <a:lstStyle/>
                    <a:p>
                      <a:pPr algn="ctr"/>
                      <a:r>
                        <a:rPr lang="en-US" dirty="0">
                          <a:solidFill>
                            <a:schemeClr val="bg1"/>
                          </a:solidFill>
                          <a:latin typeface="Wingdings" panose="05000000000000000000" pitchFamily="2" charset="2"/>
                        </a:rPr>
                        <a:t>l</a:t>
                      </a:r>
                      <a:endParaRPr lang="en-US" dirty="0">
                        <a:latin typeface="Wingdings" panose="05000000000000000000" pitchFamily="2" charset="2"/>
                      </a:endParaRPr>
                    </a:p>
                  </a:txBody>
                  <a:tcPr>
                    <a:solidFill>
                      <a:schemeClr val="tx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latin typeface="Wingdings" panose="05000000000000000000" pitchFamily="2" charset="2"/>
                        </a:rPr>
                        <a:t>l</a:t>
                      </a:r>
                      <a:endParaRPr lang="en-US" dirty="0">
                        <a:latin typeface="Wingdings" panose="05000000000000000000" pitchFamily="2" charset="2"/>
                      </a:endParaRPr>
                    </a:p>
                  </a:txBody>
                  <a:tcPr>
                    <a:solidFill>
                      <a:schemeClr val="tx1"/>
                    </a:solidFill>
                  </a:tcPr>
                </a:tc>
                <a:tc>
                  <a:txBody>
                    <a:bodyPr/>
                    <a:lstStyle/>
                    <a:p>
                      <a:pPr algn="ctr"/>
                      <a:r>
                        <a:rPr lang="en-US" dirty="0">
                          <a:solidFill>
                            <a:schemeClr val="bg1"/>
                          </a:solidFill>
                          <a:latin typeface="Wingdings" panose="05000000000000000000" pitchFamily="2" charset="2"/>
                        </a:rPr>
                        <a:t>l</a:t>
                      </a:r>
                      <a:endParaRPr lang="en-US" dirty="0">
                        <a:latin typeface="Wingdings" panose="05000000000000000000" pitchFamily="2" charset="2"/>
                      </a:endParaRPr>
                    </a:p>
                  </a:txBody>
                  <a:tcPr>
                    <a:solidFill>
                      <a:schemeClr val="tx1"/>
                    </a:solidFill>
                  </a:tcPr>
                </a:tc>
                <a:tc>
                  <a:txBody>
                    <a:bodyPr/>
                    <a:lstStyle/>
                    <a:p>
                      <a:pPr algn="ctr"/>
                      <a:r>
                        <a:rPr lang="en-US" dirty="0">
                          <a:solidFill>
                            <a:schemeClr val="bg1"/>
                          </a:solidFill>
                          <a:latin typeface="Wingdings" panose="05000000000000000000" pitchFamily="2" charset="2"/>
                        </a:rPr>
                        <a:t>l</a:t>
                      </a:r>
                    </a:p>
                  </a:txBody>
                  <a:tcPr>
                    <a:solidFill>
                      <a:schemeClr val="tx1"/>
                    </a:solidFill>
                  </a:tcPr>
                </a:tc>
                <a:tc>
                  <a:txBody>
                    <a:bodyPr/>
                    <a:lstStyle/>
                    <a:p>
                      <a:pPr algn="ctr"/>
                      <a:endParaRPr lang="en-US" dirty="0">
                        <a:latin typeface="Wingdings" panose="05000000000000000000" pitchFamily="2" charset="2"/>
                      </a:endParaRPr>
                    </a:p>
                  </a:txBody>
                  <a:tcPr>
                    <a:solidFill>
                      <a:schemeClr val="tx1"/>
                    </a:solidFill>
                  </a:tcPr>
                </a:tc>
                <a:tc>
                  <a:txBody>
                    <a:bodyPr/>
                    <a:lstStyle/>
                    <a:p>
                      <a:pPr algn="ctr"/>
                      <a:endParaRPr lang="en-US" dirty="0">
                        <a:latin typeface="Wingdings" panose="05000000000000000000" pitchFamily="2" charset="2"/>
                      </a:endParaRPr>
                    </a:p>
                  </a:txBody>
                  <a:tcPr>
                    <a:solidFill>
                      <a:schemeClr val="tx1"/>
                    </a:solidFill>
                  </a:tcPr>
                </a:tc>
                <a:tc>
                  <a:txBody>
                    <a:bodyPr/>
                    <a:lstStyle/>
                    <a:p>
                      <a:pPr algn="ctr"/>
                      <a:endParaRPr lang="en-US" dirty="0">
                        <a:latin typeface="Wingdings" panose="05000000000000000000" pitchFamily="2" charset="2"/>
                      </a:endParaRPr>
                    </a:p>
                  </a:txBody>
                  <a:tcPr>
                    <a:solidFill>
                      <a:schemeClr val="tx1"/>
                    </a:solidFill>
                  </a:tcPr>
                </a:tc>
                <a:tc>
                  <a:txBody>
                    <a:bodyPr/>
                    <a:lstStyle/>
                    <a:p>
                      <a:pPr algn="ctr"/>
                      <a:endParaRPr lang="en-US" dirty="0">
                        <a:latin typeface="Wingdings" panose="05000000000000000000" pitchFamily="2" charset="2"/>
                      </a:endParaRPr>
                    </a:p>
                  </a:txBody>
                  <a:tcPr>
                    <a:solidFill>
                      <a:schemeClr val="tx1"/>
                    </a:solidFill>
                  </a:tcPr>
                </a:tc>
                <a:tc>
                  <a:txBody>
                    <a:bodyPr/>
                    <a:lstStyle/>
                    <a:p>
                      <a:pPr algn="ctr"/>
                      <a:endParaRPr lang="en-US" dirty="0">
                        <a:latin typeface="Wingdings" panose="05000000000000000000" pitchFamily="2" charset="2"/>
                      </a:endParaRPr>
                    </a:p>
                  </a:txBody>
                  <a:tcPr>
                    <a:solidFill>
                      <a:schemeClr val="tx1"/>
                    </a:solidFill>
                  </a:tcPr>
                </a:tc>
                <a:tc>
                  <a:txBody>
                    <a:bodyPr/>
                    <a:lstStyle/>
                    <a:p>
                      <a:pPr algn="ctr"/>
                      <a:endParaRPr lang="en-US" dirty="0">
                        <a:latin typeface="Wingdings" panose="05000000000000000000" pitchFamily="2" charset="2"/>
                      </a:endParaRPr>
                    </a:p>
                  </a:txBody>
                  <a:tcPr>
                    <a:solidFill>
                      <a:schemeClr val="tx1"/>
                    </a:solidFill>
                  </a:tcPr>
                </a:tc>
                <a:tc>
                  <a:txBody>
                    <a:bodyPr/>
                    <a:lstStyle/>
                    <a:p>
                      <a:pPr algn="ctr"/>
                      <a:endParaRPr lang="en-US" dirty="0">
                        <a:latin typeface="Wingdings" panose="05000000000000000000" pitchFamily="2" charset="2"/>
                      </a:endParaRPr>
                    </a:p>
                  </a:txBody>
                  <a:tcPr>
                    <a:solidFill>
                      <a:schemeClr val="tx1"/>
                    </a:solidFill>
                  </a:tcPr>
                </a:tc>
                <a:tc>
                  <a:txBody>
                    <a:bodyPr/>
                    <a:lstStyle/>
                    <a:p>
                      <a:pPr algn="ctr"/>
                      <a:endParaRPr lang="en-US" dirty="0">
                        <a:latin typeface="Wingdings" panose="05000000000000000000" pitchFamily="2" charset="2"/>
                      </a:endParaRPr>
                    </a:p>
                  </a:txBody>
                  <a:tcPr>
                    <a:solidFill>
                      <a:schemeClr val="tx1"/>
                    </a:solidFill>
                  </a:tcPr>
                </a:tc>
                <a:tc>
                  <a:txBody>
                    <a:bodyPr/>
                    <a:lstStyle/>
                    <a:p>
                      <a:pPr algn="ctr"/>
                      <a:endParaRPr lang="en-US" dirty="0">
                        <a:latin typeface="Wingdings" panose="05000000000000000000" pitchFamily="2" charset="2"/>
                      </a:endParaRPr>
                    </a:p>
                  </a:txBody>
                  <a:tcPr>
                    <a:solidFill>
                      <a:schemeClr val="tx1"/>
                    </a:solidFill>
                  </a:tcPr>
                </a:tc>
                <a:tc>
                  <a:txBody>
                    <a:bodyPr/>
                    <a:lstStyle/>
                    <a:p>
                      <a:pPr algn="ctr"/>
                      <a:endParaRPr lang="en-US" dirty="0">
                        <a:latin typeface="Wingdings" panose="05000000000000000000" pitchFamily="2" charset="2"/>
                      </a:endParaRPr>
                    </a:p>
                  </a:txBody>
                  <a:tcPr>
                    <a:solidFill>
                      <a:schemeClr val="tx1"/>
                    </a:solidFill>
                  </a:tcPr>
                </a:tc>
                <a:tc>
                  <a:txBody>
                    <a:bodyPr/>
                    <a:lstStyle/>
                    <a:p>
                      <a:pPr algn="ctr"/>
                      <a:endParaRPr lang="en-US" dirty="0">
                        <a:latin typeface="Wingdings" panose="05000000000000000000" pitchFamily="2" charset="2"/>
                      </a:endParaRPr>
                    </a:p>
                  </a:txBody>
                  <a:tcPr>
                    <a:solidFill>
                      <a:schemeClr val="tx1"/>
                    </a:solidFill>
                  </a:tcPr>
                </a:tc>
                <a:tc>
                  <a:txBody>
                    <a:bodyPr/>
                    <a:lstStyle/>
                    <a:p>
                      <a:pPr algn="ctr"/>
                      <a:endParaRPr lang="en-US" dirty="0">
                        <a:latin typeface="Wingdings" panose="05000000000000000000" pitchFamily="2" charset="2"/>
                      </a:endParaRPr>
                    </a:p>
                  </a:txBody>
                  <a:tcPr>
                    <a:solidFill>
                      <a:schemeClr val="tx1"/>
                    </a:solidFill>
                  </a:tcPr>
                </a:tc>
                <a:tc>
                  <a:txBody>
                    <a:bodyPr/>
                    <a:lstStyle/>
                    <a:p>
                      <a:pPr algn="ctr"/>
                      <a:endParaRPr lang="en-US" dirty="0">
                        <a:latin typeface="Wingdings" panose="05000000000000000000" pitchFamily="2" charset="2"/>
                      </a:endParaRPr>
                    </a:p>
                  </a:txBody>
                  <a:tcPr>
                    <a:solidFill>
                      <a:schemeClr val="tx1"/>
                    </a:solidFill>
                  </a:tcPr>
                </a:tc>
                <a:tc>
                  <a:txBody>
                    <a:bodyPr/>
                    <a:lstStyle/>
                    <a:p>
                      <a:pPr algn="ctr"/>
                      <a:endParaRPr lang="en-US" dirty="0">
                        <a:latin typeface="Wingdings" panose="05000000000000000000" pitchFamily="2" charset="2"/>
                      </a:endParaRPr>
                    </a:p>
                  </a:txBody>
                  <a:tcPr>
                    <a:solidFill>
                      <a:schemeClr val="tx1"/>
                    </a:solidFill>
                  </a:tcPr>
                </a:tc>
                <a:tc>
                  <a:txBody>
                    <a:bodyPr/>
                    <a:lstStyle/>
                    <a:p>
                      <a:pPr algn="ctr"/>
                      <a:endParaRPr lang="en-US" dirty="0">
                        <a:latin typeface="Wingdings" panose="05000000000000000000" pitchFamily="2" charset="2"/>
                      </a:endParaRPr>
                    </a:p>
                  </a:txBody>
                  <a:tcPr>
                    <a:solidFill>
                      <a:schemeClr val="tx1"/>
                    </a:solidFill>
                  </a:tcPr>
                </a:tc>
                <a:tc>
                  <a:txBody>
                    <a:bodyPr/>
                    <a:lstStyle/>
                    <a:p>
                      <a:pPr algn="ctr"/>
                      <a:endParaRPr lang="en-US" dirty="0">
                        <a:latin typeface="Wingdings" panose="05000000000000000000" pitchFamily="2" charset="2"/>
                      </a:endParaRPr>
                    </a:p>
                  </a:txBody>
                  <a:tcPr>
                    <a:solidFill>
                      <a:schemeClr val="tx1"/>
                    </a:solidFill>
                  </a:tcPr>
                </a:tc>
                <a:extLst>
                  <a:ext uri="{0D108BD9-81ED-4DB2-BD59-A6C34878D82A}">
                    <a16:rowId xmlns:a16="http://schemas.microsoft.com/office/drawing/2014/main" val="3125387565"/>
                  </a:ext>
                </a:extLst>
              </a:tr>
              <a:tr h="370840">
                <a:tc>
                  <a:txBody>
                    <a:bodyPr/>
                    <a:lstStyle/>
                    <a:p>
                      <a:r>
                        <a:rPr lang="en-US" dirty="0">
                          <a:solidFill>
                            <a:schemeClr val="bg1"/>
                          </a:solidFill>
                        </a:rPr>
                        <a:t>Enter Customer Data</a:t>
                      </a:r>
                    </a:p>
                  </a:txBody>
                  <a:tcPr>
                    <a:solidFill>
                      <a:srgbClr val="EE3228"/>
                    </a:solidFill>
                  </a:tcPr>
                </a:tc>
                <a:tc>
                  <a:txBody>
                    <a:bodyPr/>
                    <a:lstStyle/>
                    <a:p>
                      <a:pPr algn="ctr"/>
                      <a:endParaRPr lang="en-US">
                        <a:solidFill>
                          <a:schemeClr val="bg1"/>
                        </a:solidFill>
                        <a:latin typeface="Wingdings" panose="05000000000000000000" pitchFamily="2" charset="2"/>
                      </a:endParaRPr>
                    </a:p>
                  </a:txBody>
                  <a:tcPr>
                    <a:solidFill>
                      <a:srgbClr val="EE3228"/>
                    </a:solidFill>
                  </a:tcPr>
                </a:tc>
                <a:tc>
                  <a:txBody>
                    <a:bodyPr/>
                    <a:lstStyle/>
                    <a:p>
                      <a:pPr algn="ctr"/>
                      <a:endParaRPr lang="en-US" dirty="0">
                        <a:solidFill>
                          <a:schemeClr val="bg1"/>
                        </a:solidFill>
                        <a:latin typeface="Wingdings" panose="05000000000000000000" pitchFamily="2" charset="2"/>
                      </a:endParaRPr>
                    </a:p>
                  </a:txBody>
                  <a:tcPr>
                    <a:solidFill>
                      <a:srgbClr val="EE3228"/>
                    </a:solidFill>
                  </a:tcPr>
                </a:tc>
                <a:tc>
                  <a:txBody>
                    <a:bodyPr/>
                    <a:lstStyle/>
                    <a:p>
                      <a:pPr algn="ctr"/>
                      <a:endParaRPr lang="en-US">
                        <a:solidFill>
                          <a:schemeClr val="bg1"/>
                        </a:solidFill>
                        <a:latin typeface="Wingdings" panose="05000000000000000000" pitchFamily="2" charset="2"/>
                      </a:endParaRPr>
                    </a:p>
                  </a:txBody>
                  <a:tcPr>
                    <a:solidFill>
                      <a:srgbClr val="EE3228"/>
                    </a:solidFill>
                  </a:tcPr>
                </a:tc>
                <a:tc>
                  <a:txBody>
                    <a:bodyPr/>
                    <a:lstStyle/>
                    <a:p>
                      <a:pPr algn="ctr"/>
                      <a:endParaRPr lang="en-US" dirty="0">
                        <a:solidFill>
                          <a:schemeClr val="bg1"/>
                        </a:solidFill>
                        <a:latin typeface="Wingdings" panose="05000000000000000000" pitchFamily="2" charset="2"/>
                      </a:endParaRPr>
                    </a:p>
                  </a:txBody>
                  <a:tcPr>
                    <a:solidFill>
                      <a:srgbClr val="EE3228"/>
                    </a:solidFill>
                  </a:tcPr>
                </a:tc>
                <a:tc>
                  <a:txBody>
                    <a:bodyPr/>
                    <a:lstStyle/>
                    <a:p>
                      <a:pPr algn="ctr"/>
                      <a:r>
                        <a:rPr lang="en-US" dirty="0">
                          <a:solidFill>
                            <a:schemeClr val="bg1"/>
                          </a:solidFill>
                          <a:latin typeface="Wingdings" panose="05000000000000000000" pitchFamily="2" charset="2"/>
                        </a:rPr>
                        <a:t>l</a:t>
                      </a:r>
                    </a:p>
                  </a:txBody>
                  <a:tcPr>
                    <a:solidFill>
                      <a:srgbClr val="EE3228"/>
                    </a:solidFill>
                  </a:tcPr>
                </a:tc>
                <a:tc>
                  <a:txBody>
                    <a:bodyPr/>
                    <a:lstStyle/>
                    <a:p>
                      <a:pPr algn="ctr"/>
                      <a:r>
                        <a:rPr lang="en-US" dirty="0">
                          <a:solidFill>
                            <a:schemeClr val="bg1"/>
                          </a:solidFill>
                          <a:latin typeface="Wingdings" panose="05000000000000000000" pitchFamily="2" charset="2"/>
                        </a:rPr>
                        <a:t>l</a:t>
                      </a:r>
                    </a:p>
                  </a:txBody>
                  <a:tcPr>
                    <a:solidFill>
                      <a:srgbClr val="EE3228"/>
                    </a:solidFill>
                  </a:tcPr>
                </a:tc>
                <a:tc>
                  <a:txBody>
                    <a:bodyPr/>
                    <a:lstStyle/>
                    <a:p>
                      <a:pPr algn="ctr"/>
                      <a:r>
                        <a:rPr lang="en-US" dirty="0">
                          <a:solidFill>
                            <a:schemeClr val="bg1"/>
                          </a:solidFill>
                          <a:latin typeface="Wingdings" panose="05000000000000000000" pitchFamily="2" charset="2"/>
                        </a:rPr>
                        <a:t>l</a:t>
                      </a:r>
                    </a:p>
                  </a:txBody>
                  <a:tcPr>
                    <a:solidFill>
                      <a:srgbClr val="EE3228"/>
                    </a:solidFill>
                  </a:tcPr>
                </a:tc>
                <a:tc>
                  <a:txBody>
                    <a:bodyPr/>
                    <a:lstStyle/>
                    <a:p>
                      <a:pPr algn="ctr"/>
                      <a:r>
                        <a:rPr lang="en-US" dirty="0">
                          <a:solidFill>
                            <a:schemeClr val="bg1"/>
                          </a:solidFill>
                          <a:latin typeface="Wingdings" panose="05000000000000000000" pitchFamily="2" charset="2"/>
                        </a:rPr>
                        <a:t>l</a:t>
                      </a:r>
                    </a:p>
                  </a:txBody>
                  <a:tcPr>
                    <a:solidFill>
                      <a:srgbClr val="EE3228"/>
                    </a:solidFill>
                  </a:tcPr>
                </a:tc>
                <a:tc>
                  <a:txBody>
                    <a:bodyPr/>
                    <a:lstStyle/>
                    <a:p>
                      <a:pPr algn="ctr"/>
                      <a:endParaRPr lang="en-US" dirty="0">
                        <a:solidFill>
                          <a:schemeClr val="bg1"/>
                        </a:solidFill>
                        <a:latin typeface="Wingdings" panose="05000000000000000000" pitchFamily="2" charset="2"/>
                      </a:endParaRPr>
                    </a:p>
                  </a:txBody>
                  <a:tcPr>
                    <a:solidFill>
                      <a:srgbClr val="EE3228"/>
                    </a:solidFill>
                  </a:tcPr>
                </a:tc>
                <a:tc>
                  <a:txBody>
                    <a:bodyPr/>
                    <a:lstStyle/>
                    <a:p>
                      <a:pPr algn="ctr"/>
                      <a:endParaRPr lang="en-US" dirty="0">
                        <a:solidFill>
                          <a:schemeClr val="bg1"/>
                        </a:solidFill>
                        <a:latin typeface="Wingdings" panose="05000000000000000000" pitchFamily="2" charset="2"/>
                      </a:endParaRPr>
                    </a:p>
                  </a:txBody>
                  <a:tcPr>
                    <a:solidFill>
                      <a:srgbClr val="EE3228"/>
                    </a:solidFill>
                  </a:tcPr>
                </a:tc>
                <a:tc>
                  <a:txBody>
                    <a:bodyPr/>
                    <a:lstStyle/>
                    <a:p>
                      <a:pPr algn="ctr"/>
                      <a:endParaRPr lang="en-US">
                        <a:solidFill>
                          <a:schemeClr val="bg1"/>
                        </a:solidFill>
                        <a:latin typeface="Wingdings" panose="05000000000000000000" pitchFamily="2" charset="2"/>
                      </a:endParaRPr>
                    </a:p>
                  </a:txBody>
                  <a:tcPr>
                    <a:solidFill>
                      <a:srgbClr val="EE3228"/>
                    </a:solidFill>
                  </a:tcPr>
                </a:tc>
                <a:tc>
                  <a:txBody>
                    <a:bodyPr/>
                    <a:lstStyle/>
                    <a:p>
                      <a:pPr algn="ctr"/>
                      <a:endParaRPr lang="en-US" dirty="0">
                        <a:solidFill>
                          <a:schemeClr val="bg1"/>
                        </a:solidFill>
                        <a:latin typeface="Wingdings" panose="05000000000000000000" pitchFamily="2" charset="2"/>
                      </a:endParaRPr>
                    </a:p>
                  </a:txBody>
                  <a:tcPr>
                    <a:solidFill>
                      <a:srgbClr val="EE3228"/>
                    </a:solidFill>
                  </a:tcPr>
                </a:tc>
                <a:tc>
                  <a:txBody>
                    <a:bodyPr/>
                    <a:lstStyle/>
                    <a:p>
                      <a:pPr algn="ctr"/>
                      <a:endParaRPr lang="en-US">
                        <a:solidFill>
                          <a:schemeClr val="bg1"/>
                        </a:solidFill>
                        <a:latin typeface="Wingdings" panose="05000000000000000000" pitchFamily="2" charset="2"/>
                      </a:endParaRPr>
                    </a:p>
                  </a:txBody>
                  <a:tcPr>
                    <a:solidFill>
                      <a:srgbClr val="EE3228"/>
                    </a:solidFill>
                  </a:tcPr>
                </a:tc>
                <a:tc>
                  <a:txBody>
                    <a:bodyPr/>
                    <a:lstStyle/>
                    <a:p>
                      <a:pPr algn="ctr"/>
                      <a:endParaRPr lang="en-US" dirty="0">
                        <a:solidFill>
                          <a:schemeClr val="bg1"/>
                        </a:solidFill>
                        <a:latin typeface="Wingdings" panose="05000000000000000000" pitchFamily="2" charset="2"/>
                      </a:endParaRPr>
                    </a:p>
                  </a:txBody>
                  <a:tcPr>
                    <a:solidFill>
                      <a:srgbClr val="EE3228"/>
                    </a:solidFill>
                  </a:tcPr>
                </a:tc>
                <a:tc>
                  <a:txBody>
                    <a:bodyPr/>
                    <a:lstStyle/>
                    <a:p>
                      <a:pPr algn="ctr"/>
                      <a:endParaRPr lang="en-US" dirty="0">
                        <a:solidFill>
                          <a:schemeClr val="bg1"/>
                        </a:solidFill>
                        <a:latin typeface="Wingdings" panose="05000000000000000000" pitchFamily="2" charset="2"/>
                      </a:endParaRPr>
                    </a:p>
                  </a:txBody>
                  <a:tcPr>
                    <a:solidFill>
                      <a:srgbClr val="EE3228"/>
                    </a:solidFill>
                  </a:tcPr>
                </a:tc>
                <a:tc>
                  <a:txBody>
                    <a:bodyPr/>
                    <a:lstStyle/>
                    <a:p>
                      <a:pPr algn="ctr"/>
                      <a:endParaRPr lang="en-US" dirty="0">
                        <a:solidFill>
                          <a:schemeClr val="bg1"/>
                        </a:solidFill>
                        <a:latin typeface="Wingdings" panose="05000000000000000000" pitchFamily="2" charset="2"/>
                      </a:endParaRPr>
                    </a:p>
                  </a:txBody>
                  <a:tcPr>
                    <a:solidFill>
                      <a:srgbClr val="EE3228"/>
                    </a:solidFill>
                  </a:tcPr>
                </a:tc>
                <a:tc>
                  <a:txBody>
                    <a:bodyPr/>
                    <a:lstStyle/>
                    <a:p>
                      <a:pPr algn="ctr"/>
                      <a:endParaRPr lang="en-US" dirty="0">
                        <a:solidFill>
                          <a:schemeClr val="bg1"/>
                        </a:solidFill>
                        <a:latin typeface="Wingdings" panose="05000000000000000000" pitchFamily="2" charset="2"/>
                      </a:endParaRPr>
                    </a:p>
                  </a:txBody>
                  <a:tcPr>
                    <a:solidFill>
                      <a:srgbClr val="EE3228"/>
                    </a:solidFill>
                  </a:tcPr>
                </a:tc>
                <a:tc>
                  <a:txBody>
                    <a:bodyPr/>
                    <a:lstStyle/>
                    <a:p>
                      <a:pPr algn="ctr"/>
                      <a:endParaRPr lang="en-US" dirty="0">
                        <a:solidFill>
                          <a:schemeClr val="bg1"/>
                        </a:solidFill>
                        <a:latin typeface="Wingdings" panose="05000000000000000000" pitchFamily="2" charset="2"/>
                      </a:endParaRPr>
                    </a:p>
                  </a:txBody>
                  <a:tcPr>
                    <a:solidFill>
                      <a:srgbClr val="EE3228"/>
                    </a:solidFill>
                  </a:tcPr>
                </a:tc>
                <a:tc>
                  <a:txBody>
                    <a:bodyPr/>
                    <a:lstStyle/>
                    <a:p>
                      <a:pPr algn="ctr"/>
                      <a:endParaRPr lang="en-US" dirty="0">
                        <a:solidFill>
                          <a:schemeClr val="bg1"/>
                        </a:solidFill>
                        <a:latin typeface="Wingdings" panose="05000000000000000000" pitchFamily="2" charset="2"/>
                      </a:endParaRPr>
                    </a:p>
                  </a:txBody>
                  <a:tcPr>
                    <a:solidFill>
                      <a:srgbClr val="EE3228"/>
                    </a:solidFill>
                  </a:tcPr>
                </a:tc>
                <a:tc>
                  <a:txBody>
                    <a:bodyPr/>
                    <a:lstStyle/>
                    <a:p>
                      <a:pPr algn="ctr"/>
                      <a:endParaRPr lang="en-US" dirty="0">
                        <a:solidFill>
                          <a:schemeClr val="bg1"/>
                        </a:solidFill>
                        <a:latin typeface="Wingdings" panose="05000000000000000000" pitchFamily="2" charset="2"/>
                      </a:endParaRPr>
                    </a:p>
                  </a:txBody>
                  <a:tcPr>
                    <a:solidFill>
                      <a:srgbClr val="EE3228"/>
                    </a:solidFill>
                  </a:tcPr>
                </a:tc>
                <a:extLst>
                  <a:ext uri="{0D108BD9-81ED-4DB2-BD59-A6C34878D82A}">
                    <a16:rowId xmlns:a16="http://schemas.microsoft.com/office/drawing/2014/main" val="3175600215"/>
                  </a:ext>
                </a:extLst>
              </a:tr>
              <a:tr h="370840">
                <a:tc>
                  <a:txBody>
                    <a:bodyPr/>
                    <a:lstStyle/>
                    <a:p>
                      <a:r>
                        <a:rPr lang="en-US" dirty="0">
                          <a:solidFill>
                            <a:schemeClr val="bg1"/>
                          </a:solidFill>
                        </a:rPr>
                        <a:t>Customer Lookup</a:t>
                      </a:r>
                    </a:p>
                  </a:txBody>
                  <a:tcPr>
                    <a:solidFill>
                      <a:schemeClr val="tx1"/>
                    </a:solidFill>
                  </a:tcPr>
                </a:tc>
                <a:tc>
                  <a:txBody>
                    <a:bodyPr/>
                    <a:lstStyle/>
                    <a:p>
                      <a:pPr algn="ctr"/>
                      <a:endParaRPr lang="en-US" dirty="0">
                        <a:solidFill>
                          <a:schemeClr val="bg1"/>
                        </a:solidFill>
                        <a:latin typeface="Wingdings" panose="05000000000000000000" pitchFamily="2" charset="2"/>
                      </a:endParaRPr>
                    </a:p>
                  </a:txBody>
                  <a:tcPr>
                    <a:solidFill>
                      <a:schemeClr val="tx1"/>
                    </a:solidFill>
                  </a:tcPr>
                </a:tc>
                <a:tc>
                  <a:txBody>
                    <a:bodyPr/>
                    <a:lstStyle/>
                    <a:p>
                      <a:pPr algn="ctr"/>
                      <a:endParaRPr lang="en-US">
                        <a:solidFill>
                          <a:schemeClr val="bg1"/>
                        </a:solidFill>
                        <a:latin typeface="Wingdings" panose="05000000000000000000" pitchFamily="2" charset="2"/>
                      </a:endParaRPr>
                    </a:p>
                  </a:txBody>
                  <a:tcPr>
                    <a:solidFill>
                      <a:schemeClr val="tx1"/>
                    </a:solidFill>
                  </a:tcPr>
                </a:tc>
                <a:tc>
                  <a:txBody>
                    <a:bodyPr/>
                    <a:lstStyle/>
                    <a:p>
                      <a:pPr algn="ctr"/>
                      <a:endParaRPr lang="en-US" dirty="0">
                        <a:solidFill>
                          <a:schemeClr val="bg1"/>
                        </a:solidFill>
                        <a:latin typeface="Wingdings" panose="05000000000000000000" pitchFamily="2" charset="2"/>
                      </a:endParaRPr>
                    </a:p>
                  </a:txBody>
                  <a:tcPr>
                    <a:solidFill>
                      <a:schemeClr val="tx1"/>
                    </a:solidFill>
                  </a:tcPr>
                </a:tc>
                <a:tc>
                  <a:txBody>
                    <a:bodyPr/>
                    <a:lstStyle/>
                    <a:p>
                      <a:pPr algn="ctr"/>
                      <a:endParaRPr lang="en-US" dirty="0">
                        <a:solidFill>
                          <a:schemeClr val="bg1"/>
                        </a:solidFill>
                        <a:latin typeface="Wingdings" panose="05000000000000000000" pitchFamily="2" charset="2"/>
                      </a:endParaRPr>
                    </a:p>
                  </a:txBody>
                  <a:tcPr>
                    <a:solidFill>
                      <a:schemeClr val="tx1"/>
                    </a:solidFill>
                  </a:tcPr>
                </a:tc>
                <a:tc>
                  <a:txBody>
                    <a:bodyPr/>
                    <a:lstStyle/>
                    <a:p>
                      <a:pPr algn="ctr"/>
                      <a:endParaRPr lang="en-US" dirty="0">
                        <a:solidFill>
                          <a:schemeClr val="bg1"/>
                        </a:solidFill>
                        <a:latin typeface="Wingdings" panose="05000000000000000000" pitchFamily="2" charset="2"/>
                      </a:endParaRPr>
                    </a:p>
                  </a:txBody>
                  <a:tcPr>
                    <a:solidFill>
                      <a:schemeClr val="tx1"/>
                    </a:solidFill>
                  </a:tcPr>
                </a:tc>
                <a:tc>
                  <a:txBody>
                    <a:bodyPr/>
                    <a:lstStyle/>
                    <a:p>
                      <a:pPr algn="ctr"/>
                      <a:endParaRPr lang="en-US" dirty="0">
                        <a:solidFill>
                          <a:schemeClr val="bg1"/>
                        </a:solidFill>
                        <a:latin typeface="Wingdings" panose="05000000000000000000" pitchFamily="2" charset="2"/>
                      </a:endParaRPr>
                    </a:p>
                  </a:txBody>
                  <a:tcPr>
                    <a:solidFill>
                      <a:schemeClr val="tx1"/>
                    </a:solidFill>
                  </a:tcPr>
                </a:tc>
                <a:tc>
                  <a:txBody>
                    <a:bodyPr/>
                    <a:lstStyle/>
                    <a:p>
                      <a:pPr algn="ctr"/>
                      <a:endParaRPr lang="en-US" dirty="0">
                        <a:solidFill>
                          <a:schemeClr val="bg1"/>
                        </a:solidFill>
                        <a:latin typeface="Wingdings" panose="05000000000000000000" pitchFamily="2" charset="2"/>
                      </a:endParaRPr>
                    </a:p>
                  </a:txBody>
                  <a:tcPr>
                    <a:solidFill>
                      <a:schemeClr val="tx1"/>
                    </a:solidFill>
                  </a:tcPr>
                </a:tc>
                <a:tc>
                  <a:txBody>
                    <a:bodyPr/>
                    <a:lstStyle/>
                    <a:p>
                      <a:pPr algn="ctr"/>
                      <a:endParaRPr lang="en-US" dirty="0">
                        <a:solidFill>
                          <a:schemeClr val="bg1"/>
                        </a:solidFill>
                        <a:latin typeface="Wingdings" panose="05000000000000000000" pitchFamily="2" charset="2"/>
                      </a:endParaRPr>
                    </a:p>
                  </a:txBody>
                  <a:tcPr>
                    <a:solidFill>
                      <a:schemeClr val="tx1"/>
                    </a:solidFill>
                  </a:tcPr>
                </a:tc>
                <a:tc>
                  <a:txBody>
                    <a:bodyPr/>
                    <a:lstStyle/>
                    <a:p>
                      <a:pPr algn="ctr"/>
                      <a:r>
                        <a:rPr lang="en-US" dirty="0">
                          <a:solidFill>
                            <a:schemeClr val="bg1"/>
                          </a:solidFill>
                          <a:latin typeface="Wingdings" panose="05000000000000000000" pitchFamily="2" charset="2"/>
                        </a:rPr>
                        <a:t>l</a:t>
                      </a:r>
                    </a:p>
                  </a:txBody>
                  <a:tcPr>
                    <a:solidFill>
                      <a:schemeClr val="tx1"/>
                    </a:solidFill>
                  </a:tcPr>
                </a:tc>
                <a:tc>
                  <a:txBody>
                    <a:bodyPr/>
                    <a:lstStyle/>
                    <a:p>
                      <a:pPr algn="ctr"/>
                      <a:r>
                        <a:rPr lang="en-US" dirty="0">
                          <a:solidFill>
                            <a:schemeClr val="bg1"/>
                          </a:solidFill>
                          <a:latin typeface="Wingdings" panose="05000000000000000000" pitchFamily="2" charset="2"/>
                        </a:rPr>
                        <a:t>l</a:t>
                      </a:r>
                    </a:p>
                  </a:txBody>
                  <a:tcPr>
                    <a:solidFill>
                      <a:schemeClr val="tx1"/>
                    </a:solidFill>
                  </a:tcPr>
                </a:tc>
                <a:tc>
                  <a:txBody>
                    <a:bodyPr/>
                    <a:lstStyle/>
                    <a:p>
                      <a:pPr algn="ctr"/>
                      <a:r>
                        <a:rPr lang="en-US" dirty="0">
                          <a:solidFill>
                            <a:schemeClr val="bg1"/>
                          </a:solidFill>
                          <a:latin typeface="Wingdings" panose="05000000000000000000" pitchFamily="2" charset="2"/>
                        </a:rPr>
                        <a:t>l</a:t>
                      </a:r>
                    </a:p>
                  </a:txBody>
                  <a:tcPr>
                    <a:solidFill>
                      <a:schemeClr val="tx1"/>
                    </a:solidFill>
                  </a:tcPr>
                </a:tc>
                <a:tc>
                  <a:txBody>
                    <a:bodyPr/>
                    <a:lstStyle/>
                    <a:p>
                      <a:pPr algn="ctr"/>
                      <a:r>
                        <a:rPr lang="en-US" dirty="0">
                          <a:solidFill>
                            <a:schemeClr val="bg1"/>
                          </a:solidFill>
                          <a:latin typeface="Wingdings" panose="05000000000000000000" pitchFamily="2" charset="2"/>
                        </a:rPr>
                        <a:t>l</a:t>
                      </a:r>
                    </a:p>
                  </a:txBody>
                  <a:tcPr>
                    <a:solidFill>
                      <a:schemeClr val="tx1"/>
                    </a:solidFill>
                  </a:tcPr>
                </a:tc>
                <a:tc>
                  <a:txBody>
                    <a:bodyPr/>
                    <a:lstStyle/>
                    <a:p>
                      <a:pPr algn="ctr"/>
                      <a:endParaRPr lang="en-US" dirty="0">
                        <a:solidFill>
                          <a:schemeClr val="bg1"/>
                        </a:solidFill>
                        <a:latin typeface="Wingdings" panose="05000000000000000000" pitchFamily="2" charset="2"/>
                      </a:endParaRPr>
                    </a:p>
                  </a:txBody>
                  <a:tcPr>
                    <a:solidFill>
                      <a:schemeClr val="tx1"/>
                    </a:solidFill>
                  </a:tcPr>
                </a:tc>
                <a:tc>
                  <a:txBody>
                    <a:bodyPr/>
                    <a:lstStyle/>
                    <a:p>
                      <a:pPr algn="ctr"/>
                      <a:endParaRPr lang="en-US" dirty="0">
                        <a:solidFill>
                          <a:schemeClr val="bg1"/>
                        </a:solidFill>
                        <a:latin typeface="Wingdings" panose="05000000000000000000" pitchFamily="2" charset="2"/>
                      </a:endParaRPr>
                    </a:p>
                  </a:txBody>
                  <a:tcPr>
                    <a:solidFill>
                      <a:schemeClr val="tx1"/>
                    </a:solidFill>
                  </a:tcPr>
                </a:tc>
                <a:tc>
                  <a:txBody>
                    <a:bodyPr/>
                    <a:lstStyle/>
                    <a:p>
                      <a:pPr algn="ctr"/>
                      <a:endParaRPr lang="en-US" dirty="0">
                        <a:solidFill>
                          <a:schemeClr val="bg1"/>
                        </a:solidFill>
                        <a:latin typeface="Wingdings" panose="05000000000000000000" pitchFamily="2" charset="2"/>
                      </a:endParaRPr>
                    </a:p>
                  </a:txBody>
                  <a:tcPr>
                    <a:solidFill>
                      <a:schemeClr val="tx1"/>
                    </a:solidFill>
                  </a:tcPr>
                </a:tc>
                <a:tc>
                  <a:txBody>
                    <a:bodyPr/>
                    <a:lstStyle/>
                    <a:p>
                      <a:pPr algn="ctr"/>
                      <a:endParaRPr lang="en-US" dirty="0">
                        <a:solidFill>
                          <a:schemeClr val="bg1"/>
                        </a:solidFill>
                        <a:latin typeface="Wingdings" panose="05000000000000000000" pitchFamily="2" charset="2"/>
                      </a:endParaRPr>
                    </a:p>
                  </a:txBody>
                  <a:tcPr>
                    <a:solidFill>
                      <a:schemeClr val="tx1"/>
                    </a:solidFill>
                  </a:tcPr>
                </a:tc>
                <a:tc>
                  <a:txBody>
                    <a:bodyPr/>
                    <a:lstStyle/>
                    <a:p>
                      <a:pPr algn="ctr"/>
                      <a:endParaRPr lang="en-US" dirty="0">
                        <a:solidFill>
                          <a:schemeClr val="bg1"/>
                        </a:solidFill>
                        <a:latin typeface="Wingdings" panose="05000000000000000000" pitchFamily="2" charset="2"/>
                      </a:endParaRPr>
                    </a:p>
                  </a:txBody>
                  <a:tcPr>
                    <a:solidFill>
                      <a:schemeClr val="tx1"/>
                    </a:solidFill>
                  </a:tcPr>
                </a:tc>
                <a:tc>
                  <a:txBody>
                    <a:bodyPr/>
                    <a:lstStyle/>
                    <a:p>
                      <a:pPr algn="ctr"/>
                      <a:endParaRPr lang="en-US" dirty="0">
                        <a:solidFill>
                          <a:schemeClr val="bg1"/>
                        </a:solidFill>
                        <a:latin typeface="Wingdings" panose="05000000000000000000" pitchFamily="2" charset="2"/>
                      </a:endParaRPr>
                    </a:p>
                  </a:txBody>
                  <a:tcPr>
                    <a:solidFill>
                      <a:schemeClr val="tx1"/>
                    </a:solidFill>
                  </a:tcPr>
                </a:tc>
                <a:tc>
                  <a:txBody>
                    <a:bodyPr/>
                    <a:lstStyle/>
                    <a:p>
                      <a:pPr algn="ctr"/>
                      <a:endParaRPr lang="en-US" dirty="0">
                        <a:solidFill>
                          <a:schemeClr val="bg1"/>
                        </a:solidFill>
                        <a:latin typeface="Wingdings" panose="05000000000000000000" pitchFamily="2" charset="2"/>
                      </a:endParaRPr>
                    </a:p>
                  </a:txBody>
                  <a:tcPr>
                    <a:solidFill>
                      <a:schemeClr val="tx1"/>
                    </a:solidFill>
                  </a:tcPr>
                </a:tc>
                <a:tc>
                  <a:txBody>
                    <a:bodyPr/>
                    <a:lstStyle/>
                    <a:p>
                      <a:pPr algn="ctr"/>
                      <a:endParaRPr lang="en-US" dirty="0">
                        <a:solidFill>
                          <a:schemeClr val="bg1"/>
                        </a:solidFill>
                        <a:latin typeface="Wingdings" panose="05000000000000000000" pitchFamily="2" charset="2"/>
                      </a:endParaRPr>
                    </a:p>
                  </a:txBody>
                  <a:tcPr>
                    <a:solidFill>
                      <a:schemeClr val="tx1"/>
                    </a:solidFill>
                  </a:tcPr>
                </a:tc>
                <a:extLst>
                  <a:ext uri="{0D108BD9-81ED-4DB2-BD59-A6C34878D82A}">
                    <a16:rowId xmlns:a16="http://schemas.microsoft.com/office/drawing/2014/main" val="3549855035"/>
                  </a:ext>
                </a:extLst>
              </a:tr>
              <a:tr h="370840">
                <a:tc>
                  <a:txBody>
                    <a:bodyPr/>
                    <a:lstStyle/>
                    <a:p>
                      <a:r>
                        <a:rPr lang="en-US" dirty="0">
                          <a:solidFill>
                            <a:schemeClr val="bg1"/>
                          </a:solidFill>
                        </a:rPr>
                        <a:t>Risk Review</a:t>
                      </a:r>
                    </a:p>
                  </a:txBody>
                  <a:tcPr>
                    <a:solidFill>
                      <a:srgbClr val="EE3228"/>
                    </a:solidFill>
                  </a:tcPr>
                </a:tc>
                <a:tc>
                  <a:txBody>
                    <a:bodyPr/>
                    <a:lstStyle/>
                    <a:p>
                      <a:pPr algn="ctr"/>
                      <a:endParaRPr lang="en-US" dirty="0">
                        <a:solidFill>
                          <a:schemeClr val="bg1"/>
                        </a:solidFill>
                        <a:latin typeface="Wingdings" panose="05000000000000000000" pitchFamily="2" charset="2"/>
                      </a:endParaRPr>
                    </a:p>
                  </a:txBody>
                  <a:tcPr>
                    <a:solidFill>
                      <a:srgbClr val="EE3228"/>
                    </a:solidFill>
                  </a:tcPr>
                </a:tc>
                <a:tc>
                  <a:txBody>
                    <a:bodyPr/>
                    <a:lstStyle/>
                    <a:p>
                      <a:pPr algn="ctr"/>
                      <a:endParaRPr lang="en-US" dirty="0">
                        <a:solidFill>
                          <a:schemeClr val="bg1"/>
                        </a:solidFill>
                        <a:latin typeface="Wingdings" panose="05000000000000000000" pitchFamily="2" charset="2"/>
                      </a:endParaRPr>
                    </a:p>
                  </a:txBody>
                  <a:tcPr>
                    <a:solidFill>
                      <a:srgbClr val="EE3228"/>
                    </a:solidFill>
                  </a:tcPr>
                </a:tc>
                <a:tc>
                  <a:txBody>
                    <a:bodyPr/>
                    <a:lstStyle/>
                    <a:p>
                      <a:pPr algn="ctr"/>
                      <a:endParaRPr lang="en-US" dirty="0">
                        <a:solidFill>
                          <a:schemeClr val="bg1"/>
                        </a:solidFill>
                        <a:latin typeface="Wingdings" panose="05000000000000000000" pitchFamily="2" charset="2"/>
                      </a:endParaRPr>
                    </a:p>
                  </a:txBody>
                  <a:tcPr>
                    <a:solidFill>
                      <a:srgbClr val="EE3228"/>
                    </a:solidFill>
                  </a:tcPr>
                </a:tc>
                <a:tc>
                  <a:txBody>
                    <a:bodyPr/>
                    <a:lstStyle/>
                    <a:p>
                      <a:pPr algn="ctr"/>
                      <a:endParaRPr lang="en-US" dirty="0">
                        <a:solidFill>
                          <a:schemeClr val="bg1"/>
                        </a:solidFill>
                        <a:latin typeface="Wingdings" panose="05000000000000000000" pitchFamily="2" charset="2"/>
                      </a:endParaRPr>
                    </a:p>
                  </a:txBody>
                  <a:tcPr>
                    <a:solidFill>
                      <a:srgbClr val="EE3228"/>
                    </a:solidFill>
                  </a:tcPr>
                </a:tc>
                <a:tc>
                  <a:txBody>
                    <a:bodyPr/>
                    <a:lstStyle/>
                    <a:p>
                      <a:pPr algn="ctr"/>
                      <a:endParaRPr lang="en-US" dirty="0">
                        <a:solidFill>
                          <a:schemeClr val="bg1"/>
                        </a:solidFill>
                        <a:latin typeface="Wingdings" panose="05000000000000000000" pitchFamily="2" charset="2"/>
                      </a:endParaRPr>
                    </a:p>
                  </a:txBody>
                  <a:tcPr>
                    <a:solidFill>
                      <a:srgbClr val="EE3228"/>
                    </a:solidFill>
                  </a:tcPr>
                </a:tc>
                <a:tc>
                  <a:txBody>
                    <a:bodyPr/>
                    <a:lstStyle/>
                    <a:p>
                      <a:pPr algn="ctr"/>
                      <a:endParaRPr lang="en-US" dirty="0">
                        <a:solidFill>
                          <a:schemeClr val="bg1"/>
                        </a:solidFill>
                        <a:latin typeface="Wingdings" panose="05000000000000000000" pitchFamily="2" charset="2"/>
                      </a:endParaRPr>
                    </a:p>
                  </a:txBody>
                  <a:tcPr>
                    <a:solidFill>
                      <a:srgbClr val="EE3228"/>
                    </a:solidFill>
                  </a:tcPr>
                </a:tc>
                <a:tc>
                  <a:txBody>
                    <a:bodyPr/>
                    <a:lstStyle/>
                    <a:p>
                      <a:pPr algn="ctr"/>
                      <a:endParaRPr lang="en-US" dirty="0">
                        <a:solidFill>
                          <a:schemeClr val="bg1"/>
                        </a:solidFill>
                        <a:latin typeface="Wingdings" panose="05000000000000000000" pitchFamily="2" charset="2"/>
                      </a:endParaRPr>
                    </a:p>
                  </a:txBody>
                  <a:tcPr>
                    <a:solidFill>
                      <a:srgbClr val="EE3228"/>
                    </a:solidFill>
                  </a:tcPr>
                </a:tc>
                <a:tc>
                  <a:txBody>
                    <a:bodyPr/>
                    <a:lstStyle/>
                    <a:p>
                      <a:pPr algn="ctr"/>
                      <a:endParaRPr lang="en-US" dirty="0">
                        <a:solidFill>
                          <a:schemeClr val="bg1"/>
                        </a:solidFill>
                        <a:latin typeface="Wingdings" panose="05000000000000000000" pitchFamily="2" charset="2"/>
                      </a:endParaRPr>
                    </a:p>
                  </a:txBody>
                  <a:tcPr>
                    <a:solidFill>
                      <a:srgbClr val="EE3228"/>
                    </a:solidFill>
                  </a:tcPr>
                </a:tc>
                <a:tc>
                  <a:txBody>
                    <a:bodyPr/>
                    <a:lstStyle/>
                    <a:p>
                      <a:pPr algn="ctr"/>
                      <a:endParaRPr lang="en-US" dirty="0">
                        <a:solidFill>
                          <a:schemeClr val="bg1"/>
                        </a:solidFill>
                        <a:latin typeface="Wingdings" panose="05000000000000000000" pitchFamily="2" charset="2"/>
                      </a:endParaRPr>
                    </a:p>
                  </a:txBody>
                  <a:tcPr>
                    <a:solidFill>
                      <a:srgbClr val="EE3228"/>
                    </a:solidFill>
                  </a:tcPr>
                </a:tc>
                <a:tc>
                  <a:txBody>
                    <a:bodyPr/>
                    <a:lstStyle/>
                    <a:p>
                      <a:pPr algn="ctr"/>
                      <a:endParaRPr lang="en-US" dirty="0">
                        <a:solidFill>
                          <a:schemeClr val="bg1"/>
                        </a:solidFill>
                        <a:latin typeface="Wingdings" panose="05000000000000000000" pitchFamily="2" charset="2"/>
                      </a:endParaRPr>
                    </a:p>
                  </a:txBody>
                  <a:tcPr>
                    <a:solidFill>
                      <a:srgbClr val="EE3228"/>
                    </a:solidFill>
                  </a:tcPr>
                </a:tc>
                <a:tc>
                  <a:txBody>
                    <a:bodyPr/>
                    <a:lstStyle/>
                    <a:p>
                      <a:pPr algn="ctr"/>
                      <a:endParaRPr lang="en-US" dirty="0">
                        <a:solidFill>
                          <a:schemeClr val="bg1"/>
                        </a:solidFill>
                        <a:latin typeface="Wingdings" panose="05000000000000000000" pitchFamily="2" charset="2"/>
                      </a:endParaRPr>
                    </a:p>
                  </a:txBody>
                  <a:tcPr>
                    <a:solidFill>
                      <a:srgbClr val="EE3228"/>
                    </a:solidFill>
                  </a:tcPr>
                </a:tc>
                <a:tc>
                  <a:txBody>
                    <a:bodyPr/>
                    <a:lstStyle/>
                    <a:p>
                      <a:pPr algn="ctr"/>
                      <a:endParaRPr lang="en-US" dirty="0">
                        <a:solidFill>
                          <a:schemeClr val="bg1"/>
                        </a:solidFill>
                        <a:latin typeface="Wingdings" panose="05000000000000000000" pitchFamily="2" charset="2"/>
                      </a:endParaRPr>
                    </a:p>
                  </a:txBody>
                  <a:tcPr>
                    <a:solidFill>
                      <a:srgbClr val="EE3228"/>
                    </a:solidFill>
                  </a:tcPr>
                </a:tc>
                <a:tc>
                  <a:txBody>
                    <a:bodyPr/>
                    <a:lstStyle/>
                    <a:p>
                      <a:pPr algn="ctr"/>
                      <a:r>
                        <a:rPr lang="en-US" dirty="0">
                          <a:solidFill>
                            <a:schemeClr val="bg1"/>
                          </a:solidFill>
                          <a:latin typeface="Wingdings" panose="05000000000000000000" pitchFamily="2" charset="2"/>
                        </a:rPr>
                        <a:t>l</a:t>
                      </a:r>
                    </a:p>
                  </a:txBody>
                  <a:tcPr>
                    <a:solidFill>
                      <a:srgbClr val="EE3228"/>
                    </a:solidFill>
                  </a:tcPr>
                </a:tc>
                <a:tc>
                  <a:txBody>
                    <a:bodyPr/>
                    <a:lstStyle/>
                    <a:p>
                      <a:pPr algn="ctr"/>
                      <a:r>
                        <a:rPr lang="en-US" dirty="0">
                          <a:solidFill>
                            <a:schemeClr val="bg1"/>
                          </a:solidFill>
                          <a:latin typeface="Wingdings" panose="05000000000000000000" pitchFamily="2" charset="2"/>
                        </a:rPr>
                        <a:t>l</a:t>
                      </a:r>
                    </a:p>
                  </a:txBody>
                  <a:tcPr>
                    <a:solidFill>
                      <a:srgbClr val="EE3228"/>
                    </a:solidFill>
                  </a:tcPr>
                </a:tc>
                <a:tc>
                  <a:txBody>
                    <a:bodyPr/>
                    <a:lstStyle/>
                    <a:p>
                      <a:pPr algn="ctr"/>
                      <a:r>
                        <a:rPr lang="en-US" dirty="0">
                          <a:solidFill>
                            <a:schemeClr val="bg1"/>
                          </a:solidFill>
                          <a:latin typeface="Wingdings" panose="05000000000000000000" pitchFamily="2" charset="2"/>
                        </a:rPr>
                        <a:t>l</a:t>
                      </a:r>
                    </a:p>
                  </a:txBody>
                  <a:tcPr>
                    <a:solidFill>
                      <a:srgbClr val="EE3228"/>
                    </a:solidFill>
                  </a:tcPr>
                </a:tc>
                <a:tc>
                  <a:txBody>
                    <a:bodyPr/>
                    <a:lstStyle/>
                    <a:p>
                      <a:pPr algn="ctr"/>
                      <a:r>
                        <a:rPr lang="en-US" dirty="0">
                          <a:solidFill>
                            <a:schemeClr val="bg1"/>
                          </a:solidFill>
                          <a:latin typeface="Wingdings" panose="05000000000000000000" pitchFamily="2" charset="2"/>
                        </a:rPr>
                        <a:t>l</a:t>
                      </a:r>
                    </a:p>
                  </a:txBody>
                  <a:tcPr>
                    <a:solidFill>
                      <a:srgbClr val="EE3228"/>
                    </a:solidFill>
                  </a:tcPr>
                </a:tc>
                <a:tc>
                  <a:txBody>
                    <a:bodyPr/>
                    <a:lstStyle/>
                    <a:p>
                      <a:pPr algn="ctr"/>
                      <a:endParaRPr lang="en-US" dirty="0">
                        <a:solidFill>
                          <a:schemeClr val="bg1"/>
                        </a:solidFill>
                        <a:latin typeface="Wingdings" panose="05000000000000000000" pitchFamily="2" charset="2"/>
                      </a:endParaRPr>
                    </a:p>
                  </a:txBody>
                  <a:tcPr>
                    <a:solidFill>
                      <a:srgbClr val="EE3228"/>
                    </a:solidFill>
                  </a:tcPr>
                </a:tc>
                <a:tc>
                  <a:txBody>
                    <a:bodyPr/>
                    <a:lstStyle/>
                    <a:p>
                      <a:pPr algn="ctr"/>
                      <a:endParaRPr lang="en-US" dirty="0">
                        <a:solidFill>
                          <a:schemeClr val="bg1"/>
                        </a:solidFill>
                        <a:latin typeface="Wingdings" panose="05000000000000000000" pitchFamily="2" charset="2"/>
                      </a:endParaRPr>
                    </a:p>
                  </a:txBody>
                  <a:tcPr>
                    <a:solidFill>
                      <a:srgbClr val="EE3228"/>
                    </a:solidFill>
                  </a:tcPr>
                </a:tc>
                <a:tc>
                  <a:txBody>
                    <a:bodyPr/>
                    <a:lstStyle/>
                    <a:p>
                      <a:pPr algn="ctr"/>
                      <a:endParaRPr lang="en-US" dirty="0">
                        <a:solidFill>
                          <a:schemeClr val="bg1"/>
                        </a:solidFill>
                        <a:latin typeface="Wingdings" panose="05000000000000000000" pitchFamily="2" charset="2"/>
                      </a:endParaRPr>
                    </a:p>
                  </a:txBody>
                  <a:tcPr>
                    <a:solidFill>
                      <a:srgbClr val="EE3228"/>
                    </a:solidFill>
                  </a:tcPr>
                </a:tc>
                <a:tc>
                  <a:txBody>
                    <a:bodyPr/>
                    <a:lstStyle/>
                    <a:p>
                      <a:pPr algn="ctr"/>
                      <a:endParaRPr lang="en-US" dirty="0">
                        <a:solidFill>
                          <a:schemeClr val="bg1"/>
                        </a:solidFill>
                        <a:latin typeface="Wingdings" panose="05000000000000000000" pitchFamily="2" charset="2"/>
                      </a:endParaRPr>
                    </a:p>
                  </a:txBody>
                  <a:tcPr>
                    <a:solidFill>
                      <a:srgbClr val="EE3228"/>
                    </a:solidFill>
                  </a:tcPr>
                </a:tc>
                <a:extLst>
                  <a:ext uri="{0D108BD9-81ED-4DB2-BD59-A6C34878D82A}">
                    <a16:rowId xmlns:a16="http://schemas.microsoft.com/office/drawing/2014/main" val="1709168830"/>
                  </a:ext>
                </a:extLst>
              </a:tr>
              <a:tr h="370840">
                <a:tc>
                  <a:txBody>
                    <a:bodyPr/>
                    <a:lstStyle/>
                    <a:p>
                      <a:r>
                        <a:rPr lang="en-US" dirty="0">
                          <a:solidFill>
                            <a:schemeClr val="bg1"/>
                          </a:solidFill>
                        </a:rPr>
                        <a:t>Produce Card</a:t>
                      </a:r>
                    </a:p>
                  </a:txBody>
                  <a:tcPr>
                    <a:solidFill>
                      <a:schemeClr val="tx1"/>
                    </a:solidFill>
                  </a:tcPr>
                </a:tc>
                <a:tc>
                  <a:txBody>
                    <a:bodyPr/>
                    <a:lstStyle/>
                    <a:p>
                      <a:pPr algn="ctr"/>
                      <a:endParaRPr lang="en-US">
                        <a:solidFill>
                          <a:schemeClr val="bg1"/>
                        </a:solidFill>
                        <a:latin typeface="Wingdings" panose="05000000000000000000" pitchFamily="2" charset="2"/>
                      </a:endParaRPr>
                    </a:p>
                  </a:txBody>
                  <a:tcPr>
                    <a:solidFill>
                      <a:schemeClr val="tx1"/>
                    </a:solidFill>
                  </a:tcPr>
                </a:tc>
                <a:tc>
                  <a:txBody>
                    <a:bodyPr/>
                    <a:lstStyle/>
                    <a:p>
                      <a:pPr algn="ctr"/>
                      <a:endParaRPr lang="en-US">
                        <a:solidFill>
                          <a:schemeClr val="bg1"/>
                        </a:solidFill>
                        <a:latin typeface="Wingdings" panose="05000000000000000000" pitchFamily="2" charset="2"/>
                      </a:endParaRPr>
                    </a:p>
                  </a:txBody>
                  <a:tcPr>
                    <a:solidFill>
                      <a:schemeClr val="tx1"/>
                    </a:solidFill>
                  </a:tcPr>
                </a:tc>
                <a:tc>
                  <a:txBody>
                    <a:bodyPr/>
                    <a:lstStyle/>
                    <a:p>
                      <a:pPr algn="ctr"/>
                      <a:endParaRPr lang="en-US">
                        <a:solidFill>
                          <a:schemeClr val="bg1"/>
                        </a:solidFill>
                        <a:latin typeface="Wingdings" panose="05000000000000000000" pitchFamily="2" charset="2"/>
                      </a:endParaRPr>
                    </a:p>
                  </a:txBody>
                  <a:tcPr>
                    <a:solidFill>
                      <a:schemeClr val="tx1"/>
                    </a:solidFill>
                  </a:tcPr>
                </a:tc>
                <a:tc>
                  <a:txBody>
                    <a:bodyPr/>
                    <a:lstStyle/>
                    <a:p>
                      <a:pPr algn="ctr"/>
                      <a:endParaRPr lang="en-US" dirty="0">
                        <a:solidFill>
                          <a:schemeClr val="bg1"/>
                        </a:solidFill>
                        <a:latin typeface="Wingdings" panose="05000000000000000000" pitchFamily="2" charset="2"/>
                      </a:endParaRPr>
                    </a:p>
                  </a:txBody>
                  <a:tcPr>
                    <a:solidFill>
                      <a:schemeClr val="tx1"/>
                    </a:solidFill>
                  </a:tcPr>
                </a:tc>
                <a:tc>
                  <a:txBody>
                    <a:bodyPr/>
                    <a:lstStyle/>
                    <a:p>
                      <a:pPr algn="ctr"/>
                      <a:endParaRPr lang="en-US">
                        <a:solidFill>
                          <a:schemeClr val="bg1"/>
                        </a:solidFill>
                        <a:latin typeface="Wingdings" panose="05000000000000000000" pitchFamily="2" charset="2"/>
                      </a:endParaRPr>
                    </a:p>
                  </a:txBody>
                  <a:tcPr>
                    <a:solidFill>
                      <a:schemeClr val="tx1"/>
                    </a:solidFill>
                  </a:tcPr>
                </a:tc>
                <a:tc>
                  <a:txBody>
                    <a:bodyPr/>
                    <a:lstStyle/>
                    <a:p>
                      <a:pPr algn="ctr"/>
                      <a:endParaRPr lang="en-US" dirty="0">
                        <a:solidFill>
                          <a:schemeClr val="bg1"/>
                        </a:solidFill>
                        <a:latin typeface="Wingdings" panose="05000000000000000000" pitchFamily="2" charset="2"/>
                      </a:endParaRPr>
                    </a:p>
                  </a:txBody>
                  <a:tcPr>
                    <a:solidFill>
                      <a:schemeClr val="tx1"/>
                    </a:solidFill>
                  </a:tcPr>
                </a:tc>
                <a:tc>
                  <a:txBody>
                    <a:bodyPr/>
                    <a:lstStyle/>
                    <a:p>
                      <a:pPr algn="ctr"/>
                      <a:endParaRPr lang="en-US">
                        <a:solidFill>
                          <a:schemeClr val="bg1"/>
                        </a:solidFill>
                        <a:latin typeface="Wingdings" panose="05000000000000000000" pitchFamily="2" charset="2"/>
                      </a:endParaRPr>
                    </a:p>
                  </a:txBody>
                  <a:tcPr>
                    <a:solidFill>
                      <a:schemeClr val="tx1"/>
                    </a:solidFill>
                  </a:tcPr>
                </a:tc>
                <a:tc>
                  <a:txBody>
                    <a:bodyPr/>
                    <a:lstStyle/>
                    <a:p>
                      <a:pPr algn="ctr"/>
                      <a:endParaRPr lang="en-US" dirty="0">
                        <a:solidFill>
                          <a:schemeClr val="bg1"/>
                        </a:solidFill>
                        <a:latin typeface="Wingdings" panose="05000000000000000000" pitchFamily="2" charset="2"/>
                      </a:endParaRPr>
                    </a:p>
                  </a:txBody>
                  <a:tcPr>
                    <a:solidFill>
                      <a:schemeClr val="tx1"/>
                    </a:solidFill>
                  </a:tcPr>
                </a:tc>
                <a:tc>
                  <a:txBody>
                    <a:bodyPr/>
                    <a:lstStyle/>
                    <a:p>
                      <a:pPr algn="ctr"/>
                      <a:endParaRPr lang="en-US" dirty="0">
                        <a:solidFill>
                          <a:schemeClr val="bg1"/>
                        </a:solidFill>
                        <a:latin typeface="Wingdings" panose="05000000000000000000" pitchFamily="2" charset="2"/>
                      </a:endParaRPr>
                    </a:p>
                  </a:txBody>
                  <a:tcPr>
                    <a:solidFill>
                      <a:schemeClr val="tx1"/>
                    </a:solidFill>
                  </a:tcPr>
                </a:tc>
                <a:tc>
                  <a:txBody>
                    <a:bodyPr/>
                    <a:lstStyle/>
                    <a:p>
                      <a:pPr algn="ctr"/>
                      <a:endParaRPr lang="en-US" dirty="0">
                        <a:solidFill>
                          <a:schemeClr val="bg1"/>
                        </a:solidFill>
                        <a:latin typeface="Wingdings" panose="05000000000000000000" pitchFamily="2" charset="2"/>
                      </a:endParaRPr>
                    </a:p>
                  </a:txBody>
                  <a:tcPr>
                    <a:solidFill>
                      <a:schemeClr val="tx1"/>
                    </a:solidFill>
                  </a:tcPr>
                </a:tc>
                <a:tc>
                  <a:txBody>
                    <a:bodyPr/>
                    <a:lstStyle/>
                    <a:p>
                      <a:pPr algn="ctr"/>
                      <a:endParaRPr lang="en-US" dirty="0">
                        <a:solidFill>
                          <a:schemeClr val="bg1"/>
                        </a:solidFill>
                        <a:latin typeface="Wingdings" panose="05000000000000000000" pitchFamily="2" charset="2"/>
                      </a:endParaRPr>
                    </a:p>
                  </a:txBody>
                  <a:tcPr>
                    <a:solidFill>
                      <a:schemeClr val="tx1"/>
                    </a:solidFill>
                  </a:tcPr>
                </a:tc>
                <a:tc>
                  <a:txBody>
                    <a:bodyPr/>
                    <a:lstStyle/>
                    <a:p>
                      <a:pPr algn="ctr"/>
                      <a:endParaRPr lang="en-US" dirty="0">
                        <a:solidFill>
                          <a:schemeClr val="bg1"/>
                        </a:solidFill>
                        <a:latin typeface="Wingdings" panose="05000000000000000000" pitchFamily="2" charset="2"/>
                      </a:endParaRPr>
                    </a:p>
                  </a:txBody>
                  <a:tcPr>
                    <a:solidFill>
                      <a:schemeClr val="tx1"/>
                    </a:solidFill>
                  </a:tcPr>
                </a:tc>
                <a:tc>
                  <a:txBody>
                    <a:bodyPr/>
                    <a:lstStyle/>
                    <a:p>
                      <a:pPr algn="ctr"/>
                      <a:endParaRPr lang="en-US" dirty="0">
                        <a:solidFill>
                          <a:schemeClr val="bg1"/>
                        </a:solidFill>
                        <a:latin typeface="Wingdings" panose="05000000000000000000" pitchFamily="2" charset="2"/>
                      </a:endParaRPr>
                    </a:p>
                  </a:txBody>
                  <a:tcPr>
                    <a:solidFill>
                      <a:schemeClr val="tx1"/>
                    </a:solidFill>
                  </a:tcPr>
                </a:tc>
                <a:tc>
                  <a:txBody>
                    <a:bodyPr/>
                    <a:lstStyle/>
                    <a:p>
                      <a:pPr algn="ctr"/>
                      <a:endParaRPr lang="en-US" dirty="0">
                        <a:solidFill>
                          <a:schemeClr val="bg1"/>
                        </a:solidFill>
                        <a:latin typeface="Wingdings" panose="05000000000000000000" pitchFamily="2" charset="2"/>
                      </a:endParaRPr>
                    </a:p>
                  </a:txBody>
                  <a:tcPr>
                    <a:solidFill>
                      <a:schemeClr val="tx1"/>
                    </a:solidFill>
                  </a:tcPr>
                </a:tc>
                <a:tc>
                  <a:txBody>
                    <a:bodyPr/>
                    <a:lstStyle/>
                    <a:p>
                      <a:pPr algn="ctr"/>
                      <a:endParaRPr lang="en-US" dirty="0">
                        <a:solidFill>
                          <a:schemeClr val="bg1"/>
                        </a:solidFill>
                        <a:latin typeface="Wingdings" panose="05000000000000000000" pitchFamily="2" charset="2"/>
                      </a:endParaRPr>
                    </a:p>
                  </a:txBody>
                  <a:tcPr>
                    <a:solidFill>
                      <a:schemeClr val="tx1"/>
                    </a:solidFill>
                  </a:tcPr>
                </a:tc>
                <a:tc>
                  <a:txBody>
                    <a:bodyPr/>
                    <a:lstStyle/>
                    <a:p>
                      <a:pPr algn="ctr"/>
                      <a:endParaRPr lang="en-US" dirty="0">
                        <a:solidFill>
                          <a:schemeClr val="bg1"/>
                        </a:solidFill>
                        <a:latin typeface="Wingdings" panose="05000000000000000000" pitchFamily="2" charset="2"/>
                      </a:endParaRPr>
                    </a:p>
                  </a:txBody>
                  <a:tcPr>
                    <a:solidFill>
                      <a:schemeClr val="tx1"/>
                    </a:solidFill>
                  </a:tcPr>
                </a:tc>
                <a:tc>
                  <a:txBody>
                    <a:bodyPr/>
                    <a:lstStyle/>
                    <a:p>
                      <a:pPr algn="ctr"/>
                      <a:r>
                        <a:rPr lang="en-US" dirty="0">
                          <a:solidFill>
                            <a:schemeClr val="bg1"/>
                          </a:solidFill>
                          <a:latin typeface="Wingdings" panose="05000000000000000000" pitchFamily="2" charset="2"/>
                        </a:rPr>
                        <a:t>l</a:t>
                      </a:r>
                    </a:p>
                  </a:txBody>
                  <a:tcPr>
                    <a:solidFill>
                      <a:schemeClr val="tx1"/>
                    </a:solidFill>
                  </a:tcPr>
                </a:tc>
                <a:tc>
                  <a:txBody>
                    <a:bodyPr/>
                    <a:lstStyle/>
                    <a:p>
                      <a:pPr algn="ctr"/>
                      <a:r>
                        <a:rPr lang="en-US" dirty="0">
                          <a:solidFill>
                            <a:schemeClr val="bg1"/>
                          </a:solidFill>
                          <a:latin typeface="Wingdings" panose="05000000000000000000" pitchFamily="2" charset="2"/>
                        </a:rPr>
                        <a:t>l</a:t>
                      </a:r>
                    </a:p>
                  </a:txBody>
                  <a:tcPr>
                    <a:solidFill>
                      <a:schemeClr val="tx1"/>
                    </a:solidFill>
                  </a:tcPr>
                </a:tc>
                <a:tc>
                  <a:txBody>
                    <a:bodyPr/>
                    <a:lstStyle/>
                    <a:p>
                      <a:pPr algn="ctr"/>
                      <a:r>
                        <a:rPr lang="en-US" dirty="0">
                          <a:solidFill>
                            <a:schemeClr val="bg1"/>
                          </a:solidFill>
                          <a:latin typeface="Wingdings" panose="05000000000000000000" pitchFamily="2" charset="2"/>
                        </a:rPr>
                        <a:t>l</a:t>
                      </a:r>
                    </a:p>
                  </a:txBody>
                  <a:tcPr>
                    <a:solidFill>
                      <a:schemeClr val="tx1"/>
                    </a:solidFill>
                  </a:tcPr>
                </a:tc>
                <a:tc>
                  <a:txBody>
                    <a:bodyPr/>
                    <a:lstStyle/>
                    <a:p>
                      <a:pPr algn="ctr"/>
                      <a:r>
                        <a:rPr lang="en-US" dirty="0">
                          <a:solidFill>
                            <a:schemeClr val="bg1"/>
                          </a:solidFill>
                          <a:latin typeface="Wingdings" panose="05000000000000000000" pitchFamily="2" charset="2"/>
                        </a:rPr>
                        <a:t>l</a:t>
                      </a:r>
                    </a:p>
                  </a:txBody>
                  <a:tcPr>
                    <a:solidFill>
                      <a:schemeClr val="tx1"/>
                    </a:solidFill>
                  </a:tcPr>
                </a:tc>
                <a:extLst>
                  <a:ext uri="{0D108BD9-81ED-4DB2-BD59-A6C34878D82A}">
                    <a16:rowId xmlns:a16="http://schemas.microsoft.com/office/drawing/2014/main" val="3419261072"/>
                  </a:ext>
                </a:extLst>
              </a:tr>
            </a:tbl>
          </a:graphicData>
        </a:graphic>
      </p:graphicFrame>
      <p:sp>
        <p:nvSpPr>
          <p:cNvPr id="11" name="Rectangle 10">
            <a:extLst>
              <a:ext uri="{FF2B5EF4-FFF2-40B4-BE49-F238E27FC236}">
                <a16:creationId xmlns:a16="http://schemas.microsoft.com/office/drawing/2014/main" id="{18EA57A6-85F1-DCFD-0CCF-4039750D9B58}"/>
              </a:ext>
            </a:extLst>
          </p:cNvPr>
          <p:cNvSpPr/>
          <p:nvPr/>
        </p:nvSpPr>
        <p:spPr>
          <a:xfrm>
            <a:off x="1476381" y="4695249"/>
            <a:ext cx="9665889" cy="718145"/>
          </a:xfrm>
          <a:prstGeom prst="rect">
            <a:avLst/>
          </a:prstGeom>
          <a:solidFill>
            <a:srgbClr val="FFB627"/>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Lead times are long because each process step is batched and must wait for the others to be completed before the next process can be started. </a:t>
            </a:r>
          </a:p>
        </p:txBody>
      </p:sp>
      <p:sp>
        <p:nvSpPr>
          <p:cNvPr id="20" name="TextBox 19">
            <a:extLst>
              <a:ext uri="{FF2B5EF4-FFF2-40B4-BE49-F238E27FC236}">
                <a16:creationId xmlns:a16="http://schemas.microsoft.com/office/drawing/2014/main" id="{28A3F54E-9700-71A6-2A8D-DC39C49447D2}"/>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Lean Fundamentals</a:t>
            </a:r>
          </a:p>
        </p:txBody>
      </p:sp>
      <p:sp>
        <p:nvSpPr>
          <p:cNvPr id="3" name="AutoShape 9">
            <a:extLst>
              <a:ext uri="{FF2B5EF4-FFF2-40B4-BE49-F238E27FC236}">
                <a16:creationId xmlns:a16="http://schemas.microsoft.com/office/drawing/2014/main" id="{514B18B7-6A33-07BB-3CCA-8699DADE0F37}"/>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6" name="AutoShape 11">
            <a:extLst>
              <a:ext uri="{FF2B5EF4-FFF2-40B4-BE49-F238E27FC236}">
                <a16:creationId xmlns:a16="http://schemas.microsoft.com/office/drawing/2014/main" id="{28C6FD9B-8B6E-AE54-0B30-98DE3AC1673F}"/>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10">
            <a:extLst>
              <a:ext uri="{FF2B5EF4-FFF2-40B4-BE49-F238E27FC236}">
                <a16:creationId xmlns:a16="http://schemas.microsoft.com/office/drawing/2014/main" id="{6947EC56-D0D2-53F4-DBBF-6842ACA85E41}"/>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Tree>
    <p:extLst>
      <p:ext uri="{BB962C8B-B14F-4D97-AF65-F5344CB8AC3E}">
        <p14:creationId xmlns:p14="http://schemas.microsoft.com/office/powerpoint/2010/main" val="7855566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36305-E156-6111-5A80-545645BEDA67}"/>
              </a:ext>
            </a:extLst>
          </p:cNvPr>
          <p:cNvSpPr>
            <a:spLocks noGrp="1"/>
          </p:cNvSpPr>
          <p:nvPr>
            <p:ph type="title"/>
          </p:nvPr>
        </p:nvSpPr>
        <p:spPr/>
        <p:txBody>
          <a:bodyPr/>
          <a:lstStyle/>
          <a:p>
            <a:r>
              <a:rPr lang="en-US" dirty="0"/>
              <a:t>Flow Processes</a:t>
            </a:r>
          </a:p>
        </p:txBody>
      </p:sp>
      <p:sp>
        <p:nvSpPr>
          <p:cNvPr id="4" name="Footer Placeholder 3">
            <a:extLst>
              <a:ext uri="{FF2B5EF4-FFF2-40B4-BE49-F238E27FC236}">
                <a16:creationId xmlns:a16="http://schemas.microsoft.com/office/drawing/2014/main" id="{404F892A-FFE4-DF32-49E3-85CD2BAD31DA}"/>
              </a:ext>
            </a:extLst>
          </p:cNvPr>
          <p:cNvSpPr>
            <a:spLocks noGrp="1"/>
          </p:cNvSpPr>
          <p:nvPr>
            <p:ph type="ftr" sz="quarter" idx="11"/>
          </p:nvPr>
        </p:nvSpPr>
        <p:spPr/>
        <p:txBody>
          <a:bodyPr/>
          <a:lstStyle/>
          <a:p>
            <a:r>
              <a:rPr lang="en-US"/>
              <a:t>© Lean Horizons Consulting, LLC 2023. All Rights Reserved</a:t>
            </a:r>
            <a:endParaRPr lang="en-US" dirty="0"/>
          </a:p>
        </p:txBody>
      </p:sp>
      <p:sp>
        <p:nvSpPr>
          <p:cNvPr id="5" name="Slide Number Placeholder 4">
            <a:extLst>
              <a:ext uri="{FF2B5EF4-FFF2-40B4-BE49-F238E27FC236}">
                <a16:creationId xmlns:a16="http://schemas.microsoft.com/office/drawing/2014/main" id="{DB0F1BCE-FF38-1BB0-9D28-67C39AFE49FF}"/>
              </a:ext>
            </a:extLst>
          </p:cNvPr>
          <p:cNvSpPr>
            <a:spLocks noGrp="1"/>
          </p:cNvSpPr>
          <p:nvPr>
            <p:ph type="sldNum" sz="quarter" idx="12"/>
          </p:nvPr>
        </p:nvSpPr>
        <p:spPr/>
        <p:txBody>
          <a:bodyPr/>
          <a:lstStyle/>
          <a:p>
            <a:fld id="{CC6D4273-7FC1-0947-B9FE-19CB3C0D1FB6}" type="slidenum">
              <a:rPr lang="en-US" smtClean="0"/>
              <a:t>30</a:t>
            </a:fld>
            <a:endParaRPr lang="en-US"/>
          </a:p>
        </p:txBody>
      </p:sp>
      <p:sp>
        <p:nvSpPr>
          <p:cNvPr id="119" name="Text Placeholder 3">
            <a:extLst>
              <a:ext uri="{FF2B5EF4-FFF2-40B4-BE49-F238E27FC236}">
                <a16:creationId xmlns:a16="http://schemas.microsoft.com/office/drawing/2014/main" id="{5ADF625A-D530-FEE8-378C-BE6223C49F53}"/>
              </a:ext>
            </a:extLst>
          </p:cNvPr>
          <p:cNvSpPr txBox="1">
            <a:spLocks/>
          </p:cNvSpPr>
          <p:nvPr/>
        </p:nvSpPr>
        <p:spPr>
          <a:xfrm>
            <a:off x="4862286" y="1984796"/>
            <a:ext cx="4049485" cy="493485"/>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ja-JP" dirty="0"/>
              <a:t>Lead Time = 8 Minutes</a:t>
            </a:r>
          </a:p>
        </p:txBody>
      </p:sp>
      <p:graphicFrame>
        <p:nvGraphicFramePr>
          <p:cNvPr id="12" name="Table 12">
            <a:extLst>
              <a:ext uri="{FF2B5EF4-FFF2-40B4-BE49-F238E27FC236}">
                <a16:creationId xmlns:a16="http://schemas.microsoft.com/office/drawing/2014/main" id="{C526C9C9-5E7A-5211-EAA5-430E640DCF1A}"/>
              </a:ext>
            </a:extLst>
          </p:cNvPr>
          <p:cNvGraphicFramePr>
            <a:graphicFrameLocks noGrp="1"/>
          </p:cNvGraphicFramePr>
          <p:nvPr>
            <p:extLst>
              <p:ext uri="{D42A27DB-BD31-4B8C-83A1-F6EECF244321}">
                <p14:modId xmlns:p14="http://schemas.microsoft.com/office/powerpoint/2010/main" val="452389101"/>
              </p:ext>
            </p:extLst>
          </p:nvPr>
        </p:nvGraphicFramePr>
        <p:xfrm>
          <a:off x="125259" y="2400821"/>
          <a:ext cx="11955686" cy="2271734"/>
        </p:xfrm>
        <a:graphic>
          <a:graphicData uri="http://schemas.openxmlformats.org/drawingml/2006/table">
            <a:tbl>
              <a:tblPr firstRow="1" bandRow="1">
                <a:tableStyleId>{5C22544A-7EE6-4342-B048-85BDC9FD1C3A}</a:tableStyleId>
              </a:tblPr>
              <a:tblGrid>
                <a:gridCol w="2168906">
                  <a:extLst>
                    <a:ext uri="{9D8B030D-6E8A-4147-A177-3AD203B41FA5}">
                      <a16:colId xmlns:a16="http://schemas.microsoft.com/office/drawing/2014/main" val="3305747784"/>
                    </a:ext>
                  </a:extLst>
                </a:gridCol>
                <a:gridCol w="489339">
                  <a:extLst>
                    <a:ext uri="{9D8B030D-6E8A-4147-A177-3AD203B41FA5}">
                      <a16:colId xmlns:a16="http://schemas.microsoft.com/office/drawing/2014/main" val="3787802989"/>
                    </a:ext>
                  </a:extLst>
                </a:gridCol>
                <a:gridCol w="489339">
                  <a:extLst>
                    <a:ext uri="{9D8B030D-6E8A-4147-A177-3AD203B41FA5}">
                      <a16:colId xmlns:a16="http://schemas.microsoft.com/office/drawing/2014/main" val="3217539517"/>
                    </a:ext>
                  </a:extLst>
                </a:gridCol>
                <a:gridCol w="489339">
                  <a:extLst>
                    <a:ext uri="{9D8B030D-6E8A-4147-A177-3AD203B41FA5}">
                      <a16:colId xmlns:a16="http://schemas.microsoft.com/office/drawing/2014/main" val="3290890097"/>
                    </a:ext>
                  </a:extLst>
                </a:gridCol>
                <a:gridCol w="489339">
                  <a:extLst>
                    <a:ext uri="{9D8B030D-6E8A-4147-A177-3AD203B41FA5}">
                      <a16:colId xmlns:a16="http://schemas.microsoft.com/office/drawing/2014/main" val="2604833729"/>
                    </a:ext>
                  </a:extLst>
                </a:gridCol>
                <a:gridCol w="489339">
                  <a:extLst>
                    <a:ext uri="{9D8B030D-6E8A-4147-A177-3AD203B41FA5}">
                      <a16:colId xmlns:a16="http://schemas.microsoft.com/office/drawing/2014/main" val="1658724359"/>
                    </a:ext>
                  </a:extLst>
                </a:gridCol>
                <a:gridCol w="489339">
                  <a:extLst>
                    <a:ext uri="{9D8B030D-6E8A-4147-A177-3AD203B41FA5}">
                      <a16:colId xmlns:a16="http://schemas.microsoft.com/office/drawing/2014/main" val="3124544396"/>
                    </a:ext>
                  </a:extLst>
                </a:gridCol>
                <a:gridCol w="489339">
                  <a:extLst>
                    <a:ext uri="{9D8B030D-6E8A-4147-A177-3AD203B41FA5}">
                      <a16:colId xmlns:a16="http://schemas.microsoft.com/office/drawing/2014/main" val="3795357198"/>
                    </a:ext>
                  </a:extLst>
                </a:gridCol>
                <a:gridCol w="489339">
                  <a:extLst>
                    <a:ext uri="{9D8B030D-6E8A-4147-A177-3AD203B41FA5}">
                      <a16:colId xmlns:a16="http://schemas.microsoft.com/office/drawing/2014/main" val="3371787500"/>
                    </a:ext>
                  </a:extLst>
                </a:gridCol>
                <a:gridCol w="489339">
                  <a:extLst>
                    <a:ext uri="{9D8B030D-6E8A-4147-A177-3AD203B41FA5}">
                      <a16:colId xmlns:a16="http://schemas.microsoft.com/office/drawing/2014/main" val="353464211"/>
                    </a:ext>
                  </a:extLst>
                </a:gridCol>
                <a:gridCol w="489339">
                  <a:extLst>
                    <a:ext uri="{9D8B030D-6E8A-4147-A177-3AD203B41FA5}">
                      <a16:colId xmlns:a16="http://schemas.microsoft.com/office/drawing/2014/main" val="3567026330"/>
                    </a:ext>
                  </a:extLst>
                </a:gridCol>
                <a:gridCol w="489339">
                  <a:extLst>
                    <a:ext uri="{9D8B030D-6E8A-4147-A177-3AD203B41FA5}">
                      <a16:colId xmlns:a16="http://schemas.microsoft.com/office/drawing/2014/main" val="2266691436"/>
                    </a:ext>
                  </a:extLst>
                </a:gridCol>
                <a:gridCol w="489339">
                  <a:extLst>
                    <a:ext uri="{9D8B030D-6E8A-4147-A177-3AD203B41FA5}">
                      <a16:colId xmlns:a16="http://schemas.microsoft.com/office/drawing/2014/main" val="3244669962"/>
                    </a:ext>
                  </a:extLst>
                </a:gridCol>
                <a:gridCol w="489339">
                  <a:extLst>
                    <a:ext uri="{9D8B030D-6E8A-4147-A177-3AD203B41FA5}">
                      <a16:colId xmlns:a16="http://schemas.microsoft.com/office/drawing/2014/main" val="2165493625"/>
                    </a:ext>
                  </a:extLst>
                </a:gridCol>
                <a:gridCol w="489339">
                  <a:extLst>
                    <a:ext uri="{9D8B030D-6E8A-4147-A177-3AD203B41FA5}">
                      <a16:colId xmlns:a16="http://schemas.microsoft.com/office/drawing/2014/main" val="3980417428"/>
                    </a:ext>
                  </a:extLst>
                </a:gridCol>
                <a:gridCol w="489339">
                  <a:extLst>
                    <a:ext uri="{9D8B030D-6E8A-4147-A177-3AD203B41FA5}">
                      <a16:colId xmlns:a16="http://schemas.microsoft.com/office/drawing/2014/main" val="740794364"/>
                    </a:ext>
                  </a:extLst>
                </a:gridCol>
                <a:gridCol w="489339">
                  <a:extLst>
                    <a:ext uri="{9D8B030D-6E8A-4147-A177-3AD203B41FA5}">
                      <a16:colId xmlns:a16="http://schemas.microsoft.com/office/drawing/2014/main" val="2621391218"/>
                    </a:ext>
                  </a:extLst>
                </a:gridCol>
                <a:gridCol w="489339">
                  <a:extLst>
                    <a:ext uri="{9D8B030D-6E8A-4147-A177-3AD203B41FA5}">
                      <a16:colId xmlns:a16="http://schemas.microsoft.com/office/drawing/2014/main" val="758593109"/>
                    </a:ext>
                  </a:extLst>
                </a:gridCol>
                <a:gridCol w="489339">
                  <a:extLst>
                    <a:ext uri="{9D8B030D-6E8A-4147-A177-3AD203B41FA5}">
                      <a16:colId xmlns:a16="http://schemas.microsoft.com/office/drawing/2014/main" val="1266673124"/>
                    </a:ext>
                  </a:extLst>
                </a:gridCol>
                <a:gridCol w="489339">
                  <a:extLst>
                    <a:ext uri="{9D8B030D-6E8A-4147-A177-3AD203B41FA5}">
                      <a16:colId xmlns:a16="http://schemas.microsoft.com/office/drawing/2014/main" val="59913489"/>
                    </a:ext>
                  </a:extLst>
                </a:gridCol>
                <a:gridCol w="489339">
                  <a:extLst>
                    <a:ext uri="{9D8B030D-6E8A-4147-A177-3AD203B41FA5}">
                      <a16:colId xmlns:a16="http://schemas.microsoft.com/office/drawing/2014/main" val="1291663199"/>
                    </a:ext>
                  </a:extLst>
                </a:gridCol>
              </a:tblGrid>
              <a:tr h="417534">
                <a:tc>
                  <a:txBody>
                    <a:bodyPr/>
                    <a:lstStyle/>
                    <a:p>
                      <a:r>
                        <a:rPr lang="en-US" dirty="0"/>
                        <a:t>Elapsed Time</a:t>
                      </a:r>
                    </a:p>
                  </a:txBody>
                  <a:tcPr>
                    <a:solidFill>
                      <a:schemeClr val="bg1">
                        <a:lumMod val="50000"/>
                      </a:schemeClr>
                    </a:solidFill>
                  </a:tcPr>
                </a:tc>
                <a:tc>
                  <a:txBody>
                    <a:bodyPr/>
                    <a:lstStyle/>
                    <a:p>
                      <a:pPr algn="ctr"/>
                      <a:r>
                        <a:rPr lang="en-US" dirty="0"/>
                        <a:t>1</a:t>
                      </a:r>
                    </a:p>
                  </a:txBody>
                  <a:tcPr>
                    <a:solidFill>
                      <a:schemeClr val="bg1">
                        <a:lumMod val="50000"/>
                      </a:schemeClr>
                    </a:solidFill>
                  </a:tcPr>
                </a:tc>
                <a:tc>
                  <a:txBody>
                    <a:bodyPr/>
                    <a:lstStyle/>
                    <a:p>
                      <a:pPr algn="ctr"/>
                      <a:r>
                        <a:rPr lang="en-US" dirty="0"/>
                        <a:t>2</a:t>
                      </a:r>
                    </a:p>
                  </a:txBody>
                  <a:tcPr>
                    <a:solidFill>
                      <a:schemeClr val="bg1">
                        <a:lumMod val="50000"/>
                      </a:schemeClr>
                    </a:solidFill>
                  </a:tcPr>
                </a:tc>
                <a:tc>
                  <a:txBody>
                    <a:bodyPr/>
                    <a:lstStyle/>
                    <a:p>
                      <a:pPr algn="ctr"/>
                      <a:r>
                        <a:rPr lang="en-US" dirty="0"/>
                        <a:t>3</a:t>
                      </a:r>
                    </a:p>
                  </a:txBody>
                  <a:tcPr>
                    <a:solidFill>
                      <a:schemeClr val="bg1">
                        <a:lumMod val="50000"/>
                      </a:schemeClr>
                    </a:solidFill>
                  </a:tcPr>
                </a:tc>
                <a:tc>
                  <a:txBody>
                    <a:bodyPr/>
                    <a:lstStyle/>
                    <a:p>
                      <a:pPr algn="ctr"/>
                      <a:r>
                        <a:rPr lang="en-US" dirty="0"/>
                        <a:t>4</a:t>
                      </a:r>
                    </a:p>
                  </a:txBody>
                  <a:tcPr>
                    <a:solidFill>
                      <a:schemeClr val="bg1">
                        <a:lumMod val="50000"/>
                      </a:schemeClr>
                    </a:solidFill>
                  </a:tcPr>
                </a:tc>
                <a:tc>
                  <a:txBody>
                    <a:bodyPr/>
                    <a:lstStyle/>
                    <a:p>
                      <a:pPr algn="ctr"/>
                      <a:r>
                        <a:rPr lang="en-US" dirty="0"/>
                        <a:t>5</a:t>
                      </a:r>
                    </a:p>
                  </a:txBody>
                  <a:tcPr>
                    <a:solidFill>
                      <a:schemeClr val="bg1">
                        <a:lumMod val="50000"/>
                      </a:schemeClr>
                    </a:solidFill>
                  </a:tcPr>
                </a:tc>
                <a:tc>
                  <a:txBody>
                    <a:bodyPr/>
                    <a:lstStyle/>
                    <a:p>
                      <a:pPr algn="ctr"/>
                      <a:r>
                        <a:rPr lang="en-US" dirty="0"/>
                        <a:t>6</a:t>
                      </a:r>
                    </a:p>
                  </a:txBody>
                  <a:tcPr>
                    <a:solidFill>
                      <a:schemeClr val="bg1">
                        <a:lumMod val="50000"/>
                      </a:schemeClr>
                    </a:solidFill>
                  </a:tcPr>
                </a:tc>
                <a:tc>
                  <a:txBody>
                    <a:bodyPr/>
                    <a:lstStyle/>
                    <a:p>
                      <a:pPr algn="ctr"/>
                      <a:r>
                        <a:rPr lang="en-US" dirty="0"/>
                        <a:t>7</a:t>
                      </a:r>
                    </a:p>
                  </a:txBody>
                  <a:tcPr>
                    <a:solidFill>
                      <a:schemeClr val="bg1">
                        <a:lumMod val="50000"/>
                      </a:schemeClr>
                    </a:solidFill>
                  </a:tcPr>
                </a:tc>
                <a:tc>
                  <a:txBody>
                    <a:bodyPr/>
                    <a:lstStyle/>
                    <a:p>
                      <a:pPr algn="ctr"/>
                      <a:r>
                        <a:rPr lang="en-US" dirty="0"/>
                        <a:t>8</a:t>
                      </a:r>
                    </a:p>
                  </a:txBody>
                  <a:tcPr>
                    <a:lnB w="38100" cap="flat" cmpd="sng" algn="ctr">
                      <a:solidFill>
                        <a:schemeClr val="bg1"/>
                      </a:solidFill>
                      <a:prstDash val="solid"/>
                      <a:round/>
                      <a:headEnd type="none" w="med" len="med"/>
                      <a:tailEnd type="none" w="med" len="med"/>
                    </a:lnB>
                    <a:solidFill>
                      <a:schemeClr val="bg1">
                        <a:lumMod val="50000"/>
                      </a:schemeClr>
                    </a:solidFill>
                  </a:tcPr>
                </a:tc>
                <a:tc>
                  <a:txBody>
                    <a:bodyPr/>
                    <a:lstStyle/>
                    <a:p>
                      <a:pPr algn="ctr"/>
                      <a:r>
                        <a:rPr lang="en-US" dirty="0"/>
                        <a:t>9</a:t>
                      </a:r>
                    </a:p>
                  </a:txBody>
                  <a:tcPr>
                    <a:lnB w="38100" cap="flat" cmpd="sng" algn="ctr">
                      <a:solidFill>
                        <a:schemeClr val="bg1"/>
                      </a:solidFill>
                      <a:prstDash val="solid"/>
                      <a:round/>
                      <a:headEnd type="none" w="med" len="med"/>
                      <a:tailEnd type="none" w="med" len="med"/>
                    </a:lnB>
                    <a:solidFill>
                      <a:schemeClr val="bg1">
                        <a:lumMod val="50000"/>
                      </a:schemeClr>
                    </a:solidFill>
                  </a:tcPr>
                </a:tc>
                <a:tc>
                  <a:txBody>
                    <a:bodyPr/>
                    <a:lstStyle/>
                    <a:p>
                      <a:pPr algn="ctr"/>
                      <a:r>
                        <a:rPr lang="en-US" dirty="0"/>
                        <a:t>10</a:t>
                      </a:r>
                    </a:p>
                  </a:txBody>
                  <a:tcPr>
                    <a:lnB w="38100" cap="flat" cmpd="sng" algn="ctr">
                      <a:solidFill>
                        <a:schemeClr val="bg1"/>
                      </a:solidFill>
                      <a:prstDash val="solid"/>
                      <a:round/>
                      <a:headEnd type="none" w="med" len="med"/>
                      <a:tailEnd type="none" w="med" len="med"/>
                    </a:lnB>
                    <a:solidFill>
                      <a:schemeClr val="bg1">
                        <a:lumMod val="50000"/>
                      </a:schemeClr>
                    </a:solidFill>
                  </a:tcPr>
                </a:tc>
                <a:tc>
                  <a:txBody>
                    <a:bodyPr/>
                    <a:lstStyle/>
                    <a:p>
                      <a:pPr algn="ctr"/>
                      <a:r>
                        <a:rPr lang="en-US" dirty="0"/>
                        <a:t>11</a:t>
                      </a:r>
                    </a:p>
                  </a:txBody>
                  <a:tcPr>
                    <a:lnB w="38100" cap="flat" cmpd="sng" algn="ctr">
                      <a:solidFill>
                        <a:schemeClr val="bg1"/>
                      </a:solidFill>
                      <a:prstDash val="solid"/>
                      <a:round/>
                      <a:headEnd type="none" w="med" len="med"/>
                      <a:tailEnd type="none" w="med" len="med"/>
                    </a:lnB>
                    <a:solidFill>
                      <a:schemeClr val="bg1">
                        <a:lumMod val="50000"/>
                      </a:schemeClr>
                    </a:solidFill>
                  </a:tcPr>
                </a:tc>
                <a:tc>
                  <a:txBody>
                    <a:bodyPr/>
                    <a:lstStyle/>
                    <a:p>
                      <a:pPr algn="ctr"/>
                      <a:r>
                        <a:rPr lang="en-US" dirty="0"/>
                        <a:t>12</a:t>
                      </a:r>
                    </a:p>
                  </a:txBody>
                  <a:tcPr>
                    <a:lnB w="38100" cap="flat" cmpd="sng" algn="ctr">
                      <a:solidFill>
                        <a:schemeClr val="bg1"/>
                      </a:solidFill>
                      <a:prstDash val="solid"/>
                      <a:round/>
                      <a:headEnd type="none" w="med" len="med"/>
                      <a:tailEnd type="none" w="med" len="med"/>
                    </a:lnB>
                    <a:solidFill>
                      <a:schemeClr val="bg1">
                        <a:lumMod val="50000"/>
                      </a:schemeClr>
                    </a:solidFill>
                  </a:tcPr>
                </a:tc>
                <a:tc>
                  <a:txBody>
                    <a:bodyPr/>
                    <a:lstStyle/>
                    <a:p>
                      <a:pPr algn="ctr"/>
                      <a:r>
                        <a:rPr lang="en-US" dirty="0"/>
                        <a:t>13</a:t>
                      </a:r>
                    </a:p>
                  </a:txBody>
                  <a:tcPr>
                    <a:lnB w="38100" cap="flat" cmpd="sng" algn="ctr">
                      <a:solidFill>
                        <a:schemeClr val="bg1"/>
                      </a:solidFill>
                      <a:prstDash val="solid"/>
                      <a:round/>
                      <a:headEnd type="none" w="med" len="med"/>
                      <a:tailEnd type="none" w="med" len="med"/>
                    </a:lnB>
                    <a:solidFill>
                      <a:schemeClr val="bg1">
                        <a:lumMod val="50000"/>
                      </a:schemeClr>
                    </a:solidFill>
                  </a:tcPr>
                </a:tc>
                <a:tc>
                  <a:txBody>
                    <a:bodyPr/>
                    <a:lstStyle/>
                    <a:p>
                      <a:pPr algn="ctr"/>
                      <a:r>
                        <a:rPr lang="en-US" dirty="0"/>
                        <a:t>14</a:t>
                      </a:r>
                    </a:p>
                  </a:txBody>
                  <a:tcPr>
                    <a:lnB w="38100" cap="flat" cmpd="sng" algn="ctr">
                      <a:solidFill>
                        <a:schemeClr val="bg1"/>
                      </a:solidFill>
                      <a:prstDash val="solid"/>
                      <a:round/>
                      <a:headEnd type="none" w="med" len="med"/>
                      <a:tailEnd type="none" w="med" len="med"/>
                    </a:lnB>
                    <a:solidFill>
                      <a:schemeClr val="bg1">
                        <a:lumMod val="50000"/>
                      </a:schemeClr>
                    </a:solidFill>
                  </a:tcPr>
                </a:tc>
                <a:tc>
                  <a:txBody>
                    <a:bodyPr/>
                    <a:lstStyle/>
                    <a:p>
                      <a:pPr algn="ctr"/>
                      <a:r>
                        <a:rPr lang="en-US" dirty="0"/>
                        <a:t>15</a:t>
                      </a:r>
                    </a:p>
                  </a:txBody>
                  <a:tcPr>
                    <a:lnB w="38100" cap="flat" cmpd="sng" algn="ctr">
                      <a:solidFill>
                        <a:schemeClr val="bg1"/>
                      </a:solidFill>
                      <a:prstDash val="solid"/>
                      <a:round/>
                      <a:headEnd type="none" w="med" len="med"/>
                      <a:tailEnd type="none" w="med" len="med"/>
                    </a:lnB>
                    <a:solidFill>
                      <a:schemeClr val="bg1">
                        <a:lumMod val="50000"/>
                      </a:schemeClr>
                    </a:solidFill>
                  </a:tcPr>
                </a:tc>
                <a:tc>
                  <a:txBody>
                    <a:bodyPr/>
                    <a:lstStyle/>
                    <a:p>
                      <a:pPr algn="ctr"/>
                      <a:r>
                        <a:rPr lang="en-US" dirty="0"/>
                        <a:t>16</a:t>
                      </a:r>
                    </a:p>
                  </a:txBody>
                  <a:tcPr>
                    <a:lnB w="38100" cap="flat" cmpd="sng" algn="ctr">
                      <a:solidFill>
                        <a:schemeClr val="bg1"/>
                      </a:solidFill>
                      <a:prstDash val="solid"/>
                      <a:round/>
                      <a:headEnd type="none" w="med" len="med"/>
                      <a:tailEnd type="none" w="med" len="med"/>
                    </a:lnB>
                    <a:solidFill>
                      <a:schemeClr val="bg1">
                        <a:lumMod val="50000"/>
                      </a:schemeClr>
                    </a:solidFill>
                  </a:tcPr>
                </a:tc>
                <a:tc>
                  <a:txBody>
                    <a:bodyPr/>
                    <a:lstStyle/>
                    <a:p>
                      <a:pPr algn="ctr"/>
                      <a:r>
                        <a:rPr lang="en-US" dirty="0"/>
                        <a:t>17</a:t>
                      </a:r>
                    </a:p>
                  </a:txBody>
                  <a:tcPr>
                    <a:lnB w="38100" cap="flat" cmpd="sng" algn="ctr">
                      <a:solidFill>
                        <a:schemeClr val="bg1"/>
                      </a:solidFill>
                      <a:prstDash val="solid"/>
                      <a:round/>
                      <a:headEnd type="none" w="med" len="med"/>
                      <a:tailEnd type="none" w="med" len="med"/>
                    </a:lnB>
                    <a:solidFill>
                      <a:schemeClr val="bg1">
                        <a:lumMod val="50000"/>
                      </a:schemeClr>
                    </a:solidFill>
                  </a:tcPr>
                </a:tc>
                <a:tc>
                  <a:txBody>
                    <a:bodyPr/>
                    <a:lstStyle/>
                    <a:p>
                      <a:pPr algn="ctr"/>
                      <a:r>
                        <a:rPr lang="en-US" dirty="0"/>
                        <a:t>18</a:t>
                      </a:r>
                    </a:p>
                  </a:txBody>
                  <a:tcPr>
                    <a:lnB w="38100" cap="flat" cmpd="sng" algn="ctr">
                      <a:solidFill>
                        <a:schemeClr val="bg1"/>
                      </a:solidFill>
                      <a:prstDash val="solid"/>
                      <a:round/>
                      <a:headEnd type="none" w="med" len="med"/>
                      <a:tailEnd type="none" w="med" len="med"/>
                    </a:lnB>
                    <a:solidFill>
                      <a:schemeClr val="bg1">
                        <a:lumMod val="50000"/>
                      </a:schemeClr>
                    </a:solidFill>
                  </a:tcPr>
                </a:tc>
                <a:tc>
                  <a:txBody>
                    <a:bodyPr/>
                    <a:lstStyle/>
                    <a:p>
                      <a:pPr algn="ctr"/>
                      <a:r>
                        <a:rPr lang="en-US" dirty="0"/>
                        <a:t>19</a:t>
                      </a:r>
                    </a:p>
                  </a:txBody>
                  <a:tcPr>
                    <a:lnB w="38100" cap="flat" cmpd="sng" algn="ctr">
                      <a:solidFill>
                        <a:schemeClr val="bg1"/>
                      </a:solidFill>
                      <a:prstDash val="solid"/>
                      <a:round/>
                      <a:headEnd type="none" w="med" len="med"/>
                      <a:tailEnd type="none" w="med" len="med"/>
                    </a:lnB>
                    <a:solidFill>
                      <a:schemeClr val="bg1">
                        <a:lumMod val="50000"/>
                      </a:schemeClr>
                    </a:solidFill>
                  </a:tcPr>
                </a:tc>
                <a:tc>
                  <a:txBody>
                    <a:bodyPr/>
                    <a:lstStyle/>
                    <a:p>
                      <a:pPr algn="ctr"/>
                      <a:r>
                        <a:rPr lang="en-US" dirty="0"/>
                        <a:t>20</a:t>
                      </a:r>
                    </a:p>
                  </a:txBody>
                  <a:tcPr>
                    <a:lnB w="38100" cap="flat" cmpd="sng" algn="ctr">
                      <a:solidFill>
                        <a:schemeClr val="bg1"/>
                      </a:solid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2524657938"/>
                  </a:ext>
                </a:extLst>
              </a:tr>
              <a:tr h="370840">
                <a:tc>
                  <a:txBody>
                    <a:bodyPr/>
                    <a:lstStyle/>
                    <a:p>
                      <a:r>
                        <a:rPr lang="en-US" dirty="0">
                          <a:solidFill>
                            <a:schemeClr val="bg1"/>
                          </a:solidFill>
                        </a:rPr>
                        <a:t>Receive Application</a:t>
                      </a:r>
                    </a:p>
                  </a:txBody>
                  <a:tcPr>
                    <a:solidFill>
                      <a:schemeClr val="tx1"/>
                    </a:solidFill>
                  </a:tcPr>
                </a:tc>
                <a:tc>
                  <a:txBody>
                    <a:bodyPr/>
                    <a:lstStyle/>
                    <a:p>
                      <a:pPr algn="ctr"/>
                      <a:r>
                        <a:rPr lang="en-US" dirty="0">
                          <a:solidFill>
                            <a:schemeClr val="accent1"/>
                          </a:solidFill>
                          <a:latin typeface="Wingdings" panose="05000000000000000000" pitchFamily="2" charset="2"/>
                        </a:rPr>
                        <a:t>l</a:t>
                      </a:r>
                    </a:p>
                  </a:txBody>
                  <a:tcPr>
                    <a:solidFill>
                      <a:schemeClr val="tx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latin typeface="Wingdings" panose="05000000000000000000" pitchFamily="2" charset="2"/>
                        </a:rPr>
                        <a:t>l</a:t>
                      </a:r>
                      <a:endParaRPr lang="en-US" dirty="0">
                        <a:latin typeface="Wingdings" panose="05000000000000000000" pitchFamily="2" charset="2"/>
                      </a:endParaRPr>
                    </a:p>
                  </a:txBody>
                  <a:tcPr>
                    <a:solidFill>
                      <a:schemeClr val="tx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2"/>
                          </a:solidFill>
                          <a:latin typeface="Wingdings" panose="05000000000000000000" pitchFamily="2" charset="2"/>
                        </a:rPr>
                        <a:t>l</a:t>
                      </a:r>
                    </a:p>
                  </a:txBody>
                  <a:tcPr>
                    <a:solidFill>
                      <a:schemeClr val="tx1"/>
                    </a:solidFill>
                  </a:tcPr>
                </a:tc>
                <a:tc>
                  <a:txBody>
                    <a:bodyPr/>
                    <a:lstStyle/>
                    <a:p>
                      <a:pPr algn="ctr"/>
                      <a:r>
                        <a:rPr lang="en-US" dirty="0">
                          <a:solidFill>
                            <a:schemeClr val="accent2"/>
                          </a:solidFill>
                          <a:latin typeface="Wingdings" panose="05000000000000000000" pitchFamily="2" charset="2"/>
                        </a:rPr>
                        <a:t>l</a:t>
                      </a:r>
                    </a:p>
                  </a:txBody>
                  <a:tcPr>
                    <a:solidFill>
                      <a:schemeClr val="tx1"/>
                    </a:solidFill>
                  </a:tcPr>
                </a:tc>
                <a:tc>
                  <a:txBody>
                    <a:bodyPr/>
                    <a:lstStyle/>
                    <a:p>
                      <a:pPr algn="ctr"/>
                      <a:endParaRPr lang="en-US" dirty="0">
                        <a:latin typeface="Wingdings" panose="05000000000000000000" pitchFamily="2" charset="2"/>
                      </a:endParaRPr>
                    </a:p>
                  </a:txBody>
                  <a:tcPr>
                    <a:solidFill>
                      <a:schemeClr val="tx1"/>
                    </a:solidFill>
                  </a:tcPr>
                </a:tc>
                <a:tc>
                  <a:txBody>
                    <a:bodyPr/>
                    <a:lstStyle/>
                    <a:p>
                      <a:pPr algn="ctr"/>
                      <a:endParaRPr lang="en-US" dirty="0">
                        <a:latin typeface="Wingdings" panose="05000000000000000000" pitchFamily="2" charset="2"/>
                      </a:endParaRPr>
                    </a:p>
                  </a:txBody>
                  <a:tcPr>
                    <a:solidFill>
                      <a:schemeClr val="tx1"/>
                    </a:solidFill>
                  </a:tcPr>
                </a:tc>
                <a:tc>
                  <a:txBody>
                    <a:bodyPr/>
                    <a:lstStyle/>
                    <a:p>
                      <a:pPr algn="ctr"/>
                      <a:endParaRPr lang="en-US" dirty="0">
                        <a:latin typeface="Wingdings" panose="05000000000000000000" pitchFamily="2" charset="2"/>
                      </a:endParaRPr>
                    </a:p>
                  </a:txBody>
                  <a:tcPr>
                    <a:lnR w="12700" cap="flat" cmpd="sng" algn="ctr">
                      <a:solidFill>
                        <a:schemeClr val="bg1"/>
                      </a:solidFill>
                      <a:prstDash val="solid"/>
                      <a:round/>
                      <a:headEnd type="none" w="med" len="med"/>
                      <a:tailEnd type="none" w="med" len="med"/>
                    </a:lnR>
                    <a:solidFill>
                      <a:schemeClr val="tx1"/>
                    </a:solidFill>
                  </a:tcPr>
                </a:tc>
                <a:tc>
                  <a:txBody>
                    <a:bodyPr/>
                    <a:lstStyle/>
                    <a:p>
                      <a:pPr algn="ctr"/>
                      <a:endParaRPr lang="en-US" dirty="0">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algn="ctr"/>
                      <a:endParaRPr lang="en-US" dirty="0">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endParaRPr lang="en-US" dirty="0">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endParaRPr lang="en-US" dirty="0">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endParaRPr lang="en-US" dirty="0">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endParaRPr lang="en-US" dirty="0">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endParaRPr lang="en-US" dirty="0">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endParaRPr lang="en-US" dirty="0">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endParaRPr lang="en-US" dirty="0">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endParaRPr lang="en-US" dirty="0">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endParaRPr lang="en-US" dirty="0">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endParaRPr lang="en-US" dirty="0">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endParaRPr lang="en-US" dirty="0">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3125387565"/>
                  </a:ext>
                </a:extLst>
              </a:tr>
              <a:tr h="370840">
                <a:tc>
                  <a:txBody>
                    <a:bodyPr/>
                    <a:lstStyle/>
                    <a:p>
                      <a:r>
                        <a:rPr lang="en-US" dirty="0">
                          <a:solidFill>
                            <a:schemeClr val="bg1"/>
                          </a:solidFill>
                        </a:rPr>
                        <a:t>Enter Customer Data</a:t>
                      </a:r>
                    </a:p>
                  </a:txBody>
                  <a:tcPr>
                    <a:solidFill>
                      <a:schemeClr val="bg1">
                        <a:lumMod val="50000"/>
                      </a:schemeClr>
                    </a:solidFill>
                  </a:tcPr>
                </a:tc>
                <a:tc>
                  <a:txBody>
                    <a:bodyPr/>
                    <a:lstStyle/>
                    <a:p>
                      <a:pPr algn="ctr"/>
                      <a:endParaRPr lang="en-US">
                        <a:solidFill>
                          <a:schemeClr val="bg1"/>
                        </a:solidFill>
                        <a:latin typeface="Wingdings" panose="05000000000000000000" pitchFamily="2" charset="2"/>
                      </a:endParaRPr>
                    </a:p>
                  </a:txBody>
                  <a:tcPr>
                    <a:solidFill>
                      <a:schemeClr val="bg1">
                        <a:lumMod val="50000"/>
                      </a:schemeClr>
                    </a:solidFill>
                  </a:tcPr>
                </a:tc>
                <a:tc>
                  <a:txBody>
                    <a:bodyPr/>
                    <a:lstStyle/>
                    <a:p>
                      <a:pPr algn="ctr"/>
                      <a:r>
                        <a:rPr lang="en-US" dirty="0">
                          <a:solidFill>
                            <a:schemeClr val="accent1"/>
                          </a:solidFill>
                          <a:latin typeface="Wingdings" panose="05000000000000000000" pitchFamily="2" charset="2"/>
                        </a:rPr>
                        <a:t>l</a:t>
                      </a:r>
                      <a:endParaRPr lang="en-US" dirty="0">
                        <a:solidFill>
                          <a:schemeClr val="bg1"/>
                        </a:solidFill>
                        <a:latin typeface="Wingdings" panose="05000000000000000000" pitchFamily="2" charset="2"/>
                      </a:endParaRPr>
                    </a:p>
                  </a:txBody>
                  <a:tcPr>
                    <a:solidFill>
                      <a:schemeClr val="bg1">
                        <a:lumMod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latin typeface="Wingdings" panose="05000000000000000000" pitchFamily="2" charset="2"/>
                        </a:rPr>
                        <a:t>l</a:t>
                      </a:r>
                      <a:endParaRPr lang="en-US" dirty="0">
                        <a:latin typeface="Wingdings" panose="05000000000000000000" pitchFamily="2" charset="2"/>
                      </a:endParaRPr>
                    </a:p>
                  </a:txBody>
                  <a:tcPr>
                    <a:solidFill>
                      <a:schemeClr val="bg1">
                        <a:lumMod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2"/>
                          </a:solidFill>
                          <a:latin typeface="Wingdings" panose="05000000000000000000" pitchFamily="2" charset="2"/>
                        </a:rPr>
                        <a:t>l</a:t>
                      </a:r>
                    </a:p>
                  </a:txBody>
                  <a:tcPr>
                    <a:solidFill>
                      <a:schemeClr val="bg1">
                        <a:lumMod val="50000"/>
                      </a:schemeClr>
                    </a:solidFill>
                  </a:tcPr>
                </a:tc>
                <a:tc>
                  <a:txBody>
                    <a:bodyPr/>
                    <a:lstStyle/>
                    <a:p>
                      <a:pPr algn="ctr"/>
                      <a:r>
                        <a:rPr lang="en-US" dirty="0">
                          <a:solidFill>
                            <a:schemeClr val="accent2"/>
                          </a:solidFill>
                          <a:latin typeface="Wingdings" panose="05000000000000000000" pitchFamily="2" charset="2"/>
                        </a:rPr>
                        <a:t>l</a:t>
                      </a:r>
                      <a:endParaRPr lang="en-US" dirty="0">
                        <a:solidFill>
                          <a:schemeClr val="bg1"/>
                        </a:solidFill>
                        <a:latin typeface="Wingdings" panose="05000000000000000000" pitchFamily="2" charset="2"/>
                      </a:endParaRPr>
                    </a:p>
                  </a:txBody>
                  <a:tcPr>
                    <a:solidFill>
                      <a:schemeClr val="bg1">
                        <a:lumMod val="50000"/>
                      </a:schemeClr>
                    </a:solidFill>
                  </a:tcPr>
                </a:tc>
                <a:tc>
                  <a:txBody>
                    <a:bodyPr/>
                    <a:lstStyle/>
                    <a:p>
                      <a:pPr algn="ctr"/>
                      <a:endParaRPr lang="en-US" dirty="0">
                        <a:solidFill>
                          <a:schemeClr val="bg1"/>
                        </a:solidFill>
                        <a:latin typeface="Wingdings" panose="05000000000000000000" pitchFamily="2" charset="2"/>
                      </a:endParaRPr>
                    </a:p>
                  </a:txBody>
                  <a:tcPr>
                    <a:solidFill>
                      <a:schemeClr val="bg1">
                        <a:lumMod val="50000"/>
                      </a:schemeClr>
                    </a:solidFill>
                  </a:tcPr>
                </a:tc>
                <a:tc>
                  <a:txBody>
                    <a:bodyPr/>
                    <a:lstStyle/>
                    <a:p>
                      <a:pPr algn="ctr"/>
                      <a:endParaRPr lang="en-US" dirty="0">
                        <a:solidFill>
                          <a:schemeClr val="bg1"/>
                        </a:solidFill>
                        <a:latin typeface="Wingdings" panose="05000000000000000000" pitchFamily="2" charset="2"/>
                      </a:endParaRPr>
                    </a:p>
                  </a:txBody>
                  <a:tcPr>
                    <a:lnR w="12700" cap="flat" cmpd="sng" algn="ctr">
                      <a:solidFill>
                        <a:schemeClr val="bg1"/>
                      </a:solidFill>
                      <a:prstDash val="solid"/>
                      <a:round/>
                      <a:headEnd type="none" w="med" len="med"/>
                      <a:tailEnd type="none" w="med" len="med"/>
                    </a:lnR>
                    <a:solidFill>
                      <a:schemeClr val="bg1">
                        <a:lumMod val="50000"/>
                      </a:schemeClr>
                    </a:solidFill>
                  </a:tcPr>
                </a:tc>
                <a:tc>
                  <a:txBody>
                    <a:bodyPr/>
                    <a:lstStyle/>
                    <a:p>
                      <a:pPr algn="ctr"/>
                      <a:endParaRPr lang="en-US" dirty="0">
                        <a:solidFill>
                          <a:schemeClr val="bg1"/>
                        </a:solidFill>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50000"/>
                      </a:schemeClr>
                    </a:solidFill>
                  </a:tcPr>
                </a:tc>
                <a:tc>
                  <a:txBody>
                    <a:bodyPr/>
                    <a:lstStyle/>
                    <a:p>
                      <a:pPr algn="ctr"/>
                      <a:endParaRPr lang="en-US" dirty="0">
                        <a:solidFill>
                          <a:schemeClr val="bg1"/>
                        </a:solidFill>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endParaRPr lang="en-US" dirty="0">
                        <a:solidFill>
                          <a:schemeClr val="bg1"/>
                        </a:solidFill>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endParaRPr lang="en-US" dirty="0">
                        <a:solidFill>
                          <a:schemeClr val="bg1"/>
                        </a:solidFill>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endParaRPr lang="en-US" dirty="0">
                        <a:solidFill>
                          <a:schemeClr val="bg1"/>
                        </a:solidFill>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endParaRPr lang="en-US" dirty="0">
                        <a:solidFill>
                          <a:schemeClr val="bg1"/>
                        </a:solidFill>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endParaRPr lang="en-US" dirty="0">
                        <a:solidFill>
                          <a:schemeClr val="bg1"/>
                        </a:solidFill>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endParaRPr lang="en-US" dirty="0">
                        <a:solidFill>
                          <a:schemeClr val="bg1"/>
                        </a:solidFill>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endParaRPr lang="en-US" dirty="0">
                        <a:solidFill>
                          <a:schemeClr val="bg1"/>
                        </a:solidFill>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endParaRPr lang="en-US" dirty="0">
                        <a:solidFill>
                          <a:schemeClr val="bg1"/>
                        </a:solidFill>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endParaRPr lang="en-US" dirty="0">
                        <a:solidFill>
                          <a:schemeClr val="bg1"/>
                        </a:solidFill>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endParaRPr lang="en-US" dirty="0">
                        <a:solidFill>
                          <a:schemeClr val="bg1"/>
                        </a:solidFill>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endParaRPr lang="en-US" dirty="0">
                        <a:solidFill>
                          <a:schemeClr val="bg1"/>
                        </a:solidFill>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3175600215"/>
                  </a:ext>
                </a:extLst>
              </a:tr>
              <a:tr h="370840">
                <a:tc>
                  <a:txBody>
                    <a:bodyPr/>
                    <a:lstStyle/>
                    <a:p>
                      <a:r>
                        <a:rPr lang="en-US" dirty="0">
                          <a:solidFill>
                            <a:schemeClr val="bg1"/>
                          </a:solidFill>
                        </a:rPr>
                        <a:t>Customer Lookup</a:t>
                      </a:r>
                    </a:p>
                  </a:txBody>
                  <a:tcPr>
                    <a:solidFill>
                      <a:schemeClr val="tx1"/>
                    </a:solidFill>
                  </a:tcPr>
                </a:tc>
                <a:tc>
                  <a:txBody>
                    <a:bodyPr/>
                    <a:lstStyle/>
                    <a:p>
                      <a:pPr algn="ctr"/>
                      <a:endParaRPr lang="en-US" dirty="0">
                        <a:solidFill>
                          <a:schemeClr val="bg1"/>
                        </a:solidFill>
                        <a:latin typeface="Wingdings" panose="05000000000000000000" pitchFamily="2" charset="2"/>
                      </a:endParaRPr>
                    </a:p>
                  </a:txBody>
                  <a:tcPr>
                    <a:solidFill>
                      <a:schemeClr val="tx1"/>
                    </a:solidFill>
                  </a:tcPr>
                </a:tc>
                <a:tc>
                  <a:txBody>
                    <a:bodyPr/>
                    <a:lstStyle/>
                    <a:p>
                      <a:pPr algn="ctr"/>
                      <a:endParaRPr lang="en-US">
                        <a:solidFill>
                          <a:schemeClr val="bg1"/>
                        </a:solidFill>
                        <a:latin typeface="Wingdings" panose="05000000000000000000" pitchFamily="2" charset="2"/>
                      </a:endParaRPr>
                    </a:p>
                  </a:txBody>
                  <a:tcPr>
                    <a:solidFill>
                      <a:schemeClr val="tx1"/>
                    </a:solidFill>
                  </a:tcPr>
                </a:tc>
                <a:tc>
                  <a:txBody>
                    <a:bodyPr/>
                    <a:lstStyle/>
                    <a:p>
                      <a:pPr algn="ctr"/>
                      <a:r>
                        <a:rPr lang="en-US" dirty="0">
                          <a:solidFill>
                            <a:schemeClr val="accent1"/>
                          </a:solidFill>
                          <a:latin typeface="Wingdings" panose="05000000000000000000" pitchFamily="2" charset="2"/>
                        </a:rPr>
                        <a:t>l</a:t>
                      </a:r>
                      <a:endParaRPr lang="en-US" dirty="0">
                        <a:solidFill>
                          <a:schemeClr val="bg1"/>
                        </a:solidFill>
                        <a:latin typeface="Wingdings" panose="05000000000000000000" pitchFamily="2" charset="2"/>
                      </a:endParaRPr>
                    </a:p>
                  </a:txBody>
                  <a:tcPr>
                    <a:solidFill>
                      <a:schemeClr val="tx1"/>
                    </a:solidFill>
                  </a:tcPr>
                </a:tc>
                <a:tc>
                  <a:txBody>
                    <a:bodyPr/>
                    <a:lstStyle/>
                    <a:p>
                      <a:pPr algn="ctr"/>
                      <a:r>
                        <a:rPr lang="en-US" dirty="0">
                          <a:solidFill>
                            <a:schemeClr val="bg1"/>
                          </a:solidFill>
                          <a:latin typeface="Wingdings" panose="05000000000000000000" pitchFamily="2" charset="2"/>
                        </a:rPr>
                        <a:t>l</a:t>
                      </a:r>
                    </a:p>
                  </a:txBody>
                  <a:tcPr>
                    <a:solidFill>
                      <a:schemeClr val="tx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2"/>
                          </a:solidFill>
                          <a:latin typeface="Wingdings" panose="05000000000000000000" pitchFamily="2" charset="2"/>
                        </a:rPr>
                        <a:t>l</a:t>
                      </a:r>
                    </a:p>
                  </a:txBody>
                  <a:tcPr>
                    <a:solidFill>
                      <a:schemeClr val="tx1"/>
                    </a:solidFill>
                  </a:tcPr>
                </a:tc>
                <a:tc>
                  <a:txBody>
                    <a:bodyPr/>
                    <a:lstStyle/>
                    <a:p>
                      <a:pPr algn="ctr"/>
                      <a:r>
                        <a:rPr lang="en-US" dirty="0">
                          <a:solidFill>
                            <a:schemeClr val="accent2"/>
                          </a:solidFill>
                          <a:latin typeface="Wingdings" panose="05000000000000000000" pitchFamily="2" charset="2"/>
                        </a:rPr>
                        <a:t>l</a:t>
                      </a:r>
                      <a:endParaRPr lang="en-US" dirty="0">
                        <a:solidFill>
                          <a:schemeClr val="bg1"/>
                        </a:solidFill>
                        <a:latin typeface="Wingdings" panose="05000000000000000000" pitchFamily="2" charset="2"/>
                      </a:endParaRPr>
                    </a:p>
                  </a:txBody>
                  <a:tcPr>
                    <a:solidFill>
                      <a:schemeClr val="tx1"/>
                    </a:solidFill>
                  </a:tcPr>
                </a:tc>
                <a:tc>
                  <a:txBody>
                    <a:bodyPr/>
                    <a:lstStyle/>
                    <a:p>
                      <a:pPr algn="ctr"/>
                      <a:endParaRPr lang="en-US" dirty="0">
                        <a:solidFill>
                          <a:schemeClr val="bg1"/>
                        </a:solidFill>
                        <a:latin typeface="Wingdings" panose="05000000000000000000" pitchFamily="2" charset="2"/>
                      </a:endParaRPr>
                    </a:p>
                  </a:txBody>
                  <a:tcPr>
                    <a:lnR w="12700" cap="flat" cmpd="sng" algn="ctr">
                      <a:solidFill>
                        <a:schemeClr val="bg1"/>
                      </a:solidFill>
                      <a:prstDash val="solid"/>
                      <a:round/>
                      <a:headEnd type="none" w="med" len="med"/>
                      <a:tailEnd type="none" w="med" len="med"/>
                    </a:lnR>
                    <a:solidFill>
                      <a:schemeClr val="tx1"/>
                    </a:solidFill>
                  </a:tcPr>
                </a:tc>
                <a:tc>
                  <a:txBody>
                    <a:bodyPr/>
                    <a:lstStyle/>
                    <a:p>
                      <a:pPr algn="ctr"/>
                      <a:endParaRPr lang="en-US" dirty="0">
                        <a:solidFill>
                          <a:schemeClr val="bg1"/>
                        </a:solidFill>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algn="ctr"/>
                      <a:endParaRPr lang="en-US" sz="1800" kern="1200" dirty="0">
                        <a:solidFill>
                          <a:schemeClr val="bg1"/>
                        </a:solidFill>
                        <a:latin typeface="Wingdings" panose="05000000000000000000" pitchFamily="2" charset="2"/>
                        <a:ea typeface="+mn-ea"/>
                        <a:cs typeface="+mn-cs"/>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endParaRPr lang="en-US" sz="1800" kern="1200" dirty="0">
                        <a:solidFill>
                          <a:schemeClr val="bg1"/>
                        </a:solidFill>
                        <a:latin typeface="Wingdings" panose="05000000000000000000" pitchFamily="2" charset="2"/>
                        <a:ea typeface="+mn-ea"/>
                        <a:cs typeface="+mn-cs"/>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endParaRPr lang="en-US" sz="1800" kern="1200" dirty="0">
                        <a:solidFill>
                          <a:schemeClr val="bg1"/>
                        </a:solidFill>
                        <a:latin typeface="Wingdings" panose="05000000000000000000" pitchFamily="2" charset="2"/>
                        <a:ea typeface="+mn-ea"/>
                        <a:cs typeface="+mn-cs"/>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endParaRPr lang="en-US" sz="1800" kern="1200" dirty="0">
                        <a:solidFill>
                          <a:schemeClr val="bg1"/>
                        </a:solidFill>
                        <a:latin typeface="Wingdings" panose="05000000000000000000" pitchFamily="2" charset="2"/>
                        <a:ea typeface="+mn-ea"/>
                        <a:cs typeface="+mn-cs"/>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endParaRPr lang="en-US" sz="1800" kern="1200" dirty="0">
                        <a:solidFill>
                          <a:schemeClr val="bg1"/>
                        </a:solidFill>
                        <a:latin typeface="Wingdings" panose="05000000000000000000" pitchFamily="2" charset="2"/>
                        <a:ea typeface="+mn-ea"/>
                        <a:cs typeface="+mn-cs"/>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endParaRPr lang="en-US" sz="1800" kern="1200" dirty="0">
                        <a:solidFill>
                          <a:schemeClr val="bg1"/>
                        </a:solidFill>
                        <a:latin typeface="Wingdings" panose="05000000000000000000" pitchFamily="2" charset="2"/>
                        <a:ea typeface="+mn-ea"/>
                        <a:cs typeface="+mn-cs"/>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endParaRPr lang="en-US" sz="1800" kern="1200" dirty="0">
                        <a:solidFill>
                          <a:schemeClr val="bg1"/>
                        </a:solidFill>
                        <a:latin typeface="Wingdings" panose="05000000000000000000" pitchFamily="2" charset="2"/>
                        <a:ea typeface="+mn-ea"/>
                        <a:cs typeface="+mn-cs"/>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endParaRPr lang="en-US" sz="1800" kern="1200" dirty="0">
                        <a:solidFill>
                          <a:schemeClr val="bg1"/>
                        </a:solidFill>
                        <a:latin typeface="Wingdings" panose="05000000000000000000" pitchFamily="2" charset="2"/>
                        <a:ea typeface="+mn-ea"/>
                        <a:cs typeface="+mn-cs"/>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endParaRPr lang="en-US" sz="1800" kern="1200" dirty="0">
                        <a:solidFill>
                          <a:schemeClr val="bg1"/>
                        </a:solidFill>
                        <a:latin typeface="Wingdings" panose="05000000000000000000" pitchFamily="2" charset="2"/>
                        <a:ea typeface="+mn-ea"/>
                        <a:cs typeface="+mn-cs"/>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endParaRPr lang="en-US" sz="1800" kern="1200" dirty="0">
                        <a:solidFill>
                          <a:schemeClr val="bg1"/>
                        </a:solidFill>
                        <a:latin typeface="Wingdings" panose="05000000000000000000" pitchFamily="2" charset="2"/>
                        <a:ea typeface="+mn-ea"/>
                        <a:cs typeface="+mn-cs"/>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endParaRPr lang="en-US" sz="1800" kern="1200" dirty="0">
                        <a:solidFill>
                          <a:schemeClr val="bg1"/>
                        </a:solidFill>
                        <a:latin typeface="Wingdings" panose="05000000000000000000" pitchFamily="2" charset="2"/>
                        <a:ea typeface="+mn-ea"/>
                        <a:cs typeface="+mn-cs"/>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endParaRPr lang="en-US" sz="1800" kern="1200" dirty="0">
                        <a:solidFill>
                          <a:schemeClr val="bg1"/>
                        </a:solidFill>
                        <a:latin typeface="Wingdings" panose="05000000000000000000" pitchFamily="2" charset="2"/>
                        <a:ea typeface="+mn-ea"/>
                        <a:cs typeface="+mn-cs"/>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3549855035"/>
                  </a:ext>
                </a:extLst>
              </a:tr>
              <a:tr h="370840">
                <a:tc>
                  <a:txBody>
                    <a:bodyPr/>
                    <a:lstStyle/>
                    <a:p>
                      <a:r>
                        <a:rPr lang="en-US" dirty="0">
                          <a:solidFill>
                            <a:schemeClr val="bg1"/>
                          </a:solidFill>
                        </a:rPr>
                        <a:t>Risk Review</a:t>
                      </a:r>
                    </a:p>
                  </a:txBody>
                  <a:tcPr>
                    <a:solidFill>
                      <a:schemeClr val="bg1">
                        <a:lumMod val="50000"/>
                      </a:schemeClr>
                    </a:solidFill>
                  </a:tcPr>
                </a:tc>
                <a:tc>
                  <a:txBody>
                    <a:bodyPr/>
                    <a:lstStyle/>
                    <a:p>
                      <a:pPr algn="ctr"/>
                      <a:endParaRPr lang="en-US">
                        <a:solidFill>
                          <a:schemeClr val="bg1"/>
                        </a:solidFill>
                        <a:latin typeface="Wingdings" panose="05000000000000000000" pitchFamily="2" charset="2"/>
                      </a:endParaRPr>
                    </a:p>
                  </a:txBody>
                  <a:tcPr>
                    <a:solidFill>
                      <a:schemeClr val="bg1">
                        <a:lumMod val="50000"/>
                      </a:schemeClr>
                    </a:solidFill>
                  </a:tcPr>
                </a:tc>
                <a:tc>
                  <a:txBody>
                    <a:bodyPr/>
                    <a:lstStyle/>
                    <a:p>
                      <a:pPr algn="ctr"/>
                      <a:endParaRPr lang="en-US">
                        <a:solidFill>
                          <a:schemeClr val="bg1"/>
                        </a:solidFill>
                        <a:latin typeface="Wingdings" panose="05000000000000000000" pitchFamily="2" charset="2"/>
                      </a:endParaRPr>
                    </a:p>
                  </a:txBody>
                  <a:tcPr>
                    <a:solidFill>
                      <a:schemeClr val="bg1">
                        <a:lumMod val="50000"/>
                      </a:schemeClr>
                    </a:solidFill>
                  </a:tcPr>
                </a:tc>
                <a:tc>
                  <a:txBody>
                    <a:bodyPr/>
                    <a:lstStyle/>
                    <a:p>
                      <a:pPr algn="ctr"/>
                      <a:endParaRPr lang="en-US">
                        <a:solidFill>
                          <a:schemeClr val="bg1"/>
                        </a:solidFill>
                        <a:latin typeface="Wingdings" panose="05000000000000000000" pitchFamily="2" charset="2"/>
                      </a:endParaRPr>
                    </a:p>
                  </a:txBody>
                  <a:tcPr>
                    <a:solidFill>
                      <a:schemeClr val="bg1">
                        <a:lumMod val="50000"/>
                      </a:schemeClr>
                    </a:solidFill>
                  </a:tcPr>
                </a:tc>
                <a:tc>
                  <a:txBody>
                    <a:bodyPr/>
                    <a:lstStyle/>
                    <a:p>
                      <a:pPr algn="ctr"/>
                      <a:r>
                        <a:rPr lang="en-US" dirty="0">
                          <a:solidFill>
                            <a:schemeClr val="accent1"/>
                          </a:solidFill>
                          <a:latin typeface="Wingdings" panose="05000000000000000000" pitchFamily="2" charset="2"/>
                        </a:rPr>
                        <a:t>l</a:t>
                      </a:r>
                      <a:endParaRPr lang="en-US" dirty="0">
                        <a:solidFill>
                          <a:schemeClr val="bg1"/>
                        </a:solidFill>
                        <a:latin typeface="Wingdings" panose="05000000000000000000" pitchFamily="2" charset="2"/>
                      </a:endParaRPr>
                    </a:p>
                  </a:txBody>
                  <a:tcPr>
                    <a:solidFill>
                      <a:schemeClr val="bg1">
                        <a:lumMod val="50000"/>
                      </a:schemeClr>
                    </a:solidFill>
                  </a:tcPr>
                </a:tc>
                <a:tc>
                  <a:txBody>
                    <a:bodyPr/>
                    <a:lstStyle/>
                    <a:p>
                      <a:pPr algn="ctr"/>
                      <a:r>
                        <a:rPr lang="en-US" dirty="0">
                          <a:solidFill>
                            <a:schemeClr val="bg1"/>
                          </a:solidFill>
                          <a:latin typeface="Wingdings" panose="05000000000000000000" pitchFamily="2" charset="2"/>
                        </a:rPr>
                        <a:t>l</a:t>
                      </a:r>
                    </a:p>
                  </a:txBody>
                  <a:tcPr>
                    <a:solidFill>
                      <a:schemeClr val="bg1">
                        <a:lumMod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2"/>
                          </a:solidFill>
                          <a:latin typeface="Wingdings" panose="05000000000000000000" pitchFamily="2" charset="2"/>
                        </a:rPr>
                        <a:t>l</a:t>
                      </a:r>
                    </a:p>
                  </a:txBody>
                  <a:tcPr>
                    <a:solidFill>
                      <a:schemeClr val="bg1">
                        <a:lumMod val="50000"/>
                      </a:schemeClr>
                    </a:solidFill>
                  </a:tcPr>
                </a:tc>
                <a:tc>
                  <a:txBody>
                    <a:bodyPr/>
                    <a:lstStyle/>
                    <a:p>
                      <a:pPr algn="ctr"/>
                      <a:r>
                        <a:rPr lang="en-US" dirty="0">
                          <a:solidFill>
                            <a:schemeClr val="accent2"/>
                          </a:solidFill>
                          <a:latin typeface="Wingdings" panose="05000000000000000000" pitchFamily="2" charset="2"/>
                        </a:rPr>
                        <a:t>l</a:t>
                      </a:r>
                      <a:endParaRPr lang="en-US" dirty="0">
                        <a:solidFill>
                          <a:schemeClr val="bg1"/>
                        </a:solidFill>
                        <a:latin typeface="Wingdings" panose="05000000000000000000" pitchFamily="2" charset="2"/>
                      </a:endParaRPr>
                    </a:p>
                  </a:txBody>
                  <a:tcPr>
                    <a:lnR w="12700" cap="flat" cmpd="sng" algn="ctr">
                      <a:solidFill>
                        <a:schemeClr val="bg1"/>
                      </a:solidFill>
                      <a:prstDash val="solid"/>
                      <a:round/>
                      <a:headEnd type="none" w="med" len="med"/>
                      <a:tailEnd type="none" w="med" len="med"/>
                    </a:lnR>
                    <a:solidFill>
                      <a:schemeClr val="bg1">
                        <a:lumMod val="50000"/>
                      </a:schemeClr>
                    </a:solidFill>
                  </a:tcPr>
                </a:tc>
                <a:tc>
                  <a:txBody>
                    <a:bodyPr/>
                    <a:lstStyle/>
                    <a:p>
                      <a:pPr algn="ctr"/>
                      <a:endParaRPr lang="en-US" dirty="0">
                        <a:solidFill>
                          <a:schemeClr val="bg1"/>
                        </a:solidFill>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50000"/>
                      </a:schemeClr>
                    </a:solidFill>
                  </a:tcPr>
                </a:tc>
                <a:tc>
                  <a:txBody>
                    <a:bodyPr/>
                    <a:lstStyle/>
                    <a:p>
                      <a:pPr algn="ctr"/>
                      <a:endParaRPr lang="en-US" dirty="0">
                        <a:solidFill>
                          <a:schemeClr val="bg1"/>
                        </a:solidFill>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endParaRPr lang="en-US" dirty="0">
                        <a:solidFill>
                          <a:schemeClr val="bg1"/>
                        </a:solidFill>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endParaRPr lang="en-US" dirty="0">
                        <a:solidFill>
                          <a:schemeClr val="bg1"/>
                        </a:solidFill>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endParaRPr lang="en-US" dirty="0">
                        <a:solidFill>
                          <a:schemeClr val="bg1"/>
                        </a:solidFill>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endParaRPr lang="en-US" dirty="0">
                        <a:solidFill>
                          <a:schemeClr val="bg1"/>
                        </a:solidFill>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endParaRPr lang="en-US" dirty="0">
                        <a:solidFill>
                          <a:schemeClr val="bg1"/>
                        </a:solidFill>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endParaRPr lang="en-US" dirty="0">
                        <a:solidFill>
                          <a:schemeClr val="bg1"/>
                        </a:solidFill>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endParaRPr lang="en-US" dirty="0">
                        <a:solidFill>
                          <a:schemeClr val="bg1"/>
                        </a:solidFill>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endParaRPr lang="en-US" dirty="0">
                        <a:solidFill>
                          <a:schemeClr val="bg1"/>
                        </a:solidFill>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endParaRPr lang="en-US" dirty="0">
                        <a:solidFill>
                          <a:schemeClr val="bg1"/>
                        </a:solidFill>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endParaRPr lang="en-US" dirty="0">
                        <a:solidFill>
                          <a:schemeClr val="bg1"/>
                        </a:solidFill>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endParaRPr lang="en-US" dirty="0">
                        <a:solidFill>
                          <a:schemeClr val="bg1"/>
                        </a:solidFill>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1709168830"/>
                  </a:ext>
                </a:extLst>
              </a:tr>
              <a:tr h="370840">
                <a:tc>
                  <a:txBody>
                    <a:bodyPr/>
                    <a:lstStyle/>
                    <a:p>
                      <a:r>
                        <a:rPr lang="en-US" dirty="0">
                          <a:solidFill>
                            <a:schemeClr val="bg1"/>
                          </a:solidFill>
                        </a:rPr>
                        <a:t>Produce Card</a:t>
                      </a:r>
                    </a:p>
                  </a:txBody>
                  <a:tcPr>
                    <a:solidFill>
                      <a:schemeClr val="tx1"/>
                    </a:solidFill>
                  </a:tcPr>
                </a:tc>
                <a:tc>
                  <a:txBody>
                    <a:bodyPr/>
                    <a:lstStyle/>
                    <a:p>
                      <a:pPr algn="ctr"/>
                      <a:endParaRPr lang="en-US">
                        <a:solidFill>
                          <a:schemeClr val="bg1"/>
                        </a:solidFill>
                        <a:latin typeface="Wingdings" panose="05000000000000000000" pitchFamily="2" charset="2"/>
                      </a:endParaRPr>
                    </a:p>
                  </a:txBody>
                  <a:tcPr>
                    <a:solidFill>
                      <a:schemeClr val="tx1"/>
                    </a:solidFill>
                  </a:tcPr>
                </a:tc>
                <a:tc>
                  <a:txBody>
                    <a:bodyPr/>
                    <a:lstStyle/>
                    <a:p>
                      <a:pPr algn="ctr"/>
                      <a:endParaRPr lang="en-US">
                        <a:solidFill>
                          <a:schemeClr val="bg1"/>
                        </a:solidFill>
                        <a:latin typeface="Wingdings" panose="05000000000000000000" pitchFamily="2" charset="2"/>
                      </a:endParaRPr>
                    </a:p>
                  </a:txBody>
                  <a:tcPr>
                    <a:solidFill>
                      <a:schemeClr val="tx1"/>
                    </a:solidFill>
                  </a:tcPr>
                </a:tc>
                <a:tc>
                  <a:txBody>
                    <a:bodyPr/>
                    <a:lstStyle/>
                    <a:p>
                      <a:pPr algn="ctr"/>
                      <a:endParaRPr lang="en-US">
                        <a:solidFill>
                          <a:schemeClr val="bg1"/>
                        </a:solidFill>
                        <a:latin typeface="Wingdings" panose="05000000000000000000" pitchFamily="2" charset="2"/>
                      </a:endParaRPr>
                    </a:p>
                  </a:txBody>
                  <a:tcPr>
                    <a:solidFill>
                      <a:schemeClr val="tx1"/>
                    </a:solidFill>
                  </a:tcPr>
                </a:tc>
                <a:tc>
                  <a:txBody>
                    <a:bodyPr/>
                    <a:lstStyle/>
                    <a:p>
                      <a:pPr algn="ctr"/>
                      <a:endParaRPr lang="en-US" dirty="0">
                        <a:solidFill>
                          <a:schemeClr val="bg1"/>
                        </a:solidFill>
                        <a:latin typeface="Wingdings" panose="05000000000000000000" pitchFamily="2" charset="2"/>
                      </a:endParaRPr>
                    </a:p>
                  </a:txBody>
                  <a:tcPr>
                    <a:solidFill>
                      <a:schemeClr val="tx1"/>
                    </a:solidFill>
                  </a:tcPr>
                </a:tc>
                <a:tc>
                  <a:txBody>
                    <a:bodyPr/>
                    <a:lstStyle/>
                    <a:p>
                      <a:pPr algn="ctr"/>
                      <a:r>
                        <a:rPr lang="en-US" dirty="0">
                          <a:solidFill>
                            <a:schemeClr val="accent1"/>
                          </a:solidFill>
                          <a:latin typeface="Wingdings" panose="05000000000000000000" pitchFamily="2" charset="2"/>
                        </a:rPr>
                        <a:t>l</a:t>
                      </a:r>
                      <a:endParaRPr lang="en-US" dirty="0">
                        <a:solidFill>
                          <a:schemeClr val="bg1"/>
                        </a:solidFill>
                        <a:latin typeface="Wingdings" panose="05000000000000000000" pitchFamily="2" charset="2"/>
                      </a:endParaRPr>
                    </a:p>
                  </a:txBody>
                  <a:tcPr>
                    <a:solidFill>
                      <a:schemeClr val="tx1"/>
                    </a:solidFill>
                  </a:tcPr>
                </a:tc>
                <a:tc>
                  <a:txBody>
                    <a:bodyPr/>
                    <a:lstStyle/>
                    <a:p>
                      <a:pPr algn="ctr"/>
                      <a:r>
                        <a:rPr lang="en-US" dirty="0">
                          <a:solidFill>
                            <a:schemeClr val="bg1"/>
                          </a:solidFill>
                          <a:latin typeface="Wingdings" panose="05000000000000000000" pitchFamily="2" charset="2"/>
                        </a:rPr>
                        <a:t>l</a:t>
                      </a:r>
                    </a:p>
                  </a:txBody>
                  <a:tcPr>
                    <a:solidFill>
                      <a:schemeClr val="tx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2"/>
                          </a:solidFill>
                          <a:latin typeface="Wingdings" panose="05000000000000000000" pitchFamily="2" charset="2"/>
                        </a:rPr>
                        <a:t>l</a:t>
                      </a:r>
                    </a:p>
                  </a:txBody>
                  <a:tcPr>
                    <a:lnR w="12700" cap="flat" cmpd="sng" algn="ctr">
                      <a:solidFill>
                        <a:schemeClr val="bg1"/>
                      </a:solidFill>
                      <a:prstDash val="solid"/>
                      <a:round/>
                      <a:headEnd type="none" w="med" len="med"/>
                      <a:tailEnd type="none" w="med" len="med"/>
                    </a:lnR>
                    <a:solidFill>
                      <a:schemeClr val="tx1"/>
                    </a:solidFill>
                  </a:tcPr>
                </a:tc>
                <a:tc>
                  <a:txBody>
                    <a:bodyPr/>
                    <a:lstStyle/>
                    <a:p>
                      <a:pPr algn="ctr"/>
                      <a:r>
                        <a:rPr lang="en-US" dirty="0">
                          <a:solidFill>
                            <a:schemeClr val="accent2"/>
                          </a:solidFill>
                          <a:latin typeface="Wingdings" panose="05000000000000000000" pitchFamily="2" charset="2"/>
                        </a:rPr>
                        <a:t>l</a:t>
                      </a:r>
                      <a:endParaRPr lang="en-US" dirty="0">
                        <a:solidFill>
                          <a:schemeClr val="bg1"/>
                        </a:solidFill>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algn="ctr"/>
                      <a:endParaRPr lang="en-US" dirty="0">
                        <a:solidFill>
                          <a:schemeClr val="bg1"/>
                        </a:solidFill>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endParaRPr lang="en-US" dirty="0">
                        <a:solidFill>
                          <a:schemeClr val="bg1"/>
                        </a:solidFill>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endParaRPr lang="en-US" dirty="0">
                        <a:solidFill>
                          <a:schemeClr val="bg1"/>
                        </a:solidFill>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endParaRPr lang="en-US" dirty="0">
                        <a:solidFill>
                          <a:schemeClr val="bg1"/>
                        </a:solidFill>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endParaRPr lang="en-US" dirty="0">
                        <a:solidFill>
                          <a:schemeClr val="bg1"/>
                        </a:solidFill>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endParaRPr lang="en-US" dirty="0">
                        <a:solidFill>
                          <a:schemeClr val="bg1"/>
                        </a:solidFill>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endParaRPr lang="en-US" dirty="0">
                        <a:solidFill>
                          <a:schemeClr val="bg1"/>
                        </a:solidFill>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endParaRPr lang="en-US" dirty="0">
                        <a:solidFill>
                          <a:schemeClr val="bg1"/>
                        </a:solidFill>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endParaRPr lang="en-US" dirty="0">
                        <a:solidFill>
                          <a:schemeClr val="bg1"/>
                        </a:solidFill>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endParaRPr lang="en-US" dirty="0">
                        <a:solidFill>
                          <a:schemeClr val="bg1"/>
                        </a:solidFill>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endParaRPr lang="en-US" dirty="0">
                        <a:solidFill>
                          <a:schemeClr val="bg1"/>
                        </a:solidFill>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endParaRPr lang="en-US" dirty="0">
                        <a:solidFill>
                          <a:schemeClr val="bg1"/>
                        </a:solidFill>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3419261072"/>
                  </a:ext>
                </a:extLst>
              </a:tr>
            </a:tbl>
          </a:graphicData>
        </a:graphic>
      </p:graphicFrame>
      <p:sp>
        <p:nvSpPr>
          <p:cNvPr id="11" name="Rectangle 10">
            <a:extLst>
              <a:ext uri="{FF2B5EF4-FFF2-40B4-BE49-F238E27FC236}">
                <a16:creationId xmlns:a16="http://schemas.microsoft.com/office/drawing/2014/main" id="{18EA57A6-85F1-DCFD-0CCF-4039750D9B58}"/>
              </a:ext>
            </a:extLst>
          </p:cNvPr>
          <p:cNvSpPr/>
          <p:nvPr/>
        </p:nvSpPr>
        <p:spPr>
          <a:xfrm>
            <a:off x="1476381" y="4883139"/>
            <a:ext cx="9665889" cy="718145"/>
          </a:xfrm>
          <a:prstGeom prst="rect">
            <a:avLst/>
          </a:prstGeom>
          <a:solidFill>
            <a:srgbClr val="FFB627"/>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Lead times are long because each process step is batched and must wait for the others to be completed before the next process can be started. </a:t>
            </a:r>
          </a:p>
        </p:txBody>
      </p:sp>
      <p:sp>
        <p:nvSpPr>
          <p:cNvPr id="13" name="TextBox 12">
            <a:extLst>
              <a:ext uri="{FF2B5EF4-FFF2-40B4-BE49-F238E27FC236}">
                <a16:creationId xmlns:a16="http://schemas.microsoft.com/office/drawing/2014/main" id="{75369114-24B7-5404-3C32-6BB73052F47F}"/>
              </a:ext>
            </a:extLst>
          </p:cNvPr>
          <p:cNvSpPr txBox="1"/>
          <p:nvPr/>
        </p:nvSpPr>
        <p:spPr>
          <a:xfrm>
            <a:off x="6223064" y="2846412"/>
            <a:ext cx="5876243" cy="1828800"/>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4400" b="0" i="0" u="none" strike="noStrike" cap="none" spc="0" normalizeH="0" baseline="0" dirty="0">
                <a:ln>
                  <a:noFill/>
                </a:ln>
                <a:solidFill>
                  <a:schemeClr val="bg1"/>
                </a:solidFill>
                <a:effectLst/>
                <a:uFillTx/>
                <a:latin typeface="Roboto" panose="02000000000000000000" pitchFamily="2" charset="0"/>
                <a:ea typeface="Roboto" panose="02000000000000000000" pitchFamily="2" charset="0"/>
                <a:cs typeface="Roboto" panose="02000000000000000000" pitchFamily="2" charset="0"/>
                <a:sym typeface="Roboto"/>
              </a:rPr>
              <a:t>60% Reduction in </a:t>
            </a:r>
          </a:p>
          <a:p>
            <a:pPr marL="0" marR="0" indent="0" algn="ctr" defTabSz="825500" rtl="0" fontAlgn="auto" latinLnBrk="0" hangingPunct="0">
              <a:lnSpc>
                <a:spcPct val="100000"/>
              </a:lnSpc>
              <a:spcBef>
                <a:spcPts val="0"/>
              </a:spcBef>
              <a:spcAft>
                <a:spcPts val="0"/>
              </a:spcAft>
              <a:buClrTx/>
              <a:buSzTx/>
              <a:buFontTx/>
              <a:buNone/>
              <a:tabLst/>
            </a:pPr>
            <a:r>
              <a:rPr kumimoji="0" lang="en-US" sz="4400" b="0" i="0" u="none" strike="noStrike" cap="none" spc="0" normalizeH="0" baseline="0" dirty="0">
                <a:ln>
                  <a:noFill/>
                </a:ln>
                <a:solidFill>
                  <a:schemeClr val="bg1"/>
                </a:solidFill>
                <a:effectLst/>
                <a:uFillTx/>
                <a:latin typeface="Roboto" panose="02000000000000000000" pitchFamily="2" charset="0"/>
                <a:ea typeface="Roboto" panose="02000000000000000000" pitchFamily="2" charset="0"/>
                <a:cs typeface="Roboto" panose="02000000000000000000" pitchFamily="2" charset="0"/>
                <a:sym typeface="Roboto"/>
              </a:rPr>
              <a:t>Lead Time</a:t>
            </a:r>
          </a:p>
        </p:txBody>
      </p:sp>
      <p:sp>
        <p:nvSpPr>
          <p:cNvPr id="21" name="TextBox 20">
            <a:extLst>
              <a:ext uri="{FF2B5EF4-FFF2-40B4-BE49-F238E27FC236}">
                <a16:creationId xmlns:a16="http://schemas.microsoft.com/office/drawing/2014/main" id="{338D7D9C-C040-0E6A-B097-5BE6B1FB5E3F}"/>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Lean Fundamentals</a:t>
            </a:r>
          </a:p>
        </p:txBody>
      </p:sp>
      <p:sp>
        <p:nvSpPr>
          <p:cNvPr id="3" name="AutoShape 9">
            <a:extLst>
              <a:ext uri="{FF2B5EF4-FFF2-40B4-BE49-F238E27FC236}">
                <a16:creationId xmlns:a16="http://schemas.microsoft.com/office/drawing/2014/main" id="{563EBA01-6E9D-D6FB-0092-5E4DBED051E6}"/>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6" name="AutoShape 11">
            <a:extLst>
              <a:ext uri="{FF2B5EF4-FFF2-40B4-BE49-F238E27FC236}">
                <a16:creationId xmlns:a16="http://schemas.microsoft.com/office/drawing/2014/main" id="{6C1B189A-8C85-E3D9-C632-67A1C7E6C9DA}"/>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10">
            <a:extLst>
              <a:ext uri="{FF2B5EF4-FFF2-40B4-BE49-F238E27FC236}">
                <a16:creationId xmlns:a16="http://schemas.microsoft.com/office/drawing/2014/main" id="{A0D352E6-12D5-9980-08BA-78D376F38732}"/>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Tree>
    <p:extLst>
      <p:ext uri="{BB962C8B-B14F-4D97-AF65-F5344CB8AC3E}">
        <p14:creationId xmlns:p14="http://schemas.microsoft.com/office/powerpoint/2010/main" val="21028573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 grpId="0"/>
      <p:bldP spid="13"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itle 24">
            <a:extLst>
              <a:ext uri="{FF2B5EF4-FFF2-40B4-BE49-F238E27FC236}">
                <a16:creationId xmlns:a16="http://schemas.microsoft.com/office/drawing/2014/main" id="{868D4041-D0F9-25FB-4F54-742F539993D0}"/>
              </a:ext>
            </a:extLst>
          </p:cNvPr>
          <p:cNvSpPr>
            <a:spLocks noGrp="1"/>
          </p:cNvSpPr>
          <p:nvPr>
            <p:ph type="title"/>
          </p:nvPr>
        </p:nvSpPr>
        <p:spPr/>
        <p:txBody>
          <a:bodyPr>
            <a:normAutofit/>
          </a:bodyPr>
          <a:lstStyle/>
          <a:p>
            <a:r>
              <a:rPr lang="en-US" sz="4000" dirty="0">
                <a:latin typeface="Roboto Medium"/>
                <a:ea typeface="Roboto Medium"/>
                <a:cs typeface="Roboto Medium"/>
              </a:rPr>
              <a:t>Core Lean Concepts</a:t>
            </a:r>
          </a:p>
        </p:txBody>
      </p:sp>
      <p:sp>
        <p:nvSpPr>
          <p:cNvPr id="4" name="Footer Placeholder 3">
            <a:extLst>
              <a:ext uri="{FF2B5EF4-FFF2-40B4-BE49-F238E27FC236}">
                <a16:creationId xmlns:a16="http://schemas.microsoft.com/office/drawing/2014/main" id="{CB1F8C30-D81C-1E27-D266-2BC421C72FD6}"/>
              </a:ext>
            </a:extLst>
          </p:cNvPr>
          <p:cNvSpPr>
            <a:spLocks noGrp="1"/>
          </p:cNvSpPr>
          <p:nvPr>
            <p:ph type="ftr" sz="quarter" idx="11"/>
          </p:nvPr>
        </p:nvSpPr>
        <p:spPr/>
        <p:txBody>
          <a:bodyPr/>
          <a:lstStyle/>
          <a:p>
            <a:r>
              <a:rPr lang="en-US"/>
              <a:t>© Lean Horizons Consulting, LLC 2023. All Rights Reserved</a:t>
            </a:r>
            <a:endParaRPr lang="en-US" dirty="0"/>
          </a:p>
        </p:txBody>
      </p:sp>
      <p:sp>
        <p:nvSpPr>
          <p:cNvPr id="5" name="Slide Number Placeholder 4">
            <a:extLst>
              <a:ext uri="{FF2B5EF4-FFF2-40B4-BE49-F238E27FC236}">
                <a16:creationId xmlns:a16="http://schemas.microsoft.com/office/drawing/2014/main" id="{1AA34B74-93DA-5F21-CF4A-77FE692D026C}"/>
              </a:ext>
            </a:extLst>
          </p:cNvPr>
          <p:cNvSpPr>
            <a:spLocks noGrp="1"/>
          </p:cNvSpPr>
          <p:nvPr>
            <p:ph type="sldNum" sz="quarter" idx="12"/>
          </p:nvPr>
        </p:nvSpPr>
        <p:spPr/>
        <p:txBody>
          <a:bodyPr/>
          <a:lstStyle/>
          <a:p>
            <a:fld id="{CC6D4273-7FC1-0947-B9FE-19CB3C0D1FB6}" type="slidenum">
              <a:rPr lang="en-US" smtClean="0"/>
              <a:t>31</a:t>
            </a:fld>
            <a:endParaRPr lang="en-US"/>
          </a:p>
        </p:txBody>
      </p:sp>
      <p:grpSp>
        <p:nvGrpSpPr>
          <p:cNvPr id="11" name="Group 10">
            <a:extLst>
              <a:ext uri="{FF2B5EF4-FFF2-40B4-BE49-F238E27FC236}">
                <a16:creationId xmlns:a16="http://schemas.microsoft.com/office/drawing/2014/main" id="{C67C5071-808E-C71E-D2AF-8FF15DEE27A2}"/>
              </a:ext>
            </a:extLst>
          </p:cNvPr>
          <p:cNvGrpSpPr/>
          <p:nvPr/>
        </p:nvGrpSpPr>
        <p:grpSpPr>
          <a:xfrm>
            <a:off x="940249" y="2006435"/>
            <a:ext cx="5722970" cy="3597684"/>
            <a:chOff x="1888435" y="3868398"/>
            <a:chExt cx="10972800" cy="7263723"/>
          </a:xfrm>
        </p:grpSpPr>
        <p:sp>
          <p:nvSpPr>
            <p:cNvPr id="12" name="Rectangle 11">
              <a:extLst>
                <a:ext uri="{FF2B5EF4-FFF2-40B4-BE49-F238E27FC236}">
                  <a16:creationId xmlns:a16="http://schemas.microsoft.com/office/drawing/2014/main" id="{B0B54629-2D9F-D857-EE31-4C21CDD2E4A2}"/>
                </a:ext>
              </a:extLst>
            </p:cNvPr>
            <p:cNvSpPr>
              <a:spLocks/>
            </p:cNvSpPr>
            <p:nvPr/>
          </p:nvSpPr>
          <p:spPr>
            <a:xfrm>
              <a:off x="1888435" y="3868398"/>
              <a:ext cx="10972800" cy="914401"/>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lvl="2"/>
              <a:r>
                <a:rPr lang="en-US" sz="28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Specify</a:t>
              </a:r>
              <a:r>
                <a:rPr lang="en-US" sz="2800" dirty="0">
                  <a:latin typeface="Roboto" panose="02000000000000000000" pitchFamily="2" charset="0"/>
                  <a:ea typeface="Roboto" panose="02000000000000000000" pitchFamily="2" charset="0"/>
                  <a:cs typeface="Roboto" panose="02000000000000000000" pitchFamily="2" charset="0"/>
                  <a:sym typeface="Roboto"/>
                </a:rPr>
                <a:t> </a:t>
              </a:r>
              <a:r>
                <a:rPr lang="en-US" sz="28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Value</a:t>
              </a:r>
            </a:p>
          </p:txBody>
        </p:sp>
        <p:sp>
          <p:nvSpPr>
            <p:cNvPr id="13" name="Rectangle 12">
              <a:extLst>
                <a:ext uri="{FF2B5EF4-FFF2-40B4-BE49-F238E27FC236}">
                  <a16:creationId xmlns:a16="http://schemas.microsoft.com/office/drawing/2014/main" id="{DF4EAF32-E1A1-D4A2-9FCD-515A5F96DE04}"/>
                </a:ext>
              </a:extLst>
            </p:cNvPr>
            <p:cNvSpPr>
              <a:spLocks/>
            </p:cNvSpPr>
            <p:nvPr/>
          </p:nvSpPr>
          <p:spPr>
            <a:xfrm>
              <a:off x="1888435" y="5459481"/>
              <a:ext cx="10972800" cy="914401"/>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defTabSz="584200" hangingPunct="0"/>
              <a:r>
                <a:rPr lang="en-US" sz="28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Identify the Value Stream</a:t>
              </a:r>
            </a:p>
          </p:txBody>
        </p:sp>
        <p:sp>
          <p:nvSpPr>
            <p:cNvPr id="14" name="Rectangle 13">
              <a:extLst>
                <a:ext uri="{FF2B5EF4-FFF2-40B4-BE49-F238E27FC236}">
                  <a16:creationId xmlns:a16="http://schemas.microsoft.com/office/drawing/2014/main" id="{FBE3767D-7BA2-9FC1-934C-8354A66E63AC}"/>
                </a:ext>
              </a:extLst>
            </p:cNvPr>
            <p:cNvSpPr>
              <a:spLocks/>
            </p:cNvSpPr>
            <p:nvPr/>
          </p:nvSpPr>
          <p:spPr>
            <a:xfrm>
              <a:off x="1888435" y="7045561"/>
              <a:ext cx="10972800" cy="914401"/>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defTabSz="584200" hangingPunct="0"/>
              <a:r>
                <a:rPr lang="en-US" sz="28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Flow</a:t>
              </a:r>
            </a:p>
          </p:txBody>
        </p:sp>
        <p:sp>
          <p:nvSpPr>
            <p:cNvPr id="15" name="Rectangle 14">
              <a:extLst>
                <a:ext uri="{FF2B5EF4-FFF2-40B4-BE49-F238E27FC236}">
                  <a16:creationId xmlns:a16="http://schemas.microsoft.com/office/drawing/2014/main" id="{D87C53B4-48B2-AD29-AFD8-1C5B6871B984}"/>
                </a:ext>
              </a:extLst>
            </p:cNvPr>
            <p:cNvSpPr/>
            <p:nvPr/>
          </p:nvSpPr>
          <p:spPr>
            <a:xfrm>
              <a:off x="1888435" y="8631640"/>
              <a:ext cx="10972800" cy="914401"/>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r>
                <a:rPr lang="en-US" sz="28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Pull</a:t>
              </a:r>
            </a:p>
          </p:txBody>
        </p:sp>
        <p:sp>
          <p:nvSpPr>
            <p:cNvPr id="16" name="Rectangle 15">
              <a:extLst>
                <a:ext uri="{FF2B5EF4-FFF2-40B4-BE49-F238E27FC236}">
                  <a16:creationId xmlns:a16="http://schemas.microsoft.com/office/drawing/2014/main" id="{589CEA7D-9312-9D7A-0D93-C8AE0124D074}"/>
                </a:ext>
              </a:extLst>
            </p:cNvPr>
            <p:cNvSpPr>
              <a:spLocks/>
            </p:cNvSpPr>
            <p:nvPr/>
          </p:nvSpPr>
          <p:spPr>
            <a:xfrm>
              <a:off x="1888435" y="10217720"/>
              <a:ext cx="10972800" cy="914401"/>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Perfection</a:t>
              </a:r>
            </a:p>
          </p:txBody>
        </p:sp>
      </p:grpSp>
      <p:sp>
        <p:nvSpPr>
          <p:cNvPr id="20" name="Title 1">
            <a:extLst>
              <a:ext uri="{FF2B5EF4-FFF2-40B4-BE49-F238E27FC236}">
                <a16:creationId xmlns:a16="http://schemas.microsoft.com/office/drawing/2014/main" id="{9B1715EE-FB55-A550-4CE5-A4D05A73859A}"/>
              </a:ext>
            </a:extLst>
          </p:cNvPr>
          <p:cNvSpPr txBox="1">
            <a:spLocks/>
          </p:cNvSpPr>
          <p:nvPr/>
        </p:nvSpPr>
        <p:spPr>
          <a:xfrm>
            <a:off x="699910" y="681038"/>
            <a:ext cx="9815689" cy="1009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endParaRPr lang="en-US" dirty="0">
              <a:solidFill>
                <a:schemeClr val="tx1"/>
              </a:solidFill>
            </a:endParaRPr>
          </a:p>
        </p:txBody>
      </p:sp>
      <p:sp>
        <p:nvSpPr>
          <p:cNvPr id="24" name="TextBox 23">
            <a:extLst>
              <a:ext uri="{FF2B5EF4-FFF2-40B4-BE49-F238E27FC236}">
                <a16:creationId xmlns:a16="http://schemas.microsoft.com/office/drawing/2014/main" id="{C5BDF42C-A61F-0C81-8AC6-8365C83CB3A9}"/>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Lean Fundamentals</a:t>
            </a:r>
          </a:p>
        </p:txBody>
      </p:sp>
      <p:sp>
        <p:nvSpPr>
          <p:cNvPr id="7" name="AutoShape 9">
            <a:extLst>
              <a:ext uri="{FF2B5EF4-FFF2-40B4-BE49-F238E27FC236}">
                <a16:creationId xmlns:a16="http://schemas.microsoft.com/office/drawing/2014/main" id="{1FCA7EC4-B36C-9061-5C0D-20F1735D0D4D}"/>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11">
            <a:extLst>
              <a:ext uri="{FF2B5EF4-FFF2-40B4-BE49-F238E27FC236}">
                <a16:creationId xmlns:a16="http://schemas.microsoft.com/office/drawing/2014/main" id="{1D56993B-99A9-D6DE-7EAD-1A9A28657548}"/>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10">
            <a:extLst>
              <a:ext uri="{FF2B5EF4-FFF2-40B4-BE49-F238E27FC236}">
                <a16:creationId xmlns:a16="http://schemas.microsoft.com/office/drawing/2014/main" id="{59761294-E163-4237-2A4B-FB889F539580}"/>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Tree>
    <p:extLst>
      <p:ext uri="{BB962C8B-B14F-4D97-AF65-F5344CB8AC3E}">
        <p14:creationId xmlns:p14="http://schemas.microsoft.com/office/powerpoint/2010/main" val="257042477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933D00-F243-B3D2-0146-A7F8D16D252B}"/>
              </a:ext>
            </a:extLst>
          </p:cNvPr>
          <p:cNvSpPr>
            <a:spLocks noGrp="1"/>
          </p:cNvSpPr>
          <p:nvPr>
            <p:ph type="title"/>
          </p:nvPr>
        </p:nvSpPr>
        <p:spPr/>
        <p:txBody>
          <a:bodyPr>
            <a:normAutofit/>
          </a:bodyPr>
          <a:lstStyle/>
          <a:p>
            <a:r>
              <a:rPr lang="en-US" sz="4000" dirty="0">
                <a:latin typeface="Roboto Medium"/>
                <a:ea typeface="Roboto Medium"/>
                <a:cs typeface="Roboto Medium"/>
              </a:rPr>
              <a:t>Pull</a:t>
            </a:r>
          </a:p>
        </p:txBody>
      </p:sp>
      <p:sp>
        <p:nvSpPr>
          <p:cNvPr id="3" name="Content Placeholder 2">
            <a:extLst>
              <a:ext uri="{FF2B5EF4-FFF2-40B4-BE49-F238E27FC236}">
                <a16:creationId xmlns:a16="http://schemas.microsoft.com/office/drawing/2014/main" id="{21980AE6-8978-92D6-F572-3E11FBDE9D1B}"/>
              </a:ext>
            </a:extLst>
          </p:cNvPr>
          <p:cNvSpPr>
            <a:spLocks noGrp="1"/>
          </p:cNvSpPr>
          <p:nvPr>
            <p:ph idx="1"/>
          </p:nvPr>
        </p:nvSpPr>
        <p:spPr>
          <a:xfrm>
            <a:off x="838200" y="1825625"/>
            <a:ext cx="10293632" cy="4351338"/>
          </a:xfrm>
        </p:spPr>
        <p:txBody>
          <a:bodyPr/>
          <a:lstStyle/>
          <a:p>
            <a:r>
              <a:rPr lang="en-US" dirty="0"/>
              <a:t>Couple processes with “pull” when flow is not possible</a:t>
            </a:r>
          </a:p>
          <a:p>
            <a:r>
              <a:rPr lang="en-US" dirty="0"/>
              <a:t>End Customer initiates pull process</a:t>
            </a:r>
          </a:p>
          <a:p>
            <a:r>
              <a:rPr lang="en-US" dirty="0"/>
              <a:t>Each step in the process takes the information or knowledge it needs, when needed from the preceding process</a:t>
            </a:r>
          </a:p>
          <a:p>
            <a:r>
              <a:rPr lang="en-US" dirty="0"/>
              <a:t>Only the amount required is taken</a:t>
            </a:r>
          </a:p>
          <a:p>
            <a:r>
              <a:rPr lang="en-US" dirty="0"/>
              <a:t>No action is taken until the downstream process initiates it </a:t>
            </a:r>
          </a:p>
        </p:txBody>
      </p:sp>
      <p:sp>
        <p:nvSpPr>
          <p:cNvPr id="5" name="Footer Placeholder 4">
            <a:extLst>
              <a:ext uri="{FF2B5EF4-FFF2-40B4-BE49-F238E27FC236}">
                <a16:creationId xmlns:a16="http://schemas.microsoft.com/office/drawing/2014/main" id="{017A104C-D978-CD3B-D535-2585FFEDD37C}"/>
              </a:ext>
            </a:extLst>
          </p:cNvPr>
          <p:cNvSpPr>
            <a:spLocks noGrp="1"/>
          </p:cNvSpPr>
          <p:nvPr>
            <p:ph type="ftr" sz="quarter" idx="11"/>
          </p:nvPr>
        </p:nvSpPr>
        <p:spPr/>
        <p:txBody>
          <a:bodyPr/>
          <a:lstStyle/>
          <a:p>
            <a:r>
              <a:rPr lang="en-US"/>
              <a:t>© Lean Horizons Consulting, LLC 2023. All Rights Reserved</a:t>
            </a:r>
            <a:endParaRPr lang="en-US" dirty="0"/>
          </a:p>
        </p:txBody>
      </p:sp>
      <p:sp>
        <p:nvSpPr>
          <p:cNvPr id="6" name="Slide Number Placeholder 5">
            <a:extLst>
              <a:ext uri="{FF2B5EF4-FFF2-40B4-BE49-F238E27FC236}">
                <a16:creationId xmlns:a16="http://schemas.microsoft.com/office/drawing/2014/main" id="{B9358E55-563D-C67E-6F1C-2D85668924D5}"/>
              </a:ext>
            </a:extLst>
          </p:cNvPr>
          <p:cNvSpPr>
            <a:spLocks noGrp="1"/>
          </p:cNvSpPr>
          <p:nvPr>
            <p:ph type="sldNum" sz="quarter" idx="12"/>
          </p:nvPr>
        </p:nvSpPr>
        <p:spPr/>
        <p:txBody>
          <a:bodyPr/>
          <a:lstStyle/>
          <a:p>
            <a:fld id="{CC6D4273-7FC1-0947-B9FE-19CB3C0D1FB6}" type="slidenum">
              <a:rPr lang="en-US" smtClean="0"/>
              <a:t>32</a:t>
            </a:fld>
            <a:endParaRPr lang="en-US"/>
          </a:p>
        </p:txBody>
      </p:sp>
      <p:sp>
        <p:nvSpPr>
          <p:cNvPr id="19" name="TextBox 18">
            <a:extLst>
              <a:ext uri="{FF2B5EF4-FFF2-40B4-BE49-F238E27FC236}">
                <a16:creationId xmlns:a16="http://schemas.microsoft.com/office/drawing/2014/main" id="{C19D8E70-1642-78C5-F739-229859FCEE3F}"/>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Lean Fundamentals</a:t>
            </a:r>
          </a:p>
        </p:txBody>
      </p:sp>
      <p:sp>
        <p:nvSpPr>
          <p:cNvPr id="4" name="AutoShape 9">
            <a:extLst>
              <a:ext uri="{FF2B5EF4-FFF2-40B4-BE49-F238E27FC236}">
                <a16:creationId xmlns:a16="http://schemas.microsoft.com/office/drawing/2014/main" id="{6AB31867-73F8-194C-4D56-F7A25F2F84CF}"/>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11">
            <a:extLst>
              <a:ext uri="{FF2B5EF4-FFF2-40B4-BE49-F238E27FC236}">
                <a16:creationId xmlns:a16="http://schemas.microsoft.com/office/drawing/2014/main" id="{8BC0A129-E2A0-A671-0187-E5C051256EBF}"/>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10">
            <a:extLst>
              <a:ext uri="{FF2B5EF4-FFF2-40B4-BE49-F238E27FC236}">
                <a16:creationId xmlns:a16="http://schemas.microsoft.com/office/drawing/2014/main" id="{E0769F36-5FAF-DA25-64B6-4A612EC067EE}"/>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Tree>
    <p:extLst>
      <p:ext uri="{BB962C8B-B14F-4D97-AF65-F5344CB8AC3E}">
        <p14:creationId xmlns:p14="http://schemas.microsoft.com/office/powerpoint/2010/main" val="26042893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598E1A-5F98-3A80-B337-62088A2E0866}"/>
              </a:ext>
            </a:extLst>
          </p:cNvPr>
          <p:cNvSpPr>
            <a:spLocks noGrp="1"/>
          </p:cNvSpPr>
          <p:nvPr>
            <p:ph type="title"/>
          </p:nvPr>
        </p:nvSpPr>
        <p:spPr>
          <a:xfrm>
            <a:off x="754693" y="701914"/>
            <a:ext cx="10515600" cy="1009651"/>
          </a:xfrm>
        </p:spPr>
        <p:txBody>
          <a:bodyPr>
            <a:noAutofit/>
          </a:bodyPr>
          <a:lstStyle/>
          <a:p>
            <a:r>
              <a:rPr lang="en-US" sz="3100" dirty="0">
                <a:latin typeface="Roboto Medium"/>
                <a:ea typeface="Roboto Medium"/>
                <a:cs typeface="Roboto Medium"/>
              </a:rPr>
              <a:t>How is the classic vending machine an example of pull?</a:t>
            </a:r>
          </a:p>
        </p:txBody>
      </p:sp>
      <p:pic>
        <p:nvPicPr>
          <p:cNvPr id="9" name="Content Placeholder 8">
            <a:extLst>
              <a:ext uri="{FF2B5EF4-FFF2-40B4-BE49-F238E27FC236}">
                <a16:creationId xmlns:a16="http://schemas.microsoft.com/office/drawing/2014/main" id="{A04A2B98-70B4-35D1-D0E9-3245BAB8E904}"/>
              </a:ext>
            </a:extLst>
          </p:cNvPr>
          <p:cNvPicPr>
            <a:picLocks noGrp="1" noChangeAspect="1"/>
          </p:cNvPicPr>
          <p:nvPr>
            <p:ph sz="half" idx="1"/>
          </p:nvPr>
        </p:nvPicPr>
        <p:blipFill>
          <a:blip r:embed="rId3"/>
          <a:stretch>
            <a:fillRect/>
          </a:stretch>
        </p:blipFill>
        <p:spPr>
          <a:xfrm>
            <a:off x="838200" y="1825625"/>
            <a:ext cx="2809973" cy="4214960"/>
          </a:xfrm>
        </p:spPr>
      </p:pic>
      <p:sp>
        <p:nvSpPr>
          <p:cNvPr id="4" name="Content Placeholder 3">
            <a:extLst>
              <a:ext uri="{FF2B5EF4-FFF2-40B4-BE49-F238E27FC236}">
                <a16:creationId xmlns:a16="http://schemas.microsoft.com/office/drawing/2014/main" id="{D21E39DE-695E-14D5-5889-CAD67CF1C36A}"/>
              </a:ext>
            </a:extLst>
          </p:cNvPr>
          <p:cNvSpPr>
            <a:spLocks noGrp="1"/>
          </p:cNvSpPr>
          <p:nvPr>
            <p:ph sz="half" idx="2"/>
          </p:nvPr>
        </p:nvSpPr>
        <p:spPr>
          <a:xfrm>
            <a:off x="4000107" y="1790069"/>
            <a:ext cx="5181600" cy="4351338"/>
          </a:xfrm>
        </p:spPr>
        <p:txBody>
          <a:bodyPr/>
          <a:lstStyle/>
          <a:p>
            <a:r>
              <a:rPr lang="en-US" dirty="0"/>
              <a:t>______________________</a:t>
            </a:r>
          </a:p>
          <a:p>
            <a:r>
              <a:rPr lang="en-US" dirty="0"/>
              <a:t>______________________</a:t>
            </a:r>
          </a:p>
          <a:p>
            <a:r>
              <a:rPr lang="en-US" dirty="0"/>
              <a:t>______________________</a:t>
            </a:r>
          </a:p>
          <a:p>
            <a:r>
              <a:rPr lang="en-US" dirty="0"/>
              <a:t>______________________</a:t>
            </a:r>
          </a:p>
          <a:p>
            <a:r>
              <a:rPr lang="en-US" dirty="0"/>
              <a:t>______________________</a:t>
            </a:r>
          </a:p>
          <a:p>
            <a:r>
              <a:rPr lang="en-US" dirty="0"/>
              <a:t>______________________</a:t>
            </a:r>
          </a:p>
          <a:p>
            <a:r>
              <a:rPr lang="en-US" dirty="0"/>
              <a:t>______________________</a:t>
            </a:r>
          </a:p>
          <a:p>
            <a:r>
              <a:rPr lang="en-US" dirty="0"/>
              <a:t>______________________</a:t>
            </a:r>
          </a:p>
        </p:txBody>
      </p:sp>
      <p:sp>
        <p:nvSpPr>
          <p:cNvPr id="6" name="Footer Placeholder 5">
            <a:extLst>
              <a:ext uri="{FF2B5EF4-FFF2-40B4-BE49-F238E27FC236}">
                <a16:creationId xmlns:a16="http://schemas.microsoft.com/office/drawing/2014/main" id="{66CA0F81-5EB1-64AD-700F-C5DA34A1181C}"/>
              </a:ext>
            </a:extLst>
          </p:cNvPr>
          <p:cNvSpPr>
            <a:spLocks noGrp="1"/>
          </p:cNvSpPr>
          <p:nvPr>
            <p:ph type="ftr" sz="quarter" idx="11"/>
          </p:nvPr>
        </p:nvSpPr>
        <p:spPr/>
        <p:txBody>
          <a:bodyPr/>
          <a:lstStyle/>
          <a:p>
            <a:r>
              <a:rPr lang="en-US"/>
              <a:t>© Lean Horizons Consulting, LLC 2023. All Rights Reserved</a:t>
            </a:r>
            <a:endParaRPr lang="en-US" dirty="0"/>
          </a:p>
        </p:txBody>
      </p:sp>
      <p:sp>
        <p:nvSpPr>
          <p:cNvPr id="7" name="Slide Number Placeholder 6">
            <a:extLst>
              <a:ext uri="{FF2B5EF4-FFF2-40B4-BE49-F238E27FC236}">
                <a16:creationId xmlns:a16="http://schemas.microsoft.com/office/drawing/2014/main" id="{DB98F642-E9EC-FE51-2A80-28CD4137E912}"/>
              </a:ext>
            </a:extLst>
          </p:cNvPr>
          <p:cNvSpPr>
            <a:spLocks noGrp="1"/>
          </p:cNvSpPr>
          <p:nvPr>
            <p:ph type="sldNum" sz="quarter" idx="12"/>
          </p:nvPr>
        </p:nvSpPr>
        <p:spPr/>
        <p:txBody>
          <a:bodyPr/>
          <a:lstStyle/>
          <a:p>
            <a:fld id="{CC6D4273-7FC1-0947-B9FE-19CB3C0D1FB6}" type="slidenum">
              <a:rPr lang="en-US" smtClean="0"/>
              <a:t>33</a:t>
            </a:fld>
            <a:endParaRPr lang="en-US"/>
          </a:p>
        </p:txBody>
      </p:sp>
      <p:sp>
        <p:nvSpPr>
          <p:cNvPr id="20" name="TextBox 19">
            <a:extLst>
              <a:ext uri="{FF2B5EF4-FFF2-40B4-BE49-F238E27FC236}">
                <a16:creationId xmlns:a16="http://schemas.microsoft.com/office/drawing/2014/main" id="{45CC8269-4C21-807D-9DC1-CE7FAFF8D629}"/>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Lean Fundamentals</a:t>
            </a:r>
          </a:p>
        </p:txBody>
      </p:sp>
      <p:sp>
        <p:nvSpPr>
          <p:cNvPr id="3" name="AutoShape 9">
            <a:extLst>
              <a:ext uri="{FF2B5EF4-FFF2-40B4-BE49-F238E27FC236}">
                <a16:creationId xmlns:a16="http://schemas.microsoft.com/office/drawing/2014/main" id="{16141493-EF39-81AC-A984-C39E2390FFE1}"/>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5" name="AutoShape 11">
            <a:extLst>
              <a:ext uri="{FF2B5EF4-FFF2-40B4-BE49-F238E27FC236}">
                <a16:creationId xmlns:a16="http://schemas.microsoft.com/office/drawing/2014/main" id="{85BAE358-E086-E23F-3B40-9EFD95E03540}"/>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10">
            <a:extLst>
              <a:ext uri="{FF2B5EF4-FFF2-40B4-BE49-F238E27FC236}">
                <a16:creationId xmlns:a16="http://schemas.microsoft.com/office/drawing/2014/main" id="{6DE8D583-7053-32DD-3245-669EFA813C94}"/>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Tree>
    <p:extLst>
      <p:ext uri="{BB962C8B-B14F-4D97-AF65-F5344CB8AC3E}">
        <p14:creationId xmlns:p14="http://schemas.microsoft.com/office/powerpoint/2010/main" val="103539292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rmAutofit/>
          </a:bodyPr>
          <a:lstStyle/>
          <a:p>
            <a:r>
              <a:rPr lang="en-US" sz="4000" dirty="0">
                <a:latin typeface="Roboto Medium"/>
                <a:ea typeface="Roboto Medium"/>
                <a:cs typeface="Roboto Medium"/>
              </a:rPr>
              <a:t>Exercise</a:t>
            </a:r>
          </a:p>
        </p:txBody>
      </p:sp>
      <p:sp>
        <p:nvSpPr>
          <p:cNvPr id="4" name="Footer Placeholder 3">
            <a:extLst>
              <a:ext uri="{FF2B5EF4-FFF2-40B4-BE49-F238E27FC236}">
                <a16:creationId xmlns:a16="http://schemas.microsoft.com/office/drawing/2014/main" id="{F41366B1-A8CA-3446-12D2-39EFCF0CDE05}"/>
              </a:ext>
            </a:extLst>
          </p:cNvPr>
          <p:cNvSpPr>
            <a:spLocks noGrp="1"/>
          </p:cNvSpPr>
          <p:nvPr>
            <p:ph type="ftr" sz="quarter" idx="11"/>
          </p:nvPr>
        </p:nvSpPr>
        <p:spPr/>
        <p:txBody>
          <a:bodyPr/>
          <a:lstStyle/>
          <a:p>
            <a:r>
              <a:rPr lang="en-US"/>
              <a:t>© Lean Horizons Consulting, LLC 2023. All Rights Reserved</a:t>
            </a:r>
            <a:endParaRPr lang="en-US" dirty="0"/>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12"/>
          </p:nvPr>
        </p:nvSpPr>
        <p:spPr/>
        <p:txBody>
          <a:bodyPr/>
          <a:lstStyle/>
          <a:p>
            <a:fld id="{CC6D4273-7FC1-0947-B9FE-19CB3C0D1FB6}" type="slidenum">
              <a:rPr lang="en-US" smtClean="0"/>
              <a:t>34</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359748"/>
            <a:ext cx="9722342" cy="471924"/>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Simulate a batch process operation.</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822526"/>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13476"/>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419809" cy="2318583"/>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12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Your instructor will assign various roles to the group.</a:t>
            </a:r>
            <a:br>
              <a:rPr kumimoji="0" lang="en-US" sz="12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br>
            <a:endParaRPr kumimoji="0" lang="en-US" sz="12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endParaRPr>
          </a:p>
          <a:p>
            <a:pPr marL="0" marR="0" indent="0" algn="l" defTabSz="584200" rtl="0" fontAlgn="auto" latinLnBrk="0" hangingPunct="0">
              <a:lnSpc>
                <a:spcPct val="100000"/>
              </a:lnSpc>
              <a:spcBef>
                <a:spcPts val="0"/>
              </a:spcBef>
              <a:spcAft>
                <a:spcPts val="0"/>
              </a:spcAft>
              <a:buClrTx/>
              <a:buSzTx/>
              <a:buFontTx/>
              <a:buNone/>
              <a:tabLst/>
            </a:pPr>
            <a:r>
              <a:rPr kumimoji="0" lang="en-US" sz="12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Each team member is to write his/her name on each of 5 post-it notes When complete, pass the 5 post-its as a group to the next person in the sequence.</a:t>
            </a:r>
          </a:p>
          <a:p>
            <a:pPr marL="0" marR="0" indent="0" algn="l" defTabSz="584200" rtl="0" fontAlgn="auto" latinLnBrk="0" hangingPunct="0">
              <a:lnSpc>
                <a:spcPct val="100000"/>
              </a:lnSpc>
              <a:spcBef>
                <a:spcPts val="0"/>
              </a:spcBef>
              <a:spcAft>
                <a:spcPts val="0"/>
              </a:spcAft>
              <a:buClrTx/>
              <a:buSzTx/>
              <a:buFontTx/>
              <a:buNone/>
              <a:tabLst/>
            </a:pPr>
            <a:br>
              <a:rPr kumimoji="0" lang="en-US" sz="12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br>
            <a:r>
              <a:rPr kumimoji="0" lang="en-US" sz="12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Record: </a:t>
            </a:r>
          </a:p>
          <a:p>
            <a:pPr marL="0" marR="0" indent="0" algn="l" defTabSz="584200" rtl="0" fontAlgn="auto" latinLnBrk="0" hangingPunct="0">
              <a:lnSpc>
                <a:spcPct val="100000"/>
              </a:lnSpc>
              <a:spcBef>
                <a:spcPts val="0"/>
              </a:spcBef>
              <a:spcAft>
                <a:spcPts val="0"/>
              </a:spcAft>
              <a:buClrTx/>
              <a:buSzTx/>
              <a:buFontTx/>
              <a:buNone/>
              <a:tabLst/>
            </a:pPr>
            <a:r>
              <a:rPr kumimoji="0" lang="en-US" sz="12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(1) Time it takes for the 1</a:t>
            </a:r>
            <a:r>
              <a:rPr kumimoji="0" lang="en-US" sz="1200" b="0" i="0" u="none" strike="noStrike" cap="none" spc="0" normalizeH="0" baseline="3000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st</a:t>
            </a:r>
            <a:r>
              <a:rPr kumimoji="0" lang="en-US" sz="12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 post-it of the pack of 5 to be signed by all of the team members</a:t>
            </a:r>
          </a:p>
          <a:p>
            <a:pPr marL="0" marR="0" indent="0" algn="l" defTabSz="584200" rtl="0" fontAlgn="auto" latinLnBrk="0" hangingPunct="0">
              <a:lnSpc>
                <a:spcPct val="100000"/>
              </a:lnSpc>
              <a:spcBef>
                <a:spcPts val="0"/>
              </a:spcBef>
              <a:spcAft>
                <a:spcPts val="0"/>
              </a:spcAft>
              <a:buClrTx/>
              <a:buSzTx/>
              <a:buFontTx/>
              <a:buNone/>
              <a:tabLst/>
            </a:pPr>
            <a:r>
              <a:rPr kumimoji="0" lang="en-US" sz="12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(2) Time it takes for the last post-it of the pack of 5 to be signed by all of the team members</a:t>
            </a:r>
          </a:p>
          <a:p>
            <a:pPr marL="0" marR="0" indent="0" algn="l" defTabSz="584200" rtl="0" fontAlgn="auto" latinLnBrk="0" hangingPunct="0">
              <a:lnSpc>
                <a:spcPct val="100000"/>
              </a:lnSpc>
              <a:spcBef>
                <a:spcPts val="0"/>
              </a:spcBef>
              <a:spcAft>
                <a:spcPts val="0"/>
              </a:spcAft>
              <a:buClrTx/>
              <a:buSzTx/>
              <a:buFontTx/>
              <a:buNone/>
              <a:tabLst/>
            </a:pPr>
            <a:endParaRPr kumimoji="0" lang="en-US" sz="12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endParaRP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03037"/>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26034"/>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86558"/>
            <a:ext cx="4681292" cy="471924"/>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10 minutes</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702991"/>
            <a:ext cx="4681292" cy="471924"/>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Chart and discuss results</a:t>
            </a:r>
          </a:p>
        </p:txBody>
      </p:sp>
      <p:sp>
        <p:nvSpPr>
          <p:cNvPr id="26" name="TextBox 25">
            <a:extLst>
              <a:ext uri="{FF2B5EF4-FFF2-40B4-BE49-F238E27FC236}">
                <a16:creationId xmlns:a16="http://schemas.microsoft.com/office/drawing/2014/main" id="{430F5E6F-F74C-7D64-BAEA-9F25C7F3B3A6}"/>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Lean Fundamentals</a:t>
            </a:r>
          </a:p>
        </p:txBody>
      </p:sp>
      <p:sp>
        <p:nvSpPr>
          <p:cNvPr id="3" name="AutoShape 9">
            <a:extLst>
              <a:ext uri="{FF2B5EF4-FFF2-40B4-BE49-F238E27FC236}">
                <a16:creationId xmlns:a16="http://schemas.microsoft.com/office/drawing/2014/main" id="{F870E160-5683-EF49-6A6B-84F2C054C1D8}"/>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6" name="AutoShape 11">
            <a:extLst>
              <a:ext uri="{FF2B5EF4-FFF2-40B4-BE49-F238E27FC236}">
                <a16:creationId xmlns:a16="http://schemas.microsoft.com/office/drawing/2014/main" id="{05A0AE08-5469-EA71-F399-3C3E12F47C2C}"/>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10">
            <a:extLst>
              <a:ext uri="{FF2B5EF4-FFF2-40B4-BE49-F238E27FC236}">
                <a16:creationId xmlns:a16="http://schemas.microsoft.com/office/drawing/2014/main" id="{735A9A73-C583-C425-AABA-A31A8AD9B67D}"/>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Tree>
    <p:extLst>
      <p:ext uri="{BB962C8B-B14F-4D97-AF65-F5344CB8AC3E}">
        <p14:creationId xmlns:p14="http://schemas.microsoft.com/office/powerpoint/2010/main" val="79575735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rmAutofit/>
          </a:bodyPr>
          <a:lstStyle/>
          <a:p>
            <a:r>
              <a:rPr lang="en-US" sz="4000" dirty="0">
                <a:latin typeface="Roboto Medium"/>
                <a:ea typeface="Roboto Medium"/>
                <a:cs typeface="Roboto Medium"/>
              </a:rPr>
              <a:t>Exercise</a:t>
            </a:r>
          </a:p>
        </p:txBody>
      </p:sp>
      <p:sp>
        <p:nvSpPr>
          <p:cNvPr id="4" name="Footer Placeholder 3">
            <a:extLst>
              <a:ext uri="{FF2B5EF4-FFF2-40B4-BE49-F238E27FC236}">
                <a16:creationId xmlns:a16="http://schemas.microsoft.com/office/drawing/2014/main" id="{F41366B1-A8CA-3446-12D2-39EFCF0CDE05}"/>
              </a:ext>
            </a:extLst>
          </p:cNvPr>
          <p:cNvSpPr>
            <a:spLocks noGrp="1"/>
          </p:cNvSpPr>
          <p:nvPr>
            <p:ph type="ftr" sz="quarter" idx="11"/>
          </p:nvPr>
        </p:nvSpPr>
        <p:spPr/>
        <p:txBody>
          <a:bodyPr/>
          <a:lstStyle/>
          <a:p>
            <a:r>
              <a:rPr lang="en-US"/>
              <a:t>© Lean Horizons Consulting, LLC 2023. All Rights Reserved</a:t>
            </a:r>
            <a:endParaRPr lang="en-US" dirty="0"/>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12"/>
          </p:nvPr>
        </p:nvSpPr>
        <p:spPr/>
        <p:txBody>
          <a:bodyPr/>
          <a:lstStyle/>
          <a:p>
            <a:fld id="{CC6D4273-7FC1-0947-B9FE-19CB3C0D1FB6}" type="slidenum">
              <a:rPr lang="en-US" smtClean="0"/>
              <a:t>35</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328433"/>
            <a:ext cx="972234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Simulate a flow process operation.</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767653"/>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52549"/>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419809" cy="2318583"/>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12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In this trial, each team member is to write his/her name on </a:t>
            </a:r>
            <a:br>
              <a:rPr kumimoji="0" lang="en-US" sz="12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br>
            <a:r>
              <a:rPr kumimoji="0" lang="en-US" sz="12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one of each of the 5 post-it notes. When complete, pass the post-it as a single piece to the next person in the sequence. Repeat this for the remaining post-its passing them as soon as they are signed and the next person is prepared to accept it. Do not pass the post-it until the next person is ready to accept it. </a:t>
            </a:r>
          </a:p>
          <a:p>
            <a:pPr marL="0" marR="0" indent="0" algn="l" defTabSz="584200" rtl="0" fontAlgn="auto" latinLnBrk="0" hangingPunct="0">
              <a:lnSpc>
                <a:spcPct val="100000"/>
              </a:lnSpc>
              <a:spcBef>
                <a:spcPts val="0"/>
              </a:spcBef>
              <a:spcAft>
                <a:spcPts val="0"/>
              </a:spcAft>
              <a:buClrTx/>
              <a:buSzTx/>
              <a:buFontTx/>
              <a:buNone/>
              <a:tabLst/>
            </a:pPr>
            <a:endParaRPr kumimoji="0" lang="en-US" sz="12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endParaRPr>
          </a:p>
          <a:p>
            <a:pPr marL="0" marR="0" indent="0" algn="l" defTabSz="584200" rtl="0" fontAlgn="auto" latinLnBrk="0" hangingPunct="0">
              <a:lnSpc>
                <a:spcPct val="100000"/>
              </a:lnSpc>
              <a:spcBef>
                <a:spcPts val="0"/>
              </a:spcBef>
              <a:spcAft>
                <a:spcPts val="0"/>
              </a:spcAft>
              <a:buClrTx/>
              <a:buSzTx/>
              <a:buFontTx/>
              <a:buNone/>
              <a:tabLst/>
            </a:pPr>
            <a:r>
              <a:rPr kumimoji="0" lang="en-US" sz="12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Record: </a:t>
            </a:r>
          </a:p>
          <a:p>
            <a:pPr marL="0" marR="0" indent="0" algn="l" defTabSz="584200" rtl="0" fontAlgn="auto" latinLnBrk="0" hangingPunct="0">
              <a:lnSpc>
                <a:spcPct val="100000"/>
              </a:lnSpc>
              <a:spcBef>
                <a:spcPts val="0"/>
              </a:spcBef>
              <a:spcAft>
                <a:spcPts val="0"/>
              </a:spcAft>
              <a:buClrTx/>
              <a:buSzTx/>
              <a:buFontTx/>
              <a:buNone/>
              <a:tabLst/>
            </a:pPr>
            <a:r>
              <a:rPr kumimoji="0" lang="en-US" sz="12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(1) Time it takes for the 1st post-it to be signed by all of the </a:t>
            </a:r>
            <a:br>
              <a:rPr kumimoji="0" lang="en-US" sz="12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br>
            <a:r>
              <a:rPr kumimoji="0" lang="en-US" sz="12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team members</a:t>
            </a:r>
          </a:p>
          <a:p>
            <a:pPr marL="0" marR="0" indent="0" algn="l" defTabSz="584200" rtl="0" fontAlgn="auto" latinLnBrk="0" hangingPunct="0">
              <a:lnSpc>
                <a:spcPct val="100000"/>
              </a:lnSpc>
              <a:spcBef>
                <a:spcPts val="0"/>
              </a:spcBef>
              <a:spcAft>
                <a:spcPts val="0"/>
              </a:spcAft>
              <a:buClrTx/>
              <a:buSzTx/>
              <a:buFontTx/>
              <a:buNone/>
              <a:tabLst/>
            </a:pPr>
            <a:r>
              <a:rPr kumimoji="0" lang="en-US" sz="12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(2) Time it takes for the last post-it to be signed by all of the </a:t>
            </a:r>
            <a:br>
              <a:rPr kumimoji="0" lang="en-US" sz="12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br>
            <a:r>
              <a:rPr kumimoji="0" lang="en-US" sz="12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team members</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52548"/>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36472"/>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96996"/>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10 minutes</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713429"/>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Chart and discuss results</a:t>
            </a:r>
          </a:p>
        </p:txBody>
      </p:sp>
      <p:sp>
        <p:nvSpPr>
          <p:cNvPr id="26" name="TextBox 25">
            <a:extLst>
              <a:ext uri="{FF2B5EF4-FFF2-40B4-BE49-F238E27FC236}">
                <a16:creationId xmlns:a16="http://schemas.microsoft.com/office/drawing/2014/main" id="{0C526469-C39D-3666-AA70-616C23C05F1A}"/>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Lean Fundamentals</a:t>
            </a:r>
          </a:p>
        </p:txBody>
      </p:sp>
      <p:sp>
        <p:nvSpPr>
          <p:cNvPr id="3" name="AutoShape 9">
            <a:extLst>
              <a:ext uri="{FF2B5EF4-FFF2-40B4-BE49-F238E27FC236}">
                <a16:creationId xmlns:a16="http://schemas.microsoft.com/office/drawing/2014/main" id="{213A6716-E780-F532-5E3A-66F9EFFF2B20}"/>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6" name="AutoShape 11">
            <a:extLst>
              <a:ext uri="{FF2B5EF4-FFF2-40B4-BE49-F238E27FC236}">
                <a16:creationId xmlns:a16="http://schemas.microsoft.com/office/drawing/2014/main" id="{FB297D00-B62B-592D-B91E-D3E1093B876C}"/>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10">
            <a:extLst>
              <a:ext uri="{FF2B5EF4-FFF2-40B4-BE49-F238E27FC236}">
                <a16:creationId xmlns:a16="http://schemas.microsoft.com/office/drawing/2014/main" id="{1B0F97B6-EFEE-2AE4-EBC8-66E23EF47D58}"/>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Tree>
    <p:extLst>
      <p:ext uri="{BB962C8B-B14F-4D97-AF65-F5344CB8AC3E}">
        <p14:creationId xmlns:p14="http://schemas.microsoft.com/office/powerpoint/2010/main" val="128375433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itle 24">
            <a:extLst>
              <a:ext uri="{FF2B5EF4-FFF2-40B4-BE49-F238E27FC236}">
                <a16:creationId xmlns:a16="http://schemas.microsoft.com/office/drawing/2014/main" id="{38A2C986-907F-14BC-3C51-41706AF3F4D8}"/>
              </a:ext>
            </a:extLst>
          </p:cNvPr>
          <p:cNvSpPr>
            <a:spLocks noGrp="1"/>
          </p:cNvSpPr>
          <p:nvPr>
            <p:ph type="title"/>
          </p:nvPr>
        </p:nvSpPr>
        <p:spPr/>
        <p:txBody>
          <a:bodyPr>
            <a:normAutofit/>
          </a:bodyPr>
          <a:lstStyle/>
          <a:p>
            <a:r>
              <a:rPr lang="en-US" sz="4000" dirty="0">
                <a:latin typeface="Roboto Medium"/>
                <a:ea typeface="Roboto Medium"/>
                <a:cs typeface="Roboto Medium"/>
              </a:rPr>
              <a:t>Core Lean Concepts</a:t>
            </a:r>
          </a:p>
        </p:txBody>
      </p:sp>
      <p:sp>
        <p:nvSpPr>
          <p:cNvPr id="4" name="Footer Placeholder 3">
            <a:extLst>
              <a:ext uri="{FF2B5EF4-FFF2-40B4-BE49-F238E27FC236}">
                <a16:creationId xmlns:a16="http://schemas.microsoft.com/office/drawing/2014/main" id="{CB1F8C30-D81C-1E27-D266-2BC421C72FD6}"/>
              </a:ext>
            </a:extLst>
          </p:cNvPr>
          <p:cNvSpPr>
            <a:spLocks noGrp="1"/>
          </p:cNvSpPr>
          <p:nvPr>
            <p:ph type="ftr" sz="quarter" idx="11"/>
          </p:nvPr>
        </p:nvSpPr>
        <p:spPr/>
        <p:txBody>
          <a:bodyPr/>
          <a:lstStyle/>
          <a:p>
            <a:r>
              <a:rPr lang="en-US"/>
              <a:t>© Lean Horizons Consulting, LLC 2023. All Rights Reserved</a:t>
            </a:r>
            <a:endParaRPr lang="en-US" dirty="0"/>
          </a:p>
        </p:txBody>
      </p:sp>
      <p:sp>
        <p:nvSpPr>
          <p:cNvPr id="5" name="Slide Number Placeholder 4">
            <a:extLst>
              <a:ext uri="{FF2B5EF4-FFF2-40B4-BE49-F238E27FC236}">
                <a16:creationId xmlns:a16="http://schemas.microsoft.com/office/drawing/2014/main" id="{1AA34B74-93DA-5F21-CF4A-77FE692D026C}"/>
              </a:ext>
            </a:extLst>
          </p:cNvPr>
          <p:cNvSpPr>
            <a:spLocks noGrp="1"/>
          </p:cNvSpPr>
          <p:nvPr>
            <p:ph type="sldNum" sz="quarter" idx="12"/>
          </p:nvPr>
        </p:nvSpPr>
        <p:spPr/>
        <p:txBody>
          <a:bodyPr/>
          <a:lstStyle/>
          <a:p>
            <a:fld id="{CC6D4273-7FC1-0947-B9FE-19CB3C0D1FB6}" type="slidenum">
              <a:rPr lang="en-US" smtClean="0"/>
              <a:t>36</a:t>
            </a:fld>
            <a:endParaRPr lang="en-US"/>
          </a:p>
        </p:txBody>
      </p:sp>
      <p:grpSp>
        <p:nvGrpSpPr>
          <p:cNvPr id="11" name="Group 10">
            <a:extLst>
              <a:ext uri="{FF2B5EF4-FFF2-40B4-BE49-F238E27FC236}">
                <a16:creationId xmlns:a16="http://schemas.microsoft.com/office/drawing/2014/main" id="{C67C5071-808E-C71E-D2AF-8FF15DEE27A2}"/>
              </a:ext>
            </a:extLst>
          </p:cNvPr>
          <p:cNvGrpSpPr/>
          <p:nvPr/>
        </p:nvGrpSpPr>
        <p:grpSpPr>
          <a:xfrm>
            <a:off x="940249" y="1949874"/>
            <a:ext cx="5722970" cy="3597684"/>
            <a:chOff x="1888435" y="3868398"/>
            <a:chExt cx="10972800" cy="7263723"/>
          </a:xfrm>
        </p:grpSpPr>
        <p:sp>
          <p:nvSpPr>
            <p:cNvPr id="12" name="Rectangle 11">
              <a:extLst>
                <a:ext uri="{FF2B5EF4-FFF2-40B4-BE49-F238E27FC236}">
                  <a16:creationId xmlns:a16="http://schemas.microsoft.com/office/drawing/2014/main" id="{B0B54629-2D9F-D857-EE31-4C21CDD2E4A2}"/>
                </a:ext>
              </a:extLst>
            </p:cNvPr>
            <p:cNvSpPr>
              <a:spLocks/>
            </p:cNvSpPr>
            <p:nvPr/>
          </p:nvSpPr>
          <p:spPr>
            <a:xfrm>
              <a:off x="1888435" y="3868398"/>
              <a:ext cx="10972800" cy="914401"/>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lvl="2"/>
              <a:r>
                <a:rPr lang="en-US" sz="28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Specify</a:t>
              </a:r>
              <a:r>
                <a:rPr lang="en-US" sz="2800" dirty="0">
                  <a:latin typeface="Roboto" panose="02000000000000000000" pitchFamily="2" charset="0"/>
                  <a:ea typeface="Roboto" panose="02000000000000000000" pitchFamily="2" charset="0"/>
                  <a:cs typeface="Roboto" panose="02000000000000000000" pitchFamily="2" charset="0"/>
                  <a:sym typeface="Roboto"/>
                </a:rPr>
                <a:t> </a:t>
              </a:r>
              <a:r>
                <a:rPr lang="en-US" sz="28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Value</a:t>
              </a:r>
            </a:p>
          </p:txBody>
        </p:sp>
        <p:sp>
          <p:nvSpPr>
            <p:cNvPr id="13" name="Rectangle 12">
              <a:extLst>
                <a:ext uri="{FF2B5EF4-FFF2-40B4-BE49-F238E27FC236}">
                  <a16:creationId xmlns:a16="http://schemas.microsoft.com/office/drawing/2014/main" id="{DF4EAF32-E1A1-D4A2-9FCD-515A5F96DE04}"/>
                </a:ext>
              </a:extLst>
            </p:cNvPr>
            <p:cNvSpPr>
              <a:spLocks/>
            </p:cNvSpPr>
            <p:nvPr/>
          </p:nvSpPr>
          <p:spPr>
            <a:xfrm>
              <a:off x="1888435" y="5459481"/>
              <a:ext cx="10972800" cy="914401"/>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defTabSz="584200" hangingPunct="0"/>
              <a:r>
                <a:rPr lang="en-US" sz="28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Identify the Value Stream</a:t>
              </a:r>
            </a:p>
          </p:txBody>
        </p:sp>
        <p:sp>
          <p:nvSpPr>
            <p:cNvPr id="14" name="Rectangle 13">
              <a:extLst>
                <a:ext uri="{FF2B5EF4-FFF2-40B4-BE49-F238E27FC236}">
                  <a16:creationId xmlns:a16="http://schemas.microsoft.com/office/drawing/2014/main" id="{FBE3767D-7BA2-9FC1-934C-8354A66E63AC}"/>
                </a:ext>
              </a:extLst>
            </p:cNvPr>
            <p:cNvSpPr>
              <a:spLocks/>
            </p:cNvSpPr>
            <p:nvPr/>
          </p:nvSpPr>
          <p:spPr>
            <a:xfrm>
              <a:off x="1888435" y="7045561"/>
              <a:ext cx="10972800" cy="914401"/>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defTabSz="584200" hangingPunct="0"/>
              <a:r>
                <a:rPr lang="en-US" sz="28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Flow</a:t>
              </a:r>
            </a:p>
          </p:txBody>
        </p:sp>
        <p:sp>
          <p:nvSpPr>
            <p:cNvPr id="15" name="Rectangle 14">
              <a:extLst>
                <a:ext uri="{FF2B5EF4-FFF2-40B4-BE49-F238E27FC236}">
                  <a16:creationId xmlns:a16="http://schemas.microsoft.com/office/drawing/2014/main" id="{D87C53B4-48B2-AD29-AFD8-1C5B6871B984}"/>
                </a:ext>
              </a:extLst>
            </p:cNvPr>
            <p:cNvSpPr/>
            <p:nvPr/>
          </p:nvSpPr>
          <p:spPr>
            <a:xfrm>
              <a:off x="1888435" y="8631640"/>
              <a:ext cx="10972800" cy="914401"/>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defTabSz="584200" hangingPunct="0"/>
              <a:r>
                <a:rPr lang="en-US" sz="28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Pull</a:t>
              </a:r>
            </a:p>
          </p:txBody>
        </p:sp>
        <p:sp>
          <p:nvSpPr>
            <p:cNvPr id="16" name="Rectangle 15">
              <a:extLst>
                <a:ext uri="{FF2B5EF4-FFF2-40B4-BE49-F238E27FC236}">
                  <a16:creationId xmlns:a16="http://schemas.microsoft.com/office/drawing/2014/main" id="{589CEA7D-9312-9D7A-0D93-C8AE0124D074}"/>
                </a:ext>
              </a:extLst>
            </p:cNvPr>
            <p:cNvSpPr>
              <a:spLocks/>
            </p:cNvSpPr>
            <p:nvPr/>
          </p:nvSpPr>
          <p:spPr>
            <a:xfrm>
              <a:off x="1888435" y="10217720"/>
              <a:ext cx="10972800" cy="914401"/>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r>
                <a:rPr lang="en-US" sz="28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Perfection</a:t>
              </a:r>
            </a:p>
          </p:txBody>
        </p:sp>
      </p:grpSp>
      <p:sp>
        <p:nvSpPr>
          <p:cNvPr id="24" name="TextBox 23">
            <a:extLst>
              <a:ext uri="{FF2B5EF4-FFF2-40B4-BE49-F238E27FC236}">
                <a16:creationId xmlns:a16="http://schemas.microsoft.com/office/drawing/2014/main" id="{958A6088-CBDF-A04E-F59A-CFB1A7142E22}"/>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Lean Fundamentals</a:t>
            </a:r>
          </a:p>
        </p:txBody>
      </p:sp>
      <p:sp>
        <p:nvSpPr>
          <p:cNvPr id="2" name="AutoShape 9">
            <a:extLst>
              <a:ext uri="{FF2B5EF4-FFF2-40B4-BE49-F238E27FC236}">
                <a16:creationId xmlns:a16="http://schemas.microsoft.com/office/drawing/2014/main" id="{FBFC8F85-DA23-2F8A-D8DC-5B7F79F4C76D}"/>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3" name="AutoShape 11">
            <a:extLst>
              <a:ext uri="{FF2B5EF4-FFF2-40B4-BE49-F238E27FC236}">
                <a16:creationId xmlns:a16="http://schemas.microsoft.com/office/drawing/2014/main" id="{0AA0A7D4-ADAC-D882-36DA-4CB52DCF27BC}"/>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6" name="AutoShape 10">
            <a:extLst>
              <a:ext uri="{FF2B5EF4-FFF2-40B4-BE49-F238E27FC236}">
                <a16:creationId xmlns:a16="http://schemas.microsoft.com/office/drawing/2014/main" id="{E6BC186E-C63F-2FD0-B043-0F06589582EC}"/>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Tree>
    <p:extLst>
      <p:ext uri="{BB962C8B-B14F-4D97-AF65-F5344CB8AC3E}">
        <p14:creationId xmlns:p14="http://schemas.microsoft.com/office/powerpoint/2010/main" val="382747553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933D00-F243-B3D2-0146-A7F8D16D252B}"/>
              </a:ext>
            </a:extLst>
          </p:cNvPr>
          <p:cNvSpPr>
            <a:spLocks noGrp="1"/>
          </p:cNvSpPr>
          <p:nvPr>
            <p:ph type="title"/>
          </p:nvPr>
        </p:nvSpPr>
        <p:spPr/>
        <p:txBody>
          <a:bodyPr>
            <a:normAutofit/>
          </a:bodyPr>
          <a:lstStyle/>
          <a:p>
            <a:r>
              <a:rPr lang="en-US" sz="4000" dirty="0">
                <a:latin typeface="Roboto Medium"/>
                <a:ea typeface="Roboto Medium"/>
                <a:cs typeface="Roboto Medium"/>
              </a:rPr>
              <a:t>Perfection</a:t>
            </a:r>
          </a:p>
        </p:txBody>
      </p:sp>
      <p:sp>
        <p:nvSpPr>
          <p:cNvPr id="3" name="Content Placeholder 2">
            <a:extLst>
              <a:ext uri="{FF2B5EF4-FFF2-40B4-BE49-F238E27FC236}">
                <a16:creationId xmlns:a16="http://schemas.microsoft.com/office/drawing/2014/main" id="{21980AE6-8978-92D6-F572-3E11FBDE9D1B}"/>
              </a:ext>
            </a:extLst>
          </p:cNvPr>
          <p:cNvSpPr>
            <a:spLocks noGrp="1"/>
          </p:cNvSpPr>
          <p:nvPr>
            <p:ph idx="1"/>
          </p:nvPr>
        </p:nvSpPr>
        <p:spPr>
          <a:xfrm>
            <a:off x="838200" y="1825625"/>
            <a:ext cx="10293632" cy="4351338"/>
          </a:xfrm>
        </p:spPr>
        <p:txBody>
          <a:bodyPr/>
          <a:lstStyle/>
          <a:p>
            <a:r>
              <a:rPr lang="en-US" dirty="0"/>
              <a:t>Continuous improvement never ends!</a:t>
            </a:r>
          </a:p>
          <a:p>
            <a:r>
              <a:rPr lang="en-US" dirty="0"/>
              <a:t>As we reduce inventory/overprocessing in the process, bottlenecks and other problems will be exposed </a:t>
            </a:r>
          </a:p>
          <a:p>
            <a:pPr lvl="1"/>
            <a:r>
              <a:rPr lang="en-US" dirty="0"/>
              <a:t>Attack these and persevere! Do not go back to the old way!</a:t>
            </a:r>
          </a:p>
          <a:p>
            <a:r>
              <a:rPr lang="en-US" dirty="0"/>
              <a:t>Determine metrics to measure the processes – remember that what gets measured gets improved</a:t>
            </a:r>
          </a:p>
          <a:p>
            <a:r>
              <a:rPr lang="en-US" dirty="0"/>
              <a:t>Continue to find ways to improve the process</a:t>
            </a:r>
          </a:p>
          <a:p>
            <a:r>
              <a:rPr lang="en-US" dirty="0"/>
              <a:t>Always keep the customer in focus…are we adding value?</a:t>
            </a:r>
          </a:p>
        </p:txBody>
      </p:sp>
      <p:sp>
        <p:nvSpPr>
          <p:cNvPr id="5" name="Footer Placeholder 4">
            <a:extLst>
              <a:ext uri="{FF2B5EF4-FFF2-40B4-BE49-F238E27FC236}">
                <a16:creationId xmlns:a16="http://schemas.microsoft.com/office/drawing/2014/main" id="{017A104C-D978-CD3B-D535-2585FFEDD37C}"/>
              </a:ext>
            </a:extLst>
          </p:cNvPr>
          <p:cNvSpPr>
            <a:spLocks noGrp="1"/>
          </p:cNvSpPr>
          <p:nvPr>
            <p:ph type="ftr" sz="quarter" idx="11"/>
          </p:nvPr>
        </p:nvSpPr>
        <p:spPr/>
        <p:txBody>
          <a:bodyPr/>
          <a:lstStyle/>
          <a:p>
            <a:r>
              <a:rPr lang="en-US"/>
              <a:t>© Lean Horizons Consulting, LLC 2023. All Rights Reserved</a:t>
            </a:r>
            <a:endParaRPr lang="en-US" dirty="0"/>
          </a:p>
        </p:txBody>
      </p:sp>
      <p:sp>
        <p:nvSpPr>
          <p:cNvPr id="6" name="Slide Number Placeholder 5">
            <a:extLst>
              <a:ext uri="{FF2B5EF4-FFF2-40B4-BE49-F238E27FC236}">
                <a16:creationId xmlns:a16="http://schemas.microsoft.com/office/drawing/2014/main" id="{B9358E55-563D-C67E-6F1C-2D85668924D5}"/>
              </a:ext>
            </a:extLst>
          </p:cNvPr>
          <p:cNvSpPr>
            <a:spLocks noGrp="1"/>
          </p:cNvSpPr>
          <p:nvPr>
            <p:ph type="sldNum" sz="quarter" idx="12"/>
          </p:nvPr>
        </p:nvSpPr>
        <p:spPr/>
        <p:txBody>
          <a:bodyPr/>
          <a:lstStyle/>
          <a:p>
            <a:fld id="{CC6D4273-7FC1-0947-B9FE-19CB3C0D1FB6}" type="slidenum">
              <a:rPr lang="en-US" smtClean="0"/>
              <a:t>37</a:t>
            </a:fld>
            <a:endParaRPr lang="en-US"/>
          </a:p>
        </p:txBody>
      </p:sp>
      <p:sp>
        <p:nvSpPr>
          <p:cNvPr id="19" name="TextBox 18">
            <a:extLst>
              <a:ext uri="{FF2B5EF4-FFF2-40B4-BE49-F238E27FC236}">
                <a16:creationId xmlns:a16="http://schemas.microsoft.com/office/drawing/2014/main" id="{1E7EE7BC-BAE6-D08D-F0B6-9DDB864EFC6D}"/>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Lean Fundamentals</a:t>
            </a:r>
          </a:p>
        </p:txBody>
      </p:sp>
      <p:sp>
        <p:nvSpPr>
          <p:cNvPr id="4" name="AutoShape 9">
            <a:extLst>
              <a:ext uri="{FF2B5EF4-FFF2-40B4-BE49-F238E27FC236}">
                <a16:creationId xmlns:a16="http://schemas.microsoft.com/office/drawing/2014/main" id="{0332A703-10B9-1841-CD2E-7480EB7ACE95}"/>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11">
            <a:extLst>
              <a:ext uri="{FF2B5EF4-FFF2-40B4-BE49-F238E27FC236}">
                <a16:creationId xmlns:a16="http://schemas.microsoft.com/office/drawing/2014/main" id="{3235068D-A798-628E-B5CF-7368B24504F9}"/>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10">
            <a:extLst>
              <a:ext uri="{FF2B5EF4-FFF2-40B4-BE49-F238E27FC236}">
                <a16:creationId xmlns:a16="http://schemas.microsoft.com/office/drawing/2014/main" id="{2468DD9A-A814-7B1D-0E60-6989AFED1669}"/>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Tree>
    <p:extLst>
      <p:ext uri="{BB962C8B-B14F-4D97-AF65-F5344CB8AC3E}">
        <p14:creationId xmlns:p14="http://schemas.microsoft.com/office/powerpoint/2010/main" val="160738781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933D00-F243-B3D2-0146-A7F8D16D252B}"/>
              </a:ext>
            </a:extLst>
          </p:cNvPr>
          <p:cNvSpPr>
            <a:spLocks noGrp="1"/>
          </p:cNvSpPr>
          <p:nvPr>
            <p:ph type="title"/>
          </p:nvPr>
        </p:nvSpPr>
        <p:spPr/>
        <p:txBody>
          <a:bodyPr>
            <a:noAutofit/>
          </a:bodyPr>
          <a:lstStyle/>
          <a:p>
            <a:r>
              <a:rPr lang="en-US" sz="3200" dirty="0"/>
              <a:t>Kaizen…. The philosophy of continuous improvement</a:t>
            </a:r>
          </a:p>
        </p:txBody>
      </p:sp>
      <p:sp>
        <p:nvSpPr>
          <p:cNvPr id="3" name="Content Placeholder 2">
            <a:extLst>
              <a:ext uri="{FF2B5EF4-FFF2-40B4-BE49-F238E27FC236}">
                <a16:creationId xmlns:a16="http://schemas.microsoft.com/office/drawing/2014/main" id="{21980AE6-8978-92D6-F572-3E11FBDE9D1B}"/>
              </a:ext>
            </a:extLst>
          </p:cNvPr>
          <p:cNvSpPr>
            <a:spLocks noGrp="1"/>
          </p:cNvSpPr>
          <p:nvPr>
            <p:ph idx="1"/>
          </p:nvPr>
        </p:nvSpPr>
        <p:spPr>
          <a:xfrm>
            <a:off x="7172525" y="2473325"/>
            <a:ext cx="4267200" cy="2771775"/>
          </a:xfrm>
        </p:spPr>
        <p:txBody>
          <a:bodyPr/>
          <a:lstStyle/>
          <a:p>
            <a:r>
              <a:rPr lang="en-US" dirty="0"/>
              <a:t>Kaizen \Ki-</a:t>
            </a:r>
            <a:r>
              <a:rPr lang="en-US" dirty="0" err="1"/>
              <a:t>zen</a:t>
            </a:r>
            <a:r>
              <a:rPr lang="en-US" dirty="0"/>
              <a:t>\</a:t>
            </a:r>
            <a:br>
              <a:rPr lang="en-US" dirty="0"/>
            </a:br>
            <a:r>
              <a:rPr lang="en-US" dirty="0"/>
              <a:t>A continuous improvement mindset</a:t>
            </a:r>
          </a:p>
          <a:p>
            <a:r>
              <a:rPr lang="en-US" dirty="0"/>
              <a:t>Everything that we do today can be improved</a:t>
            </a:r>
          </a:p>
          <a:p>
            <a:r>
              <a:rPr lang="en-US" dirty="0"/>
              <a:t>Kaizen has no end</a:t>
            </a:r>
          </a:p>
        </p:txBody>
      </p:sp>
      <p:sp>
        <p:nvSpPr>
          <p:cNvPr id="5" name="Footer Placeholder 4">
            <a:extLst>
              <a:ext uri="{FF2B5EF4-FFF2-40B4-BE49-F238E27FC236}">
                <a16:creationId xmlns:a16="http://schemas.microsoft.com/office/drawing/2014/main" id="{017A104C-D978-CD3B-D535-2585FFEDD37C}"/>
              </a:ext>
            </a:extLst>
          </p:cNvPr>
          <p:cNvSpPr>
            <a:spLocks noGrp="1"/>
          </p:cNvSpPr>
          <p:nvPr>
            <p:ph type="ftr" sz="quarter" idx="11"/>
          </p:nvPr>
        </p:nvSpPr>
        <p:spPr/>
        <p:txBody>
          <a:bodyPr/>
          <a:lstStyle/>
          <a:p>
            <a:r>
              <a:rPr lang="en-US"/>
              <a:t>© Lean Horizons Consulting, LLC 2023. All Rights Reserved</a:t>
            </a:r>
            <a:endParaRPr lang="en-US" dirty="0"/>
          </a:p>
        </p:txBody>
      </p:sp>
      <p:sp>
        <p:nvSpPr>
          <p:cNvPr id="6" name="Slide Number Placeholder 5">
            <a:extLst>
              <a:ext uri="{FF2B5EF4-FFF2-40B4-BE49-F238E27FC236}">
                <a16:creationId xmlns:a16="http://schemas.microsoft.com/office/drawing/2014/main" id="{B9358E55-563D-C67E-6F1C-2D85668924D5}"/>
              </a:ext>
            </a:extLst>
          </p:cNvPr>
          <p:cNvSpPr>
            <a:spLocks noGrp="1"/>
          </p:cNvSpPr>
          <p:nvPr>
            <p:ph type="sldNum" sz="quarter" idx="12"/>
          </p:nvPr>
        </p:nvSpPr>
        <p:spPr/>
        <p:txBody>
          <a:bodyPr/>
          <a:lstStyle/>
          <a:p>
            <a:fld id="{CC6D4273-7FC1-0947-B9FE-19CB3C0D1FB6}" type="slidenum">
              <a:rPr lang="en-US" smtClean="0"/>
              <a:t>38</a:t>
            </a:fld>
            <a:endParaRPr lang="en-US"/>
          </a:p>
        </p:txBody>
      </p:sp>
      <p:grpSp>
        <p:nvGrpSpPr>
          <p:cNvPr id="12" name="Group 36">
            <a:extLst>
              <a:ext uri="{FF2B5EF4-FFF2-40B4-BE49-F238E27FC236}">
                <a16:creationId xmlns:a16="http://schemas.microsoft.com/office/drawing/2014/main" id="{7F3F71F1-E487-4E5D-004C-BB4D67ADBBF5}"/>
              </a:ext>
            </a:extLst>
          </p:cNvPr>
          <p:cNvGrpSpPr>
            <a:grpSpLocks/>
          </p:cNvGrpSpPr>
          <p:nvPr/>
        </p:nvGrpSpPr>
        <p:grpSpPr bwMode="auto">
          <a:xfrm>
            <a:off x="939396" y="1989056"/>
            <a:ext cx="4039691" cy="3882871"/>
            <a:chOff x="2089" y="1410"/>
            <a:chExt cx="2104" cy="1948"/>
          </a:xfrm>
        </p:grpSpPr>
        <p:sp>
          <p:nvSpPr>
            <p:cNvPr id="13" name="Freeform 37">
              <a:extLst>
                <a:ext uri="{FF2B5EF4-FFF2-40B4-BE49-F238E27FC236}">
                  <a16:creationId xmlns:a16="http://schemas.microsoft.com/office/drawing/2014/main" id="{7AADF9B7-3977-07AE-85DD-D740DAB1CA99}"/>
                </a:ext>
              </a:extLst>
            </p:cNvPr>
            <p:cNvSpPr>
              <a:spLocks/>
            </p:cNvSpPr>
            <p:nvPr/>
          </p:nvSpPr>
          <p:spPr bwMode="auto">
            <a:xfrm>
              <a:off x="2089" y="1731"/>
              <a:ext cx="650" cy="1359"/>
            </a:xfrm>
            <a:custGeom>
              <a:avLst/>
              <a:gdLst>
                <a:gd name="T0" fmla="*/ 2176 w 432"/>
                <a:gd name="T1" fmla="*/ 1300 h 951"/>
                <a:gd name="T2" fmla="*/ 1849 w 432"/>
                <a:gd name="T3" fmla="*/ 266 h 951"/>
                <a:gd name="T4" fmla="*/ 542 w 432"/>
                <a:gd name="T5" fmla="*/ 0 h 951"/>
                <a:gd name="T6" fmla="*/ 743 w 432"/>
                <a:gd name="T7" fmla="*/ 157 h 951"/>
                <a:gd name="T8" fmla="*/ 579 w 432"/>
                <a:gd name="T9" fmla="*/ 347 h 951"/>
                <a:gd name="T10" fmla="*/ 430 w 432"/>
                <a:gd name="T11" fmla="*/ 543 h 951"/>
                <a:gd name="T12" fmla="*/ 304 w 432"/>
                <a:gd name="T13" fmla="*/ 749 h 951"/>
                <a:gd name="T14" fmla="*/ 194 w 432"/>
                <a:gd name="T15" fmla="*/ 972 h 951"/>
                <a:gd name="T16" fmla="*/ 113 w 432"/>
                <a:gd name="T17" fmla="*/ 1193 h 951"/>
                <a:gd name="T18" fmla="*/ 53 w 432"/>
                <a:gd name="T19" fmla="*/ 1428 h 951"/>
                <a:gd name="T20" fmla="*/ 12 w 432"/>
                <a:gd name="T21" fmla="*/ 1665 h 951"/>
                <a:gd name="T22" fmla="*/ 0 w 432"/>
                <a:gd name="T23" fmla="*/ 1909 h 951"/>
                <a:gd name="T24" fmla="*/ 8 w 432"/>
                <a:gd name="T25" fmla="*/ 2056 h 951"/>
                <a:gd name="T26" fmla="*/ 21 w 432"/>
                <a:gd name="T27" fmla="*/ 2205 h 951"/>
                <a:gd name="T28" fmla="*/ 48 w 432"/>
                <a:gd name="T29" fmla="*/ 2352 h 951"/>
                <a:gd name="T30" fmla="*/ 72 w 432"/>
                <a:gd name="T31" fmla="*/ 2495 h 951"/>
                <a:gd name="T32" fmla="*/ 120 w 432"/>
                <a:gd name="T33" fmla="*/ 2634 h 951"/>
                <a:gd name="T34" fmla="*/ 170 w 432"/>
                <a:gd name="T35" fmla="*/ 2774 h 951"/>
                <a:gd name="T36" fmla="*/ 224 w 432"/>
                <a:gd name="T37" fmla="*/ 2909 h 951"/>
                <a:gd name="T38" fmla="*/ 292 w 432"/>
                <a:gd name="T39" fmla="*/ 3041 h 951"/>
                <a:gd name="T40" fmla="*/ 439 w 432"/>
                <a:gd name="T41" fmla="*/ 3294 h 951"/>
                <a:gd name="T42" fmla="*/ 629 w 432"/>
                <a:gd name="T43" fmla="*/ 3531 h 951"/>
                <a:gd name="T44" fmla="*/ 843 w 432"/>
                <a:gd name="T45" fmla="*/ 3754 h 951"/>
                <a:gd name="T46" fmla="*/ 1076 w 432"/>
                <a:gd name="T47" fmla="*/ 3964 h 951"/>
                <a:gd name="T48" fmla="*/ 1338 w 432"/>
                <a:gd name="T49" fmla="*/ 3108 h 951"/>
                <a:gd name="T50" fmla="*/ 2207 w 432"/>
                <a:gd name="T51" fmla="*/ 2927 h 951"/>
                <a:gd name="T52" fmla="*/ 2094 w 432"/>
                <a:gd name="T53" fmla="*/ 2818 h 951"/>
                <a:gd name="T54" fmla="*/ 1992 w 432"/>
                <a:gd name="T55" fmla="*/ 2712 h 951"/>
                <a:gd name="T56" fmla="*/ 1911 w 432"/>
                <a:gd name="T57" fmla="*/ 2594 h 951"/>
                <a:gd name="T58" fmla="*/ 1836 w 432"/>
                <a:gd name="T59" fmla="*/ 2466 h 951"/>
                <a:gd name="T60" fmla="*/ 1777 w 432"/>
                <a:gd name="T61" fmla="*/ 2332 h 951"/>
                <a:gd name="T62" fmla="*/ 1736 w 432"/>
                <a:gd name="T63" fmla="*/ 2198 h 951"/>
                <a:gd name="T64" fmla="*/ 1714 w 432"/>
                <a:gd name="T65" fmla="*/ 2056 h 951"/>
                <a:gd name="T66" fmla="*/ 1702 w 432"/>
                <a:gd name="T67" fmla="*/ 1909 h 951"/>
                <a:gd name="T68" fmla="*/ 1723 w 432"/>
                <a:gd name="T69" fmla="*/ 1699 h 951"/>
                <a:gd name="T70" fmla="*/ 1775 w 432"/>
                <a:gd name="T71" fmla="*/ 1500 h 951"/>
                <a:gd name="T72" fmla="*/ 1861 w 432"/>
                <a:gd name="T73" fmla="*/ 1310 h 951"/>
                <a:gd name="T74" fmla="*/ 1911 w 432"/>
                <a:gd name="T75" fmla="*/ 1218 h 951"/>
                <a:gd name="T76" fmla="*/ 1973 w 432"/>
                <a:gd name="T77" fmla="*/ 1136 h 951"/>
                <a:gd name="T78" fmla="*/ 2176 w 432"/>
                <a:gd name="T79" fmla="*/ 1300 h 951"/>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432" h="951">
                  <a:moveTo>
                    <a:pt x="425" y="312"/>
                  </a:moveTo>
                  <a:lnTo>
                    <a:pt x="361" y="64"/>
                  </a:lnTo>
                  <a:lnTo>
                    <a:pt x="106" y="0"/>
                  </a:lnTo>
                  <a:lnTo>
                    <a:pt x="145" y="38"/>
                  </a:lnTo>
                  <a:lnTo>
                    <a:pt x="113" y="83"/>
                  </a:lnTo>
                  <a:lnTo>
                    <a:pt x="84" y="130"/>
                  </a:lnTo>
                  <a:lnTo>
                    <a:pt x="59" y="180"/>
                  </a:lnTo>
                  <a:lnTo>
                    <a:pt x="38" y="233"/>
                  </a:lnTo>
                  <a:lnTo>
                    <a:pt x="22" y="286"/>
                  </a:lnTo>
                  <a:lnTo>
                    <a:pt x="10" y="342"/>
                  </a:lnTo>
                  <a:lnTo>
                    <a:pt x="2" y="399"/>
                  </a:lnTo>
                  <a:lnTo>
                    <a:pt x="0" y="458"/>
                  </a:lnTo>
                  <a:lnTo>
                    <a:pt x="1" y="493"/>
                  </a:lnTo>
                  <a:lnTo>
                    <a:pt x="4" y="529"/>
                  </a:lnTo>
                  <a:lnTo>
                    <a:pt x="9" y="564"/>
                  </a:lnTo>
                  <a:lnTo>
                    <a:pt x="14" y="598"/>
                  </a:lnTo>
                  <a:lnTo>
                    <a:pt x="23" y="632"/>
                  </a:lnTo>
                  <a:lnTo>
                    <a:pt x="33" y="665"/>
                  </a:lnTo>
                  <a:lnTo>
                    <a:pt x="44" y="698"/>
                  </a:lnTo>
                  <a:lnTo>
                    <a:pt x="57" y="729"/>
                  </a:lnTo>
                  <a:lnTo>
                    <a:pt x="86" y="790"/>
                  </a:lnTo>
                  <a:lnTo>
                    <a:pt x="123" y="847"/>
                  </a:lnTo>
                  <a:lnTo>
                    <a:pt x="164" y="900"/>
                  </a:lnTo>
                  <a:lnTo>
                    <a:pt x="210" y="950"/>
                  </a:lnTo>
                  <a:lnTo>
                    <a:pt x="261" y="745"/>
                  </a:lnTo>
                  <a:lnTo>
                    <a:pt x="431" y="702"/>
                  </a:lnTo>
                  <a:lnTo>
                    <a:pt x="409" y="676"/>
                  </a:lnTo>
                  <a:lnTo>
                    <a:pt x="389" y="650"/>
                  </a:lnTo>
                  <a:lnTo>
                    <a:pt x="373" y="622"/>
                  </a:lnTo>
                  <a:lnTo>
                    <a:pt x="358" y="591"/>
                  </a:lnTo>
                  <a:lnTo>
                    <a:pt x="347" y="559"/>
                  </a:lnTo>
                  <a:lnTo>
                    <a:pt x="339" y="527"/>
                  </a:lnTo>
                  <a:lnTo>
                    <a:pt x="334" y="493"/>
                  </a:lnTo>
                  <a:lnTo>
                    <a:pt x="332" y="458"/>
                  </a:lnTo>
                  <a:lnTo>
                    <a:pt x="336" y="407"/>
                  </a:lnTo>
                  <a:lnTo>
                    <a:pt x="346" y="360"/>
                  </a:lnTo>
                  <a:lnTo>
                    <a:pt x="363" y="314"/>
                  </a:lnTo>
                  <a:lnTo>
                    <a:pt x="373" y="292"/>
                  </a:lnTo>
                  <a:lnTo>
                    <a:pt x="385" y="272"/>
                  </a:lnTo>
                  <a:lnTo>
                    <a:pt x="425" y="312"/>
                  </a:lnTo>
                </a:path>
              </a:pathLst>
            </a:custGeom>
            <a:solidFill>
              <a:srgbClr val="FFB627"/>
            </a:solidFill>
            <a:ln w="6350" cap="rnd" cmpd="sng">
              <a:solidFill>
                <a:schemeClr val="tx1"/>
              </a:solidFill>
              <a:prstDash val="solid"/>
              <a:round/>
              <a:headEnd/>
              <a:tailEnd/>
            </a:ln>
          </p:spPr>
          <p:txBody>
            <a:bodyPr lIns="45720" rIns="45720" anchor="ctr" anchorCtr="1"/>
            <a:lstStyle/>
            <a:p>
              <a:endParaRPr lang="en-US" dirty="0"/>
            </a:p>
          </p:txBody>
        </p:sp>
        <p:sp>
          <p:nvSpPr>
            <p:cNvPr id="14" name="Freeform 38">
              <a:extLst>
                <a:ext uri="{FF2B5EF4-FFF2-40B4-BE49-F238E27FC236}">
                  <a16:creationId xmlns:a16="http://schemas.microsoft.com/office/drawing/2014/main" id="{8F53B213-9768-98D1-3F94-06F295D04340}"/>
                </a:ext>
              </a:extLst>
            </p:cNvPr>
            <p:cNvSpPr>
              <a:spLocks/>
            </p:cNvSpPr>
            <p:nvPr/>
          </p:nvSpPr>
          <p:spPr bwMode="auto">
            <a:xfrm>
              <a:off x="2431" y="2746"/>
              <a:ext cx="1424" cy="612"/>
            </a:xfrm>
            <a:custGeom>
              <a:avLst/>
              <a:gdLst>
                <a:gd name="T0" fmla="*/ 1582 w 948"/>
                <a:gd name="T1" fmla="*/ 33 h 428"/>
                <a:gd name="T2" fmla="*/ 324 w 948"/>
                <a:gd name="T3" fmla="*/ 305 h 428"/>
                <a:gd name="T4" fmla="*/ 0 w 948"/>
                <a:gd name="T5" fmla="*/ 1371 h 428"/>
                <a:gd name="T6" fmla="*/ 203 w 948"/>
                <a:gd name="T7" fmla="*/ 1198 h 428"/>
                <a:gd name="T8" fmla="*/ 433 w 948"/>
                <a:gd name="T9" fmla="*/ 1331 h 428"/>
                <a:gd name="T10" fmla="*/ 670 w 948"/>
                <a:gd name="T11" fmla="*/ 1447 h 428"/>
                <a:gd name="T12" fmla="*/ 925 w 948"/>
                <a:gd name="T13" fmla="*/ 1550 h 428"/>
                <a:gd name="T14" fmla="*/ 1190 w 948"/>
                <a:gd name="T15" fmla="*/ 1640 h 428"/>
                <a:gd name="T16" fmla="*/ 1460 w 948"/>
                <a:gd name="T17" fmla="*/ 1706 h 428"/>
                <a:gd name="T18" fmla="*/ 1742 w 948"/>
                <a:gd name="T19" fmla="*/ 1756 h 428"/>
                <a:gd name="T20" fmla="*/ 2037 w 948"/>
                <a:gd name="T21" fmla="*/ 1787 h 428"/>
                <a:gd name="T22" fmla="*/ 2331 w 948"/>
                <a:gd name="T23" fmla="*/ 1787 h 428"/>
                <a:gd name="T24" fmla="*/ 2695 w 948"/>
                <a:gd name="T25" fmla="*/ 1777 h 428"/>
                <a:gd name="T26" fmla="*/ 3039 w 948"/>
                <a:gd name="T27" fmla="*/ 1734 h 428"/>
                <a:gd name="T28" fmla="*/ 3380 w 948"/>
                <a:gd name="T29" fmla="*/ 1660 h 428"/>
                <a:gd name="T30" fmla="*/ 3707 w 948"/>
                <a:gd name="T31" fmla="*/ 1564 h 428"/>
                <a:gd name="T32" fmla="*/ 4012 w 948"/>
                <a:gd name="T33" fmla="*/ 1440 h 428"/>
                <a:gd name="T34" fmla="*/ 4158 w 948"/>
                <a:gd name="T35" fmla="*/ 1368 h 428"/>
                <a:gd name="T36" fmla="*/ 4301 w 948"/>
                <a:gd name="T37" fmla="*/ 1293 h 428"/>
                <a:gd name="T38" fmla="*/ 4571 w 948"/>
                <a:gd name="T39" fmla="*/ 1121 h 428"/>
                <a:gd name="T40" fmla="*/ 4820 w 948"/>
                <a:gd name="T41" fmla="*/ 932 h 428"/>
                <a:gd name="T42" fmla="*/ 3800 w 948"/>
                <a:gd name="T43" fmla="*/ 722 h 428"/>
                <a:gd name="T44" fmla="*/ 3569 w 948"/>
                <a:gd name="T45" fmla="*/ 0 h 428"/>
                <a:gd name="T46" fmla="*/ 3447 w 948"/>
                <a:gd name="T47" fmla="*/ 90 h 428"/>
                <a:gd name="T48" fmla="*/ 3308 w 948"/>
                <a:gd name="T49" fmla="*/ 172 h 428"/>
                <a:gd name="T50" fmla="*/ 3160 w 948"/>
                <a:gd name="T51" fmla="*/ 239 h 428"/>
                <a:gd name="T52" fmla="*/ 3010 w 948"/>
                <a:gd name="T53" fmla="*/ 300 h 428"/>
                <a:gd name="T54" fmla="*/ 2850 w 948"/>
                <a:gd name="T55" fmla="*/ 347 h 428"/>
                <a:gd name="T56" fmla="*/ 2678 w 948"/>
                <a:gd name="T57" fmla="*/ 380 h 428"/>
                <a:gd name="T58" fmla="*/ 2512 w 948"/>
                <a:gd name="T59" fmla="*/ 400 h 428"/>
                <a:gd name="T60" fmla="*/ 2331 w 948"/>
                <a:gd name="T61" fmla="*/ 409 h 428"/>
                <a:gd name="T62" fmla="*/ 2202 w 948"/>
                <a:gd name="T63" fmla="*/ 408 h 428"/>
                <a:gd name="T64" fmla="*/ 2077 w 948"/>
                <a:gd name="T65" fmla="*/ 393 h 428"/>
                <a:gd name="T66" fmla="*/ 1956 w 948"/>
                <a:gd name="T67" fmla="*/ 376 h 428"/>
                <a:gd name="T68" fmla="*/ 1837 w 948"/>
                <a:gd name="T69" fmla="*/ 356 h 428"/>
                <a:gd name="T70" fmla="*/ 1721 w 948"/>
                <a:gd name="T71" fmla="*/ 320 h 428"/>
                <a:gd name="T72" fmla="*/ 1612 w 948"/>
                <a:gd name="T73" fmla="*/ 290 h 428"/>
                <a:gd name="T74" fmla="*/ 1501 w 948"/>
                <a:gd name="T75" fmla="*/ 243 h 428"/>
                <a:gd name="T76" fmla="*/ 1397 w 948"/>
                <a:gd name="T77" fmla="*/ 192 h 428"/>
                <a:gd name="T78" fmla="*/ 1582 w 948"/>
                <a:gd name="T79" fmla="*/ 33 h 428"/>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948" h="428">
                  <a:moveTo>
                    <a:pt x="311" y="8"/>
                  </a:moveTo>
                  <a:lnTo>
                    <a:pt x="64" y="73"/>
                  </a:lnTo>
                  <a:lnTo>
                    <a:pt x="0" y="328"/>
                  </a:lnTo>
                  <a:lnTo>
                    <a:pt x="40" y="287"/>
                  </a:lnTo>
                  <a:lnTo>
                    <a:pt x="85" y="318"/>
                  </a:lnTo>
                  <a:lnTo>
                    <a:pt x="132" y="346"/>
                  </a:lnTo>
                  <a:lnTo>
                    <a:pt x="182" y="371"/>
                  </a:lnTo>
                  <a:lnTo>
                    <a:pt x="234" y="392"/>
                  </a:lnTo>
                  <a:lnTo>
                    <a:pt x="287" y="408"/>
                  </a:lnTo>
                  <a:lnTo>
                    <a:pt x="342" y="420"/>
                  </a:lnTo>
                  <a:lnTo>
                    <a:pt x="400" y="427"/>
                  </a:lnTo>
                  <a:lnTo>
                    <a:pt x="458" y="427"/>
                  </a:lnTo>
                  <a:lnTo>
                    <a:pt x="529" y="425"/>
                  </a:lnTo>
                  <a:lnTo>
                    <a:pt x="597" y="415"/>
                  </a:lnTo>
                  <a:lnTo>
                    <a:pt x="664" y="397"/>
                  </a:lnTo>
                  <a:lnTo>
                    <a:pt x="728" y="374"/>
                  </a:lnTo>
                  <a:lnTo>
                    <a:pt x="788" y="344"/>
                  </a:lnTo>
                  <a:lnTo>
                    <a:pt x="817" y="327"/>
                  </a:lnTo>
                  <a:lnTo>
                    <a:pt x="845" y="309"/>
                  </a:lnTo>
                  <a:lnTo>
                    <a:pt x="898" y="268"/>
                  </a:lnTo>
                  <a:lnTo>
                    <a:pt x="947" y="223"/>
                  </a:lnTo>
                  <a:lnTo>
                    <a:pt x="746" y="173"/>
                  </a:lnTo>
                  <a:lnTo>
                    <a:pt x="701" y="0"/>
                  </a:lnTo>
                  <a:lnTo>
                    <a:pt x="677" y="22"/>
                  </a:lnTo>
                  <a:lnTo>
                    <a:pt x="650" y="41"/>
                  </a:lnTo>
                  <a:lnTo>
                    <a:pt x="621" y="57"/>
                  </a:lnTo>
                  <a:lnTo>
                    <a:pt x="591" y="72"/>
                  </a:lnTo>
                  <a:lnTo>
                    <a:pt x="560" y="83"/>
                  </a:lnTo>
                  <a:lnTo>
                    <a:pt x="526" y="91"/>
                  </a:lnTo>
                  <a:lnTo>
                    <a:pt x="493" y="96"/>
                  </a:lnTo>
                  <a:lnTo>
                    <a:pt x="458" y="98"/>
                  </a:lnTo>
                  <a:lnTo>
                    <a:pt x="433" y="97"/>
                  </a:lnTo>
                  <a:lnTo>
                    <a:pt x="408" y="94"/>
                  </a:lnTo>
                  <a:lnTo>
                    <a:pt x="384" y="90"/>
                  </a:lnTo>
                  <a:lnTo>
                    <a:pt x="361" y="85"/>
                  </a:lnTo>
                  <a:lnTo>
                    <a:pt x="338" y="77"/>
                  </a:lnTo>
                  <a:lnTo>
                    <a:pt x="316" y="69"/>
                  </a:lnTo>
                  <a:lnTo>
                    <a:pt x="295" y="58"/>
                  </a:lnTo>
                  <a:lnTo>
                    <a:pt x="274" y="46"/>
                  </a:lnTo>
                  <a:lnTo>
                    <a:pt x="311" y="8"/>
                  </a:lnTo>
                </a:path>
              </a:pathLst>
            </a:custGeom>
            <a:solidFill>
              <a:schemeClr val="tx1">
                <a:lumMod val="95000"/>
                <a:lumOff val="5000"/>
              </a:schemeClr>
            </a:solidFill>
            <a:ln w="6350" cap="rnd" cmpd="sng">
              <a:solidFill>
                <a:schemeClr val="tx1"/>
              </a:solidFill>
              <a:prstDash val="solid"/>
              <a:round/>
              <a:headEnd/>
              <a:tailEnd/>
            </a:ln>
          </p:spPr>
          <p:txBody>
            <a:bodyPr lIns="45720" rIns="45720" anchor="ctr" anchorCtr="1"/>
            <a:lstStyle/>
            <a:p>
              <a:endParaRPr lang="en-US"/>
            </a:p>
          </p:txBody>
        </p:sp>
        <p:sp>
          <p:nvSpPr>
            <p:cNvPr id="15" name="Freeform 39">
              <a:extLst>
                <a:ext uri="{FF2B5EF4-FFF2-40B4-BE49-F238E27FC236}">
                  <a16:creationId xmlns:a16="http://schemas.microsoft.com/office/drawing/2014/main" id="{317F7042-F659-24E8-EA54-30B046A0DFE8}"/>
                </a:ext>
              </a:extLst>
            </p:cNvPr>
            <p:cNvSpPr>
              <a:spLocks/>
            </p:cNvSpPr>
            <p:nvPr/>
          </p:nvSpPr>
          <p:spPr bwMode="auto">
            <a:xfrm>
              <a:off x="3504" y="1690"/>
              <a:ext cx="639" cy="1356"/>
            </a:xfrm>
            <a:custGeom>
              <a:avLst/>
              <a:gdLst>
                <a:gd name="T0" fmla="*/ 27 w 425"/>
                <a:gd name="T1" fmla="*/ 2666 h 948"/>
                <a:gd name="T2" fmla="*/ 353 w 425"/>
                <a:gd name="T3" fmla="*/ 3698 h 948"/>
                <a:gd name="T4" fmla="*/ 1661 w 425"/>
                <a:gd name="T5" fmla="*/ 3965 h 948"/>
                <a:gd name="T6" fmla="*/ 1433 w 425"/>
                <a:gd name="T7" fmla="*/ 3788 h 948"/>
                <a:gd name="T8" fmla="*/ 1606 w 425"/>
                <a:gd name="T9" fmla="*/ 3599 h 948"/>
                <a:gd name="T10" fmla="*/ 1747 w 425"/>
                <a:gd name="T11" fmla="*/ 3404 h 948"/>
                <a:gd name="T12" fmla="*/ 1876 w 425"/>
                <a:gd name="T13" fmla="*/ 3194 h 948"/>
                <a:gd name="T14" fmla="*/ 1983 w 425"/>
                <a:gd name="T15" fmla="*/ 2977 h 948"/>
                <a:gd name="T16" fmla="*/ 2064 w 425"/>
                <a:gd name="T17" fmla="*/ 2752 h 948"/>
                <a:gd name="T18" fmla="*/ 2132 w 425"/>
                <a:gd name="T19" fmla="*/ 2520 h 948"/>
                <a:gd name="T20" fmla="*/ 2165 w 425"/>
                <a:gd name="T21" fmla="*/ 2283 h 948"/>
                <a:gd name="T22" fmla="*/ 2165 w 425"/>
                <a:gd name="T23" fmla="*/ 2040 h 948"/>
                <a:gd name="T24" fmla="*/ 2161 w 425"/>
                <a:gd name="T25" fmla="*/ 1741 h 948"/>
                <a:gd name="T26" fmla="*/ 2105 w 425"/>
                <a:gd name="T27" fmla="*/ 1450 h 948"/>
                <a:gd name="T28" fmla="*/ 2012 w 425"/>
                <a:gd name="T29" fmla="*/ 1176 h 948"/>
                <a:gd name="T30" fmla="*/ 1896 w 425"/>
                <a:gd name="T31" fmla="*/ 917 h 948"/>
                <a:gd name="T32" fmla="*/ 1747 w 425"/>
                <a:gd name="T33" fmla="*/ 661 h 948"/>
                <a:gd name="T34" fmla="*/ 1564 w 425"/>
                <a:gd name="T35" fmla="*/ 422 h 948"/>
                <a:gd name="T36" fmla="*/ 1359 w 425"/>
                <a:gd name="T37" fmla="*/ 203 h 948"/>
                <a:gd name="T38" fmla="*/ 1126 w 425"/>
                <a:gd name="T39" fmla="*/ 0 h 948"/>
                <a:gd name="T40" fmla="*/ 863 w 425"/>
                <a:gd name="T41" fmla="*/ 850 h 948"/>
                <a:gd name="T42" fmla="*/ 0 w 425"/>
                <a:gd name="T43" fmla="*/ 1033 h 948"/>
                <a:gd name="T44" fmla="*/ 113 w 425"/>
                <a:gd name="T45" fmla="*/ 1137 h 948"/>
                <a:gd name="T46" fmla="*/ 203 w 425"/>
                <a:gd name="T47" fmla="*/ 1246 h 948"/>
                <a:gd name="T48" fmla="*/ 284 w 425"/>
                <a:gd name="T49" fmla="*/ 1365 h 948"/>
                <a:gd name="T50" fmla="*/ 353 w 425"/>
                <a:gd name="T51" fmla="*/ 1489 h 948"/>
                <a:gd name="T52" fmla="*/ 413 w 425"/>
                <a:gd name="T53" fmla="*/ 1621 h 948"/>
                <a:gd name="T54" fmla="*/ 454 w 425"/>
                <a:gd name="T55" fmla="*/ 1754 h 948"/>
                <a:gd name="T56" fmla="*/ 475 w 425"/>
                <a:gd name="T57" fmla="*/ 1892 h 948"/>
                <a:gd name="T58" fmla="*/ 486 w 425"/>
                <a:gd name="T59" fmla="*/ 2040 h 948"/>
                <a:gd name="T60" fmla="*/ 466 w 425"/>
                <a:gd name="T61" fmla="*/ 2244 h 948"/>
                <a:gd name="T62" fmla="*/ 413 w 425"/>
                <a:gd name="T63" fmla="*/ 2449 h 948"/>
                <a:gd name="T64" fmla="*/ 326 w 425"/>
                <a:gd name="T65" fmla="*/ 2633 h 948"/>
                <a:gd name="T66" fmla="*/ 215 w 425"/>
                <a:gd name="T67" fmla="*/ 2809 h 948"/>
                <a:gd name="T68" fmla="*/ 27 w 425"/>
                <a:gd name="T69" fmla="*/ 2666 h 94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425" h="948">
                  <a:moveTo>
                    <a:pt x="5" y="637"/>
                  </a:moveTo>
                  <a:lnTo>
                    <a:pt x="69" y="883"/>
                  </a:lnTo>
                  <a:lnTo>
                    <a:pt x="325" y="947"/>
                  </a:lnTo>
                  <a:lnTo>
                    <a:pt x="281" y="905"/>
                  </a:lnTo>
                  <a:lnTo>
                    <a:pt x="314" y="860"/>
                  </a:lnTo>
                  <a:lnTo>
                    <a:pt x="342" y="813"/>
                  </a:lnTo>
                  <a:lnTo>
                    <a:pt x="367" y="763"/>
                  </a:lnTo>
                  <a:lnTo>
                    <a:pt x="388" y="711"/>
                  </a:lnTo>
                  <a:lnTo>
                    <a:pt x="404" y="657"/>
                  </a:lnTo>
                  <a:lnTo>
                    <a:pt x="417" y="602"/>
                  </a:lnTo>
                  <a:lnTo>
                    <a:pt x="424" y="545"/>
                  </a:lnTo>
                  <a:lnTo>
                    <a:pt x="424" y="487"/>
                  </a:lnTo>
                  <a:lnTo>
                    <a:pt x="423" y="416"/>
                  </a:lnTo>
                  <a:lnTo>
                    <a:pt x="412" y="347"/>
                  </a:lnTo>
                  <a:lnTo>
                    <a:pt x="394" y="281"/>
                  </a:lnTo>
                  <a:lnTo>
                    <a:pt x="371" y="219"/>
                  </a:lnTo>
                  <a:lnTo>
                    <a:pt x="342" y="158"/>
                  </a:lnTo>
                  <a:lnTo>
                    <a:pt x="306" y="101"/>
                  </a:lnTo>
                  <a:lnTo>
                    <a:pt x="266" y="48"/>
                  </a:lnTo>
                  <a:lnTo>
                    <a:pt x="220" y="0"/>
                  </a:lnTo>
                  <a:lnTo>
                    <a:pt x="169" y="203"/>
                  </a:lnTo>
                  <a:lnTo>
                    <a:pt x="0" y="247"/>
                  </a:lnTo>
                  <a:lnTo>
                    <a:pt x="22" y="272"/>
                  </a:lnTo>
                  <a:lnTo>
                    <a:pt x="40" y="298"/>
                  </a:lnTo>
                  <a:lnTo>
                    <a:pt x="56" y="326"/>
                  </a:lnTo>
                  <a:lnTo>
                    <a:pt x="69" y="356"/>
                  </a:lnTo>
                  <a:lnTo>
                    <a:pt x="81" y="387"/>
                  </a:lnTo>
                  <a:lnTo>
                    <a:pt x="89" y="419"/>
                  </a:lnTo>
                  <a:lnTo>
                    <a:pt x="93" y="452"/>
                  </a:lnTo>
                  <a:lnTo>
                    <a:pt x="95" y="487"/>
                  </a:lnTo>
                  <a:lnTo>
                    <a:pt x="91" y="536"/>
                  </a:lnTo>
                  <a:lnTo>
                    <a:pt x="81" y="585"/>
                  </a:lnTo>
                  <a:lnTo>
                    <a:pt x="64" y="629"/>
                  </a:lnTo>
                  <a:lnTo>
                    <a:pt x="42" y="671"/>
                  </a:lnTo>
                  <a:lnTo>
                    <a:pt x="5" y="637"/>
                  </a:lnTo>
                </a:path>
              </a:pathLst>
            </a:custGeom>
            <a:solidFill>
              <a:srgbClr val="EE3228"/>
            </a:solidFill>
            <a:ln w="6350" cap="rnd" cmpd="sng">
              <a:solidFill>
                <a:schemeClr val="tx1"/>
              </a:solidFill>
              <a:prstDash val="solid"/>
              <a:round/>
              <a:headEnd/>
              <a:tailEnd/>
            </a:ln>
          </p:spPr>
          <p:txBody>
            <a:bodyPr lIns="45720" rIns="45720" anchor="ctr" anchorCtr="1"/>
            <a:lstStyle/>
            <a:p>
              <a:endParaRPr lang="en-US"/>
            </a:p>
          </p:txBody>
        </p:sp>
        <p:sp>
          <p:nvSpPr>
            <p:cNvPr id="16" name="Freeform 40">
              <a:extLst>
                <a:ext uri="{FF2B5EF4-FFF2-40B4-BE49-F238E27FC236}">
                  <a16:creationId xmlns:a16="http://schemas.microsoft.com/office/drawing/2014/main" id="{B4600B98-75F4-BBFB-090E-20C53CC55983}"/>
                </a:ext>
              </a:extLst>
            </p:cNvPr>
            <p:cNvSpPr>
              <a:spLocks/>
            </p:cNvSpPr>
            <p:nvPr/>
          </p:nvSpPr>
          <p:spPr bwMode="auto">
            <a:xfrm>
              <a:off x="2378" y="1410"/>
              <a:ext cx="1433" cy="612"/>
            </a:xfrm>
            <a:custGeom>
              <a:avLst/>
              <a:gdLst>
                <a:gd name="T0" fmla="*/ 3275 w 954"/>
                <a:gd name="T1" fmla="*/ 1777 h 428"/>
                <a:gd name="T2" fmla="*/ 4530 w 954"/>
                <a:gd name="T3" fmla="*/ 1516 h 428"/>
                <a:gd name="T4" fmla="*/ 4852 w 954"/>
                <a:gd name="T5" fmla="*/ 438 h 428"/>
                <a:gd name="T6" fmla="*/ 4652 w 954"/>
                <a:gd name="T7" fmla="*/ 613 h 428"/>
                <a:gd name="T8" fmla="*/ 4422 w 954"/>
                <a:gd name="T9" fmla="*/ 476 h 428"/>
                <a:gd name="T10" fmla="*/ 4179 w 954"/>
                <a:gd name="T11" fmla="*/ 356 h 428"/>
                <a:gd name="T12" fmla="*/ 3923 w 954"/>
                <a:gd name="T13" fmla="*/ 252 h 428"/>
                <a:gd name="T14" fmla="*/ 3659 w 954"/>
                <a:gd name="T15" fmla="*/ 163 h 428"/>
                <a:gd name="T16" fmla="*/ 3380 w 954"/>
                <a:gd name="T17" fmla="*/ 90 h 428"/>
                <a:gd name="T18" fmla="*/ 3093 w 954"/>
                <a:gd name="T19" fmla="*/ 41 h 428"/>
                <a:gd name="T20" fmla="*/ 2807 w 954"/>
                <a:gd name="T21" fmla="*/ 9 h 428"/>
                <a:gd name="T22" fmla="*/ 2502 w 954"/>
                <a:gd name="T23" fmla="*/ 0 h 428"/>
                <a:gd name="T24" fmla="*/ 2139 w 954"/>
                <a:gd name="T25" fmla="*/ 13 h 428"/>
                <a:gd name="T26" fmla="*/ 1787 w 954"/>
                <a:gd name="T27" fmla="*/ 59 h 428"/>
                <a:gd name="T28" fmla="*/ 1447 w 954"/>
                <a:gd name="T29" fmla="*/ 134 h 428"/>
                <a:gd name="T30" fmla="*/ 1119 w 954"/>
                <a:gd name="T31" fmla="*/ 239 h 428"/>
                <a:gd name="T32" fmla="*/ 814 w 954"/>
                <a:gd name="T33" fmla="*/ 360 h 428"/>
                <a:gd name="T34" fmla="*/ 518 w 954"/>
                <a:gd name="T35" fmla="*/ 509 h 428"/>
                <a:gd name="T36" fmla="*/ 251 w 954"/>
                <a:gd name="T37" fmla="*/ 681 h 428"/>
                <a:gd name="T38" fmla="*/ 0 w 954"/>
                <a:gd name="T39" fmla="*/ 875 h 428"/>
                <a:gd name="T40" fmla="*/ 1053 w 954"/>
                <a:gd name="T41" fmla="*/ 1090 h 428"/>
                <a:gd name="T42" fmla="*/ 1277 w 954"/>
                <a:gd name="T43" fmla="*/ 1787 h 428"/>
                <a:gd name="T44" fmla="*/ 1406 w 954"/>
                <a:gd name="T45" fmla="*/ 1693 h 428"/>
                <a:gd name="T46" fmla="*/ 1538 w 954"/>
                <a:gd name="T47" fmla="*/ 1617 h 428"/>
                <a:gd name="T48" fmla="*/ 1681 w 954"/>
                <a:gd name="T49" fmla="*/ 1546 h 428"/>
                <a:gd name="T50" fmla="*/ 1834 w 954"/>
                <a:gd name="T51" fmla="*/ 1490 h 428"/>
                <a:gd name="T52" fmla="*/ 1990 w 954"/>
                <a:gd name="T53" fmla="*/ 1447 h 428"/>
                <a:gd name="T54" fmla="*/ 2160 w 954"/>
                <a:gd name="T55" fmla="*/ 1413 h 428"/>
                <a:gd name="T56" fmla="*/ 2331 w 954"/>
                <a:gd name="T57" fmla="*/ 1393 h 428"/>
                <a:gd name="T58" fmla="*/ 2502 w 954"/>
                <a:gd name="T59" fmla="*/ 1383 h 428"/>
                <a:gd name="T60" fmla="*/ 2767 w 954"/>
                <a:gd name="T61" fmla="*/ 1400 h 428"/>
                <a:gd name="T62" fmla="*/ 3010 w 954"/>
                <a:gd name="T63" fmla="*/ 1447 h 428"/>
                <a:gd name="T64" fmla="*/ 3248 w 954"/>
                <a:gd name="T65" fmla="*/ 1517 h 428"/>
                <a:gd name="T66" fmla="*/ 3461 w 954"/>
                <a:gd name="T67" fmla="*/ 1613 h 428"/>
                <a:gd name="T68" fmla="*/ 3275 w 954"/>
                <a:gd name="T69" fmla="*/ 1777 h 42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954" h="428">
                  <a:moveTo>
                    <a:pt x="643" y="425"/>
                  </a:moveTo>
                  <a:lnTo>
                    <a:pt x="890" y="362"/>
                  </a:lnTo>
                  <a:lnTo>
                    <a:pt x="953" y="105"/>
                  </a:lnTo>
                  <a:lnTo>
                    <a:pt x="914" y="147"/>
                  </a:lnTo>
                  <a:lnTo>
                    <a:pt x="869" y="114"/>
                  </a:lnTo>
                  <a:lnTo>
                    <a:pt x="821" y="85"/>
                  </a:lnTo>
                  <a:lnTo>
                    <a:pt x="771" y="60"/>
                  </a:lnTo>
                  <a:lnTo>
                    <a:pt x="719" y="39"/>
                  </a:lnTo>
                  <a:lnTo>
                    <a:pt x="664" y="22"/>
                  </a:lnTo>
                  <a:lnTo>
                    <a:pt x="608" y="10"/>
                  </a:lnTo>
                  <a:lnTo>
                    <a:pt x="551" y="2"/>
                  </a:lnTo>
                  <a:lnTo>
                    <a:pt x="491" y="0"/>
                  </a:lnTo>
                  <a:lnTo>
                    <a:pt x="420" y="3"/>
                  </a:lnTo>
                  <a:lnTo>
                    <a:pt x="351" y="14"/>
                  </a:lnTo>
                  <a:lnTo>
                    <a:pt x="284" y="32"/>
                  </a:lnTo>
                  <a:lnTo>
                    <a:pt x="220" y="57"/>
                  </a:lnTo>
                  <a:lnTo>
                    <a:pt x="160" y="86"/>
                  </a:lnTo>
                  <a:lnTo>
                    <a:pt x="102" y="122"/>
                  </a:lnTo>
                  <a:lnTo>
                    <a:pt x="49" y="163"/>
                  </a:lnTo>
                  <a:lnTo>
                    <a:pt x="0" y="209"/>
                  </a:lnTo>
                  <a:lnTo>
                    <a:pt x="207" y="261"/>
                  </a:lnTo>
                  <a:lnTo>
                    <a:pt x="251" y="427"/>
                  </a:lnTo>
                  <a:lnTo>
                    <a:pt x="276" y="405"/>
                  </a:lnTo>
                  <a:lnTo>
                    <a:pt x="302" y="387"/>
                  </a:lnTo>
                  <a:lnTo>
                    <a:pt x="330" y="370"/>
                  </a:lnTo>
                  <a:lnTo>
                    <a:pt x="360" y="357"/>
                  </a:lnTo>
                  <a:lnTo>
                    <a:pt x="391" y="346"/>
                  </a:lnTo>
                  <a:lnTo>
                    <a:pt x="424" y="338"/>
                  </a:lnTo>
                  <a:lnTo>
                    <a:pt x="458" y="333"/>
                  </a:lnTo>
                  <a:lnTo>
                    <a:pt x="491" y="331"/>
                  </a:lnTo>
                  <a:lnTo>
                    <a:pt x="543" y="335"/>
                  </a:lnTo>
                  <a:lnTo>
                    <a:pt x="591" y="346"/>
                  </a:lnTo>
                  <a:lnTo>
                    <a:pt x="638" y="363"/>
                  </a:lnTo>
                  <a:lnTo>
                    <a:pt x="680" y="386"/>
                  </a:lnTo>
                  <a:lnTo>
                    <a:pt x="643" y="425"/>
                  </a:lnTo>
                </a:path>
              </a:pathLst>
            </a:custGeom>
            <a:solidFill>
              <a:schemeClr val="bg1">
                <a:lumMod val="50000"/>
              </a:schemeClr>
            </a:solidFill>
            <a:ln w="6350" cap="rnd" cmpd="sng">
              <a:solidFill>
                <a:schemeClr val="tx1"/>
              </a:solidFill>
              <a:prstDash val="solid"/>
              <a:round/>
              <a:headEnd/>
              <a:tailEnd/>
            </a:ln>
          </p:spPr>
          <p:txBody>
            <a:bodyPr lIns="45720" rIns="45720" anchor="ctr" anchorCtr="1"/>
            <a:lstStyle/>
            <a:p>
              <a:endParaRPr lang="en-US"/>
            </a:p>
          </p:txBody>
        </p:sp>
        <p:sp>
          <p:nvSpPr>
            <p:cNvPr id="17" name="Text Box 41">
              <a:extLst>
                <a:ext uri="{FF2B5EF4-FFF2-40B4-BE49-F238E27FC236}">
                  <a16:creationId xmlns:a16="http://schemas.microsoft.com/office/drawing/2014/main" id="{89BB9312-B8CD-C353-0325-3550F49EF32D}"/>
                </a:ext>
              </a:extLst>
            </p:cNvPr>
            <p:cNvSpPr txBox="1">
              <a:spLocks noChangeArrowheads="1"/>
            </p:cNvSpPr>
            <p:nvPr/>
          </p:nvSpPr>
          <p:spPr bwMode="auto">
            <a:xfrm>
              <a:off x="2719" y="1462"/>
              <a:ext cx="809" cy="4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5720" rIns="45720" anchor="ctr" anchorCtr="1"/>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US" altLang="en-US" sz="1600" b="0" dirty="0">
                  <a:solidFill>
                    <a:schemeClr val="bg1"/>
                  </a:solidFill>
                  <a:latin typeface="Roboto" panose="02000000000000000000" pitchFamily="2" charset="0"/>
                  <a:ea typeface="Roboto" panose="02000000000000000000" pitchFamily="2" charset="0"/>
                  <a:cs typeface="Roboto" panose="02000000000000000000" pitchFamily="2" charset="0"/>
                </a:rPr>
                <a:t>Standardize/</a:t>
              </a:r>
              <a:br>
                <a:rPr lang="en-US" altLang="en-US" sz="1600" b="0" dirty="0">
                  <a:solidFill>
                    <a:schemeClr val="bg1"/>
                  </a:solidFill>
                  <a:latin typeface="Roboto" panose="02000000000000000000" pitchFamily="2" charset="0"/>
                  <a:ea typeface="Roboto" panose="02000000000000000000" pitchFamily="2" charset="0"/>
                  <a:cs typeface="Roboto" panose="02000000000000000000" pitchFamily="2" charset="0"/>
                </a:rPr>
              </a:br>
              <a:r>
                <a:rPr lang="en-US" altLang="en-US" sz="1600" b="0" dirty="0">
                  <a:solidFill>
                    <a:schemeClr val="bg1"/>
                  </a:solidFill>
                  <a:latin typeface="Roboto" panose="02000000000000000000" pitchFamily="2" charset="0"/>
                  <a:ea typeface="Roboto" panose="02000000000000000000" pitchFamily="2" charset="0"/>
                  <a:cs typeface="Roboto" panose="02000000000000000000" pitchFamily="2" charset="0"/>
                </a:rPr>
                <a:t>Adherence</a:t>
              </a:r>
            </a:p>
          </p:txBody>
        </p:sp>
        <p:sp>
          <p:nvSpPr>
            <p:cNvPr id="18" name="Text Box 42">
              <a:extLst>
                <a:ext uri="{FF2B5EF4-FFF2-40B4-BE49-F238E27FC236}">
                  <a16:creationId xmlns:a16="http://schemas.microsoft.com/office/drawing/2014/main" id="{964A7832-3267-50BC-F078-8A2B6104F7B7}"/>
                </a:ext>
              </a:extLst>
            </p:cNvPr>
            <p:cNvSpPr txBox="1">
              <a:spLocks noChangeArrowheads="1"/>
            </p:cNvSpPr>
            <p:nvPr/>
          </p:nvSpPr>
          <p:spPr bwMode="auto">
            <a:xfrm>
              <a:off x="2858" y="2984"/>
              <a:ext cx="569" cy="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5720" rIns="45720" anchor="ctr" anchorCtr="1"/>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US" altLang="en-US" b="0" dirty="0">
                  <a:solidFill>
                    <a:schemeClr val="bg1"/>
                  </a:solidFill>
                  <a:latin typeface="Roboto" panose="02000000000000000000" pitchFamily="2" charset="0"/>
                  <a:ea typeface="Roboto" panose="02000000000000000000" pitchFamily="2" charset="0"/>
                  <a:cs typeface="Roboto" panose="02000000000000000000" pitchFamily="2" charset="0"/>
                </a:rPr>
                <a:t>Root Cause</a:t>
              </a:r>
            </a:p>
          </p:txBody>
        </p:sp>
        <p:sp>
          <p:nvSpPr>
            <p:cNvPr id="19" name="Text Box 43">
              <a:extLst>
                <a:ext uri="{FF2B5EF4-FFF2-40B4-BE49-F238E27FC236}">
                  <a16:creationId xmlns:a16="http://schemas.microsoft.com/office/drawing/2014/main" id="{0F511DDA-B43C-A3BD-473D-416C5D7AC2D2}"/>
                </a:ext>
              </a:extLst>
            </p:cNvPr>
            <p:cNvSpPr txBox="1">
              <a:spLocks noChangeArrowheads="1"/>
            </p:cNvSpPr>
            <p:nvPr/>
          </p:nvSpPr>
          <p:spPr bwMode="auto">
            <a:xfrm>
              <a:off x="2110" y="2239"/>
              <a:ext cx="471" cy="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Aft>
                  <a:spcPct val="0"/>
                </a:spcAft>
                <a:buClrTx/>
                <a:buSzTx/>
                <a:buFontTx/>
                <a:buNone/>
              </a:pPr>
              <a:r>
                <a:rPr lang="en-GB" altLang="en-US" sz="1400" b="0" dirty="0">
                  <a:solidFill>
                    <a:srgbClr val="222222"/>
                  </a:solidFill>
                  <a:latin typeface="Roboto" panose="02000000000000000000" pitchFamily="2" charset="0"/>
                  <a:ea typeface="Roboto" panose="02000000000000000000" pitchFamily="2" charset="0"/>
                  <a:cs typeface="Roboto" panose="02000000000000000000" pitchFamily="2" charset="0"/>
                </a:rPr>
                <a:t>Implement</a:t>
              </a:r>
              <a:br>
                <a:rPr lang="en-GB" altLang="en-US" b="0" dirty="0">
                  <a:solidFill>
                    <a:srgbClr val="222222"/>
                  </a:solidFill>
                  <a:latin typeface="Roboto" panose="02000000000000000000" pitchFamily="2" charset="0"/>
                  <a:ea typeface="Roboto" panose="02000000000000000000" pitchFamily="2" charset="0"/>
                  <a:cs typeface="Roboto" panose="02000000000000000000" pitchFamily="2" charset="0"/>
                </a:rPr>
              </a:br>
              <a:r>
                <a:rPr lang="en-GB" altLang="en-US" sz="1600" b="0" dirty="0">
                  <a:solidFill>
                    <a:srgbClr val="222222"/>
                  </a:solidFill>
                  <a:latin typeface="Roboto" panose="02000000000000000000" pitchFamily="2" charset="0"/>
                  <a:ea typeface="Roboto" panose="02000000000000000000" pitchFamily="2" charset="0"/>
                  <a:cs typeface="Roboto" panose="02000000000000000000" pitchFamily="2" charset="0"/>
                </a:rPr>
                <a:t>Solutions</a:t>
              </a:r>
              <a:endParaRPr lang="en-GB" altLang="en-US" b="0" dirty="0">
                <a:solidFill>
                  <a:srgbClr val="222222"/>
                </a:solidFill>
                <a:latin typeface="Roboto" panose="02000000000000000000" pitchFamily="2" charset="0"/>
                <a:ea typeface="Roboto" panose="02000000000000000000" pitchFamily="2" charset="0"/>
                <a:cs typeface="Roboto" panose="02000000000000000000" pitchFamily="2" charset="0"/>
              </a:endParaRPr>
            </a:p>
          </p:txBody>
        </p:sp>
        <p:sp>
          <p:nvSpPr>
            <p:cNvPr id="20" name="Text Box 44">
              <a:extLst>
                <a:ext uri="{FF2B5EF4-FFF2-40B4-BE49-F238E27FC236}">
                  <a16:creationId xmlns:a16="http://schemas.microsoft.com/office/drawing/2014/main" id="{96DCEFF8-E19A-A517-6953-DC1BB650EF3E}"/>
                </a:ext>
              </a:extLst>
            </p:cNvPr>
            <p:cNvSpPr txBox="1">
              <a:spLocks noChangeArrowheads="1"/>
            </p:cNvSpPr>
            <p:nvPr/>
          </p:nvSpPr>
          <p:spPr bwMode="auto">
            <a:xfrm>
              <a:off x="3579" y="2090"/>
              <a:ext cx="614" cy="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Aft>
                  <a:spcPct val="0"/>
                </a:spcAft>
                <a:buClrTx/>
                <a:buSzTx/>
                <a:buFontTx/>
                <a:buNone/>
              </a:pPr>
              <a:r>
                <a:rPr lang="en-GB" altLang="en-US" b="0" dirty="0">
                  <a:solidFill>
                    <a:schemeClr val="bg1"/>
                  </a:solidFill>
                  <a:latin typeface="Roboto" panose="02000000000000000000" pitchFamily="2" charset="0"/>
                  <a:ea typeface="Roboto" panose="02000000000000000000" pitchFamily="2" charset="0"/>
                  <a:cs typeface="Roboto" panose="02000000000000000000" pitchFamily="2" charset="0"/>
                </a:rPr>
                <a:t>Expose</a:t>
              </a:r>
              <a:br>
                <a:rPr lang="en-GB" altLang="en-US" b="0" dirty="0">
                  <a:solidFill>
                    <a:schemeClr val="bg1"/>
                  </a:solidFill>
                  <a:latin typeface="Roboto" panose="02000000000000000000" pitchFamily="2" charset="0"/>
                  <a:ea typeface="Roboto" panose="02000000000000000000" pitchFamily="2" charset="0"/>
                  <a:cs typeface="Roboto" panose="02000000000000000000" pitchFamily="2" charset="0"/>
                </a:rPr>
              </a:br>
              <a:r>
                <a:rPr lang="en-GB" altLang="en-US" b="0" dirty="0">
                  <a:solidFill>
                    <a:schemeClr val="bg1"/>
                  </a:solidFill>
                  <a:latin typeface="Roboto" panose="02000000000000000000" pitchFamily="2" charset="0"/>
                  <a:ea typeface="Roboto" panose="02000000000000000000" pitchFamily="2" charset="0"/>
                  <a:cs typeface="Roboto" panose="02000000000000000000" pitchFamily="2" charset="0"/>
                </a:rPr>
                <a:t>and</a:t>
              </a:r>
              <a:br>
                <a:rPr lang="en-GB" altLang="en-US" b="0" dirty="0">
                  <a:solidFill>
                    <a:schemeClr val="bg1"/>
                  </a:solidFill>
                  <a:latin typeface="Roboto" panose="02000000000000000000" pitchFamily="2" charset="0"/>
                  <a:ea typeface="Roboto" panose="02000000000000000000" pitchFamily="2" charset="0"/>
                  <a:cs typeface="Roboto" panose="02000000000000000000" pitchFamily="2" charset="0"/>
                </a:rPr>
              </a:br>
              <a:r>
                <a:rPr lang="en-GB" altLang="en-US" b="0" dirty="0">
                  <a:solidFill>
                    <a:schemeClr val="bg1"/>
                  </a:solidFill>
                  <a:latin typeface="Roboto" panose="02000000000000000000" pitchFamily="2" charset="0"/>
                  <a:ea typeface="Roboto" panose="02000000000000000000" pitchFamily="2" charset="0"/>
                  <a:cs typeface="Roboto" panose="02000000000000000000" pitchFamily="2" charset="0"/>
                </a:rPr>
                <a:t>Quantify</a:t>
              </a:r>
              <a:br>
                <a:rPr lang="en-GB" altLang="en-US" b="0" dirty="0">
                  <a:solidFill>
                    <a:schemeClr val="bg1"/>
                  </a:solidFill>
                  <a:latin typeface="Roboto" panose="02000000000000000000" pitchFamily="2" charset="0"/>
                  <a:ea typeface="Roboto" panose="02000000000000000000" pitchFamily="2" charset="0"/>
                  <a:cs typeface="Roboto" panose="02000000000000000000" pitchFamily="2" charset="0"/>
                </a:rPr>
              </a:br>
              <a:r>
                <a:rPr lang="en-GB" altLang="en-US" b="0" dirty="0">
                  <a:solidFill>
                    <a:schemeClr val="bg1"/>
                  </a:solidFill>
                  <a:latin typeface="Roboto" panose="02000000000000000000" pitchFamily="2" charset="0"/>
                  <a:ea typeface="Roboto" panose="02000000000000000000" pitchFamily="2" charset="0"/>
                  <a:cs typeface="Roboto" panose="02000000000000000000" pitchFamily="2" charset="0"/>
                </a:rPr>
                <a:t>Problems</a:t>
              </a:r>
            </a:p>
          </p:txBody>
        </p:sp>
      </p:grpSp>
      <p:sp>
        <p:nvSpPr>
          <p:cNvPr id="21" name="TextBox 20">
            <a:extLst>
              <a:ext uri="{FF2B5EF4-FFF2-40B4-BE49-F238E27FC236}">
                <a16:creationId xmlns:a16="http://schemas.microsoft.com/office/drawing/2014/main" id="{10B5FDB0-69A3-53E9-075B-3AFED0C7EC5A}"/>
              </a:ext>
            </a:extLst>
          </p:cNvPr>
          <p:cNvSpPr txBox="1"/>
          <p:nvPr/>
        </p:nvSpPr>
        <p:spPr>
          <a:xfrm>
            <a:off x="2685883" y="3359235"/>
            <a:ext cx="1337110" cy="8412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t">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2400" b="1" i="0" u="none" strike="noStrike" cap="none" spc="0" normalizeH="0" baseline="0" dirty="0">
                <a:ln>
                  <a:noFill/>
                </a:ln>
                <a:solidFill>
                  <a:schemeClr val="bg1"/>
                </a:solidFill>
                <a:effectLst/>
                <a:uFillTx/>
                <a:latin typeface="Roboto" panose="02000000000000000000" pitchFamily="2" charset="0"/>
                <a:ea typeface="Roboto" panose="02000000000000000000" pitchFamily="2" charset="0"/>
                <a:cs typeface="Roboto" panose="02000000000000000000" pitchFamily="2" charset="0"/>
                <a:sym typeface="Roboto"/>
              </a:rPr>
              <a:t>Kaizen </a:t>
            </a:r>
          </a:p>
          <a:p>
            <a:pPr marL="0" marR="0" indent="0" algn="ctr" defTabSz="825500" rtl="0" fontAlgn="auto" latinLnBrk="0" hangingPunct="0">
              <a:lnSpc>
                <a:spcPct val="100000"/>
              </a:lnSpc>
              <a:spcBef>
                <a:spcPts val="0"/>
              </a:spcBef>
              <a:spcAft>
                <a:spcPts val="0"/>
              </a:spcAft>
              <a:buClrTx/>
              <a:buSzTx/>
              <a:buFontTx/>
              <a:buNone/>
              <a:tabLst/>
            </a:pPr>
            <a:r>
              <a:rPr kumimoji="0" lang="en-US" sz="2400" b="1" i="0" u="none" strike="noStrike" cap="none" spc="0" normalizeH="0" baseline="0" dirty="0">
                <a:ln>
                  <a:noFill/>
                </a:ln>
                <a:solidFill>
                  <a:schemeClr val="bg1"/>
                </a:solidFill>
                <a:effectLst/>
                <a:uFillTx/>
                <a:latin typeface="Roboto" panose="02000000000000000000" pitchFamily="2" charset="0"/>
                <a:ea typeface="Roboto" panose="02000000000000000000" pitchFamily="2" charset="0"/>
                <a:cs typeface="Roboto" panose="02000000000000000000" pitchFamily="2" charset="0"/>
                <a:sym typeface="Roboto"/>
              </a:rPr>
              <a:t>Process</a:t>
            </a:r>
          </a:p>
        </p:txBody>
      </p:sp>
      <p:sp>
        <p:nvSpPr>
          <p:cNvPr id="22" name="Arrow">
            <a:extLst>
              <a:ext uri="{FF2B5EF4-FFF2-40B4-BE49-F238E27FC236}">
                <a16:creationId xmlns:a16="http://schemas.microsoft.com/office/drawing/2014/main" id="{14B28C0A-1D82-BE46-A43E-7EBB6DC0B85E}"/>
              </a:ext>
            </a:extLst>
          </p:cNvPr>
          <p:cNvSpPr/>
          <p:nvPr/>
        </p:nvSpPr>
        <p:spPr>
          <a:xfrm>
            <a:off x="5639196" y="3323059"/>
            <a:ext cx="1226883" cy="913607"/>
          </a:xfrm>
          <a:prstGeom prst="rightArrow">
            <a:avLst>
              <a:gd name="adj1" fmla="val 54641"/>
              <a:gd name="adj2" fmla="val 68352"/>
            </a:avLst>
          </a:prstGeom>
          <a:solidFill>
            <a:srgbClr val="EE3228"/>
          </a:solidFill>
          <a:ln w="12700">
            <a:miter lim="400000"/>
          </a:ln>
        </p:spPr>
        <p:txBody>
          <a:bodyPr lIns="50800" tIns="50800" rIns="50800" bIns="50800" anchor="ctr"/>
          <a:lstStyle/>
          <a:p>
            <a:pPr defTabSz="584200">
              <a:defRPr sz="4000">
                <a:solidFill>
                  <a:srgbClr val="A9AFC3"/>
                </a:solidFill>
                <a:effectLst>
                  <a:outerShdw blurRad="38100" dist="12700" dir="5400000" rotWithShape="0">
                    <a:srgbClr val="000000">
                      <a:alpha val="50000"/>
                    </a:srgbClr>
                  </a:outerShdw>
                </a:effectLst>
              </a:defRPr>
            </a:pPr>
            <a:endParaRPr/>
          </a:p>
        </p:txBody>
      </p:sp>
      <p:sp>
        <p:nvSpPr>
          <p:cNvPr id="26" name="TextBox 25">
            <a:extLst>
              <a:ext uri="{FF2B5EF4-FFF2-40B4-BE49-F238E27FC236}">
                <a16:creationId xmlns:a16="http://schemas.microsoft.com/office/drawing/2014/main" id="{0AAAA218-850B-C21C-4DD7-1318185E6029}"/>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Lean Fundamentals</a:t>
            </a:r>
          </a:p>
        </p:txBody>
      </p:sp>
      <p:sp>
        <p:nvSpPr>
          <p:cNvPr id="4" name="AutoShape 9">
            <a:extLst>
              <a:ext uri="{FF2B5EF4-FFF2-40B4-BE49-F238E27FC236}">
                <a16:creationId xmlns:a16="http://schemas.microsoft.com/office/drawing/2014/main" id="{1CEFEA5C-36A6-C0DC-F790-7D5D0E94C2C2}"/>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11">
            <a:extLst>
              <a:ext uri="{FF2B5EF4-FFF2-40B4-BE49-F238E27FC236}">
                <a16:creationId xmlns:a16="http://schemas.microsoft.com/office/drawing/2014/main" id="{4181510A-DB19-4CCE-DE8E-0F918429583C}"/>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10">
            <a:extLst>
              <a:ext uri="{FF2B5EF4-FFF2-40B4-BE49-F238E27FC236}">
                <a16:creationId xmlns:a16="http://schemas.microsoft.com/office/drawing/2014/main" id="{6EA904A1-8923-A925-BFE4-915E61A182E1}"/>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Tree>
    <p:extLst>
      <p:ext uri="{BB962C8B-B14F-4D97-AF65-F5344CB8AC3E}">
        <p14:creationId xmlns:p14="http://schemas.microsoft.com/office/powerpoint/2010/main" val="259504355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933D00-F243-B3D2-0146-A7F8D16D252B}"/>
              </a:ext>
            </a:extLst>
          </p:cNvPr>
          <p:cNvSpPr>
            <a:spLocks noGrp="1"/>
          </p:cNvSpPr>
          <p:nvPr>
            <p:ph type="title"/>
          </p:nvPr>
        </p:nvSpPr>
        <p:spPr/>
        <p:txBody>
          <a:bodyPr>
            <a:noAutofit/>
          </a:bodyPr>
          <a:lstStyle/>
          <a:p>
            <a:r>
              <a:rPr lang="en-US" sz="4000" dirty="0"/>
              <a:t>Standardization and Kaizen</a:t>
            </a:r>
            <a:endParaRPr lang="en-US" sz="4000"/>
          </a:p>
        </p:txBody>
      </p:sp>
      <p:sp>
        <p:nvSpPr>
          <p:cNvPr id="5" name="Footer Placeholder 4">
            <a:extLst>
              <a:ext uri="{FF2B5EF4-FFF2-40B4-BE49-F238E27FC236}">
                <a16:creationId xmlns:a16="http://schemas.microsoft.com/office/drawing/2014/main" id="{017A104C-D978-CD3B-D535-2585FFEDD37C}"/>
              </a:ext>
            </a:extLst>
          </p:cNvPr>
          <p:cNvSpPr>
            <a:spLocks noGrp="1"/>
          </p:cNvSpPr>
          <p:nvPr>
            <p:ph type="ftr" sz="quarter" idx="11"/>
          </p:nvPr>
        </p:nvSpPr>
        <p:spPr/>
        <p:txBody>
          <a:bodyPr/>
          <a:lstStyle/>
          <a:p>
            <a:r>
              <a:rPr lang="en-US"/>
              <a:t>© Lean Horizons Consulting, LLC 2023. All Rights Reserved</a:t>
            </a:r>
            <a:endParaRPr lang="en-US" dirty="0"/>
          </a:p>
        </p:txBody>
      </p:sp>
      <p:sp>
        <p:nvSpPr>
          <p:cNvPr id="6" name="Slide Number Placeholder 5">
            <a:extLst>
              <a:ext uri="{FF2B5EF4-FFF2-40B4-BE49-F238E27FC236}">
                <a16:creationId xmlns:a16="http://schemas.microsoft.com/office/drawing/2014/main" id="{B9358E55-563D-C67E-6F1C-2D85668924D5}"/>
              </a:ext>
            </a:extLst>
          </p:cNvPr>
          <p:cNvSpPr>
            <a:spLocks noGrp="1"/>
          </p:cNvSpPr>
          <p:nvPr>
            <p:ph type="sldNum" sz="quarter" idx="12"/>
          </p:nvPr>
        </p:nvSpPr>
        <p:spPr/>
        <p:txBody>
          <a:bodyPr/>
          <a:lstStyle/>
          <a:p>
            <a:fld id="{CC6D4273-7FC1-0947-B9FE-19CB3C0D1FB6}" type="slidenum">
              <a:rPr lang="en-US" smtClean="0"/>
              <a:t>39</a:t>
            </a:fld>
            <a:endParaRPr lang="en-US"/>
          </a:p>
        </p:txBody>
      </p:sp>
      <p:grpSp>
        <p:nvGrpSpPr>
          <p:cNvPr id="36" name="Group 35">
            <a:extLst>
              <a:ext uri="{FF2B5EF4-FFF2-40B4-BE49-F238E27FC236}">
                <a16:creationId xmlns:a16="http://schemas.microsoft.com/office/drawing/2014/main" id="{F2F4EBD5-629F-7E0B-0C16-5C94A6A81940}"/>
              </a:ext>
            </a:extLst>
          </p:cNvPr>
          <p:cNvGrpSpPr/>
          <p:nvPr/>
        </p:nvGrpSpPr>
        <p:grpSpPr>
          <a:xfrm>
            <a:off x="942583" y="1809150"/>
            <a:ext cx="9079286" cy="4263429"/>
            <a:chOff x="3751122" y="2385392"/>
            <a:chExt cx="15741721" cy="10263727"/>
          </a:xfrm>
        </p:grpSpPr>
        <p:graphicFrame>
          <p:nvGraphicFramePr>
            <p:cNvPr id="37" name="Chart 36">
              <a:extLst>
                <a:ext uri="{FF2B5EF4-FFF2-40B4-BE49-F238E27FC236}">
                  <a16:creationId xmlns:a16="http://schemas.microsoft.com/office/drawing/2014/main" id="{C19B8E77-CD0B-A007-A4CF-9B1803CF575B}"/>
                </a:ext>
              </a:extLst>
            </p:cNvPr>
            <p:cNvGraphicFramePr/>
            <p:nvPr>
              <p:extLst>
                <p:ext uri="{D42A27DB-BD31-4B8C-83A1-F6EECF244321}">
                  <p14:modId xmlns:p14="http://schemas.microsoft.com/office/powerpoint/2010/main" val="609759398"/>
                </p:ext>
              </p:extLst>
            </p:nvPr>
          </p:nvGraphicFramePr>
          <p:xfrm>
            <a:off x="4891156" y="2385392"/>
            <a:ext cx="14601687" cy="8945217"/>
          </p:xfrm>
          <a:graphic>
            <a:graphicData uri="http://schemas.openxmlformats.org/drawingml/2006/chart">
              <c:chart xmlns:c="http://schemas.openxmlformats.org/drawingml/2006/chart" xmlns:r="http://schemas.openxmlformats.org/officeDocument/2006/relationships" r:id="rId3"/>
            </a:graphicData>
          </a:graphic>
        </p:graphicFrame>
        <p:sp>
          <p:nvSpPr>
            <p:cNvPr id="38" name="TextBox 37">
              <a:extLst>
                <a:ext uri="{FF2B5EF4-FFF2-40B4-BE49-F238E27FC236}">
                  <a16:creationId xmlns:a16="http://schemas.microsoft.com/office/drawing/2014/main" id="{567DCCE6-8FBB-8840-AE88-283764F5BDE1}"/>
                </a:ext>
              </a:extLst>
            </p:cNvPr>
            <p:cNvSpPr txBox="1"/>
            <p:nvPr/>
          </p:nvSpPr>
          <p:spPr>
            <a:xfrm rot="16200000">
              <a:off x="1529627" y="6395523"/>
              <a:ext cx="5367940" cy="92494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effectLst/>
                  <a:uFillTx/>
                  <a:latin typeface="Roboto" panose="02000000000000000000" pitchFamily="2" charset="0"/>
                  <a:ea typeface="Roboto" panose="02000000000000000000" pitchFamily="2" charset="0"/>
                  <a:cs typeface="Roboto" panose="02000000000000000000" pitchFamily="2" charset="0"/>
                  <a:sym typeface="Roboto"/>
                </a:rPr>
                <a:t>Improvement</a:t>
              </a:r>
            </a:p>
          </p:txBody>
        </p:sp>
        <p:sp>
          <p:nvSpPr>
            <p:cNvPr id="39" name="TextBox 38">
              <a:extLst>
                <a:ext uri="{FF2B5EF4-FFF2-40B4-BE49-F238E27FC236}">
                  <a16:creationId xmlns:a16="http://schemas.microsoft.com/office/drawing/2014/main" id="{6B8409BA-49DA-DE6F-D500-274990A7ED6C}"/>
                </a:ext>
              </a:extLst>
            </p:cNvPr>
            <p:cNvSpPr txBox="1"/>
            <p:nvPr/>
          </p:nvSpPr>
          <p:spPr>
            <a:xfrm>
              <a:off x="11259282" y="11364828"/>
              <a:ext cx="1575862" cy="128429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effectLst/>
                  <a:uFillTx/>
                  <a:latin typeface="Roboto" panose="02000000000000000000" pitchFamily="2" charset="0"/>
                  <a:ea typeface="Roboto" panose="02000000000000000000" pitchFamily="2" charset="0"/>
                  <a:cs typeface="Roboto" panose="02000000000000000000" pitchFamily="2" charset="0"/>
                  <a:sym typeface="Roboto"/>
                </a:rPr>
                <a:t>Time</a:t>
              </a:r>
            </a:p>
          </p:txBody>
        </p:sp>
        <p:sp>
          <p:nvSpPr>
            <p:cNvPr id="40" name="TextBox 39">
              <a:extLst>
                <a:ext uri="{FF2B5EF4-FFF2-40B4-BE49-F238E27FC236}">
                  <a16:creationId xmlns:a16="http://schemas.microsoft.com/office/drawing/2014/main" id="{AAB08206-3A12-74BC-104D-1840AB638BD7}"/>
                </a:ext>
              </a:extLst>
            </p:cNvPr>
            <p:cNvSpPr txBox="1"/>
            <p:nvPr/>
          </p:nvSpPr>
          <p:spPr>
            <a:xfrm>
              <a:off x="5932813" y="9289931"/>
              <a:ext cx="569756" cy="128429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chemeClr val="bg1"/>
                  </a:solidFill>
                  <a:effectLst/>
                  <a:uFillTx/>
                  <a:latin typeface="Roboto" panose="02000000000000000000" pitchFamily="2" charset="0"/>
                  <a:ea typeface="Roboto" panose="02000000000000000000" pitchFamily="2" charset="0"/>
                  <a:cs typeface="Roboto" panose="02000000000000000000" pitchFamily="2" charset="0"/>
                  <a:sym typeface="Roboto"/>
                </a:rPr>
                <a:t>K</a:t>
              </a:r>
            </a:p>
          </p:txBody>
        </p:sp>
        <p:sp>
          <p:nvSpPr>
            <p:cNvPr id="41" name="TextBox 40">
              <a:extLst>
                <a:ext uri="{FF2B5EF4-FFF2-40B4-BE49-F238E27FC236}">
                  <a16:creationId xmlns:a16="http://schemas.microsoft.com/office/drawing/2014/main" id="{00374944-59B8-1B83-C5D9-BD0FB63300E9}"/>
                </a:ext>
              </a:extLst>
            </p:cNvPr>
            <p:cNvSpPr txBox="1"/>
            <p:nvPr/>
          </p:nvSpPr>
          <p:spPr>
            <a:xfrm>
              <a:off x="8872866" y="7891063"/>
              <a:ext cx="569755" cy="128429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chemeClr val="bg1"/>
                  </a:solidFill>
                  <a:effectLst/>
                  <a:uFillTx/>
                  <a:latin typeface="Roboto" panose="02000000000000000000" pitchFamily="2" charset="0"/>
                  <a:ea typeface="Roboto" panose="02000000000000000000" pitchFamily="2" charset="0"/>
                  <a:cs typeface="Roboto" panose="02000000000000000000" pitchFamily="2" charset="0"/>
                  <a:sym typeface="Roboto"/>
                </a:rPr>
                <a:t>K</a:t>
              </a:r>
            </a:p>
          </p:txBody>
        </p:sp>
        <p:sp>
          <p:nvSpPr>
            <p:cNvPr id="42" name="TextBox 41">
              <a:extLst>
                <a:ext uri="{FF2B5EF4-FFF2-40B4-BE49-F238E27FC236}">
                  <a16:creationId xmlns:a16="http://schemas.microsoft.com/office/drawing/2014/main" id="{60EC1D8C-352F-0A3D-6D9E-7EB41A243144}"/>
                </a:ext>
              </a:extLst>
            </p:cNvPr>
            <p:cNvSpPr txBox="1"/>
            <p:nvPr/>
          </p:nvSpPr>
          <p:spPr>
            <a:xfrm>
              <a:off x="11657596" y="6518589"/>
              <a:ext cx="569755" cy="128429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chemeClr val="bg1"/>
                  </a:solidFill>
                  <a:effectLst/>
                  <a:uFillTx/>
                  <a:latin typeface="Roboto" panose="02000000000000000000" pitchFamily="2" charset="0"/>
                  <a:ea typeface="Roboto" panose="02000000000000000000" pitchFamily="2" charset="0"/>
                  <a:cs typeface="Roboto" panose="02000000000000000000" pitchFamily="2" charset="0"/>
                  <a:sym typeface="Roboto"/>
                </a:rPr>
                <a:t>K</a:t>
              </a:r>
            </a:p>
          </p:txBody>
        </p:sp>
        <p:sp>
          <p:nvSpPr>
            <p:cNvPr id="43" name="TextBox 42">
              <a:extLst>
                <a:ext uri="{FF2B5EF4-FFF2-40B4-BE49-F238E27FC236}">
                  <a16:creationId xmlns:a16="http://schemas.microsoft.com/office/drawing/2014/main" id="{57888E94-1238-7E93-2C5F-D6D95B519AEE}"/>
                </a:ext>
              </a:extLst>
            </p:cNvPr>
            <p:cNvSpPr txBox="1"/>
            <p:nvPr/>
          </p:nvSpPr>
          <p:spPr>
            <a:xfrm>
              <a:off x="14490934" y="5002600"/>
              <a:ext cx="569755" cy="128429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chemeClr val="bg1"/>
                  </a:solidFill>
                  <a:effectLst/>
                  <a:uFillTx/>
                  <a:latin typeface="Roboto" panose="02000000000000000000" pitchFamily="2" charset="0"/>
                  <a:ea typeface="Roboto" panose="02000000000000000000" pitchFamily="2" charset="0"/>
                  <a:cs typeface="Roboto" panose="02000000000000000000" pitchFamily="2" charset="0"/>
                  <a:sym typeface="Roboto"/>
                </a:rPr>
                <a:t>K</a:t>
              </a:r>
            </a:p>
          </p:txBody>
        </p:sp>
        <p:sp>
          <p:nvSpPr>
            <p:cNvPr id="44" name="TextBox 43">
              <a:extLst>
                <a:ext uri="{FF2B5EF4-FFF2-40B4-BE49-F238E27FC236}">
                  <a16:creationId xmlns:a16="http://schemas.microsoft.com/office/drawing/2014/main" id="{77EE9748-F5E5-BD25-0108-09AFA683EE27}"/>
                </a:ext>
              </a:extLst>
            </p:cNvPr>
            <p:cNvSpPr txBox="1"/>
            <p:nvPr/>
          </p:nvSpPr>
          <p:spPr>
            <a:xfrm>
              <a:off x="17456158" y="3607860"/>
              <a:ext cx="569755" cy="128429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chemeClr val="bg1"/>
                  </a:solidFill>
                  <a:effectLst/>
                  <a:uFillTx/>
                  <a:latin typeface="Roboto" panose="02000000000000000000" pitchFamily="2" charset="0"/>
                  <a:ea typeface="Roboto" panose="02000000000000000000" pitchFamily="2" charset="0"/>
                  <a:cs typeface="Roboto" panose="02000000000000000000" pitchFamily="2" charset="0"/>
                  <a:sym typeface="Roboto"/>
                </a:rPr>
                <a:t>K</a:t>
              </a:r>
            </a:p>
          </p:txBody>
        </p:sp>
        <p:sp>
          <p:nvSpPr>
            <p:cNvPr id="45" name="TextBox 44">
              <a:extLst>
                <a:ext uri="{FF2B5EF4-FFF2-40B4-BE49-F238E27FC236}">
                  <a16:creationId xmlns:a16="http://schemas.microsoft.com/office/drawing/2014/main" id="{DE8BBB2C-6406-179C-EE2C-4E0362297A4B}"/>
                </a:ext>
              </a:extLst>
            </p:cNvPr>
            <p:cNvSpPr txBox="1"/>
            <p:nvPr/>
          </p:nvSpPr>
          <p:spPr>
            <a:xfrm>
              <a:off x="10095102" y="8899821"/>
              <a:ext cx="569755" cy="128429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chemeClr val="bg1"/>
                  </a:solidFill>
                  <a:effectLst/>
                  <a:uFillTx/>
                  <a:latin typeface="Roboto" panose="02000000000000000000" pitchFamily="2" charset="0"/>
                  <a:ea typeface="Roboto" panose="02000000000000000000" pitchFamily="2" charset="0"/>
                  <a:cs typeface="Roboto" panose="02000000000000000000" pitchFamily="2" charset="0"/>
                  <a:sym typeface="Roboto"/>
                </a:rPr>
                <a:t>K</a:t>
              </a:r>
            </a:p>
          </p:txBody>
        </p:sp>
        <p:sp>
          <p:nvSpPr>
            <p:cNvPr id="46" name="TextBox 45">
              <a:extLst>
                <a:ext uri="{FF2B5EF4-FFF2-40B4-BE49-F238E27FC236}">
                  <a16:creationId xmlns:a16="http://schemas.microsoft.com/office/drawing/2014/main" id="{6924ABCE-53C4-08AB-106E-74646D1763A7}"/>
                </a:ext>
              </a:extLst>
            </p:cNvPr>
            <p:cNvSpPr txBox="1"/>
            <p:nvPr/>
          </p:nvSpPr>
          <p:spPr>
            <a:xfrm>
              <a:off x="13212059" y="8899819"/>
              <a:ext cx="569755" cy="128429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chemeClr val="bg1"/>
                  </a:solidFill>
                  <a:effectLst/>
                  <a:uFillTx/>
                  <a:latin typeface="Roboto" panose="02000000000000000000" pitchFamily="2" charset="0"/>
                  <a:ea typeface="Roboto" panose="02000000000000000000" pitchFamily="2" charset="0"/>
                  <a:cs typeface="Roboto" panose="02000000000000000000" pitchFamily="2" charset="0"/>
                  <a:sym typeface="Roboto"/>
                </a:rPr>
                <a:t>K</a:t>
              </a:r>
            </a:p>
          </p:txBody>
        </p:sp>
        <p:sp>
          <p:nvSpPr>
            <p:cNvPr id="47" name="TextBox 46">
              <a:extLst>
                <a:ext uri="{FF2B5EF4-FFF2-40B4-BE49-F238E27FC236}">
                  <a16:creationId xmlns:a16="http://schemas.microsoft.com/office/drawing/2014/main" id="{34F69AF5-61C6-F560-7E04-96F82593134E}"/>
                </a:ext>
              </a:extLst>
            </p:cNvPr>
            <p:cNvSpPr txBox="1"/>
            <p:nvPr/>
          </p:nvSpPr>
          <p:spPr>
            <a:xfrm>
              <a:off x="17400867" y="8616038"/>
              <a:ext cx="569755" cy="128429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chemeClr val="bg1"/>
                  </a:solidFill>
                  <a:effectLst/>
                  <a:uFillTx/>
                  <a:latin typeface="Roboto" panose="02000000000000000000" pitchFamily="2" charset="0"/>
                  <a:ea typeface="Roboto" panose="02000000000000000000" pitchFamily="2" charset="0"/>
                  <a:cs typeface="Roboto" panose="02000000000000000000" pitchFamily="2" charset="0"/>
                  <a:sym typeface="Roboto"/>
                </a:rPr>
                <a:t>K</a:t>
              </a:r>
            </a:p>
          </p:txBody>
        </p:sp>
      </p:grpSp>
      <p:sp>
        <p:nvSpPr>
          <p:cNvPr id="18" name="TextBox 17">
            <a:extLst>
              <a:ext uri="{FF2B5EF4-FFF2-40B4-BE49-F238E27FC236}">
                <a16:creationId xmlns:a16="http://schemas.microsoft.com/office/drawing/2014/main" id="{531AF0A2-1C22-377F-1738-1585CFFAC4D1}"/>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Lean Fundamentals</a:t>
            </a:r>
          </a:p>
        </p:txBody>
      </p:sp>
      <p:sp>
        <p:nvSpPr>
          <p:cNvPr id="3" name="AutoShape 9">
            <a:extLst>
              <a:ext uri="{FF2B5EF4-FFF2-40B4-BE49-F238E27FC236}">
                <a16:creationId xmlns:a16="http://schemas.microsoft.com/office/drawing/2014/main" id="{DBA40097-4C1B-83E8-45BE-5040B3F171D9}"/>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4" name="AutoShape 11">
            <a:extLst>
              <a:ext uri="{FF2B5EF4-FFF2-40B4-BE49-F238E27FC236}">
                <a16:creationId xmlns:a16="http://schemas.microsoft.com/office/drawing/2014/main" id="{AFC2CB7E-3765-96BE-23E8-6612625E3E04}"/>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10">
            <a:extLst>
              <a:ext uri="{FF2B5EF4-FFF2-40B4-BE49-F238E27FC236}">
                <a16:creationId xmlns:a16="http://schemas.microsoft.com/office/drawing/2014/main" id="{15E4C610-6224-D3F9-C62A-6617BEA5CC5F}"/>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Tree>
    <p:extLst>
      <p:ext uri="{BB962C8B-B14F-4D97-AF65-F5344CB8AC3E}">
        <p14:creationId xmlns:p14="http://schemas.microsoft.com/office/powerpoint/2010/main" val="229260871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D59612-57A7-4226-15D4-E621CF0130AB}"/>
              </a:ext>
            </a:extLst>
          </p:cNvPr>
          <p:cNvSpPr>
            <a:spLocks noGrp="1"/>
          </p:cNvSpPr>
          <p:nvPr>
            <p:ph type="title"/>
          </p:nvPr>
        </p:nvSpPr>
        <p:spPr/>
        <p:txBody>
          <a:bodyPr>
            <a:normAutofit/>
          </a:bodyPr>
          <a:lstStyle/>
          <a:p>
            <a:r>
              <a:rPr lang="en-US" sz="4000" dirty="0">
                <a:latin typeface="Roboto Medium"/>
                <a:ea typeface="Roboto Medium"/>
                <a:cs typeface="Roboto Medium"/>
              </a:rPr>
              <a:t>Waste Elimination Tools</a:t>
            </a:r>
          </a:p>
        </p:txBody>
      </p:sp>
      <p:sp>
        <p:nvSpPr>
          <p:cNvPr id="4" name="Footer Placeholder 3">
            <a:extLst>
              <a:ext uri="{FF2B5EF4-FFF2-40B4-BE49-F238E27FC236}">
                <a16:creationId xmlns:a16="http://schemas.microsoft.com/office/drawing/2014/main" id="{CB1F8C30-D81C-1E27-D266-2BC421C72FD6}"/>
              </a:ext>
            </a:extLst>
          </p:cNvPr>
          <p:cNvSpPr>
            <a:spLocks noGrp="1"/>
          </p:cNvSpPr>
          <p:nvPr>
            <p:ph type="ftr" sz="quarter" idx="11"/>
          </p:nvPr>
        </p:nvSpPr>
        <p:spPr/>
        <p:txBody>
          <a:bodyPr/>
          <a:lstStyle/>
          <a:p>
            <a:r>
              <a:rPr lang="en-US"/>
              <a:t>© Lean Horizons Consulting, LLC 2023. All Rights Reserved</a:t>
            </a:r>
            <a:endParaRPr lang="en-US" dirty="0"/>
          </a:p>
        </p:txBody>
      </p:sp>
      <p:sp>
        <p:nvSpPr>
          <p:cNvPr id="5" name="Slide Number Placeholder 4">
            <a:extLst>
              <a:ext uri="{FF2B5EF4-FFF2-40B4-BE49-F238E27FC236}">
                <a16:creationId xmlns:a16="http://schemas.microsoft.com/office/drawing/2014/main" id="{1AA34B74-93DA-5F21-CF4A-77FE692D026C}"/>
              </a:ext>
            </a:extLst>
          </p:cNvPr>
          <p:cNvSpPr>
            <a:spLocks noGrp="1"/>
          </p:cNvSpPr>
          <p:nvPr>
            <p:ph type="sldNum" sz="quarter" idx="12"/>
          </p:nvPr>
        </p:nvSpPr>
        <p:spPr/>
        <p:txBody>
          <a:bodyPr/>
          <a:lstStyle/>
          <a:p>
            <a:fld id="{CC6D4273-7FC1-0947-B9FE-19CB3C0D1FB6}" type="slidenum">
              <a:rPr lang="en-US" smtClean="0"/>
              <a:t>40</a:t>
            </a:fld>
            <a:endParaRPr lang="en-US"/>
          </a:p>
        </p:txBody>
      </p:sp>
      <p:grpSp>
        <p:nvGrpSpPr>
          <p:cNvPr id="17" name="Group 16">
            <a:extLst>
              <a:ext uri="{FF2B5EF4-FFF2-40B4-BE49-F238E27FC236}">
                <a16:creationId xmlns:a16="http://schemas.microsoft.com/office/drawing/2014/main" id="{370E2D67-D7AB-B197-3AFC-FE1AD0717D3B}"/>
              </a:ext>
            </a:extLst>
          </p:cNvPr>
          <p:cNvGrpSpPr/>
          <p:nvPr/>
        </p:nvGrpSpPr>
        <p:grpSpPr>
          <a:xfrm>
            <a:off x="874095" y="2079888"/>
            <a:ext cx="10443809" cy="3771699"/>
            <a:chOff x="1201607" y="2209658"/>
            <a:chExt cx="22392167" cy="9152700"/>
          </a:xfrm>
          <a:solidFill>
            <a:schemeClr val="bg1">
              <a:lumMod val="50000"/>
            </a:schemeClr>
          </a:solidFill>
        </p:grpSpPr>
        <p:sp>
          <p:nvSpPr>
            <p:cNvPr id="18" name="Rectangle 17">
              <a:extLst>
                <a:ext uri="{FF2B5EF4-FFF2-40B4-BE49-F238E27FC236}">
                  <a16:creationId xmlns:a16="http://schemas.microsoft.com/office/drawing/2014/main" id="{D20F1A36-69B1-BB79-6BF6-C93AC874BD1C}"/>
                </a:ext>
              </a:extLst>
            </p:cNvPr>
            <p:cNvSpPr/>
            <p:nvPr/>
          </p:nvSpPr>
          <p:spPr>
            <a:xfrm>
              <a:off x="1201607" y="2209658"/>
              <a:ext cx="10972800" cy="914400"/>
            </a:xfrm>
            <a:prstGeom prst="rect">
              <a:avLst/>
            </a:prstGeom>
            <a:grp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58738" lvl="2" algn="l" defTabSz="584200"/>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Visual Management</a:t>
              </a:r>
            </a:p>
          </p:txBody>
        </p:sp>
        <p:sp>
          <p:nvSpPr>
            <p:cNvPr id="19" name="Rectangle 18">
              <a:extLst>
                <a:ext uri="{FF2B5EF4-FFF2-40B4-BE49-F238E27FC236}">
                  <a16:creationId xmlns:a16="http://schemas.microsoft.com/office/drawing/2014/main" id="{4B354A32-F11A-EC6B-FA55-F0AD6D424609}"/>
                </a:ext>
              </a:extLst>
            </p:cNvPr>
            <p:cNvSpPr/>
            <p:nvPr/>
          </p:nvSpPr>
          <p:spPr>
            <a:xfrm>
              <a:off x="1201607" y="3582708"/>
              <a:ext cx="10972800" cy="914400"/>
            </a:xfrm>
            <a:prstGeom prst="rect">
              <a:avLst/>
            </a:prstGeom>
            <a:grp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5S</a:t>
              </a:r>
            </a:p>
          </p:txBody>
        </p:sp>
        <p:sp>
          <p:nvSpPr>
            <p:cNvPr id="20" name="Rectangle 19">
              <a:extLst>
                <a:ext uri="{FF2B5EF4-FFF2-40B4-BE49-F238E27FC236}">
                  <a16:creationId xmlns:a16="http://schemas.microsoft.com/office/drawing/2014/main" id="{A1F828CC-F6DF-0463-F1BA-C6709B8ED0C5}"/>
                </a:ext>
              </a:extLst>
            </p:cNvPr>
            <p:cNvSpPr/>
            <p:nvPr/>
          </p:nvSpPr>
          <p:spPr>
            <a:xfrm>
              <a:off x="1201607" y="4955758"/>
              <a:ext cx="10972800" cy="914400"/>
            </a:xfrm>
            <a:prstGeom prst="rect">
              <a:avLst/>
            </a:prstGeom>
            <a:grp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Standard Work</a:t>
              </a:r>
            </a:p>
          </p:txBody>
        </p:sp>
        <p:sp>
          <p:nvSpPr>
            <p:cNvPr id="21" name="Rectangle 20">
              <a:extLst>
                <a:ext uri="{FF2B5EF4-FFF2-40B4-BE49-F238E27FC236}">
                  <a16:creationId xmlns:a16="http://schemas.microsoft.com/office/drawing/2014/main" id="{45E07FDE-E0CF-F967-4F1D-9E5D72243C02}"/>
                </a:ext>
              </a:extLst>
            </p:cNvPr>
            <p:cNvSpPr/>
            <p:nvPr/>
          </p:nvSpPr>
          <p:spPr>
            <a:xfrm>
              <a:off x="1201607" y="6328808"/>
              <a:ext cx="10972800" cy="914400"/>
            </a:xfrm>
            <a:prstGeom prst="rect">
              <a:avLst/>
            </a:prstGeom>
            <a:grp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Kanban</a:t>
              </a:r>
            </a:p>
          </p:txBody>
        </p:sp>
        <p:sp>
          <p:nvSpPr>
            <p:cNvPr id="22" name="Rectangle 21">
              <a:extLst>
                <a:ext uri="{FF2B5EF4-FFF2-40B4-BE49-F238E27FC236}">
                  <a16:creationId xmlns:a16="http://schemas.microsoft.com/office/drawing/2014/main" id="{F7A1A823-24E0-01DD-762F-8013148C49AD}"/>
                </a:ext>
              </a:extLst>
            </p:cNvPr>
            <p:cNvSpPr/>
            <p:nvPr/>
          </p:nvSpPr>
          <p:spPr>
            <a:xfrm>
              <a:off x="12620974" y="2209658"/>
              <a:ext cx="10972800" cy="914400"/>
            </a:xfrm>
            <a:prstGeom prst="rect">
              <a:avLst/>
            </a:prstGeom>
            <a:grp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CEDAC</a:t>
              </a:r>
            </a:p>
          </p:txBody>
        </p:sp>
        <p:sp>
          <p:nvSpPr>
            <p:cNvPr id="23" name="Rectangle 22">
              <a:extLst>
                <a:ext uri="{FF2B5EF4-FFF2-40B4-BE49-F238E27FC236}">
                  <a16:creationId xmlns:a16="http://schemas.microsoft.com/office/drawing/2014/main" id="{42BBCC70-7D0F-2DD5-8FF6-A56F11CC85CC}"/>
                </a:ext>
              </a:extLst>
            </p:cNvPr>
            <p:cNvSpPr/>
            <p:nvPr/>
          </p:nvSpPr>
          <p:spPr>
            <a:xfrm>
              <a:off x="12620974" y="3582708"/>
              <a:ext cx="10972800" cy="914400"/>
            </a:xfrm>
            <a:prstGeom prst="rect">
              <a:avLst/>
            </a:prstGeom>
            <a:grp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err="1">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Jidoka</a:t>
              </a: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 and </a:t>
              </a:r>
              <a:r>
                <a:rPr kumimoji="0" lang="en-US" sz="2000" b="0" i="0" u="none" strike="noStrike" cap="none" spc="0" normalizeH="0" baseline="0" dirty="0" err="1">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Poka</a:t>
              </a: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 Yoke</a:t>
              </a:r>
            </a:p>
          </p:txBody>
        </p:sp>
        <p:sp>
          <p:nvSpPr>
            <p:cNvPr id="24" name="Rectangle 23">
              <a:extLst>
                <a:ext uri="{FF2B5EF4-FFF2-40B4-BE49-F238E27FC236}">
                  <a16:creationId xmlns:a16="http://schemas.microsoft.com/office/drawing/2014/main" id="{29F4381C-70CE-AA91-5383-92AEBE147D2D}"/>
                </a:ext>
              </a:extLst>
            </p:cNvPr>
            <p:cNvSpPr/>
            <p:nvPr/>
          </p:nvSpPr>
          <p:spPr>
            <a:xfrm>
              <a:off x="12620974" y="4955758"/>
              <a:ext cx="10972800" cy="914400"/>
            </a:xfrm>
            <a:prstGeom prst="rect">
              <a:avLst/>
            </a:prstGeom>
            <a:grp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SMED</a:t>
              </a:r>
            </a:p>
          </p:txBody>
        </p:sp>
        <p:sp>
          <p:nvSpPr>
            <p:cNvPr id="25" name="Rectangle 24">
              <a:extLst>
                <a:ext uri="{FF2B5EF4-FFF2-40B4-BE49-F238E27FC236}">
                  <a16:creationId xmlns:a16="http://schemas.microsoft.com/office/drawing/2014/main" id="{4DC4F5FC-D80C-F5BE-2885-A1E758F653A2}"/>
                </a:ext>
              </a:extLst>
            </p:cNvPr>
            <p:cNvSpPr/>
            <p:nvPr/>
          </p:nvSpPr>
          <p:spPr>
            <a:xfrm>
              <a:off x="12620974" y="6328808"/>
              <a:ext cx="10972800" cy="914400"/>
            </a:xfrm>
            <a:prstGeom prst="rect">
              <a:avLst/>
            </a:prstGeom>
            <a:grp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Total Productive Maintenance</a:t>
              </a:r>
            </a:p>
          </p:txBody>
        </p:sp>
        <p:sp>
          <p:nvSpPr>
            <p:cNvPr id="26" name="Rectangle 25">
              <a:extLst>
                <a:ext uri="{FF2B5EF4-FFF2-40B4-BE49-F238E27FC236}">
                  <a16:creationId xmlns:a16="http://schemas.microsoft.com/office/drawing/2014/main" id="{DCB08230-4BF6-0340-2AD2-5774E173F8D8}"/>
                </a:ext>
              </a:extLst>
            </p:cNvPr>
            <p:cNvSpPr/>
            <p:nvPr/>
          </p:nvSpPr>
          <p:spPr>
            <a:xfrm>
              <a:off x="1201607" y="7701858"/>
              <a:ext cx="10972800" cy="914400"/>
            </a:xfrm>
            <a:prstGeom prst="rect">
              <a:avLst/>
            </a:prstGeom>
            <a:grp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Problem Solving</a:t>
              </a:r>
            </a:p>
          </p:txBody>
        </p:sp>
        <p:sp>
          <p:nvSpPr>
            <p:cNvPr id="27" name="Rectangle 26">
              <a:extLst>
                <a:ext uri="{FF2B5EF4-FFF2-40B4-BE49-F238E27FC236}">
                  <a16:creationId xmlns:a16="http://schemas.microsoft.com/office/drawing/2014/main" id="{C71E133C-C2BA-B594-2F6B-16BADE5887AB}"/>
                </a:ext>
              </a:extLst>
            </p:cNvPr>
            <p:cNvSpPr/>
            <p:nvPr/>
          </p:nvSpPr>
          <p:spPr>
            <a:xfrm>
              <a:off x="1201607" y="9074908"/>
              <a:ext cx="10972800" cy="914400"/>
            </a:xfrm>
            <a:prstGeom prst="rect">
              <a:avLst/>
            </a:prstGeom>
            <a:grp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Production Preparation Process (3P)</a:t>
              </a:r>
            </a:p>
          </p:txBody>
        </p:sp>
        <p:sp>
          <p:nvSpPr>
            <p:cNvPr id="28" name="Rectangle 27">
              <a:extLst>
                <a:ext uri="{FF2B5EF4-FFF2-40B4-BE49-F238E27FC236}">
                  <a16:creationId xmlns:a16="http://schemas.microsoft.com/office/drawing/2014/main" id="{15D883AF-2D1C-40E5-E845-E5837FD30DA6}"/>
                </a:ext>
              </a:extLst>
            </p:cNvPr>
            <p:cNvSpPr/>
            <p:nvPr/>
          </p:nvSpPr>
          <p:spPr>
            <a:xfrm>
              <a:off x="12620974" y="7701858"/>
              <a:ext cx="10972800" cy="914400"/>
            </a:xfrm>
            <a:prstGeom prst="rect">
              <a:avLst/>
            </a:prstGeom>
            <a:grp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Cell Design</a:t>
              </a:r>
            </a:p>
          </p:txBody>
        </p:sp>
        <p:sp>
          <p:nvSpPr>
            <p:cNvPr id="29" name="Rectangle 28">
              <a:extLst>
                <a:ext uri="{FF2B5EF4-FFF2-40B4-BE49-F238E27FC236}">
                  <a16:creationId xmlns:a16="http://schemas.microsoft.com/office/drawing/2014/main" id="{4CF48DFE-0394-C9E2-90F5-0FC76FF180F8}"/>
                </a:ext>
              </a:extLst>
            </p:cNvPr>
            <p:cNvSpPr/>
            <p:nvPr/>
          </p:nvSpPr>
          <p:spPr>
            <a:xfrm>
              <a:off x="12620974" y="9074908"/>
              <a:ext cx="10972800" cy="914400"/>
            </a:xfrm>
            <a:prstGeom prst="rect">
              <a:avLst/>
            </a:prstGeom>
            <a:grp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Value Stream Mapping (VSM)</a:t>
              </a:r>
            </a:p>
          </p:txBody>
        </p:sp>
        <p:sp>
          <p:nvSpPr>
            <p:cNvPr id="30" name="Rectangle 29">
              <a:extLst>
                <a:ext uri="{FF2B5EF4-FFF2-40B4-BE49-F238E27FC236}">
                  <a16:creationId xmlns:a16="http://schemas.microsoft.com/office/drawing/2014/main" id="{56D8CAF3-483E-91B2-CF0D-AD5B718A4685}"/>
                </a:ext>
              </a:extLst>
            </p:cNvPr>
            <p:cNvSpPr/>
            <p:nvPr/>
          </p:nvSpPr>
          <p:spPr>
            <a:xfrm>
              <a:off x="1201607" y="10447958"/>
              <a:ext cx="10972800" cy="914400"/>
            </a:xfrm>
            <a:prstGeom prst="rect">
              <a:avLst/>
            </a:prstGeom>
            <a:grp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Transaction Process Improvement</a:t>
              </a:r>
            </a:p>
          </p:txBody>
        </p:sp>
      </p:grpSp>
      <p:sp>
        <p:nvSpPr>
          <p:cNvPr id="11" name="Rectangle 10">
            <a:extLst>
              <a:ext uri="{FF2B5EF4-FFF2-40B4-BE49-F238E27FC236}">
                <a16:creationId xmlns:a16="http://schemas.microsoft.com/office/drawing/2014/main" id="{A796E2EB-3ED3-2BFC-ABF7-076DC189B1BA}"/>
              </a:ext>
            </a:extLst>
          </p:cNvPr>
          <p:cNvSpPr/>
          <p:nvPr/>
        </p:nvSpPr>
        <p:spPr>
          <a:xfrm>
            <a:off x="6194187" y="5474775"/>
            <a:ext cx="5117764" cy="376811"/>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Managing Daily Process Excellence</a:t>
            </a:r>
          </a:p>
        </p:txBody>
      </p:sp>
      <p:sp>
        <p:nvSpPr>
          <p:cNvPr id="33" name="TextBox 32">
            <a:extLst>
              <a:ext uri="{FF2B5EF4-FFF2-40B4-BE49-F238E27FC236}">
                <a16:creationId xmlns:a16="http://schemas.microsoft.com/office/drawing/2014/main" id="{9EBED647-0C81-F5E0-5A01-492622DC3144}"/>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Lean Fundamentals</a:t>
            </a:r>
          </a:p>
        </p:txBody>
      </p:sp>
      <p:sp>
        <p:nvSpPr>
          <p:cNvPr id="3" name="AutoShape 9">
            <a:extLst>
              <a:ext uri="{FF2B5EF4-FFF2-40B4-BE49-F238E27FC236}">
                <a16:creationId xmlns:a16="http://schemas.microsoft.com/office/drawing/2014/main" id="{0E77F6B6-4A5E-2660-9CD7-77E07BFC601E}"/>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6" name="AutoShape 11">
            <a:extLst>
              <a:ext uri="{FF2B5EF4-FFF2-40B4-BE49-F238E27FC236}">
                <a16:creationId xmlns:a16="http://schemas.microsoft.com/office/drawing/2014/main" id="{9E7126FA-37F9-CB13-F5F0-D2231C089256}"/>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10">
            <a:extLst>
              <a:ext uri="{FF2B5EF4-FFF2-40B4-BE49-F238E27FC236}">
                <a16:creationId xmlns:a16="http://schemas.microsoft.com/office/drawing/2014/main" id="{0D37F49C-F87F-ABF8-D4B5-C7548DC903C7}"/>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Tree>
    <p:extLst>
      <p:ext uri="{BB962C8B-B14F-4D97-AF65-F5344CB8AC3E}">
        <p14:creationId xmlns:p14="http://schemas.microsoft.com/office/powerpoint/2010/main" val="59454823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D59612-57A7-4226-15D4-E621CF0130AB}"/>
              </a:ext>
            </a:extLst>
          </p:cNvPr>
          <p:cNvSpPr>
            <a:spLocks noGrp="1"/>
          </p:cNvSpPr>
          <p:nvPr>
            <p:ph type="title"/>
          </p:nvPr>
        </p:nvSpPr>
        <p:spPr/>
        <p:txBody>
          <a:bodyPr>
            <a:normAutofit/>
          </a:bodyPr>
          <a:lstStyle/>
          <a:p>
            <a:r>
              <a:rPr lang="en-US" sz="4000" dirty="0">
                <a:latin typeface="Roboto Medium"/>
                <a:ea typeface="Roboto Medium"/>
                <a:cs typeface="Roboto Medium"/>
              </a:rPr>
              <a:t>Waste Elimination Tools</a:t>
            </a:r>
          </a:p>
        </p:txBody>
      </p:sp>
      <p:sp>
        <p:nvSpPr>
          <p:cNvPr id="4" name="Footer Placeholder 3">
            <a:extLst>
              <a:ext uri="{FF2B5EF4-FFF2-40B4-BE49-F238E27FC236}">
                <a16:creationId xmlns:a16="http://schemas.microsoft.com/office/drawing/2014/main" id="{CB1F8C30-D81C-1E27-D266-2BC421C72FD6}"/>
              </a:ext>
            </a:extLst>
          </p:cNvPr>
          <p:cNvSpPr>
            <a:spLocks noGrp="1"/>
          </p:cNvSpPr>
          <p:nvPr>
            <p:ph type="ftr" sz="quarter" idx="11"/>
          </p:nvPr>
        </p:nvSpPr>
        <p:spPr/>
        <p:txBody>
          <a:bodyPr/>
          <a:lstStyle/>
          <a:p>
            <a:r>
              <a:rPr lang="en-US"/>
              <a:t>© Lean Horizons Consulting, LLC 2023. All Rights Reserved</a:t>
            </a:r>
            <a:endParaRPr lang="en-US" dirty="0"/>
          </a:p>
        </p:txBody>
      </p:sp>
      <p:sp>
        <p:nvSpPr>
          <p:cNvPr id="5" name="Slide Number Placeholder 4">
            <a:extLst>
              <a:ext uri="{FF2B5EF4-FFF2-40B4-BE49-F238E27FC236}">
                <a16:creationId xmlns:a16="http://schemas.microsoft.com/office/drawing/2014/main" id="{1AA34B74-93DA-5F21-CF4A-77FE692D026C}"/>
              </a:ext>
            </a:extLst>
          </p:cNvPr>
          <p:cNvSpPr>
            <a:spLocks noGrp="1"/>
          </p:cNvSpPr>
          <p:nvPr>
            <p:ph type="sldNum" sz="quarter" idx="12"/>
          </p:nvPr>
        </p:nvSpPr>
        <p:spPr/>
        <p:txBody>
          <a:bodyPr/>
          <a:lstStyle/>
          <a:p>
            <a:fld id="{CC6D4273-7FC1-0947-B9FE-19CB3C0D1FB6}" type="slidenum">
              <a:rPr lang="en-US" smtClean="0"/>
              <a:t>41</a:t>
            </a:fld>
            <a:endParaRPr lang="en-US"/>
          </a:p>
        </p:txBody>
      </p:sp>
      <p:sp>
        <p:nvSpPr>
          <p:cNvPr id="37" name="TextBox 36">
            <a:extLst>
              <a:ext uri="{FF2B5EF4-FFF2-40B4-BE49-F238E27FC236}">
                <a16:creationId xmlns:a16="http://schemas.microsoft.com/office/drawing/2014/main" id="{0FAB3950-B9FC-BE60-5118-2B23F7E52A69}"/>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Lean Fundamentals</a:t>
            </a:r>
          </a:p>
        </p:txBody>
      </p:sp>
      <p:grpSp>
        <p:nvGrpSpPr>
          <p:cNvPr id="6" name="Group 5">
            <a:extLst>
              <a:ext uri="{FF2B5EF4-FFF2-40B4-BE49-F238E27FC236}">
                <a16:creationId xmlns:a16="http://schemas.microsoft.com/office/drawing/2014/main" id="{757FA64F-8B07-1925-F7E1-2526D489A11D}"/>
              </a:ext>
            </a:extLst>
          </p:cNvPr>
          <p:cNvGrpSpPr/>
          <p:nvPr/>
        </p:nvGrpSpPr>
        <p:grpSpPr>
          <a:xfrm>
            <a:off x="838200" y="1922330"/>
            <a:ext cx="10453534" cy="3771699"/>
            <a:chOff x="838200" y="1765755"/>
            <a:chExt cx="10453534" cy="3771699"/>
          </a:xfrm>
        </p:grpSpPr>
        <p:grpSp>
          <p:nvGrpSpPr>
            <p:cNvPr id="7" name="Group 6">
              <a:extLst>
                <a:ext uri="{FF2B5EF4-FFF2-40B4-BE49-F238E27FC236}">
                  <a16:creationId xmlns:a16="http://schemas.microsoft.com/office/drawing/2014/main" id="{2B5794EA-B238-470C-1138-A47049125ED3}"/>
                </a:ext>
              </a:extLst>
            </p:cNvPr>
            <p:cNvGrpSpPr/>
            <p:nvPr/>
          </p:nvGrpSpPr>
          <p:grpSpPr>
            <a:xfrm>
              <a:off x="838200" y="1765755"/>
              <a:ext cx="10453534" cy="3771695"/>
              <a:chOff x="838200" y="1765756"/>
              <a:chExt cx="22413018" cy="9152700"/>
            </a:xfrm>
          </p:grpSpPr>
          <p:sp>
            <p:nvSpPr>
              <p:cNvPr id="9" name="Rectangle 8">
                <a:extLst>
                  <a:ext uri="{FF2B5EF4-FFF2-40B4-BE49-F238E27FC236}">
                    <a16:creationId xmlns:a16="http://schemas.microsoft.com/office/drawing/2014/main" id="{220FB6BB-BF79-179B-34FC-D6C967D4B310}"/>
                  </a:ext>
                </a:extLst>
              </p:cNvPr>
              <p:cNvSpPr/>
              <p:nvPr/>
            </p:nvSpPr>
            <p:spPr>
              <a:xfrm>
                <a:off x="859051" y="1765756"/>
                <a:ext cx="10972800" cy="914400"/>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0800" tIns="50800" rIns="50800" bIns="50800" numCol="1" spcCol="3810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2" defTabSz="584200" hangingPunct="0"/>
                <a:r>
                  <a:rPr lang="en-US" sz="20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Visual Management</a:t>
                </a:r>
              </a:p>
            </p:txBody>
          </p:sp>
          <p:sp>
            <p:nvSpPr>
              <p:cNvPr id="10" name="Rectangle 9">
                <a:extLst>
                  <a:ext uri="{FF2B5EF4-FFF2-40B4-BE49-F238E27FC236}">
                    <a16:creationId xmlns:a16="http://schemas.microsoft.com/office/drawing/2014/main" id="{ADFF75A6-3BE7-1FCE-601C-D5D747E57DFD}"/>
                  </a:ext>
                </a:extLst>
              </p:cNvPr>
              <p:cNvSpPr/>
              <p:nvPr/>
            </p:nvSpPr>
            <p:spPr>
              <a:xfrm>
                <a:off x="838200" y="3138805"/>
                <a:ext cx="10972800" cy="914399"/>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0800" tIns="50800" rIns="50800" bIns="50800" numCol="1" spcCol="3810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584200" hangingPunct="0"/>
                <a:r>
                  <a:rPr lang="en-US" sz="20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5S</a:t>
                </a:r>
              </a:p>
            </p:txBody>
          </p:sp>
          <p:sp>
            <p:nvSpPr>
              <p:cNvPr id="12" name="Rectangle 11">
                <a:extLst>
                  <a:ext uri="{FF2B5EF4-FFF2-40B4-BE49-F238E27FC236}">
                    <a16:creationId xmlns:a16="http://schemas.microsoft.com/office/drawing/2014/main" id="{3D167B85-4F84-7D10-7E04-CD434144336F}"/>
                  </a:ext>
                </a:extLst>
              </p:cNvPr>
              <p:cNvSpPr/>
              <p:nvPr/>
            </p:nvSpPr>
            <p:spPr>
              <a:xfrm>
                <a:off x="859051" y="4511856"/>
                <a:ext cx="10972800" cy="914400"/>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0800" tIns="50800" rIns="50800" bIns="50800" numCol="1" spcCol="3810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Standard Work</a:t>
                </a:r>
              </a:p>
            </p:txBody>
          </p:sp>
          <p:sp>
            <p:nvSpPr>
              <p:cNvPr id="13" name="Rectangle 12">
                <a:extLst>
                  <a:ext uri="{FF2B5EF4-FFF2-40B4-BE49-F238E27FC236}">
                    <a16:creationId xmlns:a16="http://schemas.microsoft.com/office/drawing/2014/main" id="{ADAA9CF4-8FC9-F51C-882B-AD4D01D4723B}"/>
                  </a:ext>
                </a:extLst>
              </p:cNvPr>
              <p:cNvSpPr/>
              <p:nvPr/>
            </p:nvSpPr>
            <p:spPr>
              <a:xfrm>
                <a:off x="859051" y="5884906"/>
                <a:ext cx="10972800" cy="914400"/>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0800" tIns="50800" rIns="50800" bIns="50800" numCol="1" spcCol="3810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Kanban</a:t>
                </a:r>
              </a:p>
            </p:txBody>
          </p:sp>
          <p:sp>
            <p:nvSpPr>
              <p:cNvPr id="14" name="Rectangle 13">
                <a:extLst>
                  <a:ext uri="{FF2B5EF4-FFF2-40B4-BE49-F238E27FC236}">
                    <a16:creationId xmlns:a16="http://schemas.microsoft.com/office/drawing/2014/main" id="{FA0892CD-3060-F7C9-CDEC-8DBEAFC834E5}"/>
                  </a:ext>
                </a:extLst>
              </p:cNvPr>
              <p:cNvSpPr/>
              <p:nvPr/>
            </p:nvSpPr>
            <p:spPr>
              <a:xfrm>
                <a:off x="12278418" y="1765756"/>
                <a:ext cx="10972800" cy="914400"/>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0800" tIns="50800" rIns="50800" bIns="50800" numCol="1" spcCol="3810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CEDAC</a:t>
                </a:r>
              </a:p>
            </p:txBody>
          </p:sp>
          <p:sp>
            <p:nvSpPr>
              <p:cNvPr id="15" name="Rectangle 14">
                <a:extLst>
                  <a:ext uri="{FF2B5EF4-FFF2-40B4-BE49-F238E27FC236}">
                    <a16:creationId xmlns:a16="http://schemas.microsoft.com/office/drawing/2014/main" id="{BF568981-255F-E2DD-5D68-89048ACAAF5F}"/>
                  </a:ext>
                </a:extLst>
              </p:cNvPr>
              <p:cNvSpPr/>
              <p:nvPr/>
            </p:nvSpPr>
            <p:spPr>
              <a:xfrm>
                <a:off x="12278418" y="3138806"/>
                <a:ext cx="10972800" cy="914400"/>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0800" tIns="50800" rIns="50800" bIns="50800" numCol="1" spcCol="3810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err="1">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Jidoka</a:t>
                </a: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 and Poka Yoke</a:t>
                </a:r>
              </a:p>
            </p:txBody>
          </p:sp>
          <p:sp>
            <p:nvSpPr>
              <p:cNvPr id="16" name="Rectangle 15">
                <a:extLst>
                  <a:ext uri="{FF2B5EF4-FFF2-40B4-BE49-F238E27FC236}">
                    <a16:creationId xmlns:a16="http://schemas.microsoft.com/office/drawing/2014/main" id="{A511C20A-FC32-A130-1257-C1929764859D}"/>
                  </a:ext>
                </a:extLst>
              </p:cNvPr>
              <p:cNvSpPr/>
              <p:nvPr/>
            </p:nvSpPr>
            <p:spPr>
              <a:xfrm>
                <a:off x="12278418" y="4511856"/>
                <a:ext cx="10972800" cy="914400"/>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0800" tIns="50800" rIns="50800" bIns="50800" numCol="1" spcCol="3810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SMED</a:t>
                </a:r>
              </a:p>
            </p:txBody>
          </p:sp>
          <p:sp>
            <p:nvSpPr>
              <p:cNvPr id="31" name="Rectangle 30">
                <a:extLst>
                  <a:ext uri="{FF2B5EF4-FFF2-40B4-BE49-F238E27FC236}">
                    <a16:creationId xmlns:a16="http://schemas.microsoft.com/office/drawing/2014/main" id="{FD1832B5-E842-B0E1-983D-BF7833060383}"/>
                  </a:ext>
                </a:extLst>
              </p:cNvPr>
              <p:cNvSpPr/>
              <p:nvPr/>
            </p:nvSpPr>
            <p:spPr>
              <a:xfrm>
                <a:off x="12278418" y="5884906"/>
                <a:ext cx="10972800" cy="914400"/>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0800" tIns="50800" rIns="50800" bIns="50800" numCol="1" spcCol="3810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Total Productive Maintenance</a:t>
                </a:r>
              </a:p>
            </p:txBody>
          </p:sp>
          <p:sp>
            <p:nvSpPr>
              <p:cNvPr id="32" name="Rectangle 31">
                <a:extLst>
                  <a:ext uri="{FF2B5EF4-FFF2-40B4-BE49-F238E27FC236}">
                    <a16:creationId xmlns:a16="http://schemas.microsoft.com/office/drawing/2014/main" id="{5247E001-F269-588D-7BAB-269B0C2BFBEC}"/>
                  </a:ext>
                </a:extLst>
              </p:cNvPr>
              <p:cNvSpPr/>
              <p:nvPr/>
            </p:nvSpPr>
            <p:spPr>
              <a:xfrm>
                <a:off x="859051" y="7257956"/>
                <a:ext cx="10972800" cy="914400"/>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0800" tIns="50800" rIns="50800" bIns="50800" numCol="1" spcCol="3810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Problem Solving</a:t>
                </a:r>
              </a:p>
            </p:txBody>
          </p:sp>
          <p:sp>
            <p:nvSpPr>
              <p:cNvPr id="33" name="Rectangle 32">
                <a:extLst>
                  <a:ext uri="{FF2B5EF4-FFF2-40B4-BE49-F238E27FC236}">
                    <a16:creationId xmlns:a16="http://schemas.microsoft.com/office/drawing/2014/main" id="{0F7A1E8B-F7CF-24D0-6BF5-B5AFE9A002DB}"/>
                  </a:ext>
                </a:extLst>
              </p:cNvPr>
              <p:cNvSpPr/>
              <p:nvPr/>
            </p:nvSpPr>
            <p:spPr>
              <a:xfrm>
                <a:off x="859051" y="8631006"/>
                <a:ext cx="10972800" cy="914400"/>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0800" tIns="50800" rIns="50800" bIns="50800" numCol="1" spcCol="3810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Production Preparation Process (3P)</a:t>
                </a:r>
              </a:p>
            </p:txBody>
          </p:sp>
          <p:sp>
            <p:nvSpPr>
              <p:cNvPr id="38" name="Rectangle 37">
                <a:extLst>
                  <a:ext uri="{FF2B5EF4-FFF2-40B4-BE49-F238E27FC236}">
                    <a16:creationId xmlns:a16="http://schemas.microsoft.com/office/drawing/2014/main" id="{6E935FC6-FBE6-9EF0-D275-269B4A2C6A6D}"/>
                  </a:ext>
                </a:extLst>
              </p:cNvPr>
              <p:cNvSpPr/>
              <p:nvPr/>
            </p:nvSpPr>
            <p:spPr>
              <a:xfrm>
                <a:off x="12278418" y="7257956"/>
                <a:ext cx="10972800" cy="914400"/>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0800" tIns="50800" rIns="50800" bIns="50800" numCol="1" spcCol="3810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Cell Design</a:t>
                </a:r>
              </a:p>
            </p:txBody>
          </p:sp>
          <p:sp>
            <p:nvSpPr>
              <p:cNvPr id="39" name="Rectangle 38">
                <a:extLst>
                  <a:ext uri="{FF2B5EF4-FFF2-40B4-BE49-F238E27FC236}">
                    <a16:creationId xmlns:a16="http://schemas.microsoft.com/office/drawing/2014/main" id="{26463EDF-08E4-94B6-2394-CEE70674291C}"/>
                  </a:ext>
                </a:extLst>
              </p:cNvPr>
              <p:cNvSpPr/>
              <p:nvPr/>
            </p:nvSpPr>
            <p:spPr>
              <a:xfrm>
                <a:off x="12278418" y="8631006"/>
                <a:ext cx="10972800" cy="914400"/>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0800" tIns="50800" rIns="50800" bIns="50800" numCol="1" spcCol="3810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Value Stream Mapping (VSM)</a:t>
                </a:r>
              </a:p>
            </p:txBody>
          </p:sp>
          <p:sp>
            <p:nvSpPr>
              <p:cNvPr id="40" name="Rectangle 39">
                <a:extLst>
                  <a:ext uri="{FF2B5EF4-FFF2-40B4-BE49-F238E27FC236}">
                    <a16:creationId xmlns:a16="http://schemas.microsoft.com/office/drawing/2014/main" id="{A50C2170-B696-692D-26BC-F0FB62838776}"/>
                  </a:ext>
                </a:extLst>
              </p:cNvPr>
              <p:cNvSpPr/>
              <p:nvPr/>
            </p:nvSpPr>
            <p:spPr>
              <a:xfrm>
                <a:off x="859051" y="10004056"/>
                <a:ext cx="10972800" cy="914400"/>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0800" tIns="50800" rIns="50800" bIns="50800" numCol="1" spcCol="3810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Transaction Process Improvement</a:t>
                </a:r>
              </a:p>
            </p:txBody>
          </p:sp>
        </p:grpSp>
        <p:sp>
          <p:nvSpPr>
            <p:cNvPr id="8" name="Rectangle 7">
              <a:extLst>
                <a:ext uri="{FF2B5EF4-FFF2-40B4-BE49-F238E27FC236}">
                  <a16:creationId xmlns:a16="http://schemas.microsoft.com/office/drawing/2014/main" id="{E8C67DBA-619D-A8F6-032E-5C4CA9AB781B}"/>
                </a:ext>
              </a:extLst>
            </p:cNvPr>
            <p:cNvSpPr/>
            <p:nvPr/>
          </p:nvSpPr>
          <p:spPr>
            <a:xfrm>
              <a:off x="6168017" y="5160643"/>
              <a:ext cx="5117764" cy="376811"/>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0800" tIns="50800" rIns="50800" bIns="50800" numCol="1" spcCol="3810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Managing Daily Process Excellence</a:t>
              </a:r>
            </a:p>
          </p:txBody>
        </p:sp>
      </p:grpSp>
      <p:sp>
        <p:nvSpPr>
          <p:cNvPr id="3" name="AutoShape 9">
            <a:extLst>
              <a:ext uri="{FF2B5EF4-FFF2-40B4-BE49-F238E27FC236}">
                <a16:creationId xmlns:a16="http://schemas.microsoft.com/office/drawing/2014/main" id="{7BA2E74D-A6A8-FDFC-4436-1129D186F3B6}"/>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1" name="AutoShape 11">
            <a:extLst>
              <a:ext uri="{FF2B5EF4-FFF2-40B4-BE49-F238E27FC236}">
                <a16:creationId xmlns:a16="http://schemas.microsoft.com/office/drawing/2014/main" id="{E3759AE6-88B2-6AD2-2454-A65626762E5E}"/>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7" name="AutoShape 10">
            <a:extLst>
              <a:ext uri="{FF2B5EF4-FFF2-40B4-BE49-F238E27FC236}">
                <a16:creationId xmlns:a16="http://schemas.microsoft.com/office/drawing/2014/main" id="{0613AFDE-552C-61A8-87DD-B45CDCA8A277}"/>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Tree>
    <p:extLst>
      <p:ext uri="{BB962C8B-B14F-4D97-AF65-F5344CB8AC3E}">
        <p14:creationId xmlns:p14="http://schemas.microsoft.com/office/powerpoint/2010/main" val="146947741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Rectangle 44">
            <a:extLst>
              <a:ext uri="{FF2B5EF4-FFF2-40B4-BE49-F238E27FC236}">
                <a16:creationId xmlns:a16="http://schemas.microsoft.com/office/drawing/2014/main" id="{1EF5D055-3160-4D32-B338-7A0CA8A606C9}"/>
              </a:ext>
            </a:extLst>
          </p:cNvPr>
          <p:cNvSpPr>
            <a:spLocks noChangeArrowheads="1"/>
          </p:cNvSpPr>
          <p:nvPr/>
        </p:nvSpPr>
        <p:spPr bwMode="auto">
          <a:xfrm>
            <a:off x="7041823" y="2003956"/>
            <a:ext cx="3095625" cy="408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lvl1pPr marL="231775" indent="-231775" defTabSz="708025">
              <a:defRPr sz="900" b="1">
                <a:solidFill>
                  <a:schemeClr val="bg1"/>
                </a:solidFill>
                <a:latin typeface="Arial" panose="020B0604020202020204" pitchFamily="34" charset="0"/>
                <a:ea typeface="MS PGothic" panose="020B0600070205080204" pitchFamily="34" charset="-128"/>
              </a:defRPr>
            </a:lvl1pPr>
            <a:lvl2pPr marL="742950" indent="-285750" defTabSz="708025">
              <a:defRPr sz="900" b="1">
                <a:solidFill>
                  <a:schemeClr val="bg1"/>
                </a:solidFill>
                <a:latin typeface="Arial" panose="020B0604020202020204" pitchFamily="34" charset="0"/>
                <a:ea typeface="MS PGothic" panose="020B0600070205080204" pitchFamily="34" charset="-128"/>
              </a:defRPr>
            </a:lvl2pPr>
            <a:lvl3pPr marL="1143000" indent="-228600" defTabSz="708025">
              <a:defRPr sz="900" b="1">
                <a:solidFill>
                  <a:schemeClr val="bg1"/>
                </a:solidFill>
                <a:latin typeface="Arial" panose="020B0604020202020204" pitchFamily="34" charset="0"/>
                <a:ea typeface="MS PGothic" panose="020B0600070205080204" pitchFamily="34" charset="-128"/>
              </a:defRPr>
            </a:lvl3pPr>
            <a:lvl4pPr marL="1600200" indent="-228600" defTabSz="708025">
              <a:defRPr sz="900" b="1">
                <a:solidFill>
                  <a:schemeClr val="bg1"/>
                </a:solidFill>
                <a:latin typeface="Arial" panose="020B0604020202020204" pitchFamily="34" charset="0"/>
                <a:ea typeface="MS PGothic" panose="020B0600070205080204" pitchFamily="34" charset="-128"/>
              </a:defRPr>
            </a:lvl4pPr>
            <a:lvl5pPr marL="2057400" indent="-228600" defTabSz="708025">
              <a:defRPr sz="900" b="1">
                <a:solidFill>
                  <a:schemeClr val="bg1"/>
                </a:solidFill>
                <a:latin typeface="Arial" panose="020B0604020202020204" pitchFamily="34" charset="0"/>
                <a:ea typeface="MS PGothic" panose="020B0600070205080204" pitchFamily="34" charset="-128"/>
              </a:defRPr>
            </a:lvl5pPr>
            <a:lvl6pPr marL="2514600" indent="-228600" algn="ctr" defTabSz="708025"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defTabSz="708025"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defTabSz="708025"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defTabSz="708025"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15000"/>
              </a:lnSpc>
              <a:spcAft>
                <a:spcPct val="20000"/>
              </a:spcAft>
              <a:buClr>
                <a:schemeClr val="accent1"/>
              </a:buClr>
              <a:buSzPct val="40000"/>
              <a:buFont typeface="Wingdings 2" panose="05020102010507070707" pitchFamily="18" charset="2"/>
              <a:buChar char="¢"/>
            </a:pPr>
            <a:r>
              <a:rPr lang="en-US" altLang="en-US" sz="1800" dirty="0">
                <a:solidFill>
                  <a:schemeClr val="tx1"/>
                </a:solidFill>
                <a:latin typeface="Roboto" panose="02000000000000000000" pitchFamily="2" charset="0"/>
                <a:ea typeface="Roboto" panose="02000000000000000000" pitchFamily="2" charset="0"/>
                <a:cs typeface="Roboto" panose="02000000000000000000" pitchFamily="2" charset="0"/>
              </a:rPr>
              <a:t>Visual Management allows us to separate the Normal from the Abnormal at a glance</a:t>
            </a:r>
          </a:p>
          <a:p>
            <a:pPr algn="l">
              <a:lnSpc>
                <a:spcPct val="115000"/>
              </a:lnSpc>
              <a:spcAft>
                <a:spcPct val="20000"/>
              </a:spcAft>
              <a:buClr>
                <a:schemeClr val="accent1"/>
              </a:buClr>
              <a:buSzPct val="40000"/>
              <a:buFont typeface="Wingdings 2" panose="05020102010507070707" pitchFamily="18" charset="2"/>
              <a:buChar char="¢"/>
            </a:pPr>
            <a:r>
              <a:rPr lang="en-US" altLang="en-US" sz="1800" dirty="0">
                <a:solidFill>
                  <a:schemeClr val="tx1"/>
                </a:solidFill>
                <a:latin typeface="Roboto" panose="02000000000000000000" pitchFamily="2" charset="0"/>
                <a:ea typeface="Roboto" panose="02000000000000000000" pitchFamily="2" charset="0"/>
                <a:cs typeface="Roboto" panose="02000000000000000000" pitchFamily="2" charset="0"/>
              </a:rPr>
              <a:t>This enables any level of the organization to very quickly find the focus for their efforts</a:t>
            </a:r>
          </a:p>
          <a:p>
            <a:pPr algn="l">
              <a:lnSpc>
                <a:spcPct val="115000"/>
              </a:lnSpc>
              <a:spcAft>
                <a:spcPct val="20000"/>
              </a:spcAft>
              <a:buClr>
                <a:schemeClr val="accent1"/>
              </a:buClr>
              <a:buSzPct val="40000"/>
              <a:buFont typeface="Wingdings 2" panose="05020102010507070707" pitchFamily="18" charset="2"/>
              <a:buChar char="¢"/>
            </a:pPr>
            <a:r>
              <a:rPr lang="en-US" altLang="en-US" sz="1800" dirty="0">
                <a:solidFill>
                  <a:schemeClr val="tx1"/>
                </a:solidFill>
                <a:latin typeface="Roboto" panose="02000000000000000000" pitchFamily="2" charset="0"/>
                <a:ea typeface="Roboto" panose="02000000000000000000" pitchFamily="2" charset="0"/>
                <a:cs typeface="Roboto" panose="02000000000000000000" pitchFamily="2" charset="0"/>
              </a:rPr>
              <a:t>If you don</a:t>
            </a:r>
            <a:r>
              <a:rPr lang="ja-JP" altLang="en-US" sz="1800">
                <a:solidFill>
                  <a:schemeClr val="tx1"/>
                </a:solidFill>
                <a:latin typeface="Roboto" panose="02000000000000000000" pitchFamily="2" charset="0"/>
                <a:cs typeface="Roboto" panose="02000000000000000000" pitchFamily="2" charset="0"/>
              </a:rPr>
              <a:t>’</a:t>
            </a:r>
            <a:r>
              <a:rPr lang="en-US" altLang="ja-JP" sz="1800" dirty="0">
                <a:solidFill>
                  <a:schemeClr val="tx1"/>
                </a:solidFill>
                <a:latin typeface="Roboto" panose="02000000000000000000" pitchFamily="2" charset="0"/>
                <a:ea typeface="Roboto" panose="02000000000000000000" pitchFamily="2" charset="0"/>
                <a:cs typeface="Roboto" panose="02000000000000000000" pitchFamily="2" charset="0"/>
              </a:rPr>
              <a:t>t have visual management… how do you know what to work on?</a:t>
            </a:r>
            <a:endParaRPr lang="en-US" altLang="en-US" sz="1800" b="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97282" name="AutoShape 45">
            <a:extLst>
              <a:ext uri="{FF2B5EF4-FFF2-40B4-BE49-F238E27FC236}">
                <a16:creationId xmlns:a16="http://schemas.microsoft.com/office/drawing/2014/main" id="{704A437E-947C-4B16-86DE-B776438850E0}"/>
              </a:ext>
            </a:extLst>
          </p:cNvPr>
          <p:cNvSpPr>
            <a:spLocks noChangeArrowheads="1"/>
          </p:cNvSpPr>
          <p:nvPr/>
        </p:nvSpPr>
        <p:spPr bwMode="auto">
          <a:xfrm>
            <a:off x="6140293" y="3429000"/>
            <a:ext cx="650449" cy="458249"/>
          </a:xfrm>
          <a:prstGeom prst="rightArrow">
            <a:avLst>
              <a:gd name="adj1" fmla="val 67278"/>
              <a:gd name="adj2" fmla="val 72222"/>
            </a:avLst>
          </a:prstGeom>
          <a:solidFill>
            <a:schemeClr val="accent1"/>
          </a:solidFill>
          <a:ln w="19050" cap="sq">
            <a:solidFill>
              <a:schemeClr val="tx1"/>
            </a:solidFill>
            <a:miter lim="800000"/>
            <a:headEnd/>
            <a:tailEnd/>
          </a:ln>
        </p:spPr>
        <p:txBody>
          <a:bodyPr wrap="none" anchor="ctr"/>
          <a:lstStyle>
            <a:lvl1pPr>
              <a:defRPr sz="900" b="1">
                <a:solidFill>
                  <a:schemeClr val="bg1"/>
                </a:solidFill>
                <a:latin typeface="Arial" panose="020B0604020202020204" pitchFamily="34" charset="0"/>
                <a:ea typeface="MS PGothic" panose="020B0600070205080204" pitchFamily="34" charset="-128"/>
              </a:defRPr>
            </a:lvl1pPr>
            <a:lvl2pPr marL="742950" indent="-285750">
              <a:defRPr sz="900" b="1">
                <a:solidFill>
                  <a:schemeClr val="bg1"/>
                </a:solidFill>
                <a:latin typeface="Arial" panose="020B0604020202020204" pitchFamily="34" charset="0"/>
                <a:ea typeface="MS PGothic" panose="020B0600070205080204" pitchFamily="34" charset="-128"/>
              </a:defRPr>
            </a:lvl2pPr>
            <a:lvl3pPr marL="1143000" indent="-228600">
              <a:defRPr sz="900" b="1">
                <a:solidFill>
                  <a:schemeClr val="bg1"/>
                </a:solidFill>
                <a:latin typeface="Arial" panose="020B0604020202020204" pitchFamily="34" charset="0"/>
                <a:ea typeface="MS PGothic" panose="020B0600070205080204" pitchFamily="34" charset="-128"/>
              </a:defRPr>
            </a:lvl3pPr>
            <a:lvl4pPr marL="1600200" indent="-228600">
              <a:defRPr sz="900" b="1">
                <a:solidFill>
                  <a:schemeClr val="bg1"/>
                </a:solidFill>
                <a:latin typeface="Arial" panose="020B0604020202020204" pitchFamily="34" charset="0"/>
                <a:ea typeface="MS PGothic" panose="020B0600070205080204" pitchFamily="34" charset="-128"/>
              </a:defRPr>
            </a:lvl4pPr>
            <a:lvl5pPr marL="2057400" indent="-228600">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97283" name="Rectangle 2">
            <a:extLst>
              <a:ext uri="{FF2B5EF4-FFF2-40B4-BE49-F238E27FC236}">
                <a16:creationId xmlns:a16="http://schemas.microsoft.com/office/drawing/2014/main" id="{95C0A974-E304-4418-B336-34C1055AABA1}"/>
              </a:ext>
            </a:extLst>
          </p:cNvPr>
          <p:cNvSpPr>
            <a:spLocks noGrp="1" noChangeArrowheads="1"/>
          </p:cNvSpPr>
          <p:nvPr>
            <p:ph type="title"/>
          </p:nvPr>
        </p:nvSpPr>
        <p:spPr/>
        <p:txBody>
          <a:bodyPr>
            <a:normAutofit/>
          </a:bodyPr>
          <a:lstStyle/>
          <a:p>
            <a:r>
              <a:rPr lang="en-US" altLang="en-US" sz="4000" dirty="0">
                <a:latin typeface="Roboto Medium"/>
                <a:ea typeface="Roboto Medium"/>
                <a:cs typeface="Roboto Medium"/>
              </a:rPr>
              <a:t>Visual Management</a:t>
            </a:r>
          </a:p>
        </p:txBody>
      </p:sp>
      <p:pic>
        <p:nvPicPr>
          <p:cNvPr id="97284" name="Picture 59" descr="mvc-001l">
            <a:extLst>
              <a:ext uri="{FF2B5EF4-FFF2-40B4-BE49-F238E27FC236}">
                <a16:creationId xmlns:a16="http://schemas.microsoft.com/office/drawing/2014/main" id="{9BCA7678-E836-4B4F-9660-16A2D46D499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4598" y="1860361"/>
            <a:ext cx="2129977" cy="2054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7285" name="Picture 60" descr="bigstockphoto_Instrument_Cluster_131244">
            <a:extLst>
              <a:ext uri="{FF2B5EF4-FFF2-40B4-BE49-F238E27FC236}">
                <a16:creationId xmlns:a16="http://schemas.microsoft.com/office/drawing/2014/main" id="{B98E0A48-89B9-4C67-BDCA-BBD5B81DCF1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4598" y="4004757"/>
            <a:ext cx="4744348" cy="18969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7286" name="Picture 61" descr="GEMS03">
            <a:extLst>
              <a:ext uri="{FF2B5EF4-FFF2-40B4-BE49-F238E27FC236}">
                <a16:creationId xmlns:a16="http://schemas.microsoft.com/office/drawing/2014/main" id="{0ED84267-8C58-4284-9697-17F56DFA2E7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23896" y="1840761"/>
            <a:ext cx="2525050" cy="20935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a:extLst>
              <a:ext uri="{FF2B5EF4-FFF2-40B4-BE49-F238E27FC236}">
                <a16:creationId xmlns:a16="http://schemas.microsoft.com/office/drawing/2014/main" id="{D0FAA627-91A6-7273-03BB-C26FD0F337B5}"/>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Lean Fundamentals</a:t>
            </a:r>
          </a:p>
        </p:txBody>
      </p:sp>
      <p:sp>
        <p:nvSpPr>
          <p:cNvPr id="4" name="Footer Placeholder 3">
            <a:extLst>
              <a:ext uri="{FF2B5EF4-FFF2-40B4-BE49-F238E27FC236}">
                <a16:creationId xmlns:a16="http://schemas.microsoft.com/office/drawing/2014/main" id="{C6B075BC-B0D6-DE19-1621-0B90D1627847}"/>
              </a:ext>
            </a:extLst>
          </p:cNvPr>
          <p:cNvSpPr>
            <a:spLocks noGrp="1"/>
          </p:cNvSpPr>
          <p:nvPr>
            <p:ph type="ftr" sz="quarter" idx="11"/>
          </p:nvPr>
        </p:nvSpPr>
        <p:spPr>
          <a:xfrm>
            <a:off x="4038600" y="6240789"/>
            <a:ext cx="4114800" cy="365125"/>
          </a:xfrm>
        </p:spPr>
        <p:txBody>
          <a:bodyPr/>
          <a:lstStyle/>
          <a:p>
            <a:r>
              <a:rPr lang="en-US"/>
              <a:t>© Lean Horizons Consulting, LLC 2023. All Rights Reserved</a:t>
            </a:r>
            <a:endParaRPr lang="en-US" dirty="0"/>
          </a:p>
        </p:txBody>
      </p:sp>
      <p:sp>
        <p:nvSpPr>
          <p:cNvPr id="5" name="Slide Number Placeholder 4">
            <a:extLst>
              <a:ext uri="{FF2B5EF4-FFF2-40B4-BE49-F238E27FC236}">
                <a16:creationId xmlns:a16="http://schemas.microsoft.com/office/drawing/2014/main" id="{63E10559-D05A-F4E9-F60E-5FA0C66C2289}"/>
              </a:ext>
            </a:extLst>
          </p:cNvPr>
          <p:cNvSpPr>
            <a:spLocks noGrp="1"/>
          </p:cNvSpPr>
          <p:nvPr>
            <p:ph type="sldNum" sz="quarter" idx="12"/>
          </p:nvPr>
        </p:nvSpPr>
        <p:spPr>
          <a:xfrm>
            <a:off x="8595078" y="6240788"/>
            <a:ext cx="2743200" cy="365125"/>
          </a:xfrm>
        </p:spPr>
        <p:txBody>
          <a:bodyPr/>
          <a:lstStyle/>
          <a:p>
            <a:fld id="{CC6D4273-7FC1-0947-B9FE-19CB3C0D1FB6}" type="slidenum">
              <a:rPr lang="en-US" smtClean="0"/>
              <a:t>42</a:t>
            </a:fld>
            <a:endParaRPr lang="en-US" dirty="0"/>
          </a:p>
        </p:txBody>
      </p:sp>
      <p:sp>
        <p:nvSpPr>
          <p:cNvPr id="2" name="AutoShape 9">
            <a:extLst>
              <a:ext uri="{FF2B5EF4-FFF2-40B4-BE49-F238E27FC236}">
                <a16:creationId xmlns:a16="http://schemas.microsoft.com/office/drawing/2014/main" id="{9750B6E3-5788-84E0-33D4-002E60D5FE28}"/>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3" name="AutoShape 11">
            <a:extLst>
              <a:ext uri="{FF2B5EF4-FFF2-40B4-BE49-F238E27FC236}">
                <a16:creationId xmlns:a16="http://schemas.microsoft.com/office/drawing/2014/main" id="{AB180A07-5733-8941-A235-F0191E9069B7}"/>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10">
            <a:extLst>
              <a:ext uri="{FF2B5EF4-FFF2-40B4-BE49-F238E27FC236}">
                <a16:creationId xmlns:a16="http://schemas.microsoft.com/office/drawing/2014/main" id="{2370B582-F76D-8F04-FAA5-AE50673083CB}"/>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D59612-57A7-4226-15D4-E621CF0130AB}"/>
              </a:ext>
            </a:extLst>
          </p:cNvPr>
          <p:cNvSpPr>
            <a:spLocks noGrp="1"/>
          </p:cNvSpPr>
          <p:nvPr>
            <p:ph type="title"/>
          </p:nvPr>
        </p:nvSpPr>
        <p:spPr/>
        <p:txBody>
          <a:bodyPr>
            <a:normAutofit/>
          </a:bodyPr>
          <a:lstStyle/>
          <a:p>
            <a:r>
              <a:rPr lang="en-US" sz="4000" dirty="0">
                <a:latin typeface="Roboto Medium"/>
                <a:ea typeface="Roboto Medium"/>
                <a:cs typeface="Roboto Medium"/>
              </a:rPr>
              <a:t>Waste Elimination Tools</a:t>
            </a:r>
          </a:p>
        </p:txBody>
      </p:sp>
      <p:sp>
        <p:nvSpPr>
          <p:cNvPr id="4" name="Footer Placeholder 3">
            <a:extLst>
              <a:ext uri="{FF2B5EF4-FFF2-40B4-BE49-F238E27FC236}">
                <a16:creationId xmlns:a16="http://schemas.microsoft.com/office/drawing/2014/main" id="{CB1F8C30-D81C-1E27-D266-2BC421C72FD6}"/>
              </a:ext>
            </a:extLst>
          </p:cNvPr>
          <p:cNvSpPr>
            <a:spLocks noGrp="1"/>
          </p:cNvSpPr>
          <p:nvPr>
            <p:ph type="ftr" sz="quarter" idx="11"/>
          </p:nvPr>
        </p:nvSpPr>
        <p:spPr/>
        <p:txBody>
          <a:bodyPr/>
          <a:lstStyle/>
          <a:p>
            <a:r>
              <a:rPr lang="en-US"/>
              <a:t>© Lean Horizons Consulting, LLC 2023. All Rights Reserved</a:t>
            </a:r>
            <a:endParaRPr lang="en-US" dirty="0"/>
          </a:p>
        </p:txBody>
      </p:sp>
      <p:sp>
        <p:nvSpPr>
          <p:cNvPr id="5" name="Slide Number Placeholder 4">
            <a:extLst>
              <a:ext uri="{FF2B5EF4-FFF2-40B4-BE49-F238E27FC236}">
                <a16:creationId xmlns:a16="http://schemas.microsoft.com/office/drawing/2014/main" id="{1AA34B74-93DA-5F21-CF4A-77FE692D026C}"/>
              </a:ext>
            </a:extLst>
          </p:cNvPr>
          <p:cNvSpPr>
            <a:spLocks noGrp="1"/>
          </p:cNvSpPr>
          <p:nvPr>
            <p:ph type="sldNum" sz="quarter" idx="12"/>
          </p:nvPr>
        </p:nvSpPr>
        <p:spPr/>
        <p:txBody>
          <a:bodyPr/>
          <a:lstStyle/>
          <a:p>
            <a:fld id="{CC6D4273-7FC1-0947-B9FE-19CB3C0D1FB6}" type="slidenum">
              <a:rPr lang="en-US" smtClean="0"/>
              <a:t>43</a:t>
            </a:fld>
            <a:endParaRPr lang="en-US"/>
          </a:p>
        </p:txBody>
      </p:sp>
      <p:sp>
        <p:nvSpPr>
          <p:cNvPr id="37" name="TextBox 36">
            <a:extLst>
              <a:ext uri="{FF2B5EF4-FFF2-40B4-BE49-F238E27FC236}">
                <a16:creationId xmlns:a16="http://schemas.microsoft.com/office/drawing/2014/main" id="{0FAB3950-B9FC-BE60-5118-2B23F7E52A69}"/>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Lean Fundamentals</a:t>
            </a:r>
          </a:p>
        </p:txBody>
      </p:sp>
      <p:grpSp>
        <p:nvGrpSpPr>
          <p:cNvPr id="11" name="Group 10">
            <a:extLst>
              <a:ext uri="{FF2B5EF4-FFF2-40B4-BE49-F238E27FC236}">
                <a16:creationId xmlns:a16="http://schemas.microsoft.com/office/drawing/2014/main" id="{0F59049C-1B01-4484-E859-DBC3FBBDD22C}"/>
              </a:ext>
            </a:extLst>
          </p:cNvPr>
          <p:cNvGrpSpPr/>
          <p:nvPr/>
        </p:nvGrpSpPr>
        <p:grpSpPr>
          <a:xfrm>
            <a:off x="838200" y="1922330"/>
            <a:ext cx="10453534" cy="3771695"/>
            <a:chOff x="838200" y="1765756"/>
            <a:chExt cx="22413018" cy="9152700"/>
          </a:xfrm>
        </p:grpSpPr>
        <p:sp>
          <p:nvSpPr>
            <p:cNvPr id="18" name="Rectangle 17">
              <a:extLst>
                <a:ext uri="{FF2B5EF4-FFF2-40B4-BE49-F238E27FC236}">
                  <a16:creationId xmlns:a16="http://schemas.microsoft.com/office/drawing/2014/main" id="{E47F0BA2-ED30-29DB-22B7-980A2ECF95DF}"/>
                </a:ext>
              </a:extLst>
            </p:cNvPr>
            <p:cNvSpPr/>
            <p:nvPr/>
          </p:nvSpPr>
          <p:spPr>
            <a:xfrm>
              <a:off x="859051" y="1765756"/>
              <a:ext cx="10972800" cy="914400"/>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0800" tIns="50800" rIns="50800" bIns="50800" numCol="1" spcCol="3810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58738" lvl="2" algn="l" defTabSz="584200"/>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Visual Management</a:t>
              </a:r>
            </a:p>
          </p:txBody>
        </p:sp>
        <p:sp>
          <p:nvSpPr>
            <p:cNvPr id="19" name="Rectangle 18">
              <a:extLst>
                <a:ext uri="{FF2B5EF4-FFF2-40B4-BE49-F238E27FC236}">
                  <a16:creationId xmlns:a16="http://schemas.microsoft.com/office/drawing/2014/main" id="{E991EB84-2294-44A9-171B-AFE3B1C45B0B}"/>
                </a:ext>
              </a:extLst>
            </p:cNvPr>
            <p:cNvSpPr/>
            <p:nvPr/>
          </p:nvSpPr>
          <p:spPr>
            <a:xfrm>
              <a:off x="838200" y="3138805"/>
              <a:ext cx="10972800" cy="914399"/>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0800" tIns="50800" rIns="50800" bIns="50800" numCol="1" spcCol="3810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5S</a:t>
              </a:r>
            </a:p>
          </p:txBody>
        </p:sp>
        <p:sp>
          <p:nvSpPr>
            <p:cNvPr id="20" name="Rectangle 19">
              <a:extLst>
                <a:ext uri="{FF2B5EF4-FFF2-40B4-BE49-F238E27FC236}">
                  <a16:creationId xmlns:a16="http://schemas.microsoft.com/office/drawing/2014/main" id="{CABCFDCF-DDE3-4418-DE86-69B202EF0E4D}"/>
                </a:ext>
              </a:extLst>
            </p:cNvPr>
            <p:cNvSpPr/>
            <p:nvPr/>
          </p:nvSpPr>
          <p:spPr>
            <a:xfrm>
              <a:off x="859051" y="4511856"/>
              <a:ext cx="10972800" cy="914400"/>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0800" tIns="50800" rIns="50800" bIns="50800" numCol="1" spcCol="3810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Standard Work</a:t>
              </a:r>
            </a:p>
          </p:txBody>
        </p:sp>
        <p:sp>
          <p:nvSpPr>
            <p:cNvPr id="21" name="Rectangle 20">
              <a:extLst>
                <a:ext uri="{FF2B5EF4-FFF2-40B4-BE49-F238E27FC236}">
                  <a16:creationId xmlns:a16="http://schemas.microsoft.com/office/drawing/2014/main" id="{B68D1E00-3A84-AD52-4A95-FBF5CFDCD895}"/>
                </a:ext>
              </a:extLst>
            </p:cNvPr>
            <p:cNvSpPr/>
            <p:nvPr/>
          </p:nvSpPr>
          <p:spPr>
            <a:xfrm>
              <a:off x="859051" y="5884906"/>
              <a:ext cx="10972800" cy="914400"/>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0800" tIns="50800" rIns="50800" bIns="50800" numCol="1" spcCol="3810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Kanban</a:t>
              </a:r>
            </a:p>
          </p:txBody>
        </p:sp>
        <p:sp>
          <p:nvSpPr>
            <p:cNvPr id="22" name="Rectangle 21">
              <a:extLst>
                <a:ext uri="{FF2B5EF4-FFF2-40B4-BE49-F238E27FC236}">
                  <a16:creationId xmlns:a16="http://schemas.microsoft.com/office/drawing/2014/main" id="{021630A0-552E-2827-A98E-919E442D885B}"/>
                </a:ext>
              </a:extLst>
            </p:cNvPr>
            <p:cNvSpPr/>
            <p:nvPr/>
          </p:nvSpPr>
          <p:spPr>
            <a:xfrm>
              <a:off x="12278418" y="1765756"/>
              <a:ext cx="10972800" cy="914400"/>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0800" tIns="50800" rIns="50800" bIns="50800" numCol="1" spcCol="3810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CEDAC</a:t>
              </a:r>
            </a:p>
          </p:txBody>
        </p:sp>
        <p:sp>
          <p:nvSpPr>
            <p:cNvPr id="23" name="Rectangle 22">
              <a:extLst>
                <a:ext uri="{FF2B5EF4-FFF2-40B4-BE49-F238E27FC236}">
                  <a16:creationId xmlns:a16="http://schemas.microsoft.com/office/drawing/2014/main" id="{D4C83267-E266-DC2E-F2CF-3BE60C185F93}"/>
                </a:ext>
              </a:extLst>
            </p:cNvPr>
            <p:cNvSpPr/>
            <p:nvPr/>
          </p:nvSpPr>
          <p:spPr>
            <a:xfrm>
              <a:off x="12278418" y="3138806"/>
              <a:ext cx="10972800" cy="914400"/>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0800" tIns="50800" rIns="50800" bIns="50800" numCol="1" spcCol="3810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err="1">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Jidoka</a:t>
              </a: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 and Poka Yoke</a:t>
              </a:r>
            </a:p>
          </p:txBody>
        </p:sp>
        <p:sp>
          <p:nvSpPr>
            <p:cNvPr id="24" name="Rectangle 23">
              <a:extLst>
                <a:ext uri="{FF2B5EF4-FFF2-40B4-BE49-F238E27FC236}">
                  <a16:creationId xmlns:a16="http://schemas.microsoft.com/office/drawing/2014/main" id="{1947068D-1932-A248-F5B6-1278F3550633}"/>
                </a:ext>
              </a:extLst>
            </p:cNvPr>
            <p:cNvSpPr/>
            <p:nvPr/>
          </p:nvSpPr>
          <p:spPr>
            <a:xfrm>
              <a:off x="12278418" y="4511856"/>
              <a:ext cx="10972800" cy="914400"/>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0800" tIns="50800" rIns="50800" bIns="50800" numCol="1" spcCol="3810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SMED</a:t>
              </a:r>
            </a:p>
          </p:txBody>
        </p:sp>
        <p:sp>
          <p:nvSpPr>
            <p:cNvPr id="25" name="Rectangle 24">
              <a:extLst>
                <a:ext uri="{FF2B5EF4-FFF2-40B4-BE49-F238E27FC236}">
                  <a16:creationId xmlns:a16="http://schemas.microsoft.com/office/drawing/2014/main" id="{23D69831-80B6-44BB-AEF6-0A935A269F5F}"/>
                </a:ext>
              </a:extLst>
            </p:cNvPr>
            <p:cNvSpPr/>
            <p:nvPr/>
          </p:nvSpPr>
          <p:spPr>
            <a:xfrm>
              <a:off x="12278418" y="5884906"/>
              <a:ext cx="10972800" cy="914400"/>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0800" tIns="50800" rIns="50800" bIns="50800" numCol="1" spcCol="3810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Total Productive Maintenance</a:t>
              </a:r>
            </a:p>
          </p:txBody>
        </p:sp>
        <p:sp>
          <p:nvSpPr>
            <p:cNvPr id="26" name="Rectangle 25">
              <a:extLst>
                <a:ext uri="{FF2B5EF4-FFF2-40B4-BE49-F238E27FC236}">
                  <a16:creationId xmlns:a16="http://schemas.microsoft.com/office/drawing/2014/main" id="{5D0E7AA8-6910-E61B-DAB3-971316A28AD8}"/>
                </a:ext>
              </a:extLst>
            </p:cNvPr>
            <p:cNvSpPr/>
            <p:nvPr/>
          </p:nvSpPr>
          <p:spPr>
            <a:xfrm>
              <a:off x="859051" y="7257956"/>
              <a:ext cx="10972800" cy="914400"/>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0800" tIns="50800" rIns="50800" bIns="50800" numCol="1" spcCol="3810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Problem Solving</a:t>
              </a:r>
            </a:p>
          </p:txBody>
        </p:sp>
        <p:sp>
          <p:nvSpPr>
            <p:cNvPr id="27" name="Rectangle 26">
              <a:extLst>
                <a:ext uri="{FF2B5EF4-FFF2-40B4-BE49-F238E27FC236}">
                  <a16:creationId xmlns:a16="http://schemas.microsoft.com/office/drawing/2014/main" id="{9BDDB8C5-427B-95FB-E369-8DF53AD41594}"/>
                </a:ext>
              </a:extLst>
            </p:cNvPr>
            <p:cNvSpPr/>
            <p:nvPr/>
          </p:nvSpPr>
          <p:spPr>
            <a:xfrm>
              <a:off x="859051" y="8631006"/>
              <a:ext cx="10972800" cy="914400"/>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0800" tIns="50800" rIns="50800" bIns="50800" numCol="1" spcCol="3810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Production Preparation Process (3P)</a:t>
              </a:r>
            </a:p>
          </p:txBody>
        </p:sp>
        <p:sp>
          <p:nvSpPr>
            <p:cNvPr id="28" name="Rectangle 27">
              <a:extLst>
                <a:ext uri="{FF2B5EF4-FFF2-40B4-BE49-F238E27FC236}">
                  <a16:creationId xmlns:a16="http://schemas.microsoft.com/office/drawing/2014/main" id="{969E22D9-6DD8-AE9C-84E6-9B4C336265C1}"/>
                </a:ext>
              </a:extLst>
            </p:cNvPr>
            <p:cNvSpPr/>
            <p:nvPr/>
          </p:nvSpPr>
          <p:spPr>
            <a:xfrm>
              <a:off x="12278418" y="7257956"/>
              <a:ext cx="10972800" cy="914400"/>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0800" tIns="50800" rIns="50800" bIns="50800" numCol="1" spcCol="3810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Cell Design</a:t>
              </a:r>
            </a:p>
          </p:txBody>
        </p:sp>
        <p:sp>
          <p:nvSpPr>
            <p:cNvPr id="29" name="Rectangle 28">
              <a:extLst>
                <a:ext uri="{FF2B5EF4-FFF2-40B4-BE49-F238E27FC236}">
                  <a16:creationId xmlns:a16="http://schemas.microsoft.com/office/drawing/2014/main" id="{CFF29F1F-17B2-4D5B-A456-3E0D7238DCAA}"/>
                </a:ext>
              </a:extLst>
            </p:cNvPr>
            <p:cNvSpPr/>
            <p:nvPr/>
          </p:nvSpPr>
          <p:spPr>
            <a:xfrm>
              <a:off x="12278418" y="8631006"/>
              <a:ext cx="10972800" cy="914400"/>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0800" tIns="50800" rIns="50800" bIns="50800" numCol="1" spcCol="3810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Value Stream Mapping (VSM)</a:t>
              </a:r>
            </a:p>
          </p:txBody>
        </p:sp>
        <p:sp>
          <p:nvSpPr>
            <p:cNvPr id="30" name="Rectangle 29">
              <a:extLst>
                <a:ext uri="{FF2B5EF4-FFF2-40B4-BE49-F238E27FC236}">
                  <a16:creationId xmlns:a16="http://schemas.microsoft.com/office/drawing/2014/main" id="{61EE83C4-0E41-1FD0-789C-E4E3B3635920}"/>
                </a:ext>
              </a:extLst>
            </p:cNvPr>
            <p:cNvSpPr/>
            <p:nvPr/>
          </p:nvSpPr>
          <p:spPr>
            <a:xfrm>
              <a:off x="859051" y="10004056"/>
              <a:ext cx="10972800" cy="914400"/>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0800" tIns="50800" rIns="50800" bIns="50800" numCol="1" spcCol="3810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Transaction Process Improvement</a:t>
              </a:r>
            </a:p>
          </p:txBody>
        </p:sp>
      </p:grpSp>
      <p:sp>
        <p:nvSpPr>
          <p:cNvPr id="17" name="Rectangle 16">
            <a:extLst>
              <a:ext uri="{FF2B5EF4-FFF2-40B4-BE49-F238E27FC236}">
                <a16:creationId xmlns:a16="http://schemas.microsoft.com/office/drawing/2014/main" id="{336BAC1E-9EFC-09BA-095F-273DB26D4835}"/>
              </a:ext>
            </a:extLst>
          </p:cNvPr>
          <p:cNvSpPr/>
          <p:nvPr/>
        </p:nvSpPr>
        <p:spPr>
          <a:xfrm>
            <a:off x="6168017" y="5317218"/>
            <a:ext cx="5117764" cy="376811"/>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0800" tIns="50800" rIns="50800" bIns="50800" numCol="1" spcCol="3810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Managing Daily Process Excellence</a:t>
            </a:r>
          </a:p>
        </p:txBody>
      </p:sp>
      <p:sp>
        <p:nvSpPr>
          <p:cNvPr id="3" name="AutoShape 9">
            <a:extLst>
              <a:ext uri="{FF2B5EF4-FFF2-40B4-BE49-F238E27FC236}">
                <a16:creationId xmlns:a16="http://schemas.microsoft.com/office/drawing/2014/main" id="{29C73367-53F1-2AA9-D74B-D4F6468573DB}"/>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6" name="AutoShape 11">
            <a:extLst>
              <a:ext uri="{FF2B5EF4-FFF2-40B4-BE49-F238E27FC236}">
                <a16:creationId xmlns:a16="http://schemas.microsoft.com/office/drawing/2014/main" id="{28B72952-08D5-BEF0-9BD4-73E48A53F33D}"/>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10">
            <a:extLst>
              <a:ext uri="{FF2B5EF4-FFF2-40B4-BE49-F238E27FC236}">
                <a16:creationId xmlns:a16="http://schemas.microsoft.com/office/drawing/2014/main" id="{78C8887D-C95F-553E-A631-B8C8FEE163BD}"/>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Tree>
    <p:extLst>
      <p:ext uri="{BB962C8B-B14F-4D97-AF65-F5344CB8AC3E}">
        <p14:creationId xmlns:p14="http://schemas.microsoft.com/office/powerpoint/2010/main" val="402719578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D59612-57A7-4226-15D4-E621CF0130AB}"/>
              </a:ext>
            </a:extLst>
          </p:cNvPr>
          <p:cNvSpPr>
            <a:spLocks noGrp="1"/>
          </p:cNvSpPr>
          <p:nvPr>
            <p:ph type="title"/>
          </p:nvPr>
        </p:nvSpPr>
        <p:spPr/>
        <p:txBody>
          <a:bodyPr>
            <a:normAutofit/>
          </a:bodyPr>
          <a:lstStyle/>
          <a:p>
            <a:r>
              <a:rPr lang="en-US" sz="4000" dirty="0">
                <a:latin typeface="Roboto Medium"/>
                <a:ea typeface="Roboto Medium"/>
                <a:cs typeface="Roboto Medium"/>
              </a:rPr>
              <a:t>5S Overview</a:t>
            </a:r>
          </a:p>
        </p:txBody>
      </p:sp>
      <p:sp>
        <p:nvSpPr>
          <p:cNvPr id="4" name="Footer Placeholder 3">
            <a:extLst>
              <a:ext uri="{FF2B5EF4-FFF2-40B4-BE49-F238E27FC236}">
                <a16:creationId xmlns:a16="http://schemas.microsoft.com/office/drawing/2014/main" id="{CB1F8C30-D81C-1E27-D266-2BC421C72FD6}"/>
              </a:ext>
            </a:extLst>
          </p:cNvPr>
          <p:cNvSpPr>
            <a:spLocks noGrp="1"/>
          </p:cNvSpPr>
          <p:nvPr>
            <p:ph type="ftr" sz="quarter" idx="11"/>
          </p:nvPr>
        </p:nvSpPr>
        <p:spPr/>
        <p:txBody>
          <a:bodyPr/>
          <a:lstStyle/>
          <a:p>
            <a:r>
              <a:rPr lang="en-US"/>
              <a:t>© Lean Horizons Consulting, LLC 2023. All Rights Reserved</a:t>
            </a:r>
            <a:endParaRPr lang="en-US" dirty="0"/>
          </a:p>
        </p:txBody>
      </p:sp>
      <p:sp>
        <p:nvSpPr>
          <p:cNvPr id="5" name="Slide Number Placeholder 4">
            <a:extLst>
              <a:ext uri="{FF2B5EF4-FFF2-40B4-BE49-F238E27FC236}">
                <a16:creationId xmlns:a16="http://schemas.microsoft.com/office/drawing/2014/main" id="{1AA34B74-93DA-5F21-CF4A-77FE692D026C}"/>
              </a:ext>
            </a:extLst>
          </p:cNvPr>
          <p:cNvSpPr>
            <a:spLocks noGrp="1"/>
          </p:cNvSpPr>
          <p:nvPr>
            <p:ph type="sldNum" sz="quarter" idx="12"/>
          </p:nvPr>
        </p:nvSpPr>
        <p:spPr/>
        <p:txBody>
          <a:bodyPr/>
          <a:lstStyle/>
          <a:p>
            <a:fld id="{CC6D4273-7FC1-0947-B9FE-19CB3C0D1FB6}" type="slidenum">
              <a:rPr lang="en-US" smtClean="0"/>
              <a:t>44</a:t>
            </a:fld>
            <a:endParaRPr lang="en-US"/>
          </a:p>
        </p:txBody>
      </p:sp>
      <p:sp>
        <p:nvSpPr>
          <p:cNvPr id="37" name="TextBox 36">
            <a:extLst>
              <a:ext uri="{FF2B5EF4-FFF2-40B4-BE49-F238E27FC236}">
                <a16:creationId xmlns:a16="http://schemas.microsoft.com/office/drawing/2014/main" id="{0FAB3950-B9FC-BE60-5118-2B23F7E52A69}"/>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Lean Fundamentals</a:t>
            </a:r>
          </a:p>
        </p:txBody>
      </p:sp>
      <p:grpSp>
        <p:nvGrpSpPr>
          <p:cNvPr id="33" name="Group 32">
            <a:extLst>
              <a:ext uri="{FF2B5EF4-FFF2-40B4-BE49-F238E27FC236}">
                <a16:creationId xmlns:a16="http://schemas.microsoft.com/office/drawing/2014/main" id="{58F03A1C-D2E7-9857-C399-F525F845E9DB}"/>
              </a:ext>
            </a:extLst>
          </p:cNvPr>
          <p:cNvGrpSpPr/>
          <p:nvPr/>
        </p:nvGrpSpPr>
        <p:grpSpPr>
          <a:xfrm>
            <a:off x="940249" y="1791457"/>
            <a:ext cx="8207230" cy="4174191"/>
            <a:chOff x="2024211" y="1679575"/>
            <a:chExt cx="8207230" cy="4174191"/>
          </a:xfrm>
        </p:grpSpPr>
        <p:grpSp>
          <p:nvGrpSpPr>
            <p:cNvPr id="7" name="Group 4">
              <a:extLst>
                <a:ext uri="{FF2B5EF4-FFF2-40B4-BE49-F238E27FC236}">
                  <a16:creationId xmlns:a16="http://schemas.microsoft.com/office/drawing/2014/main" id="{3737A926-247D-EC3E-FD66-11F912A09823}"/>
                </a:ext>
              </a:extLst>
            </p:cNvPr>
            <p:cNvGrpSpPr>
              <a:grpSpLocks/>
            </p:cNvGrpSpPr>
            <p:nvPr/>
          </p:nvGrpSpPr>
          <p:grpSpPr bwMode="auto">
            <a:xfrm>
              <a:off x="2041527" y="1828801"/>
              <a:ext cx="8189914" cy="466725"/>
              <a:chOff x="562" y="1785"/>
              <a:chExt cx="4831" cy="294"/>
            </a:xfrm>
          </p:grpSpPr>
          <p:sp>
            <p:nvSpPr>
              <p:cNvPr id="16" name="AutoShape 5">
                <a:extLst>
                  <a:ext uri="{FF2B5EF4-FFF2-40B4-BE49-F238E27FC236}">
                    <a16:creationId xmlns:a16="http://schemas.microsoft.com/office/drawing/2014/main" id="{F6964501-8A24-9D30-D452-BC7F2127D3AC}"/>
                  </a:ext>
                </a:extLst>
              </p:cNvPr>
              <p:cNvSpPr>
                <a:spLocks noChangeArrowheads="1"/>
              </p:cNvSpPr>
              <p:nvPr/>
            </p:nvSpPr>
            <p:spPr bwMode="auto">
              <a:xfrm>
                <a:off x="3660" y="1785"/>
                <a:ext cx="1733" cy="294"/>
              </a:xfrm>
              <a:prstGeom prst="homePlate">
                <a:avLst>
                  <a:gd name="adj" fmla="val 48603"/>
                </a:avLst>
              </a:prstGeom>
              <a:solidFill>
                <a:srgbClr val="EE3228"/>
              </a:solidFill>
              <a:ln w="12700" cap="sq">
                <a:solidFill>
                  <a:schemeClr val="tx1"/>
                </a:solidFill>
                <a:miter lim="800000"/>
                <a:headEnd/>
                <a:tailEnd/>
              </a:ln>
            </p:spPr>
            <p:txBody>
              <a:bodyPr wrap="none" anchor="ctr"/>
              <a:lstStyle>
                <a:lvl1pPr>
                  <a:defRPr sz="900" b="1">
                    <a:solidFill>
                      <a:schemeClr val="bg1"/>
                    </a:solidFill>
                    <a:latin typeface="Arial" panose="020B0604020202020204" pitchFamily="34" charset="0"/>
                    <a:ea typeface="MS PGothic" panose="020B0600070205080204" pitchFamily="34" charset="-128"/>
                  </a:defRPr>
                </a:lvl1pPr>
                <a:lvl2pPr marL="742950" indent="-285750">
                  <a:defRPr sz="900" b="1">
                    <a:solidFill>
                      <a:schemeClr val="bg1"/>
                    </a:solidFill>
                    <a:latin typeface="Arial" panose="020B0604020202020204" pitchFamily="34" charset="0"/>
                    <a:ea typeface="MS PGothic" panose="020B0600070205080204" pitchFamily="34" charset="-128"/>
                  </a:defRPr>
                </a:lvl2pPr>
                <a:lvl3pPr marL="1143000" indent="-228600">
                  <a:defRPr sz="900" b="1">
                    <a:solidFill>
                      <a:schemeClr val="bg1"/>
                    </a:solidFill>
                    <a:latin typeface="Arial" panose="020B0604020202020204" pitchFamily="34" charset="0"/>
                    <a:ea typeface="MS PGothic" panose="020B0600070205080204" pitchFamily="34" charset="-128"/>
                  </a:defRPr>
                </a:lvl3pPr>
                <a:lvl4pPr marL="1600200" indent="-228600">
                  <a:defRPr sz="900" b="1">
                    <a:solidFill>
                      <a:schemeClr val="bg1"/>
                    </a:solidFill>
                    <a:latin typeface="Arial" panose="020B0604020202020204" pitchFamily="34" charset="0"/>
                    <a:ea typeface="MS PGothic" panose="020B0600070205080204" pitchFamily="34" charset="-128"/>
                  </a:defRPr>
                </a:lvl4pPr>
                <a:lvl5pPr marL="2057400" indent="-228600">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r"/>
                <a:r>
                  <a:rPr lang="en-US" altLang="en-US" sz="1800" dirty="0"/>
                  <a:t>Expected Outcomes</a:t>
                </a:r>
              </a:p>
            </p:txBody>
          </p:sp>
          <p:sp>
            <p:nvSpPr>
              <p:cNvPr id="31" name="AutoShape 6">
                <a:extLst>
                  <a:ext uri="{FF2B5EF4-FFF2-40B4-BE49-F238E27FC236}">
                    <a16:creationId xmlns:a16="http://schemas.microsoft.com/office/drawing/2014/main" id="{F064430E-BC91-2452-7FE2-2AAAEF9211BF}"/>
                  </a:ext>
                </a:extLst>
              </p:cNvPr>
              <p:cNvSpPr>
                <a:spLocks noChangeArrowheads="1"/>
              </p:cNvSpPr>
              <p:nvPr/>
            </p:nvSpPr>
            <p:spPr bwMode="auto">
              <a:xfrm>
                <a:off x="2105" y="1785"/>
                <a:ext cx="1733" cy="294"/>
              </a:xfrm>
              <a:prstGeom prst="homePlate">
                <a:avLst>
                  <a:gd name="adj" fmla="val 48603"/>
                </a:avLst>
              </a:prstGeom>
              <a:solidFill>
                <a:srgbClr val="222222"/>
              </a:solidFill>
              <a:ln w="12700" cap="sq">
                <a:solidFill>
                  <a:schemeClr val="tx1"/>
                </a:solidFill>
                <a:miter lim="800000"/>
                <a:headEnd/>
                <a:tailEnd/>
              </a:ln>
            </p:spPr>
            <p:txBody>
              <a:bodyPr wrap="none" anchor="ctr"/>
              <a:lstStyle>
                <a:lvl1pPr>
                  <a:defRPr sz="900" b="1">
                    <a:solidFill>
                      <a:schemeClr val="bg1"/>
                    </a:solidFill>
                    <a:latin typeface="Arial" panose="020B0604020202020204" pitchFamily="34" charset="0"/>
                    <a:ea typeface="MS PGothic" panose="020B0600070205080204" pitchFamily="34" charset="-128"/>
                  </a:defRPr>
                </a:lvl1pPr>
                <a:lvl2pPr marL="742950" indent="-285750">
                  <a:defRPr sz="900" b="1">
                    <a:solidFill>
                      <a:schemeClr val="bg1"/>
                    </a:solidFill>
                    <a:latin typeface="Arial" panose="020B0604020202020204" pitchFamily="34" charset="0"/>
                    <a:ea typeface="MS PGothic" panose="020B0600070205080204" pitchFamily="34" charset="-128"/>
                  </a:defRPr>
                </a:lvl2pPr>
                <a:lvl3pPr marL="1143000" indent="-228600">
                  <a:defRPr sz="900" b="1">
                    <a:solidFill>
                      <a:schemeClr val="bg1"/>
                    </a:solidFill>
                    <a:latin typeface="Arial" panose="020B0604020202020204" pitchFamily="34" charset="0"/>
                    <a:ea typeface="MS PGothic" panose="020B0600070205080204" pitchFamily="34" charset="-128"/>
                  </a:defRPr>
                </a:lvl3pPr>
                <a:lvl4pPr marL="1600200" indent="-228600">
                  <a:defRPr sz="900" b="1">
                    <a:solidFill>
                      <a:schemeClr val="bg1"/>
                    </a:solidFill>
                    <a:latin typeface="Arial" panose="020B0604020202020204" pitchFamily="34" charset="0"/>
                    <a:ea typeface="MS PGothic" panose="020B0600070205080204" pitchFamily="34" charset="-128"/>
                  </a:defRPr>
                </a:lvl4pPr>
                <a:lvl5pPr marL="2057400" indent="-228600">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ctr"/>
                <a:r>
                  <a:rPr lang="en-US" altLang="en-US" sz="1800" dirty="0"/>
                  <a:t>Benefits</a:t>
                </a:r>
              </a:p>
            </p:txBody>
          </p:sp>
          <p:sp>
            <p:nvSpPr>
              <p:cNvPr id="32" name="AutoShape 7">
                <a:extLst>
                  <a:ext uri="{FF2B5EF4-FFF2-40B4-BE49-F238E27FC236}">
                    <a16:creationId xmlns:a16="http://schemas.microsoft.com/office/drawing/2014/main" id="{53EE6A11-CEA7-1250-6D27-489ABE245614}"/>
                  </a:ext>
                </a:extLst>
              </p:cNvPr>
              <p:cNvSpPr>
                <a:spLocks noChangeArrowheads="1"/>
              </p:cNvSpPr>
              <p:nvPr/>
            </p:nvSpPr>
            <p:spPr bwMode="auto">
              <a:xfrm>
                <a:off x="562" y="1785"/>
                <a:ext cx="1733" cy="294"/>
              </a:xfrm>
              <a:prstGeom prst="homePlate">
                <a:avLst>
                  <a:gd name="adj" fmla="val 48603"/>
                </a:avLst>
              </a:prstGeom>
              <a:solidFill>
                <a:schemeClr val="accent3"/>
              </a:solidFill>
              <a:ln w="12700" cap="sq">
                <a:solidFill>
                  <a:schemeClr val="tx1"/>
                </a:solidFill>
                <a:miter lim="800000"/>
                <a:headEnd/>
                <a:tailEnd/>
              </a:ln>
            </p:spPr>
            <p:txBody>
              <a:bodyPr wrap="none" anchor="ctr"/>
              <a:lstStyle>
                <a:lvl1pPr>
                  <a:defRPr sz="900" b="1">
                    <a:solidFill>
                      <a:schemeClr val="bg1"/>
                    </a:solidFill>
                    <a:latin typeface="Arial" panose="020B0604020202020204" pitchFamily="34" charset="0"/>
                    <a:ea typeface="MS PGothic" panose="020B0600070205080204" pitchFamily="34" charset="-128"/>
                  </a:defRPr>
                </a:lvl1pPr>
                <a:lvl2pPr marL="742950" indent="-285750">
                  <a:defRPr sz="900" b="1">
                    <a:solidFill>
                      <a:schemeClr val="bg1"/>
                    </a:solidFill>
                    <a:latin typeface="Arial" panose="020B0604020202020204" pitchFamily="34" charset="0"/>
                    <a:ea typeface="MS PGothic" panose="020B0600070205080204" pitchFamily="34" charset="-128"/>
                  </a:defRPr>
                </a:lvl2pPr>
                <a:lvl3pPr marL="1143000" indent="-228600">
                  <a:defRPr sz="900" b="1">
                    <a:solidFill>
                      <a:schemeClr val="bg1"/>
                    </a:solidFill>
                    <a:latin typeface="Arial" panose="020B0604020202020204" pitchFamily="34" charset="0"/>
                    <a:ea typeface="MS PGothic" panose="020B0600070205080204" pitchFamily="34" charset="-128"/>
                  </a:defRPr>
                </a:lvl3pPr>
                <a:lvl4pPr marL="1600200" indent="-228600">
                  <a:defRPr sz="900" b="1">
                    <a:solidFill>
                      <a:schemeClr val="bg1"/>
                    </a:solidFill>
                    <a:latin typeface="Arial" panose="020B0604020202020204" pitchFamily="34" charset="0"/>
                    <a:ea typeface="MS PGothic" panose="020B0600070205080204" pitchFamily="34" charset="-128"/>
                  </a:defRPr>
                </a:lvl4pPr>
                <a:lvl5pPr marL="2057400" indent="-228600">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ctr"/>
                <a:r>
                  <a:rPr lang="en-US" altLang="en-US" sz="1800" dirty="0"/>
                  <a:t>Definition</a:t>
                </a:r>
              </a:p>
            </p:txBody>
          </p:sp>
        </p:grpSp>
        <p:sp>
          <p:nvSpPr>
            <p:cNvPr id="8" name="Rectangle 8">
              <a:extLst>
                <a:ext uri="{FF2B5EF4-FFF2-40B4-BE49-F238E27FC236}">
                  <a16:creationId xmlns:a16="http://schemas.microsoft.com/office/drawing/2014/main" id="{2F81BE68-9298-D5F5-5099-E045E7572FBC}"/>
                </a:ext>
              </a:extLst>
            </p:cNvPr>
            <p:cNvSpPr>
              <a:spLocks noChangeArrowheads="1"/>
            </p:cNvSpPr>
            <p:nvPr/>
          </p:nvSpPr>
          <p:spPr bwMode="auto">
            <a:xfrm>
              <a:off x="2046288" y="2346326"/>
              <a:ext cx="2716212" cy="1535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tabLst>
                  <a:tab pos="3086100" algn="l"/>
                </a:tabLst>
                <a:defRPr sz="900" b="1">
                  <a:solidFill>
                    <a:schemeClr val="bg1"/>
                  </a:solidFill>
                  <a:latin typeface="Arial" panose="020B0604020202020204" pitchFamily="34" charset="0"/>
                  <a:ea typeface="MS PGothic" panose="020B0600070205080204" pitchFamily="34" charset="-128"/>
                </a:defRPr>
              </a:lvl1pPr>
              <a:lvl2pPr marL="742950" indent="-285750">
                <a:tabLst>
                  <a:tab pos="3086100" algn="l"/>
                </a:tabLst>
                <a:defRPr sz="900" b="1">
                  <a:solidFill>
                    <a:schemeClr val="bg1"/>
                  </a:solidFill>
                  <a:latin typeface="Arial" panose="020B0604020202020204" pitchFamily="34" charset="0"/>
                  <a:ea typeface="MS PGothic" panose="020B0600070205080204" pitchFamily="34" charset="-128"/>
                </a:defRPr>
              </a:lvl2pPr>
              <a:lvl3pPr marL="1143000" indent="-228600">
                <a:tabLst>
                  <a:tab pos="3086100" algn="l"/>
                </a:tabLst>
                <a:defRPr sz="900" b="1">
                  <a:solidFill>
                    <a:schemeClr val="bg1"/>
                  </a:solidFill>
                  <a:latin typeface="Arial" panose="020B0604020202020204" pitchFamily="34" charset="0"/>
                  <a:ea typeface="MS PGothic" panose="020B0600070205080204" pitchFamily="34" charset="-128"/>
                </a:defRPr>
              </a:lvl3pPr>
              <a:lvl4pPr marL="1600200" indent="-228600">
                <a:tabLst>
                  <a:tab pos="3086100" algn="l"/>
                </a:tabLst>
                <a:defRPr sz="900" b="1">
                  <a:solidFill>
                    <a:schemeClr val="bg1"/>
                  </a:solidFill>
                  <a:latin typeface="Arial" panose="020B0604020202020204" pitchFamily="34" charset="0"/>
                  <a:ea typeface="MS PGothic" panose="020B0600070205080204" pitchFamily="34" charset="-128"/>
                </a:defRPr>
              </a:lvl4pPr>
              <a:lvl5pPr marL="2057400" indent="-228600">
                <a:tabLst>
                  <a:tab pos="3086100" algn="l"/>
                </a:tabLst>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Aft>
                  <a:spcPct val="20000"/>
                </a:spcAft>
                <a:buClr>
                  <a:schemeClr val="accent1"/>
                </a:buClr>
                <a:buSzPct val="40000"/>
                <a:buFont typeface="Wingdings" panose="05000000000000000000" pitchFamily="2" charset="2"/>
                <a:buChar char="n"/>
              </a:pPr>
              <a:r>
                <a:rPr lang="en-US" altLang="en-US" sz="1600" dirty="0">
                  <a:solidFill>
                    <a:schemeClr val="tx1"/>
                  </a:solidFill>
                </a:rPr>
                <a:t>Fundamental tool used to create workplace organization, improve productivity, and enable visual management </a:t>
              </a:r>
            </a:p>
            <a:p>
              <a:pPr algn="l" eaLnBrk="1" hangingPunct="1">
                <a:lnSpc>
                  <a:spcPct val="100000"/>
                </a:lnSpc>
                <a:spcAft>
                  <a:spcPct val="20000"/>
                </a:spcAft>
                <a:buClr>
                  <a:schemeClr val="accent1"/>
                </a:buClr>
                <a:buSzPct val="40000"/>
                <a:buFont typeface="Wingdings" panose="05000000000000000000" pitchFamily="2" charset="2"/>
                <a:buChar char="n"/>
              </a:pPr>
              <a:r>
                <a:rPr lang="en-US" altLang="en-US" sz="1600" dirty="0">
                  <a:solidFill>
                    <a:schemeClr val="tx1"/>
                  </a:solidFill>
                </a:rPr>
                <a:t>Used by all associates as a stand-alone tool or in conjunction with other lean tools</a:t>
              </a:r>
            </a:p>
          </p:txBody>
        </p:sp>
        <p:sp>
          <p:nvSpPr>
            <p:cNvPr id="9" name="Rectangle 9">
              <a:extLst>
                <a:ext uri="{FF2B5EF4-FFF2-40B4-BE49-F238E27FC236}">
                  <a16:creationId xmlns:a16="http://schemas.microsoft.com/office/drawing/2014/main" id="{69C49F91-644A-8A8A-E27A-ED6967CCE98E}"/>
                </a:ext>
              </a:extLst>
            </p:cNvPr>
            <p:cNvSpPr>
              <a:spLocks noChangeArrowheads="1"/>
            </p:cNvSpPr>
            <p:nvPr/>
          </p:nvSpPr>
          <p:spPr bwMode="auto">
            <a:xfrm>
              <a:off x="4806950" y="2354263"/>
              <a:ext cx="2527300" cy="1535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tabLst>
                  <a:tab pos="3086100" algn="l"/>
                </a:tabLst>
                <a:defRPr sz="900" b="1">
                  <a:solidFill>
                    <a:schemeClr val="bg1"/>
                  </a:solidFill>
                  <a:latin typeface="Arial" panose="020B0604020202020204" pitchFamily="34" charset="0"/>
                  <a:ea typeface="MS PGothic" panose="020B0600070205080204" pitchFamily="34" charset="-128"/>
                </a:defRPr>
              </a:lvl1pPr>
              <a:lvl2pPr marL="742950" indent="-285750">
                <a:tabLst>
                  <a:tab pos="3086100" algn="l"/>
                </a:tabLst>
                <a:defRPr sz="900" b="1">
                  <a:solidFill>
                    <a:schemeClr val="bg1"/>
                  </a:solidFill>
                  <a:latin typeface="Arial" panose="020B0604020202020204" pitchFamily="34" charset="0"/>
                  <a:ea typeface="MS PGothic" panose="020B0600070205080204" pitchFamily="34" charset="-128"/>
                </a:defRPr>
              </a:lvl2pPr>
              <a:lvl3pPr marL="1143000" indent="-228600">
                <a:tabLst>
                  <a:tab pos="3086100" algn="l"/>
                </a:tabLst>
                <a:defRPr sz="900" b="1">
                  <a:solidFill>
                    <a:schemeClr val="bg1"/>
                  </a:solidFill>
                  <a:latin typeface="Arial" panose="020B0604020202020204" pitchFamily="34" charset="0"/>
                  <a:ea typeface="MS PGothic" panose="020B0600070205080204" pitchFamily="34" charset="-128"/>
                </a:defRPr>
              </a:lvl3pPr>
              <a:lvl4pPr marL="1600200" indent="-228600">
                <a:tabLst>
                  <a:tab pos="3086100" algn="l"/>
                </a:tabLst>
                <a:defRPr sz="900" b="1">
                  <a:solidFill>
                    <a:schemeClr val="bg1"/>
                  </a:solidFill>
                  <a:latin typeface="Arial" panose="020B0604020202020204" pitchFamily="34" charset="0"/>
                  <a:ea typeface="MS PGothic" panose="020B0600070205080204" pitchFamily="34" charset="-128"/>
                </a:defRPr>
              </a:lvl4pPr>
              <a:lvl5pPr marL="2057400" indent="-228600">
                <a:tabLst>
                  <a:tab pos="3086100" algn="l"/>
                </a:tabLst>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Aft>
                  <a:spcPct val="20000"/>
                </a:spcAft>
                <a:buClr>
                  <a:schemeClr val="accent1"/>
                </a:buClr>
                <a:buSzPct val="40000"/>
                <a:buFont typeface="Wingdings" panose="05000000000000000000" pitchFamily="2" charset="2"/>
                <a:buChar char="n"/>
              </a:pPr>
              <a:r>
                <a:rPr lang="en-US" altLang="en-US" sz="1600" dirty="0">
                  <a:solidFill>
                    <a:schemeClr val="tx1"/>
                  </a:solidFill>
                </a:rPr>
                <a:t>Allows for a safe work environment</a:t>
              </a:r>
            </a:p>
            <a:p>
              <a:pPr algn="l" eaLnBrk="1" hangingPunct="1">
                <a:lnSpc>
                  <a:spcPct val="100000"/>
                </a:lnSpc>
                <a:spcAft>
                  <a:spcPct val="20000"/>
                </a:spcAft>
                <a:buClr>
                  <a:schemeClr val="accent1"/>
                </a:buClr>
                <a:buSzPct val="40000"/>
                <a:buFont typeface="Wingdings" panose="05000000000000000000" pitchFamily="2" charset="2"/>
                <a:buChar char="n"/>
              </a:pPr>
              <a:r>
                <a:rPr lang="en-US" altLang="en-US" sz="1600" dirty="0">
                  <a:solidFill>
                    <a:schemeClr val="tx1"/>
                  </a:solidFill>
                </a:rPr>
                <a:t>Improves quality by eliminating the possibility of using rejected parts or wrong tools</a:t>
              </a:r>
            </a:p>
            <a:p>
              <a:pPr algn="l" eaLnBrk="1" hangingPunct="1">
                <a:lnSpc>
                  <a:spcPct val="100000"/>
                </a:lnSpc>
                <a:spcAft>
                  <a:spcPct val="20000"/>
                </a:spcAft>
                <a:buClr>
                  <a:schemeClr val="accent1"/>
                </a:buClr>
                <a:buSzPct val="40000"/>
                <a:buFont typeface="Wingdings" panose="05000000000000000000" pitchFamily="2" charset="2"/>
                <a:buChar char="n"/>
              </a:pPr>
              <a:r>
                <a:rPr lang="en-US" altLang="en-US" sz="1600" dirty="0">
                  <a:solidFill>
                    <a:schemeClr val="tx1"/>
                  </a:solidFill>
                </a:rPr>
                <a:t>Improves productivity by eliminating time spent searching</a:t>
              </a:r>
            </a:p>
          </p:txBody>
        </p:sp>
        <p:sp>
          <p:nvSpPr>
            <p:cNvPr id="10" name="Rectangle 10">
              <a:extLst>
                <a:ext uri="{FF2B5EF4-FFF2-40B4-BE49-F238E27FC236}">
                  <a16:creationId xmlns:a16="http://schemas.microsoft.com/office/drawing/2014/main" id="{92902FBC-90DB-9775-8CAE-EE5FD794A738}"/>
                </a:ext>
              </a:extLst>
            </p:cNvPr>
            <p:cNvSpPr>
              <a:spLocks noChangeArrowheads="1"/>
            </p:cNvSpPr>
            <p:nvPr/>
          </p:nvSpPr>
          <p:spPr bwMode="auto">
            <a:xfrm>
              <a:off x="7459663" y="2354263"/>
              <a:ext cx="2527300" cy="1535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tabLst>
                  <a:tab pos="3086100" algn="l"/>
                </a:tabLst>
                <a:defRPr sz="900" b="1">
                  <a:solidFill>
                    <a:schemeClr val="bg1"/>
                  </a:solidFill>
                  <a:latin typeface="Arial" panose="020B0604020202020204" pitchFamily="34" charset="0"/>
                  <a:ea typeface="MS PGothic" panose="020B0600070205080204" pitchFamily="34" charset="-128"/>
                </a:defRPr>
              </a:lvl1pPr>
              <a:lvl2pPr marL="742950" indent="-285750">
                <a:tabLst>
                  <a:tab pos="3086100" algn="l"/>
                </a:tabLst>
                <a:defRPr sz="900" b="1">
                  <a:solidFill>
                    <a:schemeClr val="bg1"/>
                  </a:solidFill>
                  <a:latin typeface="Arial" panose="020B0604020202020204" pitchFamily="34" charset="0"/>
                  <a:ea typeface="MS PGothic" panose="020B0600070205080204" pitchFamily="34" charset="-128"/>
                </a:defRPr>
              </a:lvl2pPr>
              <a:lvl3pPr marL="1143000" indent="-228600">
                <a:tabLst>
                  <a:tab pos="3086100" algn="l"/>
                </a:tabLst>
                <a:defRPr sz="900" b="1">
                  <a:solidFill>
                    <a:schemeClr val="bg1"/>
                  </a:solidFill>
                  <a:latin typeface="Arial" panose="020B0604020202020204" pitchFamily="34" charset="0"/>
                  <a:ea typeface="MS PGothic" panose="020B0600070205080204" pitchFamily="34" charset="-128"/>
                </a:defRPr>
              </a:lvl3pPr>
              <a:lvl4pPr marL="1600200" indent="-228600">
                <a:tabLst>
                  <a:tab pos="3086100" algn="l"/>
                </a:tabLst>
                <a:defRPr sz="900" b="1">
                  <a:solidFill>
                    <a:schemeClr val="bg1"/>
                  </a:solidFill>
                  <a:latin typeface="Arial" panose="020B0604020202020204" pitchFamily="34" charset="0"/>
                  <a:ea typeface="MS PGothic" panose="020B0600070205080204" pitchFamily="34" charset="-128"/>
                </a:defRPr>
              </a:lvl4pPr>
              <a:lvl5pPr marL="2057400" indent="-228600">
                <a:tabLst>
                  <a:tab pos="3086100" algn="l"/>
                </a:tabLst>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Aft>
                  <a:spcPct val="20000"/>
                </a:spcAft>
                <a:buClr>
                  <a:schemeClr val="accent1"/>
                </a:buClr>
                <a:buSzPct val="40000"/>
                <a:buFont typeface="Wingdings" panose="05000000000000000000" pitchFamily="2" charset="2"/>
                <a:buChar char="n"/>
              </a:pPr>
              <a:r>
                <a:rPr lang="en-US" altLang="en-US" sz="1600" dirty="0">
                  <a:solidFill>
                    <a:schemeClr val="tx1"/>
                  </a:solidFill>
                </a:rPr>
                <a:t>A clear understanding of the true business process</a:t>
              </a:r>
            </a:p>
            <a:p>
              <a:pPr algn="l" eaLnBrk="1" hangingPunct="1">
                <a:lnSpc>
                  <a:spcPct val="100000"/>
                </a:lnSpc>
                <a:spcAft>
                  <a:spcPct val="20000"/>
                </a:spcAft>
                <a:buClr>
                  <a:schemeClr val="accent1"/>
                </a:buClr>
                <a:buSzPct val="40000"/>
                <a:buFont typeface="Wingdings" panose="05000000000000000000" pitchFamily="2" charset="2"/>
                <a:buChar char="n"/>
              </a:pPr>
              <a:r>
                <a:rPr lang="en-US" altLang="en-US" sz="1600" dirty="0">
                  <a:solidFill>
                    <a:schemeClr val="tx1"/>
                  </a:solidFill>
                </a:rPr>
                <a:t>A neat, organized work environment</a:t>
              </a:r>
            </a:p>
            <a:p>
              <a:pPr algn="l" eaLnBrk="1" hangingPunct="1">
                <a:lnSpc>
                  <a:spcPct val="100000"/>
                </a:lnSpc>
                <a:spcAft>
                  <a:spcPct val="20000"/>
                </a:spcAft>
                <a:buClr>
                  <a:schemeClr val="accent1"/>
                </a:buClr>
                <a:buSzPct val="40000"/>
                <a:buFont typeface="Wingdings" panose="05000000000000000000" pitchFamily="2" charset="2"/>
                <a:buChar char="n"/>
              </a:pPr>
              <a:r>
                <a:rPr lang="en-US" altLang="en-US" sz="1600" dirty="0">
                  <a:solidFill>
                    <a:schemeClr val="tx1"/>
                  </a:solidFill>
                </a:rPr>
                <a:t>A place for everything and everything in its place</a:t>
              </a:r>
            </a:p>
          </p:txBody>
        </p:sp>
        <p:sp>
          <p:nvSpPr>
            <p:cNvPr id="12" name="Oval 11">
              <a:extLst>
                <a:ext uri="{FF2B5EF4-FFF2-40B4-BE49-F238E27FC236}">
                  <a16:creationId xmlns:a16="http://schemas.microsoft.com/office/drawing/2014/main" id="{C355307C-BA0A-D797-3939-3B02C7D0D863}"/>
                </a:ext>
              </a:extLst>
            </p:cNvPr>
            <p:cNvSpPr>
              <a:spLocks noChangeArrowheads="1"/>
            </p:cNvSpPr>
            <p:nvPr/>
          </p:nvSpPr>
          <p:spPr bwMode="auto">
            <a:xfrm>
              <a:off x="2171700" y="1682750"/>
              <a:ext cx="323850" cy="287338"/>
            </a:xfrm>
            <a:prstGeom prst="ellipse">
              <a:avLst/>
            </a:prstGeom>
            <a:solidFill>
              <a:schemeClr val="bg1"/>
            </a:solidFill>
            <a:ln w="19050" cap="sq">
              <a:solidFill>
                <a:srgbClr val="000066"/>
              </a:solidFill>
              <a:round/>
              <a:headEnd/>
              <a:tailEnd/>
            </a:ln>
          </p:spPr>
          <p:txBody>
            <a:bodyPr wrap="none" anchor="ctr"/>
            <a:lstStyle>
              <a:lvl1pPr>
                <a:defRPr sz="900" b="1">
                  <a:solidFill>
                    <a:schemeClr val="bg1"/>
                  </a:solidFill>
                  <a:latin typeface="Arial" panose="020B0604020202020204" pitchFamily="34" charset="0"/>
                  <a:ea typeface="MS PGothic" panose="020B0600070205080204" pitchFamily="34" charset="-128"/>
                </a:defRPr>
              </a:lvl1pPr>
              <a:lvl2pPr marL="742950" indent="-285750">
                <a:defRPr sz="900" b="1">
                  <a:solidFill>
                    <a:schemeClr val="bg1"/>
                  </a:solidFill>
                  <a:latin typeface="Arial" panose="020B0604020202020204" pitchFamily="34" charset="0"/>
                  <a:ea typeface="MS PGothic" panose="020B0600070205080204" pitchFamily="34" charset="-128"/>
                </a:defRPr>
              </a:lvl2pPr>
              <a:lvl3pPr marL="1143000" indent="-228600">
                <a:defRPr sz="900" b="1">
                  <a:solidFill>
                    <a:schemeClr val="bg1"/>
                  </a:solidFill>
                  <a:latin typeface="Arial" panose="020B0604020202020204" pitchFamily="34" charset="0"/>
                  <a:ea typeface="MS PGothic" panose="020B0600070205080204" pitchFamily="34" charset="-128"/>
                </a:defRPr>
              </a:lvl3pPr>
              <a:lvl4pPr marL="1600200" indent="-228600">
                <a:defRPr sz="900" b="1">
                  <a:solidFill>
                    <a:schemeClr val="bg1"/>
                  </a:solidFill>
                  <a:latin typeface="Arial" panose="020B0604020202020204" pitchFamily="34" charset="0"/>
                  <a:ea typeface="MS PGothic" panose="020B0600070205080204" pitchFamily="34" charset="-128"/>
                </a:defRPr>
              </a:lvl4pPr>
              <a:lvl5pPr marL="2057400" indent="-228600">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ctr"/>
              <a:r>
                <a:rPr lang="en-US" altLang="en-US" sz="1600" dirty="0">
                  <a:solidFill>
                    <a:schemeClr val="tx1"/>
                  </a:solidFill>
                </a:rPr>
                <a:t>1</a:t>
              </a:r>
            </a:p>
          </p:txBody>
        </p:sp>
        <p:sp>
          <p:nvSpPr>
            <p:cNvPr id="13" name="Oval 12">
              <a:extLst>
                <a:ext uri="{FF2B5EF4-FFF2-40B4-BE49-F238E27FC236}">
                  <a16:creationId xmlns:a16="http://schemas.microsoft.com/office/drawing/2014/main" id="{A43F40A0-31EA-B333-B246-7FE786CC457C}"/>
                </a:ext>
              </a:extLst>
            </p:cNvPr>
            <p:cNvSpPr>
              <a:spLocks noChangeArrowheads="1"/>
            </p:cNvSpPr>
            <p:nvPr/>
          </p:nvSpPr>
          <p:spPr bwMode="auto">
            <a:xfrm>
              <a:off x="4843463" y="1690689"/>
              <a:ext cx="323850" cy="287337"/>
            </a:xfrm>
            <a:prstGeom prst="ellipse">
              <a:avLst/>
            </a:prstGeom>
            <a:solidFill>
              <a:schemeClr val="bg1"/>
            </a:solidFill>
            <a:ln w="19050" cap="sq">
              <a:solidFill>
                <a:srgbClr val="000066"/>
              </a:solidFill>
              <a:round/>
              <a:headEnd/>
              <a:tailEnd/>
            </a:ln>
          </p:spPr>
          <p:txBody>
            <a:bodyPr wrap="none" anchor="ctr"/>
            <a:lstStyle>
              <a:lvl1pPr>
                <a:defRPr sz="900" b="1">
                  <a:solidFill>
                    <a:schemeClr val="bg1"/>
                  </a:solidFill>
                  <a:latin typeface="Arial" panose="020B0604020202020204" pitchFamily="34" charset="0"/>
                  <a:ea typeface="MS PGothic" panose="020B0600070205080204" pitchFamily="34" charset="-128"/>
                </a:defRPr>
              </a:lvl1pPr>
              <a:lvl2pPr marL="742950" indent="-285750">
                <a:defRPr sz="900" b="1">
                  <a:solidFill>
                    <a:schemeClr val="bg1"/>
                  </a:solidFill>
                  <a:latin typeface="Arial" panose="020B0604020202020204" pitchFamily="34" charset="0"/>
                  <a:ea typeface="MS PGothic" panose="020B0600070205080204" pitchFamily="34" charset="-128"/>
                </a:defRPr>
              </a:lvl2pPr>
              <a:lvl3pPr marL="1143000" indent="-228600">
                <a:defRPr sz="900" b="1">
                  <a:solidFill>
                    <a:schemeClr val="bg1"/>
                  </a:solidFill>
                  <a:latin typeface="Arial" panose="020B0604020202020204" pitchFamily="34" charset="0"/>
                  <a:ea typeface="MS PGothic" panose="020B0600070205080204" pitchFamily="34" charset="-128"/>
                </a:defRPr>
              </a:lvl3pPr>
              <a:lvl4pPr marL="1600200" indent="-228600">
                <a:defRPr sz="900" b="1">
                  <a:solidFill>
                    <a:schemeClr val="bg1"/>
                  </a:solidFill>
                  <a:latin typeface="Arial" panose="020B0604020202020204" pitchFamily="34" charset="0"/>
                  <a:ea typeface="MS PGothic" panose="020B0600070205080204" pitchFamily="34" charset="-128"/>
                </a:defRPr>
              </a:lvl4pPr>
              <a:lvl5pPr marL="2057400" indent="-228600">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ctr"/>
              <a:r>
                <a:rPr lang="en-US" altLang="en-US" sz="1600">
                  <a:solidFill>
                    <a:schemeClr val="tx1"/>
                  </a:solidFill>
                </a:rPr>
                <a:t>2</a:t>
              </a:r>
            </a:p>
          </p:txBody>
        </p:sp>
        <p:sp>
          <p:nvSpPr>
            <p:cNvPr id="14" name="Oval 13">
              <a:extLst>
                <a:ext uri="{FF2B5EF4-FFF2-40B4-BE49-F238E27FC236}">
                  <a16:creationId xmlns:a16="http://schemas.microsoft.com/office/drawing/2014/main" id="{7C877DAE-AD08-CBCC-8000-AB7FCEADAC13}"/>
                </a:ext>
              </a:extLst>
            </p:cNvPr>
            <p:cNvSpPr>
              <a:spLocks noChangeArrowheads="1"/>
            </p:cNvSpPr>
            <p:nvPr/>
          </p:nvSpPr>
          <p:spPr bwMode="auto">
            <a:xfrm>
              <a:off x="7366000" y="1679575"/>
              <a:ext cx="323850" cy="287338"/>
            </a:xfrm>
            <a:prstGeom prst="ellipse">
              <a:avLst/>
            </a:prstGeom>
            <a:solidFill>
              <a:schemeClr val="bg1"/>
            </a:solidFill>
            <a:ln w="19050" cap="sq">
              <a:solidFill>
                <a:srgbClr val="000066"/>
              </a:solidFill>
              <a:round/>
              <a:headEnd/>
              <a:tailEnd/>
            </a:ln>
          </p:spPr>
          <p:txBody>
            <a:bodyPr wrap="none" anchor="ctr"/>
            <a:lstStyle>
              <a:lvl1pPr>
                <a:defRPr sz="900" b="1">
                  <a:solidFill>
                    <a:schemeClr val="bg1"/>
                  </a:solidFill>
                  <a:latin typeface="Arial" panose="020B0604020202020204" pitchFamily="34" charset="0"/>
                  <a:ea typeface="MS PGothic" panose="020B0600070205080204" pitchFamily="34" charset="-128"/>
                </a:defRPr>
              </a:lvl1pPr>
              <a:lvl2pPr marL="742950" indent="-285750">
                <a:defRPr sz="900" b="1">
                  <a:solidFill>
                    <a:schemeClr val="bg1"/>
                  </a:solidFill>
                  <a:latin typeface="Arial" panose="020B0604020202020204" pitchFamily="34" charset="0"/>
                  <a:ea typeface="MS PGothic" panose="020B0600070205080204" pitchFamily="34" charset="-128"/>
                </a:defRPr>
              </a:lvl2pPr>
              <a:lvl3pPr marL="1143000" indent="-228600">
                <a:defRPr sz="900" b="1">
                  <a:solidFill>
                    <a:schemeClr val="bg1"/>
                  </a:solidFill>
                  <a:latin typeface="Arial" panose="020B0604020202020204" pitchFamily="34" charset="0"/>
                  <a:ea typeface="MS PGothic" panose="020B0600070205080204" pitchFamily="34" charset="-128"/>
                </a:defRPr>
              </a:lvl3pPr>
              <a:lvl4pPr marL="1600200" indent="-228600">
                <a:defRPr sz="900" b="1">
                  <a:solidFill>
                    <a:schemeClr val="bg1"/>
                  </a:solidFill>
                  <a:latin typeface="Arial" panose="020B0604020202020204" pitchFamily="34" charset="0"/>
                  <a:ea typeface="MS PGothic" panose="020B0600070205080204" pitchFamily="34" charset="-128"/>
                </a:defRPr>
              </a:lvl4pPr>
              <a:lvl5pPr marL="2057400" indent="-228600">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ctr"/>
              <a:r>
                <a:rPr lang="en-US" altLang="en-US" sz="1600" dirty="0">
                  <a:solidFill>
                    <a:schemeClr val="tx1"/>
                  </a:solidFill>
                </a:rPr>
                <a:t>3</a:t>
              </a:r>
            </a:p>
          </p:txBody>
        </p:sp>
        <p:sp>
          <p:nvSpPr>
            <p:cNvPr id="15" name="AutoShape 14">
              <a:extLst>
                <a:ext uri="{FF2B5EF4-FFF2-40B4-BE49-F238E27FC236}">
                  <a16:creationId xmlns:a16="http://schemas.microsoft.com/office/drawing/2014/main" id="{7DD1E624-6B83-D669-E4D5-3E5F47D4AA54}"/>
                </a:ext>
              </a:extLst>
            </p:cNvPr>
            <p:cNvSpPr>
              <a:spLocks noChangeArrowheads="1"/>
            </p:cNvSpPr>
            <p:nvPr/>
          </p:nvSpPr>
          <p:spPr bwMode="auto">
            <a:xfrm>
              <a:off x="2024211" y="5333066"/>
              <a:ext cx="8204200" cy="520700"/>
            </a:xfrm>
            <a:prstGeom prst="homePlate">
              <a:avLst>
                <a:gd name="adj" fmla="val 32169"/>
              </a:avLst>
            </a:prstGeom>
            <a:solidFill>
              <a:srgbClr val="FFB627"/>
            </a:solidFill>
            <a:ln>
              <a:solidFill>
                <a:schemeClr val="tx2"/>
              </a:solidFill>
            </a:ln>
          </p:spPr>
          <p:txBody>
            <a:bodyPr wrap="none" anchor="ctr"/>
            <a:lstStyle>
              <a:lvl1pPr>
                <a:defRPr sz="900" b="1">
                  <a:solidFill>
                    <a:schemeClr val="bg1"/>
                  </a:solidFill>
                  <a:latin typeface="Arial" panose="020B0604020202020204" pitchFamily="34" charset="0"/>
                  <a:ea typeface="MS PGothic" panose="020B0600070205080204" pitchFamily="34" charset="-128"/>
                </a:defRPr>
              </a:lvl1pPr>
              <a:lvl2pPr marL="742950" indent="-285750">
                <a:defRPr sz="900" b="1">
                  <a:solidFill>
                    <a:schemeClr val="bg1"/>
                  </a:solidFill>
                  <a:latin typeface="Arial" panose="020B0604020202020204" pitchFamily="34" charset="0"/>
                  <a:ea typeface="MS PGothic" panose="020B0600070205080204" pitchFamily="34" charset="-128"/>
                </a:defRPr>
              </a:lvl2pPr>
              <a:lvl3pPr marL="1143000" indent="-228600">
                <a:defRPr sz="900" b="1">
                  <a:solidFill>
                    <a:schemeClr val="bg1"/>
                  </a:solidFill>
                  <a:latin typeface="Arial" panose="020B0604020202020204" pitchFamily="34" charset="0"/>
                  <a:ea typeface="MS PGothic" panose="020B0600070205080204" pitchFamily="34" charset="-128"/>
                </a:defRPr>
              </a:lvl3pPr>
              <a:lvl4pPr marL="1600200" indent="-228600">
                <a:defRPr sz="900" b="1">
                  <a:solidFill>
                    <a:schemeClr val="bg1"/>
                  </a:solidFill>
                  <a:latin typeface="Arial" panose="020B0604020202020204" pitchFamily="34" charset="0"/>
                  <a:ea typeface="MS PGothic" panose="020B0600070205080204" pitchFamily="34" charset="-128"/>
                </a:defRPr>
              </a:lvl4pPr>
              <a:lvl5pPr marL="2057400" indent="-228600">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ctr">
                <a:lnSpc>
                  <a:spcPct val="100000"/>
                </a:lnSpc>
                <a:spcBef>
                  <a:spcPct val="0"/>
                </a:spcBef>
              </a:pPr>
              <a:r>
                <a:rPr lang="en-US" altLang="en-US" sz="1800" dirty="0">
                  <a:solidFill>
                    <a:sysClr val="windowText" lastClr="000000"/>
                  </a:solidFill>
                </a:rPr>
                <a:t>5S has been quoted as the most important of all lean tools</a:t>
              </a:r>
            </a:p>
          </p:txBody>
        </p:sp>
      </p:grpSp>
      <p:sp>
        <p:nvSpPr>
          <p:cNvPr id="3" name="AutoShape 9">
            <a:extLst>
              <a:ext uri="{FF2B5EF4-FFF2-40B4-BE49-F238E27FC236}">
                <a16:creationId xmlns:a16="http://schemas.microsoft.com/office/drawing/2014/main" id="{A5747EE1-12EE-7B41-4C7E-350D11F78D25}"/>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6" name="AutoShape 11">
            <a:extLst>
              <a:ext uri="{FF2B5EF4-FFF2-40B4-BE49-F238E27FC236}">
                <a16:creationId xmlns:a16="http://schemas.microsoft.com/office/drawing/2014/main" id="{27DB9ACD-5E14-5547-5557-08DE03D6DB1D}"/>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1" name="AutoShape 10">
            <a:extLst>
              <a:ext uri="{FF2B5EF4-FFF2-40B4-BE49-F238E27FC236}">
                <a16:creationId xmlns:a16="http://schemas.microsoft.com/office/drawing/2014/main" id="{D09A4BE1-AA0F-3EBE-9289-171A0830EB42}"/>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Tree>
    <p:extLst>
      <p:ext uri="{BB962C8B-B14F-4D97-AF65-F5344CB8AC3E}">
        <p14:creationId xmlns:p14="http://schemas.microsoft.com/office/powerpoint/2010/main" val="46801353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D59612-57A7-4226-15D4-E621CF0130AB}"/>
              </a:ext>
            </a:extLst>
          </p:cNvPr>
          <p:cNvSpPr>
            <a:spLocks noGrp="1"/>
          </p:cNvSpPr>
          <p:nvPr>
            <p:ph type="title"/>
          </p:nvPr>
        </p:nvSpPr>
        <p:spPr/>
        <p:txBody>
          <a:bodyPr>
            <a:normAutofit/>
          </a:bodyPr>
          <a:lstStyle/>
          <a:p>
            <a:r>
              <a:rPr lang="en-US" sz="4000" dirty="0">
                <a:latin typeface="Roboto Medium"/>
                <a:ea typeface="Roboto Medium"/>
                <a:cs typeface="Roboto Medium"/>
              </a:rPr>
              <a:t>5S Process</a:t>
            </a:r>
          </a:p>
        </p:txBody>
      </p:sp>
      <p:sp>
        <p:nvSpPr>
          <p:cNvPr id="4" name="Footer Placeholder 3">
            <a:extLst>
              <a:ext uri="{FF2B5EF4-FFF2-40B4-BE49-F238E27FC236}">
                <a16:creationId xmlns:a16="http://schemas.microsoft.com/office/drawing/2014/main" id="{CB1F8C30-D81C-1E27-D266-2BC421C72FD6}"/>
              </a:ext>
            </a:extLst>
          </p:cNvPr>
          <p:cNvSpPr>
            <a:spLocks noGrp="1"/>
          </p:cNvSpPr>
          <p:nvPr>
            <p:ph type="ftr" sz="quarter" idx="11"/>
          </p:nvPr>
        </p:nvSpPr>
        <p:spPr/>
        <p:txBody>
          <a:bodyPr/>
          <a:lstStyle/>
          <a:p>
            <a:r>
              <a:rPr lang="en-US"/>
              <a:t>© Lean Horizons Consulting, LLC 2023. All Rights Reserved</a:t>
            </a:r>
            <a:endParaRPr lang="en-US" dirty="0"/>
          </a:p>
        </p:txBody>
      </p:sp>
      <p:sp>
        <p:nvSpPr>
          <p:cNvPr id="5" name="Slide Number Placeholder 4">
            <a:extLst>
              <a:ext uri="{FF2B5EF4-FFF2-40B4-BE49-F238E27FC236}">
                <a16:creationId xmlns:a16="http://schemas.microsoft.com/office/drawing/2014/main" id="{1AA34B74-93DA-5F21-CF4A-77FE692D026C}"/>
              </a:ext>
            </a:extLst>
          </p:cNvPr>
          <p:cNvSpPr>
            <a:spLocks noGrp="1"/>
          </p:cNvSpPr>
          <p:nvPr>
            <p:ph type="sldNum" sz="quarter" idx="12"/>
          </p:nvPr>
        </p:nvSpPr>
        <p:spPr/>
        <p:txBody>
          <a:bodyPr/>
          <a:lstStyle/>
          <a:p>
            <a:fld id="{CC6D4273-7FC1-0947-B9FE-19CB3C0D1FB6}" type="slidenum">
              <a:rPr lang="en-US" smtClean="0"/>
              <a:t>45</a:t>
            </a:fld>
            <a:endParaRPr lang="en-US"/>
          </a:p>
        </p:txBody>
      </p:sp>
      <p:sp>
        <p:nvSpPr>
          <p:cNvPr id="37" name="TextBox 36">
            <a:extLst>
              <a:ext uri="{FF2B5EF4-FFF2-40B4-BE49-F238E27FC236}">
                <a16:creationId xmlns:a16="http://schemas.microsoft.com/office/drawing/2014/main" id="{0FAB3950-B9FC-BE60-5118-2B23F7E52A69}"/>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Lean Fundamentals</a:t>
            </a:r>
          </a:p>
        </p:txBody>
      </p:sp>
      <p:sp>
        <p:nvSpPr>
          <p:cNvPr id="11" name="Text Box 5">
            <a:extLst>
              <a:ext uri="{FF2B5EF4-FFF2-40B4-BE49-F238E27FC236}">
                <a16:creationId xmlns:a16="http://schemas.microsoft.com/office/drawing/2014/main" id="{95556D57-9689-72DE-66AD-D5AEE13B50CD}"/>
              </a:ext>
            </a:extLst>
          </p:cNvPr>
          <p:cNvSpPr txBox="1">
            <a:spLocks noChangeArrowheads="1"/>
          </p:cNvSpPr>
          <p:nvPr/>
        </p:nvSpPr>
        <p:spPr bwMode="auto">
          <a:xfrm>
            <a:off x="2443800" y="1888016"/>
            <a:ext cx="647700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900" b="1">
                <a:solidFill>
                  <a:schemeClr val="bg1"/>
                </a:solidFill>
                <a:latin typeface="Arial" panose="020B0604020202020204" pitchFamily="34" charset="0"/>
                <a:ea typeface="MS PGothic" panose="020B0600070205080204" pitchFamily="34" charset="-128"/>
              </a:defRPr>
            </a:lvl1pPr>
            <a:lvl2pPr marL="742950" indent="-285750">
              <a:defRPr sz="900" b="1">
                <a:solidFill>
                  <a:schemeClr val="bg1"/>
                </a:solidFill>
                <a:latin typeface="Arial" panose="020B0604020202020204" pitchFamily="34" charset="0"/>
                <a:ea typeface="MS PGothic" panose="020B0600070205080204" pitchFamily="34" charset="-128"/>
              </a:defRPr>
            </a:lvl2pPr>
            <a:lvl3pPr marL="1143000" indent="-228600">
              <a:defRPr sz="900" b="1">
                <a:solidFill>
                  <a:schemeClr val="bg1"/>
                </a:solidFill>
                <a:latin typeface="Arial" panose="020B0604020202020204" pitchFamily="34" charset="0"/>
                <a:ea typeface="MS PGothic" panose="020B0600070205080204" pitchFamily="34" charset="-128"/>
              </a:defRPr>
            </a:lvl3pPr>
            <a:lvl4pPr marL="1600200" indent="-228600">
              <a:defRPr sz="900" b="1">
                <a:solidFill>
                  <a:schemeClr val="bg1"/>
                </a:solidFill>
                <a:latin typeface="Arial" panose="020B0604020202020204" pitchFamily="34" charset="0"/>
                <a:ea typeface="MS PGothic" panose="020B0600070205080204" pitchFamily="34" charset="-128"/>
              </a:defRPr>
            </a:lvl4pPr>
            <a:lvl5pPr marL="2057400" indent="-228600">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50000"/>
              </a:spcBef>
            </a:pPr>
            <a:r>
              <a:rPr lang="en-US" altLang="en-US" sz="1600" b="0" dirty="0">
                <a:solidFill>
                  <a:schemeClr val="tx1"/>
                </a:solidFill>
                <a:latin typeface="Roboto" panose="02000000000000000000" pitchFamily="2" charset="0"/>
                <a:ea typeface="Roboto" panose="02000000000000000000" pitchFamily="2" charset="0"/>
                <a:cs typeface="Roboto" panose="02000000000000000000" pitchFamily="2" charset="0"/>
              </a:rPr>
              <a:t>Clearly distinguishing between what is necessary and what is unnecessary and disposing of the unnecessary.</a:t>
            </a:r>
          </a:p>
        </p:txBody>
      </p:sp>
      <p:sp>
        <p:nvSpPr>
          <p:cNvPr id="18" name="Text Box 6">
            <a:extLst>
              <a:ext uri="{FF2B5EF4-FFF2-40B4-BE49-F238E27FC236}">
                <a16:creationId xmlns:a16="http://schemas.microsoft.com/office/drawing/2014/main" id="{1930971A-FB70-4D41-34EF-E48628B01317}"/>
              </a:ext>
            </a:extLst>
          </p:cNvPr>
          <p:cNvSpPr txBox="1">
            <a:spLocks noChangeArrowheads="1"/>
          </p:cNvSpPr>
          <p:nvPr/>
        </p:nvSpPr>
        <p:spPr bwMode="auto">
          <a:xfrm>
            <a:off x="2494165" y="2745071"/>
            <a:ext cx="609600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900" b="1">
                <a:solidFill>
                  <a:schemeClr val="bg1"/>
                </a:solidFill>
                <a:latin typeface="Arial" panose="020B0604020202020204" pitchFamily="34" charset="0"/>
                <a:ea typeface="MS PGothic" panose="020B0600070205080204" pitchFamily="34" charset="-128"/>
              </a:defRPr>
            </a:lvl1pPr>
            <a:lvl2pPr marL="742950" indent="-285750">
              <a:defRPr sz="900" b="1">
                <a:solidFill>
                  <a:schemeClr val="bg1"/>
                </a:solidFill>
                <a:latin typeface="Arial" panose="020B0604020202020204" pitchFamily="34" charset="0"/>
                <a:ea typeface="MS PGothic" panose="020B0600070205080204" pitchFamily="34" charset="-128"/>
              </a:defRPr>
            </a:lvl2pPr>
            <a:lvl3pPr marL="1143000" indent="-228600">
              <a:defRPr sz="900" b="1">
                <a:solidFill>
                  <a:schemeClr val="bg1"/>
                </a:solidFill>
                <a:latin typeface="Arial" panose="020B0604020202020204" pitchFamily="34" charset="0"/>
                <a:ea typeface="MS PGothic" panose="020B0600070205080204" pitchFamily="34" charset="-128"/>
              </a:defRPr>
            </a:lvl3pPr>
            <a:lvl4pPr marL="1600200" indent="-228600">
              <a:defRPr sz="900" b="1">
                <a:solidFill>
                  <a:schemeClr val="bg1"/>
                </a:solidFill>
                <a:latin typeface="Arial" panose="020B0604020202020204" pitchFamily="34" charset="0"/>
                <a:ea typeface="MS PGothic" panose="020B0600070205080204" pitchFamily="34" charset="-128"/>
              </a:defRPr>
            </a:lvl4pPr>
            <a:lvl5pPr marL="2057400" indent="-228600">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50000"/>
              </a:spcBef>
            </a:pPr>
            <a:r>
              <a:rPr lang="en-US" altLang="en-US" sz="1600" b="0">
                <a:solidFill>
                  <a:schemeClr val="tx1"/>
                </a:solidFill>
                <a:latin typeface="Roboto" panose="02000000000000000000" pitchFamily="2" charset="0"/>
                <a:ea typeface="Roboto" panose="02000000000000000000" pitchFamily="2" charset="0"/>
                <a:cs typeface="Roboto" panose="02000000000000000000" pitchFamily="2" charset="0"/>
              </a:rPr>
              <a:t>Organizing the necessary items so that they can be used and returned easily.</a:t>
            </a:r>
          </a:p>
        </p:txBody>
      </p:sp>
      <p:sp>
        <p:nvSpPr>
          <p:cNvPr id="20" name="Text Box 7">
            <a:extLst>
              <a:ext uri="{FF2B5EF4-FFF2-40B4-BE49-F238E27FC236}">
                <a16:creationId xmlns:a16="http://schemas.microsoft.com/office/drawing/2014/main" id="{EE5D945C-2AB2-D3CD-2865-413D6CE31C35}"/>
              </a:ext>
            </a:extLst>
          </p:cNvPr>
          <p:cNvSpPr txBox="1">
            <a:spLocks noChangeArrowheads="1"/>
          </p:cNvSpPr>
          <p:nvPr/>
        </p:nvSpPr>
        <p:spPr bwMode="auto">
          <a:xfrm>
            <a:off x="2446931" y="3545366"/>
            <a:ext cx="640080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900" b="1">
                <a:solidFill>
                  <a:schemeClr val="bg1"/>
                </a:solidFill>
                <a:latin typeface="Arial" panose="020B0604020202020204" pitchFamily="34" charset="0"/>
                <a:ea typeface="MS PGothic" panose="020B0600070205080204" pitchFamily="34" charset="-128"/>
              </a:defRPr>
            </a:lvl1pPr>
            <a:lvl2pPr marL="742950" indent="-285750">
              <a:defRPr sz="900" b="1">
                <a:solidFill>
                  <a:schemeClr val="bg1"/>
                </a:solidFill>
                <a:latin typeface="Arial" panose="020B0604020202020204" pitchFamily="34" charset="0"/>
                <a:ea typeface="MS PGothic" panose="020B0600070205080204" pitchFamily="34" charset="-128"/>
              </a:defRPr>
            </a:lvl2pPr>
            <a:lvl3pPr marL="1143000" indent="-228600">
              <a:defRPr sz="900" b="1">
                <a:solidFill>
                  <a:schemeClr val="bg1"/>
                </a:solidFill>
                <a:latin typeface="Arial" panose="020B0604020202020204" pitchFamily="34" charset="0"/>
                <a:ea typeface="MS PGothic" panose="020B0600070205080204" pitchFamily="34" charset="-128"/>
              </a:defRPr>
            </a:lvl3pPr>
            <a:lvl4pPr marL="1600200" indent="-228600">
              <a:defRPr sz="900" b="1">
                <a:solidFill>
                  <a:schemeClr val="bg1"/>
                </a:solidFill>
                <a:latin typeface="Arial" panose="020B0604020202020204" pitchFamily="34" charset="0"/>
                <a:ea typeface="MS PGothic" panose="020B0600070205080204" pitchFamily="34" charset="-128"/>
              </a:defRPr>
            </a:lvl4pPr>
            <a:lvl5pPr marL="2057400" indent="-228600">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50000"/>
              </a:spcBef>
            </a:pPr>
            <a:r>
              <a:rPr lang="en-US" altLang="en-US" sz="1600" b="0" dirty="0">
                <a:solidFill>
                  <a:schemeClr val="tx1"/>
                </a:solidFill>
                <a:latin typeface="Roboto" panose="02000000000000000000" pitchFamily="2" charset="0"/>
                <a:ea typeface="Roboto" panose="02000000000000000000" pitchFamily="2" charset="0"/>
                <a:cs typeface="Roboto" panose="02000000000000000000" pitchFamily="2" charset="0"/>
              </a:rPr>
              <a:t>Cleaning floors, equipment, and furniture in all areas of the workplace.</a:t>
            </a:r>
          </a:p>
        </p:txBody>
      </p:sp>
      <p:sp>
        <p:nvSpPr>
          <p:cNvPr id="22" name="Text Box 9">
            <a:extLst>
              <a:ext uri="{FF2B5EF4-FFF2-40B4-BE49-F238E27FC236}">
                <a16:creationId xmlns:a16="http://schemas.microsoft.com/office/drawing/2014/main" id="{DD70D6D5-D9F5-1CF2-30F9-D91DC8BB00AC}"/>
              </a:ext>
            </a:extLst>
          </p:cNvPr>
          <p:cNvSpPr txBox="1">
            <a:spLocks noChangeArrowheads="1"/>
          </p:cNvSpPr>
          <p:nvPr/>
        </p:nvSpPr>
        <p:spPr bwMode="auto">
          <a:xfrm>
            <a:off x="2446931" y="5293922"/>
            <a:ext cx="627380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900" b="1">
                <a:solidFill>
                  <a:schemeClr val="bg1"/>
                </a:solidFill>
                <a:latin typeface="Arial" panose="020B0604020202020204" pitchFamily="34" charset="0"/>
                <a:ea typeface="MS PGothic" panose="020B0600070205080204" pitchFamily="34" charset="-128"/>
              </a:defRPr>
            </a:lvl1pPr>
            <a:lvl2pPr marL="742950" indent="-285750">
              <a:defRPr sz="900" b="1">
                <a:solidFill>
                  <a:schemeClr val="bg1"/>
                </a:solidFill>
                <a:latin typeface="Arial" panose="020B0604020202020204" pitchFamily="34" charset="0"/>
                <a:ea typeface="MS PGothic" panose="020B0600070205080204" pitchFamily="34" charset="-128"/>
              </a:defRPr>
            </a:lvl2pPr>
            <a:lvl3pPr marL="1143000" indent="-228600">
              <a:defRPr sz="900" b="1">
                <a:solidFill>
                  <a:schemeClr val="bg1"/>
                </a:solidFill>
                <a:latin typeface="Arial" panose="020B0604020202020204" pitchFamily="34" charset="0"/>
                <a:ea typeface="MS PGothic" panose="020B0600070205080204" pitchFamily="34" charset="-128"/>
              </a:defRPr>
            </a:lvl3pPr>
            <a:lvl4pPr marL="1600200" indent="-228600">
              <a:defRPr sz="900" b="1">
                <a:solidFill>
                  <a:schemeClr val="bg1"/>
                </a:solidFill>
                <a:latin typeface="Arial" panose="020B0604020202020204" pitchFamily="34" charset="0"/>
                <a:ea typeface="MS PGothic" panose="020B0600070205080204" pitchFamily="34" charset="-128"/>
              </a:defRPr>
            </a:lvl4pPr>
            <a:lvl5pPr marL="2057400" indent="-228600">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50000"/>
              </a:spcBef>
            </a:pPr>
            <a:r>
              <a:rPr lang="en-US" altLang="en-US" sz="1600" b="0" dirty="0">
                <a:solidFill>
                  <a:schemeClr val="tx1"/>
                </a:solidFill>
                <a:latin typeface="Roboto" panose="02000000000000000000" pitchFamily="2" charset="0"/>
                <a:ea typeface="Roboto" panose="02000000000000000000" pitchFamily="2" charset="0"/>
                <a:cs typeface="Roboto" panose="02000000000000000000" pitchFamily="2" charset="0"/>
              </a:rPr>
              <a:t>Achieving the discipline or habit of properly maintaining the correct </a:t>
            </a:r>
            <a:r>
              <a:rPr lang="en-US" altLang="en-US" sz="1600" dirty="0">
                <a:solidFill>
                  <a:schemeClr val="tx1"/>
                </a:solidFill>
                <a:latin typeface="Roboto" panose="02000000000000000000" pitchFamily="2" charset="0"/>
                <a:ea typeface="Roboto" panose="02000000000000000000" pitchFamily="2" charset="0"/>
                <a:cs typeface="Roboto" panose="02000000000000000000" pitchFamily="2" charset="0"/>
              </a:rPr>
              <a:t>5S</a:t>
            </a:r>
            <a:r>
              <a:rPr lang="en-US" altLang="en-US" sz="1600" b="0" dirty="0">
                <a:solidFill>
                  <a:schemeClr val="tx1"/>
                </a:solidFill>
                <a:latin typeface="Roboto" panose="02000000000000000000" pitchFamily="2" charset="0"/>
                <a:ea typeface="Roboto" panose="02000000000000000000" pitchFamily="2" charset="0"/>
                <a:cs typeface="Roboto" panose="02000000000000000000" pitchFamily="2" charset="0"/>
              </a:rPr>
              <a:t> procedures.</a:t>
            </a:r>
          </a:p>
        </p:txBody>
      </p:sp>
      <p:sp>
        <p:nvSpPr>
          <p:cNvPr id="24" name="Text Box 8">
            <a:extLst>
              <a:ext uri="{FF2B5EF4-FFF2-40B4-BE49-F238E27FC236}">
                <a16:creationId xmlns:a16="http://schemas.microsoft.com/office/drawing/2014/main" id="{F9300F0E-9FE1-83D1-444E-3974EBA1C023}"/>
              </a:ext>
            </a:extLst>
          </p:cNvPr>
          <p:cNvSpPr txBox="1">
            <a:spLocks noChangeArrowheads="1"/>
          </p:cNvSpPr>
          <p:nvPr/>
        </p:nvSpPr>
        <p:spPr bwMode="auto">
          <a:xfrm>
            <a:off x="2446931" y="4388807"/>
            <a:ext cx="64008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900" b="1">
                <a:solidFill>
                  <a:schemeClr val="bg1"/>
                </a:solidFill>
                <a:latin typeface="Arial" panose="020B0604020202020204" pitchFamily="34" charset="0"/>
                <a:ea typeface="MS PGothic" panose="020B0600070205080204" pitchFamily="34" charset="-128"/>
              </a:defRPr>
            </a:lvl1pPr>
            <a:lvl2pPr marL="742950" indent="-285750">
              <a:defRPr sz="900" b="1">
                <a:solidFill>
                  <a:schemeClr val="bg1"/>
                </a:solidFill>
                <a:latin typeface="Arial" panose="020B0604020202020204" pitchFamily="34" charset="0"/>
                <a:ea typeface="MS PGothic" panose="020B0600070205080204" pitchFamily="34" charset="-128"/>
              </a:defRPr>
            </a:lvl2pPr>
            <a:lvl3pPr marL="1143000" indent="-228600">
              <a:defRPr sz="900" b="1">
                <a:solidFill>
                  <a:schemeClr val="bg1"/>
                </a:solidFill>
                <a:latin typeface="Arial" panose="020B0604020202020204" pitchFamily="34" charset="0"/>
                <a:ea typeface="MS PGothic" panose="020B0600070205080204" pitchFamily="34" charset="-128"/>
              </a:defRPr>
            </a:lvl3pPr>
            <a:lvl4pPr marL="1600200" indent="-228600">
              <a:defRPr sz="900" b="1">
                <a:solidFill>
                  <a:schemeClr val="bg1"/>
                </a:solidFill>
                <a:latin typeface="Arial" panose="020B0604020202020204" pitchFamily="34" charset="0"/>
                <a:ea typeface="MS PGothic" panose="020B0600070205080204" pitchFamily="34" charset="-128"/>
              </a:defRPr>
            </a:lvl4pPr>
            <a:lvl5pPr marL="2057400" indent="-228600">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50000"/>
              </a:spcBef>
            </a:pPr>
            <a:r>
              <a:rPr lang="en-US" altLang="en-US" sz="1600" b="0" dirty="0">
                <a:solidFill>
                  <a:schemeClr val="tx1"/>
                </a:solidFill>
                <a:latin typeface="Roboto" panose="02000000000000000000" pitchFamily="2" charset="0"/>
                <a:ea typeface="Roboto" panose="02000000000000000000" pitchFamily="2" charset="0"/>
                <a:cs typeface="Roboto" panose="02000000000000000000" pitchFamily="2" charset="0"/>
              </a:rPr>
              <a:t>Maintaining and improving the standards of the first three S</a:t>
            </a:r>
            <a:r>
              <a:rPr lang="ja-JP" altLang="en-US" sz="1600" b="0" dirty="0">
                <a:solidFill>
                  <a:schemeClr val="tx1"/>
                </a:solidFill>
                <a:latin typeface="Roboto" panose="02000000000000000000" pitchFamily="2" charset="0"/>
                <a:cs typeface="Roboto" panose="02000000000000000000" pitchFamily="2" charset="0"/>
              </a:rPr>
              <a:t>’</a:t>
            </a:r>
            <a:r>
              <a:rPr lang="en-US" altLang="ja-JP" sz="1600" b="0" dirty="0">
                <a:solidFill>
                  <a:schemeClr val="tx1"/>
                </a:solidFill>
                <a:latin typeface="Roboto" panose="02000000000000000000" pitchFamily="2" charset="0"/>
                <a:ea typeface="Roboto" panose="02000000000000000000" pitchFamily="2" charset="0"/>
                <a:cs typeface="Roboto" panose="02000000000000000000" pitchFamily="2" charset="0"/>
              </a:rPr>
              <a:t>s.</a:t>
            </a:r>
            <a:endParaRPr lang="en-US" altLang="en-US" sz="1600" b="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26" name="Text Box 4">
            <a:extLst>
              <a:ext uri="{FF2B5EF4-FFF2-40B4-BE49-F238E27FC236}">
                <a16:creationId xmlns:a16="http://schemas.microsoft.com/office/drawing/2014/main" id="{77C097F7-0541-D800-A054-AB79CD6EB357}"/>
              </a:ext>
            </a:extLst>
          </p:cNvPr>
          <p:cNvSpPr txBox="1">
            <a:spLocks noChangeArrowheads="1"/>
          </p:cNvSpPr>
          <p:nvPr/>
        </p:nvSpPr>
        <p:spPr bwMode="auto">
          <a:xfrm>
            <a:off x="504825" y="1890713"/>
            <a:ext cx="2667000" cy="387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spAutoFit/>
          </a:bodyPr>
          <a:lstStyle>
            <a:lvl1pPr marL="457200" indent="-457200">
              <a:defRPr sz="900" b="1">
                <a:solidFill>
                  <a:schemeClr val="bg1"/>
                </a:solidFill>
                <a:latin typeface="Arial" panose="020B0604020202020204" pitchFamily="34" charset="0"/>
                <a:ea typeface="MS PGothic" panose="020B0600070205080204" pitchFamily="34" charset="-128"/>
              </a:defRPr>
            </a:lvl1pPr>
            <a:lvl2pPr marL="742950" indent="-285750">
              <a:defRPr sz="900" b="1">
                <a:solidFill>
                  <a:schemeClr val="bg1"/>
                </a:solidFill>
                <a:latin typeface="Arial" panose="020B0604020202020204" pitchFamily="34" charset="0"/>
                <a:ea typeface="MS PGothic" panose="020B0600070205080204" pitchFamily="34" charset="-128"/>
              </a:defRPr>
            </a:lvl2pPr>
            <a:lvl3pPr marL="1143000" indent="-228600">
              <a:defRPr sz="900" b="1">
                <a:solidFill>
                  <a:schemeClr val="bg1"/>
                </a:solidFill>
                <a:latin typeface="Arial" panose="020B0604020202020204" pitchFamily="34" charset="0"/>
                <a:ea typeface="MS PGothic" panose="020B0600070205080204" pitchFamily="34" charset="-128"/>
              </a:defRPr>
            </a:lvl3pPr>
            <a:lvl4pPr marL="1600200" indent="-228600">
              <a:defRPr sz="900" b="1">
                <a:solidFill>
                  <a:schemeClr val="bg1"/>
                </a:solidFill>
                <a:latin typeface="Arial" panose="020B0604020202020204" pitchFamily="34" charset="0"/>
                <a:ea typeface="MS PGothic" panose="020B0600070205080204" pitchFamily="34" charset="-128"/>
              </a:defRPr>
            </a:lvl4pPr>
            <a:lvl5pPr marL="2057400" indent="-228600">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30000"/>
              </a:spcBef>
              <a:buClr>
                <a:schemeClr val="bg1"/>
              </a:buClr>
              <a:buSzPct val="90000"/>
              <a:buFont typeface="Wingdings" panose="05000000000000000000" pitchFamily="2" charset="2"/>
              <a:buChar char="§"/>
            </a:pPr>
            <a:r>
              <a:rPr lang="en-US" altLang="en-US" sz="1600" dirty="0">
                <a:solidFill>
                  <a:schemeClr val="tx1"/>
                </a:solidFill>
                <a:latin typeface="Roboto"/>
                <a:ea typeface="Roboto"/>
                <a:cs typeface="Roboto"/>
              </a:rPr>
              <a:t>Sort</a:t>
            </a:r>
            <a:br>
              <a:rPr lang="en-US" altLang="en-US" sz="1600" dirty="0">
                <a:latin typeface="Roboto" panose="02000000000000000000" pitchFamily="2" charset="0"/>
                <a:ea typeface="Roboto" panose="02000000000000000000" pitchFamily="2" charset="0"/>
                <a:cs typeface="Roboto" panose="02000000000000000000" pitchFamily="2" charset="0"/>
              </a:rPr>
            </a:br>
            <a:r>
              <a:rPr lang="en-US" altLang="en-US" sz="1600" i="1" dirty="0">
                <a:solidFill>
                  <a:schemeClr val="tx1"/>
                </a:solidFill>
                <a:latin typeface="Roboto"/>
                <a:ea typeface="Roboto"/>
                <a:cs typeface="Roboto"/>
              </a:rPr>
              <a:t>(</a:t>
            </a:r>
            <a:r>
              <a:rPr lang="en-US" altLang="en-US" sz="1600" i="1" err="1">
                <a:solidFill>
                  <a:schemeClr val="tx1"/>
                </a:solidFill>
                <a:latin typeface="Roboto"/>
                <a:ea typeface="Roboto"/>
                <a:cs typeface="Roboto"/>
              </a:rPr>
              <a:t>Seiri</a:t>
            </a:r>
            <a:r>
              <a:rPr lang="en-US" altLang="en-US" sz="1600" i="1" dirty="0">
                <a:solidFill>
                  <a:schemeClr val="tx1"/>
                </a:solidFill>
                <a:latin typeface="Roboto"/>
                <a:ea typeface="Roboto"/>
                <a:cs typeface="Roboto"/>
              </a:rPr>
              <a:t>)</a:t>
            </a:r>
            <a:br>
              <a:rPr lang="en-US" altLang="en-US" sz="1600" i="1" dirty="0">
                <a:latin typeface="Roboto" panose="02000000000000000000" pitchFamily="2" charset="0"/>
                <a:ea typeface="Roboto" panose="02000000000000000000" pitchFamily="2" charset="0"/>
                <a:cs typeface="Roboto" panose="02000000000000000000" pitchFamily="2" charset="0"/>
              </a:rPr>
            </a:br>
            <a:endParaRPr lang="en-US" altLang="en-US" sz="1600" i="1">
              <a:solidFill>
                <a:schemeClr val="tx1"/>
              </a:solidFill>
              <a:latin typeface="Roboto" panose="02000000000000000000" pitchFamily="2" charset="0"/>
              <a:ea typeface="Roboto" panose="02000000000000000000" pitchFamily="2" charset="0"/>
              <a:cs typeface="Roboto" panose="02000000000000000000" pitchFamily="2" charset="0"/>
            </a:endParaRPr>
          </a:p>
          <a:p>
            <a:pPr algn="l">
              <a:lnSpc>
                <a:spcPct val="100000"/>
              </a:lnSpc>
              <a:spcBef>
                <a:spcPct val="30000"/>
              </a:spcBef>
              <a:buClr>
                <a:schemeClr val="bg1"/>
              </a:buClr>
              <a:buSzPct val="90000"/>
              <a:buFont typeface="Wingdings" panose="05000000000000000000" pitchFamily="2" charset="2"/>
              <a:buChar char="§"/>
            </a:pPr>
            <a:r>
              <a:rPr lang="en-US" altLang="en-US" sz="1600" dirty="0">
                <a:solidFill>
                  <a:schemeClr val="tx1"/>
                </a:solidFill>
                <a:latin typeface="Roboto" panose="02000000000000000000" pitchFamily="2" charset="0"/>
                <a:ea typeface="Roboto" panose="02000000000000000000" pitchFamily="2" charset="0"/>
                <a:cs typeface="Roboto" panose="02000000000000000000" pitchFamily="2" charset="0"/>
              </a:rPr>
              <a:t>Straighten</a:t>
            </a:r>
            <a:br>
              <a:rPr lang="en-US" altLang="en-US" sz="1600" dirty="0">
                <a:solidFill>
                  <a:schemeClr val="tx1"/>
                </a:solidFill>
                <a:latin typeface="Roboto" panose="02000000000000000000" pitchFamily="2" charset="0"/>
                <a:ea typeface="Roboto" panose="02000000000000000000" pitchFamily="2" charset="0"/>
                <a:cs typeface="Roboto" panose="02000000000000000000" pitchFamily="2" charset="0"/>
              </a:rPr>
            </a:br>
            <a:r>
              <a:rPr lang="en-US" altLang="en-US" sz="1600" dirty="0">
                <a:solidFill>
                  <a:schemeClr val="tx1"/>
                </a:solidFill>
                <a:latin typeface="Roboto" panose="02000000000000000000" pitchFamily="2" charset="0"/>
                <a:ea typeface="Roboto" panose="02000000000000000000" pitchFamily="2" charset="0"/>
                <a:cs typeface="Roboto" panose="02000000000000000000" pitchFamily="2" charset="0"/>
              </a:rPr>
              <a:t>(</a:t>
            </a:r>
            <a:r>
              <a:rPr lang="en-US" altLang="en-US" sz="1600" dirty="0" err="1">
                <a:solidFill>
                  <a:schemeClr val="tx1"/>
                </a:solidFill>
                <a:latin typeface="Roboto" panose="02000000000000000000" pitchFamily="2" charset="0"/>
                <a:ea typeface="Roboto" panose="02000000000000000000" pitchFamily="2" charset="0"/>
                <a:cs typeface="Roboto" panose="02000000000000000000" pitchFamily="2" charset="0"/>
              </a:rPr>
              <a:t>Seiton</a:t>
            </a:r>
            <a:r>
              <a:rPr lang="en-US" altLang="en-US" sz="1600" dirty="0">
                <a:solidFill>
                  <a:schemeClr val="tx1"/>
                </a:solidFill>
                <a:latin typeface="Roboto" panose="02000000000000000000" pitchFamily="2" charset="0"/>
                <a:ea typeface="Roboto" panose="02000000000000000000" pitchFamily="2" charset="0"/>
                <a:cs typeface="Roboto" panose="02000000000000000000" pitchFamily="2" charset="0"/>
              </a:rPr>
              <a:t>)</a:t>
            </a:r>
            <a:br>
              <a:rPr lang="en-US" altLang="en-US" sz="1600" dirty="0">
                <a:solidFill>
                  <a:schemeClr val="tx1"/>
                </a:solidFill>
                <a:latin typeface="Roboto" panose="02000000000000000000" pitchFamily="2" charset="0"/>
                <a:ea typeface="Roboto" panose="02000000000000000000" pitchFamily="2" charset="0"/>
                <a:cs typeface="Roboto" panose="02000000000000000000" pitchFamily="2" charset="0"/>
              </a:rPr>
            </a:br>
            <a:endParaRPr lang="en-US" altLang="en-US" sz="1600" dirty="0">
              <a:solidFill>
                <a:schemeClr val="tx1"/>
              </a:solidFill>
              <a:latin typeface="Roboto" panose="02000000000000000000" pitchFamily="2" charset="0"/>
              <a:ea typeface="Roboto" panose="02000000000000000000" pitchFamily="2" charset="0"/>
              <a:cs typeface="Roboto" panose="02000000000000000000" pitchFamily="2" charset="0"/>
            </a:endParaRPr>
          </a:p>
          <a:p>
            <a:pPr algn="l">
              <a:lnSpc>
                <a:spcPct val="100000"/>
              </a:lnSpc>
              <a:spcBef>
                <a:spcPct val="30000"/>
              </a:spcBef>
              <a:buClr>
                <a:schemeClr val="bg1"/>
              </a:buClr>
              <a:buSzPct val="90000"/>
              <a:buFont typeface="Wingdings" panose="05000000000000000000" pitchFamily="2" charset="2"/>
              <a:buChar char="§"/>
            </a:pPr>
            <a:r>
              <a:rPr lang="en-US" altLang="en-US" sz="1600" dirty="0">
                <a:solidFill>
                  <a:schemeClr val="tx1"/>
                </a:solidFill>
                <a:latin typeface="Roboto" panose="02000000000000000000" pitchFamily="2" charset="0"/>
                <a:ea typeface="Roboto" panose="02000000000000000000" pitchFamily="2" charset="0"/>
                <a:cs typeface="Roboto" panose="02000000000000000000" pitchFamily="2" charset="0"/>
              </a:rPr>
              <a:t>Scrub</a:t>
            </a:r>
            <a:br>
              <a:rPr lang="en-US" altLang="en-US" sz="1600" dirty="0">
                <a:solidFill>
                  <a:schemeClr val="tx1"/>
                </a:solidFill>
                <a:latin typeface="Roboto" panose="02000000000000000000" pitchFamily="2" charset="0"/>
                <a:ea typeface="Roboto" panose="02000000000000000000" pitchFamily="2" charset="0"/>
                <a:cs typeface="Roboto" panose="02000000000000000000" pitchFamily="2" charset="0"/>
              </a:rPr>
            </a:br>
            <a:r>
              <a:rPr lang="en-US" altLang="en-US" sz="1600" dirty="0">
                <a:solidFill>
                  <a:schemeClr val="tx1"/>
                </a:solidFill>
                <a:latin typeface="Roboto" panose="02000000000000000000" pitchFamily="2" charset="0"/>
                <a:ea typeface="Roboto" panose="02000000000000000000" pitchFamily="2" charset="0"/>
                <a:cs typeface="Roboto" panose="02000000000000000000" pitchFamily="2" charset="0"/>
              </a:rPr>
              <a:t>(</a:t>
            </a:r>
            <a:r>
              <a:rPr lang="en-US" altLang="en-US" sz="1600" dirty="0" err="1">
                <a:solidFill>
                  <a:schemeClr val="tx1"/>
                </a:solidFill>
                <a:latin typeface="Roboto" panose="02000000000000000000" pitchFamily="2" charset="0"/>
                <a:ea typeface="Roboto" panose="02000000000000000000" pitchFamily="2" charset="0"/>
                <a:cs typeface="Roboto" panose="02000000000000000000" pitchFamily="2" charset="0"/>
              </a:rPr>
              <a:t>Seiso</a:t>
            </a:r>
            <a:r>
              <a:rPr lang="en-US" altLang="en-US" sz="1600" dirty="0">
                <a:solidFill>
                  <a:schemeClr val="tx1"/>
                </a:solidFill>
                <a:latin typeface="Roboto" panose="02000000000000000000" pitchFamily="2" charset="0"/>
                <a:ea typeface="Roboto" panose="02000000000000000000" pitchFamily="2" charset="0"/>
                <a:cs typeface="Roboto" panose="02000000000000000000" pitchFamily="2" charset="0"/>
              </a:rPr>
              <a:t>)</a:t>
            </a:r>
            <a:br>
              <a:rPr lang="en-US" altLang="en-US" sz="1600" dirty="0">
                <a:solidFill>
                  <a:schemeClr val="tx1"/>
                </a:solidFill>
                <a:latin typeface="Roboto" panose="02000000000000000000" pitchFamily="2" charset="0"/>
                <a:ea typeface="Roboto" panose="02000000000000000000" pitchFamily="2" charset="0"/>
                <a:cs typeface="Roboto" panose="02000000000000000000" pitchFamily="2" charset="0"/>
              </a:rPr>
            </a:br>
            <a:endParaRPr lang="en-US" altLang="en-US" sz="1600" dirty="0">
              <a:solidFill>
                <a:schemeClr val="tx1"/>
              </a:solidFill>
              <a:latin typeface="Roboto" panose="02000000000000000000" pitchFamily="2" charset="0"/>
              <a:ea typeface="Roboto" panose="02000000000000000000" pitchFamily="2" charset="0"/>
              <a:cs typeface="Roboto" panose="02000000000000000000" pitchFamily="2" charset="0"/>
            </a:endParaRPr>
          </a:p>
          <a:p>
            <a:pPr algn="l">
              <a:lnSpc>
                <a:spcPct val="100000"/>
              </a:lnSpc>
              <a:spcBef>
                <a:spcPct val="30000"/>
              </a:spcBef>
              <a:buClr>
                <a:schemeClr val="bg1"/>
              </a:buClr>
              <a:buSzPct val="90000"/>
              <a:buFont typeface="Wingdings" panose="05000000000000000000" pitchFamily="2" charset="2"/>
              <a:buChar char="§"/>
            </a:pPr>
            <a:r>
              <a:rPr lang="en-US" altLang="en-US" sz="1600" dirty="0">
                <a:solidFill>
                  <a:schemeClr val="tx1"/>
                </a:solidFill>
                <a:latin typeface="Roboto" panose="02000000000000000000" pitchFamily="2" charset="0"/>
                <a:ea typeface="Roboto" panose="02000000000000000000" pitchFamily="2" charset="0"/>
                <a:cs typeface="Roboto" panose="02000000000000000000" pitchFamily="2" charset="0"/>
              </a:rPr>
              <a:t>Stabilize</a:t>
            </a:r>
            <a:br>
              <a:rPr lang="en-US" altLang="en-US" sz="1600" dirty="0">
                <a:solidFill>
                  <a:schemeClr val="tx1"/>
                </a:solidFill>
                <a:latin typeface="Roboto" panose="02000000000000000000" pitchFamily="2" charset="0"/>
                <a:ea typeface="Roboto" panose="02000000000000000000" pitchFamily="2" charset="0"/>
                <a:cs typeface="Roboto" panose="02000000000000000000" pitchFamily="2" charset="0"/>
              </a:rPr>
            </a:br>
            <a:r>
              <a:rPr lang="en-US" altLang="en-US" sz="1600" dirty="0">
                <a:solidFill>
                  <a:schemeClr val="tx1"/>
                </a:solidFill>
                <a:latin typeface="Roboto" panose="02000000000000000000" pitchFamily="2" charset="0"/>
                <a:ea typeface="Roboto" panose="02000000000000000000" pitchFamily="2" charset="0"/>
                <a:cs typeface="Roboto" panose="02000000000000000000" pitchFamily="2" charset="0"/>
              </a:rPr>
              <a:t>(</a:t>
            </a:r>
            <a:r>
              <a:rPr lang="en-US" altLang="en-US" sz="1600" dirty="0" err="1">
                <a:solidFill>
                  <a:schemeClr val="tx1"/>
                </a:solidFill>
                <a:latin typeface="Roboto" panose="02000000000000000000" pitchFamily="2" charset="0"/>
                <a:ea typeface="Roboto" panose="02000000000000000000" pitchFamily="2" charset="0"/>
                <a:cs typeface="Roboto" panose="02000000000000000000" pitchFamily="2" charset="0"/>
              </a:rPr>
              <a:t>Seiketsu</a:t>
            </a:r>
            <a:r>
              <a:rPr lang="en-US" altLang="en-US" sz="1600" dirty="0">
                <a:solidFill>
                  <a:schemeClr val="tx1"/>
                </a:solidFill>
                <a:latin typeface="Roboto" panose="02000000000000000000" pitchFamily="2" charset="0"/>
                <a:ea typeface="Roboto" panose="02000000000000000000" pitchFamily="2" charset="0"/>
                <a:cs typeface="Roboto" panose="02000000000000000000" pitchFamily="2" charset="0"/>
              </a:rPr>
              <a:t>)</a:t>
            </a:r>
          </a:p>
          <a:p>
            <a:pPr algn="l">
              <a:lnSpc>
                <a:spcPct val="100000"/>
              </a:lnSpc>
              <a:spcBef>
                <a:spcPct val="30000"/>
              </a:spcBef>
              <a:buClr>
                <a:schemeClr val="bg1"/>
              </a:buClr>
              <a:buSzPct val="90000"/>
              <a:buFont typeface="Wingdings" panose="05000000000000000000" pitchFamily="2" charset="2"/>
              <a:buChar char="§"/>
            </a:pPr>
            <a:endParaRPr lang="en-US" altLang="en-US" sz="1600" dirty="0">
              <a:solidFill>
                <a:schemeClr val="tx1"/>
              </a:solidFill>
              <a:latin typeface="Roboto" panose="02000000000000000000" pitchFamily="2" charset="0"/>
              <a:ea typeface="Roboto" panose="02000000000000000000" pitchFamily="2" charset="0"/>
              <a:cs typeface="Roboto" panose="02000000000000000000" pitchFamily="2" charset="0"/>
            </a:endParaRPr>
          </a:p>
          <a:p>
            <a:pPr algn="l">
              <a:lnSpc>
                <a:spcPct val="100000"/>
              </a:lnSpc>
              <a:spcBef>
                <a:spcPct val="30000"/>
              </a:spcBef>
              <a:buClr>
                <a:schemeClr val="bg1"/>
              </a:buClr>
              <a:buSzPct val="90000"/>
              <a:buFont typeface="Wingdings" panose="05000000000000000000" pitchFamily="2" charset="2"/>
              <a:buChar char="§"/>
            </a:pPr>
            <a:r>
              <a:rPr lang="en-US" altLang="en-US" sz="1600" dirty="0">
                <a:solidFill>
                  <a:schemeClr val="tx1"/>
                </a:solidFill>
                <a:latin typeface="Roboto" panose="02000000000000000000" pitchFamily="2" charset="0"/>
                <a:ea typeface="Roboto" panose="02000000000000000000" pitchFamily="2" charset="0"/>
                <a:cs typeface="Roboto" panose="02000000000000000000" pitchFamily="2" charset="0"/>
              </a:rPr>
              <a:t>Sustain</a:t>
            </a:r>
            <a:br>
              <a:rPr lang="en-US" altLang="en-US" sz="1600" dirty="0">
                <a:solidFill>
                  <a:schemeClr val="tx1"/>
                </a:solidFill>
                <a:latin typeface="Roboto" panose="02000000000000000000" pitchFamily="2" charset="0"/>
                <a:ea typeface="Roboto" panose="02000000000000000000" pitchFamily="2" charset="0"/>
                <a:cs typeface="Roboto" panose="02000000000000000000" pitchFamily="2" charset="0"/>
              </a:rPr>
            </a:br>
            <a:r>
              <a:rPr lang="en-US" altLang="en-US" sz="1600" dirty="0">
                <a:solidFill>
                  <a:schemeClr val="tx1"/>
                </a:solidFill>
                <a:latin typeface="Roboto" panose="02000000000000000000" pitchFamily="2" charset="0"/>
                <a:ea typeface="Roboto" panose="02000000000000000000" pitchFamily="2" charset="0"/>
                <a:cs typeface="Roboto" panose="02000000000000000000" pitchFamily="2" charset="0"/>
              </a:rPr>
              <a:t>(</a:t>
            </a:r>
            <a:r>
              <a:rPr lang="en-US" altLang="en-US" sz="1600" dirty="0" err="1">
                <a:solidFill>
                  <a:schemeClr val="tx1"/>
                </a:solidFill>
                <a:latin typeface="Roboto" panose="02000000000000000000" pitchFamily="2" charset="0"/>
                <a:ea typeface="Roboto" panose="02000000000000000000" pitchFamily="2" charset="0"/>
                <a:cs typeface="Roboto" panose="02000000000000000000" pitchFamily="2" charset="0"/>
              </a:rPr>
              <a:t>Shitsuke</a:t>
            </a:r>
            <a:r>
              <a:rPr lang="en-US" altLang="en-US" sz="1600" dirty="0">
                <a:solidFill>
                  <a:schemeClr val="tx1"/>
                </a:solidFill>
                <a:latin typeface="Roboto" panose="02000000000000000000" pitchFamily="2" charset="0"/>
                <a:ea typeface="Roboto" panose="02000000000000000000" pitchFamily="2" charset="0"/>
                <a:cs typeface="Roboto" panose="02000000000000000000" pitchFamily="2" charset="0"/>
              </a:rPr>
              <a:t>)</a:t>
            </a:r>
          </a:p>
        </p:txBody>
      </p:sp>
      <p:sp>
        <p:nvSpPr>
          <p:cNvPr id="3" name="AutoShape 9">
            <a:extLst>
              <a:ext uri="{FF2B5EF4-FFF2-40B4-BE49-F238E27FC236}">
                <a16:creationId xmlns:a16="http://schemas.microsoft.com/office/drawing/2014/main" id="{F9887CAF-9619-792A-16AF-73D52AE57A47}"/>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6" name="AutoShape 11">
            <a:extLst>
              <a:ext uri="{FF2B5EF4-FFF2-40B4-BE49-F238E27FC236}">
                <a16:creationId xmlns:a16="http://schemas.microsoft.com/office/drawing/2014/main" id="{050B666B-66E8-71F7-57B1-AD919D3FCA8D}"/>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10">
            <a:extLst>
              <a:ext uri="{FF2B5EF4-FFF2-40B4-BE49-F238E27FC236}">
                <a16:creationId xmlns:a16="http://schemas.microsoft.com/office/drawing/2014/main" id="{8ACC2123-1136-E10C-D66C-EFA7CB8939BA}"/>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Tree>
    <p:extLst>
      <p:ext uri="{BB962C8B-B14F-4D97-AF65-F5344CB8AC3E}">
        <p14:creationId xmlns:p14="http://schemas.microsoft.com/office/powerpoint/2010/main" val="55944451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D59612-57A7-4226-15D4-E621CF0130AB}"/>
              </a:ext>
            </a:extLst>
          </p:cNvPr>
          <p:cNvSpPr>
            <a:spLocks noGrp="1"/>
          </p:cNvSpPr>
          <p:nvPr>
            <p:ph type="title"/>
          </p:nvPr>
        </p:nvSpPr>
        <p:spPr/>
        <p:txBody>
          <a:bodyPr>
            <a:normAutofit/>
          </a:bodyPr>
          <a:lstStyle/>
          <a:p>
            <a:r>
              <a:rPr lang="en-US" sz="4000" dirty="0">
                <a:latin typeface="Roboto Medium"/>
                <a:ea typeface="Roboto Medium"/>
                <a:cs typeface="Roboto Medium"/>
              </a:rPr>
              <a:t>Waste Elimination Tools</a:t>
            </a:r>
          </a:p>
        </p:txBody>
      </p:sp>
      <p:sp>
        <p:nvSpPr>
          <p:cNvPr id="4" name="Footer Placeholder 3">
            <a:extLst>
              <a:ext uri="{FF2B5EF4-FFF2-40B4-BE49-F238E27FC236}">
                <a16:creationId xmlns:a16="http://schemas.microsoft.com/office/drawing/2014/main" id="{CB1F8C30-D81C-1E27-D266-2BC421C72FD6}"/>
              </a:ext>
            </a:extLst>
          </p:cNvPr>
          <p:cNvSpPr>
            <a:spLocks noGrp="1"/>
          </p:cNvSpPr>
          <p:nvPr>
            <p:ph type="ftr" sz="quarter" idx="11"/>
          </p:nvPr>
        </p:nvSpPr>
        <p:spPr/>
        <p:txBody>
          <a:bodyPr/>
          <a:lstStyle/>
          <a:p>
            <a:r>
              <a:rPr lang="en-US"/>
              <a:t>© Lean Horizons Consulting, LLC 2023. All Rights Reserved</a:t>
            </a:r>
            <a:endParaRPr lang="en-US" dirty="0"/>
          </a:p>
        </p:txBody>
      </p:sp>
      <p:sp>
        <p:nvSpPr>
          <p:cNvPr id="5" name="Slide Number Placeholder 4">
            <a:extLst>
              <a:ext uri="{FF2B5EF4-FFF2-40B4-BE49-F238E27FC236}">
                <a16:creationId xmlns:a16="http://schemas.microsoft.com/office/drawing/2014/main" id="{1AA34B74-93DA-5F21-CF4A-77FE692D026C}"/>
              </a:ext>
            </a:extLst>
          </p:cNvPr>
          <p:cNvSpPr>
            <a:spLocks noGrp="1"/>
          </p:cNvSpPr>
          <p:nvPr>
            <p:ph type="sldNum" sz="quarter" idx="12"/>
          </p:nvPr>
        </p:nvSpPr>
        <p:spPr/>
        <p:txBody>
          <a:bodyPr/>
          <a:lstStyle/>
          <a:p>
            <a:fld id="{CC6D4273-7FC1-0947-B9FE-19CB3C0D1FB6}" type="slidenum">
              <a:rPr lang="en-US" smtClean="0"/>
              <a:t>46</a:t>
            </a:fld>
            <a:endParaRPr lang="en-US"/>
          </a:p>
        </p:txBody>
      </p:sp>
      <p:grpSp>
        <p:nvGrpSpPr>
          <p:cNvPr id="17" name="Group 16">
            <a:extLst>
              <a:ext uri="{FF2B5EF4-FFF2-40B4-BE49-F238E27FC236}">
                <a16:creationId xmlns:a16="http://schemas.microsoft.com/office/drawing/2014/main" id="{370E2D67-D7AB-B197-3AFC-FE1AD0717D3B}"/>
              </a:ext>
            </a:extLst>
          </p:cNvPr>
          <p:cNvGrpSpPr/>
          <p:nvPr/>
        </p:nvGrpSpPr>
        <p:grpSpPr>
          <a:xfrm>
            <a:off x="838200" y="1886626"/>
            <a:ext cx="10443809" cy="3771699"/>
            <a:chOff x="1201607" y="2209658"/>
            <a:chExt cx="22392167" cy="9152700"/>
          </a:xfrm>
        </p:grpSpPr>
        <p:sp>
          <p:nvSpPr>
            <p:cNvPr id="18" name="Rectangle 17">
              <a:extLst>
                <a:ext uri="{FF2B5EF4-FFF2-40B4-BE49-F238E27FC236}">
                  <a16:creationId xmlns:a16="http://schemas.microsoft.com/office/drawing/2014/main" id="{D20F1A36-69B1-BB79-6BF6-C93AC874BD1C}"/>
                </a:ext>
              </a:extLst>
            </p:cNvPr>
            <p:cNvSpPr/>
            <p:nvPr/>
          </p:nvSpPr>
          <p:spPr>
            <a:xfrm>
              <a:off x="1201607" y="2209658"/>
              <a:ext cx="10972800" cy="914400"/>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58738" lvl="2" algn="l" defTabSz="584200"/>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Visual Management</a:t>
              </a:r>
            </a:p>
          </p:txBody>
        </p:sp>
        <p:sp>
          <p:nvSpPr>
            <p:cNvPr id="19" name="Rectangle 18">
              <a:extLst>
                <a:ext uri="{FF2B5EF4-FFF2-40B4-BE49-F238E27FC236}">
                  <a16:creationId xmlns:a16="http://schemas.microsoft.com/office/drawing/2014/main" id="{4B354A32-F11A-EC6B-FA55-F0AD6D424609}"/>
                </a:ext>
              </a:extLst>
            </p:cNvPr>
            <p:cNvSpPr/>
            <p:nvPr/>
          </p:nvSpPr>
          <p:spPr>
            <a:xfrm>
              <a:off x="1201607" y="3582708"/>
              <a:ext cx="10972800" cy="914400"/>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5S</a:t>
              </a:r>
            </a:p>
          </p:txBody>
        </p:sp>
        <p:sp>
          <p:nvSpPr>
            <p:cNvPr id="20" name="Rectangle 19">
              <a:extLst>
                <a:ext uri="{FF2B5EF4-FFF2-40B4-BE49-F238E27FC236}">
                  <a16:creationId xmlns:a16="http://schemas.microsoft.com/office/drawing/2014/main" id="{A1F828CC-F6DF-0463-F1BA-C6709B8ED0C5}"/>
                </a:ext>
              </a:extLst>
            </p:cNvPr>
            <p:cNvSpPr/>
            <p:nvPr/>
          </p:nvSpPr>
          <p:spPr>
            <a:xfrm>
              <a:off x="1201607" y="4955758"/>
              <a:ext cx="10972800" cy="914400"/>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Standard Work</a:t>
              </a:r>
            </a:p>
          </p:txBody>
        </p:sp>
        <p:sp>
          <p:nvSpPr>
            <p:cNvPr id="21" name="Rectangle 20">
              <a:extLst>
                <a:ext uri="{FF2B5EF4-FFF2-40B4-BE49-F238E27FC236}">
                  <a16:creationId xmlns:a16="http://schemas.microsoft.com/office/drawing/2014/main" id="{45E07FDE-E0CF-F967-4F1D-9E5D72243C02}"/>
                </a:ext>
              </a:extLst>
            </p:cNvPr>
            <p:cNvSpPr/>
            <p:nvPr/>
          </p:nvSpPr>
          <p:spPr>
            <a:xfrm>
              <a:off x="1201607" y="6328808"/>
              <a:ext cx="10972800" cy="914400"/>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Kanban</a:t>
              </a:r>
            </a:p>
          </p:txBody>
        </p:sp>
        <p:sp>
          <p:nvSpPr>
            <p:cNvPr id="22" name="Rectangle 21">
              <a:extLst>
                <a:ext uri="{FF2B5EF4-FFF2-40B4-BE49-F238E27FC236}">
                  <a16:creationId xmlns:a16="http://schemas.microsoft.com/office/drawing/2014/main" id="{F7A1A823-24E0-01DD-762F-8013148C49AD}"/>
                </a:ext>
              </a:extLst>
            </p:cNvPr>
            <p:cNvSpPr/>
            <p:nvPr/>
          </p:nvSpPr>
          <p:spPr>
            <a:xfrm>
              <a:off x="12620974" y="2209658"/>
              <a:ext cx="10972800" cy="914400"/>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CEDAC</a:t>
              </a:r>
            </a:p>
          </p:txBody>
        </p:sp>
        <p:sp>
          <p:nvSpPr>
            <p:cNvPr id="23" name="Rectangle 22">
              <a:extLst>
                <a:ext uri="{FF2B5EF4-FFF2-40B4-BE49-F238E27FC236}">
                  <a16:creationId xmlns:a16="http://schemas.microsoft.com/office/drawing/2014/main" id="{42BBCC70-7D0F-2DD5-8FF6-A56F11CC85CC}"/>
                </a:ext>
              </a:extLst>
            </p:cNvPr>
            <p:cNvSpPr/>
            <p:nvPr/>
          </p:nvSpPr>
          <p:spPr>
            <a:xfrm>
              <a:off x="12620974" y="3582708"/>
              <a:ext cx="10972800" cy="914400"/>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err="1">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Jidoka</a:t>
              </a: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 and </a:t>
              </a:r>
              <a:r>
                <a:rPr kumimoji="0" lang="en-US" sz="2000" b="0" i="0" u="none" strike="noStrike" cap="none" spc="0" normalizeH="0" baseline="0" dirty="0" err="1">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Poka</a:t>
              </a: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 Yoke</a:t>
              </a:r>
            </a:p>
          </p:txBody>
        </p:sp>
        <p:sp>
          <p:nvSpPr>
            <p:cNvPr id="24" name="Rectangle 23">
              <a:extLst>
                <a:ext uri="{FF2B5EF4-FFF2-40B4-BE49-F238E27FC236}">
                  <a16:creationId xmlns:a16="http://schemas.microsoft.com/office/drawing/2014/main" id="{29F4381C-70CE-AA91-5383-92AEBE147D2D}"/>
                </a:ext>
              </a:extLst>
            </p:cNvPr>
            <p:cNvSpPr/>
            <p:nvPr/>
          </p:nvSpPr>
          <p:spPr>
            <a:xfrm>
              <a:off x="12620974" y="4955758"/>
              <a:ext cx="10972800" cy="914400"/>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SMED</a:t>
              </a:r>
            </a:p>
          </p:txBody>
        </p:sp>
        <p:sp>
          <p:nvSpPr>
            <p:cNvPr id="25" name="Rectangle 24">
              <a:extLst>
                <a:ext uri="{FF2B5EF4-FFF2-40B4-BE49-F238E27FC236}">
                  <a16:creationId xmlns:a16="http://schemas.microsoft.com/office/drawing/2014/main" id="{4DC4F5FC-D80C-F5BE-2885-A1E758F653A2}"/>
                </a:ext>
              </a:extLst>
            </p:cNvPr>
            <p:cNvSpPr/>
            <p:nvPr/>
          </p:nvSpPr>
          <p:spPr>
            <a:xfrm>
              <a:off x="12620974" y="6328808"/>
              <a:ext cx="10972800" cy="914400"/>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Total Productive Maintenance</a:t>
              </a:r>
            </a:p>
          </p:txBody>
        </p:sp>
        <p:sp>
          <p:nvSpPr>
            <p:cNvPr id="26" name="Rectangle 25">
              <a:extLst>
                <a:ext uri="{FF2B5EF4-FFF2-40B4-BE49-F238E27FC236}">
                  <a16:creationId xmlns:a16="http://schemas.microsoft.com/office/drawing/2014/main" id="{DCB08230-4BF6-0340-2AD2-5774E173F8D8}"/>
                </a:ext>
              </a:extLst>
            </p:cNvPr>
            <p:cNvSpPr/>
            <p:nvPr/>
          </p:nvSpPr>
          <p:spPr>
            <a:xfrm>
              <a:off x="1201607" y="7701858"/>
              <a:ext cx="10972800" cy="914400"/>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Problem Solving</a:t>
              </a:r>
            </a:p>
          </p:txBody>
        </p:sp>
        <p:sp>
          <p:nvSpPr>
            <p:cNvPr id="27" name="Rectangle 26">
              <a:extLst>
                <a:ext uri="{FF2B5EF4-FFF2-40B4-BE49-F238E27FC236}">
                  <a16:creationId xmlns:a16="http://schemas.microsoft.com/office/drawing/2014/main" id="{C71E133C-C2BA-B594-2F6B-16BADE5887AB}"/>
                </a:ext>
              </a:extLst>
            </p:cNvPr>
            <p:cNvSpPr/>
            <p:nvPr/>
          </p:nvSpPr>
          <p:spPr>
            <a:xfrm>
              <a:off x="1201607" y="9074908"/>
              <a:ext cx="10972800" cy="914400"/>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Production Preparation Process (3P)</a:t>
              </a:r>
            </a:p>
          </p:txBody>
        </p:sp>
        <p:sp>
          <p:nvSpPr>
            <p:cNvPr id="28" name="Rectangle 27">
              <a:extLst>
                <a:ext uri="{FF2B5EF4-FFF2-40B4-BE49-F238E27FC236}">
                  <a16:creationId xmlns:a16="http://schemas.microsoft.com/office/drawing/2014/main" id="{15D883AF-2D1C-40E5-E845-E5837FD30DA6}"/>
                </a:ext>
              </a:extLst>
            </p:cNvPr>
            <p:cNvSpPr/>
            <p:nvPr/>
          </p:nvSpPr>
          <p:spPr>
            <a:xfrm>
              <a:off x="12620974" y="7701858"/>
              <a:ext cx="10972800" cy="914400"/>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Cell Design</a:t>
              </a:r>
            </a:p>
          </p:txBody>
        </p:sp>
        <p:sp>
          <p:nvSpPr>
            <p:cNvPr id="29" name="Rectangle 28">
              <a:extLst>
                <a:ext uri="{FF2B5EF4-FFF2-40B4-BE49-F238E27FC236}">
                  <a16:creationId xmlns:a16="http://schemas.microsoft.com/office/drawing/2014/main" id="{4CF48DFE-0394-C9E2-90F5-0FC76FF180F8}"/>
                </a:ext>
              </a:extLst>
            </p:cNvPr>
            <p:cNvSpPr/>
            <p:nvPr/>
          </p:nvSpPr>
          <p:spPr>
            <a:xfrm>
              <a:off x="12620974" y="9074908"/>
              <a:ext cx="10972800" cy="914400"/>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Value Stream Mapping (VSM)</a:t>
              </a:r>
            </a:p>
          </p:txBody>
        </p:sp>
        <p:sp>
          <p:nvSpPr>
            <p:cNvPr id="30" name="Rectangle 29">
              <a:extLst>
                <a:ext uri="{FF2B5EF4-FFF2-40B4-BE49-F238E27FC236}">
                  <a16:creationId xmlns:a16="http://schemas.microsoft.com/office/drawing/2014/main" id="{56D8CAF3-483E-91B2-CF0D-AD5B718A4685}"/>
                </a:ext>
              </a:extLst>
            </p:cNvPr>
            <p:cNvSpPr/>
            <p:nvPr/>
          </p:nvSpPr>
          <p:spPr>
            <a:xfrm>
              <a:off x="1201607" y="10447958"/>
              <a:ext cx="10972800" cy="914400"/>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Transaction Process Improvement</a:t>
              </a:r>
            </a:p>
          </p:txBody>
        </p:sp>
      </p:grpSp>
      <p:sp>
        <p:nvSpPr>
          <p:cNvPr id="11" name="Rectangle 10">
            <a:extLst>
              <a:ext uri="{FF2B5EF4-FFF2-40B4-BE49-F238E27FC236}">
                <a16:creationId xmlns:a16="http://schemas.microsoft.com/office/drawing/2014/main" id="{A796E2EB-3ED3-2BFC-ABF7-076DC189B1BA}"/>
              </a:ext>
            </a:extLst>
          </p:cNvPr>
          <p:cNvSpPr/>
          <p:nvPr/>
        </p:nvSpPr>
        <p:spPr>
          <a:xfrm>
            <a:off x="6168017" y="5265027"/>
            <a:ext cx="5117764" cy="376811"/>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Managing Daily Process Excellence</a:t>
            </a:r>
          </a:p>
        </p:txBody>
      </p:sp>
      <p:sp>
        <p:nvSpPr>
          <p:cNvPr id="15" name="TextBox 14">
            <a:extLst>
              <a:ext uri="{FF2B5EF4-FFF2-40B4-BE49-F238E27FC236}">
                <a16:creationId xmlns:a16="http://schemas.microsoft.com/office/drawing/2014/main" id="{9BBB6851-AF25-6D28-3394-F6D4AF5E049C}"/>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Lean Fundamentals</a:t>
            </a:r>
          </a:p>
        </p:txBody>
      </p:sp>
      <p:sp>
        <p:nvSpPr>
          <p:cNvPr id="3" name="AutoShape 9">
            <a:extLst>
              <a:ext uri="{FF2B5EF4-FFF2-40B4-BE49-F238E27FC236}">
                <a16:creationId xmlns:a16="http://schemas.microsoft.com/office/drawing/2014/main" id="{BCD0E0C8-5DF7-34B4-B47B-804B9314F8E5}"/>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6" name="AutoShape 11">
            <a:extLst>
              <a:ext uri="{FF2B5EF4-FFF2-40B4-BE49-F238E27FC236}">
                <a16:creationId xmlns:a16="http://schemas.microsoft.com/office/drawing/2014/main" id="{01C89CE0-ED1A-4E92-1582-FC1A02FB8BDB}"/>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10">
            <a:extLst>
              <a:ext uri="{FF2B5EF4-FFF2-40B4-BE49-F238E27FC236}">
                <a16:creationId xmlns:a16="http://schemas.microsoft.com/office/drawing/2014/main" id="{285963A0-8A7D-0956-DA68-0E0C1AFB9DCE}"/>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Tree>
    <p:extLst>
      <p:ext uri="{BB962C8B-B14F-4D97-AF65-F5344CB8AC3E}">
        <p14:creationId xmlns:p14="http://schemas.microsoft.com/office/powerpoint/2010/main" val="23447923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D59612-57A7-4226-15D4-E621CF0130AB}"/>
              </a:ext>
            </a:extLst>
          </p:cNvPr>
          <p:cNvSpPr>
            <a:spLocks noGrp="1"/>
          </p:cNvSpPr>
          <p:nvPr>
            <p:ph type="title"/>
          </p:nvPr>
        </p:nvSpPr>
        <p:spPr/>
        <p:txBody>
          <a:bodyPr>
            <a:normAutofit/>
          </a:bodyPr>
          <a:lstStyle/>
          <a:p>
            <a:r>
              <a:rPr lang="en-US" sz="4000" dirty="0">
                <a:latin typeface="Roboto Medium"/>
                <a:ea typeface="Roboto Medium"/>
                <a:cs typeface="Roboto Medium"/>
              </a:rPr>
              <a:t>Standard Work</a:t>
            </a:r>
            <a:endParaRPr lang="en-US" dirty="0"/>
          </a:p>
        </p:txBody>
      </p:sp>
      <p:sp>
        <p:nvSpPr>
          <p:cNvPr id="4" name="Footer Placeholder 3">
            <a:extLst>
              <a:ext uri="{FF2B5EF4-FFF2-40B4-BE49-F238E27FC236}">
                <a16:creationId xmlns:a16="http://schemas.microsoft.com/office/drawing/2014/main" id="{CB1F8C30-D81C-1E27-D266-2BC421C72FD6}"/>
              </a:ext>
            </a:extLst>
          </p:cNvPr>
          <p:cNvSpPr>
            <a:spLocks noGrp="1"/>
          </p:cNvSpPr>
          <p:nvPr>
            <p:ph type="ftr" sz="quarter" idx="11"/>
          </p:nvPr>
        </p:nvSpPr>
        <p:spPr/>
        <p:txBody>
          <a:bodyPr/>
          <a:lstStyle/>
          <a:p>
            <a:r>
              <a:rPr lang="en-US"/>
              <a:t>© Lean Horizons Consulting, LLC 2023. All Rights Reserved</a:t>
            </a:r>
            <a:endParaRPr lang="en-US" dirty="0"/>
          </a:p>
        </p:txBody>
      </p:sp>
      <p:sp>
        <p:nvSpPr>
          <p:cNvPr id="5" name="Slide Number Placeholder 4">
            <a:extLst>
              <a:ext uri="{FF2B5EF4-FFF2-40B4-BE49-F238E27FC236}">
                <a16:creationId xmlns:a16="http://schemas.microsoft.com/office/drawing/2014/main" id="{1AA34B74-93DA-5F21-CF4A-77FE692D026C}"/>
              </a:ext>
            </a:extLst>
          </p:cNvPr>
          <p:cNvSpPr>
            <a:spLocks noGrp="1"/>
          </p:cNvSpPr>
          <p:nvPr>
            <p:ph type="sldNum" sz="quarter" idx="12"/>
          </p:nvPr>
        </p:nvSpPr>
        <p:spPr/>
        <p:txBody>
          <a:bodyPr/>
          <a:lstStyle/>
          <a:p>
            <a:fld id="{CC6D4273-7FC1-0947-B9FE-19CB3C0D1FB6}" type="slidenum">
              <a:rPr lang="en-US" smtClean="0"/>
              <a:t>47</a:t>
            </a:fld>
            <a:endParaRPr lang="en-US"/>
          </a:p>
        </p:txBody>
      </p:sp>
      <p:sp>
        <p:nvSpPr>
          <p:cNvPr id="37" name="TextBox 36">
            <a:extLst>
              <a:ext uri="{FF2B5EF4-FFF2-40B4-BE49-F238E27FC236}">
                <a16:creationId xmlns:a16="http://schemas.microsoft.com/office/drawing/2014/main" id="{0FAB3950-B9FC-BE60-5118-2B23F7E52A69}"/>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Lean Fundamentals</a:t>
            </a:r>
          </a:p>
        </p:txBody>
      </p:sp>
      <p:grpSp>
        <p:nvGrpSpPr>
          <p:cNvPr id="19" name="Group 18">
            <a:extLst>
              <a:ext uri="{FF2B5EF4-FFF2-40B4-BE49-F238E27FC236}">
                <a16:creationId xmlns:a16="http://schemas.microsoft.com/office/drawing/2014/main" id="{BD14E6CB-8045-67D5-46DB-80FF4F2C8E7F}"/>
              </a:ext>
            </a:extLst>
          </p:cNvPr>
          <p:cNvGrpSpPr/>
          <p:nvPr/>
        </p:nvGrpSpPr>
        <p:grpSpPr>
          <a:xfrm>
            <a:off x="838201" y="1990660"/>
            <a:ext cx="8189911" cy="2209800"/>
            <a:chOff x="2170114" y="1679575"/>
            <a:chExt cx="8189911" cy="2209800"/>
          </a:xfrm>
        </p:grpSpPr>
        <p:grpSp>
          <p:nvGrpSpPr>
            <p:cNvPr id="7" name="Group 3">
              <a:extLst>
                <a:ext uri="{FF2B5EF4-FFF2-40B4-BE49-F238E27FC236}">
                  <a16:creationId xmlns:a16="http://schemas.microsoft.com/office/drawing/2014/main" id="{A7963DCE-630D-09AC-858C-5D1658AB53BA}"/>
                </a:ext>
              </a:extLst>
            </p:cNvPr>
            <p:cNvGrpSpPr>
              <a:grpSpLocks/>
            </p:cNvGrpSpPr>
            <p:nvPr/>
          </p:nvGrpSpPr>
          <p:grpSpPr bwMode="auto">
            <a:xfrm>
              <a:off x="2170114" y="1828801"/>
              <a:ext cx="8189911" cy="466725"/>
              <a:chOff x="562" y="1785"/>
              <a:chExt cx="4831" cy="294"/>
            </a:xfrm>
          </p:grpSpPr>
          <p:sp>
            <p:nvSpPr>
              <p:cNvPr id="15" name="AutoShape 4">
                <a:extLst>
                  <a:ext uri="{FF2B5EF4-FFF2-40B4-BE49-F238E27FC236}">
                    <a16:creationId xmlns:a16="http://schemas.microsoft.com/office/drawing/2014/main" id="{51300D51-7C8D-E1B8-4713-530CA337416B}"/>
                  </a:ext>
                </a:extLst>
              </p:cNvPr>
              <p:cNvSpPr>
                <a:spLocks noChangeArrowheads="1"/>
              </p:cNvSpPr>
              <p:nvPr/>
            </p:nvSpPr>
            <p:spPr bwMode="auto">
              <a:xfrm>
                <a:off x="3660" y="1785"/>
                <a:ext cx="1733" cy="294"/>
              </a:xfrm>
              <a:prstGeom prst="homePlate">
                <a:avLst>
                  <a:gd name="adj" fmla="val 48603"/>
                </a:avLst>
              </a:prstGeom>
              <a:solidFill>
                <a:schemeClr val="accent1"/>
              </a:solidFill>
              <a:ln w="12700" cap="sq">
                <a:solidFill>
                  <a:schemeClr val="tx1"/>
                </a:solidFill>
                <a:miter lim="800000"/>
                <a:headEnd/>
                <a:tailEnd/>
              </a:ln>
            </p:spPr>
            <p:txBody>
              <a:bodyPr wrap="none" anchor="ctr"/>
              <a:lstStyle>
                <a:lvl1pPr>
                  <a:defRPr sz="900" b="1">
                    <a:solidFill>
                      <a:schemeClr val="bg1"/>
                    </a:solidFill>
                    <a:latin typeface="Arial" panose="020B0604020202020204" pitchFamily="34" charset="0"/>
                    <a:ea typeface="MS PGothic" panose="020B0600070205080204" pitchFamily="34" charset="-128"/>
                  </a:defRPr>
                </a:lvl1pPr>
                <a:lvl2pPr marL="742950" indent="-285750">
                  <a:defRPr sz="900" b="1">
                    <a:solidFill>
                      <a:schemeClr val="bg1"/>
                    </a:solidFill>
                    <a:latin typeface="Arial" panose="020B0604020202020204" pitchFamily="34" charset="0"/>
                    <a:ea typeface="MS PGothic" panose="020B0600070205080204" pitchFamily="34" charset="-128"/>
                  </a:defRPr>
                </a:lvl2pPr>
                <a:lvl3pPr marL="1143000" indent="-228600">
                  <a:defRPr sz="900" b="1">
                    <a:solidFill>
                      <a:schemeClr val="bg1"/>
                    </a:solidFill>
                    <a:latin typeface="Arial" panose="020B0604020202020204" pitchFamily="34" charset="0"/>
                    <a:ea typeface="MS PGothic" panose="020B0600070205080204" pitchFamily="34" charset="-128"/>
                  </a:defRPr>
                </a:lvl3pPr>
                <a:lvl4pPr marL="1600200" indent="-228600">
                  <a:defRPr sz="900" b="1">
                    <a:solidFill>
                      <a:schemeClr val="bg1"/>
                    </a:solidFill>
                    <a:latin typeface="Arial" panose="020B0604020202020204" pitchFamily="34" charset="0"/>
                    <a:ea typeface="MS PGothic" panose="020B0600070205080204" pitchFamily="34" charset="-128"/>
                  </a:defRPr>
                </a:lvl4pPr>
                <a:lvl5pPr marL="2057400" indent="-228600">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ctr"/>
                <a:r>
                  <a:rPr lang="en-US" altLang="en-US" sz="1800" dirty="0">
                    <a:latin typeface="Roboto" panose="02000000000000000000" pitchFamily="2" charset="0"/>
                    <a:ea typeface="Roboto" panose="02000000000000000000" pitchFamily="2" charset="0"/>
                    <a:cs typeface="Roboto" panose="02000000000000000000" pitchFamily="2" charset="0"/>
                  </a:rPr>
                  <a:t>   Expected Outcomes</a:t>
                </a:r>
              </a:p>
            </p:txBody>
          </p:sp>
          <p:sp>
            <p:nvSpPr>
              <p:cNvPr id="16" name="AutoShape 5">
                <a:extLst>
                  <a:ext uri="{FF2B5EF4-FFF2-40B4-BE49-F238E27FC236}">
                    <a16:creationId xmlns:a16="http://schemas.microsoft.com/office/drawing/2014/main" id="{9ADFBB1E-DEF3-987D-17F9-2236ED5EDC8F}"/>
                  </a:ext>
                </a:extLst>
              </p:cNvPr>
              <p:cNvSpPr>
                <a:spLocks noChangeArrowheads="1"/>
              </p:cNvSpPr>
              <p:nvPr/>
            </p:nvSpPr>
            <p:spPr bwMode="auto">
              <a:xfrm>
                <a:off x="2105" y="1785"/>
                <a:ext cx="1733" cy="294"/>
              </a:xfrm>
              <a:prstGeom prst="homePlate">
                <a:avLst>
                  <a:gd name="adj" fmla="val 48603"/>
                </a:avLst>
              </a:prstGeom>
              <a:solidFill>
                <a:srgbClr val="222222"/>
              </a:solidFill>
              <a:ln w="12700" cap="sq">
                <a:solidFill>
                  <a:schemeClr val="tx1"/>
                </a:solidFill>
                <a:miter lim="800000"/>
                <a:headEnd/>
                <a:tailEnd/>
              </a:ln>
            </p:spPr>
            <p:txBody>
              <a:bodyPr wrap="none" lIns="91440" tIns="45720" rIns="91440" bIns="45720" anchor="ctr"/>
              <a:lstStyle>
                <a:lvl1pPr>
                  <a:defRPr sz="900" b="1">
                    <a:solidFill>
                      <a:schemeClr val="bg1"/>
                    </a:solidFill>
                    <a:latin typeface="Arial" panose="020B0604020202020204" pitchFamily="34" charset="0"/>
                    <a:ea typeface="MS PGothic" panose="020B0600070205080204" pitchFamily="34" charset="-128"/>
                  </a:defRPr>
                </a:lvl1pPr>
                <a:lvl2pPr marL="742950" indent="-285750">
                  <a:defRPr sz="900" b="1">
                    <a:solidFill>
                      <a:schemeClr val="bg1"/>
                    </a:solidFill>
                    <a:latin typeface="Arial" panose="020B0604020202020204" pitchFamily="34" charset="0"/>
                    <a:ea typeface="MS PGothic" panose="020B0600070205080204" pitchFamily="34" charset="-128"/>
                  </a:defRPr>
                </a:lvl2pPr>
                <a:lvl3pPr marL="1143000" indent="-228600">
                  <a:defRPr sz="900" b="1">
                    <a:solidFill>
                      <a:schemeClr val="bg1"/>
                    </a:solidFill>
                    <a:latin typeface="Arial" panose="020B0604020202020204" pitchFamily="34" charset="0"/>
                    <a:ea typeface="MS PGothic" panose="020B0600070205080204" pitchFamily="34" charset="-128"/>
                  </a:defRPr>
                </a:lvl3pPr>
                <a:lvl4pPr marL="1600200" indent="-228600">
                  <a:defRPr sz="900" b="1">
                    <a:solidFill>
                      <a:schemeClr val="bg1"/>
                    </a:solidFill>
                    <a:latin typeface="Arial" panose="020B0604020202020204" pitchFamily="34" charset="0"/>
                    <a:ea typeface="MS PGothic" panose="020B0600070205080204" pitchFamily="34" charset="-128"/>
                  </a:defRPr>
                </a:lvl4pPr>
                <a:lvl5pPr marL="2057400" indent="-228600">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ctr"/>
                <a:r>
                  <a:rPr lang="en-US" altLang="en-US" sz="1800" dirty="0">
                    <a:latin typeface="Roboto"/>
                    <a:ea typeface="Roboto"/>
                    <a:cs typeface="Roboto"/>
                  </a:rPr>
                  <a:t>Benefits</a:t>
                </a:r>
              </a:p>
            </p:txBody>
          </p:sp>
          <p:sp>
            <p:nvSpPr>
              <p:cNvPr id="17" name="AutoShape 6">
                <a:extLst>
                  <a:ext uri="{FF2B5EF4-FFF2-40B4-BE49-F238E27FC236}">
                    <a16:creationId xmlns:a16="http://schemas.microsoft.com/office/drawing/2014/main" id="{D31BB447-B150-6535-FC68-8E95E592FBB6}"/>
                  </a:ext>
                </a:extLst>
              </p:cNvPr>
              <p:cNvSpPr>
                <a:spLocks noChangeArrowheads="1"/>
              </p:cNvSpPr>
              <p:nvPr/>
            </p:nvSpPr>
            <p:spPr bwMode="auto">
              <a:xfrm>
                <a:off x="562" y="1785"/>
                <a:ext cx="1733" cy="294"/>
              </a:xfrm>
              <a:prstGeom prst="homePlate">
                <a:avLst>
                  <a:gd name="adj" fmla="val 48603"/>
                </a:avLst>
              </a:prstGeom>
              <a:solidFill>
                <a:schemeClr val="bg1">
                  <a:lumMod val="50000"/>
                </a:schemeClr>
              </a:solidFill>
              <a:ln w="12700" cap="sq">
                <a:solidFill>
                  <a:schemeClr val="tx1"/>
                </a:solidFill>
                <a:miter lim="800000"/>
                <a:headEnd/>
                <a:tailEnd/>
              </a:ln>
            </p:spPr>
            <p:txBody>
              <a:bodyPr wrap="none" anchor="ctr"/>
              <a:lstStyle>
                <a:lvl1pPr>
                  <a:defRPr sz="900" b="1">
                    <a:solidFill>
                      <a:schemeClr val="bg1"/>
                    </a:solidFill>
                    <a:latin typeface="Arial" panose="020B0604020202020204" pitchFamily="34" charset="0"/>
                    <a:ea typeface="MS PGothic" panose="020B0600070205080204" pitchFamily="34" charset="-128"/>
                  </a:defRPr>
                </a:lvl1pPr>
                <a:lvl2pPr marL="742950" indent="-285750">
                  <a:defRPr sz="900" b="1">
                    <a:solidFill>
                      <a:schemeClr val="bg1"/>
                    </a:solidFill>
                    <a:latin typeface="Arial" panose="020B0604020202020204" pitchFamily="34" charset="0"/>
                    <a:ea typeface="MS PGothic" panose="020B0600070205080204" pitchFamily="34" charset="-128"/>
                  </a:defRPr>
                </a:lvl2pPr>
                <a:lvl3pPr marL="1143000" indent="-228600">
                  <a:defRPr sz="900" b="1">
                    <a:solidFill>
                      <a:schemeClr val="bg1"/>
                    </a:solidFill>
                    <a:latin typeface="Arial" panose="020B0604020202020204" pitchFamily="34" charset="0"/>
                    <a:ea typeface="MS PGothic" panose="020B0600070205080204" pitchFamily="34" charset="-128"/>
                  </a:defRPr>
                </a:lvl3pPr>
                <a:lvl4pPr marL="1600200" indent="-228600">
                  <a:defRPr sz="900" b="1">
                    <a:solidFill>
                      <a:schemeClr val="bg1"/>
                    </a:solidFill>
                    <a:latin typeface="Arial" panose="020B0604020202020204" pitchFamily="34" charset="0"/>
                    <a:ea typeface="MS PGothic" panose="020B0600070205080204" pitchFamily="34" charset="-128"/>
                  </a:defRPr>
                </a:lvl4pPr>
                <a:lvl5pPr marL="2057400" indent="-228600">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ctr"/>
                <a:r>
                  <a:rPr lang="en-US" altLang="en-US" sz="1800" dirty="0">
                    <a:latin typeface="Roboto" panose="02000000000000000000" pitchFamily="2" charset="0"/>
                    <a:ea typeface="Roboto" panose="02000000000000000000" pitchFamily="2" charset="0"/>
                    <a:cs typeface="Roboto" panose="02000000000000000000" pitchFamily="2" charset="0"/>
                  </a:rPr>
                  <a:t>Definition</a:t>
                </a:r>
              </a:p>
            </p:txBody>
          </p:sp>
        </p:grpSp>
        <p:sp>
          <p:nvSpPr>
            <p:cNvPr id="8" name="Rectangle 7">
              <a:extLst>
                <a:ext uri="{FF2B5EF4-FFF2-40B4-BE49-F238E27FC236}">
                  <a16:creationId xmlns:a16="http://schemas.microsoft.com/office/drawing/2014/main" id="{E87A14D9-7BE8-241C-E232-4FBD8CE61C3F}"/>
                </a:ext>
              </a:extLst>
            </p:cNvPr>
            <p:cNvSpPr>
              <a:spLocks noChangeArrowheads="1"/>
            </p:cNvSpPr>
            <p:nvPr/>
          </p:nvSpPr>
          <p:spPr bwMode="auto">
            <a:xfrm>
              <a:off x="2174876" y="2346326"/>
              <a:ext cx="2716213" cy="1535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tabLst>
                  <a:tab pos="3086100" algn="l"/>
                </a:tabLst>
                <a:defRPr sz="900" b="1">
                  <a:solidFill>
                    <a:schemeClr val="bg1"/>
                  </a:solidFill>
                  <a:latin typeface="Arial" panose="020B0604020202020204" pitchFamily="34" charset="0"/>
                  <a:ea typeface="MS PGothic" panose="020B0600070205080204" pitchFamily="34" charset="-128"/>
                </a:defRPr>
              </a:lvl1pPr>
              <a:lvl2pPr marL="742950" indent="-285750">
                <a:tabLst>
                  <a:tab pos="3086100" algn="l"/>
                </a:tabLst>
                <a:defRPr sz="900" b="1">
                  <a:solidFill>
                    <a:schemeClr val="bg1"/>
                  </a:solidFill>
                  <a:latin typeface="Arial" panose="020B0604020202020204" pitchFamily="34" charset="0"/>
                  <a:ea typeface="MS PGothic" panose="020B0600070205080204" pitchFamily="34" charset="-128"/>
                </a:defRPr>
              </a:lvl2pPr>
              <a:lvl3pPr marL="1143000" indent="-228600">
                <a:tabLst>
                  <a:tab pos="3086100" algn="l"/>
                </a:tabLst>
                <a:defRPr sz="900" b="1">
                  <a:solidFill>
                    <a:schemeClr val="bg1"/>
                  </a:solidFill>
                  <a:latin typeface="Arial" panose="020B0604020202020204" pitchFamily="34" charset="0"/>
                  <a:ea typeface="MS PGothic" panose="020B0600070205080204" pitchFamily="34" charset="-128"/>
                </a:defRPr>
              </a:lvl3pPr>
              <a:lvl4pPr marL="1600200" indent="-228600">
                <a:tabLst>
                  <a:tab pos="3086100" algn="l"/>
                </a:tabLst>
                <a:defRPr sz="900" b="1">
                  <a:solidFill>
                    <a:schemeClr val="bg1"/>
                  </a:solidFill>
                  <a:latin typeface="Arial" panose="020B0604020202020204" pitchFamily="34" charset="0"/>
                  <a:ea typeface="MS PGothic" panose="020B0600070205080204" pitchFamily="34" charset="-128"/>
                </a:defRPr>
              </a:lvl4pPr>
              <a:lvl5pPr marL="2057400" indent="-228600">
                <a:tabLst>
                  <a:tab pos="3086100" algn="l"/>
                </a:tabLst>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Aft>
                  <a:spcPct val="20000"/>
                </a:spcAft>
                <a:buClr>
                  <a:schemeClr val="accent1"/>
                </a:buClr>
                <a:buSzPct val="40000"/>
                <a:buFont typeface="Wingdings" panose="05000000000000000000" pitchFamily="2" charset="2"/>
                <a:buChar char="n"/>
              </a:pPr>
              <a:r>
                <a:rPr lang="en-US" altLang="en-US" sz="1600" dirty="0">
                  <a:solidFill>
                    <a:schemeClr val="tx1"/>
                  </a:solidFill>
                  <a:latin typeface="Roboto" panose="02000000000000000000" pitchFamily="2" charset="0"/>
                  <a:ea typeface="Roboto" panose="02000000000000000000" pitchFamily="2" charset="0"/>
                  <a:cs typeface="Roboto" panose="02000000000000000000" pitchFamily="2" charset="0"/>
                </a:rPr>
                <a:t>Defines the interaction of people and their environment when processing a product or service</a:t>
              </a:r>
            </a:p>
            <a:p>
              <a:pPr algn="l" eaLnBrk="1" hangingPunct="1">
                <a:lnSpc>
                  <a:spcPct val="100000"/>
                </a:lnSpc>
                <a:spcAft>
                  <a:spcPct val="20000"/>
                </a:spcAft>
                <a:buClr>
                  <a:schemeClr val="accent1"/>
                </a:buClr>
                <a:buSzPct val="40000"/>
                <a:buFont typeface="Wingdings" panose="05000000000000000000" pitchFamily="2" charset="2"/>
                <a:buChar char="n"/>
              </a:pPr>
              <a:r>
                <a:rPr lang="en-US" altLang="en-US" sz="1600" dirty="0">
                  <a:solidFill>
                    <a:schemeClr val="tx1"/>
                  </a:solidFill>
                  <a:latin typeface="Roboto" panose="02000000000000000000" pitchFamily="2" charset="0"/>
                  <a:ea typeface="Roboto" panose="02000000000000000000" pitchFamily="2" charset="0"/>
                  <a:cs typeface="Roboto" panose="02000000000000000000" pitchFamily="2" charset="0"/>
                </a:rPr>
                <a:t>A set of tools used to improve productivity/capacity</a:t>
              </a:r>
            </a:p>
            <a:p>
              <a:pPr algn="l" eaLnBrk="1" hangingPunct="1">
                <a:lnSpc>
                  <a:spcPct val="100000"/>
                </a:lnSpc>
                <a:spcAft>
                  <a:spcPct val="20000"/>
                </a:spcAft>
                <a:buClr>
                  <a:schemeClr val="accent1"/>
                </a:buClr>
                <a:buSzPct val="40000"/>
                <a:buFont typeface="Wingdings" panose="05000000000000000000" pitchFamily="2" charset="2"/>
                <a:buChar char="n"/>
              </a:pPr>
              <a:r>
                <a:rPr lang="en-US" altLang="en-US" sz="1600" dirty="0">
                  <a:solidFill>
                    <a:schemeClr val="tx1"/>
                  </a:solidFill>
                  <a:latin typeface="Roboto" panose="02000000000000000000" pitchFamily="2" charset="0"/>
                  <a:ea typeface="Roboto" panose="02000000000000000000" pitchFamily="2" charset="0"/>
                  <a:cs typeface="Roboto" panose="02000000000000000000" pitchFamily="2" charset="0"/>
                </a:rPr>
                <a:t>Stabilizes a process</a:t>
              </a:r>
            </a:p>
          </p:txBody>
        </p:sp>
        <p:sp>
          <p:nvSpPr>
            <p:cNvPr id="9" name="Rectangle 8">
              <a:extLst>
                <a:ext uri="{FF2B5EF4-FFF2-40B4-BE49-F238E27FC236}">
                  <a16:creationId xmlns:a16="http://schemas.microsoft.com/office/drawing/2014/main" id="{B982260C-0048-DEA6-6773-EFECDCF65079}"/>
                </a:ext>
              </a:extLst>
            </p:cNvPr>
            <p:cNvSpPr>
              <a:spLocks noChangeArrowheads="1"/>
            </p:cNvSpPr>
            <p:nvPr/>
          </p:nvSpPr>
          <p:spPr bwMode="auto">
            <a:xfrm>
              <a:off x="4935538" y="2354263"/>
              <a:ext cx="2527300" cy="1535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tabLst>
                  <a:tab pos="3086100" algn="l"/>
                </a:tabLst>
                <a:defRPr sz="900" b="1">
                  <a:solidFill>
                    <a:schemeClr val="bg1"/>
                  </a:solidFill>
                  <a:latin typeface="Arial" panose="020B0604020202020204" pitchFamily="34" charset="0"/>
                  <a:ea typeface="MS PGothic" panose="020B0600070205080204" pitchFamily="34" charset="-128"/>
                </a:defRPr>
              </a:lvl1pPr>
              <a:lvl2pPr marL="742950" indent="-285750">
                <a:tabLst>
                  <a:tab pos="3086100" algn="l"/>
                </a:tabLst>
                <a:defRPr sz="900" b="1">
                  <a:solidFill>
                    <a:schemeClr val="bg1"/>
                  </a:solidFill>
                  <a:latin typeface="Arial" panose="020B0604020202020204" pitchFamily="34" charset="0"/>
                  <a:ea typeface="MS PGothic" panose="020B0600070205080204" pitchFamily="34" charset="-128"/>
                </a:defRPr>
              </a:lvl2pPr>
              <a:lvl3pPr marL="1143000" indent="-228600">
                <a:tabLst>
                  <a:tab pos="3086100" algn="l"/>
                </a:tabLst>
                <a:defRPr sz="900" b="1">
                  <a:solidFill>
                    <a:schemeClr val="bg1"/>
                  </a:solidFill>
                  <a:latin typeface="Arial" panose="020B0604020202020204" pitchFamily="34" charset="0"/>
                  <a:ea typeface="MS PGothic" panose="020B0600070205080204" pitchFamily="34" charset="-128"/>
                </a:defRPr>
              </a:lvl3pPr>
              <a:lvl4pPr marL="1600200" indent="-228600">
                <a:tabLst>
                  <a:tab pos="3086100" algn="l"/>
                </a:tabLst>
                <a:defRPr sz="900" b="1">
                  <a:solidFill>
                    <a:schemeClr val="bg1"/>
                  </a:solidFill>
                  <a:latin typeface="Arial" panose="020B0604020202020204" pitchFamily="34" charset="0"/>
                  <a:ea typeface="MS PGothic" panose="020B0600070205080204" pitchFamily="34" charset="-128"/>
                </a:defRPr>
              </a:lvl4pPr>
              <a:lvl5pPr marL="2057400" indent="-228600">
                <a:tabLst>
                  <a:tab pos="3086100" algn="l"/>
                </a:tabLst>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Aft>
                  <a:spcPct val="20000"/>
                </a:spcAft>
                <a:buClr>
                  <a:schemeClr val="accent1"/>
                </a:buClr>
                <a:buSzPct val="40000"/>
                <a:buFont typeface="Wingdings" panose="05000000000000000000" pitchFamily="2" charset="2"/>
                <a:buChar char="n"/>
              </a:pPr>
              <a:r>
                <a:rPr lang="en-US" altLang="en-US" sz="1600" dirty="0">
                  <a:solidFill>
                    <a:schemeClr val="tx1"/>
                  </a:solidFill>
                  <a:latin typeface="Roboto" panose="02000000000000000000" pitchFamily="2" charset="0"/>
                  <a:ea typeface="Roboto" panose="02000000000000000000" pitchFamily="2" charset="0"/>
                  <a:cs typeface="Roboto" panose="02000000000000000000" pitchFamily="2" charset="0"/>
                </a:rPr>
                <a:t>Improves productivity</a:t>
              </a:r>
            </a:p>
            <a:p>
              <a:pPr algn="l" eaLnBrk="1" hangingPunct="1">
                <a:lnSpc>
                  <a:spcPct val="100000"/>
                </a:lnSpc>
                <a:spcAft>
                  <a:spcPct val="20000"/>
                </a:spcAft>
                <a:buClr>
                  <a:schemeClr val="accent1"/>
                </a:buClr>
                <a:buSzPct val="40000"/>
                <a:buFont typeface="Wingdings" panose="05000000000000000000" pitchFamily="2" charset="2"/>
                <a:buChar char="n"/>
              </a:pPr>
              <a:r>
                <a:rPr lang="en-US" altLang="en-US" sz="1600" dirty="0">
                  <a:solidFill>
                    <a:schemeClr val="tx1"/>
                  </a:solidFill>
                  <a:latin typeface="Roboto" panose="02000000000000000000" pitchFamily="2" charset="0"/>
                  <a:ea typeface="Roboto" panose="02000000000000000000" pitchFamily="2" charset="0"/>
                  <a:cs typeface="Roboto" panose="02000000000000000000" pitchFamily="2" charset="0"/>
                </a:rPr>
                <a:t>Eliminates waste from processes</a:t>
              </a:r>
            </a:p>
            <a:p>
              <a:pPr algn="l" eaLnBrk="1" hangingPunct="1">
                <a:lnSpc>
                  <a:spcPct val="100000"/>
                </a:lnSpc>
                <a:spcAft>
                  <a:spcPct val="20000"/>
                </a:spcAft>
                <a:buClr>
                  <a:schemeClr val="accent1"/>
                </a:buClr>
                <a:buSzPct val="40000"/>
                <a:buFont typeface="Wingdings" panose="05000000000000000000" pitchFamily="2" charset="2"/>
                <a:buChar char="n"/>
              </a:pPr>
              <a:r>
                <a:rPr lang="en-US" altLang="en-US" sz="1600" dirty="0">
                  <a:solidFill>
                    <a:schemeClr val="tx1"/>
                  </a:solidFill>
                  <a:latin typeface="Roboto" panose="02000000000000000000" pitchFamily="2" charset="0"/>
                  <a:ea typeface="Roboto" panose="02000000000000000000" pitchFamily="2" charset="0"/>
                  <a:cs typeface="Roboto" panose="02000000000000000000" pitchFamily="2" charset="0"/>
                </a:rPr>
                <a:t>Provides a basis for improvement by defining the </a:t>
              </a:r>
              <a:r>
                <a:rPr lang="en-US" altLang="en-US" sz="1600" i="1" dirty="0">
                  <a:solidFill>
                    <a:schemeClr val="tx1"/>
                  </a:solidFill>
                  <a:latin typeface="Roboto" panose="02000000000000000000" pitchFamily="2" charset="0"/>
                  <a:ea typeface="Roboto" panose="02000000000000000000" pitchFamily="2" charset="0"/>
                  <a:cs typeface="Roboto" panose="02000000000000000000" pitchFamily="2" charset="0"/>
                </a:rPr>
                <a:t>normal </a:t>
              </a:r>
              <a:r>
                <a:rPr lang="en-US" altLang="en-US" sz="1600" dirty="0">
                  <a:solidFill>
                    <a:schemeClr val="tx1"/>
                  </a:solidFill>
                  <a:latin typeface="Roboto" panose="02000000000000000000" pitchFamily="2" charset="0"/>
                  <a:ea typeface="Roboto" panose="02000000000000000000" pitchFamily="2" charset="0"/>
                  <a:cs typeface="Roboto" panose="02000000000000000000" pitchFamily="2" charset="0"/>
                </a:rPr>
                <a:t>and highlighting the </a:t>
              </a:r>
              <a:r>
                <a:rPr lang="en-US" altLang="en-US" sz="1600" i="1" dirty="0">
                  <a:solidFill>
                    <a:schemeClr val="tx1"/>
                  </a:solidFill>
                  <a:latin typeface="Roboto" panose="02000000000000000000" pitchFamily="2" charset="0"/>
                  <a:ea typeface="Roboto" panose="02000000000000000000" pitchFamily="2" charset="0"/>
                  <a:cs typeface="Roboto" panose="02000000000000000000" pitchFamily="2" charset="0"/>
                </a:rPr>
                <a:t>abnormal</a:t>
              </a:r>
            </a:p>
          </p:txBody>
        </p:sp>
        <p:sp>
          <p:nvSpPr>
            <p:cNvPr id="10" name="Rectangle 9">
              <a:extLst>
                <a:ext uri="{FF2B5EF4-FFF2-40B4-BE49-F238E27FC236}">
                  <a16:creationId xmlns:a16="http://schemas.microsoft.com/office/drawing/2014/main" id="{145D0D1A-5F1A-14C5-85EA-02B8FDED7BC4}"/>
                </a:ext>
              </a:extLst>
            </p:cNvPr>
            <p:cNvSpPr>
              <a:spLocks noChangeArrowheads="1"/>
            </p:cNvSpPr>
            <p:nvPr/>
          </p:nvSpPr>
          <p:spPr bwMode="auto">
            <a:xfrm>
              <a:off x="7588250" y="2354263"/>
              <a:ext cx="2527300" cy="1535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tabLst>
                  <a:tab pos="3086100" algn="l"/>
                </a:tabLst>
                <a:defRPr sz="900" b="1">
                  <a:solidFill>
                    <a:schemeClr val="bg1"/>
                  </a:solidFill>
                  <a:latin typeface="Arial" panose="020B0604020202020204" pitchFamily="34" charset="0"/>
                  <a:ea typeface="MS PGothic" panose="020B0600070205080204" pitchFamily="34" charset="-128"/>
                </a:defRPr>
              </a:lvl1pPr>
              <a:lvl2pPr marL="742950" indent="-285750">
                <a:tabLst>
                  <a:tab pos="3086100" algn="l"/>
                </a:tabLst>
                <a:defRPr sz="900" b="1">
                  <a:solidFill>
                    <a:schemeClr val="bg1"/>
                  </a:solidFill>
                  <a:latin typeface="Arial" panose="020B0604020202020204" pitchFamily="34" charset="0"/>
                  <a:ea typeface="MS PGothic" panose="020B0600070205080204" pitchFamily="34" charset="-128"/>
                </a:defRPr>
              </a:lvl2pPr>
              <a:lvl3pPr marL="1143000" indent="-228600">
                <a:tabLst>
                  <a:tab pos="3086100" algn="l"/>
                </a:tabLst>
                <a:defRPr sz="900" b="1">
                  <a:solidFill>
                    <a:schemeClr val="bg1"/>
                  </a:solidFill>
                  <a:latin typeface="Arial" panose="020B0604020202020204" pitchFamily="34" charset="0"/>
                  <a:ea typeface="MS PGothic" panose="020B0600070205080204" pitchFamily="34" charset="-128"/>
                </a:defRPr>
              </a:lvl3pPr>
              <a:lvl4pPr marL="1600200" indent="-228600">
                <a:tabLst>
                  <a:tab pos="3086100" algn="l"/>
                </a:tabLst>
                <a:defRPr sz="900" b="1">
                  <a:solidFill>
                    <a:schemeClr val="bg1"/>
                  </a:solidFill>
                  <a:latin typeface="Arial" panose="020B0604020202020204" pitchFamily="34" charset="0"/>
                  <a:ea typeface="MS PGothic" panose="020B0600070205080204" pitchFamily="34" charset="-128"/>
                </a:defRPr>
              </a:lvl4pPr>
              <a:lvl5pPr marL="2057400" indent="-228600">
                <a:tabLst>
                  <a:tab pos="3086100" algn="l"/>
                </a:tabLst>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Aft>
                  <a:spcPct val="20000"/>
                </a:spcAft>
                <a:buClr>
                  <a:schemeClr val="accent1"/>
                </a:buClr>
                <a:buSzPct val="40000"/>
                <a:buFont typeface="Wingdings" panose="05000000000000000000" pitchFamily="2" charset="2"/>
                <a:buChar char="n"/>
              </a:pPr>
              <a:r>
                <a:rPr lang="en-US" altLang="en-US" sz="1600" dirty="0">
                  <a:solidFill>
                    <a:schemeClr val="tx1"/>
                  </a:solidFill>
                  <a:latin typeface="Roboto" panose="02000000000000000000" pitchFamily="2" charset="0"/>
                  <a:ea typeface="Roboto" panose="02000000000000000000" pitchFamily="2" charset="0"/>
                  <a:cs typeface="Roboto" panose="02000000000000000000" pitchFamily="2" charset="0"/>
                </a:rPr>
                <a:t>Detailed work sequence of the process</a:t>
              </a:r>
            </a:p>
            <a:p>
              <a:pPr algn="l" eaLnBrk="1" hangingPunct="1">
                <a:lnSpc>
                  <a:spcPct val="100000"/>
                </a:lnSpc>
                <a:spcAft>
                  <a:spcPct val="20000"/>
                </a:spcAft>
                <a:buClr>
                  <a:schemeClr val="accent1"/>
                </a:buClr>
                <a:buSzPct val="40000"/>
                <a:buFont typeface="Wingdings" panose="05000000000000000000" pitchFamily="2" charset="2"/>
                <a:buChar char="n"/>
              </a:pPr>
              <a:r>
                <a:rPr lang="en-US" altLang="en-US" sz="1600" dirty="0">
                  <a:solidFill>
                    <a:schemeClr val="tx1"/>
                  </a:solidFill>
                  <a:latin typeface="Roboto" panose="02000000000000000000" pitchFamily="2" charset="0"/>
                  <a:ea typeface="Roboto" panose="02000000000000000000" pitchFamily="2" charset="0"/>
                  <a:cs typeface="Roboto" panose="02000000000000000000" pitchFamily="2" charset="0"/>
                </a:rPr>
                <a:t>Enables process consistency</a:t>
              </a:r>
            </a:p>
            <a:p>
              <a:pPr algn="l" eaLnBrk="1" hangingPunct="1">
                <a:lnSpc>
                  <a:spcPct val="100000"/>
                </a:lnSpc>
                <a:spcAft>
                  <a:spcPct val="20000"/>
                </a:spcAft>
                <a:buClr>
                  <a:schemeClr val="accent1"/>
                </a:buClr>
                <a:buSzPct val="40000"/>
                <a:buFont typeface="Wingdings" panose="05000000000000000000" pitchFamily="2" charset="2"/>
                <a:buChar char="n"/>
              </a:pPr>
              <a:r>
                <a:rPr lang="en-US" altLang="en-US" sz="1600" dirty="0">
                  <a:solidFill>
                    <a:schemeClr val="tx1"/>
                  </a:solidFill>
                  <a:latin typeface="Roboto" panose="02000000000000000000" pitchFamily="2" charset="0"/>
                  <a:ea typeface="Roboto" panose="02000000000000000000" pitchFamily="2" charset="0"/>
                  <a:cs typeface="Roboto" panose="02000000000000000000" pitchFamily="2" charset="0"/>
                </a:rPr>
                <a:t>Enables management at a glance</a:t>
              </a:r>
            </a:p>
            <a:p>
              <a:pPr algn="l" eaLnBrk="1" hangingPunct="1">
                <a:lnSpc>
                  <a:spcPct val="100000"/>
                </a:lnSpc>
                <a:spcAft>
                  <a:spcPct val="20000"/>
                </a:spcAft>
                <a:buClr>
                  <a:schemeClr val="accent1"/>
                </a:buClr>
                <a:buSzPct val="40000"/>
                <a:buFont typeface="Wingdings" panose="05000000000000000000" pitchFamily="2" charset="2"/>
                <a:buChar char="n"/>
              </a:pPr>
              <a:r>
                <a:rPr lang="en-US" altLang="en-US" sz="1600" dirty="0">
                  <a:solidFill>
                    <a:schemeClr val="tx1"/>
                  </a:solidFill>
                  <a:latin typeface="Roboto" panose="02000000000000000000" pitchFamily="2" charset="0"/>
                  <a:ea typeface="Roboto" panose="02000000000000000000" pitchFamily="2" charset="0"/>
                  <a:cs typeface="Roboto" panose="02000000000000000000" pitchFamily="2" charset="0"/>
                </a:rPr>
                <a:t>Tools, materials, and work instructions defined</a:t>
              </a:r>
            </a:p>
          </p:txBody>
        </p:sp>
        <p:sp>
          <p:nvSpPr>
            <p:cNvPr id="12" name="Oval 10">
              <a:extLst>
                <a:ext uri="{FF2B5EF4-FFF2-40B4-BE49-F238E27FC236}">
                  <a16:creationId xmlns:a16="http://schemas.microsoft.com/office/drawing/2014/main" id="{E706B5D9-27C5-E9B7-966E-79396B14AD86}"/>
                </a:ext>
              </a:extLst>
            </p:cNvPr>
            <p:cNvSpPr>
              <a:spLocks noChangeArrowheads="1"/>
            </p:cNvSpPr>
            <p:nvPr/>
          </p:nvSpPr>
          <p:spPr bwMode="auto">
            <a:xfrm>
              <a:off x="2300288" y="1682750"/>
              <a:ext cx="323850" cy="287338"/>
            </a:xfrm>
            <a:prstGeom prst="ellipse">
              <a:avLst/>
            </a:prstGeom>
            <a:solidFill>
              <a:schemeClr val="bg1"/>
            </a:solidFill>
            <a:ln w="19050" cap="sq">
              <a:solidFill>
                <a:srgbClr val="000066"/>
              </a:solidFill>
              <a:round/>
              <a:headEnd/>
              <a:tailEnd/>
            </a:ln>
          </p:spPr>
          <p:txBody>
            <a:bodyPr wrap="none" anchor="ctr"/>
            <a:lstStyle>
              <a:lvl1pPr>
                <a:defRPr sz="900" b="1">
                  <a:solidFill>
                    <a:schemeClr val="bg1"/>
                  </a:solidFill>
                  <a:latin typeface="Arial" panose="020B0604020202020204" pitchFamily="34" charset="0"/>
                  <a:ea typeface="MS PGothic" panose="020B0600070205080204" pitchFamily="34" charset="-128"/>
                </a:defRPr>
              </a:lvl1pPr>
              <a:lvl2pPr marL="742950" indent="-285750">
                <a:defRPr sz="900" b="1">
                  <a:solidFill>
                    <a:schemeClr val="bg1"/>
                  </a:solidFill>
                  <a:latin typeface="Arial" panose="020B0604020202020204" pitchFamily="34" charset="0"/>
                  <a:ea typeface="MS PGothic" panose="020B0600070205080204" pitchFamily="34" charset="-128"/>
                </a:defRPr>
              </a:lvl2pPr>
              <a:lvl3pPr marL="1143000" indent="-228600">
                <a:defRPr sz="900" b="1">
                  <a:solidFill>
                    <a:schemeClr val="bg1"/>
                  </a:solidFill>
                  <a:latin typeface="Arial" panose="020B0604020202020204" pitchFamily="34" charset="0"/>
                  <a:ea typeface="MS PGothic" panose="020B0600070205080204" pitchFamily="34" charset="-128"/>
                </a:defRPr>
              </a:lvl3pPr>
              <a:lvl4pPr marL="1600200" indent="-228600">
                <a:defRPr sz="900" b="1">
                  <a:solidFill>
                    <a:schemeClr val="bg1"/>
                  </a:solidFill>
                  <a:latin typeface="Arial" panose="020B0604020202020204" pitchFamily="34" charset="0"/>
                  <a:ea typeface="MS PGothic" panose="020B0600070205080204" pitchFamily="34" charset="-128"/>
                </a:defRPr>
              </a:lvl4pPr>
              <a:lvl5pPr marL="2057400" indent="-228600">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ctr"/>
              <a:r>
                <a:rPr lang="en-US" altLang="en-US" sz="1600" dirty="0">
                  <a:solidFill>
                    <a:srgbClr val="000066"/>
                  </a:solidFill>
                  <a:latin typeface="Roboto" panose="02000000000000000000" pitchFamily="2" charset="0"/>
                  <a:ea typeface="Roboto" panose="02000000000000000000" pitchFamily="2" charset="0"/>
                  <a:cs typeface="Roboto" panose="02000000000000000000" pitchFamily="2" charset="0"/>
                </a:rPr>
                <a:t>1</a:t>
              </a:r>
            </a:p>
          </p:txBody>
        </p:sp>
        <p:sp>
          <p:nvSpPr>
            <p:cNvPr id="13" name="Oval 11">
              <a:extLst>
                <a:ext uri="{FF2B5EF4-FFF2-40B4-BE49-F238E27FC236}">
                  <a16:creationId xmlns:a16="http://schemas.microsoft.com/office/drawing/2014/main" id="{38CF3ADE-3D00-ED9E-568B-27DC670B0989}"/>
                </a:ext>
              </a:extLst>
            </p:cNvPr>
            <p:cNvSpPr>
              <a:spLocks noChangeArrowheads="1"/>
            </p:cNvSpPr>
            <p:nvPr/>
          </p:nvSpPr>
          <p:spPr bwMode="auto">
            <a:xfrm>
              <a:off x="4972050" y="1690689"/>
              <a:ext cx="323850" cy="287337"/>
            </a:xfrm>
            <a:prstGeom prst="ellipse">
              <a:avLst/>
            </a:prstGeom>
            <a:solidFill>
              <a:schemeClr val="bg1"/>
            </a:solidFill>
            <a:ln w="19050" cap="sq">
              <a:solidFill>
                <a:srgbClr val="000066"/>
              </a:solidFill>
              <a:round/>
              <a:headEnd/>
              <a:tailEnd/>
            </a:ln>
          </p:spPr>
          <p:txBody>
            <a:bodyPr wrap="none" anchor="ctr"/>
            <a:lstStyle>
              <a:lvl1pPr>
                <a:defRPr sz="900" b="1">
                  <a:solidFill>
                    <a:schemeClr val="bg1"/>
                  </a:solidFill>
                  <a:latin typeface="Arial" panose="020B0604020202020204" pitchFamily="34" charset="0"/>
                  <a:ea typeface="MS PGothic" panose="020B0600070205080204" pitchFamily="34" charset="-128"/>
                </a:defRPr>
              </a:lvl1pPr>
              <a:lvl2pPr marL="742950" indent="-285750">
                <a:defRPr sz="900" b="1">
                  <a:solidFill>
                    <a:schemeClr val="bg1"/>
                  </a:solidFill>
                  <a:latin typeface="Arial" panose="020B0604020202020204" pitchFamily="34" charset="0"/>
                  <a:ea typeface="MS PGothic" panose="020B0600070205080204" pitchFamily="34" charset="-128"/>
                </a:defRPr>
              </a:lvl2pPr>
              <a:lvl3pPr marL="1143000" indent="-228600">
                <a:defRPr sz="900" b="1">
                  <a:solidFill>
                    <a:schemeClr val="bg1"/>
                  </a:solidFill>
                  <a:latin typeface="Arial" panose="020B0604020202020204" pitchFamily="34" charset="0"/>
                  <a:ea typeface="MS PGothic" panose="020B0600070205080204" pitchFamily="34" charset="-128"/>
                </a:defRPr>
              </a:lvl3pPr>
              <a:lvl4pPr marL="1600200" indent="-228600">
                <a:defRPr sz="900" b="1">
                  <a:solidFill>
                    <a:schemeClr val="bg1"/>
                  </a:solidFill>
                  <a:latin typeface="Arial" panose="020B0604020202020204" pitchFamily="34" charset="0"/>
                  <a:ea typeface="MS PGothic" panose="020B0600070205080204" pitchFamily="34" charset="-128"/>
                </a:defRPr>
              </a:lvl4pPr>
              <a:lvl5pPr marL="2057400" indent="-228600">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ctr"/>
              <a:r>
                <a:rPr lang="en-US" altLang="en-US" sz="1600">
                  <a:solidFill>
                    <a:srgbClr val="000066"/>
                  </a:solidFill>
                  <a:latin typeface="Roboto" panose="02000000000000000000" pitchFamily="2" charset="0"/>
                  <a:ea typeface="Roboto" panose="02000000000000000000" pitchFamily="2" charset="0"/>
                  <a:cs typeface="Roboto" panose="02000000000000000000" pitchFamily="2" charset="0"/>
                </a:rPr>
                <a:t>2</a:t>
              </a:r>
            </a:p>
          </p:txBody>
        </p:sp>
        <p:sp>
          <p:nvSpPr>
            <p:cNvPr id="14" name="Oval 12">
              <a:extLst>
                <a:ext uri="{FF2B5EF4-FFF2-40B4-BE49-F238E27FC236}">
                  <a16:creationId xmlns:a16="http://schemas.microsoft.com/office/drawing/2014/main" id="{B96F367A-2864-E3B7-10C9-2A9BD78A35C8}"/>
                </a:ext>
              </a:extLst>
            </p:cNvPr>
            <p:cNvSpPr>
              <a:spLocks noChangeArrowheads="1"/>
            </p:cNvSpPr>
            <p:nvPr/>
          </p:nvSpPr>
          <p:spPr bwMode="auto">
            <a:xfrm>
              <a:off x="7494588" y="1679575"/>
              <a:ext cx="323850" cy="287338"/>
            </a:xfrm>
            <a:prstGeom prst="ellipse">
              <a:avLst/>
            </a:prstGeom>
            <a:solidFill>
              <a:schemeClr val="bg1"/>
            </a:solidFill>
            <a:ln w="19050" cap="sq">
              <a:solidFill>
                <a:srgbClr val="000066"/>
              </a:solidFill>
              <a:round/>
              <a:headEnd/>
              <a:tailEnd/>
            </a:ln>
          </p:spPr>
          <p:txBody>
            <a:bodyPr wrap="none" anchor="ctr"/>
            <a:lstStyle>
              <a:lvl1pPr>
                <a:defRPr sz="900" b="1">
                  <a:solidFill>
                    <a:schemeClr val="bg1"/>
                  </a:solidFill>
                  <a:latin typeface="Arial" panose="020B0604020202020204" pitchFamily="34" charset="0"/>
                  <a:ea typeface="MS PGothic" panose="020B0600070205080204" pitchFamily="34" charset="-128"/>
                </a:defRPr>
              </a:lvl1pPr>
              <a:lvl2pPr marL="742950" indent="-285750">
                <a:defRPr sz="900" b="1">
                  <a:solidFill>
                    <a:schemeClr val="bg1"/>
                  </a:solidFill>
                  <a:latin typeface="Arial" panose="020B0604020202020204" pitchFamily="34" charset="0"/>
                  <a:ea typeface="MS PGothic" panose="020B0600070205080204" pitchFamily="34" charset="-128"/>
                </a:defRPr>
              </a:lvl2pPr>
              <a:lvl3pPr marL="1143000" indent="-228600">
                <a:defRPr sz="900" b="1">
                  <a:solidFill>
                    <a:schemeClr val="bg1"/>
                  </a:solidFill>
                  <a:latin typeface="Arial" panose="020B0604020202020204" pitchFamily="34" charset="0"/>
                  <a:ea typeface="MS PGothic" panose="020B0600070205080204" pitchFamily="34" charset="-128"/>
                </a:defRPr>
              </a:lvl3pPr>
              <a:lvl4pPr marL="1600200" indent="-228600">
                <a:defRPr sz="900" b="1">
                  <a:solidFill>
                    <a:schemeClr val="bg1"/>
                  </a:solidFill>
                  <a:latin typeface="Arial" panose="020B0604020202020204" pitchFamily="34" charset="0"/>
                  <a:ea typeface="MS PGothic" panose="020B0600070205080204" pitchFamily="34" charset="-128"/>
                </a:defRPr>
              </a:lvl4pPr>
              <a:lvl5pPr marL="2057400" indent="-228600">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ctr"/>
              <a:r>
                <a:rPr lang="en-US" altLang="en-US" sz="1600">
                  <a:solidFill>
                    <a:srgbClr val="000066"/>
                  </a:solidFill>
                  <a:latin typeface="Roboto" panose="02000000000000000000" pitchFamily="2" charset="0"/>
                  <a:ea typeface="Roboto" panose="02000000000000000000" pitchFamily="2" charset="0"/>
                  <a:cs typeface="Roboto" panose="02000000000000000000" pitchFamily="2" charset="0"/>
                </a:rPr>
                <a:t>3</a:t>
              </a:r>
            </a:p>
          </p:txBody>
        </p:sp>
      </p:grpSp>
      <p:sp>
        <p:nvSpPr>
          <p:cNvPr id="18" name="AutoShape 9">
            <a:extLst>
              <a:ext uri="{FF2B5EF4-FFF2-40B4-BE49-F238E27FC236}">
                <a16:creationId xmlns:a16="http://schemas.microsoft.com/office/drawing/2014/main" id="{AFA19D3A-B8A4-B8AF-41E0-BD84DB3AF661}"/>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0" name="AutoShape 11">
            <a:extLst>
              <a:ext uri="{FF2B5EF4-FFF2-40B4-BE49-F238E27FC236}">
                <a16:creationId xmlns:a16="http://schemas.microsoft.com/office/drawing/2014/main" id="{7112AF7B-FC64-6FC7-62B0-5502C49B669C}"/>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1" name="AutoShape 10">
            <a:extLst>
              <a:ext uri="{FF2B5EF4-FFF2-40B4-BE49-F238E27FC236}">
                <a16:creationId xmlns:a16="http://schemas.microsoft.com/office/drawing/2014/main" id="{BDB3C36D-DC52-59AE-1BED-2A38473E258C}"/>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Tree>
    <p:extLst>
      <p:ext uri="{BB962C8B-B14F-4D97-AF65-F5344CB8AC3E}">
        <p14:creationId xmlns:p14="http://schemas.microsoft.com/office/powerpoint/2010/main" val="194292597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D59612-57A7-4226-15D4-E621CF0130AB}"/>
              </a:ext>
            </a:extLst>
          </p:cNvPr>
          <p:cNvSpPr>
            <a:spLocks noGrp="1"/>
          </p:cNvSpPr>
          <p:nvPr>
            <p:ph type="title"/>
          </p:nvPr>
        </p:nvSpPr>
        <p:spPr/>
        <p:txBody>
          <a:bodyPr>
            <a:normAutofit/>
          </a:bodyPr>
          <a:lstStyle/>
          <a:p>
            <a:r>
              <a:rPr lang="en-US" sz="4000" dirty="0">
                <a:latin typeface="Roboto Medium"/>
                <a:ea typeface="Roboto Medium"/>
                <a:cs typeface="Roboto Medium"/>
              </a:rPr>
              <a:t>Three Elements of Standard Work</a:t>
            </a:r>
            <a:endParaRPr lang="en-US" dirty="0"/>
          </a:p>
        </p:txBody>
      </p:sp>
      <p:sp>
        <p:nvSpPr>
          <p:cNvPr id="4" name="Footer Placeholder 3">
            <a:extLst>
              <a:ext uri="{FF2B5EF4-FFF2-40B4-BE49-F238E27FC236}">
                <a16:creationId xmlns:a16="http://schemas.microsoft.com/office/drawing/2014/main" id="{CB1F8C30-D81C-1E27-D266-2BC421C72FD6}"/>
              </a:ext>
            </a:extLst>
          </p:cNvPr>
          <p:cNvSpPr>
            <a:spLocks noGrp="1"/>
          </p:cNvSpPr>
          <p:nvPr>
            <p:ph type="ftr" sz="quarter" idx="11"/>
          </p:nvPr>
        </p:nvSpPr>
        <p:spPr/>
        <p:txBody>
          <a:bodyPr/>
          <a:lstStyle/>
          <a:p>
            <a:r>
              <a:rPr lang="en-US"/>
              <a:t>© Lean Horizons Consulting, LLC 2023. All Rights Reserved</a:t>
            </a:r>
            <a:endParaRPr lang="en-US" dirty="0"/>
          </a:p>
        </p:txBody>
      </p:sp>
      <p:sp>
        <p:nvSpPr>
          <p:cNvPr id="5" name="Slide Number Placeholder 4">
            <a:extLst>
              <a:ext uri="{FF2B5EF4-FFF2-40B4-BE49-F238E27FC236}">
                <a16:creationId xmlns:a16="http://schemas.microsoft.com/office/drawing/2014/main" id="{1AA34B74-93DA-5F21-CF4A-77FE692D026C}"/>
              </a:ext>
            </a:extLst>
          </p:cNvPr>
          <p:cNvSpPr>
            <a:spLocks noGrp="1"/>
          </p:cNvSpPr>
          <p:nvPr>
            <p:ph type="sldNum" sz="quarter" idx="12"/>
          </p:nvPr>
        </p:nvSpPr>
        <p:spPr/>
        <p:txBody>
          <a:bodyPr/>
          <a:lstStyle/>
          <a:p>
            <a:fld id="{CC6D4273-7FC1-0947-B9FE-19CB3C0D1FB6}" type="slidenum">
              <a:rPr lang="en-US" smtClean="0"/>
              <a:t>48</a:t>
            </a:fld>
            <a:endParaRPr lang="en-US"/>
          </a:p>
        </p:txBody>
      </p:sp>
      <p:sp>
        <p:nvSpPr>
          <p:cNvPr id="37" name="TextBox 36">
            <a:extLst>
              <a:ext uri="{FF2B5EF4-FFF2-40B4-BE49-F238E27FC236}">
                <a16:creationId xmlns:a16="http://schemas.microsoft.com/office/drawing/2014/main" id="{0FAB3950-B9FC-BE60-5118-2B23F7E52A69}"/>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Lean Fundamentals</a:t>
            </a:r>
          </a:p>
        </p:txBody>
      </p:sp>
      <p:grpSp>
        <p:nvGrpSpPr>
          <p:cNvPr id="38" name="Group 37">
            <a:extLst>
              <a:ext uri="{FF2B5EF4-FFF2-40B4-BE49-F238E27FC236}">
                <a16:creationId xmlns:a16="http://schemas.microsoft.com/office/drawing/2014/main" id="{4C8B9E2C-6856-CA97-4089-64B8392E7B1F}"/>
              </a:ext>
            </a:extLst>
          </p:cNvPr>
          <p:cNvGrpSpPr/>
          <p:nvPr/>
        </p:nvGrpSpPr>
        <p:grpSpPr>
          <a:xfrm>
            <a:off x="940249" y="1974336"/>
            <a:ext cx="8264526" cy="3426985"/>
            <a:chOff x="940249" y="1974336"/>
            <a:chExt cx="8264526" cy="3426985"/>
          </a:xfrm>
        </p:grpSpPr>
        <p:grpSp>
          <p:nvGrpSpPr>
            <p:cNvPr id="11" name="Group 10">
              <a:extLst>
                <a:ext uri="{FF2B5EF4-FFF2-40B4-BE49-F238E27FC236}">
                  <a16:creationId xmlns:a16="http://schemas.microsoft.com/office/drawing/2014/main" id="{8C3D8E6F-F555-94DD-E220-82D782C8D01E}"/>
                </a:ext>
              </a:extLst>
            </p:cNvPr>
            <p:cNvGrpSpPr/>
            <p:nvPr/>
          </p:nvGrpSpPr>
          <p:grpSpPr>
            <a:xfrm>
              <a:off x="940249" y="1978511"/>
              <a:ext cx="8264526" cy="3422810"/>
              <a:chOff x="1981200" y="1422240"/>
              <a:chExt cx="8264526" cy="3422810"/>
            </a:xfrm>
          </p:grpSpPr>
          <p:sp>
            <p:nvSpPr>
              <p:cNvPr id="20" name="Rectangle 37">
                <a:extLst>
                  <a:ext uri="{FF2B5EF4-FFF2-40B4-BE49-F238E27FC236}">
                    <a16:creationId xmlns:a16="http://schemas.microsoft.com/office/drawing/2014/main" id="{895B1BEB-2199-27DB-2166-96887DDD450D}"/>
                  </a:ext>
                </a:extLst>
              </p:cNvPr>
              <p:cNvSpPr>
                <a:spLocks noChangeArrowheads="1"/>
              </p:cNvSpPr>
              <p:nvPr/>
            </p:nvSpPr>
            <p:spPr bwMode="auto">
              <a:xfrm>
                <a:off x="2720976" y="1971676"/>
                <a:ext cx="1908175" cy="568325"/>
              </a:xfrm>
              <a:prstGeom prst="rect">
                <a:avLst/>
              </a:prstGeom>
              <a:solidFill>
                <a:schemeClr val="bg1"/>
              </a:solidFill>
              <a:ln w="12700" cap="sq">
                <a:solidFill>
                  <a:schemeClr val="tx1"/>
                </a:solidFill>
                <a:miter lim="800000"/>
                <a:headEnd/>
                <a:tailEnd/>
              </a:ln>
            </p:spPr>
            <p:txBody>
              <a:bodyPr wrap="none" lIns="91440" tIns="45720" rIns="91440" bIns="45720" anchor="ctr"/>
              <a:lstStyle>
                <a:lvl1pPr>
                  <a:defRPr sz="900" b="1">
                    <a:solidFill>
                      <a:schemeClr val="bg1"/>
                    </a:solidFill>
                    <a:latin typeface="Arial" panose="020B0604020202020204" pitchFamily="34" charset="0"/>
                    <a:ea typeface="MS PGothic" panose="020B0600070205080204" pitchFamily="34" charset="-128"/>
                  </a:defRPr>
                </a:lvl1pPr>
                <a:lvl2pPr marL="742950" indent="-285750">
                  <a:defRPr sz="900" b="1">
                    <a:solidFill>
                      <a:schemeClr val="bg1"/>
                    </a:solidFill>
                    <a:latin typeface="Arial" panose="020B0604020202020204" pitchFamily="34" charset="0"/>
                    <a:ea typeface="MS PGothic" panose="020B0600070205080204" pitchFamily="34" charset="-128"/>
                  </a:defRPr>
                </a:lvl2pPr>
                <a:lvl3pPr marL="1143000" indent="-228600">
                  <a:defRPr sz="900" b="1">
                    <a:solidFill>
                      <a:schemeClr val="bg1"/>
                    </a:solidFill>
                    <a:latin typeface="Arial" panose="020B0604020202020204" pitchFamily="34" charset="0"/>
                    <a:ea typeface="MS PGothic" panose="020B0600070205080204" pitchFamily="34" charset="-128"/>
                  </a:defRPr>
                </a:lvl3pPr>
                <a:lvl4pPr marL="1600200" indent="-228600">
                  <a:defRPr sz="900" b="1">
                    <a:solidFill>
                      <a:schemeClr val="bg1"/>
                    </a:solidFill>
                    <a:latin typeface="Arial" panose="020B0604020202020204" pitchFamily="34" charset="0"/>
                    <a:ea typeface="MS PGothic" panose="020B0600070205080204" pitchFamily="34" charset="-128"/>
                  </a:defRPr>
                </a:lvl4pPr>
                <a:lvl5pPr marL="2057400" indent="-228600">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400" dirty="0">
                    <a:solidFill>
                      <a:schemeClr val="tx1"/>
                    </a:solidFill>
                    <a:latin typeface="Roboto"/>
                    <a:ea typeface="MS PGothic"/>
                    <a:cs typeface="Roboto"/>
                  </a:rPr>
                  <a:t>Takt Time</a:t>
                </a:r>
              </a:p>
            </p:txBody>
          </p:sp>
          <p:sp>
            <p:nvSpPr>
              <p:cNvPr id="21" name="Rectangle 38">
                <a:extLst>
                  <a:ext uri="{FF2B5EF4-FFF2-40B4-BE49-F238E27FC236}">
                    <a16:creationId xmlns:a16="http://schemas.microsoft.com/office/drawing/2014/main" id="{B896826A-6170-50DA-6D1E-DD34E704E586}"/>
                  </a:ext>
                </a:extLst>
              </p:cNvPr>
              <p:cNvSpPr>
                <a:spLocks noChangeArrowheads="1"/>
              </p:cNvSpPr>
              <p:nvPr/>
            </p:nvSpPr>
            <p:spPr bwMode="auto">
              <a:xfrm>
                <a:off x="2720976" y="2894014"/>
                <a:ext cx="1908175" cy="568325"/>
              </a:xfrm>
              <a:prstGeom prst="rect">
                <a:avLst/>
              </a:prstGeom>
              <a:solidFill>
                <a:srgbClr val="DDDDDD"/>
              </a:solidFill>
              <a:ln w="12700" cap="sq">
                <a:solidFill>
                  <a:schemeClr val="tx1"/>
                </a:solidFill>
                <a:miter lim="800000"/>
                <a:headEnd/>
                <a:tailEnd/>
              </a:ln>
            </p:spPr>
            <p:txBody>
              <a:bodyPr wrap="none" lIns="91440" tIns="45720" rIns="91440" bIns="45720" anchor="ctr"/>
              <a:lstStyle>
                <a:lvl1pPr>
                  <a:defRPr sz="900" b="1">
                    <a:solidFill>
                      <a:schemeClr val="bg1"/>
                    </a:solidFill>
                    <a:latin typeface="Arial" panose="020B0604020202020204" pitchFamily="34" charset="0"/>
                    <a:ea typeface="MS PGothic" panose="020B0600070205080204" pitchFamily="34" charset="-128"/>
                  </a:defRPr>
                </a:lvl1pPr>
                <a:lvl2pPr marL="742950" indent="-285750">
                  <a:defRPr sz="900" b="1">
                    <a:solidFill>
                      <a:schemeClr val="bg1"/>
                    </a:solidFill>
                    <a:latin typeface="Arial" panose="020B0604020202020204" pitchFamily="34" charset="0"/>
                    <a:ea typeface="MS PGothic" panose="020B0600070205080204" pitchFamily="34" charset="-128"/>
                  </a:defRPr>
                </a:lvl2pPr>
                <a:lvl3pPr marL="1143000" indent="-228600">
                  <a:defRPr sz="900" b="1">
                    <a:solidFill>
                      <a:schemeClr val="bg1"/>
                    </a:solidFill>
                    <a:latin typeface="Arial" panose="020B0604020202020204" pitchFamily="34" charset="0"/>
                    <a:ea typeface="MS PGothic" panose="020B0600070205080204" pitchFamily="34" charset="-128"/>
                  </a:defRPr>
                </a:lvl3pPr>
                <a:lvl4pPr marL="1600200" indent="-228600">
                  <a:defRPr sz="900" b="1">
                    <a:solidFill>
                      <a:schemeClr val="bg1"/>
                    </a:solidFill>
                    <a:latin typeface="Arial" panose="020B0604020202020204" pitchFamily="34" charset="0"/>
                    <a:ea typeface="MS PGothic" panose="020B0600070205080204" pitchFamily="34" charset="-128"/>
                  </a:defRPr>
                </a:lvl4pPr>
                <a:lvl5pPr marL="2057400" indent="-228600">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400" dirty="0">
                    <a:solidFill>
                      <a:schemeClr val="tx1"/>
                    </a:solidFill>
                    <a:latin typeface="Roboto"/>
                    <a:ea typeface="MS PGothic"/>
                    <a:cs typeface="Roboto"/>
                  </a:rPr>
                  <a:t>Work Sequence</a:t>
                </a:r>
              </a:p>
            </p:txBody>
          </p:sp>
          <p:sp>
            <p:nvSpPr>
              <p:cNvPr id="22" name="Rectangle 39">
                <a:extLst>
                  <a:ext uri="{FF2B5EF4-FFF2-40B4-BE49-F238E27FC236}">
                    <a16:creationId xmlns:a16="http://schemas.microsoft.com/office/drawing/2014/main" id="{7F5884E5-6F9A-A8FE-79B0-3818A56E7645}"/>
                  </a:ext>
                </a:extLst>
              </p:cNvPr>
              <p:cNvSpPr>
                <a:spLocks noChangeArrowheads="1"/>
              </p:cNvSpPr>
              <p:nvPr/>
            </p:nvSpPr>
            <p:spPr bwMode="auto">
              <a:xfrm>
                <a:off x="2720976" y="3786189"/>
                <a:ext cx="1908175" cy="568325"/>
              </a:xfrm>
              <a:prstGeom prst="rect">
                <a:avLst/>
              </a:prstGeom>
              <a:solidFill>
                <a:srgbClr val="808080"/>
              </a:solidFill>
              <a:ln w="12700" cap="sq">
                <a:solidFill>
                  <a:schemeClr val="tx1"/>
                </a:solidFill>
                <a:miter lim="800000"/>
                <a:headEnd/>
                <a:tailEnd/>
              </a:ln>
            </p:spPr>
            <p:txBody>
              <a:bodyPr wrap="none" lIns="91440" tIns="45720" rIns="91440" bIns="45720" anchor="ctr"/>
              <a:lstStyle>
                <a:lvl1pPr>
                  <a:defRPr sz="900" b="1">
                    <a:solidFill>
                      <a:schemeClr val="bg1"/>
                    </a:solidFill>
                    <a:latin typeface="Arial" panose="020B0604020202020204" pitchFamily="34" charset="0"/>
                    <a:ea typeface="MS PGothic" panose="020B0600070205080204" pitchFamily="34" charset="-128"/>
                  </a:defRPr>
                </a:lvl1pPr>
                <a:lvl2pPr marL="742950" indent="-285750">
                  <a:defRPr sz="900" b="1">
                    <a:solidFill>
                      <a:schemeClr val="bg1"/>
                    </a:solidFill>
                    <a:latin typeface="Arial" panose="020B0604020202020204" pitchFamily="34" charset="0"/>
                    <a:ea typeface="MS PGothic" panose="020B0600070205080204" pitchFamily="34" charset="-128"/>
                  </a:defRPr>
                </a:lvl2pPr>
                <a:lvl3pPr marL="1143000" indent="-228600">
                  <a:defRPr sz="900" b="1">
                    <a:solidFill>
                      <a:schemeClr val="bg1"/>
                    </a:solidFill>
                    <a:latin typeface="Arial" panose="020B0604020202020204" pitchFamily="34" charset="0"/>
                    <a:ea typeface="MS PGothic" panose="020B0600070205080204" pitchFamily="34" charset="-128"/>
                  </a:defRPr>
                </a:lvl3pPr>
                <a:lvl4pPr marL="1600200" indent="-228600">
                  <a:defRPr sz="900" b="1">
                    <a:solidFill>
                      <a:schemeClr val="bg1"/>
                    </a:solidFill>
                    <a:latin typeface="Arial" panose="020B0604020202020204" pitchFamily="34" charset="0"/>
                    <a:ea typeface="MS PGothic" panose="020B0600070205080204" pitchFamily="34" charset="-128"/>
                  </a:defRPr>
                </a:lvl4pPr>
                <a:lvl5pPr marL="2057400" indent="-228600">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400" dirty="0">
                    <a:latin typeface="Roboto"/>
                    <a:ea typeface="MS PGothic"/>
                    <a:cs typeface="Roboto"/>
                  </a:rPr>
                  <a:t>Standard WIP</a:t>
                </a:r>
              </a:p>
            </p:txBody>
          </p:sp>
          <p:sp>
            <p:nvSpPr>
              <p:cNvPr id="23" name="Line 40">
                <a:extLst>
                  <a:ext uri="{FF2B5EF4-FFF2-40B4-BE49-F238E27FC236}">
                    <a16:creationId xmlns:a16="http://schemas.microsoft.com/office/drawing/2014/main" id="{4300C0E0-D415-7E3B-7D7D-08A25A15AC81}"/>
                  </a:ext>
                </a:extLst>
              </p:cNvPr>
              <p:cNvSpPr>
                <a:spLocks noChangeShapeType="1"/>
              </p:cNvSpPr>
              <p:nvPr/>
            </p:nvSpPr>
            <p:spPr bwMode="auto">
              <a:xfrm>
                <a:off x="1995489" y="2792413"/>
                <a:ext cx="8250237" cy="0"/>
              </a:xfrm>
              <a:prstGeom prst="line">
                <a:avLst/>
              </a:prstGeom>
              <a:noFill/>
              <a:ln w="19050">
                <a:solidFill>
                  <a:srgbClr val="000066"/>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solidFill>
                    <a:schemeClr val="bg1"/>
                  </a:solidFill>
                </a:endParaRPr>
              </a:p>
            </p:txBody>
          </p:sp>
          <p:sp>
            <p:nvSpPr>
              <p:cNvPr id="24" name="Line 41">
                <a:extLst>
                  <a:ext uri="{FF2B5EF4-FFF2-40B4-BE49-F238E27FC236}">
                    <a16:creationId xmlns:a16="http://schemas.microsoft.com/office/drawing/2014/main" id="{9F9489B2-1A85-1255-02E8-B1C4F4C29D3E}"/>
                  </a:ext>
                </a:extLst>
              </p:cNvPr>
              <p:cNvSpPr>
                <a:spLocks noChangeShapeType="1"/>
              </p:cNvSpPr>
              <p:nvPr/>
            </p:nvSpPr>
            <p:spPr bwMode="auto">
              <a:xfrm>
                <a:off x="2011364" y="3697288"/>
                <a:ext cx="8205787" cy="0"/>
              </a:xfrm>
              <a:prstGeom prst="line">
                <a:avLst/>
              </a:prstGeom>
              <a:noFill/>
              <a:ln w="19050">
                <a:solidFill>
                  <a:srgbClr val="000066"/>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solidFill>
                    <a:schemeClr val="bg1"/>
                  </a:solidFill>
                </a:endParaRPr>
              </a:p>
            </p:txBody>
          </p:sp>
          <p:sp>
            <p:nvSpPr>
              <p:cNvPr id="25" name="Line 42">
                <a:extLst>
                  <a:ext uri="{FF2B5EF4-FFF2-40B4-BE49-F238E27FC236}">
                    <a16:creationId xmlns:a16="http://schemas.microsoft.com/office/drawing/2014/main" id="{6EA5BE6F-6FA1-5E90-6A39-27B14C19E2D8}"/>
                  </a:ext>
                </a:extLst>
              </p:cNvPr>
              <p:cNvSpPr>
                <a:spLocks noChangeShapeType="1"/>
              </p:cNvSpPr>
              <p:nvPr/>
            </p:nvSpPr>
            <p:spPr bwMode="auto">
              <a:xfrm>
                <a:off x="1981200" y="4845050"/>
                <a:ext cx="8235950" cy="0"/>
              </a:xfrm>
              <a:prstGeom prst="line">
                <a:avLst/>
              </a:prstGeom>
              <a:noFill/>
              <a:ln w="19050">
                <a:solidFill>
                  <a:srgbClr val="000066"/>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6" name="Rectangle 43">
                <a:extLst>
                  <a:ext uri="{FF2B5EF4-FFF2-40B4-BE49-F238E27FC236}">
                    <a16:creationId xmlns:a16="http://schemas.microsoft.com/office/drawing/2014/main" id="{683D3E40-EECD-2EDC-2624-B0FCFB2F39D0}"/>
                  </a:ext>
                </a:extLst>
              </p:cNvPr>
              <p:cNvSpPr>
                <a:spLocks noChangeArrowheads="1"/>
              </p:cNvSpPr>
              <p:nvPr/>
            </p:nvSpPr>
            <p:spPr bwMode="auto">
              <a:xfrm>
                <a:off x="5162551" y="1922898"/>
                <a:ext cx="4970463" cy="8170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Lst>
            </p:spPr>
            <p:txBody>
              <a:bodyPr lIns="71438" tIns="36513" rIns="71438" bIns="36513" anchor="t">
                <a:spAutoFit/>
              </a:bodyPr>
              <a:lstStyle>
                <a:lvl1pPr marL="231775" indent="-231775" defTabSz="708025">
                  <a:defRPr sz="900" b="1">
                    <a:solidFill>
                      <a:schemeClr val="bg1"/>
                    </a:solidFill>
                    <a:latin typeface="Arial" panose="020B0604020202020204" pitchFamily="34" charset="0"/>
                    <a:ea typeface="MS PGothic" panose="020B0600070205080204" pitchFamily="34" charset="-128"/>
                  </a:defRPr>
                </a:lvl1pPr>
                <a:lvl2pPr marL="742950" indent="-285750" defTabSz="708025">
                  <a:defRPr sz="900" b="1">
                    <a:solidFill>
                      <a:schemeClr val="bg1"/>
                    </a:solidFill>
                    <a:latin typeface="Arial" panose="020B0604020202020204" pitchFamily="34" charset="0"/>
                    <a:ea typeface="MS PGothic" panose="020B0600070205080204" pitchFamily="34" charset="-128"/>
                  </a:defRPr>
                </a:lvl2pPr>
                <a:lvl3pPr marL="1143000" indent="-228600" defTabSz="708025">
                  <a:defRPr sz="900" b="1">
                    <a:solidFill>
                      <a:schemeClr val="bg1"/>
                    </a:solidFill>
                    <a:latin typeface="Arial" panose="020B0604020202020204" pitchFamily="34" charset="0"/>
                    <a:ea typeface="MS PGothic" panose="020B0600070205080204" pitchFamily="34" charset="-128"/>
                  </a:defRPr>
                </a:lvl3pPr>
                <a:lvl4pPr marL="1600200" indent="-228600" defTabSz="708025">
                  <a:defRPr sz="900" b="1">
                    <a:solidFill>
                      <a:schemeClr val="bg1"/>
                    </a:solidFill>
                    <a:latin typeface="Arial" panose="020B0604020202020204" pitchFamily="34" charset="0"/>
                    <a:ea typeface="MS PGothic" panose="020B0600070205080204" pitchFamily="34" charset="-128"/>
                  </a:defRPr>
                </a:lvl4pPr>
                <a:lvl5pPr marL="2057400" indent="-228600" defTabSz="708025">
                  <a:defRPr sz="900" b="1">
                    <a:solidFill>
                      <a:schemeClr val="bg1"/>
                    </a:solidFill>
                    <a:latin typeface="Arial" panose="020B0604020202020204" pitchFamily="34" charset="0"/>
                    <a:ea typeface="MS PGothic" panose="020B0600070205080204" pitchFamily="34" charset="-128"/>
                  </a:defRPr>
                </a:lvl5pPr>
                <a:lvl6pPr marL="2514600" indent="-228600" algn="ctr" defTabSz="708025"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defTabSz="708025"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defTabSz="708025"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defTabSz="708025"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45000"/>
                  </a:spcBef>
                  <a:buClr>
                    <a:schemeClr val="bg1"/>
                  </a:buClr>
                  <a:buSzPct val="40000"/>
                  <a:buFont typeface="Wingdings 2" panose="05020102010507070707" pitchFamily="18" charset="2"/>
                  <a:buChar char="¢"/>
                </a:pPr>
                <a:r>
                  <a:rPr lang="en-US" altLang="en-US" sz="1400" dirty="0">
                    <a:solidFill>
                      <a:schemeClr val="tx1"/>
                    </a:solidFill>
                    <a:latin typeface="Roboto"/>
                    <a:ea typeface="MS PGothic"/>
                    <a:cs typeface="Roboto Medium"/>
                  </a:rPr>
                  <a:t>How often should one part be produced based on the rate of sales to meet customer requirements</a:t>
                </a:r>
              </a:p>
              <a:p>
                <a:pPr algn="l">
                  <a:lnSpc>
                    <a:spcPct val="100000"/>
                  </a:lnSpc>
                  <a:spcBef>
                    <a:spcPct val="45000"/>
                  </a:spcBef>
                  <a:buClr>
                    <a:schemeClr val="bg1"/>
                  </a:buClr>
                  <a:buSzPct val="40000"/>
                  <a:buFont typeface="Wingdings 2" panose="05020102010507070707" pitchFamily="18" charset="2"/>
                  <a:buChar char="¢"/>
                </a:pPr>
                <a:r>
                  <a:rPr lang="en-US" altLang="en-US" sz="1400" dirty="0">
                    <a:solidFill>
                      <a:schemeClr val="tx1"/>
                    </a:solidFill>
                    <a:latin typeface="Roboto"/>
                    <a:ea typeface="MS PGothic"/>
                    <a:cs typeface="Roboto Medium"/>
                  </a:rPr>
                  <a:t>Usually expressed in seconds</a:t>
                </a:r>
                <a:endParaRPr lang="en-US" altLang="en-US" sz="1400" b="0" dirty="0">
                  <a:solidFill>
                    <a:schemeClr val="tx1"/>
                  </a:solidFill>
                  <a:latin typeface="Roboto"/>
                  <a:ea typeface="MS PGothic"/>
                  <a:cs typeface="Roboto Medium"/>
                </a:endParaRPr>
              </a:p>
            </p:txBody>
          </p:sp>
          <p:sp>
            <p:nvSpPr>
              <p:cNvPr id="27" name="Rectangle 44">
                <a:extLst>
                  <a:ext uri="{FF2B5EF4-FFF2-40B4-BE49-F238E27FC236}">
                    <a16:creationId xmlns:a16="http://schemas.microsoft.com/office/drawing/2014/main" id="{1BF27C12-185A-DA38-CC2C-0C4D67C2DC02}"/>
                  </a:ext>
                </a:extLst>
              </p:cNvPr>
              <p:cNvSpPr>
                <a:spLocks noChangeArrowheads="1"/>
              </p:cNvSpPr>
              <p:nvPr/>
            </p:nvSpPr>
            <p:spPr bwMode="auto">
              <a:xfrm>
                <a:off x="5165726" y="2898775"/>
                <a:ext cx="4981575" cy="5046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Lst>
            </p:spPr>
            <p:txBody>
              <a:bodyPr lIns="71438" tIns="36513" rIns="71438" bIns="36513" anchor="t">
                <a:spAutoFit/>
              </a:bodyPr>
              <a:lstStyle>
                <a:lvl1pPr marL="231775" indent="-231775" defTabSz="708025">
                  <a:defRPr sz="900" b="1">
                    <a:solidFill>
                      <a:schemeClr val="bg1"/>
                    </a:solidFill>
                    <a:latin typeface="Arial" panose="020B0604020202020204" pitchFamily="34" charset="0"/>
                    <a:ea typeface="MS PGothic" panose="020B0600070205080204" pitchFamily="34" charset="-128"/>
                  </a:defRPr>
                </a:lvl1pPr>
                <a:lvl2pPr marL="742950" indent="-285750" defTabSz="708025">
                  <a:defRPr sz="900" b="1">
                    <a:solidFill>
                      <a:schemeClr val="bg1"/>
                    </a:solidFill>
                    <a:latin typeface="Arial" panose="020B0604020202020204" pitchFamily="34" charset="0"/>
                    <a:ea typeface="MS PGothic" panose="020B0600070205080204" pitchFamily="34" charset="-128"/>
                  </a:defRPr>
                </a:lvl2pPr>
                <a:lvl3pPr marL="1143000" indent="-228600" defTabSz="708025">
                  <a:defRPr sz="900" b="1">
                    <a:solidFill>
                      <a:schemeClr val="bg1"/>
                    </a:solidFill>
                    <a:latin typeface="Arial" panose="020B0604020202020204" pitchFamily="34" charset="0"/>
                    <a:ea typeface="MS PGothic" panose="020B0600070205080204" pitchFamily="34" charset="-128"/>
                  </a:defRPr>
                </a:lvl3pPr>
                <a:lvl4pPr marL="1600200" indent="-228600" defTabSz="708025">
                  <a:defRPr sz="900" b="1">
                    <a:solidFill>
                      <a:schemeClr val="bg1"/>
                    </a:solidFill>
                    <a:latin typeface="Arial" panose="020B0604020202020204" pitchFamily="34" charset="0"/>
                    <a:ea typeface="MS PGothic" panose="020B0600070205080204" pitchFamily="34" charset="-128"/>
                  </a:defRPr>
                </a:lvl4pPr>
                <a:lvl5pPr marL="2057400" indent="-228600" defTabSz="708025">
                  <a:defRPr sz="900" b="1">
                    <a:solidFill>
                      <a:schemeClr val="bg1"/>
                    </a:solidFill>
                    <a:latin typeface="Arial" panose="020B0604020202020204" pitchFamily="34" charset="0"/>
                    <a:ea typeface="MS PGothic" panose="020B0600070205080204" pitchFamily="34" charset="-128"/>
                  </a:defRPr>
                </a:lvl5pPr>
                <a:lvl6pPr marL="2514600" indent="-228600" algn="ctr" defTabSz="708025"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defTabSz="708025"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defTabSz="708025"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defTabSz="708025"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45000"/>
                  </a:spcBef>
                  <a:buClr>
                    <a:schemeClr val="bg1"/>
                  </a:buClr>
                  <a:buSzPct val="40000"/>
                  <a:buFont typeface="Wingdings 2" panose="05020102010507070707" pitchFamily="18" charset="2"/>
                  <a:buChar char="¢"/>
                </a:pPr>
                <a:r>
                  <a:rPr lang="en-US" altLang="en-US" sz="1400" dirty="0">
                    <a:solidFill>
                      <a:schemeClr val="tx1"/>
                    </a:solidFill>
                    <a:latin typeface="Roboto"/>
                    <a:ea typeface="MS PGothic"/>
                    <a:cs typeface="Roboto"/>
                  </a:rPr>
                  <a:t>The specific order in which an operator performs the manual steps of a process for one part</a:t>
                </a:r>
                <a:endParaRPr lang="en-US" altLang="en-US" sz="1400" b="0">
                  <a:solidFill>
                    <a:schemeClr val="tx1"/>
                  </a:solidFill>
                  <a:latin typeface="Roboto"/>
                  <a:ea typeface="MS PGothic"/>
                  <a:cs typeface="Roboto"/>
                </a:endParaRPr>
              </a:p>
            </p:txBody>
          </p:sp>
          <p:sp>
            <p:nvSpPr>
              <p:cNvPr id="28" name="Rectangle 45">
                <a:extLst>
                  <a:ext uri="{FF2B5EF4-FFF2-40B4-BE49-F238E27FC236}">
                    <a16:creationId xmlns:a16="http://schemas.microsoft.com/office/drawing/2014/main" id="{CAAD2680-E1C8-CAEB-E909-3B371C89ED59}"/>
                  </a:ext>
                </a:extLst>
              </p:cNvPr>
              <p:cNvSpPr>
                <a:spLocks noChangeArrowheads="1"/>
              </p:cNvSpPr>
              <p:nvPr/>
            </p:nvSpPr>
            <p:spPr bwMode="auto">
              <a:xfrm>
                <a:off x="5165726" y="3790950"/>
                <a:ext cx="4970463" cy="5046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Lst>
            </p:spPr>
            <p:txBody>
              <a:bodyPr lIns="71438" tIns="36513" rIns="71438" bIns="36513" anchor="t">
                <a:spAutoFit/>
              </a:bodyPr>
              <a:lstStyle>
                <a:lvl1pPr marL="231775" indent="-231775" defTabSz="708025">
                  <a:defRPr sz="900" b="1">
                    <a:solidFill>
                      <a:schemeClr val="bg1"/>
                    </a:solidFill>
                    <a:latin typeface="Arial" panose="020B0604020202020204" pitchFamily="34" charset="0"/>
                    <a:ea typeface="MS PGothic" panose="020B0600070205080204" pitchFamily="34" charset="-128"/>
                  </a:defRPr>
                </a:lvl1pPr>
                <a:lvl2pPr marL="742950" indent="-285750" defTabSz="708025">
                  <a:defRPr sz="900" b="1">
                    <a:solidFill>
                      <a:schemeClr val="bg1"/>
                    </a:solidFill>
                    <a:latin typeface="Arial" panose="020B0604020202020204" pitchFamily="34" charset="0"/>
                    <a:ea typeface="MS PGothic" panose="020B0600070205080204" pitchFamily="34" charset="-128"/>
                  </a:defRPr>
                </a:lvl2pPr>
                <a:lvl3pPr marL="1143000" indent="-228600" defTabSz="708025">
                  <a:defRPr sz="900" b="1">
                    <a:solidFill>
                      <a:schemeClr val="bg1"/>
                    </a:solidFill>
                    <a:latin typeface="Arial" panose="020B0604020202020204" pitchFamily="34" charset="0"/>
                    <a:ea typeface="MS PGothic" panose="020B0600070205080204" pitchFamily="34" charset="-128"/>
                  </a:defRPr>
                </a:lvl3pPr>
                <a:lvl4pPr marL="1600200" indent="-228600" defTabSz="708025">
                  <a:defRPr sz="900" b="1">
                    <a:solidFill>
                      <a:schemeClr val="bg1"/>
                    </a:solidFill>
                    <a:latin typeface="Arial" panose="020B0604020202020204" pitchFamily="34" charset="0"/>
                    <a:ea typeface="MS PGothic" panose="020B0600070205080204" pitchFamily="34" charset="-128"/>
                  </a:defRPr>
                </a:lvl4pPr>
                <a:lvl5pPr marL="2057400" indent="-228600" defTabSz="708025">
                  <a:defRPr sz="900" b="1">
                    <a:solidFill>
                      <a:schemeClr val="bg1"/>
                    </a:solidFill>
                    <a:latin typeface="Arial" panose="020B0604020202020204" pitchFamily="34" charset="0"/>
                    <a:ea typeface="MS PGothic" panose="020B0600070205080204" pitchFamily="34" charset="-128"/>
                  </a:defRPr>
                </a:lvl5pPr>
                <a:lvl6pPr marL="2514600" indent="-228600" algn="ctr" defTabSz="708025"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defTabSz="708025"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defTabSz="708025"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defTabSz="708025"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45000"/>
                  </a:spcBef>
                  <a:buClr>
                    <a:schemeClr val="bg1"/>
                  </a:buClr>
                  <a:buSzPct val="40000"/>
                  <a:buFont typeface="Wingdings 2" panose="05020102010507070707" pitchFamily="18" charset="2"/>
                  <a:buChar char="¢"/>
                </a:pPr>
                <a:r>
                  <a:rPr lang="en-US" altLang="en-US" sz="1400" dirty="0">
                    <a:solidFill>
                      <a:schemeClr val="tx1"/>
                    </a:solidFill>
                    <a:latin typeface="Roboto"/>
                    <a:ea typeface="MS PGothic"/>
                    <a:cs typeface="Roboto"/>
                  </a:rPr>
                  <a:t>The minimum amount of parts on a line that will allow the operator to flow product efficiently</a:t>
                </a:r>
                <a:endParaRPr lang="en-US" altLang="en-US" sz="1400" b="0">
                  <a:solidFill>
                    <a:schemeClr val="tx1"/>
                  </a:solidFill>
                  <a:latin typeface="Roboto"/>
                  <a:ea typeface="MS PGothic"/>
                  <a:cs typeface="Roboto"/>
                </a:endParaRPr>
              </a:p>
            </p:txBody>
          </p:sp>
          <p:sp>
            <p:nvSpPr>
              <p:cNvPr id="29" name="Line 46">
                <a:extLst>
                  <a:ext uri="{FF2B5EF4-FFF2-40B4-BE49-F238E27FC236}">
                    <a16:creationId xmlns:a16="http://schemas.microsoft.com/office/drawing/2014/main" id="{BD6A6FD9-3545-15BF-4787-24AA74FB4289}"/>
                  </a:ext>
                </a:extLst>
              </p:cNvPr>
              <p:cNvSpPr>
                <a:spLocks noChangeShapeType="1"/>
              </p:cNvSpPr>
              <p:nvPr/>
            </p:nvSpPr>
            <p:spPr bwMode="auto">
              <a:xfrm flipV="1">
                <a:off x="1985964" y="1824039"/>
                <a:ext cx="8250237" cy="15875"/>
              </a:xfrm>
              <a:prstGeom prst="line">
                <a:avLst/>
              </a:prstGeom>
              <a:noFill/>
              <a:ln w="38100">
                <a:solidFill>
                  <a:srgbClr val="FFB627"/>
                </a:solidFill>
                <a:round/>
                <a:headEnd/>
                <a:tailEnd/>
              </a:ln>
              <a:extLst>
                <a:ext uri="{909E8E84-426E-40DD-AFC4-6F175D3DCCD1}">
                  <a14:hiddenFill xmlns:a14="http://schemas.microsoft.com/office/drawing/2010/main">
                    <a:noFill/>
                  </a14:hiddenFill>
                </a:ext>
              </a:extLst>
            </p:spPr>
            <p:txBody>
              <a:bodyPr wrap="none" anchor="ctr"/>
              <a:lstStyle/>
              <a:p>
                <a:endParaRPr lang="en-US" dirty="0">
                  <a:solidFill>
                    <a:schemeClr val="bg1"/>
                  </a:solidFill>
                </a:endParaRPr>
              </a:p>
            </p:txBody>
          </p:sp>
          <p:sp>
            <p:nvSpPr>
              <p:cNvPr id="30" name="Text Box 47">
                <a:extLst>
                  <a:ext uri="{FF2B5EF4-FFF2-40B4-BE49-F238E27FC236}">
                    <a16:creationId xmlns:a16="http://schemas.microsoft.com/office/drawing/2014/main" id="{A940531D-0BA2-18C0-A24B-435D702643FB}"/>
                  </a:ext>
                </a:extLst>
              </p:cNvPr>
              <p:cNvSpPr txBox="1">
                <a:spLocks noChangeArrowheads="1"/>
              </p:cNvSpPr>
              <p:nvPr/>
            </p:nvSpPr>
            <p:spPr bwMode="auto">
              <a:xfrm>
                <a:off x="2653152" y="1422240"/>
                <a:ext cx="115288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lIns="91440" tIns="45720" rIns="91440" bIns="45720" anchor="t">
                <a:spAutoFit/>
              </a:bodyPr>
              <a:lstStyle>
                <a:lvl1pPr>
                  <a:defRPr sz="900" b="1">
                    <a:solidFill>
                      <a:schemeClr val="bg1"/>
                    </a:solidFill>
                    <a:latin typeface="Arial" panose="020B0604020202020204" pitchFamily="34" charset="0"/>
                    <a:ea typeface="MS PGothic" panose="020B0600070205080204" pitchFamily="34" charset="-128"/>
                  </a:defRPr>
                </a:lvl1pPr>
                <a:lvl2pPr marL="742950" indent="-285750">
                  <a:defRPr sz="900" b="1">
                    <a:solidFill>
                      <a:schemeClr val="bg1"/>
                    </a:solidFill>
                    <a:latin typeface="Arial" panose="020B0604020202020204" pitchFamily="34" charset="0"/>
                    <a:ea typeface="MS PGothic" panose="020B0600070205080204" pitchFamily="34" charset="-128"/>
                  </a:defRPr>
                </a:lvl2pPr>
                <a:lvl3pPr marL="1143000" indent="-228600">
                  <a:defRPr sz="900" b="1">
                    <a:solidFill>
                      <a:schemeClr val="bg1"/>
                    </a:solidFill>
                    <a:latin typeface="Arial" panose="020B0604020202020204" pitchFamily="34" charset="0"/>
                    <a:ea typeface="MS PGothic" panose="020B0600070205080204" pitchFamily="34" charset="-128"/>
                  </a:defRPr>
                </a:lvl3pPr>
                <a:lvl4pPr marL="1600200" indent="-228600">
                  <a:defRPr sz="900" b="1">
                    <a:solidFill>
                      <a:schemeClr val="bg1"/>
                    </a:solidFill>
                    <a:latin typeface="Arial" panose="020B0604020202020204" pitchFamily="34" charset="0"/>
                    <a:ea typeface="MS PGothic" panose="020B0600070205080204" pitchFamily="34" charset="-128"/>
                  </a:defRPr>
                </a:lvl4pPr>
                <a:lvl5pPr marL="2057400" indent="-228600">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800" dirty="0">
                    <a:solidFill>
                      <a:schemeClr val="tx1"/>
                    </a:solidFill>
                    <a:latin typeface="Roboto"/>
                    <a:ea typeface="MS PGothic"/>
                    <a:cs typeface="Arial"/>
                  </a:rPr>
                  <a:t>Elements</a:t>
                </a:r>
                <a:endParaRPr lang="en-US" altLang="en-US" sz="1800">
                  <a:solidFill>
                    <a:schemeClr val="tx1"/>
                  </a:solidFill>
                  <a:latin typeface="Roboto"/>
                  <a:cs typeface="Arial" panose="020B0604020202020204" pitchFamily="34" charset="0"/>
                </a:endParaRPr>
              </a:p>
            </p:txBody>
          </p:sp>
          <p:sp>
            <p:nvSpPr>
              <p:cNvPr id="31" name="Oval 48">
                <a:extLst>
                  <a:ext uri="{FF2B5EF4-FFF2-40B4-BE49-F238E27FC236}">
                    <a16:creationId xmlns:a16="http://schemas.microsoft.com/office/drawing/2014/main" id="{880D0E93-9A97-30DE-36CE-1B619C626AF7}"/>
                  </a:ext>
                </a:extLst>
              </p:cNvPr>
              <p:cNvSpPr>
                <a:spLocks noChangeArrowheads="1"/>
              </p:cNvSpPr>
              <p:nvPr/>
            </p:nvSpPr>
            <p:spPr bwMode="auto">
              <a:xfrm>
                <a:off x="2043113" y="2079626"/>
                <a:ext cx="400050" cy="366713"/>
              </a:xfrm>
              <a:prstGeom prst="ellipse">
                <a:avLst/>
              </a:prstGeom>
              <a:solidFill>
                <a:schemeClr val="accent1"/>
              </a:solidFill>
              <a:ln w="12700" cap="sq">
                <a:solidFill>
                  <a:srgbClr val="800000"/>
                </a:solidFill>
                <a:round/>
                <a:headEnd/>
                <a:tailEnd/>
              </a:ln>
            </p:spPr>
            <p:txBody>
              <a:bodyPr wrap="none" anchor="ctr"/>
              <a:lstStyle>
                <a:lvl1pPr>
                  <a:defRPr sz="900" b="1">
                    <a:solidFill>
                      <a:schemeClr val="bg1"/>
                    </a:solidFill>
                    <a:latin typeface="Arial" panose="020B0604020202020204" pitchFamily="34" charset="0"/>
                    <a:ea typeface="MS PGothic" panose="020B0600070205080204" pitchFamily="34" charset="-128"/>
                  </a:defRPr>
                </a:lvl1pPr>
                <a:lvl2pPr marL="742950" indent="-285750">
                  <a:defRPr sz="900" b="1">
                    <a:solidFill>
                      <a:schemeClr val="bg1"/>
                    </a:solidFill>
                    <a:latin typeface="Arial" panose="020B0604020202020204" pitchFamily="34" charset="0"/>
                    <a:ea typeface="MS PGothic" panose="020B0600070205080204" pitchFamily="34" charset="-128"/>
                  </a:defRPr>
                </a:lvl2pPr>
                <a:lvl3pPr marL="1143000" indent="-228600">
                  <a:defRPr sz="900" b="1">
                    <a:solidFill>
                      <a:schemeClr val="bg1"/>
                    </a:solidFill>
                    <a:latin typeface="Arial" panose="020B0604020202020204" pitchFamily="34" charset="0"/>
                    <a:ea typeface="MS PGothic" panose="020B0600070205080204" pitchFamily="34" charset="-128"/>
                  </a:defRPr>
                </a:lvl3pPr>
                <a:lvl4pPr marL="1600200" indent="-228600">
                  <a:defRPr sz="900" b="1">
                    <a:solidFill>
                      <a:schemeClr val="bg1"/>
                    </a:solidFill>
                    <a:latin typeface="Arial" panose="020B0604020202020204" pitchFamily="34" charset="0"/>
                    <a:ea typeface="MS PGothic" panose="020B0600070205080204" pitchFamily="34" charset="-128"/>
                  </a:defRPr>
                </a:lvl4pPr>
                <a:lvl5pPr marL="2057400" indent="-228600">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400" dirty="0"/>
                  <a:t>1</a:t>
                </a:r>
              </a:p>
            </p:txBody>
          </p:sp>
          <p:sp>
            <p:nvSpPr>
              <p:cNvPr id="32" name="Oval 49">
                <a:extLst>
                  <a:ext uri="{FF2B5EF4-FFF2-40B4-BE49-F238E27FC236}">
                    <a16:creationId xmlns:a16="http://schemas.microsoft.com/office/drawing/2014/main" id="{834009FC-03B7-F76F-F6AA-B5D41ED99431}"/>
                  </a:ext>
                </a:extLst>
              </p:cNvPr>
              <p:cNvSpPr>
                <a:spLocks noChangeArrowheads="1"/>
              </p:cNvSpPr>
              <p:nvPr/>
            </p:nvSpPr>
            <p:spPr bwMode="auto">
              <a:xfrm>
                <a:off x="2043113" y="3005138"/>
                <a:ext cx="400050" cy="366712"/>
              </a:xfrm>
              <a:prstGeom prst="ellipse">
                <a:avLst/>
              </a:prstGeom>
              <a:solidFill>
                <a:schemeClr val="accent1"/>
              </a:solidFill>
              <a:ln w="12700" cap="sq">
                <a:solidFill>
                  <a:srgbClr val="800000"/>
                </a:solidFill>
                <a:round/>
                <a:headEnd/>
                <a:tailEnd/>
              </a:ln>
            </p:spPr>
            <p:txBody>
              <a:bodyPr wrap="none" anchor="ctr"/>
              <a:lstStyle>
                <a:lvl1pPr>
                  <a:defRPr sz="900" b="1">
                    <a:solidFill>
                      <a:schemeClr val="bg1"/>
                    </a:solidFill>
                    <a:latin typeface="Arial" panose="020B0604020202020204" pitchFamily="34" charset="0"/>
                    <a:ea typeface="MS PGothic" panose="020B0600070205080204" pitchFamily="34" charset="-128"/>
                  </a:defRPr>
                </a:lvl1pPr>
                <a:lvl2pPr marL="742950" indent="-285750">
                  <a:defRPr sz="900" b="1">
                    <a:solidFill>
                      <a:schemeClr val="bg1"/>
                    </a:solidFill>
                    <a:latin typeface="Arial" panose="020B0604020202020204" pitchFamily="34" charset="0"/>
                    <a:ea typeface="MS PGothic" panose="020B0600070205080204" pitchFamily="34" charset="-128"/>
                  </a:defRPr>
                </a:lvl2pPr>
                <a:lvl3pPr marL="1143000" indent="-228600">
                  <a:defRPr sz="900" b="1">
                    <a:solidFill>
                      <a:schemeClr val="bg1"/>
                    </a:solidFill>
                    <a:latin typeface="Arial" panose="020B0604020202020204" pitchFamily="34" charset="0"/>
                    <a:ea typeface="MS PGothic" panose="020B0600070205080204" pitchFamily="34" charset="-128"/>
                  </a:defRPr>
                </a:lvl3pPr>
                <a:lvl4pPr marL="1600200" indent="-228600">
                  <a:defRPr sz="900" b="1">
                    <a:solidFill>
                      <a:schemeClr val="bg1"/>
                    </a:solidFill>
                    <a:latin typeface="Arial" panose="020B0604020202020204" pitchFamily="34" charset="0"/>
                    <a:ea typeface="MS PGothic" panose="020B0600070205080204" pitchFamily="34" charset="-128"/>
                  </a:defRPr>
                </a:lvl4pPr>
                <a:lvl5pPr marL="2057400" indent="-228600">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400"/>
                  <a:t>2</a:t>
                </a:r>
              </a:p>
            </p:txBody>
          </p:sp>
          <p:sp>
            <p:nvSpPr>
              <p:cNvPr id="33" name="Oval 50">
                <a:extLst>
                  <a:ext uri="{FF2B5EF4-FFF2-40B4-BE49-F238E27FC236}">
                    <a16:creationId xmlns:a16="http://schemas.microsoft.com/office/drawing/2014/main" id="{2C28AE56-5716-DC77-D113-4C7CA171FFE0}"/>
                  </a:ext>
                </a:extLst>
              </p:cNvPr>
              <p:cNvSpPr>
                <a:spLocks noChangeArrowheads="1"/>
              </p:cNvSpPr>
              <p:nvPr/>
            </p:nvSpPr>
            <p:spPr bwMode="auto">
              <a:xfrm>
                <a:off x="2043113" y="3894138"/>
                <a:ext cx="400050" cy="366712"/>
              </a:xfrm>
              <a:prstGeom prst="ellipse">
                <a:avLst/>
              </a:prstGeom>
              <a:solidFill>
                <a:schemeClr val="accent1"/>
              </a:solidFill>
              <a:ln w="12700" cap="sq">
                <a:solidFill>
                  <a:srgbClr val="800000"/>
                </a:solidFill>
                <a:round/>
                <a:headEnd/>
                <a:tailEnd/>
              </a:ln>
            </p:spPr>
            <p:txBody>
              <a:bodyPr wrap="none" anchor="ctr"/>
              <a:lstStyle>
                <a:lvl1pPr>
                  <a:defRPr sz="900" b="1">
                    <a:solidFill>
                      <a:schemeClr val="bg1"/>
                    </a:solidFill>
                    <a:latin typeface="Arial" panose="020B0604020202020204" pitchFamily="34" charset="0"/>
                    <a:ea typeface="MS PGothic" panose="020B0600070205080204" pitchFamily="34" charset="-128"/>
                  </a:defRPr>
                </a:lvl1pPr>
                <a:lvl2pPr marL="742950" indent="-285750">
                  <a:defRPr sz="900" b="1">
                    <a:solidFill>
                      <a:schemeClr val="bg1"/>
                    </a:solidFill>
                    <a:latin typeface="Arial" panose="020B0604020202020204" pitchFamily="34" charset="0"/>
                    <a:ea typeface="MS PGothic" panose="020B0600070205080204" pitchFamily="34" charset="-128"/>
                  </a:defRPr>
                </a:lvl2pPr>
                <a:lvl3pPr marL="1143000" indent="-228600">
                  <a:defRPr sz="900" b="1">
                    <a:solidFill>
                      <a:schemeClr val="bg1"/>
                    </a:solidFill>
                    <a:latin typeface="Arial" panose="020B0604020202020204" pitchFamily="34" charset="0"/>
                    <a:ea typeface="MS PGothic" panose="020B0600070205080204" pitchFamily="34" charset="-128"/>
                  </a:defRPr>
                </a:lvl3pPr>
                <a:lvl4pPr marL="1600200" indent="-228600">
                  <a:defRPr sz="900" b="1">
                    <a:solidFill>
                      <a:schemeClr val="bg1"/>
                    </a:solidFill>
                    <a:latin typeface="Arial" panose="020B0604020202020204" pitchFamily="34" charset="0"/>
                    <a:ea typeface="MS PGothic" panose="020B0600070205080204" pitchFamily="34" charset="-128"/>
                  </a:defRPr>
                </a:lvl4pPr>
                <a:lvl5pPr marL="2057400" indent="-228600">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400"/>
                  <a:t>3</a:t>
                </a:r>
              </a:p>
            </p:txBody>
          </p:sp>
        </p:grpSp>
        <p:sp>
          <p:nvSpPr>
            <p:cNvPr id="18" name="Text Box 47">
              <a:extLst>
                <a:ext uri="{FF2B5EF4-FFF2-40B4-BE49-F238E27FC236}">
                  <a16:creationId xmlns:a16="http://schemas.microsoft.com/office/drawing/2014/main" id="{AE8B8728-42BE-5462-3B75-EF4CC9BF800B}"/>
                </a:ext>
              </a:extLst>
            </p:cNvPr>
            <p:cNvSpPr txBox="1">
              <a:spLocks noChangeArrowheads="1"/>
            </p:cNvSpPr>
            <p:nvPr/>
          </p:nvSpPr>
          <p:spPr bwMode="auto">
            <a:xfrm>
              <a:off x="4321998" y="1974336"/>
              <a:ext cx="149271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lIns="91440" tIns="45720" rIns="91440" bIns="45720" anchor="t">
              <a:spAutoFit/>
            </a:bodyPr>
            <a:lstStyle>
              <a:lvl1pPr>
                <a:defRPr sz="900" b="1">
                  <a:solidFill>
                    <a:schemeClr val="bg1"/>
                  </a:solidFill>
                  <a:latin typeface="Arial" panose="020B0604020202020204" pitchFamily="34" charset="0"/>
                  <a:ea typeface="MS PGothic" panose="020B0600070205080204" pitchFamily="34" charset="-128"/>
                </a:defRPr>
              </a:lvl1pPr>
              <a:lvl2pPr marL="742950" indent="-285750">
                <a:defRPr sz="900" b="1">
                  <a:solidFill>
                    <a:schemeClr val="bg1"/>
                  </a:solidFill>
                  <a:latin typeface="Arial" panose="020B0604020202020204" pitchFamily="34" charset="0"/>
                  <a:ea typeface="MS PGothic" panose="020B0600070205080204" pitchFamily="34" charset="-128"/>
                </a:defRPr>
              </a:lvl2pPr>
              <a:lvl3pPr marL="1143000" indent="-228600">
                <a:defRPr sz="900" b="1">
                  <a:solidFill>
                    <a:schemeClr val="bg1"/>
                  </a:solidFill>
                  <a:latin typeface="Arial" panose="020B0604020202020204" pitchFamily="34" charset="0"/>
                  <a:ea typeface="MS PGothic" panose="020B0600070205080204" pitchFamily="34" charset="-128"/>
                </a:defRPr>
              </a:lvl3pPr>
              <a:lvl4pPr marL="1600200" indent="-228600">
                <a:defRPr sz="900" b="1">
                  <a:solidFill>
                    <a:schemeClr val="bg1"/>
                  </a:solidFill>
                  <a:latin typeface="Arial" panose="020B0604020202020204" pitchFamily="34" charset="0"/>
                  <a:ea typeface="MS PGothic" panose="020B0600070205080204" pitchFamily="34" charset="-128"/>
                </a:defRPr>
              </a:lvl4pPr>
              <a:lvl5pPr marL="2057400" indent="-228600">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800" dirty="0">
                  <a:solidFill>
                    <a:schemeClr val="tx1"/>
                  </a:solidFill>
                  <a:latin typeface="Roboto"/>
                  <a:ea typeface="MS PGothic"/>
                  <a:cs typeface="Arial"/>
                </a:rPr>
                <a:t>Descriptions</a:t>
              </a:r>
              <a:endParaRPr lang="en-US">
                <a:solidFill>
                  <a:schemeClr val="tx1"/>
                </a:solidFill>
                <a:latin typeface="Roboto"/>
                <a:cs typeface="Roboto"/>
              </a:endParaRPr>
            </a:p>
          </p:txBody>
        </p:sp>
      </p:grpSp>
      <p:sp>
        <p:nvSpPr>
          <p:cNvPr id="3" name="AutoShape 9">
            <a:extLst>
              <a:ext uri="{FF2B5EF4-FFF2-40B4-BE49-F238E27FC236}">
                <a16:creationId xmlns:a16="http://schemas.microsoft.com/office/drawing/2014/main" id="{F3852B64-D1DD-E371-D1C0-A2CD925F5AD3}"/>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6" name="AutoShape 11">
            <a:extLst>
              <a:ext uri="{FF2B5EF4-FFF2-40B4-BE49-F238E27FC236}">
                <a16:creationId xmlns:a16="http://schemas.microsoft.com/office/drawing/2014/main" id="{E685FB3A-320C-CFF2-445F-5C4903B035D3}"/>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10">
            <a:extLst>
              <a:ext uri="{FF2B5EF4-FFF2-40B4-BE49-F238E27FC236}">
                <a16:creationId xmlns:a16="http://schemas.microsoft.com/office/drawing/2014/main" id="{000CB900-3EF5-98AE-1544-254795C7CB62}"/>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Tree>
    <p:extLst>
      <p:ext uri="{BB962C8B-B14F-4D97-AF65-F5344CB8AC3E}">
        <p14:creationId xmlns:p14="http://schemas.microsoft.com/office/powerpoint/2010/main" val="201951872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D59612-57A7-4226-15D4-E621CF0130AB}"/>
              </a:ext>
            </a:extLst>
          </p:cNvPr>
          <p:cNvSpPr>
            <a:spLocks noGrp="1"/>
          </p:cNvSpPr>
          <p:nvPr>
            <p:ph type="title"/>
          </p:nvPr>
        </p:nvSpPr>
        <p:spPr/>
        <p:txBody>
          <a:bodyPr>
            <a:normAutofit/>
          </a:bodyPr>
          <a:lstStyle/>
          <a:p>
            <a:r>
              <a:rPr lang="en-US" sz="4000" dirty="0">
                <a:latin typeface="Roboto Medium"/>
                <a:ea typeface="Roboto Medium"/>
                <a:cs typeface="Roboto Medium"/>
              </a:rPr>
              <a:t>Waste Elimination Tools</a:t>
            </a:r>
          </a:p>
        </p:txBody>
      </p:sp>
      <p:sp>
        <p:nvSpPr>
          <p:cNvPr id="4" name="Footer Placeholder 3">
            <a:extLst>
              <a:ext uri="{FF2B5EF4-FFF2-40B4-BE49-F238E27FC236}">
                <a16:creationId xmlns:a16="http://schemas.microsoft.com/office/drawing/2014/main" id="{CB1F8C30-D81C-1E27-D266-2BC421C72FD6}"/>
              </a:ext>
            </a:extLst>
          </p:cNvPr>
          <p:cNvSpPr>
            <a:spLocks noGrp="1"/>
          </p:cNvSpPr>
          <p:nvPr>
            <p:ph type="ftr" sz="quarter" idx="11"/>
          </p:nvPr>
        </p:nvSpPr>
        <p:spPr/>
        <p:txBody>
          <a:bodyPr/>
          <a:lstStyle/>
          <a:p>
            <a:r>
              <a:rPr lang="en-US"/>
              <a:t>© Lean Horizons Consulting, LLC 2023. All Rights Reserved</a:t>
            </a:r>
            <a:endParaRPr lang="en-US" dirty="0"/>
          </a:p>
        </p:txBody>
      </p:sp>
      <p:sp>
        <p:nvSpPr>
          <p:cNvPr id="5" name="Slide Number Placeholder 4">
            <a:extLst>
              <a:ext uri="{FF2B5EF4-FFF2-40B4-BE49-F238E27FC236}">
                <a16:creationId xmlns:a16="http://schemas.microsoft.com/office/drawing/2014/main" id="{1AA34B74-93DA-5F21-CF4A-77FE692D026C}"/>
              </a:ext>
            </a:extLst>
          </p:cNvPr>
          <p:cNvSpPr>
            <a:spLocks noGrp="1"/>
          </p:cNvSpPr>
          <p:nvPr>
            <p:ph type="sldNum" sz="quarter" idx="12"/>
          </p:nvPr>
        </p:nvSpPr>
        <p:spPr/>
        <p:txBody>
          <a:bodyPr/>
          <a:lstStyle/>
          <a:p>
            <a:fld id="{CC6D4273-7FC1-0947-B9FE-19CB3C0D1FB6}" type="slidenum">
              <a:rPr lang="en-US" smtClean="0"/>
              <a:t>49</a:t>
            </a:fld>
            <a:endParaRPr lang="en-US"/>
          </a:p>
        </p:txBody>
      </p:sp>
      <p:grpSp>
        <p:nvGrpSpPr>
          <p:cNvPr id="17" name="Group 16">
            <a:extLst>
              <a:ext uri="{FF2B5EF4-FFF2-40B4-BE49-F238E27FC236}">
                <a16:creationId xmlns:a16="http://schemas.microsoft.com/office/drawing/2014/main" id="{370E2D67-D7AB-B197-3AFC-FE1AD0717D3B}"/>
              </a:ext>
            </a:extLst>
          </p:cNvPr>
          <p:cNvGrpSpPr/>
          <p:nvPr/>
        </p:nvGrpSpPr>
        <p:grpSpPr>
          <a:xfrm>
            <a:off x="837487" y="1901455"/>
            <a:ext cx="10443809" cy="3771699"/>
            <a:chOff x="1201607" y="2209658"/>
            <a:chExt cx="22392167" cy="9152700"/>
          </a:xfrm>
        </p:grpSpPr>
        <p:sp>
          <p:nvSpPr>
            <p:cNvPr id="18" name="Rectangle 17">
              <a:extLst>
                <a:ext uri="{FF2B5EF4-FFF2-40B4-BE49-F238E27FC236}">
                  <a16:creationId xmlns:a16="http://schemas.microsoft.com/office/drawing/2014/main" id="{D20F1A36-69B1-BB79-6BF6-C93AC874BD1C}"/>
                </a:ext>
              </a:extLst>
            </p:cNvPr>
            <p:cNvSpPr/>
            <p:nvPr/>
          </p:nvSpPr>
          <p:spPr>
            <a:xfrm>
              <a:off x="1201607" y="2209658"/>
              <a:ext cx="10972800" cy="914399"/>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58738" lvl="2" algn="l" defTabSz="584200"/>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Visual Management</a:t>
              </a:r>
            </a:p>
          </p:txBody>
        </p:sp>
        <p:sp>
          <p:nvSpPr>
            <p:cNvPr id="19" name="Rectangle 18">
              <a:extLst>
                <a:ext uri="{FF2B5EF4-FFF2-40B4-BE49-F238E27FC236}">
                  <a16:creationId xmlns:a16="http://schemas.microsoft.com/office/drawing/2014/main" id="{4B354A32-F11A-EC6B-FA55-F0AD6D424609}"/>
                </a:ext>
              </a:extLst>
            </p:cNvPr>
            <p:cNvSpPr/>
            <p:nvPr/>
          </p:nvSpPr>
          <p:spPr>
            <a:xfrm>
              <a:off x="1201607" y="3582708"/>
              <a:ext cx="10972800" cy="914400"/>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5S</a:t>
              </a:r>
            </a:p>
          </p:txBody>
        </p:sp>
        <p:sp>
          <p:nvSpPr>
            <p:cNvPr id="20" name="Rectangle 19">
              <a:extLst>
                <a:ext uri="{FF2B5EF4-FFF2-40B4-BE49-F238E27FC236}">
                  <a16:creationId xmlns:a16="http://schemas.microsoft.com/office/drawing/2014/main" id="{A1F828CC-F6DF-0463-F1BA-C6709B8ED0C5}"/>
                </a:ext>
              </a:extLst>
            </p:cNvPr>
            <p:cNvSpPr/>
            <p:nvPr/>
          </p:nvSpPr>
          <p:spPr>
            <a:xfrm>
              <a:off x="1201607" y="4955758"/>
              <a:ext cx="10972800" cy="914400"/>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Standard Work</a:t>
              </a:r>
            </a:p>
          </p:txBody>
        </p:sp>
        <p:sp>
          <p:nvSpPr>
            <p:cNvPr id="21" name="Rectangle 20">
              <a:extLst>
                <a:ext uri="{FF2B5EF4-FFF2-40B4-BE49-F238E27FC236}">
                  <a16:creationId xmlns:a16="http://schemas.microsoft.com/office/drawing/2014/main" id="{45E07FDE-E0CF-F967-4F1D-9E5D72243C02}"/>
                </a:ext>
              </a:extLst>
            </p:cNvPr>
            <p:cNvSpPr/>
            <p:nvPr/>
          </p:nvSpPr>
          <p:spPr>
            <a:xfrm>
              <a:off x="1201607" y="6328808"/>
              <a:ext cx="10972800" cy="914400"/>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chemeClr val="bg1"/>
                  </a:solidFill>
                  <a:effectLst>
                    <a:outerShdw blurRad="38100" dist="12700" dir="5400000" rotWithShape="0">
                      <a:srgbClr val="000000">
                        <a:alpha val="50000"/>
                      </a:srgbClr>
                    </a:outerShdw>
                  </a:effectLst>
                  <a:uFillTx/>
                  <a:latin typeface="Roboto"/>
                  <a:ea typeface="Roboto"/>
                  <a:cs typeface="Roboto"/>
                  <a:sym typeface="Roboto"/>
                </a:rPr>
                <a:t>Kanban</a:t>
              </a:r>
              <a:endParaRPr lang="en-US" sz="2000" b="0" i="0" u="none" strike="noStrike" cap="none" spc="0" normalizeH="0" baseline="0" dirty="0">
                <a:ln>
                  <a:noFill/>
                </a:ln>
                <a:solidFill>
                  <a:schemeClr val="bg1"/>
                </a:solidFill>
                <a:effectLst>
                  <a:outerShdw blurRad="38100" dist="12700" dir="5400000" rotWithShape="0">
                    <a:srgbClr val="000000">
                      <a:alpha val="50000"/>
                    </a:srgbClr>
                  </a:outerShdw>
                </a:effectLst>
                <a:uFillTx/>
                <a:latin typeface="Roboto"/>
                <a:ea typeface="Roboto"/>
                <a:cs typeface="Roboto"/>
              </a:endParaRPr>
            </a:p>
          </p:txBody>
        </p:sp>
        <p:sp>
          <p:nvSpPr>
            <p:cNvPr id="22" name="Rectangle 21">
              <a:extLst>
                <a:ext uri="{FF2B5EF4-FFF2-40B4-BE49-F238E27FC236}">
                  <a16:creationId xmlns:a16="http://schemas.microsoft.com/office/drawing/2014/main" id="{F7A1A823-24E0-01DD-762F-8013148C49AD}"/>
                </a:ext>
              </a:extLst>
            </p:cNvPr>
            <p:cNvSpPr/>
            <p:nvPr/>
          </p:nvSpPr>
          <p:spPr>
            <a:xfrm>
              <a:off x="12620974" y="2209658"/>
              <a:ext cx="10972800" cy="914400"/>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CEDAC</a:t>
              </a:r>
            </a:p>
          </p:txBody>
        </p:sp>
        <p:sp>
          <p:nvSpPr>
            <p:cNvPr id="23" name="Rectangle 22">
              <a:extLst>
                <a:ext uri="{FF2B5EF4-FFF2-40B4-BE49-F238E27FC236}">
                  <a16:creationId xmlns:a16="http://schemas.microsoft.com/office/drawing/2014/main" id="{42BBCC70-7D0F-2DD5-8FF6-A56F11CC85CC}"/>
                </a:ext>
              </a:extLst>
            </p:cNvPr>
            <p:cNvSpPr/>
            <p:nvPr/>
          </p:nvSpPr>
          <p:spPr>
            <a:xfrm>
              <a:off x="12620974" y="3582708"/>
              <a:ext cx="10972800" cy="914400"/>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err="1">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Jidoka</a:t>
              </a: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 and </a:t>
              </a:r>
              <a:r>
                <a:rPr kumimoji="0" lang="en-US" sz="2000" b="0" i="0" u="none" strike="noStrike" cap="none" spc="0" normalizeH="0" baseline="0" dirty="0" err="1">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Poka</a:t>
              </a: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 Yoke</a:t>
              </a:r>
            </a:p>
          </p:txBody>
        </p:sp>
        <p:sp>
          <p:nvSpPr>
            <p:cNvPr id="24" name="Rectangle 23">
              <a:extLst>
                <a:ext uri="{FF2B5EF4-FFF2-40B4-BE49-F238E27FC236}">
                  <a16:creationId xmlns:a16="http://schemas.microsoft.com/office/drawing/2014/main" id="{29F4381C-70CE-AA91-5383-92AEBE147D2D}"/>
                </a:ext>
              </a:extLst>
            </p:cNvPr>
            <p:cNvSpPr/>
            <p:nvPr/>
          </p:nvSpPr>
          <p:spPr>
            <a:xfrm>
              <a:off x="12620974" y="4955758"/>
              <a:ext cx="10972800" cy="914400"/>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SMED</a:t>
              </a:r>
            </a:p>
          </p:txBody>
        </p:sp>
        <p:sp>
          <p:nvSpPr>
            <p:cNvPr id="25" name="Rectangle 24">
              <a:extLst>
                <a:ext uri="{FF2B5EF4-FFF2-40B4-BE49-F238E27FC236}">
                  <a16:creationId xmlns:a16="http://schemas.microsoft.com/office/drawing/2014/main" id="{4DC4F5FC-D80C-F5BE-2885-A1E758F653A2}"/>
                </a:ext>
              </a:extLst>
            </p:cNvPr>
            <p:cNvSpPr/>
            <p:nvPr/>
          </p:nvSpPr>
          <p:spPr>
            <a:xfrm>
              <a:off x="12620974" y="6328808"/>
              <a:ext cx="10972800" cy="914400"/>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Total Productive Maintenance</a:t>
              </a:r>
            </a:p>
          </p:txBody>
        </p:sp>
        <p:sp>
          <p:nvSpPr>
            <p:cNvPr id="26" name="Rectangle 25">
              <a:extLst>
                <a:ext uri="{FF2B5EF4-FFF2-40B4-BE49-F238E27FC236}">
                  <a16:creationId xmlns:a16="http://schemas.microsoft.com/office/drawing/2014/main" id="{DCB08230-4BF6-0340-2AD2-5774E173F8D8}"/>
                </a:ext>
              </a:extLst>
            </p:cNvPr>
            <p:cNvSpPr/>
            <p:nvPr/>
          </p:nvSpPr>
          <p:spPr>
            <a:xfrm>
              <a:off x="1201607" y="7701858"/>
              <a:ext cx="10972800" cy="914400"/>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Problem Solving</a:t>
              </a:r>
            </a:p>
          </p:txBody>
        </p:sp>
        <p:sp>
          <p:nvSpPr>
            <p:cNvPr id="27" name="Rectangle 26">
              <a:extLst>
                <a:ext uri="{FF2B5EF4-FFF2-40B4-BE49-F238E27FC236}">
                  <a16:creationId xmlns:a16="http://schemas.microsoft.com/office/drawing/2014/main" id="{C71E133C-C2BA-B594-2F6B-16BADE5887AB}"/>
                </a:ext>
              </a:extLst>
            </p:cNvPr>
            <p:cNvSpPr/>
            <p:nvPr/>
          </p:nvSpPr>
          <p:spPr>
            <a:xfrm>
              <a:off x="1201607" y="9074908"/>
              <a:ext cx="10972800" cy="914400"/>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Production Preparation Process (3P)</a:t>
              </a:r>
            </a:p>
          </p:txBody>
        </p:sp>
        <p:sp>
          <p:nvSpPr>
            <p:cNvPr id="28" name="Rectangle 27">
              <a:extLst>
                <a:ext uri="{FF2B5EF4-FFF2-40B4-BE49-F238E27FC236}">
                  <a16:creationId xmlns:a16="http://schemas.microsoft.com/office/drawing/2014/main" id="{15D883AF-2D1C-40E5-E845-E5837FD30DA6}"/>
                </a:ext>
              </a:extLst>
            </p:cNvPr>
            <p:cNvSpPr/>
            <p:nvPr/>
          </p:nvSpPr>
          <p:spPr>
            <a:xfrm>
              <a:off x="12620974" y="7701858"/>
              <a:ext cx="10972800" cy="914400"/>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Cell Design</a:t>
              </a:r>
            </a:p>
          </p:txBody>
        </p:sp>
        <p:sp>
          <p:nvSpPr>
            <p:cNvPr id="29" name="Rectangle 28">
              <a:extLst>
                <a:ext uri="{FF2B5EF4-FFF2-40B4-BE49-F238E27FC236}">
                  <a16:creationId xmlns:a16="http://schemas.microsoft.com/office/drawing/2014/main" id="{4CF48DFE-0394-C9E2-90F5-0FC76FF180F8}"/>
                </a:ext>
              </a:extLst>
            </p:cNvPr>
            <p:cNvSpPr/>
            <p:nvPr/>
          </p:nvSpPr>
          <p:spPr>
            <a:xfrm>
              <a:off x="12620974" y="9074908"/>
              <a:ext cx="10972800" cy="914400"/>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Value Stream Mapping (VSM)</a:t>
              </a:r>
            </a:p>
          </p:txBody>
        </p:sp>
        <p:sp>
          <p:nvSpPr>
            <p:cNvPr id="30" name="Rectangle 29">
              <a:extLst>
                <a:ext uri="{FF2B5EF4-FFF2-40B4-BE49-F238E27FC236}">
                  <a16:creationId xmlns:a16="http://schemas.microsoft.com/office/drawing/2014/main" id="{56D8CAF3-483E-91B2-CF0D-AD5B718A4685}"/>
                </a:ext>
              </a:extLst>
            </p:cNvPr>
            <p:cNvSpPr/>
            <p:nvPr/>
          </p:nvSpPr>
          <p:spPr>
            <a:xfrm>
              <a:off x="1201607" y="10447958"/>
              <a:ext cx="10972800" cy="914400"/>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Transaction Process Improvement</a:t>
              </a:r>
            </a:p>
          </p:txBody>
        </p:sp>
      </p:grpSp>
      <p:sp>
        <p:nvSpPr>
          <p:cNvPr id="11" name="Rectangle 10">
            <a:extLst>
              <a:ext uri="{FF2B5EF4-FFF2-40B4-BE49-F238E27FC236}">
                <a16:creationId xmlns:a16="http://schemas.microsoft.com/office/drawing/2014/main" id="{A796E2EB-3ED3-2BFC-ABF7-076DC189B1BA}"/>
              </a:ext>
            </a:extLst>
          </p:cNvPr>
          <p:cNvSpPr/>
          <p:nvPr/>
        </p:nvSpPr>
        <p:spPr>
          <a:xfrm>
            <a:off x="6168017" y="5296342"/>
            <a:ext cx="5117764" cy="376811"/>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Managing Daily Process Excellence</a:t>
            </a:r>
          </a:p>
        </p:txBody>
      </p:sp>
      <p:sp>
        <p:nvSpPr>
          <p:cNvPr id="33" name="TextBox 32">
            <a:extLst>
              <a:ext uri="{FF2B5EF4-FFF2-40B4-BE49-F238E27FC236}">
                <a16:creationId xmlns:a16="http://schemas.microsoft.com/office/drawing/2014/main" id="{D7CDD87C-C603-BBD2-20C3-990F9C727099}"/>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Lean Fundamentals</a:t>
            </a:r>
          </a:p>
        </p:txBody>
      </p:sp>
      <p:sp>
        <p:nvSpPr>
          <p:cNvPr id="3" name="AutoShape 9">
            <a:extLst>
              <a:ext uri="{FF2B5EF4-FFF2-40B4-BE49-F238E27FC236}">
                <a16:creationId xmlns:a16="http://schemas.microsoft.com/office/drawing/2014/main" id="{7A68CE90-7AD1-5E56-5A2C-8DB8C85B6ECA}"/>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6" name="AutoShape 11">
            <a:extLst>
              <a:ext uri="{FF2B5EF4-FFF2-40B4-BE49-F238E27FC236}">
                <a16:creationId xmlns:a16="http://schemas.microsoft.com/office/drawing/2014/main" id="{3A389C94-0794-BAA6-0E5E-565D438D0EEE}"/>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10">
            <a:extLst>
              <a:ext uri="{FF2B5EF4-FFF2-40B4-BE49-F238E27FC236}">
                <a16:creationId xmlns:a16="http://schemas.microsoft.com/office/drawing/2014/main" id="{28AE58A8-F100-D155-B7C6-5A70D563ECC9}"/>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Tree>
    <p:extLst>
      <p:ext uri="{BB962C8B-B14F-4D97-AF65-F5344CB8AC3E}">
        <p14:creationId xmlns:p14="http://schemas.microsoft.com/office/powerpoint/2010/main" val="295186775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D59612-57A7-4226-15D4-E621CF0130AB}"/>
              </a:ext>
            </a:extLst>
          </p:cNvPr>
          <p:cNvSpPr>
            <a:spLocks noGrp="1"/>
          </p:cNvSpPr>
          <p:nvPr>
            <p:ph type="title"/>
          </p:nvPr>
        </p:nvSpPr>
        <p:spPr/>
        <p:txBody>
          <a:bodyPr>
            <a:normAutofit/>
          </a:bodyPr>
          <a:lstStyle/>
          <a:p>
            <a:r>
              <a:rPr lang="en-US" sz="4000" dirty="0">
                <a:latin typeface="Roboto Medium"/>
                <a:ea typeface="Roboto Medium"/>
                <a:cs typeface="Roboto Medium"/>
              </a:rPr>
              <a:t>Kanban</a:t>
            </a:r>
            <a:endParaRPr lang="en-US" dirty="0"/>
          </a:p>
        </p:txBody>
      </p:sp>
      <p:sp>
        <p:nvSpPr>
          <p:cNvPr id="4" name="Footer Placeholder 3">
            <a:extLst>
              <a:ext uri="{FF2B5EF4-FFF2-40B4-BE49-F238E27FC236}">
                <a16:creationId xmlns:a16="http://schemas.microsoft.com/office/drawing/2014/main" id="{CB1F8C30-D81C-1E27-D266-2BC421C72FD6}"/>
              </a:ext>
            </a:extLst>
          </p:cNvPr>
          <p:cNvSpPr>
            <a:spLocks noGrp="1"/>
          </p:cNvSpPr>
          <p:nvPr>
            <p:ph type="ftr" sz="quarter" idx="11"/>
          </p:nvPr>
        </p:nvSpPr>
        <p:spPr/>
        <p:txBody>
          <a:bodyPr/>
          <a:lstStyle/>
          <a:p>
            <a:r>
              <a:rPr lang="en-US"/>
              <a:t>© Lean Horizons Consulting, LLC 2023. All Rights Reserved</a:t>
            </a:r>
            <a:endParaRPr lang="en-US" dirty="0"/>
          </a:p>
        </p:txBody>
      </p:sp>
      <p:sp>
        <p:nvSpPr>
          <p:cNvPr id="5" name="Slide Number Placeholder 4">
            <a:extLst>
              <a:ext uri="{FF2B5EF4-FFF2-40B4-BE49-F238E27FC236}">
                <a16:creationId xmlns:a16="http://schemas.microsoft.com/office/drawing/2014/main" id="{1AA34B74-93DA-5F21-CF4A-77FE692D026C}"/>
              </a:ext>
            </a:extLst>
          </p:cNvPr>
          <p:cNvSpPr>
            <a:spLocks noGrp="1"/>
          </p:cNvSpPr>
          <p:nvPr>
            <p:ph type="sldNum" sz="quarter" idx="12"/>
          </p:nvPr>
        </p:nvSpPr>
        <p:spPr/>
        <p:txBody>
          <a:bodyPr/>
          <a:lstStyle/>
          <a:p>
            <a:fld id="{CC6D4273-7FC1-0947-B9FE-19CB3C0D1FB6}" type="slidenum">
              <a:rPr lang="en-US" smtClean="0"/>
              <a:t>50</a:t>
            </a:fld>
            <a:endParaRPr lang="en-US"/>
          </a:p>
        </p:txBody>
      </p:sp>
      <p:sp>
        <p:nvSpPr>
          <p:cNvPr id="37" name="TextBox 36">
            <a:extLst>
              <a:ext uri="{FF2B5EF4-FFF2-40B4-BE49-F238E27FC236}">
                <a16:creationId xmlns:a16="http://schemas.microsoft.com/office/drawing/2014/main" id="{0FAB3950-B9FC-BE60-5118-2B23F7E52A69}"/>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Lean Fundamentals</a:t>
            </a:r>
          </a:p>
        </p:txBody>
      </p:sp>
      <p:grpSp>
        <p:nvGrpSpPr>
          <p:cNvPr id="10" name="Group 3">
            <a:extLst>
              <a:ext uri="{FF2B5EF4-FFF2-40B4-BE49-F238E27FC236}">
                <a16:creationId xmlns:a16="http://schemas.microsoft.com/office/drawing/2014/main" id="{6A120E2C-8416-2B41-79E5-E45CB6EC18A0}"/>
              </a:ext>
            </a:extLst>
          </p:cNvPr>
          <p:cNvGrpSpPr>
            <a:grpSpLocks/>
          </p:cNvGrpSpPr>
          <p:nvPr/>
        </p:nvGrpSpPr>
        <p:grpSpPr bwMode="auto">
          <a:xfrm>
            <a:off x="861993" y="1995815"/>
            <a:ext cx="8189914" cy="466725"/>
            <a:chOff x="562" y="1785"/>
            <a:chExt cx="4831" cy="294"/>
          </a:xfrm>
        </p:grpSpPr>
        <p:sp>
          <p:nvSpPr>
            <p:cNvPr id="7" name="AutoShape 4">
              <a:extLst>
                <a:ext uri="{FF2B5EF4-FFF2-40B4-BE49-F238E27FC236}">
                  <a16:creationId xmlns:a16="http://schemas.microsoft.com/office/drawing/2014/main" id="{514D73E7-3A78-131E-1CAF-8AA77B5D6540}"/>
                </a:ext>
              </a:extLst>
            </p:cNvPr>
            <p:cNvSpPr>
              <a:spLocks noChangeArrowheads="1"/>
            </p:cNvSpPr>
            <p:nvPr/>
          </p:nvSpPr>
          <p:spPr bwMode="auto">
            <a:xfrm>
              <a:off x="3660" y="1785"/>
              <a:ext cx="1733" cy="294"/>
            </a:xfrm>
            <a:prstGeom prst="homePlate">
              <a:avLst>
                <a:gd name="adj" fmla="val 48603"/>
              </a:avLst>
            </a:prstGeom>
            <a:solidFill>
              <a:schemeClr val="accent1"/>
            </a:solidFill>
            <a:ln w="12700" cap="sq">
              <a:solidFill>
                <a:schemeClr val="tx1"/>
              </a:solidFill>
              <a:miter lim="800000"/>
              <a:headEnd/>
              <a:tailEnd/>
            </a:ln>
          </p:spPr>
          <p:txBody>
            <a:bodyPr wrap="none" lIns="91440" tIns="45720" rIns="91440" bIns="45720" anchor="ctr"/>
            <a:lstStyle>
              <a:lvl1pPr>
                <a:defRPr sz="900" b="1">
                  <a:solidFill>
                    <a:schemeClr val="bg1"/>
                  </a:solidFill>
                  <a:latin typeface="Arial" panose="020B0604020202020204" pitchFamily="34" charset="0"/>
                  <a:ea typeface="MS PGothic" panose="020B0600070205080204" pitchFamily="34" charset="-128"/>
                </a:defRPr>
              </a:lvl1pPr>
              <a:lvl2pPr marL="742950" indent="-285750">
                <a:defRPr sz="900" b="1">
                  <a:solidFill>
                    <a:schemeClr val="bg1"/>
                  </a:solidFill>
                  <a:latin typeface="Arial" panose="020B0604020202020204" pitchFamily="34" charset="0"/>
                  <a:ea typeface="MS PGothic" panose="020B0600070205080204" pitchFamily="34" charset="-128"/>
                </a:defRPr>
              </a:lvl2pPr>
              <a:lvl3pPr marL="1143000" indent="-228600">
                <a:defRPr sz="900" b="1">
                  <a:solidFill>
                    <a:schemeClr val="bg1"/>
                  </a:solidFill>
                  <a:latin typeface="Arial" panose="020B0604020202020204" pitchFamily="34" charset="0"/>
                  <a:ea typeface="MS PGothic" panose="020B0600070205080204" pitchFamily="34" charset="-128"/>
                </a:defRPr>
              </a:lvl3pPr>
              <a:lvl4pPr marL="1600200" indent="-228600">
                <a:defRPr sz="900" b="1">
                  <a:solidFill>
                    <a:schemeClr val="bg1"/>
                  </a:solidFill>
                  <a:latin typeface="Arial" panose="020B0604020202020204" pitchFamily="34" charset="0"/>
                  <a:ea typeface="MS PGothic" panose="020B0600070205080204" pitchFamily="34" charset="-128"/>
                </a:defRPr>
              </a:lvl4pPr>
              <a:lvl5pPr marL="2057400" indent="-228600">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ctr"/>
              <a:r>
                <a:rPr lang="en-US" altLang="en-US" sz="1800" dirty="0">
                  <a:latin typeface="Roboto Medium"/>
                  <a:ea typeface="MS PGothic"/>
                  <a:cs typeface="Arial"/>
                </a:rPr>
                <a:t>   Expected Outcomes</a:t>
              </a:r>
            </a:p>
          </p:txBody>
        </p:sp>
        <p:sp>
          <p:nvSpPr>
            <p:cNvPr id="8" name="AutoShape 5">
              <a:extLst>
                <a:ext uri="{FF2B5EF4-FFF2-40B4-BE49-F238E27FC236}">
                  <a16:creationId xmlns:a16="http://schemas.microsoft.com/office/drawing/2014/main" id="{AA4645C4-1ABC-018D-F1A0-03B91942F113}"/>
                </a:ext>
              </a:extLst>
            </p:cNvPr>
            <p:cNvSpPr>
              <a:spLocks noChangeArrowheads="1"/>
            </p:cNvSpPr>
            <p:nvPr/>
          </p:nvSpPr>
          <p:spPr bwMode="auto">
            <a:xfrm>
              <a:off x="2105" y="1785"/>
              <a:ext cx="1733" cy="294"/>
            </a:xfrm>
            <a:prstGeom prst="homePlate">
              <a:avLst>
                <a:gd name="adj" fmla="val 48603"/>
              </a:avLst>
            </a:prstGeom>
            <a:solidFill>
              <a:srgbClr val="222222"/>
            </a:solidFill>
            <a:ln w="12700" cap="sq">
              <a:solidFill>
                <a:schemeClr val="tx1"/>
              </a:solidFill>
              <a:miter lim="800000"/>
              <a:headEnd/>
              <a:tailEnd/>
            </a:ln>
          </p:spPr>
          <p:txBody>
            <a:bodyPr wrap="none" lIns="91440" tIns="45720" rIns="91440" bIns="45720" anchor="ctr"/>
            <a:lstStyle>
              <a:lvl1pPr>
                <a:defRPr sz="900" b="1">
                  <a:solidFill>
                    <a:schemeClr val="bg1"/>
                  </a:solidFill>
                  <a:latin typeface="Arial" panose="020B0604020202020204" pitchFamily="34" charset="0"/>
                  <a:ea typeface="MS PGothic" panose="020B0600070205080204" pitchFamily="34" charset="-128"/>
                </a:defRPr>
              </a:lvl1pPr>
              <a:lvl2pPr marL="742950" indent="-285750">
                <a:defRPr sz="900" b="1">
                  <a:solidFill>
                    <a:schemeClr val="bg1"/>
                  </a:solidFill>
                  <a:latin typeface="Arial" panose="020B0604020202020204" pitchFamily="34" charset="0"/>
                  <a:ea typeface="MS PGothic" panose="020B0600070205080204" pitchFamily="34" charset="-128"/>
                </a:defRPr>
              </a:lvl2pPr>
              <a:lvl3pPr marL="1143000" indent="-228600">
                <a:defRPr sz="900" b="1">
                  <a:solidFill>
                    <a:schemeClr val="bg1"/>
                  </a:solidFill>
                  <a:latin typeface="Arial" panose="020B0604020202020204" pitchFamily="34" charset="0"/>
                  <a:ea typeface="MS PGothic" panose="020B0600070205080204" pitchFamily="34" charset="-128"/>
                </a:defRPr>
              </a:lvl3pPr>
              <a:lvl4pPr marL="1600200" indent="-228600">
                <a:defRPr sz="900" b="1">
                  <a:solidFill>
                    <a:schemeClr val="bg1"/>
                  </a:solidFill>
                  <a:latin typeface="Arial" panose="020B0604020202020204" pitchFamily="34" charset="0"/>
                  <a:ea typeface="MS PGothic" panose="020B0600070205080204" pitchFamily="34" charset="-128"/>
                </a:defRPr>
              </a:lvl4pPr>
              <a:lvl5pPr marL="2057400" indent="-228600">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ctr"/>
              <a:r>
                <a:rPr lang="en-US" altLang="en-US" sz="1800" dirty="0">
                  <a:latin typeface="Roboto"/>
                  <a:ea typeface="Roboto"/>
                  <a:cs typeface="Roboto"/>
                </a:rPr>
                <a:t>Benefits</a:t>
              </a:r>
            </a:p>
          </p:txBody>
        </p:sp>
        <p:sp>
          <p:nvSpPr>
            <p:cNvPr id="9" name="AutoShape 6">
              <a:extLst>
                <a:ext uri="{FF2B5EF4-FFF2-40B4-BE49-F238E27FC236}">
                  <a16:creationId xmlns:a16="http://schemas.microsoft.com/office/drawing/2014/main" id="{38368718-0376-427D-0341-C954B30C0737}"/>
                </a:ext>
              </a:extLst>
            </p:cNvPr>
            <p:cNvSpPr>
              <a:spLocks noChangeArrowheads="1"/>
            </p:cNvSpPr>
            <p:nvPr/>
          </p:nvSpPr>
          <p:spPr bwMode="auto">
            <a:xfrm>
              <a:off x="562" y="1785"/>
              <a:ext cx="1733" cy="294"/>
            </a:xfrm>
            <a:prstGeom prst="homePlate">
              <a:avLst>
                <a:gd name="adj" fmla="val 48603"/>
              </a:avLst>
            </a:prstGeom>
            <a:solidFill>
              <a:schemeClr val="bg1">
                <a:lumMod val="50000"/>
              </a:schemeClr>
            </a:solidFill>
            <a:ln w="12700" cap="sq">
              <a:solidFill>
                <a:schemeClr val="tx1"/>
              </a:solidFill>
              <a:miter lim="800000"/>
              <a:headEnd/>
              <a:tailEnd/>
            </a:ln>
          </p:spPr>
          <p:txBody>
            <a:bodyPr wrap="none" anchor="ctr"/>
            <a:lstStyle>
              <a:lvl1pPr>
                <a:defRPr sz="900" b="1">
                  <a:solidFill>
                    <a:schemeClr val="bg1"/>
                  </a:solidFill>
                  <a:latin typeface="Arial" panose="020B0604020202020204" pitchFamily="34" charset="0"/>
                  <a:ea typeface="MS PGothic" panose="020B0600070205080204" pitchFamily="34" charset="-128"/>
                </a:defRPr>
              </a:lvl1pPr>
              <a:lvl2pPr marL="742950" indent="-285750">
                <a:defRPr sz="900" b="1">
                  <a:solidFill>
                    <a:schemeClr val="bg1"/>
                  </a:solidFill>
                  <a:latin typeface="Arial" panose="020B0604020202020204" pitchFamily="34" charset="0"/>
                  <a:ea typeface="MS PGothic" panose="020B0600070205080204" pitchFamily="34" charset="-128"/>
                </a:defRPr>
              </a:lvl2pPr>
              <a:lvl3pPr marL="1143000" indent="-228600">
                <a:defRPr sz="900" b="1">
                  <a:solidFill>
                    <a:schemeClr val="bg1"/>
                  </a:solidFill>
                  <a:latin typeface="Arial" panose="020B0604020202020204" pitchFamily="34" charset="0"/>
                  <a:ea typeface="MS PGothic" panose="020B0600070205080204" pitchFamily="34" charset="-128"/>
                </a:defRPr>
              </a:lvl3pPr>
              <a:lvl4pPr marL="1600200" indent="-228600">
                <a:defRPr sz="900" b="1">
                  <a:solidFill>
                    <a:schemeClr val="bg1"/>
                  </a:solidFill>
                  <a:latin typeface="Arial" panose="020B0604020202020204" pitchFamily="34" charset="0"/>
                  <a:ea typeface="MS PGothic" panose="020B0600070205080204" pitchFamily="34" charset="-128"/>
                </a:defRPr>
              </a:lvl4pPr>
              <a:lvl5pPr marL="2057400" indent="-228600">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ctr"/>
              <a:r>
                <a:rPr lang="en-US" altLang="en-US" sz="1800">
                  <a:latin typeface="Roboto" panose="02000000000000000000" pitchFamily="2" charset="0"/>
                  <a:ea typeface="Roboto" panose="02000000000000000000" pitchFamily="2" charset="0"/>
                  <a:cs typeface="Roboto" panose="02000000000000000000" pitchFamily="2" charset="0"/>
                </a:rPr>
                <a:t>Definition</a:t>
              </a:r>
            </a:p>
          </p:txBody>
        </p:sp>
      </p:grpSp>
      <p:sp>
        <p:nvSpPr>
          <p:cNvPr id="13" name="Rectangle 7">
            <a:extLst>
              <a:ext uri="{FF2B5EF4-FFF2-40B4-BE49-F238E27FC236}">
                <a16:creationId xmlns:a16="http://schemas.microsoft.com/office/drawing/2014/main" id="{2D1B37A0-2F77-1B77-A158-B842CD2CCE5B}"/>
              </a:ext>
            </a:extLst>
          </p:cNvPr>
          <p:cNvSpPr>
            <a:spLocks noChangeArrowheads="1"/>
          </p:cNvSpPr>
          <p:nvPr/>
        </p:nvSpPr>
        <p:spPr bwMode="auto">
          <a:xfrm>
            <a:off x="866754" y="2513340"/>
            <a:ext cx="2716212" cy="1535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marL="342900" indent="-342900">
              <a:tabLst>
                <a:tab pos="3086100" algn="l"/>
              </a:tabLst>
              <a:defRPr sz="900" b="1">
                <a:solidFill>
                  <a:schemeClr val="bg1"/>
                </a:solidFill>
                <a:latin typeface="Arial" panose="020B0604020202020204" pitchFamily="34" charset="0"/>
                <a:ea typeface="MS PGothic" panose="020B0600070205080204" pitchFamily="34" charset="-128"/>
              </a:defRPr>
            </a:lvl1pPr>
            <a:lvl2pPr marL="742950" indent="-285750">
              <a:tabLst>
                <a:tab pos="3086100" algn="l"/>
              </a:tabLst>
              <a:defRPr sz="900" b="1">
                <a:solidFill>
                  <a:schemeClr val="bg1"/>
                </a:solidFill>
                <a:latin typeface="Arial" panose="020B0604020202020204" pitchFamily="34" charset="0"/>
                <a:ea typeface="MS PGothic" panose="020B0600070205080204" pitchFamily="34" charset="-128"/>
              </a:defRPr>
            </a:lvl2pPr>
            <a:lvl3pPr marL="1143000" indent="-228600">
              <a:tabLst>
                <a:tab pos="3086100" algn="l"/>
              </a:tabLst>
              <a:defRPr sz="900" b="1">
                <a:solidFill>
                  <a:schemeClr val="bg1"/>
                </a:solidFill>
                <a:latin typeface="Arial" panose="020B0604020202020204" pitchFamily="34" charset="0"/>
                <a:ea typeface="MS PGothic" panose="020B0600070205080204" pitchFamily="34" charset="-128"/>
              </a:defRPr>
            </a:lvl3pPr>
            <a:lvl4pPr marL="1600200" indent="-228600">
              <a:tabLst>
                <a:tab pos="3086100" algn="l"/>
              </a:tabLst>
              <a:defRPr sz="900" b="1">
                <a:solidFill>
                  <a:schemeClr val="bg1"/>
                </a:solidFill>
                <a:latin typeface="Arial" panose="020B0604020202020204" pitchFamily="34" charset="0"/>
                <a:ea typeface="MS PGothic" panose="020B0600070205080204" pitchFamily="34" charset="-128"/>
              </a:defRPr>
            </a:lvl4pPr>
            <a:lvl5pPr marL="2057400" indent="-228600">
              <a:tabLst>
                <a:tab pos="3086100" algn="l"/>
              </a:tabLst>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9pPr>
          </a:lstStyle>
          <a:p>
            <a:pPr>
              <a:spcAft>
                <a:spcPct val="20000"/>
              </a:spcAft>
              <a:buClr>
                <a:schemeClr val="accent1"/>
              </a:buClr>
              <a:buSzPct val="40000"/>
              <a:buFont typeface="Wingdings" panose="05000000000000000000" pitchFamily="2" charset="2"/>
              <a:buChar char="n"/>
            </a:pPr>
            <a:r>
              <a:rPr lang="en-US" altLang="en-US" sz="1600" dirty="0">
                <a:solidFill>
                  <a:schemeClr val="tx1"/>
                </a:solidFill>
                <a:latin typeface="Roboto"/>
                <a:ea typeface="MS PGothic"/>
                <a:cs typeface="Roboto Medium"/>
              </a:rPr>
              <a:t>Kanban means </a:t>
            </a:r>
            <a:r>
              <a:rPr lang="ja-JP" altLang="en-US" sz="1600">
                <a:solidFill>
                  <a:schemeClr val="tx1"/>
                </a:solidFill>
                <a:latin typeface="Roboto"/>
                <a:cs typeface="Roboto Medium"/>
              </a:rPr>
              <a:t>“</a:t>
            </a:r>
            <a:r>
              <a:rPr lang="en-US" altLang="ja-JP" sz="1600" dirty="0">
                <a:solidFill>
                  <a:schemeClr val="tx1"/>
                </a:solidFill>
                <a:latin typeface="Roboto"/>
                <a:ea typeface="MS PGothic"/>
                <a:cs typeface="Roboto Medium"/>
              </a:rPr>
              <a:t>signal</a:t>
            </a:r>
            <a:r>
              <a:rPr lang="ja-JP" altLang="en-US" sz="1600">
                <a:solidFill>
                  <a:schemeClr val="tx1"/>
                </a:solidFill>
                <a:latin typeface="Roboto"/>
                <a:cs typeface="Roboto Medium"/>
              </a:rPr>
              <a:t>”</a:t>
            </a:r>
            <a:r>
              <a:rPr lang="en-US" altLang="ja-JP" sz="1600" dirty="0">
                <a:solidFill>
                  <a:schemeClr val="tx1"/>
                </a:solidFill>
                <a:latin typeface="Roboto"/>
                <a:ea typeface="MS PGothic"/>
                <a:cs typeface="Roboto Medium"/>
              </a:rPr>
              <a:t> as in to signal for more material </a:t>
            </a:r>
            <a:endParaRPr lang="en-US" altLang="ja-JP" sz="1600">
              <a:solidFill>
                <a:schemeClr val="tx1"/>
              </a:solidFill>
              <a:latin typeface="Roboto"/>
              <a:cs typeface="Roboto Medium"/>
            </a:endParaRPr>
          </a:p>
          <a:p>
            <a:pPr algn="l" eaLnBrk="1" hangingPunct="1">
              <a:lnSpc>
                <a:spcPct val="100000"/>
              </a:lnSpc>
              <a:spcAft>
                <a:spcPct val="20000"/>
              </a:spcAft>
              <a:buClr>
                <a:schemeClr val="accent1"/>
              </a:buClr>
              <a:buSzPct val="40000"/>
              <a:buFont typeface="Wingdings" panose="05000000000000000000" pitchFamily="2" charset="2"/>
              <a:buChar char="n"/>
            </a:pPr>
            <a:r>
              <a:rPr lang="en-US" altLang="en-US" sz="1600" dirty="0">
                <a:solidFill>
                  <a:schemeClr val="tx1"/>
                </a:solidFill>
                <a:latin typeface="Roboto"/>
                <a:ea typeface="MS PGothic"/>
                <a:cs typeface="Roboto Medium"/>
              </a:rPr>
              <a:t>Signals both starting production and stopping production</a:t>
            </a:r>
          </a:p>
          <a:p>
            <a:pPr algn="l" eaLnBrk="1" hangingPunct="1">
              <a:lnSpc>
                <a:spcPct val="100000"/>
              </a:lnSpc>
              <a:spcAft>
                <a:spcPct val="20000"/>
              </a:spcAft>
              <a:buClr>
                <a:schemeClr val="accent1"/>
              </a:buClr>
              <a:buSzPct val="40000"/>
              <a:buFont typeface="Wingdings" panose="05000000000000000000" pitchFamily="2" charset="2"/>
              <a:buChar char="n"/>
            </a:pPr>
            <a:r>
              <a:rPr lang="en-US" altLang="en-US" sz="1600" dirty="0">
                <a:solidFill>
                  <a:schemeClr val="tx1"/>
                </a:solidFill>
                <a:latin typeface="Roboto"/>
                <a:ea typeface="MS PGothic"/>
                <a:cs typeface="Roboto Medium"/>
              </a:rPr>
              <a:t>Used to overcome current </a:t>
            </a:r>
            <a:r>
              <a:rPr lang="ja-JP" altLang="en-US" sz="1600">
                <a:solidFill>
                  <a:schemeClr val="tx1"/>
                </a:solidFill>
                <a:latin typeface="Roboto"/>
                <a:cs typeface="Roboto Medium"/>
              </a:rPr>
              <a:t>“</a:t>
            </a:r>
            <a:r>
              <a:rPr lang="en-US" altLang="ja-JP" sz="1600" dirty="0">
                <a:solidFill>
                  <a:schemeClr val="tx1"/>
                </a:solidFill>
                <a:latin typeface="Roboto"/>
                <a:ea typeface="MS PGothic"/>
                <a:cs typeface="Roboto Medium"/>
              </a:rPr>
              <a:t>obstacles</a:t>
            </a:r>
            <a:r>
              <a:rPr lang="ja-JP" altLang="en-US" sz="1600">
                <a:solidFill>
                  <a:schemeClr val="tx1"/>
                </a:solidFill>
                <a:latin typeface="Roboto"/>
                <a:cs typeface="Roboto Medium"/>
              </a:rPr>
              <a:t>”</a:t>
            </a:r>
            <a:r>
              <a:rPr lang="en-US" altLang="ja-JP" sz="1600" dirty="0">
                <a:solidFill>
                  <a:schemeClr val="tx1"/>
                </a:solidFill>
                <a:latin typeface="Roboto"/>
                <a:ea typeface="MS PGothic"/>
                <a:cs typeface="Roboto Medium"/>
              </a:rPr>
              <a:t> to flow</a:t>
            </a:r>
          </a:p>
          <a:p>
            <a:pPr algn="l" eaLnBrk="1" hangingPunct="1">
              <a:lnSpc>
                <a:spcPct val="100000"/>
              </a:lnSpc>
              <a:spcAft>
                <a:spcPct val="20000"/>
              </a:spcAft>
              <a:buClr>
                <a:schemeClr val="accent1"/>
              </a:buClr>
              <a:buSzPct val="40000"/>
              <a:buFont typeface="Wingdings" panose="05000000000000000000" pitchFamily="2" charset="2"/>
              <a:buChar char="n"/>
            </a:pPr>
            <a:r>
              <a:rPr lang="en-US" altLang="en-US" sz="1600" dirty="0">
                <a:solidFill>
                  <a:schemeClr val="tx1"/>
                </a:solidFill>
                <a:latin typeface="Roboto"/>
                <a:ea typeface="MS PGothic"/>
                <a:cs typeface="Roboto Medium"/>
              </a:rPr>
              <a:t>Kanban in itself is 100% Waste</a:t>
            </a:r>
          </a:p>
        </p:txBody>
      </p:sp>
      <p:sp>
        <p:nvSpPr>
          <p:cNvPr id="15" name="Rectangle 8">
            <a:extLst>
              <a:ext uri="{FF2B5EF4-FFF2-40B4-BE49-F238E27FC236}">
                <a16:creationId xmlns:a16="http://schemas.microsoft.com/office/drawing/2014/main" id="{DCE683F5-34B4-B948-B5E5-17864593202D}"/>
              </a:ext>
            </a:extLst>
          </p:cNvPr>
          <p:cNvSpPr>
            <a:spLocks noChangeArrowheads="1"/>
          </p:cNvSpPr>
          <p:nvPr/>
        </p:nvSpPr>
        <p:spPr bwMode="auto">
          <a:xfrm>
            <a:off x="3627416" y="2521277"/>
            <a:ext cx="2643188" cy="1535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marL="342900" indent="-342900">
              <a:tabLst>
                <a:tab pos="3086100" algn="l"/>
              </a:tabLst>
              <a:defRPr sz="900" b="1">
                <a:solidFill>
                  <a:schemeClr val="bg1"/>
                </a:solidFill>
                <a:latin typeface="Arial" panose="020B0604020202020204" pitchFamily="34" charset="0"/>
                <a:ea typeface="MS PGothic" panose="020B0600070205080204" pitchFamily="34" charset="-128"/>
              </a:defRPr>
            </a:lvl1pPr>
            <a:lvl2pPr marL="742950" indent="-285750">
              <a:tabLst>
                <a:tab pos="3086100" algn="l"/>
              </a:tabLst>
              <a:defRPr sz="900" b="1">
                <a:solidFill>
                  <a:schemeClr val="bg1"/>
                </a:solidFill>
                <a:latin typeface="Arial" panose="020B0604020202020204" pitchFamily="34" charset="0"/>
                <a:ea typeface="MS PGothic" panose="020B0600070205080204" pitchFamily="34" charset="-128"/>
              </a:defRPr>
            </a:lvl2pPr>
            <a:lvl3pPr marL="1143000" indent="-228600">
              <a:tabLst>
                <a:tab pos="3086100" algn="l"/>
              </a:tabLst>
              <a:defRPr sz="900" b="1">
                <a:solidFill>
                  <a:schemeClr val="bg1"/>
                </a:solidFill>
                <a:latin typeface="Arial" panose="020B0604020202020204" pitchFamily="34" charset="0"/>
                <a:ea typeface="MS PGothic" panose="020B0600070205080204" pitchFamily="34" charset="-128"/>
              </a:defRPr>
            </a:lvl3pPr>
            <a:lvl4pPr marL="1600200" indent="-228600">
              <a:tabLst>
                <a:tab pos="3086100" algn="l"/>
              </a:tabLst>
              <a:defRPr sz="900" b="1">
                <a:solidFill>
                  <a:schemeClr val="bg1"/>
                </a:solidFill>
                <a:latin typeface="Arial" panose="020B0604020202020204" pitchFamily="34" charset="0"/>
                <a:ea typeface="MS PGothic" panose="020B0600070205080204" pitchFamily="34" charset="-128"/>
              </a:defRPr>
            </a:lvl4pPr>
            <a:lvl5pPr marL="2057400" indent="-228600">
              <a:tabLst>
                <a:tab pos="3086100" algn="l"/>
              </a:tabLst>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Aft>
                <a:spcPct val="20000"/>
              </a:spcAft>
              <a:buClr>
                <a:schemeClr val="accent1"/>
              </a:buClr>
              <a:buSzPct val="40000"/>
              <a:buFont typeface="Wingdings" panose="05000000000000000000" pitchFamily="2" charset="2"/>
              <a:buChar char="n"/>
            </a:pPr>
            <a:r>
              <a:rPr lang="en-US" altLang="en-US" sz="1600" dirty="0">
                <a:solidFill>
                  <a:schemeClr val="tx1"/>
                </a:solidFill>
                <a:latin typeface="Roboto"/>
                <a:ea typeface="MS PGothic"/>
                <a:cs typeface="Roboto"/>
              </a:rPr>
              <a:t>Reduction in Inventory ($)</a:t>
            </a:r>
          </a:p>
          <a:p>
            <a:pPr algn="l" eaLnBrk="1" hangingPunct="1">
              <a:lnSpc>
                <a:spcPct val="100000"/>
              </a:lnSpc>
              <a:spcAft>
                <a:spcPct val="20000"/>
              </a:spcAft>
              <a:buClr>
                <a:schemeClr val="accent1"/>
              </a:buClr>
              <a:buSzPct val="40000"/>
              <a:buFont typeface="Wingdings" panose="05000000000000000000" pitchFamily="2" charset="2"/>
              <a:buChar char="n"/>
            </a:pPr>
            <a:r>
              <a:rPr lang="en-US" altLang="en-US" sz="1600" dirty="0">
                <a:solidFill>
                  <a:schemeClr val="tx1"/>
                </a:solidFill>
                <a:latin typeface="Roboto"/>
                <a:ea typeface="MS PGothic"/>
                <a:cs typeface="Roboto"/>
              </a:rPr>
              <a:t>Improve On-Time-Delivery</a:t>
            </a:r>
          </a:p>
          <a:p>
            <a:pPr algn="l" eaLnBrk="1" hangingPunct="1">
              <a:lnSpc>
                <a:spcPct val="100000"/>
              </a:lnSpc>
              <a:spcAft>
                <a:spcPct val="20000"/>
              </a:spcAft>
              <a:buClr>
                <a:schemeClr val="accent1"/>
              </a:buClr>
              <a:buSzPct val="40000"/>
              <a:buFont typeface="Wingdings" panose="05000000000000000000" pitchFamily="2" charset="2"/>
              <a:buChar char="n"/>
            </a:pPr>
            <a:r>
              <a:rPr lang="en-US" altLang="en-US" sz="1600" dirty="0">
                <a:solidFill>
                  <a:schemeClr val="tx1"/>
                </a:solidFill>
                <a:latin typeface="Roboto"/>
                <a:ea typeface="MS PGothic"/>
                <a:cs typeface="Roboto"/>
              </a:rPr>
              <a:t>Enables flow (through proper use of waste)</a:t>
            </a:r>
          </a:p>
          <a:p>
            <a:pPr algn="l" eaLnBrk="1" hangingPunct="1">
              <a:lnSpc>
                <a:spcPct val="100000"/>
              </a:lnSpc>
              <a:spcAft>
                <a:spcPct val="20000"/>
              </a:spcAft>
              <a:buClr>
                <a:schemeClr val="accent1"/>
              </a:buClr>
              <a:buSzPct val="40000"/>
              <a:buFont typeface="Wingdings" panose="05000000000000000000" pitchFamily="2" charset="2"/>
              <a:buChar char="n"/>
            </a:pPr>
            <a:r>
              <a:rPr lang="en-US" altLang="en-US" sz="1600" dirty="0">
                <a:solidFill>
                  <a:schemeClr val="tx1"/>
                </a:solidFill>
                <a:latin typeface="Roboto"/>
                <a:ea typeface="MS PGothic"/>
                <a:cs typeface="Roboto"/>
              </a:rPr>
              <a:t>Easier to identify and solve problems</a:t>
            </a:r>
          </a:p>
          <a:p>
            <a:pPr algn="l" eaLnBrk="1" hangingPunct="1">
              <a:lnSpc>
                <a:spcPct val="100000"/>
              </a:lnSpc>
              <a:spcAft>
                <a:spcPct val="20000"/>
              </a:spcAft>
              <a:buClr>
                <a:schemeClr val="accent1"/>
              </a:buClr>
              <a:buSzPct val="40000"/>
              <a:buFont typeface="Wingdings" panose="05000000000000000000" pitchFamily="2" charset="2"/>
              <a:buChar char="n"/>
            </a:pPr>
            <a:r>
              <a:rPr lang="en-US" altLang="en-US" sz="1600" dirty="0">
                <a:solidFill>
                  <a:schemeClr val="tx1"/>
                </a:solidFill>
                <a:latin typeface="Roboto"/>
                <a:ea typeface="MS PGothic"/>
                <a:cs typeface="Roboto"/>
              </a:rPr>
              <a:t>Improves scheduling frequency from </a:t>
            </a:r>
            <a:r>
              <a:rPr lang="ja-JP" altLang="en-US" sz="1600" dirty="0">
                <a:solidFill>
                  <a:schemeClr val="tx1"/>
                </a:solidFill>
                <a:latin typeface="Roboto"/>
                <a:cs typeface="Roboto"/>
              </a:rPr>
              <a:t>‘</a:t>
            </a:r>
            <a:r>
              <a:rPr lang="en-US" altLang="ja-JP" sz="1600" dirty="0">
                <a:solidFill>
                  <a:schemeClr val="tx1"/>
                </a:solidFill>
                <a:latin typeface="Roboto"/>
                <a:ea typeface="MS PGothic"/>
                <a:cs typeface="Roboto"/>
              </a:rPr>
              <a:t>daily or weekly</a:t>
            </a:r>
            <a:r>
              <a:rPr lang="ja-JP" altLang="en-US" sz="1600" dirty="0">
                <a:solidFill>
                  <a:schemeClr val="tx1"/>
                </a:solidFill>
                <a:latin typeface="Roboto"/>
                <a:cs typeface="Roboto"/>
              </a:rPr>
              <a:t>’</a:t>
            </a:r>
            <a:r>
              <a:rPr lang="en-US" altLang="ja-JP" sz="1600" dirty="0">
                <a:solidFill>
                  <a:schemeClr val="tx1"/>
                </a:solidFill>
                <a:latin typeface="Roboto"/>
                <a:ea typeface="MS PGothic"/>
                <a:cs typeface="Roboto"/>
              </a:rPr>
              <a:t> to </a:t>
            </a:r>
            <a:r>
              <a:rPr lang="ja-JP" altLang="en-US" sz="1600" dirty="0">
                <a:solidFill>
                  <a:schemeClr val="tx1"/>
                </a:solidFill>
                <a:latin typeface="Roboto"/>
                <a:cs typeface="Roboto"/>
              </a:rPr>
              <a:t>‘</a:t>
            </a:r>
            <a:r>
              <a:rPr lang="en-US" altLang="ja-JP" sz="1600" dirty="0">
                <a:solidFill>
                  <a:schemeClr val="tx1"/>
                </a:solidFill>
                <a:latin typeface="Roboto"/>
                <a:ea typeface="MS PGothic"/>
                <a:cs typeface="Roboto"/>
              </a:rPr>
              <a:t>real time</a:t>
            </a:r>
            <a:r>
              <a:rPr lang="ja-JP" altLang="en-US" sz="1600" dirty="0">
                <a:solidFill>
                  <a:schemeClr val="tx1"/>
                </a:solidFill>
                <a:latin typeface="Roboto"/>
                <a:cs typeface="Roboto"/>
              </a:rPr>
              <a:t>’</a:t>
            </a:r>
            <a:endParaRPr lang="en-US" altLang="en-US" sz="1600">
              <a:solidFill>
                <a:schemeClr val="tx1"/>
              </a:solidFill>
              <a:latin typeface="Roboto"/>
              <a:ea typeface="Roboto"/>
              <a:cs typeface="Roboto"/>
            </a:endParaRPr>
          </a:p>
        </p:txBody>
      </p:sp>
      <p:sp>
        <p:nvSpPr>
          <p:cNvPr id="17" name="Rectangle 9">
            <a:extLst>
              <a:ext uri="{FF2B5EF4-FFF2-40B4-BE49-F238E27FC236}">
                <a16:creationId xmlns:a16="http://schemas.microsoft.com/office/drawing/2014/main" id="{838AC24B-C100-3FEF-3720-1D0D733F9276}"/>
              </a:ext>
            </a:extLst>
          </p:cNvPr>
          <p:cNvSpPr>
            <a:spLocks noChangeArrowheads="1"/>
          </p:cNvSpPr>
          <p:nvPr/>
        </p:nvSpPr>
        <p:spPr bwMode="auto">
          <a:xfrm>
            <a:off x="6280129" y="2521277"/>
            <a:ext cx="2527300" cy="1535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marL="342900" indent="-342900">
              <a:tabLst>
                <a:tab pos="3086100" algn="l"/>
              </a:tabLst>
              <a:defRPr sz="900" b="1">
                <a:solidFill>
                  <a:schemeClr val="bg1"/>
                </a:solidFill>
                <a:latin typeface="Arial" panose="020B0604020202020204" pitchFamily="34" charset="0"/>
                <a:ea typeface="MS PGothic" panose="020B0600070205080204" pitchFamily="34" charset="-128"/>
              </a:defRPr>
            </a:lvl1pPr>
            <a:lvl2pPr marL="742950" indent="-285750">
              <a:tabLst>
                <a:tab pos="3086100" algn="l"/>
              </a:tabLst>
              <a:defRPr sz="900" b="1">
                <a:solidFill>
                  <a:schemeClr val="bg1"/>
                </a:solidFill>
                <a:latin typeface="Arial" panose="020B0604020202020204" pitchFamily="34" charset="0"/>
                <a:ea typeface="MS PGothic" panose="020B0600070205080204" pitchFamily="34" charset="-128"/>
              </a:defRPr>
            </a:lvl2pPr>
            <a:lvl3pPr marL="1143000" indent="-228600">
              <a:tabLst>
                <a:tab pos="3086100" algn="l"/>
              </a:tabLst>
              <a:defRPr sz="900" b="1">
                <a:solidFill>
                  <a:schemeClr val="bg1"/>
                </a:solidFill>
                <a:latin typeface="Arial" panose="020B0604020202020204" pitchFamily="34" charset="0"/>
                <a:ea typeface="MS PGothic" panose="020B0600070205080204" pitchFamily="34" charset="-128"/>
              </a:defRPr>
            </a:lvl3pPr>
            <a:lvl4pPr marL="1600200" indent="-228600">
              <a:tabLst>
                <a:tab pos="3086100" algn="l"/>
              </a:tabLst>
              <a:defRPr sz="900" b="1">
                <a:solidFill>
                  <a:schemeClr val="bg1"/>
                </a:solidFill>
                <a:latin typeface="Arial" panose="020B0604020202020204" pitchFamily="34" charset="0"/>
                <a:ea typeface="MS PGothic" panose="020B0600070205080204" pitchFamily="34" charset="-128"/>
              </a:defRPr>
            </a:lvl4pPr>
            <a:lvl5pPr marL="2057400" indent="-228600">
              <a:tabLst>
                <a:tab pos="3086100" algn="l"/>
              </a:tabLst>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Aft>
                <a:spcPct val="20000"/>
              </a:spcAft>
              <a:buClr>
                <a:schemeClr val="accent1"/>
              </a:buClr>
              <a:buSzPct val="40000"/>
              <a:buFont typeface="Wingdings" panose="05000000000000000000" pitchFamily="2" charset="2"/>
              <a:buChar char="n"/>
            </a:pPr>
            <a:r>
              <a:rPr lang="en-US" altLang="en-US" sz="1600" dirty="0">
                <a:solidFill>
                  <a:schemeClr val="tx1"/>
                </a:solidFill>
                <a:latin typeface="Roboto"/>
                <a:ea typeface="MS PGothic"/>
                <a:cs typeface="Roboto"/>
              </a:rPr>
              <a:t>Separates process velocity from MRP velocity</a:t>
            </a:r>
          </a:p>
          <a:p>
            <a:pPr algn="l" eaLnBrk="1" hangingPunct="1">
              <a:lnSpc>
                <a:spcPct val="100000"/>
              </a:lnSpc>
              <a:spcAft>
                <a:spcPct val="20000"/>
              </a:spcAft>
              <a:buClr>
                <a:schemeClr val="accent1"/>
              </a:buClr>
              <a:buSzPct val="40000"/>
              <a:buFont typeface="Wingdings" panose="05000000000000000000" pitchFamily="2" charset="2"/>
              <a:buChar char="n"/>
            </a:pPr>
            <a:r>
              <a:rPr lang="en-US" altLang="en-US" sz="1600" dirty="0">
                <a:solidFill>
                  <a:schemeClr val="tx1"/>
                </a:solidFill>
                <a:latin typeface="Roboto"/>
                <a:ea typeface="MS PGothic"/>
                <a:cs typeface="Roboto"/>
              </a:rPr>
              <a:t>Enhances control of lumpy processes</a:t>
            </a:r>
          </a:p>
          <a:p>
            <a:pPr algn="l" eaLnBrk="1" hangingPunct="1">
              <a:lnSpc>
                <a:spcPct val="100000"/>
              </a:lnSpc>
              <a:spcAft>
                <a:spcPct val="20000"/>
              </a:spcAft>
              <a:buClr>
                <a:schemeClr val="accent1"/>
              </a:buClr>
              <a:buSzPct val="40000"/>
              <a:buFont typeface="Wingdings" panose="05000000000000000000" pitchFamily="2" charset="2"/>
              <a:buChar char="n"/>
            </a:pPr>
            <a:r>
              <a:rPr lang="en-US" altLang="en-US" sz="1600" dirty="0">
                <a:solidFill>
                  <a:schemeClr val="tx1"/>
                </a:solidFill>
                <a:latin typeface="Roboto"/>
                <a:ea typeface="MS PGothic"/>
                <a:cs typeface="Roboto"/>
              </a:rPr>
              <a:t>Enables visual scheduling (where </a:t>
            </a:r>
            <a:r>
              <a:rPr lang="ja-JP" altLang="en-US" sz="1600">
                <a:solidFill>
                  <a:schemeClr val="tx1"/>
                </a:solidFill>
                <a:latin typeface="Roboto"/>
                <a:cs typeface="Roboto"/>
              </a:rPr>
              <a:t>‘</a:t>
            </a:r>
            <a:r>
              <a:rPr lang="en-US" altLang="ja-JP" sz="1600" dirty="0">
                <a:solidFill>
                  <a:schemeClr val="tx1"/>
                </a:solidFill>
                <a:latin typeface="Roboto"/>
                <a:ea typeface="MS PGothic"/>
                <a:cs typeface="Roboto"/>
              </a:rPr>
              <a:t>scheduling</a:t>
            </a:r>
            <a:r>
              <a:rPr lang="ja-JP" altLang="en-US" sz="1600">
                <a:solidFill>
                  <a:schemeClr val="tx1"/>
                </a:solidFill>
                <a:latin typeface="Roboto"/>
                <a:cs typeface="Roboto"/>
              </a:rPr>
              <a:t>’</a:t>
            </a:r>
            <a:r>
              <a:rPr lang="en-US" altLang="ja-JP" sz="1600" dirty="0">
                <a:solidFill>
                  <a:schemeClr val="tx1"/>
                </a:solidFill>
                <a:latin typeface="Roboto"/>
                <a:ea typeface="MS PGothic"/>
                <a:cs typeface="Roboto"/>
              </a:rPr>
              <a:t> is necessary)</a:t>
            </a:r>
          </a:p>
          <a:p>
            <a:pPr algn="l" eaLnBrk="1" hangingPunct="1">
              <a:lnSpc>
                <a:spcPct val="100000"/>
              </a:lnSpc>
              <a:spcAft>
                <a:spcPct val="20000"/>
              </a:spcAft>
              <a:buClr>
                <a:schemeClr val="accent1"/>
              </a:buClr>
              <a:buSzPct val="40000"/>
              <a:buFont typeface="Wingdings" panose="05000000000000000000" pitchFamily="2" charset="2"/>
              <a:buChar char="n"/>
            </a:pPr>
            <a:r>
              <a:rPr lang="en-US" altLang="en-US" sz="1600" dirty="0">
                <a:solidFill>
                  <a:schemeClr val="tx1"/>
                </a:solidFill>
                <a:latin typeface="Roboto"/>
                <a:ea typeface="MS PGothic"/>
                <a:cs typeface="Roboto"/>
              </a:rPr>
              <a:t>Right-sizes use of inventory, people and equipment</a:t>
            </a:r>
          </a:p>
        </p:txBody>
      </p:sp>
      <p:sp>
        <p:nvSpPr>
          <p:cNvPr id="39" name="Oval 10">
            <a:extLst>
              <a:ext uri="{FF2B5EF4-FFF2-40B4-BE49-F238E27FC236}">
                <a16:creationId xmlns:a16="http://schemas.microsoft.com/office/drawing/2014/main" id="{8B486D3B-FE74-1D9D-2773-B90E493FDDE2}"/>
              </a:ext>
            </a:extLst>
          </p:cNvPr>
          <p:cNvSpPr>
            <a:spLocks noChangeArrowheads="1"/>
          </p:cNvSpPr>
          <p:nvPr/>
        </p:nvSpPr>
        <p:spPr bwMode="auto">
          <a:xfrm>
            <a:off x="992166" y="1849764"/>
            <a:ext cx="323850" cy="287338"/>
          </a:xfrm>
          <a:prstGeom prst="ellipse">
            <a:avLst/>
          </a:prstGeom>
          <a:solidFill>
            <a:schemeClr val="bg1"/>
          </a:solidFill>
          <a:ln w="19050" cap="sq">
            <a:solidFill>
              <a:srgbClr val="000066"/>
            </a:solidFill>
            <a:round/>
            <a:headEnd/>
            <a:tailEnd/>
          </a:ln>
        </p:spPr>
        <p:txBody>
          <a:bodyPr wrap="none" anchor="ctr"/>
          <a:lstStyle>
            <a:lvl1pPr>
              <a:defRPr sz="900" b="1">
                <a:solidFill>
                  <a:schemeClr val="bg1"/>
                </a:solidFill>
                <a:latin typeface="Arial" panose="020B0604020202020204" pitchFamily="34" charset="0"/>
                <a:ea typeface="MS PGothic" panose="020B0600070205080204" pitchFamily="34" charset="-128"/>
              </a:defRPr>
            </a:lvl1pPr>
            <a:lvl2pPr marL="742950" indent="-285750">
              <a:defRPr sz="900" b="1">
                <a:solidFill>
                  <a:schemeClr val="bg1"/>
                </a:solidFill>
                <a:latin typeface="Arial" panose="020B0604020202020204" pitchFamily="34" charset="0"/>
                <a:ea typeface="MS PGothic" panose="020B0600070205080204" pitchFamily="34" charset="-128"/>
              </a:defRPr>
            </a:lvl2pPr>
            <a:lvl3pPr marL="1143000" indent="-228600">
              <a:defRPr sz="900" b="1">
                <a:solidFill>
                  <a:schemeClr val="bg1"/>
                </a:solidFill>
                <a:latin typeface="Arial" panose="020B0604020202020204" pitchFamily="34" charset="0"/>
                <a:ea typeface="MS PGothic" panose="020B0600070205080204" pitchFamily="34" charset="-128"/>
              </a:defRPr>
            </a:lvl3pPr>
            <a:lvl4pPr marL="1600200" indent="-228600">
              <a:defRPr sz="900" b="1">
                <a:solidFill>
                  <a:schemeClr val="bg1"/>
                </a:solidFill>
                <a:latin typeface="Arial" panose="020B0604020202020204" pitchFamily="34" charset="0"/>
                <a:ea typeface="MS PGothic" panose="020B0600070205080204" pitchFamily="34" charset="-128"/>
              </a:defRPr>
            </a:lvl4pPr>
            <a:lvl5pPr marL="2057400" indent="-228600">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ctr"/>
            <a:r>
              <a:rPr lang="en-US" altLang="en-US" sz="1600">
                <a:solidFill>
                  <a:srgbClr val="000066"/>
                </a:solidFill>
              </a:rPr>
              <a:t>1</a:t>
            </a:r>
          </a:p>
        </p:txBody>
      </p:sp>
      <p:sp>
        <p:nvSpPr>
          <p:cNvPr id="41" name="Oval 11">
            <a:extLst>
              <a:ext uri="{FF2B5EF4-FFF2-40B4-BE49-F238E27FC236}">
                <a16:creationId xmlns:a16="http://schemas.microsoft.com/office/drawing/2014/main" id="{56DB2D68-5ABB-D767-CCB9-7CE20E4C9FFB}"/>
              </a:ext>
            </a:extLst>
          </p:cNvPr>
          <p:cNvSpPr>
            <a:spLocks noChangeArrowheads="1"/>
          </p:cNvSpPr>
          <p:nvPr/>
        </p:nvSpPr>
        <p:spPr bwMode="auto">
          <a:xfrm>
            <a:off x="3663929" y="1857703"/>
            <a:ext cx="323850" cy="287337"/>
          </a:xfrm>
          <a:prstGeom prst="ellipse">
            <a:avLst/>
          </a:prstGeom>
          <a:solidFill>
            <a:schemeClr val="bg1"/>
          </a:solidFill>
          <a:ln w="19050" cap="sq">
            <a:solidFill>
              <a:srgbClr val="000066"/>
            </a:solidFill>
            <a:round/>
            <a:headEnd/>
            <a:tailEnd/>
          </a:ln>
        </p:spPr>
        <p:txBody>
          <a:bodyPr wrap="none" anchor="ctr"/>
          <a:lstStyle>
            <a:lvl1pPr>
              <a:defRPr sz="900" b="1">
                <a:solidFill>
                  <a:schemeClr val="bg1"/>
                </a:solidFill>
                <a:latin typeface="Arial" panose="020B0604020202020204" pitchFamily="34" charset="0"/>
                <a:ea typeface="MS PGothic" panose="020B0600070205080204" pitchFamily="34" charset="-128"/>
              </a:defRPr>
            </a:lvl1pPr>
            <a:lvl2pPr marL="742950" indent="-285750">
              <a:defRPr sz="900" b="1">
                <a:solidFill>
                  <a:schemeClr val="bg1"/>
                </a:solidFill>
                <a:latin typeface="Arial" panose="020B0604020202020204" pitchFamily="34" charset="0"/>
                <a:ea typeface="MS PGothic" panose="020B0600070205080204" pitchFamily="34" charset="-128"/>
              </a:defRPr>
            </a:lvl2pPr>
            <a:lvl3pPr marL="1143000" indent="-228600">
              <a:defRPr sz="900" b="1">
                <a:solidFill>
                  <a:schemeClr val="bg1"/>
                </a:solidFill>
                <a:latin typeface="Arial" panose="020B0604020202020204" pitchFamily="34" charset="0"/>
                <a:ea typeface="MS PGothic" panose="020B0600070205080204" pitchFamily="34" charset="-128"/>
              </a:defRPr>
            </a:lvl3pPr>
            <a:lvl4pPr marL="1600200" indent="-228600">
              <a:defRPr sz="900" b="1">
                <a:solidFill>
                  <a:schemeClr val="bg1"/>
                </a:solidFill>
                <a:latin typeface="Arial" panose="020B0604020202020204" pitchFamily="34" charset="0"/>
                <a:ea typeface="MS PGothic" panose="020B0600070205080204" pitchFamily="34" charset="-128"/>
              </a:defRPr>
            </a:lvl4pPr>
            <a:lvl5pPr marL="2057400" indent="-228600">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ctr"/>
            <a:r>
              <a:rPr lang="en-US" altLang="en-US" sz="1600">
                <a:solidFill>
                  <a:srgbClr val="000066"/>
                </a:solidFill>
              </a:rPr>
              <a:t>2</a:t>
            </a:r>
          </a:p>
        </p:txBody>
      </p:sp>
      <p:sp>
        <p:nvSpPr>
          <p:cNvPr id="43" name="Oval 12">
            <a:extLst>
              <a:ext uri="{FF2B5EF4-FFF2-40B4-BE49-F238E27FC236}">
                <a16:creationId xmlns:a16="http://schemas.microsoft.com/office/drawing/2014/main" id="{C11F0CEF-808A-317C-6D8C-0ED5A4FC74AA}"/>
              </a:ext>
            </a:extLst>
          </p:cNvPr>
          <p:cNvSpPr>
            <a:spLocks noChangeArrowheads="1"/>
          </p:cNvSpPr>
          <p:nvPr/>
        </p:nvSpPr>
        <p:spPr bwMode="auto">
          <a:xfrm>
            <a:off x="6186466" y="1846589"/>
            <a:ext cx="323850" cy="287338"/>
          </a:xfrm>
          <a:prstGeom prst="ellipse">
            <a:avLst/>
          </a:prstGeom>
          <a:solidFill>
            <a:schemeClr val="bg1"/>
          </a:solidFill>
          <a:ln w="19050" cap="sq">
            <a:solidFill>
              <a:srgbClr val="000066"/>
            </a:solidFill>
            <a:round/>
            <a:headEnd/>
            <a:tailEnd/>
          </a:ln>
        </p:spPr>
        <p:txBody>
          <a:bodyPr wrap="none" anchor="ctr"/>
          <a:lstStyle>
            <a:lvl1pPr>
              <a:defRPr sz="900" b="1">
                <a:solidFill>
                  <a:schemeClr val="bg1"/>
                </a:solidFill>
                <a:latin typeface="Arial" panose="020B0604020202020204" pitchFamily="34" charset="0"/>
                <a:ea typeface="MS PGothic" panose="020B0600070205080204" pitchFamily="34" charset="-128"/>
              </a:defRPr>
            </a:lvl1pPr>
            <a:lvl2pPr marL="742950" indent="-285750">
              <a:defRPr sz="900" b="1">
                <a:solidFill>
                  <a:schemeClr val="bg1"/>
                </a:solidFill>
                <a:latin typeface="Arial" panose="020B0604020202020204" pitchFamily="34" charset="0"/>
                <a:ea typeface="MS PGothic" panose="020B0600070205080204" pitchFamily="34" charset="-128"/>
              </a:defRPr>
            </a:lvl2pPr>
            <a:lvl3pPr marL="1143000" indent="-228600">
              <a:defRPr sz="900" b="1">
                <a:solidFill>
                  <a:schemeClr val="bg1"/>
                </a:solidFill>
                <a:latin typeface="Arial" panose="020B0604020202020204" pitchFamily="34" charset="0"/>
                <a:ea typeface="MS PGothic" panose="020B0600070205080204" pitchFamily="34" charset="-128"/>
              </a:defRPr>
            </a:lvl3pPr>
            <a:lvl4pPr marL="1600200" indent="-228600">
              <a:defRPr sz="900" b="1">
                <a:solidFill>
                  <a:schemeClr val="bg1"/>
                </a:solidFill>
                <a:latin typeface="Arial" panose="020B0604020202020204" pitchFamily="34" charset="0"/>
                <a:ea typeface="MS PGothic" panose="020B0600070205080204" pitchFamily="34" charset="-128"/>
              </a:defRPr>
            </a:lvl4pPr>
            <a:lvl5pPr marL="2057400" indent="-228600">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ctr"/>
            <a:r>
              <a:rPr lang="en-US" altLang="en-US" sz="1600">
                <a:solidFill>
                  <a:srgbClr val="000066"/>
                </a:solidFill>
              </a:rPr>
              <a:t>3</a:t>
            </a:r>
          </a:p>
        </p:txBody>
      </p:sp>
      <p:sp>
        <p:nvSpPr>
          <p:cNvPr id="3" name="AutoShape 9">
            <a:extLst>
              <a:ext uri="{FF2B5EF4-FFF2-40B4-BE49-F238E27FC236}">
                <a16:creationId xmlns:a16="http://schemas.microsoft.com/office/drawing/2014/main" id="{B7515CCA-BB73-289C-C2BB-7177CDEEDC56}"/>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6" name="AutoShape 11">
            <a:extLst>
              <a:ext uri="{FF2B5EF4-FFF2-40B4-BE49-F238E27FC236}">
                <a16:creationId xmlns:a16="http://schemas.microsoft.com/office/drawing/2014/main" id="{F2AF9A62-34D0-6EFB-1A8E-4FEFBD2FF5E0}"/>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1" name="AutoShape 10">
            <a:extLst>
              <a:ext uri="{FF2B5EF4-FFF2-40B4-BE49-F238E27FC236}">
                <a16:creationId xmlns:a16="http://schemas.microsoft.com/office/drawing/2014/main" id="{758D2A99-C46A-70D0-15A2-EDC339ED82A5}"/>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Tree>
    <p:extLst>
      <p:ext uri="{BB962C8B-B14F-4D97-AF65-F5344CB8AC3E}">
        <p14:creationId xmlns:p14="http://schemas.microsoft.com/office/powerpoint/2010/main" val="88802084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D59612-57A7-4226-15D4-E621CF0130AB}"/>
              </a:ext>
            </a:extLst>
          </p:cNvPr>
          <p:cNvSpPr>
            <a:spLocks noGrp="1"/>
          </p:cNvSpPr>
          <p:nvPr>
            <p:ph type="title"/>
          </p:nvPr>
        </p:nvSpPr>
        <p:spPr/>
        <p:txBody>
          <a:bodyPr>
            <a:normAutofit/>
          </a:bodyPr>
          <a:lstStyle/>
          <a:p>
            <a:r>
              <a:rPr lang="en-US" sz="4000" dirty="0">
                <a:latin typeface="Roboto Medium"/>
                <a:ea typeface="Roboto Medium"/>
                <a:cs typeface="Roboto Medium"/>
              </a:rPr>
              <a:t>Waste Elimination Tools</a:t>
            </a:r>
          </a:p>
        </p:txBody>
      </p:sp>
      <p:sp>
        <p:nvSpPr>
          <p:cNvPr id="4" name="Footer Placeholder 3">
            <a:extLst>
              <a:ext uri="{FF2B5EF4-FFF2-40B4-BE49-F238E27FC236}">
                <a16:creationId xmlns:a16="http://schemas.microsoft.com/office/drawing/2014/main" id="{CB1F8C30-D81C-1E27-D266-2BC421C72FD6}"/>
              </a:ext>
            </a:extLst>
          </p:cNvPr>
          <p:cNvSpPr>
            <a:spLocks noGrp="1"/>
          </p:cNvSpPr>
          <p:nvPr>
            <p:ph type="ftr" sz="quarter" idx="11"/>
          </p:nvPr>
        </p:nvSpPr>
        <p:spPr/>
        <p:txBody>
          <a:bodyPr/>
          <a:lstStyle/>
          <a:p>
            <a:r>
              <a:rPr lang="en-US"/>
              <a:t>© Lean Horizons Consulting, LLC 2023. All Rights Reserved</a:t>
            </a:r>
            <a:endParaRPr lang="en-US" dirty="0"/>
          </a:p>
        </p:txBody>
      </p:sp>
      <p:sp>
        <p:nvSpPr>
          <p:cNvPr id="5" name="Slide Number Placeholder 4">
            <a:extLst>
              <a:ext uri="{FF2B5EF4-FFF2-40B4-BE49-F238E27FC236}">
                <a16:creationId xmlns:a16="http://schemas.microsoft.com/office/drawing/2014/main" id="{1AA34B74-93DA-5F21-CF4A-77FE692D026C}"/>
              </a:ext>
            </a:extLst>
          </p:cNvPr>
          <p:cNvSpPr>
            <a:spLocks noGrp="1"/>
          </p:cNvSpPr>
          <p:nvPr>
            <p:ph type="sldNum" sz="quarter" idx="12"/>
          </p:nvPr>
        </p:nvSpPr>
        <p:spPr/>
        <p:txBody>
          <a:bodyPr/>
          <a:lstStyle/>
          <a:p>
            <a:fld id="{CC6D4273-7FC1-0947-B9FE-19CB3C0D1FB6}" type="slidenum">
              <a:rPr lang="en-US" smtClean="0"/>
              <a:t>51</a:t>
            </a:fld>
            <a:endParaRPr lang="en-US"/>
          </a:p>
        </p:txBody>
      </p:sp>
      <p:grpSp>
        <p:nvGrpSpPr>
          <p:cNvPr id="17" name="Group 16">
            <a:extLst>
              <a:ext uri="{FF2B5EF4-FFF2-40B4-BE49-F238E27FC236}">
                <a16:creationId xmlns:a16="http://schemas.microsoft.com/office/drawing/2014/main" id="{370E2D67-D7AB-B197-3AFC-FE1AD0717D3B}"/>
              </a:ext>
            </a:extLst>
          </p:cNvPr>
          <p:cNvGrpSpPr/>
          <p:nvPr/>
        </p:nvGrpSpPr>
        <p:grpSpPr>
          <a:xfrm>
            <a:off x="838200" y="2042523"/>
            <a:ext cx="10443809" cy="3771699"/>
            <a:chOff x="1201607" y="2209658"/>
            <a:chExt cx="22392167" cy="9152700"/>
          </a:xfrm>
        </p:grpSpPr>
        <p:sp>
          <p:nvSpPr>
            <p:cNvPr id="18" name="Rectangle 17">
              <a:extLst>
                <a:ext uri="{FF2B5EF4-FFF2-40B4-BE49-F238E27FC236}">
                  <a16:creationId xmlns:a16="http://schemas.microsoft.com/office/drawing/2014/main" id="{D20F1A36-69B1-BB79-6BF6-C93AC874BD1C}"/>
                </a:ext>
              </a:extLst>
            </p:cNvPr>
            <p:cNvSpPr/>
            <p:nvPr/>
          </p:nvSpPr>
          <p:spPr>
            <a:xfrm>
              <a:off x="1201607" y="2209658"/>
              <a:ext cx="10972800" cy="914400"/>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58738" lvl="2" algn="l" defTabSz="584200"/>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Visual Management</a:t>
              </a:r>
            </a:p>
          </p:txBody>
        </p:sp>
        <p:sp>
          <p:nvSpPr>
            <p:cNvPr id="19" name="Rectangle 18">
              <a:extLst>
                <a:ext uri="{FF2B5EF4-FFF2-40B4-BE49-F238E27FC236}">
                  <a16:creationId xmlns:a16="http://schemas.microsoft.com/office/drawing/2014/main" id="{4B354A32-F11A-EC6B-FA55-F0AD6D424609}"/>
                </a:ext>
              </a:extLst>
            </p:cNvPr>
            <p:cNvSpPr/>
            <p:nvPr/>
          </p:nvSpPr>
          <p:spPr>
            <a:xfrm>
              <a:off x="1201607" y="3582708"/>
              <a:ext cx="10972800" cy="914400"/>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5S</a:t>
              </a:r>
            </a:p>
          </p:txBody>
        </p:sp>
        <p:sp>
          <p:nvSpPr>
            <p:cNvPr id="20" name="Rectangle 19">
              <a:extLst>
                <a:ext uri="{FF2B5EF4-FFF2-40B4-BE49-F238E27FC236}">
                  <a16:creationId xmlns:a16="http://schemas.microsoft.com/office/drawing/2014/main" id="{A1F828CC-F6DF-0463-F1BA-C6709B8ED0C5}"/>
                </a:ext>
              </a:extLst>
            </p:cNvPr>
            <p:cNvSpPr/>
            <p:nvPr/>
          </p:nvSpPr>
          <p:spPr>
            <a:xfrm>
              <a:off x="1201607" y="4955758"/>
              <a:ext cx="10972800" cy="914400"/>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Standard Work</a:t>
              </a:r>
            </a:p>
          </p:txBody>
        </p:sp>
        <p:sp>
          <p:nvSpPr>
            <p:cNvPr id="21" name="Rectangle 20">
              <a:extLst>
                <a:ext uri="{FF2B5EF4-FFF2-40B4-BE49-F238E27FC236}">
                  <a16:creationId xmlns:a16="http://schemas.microsoft.com/office/drawing/2014/main" id="{45E07FDE-E0CF-F967-4F1D-9E5D72243C02}"/>
                </a:ext>
              </a:extLst>
            </p:cNvPr>
            <p:cNvSpPr/>
            <p:nvPr/>
          </p:nvSpPr>
          <p:spPr>
            <a:xfrm>
              <a:off x="1201607" y="6328808"/>
              <a:ext cx="10972800" cy="914400"/>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Kanban</a:t>
              </a:r>
            </a:p>
          </p:txBody>
        </p:sp>
        <p:sp>
          <p:nvSpPr>
            <p:cNvPr id="22" name="Rectangle 21">
              <a:extLst>
                <a:ext uri="{FF2B5EF4-FFF2-40B4-BE49-F238E27FC236}">
                  <a16:creationId xmlns:a16="http://schemas.microsoft.com/office/drawing/2014/main" id="{F7A1A823-24E0-01DD-762F-8013148C49AD}"/>
                </a:ext>
              </a:extLst>
            </p:cNvPr>
            <p:cNvSpPr/>
            <p:nvPr/>
          </p:nvSpPr>
          <p:spPr>
            <a:xfrm>
              <a:off x="12620974" y="2209658"/>
              <a:ext cx="10972800" cy="914400"/>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CEDAC</a:t>
              </a:r>
            </a:p>
          </p:txBody>
        </p:sp>
        <p:sp>
          <p:nvSpPr>
            <p:cNvPr id="23" name="Rectangle 22">
              <a:extLst>
                <a:ext uri="{FF2B5EF4-FFF2-40B4-BE49-F238E27FC236}">
                  <a16:creationId xmlns:a16="http://schemas.microsoft.com/office/drawing/2014/main" id="{42BBCC70-7D0F-2DD5-8FF6-A56F11CC85CC}"/>
                </a:ext>
              </a:extLst>
            </p:cNvPr>
            <p:cNvSpPr/>
            <p:nvPr/>
          </p:nvSpPr>
          <p:spPr>
            <a:xfrm>
              <a:off x="12620974" y="3582708"/>
              <a:ext cx="10972800" cy="914400"/>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err="1">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Jidoka</a:t>
              </a: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 and </a:t>
              </a:r>
              <a:r>
                <a:rPr kumimoji="0" lang="en-US" sz="2000" b="0" i="0" u="none" strike="noStrike" cap="none" spc="0" normalizeH="0" baseline="0" dirty="0" err="1">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Poka</a:t>
              </a: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 Yoke</a:t>
              </a:r>
            </a:p>
          </p:txBody>
        </p:sp>
        <p:sp>
          <p:nvSpPr>
            <p:cNvPr id="24" name="Rectangle 23">
              <a:extLst>
                <a:ext uri="{FF2B5EF4-FFF2-40B4-BE49-F238E27FC236}">
                  <a16:creationId xmlns:a16="http://schemas.microsoft.com/office/drawing/2014/main" id="{29F4381C-70CE-AA91-5383-92AEBE147D2D}"/>
                </a:ext>
              </a:extLst>
            </p:cNvPr>
            <p:cNvSpPr/>
            <p:nvPr/>
          </p:nvSpPr>
          <p:spPr>
            <a:xfrm>
              <a:off x="12620974" y="4955758"/>
              <a:ext cx="10972800" cy="914400"/>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SMED</a:t>
              </a:r>
            </a:p>
          </p:txBody>
        </p:sp>
        <p:sp>
          <p:nvSpPr>
            <p:cNvPr id="25" name="Rectangle 24">
              <a:extLst>
                <a:ext uri="{FF2B5EF4-FFF2-40B4-BE49-F238E27FC236}">
                  <a16:creationId xmlns:a16="http://schemas.microsoft.com/office/drawing/2014/main" id="{4DC4F5FC-D80C-F5BE-2885-A1E758F653A2}"/>
                </a:ext>
              </a:extLst>
            </p:cNvPr>
            <p:cNvSpPr/>
            <p:nvPr/>
          </p:nvSpPr>
          <p:spPr>
            <a:xfrm>
              <a:off x="12620974" y="6328808"/>
              <a:ext cx="10972800" cy="914400"/>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Total Productive Maintenance</a:t>
              </a:r>
            </a:p>
          </p:txBody>
        </p:sp>
        <p:sp>
          <p:nvSpPr>
            <p:cNvPr id="26" name="Rectangle 25">
              <a:extLst>
                <a:ext uri="{FF2B5EF4-FFF2-40B4-BE49-F238E27FC236}">
                  <a16:creationId xmlns:a16="http://schemas.microsoft.com/office/drawing/2014/main" id="{DCB08230-4BF6-0340-2AD2-5774E173F8D8}"/>
                </a:ext>
              </a:extLst>
            </p:cNvPr>
            <p:cNvSpPr/>
            <p:nvPr/>
          </p:nvSpPr>
          <p:spPr>
            <a:xfrm>
              <a:off x="1201607" y="7701858"/>
              <a:ext cx="10972800" cy="914400"/>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Problem Solving</a:t>
              </a:r>
            </a:p>
          </p:txBody>
        </p:sp>
        <p:sp>
          <p:nvSpPr>
            <p:cNvPr id="27" name="Rectangle 26">
              <a:extLst>
                <a:ext uri="{FF2B5EF4-FFF2-40B4-BE49-F238E27FC236}">
                  <a16:creationId xmlns:a16="http://schemas.microsoft.com/office/drawing/2014/main" id="{C71E133C-C2BA-B594-2F6B-16BADE5887AB}"/>
                </a:ext>
              </a:extLst>
            </p:cNvPr>
            <p:cNvSpPr/>
            <p:nvPr/>
          </p:nvSpPr>
          <p:spPr>
            <a:xfrm>
              <a:off x="1201607" y="9074908"/>
              <a:ext cx="10972800" cy="914400"/>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Production Preparation Process (3P)</a:t>
              </a:r>
            </a:p>
          </p:txBody>
        </p:sp>
        <p:sp>
          <p:nvSpPr>
            <p:cNvPr id="28" name="Rectangle 27">
              <a:extLst>
                <a:ext uri="{FF2B5EF4-FFF2-40B4-BE49-F238E27FC236}">
                  <a16:creationId xmlns:a16="http://schemas.microsoft.com/office/drawing/2014/main" id="{15D883AF-2D1C-40E5-E845-E5837FD30DA6}"/>
                </a:ext>
              </a:extLst>
            </p:cNvPr>
            <p:cNvSpPr/>
            <p:nvPr/>
          </p:nvSpPr>
          <p:spPr>
            <a:xfrm>
              <a:off x="12620974" y="7701858"/>
              <a:ext cx="10972800" cy="914400"/>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Cell Design</a:t>
              </a:r>
            </a:p>
          </p:txBody>
        </p:sp>
        <p:sp>
          <p:nvSpPr>
            <p:cNvPr id="29" name="Rectangle 28">
              <a:extLst>
                <a:ext uri="{FF2B5EF4-FFF2-40B4-BE49-F238E27FC236}">
                  <a16:creationId xmlns:a16="http://schemas.microsoft.com/office/drawing/2014/main" id="{4CF48DFE-0394-C9E2-90F5-0FC76FF180F8}"/>
                </a:ext>
              </a:extLst>
            </p:cNvPr>
            <p:cNvSpPr/>
            <p:nvPr/>
          </p:nvSpPr>
          <p:spPr>
            <a:xfrm>
              <a:off x="12620974" y="9074908"/>
              <a:ext cx="10972800" cy="914400"/>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Value Stream Mapping (VSM)</a:t>
              </a:r>
            </a:p>
          </p:txBody>
        </p:sp>
        <p:sp>
          <p:nvSpPr>
            <p:cNvPr id="30" name="Rectangle 29">
              <a:extLst>
                <a:ext uri="{FF2B5EF4-FFF2-40B4-BE49-F238E27FC236}">
                  <a16:creationId xmlns:a16="http://schemas.microsoft.com/office/drawing/2014/main" id="{56D8CAF3-483E-91B2-CF0D-AD5B718A4685}"/>
                </a:ext>
              </a:extLst>
            </p:cNvPr>
            <p:cNvSpPr/>
            <p:nvPr/>
          </p:nvSpPr>
          <p:spPr>
            <a:xfrm>
              <a:off x="1201607" y="10447958"/>
              <a:ext cx="10972800" cy="914400"/>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Transaction Process Improvement</a:t>
              </a:r>
            </a:p>
          </p:txBody>
        </p:sp>
      </p:grpSp>
      <p:sp>
        <p:nvSpPr>
          <p:cNvPr id="11" name="Rectangle 10">
            <a:extLst>
              <a:ext uri="{FF2B5EF4-FFF2-40B4-BE49-F238E27FC236}">
                <a16:creationId xmlns:a16="http://schemas.microsoft.com/office/drawing/2014/main" id="{A796E2EB-3ED3-2BFC-ABF7-076DC189B1BA}"/>
              </a:ext>
            </a:extLst>
          </p:cNvPr>
          <p:cNvSpPr/>
          <p:nvPr/>
        </p:nvSpPr>
        <p:spPr>
          <a:xfrm>
            <a:off x="6158292" y="5437410"/>
            <a:ext cx="5117764" cy="376811"/>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Managing Daily Process Excellence</a:t>
            </a:r>
          </a:p>
        </p:txBody>
      </p:sp>
      <p:sp>
        <p:nvSpPr>
          <p:cNvPr id="37" name="TextBox 36">
            <a:extLst>
              <a:ext uri="{FF2B5EF4-FFF2-40B4-BE49-F238E27FC236}">
                <a16:creationId xmlns:a16="http://schemas.microsoft.com/office/drawing/2014/main" id="{594A7D41-7F8E-945A-0440-81855C4622AF}"/>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Lean Fundamentals</a:t>
            </a:r>
          </a:p>
        </p:txBody>
      </p:sp>
      <p:sp>
        <p:nvSpPr>
          <p:cNvPr id="3" name="AutoShape 9">
            <a:extLst>
              <a:ext uri="{FF2B5EF4-FFF2-40B4-BE49-F238E27FC236}">
                <a16:creationId xmlns:a16="http://schemas.microsoft.com/office/drawing/2014/main" id="{7EFAC68D-95CE-5D52-1C2D-C1EAA58A93E7}"/>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6" name="AutoShape 11">
            <a:extLst>
              <a:ext uri="{FF2B5EF4-FFF2-40B4-BE49-F238E27FC236}">
                <a16:creationId xmlns:a16="http://schemas.microsoft.com/office/drawing/2014/main" id="{DA76278A-4134-2D0D-8178-3386036B30A5}"/>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10">
            <a:extLst>
              <a:ext uri="{FF2B5EF4-FFF2-40B4-BE49-F238E27FC236}">
                <a16:creationId xmlns:a16="http://schemas.microsoft.com/office/drawing/2014/main" id="{CD6FC814-5777-8AFF-F7C2-7A2BE61C1719}"/>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Tree>
    <p:extLst>
      <p:ext uri="{BB962C8B-B14F-4D97-AF65-F5344CB8AC3E}">
        <p14:creationId xmlns:p14="http://schemas.microsoft.com/office/powerpoint/2010/main" val="5395645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D59612-57A7-4226-15D4-E621CF0130AB}"/>
              </a:ext>
            </a:extLst>
          </p:cNvPr>
          <p:cNvSpPr>
            <a:spLocks noGrp="1"/>
          </p:cNvSpPr>
          <p:nvPr>
            <p:ph type="title"/>
          </p:nvPr>
        </p:nvSpPr>
        <p:spPr/>
        <p:txBody>
          <a:bodyPr>
            <a:normAutofit/>
          </a:bodyPr>
          <a:lstStyle/>
          <a:p>
            <a:r>
              <a:rPr lang="en-US" sz="4000" dirty="0">
                <a:latin typeface="Roboto Medium"/>
                <a:ea typeface="Roboto Medium"/>
                <a:cs typeface="Roboto Medium"/>
              </a:rPr>
              <a:t>CEDAC</a:t>
            </a:r>
            <a:endParaRPr lang="en-US" dirty="0"/>
          </a:p>
        </p:txBody>
      </p:sp>
      <p:sp>
        <p:nvSpPr>
          <p:cNvPr id="4" name="Footer Placeholder 3">
            <a:extLst>
              <a:ext uri="{FF2B5EF4-FFF2-40B4-BE49-F238E27FC236}">
                <a16:creationId xmlns:a16="http://schemas.microsoft.com/office/drawing/2014/main" id="{CB1F8C30-D81C-1E27-D266-2BC421C72FD6}"/>
              </a:ext>
            </a:extLst>
          </p:cNvPr>
          <p:cNvSpPr>
            <a:spLocks noGrp="1"/>
          </p:cNvSpPr>
          <p:nvPr>
            <p:ph type="ftr" sz="quarter" idx="11"/>
          </p:nvPr>
        </p:nvSpPr>
        <p:spPr/>
        <p:txBody>
          <a:bodyPr/>
          <a:lstStyle/>
          <a:p>
            <a:r>
              <a:rPr lang="en-US"/>
              <a:t>© Lean Horizons Consulting, LLC 2023. All Rights Reserved</a:t>
            </a:r>
            <a:endParaRPr lang="en-US" dirty="0"/>
          </a:p>
        </p:txBody>
      </p:sp>
      <p:sp>
        <p:nvSpPr>
          <p:cNvPr id="5" name="Slide Number Placeholder 4">
            <a:extLst>
              <a:ext uri="{FF2B5EF4-FFF2-40B4-BE49-F238E27FC236}">
                <a16:creationId xmlns:a16="http://schemas.microsoft.com/office/drawing/2014/main" id="{1AA34B74-93DA-5F21-CF4A-77FE692D026C}"/>
              </a:ext>
            </a:extLst>
          </p:cNvPr>
          <p:cNvSpPr>
            <a:spLocks noGrp="1"/>
          </p:cNvSpPr>
          <p:nvPr>
            <p:ph type="sldNum" sz="quarter" idx="12"/>
          </p:nvPr>
        </p:nvSpPr>
        <p:spPr/>
        <p:txBody>
          <a:bodyPr/>
          <a:lstStyle/>
          <a:p>
            <a:fld id="{CC6D4273-7FC1-0947-B9FE-19CB3C0D1FB6}" type="slidenum">
              <a:rPr lang="en-US" smtClean="0"/>
              <a:t>52</a:t>
            </a:fld>
            <a:endParaRPr lang="en-US"/>
          </a:p>
        </p:txBody>
      </p:sp>
      <p:sp>
        <p:nvSpPr>
          <p:cNvPr id="37" name="TextBox 36">
            <a:extLst>
              <a:ext uri="{FF2B5EF4-FFF2-40B4-BE49-F238E27FC236}">
                <a16:creationId xmlns:a16="http://schemas.microsoft.com/office/drawing/2014/main" id="{0FAB3950-B9FC-BE60-5118-2B23F7E52A69}"/>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Lean Fundamentals</a:t>
            </a:r>
          </a:p>
        </p:txBody>
      </p:sp>
      <p:grpSp>
        <p:nvGrpSpPr>
          <p:cNvPr id="24" name="Group 23">
            <a:extLst>
              <a:ext uri="{FF2B5EF4-FFF2-40B4-BE49-F238E27FC236}">
                <a16:creationId xmlns:a16="http://schemas.microsoft.com/office/drawing/2014/main" id="{2088A33A-7B32-8E6E-C1AD-9A5914433003}"/>
              </a:ext>
            </a:extLst>
          </p:cNvPr>
          <p:cNvGrpSpPr/>
          <p:nvPr/>
        </p:nvGrpSpPr>
        <p:grpSpPr>
          <a:xfrm>
            <a:off x="940250" y="1962380"/>
            <a:ext cx="8189911" cy="2209800"/>
            <a:chOff x="2170114" y="1679575"/>
            <a:chExt cx="8189911" cy="2209800"/>
          </a:xfrm>
        </p:grpSpPr>
        <p:grpSp>
          <p:nvGrpSpPr>
            <p:cNvPr id="11" name="Group 3">
              <a:extLst>
                <a:ext uri="{FF2B5EF4-FFF2-40B4-BE49-F238E27FC236}">
                  <a16:creationId xmlns:a16="http://schemas.microsoft.com/office/drawing/2014/main" id="{E5BFB489-EBF2-8885-DF3B-6EE804D12A4D}"/>
                </a:ext>
              </a:extLst>
            </p:cNvPr>
            <p:cNvGrpSpPr>
              <a:grpSpLocks/>
            </p:cNvGrpSpPr>
            <p:nvPr/>
          </p:nvGrpSpPr>
          <p:grpSpPr bwMode="auto">
            <a:xfrm>
              <a:off x="2170114" y="1828801"/>
              <a:ext cx="8189911" cy="466725"/>
              <a:chOff x="562" y="1785"/>
              <a:chExt cx="4831" cy="294"/>
            </a:xfrm>
          </p:grpSpPr>
          <p:sp>
            <p:nvSpPr>
              <p:cNvPr id="21" name="AutoShape 4">
                <a:extLst>
                  <a:ext uri="{FF2B5EF4-FFF2-40B4-BE49-F238E27FC236}">
                    <a16:creationId xmlns:a16="http://schemas.microsoft.com/office/drawing/2014/main" id="{4D1901AE-CB66-5468-0EC0-BCE11E407F6E}"/>
                  </a:ext>
                </a:extLst>
              </p:cNvPr>
              <p:cNvSpPr>
                <a:spLocks noChangeArrowheads="1"/>
              </p:cNvSpPr>
              <p:nvPr/>
            </p:nvSpPr>
            <p:spPr bwMode="auto">
              <a:xfrm>
                <a:off x="3660" y="1785"/>
                <a:ext cx="1733" cy="294"/>
              </a:xfrm>
              <a:prstGeom prst="homePlate">
                <a:avLst>
                  <a:gd name="adj" fmla="val 48603"/>
                </a:avLst>
              </a:prstGeom>
              <a:solidFill>
                <a:schemeClr val="accent1"/>
              </a:solidFill>
              <a:ln w="12700" cap="sq">
                <a:solidFill>
                  <a:schemeClr val="tx1"/>
                </a:solidFill>
                <a:miter lim="800000"/>
                <a:headEnd/>
                <a:tailEnd/>
              </a:ln>
            </p:spPr>
            <p:txBody>
              <a:bodyPr wrap="none" anchor="ctr"/>
              <a:lstStyle>
                <a:lvl1pPr>
                  <a:defRPr sz="900" b="1">
                    <a:solidFill>
                      <a:schemeClr val="bg1"/>
                    </a:solidFill>
                    <a:latin typeface="Arial" panose="020B0604020202020204" pitchFamily="34" charset="0"/>
                    <a:ea typeface="MS PGothic" panose="020B0600070205080204" pitchFamily="34" charset="-128"/>
                  </a:defRPr>
                </a:lvl1pPr>
                <a:lvl2pPr marL="742950" indent="-285750">
                  <a:defRPr sz="900" b="1">
                    <a:solidFill>
                      <a:schemeClr val="bg1"/>
                    </a:solidFill>
                    <a:latin typeface="Arial" panose="020B0604020202020204" pitchFamily="34" charset="0"/>
                    <a:ea typeface="MS PGothic" panose="020B0600070205080204" pitchFamily="34" charset="-128"/>
                  </a:defRPr>
                </a:lvl2pPr>
                <a:lvl3pPr marL="1143000" indent="-228600">
                  <a:defRPr sz="900" b="1">
                    <a:solidFill>
                      <a:schemeClr val="bg1"/>
                    </a:solidFill>
                    <a:latin typeface="Arial" panose="020B0604020202020204" pitchFamily="34" charset="0"/>
                    <a:ea typeface="MS PGothic" panose="020B0600070205080204" pitchFamily="34" charset="-128"/>
                  </a:defRPr>
                </a:lvl3pPr>
                <a:lvl4pPr marL="1600200" indent="-228600">
                  <a:defRPr sz="900" b="1">
                    <a:solidFill>
                      <a:schemeClr val="bg1"/>
                    </a:solidFill>
                    <a:latin typeface="Arial" panose="020B0604020202020204" pitchFamily="34" charset="0"/>
                    <a:ea typeface="MS PGothic" panose="020B0600070205080204" pitchFamily="34" charset="-128"/>
                  </a:defRPr>
                </a:lvl4pPr>
                <a:lvl5pPr marL="2057400" indent="-228600">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ctr"/>
                <a:r>
                  <a:rPr lang="en-US" altLang="en-US" sz="1800" dirty="0">
                    <a:latin typeface="Roboto" panose="02000000000000000000" pitchFamily="2" charset="0"/>
                    <a:ea typeface="Roboto" panose="02000000000000000000" pitchFamily="2" charset="0"/>
                    <a:cs typeface="Roboto" panose="02000000000000000000" pitchFamily="2" charset="0"/>
                  </a:rPr>
                  <a:t>    Expected Outcomes</a:t>
                </a:r>
              </a:p>
            </p:txBody>
          </p:sp>
          <p:sp>
            <p:nvSpPr>
              <p:cNvPr id="22" name="AutoShape 5">
                <a:extLst>
                  <a:ext uri="{FF2B5EF4-FFF2-40B4-BE49-F238E27FC236}">
                    <a16:creationId xmlns:a16="http://schemas.microsoft.com/office/drawing/2014/main" id="{F3607C71-E0C2-6480-BC5E-B985B47F501C}"/>
                  </a:ext>
                </a:extLst>
              </p:cNvPr>
              <p:cNvSpPr>
                <a:spLocks noChangeArrowheads="1"/>
              </p:cNvSpPr>
              <p:nvPr/>
            </p:nvSpPr>
            <p:spPr bwMode="auto">
              <a:xfrm>
                <a:off x="2105" y="1785"/>
                <a:ext cx="1733" cy="294"/>
              </a:xfrm>
              <a:prstGeom prst="homePlate">
                <a:avLst>
                  <a:gd name="adj" fmla="val 48603"/>
                </a:avLst>
              </a:prstGeom>
              <a:solidFill>
                <a:srgbClr val="222222"/>
              </a:solidFill>
              <a:ln w="12700" cap="sq">
                <a:solidFill>
                  <a:schemeClr val="tx1"/>
                </a:solidFill>
                <a:miter lim="800000"/>
                <a:headEnd/>
                <a:tailEnd/>
              </a:ln>
            </p:spPr>
            <p:txBody>
              <a:bodyPr wrap="none" anchor="ctr"/>
              <a:lstStyle>
                <a:lvl1pPr>
                  <a:defRPr sz="900" b="1">
                    <a:solidFill>
                      <a:schemeClr val="bg1"/>
                    </a:solidFill>
                    <a:latin typeface="Arial" panose="020B0604020202020204" pitchFamily="34" charset="0"/>
                    <a:ea typeface="MS PGothic" panose="020B0600070205080204" pitchFamily="34" charset="-128"/>
                  </a:defRPr>
                </a:lvl1pPr>
                <a:lvl2pPr marL="742950" indent="-285750">
                  <a:defRPr sz="900" b="1">
                    <a:solidFill>
                      <a:schemeClr val="bg1"/>
                    </a:solidFill>
                    <a:latin typeface="Arial" panose="020B0604020202020204" pitchFamily="34" charset="0"/>
                    <a:ea typeface="MS PGothic" panose="020B0600070205080204" pitchFamily="34" charset="-128"/>
                  </a:defRPr>
                </a:lvl2pPr>
                <a:lvl3pPr marL="1143000" indent="-228600">
                  <a:defRPr sz="900" b="1">
                    <a:solidFill>
                      <a:schemeClr val="bg1"/>
                    </a:solidFill>
                    <a:latin typeface="Arial" panose="020B0604020202020204" pitchFamily="34" charset="0"/>
                    <a:ea typeface="MS PGothic" panose="020B0600070205080204" pitchFamily="34" charset="-128"/>
                  </a:defRPr>
                </a:lvl3pPr>
                <a:lvl4pPr marL="1600200" indent="-228600">
                  <a:defRPr sz="900" b="1">
                    <a:solidFill>
                      <a:schemeClr val="bg1"/>
                    </a:solidFill>
                    <a:latin typeface="Arial" panose="020B0604020202020204" pitchFamily="34" charset="0"/>
                    <a:ea typeface="MS PGothic" panose="020B0600070205080204" pitchFamily="34" charset="-128"/>
                  </a:defRPr>
                </a:lvl4pPr>
                <a:lvl5pPr marL="2057400" indent="-228600">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ctr"/>
                <a:r>
                  <a:rPr lang="en-US" altLang="en-US" sz="1800" dirty="0">
                    <a:latin typeface="Roboto" panose="02000000000000000000" pitchFamily="2" charset="0"/>
                    <a:ea typeface="Roboto" panose="02000000000000000000" pitchFamily="2" charset="0"/>
                    <a:cs typeface="Roboto" panose="02000000000000000000" pitchFamily="2" charset="0"/>
                  </a:rPr>
                  <a:t>Benefits</a:t>
                </a:r>
              </a:p>
            </p:txBody>
          </p:sp>
          <p:sp>
            <p:nvSpPr>
              <p:cNvPr id="23" name="AutoShape 6">
                <a:extLst>
                  <a:ext uri="{FF2B5EF4-FFF2-40B4-BE49-F238E27FC236}">
                    <a16:creationId xmlns:a16="http://schemas.microsoft.com/office/drawing/2014/main" id="{269D0EFA-CBFB-9570-5C08-B2FBE4737F13}"/>
                  </a:ext>
                </a:extLst>
              </p:cNvPr>
              <p:cNvSpPr>
                <a:spLocks noChangeArrowheads="1"/>
              </p:cNvSpPr>
              <p:nvPr/>
            </p:nvSpPr>
            <p:spPr bwMode="auto">
              <a:xfrm>
                <a:off x="562" y="1785"/>
                <a:ext cx="1733" cy="294"/>
              </a:xfrm>
              <a:prstGeom prst="homePlate">
                <a:avLst>
                  <a:gd name="adj" fmla="val 48603"/>
                </a:avLst>
              </a:prstGeom>
              <a:solidFill>
                <a:schemeClr val="bg1">
                  <a:lumMod val="50000"/>
                </a:schemeClr>
              </a:solidFill>
              <a:ln w="12700" cap="sq">
                <a:solidFill>
                  <a:schemeClr val="tx1"/>
                </a:solidFill>
                <a:miter lim="800000"/>
                <a:headEnd/>
                <a:tailEnd/>
              </a:ln>
            </p:spPr>
            <p:txBody>
              <a:bodyPr wrap="none" anchor="ctr"/>
              <a:lstStyle>
                <a:lvl1pPr>
                  <a:defRPr sz="900" b="1">
                    <a:solidFill>
                      <a:schemeClr val="bg1"/>
                    </a:solidFill>
                    <a:latin typeface="Arial" panose="020B0604020202020204" pitchFamily="34" charset="0"/>
                    <a:ea typeface="MS PGothic" panose="020B0600070205080204" pitchFamily="34" charset="-128"/>
                  </a:defRPr>
                </a:lvl1pPr>
                <a:lvl2pPr marL="742950" indent="-285750">
                  <a:defRPr sz="900" b="1">
                    <a:solidFill>
                      <a:schemeClr val="bg1"/>
                    </a:solidFill>
                    <a:latin typeface="Arial" panose="020B0604020202020204" pitchFamily="34" charset="0"/>
                    <a:ea typeface="MS PGothic" panose="020B0600070205080204" pitchFamily="34" charset="-128"/>
                  </a:defRPr>
                </a:lvl2pPr>
                <a:lvl3pPr marL="1143000" indent="-228600">
                  <a:defRPr sz="900" b="1">
                    <a:solidFill>
                      <a:schemeClr val="bg1"/>
                    </a:solidFill>
                    <a:latin typeface="Arial" panose="020B0604020202020204" pitchFamily="34" charset="0"/>
                    <a:ea typeface="MS PGothic" panose="020B0600070205080204" pitchFamily="34" charset="-128"/>
                  </a:defRPr>
                </a:lvl3pPr>
                <a:lvl4pPr marL="1600200" indent="-228600">
                  <a:defRPr sz="900" b="1">
                    <a:solidFill>
                      <a:schemeClr val="bg1"/>
                    </a:solidFill>
                    <a:latin typeface="Arial" panose="020B0604020202020204" pitchFamily="34" charset="0"/>
                    <a:ea typeface="MS PGothic" panose="020B0600070205080204" pitchFamily="34" charset="-128"/>
                  </a:defRPr>
                </a:lvl4pPr>
                <a:lvl5pPr marL="2057400" indent="-228600">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ctr"/>
                <a:r>
                  <a:rPr lang="en-US" altLang="en-US" sz="1800" dirty="0">
                    <a:latin typeface="Roboto" panose="02000000000000000000" pitchFamily="2" charset="0"/>
                    <a:ea typeface="Roboto" panose="02000000000000000000" pitchFamily="2" charset="0"/>
                    <a:cs typeface="Roboto" panose="02000000000000000000" pitchFamily="2" charset="0"/>
                  </a:rPr>
                  <a:t>Definition</a:t>
                </a:r>
              </a:p>
            </p:txBody>
          </p:sp>
        </p:grpSp>
        <p:sp>
          <p:nvSpPr>
            <p:cNvPr id="12" name="Rectangle 7">
              <a:extLst>
                <a:ext uri="{FF2B5EF4-FFF2-40B4-BE49-F238E27FC236}">
                  <a16:creationId xmlns:a16="http://schemas.microsoft.com/office/drawing/2014/main" id="{206B65A0-555C-6BC8-0BDF-E17F5F15CD65}"/>
                </a:ext>
              </a:extLst>
            </p:cNvPr>
            <p:cNvSpPr>
              <a:spLocks noChangeArrowheads="1"/>
            </p:cNvSpPr>
            <p:nvPr/>
          </p:nvSpPr>
          <p:spPr bwMode="auto">
            <a:xfrm>
              <a:off x="2174876" y="2346326"/>
              <a:ext cx="2716213" cy="1535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tabLst>
                  <a:tab pos="3086100" algn="l"/>
                </a:tabLst>
                <a:defRPr sz="900" b="1">
                  <a:solidFill>
                    <a:schemeClr val="bg1"/>
                  </a:solidFill>
                  <a:latin typeface="Arial" panose="020B0604020202020204" pitchFamily="34" charset="0"/>
                  <a:ea typeface="MS PGothic" panose="020B0600070205080204" pitchFamily="34" charset="-128"/>
                </a:defRPr>
              </a:lvl1pPr>
              <a:lvl2pPr marL="742950" indent="-285750">
                <a:tabLst>
                  <a:tab pos="3086100" algn="l"/>
                </a:tabLst>
                <a:defRPr sz="900" b="1">
                  <a:solidFill>
                    <a:schemeClr val="bg1"/>
                  </a:solidFill>
                  <a:latin typeface="Arial" panose="020B0604020202020204" pitchFamily="34" charset="0"/>
                  <a:ea typeface="MS PGothic" panose="020B0600070205080204" pitchFamily="34" charset="-128"/>
                </a:defRPr>
              </a:lvl2pPr>
              <a:lvl3pPr marL="1143000" indent="-228600">
                <a:tabLst>
                  <a:tab pos="3086100" algn="l"/>
                </a:tabLst>
                <a:defRPr sz="900" b="1">
                  <a:solidFill>
                    <a:schemeClr val="bg1"/>
                  </a:solidFill>
                  <a:latin typeface="Arial" panose="020B0604020202020204" pitchFamily="34" charset="0"/>
                  <a:ea typeface="MS PGothic" panose="020B0600070205080204" pitchFamily="34" charset="-128"/>
                </a:defRPr>
              </a:lvl3pPr>
              <a:lvl4pPr marL="1600200" indent="-228600">
                <a:tabLst>
                  <a:tab pos="3086100" algn="l"/>
                </a:tabLst>
                <a:defRPr sz="900" b="1">
                  <a:solidFill>
                    <a:schemeClr val="bg1"/>
                  </a:solidFill>
                  <a:latin typeface="Arial" panose="020B0604020202020204" pitchFamily="34" charset="0"/>
                  <a:ea typeface="MS PGothic" panose="020B0600070205080204" pitchFamily="34" charset="-128"/>
                </a:defRPr>
              </a:lvl4pPr>
              <a:lvl5pPr marL="2057400" indent="-228600">
                <a:tabLst>
                  <a:tab pos="3086100" algn="l"/>
                </a:tabLst>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Aft>
                  <a:spcPct val="20000"/>
                </a:spcAft>
                <a:buClr>
                  <a:schemeClr val="bg1"/>
                </a:buClr>
                <a:buSzPct val="40000"/>
                <a:buFont typeface="Wingdings" panose="05000000000000000000" pitchFamily="2" charset="2"/>
                <a:buChar char="n"/>
              </a:pPr>
              <a:r>
                <a:rPr lang="en-US" altLang="en-US" sz="1600" dirty="0">
                  <a:solidFill>
                    <a:schemeClr val="tx1"/>
                  </a:solidFill>
                  <a:latin typeface="Roboto" panose="02000000000000000000" pitchFamily="2" charset="0"/>
                  <a:ea typeface="Roboto" panose="02000000000000000000" pitchFamily="2" charset="0"/>
                  <a:cs typeface="Roboto" panose="02000000000000000000" pitchFamily="2" charset="0"/>
                </a:rPr>
                <a:t>A team-based problem solving approach</a:t>
              </a:r>
            </a:p>
            <a:p>
              <a:pPr algn="l" eaLnBrk="1" hangingPunct="1">
                <a:lnSpc>
                  <a:spcPct val="100000"/>
                </a:lnSpc>
                <a:spcAft>
                  <a:spcPct val="20000"/>
                </a:spcAft>
                <a:buClr>
                  <a:schemeClr val="bg1"/>
                </a:buClr>
                <a:buSzPct val="40000"/>
                <a:buFont typeface="Wingdings" panose="05000000000000000000" pitchFamily="2" charset="2"/>
                <a:buChar char="n"/>
              </a:pPr>
              <a:r>
                <a:rPr lang="en-US" altLang="en-US" sz="1600" dirty="0">
                  <a:solidFill>
                    <a:schemeClr val="tx1"/>
                  </a:solidFill>
                  <a:latin typeface="Roboto" panose="02000000000000000000" pitchFamily="2" charset="0"/>
                  <a:ea typeface="Roboto" panose="02000000000000000000" pitchFamily="2" charset="0"/>
                  <a:cs typeface="Roboto" panose="02000000000000000000" pitchFamily="2" charset="0"/>
                </a:rPr>
                <a:t>Used when you need to identify, explore, and display the possible causes and potential solutions to a specific problem or condition </a:t>
              </a:r>
            </a:p>
          </p:txBody>
        </p:sp>
        <p:sp>
          <p:nvSpPr>
            <p:cNvPr id="14" name="Rectangle 8">
              <a:extLst>
                <a:ext uri="{FF2B5EF4-FFF2-40B4-BE49-F238E27FC236}">
                  <a16:creationId xmlns:a16="http://schemas.microsoft.com/office/drawing/2014/main" id="{FC427E10-A253-1FC0-A9A8-65F894B160BF}"/>
                </a:ext>
              </a:extLst>
            </p:cNvPr>
            <p:cNvSpPr>
              <a:spLocks noChangeArrowheads="1"/>
            </p:cNvSpPr>
            <p:nvPr/>
          </p:nvSpPr>
          <p:spPr bwMode="auto">
            <a:xfrm>
              <a:off x="4935538" y="2354263"/>
              <a:ext cx="2527300" cy="1535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tabLst>
                  <a:tab pos="3086100" algn="l"/>
                </a:tabLst>
                <a:defRPr sz="900" b="1">
                  <a:solidFill>
                    <a:schemeClr val="bg1"/>
                  </a:solidFill>
                  <a:latin typeface="Arial" panose="020B0604020202020204" pitchFamily="34" charset="0"/>
                  <a:ea typeface="MS PGothic" panose="020B0600070205080204" pitchFamily="34" charset="-128"/>
                </a:defRPr>
              </a:lvl1pPr>
              <a:lvl2pPr marL="742950" indent="-285750">
                <a:tabLst>
                  <a:tab pos="3086100" algn="l"/>
                </a:tabLst>
                <a:defRPr sz="900" b="1">
                  <a:solidFill>
                    <a:schemeClr val="bg1"/>
                  </a:solidFill>
                  <a:latin typeface="Arial" panose="020B0604020202020204" pitchFamily="34" charset="0"/>
                  <a:ea typeface="MS PGothic" panose="020B0600070205080204" pitchFamily="34" charset="-128"/>
                </a:defRPr>
              </a:lvl2pPr>
              <a:lvl3pPr marL="1143000" indent="-228600">
                <a:tabLst>
                  <a:tab pos="3086100" algn="l"/>
                </a:tabLst>
                <a:defRPr sz="900" b="1">
                  <a:solidFill>
                    <a:schemeClr val="bg1"/>
                  </a:solidFill>
                  <a:latin typeface="Arial" panose="020B0604020202020204" pitchFamily="34" charset="0"/>
                  <a:ea typeface="MS PGothic" panose="020B0600070205080204" pitchFamily="34" charset="-128"/>
                </a:defRPr>
              </a:lvl3pPr>
              <a:lvl4pPr marL="1600200" indent="-228600">
                <a:tabLst>
                  <a:tab pos="3086100" algn="l"/>
                </a:tabLst>
                <a:defRPr sz="900" b="1">
                  <a:solidFill>
                    <a:schemeClr val="bg1"/>
                  </a:solidFill>
                  <a:latin typeface="Arial" panose="020B0604020202020204" pitchFamily="34" charset="0"/>
                  <a:ea typeface="MS PGothic" panose="020B0600070205080204" pitchFamily="34" charset="-128"/>
                </a:defRPr>
              </a:lvl4pPr>
              <a:lvl5pPr marL="2057400" indent="-228600">
                <a:tabLst>
                  <a:tab pos="3086100" algn="l"/>
                </a:tabLst>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Aft>
                  <a:spcPct val="20000"/>
                </a:spcAft>
                <a:buClr>
                  <a:schemeClr val="bg1"/>
                </a:buClr>
                <a:buSzPct val="40000"/>
                <a:buFont typeface="Wingdings" panose="05000000000000000000" pitchFamily="2" charset="2"/>
                <a:buChar char="n"/>
              </a:pPr>
              <a:r>
                <a:rPr lang="en-US" altLang="en-US" sz="1600" dirty="0">
                  <a:solidFill>
                    <a:schemeClr val="tx1"/>
                  </a:solidFill>
                  <a:latin typeface="Roboto" panose="02000000000000000000" pitchFamily="2" charset="0"/>
                  <a:ea typeface="Roboto" panose="02000000000000000000" pitchFamily="2" charset="0"/>
                  <a:cs typeface="Roboto" panose="02000000000000000000" pitchFamily="2" charset="0"/>
                </a:rPr>
                <a:t>Brings problem solving </a:t>
              </a:r>
              <a:r>
                <a:rPr lang="ja-JP" altLang="en-US" sz="1600">
                  <a:solidFill>
                    <a:schemeClr val="tx1"/>
                  </a:solidFill>
                  <a:latin typeface="Roboto" panose="02000000000000000000" pitchFamily="2" charset="0"/>
                  <a:cs typeface="Roboto" panose="02000000000000000000" pitchFamily="2" charset="0"/>
                </a:rPr>
                <a:t>“</a:t>
              </a:r>
              <a:r>
                <a:rPr lang="en-US" altLang="ja-JP" sz="1600" dirty="0">
                  <a:solidFill>
                    <a:schemeClr val="tx1"/>
                  </a:solidFill>
                  <a:latin typeface="Roboto" panose="02000000000000000000" pitchFamily="2" charset="0"/>
                  <a:ea typeface="Roboto" panose="02000000000000000000" pitchFamily="2" charset="0"/>
                  <a:cs typeface="Roboto" panose="02000000000000000000" pitchFamily="2" charset="0"/>
                </a:rPr>
                <a:t>out of the meeting room</a:t>
              </a:r>
              <a:r>
                <a:rPr lang="ja-JP" altLang="en-US" sz="1600">
                  <a:solidFill>
                    <a:schemeClr val="tx1"/>
                  </a:solidFill>
                  <a:latin typeface="Roboto" panose="02000000000000000000" pitchFamily="2" charset="0"/>
                  <a:cs typeface="Roboto" panose="02000000000000000000" pitchFamily="2" charset="0"/>
                </a:rPr>
                <a:t>”</a:t>
              </a:r>
              <a:endParaRPr lang="en-US" altLang="ja-JP" sz="1600" dirty="0">
                <a:solidFill>
                  <a:schemeClr val="tx1"/>
                </a:solidFill>
                <a:latin typeface="Roboto" panose="02000000000000000000" pitchFamily="2" charset="0"/>
                <a:ea typeface="Roboto" panose="02000000000000000000" pitchFamily="2" charset="0"/>
                <a:cs typeface="Roboto" panose="02000000000000000000" pitchFamily="2" charset="0"/>
              </a:endParaRPr>
            </a:p>
            <a:p>
              <a:pPr algn="l" eaLnBrk="1" hangingPunct="1">
                <a:lnSpc>
                  <a:spcPct val="100000"/>
                </a:lnSpc>
                <a:spcAft>
                  <a:spcPct val="20000"/>
                </a:spcAft>
                <a:buClr>
                  <a:schemeClr val="bg1"/>
                </a:buClr>
                <a:buSzPct val="40000"/>
                <a:buFont typeface="Wingdings" panose="05000000000000000000" pitchFamily="2" charset="2"/>
                <a:buChar char="n"/>
              </a:pPr>
              <a:r>
                <a:rPr lang="en-US" altLang="en-US" sz="1600" dirty="0">
                  <a:solidFill>
                    <a:schemeClr val="tx1"/>
                  </a:solidFill>
                  <a:latin typeface="Roboto" panose="02000000000000000000" pitchFamily="2" charset="0"/>
                  <a:ea typeface="Roboto" panose="02000000000000000000" pitchFamily="2" charset="0"/>
                  <a:cs typeface="Roboto" panose="02000000000000000000" pitchFamily="2" charset="0"/>
                </a:rPr>
                <a:t>Involves everyone in the continuous improvement process</a:t>
              </a:r>
            </a:p>
            <a:p>
              <a:pPr algn="l" eaLnBrk="1" hangingPunct="1">
                <a:lnSpc>
                  <a:spcPct val="100000"/>
                </a:lnSpc>
                <a:spcAft>
                  <a:spcPct val="20000"/>
                </a:spcAft>
                <a:buClr>
                  <a:schemeClr val="bg1"/>
                </a:buClr>
                <a:buSzPct val="40000"/>
                <a:buFont typeface="Wingdings" panose="05000000000000000000" pitchFamily="2" charset="2"/>
                <a:buChar char="n"/>
              </a:pPr>
              <a:r>
                <a:rPr lang="en-US" altLang="en-US" sz="1600" dirty="0">
                  <a:solidFill>
                    <a:schemeClr val="tx1"/>
                  </a:solidFill>
                  <a:latin typeface="Roboto" panose="02000000000000000000" pitchFamily="2" charset="0"/>
                  <a:ea typeface="Roboto" panose="02000000000000000000" pitchFamily="2" charset="0"/>
                  <a:cs typeface="Roboto" panose="02000000000000000000" pitchFamily="2" charset="0"/>
                </a:rPr>
                <a:t>Covers every step in the problem solving process in one technique</a:t>
              </a:r>
            </a:p>
          </p:txBody>
        </p:sp>
        <p:sp>
          <p:nvSpPr>
            <p:cNvPr id="16" name="Rectangle 9">
              <a:extLst>
                <a:ext uri="{FF2B5EF4-FFF2-40B4-BE49-F238E27FC236}">
                  <a16:creationId xmlns:a16="http://schemas.microsoft.com/office/drawing/2014/main" id="{1C0DAE62-AA93-6A7B-8DF5-ECDFF451F52A}"/>
                </a:ext>
              </a:extLst>
            </p:cNvPr>
            <p:cNvSpPr>
              <a:spLocks noChangeArrowheads="1"/>
            </p:cNvSpPr>
            <p:nvPr/>
          </p:nvSpPr>
          <p:spPr bwMode="auto">
            <a:xfrm>
              <a:off x="7588250" y="2354263"/>
              <a:ext cx="2527300" cy="1535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tabLst>
                  <a:tab pos="3086100" algn="l"/>
                </a:tabLst>
                <a:defRPr sz="900" b="1">
                  <a:solidFill>
                    <a:schemeClr val="bg1"/>
                  </a:solidFill>
                  <a:latin typeface="Arial" panose="020B0604020202020204" pitchFamily="34" charset="0"/>
                  <a:ea typeface="MS PGothic" panose="020B0600070205080204" pitchFamily="34" charset="-128"/>
                </a:defRPr>
              </a:lvl1pPr>
              <a:lvl2pPr marL="742950" indent="-285750">
                <a:tabLst>
                  <a:tab pos="3086100" algn="l"/>
                </a:tabLst>
                <a:defRPr sz="900" b="1">
                  <a:solidFill>
                    <a:schemeClr val="bg1"/>
                  </a:solidFill>
                  <a:latin typeface="Arial" panose="020B0604020202020204" pitchFamily="34" charset="0"/>
                  <a:ea typeface="MS PGothic" panose="020B0600070205080204" pitchFamily="34" charset="-128"/>
                </a:defRPr>
              </a:lvl2pPr>
              <a:lvl3pPr marL="1143000" indent="-228600">
                <a:tabLst>
                  <a:tab pos="3086100" algn="l"/>
                </a:tabLst>
                <a:defRPr sz="900" b="1">
                  <a:solidFill>
                    <a:schemeClr val="bg1"/>
                  </a:solidFill>
                  <a:latin typeface="Arial" panose="020B0604020202020204" pitchFamily="34" charset="0"/>
                  <a:ea typeface="MS PGothic" panose="020B0600070205080204" pitchFamily="34" charset="-128"/>
                </a:defRPr>
              </a:lvl3pPr>
              <a:lvl4pPr marL="1600200" indent="-228600">
                <a:tabLst>
                  <a:tab pos="3086100" algn="l"/>
                </a:tabLst>
                <a:defRPr sz="900" b="1">
                  <a:solidFill>
                    <a:schemeClr val="bg1"/>
                  </a:solidFill>
                  <a:latin typeface="Arial" panose="020B0604020202020204" pitchFamily="34" charset="0"/>
                  <a:ea typeface="MS PGothic" panose="020B0600070205080204" pitchFamily="34" charset="-128"/>
                </a:defRPr>
              </a:lvl4pPr>
              <a:lvl5pPr marL="2057400" indent="-228600">
                <a:tabLst>
                  <a:tab pos="3086100" algn="l"/>
                </a:tabLst>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Aft>
                  <a:spcPct val="20000"/>
                </a:spcAft>
                <a:buClr>
                  <a:schemeClr val="bg1"/>
                </a:buClr>
                <a:buSzPct val="40000"/>
                <a:buFont typeface="Wingdings" panose="05000000000000000000" pitchFamily="2" charset="2"/>
                <a:buChar char="n"/>
              </a:pPr>
              <a:r>
                <a:rPr lang="en-US" altLang="en-US" sz="1600" dirty="0">
                  <a:solidFill>
                    <a:schemeClr val="tx1"/>
                  </a:solidFill>
                  <a:latin typeface="Roboto" panose="02000000000000000000" pitchFamily="2" charset="0"/>
                  <a:ea typeface="Roboto" panose="02000000000000000000" pitchFamily="2" charset="0"/>
                  <a:cs typeface="Roboto" panose="02000000000000000000" pitchFamily="2" charset="0"/>
                </a:rPr>
                <a:t>Effective brainstorming leads to implemented solutions targeted to specific problem</a:t>
              </a:r>
            </a:p>
          </p:txBody>
        </p:sp>
        <p:sp>
          <p:nvSpPr>
            <p:cNvPr id="18" name="Oval 10">
              <a:extLst>
                <a:ext uri="{FF2B5EF4-FFF2-40B4-BE49-F238E27FC236}">
                  <a16:creationId xmlns:a16="http://schemas.microsoft.com/office/drawing/2014/main" id="{4F15EDB3-A6C0-DC4A-1EBA-E7FF3CE65DAF}"/>
                </a:ext>
              </a:extLst>
            </p:cNvPr>
            <p:cNvSpPr>
              <a:spLocks noChangeArrowheads="1"/>
            </p:cNvSpPr>
            <p:nvPr/>
          </p:nvSpPr>
          <p:spPr bwMode="auto">
            <a:xfrm>
              <a:off x="2237658" y="1682750"/>
              <a:ext cx="323850" cy="287338"/>
            </a:xfrm>
            <a:prstGeom prst="ellipse">
              <a:avLst/>
            </a:prstGeom>
            <a:solidFill>
              <a:schemeClr val="bg1"/>
            </a:solidFill>
            <a:ln w="19050" cap="sq">
              <a:solidFill>
                <a:srgbClr val="000066"/>
              </a:solidFill>
              <a:round/>
              <a:headEnd/>
              <a:tailEnd/>
            </a:ln>
          </p:spPr>
          <p:txBody>
            <a:bodyPr wrap="none" anchor="ctr"/>
            <a:lstStyle>
              <a:lvl1pPr>
                <a:defRPr sz="900" b="1">
                  <a:solidFill>
                    <a:schemeClr val="bg1"/>
                  </a:solidFill>
                  <a:latin typeface="Arial" panose="020B0604020202020204" pitchFamily="34" charset="0"/>
                  <a:ea typeface="MS PGothic" panose="020B0600070205080204" pitchFamily="34" charset="-128"/>
                </a:defRPr>
              </a:lvl1pPr>
              <a:lvl2pPr marL="742950" indent="-285750">
                <a:defRPr sz="900" b="1">
                  <a:solidFill>
                    <a:schemeClr val="bg1"/>
                  </a:solidFill>
                  <a:latin typeface="Arial" panose="020B0604020202020204" pitchFamily="34" charset="0"/>
                  <a:ea typeface="MS PGothic" panose="020B0600070205080204" pitchFamily="34" charset="-128"/>
                </a:defRPr>
              </a:lvl2pPr>
              <a:lvl3pPr marL="1143000" indent="-228600">
                <a:defRPr sz="900" b="1">
                  <a:solidFill>
                    <a:schemeClr val="bg1"/>
                  </a:solidFill>
                  <a:latin typeface="Arial" panose="020B0604020202020204" pitchFamily="34" charset="0"/>
                  <a:ea typeface="MS PGothic" panose="020B0600070205080204" pitchFamily="34" charset="-128"/>
                </a:defRPr>
              </a:lvl3pPr>
              <a:lvl4pPr marL="1600200" indent="-228600">
                <a:defRPr sz="900" b="1">
                  <a:solidFill>
                    <a:schemeClr val="bg1"/>
                  </a:solidFill>
                  <a:latin typeface="Arial" panose="020B0604020202020204" pitchFamily="34" charset="0"/>
                  <a:ea typeface="MS PGothic" panose="020B0600070205080204" pitchFamily="34" charset="-128"/>
                </a:defRPr>
              </a:lvl4pPr>
              <a:lvl5pPr marL="2057400" indent="-228600">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ctr"/>
              <a:r>
                <a:rPr lang="en-US" altLang="en-US" sz="1600" dirty="0">
                  <a:solidFill>
                    <a:srgbClr val="000066"/>
                  </a:solidFill>
                  <a:latin typeface="Roboto" panose="02000000000000000000" pitchFamily="2" charset="0"/>
                  <a:ea typeface="Roboto" panose="02000000000000000000" pitchFamily="2" charset="0"/>
                  <a:cs typeface="Roboto" panose="02000000000000000000" pitchFamily="2" charset="0"/>
                </a:rPr>
                <a:t>1</a:t>
              </a:r>
            </a:p>
          </p:txBody>
        </p:sp>
        <p:sp>
          <p:nvSpPr>
            <p:cNvPr id="19" name="Oval 11">
              <a:extLst>
                <a:ext uri="{FF2B5EF4-FFF2-40B4-BE49-F238E27FC236}">
                  <a16:creationId xmlns:a16="http://schemas.microsoft.com/office/drawing/2014/main" id="{4FFA07FA-C0A1-EF60-EAAD-F556B852EB35}"/>
                </a:ext>
              </a:extLst>
            </p:cNvPr>
            <p:cNvSpPr>
              <a:spLocks noChangeArrowheads="1"/>
            </p:cNvSpPr>
            <p:nvPr/>
          </p:nvSpPr>
          <p:spPr bwMode="auto">
            <a:xfrm>
              <a:off x="4972050" y="1690689"/>
              <a:ext cx="323850" cy="287337"/>
            </a:xfrm>
            <a:prstGeom prst="ellipse">
              <a:avLst/>
            </a:prstGeom>
            <a:solidFill>
              <a:schemeClr val="bg1"/>
            </a:solidFill>
            <a:ln w="19050" cap="sq">
              <a:solidFill>
                <a:srgbClr val="000066"/>
              </a:solidFill>
              <a:round/>
              <a:headEnd/>
              <a:tailEnd/>
            </a:ln>
          </p:spPr>
          <p:txBody>
            <a:bodyPr wrap="none" anchor="ctr"/>
            <a:lstStyle>
              <a:lvl1pPr>
                <a:defRPr sz="900" b="1">
                  <a:solidFill>
                    <a:schemeClr val="bg1"/>
                  </a:solidFill>
                  <a:latin typeface="Arial" panose="020B0604020202020204" pitchFamily="34" charset="0"/>
                  <a:ea typeface="MS PGothic" panose="020B0600070205080204" pitchFamily="34" charset="-128"/>
                </a:defRPr>
              </a:lvl1pPr>
              <a:lvl2pPr marL="742950" indent="-285750">
                <a:defRPr sz="900" b="1">
                  <a:solidFill>
                    <a:schemeClr val="bg1"/>
                  </a:solidFill>
                  <a:latin typeface="Arial" panose="020B0604020202020204" pitchFamily="34" charset="0"/>
                  <a:ea typeface="MS PGothic" panose="020B0600070205080204" pitchFamily="34" charset="-128"/>
                </a:defRPr>
              </a:lvl2pPr>
              <a:lvl3pPr marL="1143000" indent="-228600">
                <a:defRPr sz="900" b="1">
                  <a:solidFill>
                    <a:schemeClr val="bg1"/>
                  </a:solidFill>
                  <a:latin typeface="Arial" panose="020B0604020202020204" pitchFamily="34" charset="0"/>
                  <a:ea typeface="MS PGothic" panose="020B0600070205080204" pitchFamily="34" charset="-128"/>
                </a:defRPr>
              </a:lvl3pPr>
              <a:lvl4pPr marL="1600200" indent="-228600">
                <a:defRPr sz="900" b="1">
                  <a:solidFill>
                    <a:schemeClr val="bg1"/>
                  </a:solidFill>
                  <a:latin typeface="Arial" panose="020B0604020202020204" pitchFamily="34" charset="0"/>
                  <a:ea typeface="MS PGothic" panose="020B0600070205080204" pitchFamily="34" charset="-128"/>
                </a:defRPr>
              </a:lvl4pPr>
              <a:lvl5pPr marL="2057400" indent="-228600">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ctr"/>
              <a:r>
                <a:rPr lang="en-US" altLang="en-US" sz="1600">
                  <a:solidFill>
                    <a:srgbClr val="000066"/>
                  </a:solidFill>
                  <a:latin typeface="Roboto" panose="02000000000000000000" pitchFamily="2" charset="0"/>
                  <a:ea typeface="Roboto" panose="02000000000000000000" pitchFamily="2" charset="0"/>
                  <a:cs typeface="Roboto" panose="02000000000000000000" pitchFamily="2" charset="0"/>
                </a:rPr>
                <a:t>2</a:t>
              </a:r>
            </a:p>
          </p:txBody>
        </p:sp>
        <p:sp>
          <p:nvSpPr>
            <p:cNvPr id="20" name="Oval 12">
              <a:extLst>
                <a:ext uri="{FF2B5EF4-FFF2-40B4-BE49-F238E27FC236}">
                  <a16:creationId xmlns:a16="http://schemas.microsoft.com/office/drawing/2014/main" id="{C4030C98-7721-9A61-FD59-6935CBEBF74F}"/>
                </a:ext>
              </a:extLst>
            </p:cNvPr>
            <p:cNvSpPr>
              <a:spLocks noChangeArrowheads="1"/>
            </p:cNvSpPr>
            <p:nvPr/>
          </p:nvSpPr>
          <p:spPr bwMode="auto">
            <a:xfrm>
              <a:off x="7494588" y="1679575"/>
              <a:ext cx="323850" cy="287338"/>
            </a:xfrm>
            <a:prstGeom prst="ellipse">
              <a:avLst/>
            </a:prstGeom>
            <a:solidFill>
              <a:schemeClr val="bg1"/>
            </a:solidFill>
            <a:ln w="19050" cap="sq">
              <a:solidFill>
                <a:srgbClr val="000066"/>
              </a:solidFill>
              <a:round/>
              <a:headEnd/>
              <a:tailEnd/>
            </a:ln>
          </p:spPr>
          <p:txBody>
            <a:bodyPr wrap="none" anchor="ctr"/>
            <a:lstStyle>
              <a:lvl1pPr>
                <a:defRPr sz="900" b="1">
                  <a:solidFill>
                    <a:schemeClr val="bg1"/>
                  </a:solidFill>
                  <a:latin typeface="Arial" panose="020B0604020202020204" pitchFamily="34" charset="0"/>
                  <a:ea typeface="MS PGothic" panose="020B0600070205080204" pitchFamily="34" charset="-128"/>
                </a:defRPr>
              </a:lvl1pPr>
              <a:lvl2pPr marL="742950" indent="-285750">
                <a:defRPr sz="900" b="1">
                  <a:solidFill>
                    <a:schemeClr val="bg1"/>
                  </a:solidFill>
                  <a:latin typeface="Arial" panose="020B0604020202020204" pitchFamily="34" charset="0"/>
                  <a:ea typeface="MS PGothic" panose="020B0600070205080204" pitchFamily="34" charset="-128"/>
                </a:defRPr>
              </a:lvl2pPr>
              <a:lvl3pPr marL="1143000" indent="-228600">
                <a:defRPr sz="900" b="1">
                  <a:solidFill>
                    <a:schemeClr val="bg1"/>
                  </a:solidFill>
                  <a:latin typeface="Arial" panose="020B0604020202020204" pitchFamily="34" charset="0"/>
                  <a:ea typeface="MS PGothic" panose="020B0600070205080204" pitchFamily="34" charset="-128"/>
                </a:defRPr>
              </a:lvl3pPr>
              <a:lvl4pPr marL="1600200" indent="-228600">
                <a:defRPr sz="900" b="1">
                  <a:solidFill>
                    <a:schemeClr val="bg1"/>
                  </a:solidFill>
                  <a:latin typeface="Arial" panose="020B0604020202020204" pitchFamily="34" charset="0"/>
                  <a:ea typeface="MS PGothic" panose="020B0600070205080204" pitchFamily="34" charset="-128"/>
                </a:defRPr>
              </a:lvl4pPr>
              <a:lvl5pPr marL="2057400" indent="-228600">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ctr"/>
              <a:r>
                <a:rPr lang="en-US" altLang="en-US" sz="1600">
                  <a:solidFill>
                    <a:srgbClr val="000066"/>
                  </a:solidFill>
                  <a:latin typeface="Roboto" panose="02000000000000000000" pitchFamily="2" charset="0"/>
                  <a:ea typeface="Roboto" panose="02000000000000000000" pitchFamily="2" charset="0"/>
                  <a:cs typeface="Roboto" panose="02000000000000000000" pitchFamily="2" charset="0"/>
                </a:rPr>
                <a:t>3</a:t>
              </a:r>
            </a:p>
          </p:txBody>
        </p:sp>
      </p:grpSp>
      <p:sp>
        <p:nvSpPr>
          <p:cNvPr id="3" name="AutoShape 9">
            <a:extLst>
              <a:ext uri="{FF2B5EF4-FFF2-40B4-BE49-F238E27FC236}">
                <a16:creationId xmlns:a16="http://schemas.microsoft.com/office/drawing/2014/main" id="{70D60762-DABE-6CD8-ADCC-3B543582DAB9}"/>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6" name="AutoShape 11">
            <a:extLst>
              <a:ext uri="{FF2B5EF4-FFF2-40B4-BE49-F238E27FC236}">
                <a16:creationId xmlns:a16="http://schemas.microsoft.com/office/drawing/2014/main" id="{A74F0026-659B-8D89-0AC7-8093EF222864}"/>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10">
            <a:extLst>
              <a:ext uri="{FF2B5EF4-FFF2-40B4-BE49-F238E27FC236}">
                <a16:creationId xmlns:a16="http://schemas.microsoft.com/office/drawing/2014/main" id="{839FAF85-6960-86A1-459E-ACC9EADF4786}"/>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Tree>
    <p:extLst>
      <p:ext uri="{BB962C8B-B14F-4D97-AF65-F5344CB8AC3E}">
        <p14:creationId xmlns:p14="http://schemas.microsoft.com/office/powerpoint/2010/main" val="349092614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D59612-57A7-4226-15D4-E621CF0130AB}"/>
              </a:ext>
            </a:extLst>
          </p:cNvPr>
          <p:cNvSpPr>
            <a:spLocks noGrp="1"/>
          </p:cNvSpPr>
          <p:nvPr>
            <p:ph type="title"/>
          </p:nvPr>
        </p:nvSpPr>
        <p:spPr/>
        <p:txBody>
          <a:bodyPr>
            <a:normAutofit/>
          </a:bodyPr>
          <a:lstStyle/>
          <a:p>
            <a:r>
              <a:rPr lang="en-US" sz="4000" dirty="0">
                <a:latin typeface="Roboto Medium"/>
                <a:ea typeface="Roboto Medium"/>
                <a:cs typeface="Roboto Medium"/>
              </a:rPr>
              <a:t>Waste Elimination Tools</a:t>
            </a:r>
          </a:p>
        </p:txBody>
      </p:sp>
      <p:sp>
        <p:nvSpPr>
          <p:cNvPr id="4" name="Footer Placeholder 3">
            <a:extLst>
              <a:ext uri="{FF2B5EF4-FFF2-40B4-BE49-F238E27FC236}">
                <a16:creationId xmlns:a16="http://schemas.microsoft.com/office/drawing/2014/main" id="{CB1F8C30-D81C-1E27-D266-2BC421C72FD6}"/>
              </a:ext>
            </a:extLst>
          </p:cNvPr>
          <p:cNvSpPr>
            <a:spLocks noGrp="1"/>
          </p:cNvSpPr>
          <p:nvPr>
            <p:ph type="ftr" sz="quarter" idx="11"/>
          </p:nvPr>
        </p:nvSpPr>
        <p:spPr/>
        <p:txBody>
          <a:bodyPr/>
          <a:lstStyle/>
          <a:p>
            <a:r>
              <a:rPr lang="en-US"/>
              <a:t>© Lean Horizons Consulting, LLC 2023. All Rights Reserved</a:t>
            </a:r>
            <a:endParaRPr lang="en-US" dirty="0"/>
          </a:p>
        </p:txBody>
      </p:sp>
      <p:sp>
        <p:nvSpPr>
          <p:cNvPr id="5" name="Slide Number Placeholder 4">
            <a:extLst>
              <a:ext uri="{FF2B5EF4-FFF2-40B4-BE49-F238E27FC236}">
                <a16:creationId xmlns:a16="http://schemas.microsoft.com/office/drawing/2014/main" id="{1AA34B74-93DA-5F21-CF4A-77FE692D026C}"/>
              </a:ext>
            </a:extLst>
          </p:cNvPr>
          <p:cNvSpPr>
            <a:spLocks noGrp="1"/>
          </p:cNvSpPr>
          <p:nvPr>
            <p:ph type="sldNum" sz="quarter" idx="12"/>
          </p:nvPr>
        </p:nvSpPr>
        <p:spPr/>
        <p:txBody>
          <a:bodyPr/>
          <a:lstStyle/>
          <a:p>
            <a:fld id="{CC6D4273-7FC1-0947-B9FE-19CB3C0D1FB6}" type="slidenum">
              <a:rPr lang="en-US" smtClean="0"/>
              <a:t>53</a:t>
            </a:fld>
            <a:endParaRPr lang="en-US"/>
          </a:p>
        </p:txBody>
      </p:sp>
      <p:grpSp>
        <p:nvGrpSpPr>
          <p:cNvPr id="17" name="Group 16">
            <a:extLst>
              <a:ext uri="{FF2B5EF4-FFF2-40B4-BE49-F238E27FC236}">
                <a16:creationId xmlns:a16="http://schemas.microsoft.com/office/drawing/2014/main" id="{370E2D67-D7AB-B197-3AFC-FE1AD0717D3B}"/>
              </a:ext>
            </a:extLst>
          </p:cNvPr>
          <p:cNvGrpSpPr/>
          <p:nvPr/>
        </p:nvGrpSpPr>
        <p:grpSpPr>
          <a:xfrm>
            <a:off x="874095" y="2042523"/>
            <a:ext cx="10443809" cy="3771699"/>
            <a:chOff x="1201607" y="2209658"/>
            <a:chExt cx="22392167" cy="9152700"/>
          </a:xfrm>
        </p:grpSpPr>
        <p:sp>
          <p:nvSpPr>
            <p:cNvPr id="18" name="Rectangle 17">
              <a:extLst>
                <a:ext uri="{FF2B5EF4-FFF2-40B4-BE49-F238E27FC236}">
                  <a16:creationId xmlns:a16="http://schemas.microsoft.com/office/drawing/2014/main" id="{D20F1A36-69B1-BB79-6BF6-C93AC874BD1C}"/>
                </a:ext>
              </a:extLst>
            </p:cNvPr>
            <p:cNvSpPr/>
            <p:nvPr/>
          </p:nvSpPr>
          <p:spPr>
            <a:xfrm>
              <a:off x="1201607" y="2209658"/>
              <a:ext cx="10972800" cy="914400"/>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58738" lvl="2" algn="l" defTabSz="584200"/>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Visual Management</a:t>
              </a:r>
            </a:p>
          </p:txBody>
        </p:sp>
        <p:sp>
          <p:nvSpPr>
            <p:cNvPr id="19" name="Rectangle 18">
              <a:extLst>
                <a:ext uri="{FF2B5EF4-FFF2-40B4-BE49-F238E27FC236}">
                  <a16:creationId xmlns:a16="http://schemas.microsoft.com/office/drawing/2014/main" id="{4B354A32-F11A-EC6B-FA55-F0AD6D424609}"/>
                </a:ext>
              </a:extLst>
            </p:cNvPr>
            <p:cNvSpPr/>
            <p:nvPr/>
          </p:nvSpPr>
          <p:spPr>
            <a:xfrm>
              <a:off x="1201607" y="3582708"/>
              <a:ext cx="10972800" cy="914400"/>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5S</a:t>
              </a:r>
            </a:p>
          </p:txBody>
        </p:sp>
        <p:sp>
          <p:nvSpPr>
            <p:cNvPr id="20" name="Rectangle 19">
              <a:extLst>
                <a:ext uri="{FF2B5EF4-FFF2-40B4-BE49-F238E27FC236}">
                  <a16:creationId xmlns:a16="http://schemas.microsoft.com/office/drawing/2014/main" id="{A1F828CC-F6DF-0463-F1BA-C6709B8ED0C5}"/>
                </a:ext>
              </a:extLst>
            </p:cNvPr>
            <p:cNvSpPr/>
            <p:nvPr/>
          </p:nvSpPr>
          <p:spPr>
            <a:xfrm>
              <a:off x="1201607" y="4955758"/>
              <a:ext cx="10972800" cy="914400"/>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Standard Work</a:t>
              </a:r>
            </a:p>
          </p:txBody>
        </p:sp>
        <p:sp>
          <p:nvSpPr>
            <p:cNvPr id="21" name="Rectangle 20">
              <a:extLst>
                <a:ext uri="{FF2B5EF4-FFF2-40B4-BE49-F238E27FC236}">
                  <a16:creationId xmlns:a16="http://schemas.microsoft.com/office/drawing/2014/main" id="{45E07FDE-E0CF-F967-4F1D-9E5D72243C02}"/>
                </a:ext>
              </a:extLst>
            </p:cNvPr>
            <p:cNvSpPr/>
            <p:nvPr/>
          </p:nvSpPr>
          <p:spPr>
            <a:xfrm>
              <a:off x="1201607" y="6328808"/>
              <a:ext cx="10972800" cy="914400"/>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Kanban</a:t>
              </a:r>
            </a:p>
          </p:txBody>
        </p:sp>
        <p:sp>
          <p:nvSpPr>
            <p:cNvPr id="22" name="Rectangle 21">
              <a:extLst>
                <a:ext uri="{FF2B5EF4-FFF2-40B4-BE49-F238E27FC236}">
                  <a16:creationId xmlns:a16="http://schemas.microsoft.com/office/drawing/2014/main" id="{F7A1A823-24E0-01DD-762F-8013148C49AD}"/>
                </a:ext>
              </a:extLst>
            </p:cNvPr>
            <p:cNvSpPr/>
            <p:nvPr/>
          </p:nvSpPr>
          <p:spPr>
            <a:xfrm>
              <a:off x="12620974" y="2209658"/>
              <a:ext cx="10972800" cy="914400"/>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CEDAC</a:t>
              </a:r>
            </a:p>
          </p:txBody>
        </p:sp>
        <p:sp>
          <p:nvSpPr>
            <p:cNvPr id="23" name="Rectangle 22">
              <a:extLst>
                <a:ext uri="{FF2B5EF4-FFF2-40B4-BE49-F238E27FC236}">
                  <a16:creationId xmlns:a16="http://schemas.microsoft.com/office/drawing/2014/main" id="{42BBCC70-7D0F-2DD5-8FF6-A56F11CC85CC}"/>
                </a:ext>
              </a:extLst>
            </p:cNvPr>
            <p:cNvSpPr/>
            <p:nvPr/>
          </p:nvSpPr>
          <p:spPr>
            <a:xfrm>
              <a:off x="12620974" y="3582708"/>
              <a:ext cx="10972800" cy="914400"/>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err="1">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Jidoka</a:t>
              </a: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 and </a:t>
              </a:r>
              <a:r>
                <a:rPr kumimoji="0" lang="en-US" sz="2000" b="0" i="0" u="none" strike="noStrike" cap="none" spc="0" normalizeH="0" baseline="0" dirty="0" err="1">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Poka</a:t>
              </a: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 Yoke</a:t>
              </a:r>
            </a:p>
          </p:txBody>
        </p:sp>
        <p:sp>
          <p:nvSpPr>
            <p:cNvPr id="24" name="Rectangle 23">
              <a:extLst>
                <a:ext uri="{FF2B5EF4-FFF2-40B4-BE49-F238E27FC236}">
                  <a16:creationId xmlns:a16="http://schemas.microsoft.com/office/drawing/2014/main" id="{29F4381C-70CE-AA91-5383-92AEBE147D2D}"/>
                </a:ext>
              </a:extLst>
            </p:cNvPr>
            <p:cNvSpPr/>
            <p:nvPr/>
          </p:nvSpPr>
          <p:spPr>
            <a:xfrm>
              <a:off x="12620974" y="4955758"/>
              <a:ext cx="10972800" cy="914400"/>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SMED</a:t>
              </a:r>
            </a:p>
          </p:txBody>
        </p:sp>
        <p:sp>
          <p:nvSpPr>
            <p:cNvPr id="25" name="Rectangle 24">
              <a:extLst>
                <a:ext uri="{FF2B5EF4-FFF2-40B4-BE49-F238E27FC236}">
                  <a16:creationId xmlns:a16="http://schemas.microsoft.com/office/drawing/2014/main" id="{4DC4F5FC-D80C-F5BE-2885-A1E758F653A2}"/>
                </a:ext>
              </a:extLst>
            </p:cNvPr>
            <p:cNvSpPr/>
            <p:nvPr/>
          </p:nvSpPr>
          <p:spPr>
            <a:xfrm>
              <a:off x="12620974" y="6328808"/>
              <a:ext cx="10972800" cy="914400"/>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Total Productive Maintenance</a:t>
              </a:r>
            </a:p>
          </p:txBody>
        </p:sp>
        <p:sp>
          <p:nvSpPr>
            <p:cNvPr id="26" name="Rectangle 25">
              <a:extLst>
                <a:ext uri="{FF2B5EF4-FFF2-40B4-BE49-F238E27FC236}">
                  <a16:creationId xmlns:a16="http://schemas.microsoft.com/office/drawing/2014/main" id="{DCB08230-4BF6-0340-2AD2-5774E173F8D8}"/>
                </a:ext>
              </a:extLst>
            </p:cNvPr>
            <p:cNvSpPr/>
            <p:nvPr/>
          </p:nvSpPr>
          <p:spPr>
            <a:xfrm>
              <a:off x="1201607" y="7701858"/>
              <a:ext cx="10972800" cy="914400"/>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Problem Solving</a:t>
              </a:r>
            </a:p>
          </p:txBody>
        </p:sp>
        <p:sp>
          <p:nvSpPr>
            <p:cNvPr id="27" name="Rectangle 26">
              <a:extLst>
                <a:ext uri="{FF2B5EF4-FFF2-40B4-BE49-F238E27FC236}">
                  <a16:creationId xmlns:a16="http://schemas.microsoft.com/office/drawing/2014/main" id="{C71E133C-C2BA-B594-2F6B-16BADE5887AB}"/>
                </a:ext>
              </a:extLst>
            </p:cNvPr>
            <p:cNvSpPr/>
            <p:nvPr/>
          </p:nvSpPr>
          <p:spPr>
            <a:xfrm>
              <a:off x="1201607" y="9074908"/>
              <a:ext cx="10972800" cy="914400"/>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Production Preparation Process (3P)</a:t>
              </a:r>
            </a:p>
          </p:txBody>
        </p:sp>
        <p:sp>
          <p:nvSpPr>
            <p:cNvPr id="28" name="Rectangle 27">
              <a:extLst>
                <a:ext uri="{FF2B5EF4-FFF2-40B4-BE49-F238E27FC236}">
                  <a16:creationId xmlns:a16="http://schemas.microsoft.com/office/drawing/2014/main" id="{15D883AF-2D1C-40E5-E845-E5837FD30DA6}"/>
                </a:ext>
              </a:extLst>
            </p:cNvPr>
            <p:cNvSpPr/>
            <p:nvPr/>
          </p:nvSpPr>
          <p:spPr>
            <a:xfrm>
              <a:off x="12620974" y="7701858"/>
              <a:ext cx="10972800" cy="914400"/>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Cell Design</a:t>
              </a:r>
            </a:p>
          </p:txBody>
        </p:sp>
        <p:sp>
          <p:nvSpPr>
            <p:cNvPr id="29" name="Rectangle 28">
              <a:extLst>
                <a:ext uri="{FF2B5EF4-FFF2-40B4-BE49-F238E27FC236}">
                  <a16:creationId xmlns:a16="http://schemas.microsoft.com/office/drawing/2014/main" id="{4CF48DFE-0394-C9E2-90F5-0FC76FF180F8}"/>
                </a:ext>
              </a:extLst>
            </p:cNvPr>
            <p:cNvSpPr/>
            <p:nvPr/>
          </p:nvSpPr>
          <p:spPr>
            <a:xfrm>
              <a:off x="12620974" y="9074908"/>
              <a:ext cx="10972800" cy="914400"/>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Value Stream Mapping (VSM)</a:t>
              </a:r>
            </a:p>
          </p:txBody>
        </p:sp>
        <p:sp>
          <p:nvSpPr>
            <p:cNvPr id="30" name="Rectangle 29">
              <a:extLst>
                <a:ext uri="{FF2B5EF4-FFF2-40B4-BE49-F238E27FC236}">
                  <a16:creationId xmlns:a16="http://schemas.microsoft.com/office/drawing/2014/main" id="{56D8CAF3-483E-91B2-CF0D-AD5B718A4685}"/>
                </a:ext>
              </a:extLst>
            </p:cNvPr>
            <p:cNvSpPr/>
            <p:nvPr/>
          </p:nvSpPr>
          <p:spPr>
            <a:xfrm>
              <a:off x="1201607" y="10447958"/>
              <a:ext cx="10972800" cy="914400"/>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Transaction Process Improvement</a:t>
              </a:r>
            </a:p>
          </p:txBody>
        </p:sp>
      </p:grpSp>
      <p:sp>
        <p:nvSpPr>
          <p:cNvPr id="11" name="Rectangle 10">
            <a:extLst>
              <a:ext uri="{FF2B5EF4-FFF2-40B4-BE49-F238E27FC236}">
                <a16:creationId xmlns:a16="http://schemas.microsoft.com/office/drawing/2014/main" id="{A796E2EB-3ED3-2BFC-ABF7-076DC189B1BA}"/>
              </a:ext>
            </a:extLst>
          </p:cNvPr>
          <p:cNvSpPr/>
          <p:nvPr/>
        </p:nvSpPr>
        <p:spPr>
          <a:xfrm>
            <a:off x="6194187" y="5437410"/>
            <a:ext cx="5117764" cy="376811"/>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Managing Daily Process Excellence</a:t>
            </a:r>
          </a:p>
        </p:txBody>
      </p:sp>
      <p:sp>
        <p:nvSpPr>
          <p:cNvPr id="33" name="TextBox 32">
            <a:extLst>
              <a:ext uri="{FF2B5EF4-FFF2-40B4-BE49-F238E27FC236}">
                <a16:creationId xmlns:a16="http://schemas.microsoft.com/office/drawing/2014/main" id="{4A57B8D9-C6F3-AA69-52B2-4414B5A23A04}"/>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Lean Fundamentals</a:t>
            </a:r>
          </a:p>
        </p:txBody>
      </p:sp>
      <p:sp>
        <p:nvSpPr>
          <p:cNvPr id="3" name="AutoShape 9">
            <a:extLst>
              <a:ext uri="{FF2B5EF4-FFF2-40B4-BE49-F238E27FC236}">
                <a16:creationId xmlns:a16="http://schemas.microsoft.com/office/drawing/2014/main" id="{86FDE939-AF58-8D50-E48B-ED36B550BA34}"/>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6" name="AutoShape 11">
            <a:extLst>
              <a:ext uri="{FF2B5EF4-FFF2-40B4-BE49-F238E27FC236}">
                <a16:creationId xmlns:a16="http://schemas.microsoft.com/office/drawing/2014/main" id="{1EAF09E9-3082-6E28-F6D7-CEB458DCB0BF}"/>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10">
            <a:extLst>
              <a:ext uri="{FF2B5EF4-FFF2-40B4-BE49-F238E27FC236}">
                <a16:creationId xmlns:a16="http://schemas.microsoft.com/office/drawing/2014/main" id="{CA3BEA48-DF95-E68A-0DB2-161C1411C352}"/>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Tree>
    <p:extLst>
      <p:ext uri="{BB962C8B-B14F-4D97-AF65-F5344CB8AC3E}">
        <p14:creationId xmlns:p14="http://schemas.microsoft.com/office/powerpoint/2010/main" val="105029932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D59612-57A7-4226-15D4-E621CF0130AB}"/>
              </a:ext>
            </a:extLst>
          </p:cNvPr>
          <p:cNvSpPr>
            <a:spLocks noGrp="1"/>
          </p:cNvSpPr>
          <p:nvPr>
            <p:ph type="title"/>
          </p:nvPr>
        </p:nvSpPr>
        <p:spPr/>
        <p:txBody>
          <a:bodyPr>
            <a:normAutofit/>
          </a:bodyPr>
          <a:lstStyle/>
          <a:p>
            <a:r>
              <a:rPr lang="en-US" sz="4000" dirty="0"/>
              <a:t>Poka-Yoke: Error-Proofing</a:t>
            </a:r>
          </a:p>
        </p:txBody>
      </p:sp>
      <p:sp>
        <p:nvSpPr>
          <p:cNvPr id="4" name="Footer Placeholder 3">
            <a:extLst>
              <a:ext uri="{FF2B5EF4-FFF2-40B4-BE49-F238E27FC236}">
                <a16:creationId xmlns:a16="http://schemas.microsoft.com/office/drawing/2014/main" id="{CB1F8C30-D81C-1E27-D266-2BC421C72FD6}"/>
              </a:ext>
            </a:extLst>
          </p:cNvPr>
          <p:cNvSpPr>
            <a:spLocks noGrp="1"/>
          </p:cNvSpPr>
          <p:nvPr>
            <p:ph type="ftr" sz="quarter" idx="11"/>
          </p:nvPr>
        </p:nvSpPr>
        <p:spPr/>
        <p:txBody>
          <a:bodyPr/>
          <a:lstStyle/>
          <a:p>
            <a:r>
              <a:rPr lang="en-US"/>
              <a:t>© Lean Horizons Consulting, LLC 2023. All Rights Reserved</a:t>
            </a:r>
            <a:endParaRPr lang="en-US" dirty="0"/>
          </a:p>
        </p:txBody>
      </p:sp>
      <p:sp>
        <p:nvSpPr>
          <p:cNvPr id="5" name="Slide Number Placeholder 4">
            <a:extLst>
              <a:ext uri="{FF2B5EF4-FFF2-40B4-BE49-F238E27FC236}">
                <a16:creationId xmlns:a16="http://schemas.microsoft.com/office/drawing/2014/main" id="{1AA34B74-93DA-5F21-CF4A-77FE692D026C}"/>
              </a:ext>
            </a:extLst>
          </p:cNvPr>
          <p:cNvSpPr>
            <a:spLocks noGrp="1"/>
          </p:cNvSpPr>
          <p:nvPr>
            <p:ph type="sldNum" sz="quarter" idx="12"/>
          </p:nvPr>
        </p:nvSpPr>
        <p:spPr/>
        <p:txBody>
          <a:bodyPr/>
          <a:lstStyle/>
          <a:p>
            <a:fld id="{CC6D4273-7FC1-0947-B9FE-19CB3C0D1FB6}" type="slidenum">
              <a:rPr lang="en-US" smtClean="0"/>
              <a:t>54</a:t>
            </a:fld>
            <a:endParaRPr lang="en-US"/>
          </a:p>
        </p:txBody>
      </p:sp>
      <p:sp>
        <p:nvSpPr>
          <p:cNvPr id="37" name="TextBox 36">
            <a:extLst>
              <a:ext uri="{FF2B5EF4-FFF2-40B4-BE49-F238E27FC236}">
                <a16:creationId xmlns:a16="http://schemas.microsoft.com/office/drawing/2014/main" id="{0FAB3950-B9FC-BE60-5118-2B23F7E52A69}"/>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Lean Fundamentals</a:t>
            </a:r>
          </a:p>
        </p:txBody>
      </p:sp>
      <p:grpSp>
        <p:nvGrpSpPr>
          <p:cNvPr id="6" name="Group 5">
            <a:extLst>
              <a:ext uri="{FF2B5EF4-FFF2-40B4-BE49-F238E27FC236}">
                <a16:creationId xmlns:a16="http://schemas.microsoft.com/office/drawing/2014/main" id="{8CDD8609-2F1A-731F-8E35-4F3438F6D62F}"/>
              </a:ext>
            </a:extLst>
          </p:cNvPr>
          <p:cNvGrpSpPr/>
          <p:nvPr/>
        </p:nvGrpSpPr>
        <p:grpSpPr>
          <a:xfrm>
            <a:off x="853631" y="1954705"/>
            <a:ext cx="8189914" cy="2209800"/>
            <a:chOff x="853631" y="1954705"/>
            <a:chExt cx="8189914" cy="2209800"/>
          </a:xfrm>
        </p:grpSpPr>
        <p:grpSp>
          <p:nvGrpSpPr>
            <p:cNvPr id="8" name="Group 7">
              <a:extLst>
                <a:ext uri="{FF2B5EF4-FFF2-40B4-BE49-F238E27FC236}">
                  <a16:creationId xmlns:a16="http://schemas.microsoft.com/office/drawing/2014/main" id="{8E2039E5-9ACD-CE76-1D47-26276BDA0977}"/>
                </a:ext>
              </a:extLst>
            </p:cNvPr>
            <p:cNvGrpSpPr>
              <a:grpSpLocks/>
            </p:cNvGrpSpPr>
            <p:nvPr/>
          </p:nvGrpSpPr>
          <p:grpSpPr bwMode="auto">
            <a:xfrm>
              <a:off x="853631" y="2103931"/>
              <a:ext cx="8189914" cy="466725"/>
              <a:chOff x="853454" y="2103931"/>
              <a:chExt cx="4831" cy="294"/>
            </a:xfrm>
          </p:grpSpPr>
          <p:sp>
            <p:nvSpPr>
              <p:cNvPr id="26" name="AutoShape 4">
                <a:extLst>
                  <a:ext uri="{FF2B5EF4-FFF2-40B4-BE49-F238E27FC236}">
                    <a16:creationId xmlns:a16="http://schemas.microsoft.com/office/drawing/2014/main" id="{9B471692-DADF-26B9-C858-442A0B428C80}"/>
                  </a:ext>
                </a:extLst>
              </p:cNvPr>
              <p:cNvSpPr>
                <a:spLocks noChangeArrowheads="1"/>
              </p:cNvSpPr>
              <p:nvPr/>
            </p:nvSpPr>
            <p:spPr bwMode="auto">
              <a:xfrm>
                <a:off x="856552" y="2103931"/>
                <a:ext cx="1733" cy="294"/>
              </a:xfrm>
              <a:prstGeom prst="homePlate">
                <a:avLst>
                  <a:gd name="adj" fmla="val 48603"/>
                </a:avLst>
              </a:prstGeom>
              <a:solidFill>
                <a:schemeClr val="accent1"/>
              </a:solidFill>
              <a:ln w="12700" cap="sq">
                <a:solidFill>
                  <a:schemeClr val="tx1"/>
                </a:solidFill>
                <a:miter lim="800000"/>
                <a:headEnd/>
                <a:tailEnd/>
              </a:ln>
            </p:spPr>
            <p:txBody>
              <a:bodyPr wrap="none" lIns="91440" tIns="45720" rIns="91440" bIns="4572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en-US" sz="1800" dirty="0">
                    <a:solidFill>
                      <a:schemeClr val="bg1"/>
                    </a:solidFill>
                    <a:latin typeface="Roboto Medium"/>
                    <a:ea typeface="MS PGothic"/>
                    <a:cs typeface="Roboto Medium"/>
                  </a:rPr>
                  <a:t>Examples</a:t>
                </a:r>
              </a:p>
            </p:txBody>
          </p:sp>
          <p:sp>
            <p:nvSpPr>
              <p:cNvPr id="27" name="AutoShape 5">
                <a:extLst>
                  <a:ext uri="{FF2B5EF4-FFF2-40B4-BE49-F238E27FC236}">
                    <a16:creationId xmlns:a16="http://schemas.microsoft.com/office/drawing/2014/main" id="{FFC95147-67E3-B4E9-7367-9AB16D5F5743}"/>
                  </a:ext>
                </a:extLst>
              </p:cNvPr>
              <p:cNvSpPr>
                <a:spLocks noChangeArrowheads="1"/>
              </p:cNvSpPr>
              <p:nvPr/>
            </p:nvSpPr>
            <p:spPr bwMode="auto">
              <a:xfrm>
                <a:off x="854997" y="2103931"/>
                <a:ext cx="1733" cy="294"/>
              </a:xfrm>
              <a:prstGeom prst="homePlate">
                <a:avLst>
                  <a:gd name="adj" fmla="val 48603"/>
                </a:avLst>
              </a:prstGeom>
              <a:solidFill>
                <a:srgbClr val="222222"/>
              </a:solidFill>
              <a:ln w="12700" cap="sq">
                <a:solidFill>
                  <a:schemeClr val="tx1"/>
                </a:solidFill>
                <a:miter lim="800000"/>
                <a:headEnd/>
                <a:tailEnd/>
              </a:ln>
            </p:spPr>
            <p:txBody>
              <a:bodyPr wrap="none" lIns="91440" tIns="45720" rIns="91440" bIns="4572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en-US" sz="1800" dirty="0" err="1">
                    <a:solidFill>
                      <a:schemeClr val="bg1"/>
                    </a:solidFill>
                    <a:latin typeface="Roboto Medium"/>
                    <a:ea typeface="MS PGothic"/>
                    <a:cs typeface="Roboto Medium"/>
                  </a:rPr>
                  <a:t>Jidoka</a:t>
                </a:r>
                <a:endParaRPr lang="en-US" altLang="en-US" sz="1800" dirty="0">
                  <a:solidFill>
                    <a:schemeClr val="bg1"/>
                  </a:solidFill>
                  <a:latin typeface="Roboto Medium"/>
                  <a:ea typeface="MS PGothic"/>
                  <a:cs typeface="Roboto Medium"/>
                </a:endParaRPr>
              </a:p>
            </p:txBody>
          </p:sp>
          <p:sp>
            <p:nvSpPr>
              <p:cNvPr id="28" name="AutoShape 6">
                <a:extLst>
                  <a:ext uri="{FF2B5EF4-FFF2-40B4-BE49-F238E27FC236}">
                    <a16:creationId xmlns:a16="http://schemas.microsoft.com/office/drawing/2014/main" id="{F915E3FE-DF9D-526E-3013-D7E4010CB97F}"/>
                  </a:ext>
                </a:extLst>
              </p:cNvPr>
              <p:cNvSpPr>
                <a:spLocks noChangeArrowheads="1"/>
              </p:cNvSpPr>
              <p:nvPr/>
            </p:nvSpPr>
            <p:spPr bwMode="auto">
              <a:xfrm>
                <a:off x="853454" y="2103931"/>
                <a:ext cx="1733" cy="294"/>
              </a:xfrm>
              <a:prstGeom prst="homePlate">
                <a:avLst>
                  <a:gd name="adj" fmla="val 48603"/>
                </a:avLst>
              </a:prstGeom>
              <a:solidFill>
                <a:schemeClr val="bg1">
                  <a:lumMod val="50000"/>
                </a:schemeClr>
              </a:solidFill>
              <a:ln w="12700" cap="sq">
                <a:solidFill>
                  <a:schemeClr val="tx1"/>
                </a:solidFill>
                <a:miter lim="800000"/>
                <a:headEnd/>
                <a:tailEnd/>
              </a:ln>
            </p:spPr>
            <p:txBody>
              <a:bodyPr wrap="none" lIns="91440" tIns="45720" rIns="91440" bIns="4572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en-US" sz="1800" dirty="0">
                    <a:solidFill>
                      <a:schemeClr val="bg1"/>
                    </a:solidFill>
                    <a:latin typeface="Roboto Medium"/>
                    <a:ea typeface="MS PGothic"/>
                    <a:cs typeface="Roboto Medium"/>
                  </a:rPr>
                  <a:t>Poka-Yoke</a:t>
                </a:r>
              </a:p>
            </p:txBody>
          </p:sp>
        </p:grpSp>
        <p:sp>
          <p:nvSpPr>
            <p:cNvPr id="9" name="Rectangle 8">
              <a:extLst>
                <a:ext uri="{FF2B5EF4-FFF2-40B4-BE49-F238E27FC236}">
                  <a16:creationId xmlns:a16="http://schemas.microsoft.com/office/drawing/2014/main" id="{CF47DD0F-623D-7C60-BD70-BF21297E71CD}"/>
                </a:ext>
              </a:extLst>
            </p:cNvPr>
            <p:cNvSpPr>
              <a:spLocks noChangeArrowheads="1"/>
            </p:cNvSpPr>
            <p:nvPr/>
          </p:nvSpPr>
          <p:spPr bwMode="auto">
            <a:xfrm>
              <a:off x="858216" y="2621456"/>
              <a:ext cx="2716212" cy="1535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eaLnBrk="1" hangingPunct="1">
                <a:lnSpc>
                  <a:spcPct val="100000"/>
                </a:lnSpc>
                <a:spcAft>
                  <a:spcPct val="20000"/>
                </a:spcAft>
                <a:buClr>
                  <a:schemeClr val="bg1"/>
                </a:buClr>
                <a:buSzPct val="90000"/>
                <a:buFont typeface="Wingdings" panose="05000000000000000000" pitchFamily="2" charset="2"/>
                <a:buChar char="§"/>
              </a:pPr>
              <a:r>
                <a:rPr lang="en-US" altLang="en-US" sz="1400" b="1" dirty="0">
                  <a:solidFill>
                    <a:schemeClr val="tx1">
                      <a:lumMod val="95000"/>
                      <a:lumOff val="5000"/>
                    </a:schemeClr>
                  </a:solidFill>
                  <a:latin typeface="Roboto"/>
                  <a:ea typeface="MS PGothic"/>
                  <a:cs typeface="Roboto"/>
                </a:rPr>
                <a:t>A Japanese term meaning, </a:t>
              </a:r>
              <a:r>
                <a:rPr lang="ja-JP" altLang="en-US" sz="1400" b="1">
                  <a:solidFill>
                    <a:schemeClr val="tx1">
                      <a:lumMod val="95000"/>
                      <a:lumOff val="5000"/>
                    </a:schemeClr>
                  </a:solidFill>
                  <a:latin typeface="Roboto"/>
                  <a:ea typeface="游ゴシック"/>
                  <a:cs typeface="Roboto"/>
                </a:rPr>
                <a:t>“</a:t>
              </a:r>
              <a:r>
                <a:rPr lang="en-US" altLang="ja-JP" sz="1400" b="1" dirty="0">
                  <a:solidFill>
                    <a:schemeClr val="tx1">
                      <a:lumMod val="95000"/>
                      <a:lumOff val="5000"/>
                    </a:schemeClr>
                  </a:solidFill>
                  <a:latin typeface="Roboto"/>
                  <a:ea typeface="MS PGothic"/>
                  <a:cs typeface="Roboto"/>
                </a:rPr>
                <a:t>mistake-proof</a:t>
              </a:r>
              <a:r>
                <a:rPr lang="ja-JP" altLang="en-US" sz="1400" b="1">
                  <a:solidFill>
                    <a:schemeClr val="tx1">
                      <a:lumMod val="95000"/>
                      <a:lumOff val="5000"/>
                    </a:schemeClr>
                  </a:solidFill>
                  <a:latin typeface="Roboto"/>
                  <a:ea typeface="游ゴシック"/>
                  <a:cs typeface="Roboto"/>
                </a:rPr>
                <a:t>”</a:t>
              </a:r>
              <a:endParaRPr lang="en-US" altLang="ja-JP" sz="1400" b="1">
                <a:solidFill>
                  <a:schemeClr val="tx1">
                    <a:lumMod val="95000"/>
                    <a:lumOff val="5000"/>
                  </a:schemeClr>
                </a:solidFill>
                <a:latin typeface="游ゴシック"/>
                <a:ea typeface="游ゴシック"/>
                <a:cs typeface="Roboto"/>
              </a:endParaRPr>
            </a:p>
            <a:p>
              <a:pPr lvl="1" algn="l" eaLnBrk="1" hangingPunct="1">
                <a:lnSpc>
                  <a:spcPct val="100000"/>
                </a:lnSpc>
                <a:spcAft>
                  <a:spcPct val="20000"/>
                </a:spcAft>
                <a:buClr>
                  <a:schemeClr val="bg1"/>
                </a:buClr>
                <a:buSzPct val="90000"/>
                <a:buFont typeface="Wingdings" panose="05000000000000000000" pitchFamily="2" charset="2"/>
                <a:buChar char="§"/>
              </a:pPr>
              <a:r>
                <a:rPr lang="en-US" altLang="en-US" sz="1400" b="1" dirty="0">
                  <a:solidFill>
                    <a:schemeClr val="tx1">
                      <a:lumMod val="95000"/>
                      <a:lumOff val="5000"/>
                    </a:schemeClr>
                  </a:solidFill>
                  <a:latin typeface="Roboto"/>
                  <a:ea typeface="MS PGothic"/>
                  <a:cs typeface="Roboto"/>
                </a:rPr>
                <a:t>Inadvertent errors (Poka)</a:t>
              </a:r>
            </a:p>
            <a:p>
              <a:pPr lvl="1" algn="l" eaLnBrk="1" hangingPunct="1">
                <a:lnSpc>
                  <a:spcPct val="100000"/>
                </a:lnSpc>
                <a:spcAft>
                  <a:spcPct val="20000"/>
                </a:spcAft>
                <a:buClr>
                  <a:schemeClr val="bg1"/>
                </a:buClr>
                <a:buSzPct val="90000"/>
                <a:buFont typeface="Wingdings" panose="05000000000000000000" pitchFamily="2" charset="2"/>
                <a:buChar char="§"/>
              </a:pPr>
              <a:r>
                <a:rPr lang="en-US" altLang="en-US" sz="1400" b="1" dirty="0">
                  <a:solidFill>
                    <a:schemeClr val="tx1">
                      <a:lumMod val="95000"/>
                      <a:lumOff val="5000"/>
                    </a:schemeClr>
                  </a:solidFill>
                  <a:latin typeface="Roboto"/>
                  <a:ea typeface="MS PGothic"/>
                  <a:cs typeface="Roboto"/>
                </a:rPr>
                <a:t>To avoid (</a:t>
              </a:r>
              <a:r>
                <a:rPr lang="en-US" altLang="en-US" sz="1400" b="1" dirty="0" err="1">
                  <a:solidFill>
                    <a:schemeClr val="tx1">
                      <a:lumMod val="95000"/>
                      <a:lumOff val="5000"/>
                    </a:schemeClr>
                  </a:solidFill>
                  <a:latin typeface="Roboto"/>
                  <a:ea typeface="MS PGothic"/>
                  <a:cs typeface="Roboto"/>
                </a:rPr>
                <a:t>yokeru</a:t>
              </a:r>
              <a:r>
                <a:rPr lang="en-US" altLang="en-US" sz="1400" b="1" dirty="0">
                  <a:solidFill>
                    <a:schemeClr val="tx1">
                      <a:lumMod val="95000"/>
                      <a:lumOff val="5000"/>
                    </a:schemeClr>
                  </a:solidFill>
                  <a:latin typeface="Roboto"/>
                  <a:ea typeface="MS PGothic"/>
                  <a:cs typeface="Roboto"/>
                </a:rPr>
                <a:t>)</a:t>
              </a:r>
            </a:p>
            <a:p>
              <a:pPr algn="l" eaLnBrk="1" hangingPunct="1">
                <a:lnSpc>
                  <a:spcPct val="100000"/>
                </a:lnSpc>
                <a:spcAft>
                  <a:spcPct val="20000"/>
                </a:spcAft>
                <a:buClr>
                  <a:schemeClr val="bg1"/>
                </a:buClr>
                <a:buSzPct val="90000"/>
                <a:buFont typeface="Wingdings" panose="05000000000000000000" pitchFamily="2" charset="2"/>
                <a:buChar char="§"/>
              </a:pPr>
              <a:r>
                <a:rPr lang="en-US" altLang="en-US" sz="1400" b="1" dirty="0">
                  <a:solidFill>
                    <a:schemeClr val="tx1">
                      <a:lumMod val="95000"/>
                      <a:lumOff val="5000"/>
                    </a:schemeClr>
                  </a:solidFill>
                  <a:latin typeface="Roboto"/>
                  <a:ea typeface="MS PGothic"/>
                  <a:cs typeface="Roboto"/>
                </a:rPr>
                <a:t>A method of designing processes that will prevent errors</a:t>
              </a:r>
            </a:p>
          </p:txBody>
        </p:sp>
        <p:sp>
          <p:nvSpPr>
            <p:cNvPr id="10" name="Rectangle 9">
              <a:extLst>
                <a:ext uri="{FF2B5EF4-FFF2-40B4-BE49-F238E27FC236}">
                  <a16:creationId xmlns:a16="http://schemas.microsoft.com/office/drawing/2014/main" id="{F5584E5B-4361-3F63-8FFF-0B8BE504D477}"/>
                </a:ext>
              </a:extLst>
            </p:cNvPr>
            <p:cNvSpPr>
              <a:spLocks noChangeArrowheads="1"/>
            </p:cNvSpPr>
            <p:nvPr/>
          </p:nvSpPr>
          <p:spPr bwMode="auto">
            <a:xfrm>
              <a:off x="3618878" y="2629393"/>
              <a:ext cx="2527300" cy="1535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eaLnBrk="1" hangingPunct="1">
                <a:lnSpc>
                  <a:spcPct val="100000"/>
                </a:lnSpc>
                <a:spcAft>
                  <a:spcPct val="20000"/>
                </a:spcAft>
                <a:buClr>
                  <a:schemeClr val="bg1"/>
                </a:buClr>
                <a:buSzPct val="90000"/>
                <a:buFont typeface="Wingdings" panose="05000000000000000000" pitchFamily="2" charset="2"/>
                <a:buChar char="§"/>
              </a:pPr>
              <a:r>
                <a:rPr lang="en-US" altLang="en-US" sz="1400" b="1" dirty="0">
                  <a:solidFill>
                    <a:schemeClr val="tx1">
                      <a:lumMod val="95000"/>
                      <a:lumOff val="5000"/>
                    </a:schemeClr>
                  </a:solidFill>
                  <a:latin typeface="Roboto"/>
                  <a:ea typeface="MS PGothic"/>
                  <a:cs typeface="Roboto"/>
                </a:rPr>
                <a:t>Also referred to as </a:t>
              </a:r>
              <a:r>
                <a:rPr lang="ja-JP" altLang="en-US" sz="1400" b="1">
                  <a:solidFill>
                    <a:schemeClr val="tx1">
                      <a:lumMod val="95000"/>
                      <a:lumOff val="5000"/>
                    </a:schemeClr>
                  </a:solidFill>
                  <a:latin typeface="Roboto"/>
                  <a:ea typeface="游ゴシック"/>
                  <a:cs typeface="Roboto"/>
                </a:rPr>
                <a:t>“</a:t>
              </a:r>
              <a:r>
                <a:rPr lang="en-US" altLang="ja-JP" sz="1400" b="1" dirty="0">
                  <a:solidFill>
                    <a:schemeClr val="tx1">
                      <a:lumMod val="95000"/>
                      <a:lumOff val="5000"/>
                    </a:schemeClr>
                  </a:solidFill>
                  <a:latin typeface="Roboto"/>
                  <a:ea typeface="MS PGothic"/>
                  <a:cs typeface="Roboto"/>
                </a:rPr>
                <a:t>autonomation</a:t>
              </a:r>
              <a:r>
                <a:rPr lang="ja-JP" altLang="en-US" sz="1400" b="1">
                  <a:solidFill>
                    <a:schemeClr val="tx1">
                      <a:lumMod val="95000"/>
                      <a:lumOff val="5000"/>
                    </a:schemeClr>
                  </a:solidFill>
                  <a:latin typeface="Roboto"/>
                  <a:ea typeface="游ゴシック"/>
                  <a:cs typeface="Roboto"/>
                </a:rPr>
                <a:t>”</a:t>
              </a:r>
              <a:r>
                <a:rPr lang="en-US" altLang="ja-JP" sz="1400" b="1" dirty="0">
                  <a:solidFill>
                    <a:schemeClr val="tx1">
                      <a:lumMod val="95000"/>
                      <a:lumOff val="5000"/>
                    </a:schemeClr>
                  </a:solidFill>
                  <a:latin typeface="Roboto"/>
                  <a:ea typeface="MS PGothic"/>
                  <a:cs typeface="Roboto"/>
                </a:rPr>
                <a:t>, means a method of transferring human intelligence to the process</a:t>
              </a:r>
            </a:p>
            <a:p>
              <a:pPr algn="l" eaLnBrk="1" hangingPunct="1">
                <a:lnSpc>
                  <a:spcPct val="100000"/>
                </a:lnSpc>
                <a:spcAft>
                  <a:spcPct val="20000"/>
                </a:spcAft>
                <a:buClr>
                  <a:schemeClr val="bg1"/>
                </a:buClr>
                <a:buSzPct val="90000"/>
                <a:buFont typeface="Wingdings" panose="05000000000000000000" pitchFamily="2" charset="2"/>
                <a:buChar char="§"/>
              </a:pPr>
              <a:r>
                <a:rPr lang="en-US" altLang="en-US" sz="1400" b="1" dirty="0">
                  <a:solidFill>
                    <a:schemeClr val="tx1">
                      <a:lumMod val="95000"/>
                      <a:lumOff val="5000"/>
                    </a:schemeClr>
                  </a:solidFill>
                  <a:latin typeface="Roboto"/>
                  <a:ea typeface="MS PGothic"/>
                  <a:cs typeface="Roboto"/>
                </a:rPr>
                <a:t>The process detects abnormalities and stops when detected</a:t>
              </a:r>
            </a:p>
          </p:txBody>
        </p:sp>
        <p:sp>
          <p:nvSpPr>
            <p:cNvPr id="13" name="Rectangle 12">
              <a:extLst>
                <a:ext uri="{FF2B5EF4-FFF2-40B4-BE49-F238E27FC236}">
                  <a16:creationId xmlns:a16="http://schemas.microsoft.com/office/drawing/2014/main" id="{01E74010-9689-ED7F-1A9E-C6F4A735E2DA}"/>
                </a:ext>
              </a:extLst>
            </p:cNvPr>
            <p:cNvSpPr>
              <a:spLocks noChangeArrowheads="1"/>
            </p:cNvSpPr>
            <p:nvPr/>
          </p:nvSpPr>
          <p:spPr bwMode="auto">
            <a:xfrm>
              <a:off x="6169992" y="2629393"/>
              <a:ext cx="2759075" cy="1535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eaLnBrk="1" hangingPunct="1">
                <a:lnSpc>
                  <a:spcPct val="100000"/>
                </a:lnSpc>
                <a:spcAft>
                  <a:spcPct val="20000"/>
                </a:spcAft>
                <a:buClr>
                  <a:schemeClr val="bg1"/>
                </a:buClr>
                <a:buSzPct val="90000"/>
                <a:buFont typeface="Wingdings" panose="05000000000000000000" pitchFamily="2" charset="2"/>
                <a:buChar char="§"/>
              </a:pPr>
              <a:r>
                <a:rPr lang="en-US" altLang="en-US" sz="1400" b="1" dirty="0">
                  <a:solidFill>
                    <a:schemeClr val="tx1">
                      <a:lumMod val="95000"/>
                      <a:lumOff val="5000"/>
                    </a:schemeClr>
                  </a:solidFill>
                  <a:latin typeface="Roboto"/>
                  <a:ea typeface="MS PGothic"/>
                  <a:cs typeface="Roboto"/>
                </a:rPr>
                <a:t>Computer diskettes can only be inserted into the drive one way</a:t>
              </a:r>
            </a:p>
            <a:p>
              <a:pPr algn="l" eaLnBrk="1" hangingPunct="1">
                <a:lnSpc>
                  <a:spcPct val="100000"/>
                </a:lnSpc>
                <a:spcAft>
                  <a:spcPct val="20000"/>
                </a:spcAft>
                <a:buClr>
                  <a:schemeClr val="bg1"/>
                </a:buClr>
                <a:buSzPct val="90000"/>
                <a:buFont typeface="Wingdings" panose="05000000000000000000" pitchFamily="2" charset="2"/>
                <a:buChar char="§"/>
              </a:pPr>
              <a:r>
                <a:rPr lang="en-US" altLang="en-US" sz="1400" b="1" dirty="0">
                  <a:solidFill>
                    <a:schemeClr val="tx1">
                      <a:lumMod val="95000"/>
                      <a:lumOff val="5000"/>
                    </a:schemeClr>
                  </a:solidFill>
                  <a:latin typeface="Roboto"/>
                  <a:ea typeface="MS PGothic"/>
                  <a:cs typeface="Roboto"/>
                </a:rPr>
                <a:t>Automatic seat belts</a:t>
              </a:r>
            </a:p>
            <a:p>
              <a:pPr algn="l" eaLnBrk="1" hangingPunct="1">
                <a:lnSpc>
                  <a:spcPct val="100000"/>
                </a:lnSpc>
                <a:spcAft>
                  <a:spcPct val="20000"/>
                </a:spcAft>
                <a:buClr>
                  <a:schemeClr val="bg1"/>
                </a:buClr>
                <a:buSzPct val="90000"/>
                <a:buFont typeface="Wingdings" panose="05000000000000000000" pitchFamily="2" charset="2"/>
                <a:buChar char="§"/>
              </a:pPr>
              <a:r>
                <a:rPr lang="en-US" altLang="en-US" sz="1400" b="1" dirty="0">
                  <a:solidFill>
                    <a:schemeClr val="tx1">
                      <a:lumMod val="95000"/>
                      <a:lumOff val="5000"/>
                    </a:schemeClr>
                  </a:solidFill>
                  <a:latin typeface="Roboto"/>
                  <a:ea typeface="MS PGothic"/>
                  <a:cs typeface="Roboto"/>
                </a:rPr>
                <a:t>Auto shut-off irons and other appliances</a:t>
              </a:r>
            </a:p>
            <a:p>
              <a:pPr algn="l" eaLnBrk="1" hangingPunct="1">
                <a:lnSpc>
                  <a:spcPct val="100000"/>
                </a:lnSpc>
                <a:spcAft>
                  <a:spcPct val="20000"/>
                </a:spcAft>
                <a:buClr>
                  <a:schemeClr val="bg1"/>
                </a:buClr>
                <a:buSzPct val="90000"/>
                <a:buFont typeface="Wingdings" panose="05000000000000000000" pitchFamily="2" charset="2"/>
                <a:buChar char="§"/>
              </a:pPr>
              <a:r>
                <a:rPr lang="en-US" altLang="en-US" sz="1400" b="1" dirty="0">
                  <a:solidFill>
                    <a:schemeClr val="tx1">
                      <a:lumMod val="95000"/>
                      <a:lumOff val="5000"/>
                    </a:schemeClr>
                  </a:solidFill>
                  <a:latin typeface="Roboto"/>
                  <a:ea typeface="MS PGothic"/>
                  <a:cs typeface="Roboto"/>
                </a:rPr>
                <a:t>Automatic sinks in public restrooms</a:t>
              </a:r>
            </a:p>
            <a:p>
              <a:pPr algn="l" eaLnBrk="1" hangingPunct="1">
                <a:lnSpc>
                  <a:spcPct val="100000"/>
                </a:lnSpc>
                <a:spcAft>
                  <a:spcPct val="20000"/>
                </a:spcAft>
                <a:buClr>
                  <a:schemeClr val="bg1"/>
                </a:buClr>
                <a:buSzPct val="90000"/>
                <a:buFont typeface="Wingdings" panose="05000000000000000000" pitchFamily="2" charset="2"/>
                <a:buChar char="§"/>
              </a:pPr>
              <a:r>
                <a:rPr lang="en-US" altLang="en-US" sz="1400" b="1" dirty="0">
                  <a:solidFill>
                    <a:schemeClr val="tx1">
                      <a:lumMod val="95000"/>
                      <a:lumOff val="5000"/>
                    </a:schemeClr>
                  </a:solidFill>
                  <a:latin typeface="Roboto"/>
                  <a:ea typeface="MS PGothic"/>
                  <a:cs typeface="Roboto"/>
                </a:rPr>
                <a:t>Low clearance barriers in parking garage</a:t>
              </a:r>
            </a:p>
          </p:txBody>
        </p:sp>
        <p:sp>
          <p:nvSpPr>
            <p:cNvPr id="15" name="Oval 14">
              <a:extLst>
                <a:ext uri="{FF2B5EF4-FFF2-40B4-BE49-F238E27FC236}">
                  <a16:creationId xmlns:a16="http://schemas.microsoft.com/office/drawing/2014/main" id="{ED76A277-80E4-E5ED-E867-35D74704C346}"/>
                </a:ext>
              </a:extLst>
            </p:cNvPr>
            <p:cNvSpPr>
              <a:spLocks noChangeArrowheads="1"/>
            </p:cNvSpPr>
            <p:nvPr/>
          </p:nvSpPr>
          <p:spPr bwMode="auto">
            <a:xfrm>
              <a:off x="983628" y="1957880"/>
              <a:ext cx="323850" cy="287338"/>
            </a:xfrm>
            <a:prstGeom prst="ellipse">
              <a:avLst/>
            </a:prstGeom>
            <a:solidFill>
              <a:schemeClr val="bg1"/>
            </a:solidFill>
            <a:ln w="19050" cap="sq">
              <a:solidFill>
                <a:srgbClr val="000066"/>
              </a:solidFill>
              <a:round/>
              <a:headEnd/>
              <a:tailEnd/>
            </a:ln>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en-US" sz="1600">
                  <a:solidFill>
                    <a:srgbClr val="000066"/>
                  </a:solidFill>
                </a:rPr>
                <a:t>1</a:t>
              </a:r>
            </a:p>
          </p:txBody>
        </p:sp>
        <p:sp>
          <p:nvSpPr>
            <p:cNvPr id="17" name="Oval 16">
              <a:extLst>
                <a:ext uri="{FF2B5EF4-FFF2-40B4-BE49-F238E27FC236}">
                  <a16:creationId xmlns:a16="http://schemas.microsoft.com/office/drawing/2014/main" id="{9F0A132E-A4C4-7F24-6960-DA67AA00C1A3}"/>
                </a:ext>
              </a:extLst>
            </p:cNvPr>
            <p:cNvSpPr>
              <a:spLocks noChangeArrowheads="1"/>
            </p:cNvSpPr>
            <p:nvPr/>
          </p:nvSpPr>
          <p:spPr bwMode="auto">
            <a:xfrm>
              <a:off x="3655391" y="1965819"/>
              <a:ext cx="323850" cy="287337"/>
            </a:xfrm>
            <a:prstGeom prst="ellipse">
              <a:avLst/>
            </a:prstGeom>
            <a:solidFill>
              <a:schemeClr val="bg1"/>
            </a:solidFill>
            <a:ln w="19050" cap="sq">
              <a:solidFill>
                <a:srgbClr val="000066"/>
              </a:solidFill>
              <a:round/>
              <a:headEnd/>
              <a:tailEnd/>
            </a:ln>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en-US" sz="1600">
                  <a:solidFill>
                    <a:srgbClr val="000066"/>
                  </a:solidFill>
                </a:rPr>
                <a:t>2</a:t>
              </a:r>
            </a:p>
          </p:txBody>
        </p:sp>
        <p:sp>
          <p:nvSpPr>
            <p:cNvPr id="25" name="Oval 24">
              <a:extLst>
                <a:ext uri="{FF2B5EF4-FFF2-40B4-BE49-F238E27FC236}">
                  <a16:creationId xmlns:a16="http://schemas.microsoft.com/office/drawing/2014/main" id="{41C1D740-E041-CB78-C3A3-20D8F865DF3D}"/>
                </a:ext>
              </a:extLst>
            </p:cNvPr>
            <p:cNvSpPr>
              <a:spLocks noChangeArrowheads="1"/>
            </p:cNvSpPr>
            <p:nvPr/>
          </p:nvSpPr>
          <p:spPr bwMode="auto">
            <a:xfrm>
              <a:off x="6177928" y="1954705"/>
              <a:ext cx="323850" cy="287338"/>
            </a:xfrm>
            <a:prstGeom prst="ellipse">
              <a:avLst/>
            </a:prstGeom>
            <a:solidFill>
              <a:schemeClr val="bg1"/>
            </a:solidFill>
            <a:ln w="19050" cap="sq">
              <a:solidFill>
                <a:srgbClr val="000066"/>
              </a:solidFill>
              <a:round/>
              <a:headEnd/>
              <a:tailEnd/>
            </a:ln>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en-US" sz="1600">
                  <a:solidFill>
                    <a:srgbClr val="000066"/>
                  </a:solidFill>
                </a:rPr>
                <a:t>3</a:t>
              </a:r>
            </a:p>
          </p:txBody>
        </p:sp>
      </p:grpSp>
      <p:sp>
        <p:nvSpPr>
          <p:cNvPr id="7" name="AutoShape 13">
            <a:extLst>
              <a:ext uri="{FF2B5EF4-FFF2-40B4-BE49-F238E27FC236}">
                <a16:creationId xmlns:a16="http://schemas.microsoft.com/office/drawing/2014/main" id="{90B42A9C-561C-4D25-0F86-84AD4C9EB2AD}"/>
              </a:ext>
            </a:extLst>
          </p:cNvPr>
          <p:cNvSpPr>
            <a:spLocks noChangeArrowheads="1"/>
          </p:cNvSpPr>
          <p:nvPr/>
        </p:nvSpPr>
        <p:spPr bwMode="auto">
          <a:xfrm>
            <a:off x="943712" y="5331137"/>
            <a:ext cx="8204200" cy="520700"/>
          </a:xfrm>
          <a:prstGeom prst="homePlate">
            <a:avLst>
              <a:gd name="adj" fmla="val 32169"/>
            </a:avLst>
          </a:prstGeom>
          <a:solidFill>
            <a:srgbClr val="FFB627"/>
          </a:solidFill>
          <a:ln w="12700" cap="sq">
            <a:noFill/>
            <a:miter lim="800000"/>
            <a:headEnd/>
            <a:tailEnd/>
          </a:ln>
        </p:spPr>
        <p:txBody>
          <a:bodyPr wrap="none" lIns="91440" tIns="45720" rIns="91440" bIns="4572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00000"/>
              </a:lnSpc>
              <a:spcBef>
                <a:spcPct val="0"/>
              </a:spcBef>
            </a:pPr>
            <a:r>
              <a:rPr lang="ja-JP" altLang="en-US" sz="1800">
                <a:latin typeface="Roboto Medium"/>
                <a:ea typeface="MS PGothic"/>
                <a:cs typeface="Roboto Medium"/>
              </a:rPr>
              <a:t>“</a:t>
            </a:r>
            <a:r>
              <a:rPr lang="en-US" altLang="ja-JP" sz="1800" dirty="0">
                <a:latin typeface="Roboto Medium"/>
                <a:ea typeface="MS PGothic"/>
                <a:cs typeface="Roboto Medium"/>
              </a:rPr>
              <a:t>Poka-Yoke</a:t>
            </a:r>
            <a:r>
              <a:rPr lang="ja-JP" altLang="en-US" sz="1800">
                <a:latin typeface="Roboto Medium"/>
                <a:ea typeface="MS PGothic"/>
                <a:cs typeface="Roboto Medium"/>
              </a:rPr>
              <a:t>”</a:t>
            </a:r>
            <a:r>
              <a:rPr lang="en-US" altLang="ja-JP" sz="1800" dirty="0">
                <a:latin typeface="Roboto Medium"/>
                <a:ea typeface="MS PGothic"/>
                <a:cs typeface="Roboto Medium"/>
              </a:rPr>
              <a:t> is the highest level of </a:t>
            </a:r>
            <a:r>
              <a:rPr lang="en-US" altLang="ja-JP" sz="1800" dirty="0" err="1">
                <a:latin typeface="Roboto Medium"/>
                <a:ea typeface="MS PGothic"/>
                <a:cs typeface="Roboto Medium"/>
              </a:rPr>
              <a:t>Jidoka</a:t>
            </a:r>
            <a:endParaRPr lang="en-US" altLang="en-US" sz="1800" dirty="0">
              <a:latin typeface="Roboto Medium"/>
              <a:ea typeface="MS PGothic"/>
              <a:cs typeface="Roboto Medium"/>
            </a:endParaRPr>
          </a:p>
        </p:txBody>
      </p:sp>
      <p:sp>
        <p:nvSpPr>
          <p:cNvPr id="3" name="AutoShape 9">
            <a:extLst>
              <a:ext uri="{FF2B5EF4-FFF2-40B4-BE49-F238E27FC236}">
                <a16:creationId xmlns:a16="http://schemas.microsoft.com/office/drawing/2014/main" id="{439A3139-3B7D-3A81-0BB7-C38EBA9965D3}"/>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1" name="AutoShape 11">
            <a:extLst>
              <a:ext uri="{FF2B5EF4-FFF2-40B4-BE49-F238E27FC236}">
                <a16:creationId xmlns:a16="http://schemas.microsoft.com/office/drawing/2014/main" id="{53CBB08C-0A8A-6080-2FC0-6B7561D260B4}"/>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10">
            <a:extLst>
              <a:ext uri="{FF2B5EF4-FFF2-40B4-BE49-F238E27FC236}">
                <a16:creationId xmlns:a16="http://schemas.microsoft.com/office/drawing/2014/main" id="{45B77B4A-4BC3-F820-4096-66605421F956}"/>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Tree>
    <p:extLst>
      <p:ext uri="{BB962C8B-B14F-4D97-AF65-F5344CB8AC3E}">
        <p14:creationId xmlns:p14="http://schemas.microsoft.com/office/powerpoint/2010/main" val="385131312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D59612-57A7-4226-15D4-E621CF0130AB}"/>
              </a:ext>
            </a:extLst>
          </p:cNvPr>
          <p:cNvSpPr>
            <a:spLocks noGrp="1"/>
          </p:cNvSpPr>
          <p:nvPr>
            <p:ph type="title"/>
          </p:nvPr>
        </p:nvSpPr>
        <p:spPr/>
        <p:txBody>
          <a:bodyPr/>
          <a:lstStyle/>
          <a:p>
            <a:r>
              <a:rPr lang="en-US" dirty="0"/>
              <a:t>Waste Elimination Tools</a:t>
            </a:r>
          </a:p>
        </p:txBody>
      </p:sp>
      <p:sp>
        <p:nvSpPr>
          <p:cNvPr id="4" name="Footer Placeholder 3">
            <a:extLst>
              <a:ext uri="{FF2B5EF4-FFF2-40B4-BE49-F238E27FC236}">
                <a16:creationId xmlns:a16="http://schemas.microsoft.com/office/drawing/2014/main" id="{CB1F8C30-D81C-1E27-D266-2BC421C72FD6}"/>
              </a:ext>
            </a:extLst>
          </p:cNvPr>
          <p:cNvSpPr>
            <a:spLocks noGrp="1"/>
          </p:cNvSpPr>
          <p:nvPr>
            <p:ph type="ftr" sz="quarter" idx="11"/>
          </p:nvPr>
        </p:nvSpPr>
        <p:spPr/>
        <p:txBody>
          <a:bodyPr/>
          <a:lstStyle/>
          <a:p>
            <a:r>
              <a:rPr lang="en-US"/>
              <a:t>© Lean Horizons Consulting, LLC 2023. All Rights Reserved</a:t>
            </a:r>
            <a:endParaRPr lang="en-US" dirty="0"/>
          </a:p>
        </p:txBody>
      </p:sp>
      <p:sp>
        <p:nvSpPr>
          <p:cNvPr id="5" name="Slide Number Placeholder 4">
            <a:extLst>
              <a:ext uri="{FF2B5EF4-FFF2-40B4-BE49-F238E27FC236}">
                <a16:creationId xmlns:a16="http://schemas.microsoft.com/office/drawing/2014/main" id="{1AA34B74-93DA-5F21-CF4A-77FE692D026C}"/>
              </a:ext>
            </a:extLst>
          </p:cNvPr>
          <p:cNvSpPr>
            <a:spLocks noGrp="1"/>
          </p:cNvSpPr>
          <p:nvPr>
            <p:ph type="sldNum" sz="quarter" idx="12"/>
          </p:nvPr>
        </p:nvSpPr>
        <p:spPr/>
        <p:txBody>
          <a:bodyPr/>
          <a:lstStyle/>
          <a:p>
            <a:fld id="{CC6D4273-7FC1-0947-B9FE-19CB3C0D1FB6}" type="slidenum">
              <a:rPr lang="en-US" smtClean="0"/>
              <a:t>55</a:t>
            </a:fld>
            <a:endParaRPr lang="en-US"/>
          </a:p>
        </p:txBody>
      </p:sp>
      <p:grpSp>
        <p:nvGrpSpPr>
          <p:cNvPr id="17" name="Group 16">
            <a:extLst>
              <a:ext uri="{FF2B5EF4-FFF2-40B4-BE49-F238E27FC236}">
                <a16:creationId xmlns:a16="http://schemas.microsoft.com/office/drawing/2014/main" id="{370E2D67-D7AB-B197-3AFC-FE1AD0717D3B}"/>
              </a:ext>
            </a:extLst>
          </p:cNvPr>
          <p:cNvGrpSpPr/>
          <p:nvPr/>
        </p:nvGrpSpPr>
        <p:grpSpPr>
          <a:xfrm>
            <a:off x="841972" y="2042523"/>
            <a:ext cx="10443809" cy="3771699"/>
            <a:chOff x="1201607" y="2209658"/>
            <a:chExt cx="22392167" cy="9152700"/>
          </a:xfrm>
        </p:grpSpPr>
        <p:sp>
          <p:nvSpPr>
            <p:cNvPr id="18" name="Rectangle 17">
              <a:extLst>
                <a:ext uri="{FF2B5EF4-FFF2-40B4-BE49-F238E27FC236}">
                  <a16:creationId xmlns:a16="http://schemas.microsoft.com/office/drawing/2014/main" id="{D20F1A36-69B1-BB79-6BF6-C93AC874BD1C}"/>
                </a:ext>
              </a:extLst>
            </p:cNvPr>
            <p:cNvSpPr/>
            <p:nvPr/>
          </p:nvSpPr>
          <p:spPr>
            <a:xfrm>
              <a:off x="1201607" y="2209658"/>
              <a:ext cx="10972800" cy="914400"/>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58738" lvl="2" algn="l" defTabSz="584200"/>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Visual Management</a:t>
              </a:r>
            </a:p>
          </p:txBody>
        </p:sp>
        <p:sp>
          <p:nvSpPr>
            <p:cNvPr id="19" name="Rectangle 18">
              <a:extLst>
                <a:ext uri="{FF2B5EF4-FFF2-40B4-BE49-F238E27FC236}">
                  <a16:creationId xmlns:a16="http://schemas.microsoft.com/office/drawing/2014/main" id="{4B354A32-F11A-EC6B-FA55-F0AD6D424609}"/>
                </a:ext>
              </a:extLst>
            </p:cNvPr>
            <p:cNvSpPr/>
            <p:nvPr/>
          </p:nvSpPr>
          <p:spPr>
            <a:xfrm>
              <a:off x="1201607" y="3582708"/>
              <a:ext cx="10972800" cy="914400"/>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5S</a:t>
              </a:r>
            </a:p>
          </p:txBody>
        </p:sp>
        <p:sp>
          <p:nvSpPr>
            <p:cNvPr id="20" name="Rectangle 19">
              <a:extLst>
                <a:ext uri="{FF2B5EF4-FFF2-40B4-BE49-F238E27FC236}">
                  <a16:creationId xmlns:a16="http://schemas.microsoft.com/office/drawing/2014/main" id="{A1F828CC-F6DF-0463-F1BA-C6709B8ED0C5}"/>
                </a:ext>
              </a:extLst>
            </p:cNvPr>
            <p:cNvSpPr/>
            <p:nvPr/>
          </p:nvSpPr>
          <p:spPr>
            <a:xfrm>
              <a:off x="1201607" y="4955758"/>
              <a:ext cx="10972800" cy="914400"/>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Standard Work</a:t>
              </a:r>
            </a:p>
          </p:txBody>
        </p:sp>
        <p:sp>
          <p:nvSpPr>
            <p:cNvPr id="21" name="Rectangle 20">
              <a:extLst>
                <a:ext uri="{FF2B5EF4-FFF2-40B4-BE49-F238E27FC236}">
                  <a16:creationId xmlns:a16="http://schemas.microsoft.com/office/drawing/2014/main" id="{45E07FDE-E0CF-F967-4F1D-9E5D72243C02}"/>
                </a:ext>
              </a:extLst>
            </p:cNvPr>
            <p:cNvSpPr/>
            <p:nvPr/>
          </p:nvSpPr>
          <p:spPr>
            <a:xfrm>
              <a:off x="1201607" y="6328808"/>
              <a:ext cx="10972800" cy="914400"/>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Kanban</a:t>
              </a:r>
            </a:p>
          </p:txBody>
        </p:sp>
        <p:sp>
          <p:nvSpPr>
            <p:cNvPr id="22" name="Rectangle 21">
              <a:extLst>
                <a:ext uri="{FF2B5EF4-FFF2-40B4-BE49-F238E27FC236}">
                  <a16:creationId xmlns:a16="http://schemas.microsoft.com/office/drawing/2014/main" id="{F7A1A823-24E0-01DD-762F-8013148C49AD}"/>
                </a:ext>
              </a:extLst>
            </p:cNvPr>
            <p:cNvSpPr/>
            <p:nvPr/>
          </p:nvSpPr>
          <p:spPr>
            <a:xfrm>
              <a:off x="12620974" y="2209658"/>
              <a:ext cx="10972800" cy="914400"/>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CEDAC</a:t>
              </a:r>
            </a:p>
          </p:txBody>
        </p:sp>
        <p:sp>
          <p:nvSpPr>
            <p:cNvPr id="23" name="Rectangle 22">
              <a:extLst>
                <a:ext uri="{FF2B5EF4-FFF2-40B4-BE49-F238E27FC236}">
                  <a16:creationId xmlns:a16="http://schemas.microsoft.com/office/drawing/2014/main" id="{42BBCC70-7D0F-2DD5-8FF6-A56F11CC85CC}"/>
                </a:ext>
              </a:extLst>
            </p:cNvPr>
            <p:cNvSpPr/>
            <p:nvPr/>
          </p:nvSpPr>
          <p:spPr>
            <a:xfrm>
              <a:off x="12620974" y="3582708"/>
              <a:ext cx="10972800" cy="914400"/>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err="1">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Jidoka</a:t>
              </a: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 and </a:t>
              </a:r>
              <a:r>
                <a:rPr kumimoji="0" lang="en-US" sz="2000" b="0" i="0" u="none" strike="noStrike" cap="none" spc="0" normalizeH="0" baseline="0" dirty="0" err="1">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Poka</a:t>
              </a: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 Yoke</a:t>
              </a:r>
            </a:p>
          </p:txBody>
        </p:sp>
        <p:sp>
          <p:nvSpPr>
            <p:cNvPr id="24" name="Rectangle 23">
              <a:extLst>
                <a:ext uri="{FF2B5EF4-FFF2-40B4-BE49-F238E27FC236}">
                  <a16:creationId xmlns:a16="http://schemas.microsoft.com/office/drawing/2014/main" id="{29F4381C-70CE-AA91-5383-92AEBE147D2D}"/>
                </a:ext>
              </a:extLst>
            </p:cNvPr>
            <p:cNvSpPr/>
            <p:nvPr/>
          </p:nvSpPr>
          <p:spPr>
            <a:xfrm>
              <a:off x="12620974" y="4955758"/>
              <a:ext cx="10972800" cy="914400"/>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SMED</a:t>
              </a:r>
            </a:p>
          </p:txBody>
        </p:sp>
        <p:sp>
          <p:nvSpPr>
            <p:cNvPr id="25" name="Rectangle 24">
              <a:extLst>
                <a:ext uri="{FF2B5EF4-FFF2-40B4-BE49-F238E27FC236}">
                  <a16:creationId xmlns:a16="http://schemas.microsoft.com/office/drawing/2014/main" id="{4DC4F5FC-D80C-F5BE-2885-A1E758F653A2}"/>
                </a:ext>
              </a:extLst>
            </p:cNvPr>
            <p:cNvSpPr/>
            <p:nvPr/>
          </p:nvSpPr>
          <p:spPr>
            <a:xfrm>
              <a:off x="12620974" y="6328808"/>
              <a:ext cx="10972800" cy="914400"/>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Total Productive Maintenance</a:t>
              </a:r>
            </a:p>
          </p:txBody>
        </p:sp>
        <p:sp>
          <p:nvSpPr>
            <p:cNvPr id="26" name="Rectangle 25">
              <a:extLst>
                <a:ext uri="{FF2B5EF4-FFF2-40B4-BE49-F238E27FC236}">
                  <a16:creationId xmlns:a16="http://schemas.microsoft.com/office/drawing/2014/main" id="{DCB08230-4BF6-0340-2AD2-5774E173F8D8}"/>
                </a:ext>
              </a:extLst>
            </p:cNvPr>
            <p:cNvSpPr/>
            <p:nvPr/>
          </p:nvSpPr>
          <p:spPr>
            <a:xfrm>
              <a:off x="1201607" y="7701858"/>
              <a:ext cx="10972800" cy="914400"/>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Problem Solving</a:t>
              </a:r>
            </a:p>
          </p:txBody>
        </p:sp>
        <p:sp>
          <p:nvSpPr>
            <p:cNvPr id="27" name="Rectangle 26">
              <a:extLst>
                <a:ext uri="{FF2B5EF4-FFF2-40B4-BE49-F238E27FC236}">
                  <a16:creationId xmlns:a16="http://schemas.microsoft.com/office/drawing/2014/main" id="{C71E133C-C2BA-B594-2F6B-16BADE5887AB}"/>
                </a:ext>
              </a:extLst>
            </p:cNvPr>
            <p:cNvSpPr/>
            <p:nvPr/>
          </p:nvSpPr>
          <p:spPr>
            <a:xfrm>
              <a:off x="1201607" y="9074908"/>
              <a:ext cx="10972800" cy="914400"/>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Production Preparation Process (3P)</a:t>
              </a:r>
            </a:p>
          </p:txBody>
        </p:sp>
        <p:sp>
          <p:nvSpPr>
            <p:cNvPr id="28" name="Rectangle 27">
              <a:extLst>
                <a:ext uri="{FF2B5EF4-FFF2-40B4-BE49-F238E27FC236}">
                  <a16:creationId xmlns:a16="http://schemas.microsoft.com/office/drawing/2014/main" id="{15D883AF-2D1C-40E5-E845-E5837FD30DA6}"/>
                </a:ext>
              </a:extLst>
            </p:cNvPr>
            <p:cNvSpPr/>
            <p:nvPr/>
          </p:nvSpPr>
          <p:spPr>
            <a:xfrm>
              <a:off x="12620974" y="7701858"/>
              <a:ext cx="10972800" cy="914400"/>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Cell Design</a:t>
              </a:r>
            </a:p>
          </p:txBody>
        </p:sp>
        <p:sp>
          <p:nvSpPr>
            <p:cNvPr id="29" name="Rectangle 28">
              <a:extLst>
                <a:ext uri="{FF2B5EF4-FFF2-40B4-BE49-F238E27FC236}">
                  <a16:creationId xmlns:a16="http://schemas.microsoft.com/office/drawing/2014/main" id="{4CF48DFE-0394-C9E2-90F5-0FC76FF180F8}"/>
                </a:ext>
              </a:extLst>
            </p:cNvPr>
            <p:cNvSpPr/>
            <p:nvPr/>
          </p:nvSpPr>
          <p:spPr>
            <a:xfrm>
              <a:off x="12620974" y="9074908"/>
              <a:ext cx="10972800" cy="914400"/>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Value Stream Mapping (VSM)</a:t>
              </a:r>
            </a:p>
          </p:txBody>
        </p:sp>
        <p:sp>
          <p:nvSpPr>
            <p:cNvPr id="30" name="Rectangle 29">
              <a:extLst>
                <a:ext uri="{FF2B5EF4-FFF2-40B4-BE49-F238E27FC236}">
                  <a16:creationId xmlns:a16="http://schemas.microsoft.com/office/drawing/2014/main" id="{56D8CAF3-483E-91B2-CF0D-AD5B718A4685}"/>
                </a:ext>
              </a:extLst>
            </p:cNvPr>
            <p:cNvSpPr/>
            <p:nvPr/>
          </p:nvSpPr>
          <p:spPr>
            <a:xfrm>
              <a:off x="1201607" y="10447958"/>
              <a:ext cx="10972800" cy="914400"/>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Transaction Process Improvement</a:t>
              </a:r>
            </a:p>
          </p:txBody>
        </p:sp>
      </p:grpSp>
      <p:sp>
        <p:nvSpPr>
          <p:cNvPr id="11" name="Rectangle 10">
            <a:extLst>
              <a:ext uri="{FF2B5EF4-FFF2-40B4-BE49-F238E27FC236}">
                <a16:creationId xmlns:a16="http://schemas.microsoft.com/office/drawing/2014/main" id="{A796E2EB-3ED3-2BFC-ABF7-076DC189B1BA}"/>
              </a:ext>
            </a:extLst>
          </p:cNvPr>
          <p:cNvSpPr/>
          <p:nvPr/>
        </p:nvSpPr>
        <p:spPr>
          <a:xfrm>
            <a:off x="6168017" y="5444515"/>
            <a:ext cx="5117764" cy="376811"/>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Managing Daily Process Excellence</a:t>
            </a:r>
          </a:p>
        </p:txBody>
      </p:sp>
      <p:sp>
        <p:nvSpPr>
          <p:cNvPr id="33" name="TextBox 32">
            <a:extLst>
              <a:ext uri="{FF2B5EF4-FFF2-40B4-BE49-F238E27FC236}">
                <a16:creationId xmlns:a16="http://schemas.microsoft.com/office/drawing/2014/main" id="{0E5F1479-3416-95FD-E891-56BF7D8A6596}"/>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Lean Fundamentals</a:t>
            </a:r>
          </a:p>
        </p:txBody>
      </p:sp>
      <p:sp>
        <p:nvSpPr>
          <p:cNvPr id="3" name="AutoShape 9">
            <a:extLst>
              <a:ext uri="{FF2B5EF4-FFF2-40B4-BE49-F238E27FC236}">
                <a16:creationId xmlns:a16="http://schemas.microsoft.com/office/drawing/2014/main" id="{9A3B99F4-09F7-BCC6-A41D-663670681910}"/>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6" name="AutoShape 11">
            <a:extLst>
              <a:ext uri="{FF2B5EF4-FFF2-40B4-BE49-F238E27FC236}">
                <a16:creationId xmlns:a16="http://schemas.microsoft.com/office/drawing/2014/main" id="{CA81D062-73DA-BFF6-2186-E53B7BD9F257}"/>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10">
            <a:extLst>
              <a:ext uri="{FF2B5EF4-FFF2-40B4-BE49-F238E27FC236}">
                <a16:creationId xmlns:a16="http://schemas.microsoft.com/office/drawing/2014/main" id="{550067F6-9F97-7F2A-D796-B84A8BE76E8A}"/>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Tree>
    <p:extLst>
      <p:ext uri="{BB962C8B-B14F-4D97-AF65-F5344CB8AC3E}">
        <p14:creationId xmlns:p14="http://schemas.microsoft.com/office/powerpoint/2010/main" val="97008845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D59612-57A7-4226-15D4-E621CF0130AB}"/>
              </a:ext>
            </a:extLst>
          </p:cNvPr>
          <p:cNvSpPr>
            <a:spLocks noGrp="1"/>
          </p:cNvSpPr>
          <p:nvPr>
            <p:ph type="title"/>
          </p:nvPr>
        </p:nvSpPr>
        <p:spPr/>
        <p:txBody>
          <a:bodyPr>
            <a:normAutofit/>
          </a:bodyPr>
          <a:lstStyle/>
          <a:p>
            <a:r>
              <a:rPr lang="en-US" sz="4000" dirty="0">
                <a:latin typeface="Roboto Medium"/>
                <a:ea typeface="Roboto Medium"/>
                <a:cs typeface="Roboto Medium"/>
              </a:rPr>
              <a:t>SMED Definition</a:t>
            </a:r>
            <a:endParaRPr lang="en-US" dirty="0"/>
          </a:p>
        </p:txBody>
      </p:sp>
      <p:sp>
        <p:nvSpPr>
          <p:cNvPr id="4" name="Footer Placeholder 3">
            <a:extLst>
              <a:ext uri="{FF2B5EF4-FFF2-40B4-BE49-F238E27FC236}">
                <a16:creationId xmlns:a16="http://schemas.microsoft.com/office/drawing/2014/main" id="{CB1F8C30-D81C-1E27-D266-2BC421C72FD6}"/>
              </a:ext>
            </a:extLst>
          </p:cNvPr>
          <p:cNvSpPr>
            <a:spLocks noGrp="1"/>
          </p:cNvSpPr>
          <p:nvPr>
            <p:ph type="ftr" sz="quarter" idx="11"/>
          </p:nvPr>
        </p:nvSpPr>
        <p:spPr/>
        <p:txBody>
          <a:bodyPr/>
          <a:lstStyle/>
          <a:p>
            <a:r>
              <a:rPr lang="en-US"/>
              <a:t>© Lean Horizons Consulting, LLC 2023. All Rights Reserved</a:t>
            </a:r>
            <a:endParaRPr lang="en-US" dirty="0"/>
          </a:p>
        </p:txBody>
      </p:sp>
      <p:sp>
        <p:nvSpPr>
          <p:cNvPr id="5" name="Slide Number Placeholder 4">
            <a:extLst>
              <a:ext uri="{FF2B5EF4-FFF2-40B4-BE49-F238E27FC236}">
                <a16:creationId xmlns:a16="http://schemas.microsoft.com/office/drawing/2014/main" id="{1AA34B74-93DA-5F21-CF4A-77FE692D026C}"/>
              </a:ext>
            </a:extLst>
          </p:cNvPr>
          <p:cNvSpPr>
            <a:spLocks noGrp="1"/>
          </p:cNvSpPr>
          <p:nvPr>
            <p:ph type="sldNum" sz="quarter" idx="12"/>
          </p:nvPr>
        </p:nvSpPr>
        <p:spPr/>
        <p:txBody>
          <a:bodyPr/>
          <a:lstStyle/>
          <a:p>
            <a:fld id="{CC6D4273-7FC1-0947-B9FE-19CB3C0D1FB6}" type="slidenum">
              <a:rPr lang="en-US" smtClean="0"/>
              <a:t>56</a:t>
            </a:fld>
            <a:endParaRPr lang="en-US"/>
          </a:p>
        </p:txBody>
      </p:sp>
      <p:sp>
        <p:nvSpPr>
          <p:cNvPr id="37" name="TextBox 36">
            <a:extLst>
              <a:ext uri="{FF2B5EF4-FFF2-40B4-BE49-F238E27FC236}">
                <a16:creationId xmlns:a16="http://schemas.microsoft.com/office/drawing/2014/main" id="{0FAB3950-B9FC-BE60-5118-2B23F7E52A69}"/>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Lean Fundamentals</a:t>
            </a:r>
          </a:p>
        </p:txBody>
      </p:sp>
      <p:sp>
        <p:nvSpPr>
          <p:cNvPr id="29" name="AutoShape 3">
            <a:extLst>
              <a:ext uri="{FF2B5EF4-FFF2-40B4-BE49-F238E27FC236}">
                <a16:creationId xmlns:a16="http://schemas.microsoft.com/office/drawing/2014/main" id="{D2D41D8B-5B48-298C-9D12-000AD2C432B0}"/>
              </a:ext>
            </a:extLst>
          </p:cNvPr>
          <p:cNvSpPr>
            <a:spLocks/>
          </p:cNvSpPr>
          <p:nvPr/>
        </p:nvSpPr>
        <p:spPr bwMode="auto">
          <a:xfrm>
            <a:off x="8458200" y="3429000"/>
            <a:ext cx="152400" cy="914400"/>
          </a:xfrm>
          <a:prstGeom prst="rightBrace">
            <a:avLst>
              <a:gd name="adj1" fmla="val 50000"/>
              <a:gd name="adj2" fmla="val 41843"/>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tLang="en-US">
              <a:latin typeface="Roboto" panose="02000000000000000000" pitchFamily="2" charset="0"/>
              <a:ea typeface="Roboto" panose="02000000000000000000" pitchFamily="2" charset="0"/>
              <a:cs typeface="Roboto" panose="02000000000000000000" pitchFamily="2" charset="0"/>
            </a:endParaRPr>
          </a:p>
        </p:txBody>
      </p:sp>
      <p:grpSp>
        <p:nvGrpSpPr>
          <p:cNvPr id="30" name="Group 29">
            <a:extLst>
              <a:ext uri="{FF2B5EF4-FFF2-40B4-BE49-F238E27FC236}">
                <a16:creationId xmlns:a16="http://schemas.microsoft.com/office/drawing/2014/main" id="{F87C2411-887B-3F4D-C343-F0C6B93A489F}"/>
              </a:ext>
            </a:extLst>
          </p:cNvPr>
          <p:cNvGrpSpPr/>
          <p:nvPr/>
        </p:nvGrpSpPr>
        <p:grpSpPr>
          <a:xfrm>
            <a:off x="838200" y="1865444"/>
            <a:ext cx="8239125" cy="3686175"/>
            <a:chOff x="838200" y="1865444"/>
            <a:chExt cx="8239125" cy="3686175"/>
          </a:xfrm>
        </p:grpSpPr>
        <p:grpSp>
          <p:nvGrpSpPr>
            <p:cNvPr id="32" name="Group 31">
              <a:extLst>
                <a:ext uri="{FF2B5EF4-FFF2-40B4-BE49-F238E27FC236}">
                  <a16:creationId xmlns:a16="http://schemas.microsoft.com/office/drawing/2014/main" id="{ADB321AB-7D14-FC20-CD4C-32AA2CB49BAC}"/>
                </a:ext>
              </a:extLst>
            </p:cNvPr>
            <p:cNvGrpSpPr/>
            <p:nvPr/>
          </p:nvGrpSpPr>
          <p:grpSpPr>
            <a:xfrm>
              <a:off x="5262564" y="2151195"/>
              <a:ext cx="530225" cy="1876424"/>
              <a:chOff x="5262564" y="2151195"/>
              <a:chExt cx="530225" cy="1876424"/>
            </a:xfrm>
          </p:grpSpPr>
          <p:cxnSp>
            <p:nvCxnSpPr>
              <p:cNvPr id="46" name="AutoShape 9">
                <a:extLst>
                  <a:ext uri="{FF2B5EF4-FFF2-40B4-BE49-F238E27FC236}">
                    <a16:creationId xmlns:a16="http://schemas.microsoft.com/office/drawing/2014/main" id="{3858B11F-5634-E160-1D77-783FF98B5C4E}"/>
                  </a:ext>
                </a:extLst>
              </p:cNvPr>
              <p:cNvCxnSpPr>
                <a:cxnSpLocks noChangeShapeType="1"/>
                <a:stCxn id="125955" idx="3"/>
                <a:endCxn id="125957" idx="1"/>
              </p:cNvCxnSpPr>
              <p:nvPr/>
            </p:nvCxnSpPr>
            <p:spPr bwMode="auto">
              <a:xfrm flipV="1">
                <a:off x="5262564" y="2151195"/>
                <a:ext cx="530225" cy="1647825"/>
              </a:xfrm>
              <a:prstGeom prst="bentConnector3">
                <a:avLst>
                  <a:gd name="adj1" fmla="val 48801"/>
                </a:avLst>
              </a:prstGeom>
              <a:noFill/>
              <a:ln w="19050" cap="sq">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47" name="AutoShape 10">
                <a:extLst>
                  <a:ext uri="{FF2B5EF4-FFF2-40B4-BE49-F238E27FC236}">
                    <a16:creationId xmlns:a16="http://schemas.microsoft.com/office/drawing/2014/main" id="{667D4F32-3F9E-CEC8-154C-7F817137181C}"/>
                  </a:ext>
                </a:extLst>
              </p:cNvPr>
              <p:cNvCxnSpPr>
                <a:cxnSpLocks noChangeShapeType="1"/>
                <a:stCxn id="125955" idx="3"/>
                <a:endCxn id="125958" idx="1"/>
              </p:cNvCxnSpPr>
              <p:nvPr/>
            </p:nvCxnSpPr>
            <p:spPr bwMode="auto">
              <a:xfrm>
                <a:off x="5262564" y="3799019"/>
                <a:ext cx="530225" cy="228600"/>
              </a:xfrm>
              <a:prstGeom prst="bentConnector3">
                <a:avLst>
                  <a:gd name="adj1" fmla="val 48801"/>
                </a:avLst>
              </a:prstGeom>
              <a:noFill/>
              <a:ln w="19050" cap="sq">
                <a:solidFill>
                  <a:schemeClr val="tx1"/>
                </a:solidFill>
                <a:miter lim="800000"/>
                <a:headEnd/>
                <a:tailEnd type="triangle" w="med" len="med"/>
              </a:ln>
              <a:extLst>
                <a:ext uri="{909E8E84-426E-40DD-AFC4-6F175D3DCCD1}">
                  <a14:hiddenFill xmlns:a14="http://schemas.microsoft.com/office/drawing/2010/main">
                    <a:noFill/>
                  </a14:hiddenFill>
                </a:ext>
              </a:extLst>
            </p:spPr>
          </p:cxnSp>
        </p:grpSp>
        <p:grpSp>
          <p:nvGrpSpPr>
            <p:cNvPr id="33" name="Group 32">
              <a:extLst>
                <a:ext uri="{FF2B5EF4-FFF2-40B4-BE49-F238E27FC236}">
                  <a16:creationId xmlns:a16="http://schemas.microsoft.com/office/drawing/2014/main" id="{6FDD8F19-CC68-9655-ACE6-4BA6FC17C9E6}"/>
                </a:ext>
              </a:extLst>
            </p:cNvPr>
            <p:cNvGrpSpPr/>
            <p:nvPr/>
          </p:nvGrpSpPr>
          <p:grpSpPr>
            <a:xfrm>
              <a:off x="5699126" y="1997207"/>
              <a:ext cx="3378199" cy="3427413"/>
              <a:chOff x="5699126" y="1997207"/>
              <a:chExt cx="3378199" cy="3427413"/>
            </a:xfrm>
          </p:grpSpPr>
          <p:sp>
            <p:nvSpPr>
              <p:cNvPr id="42" name="Rectangle 41">
                <a:extLst>
                  <a:ext uri="{FF2B5EF4-FFF2-40B4-BE49-F238E27FC236}">
                    <a16:creationId xmlns:a16="http://schemas.microsoft.com/office/drawing/2014/main" id="{E4542C88-6A3E-4D34-41F8-661CF1D028D3}"/>
                  </a:ext>
                </a:extLst>
              </p:cNvPr>
              <p:cNvSpPr>
                <a:spLocks noChangeArrowheads="1"/>
              </p:cNvSpPr>
              <p:nvPr/>
            </p:nvSpPr>
            <p:spPr bwMode="auto">
              <a:xfrm>
                <a:off x="5792788" y="1997207"/>
                <a:ext cx="3268662" cy="307975"/>
              </a:xfrm>
              <a:prstGeom prst="rect">
                <a:avLst/>
              </a:prstGeom>
              <a:solidFill>
                <a:schemeClr val="accent1"/>
              </a:solidFill>
              <a:ln w="12700" cap="sq">
                <a:solidFill>
                  <a:schemeClr val="tx1"/>
                </a:solidFill>
                <a:miter lim="800000"/>
                <a:headEnd/>
                <a:tailEnd/>
              </a:ln>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Definition</a:t>
                </a:r>
              </a:p>
            </p:txBody>
          </p:sp>
          <p:sp>
            <p:nvSpPr>
              <p:cNvPr id="43" name="Rectangle 42">
                <a:extLst>
                  <a:ext uri="{FF2B5EF4-FFF2-40B4-BE49-F238E27FC236}">
                    <a16:creationId xmlns:a16="http://schemas.microsoft.com/office/drawing/2014/main" id="{666F932C-7DB8-4314-A8E0-25E06C478D10}"/>
                  </a:ext>
                </a:extLst>
              </p:cNvPr>
              <p:cNvSpPr>
                <a:spLocks noChangeArrowheads="1"/>
              </p:cNvSpPr>
              <p:nvPr/>
            </p:nvSpPr>
            <p:spPr bwMode="auto">
              <a:xfrm>
                <a:off x="5792788" y="3873632"/>
                <a:ext cx="3282950" cy="307975"/>
              </a:xfrm>
              <a:prstGeom prst="rect">
                <a:avLst/>
              </a:prstGeom>
              <a:solidFill>
                <a:schemeClr val="accent1"/>
              </a:solidFill>
              <a:ln w="12700" cap="sq">
                <a:solidFill>
                  <a:schemeClr val="tx1"/>
                </a:solidFill>
                <a:miter lim="800000"/>
                <a:headEnd/>
                <a:tailEnd/>
              </a:ln>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Purpose of SMED</a:t>
                </a:r>
              </a:p>
            </p:txBody>
          </p:sp>
          <p:sp>
            <p:nvSpPr>
              <p:cNvPr id="44" name="Rectangle 43">
                <a:extLst>
                  <a:ext uri="{FF2B5EF4-FFF2-40B4-BE49-F238E27FC236}">
                    <a16:creationId xmlns:a16="http://schemas.microsoft.com/office/drawing/2014/main" id="{6AADF5D6-6F4A-4FCC-BA36-44A6CD6C8B53}"/>
                  </a:ext>
                </a:extLst>
              </p:cNvPr>
              <p:cNvSpPr>
                <a:spLocks noChangeArrowheads="1"/>
              </p:cNvSpPr>
              <p:nvPr/>
            </p:nvSpPr>
            <p:spPr bwMode="auto">
              <a:xfrm>
                <a:off x="5699126" y="2351220"/>
                <a:ext cx="3376613" cy="121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eaLnBrk="1" hangingPunct="1">
                  <a:lnSpc>
                    <a:spcPct val="100000"/>
                  </a:lnSpc>
                  <a:spcBef>
                    <a:spcPct val="30000"/>
                  </a:spcBef>
                  <a:buClr>
                    <a:schemeClr val="bg1"/>
                  </a:buClr>
                  <a:buSzPct val="90000"/>
                  <a:buFont typeface="Wingdings" panose="05000000000000000000" pitchFamily="2" charset="2"/>
                  <a:buChar char="§"/>
                </a:pPr>
                <a:r>
                  <a:rPr lang="en-US" altLang="en-US" sz="1400" dirty="0">
                    <a:solidFill>
                      <a:schemeClr val="tx1"/>
                    </a:solidFill>
                    <a:latin typeface="Roboto" panose="02000000000000000000" pitchFamily="2" charset="0"/>
                    <a:ea typeface="Roboto" panose="02000000000000000000" pitchFamily="2" charset="0"/>
                    <a:cs typeface="Roboto" panose="02000000000000000000" pitchFamily="2" charset="0"/>
                  </a:rPr>
                  <a:t>Single Minute Change of Dies or decreased set-up time</a:t>
                </a:r>
              </a:p>
              <a:p>
                <a:pPr algn="l" eaLnBrk="1" hangingPunct="1">
                  <a:lnSpc>
                    <a:spcPct val="100000"/>
                  </a:lnSpc>
                  <a:spcBef>
                    <a:spcPct val="30000"/>
                  </a:spcBef>
                  <a:buClr>
                    <a:schemeClr val="bg1"/>
                  </a:buClr>
                  <a:buSzPct val="90000"/>
                  <a:buFont typeface="Wingdings" panose="05000000000000000000" pitchFamily="2" charset="2"/>
                  <a:buChar char="§"/>
                </a:pPr>
                <a:r>
                  <a:rPr lang="en-US" altLang="en-US" sz="1400" dirty="0">
                    <a:solidFill>
                      <a:schemeClr val="tx1"/>
                    </a:solidFill>
                    <a:latin typeface="Roboto" panose="02000000000000000000" pitchFamily="2" charset="0"/>
                    <a:ea typeface="Roboto" panose="02000000000000000000" pitchFamily="2" charset="0"/>
                    <a:cs typeface="Roboto" panose="02000000000000000000" pitchFamily="2" charset="0"/>
                  </a:rPr>
                  <a:t>Set-up time should be less than </a:t>
                </a:r>
                <a:br>
                  <a:rPr lang="en-US" altLang="en-US" sz="1400" dirty="0">
                    <a:solidFill>
                      <a:schemeClr val="tx1"/>
                    </a:solidFill>
                    <a:latin typeface="Roboto" panose="02000000000000000000" pitchFamily="2" charset="0"/>
                    <a:ea typeface="Roboto" panose="02000000000000000000" pitchFamily="2" charset="0"/>
                    <a:cs typeface="Roboto" panose="02000000000000000000" pitchFamily="2" charset="0"/>
                  </a:rPr>
                </a:br>
                <a:r>
                  <a:rPr lang="en-US" altLang="en-US" sz="1400" dirty="0">
                    <a:solidFill>
                      <a:schemeClr val="tx1"/>
                    </a:solidFill>
                    <a:latin typeface="Roboto" panose="02000000000000000000" pitchFamily="2" charset="0"/>
                    <a:ea typeface="Roboto" panose="02000000000000000000" pitchFamily="2" charset="0"/>
                    <a:cs typeface="Roboto" panose="02000000000000000000" pitchFamily="2" charset="0"/>
                  </a:rPr>
                  <a:t>takt time</a:t>
                </a:r>
              </a:p>
              <a:p>
                <a:pPr algn="l" eaLnBrk="1" hangingPunct="1">
                  <a:lnSpc>
                    <a:spcPct val="100000"/>
                  </a:lnSpc>
                  <a:spcBef>
                    <a:spcPct val="30000"/>
                  </a:spcBef>
                  <a:buClr>
                    <a:schemeClr val="bg1"/>
                  </a:buClr>
                  <a:buSzPct val="40000"/>
                  <a:buFont typeface="Wingdings" panose="05000000000000000000" pitchFamily="2" charset="2"/>
                  <a:buChar char="n"/>
                </a:pPr>
                <a:endParaRPr lang="en-US" altLang="en-US" sz="14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45" name="Rectangle 44">
                <a:extLst>
                  <a:ext uri="{FF2B5EF4-FFF2-40B4-BE49-F238E27FC236}">
                    <a16:creationId xmlns:a16="http://schemas.microsoft.com/office/drawing/2014/main" id="{29AAE937-0BED-AF7B-D998-27A9D521AE5C}"/>
                  </a:ext>
                </a:extLst>
              </p:cNvPr>
              <p:cNvSpPr>
                <a:spLocks noChangeArrowheads="1"/>
              </p:cNvSpPr>
              <p:nvPr/>
            </p:nvSpPr>
            <p:spPr bwMode="auto">
              <a:xfrm>
                <a:off x="5700713" y="4208595"/>
                <a:ext cx="3376612" cy="121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eaLnBrk="1" hangingPunct="1">
                  <a:lnSpc>
                    <a:spcPct val="100000"/>
                  </a:lnSpc>
                  <a:spcBef>
                    <a:spcPct val="30000"/>
                  </a:spcBef>
                  <a:buClr>
                    <a:schemeClr val="bg1"/>
                  </a:buClr>
                  <a:buSzPct val="90000"/>
                  <a:buFont typeface="Wingdings" panose="05000000000000000000" pitchFamily="2" charset="2"/>
                  <a:buChar char="§"/>
                </a:pPr>
                <a:r>
                  <a:rPr lang="en-US" altLang="en-US" sz="1400" dirty="0">
                    <a:solidFill>
                      <a:schemeClr val="tx1">
                        <a:lumMod val="95000"/>
                        <a:lumOff val="5000"/>
                      </a:schemeClr>
                    </a:solidFill>
                    <a:latin typeface="Roboto" panose="02000000000000000000" pitchFamily="2" charset="0"/>
                    <a:ea typeface="Roboto" panose="02000000000000000000" pitchFamily="2" charset="0"/>
                    <a:cs typeface="Roboto" panose="02000000000000000000" pitchFamily="2" charset="0"/>
                  </a:rPr>
                  <a:t>Reduces the need for inventory</a:t>
                </a:r>
              </a:p>
              <a:p>
                <a:pPr algn="l" eaLnBrk="1" hangingPunct="1">
                  <a:lnSpc>
                    <a:spcPct val="100000"/>
                  </a:lnSpc>
                  <a:spcBef>
                    <a:spcPct val="30000"/>
                  </a:spcBef>
                  <a:buClr>
                    <a:schemeClr val="bg1"/>
                  </a:buClr>
                  <a:buSzPct val="90000"/>
                  <a:buFont typeface="Wingdings" panose="05000000000000000000" pitchFamily="2" charset="2"/>
                  <a:buChar char="§"/>
                </a:pPr>
                <a:r>
                  <a:rPr lang="en-US" altLang="en-US" sz="1400" dirty="0">
                    <a:solidFill>
                      <a:schemeClr val="tx1">
                        <a:lumMod val="95000"/>
                        <a:lumOff val="5000"/>
                      </a:schemeClr>
                    </a:solidFill>
                    <a:latin typeface="Roboto" panose="02000000000000000000" pitchFamily="2" charset="0"/>
                    <a:ea typeface="Roboto" panose="02000000000000000000" pitchFamily="2" charset="0"/>
                    <a:cs typeface="Roboto" panose="02000000000000000000" pitchFamily="2" charset="0"/>
                  </a:rPr>
                  <a:t>Provides more capacity and flexibility </a:t>
                </a:r>
              </a:p>
              <a:p>
                <a:pPr algn="l" eaLnBrk="1" hangingPunct="1">
                  <a:lnSpc>
                    <a:spcPct val="100000"/>
                  </a:lnSpc>
                  <a:spcBef>
                    <a:spcPct val="30000"/>
                  </a:spcBef>
                  <a:buClr>
                    <a:schemeClr val="bg1"/>
                  </a:buClr>
                  <a:buSzPct val="90000"/>
                  <a:buFont typeface="Wingdings" panose="05000000000000000000" pitchFamily="2" charset="2"/>
                  <a:buChar char="§"/>
                </a:pPr>
                <a:r>
                  <a:rPr lang="en-US" altLang="en-US" sz="1400" dirty="0">
                    <a:solidFill>
                      <a:schemeClr val="tx1">
                        <a:lumMod val="95000"/>
                        <a:lumOff val="5000"/>
                      </a:schemeClr>
                    </a:solidFill>
                    <a:latin typeface="Roboto" panose="02000000000000000000" pitchFamily="2" charset="0"/>
                    <a:ea typeface="Roboto" panose="02000000000000000000" pitchFamily="2" charset="0"/>
                    <a:cs typeface="Roboto" panose="02000000000000000000" pitchFamily="2" charset="0"/>
                  </a:rPr>
                  <a:t>Enables serving the customer better!</a:t>
                </a:r>
              </a:p>
            </p:txBody>
          </p:sp>
        </p:grpSp>
        <p:grpSp>
          <p:nvGrpSpPr>
            <p:cNvPr id="38" name="Group 37">
              <a:extLst>
                <a:ext uri="{FF2B5EF4-FFF2-40B4-BE49-F238E27FC236}">
                  <a16:creationId xmlns:a16="http://schemas.microsoft.com/office/drawing/2014/main" id="{0FE7D03C-2E18-6706-59D6-44726A60C532}"/>
                </a:ext>
              </a:extLst>
            </p:cNvPr>
            <p:cNvGrpSpPr/>
            <p:nvPr/>
          </p:nvGrpSpPr>
          <p:grpSpPr>
            <a:xfrm>
              <a:off x="838200" y="1865444"/>
              <a:ext cx="4414838" cy="3686175"/>
              <a:chOff x="838200" y="1865444"/>
              <a:chExt cx="4414838" cy="3686175"/>
            </a:xfrm>
          </p:grpSpPr>
          <p:sp>
            <p:nvSpPr>
              <p:cNvPr id="39" name="Rectangle 38">
                <a:extLst>
                  <a:ext uri="{FF2B5EF4-FFF2-40B4-BE49-F238E27FC236}">
                    <a16:creationId xmlns:a16="http://schemas.microsoft.com/office/drawing/2014/main" id="{B516BDD4-0EEE-84B4-05D4-2D02AA7BFF73}"/>
                  </a:ext>
                </a:extLst>
              </p:cNvPr>
              <p:cNvSpPr>
                <a:spLocks noChangeArrowheads="1"/>
              </p:cNvSpPr>
              <p:nvPr/>
            </p:nvSpPr>
            <p:spPr bwMode="auto">
              <a:xfrm>
                <a:off x="838200" y="2044831"/>
                <a:ext cx="4414838" cy="3506788"/>
              </a:xfrm>
              <a:prstGeom prst="rect">
                <a:avLst/>
              </a:prstGeom>
              <a:noFill/>
              <a:ln w="19050">
                <a:solidFill>
                  <a:schemeClr val="tx1"/>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tLang="en-US">
                  <a:latin typeface="Roboto" panose="02000000000000000000" pitchFamily="2" charset="0"/>
                  <a:ea typeface="Roboto" panose="02000000000000000000" pitchFamily="2" charset="0"/>
                  <a:cs typeface="Roboto" panose="02000000000000000000" pitchFamily="2" charset="0"/>
                </a:endParaRPr>
              </a:p>
            </p:txBody>
          </p:sp>
          <p:sp>
            <p:nvSpPr>
              <p:cNvPr id="40" name="Text Box 5">
                <a:extLst>
                  <a:ext uri="{FF2B5EF4-FFF2-40B4-BE49-F238E27FC236}">
                    <a16:creationId xmlns:a16="http://schemas.microsoft.com/office/drawing/2014/main" id="{CAB3A260-DD98-801B-3CDB-A4D5C9626E2A}"/>
                  </a:ext>
                </a:extLst>
              </p:cNvPr>
              <p:cNvSpPr txBox="1">
                <a:spLocks noChangeArrowheads="1"/>
              </p:cNvSpPr>
              <p:nvPr/>
            </p:nvSpPr>
            <p:spPr bwMode="auto">
              <a:xfrm>
                <a:off x="1020764" y="1865444"/>
                <a:ext cx="809837" cy="369332"/>
              </a:xfrm>
              <a:prstGeom prst="rect">
                <a:avLst/>
              </a:prstGeom>
              <a:solidFill>
                <a:schemeClr val="bg1"/>
              </a:solidFill>
              <a:ln>
                <a:noFill/>
              </a:ln>
              <a:extLst>
                <a:ext uri="{91240B29-F687-4F45-9708-019B960494DF}">
                  <a14:hiddenLine xmlns:a14="http://schemas.microsoft.com/office/drawing/2010/main" w="12700" cap="sq">
                    <a:solidFill>
                      <a:srgbClr val="000000"/>
                    </a:solidFill>
                    <a:miter lim="800000"/>
                    <a:headEnd/>
                    <a:tailEnd/>
                  </a14:hiddenLine>
                </a:ext>
              </a:extLst>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en-US" sz="1800" dirty="0">
                    <a:solidFill>
                      <a:schemeClr val="tx1"/>
                    </a:solidFill>
                    <a:latin typeface="Roboto" panose="02000000000000000000" pitchFamily="2" charset="0"/>
                    <a:ea typeface="Roboto" panose="02000000000000000000" pitchFamily="2" charset="0"/>
                    <a:cs typeface="Roboto" panose="02000000000000000000" pitchFamily="2" charset="0"/>
                  </a:rPr>
                  <a:t>SMED</a:t>
                </a:r>
              </a:p>
            </p:txBody>
          </p:sp>
          <p:pic>
            <p:nvPicPr>
              <p:cNvPr id="41" name="Picture 40">
                <a:extLst>
                  <a:ext uri="{FF2B5EF4-FFF2-40B4-BE49-F238E27FC236}">
                    <a16:creationId xmlns:a16="http://schemas.microsoft.com/office/drawing/2014/main" id="{029C2284-E289-F4B9-A094-B6262EFA407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1864" y="2298832"/>
                <a:ext cx="4232275" cy="2797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sp>
        <p:nvSpPr>
          <p:cNvPr id="31" name="Text Box 13">
            <a:extLst>
              <a:ext uri="{FF2B5EF4-FFF2-40B4-BE49-F238E27FC236}">
                <a16:creationId xmlns:a16="http://schemas.microsoft.com/office/drawing/2014/main" id="{49E5F254-A30E-8B37-A7C4-824BC9E06670}"/>
              </a:ext>
            </a:extLst>
          </p:cNvPr>
          <p:cNvSpPr txBox="1">
            <a:spLocks noChangeArrowheads="1"/>
          </p:cNvSpPr>
          <p:nvPr/>
        </p:nvSpPr>
        <p:spPr bwMode="auto">
          <a:xfrm>
            <a:off x="838201" y="5673340"/>
            <a:ext cx="8237537" cy="369332"/>
          </a:xfrm>
          <a:prstGeom prst="rect">
            <a:avLst/>
          </a:prstGeom>
          <a:solidFill>
            <a:srgbClr val="FFB627"/>
          </a:solidFill>
          <a:ln w="25400">
            <a:noFill/>
            <a:miter lim="800000"/>
            <a:headEnd/>
            <a:tailEnd/>
          </a:ln>
        </p:spPr>
        <p:txBody>
          <a:bodyPr anchor="b" anchorCtr="1">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0000"/>
              </a:lnSpc>
              <a:spcBef>
                <a:spcPct val="50000"/>
              </a:spcBef>
              <a:buClr>
                <a:srgbClr val="014B1F"/>
              </a:buClr>
              <a:buSzPct val="75000"/>
              <a:buFont typeface="Wingdings" panose="05000000000000000000" pitchFamily="2" charset="2"/>
              <a:buNone/>
            </a:pPr>
            <a:r>
              <a:rPr lang="en-US" altLang="en-US" sz="1800" b="0" i="1" dirty="0">
                <a:latin typeface="Roboto" panose="02000000000000000000" pitchFamily="2" charset="0"/>
                <a:ea typeface="Roboto" panose="02000000000000000000" pitchFamily="2" charset="0"/>
                <a:cs typeface="Roboto" panose="02000000000000000000" pitchFamily="2" charset="0"/>
              </a:rPr>
              <a:t>Shigeo Shingo believed that any set-up time could be reduced by 59/60ths</a:t>
            </a:r>
            <a:endParaRPr lang="en-US" altLang="en-US" sz="1400" b="0" dirty="0">
              <a:latin typeface="Roboto" panose="02000000000000000000" pitchFamily="2" charset="0"/>
              <a:ea typeface="Roboto" panose="02000000000000000000" pitchFamily="2" charset="0"/>
              <a:cs typeface="Roboto" panose="02000000000000000000" pitchFamily="2" charset="0"/>
            </a:endParaRPr>
          </a:p>
        </p:txBody>
      </p:sp>
      <p:sp>
        <p:nvSpPr>
          <p:cNvPr id="3" name="AutoShape 9">
            <a:extLst>
              <a:ext uri="{FF2B5EF4-FFF2-40B4-BE49-F238E27FC236}">
                <a16:creationId xmlns:a16="http://schemas.microsoft.com/office/drawing/2014/main" id="{356191B4-9F7F-4F9D-7BBE-647BD236E9C0}"/>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6" name="AutoShape 11">
            <a:extLst>
              <a:ext uri="{FF2B5EF4-FFF2-40B4-BE49-F238E27FC236}">
                <a16:creationId xmlns:a16="http://schemas.microsoft.com/office/drawing/2014/main" id="{DCC1C686-5749-CE91-DB94-F1A18B3E352F}"/>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10">
            <a:extLst>
              <a:ext uri="{FF2B5EF4-FFF2-40B4-BE49-F238E27FC236}">
                <a16:creationId xmlns:a16="http://schemas.microsoft.com/office/drawing/2014/main" id="{76F09208-56D7-954F-C4E4-BEF45C39F3DE}"/>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Tree>
    <p:extLst>
      <p:ext uri="{BB962C8B-B14F-4D97-AF65-F5344CB8AC3E}">
        <p14:creationId xmlns:p14="http://schemas.microsoft.com/office/powerpoint/2010/main" val="417263973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D59612-57A7-4226-15D4-E621CF0130AB}"/>
              </a:ext>
            </a:extLst>
          </p:cNvPr>
          <p:cNvSpPr>
            <a:spLocks noGrp="1"/>
          </p:cNvSpPr>
          <p:nvPr>
            <p:ph type="title"/>
          </p:nvPr>
        </p:nvSpPr>
        <p:spPr/>
        <p:txBody>
          <a:bodyPr>
            <a:normAutofit/>
          </a:bodyPr>
          <a:lstStyle/>
          <a:p>
            <a:r>
              <a:rPr lang="en-US" sz="4000" dirty="0">
                <a:latin typeface="Roboto Medium"/>
                <a:ea typeface="Roboto Medium"/>
                <a:cs typeface="Roboto Medium"/>
              </a:rPr>
              <a:t>Waste Elimination Tools</a:t>
            </a:r>
          </a:p>
        </p:txBody>
      </p:sp>
      <p:sp>
        <p:nvSpPr>
          <p:cNvPr id="4" name="Footer Placeholder 3">
            <a:extLst>
              <a:ext uri="{FF2B5EF4-FFF2-40B4-BE49-F238E27FC236}">
                <a16:creationId xmlns:a16="http://schemas.microsoft.com/office/drawing/2014/main" id="{CB1F8C30-D81C-1E27-D266-2BC421C72FD6}"/>
              </a:ext>
            </a:extLst>
          </p:cNvPr>
          <p:cNvSpPr>
            <a:spLocks noGrp="1"/>
          </p:cNvSpPr>
          <p:nvPr>
            <p:ph type="ftr" sz="quarter" idx="11"/>
          </p:nvPr>
        </p:nvSpPr>
        <p:spPr/>
        <p:txBody>
          <a:bodyPr/>
          <a:lstStyle/>
          <a:p>
            <a:r>
              <a:rPr lang="en-US"/>
              <a:t>© Lean Horizons Consulting, LLC 2023. All Rights Reserved</a:t>
            </a:r>
            <a:endParaRPr lang="en-US" dirty="0"/>
          </a:p>
        </p:txBody>
      </p:sp>
      <p:sp>
        <p:nvSpPr>
          <p:cNvPr id="5" name="Slide Number Placeholder 4">
            <a:extLst>
              <a:ext uri="{FF2B5EF4-FFF2-40B4-BE49-F238E27FC236}">
                <a16:creationId xmlns:a16="http://schemas.microsoft.com/office/drawing/2014/main" id="{1AA34B74-93DA-5F21-CF4A-77FE692D026C}"/>
              </a:ext>
            </a:extLst>
          </p:cNvPr>
          <p:cNvSpPr>
            <a:spLocks noGrp="1"/>
          </p:cNvSpPr>
          <p:nvPr>
            <p:ph type="sldNum" sz="quarter" idx="12"/>
          </p:nvPr>
        </p:nvSpPr>
        <p:spPr/>
        <p:txBody>
          <a:bodyPr/>
          <a:lstStyle/>
          <a:p>
            <a:fld id="{CC6D4273-7FC1-0947-B9FE-19CB3C0D1FB6}" type="slidenum">
              <a:rPr lang="en-US" smtClean="0"/>
              <a:t>57</a:t>
            </a:fld>
            <a:endParaRPr lang="en-US"/>
          </a:p>
        </p:txBody>
      </p:sp>
      <p:grpSp>
        <p:nvGrpSpPr>
          <p:cNvPr id="17" name="Group 16">
            <a:extLst>
              <a:ext uri="{FF2B5EF4-FFF2-40B4-BE49-F238E27FC236}">
                <a16:creationId xmlns:a16="http://schemas.microsoft.com/office/drawing/2014/main" id="{370E2D67-D7AB-B197-3AFC-FE1AD0717D3B}"/>
              </a:ext>
            </a:extLst>
          </p:cNvPr>
          <p:cNvGrpSpPr/>
          <p:nvPr/>
        </p:nvGrpSpPr>
        <p:grpSpPr>
          <a:xfrm>
            <a:off x="838200" y="2042523"/>
            <a:ext cx="10443809" cy="3771699"/>
            <a:chOff x="1201607" y="2209658"/>
            <a:chExt cx="22392167" cy="9152700"/>
          </a:xfrm>
        </p:grpSpPr>
        <p:sp>
          <p:nvSpPr>
            <p:cNvPr id="18" name="Rectangle 17">
              <a:extLst>
                <a:ext uri="{FF2B5EF4-FFF2-40B4-BE49-F238E27FC236}">
                  <a16:creationId xmlns:a16="http://schemas.microsoft.com/office/drawing/2014/main" id="{D20F1A36-69B1-BB79-6BF6-C93AC874BD1C}"/>
                </a:ext>
              </a:extLst>
            </p:cNvPr>
            <p:cNvSpPr/>
            <p:nvPr/>
          </p:nvSpPr>
          <p:spPr>
            <a:xfrm>
              <a:off x="1201607" y="2209658"/>
              <a:ext cx="10972800" cy="914400"/>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58738" lvl="2" algn="l" defTabSz="584200"/>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Visual Management</a:t>
              </a:r>
            </a:p>
          </p:txBody>
        </p:sp>
        <p:sp>
          <p:nvSpPr>
            <p:cNvPr id="19" name="Rectangle 18">
              <a:extLst>
                <a:ext uri="{FF2B5EF4-FFF2-40B4-BE49-F238E27FC236}">
                  <a16:creationId xmlns:a16="http://schemas.microsoft.com/office/drawing/2014/main" id="{4B354A32-F11A-EC6B-FA55-F0AD6D424609}"/>
                </a:ext>
              </a:extLst>
            </p:cNvPr>
            <p:cNvSpPr/>
            <p:nvPr/>
          </p:nvSpPr>
          <p:spPr>
            <a:xfrm>
              <a:off x="1201607" y="3582708"/>
              <a:ext cx="10972800" cy="914400"/>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5S</a:t>
              </a:r>
            </a:p>
          </p:txBody>
        </p:sp>
        <p:sp>
          <p:nvSpPr>
            <p:cNvPr id="20" name="Rectangle 19">
              <a:extLst>
                <a:ext uri="{FF2B5EF4-FFF2-40B4-BE49-F238E27FC236}">
                  <a16:creationId xmlns:a16="http://schemas.microsoft.com/office/drawing/2014/main" id="{A1F828CC-F6DF-0463-F1BA-C6709B8ED0C5}"/>
                </a:ext>
              </a:extLst>
            </p:cNvPr>
            <p:cNvSpPr/>
            <p:nvPr/>
          </p:nvSpPr>
          <p:spPr>
            <a:xfrm>
              <a:off x="1201607" y="4955758"/>
              <a:ext cx="10972800" cy="914400"/>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Standard Work</a:t>
              </a:r>
            </a:p>
          </p:txBody>
        </p:sp>
        <p:sp>
          <p:nvSpPr>
            <p:cNvPr id="21" name="Rectangle 20">
              <a:extLst>
                <a:ext uri="{FF2B5EF4-FFF2-40B4-BE49-F238E27FC236}">
                  <a16:creationId xmlns:a16="http://schemas.microsoft.com/office/drawing/2014/main" id="{45E07FDE-E0CF-F967-4F1D-9E5D72243C02}"/>
                </a:ext>
              </a:extLst>
            </p:cNvPr>
            <p:cNvSpPr/>
            <p:nvPr/>
          </p:nvSpPr>
          <p:spPr>
            <a:xfrm>
              <a:off x="1201607" y="6328808"/>
              <a:ext cx="10972800" cy="914400"/>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Kanban</a:t>
              </a:r>
            </a:p>
          </p:txBody>
        </p:sp>
        <p:sp>
          <p:nvSpPr>
            <p:cNvPr id="22" name="Rectangle 21">
              <a:extLst>
                <a:ext uri="{FF2B5EF4-FFF2-40B4-BE49-F238E27FC236}">
                  <a16:creationId xmlns:a16="http://schemas.microsoft.com/office/drawing/2014/main" id="{F7A1A823-24E0-01DD-762F-8013148C49AD}"/>
                </a:ext>
              </a:extLst>
            </p:cNvPr>
            <p:cNvSpPr/>
            <p:nvPr/>
          </p:nvSpPr>
          <p:spPr>
            <a:xfrm>
              <a:off x="12620974" y="2209658"/>
              <a:ext cx="10972800" cy="914400"/>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CEDAC</a:t>
              </a:r>
            </a:p>
          </p:txBody>
        </p:sp>
        <p:sp>
          <p:nvSpPr>
            <p:cNvPr id="23" name="Rectangle 22">
              <a:extLst>
                <a:ext uri="{FF2B5EF4-FFF2-40B4-BE49-F238E27FC236}">
                  <a16:creationId xmlns:a16="http://schemas.microsoft.com/office/drawing/2014/main" id="{42BBCC70-7D0F-2DD5-8FF6-A56F11CC85CC}"/>
                </a:ext>
              </a:extLst>
            </p:cNvPr>
            <p:cNvSpPr/>
            <p:nvPr/>
          </p:nvSpPr>
          <p:spPr>
            <a:xfrm>
              <a:off x="12620974" y="3582708"/>
              <a:ext cx="10972800" cy="914400"/>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err="1">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Jidoka</a:t>
              </a: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 and </a:t>
              </a:r>
              <a:r>
                <a:rPr kumimoji="0" lang="en-US" sz="2000" b="0" i="0" u="none" strike="noStrike" cap="none" spc="0" normalizeH="0" baseline="0" dirty="0" err="1">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Poka</a:t>
              </a: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 Yoke</a:t>
              </a:r>
            </a:p>
          </p:txBody>
        </p:sp>
        <p:sp>
          <p:nvSpPr>
            <p:cNvPr id="24" name="Rectangle 23">
              <a:extLst>
                <a:ext uri="{FF2B5EF4-FFF2-40B4-BE49-F238E27FC236}">
                  <a16:creationId xmlns:a16="http://schemas.microsoft.com/office/drawing/2014/main" id="{29F4381C-70CE-AA91-5383-92AEBE147D2D}"/>
                </a:ext>
              </a:extLst>
            </p:cNvPr>
            <p:cNvSpPr/>
            <p:nvPr/>
          </p:nvSpPr>
          <p:spPr>
            <a:xfrm>
              <a:off x="12620974" y="4955758"/>
              <a:ext cx="10972800" cy="914400"/>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SMED</a:t>
              </a:r>
            </a:p>
          </p:txBody>
        </p:sp>
        <p:sp>
          <p:nvSpPr>
            <p:cNvPr id="25" name="Rectangle 24">
              <a:extLst>
                <a:ext uri="{FF2B5EF4-FFF2-40B4-BE49-F238E27FC236}">
                  <a16:creationId xmlns:a16="http://schemas.microsoft.com/office/drawing/2014/main" id="{4DC4F5FC-D80C-F5BE-2885-A1E758F653A2}"/>
                </a:ext>
              </a:extLst>
            </p:cNvPr>
            <p:cNvSpPr/>
            <p:nvPr/>
          </p:nvSpPr>
          <p:spPr>
            <a:xfrm>
              <a:off x="12620974" y="6328808"/>
              <a:ext cx="10972800" cy="914400"/>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Total Productive Maintenance</a:t>
              </a:r>
            </a:p>
          </p:txBody>
        </p:sp>
        <p:sp>
          <p:nvSpPr>
            <p:cNvPr id="26" name="Rectangle 25">
              <a:extLst>
                <a:ext uri="{FF2B5EF4-FFF2-40B4-BE49-F238E27FC236}">
                  <a16:creationId xmlns:a16="http://schemas.microsoft.com/office/drawing/2014/main" id="{DCB08230-4BF6-0340-2AD2-5774E173F8D8}"/>
                </a:ext>
              </a:extLst>
            </p:cNvPr>
            <p:cNvSpPr/>
            <p:nvPr/>
          </p:nvSpPr>
          <p:spPr>
            <a:xfrm>
              <a:off x="1201607" y="7701858"/>
              <a:ext cx="10972800" cy="914400"/>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Problem Solving</a:t>
              </a:r>
            </a:p>
          </p:txBody>
        </p:sp>
        <p:sp>
          <p:nvSpPr>
            <p:cNvPr id="27" name="Rectangle 26">
              <a:extLst>
                <a:ext uri="{FF2B5EF4-FFF2-40B4-BE49-F238E27FC236}">
                  <a16:creationId xmlns:a16="http://schemas.microsoft.com/office/drawing/2014/main" id="{C71E133C-C2BA-B594-2F6B-16BADE5887AB}"/>
                </a:ext>
              </a:extLst>
            </p:cNvPr>
            <p:cNvSpPr/>
            <p:nvPr/>
          </p:nvSpPr>
          <p:spPr>
            <a:xfrm>
              <a:off x="1201607" y="9074908"/>
              <a:ext cx="10972800" cy="914400"/>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Production Preparation Process (3P)</a:t>
              </a:r>
            </a:p>
          </p:txBody>
        </p:sp>
        <p:sp>
          <p:nvSpPr>
            <p:cNvPr id="28" name="Rectangle 27">
              <a:extLst>
                <a:ext uri="{FF2B5EF4-FFF2-40B4-BE49-F238E27FC236}">
                  <a16:creationId xmlns:a16="http://schemas.microsoft.com/office/drawing/2014/main" id="{15D883AF-2D1C-40E5-E845-E5837FD30DA6}"/>
                </a:ext>
              </a:extLst>
            </p:cNvPr>
            <p:cNvSpPr/>
            <p:nvPr/>
          </p:nvSpPr>
          <p:spPr>
            <a:xfrm>
              <a:off x="12620974" y="7701858"/>
              <a:ext cx="10972800" cy="914400"/>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Cell Design</a:t>
              </a:r>
            </a:p>
          </p:txBody>
        </p:sp>
        <p:sp>
          <p:nvSpPr>
            <p:cNvPr id="29" name="Rectangle 28">
              <a:extLst>
                <a:ext uri="{FF2B5EF4-FFF2-40B4-BE49-F238E27FC236}">
                  <a16:creationId xmlns:a16="http://schemas.microsoft.com/office/drawing/2014/main" id="{4CF48DFE-0394-C9E2-90F5-0FC76FF180F8}"/>
                </a:ext>
              </a:extLst>
            </p:cNvPr>
            <p:cNvSpPr/>
            <p:nvPr/>
          </p:nvSpPr>
          <p:spPr>
            <a:xfrm>
              <a:off x="12620974" y="9074908"/>
              <a:ext cx="10972800" cy="914400"/>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Value Stream Mapping (VSM)</a:t>
              </a:r>
            </a:p>
          </p:txBody>
        </p:sp>
        <p:sp>
          <p:nvSpPr>
            <p:cNvPr id="30" name="Rectangle 29">
              <a:extLst>
                <a:ext uri="{FF2B5EF4-FFF2-40B4-BE49-F238E27FC236}">
                  <a16:creationId xmlns:a16="http://schemas.microsoft.com/office/drawing/2014/main" id="{56D8CAF3-483E-91B2-CF0D-AD5B718A4685}"/>
                </a:ext>
              </a:extLst>
            </p:cNvPr>
            <p:cNvSpPr/>
            <p:nvPr/>
          </p:nvSpPr>
          <p:spPr>
            <a:xfrm>
              <a:off x="1201607" y="10447958"/>
              <a:ext cx="10972800" cy="914400"/>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Transaction Process Improvement</a:t>
              </a:r>
            </a:p>
          </p:txBody>
        </p:sp>
      </p:grpSp>
      <p:sp>
        <p:nvSpPr>
          <p:cNvPr id="11" name="Rectangle 10">
            <a:extLst>
              <a:ext uri="{FF2B5EF4-FFF2-40B4-BE49-F238E27FC236}">
                <a16:creationId xmlns:a16="http://schemas.microsoft.com/office/drawing/2014/main" id="{A796E2EB-3ED3-2BFC-ABF7-076DC189B1BA}"/>
              </a:ext>
            </a:extLst>
          </p:cNvPr>
          <p:cNvSpPr/>
          <p:nvPr/>
        </p:nvSpPr>
        <p:spPr>
          <a:xfrm>
            <a:off x="6158292" y="5437410"/>
            <a:ext cx="5117764" cy="376811"/>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Managing Daily Process Excellence</a:t>
            </a:r>
          </a:p>
        </p:txBody>
      </p:sp>
      <p:sp>
        <p:nvSpPr>
          <p:cNvPr id="15" name="TextBox 14">
            <a:extLst>
              <a:ext uri="{FF2B5EF4-FFF2-40B4-BE49-F238E27FC236}">
                <a16:creationId xmlns:a16="http://schemas.microsoft.com/office/drawing/2014/main" id="{AF0C688D-7D07-3FA2-6ED4-ADAB7062AF0F}"/>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Lean Fundamentals</a:t>
            </a:r>
          </a:p>
        </p:txBody>
      </p:sp>
      <p:sp>
        <p:nvSpPr>
          <p:cNvPr id="3" name="AutoShape 9">
            <a:extLst>
              <a:ext uri="{FF2B5EF4-FFF2-40B4-BE49-F238E27FC236}">
                <a16:creationId xmlns:a16="http://schemas.microsoft.com/office/drawing/2014/main" id="{C20B1FB6-8749-4C2D-9FFE-462B91842D7A}"/>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6" name="AutoShape 11">
            <a:extLst>
              <a:ext uri="{FF2B5EF4-FFF2-40B4-BE49-F238E27FC236}">
                <a16:creationId xmlns:a16="http://schemas.microsoft.com/office/drawing/2014/main" id="{66A8E37F-64F4-3D44-A99C-979AC3124056}"/>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10">
            <a:extLst>
              <a:ext uri="{FF2B5EF4-FFF2-40B4-BE49-F238E27FC236}">
                <a16:creationId xmlns:a16="http://schemas.microsoft.com/office/drawing/2014/main" id="{64DAE889-08FC-B959-2DA9-1365012F9D43}"/>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Tree>
    <p:extLst>
      <p:ext uri="{BB962C8B-B14F-4D97-AF65-F5344CB8AC3E}">
        <p14:creationId xmlns:p14="http://schemas.microsoft.com/office/powerpoint/2010/main" val="64681152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77BA17-B180-9889-85DC-DBE8C080CFB7}"/>
              </a:ext>
            </a:extLst>
          </p:cNvPr>
          <p:cNvSpPr>
            <a:spLocks noGrp="1"/>
          </p:cNvSpPr>
          <p:nvPr>
            <p:ph type="title"/>
          </p:nvPr>
        </p:nvSpPr>
        <p:spPr/>
        <p:txBody>
          <a:bodyPr>
            <a:normAutofit/>
          </a:bodyPr>
          <a:lstStyle/>
          <a:p>
            <a:r>
              <a:rPr lang="en-US" sz="4000" dirty="0">
                <a:latin typeface="Roboto Medium"/>
                <a:ea typeface="Roboto Medium"/>
                <a:cs typeface="Roboto Medium"/>
              </a:rPr>
              <a:t>What is TPM?</a:t>
            </a:r>
            <a:endParaRPr lang="en-US" dirty="0"/>
          </a:p>
        </p:txBody>
      </p:sp>
      <p:sp>
        <p:nvSpPr>
          <p:cNvPr id="3" name="Content Placeholder 2">
            <a:extLst>
              <a:ext uri="{FF2B5EF4-FFF2-40B4-BE49-F238E27FC236}">
                <a16:creationId xmlns:a16="http://schemas.microsoft.com/office/drawing/2014/main" id="{30534846-F3D4-20E7-25C0-91FCF7736CB5}"/>
              </a:ext>
            </a:extLst>
          </p:cNvPr>
          <p:cNvSpPr>
            <a:spLocks noGrp="1"/>
          </p:cNvSpPr>
          <p:nvPr>
            <p:ph idx="1"/>
          </p:nvPr>
        </p:nvSpPr>
        <p:spPr/>
        <p:txBody>
          <a:bodyPr vert="horz" lIns="91440" tIns="45720" rIns="91440" bIns="45720" rtlCol="0" anchor="t">
            <a:normAutofit/>
          </a:bodyPr>
          <a:lstStyle/>
          <a:p>
            <a:pPr>
              <a:buFont typeface="Arial"/>
              <a:buChar char="•"/>
            </a:pPr>
            <a:r>
              <a:rPr lang="en-US" sz="2400" dirty="0">
                <a:latin typeface="Arial"/>
                <a:ea typeface="Roboto Medium"/>
                <a:cs typeface="Arial"/>
              </a:rPr>
              <a:t>It is an approach to maximize the effectivity of the plant</a:t>
            </a:r>
            <a:r>
              <a:rPr lang="ja-JP" altLang="en-US" sz="2400">
                <a:latin typeface="Arial"/>
                <a:ea typeface="Roboto Medium"/>
                <a:cs typeface="Arial"/>
              </a:rPr>
              <a:t>’</a:t>
            </a:r>
            <a:r>
              <a:rPr lang="en-US" sz="2400" dirty="0">
                <a:latin typeface="Arial"/>
                <a:ea typeface="Roboto Medium"/>
                <a:cs typeface="Arial"/>
              </a:rPr>
              <a:t>s equipment in the areas of uptime, speed, and quality.</a:t>
            </a:r>
          </a:p>
          <a:p>
            <a:pPr>
              <a:buFont typeface="Arial"/>
              <a:buChar char="•"/>
            </a:pPr>
            <a:r>
              <a:rPr lang="en-US" sz="2400" dirty="0">
                <a:latin typeface="Arial"/>
                <a:ea typeface="Roboto Medium"/>
                <a:cs typeface="Arial"/>
              </a:rPr>
              <a:t>It is an approach that utilizes the experience and talent of the operator, the maintenance technician, and engineering as a team</a:t>
            </a:r>
          </a:p>
          <a:p>
            <a:pPr>
              <a:buFont typeface="Arial"/>
              <a:buChar char="•"/>
            </a:pPr>
            <a:r>
              <a:rPr lang="en-US" sz="2400" dirty="0">
                <a:latin typeface="Arial"/>
                <a:ea typeface="Roboto Medium"/>
                <a:cs typeface="Arial"/>
              </a:rPr>
              <a:t>It goes beyond simply restoring and repairing the equipment. It includes sustaining processes and continuous improvement  </a:t>
            </a:r>
          </a:p>
          <a:p>
            <a:pPr>
              <a:buFont typeface="Arial"/>
              <a:buChar char="•"/>
            </a:pPr>
            <a:r>
              <a:rPr lang="en-US" sz="2400" dirty="0">
                <a:latin typeface="Arial"/>
                <a:ea typeface="Roboto Medium"/>
                <a:cs typeface="Arial"/>
              </a:rPr>
              <a:t>It improves the efficiency of those people involved in the setup, operation and maintenance of the equipment</a:t>
            </a:r>
          </a:p>
          <a:p>
            <a:pPr marL="0" indent="0">
              <a:buNone/>
            </a:pPr>
            <a:endParaRPr lang="en-US" sz="3200" dirty="0">
              <a:latin typeface="Roboto Medium"/>
              <a:ea typeface="Roboto Medium"/>
              <a:cs typeface="Roboto Medium"/>
            </a:endParaRPr>
          </a:p>
        </p:txBody>
      </p:sp>
      <p:sp>
        <p:nvSpPr>
          <p:cNvPr id="5" name="Footer Placeholder 4">
            <a:extLst>
              <a:ext uri="{FF2B5EF4-FFF2-40B4-BE49-F238E27FC236}">
                <a16:creationId xmlns:a16="http://schemas.microsoft.com/office/drawing/2014/main" id="{5FD9B20F-B4C0-1580-D76B-3C4EAAEA9B53}"/>
              </a:ext>
            </a:extLst>
          </p:cNvPr>
          <p:cNvSpPr>
            <a:spLocks noGrp="1"/>
          </p:cNvSpPr>
          <p:nvPr>
            <p:ph type="ftr" sz="quarter" idx="11"/>
          </p:nvPr>
        </p:nvSpPr>
        <p:spPr/>
        <p:txBody>
          <a:bodyPr/>
          <a:lstStyle/>
          <a:p>
            <a:r>
              <a:rPr lang="en-US"/>
              <a:t>© Lean Horizons Consulting, LLC 2023. All Rights Reserved</a:t>
            </a:r>
            <a:endParaRPr lang="en-US" dirty="0"/>
          </a:p>
        </p:txBody>
      </p:sp>
      <p:sp>
        <p:nvSpPr>
          <p:cNvPr id="6" name="Slide Number Placeholder 5">
            <a:extLst>
              <a:ext uri="{FF2B5EF4-FFF2-40B4-BE49-F238E27FC236}">
                <a16:creationId xmlns:a16="http://schemas.microsoft.com/office/drawing/2014/main" id="{2DF11FF7-095F-D1A9-6784-C53D538A36FF}"/>
              </a:ext>
            </a:extLst>
          </p:cNvPr>
          <p:cNvSpPr>
            <a:spLocks noGrp="1"/>
          </p:cNvSpPr>
          <p:nvPr>
            <p:ph type="sldNum" sz="quarter" idx="12"/>
          </p:nvPr>
        </p:nvSpPr>
        <p:spPr/>
        <p:txBody>
          <a:bodyPr/>
          <a:lstStyle/>
          <a:p>
            <a:fld id="{CC6D4273-7FC1-0947-B9FE-19CB3C0D1FB6}" type="slidenum">
              <a:rPr lang="en-US" smtClean="0"/>
              <a:t>58</a:t>
            </a:fld>
            <a:endParaRPr lang="en-US"/>
          </a:p>
        </p:txBody>
      </p:sp>
    </p:spTree>
    <p:extLst>
      <p:ext uri="{BB962C8B-B14F-4D97-AF65-F5344CB8AC3E}">
        <p14:creationId xmlns:p14="http://schemas.microsoft.com/office/powerpoint/2010/main" val="4628851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77BA17-B180-9889-85DC-DBE8C080CFB7}"/>
              </a:ext>
            </a:extLst>
          </p:cNvPr>
          <p:cNvSpPr>
            <a:spLocks noGrp="1"/>
          </p:cNvSpPr>
          <p:nvPr>
            <p:ph type="title"/>
          </p:nvPr>
        </p:nvSpPr>
        <p:spPr/>
        <p:txBody>
          <a:bodyPr>
            <a:normAutofit/>
          </a:bodyPr>
          <a:lstStyle/>
          <a:p>
            <a:r>
              <a:rPr lang="en-US" sz="4000" dirty="0">
                <a:latin typeface="Roboto Medium"/>
                <a:ea typeface="Roboto Medium"/>
                <a:cs typeface="Roboto Medium"/>
              </a:rPr>
              <a:t>Lean Transformation</a:t>
            </a:r>
          </a:p>
        </p:txBody>
      </p:sp>
      <p:sp>
        <p:nvSpPr>
          <p:cNvPr id="3" name="Content Placeholder 2">
            <a:extLst>
              <a:ext uri="{FF2B5EF4-FFF2-40B4-BE49-F238E27FC236}">
                <a16:creationId xmlns:a16="http://schemas.microsoft.com/office/drawing/2014/main" id="{30534846-F3D4-20E7-25C0-91FCF7736CB5}"/>
              </a:ext>
            </a:extLst>
          </p:cNvPr>
          <p:cNvSpPr>
            <a:spLocks noGrp="1"/>
          </p:cNvSpPr>
          <p:nvPr>
            <p:ph idx="1"/>
          </p:nvPr>
        </p:nvSpPr>
        <p:spPr/>
        <p:txBody>
          <a:bodyPr vert="horz" lIns="91440" tIns="45720" rIns="91440" bIns="45720" rtlCol="0" anchor="t">
            <a:normAutofit/>
          </a:bodyPr>
          <a:lstStyle/>
          <a:p>
            <a:pPr marL="0" indent="0">
              <a:buNone/>
            </a:pPr>
            <a:r>
              <a:rPr lang="en-US" sz="3200" dirty="0">
                <a:latin typeface="Roboto Medium"/>
                <a:ea typeface="Roboto Medium"/>
                <a:cs typeface="Roboto Medium"/>
              </a:rPr>
              <a:t>Objectives:</a:t>
            </a:r>
          </a:p>
          <a:p>
            <a:r>
              <a:rPr lang="en-US" dirty="0"/>
              <a:t>Discuss what is a Lean Transformation</a:t>
            </a:r>
          </a:p>
          <a:p>
            <a:r>
              <a:rPr lang="en-US" dirty="0"/>
              <a:t>Summary</a:t>
            </a:r>
          </a:p>
          <a:p>
            <a:r>
              <a:rPr lang="en-US" dirty="0"/>
              <a:t>Review</a:t>
            </a:r>
          </a:p>
        </p:txBody>
      </p:sp>
      <p:sp>
        <p:nvSpPr>
          <p:cNvPr id="5" name="Footer Placeholder 4">
            <a:extLst>
              <a:ext uri="{FF2B5EF4-FFF2-40B4-BE49-F238E27FC236}">
                <a16:creationId xmlns:a16="http://schemas.microsoft.com/office/drawing/2014/main" id="{5FD9B20F-B4C0-1580-D76B-3C4EAAEA9B53}"/>
              </a:ext>
            </a:extLst>
          </p:cNvPr>
          <p:cNvSpPr>
            <a:spLocks noGrp="1"/>
          </p:cNvSpPr>
          <p:nvPr>
            <p:ph type="ftr" sz="quarter" idx="11"/>
          </p:nvPr>
        </p:nvSpPr>
        <p:spPr/>
        <p:txBody>
          <a:bodyPr/>
          <a:lstStyle/>
          <a:p>
            <a:r>
              <a:rPr lang="en-US"/>
              <a:t>© Lean Horizons Consulting, LLC 2023. All Rights Reserved</a:t>
            </a:r>
            <a:endParaRPr lang="en-US" dirty="0"/>
          </a:p>
        </p:txBody>
      </p:sp>
      <p:sp>
        <p:nvSpPr>
          <p:cNvPr id="6" name="Slide Number Placeholder 5">
            <a:extLst>
              <a:ext uri="{FF2B5EF4-FFF2-40B4-BE49-F238E27FC236}">
                <a16:creationId xmlns:a16="http://schemas.microsoft.com/office/drawing/2014/main" id="{2DF11FF7-095F-D1A9-6784-C53D538A36FF}"/>
              </a:ext>
            </a:extLst>
          </p:cNvPr>
          <p:cNvSpPr>
            <a:spLocks noGrp="1"/>
          </p:cNvSpPr>
          <p:nvPr>
            <p:ph type="sldNum" sz="quarter" idx="12"/>
          </p:nvPr>
        </p:nvSpPr>
        <p:spPr/>
        <p:txBody>
          <a:bodyPr/>
          <a:lstStyle/>
          <a:p>
            <a:fld id="{CC6D4273-7FC1-0947-B9FE-19CB3C0D1FB6}" type="slidenum">
              <a:rPr lang="en-US" smtClean="0"/>
              <a:t>59</a:t>
            </a:fld>
            <a:endParaRPr lang="en-US"/>
          </a:p>
        </p:txBody>
      </p:sp>
    </p:spTree>
    <p:extLst>
      <p:ext uri="{BB962C8B-B14F-4D97-AF65-F5344CB8AC3E}">
        <p14:creationId xmlns:p14="http://schemas.microsoft.com/office/powerpoint/2010/main" val="180205007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9543AAFC-8647-0FD0-31A8-24CA11ED73EC}"/>
              </a:ext>
            </a:extLst>
          </p:cNvPr>
          <p:cNvSpPr>
            <a:spLocks noGrp="1"/>
          </p:cNvSpPr>
          <p:nvPr>
            <p:ph type="title"/>
          </p:nvPr>
        </p:nvSpPr>
        <p:spPr/>
        <p:txBody>
          <a:bodyPr>
            <a:normAutofit/>
          </a:bodyPr>
          <a:lstStyle/>
          <a:p>
            <a:r>
              <a:rPr lang="en-US" sz="4000" dirty="0">
                <a:solidFill>
                  <a:schemeClr val="tx1">
                    <a:lumMod val="95000"/>
                    <a:lumOff val="5000"/>
                  </a:schemeClr>
                </a:solidFill>
                <a:latin typeface="Roboto Medium"/>
                <a:ea typeface="Roboto Medium"/>
                <a:cs typeface="Roboto Medium"/>
              </a:rPr>
              <a:t>Review: What is a Lean Transformation?</a:t>
            </a:r>
            <a:endParaRPr lang="en-US" sz="4000">
              <a:solidFill>
                <a:schemeClr val="tx1">
                  <a:lumMod val="95000"/>
                  <a:lumOff val="5000"/>
                </a:schemeClr>
              </a:solidFill>
              <a:latin typeface="Roboto Medium"/>
              <a:ea typeface="Roboto Medium"/>
              <a:cs typeface="Roboto Medium"/>
            </a:endParaRPr>
          </a:p>
        </p:txBody>
      </p:sp>
      <p:sp>
        <p:nvSpPr>
          <p:cNvPr id="3" name="Footer Placeholder 2">
            <a:extLst>
              <a:ext uri="{FF2B5EF4-FFF2-40B4-BE49-F238E27FC236}">
                <a16:creationId xmlns:a16="http://schemas.microsoft.com/office/drawing/2014/main" id="{A76F1D62-B558-A715-F7C3-E85FA65F1AE9}"/>
              </a:ext>
            </a:extLst>
          </p:cNvPr>
          <p:cNvSpPr>
            <a:spLocks noGrp="1"/>
          </p:cNvSpPr>
          <p:nvPr>
            <p:ph type="ftr" sz="quarter" idx="11"/>
          </p:nvPr>
        </p:nvSpPr>
        <p:spPr/>
        <p:txBody>
          <a:bodyPr/>
          <a:lstStyle/>
          <a:p>
            <a:r>
              <a:rPr lang="en-US" sz="900"/>
              <a:t>© Lean Horizons Consulting, LLC 2023. All Rights Reserved</a:t>
            </a:r>
            <a:endParaRPr lang="en-US" sz="900" dirty="0"/>
          </a:p>
        </p:txBody>
      </p:sp>
      <p:sp>
        <p:nvSpPr>
          <p:cNvPr id="4" name="Slide Number Placeholder 3">
            <a:extLst>
              <a:ext uri="{FF2B5EF4-FFF2-40B4-BE49-F238E27FC236}">
                <a16:creationId xmlns:a16="http://schemas.microsoft.com/office/drawing/2014/main" id="{94CED26B-079A-A22C-F98C-9FB8FF830091}"/>
              </a:ext>
            </a:extLst>
          </p:cNvPr>
          <p:cNvSpPr>
            <a:spLocks noGrp="1"/>
          </p:cNvSpPr>
          <p:nvPr>
            <p:ph type="sldNum" sz="quarter" idx="12"/>
          </p:nvPr>
        </p:nvSpPr>
        <p:spPr/>
        <p:txBody>
          <a:bodyPr/>
          <a:lstStyle/>
          <a:p>
            <a:fld id="{CC6D4273-7FC1-0947-B9FE-19CB3C0D1FB6}" type="slidenum">
              <a:rPr lang="en-US" smtClean="0"/>
              <a:pPr/>
              <a:t>60</a:t>
            </a:fld>
            <a:endParaRPr lang="en-US" dirty="0"/>
          </a:p>
        </p:txBody>
      </p:sp>
      <p:sp>
        <p:nvSpPr>
          <p:cNvPr id="10" name="Title 1">
            <a:extLst>
              <a:ext uri="{FF2B5EF4-FFF2-40B4-BE49-F238E27FC236}">
                <a16:creationId xmlns:a16="http://schemas.microsoft.com/office/drawing/2014/main" id="{2B53BC97-FB5E-8832-130E-EFB4174BED2A}"/>
              </a:ext>
            </a:extLst>
          </p:cNvPr>
          <p:cNvSpPr txBox="1">
            <a:spLocks/>
          </p:cNvSpPr>
          <p:nvPr/>
        </p:nvSpPr>
        <p:spPr>
          <a:xfrm>
            <a:off x="616232" y="706595"/>
            <a:ext cx="10515600" cy="1009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endParaRPr lang="en-US" dirty="0">
              <a:solidFill>
                <a:schemeClr val="tx1">
                  <a:lumMod val="95000"/>
                  <a:lumOff val="5000"/>
                </a:schemeClr>
              </a:solidFill>
            </a:endParaRPr>
          </a:p>
        </p:txBody>
      </p:sp>
      <p:grpSp>
        <p:nvGrpSpPr>
          <p:cNvPr id="38" name="Group 37">
            <a:extLst>
              <a:ext uri="{FF2B5EF4-FFF2-40B4-BE49-F238E27FC236}">
                <a16:creationId xmlns:a16="http://schemas.microsoft.com/office/drawing/2014/main" id="{6422CF71-4D29-BF68-A4AC-BF5560F379E9}"/>
              </a:ext>
            </a:extLst>
          </p:cNvPr>
          <p:cNvGrpSpPr/>
          <p:nvPr/>
        </p:nvGrpSpPr>
        <p:grpSpPr>
          <a:xfrm>
            <a:off x="802425" y="1941922"/>
            <a:ext cx="10010119" cy="4010424"/>
            <a:chOff x="1578864" y="1716245"/>
            <a:chExt cx="8099947" cy="4160888"/>
          </a:xfrm>
        </p:grpSpPr>
        <p:sp>
          <p:nvSpPr>
            <p:cNvPr id="24" name="Rectangle 23">
              <a:extLst>
                <a:ext uri="{FF2B5EF4-FFF2-40B4-BE49-F238E27FC236}">
                  <a16:creationId xmlns:a16="http://schemas.microsoft.com/office/drawing/2014/main" id="{D6A5BFD7-84FD-808A-D193-5F80D41DE6AB}"/>
                </a:ext>
              </a:extLst>
            </p:cNvPr>
            <p:cNvSpPr/>
            <p:nvPr/>
          </p:nvSpPr>
          <p:spPr>
            <a:xfrm>
              <a:off x="1733550" y="1716245"/>
              <a:ext cx="2152650" cy="1009650"/>
            </a:xfrm>
            <a:prstGeom prst="rect">
              <a:avLst/>
            </a:prstGeom>
            <a:solidFill>
              <a:srgbClr val="EE3228"/>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600" b="1" dirty="0">
                  <a:latin typeface="Roboto"/>
                  <a:ea typeface="Roboto"/>
                  <a:cs typeface="Roboto"/>
                </a:rPr>
                <a:t>Integration of Lean to achieve business imperatives</a:t>
              </a:r>
            </a:p>
          </p:txBody>
        </p:sp>
        <p:sp>
          <p:nvSpPr>
            <p:cNvPr id="25" name="Rectangle 24">
              <a:extLst>
                <a:ext uri="{FF2B5EF4-FFF2-40B4-BE49-F238E27FC236}">
                  <a16:creationId xmlns:a16="http://schemas.microsoft.com/office/drawing/2014/main" id="{5E0D209D-047C-6CD7-8B00-61CDE077E138}"/>
                </a:ext>
              </a:extLst>
            </p:cNvPr>
            <p:cNvSpPr/>
            <p:nvPr/>
          </p:nvSpPr>
          <p:spPr>
            <a:xfrm>
              <a:off x="4552950" y="1716245"/>
              <a:ext cx="2152650" cy="1009650"/>
            </a:xfrm>
            <a:prstGeom prst="rect">
              <a:avLst/>
            </a:prstGeom>
            <a:solidFill>
              <a:srgbClr val="EE3228"/>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600" b="1" dirty="0">
                  <a:latin typeface="Roboto"/>
                  <a:ea typeface="Roboto"/>
                  <a:cs typeface="Roboto"/>
                </a:rPr>
                <a:t>Demonstrated Executive and Leadership Commitment</a:t>
              </a:r>
            </a:p>
          </p:txBody>
        </p:sp>
        <p:sp>
          <p:nvSpPr>
            <p:cNvPr id="26" name="Rectangle 25">
              <a:extLst>
                <a:ext uri="{FF2B5EF4-FFF2-40B4-BE49-F238E27FC236}">
                  <a16:creationId xmlns:a16="http://schemas.microsoft.com/office/drawing/2014/main" id="{1F0CFB64-778E-946F-CA1A-96CD294F59AF}"/>
                </a:ext>
              </a:extLst>
            </p:cNvPr>
            <p:cNvSpPr/>
            <p:nvPr/>
          </p:nvSpPr>
          <p:spPr>
            <a:xfrm>
              <a:off x="7372350" y="1716245"/>
              <a:ext cx="2152650" cy="1009650"/>
            </a:xfrm>
            <a:prstGeom prst="rect">
              <a:avLst/>
            </a:prstGeom>
            <a:solidFill>
              <a:srgbClr val="EE3228"/>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600" b="1" dirty="0">
                  <a:latin typeface="Roboto"/>
                  <a:ea typeface="Roboto"/>
                  <a:cs typeface="Roboto"/>
                </a:rPr>
                <a:t>Culture Development</a:t>
              </a:r>
            </a:p>
          </p:txBody>
        </p:sp>
        <p:sp>
          <p:nvSpPr>
            <p:cNvPr id="27" name="TextBox 26">
              <a:extLst>
                <a:ext uri="{FF2B5EF4-FFF2-40B4-BE49-F238E27FC236}">
                  <a16:creationId xmlns:a16="http://schemas.microsoft.com/office/drawing/2014/main" id="{356C6883-00A9-030F-F7C1-8C3DC979ED30}"/>
                </a:ext>
              </a:extLst>
            </p:cNvPr>
            <p:cNvSpPr txBox="1"/>
            <p:nvPr/>
          </p:nvSpPr>
          <p:spPr>
            <a:xfrm>
              <a:off x="1578864" y="2956782"/>
              <a:ext cx="2459736" cy="1884011"/>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sz="1600" b="1" dirty="0">
                  <a:solidFill>
                    <a:schemeClr val="tx1">
                      <a:lumMod val="95000"/>
                      <a:lumOff val="5000"/>
                    </a:schemeClr>
                  </a:solidFill>
                  <a:latin typeface="Roboto"/>
                  <a:ea typeface="Roboto"/>
                  <a:cs typeface="Roboto"/>
                </a:rPr>
                <a:t>Significant movement in key financial and performance metrics</a:t>
              </a:r>
            </a:p>
            <a:p>
              <a:pPr marL="285750" indent="-285750">
                <a:buFont typeface="Arial" panose="020B0604020202020204" pitchFamily="34" charset="0"/>
                <a:buChar char="•"/>
              </a:pPr>
              <a:r>
                <a:rPr lang="en-US" sz="1600" b="1" dirty="0">
                  <a:solidFill>
                    <a:schemeClr val="tx1">
                      <a:lumMod val="95000"/>
                      <a:lumOff val="5000"/>
                    </a:schemeClr>
                  </a:solidFill>
                  <a:latin typeface="Roboto"/>
                  <a:ea typeface="Roboto"/>
                  <a:cs typeface="Roboto"/>
                </a:rPr>
                <a:t>Leveraging the operational capability</a:t>
              </a:r>
            </a:p>
            <a:p>
              <a:pPr marL="285750" indent="-285750">
                <a:buFont typeface="Arial" panose="020B0604020202020204" pitchFamily="34" charset="0"/>
                <a:buChar char="•"/>
              </a:pPr>
              <a:r>
                <a:rPr lang="en-US" sz="1600" b="1" dirty="0">
                  <a:solidFill>
                    <a:schemeClr val="tx1">
                      <a:lumMod val="95000"/>
                      <a:lumOff val="5000"/>
                    </a:schemeClr>
                  </a:solidFill>
                  <a:latin typeface="Roboto"/>
                  <a:ea typeface="Roboto"/>
                  <a:cs typeface="Roboto"/>
                </a:rPr>
                <a:t>Assess optimization at all levels</a:t>
              </a:r>
            </a:p>
          </p:txBody>
        </p:sp>
        <p:sp>
          <p:nvSpPr>
            <p:cNvPr id="28" name="TextBox 27">
              <a:extLst>
                <a:ext uri="{FF2B5EF4-FFF2-40B4-BE49-F238E27FC236}">
                  <a16:creationId xmlns:a16="http://schemas.microsoft.com/office/drawing/2014/main" id="{949CA32F-4AF8-D666-5471-CEA04D77D679}"/>
                </a:ext>
              </a:extLst>
            </p:cNvPr>
            <p:cNvSpPr txBox="1"/>
            <p:nvPr/>
          </p:nvSpPr>
          <p:spPr>
            <a:xfrm>
              <a:off x="4399407" y="2941461"/>
              <a:ext cx="2459736" cy="1373092"/>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sz="1600" b="1" dirty="0">
                  <a:solidFill>
                    <a:schemeClr val="tx1">
                      <a:lumMod val="95000"/>
                      <a:lumOff val="5000"/>
                    </a:schemeClr>
                  </a:solidFill>
                  <a:latin typeface="Roboto"/>
                  <a:ea typeface="Roboto"/>
                  <a:cs typeface="Roboto"/>
                </a:rPr>
                <a:t>Enterprise-wide strategy</a:t>
              </a:r>
            </a:p>
            <a:p>
              <a:pPr marL="285750" indent="-285750">
                <a:buFont typeface="Arial" panose="020B0604020202020204" pitchFamily="34" charset="0"/>
                <a:buChar char="•"/>
              </a:pPr>
              <a:r>
                <a:rPr lang="en-US" sz="1600" b="1" dirty="0">
                  <a:solidFill>
                    <a:schemeClr val="tx1">
                      <a:lumMod val="95000"/>
                      <a:lumOff val="5000"/>
                    </a:schemeClr>
                  </a:solidFill>
                  <a:latin typeface="Roboto"/>
                  <a:ea typeface="Roboto"/>
                  <a:cs typeface="Roboto"/>
                </a:rPr>
                <a:t>Learning to lead a Lean organization</a:t>
              </a:r>
            </a:p>
            <a:p>
              <a:pPr marL="285750" indent="-285750">
                <a:buFont typeface="Arial" panose="020B0604020202020204" pitchFamily="34" charset="0"/>
                <a:buChar char="•"/>
              </a:pPr>
              <a:r>
                <a:rPr lang="en-US" sz="1600" b="1" dirty="0">
                  <a:solidFill>
                    <a:schemeClr val="tx1">
                      <a:lumMod val="95000"/>
                      <a:lumOff val="5000"/>
                    </a:schemeClr>
                  </a:solidFill>
                  <a:latin typeface="Roboto"/>
                  <a:ea typeface="Roboto"/>
                  <a:cs typeface="Roboto"/>
                </a:rPr>
                <a:t>Infrastructure to support continuous improvement</a:t>
              </a:r>
            </a:p>
          </p:txBody>
        </p:sp>
        <p:sp>
          <p:nvSpPr>
            <p:cNvPr id="29" name="TextBox 28">
              <a:extLst>
                <a:ext uri="{FF2B5EF4-FFF2-40B4-BE49-F238E27FC236}">
                  <a16:creationId xmlns:a16="http://schemas.microsoft.com/office/drawing/2014/main" id="{0909F21E-7BCE-11D5-5065-7D6B68C5C6BD}"/>
                </a:ext>
              </a:extLst>
            </p:cNvPr>
            <p:cNvSpPr txBox="1"/>
            <p:nvPr/>
          </p:nvSpPr>
          <p:spPr>
            <a:xfrm>
              <a:off x="7218539" y="2941461"/>
              <a:ext cx="2460272" cy="2139469"/>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sz="1600" b="1" dirty="0">
                  <a:solidFill>
                    <a:schemeClr val="tx1">
                      <a:lumMod val="95000"/>
                      <a:lumOff val="5000"/>
                    </a:schemeClr>
                  </a:solidFill>
                  <a:latin typeface="Roboto"/>
                  <a:ea typeface="Roboto"/>
                  <a:cs typeface="Roboto"/>
                </a:rPr>
                <a:t>Problem solving at the lowest level in the organization</a:t>
              </a:r>
            </a:p>
            <a:p>
              <a:pPr marL="285750" indent="-285750">
                <a:buFont typeface="Arial" panose="020B0604020202020204" pitchFamily="34" charset="0"/>
                <a:buChar char="•"/>
              </a:pPr>
              <a:r>
                <a:rPr lang="en-US" sz="1600" b="1" dirty="0">
                  <a:solidFill>
                    <a:schemeClr val="tx1">
                      <a:lumMod val="95000"/>
                      <a:lumOff val="5000"/>
                    </a:schemeClr>
                  </a:solidFill>
                  <a:latin typeface="Roboto"/>
                  <a:ea typeface="Roboto"/>
                  <a:cs typeface="Roboto"/>
                </a:rPr>
                <a:t>Creating a “learning organization”</a:t>
              </a:r>
            </a:p>
            <a:p>
              <a:pPr marL="285750" indent="-285750">
                <a:buFont typeface="Arial" panose="020B0604020202020204" pitchFamily="34" charset="0"/>
                <a:buChar char="•"/>
              </a:pPr>
              <a:r>
                <a:rPr lang="en-US" sz="1600" b="1" dirty="0">
                  <a:solidFill>
                    <a:schemeClr val="tx1">
                      <a:lumMod val="95000"/>
                      <a:lumOff val="5000"/>
                    </a:schemeClr>
                  </a:solidFill>
                  <a:latin typeface="Roboto"/>
                  <a:ea typeface="Roboto"/>
                  <a:cs typeface="Roboto"/>
                </a:rPr>
                <a:t>Process execution/awareness</a:t>
              </a:r>
            </a:p>
            <a:p>
              <a:pPr marL="285750" indent="-285750">
                <a:buFont typeface="Arial" panose="020B0604020202020204" pitchFamily="34" charset="0"/>
                <a:buChar char="•"/>
              </a:pPr>
              <a:r>
                <a:rPr lang="en-US" sz="1600" b="1" dirty="0">
                  <a:solidFill>
                    <a:schemeClr val="tx1">
                      <a:lumMod val="95000"/>
                      <a:lumOff val="5000"/>
                    </a:schemeClr>
                  </a:solidFill>
                  <a:latin typeface="Roboto"/>
                  <a:ea typeface="Roboto"/>
                  <a:cs typeface="Roboto"/>
                </a:rPr>
                <a:t>Employee development</a:t>
              </a:r>
            </a:p>
          </p:txBody>
        </p:sp>
        <p:sp>
          <p:nvSpPr>
            <p:cNvPr id="30" name="Rectangle 4">
              <a:extLst>
                <a:ext uri="{FF2B5EF4-FFF2-40B4-BE49-F238E27FC236}">
                  <a16:creationId xmlns:a16="http://schemas.microsoft.com/office/drawing/2014/main" id="{70B8D161-B097-4937-20C9-0B5BFD6161C3}"/>
                </a:ext>
              </a:extLst>
            </p:cNvPr>
            <p:cNvSpPr>
              <a:spLocks noChangeArrowheads="1"/>
            </p:cNvSpPr>
            <p:nvPr/>
          </p:nvSpPr>
          <p:spPr bwMode="auto">
            <a:xfrm>
              <a:off x="1733550" y="5249785"/>
              <a:ext cx="7791450" cy="627348"/>
            </a:xfrm>
            <a:prstGeom prst="rect">
              <a:avLst/>
            </a:prstGeom>
            <a:solidFill>
              <a:srgbClr val="EE3228"/>
            </a:solidFill>
            <a:ln w="19050">
              <a:solidFill>
                <a:schemeClr val="tx1"/>
              </a:solidFill>
              <a:prstDash val="sysDot"/>
              <a:miter lim="800000"/>
              <a:headEnd/>
              <a:tailEnd/>
            </a:ln>
          </p:spPr>
          <p:txBody>
            <a:bodyPr lIns="91440" tIns="45720" rIns="91440" bIns="45720"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3600" dirty="0">
                  <a:solidFill>
                    <a:schemeClr val="bg1"/>
                  </a:solidFill>
                  <a:latin typeface="Roboto"/>
                  <a:ea typeface="Roboto"/>
                  <a:cs typeface="Roboto"/>
                </a:rPr>
                <a:t>Lean Transformation</a:t>
              </a:r>
            </a:p>
          </p:txBody>
        </p:sp>
        <p:cxnSp>
          <p:nvCxnSpPr>
            <p:cNvPr id="31" name="Connector: Elbow 30">
              <a:extLst>
                <a:ext uri="{FF2B5EF4-FFF2-40B4-BE49-F238E27FC236}">
                  <a16:creationId xmlns:a16="http://schemas.microsoft.com/office/drawing/2014/main" id="{F23DE530-99C4-FB1E-0668-A5D3F616BDEE}"/>
                </a:ext>
              </a:extLst>
            </p:cNvPr>
            <p:cNvCxnSpPr>
              <a:cxnSpLocks/>
              <a:stCxn id="24" idx="1"/>
              <a:endCxn id="30" idx="1"/>
            </p:cNvCxnSpPr>
            <p:nvPr/>
          </p:nvCxnSpPr>
          <p:spPr>
            <a:xfrm rot="10800000" flipV="1">
              <a:off x="1733550" y="2221069"/>
              <a:ext cx="12700" cy="3342389"/>
            </a:xfrm>
            <a:prstGeom prst="bentConnector3">
              <a:avLst>
                <a:gd name="adj1" fmla="val 1800000"/>
              </a:avLst>
            </a:prstGeom>
            <a:noFill/>
            <a:ln w="63500" cap="flat">
              <a:solidFill>
                <a:schemeClr val="bg1">
                  <a:alpha val="75000"/>
                </a:schemeClr>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5" name="Connector: Elbow 34">
              <a:extLst>
                <a:ext uri="{FF2B5EF4-FFF2-40B4-BE49-F238E27FC236}">
                  <a16:creationId xmlns:a16="http://schemas.microsoft.com/office/drawing/2014/main" id="{7351F404-FEF2-DD4F-8AA6-BA2EF6DDD062}"/>
                </a:ext>
              </a:extLst>
            </p:cNvPr>
            <p:cNvCxnSpPr>
              <a:cxnSpLocks/>
              <a:stCxn id="26" idx="3"/>
              <a:endCxn id="30" idx="3"/>
            </p:cNvCxnSpPr>
            <p:nvPr/>
          </p:nvCxnSpPr>
          <p:spPr>
            <a:xfrm>
              <a:off x="9525000" y="2221070"/>
              <a:ext cx="12700" cy="3342389"/>
            </a:xfrm>
            <a:prstGeom prst="bentConnector3">
              <a:avLst>
                <a:gd name="adj1" fmla="val 1800000"/>
              </a:avLst>
            </a:prstGeom>
            <a:noFill/>
            <a:ln w="63500" cap="flat">
              <a:solidFill>
                <a:schemeClr val="bg1">
                  <a:alpha val="75000"/>
                </a:schemeClr>
              </a:solidFill>
              <a:prstDash val="solid"/>
              <a:miter lim="400000"/>
              <a:tailEnd type="triangle"/>
            </a:ln>
            <a:effectLst/>
            <a:sp3d/>
          </p:spPr>
          <p:style>
            <a:lnRef idx="0">
              <a:scrgbClr r="0" g="0" b="0"/>
            </a:lnRef>
            <a:fillRef idx="0">
              <a:scrgbClr r="0" g="0" b="0"/>
            </a:fillRef>
            <a:effectRef idx="0">
              <a:scrgbClr r="0" g="0" b="0"/>
            </a:effectRef>
            <a:fontRef idx="none"/>
          </p:style>
        </p:cxnSp>
      </p:grpSp>
      <p:sp>
        <p:nvSpPr>
          <p:cNvPr id="12" name="AutoShape 11">
            <a:extLst>
              <a:ext uri="{FF2B5EF4-FFF2-40B4-BE49-F238E27FC236}">
                <a16:creationId xmlns:a16="http://schemas.microsoft.com/office/drawing/2014/main" id="{EC1A2CF0-ECB8-C5D8-AD62-9C4262CBDD52}"/>
              </a:ext>
            </a:extLst>
          </p:cNvPr>
          <p:cNvSpPr>
            <a:spLocks noChangeArrowheads="1"/>
          </p:cNvSpPr>
          <p:nvPr/>
        </p:nvSpPr>
        <p:spPr bwMode="auto">
          <a:xfrm>
            <a:off x="1567598" y="315206"/>
            <a:ext cx="432817" cy="265061"/>
          </a:xfrm>
          <a:prstGeom prst="homePlate">
            <a:avLst>
              <a:gd name="adj" fmla="val 29912"/>
            </a:avLst>
          </a:prstGeom>
          <a:solidFill>
            <a:srgbClr val="FFB627"/>
          </a:solidFill>
          <a:ln w="12700" cap="sq">
            <a:solidFill>
              <a:schemeClr val="bg2"/>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1" name="AutoShape 9">
            <a:extLst>
              <a:ext uri="{FF2B5EF4-FFF2-40B4-BE49-F238E27FC236}">
                <a16:creationId xmlns:a16="http://schemas.microsoft.com/office/drawing/2014/main" id="{3040DF29-13DB-7EFC-191D-46AE678F79CF}"/>
              </a:ext>
            </a:extLst>
          </p:cNvPr>
          <p:cNvSpPr>
            <a:spLocks noChangeArrowheads="1"/>
          </p:cNvSpPr>
          <p:nvPr/>
        </p:nvSpPr>
        <p:spPr bwMode="auto">
          <a:xfrm>
            <a:off x="1302555" y="315206"/>
            <a:ext cx="432817" cy="265061"/>
          </a:xfrm>
          <a:prstGeom prst="homePlate">
            <a:avLst>
              <a:gd name="adj" fmla="val 29912"/>
            </a:avLst>
          </a:prstGeom>
          <a:solidFill>
            <a:srgbClr val="222222"/>
          </a:solidFill>
          <a:ln w="12700" cap="sq">
            <a:solidFill>
              <a:schemeClr val="bg2"/>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3" name="AutoShape 10">
            <a:extLst>
              <a:ext uri="{FF2B5EF4-FFF2-40B4-BE49-F238E27FC236}">
                <a16:creationId xmlns:a16="http://schemas.microsoft.com/office/drawing/2014/main" id="{34E9CC88-09AB-369C-3D0D-CED534E4B827}"/>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2"/>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4" name="TextBox 13">
            <a:extLst>
              <a:ext uri="{FF2B5EF4-FFF2-40B4-BE49-F238E27FC236}">
                <a16:creationId xmlns:a16="http://schemas.microsoft.com/office/drawing/2014/main" id="{6102DBD6-7B95-9E6B-817F-9B7E37056A87}"/>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Lean Transformation</a:t>
            </a:r>
          </a:p>
        </p:txBody>
      </p:sp>
    </p:spTree>
    <p:extLst>
      <p:ext uri="{BB962C8B-B14F-4D97-AF65-F5344CB8AC3E}">
        <p14:creationId xmlns:p14="http://schemas.microsoft.com/office/powerpoint/2010/main" val="181905943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itle 24">
            <a:extLst>
              <a:ext uri="{FF2B5EF4-FFF2-40B4-BE49-F238E27FC236}">
                <a16:creationId xmlns:a16="http://schemas.microsoft.com/office/drawing/2014/main" id="{07259D3B-046F-8215-5C72-736635951DFB}"/>
              </a:ext>
            </a:extLst>
          </p:cNvPr>
          <p:cNvSpPr>
            <a:spLocks noGrp="1"/>
          </p:cNvSpPr>
          <p:nvPr>
            <p:ph type="title"/>
          </p:nvPr>
        </p:nvSpPr>
        <p:spPr/>
        <p:txBody>
          <a:bodyPr>
            <a:normAutofit/>
          </a:bodyPr>
          <a:lstStyle/>
          <a:p>
            <a:r>
              <a:rPr lang="en-US" sz="3800" dirty="0">
                <a:solidFill>
                  <a:schemeClr val="tx1">
                    <a:lumMod val="95000"/>
                    <a:lumOff val="5000"/>
                  </a:schemeClr>
                </a:solidFill>
              </a:rPr>
              <a:t>Steps to Transform into a Lean Organization</a:t>
            </a:r>
            <a:endParaRPr lang="en-US" sz="3800" dirty="0"/>
          </a:p>
        </p:txBody>
      </p:sp>
      <p:sp>
        <p:nvSpPr>
          <p:cNvPr id="3" name="Footer Placeholder 2">
            <a:extLst>
              <a:ext uri="{FF2B5EF4-FFF2-40B4-BE49-F238E27FC236}">
                <a16:creationId xmlns:a16="http://schemas.microsoft.com/office/drawing/2014/main" id="{A76F1D62-B558-A715-F7C3-E85FA65F1AE9}"/>
              </a:ext>
            </a:extLst>
          </p:cNvPr>
          <p:cNvSpPr>
            <a:spLocks noGrp="1"/>
          </p:cNvSpPr>
          <p:nvPr>
            <p:ph type="ftr" sz="quarter" idx="11"/>
          </p:nvPr>
        </p:nvSpPr>
        <p:spPr/>
        <p:txBody>
          <a:bodyPr/>
          <a:lstStyle/>
          <a:p>
            <a:r>
              <a:rPr lang="en-US" sz="900"/>
              <a:t>© Lean Horizons Consulting, LLC 2023. All Rights Reserved</a:t>
            </a:r>
            <a:endParaRPr lang="en-US" sz="900" dirty="0"/>
          </a:p>
        </p:txBody>
      </p:sp>
      <p:sp>
        <p:nvSpPr>
          <p:cNvPr id="4" name="Slide Number Placeholder 3">
            <a:extLst>
              <a:ext uri="{FF2B5EF4-FFF2-40B4-BE49-F238E27FC236}">
                <a16:creationId xmlns:a16="http://schemas.microsoft.com/office/drawing/2014/main" id="{94CED26B-079A-A22C-F98C-9FB8FF830091}"/>
              </a:ext>
            </a:extLst>
          </p:cNvPr>
          <p:cNvSpPr>
            <a:spLocks noGrp="1"/>
          </p:cNvSpPr>
          <p:nvPr>
            <p:ph type="sldNum" sz="quarter" idx="12"/>
          </p:nvPr>
        </p:nvSpPr>
        <p:spPr/>
        <p:txBody>
          <a:bodyPr/>
          <a:lstStyle/>
          <a:p>
            <a:fld id="{CC6D4273-7FC1-0947-B9FE-19CB3C0D1FB6}" type="slidenum">
              <a:rPr lang="en-US" smtClean="0"/>
              <a:pPr/>
              <a:t>61</a:t>
            </a:fld>
            <a:endParaRPr lang="en-US" dirty="0"/>
          </a:p>
        </p:txBody>
      </p:sp>
      <p:sp>
        <p:nvSpPr>
          <p:cNvPr id="10" name="Title 1">
            <a:extLst>
              <a:ext uri="{FF2B5EF4-FFF2-40B4-BE49-F238E27FC236}">
                <a16:creationId xmlns:a16="http://schemas.microsoft.com/office/drawing/2014/main" id="{2B53BC97-FB5E-8832-130E-EFB4174BED2A}"/>
              </a:ext>
            </a:extLst>
          </p:cNvPr>
          <p:cNvSpPr txBox="1">
            <a:spLocks/>
          </p:cNvSpPr>
          <p:nvPr/>
        </p:nvSpPr>
        <p:spPr>
          <a:xfrm>
            <a:off x="616232" y="706595"/>
            <a:ext cx="10515600" cy="1009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endParaRPr lang="en-US" sz="4000" dirty="0">
              <a:solidFill>
                <a:schemeClr val="tx1">
                  <a:lumMod val="95000"/>
                  <a:lumOff val="5000"/>
                </a:schemeClr>
              </a:solidFill>
            </a:endParaRPr>
          </a:p>
        </p:txBody>
      </p:sp>
      <p:grpSp>
        <p:nvGrpSpPr>
          <p:cNvPr id="11" name="Group 7">
            <a:extLst>
              <a:ext uri="{FF2B5EF4-FFF2-40B4-BE49-F238E27FC236}">
                <a16:creationId xmlns:a16="http://schemas.microsoft.com/office/drawing/2014/main" id="{DDEAF7B6-902D-C30B-B3B1-686E4FC34427}"/>
              </a:ext>
            </a:extLst>
          </p:cNvPr>
          <p:cNvGrpSpPr>
            <a:grpSpLocks/>
          </p:cNvGrpSpPr>
          <p:nvPr/>
        </p:nvGrpSpPr>
        <p:grpSpPr bwMode="auto">
          <a:xfrm>
            <a:off x="838200" y="1921015"/>
            <a:ext cx="10877112" cy="488339"/>
            <a:chOff x="482" y="1272"/>
            <a:chExt cx="4030" cy="394"/>
          </a:xfrm>
          <a:solidFill>
            <a:schemeClr val="accent3"/>
          </a:solidFill>
        </p:grpSpPr>
        <p:sp>
          <p:nvSpPr>
            <p:cNvPr id="12" name="AutoShape 8">
              <a:extLst>
                <a:ext uri="{FF2B5EF4-FFF2-40B4-BE49-F238E27FC236}">
                  <a16:creationId xmlns:a16="http://schemas.microsoft.com/office/drawing/2014/main" id="{74FF376E-8914-A420-87B8-ADD0B5E6FB50}"/>
                </a:ext>
              </a:extLst>
            </p:cNvPr>
            <p:cNvSpPr>
              <a:spLocks noChangeArrowheads="1"/>
            </p:cNvSpPr>
            <p:nvPr/>
          </p:nvSpPr>
          <p:spPr bwMode="auto">
            <a:xfrm>
              <a:off x="3360" y="1272"/>
              <a:ext cx="1152" cy="394"/>
            </a:xfrm>
            <a:prstGeom prst="homePlate">
              <a:avLst>
                <a:gd name="adj" fmla="val 43695"/>
              </a:avLst>
            </a:prstGeom>
            <a:solidFill>
              <a:schemeClr val="bg1">
                <a:lumMod val="50000"/>
              </a:schemeClr>
            </a:solidFill>
            <a:ln w="19050">
              <a:solidFill>
                <a:schemeClr val="bg1"/>
              </a:solidFill>
              <a:miter lim="800000"/>
              <a:headEnd/>
              <a:tailEnd/>
            </a:ln>
          </p:spPr>
          <p:txBody>
            <a:bodyPr lIns="45720" tIns="46038" rIns="45720" bIns="46038"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95000"/>
                </a:lnSpc>
                <a:spcBef>
                  <a:spcPct val="0"/>
                </a:spcBef>
                <a:spcAft>
                  <a:spcPct val="0"/>
                </a:spcAft>
                <a:buClrTx/>
                <a:buSzTx/>
                <a:buFontTx/>
                <a:buNone/>
              </a:pPr>
              <a:r>
                <a:rPr lang="en-US" altLang="en-US" sz="3200" b="1" dirty="0">
                  <a:solidFill>
                    <a:schemeClr val="bg1"/>
                  </a:solidFill>
                  <a:latin typeface="Roboto"/>
                  <a:ea typeface="Roboto"/>
                  <a:cs typeface="Roboto"/>
                </a:rPr>
                <a:t>   Transform</a:t>
              </a:r>
            </a:p>
          </p:txBody>
        </p:sp>
        <p:sp>
          <p:nvSpPr>
            <p:cNvPr id="13" name="AutoShape 9">
              <a:extLst>
                <a:ext uri="{FF2B5EF4-FFF2-40B4-BE49-F238E27FC236}">
                  <a16:creationId xmlns:a16="http://schemas.microsoft.com/office/drawing/2014/main" id="{F2A01333-0DF9-B377-4C84-E89B3C62FE13}"/>
                </a:ext>
              </a:extLst>
            </p:cNvPr>
            <p:cNvSpPr>
              <a:spLocks noChangeArrowheads="1"/>
            </p:cNvSpPr>
            <p:nvPr/>
          </p:nvSpPr>
          <p:spPr bwMode="auto">
            <a:xfrm>
              <a:off x="2351" y="1272"/>
              <a:ext cx="1196" cy="394"/>
            </a:xfrm>
            <a:prstGeom prst="homePlate">
              <a:avLst>
                <a:gd name="adj" fmla="val 45322"/>
              </a:avLst>
            </a:prstGeom>
            <a:solidFill>
              <a:schemeClr val="bg1">
                <a:lumMod val="50000"/>
              </a:schemeClr>
            </a:solidFill>
            <a:ln w="19050">
              <a:solidFill>
                <a:schemeClr val="bg1"/>
              </a:solidFill>
              <a:miter lim="800000"/>
              <a:headEnd/>
              <a:tailEnd/>
            </a:ln>
          </p:spPr>
          <p:txBody>
            <a:bodyPr lIns="45720" tIns="46038" rIns="45720" bIns="46038"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95000"/>
                </a:lnSpc>
                <a:spcBef>
                  <a:spcPct val="0"/>
                </a:spcBef>
                <a:spcAft>
                  <a:spcPct val="0"/>
                </a:spcAft>
                <a:buClrTx/>
                <a:buSzTx/>
                <a:buNone/>
              </a:pPr>
              <a:r>
                <a:rPr lang="en-US" altLang="en-US" sz="3200" b="1" dirty="0">
                  <a:solidFill>
                    <a:schemeClr val="bg1"/>
                  </a:solidFill>
                  <a:latin typeface="Roboto"/>
                  <a:ea typeface="Roboto"/>
                  <a:cs typeface="Roboto"/>
                </a:rPr>
                <a:t>     Accelerate</a:t>
              </a:r>
            </a:p>
          </p:txBody>
        </p:sp>
        <p:sp>
          <p:nvSpPr>
            <p:cNvPr id="14" name="AutoShape 10">
              <a:extLst>
                <a:ext uri="{FF2B5EF4-FFF2-40B4-BE49-F238E27FC236}">
                  <a16:creationId xmlns:a16="http://schemas.microsoft.com/office/drawing/2014/main" id="{394FF5C5-E0DE-0D2D-76CB-6643DA65CA16}"/>
                </a:ext>
              </a:extLst>
            </p:cNvPr>
            <p:cNvSpPr>
              <a:spLocks noChangeArrowheads="1"/>
            </p:cNvSpPr>
            <p:nvPr/>
          </p:nvSpPr>
          <p:spPr bwMode="auto">
            <a:xfrm>
              <a:off x="1453" y="1272"/>
              <a:ext cx="1154" cy="394"/>
            </a:xfrm>
            <a:prstGeom prst="homePlate">
              <a:avLst>
                <a:gd name="adj" fmla="val 38090"/>
              </a:avLst>
            </a:prstGeom>
            <a:solidFill>
              <a:schemeClr val="bg1">
                <a:lumMod val="50000"/>
              </a:schemeClr>
            </a:solidFill>
            <a:ln w="19050">
              <a:solidFill>
                <a:schemeClr val="bg1"/>
              </a:solidFill>
              <a:miter lim="800000"/>
              <a:headEnd/>
              <a:tailEnd/>
            </a:ln>
          </p:spPr>
          <p:txBody>
            <a:bodyPr lIns="45720" tIns="46038" rIns="45720" bIns="46038" anchor="ctr"/>
            <a:lstStyle>
              <a:lvl1pPr marL="171450">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95000"/>
                </a:lnSpc>
                <a:spcBef>
                  <a:spcPct val="0"/>
                </a:spcBef>
                <a:spcAft>
                  <a:spcPct val="0"/>
                </a:spcAft>
                <a:buClrTx/>
                <a:buSzTx/>
                <a:buFontTx/>
                <a:buNone/>
              </a:pPr>
              <a:r>
                <a:rPr lang="en-US" altLang="en-US" sz="3200" b="1" dirty="0">
                  <a:solidFill>
                    <a:schemeClr val="bg1"/>
                  </a:solidFill>
                  <a:latin typeface="Roboto"/>
                  <a:ea typeface="Roboto"/>
                  <a:cs typeface="Roboto"/>
                </a:rPr>
                <a:t>Stabilize</a:t>
              </a:r>
            </a:p>
          </p:txBody>
        </p:sp>
        <p:sp>
          <p:nvSpPr>
            <p:cNvPr id="15" name="AutoShape 11">
              <a:extLst>
                <a:ext uri="{FF2B5EF4-FFF2-40B4-BE49-F238E27FC236}">
                  <a16:creationId xmlns:a16="http://schemas.microsoft.com/office/drawing/2014/main" id="{40A4A2B5-4825-CA3D-4B39-6183185CFA03}"/>
                </a:ext>
              </a:extLst>
            </p:cNvPr>
            <p:cNvSpPr>
              <a:spLocks noChangeArrowheads="1"/>
            </p:cNvSpPr>
            <p:nvPr/>
          </p:nvSpPr>
          <p:spPr bwMode="auto">
            <a:xfrm>
              <a:off x="482" y="1272"/>
              <a:ext cx="1152" cy="394"/>
            </a:xfrm>
            <a:prstGeom prst="homePlate">
              <a:avLst>
                <a:gd name="adj" fmla="val 42504"/>
              </a:avLst>
            </a:prstGeom>
            <a:solidFill>
              <a:schemeClr val="bg1">
                <a:lumMod val="50000"/>
              </a:schemeClr>
            </a:solidFill>
            <a:ln w="19050">
              <a:solidFill>
                <a:schemeClr val="bg1"/>
              </a:solidFill>
              <a:miter lim="800000"/>
              <a:headEnd/>
              <a:tailEnd/>
            </a:ln>
          </p:spPr>
          <p:txBody>
            <a:bodyPr lIns="45720" tIns="46038" rIns="45720" bIns="46038"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95000"/>
                </a:lnSpc>
                <a:spcBef>
                  <a:spcPct val="0"/>
                </a:spcBef>
                <a:spcAft>
                  <a:spcPct val="0"/>
                </a:spcAft>
                <a:buClrTx/>
                <a:buSzTx/>
                <a:buFontTx/>
                <a:buNone/>
              </a:pPr>
              <a:r>
                <a:rPr lang="en-US" altLang="en-US" sz="3200" b="1" dirty="0">
                  <a:solidFill>
                    <a:schemeClr val="bg1"/>
                  </a:solidFill>
                  <a:latin typeface="Roboto"/>
                  <a:ea typeface="Roboto"/>
                  <a:cs typeface="Roboto"/>
                </a:rPr>
                <a:t>Introduce</a:t>
              </a:r>
            </a:p>
          </p:txBody>
        </p:sp>
      </p:grpSp>
      <p:sp>
        <p:nvSpPr>
          <p:cNvPr id="16" name="TextBox 15">
            <a:extLst>
              <a:ext uri="{FF2B5EF4-FFF2-40B4-BE49-F238E27FC236}">
                <a16:creationId xmlns:a16="http://schemas.microsoft.com/office/drawing/2014/main" id="{B55191E7-2C2E-6320-3152-74D712616921}"/>
              </a:ext>
            </a:extLst>
          </p:cNvPr>
          <p:cNvSpPr txBox="1"/>
          <p:nvPr/>
        </p:nvSpPr>
        <p:spPr>
          <a:xfrm>
            <a:off x="1025532" y="2767280"/>
            <a:ext cx="2292068" cy="1323439"/>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sz="1600" b="1" dirty="0">
                <a:solidFill>
                  <a:schemeClr val="tx1">
                    <a:lumMod val="95000"/>
                    <a:lumOff val="5000"/>
                  </a:schemeClr>
                </a:solidFill>
                <a:latin typeface="Roboto"/>
                <a:ea typeface="Roboto"/>
                <a:cs typeface="Roboto"/>
              </a:rPr>
              <a:t>Leadership commitment</a:t>
            </a:r>
          </a:p>
          <a:p>
            <a:pPr marL="285750" indent="-285750">
              <a:buFont typeface="Arial" panose="020B0604020202020204" pitchFamily="34" charset="0"/>
              <a:buChar char="•"/>
            </a:pPr>
            <a:r>
              <a:rPr lang="en-US" sz="1600" b="1" dirty="0">
                <a:solidFill>
                  <a:schemeClr val="tx1">
                    <a:lumMod val="95000"/>
                    <a:lumOff val="5000"/>
                  </a:schemeClr>
                </a:solidFill>
                <a:latin typeface="Roboto"/>
                <a:ea typeface="Roboto"/>
                <a:cs typeface="Roboto"/>
              </a:rPr>
              <a:t>Creating a crisis</a:t>
            </a:r>
          </a:p>
          <a:p>
            <a:pPr marL="285750" indent="-285750">
              <a:buFont typeface="Arial" panose="020B0604020202020204" pitchFamily="34" charset="0"/>
              <a:buChar char="•"/>
            </a:pPr>
            <a:r>
              <a:rPr lang="en-US" sz="1600" b="1" dirty="0">
                <a:solidFill>
                  <a:schemeClr val="tx1">
                    <a:lumMod val="95000"/>
                    <a:lumOff val="5000"/>
                  </a:schemeClr>
                </a:solidFill>
                <a:latin typeface="Roboto"/>
                <a:ea typeface="Roboto"/>
                <a:cs typeface="Roboto"/>
              </a:rPr>
              <a:t>Engagement at all levels</a:t>
            </a:r>
          </a:p>
        </p:txBody>
      </p:sp>
      <p:sp>
        <p:nvSpPr>
          <p:cNvPr id="17" name="TextBox 16">
            <a:extLst>
              <a:ext uri="{FF2B5EF4-FFF2-40B4-BE49-F238E27FC236}">
                <a16:creationId xmlns:a16="http://schemas.microsoft.com/office/drawing/2014/main" id="{DE57CFA9-A913-D868-0E47-71972DAF40A4}"/>
              </a:ext>
            </a:extLst>
          </p:cNvPr>
          <p:cNvSpPr txBox="1"/>
          <p:nvPr/>
        </p:nvSpPr>
        <p:spPr>
          <a:xfrm>
            <a:off x="3946019" y="2767280"/>
            <a:ext cx="2292068" cy="1323439"/>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sz="1600" b="1" dirty="0">
                <a:solidFill>
                  <a:schemeClr val="tx1">
                    <a:lumMod val="95000"/>
                    <a:lumOff val="5000"/>
                  </a:schemeClr>
                </a:solidFill>
                <a:latin typeface="Roboto"/>
                <a:ea typeface="Roboto"/>
                <a:cs typeface="Roboto"/>
              </a:rPr>
              <a:t>Systems approach to Lean Transformation</a:t>
            </a:r>
          </a:p>
          <a:p>
            <a:pPr marL="285750" indent="-285750">
              <a:buFont typeface="Arial" panose="020B0604020202020204" pitchFamily="34" charset="0"/>
              <a:buChar char="•"/>
            </a:pPr>
            <a:r>
              <a:rPr lang="en-US" sz="1600" b="1" dirty="0">
                <a:solidFill>
                  <a:schemeClr val="tx1">
                    <a:lumMod val="95000"/>
                    <a:lumOff val="5000"/>
                  </a:schemeClr>
                </a:solidFill>
                <a:latin typeface="Roboto"/>
                <a:ea typeface="Roboto"/>
                <a:cs typeface="Roboto"/>
              </a:rPr>
              <a:t>Monitoring progress</a:t>
            </a:r>
          </a:p>
        </p:txBody>
      </p:sp>
      <p:sp>
        <p:nvSpPr>
          <p:cNvPr id="18" name="TextBox 17">
            <a:extLst>
              <a:ext uri="{FF2B5EF4-FFF2-40B4-BE49-F238E27FC236}">
                <a16:creationId xmlns:a16="http://schemas.microsoft.com/office/drawing/2014/main" id="{B229CE97-0D30-C7FB-951E-2C7F9213C8F4}"/>
              </a:ext>
            </a:extLst>
          </p:cNvPr>
          <p:cNvSpPr txBox="1"/>
          <p:nvPr/>
        </p:nvSpPr>
        <p:spPr>
          <a:xfrm>
            <a:off x="6582334" y="2767279"/>
            <a:ext cx="2292068" cy="1815882"/>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sz="1600" b="1" dirty="0">
                <a:solidFill>
                  <a:schemeClr val="tx1">
                    <a:lumMod val="95000"/>
                    <a:lumOff val="5000"/>
                  </a:schemeClr>
                </a:solidFill>
                <a:latin typeface="Roboto"/>
                <a:ea typeface="Roboto"/>
                <a:cs typeface="Roboto"/>
              </a:rPr>
              <a:t>Replicating new best practices</a:t>
            </a:r>
          </a:p>
          <a:p>
            <a:pPr marL="285750" indent="-285750">
              <a:buFont typeface="Arial" panose="020B0604020202020204" pitchFamily="34" charset="0"/>
              <a:buChar char="•"/>
            </a:pPr>
            <a:r>
              <a:rPr lang="en-US" sz="1600" b="1" dirty="0">
                <a:solidFill>
                  <a:schemeClr val="tx1">
                    <a:lumMod val="95000"/>
                    <a:lumOff val="5000"/>
                  </a:schemeClr>
                </a:solidFill>
                <a:latin typeface="Roboto"/>
                <a:ea typeface="Roboto"/>
                <a:cs typeface="Roboto"/>
              </a:rPr>
              <a:t>Celebrating and rewarding success</a:t>
            </a:r>
          </a:p>
          <a:p>
            <a:pPr marL="285750" indent="-285750">
              <a:buFont typeface="Arial" panose="020B0604020202020204" pitchFamily="34" charset="0"/>
              <a:buChar char="•"/>
            </a:pPr>
            <a:r>
              <a:rPr lang="en-US" sz="1600" b="1" dirty="0">
                <a:solidFill>
                  <a:schemeClr val="tx1">
                    <a:lumMod val="95000"/>
                    <a:lumOff val="5000"/>
                  </a:schemeClr>
                </a:solidFill>
                <a:latin typeface="Roboto"/>
                <a:ea typeface="Roboto"/>
                <a:cs typeface="Roboto"/>
              </a:rPr>
              <a:t>Widely communicate lessons learned</a:t>
            </a:r>
          </a:p>
        </p:txBody>
      </p:sp>
      <p:sp>
        <p:nvSpPr>
          <p:cNvPr id="19" name="TextBox 18">
            <a:extLst>
              <a:ext uri="{FF2B5EF4-FFF2-40B4-BE49-F238E27FC236}">
                <a16:creationId xmlns:a16="http://schemas.microsoft.com/office/drawing/2014/main" id="{48753F07-1D84-084D-5C4D-64BC2390AD50}"/>
              </a:ext>
            </a:extLst>
          </p:cNvPr>
          <p:cNvSpPr txBox="1"/>
          <p:nvPr/>
        </p:nvSpPr>
        <p:spPr>
          <a:xfrm>
            <a:off x="9218649" y="2767278"/>
            <a:ext cx="2292068" cy="2308324"/>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sz="1600" b="1" dirty="0">
                <a:solidFill>
                  <a:schemeClr val="tx1">
                    <a:lumMod val="95000"/>
                    <a:lumOff val="5000"/>
                  </a:schemeClr>
                </a:solidFill>
                <a:latin typeface="Roboto"/>
                <a:ea typeface="Roboto"/>
                <a:cs typeface="Roboto"/>
              </a:rPr>
              <a:t>Lean is the “go to” way to drive improvement</a:t>
            </a:r>
          </a:p>
          <a:p>
            <a:pPr marL="285750" indent="-285750">
              <a:buFont typeface="Arial" panose="020B0604020202020204" pitchFamily="34" charset="0"/>
              <a:buChar char="•"/>
            </a:pPr>
            <a:r>
              <a:rPr lang="en-US" sz="1600" b="1" dirty="0">
                <a:solidFill>
                  <a:schemeClr val="tx1">
                    <a:lumMod val="95000"/>
                    <a:lumOff val="5000"/>
                  </a:schemeClr>
                </a:solidFill>
                <a:latin typeface="Roboto"/>
                <a:ea typeface="Roboto"/>
                <a:cs typeface="Roboto"/>
              </a:rPr>
              <a:t>Lean becomes a true competitive advantage</a:t>
            </a:r>
          </a:p>
          <a:p>
            <a:pPr marL="285750" indent="-285750">
              <a:buFont typeface="Arial" panose="020B0604020202020204" pitchFamily="34" charset="0"/>
              <a:buChar char="•"/>
            </a:pPr>
            <a:r>
              <a:rPr lang="en-US" sz="1600" b="1" dirty="0">
                <a:solidFill>
                  <a:schemeClr val="tx1">
                    <a:lumMod val="95000"/>
                    <a:lumOff val="5000"/>
                  </a:schemeClr>
                </a:solidFill>
                <a:latin typeface="Roboto"/>
                <a:ea typeface="Roboto"/>
                <a:cs typeface="Roboto"/>
              </a:rPr>
              <a:t>Talent hired and promoted based on ability to drive Lean</a:t>
            </a:r>
          </a:p>
        </p:txBody>
      </p:sp>
      <p:sp>
        <p:nvSpPr>
          <p:cNvPr id="20" name="AutoShape 13">
            <a:extLst>
              <a:ext uri="{FF2B5EF4-FFF2-40B4-BE49-F238E27FC236}">
                <a16:creationId xmlns:a16="http://schemas.microsoft.com/office/drawing/2014/main" id="{6D61332C-A913-1D4E-FAA9-4B858B93B44E}"/>
              </a:ext>
            </a:extLst>
          </p:cNvPr>
          <p:cNvSpPr>
            <a:spLocks noChangeArrowheads="1"/>
          </p:cNvSpPr>
          <p:nvPr/>
        </p:nvSpPr>
        <p:spPr bwMode="auto">
          <a:xfrm>
            <a:off x="476688" y="5184554"/>
            <a:ext cx="11238624" cy="650580"/>
          </a:xfrm>
          <a:prstGeom prst="homePlate">
            <a:avLst>
              <a:gd name="adj" fmla="val 32169"/>
            </a:avLst>
          </a:prstGeom>
          <a:solidFill>
            <a:srgbClr val="EE3228"/>
          </a:solidFill>
          <a:ln>
            <a:noFill/>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US" altLang="en-US" sz="3200" dirty="0">
                <a:solidFill>
                  <a:schemeClr val="bg1"/>
                </a:solidFill>
                <a:latin typeface="Roboto" panose="02000000000000000000" pitchFamily="2" charset="0"/>
                <a:ea typeface="Roboto" panose="02000000000000000000" pitchFamily="2" charset="0"/>
                <a:cs typeface="Roboto" panose="02000000000000000000" pitchFamily="2" charset="0"/>
              </a:rPr>
              <a:t>Everyone is at a different place in their journey</a:t>
            </a:r>
          </a:p>
        </p:txBody>
      </p:sp>
      <p:sp>
        <p:nvSpPr>
          <p:cNvPr id="24" name="TextBox 23">
            <a:extLst>
              <a:ext uri="{FF2B5EF4-FFF2-40B4-BE49-F238E27FC236}">
                <a16:creationId xmlns:a16="http://schemas.microsoft.com/office/drawing/2014/main" id="{4F6B0FF2-FD02-8216-52BF-18ACAA08D0F5}"/>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Lean Transformation</a:t>
            </a:r>
          </a:p>
        </p:txBody>
      </p:sp>
      <p:sp>
        <p:nvSpPr>
          <p:cNvPr id="7" name="AutoShape 11">
            <a:extLst>
              <a:ext uri="{FF2B5EF4-FFF2-40B4-BE49-F238E27FC236}">
                <a16:creationId xmlns:a16="http://schemas.microsoft.com/office/drawing/2014/main" id="{A5AA081F-9931-ED05-2FA7-6D790E370D66}"/>
              </a:ext>
            </a:extLst>
          </p:cNvPr>
          <p:cNvSpPr>
            <a:spLocks noChangeArrowheads="1"/>
          </p:cNvSpPr>
          <p:nvPr/>
        </p:nvSpPr>
        <p:spPr bwMode="auto">
          <a:xfrm>
            <a:off x="1567598" y="315206"/>
            <a:ext cx="432817" cy="265061"/>
          </a:xfrm>
          <a:prstGeom prst="homePlate">
            <a:avLst>
              <a:gd name="adj" fmla="val 29912"/>
            </a:avLst>
          </a:prstGeom>
          <a:solidFill>
            <a:srgbClr val="FFB627"/>
          </a:solidFill>
          <a:ln w="12700" cap="sq">
            <a:solidFill>
              <a:schemeClr val="bg2"/>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9CB64582-C0DB-FA60-F910-BB3034B7504E}"/>
              </a:ext>
            </a:extLst>
          </p:cNvPr>
          <p:cNvSpPr>
            <a:spLocks noChangeArrowheads="1"/>
          </p:cNvSpPr>
          <p:nvPr/>
        </p:nvSpPr>
        <p:spPr bwMode="auto">
          <a:xfrm>
            <a:off x="1302555" y="315206"/>
            <a:ext cx="432817" cy="265061"/>
          </a:xfrm>
          <a:prstGeom prst="homePlate">
            <a:avLst>
              <a:gd name="adj" fmla="val 29912"/>
            </a:avLst>
          </a:prstGeom>
          <a:solidFill>
            <a:srgbClr val="222222"/>
          </a:solidFill>
          <a:ln w="12700" cap="sq">
            <a:solidFill>
              <a:schemeClr val="bg2"/>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10">
            <a:extLst>
              <a:ext uri="{FF2B5EF4-FFF2-40B4-BE49-F238E27FC236}">
                <a16:creationId xmlns:a16="http://schemas.microsoft.com/office/drawing/2014/main" id="{C74163EE-5873-CCDC-8D73-0B2E5BBBD762}"/>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2"/>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Tree>
    <p:extLst>
      <p:ext uri="{BB962C8B-B14F-4D97-AF65-F5344CB8AC3E}">
        <p14:creationId xmlns:p14="http://schemas.microsoft.com/office/powerpoint/2010/main" val="55796528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76F1D62-B558-A715-F7C3-E85FA65F1AE9}"/>
              </a:ext>
            </a:extLst>
          </p:cNvPr>
          <p:cNvSpPr>
            <a:spLocks noGrp="1"/>
          </p:cNvSpPr>
          <p:nvPr>
            <p:ph type="ftr" sz="quarter" idx="11"/>
          </p:nvPr>
        </p:nvSpPr>
        <p:spPr/>
        <p:txBody>
          <a:bodyPr/>
          <a:lstStyle/>
          <a:p>
            <a:r>
              <a:rPr lang="en-US" sz="900" u="sng"/>
              <a:t>© Lean Horizons Consulting, LLC 2023. All Rights Reserved</a:t>
            </a:r>
            <a:endParaRPr lang="en-US" sz="900" u="sng" dirty="0"/>
          </a:p>
        </p:txBody>
      </p:sp>
      <p:sp>
        <p:nvSpPr>
          <p:cNvPr id="4" name="Slide Number Placeholder 3">
            <a:extLst>
              <a:ext uri="{FF2B5EF4-FFF2-40B4-BE49-F238E27FC236}">
                <a16:creationId xmlns:a16="http://schemas.microsoft.com/office/drawing/2014/main" id="{94CED26B-079A-A22C-F98C-9FB8FF830091}"/>
              </a:ext>
            </a:extLst>
          </p:cNvPr>
          <p:cNvSpPr>
            <a:spLocks noGrp="1"/>
          </p:cNvSpPr>
          <p:nvPr>
            <p:ph type="sldNum" sz="quarter" idx="12"/>
          </p:nvPr>
        </p:nvSpPr>
        <p:spPr/>
        <p:txBody>
          <a:bodyPr/>
          <a:lstStyle/>
          <a:p>
            <a:fld id="{CC6D4273-7FC1-0947-B9FE-19CB3C0D1FB6}" type="slidenum">
              <a:rPr lang="en-US" u="sng" smtClean="0"/>
              <a:pPr/>
              <a:t>62</a:t>
            </a:fld>
            <a:endParaRPr lang="en-US" u="sng" dirty="0"/>
          </a:p>
        </p:txBody>
      </p:sp>
      <p:sp>
        <p:nvSpPr>
          <p:cNvPr id="16" name="Title 15">
            <a:extLst>
              <a:ext uri="{FF2B5EF4-FFF2-40B4-BE49-F238E27FC236}">
                <a16:creationId xmlns:a16="http://schemas.microsoft.com/office/drawing/2014/main" id="{3CBF16EC-6E42-AC4F-7C61-E81D8CB9EC8C}"/>
              </a:ext>
            </a:extLst>
          </p:cNvPr>
          <p:cNvSpPr>
            <a:spLocks noGrp="1"/>
          </p:cNvSpPr>
          <p:nvPr>
            <p:ph type="title" idx="4294967295"/>
          </p:nvPr>
        </p:nvSpPr>
        <p:spPr>
          <a:xfrm>
            <a:off x="822678" y="1370528"/>
            <a:ext cx="10515600" cy="1009650"/>
          </a:xfrm>
        </p:spPr>
        <p:txBody>
          <a:bodyPr>
            <a:normAutofit fontScale="90000"/>
          </a:bodyPr>
          <a:lstStyle/>
          <a:p>
            <a:r>
              <a:rPr lang="en-US" sz="4400" dirty="0">
                <a:latin typeface="Roboto Medium"/>
                <a:ea typeface="Roboto Medium"/>
                <a:cs typeface="Roboto Medium"/>
              </a:rPr>
              <a:t>Enterprise </a:t>
            </a:r>
            <a:br>
              <a:rPr lang="en-US" sz="4400" dirty="0"/>
            </a:br>
            <a:r>
              <a:rPr lang="en-US" sz="4400" dirty="0">
                <a:latin typeface="Roboto Medium"/>
                <a:ea typeface="Roboto Medium"/>
                <a:cs typeface="Roboto Medium"/>
              </a:rPr>
              <a:t>Lean </a:t>
            </a:r>
            <a:br>
              <a:rPr lang="en-US" sz="4400" dirty="0"/>
            </a:br>
            <a:r>
              <a:rPr lang="en-US" sz="4400" dirty="0">
                <a:latin typeface="Roboto Medium"/>
                <a:ea typeface="Roboto Medium"/>
                <a:cs typeface="Roboto Medium"/>
              </a:rPr>
              <a:t>Excellence</a:t>
            </a:r>
            <a:endParaRPr lang="en-US" dirty="0">
              <a:latin typeface="Roboto Medium"/>
              <a:ea typeface="Roboto Medium"/>
              <a:cs typeface="Roboto Medium"/>
            </a:endParaRPr>
          </a:p>
        </p:txBody>
      </p:sp>
      <p:grpSp>
        <p:nvGrpSpPr>
          <p:cNvPr id="21" name="Group 20">
            <a:extLst>
              <a:ext uri="{FF2B5EF4-FFF2-40B4-BE49-F238E27FC236}">
                <a16:creationId xmlns:a16="http://schemas.microsoft.com/office/drawing/2014/main" id="{6451A0FA-45CE-7948-BC1E-EE2C0D86CCC3}"/>
              </a:ext>
            </a:extLst>
          </p:cNvPr>
          <p:cNvGrpSpPr/>
          <p:nvPr/>
        </p:nvGrpSpPr>
        <p:grpSpPr>
          <a:xfrm>
            <a:off x="4038600" y="796802"/>
            <a:ext cx="6729592" cy="5264395"/>
            <a:chOff x="1758950" y="1528763"/>
            <a:chExt cx="5556250" cy="3987800"/>
          </a:xfrm>
        </p:grpSpPr>
        <p:sp>
          <p:nvSpPr>
            <p:cNvPr id="22" name="Freeform 3">
              <a:extLst>
                <a:ext uri="{FF2B5EF4-FFF2-40B4-BE49-F238E27FC236}">
                  <a16:creationId xmlns:a16="http://schemas.microsoft.com/office/drawing/2014/main" id="{887F4A99-C984-7B96-8A10-BE0903F863D6}"/>
                </a:ext>
              </a:extLst>
            </p:cNvPr>
            <p:cNvSpPr>
              <a:spLocks/>
            </p:cNvSpPr>
            <p:nvPr/>
          </p:nvSpPr>
          <p:spPr bwMode="auto">
            <a:xfrm flipH="1">
              <a:off x="5126038" y="1579563"/>
              <a:ext cx="2189162" cy="1871662"/>
            </a:xfrm>
            <a:custGeom>
              <a:avLst/>
              <a:gdLst>
                <a:gd name="T0" fmla="*/ 2147483646 w 1141"/>
                <a:gd name="T1" fmla="*/ 0 h 831"/>
                <a:gd name="T2" fmla="*/ 0 w 1141"/>
                <a:gd name="T3" fmla="*/ 2147483646 h 831"/>
                <a:gd name="T4" fmla="*/ 2147483646 w 1141"/>
                <a:gd name="T5" fmla="*/ 2147483646 h 831"/>
                <a:gd name="T6" fmla="*/ 2147483646 w 1141"/>
                <a:gd name="T7" fmla="*/ 2147483646 h 831"/>
                <a:gd name="T8" fmla="*/ 2147483646 w 1141"/>
                <a:gd name="T9" fmla="*/ 0 h 831"/>
                <a:gd name="T10" fmla="*/ 0 60000 65536"/>
                <a:gd name="T11" fmla="*/ 0 60000 65536"/>
                <a:gd name="T12" fmla="*/ 0 60000 65536"/>
                <a:gd name="T13" fmla="*/ 0 60000 65536"/>
                <a:gd name="T14" fmla="*/ 0 60000 65536"/>
                <a:gd name="T15" fmla="*/ 0 w 1141"/>
                <a:gd name="T16" fmla="*/ 0 h 831"/>
                <a:gd name="T17" fmla="*/ 1141 w 1141"/>
                <a:gd name="T18" fmla="*/ 831 h 831"/>
              </a:gdLst>
              <a:ahLst/>
              <a:cxnLst>
                <a:cxn ang="T10">
                  <a:pos x="T0" y="T1"/>
                </a:cxn>
                <a:cxn ang="T11">
                  <a:pos x="T2" y="T3"/>
                </a:cxn>
                <a:cxn ang="T12">
                  <a:pos x="T4" y="T5"/>
                </a:cxn>
                <a:cxn ang="T13">
                  <a:pos x="T6" y="T7"/>
                </a:cxn>
                <a:cxn ang="T14">
                  <a:pos x="T8" y="T9"/>
                </a:cxn>
              </a:cxnLst>
              <a:rect l="T15" t="T16" r="T17" b="T18"/>
              <a:pathLst>
                <a:path w="1141" h="831">
                  <a:moveTo>
                    <a:pt x="694" y="0"/>
                  </a:moveTo>
                  <a:lnTo>
                    <a:pt x="0" y="830"/>
                  </a:lnTo>
                  <a:lnTo>
                    <a:pt x="897" y="830"/>
                  </a:lnTo>
                  <a:lnTo>
                    <a:pt x="1140" y="531"/>
                  </a:lnTo>
                  <a:lnTo>
                    <a:pt x="694" y="0"/>
                  </a:lnTo>
                </a:path>
              </a:pathLst>
            </a:custGeom>
            <a:solidFill>
              <a:schemeClr val="tx1">
                <a:lumMod val="95000"/>
                <a:lumOff val="5000"/>
              </a:schemeClr>
            </a:solidFill>
            <a:ln w="6350" cap="rnd">
              <a:solidFill>
                <a:schemeClr val="tx1"/>
              </a:solidFill>
              <a:round/>
              <a:headEnd/>
              <a:tailEnd/>
            </a:ln>
          </p:spPr>
          <p:txBody>
            <a:bodyPr lIns="45720" rIns="45720"/>
            <a:lstStyle/>
            <a:p>
              <a:endParaRPr lang="en-US" u="sng">
                <a:latin typeface="Roboto" panose="02000000000000000000" pitchFamily="2" charset="0"/>
                <a:ea typeface="Roboto" panose="02000000000000000000" pitchFamily="2" charset="0"/>
                <a:cs typeface="Roboto" panose="02000000000000000000" pitchFamily="2" charset="0"/>
              </a:endParaRPr>
            </a:p>
          </p:txBody>
        </p:sp>
        <p:sp>
          <p:nvSpPr>
            <p:cNvPr id="23" name="Freeform 4">
              <a:extLst>
                <a:ext uri="{FF2B5EF4-FFF2-40B4-BE49-F238E27FC236}">
                  <a16:creationId xmlns:a16="http://schemas.microsoft.com/office/drawing/2014/main" id="{4C586594-E753-DD8A-F51E-E666F88FFEB0}"/>
                </a:ext>
              </a:extLst>
            </p:cNvPr>
            <p:cNvSpPr>
              <a:spLocks/>
            </p:cNvSpPr>
            <p:nvPr/>
          </p:nvSpPr>
          <p:spPr bwMode="auto">
            <a:xfrm flipH="1" flipV="1">
              <a:off x="5126038" y="3592513"/>
              <a:ext cx="2189162" cy="1870075"/>
            </a:xfrm>
            <a:custGeom>
              <a:avLst/>
              <a:gdLst>
                <a:gd name="T0" fmla="*/ 2147483646 w 1141"/>
                <a:gd name="T1" fmla="*/ 0 h 831"/>
                <a:gd name="T2" fmla="*/ 0 w 1141"/>
                <a:gd name="T3" fmla="*/ 2147483646 h 831"/>
                <a:gd name="T4" fmla="*/ 2147483646 w 1141"/>
                <a:gd name="T5" fmla="*/ 2147483646 h 831"/>
                <a:gd name="T6" fmla="*/ 2147483646 w 1141"/>
                <a:gd name="T7" fmla="*/ 2147483646 h 831"/>
                <a:gd name="T8" fmla="*/ 2147483646 w 1141"/>
                <a:gd name="T9" fmla="*/ 0 h 831"/>
                <a:gd name="T10" fmla="*/ 0 60000 65536"/>
                <a:gd name="T11" fmla="*/ 0 60000 65536"/>
                <a:gd name="T12" fmla="*/ 0 60000 65536"/>
                <a:gd name="T13" fmla="*/ 0 60000 65536"/>
                <a:gd name="T14" fmla="*/ 0 60000 65536"/>
                <a:gd name="T15" fmla="*/ 0 w 1141"/>
                <a:gd name="T16" fmla="*/ 0 h 831"/>
                <a:gd name="T17" fmla="*/ 1141 w 1141"/>
                <a:gd name="T18" fmla="*/ 831 h 831"/>
              </a:gdLst>
              <a:ahLst/>
              <a:cxnLst>
                <a:cxn ang="T10">
                  <a:pos x="T0" y="T1"/>
                </a:cxn>
                <a:cxn ang="T11">
                  <a:pos x="T2" y="T3"/>
                </a:cxn>
                <a:cxn ang="T12">
                  <a:pos x="T4" y="T5"/>
                </a:cxn>
                <a:cxn ang="T13">
                  <a:pos x="T6" y="T7"/>
                </a:cxn>
                <a:cxn ang="T14">
                  <a:pos x="T8" y="T9"/>
                </a:cxn>
              </a:cxnLst>
              <a:rect l="T15" t="T16" r="T17" b="T18"/>
              <a:pathLst>
                <a:path w="1141" h="831">
                  <a:moveTo>
                    <a:pt x="694" y="0"/>
                  </a:moveTo>
                  <a:lnTo>
                    <a:pt x="0" y="830"/>
                  </a:lnTo>
                  <a:lnTo>
                    <a:pt x="897" y="830"/>
                  </a:lnTo>
                  <a:lnTo>
                    <a:pt x="1140" y="531"/>
                  </a:lnTo>
                  <a:lnTo>
                    <a:pt x="694" y="0"/>
                  </a:lnTo>
                </a:path>
              </a:pathLst>
            </a:custGeom>
            <a:solidFill>
              <a:srgbClr val="FFB627"/>
            </a:solidFill>
            <a:ln w="6350" cap="rnd">
              <a:solidFill>
                <a:schemeClr val="tx1"/>
              </a:solidFill>
              <a:round/>
              <a:headEnd/>
              <a:tailEnd/>
            </a:ln>
          </p:spPr>
          <p:txBody>
            <a:bodyPr rot="10800000" lIns="45720" rIns="45720"/>
            <a:lstStyle/>
            <a:p>
              <a:endParaRPr lang="en-US" u="sng" dirty="0">
                <a:latin typeface="Roboto" panose="02000000000000000000" pitchFamily="2" charset="0"/>
                <a:ea typeface="Roboto" panose="02000000000000000000" pitchFamily="2" charset="0"/>
                <a:cs typeface="Roboto" panose="02000000000000000000" pitchFamily="2" charset="0"/>
              </a:endParaRPr>
            </a:p>
          </p:txBody>
        </p:sp>
        <p:sp>
          <p:nvSpPr>
            <p:cNvPr id="24" name="Freeform 5">
              <a:extLst>
                <a:ext uri="{FF2B5EF4-FFF2-40B4-BE49-F238E27FC236}">
                  <a16:creationId xmlns:a16="http://schemas.microsoft.com/office/drawing/2014/main" id="{ABA595FA-016D-274F-1929-DC433C10B4CD}"/>
                </a:ext>
              </a:extLst>
            </p:cNvPr>
            <p:cNvSpPr>
              <a:spLocks/>
            </p:cNvSpPr>
            <p:nvPr/>
          </p:nvSpPr>
          <p:spPr bwMode="auto">
            <a:xfrm flipV="1">
              <a:off x="1758950" y="3592513"/>
              <a:ext cx="2189163" cy="1870075"/>
            </a:xfrm>
            <a:custGeom>
              <a:avLst/>
              <a:gdLst>
                <a:gd name="T0" fmla="*/ 2147483646 w 1141"/>
                <a:gd name="T1" fmla="*/ 0 h 831"/>
                <a:gd name="T2" fmla="*/ 0 w 1141"/>
                <a:gd name="T3" fmla="*/ 2147483646 h 831"/>
                <a:gd name="T4" fmla="*/ 2147483646 w 1141"/>
                <a:gd name="T5" fmla="*/ 2147483646 h 831"/>
                <a:gd name="T6" fmla="*/ 2147483646 w 1141"/>
                <a:gd name="T7" fmla="*/ 2147483646 h 831"/>
                <a:gd name="T8" fmla="*/ 2147483646 w 1141"/>
                <a:gd name="T9" fmla="*/ 0 h 831"/>
                <a:gd name="T10" fmla="*/ 0 60000 65536"/>
                <a:gd name="T11" fmla="*/ 0 60000 65536"/>
                <a:gd name="T12" fmla="*/ 0 60000 65536"/>
                <a:gd name="T13" fmla="*/ 0 60000 65536"/>
                <a:gd name="T14" fmla="*/ 0 60000 65536"/>
                <a:gd name="T15" fmla="*/ 0 w 1141"/>
                <a:gd name="T16" fmla="*/ 0 h 831"/>
                <a:gd name="T17" fmla="*/ 1141 w 1141"/>
                <a:gd name="T18" fmla="*/ 831 h 831"/>
              </a:gdLst>
              <a:ahLst/>
              <a:cxnLst>
                <a:cxn ang="T10">
                  <a:pos x="T0" y="T1"/>
                </a:cxn>
                <a:cxn ang="T11">
                  <a:pos x="T2" y="T3"/>
                </a:cxn>
                <a:cxn ang="T12">
                  <a:pos x="T4" y="T5"/>
                </a:cxn>
                <a:cxn ang="T13">
                  <a:pos x="T6" y="T7"/>
                </a:cxn>
                <a:cxn ang="T14">
                  <a:pos x="T8" y="T9"/>
                </a:cxn>
              </a:cxnLst>
              <a:rect l="T15" t="T16" r="T17" b="T18"/>
              <a:pathLst>
                <a:path w="1141" h="831">
                  <a:moveTo>
                    <a:pt x="694" y="0"/>
                  </a:moveTo>
                  <a:lnTo>
                    <a:pt x="0" y="830"/>
                  </a:lnTo>
                  <a:lnTo>
                    <a:pt x="897" y="830"/>
                  </a:lnTo>
                  <a:lnTo>
                    <a:pt x="1140" y="531"/>
                  </a:lnTo>
                  <a:lnTo>
                    <a:pt x="694" y="0"/>
                  </a:lnTo>
                </a:path>
              </a:pathLst>
            </a:custGeom>
            <a:solidFill>
              <a:schemeClr val="tx1">
                <a:lumMod val="95000"/>
                <a:lumOff val="5000"/>
              </a:schemeClr>
            </a:solidFill>
            <a:ln w="6350" cap="rnd">
              <a:solidFill>
                <a:schemeClr val="tx1"/>
              </a:solidFill>
              <a:round/>
              <a:headEnd/>
              <a:tailEnd/>
            </a:ln>
          </p:spPr>
          <p:txBody>
            <a:bodyPr rot="10800000" lIns="45720" rIns="45720"/>
            <a:lstStyle/>
            <a:p>
              <a:endParaRPr lang="en-US" u="sng" dirty="0">
                <a:latin typeface="Roboto" panose="02000000000000000000" pitchFamily="2" charset="0"/>
                <a:ea typeface="Roboto" panose="02000000000000000000" pitchFamily="2" charset="0"/>
                <a:cs typeface="Roboto" panose="02000000000000000000" pitchFamily="2" charset="0"/>
              </a:endParaRPr>
            </a:p>
          </p:txBody>
        </p:sp>
        <p:sp>
          <p:nvSpPr>
            <p:cNvPr id="25" name="AutoShape 6">
              <a:extLst>
                <a:ext uri="{FF2B5EF4-FFF2-40B4-BE49-F238E27FC236}">
                  <a16:creationId xmlns:a16="http://schemas.microsoft.com/office/drawing/2014/main" id="{7D41B387-5368-88AC-3856-8E0C5E7C641B}"/>
                </a:ext>
              </a:extLst>
            </p:cNvPr>
            <p:cNvSpPr>
              <a:spLocks noChangeArrowheads="1"/>
            </p:cNvSpPr>
            <p:nvPr/>
          </p:nvSpPr>
          <p:spPr bwMode="auto">
            <a:xfrm>
              <a:off x="3575050" y="2784611"/>
              <a:ext cx="1916113" cy="1360488"/>
            </a:xfrm>
            <a:prstGeom prst="hexagon">
              <a:avLst>
                <a:gd name="adj" fmla="val 33776"/>
                <a:gd name="vf" fmla="val 115470"/>
              </a:avLst>
            </a:prstGeom>
            <a:solidFill>
              <a:srgbClr val="EE3228"/>
            </a:solidFill>
            <a:ln w="6350">
              <a:solidFill>
                <a:schemeClr val="tx1"/>
              </a:solidFill>
              <a:miter lim="800000"/>
              <a:headEnd/>
              <a:tailEnd/>
            </a:ln>
          </p:spPr>
          <p:txBody>
            <a:bodyPr wrap="none" lIns="36000" tIns="36000" rIns="36000" bIns="36000"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US" altLang="en-US" sz="2000" b="1" u="sng" dirty="0">
                  <a:solidFill>
                    <a:schemeClr val="bg1"/>
                  </a:solidFill>
                  <a:latin typeface="Roboto"/>
                  <a:ea typeface="Roboto"/>
                  <a:cs typeface="Roboto"/>
                </a:rPr>
                <a:t>Lean</a:t>
              </a:r>
              <a:br>
                <a:rPr lang="en-US" altLang="en-US" sz="2000" b="1" u="sng" dirty="0">
                  <a:solidFill>
                    <a:schemeClr val="bg1"/>
                  </a:solidFill>
                  <a:latin typeface="Roboto" panose="02000000000000000000" pitchFamily="2" charset="0"/>
                  <a:ea typeface="Roboto" panose="02000000000000000000" pitchFamily="2" charset="0"/>
                  <a:cs typeface="Roboto" panose="02000000000000000000" pitchFamily="2" charset="0"/>
                </a:rPr>
              </a:br>
              <a:r>
                <a:rPr lang="en-US" altLang="en-US" sz="2000" b="1" u="sng" dirty="0">
                  <a:solidFill>
                    <a:schemeClr val="bg1"/>
                  </a:solidFill>
                  <a:latin typeface="Roboto"/>
                  <a:ea typeface="Roboto"/>
                  <a:cs typeface="Roboto"/>
                </a:rPr>
                <a:t>Transformation</a:t>
              </a:r>
            </a:p>
            <a:p>
              <a:pPr algn="ctr">
                <a:lnSpc>
                  <a:spcPct val="100000"/>
                </a:lnSpc>
                <a:spcBef>
                  <a:spcPct val="0"/>
                </a:spcBef>
                <a:spcAft>
                  <a:spcPct val="0"/>
                </a:spcAft>
                <a:buClrTx/>
                <a:buSzTx/>
                <a:buFontTx/>
                <a:buNone/>
              </a:pPr>
              <a:endParaRPr lang="en-US" altLang="en-US" sz="2000" b="1" u="sng" dirty="0">
                <a:latin typeface="Roboto" panose="02000000000000000000" pitchFamily="2" charset="0"/>
                <a:ea typeface="Roboto" panose="02000000000000000000" pitchFamily="2" charset="0"/>
                <a:cs typeface="Roboto" panose="02000000000000000000" pitchFamily="2" charset="0"/>
              </a:endParaRPr>
            </a:p>
          </p:txBody>
        </p:sp>
        <p:sp>
          <p:nvSpPr>
            <p:cNvPr id="26" name="Freeform 7">
              <a:extLst>
                <a:ext uri="{FF2B5EF4-FFF2-40B4-BE49-F238E27FC236}">
                  <a16:creationId xmlns:a16="http://schemas.microsoft.com/office/drawing/2014/main" id="{BD9533F5-D5AE-C0C5-FECB-9892F298D856}"/>
                </a:ext>
              </a:extLst>
            </p:cNvPr>
            <p:cNvSpPr>
              <a:spLocks/>
            </p:cNvSpPr>
            <p:nvPr/>
          </p:nvSpPr>
          <p:spPr bwMode="auto">
            <a:xfrm>
              <a:off x="3171825" y="1528763"/>
              <a:ext cx="2698750" cy="1196975"/>
            </a:xfrm>
            <a:custGeom>
              <a:avLst/>
              <a:gdLst>
                <a:gd name="T0" fmla="*/ 0 w 1406"/>
                <a:gd name="T1" fmla="*/ 0 h 532"/>
                <a:gd name="T2" fmla="*/ 2147483646 w 1406"/>
                <a:gd name="T3" fmla="*/ 2147483646 h 532"/>
                <a:gd name="T4" fmla="*/ 2147483646 w 1406"/>
                <a:gd name="T5" fmla="*/ 2147483646 h 532"/>
                <a:gd name="T6" fmla="*/ 2147483646 w 1406"/>
                <a:gd name="T7" fmla="*/ 0 h 532"/>
                <a:gd name="T8" fmla="*/ 0 w 1406"/>
                <a:gd name="T9" fmla="*/ 0 h 532"/>
                <a:gd name="T10" fmla="*/ 0 60000 65536"/>
                <a:gd name="T11" fmla="*/ 0 60000 65536"/>
                <a:gd name="T12" fmla="*/ 0 60000 65536"/>
                <a:gd name="T13" fmla="*/ 0 60000 65536"/>
                <a:gd name="T14" fmla="*/ 0 60000 65536"/>
                <a:gd name="T15" fmla="*/ 0 w 1406"/>
                <a:gd name="T16" fmla="*/ 0 h 532"/>
                <a:gd name="T17" fmla="*/ 1406 w 1406"/>
                <a:gd name="T18" fmla="*/ 532 h 532"/>
              </a:gdLst>
              <a:ahLst/>
              <a:cxnLst>
                <a:cxn ang="T10">
                  <a:pos x="T0" y="T1"/>
                </a:cxn>
                <a:cxn ang="T11">
                  <a:pos x="T2" y="T3"/>
                </a:cxn>
                <a:cxn ang="T12">
                  <a:pos x="T4" y="T5"/>
                </a:cxn>
                <a:cxn ang="T13">
                  <a:pos x="T6" y="T7"/>
                </a:cxn>
                <a:cxn ang="T14">
                  <a:pos x="T8" y="T9"/>
                </a:cxn>
              </a:cxnLst>
              <a:rect l="T15" t="T16" r="T17" b="T18"/>
              <a:pathLst>
                <a:path w="1406" h="532">
                  <a:moveTo>
                    <a:pt x="0" y="0"/>
                  </a:moveTo>
                  <a:lnTo>
                    <a:pt x="441" y="531"/>
                  </a:lnTo>
                  <a:lnTo>
                    <a:pt x="958" y="531"/>
                  </a:lnTo>
                  <a:lnTo>
                    <a:pt x="1405" y="0"/>
                  </a:lnTo>
                  <a:lnTo>
                    <a:pt x="0" y="0"/>
                  </a:lnTo>
                </a:path>
              </a:pathLst>
            </a:custGeom>
            <a:solidFill>
              <a:schemeClr val="bg1">
                <a:lumMod val="50000"/>
              </a:schemeClr>
            </a:solidFill>
            <a:ln w="6350" cap="rnd">
              <a:solidFill>
                <a:schemeClr val="tx1"/>
              </a:solidFill>
              <a:round/>
              <a:headEnd/>
              <a:tailEnd/>
            </a:ln>
          </p:spPr>
          <p:txBody>
            <a:bodyPr lIns="45720" rIns="45720"/>
            <a:lstStyle/>
            <a:p>
              <a:endParaRPr lang="en-US" u="sng">
                <a:latin typeface="Roboto" panose="02000000000000000000" pitchFamily="2" charset="0"/>
                <a:ea typeface="Roboto" panose="02000000000000000000" pitchFamily="2" charset="0"/>
                <a:cs typeface="Roboto" panose="02000000000000000000" pitchFamily="2" charset="0"/>
              </a:endParaRPr>
            </a:p>
          </p:txBody>
        </p:sp>
        <p:sp>
          <p:nvSpPr>
            <p:cNvPr id="27" name="Freeform 8">
              <a:extLst>
                <a:ext uri="{FF2B5EF4-FFF2-40B4-BE49-F238E27FC236}">
                  <a16:creationId xmlns:a16="http://schemas.microsoft.com/office/drawing/2014/main" id="{50A6D172-D05F-ED8F-584C-CC816F642CE2}"/>
                </a:ext>
              </a:extLst>
            </p:cNvPr>
            <p:cNvSpPr>
              <a:spLocks/>
            </p:cNvSpPr>
            <p:nvPr/>
          </p:nvSpPr>
          <p:spPr bwMode="auto">
            <a:xfrm>
              <a:off x="3171825" y="4319588"/>
              <a:ext cx="2698750" cy="1196975"/>
            </a:xfrm>
            <a:custGeom>
              <a:avLst/>
              <a:gdLst>
                <a:gd name="T0" fmla="*/ 0 w 1406"/>
                <a:gd name="T1" fmla="*/ 2147483646 h 532"/>
                <a:gd name="T2" fmla="*/ 2147483646 w 1406"/>
                <a:gd name="T3" fmla="*/ 0 h 532"/>
                <a:gd name="T4" fmla="*/ 2147483646 w 1406"/>
                <a:gd name="T5" fmla="*/ 0 h 532"/>
                <a:gd name="T6" fmla="*/ 2147483646 w 1406"/>
                <a:gd name="T7" fmla="*/ 2147483646 h 532"/>
                <a:gd name="T8" fmla="*/ 0 w 1406"/>
                <a:gd name="T9" fmla="*/ 2147483646 h 532"/>
                <a:gd name="T10" fmla="*/ 0 60000 65536"/>
                <a:gd name="T11" fmla="*/ 0 60000 65536"/>
                <a:gd name="T12" fmla="*/ 0 60000 65536"/>
                <a:gd name="T13" fmla="*/ 0 60000 65536"/>
                <a:gd name="T14" fmla="*/ 0 60000 65536"/>
                <a:gd name="T15" fmla="*/ 0 w 1406"/>
                <a:gd name="T16" fmla="*/ 0 h 532"/>
                <a:gd name="T17" fmla="*/ 1406 w 1406"/>
                <a:gd name="T18" fmla="*/ 532 h 532"/>
              </a:gdLst>
              <a:ahLst/>
              <a:cxnLst>
                <a:cxn ang="T10">
                  <a:pos x="T0" y="T1"/>
                </a:cxn>
                <a:cxn ang="T11">
                  <a:pos x="T2" y="T3"/>
                </a:cxn>
                <a:cxn ang="T12">
                  <a:pos x="T4" y="T5"/>
                </a:cxn>
                <a:cxn ang="T13">
                  <a:pos x="T6" y="T7"/>
                </a:cxn>
                <a:cxn ang="T14">
                  <a:pos x="T8" y="T9"/>
                </a:cxn>
              </a:cxnLst>
              <a:rect l="T15" t="T16" r="T17" b="T18"/>
              <a:pathLst>
                <a:path w="1406" h="532">
                  <a:moveTo>
                    <a:pt x="0" y="531"/>
                  </a:moveTo>
                  <a:lnTo>
                    <a:pt x="441" y="0"/>
                  </a:lnTo>
                  <a:lnTo>
                    <a:pt x="958" y="0"/>
                  </a:lnTo>
                  <a:lnTo>
                    <a:pt x="1405" y="531"/>
                  </a:lnTo>
                  <a:lnTo>
                    <a:pt x="0" y="531"/>
                  </a:lnTo>
                </a:path>
              </a:pathLst>
            </a:custGeom>
            <a:solidFill>
              <a:schemeClr val="bg1">
                <a:lumMod val="50000"/>
              </a:schemeClr>
            </a:solidFill>
            <a:ln w="6350" cap="rnd">
              <a:solidFill>
                <a:schemeClr val="tx1"/>
              </a:solidFill>
              <a:round/>
              <a:headEnd/>
              <a:tailEnd/>
            </a:ln>
          </p:spPr>
          <p:txBody>
            <a:bodyPr lIns="45720" rIns="45720"/>
            <a:lstStyle/>
            <a:p>
              <a:endParaRPr lang="en-US" u="sng">
                <a:latin typeface="Roboto" panose="02000000000000000000" pitchFamily="2" charset="0"/>
                <a:ea typeface="Roboto" panose="02000000000000000000" pitchFamily="2" charset="0"/>
                <a:cs typeface="Roboto" panose="02000000000000000000" pitchFamily="2" charset="0"/>
              </a:endParaRPr>
            </a:p>
          </p:txBody>
        </p:sp>
        <p:sp>
          <p:nvSpPr>
            <p:cNvPr id="28" name="Freeform 9">
              <a:extLst>
                <a:ext uri="{FF2B5EF4-FFF2-40B4-BE49-F238E27FC236}">
                  <a16:creationId xmlns:a16="http://schemas.microsoft.com/office/drawing/2014/main" id="{FFF19852-571D-21D2-5133-57A9F66E9552}"/>
                </a:ext>
              </a:extLst>
            </p:cNvPr>
            <p:cNvSpPr>
              <a:spLocks/>
            </p:cNvSpPr>
            <p:nvPr/>
          </p:nvSpPr>
          <p:spPr bwMode="auto">
            <a:xfrm>
              <a:off x="1758950" y="1579563"/>
              <a:ext cx="2189163" cy="1871662"/>
            </a:xfrm>
            <a:custGeom>
              <a:avLst/>
              <a:gdLst>
                <a:gd name="T0" fmla="*/ 2147483646 w 1141"/>
                <a:gd name="T1" fmla="*/ 0 h 831"/>
                <a:gd name="T2" fmla="*/ 0 w 1141"/>
                <a:gd name="T3" fmla="*/ 2147483646 h 831"/>
                <a:gd name="T4" fmla="*/ 2147483646 w 1141"/>
                <a:gd name="T5" fmla="*/ 2147483646 h 831"/>
                <a:gd name="T6" fmla="*/ 2147483646 w 1141"/>
                <a:gd name="T7" fmla="*/ 2147483646 h 831"/>
                <a:gd name="T8" fmla="*/ 2147483646 w 1141"/>
                <a:gd name="T9" fmla="*/ 0 h 831"/>
                <a:gd name="T10" fmla="*/ 0 60000 65536"/>
                <a:gd name="T11" fmla="*/ 0 60000 65536"/>
                <a:gd name="T12" fmla="*/ 0 60000 65536"/>
                <a:gd name="T13" fmla="*/ 0 60000 65536"/>
                <a:gd name="T14" fmla="*/ 0 60000 65536"/>
                <a:gd name="T15" fmla="*/ 0 w 1141"/>
                <a:gd name="T16" fmla="*/ 0 h 831"/>
                <a:gd name="T17" fmla="*/ 1141 w 1141"/>
                <a:gd name="T18" fmla="*/ 831 h 831"/>
              </a:gdLst>
              <a:ahLst/>
              <a:cxnLst>
                <a:cxn ang="T10">
                  <a:pos x="T0" y="T1"/>
                </a:cxn>
                <a:cxn ang="T11">
                  <a:pos x="T2" y="T3"/>
                </a:cxn>
                <a:cxn ang="T12">
                  <a:pos x="T4" y="T5"/>
                </a:cxn>
                <a:cxn ang="T13">
                  <a:pos x="T6" y="T7"/>
                </a:cxn>
                <a:cxn ang="T14">
                  <a:pos x="T8" y="T9"/>
                </a:cxn>
              </a:cxnLst>
              <a:rect l="T15" t="T16" r="T17" b="T18"/>
              <a:pathLst>
                <a:path w="1141" h="831">
                  <a:moveTo>
                    <a:pt x="694" y="0"/>
                  </a:moveTo>
                  <a:lnTo>
                    <a:pt x="0" y="830"/>
                  </a:lnTo>
                  <a:lnTo>
                    <a:pt x="897" y="830"/>
                  </a:lnTo>
                  <a:lnTo>
                    <a:pt x="1140" y="531"/>
                  </a:lnTo>
                  <a:lnTo>
                    <a:pt x="694" y="0"/>
                  </a:lnTo>
                </a:path>
              </a:pathLst>
            </a:custGeom>
            <a:solidFill>
              <a:srgbClr val="FFB627"/>
            </a:solidFill>
            <a:ln w="6350" cap="rnd">
              <a:solidFill>
                <a:schemeClr val="tx1"/>
              </a:solidFill>
              <a:round/>
              <a:headEnd/>
              <a:tailEnd/>
            </a:ln>
          </p:spPr>
          <p:txBody>
            <a:bodyPr lIns="45720" rIns="45720"/>
            <a:lstStyle/>
            <a:p>
              <a:endParaRPr lang="en-US" u="sng" dirty="0">
                <a:latin typeface="Roboto" panose="02000000000000000000" pitchFamily="2" charset="0"/>
                <a:ea typeface="Roboto" panose="02000000000000000000" pitchFamily="2" charset="0"/>
                <a:cs typeface="Roboto" panose="02000000000000000000" pitchFamily="2" charset="0"/>
              </a:endParaRPr>
            </a:p>
          </p:txBody>
        </p:sp>
        <p:sp>
          <p:nvSpPr>
            <p:cNvPr id="29" name="Rectangle 10">
              <a:extLst>
                <a:ext uri="{FF2B5EF4-FFF2-40B4-BE49-F238E27FC236}">
                  <a16:creationId xmlns:a16="http://schemas.microsoft.com/office/drawing/2014/main" id="{CE80E1B0-9AAC-3DC1-DCE2-19231216528D}"/>
                </a:ext>
              </a:extLst>
            </p:cNvPr>
            <p:cNvSpPr>
              <a:spLocks noChangeArrowheads="1"/>
            </p:cNvSpPr>
            <p:nvPr/>
          </p:nvSpPr>
          <p:spPr bwMode="auto">
            <a:xfrm>
              <a:off x="4239419" y="1924050"/>
              <a:ext cx="587375"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lIns="45720" rIns="45720"/>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GB" altLang="en-US" sz="2000" dirty="0">
                  <a:solidFill>
                    <a:schemeClr val="bg1"/>
                  </a:solidFill>
                  <a:latin typeface="Roboto" panose="02000000000000000000" pitchFamily="2" charset="0"/>
                  <a:ea typeface="Roboto" panose="02000000000000000000" pitchFamily="2" charset="0"/>
                  <a:cs typeface="Roboto" panose="02000000000000000000" pitchFamily="2" charset="0"/>
                </a:rPr>
                <a:t>Administration</a:t>
              </a:r>
              <a:endParaRPr lang="en-GB" altLang="en-US" sz="2000" b="0"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30" name="Rectangle 11">
              <a:extLst>
                <a:ext uri="{FF2B5EF4-FFF2-40B4-BE49-F238E27FC236}">
                  <a16:creationId xmlns:a16="http://schemas.microsoft.com/office/drawing/2014/main" id="{688D5A30-29C3-901A-2B34-11D58C0DFDF9}"/>
                </a:ext>
              </a:extLst>
            </p:cNvPr>
            <p:cNvSpPr>
              <a:spLocks noChangeArrowheads="1"/>
            </p:cNvSpPr>
            <p:nvPr/>
          </p:nvSpPr>
          <p:spPr bwMode="auto">
            <a:xfrm>
              <a:off x="5705475" y="2381250"/>
              <a:ext cx="587375"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lIns="45720" tIns="45720" rIns="45720" bIns="45720" anchor="t"/>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GB" altLang="en-US" sz="2000" dirty="0">
                  <a:solidFill>
                    <a:schemeClr val="bg1"/>
                  </a:solidFill>
                  <a:latin typeface="Roboto"/>
                  <a:ea typeface="Roboto"/>
                  <a:cs typeface="Roboto"/>
                </a:rPr>
                <a:t>Strategic</a:t>
              </a:r>
              <a:br>
                <a:rPr lang="en-GB" altLang="en-US" sz="2000" dirty="0">
                  <a:latin typeface="Roboto" panose="02000000000000000000" pitchFamily="2" charset="0"/>
                  <a:ea typeface="Roboto" panose="02000000000000000000" pitchFamily="2" charset="0"/>
                  <a:cs typeface="Roboto" panose="02000000000000000000" pitchFamily="2" charset="0"/>
                </a:rPr>
              </a:br>
              <a:r>
                <a:rPr lang="en-GB" altLang="en-US" sz="2000" dirty="0">
                  <a:solidFill>
                    <a:schemeClr val="bg1"/>
                  </a:solidFill>
                  <a:latin typeface="Roboto"/>
                  <a:ea typeface="Roboto"/>
                  <a:cs typeface="Roboto"/>
                </a:rPr>
                <a:t>Development &amp;</a:t>
              </a:r>
            </a:p>
            <a:p>
              <a:pPr algn="ctr">
                <a:lnSpc>
                  <a:spcPct val="100000"/>
                </a:lnSpc>
                <a:spcBef>
                  <a:spcPct val="0"/>
                </a:spcBef>
                <a:spcAft>
                  <a:spcPct val="0"/>
                </a:spcAft>
                <a:buClrTx/>
                <a:buSzTx/>
                <a:buNone/>
              </a:pPr>
              <a:r>
                <a:rPr lang="en-GB" altLang="en-US" sz="2000" dirty="0">
                  <a:solidFill>
                    <a:schemeClr val="bg1"/>
                  </a:solidFill>
                  <a:latin typeface="Roboto"/>
                  <a:ea typeface="Roboto"/>
                  <a:cs typeface="Roboto"/>
                </a:rPr>
                <a:t> Deployment</a:t>
              </a:r>
            </a:p>
          </p:txBody>
        </p:sp>
        <p:sp>
          <p:nvSpPr>
            <p:cNvPr id="31" name="Rectangle 12">
              <a:extLst>
                <a:ext uri="{FF2B5EF4-FFF2-40B4-BE49-F238E27FC236}">
                  <a16:creationId xmlns:a16="http://schemas.microsoft.com/office/drawing/2014/main" id="{AF569352-EF8F-C798-1ED5-37B1257F989F}"/>
                </a:ext>
              </a:extLst>
            </p:cNvPr>
            <p:cNvSpPr>
              <a:spLocks noChangeArrowheads="1"/>
            </p:cNvSpPr>
            <p:nvPr/>
          </p:nvSpPr>
          <p:spPr bwMode="auto">
            <a:xfrm>
              <a:off x="5520514" y="4005548"/>
              <a:ext cx="1079500" cy="841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lIns="45720" tIns="45720" rIns="45720" bIns="45720" anchor="t"/>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GB" altLang="en-US" sz="2000" dirty="0">
                  <a:latin typeface="Roboto"/>
                  <a:ea typeface="Roboto"/>
                  <a:cs typeface="Roboto"/>
                </a:rPr>
                <a:t>Logistics</a:t>
              </a:r>
              <a:endParaRPr lang="en-GB" altLang="en-US" sz="2000" b="0" dirty="0">
                <a:latin typeface="Roboto"/>
                <a:ea typeface="Roboto"/>
                <a:cs typeface="Roboto"/>
              </a:endParaRPr>
            </a:p>
          </p:txBody>
        </p:sp>
        <p:sp>
          <p:nvSpPr>
            <p:cNvPr id="32" name="Rectangle 13">
              <a:extLst>
                <a:ext uri="{FF2B5EF4-FFF2-40B4-BE49-F238E27FC236}">
                  <a16:creationId xmlns:a16="http://schemas.microsoft.com/office/drawing/2014/main" id="{8061A62D-FF29-A3E4-1AC5-24C695C0AD2D}"/>
                </a:ext>
              </a:extLst>
            </p:cNvPr>
            <p:cNvSpPr>
              <a:spLocks noChangeArrowheads="1"/>
            </p:cNvSpPr>
            <p:nvPr/>
          </p:nvSpPr>
          <p:spPr bwMode="auto">
            <a:xfrm>
              <a:off x="4226702" y="4845572"/>
              <a:ext cx="587375"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lIns="45720" tIns="45720" rIns="45720" bIns="45720" anchor="t"/>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GB" altLang="en-US" sz="2000" dirty="0">
                  <a:solidFill>
                    <a:schemeClr val="bg1"/>
                  </a:solidFill>
                  <a:latin typeface="Roboto"/>
                  <a:ea typeface="Roboto"/>
                  <a:cs typeface="Roboto"/>
                </a:rPr>
                <a:t>Manufacturing</a:t>
              </a:r>
              <a:endParaRPr lang="en-GB" altLang="en-US" sz="2000" b="0" dirty="0">
                <a:solidFill>
                  <a:schemeClr val="bg1"/>
                </a:solidFill>
                <a:latin typeface="Roboto"/>
                <a:ea typeface="Roboto"/>
                <a:cs typeface="Roboto"/>
              </a:endParaRPr>
            </a:p>
          </p:txBody>
        </p:sp>
        <p:sp>
          <p:nvSpPr>
            <p:cNvPr id="33" name="Rectangle 14">
              <a:extLst>
                <a:ext uri="{FF2B5EF4-FFF2-40B4-BE49-F238E27FC236}">
                  <a16:creationId xmlns:a16="http://schemas.microsoft.com/office/drawing/2014/main" id="{45365DE7-7C8B-EA43-FD07-9AA04E68E814}"/>
                </a:ext>
              </a:extLst>
            </p:cNvPr>
            <p:cNvSpPr>
              <a:spLocks noChangeArrowheads="1"/>
            </p:cNvSpPr>
            <p:nvPr/>
          </p:nvSpPr>
          <p:spPr bwMode="auto">
            <a:xfrm>
              <a:off x="2171788" y="2736109"/>
              <a:ext cx="1193693"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lIns="45720" tIns="45720" rIns="45720" bIns="45720" anchor="t"/>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None/>
              </a:pPr>
              <a:r>
                <a:rPr lang="en-GB" altLang="en-US" sz="1400" dirty="0">
                  <a:latin typeface="Roboto"/>
                  <a:ea typeface="Roboto"/>
                  <a:cs typeface="Roboto"/>
                </a:rPr>
                <a:t>Employee Development, </a:t>
              </a:r>
              <a:endParaRPr lang="en-GB" altLang="en-US" sz="1400" dirty="0">
                <a:latin typeface="Roboto" panose="02000000000000000000" pitchFamily="2" charset="0"/>
                <a:ea typeface="Roboto" panose="02000000000000000000" pitchFamily="2" charset="0"/>
                <a:cs typeface="Roboto" panose="02000000000000000000" pitchFamily="2" charset="0"/>
              </a:endParaRPr>
            </a:p>
            <a:p>
              <a:pPr algn="l">
                <a:lnSpc>
                  <a:spcPct val="100000"/>
                </a:lnSpc>
                <a:spcBef>
                  <a:spcPct val="0"/>
                </a:spcBef>
                <a:spcAft>
                  <a:spcPct val="0"/>
                </a:spcAft>
                <a:buClrTx/>
                <a:buSzTx/>
                <a:buFontTx/>
                <a:buNone/>
              </a:pPr>
              <a:r>
                <a:rPr lang="en-GB" altLang="en-US" sz="1400" dirty="0">
                  <a:latin typeface="Roboto"/>
                  <a:ea typeface="Roboto"/>
                  <a:cs typeface="Roboto"/>
                </a:rPr>
                <a:t>Employee Involvement</a:t>
              </a:r>
            </a:p>
          </p:txBody>
        </p:sp>
        <p:sp>
          <p:nvSpPr>
            <p:cNvPr id="34" name="Rectangle 15">
              <a:extLst>
                <a:ext uri="{FF2B5EF4-FFF2-40B4-BE49-F238E27FC236}">
                  <a16:creationId xmlns:a16="http://schemas.microsoft.com/office/drawing/2014/main" id="{D8DCF742-3305-6B6E-3034-2948C198D78C}"/>
                </a:ext>
              </a:extLst>
            </p:cNvPr>
            <p:cNvSpPr>
              <a:spLocks noChangeArrowheads="1"/>
            </p:cNvSpPr>
            <p:nvPr/>
          </p:nvSpPr>
          <p:spPr bwMode="auto">
            <a:xfrm>
              <a:off x="2797986" y="4005548"/>
              <a:ext cx="587375"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lIns="45720" tIns="45720" rIns="45720" bIns="45720" anchor="t"/>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None/>
              </a:pPr>
              <a:r>
                <a:rPr lang="en-GB" altLang="en-US" sz="2000" dirty="0">
                  <a:solidFill>
                    <a:schemeClr val="bg1"/>
                  </a:solidFill>
                  <a:latin typeface="Roboto"/>
                  <a:ea typeface="Roboto"/>
                  <a:cs typeface="Roboto"/>
                </a:rPr>
                <a:t>Product </a:t>
              </a:r>
              <a:endParaRPr lang="en-GB" altLang="en-US" sz="2000">
                <a:solidFill>
                  <a:schemeClr val="bg1"/>
                </a:solidFill>
                <a:latin typeface="Roboto" panose="02000000000000000000" pitchFamily="2" charset="0"/>
                <a:ea typeface="Roboto" panose="02000000000000000000" pitchFamily="2" charset="0"/>
                <a:cs typeface="Roboto" panose="02000000000000000000" pitchFamily="2" charset="0"/>
              </a:endParaRPr>
            </a:p>
            <a:p>
              <a:pPr algn="ctr">
                <a:lnSpc>
                  <a:spcPct val="100000"/>
                </a:lnSpc>
                <a:spcBef>
                  <a:spcPct val="0"/>
                </a:spcBef>
                <a:spcAft>
                  <a:spcPct val="0"/>
                </a:spcAft>
                <a:buClrTx/>
                <a:buSzTx/>
                <a:buFontTx/>
                <a:buNone/>
              </a:pPr>
              <a:r>
                <a:rPr lang="en-GB" altLang="en-US" sz="2000" dirty="0">
                  <a:solidFill>
                    <a:schemeClr val="bg1"/>
                  </a:solidFill>
                  <a:latin typeface="Roboto"/>
                  <a:ea typeface="Roboto"/>
                  <a:cs typeface="Roboto"/>
                </a:rPr>
                <a:t>Development</a:t>
              </a:r>
              <a:endParaRPr lang="en-GB" altLang="en-US" sz="2000" b="0" dirty="0">
                <a:solidFill>
                  <a:schemeClr val="bg1"/>
                </a:solidFill>
                <a:latin typeface="Roboto"/>
                <a:ea typeface="Roboto"/>
                <a:cs typeface="Roboto"/>
              </a:endParaRPr>
            </a:p>
          </p:txBody>
        </p:sp>
        <p:sp>
          <p:nvSpPr>
            <p:cNvPr id="35" name="Rectangle 17">
              <a:extLst>
                <a:ext uri="{FF2B5EF4-FFF2-40B4-BE49-F238E27FC236}">
                  <a16:creationId xmlns:a16="http://schemas.microsoft.com/office/drawing/2014/main" id="{0BC5F681-7600-7071-C3BF-A978043BAF77}"/>
                </a:ext>
              </a:extLst>
            </p:cNvPr>
            <p:cNvSpPr>
              <a:spLocks noChangeArrowheads="1"/>
            </p:cNvSpPr>
            <p:nvPr/>
          </p:nvSpPr>
          <p:spPr bwMode="auto">
            <a:xfrm>
              <a:off x="2797986" y="2360242"/>
              <a:ext cx="587375"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lIns="45720" tIns="45720" rIns="45720" bIns="45720" anchor="t"/>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l">
                <a:lnSpc>
                  <a:spcPct val="100000"/>
                </a:lnSpc>
                <a:spcBef>
                  <a:spcPct val="0"/>
                </a:spcBef>
                <a:spcAft>
                  <a:spcPct val="0"/>
                </a:spcAft>
                <a:buClrTx/>
                <a:buSzTx/>
                <a:buFontTx/>
                <a:buNone/>
              </a:pPr>
              <a:r>
                <a:rPr lang="en-GB" altLang="en-US" sz="2000" dirty="0">
                  <a:latin typeface="Roboto"/>
                  <a:ea typeface="Roboto"/>
                  <a:cs typeface="Roboto"/>
                </a:rPr>
                <a:t>Culture:</a:t>
              </a:r>
            </a:p>
          </p:txBody>
        </p:sp>
      </p:grpSp>
      <p:sp>
        <p:nvSpPr>
          <p:cNvPr id="14" name="TextBox 13">
            <a:extLst>
              <a:ext uri="{FF2B5EF4-FFF2-40B4-BE49-F238E27FC236}">
                <a16:creationId xmlns:a16="http://schemas.microsoft.com/office/drawing/2014/main" id="{FD8A3A1F-ADC2-723D-DE77-C57FE8B0496D}"/>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u="sng" dirty="0">
                <a:solidFill>
                  <a:schemeClr val="bg1"/>
                </a:solidFill>
                <a:latin typeface="Roboto" panose="02000000000000000000" pitchFamily="2" charset="0"/>
                <a:ea typeface="Roboto" panose="02000000000000000000" pitchFamily="2" charset="0"/>
                <a:cs typeface="Roboto" panose="02000000000000000000" pitchFamily="2" charset="0"/>
              </a:rPr>
              <a:t>Lean Transformation</a:t>
            </a:r>
          </a:p>
        </p:txBody>
      </p:sp>
      <p:sp>
        <p:nvSpPr>
          <p:cNvPr id="2" name="AutoShape 11">
            <a:extLst>
              <a:ext uri="{FF2B5EF4-FFF2-40B4-BE49-F238E27FC236}">
                <a16:creationId xmlns:a16="http://schemas.microsoft.com/office/drawing/2014/main" id="{6B427250-1613-8AEE-CAA2-C357E1B50A27}"/>
              </a:ext>
            </a:extLst>
          </p:cNvPr>
          <p:cNvSpPr>
            <a:spLocks noChangeArrowheads="1"/>
          </p:cNvSpPr>
          <p:nvPr/>
        </p:nvSpPr>
        <p:spPr bwMode="auto">
          <a:xfrm>
            <a:off x="1567598" y="315206"/>
            <a:ext cx="432817" cy="265061"/>
          </a:xfrm>
          <a:prstGeom prst="homePlate">
            <a:avLst>
              <a:gd name="adj" fmla="val 29912"/>
            </a:avLst>
          </a:prstGeom>
          <a:solidFill>
            <a:srgbClr val="FFB627"/>
          </a:solidFill>
          <a:ln w="12700" cap="sq">
            <a:solidFill>
              <a:schemeClr val="bg2"/>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5" name="AutoShape 9">
            <a:extLst>
              <a:ext uri="{FF2B5EF4-FFF2-40B4-BE49-F238E27FC236}">
                <a16:creationId xmlns:a16="http://schemas.microsoft.com/office/drawing/2014/main" id="{4BAD048D-5901-8922-6B63-BFF0A9D3AABC}"/>
              </a:ext>
            </a:extLst>
          </p:cNvPr>
          <p:cNvSpPr>
            <a:spLocks noChangeArrowheads="1"/>
          </p:cNvSpPr>
          <p:nvPr/>
        </p:nvSpPr>
        <p:spPr bwMode="auto">
          <a:xfrm>
            <a:off x="1302555" y="315206"/>
            <a:ext cx="432817" cy="265061"/>
          </a:xfrm>
          <a:prstGeom prst="homePlate">
            <a:avLst>
              <a:gd name="adj" fmla="val 29912"/>
            </a:avLst>
          </a:prstGeom>
          <a:solidFill>
            <a:srgbClr val="222222"/>
          </a:solidFill>
          <a:ln w="12700" cap="sq">
            <a:solidFill>
              <a:schemeClr val="bg2"/>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6" name="AutoShape 10">
            <a:extLst>
              <a:ext uri="{FF2B5EF4-FFF2-40B4-BE49-F238E27FC236}">
                <a16:creationId xmlns:a16="http://schemas.microsoft.com/office/drawing/2014/main" id="{83156651-6040-4957-0C9E-76A1DBEAD92F}"/>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2"/>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Tree>
    <p:extLst>
      <p:ext uri="{BB962C8B-B14F-4D97-AF65-F5344CB8AC3E}">
        <p14:creationId xmlns:p14="http://schemas.microsoft.com/office/powerpoint/2010/main" val="359120153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5B887A6-4828-48C7-9AB6-12DCEFFFAAEB}"/>
              </a:ext>
            </a:extLst>
          </p:cNvPr>
          <p:cNvSpPr>
            <a:spLocks noGrp="1"/>
          </p:cNvSpPr>
          <p:nvPr>
            <p:ph type="title"/>
          </p:nvPr>
        </p:nvSpPr>
        <p:spPr/>
        <p:txBody>
          <a:bodyPr>
            <a:normAutofit/>
          </a:bodyPr>
          <a:lstStyle/>
          <a:p>
            <a:r>
              <a:rPr lang="en-US" sz="4400" dirty="0"/>
              <a:t>In a Lean Journey, there is no end…</a:t>
            </a:r>
            <a:endParaRPr lang="en-US" dirty="0"/>
          </a:p>
        </p:txBody>
      </p:sp>
      <p:sp>
        <p:nvSpPr>
          <p:cNvPr id="8" name="Content Placeholder 7">
            <a:extLst>
              <a:ext uri="{FF2B5EF4-FFF2-40B4-BE49-F238E27FC236}">
                <a16:creationId xmlns:a16="http://schemas.microsoft.com/office/drawing/2014/main" id="{BB1B0668-932B-0010-97B2-05D7414CD51C}"/>
              </a:ext>
            </a:extLst>
          </p:cNvPr>
          <p:cNvSpPr>
            <a:spLocks noGrp="1"/>
          </p:cNvSpPr>
          <p:nvPr>
            <p:ph idx="1"/>
          </p:nvPr>
        </p:nvSpPr>
        <p:spPr/>
        <p:txBody>
          <a:bodyPr/>
          <a:lstStyle/>
          <a:p>
            <a:pPr marL="285750" indent="-285750">
              <a:buFont typeface="Arial" panose="020B0604020202020204" pitchFamily="34" charset="0"/>
              <a:buChar char="•"/>
            </a:pPr>
            <a:r>
              <a:rPr lang="en-US" sz="2800" dirty="0">
                <a:latin typeface="Roboto" panose="02000000000000000000" pitchFamily="2" charset="0"/>
                <a:ea typeface="Roboto" panose="02000000000000000000" pitchFamily="2" charset="0"/>
                <a:cs typeface="Roboto" panose="02000000000000000000" pitchFamily="2" charset="0"/>
              </a:rPr>
              <a:t>Lean in its most basic form simply helps us “Identify Waste.”  </a:t>
            </a:r>
          </a:p>
          <a:p>
            <a:pPr marL="285750" indent="-285750">
              <a:buFont typeface="Arial" panose="020B0604020202020204" pitchFamily="34" charset="0"/>
              <a:buChar char="•"/>
            </a:pPr>
            <a:r>
              <a:rPr lang="en-US" sz="2800" dirty="0">
                <a:latin typeface="Roboto" panose="02000000000000000000" pitchFamily="2" charset="0"/>
                <a:ea typeface="Roboto" panose="02000000000000000000" pitchFamily="2" charset="0"/>
                <a:cs typeface="Roboto" panose="02000000000000000000" pitchFamily="2" charset="0"/>
              </a:rPr>
              <a:t>Waste exists in multiple levels in all aspects of our business </a:t>
            </a:r>
          </a:p>
          <a:p>
            <a:pPr marL="285750" indent="-285750">
              <a:buFont typeface="Arial" panose="020B0604020202020204" pitchFamily="34" charset="0"/>
              <a:buChar char="•"/>
            </a:pPr>
            <a:r>
              <a:rPr lang="en-US" sz="2800" dirty="0">
                <a:latin typeface="Roboto" panose="02000000000000000000" pitchFamily="2" charset="0"/>
                <a:ea typeface="Roboto" panose="02000000000000000000" pitchFamily="2" charset="0"/>
                <a:cs typeface="Roboto" panose="02000000000000000000" pitchFamily="2" charset="0"/>
              </a:rPr>
              <a:t>Realities and changes in the competitive landscape influence the “Business Imperatives” at any given time</a:t>
            </a:r>
          </a:p>
          <a:p>
            <a:pPr marL="285750" indent="-285750">
              <a:buFont typeface="Arial" panose="020B0604020202020204" pitchFamily="34" charset="0"/>
              <a:buChar char="•"/>
            </a:pPr>
            <a:r>
              <a:rPr lang="en-US" sz="2800" dirty="0">
                <a:latin typeface="Roboto" panose="02000000000000000000" pitchFamily="2" charset="0"/>
                <a:ea typeface="Roboto" panose="02000000000000000000" pitchFamily="2" charset="0"/>
                <a:cs typeface="Roboto" panose="02000000000000000000" pitchFamily="2" charset="0"/>
              </a:rPr>
              <a:t>What may begin as a Capacity opportunity may quickly shift to New Product Introduction (velocity) or Cash flow for the business</a:t>
            </a:r>
          </a:p>
          <a:p>
            <a:pPr marL="285750" indent="-285750">
              <a:buFont typeface="Arial" panose="020B0604020202020204" pitchFamily="34" charset="0"/>
              <a:buChar char="•"/>
            </a:pPr>
            <a:r>
              <a:rPr lang="en-US" sz="2800" dirty="0">
                <a:latin typeface="Roboto" panose="02000000000000000000" pitchFamily="2" charset="0"/>
                <a:ea typeface="Roboto" panose="02000000000000000000" pitchFamily="2" charset="0"/>
                <a:cs typeface="Roboto" panose="02000000000000000000" pitchFamily="2" charset="0"/>
              </a:rPr>
              <a:t>Different product families and different distribution channels will present varying ‘opportunities’ </a:t>
            </a:r>
          </a:p>
        </p:txBody>
      </p:sp>
      <p:sp>
        <p:nvSpPr>
          <p:cNvPr id="3" name="Footer Placeholder 2">
            <a:extLst>
              <a:ext uri="{FF2B5EF4-FFF2-40B4-BE49-F238E27FC236}">
                <a16:creationId xmlns:a16="http://schemas.microsoft.com/office/drawing/2014/main" id="{06E17DCF-3F79-24AC-239D-BE237936AAFD}"/>
              </a:ext>
            </a:extLst>
          </p:cNvPr>
          <p:cNvSpPr>
            <a:spLocks noGrp="1"/>
          </p:cNvSpPr>
          <p:nvPr>
            <p:ph type="ftr" sz="quarter" idx="11"/>
          </p:nvPr>
        </p:nvSpPr>
        <p:spPr/>
        <p:txBody>
          <a:bodyPr/>
          <a:lstStyle/>
          <a:p>
            <a:r>
              <a:rPr lang="en-US"/>
              <a:t>© Lean Horizons Consulting, LLC 2023. All Rights Reserved</a:t>
            </a:r>
            <a:endParaRPr lang="en-US" dirty="0"/>
          </a:p>
        </p:txBody>
      </p:sp>
      <p:sp>
        <p:nvSpPr>
          <p:cNvPr id="4" name="Slide Number Placeholder 3">
            <a:extLst>
              <a:ext uri="{FF2B5EF4-FFF2-40B4-BE49-F238E27FC236}">
                <a16:creationId xmlns:a16="http://schemas.microsoft.com/office/drawing/2014/main" id="{5EFB12A2-0529-C4BD-D579-D17FDA7ED218}"/>
              </a:ext>
            </a:extLst>
          </p:cNvPr>
          <p:cNvSpPr>
            <a:spLocks noGrp="1"/>
          </p:cNvSpPr>
          <p:nvPr>
            <p:ph type="sldNum" sz="quarter" idx="12"/>
          </p:nvPr>
        </p:nvSpPr>
        <p:spPr/>
        <p:txBody>
          <a:bodyPr/>
          <a:lstStyle/>
          <a:p>
            <a:fld id="{CC6D4273-7FC1-0947-B9FE-19CB3C0D1FB6}" type="slidenum">
              <a:rPr lang="en-US" smtClean="0"/>
              <a:t>63</a:t>
            </a:fld>
            <a:endParaRPr lang="en-US"/>
          </a:p>
        </p:txBody>
      </p:sp>
      <p:sp>
        <p:nvSpPr>
          <p:cNvPr id="10" name="Title 1">
            <a:extLst>
              <a:ext uri="{FF2B5EF4-FFF2-40B4-BE49-F238E27FC236}">
                <a16:creationId xmlns:a16="http://schemas.microsoft.com/office/drawing/2014/main" id="{DEE220F3-A06F-8826-4592-E5176513F841}"/>
              </a:ext>
            </a:extLst>
          </p:cNvPr>
          <p:cNvSpPr txBox="1">
            <a:spLocks/>
          </p:cNvSpPr>
          <p:nvPr/>
        </p:nvSpPr>
        <p:spPr>
          <a:xfrm>
            <a:off x="616232" y="706595"/>
            <a:ext cx="10515600" cy="1009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endParaRPr lang="en-US" sz="4000" dirty="0">
              <a:solidFill>
                <a:srgbClr val="C00000"/>
              </a:solidFill>
            </a:endParaRPr>
          </a:p>
        </p:txBody>
      </p:sp>
      <p:sp>
        <p:nvSpPr>
          <p:cNvPr id="15" name="TextBox 14">
            <a:extLst>
              <a:ext uri="{FF2B5EF4-FFF2-40B4-BE49-F238E27FC236}">
                <a16:creationId xmlns:a16="http://schemas.microsoft.com/office/drawing/2014/main" id="{E3722E5E-C074-3143-BDDF-32F933A3AABF}"/>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Lean Transformation</a:t>
            </a:r>
          </a:p>
        </p:txBody>
      </p:sp>
      <p:sp>
        <p:nvSpPr>
          <p:cNvPr id="2" name="AutoShape 11">
            <a:extLst>
              <a:ext uri="{FF2B5EF4-FFF2-40B4-BE49-F238E27FC236}">
                <a16:creationId xmlns:a16="http://schemas.microsoft.com/office/drawing/2014/main" id="{7BCCE996-73AF-4546-80C1-EF040F868E38}"/>
              </a:ext>
            </a:extLst>
          </p:cNvPr>
          <p:cNvSpPr>
            <a:spLocks noChangeArrowheads="1"/>
          </p:cNvSpPr>
          <p:nvPr/>
        </p:nvSpPr>
        <p:spPr bwMode="auto">
          <a:xfrm>
            <a:off x="1567598" y="315206"/>
            <a:ext cx="432817" cy="265061"/>
          </a:xfrm>
          <a:prstGeom prst="homePlate">
            <a:avLst>
              <a:gd name="adj" fmla="val 29912"/>
            </a:avLst>
          </a:prstGeom>
          <a:solidFill>
            <a:srgbClr val="FFB627"/>
          </a:solidFill>
          <a:ln w="12700" cap="sq">
            <a:solidFill>
              <a:schemeClr val="bg2"/>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5" name="AutoShape 9">
            <a:extLst>
              <a:ext uri="{FF2B5EF4-FFF2-40B4-BE49-F238E27FC236}">
                <a16:creationId xmlns:a16="http://schemas.microsoft.com/office/drawing/2014/main" id="{1866FF61-1DF8-645F-398A-9F71F0604B9F}"/>
              </a:ext>
            </a:extLst>
          </p:cNvPr>
          <p:cNvSpPr>
            <a:spLocks noChangeArrowheads="1"/>
          </p:cNvSpPr>
          <p:nvPr/>
        </p:nvSpPr>
        <p:spPr bwMode="auto">
          <a:xfrm>
            <a:off x="1302555" y="315206"/>
            <a:ext cx="432817" cy="265061"/>
          </a:xfrm>
          <a:prstGeom prst="homePlate">
            <a:avLst>
              <a:gd name="adj" fmla="val 29912"/>
            </a:avLst>
          </a:prstGeom>
          <a:solidFill>
            <a:srgbClr val="222222"/>
          </a:solidFill>
          <a:ln w="12700" cap="sq">
            <a:solidFill>
              <a:schemeClr val="bg2"/>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6" name="AutoShape 10">
            <a:extLst>
              <a:ext uri="{FF2B5EF4-FFF2-40B4-BE49-F238E27FC236}">
                <a16:creationId xmlns:a16="http://schemas.microsoft.com/office/drawing/2014/main" id="{C57E6180-A630-91F9-D85A-D1E00AD8EBF8}"/>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2"/>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Tree>
    <p:extLst>
      <p:ext uri="{BB962C8B-B14F-4D97-AF65-F5344CB8AC3E}">
        <p14:creationId xmlns:p14="http://schemas.microsoft.com/office/powerpoint/2010/main" val="144904601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5B86E-3AA8-91AB-AD7A-E1937F344E62}"/>
              </a:ext>
            </a:extLst>
          </p:cNvPr>
          <p:cNvSpPr>
            <a:spLocks noGrp="1"/>
          </p:cNvSpPr>
          <p:nvPr>
            <p:ph type="title"/>
          </p:nvPr>
        </p:nvSpPr>
        <p:spPr/>
        <p:txBody>
          <a:bodyPr>
            <a:normAutofit/>
          </a:bodyPr>
          <a:lstStyle/>
          <a:p>
            <a:r>
              <a:rPr lang="en-US" sz="4000" dirty="0">
                <a:latin typeface="Roboto Medium"/>
                <a:ea typeface="Roboto Medium"/>
                <a:cs typeface="Roboto Medium"/>
              </a:rPr>
              <a:t>2-Minute Review</a:t>
            </a:r>
          </a:p>
        </p:txBody>
      </p:sp>
      <p:pic>
        <p:nvPicPr>
          <p:cNvPr id="9" name="Content Placeholder 8" descr="A clock on a wall">
            <a:extLst>
              <a:ext uri="{FF2B5EF4-FFF2-40B4-BE49-F238E27FC236}">
                <a16:creationId xmlns:a16="http://schemas.microsoft.com/office/drawing/2014/main" id="{2DA9C104-A714-084B-CA8C-99DEDBB9771D}"/>
              </a:ext>
            </a:extLst>
          </p:cNvPr>
          <p:cNvPicPr>
            <a:picLocks noGrp="1" noChangeAspect="1"/>
          </p:cNvPicPr>
          <p:nvPr>
            <p:ph sz="half" idx="1"/>
          </p:nvPr>
        </p:nvPicPr>
        <p:blipFill>
          <a:blip r:embed="rId3"/>
          <a:stretch>
            <a:fillRect/>
          </a:stretch>
        </p:blipFill>
        <p:spPr>
          <a:xfrm>
            <a:off x="947940" y="1982962"/>
            <a:ext cx="2568046" cy="3852069"/>
          </a:xfrm>
        </p:spPr>
      </p:pic>
      <p:sp>
        <p:nvSpPr>
          <p:cNvPr id="4" name="Content Placeholder 3">
            <a:extLst>
              <a:ext uri="{FF2B5EF4-FFF2-40B4-BE49-F238E27FC236}">
                <a16:creationId xmlns:a16="http://schemas.microsoft.com/office/drawing/2014/main" id="{9A5C3C62-26C5-FC04-89D5-57228367FD1F}"/>
              </a:ext>
            </a:extLst>
          </p:cNvPr>
          <p:cNvSpPr>
            <a:spLocks noGrp="1"/>
          </p:cNvSpPr>
          <p:nvPr>
            <p:ph sz="half" idx="2"/>
          </p:nvPr>
        </p:nvSpPr>
        <p:spPr>
          <a:xfrm>
            <a:off x="3798518" y="1978523"/>
            <a:ext cx="5181600" cy="3626864"/>
          </a:xfrm>
        </p:spPr>
        <p:txBody>
          <a:bodyPr/>
          <a:lstStyle/>
          <a:p>
            <a:r>
              <a:rPr lang="en-US" dirty="0"/>
              <a:t>Turn to the person next to you and spend 2 minutes sharing your top learnings from today’s session.</a:t>
            </a:r>
          </a:p>
          <a:p>
            <a:r>
              <a:rPr lang="en-US" dirty="0"/>
              <a:t>When the time is complete, each pair must share one item that was discussed with the rest of the class</a:t>
            </a:r>
          </a:p>
        </p:txBody>
      </p:sp>
      <p:sp>
        <p:nvSpPr>
          <p:cNvPr id="6" name="Footer Placeholder 5">
            <a:extLst>
              <a:ext uri="{FF2B5EF4-FFF2-40B4-BE49-F238E27FC236}">
                <a16:creationId xmlns:a16="http://schemas.microsoft.com/office/drawing/2014/main" id="{BC60A4C7-6416-5254-EF96-E5752AB29A9B}"/>
              </a:ext>
            </a:extLst>
          </p:cNvPr>
          <p:cNvSpPr>
            <a:spLocks noGrp="1"/>
          </p:cNvSpPr>
          <p:nvPr>
            <p:ph type="ftr" sz="quarter" idx="11"/>
          </p:nvPr>
        </p:nvSpPr>
        <p:spPr/>
        <p:txBody>
          <a:bodyPr/>
          <a:lstStyle/>
          <a:p>
            <a:r>
              <a:rPr lang="en-US"/>
              <a:t>© Lean Horizons Consulting, LLC 2023. All Rights Reserved</a:t>
            </a:r>
            <a:endParaRPr lang="en-US" dirty="0"/>
          </a:p>
        </p:txBody>
      </p:sp>
      <p:sp>
        <p:nvSpPr>
          <p:cNvPr id="7" name="Slide Number Placeholder 6">
            <a:extLst>
              <a:ext uri="{FF2B5EF4-FFF2-40B4-BE49-F238E27FC236}">
                <a16:creationId xmlns:a16="http://schemas.microsoft.com/office/drawing/2014/main" id="{FCFF9CB3-95A8-7E48-C302-CFB9C38E96E5}"/>
              </a:ext>
            </a:extLst>
          </p:cNvPr>
          <p:cNvSpPr>
            <a:spLocks noGrp="1"/>
          </p:cNvSpPr>
          <p:nvPr>
            <p:ph type="sldNum" sz="quarter" idx="12"/>
          </p:nvPr>
        </p:nvSpPr>
        <p:spPr/>
        <p:txBody>
          <a:bodyPr/>
          <a:lstStyle/>
          <a:p>
            <a:fld id="{CC6D4273-7FC1-0947-B9FE-19CB3C0D1FB6}" type="slidenum">
              <a:rPr lang="en-US" smtClean="0"/>
              <a:t>64</a:t>
            </a:fld>
            <a:endParaRPr lang="en-US"/>
          </a:p>
        </p:txBody>
      </p:sp>
    </p:spTree>
    <p:extLst>
      <p:ext uri="{BB962C8B-B14F-4D97-AF65-F5344CB8AC3E}">
        <p14:creationId xmlns:p14="http://schemas.microsoft.com/office/powerpoint/2010/main" val="93538034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5B86E-3AA8-91AB-AD7A-E1937F344E62}"/>
              </a:ext>
            </a:extLst>
          </p:cNvPr>
          <p:cNvSpPr>
            <a:spLocks noGrp="1"/>
          </p:cNvSpPr>
          <p:nvPr>
            <p:ph type="title"/>
          </p:nvPr>
        </p:nvSpPr>
        <p:spPr/>
        <p:txBody>
          <a:bodyPr>
            <a:normAutofit/>
          </a:bodyPr>
          <a:lstStyle/>
          <a:p>
            <a:r>
              <a:rPr lang="en-US" sz="4000" dirty="0">
                <a:latin typeface="Roboto Medium"/>
                <a:ea typeface="Roboto Medium"/>
                <a:cs typeface="Roboto Medium"/>
              </a:rPr>
              <a:t>Other Modules In This Series</a:t>
            </a:r>
            <a:endParaRPr lang="en-US" dirty="0"/>
          </a:p>
        </p:txBody>
      </p:sp>
      <p:sp>
        <p:nvSpPr>
          <p:cNvPr id="6" name="Footer Placeholder 5">
            <a:extLst>
              <a:ext uri="{FF2B5EF4-FFF2-40B4-BE49-F238E27FC236}">
                <a16:creationId xmlns:a16="http://schemas.microsoft.com/office/drawing/2014/main" id="{BC60A4C7-6416-5254-EF96-E5752AB29A9B}"/>
              </a:ext>
            </a:extLst>
          </p:cNvPr>
          <p:cNvSpPr>
            <a:spLocks noGrp="1"/>
          </p:cNvSpPr>
          <p:nvPr>
            <p:ph type="ftr" sz="quarter" idx="11"/>
          </p:nvPr>
        </p:nvSpPr>
        <p:spPr/>
        <p:txBody>
          <a:bodyPr/>
          <a:lstStyle/>
          <a:p>
            <a:r>
              <a:rPr lang="en-US"/>
              <a:t>© Lean Horizons Consulting, LLC 2023. All Rights Reserved</a:t>
            </a:r>
            <a:endParaRPr lang="en-US" dirty="0"/>
          </a:p>
        </p:txBody>
      </p:sp>
      <p:sp>
        <p:nvSpPr>
          <p:cNvPr id="7" name="Slide Number Placeholder 6">
            <a:extLst>
              <a:ext uri="{FF2B5EF4-FFF2-40B4-BE49-F238E27FC236}">
                <a16:creationId xmlns:a16="http://schemas.microsoft.com/office/drawing/2014/main" id="{FCFF9CB3-95A8-7E48-C302-CFB9C38E96E5}"/>
              </a:ext>
            </a:extLst>
          </p:cNvPr>
          <p:cNvSpPr>
            <a:spLocks noGrp="1"/>
          </p:cNvSpPr>
          <p:nvPr>
            <p:ph type="sldNum" sz="quarter" idx="12"/>
          </p:nvPr>
        </p:nvSpPr>
        <p:spPr/>
        <p:txBody>
          <a:bodyPr/>
          <a:lstStyle/>
          <a:p>
            <a:fld id="{CC6D4273-7FC1-0947-B9FE-19CB3C0D1FB6}" type="slidenum">
              <a:rPr lang="en-US" smtClean="0"/>
              <a:t>65</a:t>
            </a:fld>
            <a:endParaRPr lang="en-US"/>
          </a:p>
        </p:txBody>
      </p:sp>
      <p:sp>
        <p:nvSpPr>
          <p:cNvPr id="12" name="Steve Jones">
            <a:extLst>
              <a:ext uri="{FF2B5EF4-FFF2-40B4-BE49-F238E27FC236}">
                <a16:creationId xmlns:a16="http://schemas.microsoft.com/office/drawing/2014/main" id="{6F4E840C-4FBD-16A3-0D56-EB591AEFB251}"/>
              </a:ext>
            </a:extLst>
          </p:cNvPr>
          <p:cNvSpPr/>
          <p:nvPr/>
        </p:nvSpPr>
        <p:spPr>
          <a:xfrm>
            <a:off x="1069695" y="4201690"/>
            <a:ext cx="3475310" cy="199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xmlns:lc="http://schemas.openxmlformats.org/drawingml/2006/lockedCanvas" val="1"/>
            </a:ext>
          </a:extLst>
        </p:spPr>
        <p:txBody>
          <a:bodyPr wrap="none" lIns="0" tIns="0" rIns="0" bIns="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600" dirty="0">
                <a:solidFill>
                  <a:srgbClr val="EE3228"/>
                </a:solidFill>
                <a:latin typeface="Roboto" panose="02000000000000000000" pitchFamily="2" charset="0"/>
                <a:ea typeface="Roboto" panose="02000000000000000000" pitchFamily="2" charset="0"/>
                <a:cs typeface="Roboto" panose="02000000000000000000" pitchFamily="2" charset="0"/>
              </a:rPr>
              <a:t>For More Information Please Contact:</a:t>
            </a:r>
          </a:p>
        </p:txBody>
      </p:sp>
      <p:sp>
        <p:nvSpPr>
          <p:cNvPr id="13" name="Head of Management Dept.">
            <a:extLst>
              <a:ext uri="{FF2B5EF4-FFF2-40B4-BE49-F238E27FC236}">
                <a16:creationId xmlns:a16="http://schemas.microsoft.com/office/drawing/2014/main" id="{64EC6439-FAEE-E9C5-0135-B65CF585A16F}"/>
              </a:ext>
            </a:extLst>
          </p:cNvPr>
          <p:cNvSpPr/>
          <p:nvPr/>
        </p:nvSpPr>
        <p:spPr>
          <a:xfrm>
            <a:off x="1064663" y="4590893"/>
            <a:ext cx="2879948" cy="838178"/>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xmlns:lc="http://schemas.openxmlformats.org/drawingml/2006/lockedCanvas" val="1"/>
            </a:ext>
          </a:extLst>
        </p:spPr>
        <p:txBody>
          <a:bodyPr lIns="91440" tIns="45720" rIns="91440" bIns="4572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90000"/>
              </a:lnSpc>
              <a:spcBef>
                <a:spcPts val="1000"/>
              </a:spcBef>
            </a:pPr>
            <a:r>
              <a:rPr lang="en-US" sz="1400" b="1" dirty="0">
                <a:latin typeface="Roboto"/>
                <a:ea typeface="Roboto"/>
                <a:cs typeface="Roboto"/>
              </a:rPr>
              <a:t>Mark DeLuzio, President and CEO</a:t>
            </a:r>
            <a:endParaRPr lang="en-US" b="1">
              <a:latin typeface="Roboto"/>
              <a:ea typeface="Roboto"/>
              <a:cs typeface="Roboto"/>
            </a:endParaRPr>
          </a:p>
          <a:p>
            <a:pP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+1.860.234.0915</a:t>
            </a:r>
          </a:p>
          <a:p>
            <a:pP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mark.deluzio@leanhorizons.com</a:t>
            </a:r>
            <a:endParaRPr sz="14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pic>
        <p:nvPicPr>
          <p:cNvPr id="14" name="Picture 13">
            <a:extLst>
              <a:ext uri="{FF2B5EF4-FFF2-40B4-BE49-F238E27FC236}">
                <a16:creationId xmlns:a16="http://schemas.microsoft.com/office/drawing/2014/main" id="{FF0F3A63-E4B2-8FF0-4BE3-A0C38BCA5D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20142" y="2039270"/>
            <a:ext cx="2945426" cy="1754165"/>
          </a:xfrm>
          <a:prstGeom prst="rect">
            <a:avLst/>
          </a:prstGeom>
        </p:spPr>
      </p:pic>
      <p:sp>
        <p:nvSpPr>
          <p:cNvPr id="18" name="Content Placeholder 3">
            <a:extLst>
              <a:ext uri="{FF2B5EF4-FFF2-40B4-BE49-F238E27FC236}">
                <a16:creationId xmlns:a16="http://schemas.microsoft.com/office/drawing/2014/main" id="{E7462C88-3E27-7B74-D4C0-DFD1D9CF4CD0}"/>
              </a:ext>
            </a:extLst>
          </p:cNvPr>
          <p:cNvSpPr txBox="1">
            <a:spLocks/>
          </p:cNvSpPr>
          <p:nvPr/>
        </p:nvSpPr>
        <p:spPr>
          <a:xfrm>
            <a:off x="5724436" y="1166648"/>
            <a:ext cx="5157787" cy="368458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sz="1400" dirty="0">
                <a:solidFill>
                  <a:schemeClr val="tx1"/>
                </a:solidFill>
              </a:rPr>
              <a:t>5S</a:t>
            </a:r>
          </a:p>
          <a:p>
            <a:pPr marL="0" indent="0" algn="r">
              <a:buNone/>
            </a:pPr>
            <a:r>
              <a:rPr lang="en-US" sz="1400" dirty="0">
                <a:solidFill>
                  <a:schemeClr val="tx1"/>
                </a:solidFill>
              </a:rPr>
              <a:t>Standard Work</a:t>
            </a:r>
          </a:p>
          <a:p>
            <a:pPr marL="0" indent="0" algn="r">
              <a:buNone/>
            </a:pPr>
            <a:r>
              <a:rPr lang="en-US" sz="1400" dirty="0">
                <a:solidFill>
                  <a:schemeClr val="tx1"/>
                </a:solidFill>
              </a:rPr>
              <a:t>Total Productive Maintenance (TPM)</a:t>
            </a:r>
          </a:p>
          <a:p>
            <a:pPr marL="0" indent="0" algn="r">
              <a:buNone/>
            </a:pPr>
            <a:r>
              <a:rPr lang="en-US" sz="1400" dirty="0">
                <a:solidFill>
                  <a:schemeClr val="tx1"/>
                </a:solidFill>
              </a:rPr>
              <a:t>Administrative Lean</a:t>
            </a:r>
          </a:p>
          <a:p>
            <a:pPr marL="0" indent="0" algn="r">
              <a:buNone/>
            </a:pPr>
            <a:r>
              <a:rPr lang="en-US" sz="1400" dirty="0">
                <a:solidFill>
                  <a:schemeClr val="tx1"/>
                </a:solidFill>
              </a:rPr>
              <a:t>Cell Design/ Production Preparation Process (3P)</a:t>
            </a:r>
          </a:p>
          <a:p>
            <a:pPr marL="0" indent="0" algn="r">
              <a:buNone/>
            </a:pPr>
            <a:r>
              <a:rPr lang="en-US" sz="1400" dirty="0">
                <a:solidFill>
                  <a:schemeClr val="tx1"/>
                </a:solidFill>
              </a:rPr>
              <a:t>Kaizen</a:t>
            </a:r>
          </a:p>
          <a:p>
            <a:pPr marL="0" indent="0" algn="r">
              <a:buNone/>
            </a:pPr>
            <a:r>
              <a:rPr lang="en-US" sz="1400" dirty="0">
                <a:solidFill>
                  <a:schemeClr val="tx1"/>
                </a:solidFill>
              </a:rPr>
              <a:t>Kanban</a:t>
            </a:r>
          </a:p>
          <a:p>
            <a:pPr marL="0" indent="0" algn="r">
              <a:buNone/>
            </a:pPr>
            <a:r>
              <a:rPr lang="en-US" sz="1400" dirty="0">
                <a:solidFill>
                  <a:schemeClr val="tx1"/>
                </a:solidFill>
              </a:rPr>
              <a:t>Problem Solving</a:t>
            </a:r>
          </a:p>
          <a:p>
            <a:pPr marL="0" indent="0" algn="r">
              <a:buNone/>
            </a:pPr>
            <a:r>
              <a:rPr lang="en-US" sz="1400" dirty="0">
                <a:solidFill>
                  <a:schemeClr val="tx1"/>
                </a:solidFill>
              </a:rPr>
              <a:t>Poka Yoke Quality Systems</a:t>
            </a:r>
          </a:p>
          <a:p>
            <a:pPr marL="0" indent="0" algn="r">
              <a:buNone/>
            </a:pPr>
            <a:r>
              <a:rPr lang="en-US" sz="1400" dirty="0">
                <a:solidFill>
                  <a:schemeClr val="tx1"/>
                </a:solidFill>
              </a:rPr>
              <a:t>Transaction Process Improvement (TPI)</a:t>
            </a:r>
          </a:p>
          <a:p>
            <a:pPr marL="0" indent="0" algn="r">
              <a:buNone/>
            </a:pPr>
            <a:r>
              <a:rPr lang="en-US" sz="1400" dirty="0">
                <a:solidFill>
                  <a:schemeClr val="tx1"/>
                </a:solidFill>
              </a:rPr>
              <a:t>Cause &amp; Effect Diagram with the Additions of Cards (CEDAC)</a:t>
            </a:r>
          </a:p>
          <a:p>
            <a:pPr marL="0" indent="0" algn="r">
              <a:buNone/>
            </a:pPr>
            <a:r>
              <a:rPr lang="en-US" sz="1400" dirty="0">
                <a:solidFill>
                  <a:schemeClr val="tx1"/>
                </a:solidFill>
              </a:rPr>
              <a:t>Single Minute Exchange of Dies (SMED)</a:t>
            </a:r>
          </a:p>
          <a:p>
            <a:pPr marL="0" indent="0" algn="r">
              <a:buNone/>
            </a:pPr>
            <a:r>
              <a:rPr lang="en-US" sz="1400" dirty="0">
                <a:solidFill>
                  <a:schemeClr val="tx1"/>
                </a:solidFill>
              </a:rPr>
              <a:t>Value Stream Mapping (</a:t>
            </a:r>
            <a:r>
              <a:rPr lang="en-US" sz="1400" dirty="0" err="1">
                <a:solidFill>
                  <a:schemeClr val="tx1"/>
                </a:solidFill>
              </a:rPr>
              <a:t>VSMi</a:t>
            </a:r>
            <a:r>
              <a:rPr lang="en-US" sz="1400" dirty="0">
                <a:solidFill>
                  <a:schemeClr val="tx1"/>
                </a:solidFill>
              </a:rPr>
              <a:t>®)</a:t>
            </a:r>
          </a:p>
          <a:p>
            <a:pPr marL="0" indent="0" algn="r">
              <a:buNone/>
            </a:pPr>
            <a:r>
              <a:rPr lang="en-US" sz="1400" dirty="0">
                <a:solidFill>
                  <a:schemeClr val="tx1"/>
                </a:solidFill>
              </a:rPr>
              <a:t>Visual Management</a:t>
            </a:r>
          </a:p>
          <a:p>
            <a:pPr marL="0" indent="0" algn="r">
              <a:buNone/>
            </a:pPr>
            <a:r>
              <a:rPr lang="en-US" sz="1400" dirty="0">
                <a:solidFill>
                  <a:schemeClr val="tx1"/>
                </a:solidFill>
              </a:rPr>
              <a:t>Managing Daily Process Excellence</a:t>
            </a:r>
          </a:p>
        </p:txBody>
      </p:sp>
    </p:spTree>
    <p:extLst>
      <p:ext uri="{BB962C8B-B14F-4D97-AF65-F5344CB8AC3E}">
        <p14:creationId xmlns:p14="http://schemas.microsoft.com/office/powerpoint/2010/main" val="4019734186"/>
      </p:ext>
    </p:extLst>
  </p:cSld>
  <p:clrMapOvr>
    <a:masterClrMapping/>
  </p:clrMapOvr>
</p:sld>
</file>

<file path=ppt/theme/theme1.xml><?xml version="1.0" encoding="utf-8"?>
<a:theme xmlns:a="http://schemas.openxmlformats.org/drawingml/2006/main" name="Office Theme">
  <a:themeElements>
    <a:clrScheme name="Custom 1">
      <a:dk1>
        <a:srgbClr val="000000"/>
      </a:dk1>
      <a:lt1>
        <a:srgbClr val="FFFFFF"/>
      </a:lt1>
      <a:dk2>
        <a:srgbClr val="44546A"/>
      </a:dk2>
      <a:lt2>
        <a:srgbClr val="E7E6E6"/>
      </a:lt2>
      <a:accent1>
        <a:srgbClr val="EE3228"/>
      </a:accent1>
      <a:accent2>
        <a:srgbClr val="FDCA40"/>
      </a:accent2>
      <a:accent3>
        <a:srgbClr val="939598"/>
      </a:accent3>
      <a:accent4>
        <a:srgbClr val="76939F"/>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6234</TotalTime>
  <Words>6564</Words>
  <Application>Microsoft Macintosh PowerPoint</Application>
  <PresentationFormat>Widescreen</PresentationFormat>
  <Paragraphs>1144</Paragraphs>
  <Slides>65</Slides>
  <Notes>36</Notes>
  <HiddenSlides>11</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65</vt:i4>
      </vt:variant>
    </vt:vector>
  </HeadingPairs>
  <TitlesOfParts>
    <vt:vector size="76" baseType="lpstr">
      <vt:lpstr>游ゴシック</vt:lpstr>
      <vt:lpstr>Arial</vt:lpstr>
      <vt:lpstr>Baskerville</vt:lpstr>
      <vt:lpstr>Calibri</vt:lpstr>
      <vt:lpstr>Roboto</vt:lpstr>
      <vt:lpstr>Roboto Medium</vt:lpstr>
      <vt:lpstr>Times New Roman</vt:lpstr>
      <vt:lpstr>Wingdings</vt:lpstr>
      <vt:lpstr>Wingdings 2</vt:lpstr>
      <vt:lpstr>Office Theme</vt:lpstr>
      <vt:lpstr>Custom Design</vt:lpstr>
      <vt:lpstr>PowerPoint Presentation</vt:lpstr>
      <vt:lpstr>PowerPoint Presentation</vt:lpstr>
      <vt:lpstr>PowerPoint Presentation</vt:lpstr>
      <vt:lpstr>Ground Rules for Event</vt:lpstr>
      <vt:lpstr>Introduction to Lean</vt:lpstr>
      <vt:lpstr>Introduction</vt:lpstr>
      <vt:lpstr>What is “Lean?”</vt:lpstr>
      <vt:lpstr>PowerPoint Presentation</vt:lpstr>
      <vt:lpstr>PowerPoint Presentation</vt:lpstr>
      <vt:lpstr>PowerPoint Presentation</vt:lpstr>
      <vt:lpstr>History of Lean</vt:lpstr>
      <vt:lpstr>Taiichi Ohno and the Toyota Production System</vt:lpstr>
      <vt:lpstr>Lean Fundamentals</vt:lpstr>
      <vt:lpstr>Core Lean Concepts</vt:lpstr>
      <vt:lpstr>Value Added vs. Non-Value Added</vt:lpstr>
      <vt:lpstr>Tasks can only be defined as  “Value-adding” by the customer</vt:lpstr>
      <vt:lpstr>Identifying Your Customers:  What do they value?</vt:lpstr>
      <vt:lpstr>Distinguish VA from NVA Activities</vt:lpstr>
      <vt:lpstr>What is “Waste”?</vt:lpstr>
      <vt:lpstr>PowerPoint Presentation</vt:lpstr>
      <vt:lpstr>Eight Wastes Examples</vt:lpstr>
      <vt:lpstr>Eight Wastes Examples (Con’t)</vt:lpstr>
      <vt:lpstr>PowerPoint Presentation</vt:lpstr>
      <vt:lpstr>Core Lean Concepts</vt:lpstr>
      <vt:lpstr>Define Value Stream</vt:lpstr>
      <vt:lpstr>Multiple Passes through the Value Stream</vt:lpstr>
      <vt:lpstr>Core Lean Concepts</vt:lpstr>
      <vt:lpstr>Flow</vt:lpstr>
      <vt:lpstr>Batch Processes</vt:lpstr>
      <vt:lpstr>Flow Processes</vt:lpstr>
      <vt:lpstr>Core Lean Concepts</vt:lpstr>
      <vt:lpstr>Pull</vt:lpstr>
      <vt:lpstr>How is the classic vending machine an example of pull?</vt:lpstr>
      <vt:lpstr>Exercise</vt:lpstr>
      <vt:lpstr>Exercise</vt:lpstr>
      <vt:lpstr>Core Lean Concepts</vt:lpstr>
      <vt:lpstr>Perfection</vt:lpstr>
      <vt:lpstr>Kaizen…. The philosophy of continuous improvement</vt:lpstr>
      <vt:lpstr>Standardization and Kaizen</vt:lpstr>
      <vt:lpstr>Waste Elimination Tools</vt:lpstr>
      <vt:lpstr>Waste Elimination Tools</vt:lpstr>
      <vt:lpstr>Visual Management</vt:lpstr>
      <vt:lpstr>Waste Elimination Tools</vt:lpstr>
      <vt:lpstr>5S Overview</vt:lpstr>
      <vt:lpstr>5S Process</vt:lpstr>
      <vt:lpstr>Waste Elimination Tools</vt:lpstr>
      <vt:lpstr>Standard Work</vt:lpstr>
      <vt:lpstr>Three Elements of Standard Work</vt:lpstr>
      <vt:lpstr>Waste Elimination Tools</vt:lpstr>
      <vt:lpstr>Kanban</vt:lpstr>
      <vt:lpstr>Waste Elimination Tools</vt:lpstr>
      <vt:lpstr>CEDAC</vt:lpstr>
      <vt:lpstr>Waste Elimination Tools</vt:lpstr>
      <vt:lpstr>Poka-Yoke: Error-Proofing</vt:lpstr>
      <vt:lpstr>Waste Elimination Tools</vt:lpstr>
      <vt:lpstr>SMED Definition</vt:lpstr>
      <vt:lpstr>Waste Elimination Tools</vt:lpstr>
      <vt:lpstr>What is TPM?</vt:lpstr>
      <vt:lpstr>Lean Transformation</vt:lpstr>
      <vt:lpstr>Review: What is a Lean Transformation?</vt:lpstr>
      <vt:lpstr>Steps to Transform into a Lean Organization</vt:lpstr>
      <vt:lpstr>Enterprise  Lean  Excellence</vt:lpstr>
      <vt:lpstr>In a Lean Journey, there is no end…</vt:lpstr>
      <vt:lpstr>2-Minute Review</vt:lpstr>
      <vt:lpstr>Other Modules In This Series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Justin Santiago</dc:creator>
  <cp:lastModifiedBy>Justin Santiago</cp:lastModifiedBy>
  <cp:revision>359</cp:revision>
  <dcterms:created xsi:type="dcterms:W3CDTF">2023-02-08T22:10:20Z</dcterms:created>
  <dcterms:modified xsi:type="dcterms:W3CDTF">2023-07-06T17:00:46Z</dcterms:modified>
</cp:coreProperties>
</file>