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4"/>
  </p:notesMasterIdLst>
  <p:sldIdLst>
    <p:sldId id="258" r:id="rId2"/>
    <p:sldId id="326" r:id="rId3"/>
    <p:sldId id="327" r:id="rId4"/>
    <p:sldId id="328" r:id="rId5"/>
    <p:sldId id="329" r:id="rId6"/>
    <p:sldId id="330" r:id="rId7"/>
    <p:sldId id="331" r:id="rId8"/>
    <p:sldId id="332" r:id="rId9"/>
    <p:sldId id="333" r:id="rId10"/>
    <p:sldId id="334" r:id="rId11"/>
    <p:sldId id="316"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7" r:id="rId34"/>
    <p:sldId id="356" r:id="rId35"/>
    <p:sldId id="358" r:id="rId36"/>
    <p:sldId id="359" r:id="rId37"/>
    <p:sldId id="360" r:id="rId38"/>
    <p:sldId id="361" r:id="rId39"/>
    <p:sldId id="362" r:id="rId40"/>
    <p:sldId id="363" r:id="rId41"/>
    <p:sldId id="364" r:id="rId42"/>
    <p:sldId id="365" r:id="rId43"/>
    <p:sldId id="366" r:id="rId44"/>
    <p:sldId id="367" r:id="rId45"/>
    <p:sldId id="368" r:id="rId46"/>
    <p:sldId id="369" r:id="rId47"/>
    <p:sldId id="370" r:id="rId48"/>
    <p:sldId id="371" r:id="rId49"/>
    <p:sldId id="372" r:id="rId50"/>
    <p:sldId id="373" r:id="rId51"/>
    <p:sldId id="374" r:id="rId52"/>
    <p:sldId id="375" r:id="rId53"/>
    <p:sldId id="376" r:id="rId54"/>
    <p:sldId id="377" r:id="rId55"/>
    <p:sldId id="378" r:id="rId56"/>
    <p:sldId id="379" r:id="rId57"/>
    <p:sldId id="380" r:id="rId58"/>
    <p:sldId id="381" r:id="rId59"/>
    <p:sldId id="382" r:id="rId60"/>
    <p:sldId id="383" r:id="rId61"/>
    <p:sldId id="384" r:id="rId62"/>
    <p:sldId id="385" r:id="rId63"/>
    <p:sldId id="386" r:id="rId64"/>
    <p:sldId id="298" r:id="rId65"/>
    <p:sldId id="388" r:id="rId66"/>
    <p:sldId id="390" r:id="rId67"/>
    <p:sldId id="391" r:id="rId68"/>
    <p:sldId id="392" r:id="rId69"/>
    <p:sldId id="393" r:id="rId70"/>
    <p:sldId id="394" r:id="rId71"/>
    <p:sldId id="395" r:id="rId72"/>
    <p:sldId id="396" r:id="rId73"/>
    <p:sldId id="397" r:id="rId74"/>
    <p:sldId id="398" r:id="rId75"/>
    <p:sldId id="399" r:id="rId76"/>
    <p:sldId id="400" r:id="rId77"/>
    <p:sldId id="401" r:id="rId78"/>
    <p:sldId id="402" r:id="rId79"/>
    <p:sldId id="403" r:id="rId80"/>
    <p:sldId id="404" r:id="rId81"/>
    <p:sldId id="405" r:id="rId82"/>
    <p:sldId id="406"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177E89"/>
    <a:srgbClr val="8EDCE6"/>
    <a:srgbClr val="F1BF98"/>
    <a:srgbClr val="2EC4B6"/>
    <a:srgbClr val="BDDBD0"/>
    <a:srgbClr val="2D7DD2"/>
    <a:srgbClr val="62929E"/>
    <a:srgbClr val="B3DE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0" autoAdjust="0"/>
    <p:restoredTop sz="81849" autoAdjust="0"/>
  </p:normalViewPr>
  <p:slideViewPr>
    <p:cSldViewPr snapToGrid="0">
      <p:cViewPr>
        <p:scale>
          <a:sx n="50" d="100"/>
          <a:sy n="50" d="100"/>
        </p:scale>
        <p:origin x="2174" y="422"/>
      </p:cViewPr>
      <p:guideLst/>
    </p:cSldViewPr>
  </p:slideViewPr>
  <p:notesTextViewPr>
    <p:cViewPr>
      <p:scale>
        <a:sx n="3" d="2"/>
        <a:sy n="3" d="2"/>
      </p:scale>
      <p:origin x="0" y="0"/>
    </p:cViewPr>
  </p:notesTextViewPr>
  <p:sorterViewPr>
    <p:cViewPr varScale="1">
      <p:scale>
        <a:sx n="100" d="100"/>
        <a:sy n="100" d="100"/>
      </p:scale>
      <p:origin x="0" y="-29861"/>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microsoft.com/office/2018/10/relationships/authors" Targe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DO: </a:t>
            </a:r>
            <a:r>
              <a:rPr lang="en-US" altLang="en-US" dirty="0"/>
              <a:t>Use this 3P Kickoff 3 day event to collect information, prepare for and define the content and scope of a 3P Workshop Event. This is the equivalent of Toyota</a:t>
            </a:r>
            <a:r>
              <a:rPr lang="ja-JP" altLang="en-US" dirty="0"/>
              <a:t>’</a:t>
            </a:r>
            <a:r>
              <a:rPr lang="en-US" altLang="ja-JP" dirty="0"/>
              <a:t>s information phase of 3P.</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1944529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3578319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709262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 </a:t>
            </a:r>
            <a:r>
              <a:rPr lang="en-US" altLang="en-US" dirty="0"/>
              <a:t>Perform Group Introductions. Or Take two minutes to learn about another person and then 1 minute to present them to the group e.g. </a:t>
            </a:r>
            <a:r>
              <a:rPr lang="en-GB" altLang="en-US" dirty="0"/>
              <a:t>name, where were they born, where do they live now, family – married, children, hobbies, personal qualities, position, career, what do they like about work, what do they expect to get from this event.</a:t>
            </a:r>
            <a:endParaRPr lang="en-US" altLang="en-US" dirty="0"/>
          </a:p>
          <a:p>
            <a:endParaRPr lang="en-US" altLang="en-US" dirty="0"/>
          </a:p>
          <a:p>
            <a:r>
              <a:rPr lang="en-US" altLang="en-US" dirty="0"/>
              <a:t>Pick an ice-breaker or exercise to warm the team up to the event. (Icebreaker Example: Everyone uses their name tent and writes a </a:t>
            </a:r>
            <a:r>
              <a:rPr lang="ja-JP" altLang="en-US" dirty="0"/>
              <a:t>“</a:t>
            </a:r>
            <a:r>
              <a:rPr lang="en-US" altLang="ja-JP" dirty="0"/>
              <a:t>Personal License Plate</a:t>
            </a:r>
            <a:r>
              <a:rPr lang="ja-JP" altLang="en-US" dirty="0"/>
              <a:t>”</a:t>
            </a:r>
            <a:r>
              <a:rPr lang="en-US" altLang="ja-JP" dirty="0"/>
              <a:t> in which they have 2 minutes to creatively use a total of 7 letters or numbers to tell us something about themselves. Examples </a:t>
            </a:r>
            <a:r>
              <a:rPr lang="ja-JP" altLang="en-US" dirty="0"/>
              <a:t>“</a:t>
            </a:r>
            <a:r>
              <a:rPr lang="en-US" altLang="ja-JP" dirty="0"/>
              <a:t>LV2SAIL</a:t>
            </a:r>
            <a:r>
              <a:rPr lang="ja-JP" altLang="en-US" dirty="0"/>
              <a:t>”</a:t>
            </a:r>
            <a:r>
              <a:rPr lang="en-US" altLang="ja-JP" dirty="0"/>
              <a:t> OR </a:t>
            </a:r>
            <a:r>
              <a:rPr lang="ja-JP" altLang="en-US" dirty="0"/>
              <a:t>“</a:t>
            </a:r>
            <a:r>
              <a:rPr lang="en-US" altLang="ja-JP" dirty="0"/>
              <a:t>DADOV5</a:t>
            </a:r>
            <a:r>
              <a:rPr lang="ja-JP" altLang="en-US" dirty="0"/>
              <a:t>”</a:t>
            </a:r>
            <a:endParaRPr lang="en-US" altLang="ja-JP" dirty="0"/>
          </a:p>
          <a:p>
            <a:endParaRPr lang="en-US" altLang="en-US" dirty="0"/>
          </a:p>
          <a:p>
            <a:r>
              <a:rPr lang="en-US" altLang="en-US" b="1" dirty="0"/>
              <a:t>DO</a:t>
            </a:r>
            <a:r>
              <a:rPr lang="en-US" altLang="en-US" dirty="0"/>
              <a:t>: Review Event Ground Rules. </a:t>
            </a:r>
          </a:p>
          <a:p>
            <a:r>
              <a:rPr lang="en-US" altLang="en-US" b="1" dirty="0"/>
              <a:t>ASK:</a:t>
            </a:r>
            <a:r>
              <a:rPr lang="en-US" altLang="en-US" dirty="0"/>
              <a:t> </a:t>
            </a:r>
            <a:r>
              <a:rPr lang="ja-JP" altLang="en-US" dirty="0"/>
              <a:t>“</a:t>
            </a:r>
            <a:r>
              <a:rPr lang="en-US" altLang="ja-JP" dirty="0"/>
              <a:t>Does anyone have any rules they would like to see added?</a:t>
            </a:r>
            <a:r>
              <a:rPr lang="ja-JP" altLang="en-US" dirty="0"/>
              <a:t>”</a:t>
            </a:r>
            <a:endParaRPr lang="en-US" altLang="ja-JP" dirty="0"/>
          </a:p>
          <a:p>
            <a:r>
              <a:rPr lang="en-US" altLang="en-US" b="1" dirty="0"/>
              <a:t>ASK</a:t>
            </a:r>
            <a:r>
              <a:rPr lang="en-US" altLang="en-US" dirty="0"/>
              <a:t>: </a:t>
            </a:r>
            <a:r>
              <a:rPr lang="ja-JP" altLang="en-US" dirty="0"/>
              <a:t>“</a:t>
            </a:r>
            <a:r>
              <a:rPr lang="en-US" altLang="ja-JP" dirty="0"/>
              <a:t>Does everyone agree to these?</a:t>
            </a:r>
            <a:r>
              <a:rPr lang="ja-JP" altLang="en-US" dirty="0"/>
              <a:t>”</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3301438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DO:</a:t>
            </a:r>
            <a:r>
              <a:rPr lang="en-US" altLang="en-US" sz="800" dirty="0"/>
              <a:t> Ask each team member to draw their own version of an object. The object could be anything that each team member could recall an image of from memory e.g. an Elephant, the Statue of Liberty, the Mona Lisa, a Shark, the Taj Mahal, Michelangelo</a:t>
            </a:r>
            <a:r>
              <a:rPr lang="ja-JP" altLang="en-US" sz="800" dirty="0"/>
              <a:t>’</a:t>
            </a:r>
            <a:r>
              <a:rPr lang="en-US" altLang="ja-JP" sz="800" dirty="0"/>
              <a:t>s David, a Moose, the Eiffel Tower, Van Gogh</a:t>
            </a:r>
            <a:r>
              <a:rPr lang="ja-JP" altLang="en-US" sz="800" dirty="0"/>
              <a:t>’</a:t>
            </a:r>
            <a:r>
              <a:rPr lang="en-US" altLang="ja-JP" sz="800" dirty="0"/>
              <a:t>s Sun Flowers, Big Ben, a Skunk </a:t>
            </a:r>
            <a:r>
              <a:rPr lang="en-US" altLang="ja-JP" sz="800" dirty="0" err="1"/>
              <a:t>etc</a:t>
            </a:r>
            <a:endParaRPr lang="en-US" altLang="ja-JP" sz="800" dirty="0"/>
          </a:p>
          <a:p>
            <a:endParaRPr lang="en-US" altLang="en-US" sz="800" dirty="0"/>
          </a:p>
          <a:p>
            <a:r>
              <a:rPr lang="en-US" altLang="en-US" sz="800" b="1" dirty="0"/>
              <a:t>SAY:</a:t>
            </a:r>
            <a:r>
              <a:rPr lang="en-US" altLang="en-US" sz="800" dirty="0"/>
              <a:t> </a:t>
            </a:r>
            <a:r>
              <a:rPr lang="ja-JP" altLang="en-US" sz="800" dirty="0"/>
              <a:t>“</a:t>
            </a:r>
            <a:r>
              <a:rPr lang="en-US" altLang="ja-JP" sz="800" dirty="0"/>
              <a:t>3P is largely a creative thinking event. Drawing from memory stimulates the brain to start the thinking process.</a:t>
            </a:r>
            <a:r>
              <a:rPr lang="ja-JP" altLang="en-US" sz="800" dirty="0"/>
              <a:t>”</a:t>
            </a:r>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DO:</a:t>
            </a:r>
            <a:r>
              <a:rPr lang="en-US" altLang="en-US" dirty="0"/>
              <a:t> Introduce the notion of Deming</a:t>
            </a:r>
            <a:r>
              <a:rPr lang="ja-JP" altLang="en-US" dirty="0"/>
              <a:t>’</a:t>
            </a:r>
            <a:r>
              <a:rPr lang="en-US" altLang="ja-JP" dirty="0"/>
              <a:t>s PDCA in relation to 3P as an iterative process of creative divergence and constructive convergence and refinement.</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124120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092190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8926400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9867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676668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chapter objectives.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dirty="0"/>
              <a:t>The essence of this game is to understand that by cooperating, teams can score more than by competing with one another.</a:t>
            </a:r>
          </a:p>
          <a:p>
            <a:r>
              <a:rPr lang="en-US" altLang="en-US" sz="800" dirty="0"/>
              <a:t>The score card on the next slide incentivizes teams to try to outsmart and cheat on the other teams. In almost all cases teams end up scoring less than if they cooperated.</a:t>
            </a:r>
          </a:p>
          <a:p>
            <a:r>
              <a:rPr lang="en-US" altLang="en-US" sz="800" dirty="0"/>
              <a:t>Leave the score card slide on the screen or print copies for each team.</a:t>
            </a:r>
          </a:p>
          <a:p>
            <a:r>
              <a:rPr lang="en-US" altLang="en-US" sz="800" dirty="0"/>
              <a:t>The game can be run with a Red and Yellow Counter or a Quarter and a Dime or any other easily distinguishable counters.</a:t>
            </a:r>
          </a:p>
          <a:p>
            <a:r>
              <a:rPr lang="en-US" altLang="en-US" sz="800" dirty="0"/>
              <a:t>How to Play</a:t>
            </a:r>
          </a:p>
          <a:p>
            <a:r>
              <a:rPr lang="en-US" altLang="en-US" sz="800" dirty="0"/>
              <a:t>Split the delegates in to 2 or more teams (2 to 5 works best) and have them sit away from the other teams but in the same room.</a:t>
            </a:r>
          </a:p>
          <a:p>
            <a:r>
              <a:rPr lang="en-US" altLang="en-US" sz="800" dirty="0"/>
              <a:t>Allow 2 or 3 minutes for the teams to discuss their strategy and appoint a Negotiator.</a:t>
            </a:r>
          </a:p>
          <a:p>
            <a:r>
              <a:rPr lang="en-US" altLang="en-US" sz="800" dirty="0"/>
              <a:t>The Negotiator from each team then all stand in one area (around a desk corner works well) with a Red counter concealed on one hand and the Yellow in the other.</a:t>
            </a:r>
          </a:p>
          <a:p>
            <a:r>
              <a:rPr lang="en-US" altLang="en-US" sz="800" dirty="0"/>
              <a:t>Having previously determined their play strategy from their team colleagues, they play the appropriate color by placing it on the table when asked to </a:t>
            </a:r>
            <a:r>
              <a:rPr lang="ja-JP" altLang="en-US" sz="800" dirty="0"/>
              <a:t>“</a:t>
            </a:r>
            <a:r>
              <a:rPr lang="en-US" altLang="ja-JP" sz="800" dirty="0"/>
              <a:t>Play</a:t>
            </a:r>
            <a:r>
              <a:rPr lang="ja-JP" altLang="en-US" sz="800" dirty="0"/>
              <a:t>”</a:t>
            </a:r>
            <a:r>
              <a:rPr lang="en-US" altLang="ja-JP" sz="800" dirty="0"/>
              <a:t> by the facilitator. All Negotiators place their counters at the same time.</a:t>
            </a:r>
          </a:p>
          <a:p>
            <a:r>
              <a:rPr lang="en-US" altLang="en-US" sz="800" dirty="0"/>
              <a:t>The scores for each team are then recorded on a flipchart (as set-out below) according to the Score Card.</a:t>
            </a:r>
          </a:p>
          <a:p>
            <a:r>
              <a:rPr lang="en-US" altLang="en-US" sz="800" dirty="0"/>
              <a:t>The facilitator should play 4 or 5 rounds first and then let the Negotiators have another discussion with their team.</a:t>
            </a:r>
          </a:p>
          <a:p>
            <a:r>
              <a:rPr lang="en-US" altLang="en-US" sz="800" dirty="0"/>
              <a:t>Complete the first 8 rounds and sub-total the scores.</a:t>
            </a:r>
          </a:p>
          <a:p>
            <a:r>
              <a:rPr lang="en-US" altLang="en-US" sz="800" dirty="0"/>
              <a:t>Discuss the relative scores. Best score possible is 8x3=24, worst score is 8x-3=-24. All teams could have scored 8 (8x1) if they had cooperated. Usually all teams score less than 8.</a:t>
            </a:r>
          </a:p>
          <a:p>
            <a:r>
              <a:rPr lang="en-US" altLang="en-US" sz="800" dirty="0"/>
              <a:t>Next, after a brief discussion with their teams get all the Negotiators to leave the room and agree (or disagree) a strategy going forward.</a:t>
            </a:r>
          </a:p>
          <a:p>
            <a:r>
              <a:rPr lang="en-US" altLang="en-US" sz="800" dirty="0"/>
              <a:t>Let them debrief their teams before playing the next 12 rounds. Allow the Negotiators to discuss with their teams after 5 or 6 rounds.</a:t>
            </a:r>
          </a:p>
          <a:p>
            <a:r>
              <a:rPr lang="en-US" altLang="en-US" sz="800" dirty="0"/>
              <a:t>Complete the final 12 rounds making a total of 20.</a:t>
            </a:r>
          </a:p>
          <a:p>
            <a:r>
              <a:rPr lang="en-US" altLang="en-US" sz="800" dirty="0"/>
              <a:t>To stir the teams up a bit, before the last two or three rounds, remind them that a Red now could be worth 3 points to the teams.</a:t>
            </a:r>
          </a:p>
          <a:p>
            <a:r>
              <a:rPr lang="en-US" altLang="en-US" sz="800" dirty="0"/>
              <a:t>Add up the subtotal and the total for all 20 rounds and discuss scores relative to a potential score for all teams of 20.</a:t>
            </a:r>
          </a:p>
          <a:p>
            <a:r>
              <a:rPr lang="en-US" altLang="en-US" sz="800" dirty="0"/>
              <a:t>Conclusion should be that cooperation, such as between departments or between customers and suppliers in the long run is better than trying to score points against each other!</a:t>
            </a: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252606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588401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311328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pPr>
            <a:r>
              <a:rPr lang="en-US" altLang="en-US" b="1" dirty="0"/>
              <a:t>SAY</a:t>
            </a:r>
            <a:r>
              <a:rPr lang="en-US" altLang="en-US" dirty="0"/>
              <a:t>: </a:t>
            </a:r>
            <a:r>
              <a:rPr lang="ja-JP" altLang="en-US" dirty="0"/>
              <a:t>“</a:t>
            </a:r>
            <a:r>
              <a:rPr lang="en-US" altLang="ja-JP" dirty="0"/>
              <a:t>3P is an advanced lean tool typically used by organizations that have experience with other lean methods   </a:t>
            </a:r>
          </a:p>
          <a:p>
            <a:pPr>
              <a:lnSpc>
                <a:spcPct val="105000"/>
              </a:lnSpc>
            </a:pPr>
            <a:r>
              <a:rPr lang="en-US" altLang="en-US" dirty="0"/>
              <a:t>Kaizen and other lean tools take a production process as a given and seek to make improvements, 3P focuses on eliminating waste through product and process design.</a:t>
            </a:r>
          </a:p>
          <a:p>
            <a:pPr>
              <a:lnSpc>
                <a:spcPct val="105000"/>
              </a:lnSpc>
            </a:pPr>
            <a:r>
              <a:rPr lang="en-US" altLang="en-US" dirty="0"/>
              <a:t>3P seeks to meet customer requirements by starting with a clean product development slate to rapidly create and test potential product and process designs that require the least time, material, and capital resources. </a:t>
            </a:r>
          </a:p>
          <a:p>
            <a:pPr>
              <a:lnSpc>
                <a:spcPct val="105000"/>
              </a:lnSpc>
            </a:pPr>
            <a:r>
              <a:rPr lang="en-US" altLang="en-US" dirty="0"/>
              <a:t>3P involves a diverse group of individuals in a multi-day creative process to identify several alternative ways to meet the customer's needs using different product or process designs.</a:t>
            </a:r>
          </a:p>
          <a:p>
            <a:pPr>
              <a:lnSpc>
                <a:spcPct val="105000"/>
              </a:lnSpc>
            </a:pPr>
            <a:r>
              <a:rPr lang="en-US" altLang="en-US" dirty="0"/>
              <a:t>Eliminate the </a:t>
            </a:r>
            <a:r>
              <a:rPr lang="ja-JP" altLang="en-US" dirty="0"/>
              <a:t>‘</a:t>
            </a:r>
            <a:r>
              <a:rPr lang="en-US" altLang="ja-JP" dirty="0"/>
              <a:t>Three D</a:t>
            </a:r>
            <a:r>
              <a:rPr lang="ja-JP" altLang="en-US" dirty="0"/>
              <a:t>’</a:t>
            </a:r>
            <a:r>
              <a:rPr lang="en-US" altLang="ja-JP" dirty="0"/>
              <a:t>s</a:t>
            </a:r>
            <a:r>
              <a:rPr lang="ja-JP" altLang="en-US" dirty="0"/>
              <a:t>’</a:t>
            </a:r>
            <a:r>
              <a:rPr lang="en-US" altLang="ja-JP" dirty="0"/>
              <a:t> – dirt, difficult, dangerous</a:t>
            </a:r>
            <a:r>
              <a:rPr lang="ja-JP" altLang="en-US" dirty="0"/>
              <a:t>”</a:t>
            </a:r>
            <a:endParaRPr lang="en-US" altLang="ja-JP" dirty="0"/>
          </a:p>
          <a:p>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54314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674049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502876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Product performance can be enhanced in two ways; 1) by involving multidisciplinary teams early, an improved solution can be found, 2) by having a fast development process, development can afford to wait for improved or cheaper technology and still make it to market on time.</a:t>
            </a:r>
          </a:p>
          <a:p>
            <a:endParaRPr lang="en-US" altLang="en-US" dirty="0"/>
          </a:p>
          <a:p>
            <a:r>
              <a:rPr lang="en-GB" altLang="en-US" dirty="0"/>
              <a:t>Lower production costs do not naturally follow as typically 2X effort leads to ½ development time. However more focused effort and fewer iterations and mistakes can lead to improved development efficiency and lower development costs.”</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2262904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9742653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SAY:</a:t>
            </a:r>
            <a:r>
              <a:rPr lang="en-GB" altLang="en-US" dirty="0"/>
              <a:t> “Reported in Developing Products in Half the Time by Preston G Smith et.al. The research was collected from a number of sources and showed that, by the time the product had been committed to detail design, about 80% of the final product cost was locked in. Leaving only 20% for manufacturing and overheads. So Leaning admin and manufacturing processes can only affect 20% of the cost of the product! Design is where the big cost is.”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788252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 “</a:t>
            </a:r>
            <a:r>
              <a:rPr lang="en-GB" altLang="ja-JP" dirty="0"/>
              <a:t>Involving more cross functional people early in the project will lead to shorter timescales for development leading to improved market position, improved product performance and cost and possibly lower development costs.</a:t>
            </a:r>
            <a:r>
              <a:rPr lang="en-GB" altLang="en-US" dirty="0"/>
              <a:t>”</a:t>
            </a:r>
            <a:endParaRPr lang="en-GB" altLang="ja-JP" dirty="0"/>
          </a:p>
          <a:p>
            <a:endParaRPr lang="en-GB" altLang="en-US" dirty="0"/>
          </a:p>
          <a:p>
            <a:r>
              <a:rPr lang="en-GB" altLang="en-US" b="1" dirty="0"/>
              <a:t>NOTE:</a:t>
            </a:r>
            <a:r>
              <a:rPr lang="en-GB" altLang="en-US" dirty="0"/>
              <a:t> Lower production costs do not naturally follow as typically 2X effort leads to ½ development time. However more focused effort and fewer iterations and mistakes can lead to improved development efficiency and lower development costs.</a:t>
            </a:r>
          </a:p>
          <a:p>
            <a:endParaRPr lang="en-GB" altLang="en-US" dirty="0"/>
          </a:p>
          <a:p>
            <a:r>
              <a:rPr lang="en-GB" altLang="en-US" b="1" dirty="0"/>
              <a:t>DO:</a:t>
            </a:r>
            <a:r>
              <a:rPr lang="en-GB" altLang="en-US" dirty="0"/>
              <a:t> Ask if the team recognise the last minute panic behaviour illustrated by the red area?</a:t>
            </a: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1285597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a:t>
            </a:r>
            <a:r>
              <a:rPr lang="en-GB" altLang="en-US" dirty="0"/>
              <a:t>: “Extended timescales lead to poor work efficiency through a start/stop work pattern and project drift – lack of focus</a:t>
            </a:r>
          </a:p>
          <a:p>
            <a:r>
              <a:rPr lang="en-GB" altLang="en-US" dirty="0"/>
              <a:t>Developing too quickly can lead to cutting corners, duplication of effort and the law of diminishing returns – too many cooks.”</a:t>
            </a: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90134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a:t>
            </a:r>
            <a:r>
              <a:rPr lang="en-GB" altLang="en-US" dirty="0"/>
              <a:t>: “Use simple spreadsheet models. More sophisticated models such as Net Present Value can obscure the relationships and reduce understanding. Spending time to get input data correct is important. Generate a simple set of relationships assuming linear responses i.e. a 1 month delay to the market is equivalent to 5% reduction in unit cost to revenues. From this data driven decision making can take place.”</a:t>
            </a:r>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2667997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4047892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9635689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ja-JP" altLang="en-US" dirty="0"/>
              <a:t>”</a:t>
            </a:r>
            <a:r>
              <a:rPr lang="en-US" altLang="ja-JP" dirty="0"/>
              <a:t>3P is an iterative process of creative divergence and constructive convergence and refinement through four phases: Information, Creative, Definition and Launch.</a:t>
            </a:r>
            <a:r>
              <a:rPr lang="ja-JP" altLang="en-US" dirty="0"/>
              <a:t>”</a:t>
            </a:r>
            <a:endParaRPr lang="en-GB"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700734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a:t>
            </a:r>
            <a:r>
              <a:rPr lang="en-GB" altLang="en-US" dirty="0"/>
              <a:t> “This is a Concurrent Engineering method and is to illustrate that product design and production design need to run hand in hand with constant interaction between the two. This is very relevant to 3P. The traditional method is to design the product in isolation and throw it over the wall to the production department to make the best of it. Often product designers do not understand manufacturing and vice versa.” </a:t>
            </a:r>
          </a:p>
          <a:p>
            <a:endParaRPr lang="en-GB" altLang="en-US" dirty="0"/>
          </a:p>
          <a:p>
            <a:r>
              <a:rPr lang="en-GB" altLang="en-US" b="1" dirty="0"/>
              <a:t>SAY: </a:t>
            </a:r>
            <a:r>
              <a:rPr lang="en-GB" altLang="en-US" dirty="0"/>
              <a:t>“It is the interaction of product designers and production engineers that will achieve the best possible solution when using the 3P method.”</a:t>
            </a: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39051004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800" dirty="0"/>
              <a:t>3P FIVE STEP CREATIVE PROCESS</a:t>
            </a:r>
          </a:p>
          <a:p>
            <a:r>
              <a:rPr lang="en-GB" altLang="en-US" sz="800" dirty="0"/>
              <a:t>1. Define Product or Process Design Objectives/Needs</a:t>
            </a:r>
          </a:p>
          <a:p>
            <a:r>
              <a:rPr lang="en-GB" altLang="en-US" sz="800" b="1" dirty="0"/>
              <a:t>The team seeks to understand the core customer needs that need to be met. If a product or product prototype is available, the project team breaks it down into component parts and raw materials to assess the function that each plays.</a:t>
            </a:r>
          </a:p>
          <a:p>
            <a:r>
              <a:rPr lang="en-GB" altLang="en-US" sz="800" dirty="0"/>
              <a:t>2. Study Alternatives</a:t>
            </a:r>
          </a:p>
          <a:p>
            <a:r>
              <a:rPr lang="en-GB" altLang="en-US" sz="800" b="1" dirty="0"/>
              <a:t>Diagramming: A fishbone diagram or other type of illustration is created to demonstrate the flow from raw material to finished product. The project team then </a:t>
            </a:r>
            <a:r>
              <a:rPr lang="en-GB" altLang="en-US" sz="800" b="1" dirty="0" err="1"/>
              <a:t>analyzes</a:t>
            </a:r>
            <a:r>
              <a:rPr lang="en-GB" altLang="en-US" sz="800" b="1" dirty="0"/>
              <a:t> each branch of the diagram (or each illustration) and brainstorms key words (e.g., roll, rotate, form, bend) to describe the change (or “transformation”) made at each branch.</a:t>
            </a:r>
          </a:p>
          <a:p>
            <a:r>
              <a:rPr lang="en-GB" altLang="en-US" sz="800" b="1" dirty="0"/>
              <a:t>Find and </a:t>
            </a:r>
            <a:r>
              <a:rPr lang="en-GB" altLang="en-US" sz="800" b="1" dirty="0" err="1"/>
              <a:t>Analyze</a:t>
            </a:r>
            <a:r>
              <a:rPr lang="en-GB" altLang="en-US" sz="800" b="1" dirty="0"/>
              <a:t> Examples in Nature: The project team then tries to find examples of each process keyword in the natural world. For example, forming can be found in nature when a heavy animal such as an elephant walks on mud, or when water pressure shapes rocks in a river. Similar examples are grouped and examples that best exemplify the process key word researched to better understand how the examples occur in nature. Here, team members place heavy emphasis on how nature works in the example and why. Once the unique qualities of the natural process are dissected, team members then discuss how the natural process can be applied to the given manufacturing process step.</a:t>
            </a:r>
          </a:p>
          <a:p>
            <a:r>
              <a:rPr lang="en-GB" altLang="en-US" sz="800" b="1" dirty="0"/>
              <a:t>An alternative comparison method is to ask how other industries solve similar problems. e.g. how food processing companies eliminate contamination to reduce mix to mix contamination in other processing industries or how Automotive companies solve similar problems found in the Aerospace industry and visa versa.</a:t>
            </a:r>
          </a:p>
          <a:p>
            <a:r>
              <a:rPr lang="en-GB" altLang="en-US" sz="800" dirty="0"/>
              <a:t>3. Sketch and Evaluate the Process</a:t>
            </a:r>
          </a:p>
          <a:p>
            <a:r>
              <a:rPr lang="en-GB" altLang="en-US" sz="800" b="1" dirty="0"/>
              <a:t>Sub-teams are formed and each sub-team member is required to draw different ways to accomplish the process in question. Each of the sketches is evaluated and the best is chosen (along with any good features from the sketches that are not chosen) for a mock-up.</a:t>
            </a:r>
          </a:p>
          <a:p>
            <a:r>
              <a:rPr lang="en-GB" altLang="en-US" sz="800" dirty="0"/>
              <a:t>4. Build, Present, and Select Process Prototypes</a:t>
            </a:r>
          </a:p>
          <a:p>
            <a:r>
              <a:rPr lang="en-GB" altLang="en-US" sz="800" b="1" dirty="0"/>
              <a:t>The team prototypes and then evaluates the chosen process, spending several days (if necessary) working with different variations of the mock-up to ensure it will meet criteria.</a:t>
            </a:r>
          </a:p>
          <a:p>
            <a:r>
              <a:rPr lang="en-GB" altLang="en-US" sz="800" b="1" dirty="0"/>
              <a:t>Hold Design Review: Once a concept has been selected for additional refinement, it is presented to a larger group (including the original product designers) for feedback.</a:t>
            </a:r>
          </a:p>
          <a:p>
            <a:r>
              <a:rPr lang="en-GB" altLang="en-US" sz="800" dirty="0"/>
              <a:t>5. Develop Project Implementation Plan</a:t>
            </a:r>
          </a:p>
          <a:p>
            <a:r>
              <a:rPr lang="en-GB" altLang="en-US" sz="800" b="1" dirty="0"/>
              <a:t>If the project is selected to proceed, the team selects a project implementation leader who helps determine the schedule, process, resource requirements, and distribution of responsibilities for completion.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19113329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38758194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29819967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0739710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14597069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1. Production preparation should be lightning fast. Avoid over planning, use what you have, act now.</a:t>
            </a:r>
            <a:br>
              <a:rPr lang="en-US" altLang="en-US" sz="1200" dirty="0"/>
            </a:br>
            <a:r>
              <a:rPr lang="en-US" altLang="en-US" sz="1200" dirty="0"/>
              <a:t>2. Build &amp; layout equipment for smooth material flow. Flow like a river, not like a dam.</a:t>
            </a:r>
            <a:br>
              <a:rPr lang="en-US" altLang="en-US" sz="1200" dirty="0"/>
            </a:br>
            <a:r>
              <a:rPr lang="en-US" altLang="en-US" sz="1200" dirty="0"/>
              <a:t>3. Use additive equipment. Buy many speedboats instead of one tanker.</a:t>
            </a:r>
            <a:br>
              <a:rPr lang="en-US" altLang="en-US" sz="1200" dirty="0"/>
            </a:br>
            <a:r>
              <a:rPr lang="en-US" altLang="en-US" sz="1200" dirty="0"/>
              <a:t>4. Build equipment that is easy to set up. Design in the separation of internal and external tasks.</a:t>
            </a:r>
            <a:br>
              <a:rPr lang="en-US" altLang="en-US" sz="1200" dirty="0"/>
            </a:br>
            <a:r>
              <a:rPr lang="en-US" altLang="en-US" sz="1200" dirty="0"/>
              <a:t>5. Make equipment easy to move. No roots, no vines, no pits. Put wheels on everything.</a:t>
            </a:r>
            <a:br>
              <a:rPr lang="en-US" altLang="en-US" sz="1200" dirty="0"/>
            </a:br>
            <a:r>
              <a:rPr lang="en-US" altLang="en-US" sz="1200" dirty="0"/>
              <a:t>6. Use multi-purpose equipment. Simple, "just fast enough" machines that perform one function well.</a:t>
            </a:r>
            <a:br>
              <a:rPr lang="en-US" altLang="en-US" sz="1200" dirty="0"/>
            </a:br>
            <a:r>
              <a:rPr lang="en-US" altLang="en-US" sz="1200" dirty="0"/>
              <a:t>7. Make operator work stations narrow. Town houses, not ranch houses.</a:t>
            </a:r>
            <a:br>
              <a:rPr lang="en-US" altLang="en-US" sz="1200" dirty="0"/>
            </a:br>
            <a:r>
              <a:rPr lang="en-US" altLang="en-US" sz="1200" dirty="0"/>
              <a:t>8. Layout equipment for ease of operator movement. Remove obstruction to smooth human motion.</a:t>
            </a:r>
            <a:br>
              <a:rPr lang="en-US" altLang="en-US" sz="1200" dirty="0"/>
            </a:br>
            <a:r>
              <a:rPr lang="en-US" altLang="en-US" sz="1200" dirty="0"/>
              <a:t>9. Eliminate wasted machine cycle time. Design out 'air cutting' and minimize machine movements.</a:t>
            </a:r>
            <a:br>
              <a:rPr lang="en-US" altLang="en-US" sz="1200" dirty="0"/>
            </a:br>
            <a:r>
              <a:rPr lang="en-US" altLang="en-US" sz="1200" dirty="0"/>
              <a:t>10. Build equipment for small, swift flow lines. Enable Standard Work (Takt, Work Sequence, SWIP).</a:t>
            </a:r>
            <a:br>
              <a:rPr lang="en-US" altLang="en-US" sz="1200" dirty="0"/>
            </a:br>
            <a:r>
              <a:rPr lang="en-US" altLang="en-US" sz="1200" dirty="0"/>
              <a:t>11. Use short, vertical flow lines. Vertical = advancing process flow, horizontal = functional.</a:t>
            </a:r>
            <a:br>
              <a:rPr lang="en-US" altLang="en-US" sz="1200" dirty="0"/>
            </a:br>
            <a:r>
              <a:rPr lang="en-US" altLang="en-US" sz="1200" dirty="0"/>
              <a:t>12. Build equipment for one-piece pull. Machine level. This is probably the most critical one.</a:t>
            </a:r>
            <a:br>
              <a:rPr lang="en-US" altLang="en-US" sz="1200" dirty="0"/>
            </a:br>
            <a:r>
              <a:rPr lang="en-US" altLang="en-US" sz="1200" dirty="0"/>
              <a:t>13. Build in quick changeover. Design in SMED at the machine level.</a:t>
            </a:r>
            <a:br>
              <a:rPr lang="en-US" altLang="en-US" sz="1200" dirty="0"/>
            </a:br>
            <a:r>
              <a:rPr lang="en-US" altLang="en-US" sz="1200" dirty="0"/>
              <a:t>14. Link machines for smooth loading and unloading. Line stops when WIP on the line is "full work".</a:t>
            </a:r>
            <a:br>
              <a:rPr lang="en-US" altLang="en-US" sz="1200" dirty="0"/>
            </a:br>
            <a:r>
              <a:rPr lang="en-US" altLang="en-US" sz="1200" dirty="0"/>
              <a:t>15. Use multiple lines &amp; rectified flows. 'Rectified' is an odd term, electrical engineers will get it.</a:t>
            </a:r>
            <a:br>
              <a:rPr lang="en-US" altLang="en-US" sz="1200" dirty="0"/>
            </a:br>
            <a:r>
              <a:rPr lang="en-US" altLang="en-US" sz="1200" dirty="0"/>
              <a:t>16. Spiral upwards to </a:t>
            </a:r>
            <a:r>
              <a:rPr lang="en-US" altLang="en-US" sz="1200" dirty="0" err="1"/>
              <a:t>Jidoka</a:t>
            </a:r>
            <a:r>
              <a:rPr lang="en-US" altLang="en-US" sz="1200" dirty="0"/>
              <a:t>. There are 5 steps to </a:t>
            </a:r>
            <a:r>
              <a:rPr lang="en-US" altLang="en-US" sz="1200" dirty="0" err="1"/>
              <a:t>Jidoka</a:t>
            </a:r>
            <a:r>
              <a:rPr lang="en-US" altLang="en-US" sz="1200" dirty="0"/>
              <a:t>, which should be pursued a step at a time.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9648949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33523997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a:p>
            <a:r>
              <a:rPr lang="en-US" altLang="en-US" b="1" dirty="0"/>
              <a:t>SAY:</a:t>
            </a:r>
            <a:r>
              <a:rPr lang="en-US" altLang="en-US" dirty="0"/>
              <a:t> </a:t>
            </a:r>
            <a:r>
              <a:rPr lang="ja-JP" altLang="en-US" dirty="0"/>
              <a:t>“</a:t>
            </a:r>
            <a:r>
              <a:rPr lang="en-US" altLang="ja-JP" dirty="0"/>
              <a:t>This section is aimed at defining the specification and design parameters for the product/process.</a:t>
            </a:r>
            <a:r>
              <a:rPr lang="ja-JP" altLang="en-US" dirty="0"/>
              <a:t>”</a:t>
            </a:r>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12760164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19943258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GB" altLang="en-US" sz="1200" b="1" dirty="0"/>
              <a:t>DO:</a:t>
            </a:r>
            <a:r>
              <a:rPr lang="en-GB" altLang="en-US" sz="1200" dirty="0"/>
              <a:t> Print a copy of this slide (also found in 3P folder) for each person.</a:t>
            </a:r>
          </a:p>
          <a:p>
            <a:pPr>
              <a:lnSpc>
                <a:spcPct val="90000"/>
              </a:lnSpc>
            </a:pPr>
            <a:r>
              <a:rPr lang="en-GB" altLang="en-US" sz="1200" dirty="0"/>
              <a:t>Organize in to teams or one group.</a:t>
            </a:r>
          </a:p>
          <a:p>
            <a:pPr>
              <a:lnSpc>
                <a:spcPct val="90000"/>
              </a:lnSpc>
            </a:pPr>
            <a:r>
              <a:rPr lang="en-GB" altLang="en-US" sz="1200" dirty="0"/>
              <a:t>Compare individual ranks with team ranking.</a:t>
            </a:r>
          </a:p>
          <a:p>
            <a:pPr>
              <a:lnSpc>
                <a:spcPct val="90000"/>
              </a:lnSpc>
            </a:pPr>
            <a:r>
              <a:rPr lang="en-GB" altLang="en-US" sz="1200" dirty="0"/>
              <a:t>Score 1 for each item Ranked correctly according to NASA’s ranking below.</a:t>
            </a:r>
          </a:p>
          <a:p>
            <a:pPr>
              <a:lnSpc>
                <a:spcPct val="90000"/>
              </a:lnSpc>
            </a:pPr>
            <a:r>
              <a:rPr lang="en-GB" altLang="en-US" sz="1200" dirty="0"/>
              <a:t>NASA’s Ranking (Answers)	NASA’s Reasoning</a:t>
            </a:r>
          </a:p>
          <a:p>
            <a:pPr>
              <a:lnSpc>
                <a:spcPct val="90000"/>
              </a:lnSpc>
            </a:pPr>
            <a:r>
              <a:rPr lang="en-GB" altLang="en-US" sz="1200" dirty="0"/>
              <a:t>1 Two 50 Kilogram tanks of oxygen	Most pressing survival need</a:t>
            </a:r>
          </a:p>
          <a:p>
            <a:pPr>
              <a:lnSpc>
                <a:spcPct val="90000"/>
              </a:lnSpc>
            </a:pPr>
            <a:r>
              <a:rPr lang="en-GB" altLang="en-US" sz="1200" dirty="0"/>
              <a:t>2 20 litres of water	Replacement for tremendous liquid loss on lighted side</a:t>
            </a:r>
          </a:p>
          <a:p>
            <a:pPr>
              <a:lnSpc>
                <a:spcPct val="90000"/>
              </a:lnSpc>
            </a:pPr>
            <a:r>
              <a:rPr lang="en-GB" altLang="en-US" sz="1200" dirty="0"/>
              <a:t>3 Stellar map (of the moon’s constellation)	Primary means of navigation</a:t>
            </a:r>
          </a:p>
          <a:p>
            <a:pPr>
              <a:lnSpc>
                <a:spcPct val="90000"/>
              </a:lnSpc>
            </a:pPr>
            <a:r>
              <a:rPr lang="en-GB" altLang="en-US" sz="1200" dirty="0"/>
              <a:t>4 Food concentrate	Efficient means of supplying energy requirements</a:t>
            </a:r>
          </a:p>
          <a:p>
            <a:pPr>
              <a:lnSpc>
                <a:spcPct val="90000"/>
              </a:lnSpc>
            </a:pPr>
            <a:r>
              <a:rPr lang="en-GB" altLang="en-US" sz="1200" dirty="0"/>
              <a:t>5 Solar-powered FM receiver transmitter	Requires line-of-sight transmission &amp; short ranges</a:t>
            </a:r>
          </a:p>
          <a:p>
            <a:pPr>
              <a:lnSpc>
                <a:spcPct val="90000"/>
              </a:lnSpc>
            </a:pPr>
            <a:r>
              <a:rPr lang="en-GB" altLang="en-US" sz="1200" dirty="0"/>
              <a:t>6 20 metres of nylon rope	Useful in scaling cliffs, tying injured together</a:t>
            </a:r>
          </a:p>
          <a:p>
            <a:pPr>
              <a:lnSpc>
                <a:spcPct val="90000"/>
              </a:lnSpc>
            </a:pPr>
            <a:r>
              <a:rPr lang="en-GB" altLang="en-US" sz="1200" dirty="0"/>
              <a:t>7 First aid kit containing injection needles	Fits aperture in space suit</a:t>
            </a:r>
          </a:p>
          <a:p>
            <a:pPr>
              <a:lnSpc>
                <a:spcPct val="90000"/>
              </a:lnSpc>
            </a:pPr>
            <a:r>
              <a:rPr lang="en-GB" altLang="en-US" sz="1200" dirty="0"/>
              <a:t>8 Parachute silk	Protection from sun’s rays</a:t>
            </a:r>
          </a:p>
          <a:p>
            <a:pPr>
              <a:lnSpc>
                <a:spcPct val="90000"/>
              </a:lnSpc>
            </a:pPr>
            <a:r>
              <a:rPr lang="en-GB" altLang="en-US" sz="1200" dirty="0"/>
              <a:t>9 Life raft (self-inflating)	CO2 bottle may be used for propulsion</a:t>
            </a:r>
          </a:p>
          <a:p>
            <a:pPr>
              <a:lnSpc>
                <a:spcPct val="90000"/>
              </a:lnSpc>
            </a:pPr>
            <a:r>
              <a:rPr lang="en-GB" altLang="en-US" sz="1200" dirty="0"/>
              <a:t>10 Signal flares	Distress signal when Mother Ship sighted</a:t>
            </a:r>
          </a:p>
          <a:p>
            <a:pPr>
              <a:lnSpc>
                <a:spcPct val="90000"/>
              </a:lnSpc>
            </a:pPr>
            <a:r>
              <a:rPr lang="en-GB" altLang="en-US" sz="1200" dirty="0"/>
              <a:t>11 Two .45 calibre pistols	Possible means of self-propulsion</a:t>
            </a:r>
          </a:p>
          <a:p>
            <a:pPr>
              <a:lnSpc>
                <a:spcPct val="90000"/>
              </a:lnSpc>
            </a:pPr>
            <a:r>
              <a:rPr lang="en-GB" altLang="en-US" sz="1200" dirty="0"/>
              <a:t>12 One case dehydrated pet milk	Bulkier duplication of food concentrate</a:t>
            </a:r>
          </a:p>
          <a:p>
            <a:pPr>
              <a:lnSpc>
                <a:spcPct val="90000"/>
              </a:lnSpc>
            </a:pPr>
            <a:r>
              <a:rPr lang="en-GB" altLang="en-US" sz="1200" dirty="0"/>
              <a:t>13 Portable heating unit	Of no use unless on dark side</a:t>
            </a:r>
          </a:p>
          <a:p>
            <a:pPr>
              <a:lnSpc>
                <a:spcPct val="90000"/>
              </a:lnSpc>
            </a:pPr>
            <a:r>
              <a:rPr lang="en-GB" altLang="en-US" sz="1200" dirty="0"/>
              <a:t>14 Magnetic compass	Magnetic field not polarised</a:t>
            </a:r>
          </a:p>
          <a:p>
            <a:pPr>
              <a:lnSpc>
                <a:spcPct val="90000"/>
              </a:lnSpc>
            </a:pPr>
            <a:r>
              <a:rPr lang="en-GB" altLang="en-US" sz="1200" dirty="0"/>
              <a:t>15 Box of matches	No Oxygen on moon to sustain flame</a:t>
            </a:r>
          </a:p>
          <a:p>
            <a:pPr>
              <a:lnSpc>
                <a:spcPct val="90000"/>
              </a:lnSpc>
            </a:pPr>
            <a:endParaRPr lang="en-GB" altLang="en-US" sz="1200" dirty="0"/>
          </a:p>
          <a:p>
            <a:pPr>
              <a:lnSpc>
                <a:spcPct val="90000"/>
              </a:lnSpc>
            </a:pPr>
            <a:endParaRPr lang="en-GB" altLang="en-US" sz="1200"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9562686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SAY</a:t>
            </a:r>
            <a:r>
              <a:rPr lang="en-GB" altLang="en-US" dirty="0"/>
              <a:t>: “Use any or all of these methods to identify which product and or process to Lean.”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26197213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Key point is that Strategic Deployment is an iterative process, and that the appropriate lean tools should be selected in order to achieve the stated business objectives.</a:t>
            </a:r>
            <a:r>
              <a:rPr lang="ja-JP" altLang="en-US" dirty="0"/>
              <a:t>”</a:t>
            </a:r>
            <a:endParaRPr lang="en-US" altLang="ja-JP" dirty="0"/>
          </a:p>
          <a:p>
            <a:r>
              <a:rPr lang="en-US" altLang="en-US" dirty="0"/>
              <a:t>Emphasize </a:t>
            </a:r>
            <a:r>
              <a:rPr lang="ja-JP" altLang="en-US" dirty="0"/>
              <a:t>“</a:t>
            </a:r>
            <a:r>
              <a:rPr lang="en-US" altLang="ja-JP" dirty="0"/>
              <a:t>Breakthrough</a:t>
            </a:r>
            <a:r>
              <a:rPr lang="ja-JP" altLang="en-US" dirty="0"/>
              <a:t>”</a:t>
            </a:r>
            <a:r>
              <a:rPr lang="en-US" altLang="ja-JP" dirty="0"/>
              <a:t>, </a:t>
            </a:r>
            <a:r>
              <a:rPr lang="ja-JP" altLang="en-US" dirty="0"/>
              <a:t>“</a:t>
            </a:r>
            <a:r>
              <a:rPr lang="en-US" altLang="ja-JP" dirty="0"/>
              <a:t>Breakdown</a:t>
            </a:r>
            <a:r>
              <a:rPr lang="ja-JP" altLang="en-US" dirty="0"/>
              <a:t>”</a:t>
            </a:r>
            <a:r>
              <a:rPr lang="en-US" altLang="ja-JP" dirty="0"/>
              <a:t>, and </a:t>
            </a:r>
            <a:r>
              <a:rPr lang="ja-JP" altLang="en-US" dirty="0"/>
              <a:t>“</a:t>
            </a:r>
            <a:r>
              <a:rPr lang="en-US" altLang="ja-JP" dirty="0"/>
              <a:t>Deselection</a:t>
            </a:r>
            <a:r>
              <a:rPr lang="ja-JP" altLang="en-US" dirty="0"/>
              <a:t>”</a:t>
            </a:r>
            <a:endParaRPr lang="en-US" altLang="ja-JP" dirty="0"/>
          </a:p>
          <a:p>
            <a:r>
              <a:rPr lang="en-US" altLang="en-US" dirty="0">
                <a:sym typeface="Wingdings" panose="05000000000000000000" pitchFamily="2" charset="2"/>
              </a:rPr>
              <a:t> FOCUS</a:t>
            </a:r>
            <a:endParaRPr lang="en-US" altLang="en-US" dirty="0"/>
          </a:p>
          <a:p>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1502884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5439441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21496196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1230447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13028288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7500436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Project Selection Method 1: </a:t>
            </a:r>
            <a:r>
              <a:rPr lang="en-GB" altLang="en-US" dirty="0"/>
              <a:t>The Project Selection Matrix is a ranking tool based on selection criteria. Use a scoring system to help to clearly prioritize projects e.g. High = 9, Med = 3, Low =1.</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32739656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Project Selection Method 2: </a:t>
            </a:r>
            <a:r>
              <a:rPr lang="en-GB" altLang="en-US" dirty="0"/>
              <a:t>The Pugh Matrix compares each project against a datum and ranks them relatively.</a:t>
            </a:r>
          </a:p>
          <a:p>
            <a:r>
              <a:rPr lang="en-GB" altLang="en-US" dirty="0"/>
              <a:t>CTSs means Critical to Satisfaction and includes al CTs such as Critical To Quality, Critical To Delivery, Critical To Cost etc.</a:t>
            </a: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88433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Project Selection Method 3: </a:t>
            </a:r>
            <a:r>
              <a:rPr lang="en-US" altLang="en-US" dirty="0"/>
              <a:t>Project Selection Grid is simple and visual and can prioritize projects using any three parameters. For more complex criteria use the Project Selection Matrix or Pugh Matrix.</a:t>
            </a:r>
          </a:p>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345325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28308445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DO:</a:t>
            </a:r>
            <a:r>
              <a:rPr lang="en-US" altLang="en-US" sz="800" dirty="0"/>
              <a:t> Ensure that the product or process has been selected taking in to account the voice of the customer and fits with the strategic goals of the organization.</a:t>
            </a:r>
          </a:p>
          <a:p>
            <a:r>
              <a:rPr lang="en-US" altLang="en-US" sz="800" dirty="0"/>
              <a:t>If the product/process has already been selected, ask the team to review their selection in the light of the above.</a:t>
            </a:r>
          </a:p>
          <a:p>
            <a:r>
              <a:rPr lang="en-US" altLang="en-US" sz="800" dirty="0"/>
              <a:t>Ensure that a clear definition of the product/process is established and that this is agreed by relevant stakeholders.</a:t>
            </a:r>
          </a:p>
          <a:p>
            <a:endParaRPr lang="en-US" altLang="en-US" sz="800" dirty="0"/>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3406484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NOTE:</a:t>
            </a:r>
            <a:r>
              <a:rPr lang="en-GB" altLang="en-US" dirty="0"/>
              <a:t> This section is aimed at defining the interfaces of the chosen product or process and how it relates to the whole. On the rare occasion that the product or process is not part of a larger system or process, this section can be omitted.</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9740562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What: </a:t>
            </a:r>
            <a:r>
              <a:rPr lang="en-GB" altLang="en-US" dirty="0"/>
              <a:t>Determine the current New Product Introduction process and the scope of the 3P event. Only outline the total process but provide more detail within the scope of the project.</a:t>
            </a:r>
          </a:p>
          <a:p>
            <a:r>
              <a:rPr lang="en-GB" altLang="en-US" b="1" dirty="0"/>
              <a:t>Why: </a:t>
            </a:r>
            <a:r>
              <a:rPr lang="en-GB" altLang="en-US" dirty="0"/>
              <a:t>The purpose of this analysis is to understand the process and interfaces that the product/process will encounter, who and what will need to be taken in to account during the 3P Workshop and Implementation phases of the project e.g. other departments, suppliers, systems, sub-systems etc.</a:t>
            </a:r>
          </a:p>
          <a:p>
            <a:r>
              <a:rPr lang="en-GB" altLang="en-US" b="1" dirty="0"/>
              <a:t>How:</a:t>
            </a:r>
            <a:r>
              <a:rPr lang="en-GB" altLang="en-US" dirty="0"/>
              <a:t> This could be mapped as a Process Map, VSM or other method.</a:t>
            </a: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1298632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11729122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7491645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NOTE:</a:t>
            </a:r>
            <a:r>
              <a:rPr lang="en-GB" altLang="en-US" dirty="0"/>
              <a:t> Can use SIPOC (Supplier, Input, Product/Process, Output, Customer) analysis or other relationship definition. The objective is to understand and have data on how the product/process will interact with and fit with other systems, sub-systems and components/processes.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4119451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1515714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NOTE:</a:t>
            </a:r>
            <a:r>
              <a:rPr lang="en-GB" altLang="en-US" dirty="0"/>
              <a:t> This section is aimed at defining the interfaces of the chosen product or process and how it relates to the whole. On the rare occasion that the product or process is not part of a larger system or process, this section can be omitted.</a:t>
            </a:r>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514246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2650421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2624326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8012671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408647232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NOTE:</a:t>
            </a:r>
            <a:r>
              <a:rPr lang="en-GB" altLang="en-US" dirty="0"/>
              <a:t> Only use this step if specifications are not clearly defined. Select the ‘vital few’ requirements and turn them into clearly defined specifications. Define in terms of benefits not features. This allows designers to meet the specification in a number of different ways. Detailed specifications ‘boiler plate’ can be referred to but included as appendices or separate documents.</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6389549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5344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a:p>
            <a:r>
              <a:rPr lang="en-US" altLang="en-US" b="1" dirty="0"/>
              <a:t>SAY:</a:t>
            </a:r>
            <a:r>
              <a:rPr lang="en-US" altLang="en-US" dirty="0"/>
              <a:t> </a:t>
            </a:r>
            <a:r>
              <a:rPr lang="ja-JP" altLang="en-US" dirty="0"/>
              <a:t>“</a:t>
            </a:r>
            <a:r>
              <a:rPr lang="en-US" altLang="ja-JP" dirty="0"/>
              <a:t>This section is designed to understand the performance required of the product or process.</a:t>
            </a:r>
            <a:r>
              <a:rPr lang="ja-JP" altLang="en-US" dirty="0"/>
              <a:t>”</a:t>
            </a:r>
            <a:endParaRPr lang="en-US" altLang="ja-JP" dirty="0"/>
          </a:p>
          <a:p>
            <a:r>
              <a:rPr lang="en-US" altLang="en-US" b="1" dirty="0"/>
              <a:t>NOTE:</a:t>
            </a:r>
            <a:r>
              <a:rPr lang="en-US" altLang="en-US" dirty="0"/>
              <a:t> This is done by reviewing the performance of the existing product/process and undertaking a gap analysis with that of the desired performance. If this is a brand new product/process compare it to similar products/processes.</a:t>
            </a: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13817270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three types of waste that originate from the Japanese. </a:t>
            </a:r>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299146752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Mnemonics: DOWNTIME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DO:</a:t>
            </a:r>
            <a:r>
              <a:rPr lang="en-US" altLang="en-US" dirty="0"/>
              <a:t> Ask the class to provide examples of the 8 wastes. Capture their answers on a chart paper. The participants can write the answers in their workbooks.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41762123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5785482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4589181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170456824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7411692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a:t>
            </a:r>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47372421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Explain that the purpose of a 3P Lab is to be able to evaluate ideas and try them rapidly often called </a:t>
            </a:r>
            <a:r>
              <a:rPr lang="ja-JP" altLang="en-US" dirty="0"/>
              <a:t>“</a:t>
            </a:r>
            <a:r>
              <a:rPr lang="en-US" altLang="ja-JP" dirty="0" err="1"/>
              <a:t>trystorming</a:t>
            </a:r>
            <a:r>
              <a:rPr lang="ja-JP" altLang="en-US" dirty="0"/>
              <a:t>”</a:t>
            </a:r>
            <a:r>
              <a:rPr lang="en-US" altLang="ja-JP" dirty="0"/>
              <a:t> as opposed to a purely cerebral exercise such as </a:t>
            </a:r>
            <a:r>
              <a:rPr lang="ja-JP" altLang="en-US" dirty="0"/>
              <a:t>“</a:t>
            </a:r>
            <a:r>
              <a:rPr lang="en-US" altLang="ja-JP" dirty="0"/>
              <a:t>brainstorming</a:t>
            </a:r>
            <a:r>
              <a:rPr lang="ja-JP" altLang="en-US" dirty="0"/>
              <a:t>”</a:t>
            </a:r>
            <a:r>
              <a:rPr lang="en-US" altLang="ja-JP" dirty="0"/>
              <a:t>.</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27925350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285695408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199654086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20000"/>
              </a:spcBef>
            </a:pPr>
            <a:r>
              <a:rPr lang="en-GB" altLang="en-US" dirty="0"/>
              <a:t>Image from WEB at </a:t>
            </a:r>
            <a:r>
              <a:rPr lang="en-GB" altLang="en-US" b="1" dirty="0"/>
              <a:t>http://www.lbl.gov/Publications/Currents/Archive/images/Mar-22-2002/DesignWorks2.jpg</a:t>
            </a:r>
          </a:p>
          <a:p>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399881552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13023849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a:t>
            </a:r>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81710399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Make any modifications or inclusions/deletions to Workshop event as required by nature of 3P event.</a:t>
            </a:r>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107865201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151843586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18314950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264119207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195040831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3214561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2F45EA47-4246-F41D-5958-D5160317BC17}"/>
              </a:ext>
            </a:extLst>
          </p:cNvPr>
          <p:cNvSpPr txBox="1"/>
          <p:nvPr userDrawn="1"/>
        </p:nvSpPr>
        <p:spPr>
          <a:xfrm>
            <a:off x="838200" y="6389310"/>
            <a:ext cx="4171934" cy="400110"/>
          </a:xfrm>
          <a:prstGeom prst="rect">
            <a:avLst/>
          </a:prstGeom>
          <a:noFill/>
        </p:spPr>
        <p:txBody>
          <a:bodyPr wrap="square" rtlCol="0">
            <a:spAutoFit/>
          </a:bodyPr>
          <a:lstStyle/>
          <a:p>
            <a:r>
              <a:rPr lang="en-US" sz="1000" dirty="0"/>
              <a:t>PRESENTATION TITLE GOES HERE</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3P PRESENTATION_KICKOFF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19.wmf"/><Relationship Id="rId5" Type="http://schemas.openxmlformats.org/officeDocument/2006/relationships/image" Target="../media/image18.wmf"/><Relationship Id="rId10" Type="http://schemas.openxmlformats.org/officeDocument/2006/relationships/image" Target="../media/image23.emf"/><Relationship Id="rId4" Type="http://schemas.openxmlformats.org/officeDocument/2006/relationships/image" Target="../media/image17.wmf"/><Relationship Id="rId9" Type="http://schemas.openxmlformats.org/officeDocument/2006/relationships/image" Target="../media/image22.wmf"/></Relationships>
</file>

<file path=ppt/slides/_rels/slide3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7.wmf"/><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wmf"/><Relationship Id="rId9" Type="http://schemas.openxmlformats.org/officeDocument/2006/relationships/image" Target="../media/image23.emf"/></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image" Target="../media/image3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Production Preparation Process (3P) Kickoff Event</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2DCF-BAB1-5F2B-601F-3334D8ECE687}"/>
              </a:ext>
            </a:extLst>
          </p:cNvPr>
          <p:cNvSpPr>
            <a:spLocks noGrp="1"/>
          </p:cNvSpPr>
          <p:nvPr>
            <p:ph type="title"/>
          </p:nvPr>
        </p:nvSpPr>
        <p:spPr/>
        <p:txBody>
          <a:bodyPr/>
          <a:lstStyle/>
          <a:p>
            <a:r>
              <a:rPr lang="en-US" dirty="0"/>
              <a:t>Other Modules In This Series</a:t>
            </a:r>
          </a:p>
        </p:txBody>
      </p:sp>
      <p:sp>
        <p:nvSpPr>
          <p:cNvPr id="3" name="Content Placeholder 3">
            <a:extLst>
              <a:ext uri="{FF2B5EF4-FFF2-40B4-BE49-F238E27FC236}">
                <a16:creationId xmlns:a16="http://schemas.microsoft.com/office/drawing/2014/main" id="{2DE22F5B-0ED7-9B1A-A260-C714A06F6D8D}"/>
              </a:ext>
            </a:extLst>
          </p:cNvPr>
          <p:cNvSpPr txBox="1">
            <a:spLocks/>
          </p:cNvSpPr>
          <p:nvPr/>
        </p:nvSpPr>
        <p:spPr>
          <a:xfrm>
            <a:off x="5964518" y="168420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Intro to Lean</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Mapping</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p:txBody>
      </p:sp>
      <p:sp>
        <p:nvSpPr>
          <p:cNvPr id="4" name="Steve Jones">
            <a:extLst>
              <a:ext uri="{FF2B5EF4-FFF2-40B4-BE49-F238E27FC236}">
                <a16:creationId xmlns:a16="http://schemas.microsoft.com/office/drawing/2014/main" id="{B6676899-EC75-8920-F33D-CCD7B872A3C8}"/>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5" name="Head of Management Dept.">
            <a:extLst>
              <a:ext uri="{FF2B5EF4-FFF2-40B4-BE49-F238E27FC236}">
                <a16:creationId xmlns:a16="http://schemas.microsoft.com/office/drawing/2014/main" id="{FED8FB5A-94EA-4A6F-1D86-3986B231E3C4}"/>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527FEA71-DF2A-69B2-6339-1972E08AA96C}"/>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pic>
        <p:nvPicPr>
          <p:cNvPr id="7" name="Picture 6">
            <a:extLst>
              <a:ext uri="{FF2B5EF4-FFF2-40B4-BE49-F238E27FC236}">
                <a16:creationId xmlns:a16="http://schemas.microsoft.com/office/drawing/2014/main" id="{D567D265-DBA4-640B-F70C-E345C9035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9" name="Slide Number Placeholder 2">
            <a:extLst>
              <a:ext uri="{FF2B5EF4-FFF2-40B4-BE49-F238E27FC236}">
                <a16:creationId xmlns:a16="http://schemas.microsoft.com/office/drawing/2014/main" id="{FB743B8F-8573-6203-575B-F671C499E71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2</a:t>
            </a:fld>
            <a:endParaRPr lang="en-US"/>
          </a:p>
        </p:txBody>
      </p:sp>
    </p:spTree>
    <p:extLst>
      <p:ext uri="{BB962C8B-B14F-4D97-AF65-F5344CB8AC3E}">
        <p14:creationId xmlns:p14="http://schemas.microsoft.com/office/powerpoint/2010/main" val="366177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9536E-A3E9-9AC3-2CF5-E5110EFBF049}"/>
              </a:ext>
            </a:extLst>
          </p:cNvPr>
          <p:cNvSpPr>
            <a:spLocks noGrp="1"/>
          </p:cNvSpPr>
          <p:nvPr>
            <p:ph type="sldNum" sz="quarter" idx="11"/>
          </p:nvPr>
        </p:nvSpPr>
        <p:spPr/>
        <p:txBody>
          <a:bodyPr/>
          <a:lstStyle/>
          <a:p>
            <a:fld id="{CC6D4273-7FC1-0947-B9FE-19CB3C0D1FB6}" type="slidenum">
              <a:rPr lang="en-US" smtClean="0"/>
              <a:pPr/>
              <a:t>3</a:t>
            </a:fld>
            <a:endParaRPr lang="en-US" dirty="0"/>
          </a:p>
        </p:txBody>
      </p:sp>
      <p:sp>
        <p:nvSpPr>
          <p:cNvPr id="4" name="TextBox 3">
            <a:extLst>
              <a:ext uri="{FF2B5EF4-FFF2-40B4-BE49-F238E27FC236}">
                <a16:creationId xmlns:a16="http://schemas.microsoft.com/office/drawing/2014/main" id="{1A4AE373-0611-EB19-BB19-9C1E2B3420FE}"/>
              </a:ext>
            </a:extLst>
          </p:cNvPr>
          <p:cNvSpPr txBox="1"/>
          <p:nvPr/>
        </p:nvSpPr>
        <p:spPr>
          <a:xfrm>
            <a:off x="3046810" y="2413338"/>
            <a:ext cx="5868590" cy="2554545"/>
          </a:xfrm>
          <a:prstGeom prst="rect">
            <a:avLst/>
          </a:prstGeom>
          <a:noFill/>
        </p:spPr>
        <p:txBody>
          <a:bodyPr wrap="square">
            <a:spAutoFit/>
          </a:bodyPr>
          <a:lstStyle/>
          <a:p>
            <a:pPr marL="0" indent="0" algn="ctr">
              <a:buNone/>
            </a:pP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This document contains confidential</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and proprietary information owned</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 by Lean Horizons Consulting, LLC.</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Any disclosure, use, copying or</a:t>
            </a:r>
            <a:b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br>
            <a:r>
              <a:rPr lang="en-US" sz="2000" dirty="0">
                <a:solidFill>
                  <a:schemeClr val="tx1"/>
                </a:solidFill>
                <a:latin typeface="Roboto" panose="02000000000000000000" pitchFamily="2" charset="0"/>
                <a:ea typeface="Roboto" panose="02000000000000000000" pitchFamily="2" charset="0"/>
                <a:cs typeface="Roboto" panose="02000000000000000000" pitchFamily="2" charset="0"/>
              </a:rPr>
              <a:t>distribution of this information without the express written consent of Lean Horizons Consulting is strictly prohibited.</a:t>
            </a:r>
          </a:p>
        </p:txBody>
      </p:sp>
    </p:spTree>
    <p:extLst>
      <p:ext uri="{BB962C8B-B14F-4D97-AF65-F5344CB8AC3E}">
        <p14:creationId xmlns:p14="http://schemas.microsoft.com/office/powerpoint/2010/main" val="2438637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Ground Rules for Event</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593069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Creative Stimulation 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stimulate the “creative thinking” to kick-off the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a piece of paper and a pencil, draw from memory a picture of an object.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Be prepared to show your drawing to the team. </a:t>
            </a:r>
          </a:p>
        </p:txBody>
      </p:sp>
    </p:spTree>
    <p:extLst>
      <p:ext uri="{BB962C8B-B14F-4D97-AF65-F5344CB8AC3E}">
        <p14:creationId xmlns:p14="http://schemas.microsoft.com/office/powerpoint/2010/main" val="1283754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3P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Develop and implement a new product/process with the highest quality, lowest cost, in the shortest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grpSp>
        <p:nvGrpSpPr>
          <p:cNvPr id="22" name="Group 21">
            <a:extLst>
              <a:ext uri="{FF2B5EF4-FFF2-40B4-BE49-F238E27FC236}">
                <a16:creationId xmlns:a16="http://schemas.microsoft.com/office/drawing/2014/main" id="{11549B9D-F8BB-2D08-3639-36E889E02287}"/>
              </a:ext>
            </a:extLst>
          </p:cNvPr>
          <p:cNvGrpSpPr/>
          <p:nvPr/>
        </p:nvGrpSpPr>
        <p:grpSpPr>
          <a:xfrm>
            <a:off x="838200" y="2971800"/>
            <a:ext cx="10025697" cy="3078163"/>
            <a:chOff x="512763" y="3686175"/>
            <a:chExt cx="8226425" cy="2420938"/>
          </a:xfrm>
        </p:grpSpPr>
        <p:grpSp>
          <p:nvGrpSpPr>
            <p:cNvPr id="4" name="Group 2">
              <a:extLst>
                <a:ext uri="{FF2B5EF4-FFF2-40B4-BE49-F238E27FC236}">
                  <a16:creationId xmlns:a16="http://schemas.microsoft.com/office/drawing/2014/main" id="{4BEF384A-E088-2DEE-3B90-DF867E07564A}"/>
                </a:ext>
              </a:extLst>
            </p:cNvPr>
            <p:cNvGrpSpPr>
              <a:grpSpLocks/>
            </p:cNvGrpSpPr>
            <p:nvPr/>
          </p:nvGrpSpPr>
          <p:grpSpPr bwMode="auto">
            <a:xfrm>
              <a:off x="2205038" y="3686175"/>
              <a:ext cx="6534150" cy="2420938"/>
              <a:chOff x="1389" y="1410"/>
              <a:chExt cx="4116" cy="1795"/>
            </a:xfrm>
          </p:grpSpPr>
          <p:sp>
            <p:nvSpPr>
              <p:cNvPr id="6" name="Rectangle 3">
                <a:extLst>
                  <a:ext uri="{FF2B5EF4-FFF2-40B4-BE49-F238E27FC236}">
                    <a16:creationId xmlns:a16="http://schemas.microsoft.com/office/drawing/2014/main" id="{58278250-D1C2-4AD2-73E4-BD0BDE27D76D}"/>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 name="Text Box 4">
                <a:extLst>
                  <a:ext uri="{FF2B5EF4-FFF2-40B4-BE49-F238E27FC236}">
                    <a16:creationId xmlns:a16="http://schemas.microsoft.com/office/drawing/2014/main" id="{0ECDFB25-17E4-02F1-E953-8E6F06F1955D}"/>
                  </a:ext>
                </a:extLst>
              </p:cNvPr>
              <p:cNvSpPr txBox="1">
                <a:spLocks noChangeArrowheads="1"/>
              </p:cNvSpPr>
              <p:nvPr/>
            </p:nvSpPr>
            <p:spPr bwMode="auto">
              <a:xfrm>
                <a:off x="3411" y="1507"/>
                <a:ext cx="95" cy="19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8" name="Oval 6">
              <a:extLst>
                <a:ext uri="{FF2B5EF4-FFF2-40B4-BE49-F238E27FC236}">
                  <a16:creationId xmlns:a16="http://schemas.microsoft.com/office/drawing/2014/main" id="{389C5F93-87A1-AE98-E52B-F212CF3DA6A6}"/>
                </a:ext>
              </a:extLst>
            </p:cNvPr>
            <p:cNvSpPr>
              <a:spLocks noChangeArrowheads="1"/>
            </p:cNvSpPr>
            <p:nvPr/>
          </p:nvSpPr>
          <p:spPr bwMode="auto">
            <a:xfrm>
              <a:off x="7662863" y="4776788"/>
              <a:ext cx="976312" cy="1052512"/>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9" name="Rectangle 7">
              <a:extLst>
                <a:ext uri="{FF2B5EF4-FFF2-40B4-BE49-F238E27FC236}">
                  <a16:creationId xmlns:a16="http://schemas.microsoft.com/office/drawing/2014/main" id="{6C890E11-199B-64FE-9AEE-6C51B132703E}"/>
                </a:ext>
              </a:extLst>
            </p:cNvPr>
            <p:cNvSpPr>
              <a:spLocks noChangeArrowheads="1"/>
            </p:cNvSpPr>
            <p:nvPr/>
          </p:nvSpPr>
          <p:spPr bwMode="auto">
            <a:xfrm>
              <a:off x="512763" y="4768850"/>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Awareness/ Commitment</a:t>
              </a:r>
            </a:p>
          </p:txBody>
        </p:sp>
        <p:sp>
          <p:nvSpPr>
            <p:cNvPr id="10" name="Rectangle 8">
              <a:extLst>
                <a:ext uri="{FF2B5EF4-FFF2-40B4-BE49-F238E27FC236}">
                  <a16:creationId xmlns:a16="http://schemas.microsoft.com/office/drawing/2014/main" id="{BA7D8F61-45EA-4064-6487-9C7CEFDF3B4B}"/>
                </a:ext>
              </a:extLst>
            </p:cNvPr>
            <p:cNvSpPr>
              <a:spLocks noChangeArrowheads="1"/>
            </p:cNvSpPr>
            <p:nvPr/>
          </p:nvSpPr>
          <p:spPr bwMode="auto">
            <a:xfrm>
              <a:off x="512763" y="4506913"/>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11" name="Rectangle 9">
              <a:extLst>
                <a:ext uri="{FF2B5EF4-FFF2-40B4-BE49-F238E27FC236}">
                  <a16:creationId xmlns:a16="http://schemas.microsoft.com/office/drawing/2014/main" id="{3FB119E0-CBC7-50B4-233B-01F984937F20}"/>
                </a:ext>
              </a:extLst>
            </p:cNvPr>
            <p:cNvSpPr>
              <a:spLocks noChangeArrowheads="1"/>
            </p:cNvSpPr>
            <p:nvPr/>
          </p:nvSpPr>
          <p:spPr bwMode="auto">
            <a:xfrm>
              <a:off x="2308225"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3P Kick-Off</a:t>
              </a:r>
            </a:p>
          </p:txBody>
        </p:sp>
        <p:sp>
          <p:nvSpPr>
            <p:cNvPr id="12" name="Rectangle 10">
              <a:extLst>
                <a:ext uri="{FF2B5EF4-FFF2-40B4-BE49-F238E27FC236}">
                  <a16:creationId xmlns:a16="http://schemas.microsoft.com/office/drawing/2014/main" id="{135BCACF-942A-6A5B-7EEC-A2CE6F36829E}"/>
                </a:ext>
              </a:extLst>
            </p:cNvPr>
            <p:cNvSpPr>
              <a:spLocks noChangeArrowheads="1"/>
            </p:cNvSpPr>
            <p:nvPr/>
          </p:nvSpPr>
          <p:spPr bwMode="auto">
            <a:xfrm>
              <a:off x="2308225" y="4502150"/>
              <a:ext cx="1522413"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PROCESS STEP 2</a:t>
              </a:r>
            </a:p>
          </p:txBody>
        </p:sp>
        <p:sp>
          <p:nvSpPr>
            <p:cNvPr id="13" name="Rectangle 11">
              <a:extLst>
                <a:ext uri="{FF2B5EF4-FFF2-40B4-BE49-F238E27FC236}">
                  <a16:creationId xmlns:a16="http://schemas.microsoft.com/office/drawing/2014/main" id="{A82BCA3A-A963-4D06-D3F6-E77B832E2505}"/>
                </a:ext>
              </a:extLst>
            </p:cNvPr>
            <p:cNvSpPr>
              <a:spLocks noChangeArrowheads="1"/>
            </p:cNvSpPr>
            <p:nvPr/>
          </p:nvSpPr>
          <p:spPr bwMode="auto">
            <a:xfrm>
              <a:off x="4122738"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14" name="Rectangle 12">
              <a:extLst>
                <a:ext uri="{FF2B5EF4-FFF2-40B4-BE49-F238E27FC236}">
                  <a16:creationId xmlns:a16="http://schemas.microsoft.com/office/drawing/2014/main" id="{ED48C121-8611-4764-0538-B0F03A2E1B28}"/>
                </a:ext>
              </a:extLst>
            </p:cNvPr>
            <p:cNvSpPr>
              <a:spLocks noChangeArrowheads="1"/>
            </p:cNvSpPr>
            <p:nvPr/>
          </p:nvSpPr>
          <p:spPr bwMode="auto">
            <a:xfrm>
              <a:off x="4122738" y="45021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15" name="Rectangle 13">
              <a:extLst>
                <a:ext uri="{FF2B5EF4-FFF2-40B4-BE49-F238E27FC236}">
                  <a16:creationId xmlns:a16="http://schemas.microsoft.com/office/drawing/2014/main" id="{A22CDF2D-0FA2-F7C2-8C87-E538B0549F96}"/>
                </a:ext>
              </a:extLst>
            </p:cNvPr>
            <p:cNvSpPr>
              <a:spLocks noChangeArrowheads="1"/>
            </p:cNvSpPr>
            <p:nvPr/>
          </p:nvSpPr>
          <p:spPr bwMode="auto">
            <a:xfrm>
              <a:off x="5937250"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16" name="Rectangle 14">
              <a:extLst>
                <a:ext uri="{FF2B5EF4-FFF2-40B4-BE49-F238E27FC236}">
                  <a16:creationId xmlns:a16="http://schemas.microsoft.com/office/drawing/2014/main" id="{CD9C2BF3-64A4-B23E-6D8D-5BC62D5A73C4}"/>
                </a:ext>
              </a:extLst>
            </p:cNvPr>
            <p:cNvSpPr>
              <a:spLocks noChangeArrowheads="1"/>
            </p:cNvSpPr>
            <p:nvPr/>
          </p:nvSpPr>
          <p:spPr bwMode="auto">
            <a:xfrm>
              <a:off x="5937250" y="4502150"/>
              <a:ext cx="1522413"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17" name="AutoShape 15">
              <a:extLst>
                <a:ext uri="{FF2B5EF4-FFF2-40B4-BE49-F238E27FC236}">
                  <a16:creationId xmlns:a16="http://schemas.microsoft.com/office/drawing/2014/main" id="{04DB14A5-FDE1-FCC9-EE35-D3C69E1133F5}"/>
                </a:ext>
              </a:extLst>
            </p:cNvPr>
            <p:cNvCxnSpPr>
              <a:cxnSpLocks noChangeShapeType="1"/>
              <a:stCxn id="9" idx="3"/>
              <a:endCxn id="11" idx="1"/>
            </p:cNvCxnSpPr>
            <p:nvPr/>
          </p:nvCxnSpPr>
          <p:spPr bwMode="auto">
            <a:xfrm flipV="1">
              <a:off x="2033588" y="5303838"/>
              <a:ext cx="274637" cy="4762"/>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6">
              <a:extLst>
                <a:ext uri="{FF2B5EF4-FFF2-40B4-BE49-F238E27FC236}">
                  <a16:creationId xmlns:a16="http://schemas.microsoft.com/office/drawing/2014/main" id="{600E84AE-0EE5-4F24-EE1C-B84D32047C5F}"/>
                </a:ext>
              </a:extLst>
            </p:cNvPr>
            <p:cNvCxnSpPr>
              <a:cxnSpLocks noChangeShapeType="1"/>
              <a:stCxn id="11" idx="3"/>
              <a:endCxn id="13" idx="1"/>
            </p:cNvCxnSpPr>
            <p:nvPr/>
          </p:nvCxnSpPr>
          <p:spPr bwMode="auto">
            <a:xfrm>
              <a:off x="3829050" y="5303838"/>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7">
              <a:extLst>
                <a:ext uri="{FF2B5EF4-FFF2-40B4-BE49-F238E27FC236}">
                  <a16:creationId xmlns:a16="http://schemas.microsoft.com/office/drawing/2014/main" id="{6C5EB311-4960-E8C5-C74C-4ADDBA426485}"/>
                </a:ext>
              </a:extLst>
            </p:cNvPr>
            <p:cNvCxnSpPr>
              <a:cxnSpLocks noChangeShapeType="1"/>
              <a:stCxn id="13" idx="3"/>
              <a:endCxn id="15" idx="1"/>
            </p:cNvCxnSpPr>
            <p:nvPr/>
          </p:nvCxnSpPr>
          <p:spPr bwMode="auto">
            <a:xfrm>
              <a:off x="5643563" y="5303838"/>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8">
              <a:extLst>
                <a:ext uri="{FF2B5EF4-FFF2-40B4-BE49-F238E27FC236}">
                  <a16:creationId xmlns:a16="http://schemas.microsoft.com/office/drawing/2014/main" id="{05F235D3-6ED1-EB56-BB91-83E839116E49}"/>
                </a:ext>
              </a:extLst>
            </p:cNvPr>
            <p:cNvCxnSpPr>
              <a:cxnSpLocks noChangeShapeType="1"/>
              <a:stCxn id="15" idx="3"/>
              <a:endCxn id="8" idx="2"/>
            </p:cNvCxnSpPr>
            <p:nvPr/>
          </p:nvCxnSpPr>
          <p:spPr bwMode="auto">
            <a:xfrm>
              <a:off x="7458075" y="5303838"/>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19">
              <a:extLst>
                <a:ext uri="{FF2B5EF4-FFF2-40B4-BE49-F238E27FC236}">
                  <a16:creationId xmlns:a16="http://schemas.microsoft.com/office/drawing/2014/main" id="{94FF22F6-38A2-5AB0-152D-1A22D791CEA1}"/>
                </a:ext>
              </a:extLst>
            </p:cNvPr>
            <p:cNvCxnSpPr>
              <a:cxnSpLocks noChangeShapeType="1"/>
              <a:stCxn id="8" idx="0"/>
              <a:endCxn id="12" idx="0"/>
            </p:cNvCxnSpPr>
            <p:nvPr/>
          </p:nvCxnSpPr>
          <p:spPr bwMode="auto">
            <a:xfrm rot="16200000" flipV="1">
              <a:off x="5473700" y="2098675"/>
              <a:ext cx="274638" cy="5081588"/>
            </a:xfrm>
            <a:prstGeom prst="bentConnector3">
              <a:avLst>
                <a:gd name="adj1" fmla="val 24470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33259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Roadmap to Success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45" name="Group 44">
            <a:extLst>
              <a:ext uri="{FF2B5EF4-FFF2-40B4-BE49-F238E27FC236}">
                <a16:creationId xmlns:a16="http://schemas.microsoft.com/office/drawing/2014/main" id="{EA2BAAC1-7CFD-B884-1E90-0B3A51699246}"/>
              </a:ext>
            </a:extLst>
          </p:cNvPr>
          <p:cNvGrpSpPr/>
          <p:nvPr/>
        </p:nvGrpSpPr>
        <p:grpSpPr>
          <a:xfrm>
            <a:off x="838200" y="2030413"/>
            <a:ext cx="10515600" cy="4146550"/>
            <a:chOff x="414338" y="1979613"/>
            <a:chExt cx="8324850" cy="4146550"/>
          </a:xfrm>
        </p:grpSpPr>
        <p:grpSp>
          <p:nvGrpSpPr>
            <p:cNvPr id="24" name="Group 2">
              <a:extLst>
                <a:ext uri="{FF2B5EF4-FFF2-40B4-BE49-F238E27FC236}">
                  <a16:creationId xmlns:a16="http://schemas.microsoft.com/office/drawing/2014/main" id="{572C1282-429A-2ACF-3B41-F2CE223D4F38}"/>
                </a:ext>
              </a:extLst>
            </p:cNvPr>
            <p:cNvGrpSpPr>
              <a:grpSpLocks/>
            </p:cNvGrpSpPr>
            <p:nvPr/>
          </p:nvGrpSpPr>
          <p:grpSpPr bwMode="auto">
            <a:xfrm>
              <a:off x="2205038" y="1979613"/>
              <a:ext cx="6534150" cy="2420937"/>
              <a:chOff x="1389" y="1410"/>
              <a:chExt cx="4116" cy="1795"/>
            </a:xfrm>
          </p:grpSpPr>
          <p:sp>
            <p:nvSpPr>
              <p:cNvPr id="25" name="Rectangle 3">
                <a:extLst>
                  <a:ext uri="{FF2B5EF4-FFF2-40B4-BE49-F238E27FC236}">
                    <a16:creationId xmlns:a16="http://schemas.microsoft.com/office/drawing/2014/main" id="{CE69EA31-1591-1D84-3D23-8C0CDBF72D62}"/>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Text Box 4">
                <a:extLst>
                  <a:ext uri="{FF2B5EF4-FFF2-40B4-BE49-F238E27FC236}">
                    <a16:creationId xmlns:a16="http://schemas.microsoft.com/office/drawing/2014/main" id="{CAA56E94-01DE-0CB8-7BC6-D868B7CEB315}"/>
                  </a:ext>
                </a:extLst>
              </p:cNvPr>
              <p:cNvSpPr txBox="1">
                <a:spLocks noChangeArrowheads="1"/>
              </p:cNvSpPr>
              <p:nvPr/>
            </p:nvSpPr>
            <p:spPr bwMode="auto">
              <a:xfrm>
                <a:off x="3401" y="1507"/>
                <a:ext cx="116" cy="249"/>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27" name="Oval 6">
              <a:extLst>
                <a:ext uri="{FF2B5EF4-FFF2-40B4-BE49-F238E27FC236}">
                  <a16:creationId xmlns:a16="http://schemas.microsoft.com/office/drawing/2014/main" id="{73B37E89-FC96-42BB-5FFF-5A0C336709D2}"/>
                </a:ext>
              </a:extLst>
            </p:cNvPr>
            <p:cNvSpPr>
              <a:spLocks noChangeArrowheads="1"/>
            </p:cNvSpPr>
            <p:nvPr/>
          </p:nvSpPr>
          <p:spPr bwMode="auto">
            <a:xfrm>
              <a:off x="7662863" y="3070225"/>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28" name="Rectangle 7">
              <a:extLst>
                <a:ext uri="{FF2B5EF4-FFF2-40B4-BE49-F238E27FC236}">
                  <a16:creationId xmlns:a16="http://schemas.microsoft.com/office/drawing/2014/main" id="{E8A430C7-5743-124A-BA07-B47027E2E813}"/>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 Awareness/ Commitment</a:t>
              </a:r>
            </a:p>
          </p:txBody>
        </p:sp>
        <p:sp>
          <p:nvSpPr>
            <p:cNvPr id="29" name="Rectangle 8">
              <a:extLst>
                <a:ext uri="{FF2B5EF4-FFF2-40B4-BE49-F238E27FC236}">
                  <a16:creationId xmlns:a16="http://schemas.microsoft.com/office/drawing/2014/main" id="{BF7ACE4C-E8A6-3AA2-F3A0-B6A66C83AC05}"/>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30" name="Rectangle 9">
              <a:extLst>
                <a:ext uri="{FF2B5EF4-FFF2-40B4-BE49-F238E27FC236}">
                  <a16:creationId xmlns:a16="http://schemas.microsoft.com/office/drawing/2014/main" id="{5296C40F-F821-7D75-A6F3-7740FA16E010}"/>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Kick-Off</a:t>
              </a:r>
            </a:p>
          </p:txBody>
        </p:sp>
        <p:sp>
          <p:nvSpPr>
            <p:cNvPr id="31" name="Rectangle 10">
              <a:extLst>
                <a:ext uri="{FF2B5EF4-FFF2-40B4-BE49-F238E27FC236}">
                  <a16:creationId xmlns:a16="http://schemas.microsoft.com/office/drawing/2014/main" id="{485A7E8D-5713-409A-EC81-5C53BA83AF3A}"/>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sp>
          <p:nvSpPr>
            <p:cNvPr id="32" name="Rectangle 11">
              <a:extLst>
                <a:ext uri="{FF2B5EF4-FFF2-40B4-BE49-F238E27FC236}">
                  <a16:creationId xmlns:a16="http://schemas.microsoft.com/office/drawing/2014/main" id="{87471C56-E34C-3B4A-E7A1-D19A29BB22AA}"/>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33" name="Rectangle 12">
              <a:extLst>
                <a:ext uri="{FF2B5EF4-FFF2-40B4-BE49-F238E27FC236}">
                  <a16:creationId xmlns:a16="http://schemas.microsoft.com/office/drawing/2014/main" id="{00FCBF00-8037-2047-6DD9-175A9D8B25E4}"/>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34" name="Rectangle 13">
              <a:extLst>
                <a:ext uri="{FF2B5EF4-FFF2-40B4-BE49-F238E27FC236}">
                  <a16:creationId xmlns:a16="http://schemas.microsoft.com/office/drawing/2014/main" id="{197777CB-A9C5-96BA-55BC-B59090FEB105}"/>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35" name="Rectangle 14">
              <a:extLst>
                <a:ext uri="{FF2B5EF4-FFF2-40B4-BE49-F238E27FC236}">
                  <a16:creationId xmlns:a16="http://schemas.microsoft.com/office/drawing/2014/main" id="{5E80FE96-E3F8-2980-BA2F-AEB5867130D5}"/>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36" name="AutoShape 15">
              <a:extLst>
                <a:ext uri="{FF2B5EF4-FFF2-40B4-BE49-F238E27FC236}">
                  <a16:creationId xmlns:a16="http://schemas.microsoft.com/office/drawing/2014/main" id="{FDC608AC-1783-2EA0-9269-95CCA28F73A7}"/>
                </a:ext>
              </a:extLst>
            </p:cNvPr>
            <p:cNvCxnSpPr>
              <a:cxnSpLocks noChangeShapeType="1"/>
              <a:stCxn id="28" idx="3"/>
              <a:endCxn id="3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6">
              <a:extLst>
                <a:ext uri="{FF2B5EF4-FFF2-40B4-BE49-F238E27FC236}">
                  <a16:creationId xmlns:a16="http://schemas.microsoft.com/office/drawing/2014/main" id="{6C155208-A0E2-3AC7-DACF-11715B4A6175}"/>
                </a:ext>
              </a:extLst>
            </p:cNvPr>
            <p:cNvCxnSpPr>
              <a:cxnSpLocks noChangeShapeType="1"/>
              <a:stCxn id="30" idx="3"/>
              <a:endCxn id="3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17">
              <a:extLst>
                <a:ext uri="{FF2B5EF4-FFF2-40B4-BE49-F238E27FC236}">
                  <a16:creationId xmlns:a16="http://schemas.microsoft.com/office/drawing/2014/main" id="{AB0D0E97-A3DB-89E3-C469-2CE711AA34D3}"/>
                </a:ext>
              </a:extLst>
            </p:cNvPr>
            <p:cNvCxnSpPr>
              <a:cxnSpLocks noChangeShapeType="1"/>
              <a:stCxn id="32" idx="3"/>
              <a:endCxn id="3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18">
              <a:extLst>
                <a:ext uri="{FF2B5EF4-FFF2-40B4-BE49-F238E27FC236}">
                  <a16:creationId xmlns:a16="http://schemas.microsoft.com/office/drawing/2014/main" id="{A24424DA-8458-9B74-C4D0-1D01FE5CB3DB}"/>
                </a:ext>
              </a:extLst>
            </p:cNvPr>
            <p:cNvCxnSpPr>
              <a:cxnSpLocks noChangeShapeType="1"/>
              <a:stCxn id="34" idx="3"/>
              <a:endCxn id="2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9">
              <a:extLst>
                <a:ext uri="{FF2B5EF4-FFF2-40B4-BE49-F238E27FC236}">
                  <a16:creationId xmlns:a16="http://schemas.microsoft.com/office/drawing/2014/main" id="{5AE8D2C7-8F80-70F1-D0B0-65874CB9AD97}"/>
                </a:ext>
              </a:extLst>
            </p:cNvPr>
            <p:cNvCxnSpPr>
              <a:cxnSpLocks noChangeShapeType="1"/>
              <a:stCxn id="27" idx="0"/>
              <a:endCxn id="3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1" name="Rectangle 20">
              <a:extLst>
                <a:ext uri="{FF2B5EF4-FFF2-40B4-BE49-F238E27FC236}">
                  <a16:creationId xmlns:a16="http://schemas.microsoft.com/office/drawing/2014/main" id="{D14DB4B9-A30F-A323-9B1B-AB286A064573}"/>
                </a:ext>
              </a:extLst>
            </p:cNvPr>
            <p:cNvSpPr>
              <a:spLocks noChangeArrowheads="1"/>
            </p:cNvSpPr>
            <p:nvPr/>
          </p:nvSpPr>
          <p:spPr bwMode="auto">
            <a:xfrm>
              <a:off x="414338" y="4378325"/>
              <a:ext cx="1674812"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Attend 3P Executive Overview</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Readiness Assessment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Prerequisites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Commitment to 3P process</a:t>
              </a:r>
            </a:p>
          </p:txBody>
        </p:sp>
        <p:sp>
          <p:nvSpPr>
            <p:cNvPr id="42" name="Rectangle 21">
              <a:extLst>
                <a:ext uri="{FF2B5EF4-FFF2-40B4-BE49-F238E27FC236}">
                  <a16:creationId xmlns:a16="http://schemas.microsoft.com/office/drawing/2014/main" id="{35920AF7-515A-6331-8341-54E861EEB588}"/>
                </a:ext>
              </a:extLst>
            </p:cNvPr>
            <p:cNvSpPr>
              <a:spLocks noChangeArrowheads="1"/>
            </p:cNvSpPr>
            <p:nvPr/>
          </p:nvSpPr>
          <p:spPr bwMode="auto">
            <a:xfrm>
              <a:off x="2243138" y="4378325"/>
              <a:ext cx="1839912"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3P Overview Training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Define the requirements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Create 3P Lab</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Prepare Event Charter &amp; Plan</a:t>
              </a:r>
            </a:p>
          </p:txBody>
        </p:sp>
        <p:sp>
          <p:nvSpPr>
            <p:cNvPr id="43" name="Rectangle 22">
              <a:extLst>
                <a:ext uri="{FF2B5EF4-FFF2-40B4-BE49-F238E27FC236}">
                  <a16:creationId xmlns:a16="http://schemas.microsoft.com/office/drawing/2014/main" id="{D7EBCDA2-9130-8A67-5D6F-C5F619EC7A26}"/>
                </a:ext>
              </a:extLst>
            </p:cNvPr>
            <p:cNvSpPr>
              <a:spLocks noChangeArrowheads="1"/>
            </p:cNvSpPr>
            <p:nvPr/>
          </p:nvSpPr>
          <p:spPr bwMode="auto">
            <a:xfrm>
              <a:off x="40084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Detailed 3P Training and Exercises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Application of 3P Methodology to Design/Process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Creation of Implementation Plan</a:t>
              </a:r>
            </a:p>
          </p:txBody>
        </p:sp>
        <p:sp>
          <p:nvSpPr>
            <p:cNvPr id="44" name="Rectangle 23">
              <a:extLst>
                <a:ext uri="{FF2B5EF4-FFF2-40B4-BE49-F238E27FC236}">
                  <a16:creationId xmlns:a16="http://schemas.microsoft.com/office/drawing/2014/main" id="{154DFC50-26E7-D718-E79F-1B138B9F8132}"/>
                </a:ext>
              </a:extLst>
            </p:cNvPr>
            <p:cNvSpPr>
              <a:spLocks noChangeArrowheads="1"/>
            </p:cNvSpPr>
            <p:nvPr/>
          </p:nvSpPr>
          <p:spPr bwMode="auto">
            <a:xfrm>
              <a:off x="5849938" y="4378325"/>
              <a:ext cx="18272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Plan equipment, fixtures, tooling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Develop support systems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Install and qualify</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Create Standard Work</a:t>
              </a:r>
            </a:p>
          </p:txBody>
        </p:sp>
      </p:grpSp>
    </p:spTree>
    <p:extLst>
      <p:ext uri="{BB962C8B-B14F-4D97-AF65-F5344CB8AC3E}">
        <p14:creationId xmlns:p14="http://schemas.microsoft.com/office/powerpoint/2010/main" val="1960599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Roadmap to Success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51" name="Group 50">
            <a:extLst>
              <a:ext uri="{FF2B5EF4-FFF2-40B4-BE49-F238E27FC236}">
                <a16:creationId xmlns:a16="http://schemas.microsoft.com/office/drawing/2014/main" id="{9CAFB8B6-8A21-FB64-65A3-629CAA7BA8A3}"/>
              </a:ext>
            </a:extLst>
          </p:cNvPr>
          <p:cNvGrpSpPr/>
          <p:nvPr/>
        </p:nvGrpSpPr>
        <p:grpSpPr>
          <a:xfrm>
            <a:off x="944721" y="2036763"/>
            <a:ext cx="10251649" cy="4140200"/>
            <a:chOff x="487363" y="1979613"/>
            <a:chExt cx="8252121" cy="4140200"/>
          </a:xfrm>
        </p:grpSpPr>
        <p:grpSp>
          <p:nvGrpSpPr>
            <p:cNvPr id="3" name="Group 2">
              <a:extLst>
                <a:ext uri="{FF2B5EF4-FFF2-40B4-BE49-F238E27FC236}">
                  <a16:creationId xmlns:a16="http://schemas.microsoft.com/office/drawing/2014/main" id="{5E9BC8E0-D9B5-A206-318A-548C09D8E31F}"/>
                </a:ext>
              </a:extLst>
            </p:cNvPr>
            <p:cNvGrpSpPr>
              <a:grpSpLocks/>
            </p:cNvGrpSpPr>
            <p:nvPr/>
          </p:nvGrpSpPr>
          <p:grpSpPr bwMode="auto">
            <a:xfrm>
              <a:off x="2205038" y="1979613"/>
              <a:ext cx="6534150" cy="2420937"/>
              <a:chOff x="1389" y="1410"/>
              <a:chExt cx="4116" cy="1795"/>
            </a:xfrm>
          </p:grpSpPr>
          <p:sp>
            <p:nvSpPr>
              <p:cNvPr id="4" name="Rectangle 3">
                <a:extLst>
                  <a:ext uri="{FF2B5EF4-FFF2-40B4-BE49-F238E27FC236}">
                    <a16:creationId xmlns:a16="http://schemas.microsoft.com/office/drawing/2014/main" id="{86DFF3B9-C502-2FD9-C6CB-BD2AD5CD4A8F}"/>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A78BC531-171D-A1B2-0434-8B6DDC7D857A}"/>
                  </a:ext>
                </a:extLst>
              </p:cNvPr>
              <p:cNvSpPr txBox="1">
                <a:spLocks noChangeArrowheads="1"/>
              </p:cNvSpPr>
              <p:nvPr/>
            </p:nvSpPr>
            <p:spPr bwMode="auto">
              <a:xfrm>
                <a:off x="3412" y="1507"/>
                <a:ext cx="94" cy="251"/>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7" name="Oval 6">
              <a:extLst>
                <a:ext uri="{FF2B5EF4-FFF2-40B4-BE49-F238E27FC236}">
                  <a16:creationId xmlns:a16="http://schemas.microsoft.com/office/drawing/2014/main" id="{EA7B697B-7C0C-AC63-555A-6DDCDFCBA832}"/>
                </a:ext>
              </a:extLst>
            </p:cNvPr>
            <p:cNvSpPr>
              <a:spLocks noChangeArrowheads="1"/>
            </p:cNvSpPr>
            <p:nvPr/>
          </p:nvSpPr>
          <p:spPr bwMode="auto">
            <a:xfrm>
              <a:off x="7662863" y="3070225"/>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FB559AD5-CDF3-07AF-FB84-F39066578DA3}"/>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 Awareness/ Commitment</a:t>
              </a:r>
            </a:p>
          </p:txBody>
        </p:sp>
        <p:sp>
          <p:nvSpPr>
            <p:cNvPr id="9" name="Rectangle 8">
              <a:extLst>
                <a:ext uri="{FF2B5EF4-FFF2-40B4-BE49-F238E27FC236}">
                  <a16:creationId xmlns:a16="http://schemas.microsoft.com/office/drawing/2014/main" id="{DC5DA3D0-119E-5478-7334-C5C73582A0D0}"/>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10" name="Rectangle 9">
              <a:extLst>
                <a:ext uri="{FF2B5EF4-FFF2-40B4-BE49-F238E27FC236}">
                  <a16:creationId xmlns:a16="http://schemas.microsoft.com/office/drawing/2014/main" id="{88B0B78E-3608-F840-94F3-88BDEAC0E053}"/>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Kick-Off</a:t>
              </a:r>
            </a:p>
          </p:txBody>
        </p:sp>
        <p:sp>
          <p:nvSpPr>
            <p:cNvPr id="11" name="Rectangle 10">
              <a:extLst>
                <a:ext uri="{FF2B5EF4-FFF2-40B4-BE49-F238E27FC236}">
                  <a16:creationId xmlns:a16="http://schemas.microsoft.com/office/drawing/2014/main" id="{C3245BBE-A0FF-D7F6-BFC8-BA5C19517E01}"/>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sp>
          <p:nvSpPr>
            <p:cNvPr id="12" name="Rectangle 11">
              <a:extLst>
                <a:ext uri="{FF2B5EF4-FFF2-40B4-BE49-F238E27FC236}">
                  <a16:creationId xmlns:a16="http://schemas.microsoft.com/office/drawing/2014/main" id="{774D0735-5F17-0260-1AF8-14807F4693D5}"/>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13" name="Rectangle 12">
              <a:extLst>
                <a:ext uri="{FF2B5EF4-FFF2-40B4-BE49-F238E27FC236}">
                  <a16:creationId xmlns:a16="http://schemas.microsoft.com/office/drawing/2014/main" id="{19E14C2A-8525-B121-B562-11C284913A8D}"/>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14" name="Rectangle 13">
              <a:extLst>
                <a:ext uri="{FF2B5EF4-FFF2-40B4-BE49-F238E27FC236}">
                  <a16:creationId xmlns:a16="http://schemas.microsoft.com/office/drawing/2014/main" id="{F5672196-7800-39D0-0B38-8DC14474D423}"/>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15" name="Rectangle 14">
              <a:extLst>
                <a:ext uri="{FF2B5EF4-FFF2-40B4-BE49-F238E27FC236}">
                  <a16:creationId xmlns:a16="http://schemas.microsoft.com/office/drawing/2014/main" id="{0BFCD0A7-BCB3-3769-4ECC-2F043F58C6A9}"/>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16" name="AutoShape 15">
              <a:extLst>
                <a:ext uri="{FF2B5EF4-FFF2-40B4-BE49-F238E27FC236}">
                  <a16:creationId xmlns:a16="http://schemas.microsoft.com/office/drawing/2014/main" id="{69B50EEA-6521-8AB8-094E-BD4C96983E61}"/>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6">
              <a:extLst>
                <a:ext uri="{FF2B5EF4-FFF2-40B4-BE49-F238E27FC236}">
                  <a16:creationId xmlns:a16="http://schemas.microsoft.com/office/drawing/2014/main" id="{9EBAA7B7-AD32-949D-96AC-26820F8D03C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A9C173DD-5A38-1220-E0BB-DD7B00D7F35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4544293A-DF20-2708-B6DA-BF58EAD3F382}"/>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9">
              <a:extLst>
                <a:ext uri="{FF2B5EF4-FFF2-40B4-BE49-F238E27FC236}">
                  <a16:creationId xmlns:a16="http://schemas.microsoft.com/office/drawing/2014/main" id="{CFBCA112-6C83-36B5-C6B6-32ED72BC914A}"/>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1" name="Group 21">
              <a:extLst>
                <a:ext uri="{FF2B5EF4-FFF2-40B4-BE49-F238E27FC236}">
                  <a16:creationId xmlns:a16="http://schemas.microsoft.com/office/drawing/2014/main" id="{8B63D538-4600-F873-225C-21FF2F28DBC9}"/>
                </a:ext>
              </a:extLst>
            </p:cNvPr>
            <p:cNvGrpSpPr>
              <a:grpSpLocks/>
            </p:cNvGrpSpPr>
            <p:nvPr/>
          </p:nvGrpSpPr>
          <p:grpSpPr bwMode="auto">
            <a:xfrm>
              <a:off x="488950" y="4713288"/>
              <a:ext cx="8250534" cy="1406525"/>
              <a:chOff x="1350" y="2060"/>
              <a:chExt cx="3020" cy="208"/>
            </a:xfrm>
          </p:grpSpPr>
          <p:sp>
            <p:nvSpPr>
              <p:cNvPr id="22" name="AutoShape 22">
                <a:extLst>
                  <a:ext uri="{FF2B5EF4-FFF2-40B4-BE49-F238E27FC236}">
                    <a16:creationId xmlns:a16="http://schemas.microsoft.com/office/drawing/2014/main" id="{20D9D491-AB70-F2C5-4532-5125B4C86038}"/>
                  </a:ext>
                </a:extLst>
              </p:cNvPr>
              <p:cNvSpPr>
                <a:spLocks noChangeArrowheads="1"/>
              </p:cNvSpPr>
              <p:nvPr/>
            </p:nvSpPr>
            <p:spPr bwMode="auto">
              <a:xfrm>
                <a:off x="3722" y="2060"/>
                <a:ext cx="648"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Plan Workshop and Event Charter</a:t>
                </a:r>
              </a:p>
            </p:txBody>
          </p:sp>
          <p:sp>
            <p:nvSpPr>
              <p:cNvPr id="23" name="AutoShape 23">
                <a:extLst>
                  <a:ext uri="{FF2B5EF4-FFF2-40B4-BE49-F238E27FC236}">
                    <a16:creationId xmlns:a16="http://schemas.microsoft.com/office/drawing/2014/main" id="{8E6DF853-B69D-8472-9437-95C5AEA4EAF6}"/>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Create</a:t>
                </a:r>
              </a:p>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3P Lab</a:t>
                </a:r>
              </a:p>
            </p:txBody>
          </p:sp>
          <p:sp>
            <p:nvSpPr>
              <p:cNvPr id="46" name="AutoShape 24">
                <a:extLst>
                  <a:ext uri="{FF2B5EF4-FFF2-40B4-BE49-F238E27FC236}">
                    <a16:creationId xmlns:a16="http://schemas.microsoft.com/office/drawing/2014/main" id="{9BABD6A1-BAB9-087E-6678-68970392A37B}"/>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lIns="180000" rIns="72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Current Performance</a:t>
                </a:r>
              </a:p>
            </p:txBody>
          </p:sp>
          <p:sp>
            <p:nvSpPr>
              <p:cNvPr id="47" name="AutoShape 25">
                <a:extLst>
                  <a:ext uri="{FF2B5EF4-FFF2-40B4-BE49-F238E27FC236}">
                    <a16:creationId xmlns:a16="http://schemas.microsoft.com/office/drawing/2014/main" id="{84CAB5A2-26D7-70E2-785A-2168102EE9B4}"/>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Needs and  </a:t>
                </a:r>
                <a:br>
                  <a:rPr lang="en-US" altLang="en-US">
                    <a:solidFill>
                      <a:schemeClr val="bg1"/>
                    </a:solidFill>
                    <a:latin typeface="Roboto" panose="02000000000000000000" pitchFamily="2" charset="0"/>
                    <a:ea typeface="Roboto" panose="02000000000000000000" pitchFamily="2" charset="0"/>
                  </a:rPr>
                </a:br>
                <a:r>
                  <a:rPr lang="en-US" altLang="en-US">
                    <a:solidFill>
                      <a:schemeClr val="bg1"/>
                    </a:solidFill>
                    <a:latin typeface="Roboto" panose="02000000000000000000" pitchFamily="2" charset="0"/>
                    <a:ea typeface="Roboto" panose="02000000000000000000" pitchFamily="2" charset="0"/>
                  </a:rPr>
                  <a:t>Objectives</a:t>
                </a:r>
              </a:p>
            </p:txBody>
          </p:sp>
          <p:sp>
            <p:nvSpPr>
              <p:cNvPr id="48" name="AutoShape 26">
                <a:extLst>
                  <a:ext uri="{FF2B5EF4-FFF2-40B4-BE49-F238E27FC236}">
                    <a16:creationId xmlns:a16="http://schemas.microsoft.com/office/drawing/2014/main" id="{8A5D12B3-4FE5-0D91-2F05-59BB584B32B0}"/>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3P Overview Training</a:t>
                </a:r>
              </a:p>
            </p:txBody>
          </p:sp>
        </p:grpSp>
        <p:sp>
          <p:nvSpPr>
            <p:cNvPr id="49" name="Line 27">
              <a:extLst>
                <a:ext uri="{FF2B5EF4-FFF2-40B4-BE49-F238E27FC236}">
                  <a16:creationId xmlns:a16="http://schemas.microsoft.com/office/drawing/2014/main" id="{AA3F1F7E-8EC7-4C44-73AF-01B5351BE5A8}"/>
                </a:ext>
              </a:extLst>
            </p:cNvPr>
            <p:cNvSpPr>
              <a:spLocks noChangeShapeType="1"/>
            </p:cNvSpPr>
            <p:nvPr/>
          </p:nvSpPr>
          <p:spPr bwMode="auto">
            <a:xfrm flipH="1">
              <a:off x="487363" y="4144963"/>
              <a:ext cx="1808162" cy="588962"/>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28">
              <a:extLst>
                <a:ext uri="{FF2B5EF4-FFF2-40B4-BE49-F238E27FC236}">
                  <a16:creationId xmlns:a16="http://schemas.microsoft.com/office/drawing/2014/main" id="{D61825AE-AC4D-7980-8E47-D0E4FCF144BC}"/>
                </a:ext>
              </a:extLst>
            </p:cNvPr>
            <p:cNvSpPr>
              <a:spLocks noChangeShapeType="1"/>
            </p:cNvSpPr>
            <p:nvPr/>
          </p:nvSpPr>
          <p:spPr bwMode="auto">
            <a:xfrm>
              <a:off x="3860800" y="4124325"/>
              <a:ext cx="4500563" cy="579438"/>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277351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Kick-Off Structure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35" name="Group 34">
            <a:extLst>
              <a:ext uri="{FF2B5EF4-FFF2-40B4-BE49-F238E27FC236}">
                <a16:creationId xmlns:a16="http://schemas.microsoft.com/office/drawing/2014/main" id="{BC073B29-9B36-CC70-F3A8-B392E50571BE}"/>
              </a:ext>
            </a:extLst>
          </p:cNvPr>
          <p:cNvGrpSpPr/>
          <p:nvPr/>
        </p:nvGrpSpPr>
        <p:grpSpPr>
          <a:xfrm>
            <a:off x="414338" y="1928813"/>
            <a:ext cx="10352722" cy="4404335"/>
            <a:chOff x="414338" y="1928813"/>
            <a:chExt cx="8366125" cy="3608387"/>
          </a:xfrm>
        </p:grpSpPr>
        <p:grpSp>
          <p:nvGrpSpPr>
            <p:cNvPr id="24" name="Group 21">
              <a:extLst>
                <a:ext uri="{FF2B5EF4-FFF2-40B4-BE49-F238E27FC236}">
                  <a16:creationId xmlns:a16="http://schemas.microsoft.com/office/drawing/2014/main" id="{DC89DAD6-5D7F-B0AE-60D4-03F54C90239E}"/>
                </a:ext>
              </a:extLst>
            </p:cNvPr>
            <p:cNvGrpSpPr>
              <a:grpSpLocks/>
            </p:cNvGrpSpPr>
            <p:nvPr/>
          </p:nvGrpSpPr>
          <p:grpSpPr bwMode="auto">
            <a:xfrm>
              <a:off x="488950" y="1928813"/>
              <a:ext cx="8291513" cy="1406525"/>
              <a:chOff x="1350" y="2060"/>
              <a:chExt cx="3035" cy="208"/>
            </a:xfrm>
          </p:grpSpPr>
          <p:sp>
            <p:nvSpPr>
              <p:cNvPr id="25" name="AutoShape 22">
                <a:extLst>
                  <a:ext uri="{FF2B5EF4-FFF2-40B4-BE49-F238E27FC236}">
                    <a16:creationId xmlns:a16="http://schemas.microsoft.com/office/drawing/2014/main" id="{098FF811-3A84-A34F-261A-CA026C28B0FF}"/>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Plan Workshop</a:t>
                </a:r>
              </a:p>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and Event Charter</a:t>
                </a:r>
              </a:p>
            </p:txBody>
          </p:sp>
          <p:sp>
            <p:nvSpPr>
              <p:cNvPr id="26" name="AutoShape 23">
                <a:extLst>
                  <a:ext uri="{FF2B5EF4-FFF2-40B4-BE49-F238E27FC236}">
                    <a16:creationId xmlns:a16="http://schemas.microsoft.com/office/drawing/2014/main" id="{4E639C13-6488-4B90-F930-84149C6F9102}"/>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Create</a:t>
                </a:r>
              </a:p>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3P Lab</a:t>
                </a:r>
              </a:p>
            </p:txBody>
          </p:sp>
          <p:sp>
            <p:nvSpPr>
              <p:cNvPr id="27" name="AutoShape 24">
                <a:extLst>
                  <a:ext uri="{FF2B5EF4-FFF2-40B4-BE49-F238E27FC236}">
                    <a16:creationId xmlns:a16="http://schemas.microsoft.com/office/drawing/2014/main" id="{58534DE0-0054-68F0-6342-DD3DBCB75601}"/>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lIns="180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Current Performance</a:t>
                </a:r>
              </a:p>
            </p:txBody>
          </p:sp>
          <p:sp>
            <p:nvSpPr>
              <p:cNvPr id="28" name="AutoShape 25">
                <a:extLst>
                  <a:ext uri="{FF2B5EF4-FFF2-40B4-BE49-F238E27FC236}">
                    <a16:creationId xmlns:a16="http://schemas.microsoft.com/office/drawing/2014/main" id="{D6711A7C-9FBA-DC18-EFAF-D7B3F5CBFADB}"/>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Needs and  </a:t>
                </a:r>
                <a:br>
                  <a:rPr lang="en-US" altLang="en-US">
                    <a:solidFill>
                      <a:schemeClr val="bg1"/>
                    </a:solidFill>
                    <a:latin typeface="Roboto" panose="02000000000000000000" pitchFamily="2" charset="0"/>
                    <a:ea typeface="Roboto" panose="02000000000000000000" pitchFamily="2" charset="0"/>
                  </a:rPr>
                </a:br>
                <a:r>
                  <a:rPr lang="en-US" altLang="en-US">
                    <a:solidFill>
                      <a:schemeClr val="bg1"/>
                    </a:solidFill>
                    <a:latin typeface="Roboto" panose="02000000000000000000" pitchFamily="2" charset="0"/>
                    <a:ea typeface="Roboto" panose="02000000000000000000" pitchFamily="2" charset="0"/>
                  </a:rPr>
                  <a:t>Objectives</a:t>
                </a:r>
              </a:p>
            </p:txBody>
          </p:sp>
          <p:sp>
            <p:nvSpPr>
              <p:cNvPr id="29" name="AutoShape 26">
                <a:extLst>
                  <a:ext uri="{FF2B5EF4-FFF2-40B4-BE49-F238E27FC236}">
                    <a16:creationId xmlns:a16="http://schemas.microsoft.com/office/drawing/2014/main" id="{35639FF2-C427-9E83-62F1-79DA26B5D0A4}"/>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a:solidFill>
                      <a:schemeClr val="bg1"/>
                    </a:solidFill>
                    <a:latin typeface="Roboto" panose="02000000000000000000" pitchFamily="2" charset="0"/>
                    <a:ea typeface="Roboto" panose="02000000000000000000" pitchFamily="2" charset="0"/>
                  </a:rPr>
                  <a:t>3P Overview Training</a:t>
                </a:r>
              </a:p>
            </p:txBody>
          </p:sp>
        </p:grpSp>
        <p:sp>
          <p:nvSpPr>
            <p:cNvPr id="30" name="Rectangle 20">
              <a:extLst>
                <a:ext uri="{FF2B5EF4-FFF2-40B4-BE49-F238E27FC236}">
                  <a16:creationId xmlns:a16="http://schemas.microsoft.com/office/drawing/2014/main" id="{503C9854-811F-6B70-C772-35D8DAC3DF6C}"/>
                </a:ext>
              </a:extLst>
            </p:cNvPr>
            <p:cNvSpPr>
              <a:spLocks noChangeArrowheads="1"/>
            </p:cNvSpPr>
            <p:nvPr/>
          </p:nvSpPr>
          <p:spPr bwMode="auto">
            <a:xfrm>
              <a:off x="414338" y="3463925"/>
              <a:ext cx="167481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3P Five Steps and Iterative Process, 16 Catchphrases, checklists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Application of Lean tools in 3P</a:t>
              </a:r>
            </a:p>
          </p:txBody>
        </p:sp>
        <p:sp>
          <p:nvSpPr>
            <p:cNvPr id="31" name="Rectangle 21">
              <a:extLst>
                <a:ext uri="{FF2B5EF4-FFF2-40B4-BE49-F238E27FC236}">
                  <a16:creationId xmlns:a16="http://schemas.microsoft.com/office/drawing/2014/main" id="{4B68FD89-8E70-07E3-4E27-03356F6210F6}"/>
                </a:ext>
              </a:extLst>
            </p:cNvPr>
            <p:cNvSpPr>
              <a:spLocks noChangeArrowheads="1"/>
            </p:cNvSpPr>
            <p:nvPr/>
          </p:nvSpPr>
          <p:spPr bwMode="auto">
            <a:xfrm>
              <a:off x="2085975" y="3463925"/>
              <a:ext cx="1839913"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Select Product/ Process </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Define Relationship to other systems and processes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Identify Voice of the Customer - External &amp; Internal</a:t>
              </a:r>
            </a:p>
          </p:txBody>
        </p:sp>
        <p:sp>
          <p:nvSpPr>
            <p:cNvPr id="32" name="Rectangle 22">
              <a:extLst>
                <a:ext uri="{FF2B5EF4-FFF2-40B4-BE49-F238E27FC236}">
                  <a16:creationId xmlns:a16="http://schemas.microsoft.com/office/drawing/2014/main" id="{71CC6784-71DA-B3A3-F9DD-5861D6CEF261}"/>
                </a:ext>
              </a:extLst>
            </p:cNvPr>
            <p:cNvSpPr>
              <a:spLocks noChangeArrowheads="1"/>
            </p:cNvSpPr>
            <p:nvPr/>
          </p:nvSpPr>
          <p:spPr bwMode="auto">
            <a:xfrm>
              <a:off x="3708400" y="3449638"/>
              <a:ext cx="1873250"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Determine the current state</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Collect Performance Data</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Waste and Gap Analysis</a:t>
              </a:r>
            </a:p>
          </p:txBody>
        </p:sp>
        <p:sp>
          <p:nvSpPr>
            <p:cNvPr id="33" name="Rectangle 23">
              <a:extLst>
                <a:ext uri="{FF2B5EF4-FFF2-40B4-BE49-F238E27FC236}">
                  <a16:creationId xmlns:a16="http://schemas.microsoft.com/office/drawing/2014/main" id="{A9FC8ED6-B1C6-07E9-8343-CA6836093B82}"/>
                </a:ext>
              </a:extLst>
            </p:cNvPr>
            <p:cNvSpPr>
              <a:spLocks noChangeArrowheads="1"/>
            </p:cNvSpPr>
            <p:nvPr/>
          </p:nvSpPr>
          <p:spPr bwMode="auto">
            <a:xfrm>
              <a:off x="6935788" y="3449638"/>
              <a:ext cx="1827212"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Define and Select Team</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Develop Plan for 3P Workshop</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Create 3P Event Charter</a:t>
              </a:r>
            </a:p>
            <a:p>
              <a:pPr eaLnBrk="1" hangingPunct="1">
                <a:lnSpc>
                  <a:spcPct val="100000"/>
                </a:lnSpc>
                <a:spcBef>
                  <a:spcPct val="30000"/>
                </a:spcBef>
                <a:spcAft>
                  <a:spcPct val="0"/>
                </a:spcAft>
                <a:buClr>
                  <a:schemeClr val="tx1"/>
                </a:buClr>
                <a:buFont typeface="Arial" panose="020B0604020202020204" pitchFamily="34" charset="0"/>
                <a:buChar char="•"/>
              </a:pPr>
              <a:endParaRPr lang="en-US" altLang="en-US" sz="1600">
                <a:latin typeface="Roboto" panose="02000000000000000000" pitchFamily="2" charset="0"/>
                <a:ea typeface="Roboto" panose="02000000000000000000" pitchFamily="2" charset="0"/>
              </a:endParaRPr>
            </a:p>
          </p:txBody>
        </p:sp>
        <p:sp>
          <p:nvSpPr>
            <p:cNvPr id="34" name="Rectangle 22">
              <a:extLst>
                <a:ext uri="{FF2B5EF4-FFF2-40B4-BE49-F238E27FC236}">
                  <a16:creationId xmlns:a16="http://schemas.microsoft.com/office/drawing/2014/main" id="{78074CDB-6477-0462-C77D-47FE383C518A}"/>
                </a:ext>
              </a:extLst>
            </p:cNvPr>
            <p:cNvSpPr>
              <a:spLocks noChangeArrowheads="1"/>
            </p:cNvSpPr>
            <p:nvPr/>
          </p:nvSpPr>
          <p:spPr bwMode="auto">
            <a:xfrm>
              <a:off x="5332413" y="3459163"/>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Define requirements for Rapid Prototyping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a:latin typeface="Roboto" panose="02000000000000000000" pitchFamily="2" charset="0"/>
                  <a:ea typeface="Roboto" panose="02000000000000000000" pitchFamily="2" charset="0"/>
                </a:rPr>
                <a:t>Prepare 3P Lab for Workshop Event</a:t>
              </a:r>
            </a:p>
          </p:txBody>
        </p:sp>
      </p:grpSp>
    </p:spTree>
    <p:extLst>
      <p:ext uri="{BB962C8B-B14F-4D97-AF65-F5344CB8AC3E}">
        <p14:creationId xmlns:p14="http://schemas.microsoft.com/office/powerpoint/2010/main" val="345681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Planning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aphicFrame>
        <p:nvGraphicFramePr>
          <p:cNvPr id="3" name="Group 34">
            <a:extLst>
              <a:ext uri="{FF2B5EF4-FFF2-40B4-BE49-F238E27FC236}">
                <a16:creationId xmlns:a16="http://schemas.microsoft.com/office/drawing/2014/main" id="{8903D1A0-9AF7-63D9-2123-FC35A2B7133A}"/>
              </a:ext>
            </a:extLst>
          </p:cNvPr>
          <p:cNvGraphicFramePr>
            <a:graphicFrameLocks noGrp="1"/>
          </p:cNvGraphicFramePr>
          <p:nvPr>
            <p:extLst>
              <p:ext uri="{D42A27DB-BD31-4B8C-83A1-F6EECF244321}">
                <p14:modId xmlns:p14="http://schemas.microsoft.com/office/powerpoint/2010/main" val="2987578290"/>
              </p:ext>
            </p:extLst>
          </p:nvPr>
        </p:nvGraphicFramePr>
        <p:xfrm>
          <a:off x="1308100" y="1841012"/>
          <a:ext cx="9241789" cy="4352772"/>
        </p:xfrm>
        <a:graphic>
          <a:graphicData uri="http://schemas.openxmlformats.org/drawingml/2006/table">
            <a:tbl>
              <a:tblPr/>
              <a:tblGrid>
                <a:gridCol w="991464">
                  <a:extLst>
                    <a:ext uri="{9D8B030D-6E8A-4147-A177-3AD203B41FA5}">
                      <a16:colId xmlns:a16="http://schemas.microsoft.com/office/drawing/2014/main" val="20000"/>
                    </a:ext>
                  </a:extLst>
                </a:gridCol>
                <a:gridCol w="3825231">
                  <a:extLst>
                    <a:ext uri="{9D8B030D-6E8A-4147-A177-3AD203B41FA5}">
                      <a16:colId xmlns:a16="http://schemas.microsoft.com/office/drawing/2014/main" val="20001"/>
                    </a:ext>
                  </a:extLst>
                </a:gridCol>
                <a:gridCol w="4425094">
                  <a:extLst>
                    <a:ext uri="{9D8B030D-6E8A-4147-A177-3AD203B41FA5}">
                      <a16:colId xmlns:a16="http://schemas.microsoft.com/office/drawing/2014/main" val="20002"/>
                    </a:ext>
                  </a:extLst>
                </a:gridCol>
              </a:tblGrid>
              <a:tr h="406860">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Day</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Key Learnings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20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Daily Deliverables</a:t>
                      </a:r>
                    </a:p>
                  </a:txBody>
                  <a:tcPr marT="45715" marB="45715"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107945">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Day 1</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3P Overview Training</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Objectives and Needs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Understand 3P process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rPr>
                        <a:t>Design Specification</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60330">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cap="none" normalizeH="0" baseline="0">
                          <a:ln>
                            <a:noFill/>
                          </a:ln>
                          <a:solidFill>
                            <a:schemeClr val="tx1"/>
                          </a:solidFill>
                          <a:effectLst/>
                          <a:latin typeface="Roboto" panose="02000000000000000000" pitchFamily="2" charset="0"/>
                          <a:ea typeface="Roboto" panose="02000000000000000000" pitchFamily="2" charset="0"/>
                        </a:rPr>
                        <a:t>Day 2</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Current State Performance</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3P Lab Requirements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Process Maps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System Relationships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Performance Metrics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Simulation/Prototyping Facilities</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66677">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r>
                        <a:rPr kumimoji="0" lang="en-US" sz="1800" b="1" i="0" u="none" strike="noStrike" cap="none" normalizeH="0" baseline="0">
                          <a:ln>
                            <a:noFill/>
                          </a:ln>
                          <a:solidFill>
                            <a:schemeClr val="tx1"/>
                          </a:solidFill>
                          <a:effectLst/>
                          <a:latin typeface="Roboto" panose="02000000000000000000" pitchFamily="2" charset="0"/>
                          <a:ea typeface="Roboto" panose="02000000000000000000" pitchFamily="2" charset="0"/>
                        </a:rPr>
                        <a:t>Day 3</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Event Scope and Requirements</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Prepare for Team Final Report-Out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3P Event Plan and Charter</a:t>
                      </a:r>
                    </a:p>
                    <a:p>
                      <a:pPr marL="285750" marR="0" lvl="0" indent="-285750" algn="l" defTabSz="914400" rtl="0" eaLnBrk="0" fontAlgn="base" latinLnBrk="0" hangingPunct="0">
                        <a:lnSpc>
                          <a:spcPct val="100000"/>
                        </a:lnSpc>
                        <a:spcBef>
                          <a:spcPct val="20000"/>
                        </a:spcBef>
                        <a:spcAft>
                          <a:spcPct val="20000"/>
                        </a:spcAft>
                        <a:buClr>
                          <a:schemeClr val="tx1"/>
                        </a:buClr>
                        <a:buSzPct val="90000"/>
                        <a:buFont typeface="Arial" panose="020B0604020202020204" pitchFamily="34" charset="0"/>
                        <a:buChar char="•"/>
                        <a:tabLst/>
                      </a:pPr>
                      <a:r>
                        <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Final Report-Out to Management</a:t>
                      </a:r>
                    </a:p>
                  </a:txBody>
                  <a:tcPr marT="45715" marB="45715"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3816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3P Overview</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Define 3P objectives and principles</a:t>
            </a:r>
          </a:p>
          <a:p>
            <a:r>
              <a:rPr lang="en-US" sz="2400" dirty="0"/>
              <a:t>Prerequisites for successful 3P</a:t>
            </a:r>
          </a:p>
          <a:p>
            <a:r>
              <a:rPr lang="en-US" sz="2400" dirty="0"/>
              <a:t>The 4 phases of 3P</a:t>
            </a:r>
          </a:p>
          <a:p>
            <a:r>
              <a:rPr lang="en-US" sz="2400" dirty="0"/>
              <a:t>The 5 step iterative creative process of 3P</a:t>
            </a:r>
          </a:p>
          <a:p>
            <a:r>
              <a:rPr lang="en-US" sz="2400" dirty="0"/>
              <a:t>Eliminating waste using Lean tools and the 16 catchphrases</a:t>
            </a:r>
          </a:p>
          <a:p>
            <a:r>
              <a:rPr lang="en-US" sz="2400" dirty="0"/>
              <a:t>Planning for implementation</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and Event Charter</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Current</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Performance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Needs and</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Objectives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3P Overview</a:t>
                </a:r>
              </a:p>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Training</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“Reds and Yellows”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demonstrate trust and cooperation.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or more teams of any number are each provided with a red and a yellow counter.</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The objective is to maximize your own team’s score (see score card).</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to decide it’s play strategy.</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One Negotiator from each team play counters simultaneously.</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Hold 8 rounds &amp; review. Hold further 12 rounds &amp; review.</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Maximize team score. </a:t>
            </a:r>
          </a:p>
        </p:txBody>
      </p:sp>
      <p:grpSp>
        <p:nvGrpSpPr>
          <p:cNvPr id="20" name="Group 19">
            <a:extLst>
              <a:ext uri="{FF2B5EF4-FFF2-40B4-BE49-F238E27FC236}">
                <a16:creationId xmlns:a16="http://schemas.microsoft.com/office/drawing/2014/main" id="{400AB690-E081-4159-CD59-EBB63CC6F528}"/>
              </a:ext>
            </a:extLst>
          </p:cNvPr>
          <p:cNvGrpSpPr/>
          <p:nvPr/>
        </p:nvGrpSpPr>
        <p:grpSpPr>
          <a:xfrm>
            <a:off x="838200" y="297639"/>
            <a:ext cx="3396162" cy="306433"/>
            <a:chOff x="838200" y="297639"/>
            <a:chExt cx="3396162" cy="306433"/>
          </a:xfrm>
        </p:grpSpPr>
        <p:grpSp>
          <p:nvGrpSpPr>
            <p:cNvPr id="10" name="Group 9">
              <a:extLst>
                <a:ext uri="{FF2B5EF4-FFF2-40B4-BE49-F238E27FC236}">
                  <a16:creationId xmlns:a16="http://schemas.microsoft.com/office/drawing/2014/main" id="{3B9B0B4F-21C0-B751-FC5B-0A6477AA8D02}"/>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1153CCB-03AB-E7C0-F602-A7CEAF1A639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065F24-EF73-0E25-EAC2-4F3DDA596FA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 name="Group 2">
                <a:extLst>
                  <a:ext uri="{FF2B5EF4-FFF2-40B4-BE49-F238E27FC236}">
                    <a16:creationId xmlns:a16="http://schemas.microsoft.com/office/drawing/2014/main" id="{D69C5CDF-39D4-F2C7-AF6E-9B85E20A1ACA}"/>
                  </a:ext>
                </a:extLst>
              </p:cNvPr>
              <p:cNvGrpSpPr/>
              <p:nvPr/>
            </p:nvGrpSpPr>
            <p:grpSpPr>
              <a:xfrm>
                <a:off x="838200" y="297639"/>
                <a:ext cx="1060167" cy="290657"/>
                <a:chOff x="826426" y="4041857"/>
                <a:chExt cx="1060167" cy="290657"/>
              </a:xfrm>
            </p:grpSpPr>
            <p:sp>
              <p:nvSpPr>
                <p:cNvPr id="4" name="AutoShape 9">
                  <a:extLst>
                    <a:ext uri="{FF2B5EF4-FFF2-40B4-BE49-F238E27FC236}">
                      <a16:creationId xmlns:a16="http://schemas.microsoft.com/office/drawing/2014/main" id="{4A87C677-CA3B-AF09-CA4A-985F1AD3A4E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5C0730F4-93D4-D55D-4620-A50244652B5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0">
                  <a:extLst>
                    <a:ext uri="{FF2B5EF4-FFF2-40B4-BE49-F238E27FC236}">
                      <a16:creationId xmlns:a16="http://schemas.microsoft.com/office/drawing/2014/main" id="{2AF64AE7-DB5B-CE33-23AB-D8E9D0CB13D0}"/>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9" name="TextBox 18">
              <a:extLst>
                <a:ext uri="{FF2B5EF4-FFF2-40B4-BE49-F238E27FC236}">
                  <a16:creationId xmlns:a16="http://schemas.microsoft.com/office/drawing/2014/main" id="{9AC35935-FEC9-B26F-340B-235A7D0D2F87}"/>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184064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“Reds &amp; Yellows” Score Card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3" name="Group 2">
            <a:extLst>
              <a:ext uri="{FF2B5EF4-FFF2-40B4-BE49-F238E27FC236}">
                <a16:creationId xmlns:a16="http://schemas.microsoft.com/office/drawing/2014/main" id="{0518EE3D-3D66-9BA2-BCDC-2A7EEA41149C}"/>
              </a:ext>
            </a:extLst>
          </p:cNvPr>
          <p:cNvGrpSpPr/>
          <p:nvPr/>
        </p:nvGrpSpPr>
        <p:grpSpPr>
          <a:xfrm>
            <a:off x="838200" y="297639"/>
            <a:ext cx="3396162" cy="306433"/>
            <a:chOff x="838200" y="297639"/>
            <a:chExt cx="3396162" cy="306433"/>
          </a:xfrm>
        </p:grpSpPr>
        <p:grpSp>
          <p:nvGrpSpPr>
            <p:cNvPr id="5" name="Group 4">
              <a:extLst>
                <a:ext uri="{FF2B5EF4-FFF2-40B4-BE49-F238E27FC236}">
                  <a16:creationId xmlns:a16="http://schemas.microsoft.com/office/drawing/2014/main" id="{088988C2-0E0E-D7FC-FF98-DDF83E49C05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022728AA-207E-1AD0-68BA-10F0B4DD49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4855B174-BE04-CF01-864E-7AB633064E4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E782F0A-6158-0AAF-2103-57789EC7EFD3}"/>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3B10E592-EA6F-9C7D-3C60-440902EC7EE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C931D7A4-AB08-73CD-1C72-9D7C88354DCF}"/>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28D7E7C5-A84E-D60D-2937-45E8E9D243E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76CEB9F6-6E48-AD09-B320-91475C8978C7}"/>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aphicFrame>
        <p:nvGraphicFramePr>
          <p:cNvPr id="13" name="Group 50">
            <a:extLst>
              <a:ext uri="{FF2B5EF4-FFF2-40B4-BE49-F238E27FC236}">
                <a16:creationId xmlns:a16="http://schemas.microsoft.com/office/drawing/2014/main" id="{3B862CEF-B126-C647-117B-5298562E99EA}"/>
              </a:ext>
            </a:extLst>
          </p:cNvPr>
          <p:cNvGraphicFramePr>
            <a:graphicFrameLocks/>
          </p:cNvGraphicFramePr>
          <p:nvPr>
            <p:extLst>
              <p:ext uri="{D42A27DB-BD31-4B8C-83A1-F6EECF244321}">
                <p14:modId xmlns:p14="http://schemas.microsoft.com/office/powerpoint/2010/main" val="3372881298"/>
              </p:ext>
            </p:extLst>
          </p:nvPr>
        </p:nvGraphicFramePr>
        <p:xfrm>
          <a:off x="1981200" y="1902130"/>
          <a:ext cx="8229600" cy="4219575"/>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469900">
                <a:tc gridSpan="2">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1" i="0" u="none" strike="noStrike" cap="none" normalizeH="0" baseline="0">
                          <a:ln>
                            <a:noFill/>
                          </a:ln>
                          <a:solidFill>
                            <a:schemeClr val="tx1"/>
                          </a:solidFill>
                          <a:effectLst/>
                          <a:latin typeface="Arial" pitchFamily="34" charset="0"/>
                          <a:ea typeface="Arial Unicode MS" pitchFamily="34" charset="-128"/>
                          <a:cs typeface="Arial" pitchFamily="34" charset="0"/>
                        </a:rPr>
                        <a:t>Played</a:t>
                      </a:r>
                    </a:p>
                  </a:txBody>
                  <a:tcPr marL="83077" marR="83077" marT="46800" marB="46800" anchor="ct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GB"/>
                    </a:p>
                  </a:txBody>
                  <a:tcPr/>
                </a:tc>
                <a:tc gridSpan="2">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1" i="0" u="none" strike="noStrike" cap="none" normalizeH="0" baseline="0">
                          <a:ln>
                            <a:noFill/>
                          </a:ln>
                          <a:solidFill>
                            <a:schemeClr val="tx1"/>
                          </a:solidFill>
                          <a:effectLst/>
                          <a:latin typeface="Arial" pitchFamily="34" charset="0"/>
                          <a:ea typeface="Arial Unicode MS" pitchFamily="34" charset="-128"/>
                          <a:cs typeface="Arial" pitchFamily="34" charset="0"/>
                        </a:rPr>
                        <a:t>Scores</a:t>
                      </a:r>
                    </a:p>
                  </a:txBody>
                  <a:tcPr marL="83077" marR="83077" marT="46800" marB="46800" anchor="ct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endParaRPr lang="en-GB"/>
                    </a:p>
                  </a:txBody>
                  <a:tcPr/>
                </a:tc>
                <a:extLst>
                  <a:ext uri="{0D108BD9-81ED-4DB2-BD59-A6C34878D82A}">
                    <a16:rowId xmlns:a16="http://schemas.microsoft.com/office/drawing/2014/main" val="10000"/>
                  </a:ext>
                </a:extLst>
              </a:tr>
              <a:tr h="49212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1" i="0" u="none" strike="noStrike" cap="none" normalizeH="0" baseline="0">
                          <a:ln>
                            <a:noFill/>
                          </a:ln>
                          <a:solidFill>
                            <a:schemeClr val="tx1"/>
                          </a:solidFill>
                          <a:effectLst/>
                          <a:latin typeface="Arial" pitchFamily="34" charset="0"/>
                          <a:ea typeface="Arial Unicode MS" pitchFamily="34" charset="-128"/>
                          <a:cs typeface="Arial" pitchFamily="34" charset="0"/>
                        </a:rPr>
                        <a:t>Yellows</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1" i="0" u="none" strike="noStrike" cap="none" normalizeH="0" baseline="0">
                          <a:ln>
                            <a:noFill/>
                          </a:ln>
                          <a:solidFill>
                            <a:schemeClr val="bg1"/>
                          </a:solidFill>
                          <a:effectLst/>
                          <a:latin typeface="Arial" pitchFamily="34" charset="0"/>
                          <a:ea typeface="Arial Unicode MS" pitchFamily="34" charset="-128"/>
                          <a:cs typeface="Arial" pitchFamily="34" charset="0"/>
                        </a:rPr>
                        <a:t>Reds</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0000"/>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1" i="0" u="none" strike="noStrike" cap="none" normalizeH="0" baseline="0">
                          <a:ln>
                            <a:noFill/>
                          </a:ln>
                          <a:solidFill>
                            <a:schemeClr val="tx1"/>
                          </a:solidFill>
                          <a:effectLst/>
                          <a:latin typeface="Arial" pitchFamily="34" charset="0"/>
                          <a:ea typeface="Arial Unicode MS" pitchFamily="34" charset="-128"/>
                          <a:cs typeface="Arial" pitchFamily="34" charset="0"/>
                        </a:rPr>
                        <a:t>Yellows</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1" i="0" u="none" strike="noStrike" cap="none" normalizeH="0" baseline="0">
                          <a:ln>
                            <a:noFill/>
                          </a:ln>
                          <a:solidFill>
                            <a:schemeClr val="bg1"/>
                          </a:solidFill>
                          <a:effectLst/>
                          <a:latin typeface="Arial" pitchFamily="34" charset="0"/>
                          <a:ea typeface="Arial Unicode MS" pitchFamily="34" charset="-128"/>
                          <a:cs typeface="Arial" pitchFamily="34" charset="0"/>
                        </a:rPr>
                        <a:t>Reds</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0000"/>
                    </a:solidFill>
                  </a:tcPr>
                </a:tc>
                <a:extLst>
                  <a:ext uri="{0D108BD9-81ED-4DB2-BD59-A6C34878D82A}">
                    <a16:rowId xmlns:a16="http://schemas.microsoft.com/office/drawing/2014/main" val="10001"/>
                  </a:ext>
                </a:extLst>
              </a:tr>
              <a:tr h="6508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All</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No Reds</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+1</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0</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54050">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endParaRP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1 Red</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0</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+3</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508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Even</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Even</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-1</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-1</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508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1 Yellow</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endPar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endParaRP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+1</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-2</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650875">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dirty="0">
                          <a:ln>
                            <a:noFill/>
                          </a:ln>
                          <a:solidFill>
                            <a:schemeClr val="tx1"/>
                          </a:solidFill>
                          <a:effectLst/>
                          <a:latin typeface="Arial" pitchFamily="34" charset="0"/>
                          <a:ea typeface="Arial Unicode MS" pitchFamily="34" charset="-128"/>
                          <a:cs typeface="Arial" pitchFamily="34" charset="0"/>
                        </a:rPr>
                        <a:t>No Yellows</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All Reds</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a:ln>
                            <a:noFill/>
                          </a:ln>
                          <a:solidFill>
                            <a:schemeClr val="tx1"/>
                          </a:solidFill>
                          <a:effectLst/>
                          <a:latin typeface="Arial" pitchFamily="34" charset="0"/>
                          <a:ea typeface="Arial Unicode MS" pitchFamily="34" charset="-128"/>
                          <a:cs typeface="Arial" pitchFamily="34" charset="0"/>
                        </a:rPr>
                        <a:t>0</a:t>
                      </a:r>
                    </a:p>
                  </a:txBody>
                  <a:tcPr marL="83077" marR="83077" marT="46800" marB="46800"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 typeface="Arial" pitchFamily="34" charset="0"/>
                        <a:buNone/>
                        <a:tabLst/>
                      </a:pPr>
                      <a:r>
                        <a:rPr kumimoji="0" lang="en-GB" sz="2000" b="0" i="0" u="none" strike="noStrike" cap="none" normalizeH="0" baseline="0" dirty="0">
                          <a:ln>
                            <a:noFill/>
                          </a:ln>
                          <a:solidFill>
                            <a:schemeClr val="tx1"/>
                          </a:solidFill>
                          <a:effectLst/>
                          <a:latin typeface="Arial" pitchFamily="34" charset="0"/>
                          <a:ea typeface="Arial Unicode MS" pitchFamily="34" charset="-128"/>
                          <a:cs typeface="Arial" pitchFamily="34" charset="0"/>
                        </a:rPr>
                        <a:t>-3</a:t>
                      </a:r>
                    </a:p>
                  </a:txBody>
                  <a:tcPr marL="83077" marR="83077" marT="46800" marB="46800"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65092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altLang="en-US" b="1" i="1" dirty="0"/>
              <a:t>Production Preparation Process </a:t>
            </a:r>
            <a:r>
              <a:rPr lang="en-US" altLang="en-US" b="1" dirty="0"/>
              <a:t>(3P) is a team approach to concurrent production process and product design that delivers:</a:t>
            </a:r>
          </a:p>
          <a:p>
            <a:pPr lvl="1"/>
            <a:r>
              <a:rPr lang="en-US" altLang="en-US" b="0" dirty="0"/>
              <a:t>Highest customer </a:t>
            </a:r>
            <a:r>
              <a:rPr lang="en-US" altLang="en-US" b="1" dirty="0"/>
              <a:t>Quality</a:t>
            </a:r>
          </a:p>
          <a:p>
            <a:pPr lvl="1"/>
            <a:r>
              <a:rPr lang="en-US" altLang="en-US" b="0" dirty="0"/>
              <a:t>At the lowest product and capital </a:t>
            </a:r>
            <a:r>
              <a:rPr lang="en-US" altLang="en-US" b="1" dirty="0"/>
              <a:t>Cost</a:t>
            </a:r>
          </a:p>
          <a:p>
            <a:pPr lvl="1"/>
            <a:r>
              <a:rPr lang="en-US" altLang="en-US" b="0" dirty="0"/>
              <a:t>With better </a:t>
            </a:r>
            <a:r>
              <a:rPr lang="en-US" altLang="en-US" b="1" dirty="0"/>
              <a:t>Safety</a:t>
            </a:r>
            <a:r>
              <a:rPr lang="en-US" altLang="en-US" b="0" dirty="0"/>
              <a:t>, </a:t>
            </a:r>
            <a:r>
              <a:rPr lang="en-US" altLang="en-US" b="1" dirty="0"/>
              <a:t>Ergonomics</a:t>
            </a:r>
            <a:r>
              <a:rPr lang="en-US" altLang="en-US" dirty="0"/>
              <a:t> </a:t>
            </a:r>
            <a:r>
              <a:rPr lang="en-US" altLang="en-US" b="0" dirty="0"/>
              <a:t>and</a:t>
            </a:r>
            <a:r>
              <a:rPr lang="en-US" altLang="en-US" dirty="0"/>
              <a:t> </a:t>
            </a:r>
            <a:r>
              <a:rPr lang="en-US" altLang="en-US" b="1" dirty="0"/>
              <a:t>Less Environmental Impact</a:t>
            </a:r>
          </a:p>
          <a:p>
            <a:pPr lvl="1"/>
            <a:r>
              <a:rPr lang="en-US" altLang="en-US" b="0" dirty="0"/>
              <a:t>For the required </a:t>
            </a:r>
            <a:r>
              <a:rPr lang="en-US" altLang="en-US" b="1" dirty="0"/>
              <a:t>Volume</a:t>
            </a:r>
          </a:p>
          <a:p>
            <a:pPr lvl="1"/>
            <a:r>
              <a:rPr lang="en-US" altLang="en-US" b="0" dirty="0"/>
              <a:t>Able to </a:t>
            </a:r>
            <a:r>
              <a:rPr lang="en-US" altLang="en-US" b="1" dirty="0"/>
              <a:t>Flex</a:t>
            </a:r>
            <a:r>
              <a:rPr lang="en-US" altLang="en-US" b="0" dirty="0"/>
              <a:t> to volume changes</a:t>
            </a:r>
          </a:p>
          <a:p>
            <a:pPr lvl="1"/>
            <a:r>
              <a:rPr lang="en-US" altLang="en-US" b="1" dirty="0"/>
              <a:t>On Time</a:t>
            </a:r>
            <a:r>
              <a:rPr lang="en-US" altLang="en-US" dirty="0"/>
              <a:t> </a:t>
            </a:r>
            <a:r>
              <a:rPr lang="en-US" altLang="en-US" b="0" dirty="0"/>
              <a:t>and in the shortest project </a:t>
            </a:r>
            <a:r>
              <a:rPr lang="en-US" altLang="en-US" b="1" dirty="0"/>
              <a:t>Lead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grpSp>
        <p:nvGrpSpPr>
          <p:cNvPr id="4" name="Group 3">
            <a:extLst>
              <a:ext uri="{FF2B5EF4-FFF2-40B4-BE49-F238E27FC236}">
                <a16:creationId xmlns:a16="http://schemas.microsoft.com/office/drawing/2014/main" id="{91519CD3-8F7B-4F76-85FB-667664D0F5C5}"/>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781EC0CE-80F0-5881-37C4-C6662B758298}"/>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AE89E887-96E6-F9E9-3D81-126752D74FF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89883B97-336B-CBF9-A8EE-CA3C0562E89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9F762534-AA96-975D-944F-7274BAC987D4}"/>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00E415D-B476-FA3A-A371-656FFEBA53A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A96163CE-B84A-D240-2438-FF0E8C0571C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4A619A6-9A37-055A-FD2C-E8C98E1AFE86}"/>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A1DF8149-82ED-41BD-0506-19037C798537}"/>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2531537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a:lnSpc>
                <a:spcPct val="105000"/>
              </a:lnSpc>
            </a:pPr>
            <a:r>
              <a:rPr lang="en-US" altLang="en-US" dirty="0"/>
              <a:t>3P is an advanced lean tool typically used by organizations that have experience with other lean methods   </a:t>
            </a:r>
          </a:p>
          <a:p>
            <a:pPr>
              <a:lnSpc>
                <a:spcPct val="105000"/>
              </a:lnSpc>
            </a:pPr>
            <a:r>
              <a:rPr lang="en-US" altLang="en-US" dirty="0"/>
              <a:t>3P focuses on eliminating waste by building quality into the process through product and process design</a:t>
            </a:r>
          </a:p>
          <a:p>
            <a:pPr>
              <a:lnSpc>
                <a:spcPct val="105000"/>
              </a:lnSpc>
            </a:pPr>
            <a:r>
              <a:rPr lang="en-US" altLang="en-US" dirty="0"/>
              <a:t>3P starts with a clean product development slate to rapidly create and test potential product and process designs that require the least time, material, and capital resources </a:t>
            </a:r>
          </a:p>
          <a:p>
            <a:pPr>
              <a:lnSpc>
                <a:spcPct val="105000"/>
              </a:lnSpc>
            </a:pPr>
            <a:r>
              <a:rPr lang="en-US" altLang="en-US" dirty="0"/>
              <a:t>3P involves a diverse team in a multi-day creative process to identify several alternative ways to meet the customer's needs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grpSp>
        <p:nvGrpSpPr>
          <p:cNvPr id="4" name="Group 3">
            <a:extLst>
              <a:ext uri="{FF2B5EF4-FFF2-40B4-BE49-F238E27FC236}">
                <a16:creationId xmlns:a16="http://schemas.microsoft.com/office/drawing/2014/main" id="{FAB185B0-137C-FB3D-0477-ABBA0329635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08AF93AD-7BED-1DDF-037C-A988A6EA3973}"/>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0E37B317-1EE8-6D1E-41BB-345B0A297587}"/>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C966D1C-A97F-BC48-42A7-2E5E3E4D9D14}"/>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9C99FD97-C45C-1478-162A-2399393E9778}"/>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0DDC913F-CEF8-8F69-474D-C8DB0E9DE84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60C248A3-5AD8-CD53-C9DD-B57AFB5AFAA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284DA883-89B6-C820-F65D-71B178E6FBC3}"/>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EDE10A88-9E2F-A31D-A7D5-4693912C10F7}"/>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1098478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3P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a:lnSpc>
                <a:spcPct val="105000"/>
              </a:lnSpc>
            </a:pPr>
            <a:r>
              <a:rPr lang="en-US" altLang="en-US" dirty="0"/>
              <a:t>Least waste by integrating the ‘4M’s’ (Man, Material, Machine, Methods) of production into a good flow</a:t>
            </a:r>
          </a:p>
          <a:p>
            <a:pPr>
              <a:lnSpc>
                <a:spcPct val="105000"/>
              </a:lnSpc>
            </a:pPr>
            <a:r>
              <a:rPr lang="en-US" altLang="en-US" dirty="0"/>
              <a:t>Eliminate Muda (waste), Mura (variability), Muri (overloading)</a:t>
            </a:r>
          </a:p>
          <a:p>
            <a:pPr>
              <a:lnSpc>
                <a:spcPct val="105000"/>
              </a:lnSpc>
            </a:pPr>
            <a:r>
              <a:rPr lang="en-US" altLang="en-US" dirty="0"/>
              <a:t>Eliminate the ‘Three D’s’ – dirt, difficult, dangerous</a:t>
            </a:r>
          </a:p>
          <a:p>
            <a:pPr>
              <a:lnSpc>
                <a:spcPct val="105000"/>
              </a:lnSpc>
            </a:pPr>
            <a:r>
              <a:rPr lang="en-US" altLang="en-US" dirty="0"/>
              <a:t>Build quality into the process with Poka-yoke &amp; </a:t>
            </a:r>
            <a:r>
              <a:rPr lang="en-US" altLang="en-US" dirty="0" err="1"/>
              <a:t>Jidoka</a:t>
            </a: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3572805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3P – Top 5 Reasons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marL="342900" indent="-342900"/>
            <a:r>
              <a:rPr lang="en-US" altLang="en-US" b="1" dirty="0"/>
              <a:t>New product development.</a:t>
            </a:r>
            <a:r>
              <a:rPr lang="en-US" altLang="en-US" dirty="0"/>
              <a:t> </a:t>
            </a:r>
            <a:r>
              <a:rPr lang="en-US" altLang="en-US" b="0" dirty="0"/>
              <a:t>Educate designers in Lean as early as possible.</a:t>
            </a:r>
          </a:p>
          <a:p>
            <a:pPr marL="342900" indent="-342900"/>
            <a:r>
              <a:rPr lang="en-US" altLang="en-US" b="1" dirty="0"/>
              <a:t>Capital expenditure approval.</a:t>
            </a:r>
            <a:r>
              <a:rPr lang="en-US" altLang="en-US" dirty="0"/>
              <a:t> </a:t>
            </a:r>
            <a:r>
              <a:rPr lang="en-US" altLang="en-US" b="0" dirty="0"/>
              <a:t>Don't sign a Cap Ex without first doing 3P.</a:t>
            </a:r>
          </a:p>
          <a:p>
            <a:pPr marL="342900" indent="-342900"/>
            <a:r>
              <a:rPr lang="en-US" altLang="en-US" b="1" dirty="0"/>
              <a:t>Product design changes.</a:t>
            </a:r>
            <a:r>
              <a:rPr lang="en-US" altLang="en-US" dirty="0"/>
              <a:t> </a:t>
            </a:r>
            <a:r>
              <a:rPr lang="en-US" altLang="en-US" b="0" dirty="0"/>
              <a:t>Don</a:t>
            </a:r>
            <a:r>
              <a:rPr lang="ja-JP" altLang="en-US" b="0" dirty="0"/>
              <a:t>’</a:t>
            </a:r>
            <a:r>
              <a:rPr lang="en-US" altLang="ja-JP" b="0" dirty="0"/>
              <a:t>t approve changes without a 3P review.</a:t>
            </a:r>
          </a:p>
          <a:p>
            <a:pPr marL="342900" indent="-342900"/>
            <a:r>
              <a:rPr lang="en-US" altLang="en-US" b="1" dirty="0"/>
              <a:t>Significant changes in volume.</a:t>
            </a:r>
            <a:r>
              <a:rPr lang="en-US" altLang="en-US" dirty="0"/>
              <a:t> </a:t>
            </a:r>
            <a:r>
              <a:rPr lang="en-US" altLang="en-US" b="0" dirty="0"/>
              <a:t>If you didn't design the process Lean, here's a second chance.</a:t>
            </a:r>
          </a:p>
          <a:p>
            <a:pPr marL="342900" indent="-342900"/>
            <a:r>
              <a:rPr lang="en-US" altLang="en-US" b="1" dirty="0"/>
              <a:t>Relocation of processes.</a:t>
            </a:r>
            <a:r>
              <a:rPr lang="en-US" altLang="en-US" dirty="0"/>
              <a:t> </a:t>
            </a:r>
            <a:r>
              <a:rPr lang="en-US" altLang="en-US" b="0" dirty="0"/>
              <a:t>If you're going to pick it up and move it anyway, you might as well Lean it out first.</a:t>
            </a:r>
          </a:p>
          <a:p>
            <a:pPr marL="342900" indent="-342900"/>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2063235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5" descr="C:\Users\User\Pictures\My Pictures\ALIBRARY\Bought Stock\iStock_000005735314Small.jpg">
            <a:extLst>
              <a:ext uri="{FF2B5EF4-FFF2-40B4-BE49-F238E27FC236}">
                <a16:creationId xmlns:a16="http://schemas.microsoft.com/office/drawing/2014/main" id="{9020E11A-32DE-7C80-E59A-CE9C8148F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7978" y="3726168"/>
            <a:ext cx="2527300"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Benefits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Increased sales – extended product life cycle, early adopters increased early stage pricing</a:t>
            </a:r>
          </a:p>
          <a:p>
            <a:r>
              <a:rPr lang="en-US" altLang="en-US" dirty="0"/>
              <a:t>First to market – increase chances of competitor lock-out</a:t>
            </a:r>
          </a:p>
          <a:p>
            <a:r>
              <a:rPr lang="en-US" altLang="en-US" dirty="0"/>
              <a:t>Enhance market image as innovative producer</a:t>
            </a:r>
          </a:p>
          <a:p>
            <a:r>
              <a:rPr lang="en-US" altLang="en-US" dirty="0"/>
              <a:t>Improved product performance</a:t>
            </a:r>
          </a:p>
          <a:p>
            <a:r>
              <a:rPr lang="en-US" altLang="en-US" dirty="0"/>
              <a:t>Reduced production cost – product and capital required</a:t>
            </a:r>
          </a:p>
          <a:p>
            <a:r>
              <a:rPr lang="en-US" altLang="en-US" dirty="0"/>
              <a:t>Reduced development costs</a:t>
            </a:r>
          </a:p>
          <a:p>
            <a:r>
              <a:rPr lang="en-US" altLang="en-US" dirty="0"/>
              <a:t>Increases profitability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1469357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Prerequisites for successful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Organizational lean maturity</a:t>
            </a:r>
          </a:p>
          <a:p>
            <a:r>
              <a:rPr lang="en-US" altLang="en-US" dirty="0"/>
              <a:t>Strategic alignment and VOC</a:t>
            </a:r>
          </a:p>
          <a:p>
            <a:r>
              <a:rPr lang="en-US" altLang="en-US" dirty="0"/>
              <a:t>Follow kaizen guidelines</a:t>
            </a:r>
          </a:p>
          <a:p>
            <a:r>
              <a:rPr lang="en-US" altLang="en-US" dirty="0"/>
              <a:t>Cross-functional associate involvement</a:t>
            </a:r>
          </a:p>
          <a:p>
            <a:r>
              <a:rPr lang="en-US" altLang="en-US" dirty="0"/>
              <a:t>Adequate mechanical and design capabilities</a:t>
            </a:r>
          </a:p>
          <a:p>
            <a:r>
              <a:rPr lang="en-US" altLang="en-US" dirty="0"/>
              <a:t>Establish 3P Lab with supplies and staff</a:t>
            </a:r>
          </a:p>
          <a:p>
            <a:r>
              <a:rPr lang="en-US" altLang="en-US" dirty="0"/>
              <a:t>Leadership sponsorship</a:t>
            </a:r>
          </a:p>
          <a:p>
            <a:r>
              <a:rPr lang="en-US" altLang="en-US" dirty="0"/>
              <a:t>Willingness to be revolutionary</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2414822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fontScale="90000"/>
          </a:bodyPr>
          <a:lstStyle/>
          <a:p>
            <a:r>
              <a:rPr lang="en-US" altLang="en-US" dirty="0"/>
              <a:t>80% of Product Cost Built-in at Design Stage</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4739640" cy="4351338"/>
          </a:xfrm>
        </p:spPr>
        <p:txBody>
          <a:bodyPr>
            <a:normAutofit/>
          </a:bodyPr>
          <a:lstStyle/>
          <a:p>
            <a:r>
              <a:rPr lang="en-US" altLang="en-US" dirty="0"/>
              <a:t>Studies of over 5000 products by several companies reveal:</a:t>
            </a:r>
          </a:p>
          <a:p>
            <a:pPr lvl="1"/>
            <a:r>
              <a:rPr lang="en-US" altLang="en-US" dirty="0"/>
              <a:t>McKinsey 75%</a:t>
            </a:r>
          </a:p>
          <a:p>
            <a:pPr lvl="1"/>
            <a:r>
              <a:rPr lang="en-US" altLang="en-US" dirty="0"/>
              <a:t>BA Systems 85%</a:t>
            </a:r>
          </a:p>
          <a:p>
            <a:pPr lvl="1"/>
            <a:r>
              <a:rPr lang="en-US" altLang="en-US" dirty="0"/>
              <a:t>Rolls Royce 80%</a:t>
            </a:r>
          </a:p>
          <a:p>
            <a:pPr lvl="1"/>
            <a:r>
              <a:rPr lang="en-US" altLang="en-US" dirty="0"/>
              <a:t>Ford 80%</a:t>
            </a:r>
          </a:p>
          <a:p>
            <a:pPr lvl="1"/>
            <a:r>
              <a:rPr lang="en-US" altLang="en-US" dirty="0"/>
              <a:t>GM 80%</a:t>
            </a:r>
          </a:p>
          <a:p>
            <a:pPr lvl="1"/>
            <a:r>
              <a:rPr lang="en-US" altLang="en-US" dirty="0"/>
              <a:t>Westinghouse 80%</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pSp>
        <p:nvGrpSpPr>
          <p:cNvPr id="30" name="Group 29">
            <a:extLst>
              <a:ext uri="{FF2B5EF4-FFF2-40B4-BE49-F238E27FC236}">
                <a16:creationId xmlns:a16="http://schemas.microsoft.com/office/drawing/2014/main" id="{DAF9D74A-D37F-01F1-9232-1A8346CB2F5F}"/>
              </a:ext>
            </a:extLst>
          </p:cNvPr>
          <p:cNvGrpSpPr/>
          <p:nvPr/>
        </p:nvGrpSpPr>
        <p:grpSpPr>
          <a:xfrm>
            <a:off x="6169433" y="1825625"/>
            <a:ext cx="4114394" cy="4478338"/>
            <a:chOff x="6077993" y="1854810"/>
            <a:chExt cx="4114394" cy="4478338"/>
          </a:xfrm>
        </p:grpSpPr>
        <p:sp>
          <p:nvSpPr>
            <p:cNvPr id="14" name="TextBox 18">
              <a:extLst>
                <a:ext uri="{FF2B5EF4-FFF2-40B4-BE49-F238E27FC236}">
                  <a16:creationId xmlns:a16="http://schemas.microsoft.com/office/drawing/2014/main" id="{CAD6B1A6-D2C2-99EA-8C08-28B0359B931E}"/>
                </a:ext>
              </a:extLst>
            </p:cNvPr>
            <p:cNvSpPr txBox="1">
              <a:spLocks noChangeArrowheads="1"/>
            </p:cNvSpPr>
            <p:nvPr/>
          </p:nvSpPr>
          <p:spPr bwMode="auto">
            <a:xfrm rot="16200000">
              <a:off x="5014882" y="3724498"/>
              <a:ext cx="240322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Life Time Product Cost     Cum%</a:t>
              </a:r>
            </a:p>
          </p:txBody>
        </p:sp>
        <p:sp>
          <p:nvSpPr>
            <p:cNvPr id="15" name="TextBox 19">
              <a:extLst>
                <a:ext uri="{FF2B5EF4-FFF2-40B4-BE49-F238E27FC236}">
                  <a16:creationId xmlns:a16="http://schemas.microsoft.com/office/drawing/2014/main" id="{4B9F1710-5DE3-CB6F-186E-9850EDDBCB58}"/>
                </a:ext>
              </a:extLst>
            </p:cNvPr>
            <p:cNvSpPr txBox="1">
              <a:spLocks noChangeArrowheads="1"/>
            </p:cNvSpPr>
            <p:nvPr/>
          </p:nvSpPr>
          <p:spPr bwMode="auto">
            <a:xfrm>
              <a:off x="6626862" y="6055335"/>
              <a:ext cx="356552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GB" altLang="en-US" sz="1200" dirty="0">
                  <a:latin typeface="Roboto" panose="02000000000000000000" pitchFamily="2" charset="0"/>
                  <a:ea typeface="Roboto" panose="02000000000000000000" pitchFamily="2" charset="0"/>
                </a:rPr>
                <a:t>Concept           Design        Production        Use</a:t>
              </a:r>
            </a:p>
          </p:txBody>
        </p:sp>
        <p:sp>
          <p:nvSpPr>
            <p:cNvPr id="16" name="Freeform 7">
              <a:extLst>
                <a:ext uri="{FF2B5EF4-FFF2-40B4-BE49-F238E27FC236}">
                  <a16:creationId xmlns:a16="http://schemas.microsoft.com/office/drawing/2014/main" id="{F07C1B3F-0EE8-F00D-AD9C-836E6E6A4978}"/>
                </a:ext>
              </a:extLst>
            </p:cNvPr>
            <p:cNvSpPr>
              <a:spLocks noChangeArrowheads="1"/>
            </p:cNvSpPr>
            <p:nvPr/>
          </p:nvSpPr>
          <p:spPr bwMode="auto">
            <a:xfrm>
              <a:off x="6614162" y="1854810"/>
              <a:ext cx="3517900" cy="4214813"/>
            </a:xfrm>
            <a:custGeom>
              <a:avLst/>
              <a:gdLst>
                <a:gd name="T0" fmla="*/ 0 w 3799840"/>
                <a:gd name="T1" fmla="*/ 0 h 2377440"/>
                <a:gd name="T2" fmla="*/ 0 w 3799840"/>
                <a:gd name="T3" fmla="*/ 2147483646 h 2377440"/>
                <a:gd name="T4" fmla="*/ 1397207 w 3799840"/>
                <a:gd name="T5" fmla="*/ 2147483646 h 2377440"/>
                <a:gd name="T6" fmla="*/ 1397207 w 3799840"/>
                <a:gd name="T7" fmla="*/ 2147483646 h 2377440"/>
                <a:gd name="T8" fmla="*/ 0 60000 65536"/>
                <a:gd name="T9" fmla="*/ 0 60000 65536"/>
                <a:gd name="T10" fmla="*/ 0 60000 65536"/>
                <a:gd name="T11" fmla="*/ 0 60000 65536"/>
                <a:gd name="T12" fmla="*/ 0 w 3799840"/>
                <a:gd name="T13" fmla="*/ 0 h 2377440"/>
                <a:gd name="T14" fmla="*/ 3799840 w 3799840"/>
                <a:gd name="T15" fmla="*/ 2377440 h 2377440"/>
              </a:gdLst>
              <a:ahLst/>
              <a:cxnLst>
                <a:cxn ang="T8">
                  <a:pos x="T0" y="T1"/>
                </a:cxn>
                <a:cxn ang="T9">
                  <a:pos x="T2" y="T3"/>
                </a:cxn>
                <a:cxn ang="T10">
                  <a:pos x="T4" y="T5"/>
                </a:cxn>
                <a:cxn ang="T11">
                  <a:pos x="T6" y="T7"/>
                </a:cxn>
              </a:cxnLst>
              <a:rect l="T12" t="T13" r="T14" b="T15"/>
              <a:pathLst>
                <a:path w="3799840" h="2377440">
                  <a:moveTo>
                    <a:pt x="0" y="0"/>
                  </a:moveTo>
                  <a:lnTo>
                    <a:pt x="0" y="2377440"/>
                  </a:lnTo>
                  <a:lnTo>
                    <a:pt x="3799840" y="2377440"/>
                  </a:lnTo>
                </a:path>
              </a:pathLst>
            </a:custGeom>
            <a:noFill/>
            <a:ln w="19050" cap="sq">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CA0A72BF-2002-5FAB-021C-85521566BC43}"/>
                </a:ext>
              </a:extLst>
            </p:cNvPr>
            <p:cNvSpPr txBox="1"/>
            <p:nvPr/>
          </p:nvSpPr>
          <p:spPr>
            <a:xfrm>
              <a:off x="6241100" y="2110398"/>
              <a:ext cx="420687" cy="261937"/>
            </a:xfrm>
            <a:prstGeom prst="rect">
              <a:avLst/>
            </a:prstGeom>
            <a:noFill/>
          </p:spPr>
          <p:txBody>
            <a:bodyPr wrap="none">
              <a:spAutoFit/>
            </a:bodyPr>
            <a:lstStyle/>
            <a:p>
              <a:pPr algn="ctr">
                <a:spcBef>
                  <a:spcPts val="0"/>
                </a:spcBef>
                <a:defRPr/>
              </a:pPr>
              <a:r>
                <a:rPr lang="en-GB" sz="1050" dirty="0">
                  <a:solidFill>
                    <a:schemeClr val="tx1"/>
                  </a:solidFill>
                  <a:latin typeface="Roboto" panose="02000000000000000000" pitchFamily="2" charset="0"/>
                  <a:ea typeface="Roboto" panose="02000000000000000000" pitchFamily="2" charset="0"/>
                </a:rPr>
                <a:t>100</a:t>
              </a:r>
            </a:p>
          </p:txBody>
        </p:sp>
        <p:sp>
          <p:nvSpPr>
            <p:cNvPr id="18" name="TextBox 17">
              <a:extLst>
                <a:ext uri="{FF2B5EF4-FFF2-40B4-BE49-F238E27FC236}">
                  <a16:creationId xmlns:a16="http://schemas.microsoft.com/office/drawing/2014/main" id="{672ACE1A-C005-EB9E-5E42-CA048CF4258D}"/>
                </a:ext>
              </a:extLst>
            </p:cNvPr>
            <p:cNvSpPr txBox="1"/>
            <p:nvPr/>
          </p:nvSpPr>
          <p:spPr>
            <a:xfrm>
              <a:off x="6326825" y="2869223"/>
              <a:ext cx="334962" cy="254000"/>
            </a:xfrm>
            <a:prstGeom prst="rect">
              <a:avLst/>
            </a:prstGeom>
            <a:noFill/>
          </p:spPr>
          <p:txBody>
            <a:bodyPr wrap="none">
              <a:spAutoFit/>
            </a:bodyPr>
            <a:lstStyle/>
            <a:p>
              <a:pPr algn="ctr">
                <a:spcBef>
                  <a:spcPts val="0"/>
                </a:spcBef>
                <a:defRPr/>
              </a:pPr>
              <a:r>
                <a:rPr lang="en-GB" sz="1050" dirty="0">
                  <a:solidFill>
                    <a:schemeClr val="tx1"/>
                  </a:solidFill>
                  <a:latin typeface="Roboto" panose="02000000000000000000" pitchFamily="2" charset="0"/>
                  <a:ea typeface="Roboto" panose="02000000000000000000" pitchFamily="2" charset="0"/>
                </a:rPr>
                <a:t>80</a:t>
              </a:r>
            </a:p>
          </p:txBody>
        </p:sp>
        <p:sp>
          <p:nvSpPr>
            <p:cNvPr id="19" name="TextBox 18">
              <a:extLst>
                <a:ext uri="{FF2B5EF4-FFF2-40B4-BE49-F238E27FC236}">
                  <a16:creationId xmlns:a16="http://schemas.microsoft.com/office/drawing/2014/main" id="{CE76E163-D9C0-C630-4BC3-748F1711CC56}"/>
                </a:ext>
              </a:extLst>
            </p:cNvPr>
            <p:cNvSpPr txBox="1"/>
            <p:nvPr/>
          </p:nvSpPr>
          <p:spPr>
            <a:xfrm>
              <a:off x="6326825" y="3620110"/>
              <a:ext cx="334962" cy="254000"/>
            </a:xfrm>
            <a:prstGeom prst="rect">
              <a:avLst/>
            </a:prstGeom>
            <a:noFill/>
          </p:spPr>
          <p:txBody>
            <a:bodyPr wrap="none">
              <a:spAutoFit/>
            </a:bodyPr>
            <a:lstStyle/>
            <a:p>
              <a:pPr algn="ctr">
                <a:spcBef>
                  <a:spcPts val="0"/>
                </a:spcBef>
                <a:defRPr/>
              </a:pPr>
              <a:r>
                <a:rPr lang="en-GB" sz="1050" dirty="0">
                  <a:solidFill>
                    <a:schemeClr val="tx1"/>
                  </a:solidFill>
                  <a:latin typeface="Roboto" panose="02000000000000000000" pitchFamily="2" charset="0"/>
                  <a:ea typeface="Roboto" panose="02000000000000000000" pitchFamily="2" charset="0"/>
                </a:rPr>
                <a:t>60</a:t>
              </a:r>
            </a:p>
          </p:txBody>
        </p:sp>
        <p:sp>
          <p:nvSpPr>
            <p:cNvPr id="20" name="TextBox 19">
              <a:extLst>
                <a:ext uri="{FF2B5EF4-FFF2-40B4-BE49-F238E27FC236}">
                  <a16:creationId xmlns:a16="http://schemas.microsoft.com/office/drawing/2014/main" id="{0505C025-0456-25D3-4C52-417EA1D6E5E6}"/>
                </a:ext>
              </a:extLst>
            </p:cNvPr>
            <p:cNvSpPr txBox="1"/>
            <p:nvPr/>
          </p:nvSpPr>
          <p:spPr>
            <a:xfrm>
              <a:off x="6326825" y="4370998"/>
              <a:ext cx="334962" cy="254000"/>
            </a:xfrm>
            <a:prstGeom prst="rect">
              <a:avLst/>
            </a:prstGeom>
            <a:noFill/>
          </p:spPr>
          <p:txBody>
            <a:bodyPr wrap="none">
              <a:spAutoFit/>
            </a:bodyPr>
            <a:lstStyle/>
            <a:p>
              <a:pPr algn="ctr">
                <a:spcBef>
                  <a:spcPts val="0"/>
                </a:spcBef>
                <a:defRPr/>
              </a:pPr>
              <a:r>
                <a:rPr lang="en-GB" sz="1050" dirty="0">
                  <a:solidFill>
                    <a:schemeClr val="tx1"/>
                  </a:solidFill>
                  <a:latin typeface="Roboto" panose="02000000000000000000" pitchFamily="2" charset="0"/>
                  <a:ea typeface="Roboto" panose="02000000000000000000" pitchFamily="2" charset="0"/>
                </a:rPr>
                <a:t>40</a:t>
              </a:r>
            </a:p>
          </p:txBody>
        </p:sp>
        <p:sp>
          <p:nvSpPr>
            <p:cNvPr id="21" name="TextBox 20">
              <a:extLst>
                <a:ext uri="{FF2B5EF4-FFF2-40B4-BE49-F238E27FC236}">
                  <a16:creationId xmlns:a16="http://schemas.microsoft.com/office/drawing/2014/main" id="{5388635F-EBA3-B6AC-EB94-39ABF80E195E}"/>
                </a:ext>
              </a:extLst>
            </p:cNvPr>
            <p:cNvSpPr txBox="1"/>
            <p:nvPr/>
          </p:nvSpPr>
          <p:spPr>
            <a:xfrm>
              <a:off x="6326825" y="5121885"/>
              <a:ext cx="334962" cy="254000"/>
            </a:xfrm>
            <a:prstGeom prst="rect">
              <a:avLst/>
            </a:prstGeom>
            <a:noFill/>
          </p:spPr>
          <p:txBody>
            <a:bodyPr wrap="none">
              <a:spAutoFit/>
            </a:bodyPr>
            <a:lstStyle/>
            <a:p>
              <a:pPr algn="ctr">
                <a:spcBef>
                  <a:spcPts val="0"/>
                </a:spcBef>
                <a:defRPr/>
              </a:pPr>
              <a:r>
                <a:rPr lang="en-GB" sz="1050" dirty="0">
                  <a:solidFill>
                    <a:schemeClr val="tx1"/>
                  </a:solidFill>
                  <a:latin typeface="Roboto" panose="02000000000000000000" pitchFamily="2" charset="0"/>
                  <a:ea typeface="Roboto" panose="02000000000000000000" pitchFamily="2" charset="0"/>
                </a:rPr>
                <a:t>20</a:t>
              </a:r>
            </a:p>
          </p:txBody>
        </p:sp>
        <p:sp>
          <p:nvSpPr>
            <p:cNvPr id="22" name="TextBox 21">
              <a:extLst>
                <a:ext uri="{FF2B5EF4-FFF2-40B4-BE49-F238E27FC236}">
                  <a16:creationId xmlns:a16="http://schemas.microsoft.com/office/drawing/2014/main" id="{B2039460-D648-14C0-B0E9-5BD49E6A4844}"/>
                </a:ext>
              </a:extLst>
            </p:cNvPr>
            <p:cNvSpPr txBox="1"/>
            <p:nvPr/>
          </p:nvSpPr>
          <p:spPr>
            <a:xfrm>
              <a:off x="6401437" y="5872773"/>
              <a:ext cx="260350" cy="254000"/>
            </a:xfrm>
            <a:prstGeom prst="rect">
              <a:avLst/>
            </a:prstGeom>
            <a:noFill/>
          </p:spPr>
          <p:txBody>
            <a:bodyPr wrap="none">
              <a:spAutoFit/>
            </a:bodyPr>
            <a:lstStyle/>
            <a:p>
              <a:pPr algn="ctr">
                <a:spcBef>
                  <a:spcPts val="0"/>
                </a:spcBef>
                <a:defRPr/>
              </a:pPr>
              <a:r>
                <a:rPr lang="en-GB" sz="1050" dirty="0">
                  <a:solidFill>
                    <a:schemeClr val="tx1"/>
                  </a:solidFill>
                  <a:latin typeface="Roboto" panose="02000000000000000000" pitchFamily="2" charset="0"/>
                  <a:ea typeface="Roboto" panose="02000000000000000000" pitchFamily="2" charset="0"/>
                </a:rPr>
                <a:t>0</a:t>
              </a:r>
            </a:p>
          </p:txBody>
        </p:sp>
        <p:cxnSp>
          <p:nvCxnSpPr>
            <p:cNvPr id="23" name="Straight Connector 23">
              <a:extLst>
                <a:ext uri="{FF2B5EF4-FFF2-40B4-BE49-F238E27FC236}">
                  <a16:creationId xmlns:a16="http://schemas.microsoft.com/office/drawing/2014/main" id="{A9E57ECF-5751-E01C-4A0E-D4821FC02851}"/>
                </a:ext>
              </a:extLst>
            </p:cNvPr>
            <p:cNvCxnSpPr>
              <a:cxnSpLocks noChangeShapeType="1"/>
              <a:endCxn id="28" idx="1"/>
            </p:cNvCxnSpPr>
            <p:nvPr/>
          </p:nvCxnSpPr>
          <p:spPr bwMode="auto">
            <a:xfrm rot="5400000" flipH="1" flipV="1">
              <a:off x="6519706" y="4870266"/>
              <a:ext cx="2368550" cy="7938"/>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4" name="Straight Connector 25">
              <a:extLst>
                <a:ext uri="{FF2B5EF4-FFF2-40B4-BE49-F238E27FC236}">
                  <a16:creationId xmlns:a16="http://schemas.microsoft.com/office/drawing/2014/main" id="{5A9B6E44-6575-563D-07E8-8B0554B914D4}"/>
                </a:ext>
              </a:extLst>
            </p:cNvPr>
            <p:cNvCxnSpPr>
              <a:cxnSpLocks noChangeShapeType="1"/>
            </p:cNvCxnSpPr>
            <p:nvPr/>
          </p:nvCxnSpPr>
          <p:spPr bwMode="auto">
            <a:xfrm rot="16200000" flipV="1">
              <a:off x="6797519" y="4535304"/>
              <a:ext cx="3046412"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5" name="Straight Connector 27">
              <a:extLst>
                <a:ext uri="{FF2B5EF4-FFF2-40B4-BE49-F238E27FC236}">
                  <a16:creationId xmlns:a16="http://schemas.microsoft.com/office/drawing/2014/main" id="{14720FD1-49A4-83E4-87FE-EE8824F8C789}"/>
                </a:ext>
              </a:extLst>
            </p:cNvPr>
            <p:cNvCxnSpPr>
              <a:cxnSpLocks noChangeShapeType="1"/>
            </p:cNvCxnSpPr>
            <p:nvPr/>
          </p:nvCxnSpPr>
          <p:spPr bwMode="auto">
            <a:xfrm rot="5400000" flipH="1" flipV="1">
              <a:off x="7824631" y="4195579"/>
              <a:ext cx="3724275" cy="158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26" name="TextBox 36">
              <a:extLst>
                <a:ext uri="{FF2B5EF4-FFF2-40B4-BE49-F238E27FC236}">
                  <a16:creationId xmlns:a16="http://schemas.microsoft.com/office/drawing/2014/main" id="{A50811BF-9E94-ED17-2A52-688E854F2BF8}"/>
                </a:ext>
              </a:extLst>
            </p:cNvPr>
            <p:cNvSpPr txBox="1">
              <a:spLocks noChangeArrowheads="1"/>
            </p:cNvSpPr>
            <p:nvPr/>
          </p:nvSpPr>
          <p:spPr bwMode="auto">
            <a:xfrm rot="21037966">
              <a:off x="7045161" y="5630843"/>
              <a:ext cx="11176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100">
                  <a:latin typeface="Roboto" panose="02000000000000000000" pitchFamily="2" charset="0"/>
                  <a:ea typeface="Roboto" panose="02000000000000000000" pitchFamily="2" charset="0"/>
                </a:rPr>
                <a:t>Incurred Costs</a:t>
              </a:r>
            </a:p>
          </p:txBody>
        </p:sp>
        <p:sp>
          <p:nvSpPr>
            <p:cNvPr id="27" name="TextBox 36">
              <a:extLst>
                <a:ext uri="{FF2B5EF4-FFF2-40B4-BE49-F238E27FC236}">
                  <a16:creationId xmlns:a16="http://schemas.microsoft.com/office/drawing/2014/main" id="{DE6FD0FF-D069-E205-CAC6-6C05CE3042E5}"/>
                </a:ext>
              </a:extLst>
            </p:cNvPr>
            <p:cNvSpPr txBox="1">
              <a:spLocks noChangeArrowheads="1"/>
            </p:cNvSpPr>
            <p:nvPr/>
          </p:nvSpPr>
          <p:spPr bwMode="auto">
            <a:xfrm rot="18705023">
              <a:off x="7189127" y="3094018"/>
              <a:ext cx="12202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100">
                  <a:latin typeface="Roboto" panose="02000000000000000000" pitchFamily="2" charset="0"/>
                  <a:ea typeface="Roboto" panose="02000000000000000000" pitchFamily="2" charset="0"/>
                </a:rPr>
                <a:t>Committed Cost</a:t>
              </a:r>
            </a:p>
          </p:txBody>
        </p:sp>
        <p:sp>
          <p:nvSpPr>
            <p:cNvPr id="28" name="Freeform 47">
              <a:extLst>
                <a:ext uri="{FF2B5EF4-FFF2-40B4-BE49-F238E27FC236}">
                  <a16:creationId xmlns:a16="http://schemas.microsoft.com/office/drawing/2014/main" id="{3B81D099-F426-2435-9C3F-88775209B5B9}"/>
                </a:ext>
              </a:extLst>
            </p:cNvPr>
            <p:cNvSpPr>
              <a:spLocks noChangeArrowheads="1"/>
            </p:cNvSpPr>
            <p:nvPr/>
          </p:nvSpPr>
          <p:spPr bwMode="auto">
            <a:xfrm>
              <a:off x="6620512" y="2300898"/>
              <a:ext cx="3346450" cy="3765550"/>
            </a:xfrm>
            <a:custGeom>
              <a:avLst/>
              <a:gdLst>
                <a:gd name="T0" fmla="*/ 0 w 3345628"/>
                <a:gd name="T1" fmla="*/ 3144918 h 3851238"/>
                <a:gd name="T2" fmla="*/ 1088658 w 3345628"/>
                <a:gd name="T3" fmla="*/ 1159580 h 3851238"/>
                <a:gd name="T4" fmla="*/ 2220429 w 3345628"/>
                <a:gd name="T5" fmla="*/ 263540 h 3851238"/>
                <a:gd name="T6" fmla="*/ 3352207 w 3345628"/>
                <a:gd name="T7" fmla="*/ 0 h 3851238"/>
                <a:gd name="T8" fmla="*/ 0 60000 65536"/>
                <a:gd name="T9" fmla="*/ 0 60000 65536"/>
                <a:gd name="T10" fmla="*/ 0 60000 65536"/>
                <a:gd name="T11" fmla="*/ 0 60000 65536"/>
                <a:gd name="T12" fmla="*/ 0 w 3345628"/>
                <a:gd name="T13" fmla="*/ 0 h 3851238"/>
                <a:gd name="T14" fmla="*/ 3345628 w 3345628"/>
                <a:gd name="T15" fmla="*/ 3851238 h 3851238"/>
              </a:gdLst>
              <a:ahLst/>
              <a:cxnLst>
                <a:cxn ang="T8">
                  <a:pos x="T0" y="T1"/>
                </a:cxn>
                <a:cxn ang="T9">
                  <a:pos x="T2" y="T3"/>
                </a:cxn>
                <a:cxn ang="T10">
                  <a:pos x="T4" y="T5"/>
                </a:cxn>
                <a:cxn ang="T11">
                  <a:pos x="T6" y="T7"/>
                </a:cxn>
              </a:cxnLst>
              <a:rect l="T12" t="T13" r="T14" b="T15"/>
              <a:pathLst>
                <a:path w="3345628" h="3851238">
                  <a:moveTo>
                    <a:pt x="0" y="3851238"/>
                  </a:moveTo>
                  <a:cubicBezTo>
                    <a:pt x="358588" y="2929666"/>
                    <a:pt x="717176" y="2008094"/>
                    <a:pt x="1086522" y="1420009"/>
                  </a:cubicBezTo>
                  <a:cubicBezTo>
                    <a:pt x="1455868" y="831924"/>
                    <a:pt x="1839557" y="559397"/>
                    <a:pt x="2216075" y="322729"/>
                  </a:cubicBezTo>
                  <a:cubicBezTo>
                    <a:pt x="2592593" y="86061"/>
                    <a:pt x="2969110" y="43030"/>
                    <a:pt x="3345628" y="0"/>
                  </a:cubicBezTo>
                </a:path>
              </a:pathLst>
            </a:custGeom>
            <a:noFill/>
            <a:ln w="38100" cap="sq">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latin typeface="Roboto" panose="02000000000000000000" pitchFamily="2" charset="0"/>
                <a:ea typeface="Roboto" panose="02000000000000000000" pitchFamily="2" charset="0"/>
              </a:endParaRPr>
            </a:p>
          </p:txBody>
        </p:sp>
        <p:sp>
          <p:nvSpPr>
            <p:cNvPr id="29" name="Freeform 57">
              <a:extLst>
                <a:ext uri="{FF2B5EF4-FFF2-40B4-BE49-F238E27FC236}">
                  <a16:creationId xmlns:a16="http://schemas.microsoft.com/office/drawing/2014/main" id="{14C8CEC4-C767-1F4A-9569-AF15BE11E27B}"/>
                </a:ext>
              </a:extLst>
            </p:cNvPr>
            <p:cNvSpPr>
              <a:spLocks noChangeArrowheads="1"/>
            </p:cNvSpPr>
            <p:nvPr/>
          </p:nvSpPr>
          <p:spPr bwMode="auto">
            <a:xfrm>
              <a:off x="6620512" y="2334235"/>
              <a:ext cx="3076575" cy="3721100"/>
            </a:xfrm>
            <a:custGeom>
              <a:avLst/>
              <a:gdLst>
                <a:gd name="T0" fmla="*/ 0 w 3076687"/>
                <a:gd name="T1" fmla="*/ 3713783 h 3722146"/>
                <a:gd name="T2" fmla="*/ 1075454 w 3076687"/>
                <a:gd name="T3" fmla="*/ 3563512 h 3722146"/>
                <a:gd name="T4" fmla="*/ 1699219 w 3076687"/>
                <a:gd name="T5" fmla="*/ 3423982 h 3722146"/>
                <a:gd name="T6" fmla="*/ 3075791 w 3076687"/>
                <a:gd name="T7" fmla="*/ 0 h 3722146"/>
                <a:gd name="T8" fmla="*/ 0 60000 65536"/>
                <a:gd name="T9" fmla="*/ 0 60000 65536"/>
                <a:gd name="T10" fmla="*/ 0 60000 65536"/>
                <a:gd name="T11" fmla="*/ 0 60000 65536"/>
                <a:gd name="T12" fmla="*/ 0 w 3076687"/>
                <a:gd name="T13" fmla="*/ 0 h 3722146"/>
                <a:gd name="T14" fmla="*/ 3076687 w 3076687"/>
                <a:gd name="T15" fmla="*/ 3722146 h 3722146"/>
              </a:gdLst>
              <a:ahLst/>
              <a:cxnLst>
                <a:cxn ang="T8">
                  <a:pos x="T0" y="T1"/>
                </a:cxn>
                <a:cxn ang="T9">
                  <a:pos x="T2" y="T3"/>
                </a:cxn>
                <a:cxn ang="T10">
                  <a:pos x="T4" y="T5"/>
                </a:cxn>
                <a:cxn ang="T11">
                  <a:pos x="T6" y="T7"/>
                </a:cxn>
              </a:cxnLst>
              <a:rect l="T12" t="T13" r="T14" b="T15"/>
              <a:pathLst>
                <a:path w="3076687" h="3722146">
                  <a:moveTo>
                    <a:pt x="0" y="3722146"/>
                  </a:moveTo>
                  <a:lnTo>
                    <a:pt x="1075765" y="3571539"/>
                  </a:lnTo>
                  <a:lnTo>
                    <a:pt x="1699708" y="3431690"/>
                  </a:lnTo>
                  <a:lnTo>
                    <a:pt x="3076687" y="0"/>
                  </a:lnTo>
                </a:path>
              </a:pathLst>
            </a:custGeom>
            <a:noFill/>
            <a:ln w="19050" cap="sq">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859434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dirty="0"/>
              <a:t>Project Resource Levels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4739640" cy="4351338"/>
          </a:xfrm>
        </p:spPr>
        <p:txBody>
          <a:bodyPr>
            <a:normAutofit fontScale="92500" lnSpcReduction="20000"/>
          </a:bodyPr>
          <a:lstStyle/>
          <a:p>
            <a:r>
              <a:rPr lang="en-GB" altLang="en-US" dirty="0"/>
              <a:t>3P resourcing focuses more effort early in the process for alternatives and better planning</a:t>
            </a:r>
          </a:p>
          <a:p>
            <a:r>
              <a:rPr lang="en-GB" altLang="en-US" dirty="0"/>
              <a:t>Typical resourcing assumes project will proceed to plan with no unforeseen problems but often results in additional unplanned resources required to finish project on time</a:t>
            </a:r>
          </a:p>
          <a:p>
            <a:r>
              <a:rPr lang="en-GB" altLang="en-US" dirty="0"/>
              <a:t>Area under each curve is a measure of cost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pSp>
        <p:nvGrpSpPr>
          <p:cNvPr id="81" name="Group 80">
            <a:extLst>
              <a:ext uri="{FF2B5EF4-FFF2-40B4-BE49-F238E27FC236}">
                <a16:creationId xmlns:a16="http://schemas.microsoft.com/office/drawing/2014/main" id="{FC1A6AA9-0859-85B9-6A26-F6B0FA719D93}"/>
              </a:ext>
            </a:extLst>
          </p:cNvPr>
          <p:cNvGrpSpPr/>
          <p:nvPr/>
        </p:nvGrpSpPr>
        <p:grpSpPr>
          <a:xfrm>
            <a:off x="6014938" y="1837510"/>
            <a:ext cx="5426492" cy="4485560"/>
            <a:chOff x="467298" y="1640680"/>
            <a:chExt cx="4549202" cy="4340792"/>
          </a:xfrm>
        </p:grpSpPr>
        <p:pic>
          <p:nvPicPr>
            <p:cNvPr id="55" name="Picture 27" descr="C:\Users\Administrator\Documents\curve.gif">
              <a:extLst>
                <a:ext uri="{FF2B5EF4-FFF2-40B4-BE49-F238E27FC236}">
                  <a16:creationId xmlns:a16="http://schemas.microsoft.com/office/drawing/2014/main" id="{5EFE7343-AC0E-7750-5CD0-5CBF6445F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6900" y="3362325"/>
              <a:ext cx="117157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Freeform 12">
              <a:extLst>
                <a:ext uri="{FF2B5EF4-FFF2-40B4-BE49-F238E27FC236}">
                  <a16:creationId xmlns:a16="http://schemas.microsoft.com/office/drawing/2014/main" id="{A2E9725F-46F2-053F-81C3-20B56BE4FFCE}"/>
                </a:ext>
              </a:extLst>
            </p:cNvPr>
            <p:cNvSpPr>
              <a:spLocks noChangeArrowheads="1"/>
            </p:cNvSpPr>
            <p:nvPr/>
          </p:nvSpPr>
          <p:spPr bwMode="auto">
            <a:xfrm>
              <a:off x="736600" y="2716213"/>
              <a:ext cx="2784475" cy="1706562"/>
            </a:xfrm>
            <a:custGeom>
              <a:avLst/>
              <a:gdLst>
                <a:gd name="T0" fmla="*/ 0 w 2783840"/>
                <a:gd name="T1" fmla="*/ 1699278 h 1706880"/>
                <a:gd name="T2" fmla="*/ 1471069 w 2783840"/>
                <a:gd name="T3" fmla="*/ 0 h 1706880"/>
                <a:gd name="T4" fmla="*/ 2799108 w 2783840"/>
                <a:gd name="T5" fmla="*/ 1699278 h 1706880"/>
                <a:gd name="T6" fmla="*/ 0 60000 65536"/>
                <a:gd name="T7" fmla="*/ 0 60000 65536"/>
                <a:gd name="T8" fmla="*/ 0 60000 65536"/>
                <a:gd name="T9" fmla="*/ 0 w 2783840"/>
                <a:gd name="T10" fmla="*/ 0 h 1706880"/>
                <a:gd name="T11" fmla="*/ 2783840 w 2783840"/>
                <a:gd name="T12" fmla="*/ 1706880 h 1706880"/>
              </a:gdLst>
              <a:ahLst/>
              <a:cxnLst>
                <a:cxn ang="T6">
                  <a:pos x="T0" y="T1"/>
                </a:cxn>
                <a:cxn ang="T7">
                  <a:pos x="T2" y="T3"/>
                </a:cxn>
                <a:cxn ang="T8">
                  <a:pos x="T4" y="T5"/>
                </a:cxn>
              </a:cxnLst>
              <a:rect l="T9" t="T10" r="T11" b="T12"/>
              <a:pathLst>
                <a:path w="2783840" h="1706880">
                  <a:moveTo>
                    <a:pt x="0" y="1706880"/>
                  </a:moveTo>
                  <a:cubicBezTo>
                    <a:pt x="499533" y="853440"/>
                    <a:pt x="999067" y="0"/>
                    <a:pt x="1463040" y="0"/>
                  </a:cubicBezTo>
                  <a:cubicBezTo>
                    <a:pt x="1927013" y="0"/>
                    <a:pt x="2355426" y="853440"/>
                    <a:pt x="2783840" y="1706880"/>
                  </a:cubicBezTo>
                </a:path>
              </a:pathLst>
            </a:custGeom>
            <a:solidFill>
              <a:srgbClr val="92D050"/>
            </a:solidFill>
            <a:ln w="12700" cap="sq">
              <a:solidFill>
                <a:schemeClr val="tx1"/>
              </a:solidFill>
              <a:round/>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57" name="Freeform 17">
              <a:extLst>
                <a:ext uri="{FF2B5EF4-FFF2-40B4-BE49-F238E27FC236}">
                  <a16:creationId xmlns:a16="http://schemas.microsoft.com/office/drawing/2014/main" id="{C935172A-D414-7F45-AB78-068E1602AB16}"/>
                </a:ext>
              </a:extLst>
            </p:cNvPr>
            <p:cNvSpPr>
              <a:spLocks noChangeArrowheads="1"/>
            </p:cNvSpPr>
            <p:nvPr/>
          </p:nvSpPr>
          <p:spPr bwMode="auto">
            <a:xfrm>
              <a:off x="3141663" y="3292475"/>
              <a:ext cx="1146175" cy="1119188"/>
            </a:xfrm>
            <a:custGeom>
              <a:avLst/>
              <a:gdLst>
                <a:gd name="T0" fmla="*/ 0 w 1534160"/>
                <a:gd name="T1" fmla="*/ 3041 h 2052320"/>
                <a:gd name="T2" fmla="*/ 16114 w 1534160"/>
                <a:gd name="T3" fmla="*/ 3302 h 2052320"/>
                <a:gd name="T4" fmla="*/ 51272 w 1534160"/>
                <a:gd name="T5" fmla="*/ 912 h 2052320"/>
                <a:gd name="T6" fmla="*/ 110601 w 1534160"/>
                <a:gd name="T7" fmla="*/ 8777 h 2052320"/>
                <a:gd name="T8" fmla="*/ 0 60000 65536"/>
                <a:gd name="T9" fmla="*/ 0 60000 65536"/>
                <a:gd name="T10" fmla="*/ 0 60000 65536"/>
                <a:gd name="T11" fmla="*/ 0 60000 65536"/>
                <a:gd name="T12" fmla="*/ 0 w 1534160"/>
                <a:gd name="T13" fmla="*/ 0 h 2052320"/>
                <a:gd name="T14" fmla="*/ 1534160 w 1534160"/>
                <a:gd name="T15" fmla="*/ 2052320 h 2052320"/>
              </a:gdLst>
              <a:ahLst/>
              <a:cxnLst>
                <a:cxn ang="T8">
                  <a:pos x="T0" y="T1"/>
                </a:cxn>
                <a:cxn ang="T9">
                  <a:pos x="T2" y="T3"/>
                </a:cxn>
                <a:cxn ang="T10">
                  <a:pos x="T4" y="T5"/>
                </a:cxn>
                <a:cxn ang="T11">
                  <a:pos x="T6" y="T7"/>
                </a:cxn>
              </a:cxnLst>
              <a:rect l="T12" t="T13" r="T14" b="T15"/>
              <a:pathLst>
                <a:path w="1534160" h="2052320">
                  <a:moveTo>
                    <a:pt x="0" y="711200"/>
                  </a:moveTo>
                  <a:cubicBezTo>
                    <a:pt x="52493" y="783166"/>
                    <a:pt x="104987" y="855133"/>
                    <a:pt x="223520" y="772160"/>
                  </a:cubicBezTo>
                  <a:cubicBezTo>
                    <a:pt x="342053" y="689187"/>
                    <a:pt x="492760" y="0"/>
                    <a:pt x="711200" y="213360"/>
                  </a:cubicBezTo>
                  <a:cubicBezTo>
                    <a:pt x="929640" y="426720"/>
                    <a:pt x="1231900" y="1239520"/>
                    <a:pt x="1534160" y="2052320"/>
                  </a:cubicBezTo>
                </a:path>
              </a:pathLst>
            </a:cu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8" name="Freeform 11">
              <a:extLst>
                <a:ext uri="{FF2B5EF4-FFF2-40B4-BE49-F238E27FC236}">
                  <a16:creationId xmlns:a16="http://schemas.microsoft.com/office/drawing/2014/main" id="{D021A523-1C4C-697E-5D3F-D85C6DA7D1D3}"/>
                </a:ext>
              </a:extLst>
            </p:cNvPr>
            <p:cNvSpPr>
              <a:spLocks noChangeArrowheads="1"/>
            </p:cNvSpPr>
            <p:nvPr/>
          </p:nvSpPr>
          <p:spPr bwMode="auto">
            <a:xfrm>
              <a:off x="725488" y="2516188"/>
              <a:ext cx="2609850" cy="1905000"/>
            </a:xfrm>
            <a:custGeom>
              <a:avLst/>
              <a:gdLst>
                <a:gd name="T0" fmla="*/ 0 w 2103120"/>
                <a:gd name="T1" fmla="*/ 107916 h 2157307"/>
                <a:gd name="T2" fmla="*/ 29241943 w 2103120"/>
                <a:gd name="T3" fmla="*/ 171 h 2157307"/>
                <a:gd name="T4" fmla="*/ 123531606 w 2103120"/>
                <a:gd name="T5" fmla="*/ 108942 h 2157307"/>
                <a:gd name="T6" fmla="*/ 0 60000 65536"/>
                <a:gd name="T7" fmla="*/ 0 60000 65536"/>
                <a:gd name="T8" fmla="*/ 0 60000 65536"/>
                <a:gd name="T9" fmla="*/ 0 w 2103120"/>
                <a:gd name="T10" fmla="*/ 0 h 2157307"/>
                <a:gd name="T11" fmla="*/ 2103120 w 2103120"/>
                <a:gd name="T12" fmla="*/ 2157307 h 2157307"/>
              </a:gdLst>
              <a:ahLst/>
              <a:cxnLst>
                <a:cxn ang="T6">
                  <a:pos x="T0" y="T1"/>
                </a:cxn>
                <a:cxn ang="T7">
                  <a:pos x="T2" y="T3"/>
                </a:cxn>
                <a:cxn ang="T8">
                  <a:pos x="T4" y="T5"/>
                </a:cxn>
              </a:cxnLst>
              <a:rect l="T9" t="T10" r="T11" b="T12"/>
              <a:pathLst>
                <a:path w="2103120" h="2157307">
                  <a:moveTo>
                    <a:pt x="0" y="2136987"/>
                  </a:moveTo>
                  <a:cubicBezTo>
                    <a:pt x="73660" y="1068493"/>
                    <a:pt x="147320" y="0"/>
                    <a:pt x="497840" y="3387"/>
                  </a:cubicBezTo>
                  <a:cubicBezTo>
                    <a:pt x="848360" y="6774"/>
                    <a:pt x="1475740" y="1082040"/>
                    <a:pt x="2103120" y="2157307"/>
                  </a:cubicBezTo>
                </a:path>
              </a:pathLst>
            </a:custGeom>
            <a:solidFill>
              <a:schemeClr val="accent1">
                <a:alpha val="50195"/>
              </a:schemeClr>
            </a:solidFill>
            <a:ln w="12700" cap="sq">
              <a:solidFill>
                <a:schemeClr val="tx1"/>
              </a:solidFill>
              <a:round/>
              <a:headEnd/>
              <a:tailEnd/>
            </a:ln>
          </p:spPr>
          <p:txBody>
            <a:bodyPr wrap="none" anchor="ctr"/>
            <a:lstStyle/>
            <a:p>
              <a:endParaRPr lang="en-US">
                <a:latin typeface="Roboto" panose="02000000000000000000" pitchFamily="2" charset="0"/>
                <a:ea typeface="Roboto" panose="02000000000000000000" pitchFamily="2" charset="0"/>
              </a:endParaRPr>
            </a:p>
          </p:txBody>
        </p:sp>
        <p:sp>
          <p:nvSpPr>
            <p:cNvPr id="59" name="TextBox 18">
              <a:extLst>
                <a:ext uri="{FF2B5EF4-FFF2-40B4-BE49-F238E27FC236}">
                  <a16:creationId xmlns:a16="http://schemas.microsoft.com/office/drawing/2014/main" id="{1B79475C-2284-1D2A-AB0E-18DF6D024969}"/>
                </a:ext>
              </a:extLst>
            </p:cNvPr>
            <p:cNvSpPr txBox="1">
              <a:spLocks noChangeArrowheads="1"/>
            </p:cNvSpPr>
            <p:nvPr/>
          </p:nvSpPr>
          <p:spPr bwMode="auto">
            <a:xfrm rot="16200000">
              <a:off x="-18640" y="3104929"/>
              <a:ext cx="1204093" cy="23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Resource Level</a:t>
              </a:r>
            </a:p>
          </p:txBody>
        </p:sp>
        <p:sp>
          <p:nvSpPr>
            <p:cNvPr id="60" name="TextBox 19">
              <a:extLst>
                <a:ext uri="{FF2B5EF4-FFF2-40B4-BE49-F238E27FC236}">
                  <a16:creationId xmlns:a16="http://schemas.microsoft.com/office/drawing/2014/main" id="{44396F80-A580-9C3A-339E-BE24617EA4EB}"/>
                </a:ext>
              </a:extLst>
            </p:cNvPr>
            <p:cNvSpPr txBox="1">
              <a:spLocks noChangeArrowheads="1"/>
            </p:cNvSpPr>
            <p:nvPr/>
          </p:nvSpPr>
          <p:spPr bwMode="auto">
            <a:xfrm>
              <a:off x="3911674" y="4464050"/>
              <a:ext cx="449115" cy="26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Time</a:t>
              </a:r>
            </a:p>
          </p:txBody>
        </p:sp>
        <p:sp>
          <p:nvSpPr>
            <p:cNvPr id="61" name="TextBox 10">
              <a:extLst>
                <a:ext uri="{FF2B5EF4-FFF2-40B4-BE49-F238E27FC236}">
                  <a16:creationId xmlns:a16="http://schemas.microsoft.com/office/drawing/2014/main" id="{88C7EF04-A94B-4F5F-F081-28B863045067}"/>
                </a:ext>
              </a:extLst>
            </p:cNvPr>
            <p:cNvSpPr txBox="1">
              <a:spLocks noChangeArrowheads="1"/>
            </p:cNvSpPr>
            <p:nvPr/>
          </p:nvSpPr>
          <p:spPr bwMode="auto">
            <a:xfrm>
              <a:off x="633412" y="1640680"/>
              <a:ext cx="1349375" cy="327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dirty="0">
                  <a:latin typeface="Roboto" panose="02000000000000000000" pitchFamily="2" charset="0"/>
                  <a:ea typeface="Roboto" panose="02000000000000000000" pitchFamily="2" charset="0"/>
                </a:rPr>
                <a:t>3P Resourcing</a:t>
              </a:r>
            </a:p>
          </p:txBody>
        </p:sp>
        <p:sp>
          <p:nvSpPr>
            <p:cNvPr id="62" name="TextBox 11">
              <a:extLst>
                <a:ext uri="{FF2B5EF4-FFF2-40B4-BE49-F238E27FC236}">
                  <a16:creationId xmlns:a16="http://schemas.microsoft.com/office/drawing/2014/main" id="{FFF783BD-72A3-5570-CD3B-46959756AD79}"/>
                </a:ext>
              </a:extLst>
            </p:cNvPr>
            <p:cNvSpPr txBox="1">
              <a:spLocks noChangeArrowheads="1"/>
            </p:cNvSpPr>
            <p:nvPr/>
          </p:nvSpPr>
          <p:spPr bwMode="auto">
            <a:xfrm>
              <a:off x="1879600" y="1689100"/>
              <a:ext cx="1495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Traditional Planned Resourcing</a:t>
              </a:r>
            </a:p>
          </p:txBody>
        </p:sp>
        <p:sp>
          <p:nvSpPr>
            <p:cNvPr id="63" name="TextBox 12">
              <a:extLst>
                <a:ext uri="{FF2B5EF4-FFF2-40B4-BE49-F238E27FC236}">
                  <a16:creationId xmlns:a16="http://schemas.microsoft.com/office/drawing/2014/main" id="{B3543D63-7E69-0485-FDC3-C7AF31AF9813}"/>
                </a:ext>
              </a:extLst>
            </p:cNvPr>
            <p:cNvSpPr txBox="1">
              <a:spLocks noChangeArrowheads="1"/>
            </p:cNvSpPr>
            <p:nvPr/>
          </p:nvSpPr>
          <p:spPr bwMode="auto">
            <a:xfrm>
              <a:off x="3049588" y="2586038"/>
              <a:ext cx="1966912" cy="56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Post Release Unplanned Resourcing</a:t>
              </a:r>
            </a:p>
          </p:txBody>
        </p:sp>
        <p:cxnSp>
          <p:nvCxnSpPr>
            <p:cNvPr id="64" name="Straight Arrow Connector 14">
              <a:extLst>
                <a:ext uri="{FF2B5EF4-FFF2-40B4-BE49-F238E27FC236}">
                  <a16:creationId xmlns:a16="http://schemas.microsoft.com/office/drawing/2014/main" id="{81FD4D08-3C7B-32F9-448C-E54E6313A16C}"/>
                </a:ext>
              </a:extLst>
            </p:cNvPr>
            <p:cNvCxnSpPr>
              <a:cxnSpLocks noChangeShapeType="1"/>
              <a:stCxn id="61" idx="2"/>
            </p:cNvCxnSpPr>
            <p:nvPr/>
          </p:nvCxnSpPr>
          <p:spPr bwMode="auto">
            <a:xfrm>
              <a:off x="1308100" y="1968307"/>
              <a:ext cx="37250" cy="549466"/>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5" name="Straight Arrow Connector 17">
              <a:extLst>
                <a:ext uri="{FF2B5EF4-FFF2-40B4-BE49-F238E27FC236}">
                  <a16:creationId xmlns:a16="http://schemas.microsoft.com/office/drawing/2014/main" id="{0274D3AA-2458-0BA2-7773-49366FF32551}"/>
                </a:ext>
              </a:extLst>
            </p:cNvPr>
            <p:cNvCxnSpPr>
              <a:cxnSpLocks noChangeShapeType="1"/>
              <a:stCxn id="62" idx="2"/>
            </p:cNvCxnSpPr>
            <p:nvPr/>
          </p:nvCxnSpPr>
          <p:spPr bwMode="auto">
            <a:xfrm rot="5400000">
              <a:off x="2401094" y="2559844"/>
              <a:ext cx="266700" cy="1857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66" name="Straight Arrow Connector 19">
              <a:extLst>
                <a:ext uri="{FF2B5EF4-FFF2-40B4-BE49-F238E27FC236}">
                  <a16:creationId xmlns:a16="http://schemas.microsoft.com/office/drawing/2014/main" id="{C79334EE-B264-2242-C730-51084D2A857F}"/>
                </a:ext>
              </a:extLst>
            </p:cNvPr>
            <p:cNvCxnSpPr>
              <a:cxnSpLocks noChangeShapeType="1"/>
              <a:stCxn id="63" idx="2"/>
            </p:cNvCxnSpPr>
            <p:nvPr/>
          </p:nvCxnSpPr>
          <p:spPr bwMode="auto">
            <a:xfrm flipH="1">
              <a:off x="4002088" y="3151940"/>
              <a:ext cx="30956" cy="667586"/>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7" name="Freeform 7">
              <a:extLst>
                <a:ext uri="{FF2B5EF4-FFF2-40B4-BE49-F238E27FC236}">
                  <a16:creationId xmlns:a16="http://schemas.microsoft.com/office/drawing/2014/main" id="{323728AA-B3DB-AD91-513F-14151AEDE1D4}"/>
                </a:ext>
              </a:extLst>
            </p:cNvPr>
            <p:cNvSpPr>
              <a:spLocks noChangeArrowheads="1"/>
            </p:cNvSpPr>
            <p:nvPr/>
          </p:nvSpPr>
          <p:spPr bwMode="auto">
            <a:xfrm>
              <a:off x="736600" y="2044700"/>
              <a:ext cx="3800475" cy="2378075"/>
            </a:xfrm>
            <a:custGeom>
              <a:avLst/>
              <a:gdLst>
                <a:gd name="T0" fmla="*/ 0 w 3799840"/>
                <a:gd name="T1" fmla="*/ 0 h 2377440"/>
                <a:gd name="T2" fmla="*/ 0 w 3799840"/>
                <a:gd name="T3" fmla="*/ 2392719 h 2377440"/>
                <a:gd name="T4" fmla="*/ 3815097 w 3799840"/>
                <a:gd name="T5" fmla="*/ 2392719 h 2377440"/>
                <a:gd name="T6" fmla="*/ 3815097 w 3799840"/>
                <a:gd name="T7" fmla="*/ 2392719 h 2377440"/>
                <a:gd name="T8" fmla="*/ 0 60000 65536"/>
                <a:gd name="T9" fmla="*/ 0 60000 65536"/>
                <a:gd name="T10" fmla="*/ 0 60000 65536"/>
                <a:gd name="T11" fmla="*/ 0 60000 65536"/>
                <a:gd name="T12" fmla="*/ 0 w 3799840"/>
                <a:gd name="T13" fmla="*/ 0 h 2377440"/>
                <a:gd name="T14" fmla="*/ 3799840 w 3799840"/>
                <a:gd name="T15" fmla="*/ 2377440 h 2377440"/>
              </a:gdLst>
              <a:ahLst/>
              <a:cxnLst>
                <a:cxn ang="T8">
                  <a:pos x="T0" y="T1"/>
                </a:cxn>
                <a:cxn ang="T9">
                  <a:pos x="T2" y="T3"/>
                </a:cxn>
                <a:cxn ang="T10">
                  <a:pos x="T4" y="T5"/>
                </a:cxn>
                <a:cxn ang="T11">
                  <a:pos x="T6" y="T7"/>
                </a:cxn>
              </a:cxnLst>
              <a:rect l="T12" t="T13" r="T14" b="T15"/>
              <a:pathLst>
                <a:path w="3799840" h="2377440">
                  <a:moveTo>
                    <a:pt x="0" y="0"/>
                  </a:moveTo>
                  <a:lnTo>
                    <a:pt x="0" y="2377440"/>
                  </a:lnTo>
                  <a:lnTo>
                    <a:pt x="3799840" y="2377440"/>
                  </a:lnTo>
                </a:path>
              </a:pathLst>
            </a:custGeom>
            <a:noFill/>
            <a:ln w="19050" cap="sq">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68" name="Group 74">
              <a:extLst>
                <a:ext uri="{FF2B5EF4-FFF2-40B4-BE49-F238E27FC236}">
                  <a16:creationId xmlns:a16="http://schemas.microsoft.com/office/drawing/2014/main" id="{46BB24E0-72B5-2A74-E7D5-3E004991A278}"/>
                </a:ext>
              </a:extLst>
            </p:cNvPr>
            <p:cNvGrpSpPr>
              <a:grpSpLocks/>
            </p:cNvGrpSpPr>
            <p:nvPr/>
          </p:nvGrpSpPr>
          <p:grpSpPr bwMode="auto">
            <a:xfrm>
              <a:off x="735013" y="5156200"/>
              <a:ext cx="3600450" cy="92075"/>
              <a:chOff x="735108" y="5048928"/>
              <a:chExt cx="3600224" cy="91441"/>
            </a:xfrm>
          </p:grpSpPr>
          <p:sp>
            <p:nvSpPr>
              <p:cNvPr id="69" name="Rectangle 36">
                <a:extLst>
                  <a:ext uri="{FF2B5EF4-FFF2-40B4-BE49-F238E27FC236}">
                    <a16:creationId xmlns:a16="http://schemas.microsoft.com/office/drawing/2014/main" id="{1015981B-E8CE-FF2C-15F5-B06CBE3B70B7}"/>
                  </a:ext>
                </a:extLst>
              </p:cNvPr>
              <p:cNvSpPr>
                <a:spLocks noChangeArrowheads="1"/>
              </p:cNvSpPr>
              <p:nvPr/>
            </p:nvSpPr>
            <p:spPr bwMode="auto">
              <a:xfrm>
                <a:off x="945309" y="5048928"/>
                <a:ext cx="1421851" cy="91441"/>
              </a:xfrm>
              <a:prstGeom prst="rect">
                <a:avLst/>
              </a:prstGeom>
              <a:solidFill>
                <a:srgbClr val="FFCC00"/>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70" name="Rectangle 37">
                <a:extLst>
                  <a:ext uri="{FF2B5EF4-FFF2-40B4-BE49-F238E27FC236}">
                    <a16:creationId xmlns:a16="http://schemas.microsoft.com/office/drawing/2014/main" id="{B502CF3B-84AD-B96B-E519-CF11B2DA8CF5}"/>
                  </a:ext>
                </a:extLst>
              </p:cNvPr>
              <p:cNvSpPr>
                <a:spLocks noChangeArrowheads="1"/>
              </p:cNvSpPr>
              <p:nvPr/>
            </p:nvSpPr>
            <p:spPr bwMode="auto">
              <a:xfrm>
                <a:off x="735108" y="5048928"/>
                <a:ext cx="210202" cy="91441"/>
              </a:xfrm>
              <a:prstGeom prst="rect">
                <a:avLst/>
              </a:prstGeom>
              <a:solidFill>
                <a:srgbClr val="00B050"/>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71" name="Rectangle 38">
                <a:extLst>
                  <a:ext uri="{FF2B5EF4-FFF2-40B4-BE49-F238E27FC236}">
                    <a16:creationId xmlns:a16="http://schemas.microsoft.com/office/drawing/2014/main" id="{B01F95DC-DFB4-C779-EE39-973B611F5EBB}"/>
                  </a:ext>
                </a:extLst>
              </p:cNvPr>
              <p:cNvSpPr>
                <a:spLocks noChangeArrowheads="1"/>
              </p:cNvSpPr>
              <p:nvPr/>
            </p:nvSpPr>
            <p:spPr bwMode="auto">
              <a:xfrm>
                <a:off x="2369866" y="5048928"/>
                <a:ext cx="1366188" cy="91441"/>
              </a:xfrm>
              <a:prstGeom prst="rect">
                <a:avLst/>
              </a:prstGeom>
              <a:solidFill>
                <a:srgbClr val="FF0000"/>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72" name="Rectangle 40">
                <a:extLst>
                  <a:ext uri="{FF2B5EF4-FFF2-40B4-BE49-F238E27FC236}">
                    <a16:creationId xmlns:a16="http://schemas.microsoft.com/office/drawing/2014/main" id="{65A4F0A6-B50D-92E9-7A4A-91321D89BD35}"/>
                  </a:ext>
                </a:extLst>
              </p:cNvPr>
              <p:cNvSpPr>
                <a:spLocks noChangeArrowheads="1"/>
              </p:cNvSpPr>
              <p:nvPr/>
            </p:nvSpPr>
            <p:spPr bwMode="auto">
              <a:xfrm>
                <a:off x="3733349" y="5048928"/>
                <a:ext cx="601983" cy="91441"/>
              </a:xfrm>
              <a:prstGeom prst="rect">
                <a:avLst/>
              </a:prstGeom>
              <a:solidFill>
                <a:srgbClr val="FF3399"/>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grpSp>
        <p:grpSp>
          <p:nvGrpSpPr>
            <p:cNvPr id="73" name="Group 73">
              <a:extLst>
                <a:ext uri="{FF2B5EF4-FFF2-40B4-BE49-F238E27FC236}">
                  <a16:creationId xmlns:a16="http://schemas.microsoft.com/office/drawing/2014/main" id="{925A0071-7ED4-BD08-62D2-D63C5DFAE9B5}"/>
                </a:ext>
              </a:extLst>
            </p:cNvPr>
            <p:cNvGrpSpPr>
              <a:grpSpLocks/>
            </p:cNvGrpSpPr>
            <p:nvPr/>
          </p:nvGrpSpPr>
          <p:grpSpPr bwMode="auto">
            <a:xfrm>
              <a:off x="725488" y="5588000"/>
              <a:ext cx="2619375" cy="92075"/>
              <a:chOff x="726142" y="5588597"/>
              <a:chExt cx="2619464" cy="91441"/>
            </a:xfrm>
          </p:grpSpPr>
          <p:sp>
            <p:nvSpPr>
              <p:cNvPr id="74" name="Rectangle 41">
                <a:extLst>
                  <a:ext uri="{FF2B5EF4-FFF2-40B4-BE49-F238E27FC236}">
                    <a16:creationId xmlns:a16="http://schemas.microsoft.com/office/drawing/2014/main" id="{56BF9B3A-771E-D786-852D-A5F8BC4389AD}"/>
                  </a:ext>
                </a:extLst>
              </p:cNvPr>
              <p:cNvSpPr>
                <a:spLocks noChangeArrowheads="1"/>
              </p:cNvSpPr>
              <p:nvPr/>
            </p:nvSpPr>
            <p:spPr bwMode="auto">
              <a:xfrm>
                <a:off x="1828800" y="5588597"/>
                <a:ext cx="911695" cy="91441"/>
              </a:xfrm>
              <a:prstGeom prst="rect">
                <a:avLst/>
              </a:prstGeom>
              <a:solidFill>
                <a:srgbClr val="FFCC00"/>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75" name="Rectangle 42">
                <a:extLst>
                  <a:ext uri="{FF2B5EF4-FFF2-40B4-BE49-F238E27FC236}">
                    <a16:creationId xmlns:a16="http://schemas.microsoft.com/office/drawing/2014/main" id="{B8BD5E42-79CB-C5C7-0C91-6C0AC0C07DCB}"/>
                  </a:ext>
                </a:extLst>
              </p:cNvPr>
              <p:cNvSpPr>
                <a:spLocks noChangeArrowheads="1"/>
              </p:cNvSpPr>
              <p:nvPr/>
            </p:nvSpPr>
            <p:spPr bwMode="auto">
              <a:xfrm>
                <a:off x="726142" y="5588597"/>
                <a:ext cx="1102959" cy="91441"/>
              </a:xfrm>
              <a:prstGeom prst="rect">
                <a:avLst/>
              </a:prstGeom>
              <a:solidFill>
                <a:srgbClr val="00B050"/>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76" name="Rectangle 43">
                <a:extLst>
                  <a:ext uri="{FF2B5EF4-FFF2-40B4-BE49-F238E27FC236}">
                    <a16:creationId xmlns:a16="http://schemas.microsoft.com/office/drawing/2014/main" id="{6E417542-9256-EDA2-515B-272DA6A1BACC}"/>
                  </a:ext>
                </a:extLst>
              </p:cNvPr>
              <p:cNvSpPr>
                <a:spLocks noChangeArrowheads="1"/>
              </p:cNvSpPr>
              <p:nvPr/>
            </p:nvSpPr>
            <p:spPr bwMode="auto">
              <a:xfrm>
                <a:off x="2743200" y="5588597"/>
                <a:ext cx="376515" cy="91441"/>
              </a:xfrm>
              <a:prstGeom prst="rect">
                <a:avLst/>
              </a:prstGeom>
              <a:solidFill>
                <a:srgbClr val="FF0000"/>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77" name="Rectangle 44">
                <a:extLst>
                  <a:ext uri="{FF2B5EF4-FFF2-40B4-BE49-F238E27FC236}">
                    <a16:creationId xmlns:a16="http://schemas.microsoft.com/office/drawing/2014/main" id="{62E76FF0-DA89-0D01-1AA9-36CBBFE9F21F}"/>
                  </a:ext>
                </a:extLst>
              </p:cNvPr>
              <p:cNvSpPr>
                <a:spLocks noChangeArrowheads="1"/>
              </p:cNvSpPr>
              <p:nvPr/>
            </p:nvSpPr>
            <p:spPr bwMode="auto">
              <a:xfrm>
                <a:off x="3116111" y="5588597"/>
                <a:ext cx="229495" cy="91441"/>
              </a:xfrm>
              <a:prstGeom prst="rect">
                <a:avLst/>
              </a:prstGeom>
              <a:solidFill>
                <a:srgbClr val="FF3399"/>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grpSp>
        <p:sp>
          <p:nvSpPr>
            <p:cNvPr id="78" name="TextBox 49">
              <a:extLst>
                <a:ext uri="{FF2B5EF4-FFF2-40B4-BE49-F238E27FC236}">
                  <a16:creationId xmlns:a16="http://schemas.microsoft.com/office/drawing/2014/main" id="{023E2B83-659D-BE9E-7806-A41503385233}"/>
                </a:ext>
              </a:extLst>
            </p:cNvPr>
            <p:cNvSpPr txBox="1">
              <a:spLocks noChangeArrowheads="1"/>
            </p:cNvSpPr>
            <p:nvPr/>
          </p:nvSpPr>
          <p:spPr bwMode="auto">
            <a:xfrm>
              <a:off x="623888" y="4894263"/>
              <a:ext cx="3276572" cy="238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GB" altLang="en-US" sz="1000" dirty="0">
                  <a:latin typeface="Roboto" panose="02000000000000000000" pitchFamily="2" charset="0"/>
                  <a:ea typeface="Roboto" panose="02000000000000000000" pitchFamily="2" charset="0"/>
                </a:rPr>
                <a:t>Concept      Design                          Revisions                             Ramp</a:t>
              </a:r>
            </a:p>
          </p:txBody>
        </p:sp>
        <p:sp>
          <p:nvSpPr>
            <p:cNvPr id="79" name="TextBox 50">
              <a:extLst>
                <a:ext uri="{FF2B5EF4-FFF2-40B4-BE49-F238E27FC236}">
                  <a16:creationId xmlns:a16="http://schemas.microsoft.com/office/drawing/2014/main" id="{5E62DB70-3835-8DFC-2983-11D139381341}"/>
                </a:ext>
              </a:extLst>
            </p:cNvPr>
            <p:cNvSpPr txBox="1">
              <a:spLocks noChangeArrowheads="1"/>
            </p:cNvSpPr>
            <p:nvPr/>
          </p:nvSpPr>
          <p:spPr bwMode="auto">
            <a:xfrm>
              <a:off x="686474" y="5260975"/>
              <a:ext cx="779702" cy="26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Traditional</a:t>
              </a:r>
            </a:p>
          </p:txBody>
        </p:sp>
        <p:sp>
          <p:nvSpPr>
            <p:cNvPr id="80" name="TextBox 51">
              <a:extLst>
                <a:ext uri="{FF2B5EF4-FFF2-40B4-BE49-F238E27FC236}">
                  <a16:creationId xmlns:a16="http://schemas.microsoft.com/office/drawing/2014/main" id="{F8A7FB66-440E-E9A1-3983-E181E36E1348}"/>
                </a:ext>
              </a:extLst>
            </p:cNvPr>
            <p:cNvSpPr txBox="1">
              <a:spLocks noChangeArrowheads="1"/>
            </p:cNvSpPr>
            <p:nvPr/>
          </p:nvSpPr>
          <p:spPr bwMode="auto">
            <a:xfrm>
              <a:off x="623442" y="5713413"/>
              <a:ext cx="312041" cy="26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3P</a:t>
              </a:r>
            </a:p>
          </p:txBody>
        </p:sp>
      </p:grpSp>
    </p:spTree>
    <p:extLst>
      <p:ext uri="{BB962C8B-B14F-4D97-AF65-F5344CB8AC3E}">
        <p14:creationId xmlns:p14="http://schemas.microsoft.com/office/powerpoint/2010/main" val="1468008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dirty="0"/>
              <a:t>Product Development Efficiency</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4739640" cy="4351338"/>
          </a:xfrm>
        </p:spPr>
        <p:txBody>
          <a:bodyPr>
            <a:normAutofit/>
          </a:bodyPr>
          <a:lstStyle/>
          <a:p>
            <a:r>
              <a:rPr lang="en-US" altLang="en-US" dirty="0"/>
              <a:t>Extended timescales can lead to inefficiencies and an overall increase in the resource level and cost of development</a:t>
            </a:r>
          </a:p>
          <a:p>
            <a:r>
              <a:rPr lang="en-US" altLang="en-US" dirty="0"/>
              <a:t>Developing products too quickly can also lead to inefficiencies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pSp>
        <p:nvGrpSpPr>
          <p:cNvPr id="14" name="Group 25">
            <a:extLst>
              <a:ext uri="{FF2B5EF4-FFF2-40B4-BE49-F238E27FC236}">
                <a16:creationId xmlns:a16="http://schemas.microsoft.com/office/drawing/2014/main" id="{89B2E632-99AC-C70F-D693-E4A7138CB9D3}"/>
              </a:ext>
            </a:extLst>
          </p:cNvPr>
          <p:cNvGrpSpPr>
            <a:grpSpLocks/>
          </p:cNvGrpSpPr>
          <p:nvPr/>
        </p:nvGrpSpPr>
        <p:grpSpPr bwMode="auto">
          <a:xfrm>
            <a:off x="6127334" y="1980564"/>
            <a:ext cx="5028346" cy="4025583"/>
            <a:chOff x="4641785" y="1368518"/>
            <a:chExt cx="4065653" cy="3709054"/>
          </a:xfrm>
        </p:grpSpPr>
        <p:sp>
          <p:nvSpPr>
            <p:cNvPr id="15" name="Rectangle 33">
              <a:extLst>
                <a:ext uri="{FF2B5EF4-FFF2-40B4-BE49-F238E27FC236}">
                  <a16:creationId xmlns:a16="http://schemas.microsoft.com/office/drawing/2014/main" id="{382D68E0-B233-8184-8872-677BB9B27C80}"/>
                </a:ext>
              </a:extLst>
            </p:cNvPr>
            <p:cNvSpPr>
              <a:spLocks noChangeArrowheads="1"/>
            </p:cNvSpPr>
            <p:nvPr/>
          </p:nvSpPr>
          <p:spPr bwMode="auto">
            <a:xfrm>
              <a:off x="5759059" y="2449736"/>
              <a:ext cx="1952446" cy="1690839"/>
            </a:xfrm>
            <a:prstGeom prst="rect">
              <a:avLst/>
            </a:prstGeom>
            <a:solidFill>
              <a:srgbClr val="006699">
                <a:alpha val="50195"/>
              </a:srgbClr>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6" name="Freeform 7">
              <a:extLst>
                <a:ext uri="{FF2B5EF4-FFF2-40B4-BE49-F238E27FC236}">
                  <a16:creationId xmlns:a16="http://schemas.microsoft.com/office/drawing/2014/main" id="{49B15740-23FC-A795-81CE-52AE577364B5}"/>
                </a:ext>
              </a:extLst>
            </p:cNvPr>
            <p:cNvSpPr>
              <a:spLocks noChangeArrowheads="1"/>
            </p:cNvSpPr>
            <p:nvPr/>
          </p:nvSpPr>
          <p:spPr bwMode="auto">
            <a:xfrm>
              <a:off x="4906962" y="1925632"/>
              <a:ext cx="3800476" cy="2378163"/>
            </a:xfrm>
            <a:custGeom>
              <a:avLst/>
              <a:gdLst>
                <a:gd name="T0" fmla="*/ 0 w 3799840"/>
                <a:gd name="T1" fmla="*/ 0 h 2377440"/>
                <a:gd name="T2" fmla="*/ 0 w 3799840"/>
                <a:gd name="T3" fmla="*/ 2394399 h 2377440"/>
                <a:gd name="T4" fmla="*/ 3815112 w 3799840"/>
                <a:gd name="T5" fmla="*/ 2394399 h 2377440"/>
                <a:gd name="T6" fmla="*/ 3815112 w 3799840"/>
                <a:gd name="T7" fmla="*/ 2394399 h 2377440"/>
                <a:gd name="T8" fmla="*/ 0 60000 65536"/>
                <a:gd name="T9" fmla="*/ 0 60000 65536"/>
                <a:gd name="T10" fmla="*/ 0 60000 65536"/>
                <a:gd name="T11" fmla="*/ 0 60000 65536"/>
                <a:gd name="T12" fmla="*/ 0 w 3799840"/>
                <a:gd name="T13" fmla="*/ 0 h 2377440"/>
                <a:gd name="T14" fmla="*/ 3799840 w 3799840"/>
                <a:gd name="T15" fmla="*/ 2377440 h 2377440"/>
              </a:gdLst>
              <a:ahLst/>
              <a:cxnLst>
                <a:cxn ang="T8">
                  <a:pos x="T0" y="T1"/>
                </a:cxn>
                <a:cxn ang="T9">
                  <a:pos x="T2" y="T3"/>
                </a:cxn>
                <a:cxn ang="T10">
                  <a:pos x="T4" y="T5"/>
                </a:cxn>
                <a:cxn ang="T11">
                  <a:pos x="T6" y="T7"/>
                </a:cxn>
              </a:cxnLst>
              <a:rect l="T12" t="T13" r="T14" b="T15"/>
              <a:pathLst>
                <a:path w="3799840" h="2377440">
                  <a:moveTo>
                    <a:pt x="0" y="0"/>
                  </a:moveTo>
                  <a:lnTo>
                    <a:pt x="0" y="2377440"/>
                  </a:lnTo>
                  <a:lnTo>
                    <a:pt x="3799840" y="2377440"/>
                  </a:lnTo>
                </a:path>
              </a:pathLst>
            </a:custGeom>
            <a:noFill/>
            <a:ln w="19050" cap="sq">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7" name="TextBox 18">
              <a:extLst>
                <a:ext uri="{FF2B5EF4-FFF2-40B4-BE49-F238E27FC236}">
                  <a16:creationId xmlns:a16="http://schemas.microsoft.com/office/drawing/2014/main" id="{3E8A2B41-2D76-7442-3058-731ACB1A518E}"/>
                </a:ext>
              </a:extLst>
            </p:cNvPr>
            <p:cNvSpPr txBox="1">
              <a:spLocks noChangeArrowheads="1"/>
            </p:cNvSpPr>
            <p:nvPr/>
          </p:nvSpPr>
          <p:spPr bwMode="auto">
            <a:xfrm rot="16200000">
              <a:off x="4180561" y="2988497"/>
              <a:ext cx="1146415" cy="223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Resource Level</a:t>
              </a:r>
            </a:p>
          </p:txBody>
        </p:sp>
        <p:sp>
          <p:nvSpPr>
            <p:cNvPr id="18" name="TextBox 19">
              <a:extLst>
                <a:ext uri="{FF2B5EF4-FFF2-40B4-BE49-F238E27FC236}">
                  <a16:creationId xmlns:a16="http://schemas.microsoft.com/office/drawing/2014/main" id="{9F1968B0-442C-3660-4E6B-806074C96EC2}"/>
                </a:ext>
              </a:extLst>
            </p:cNvPr>
            <p:cNvSpPr txBox="1">
              <a:spLocks noChangeArrowheads="1"/>
            </p:cNvSpPr>
            <p:nvPr/>
          </p:nvSpPr>
          <p:spPr bwMode="auto">
            <a:xfrm>
              <a:off x="8090016" y="4345071"/>
              <a:ext cx="433157" cy="255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Time</a:t>
              </a:r>
            </a:p>
          </p:txBody>
        </p:sp>
        <p:sp>
          <p:nvSpPr>
            <p:cNvPr id="19" name="Rectangle 25">
              <a:extLst>
                <a:ext uri="{FF2B5EF4-FFF2-40B4-BE49-F238E27FC236}">
                  <a16:creationId xmlns:a16="http://schemas.microsoft.com/office/drawing/2014/main" id="{1ECC2132-B318-3A4E-D917-AF268D62FE90}"/>
                </a:ext>
              </a:extLst>
            </p:cNvPr>
            <p:cNvSpPr>
              <a:spLocks noChangeArrowheads="1"/>
            </p:cNvSpPr>
            <p:nvPr/>
          </p:nvSpPr>
          <p:spPr bwMode="auto">
            <a:xfrm>
              <a:off x="4968305" y="2452611"/>
              <a:ext cx="793631" cy="1690839"/>
            </a:xfrm>
            <a:prstGeom prst="rect">
              <a:avLst/>
            </a:prstGeom>
            <a:solidFill>
              <a:srgbClr val="FF0000">
                <a:alpha val="49803"/>
              </a:srgbClr>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20" name="Rectangle 26">
              <a:extLst>
                <a:ext uri="{FF2B5EF4-FFF2-40B4-BE49-F238E27FC236}">
                  <a16:creationId xmlns:a16="http://schemas.microsoft.com/office/drawing/2014/main" id="{CF8A6786-E2BF-BFC3-CCAC-615F525C8AED}"/>
                </a:ext>
              </a:extLst>
            </p:cNvPr>
            <p:cNvSpPr>
              <a:spLocks noChangeArrowheads="1"/>
            </p:cNvSpPr>
            <p:nvPr/>
          </p:nvSpPr>
          <p:spPr bwMode="auto">
            <a:xfrm>
              <a:off x="7705666" y="2452611"/>
              <a:ext cx="793631" cy="1690839"/>
            </a:xfrm>
            <a:prstGeom prst="rect">
              <a:avLst/>
            </a:prstGeom>
            <a:solidFill>
              <a:srgbClr val="FF0000">
                <a:alpha val="49803"/>
              </a:srgbClr>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21" name="TextBox 27">
              <a:extLst>
                <a:ext uri="{FF2B5EF4-FFF2-40B4-BE49-F238E27FC236}">
                  <a16:creationId xmlns:a16="http://schemas.microsoft.com/office/drawing/2014/main" id="{992E4DD0-3A3D-7564-6376-33A024B2D214}"/>
                </a:ext>
              </a:extLst>
            </p:cNvPr>
            <p:cNvSpPr txBox="1">
              <a:spLocks noChangeArrowheads="1"/>
            </p:cNvSpPr>
            <p:nvPr/>
          </p:nvSpPr>
          <p:spPr bwMode="auto">
            <a:xfrm>
              <a:off x="5785588" y="1471706"/>
              <a:ext cx="1695562" cy="31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dirty="0">
                  <a:latin typeface="Roboto" panose="02000000000000000000" pitchFamily="2" charset="0"/>
                  <a:ea typeface="Roboto" panose="02000000000000000000" pitchFamily="2" charset="0"/>
                </a:rPr>
                <a:t>Areas of inefficiency</a:t>
              </a:r>
            </a:p>
          </p:txBody>
        </p:sp>
        <p:cxnSp>
          <p:nvCxnSpPr>
            <p:cNvPr id="22" name="Straight Arrow Connector 29">
              <a:extLst>
                <a:ext uri="{FF2B5EF4-FFF2-40B4-BE49-F238E27FC236}">
                  <a16:creationId xmlns:a16="http://schemas.microsoft.com/office/drawing/2014/main" id="{B5B2C6FA-E864-7F60-248F-12981BFAC75B}"/>
                </a:ext>
              </a:extLst>
            </p:cNvPr>
            <p:cNvCxnSpPr>
              <a:cxnSpLocks noChangeShapeType="1"/>
              <a:endCxn id="19" idx="0"/>
            </p:cNvCxnSpPr>
            <p:nvPr/>
          </p:nvCxnSpPr>
          <p:spPr bwMode="auto">
            <a:xfrm rot="5400000">
              <a:off x="5323416" y="1876068"/>
              <a:ext cx="618250" cy="534837"/>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3" name="Straight Arrow Connector 31">
              <a:extLst>
                <a:ext uri="{FF2B5EF4-FFF2-40B4-BE49-F238E27FC236}">
                  <a16:creationId xmlns:a16="http://schemas.microsoft.com/office/drawing/2014/main" id="{F839942A-48B7-7340-7834-C996942E2EF1}"/>
                </a:ext>
              </a:extLst>
            </p:cNvPr>
            <p:cNvCxnSpPr>
              <a:cxnSpLocks noChangeShapeType="1"/>
              <a:endCxn id="20" idx="0"/>
            </p:cNvCxnSpPr>
            <p:nvPr/>
          </p:nvCxnSpPr>
          <p:spPr bwMode="auto">
            <a:xfrm>
              <a:off x="7467002" y="1834361"/>
              <a:ext cx="635480" cy="6182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4" name="Arc 22">
              <a:extLst>
                <a:ext uri="{FF2B5EF4-FFF2-40B4-BE49-F238E27FC236}">
                  <a16:creationId xmlns:a16="http://schemas.microsoft.com/office/drawing/2014/main" id="{34B7ECBC-E61B-F210-DE1F-BEED0CF996A5}"/>
                </a:ext>
              </a:extLst>
            </p:cNvPr>
            <p:cNvSpPr>
              <a:spLocks noChangeArrowheads="1"/>
            </p:cNvSpPr>
            <p:nvPr/>
          </p:nvSpPr>
          <p:spPr bwMode="auto">
            <a:xfrm rot="10800000">
              <a:off x="5106987" y="1368518"/>
              <a:ext cx="3243264" cy="2657475"/>
            </a:xfrm>
            <a:custGeom>
              <a:avLst/>
              <a:gdLst>
                <a:gd name="T0" fmla="*/ 16 w 3243263"/>
                <a:gd name="T1" fmla="*/ 1334578 h 2657475"/>
                <a:gd name="T2" fmla="*/ 1621642 w 3243263"/>
                <a:gd name="T3" fmla="*/ 1328746 h 2657475"/>
                <a:gd name="T4" fmla="*/ 3243278 w 3243263"/>
                <a:gd name="T5" fmla="*/ 1328746 h 2657475"/>
                <a:gd name="T6" fmla="*/ 5898240 60000 65536"/>
                <a:gd name="T7" fmla="*/ 5898240 60000 65536"/>
                <a:gd name="T8" fmla="*/ 5898240 60000 65536"/>
                <a:gd name="T9" fmla="*/ 0 w 3243263"/>
                <a:gd name="T10" fmla="*/ 0 h 2657475"/>
                <a:gd name="T11" fmla="*/ 3243263 w 3243263"/>
                <a:gd name="T12" fmla="*/ 1334578 h 2657475"/>
              </a:gdLst>
              <a:ahLst/>
              <a:cxnLst>
                <a:cxn ang="T6">
                  <a:pos x="T0" y="T1"/>
                </a:cxn>
                <a:cxn ang="T7">
                  <a:pos x="T2" y="T3"/>
                </a:cxn>
                <a:cxn ang="T8">
                  <a:pos x="T4" y="T5"/>
                </a:cxn>
              </a:cxnLst>
              <a:rect l="T9" t="T10" r="T11" b="T12"/>
              <a:pathLst>
                <a:path w="3243263" h="2657475" stroke="0">
                  <a:moveTo>
                    <a:pt x="16" y="1334570"/>
                  </a:moveTo>
                  <a:lnTo>
                    <a:pt x="15" y="1334570"/>
                  </a:lnTo>
                  <a:cubicBezTo>
                    <a:pt x="5" y="1332626"/>
                    <a:pt x="0" y="1330682"/>
                    <a:pt x="0" y="1328738"/>
                  </a:cubicBezTo>
                  <a:cubicBezTo>
                    <a:pt x="0" y="594896"/>
                    <a:pt x="726029" y="0"/>
                    <a:pt x="1621632" y="0"/>
                  </a:cubicBezTo>
                  <a:cubicBezTo>
                    <a:pt x="2517234" y="0"/>
                    <a:pt x="3243264" y="594896"/>
                    <a:pt x="3243264" y="1328738"/>
                  </a:cubicBezTo>
                  <a:cubicBezTo>
                    <a:pt x="3243264" y="1328739"/>
                    <a:pt x="3243263" y="1328740"/>
                    <a:pt x="3243263" y="1328741"/>
                  </a:cubicBezTo>
                  <a:lnTo>
                    <a:pt x="1621632" y="1328738"/>
                  </a:lnTo>
                  <a:lnTo>
                    <a:pt x="16" y="1334570"/>
                  </a:lnTo>
                  <a:close/>
                </a:path>
                <a:path w="3243263" h="2657475" fill="none">
                  <a:moveTo>
                    <a:pt x="16" y="1334570"/>
                  </a:moveTo>
                  <a:lnTo>
                    <a:pt x="15" y="1334570"/>
                  </a:lnTo>
                  <a:cubicBezTo>
                    <a:pt x="5" y="1332626"/>
                    <a:pt x="0" y="1330682"/>
                    <a:pt x="0" y="1328738"/>
                  </a:cubicBezTo>
                  <a:cubicBezTo>
                    <a:pt x="0" y="594896"/>
                    <a:pt x="726029" y="0"/>
                    <a:pt x="1621632" y="0"/>
                  </a:cubicBezTo>
                  <a:cubicBezTo>
                    <a:pt x="2517234" y="0"/>
                    <a:pt x="3243264" y="594896"/>
                    <a:pt x="3243264" y="1328738"/>
                  </a:cubicBezTo>
                  <a:cubicBezTo>
                    <a:pt x="3243264" y="1328739"/>
                    <a:pt x="3243263" y="1328740"/>
                    <a:pt x="3243263" y="1328741"/>
                  </a:cubicBezTo>
                </a:path>
              </a:pathLst>
            </a:custGeom>
            <a:noFill/>
            <a:ln w="5715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rot="10800000" anchor="ctr"/>
            <a:lstStyle/>
            <a:p>
              <a:endParaRPr lang="en-US">
                <a:latin typeface="Roboto" panose="02000000000000000000" pitchFamily="2" charset="0"/>
                <a:ea typeface="Roboto" panose="02000000000000000000" pitchFamily="2" charset="0"/>
              </a:endParaRPr>
            </a:p>
          </p:txBody>
        </p:sp>
        <p:sp>
          <p:nvSpPr>
            <p:cNvPr id="25" name="TextBox 22">
              <a:extLst>
                <a:ext uri="{FF2B5EF4-FFF2-40B4-BE49-F238E27FC236}">
                  <a16:creationId xmlns:a16="http://schemas.microsoft.com/office/drawing/2014/main" id="{59A7E9A9-9C00-6EE3-583E-20D3A6141778}"/>
                </a:ext>
              </a:extLst>
            </p:cNvPr>
            <p:cNvSpPr txBox="1">
              <a:spLocks noChangeArrowheads="1"/>
            </p:cNvSpPr>
            <p:nvPr/>
          </p:nvSpPr>
          <p:spPr bwMode="auto">
            <a:xfrm>
              <a:off x="5694185" y="4765638"/>
              <a:ext cx="1681304" cy="31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Optimum resourcing</a:t>
              </a:r>
            </a:p>
          </p:txBody>
        </p:sp>
        <p:cxnSp>
          <p:nvCxnSpPr>
            <p:cNvPr id="26" name="Straight Arrow Connector 24">
              <a:extLst>
                <a:ext uri="{FF2B5EF4-FFF2-40B4-BE49-F238E27FC236}">
                  <a16:creationId xmlns:a16="http://schemas.microsoft.com/office/drawing/2014/main" id="{C7C5AAD0-9F1B-7FBE-736D-FD2EBEE3C03B}"/>
                </a:ext>
              </a:extLst>
            </p:cNvPr>
            <p:cNvCxnSpPr>
              <a:cxnSpLocks noChangeShapeType="1"/>
              <a:stCxn id="25" idx="0"/>
            </p:cNvCxnSpPr>
            <p:nvPr/>
          </p:nvCxnSpPr>
          <p:spPr bwMode="auto">
            <a:xfrm flipV="1">
              <a:off x="6534837" y="4023360"/>
              <a:ext cx="199449" cy="74227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556727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dirty="0"/>
              <a:t>Six Trade-offs of Development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4739640" cy="4351338"/>
          </a:xfrm>
        </p:spPr>
        <p:txBody>
          <a:bodyPr>
            <a:normAutofit fontScale="92500" lnSpcReduction="10000"/>
          </a:bodyPr>
          <a:lstStyle/>
          <a:p>
            <a:r>
              <a:rPr lang="en-US" altLang="en-US" dirty="0"/>
              <a:t>Balance the development trade-offs based on financial benefit</a:t>
            </a:r>
          </a:p>
          <a:p>
            <a:pPr lvl="1"/>
            <a:r>
              <a:rPr lang="en-US" altLang="en-US" dirty="0"/>
              <a:t>Early introduction will lead to longer product life cycle</a:t>
            </a:r>
          </a:p>
          <a:p>
            <a:pPr lvl="1"/>
            <a:r>
              <a:rPr lang="en-US" altLang="en-US" dirty="0"/>
              <a:t>Lower unit cost will increase gross margins or market volumes</a:t>
            </a:r>
          </a:p>
          <a:p>
            <a:pPr lvl="1"/>
            <a:r>
              <a:rPr lang="en-US" altLang="en-US" dirty="0"/>
              <a:t>Reduced development expense is a reduced cost or capacity for more products</a:t>
            </a:r>
          </a:p>
          <a:p>
            <a:pPr lvl="1"/>
            <a:r>
              <a:rPr lang="en-US" altLang="en-US" dirty="0"/>
              <a:t>Improved product performance can increase product price.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pSp>
        <p:nvGrpSpPr>
          <p:cNvPr id="37" name="Group 36">
            <a:extLst>
              <a:ext uri="{FF2B5EF4-FFF2-40B4-BE49-F238E27FC236}">
                <a16:creationId xmlns:a16="http://schemas.microsoft.com/office/drawing/2014/main" id="{3BE2DA3C-7613-A2C7-1FB5-56BCCF03F379}"/>
              </a:ext>
            </a:extLst>
          </p:cNvPr>
          <p:cNvGrpSpPr/>
          <p:nvPr/>
        </p:nvGrpSpPr>
        <p:grpSpPr>
          <a:xfrm>
            <a:off x="6614162" y="1845342"/>
            <a:ext cx="4257038" cy="4107497"/>
            <a:chOff x="6614162" y="1988503"/>
            <a:chExt cx="3536950" cy="3554412"/>
          </a:xfrm>
        </p:grpSpPr>
        <p:sp>
          <p:nvSpPr>
            <p:cNvPr id="27" name="Oval 4">
              <a:extLst>
                <a:ext uri="{FF2B5EF4-FFF2-40B4-BE49-F238E27FC236}">
                  <a16:creationId xmlns:a16="http://schemas.microsoft.com/office/drawing/2014/main" id="{EA2ACCEF-6166-4AF9-9CA6-2FB6A464A659}"/>
                </a:ext>
              </a:extLst>
            </p:cNvPr>
            <p:cNvSpPr>
              <a:spLocks noChangeArrowheads="1"/>
            </p:cNvSpPr>
            <p:nvPr/>
          </p:nvSpPr>
          <p:spPr bwMode="auto">
            <a:xfrm>
              <a:off x="6614162" y="1988503"/>
              <a:ext cx="1366837" cy="1366837"/>
            </a:xfrm>
            <a:prstGeom prst="ellipse">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0" tIns="0" rIns="0" bIns="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dirty="0">
                  <a:solidFill>
                    <a:schemeClr val="bg1"/>
                  </a:solidFill>
                  <a:latin typeface="Roboto" panose="02000000000000000000" pitchFamily="2" charset="0"/>
                  <a:ea typeface="Roboto" panose="02000000000000000000" pitchFamily="2" charset="0"/>
                </a:rPr>
                <a:t>Market Introduction Date</a:t>
              </a:r>
            </a:p>
          </p:txBody>
        </p:sp>
        <p:sp>
          <p:nvSpPr>
            <p:cNvPr id="28" name="Oval 5">
              <a:extLst>
                <a:ext uri="{FF2B5EF4-FFF2-40B4-BE49-F238E27FC236}">
                  <a16:creationId xmlns:a16="http://schemas.microsoft.com/office/drawing/2014/main" id="{75C80C07-8070-074E-C14A-F850143090D9}"/>
                </a:ext>
              </a:extLst>
            </p:cNvPr>
            <p:cNvSpPr>
              <a:spLocks noChangeArrowheads="1"/>
            </p:cNvSpPr>
            <p:nvPr/>
          </p:nvSpPr>
          <p:spPr bwMode="auto">
            <a:xfrm>
              <a:off x="8785862" y="4177665"/>
              <a:ext cx="1365250" cy="1365250"/>
            </a:xfrm>
            <a:prstGeom prst="ellipse">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0" tIns="0" rIns="0" bIns="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Development Project Expense</a:t>
              </a:r>
            </a:p>
          </p:txBody>
        </p:sp>
        <p:sp>
          <p:nvSpPr>
            <p:cNvPr id="29" name="Oval 6">
              <a:extLst>
                <a:ext uri="{FF2B5EF4-FFF2-40B4-BE49-F238E27FC236}">
                  <a16:creationId xmlns:a16="http://schemas.microsoft.com/office/drawing/2014/main" id="{F2EA32B2-C192-B584-AC27-7E415152B13E}"/>
                </a:ext>
              </a:extLst>
            </p:cNvPr>
            <p:cNvSpPr>
              <a:spLocks noChangeArrowheads="1"/>
            </p:cNvSpPr>
            <p:nvPr/>
          </p:nvSpPr>
          <p:spPr bwMode="auto">
            <a:xfrm>
              <a:off x="6614162" y="4177665"/>
              <a:ext cx="1366837" cy="1365250"/>
            </a:xfrm>
            <a:prstGeom prst="ellipse">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0" tIns="0" rIns="0" bIns="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Product Performance</a:t>
              </a:r>
            </a:p>
          </p:txBody>
        </p:sp>
        <p:sp>
          <p:nvSpPr>
            <p:cNvPr id="30" name="Oval 7">
              <a:extLst>
                <a:ext uri="{FF2B5EF4-FFF2-40B4-BE49-F238E27FC236}">
                  <a16:creationId xmlns:a16="http://schemas.microsoft.com/office/drawing/2014/main" id="{E6EA6D19-FFB3-4E2A-D1DB-1B4811AB5D0E}"/>
                </a:ext>
              </a:extLst>
            </p:cNvPr>
            <p:cNvSpPr>
              <a:spLocks noChangeArrowheads="1"/>
            </p:cNvSpPr>
            <p:nvPr/>
          </p:nvSpPr>
          <p:spPr bwMode="auto">
            <a:xfrm>
              <a:off x="8785862" y="1988503"/>
              <a:ext cx="1365250" cy="1366837"/>
            </a:xfrm>
            <a:prstGeom prst="ellipse">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0" tIns="0" rIns="0" bIns="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Product Unit Cost</a:t>
              </a:r>
            </a:p>
          </p:txBody>
        </p:sp>
        <p:cxnSp>
          <p:nvCxnSpPr>
            <p:cNvPr id="31" name="Straight Arrow Connector 12">
              <a:extLst>
                <a:ext uri="{FF2B5EF4-FFF2-40B4-BE49-F238E27FC236}">
                  <a16:creationId xmlns:a16="http://schemas.microsoft.com/office/drawing/2014/main" id="{AF8F0925-FEE6-6679-CEE6-7166721F3498}"/>
                </a:ext>
              </a:extLst>
            </p:cNvPr>
            <p:cNvCxnSpPr>
              <a:cxnSpLocks noChangeShapeType="1"/>
              <a:stCxn id="27" idx="6"/>
              <a:endCxn id="30" idx="2"/>
            </p:cNvCxnSpPr>
            <p:nvPr/>
          </p:nvCxnSpPr>
          <p:spPr bwMode="auto">
            <a:xfrm>
              <a:off x="7980999" y="2672715"/>
              <a:ext cx="804863" cy="1588"/>
            </a:xfrm>
            <a:prstGeom prst="straightConnector1">
              <a:avLst/>
            </a:prstGeom>
            <a:noFill/>
            <a:ln w="28575" cap="sq">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cxnSp>
          <p:nvCxnSpPr>
            <p:cNvPr id="32" name="Straight Arrow Connector 14">
              <a:extLst>
                <a:ext uri="{FF2B5EF4-FFF2-40B4-BE49-F238E27FC236}">
                  <a16:creationId xmlns:a16="http://schemas.microsoft.com/office/drawing/2014/main" id="{E536F5DF-BB4E-A248-48FF-48B97862517F}"/>
                </a:ext>
              </a:extLst>
            </p:cNvPr>
            <p:cNvCxnSpPr>
              <a:cxnSpLocks noChangeShapeType="1"/>
              <a:stCxn id="30" idx="4"/>
              <a:endCxn id="28" idx="0"/>
            </p:cNvCxnSpPr>
            <p:nvPr/>
          </p:nvCxnSpPr>
          <p:spPr bwMode="auto">
            <a:xfrm rot="5400000">
              <a:off x="9056530" y="3765709"/>
              <a:ext cx="822325" cy="1588"/>
            </a:xfrm>
            <a:prstGeom prst="straightConnector1">
              <a:avLst/>
            </a:prstGeom>
            <a:noFill/>
            <a:ln w="28575" cap="sq">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cxnSp>
          <p:nvCxnSpPr>
            <p:cNvPr id="33" name="Straight Arrow Connector 16">
              <a:extLst>
                <a:ext uri="{FF2B5EF4-FFF2-40B4-BE49-F238E27FC236}">
                  <a16:creationId xmlns:a16="http://schemas.microsoft.com/office/drawing/2014/main" id="{CC3565AD-2B60-37E1-7301-08D2D4AF1E47}"/>
                </a:ext>
              </a:extLst>
            </p:cNvPr>
            <p:cNvCxnSpPr>
              <a:cxnSpLocks noChangeShapeType="1"/>
              <a:stCxn id="28" idx="2"/>
              <a:endCxn id="29" idx="6"/>
            </p:cNvCxnSpPr>
            <p:nvPr/>
          </p:nvCxnSpPr>
          <p:spPr bwMode="auto">
            <a:xfrm rot="10800000">
              <a:off x="7980999" y="4860290"/>
              <a:ext cx="804863" cy="1588"/>
            </a:xfrm>
            <a:prstGeom prst="straightConnector1">
              <a:avLst/>
            </a:prstGeom>
            <a:noFill/>
            <a:ln w="28575" cap="sq">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cxnSp>
          <p:nvCxnSpPr>
            <p:cNvPr id="34" name="Straight Arrow Connector 18">
              <a:extLst>
                <a:ext uri="{FF2B5EF4-FFF2-40B4-BE49-F238E27FC236}">
                  <a16:creationId xmlns:a16="http://schemas.microsoft.com/office/drawing/2014/main" id="{5328FC89-7C35-7DE1-BF49-A372A94B44AC}"/>
                </a:ext>
              </a:extLst>
            </p:cNvPr>
            <p:cNvCxnSpPr>
              <a:cxnSpLocks noChangeShapeType="1"/>
              <a:stCxn id="27" idx="4"/>
              <a:endCxn id="29" idx="0"/>
            </p:cNvCxnSpPr>
            <p:nvPr/>
          </p:nvCxnSpPr>
          <p:spPr bwMode="auto">
            <a:xfrm rot="5400000">
              <a:off x="6886418" y="3765709"/>
              <a:ext cx="822325" cy="1587"/>
            </a:xfrm>
            <a:prstGeom prst="straightConnector1">
              <a:avLst/>
            </a:prstGeom>
            <a:noFill/>
            <a:ln w="28575" cap="sq">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cxnSp>
          <p:nvCxnSpPr>
            <p:cNvPr id="35" name="Straight Arrow Connector 20">
              <a:extLst>
                <a:ext uri="{FF2B5EF4-FFF2-40B4-BE49-F238E27FC236}">
                  <a16:creationId xmlns:a16="http://schemas.microsoft.com/office/drawing/2014/main" id="{E3C31C10-D5BF-1822-5718-D5E0AB692A84}"/>
                </a:ext>
              </a:extLst>
            </p:cNvPr>
            <p:cNvCxnSpPr>
              <a:cxnSpLocks noChangeShapeType="1"/>
              <a:stCxn id="29" idx="7"/>
              <a:endCxn id="30" idx="3"/>
            </p:cNvCxnSpPr>
            <p:nvPr/>
          </p:nvCxnSpPr>
          <p:spPr bwMode="auto">
            <a:xfrm rot="5400000" flipH="1" flipV="1">
              <a:off x="7772243" y="3164046"/>
              <a:ext cx="1222375" cy="1204913"/>
            </a:xfrm>
            <a:prstGeom prst="straightConnector1">
              <a:avLst/>
            </a:prstGeom>
            <a:noFill/>
            <a:ln w="28575" cap="sq">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cxnSp>
          <p:nvCxnSpPr>
            <p:cNvPr id="36" name="Straight Arrow Connector 22">
              <a:extLst>
                <a:ext uri="{FF2B5EF4-FFF2-40B4-BE49-F238E27FC236}">
                  <a16:creationId xmlns:a16="http://schemas.microsoft.com/office/drawing/2014/main" id="{7F421985-EE36-8A5D-2565-93B1BC644A3A}"/>
                </a:ext>
              </a:extLst>
            </p:cNvPr>
            <p:cNvCxnSpPr>
              <a:cxnSpLocks noChangeShapeType="1"/>
              <a:stCxn id="27" idx="5"/>
              <a:endCxn id="28" idx="1"/>
            </p:cNvCxnSpPr>
            <p:nvPr/>
          </p:nvCxnSpPr>
          <p:spPr bwMode="auto">
            <a:xfrm rot="16200000" flipH="1">
              <a:off x="7772243" y="3164046"/>
              <a:ext cx="1222375" cy="1204913"/>
            </a:xfrm>
            <a:prstGeom prst="straightConnector1">
              <a:avLst/>
            </a:prstGeom>
            <a:noFill/>
            <a:ln w="28575" cap="sq">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266258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Users\Administrator\Documents\iStock_000002548064Small.jpg">
            <a:extLst>
              <a:ext uri="{FF2B5EF4-FFF2-40B4-BE49-F238E27FC236}">
                <a16:creationId xmlns:a16="http://schemas.microsoft.com/office/drawing/2014/main" id="{D6C44FCC-9473-BDC5-2151-1308EA392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1540" y="4081463"/>
            <a:ext cx="3148013"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Obstacles to Product Development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altLang="en-US" dirty="0"/>
              <a:t>Chaotic work environment – constant interruptions</a:t>
            </a:r>
          </a:p>
          <a:p>
            <a:r>
              <a:rPr lang="en-US" altLang="en-US" dirty="0"/>
              <a:t>Resources spread too thinly – resource bottlenecks</a:t>
            </a:r>
          </a:p>
          <a:p>
            <a:r>
              <a:rPr lang="en-US" altLang="en-US" dirty="0"/>
              <a:t>Failure to prioritize projects/tasks</a:t>
            </a:r>
          </a:p>
          <a:p>
            <a:r>
              <a:rPr lang="en-US" altLang="en-US" dirty="0"/>
              <a:t>Poor communication and lack of multi-disciplinary team approach</a:t>
            </a:r>
          </a:p>
          <a:p>
            <a:r>
              <a:rPr lang="en-US" altLang="en-US" dirty="0"/>
              <a:t>Poorly defined product requirements and constant changes</a:t>
            </a:r>
          </a:p>
          <a:p>
            <a:r>
              <a:rPr lang="en-US" altLang="en-US" dirty="0"/>
              <a:t>Lack of a formal design process with checkpoints</a:t>
            </a:r>
          </a:p>
          <a:p>
            <a:r>
              <a:rPr lang="en-US" altLang="en-US" dirty="0"/>
              <a:t>Late consideration of manufacturability</a:t>
            </a:r>
          </a:p>
          <a:p>
            <a:r>
              <a:rPr lang="en-US" altLang="en-US" dirty="0"/>
              <a:t>Lack of effort in concept development and evaluation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26092696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Principles – overarching logic of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err="1"/>
              <a:t>Kaikaku</a:t>
            </a:r>
            <a:r>
              <a:rPr lang="en-US" altLang="en-US" dirty="0"/>
              <a:t> - rapid revolutionary, not incremental evolutionary change</a:t>
            </a:r>
          </a:p>
          <a:p>
            <a:r>
              <a:rPr lang="en-US" altLang="en-US" dirty="0"/>
              <a:t>Cross-functional team based creative design</a:t>
            </a:r>
          </a:p>
          <a:p>
            <a:r>
              <a:rPr lang="en-US" altLang="en-US" dirty="0"/>
              <a:t>Moonshine: sketch, model, simulate, prototype, scale up</a:t>
            </a:r>
          </a:p>
          <a:p>
            <a:r>
              <a:rPr lang="en-US" altLang="en-US" dirty="0"/>
              <a:t>Diverge then converge, then repeat</a:t>
            </a:r>
          </a:p>
          <a:p>
            <a:r>
              <a:rPr lang="en-US" altLang="en-US" dirty="0"/>
              <a:t>Catch Ball and refine</a:t>
            </a:r>
          </a:p>
          <a:p>
            <a:r>
              <a:rPr lang="en-US" altLang="en-US" dirty="0"/>
              <a:t>Design in quality, design out waste</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pic>
        <p:nvPicPr>
          <p:cNvPr id="14" name="Picture 2">
            <a:extLst>
              <a:ext uri="{FF2B5EF4-FFF2-40B4-BE49-F238E27FC236}">
                <a16:creationId xmlns:a16="http://schemas.microsoft.com/office/drawing/2014/main" id="{5201D159-2A62-95F0-1B54-4E391B89A4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2203" y="3843338"/>
            <a:ext cx="302895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1495830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The Four Phases of 3P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grpSp>
        <p:nvGrpSpPr>
          <p:cNvPr id="3" name="Group 2">
            <a:extLst>
              <a:ext uri="{FF2B5EF4-FFF2-40B4-BE49-F238E27FC236}">
                <a16:creationId xmlns:a16="http://schemas.microsoft.com/office/drawing/2014/main" id="{DE56D535-E206-609A-4923-85B83710E566}"/>
              </a:ext>
            </a:extLst>
          </p:cNvPr>
          <p:cNvGrpSpPr/>
          <p:nvPr/>
        </p:nvGrpSpPr>
        <p:grpSpPr>
          <a:xfrm>
            <a:off x="838200" y="297639"/>
            <a:ext cx="3396162" cy="306433"/>
            <a:chOff x="838200" y="297639"/>
            <a:chExt cx="3396162" cy="306433"/>
          </a:xfrm>
        </p:grpSpPr>
        <p:grpSp>
          <p:nvGrpSpPr>
            <p:cNvPr id="5" name="Group 4">
              <a:extLst>
                <a:ext uri="{FF2B5EF4-FFF2-40B4-BE49-F238E27FC236}">
                  <a16:creationId xmlns:a16="http://schemas.microsoft.com/office/drawing/2014/main" id="{8A349855-7C81-684E-5ADA-38B8D844413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F8B746C2-9E2B-8BAD-2E83-DDF8D63F407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E07DF6A1-9143-8D59-9652-3408EA5CC78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B58D9DE-EB27-9B84-1461-B8ABB30F2CC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B9DD8FB7-164F-80BE-126D-A99117700F7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4D66621-30D7-C632-6BCC-29AA667C13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01C9EC0B-4A5A-88F4-AE79-7AAA31F6326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A0954574-A416-A0F4-48A6-49D100DB3F51}"/>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pSp>
        <p:nvGrpSpPr>
          <p:cNvPr id="27" name="Group 26">
            <a:extLst>
              <a:ext uri="{FF2B5EF4-FFF2-40B4-BE49-F238E27FC236}">
                <a16:creationId xmlns:a16="http://schemas.microsoft.com/office/drawing/2014/main" id="{2DBBF929-D12C-D441-4750-B0A06C485242}"/>
              </a:ext>
            </a:extLst>
          </p:cNvPr>
          <p:cNvGrpSpPr/>
          <p:nvPr/>
        </p:nvGrpSpPr>
        <p:grpSpPr>
          <a:xfrm>
            <a:off x="1029811" y="2035194"/>
            <a:ext cx="10132377" cy="3822065"/>
            <a:chOff x="830263" y="1544638"/>
            <a:chExt cx="7383462" cy="4217987"/>
          </a:xfrm>
        </p:grpSpPr>
        <p:sp>
          <p:nvSpPr>
            <p:cNvPr id="13" name="Freeform 4">
              <a:extLst>
                <a:ext uri="{FF2B5EF4-FFF2-40B4-BE49-F238E27FC236}">
                  <a16:creationId xmlns:a16="http://schemas.microsoft.com/office/drawing/2014/main" id="{018601AA-A78D-2964-C74C-611D5370A737}"/>
                </a:ext>
              </a:extLst>
            </p:cNvPr>
            <p:cNvSpPr>
              <a:spLocks noChangeArrowheads="1"/>
            </p:cNvSpPr>
            <p:nvPr/>
          </p:nvSpPr>
          <p:spPr bwMode="auto">
            <a:xfrm>
              <a:off x="882650" y="1544638"/>
              <a:ext cx="1687513" cy="3106737"/>
            </a:xfrm>
            <a:custGeom>
              <a:avLst/>
              <a:gdLst>
                <a:gd name="T0" fmla="*/ 0 w 1119352"/>
                <a:gd name="T1" fmla="*/ 3126342 h 3105807"/>
                <a:gd name="T2" fmla="*/ 0 w 1119352"/>
                <a:gd name="T3" fmla="*/ 0 h 3105807"/>
                <a:gd name="T4" fmla="*/ 2147483646 w 1119352"/>
                <a:gd name="T5" fmla="*/ 269790 h 3105807"/>
                <a:gd name="T6" fmla="*/ 2147483646 w 1119352"/>
                <a:gd name="T7" fmla="*/ 2856556 h 3105807"/>
                <a:gd name="T8" fmla="*/ 0 w 1119352"/>
                <a:gd name="T9" fmla="*/ 3126342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VOC/spec’s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Part Numbers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Drawings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Samples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Interfaces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Volumes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Ramp</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Takt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Process Steps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Target Costs</a:t>
              </a:r>
            </a:p>
          </p:txBody>
        </p:sp>
        <p:sp>
          <p:nvSpPr>
            <p:cNvPr id="14" name="Freeform 5">
              <a:extLst>
                <a:ext uri="{FF2B5EF4-FFF2-40B4-BE49-F238E27FC236}">
                  <a16:creationId xmlns:a16="http://schemas.microsoft.com/office/drawing/2014/main" id="{8AC6A8FE-EF98-67C6-13A7-F9EE851D6F36}"/>
                </a:ext>
              </a:extLst>
            </p:cNvPr>
            <p:cNvSpPr>
              <a:spLocks noChangeArrowheads="1"/>
            </p:cNvSpPr>
            <p:nvPr/>
          </p:nvSpPr>
          <p:spPr bwMode="auto">
            <a:xfrm>
              <a:off x="2533650" y="1989138"/>
              <a:ext cx="1849438" cy="2217737"/>
            </a:xfrm>
            <a:custGeom>
              <a:avLst/>
              <a:gdLst>
                <a:gd name="T0" fmla="*/ 0 w 1119352"/>
                <a:gd name="T1" fmla="*/ 1343 h 3105807"/>
                <a:gd name="T2" fmla="*/ 0 w 1119352"/>
                <a:gd name="T3" fmla="*/ 0 h 3105807"/>
                <a:gd name="T4" fmla="*/ 2147483646 w 1119352"/>
                <a:gd name="T5" fmla="*/ 116 h 3105807"/>
                <a:gd name="T6" fmla="*/ 2147483646 w 1119352"/>
                <a:gd name="T7" fmla="*/ 1227 h 3105807"/>
                <a:gd name="T8" fmla="*/ 0 w 1119352"/>
                <a:gd name="T9" fmla="*/ 1343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7 Alternatives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16 Catchphrases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Simulations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Model Lab</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Selection</a:t>
              </a:r>
            </a:p>
          </p:txBody>
        </p:sp>
        <p:sp>
          <p:nvSpPr>
            <p:cNvPr id="15" name="Freeform 6">
              <a:extLst>
                <a:ext uri="{FF2B5EF4-FFF2-40B4-BE49-F238E27FC236}">
                  <a16:creationId xmlns:a16="http://schemas.microsoft.com/office/drawing/2014/main" id="{590F97CB-A86A-9044-38F8-106E82CB25B0}"/>
                </a:ext>
              </a:extLst>
            </p:cNvPr>
            <p:cNvSpPr>
              <a:spLocks noChangeArrowheads="1"/>
            </p:cNvSpPr>
            <p:nvPr/>
          </p:nvSpPr>
          <p:spPr bwMode="auto">
            <a:xfrm>
              <a:off x="4356100" y="2346325"/>
              <a:ext cx="1965325" cy="1503363"/>
            </a:xfrm>
            <a:custGeom>
              <a:avLst/>
              <a:gdLst>
                <a:gd name="T0" fmla="*/ 0 w 1119352"/>
                <a:gd name="T1" fmla="*/ 0 h 3105807"/>
                <a:gd name="T2" fmla="*/ 0 w 1119352"/>
                <a:gd name="T3" fmla="*/ 0 h 3105807"/>
                <a:gd name="T4" fmla="*/ 2147483646 w 1119352"/>
                <a:gd name="T5" fmla="*/ 0 h 3105807"/>
                <a:gd name="T6" fmla="*/ 2147483646 w 1119352"/>
                <a:gd name="T7" fmla="*/ 0 h 3105807"/>
                <a:gd name="T8" fmla="*/ 0 w 1119352"/>
                <a:gd name="T9" fmla="*/ 0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Flow Chart</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Takt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Cycle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Equipment Plan</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Process Capacity</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 Work</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 Layout</a:t>
              </a:r>
            </a:p>
          </p:txBody>
        </p:sp>
        <p:sp>
          <p:nvSpPr>
            <p:cNvPr id="16" name="Freeform 7">
              <a:extLst>
                <a:ext uri="{FF2B5EF4-FFF2-40B4-BE49-F238E27FC236}">
                  <a16:creationId xmlns:a16="http://schemas.microsoft.com/office/drawing/2014/main" id="{A50581C9-FD51-06DD-5AC0-A437ED302C0E}"/>
                </a:ext>
              </a:extLst>
            </p:cNvPr>
            <p:cNvSpPr>
              <a:spLocks noChangeArrowheads="1"/>
            </p:cNvSpPr>
            <p:nvPr/>
          </p:nvSpPr>
          <p:spPr bwMode="auto">
            <a:xfrm>
              <a:off x="6211888" y="2774950"/>
              <a:ext cx="1512887" cy="646113"/>
            </a:xfrm>
            <a:custGeom>
              <a:avLst/>
              <a:gdLst>
                <a:gd name="T0" fmla="*/ 0 w 1119352"/>
                <a:gd name="T1" fmla="*/ 0 h 3105807"/>
                <a:gd name="T2" fmla="*/ 0 w 1119352"/>
                <a:gd name="T3" fmla="*/ 0 h 3105807"/>
                <a:gd name="T4" fmla="*/ 1127954804 w 1119352"/>
                <a:gd name="T5" fmla="*/ 0 h 3105807"/>
                <a:gd name="T6" fmla="*/ 1144069839 w 1119352"/>
                <a:gd name="T7" fmla="*/ 0 h 3105807"/>
                <a:gd name="T8" fmla="*/ 0 w 1119352"/>
                <a:gd name="T9" fmla="*/ 0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952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Launch Phase</a:t>
              </a:r>
            </a:p>
          </p:txBody>
        </p:sp>
        <p:sp>
          <p:nvSpPr>
            <p:cNvPr id="17" name="Right Arrow 8">
              <a:extLst>
                <a:ext uri="{FF2B5EF4-FFF2-40B4-BE49-F238E27FC236}">
                  <a16:creationId xmlns:a16="http://schemas.microsoft.com/office/drawing/2014/main" id="{BDFAFE86-8B49-BA4B-4F7C-AA810FA30395}"/>
                </a:ext>
              </a:extLst>
            </p:cNvPr>
            <p:cNvSpPr>
              <a:spLocks noChangeArrowheads="1"/>
            </p:cNvSpPr>
            <p:nvPr/>
          </p:nvSpPr>
          <p:spPr bwMode="auto">
            <a:xfrm>
              <a:off x="7693025" y="2562225"/>
              <a:ext cx="520700" cy="1071563"/>
            </a:xfrm>
            <a:prstGeom prst="rightArrow">
              <a:avLst>
                <a:gd name="adj1" fmla="val 50000"/>
                <a:gd name="adj2" fmla="val 50000"/>
              </a:avLst>
            </a:pr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8" name="TextBox 9">
              <a:extLst>
                <a:ext uri="{FF2B5EF4-FFF2-40B4-BE49-F238E27FC236}">
                  <a16:creationId xmlns:a16="http://schemas.microsoft.com/office/drawing/2014/main" id="{B443053A-B7BD-4AD4-91DA-55D6BA11069F}"/>
                </a:ext>
              </a:extLst>
            </p:cNvPr>
            <p:cNvSpPr txBox="1">
              <a:spLocks noChangeArrowheads="1"/>
            </p:cNvSpPr>
            <p:nvPr/>
          </p:nvSpPr>
          <p:spPr bwMode="auto">
            <a:xfrm rot="16200000">
              <a:off x="111919" y="2944019"/>
              <a:ext cx="1744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Information Phase</a:t>
              </a:r>
            </a:p>
          </p:txBody>
        </p:sp>
        <p:sp>
          <p:nvSpPr>
            <p:cNvPr id="19" name="TextBox 10">
              <a:extLst>
                <a:ext uri="{FF2B5EF4-FFF2-40B4-BE49-F238E27FC236}">
                  <a16:creationId xmlns:a16="http://schemas.microsoft.com/office/drawing/2014/main" id="{8F7CE58F-857F-163B-0FD3-697A0745ECF9}"/>
                </a:ext>
              </a:extLst>
            </p:cNvPr>
            <p:cNvSpPr txBox="1">
              <a:spLocks noChangeArrowheads="1"/>
            </p:cNvSpPr>
            <p:nvPr/>
          </p:nvSpPr>
          <p:spPr bwMode="auto">
            <a:xfrm rot="16200000">
              <a:off x="1963122" y="2944118"/>
              <a:ext cx="14077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Creative Phase</a:t>
              </a:r>
            </a:p>
          </p:txBody>
        </p:sp>
        <p:sp>
          <p:nvSpPr>
            <p:cNvPr id="20" name="TextBox 11">
              <a:extLst>
                <a:ext uri="{FF2B5EF4-FFF2-40B4-BE49-F238E27FC236}">
                  <a16:creationId xmlns:a16="http://schemas.microsoft.com/office/drawing/2014/main" id="{3D688BF2-503B-FC80-C5A2-A9450FB762F2}"/>
                </a:ext>
              </a:extLst>
            </p:cNvPr>
            <p:cNvSpPr txBox="1">
              <a:spLocks noChangeArrowheads="1"/>
            </p:cNvSpPr>
            <p:nvPr/>
          </p:nvSpPr>
          <p:spPr bwMode="auto">
            <a:xfrm rot="16200000">
              <a:off x="3745342" y="2944118"/>
              <a:ext cx="15199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Definition Phase</a:t>
              </a:r>
            </a:p>
          </p:txBody>
        </p:sp>
        <p:sp>
          <p:nvSpPr>
            <p:cNvPr id="21" name="Left Brace 12">
              <a:extLst>
                <a:ext uri="{FF2B5EF4-FFF2-40B4-BE49-F238E27FC236}">
                  <a16:creationId xmlns:a16="http://schemas.microsoft.com/office/drawing/2014/main" id="{89EF9829-0CC6-38DC-C2D7-FE62DFCB52CD}"/>
                </a:ext>
              </a:extLst>
            </p:cNvPr>
            <p:cNvSpPr>
              <a:spLocks/>
            </p:cNvSpPr>
            <p:nvPr/>
          </p:nvSpPr>
          <p:spPr bwMode="auto">
            <a:xfrm rot="16200000">
              <a:off x="1481931" y="4129882"/>
              <a:ext cx="409575" cy="1624012"/>
            </a:xfrm>
            <a:prstGeom prst="leftBrace">
              <a:avLst>
                <a:gd name="adj1" fmla="val 8334"/>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2" name="Left Brace 13">
              <a:extLst>
                <a:ext uri="{FF2B5EF4-FFF2-40B4-BE49-F238E27FC236}">
                  <a16:creationId xmlns:a16="http://schemas.microsoft.com/office/drawing/2014/main" id="{C8CD7729-DD30-010C-A428-EEE52ED854D4}"/>
                </a:ext>
              </a:extLst>
            </p:cNvPr>
            <p:cNvSpPr>
              <a:spLocks/>
            </p:cNvSpPr>
            <p:nvPr/>
          </p:nvSpPr>
          <p:spPr bwMode="auto">
            <a:xfrm rot="16200000">
              <a:off x="3606800" y="3713163"/>
              <a:ext cx="409575" cy="2479675"/>
            </a:xfrm>
            <a:prstGeom prst="leftBrace">
              <a:avLst>
                <a:gd name="adj1" fmla="val 8353"/>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3" name="Left Brace 14">
              <a:extLst>
                <a:ext uri="{FF2B5EF4-FFF2-40B4-BE49-F238E27FC236}">
                  <a16:creationId xmlns:a16="http://schemas.microsoft.com/office/drawing/2014/main" id="{9C3D008E-444E-5E76-254F-F156DFE7255F}"/>
                </a:ext>
              </a:extLst>
            </p:cNvPr>
            <p:cNvSpPr>
              <a:spLocks/>
            </p:cNvSpPr>
            <p:nvPr/>
          </p:nvSpPr>
          <p:spPr bwMode="auto">
            <a:xfrm rot="16200000">
              <a:off x="6353970" y="3532981"/>
              <a:ext cx="411162" cy="2847975"/>
            </a:xfrm>
            <a:prstGeom prst="leftBrace">
              <a:avLst>
                <a:gd name="adj1" fmla="val 8306"/>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4" name="TextBox 15">
              <a:extLst>
                <a:ext uri="{FF2B5EF4-FFF2-40B4-BE49-F238E27FC236}">
                  <a16:creationId xmlns:a16="http://schemas.microsoft.com/office/drawing/2014/main" id="{CB27FE8F-EB21-11FB-1559-D74CFEAB124B}"/>
                </a:ext>
              </a:extLst>
            </p:cNvPr>
            <p:cNvSpPr txBox="1">
              <a:spLocks noChangeArrowheads="1"/>
            </p:cNvSpPr>
            <p:nvPr/>
          </p:nvSpPr>
          <p:spPr bwMode="auto">
            <a:xfrm>
              <a:off x="1025525" y="5422900"/>
              <a:ext cx="11842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Kickoff</a:t>
              </a:r>
            </a:p>
          </p:txBody>
        </p:sp>
        <p:sp>
          <p:nvSpPr>
            <p:cNvPr id="25" name="TextBox 16">
              <a:extLst>
                <a:ext uri="{FF2B5EF4-FFF2-40B4-BE49-F238E27FC236}">
                  <a16:creationId xmlns:a16="http://schemas.microsoft.com/office/drawing/2014/main" id="{7652D6CB-7D4F-B1BD-2BDB-DCB1BA9E5799}"/>
                </a:ext>
              </a:extLst>
            </p:cNvPr>
            <p:cNvSpPr txBox="1">
              <a:spLocks noChangeArrowheads="1"/>
            </p:cNvSpPr>
            <p:nvPr/>
          </p:nvSpPr>
          <p:spPr bwMode="auto">
            <a:xfrm>
              <a:off x="3291447" y="5422900"/>
              <a:ext cx="10005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Event</a:t>
              </a:r>
            </a:p>
          </p:txBody>
        </p:sp>
        <p:sp>
          <p:nvSpPr>
            <p:cNvPr id="26" name="TextBox 17">
              <a:extLst>
                <a:ext uri="{FF2B5EF4-FFF2-40B4-BE49-F238E27FC236}">
                  <a16:creationId xmlns:a16="http://schemas.microsoft.com/office/drawing/2014/main" id="{CA930D36-7C88-3252-A507-274C5C098841}"/>
                </a:ext>
              </a:extLst>
            </p:cNvPr>
            <p:cNvSpPr txBox="1">
              <a:spLocks noChangeArrowheads="1"/>
            </p:cNvSpPr>
            <p:nvPr/>
          </p:nvSpPr>
          <p:spPr bwMode="auto">
            <a:xfrm>
              <a:off x="5299075" y="5422900"/>
              <a:ext cx="2006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Implementation</a:t>
              </a:r>
            </a:p>
          </p:txBody>
        </p:sp>
      </p:grpSp>
    </p:spTree>
    <p:extLst>
      <p:ext uri="{BB962C8B-B14F-4D97-AF65-F5344CB8AC3E}">
        <p14:creationId xmlns:p14="http://schemas.microsoft.com/office/powerpoint/2010/main" val="2688973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Product and Production Interaction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grpSp>
        <p:nvGrpSpPr>
          <p:cNvPr id="3" name="Group 2">
            <a:extLst>
              <a:ext uri="{FF2B5EF4-FFF2-40B4-BE49-F238E27FC236}">
                <a16:creationId xmlns:a16="http://schemas.microsoft.com/office/drawing/2014/main" id="{DE56D535-E206-609A-4923-85B83710E566}"/>
              </a:ext>
            </a:extLst>
          </p:cNvPr>
          <p:cNvGrpSpPr/>
          <p:nvPr/>
        </p:nvGrpSpPr>
        <p:grpSpPr>
          <a:xfrm>
            <a:off x="838200" y="297639"/>
            <a:ext cx="3396162" cy="306433"/>
            <a:chOff x="838200" y="297639"/>
            <a:chExt cx="3396162" cy="306433"/>
          </a:xfrm>
        </p:grpSpPr>
        <p:grpSp>
          <p:nvGrpSpPr>
            <p:cNvPr id="5" name="Group 4">
              <a:extLst>
                <a:ext uri="{FF2B5EF4-FFF2-40B4-BE49-F238E27FC236}">
                  <a16:creationId xmlns:a16="http://schemas.microsoft.com/office/drawing/2014/main" id="{8A349855-7C81-684E-5ADA-38B8D844413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F8B746C2-9E2B-8BAD-2E83-DDF8D63F407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E07DF6A1-9143-8D59-9652-3408EA5CC78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9B58D9DE-EB27-9B84-1461-B8ABB30F2CCF}"/>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B9DD8FB7-164F-80BE-126D-A99117700F7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A4D66621-30D7-C632-6BCC-29AA667C137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01C9EC0B-4A5A-88F4-AE79-7AAA31F6326D}"/>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A0954574-A416-A0F4-48A6-49D100DB3F51}"/>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pSp>
        <p:nvGrpSpPr>
          <p:cNvPr id="65" name="Group 64">
            <a:extLst>
              <a:ext uri="{FF2B5EF4-FFF2-40B4-BE49-F238E27FC236}">
                <a16:creationId xmlns:a16="http://schemas.microsoft.com/office/drawing/2014/main" id="{277944CC-71CC-974D-3683-E60468988ABB}"/>
              </a:ext>
            </a:extLst>
          </p:cNvPr>
          <p:cNvGrpSpPr/>
          <p:nvPr/>
        </p:nvGrpSpPr>
        <p:grpSpPr>
          <a:xfrm>
            <a:off x="2525717" y="1783428"/>
            <a:ext cx="6772275" cy="4530059"/>
            <a:chOff x="992188" y="1490663"/>
            <a:chExt cx="6772275" cy="4622800"/>
          </a:xfrm>
        </p:grpSpPr>
        <p:sp>
          <p:nvSpPr>
            <p:cNvPr id="28" name="Rectangle 3">
              <a:extLst>
                <a:ext uri="{FF2B5EF4-FFF2-40B4-BE49-F238E27FC236}">
                  <a16:creationId xmlns:a16="http://schemas.microsoft.com/office/drawing/2014/main" id="{752A34B0-EDCB-BC5E-4707-A32E10A98E50}"/>
                </a:ext>
              </a:extLst>
            </p:cNvPr>
            <p:cNvSpPr>
              <a:spLocks noChangeArrowheads="1"/>
            </p:cNvSpPr>
            <p:nvPr/>
          </p:nvSpPr>
          <p:spPr bwMode="auto">
            <a:xfrm>
              <a:off x="992188" y="1490663"/>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A</a:t>
              </a:r>
              <a:r>
                <a:rPr lang="en-GB" altLang="en-US" sz="1200">
                  <a:solidFill>
                    <a:schemeClr val="bg1"/>
                  </a:solidFill>
                  <a:latin typeface="Roboto" panose="02000000000000000000" pitchFamily="2" charset="0"/>
                  <a:ea typeface="Roboto" panose="02000000000000000000" pitchFamily="2" charset="0"/>
                </a:rPr>
                <a:t>. 	Product Planning</a:t>
              </a:r>
            </a:p>
          </p:txBody>
        </p:sp>
        <p:sp>
          <p:nvSpPr>
            <p:cNvPr id="29" name="Rectangle 4">
              <a:extLst>
                <a:ext uri="{FF2B5EF4-FFF2-40B4-BE49-F238E27FC236}">
                  <a16:creationId xmlns:a16="http://schemas.microsoft.com/office/drawing/2014/main" id="{B4BB1048-BA54-AFCE-249C-22A93E668062}"/>
                </a:ext>
              </a:extLst>
            </p:cNvPr>
            <p:cNvSpPr>
              <a:spLocks noChangeArrowheads="1"/>
            </p:cNvSpPr>
            <p:nvPr/>
          </p:nvSpPr>
          <p:spPr bwMode="auto">
            <a:xfrm>
              <a:off x="992188" y="2116138"/>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dirty="0">
                  <a:solidFill>
                    <a:schemeClr val="bg1"/>
                  </a:solidFill>
                  <a:latin typeface="Roboto" panose="02000000000000000000" pitchFamily="2" charset="0"/>
                  <a:ea typeface="Roboto" panose="02000000000000000000" pitchFamily="2" charset="0"/>
                </a:rPr>
                <a:t>B</a:t>
              </a:r>
              <a:r>
                <a:rPr lang="en-GB" altLang="en-US" sz="1200" dirty="0">
                  <a:solidFill>
                    <a:schemeClr val="bg1"/>
                  </a:solidFill>
                  <a:latin typeface="Roboto" panose="02000000000000000000" pitchFamily="2" charset="0"/>
                  <a:ea typeface="Roboto" panose="02000000000000000000" pitchFamily="2" charset="0"/>
                </a:rPr>
                <a:t>. 	Function Definition</a:t>
              </a:r>
            </a:p>
          </p:txBody>
        </p:sp>
        <p:sp>
          <p:nvSpPr>
            <p:cNvPr id="30" name="Rectangle 5">
              <a:extLst>
                <a:ext uri="{FF2B5EF4-FFF2-40B4-BE49-F238E27FC236}">
                  <a16:creationId xmlns:a16="http://schemas.microsoft.com/office/drawing/2014/main" id="{F0601C90-D740-4F27-F324-B1C687612E9E}"/>
                </a:ext>
              </a:extLst>
            </p:cNvPr>
            <p:cNvSpPr>
              <a:spLocks noChangeArrowheads="1"/>
            </p:cNvSpPr>
            <p:nvPr/>
          </p:nvSpPr>
          <p:spPr bwMode="auto">
            <a:xfrm>
              <a:off x="992188" y="2743200"/>
              <a:ext cx="1370012" cy="427038"/>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C</a:t>
              </a:r>
              <a:r>
                <a:rPr lang="en-GB" altLang="en-US" sz="1200">
                  <a:solidFill>
                    <a:schemeClr val="bg1"/>
                  </a:solidFill>
                  <a:latin typeface="Roboto" panose="02000000000000000000" pitchFamily="2" charset="0"/>
                  <a:ea typeface="Roboto" panose="02000000000000000000" pitchFamily="2" charset="0"/>
                </a:rPr>
                <a:t>. 	Product Alternatives</a:t>
              </a:r>
            </a:p>
          </p:txBody>
        </p:sp>
        <p:sp>
          <p:nvSpPr>
            <p:cNvPr id="31" name="Rectangle 6">
              <a:extLst>
                <a:ext uri="{FF2B5EF4-FFF2-40B4-BE49-F238E27FC236}">
                  <a16:creationId xmlns:a16="http://schemas.microsoft.com/office/drawing/2014/main" id="{44D0818F-4D21-526A-D2AF-320C2906CE95}"/>
                </a:ext>
              </a:extLst>
            </p:cNvPr>
            <p:cNvSpPr>
              <a:spLocks noChangeArrowheads="1"/>
            </p:cNvSpPr>
            <p:nvPr/>
          </p:nvSpPr>
          <p:spPr bwMode="auto">
            <a:xfrm>
              <a:off x="992188" y="3370263"/>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dirty="0">
                  <a:solidFill>
                    <a:schemeClr val="bg1"/>
                  </a:solidFill>
                  <a:latin typeface="Roboto" panose="02000000000000000000" pitchFamily="2" charset="0"/>
                  <a:ea typeface="Roboto" panose="02000000000000000000" pitchFamily="2" charset="0"/>
                </a:rPr>
                <a:t>D</a:t>
              </a:r>
              <a:r>
                <a:rPr lang="en-GB" altLang="en-US" sz="1200" dirty="0">
                  <a:solidFill>
                    <a:schemeClr val="bg1"/>
                  </a:solidFill>
                  <a:latin typeface="Roboto" panose="02000000000000000000" pitchFamily="2" charset="0"/>
                  <a:ea typeface="Roboto" panose="02000000000000000000" pitchFamily="2" charset="0"/>
                </a:rPr>
                <a:t>. 	Refine and Test</a:t>
              </a:r>
            </a:p>
          </p:txBody>
        </p:sp>
        <p:sp>
          <p:nvSpPr>
            <p:cNvPr id="32" name="Rectangle 8">
              <a:extLst>
                <a:ext uri="{FF2B5EF4-FFF2-40B4-BE49-F238E27FC236}">
                  <a16:creationId xmlns:a16="http://schemas.microsoft.com/office/drawing/2014/main" id="{6405F26E-63BB-2183-CB92-A077F8C10E6B}"/>
                </a:ext>
              </a:extLst>
            </p:cNvPr>
            <p:cNvSpPr>
              <a:spLocks noChangeArrowheads="1"/>
            </p:cNvSpPr>
            <p:nvPr/>
          </p:nvSpPr>
          <p:spPr bwMode="auto">
            <a:xfrm>
              <a:off x="992188" y="4403725"/>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E</a:t>
              </a:r>
              <a:r>
                <a:rPr lang="en-GB" altLang="en-US" sz="1200">
                  <a:solidFill>
                    <a:schemeClr val="bg1"/>
                  </a:solidFill>
                  <a:latin typeface="Roboto" panose="02000000000000000000" pitchFamily="2" charset="0"/>
                  <a:ea typeface="Roboto" panose="02000000000000000000" pitchFamily="2" charset="0"/>
                </a:rPr>
                <a:t>. 	Detail Design</a:t>
              </a:r>
            </a:p>
          </p:txBody>
        </p:sp>
        <p:sp>
          <p:nvSpPr>
            <p:cNvPr id="33" name="Rectangle 9">
              <a:extLst>
                <a:ext uri="{FF2B5EF4-FFF2-40B4-BE49-F238E27FC236}">
                  <a16:creationId xmlns:a16="http://schemas.microsoft.com/office/drawing/2014/main" id="{500FC25C-CD96-DDBD-2EF3-5E89B90D09FC}"/>
                </a:ext>
              </a:extLst>
            </p:cNvPr>
            <p:cNvSpPr>
              <a:spLocks noChangeArrowheads="1"/>
            </p:cNvSpPr>
            <p:nvPr/>
          </p:nvSpPr>
          <p:spPr bwMode="auto">
            <a:xfrm>
              <a:off x="992188" y="5056188"/>
              <a:ext cx="1370012"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9</a:t>
              </a:r>
              <a:r>
                <a:rPr lang="en-GB" altLang="en-US" sz="1200">
                  <a:solidFill>
                    <a:schemeClr val="bg1"/>
                  </a:solidFill>
                  <a:latin typeface="Roboto" panose="02000000000000000000" pitchFamily="2" charset="0"/>
                  <a:ea typeface="Roboto" panose="02000000000000000000" pitchFamily="2" charset="0"/>
                </a:rPr>
                <a:t>. 	Volume Production</a:t>
              </a:r>
            </a:p>
          </p:txBody>
        </p:sp>
        <p:sp>
          <p:nvSpPr>
            <p:cNvPr id="34" name="Rectangle 10">
              <a:extLst>
                <a:ext uri="{FF2B5EF4-FFF2-40B4-BE49-F238E27FC236}">
                  <a16:creationId xmlns:a16="http://schemas.microsoft.com/office/drawing/2014/main" id="{F54B3F80-B427-50F6-2D09-C2CF610A6CBB}"/>
                </a:ext>
              </a:extLst>
            </p:cNvPr>
            <p:cNvSpPr>
              <a:spLocks noChangeArrowheads="1"/>
            </p:cNvSpPr>
            <p:nvPr/>
          </p:nvSpPr>
          <p:spPr bwMode="auto">
            <a:xfrm>
              <a:off x="3649663" y="50561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8</a:t>
              </a:r>
              <a:r>
                <a:rPr lang="en-GB" altLang="en-US" sz="1200">
                  <a:solidFill>
                    <a:schemeClr val="bg1"/>
                  </a:solidFill>
                  <a:latin typeface="Roboto" panose="02000000000000000000" pitchFamily="2" charset="0"/>
                  <a:ea typeface="Roboto" panose="02000000000000000000" pitchFamily="2" charset="0"/>
                </a:rPr>
                <a:t>. 	Process Pilot</a:t>
              </a:r>
            </a:p>
          </p:txBody>
        </p:sp>
        <p:sp>
          <p:nvSpPr>
            <p:cNvPr id="35" name="Rectangle 11">
              <a:extLst>
                <a:ext uri="{FF2B5EF4-FFF2-40B4-BE49-F238E27FC236}">
                  <a16:creationId xmlns:a16="http://schemas.microsoft.com/office/drawing/2014/main" id="{29B0B0C6-F93B-2FF0-7081-EC42FDFC688C}"/>
                </a:ext>
              </a:extLst>
            </p:cNvPr>
            <p:cNvSpPr>
              <a:spLocks noChangeArrowheads="1"/>
            </p:cNvSpPr>
            <p:nvPr/>
          </p:nvSpPr>
          <p:spPr bwMode="auto">
            <a:xfrm>
              <a:off x="6396038" y="50561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7</a:t>
              </a:r>
              <a:r>
                <a:rPr lang="en-GB" altLang="en-US" sz="1200">
                  <a:solidFill>
                    <a:schemeClr val="bg1"/>
                  </a:solidFill>
                  <a:latin typeface="Roboto" panose="02000000000000000000" pitchFamily="2" charset="0"/>
                  <a:ea typeface="Roboto" panose="02000000000000000000" pitchFamily="2" charset="0"/>
                </a:rPr>
                <a:t>. 	Equipment Procurement</a:t>
              </a:r>
            </a:p>
          </p:txBody>
        </p:sp>
        <p:sp>
          <p:nvSpPr>
            <p:cNvPr id="36" name="Rectangle 12">
              <a:extLst>
                <a:ext uri="{FF2B5EF4-FFF2-40B4-BE49-F238E27FC236}">
                  <a16:creationId xmlns:a16="http://schemas.microsoft.com/office/drawing/2014/main" id="{2FAA9315-4999-1A65-32D8-1A89AC18274E}"/>
                </a:ext>
              </a:extLst>
            </p:cNvPr>
            <p:cNvSpPr>
              <a:spLocks noChangeArrowheads="1"/>
            </p:cNvSpPr>
            <p:nvPr/>
          </p:nvSpPr>
          <p:spPr bwMode="auto">
            <a:xfrm>
              <a:off x="3649663" y="3806825"/>
              <a:ext cx="1368425" cy="54610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4</a:t>
              </a:r>
              <a:r>
                <a:rPr lang="en-GB" altLang="en-US" sz="1200">
                  <a:solidFill>
                    <a:schemeClr val="bg1"/>
                  </a:solidFill>
                  <a:latin typeface="Roboto" panose="02000000000000000000" pitchFamily="2" charset="0"/>
                  <a:ea typeface="Roboto" panose="02000000000000000000" pitchFamily="2" charset="0"/>
                </a:rPr>
                <a:t>. 	Trials: Design &amp; Process</a:t>
              </a:r>
            </a:p>
          </p:txBody>
        </p:sp>
        <p:sp>
          <p:nvSpPr>
            <p:cNvPr id="37" name="Rectangle 14">
              <a:extLst>
                <a:ext uri="{FF2B5EF4-FFF2-40B4-BE49-F238E27FC236}">
                  <a16:creationId xmlns:a16="http://schemas.microsoft.com/office/drawing/2014/main" id="{3C5ACA90-CE88-40EF-70E8-EF6E2BCF3CC4}"/>
                </a:ext>
              </a:extLst>
            </p:cNvPr>
            <p:cNvSpPr>
              <a:spLocks noChangeArrowheads="1"/>
            </p:cNvSpPr>
            <p:nvPr/>
          </p:nvSpPr>
          <p:spPr bwMode="auto">
            <a:xfrm>
              <a:off x="6396038" y="4403725"/>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6</a:t>
              </a:r>
              <a:r>
                <a:rPr lang="en-GB" altLang="en-US" sz="1200">
                  <a:solidFill>
                    <a:schemeClr val="bg1"/>
                  </a:solidFill>
                  <a:latin typeface="Roboto" panose="02000000000000000000" pitchFamily="2" charset="0"/>
                  <a:ea typeface="Roboto" panose="02000000000000000000" pitchFamily="2" charset="0"/>
                </a:rPr>
                <a:t>. 	Equipment Planning</a:t>
              </a:r>
            </a:p>
          </p:txBody>
        </p:sp>
        <p:sp>
          <p:nvSpPr>
            <p:cNvPr id="38" name="Rectangle 15">
              <a:extLst>
                <a:ext uri="{FF2B5EF4-FFF2-40B4-BE49-F238E27FC236}">
                  <a16:creationId xmlns:a16="http://schemas.microsoft.com/office/drawing/2014/main" id="{7507D851-168C-9640-3268-C256EBCFB5A2}"/>
                </a:ext>
              </a:extLst>
            </p:cNvPr>
            <p:cNvSpPr>
              <a:spLocks noChangeArrowheads="1"/>
            </p:cNvSpPr>
            <p:nvPr/>
          </p:nvSpPr>
          <p:spPr bwMode="auto">
            <a:xfrm>
              <a:off x="6396038" y="3544888"/>
              <a:ext cx="1368425" cy="5778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5</a:t>
              </a:r>
              <a:r>
                <a:rPr lang="en-GB" altLang="en-US" sz="1200">
                  <a:solidFill>
                    <a:schemeClr val="bg1"/>
                  </a:solidFill>
                  <a:latin typeface="Roboto" panose="02000000000000000000" pitchFamily="2" charset="0"/>
                  <a:ea typeface="Roboto" panose="02000000000000000000" pitchFamily="2" charset="0"/>
                </a:rPr>
                <a:t>. 	Detail Production Process</a:t>
              </a:r>
            </a:p>
          </p:txBody>
        </p:sp>
        <p:sp>
          <p:nvSpPr>
            <p:cNvPr id="39" name="Rectangle 16">
              <a:extLst>
                <a:ext uri="{FF2B5EF4-FFF2-40B4-BE49-F238E27FC236}">
                  <a16:creationId xmlns:a16="http://schemas.microsoft.com/office/drawing/2014/main" id="{CC071CD3-3A9D-ECCF-002F-5CB72B92A6CD}"/>
                </a:ext>
              </a:extLst>
            </p:cNvPr>
            <p:cNvSpPr>
              <a:spLocks noChangeArrowheads="1"/>
            </p:cNvSpPr>
            <p:nvPr/>
          </p:nvSpPr>
          <p:spPr bwMode="auto">
            <a:xfrm>
              <a:off x="6396038" y="28844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3</a:t>
              </a:r>
              <a:r>
                <a:rPr lang="en-GB" altLang="en-US" sz="1200">
                  <a:solidFill>
                    <a:schemeClr val="bg1"/>
                  </a:solidFill>
                  <a:latin typeface="Roboto" panose="02000000000000000000" pitchFamily="2" charset="0"/>
                  <a:ea typeface="Roboto" panose="02000000000000000000" pitchFamily="2" charset="0"/>
                </a:rPr>
                <a:t>. 	Refine and Test</a:t>
              </a:r>
            </a:p>
          </p:txBody>
        </p:sp>
        <p:sp>
          <p:nvSpPr>
            <p:cNvPr id="40" name="Rectangle 17">
              <a:extLst>
                <a:ext uri="{FF2B5EF4-FFF2-40B4-BE49-F238E27FC236}">
                  <a16:creationId xmlns:a16="http://schemas.microsoft.com/office/drawing/2014/main" id="{F79AF7C2-0D73-DD05-306B-5B3283745AE3}"/>
                </a:ext>
              </a:extLst>
            </p:cNvPr>
            <p:cNvSpPr>
              <a:spLocks noChangeArrowheads="1"/>
            </p:cNvSpPr>
            <p:nvPr/>
          </p:nvSpPr>
          <p:spPr bwMode="auto">
            <a:xfrm>
              <a:off x="6396038" y="219233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2</a:t>
              </a:r>
              <a:r>
                <a:rPr lang="en-GB" altLang="en-US" sz="1200">
                  <a:solidFill>
                    <a:schemeClr val="bg1"/>
                  </a:solidFill>
                  <a:latin typeface="Roboto" panose="02000000000000000000" pitchFamily="2" charset="0"/>
                  <a:ea typeface="Roboto" panose="02000000000000000000" pitchFamily="2" charset="0"/>
                </a:rPr>
                <a:t>. 	Process Alternatives</a:t>
              </a:r>
            </a:p>
          </p:txBody>
        </p:sp>
        <p:sp>
          <p:nvSpPr>
            <p:cNvPr id="41" name="Rectangle 18">
              <a:extLst>
                <a:ext uri="{FF2B5EF4-FFF2-40B4-BE49-F238E27FC236}">
                  <a16:creationId xmlns:a16="http://schemas.microsoft.com/office/drawing/2014/main" id="{7E97859B-74AD-897E-5C2C-95517FC0838D}"/>
                </a:ext>
              </a:extLst>
            </p:cNvPr>
            <p:cNvSpPr>
              <a:spLocks noChangeArrowheads="1"/>
            </p:cNvSpPr>
            <p:nvPr/>
          </p:nvSpPr>
          <p:spPr bwMode="auto">
            <a:xfrm>
              <a:off x="6396038" y="1490663"/>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a:t>
              </a:r>
              <a:r>
                <a:rPr lang="en-GB" altLang="en-US" sz="1200">
                  <a:solidFill>
                    <a:schemeClr val="bg1"/>
                  </a:solidFill>
                  <a:latin typeface="Roboto" panose="02000000000000000000" pitchFamily="2" charset="0"/>
                  <a:ea typeface="Roboto" panose="02000000000000000000" pitchFamily="2" charset="0"/>
                </a:rPr>
                <a:t>. 	Production Planning</a:t>
              </a:r>
            </a:p>
          </p:txBody>
        </p:sp>
        <p:cxnSp>
          <p:nvCxnSpPr>
            <p:cNvPr id="42" name="Straight Arrow Connector 29">
              <a:extLst>
                <a:ext uri="{FF2B5EF4-FFF2-40B4-BE49-F238E27FC236}">
                  <a16:creationId xmlns:a16="http://schemas.microsoft.com/office/drawing/2014/main" id="{FFA71C9B-83DB-C609-EE01-126AEC5607A4}"/>
                </a:ext>
              </a:extLst>
            </p:cNvPr>
            <p:cNvCxnSpPr>
              <a:cxnSpLocks noChangeShapeType="1"/>
              <a:stCxn id="28" idx="2"/>
              <a:endCxn id="29" idx="0"/>
            </p:cNvCxnSpPr>
            <p:nvPr/>
          </p:nvCxnSpPr>
          <p:spPr bwMode="auto">
            <a:xfrm rot="5400000">
              <a:off x="1584325" y="2008188"/>
              <a:ext cx="185737"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3" name="Straight Arrow Connector 31">
              <a:extLst>
                <a:ext uri="{FF2B5EF4-FFF2-40B4-BE49-F238E27FC236}">
                  <a16:creationId xmlns:a16="http://schemas.microsoft.com/office/drawing/2014/main" id="{F81DE2D0-3A6A-DC46-B91B-4BE654FD4EBC}"/>
                </a:ext>
              </a:extLst>
            </p:cNvPr>
            <p:cNvCxnSpPr>
              <a:cxnSpLocks noChangeShapeType="1"/>
              <a:stCxn id="29" idx="2"/>
              <a:endCxn id="30" idx="0"/>
            </p:cNvCxnSpPr>
            <p:nvPr/>
          </p:nvCxnSpPr>
          <p:spPr bwMode="auto">
            <a:xfrm rot="5400000">
              <a:off x="1573212" y="2630488"/>
              <a:ext cx="2079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4" name="Straight Arrow Connector 33">
              <a:extLst>
                <a:ext uri="{FF2B5EF4-FFF2-40B4-BE49-F238E27FC236}">
                  <a16:creationId xmlns:a16="http://schemas.microsoft.com/office/drawing/2014/main" id="{D2F8CD37-B1AD-650F-4A0D-FAB885448F75}"/>
                </a:ext>
              </a:extLst>
            </p:cNvPr>
            <p:cNvCxnSpPr>
              <a:cxnSpLocks noChangeShapeType="1"/>
              <a:stCxn id="30" idx="2"/>
              <a:endCxn id="31" idx="0"/>
            </p:cNvCxnSpPr>
            <p:nvPr/>
          </p:nvCxnSpPr>
          <p:spPr bwMode="auto">
            <a:xfrm rot="5400000">
              <a:off x="1573212" y="3265488"/>
              <a:ext cx="2079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5" name="Straight Arrow Connector 39">
              <a:extLst>
                <a:ext uri="{FF2B5EF4-FFF2-40B4-BE49-F238E27FC236}">
                  <a16:creationId xmlns:a16="http://schemas.microsoft.com/office/drawing/2014/main" id="{225F30E3-9429-56C7-A97F-1125CC210415}"/>
                </a:ext>
              </a:extLst>
            </p:cNvPr>
            <p:cNvCxnSpPr>
              <a:cxnSpLocks noChangeShapeType="1"/>
              <a:stCxn id="41" idx="2"/>
              <a:endCxn id="40" idx="0"/>
            </p:cNvCxnSpPr>
            <p:nvPr/>
          </p:nvCxnSpPr>
          <p:spPr bwMode="auto">
            <a:xfrm rot="5400000">
              <a:off x="6942931" y="2053432"/>
              <a:ext cx="276225"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 name="Straight Arrow Connector 41">
              <a:extLst>
                <a:ext uri="{FF2B5EF4-FFF2-40B4-BE49-F238E27FC236}">
                  <a16:creationId xmlns:a16="http://schemas.microsoft.com/office/drawing/2014/main" id="{03DD0A0C-4292-115E-C111-60091589AF8F}"/>
                </a:ext>
              </a:extLst>
            </p:cNvPr>
            <p:cNvCxnSpPr>
              <a:cxnSpLocks noChangeShapeType="1"/>
              <a:stCxn id="40" idx="2"/>
              <a:endCxn id="39" idx="0"/>
            </p:cNvCxnSpPr>
            <p:nvPr/>
          </p:nvCxnSpPr>
          <p:spPr bwMode="auto">
            <a:xfrm rot="5400000">
              <a:off x="6946107" y="2750344"/>
              <a:ext cx="26670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7" name="Straight Arrow Connector 43">
              <a:extLst>
                <a:ext uri="{FF2B5EF4-FFF2-40B4-BE49-F238E27FC236}">
                  <a16:creationId xmlns:a16="http://schemas.microsoft.com/office/drawing/2014/main" id="{0FCCDCC6-47DF-D56F-D21B-77B33039A341}"/>
                </a:ext>
              </a:extLst>
            </p:cNvPr>
            <p:cNvCxnSpPr>
              <a:cxnSpLocks noChangeShapeType="1"/>
              <a:stCxn id="39" idx="2"/>
              <a:endCxn id="38" idx="0"/>
            </p:cNvCxnSpPr>
            <p:nvPr/>
          </p:nvCxnSpPr>
          <p:spPr bwMode="auto">
            <a:xfrm rot="5400000">
              <a:off x="6963569" y="3426619"/>
              <a:ext cx="234950"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8" name="Straight Arrow Connector 45">
              <a:extLst>
                <a:ext uri="{FF2B5EF4-FFF2-40B4-BE49-F238E27FC236}">
                  <a16:creationId xmlns:a16="http://schemas.microsoft.com/office/drawing/2014/main" id="{0AFE1F29-5C80-1C7E-D4E2-8A988AC44CC1}"/>
                </a:ext>
              </a:extLst>
            </p:cNvPr>
            <p:cNvCxnSpPr>
              <a:cxnSpLocks noChangeShapeType="1"/>
              <a:stCxn id="37" idx="2"/>
              <a:endCxn id="35" idx="0"/>
            </p:cNvCxnSpPr>
            <p:nvPr/>
          </p:nvCxnSpPr>
          <p:spPr bwMode="auto">
            <a:xfrm rot="5400000">
              <a:off x="6966744" y="4942681"/>
              <a:ext cx="228600"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9" name="Straight Arrow Connector 47">
              <a:extLst>
                <a:ext uri="{FF2B5EF4-FFF2-40B4-BE49-F238E27FC236}">
                  <a16:creationId xmlns:a16="http://schemas.microsoft.com/office/drawing/2014/main" id="{2478210D-862D-98CC-FEA7-23750A2C9E6B}"/>
                </a:ext>
              </a:extLst>
            </p:cNvPr>
            <p:cNvCxnSpPr>
              <a:cxnSpLocks noChangeShapeType="1"/>
              <a:stCxn id="35" idx="1"/>
              <a:endCxn id="34" idx="3"/>
            </p:cNvCxnSpPr>
            <p:nvPr/>
          </p:nvCxnSpPr>
          <p:spPr bwMode="auto">
            <a:xfrm rot="10800000">
              <a:off x="5018088" y="5268913"/>
              <a:ext cx="137795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0" name="Straight Arrow Connector 49">
              <a:extLst>
                <a:ext uri="{FF2B5EF4-FFF2-40B4-BE49-F238E27FC236}">
                  <a16:creationId xmlns:a16="http://schemas.microsoft.com/office/drawing/2014/main" id="{542DA5D6-1BD9-BD83-188C-FD8CDE93AC28}"/>
                </a:ext>
              </a:extLst>
            </p:cNvPr>
            <p:cNvCxnSpPr>
              <a:cxnSpLocks noChangeShapeType="1"/>
              <a:stCxn id="34" idx="1"/>
              <a:endCxn id="33" idx="3"/>
            </p:cNvCxnSpPr>
            <p:nvPr/>
          </p:nvCxnSpPr>
          <p:spPr bwMode="auto">
            <a:xfrm rot="10800000">
              <a:off x="2362200" y="5268913"/>
              <a:ext cx="1287463"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1" name="Straight Arrow Connector 51">
              <a:extLst>
                <a:ext uri="{FF2B5EF4-FFF2-40B4-BE49-F238E27FC236}">
                  <a16:creationId xmlns:a16="http://schemas.microsoft.com/office/drawing/2014/main" id="{449304AE-E78E-53C8-2DD6-3B898C02116F}"/>
                </a:ext>
              </a:extLst>
            </p:cNvPr>
            <p:cNvCxnSpPr>
              <a:cxnSpLocks noChangeShapeType="1"/>
              <a:stCxn id="32" idx="3"/>
              <a:endCxn id="37" idx="1"/>
            </p:cNvCxnSpPr>
            <p:nvPr/>
          </p:nvCxnSpPr>
          <p:spPr bwMode="auto">
            <a:xfrm>
              <a:off x="2362200" y="4616450"/>
              <a:ext cx="403383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2" name="Straight Arrow Connector 53">
              <a:extLst>
                <a:ext uri="{FF2B5EF4-FFF2-40B4-BE49-F238E27FC236}">
                  <a16:creationId xmlns:a16="http://schemas.microsoft.com/office/drawing/2014/main" id="{2C2E5566-E635-C39C-5877-CACF7CA4C2EA}"/>
                </a:ext>
              </a:extLst>
            </p:cNvPr>
            <p:cNvCxnSpPr>
              <a:cxnSpLocks noChangeShapeType="1"/>
              <a:stCxn id="36" idx="3"/>
              <a:endCxn id="38" idx="1"/>
            </p:cNvCxnSpPr>
            <p:nvPr/>
          </p:nvCxnSpPr>
          <p:spPr bwMode="auto">
            <a:xfrm flipV="1">
              <a:off x="5018088" y="3833813"/>
              <a:ext cx="1377950" cy="246062"/>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3" name="Straight Arrow Connector 55">
              <a:extLst>
                <a:ext uri="{FF2B5EF4-FFF2-40B4-BE49-F238E27FC236}">
                  <a16:creationId xmlns:a16="http://schemas.microsoft.com/office/drawing/2014/main" id="{C07F6AD3-2E16-15C7-3FB3-1FB0DDB483C1}"/>
                </a:ext>
              </a:extLst>
            </p:cNvPr>
            <p:cNvCxnSpPr>
              <a:cxnSpLocks noChangeShapeType="1"/>
              <a:stCxn id="31" idx="3"/>
            </p:cNvCxnSpPr>
            <p:nvPr/>
          </p:nvCxnSpPr>
          <p:spPr bwMode="auto">
            <a:xfrm>
              <a:off x="2362200" y="3582988"/>
              <a:ext cx="1266825" cy="234950"/>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4" name="Straight Arrow Connector 57">
              <a:extLst>
                <a:ext uri="{FF2B5EF4-FFF2-40B4-BE49-F238E27FC236}">
                  <a16:creationId xmlns:a16="http://schemas.microsoft.com/office/drawing/2014/main" id="{BD2FE30C-7279-8A8D-A3C3-C79F0BA76A41}"/>
                </a:ext>
              </a:extLst>
            </p:cNvPr>
            <p:cNvCxnSpPr>
              <a:cxnSpLocks noChangeShapeType="1"/>
            </p:cNvCxnSpPr>
            <p:nvPr/>
          </p:nvCxnSpPr>
          <p:spPr bwMode="auto">
            <a:xfrm rot="10800000" flipV="1">
              <a:off x="2351088" y="4340225"/>
              <a:ext cx="1320800" cy="87313"/>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5" name="Straight Arrow Connector 59">
              <a:extLst>
                <a:ext uri="{FF2B5EF4-FFF2-40B4-BE49-F238E27FC236}">
                  <a16:creationId xmlns:a16="http://schemas.microsoft.com/office/drawing/2014/main" id="{979248AE-28D5-E238-8400-AA7AFDB506D0}"/>
                </a:ext>
              </a:extLst>
            </p:cNvPr>
            <p:cNvCxnSpPr>
              <a:cxnSpLocks noChangeShapeType="1"/>
              <a:stCxn id="39" idx="1"/>
            </p:cNvCxnSpPr>
            <p:nvPr/>
          </p:nvCxnSpPr>
          <p:spPr bwMode="auto">
            <a:xfrm rot="10800000" flipV="1">
              <a:off x="5006975" y="3097213"/>
              <a:ext cx="1389063" cy="720725"/>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6" name="Straight Arrow Connector 61">
              <a:extLst>
                <a:ext uri="{FF2B5EF4-FFF2-40B4-BE49-F238E27FC236}">
                  <a16:creationId xmlns:a16="http://schemas.microsoft.com/office/drawing/2014/main" id="{0E3D06E5-7D11-DF2C-52A4-354A82C96EB9}"/>
                </a:ext>
              </a:extLst>
            </p:cNvPr>
            <p:cNvCxnSpPr>
              <a:cxnSpLocks noChangeShapeType="1"/>
            </p:cNvCxnSpPr>
            <p:nvPr/>
          </p:nvCxnSpPr>
          <p:spPr bwMode="auto">
            <a:xfrm>
              <a:off x="5021263" y="4340225"/>
              <a:ext cx="1379537" cy="87313"/>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sp>
          <p:nvSpPr>
            <p:cNvPr id="57" name="Quad Arrow Callout 62">
              <a:extLst>
                <a:ext uri="{FF2B5EF4-FFF2-40B4-BE49-F238E27FC236}">
                  <a16:creationId xmlns:a16="http://schemas.microsoft.com/office/drawing/2014/main" id="{8B358EF4-7EC1-6CF3-2A56-603E803C0CD7}"/>
                </a:ext>
              </a:extLst>
            </p:cNvPr>
            <p:cNvSpPr/>
            <p:nvPr/>
          </p:nvSpPr>
          <p:spPr bwMode="auto">
            <a:xfrm>
              <a:off x="3279775" y="1954213"/>
              <a:ext cx="2049463" cy="1639887"/>
            </a:xfrm>
            <a:prstGeom prst="quadArrowCallout">
              <a:avLst/>
            </a:prstGeom>
            <a:solidFill>
              <a:srgbClr val="808080"/>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r>
                <a:rPr lang="en-GB" sz="1200" dirty="0">
                  <a:solidFill>
                    <a:schemeClr val="bg1"/>
                  </a:solidFill>
                  <a:latin typeface="Roboto" panose="02000000000000000000" pitchFamily="2" charset="0"/>
                  <a:ea typeface="Roboto" panose="02000000000000000000" pitchFamily="2" charset="0"/>
                </a:rPr>
                <a:t>Constant Interaction Between Paths</a:t>
              </a:r>
            </a:p>
          </p:txBody>
        </p:sp>
        <p:sp>
          <p:nvSpPr>
            <p:cNvPr id="58" name="Rectangle 9">
              <a:extLst>
                <a:ext uri="{FF2B5EF4-FFF2-40B4-BE49-F238E27FC236}">
                  <a16:creationId xmlns:a16="http://schemas.microsoft.com/office/drawing/2014/main" id="{1EA43CD5-B57A-36D7-19A1-11FC0AE77807}"/>
                </a:ext>
              </a:extLst>
            </p:cNvPr>
            <p:cNvSpPr>
              <a:spLocks noChangeArrowheads="1"/>
            </p:cNvSpPr>
            <p:nvPr/>
          </p:nvSpPr>
          <p:spPr bwMode="auto">
            <a:xfrm>
              <a:off x="992188" y="5688013"/>
              <a:ext cx="1370012"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10</a:t>
              </a:r>
              <a:r>
                <a:rPr lang="en-GB" altLang="en-US" sz="1200">
                  <a:solidFill>
                    <a:schemeClr val="bg1"/>
                  </a:solidFill>
                  <a:latin typeface="Roboto" panose="02000000000000000000" pitchFamily="2" charset="0"/>
                  <a:ea typeface="Roboto" panose="02000000000000000000" pitchFamily="2" charset="0"/>
                </a:rPr>
                <a:t>. Installation</a:t>
              </a:r>
            </a:p>
          </p:txBody>
        </p:sp>
        <p:sp>
          <p:nvSpPr>
            <p:cNvPr id="59" name="Rectangle 10">
              <a:extLst>
                <a:ext uri="{FF2B5EF4-FFF2-40B4-BE49-F238E27FC236}">
                  <a16:creationId xmlns:a16="http://schemas.microsoft.com/office/drawing/2014/main" id="{61FC2B5C-E06A-DBC3-81D5-BE1BE982EBD2}"/>
                </a:ext>
              </a:extLst>
            </p:cNvPr>
            <p:cNvSpPr>
              <a:spLocks noChangeArrowheads="1"/>
            </p:cNvSpPr>
            <p:nvPr/>
          </p:nvSpPr>
          <p:spPr bwMode="auto">
            <a:xfrm>
              <a:off x="3641725" y="5688013"/>
              <a:ext cx="1368425"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11</a:t>
              </a:r>
              <a:r>
                <a:rPr lang="en-GB" altLang="en-US" sz="1200">
                  <a:solidFill>
                    <a:schemeClr val="bg1"/>
                  </a:solidFill>
                  <a:latin typeface="Roboto" panose="02000000000000000000" pitchFamily="2" charset="0"/>
                  <a:ea typeface="Roboto" panose="02000000000000000000" pitchFamily="2" charset="0"/>
                </a:rPr>
                <a:t>. Service</a:t>
              </a:r>
            </a:p>
          </p:txBody>
        </p:sp>
        <p:sp>
          <p:nvSpPr>
            <p:cNvPr id="60" name="Rectangle 11">
              <a:extLst>
                <a:ext uri="{FF2B5EF4-FFF2-40B4-BE49-F238E27FC236}">
                  <a16:creationId xmlns:a16="http://schemas.microsoft.com/office/drawing/2014/main" id="{88DA6167-D48D-D02A-D063-23AB47AF5EFE}"/>
                </a:ext>
              </a:extLst>
            </p:cNvPr>
            <p:cNvSpPr>
              <a:spLocks noChangeArrowheads="1"/>
            </p:cNvSpPr>
            <p:nvPr/>
          </p:nvSpPr>
          <p:spPr bwMode="auto">
            <a:xfrm>
              <a:off x="6388100" y="5688013"/>
              <a:ext cx="1368425"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12</a:t>
              </a:r>
              <a:r>
                <a:rPr lang="en-GB" altLang="en-US" sz="1200">
                  <a:solidFill>
                    <a:schemeClr val="bg1"/>
                  </a:solidFill>
                  <a:latin typeface="Roboto" panose="02000000000000000000" pitchFamily="2" charset="0"/>
                  <a:ea typeface="Roboto" panose="02000000000000000000" pitchFamily="2" charset="0"/>
                </a:rPr>
                <a:t>. End of Life</a:t>
              </a:r>
            </a:p>
          </p:txBody>
        </p:sp>
        <p:cxnSp>
          <p:nvCxnSpPr>
            <p:cNvPr id="61" name="Straight Arrow Connector 41">
              <a:extLst>
                <a:ext uri="{FF2B5EF4-FFF2-40B4-BE49-F238E27FC236}">
                  <a16:creationId xmlns:a16="http://schemas.microsoft.com/office/drawing/2014/main" id="{F9D1A7A8-8B7A-A169-FACF-2BBF9D645524}"/>
                </a:ext>
              </a:extLst>
            </p:cNvPr>
            <p:cNvCxnSpPr>
              <a:cxnSpLocks noChangeShapeType="1"/>
            </p:cNvCxnSpPr>
            <p:nvPr/>
          </p:nvCxnSpPr>
          <p:spPr bwMode="auto">
            <a:xfrm rot="5400000">
              <a:off x="1574800" y="5584825"/>
              <a:ext cx="20478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2" name="Straight Arrow Connector 43">
              <a:extLst>
                <a:ext uri="{FF2B5EF4-FFF2-40B4-BE49-F238E27FC236}">
                  <a16:creationId xmlns:a16="http://schemas.microsoft.com/office/drawing/2014/main" id="{6103C272-BA2A-6E13-4FFF-B2E0C213BE09}"/>
                </a:ext>
              </a:extLst>
            </p:cNvPr>
            <p:cNvCxnSpPr>
              <a:cxnSpLocks noChangeShapeType="1"/>
              <a:stCxn id="58" idx="3"/>
              <a:endCxn id="59" idx="1"/>
            </p:cNvCxnSpPr>
            <p:nvPr/>
          </p:nvCxnSpPr>
          <p:spPr bwMode="auto">
            <a:xfrm>
              <a:off x="2362200" y="5900738"/>
              <a:ext cx="1279525"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3" name="Straight Arrow Connector 45">
              <a:extLst>
                <a:ext uri="{FF2B5EF4-FFF2-40B4-BE49-F238E27FC236}">
                  <a16:creationId xmlns:a16="http://schemas.microsoft.com/office/drawing/2014/main" id="{48832D6C-DBFB-161F-E63B-DA94A3CBD91B}"/>
                </a:ext>
              </a:extLst>
            </p:cNvPr>
            <p:cNvCxnSpPr>
              <a:cxnSpLocks noChangeShapeType="1"/>
              <a:stCxn id="59" idx="3"/>
              <a:endCxn id="60" idx="1"/>
            </p:cNvCxnSpPr>
            <p:nvPr/>
          </p:nvCxnSpPr>
          <p:spPr bwMode="auto">
            <a:xfrm>
              <a:off x="5010150" y="5900738"/>
              <a:ext cx="137795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4" name="Straight Arrow Connector 47">
              <a:extLst>
                <a:ext uri="{FF2B5EF4-FFF2-40B4-BE49-F238E27FC236}">
                  <a16:creationId xmlns:a16="http://schemas.microsoft.com/office/drawing/2014/main" id="{91EB0532-42A9-987F-C327-8DA8D9C6C2D3}"/>
                </a:ext>
              </a:extLst>
            </p:cNvPr>
            <p:cNvCxnSpPr>
              <a:cxnSpLocks noChangeShapeType="1"/>
            </p:cNvCxnSpPr>
            <p:nvPr/>
          </p:nvCxnSpPr>
          <p:spPr bwMode="auto">
            <a:xfrm>
              <a:off x="2365375" y="1701800"/>
              <a:ext cx="40306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977791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5 Steps to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342900" indent="-342900">
              <a:buFont typeface="Wingdings" panose="05000000000000000000" pitchFamily="2" charset="2"/>
              <a:buAutoNum type="arabicPeriod"/>
            </a:pPr>
            <a:r>
              <a:rPr lang="en-US" altLang="en-US" dirty="0"/>
              <a:t>Define Product/Process Design Objectives/Needs</a:t>
            </a:r>
          </a:p>
          <a:p>
            <a:pPr marL="342900" indent="-342900">
              <a:buFont typeface="Wingdings" panose="05000000000000000000" pitchFamily="2" charset="2"/>
              <a:buAutoNum type="arabicPeriod"/>
            </a:pPr>
            <a:r>
              <a:rPr lang="en-US" altLang="en-US" dirty="0"/>
              <a:t>Study Alternatives by Diagramming and Finding and Analyze Examples from Nature or other sources</a:t>
            </a:r>
          </a:p>
          <a:p>
            <a:pPr marL="342900" indent="-342900">
              <a:buFont typeface="Wingdings" panose="05000000000000000000" pitchFamily="2" charset="2"/>
              <a:buAutoNum type="arabicPeriod"/>
            </a:pPr>
            <a:r>
              <a:rPr lang="en-US" altLang="en-US" dirty="0"/>
              <a:t>Sketch and Evaluate Alternative Process Steps</a:t>
            </a:r>
          </a:p>
          <a:p>
            <a:pPr marL="342900" indent="-342900">
              <a:buFont typeface="Wingdings" panose="05000000000000000000" pitchFamily="2" charset="2"/>
              <a:buAutoNum type="arabicPeriod"/>
            </a:pPr>
            <a:r>
              <a:rPr lang="en-US" altLang="en-US" dirty="0"/>
              <a:t>Build, Present, and Select Process Prototypes</a:t>
            </a:r>
          </a:p>
          <a:p>
            <a:pPr marL="342900" indent="-342900">
              <a:buFont typeface="Wingdings" panose="05000000000000000000" pitchFamily="2" charset="2"/>
              <a:buAutoNum type="arabicPeriod"/>
            </a:pPr>
            <a:r>
              <a:rPr lang="en-US" altLang="en-US" dirty="0"/>
              <a:t>Develop Implementation Plans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1039111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aphicFrame>
        <p:nvGraphicFramePr>
          <p:cNvPr id="16" name="Group 175">
            <a:extLst>
              <a:ext uri="{FF2B5EF4-FFF2-40B4-BE49-F238E27FC236}">
                <a16:creationId xmlns:a16="http://schemas.microsoft.com/office/drawing/2014/main" id="{BD4F62F8-DE4A-93CD-FAA6-6BB04D1B07E0}"/>
              </a:ext>
            </a:extLst>
          </p:cNvPr>
          <p:cNvGraphicFramePr>
            <a:graphicFrameLocks noGrp="1"/>
          </p:cNvGraphicFramePr>
          <p:nvPr>
            <p:extLst>
              <p:ext uri="{D42A27DB-BD31-4B8C-83A1-F6EECF244321}">
                <p14:modId xmlns:p14="http://schemas.microsoft.com/office/powerpoint/2010/main" val="2061873234"/>
              </p:ext>
            </p:extLst>
          </p:nvPr>
        </p:nvGraphicFramePr>
        <p:xfrm>
          <a:off x="1415415" y="1949391"/>
          <a:ext cx="9361170" cy="4233223"/>
        </p:xfrm>
        <a:graphic>
          <a:graphicData uri="http://schemas.openxmlformats.org/drawingml/2006/table">
            <a:tbl>
              <a:tblPr/>
              <a:tblGrid>
                <a:gridCol w="3120390">
                  <a:extLst>
                    <a:ext uri="{9D8B030D-6E8A-4147-A177-3AD203B41FA5}">
                      <a16:colId xmlns:a16="http://schemas.microsoft.com/office/drawing/2014/main" val="20000"/>
                    </a:ext>
                  </a:extLst>
                </a:gridCol>
                <a:gridCol w="3120390">
                  <a:extLst>
                    <a:ext uri="{9D8B030D-6E8A-4147-A177-3AD203B41FA5}">
                      <a16:colId xmlns:a16="http://schemas.microsoft.com/office/drawing/2014/main" val="20001"/>
                    </a:ext>
                  </a:extLst>
                </a:gridCol>
                <a:gridCol w="3120390">
                  <a:extLst>
                    <a:ext uri="{9D8B030D-6E8A-4147-A177-3AD203B41FA5}">
                      <a16:colId xmlns:a16="http://schemas.microsoft.com/office/drawing/2014/main" val="20002"/>
                    </a:ext>
                  </a:extLst>
                </a:gridCol>
              </a:tblGrid>
              <a:tr h="32943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 – Leadership 3P Awareness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 – Select target area and team</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 – Collect data</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3363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903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54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4 – Train Team</a:t>
                      </a:r>
                      <a:endParaRPr kumimoji="0" lang="en-US" altLang="en-US" sz="24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5 – Design Criteria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6 – 3P Lab</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608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3" name="Image" descr="Image">
            <a:extLst>
              <a:ext uri="{FF2B5EF4-FFF2-40B4-BE49-F238E27FC236}">
                <a16:creationId xmlns:a16="http://schemas.microsoft.com/office/drawing/2014/main" id="{CCD207A5-733A-5C54-383B-48F425626189}"/>
              </a:ext>
            </a:extLst>
          </p:cNvPr>
          <p:cNvPicPr>
            <a:picLocks noChangeAspect="1"/>
          </p:cNvPicPr>
          <p:nvPr/>
        </p:nvPicPr>
        <p:blipFill>
          <a:blip r:embed="rId3"/>
          <a:stretch>
            <a:fillRect/>
          </a:stretch>
        </p:blipFill>
        <p:spPr>
          <a:xfrm>
            <a:off x="2396901" y="2434217"/>
            <a:ext cx="957764" cy="1396145"/>
          </a:xfrm>
          <a:prstGeom prst="rect">
            <a:avLst/>
          </a:prstGeom>
          <a:ln w="12700" cap="flat">
            <a:noFill/>
            <a:miter lim="400000"/>
          </a:ln>
          <a:effectLst/>
        </p:spPr>
      </p:pic>
      <p:pic>
        <p:nvPicPr>
          <p:cNvPr id="15" name="Image" descr="Image">
            <a:extLst>
              <a:ext uri="{FF2B5EF4-FFF2-40B4-BE49-F238E27FC236}">
                <a16:creationId xmlns:a16="http://schemas.microsoft.com/office/drawing/2014/main" id="{FEDB39EC-7865-910A-9686-2837C4EA6B82}"/>
              </a:ext>
            </a:extLst>
          </p:cNvPr>
          <p:cNvPicPr>
            <a:picLocks noChangeAspect="1"/>
          </p:cNvPicPr>
          <p:nvPr/>
        </p:nvPicPr>
        <p:blipFill>
          <a:blip r:embed="rId4"/>
          <a:stretch>
            <a:fillRect/>
          </a:stretch>
        </p:blipFill>
        <p:spPr>
          <a:xfrm>
            <a:off x="5571325" y="4661456"/>
            <a:ext cx="1049272" cy="1399032"/>
          </a:xfrm>
          <a:prstGeom prst="rect">
            <a:avLst/>
          </a:prstGeom>
          <a:ln w="12700" cap="flat">
            <a:noFill/>
            <a:miter lim="400000"/>
          </a:ln>
          <a:effectLst/>
        </p:spPr>
      </p:pic>
      <p:pic>
        <p:nvPicPr>
          <p:cNvPr id="17" name="Image" descr="Image">
            <a:extLst>
              <a:ext uri="{FF2B5EF4-FFF2-40B4-BE49-F238E27FC236}">
                <a16:creationId xmlns:a16="http://schemas.microsoft.com/office/drawing/2014/main" id="{4FCE75E7-DF31-7216-CF98-ABED1DADE6E8}"/>
              </a:ext>
            </a:extLst>
          </p:cNvPr>
          <p:cNvPicPr>
            <a:picLocks noChangeAspect="1"/>
          </p:cNvPicPr>
          <p:nvPr/>
        </p:nvPicPr>
        <p:blipFill>
          <a:blip r:embed="rId5"/>
          <a:stretch>
            <a:fillRect/>
          </a:stretch>
        </p:blipFill>
        <p:spPr>
          <a:xfrm>
            <a:off x="8786440" y="4661456"/>
            <a:ext cx="1113569" cy="1399032"/>
          </a:xfrm>
          <a:prstGeom prst="rect">
            <a:avLst/>
          </a:prstGeom>
          <a:ln w="12700" cap="flat">
            <a:noFill/>
            <a:miter lim="400000"/>
          </a:ln>
          <a:effectLst/>
        </p:spPr>
      </p:pic>
      <p:pic>
        <p:nvPicPr>
          <p:cNvPr id="20" name="Image" descr="Image">
            <a:extLst>
              <a:ext uri="{FF2B5EF4-FFF2-40B4-BE49-F238E27FC236}">
                <a16:creationId xmlns:a16="http://schemas.microsoft.com/office/drawing/2014/main" id="{972019A3-C815-6D8D-6919-B7B7279DE960}"/>
              </a:ext>
            </a:extLst>
          </p:cNvPr>
          <p:cNvPicPr>
            <a:picLocks noChangeAspect="1"/>
          </p:cNvPicPr>
          <p:nvPr/>
        </p:nvPicPr>
        <p:blipFill>
          <a:blip r:embed="rId6"/>
          <a:stretch>
            <a:fillRect/>
          </a:stretch>
        </p:blipFill>
        <p:spPr>
          <a:xfrm>
            <a:off x="1779225" y="4661456"/>
            <a:ext cx="2242712" cy="1399032"/>
          </a:xfrm>
          <a:prstGeom prst="rect">
            <a:avLst/>
          </a:prstGeom>
          <a:ln w="12700" cap="flat">
            <a:noFill/>
            <a:miter lim="400000"/>
          </a:ln>
          <a:effectLst/>
        </p:spPr>
      </p:pic>
      <p:pic>
        <p:nvPicPr>
          <p:cNvPr id="21" name="Image" descr="Image">
            <a:extLst>
              <a:ext uri="{FF2B5EF4-FFF2-40B4-BE49-F238E27FC236}">
                <a16:creationId xmlns:a16="http://schemas.microsoft.com/office/drawing/2014/main" id="{061A8E66-80B8-45B4-FDBA-8C48631CBF24}"/>
              </a:ext>
            </a:extLst>
          </p:cNvPr>
          <p:cNvPicPr>
            <a:picLocks noChangeAspect="1"/>
          </p:cNvPicPr>
          <p:nvPr/>
        </p:nvPicPr>
        <p:blipFill>
          <a:blip r:embed="rId7"/>
          <a:stretch>
            <a:fillRect/>
          </a:stretch>
        </p:blipFill>
        <p:spPr>
          <a:xfrm>
            <a:off x="8648699" y="2434217"/>
            <a:ext cx="1389052" cy="1399032"/>
          </a:xfrm>
          <a:prstGeom prst="rect">
            <a:avLst/>
          </a:prstGeom>
          <a:ln w="12700" cap="flat">
            <a:noFill/>
            <a:miter lim="400000"/>
          </a:ln>
          <a:effectLst/>
        </p:spPr>
      </p:pic>
      <p:pic>
        <p:nvPicPr>
          <p:cNvPr id="22" name="Image" descr="Image">
            <a:extLst>
              <a:ext uri="{FF2B5EF4-FFF2-40B4-BE49-F238E27FC236}">
                <a16:creationId xmlns:a16="http://schemas.microsoft.com/office/drawing/2014/main" id="{F2686B33-986C-0875-AE56-57A479131DDE}"/>
              </a:ext>
            </a:extLst>
          </p:cNvPr>
          <p:cNvPicPr>
            <a:picLocks noChangeAspect="1"/>
          </p:cNvPicPr>
          <p:nvPr/>
        </p:nvPicPr>
        <p:blipFill>
          <a:blip r:embed="rId8"/>
          <a:stretch>
            <a:fillRect/>
          </a:stretch>
        </p:blipFill>
        <p:spPr>
          <a:xfrm>
            <a:off x="5412987" y="2377099"/>
            <a:ext cx="1401593" cy="1399032"/>
          </a:xfrm>
          <a:prstGeom prst="rect">
            <a:avLst/>
          </a:prstGeom>
          <a:ln w="12700" cap="flat">
            <a:noFill/>
            <a:miter lim="400000"/>
          </a:ln>
          <a:effectLst/>
        </p:spPr>
      </p:pic>
    </p:spTree>
    <p:extLst>
      <p:ext uri="{BB962C8B-B14F-4D97-AF65-F5344CB8AC3E}">
        <p14:creationId xmlns:p14="http://schemas.microsoft.com/office/powerpoint/2010/main" val="1451988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aphicFrame>
        <p:nvGraphicFramePr>
          <p:cNvPr id="3" name="Group 450">
            <a:extLst>
              <a:ext uri="{FF2B5EF4-FFF2-40B4-BE49-F238E27FC236}">
                <a16:creationId xmlns:a16="http://schemas.microsoft.com/office/drawing/2014/main" id="{9E414ACC-FEFE-413E-72F5-7648F4CAFF94}"/>
              </a:ext>
            </a:extLst>
          </p:cNvPr>
          <p:cNvGraphicFramePr>
            <a:graphicFrameLocks noGrp="1"/>
          </p:cNvGraphicFramePr>
          <p:nvPr>
            <p:extLst>
              <p:ext uri="{D42A27DB-BD31-4B8C-83A1-F6EECF244321}">
                <p14:modId xmlns:p14="http://schemas.microsoft.com/office/powerpoint/2010/main" val="2105404497"/>
              </p:ext>
            </p:extLst>
          </p:nvPr>
        </p:nvGraphicFramePr>
        <p:xfrm>
          <a:off x="1779225" y="1783428"/>
          <a:ext cx="8229600" cy="4617917"/>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7 – Each team member individually draws 7 Alternatives.</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8 – Team gathers to group and evaluate ideas. Selects the top 7.</a:t>
                      </a:r>
                      <a:endParaRPr kumimoji="0" lang="en-US" altLang="en-US" sz="12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9 – Team moonshines the 7 Alternatives.</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84465">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7036">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10 – Team evaluates each Alternative. Selects the top 3.</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11 – Team moonshines the top 3 Alternatives.</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12 – Team selects Top Alternative.</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16254">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55" name="Picture 276" descr="MMj03957670000[1]">
            <a:extLst>
              <a:ext uri="{FF2B5EF4-FFF2-40B4-BE49-F238E27FC236}">
                <a16:creationId xmlns:a16="http://schemas.microsoft.com/office/drawing/2014/main" id="{91381846-7881-3C6E-E222-ADBF38AB7DB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570425" y="286334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 name="Picture 277" descr="MCj03499260000[1]">
            <a:extLst>
              <a:ext uri="{FF2B5EF4-FFF2-40B4-BE49-F238E27FC236}">
                <a16:creationId xmlns:a16="http://schemas.microsoft.com/office/drawing/2014/main" id="{D2500870-F8B0-407E-0876-C9F50CDBC6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92900" y="301529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 name="Picture 278" descr="MCj02903500000[1]">
            <a:extLst>
              <a:ext uri="{FF2B5EF4-FFF2-40B4-BE49-F238E27FC236}">
                <a16:creationId xmlns:a16="http://schemas.microsoft.com/office/drawing/2014/main" id="{72DBE955-89F5-ED5D-C417-2D50D2448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408625" y="256690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 name="Picture 279" descr="MCj02337390000[1]">
            <a:extLst>
              <a:ext uri="{FF2B5EF4-FFF2-40B4-BE49-F238E27FC236}">
                <a16:creationId xmlns:a16="http://schemas.microsoft.com/office/drawing/2014/main" id="{2423BA08-0135-4F6A-0E31-DEA4951986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103825" y="3023379"/>
            <a:ext cx="374650" cy="290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280" descr="MPj03140390000[1]">
            <a:extLst>
              <a:ext uri="{FF2B5EF4-FFF2-40B4-BE49-F238E27FC236}">
                <a16:creationId xmlns:a16="http://schemas.microsoft.com/office/drawing/2014/main" id="{8172C430-DB45-FE9B-FE75-26DAFBFC11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13425" y="2944271"/>
            <a:ext cx="381000" cy="242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 name="Picture 281" descr="MCBD05091_0000[1]">
            <a:extLst>
              <a:ext uri="{FF2B5EF4-FFF2-40B4-BE49-F238E27FC236}">
                <a16:creationId xmlns:a16="http://schemas.microsoft.com/office/drawing/2014/main" id="{050E4466-D6E4-E277-60CF-12A4F61494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7625" y="2639834"/>
            <a:ext cx="288925" cy="248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 name="Picture 282" descr="MCHH01430_0000[1]">
            <a:extLst>
              <a:ext uri="{FF2B5EF4-FFF2-40B4-BE49-F238E27FC236}">
                <a16:creationId xmlns:a16="http://schemas.microsoft.com/office/drawing/2014/main" id="{D33C4C08-1D06-3534-F7B3-455EDF12CB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9018225" y="2673754"/>
            <a:ext cx="381000" cy="179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2" name="Group 71">
            <a:extLst>
              <a:ext uri="{FF2B5EF4-FFF2-40B4-BE49-F238E27FC236}">
                <a16:creationId xmlns:a16="http://schemas.microsoft.com/office/drawing/2014/main" id="{B4166F70-4D09-35E2-E584-B9DAE8F1D500}"/>
              </a:ext>
            </a:extLst>
          </p:cNvPr>
          <p:cNvGrpSpPr>
            <a:grpSpLocks/>
          </p:cNvGrpSpPr>
          <p:nvPr/>
        </p:nvGrpSpPr>
        <p:grpSpPr bwMode="auto">
          <a:xfrm>
            <a:off x="2963500" y="5076814"/>
            <a:ext cx="419100" cy="538783"/>
            <a:chOff x="3016" y="1444"/>
            <a:chExt cx="264" cy="360"/>
          </a:xfrm>
        </p:grpSpPr>
        <p:sp>
          <p:nvSpPr>
            <p:cNvPr id="263" name="Line 63">
              <a:extLst>
                <a:ext uri="{FF2B5EF4-FFF2-40B4-BE49-F238E27FC236}">
                  <a16:creationId xmlns:a16="http://schemas.microsoft.com/office/drawing/2014/main" id="{A0B01D94-5D81-E03B-0669-112689245BC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Freeform 64">
              <a:extLst>
                <a:ext uri="{FF2B5EF4-FFF2-40B4-BE49-F238E27FC236}">
                  <a16:creationId xmlns:a16="http://schemas.microsoft.com/office/drawing/2014/main" id="{E4E0F163-3663-0102-66B2-07C92F34030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265" name="Freeform 65">
              <a:extLst>
                <a:ext uri="{FF2B5EF4-FFF2-40B4-BE49-F238E27FC236}">
                  <a16:creationId xmlns:a16="http://schemas.microsoft.com/office/drawing/2014/main" id="{46BB25A6-F2B7-1A77-6A45-8EC916E2B474}"/>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266" name="Line 66">
              <a:extLst>
                <a:ext uri="{FF2B5EF4-FFF2-40B4-BE49-F238E27FC236}">
                  <a16:creationId xmlns:a16="http://schemas.microsoft.com/office/drawing/2014/main" id="{32566FCF-C69D-BC1E-E445-4C64FF91B76F}"/>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67">
              <a:extLst>
                <a:ext uri="{FF2B5EF4-FFF2-40B4-BE49-F238E27FC236}">
                  <a16:creationId xmlns:a16="http://schemas.microsoft.com/office/drawing/2014/main" id="{EC72256D-0429-1614-7F9C-535D4E694C94}"/>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68">
              <a:extLst>
                <a:ext uri="{FF2B5EF4-FFF2-40B4-BE49-F238E27FC236}">
                  <a16:creationId xmlns:a16="http://schemas.microsoft.com/office/drawing/2014/main" id="{8FFB7326-BFBD-FE6B-94FA-326539A309FA}"/>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Oval 69">
              <a:extLst>
                <a:ext uri="{FF2B5EF4-FFF2-40B4-BE49-F238E27FC236}">
                  <a16:creationId xmlns:a16="http://schemas.microsoft.com/office/drawing/2014/main" id="{4F12DF3C-9934-0D91-A35B-41DF4363E05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270" name="Oval 70">
              <a:extLst>
                <a:ext uri="{FF2B5EF4-FFF2-40B4-BE49-F238E27FC236}">
                  <a16:creationId xmlns:a16="http://schemas.microsoft.com/office/drawing/2014/main" id="{C3E66075-D224-3181-007F-03C9EE23675A}"/>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pic>
        <p:nvPicPr>
          <p:cNvPr id="369" name="Picture 392" descr="MMj03957670000[1]">
            <a:extLst>
              <a:ext uri="{FF2B5EF4-FFF2-40B4-BE49-F238E27FC236}">
                <a16:creationId xmlns:a16="http://schemas.microsoft.com/office/drawing/2014/main" id="{9B3D4D85-7D65-EB3E-E9C9-752838637D9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27225" y="558749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0" name="Picture 393" descr="MCj03499260000[1]">
            <a:extLst>
              <a:ext uri="{FF2B5EF4-FFF2-40B4-BE49-F238E27FC236}">
                <a16:creationId xmlns:a16="http://schemas.microsoft.com/office/drawing/2014/main" id="{1018F16A-2851-A1E9-01E7-B9170ABA9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849700" y="573944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 name="Picture 394" descr="MCj02903500000[1]">
            <a:extLst>
              <a:ext uri="{FF2B5EF4-FFF2-40B4-BE49-F238E27FC236}">
                <a16:creationId xmlns:a16="http://schemas.microsoft.com/office/drawing/2014/main" id="{9EDE3B72-9B3F-F55F-E3DD-721B64728A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665425" y="529105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2" name="Group 71">
            <a:extLst>
              <a:ext uri="{FF2B5EF4-FFF2-40B4-BE49-F238E27FC236}">
                <a16:creationId xmlns:a16="http://schemas.microsoft.com/office/drawing/2014/main" id="{AD5167E3-6559-1152-1489-891E8B082523}"/>
              </a:ext>
            </a:extLst>
          </p:cNvPr>
          <p:cNvGrpSpPr>
            <a:grpSpLocks/>
          </p:cNvGrpSpPr>
          <p:nvPr/>
        </p:nvGrpSpPr>
        <p:grpSpPr bwMode="auto">
          <a:xfrm>
            <a:off x="9135700" y="5019664"/>
            <a:ext cx="419100" cy="538783"/>
            <a:chOff x="3016" y="1444"/>
            <a:chExt cx="264" cy="360"/>
          </a:xfrm>
        </p:grpSpPr>
        <p:sp>
          <p:nvSpPr>
            <p:cNvPr id="373" name="Line 63">
              <a:extLst>
                <a:ext uri="{FF2B5EF4-FFF2-40B4-BE49-F238E27FC236}">
                  <a16:creationId xmlns:a16="http://schemas.microsoft.com/office/drawing/2014/main" id="{6F0811DB-39A3-2A9F-F82C-353AB43735E6}"/>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 name="Freeform 64">
              <a:extLst>
                <a:ext uri="{FF2B5EF4-FFF2-40B4-BE49-F238E27FC236}">
                  <a16:creationId xmlns:a16="http://schemas.microsoft.com/office/drawing/2014/main" id="{F474B0F6-0BCF-96B4-080D-4D94BF04C29E}"/>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375" name="Freeform 65">
              <a:extLst>
                <a:ext uri="{FF2B5EF4-FFF2-40B4-BE49-F238E27FC236}">
                  <a16:creationId xmlns:a16="http://schemas.microsoft.com/office/drawing/2014/main" id="{B32EBE03-02D4-7EDE-099B-F25B78CCE1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376" name="Line 66">
              <a:extLst>
                <a:ext uri="{FF2B5EF4-FFF2-40B4-BE49-F238E27FC236}">
                  <a16:creationId xmlns:a16="http://schemas.microsoft.com/office/drawing/2014/main" id="{847CC286-F17A-C642-20B4-BA71F132B2D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7" name="Line 67">
              <a:extLst>
                <a:ext uri="{FF2B5EF4-FFF2-40B4-BE49-F238E27FC236}">
                  <a16:creationId xmlns:a16="http://schemas.microsoft.com/office/drawing/2014/main" id="{7D48FB73-AE4E-01BA-7977-088C8EE4FFAD}"/>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 name="Line 68">
              <a:extLst>
                <a:ext uri="{FF2B5EF4-FFF2-40B4-BE49-F238E27FC236}">
                  <a16:creationId xmlns:a16="http://schemas.microsoft.com/office/drawing/2014/main" id="{C8D7106C-DF33-5F43-2050-1FF33732FBD0}"/>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 name="Oval 69">
              <a:extLst>
                <a:ext uri="{FF2B5EF4-FFF2-40B4-BE49-F238E27FC236}">
                  <a16:creationId xmlns:a16="http://schemas.microsoft.com/office/drawing/2014/main" id="{F328AD99-507F-D6B2-D1D7-AAA2DA84EBFF}"/>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380" name="Oval 70">
              <a:extLst>
                <a:ext uri="{FF2B5EF4-FFF2-40B4-BE49-F238E27FC236}">
                  <a16:creationId xmlns:a16="http://schemas.microsoft.com/office/drawing/2014/main" id="{CF53BC26-323C-3DCA-A3EE-1705FF7ECA2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30" name="Text Box 456">
            <a:extLst>
              <a:ext uri="{FF2B5EF4-FFF2-40B4-BE49-F238E27FC236}">
                <a16:creationId xmlns:a16="http://schemas.microsoft.com/office/drawing/2014/main" id="{C44EDCC6-D696-FECF-CCCB-071117D91454}"/>
              </a:ext>
            </a:extLst>
          </p:cNvPr>
          <p:cNvSpPr txBox="1">
            <a:spLocks noChangeArrowheads="1"/>
          </p:cNvSpPr>
          <p:nvPr/>
        </p:nvSpPr>
        <p:spPr bwMode="auto">
          <a:xfrm>
            <a:off x="2998425" y="504409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3</a:t>
            </a:r>
          </a:p>
        </p:txBody>
      </p:sp>
      <p:sp>
        <p:nvSpPr>
          <p:cNvPr id="431" name="Text Box 457">
            <a:extLst>
              <a:ext uri="{FF2B5EF4-FFF2-40B4-BE49-F238E27FC236}">
                <a16:creationId xmlns:a16="http://schemas.microsoft.com/office/drawing/2014/main" id="{9474C9C9-2A14-E136-A3C3-88FDCD57DA14}"/>
              </a:ext>
            </a:extLst>
          </p:cNvPr>
          <p:cNvSpPr txBox="1">
            <a:spLocks noChangeArrowheads="1"/>
          </p:cNvSpPr>
          <p:nvPr/>
        </p:nvSpPr>
        <p:spPr bwMode="auto">
          <a:xfrm>
            <a:off x="9170625" y="498694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1</a:t>
            </a:r>
          </a:p>
        </p:txBody>
      </p:sp>
      <p:pic>
        <p:nvPicPr>
          <p:cNvPr id="432" name="Picture 282" descr="MCHH01430_0000[1]">
            <a:extLst>
              <a:ext uri="{FF2B5EF4-FFF2-40B4-BE49-F238E27FC236}">
                <a16:creationId xmlns:a16="http://schemas.microsoft.com/office/drawing/2014/main" id="{7546FB58-1ED4-488E-AD5D-9B1EAC41BF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7722825" y="5271096"/>
            <a:ext cx="609600" cy="2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8" name="Group 437">
            <a:extLst>
              <a:ext uri="{FF2B5EF4-FFF2-40B4-BE49-F238E27FC236}">
                <a16:creationId xmlns:a16="http://schemas.microsoft.com/office/drawing/2014/main" id="{4FC731A1-D3BA-C6E6-83F6-E0A6817F4492}"/>
              </a:ext>
            </a:extLst>
          </p:cNvPr>
          <p:cNvGrpSpPr/>
          <p:nvPr/>
        </p:nvGrpSpPr>
        <p:grpSpPr>
          <a:xfrm>
            <a:off x="1855382" y="2447763"/>
            <a:ext cx="495344" cy="554713"/>
            <a:chOff x="1855382" y="2447763"/>
            <a:chExt cx="495344" cy="554713"/>
          </a:xfrm>
        </p:grpSpPr>
        <p:grpSp>
          <p:nvGrpSpPr>
            <p:cNvPr id="73" name="Group 71">
              <a:extLst>
                <a:ext uri="{FF2B5EF4-FFF2-40B4-BE49-F238E27FC236}">
                  <a16:creationId xmlns:a16="http://schemas.microsoft.com/office/drawing/2014/main" id="{6B409B5B-DDCF-0B4D-735A-D2FB5173A6FE}"/>
                </a:ext>
              </a:extLst>
            </p:cNvPr>
            <p:cNvGrpSpPr>
              <a:grpSpLocks/>
            </p:cNvGrpSpPr>
            <p:nvPr/>
          </p:nvGrpSpPr>
          <p:grpSpPr bwMode="auto">
            <a:xfrm>
              <a:off x="1931626" y="2447763"/>
              <a:ext cx="419100" cy="538783"/>
              <a:chOff x="3016" y="1444"/>
              <a:chExt cx="264" cy="360"/>
            </a:xfrm>
          </p:grpSpPr>
          <p:sp>
            <p:nvSpPr>
              <p:cNvPr id="81" name="Line 63">
                <a:extLst>
                  <a:ext uri="{FF2B5EF4-FFF2-40B4-BE49-F238E27FC236}">
                    <a16:creationId xmlns:a16="http://schemas.microsoft.com/office/drawing/2014/main" id="{A5B0E7C6-A312-D874-B128-31E2409DAD67}"/>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Freeform 64">
                <a:extLst>
                  <a:ext uri="{FF2B5EF4-FFF2-40B4-BE49-F238E27FC236}">
                    <a16:creationId xmlns:a16="http://schemas.microsoft.com/office/drawing/2014/main" id="{08AB0C41-AD72-61AF-C41B-ED8F2BDBBB65}"/>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83" name="Freeform 65">
                <a:extLst>
                  <a:ext uri="{FF2B5EF4-FFF2-40B4-BE49-F238E27FC236}">
                    <a16:creationId xmlns:a16="http://schemas.microsoft.com/office/drawing/2014/main" id="{C51C048E-78BD-8BED-EA21-E3F70E1C649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84" name="Line 66">
                <a:extLst>
                  <a:ext uri="{FF2B5EF4-FFF2-40B4-BE49-F238E27FC236}">
                    <a16:creationId xmlns:a16="http://schemas.microsoft.com/office/drawing/2014/main" id="{39C5A8F8-6725-01CE-B973-2A3AC898854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67">
                <a:extLst>
                  <a:ext uri="{FF2B5EF4-FFF2-40B4-BE49-F238E27FC236}">
                    <a16:creationId xmlns:a16="http://schemas.microsoft.com/office/drawing/2014/main" id="{2E9D9916-C7D0-0F31-67AA-400ECBFD4A4F}"/>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68">
                <a:extLst>
                  <a:ext uri="{FF2B5EF4-FFF2-40B4-BE49-F238E27FC236}">
                    <a16:creationId xmlns:a16="http://schemas.microsoft.com/office/drawing/2014/main" id="{6F4BD13B-5FDA-0BA0-6F28-B58DA93F5FFB}"/>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Oval 69">
                <a:extLst>
                  <a:ext uri="{FF2B5EF4-FFF2-40B4-BE49-F238E27FC236}">
                    <a16:creationId xmlns:a16="http://schemas.microsoft.com/office/drawing/2014/main" id="{BEBECE5C-B9C1-1B69-1463-E1C3DC01F126}"/>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88" name="Oval 70">
                <a:extLst>
                  <a:ext uri="{FF2B5EF4-FFF2-40B4-BE49-F238E27FC236}">
                    <a16:creationId xmlns:a16="http://schemas.microsoft.com/office/drawing/2014/main" id="{8A08DF83-23E5-5799-07DF-F182E3BD891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198" name="Text Box 218">
              <a:extLst>
                <a:ext uri="{FF2B5EF4-FFF2-40B4-BE49-F238E27FC236}">
                  <a16:creationId xmlns:a16="http://schemas.microsoft.com/office/drawing/2014/main" id="{6F12D6E1-A41F-3451-9D13-D7AAF95D41AC}"/>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33" name="Picture 432">
              <a:extLst>
                <a:ext uri="{FF2B5EF4-FFF2-40B4-BE49-F238E27FC236}">
                  <a16:creationId xmlns:a16="http://schemas.microsoft.com/office/drawing/2014/main" id="{2CB76DDC-EDF6-4F20-FB3D-5611327EDADA}"/>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40" name="Group 439">
            <a:extLst>
              <a:ext uri="{FF2B5EF4-FFF2-40B4-BE49-F238E27FC236}">
                <a16:creationId xmlns:a16="http://schemas.microsoft.com/office/drawing/2014/main" id="{3126113F-2A64-975D-1744-A44E4018A58D}"/>
              </a:ext>
            </a:extLst>
          </p:cNvPr>
          <p:cNvGrpSpPr/>
          <p:nvPr/>
        </p:nvGrpSpPr>
        <p:grpSpPr>
          <a:xfrm>
            <a:off x="2495399" y="2727416"/>
            <a:ext cx="495344" cy="554713"/>
            <a:chOff x="1855382" y="2447763"/>
            <a:chExt cx="495344" cy="554713"/>
          </a:xfrm>
        </p:grpSpPr>
        <p:grpSp>
          <p:nvGrpSpPr>
            <p:cNvPr id="441" name="Group 71">
              <a:extLst>
                <a:ext uri="{FF2B5EF4-FFF2-40B4-BE49-F238E27FC236}">
                  <a16:creationId xmlns:a16="http://schemas.microsoft.com/office/drawing/2014/main" id="{62AFB058-5FE8-6BB4-DED3-F1ECEAC28952}"/>
                </a:ext>
              </a:extLst>
            </p:cNvPr>
            <p:cNvGrpSpPr>
              <a:grpSpLocks/>
            </p:cNvGrpSpPr>
            <p:nvPr/>
          </p:nvGrpSpPr>
          <p:grpSpPr bwMode="auto">
            <a:xfrm>
              <a:off x="1931626" y="2447763"/>
              <a:ext cx="419100" cy="538783"/>
              <a:chOff x="3016" y="1444"/>
              <a:chExt cx="264" cy="360"/>
            </a:xfrm>
          </p:grpSpPr>
          <p:sp>
            <p:nvSpPr>
              <p:cNvPr id="444" name="Line 63">
                <a:extLst>
                  <a:ext uri="{FF2B5EF4-FFF2-40B4-BE49-F238E27FC236}">
                    <a16:creationId xmlns:a16="http://schemas.microsoft.com/office/drawing/2014/main" id="{FB2BC7B3-14F4-2AB0-90DE-8554F19F03CB}"/>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Freeform 64">
                <a:extLst>
                  <a:ext uri="{FF2B5EF4-FFF2-40B4-BE49-F238E27FC236}">
                    <a16:creationId xmlns:a16="http://schemas.microsoft.com/office/drawing/2014/main" id="{09FC01F7-2A27-CDA4-AB49-826039771BB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46" name="Freeform 65">
                <a:extLst>
                  <a:ext uri="{FF2B5EF4-FFF2-40B4-BE49-F238E27FC236}">
                    <a16:creationId xmlns:a16="http://schemas.microsoft.com/office/drawing/2014/main" id="{24E926C7-71B2-EEC5-408F-99EFD41E56BB}"/>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47" name="Line 66">
                <a:extLst>
                  <a:ext uri="{FF2B5EF4-FFF2-40B4-BE49-F238E27FC236}">
                    <a16:creationId xmlns:a16="http://schemas.microsoft.com/office/drawing/2014/main" id="{1172C674-3B9C-797F-153B-A868E0E5DD67}"/>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8" name="Line 67">
                <a:extLst>
                  <a:ext uri="{FF2B5EF4-FFF2-40B4-BE49-F238E27FC236}">
                    <a16:creationId xmlns:a16="http://schemas.microsoft.com/office/drawing/2014/main" id="{1D769BE1-E280-12E8-33B1-A78608EAB205}"/>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9" name="Line 68">
                <a:extLst>
                  <a:ext uri="{FF2B5EF4-FFF2-40B4-BE49-F238E27FC236}">
                    <a16:creationId xmlns:a16="http://schemas.microsoft.com/office/drawing/2014/main" id="{1F873590-9737-D7FE-6A9A-3449D26CBC4D}"/>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Oval 69">
                <a:extLst>
                  <a:ext uri="{FF2B5EF4-FFF2-40B4-BE49-F238E27FC236}">
                    <a16:creationId xmlns:a16="http://schemas.microsoft.com/office/drawing/2014/main" id="{E4326F47-4271-D33C-540B-61EE3DC3887D}"/>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51" name="Oval 70">
                <a:extLst>
                  <a:ext uri="{FF2B5EF4-FFF2-40B4-BE49-F238E27FC236}">
                    <a16:creationId xmlns:a16="http://schemas.microsoft.com/office/drawing/2014/main" id="{28FEAF23-4281-74A0-7C7D-2EC60D65958E}"/>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42" name="Text Box 218">
              <a:extLst>
                <a:ext uri="{FF2B5EF4-FFF2-40B4-BE49-F238E27FC236}">
                  <a16:creationId xmlns:a16="http://schemas.microsoft.com/office/drawing/2014/main" id="{80991900-09C1-1C62-C505-15A737336DF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43" name="Picture 442">
              <a:extLst>
                <a:ext uri="{FF2B5EF4-FFF2-40B4-BE49-F238E27FC236}">
                  <a16:creationId xmlns:a16="http://schemas.microsoft.com/office/drawing/2014/main" id="{A2859D43-686C-10A8-D031-01A7C3520092}"/>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52" name="Group 451">
            <a:extLst>
              <a:ext uri="{FF2B5EF4-FFF2-40B4-BE49-F238E27FC236}">
                <a16:creationId xmlns:a16="http://schemas.microsoft.com/office/drawing/2014/main" id="{E82C6DCA-93EC-1FE7-5789-5A86DF9E5D74}"/>
              </a:ext>
            </a:extLst>
          </p:cNvPr>
          <p:cNvGrpSpPr/>
          <p:nvPr/>
        </p:nvGrpSpPr>
        <p:grpSpPr>
          <a:xfrm>
            <a:off x="3069819" y="2396397"/>
            <a:ext cx="495344" cy="554713"/>
            <a:chOff x="1855382" y="2447763"/>
            <a:chExt cx="495344" cy="554713"/>
          </a:xfrm>
        </p:grpSpPr>
        <p:grpSp>
          <p:nvGrpSpPr>
            <p:cNvPr id="453" name="Group 71">
              <a:extLst>
                <a:ext uri="{FF2B5EF4-FFF2-40B4-BE49-F238E27FC236}">
                  <a16:creationId xmlns:a16="http://schemas.microsoft.com/office/drawing/2014/main" id="{A93C1510-BBFF-85C9-C1B1-7AAAA697B3C6}"/>
                </a:ext>
              </a:extLst>
            </p:cNvPr>
            <p:cNvGrpSpPr>
              <a:grpSpLocks/>
            </p:cNvGrpSpPr>
            <p:nvPr/>
          </p:nvGrpSpPr>
          <p:grpSpPr bwMode="auto">
            <a:xfrm>
              <a:off x="1931626" y="2447763"/>
              <a:ext cx="419100" cy="538783"/>
              <a:chOff x="3016" y="1444"/>
              <a:chExt cx="264" cy="360"/>
            </a:xfrm>
          </p:grpSpPr>
          <p:sp>
            <p:nvSpPr>
              <p:cNvPr id="456" name="Line 63">
                <a:extLst>
                  <a:ext uri="{FF2B5EF4-FFF2-40B4-BE49-F238E27FC236}">
                    <a16:creationId xmlns:a16="http://schemas.microsoft.com/office/drawing/2014/main" id="{3AF80F2E-4C5F-7309-2AAE-3AE7E77795B9}"/>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7" name="Freeform 64">
                <a:extLst>
                  <a:ext uri="{FF2B5EF4-FFF2-40B4-BE49-F238E27FC236}">
                    <a16:creationId xmlns:a16="http://schemas.microsoft.com/office/drawing/2014/main" id="{9A89C2EB-FFD5-0E58-7843-8C273C4C7BA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58" name="Freeform 65">
                <a:extLst>
                  <a:ext uri="{FF2B5EF4-FFF2-40B4-BE49-F238E27FC236}">
                    <a16:creationId xmlns:a16="http://schemas.microsoft.com/office/drawing/2014/main" id="{3C400AD2-E368-D966-78EC-38BD2FC6806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59" name="Line 66">
                <a:extLst>
                  <a:ext uri="{FF2B5EF4-FFF2-40B4-BE49-F238E27FC236}">
                    <a16:creationId xmlns:a16="http://schemas.microsoft.com/office/drawing/2014/main" id="{754E01EE-B3FF-DA88-89F7-32852A0E5121}"/>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 name="Line 67">
                <a:extLst>
                  <a:ext uri="{FF2B5EF4-FFF2-40B4-BE49-F238E27FC236}">
                    <a16:creationId xmlns:a16="http://schemas.microsoft.com/office/drawing/2014/main" id="{C8E3F194-C016-3381-40FA-D706722DC752}"/>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 name="Line 68">
                <a:extLst>
                  <a:ext uri="{FF2B5EF4-FFF2-40B4-BE49-F238E27FC236}">
                    <a16:creationId xmlns:a16="http://schemas.microsoft.com/office/drawing/2014/main" id="{60DA2B9A-E81A-9F9E-6788-1A27FF9C5044}"/>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 name="Oval 69">
                <a:extLst>
                  <a:ext uri="{FF2B5EF4-FFF2-40B4-BE49-F238E27FC236}">
                    <a16:creationId xmlns:a16="http://schemas.microsoft.com/office/drawing/2014/main" id="{08F62091-4CE7-9FDA-EB47-AF77602CBAE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63" name="Oval 70">
                <a:extLst>
                  <a:ext uri="{FF2B5EF4-FFF2-40B4-BE49-F238E27FC236}">
                    <a16:creationId xmlns:a16="http://schemas.microsoft.com/office/drawing/2014/main" id="{1AA4A9BC-5D55-2070-8A2C-7B1E54BFC76B}"/>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54" name="Text Box 218">
              <a:extLst>
                <a:ext uri="{FF2B5EF4-FFF2-40B4-BE49-F238E27FC236}">
                  <a16:creationId xmlns:a16="http://schemas.microsoft.com/office/drawing/2014/main" id="{7C95ABF2-FA6F-704D-2EB3-E75765A82A3F}"/>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55" name="Picture 454">
              <a:extLst>
                <a:ext uri="{FF2B5EF4-FFF2-40B4-BE49-F238E27FC236}">
                  <a16:creationId xmlns:a16="http://schemas.microsoft.com/office/drawing/2014/main" id="{51AD3D9F-5F2F-3287-71B4-7CF576532E39}"/>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64" name="Group 463">
            <a:extLst>
              <a:ext uri="{FF2B5EF4-FFF2-40B4-BE49-F238E27FC236}">
                <a16:creationId xmlns:a16="http://schemas.microsoft.com/office/drawing/2014/main" id="{F3D4E41C-CFE1-B1ED-9A0D-D268C9CE2E7D}"/>
              </a:ext>
            </a:extLst>
          </p:cNvPr>
          <p:cNvGrpSpPr/>
          <p:nvPr/>
        </p:nvGrpSpPr>
        <p:grpSpPr>
          <a:xfrm>
            <a:off x="3780730" y="2671353"/>
            <a:ext cx="495344" cy="554713"/>
            <a:chOff x="1855382" y="2447763"/>
            <a:chExt cx="495344" cy="554713"/>
          </a:xfrm>
        </p:grpSpPr>
        <p:grpSp>
          <p:nvGrpSpPr>
            <p:cNvPr id="465" name="Group 71">
              <a:extLst>
                <a:ext uri="{FF2B5EF4-FFF2-40B4-BE49-F238E27FC236}">
                  <a16:creationId xmlns:a16="http://schemas.microsoft.com/office/drawing/2014/main" id="{D4511B70-A7BB-C413-D7D3-70575F87D5A8}"/>
                </a:ext>
              </a:extLst>
            </p:cNvPr>
            <p:cNvGrpSpPr>
              <a:grpSpLocks/>
            </p:cNvGrpSpPr>
            <p:nvPr/>
          </p:nvGrpSpPr>
          <p:grpSpPr bwMode="auto">
            <a:xfrm>
              <a:off x="1931626" y="2447763"/>
              <a:ext cx="419100" cy="538783"/>
              <a:chOff x="3016" y="1444"/>
              <a:chExt cx="264" cy="360"/>
            </a:xfrm>
          </p:grpSpPr>
          <p:sp>
            <p:nvSpPr>
              <p:cNvPr id="468" name="Line 63">
                <a:extLst>
                  <a:ext uri="{FF2B5EF4-FFF2-40B4-BE49-F238E27FC236}">
                    <a16:creationId xmlns:a16="http://schemas.microsoft.com/office/drawing/2014/main" id="{62CBDB04-6340-D73D-772D-85E9A0DB749C}"/>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9" name="Freeform 64">
                <a:extLst>
                  <a:ext uri="{FF2B5EF4-FFF2-40B4-BE49-F238E27FC236}">
                    <a16:creationId xmlns:a16="http://schemas.microsoft.com/office/drawing/2014/main" id="{808EF856-8E26-2A7D-DDC5-616C992DFD4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70" name="Freeform 65">
                <a:extLst>
                  <a:ext uri="{FF2B5EF4-FFF2-40B4-BE49-F238E27FC236}">
                    <a16:creationId xmlns:a16="http://schemas.microsoft.com/office/drawing/2014/main" id="{06A3DEE1-ABDC-776B-E5D6-615E79AEBBC5}"/>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71" name="Line 66">
                <a:extLst>
                  <a:ext uri="{FF2B5EF4-FFF2-40B4-BE49-F238E27FC236}">
                    <a16:creationId xmlns:a16="http://schemas.microsoft.com/office/drawing/2014/main" id="{2927BB3D-0DAD-6DD3-BDD3-F463E765768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2" name="Line 67">
                <a:extLst>
                  <a:ext uri="{FF2B5EF4-FFF2-40B4-BE49-F238E27FC236}">
                    <a16:creationId xmlns:a16="http://schemas.microsoft.com/office/drawing/2014/main" id="{D8FD048A-0F58-6341-AC49-1655D1B24D5E}"/>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3" name="Line 68">
                <a:extLst>
                  <a:ext uri="{FF2B5EF4-FFF2-40B4-BE49-F238E27FC236}">
                    <a16:creationId xmlns:a16="http://schemas.microsoft.com/office/drawing/2014/main" id="{18BE6F25-EFA6-0D30-EED4-E7DB5C487C17}"/>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4" name="Oval 69">
                <a:extLst>
                  <a:ext uri="{FF2B5EF4-FFF2-40B4-BE49-F238E27FC236}">
                    <a16:creationId xmlns:a16="http://schemas.microsoft.com/office/drawing/2014/main" id="{D9B76CF8-0953-D229-8EFF-98344E8E9492}"/>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75" name="Oval 70">
                <a:extLst>
                  <a:ext uri="{FF2B5EF4-FFF2-40B4-BE49-F238E27FC236}">
                    <a16:creationId xmlns:a16="http://schemas.microsoft.com/office/drawing/2014/main" id="{004181D4-0078-5A24-27C6-6EA9AA2FAF2F}"/>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66" name="Text Box 218">
              <a:extLst>
                <a:ext uri="{FF2B5EF4-FFF2-40B4-BE49-F238E27FC236}">
                  <a16:creationId xmlns:a16="http://schemas.microsoft.com/office/drawing/2014/main" id="{B7C929AF-3E74-FFCA-AD3B-B81AAD1CF79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67" name="Picture 466">
              <a:extLst>
                <a:ext uri="{FF2B5EF4-FFF2-40B4-BE49-F238E27FC236}">
                  <a16:creationId xmlns:a16="http://schemas.microsoft.com/office/drawing/2014/main" id="{0AD10812-FBA0-010C-26C9-37F990E1EC21}"/>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76" name="Group 475">
            <a:extLst>
              <a:ext uri="{FF2B5EF4-FFF2-40B4-BE49-F238E27FC236}">
                <a16:creationId xmlns:a16="http://schemas.microsoft.com/office/drawing/2014/main" id="{214CC09D-0693-3FE3-1B8C-A44244C6E20B}"/>
              </a:ext>
            </a:extLst>
          </p:cNvPr>
          <p:cNvGrpSpPr/>
          <p:nvPr/>
        </p:nvGrpSpPr>
        <p:grpSpPr>
          <a:xfrm>
            <a:off x="1953246" y="3301359"/>
            <a:ext cx="495344" cy="554713"/>
            <a:chOff x="1855382" y="2447763"/>
            <a:chExt cx="495344" cy="554713"/>
          </a:xfrm>
        </p:grpSpPr>
        <p:grpSp>
          <p:nvGrpSpPr>
            <p:cNvPr id="477" name="Group 71">
              <a:extLst>
                <a:ext uri="{FF2B5EF4-FFF2-40B4-BE49-F238E27FC236}">
                  <a16:creationId xmlns:a16="http://schemas.microsoft.com/office/drawing/2014/main" id="{A6B37EAB-8A07-B0CB-5619-1C277825B6B9}"/>
                </a:ext>
              </a:extLst>
            </p:cNvPr>
            <p:cNvGrpSpPr>
              <a:grpSpLocks/>
            </p:cNvGrpSpPr>
            <p:nvPr/>
          </p:nvGrpSpPr>
          <p:grpSpPr bwMode="auto">
            <a:xfrm>
              <a:off x="1931626" y="2447763"/>
              <a:ext cx="419100" cy="538783"/>
              <a:chOff x="3016" y="1444"/>
              <a:chExt cx="264" cy="360"/>
            </a:xfrm>
          </p:grpSpPr>
          <p:sp>
            <p:nvSpPr>
              <p:cNvPr id="480" name="Line 63">
                <a:extLst>
                  <a:ext uri="{FF2B5EF4-FFF2-40B4-BE49-F238E27FC236}">
                    <a16:creationId xmlns:a16="http://schemas.microsoft.com/office/drawing/2014/main" id="{D067C0F3-6461-1B79-567B-C6C38C2DE80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 name="Freeform 64">
                <a:extLst>
                  <a:ext uri="{FF2B5EF4-FFF2-40B4-BE49-F238E27FC236}">
                    <a16:creationId xmlns:a16="http://schemas.microsoft.com/office/drawing/2014/main" id="{58727FB0-9C75-C56D-F9D8-75AD3599DB4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82" name="Freeform 65">
                <a:extLst>
                  <a:ext uri="{FF2B5EF4-FFF2-40B4-BE49-F238E27FC236}">
                    <a16:creationId xmlns:a16="http://schemas.microsoft.com/office/drawing/2014/main" id="{614AC2B4-37D1-65F8-AA5A-40F6EB67F9B9}"/>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83" name="Line 66">
                <a:extLst>
                  <a:ext uri="{FF2B5EF4-FFF2-40B4-BE49-F238E27FC236}">
                    <a16:creationId xmlns:a16="http://schemas.microsoft.com/office/drawing/2014/main" id="{6C20F051-9864-476A-568C-F0F50D8F844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 name="Line 67">
                <a:extLst>
                  <a:ext uri="{FF2B5EF4-FFF2-40B4-BE49-F238E27FC236}">
                    <a16:creationId xmlns:a16="http://schemas.microsoft.com/office/drawing/2014/main" id="{58D2FC4F-E7E7-79F3-A35D-1428249EABA8}"/>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5" name="Line 68">
                <a:extLst>
                  <a:ext uri="{FF2B5EF4-FFF2-40B4-BE49-F238E27FC236}">
                    <a16:creationId xmlns:a16="http://schemas.microsoft.com/office/drawing/2014/main" id="{9ED66E70-869E-235A-EBEF-22F75391EA79}"/>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6" name="Oval 69">
                <a:extLst>
                  <a:ext uri="{FF2B5EF4-FFF2-40B4-BE49-F238E27FC236}">
                    <a16:creationId xmlns:a16="http://schemas.microsoft.com/office/drawing/2014/main" id="{2846E7A4-5A64-3C9E-ABEB-A5AF516929C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87" name="Oval 70">
                <a:extLst>
                  <a:ext uri="{FF2B5EF4-FFF2-40B4-BE49-F238E27FC236}">
                    <a16:creationId xmlns:a16="http://schemas.microsoft.com/office/drawing/2014/main" id="{69A64E36-6168-8A3E-E610-D9D77615A09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78" name="Text Box 218">
              <a:extLst>
                <a:ext uri="{FF2B5EF4-FFF2-40B4-BE49-F238E27FC236}">
                  <a16:creationId xmlns:a16="http://schemas.microsoft.com/office/drawing/2014/main" id="{29E28D2A-EFA4-BE26-497E-B1EDE25D21C0}"/>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79" name="Picture 478">
              <a:extLst>
                <a:ext uri="{FF2B5EF4-FFF2-40B4-BE49-F238E27FC236}">
                  <a16:creationId xmlns:a16="http://schemas.microsoft.com/office/drawing/2014/main" id="{A9F47C90-2334-3697-6F24-A635C02FDEBD}"/>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88" name="Group 487">
            <a:extLst>
              <a:ext uri="{FF2B5EF4-FFF2-40B4-BE49-F238E27FC236}">
                <a16:creationId xmlns:a16="http://schemas.microsoft.com/office/drawing/2014/main" id="{998EA5DD-E793-517F-DABB-89B49663224A}"/>
              </a:ext>
            </a:extLst>
          </p:cNvPr>
          <p:cNvGrpSpPr/>
          <p:nvPr/>
        </p:nvGrpSpPr>
        <p:grpSpPr>
          <a:xfrm>
            <a:off x="3019019" y="3308652"/>
            <a:ext cx="495344" cy="554713"/>
            <a:chOff x="1855382" y="2447763"/>
            <a:chExt cx="495344" cy="554713"/>
          </a:xfrm>
        </p:grpSpPr>
        <p:grpSp>
          <p:nvGrpSpPr>
            <p:cNvPr id="489" name="Group 71">
              <a:extLst>
                <a:ext uri="{FF2B5EF4-FFF2-40B4-BE49-F238E27FC236}">
                  <a16:creationId xmlns:a16="http://schemas.microsoft.com/office/drawing/2014/main" id="{CC004E39-12BD-D794-0927-96DD6991B51A}"/>
                </a:ext>
              </a:extLst>
            </p:cNvPr>
            <p:cNvGrpSpPr>
              <a:grpSpLocks/>
            </p:cNvGrpSpPr>
            <p:nvPr/>
          </p:nvGrpSpPr>
          <p:grpSpPr bwMode="auto">
            <a:xfrm>
              <a:off x="1931626" y="2447763"/>
              <a:ext cx="419100" cy="538783"/>
              <a:chOff x="3016" y="1444"/>
              <a:chExt cx="264" cy="360"/>
            </a:xfrm>
          </p:grpSpPr>
          <p:sp>
            <p:nvSpPr>
              <p:cNvPr id="492" name="Line 63">
                <a:extLst>
                  <a:ext uri="{FF2B5EF4-FFF2-40B4-BE49-F238E27FC236}">
                    <a16:creationId xmlns:a16="http://schemas.microsoft.com/office/drawing/2014/main" id="{FBEFBEB4-6850-4F4B-6F95-0317282369A0}"/>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3" name="Freeform 64">
                <a:extLst>
                  <a:ext uri="{FF2B5EF4-FFF2-40B4-BE49-F238E27FC236}">
                    <a16:creationId xmlns:a16="http://schemas.microsoft.com/office/drawing/2014/main" id="{371EC7D3-FACC-1FF7-957A-B8BF7F2A8CC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94" name="Freeform 65">
                <a:extLst>
                  <a:ext uri="{FF2B5EF4-FFF2-40B4-BE49-F238E27FC236}">
                    <a16:creationId xmlns:a16="http://schemas.microsoft.com/office/drawing/2014/main" id="{A68D8647-CDBA-D630-7D7B-5F4CF50A3B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95" name="Line 66">
                <a:extLst>
                  <a:ext uri="{FF2B5EF4-FFF2-40B4-BE49-F238E27FC236}">
                    <a16:creationId xmlns:a16="http://schemas.microsoft.com/office/drawing/2014/main" id="{6814461F-1226-2649-9380-B3D07BCE9186}"/>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6" name="Line 67">
                <a:extLst>
                  <a:ext uri="{FF2B5EF4-FFF2-40B4-BE49-F238E27FC236}">
                    <a16:creationId xmlns:a16="http://schemas.microsoft.com/office/drawing/2014/main" id="{C062E472-3483-480E-8EAE-E1EAA35BAE6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7" name="Line 68">
                <a:extLst>
                  <a:ext uri="{FF2B5EF4-FFF2-40B4-BE49-F238E27FC236}">
                    <a16:creationId xmlns:a16="http://schemas.microsoft.com/office/drawing/2014/main" id="{2371759F-7B57-466D-0150-E0D219C05675}"/>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8" name="Oval 69">
                <a:extLst>
                  <a:ext uri="{FF2B5EF4-FFF2-40B4-BE49-F238E27FC236}">
                    <a16:creationId xmlns:a16="http://schemas.microsoft.com/office/drawing/2014/main" id="{6181F43D-10A9-6014-01D5-8227B09A9E29}"/>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99" name="Oval 70">
                <a:extLst>
                  <a:ext uri="{FF2B5EF4-FFF2-40B4-BE49-F238E27FC236}">
                    <a16:creationId xmlns:a16="http://schemas.microsoft.com/office/drawing/2014/main" id="{3FC89BC9-590B-0B09-BE6F-AB01C814AA02}"/>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90" name="Text Box 218">
              <a:extLst>
                <a:ext uri="{FF2B5EF4-FFF2-40B4-BE49-F238E27FC236}">
                  <a16:creationId xmlns:a16="http://schemas.microsoft.com/office/drawing/2014/main" id="{CF9DEE83-941B-CEE6-FEEC-89BE70CFE7A8}"/>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91" name="Picture 490">
              <a:extLst>
                <a:ext uri="{FF2B5EF4-FFF2-40B4-BE49-F238E27FC236}">
                  <a16:creationId xmlns:a16="http://schemas.microsoft.com/office/drawing/2014/main" id="{22F5B6FA-C043-0674-ADE5-9452D1F12DFC}"/>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00" name="Group 499">
            <a:extLst>
              <a:ext uri="{FF2B5EF4-FFF2-40B4-BE49-F238E27FC236}">
                <a16:creationId xmlns:a16="http://schemas.microsoft.com/office/drawing/2014/main" id="{DD1F2C4F-295F-1576-03AF-E1EF134506C0}"/>
              </a:ext>
            </a:extLst>
          </p:cNvPr>
          <p:cNvGrpSpPr/>
          <p:nvPr/>
        </p:nvGrpSpPr>
        <p:grpSpPr>
          <a:xfrm>
            <a:off x="3683893" y="3390674"/>
            <a:ext cx="495344" cy="554713"/>
            <a:chOff x="1855382" y="2447763"/>
            <a:chExt cx="495344" cy="554713"/>
          </a:xfrm>
        </p:grpSpPr>
        <p:grpSp>
          <p:nvGrpSpPr>
            <p:cNvPr id="501" name="Group 71">
              <a:extLst>
                <a:ext uri="{FF2B5EF4-FFF2-40B4-BE49-F238E27FC236}">
                  <a16:creationId xmlns:a16="http://schemas.microsoft.com/office/drawing/2014/main" id="{B5C78DF7-161A-59A8-2561-721D976598DC}"/>
                </a:ext>
              </a:extLst>
            </p:cNvPr>
            <p:cNvGrpSpPr>
              <a:grpSpLocks/>
            </p:cNvGrpSpPr>
            <p:nvPr/>
          </p:nvGrpSpPr>
          <p:grpSpPr bwMode="auto">
            <a:xfrm>
              <a:off x="1931626" y="2447763"/>
              <a:ext cx="419100" cy="538783"/>
              <a:chOff x="3016" y="1444"/>
              <a:chExt cx="264" cy="360"/>
            </a:xfrm>
          </p:grpSpPr>
          <p:sp>
            <p:nvSpPr>
              <p:cNvPr id="504" name="Line 63">
                <a:extLst>
                  <a:ext uri="{FF2B5EF4-FFF2-40B4-BE49-F238E27FC236}">
                    <a16:creationId xmlns:a16="http://schemas.microsoft.com/office/drawing/2014/main" id="{17C5052E-EC98-3B45-E568-765DD2E8859A}"/>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5" name="Freeform 64">
                <a:extLst>
                  <a:ext uri="{FF2B5EF4-FFF2-40B4-BE49-F238E27FC236}">
                    <a16:creationId xmlns:a16="http://schemas.microsoft.com/office/drawing/2014/main" id="{9D76D3AD-BA7B-EC53-2DA2-7D48059CABC1}"/>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06" name="Freeform 65">
                <a:extLst>
                  <a:ext uri="{FF2B5EF4-FFF2-40B4-BE49-F238E27FC236}">
                    <a16:creationId xmlns:a16="http://schemas.microsoft.com/office/drawing/2014/main" id="{FBC2396A-AF49-3697-D789-9FD0FF3007A0}"/>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07" name="Line 66">
                <a:extLst>
                  <a:ext uri="{FF2B5EF4-FFF2-40B4-BE49-F238E27FC236}">
                    <a16:creationId xmlns:a16="http://schemas.microsoft.com/office/drawing/2014/main" id="{3CF4AC38-DC03-30EA-D191-977288BC50FB}"/>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8" name="Line 67">
                <a:extLst>
                  <a:ext uri="{FF2B5EF4-FFF2-40B4-BE49-F238E27FC236}">
                    <a16:creationId xmlns:a16="http://schemas.microsoft.com/office/drawing/2014/main" id="{9C81A743-5636-6EFA-561C-84DE870A91A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9" name="Line 68">
                <a:extLst>
                  <a:ext uri="{FF2B5EF4-FFF2-40B4-BE49-F238E27FC236}">
                    <a16:creationId xmlns:a16="http://schemas.microsoft.com/office/drawing/2014/main" id="{A3B55A7B-5223-61D9-C4D9-019BDEFA69B6}"/>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0" name="Oval 69">
                <a:extLst>
                  <a:ext uri="{FF2B5EF4-FFF2-40B4-BE49-F238E27FC236}">
                    <a16:creationId xmlns:a16="http://schemas.microsoft.com/office/drawing/2014/main" id="{4A3FC751-22FD-EF82-9305-A52958AE946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11" name="Oval 70">
                <a:extLst>
                  <a:ext uri="{FF2B5EF4-FFF2-40B4-BE49-F238E27FC236}">
                    <a16:creationId xmlns:a16="http://schemas.microsoft.com/office/drawing/2014/main" id="{862E42D0-B3E1-A9FB-F477-A003F5BB6AE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02" name="Text Box 218">
              <a:extLst>
                <a:ext uri="{FF2B5EF4-FFF2-40B4-BE49-F238E27FC236}">
                  <a16:creationId xmlns:a16="http://schemas.microsoft.com/office/drawing/2014/main" id="{C711D30E-C939-4CB5-ED14-DF4C875021D1}"/>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03" name="Picture 502">
              <a:extLst>
                <a:ext uri="{FF2B5EF4-FFF2-40B4-BE49-F238E27FC236}">
                  <a16:creationId xmlns:a16="http://schemas.microsoft.com/office/drawing/2014/main" id="{117E22A3-5E27-021D-C7F9-7CE0DB66189E}"/>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12" name="Group 511">
            <a:extLst>
              <a:ext uri="{FF2B5EF4-FFF2-40B4-BE49-F238E27FC236}">
                <a16:creationId xmlns:a16="http://schemas.microsoft.com/office/drawing/2014/main" id="{FC10A68A-F168-B423-EA14-A2CFA6AFBA67}"/>
              </a:ext>
            </a:extLst>
          </p:cNvPr>
          <p:cNvGrpSpPr/>
          <p:nvPr/>
        </p:nvGrpSpPr>
        <p:grpSpPr>
          <a:xfrm>
            <a:off x="5532575" y="2588431"/>
            <a:ext cx="495344" cy="554713"/>
            <a:chOff x="1855382" y="2447763"/>
            <a:chExt cx="495344" cy="554713"/>
          </a:xfrm>
        </p:grpSpPr>
        <p:grpSp>
          <p:nvGrpSpPr>
            <p:cNvPr id="513" name="Group 71">
              <a:extLst>
                <a:ext uri="{FF2B5EF4-FFF2-40B4-BE49-F238E27FC236}">
                  <a16:creationId xmlns:a16="http://schemas.microsoft.com/office/drawing/2014/main" id="{0D0C0B0B-E0E9-8CAA-A045-221D187586CB}"/>
                </a:ext>
              </a:extLst>
            </p:cNvPr>
            <p:cNvGrpSpPr>
              <a:grpSpLocks/>
            </p:cNvGrpSpPr>
            <p:nvPr/>
          </p:nvGrpSpPr>
          <p:grpSpPr bwMode="auto">
            <a:xfrm>
              <a:off x="1931626" y="2447763"/>
              <a:ext cx="419100" cy="538783"/>
              <a:chOff x="3016" y="1444"/>
              <a:chExt cx="264" cy="360"/>
            </a:xfrm>
          </p:grpSpPr>
          <p:sp>
            <p:nvSpPr>
              <p:cNvPr id="516" name="Line 63">
                <a:extLst>
                  <a:ext uri="{FF2B5EF4-FFF2-40B4-BE49-F238E27FC236}">
                    <a16:creationId xmlns:a16="http://schemas.microsoft.com/office/drawing/2014/main" id="{DA342D82-689C-D69E-7855-770EACCE5948}"/>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7" name="Freeform 64">
                <a:extLst>
                  <a:ext uri="{FF2B5EF4-FFF2-40B4-BE49-F238E27FC236}">
                    <a16:creationId xmlns:a16="http://schemas.microsoft.com/office/drawing/2014/main" id="{A50E502B-D9FD-A490-6B50-BD4FDA89B66B}"/>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18" name="Freeform 65">
                <a:extLst>
                  <a:ext uri="{FF2B5EF4-FFF2-40B4-BE49-F238E27FC236}">
                    <a16:creationId xmlns:a16="http://schemas.microsoft.com/office/drawing/2014/main" id="{C0ECCF1C-523F-F536-6D0C-7A5D65E88A0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19" name="Line 66">
                <a:extLst>
                  <a:ext uri="{FF2B5EF4-FFF2-40B4-BE49-F238E27FC236}">
                    <a16:creationId xmlns:a16="http://schemas.microsoft.com/office/drawing/2014/main" id="{3ADF3E3E-D131-06A8-319F-B619EF8AD539}"/>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 name="Line 67">
                <a:extLst>
                  <a:ext uri="{FF2B5EF4-FFF2-40B4-BE49-F238E27FC236}">
                    <a16:creationId xmlns:a16="http://schemas.microsoft.com/office/drawing/2014/main" id="{68B2E737-9EF6-BEA4-B70A-4925A5A2DDBA}"/>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 name="Line 68">
                <a:extLst>
                  <a:ext uri="{FF2B5EF4-FFF2-40B4-BE49-F238E27FC236}">
                    <a16:creationId xmlns:a16="http://schemas.microsoft.com/office/drawing/2014/main" id="{70DC8BE8-96C8-A4AC-6E72-9907410FBCA8}"/>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 name="Oval 69">
                <a:extLst>
                  <a:ext uri="{FF2B5EF4-FFF2-40B4-BE49-F238E27FC236}">
                    <a16:creationId xmlns:a16="http://schemas.microsoft.com/office/drawing/2014/main" id="{908E0BAB-54F3-2B81-D52E-E9E10E92E82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23" name="Oval 70">
                <a:extLst>
                  <a:ext uri="{FF2B5EF4-FFF2-40B4-BE49-F238E27FC236}">
                    <a16:creationId xmlns:a16="http://schemas.microsoft.com/office/drawing/2014/main" id="{FBDA4E96-891E-D4D5-2876-98695C64AB05}"/>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14" name="Text Box 218">
              <a:extLst>
                <a:ext uri="{FF2B5EF4-FFF2-40B4-BE49-F238E27FC236}">
                  <a16:creationId xmlns:a16="http://schemas.microsoft.com/office/drawing/2014/main" id="{13542576-746B-3969-BDF0-C77521DCAC16}"/>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15" name="Picture 514">
              <a:extLst>
                <a:ext uri="{FF2B5EF4-FFF2-40B4-BE49-F238E27FC236}">
                  <a16:creationId xmlns:a16="http://schemas.microsoft.com/office/drawing/2014/main" id="{225C1C4F-F622-E788-D44B-F27D63E55E76}"/>
                </a:ext>
              </a:extLst>
            </p:cNvPr>
            <p:cNvPicPr>
              <a:picLocks noChangeAspect="1"/>
            </p:cNvPicPr>
            <p:nvPr/>
          </p:nvPicPr>
          <p:blipFill>
            <a:blip r:embed="rId10"/>
            <a:stretch>
              <a:fillRect/>
            </a:stretch>
          </p:blipFill>
          <p:spPr>
            <a:xfrm>
              <a:off x="1855382" y="2710376"/>
              <a:ext cx="215900" cy="292100"/>
            </a:xfrm>
            <a:prstGeom prst="rect">
              <a:avLst/>
            </a:prstGeom>
          </p:spPr>
        </p:pic>
      </p:grpSp>
      <p:pic>
        <p:nvPicPr>
          <p:cNvPr id="526" name="Picture 525">
            <a:extLst>
              <a:ext uri="{FF2B5EF4-FFF2-40B4-BE49-F238E27FC236}">
                <a16:creationId xmlns:a16="http://schemas.microsoft.com/office/drawing/2014/main" id="{A4B72E84-9D00-2A28-FE9B-1CE0AD015B78}"/>
              </a:ext>
            </a:extLst>
          </p:cNvPr>
          <p:cNvPicPr>
            <a:picLocks noChangeAspect="1"/>
          </p:cNvPicPr>
          <p:nvPr/>
        </p:nvPicPr>
        <p:blipFill>
          <a:blip r:embed="rId10"/>
          <a:stretch>
            <a:fillRect/>
          </a:stretch>
        </p:blipFill>
        <p:spPr>
          <a:xfrm>
            <a:off x="5699390" y="2928783"/>
            <a:ext cx="215900" cy="292100"/>
          </a:xfrm>
          <a:prstGeom prst="rect">
            <a:avLst/>
          </a:prstGeom>
        </p:spPr>
      </p:pic>
      <p:pic>
        <p:nvPicPr>
          <p:cNvPr id="527" name="Picture 526">
            <a:extLst>
              <a:ext uri="{FF2B5EF4-FFF2-40B4-BE49-F238E27FC236}">
                <a16:creationId xmlns:a16="http://schemas.microsoft.com/office/drawing/2014/main" id="{F31F1B10-8814-3A17-81F9-FA97BCD7767D}"/>
              </a:ext>
            </a:extLst>
          </p:cNvPr>
          <p:cNvPicPr>
            <a:picLocks noChangeAspect="1"/>
          </p:cNvPicPr>
          <p:nvPr/>
        </p:nvPicPr>
        <p:blipFill>
          <a:blip r:embed="rId10"/>
          <a:stretch>
            <a:fillRect/>
          </a:stretch>
        </p:blipFill>
        <p:spPr>
          <a:xfrm>
            <a:off x="5893065" y="2932653"/>
            <a:ext cx="215900" cy="292100"/>
          </a:xfrm>
          <a:prstGeom prst="rect">
            <a:avLst/>
          </a:prstGeom>
        </p:spPr>
      </p:pic>
      <p:pic>
        <p:nvPicPr>
          <p:cNvPr id="528" name="Picture 527">
            <a:extLst>
              <a:ext uri="{FF2B5EF4-FFF2-40B4-BE49-F238E27FC236}">
                <a16:creationId xmlns:a16="http://schemas.microsoft.com/office/drawing/2014/main" id="{399B920D-2254-AD9D-8904-5F5828812FF3}"/>
              </a:ext>
            </a:extLst>
          </p:cNvPr>
          <p:cNvPicPr>
            <a:picLocks noChangeAspect="1"/>
          </p:cNvPicPr>
          <p:nvPr/>
        </p:nvPicPr>
        <p:blipFill>
          <a:blip r:embed="rId10"/>
          <a:stretch>
            <a:fillRect/>
          </a:stretch>
        </p:blipFill>
        <p:spPr>
          <a:xfrm>
            <a:off x="5522248" y="3160261"/>
            <a:ext cx="215900" cy="292100"/>
          </a:xfrm>
          <a:prstGeom prst="rect">
            <a:avLst/>
          </a:prstGeom>
        </p:spPr>
      </p:pic>
      <p:pic>
        <p:nvPicPr>
          <p:cNvPr id="529" name="Picture 528">
            <a:extLst>
              <a:ext uri="{FF2B5EF4-FFF2-40B4-BE49-F238E27FC236}">
                <a16:creationId xmlns:a16="http://schemas.microsoft.com/office/drawing/2014/main" id="{4B9E13D4-6A23-5346-6543-B82AF2C3E898}"/>
              </a:ext>
            </a:extLst>
          </p:cNvPr>
          <p:cNvPicPr>
            <a:picLocks noChangeAspect="1"/>
          </p:cNvPicPr>
          <p:nvPr/>
        </p:nvPicPr>
        <p:blipFill>
          <a:blip r:embed="rId10"/>
          <a:stretch>
            <a:fillRect/>
          </a:stretch>
        </p:blipFill>
        <p:spPr>
          <a:xfrm>
            <a:off x="5771788" y="3221243"/>
            <a:ext cx="215900" cy="292100"/>
          </a:xfrm>
          <a:prstGeom prst="rect">
            <a:avLst/>
          </a:prstGeom>
        </p:spPr>
      </p:pic>
      <p:pic>
        <p:nvPicPr>
          <p:cNvPr id="530" name="Picture 529">
            <a:extLst>
              <a:ext uri="{FF2B5EF4-FFF2-40B4-BE49-F238E27FC236}">
                <a16:creationId xmlns:a16="http://schemas.microsoft.com/office/drawing/2014/main" id="{642FD2E2-49BB-01DA-BFA3-79A6EBB6F056}"/>
              </a:ext>
            </a:extLst>
          </p:cNvPr>
          <p:cNvPicPr>
            <a:picLocks noChangeAspect="1"/>
          </p:cNvPicPr>
          <p:nvPr/>
        </p:nvPicPr>
        <p:blipFill>
          <a:blip r:embed="rId10"/>
          <a:stretch>
            <a:fillRect/>
          </a:stretch>
        </p:blipFill>
        <p:spPr>
          <a:xfrm>
            <a:off x="6062300" y="3094634"/>
            <a:ext cx="215900" cy="292100"/>
          </a:xfrm>
          <a:prstGeom prst="rect">
            <a:avLst/>
          </a:prstGeom>
        </p:spPr>
      </p:pic>
      <p:pic>
        <p:nvPicPr>
          <p:cNvPr id="531" name="Picture 530">
            <a:extLst>
              <a:ext uri="{FF2B5EF4-FFF2-40B4-BE49-F238E27FC236}">
                <a16:creationId xmlns:a16="http://schemas.microsoft.com/office/drawing/2014/main" id="{29C3CDC9-7FFB-9158-4CB7-F0E106567344}"/>
              </a:ext>
            </a:extLst>
          </p:cNvPr>
          <p:cNvPicPr>
            <a:picLocks noChangeAspect="1"/>
          </p:cNvPicPr>
          <p:nvPr/>
        </p:nvPicPr>
        <p:blipFill>
          <a:blip r:embed="rId10"/>
          <a:stretch>
            <a:fillRect/>
          </a:stretch>
        </p:blipFill>
        <p:spPr>
          <a:xfrm>
            <a:off x="5348469" y="2937055"/>
            <a:ext cx="215900" cy="292100"/>
          </a:xfrm>
          <a:prstGeom prst="rect">
            <a:avLst/>
          </a:prstGeom>
        </p:spPr>
      </p:pic>
      <p:pic>
        <p:nvPicPr>
          <p:cNvPr id="532" name="Picture 531">
            <a:extLst>
              <a:ext uri="{FF2B5EF4-FFF2-40B4-BE49-F238E27FC236}">
                <a16:creationId xmlns:a16="http://schemas.microsoft.com/office/drawing/2014/main" id="{C3503183-7A20-8A99-1AC9-64B44E5F19A0}"/>
              </a:ext>
            </a:extLst>
          </p:cNvPr>
          <p:cNvPicPr>
            <a:picLocks noChangeAspect="1"/>
          </p:cNvPicPr>
          <p:nvPr/>
        </p:nvPicPr>
        <p:blipFill>
          <a:blip r:embed="rId10"/>
          <a:stretch>
            <a:fillRect/>
          </a:stretch>
        </p:blipFill>
        <p:spPr>
          <a:xfrm>
            <a:off x="7472963" y="2466341"/>
            <a:ext cx="215900" cy="292100"/>
          </a:xfrm>
          <a:prstGeom prst="rect">
            <a:avLst/>
          </a:prstGeom>
        </p:spPr>
      </p:pic>
      <p:pic>
        <p:nvPicPr>
          <p:cNvPr id="14" name="Picture 13">
            <a:extLst>
              <a:ext uri="{FF2B5EF4-FFF2-40B4-BE49-F238E27FC236}">
                <a16:creationId xmlns:a16="http://schemas.microsoft.com/office/drawing/2014/main" id="{CD194BC3-634E-D31D-3BAB-96C474139B19}"/>
              </a:ext>
            </a:extLst>
          </p:cNvPr>
          <p:cNvPicPr>
            <a:picLocks noChangeAspect="1"/>
          </p:cNvPicPr>
          <p:nvPr/>
        </p:nvPicPr>
        <p:blipFill>
          <a:blip r:embed="rId10"/>
          <a:stretch>
            <a:fillRect/>
          </a:stretch>
        </p:blipFill>
        <p:spPr>
          <a:xfrm>
            <a:off x="7335427" y="2844973"/>
            <a:ext cx="215900" cy="292100"/>
          </a:xfrm>
          <a:prstGeom prst="rect">
            <a:avLst/>
          </a:prstGeom>
        </p:spPr>
      </p:pic>
      <p:pic>
        <p:nvPicPr>
          <p:cNvPr id="15" name="Picture 14">
            <a:extLst>
              <a:ext uri="{FF2B5EF4-FFF2-40B4-BE49-F238E27FC236}">
                <a16:creationId xmlns:a16="http://schemas.microsoft.com/office/drawing/2014/main" id="{D089FF98-9FAB-4AC8-9124-349038997319}"/>
              </a:ext>
            </a:extLst>
          </p:cNvPr>
          <p:cNvPicPr>
            <a:picLocks noChangeAspect="1"/>
          </p:cNvPicPr>
          <p:nvPr/>
        </p:nvPicPr>
        <p:blipFill>
          <a:blip r:embed="rId10"/>
          <a:stretch>
            <a:fillRect/>
          </a:stretch>
        </p:blipFill>
        <p:spPr>
          <a:xfrm>
            <a:off x="8287012" y="2401044"/>
            <a:ext cx="215900" cy="292100"/>
          </a:xfrm>
          <a:prstGeom prst="rect">
            <a:avLst/>
          </a:prstGeom>
        </p:spPr>
      </p:pic>
      <p:pic>
        <p:nvPicPr>
          <p:cNvPr id="16" name="Picture 15">
            <a:extLst>
              <a:ext uri="{FF2B5EF4-FFF2-40B4-BE49-F238E27FC236}">
                <a16:creationId xmlns:a16="http://schemas.microsoft.com/office/drawing/2014/main" id="{DDC51774-D24B-DA89-422F-BD6708C801B5}"/>
              </a:ext>
            </a:extLst>
          </p:cNvPr>
          <p:cNvPicPr>
            <a:picLocks noChangeAspect="1"/>
          </p:cNvPicPr>
          <p:nvPr/>
        </p:nvPicPr>
        <p:blipFill>
          <a:blip r:embed="rId10"/>
          <a:stretch>
            <a:fillRect/>
          </a:stretch>
        </p:blipFill>
        <p:spPr>
          <a:xfrm>
            <a:off x="8745492" y="2488172"/>
            <a:ext cx="215900" cy="292100"/>
          </a:xfrm>
          <a:prstGeom prst="rect">
            <a:avLst/>
          </a:prstGeom>
        </p:spPr>
      </p:pic>
      <p:pic>
        <p:nvPicPr>
          <p:cNvPr id="17" name="Picture 16">
            <a:extLst>
              <a:ext uri="{FF2B5EF4-FFF2-40B4-BE49-F238E27FC236}">
                <a16:creationId xmlns:a16="http://schemas.microsoft.com/office/drawing/2014/main" id="{EC48DA92-1FC0-4E33-777A-48A1765B83D6}"/>
              </a:ext>
            </a:extLst>
          </p:cNvPr>
          <p:cNvPicPr>
            <a:picLocks noChangeAspect="1"/>
          </p:cNvPicPr>
          <p:nvPr/>
        </p:nvPicPr>
        <p:blipFill>
          <a:blip r:embed="rId10"/>
          <a:stretch>
            <a:fillRect/>
          </a:stretch>
        </p:blipFill>
        <p:spPr>
          <a:xfrm>
            <a:off x="9301554" y="2762596"/>
            <a:ext cx="215900" cy="292100"/>
          </a:xfrm>
          <a:prstGeom prst="rect">
            <a:avLst/>
          </a:prstGeom>
        </p:spPr>
      </p:pic>
      <p:pic>
        <p:nvPicPr>
          <p:cNvPr id="18" name="Picture 17">
            <a:extLst>
              <a:ext uri="{FF2B5EF4-FFF2-40B4-BE49-F238E27FC236}">
                <a16:creationId xmlns:a16="http://schemas.microsoft.com/office/drawing/2014/main" id="{6D01426B-9CBF-960B-9248-6B1D41FCFFA8}"/>
              </a:ext>
            </a:extLst>
          </p:cNvPr>
          <p:cNvPicPr>
            <a:picLocks noChangeAspect="1"/>
          </p:cNvPicPr>
          <p:nvPr/>
        </p:nvPicPr>
        <p:blipFill>
          <a:blip r:embed="rId10"/>
          <a:stretch>
            <a:fillRect/>
          </a:stretch>
        </p:blipFill>
        <p:spPr>
          <a:xfrm>
            <a:off x="9584883" y="2626487"/>
            <a:ext cx="215900" cy="292100"/>
          </a:xfrm>
          <a:prstGeom prst="rect">
            <a:avLst/>
          </a:prstGeom>
        </p:spPr>
      </p:pic>
      <p:pic>
        <p:nvPicPr>
          <p:cNvPr id="19" name="Picture 18">
            <a:extLst>
              <a:ext uri="{FF2B5EF4-FFF2-40B4-BE49-F238E27FC236}">
                <a16:creationId xmlns:a16="http://schemas.microsoft.com/office/drawing/2014/main" id="{BE2A7E3E-6188-0ED3-8F35-2C25A5D2D2D3}"/>
              </a:ext>
            </a:extLst>
          </p:cNvPr>
          <p:cNvPicPr>
            <a:picLocks noChangeAspect="1"/>
          </p:cNvPicPr>
          <p:nvPr/>
        </p:nvPicPr>
        <p:blipFill>
          <a:blip r:embed="rId10"/>
          <a:stretch>
            <a:fillRect/>
          </a:stretch>
        </p:blipFill>
        <p:spPr>
          <a:xfrm>
            <a:off x="9738259" y="3076093"/>
            <a:ext cx="215900" cy="292100"/>
          </a:xfrm>
          <a:prstGeom prst="rect">
            <a:avLst/>
          </a:prstGeom>
        </p:spPr>
      </p:pic>
      <p:pic>
        <p:nvPicPr>
          <p:cNvPr id="20" name="Picture 19">
            <a:extLst>
              <a:ext uri="{FF2B5EF4-FFF2-40B4-BE49-F238E27FC236}">
                <a16:creationId xmlns:a16="http://schemas.microsoft.com/office/drawing/2014/main" id="{97F84BB6-B4C3-B355-6542-036A87CD720F}"/>
              </a:ext>
            </a:extLst>
          </p:cNvPr>
          <p:cNvPicPr>
            <a:picLocks noChangeAspect="1"/>
          </p:cNvPicPr>
          <p:nvPr/>
        </p:nvPicPr>
        <p:blipFill>
          <a:blip r:embed="rId10"/>
          <a:stretch>
            <a:fillRect/>
          </a:stretch>
        </p:blipFill>
        <p:spPr>
          <a:xfrm>
            <a:off x="2679337" y="5321474"/>
            <a:ext cx="215900" cy="292100"/>
          </a:xfrm>
          <a:prstGeom prst="rect">
            <a:avLst/>
          </a:prstGeom>
        </p:spPr>
      </p:pic>
      <p:pic>
        <p:nvPicPr>
          <p:cNvPr id="22" name="Picture 21">
            <a:extLst>
              <a:ext uri="{FF2B5EF4-FFF2-40B4-BE49-F238E27FC236}">
                <a16:creationId xmlns:a16="http://schemas.microsoft.com/office/drawing/2014/main" id="{426A1A83-0D40-2B18-265A-34CAB37E576C}"/>
              </a:ext>
            </a:extLst>
          </p:cNvPr>
          <p:cNvPicPr>
            <a:picLocks noChangeAspect="1"/>
          </p:cNvPicPr>
          <p:nvPr/>
        </p:nvPicPr>
        <p:blipFill>
          <a:blip r:embed="rId10"/>
          <a:stretch>
            <a:fillRect/>
          </a:stretch>
        </p:blipFill>
        <p:spPr>
          <a:xfrm>
            <a:off x="2885511" y="5451220"/>
            <a:ext cx="215900" cy="292100"/>
          </a:xfrm>
          <a:prstGeom prst="rect">
            <a:avLst/>
          </a:prstGeom>
        </p:spPr>
      </p:pic>
      <p:pic>
        <p:nvPicPr>
          <p:cNvPr id="23" name="Picture 22">
            <a:extLst>
              <a:ext uri="{FF2B5EF4-FFF2-40B4-BE49-F238E27FC236}">
                <a16:creationId xmlns:a16="http://schemas.microsoft.com/office/drawing/2014/main" id="{EBD74CF2-4F0A-1184-6875-F1DD65396ADF}"/>
              </a:ext>
            </a:extLst>
          </p:cNvPr>
          <p:cNvPicPr>
            <a:picLocks noChangeAspect="1"/>
          </p:cNvPicPr>
          <p:nvPr/>
        </p:nvPicPr>
        <p:blipFill>
          <a:blip r:embed="rId10"/>
          <a:stretch>
            <a:fillRect/>
          </a:stretch>
        </p:blipFill>
        <p:spPr>
          <a:xfrm>
            <a:off x="2649129" y="5593373"/>
            <a:ext cx="215900" cy="292100"/>
          </a:xfrm>
          <a:prstGeom prst="rect">
            <a:avLst/>
          </a:prstGeom>
        </p:spPr>
      </p:pic>
      <p:pic>
        <p:nvPicPr>
          <p:cNvPr id="24" name="Picture 23">
            <a:extLst>
              <a:ext uri="{FF2B5EF4-FFF2-40B4-BE49-F238E27FC236}">
                <a16:creationId xmlns:a16="http://schemas.microsoft.com/office/drawing/2014/main" id="{8794F599-088A-F544-5CD3-884630E9FFA7}"/>
              </a:ext>
            </a:extLst>
          </p:cNvPr>
          <p:cNvPicPr>
            <a:picLocks noChangeAspect="1"/>
          </p:cNvPicPr>
          <p:nvPr/>
        </p:nvPicPr>
        <p:blipFill>
          <a:blip r:embed="rId10"/>
          <a:stretch>
            <a:fillRect/>
          </a:stretch>
        </p:blipFill>
        <p:spPr>
          <a:xfrm>
            <a:off x="3190467" y="5587362"/>
            <a:ext cx="215900" cy="292100"/>
          </a:xfrm>
          <a:prstGeom prst="rect">
            <a:avLst/>
          </a:prstGeom>
        </p:spPr>
      </p:pic>
      <p:pic>
        <p:nvPicPr>
          <p:cNvPr id="25" name="Picture 24">
            <a:extLst>
              <a:ext uri="{FF2B5EF4-FFF2-40B4-BE49-F238E27FC236}">
                <a16:creationId xmlns:a16="http://schemas.microsoft.com/office/drawing/2014/main" id="{F55D61A6-6E01-7BC0-5B05-6892FE767E50}"/>
              </a:ext>
            </a:extLst>
          </p:cNvPr>
          <p:cNvPicPr>
            <a:picLocks noChangeAspect="1"/>
          </p:cNvPicPr>
          <p:nvPr/>
        </p:nvPicPr>
        <p:blipFill>
          <a:blip r:embed="rId10"/>
          <a:stretch>
            <a:fillRect/>
          </a:stretch>
        </p:blipFill>
        <p:spPr>
          <a:xfrm>
            <a:off x="2997609" y="5689561"/>
            <a:ext cx="215900" cy="292100"/>
          </a:xfrm>
          <a:prstGeom prst="rect">
            <a:avLst/>
          </a:prstGeom>
        </p:spPr>
      </p:pic>
      <p:pic>
        <p:nvPicPr>
          <p:cNvPr id="26" name="Picture 25">
            <a:extLst>
              <a:ext uri="{FF2B5EF4-FFF2-40B4-BE49-F238E27FC236}">
                <a16:creationId xmlns:a16="http://schemas.microsoft.com/office/drawing/2014/main" id="{B10D5B40-D30C-C728-3B4D-EBF9C0E55859}"/>
              </a:ext>
            </a:extLst>
          </p:cNvPr>
          <p:cNvPicPr>
            <a:picLocks noChangeAspect="1"/>
          </p:cNvPicPr>
          <p:nvPr/>
        </p:nvPicPr>
        <p:blipFill>
          <a:blip r:embed="rId10"/>
          <a:stretch>
            <a:fillRect/>
          </a:stretch>
        </p:blipFill>
        <p:spPr>
          <a:xfrm>
            <a:off x="3464357" y="5710847"/>
            <a:ext cx="215900" cy="292100"/>
          </a:xfrm>
          <a:prstGeom prst="rect">
            <a:avLst/>
          </a:prstGeom>
        </p:spPr>
      </p:pic>
      <p:pic>
        <p:nvPicPr>
          <p:cNvPr id="27" name="Picture 26">
            <a:extLst>
              <a:ext uri="{FF2B5EF4-FFF2-40B4-BE49-F238E27FC236}">
                <a16:creationId xmlns:a16="http://schemas.microsoft.com/office/drawing/2014/main" id="{71045D1A-1246-8B6A-D500-A3F39E6BEB3D}"/>
              </a:ext>
            </a:extLst>
          </p:cNvPr>
          <p:cNvPicPr>
            <a:picLocks noChangeAspect="1"/>
          </p:cNvPicPr>
          <p:nvPr/>
        </p:nvPicPr>
        <p:blipFill>
          <a:blip r:embed="rId10"/>
          <a:stretch>
            <a:fillRect/>
          </a:stretch>
        </p:blipFill>
        <p:spPr>
          <a:xfrm>
            <a:off x="3381013" y="5404574"/>
            <a:ext cx="215900" cy="292100"/>
          </a:xfrm>
          <a:prstGeom prst="rect">
            <a:avLst/>
          </a:prstGeom>
        </p:spPr>
      </p:pic>
      <p:pic>
        <p:nvPicPr>
          <p:cNvPr id="28" name="Picture 27">
            <a:extLst>
              <a:ext uri="{FF2B5EF4-FFF2-40B4-BE49-F238E27FC236}">
                <a16:creationId xmlns:a16="http://schemas.microsoft.com/office/drawing/2014/main" id="{6830FAB5-1B09-AC52-4076-7B3E74D9A306}"/>
              </a:ext>
            </a:extLst>
          </p:cNvPr>
          <p:cNvPicPr>
            <a:picLocks noChangeAspect="1"/>
          </p:cNvPicPr>
          <p:nvPr/>
        </p:nvPicPr>
        <p:blipFill>
          <a:blip r:embed="rId10"/>
          <a:stretch>
            <a:fillRect/>
          </a:stretch>
        </p:blipFill>
        <p:spPr>
          <a:xfrm>
            <a:off x="4695509" y="5301273"/>
            <a:ext cx="215900" cy="292100"/>
          </a:xfrm>
          <a:prstGeom prst="rect">
            <a:avLst/>
          </a:prstGeom>
        </p:spPr>
      </p:pic>
      <p:pic>
        <p:nvPicPr>
          <p:cNvPr id="29" name="Picture 28">
            <a:extLst>
              <a:ext uri="{FF2B5EF4-FFF2-40B4-BE49-F238E27FC236}">
                <a16:creationId xmlns:a16="http://schemas.microsoft.com/office/drawing/2014/main" id="{F3B38C58-6398-4548-0E90-FB00AF708D85}"/>
              </a:ext>
            </a:extLst>
          </p:cNvPr>
          <p:cNvPicPr>
            <a:picLocks noChangeAspect="1"/>
          </p:cNvPicPr>
          <p:nvPr/>
        </p:nvPicPr>
        <p:blipFill>
          <a:blip r:embed="rId10"/>
          <a:stretch>
            <a:fillRect/>
          </a:stretch>
        </p:blipFill>
        <p:spPr>
          <a:xfrm>
            <a:off x="4976180" y="5271096"/>
            <a:ext cx="215900" cy="292100"/>
          </a:xfrm>
          <a:prstGeom prst="rect">
            <a:avLst/>
          </a:prstGeom>
        </p:spPr>
      </p:pic>
      <p:pic>
        <p:nvPicPr>
          <p:cNvPr id="30" name="Picture 29">
            <a:extLst>
              <a:ext uri="{FF2B5EF4-FFF2-40B4-BE49-F238E27FC236}">
                <a16:creationId xmlns:a16="http://schemas.microsoft.com/office/drawing/2014/main" id="{EEFA9026-E03D-9382-A814-BB87521A1CAC}"/>
              </a:ext>
            </a:extLst>
          </p:cNvPr>
          <p:cNvPicPr>
            <a:picLocks noChangeAspect="1"/>
          </p:cNvPicPr>
          <p:nvPr/>
        </p:nvPicPr>
        <p:blipFill>
          <a:blip r:embed="rId10"/>
          <a:stretch>
            <a:fillRect/>
          </a:stretch>
        </p:blipFill>
        <p:spPr>
          <a:xfrm>
            <a:off x="5735186" y="4935354"/>
            <a:ext cx="215900" cy="292100"/>
          </a:xfrm>
          <a:prstGeom prst="rect">
            <a:avLst/>
          </a:prstGeom>
        </p:spPr>
      </p:pic>
      <p:pic>
        <p:nvPicPr>
          <p:cNvPr id="31" name="Picture 30">
            <a:extLst>
              <a:ext uri="{FF2B5EF4-FFF2-40B4-BE49-F238E27FC236}">
                <a16:creationId xmlns:a16="http://schemas.microsoft.com/office/drawing/2014/main" id="{0D3CE0AE-20DB-EC56-6FB4-2C425B5F408D}"/>
              </a:ext>
            </a:extLst>
          </p:cNvPr>
          <p:cNvPicPr>
            <a:picLocks noChangeAspect="1"/>
          </p:cNvPicPr>
          <p:nvPr/>
        </p:nvPicPr>
        <p:blipFill>
          <a:blip r:embed="rId10"/>
          <a:stretch>
            <a:fillRect/>
          </a:stretch>
        </p:blipFill>
        <p:spPr>
          <a:xfrm>
            <a:off x="6627496" y="5341586"/>
            <a:ext cx="215900" cy="292100"/>
          </a:xfrm>
          <a:prstGeom prst="rect">
            <a:avLst/>
          </a:prstGeom>
        </p:spPr>
      </p:pic>
      <p:pic>
        <p:nvPicPr>
          <p:cNvPr id="32" name="Picture 31">
            <a:extLst>
              <a:ext uri="{FF2B5EF4-FFF2-40B4-BE49-F238E27FC236}">
                <a16:creationId xmlns:a16="http://schemas.microsoft.com/office/drawing/2014/main" id="{3909F45F-AFC5-3B69-820F-BB169E6051B5}"/>
              </a:ext>
            </a:extLst>
          </p:cNvPr>
          <p:cNvPicPr>
            <a:picLocks noChangeAspect="1"/>
          </p:cNvPicPr>
          <p:nvPr/>
        </p:nvPicPr>
        <p:blipFill>
          <a:blip r:embed="rId10"/>
          <a:stretch>
            <a:fillRect/>
          </a:stretch>
        </p:blipFill>
        <p:spPr>
          <a:xfrm>
            <a:off x="5468185" y="5095392"/>
            <a:ext cx="215900" cy="292100"/>
          </a:xfrm>
          <a:prstGeom prst="rect">
            <a:avLst/>
          </a:prstGeom>
        </p:spPr>
      </p:pic>
      <p:pic>
        <p:nvPicPr>
          <p:cNvPr id="33" name="Picture 32">
            <a:extLst>
              <a:ext uri="{FF2B5EF4-FFF2-40B4-BE49-F238E27FC236}">
                <a16:creationId xmlns:a16="http://schemas.microsoft.com/office/drawing/2014/main" id="{06B74057-6893-45F2-630A-A5834BCCFDE0}"/>
              </a:ext>
            </a:extLst>
          </p:cNvPr>
          <p:cNvPicPr>
            <a:picLocks noChangeAspect="1"/>
          </p:cNvPicPr>
          <p:nvPr/>
        </p:nvPicPr>
        <p:blipFill>
          <a:blip r:embed="rId10"/>
          <a:stretch>
            <a:fillRect/>
          </a:stretch>
        </p:blipFill>
        <p:spPr>
          <a:xfrm>
            <a:off x="6573475" y="5638407"/>
            <a:ext cx="215900" cy="292100"/>
          </a:xfrm>
          <a:prstGeom prst="rect">
            <a:avLst/>
          </a:prstGeom>
        </p:spPr>
      </p:pic>
      <p:pic>
        <p:nvPicPr>
          <p:cNvPr id="34" name="Picture 33">
            <a:extLst>
              <a:ext uri="{FF2B5EF4-FFF2-40B4-BE49-F238E27FC236}">
                <a16:creationId xmlns:a16="http://schemas.microsoft.com/office/drawing/2014/main" id="{BA4B9A91-6BAA-4EEA-A82B-7BE3F67BDF2D}"/>
              </a:ext>
            </a:extLst>
          </p:cNvPr>
          <p:cNvPicPr>
            <a:picLocks noChangeAspect="1"/>
          </p:cNvPicPr>
          <p:nvPr/>
        </p:nvPicPr>
        <p:blipFill>
          <a:blip r:embed="rId10"/>
          <a:stretch>
            <a:fillRect/>
          </a:stretch>
        </p:blipFill>
        <p:spPr>
          <a:xfrm>
            <a:off x="6991171" y="5410255"/>
            <a:ext cx="215900" cy="292100"/>
          </a:xfrm>
          <a:prstGeom prst="rect">
            <a:avLst/>
          </a:prstGeom>
        </p:spPr>
      </p:pic>
      <p:pic>
        <p:nvPicPr>
          <p:cNvPr id="35" name="Picture 34">
            <a:extLst>
              <a:ext uri="{FF2B5EF4-FFF2-40B4-BE49-F238E27FC236}">
                <a16:creationId xmlns:a16="http://schemas.microsoft.com/office/drawing/2014/main" id="{EAD4D3F4-8635-DBAA-3A08-DCC9BBB501A3}"/>
              </a:ext>
            </a:extLst>
          </p:cNvPr>
          <p:cNvPicPr>
            <a:picLocks noChangeAspect="1"/>
          </p:cNvPicPr>
          <p:nvPr/>
        </p:nvPicPr>
        <p:blipFill>
          <a:blip r:embed="rId10"/>
          <a:stretch>
            <a:fillRect/>
          </a:stretch>
        </p:blipFill>
        <p:spPr>
          <a:xfrm>
            <a:off x="8734405" y="5205716"/>
            <a:ext cx="215900" cy="292100"/>
          </a:xfrm>
          <a:prstGeom prst="rect">
            <a:avLst/>
          </a:prstGeom>
        </p:spPr>
      </p:pic>
      <p:pic>
        <p:nvPicPr>
          <p:cNvPr id="36" name="Picture 35">
            <a:extLst>
              <a:ext uri="{FF2B5EF4-FFF2-40B4-BE49-F238E27FC236}">
                <a16:creationId xmlns:a16="http://schemas.microsoft.com/office/drawing/2014/main" id="{E14EE995-3C94-8C49-1A14-F5C2D8F452CA}"/>
              </a:ext>
            </a:extLst>
          </p:cNvPr>
          <p:cNvPicPr>
            <a:picLocks noChangeAspect="1"/>
          </p:cNvPicPr>
          <p:nvPr/>
        </p:nvPicPr>
        <p:blipFill>
          <a:blip r:embed="rId10"/>
          <a:stretch>
            <a:fillRect/>
          </a:stretch>
        </p:blipFill>
        <p:spPr>
          <a:xfrm>
            <a:off x="8890047" y="5442214"/>
            <a:ext cx="215900" cy="292100"/>
          </a:xfrm>
          <a:prstGeom prst="rect">
            <a:avLst/>
          </a:prstGeom>
        </p:spPr>
      </p:pic>
      <p:pic>
        <p:nvPicPr>
          <p:cNvPr id="37" name="Picture 36">
            <a:extLst>
              <a:ext uri="{FF2B5EF4-FFF2-40B4-BE49-F238E27FC236}">
                <a16:creationId xmlns:a16="http://schemas.microsoft.com/office/drawing/2014/main" id="{83D29546-A080-6841-8659-0FF4B4903112}"/>
              </a:ext>
            </a:extLst>
          </p:cNvPr>
          <p:cNvPicPr>
            <a:picLocks noChangeAspect="1"/>
          </p:cNvPicPr>
          <p:nvPr/>
        </p:nvPicPr>
        <p:blipFill>
          <a:blip r:embed="rId10"/>
          <a:stretch>
            <a:fillRect/>
          </a:stretch>
        </p:blipFill>
        <p:spPr>
          <a:xfrm>
            <a:off x="9112297" y="5528745"/>
            <a:ext cx="215900" cy="292100"/>
          </a:xfrm>
          <a:prstGeom prst="rect">
            <a:avLst/>
          </a:prstGeom>
        </p:spPr>
      </p:pic>
      <p:pic>
        <p:nvPicPr>
          <p:cNvPr id="38" name="Picture 37">
            <a:extLst>
              <a:ext uri="{FF2B5EF4-FFF2-40B4-BE49-F238E27FC236}">
                <a16:creationId xmlns:a16="http://schemas.microsoft.com/office/drawing/2014/main" id="{496E1D4E-1F3D-98E8-F5CF-AD5C799727CC}"/>
              </a:ext>
            </a:extLst>
          </p:cNvPr>
          <p:cNvPicPr>
            <a:picLocks noChangeAspect="1"/>
          </p:cNvPicPr>
          <p:nvPr/>
        </p:nvPicPr>
        <p:blipFill>
          <a:blip r:embed="rId10"/>
          <a:stretch>
            <a:fillRect/>
          </a:stretch>
        </p:blipFill>
        <p:spPr>
          <a:xfrm>
            <a:off x="8681269" y="5542078"/>
            <a:ext cx="215900" cy="292100"/>
          </a:xfrm>
          <a:prstGeom prst="rect">
            <a:avLst/>
          </a:prstGeom>
        </p:spPr>
      </p:pic>
      <p:pic>
        <p:nvPicPr>
          <p:cNvPr id="39" name="Picture 38">
            <a:extLst>
              <a:ext uri="{FF2B5EF4-FFF2-40B4-BE49-F238E27FC236}">
                <a16:creationId xmlns:a16="http://schemas.microsoft.com/office/drawing/2014/main" id="{B0866FD2-10A9-A8B4-43B4-507014A08DBD}"/>
              </a:ext>
            </a:extLst>
          </p:cNvPr>
          <p:cNvPicPr>
            <a:picLocks noChangeAspect="1"/>
          </p:cNvPicPr>
          <p:nvPr/>
        </p:nvPicPr>
        <p:blipFill>
          <a:blip r:embed="rId10"/>
          <a:stretch>
            <a:fillRect/>
          </a:stretch>
        </p:blipFill>
        <p:spPr>
          <a:xfrm>
            <a:off x="9339174" y="5505587"/>
            <a:ext cx="215900" cy="292100"/>
          </a:xfrm>
          <a:prstGeom prst="rect">
            <a:avLst/>
          </a:prstGeom>
        </p:spPr>
      </p:pic>
      <p:pic>
        <p:nvPicPr>
          <p:cNvPr id="40" name="Picture 39">
            <a:extLst>
              <a:ext uri="{FF2B5EF4-FFF2-40B4-BE49-F238E27FC236}">
                <a16:creationId xmlns:a16="http://schemas.microsoft.com/office/drawing/2014/main" id="{034EEA6D-41B4-C31A-23BF-3D3F70B3987F}"/>
              </a:ext>
            </a:extLst>
          </p:cNvPr>
          <p:cNvPicPr>
            <a:picLocks noChangeAspect="1"/>
          </p:cNvPicPr>
          <p:nvPr/>
        </p:nvPicPr>
        <p:blipFill>
          <a:blip r:embed="rId10"/>
          <a:stretch>
            <a:fillRect/>
          </a:stretch>
        </p:blipFill>
        <p:spPr>
          <a:xfrm>
            <a:off x="9715138" y="5524114"/>
            <a:ext cx="215900" cy="292100"/>
          </a:xfrm>
          <a:prstGeom prst="rect">
            <a:avLst/>
          </a:prstGeom>
        </p:spPr>
      </p:pic>
      <p:pic>
        <p:nvPicPr>
          <p:cNvPr id="41" name="Picture 40">
            <a:extLst>
              <a:ext uri="{FF2B5EF4-FFF2-40B4-BE49-F238E27FC236}">
                <a16:creationId xmlns:a16="http://schemas.microsoft.com/office/drawing/2014/main" id="{354BE40C-5557-90BE-1116-5DE826E1B9BE}"/>
              </a:ext>
            </a:extLst>
          </p:cNvPr>
          <p:cNvPicPr>
            <a:picLocks noChangeAspect="1"/>
          </p:cNvPicPr>
          <p:nvPr/>
        </p:nvPicPr>
        <p:blipFill>
          <a:blip r:embed="rId10"/>
          <a:stretch>
            <a:fillRect/>
          </a:stretch>
        </p:blipFill>
        <p:spPr>
          <a:xfrm>
            <a:off x="9546128" y="5410984"/>
            <a:ext cx="215900" cy="292100"/>
          </a:xfrm>
          <a:prstGeom prst="rect">
            <a:avLst/>
          </a:prstGeom>
        </p:spPr>
      </p:pic>
    </p:spTree>
    <p:extLst>
      <p:ext uri="{BB962C8B-B14F-4D97-AF65-F5344CB8AC3E}">
        <p14:creationId xmlns:p14="http://schemas.microsoft.com/office/powerpoint/2010/main" val="7327835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graphicFrame>
        <p:nvGraphicFramePr>
          <p:cNvPr id="271" name="Group 221">
            <a:extLst>
              <a:ext uri="{FF2B5EF4-FFF2-40B4-BE49-F238E27FC236}">
                <a16:creationId xmlns:a16="http://schemas.microsoft.com/office/drawing/2014/main" id="{6DE6077C-68BF-0756-E958-78FE233351AD}"/>
              </a:ext>
            </a:extLst>
          </p:cNvPr>
          <p:cNvGraphicFramePr>
            <a:graphicFrameLocks noGrp="1"/>
          </p:cNvGraphicFramePr>
          <p:nvPr>
            <p:extLst>
              <p:ext uri="{D42A27DB-BD31-4B8C-83A1-F6EECF244321}">
                <p14:modId xmlns:p14="http://schemas.microsoft.com/office/powerpoint/2010/main" val="3677907595"/>
              </p:ext>
            </p:extLst>
          </p:nvPr>
        </p:nvGraphicFramePr>
        <p:xfrm>
          <a:off x="978060" y="1862781"/>
          <a:ext cx="9705372" cy="4314182"/>
        </p:xfrm>
        <a:graphic>
          <a:graphicData uri="http://schemas.openxmlformats.org/drawingml/2006/table">
            <a:tbl>
              <a:tblPr/>
              <a:tblGrid>
                <a:gridCol w="3235124">
                  <a:extLst>
                    <a:ext uri="{9D8B030D-6E8A-4147-A177-3AD203B41FA5}">
                      <a16:colId xmlns:a16="http://schemas.microsoft.com/office/drawing/2014/main" val="20000"/>
                    </a:ext>
                  </a:extLst>
                </a:gridCol>
                <a:gridCol w="3235124">
                  <a:extLst>
                    <a:ext uri="{9D8B030D-6E8A-4147-A177-3AD203B41FA5}">
                      <a16:colId xmlns:a16="http://schemas.microsoft.com/office/drawing/2014/main" val="20001"/>
                    </a:ext>
                  </a:extLst>
                </a:gridCol>
                <a:gridCol w="3235124">
                  <a:extLst>
                    <a:ext uri="{9D8B030D-6E8A-4147-A177-3AD203B41FA5}">
                      <a16:colId xmlns:a16="http://schemas.microsoft.com/office/drawing/2014/main" val="20002"/>
                    </a:ext>
                  </a:extLst>
                </a:gridCol>
              </a:tblGrid>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13 – Team refines Top Alternative.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14 – Team completes Process At A Glance form for Top Alternative</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15 – Team prepares Implementation Plan.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74998">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32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16 – Present to Leadership.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17 – Select builder &amp; prepare fixture and tooling drawings.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18 – Install, qualify, ramp up.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6688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73" name="Picture 434" descr="MCj03499260000[1]">
            <a:extLst>
              <a:ext uri="{FF2B5EF4-FFF2-40B4-BE49-F238E27FC236}">
                <a16:creationId xmlns:a16="http://schemas.microsoft.com/office/drawing/2014/main" id="{FF383DAC-A258-682F-1862-D5166C480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04318" y="3133946"/>
            <a:ext cx="202195" cy="15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3" name="Picture 485" descr="MCj03499260000[1]">
            <a:extLst>
              <a:ext uri="{FF2B5EF4-FFF2-40B4-BE49-F238E27FC236}">
                <a16:creationId xmlns:a16="http://schemas.microsoft.com/office/drawing/2014/main" id="{2B8D6A64-77CC-2D17-9184-C106C8593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559459" y="3177229"/>
            <a:ext cx="202195" cy="196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9" name="Group 608">
            <a:extLst>
              <a:ext uri="{FF2B5EF4-FFF2-40B4-BE49-F238E27FC236}">
                <a16:creationId xmlns:a16="http://schemas.microsoft.com/office/drawing/2014/main" id="{3E536F56-48A4-5602-20BA-5457D54B9C14}"/>
              </a:ext>
            </a:extLst>
          </p:cNvPr>
          <p:cNvGrpSpPr/>
          <p:nvPr/>
        </p:nvGrpSpPr>
        <p:grpSpPr>
          <a:xfrm>
            <a:off x="5421473" y="2580640"/>
            <a:ext cx="1277229" cy="711179"/>
            <a:chOff x="5421473" y="2872431"/>
            <a:chExt cx="735765" cy="419388"/>
          </a:xfrm>
        </p:grpSpPr>
        <p:grpSp>
          <p:nvGrpSpPr>
            <p:cNvPr id="385" name="Group 6">
              <a:extLst>
                <a:ext uri="{FF2B5EF4-FFF2-40B4-BE49-F238E27FC236}">
                  <a16:creationId xmlns:a16="http://schemas.microsoft.com/office/drawing/2014/main" id="{BB512CDB-67BE-212B-8801-F0C8E5F38BAF}"/>
                </a:ext>
              </a:extLst>
            </p:cNvPr>
            <p:cNvGrpSpPr>
              <a:grpSpLocks/>
            </p:cNvGrpSpPr>
            <p:nvPr/>
          </p:nvGrpSpPr>
          <p:grpSpPr bwMode="auto">
            <a:xfrm>
              <a:off x="5421473" y="2872431"/>
              <a:ext cx="735765" cy="419388"/>
              <a:chOff x="2895" y="992"/>
              <a:chExt cx="393" cy="287"/>
            </a:xfrm>
          </p:grpSpPr>
          <p:pic>
            <p:nvPicPr>
              <p:cNvPr id="386" name="Object 4">
                <a:extLst>
                  <a:ext uri="{FF2B5EF4-FFF2-40B4-BE49-F238E27FC236}">
                    <a16:creationId xmlns:a16="http://schemas.microsoft.com/office/drawing/2014/main" id="{907AD65F-CBB8-5D31-06AD-A5EFBA5B71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 y="992"/>
                <a:ext cx="389"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87" name="Rectangle 5">
                <a:extLst>
                  <a:ext uri="{FF2B5EF4-FFF2-40B4-BE49-F238E27FC236}">
                    <a16:creationId xmlns:a16="http://schemas.microsoft.com/office/drawing/2014/main" id="{062A16D8-48F8-DBC4-835B-BC7A23058E9F}"/>
                  </a:ext>
                </a:extLst>
              </p:cNvPr>
              <p:cNvSpPr>
                <a:spLocks noChangeArrowheads="1"/>
              </p:cNvSpPr>
              <p:nvPr/>
            </p:nvSpPr>
            <p:spPr bwMode="auto">
              <a:xfrm>
                <a:off x="2913" y="1006"/>
                <a:ext cx="375"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31750" tIns="17463" rIns="31750" bIns="17463"/>
              <a:lstStyle>
                <a:lvl1pPr marL="120650" indent="-120650" defTabSz="112713">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260350" indent="-25400" defTabSz="112713">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12713">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20000"/>
                  </a:spcBef>
                  <a:spcAft>
                    <a:spcPct val="0"/>
                  </a:spcAft>
                  <a:buClr>
                    <a:srgbClr val="FC0128"/>
                  </a:buClr>
                  <a:buSzPct val="75000"/>
                  <a:buFont typeface="Monotype Sorts" pitchFamily="-84" charset="2"/>
                  <a:buChar char="u"/>
                </a:pPr>
                <a:r>
                  <a:rPr lang="en-US" altLang="en-US" sz="500" b="0" u="sng" dirty="0">
                    <a:cs typeface="Arial" panose="020B0604020202020204" pitchFamily="34" charset="0"/>
                  </a:rPr>
                  <a:t>Key Actions</a:t>
                </a: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eaLnBrk="1" hangingPunct="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p:txBody>
          </p:sp>
        </p:grpSp>
        <p:sp>
          <p:nvSpPr>
            <p:cNvPr id="388" name="Rectangle 545">
              <a:extLst>
                <a:ext uri="{FF2B5EF4-FFF2-40B4-BE49-F238E27FC236}">
                  <a16:creationId xmlns:a16="http://schemas.microsoft.com/office/drawing/2014/main" id="{5C6DBBDA-AEE4-92D2-0E78-218F0524B725}"/>
                </a:ext>
              </a:extLst>
            </p:cNvPr>
            <p:cNvSpPr>
              <a:spLocks noChangeArrowheads="1"/>
            </p:cNvSpPr>
            <p:nvPr/>
          </p:nvSpPr>
          <p:spPr bwMode="auto">
            <a:xfrm>
              <a:off x="5550059" y="3024830"/>
              <a:ext cx="449323" cy="210424"/>
            </a:xfrm>
            <a:prstGeom prst="rect">
              <a:avLst/>
            </a:prstGeom>
            <a:solidFill>
              <a:schemeClr val="bg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cs typeface="Arial" panose="020B0604020202020204" pitchFamily="34" charset="0"/>
              </a:endParaRPr>
            </a:p>
          </p:txBody>
        </p:sp>
        <p:sp>
          <p:nvSpPr>
            <p:cNvPr id="389" name="Line 546">
              <a:extLst>
                <a:ext uri="{FF2B5EF4-FFF2-40B4-BE49-F238E27FC236}">
                  <a16:creationId xmlns:a16="http://schemas.microsoft.com/office/drawing/2014/main" id="{1CFB4116-E8CD-C1F3-8B3E-39CA2BC8C9B4}"/>
                </a:ext>
              </a:extLst>
            </p:cNvPr>
            <p:cNvSpPr>
              <a:spLocks noChangeShapeType="1"/>
            </p:cNvSpPr>
            <p:nvPr/>
          </p:nvSpPr>
          <p:spPr bwMode="auto">
            <a:xfrm>
              <a:off x="56262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 name="Line 547">
              <a:extLst>
                <a:ext uri="{FF2B5EF4-FFF2-40B4-BE49-F238E27FC236}">
                  <a16:creationId xmlns:a16="http://schemas.microsoft.com/office/drawing/2014/main" id="{83A1077A-6E04-1D1D-D8D7-6C6B3A314D52}"/>
                </a:ext>
              </a:extLst>
            </p:cNvPr>
            <p:cNvSpPr>
              <a:spLocks noChangeShapeType="1"/>
            </p:cNvSpPr>
            <p:nvPr/>
          </p:nvSpPr>
          <p:spPr bwMode="auto">
            <a:xfrm>
              <a:off x="57024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 name="Line 548">
              <a:extLst>
                <a:ext uri="{FF2B5EF4-FFF2-40B4-BE49-F238E27FC236}">
                  <a16:creationId xmlns:a16="http://schemas.microsoft.com/office/drawing/2014/main" id="{28D818C6-011A-0D0D-7F79-FD1810615FB3}"/>
                </a:ext>
              </a:extLst>
            </p:cNvPr>
            <p:cNvSpPr>
              <a:spLocks noChangeShapeType="1"/>
            </p:cNvSpPr>
            <p:nvPr/>
          </p:nvSpPr>
          <p:spPr bwMode="auto">
            <a:xfrm>
              <a:off x="57786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2" name="Line 549">
              <a:extLst>
                <a:ext uri="{FF2B5EF4-FFF2-40B4-BE49-F238E27FC236}">
                  <a16:creationId xmlns:a16="http://schemas.microsoft.com/office/drawing/2014/main" id="{FAB42594-A84B-D015-B070-81901C639AF4}"/>
                </a:ext>
              </a:extLst>
            </p:cNvPr>
            <p:cNvSpPr>
              <a:spLocks noChangeShapeType="1"/>
            </p:cNvSpPr>
            <p:nvPr/>
          </p:nvSpPr>
          <p:spPr bwMode="auto">
            <a:xfrm>
              <a:off x="58548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3" name="Line 550">
              <a:extLst>
                <a:ext uri="{FF2B5EF4-FFF2-40B4-BE49-F238E27FC236}">
                  <a16:creationId xmlns:a16="http://schemas.microsoft.com/office/drawing/2014/main" id="{A5141392-2589-E381-7947-C66DA00F3D36}"/>
                </a:ext>
              </a:extLst>
            </p:cNvPr>
            <p:cNvSpPr>
              <a:spLocks noChangeShapeType="1"/>
            </p:cNvSpPr>
            <p:nvPr/>
          </p:nvSpPr>
          <p:spPr bwMode="auto">
            <a:xfrm>
              <a:off x="5550059" y="3101030"/>
              <a:ext cx="4493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05" name="Picture 145">
            <a:extLst>
              <a:ext uri="{FF2B5EF4-FFF2-40B4-BE49-F238E27FC236}">
                <a16:creationId xmlns:a16="http://schemas.microsoft.com/office/drawing/2014/main" id="{B7849480-01D5-EBCC-432F-4F810AC14D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7537" y="2435300"/>
            <a:ext cx="1398210" cy="13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6" name="Picture 186" descr="site-builder-demo.png">
            <a:extLst>
              <a:ext uri="{FF2B5EF4-FFF2-40B4-BE49-F238E27FC236}">
                <a16:creationId xmlns:a16="http://schemas.microsoft.com/office/drawing/2014/main" id="{3138F3B3-E21B-8F16-F20A-DA237760262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14419" y="5078898"/>
            <a:ext cx="644029" cy="599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187" descr="install.gif">
            <a:extLst>
              <a:ext uri="{FF2B5EF4-FFF2-40B4-BE49-F238E27FC236}">
                <a16:creationId xmlns:a16="http://schemas.microsoft.com/office/drawing/2014/main" id="{EDE02B8F-ADB1-4DBE-5332-EE546A452CB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41778" y="4898079"/>
            <a:ext cx="539187" cy="51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8" name="Picture 146" descr="C:\Users\Lawrence\Documents\Lean Sigma Supply Chain\lens.png">
            <a:extLst>
              <a:ext uri="{FF2B5EF4-FFF2-40B4-BE49-F238E27FC236}">
                <a16:creationId xmlns:a16="http://schemas.microsoft.com/office/drawing/2014/main" id="{F57732B7-06A4-B08F-50B6-FB9A47FC98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13179" y="5279080"/>
            <a:ext cx="902390" cy="67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 name="Picture 609">
            <a:extLst>
              <a:ext uri="{FF2B5EF4-FFF2-40B4-BE49-F238E27FC236}">
                <a16:creationId xmlns:a16="http://schemas.microsoft.com/office/drawing/2014/main" id="{4CB0F27F-D6C9-6983-AAA2-609D3B1D72B4}"/>
              </a:ext>
            </a:extLst>
          </p:cNvPr>
          <p:cNvPicPr>
            <a:picLocks noChangeAspect="1"/>
          </p:cNvPicPr>
          <p:nvPr/>
        </p:nvPicPr>
        <p:blipFill>
          <a:blip r:embed="rId9"/>
          <a:stretch>
            <a:fillRect/>
          </a:stretch>
        </p:blipFill>
        <p:spPr>
          <a:xfrm>
            <a:off x="2083098" y="2820666"/>
            <a:ext cx="215900" cy="292100"/>
          </a:xfrm>
          <a:prstGeom prst="rect">
            <a:avLst/>
          </a:prstGeom>
        </p:spPr>
      </p:pic>
      <p:pic>
        <p:nvPicPr>
          <p:cNvPr id="611" name="Picture 610">
            <a:extLst>
              <a:ext uri="{FF2B5EF4-FFF2-40B4-BE49-F238E27FC236}">
                <a16:creationId xmlns:a16="http://schemas.microsoft.com/office/drawing/2014/main" id="{DB993799-707F-2D2B-3A3A-5DC653B6F162}"/>
              </a:ext>
            </a:extLst>
          </p:cNvPr>
          <p:cNvPicPr>
            <a:picLocks noChangeAspect="1"/>
          </p:cNvPicPr>
          <p:nvPr/>
        </p:nvPicPr>
        <p:blipFill>
          <a:blip r:embed="rId9"/>
          <a:stretch>
            <a:fillRect/>
          </a:stretch>
        </p:blipFill>
        <p:spPr>
          <a:xfrm>
            <a:off x="2349660" y="2769886"/>
            <a:ext cx="215900" cy="292100"/>
          </a:xfrm>
          <a:prstGeom prst="rect">
            <a:avLst/>
          </a:prstGeom>
        </p:spPr>
      </p:pic>
      <p:pic>
        <p:nvPicPr>
          <p:cNvPr id="612" name="Picture 611">
            <a:extLst>
              <a:ext uri="{FF2B5EF4-FFF2-40B4-BE49-F238E27FC236}">
                <a16:creationId xmlns:a16="http://schemas.microsoft.com/office/drawing/2014/main" id="{0E55AD34-F2DA-E2D6-00B6-DFA438BB35F2}"/>
              </a:ext>
            </a:extLst>
          </p:cNvPr>
          <p:cNvPicPr>
            <a:picLocks noChangeAspect="1"/>
          </p:cNvPicPr>
          <p:nvPr/>
        </p:nvPicPr>
        <p:blipFill>
          <a:blip r:embed="rId9"/>
          <a:stretch>
            <a:fillRect/>
          </a:stretch>
        </p:blipFill>
        <p:spPr>
          <a:xfrm>
            <a:off x="2096680" y="3133946"/>
            <a:ext cx="215900" cy="292100"/>
          </a:xfrm>
          <a:prstGeom prst="rect">
            <a:avLst/>
          </a:prstGeom>
        </p:spPr>
      </p:pic>
      <p:pic>
        <p:nvPicPr>
          <p:cNvPr id="613" name="Picture 612">
            <a:extLst>
              <a:ext uri="{FF2B5EF4-FFF2-40B4-BE49-F238E27FC236}">
                <a16:creationId xmlns:a16="http://schemas.microsoft.com/office/drawing/2014/main" id="{0BDE7A60-6189-717F-F6BA-F99764B9C43B}"/>
              </a:ext>
            </a:extLst>
          </p:cNvPr>
          <p:cNvPicPr>
            <a:picLocks noChangeAspect="1"/>
          </p:cNvPicPr>
          <p:nvPr/>
        </p:nvPicPr>
        <p:blipFill>
          <a:blip r:embed="rId9"/>
          <a:stretch>
            <a:fillRect/>
          </a:stretch>
        </p:blipFill>
        <p:spPr>
          <a:xfrm>
            <a:off x="2700259" y="3268334"/>
            <a:ext cx="215900" cy="292100"/>
          </a:xfrm>
          <a:prstGeom prst="rect">
            <a:avLst/>
          </a:prstGeom>
        </p:spPr>
      </p:pic>
      <p:pic>
        <p:nvPicPr>
          <p:cNvPr id="614" name="Picture 613">
            <a:extLst>
              <a:ext uri="{FF2B5EF4-FFF2-40B4-BE49-F238E27FC236}">
                <a16:creationId xmlns:a16="http://schemas.microsoft.com/office/drawing/2014/main" id="{274F825D-3DAC-5D95-0DD9-3D5CDF5C27E3}"/>
              </a:ext>
            </a:extLst>
          </p:cNvPr>
          <p:cNvPicPr>
            <a:picLocks noChangeAspect="1"/>
          </p:cNvPicPr>
          <p:nvPr/>
        </p:nvPicPr>
        <p:blipFill>
          <a:blip r:embed="rId9"/>
          <a:stretch>
            <a:fillRect/>
          </a:stretch>
        </p:blipFill>
        <p:spPr>
          <a:xfrm>
            <a:off x="2402979" y="3287381"/>
            <a:ext cx="215900" cy="292100"/>
          </a:xfrm>
          <a:prstGeom prst="rect">
            <a:avLst/>
          </a:prstGeom>
        </p:spPr>
      </p:pic>
      <p:pic>
        <p:nvPicPr>
          <p:cNvPr id="615" name="Picture 614">
            <a:extLst>
              <a:ext uri="{FF2B5EF4-FFF2-40B4-BE49-F238E27FC236}">
                <a16:creationId xmlns:a16="http://schemas.microsoft.com/office/drawing/2014/main" id="{6A59B32F-245B-32E5-E4DE-6B951B2172C4}"/>
              </a:ext>
            </a:extLst>
          </p:cNvPr>
          <p:cNvPicPr>
            <a:picLocks noChangeAspect="1"/>
          </p:cNvPicPr>
          <p:nvPr/>
        </p:nvPicPr>
        <p:blipFill>
          <a:blip r:embed="rId9"/>
          <a:stretch>
            <a:fillRect/>
          </a:stretch>
        </p:blipFill>
        <p:spPr>
          <a:xfrm>
            <a:off x="2813797" y="3003493"/>
            <a:ext cx="215900" cy="292100"/>
          </a:xfrm>
          <a:prstGeom prst="rect">
            <a:avLst/>
          </a:prstGeom>
        </p:spPr>
      </p:pic>
      <p:pic>
        <p:nvPicPr>
          <p:cNvPr id="616" name="Picture 615">
            <a:extLst>
              <a:ext uri="{FF2B5EF4-FFF2-40B4-BE49-F238E27FC236}">
                <a16:creationId xmlns:a16="http://schemas.microsoft.com/office/drawing/2014/main" id="{5C56CCA0-9F6F-8097-DDF0-4B13B1F03C91}"/>
              </a:ext>
            </a:extLst>
          </p:cNvPr>
          <p:cNvPicPr>
            <a:picLocks noChangeAspect="1"/>
          </p:cNvPicPr>
          <p:nvPr/>
        </p:nvPicPr>
        <p:blipFill>
          <a:blip r:embed="rId9"/>
          <a:stretch>
            <a:fillRect/>
          </a:stretch>
        </p:blipFill>
        <p:spPr>
          <a:xfrm>
            <a:off x="2639476" y="2768757"/>
            <a:ext cx="215900" cy="292100"/>
          </a:xfrm>
          <a:prstGeom prst="rect">
            <a:avLst/>
          </a:prstGeom>
        </p:spPr>
      </p:pic>
      <p:pic>
        <p:nvPicPr>
          <p:cNvPr id="617" name="Picture 616">
            <a:extLst>
              <a:ext uri="{FF2B5EF4-FFF2-40B4-BE49-F238E27FC236}">
                <a16:creationId xmlns:a16="http://schemas.microsoft.com/office/drawing/2014/main" id="{169BC4C2-B25C-963F-58A4-AD754F1EDC20}"/>
              </a:ext>
            </a:extLst>
          </p:cNvPr>
          <p:cNvPicPr>
            <a:picLocks noChangeAspect="1"/>
          </p:cNvPicPr>
          <p:nvPr/>
        </p:nvPicPr>
        <p:blipFill>
          <a:blip r:embed="rId9"/>
          <a:stretch>
            <a:fillRect/>
          </a:stretch>
        </p:blipFill>
        <p:spPr>
          <a:xfrm>
            <a:off x="4315240" y="2798363"/>
            <a:ext cx="215900" cy="292100"/>
          </a:xfrm>
          <a:prstGeom prst="rect">
            <a:avLst/>
          </a:prstGeom>
        </p:spPr>
      </p:pic>
      <p:pic>
        <p:nvPicPr>
          <p:cNvPr id="618" name="Picture 617">
            <a:extLst>
              <a:ext uri="{FF2B5EF4-FFF2-40B4-BE49-F238E27FC236}">
                <a16:creationId xmlns:a16="http://schemas.microsoft.com/office/drawing/2014/main" id="{47273CB5-26F0-6F5C-17CA-671AA4C4C658}"/>
              </a:ext>
            </a:extLst>
          </p:cNvPr>
          <p:cNvPicPr>
            <a:picLocks noChangeAspect="1"/>
          </p:cNvPicPr>
          <p:nvPr/>
        </p:nvPicPr>
        <p:blipFill>
          <a:blip r:embed="rId9"/>
          <a:stretch>
            <a:fillRect/>
          </a:stretch>
        </p:blipFill>
        <p:spPr>
          <a:xfrm>
            <a:off x="4558049" y="2774744"/>
            <a:ext cx="215900" cy="292100"/>
          </a:xfrm>
          <a:prstGeom prst="rect">
            <a:avLst/>
          </a:prstGeom>
        </p:spPr>
      </p:pic>
      <p:pic>
        <p:nvPicPr>
          <p:cNvPr id="619" name="Picture 618">
            <a:extLst>
              <a:ext uri="{FF2B5EF4-FFF2-40B4-BE49-F238E27FC236}">
                <a16:creationId xmlns:a16="http://schemas.microsoft.com/office/drawing/2014/main" id="{B6175C2F-BFFA-3054-FC1D-D2B0805B749F}"/>
              </a:ext>
            </a:extLst>
          </p:cNvPr>
          <p:cNvPicPr>
            <a:picLocks noChangeAspect="1"/>
          </p:cNvPicPr>
          <p:nvPr/>
        </p:nvPicPr>
        <p:blipFill>
          <a:blip r:embed="rId9"/>
          <a:stretch>
            <a:fillRect/>
          </a:stretch>
        </p:blipFill>
        <p:spPr>
          <a:xfrm>
            <a:off x="4247486" y="3135422"/>
            <a:ext cx="215900" cy="292100"/>
          </a:xfrm>
          <a:prstGeom prst="rect">
            <a:avLst/>
          </a:prstGeom>
        </p:spPr>
      </p:pic>
      <p:pic>
        <p:nvPicPr>
          <p:cNvPr id="620" name="Picture 619">
            <a:extLst>
              <a:ext uri="{FF2B5EF4-FFF2-40B4-BE49-F238E27FC236}">
                <a16:creationId xmlns:a16="http://schemas.microsoft.com/office/drawing/2014/main" id="{BA02D826-CB8D-1384-F250-CA70A7733C53}"/>
              </a:ext>
            </a:extLst>
          </p:cNvPr>
          <p:cNvPicPr>
            <a:picLocks noChangeAspect="1"/>
          </p:cNvPicPr>
          <p:nvPr/>
        </p:nvPicPr>
        <p:blipFill>
          <a:blip r:embed="rId9"/>
          <a:stretch>
            <a:fillRect/>
          </a:stretch>
        </p:blipFill>
        <p:spPr>
          <a:xfrm>
            <a:off x="4822890" y="3157334"/>
            <a:ext cx="215900" cy="292100"/>
          </a:xfrm>
          <a:prstGeom prst="rect">
            <a:avLst/>
          </a:prstGeom>
        </p:spPr>
      </p:pic>
      <p:pic>
        <p:nvPicPr>
          <p:cNvPr id="621" name="Picture 620">
            <a:extLst>
              <a:ext uri="{FF2B5EF4-FFF2-40B4-BE49-F238E27FC236}">
                <a16:creationId xmlns:a16="http://schemas.microsoft.com/office/drawing/2014/main" id="{1280146D-EB59-FC61-B744-2C96A11AE391}"/>
              </a:ext>
            </a:extLst>
          </p:cNvPr>
          <p:cNvPicPr>
            <a:picLocks noChangeAspect="1"/>
          </p:cNvPicPr>
          <p:nvPr/>
        </p:nvPicPr>
        <p:blipFill>
          <a:blip r:embed="rId9"/>
          <a:stretch>
            <a:fillRect/>
          </a:stretch>
        </p:blipFill>
        <p:spPr>
          <a:xfrm>
            <a:off x="4428625" y="3370204"/>
            <a:ext cx="215900" cy="292100"/>
          </a:xfrm>
          <a:prstGeom prst="rect">
            <a:avLst/>
          </a:prstGeom>
        </p:spPr>
      </p:pic>
      <p:pic>
        <p:nvPicPr>
          <p:cNvPr id="622" name="Picture 621">
            <a:extLst>
              <a:ext uri="{FF2B5EF4-FFF2-40B4-BE49-F238E27FC236}">
                <a16:creationId xmlns:a16="http://schemas.microsoft.com/office/drawing/2014/main" id="{522E7384-AA68-6D17-8030-B5C652A10389}"/>
              </a:ext>
            </a:extLst>
          </p:cNvPr>
          <p:cNvPicPr>
            <a:picLocks noChangeAspect="1"/>
          </p:cNvPicPr>
          <p:nvPr/>
        </p:nvPicPr>
        <p:blipFill>
          <a:blip r:embed="rId9"/>
          <a:stretch>
            <a:fillRect/>
          </a:stretch>
        </p:blipFill>
        <p:spPr>
          <a:xfrm>
            <a:off x="4647213" y="3338143"/>
            <a:ext cx="215900" cy="292100"/>
          </a:xfrm>
          <a:prstGeom prst="rect">
            <a:avLst/>
          </a:prstGeom>
        </p:spPr>
      </p:pic>
      <p:pic>
        <p:nvPicPr>
          <p:cNvPr id="623" name="Picture 622">
            <a:extLst>
              <a:ext uri="{FF2B5EF4-FFF2-40B4-BE49-F238E27FC236}">
                <a16:creationId xmlns:a16="http://schemas.microsoft.com/office/drawing/2014/main" id="{225CFAF1-7CF9-5024-0BDC-53A37B13AC80}"/>
              </a:ext>
            </a:extLst>
          </p:cNvPr>
          <p:cNvPicPr>
            <a:picLocks noChangeAspect="1"/>
          </p:cNvPicPr>
          <p:nvPr/>
        </p:nvPicPr>
        <p:blipFill>
          <a:blip r:embed="rId9"/>
          <a:stretch>
            <a:fillRect/>
          </a:stretch>
        </p:blipFill>
        <p:spPr>
          <a:xfrm>
            <a:off x="4832448" y="2839071"/>
            <a:ext cx="215900" cy="292100"/>
          </a:xfrm>
          <a:prstGeom prst="rect">
            <a:avLst/>
          </a:prstGeom>
        </p:spPr>
      </p:pic>
      <p:pic>
        <p:nvPicPr>
          <p:cNvPr id="627" name="Picture 626">
            <a:extLst>
              <a:ext uri="{FF2B5EF4-FFF2-40B4-BE49-F238E27FC236}">
                <a16:creationId xmlns:a16="http://schemas.microsoft.com/office/drawing/2014/main" id="{271A1B55-E5B5-0336-2F3B-E0947F4815F8}"/>
              </a:ext>
            </a:extLst>
          </p:cNvPr>
          <p:cNvPicPr>
            <a:picLocks noChangeAspect="1"/>
          </p:cNvPicPr>
          <p:nvPr/>
        </p:nvPicPr>
        <p:blipFill>
          <a:blip r:embed="rId9"/>
          <a:stretch>
            <a:fillRect/>
          </a:stretch>
        </p:blipFill>
        <p:spPr>
          <a:xfrm>
            <a:off x="1773088" y="5078898"/>
            <a:ext cx="215900" cy="292100"/>
          </a:xfrm>
          <a:prstGeom prst="rect">
            <a:avLst/>
          </a:prstGeom>
        </p:spPr>
      </p:pic>
      <p:pic>
        <p:nvPicPr>
          <p:cNvPr id="628" name="Picture 627">
            <a:extLst>
              <a:ext uri="{FF2B5EF4-FFF2-40B4-BE49-F238E27FC236}">
                <a16:creationId xmlns:a16="http://schemas.microsoft.com/office/drawing/2014/main" id="{0CC80514-32CB-7635-6CA5-2316A94FDB39}"/>
              </a:ext>
            </a:extLst>
          </p:cNvPr>
          <p:cNvPicPr>
            <a:picLocks noChangeAspect="1"/>
          </p:cNvPicPr>
          <p:nvPr/>
        </p:nvPicPr>
        <p:blipFill>
          <a:blip r:embed="rId9"/>
          <a:stretch>
            <a:fillRect/>
          </a:stretch>
        </p:blipFill>
        <p:spPr>
          <a:xfrm>
            <a:off x="1925488" y="5231298"/>
            <a:ext cx="215900" cy="292100"/>
          </a:xfrm>
          <a:prstGeom prst="rect">
            <a:avLst/>
          </a:prstGeom>
        </p:spPr>
      </p:pic>
      <p:pic>
        <p:nvPicPr>
          <p:cNvPr id="629" name="Picture 628">
            <a:extLst>
              <a:ext uri="{FF2B5EF4-FFF2-40B4-BE49-F238E27FC236}">
                <a16:creationId xmlns:a16="http://schemas.microsoft.com/office/drawing/2014/main" id="{FC680998-AF9C-AD20-E3B9-5531F901C08C}"/>
              </a:ext>
            </a:extLst>
          </p:cNvPr>
          <p:cNvPicPr>
            <a:picLocks noChangeAspect="1"/>
          </p:cNvPicPr>
          <p:nvPr/>
        </p:nvPicPr>
        <p:blipFill>
          <a:blip r:embed="rId9"/>
          <a:stretch>
            <a:fillRect/>
          </a:stretch>
        </p:blipFill>
        <p:spPr>
          <a:xfrm>
            <a:off x="2092900" y="5033356"/>
            <a:ext cx="215900" cy="292100"/>
          </a:xfrm>
          <a:prstGeom prst="rect">
            <a:avLst/>
          </a:prstGeom>
        </p:spPr>
      </p:pic>
      <p:pic>
        <p:nvPicPr>
          <p:cNvPr id="630" name="Picture 629">
            <a:extLst>
              <a:ext uri="{FF2B5EF4-FFF2-40B4-BE49-F238E27FC236}">
                <a16:creationId xmlns:a16="http://schemas.microsoft.com/office/drawing/2014/main" id="{82D0215E-3AD6-8E2D-BC35-3674F3DE44F6}"/>
              </a:ext>
            </a:extLst>
          </p:cNvPr>
          <p:cNvPicPr>
            <a:picLocks noChangeAspect="1"/>
          </p:cNvPicPr>
          <p:nvPr/>
        </p:nvPicPr>
        <p:blipFill>
          <a:blip r:embed="rId9"/>
          <a:stretch>
            <a:fillRect/>
          </a:stretch>
        </p:blipFill>
        <p:spPr>
          <a:xfrm>
            <a:off x="2366105" y="5401656"/>
            <a:ext cx="215900" cy="292100"/>
          </a:xfrm>
          <a:prstGeom prst="rect">
            <a:avLst/>
          </a:prstGeom>
        </p:spPr>
      </p:pic>
      <p:pic>
        <p:nvPicPr>
          <p:cNvPr id="631" name="Picture 630">
            <a:extLst>
              <a:ext uri="{FF2B5EF4-FFF2-40B4-BE49-F238E27FC236}">
                <a16:creationId xmlns:a16="http://schemas.microsoft.com/office/drawing/2014/main" id="{A2E8DC38-2E58-6A2A-DC54-A3B09C106D49}"/>
              </a:ext>
            </a:extLst>
          </p:cNvPr>
          <p:cNvPicPr>
            <a:picLocks noChangeAspect="1"/>
          </p:cNvPicPr>
          <p:nvPr/>
        </p:nvPicPr>
        <p:blipFill>
          <a:blip r:embed="rId9"/>
          <a:stretch>
            <a:fillRect/>
          </a:stretch>
        </p:blipFill>
        <p:spPr>
          <a:xfrm>
            <a:off x="2117144" y="5470022"/>
            <a:ext cx="215900" cy="292100"/>
          </a:xfrm>
          <a:prstGeom prst="rect">
            <a:avLst/>
          </a:prstGeom>
        </p:spPr>
      </p:pic>
      <p:pic>
        <p:nvPicPr>
          <p:cNvPr id="632" name="Picture 631">
            <a:extLst>
              <a:ext uri="{FF2B5EF4-FFF2-40B4-BE49-F238E27FC236}">
                <a16:creationId xmlns:a16="http://schemas.microsoft.com/office/drawing/2014/main" id="{239B0E59-4D3E-6E6D-5236-03079A849A87}"/>
              </a:ext>
            </a:extLst>
          </p:cNvPr>
          <p:cNvPicPr>
            <a:picLocks noChangeAspect="1"/>
          </p:cNvPicPr>
          <p:nvPr/>
        </p:nvPicPr>
        <p:blipFill>
          <a:blip r:embed="rId9"/>
          <a:stretch>
            <a:fillRect/>
          </a:stretch>
        </p:blipFill>
        <p:spPr>
          <a:xfrm>
            <a:off x="2549153" y="5148240"/>
            <a:ext cx="215900" cy="292100"/>
          </a:xfrm>
          <a:prstGeom prst="rect">
            <a:avLst/>
          </a:prstGeom>
        </p:spPr>
      </p:pic>
      <p:pic>
        <p:nvPicPr>
          <p:cNvPr id="633" name="Picture 632">
            <a:extLst>
              <a:ext uri="{FF2B5EF4-FFF2-40B4-BE49-F238E27FC236}">
                <a16:creationId xmlns:a16="http://schemas.microsoft.com/office/drawing/2014/main" id="{5F98A44F-D000-1C8B-59F5-8B8C53E455C7}"/>
              </a:ext>
            </a:extLst>
          </p:cNvPr>
          <p:cNvPicPr>
            <a:picLocks noChangeAspect="1"/>
          </p:cNvPicPr>
          <p:nvPr/>
        </p:nvPicPr>
        <p:blipFill>
          <a:blip r:embed="rId9"/>
          <a:stretch>
            <a:fillRect/>
          </a:stretch>
        </p:blipFill>
        <p:spPr>
          <a:xfrm>
            <a:off x="2654477" y="5466383"/>
            <a:ext cx="215900" cy="292100"/>
          </a:xfrm>
          <a:prstGeom prst="rect">
            <a:avLst/>
          </a:prstGeom>
        </p:spPr>
      </p:pic>
      <p:pic>
        <p:nvPicPr>
          <p:cNvPr id="634" name="Picture 633">
            <a:extLst>
              <a:ext uri="{FF2B5EF4-FFF2-40B4-BE49-F238E27FC236}">
                <a16:creationId xmlns:a16="http://schemas.microsoft.com/office/drawing/2014/main" id="{3579785F-DC3B-DB9A-1160-6DF70ECD5D40}"/>
              </a:ext>
            </a:extLst>
          </p:cNvPr>
          <p:cNvPicPr>
            <a:picLocks noChangeAspect="1"/>
          </p:cNvPicPr>
          <p:nvPr/>
        </p:nvPicPr>
        <p:blipFill>
          <a:blip r:embed="rId9"/>
          <a:stretch>
            <a:fillRect/>
          </a:stretch>
        </p:blipFill>
        <p:spPr>
          <a:xfrm>
            <a:off x="1767210" y="5496710"/>
            <a:ext cx="215900" cy="292100"/>
          </a:xfrm>
          <a:prstGeom prst="rect">
            <a:avLst/>
          </a:prstGeom>
        </p:spPr>
      </p:pic>
      <p:pic>
        <p:nvPicPr>
          <p:cNvPr id="635" name="Picture 634">
            <a:extLst>
              <a:ext uri="{FF2B5EF4-FFF2-40B4-BE49-F238E27FC236}">
                <a16:creationId xmlns:a16="http://schemas.microsoft.com/office/drawing/2014/main" id="{C84150EA-9B87-62DF-42A7-2E99DED92EC3}"/>
              </a:ext>
            </a:extLst>
          </p:cNvPr>
          <p:cNvPicPr>
            <a:picLocks noChangeAspect="1"/>
          </p:cNvPicPr>
          <p:nvPr/>
        </p:nvPicPr>
        <p:blipFill>
          <a:blip r:embed="rId9"/>
          <a:stretch>
            <a:fillRect/>
          </a:stretch>
        </p:blipFill>
        <p:spPr>
          <a:xfrm>
            <a:off x="2851738" y="5260864"/>
            <a:ext cx="215900" cy="292100"/>
          </a:xfrm>
          <a:prstGeom prst="rect">
            <a:avLst/>
          </a:prstGeom>
        </p:spPr>
      </p:pic>
      <p:pic>
        <p:nvPicPr>
          <p:cNvPr id="636" name="Picture 635">
            <a:extLst>
              <a:ext uri="{FF2B5EF4-FFF2-40B4-BE49-F238E27FC236}">
                <a16:creationId xmlns:a16="http://schemas.microsoft.com/office/drawing/2014/main" id="{80B31792-7B49-97BC-431B-5E2C5CF0F05C}"/>
              </a:ext>
            </a:extLst>
          </p:cNvPr>
          <p:cNvPicPr>
            <a:picLocks noChangeAspect="1"/>
          </p:cNvPicPr>
          <p:nvPr/>
        </p:nvPicPr>
        <p:blipFill>
          <a:blip r:embed="rId9"/>
          <a:stretch>
            <a:fillRect/>
          </a:stretch>
        </p:blipFill>
        <p:spPr>
          <a:xfrm>
            <a:off x="2319188" y="5114814"/>
            <a:ext cx="215900" cy="292100"/>
          </a:xfrm>
          <a:prstGeom prst="rect">
            <a:avLst/>
          </a:prstGeom>
        </p:spPr>
      </p:pic>
    </p:spTree>
    <p:extLst>
      <p:ext uri="{BB962C8B-B14F-4D97-AF65-F5344CB8AC3E}">
        <p14:creationId xmlns:p14="http://schemas.microsoft.com/office/powerpoint/2010/main" val="40167107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dirty="0"/>
              <a:t>Purpose of 16 Catch Phrases of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a:xfrm>
            <a:off x="838200" y="1825625"/>
            <a:ext cx="4739640" cy="4351338"/>
          </a:xfrm>
        </p:spPr>
        <p:txBody>
          <a:bodyPr>
            <a:normAutofit/>
          </a:bodyPr>
          <a:lstStyle/>
          <a:p>
            <a:r>
              <a:rPr lang="en-US" altLang="en-US" dirty="0"/>
              <a:t>The 16 Catch Phrases of 3P are used as guidelines for designing processes according to Lean manufacturing principles of Takt, Flow, Pull, and </a:t>
            </a:r>
            <a:r>
              <a:rPr lang="en-US" altLang="en-US" dirty="0" err="1"/>
              <a:t>Jidoka</a:t>
            </a:r>
            <a:r>
              <a:rPr lang="en-US" altLang="en-US" dirty="0"/>
              <a: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pic>
        <p:nvPicPr>
          <p:cNvPr id="14" name="Picture 2" descr="C:\Users\User\Documents\blocks.jpg">
            <a:extLst>
              <a:ext uri="{FF2B5EF4-FFF2-40B4-BE49-F238E27FC236}">
                <a16:creationId xmlns:a16="http://schemas.microsoft.com/office/drawing/2014/main" id="{70F64597-9DD2-7BF3-B98B-06BEBCE23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3113" y="1757363"/>
            <a:ext cx="33147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9935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altLang="en-US" dirty="0"/>
              <a:t>16 Catch Phrases</a:t>
            </a:r>
            <a:endParaRPr lang="en-US" dirty="0"/>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fontScale="85000" lnSpcReduction="20000"/>
          </a:bodyPr>
          <a:lstStyle/>
          <a:p>
            <a:pPr marL="514350" indent="-514350">
              <a:buFont typeface="+mj-lt"/>
              <a:buAutoNum type="arabicPeriod"/>
            </a:pPr>
            <a:r>
              <a:rPr lang="en-US" dirty="0"/>
              <a:t>Production preparation should be lightning fast</a:t>
            </a:r>
          </a:p>
          <a:p>
            <a:pPr marL="514350" indent="-514350">
              <a:buFont typeface="+mj-lt"/>
              <a:buAutoNum type="arabicPeriod"/>
            </a:pPr>
            <a:r>
              <a:rPr lang="en-US" dirty="0"/>
              <a:t>Build &amp; layout equipment for smooth material flow</a:t>
            </a:r>
          </a:p>
          <a:p>
            <a:pPr marL="514350" indent="-514350">
              <a:buFont typeface="+mj-lt"/>
              <a:buAutoNum type="arabicPeriod"/>
            </a:pPr>
            <a:r>
              <a:rPr lang="en-US" dirty="0"/>
              <a:t>Use additive equipment</a:t>
            </a:r>
          </a:p>
          <a:p>
            <a:pPr marL="514350" indent="-514350">
              <a:buFont typeface="+mj-lt"/>
              <a:buAutoNum type="arabicPeriod"/>
            </a:pPr>
            <a:r>
              <a:rPr lang="en-US" dirty="0"/>
              <a:t>Build equipment that is easy to set up</a:t>
            </a:r>
          </a:p>
          <a:p>
            <a:pPr marL="514350" indent="-514350">
              <a:buFont typeface="+mj-lt"/>
              <a:buAutoNum type="arabicPeriod"/>
            </a:pPr>
            <a:r>
              <a:rPr lang="en-US" dirty="0"/>
              <a:t>Make equipment easy to move</a:t>
            </a:r>
          </a:p>
          <a:p>
            <a:pPr marL="514350" indent="-514350">
              <a:buFont typeface="+mj-lt"/>
              <a:buAutoNum type="arabicPeriod"/>
            </a:pPr>
            <a:r>
              <a:rPr lang="en-US" dirty="0"/>
              <a:t>Use multi-purpose equipment</a:t>
            </a:r>
          </a:p>
          <a:p>
            <a:pPr marL="514350" indent="-514350">
              <a:buFont typeface="+mj-lt"/>
              <a:buAutoNum type="arabicPeriod"/>
            </a:pPr>
            <a:r>
              <a:rPr lang="en-US" dirty="0"/>
              <a:t>Make operator work stations narrow</a:t>
            </a:r>
          </a:p>
          <a:p>
            <a:pPr marL="514350" indent="-514350">
              <a:buFont typeface="+mj-lt"/>
              <a:buAutoNum type="arabicPeriod"/>
            </a:pPr>
            <a:r>
              <a:rPr lang="en-US" dirty="0"/>
              <a:t>Layout equipment for ease of operator movement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85000" lnSpcReduction="20000"/>
          </a:bodyPr>
          <a:lstStyle/>
          <a:p>
            <a:pPr marL="514350" indent="-514350">
              <a:buFont typeface="+mj-lt"/>
              <a:buAutoNum type="arabicPeriod" startAt="9"/>
            </a:pPr>
            <a:r>
              <a:rPr lang="en-US" altLang="en-US" dirty="0"/>
              <a:t>Eliminate wasted machine cycle time</a:t>
            </a:r>
          </a:p>
          <a:p>
            <a:pPr marL="514350" indent="-514350">
              <a:buFont typeface="+mj-lt"/>
              <a:buAutoNum type="arabicPeriod" startAt="9"/>
            </a:pPr>
            <a:r>
              <a:rPr lang="en-US" altLang="en-US" dirty="0"/>
              <a:t>Build equipment for small, swift flow lines</a:t>
            </a:r>
          </a:p>
          <a:p>
            <a:pPr marL="514350" indent="-514350">
              <a:buFont typeface="+mj-lt"/>
              <a:buAutoNum type="arabicPeriod" startAt="9"/>
            </a:pPr>
            <a:r>
              <a:rPr lang="en-US" altLang="en-US" dirty="0"/>
              <a:t>Use short, vertical flow lines</a:t>
            </a:r>
          </a:p>
          <a:p>
            <a:pPr marL="514350" indent="-514350">
              <a:buFont typeface="+mj-lt"/>
              <a:buAutoNum type="arabicPeriod" startAt="9"/>
            </a:pPr>
            <a:r>
              <a:rPr lang="en-US" altLang="en-US" dirty="0"/>
              <a:t>Build equipment for one-piece pull</a:t>
            </a:r>
          </a:p>
          <a:p>
            <a:pPr marL="514350" indent="-514350">
              <a:buFont typeface="+mj-lt"/>
              <a:buAutoNum type="arabicPeriod" startAt="9"/>
            </a:pPr>
            <a:r>
              <a:rPr lang="en-US" altLang="en-US" dirty="0"/>
              <a:t>Build in quick changeover</a:t>
            </a:r>
          </a:p>
          <a:p>
            <a:pPr marL="514350" indent="-514350">
              <a:buFont typeface="+mj-lt"/>
              <a:buAutoNum type="arabicPeriod" startAt="9"/>
            </a:pPr>
            <a:r>
              <a:rPr lang="en-US" altLang="en-US" dirty="0"/>
              <a:t>Link machines for smooth loading and unloading</a:t>
            </a:r>
          </a:p>
          <a:p>
            <a:pPr marL="514350" indent="-514350">
              <a:buFont typeface="+mj-lt"/>
              <a:buAutoNum type="arabicPeriod" startAt="9"/>
            </a:pPr>
            <a:r>
              <a:rPr lang="en-US" altLang="en-US" dirty="0"/>
              <a:t>Use multiple lines &amp; untangled flows</a:t>
            </a:r>
          </a:p>
          <a:p>
            <a:pPr marL="514350" indent="-514350">
              <a:buFont typeface="+mj-lt"/>
              <a:buAutoNum type="arabicPeriod" startAt="9"/>
            </a:pPr>
            <a:r>
              <a:rPr lang="en-US" altLang="en-US" dirty="0"/>
              <a:t>Spiral upwards to </a:t>
            </a:r>
            <a:r>
              <a:rPr lang="en-US" altLang="en-US" dirty="0" err="1"/>
              <a:t>Jidoka</a:t>
            </a:r>
            <a:endParaRPr lang="en-US" alt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5" name="Group 4">
            <a:extLst>
              <a:ext uri="{FF2B5EF4-FFF2-40B4-BE49-F238E27FC236}">
                <a16:creationId xmlns:a16="http://schemas.microsoft.com/office/drawing/2014/main" id="{7EBB28C7-15A8-4DD6-BFB0-070E7FBBCF25}"/>
              </a:ext>
            </a:extLst>
          </p:cNvPr>
          <p:cNvGrpSpPr/>
          <p:nvPr/>
        </p:nvGrpSpPr>
        <p:grpSpPr>
          <a:xfrm>
            <a:off x="838200" y="297639"/>
            <a:ext cx="3396162" cy="306433"/>
            <a:chOff x="838200" y="297639"/>
            <a:chExt cx="3396162" cy="306433"/>
          </a:xfrm>
        </p:grpSpPr>
        <p:grpSp>
          <p:nvGrpSpPr>
            <p:cNvPr id="7" name="Group 6">
              <a:extLst>
                <a:ext uri="{FF2B5EF4-FFF2-40B4-BE49-F238E27FC236}">
                  <a16:creationId xmlns:a16="http://schemas.microsoft.com/office/drawing/2014/main" id="{6F988374-D9FF-291D-002A-ABEB501B19FD}"/>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8CB04BA8-73EC-351D-0E71-74BB1D3ABD9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9F52F54-C324-B66D-8F7B-84A7B15A9D6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A9308B16-7B33-614A-595F-5FD1B7F6A26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8DBF3AC4-C90A-AAE0-A7DB-6E1D4A99A99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AE3FDFD3-5A36-149D-B9F9-B9F87BD114C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BE983DAF-B7F7-0270-7382-2C032947ACEE}"/>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8" name="TextBox 7">
              <a:extLst>
                <a:ext uri="{FF2B5EF4-FFF2-40B4-BE49-F238E27FC236}">
                  <a16:creationId xmlns:a16="http://schemas.microsoft.com/office/drawing/2014/main" id="{6B049496-3325-F7FB-4DF5-D125C4350041}"/>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3353535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GB" altLang="en-US" dirty="0"/>
              <a:t>Implementation</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GB" altLang="en-US" dirty="0"/>
              <a:t>Flowchart the production process</a:t>
            </a:r>
          </a:p>
          <a:p>
            <a:r>
              <a:rPr lang="en-GB" altLang="en-US" dirty="0"/>
              <a:t>Determine Takt and cycles times for the process</a:t>
            </a:r>
          </a:p>
          <a:p>
            <a:r>
              <a:rPr lang="en-GB" altLang="en-US" dirty="0"/>
              <a:t>Develop equipment plan</a:t>
            </a:r>
          </a:p>
          <a:p>
            <a:r>
              <a:rPr lang="en-GB" altLang="en-US" dirty="0"/>
              <a:t>Determine process capacity and flex</a:t>
            </a:r>
          </a:p>
          <a:p>
            <a:r>
              <a:rPr lang="en-GB" altLang="en-US" dirty="0"/>
              <a:t>Develop standard work plans and standard layouts</a:t>
            </a:r>
          </a:p>
          <a:p>
            <a:r>
              <a:rPr lang="en-GB" altLang="en-US" dirty="0"/>
              <a:t>Prepare the implementation plan and critical path</a:t>
            </a:r>
          </a:p>
          <a:p>
            <a:r>
              <a:rPr lang="en-GB" altLang="en-US" dirty="0"/>
              <a:t>Implement with rigorous review 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4" name="Group 3">
            <a:extLst>
              <a:ext uri="{FF2B5EF4-FFF2-40B4-BE49-F238E27FC236}">
                <a16:creationId xmlns:a16="http://schemas.microsoft.com/office/drawing/2014/main" id="{358E33CA-B99C-7A4A-780F-B27DAB061F63}"/>
              </a:ext>
            </a:extLst>
          </p:cNvPr>
          <p:cNvGrpSpPr/>
          <p:nvPr/>
        </p:nvGrpSpPr>
        <p:grpSpPr>
          <a:xfrm>
            <a:off x="838200" y="297639"/>
            <a:ext cx="3396162" cy="306433"/>
            <a:chOff x="838200" y="297639"/>
            <a:chExt cx="3396162" cy="306433"/>
          </a:xfrm>
        </p:grpSpPr>
        <p:grpSp>
          <p:nvGrpSpPr>
            <p:cNvPr id="6" name="Group 5">
              <a:extLst>
                <a:ext uri="{FF2B5EF4-FFF2-40B4-BE49-F238E27FC236}">
                  <a16:creationId xmlns:a16="http://schemas.microsoft.com/office/drawing/2014/main" id="{5F9B4D88-7983-D207-B4A6-86D0062A5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812F8F08-1497-0DEC-E786-A55F91C837B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1AF14917-9A29-64CF-F343-A62892EE8A2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434AC46-6ABF-4957-BC7B-2B61EEE9DB83}"/>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C284EE68-37DC-AFBD-20E6-B86D951C41F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37CAD4D5-0322-75FD-CB64-96C99851070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B0AA3D0-A9E3-9A0F-3A83-421DAF2B0C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D91E8EA4-EFAF-6127-AD3C-F627F5473A65}"/>
                </a:ext>
              </a:extLst>
            </p:cNvPr>
            <p:cNvSpPr txBox="1"/>
            <p:nvPr/>
          </p:nvSpPr>
          <p:spPr>
            <a:xfrm>
              <a:off x="2525717" y="313415"/>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3P Training</a:t>
              </a:r>
            </a:p>
          </p:txBody>
        </p:sp>
      </p:grpSp>
    </p:spTree>
    <p:extLst>
      <p:ext uri="{BB962C8B-B14F-4D97-AF65-F5344CB8AC3E}">
        <p14:creationId xmlns:p14="http://schemas.microsoft.com/office/powerpoint/2010/main" val="937623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Defining Objectives and Needs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Select Product/Process for development</a:t>
            </a:r>
          </a:p>
          <a:p>
            <a:r>
              <a:rPr lang="en-US" sz="2400" dirty="0"/>
              <a:t>Define relationships to other systems and processes</a:t>
            </a:r>
          </a:p>
          <a:p>
            <a:r>
              <a:rPr lang="en-US" sz="2400" dirty="0"/>
              <a:t>Identify Voice Of Customer needs – internal and external</a:t>
            </a:r>
          </a:p>
          <a:p>
            <a:r>
              <a:rPr lang="en-US" sz="2400" dirty="0"/>
              <a:t>Translate VOC to specifications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and Event Charter</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Current</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Performance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Needs and</a:t>
                </a:r>
              </a:p>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Objectives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3P Overview</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Training</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840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Team Selection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demonstrate a team is better than an individual.</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Follow the instructions on the next slide.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Team work provides a better solution.</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Survive the trip!</a:t>
            </a:r>
          </a:p>
        </p:txBody>
      </p:sp>
      <p:grpSp>
        <p:nvGrpSpPr>
          <p:cNvPr id="20" name="Group 19">
            <a:extLst>
              <a:ext uri="{FF2B5EF4-FFF2-40B4-BE49-F238E27FC236}">
                <a16:creationId xmlns:a16="http://schemas.microsoft.com/office/drawing/2014/main" id="{400AB690-E081-4159-CD59-EBB63CC6F528}"/>
              </a:ext>
            </a:extLst>
          </p:cNvPr>
          <p:cNvGrpSpPr/>
          <p:nvPr/>
        </p:nvGrpSpPr>
        <p:grpSpPr>
          <a:xfrm>
            <a:off x="838200" y="297639"/>
            <a:ext cx="3845560" cy="307138"/>
            <a:chOff x="838200" y="297639"/>
            <a:chExt cx="3845560" cy="307138"/>
          </a:xfrm>
        </p:grpSpPr>
        <p:grpSp>
          <p:nvGrpSpPr>
            <p:cNvPr id="10" name="Group 9">
              <a:extLst>
                <a:ext uri="{FF2B5EF4-FFF2-40B4-BE49-F238E27FC236}">
                  <a16:creationId xmlns:a16="http://schemas.microsoft.com/office/drawing/2014/main" id="{3B9B0B4F-21C0-B751-FC5B-0A6477AA8D02}"/>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1153CCB-03AB-E7C0-F602-A7CEAF1A639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065F24-EF73-0E25-EAC2-4F3DDA596FA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 name="Group 2">
                <a:extLst>
                  <a:ext uri="{FF2B5EF4-FFF2-40B4-BE49-F238E27FC236}">
                    <a16:creationId xmlns:a16="http://schemas.microsoft.com/office/drawing/2014/main" id="{D69C5CDF-39D4-F2C7-AF6E-9B85E20A1ACA}"/>
                  </a:ext>
                </a:extLst>
              </p:cNvPr>
              <p:cNvGrpSpPr/>
              <p:nvPr/>
            </p:nvGrpSpPr>
            <p:grpSpPr>
              <a:xfrm>
                <a:off x="838200" y="297639"/>
                <a:ext cx="1060167" cy="290657"/>
                <a:chOff x="826426" y="4041857"/>
                <a:chExt cx="1060167" cy="290657"/>
              </a:xfrm>
            </p:grpSpPr>
            <p:sp>
              <p:nvSpPr>
                <p:cNvPr id="4" name="AutoShape 9">
                  <a:extLst>
                    <a:ext uri="{FF2B5EF4-FFF2-40B4-BE49-F238E27FC236}">
                      <a16:creationId xmlns:a16="http://schemas.microsoft.com/office/drawing/2014/main" id="{4A87C677-CA3B-AF09-CA4A-985F1AD3A4E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5C0730F4-93D4-D55D-4620-A50244652B5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0">
                  <a:extLst>
                    <a:ext uri="{FF2B5EF4-FFF2-40B4-BE49-F238E27FC236}">
                      <a16:creationId xmlns:a16="http://schemas.microsoft.com/office/drawing/2014/main" id="{2AF64AE7-DB5B-CE33-23AB-D8E9D0CB13D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9AC35935-FEC9-B26F-340B-235A7D0D2F87}"/>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2232016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Moon Exploration Problem</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fontScale="92500" lnSpcReduction="20000"/>
          </a:bodyPr>
          <a:lstStyle/>
          <a:p>
            <a:pPr marL="0" indent="0">
              <a:buNone/>
            </a:pPr>
            <a:r>
              <a:rPr lang="en-GB" altLang="en-US" sz="2000" b="0" dirty="0"/>
              <a:t>You are a space crew originally scheduled to rendezvous with a mother ship on the lighted surface of the moon. Due to mechanical difficulties, however, you ship was forced to land at a spot some 300 Kilometres from the rendezvous point. During re-entry and landing, much of the equipment aboard was damaged. Since survival depends on reaching the mother ship, the most critical items much be chosen for the 300 kilometre trip. Below are listed the 15 items left intact and undamaged after landing. Your task is to reach the rendezvous point. Place the number 1 by the most important item, the number 2 by the second most important item, and so on through to number 15, the least important. Please ensure that you don’t change your individual answers during the following group discussion.</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grpSp>
        <p:nvGrpSpPr>
          <p:cNvPr id="5" name="Group 4">
            <a:extLst>
              <a:ext uri="{FF2B5EF4-FFF2-40B4-BE49-F238E27FC236}">
                <a16:creationId xmlns:a16="http://schemas.microsoft.com/office/drawing/2014/main" id="{1F93F975-D655-D501-5455-99460B7C7DE7}"/>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7AE942E-2D69-EE61-4BAC-B582A8B2DCCF}"/>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3401DA60-5815-873B-F188-D1BA8FA4D74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4EB1C781-3128-1B1B-E180-98E86B2BDF41}"/>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98EE6B91-2D1B-3692-378E-4A95CE6E305B}"/>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E9833878-EE63-EAC2-2F21-6319CD58B5D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CF7A755E-6E5A-B70C-2A3C-73D607EB4A8A}"/>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24E6CFD9-4027-3827-06B8-E8476A59A92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C125DA95-2945-69A1-6012-E48528BD570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15" name="Picture 5">
            <a:extLst>
              <a:ext uri="{FF2B5EF4-FFF2-40B4-BE49-F238E27FC236}">
                <a16:creationId xmlns:a16="http://schemas.microsoft.com/office/drawing/2014/main" id="{801F09EF-B11C-DA2B-1333-CAF112851E8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49460" y="1825625"/>
            <a:ext cx="3827080" cy="4351338"/>
          </a:xfrm>
          <a:noFill/>
        </p:spPr>
      </p:pic>
    </p:spTree>
    <p:extLst>
      <p:ext uri="{BB962C8B-B14F-4D97-AF65-F5344CB8AC3E}">
        <p14:creationId xmlns:p14="http://schemas.microsoft.com/office/powerpoint/2010/main" val="41300458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GB" altLang="en-US" dirty="0"/>
              <a:t>Select Product/Process to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Strategic Deployment </a:t>
            </a:r>
          </a:p>
          <a:p>
            <a:r>
              <a:rPr lang="en-US" altLang="en-US" dirty="0"/>
              <a:t>Business Level Value Stream Map (VSM)</a:t>
            </a:r>
          </a:p>
          <a:p>
            <a:r>
              <a:rPr lang="en-US" altLang="en-US" dirty="0"/>
              <a:t>Cost of Quality (COQ)</a:t>
            </a:r>
          </a:p>
          <a:p>
            <a:r>
              <a:rPr lang="en-US" altLang="en-US" dirty="0"/>
              <a:t>Customer Journey (CJ)</a:t>
            </a:r>
          </a:p>
          <a:p>
            <a:r>
              <a:rPr lang="en-US" altLang="en-US" dirty="0"/>
              <a:t>Voice Of Customer (VOC)</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14" name="Group 13">
            <a:extLst>
              <a:ext uri="{FF2B5EF4-FFF2-40B4-BE49-F238E27FC236}">
                <a16:creationId xmlns:a16="http://schemas.microsoft.com/office/drawing/2014/main" id="{69FA06AC-B19D-1B49-0FFE-8704D9B83263}"/>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83B2D155-306C-D7AB-CD7F-40C67068F1C4}"/>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5D513343-0D9F-DCAE-5B4A-4643980E2FE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83BBBD51-2CCE-7311-5D80-77D7D54A784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4F3CAA8E-662E-944C-A105-14E78AD441F6}"/>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7BF1AA23-FC68-9CD4-79B1-2A73EC61B99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C62DF5D4-0CE4-9A92-E4F1-31CB1AB44C20}"/>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DD9C5A01-7B05-F490-1E85-633D9F205865}"/>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A9E21EBC-A3DC-367E-D90F-3BC240185B1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23" name="Picture 2">
            <a:extLst>
              <a:ext uri="{FF2B5EF4-FFF2-40B4-BE49-F238E27FC236}">
                <a16:creationId xmlns:a16="http://schemas.microsoft.com/office/drawing/2014/main" id="{0FEB01F2-0821-6757-005E-79AB11490D4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5041" y="3357205"/>
            <a:ext cx="4246880" cy="2819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2762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Strategic Deployment tie to a Lean Business System</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3" name="Group 2">
            <a:extLst>
              <a:ext uri="{FF2B5EF4-FFF2-40B4-BE49-F238E27FC236}">
                <a16:creationId xmlns:a16="http://schemas.microsoft.com/office/drawing/2014/main" id="{0CD6DAF5-5B13-86A5-D410-DCA2FED1B0A1}"/>
              </a:ext>
            </a:extLst>
          </p:cNvPr>
          <p:cNvGrpSpPr/>
          <p:nvPr/>
        </p:nvGrpSpPr>
        <p:grpSpPr>
          <a:xfrm>
            <a:off x="838200" y="297639"/>
            <a:ext cx="3845560" cy="307138"/>
            <a:chOff x="838200" y="297639"/>
            <a:chExt cx="3845560" cy="307138"/>
          </a:xfrm>
        </p:grpSpPr>
        <p:grpSp>
          <p:nvGrpSpPr>
            <p:cNvPr id="5" name="Group 4">
              <a:extLst>
                <a:ext uri="{FF2B5EF4-FFF2-40B4-BE49-F238E27FC236}">
                  <a16:creationId xmlns:a16="http://schemas.microsoft.com/office/drawing/2014/main" id="{9D3E63CB-2A58-598D-4902-EFC56DE8B17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18CA50D-2036-695D-CE15-83A2F30D72F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EE4AF0-3346-1926-C898-50460814AEB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E7891C7-BEA8-11B7-96FB-21DF03916AE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1D26AA2-643E-AAD5-A3C3-8B863B314E9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D0CF57B2-B942-50F0-DE28-93EC3ABAB1EC}"/>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1D6AB867-6172-B589-7246-888A9F95F40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2C6B04C-8ECB-A059-8C6F-CBAE5D97099C}"/>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grpSp>
        <p:nvGrpSpPr>
          <p:cNvPr id="35" name="Group 34">
            <a:extLst>
              <a:ext uri="{FF2B5EF4-FFF2-40B4-BE49-F238E27FC236}">
                <a16:creationId xmlns:a16="http://schemas.microsoft.com/office/drawing/2014/main" id="{6940755C-46A7-F4C4-F3F6-E94C9DFB36F0}"/>
              </a:ext>
            </a:extLst>
          </p:cNvPr>
          <p:cNvGrpSpPr/>
          <p:nvPr/>
        </p:nvGrpSpPr>
        <p:grpSpPr>
          <a:xfrm>
            <a:off x="1198278" y="1962403"/>
            <a:ext cx="9112778" cy="4265720"/>
            <a:chOff x="1198278" y="1962403"/>
            <a:chExt cx="9112778" cy="4265720"/>
          </a:xfrm>
        </p:grpSpPr>
        <p:sp>
          <p:nvSpPr>
            <p:cNvPr id="13" name="Line 2">
              <a:extLst>
                <a:ext uri="{FF2B5EF4-FFF2-40B4-BE49-F238E27FC236}">
                  <a16:creationId xmlns:a16="http://schemas.microsoft.com/office/drawing/2014/main" id="{C36DC66B-532F-7183-9D74-FBD35781BC83}"/>
                </a:ext>
              </a:extLst>
            </p:cNvPr>
            <p:cNvSpPr>
              <a:spLocks noChangeShapeType="1"/>
            </p:cNvSpPr>
            <p:nvPr/>
          </p:nvSpPr>
          <p:spPr bwMode="auto">
            <a:xfrm>
              <a:off x="1271017" y="2153011"/>
              <a:ext cx="9040039" cy="4075112"/>
            </a:xfrm>
            <a:prstGeom prst="line">
              <a:avLst/>
            </a:prstGeom>
            <a:noFill/>
            <a:ln w="23495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endParaRPr>
            </a:p>
          </p:txBody>
        </p:sp>
        <p:sp>
          <p:nvSpPr>
            <p:cNvPr id="14" name="Oval 3">
              <a:extLst>
                <a:ext uri="{FF2B5EF4-FFF2-40B4-BE49-F238E27FC236}">
                  <a16:creationId xmlns:a16="http://schemas.microsoft.com/office/drawing/2014/main" id="{7889B765-4069-2F56-4C57-278F4CEC6436}"/>
                </a:ext>
              </a:extLst>
            </p:cNvPr>
            <p:cNvSpPr>
              <a:spLocks noChangeArrowheads="1"/>
            </p:cNvSpPr>
            <p:nvPr/>
          </p:nvSpPr>
          <p:spPr bwMode="auto">
            <a:xfrm>
              <a:off x="2758766" y="2658680"/>
              <a:ext cx="2017712" cy="804862"/>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Develop Strategic</a:t>
              </a:r>
            </a:p>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Breakthrough Objectives</a:t>
              </a:r>
            </a:p>
          </p:txBody>
        </p:sp>
        <p:sp>
          <p:nvSpPr>
            <p:cNvPr id="15" name="Oval 4">
              <a:extLst>
                <a:ext uri="{FF2B5EF4-FFF2-40B4-BE49-F238E27FC236}">
                  <a16:creationId xmlns:a16="http://schemas.microsoft.com/office/drawing/2014/main" id="{188A4F0E-3B80-AE8B-911E-6B6124AB8126}"/>
                </a:ext>
              </a:extLst>
            </p:cNvPr>
            <p:cNvSpPr>
              <a:spLocks noChangeArrowheads="1"/>
            </p:cNvSpPr>
            <p:nvPr/>
          </p:nvSpPr>
          <p:spPr bwMode="auto">
            <a:xfrm>
              <a:off x="4319253" y="3436143"/>
              <a:ext cx="2017713" cy="804863"/>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Deploy Strategic</a:t>
              </a:r>
            </a:p>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Breakthrough Objectives</a:t>
              </a:r>
            </a:p>
          </p:txBody>
        </p:sp>
        <p:sp>
          <p:nvSpPr>
            <p:cNvPr id="16" name="Oval 5">
              <a:extLst>
                <a:ext uri="{FF2B5EF4-FFF2-40B4-BE49-F238E27FC236}">
                  <a16:creationId xmlns:a16="http://schemas.microsoft.com/office/drawing/2014/main" id="{B50B4E7A-6120-DD92-7BAE-77E763CF3446}"/>
                </a:ext>
              </a:extLst>
            </p:cNvPr>
            <p:cNvSpPr>
              <a:spLocks noChangeArrowheads="1"/>
            </p:cNvSpPr>
            <p:nvPr/>
          </p:nvSpPr>
          <p:spPr bwMode="auto">
            <a:xfrm>
              <a:off x="5956977" y="4264828"/>
              <a:ext cx="2016125" cy="804863"/>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Identify Strategic</a:t>
              </a:r>
            </a:p>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Value Streams </a:t>
              </a:r>
            </a:p>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and Initiatives</a:t>
              </a:r>
            </a:p>
          </p:txBody>
        </p:sp>
        <p:sp>
          <p:nvSpPr>
            <p:cNvPr id="17" name="Oval 6">
              <a:extLst>
                <a:ext uri="{FF2B5EF4-FFF2-40B4-BE49-F238E27FC236}">
                  <a16:creationId xmlns:a16="http://schemas.microsoft.com/office/drawing/2014/main" id="{85396D9A-8C37-CE80-A983-AB39C17BDE9A}"/>
                </a:ext>
              </a:extLst>
            </p:cNvPr>
            <p:cNvSpPr>
              <a:spLocks noChangeArrowheads="1"/>
            </p:cNvSpPr>
            <p:nvPr/>
          </p:nvSpPr>
          <p:spPr bwMode="auto">
            <a:xfrm>
              <a:off x="7587015" y="5069691"/>
              <a:ext cx="2016125" cy="803275"/>
            </a:xfrm>
            <a:prstGeom prst="ellipse">
              <a:avLst/>
            </a:prstGeom>
            <a:solidFill>
              <a:schemeClr val="accent1"/>
            </a:solidFill>
            <a:ln w="12700" cap="sq">
              <a:solidFill>
                <a:schemeClr val="tx1"/>
              </a:solidFill>
              <a:round/>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Targeted Kaikaku</a:t>
              </a:r>
            </a:p>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And Kaizen  Activity</a:t>
              </a:r>
            </a:p>
          </p:txBody>
        </p:sp>
        <p:sp>
          <p:nvSpPr>
            <p:cNvPr id="20" name="Oval 9">
              <a:extLst>
                <a:ext uri="{FF2B5EF4-FFF2-40B4-BE49-F238E27FC236}">
                  <a16:creationId xmlns:a16="http://schemas.microsoft.com/office/drawing/2014/main" id="{1F540A2F-C6D2-D115-6CF0-8BBF9F196EED}"/>
                </a:ext>
              </a:extLst>
            </p:cNvPr>
            <p:cNvSpPr>
              <a:spLocks noChangeArrowheads="1"/>
            </p:cNvSpPr>
            <p:nvPr/>
          </p:nvSpPr>
          <p:spPr bwMode="auto">
            <a:xfrm>
              <a:off x="1198278" y="1962403"/>
              <a:ext cx="2016125" cy="803275"/>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Develop Strategic</a:t>
              </a:r>
              <a:br>
                <a:rPr lang="en-US" altLang="en-US" sz="1200">
                  <a:solidFill>
                    <a:schemeClr val="bg1"/>
                  </a:solidFill>
                  <a:latin typeface="Roboto" panose="02000000000000000000" pitchFamily="2" charset="0"/>
                  <a:ea typeface="Roboto" panose="02000000000000000000" pitchFamily="2" charset="0"/>
                </a:rPr>
              </a:br>
              <a:r>
                <a:rPr lang="en-US" altLang="en-US" sz="1200">
                  <a:solidFill>
                    <a:schemeClr val="bg1"/>
                  </a:solidFill>
                  <a:latin typeface="Roboto" panose="02000000000000000000" pitchFamily="2" charset="0"/>
                  <a:ea typeface="Roboto" panose="02000000000000000000" pitchFamily="2" charset="0"/>
                </a:rPr>
                <a:t>Business Imperatives</a:t>
              </a:r>
            </a:p>
          </p:txBody>
        </p:sp>
        <p:sp>
          <p:nvSpPr>
            <p:cNvPr id="25" name="AutoShape 14">
              <a:extLst>
                <a:ext uri="{FF2B5EF4-FFF2-40B4-BE49-F238E27FC236}">
                  <a16:creationId xmlns:a16="http://schemas.microsoft.com/office/drawing/2014/main" id="{CE48699B-B28B-0F28-F8B6-630079A9CCF7}"/>
                </a:ext>
              </a:extLst>
            </p:cNvPr>
            <p:cNvSpPr>
              <a:spLocks noChangeArrowheads="1"/>
            </p:cNvSpPr>
            <p:nvPr/>
          </p:nvSpPr>
          <p:spPr bwMode="auto">
            <a:xfrm rot="12383472">
              <a:off x="6329684" y="5033586"/>
              <a:ext cx="1458454" cy="10969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1"/>
            </a:solidFill>
            <a:ln w="12700" cap="sq">
              <a:solidFill>
                <a:schemeClr val="tx1"/>
              </a:solidFill>
              <a:miter lim="800000"/>
              <a:headEnd type="none" w="sm" len="sm"/>
              <a:tailEnd type="none" w="sm" len="sm"/>
            </a:ln>
          </p:spPr>
          <p:txBody>
            <a:bodyPr wrap="none" anchor="ctr"/>
            <a:lstStyle/>
            <a:p>
              <a:endParaRPr lang="en-US">
                <a:latin typeface="Roboto" panose="02000000000000000000" pitchFamily="2" charset="0"/>
                <a:ea typeface="Roboto" panose="02000000000000000000" pitchFamily="2" charset="0"/>
              </a:endParaRPr>
            </a:p>
          </p:txBody>
        </p:sp>
        <p:sp>
          <p:nvSpPr>
            <p:cNvPr id="26" name="Text Box 15">
              <a:extLst>
                <a:ext uri="{FF2B5EF4-FFF2-40B4-BE49-F238E27FC236}">
                  <a16:creationId xmlns:a16="http://schemas.microsoft.com/office/drawing/2014/main" id="{F3634FC1-85D0-1345-9798-E603945D5D12}"/>
                </a:ext>
              </a:extLst>
            </p:cNvPr>
            <p:cNvSpPr txBox="1">
              <a:spLocks noChangeArrowheads="1"/>
            </p:cNvSpPr>
            <p:nvPr/>
          </p:nvSpPr>
          <p:spPr bwMode="auto">
            <a:xfrm>
              <a:off x="6932669" y="5859872"/>
              <a:ext cx="6543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PDCA</a:t>
              </a:r>
            </a:p>
          </p:txBody>
        </p:sp>
      </p:grpSp>
      <p:sp>
        <p:nvSpPr>
          <p:cNvPr id="29" name="AutoShape 14">
            <a:extLst>
              <a:ext uri="{FF2B5EF4-FFF2-40B4-BE49-F238E27FC236}">
                <a16:creationId xmlns:a16="http://schemas.microsoft.com/office/drawing/2014/main" id="{90125237-DE6B-C652-CB87-DF46355C6F7C}"/>
              </a:ext>
            </a:extLst>
          </p:cNvPr>
          <p:cNvSpPr>
            <a:spLocks noChangeArrowheads="1"/>
          </p:cNvSpPr>
          <p:nvPr/>
        </p:nvSpPr>
        <p:spPr bwMode="auto">
          <a:xfrm rot="12383472">
            <a:off x="4719295" y="4297351"/>
            <a:ext cx="1458454" cy="10969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1"/>
          </a:solidFill>
          <a:ln w="12700" cap="sq">
            <a:solidFill>
              <a:schemeClr val="tx1"/>
            </a:solidFill>
            <a:miter lim="800000"/>
            <a:headEnd type="none" w="sm" len="sm"/>
            <a:tailEnd type="none" w="sm" len="sm"/>
          </a:ln>
        </p:spPr>
        <p:txBody>
          <a:bodyPr wrap="none" anchor="ctr"/>
          <a:lstStyle/>
          <a:p>
            <a:endParaRPr lang="en-US">
              <a:latin typeface="Roboto" panose="02000000000000000000" pitchFamily="2" charset="0"/>
              <a:ea typeface="Roboto" panose="02000000000000000000" pitchFamily="2" charset="0"/>
            </a:endParaRPr>
          </a:p>
        </p:txBody>
      </p:sp>
      <p:sp>
        <p:nvSpPr>
          <p:cNvPr id="30" name="Text Box 15">
            <a:extLst>
              <a:ext uri="{FF2B5EF4-FFF2-40B4-BE49-F238E27FC236}">
                <a16:creationId xmlns:a16="http://schemas.microsoft.com/office/drawing/2014/main" id="{D405E01F-347A-90A7-7B43-7FF26DA7D525}"/>
              </a:ext>
            </a:extLst>
          </p:cNvPr>
          <p:cNvSpPr txBox="1">
            <a:spLocks noChangeArrowheads="1"/>
          </p:cNvSpPr>
          <p:nvPr/>
        </p:nvSpPr>
        <p:spPr bwMode="auto">
          <a:xfrm>
            <a:off x="5322280" y="5123637"/>
            <a:ext cx="6543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PDCA</a:t>
            </a:r>
          </a:p>
        </p:txBody>
      </p:sp>
      <p:sp>
        <p:nvSpPr>
          <p:cNvPr id="31" name="AutoShape 14">
            <a:extLst>
              <a:ext uri="{FF2B5EF4-FFF2-40B4-BE49-F238E27FC236}">
                <a16:creationId xmlns:a16="http://schemas.microsoft.com/office/drawing/2014/main" id="{23ED96CB-E540-2F44-1CC3-4D1EA08CAA43}"/>
              </a:ext>
            </a:extLst>
          </p:cNvPr>
          <p:cNvSpPr>
            <a:spLocks noChangeArrowheads="1"/>
          </p:cNvSpPr>
          <p:nvPr/>
        </p:nvSpPr>
        <p:spPr bwMode="auto">
          <a:xfrm rot="12383472">
            <a:off x="3108906" y="3481893"/>
            <a:ext cx="1458454" cy="10969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1"/>
          </a:solidFill>
          <a:ln w="12700" cap="sq">
            <a:solidFill>
              <a:schemeClr val="tx1"/>
            </a:solidFill>
            <a:miter lim="800000"/>
            <a:headEnd type="none" w="sm" len="sm"/>
            <a:tailEnd type="none" w="sm" len="sm"/>
          </a:ln>
        </p:spPr>
        <p:txBody>
          <a:bodyPr wrap="none" anchor="ctr"/>
          <a:lstStyle/>
          <a:p>
            <a:endParaRPr lang="en-US">
              <a:latin typeface="Roboto" panose="02000000000000000000" pitchFamily="2" charset="0"/>
              <a:ea typeface="Roboto" panose="02000000000000000000" pitchFamily="2" charset="0"/>
            </a:endParaRPr>
          </a:p>
        </p:txBody>
      </p:sp>
      <p:sp>
        <p:nvSpPr>
          <p:cNvPr id="32" name="Text Box 15">
            <a:extLst>
              <a:ext uri="{FF2B5EF4-FFF2-40B4-BE49-F238E27FC236}">
                <a16:creationId xmlns:a16="http://schemas.microsoft.com/office/drawing/2014/main" id="{53D4403C-6578-58AE-D68D-B96D8395633E}"/>
              </a:ext>
            </a:extLst>
          </p:cNvPr>
          <p:cNvSpPr txBox="1">
            <a:spLocks noChangeArrowheads="1"/>
          </p:cNvSpPr>
          <p:nvPr/>
        </p:nvSpPr>
        <p:spPr bwMode="auto">
          <a:xfrm>
            <a:off x="3711891" y="4308179"/>
            <a:ext cx="6543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PDCA</a:t>
            </a:r>
          </a:p>
        </p:txBody>
      </p:sp>
      <p:sp>
        <p:nvSpPr>
          <p:cNvPr id="33" name="AutoShape 14">
            <a:extLst>
              <a:ext uri="{FF2B5EF4-FFF2-40B4-BE49-F238E27FC236}">
                <a16:creationId xmlns:a16="http://schemas.microsoft.com/office/drawing/2014/main" id="{05E5B1B6-6B13-4898-6B49-4BF4F46AD507}"/>
              </a:ext>
            </a:extLst>
          </p:cNvPr>
          <p:cNvSpPr>
            <a:spLocks noChangeArrowheads="1"/>
          </p:cNvSpPr>
          <p:nvPr/>
        </p:nvSpPr>
        <p:spPr bwMode="auto">
          <a:xfrm rot="12383472">
            <a:off x="1367247" y="2718947"/>
            <a:ext cx="1458454" cy="109696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399" y="11090"/>
                  <a:pt x="5423" y="11381"/>
                  <a:pt x="5470" y="11668"/>
                </a:cubicBezTo>
                <a:lnTo>
                  <a:pt x="140" y="12536"/>
                </a:lnTo>
                <a:cubicBezTo>
                  <a:pt x="46" y="11962"/>
                  <a:pt x="0" y="11381"/>
                  <a:pt x="0" y="10800"/>
                </a:cubicBezTo>
                <a:cubicBezTo>
                  <a:pt x="0" y="4835"/>
                  <a:pt x="4835" y="0"/>
                  <a:pt x="10800" y="0"/>
                </a:cubicBezTo>
                <a:cubicBezTo>
                  <a:pt x="16764" y="-1"/>
                  <a:pt x="21599" y="4835"/>
                  <a:pt x="21600" y="10799"/>
                </a:cubicBezTo>
                <a:lnTo>
                  <a:pt x="21600" y="10800"/>
                </a:lnTo>
                <a:lnTo>
                  <a:pt x="24300" y="10800"/>
                </a:lnTo>
                <a:lnTo>
                  <a:pt x="18900" y="16200"/>
                </a:lnTo>
                <a:lnTo>
                  <a:pt x="13500" y="10800"/>
                </a:lnTo>
                <a:lnTo>
                  <a:pt x="16200" y="10800"/>
                </a:lnTo>
                <a:close/>
              </a:path>
            </a:pathLst>
          </a:custGeom>
          <a:solidFill>
            <a:schemeClr val="tx1"/>
          </a:solidFill>
          <a:ln w="12700" cap="sq">
            <a:solidFill>
              <a:schemeClr val="tx1"/>
            </a:solidFill>
            <a:miter lim="800000"/>
            <a:headEnd type="none" w="sm" len="sm"/>
            <a:tailEnd type="none" w="sm" len="sm"/>
          </a:ln>
        </p:spPr>
        <p:txBody>
          <a:bodyPr wrap="none" anchor="ctr"/>
          <a:lstStyle/>
          <a:p>
            <a:endParaRPr lang="en-US">
              <a:latin typeface="Roboto" panose="02000000000000000000" pitchFamily="2" charset="0"/>
              <a:ea typeface="Roboto" panose="02000000000000000000" pitchFamily="2" charset="0"/>
            </a:endParaRPr>
          </a:p>
        </p:txBody>
      </p:sp>
      <p:sp>
        <p:nvSpPr>
          <p:cNvPr id="34" name="Text Box 15">
            <a:extLst>
              <a:ext uri="{FF2B5EF4-FFF2-40B4-BE49-F238E27FC236}">
                <a16:creationId xmlns:a16="http://schemas.microsoft.com/office/drawing/2014/main" id="{79FC6580-BEB4-D052-A236-0A02A8498034}"/>
              </a:ext>
            </a:extLst>
          </p:cNvPr>
          <p:cNvSpPr txBox="1">
            <a:spLocks noChangeArrowheads="1"/>
          </p:cNvSpPr>
          <p:nvPr/>
        </p:nvSpPr>
        <p:spPr bwMode="auto">
          <a:xfrm>
            <a:off x="1970232" y="3545233"/>
            <a:ext cx="6543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PDCA</a:t>
            </a:r>
          </a:p>
        </p:txBody>
      </p:sp>
    </p:spTree>
    <p:extLst>
      <p:ext uri="{BB962C8B-B14F-4D97-AF65-F5344CB8AC3E}">
        <p14:creationId xmlns:p14="http://schemas.microsoft.com/office/powerpoint/2010/main" val="1056214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4000" dirty="0"/>
              <a:t>Value Stream Map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3" name="Group 2">
            <a:extLst>
              <a:ext uri="{FF2B5EF4-FFF2-40B4-BE49-F238E27FC236}">
                <a16:creationId xmlns:a16="http://schemas.microsoft.com/office/drawing/2014/main" id="{0CD6DAF5-5B13-86A5-D410-DCA2FED1B0A1}"/>
              </a:ext>
            </a:extLst>
          </p:cNvPr>
          <p:cNvGrpSpPr/>
          <p:nvPr/>
        </p:nvGrpSpPr>
        <p:grpSpPr>
          <a:xfrm>
            <a:off x="838200" y="297639"/>
            <a:ext cx="3845560" cy="307138"/>
            <a:chOff x="838200" y="297639"/>
            <a:chExt cx="3845560" cy="307138"/>
          </a:xfrm>
        </p:grpSpPr>
        <p:grpSp>
          <p:nvGrpSpPr>
            <p:cNvPr id="5" name="Group 4">
              <a:extLst>
                <a:ext uri="{FF2B5EF4-FFF2-40B4-BE49-F238E27FC236}">
                  <a16:creationId xmlns:a16="http://schemas.microsoft.com/office/drawing/2014/main" id="{9D3E63CB-2A58-598D-4902-EFC56DE8B17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18CA50D-2036-695D-CE15-83A2F30D72F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EE4AF0-3346-1926-C898-50460814AEB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E7891C7-BEA8-11B7-96FB-21DF03916AE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1D26AA2-643E-AAD5-A3C3-8B863B314E9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D0CF57B2-B942-50F0-DE28-93EC3ABAB1EC}"/>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1D6AB867-6172-B589-7246-888A9F95F40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2C6B04C-8ECB-A059-8C6F-CBAE5D97099C}"/>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grpSp>
        <p:nvGrpSpPr>
          <p:cNvPr id="21" name="Group 20">
            <a:extLst>
              <a:ext uri="{FF2B5EF4-FFF2-40B4-BE49-F238E27FC236}">
                <a16:creationId xmlns:a16="http://schemas.microsoft.com/office/drawing/2014/main" id="{3E32C532-CA54-4CA7-CF95-AFB15433E341}"/>
              </a:ext>
            </a:extLst>
          </p:cNvPr>
          <p:cNvGrpSpPr/>
          <p:nvPr/>
        </p:nvGrpSpPr>
        <p:grpSpPr>
          <a:xfrm>
            <a:off x="1963738" y="1701257"/>
            <a:ext cx="8264525" cy="4702175"/>
            <a:chOff x="2092900" y="1701257"/>
            <a:chExt cx="8264525" cy="4702175"/>
          </a:xfrm>
        </p:grpSpPr>
        <p:pic>
          <p:nvPicPr>
            <p:cNvPr id="18" name="Picture 15">
              <a:extLst>
                <a:ext uri="{FF2B5EF4-FFF2-40B4-BE49-F238E27FC236}">
                  <a16:creationId xmlns:a16="http://schemas.microsoft.com/office/drawing/2014/main" id="{6B32C0CC-A027-8087-8C0F-DE209AE75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2900" y="1701257"/>
              <a:ext cx="8264525"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9" name="Content Placeholder 5">
              <a:extLst>
                <a:ext uri="{FF2B5EF4-FFF2-40B4-BE49-F238E27FC236}">
                  <a16:creationId xmlns:a16="http://schemas.microsoft.com/office/drawing/2014/main" id="{E5CD3BED-37EE-3FC8-2C10-A7D11C882467}"/>
                </a:ext>
              </a:extLst>
            </p:cNvPr>
            <p:cNvSpPr txBox="1">
              <a:spLocks noChangeArrowheads="1"/>
            </p:cNvSpPr>
            <p:nvPr/>
          </p:nvSpPr>
          <p:spPr>
            <a:xfrm>
              <a:off x="2348487" y="1983832"/>
              <a:ext cx="2249488" cy="904875"/>
            </a:xfrm>
            <a:prstGeom prst="rect">
              <a:avLst/>
            </a:prstGeom>
            <a:solidFill>
              <a:schemeClr val="accent4"/>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anose="05000000000000000000" pitchFamily="2" charset="2"/>
                <a:buNone/>
              </a:pPr>
              <a:r>
                <a:rPr lang="en-GB" altLang="en-US" sz="1600" dirty="0">
                  <a:solidFill>
                    <a:schemeClr val="bg1"/>
                  </a:solidFill>
                </a:rPr>
                <a:t>Business Level </a:t>
              </a:r>
              <a:r>
                <a:rPr lang="en-GB" altLang="en-US" sz="1600" dirty="0" err="1">
                  <a:solidFill>
                    <a:schemeClr val="bg1"/>
                  </a:solidFill>
                </a:rPr>
                <a:t>VSMi</a:t>
              </a:r>
              <a:br>
                <a:rPr lang="en-GB" altLang="en-US" sz="1600" dirty="0">
                  <a:solidFill>
                    <a:schemeClr val="bg1"/>
                  </a:solidFill>
                </a:rPr>
              </a:br>
              <a:r>
                <a:rPr lang="en-GB" altLang="en-US" sz="1600" dirty="0">
                  <a:solidFill>
                    <a:schemeClr val="bg1"/>
                  </a:solidFill>
                </a:rPr>
                <a:t>Highlighting Project Opportunities</a:t>
              </a:r>
            </a:p>
          </p:txBody>
        </p:sp>
      </p:grpSp>
    </p:spTree>
    <p:extLst>
      <p:ext uri="{BB962C8B-B14F-4D97-AF65-F5344CB8AC3E}">
        <p14:creationId xmlns:p14="http://schemas.microsoft.com/office/powerpoint/2010/main" val="958511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4000" dirty="0"/>
              <a:t>Cost of Quality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3" name="Group 2">
            <a:extLst>
              <a:ext uri="{FF2B5EF4-FFF2-40B4-BE49-F238E27FC236}">
                <a16:creationId xmlns:a16="http://schemas.microsoft.com/office/drawing/2014/main" id="{0CD6DAF5-5B13-86A5-D410-DCA2FED1B0A1}"/>
              </a:ext>
            </a:extLst>
          </p:cNvPr>
          <p:cNvGrpSpPr/>
          <p:nvPr/>
        </p:nvGrpSpPr>
        <p:grpSpPr>
          <a:xfrm>
            <a:off x="838200" y="297639"/>
            <a:ext cx="3845560" cy="307138"/>
            <a:chOff x="838200" y="297639"/>
            <a:chExt cx="3845560" cy="307138"/>
          </a:xfrm>
        </p:grpSpPr>
        <p:grpSp>
          <p:nvGrpSpPr>
            <p:cNvPr id="5" name="Group 4">
              <a:extLst>
                <a:ext uri="{FF2B5EF4-FFF2-40B4-BE49-F238E27FC236}">
                  <a16:creationId xmlns:a16="http://schemas.microsoft.com/office/drawing/2014/main" id="{9D3E63CB-2A58-598D-4902-EFC56DE8B171}"/>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18CA50D-2036-695D-CE15-83A2F30D72F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EE4AF0-3346-1926-C898-50460814AEB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E7891C7-BEA8-11B7-96FB-21DF03916AEB}"/>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51D26AA2-643E-AAD5-A3C3-8B863B314E92}"/>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1">
                  <a:extLst>
                    <a:ext uri="{FF2B5EF4-FFF2-40B4-BE49-F238E27FC236}">
                      <a16:creationId xmlns:a16="http://schemas.microsoft.com/office/drawing/2014/main" id="{D0CF57B2-B942-50F0-DE28-93EC3ABAB1EC}"/>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1D6AB867-6172-B589-7246-888A9F95F40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F2C6B04C-8ECB-A059-8C6F-CBAE5D97099C}"/>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
        <p:nvSpPr>
          <p:cNvPr id="13" name="Content Placeholder 2">
            <a:extLst>
              <a:ext uri="{FF2B5EF4-FFF2-40B4-BE49-F238E27FC236}">
                <a16:creationId xmlns:a16="http://schemas.microsoft.com/office/drawing/2014/main" id="{298A7F15-7453-072B-6925-9984727AFD54}"/>
              </a:ext>
            </a:extLst>
          </p:cNvPr>
          <p:cNvSpPr txBox="1">
            <a:spLocks noChangeArrowheads="1"/>
          </p:cNvSpPr>
          <p:nvPr/>
        </p:nvSpPr>
        <p:spPr>
          <a:xfrm>
            <a:off x="1313879" y="1744663"/>
            <a:ext cx="4005263"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en-US" sz="2400" dirty="0"/>
              <a:t>Classical cost of quality categories</a:t>
            </a:r>
          </a:p>
          <a:p>
            <a:r>
              <a:rPr lang="en-GB" altLang="en-US" sz="2400" dirty="0"/>
              <a:t>Visible costs are usually much less than less visible costs</a:t>
            </a:r>
          </a:p>
        </p:txBody>
      </p:sp>
      <p:graphicFrame>
        <p:nvGraphicFramePr>
          <p:cNvPr id="14" name="Table 13">
            <a:extLst>
              <a:ext uri="{FF2B5EF4-FFF2-40B4-BE49-F238E27FC236}">
                <a16:creationId xmlns:a16="http://schemas.microsoft.com/office/drawing/2014/main" id="{B9D17A84-7C3F-EC82-10B2-C1247A79A98E}"/>
              </a:ext>
            </a:extLst>
          </p:cNvPr>
          <p:cNvGraphicFramePr>
            <a:graphicFrameLocks noGrp="1"/>
          </p:cNvGraphicFramePr>
          <p:nvPr>
            <p:extLst>
              <p:ext uri="{D42A27DB-BD31-4B8C-83A1-F6EECF244321}">
                <p14:modId xmlns:p14="http://schemas.microsoft.com/office/powerpoint/2010/main" val="484348045"/>
              </p:ext>
            </p:extLst>
          </p:nvPr>
        </p:nvGraphicFramePr>
        <p:xfrm>
          <a:off x="1271017" y="3673476"/>
          <a:ext cx="3905250" cy="2493964"/>
        </p:xfrm>
        <a:graphic>
          <a:graphicData uri="http://schemas.openxmlformats.org/drawingml/2006/table">
            <a:tbl>
              <a:tblPr/>
              <a:tblGrid>
                <a:gridCol w="1643062">
                  <a:extLst>
                    <a:ext uri="{9D8B030D-6E8A-4147-A177-3AD203B41FA5}">
                      <a16:colId xmlns:a16="http://schemas.microsoft.com/office/drawing/2014/main" val="20000"/>
                    </a:ext>
                  </a:extLst>
                </a:gridCol>
                <a:gridCol w="2262188">
                  <a:extLst>
                    <a:ext uri="{9D8B030D-6E8A-4147-A177-3AD203B41FA5}">
                      <a16:colId xmlns:a16="http://schemas.microsoft.com/office/drawing/2014/main" val="20001"/>
                    </a:ext>
                  </a:extLst>
                </a:gridCol>
              </a:tblGrid>
              <a:tr h="64006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dirty="0">
                          <a:ln>
                            <a:noFill/>
                          </a:ln>
                          <a:solidFill>
                            <a:srgbClr val="FFFFFF"/>
                          </a:solidFill>
                          <a:effectLst/>
                          <a:latin typeface="Roboto" panose="02000000000000000000" pitchFamily="2" charset="0"/>
                          <a:ea typeface="Roboto" panose="02000000000000000000" pitchFamily="2" charset="0"/>
                        </a:rPr>
                        <a:t>Cost of quality</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1" i="0" u="none" strike="noStrike" cap="none" normalizeH="0" baseline="0" dirty="0">
                          <a:ln>
                            <a:noFill/>
                          </a:ln>
                          <a:solidFill>
                            <a:srgbClr val="FFFFFF"/>
                          </a:solidFill>
                          <a:effectLst/>
                          <a:latin typeface="Roboto" panose="02000000000000000000" pitchFamily="2" charset="0"/>
                          <a:ea typeface="Roboto" panose="02000000000000000000" pitchFamily="2" charset="0"/>
                        </a:rPr>
                        <a:t>Ranking</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1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Roboto" panose="02000000000000000000" pitchFamily="2" charset="0"/>
                          <a:ea typeface="Roboto" panose="02000000000000000000" pitchFamily="2" charset="0"/>
                        </a:rPr>
                        <a:t>30-40%</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Uncompetitive</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3698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Roboto" panose="02000000000000000000" pitchFamily="2" charset="0"/>
                          <a:ea typeface="Roboto" panose="02000000000000000000" pitchFamily="2" charset="0"/>
                        </a:rPr>
                        <a:t>20-30%</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Poor</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1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Roboto" panose="02000000000000000000" pitchFamily="2" charset="0"/>
                          <a:ea typeface="Roboto" panose="02000000000000000000" pitchFamily="2" charset="0"/>
                        </a:rPr>
                        <a:t>15-20%</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Industry average</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37141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Roboto" panose="02000000000000000000" pitchFamily="2" charset="0"/>
                          <a:ea typeface="Roboto" panose="02000000000000000000" pitchFamily="2" charset="0"/>
                        </a:rPr>
                        <a:t>10-15%</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Good</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6982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a:ln>
                            <a:noFill/>
                          </a:ln>
                          <a:solidFill>
                            <a:srgbClr val="000000"/>
                          </a:solidFill>
                          <a:effectLst/>
                          <a:latin typeface="Roboto" panose="02000000000000000000" pitchFamily="2" charset="0"/>
                          <a:ea typeface="Roboto" panose="02000000000000000000" pitchFamily="2" charset="0"/>
                        </a:rPr>
                        <a:t>&lt;10%</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World class</a:t>
                      </a:r>
                    </a:p>
                  </a:txBody>
                  <a:tcPr marT="45713" marB="4571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bl>
          </a:graphicData>
        </a:graphic>
      </p:graphicFrame>
      <p:pic>
        <p:nvPicPr>
          <p:cNvPr id="15" name="Picture 62">
            <a:extLst>
              <a:ext uri="{FF2B5EF4-FFF2-40B4-BE49-F238E27FC236}">
                <a16:creationId xmlns:a16="http://schemas.microsoft.com/office/drawing/2014/main" id="{4F995FD8-CE59-AC1F-E6D7-B150D57DD4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2374" y="2180737"/>
            <a:ext cx="4333875" cy="366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9375572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GB" altLang="en-US" dirty="0"/>
              <a:t>Customer Journey</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altLang="en-US" dirty="0"/>
              <a:t>Can be carried out with Focus Groups or staff</a:t>
            </a:r>
          </a:p>
          <a:p>
            <a:r>
              <a:rPr lang="en-US" altLang="en-US" dirty="0"/>
              <a:t>Method</a:t>
            </a:r>
          </a:p>
          <a:p>
            <a:pPr lvl="1"/>
            <a:r>
              <a:rPr lang="en-US" altLang="en-US" dirty="0"/>
              <a:t>participants to imagine they are living the journey the customer takes through the life cycle of the product /service</a:t>
            </a:r>
          </a:p>
          <a:p>
            <a:pPr lvl="1"/>
            <a:r>
              <a:rPr lang="en-US" altLang="en-US" dirty="0"/>
              <a:t>decide on major steps in the journey and customer needs &amp; wants at each step</a:t>
            </a:r>
          </a:p>
          <a:p>
            <a:pPr lvl="1"/>
            <a:r>
              <a:rPr lang="en-US" altLang="en-US" dirty="0"/>
              <a:t>rate the perceived performance  of the company on Likert scale (poor to great 1-5 </a:t>
            </a:r>
            <a:r>
              <a:rPr lang="en-US" altLang="en-US" dirty="0" err="1"/>
              <a:t>etc</a:t>
            </a:r>
            <a:r>
              <a:rPr lang="en-US" altLang="en-US" dirty="0"/>
              <a:t>) for each need &amp; want</a:t>
            </a:r>
          </a:p>
          <a:p>
            <a:pPr lvl="1"/>
            <a:r>
              <a:rPr lang="en-US" altLang="en-US" dirty="0"/>
              <a:t>categorize needs/wants as:</a:t>
            </a:r>
          </a:p>
          <a:p>
            <a:pPr lvl="2"/>
            <a:r>
              <a:rPr lang="en-US" altLang="en-US" dirty="0"/>
              <a:t>attractor point – likely to attract customer</a:t>
            </a:r>
          </a:p>
          <a:p>
            <a:pPr lvl="2"/>
            <a:r>
              <a:rPr lang="en-US" altLang="en-US" dirty="0"/>
              <a:t>voting point – likely to encourage customer to stay or ‘walk away’</a:t>
            </a:r>
          </a:p>
          <a:p>
            <a:pPr lvl="2"/>
            <a:r>
              <a:rPr lang="en-US" altLang="en-US" dirty="0"/>
              <a:t>moment of truth – likely to make a customer proactively promote you</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4" name="Image" descr="Image">
            <a:extLst>
              <a:ext uri="{FF2B5EF4-FFF2-40B4-BE49-F238E27FC236}">
                <a16:creationId xmlns:a16="http://schemas.microsoft.com/office/drawing/2014/main" id="{9BF7DB43-98B4-B002-7C78-5866714C195E}"/>
              </a:ext>
            </a:extLst>
          </p:cNvPr>
          <p:cNvPicPr>
            <a:picLocks noChangeAspect="1"/>
          </p:cNvPicPr>
          <p:nvPr/>
        </p:nvPicPr>
        <p:blipFill>
          <a:blip r:embed="rId3"/>
          <a:stretch>
            <a:fillRect/>
          </a:stretch>
        </p:blipFill>
        <p:spPr>
          <a:xfrm>
            <a:off x="1714294" y="5015837"/>
            <a:ext cx="262483" cy="262483"/>
          </a:xfrm>
          <a:prstGeom prst="rect">
            <a:avLst/>
          </a:prstGeom>
          <a:solidFill>
            <a:schemeClr val="bg1"/>
          </a:solidFill>
          <a:ln w="12700" cap="flat">
            <a:noFill/>
            <a:miter lim="400000"/>
          </a:ln>
          <a:effectLst/>
        </p:spPr>
      </p:pic>
      <p:pic>
        <p:nvPicPr>
          <p:cNvPr id="6" name="Image" descr="Image">
            <a:extLst>
              <a:ext uri="{FF2B5EF4-FFF2-40B4-BE49-F238E27FC236}">
                <a16:creationId xmlns:a16="http://schemas.microsoft.com/office/drawing/2014/main" id="{2DB7B667-A2AA-DB92-10F8-342DFF80FA97}"/>
              </a:ext>
            </a:extLst>
          </p:cNvPr>
          <p:cNvPicPr>
            <a:picLocks noChangeAspect="1"/>
          </p:cNvPicPr>
          <p:nvPr/>
        </p:nvPicPr>
        <p:blipFill>
          <a:blip r:embed="rId4"/>
          <a:stretch>
            <a:fillRect/>
          </a:stretch>
        </p:blipFill>
        <p:spPr>
          <a:xfrm>
            <a:off x="1714294" y="5336988"/>
            <a:ext cx="262489" cy="254407"/>
          </a:xfrm>
          <a:prstGeom prst="rect">
            <a:avLst/>
          </a:prstGeom>
          <a:solidFill>
            <a:schemeClr val="bg1"/>
          </a:solidFill>
          <a:ln w="12700" cap="flat">
            <a:noFill/>
            <a:miter lim="400000"/>
          </a:ln>
          <a:effectLst/>
        </p:spPr>
      </p:pic>
      <p:pic>
        <p:nvPicPr>
          <p:cNvPr id="7" name="Image" descr="Image">
            <a:extLst>
              <a:ext uri="{FF2B5EF4-FFF2-40B4-BE49-F238E27FC236}">
                <a16:creationId xmlns:a16="http://schemas.microsoft.com/office/drawing/2014/main" id="{2B463CC4-9518-6479-666A-E8DEB39AB2FA}"/>
              </a:ext>
            </a:extLst>
          </p:cNvPr>
          <p:cNvPicPr>
            <a:picLocks noChangeAspect="1"/>
          </p:cNvPicPr>
          <p:nvPr/>
        </p:nvPicPr>
        <p:blipFill>
          <a:blip r:embed="rId5"/>
          <a:stretch>
            <a:fillRect/>
          </a:stretch>
        </p:blipFill>
        <p:spPr>
          <a:xfrm>
            <a:off x="1714294" y="5654003"/>
            <a:ext cx="262482" cy="230175"/>
          </a:xfrm>
          <a:prstGeom prst="rect">
            <a:avLst/>
          </a:prstGeom>
          <a:solidFill>
            <a:schemeClr val="bg1"/>
          </a:solidFill>
          <a:ln w="12700" cap="flat">
            <a:noFill/>
            <a:miter lim="400000"/>
          </a:ln>
          <a:effectLst/>
        </p:spPr>
      </p:pic>
    </p:spTree>
    <p:extLst>
      <p:ext uri="{BB962C8B-B14F-4D97-AF65-F5344CB8AC3E}">
        <p14:creationId xmlns:p14="http://schemas.microsoft.com/office/powerpoint/2010/main" val="488705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GB" altLang="en-US" dirty="0"/>
              <a:t>Voice Of Customer</a:t>
            </a:r>
            <a:endParaRPr lang="en-US" dirty="0"/>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normAutofit fontScale="92500" lnSpcReduction="20000"/>
          </a:bodyPr>
          <a:lstStyle/>
          <a:p>
            <a:pPr eaLnBrk="1" hangingPunct="1"/>
            <a:r>
              <a:rPr lang="en-GB" altLang="en-US" dirty="0"/>
              <a:t>Listening to customer needs and wants (external &amp; internal)</a:t>
            </a:r>
          </a:p>
          <a:p>
            <a:pPr eaLnBrk="1" hangingPunct="1">
              <a:spcAft>
                <a:spcPts val="600"/>
              </a:spcAft>
            </a:pPr>
            <a:r>
              <a:rPr lang="en-GB" altLang="en-US" dirty="0"/>
              <a:t>Internal feedback</a:t>
            </a:r>
          </a:p>
          <a:p>
            <a:pPr lvl="1" eaLnBrk="1" hangingPunct="1">
              <a:spcBef>
                <a:spcPts val="200"/>
              </a:spcBef>
              <a:spcAft>
                <a:spcPts val="200"/>
              </a:spcAft>
            </a:pPr>
            <a:r>
              <a:rPr lang="en-GB" altLang="en-US" dirty="0"/>
              <a:t>Engineering Change log</a:t>
            </a:r>
          </a:p>
          <a:p>
            <a:pPr lvl="1" eaLnBrk="1" hangingPunct="1">
              <a:spcBef>
                <a:spcPts val="200"/>
              </a:spcBef>
              <a:spcAft>
                <a:spcPts val="200"/>
              </a:spcAft>
            </a:pPr>
            <a:r>
              <a:rPr lang="en-GB" altLang="en-US" dirty="0"/>
              <a:t>Concession notes</a:t>
            </a:r>
          </a:p>
          <a:p>
            <a:pPr lvl="1" eaLnBrk="1" hangingPunct="1">
              <a:spcBef>
                <a:spcPts val="200"/>
              </a:spcBef>
              <a:spcAft>
                <a:spcPts val="200"/>
              </a:spcAft>
            </a:pPr>
            <a:r>
              <a:rPr lang="en-GB" altLang="en-US" dirty="0"/>
              <a:t>Cost of Quality</a:t>
            </a:r>
          </a:p>
          <a:p>
            <a:pPr eaLnBrk="1" hangingPunct="1">
              <a:spcAft>
                <a:spcPts val="600"/>
              </a:spcAft>
            </a:pPr>
            <a:r>
              <a:rPr lang="en-GB" altLang="en-US" dirty="0"/>
              <a:t>Customer feedback</a:t>
            </a:r>
          </a:p>
          <a:p>
            <a:pPr lvl="1" eaLnBrk="1" hangingPunct="1">
              <a:spcBef>
                <a:spcPts val="200"/>
              </a:spcBef>
              <a:spcAft>
                <a:spcPts val="200"/>
              </a:spcAft>
            </a:pPr>
            <a:r>
              <a:rPr lang="en-GB" altLang="en-US" dirty="0"/>
              <a:t>surveys</a:t>
            </a:r>
          </a:p>
          <a:p>
            <a:pPr lvl="1" eaLnBrk="1" hangingPunct="1">
              <a:spcBef>
                <a:spcPts val="200"/>
              </a:spcBef>
              <a:spcAft>
                <a:spcPts val="200"/>
              </a:spcAft>
            </a:pPr>
            <a:r>
              <a:rPr lang="en-GB" altLang="en-US" dirty="0"/>
              <a:t>feedback forms</a:t>
            </a:r>
          </a:p>
          <a:p>
            <a:pPr lvl="1" eaLnBrk="1" hangingPunct="1">
              <a:spcBef>
                <a:spcPts val="200"/>
              </a:spcBef>
              <a:spcAft>
                <a:spcPts val="200"/>
              </a:spcAft>
            </a:pPr>
            <a:r>
              <a:rPr lang="en-GB" altLang="en-US" dirty="0"/>
              <a:t>focus groups</a:t>
            </a:r>
          </a:p>
          <a:p>
            <a:pPr eaLnBrk="1" hangingPunct="1"/>
            <a:r>
              <a:rPr lang="en-GB" altLang="en-US" dirty="0"/>
              <a:t>Specifications</a:t>
            </a:r>
          </a:p>
          <a:p>
            <a:pPr eaLnBrk="1" hangingPunct="1"/>
            <a:r>
              <a:rPr lang="en-GB" altLang="en-US" dirty="0"/>
              <a:t>Standards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5" name="Group 4">
            <a:extLst>
              <a:ext uri="{FF2B5EF4-FFF2-40B4-BE49-F238E27FC236}">
                <a16:creationId xmlns:a16="http://schemas.microsoft.com/office/drawing/2014/main" id="{457CA0F3-73CA-F6EC-9CC5-84DEA34AF1B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DD01381-EC63-AE12-9839-90FE63EA67AA}"/>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6149C9A-5C99-1D3D-6D70-3FDE1E18E57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F1E3309-D57B-61C1-E9DD-3F8BD7D3750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C625C07-16DC-28C4-D316-EE6832813A4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08886E6F-CBD9-F5AA-CAD6-60CB6B542C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4BE94C6-A3E7-90D4-87F9-D492D52412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941510E9-FD3F-972B-E971-C117FDAC790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6AFCF66A-06B8-3FDB-6FF0-10C8E5317653}"/>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15" name="Picture 2" descr="C:\Users\Administrator\Pictures\My Pictures\ALIBRARY\Bought Stock\iStock_000005140774XSmall.jpg">
            <a:extLst>
              <a:ext uri="{FF2B5EF4-FFF2-40B4-BE49-F238E27FC236}">
                <a16:creationId xmlns:a16="http://schemas.microsoft.com/office/drawing/2014/main" id="{03337C26-D618-46C8-864E-0302132F583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438900" y="2287026"/>
            <a:ext cx="5181600" cy="3438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16308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GB" altLang="en-US" dirty="0"/>
              <a:t>Review VOC</a:t>
            </a: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44</a:t>
            </a:fld>
            <a:endParaRPr lang="en-US"/>
          </a:p>
        </p:txBody>
      </p:sp>
      <p:grpSp>
        <p:nvGrpSpPr>
          <p:cNvPr id="5" name="Group 4">
            <a:extLst>
              <a:ext uri="{FF2B5EF4-FFF2-40B4-BE49-F238E27FC236}">
                <a16:creationId xmlns:a16="http://schemas.microsoft.com/office/drawing/2014/main" id="{457CA0F3-73CA-F6EC-9CC5-84DEA34AF1B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DD01381-EC63-AE12-9839-90FE63EA67AA}"/>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6149C9A-5C99-1D3D-6D70-3FDE1E18E57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F1E3309-D57B-61C1-E9DD-3F8BD7D3750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C625C07-16DC-28C4-D316-EE6832813A4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08886E6F-CBD9-F5AA-CAD6-60CB6B542C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4BE94C6-A3E7-90D4-87F9-D492D52412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941510E9-FD3F-972B-E971-C117FDAC790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6AFCF66A-06B8-3FDB-6FF0-10C8E5317653}"/>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
        <p:nvSpPr>
          <p:cNvPr id="4" name="Content Placeholder 3">
            <a:extLst>
              <a:ext uri="{FF2B5EF4-FFF2-40B4-BE49-F238E27FC236}">
                <a16:creationId xmlns:a16="http://schemas.microsoft.com/office/drawing/2014/main" id="{B17C02C7-BC41-0960-C471-7DDB420B43A2}"/>
              </a:ext>
            </a:extLst>
          </p:cNvPr>
          <p:cNvSpPr>
            <a:spLocks noGrp="1"/>
          </p:cNvSpPr>
          <p:nvPr>
            <p:ph sz="half" idx="2"/>
          </p:nvPr>
        </p:nvSpPr>
        <p:spPr/>
        <p:txBody>
          <a:bodyPr>
            <a:normAutofit lnSpcReduction="10000"/>
          </a:bodyPr>
          <a:lstStyle/>
          <a:p>
            <a:r>
              <a:rPr lang="en-US" altLang="en-US" dirty="0"/>
              <a:t>A detailed understanding of the customer</a:t>
            </a:r>
            <a:r>
              <a:rPr lang="ja-JP" altLang="en-US" dirty="0"/>
              <a:t>’</a:t>
            </a:r>
            <a:r>
              <a:rPr lang="en-US" altLang="ja-JP" dirty="0"/>
              <a:t>s requirements </a:t>
            </a:r>
          </a:p>
          <a:p>
            <a:r>
              <a:rPr lang="en-US" altLang="en-US" dirty="0"/>
              <a:t>A common language for the team going forward </a:t>
            </a:r>
          </a:p>
          <a:p>
            <a:r>
              <a:rPr lang="en-US" altLang="en-US" dirty="0"/>
              <a:t>Key input for the setting of appropriate design specifications for the new product or service </a:t>
            </a:r>
          </a:p>
          <a:p>
            <a:r>
              <a:rPr lang="en-US" altLang="en-US" dirty="0"/>
              <a:t>A highly useful springboard for product &amp; process innovation.</a:t>
            </a:r>
          </a:p>
        </p:txBody>
      </p:sp>
      <p:pic>
        <p:nvPicPr>
          <p:cNvPr id="16" name="Picture 4">
            <a:extLst>
              <a:ext uri="{FF2B5EF4-FFF2-40B4-BE49-F238E27FC236}">
                <a16:creationId xmlns:a16="http://schemas.microsoft.com/office/drawing/2014/main" id="{93BBBEC0-F995-1C40-9542-7A744FB771E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54608" y="1825625"/>
            <a:ext cx="4431030" cy="441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1739582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GB" altLang="en-US" dirty="0"/>
              <a:t>Project Selection Matrix</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4" name="Picture 14">
            <a:extLst>
              <a:ext uri="{FF2B5EF4-FFF2-40B4-BE49-F238E27FC236}">
                <a16:creationId xmlns:a16="http://schemas.microsoft.com/office/drawing/2014/main" id="{2634FEAF-91D9-1FC5-FF67-8B8E1FEF8D2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b="24840"/>
          <a:stretch>
            <a:fillRect/>
          </a:stretch>
        </p:blipFill>
        <p:spPr bwMode="auto">
          <a:xfrm>
            <a:off x="2271350" y="1782128"/>
            <a:ext cx="7649300" cy="4564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7519960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sz="3600" dirty="0"/>
              <a:t>Pugh Matrix – Comparative Ranking Method</a:t>
            </a:r>
            <a:endParaRPr lang="en-US" sz="36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sz="2000" dirty="0"/>
              <a:t>List projects to be evaluated across the top</a:t>
            </a:r>
          </a:p>
          <a:p>
            <a:r>
              <a:rPr lang="en-US" altLang="en-US" sz="2000" dirty="0"/>
              <a:t>List CTSs (Critical to Satisfaction)/Features down the left hand side</a:t>
            </a:r>
          </a:p>
          <a:p>
            <a:r>
              <a:rPr lang="en-US" altLang="en-US" sz="2000" dirty="0"/>
              <a:t>Rank each project against current or datum OR against each other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4" name="Picture 9">
            <a:extLst>
              <a:ext uri="{FF2B5EF4-FFF2-40B4-BE49-F238E27FC236}">
                <a16:creationId xmlns:a16="http://schemas.microsoft.com/office/drawing/2014/main" id="{4446A3A8-1152-1FD4-3BB7-4750132F9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644" y="3030220"/>
            <a:ext cx="9090712" cy="328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25496159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altLang="en-US" sz="4000" dirty="0"/>
              <a:t>Selection Grid</a:t>
            </a:r>
            <a:endParaRPr lang="en-US" sz="40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graphicFrame>
        <p:nvGraphicFramePr>
          <p:cNvPr id="11" name="Group 93">
            <a:extLst>
              <a:ext uri="{FF2B5EF4-FFF2-40B4-BE49-F238E27FC236}">
                <a16:creationId xmlns:a16="http://schemas.microsoft.com/office/drawing/2014/main" id="{8554F1A4-7838-7671-C208-9A3C47CD0457}"/>
              </a:ext>
            </a:extLst>
          </p:cNvPr>
          <p:cNvGraphicFramePr>
            <a:graphicFrameLocks noGrp="1"/>
          </p:cNvGraphicFramePr>
          <p:nvPr>
            <p:ph sz="half" idx="1"/>
            <p:extLst>
              <p:ext uri="{D42A27DB-BD31-4B8C-83A1-F6EECF244321}">
                <p14:modId xmlns:p14="http://schemas.microsoft.com/office/powerpoint/2010/main" val="2388002245"/>
              </p:ext>
            </p:extLst>
          </p:nvPr>
        </p:nvGraphicFramePr>
        <p:xfrm>
          <a:off x="502920" y="1805337"/>
          <a:ext cx="5246370" cy="4371627"/>
        </p:xfrm>
        <a:graphic>
          <a:graphicData uri="http://schemas.openxmlformats.org/drawingml/2006/table">
            <a:tbl>
              <a:tblPr/>
              <a:tblGrid>
                <a:gridCol w="1940690">
                  <a:extLst>
                    <a:ext uri="{9D8B030D-6E8A-4147-A177-3AD203B41FA5}">
                      <a16:colId xmlns:a16="http://schemas.microsoft.com/office/drawing/2014/main" val="20000"/>
                    </a:ext>
                  </a:extLst>
                </a:gridCol>
                <a:gridCol w="1682042">
                  <a:extLst>
                    <a:ext uri="{9D8B030D-6E8A-4147-A177-3AD203B41FA5}">
                      <a16:colId xmlns:a16="http://schemas.microsoft.com/office/drawing/2014/main" val="20001"/>
                    </a:ext>
                  </a:extLst>
                </a:gridCol>
                <a:gridCol w="1623638">
                  <a:extLst>
                    <a:ext uri="{9D8B030D-6E8A-4147-A177-3AD203B41FA5}">
                      <a16:colId xmlns:a16="http://schemas.microsoft.com/office/drawing/2014/main" val="20002"/>
                    </a:ext>
                  </a:extLst>
                </a:gridCol>
              </a:tblGrid>
              <a:tr h="36414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FFFFFF"/>
                          </a:solidFill>
                          <a:effectLst/>
                          <a:latin typeface="Roboto" panose="02000000000000000000" pitchFamily="2" charset="0"/>
                          <a:ea typeface="Roboto" panose="02000000000000000000" pitchFamily="2" charset="0"/>
                        </a:rPr>
                        <a:t>Axis (X, Y, Z)</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FFFFFF"/>
                          </a:solidFill>
                          <a:effectLst/>
                          <a:latin typeface="Roboto" panose="02000000000000000000" pitchFamily="2" charset="0"/>
                          <a:ea typeface="Roboto" panose="02000000000000000000" pitchFamily="2" charset="0"/>
                        </a:rPr>
                        <a:t>Lo/Bad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FFFFFF"/>
                          </a:solidFill>
                          <a:effectLst/>
                          <a:latin typeface="Roboto" panose="02000000000000000000" pitchFamily="2" charset="0"/>
                          <a:ea typeface="Roboto" panose="02000000000000000000" pitchFamily="2" charset="0"/>
                        </a:rPr>
                        <a:t>Hi/Good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511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Profit/Margin</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Poor</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Good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1"/>
                  </a:ext>
                </a:extLst>
              </a:tr>
              <a:tr h="2528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Competitive position</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Disadvantaged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Advantaged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819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Customer satisfaction</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Expected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Delighter</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3"/>
                  </a:ext>
                </a:extLst>
              </a:tr>
              <a:tr h="2528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kern="1200" cap="none" normalizeH="0" baseline="0" dirty="0">
                          <a:ln>
                            <a:noFill/>
                          </a:ln>
                          <a:solidFill>
                            <a:srgbClr val="000000"/>
                          </a:solidFill>
                          <a:effectLst/>
                          <a:latin typeface="Roboto" panose="02000000000000000000" pitchFamily="2" charset="0"/>
                          <a:ea typeface="Roboto" panose="02000000000000000000" pitchFamily="2" charset="0"/>
                          <a:cs typeface="+mn-cs"/>
                        </a:rPr>
                        <a:t>Timescale</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kern="1200" cap="none" normalizeH="0" baseline="0" dirty="0">
                          <a:ln>
                            <a:noFill/>
                          </a:ln>
                          <a:solidFill>
                            <a:srgbClr val="000000"/>
                          </a:solidFill>
                          <a:effectLst/>
                          <a:latin typeface="Roboto" panose="02000000000000000000" pitchFamily="2" charset="0"/>
                          <a:ea typeface="Roboto" panose="02000000000000000000" pitchFamily="2" charset="0"/>
                          <a:cs typeface="+mn-cs"/>
                        </a:rPr>
                        <a:t>Long</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kern="1200" cap="none" normalizeH="0" baseline="0" dirty="0">
                          <a:ln>
                            <a:noFill/>
                          </a:ln>
                          <a:solidFill>
                            <a:srgbClr val="000000"/>
                          </a:solidFill>
                          <a:effectLst/>
                          <a:latin typeface="Roboto" panose="02000000000000000000" pitchFamily="2" charset="0"/>
                          <a:ea typeface="Roboto" panose="02000000000000000000" pitchFamily="2" charset="0"/>
                          <a:cs typeface="+mn-cs"/>
                        </a:rPr>
                        <a:t>Short</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2511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Value potential</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Low value</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Hi value</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5349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kern="1200" cap="none" normalizeH="0" baseline="0" dirty="0">
                          <a:ln>
                            <a:noFill/>
                          </a:ln>
                          <a:solidFill>
                            <a:srgbClr val="000000"/>
                          </a:solidFill>
                          <a:effectLst/>
                          <a:latin typeface="Roboto" panose="02000000000000000000" pitchFamily="2" charset="0"/>
                          <a:ea typeface="Roboto" panose="02000000000000000000" pitchFamily="2" charset="0"/>
                          <a:cs typeface="+mn-cs"/>
                        </a:rPr>
                        <a:t>Cost of implementation</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kern="1200" cap="none" normalizeH="0" baseline="0" dirty="0">
                          <a:ln>
                            <a:noFill/>
                          </a:ln>
                          <a:solidFill>
                            <a:srgbClr val="000000"/>
                          </a:solidFill>
                          <a:effectLst/>
                          <a:latin typeface="Roboto" panose="02000000000000000000" pitchFamily="2" charset="0"/>
                          <a:ea typeface="Roboto" panose="02000000000000000000" pitchFamily="2" charset="0"/>
                          <a:cs typeface="+mn-cs"/>
                        </a:rPr>
                        <a:t>Low cost</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kern="1200" cap="none" normalizeH="0" baseline="0" dirty="0">
                          <a:ln>
                            <a:noFill/>
                          </a:ln>
                          <a:solidFill>
                            <a:srgbClr val="000000"/>
                          </a:solidFill>
                          <a:effectLst/>
                          <a:latin typeface="Roboto" panose="02000000000000000000" pitchFamily="2" charset="0"/>
                          <a:ea typeface="Roboto" panose="02000000000000000000" pitchFamily="2" charset="0"/>
                          <a:cs typeface="+mn-cs"/>
                        </a:rPr>
                        <a:t>High cost</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2528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Revenue stream</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Poor</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Good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45312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Assets employed</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Consumes assets</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Little impact on AE</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2511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Payback</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Long &gt;3yrs</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Short &lt;1yr</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r h="2511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Impact on quality</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Low</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High</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r h="2511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Impact on safety</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Low</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High</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1"/>
                  </a:ext>
                </a:extLst>
              </a:tr>
              <a:tr h="25119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Meets objectives</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No</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Yes</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2"/>
                  </a:ext>
                </a:extLst>
              </a:tr>
              <a:tr h="45315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Difficulty</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a:ln>
                            <a:noFill/>
                          </a:ln>
                          <a:solidFill>
                            <a:srgbClr val="000000"/>
                          </a:solidFill>
                          <a:effectLst/>
                          <a:latin typeface="Roboto" panose="02000000000000000000" pitchFamily="2" charset="0"/>
                          <a:ea typeface="Roboto" panose="02000000000000000000" pitchFamily="2" charset="0"/>
                        </a:rPr>
                        <a:t>Low probability of success</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Roboto" panose="02000000000000000000" pitchFamily="2" charset="0"/>
                          <a:ea typeface="Roboto" panose="02000000000000000000" pitchFamily="2" charset="0"/>
                        </a:rPr>
                        <a:t>High probability of success</a:t>
                      </a:r>
                    </a:p>
                  </a:txBody>
                  <a:tcPr marL="36000" marR="3600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13"/>
                  </a:ext>
                </a:extLst>
              </a:tr>
            </a:tbl>
          </a:graphicData>
        </a:graphic>
      </p:graphicFrame>
      <p:grpSp>
        <p:nvGrpSpPr>
          <p:cNvPr id="12" name="Group 27">
            <a:extLst>
              <a:ext uri="{FF2B5EF4-FFF2-40B4-BE49-F238E27FC236}">
                <a16:creationId xmlns:a16="http://schemas.microsoft.com/office/drawing/2014/main" id="{F773EB9A-EF80-AE61-5521-55665A73D606}"/>
              </a:ext>
            </a:extLst>
          </p:cNvPr>
          <p:cNvGrpSpPr>
            <a:grpSpLocks/>
          </p:cNvGrpSpPr>
          <p:nvPr/>
        </p:nvGrpSpPr>
        <p:grpSpPr bwMode="auto">
          <a:xfrm>
            <a:off x="6698926" y="1690688"/>
            <a:ext cx="4230475" cy="4474166"/>
            <a:chOff x="5589491" y="1522054"/>
            <a:chExt cx="3250121" cy="4250867"/>
          </a:xfrm>
        </p:grpSpPr>
        <p:sp>
          <p:nvSpPr>
            <p:cNvPr id="13" name="Right Triangle 12">
              <a:extLst>
                <a:ext uri="{FF2B5EF4-FFF2-40B4-BE49-F238E27FC236}">
                  <a16:creationId xmlns:a16="http://schemas.microsoft.com/office/drawing/2014/main" id="{5AB0C9ED-02D9-3AD2-053D-09609E4C33AF}"/>
                </a:ext>
              </a:extLst>
            </p:cNvPr>
            <p:cNvSpPr/>
            <p:nvPr/>
          </p:nvSpPr>
          <p:spPr>
            <a:xfrm>
              <a:off x="5981755" y="2076083"/>
              <a:ext cx="2857857" cy="2838407"/>
            </a:xfrm>
            <a:prstGeom prst="rtTriangle">
              <a:avLst/>
            </a:prstGeom>
            <a:solidFill>
              <a:schemeClr val="bg2">
                <a:alpha val="50000"/>
              </a:schemeClr>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ct val="80000"/>
                </a:lnSpc>
                <a:spcBef>
                  <a:spcPts val="0"/>
                </a:spcBef>
                <a:spcAft>
                  <a:spcPts val="0"/>
                </a:spcAft>
                <a:defRPr/>
              </a:pPr>
              <a:endParaRPr lang="en-GB" dirty="0">
                <a:latin typeface="Roboto" panose="02000000000000000000" pitchFamily="2" charset="0"/>
                <a:ea typeface="Roboto" panose="02000000000000000000" pitchFamily="2" charset="0"/>
              </a:endParaRPr>
            </a:p>
          </p:txBody>
        </p:sp>
        <p:sp>
          <p:nvSpPr>
            <p:cNvPr id="23" name="Rectangle 22">
              <a:extLst>
                <a:ext uri="{FF2B5EF4-FFF2-40B4-BE49-F238E27FC236}">
                  <a16:creationId xmlns:a16="http://schemas.microsoft.com/office/drawing/2014/main" id="{C96F5C13-88BF-C839-08ED-5730AC129801}"/>
                </a:ext>
              </a:extLst>
            </p:cNvPr>
            <p:cNvSpPr/>
            <p:nvPr/>
          </p:nvSpPr>
          <p:spPr>
            <a:xfrm>
              <a:off x="5991282" y="2076083"/>
              <a:ext cx="2838805" cy="2838407"/>
            </a:xfrm>
            <a:prstGeom prst="rect">
              <a:avLst/>
            </a:prstGeom>
            <a:noFill/>
            <a:ln>
              <a:solidFill>
                <a:srgbClr val="00669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ct val="80000"/>
                </a:lnSpc>
                <a:spcBef>
                  <a:spcPts val="0"/>
                </a:spcBef>
                <a:spcAft>
                  <a:spcPts val="0"/>
                </a:spcAft>
                <a:defRPr/>
              </a:pPr>
              <a:endParaRPr lang="en-GB" dirty="0">
                <a:latin typeface="Roboto" panose="02000000000000000000" pitchFamily="2" charset="0"/>
                <a:ea typeface="Roboto" panose="02000000000000000000" pitchFamily="2" charset="0"/>
              </a:endParaRPr>
            </a:p>
          </p:txBody>
        </p:sp>
        <p:sp>
          <p:nvSpPr>
            <p:cNvPr id="24" name="TextBox 8">
              <a:extLst>
                <a:ext uri="{FF2B5EF4-FFF2-40B4-BE49-F238E27FC236}">
                  <a16:creationId xmlns:a16="http://schemas.microsoft.com/office/drawing/2014/main" id="{77582F8C-61EE-3D2F-9A76-5AE4A837DE9D}"/>
                </a:ext>
              </a:extLst>
            </p:cNvPr>
            <p:cNvSpPr txBox="1">
              <a:spLocks noChangeArrowheads="1"/>
            </p:cNvSpPr>
            <p:nvPr/>
          </p:nvSpPr>
          <p:spPr bwMode="auto">
            <a:xfrm>
              <a:off x="5598912" y="1828800"/>
              <a:ext cx="256405" cy="2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Hi</a:t>
              </a:r>
            </a:p>
          </p:txBody>
        </p:sp>
        <p:cxnSp>
          <p:nvCxnSpPr>
            <p:cNvPr id="25" name="Straight Connector 24">
              <a:extLst>
                <a:ext uri="{FF2B5EF4-FFF2-40B4-BE49-F238E27FC236}">
                  <a16:creationId xmlns:a16="http://schemas.microsoft.com/office/drawing/2014/main" id="{6C230536-2F47-B506-8874-DBA3DE8790F2}"/>
                </a:ext>
              </a:extLst>
            </p:cNvPr>
            <p:cNvCxnSpPr>
              <a:stCxn id="23" idx="1"/>
              <a:endCxn id="23" idx="3"/>
            </p:cNvCxnSpPr>
            <p:nvPr/>
          </p:nvCxnSpPr>
          <p:spPr>
            <a:xfrm rot="10800000" flipH="1">
              <a:off x="5991282" y="3495286"/>
              <a:ext cx="2838805" cy="1588"/>
            </a:xfrm>
            <a:prstGeom prst="line">
              <a:avLst/>
            </a:prstGeom>
            <a:noFill/>
            <a:ln w="9525">
              <a:solidFill>
                <a:srgbClr val="006699"/>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E7FB22D-42CD-8EF0-16FE-0F763F5227D3}"/>
                </a:ext>
              </a:extLst>
            </p:cNvPr>
            <p:cNvCxnSpPr>
              <a:stCxn id="23" idx="0"/>
              <a:endCxn id="23" idx="2"/>
            </p:cNvCxnSpPr>
            <p:nvPr/>
          </p:nvCxnSpPr>
          <p:spPr>
            <a:xfrm rot="16200000" flipH="1">
              <a:off x="5991482" y="3495286"/>
              <a:ext cx="2838407" cy="3175"/>
            </a:xfrm>
            <a:prstGeom prst="line">
              <a:avLst/>
            </a:prstGeom>
            <a:noFill/>
            <a:ln w="9525">
              <a:solidFill>
                <a:srgbClr val="006699"/>
              </a:solidFill>
            </a:ln>
          </p:spPr>
          <p:style>
            <a:lnRef idx="2">
              <a:schemeClr val="accent1">
                <a:shade val="50000"/>
              </a:schemeClr>
            </a:lnRef>
            <a:fillRef idx="1">
              <a:schemeClr val="accent1"/>
            </a:fillRef>
            <a:effectRef idx="0">
              <a:schemeClr val="accent1"/>
            </a:effectRef>
            <a:fontRef idx="minor">
              <a:schemeClr val="lt1"/>
            </a:fontRef>
          </p:style>
        </p:cxnSp>
        <p:sp>
          <p:nvSpPr>
            <p:cNvPr id="27" name="TextBox 13">
              <a:extLst>
                <a:ext uri="{FF2B5EF4-FFF2-40B4-BE49-F238E27FC236}">
                  <a16:creationId xmlns:a16="http://schemas.microsoft.com/office/drawing/2014/main" id="{A1C9A87C-BE4D-1647-3020-7B75543F4EDD}"/>
                </a:ext>
              </a:extLst>
            </p:cNvPr>
            <p:cNvSpPr txBox="1">
              <a:spLocks noChangeArrowheads="1"/>
            </p:cNvSpPr>
            <p:nvPr/>
          </p:nvSpPr>
          <p:spPr bwMode="auto">
            <a:xfrm>
              <a:off x="5589491" y="4638675"/>
              <a:ext cx="272414" cy="2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Lo</a:t>
              </a:r>
            </a:p>
          </p:txBody>
        </p:sp>
        <p:sp>
          <p:nvSpPr>
            <p:cNvPr id="28" name="TextBox 14">
              <a:extLst>
                <a:ext uri="{FF2B5EF4-FFF2-40B4-BE49-F238E27FC236}">
                  <a16:creationId xmlns:a16="http://schemas.microsoft.com/office/drawing/2014/main" id="{47ED597D-1126-55B6-2B79-8FD06BC340CF}"/>
                </a:ext>
              </a:extLst>
            </p:cNvPr>
            <p:cNvSpPr txBox="1">
              <a:spLocks noChangeArrowheads="1"/>
            </p:cNvSpPr>
            <p:nvPr/>
          </p:nvSpPr>
          <p:spPr bwMode="auto">
            <a:xfrm rot="16200000">
              <a:off x="5476021" y="3444937"/>
              <a:ext cx="566860" cy="185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Y axis</a:t>
              </a:r>
            </a:p>
          </p:txBody>
        </p:sp>
        <p:sp>
          <p:nvSpPr>
            <p:cNvPr id="29" name="TextBox 15">
              <a:extLst>
                <a:ext uri="{FF2B5EF4-FFF2-40B4-BE49-F238E27FC236}">
                  <a16:creationId xmlns:a16="http://schemas.microsoft.com/office/drawing/2014/main" id="{71F851BD-018A-885D-AE6C-6CE7D289EA41}"/>
                </a:ext>
              </a:extLst>
            </p:cNvPr>
            <p:cNvSpPr txBox="1">
              <a:spLocks noChangeArrowheads="1"/>
            </p:cNvSpPr>
            <p:nvPr/>
          </p:nvSpPr>
          <p:spPr bwMode="auto">
            <a:xfrm>
              <a:off x="7113379" y="4957763"/>
              <a:ext cx="460839" cy="2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X axis</a:t>
              </a:r>
            </a:p>
          </p:txBody>
        </p:sp>
        <p:sp>
          <p:nvSpPr>
            <p:cNvPr id="30" name="TextBox 16">
              <a:extLst>
                <a:ext uri="{FF2B5EF4-FFF2-40B4-BE49-F238E27FC236}">
                  <a16:creationId xmlns:a16="http://schemas.microsoft.com/office/drawing/2014/main" id="{1429E9B7-4467-D322-6944-626D552C4D16}"/>
                </a:ext>
              </a:extLst>
            </p:cNvPr>
            <p:cNvSpPr txBox="1">
              <a:spLocks noChangeArrowheads="1"/>
            </p:cNvSpPr>
            <p:nvPr/>
          </p:nvSpPr>
          <p:spPr bwMode="auto">
            <a:xfrm>
              <a:off x="7012114" y="1522054"/>
              <a:ext cx="811824" cy="2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Size = Z axis</a:t>
              </a:r>
            </a:p>
          </p:txBody>
        </p:sp>
        <p:sp>
          <p:nvSpPr>
            <p:cNvPr id="31" name="TextBox 17">
              <a:extLst>
                <a:ext uri="{FF2B5EF4-FFF2-40B4-BE49-F238E27FC236}">
                  <a16:creationId xmlns:a16="http://schemas.microsoft.com/office/drawing/2014/main" id="{CA230AA4-42BF-674C-BB5F-6CA5E2A70744}"/>
                </a:ext>
              </a:extLst>
            </p:cNvPr>
            <p:cNvSpPr txBox="1">
              <a:spLocks noChangeArrowheads="1"/>
            </p:cNvSpPr>
            <p:nvPr/>
          </p:nvSpPr>
          <p:spPr bwMode="auto">
            <a:xfrm>
              <a:off x="8575475" y="4957763"/>
              <a:ext cx="256405" cy="2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Hi</a:t>
              </a:r>
            </a:p>
          </p:txBody>
        </p:sp>
        <p:sp>
          <p:nvSpPr>
            <p:cNvPr id="32" name="TextBox 18">
              <a:extLst>
                <a:ext uri="{FF2B5EF4-FFF2-40B4-BE49-F238E27FC236}">
                  <a16:creationId xmlns:a16="http://schemas.microsoft.com/office/drawing/2014/main" id="{B1EAE027-73A8-73F8-C2C3-DAD1A7B7B0D1}"/>
                </a:ext>
              </a:extLst>
            </p:cNvPr>
            <p:cNvSpPr txBox="1">
              <a:spLocks noChangeArrowheads="1"/>
            </p:cNvSpPr>
            <p:nvPr/>
          </p:nvSpPr>
          <p:spPr bwMode="auto">
            <a:xfrm>
              <a:off x="5956203" y="4957763"/>
              <a:ext cx="272414" cy="229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Lo</a:t>
              </a:r>
            </a:p>
          </p:txBody>
        </p:sp>
        <p:sp>
          <p:nvSpPr>
            <p:cNvPr id="33" name="Oval 32">
              <a:extLst>
                <a:ext uri="{FF2B5EF4-FFF2-40B4-BE49-F238E27FC236}">
                  <a16:creationId xmlns:a16="http://schemas.microsoft.com/office/drawing/2014/main" id="{F63A74EB-CEF0-5E04-9C20-BB0DB10EB782}"/>
                </a:ext>
              </a:extLst>
            </p:cNvPr>
            <p:cNvSpPr/>
            <p:nvPr/>
          </p:nvSpPr>
          <p:spPr>
            <a:xfrm>
              <a:off x="7831425" y="2460252"/>
              <a:ext cx="582685" cy="584191"/>
            </a:xfrm>
            <a:prstGeom prst="ellipse">
              <a:avLst/>
            </a:prstGeom>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ct val="80000"/>
                </a:lnSpc>
                <a:spcBef>
                  <a:spcPts val="0"/>
                </a:spcBef>
                <a:spcAft>
                  <a:spcPts val="0"/>
                </a:spcAft>
                <a:defRPr/>
              </a:pPr>
              <a:r>
                <a:rPr lang="en-GB" dirty="0">
                  <a:latin typeface="Roboto" panose="02000000000000000000" pitchFamily="2" charset="0"/>
                  <a:ea typeface="Roboto" panose="02000000000000000000" pitchFamily="2" charset="0"/>
                </a:rPr>
                <a:t>B</a:t>
              </a:r>
            </a:p>
          </p:txBody>
        </p:sp>
        <p:sp>
          <p:nvSpPr>
            <p:cNvPr id="34" name="Oval 33">
              <a:extLst>
                <a:ext uri="{FF2B5EF4-FFF2-40B4-BE49-F238E27FC236}">
                  <a16:creationId xmlns:a16="http://schemas.microsoft.com/office/drawing/2014/main" id="{8A997B07-8FF4-20EA-8564-122D48B5DC98}"/>
                </a:ext>
              </a:extLst>
            </p:cNvPr>
            <p:cNvSpPr/>
            <p:nvPr/>
          </p:nvSpPr>
          <p:spPr>
            <a:xfrm>
              <a:off x="7451964" y="4074715"/>
              <a:ext cx="706526" cy="708014"/>
            </a:xfrm>
            <a:prstGeom prst="ellipse">
              <a:avLst/>
            </a:prstGeom>
            <a:solidFill>
              <a:schemeClr val="accent6"/>
            </a:solidFill>
            <a:ln>
              <a:solidFill>
                <a:schemeClr val="accent6">
                  <a:lumMod val="50000"/>
                </a:schemeClr>
              </a:solidFill>
            </a:ln>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lnSpc>
                  <a:spcPct val="80000"/>
                </a:lnSpc>
                <a:spcBef>
                  <a:spcPts val="0"/>
                </a:spcBef>
                <a:spcAft>
                  <a:spcPts val="0"/>
                </a:spcAft>
                <a:defRPr/>
              </a:pPr>
              <a:r>
                <a:rPr lang="en-GB" dirty="0">
                  <a:latin typeface="Roboto" panose="02000000000000000000" pitchFamily="2" charset="0"/>
                  <a:ea typeface="Roboto" panose="02000000000000000000" pitchFamily="2" charset="0"/>
                </a:rPr>
                <a:t>E</a:t>
              </a:r>
            </a:p>
          </p:txBody>
        </p:sp>
        <p:sp>
          <p:nvSpPr>
            <p:cNvPr id="35" name="Oval 34">
              <a:extLst>
                <a:ext uri="{FF2B5EF4-FFF2-40B4-BE49-F238E27FC236}">
                  <a16:creationId xmlns:a16="http://schemas.microsoft.com/office/drawing/2014/main" id="{637782DA-F357-55E8-295D-C5D45C70E3C6}"/>
                </a:ext>
              </a:extLst>
            </p:cNvPr>
            <p:cNvSpPr/>
            <p:nvPr/>
          </p:nvSpPr>
          <p:spPr>
            <a:xfrm>
              <a:off x="7872705" y="3750870"/>
              <a:ext cx="288961" cy="288921"/>
            </a:xfrm>
            <a:prstGeom prst="ellipse">
              <a:avLst/>
            </a:prstGeom>
            <a:solidFill>
              <a:schemeClr val="accent3"/>
            </a:solidFill>
            <a:ln>
              <a:solidFill>
                <a:schemeClr val="accent3">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fontAlgn="auto">
                <a:lnSpc>
                  <a:spcPct val="80000"/>
                </a:lnSpc>
                <a:spcBef>
                  <a:spcPts val="0"/>
                </a:spcBef>
                <a:spcAft>
                  <a:spcPts val="0"/>
                </a:spcAft>
                <a:defRPr/>
              </a:pPr>
              <a:r>
                <a:rPr lang="en-GB" dirty="0">
                  <a:latin typeface="Roboto" panose="02000000000000000000" pitchFamily="2" charset="0"/>
                  <a:ea typeface="Roboto" panose="02000000000000000000" pitchFamily="2" charset="0"/>
                </a:rPr>
                <a:t>D</a:t>
              </a:r>
            </a:p>
          </p:txBody>
        </p:sp>
        <p:sp>
          <p:nvSpPr>
            <p:cNvPr id="36" name="Oval 35">
              <a:extLst>
                <a:ext uri="{FF2B5EF4-FFF2-40B4-BE49-F238E27FC236}">
                  <a16:creationId xmlns:a16="http://schemas.microsoft.com/office/drawing/2014/main" id="{5297FFAC-E7A9-7ADD-E82F-422154550186}"/>
                </a:ext>
              </a:extLst>
            </p:cNvPr>
            <p:cNvSpPr/>
            <p:nvPr/>
          </p:nvSpPr>
          <p:spPr>
            <a:xfrm>
              <a:off x="6469179" y="2547563"/>
              <a:ext cx="495362" cy="496879"/>
            </a:xfrm>
            <a:prstGeom prst="ellipse">
              <a:avLst/>
            </a:prstGeom>
            <a:solidFill>
              <a:schemeClr val="accent2"/>
            </a:solidFill>
            <a:ln>
              <a:solidFill>
                <a:schemeClr val="accent2">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lnSpc>
                  <a:spcPct val="80000"/>
                </a:lnSpc>
                <a:spcBef>
                  <a:spcPts val="0"/>
                </a:spcBef>
                <a:spcAft>
                  <a:spcPts val="0"/>
                </a:spcAft>
                <a:defRPr/>
              </a:pPr>
              <a:r>
                <a:rPr lang="en-GB" dirty="0">
                  <a:latin typeface="Roboto" panose="02000000000000000000" pitchFamily="2" charset="0"/>
                  <a:ea typeface="Roboto" panose="02000000000000000000" pitchFamily="2" charset="0"/>
                </a:rPr>
                <a:t>C</a:t>
              </a:r>
            </a:p>
          </p:txBody>
        </p:sp>
        <p:sp>
          <p:nvSpPr>
            <p:cNvPr id="37" name="Oval 36">
              <a:extLst>
                <a:ext uri="{FF2B5EF4-FFF2-40B4-BE49-F238E27FC236}">
                  <a16:creationId xmlns:a16="http://schemas.microsoft.com/office/drawing/2014/main" id="{FF85E4F7-5F0E-B037-6605-FD021943B7DB}"/>
                </a:ext>
              </a:extLst>
            </p:cNvPr>
            <p:cNvSpPr/>
            <p:nvPr/>
          </p:nvSpPr>
          <p:spPr>
            <a:xfrm>
              <a:off x="6566028" y="4008041"/>
              <a:ext cx="425503" cy="423856"/>
            </a:xfrm>
            <a:prstGeom prst="ellipse">
              <a:avLst/>
            </a:prstGeom>
            <a:ln>
              <a:solidFill>
                <a:schemeClr val="accent5">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lnSpc>
                  <a:spcPct val="80000"/>
                </a:lnSpc>
                <a:spcBef>
                  <a:spcPts val="0"/>
                </a:spcBef>
                <a:spcAft>
                  <a:spcPts val="0"/>
                </a:spcAft>
                <a:defRPr/>
              </a:pPr>
              <a:r>
                <a:rPr lang="en-GB" dirty="0">
                  <a:latin typeface="Roboto" panose="02000000000000000000" pitchFamily="2" charset="0"/>
                  <a:ea typeface="Roboto" panose="02000000000000000000" pitchFamily="2" charset="0"/>
                </a:rPr>
                <a:t>A</a:t>
              </a:r>
            </a:p>
          </p:txBody>
        </p:sp>
        <p:sp>
          <p:nvSpPr>
            <p:cNvPr id="38" name="Freeform 25">
              <a:extLst>
                <a:ext uri="{FF2B5EF4-FFF2-40B4-BE49-F238E27FC236}">
                  <a16:creationId xmlns:a16="http://schemas.microsoft.com/office/drawing/2014/main" id="{95153117-66AE-7B68-E9A5-8B99EF437758}"/>
                </a:ext>
              </a:extLst>
            </p:cNvPr>
            <p:cNvSpPr/>
            <p:nvPr/>
          </p:nvSpPr>
          <p:spPr>
            <a:xfrm>
              <a:off x="8055290" y="1731601"/>
              <a:ext cx="174647" cy="690551"/>
            </a:xfrm>
            <a:custGeom>
              <a:avLst/>
              <a:gdLst>
                <a:gd name="connsiteX0" fmla="*/ 0 w 447471"/>
                <a:gd name="connsiteY0" fmla="*/ 0 h 719847"/>
                <a:gd name="connsiteX1" fmla="*/ 379378 w 447471"/>
                <a:gd name="connsiteY1" fmla="*/ 291830 h 719847"/>
                <a:gd name="connsiteX2" fmla="*/ 408561 w 447471"/>
                <a:gd name="connsiteY2" fmla="*/ 719847 h 719847"/>
              </a:gdLst>
              <a:ahLst/>
              <a:cxnLst>
                <a:cxn ang="0">
                  <a:pos x="connsiteX0" y="connsiteY0"/>
                </a:cxn>
                <a:cxn ang="0">
                  <a:pos x="connsiteX1" y="connsiteY1"/>
                </a:cxn>
                <a:cxn ang="0">
                  <a:pos x="connsiteX2" y="connsiteY2"/>
                </a:cxn>
              </a:cxnLst>
              <a:rect l="l" t="t" r="r" b="b"/>
              <a:pathLst>
                <a:path w="447471" h="719847">
                  <a:moveTo>
                    <a:pt x="0" y="0"/>
                  </a:moveTo>
                  <a:cubicBezTo>
                    <a:pt x="155642" y="85928"/>
                    <a:pt x="311285" y="171856"/>
                    <a:pt x="379378" y="291830"/>
                  </a:cubicBezTo>
                  <a:cubicBezTo>
                    <a:pt x="447471" y="411804"/>
                    <a:pt x="408561" y="719847"/>
                    <a:pt x="408561" y="719847"/>
                  </a:cubicBezTo>
                </a:path>
              </a:pathLst>
            </a:cu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anchor="ctr"/>
            <a:lstStyle/>
            <a:p>
              <a:pPr algn="ctr" fontAlgn="auto">
                <a:lnSpc>
                  <a:spcPct val="80000"/>
                </a:lnSpc>
                <a:spcBef>
                  <a:spcPts val="0"/>
                </a:spcBef>
                <a:spcAft>
                  <a:spcPts val="0"/>
                </a:spcAft>
                <a:defRPr/>
              </a:pPr>
              <a:endParaRPr lang="en-GB" dirty="0">
                <a:latin typeface="Roboto" panose="02000000000000000000" pitchFamily="2" charset="0"/>
                <a:ea typeface="Roboto" panose="02000000000000000000" pitchFamily="2" charset="0"/>
              </a:endParaRPr>
            </a:p>
          </p:txBody>
        </p:sp>
        <p:sp>
          <p:nvSpPr>
            <p:cNvPr id="39" name="TextBox 26">
              <a:extLst>
                <a:ext uri="{FF2B5EF4-FFF2-40B4-BE49-F238E27FC236}">
                  <a16:creationId xmlns:a16="http://schemas.microsoft.com/office/drawing/2014/main" id="{5E7C96A4-AAF4-6A40-1702-92D1495E8E24}"/>
                </a:ext>
              </a:extLst>
            </p:cNvPr>
            <p:cNvSpPr txBox="1">
              <a:spLocks noChangeArrowheads="1"/>
            </p:cNvSpPr>
            <p:nvPr/>
          </p:nvSpPr>
          <p:spPr bwMode="auto">
            <a:xfrm>
              <a:off x="6062072" y="5519738"/>
              <a:ext cx="985469" cy="253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400" u="sng" dirty="0">
                  <a:latin typeface="Roboto" panose="02000000000000000000" pitchFamily="2" charset="0"/>
                  <a:ea typeface="Roboto" panose="02000000000000000000" pitchFamily="2" charset="0"/>
                </a:rPr>
                <a:t>Projects A - E</a:t>
              </a:r>
            </a:p>
          </p:txBody>
        </p:sp>
      </p:grpSp>
    </p:spTree>
    <p:extLst>
      <p:ext uri="{BB962C8B-B14F-4D97-AF65-F5344CB8AC3E}">
        <p14:creationId xmlns:p14="http://schemas.microsoft.com/office/powerpoint/2010/main" val="5524602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GB" altLang="en-US" dirty="0"/>
              <a:t>Break into manageable projects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Complex products and processes may need to be segmented due to limitations in current technology, space, cost, ‘laws of nature’</a:t>
            </a:r>
          </a:p>
          <a:p>
            <a:r>
              <a:rPr lang="en-US" altLang="en-US" dirty="0"/>
              <a:t>Might initially focus on final assembly, then later look at components</a:t>
            </a:r>
          </a:p>
          <a:p>
            <a:r>
              <a:rPr lang="en-US" altLang="en-US" dirty="0"/>
              <a:t>3P Design Team needs to revisit the Charter and make any adjustments to scope and prioritize sequence</a:t>
            </a:r>
          </a:p>
          <a:p>
            <a:r>
              <a:rPr lang="en-US" altLang="en-US" dirty="0"/>
              <a:t>Risk of sub-optimization – need to Catch Ball up and down stream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23882829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Product/Process Selection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select the product and or process to be Leaned.</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Use any of the methods described above or other to select or review the product /process to be Leaned.</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Present your decision and reasons to management and colleagues. </a:t>
            </a:r>
          </a:p>
        </p:txBody>
      </p:sp>
      <p:grpSp>
        <p:nvGrpSpPr>
          <p:cNvPr id="20" name="Group 19">
            <a:extLst>
              <a:ext uri="{FF2B5EF4-FFF2-40B4-BE49-F238E27FC236}">
                <a16:creationId xmlns:a16="http://schemas.microsoft.com/office/drawing/2014/main" id="{400AB690-E081-4159-CD59-EBB63CC6F528}"/>
              </a:ext>
            </a:extLst>
          </p:cNvPr>
          <p:cNvGrpSpPr/>
          <p:nvPr/>
        </p:nvGrpSpPr>
        <p:grpSpPr>
          <a:xfrm>
            <a:off x="838200" y="297639"/>
            <a:ext cx="3845560" cy="307138"/>
            <a:chOff x="838200" y="297639"/>
            <a:chExt cx="3845560" cy="307138"/>
          </a:xfrm>
        </p:grpSpPr>
        <p:grpSp>
          <p:nvGrpSpPr>
            <p:cNvPr id="10" name="Group 9">
              <a:extLst>
                <a:ext uri="{FF2B5EF4-FFF2-40B4-BE49-F238E27FC236}">
                  <a16:creationId xmlns:a16="http://schemas.microsoft.com/office/drawing/2014/main" id="{3B9B0B4F-21C0-B751-FC5B-0A6477AA8D02}"/>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1153CCB-03AB-E7C0-F602-A7CEAF1A639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065F24-EF73-0E25-EAC2-4F3DDA596FA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 name="Group 2">
                <a:extLst>
                  <a:ext uri="{FF2B5EF4-FFF2-40B4-BE49-F238E27FC236}">
                    <a16:creationId xmlns:a16="http://schemas.microsoft.com/office/drawing/2014/main" id="{D69C5CDF-39D4-F2C7-AF6E-9B85E20A1ACA}"/>
                  </a:ext>
                </a:extLst>
              </p:cNvPr>
              <p:cNvGrpSpPr/>
              <p:nvPr/>
            </p:nvGrpSpPr>
            <p:grpSpPr>
              <a:xfrm>
                <a:off x="838200" y="297639"/>
                <a:ext cx="1060167" cy="290657"/>
                <a:chOff x="826426" y="4041857"/>
                <a:chExt cx="1060167" cy="290657"/>
              </a:xfrm>
            </p:grpSpPr>
            <p:sp>
              <p:nvSpPr>
                <p:cNvPr id="4" name="AutoShape 9">
                  <a:extLst>
                    <a:ext uri="{FF2B5EF4-FFF2-40B4-BE49-F238E27FC236}">
                      <a16:creationId xmlns:a16="http://schemas.microsoft.com/office/drawing/2014/main" id="{4A87C677-CA3B-AF09-CA4A-985F1AD3A4E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5C0730F4-93D4-D55D-4620-A50244652B5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0">
                  <a:extLst>
                    <a:ext uri="{FF2B5EF4-FFF2-40B4-BE49-F238E27FC236}">
                      <a16:creationId xmlns:a16="http://schemas.microsoft.com/office/drawing/2014/main" id="{2AF64AE7-DB5B-CE33-23AB-D8E9D0CB13D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9AC35935-FEC9-B26F-340B-235A7D0D2F87}"/>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7781663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3200" dirty="0"/>
              <a:t>Define Relationships to Other Systems and Processes</a:t>
            </a:r>
            <a:endParaRPr lang="en-US" sz="32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Define the scope of the 3P event within the New Product Introduction (NPI) process</a:t>
            </a:r>
          </a:p>
          <a:p>
            <a:r>
              <a:rPr lang="en-US" altLang="en-US" dirty="0"/>
              <a:t>Determine the System Architecture and Hierarchy for the product/process</a:t>
            </a:r>
          </a:p>
          <a:p>
            <a:r>
              <a:rPr lang="en-US" altLang="en-US" dirty="0"/>
              <a:t>Define the Relationships and Interfaces for the product/process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3110556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4000" dirty="0"/>
              <a:t>NPI Process Scope</a:t>
            </a:r>
            <a:endParaRPr lang="en-US" sz="40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Map the current or intended New Product Introduction process (NPI)</a:t>
            </a:r>
          </a:p>
          <a:p>
            <a:r>
              <a:rPr lang="en-US" altLang="en-US" dirty="0"/>
              <a:t>Note the interfaces and hand-offs required</a:t>
            </a:r>
          </a:p>
          <a:p>
            <a:r>
              <a:rPr lang="en-US" altLang="en-US" dirty="0"/>
              <a:t>Define the scope of the 3P Workshop and Implementation phases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grpSp>
        <p:nvGrpSpPr>
          <p:cNvPr id="28" name="Group 27">
            <a:extLst>
              <a:ext uri="{FF2B5EF4-FFF2-40B4-BE49-F238E27FC236}">
                <a16:creationId xmlns:a16="http://schemas.microsoft.com/office/drawing/2014/main" id="{40935081-F804-51D2-101F-CA7784FEA944}"/>
              </a:ext>
            </a:extLst>
          </p:cNvPr>
          <p:cNvGrpSpPr/>
          <p:nvPr/>
        </p:nvGrpSpPr>
        <p:grpSpPr>
          <a:xfrm>
            <a:off x="494030" y="4263389"/>
            <a:ext cx="11203940" cy="1913573"/>
            <a:chOff x="626110" y="4038601"/>
            <a:chExt cx="8677275" cy="2138362"/>
          </a:xfrm>
        </p:grpSpPr>
        <p:sp>
          <p:nvSpPr>
            <p:cNvPr id="4" name="Rectangle 25">
              <a:extLst>
                <a:ext uri="{FF2B5EF4-FFF2-40B4-BE49-F238E27FC236}">
                  <a16:creationId xmlns:a16="http://schemas.microsoft.com/office/drawing/2014/main" id="{B0FBAFE9-D85C-1149-A7AC-A08D1B938318}"/>
                </a:ext>
              </a:extLst>
            </p:cNvPr>
            <p:cNvSpPr>
              <a:spLocks noChangeArrowheads="1"/>
            </p:cNvSpPr>
            <p:nvPr/>
          </p:nvSpPr>
          <p:spPr bwMode="auto">
            <a:xfrm>
              <a:off x="626110" y="4038601"/>
              <a:ext cx="1227138"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Needs Identification</a:t>
              </a:r>
            </a:p>
          </p:txBody>
        </p:sp>
        <p:sp>
          <p:nvSpPr>
            <p:cNvPr id="6" name="Rectangle 26">
              <a:extLst>
                <a:ext uri="{FF2B5EF4-FFF2-40B4-BE49-F238E27FC236}">
                  <a16:creationId xmlns:a16="http://schemas.microsoft.com/office/drawing/2014/main" id="{1B570A3D-EFDD-5B61-64E2-A1893F5D0F61}"/>
                </a:ext>
              </a:extLst>
            </p:cNvPr>
            <p:cNvSpPr>
              <a:spLocks noChangeArrowheads="1"/>
            </p:cNvSpPr>
            <p:nvPr/>
          </p:nvSpPr>
          <p:spPr bwMode="auto">
            <a:xfrm>
              <a:off x="1924685" y="4038601"/>
              <a:ext cx="1169988"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Planning</a:t>
              </a:r>
            </a:p>
          </p:txBody>
        </p:sp>
        <p:sp>
          <p:nvSpPr>
            <p:cNvPr id="7" name="Rectangle 27">
              <a:extLst>
                <a:ext uri="{FF2B5EF4-FFF2-40B4-BE49-F238E27FC236}">
                  <a16:creationId xmlns:a16="http://schemas.microsoft.com/office/drawing/2014/main" id="{A792234A-2BC2-BF71-0C8E-E2ACFA86E29A}"/>
                </a:ext>
              </a:extLst>
            </p:cNvPr>
            <p:cNvSpPr>
              <a:spLocks noChangeArrowheads="1"/>
            </p:cNvSpPr>
            <p:nvPr/>
          </p:nvSpPr>
          <p:spPr bwMode="auto">
            <a:xfrm>
              <a:off x="3166110" y="4038601"/>
              <a:ext cx="1169988"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Design</a:t>
              </a:r>
            </a:p>
          </p:txBody>
        </p:sp>
        <p:sp>
          <p:nvSpPr>
            <p:cNvPr id="8" name="Rectangle 28">
              <a:extLst>
                <a:ext uri="{FF2B5EF4-FFF2-40B4-BE49-F238E27FC236}">
                  <a16:creationId xmlns:a16="http://schemas.microsoft.com/office/drawing/2014/main" id="{6DC92D1B-D2D2-95FF-73D8-3C922CB8EF65}"/>
                </a:ext>
              </a:extLst>
            </p:cNvPr>
            <p:cNvSpPr>
              <a:spLocks noChangeArrowheads="1"/>
            </p:cNvSpPr>
            <p:nvPr/>
          </p:nvSpPr>
          <p:spPr bwMode="auto">
            <a:xfrm>
              <a:off x="4409123" y="4038601"/>
              <a:ext cx="1168400"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Trials</a:t>
              </a:r>
            </a:p>
          </p:txBody>
        </p:sp>
        <p:sp>
          <p:nvSpPr>
            <p:cNvPr id="9" name="Rectangle 29">
              <a:extLst>
                <a:ext uri="{FF2B5EF4-FFF2-40B4-BE49-F238E27FC236}">
                  <a16:creationId xmlns:a16="http://schemas.microsoft.com/office/drawing/2014/main" id="{196B412C-9946-58E6-D2A3-0742ACF81624}"/>
                </a:ext>
              </a:extLst>
            </p:cNvPr>
            <p:cNvSpPr>
              <a:spLocks noChangeArrowheads="1"/>
            </p:cNvSpPr>
            <p:nvPr/>
          </p:nvSpPr>
          <p:spPr bwMode="auto">
            <a:xfrm>
              <a:off x="5650548" y="4038601"/>
              <a:ext cx="1169987"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Production</a:t>
              </a:r>
            </a:p>
          </p:txBody>
        </p:sp>
        <p:sp>
          <p:nvSpPr>
            <p:cNvPr id="10" name="Rectangle 30">
              <a:extLst>
                <a:ext uri="{FF2B5EF4-FFF2-40B4-BE49-F238E27FC236}">
                  <a16:creationId xmlns:a16="http://schemas.microsoft.com/office/drawing/2014/main" id="{5B537195-3892-179A-AE65-EDF5FD590032}"/>
                </a:ext>
              </a:extLst>
            </p:cNvPr>
            <p:cNvSpPr>
              <a:spLocks noChangeArrowheads="1"/>
            </p:cNvSpPr>
            <p:nvPr/>
          </p:nvSpPr>
          <p:spPr bwMode="auto">
            <a:xfrm>
              <a:off x="6891973" y="4038601"/>
              <a:ext cx="1169987"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Install</a:t>
              </a:r>
            </a:p>
          </p:txBody>
        </p:sp>
        <p:sp>
          <p:nvSpPr>
            <p:cNvPr id="11" name="Rectangle 31">
              <a:extLst>
                <a:ext uri="{FF2B5EF4-FFF2-40B4-BE49-F238E27FC236}">
                  <a16:creationId xmlns:a16="http://schemas.microsoft.com/office/drawing/2014/main" id="{142F696B-5C06-4554-B565-5C65ACDB0521}"/>
                </a:ext>
              </a:extLst>
            </p:cNvPr>
            <p:cNvSpPr>
              <a:spLocks noChangeArrowheads="1"/>
            </p:cNvSpPr>
            <p:nvPr/>
          </p:nvSpPr>
          <p:spPr bwMode="auto">
            <a:xfrm>
              <a:off x="8134985" y="4038601"/>
              <a:ext cx="1168400" cy="658812"/>
            </a:xfrm>
            <a:prstGeom prst="rect">
              <a:avLst/>
            </a:prstGeom>
            <a:solidFill>
              <a:srgbClr val="DDDDDD"/>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Service</a:t>
              </a:r>
            </a:p>
          </p:txBody>
        </p:sp>
        <p:sp>
          <p:nvSpPr>
            <p:cNvPr id="12" name="Rectangle 32">
              <a:extLst>
                <a:ext uri="{FF2B5EF4-FFF2-40B4-BE49-F238E27FC236}">
                  <a16:creationId xmlns:a16="http://schemas.microsoft.com/office/drawing/2014/main" id="{C8CDFAB9-5DD3-4315-66CA-4860C7A3DB3A}"/>
                </a:ext>
              </a:extLst>
            </p:cNvPr>
            <p:cNvSpPr>
              <a:spLocks noChangeArrowheads="1"/>
            </p:cNvSpPr>
            <p:nvPr/>
          </p:nvSpPr>
          <p:spPr bwMode="auto">
            <a:xfrm>
              <a:off x="1532573" y="5518151"/>
              <a:ext cx="1227137" cy="658812"/>
            </a:xfrm>
            <a:prstGeom prst="rect">
              <a:avLst/>
            </a:prstGeom>
            <a:solidFill>
              <a:schemeClr val="accent1"/>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Design Alternatives</a:t>
              </a:r>
            </a:p>
          </p:txBody>
        </p:sp>
        <p:sp>
          <p:nvSpPr>
            <p:cNvPr id="13" name="Rectangle 33">
              <a:extLst>
                <a:ext uri="{FF2B5EF4-FFF2-40B4-BE49-F238E27FC236}">
                  <a16:creationId xmlns:a16="http://schemas.microsoft.com/office/drawing/2014/main" id="{6EA9941B-4AE9-EF79-898B-D6093593A414}"/>
                </a:ext>
              </a:extLst>
            </p:cNvPr>
            <p:cNvSpPr>
              <a:spLocks noChangeArrowheads="1"/>
            </p:cNvSpPr>
            <p:nvPr/>
          </p:nvSpPr>
          <p:spPr bwMode="auto">
            <a:xfrm>
              <a:off x="2850198" y="5518151"/>
              <a:ext cx="1227137" cy="658812"/>
            </a:xfrm>
            <a:prstGeom prst="rect">
              <a:avLst/>
            </a:prstGeom>
            <a:solidFill>
              <a:schemeClr val="accent1"/>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Prototyping</a:t>
              </a:r>
            </a:p>
          </p:txBody>
        </p:sp>
        <p:sp>
          <p:nvSpPr>
            <p:cNvPr id="23" name="Rectangle 34">
              <a:extLst>
                <a:ext uri="{FF2B5EF4-FFF2-40B4-BE49-F238E27FC236}">
                  <a16:creationId xmlns:a16="http://schemas.microsoft.com/office/drawing/2014/main" id="{833D89F0-82B3-381E-FE33-33D84643878B}"/>
                </a:ext>
              </a:extLst>
            </p:cNvPr>
            <p:cNvSpPr>
              <a:spLocks noChangeArrowheads="1"/>
            </p:cNvSpPr>
            <p:nvPr/>
          </p:nvSpPr>
          <p:spPr bwMode="auto">
            <a:xfrm>
              <a:off x="4169410" y="5518151"/>
              <a:ext cx="1227138" cy="658812"/>
            </a:xfrm>
            <a:prstGeom prst="rect">
              <a:avLst/>
            </a:prstGeom>
            <a:solidFill>
              <a:schemeClr val="accent1"/>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Detail Design</a:t>
              </a:r>
            </a:p>
          </p:txBody>
        </p:sp>
        <p:sp>
          <p:nvSpPr>
            <p:cNvPr id="24" name="Rectangle 35">
              <a:extLst>
                <a:ext uri="{FF2B5EF4-FFF2-40B4-BE49-F238E27FC236}">
                  <a16:creationId xmlns:a16="http://schemas.microsoft.com/office/drawing/2014/main" id="{79173770-442A-33C6-7D55-5B024D3D737A}"/>
                </a:ext>
              </a:extLst>
            </p:cNvPr>
            <p:cNvSpPr>
              <a:spLocks noChangeArrowheads="1"/>
            </p:cNvSpPr>
            <p:nvPr/>
          </p:nvSpPr>
          <p:spPr bwMode="auto">
            <a:xfrm>
              <a:off x="5487035" y="5518151"/>
              <a:ext cx="1227138" cy="658812"/>
            </a:xfrm>
            <a:prstGeom prst="rect">
              <a:avLst/>
            </a:prstGeom>
            <a:solidFill>
              <a:schemeClr val="accent1"/>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Process Design</a:t>
              </a:r>
            </a:p>
          </p:txBody>
        </p:sp>
        <p:sp>
          <p:nvSpPr>
            <p:cNvPr id="25" name="Rectangle 36">
              <a:extLst>
                <a:ext uri="{FF2B5EF4-FFF2-40B4-BE49-F238E27FC236}">
                  <a16:creationId xmlns:a16="http://schemas.microsoft.com/office/drawing/2014/main" id="{7F8ED557-B1FD-D531-1F8C-383B3DABE322}"/>
                </a:ext>
              </a:extLst>
            </p:cNvPr>
            <p:cNvSpPr>
              <a:spLocks noChangeArrowheads="1"/>
            </p:cNvSpPr>
            <p:nvPr/>
          </p:nvSpPr>
          <p:spPr bwMode="auto">
            <a:xfrm>
              <a:off x="6806248" y="5518151"/>
              <a:ext cx="1225550" cy="658812"/>
            </a:xfrm>
            <a:prstGeom prst="rect">
              <a:avLst/>
            </a:prstGeom>
            <a:solidFill>
              <a:schemeClr val="accent1"/>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Equipment Specification</a:t>
              </a:r>
            </a:p>
          </p:txBody>
        </p:sp>
        <p:sp>
          <p:nvSpPr>
            <p:cNvPr id="26" name="Line 27">
              <a:extLst>
                <a:ext uri="{FF2B5EF4-FFF2-40B4-BE49-F238E27FC236}">
                  <a16:creationId xmlns:a16="http://schemas.microsoft.com/office/drawing/2014/main" id="{21DF3E8D-8D9E-9C95-9C77-E3612238BE65}"/>
                </a:ext>
              </a:extLst>
            </p:cNvPr>
            <p:cNvSpPr>
              <a:spLocks noChangeShapeType="1"/>
            </p:cNvSpPr>
            <p:nvPr/>
          </p:nvSpPr>
          <p:spPr bwMode="auto">
            <a:xfrm flipH="1">
              <a:off x="1530985" y="4702176"/>
              <a:ext cx="1614488" cy="801687"/>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7" name="Line 27">
              <a:extLst>
                <a:ext uri="{FF2B5EF4-FFF2-40B4-BE49-F238E27FC236}">
                  <a16:creationId xmlns:a16="http://schemas.microsoft.com/office/drawing/2014/main" id="{CBF344DC-67A0-0E3A-FC3C-C04BDC538672}"/>
                </a:ext>
              </a:extLst>
            </p:cNvPr>
            <p:cNvSpPr>
              <a:spLocks noChangeShapeType="1"/>
            </p:cNvSpPr>
            <p:nvPr/>
          </p:nvSpPr>
          <p:spPr bwMode="auto">
            <a:xfrm>
              <a:off x="5601335" y="4703763"/>
              <a:ext cx="2433638" cy="811213"/>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876042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4000" dirty="0"/>
              <a:t>System Hierarchy</a:t>
            </a:r>
            <a:endParaRPr lang="en-US" sz="40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sz="2400" dirty="0"/>
              <a:t>Understand the system architecture and define the relationship of the product/process to be Leaned as a part of the total system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grpSp>
        <p:nvGrpSpPr>
          <p:cNvPr id="55" name="Group 54">
            <a:extLst>
              <a:ext uri="{FF2B5EF4-FFF2-40B4-BE49-F238E27FC236}">
                <a16:creationId xmlns:a16="http://schemas.microsoft.com/office/drawing/2014/main" id="{3C168670-B54F-514C-4E65-FE55D05D9D69}"/>
              </a:ext>
            </a:extLst>
          </p:cNvPr>
          <p:cNvGrpSpPr/>
          <p:nvPr/>
        </p:nvGrpSpPr>
        <p:grpSpPr>
          <a:xfrm>
            <a:off x="1416670" y="2641600"/>
            <a:ext cx="9358660" cy="3670300"/>
            <a:chOff x="973138" y="1385888"/>
            <a:chExt cx="6743700" cy="3638550"/>
          </a:xfrm>
        </p:grpSpPr>
        <p:sp>
          <p:nvSpPr>
            <p:cNvPr id="29" name="Rectangle 3">
              <a:extLst>
                <a:ext uri="{FF2B5EF4-FFF2-40B4-BE49-F238E27FC236}">
                  <a16:creationId xmlns:a16="http://schemas.microsoft.com/office/drawing/2014/main" id="{338B4BC1-E367-2F3A-B9D8-ADDD250BA3C4}"/>
                </a:ext>
              </a:extLst>
            </p:cNvPr>
            <p:cNvSpPr>
              <a:spLocks noChangeArrowheads="1"/>
            </p:cNvSpPr>
            <p:nvPr/>
          </p:nvSpPr>
          <p:spPr bwMode="auto">
            <a:xfrm>
              <a:off x="3794125" y="1385888"/>
              <a:ext cx="1504950" cy="766762"/>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dirty="0">
                  <a:latin typeface="Roboto" panose="02000000000000000000" pitchFamily="2" charset="0"/>
                  <a:ea typeface="Roboto" panose="02000000000000000000" pitchFamily="2" charset="0"/>
                </a:rPr>
                <a:t>Complete Product or Process</a:t>
              </a:r>
            </a:p>
          </p:txBody>
        </p:sp>
        <p:sp>
          <p:nvSpPr>
            <p:cNvPr id="30" name="Rectangle 4">
              <a:extLst>
                <a:ext uri="{FF2B5EF4-FFF2-40B4-BE49-F238E27FC236}">
                  <a16:creationId xmlns:a16="http://schemas.microsoft.com/office/drawing/2014/main" id="{12AEE4C1-6085-FA9A-5ADF-296D4D6EBB69}"/>
                </a:ext>
              </a:extLst>
            </p:cNvPr>
            <p:cNvSpPr>
              <a:spLocks noChangeArrowheads="1"/>
            </p:cNvSpPr>
            <p:nvPr/>
          </p:nvSpPr>
          <p:spPr bwMode="auto">
            <a:xfrm>
              <a:off x="1419225" y="2424113"/>
              <a:ext cx="1136650" cy="574675"/>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dirty="0">
                  <a:latin typeface="Roboto" panose="02000000000000000000" pitchFamily="2" charset="0"/>
                  <a:ea typeface="Roboto" panose="02000000000000000000" pitchFamily="2" charset="0"/>
                </a:rPr>
                <a:t>Major System A</a:t>
              </a:r>
            </a:p>
          </p:txBody>
        </p:sp>
        <p:sp>
          <p:nvSpPr>
            <p:cNvPr id="31" name="Rectangle 5">
              <a:extLst>
                <a:ext uri="{FF2B5EF4-FFF2-40B4-BE49-F238E27FC236}">
                  <a16:creationId xmlns:a16="http://schemas.microsoft.com/office/drawing/2014/main" id="{0E26F831-84AB-0412-4A54-EF53A4C20F70}"/>
                </a:ext>
              </a:extLst>
            </p:cNvPr>
            <p:cNvSpPr>
              <a:spLocks noChangeArrowheads="1"/>
            </p:cNvSpPr>
            <p:nvPr/>
          </p:nvSpPr>
          <p:spPr bwMode="auto">
            <a:xfrm>
              <a:off x="3140075" y="2424113"/>
              <a:ext cx="1136650" cy="574675"/>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Major System B</a:t>
              </a:r>
            </a:p>
          </p:txBody>
        </p:sp>
        <p:sp>
          <p:nvSpPr>
            <p:cNvPr id="32" name="Rectangle 6">
              <a:extLst>
                <a:ext uri="{FF2B5EF4-FFF2-40B4-BE49-F238E27FC236}">
                  <a16:creationId xmlns:a16="http://schemas.microsoft.com/office/drawing/2014/main" id="{B4F3EC9D-EB97-B541-4C86-B7A256AAA3F9}"/>
                </a:ext>
              </a:extLst>
            </p:cNvPr>
            <p:cNvSpPr>
              <a:spLocks noChangeArrowheads="1"/>
            </p:cNvSpPr>
            <p:nvPr/>
          </p:nvSpPr>
          <p:spPr bwMode="auto">
            <a:xfrm>
              <a:off x="4860925" y="2424113"/>
              <a:ext cx="1136650" cy="574675"/>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Major System C</a:t>
              </a:r>
            </a:p>
          </p:txBody>
        </p:sp>
        <p:sp>
          <p:nvSpPr>
            <p:cNvPr id="33" name="Rectangle 7">
              <a:extLst>
                <a:ext uri="{FF2B5EF4-FFF2-40B4-BE49-F238E27FC236}">
                  <a16:creationId xmlns:a16="http://schemas.microsoft.com/office/drawing/2014/main" id="{AA9ED5C0-1E3D-77E6-12AD-ECE4CE983FEA}"/>
                </a:ext>
              </a:extLst>
            </p:cNvPr>
            <p:cNvSpPr>
              <a:spLocks noChangeArrowheads="1"/>
            </p:cNvSpPr>
            <p:nvPr/>
          </p:nvSpPr>
          <p:spPr bwMode="auto">
            <a:xfrm>
              <a:off x="6581775" y="2424113"/>
              <a:ext cx="1135063" cy="574675"/>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Major System D</a:t>
              </a:r>
            </a:p>
          </p:txBody>
        </p:sp>
        <p:sp>
          <p:nvSpPr>
            <p:cNvPr id="34" name="Rectangle 8">
              <a:extLst>
                <a:ext uri="{FF2B5EF4-FFF2-40B4-BE49-F238E27FC236}">
                  <a16:creationId xmlns:a16="http://schemas.microsoft.com/office/drawing/2014/main" id="{44F4B3FE-9682-4775-8498-2F712EC6AAE7}"/>
                </a:ext>
              </a:extLst>
            </p:cNvPr>
            <p:cNvSpPr>
              <a:spLocks noChangeArrowheads="1"/>
            </p:cNvSpPr>
            <p:nvPr/>
          </p:nvSpPr>
          <p:spPr bwMode="auto">
            <a:xfrm>
              <a:off x="1822450" y="3281363"/>
              <a:ext cx="984250" cy="403225"/>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Sub-system/ Module B1</a:t>
              </a:r>
            </a:p>
          </p:txBody>
        </p:sp>
        <p:sp>
          <p:nvSpPr>
            <p:cNvPr id="35" name="Rectangle 9">
              <a:extLst>
                <a:ext uri="{FF2B5EF4-FFF2-40B4-BE49-F238E27FC236}">
                  <a16:creationId xmlns:a16="http://schemas.microsoft.com/office/drawing/2014/main" id="{7174126E-AFF7-273F-0335-9ECBB4EAA778}"/>
                </a:ext>
              </a:extLst>
            </p:cNvPr>
            <p:cNvSpPr>
              <a:spLocks noChangeArrowheads="1"/>
            </p:cNvSpPr>
            <p:nvPr/>
          </p:nvSpPr>
          <p:spPr bwMode="auto">
            <a:xfrm>
              <a:off x="3241675" y="3281363"/>
              <a:ext cx="982663" cy="403225"/>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Sub-system/ Module B2</a:t>
              </a:r>
            </a:p>
          </p:txBody>
        </p:sp>
        <p:sp>
          <p:nvSpPr>
            <p:cNvPr id="36" name="Rectangle 10">
              <a:extLst>
                <a:ext uri="{FF2B5EF4-FFF2-40B4-BE49-F238E27FC236}">
                  <a16:creationId xmlns:a16="http://schemas.microsoft.com/office/drawing/2014/main" id="{CB3D5C9E-7187-4A7C-3C76-1D02B73A71C4}"/>
                </a:ext>
              </a:extLst>
            </p:cNvPr>
            <p:cNvSpPr>
              <a:spLocks noChangeArrowheads="1"/>
            </p:cNvSpPr>
            <p:nvPr/>
          </p:nvSpPr>
          <p:spPr bwMode="auto">
            <a:xfrm>
              <a:off x="4659313" y="3281363"/>
              <a:ext cx="984250" cy="403225"/>
            </a:xfrm>
            <a:prstGeom prst="rect">
              <a:avLst/>
            </a:prstGeom>
            <a:solidFill>
              <a:schemeClr val="bg2"/>
            </a:solidFill>
            <a:ln w="12700" cap="sq">
              <a:solidFill>
                <a:schemeClr val="tx1"/>
              </a:solidFill>
              <a:miter lim="800000"/>
              <a:headEnd/>
              <a:tailEnd/>
            </a:ln>
          </p:spPr>
          <p:txBody>
            <a:bodyPr lIns="36000" r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Sub-system/ Module B3</a:t>
              </a:r>
            </a:p>
          </p:txBody>
        </p:sp>
        <p:sp>
          <p:nvSpPr>
            <p:cNvPr id="37" name="Rectangle 12">
              <a:extLst>
                <a:ext uri="{FF2B5EF4-FFF2-40B4-BE49-F238E27FC236}">
                  <a16:creationId xmlns:a16="http://schemas.microsoft.com/office/drawing/2014/main" id="{3F56476F-CA82-593C-0834-2EA2844D0710}"/>
                </a:ext>
              </a:extLst>
            </p:cNvPr>
            <p:cNvSpPr>
              <a:spLocks noChangeArrowheads="1"/>
            </p:cNvSpPr>
            <p:nvPr/>
          </p:nvSpPr>
          <p:spPr bwMode="auto">
            <a:xfrm>
              <a:off x="973138" y="4076700"/>
              <a:ext cx="800100" cy="34290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Sub-assy B1.1</a:t>
              </a:r>
            </a:p>
          </p:txBody>
        </p:sp>
        <p:sp>
          <p:nvSpPr>
            <p:cNvPr id="38" name="Rectangle 13">
              <a:extLst>
                <a:ext uri="{FF2B5EF4-FFF2-40B4-BE49-F238E27FC236}">
                  <a16:creationId xmlns:a16="http://schemas.microsoft.com/office/drawing/2014/main" id="{2C54A5E1-B77D-3084-F577-2EA60C5D4F89}"/>
                </a:ext>
              </a:extLst>
            </p:cNvPr>
            <p:cNvSpPr>
              <a:spLocks noChangeArrowheads="1"/>
            </p:cNvSpPr>
            <p:nvPr/>
          </p:nvSpPr>
          <p:spPr bwMode="auto">
            <a:xfrm>
              <a:off x="2030413" y="4076700"/>
              <a:ext cx="801687" cy="34290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Sub-assy B1.2</a:t>
              </a:r>
            </a:p>
          </p:txBody>
        </p:sp>
        <p:sp>
          <p:nvSpPr>
            <p:cNvPr id="39" name="Rectangle 14">
              <a:extLst>
                <a:ext uri="{FF2B5EF4-FFF2-40B4-BE49-F238E27FC236}">
                  <a16:creationId xmlns:a16="http://schemas.microsoft.com/office/drawing/2014/main" id="{A9241B44-107C-4E5E-497F-82129697CE9A}"/>
                </a:ext>
              </a:extLst>
            </p:cNvPr>
            <p:cNvSpPr>
              <a:spLocks noChangeArrowheads="1"/>
            </p:cNvSpPr>
            <p:nvPr/>
          </p:nvSpPr>
          <p:spPr bwMode="auto">
            <a:xfrm>
              <a:off x="3089275" y="4076700"/>
              <a:ext cx="801688" cy="34290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Sub-assy B1.3</a:t>
              </a:r>
            </a:p>
          </p:txBody>
        </p:sp>
        <p:sp>
          <p:nvSpPr>
            <p:cNvPr id="40" name="Rectangle 15">
              <a:extLst>
                <a:ext uri="{FF2B5EF4-FFF2-40B4-BE49-F238E27FC236}">
                  <a16:creationId xmlns:a16="http://schemas.microsoft.com/office/drawing/2014/main" id="{068138C8-5E24-84C5-DA24-A5FA86B9FF7D}"/>
                </a:ext>
              </a:extLst>
            </p:cNvPr>
            <p:cNvSpPr>
              <a:spLocks noChangeArrowheads="1"/>
            </p:cNvSpPr>
            <p:nvPr/>
          </p:nvSpPr>
          <p:spPr bwMode="auto">
            <a:xfrm>
              <a:off x="4148138" y="4076700"/>
              <a:ext cx="800100" cy="34290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Sub-assy B1.4</a:t>
              </a:r>
            </a:p>
          </p:txBody>
        </p:sp>
        <p:sp>
          <p:nvSpPr>
            <p:cNvPr id="41" name="Rectangle 16">
              <a:extLst>
                <a:ext uri="{FF2B5EF4-FFF2-40B4-BE49-F238E27FC236}">
                  <a16:creationId xmlns:a16="http://schemas.microsoft.com/office/drawing/2014/main" id="{D12066D6-17CD-1542-33F3-0168E87EE2B0}"/>
                </a:ext>
              </a:extLst>
            </p:cNvPr>
            <p:cNvSpPr>
              <a:spLocks noChangeArrowheads="1"/>
            </p:cNvSpPr>
            <p:nvPr/>
          </p:nvSpPr>
          <p:spPr bwMode="auto">
            <a:xfrm>
              <a:off x="5205413" y="4076700"/>
              <a:ext cx="801687" cy="34290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Sub-assy B1.5</a:t>
              </a:r>
            </a:p>
          </p:txBody>
        </p:sp>
        <p:sp>
          <p:nvSpPr>
            <p:cNvPr id="42" name="Rectangle 17">
              <a:extLst>
                <a:ext uri="{FF2B5EF4-FFF2-40B4-BE49-F238E27FC236}">
                  <a16:creationId xmlns:a16="http://schemas.microsoft.com/office/drawing/2014/main" id="{DC5F7B6A-632E-BC29-CDBB-D46D0C772559}"/>
                </a:ext>
              </a:extLst>
            </p:cNvPr>
            <p:cNvSpPr>
              <a:spLocks noChangeArrowheads="1"/>
            </p:cNvSpPr>
            <p:nvPr/>
          </p:nvSpPr>
          <p:spPr bwMode="auto">
            <a:xfrm>
              <a:off x="2928938" y="4721225"/>
              <a:ext cx="676275" cy="303213"/>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Comp. B1.4.1</a:t>
              </a:r>
            </a:p>
          </p:txBody>
        </p:sp>
        <p:sp>
          <p:nvSpPr>
            <p:cNvPr id="43" name="Rectangle 18">
              <a:extLst>
                <a:ext uri="{FF2B5EF4-FFF2-40B4-BE49-F238E27FC236}">
                  <a16:creationId xmlns:a16="http://schemas.microsoft.com/office/drawing/2014/main" id="{27F8B62C-3A9F-9028-314E-CC982BFDC41A}"/>
                </a:ext>
              </a:extLst>
            </p:cNvPr>
            <p:cNvSpPr>
              <a:spLocks noChangeArrowheads="1"/>
            </p:cNvSpPr>
            <p:nvPr/>
          </p:nvSpPr>
          <p:spPr bwMode="auto">
            <a:xfrm>
              <a:off x="3805238" y="4721225"/>
              <a:ext cx="676275" cy="303213"/>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Comp. B1.4.1</a:t>
              </a:r>
            </a:p>
          </p:txBody>
        </p:sp>
        <p:sp>
          <p:nvSpPr>
            <p:cNvPr id="44" name="Rectangle 19">
              <a:extLst>
                <a:ext uri="{FF2B5EF4-FFF2-40B4-BE49-F238E27FC236}">
                  <a16:creationId xmlns:a16="http://schemas.microsoft.com/office/drawing/2014/main" id="{7771BC56-477E-1A89-A67F-5E67D4510559}"/>
                </a:ext>
              </a:extLst>
            </p:cNvPr>
            <p:cNvSpPr>
              <a:spLocks noChangeArrowheads="1"/>
            </p:cNvSpPr>
            <p:nvPr/>
          </p:nvSpPr>
          <p:spPr bwMode="auto">
            <a:xfrm>
              <a:off x="4681538" y="4721225"/>
              <a:ext cx="676275" cy="303213"/>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Comp. B1.4.1</a:t>
              </a:r>
            </a:p>
          </p:txBody>
        </p:sp>
        <p:sp>
          <p:nvSpPr>
            <p:cNvPr id="45" name="Rectangle 20">
              <a:extLst>
                <a:ext uri="{FF2B5EF4-FFF2-40B4-BE49-F238E27FC236}">
                  <a16:creationId xmlns:a16="http://schemas.microsoft.com/office/drawing/2014/main" id="{187C5692-F9C6-6096-1813-B01CDFEC4C8D}"/>
                </a:ext>
              </a:extLst>
            </p:cNvPr>
            <p:cNvSpPr>
              <a:spLocks noChangeArrowheads="1"/>
            </p:cNvSpPr>
            <p:nvPr/>
          </p:nvSpPr>
          <p:spPr bwMode="auto">
            <a:xfrm>
              <a:off x="5557838" y="4721225"/>
              <a:ext cx="676275" cy="303213"/>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Comp. B1.4.1</a:t>
              </a:r>
            </a:p>
          </p:txBody>
        </p:sp>
        <p:sp>
          <p:nvSpPr>
            <p:cNvPr id="46" name="Rectangle 21">
              <a:extLst>
                <a:ext uri="{FF2B5EF4-FFF2-40B4-BE49-F238E27FC236}">
                  <a16:creationId xmlns:a16="http://schemas.microsoft.com/office/drawing/2014/main" id="{01FE577A-C59A-8D8D-EC16-0473D656BE6D}"/>
                </a:ext>
              </a:extLst>
            </p:cNvPr>
            <p:cNvSpPr>
              <a:spLocks noChangeArrowheads="1"/>
            </p:cNvSpPr>
            <p:nvPr/>
          </p:nvSpPr>
          <p:spPr bwMode="auto">
            <a:xfrm>
              <a:off x="6434138" y="4721225"/>
              <a:ext cx="676275" cy="303213"/>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Comp. B1.4.1</a:t>
              </a:r>
            </a:p>
          </p:txBody>
        </p:sp>
        <p:sp>
          <p:nvSpPr>
            <p:cNvPr id="47" name="Line 27">
              <a:extLst>
                <a:ext uri="{FF2B5EF4-FFF2-40B4-BE49-F238E27FC236}">
                  <a16:creationId xmlns:a16="http://schemas.microsoft.com/office/drawing/2014/main" id="{A0A2D6D0-F9B8-C887-7494-668CF15486AE}"/>
                </a:ext>
              </a:extLst>
            </p:cNvPr>
            <p:cNvSpPr>
              <a:spLocks noChangeShapeType="1"/>
            </p:cNvSpPr>
            <p:nvPr/>
          </p:nvSpPr>
          <p:spPr bwMode="auto">
            <a:xfrm flipH="1">
              <a:off x="1435100" y="2168525"/>
              <a:ext cx="2359025" cy="250825"/>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8" name="Line 27">
              <a:extLst>
                <a:ext uri="{FF2B5EF4-FFF2-40B4-BE49-F238E27FC236}">
                  <a16:creationId xmlns:a16="http://schemas.microsoft.com/office/drawing/2014/main" id="{F35D860C-F96D-6152-25CB-FBCE48EEEF47}"/>
                </a:ext>
              </a:extLst>
            </p:cNvPr>
            <p:cNvSpPr>
              <a:spLocks noChangeShapeType="1"/>
            </p:cNvSpPr>
            <p:nvPr/>
          </p:nvSpPr>
          <p:spPr bwMode="auto">
            <a:xfrm>
              <a:off x="5299075" y="2152650"/>
              <a:ext cx="2403475" cy="252413"/>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49" name="Line 27">
              <a:extLst>
                <a:ext uri="{FF2B5EF4-FFF2-40B4-BE49-F238E27FC236}">
                  <a16:creationId xmlns:a16="http://schemas.microsoft.com/office/drawing/2014/main" id="{486D7707-9F38-5E7C-7DF3-14723DF87DA6}"/>
                </a:ext>
              </a:extLst>
            </p:cNvPr>
            <p:cNvSpPr>
              <a:spLocks noChangeShapeType="1"/>
            </p:cNvSpPr>
            <p:nvPr/>
          </p:nvSpPr>
          <p:spPr bwMode="auto">
            <a:xfrm flipH="1">
              <a:off x="1803400" y="2994025"/>
              <a:ext cx="1341438" cy="280988"/>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27">
              <a:extLst>
                <a:ext uri="{FF2B5EF4-FFF2-40B4-BE49-F238E27FC236}">
                  <a16:creationId xmlns:a16="http://schemas.microsoft.com/office/drawing/2014/main" id="{3D1AFE81-442E-945A-A441-2E82B45B3B69}"/>
                </a:ext>
              </a:extLst>
            </p:cNvPr>
            <p:cNvSpPr>
              <a:spLocks noChangeShapeType="1"/>
            </p:cNvSpPr>
            <p:nvPr/>
          </p:nvSpPr>
          <p:spPr bwMode="auto">
            <a:xfrm>
              <a:off x="4267200" y="3009900"/>
              <a:ext cx="1355725" cy="265113"/>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1" name="Line 27">
              <a:extLst>
                <a:ext uri="{FF2B5EF4-FFF2-40B4-BE49-F238E27FC236}">
                  <a16:creationId xmlns:a16="http://schemas.microsoft.com/office/drawing/2014/main" id="{D067AF3A-BD48-A09A-DEB1-BDBD65E5C423}"/>
                </a:ext>
              </a:extLst>
            </p:cNvPr>
            <p:cNvSpPr>
              <a:spLocks noChangeShapeType="1"/>
            </p:cNvSpPr>
            <p:nvPr/>
          </p:nvSpPr>
          <p:spPr bwMode="auto">
            <a:xfrm flipH="1">
              <a:off x="977900" y="3687763"/>
              <a:ext cx="869950" cy="396875"/>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2" name="Line 27">
              <a:extLst>
                <a:ext uri="{FF2B5EF4-FFF2-40B4-BE49-F238E27FC236}">
                  <a16:creationId xmlns:a16="http://schemas.microsoft.com/office/drawing/2014/main" id="{AEDB0C82-504E-288E-2253-074EEB1F0D12}"/>
                </a:ext>
              </a:extLst>
            </p:cNvPr>
            <p:cNvSpPr>
              <a:spLocks noChangeShapeType="1"/>
            </p:cNvSpPr>
            <p:nvPr/>
          </p:nvSpPr>
          <p:spPr bwMode="auto">
            <a:xfrm>
              <a:off x="2776538" y="3671888"/>
              <a:ext cx="3230562" cy="398462"/>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3" name="Line 27">
              <a:extLst>
                <a:ext uri="{FF2B5EF4-FFF2-40B4-BE49-F238E27FC236}">
                  <a16:creationId xmlns:a16="http://schemas.microsoft.com/office/drawing/2014/main" id="{4CCB702E-EBF1-1540-71E8-F1C9855562EF}"/>
                </a:ext>
              </a:extLst>
            </p:cNvPr>
            <p:cNvSpPr>
              <a:spLocks noChangeShapeType="1"/>
            </p:cNvSpPr>
            <p:nvPr/>
          </p:nvSpPr>
          <p:spPr bwMode="auto">
            <a:xfrm flipH="1">
              <a:off x="2968625" y="4424363"/>
              <a:ext cx="1165225" cy="295275"/>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4" name="Line 27">
              <a:extLst>
                <a:ext uri="{FF2B5EF4-FFF2-40B4-BE49-F238E27FC236}">
                  <a16:creationId xmlns:a16="http://schemas.microsoft.com/office/drawing/2014/main" id="{DF13DBED-F865-EE06-1B71-2B36DE8ED288}"/>
                </a:ext>
              </a:extLst>
            </p:cNvPr>
            <p:cNvSpPr>
              <a:spLocks noChangeShapeType="1"/>
            </p:cNvSpPr>
            <p:nvPr/>
          </p:nvSpPr>
          <p:spPr bwMode="auto">
            <a:xfrm>
              <a:off x="4945063" y="4424363"/>
              <a:ext cx="2168525" cy="279400"/>
            </a:xfrm>
            <a:prstGeom prst="line">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7003392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Exploded Assembly</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grpSp>
        <p:nvGrpSpPr>
          <p:cNvPr id="5" name="Group 4">
            <a:extLst>
              <a:ext uri="{FF2B5EF4-FFF2-40B4-BE49-F238E27FC236}">
                <a16:creationId xmlns:a16="http://schemas.microsoft.com/office/drawing/2014/main" id="{F2509613-89DB-B95B-87EC-F9CE8989A345}"/>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20D7265-F48C-06F2-7F11-D3EADCF31B6D}"/>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D3BF39AB-6FE2-6E06-B388-7AA0DBEED12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66BDB00-0DD9-8CDE-E144-AD4DDFF54D1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943768F4-B0AB-7934-8AB1-2036C8E471E7}"/>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E645A591-3B2C-2BA1-B025-699B7D689DA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B4B4D139-4724-D39E-B288-9B6B873EFF5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F3DEC47C-7138-BE9A-8C2C-48043811BD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74CEF4D9-A383-DD30-3C51-40320E5F7CEE}"/>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15" name="Picture 3">
            <a:extLst>
              <a:ext uri="{FF2B5EF4-FFF2-40B4-BE49-F238E27FC236}">
                <a16:creationId xmlns:a16="http://schemas.microsoft.com/office/drawing/2014/main" id="{2366F95D-83BC-259A-5997-A7F6C2F0F03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368283" y="1825625"/>
            <a:ext cx="3850318" cy="34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 name="Picture 2">
            <a:extLst>
              <a:ext uri="{FF2B5EF4-FFF2-40B4-BE49-F238E27FC236}">
                <a16:creationId xmlns:a16="http://schemas.microsoft.com/office/drawing/2014/main" id="{CFE8667E-804D-BA56-1E3A-DCCBBA9C45C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583573" y="1825625"/>
            <a:ext cx="4358853" cy="435133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7" name="Content Placeholder 14">
            <a:extLst>
              <a:ext uri="{FF2B5EF4-FFF2-40B4-BE49-F238E27FC236}">
                <a16:creationId xmlns:a16="http://schemas.microsoft.com/office/drawing/2014/main" id="{DFDA2794-83F0-117B-A39C-F597EA7180CF}"/>
              </a:ext>
            </a:extLst>
          </p:cNvPr>
          <p:cNvSpPr txBox="1">
            <a:spLocks noChangeArrowheads="1"/>
          </p:cNvSpPr>
          <p:nvPr/>
        </p:nvSpPr>
        <p:spPr>
          <a:xfrm>
            <a:off x="901965" y="5341303"/>
            <a:ext cx="4706463" cy="68103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en-US" sz="2400" dirty="0"/>
              <a:t>Use drawings and exploded views to visualize product or process</a:t>
            </a:r>
          </a:p>
        </p:txBody>
      </p:sp>
    </p:spTree>
    <p:extLst>
      <p:ext uri="{BB962C8B-B14F-4D97-AF65-F5344CB8AC3E}">
        <p14:creationId xmlns:p14="http://schemas.microsoft.com/office/powerpoint/2010/main" val="23828461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Relationship Diagram</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54</a:t>
            </a:fld>
            <a:endParaRPr lang="en-US"/>
          </a:p>
        </p:txBody>
      </p:sp>
      <p:grpSp>
        <p:nvGrpSpPr>
          <p:cNvPr id="5" name="Group 4">
            <a:extLst>
              <a:ext uri="{FF2B5EF4-FFF2-40B4-BE49-F238E27FC236}">
                <a16:creationId xmlns:a16="http://schemas.microsoft.com/office/drawing/2014/main" id="{F2509613-89DB-B95B-87EC-F9CE8989A345}"/>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20D7265-F48C-06F2-7F11-D3EADCF31B6D}"/>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D3BF39AB-6FE2-6E06-B388-7AA0DBEED12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066BDB00-0DD9-8CDE-E144-AD4DDFF54D1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943768F4-B0AB-7934-8AB1-2036C8E471E7}"/>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E645A591-3B2C-2BA1-B025-699B7D689DA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B4B4D139-4724-D39E-B288-9B6B873EFF55}"/>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F3DEC47C-7138-BE9A-8C2C-48043811BD5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74CEF4D9-A383-DD30-3C51-40320E5F7CEE}"/>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
        <p:nvSpPr>
          <p:cNvPr id="18" name="Content Placeholder 17">
            <a:extLst>
              <a:ext uri="{FF2B5EF4-FFF2-40B4-BE49-F238E27FC236}">
                <a16:creationId xmlns:a16="http://schemas.microsoft.com/office/drawing/2014/main" id="{31FCA73E-7B82-7310-B846-104F3131C7F2}"/>
              </a:ext>
            </a:extLst>
          </p:cNvPr>
          <p:cNvSpPr>
            <a:spLocks noGrp="1"/>
          </p:cNvSpPr>
          <p:nvPr>
            <p:ph sz="half" idx="2"/>
          </p:nvPr>
        </p:nvSpPr>
        <p:spPr/>
        <p:txBody>
          <a:bodyPr/>
          <a:lstStyle/>
          <a:p>
            <a:r>
              <a:rPr lang="en-GB" altLang="en-US" dirty="0"/>
              <a:t>Draw the relationship diagram of the product/process to the system</a:t>
            </a:r>
          </a:p>
          <a:p>
            <a:r>
              <a:rPr lang="en-GB" altLang="en-US" dirty="0"/>
              <a:t>Show the number of inputs and outputs e.g. 1/3 input/output</a:t>
            </a:r>
          </a:p>
          <a:p>
            <a:r>
              <a:rPr lang="en-GB" altLang="en-US" dirty="0"/>
              <a:t>Define the interfaces</a:t>
            </a:r>
          </a:p>
          <a:p>
            <a:r>
              <a:rPr lang="en-GB" altLang="en-US" dirty="0"/>
              <a:t>Describe the requirements for each interface</a:t>
            </a:r>
          </a:p>
        </p:txBody>
      </p:sp>
      <p:grpSp>
        <p:nvGrpSpPr>
          <p:cNvPr id="38" name="Group 37">
            <a:extLst>
              <a:ext uri="{FF2B5EF4-FFF2-40B4-BE49-F238E27FC236}">
                <a16:creationId xmlns:a16="http://schemas.microsoft.com/office/drawing/2014/main" id="{213F91A8-0276-284E-52FE-EE7BBF266EFC}"/>
              </a:ext>
            </a:extLst>
          </p:cNvPr>
          <p:cNvGrpSpPr/>
          <p:nvPr/>
        </p:nvGrpSpPr>
        <p:grpSpPr>
          <a:xfrm>
            <a:off x="414338" y="1690688"/>
            <a:ext cx="5346382" cy="4486275"/>
            <a:chOff x="414338" y="1516063"/>
            <a:chExt cx="3997325" cy="4027487"/>
          </a:xfrm>
        </p:grpSpPr>
        <p:sp>
          <p:nvSpPr>
            <p:cNvPr id="32" name="TextBox 16">
              <a:extLst>
                <a:ext uri="{FF2B5EF4-FFF2-40B4-BE49-F238E27FC236}">
                  <a16:creationId xmlns:a16="http://schemas.microsoft.com/office/drawing/2014/main" id="{AC720AB1-E9DE-FF60-1A10-C4E56A8F457A}"/>
                </a:ext>
              </a:extLst>
            </p:cNvPr>
            <p:cNvSpPr txBox="1">
              <a:spLocks noChangeArrowheads="1"/>
            </p:cNvSpPr>
            <p:nvPr/>
          </p:nvSpPr>
          <p:spPr bwMode="auto">
            <a:xfrm>
              <a:off x="2195513" y="1516063"/>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1/3</a:t>
              </a:r>
            </a:p>
          </p:txBody>
        </p:sp>
        <p:grpSp>
          <p:nvGrpSpPr>
            <p:cNvPr id="37" name="Group 36">
              <a:extLst>
                <a:ext uri="{FF2B5EF4-FFF2-40B4-BE49-F238E27FC236}">
                  <a16:creationId xmlns:a16="http://schemas.microsoft.com/office/drawing/2014/main" id="{1C787AF1-9839-A6F6-0DDF-6919FD01D1DD}"/>
                </a:ext>
              </a:extLst>
            </p:cNvPr>
            <p:cNvGrpSpPr/>
            <p:nvPr/>
          </p:nvGrpSpPr>
          <p:grpSpPr>
            <a:xfrm>
              <a:off x="414338" y="1887538"/>
              <a:ext cx="3997325" cy="3656012"/>
              <a:chOff x="414338" y="1887538"/>
              <a:chExt cx="3997325" cy="3656012"/>
            </a:xfrm>
          </p:grpSpPr>
          <p:sp>
            <p:nvSpPr>
              <p:cNvPr id="19" name="Rectangle 5">
                <a:extLst>
                  <a:ext uri="{FF2B5EF4-FFF2-40B4-BE49-F238E27FC236}">
                    <a16:creationId xmlns:a16="http://schemas.microsoft.com/office/drawing/2014/main" id="{07B33963-A04E-BE74-1349-6F6DD4FE8119}"/>
                  </a:ext>
                </a:extLst>
              </p:cNvPr>
              <p:cNvSpPr>
                <a:spLocks noChangeArrowheads="1"/>
              </p:cNvSpPr>
              <p:nvPr/>
            </p:nvSpPr>
            <p:spPr bwMode="auto">
              <a:xfrm>
                <a:off x="1928813" y="1887538"/>
                <a:ext cx="944562" cy="534987"/>
              </a:xfrm>
              <a:prstGeom prst="rect">
                <a:avLst/>
              </a:prstGeom>
              <a:solidFill>
                <a:schemeClr val="accent3"/>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solidFill>
                    <a:schemeClr val="bg1"/>
                  </a:solidFill>
                </a:endParaRPr>
              </a:p>
            </p:txBody>
          </p:sp>
          <p:sp>
            <p:nvSpPr>
              <p:cNvPr id="20" name="Rectangle 15">
                <a:extLst>
                  <a:ext uri="{FF2B5EF4-FFF2-40B4-BE49-F238E27FC236}">
                    <a16:creationId xmlns:a16="http://schemas.microsoft.com/office/drawing/2014/main" id="{1F873DFE-33D8-81A9-401B-94686AC27D86}"/>
                  </a:ext>
                </a:extLst>
              </p:cNvPr>
              <p:cNvSpPr>
                <a:spLocks noChangeArrowheads="1"/>
              </p:cNvSpPr>
              <p:nvPr/>
            </p:nvSpPr>
            <p:spPr bwMode="auto">
              <a:xfrm>
                <a:off x="414338" y="3222625"/>
                <a:ext cx="944562" cy="533400"/>
              </a:xfrm>
              <a:prstGeom prst="rect">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solidFill>
                    <a:schemeClr val="bg1"/>
                  </a:solidFill>
                </a:endParaRPr>
              </a:p>
            </p:txBody>
          </p:sp>
          <p:sp>
            <p:nvSpPr>
              <p:cNvPr id="21" name="Rectangle 16">
                <a:extLst>
                  <a:ext uri="{FF2B5EF4-FFF2-40B4-BE49-F238E27FC236}">
                    <a16:creationId xmlns:a16="http://schemas.microsoft.com/office/drawing/2014/main" id="{5747D799-E1B1-3ED3-8B00-B629C0FB448C}"/>
                  </a:ext>
                </a:extLst>
              </p:cNvPr>
              <p:cNvSpPr>
                <a:spLocks noChangeArrowheads="1"/>
              </p:cNvSpPr>
              <p:nvPr/>
            </p:nvSpPr>
            <p:spPr bwMode="auto">
              <a:xfrm>
                <a:off x="3443288" y="3222625"/>
                <a:ext cx="944562" cy="533400"/>
              </a:xfrm>
              <a:prstGeom prst="rect">
                <a:avLst/>
              </a:prstGeom>
              <a:solidFill>
                <a:schemeClr val="accent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solidFill>
                    <a:schemeClr val="bg1"/>
                  </a:solidFill>
                </a:endParaRPr>
              </a:p>
            </p:txBody>
          </p:sp>
          <p:sp>
            <p:nvSpPr>
              <p:cNvPr id="22" name="Rectangle 17">
                <a:extLst>
                  <a:ext uri="{FF2B5EF4-FFF2-40B4-BE49-F238E27FC236}">
                    <a16:creationId xmlns:a16="http://schemas.microsoft.com/office/drawing/2014/main" id="{B49102F3-0EE0-04AE-ABB6-80A71A1AD180}"/>
                  </a:ext>
                </a:extLst>
              </p:cNvPr>
              <p:cNvSpPr>
                <a:spLocks noChangeArrowheads="1"/>
              </p:cNvSpPr>
              <p:nvPr/>
            </p:nvSpPr>
            <p:spPr bwMode="auto">
              <a:xfrm>
                <a:off x="2681288" y="4633913"/>
                <a:ext cx="944562" cy="533400"/>
              </a:xfrm>
              <a:prstGeom prst="rect">
                <a:avLst/>
              </a:prstGeom>
              <a:solidFill>
                <a:schemeClr val="tx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solidFill>
                    <a:schemeClr val="bg1"/>
                  </a:solidFill>
                </a:endParaRPr>
              </a:p>
            </p:txBody>
          </p:sp>
          <p:sp>
            <p:nvSpPr>
              <p:cNvPr id="23" name="Rectangle 22">
                <a:extLst>
                  <a:ext uri="{FF2B5EF4-FFF2-40B4-BE49-F238E27FC236}">
                    <a16:creationId xmlns:a16="http://schemas.microsoft.com/office/drawing/2014/main" id="{6D781846-AB19-E63E-7664-6B8A8039C529}"/>
                  </a:ext>
                </a:extLst>
              </p:cNvPr>
              <p:cNvSpPr/>
              <p:nvPr/>
            </p:nvSpPr>
            <p:spPr bwMode="auto">
              <a:xfrm>
                <a:off x="1211263" y="4633913"/>
                <a:ext cx="944562" cy="533400"/>
              </a:xfrm>
              <a:prstGeom prst="rect">
                <a:avLst/>
              </a:prstGeom>
              <a:solidFill>
                <a:schemeClr val="accent5"/>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latin typeface="Arial" charset="0"/>
                  <a:ea typeface="+mn-ea"/>
                </a:endParaRPr>
              </a:p>
            </p:txBody>
          </p:sp>
          <p:cxnSp>
            <p:nvCxnSpPr>
              <p:cNvPr id="24" name="Straight Arrow Connector 22">
                <a:extLst>
                  <a:ext uri="{FF2B5EF4-FFF2-40B4-BE49-F238E27FC236}">
                    <a16:creationId xmlns:a16="http://schemas.microsoft.com/office/drawing/2014/main" id="{44668710-3383-4568-12D6-0AC2F1A811E4}"/>
                  </a:ext>
                </a:extLst>
              </p:cNvPr>
              <p:cNvCxnSpPr>
                <a:cxnSpLocks noChangeShapeType="1"/>
                <a:stCxn id="19" idx="2"/>
                <a:endCxn id="23" idx="0"/>
              </p:cNvCxnSpPr>
              <p:nvPr/>
            </p:nvCxnSpPr>
            <p:spPr bwMode="auto">
              <a:xfrm rot="5400000">
                <a:off x="936625" y="3168650"/>
                <a:ext cx="2211388" cy="71913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907F4740-A29E-AAB7-0BF0-CAF7B1932C91}"/>
                  </a:ext>
                </a:extLst>
              </p:cNvPr>
              <p:cNvCxnSpPr>
                <a:cxnSpLocks noChangeShapeType="1"/>
                <a:stCxn id="19" idx="2"/>
                <a:endCxn id="22" idx="0"/>
              </p:cNvCxnSpPr>
              <p:nvPr/>
            </p:nvCxnSpPr>
            <p:spPr bwMode="auto">
              <a:xfrm rot="16200000" flipH="1">
                <a:off x="1671638" y="3152775"/>
                <a:ext cx="2211388" cy="7508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6" name="Straight Arrow Connector 29">
                <a:extLst>
                  <a:ext uri="{FF2B5EF4-FFF2-40B4-BE49-F238E27FC236}">
                    <a16:creationId xmlns:a16="http://schemas.microsoft.com/office/drawing/2014/main" id="{76214B69-4E54-8CAA-08E9-55BF0754ED2C}"/>
                  </a:ext>
                </a:extLst>
              </p:cNvPr>
              <p:cNvCxnSpPr>
                <a:cxnSpLocks noChangeShapeType="1"/>
                <a:stCxn id="19" idx="3"/>
                <a:endCxn id="21" idx="0"/>
              </p:cNvCxnSpPr>
              <p:nvPr/>
            </p:nvCxnSpPr>
            <p:spPr bwMode="auto">
              <a:xfrm>
                <a:off x="2873375" y="2154238"/>
                <a:ext cx="1041400" cy="10683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7" name="Straight Arrow Connector 31">
                <a:extLst>
                  <a:ext uri="{FF2B5EF4-FFF2-40B4-BE49-F238E27FC236}">
                    <a16:creationId xmlns:a16="http://schemas.microsoft.com/office/drawing/2014/main" id="{19CA9B0D-B61C-A8CF-3435-E21A5A24C992}"/>
                  </a:ext>
                </a:extLst>
              </p:cNvPr>
              <p:cNvCxnSpPr>
                <a:cxnSpLocks noChangeShapeType="1"/>
                <a:stCxn id="21" idx="1"/>
                <a:endCxn id="20" idx="3"/>
              </p:cNvCxnSpPr>
              <p:nvPr/>
            </p:nvCxnSpPr>
            <p:spPr bwMode="auto">
              <a:xfrm rot="10800000">
                <a:off x="1358900" y="3489325"/>
                <a:ext cx="208438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8" name="Straight Arrow Connector 33">
                <a:extLst>
                  <a:ext uri="{FF2B5EF4-FFF2-40B4-BE49-F238E27FC236}">
                    <a16:creationId xmlns:a16="http://schemas.microsoft.com/office/drawing/2014/main" id="{C45C3512-D21A-A4DF-CA87-295F7501DF5E}"/>
                  </a:ext>
                </a:extLst>
              </p:cNvPr>
              <p:cNvCxnSpPr>
                <a:cxnSpLocks noChangeShapeType="1"/>
                <a:stCxn id="20" idx="0"/>
                <a:endCxn id="19" idx="1"/>
              </p:cNvCxnSpPr>
              <p:nvPr/>
            </p:nvCxnSpPr>
            <p:spPr bwMode="auto">
              <a:xfrm rot="5400000" flipH="1" flipV="1">
                <a:off x="873919" y="2167732"/>
                <a:ext cx="1068387" cy="1041400"/>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9" name="Straight Arrow Connector 35">
                <a:extLst>
                  <a:ext uri="{FF2B5EF4-FFF2-40B4-BE49-F238E27FC236}">
                    <a16:creationId xmlns:a16="http://schemas.microsoft.com/office/drawing/2014/main" id="{EA39E240-C56C-8437-2F91-8CE08A1AEB18}"/>
                  </a:ext>
                </a:extLst>
              </p:cNvPr>
              <p:cNvCxnSpPr>
                <a:cxnSpLocks noChangeShapeType="1"/>
                <a:stCxn id="23" idx="1"/>
                <a:endCxn id="20" idx="2"/>
              </p:cNvCxnSpPr>
              <p:nvPr/>
            </p:nvCxnSpPr>
            <p:spPr bwMode="auto">
              <a:xfrm rot="10800000">
                <a:off x="887413" y="3756025"/>
                <a:ext cx="323850" cy="1144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0" name="Straight Arrow Connector 37">
                <a:extLst>
                  <a:ext uri="{FF2B5EF4-FFF2-40B4-BE49-F238E27FC236}">
                    <a16:creationId xmlns:a16="http://schemas.microsoft.com/office/drawing/2014/main" id="{506A3375-0CAE-2D0D-3A73-E1660C0A7DF6}"/>
                  </a:ext>
                </a:extLst>
              </p:cNvPr>
              <p:cNvCxnSpPr>
                <a:cxnSpLocks noChangeShapeType="1"/>
                <a:stCxn id="23" idx="3"/>
                <a:endCxn id="22" idx="1"/>
              </p:cNvCxnSpPr>
              <p:nvPr/>
            </p:nvCxnSpPr>
            <p:spPr bwMode="auto">
              <a:xfrm>
                <a:off x="2155825" y="4900613"/>
                <a:ext cx="525463"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31" name="Straight Arrow Connector 39">
                <a:extLst>
                  <a:ext uri="{FF2B5EF4-FFF2-40B4-BE49-F238E27FC236}">
                    <a16:creationId xmlns:a16="http://schemas.microsoft.com/office/drawing/2014/main" id="{73C12E0C-6AF6-4CA0-89F3-5FABACF3DD1F}"/>
                  </a:ext>
                </a:extLst>
              </p:cNvPr>
              <p:cNvCxnSpPr>
                <a:cxnSpLocks noChangeShapeType="1"/>
                <a:stCxn id="21" idx="2"/>
                <a:endCxn id="22" idx="3"/>
              </p:cNvCxnSpPr>
              <p:nvPr/>
            </p:nvCxnSpPr>
            <p:spPr bwMode="auto">
              <a:xfrm rot="5400000">
                <a:off x="3198019" y="4183856"/>
                <a:ext cx="1144588" cy="288925"/>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sp>
            <p:nvSpPr>
              <p:cNvPr id="33" name="TextBox 17">
                <a:extLst>
                  <a:ext uri="{FF2B5EF4-FFF2-40B4-BE49-F238E27FC236}">
                    <a16:creationId xmlns:a16="http://schemas.microsoft.com/office/drawing/2014/main" id="{141D4502-B0C9-3A07-E946-A65BE89F0484}"/>
                  </a:ext>
                </a:extLst>
              </p:cNvPr>
              <p:cNvSpPr txBox="1">
                <a:spLocks noChangeArrowheads="1"/>
              </p:cNvSpPr>
              <p:nvPr/>
            </p:nvSpPr>
            <p:spPr bwMode="auto">
              <a:xfrm>
                <a:off x="3944938" y="2876550"/>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1/2</a:t>
                </a:r>
              </a:p>
            </p:txBody>
          </p:sp>
          <p:sp>
            <p:nvSpPr>
              <p:cNvPr id="34" name="TextBox 19">
                <a:extLst>
                  <a:ext uri="{FF2B5EF4-FFF2-40B4-BE49-F238E27FC236}">
                    <a16:creationId xmlns:a16="http://schemas.microsoft.com/office/drawing/2014/main" id="{9F796E70-FF24-D50D-94C4-55BF73CC85D8}"/>
                  </a:ext>
                </a:extLst>
              </p:cNvPr>
              <p:cNvSpPr txBox="1">
                <a:spLocks noChangeArrowheads="1"/>
              </p:cNvSpPr>
              <p:nvPr/>
            </p:nvSpPr>
            <p:spPr bwMode="auto">
              <a:xfrm>
                <a:off x="2974975" y="5207000"/>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3/0</a:t>
                </a:r>
              </a:p>
            </p:txBody>
          </p:sp>
          <p:sp>
            <p:nvSpPr>
              <p:cNvPr id="35" name="TextBox 20">
                <a:extLst>
                  <a:ext uri="{FF2B5EF4-FFF2-40B4-BE49-F238E27FC236}">
                    <a16:creationId xmlns:a16="http://schemas.microsoft.com/office/drawing/2014/main" id="{567386FF-B252-9AF5-78C6-F66A8551E719}"/>
                  </a:ext>
                </a:extLst>
              </p:cNvPr>
              <p:cNvSpPr txBox="1">
                <a:spLocks noChangeArrowheads="1"/>
              </p:cNvSpPr>
              <p:nvPr/>
            </p:nvSpPr>
            <p:spPr bwMode="auto">
              <a:xfrm>
                <a:off x="1481138" y="5207000"/>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1/2</a:t>
                </a:r>
              </a:p>
            </p:txBody>
          </p:sp>
          <p:sp>
            <p:nvSpPr>
              <p:cNvPr id="36" name="TextBox 21">
                <a:extLst>
                  <a:ext uri="{FF2B5EF4-FFF2-40B4-BE49-F238E27FC236}">
                    <a16:creationId xmlns:a16="http://schemas.microsoft.com/office/drawing/2014/main" id="{C390B6EA-6CD8-2CAE-9CBB-077DEA13C00D}"/>
                  </a:ext>
                </a:extLst>
              </p:cNvPr>
              <p:cNvSpPr txBox="1">
                <a:spLocks noChangeArrowheads="1"/>
              </p:cNvSpPr>
              <p:nvPr/>
            </p:nvSpPr>
            <p:spPr bwMode="auto">
              <a:xfrm>
                <a:off x="500063" y="2898775"/>
                <a:ext cx="466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2/1</a:t>
                </a:r>
              </a:p>
            </p:txBody>
          </p:sp>
        </p:grpSp>
      </p:grpSp>
    </p:spTree>
    <p:extLst>
      <p:ext uri="{BB962C8B-B14F-4D97-AF65-F5344CB8AC3E}">
        <p14:creationId xmlns:p14="http://schemas.microsoft.com/office/powerpoint/2010/main" val="13378734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fontScale="90000"/>
          </a:bodyPr>
          <a:lstStyle/>
          <a:p>
            <a:r>
              <a:rPr lang="en-US" sz="4000" dirty="0">
                <a:latin typeface="Roboto Medium"/>
                <a:ea typeface="Roboto Medium"/>
                <a:cs typeface="Roboto Medium"/>
              </a:rPr>
              <a:t>Define Architecture, Relationships and Interfaces </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89987"/>
            <a:ext cx="9722342" cy="348813"/>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understand the system architecture and how the product/process will interface with other systems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Outline the current NPI process and detail map the NPI process within the project scope.</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Draw the System architecture and hierarchy and detail the product/process to be Leaned.</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a Relationship Diagram or similar to define the interfaces.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Summarize the key elements and interfaces.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27116"/>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Capture your summary in a presentable format.</a:t>
            </a:r>
          </a:p>
        </p:txBody>
      </p:sp>
      <p:grpSp>
        <p:nvGrpSpPr>
          <p:cNvPr id="20" name="Group 19">
            <a:extLst>
              <a:ext uri="{FF2B5EF4-FFF2-40B4-BE49-F238E27FC236}">
                <a16:creationId xmlns:a16="http://schemas.microsoft.com/office/drawing/2014/main" id="{400AB690-E081-4159-CD59-EBB63CC6F528}"/>
              </a:ext>
            </a:extLst>
          </p:cNvPr>
          <p:cNvGrpSpPr/>
          <p:nvPr/>
        </p:nvGrpSpPr>
        <p:grpSpPr>
          <a:xfrm>
            <a:off x="838200" y="297639"/>
            <a:ext cx="3845560" cy="307138"/>
            <a:chOff x="838200" y="297639"/>
            <a:chExt cx="3845560" cy="307138"/>
          </a:xfrm>
        </p:grpSpPr>
        <p:grpSp>
          <p:nvGrpSpPr>
            <p:cNvPr id="10" name="Group 9">
              <a:extLst>
                <a:ext uri="{FF2B5EF4-FFF2-40B4-BE49-F238E27FC236}">
                  <a16:creationId xmlns:a16="http://schemas.microsoft.com/office/drawing/2014/main" id="{3B9B0B4F-21C0-B751-FC5B-0A6477AA8D02}"/>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1153CCB-03AB-E7C0-F602-A7CEAF1A639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065F24-EF73-0E25-EAC2-4F3DDA596FA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 name="Group 2">
                <a:extLst>
                  <a:ext uri="{FF2B5EF4-FFF2-40B4-BE49-F238E27FC236}">
                    <a16:creationId xmlns:a16="http://schemas.microsoft.com/office/drawing/2014/main" id="{D69C5CDF-39D4-F2C7-AF6E-9B85E20A1ACA}"/>
                  </a:ext>
                </a:extLst>
              </p:cNvPr>
              <p:cNvGrpSpPr/>
              <p:nvPr/>
            </p:nvGrpSpPr>
            <p:grpSpPr>
              <a:xfrm>
                <a:off x="838200" y="297639"/>
                <a:ext cx="1060167" cy="290657"/>
                <a:chOff x="826426" y="4041857"/>
                <a:chExt cx="1060167" cy="290657"/>
              </a:xfrm>
            </p:grpSpPr>
            <p:sp>
              <p:nvSpPr>
                <p:cNvPr id="4" name="AutoShape 9">
                  <a:extLst>
                    <a:ext uri="{FF2B5EF4-FFF2-40B4-BE49-F238E27FC236}">
                      <a16:creationId xmlns:a16="http://schemas.microsoft.com/office/drawing/2014/main" id="{4A87C677-CA3B-AF09-CA4A-985F1AD3A4E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5C0730F4-93D4-D55D-4620-A50244652B5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0">
                  <a:extLst>
                    <a:ext uri="{FF2B5EF4-FFF2-40B4-BE49-F238E27FC236}">
                      <a16:creationId xmlns:a16="http://schemas.microsoft.com/office/drawing/2014/main" id="{2AF64AE7-DB5B-CE33-23AB-D8E9D0CB13D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9AC35935-FEC9-B26F-340B-235A7D0D2F87}"/>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7161527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4000" dirty="0"/>
              <a:t>Understanding Customer Requirements</a:t>
            </a:r>
            <a:endParaRPr lang="en-US" sz="40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sz="3200" dirty="0"/>
              <a:t>Voice Of Customer (VOC)</a:t>
            </a:r>
          </a:p>
          <a:p>
            <a:r>
              <a:rPr lang="en-US" altLang="en-US" sz="3200" dirty="0"/>
              <a:t>Converting “fuzzy” VOC feedback into workable specifications</a:t>
            </a:r>
          </a:p>
          <a:p>
            <a:r>
              <a:rPr lang="en-US" altLang="en-US" sz="3200" dirty="0"/>
              <a:t>Developing an Affinity diagram of requirements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1031998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3600" dirty="0"/>
              <a:t>The importance of defining the requirements</a:t>
            </a:r>
            <a:endParaRPr lang="en-US" sz="36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4" name="Picture 2" descr="http://www.i-dialogue.com/blogs/main/content/binary/TireSwingCartoon.png">
            <a:extLst>
              <a:ext uri="{FF2B5EF4-FFF2-40B4-BE49-F238E27FC236}">
                <a16:creationId xmlns:a16="http://schemas.microsoft.com/office/drawing/2014/main" id="{9E4190FF-5221-0645-2F0F-400F77DC231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173"/>
          <a:stretch>
            <a:fillRect/>
          </a:stretch>
        </p:blipFill>
        <p:spPr bwMode="auto">
          <a:xfrm>
            <a:off x="2354177" y="1836249"/>
            <a:ext cx="7483647"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63234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altLang="en-US" dirty="0"/>
              <a:t>Voice Of Customer at Product/Process Level</a:t>
            </a: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5" name="Group 4">
            <a:extLst>
              <a:ext uri="{FF2B5EF4-FFF2-40B4-BE49-F238E27FC236}">
                <a16:creationId xmlns:a16="http://schemas.microsoft.com/office/drawing/2014/main" id="{457CA0F3-73CA-F6EC-9CC5-84DEA34AF1B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DD01381-EC63-AE12-9839-90FE63EA67AA}"/>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6149C9A-5C99-1D3D-6D70-3FDE1E18E57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F1E3309-D57B-61C1-E9DD-3F8BD7D3750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C625C07-16DC-28C4-D316-EE6832813A4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08886E6F-CBD9-F5AA-CAD6-60CB6B542C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4BE94C6-A3E7-90D4-87F9-D492D52412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941510E9-FD3F-972B-E971-C117FDAC790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6AFCF66A-06B8-3FDB-6FF0-10C8E5317653}"/>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
        <p:nvSpPr>
          <p:cNvPr id="3" name="Content Placeholder 2">
            <a:extLst>
              <a:ext uri="{FF2B5EF4-FFF2-40B4-BE49-F238E27FC236}">
                <a16:creationId xmlns:a16="http://schemas.microsoft.com/office/drawing/2014/main" id="{3E7E54DB-09A9-9796-8D7F-8D562ED21C29}"/>
              </a:ext>
            </a:extLst>
          </p:cNvPr>
          <p:cNvSpPr>
            <a:spLocks noGrp="1"/>
          </p:cNvSpPr>
          <p:nvPr>
            <p:ph sz="half" idx="1"/>
          </p:nvPr>
        </p:nvSpPr>
        <p:spPr/>
        <p:txBody>
          <a:bodyPr>
            <a:normAutofit fontScale="85000" lnSpcReduction="20000"/>
          </a:bodyPr>
          <a:lstStyle/>
          <a:p>
            <a:r>
              <a:rPr lang="en-US" dirty="0"/>
              <a:t>Listening to customer needs and wants (external &amp; internal)</a:t>
            </a:r>
          </a:p>
          <a:p>
            <a:r>
              <a:rPr lang="en-US" dirty="0"/>
              <a:t>Internal feedback</a:t>
            </a:r>
          </a:p>
          <a:p>
            <a:pPr lvl="1"/>
            <a:r>
              <a:rPr lang="en-US" dirty="0"/>
              <a:t>Engineering Change log</a:t>
            </a:r>
          </a:p>
          <a:p>
            <a:pPr lvl="1"/>
            <a:r>
              <a:rPr lang="en-US" dirty="0"/>
              <a:t>Concession notes</a:t>
            </a:r>
          </a:p>
          <a:p>
            <a:pPr lvl="1"/>
            <a:r>
              <a:rPr lang="en-US" dirty="0"/>
              <a:t>Cost of Quality</a:t>
            </a:r>
          </a:p>
          <a:p>
            <a:pPr lvl="1"/>
            <a:r>
              <a:rPr lang="en-US" dirty="0"/>
              <a:t>Key personnel interviews</a:t>
            </a:r>
          </a:p>
          <a:p>
            <a:r>
              <a:rPr lang="en-US" dirty="0"/>
              <a:t>Customer feedback</a:t>
            </a:r>
          </a:p>
          <a:p>
            <a:pPr lvl="1"/>
            <a:r>
              <a:rPr lang="en-US" dirty="0"/>
              <a:t>surveys</a:t>
            </a:r>
          </a:p>
          <a:p>
            <a:pPr lvl="1"/>
            <a:r>
              <a:rPr lang="en-US" dirty="0"/>
              <a:t>feedback forms</a:t>
            </a:r>
          </a:p>
          <a:p>
            <a:pPr lvl="1"/>
            <a:r>
              <a:rPr lang="en-US" dirty="0"/>
              <a:t>focus groups</a:t>
            </a:r>
          </a:p>
          <a:p>
            <a:r>
              <a:rPr lang="en-US" dirty="0"/>
              <a:t>Specifications</a:t>
            </a:r>
          </a:p>
          <a:p>
            <a:r>
              <a:rPr lang="en-US" dirty="0"/>
              <a:t>Standards/legal requirements</a:t>
            </a:r>
          </a:p>
          <a:p>
            <a:endParaRPr lang="en-US" dirty="0"/>
          </a:p>
        </p:txBody>
      </p:sp>
      <p:pic>
        <p:nvPicPr>
          <p:cNvPr id="15" name="Picture 4">
            <a:extLst>
              <a:ext uri="{FF2B5EF4-FFF2-40B4-BE49-F238E27FC236}">
                <a16:creationId xmlns:a16="http://schemas.microsoft.com/office/drawing/2014/main" id="{F0C05AA6-8504-EE4D-B47D-B6F9C61363C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250622" y="1783428"/>
            <a:ext cx="4417378" cy="4405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4637487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altLang="en-US" sz="3600" dirty="0"/>
              <a:t>Interviews regarding current process/design</a:t>
            </a:r>
            <a:endParaRPr lang="en-US" sz="3600"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59</a:t>
            </a:fld>
            <a:endParaRPr lang="en-US"/>
          </a:p>
        </p:txBody>
      </p:sp>
      <p:grpSp>
        <p:nvGrpSpPr>
          <p:cNvPr id="5" name="Group 4">
            <a:extLst>
              <a:ext uri="{FF2B5EF4-FFF2-40B4-BE49-F238E27FC236}">
                <a16:creationId xmlns:a16="http://schemas.microsoft.com/office/drawing/2014/main" id="{457CA0F3-73CA-F6EC-9CC5-84DEA34AF1B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DD01381-EC63-AE12-9839-90FE63EA67AA}"/>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6149C9A-5C99-1D3D-6D70-3FDE1E18E57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F1E3309-D57B-61C1-E9DD-3F8BD7D3750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C625C07-16DC-28C4-D316-EE6832813A4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08886E6F-CBD9-F5AA-CAD6-60CB6B542C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4BE94C6-A3E7-90D4-87F9-D492D52412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941510E9-FD3F-972B-E971-C117FDAC790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6AFCF66A-06B8-3FDB-6FF0-10C8E5317653}"/>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pic>
        <p:nvPicPr>
          <p:cNvPr id="4" name="Picture 4" descr="bigstockphoto_Offering_Advice_697755">
            <a:extLst>
              <a:ext uri="{FF2B5EF4-FFF2-40B4-BE49-F238E27FC236}">
                <a16:creationId xmlns:a16="http://schemas.microsoft.com/office/drawing/2014/main" id="{ED613F85-6680-21FF-F024-D1CA6894725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402030"/>
            <a:ext cx="4659630" cy="309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ontent Placeholder 15">
            <a:extLst>
              <a:ext uri="{FF2B5EF4-FFF2-40B4-BE49-F238E27FC236}">
                <a16:creationId xmlns:a16="http://schemas.microsoft.com/office/drawing/2014/main" id="{3B8DD3CC-70DB-7C7D-D964-6A1C6DFB849F}"/>
              </a:ext>
            </a:extLst>
          </p:cNvPr>
          <p:cNvSpPr>
            <a:spLocks noGrp="1"/>
          </p:cNvSpPr>
          <p:nvPr>
            <p:ph sz="half" idx="2"/>
          </p:nvPr>
        </p:nvSpPr>
        <p:spPr/>
        <p:txBody>
          <a:bodyPr/>
          <a:lstStyle/>
          <a:p>
            <a:r>
              <a:rPr lang="en-US" altLang="en-US" dirty="0"/>
              <a:t>Operators</a:t>
            </a:r>
          </a:p>
          <a:p>
            <a:r>
              <a:rPr lang="en-US" altLang="en-US" dirty="0"/>
              <a:t>Supervisors</a:t>
            </a:r>
          </a:p>
          <a:p>
            <a:r>
              <a:rPr lang="en-US" altLang="en-US" dirty="0"/>
              <a:t>Inspectors</a:t>
            </a:r>
          </a:p>
          <a:p>
            <a:r>
              <a:rPr lang="en-US" altLang="en-US" dirty="0"/>
              <a:t>Managers</a:t>
            </a:r>
          </a:p>
          <a:p>
            <a:r>
              <a:rPr lang="en-US" altLang="en-US" dirty="0"/>
              <a:t>Material Handlers</a:t>
            </a:r>
          </a:p>
          <a:p>
            <a:r>
              <a:rPr lang="en-US" altLang="en-US" dirty="0"/>
              <a:t>Maintenance</a:t>
            </a:r>
          </a:p>
          <a:p>
            <a:r>
              <a:rPr lang="en-US" altLang="en-US" dirty="0"/>
              <a:t>Installers</a:t>
            </a:r>
          </a:p>
          <a:p>
            <a:r>
              <a:rPr lang="en-US" altLang="en-US" dirty="0"/>
              <a:t>Tech Support</a:t>
            </a:r>
          </a:p>
          <a:p>
            <a:endParaRPr lang="en-US" dirty="0"/>
          </a:p>
        </p:txBody>
      </p:sp>
    </p:spTree>
    <p:extLst>
      <p:ext uri="{BB962C8B-B14F-4D97-AF65-F5344CB8AC3E}">
        <p14:creationId xmlns:p14="http://schemas.microsoft.com/office/powerpoint/2010/main" val="30813751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4000" dirty="0"/>
              <a:t>Creating Specifications from Fuzzy VOC</a:t>
            </a:r>
            <a:endParaRPr lang="en-US" sz="40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sz="2400" dirty="0"/>
              <a:t>Often Voice Of Customer is stated in general terms, unclear or “fuzzy”</a:t>
            </a:r>
          </a:p>
          <a:p>
            <a:r>
              <a:rPr lang="en-US" altLang="en-US" sz="2400" dirty="0"/>
              <a:t>Take each statement and turn it in to clearly defined, measurable goal – focus on benefits not features</a:t>
            </a:r>
          </a:p>
          <a:p>
            <a:r>
              <a:rPr lang="en-US" altLang="en-US" sz="2400" dirty="0"/>
              <a:t>Example: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grpSp>
        <p:nvGrpSpPr>
          <p:cNvPr id="14" name="Group 13">
            <a:extLst>
              <a:ext uri="{FF2B5EF4-FFF2-40B4-BE49-F238E27FC236}">
                <a16:creationId xmlns:a16="http://schemas.microsoft.com/office/drawing/2014/main" id="{EA05FFDF-CF7A-4FC0-8DC7-2C0DA0DC0765}"/>
              </a:ext>
            </a:extLst>
          </p:cNvPr>
          <p:cNvGrpSpPr/>
          <p:nvPr/>
        </p:nvGrpSpPr>
        <p:grpSpPr>
          <a:xfrm>
            <a:off x="838200" y="297639"/>
            <a:ext cx="3845560" cy="307138"/>
            <a:chOff x="838200" y="297639"/>
            <a:chExt cx="3845560" cy="307138"/>
          </a:xfrm>
        </p:grpSpPr>
        <p:grpSp>
          <p:nvGrpSpPr>
            <p:cNvPr id="15" name="Group 14">
              <a:extLst>
                <a:ext uri="{FF2B5EF4-FFF2-40B4-BE49-F238E27FC236}">
                  <a16:creationId xmlns:a16="http://schemas.microsoft.com/office/drawing/2014/main" id="{ABC93208-F347-57CD-324E-805DF71F93CA}"/>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757A5801-A61A-4E45-BCC6-148031E4DFF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E434173A-6CDE-CC70-F8AB-582106A6091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BA2C9C1D-3132-EABE-70BB-0458CA6701E4}"/>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4863CAE1-819C-A774-F240-47A31ECD36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1">
                  <a:extLst>
                    <a:ext uri="{FF2B5EF4-FFF2-40B4-BE49-F238E27FC236}">
                      <a16:creationId xmlns:a16="http://schemas.microsoft.com/office/drawing/2014/main" id="{B7E1D9F3-81D5-62E4-B829-28B8649B4CE3}"/>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F6788561-5791-3D61-7F22-2FA58035237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6" name="TextBox 15">
              <a:extLst>
                <a:ext uri="{FF2B5EF4-FFF2-40B4-BE49-F238E27FC236}">
                  <a16:creationId xmlns:a16="http://schemas.microsoft.com/office/drawing/2014/main" id="{7426744B-9EA9-EFB6-B99F-AC3FAA05D3C4}"/>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graphicFrame>
        <p:nvGraphicFramePr>
          <p:cNvPr id="7" name="Table 7">
            <a:extLst>
              <a:ext uri="{FF2B5EF4-FFF2-40B4-BE49-F238E27FC236}">
                <a16:creationId xmlns:a16="http://schemas.microsoft.com/office/drawing/2014/main" id="{D0C569F6-22F5-630A-5927-6F954725F7CF}"/>
              </a:ext>
            </a:extLst>
          </p:cNvPr>
          <p:cNvGraphicFramePr>
            <a:graphicFrameLocks noGrp="1"/>
          </p:cNvGraphicFramePr>
          <p:nvPr>
            <p:extLst>
              <p:ext uri="{D42A27DB-BD31-4B8C-83A1-F6EECF244321}">
                <p14:modId xmlns:p14="http://schemas.microsoft.com/office/powerpoint/2010/main" val="30274241"/>
              </p:ext>
            </p:extLst>
          </p:nvPr>
        </p:nvGraphicFramePr>
        <p:xfrm>
          <a:off x="2092900" y="3564414"/>
          <a:ext cx="8128000" cy="2377440"/>
        </p:xfrm>
        <a:graphic>
          <a:graphicData uri="http://schemas.openxmlformats.org/drawingml/2006/table">
            <a:tbl>
              <a:tblPr>
                <a:tableStyleId>{2D5ABB26-0587-4C30-8999-92F81FD0307C}</a:tableStyleId>
              </a:tblPr>
              <a:tblGrid>
                <a:gridCol w="4064000">
                  <a:extLst>
                    <a:ext uri="{9D8B030D-6E8A-4147-A177-3AD203B41FA5}">
                      <a16:colId xmlns:a16="http://schemas.microsoft.com/office/drawing/2014/main" val="1885187014"/>
                    </a:ext>
                  </a:extLst>
                </a:gridCol>
                <a:gridCol w="4064000">
                  <a:extLst>
                    <a:ext uri="{9D8B030D-6E8A-4147-A177-3AD203B41FA5}">
                      <a16:colId xmlns:a16="http://schemas.microsoft.com/office/drawing/2014/main" val="4067490816"/>
                    </a:ext>
                  </a:extLst>
                </a:gridCol>
              </a:tblGrid>
              <a:tr h="370840">
                <a:tc>
                  <a:txBody>
                    <a:bodyPr/>
                    <a:lstStyle/>
                    <a:p>
                      <a:r>
                        <a:rPr lang="en-US" dirty="0">
                          <a:latin typeface="Roboto" panose="02000000000000000000" pitchFamily="2" charset="0"/>
                          <a:ea typeface="Roboto" panose="02000000000000000000" pitchFamily="2" charset="0"/>
                        </a:rPr>
                        <a:t>“I want a fast service”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Measure: time from receipt of order to order fulfilment</a:t>
                      </a:r>
                    </a:p>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Nominal target: 5 days</a:t>
                      </a:r>
                    </a:p>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Tolerance: +/- 2 days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208571"/>
                  </a:ext>
                </a:extLst>
              </a:tr>
              <a:tr h="370840">
                <a:tc>
                  <a:txBody>
                    <a:bodyPr/>
                    <a:lstStyle/>
                    <a:p>
                      <a:r>
                        <a:rPr lang="en-US" dirty="0">
                          <a:latin typeface="Roboto" panose="02000000000000000000" pitchFamily="2" charset="0"/>
                          <a:ea typeface="Roboto" panose="02000000000000000000" pitchFamily="2" charset="0"/>
                        </a:rPr>
                        <a:t>“It must have good quality”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Measure: number of marks visible to the naked eye in 500 lux of light</a:t>
                      </a:r>
                    </a:p>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Nominal target: 0 defects per item</a:t>
                      </a:r>
                    </a:p>
                    <a:p>
                      <a:pPr marL="285750" indent="-285750">
                        <a:buFont typeface="Arial" panose="020B0604020202020204" pitchFamily="34" charset="0"/>
                        <a:buChar char="•"/>
                      </a:pPr>
                      <a:r>
                        <a:rPr lang="en-US" dirty="0">
                          <a:latin typeface="Roboto" panose="02000000000000000000" pitchFamily="2" charset="0"/>
                          <a:ea typeface="Roboto" panose="02000000000000000000" pitchFamily="2" charset="0"/>
                        </a:rPr>
                        <a:t>Tolerance: + 1 defect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2187719"/>
                  </a:ext>
                </a:extLst>
              </a:tr>
            </a:tbl>
          </a:graphicData>
        </a:graphic>
      </p:graphicFrame>
    </p:spTree>
    <p:extLst>
      <p:ext uri="{BB962C8B-B14F-4D97-AF65-F5344CB8AC3E}">
        <p14:creationId xmlns:p14="http://schemas.microsoft.com/office/powerpoint/2010/main" val="29003464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altLang="en-US" sz="2800" dirty="0"/>
              <a:t>Grouping and Analyzing Specifications with an Affinity Diagram</a:t>
            </a:r>
            <a:endParaRPr lang="en-US" sz="2800"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grpSp>
        <p:nvGrpSpPr>
          <p:cNvPr id="5" name="Group 4">
            <a:extLst>
              <a:ext uri="{FF2B5EF4-FFF2-40B4-BE49-F238E27FC236}">
                <a16:creationId xmlns:a16="http://schemas.microsoft.com/office/drawing/2014/main" id="{457CA0F3-73CA-F6EC-9CC5-84DEA34AF1B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3DD01381-EC63-AE12-9839-90FE63EA67AA}"/>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E6149C9A-5C99-1D3D-6D70-3FDE1E18E57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CF1E3309-D57B-61C1-E9DD-3F8BD7D3750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DC625C07-16DC-28C4-D316-EE6832813A42}"/>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08886E6F-CBD9-F5AA-CAD6-60CB6B542C6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4BE94C6-A3E7-90D4-87F9-D492D5241239}"/>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941510E9-FD3F-972B-E971-C117FDAC790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6AFCF66A-06B8-3FDB-6FF0-10C8E5317653}"/>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
        <p:nvSpPr>
          <p:cNvPr id="3" name="Content Placeholder 2">
            <a:extLst>
              <a:ext uri="{FF2B5EF4-FFF2-40B4-BE49-F238E27FC236}">
                <a16:creationId xmlns:a16="http://schemas.microsoft.com/office/drawing/2014/main" id="{37A7271E-4C2F-CC85-993E-7FF9E03BD7BA}"/>
              </a:ext>
            </a:extLst>
          </p:cNvPr>
          <p:cNvSpPr>
            <a:spLocks noGrp="1"/>
          </p:cNvSpPr>
          <p:nvPr>
            <p:ph sz="half" idx="1"/>
          </p:nvPr>
        </p:nvSpPr>
        <p:spPr/>
        <p:txBody>
          <a:bodyPr>
            <a:normAutofit fontScale="92500" lnSpcReduction="20000"/>
          </a:bodyPr>
          <a:lstStyle/>
          <a:p>
            <a:r>
              <a:rPr lang="en-US" dirty="0"/>
              <a:t>Capture all requirements on Post-Its</a:t>
            </a:r>
          </a:p>
          <a:p>
            <a:r>
              <a:rPr lang="en-US" dirty="0"/>
              <a:t>Stick each Post-It onto a large surface (wall)</a:t>
            </a:r>
          </a:p>
          <a:p>
            <a:r>
              <a:rPr lang="en-US" dirty="0"/>
              <a:t>Group under logical clearly defined headings</a:t>
            </a:r>
          </a:p>
          <a:p>
            <a:r>
              <a:rPr lang="en-US" dirty="0"/>
              <a:t>Place key specifications towards the top</a:t>
            </a:r>
          </a:p>
          <a:p>
            <a:r>
              <a:rPr lang="en-US" dirty="0"/>
              <a:t>Combine and simplify until the team is satisfied they have captured the important requirements.</a:t>
            </a:r>
          </a:p>
        </p:txBody>
      </p:sp>
      <p:pic>
        <p:nvPicPr>
          <p:cNvPr id="18" name="Picture 4" descr="affinity">
            <a:extLst>
              <a:ext uri="{FF2B5EF4-FFF2-40B4-BE49-F238E27FC236}">
                <a16:creationId xmlns:a16="http://schemas.microsoft.com/office/drawing/2014/main" id="{51CA8007-8473-7486-B73E-FE0A7C3F794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059930" y="2466181"/>
            <a:ext cx="3435350" cy="344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5">
            <a:extLst>
              <a:ext uri="{FF2B5EF4-FFF2-40B4-BE49-F238E27FC236}">
                <a16:creationId xmlns:a16="http://schemas.microsoft.com/office/drawing/2014/main" id="{C5242E6F-C512-9353-B702-43F33FA71248}"/>
              </a:ext>
            </a:extLst>
          </p:cNvPr>
          <p:cNvSpPr txBox="1">
            <a:spLocks noChangeArrowheads="1"/>
          </p:cNvSpPr>
          <p:nvPr/>
        </p:nvSpPr>
        <p:spPr bwMode="auto">
          <a:xfrm>
            <a:off x="7453788" y="1997075"/>
            <a:ext cx="2488339" cy="34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square" lIns="91433" tIns="45717" rIns="91433" bIns="45717">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000" dirty="0">
                <a:latin typeface="Roboto" panose="02000000000000000000" pitchFamily="2" charset="0"/>
                <a:ea typeface="Roboto" panose="02000000000000000000" pitchFamily="2" charset="0"/>
              </a:rPr>
              <a:t>Affinity Diagram</a:t>
            </a:r>
          </a:p>
        </p:txBody>
      </p:sp>
    </p:spTree>
    <p:extLst>
      <p:ext uri="{BB962C8B-B14F-4D97-AF65-F5344CB8AC3E}">
        <p14:creationId xmlns:p14="http://schemas.microsoft.com/office/powerpoint/2010/main" val="25246960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Turn VOC into Specifications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 clearly define the key specifications and requirements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VOC, specifications and standards and organize into clearly defined, simple-to-understand requirements.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27116"/>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Affinity Diagram or similar of requirements.</a:t>
            </a:r>
          </a:p>
        </p:txBody>
      </p:sp>
      <p:grpSp>
        <p:nvGrpSpPr>
          <p:cNvPr id="20" name="Group 19">
            <a:extLst>
              <a:ext uri="{FF2B5EF4-FFF2-40B4-BE49-F238E27FC236}">
                <a16:creationId xmlns:a16="http://schemas.microsoft.com/office/drawing/2014/main" id="{400AB690-E081-4159-CD59-EBB63CC6F528}"/>
              </a:ext>
            </a:extLst>
          </p:cNvPr>
          <p:cNvGrpSpPr/>
          <p:nvPr/>
        </p:nvGrpSpPr>
        <p:grpSpPr>
          <a:xfrm>
            <a:off x="838200" y="297639"/>
            <a:ext cx="3845560" cy="307138"/>
            <a:chOff x="838200" y="297639"/>
            <a:chExt cx="3845560" cy="307138"/>
          </a:xfrm>
        </p:grpSpPr>
        <p:grpSp>
          <p:nvGrpSpPr>
            <p:cNvPr id="10" name="Group 9">
              <a:extLst>
                <a:ext uri="{FF2B5EF4-FFF2-40B4-BE49-F238E27FC236}">
                  <a16:creationId xmlns:a16="http://schemas.microsoft.com/office/drawing/2014/main" id="{3B9B0B4F-21C0-B751-FC5B-0A6477AA8D02}"/>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1153CCB-03AB-E7C0-F602-A7CEAF1A639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065F24-EF73-0E25-EAC2-4F3DDA596FA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 name="Group 2">
                <a:extLst>
                  <a:ext uri="{FF2B5EF4-FFF2-40B4-BE49-F238E27FC236}">
                    <a16:creationId xmlns:a16="http://schemas.microsoft.com/office/drawing/2014/main" id="{D69C5CDF-39D4-F2C7-AF6E-9B85E20A1ACA}"/>
                  </a:ext>
                </a:extLst>
              </p:cNvPr>
              <p:cNvGrpSpPr/>
              <p:nvPr/>
            </p:nvGrpSpPr>
            <p:grpSpPr>
              <a:xfrm>
                <a:off x="838200" y="297639"/>
                <a:ext cx="1060167" cy="290657"/>
                <a:chOff x="826426" y="4041857"/>
                <a:chExt cx="1060167" cy="290657"/>
              </a:xfrm>
            </p:grpSpPr>
            <p:sp>
              <p:nvSpPr>
                <p:cNvPr id="4" name="AutoShape 9">
                  <a:extLst>
                    <a:ext uri="{FF2B5EF4-FFF2-40B4-BE49-F238E27FC236}">
                      <a16:creationId xmlns:a16="http://schemas.microsoft.com/office/drawing/2014/main" id="{4A87C677-CA3B-AF09-CA4A-985F1AD3A4E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5C0730F4-93D4-D55D-4620-A50244652B5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0">
                  <a:extLst>
                    <a:ext uri="{FF2B5EF4-FFF2-40B4-BE49-F238E27FC236}">
                      <a16:creationId xmlns:a16="http://schemas.microsoft.com/office/drawing/2014/main" id="{2AF64AE7-DB5B-CE33-23AB-D8E9D0CB13D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9AC35935-FEC9-B26F-340B-235A7D0D2F87}"/>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34527141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Determine Current Performance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Undertake Muda walk and observation of current process/design</a:t>
            </a:r>
          </a:p>
          <a:p>
            <a:r>
              <a:rPr lang="en-US" sz="2400" dirty="0"/>
              <a:t>Complete “before” video and take digital photos</a:t>
            </a:r>
          </a:p>
          <a:p>
            <a:r>
              <a:rPr lang="en-US" sz="2400" dirty="0"/>
              <a:t>List issues for safety, ergonomics, quality, delivery, cost</a:t>
            </a:r>
          </a:p>
          <a:p>
            <a:r>
              <a:rPr lang="en-US" sz="2400" dirty="0"/>
              <a:t>Collect data on Key Performance Indicators</a:t>
            </a:r>
          </a:p>
          <a:p>
            <a:r>
              <a:rPr lang="en-US" sz="2400" dirty="0"/>
              <a:t>Brainstorm and complete Affinity Diagram process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and Event Charter</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Current</a:t>
                </a:r>
              </a:p>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Performance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 and</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Objectives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3P Overview</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Training</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8726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What is “Waste”?</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64</a:t>
            </a:fld>
            <a:endParaRPr lang="en-US" dirty="0"/>
          </a:p>
        </p:txBody>
      </p:sp>
      <p:graphicFrame>
        <p:nvGraphicFramePr>
          <p:cNvPr id="12" name="Table">
            <a:extLst>
              <a:ext uri="{FF2B5EF4-FFF2-40B4-BE49-F238E27FC236}">
                <a16:creationId xmlns:a16="http://schemas.microsoft.com/office/drawing/2014/main" id="{4DC24FE0-DEBE-2440-59A4-EAA62B706ECC}"/>
              </a:ext>
            </a:extLst>
          </p:cNvPr>
          <p:cNvGraphicFramePr/>
          <p:nvPr>
            <p:extLst>
              <p:ext uri="{D42A27DB-BD31-4B8C-83A1-F6EECF244321}">
                <p14:modId xmlns:p14="http://schemas.microsoft.com/office/powerpoint/2010/main" val="469858304"/>
              </p:ext>
            </p:extLst>
          </p:nvPr>
        </p:nvGraphicFramePr>
        <p:xfrm>
          <a:off x="838200" y="1976559"/>
          <a:ext cx="10337800" cy="4213587"/>
        </p:xfrm>
        <a:graphic>
          <a:graphicData uri="http://schemas.openxmlformats.org/drawingml/2006/table">
            <a:tbl>
              <a:tblPr/>
              <a:tblGrid>
                <a:gridCol w="2686703">
                  <a:extLst>
                    <a:ext uri="{9D8B030D-6E8A-4147-A177-3AD203B41FA5}">
                      <a16:colId xmlns:a16="http://schemas.microsoft.com/office/drawing/2014/main" val="20000"/>
                    </a:ext>
                  </a:extLst>
                </a:gridCol>
                <a:gridCol w="7651097">
                  <a:extLst>
                    <a:ext uri="{9D8B030D-6E8A-4147-A177-3AD203B41FA5}">
                      <a16:colId xmlns:a16="http://schemas.microsoft.com/office/drawing/2014/main" val="20002"/>
                    </a:ext>
                  </a:extLst>
                </a:gridCol>
              </a:tblGrid>
              <a:tr h="444017">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2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Types of Waste</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Descriptions</a:t>
                      </a:r>
                      <a:endParaRPr sz="2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1409900">
                <a:tc>
                  <a:txBody>
                    <a:bodyPr/>
                    <a:lstStyle/>
                    <a:p>
                      <a:pPr marL="0" indent="0" algn="l">
                        <a:buNone/>
                      </a:pPr>
                      <a:r>
                        <a:rPr lang="en-US" sz="2400" dirty="0">
                          <a:solidFill>
                            <a:schemeClr val="bg2">
                              <a:lumMod val="10000"/>
                            </a:schemeClr>
                          </a:solidFill>
                          <a:latin typeface="Roboto"/>
                          <a:ea typeface="Roboto"/>
                          <a:cs typeface="Roboto"/>
                        </a:rPr>
                        <a:t>1. Muda</a:t>
                      </a:r>
                      <a:endParaRPr lang="en-US" sz="2800" dirty="0"/>
                    </a:p>
                  </a:txBody>
                  <a:tcPr anchor="ctr" horzOverflow="overflow">
                    <a:lnL w="0">
                      <a:miter lim="400000"/>
                    </a:lnL>
                    <a:lnR w="0">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Any activity that consumes resources without creating value for the customer</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979863">
                <a:tc>
                  <a:txBody>
                    <a:bodyPr/>
                    <a:lstStyle/>
                    <a:p>
                      <a:pPr marL="0" indent="0" algn="l" rtl="0" eaLnBrk="1" latinLnBrk="0" hangingPunct="1">
                        <a:buNone/>
                      </a:pPr>
                      <a:r>
                        <a:rPr lang="en-US" sz="2400" kern="1200" dirty="0">
                          <a:solidFill>
                            <a:schemeClr val="bg2">
                              <a:lumMod val="10000"/>
                            </a:schemeClr>
                          </a:solidFill>
                          <a:latin typeface="Roboto"/>
                          <a:ea typeface="Roboto"/>
                          <a:cs typeface="Roboto"/>
                        </a:rPr>
                        <a:t>2. Mura</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24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Unevenness in a process; for example an uneven work pace causing people to hurry and wait</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366624">
                <a:tc>
                  <a:txBody>
                    <a:bodyPr/>
                    <a:lstStyle/>
                    <a:p>
                      <a:pPr algn="l"/>
                      <a:r>
                        <a:rPr lang="en-US" sz="2400" dirty="0">
                          <a:solidFill>
                            <a:schemeClr val="bg2">
                              <a:lumMod val="10000"/>
                            </a:schemeClr>
                          </a:solidFill>
                          <a:latin typeface="Roboto"/>
                          <a:ea typeface="Roboto"/>
                          <a:cs typeface="Roboto"/>
                        </a:rPr>
                        <a:t>3. Muri</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Overburdening, overloading, or stressing of resources (such as people or equipment)</a:t>
                      </a:r>
                    </a:p>
                  </a:txBody>
                  <a:tcPr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0003"/>
                  </a:ext>
                </a:extLst>
              </a:tr>
            </a:tbl>
          </a:graphicData>
        </a:graphic>
      </p:graphicFrame>
      <p:grpSp>
        <p:nvGrpSpPr>
          <p:cNvPr id="2" name="Group 1">
            <a:extLst>
              <a:ext uri="{FF2B5EF4-FFF2-40B4-BE49-F238E27FC236}">
                <a16:creationId xmlns:a16="http://schemas.microsoft.com/office/drawing/2014/main" id="{06B29C2E-8DE7-A7E3-7411-4211D92C082A}"/>
              </a:ext>
            </a:extLst>
          </p:cNvPr>
          <p:cNvGrpSpPr/>
          <p:nvPr/>
        </p:nvGrpSpPr>
        <p:grpSpPr>
          <a:xfrm>
            <a:off x="838200" y="297639"/>
            <a:ext cx="3845560" cy="307138"/>
            <a:chOff x="838200" y="297639"/>
            <a:chExt cx="3845560" cy="307138"/>
          </a:xfrm>
        </p:grpSpPr>
        <p:grpSp>
          <p:nvGrpSpPr>
            <p:cNvPr id="3" name="Group 2">
              <a:extLst>
                <a:ext uri="{FF2B5EF4-FFF2-40B4-BE49-F238E27FC236}">
                  <a16:creationId xmlns:a16="http://schemas.microsoft.com/office/drawing/2014/main" id="{B40E5960-8A46-446E-C328-05E67A768B89}"/>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0D657C4-9BBA-5A25-88F3-9023B4C614E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B1F5B75-7A99-4415-44E6-BF744106490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EC1BDFB6-6122-04D6-25C9-249071316062}"/>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B03E783B-CB34-3AFE-07E9-D737F9D4B79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43CCB2E0-C444-C796-BFFB-160BCE2C8E2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836254E1-3121-52B7-FF02-6A0B2BCD0AA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0450F59D-295E-857B-C338-D0999510D6BE}"/>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Current Performance</a:t>
              </a:r>
            </a:p>
          </p:txBody>
        </p:sp>
      </p:grpSp>
    </p:spTree>
    <p:extLst>
      <p:ext uri="{BB962C8B-B14F-4D97-AF65-F5344CB8AC3E}">
        <p14:creationId xmlns:p14="http://schemas.microsoft.com/office/powerpoint/2010/main" val="11461252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The Eight Wastes Defined</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65</a:t>
            </a:fld>
            <a:endParaRPr lang="en-US" dirty="0"/>
          </a:p>
        </p:txBody>
      </p:sp>
      <p:grpSp>
        <p:nvGrpSpPr>
          <p:cNvPr id="2" name="Group 1">
            <a:extLst>
              <a:ext uri="{FF2B5EF4-FFF2-40B4-BE49-F238E27FC236}">
                <a16:creationId xmlns:a16="http://schemas.microsoft.com/office/drawing/2014/main" id="{06B29C2E-8DE7-A7E3-7411-4211D92C082A}"/>
              </a:ext>
            </a:extLst>
          </p:cNvPr>
          <p:cNvGrpSpPr/>
          <p:nvPr/>
        </p:nvGrpSpPr>
        <p:grpSpPr>
          <a:xfrm>
            <a:off x="838200" y="297639"/>
            <a:ext cx="3845560" cy="307138"/>
            <a:chOff x="838200" y="297639"/>
            <a:chExt cx="3845560" cy="307138"/>
          </a:xfrm>
        </p:grpSpPr>
        <p:grpSp>
          <p:nvGrpSpPr>
            <p:cNvPr id="3" name="Group 2">
              <a:extLst>
                <a:ext uri="{FF2B5EF4-FFF2-40B4-BE49-F238E27FC236}">
                  <a16:creationId xmlns:a16="http://schemas.microsoft.com/office/drawing/2014/main" id="{B40E5960-8A46-446E-C328-05E67A768B89}"/>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0D657C4-9BBA-5A25-88F3-9023B4C614E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9">
                <a:extLst>
                  <a:ext uri="{FF2B5EF4-FFF2-40B4-BE49-F238E27FC236}">
                    <a16:creationId xmlns:a16="http://schemas.microsoft.com/office/drawing/2014/main" id="{8B1F5B75-7A99-4415-44E6-BF744106490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EC1BDFB6-6122-04D6-25C9-249071316062}"/>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B03E783B-CB34-3AFE-07E9-D737F9D4B797}"/>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43CCB2E0-C444-C796-BFFB-160BCE2C8E2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836254E1-3121-52B7-FF02-6A0B2BCD0AA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0450F59D-295E-857B-C338-D0999510D6BE}"/>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Current Performance</a:t>
              </a:r>
            </a:p>
          </p:txBody>
        </p:sp>
      </p:grpSp>
      <p:graphicFrame>
        <p:nvGraphicFramePr>
          <p:cNvPr id="8" name="Table">
            <a:extLst>
              <a:ext uri="{FF2B5EF4-FFF2-40B4-BE49-F238E27FC236}">
                <a16:creationId xmlns:a16="http://schemas.microsoft.com/office/drawing/2014/main" id="{623AB395-795E-0B6A-9FA7-1D251B948E68}"/>
              </a:ext>
            </a:extLst>
          </p:cNvPr>
          <p:cNvGraphicFramePr/>
          <p:nvPr>
            <p:extLst>
              <p:ext uri="{D42A27DB-BD31-4B8C-83A1-F6EECF244321}">
                <p14:modId xmlns:p14="http://schemas.microsoft.com/office/powerpoint/2010/main" val="1735038119"/>
              </p:ext>
            </p:extLst>
          </p:nvPr>
        </p:nvGraphicFramePr>
        <p:xfrm>
          <a:off x="1134738" y="1821250"/>
          <a:ext cx="9922525" cy="4381335"/>
        </p:xfrm>
        <a:graphic>
          <a:graphicData uri="http://schemas.openxmlformats.org/drawingml/2006/table">
            <a:tbl>
              <a:tblPr/>
              <a:tblGrid>
                <a:gridCol w="2932849">
                  <a:extLst>
                    <a:ext uri="{9D8B030D-6E8A-4147-A177-3AD203B41FA5}">
                      <a16:colId xmlns:a16="http://schemas.microsoft.com/office/drawing/2014/main" val="20000"/>
                    </a:ext>
                  </a:extLst>
                </a:gridCol>
                <a:gridCol w="6989676">
                  <a:extLst>
                    <a:ext uri="{9D8B030D-6E8A-4147-A177-3AD203B41FA5}">
                      <a16:colId xmlns:a16="http://schemas.microsoft.com/office/drawing/2014/main" val="20001"/>
                    </a:ext>
                  </a:extLst>
                </a:gridCol>
              </a:tblGrid>
              <a:tr h="486815">
                <a:tc>
                  <a:txBody>
                    <a:bodyPr/>
                    <a:lstStyle/>
                    <a:p>
                      <a:pPr algn="ctr" defTabSz="1828342">
                        <a:tabLst>
                          <a:tab pos="914400" algn="l"/>
                        </a:tabLst>
                        <a:defRPr sz="3500">
                          <a:solidFill>
                            <a:srgbClr val="999999"/>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rPr>
                        <a:t>Definition</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miter lim="400000"/>
                    </a:lnB>
                    <a:solidFill>
                      <a:schemeClr val="accent1"/>
                    </a:solidFill>
                  </a:tcPr>
                </a:tc>
                <a:extLst>
                  <a:ext uri="{0D108BD9-81ED-4DB2-BD59-A6C34878D82A}">
                    <a16:rowId xmlns:a16="http://schemas.microsoft.com/office/drawing/2014/main" val="10000"/>
                  </a:ext>
                </a:extLst>
              </a:tr>
              <a:tr h="486815">
                <a:tc>
                  <a:txBody>
                    <a:bodyPr/>
                    <a:lstStyle/>
                    <a:p>
                      <a:pPr marL="0" indent="0" algn="l" defTabSz="1828342">
                        <a:buAutoNum type="arabicPeriod"/>
                        <a:defRPr sz="1800">
                          <a:solidFill>
                            <a:srgbClr val="000000"/>
                          </a:solidFill>
                        </a:defRPr>
                      </a:pP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800" b="1" u="sng" kern="1200" dirty="0">
                          <a:solidFill>
                            <a:schemeClr val="tx1"/>
                          </a:solidFill>
                          <a:latin typeface="Roboto" panose="02000000000000000000" pitchFamily="2" charset="0"/>
                          <a:ea typeface="Roboto" panose="02000000000000000000" pitchFamily="2" charset="0"/>
                          <a:cs typeface="Roboto" panose="02000000000000000000" pitchFamily="2" charset="0"/>
                        </a:rPr>
                        <a:t>D</a:t>
                      </a: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efects</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Process steps that result in scrap, rework or re-processing.</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1"/>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O</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ver Production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600" b="0" i="0" u="none" strike="noStrike" cap="none" spc="0" baseline="0" dirty="0">
                          <a:solidFill>
                            <a:schemeClr val="tx1"/>
                          </a:solidFill>
                          <a:uFillTx/>
                          <a:latin typeface="Roboto" panose="02000000000000000000" pitchFamily="2" charset="0"/>
                          <a:ea typeface="Roboto" panose="02000000000000000000" pitchFamily="2" charset="0"/>
                          <a:cs typeface="Roboto" panose="02000000000000000000" pitchFamily="2" charset="0"/>
                          <a:sym typeface="Roboto"/>
                        </a:rPr>
                        <a:t>Producing more product than is required at the current time.</a:t>
                      </a:r>
                      <a:endParaRPr 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2"/>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W</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aiting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Periods of inactivity while waiting for the next process step to begin.</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3"/>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N</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on-Utilized Talent</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Unused creativity and underutilized human capital.</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T</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ransportation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Product moving from person to person or between locations.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I</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nventory </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Unprocessed or partially processed materials, or undelivered finished goods.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7.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M</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Excessive movement by people or machines.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8.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E</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xtra Processing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Unnecessary work beyond what is required to meet customer requirements.</a:t>
                      </a:r>
                    </a:p>
                  </a:txBody>
                  <a:tcPr marL="45720" marR="45720" anchor="ctr" horzOverflow="overflow">
                    <a:lnL w="0">
                      <a:noFill/>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Tree>
    <p:extLst>
      <p:ext uri="{BB962C8B-B14F-4D97-AF65-F5344CB8AC3E}">
        <p14:creationId xmlns:p14="http://schemas.microsoft.com/office/powerpoint/2010/main" val="23896624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Muda Walk Observation</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Examine waste closely</a:t>
            </a:r>
          </a:p>
          <a:p>
            <a:r>
              <a:rPr lang="en-US" dirty="0"/>
              <a:t>Independently collect examples</a:t>
            </a:r>
          </a:p>
          <a:p>
            <a:r>
              <a:rPr lang="en-US" dirty="0"/>
              <a:t>Compare notes</a:t>
            </a:r>
          </a:p>
          <a:p>
            <a:r>
              <a:rPr lang="en-US" dirty="0"/>
              <a:t>Prioritize</a:t>
            </a:r>
          </a:p>
          <a:p>
            <a:r>
              <a:rPr lang="en-US" dirty="0"/>
              <a:t>Save for comparison to design alternatives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66</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Current Performance</a:t>
              </a:r>
            </a:p>
          </p:txBody>
        </p:sp>
      </p:grpSp>
      <p:pic>
        <p:nvPicPr>
          <p:cNvPr id="15" name="Picture 15">
            <a:extLst>
              <a:ext uri="{FF2B5EF4-FFF2-40B4-BE49-F238E27FC236}">
                <a16:creationId xmlns:a16="http://schemas.microsoft.com/office/drawing/2014/main" id="{A19A1AD5-55CB-C9BE-CD68-6A5D49D4968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947769" y="1825625"/>
            <a:ext cx="2962461" cy="435133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 name="AutoShape 7">
            <a:extLst>
              <a:ext uri="{FF2B5EF4-FFF2-40B4-BE49-F238E27FC236}">
                <a16:creationId xmlns:a16="http://schemas.microsoft.com/office/drawing/2014/main" id="{4C741EAE-FD99-4155-6184-247667E5C52B}"/>
              </a:ext>
            </a:extLst>
          </p:cNvPr>
          <p:cNvSpPr>
            <a:spLocks noChangeArrowheads="1"/>
          </p:cNvSpPr>
          <p:nvPr/>
        </p:nvSpPr>
        <p:spPr bwMode="auto">
          <a:xfrm>
            <a:off x="5583873" y="2754312"/>
            <a:ext cx="285750" cy="2493963"/>
          </a:xfrm>
          <a:prstGeom prst="rightArrow">
            <a:avLst>
              <a:gd name="adj1" fmla="val 67278"/>
              <a:gd name="adj2" fmla="val 72222"/>
            </a:avLst>
          </a:prstGeom>
          <a:solidFill>
            <a:schemeClr val="accent3"/>
          </a:solidFill>
          <a:ln w="1905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31514906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Example Data to Review</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Ramp schedule</a:t>
            </a:r>
          </a:p>
          <a:p>
            <a:r>
              <a:rPr lang="en-US" dirty="0"/>
              <a:t>Delivery peak volume</a:t>
            </a:r>
          </a:p>
          <a:p>
            <a:r>
              <a:rPr lang="en-US" dirty="0"/>
              <a:t>Scalability (volume fluctuations)</a:t>
            </a:r>
          </a:p>
          <a:p>
            <a:r>
              <a:rPr lang="en-US" dirty="0"/>
              <a:t>Takt time</a:t>
            </a:r>
          </a:p>
          <a:p>
            <a:r>
              <a:rPr lang="en-US" dirty="0"/>
              <a:t>Replenishment times</a:t>
            </a:r>
          </a:p>
          <a:p>
            <a:r>
              <a:rPr lang="en-US" dirty="0"/>
              <a:t>Standard WIP</a:t>
            </a:r>
          </a:p>
          <a:p>
            <a:r>
              <a:rPr lang="en-US" dirty="0"/>
              <a:t>Layouts and people</a:t>
            </a:r>
          </a:p>
          <a:p>
            <a:r>
              <a:rPr lang="en-US" dirty="0"/>
              <a:t>QFD or Strategic Deployment</a:t>
            </a:r>
          </a:p>
          <a:p>
            <a:r>
              <a:rPr lang="en-US" dirty="0"/>
              <a:t>Process steps or maps</a:t>
            </a:r>
          </a:p>
          <a:p>
            <a:r>
              <a:rPr lang="en-US" dirty="0"/>
              <a:t>Value Stream Map</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67</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Current Performance</a:t>
              </a:r>
            </a:p>
          </p:txBody>
        </p:sp>
      </p:grpSp>
      <p:sp>
        <p:nvSpPr>
          <p:cNvPr id="17" name="Content Placeholder 16">
            <a:extLst>
              <a:ext uri="{FF2B5EF4-FFF2-40B4-BE49-F238E27FC236}">
                <a16:creationId xmlns:a16="http://schemas.microsoft.com/office/drawing/2014/main" id="{794812BE-7BBF-8898-29CB-DC7F8159954E}"/>
              </a:ext>
            </a:extLst>
          </p:cNvPr>
          <p:cNvSpPr>
            <a:spLocks noGrp="1"/>
          </p:cNvSpPr>
          <p:nvPr>
            <p:ph sz="half" idx="1"/>
          </p:nvPr>
        </p:nvSpPr>
        <p:spPr/>
        <p:txBody>
          <a:bodyPr>
            <a:normAutofit fontScale="92500" lnSpcReduction="20000"/>
          </a:bodyPr>
          <a:lstStyle/>
          <a:p>
            <a:r>
              <a:rPr lang="en-US" dirty="0"/>
              <a:t>Part Numbers</a:t>
            </a:r>
          </a:p>
          <a:p>
            <a:r>
              <a:rPr lang="en-US" dirty="0"/>
              <a:t>Drawings</a:t>
            </a:r>
          </a:p>
          <a:p>
            <a:r>
              <a:rPr lang="en-US" dirty="0"/>
              <a:t>Samples </a:t>
            </a:r>
          </a:p>
          <a:p>
            <a:r>
              <a:rPr lang="en-US" dirty="0"/>
              <a:t>Time: process time, lead time and value added time</a:t>
            </a:r>
          </a:p>
          <a:p>
            <a:r>
              <a:rPr lang="en-US" dirty="0"/>
              <a:t>Changeover times</a:t>
            </a:r>
          </a:p>
          <a:p>
            <a:r>
              <a:rPr lang="en-US" dirty="0"/>
              <a:t>Typical batch sizes</a:t>
            </a:r>
          </a:p>
          <a:p>
            <a:r>
              <a:rPr lang="en-US" dirty="0"/>
              <a:t>Quality (process outputs)</a:t>
            </a:r>
          </a:p>
          <a:p>
            <a:r>
              <a:rPr lang="en-US" dirty="0"/>
              <a:t>Number of </a:t>
            </a:r>
            <a:r>
              <a:rPr lang="en-US" dirty="0" err="1"/>
              <a:t>Poka</a:t>
            </a:r>
            <a:r>
              <a:rPr lang="en-US" dirty="0"/>
              <a:t> Yokes</a:t>
            </a:r>
          </a:p>
          <a:p>
            <a:r>
              <a:rPr lang="en-US" dirty="0"/>
              <a:t>Reliability</a:t>
            </a:r>
          </a:p>
          <a:p>
            <a:r>
              <a:rPr lang="en-US" dirty="0"/>
              <a:t>Cost Targets</a:t>
            </a:r>
          </a:p>
        </p:txBody>
      </p:sp>
    </p:spTree>
    <p:extLst>
      <p:ext uri="{BB962C8B-B14F-4D97-AF65-F5344CB8AC3E}">
        <p14:creationId xmlns:p14="http://schemas.microsoft.com/office/powerpoint/2010/main" val="33790109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3P Data Collection Form</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Current Performance</a:t>
              </a:r>
            </a:p>
          </p:txBody>
        </p:sp>
      </p:grpSp>
      <p:sp>
        <p:nvSpPr>
          <p:cNvPr id="17" name="Content Placeholder 16">
            <a:extLst>
              <a:ext uri="{FF2B5EF4-FFF2-40B4-BE49-F238E27FC236}">
                <a16:creationId xmlns:a16="http://schemas.microsoft.com/office/drawing/2014/main" id="{794812BE-7BBF-8898-29CB-DC7F8159954E}"/>
              </a:ext>
            </a:extLst>
          </p:cNvPr>
          <p:cNvSpPr>
            <a:spLocks noGrp="1"/>
          </p:cNvSpPr>
          <p:nvPr>
            <p:ph sz="half" idx="1"/>
          </p:nvPr>
        </p:nvSpPr>
        <p:spPr/>
        <p:txBody>
          <a:bodyPr>
            <a:normAutofit/>
          </a:bodyPr>
          <a:lstStyle/>
          <a:p>
            <a:r>
              <a:rPr lang="en-US" dirty="0"/>
              <a:t>Prepare Data Collection Form identifying key metrics and constraints </a:t>
            </a:r>
          </a:p>
        </p:txBody>
      </p:sp>
      <p:pic>
        <p:nvPicPr>
          <p:cNvPr id="3" name="Content Placeholder 2">
            <a:extLst>
              <a:ext uri="{FF2B5EF4-FFF2-40B4-BE49-F238E27FC236}">
                <a16:creationId xmlns:a16="http://schemas.microsoft.com/office/drawing/2014/main" id="{5F783921-232F-9D94-1BD0-9A74C506B32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574400" y="1825624"/>
            <a:ext cx="4469520" cy="4443113"/>
          </a:xfrm>
          <a:noFill/>
          <a:ln w="12700">
            <a:solidFill>
              <a:schemeClr val="tx1"/>
            </a:solidFill>
            <a:miter lim="800000"/>
            <a:headEnd/>
            <a:tailEnd/>
          </a:ln>
        </p:spPr>
      </p:pic>
    </p:spTree>
    <p:extLst>
      <p:ext uri="{BB962C8B-B14F-4D97-AF65-F5344CB8AC3E}">
        <p14:creationId xmlns:p14="http://schemas.microsoft.com/office/powerpoint/2010/main" val="27930806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Take Muda Walk</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observe the process, dissect the product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Undertake Muda Walk and observation of current process or design</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Observe and document repetitive builds (multi-cycle analysis)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Motion Analysis (Eliminate, Combine, Modify, Simplify)</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“Before” Video/photos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Collect data</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Affinity Diagram of all opportunities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8"/>
            <a:ext cx="4681292" cy="157992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List issues observed for safety, ergonomics, quality, delivery, cost.</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 the Affinity Diagram.</a:t>
            </a:r>
          </a:p>
        </p:txBody>
      </p:sp>
      <p:grpSp>
        <p:nvGrpSpPr>
          <p:cNvPr id="20" name="Group 19">
            <a:extLst>
              <a:ext uri="{FF2B5EF4-FFF2-40B4-BE49-F238E27FC236}">
                <a16:creationId xmlns:a16="http://schemas.microsoft.com/office/drawing/2014/main" id="{400AB690-E081-4159-CD59-EBB63CC6F528}"/>
              </a:ext>
            </a:extLst>
          </p:cNvPr>
          <p:cNvGrpSpPr/>
          <p:nvPr/>
        </p:nvGrpSpPr>
        <p:grpSpPr>
          <a:xfrm>
            <a:off x="838200" y="297639"/>
            <a:ext cx="3845560" cy="307138"/>
            <a:chOff x="838200" y="297639"/>
            <a:chExt cx="3845560" cy="307138"/>
          </a:xfrm>
        </p:grpSpPr>
        <p:grpSp>
          <p:nvGrpSpPr>
            <p:cNvPr id="10" name="Group 9">
              <a:extLst>
                <a:ext uri="{FF2B5EF4-FFF2-40B4-BE49-F238E27FC236}">
                  <a16:creationId xmlns:a16="http://schemas.microsoft.com/office/drawing/2014/main" id="{3B9B0B4F-21C0-B751-FC5B-0A6477AA8D02}"/>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51153CCB-03AB-E7C0-F602-A7CEAF1A6399}"/>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6F065F24-EF73-0E25-EAC2-4F3DDA596FA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 name="Group 2">
                <a:extLst>
                  <a:ext uri="{FF2B5EF4-FFF2-40B4-BE49-F238E27FC236}">
                    <a16:creationId xmlns:a16="http://schemas.microsoft.com/office/drawing/2014/main" id="{D69C5CDF-39D4-F2C7-AF6E-9B85E20A1ACA}"/>
                  </a:ext>
                </a:extLst>
              </p:cNvPr>
              <p:cNvGrpSpPr/>
              <p:nvPr/>
            </p:nvGrpSpPr>
            <p:grpSpPr>
              <a:xfrm>
                <a:off x="838200" y="297639"/>
                <a:ext cx="1060167" cy="290657"/>
                <a:chOff x="826426" y="4041857"/>
                <a:chExt cx="1060167" cy="290657"/>
              </a:xfrm>
            </p:grpSpPr>
            <p:sp>
              <p:nvSpPr>
                <p:cNvPr id="4" name="AutoShape 9">
                  <a:extLst>
                    <a:ext uri="{FF2B5EF4-FFF2-40B4-BE49-F238E27FC236}">
                      <a16:creationId xmlns:a16="http://schemas.microsoft.com/office/drawing/2014/main" id="{4A87C677-CA3B-AF09-CA4A-985F1AD3A4E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1">
                  <a:extLst>
                    <a:ext uri="{FF2B5EF4-FFF2-40B4-BE49-F238E27FC236}">
                      <a16:creationId xmlns:a16="http://schemas.microsoft.com/office/drawing/2014/main" id="{5C0730F4-93D4-D55D-4620-A50244652B5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10">
                  <a:extLst>
                    <a:ext uri="{FF2B5EF4-FFF2-40B4-BE49-F238E27FC236}">
                      <a16:creationId xmlns:a16="http://schemas.microsoft.com/office/drawing/2014/main" id="{2AF64AE7-DB5B-CE33-23AB-D8E9D0CB13D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9" name="TextBox 18">
              <a:extLst>
                <a:ext uri="{FF2B5EF4-FFF2-40B4-BE49-F238E27FC236}">
                  <a16:creationId xmlns:a16="http://schemas.microsoft.com/office/drawing/2014/main" id="{9AC35935-FEC9-B26F-340B-235A7D0D2F87}"/>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 and Objectives</a:t>
              </a:r>
            </a:p>
          </p:txBody>
        </p:sp>
      </p:grpSp>
    </p:spTree>
    <p:extLst>
      <p:ext uri="{BB962C8B-B14F-4D97-AF65-F5344CB8AC3E}">
        <p14:creationId xmlns:p14="http://schemas.microsoft.com/office/powerpoint/2010/main" val="41896683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Create 3P Lab</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3200" dirty="0"/>
              <a:t>Define requirements for rapid prototyping and modeling</a:t>
            </a:r>
          </a:p>
          <a:p>
            <a:r>
              <a:rPr lang="en-US" sz="3200" dirty="0"/>
              <a:t>Obtain approval and budget</a:t>
            </a:r>
          </a:p>
          <a:p>
            <a:r>
              <a:rPr lang="en-US" sz="3200" dirty="0"/>
              <a:t>Prepare 3P Lab for Workshop event</a:t>
            </a:r>
          </a:p>
          <a:p>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and Event Charter</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Create 3P Lab</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Current</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Performance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 and</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Objectives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3P Overview</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Training</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89455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What is a 3P Lab?</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sp>
        <p:nvSpPr>
          <p:cNvPr id="17" name="Content Placeholder 16">
            <a:extLst>
              <a:ext uri="{FF2B5EF4-FFF2-40B4-BE49-F238E27FC236}">
                <a16:creationId xmlns:a16="http://schemas.microsoft.com/office/drawing/2014/main" id="{794812BE-7BBF-8898-29CB-DC7F8159954E}"/>
              </a:ext>
            </a:extLst>
          </p:cNvPr>
          <p:cNvSpPr>
            <a:spLocks noGrp="1"/>
          </p:cNvSpPr>
          <p:nvPr>
            <p:ph sz="half" idx="1"/>
          </p:nvPr>
        </p:nvSpPr>
        <p:spPr/>
        <p:txBody>
          <a:bodyPr>
            <a:normAutofit/>
          </a:bodyPr>
          <a:lstStyle/>
          <a:p>
            <a:r>
              <a:rPr lang="en-US" dirty="0"/>
              <a:t>A facility where ideas and concepts can be mocked-up,  modeled or prototyped and then tried to rapidly assess a number of alternatives</a:t>
            </a:r>
          </a:p>
          <a:p>
            <a:r>
              <a:rPr lang="en-US" dirty="0"/>
              <a:t>Can be mathematical, CAD, virtual or physical modeling</a:t>
            </a:r>
          </a:p>
          <a:p>
            <a:r>
              <a:rPr lang="en-US" dirty="0"/>
              <a:t>Self equipped and adequately staffed</a:t>
            </a:r>
          </a:p>
        </p:txBody>
      </p:sp>
      <p:pic>
        <p:nvPicPr>
          <p:cNvPr id="16" name="Content Placeholder 4" descr="Full scale 3D model">
            <a:extLst>
              <a:ext uri="{FF2B5EF4-FFF2-40B4-BE49-F238E27FC236}">
                <a16:creationId xmlns:a16="http://schemas.microsoft.com/office/drawing/2014/main" id="{8DF9ACBC-CE7A-0C69-DD74-3058460062DA}"/>
              </a:ext>
            </a:extLst>
          </p:cNvPr>
          <p:cNvPicPr>
            <a:picLocks noGrp="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253200" y="1825625"/>
            <a:ext cx="5085078" cy="3962400"/>
          </a:xfrm>
        </p:spPr>
      </p:pic>
    </p:spTree>
    <p:extLst>
      <p:ext uri="{BB962C8B-B14F-4D97-AF65-F5344CB8AC3E}">
        <p14:creationId xmlns:p14="http://schemas.microsoft.com/office/powerpoint/2010/main" val="24065424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Rapid Prototyping sometimes called “Moonshining”</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pic>
        <p:nvPicPr>
          <p:cNvPr id="3" name="Picture 4" descr="Moonshine 41_8_98.jpg">
            <a:extLst>
              <a:ext uri="{FF2B5EF4-FFF2-40B4-BE49-F238E27FC236}">
                <a16:creationId xmlns:a16="http://schemas.microsoft.com/office/drawing/2014/main" id="{61C6FFBC-2F6B-80C1-3BC8-7B55EBF33A1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465550" y="1783429"/>
            <a:ext cx="3571030" cy="398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14">
            <a:extLst>
              <a:ext uri="{FF2B5EF4-FFF2-40B4-BE49-F238E27FC236}">
                <a16:creationId xmlns:a16="http://schemas.microsoft.com/office/drawing/2014/main" id="{4D35F953-4810-8283-C8FD-3B29390AF939}"/>
              </a:ext>
            </a:extLst>
          </p:cNvPr>
          <p:cNvSpPr>
            <a:spLocks noGrp="1"/>
          </p:cNvSpPr>
          <p:nvPr>
            <p:ph sz="half" idx="2"/>
          </p:nvPr>
        </p:nvSpPr>
        <p:spPr/>
        <p:txBody>
          <a:bodyPr/>
          <a:lstStyle/>
          <a:p>
            <a:r>
              <a:rPr lang="en-US" altLang="en-US" dirty="0"/>
              <a:t>Not conventional thinking</a:t>
            </a:r>
          </a:p>
          <a:p>
            <a:r>
              <a:rPr lang="en-US" altLang="en-US" dirty="0"/>
              <a:t>Many people will not like it</a:t>
            </a:r>
          </a:p>
          <a:p>
            <a:r>
              <a:rPr lang="en-US" altLang="en-US" dirty="0"/>
              <a:t>You may have to keep it a secret from your own organization - </a:t>
            </a:r>
            <a:r>
              <a:rPr lang="ja-JP" altLang="en-US" dirty="0"/>
              <a:t>“</a:t>
            </a:r>
            <a:r>
              <a:rPr lang="en-US" altLang="ja-JP" dirty="0"/>
              <a:t>skunk works</a:t>
            </a:r>
            <a:r>
              <a:rPr lang="ja-JP" altLang="en-US" dirty="0"/>
              <a:t>”</a:t>
            </a:r>
            <a:endParaRPr lang="en-US" altLang="ja-JP" dirty="0"/>
          </a:p>
          <a:p>
            <a:r>
              <a:rPr lang="en-US" altLang="en-US" dirty="0"/>
              <a:t>May feel uncomfortable until people come to accept it</a:t>
            </a:r>
          </a:p>
          <a:p>
            <a:pPr marL="0" indent="0">
              <a:buNone/>
            </a:pPr>
            <a:endParaRPr lang="en-US" dirty="0"/>
          </a:p>
        </p:txBody>
      </p:sp>
    </p:spTree>
    <p:extLst>
      <p:ext uri="{BB962C8B-B14F-4D97-AF65-F5344CB8AC3E}">
        <p14:creationId xmlns:p14="http://schemas.microsoft.com/office/powerpoint/2010/main" val="23784623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600" dirty="0"/>
              <a:t>Examples of Materials and Equipment Needed</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sp>
        <p:nvSpPr>
          <p:cNvPr id="15" name="Content Placeholder 14">
            <a:extLst>
              <a:ext uri="{FF2B5EF4-FFF2-40B4-BE49-F238E27FC236}">
                <a16:creationId xmlns:a16="http://schemas.microsoft.com/office/drawing/2014/main" id="{4D35F953-4810-8283-C8FD-3B29390AF939}"/>
              </a:ext>
            </a:extLst>
          </p:cNvPr>
          <p:cNvSpPr>
            <a:spLocks noGrp="1"/>
          </p:cNvSpPr>
          <p:nvPr>
            <p:ph sz="half" idx="2"/>
          </p:nvPr>
        </p:nvSpPr>
        <p:spPr/>
        <p:txBody>
          <a:bodyPr>
            <a:normAutofit lnSpcReduction="10000"/>
          </a:bodyPr>
          <a:lstStyle/>
          <a:p>
            <a:r>
              <a:rPr lang="en-US" altLang="en-US" dirty="0"/>
              <a:t>Rapid Prototyping equipment.</a:t>
            </a:r>
          </a:p>
          <a:p>
            <a:r>
              <a:rPr lang="en-US" altLang="en-US" dirty="0"/>
              <a:t>Facilities – space, power, secure.</a:t>
            </a:r>
          </a:p>
          <a:p>
            <a:r>
              <a:rPr lang="en-US" altLang="en-US" dirty="0"/>
              <a:t>Computer modeling – CAD, virtual reality, </a:t>
            </a:r>
            <a:r>
              <a:rPr lang="en-US" altLang="en-US" dirty="0" err="1"/>
              <a:t>MathCAD</a:t>
            </a:r>
            <a:r>
              <a:rPr lang="en-US" altLang="en-US" dirty="0"/>
              <a:t>, Minitab etc.</a:t>
            </a:r>
          </a:p>
          <a:p>
            <a:r>
              <a:rPr lang="en-US" altLang="en-US" dirty="0"/>
              <a:t>Drawing equipment (colors) – pens, pencils, paper, ruler etc.</a:t>
            </a:r>
          </a:p>
          <a:p>
            <a:r>
              <a:rPr lang="en-US" altLang="en-US" dirty="0"/>
              <a:t>Test/measurement equipment.</a:t>
            </a:r>
          </a:p>
        </p:txBody>
      </p:sp>
      <p:sp>
        <p:nvSpPr>
          <p:cNvPr id="4" name="Content Placeholder 3">
            <a:extLst>
              <a:ext uri="{FF2B5EF4-FFF2-40B4-BE49-F238E27FC236}">
                <a16:creationId xmlns:a16="http://schemas.microsoft.com/office/drawing/2014/main" id="{6A1F0EFE-E4F8-B846-FC0F-257EAA31D49E}"/>
              </a:ext>
            </a:extLst>
          </p:cNvPr>
          <p:cNvSpPr>
            <a:spLocks noGrp="1"/>
          </p:cNvSpPr>
          <p:nvPr>
            <p:ph sz="half" idx="1"/>
          </p:nvPr>
        </p:nvSpPr>
        <p:spPr/>
        <p:txBody>
          <a:bodyPr>
            <a:normAutofit lnSpcReduction="10000"/>
          </a:bodyPr>
          <a:lstStyle/>
          <a:p>
            <a:r>
              <a:rPr lang="en-US" altLang="en-US" dirty="0"/>
              <a:t>Wood, particle board, foam, polystyrene, cardboard etc.</a:t>
            </a:r>
          </a:p>
          <a:p>
            <a:r>
              <a:rPr lang="en-US" altLang="en-US" dirty="0"/>
              <a:t>Nails, bolts, screws, staples, glue, duct tape etc.</a:t>
            </a:r>
          </a:p>
          <a:p>
            <a:r>
              <a:rPr lang="en-US" altLang="en-US" dirty="0"/>
              <a:t>Hinges, slides, casters, steel rod, bungee cords etc.</a:t>
            </a:r>
          </a:p>
          <a:p>
            <a:r>
              <a:rPr lang="en-US" altLang="en-US" dirty="0"/>
              <a:t>Plastic, plasticine, clay, cement etc.</a:t>
            </a:r>
          </a:p>
          <a:p>
            <a:r>
              <a:rPr lang="en-US" altLang="en-US" dirty="0"/>
              <a:t>Wood and metal working equipment.</a:t>
            </a:r>
          </a:p>
          <a:p>
            <a:pPr marL="0" indent="0">
              <a:buNone/>
            </a:pPr>
            <a:endParaRPr lang="en-US" dirty="0"/>
          </a:p>
        </p:txBody>
      </p:sp>
    </p:spTree>
    <p:extLst>
      <p:ext uri="{BB962C8B-B14F-4D97-AF65-F5344CB8AC3E}">
        <p14:creationId xmlns:p14="http://schemas.microsoft.com/office/powerpoint/2010/main" val="28395132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4000" dirty="0"/>
              <a:t>Other Considerations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grpSp>
        <p:nvGrpSpPr>
          <p:cNvPr id="5" name="Group 4">
            <a:extLst>
              <a:ext uri="{FF2B5EF4-FFF2-40B4-BE49-F238E27FC236}">
                <a16:creationId xmlns:a16="http://schemas.microsoft.com/office/drawing/2014/main" id="{EEAA96FA-00FD-89C2-A2B0-89F4A4725C4F}"/>
              </a:ext>
            </a:extLst>
          </p:cNvPr>
          <p:cNvGrpSpPr/>
          <p:nvPr/>
        </p:nvGrpSpPr>
        <p:grpSpPr>
          <a:xfrm>
            <a:off x="838200" y="297639"/>
            <a:ext cx="3845560" cy="307138"/>
            <a:chOff x="838200" y="297639"/>
            <a:chExt cx="3845560" cy="307138"/>
          </a:xfrm>
        </p:grpSpPr>
        <p:grpSp>
          <p:nvGrpSpPr>
            <p:cNvPr id="7" name="Group 6">
              <a:extLst>
                <a:ext uri="{FF2B5EF4-FFF2-40B4-BE49-F238E27FC236}">
                  <a16:creationId xmlns:a16="http://schemas.microsoft.com/office/drawing/2014/main" id="{A8D2CE1A-09BB-A934-6E02-4D73C1D051B3}"/>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FE80E943-D671-8807-FA6F-9A2F0EB6924C}"/>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FB2C9B5-2682-CD5E-93B8-52C878EDB0D7}"/>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FB447DE1-18BC-8311-1CED-4694FE81482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4FD68E66-FBD3-42E7-13BE-EE3D69CBDEE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0A500B97-6620-B2B5-A202-5BDFA7A6A94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DE60D935-053F-3CA0-A662-368300A34D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B83F1CA7-68D4-1473-3ED7-C951B1F4EE4D}"/>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sp>
        <p:nvSpPr>
          <p:cNvPr id="4" name="Content Placeholder 3">
            <a:extLst>
              <a:ext uri="{FF2B5EF4-FFF2-40B4-BE49-F238E27FC236}">
                <a16:creationId xmlns:a16="http://schemas.microsoft.com/office/drawing/2014/main" id="{6A1F0EFE-E4F8-B846-FC0F-257EAA31D49E}"/>
              </a:ext>
            </a:extLst>
          </p:cNvPr>
          <p:cNvSpPr>
            <a:spLocks noGrp="1"/>
          </p:cNvSpPr>
          <p:nvPr>
            <p:ph sz="half" idx="1"/>
          </p:nvPr>
        </p:nvSpPr>
        <p:spPr/>
        <p:txBody>
          <a:bodyPr>
            <a:normAutofit/>
          </a:bodyPr>
          <a:lstStyle/>
          <a:p>
            <a:r>
              <a:rPr lang="en-US" altLang="en-US" dirty="0"/>
              <a:t>Do you need external facilities/support?</a:t>
            </a:r>
          </a:p>
          <a:p>
            <a:r>
              <a:rPr lang="en-US" altLang="en-US" dirty="0"/>
              <a:t>What budget will be required for this facility and materials </a:t>
            </a:r>
            <a:r>
              <a:rPr lang="en-US" altLang="en-US" dirty="0" err="1"/>
              <a:t>etc</a:t>
            </a:r>
            <a:r>
              <a:rPr lang="en-US" altLang="en-US" dirty="0"/>
              <a:t>?</a:t>
            </a:r>
          </a:p>
          <a:p>
            <a:r>
              <a:rPr lang="en-US" altLang="en-US" dirty="0"/>
              <a:t>Do you have approval to set up the 3P Lab?</a:t>
            </a:r>
          </a:p>
          <a:p>
            <a:r>
              <a:rPr lang="en-US" altLang="en-US" dirty="0"/>
              <a:t>How will you use it, staff it and decommission it after use?</a:t>
            </a:r>
          </a:p>
        </p:txBody>
      </p:sp>
      <p:pic>
        <p:nvPicPr>
          <p:cNvPr id="3" name="Picture 5" descr="http://www.lbl.gov/Publications/Currents/Archive/images/Mar-22-2002/DesignWorks2.jpg">
            <a:extLst>
              <a:ext uri="{FF2B5EF4-FFF2-40B4-BE49-F238E27FC236}">
                <a16:creationId xmlns:a16="http://schemas.microsoft.com/office/drawing/2014/main" id="{9F52CAD1-FC4E-AA42-84C8-591CD02C975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131996" y="1825625"/>
            <a:ext cx="3262007" cy="4351338"/>
          </a:xfrm>
          <a:noFill/>
        </p:spPr>
      </p:pic>
    </p:spTree>
    <p:extLst>
      <p:ext uri="{BB962C8B-B14F-4D97-AF65-F5344CB8AC3E}">
        <p14:creationId xmlns:p14="http://schemas.microsoft.com/office/powerpoint/2010/main" val="18894217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Create 3P Lab</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3P “Moonshine” Lab Facility and Resources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Brainstorm requirements for the 3P Lab.</a:t>
            </a:r>
          </a:p>
          <a:p>
            <a:pPr marR="0" algn="l" defTabSz="584200" rtl="0" fontAlgn="auto" latinLnBrk="0" hangingPunct="0">
              <a:lnSpc>
                <a:spcPct val="100000"/>
              </a:lnSpc>
              <a:spcBef>
                <a:spcPts val="0"/>
              </a:spcBef>
              <a:spcAft>
                <a:spcPts val="0"/>
              </a:spcAft>
              <a:buClrTx/>
              <a:buSzTx/>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Obtain approval and budget.</a:t>
            </a:r>
          </a:p>
          <a:p>
            <a:pPr marR="0" algn="l" defTabSz="584200" rtl="0" fontAlgn="auto" latinLnBrk="0" hangingPunct="0">
              <a:lnSpc>
                <a:spcPct val="100000"/>
              </a:lnSpc>
              <a:spcBef>
                <a:spcPts val="0"/>
              </a:spcBef>
              <a:spcAft>
                <a:spcPts val="0"/>
              </a:spcAft>
              <a:buClrTx/>
              <a:buSzTx/>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Develop a material, equipment, facility and personnel checklist.</a:t>
            </a:r>
          </a:p>
          <a:p>
            <a:pPr marR="0" algn="l" defTabSz="584200" rtl="0" fontAlgn="auto" latinLnBrk="0" hangingPunct="0">
              <a:lnSpc>
                <a:spcPct val="100000"/>
              </a:lnSpc>
              <a:spcBef>
                <a:spcPts val="0"/>
              </a:spcBef>
              <a:spcAft>
                <a:spcPts val="0"/>
              </a:spcAft>
              <a:buClrTx/>
              <a:buSzTx/>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Secure resources required or a plan to obtain resources prior to 3P Workshop event.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8"/>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3P Lab or Plan for same.</a:t>
            </a:r>
          </a:p>
        </p:txBody>
      </p:sp>
      <p:grpSp>
        <p:nvGrpSpPr>
          <p:cNvPr id="21" name="Group 20">
            <a:extLst>
              <a:ext uri="{FF2B5EF4-FFF2-40B4-BE49-F238E27FC236}">
                <a16:creationId xmlns:a16="http://schemas.microsoft.com/office/drawing/2014/main" id="{F6334A38-DEEA-798E-AD29-933663510EDD}"/>
              </a:ext>
            </a:extLst>
          </p:cNvPr>
          <p:cNvGrpSpPr/>
          <p:nvPr/>
        </p:nvGrpSpPr>
        <p:grpSpPr>
          <a:xfrm>
            <a:off x="838200" y="297639"/>
            <a:ext cx="3845560" cy="307138"/>
            <a:chOff x="838200" y="297639"/>
            <a:chExt cx="3845560" cy="307138"/>
          </a:xfrm>
        </p:grpSpPr>
        <p:grpSp>
          <p:nvGrpSpPr>
            <p:cNvPr id="22" name="Group 21">
              <a:extLst>
                <a:ext uri="{FF2B5EF4-FFF2-40B4-BE49-F238E27FC236}">
                  <a16:creationId xmlns:a16="http://schemas.microsoft.com/office/drawing/2014/main" id="{8B7A9D52-BD09-06B1-D85C-1F19737F8633}"/>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C91DD972-A792-C986-C415-CF0F70FF023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CD8ED600-6F2C-F5B0-3C56-93E54A2260ED}"/>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6" name="Group 25">
                <a:extLst>
                  <a:ext uri="{FF2B5EF4-FFF2-40B4-BE49-F238E27FC236}">
                    <a16:creationId xmlns:a16="http://schemas.microsoft.com/office/drawing/2014/main" id="{9332F1A4-0B94-FC6B-D07F-369E1D3F3868}"/>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A31912E6-F015-2758-5339-AFA78D78561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63EEC832-5423-560E-A1ED-30B2C16C79A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AE974FFE-C28D-5EA0-24A4-6A136EFA281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EA821E19-B5D9-7CB4-731A-64D2E2AC3A48}"/>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Create 3P Lab</a:t>
              </a:r>
            </a:p>
          </p:txBody>
        </p:sp>
      </p:grpSp>
    </p:spTree>
    <p:extLst>
      <p:ext uri="{BB962C8B-B14F-4D97-AF65-F5344CB8AC3E}">
        <p14:creationId xmlns:p14="http://schemas.microsoft.com/office/powerpoint/2010/main" val="25938806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Plan Workshop and Review Event Charter</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3200" dirty="0"/>
              <a:t>Review agenda for 3P Workshop</a:t>
            </a:r>
          </a:p>
          <a:p>
            <a:r>
              <a:rPr lang="en-US" sz="3200" dirty="0"/>
              <a:t>Develop Charter for 3P Event</a:t>
            </a:r>
          </a:p>
          <a:p>
            <a:r>
              <a:rPr lang="en-US" sz="3200" dirty="0"/>
              <a:t>Obtain management approval for Event Charter</a:t>
            </a:r>
          </a:p>
          <a:p>
            <a:r>
              <a:rPr lang="en-US" sz="3200" dirty="0"/>
              <a:t>Prepare management report out</a:t>
            </a:r>
            <a:endParaRPr lang="en-US" sz="2400" dirty="0"/>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Plan Workshop</a:t>
              </a:r>
            </a:p>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and Event Charter</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Create 3P Lab</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Current</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Performance</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 and</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Objectives</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3P Overview</a:t>
                </a:r>
              </a:p>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Training</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42269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3P Workshop Agenda</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77</a:t>
            </a:fld>
            <a:endParaRPr lang="en-US" dirty="0"/>
          </a:p>
        </p:txBody>
      </p:sp>
      <p:graphicFrame>
        <p:nvGraphicFramePr>
          <p:cNvPr id="12" name="Table">
            <a:extLst>
              <a:ext uri="{FF2B5EF4-FFF2-40B4-BE49-F238E27FC236}">
                <a16:creationId xmlns:a16="http://schemas.microsoft.com/office/drawing/2014/main" id="{4DC24FE0-DEBE-2440-59A4-EAA62B706ECC}"/>
              </a:ext>
            </a:extLst>
          </p:cNvPr>
          <p:cNvGraphicFramePr/>
          <p:nvPr>
            <p:extLst>
              <p:ext uri="{D42A27DB-BD31-4B8C-83A1-F6EECF244321}">
                <p14:modId xmlns:p14="http://schemas.microsoft.com/office/powerpoint/2010/main" val="1914222341"/>
              </p:ext>
            </p:extLst>
          </p:nvPr>
        </p:nvGraphicFramePr>
        <p:xfrm>
          <a:off x="419100" y="1998210"/>
          <a:ext cx="11353800" cy="4027415"/>
        </p:xfrm>
        <a:graphic>
          <a:graphicData uri="http://schemas.openxmlformats.org/drawingml/2006/table">
            <a:tbl>
              <a:tblPr/>
              <a:tblGrid>
                <a:gridCol w="2950752">
                  <a:extLst>
                    <a:ext uri="{9D8B030D-6E8A-4147-A177-3AD203B41FA5}">
                      <a16:colId xmlns:a16="http://schemas.microsoft.com/office/drawing/2014/main" val="20000"/>
                    </a:ext>
                  </a:extLst>
                </a:gridCol>
                <a:gridCol w="4201524">
                  <a:extLst>
                    <a:ext uri="{9D8B030D-6E8A-4147-A177-3AD203B41FA5}">
                      <a16:colId xmlns:a16="http://schemas.microsoft.com/office/drawing/2014/main" val="20002"/>
                    </a:ext>
                  </a:extLst>
                </a:gridCol>
                <a:gridCol w="4201524">
                  <a:extLst>
                    <a:ext uri="{9D8B030D-6E8A-4147-A177-3AD203B41FA5}">
                      <a16:colId xmlns:a16="http://schemas.microsoft.com/office/drawing/2014/main" val="4243325616"/>
                    </a:ext>
                  </a:extLst>
                </a:gridCol>
              </a:tblGrid>
              <a:tr h="327280">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18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Day</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800" b="1" dirty="0">
                          <a:solidFill>
                            <a:schemeClr val="bg1"/>
                          </a:solidFill>
                          <a:latin typeface="Roboto" panose="02000000000000000000" pitchFamily="2" charset="0"/>
                          <a:ea typeface="Roboto" panose="02000000000000000000" pitchFamily="2" charset="0"/>
                          <a:cs typeface="Roboto" panose="02000000000000000000" pitchFamily="2" charset="0"/>
                        </a:rPr>
                        <a:t>Key Learnings</a:t>
                      </a:r>
                      <a:endParaRPr sz="18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noFill/>
                      <a:miter lim="400000"/>
                    </a:lnR>
                    <a:lnT w="0">
                      <a:miter lim="400000"/>
                    </a:lnT>
                    <a:lnB w="0">
                      <a:noFill/>
                      <a:miter lim="400000"/>
                    </a:lnB>
                    <a:solidFill>
                      <a:schemeClr val="accent1"/>
                    </a:solidFill>
                  </a:tcPr>
                </a:tc>
                <a:tc>
                  <a:txBody>
                    <a:bodyPr/>
                    <a:lstStyle/>
                    <a:p>
                      <a:pPr algn="ctr" defTabSz="1828342">
                        <a:defRPr sz="1800">
                          <a:solidFill>
                            <a:srgbClr val="000000"/>
                          </a:solidFill>
                        </a:defRPr>
                      </a:pPr>
                      <a:r>
                        <a:rPr lang="en-US" sz="1800" b="1" dirty="0">
                          <a:solidFill>
                            <a:schemeClr val="bg1"/>
                          </a:solidFill>
                          <a:latin typeface="Roboto" panose="02000000000000000000" pitchFamily="2" charset="0"/>
                          <a:ea typeface="Roboto" panose="02000000000000000000" pitchFamily="2" charset="0"/>
                          <a:cs typeface="Roboto" panose="02000000000000000000" pitchFamily="2" charset="0"/>
                        </a:rPr>
                        <a:t>Daily Deliverables</a:t>
                      </a:r>
                      <a:endParaRPr sz="18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noFill/>
                      <a:miter lim="400000"/>
                    </a:lnT>
                    <a:lnB w="0">
                      <a:noFill/>
                      <a:miter lim="400000"/>
                    </a:lnB>
                    <a:solidFill>
                      <a:schemeClr val="accent1"/>
                    </a:solidFill>
                  </a:tcPr>
                </a:tc>
                <a:extLst>
                  <a:ext uri="{0D108BD9-81ED-4DB2-BD59-A6C34878D82A}">
                    <a16:rowId xmlns:a16="http://schemas.microsoft.com/office/drawing/2014/main" val="10000"/>
                  </a:ext>
                </a:extLst>
              </a:tr>
              <a:tr h="705771">
                <a:tc>
                  <a:txBody>
                    <a:bodyPr/>
                    <a:lstStyle/>
                    <a:p>
                      <a:pPr marL="0" indent="0" algn="ctr">
                        <a:spcBef>
                          <a:spcPts val="600"/>
                        </a:spcBef>
                        <a:buNone/>
                      </a:pPr>
                      <a:r>
                        <a:rPr lang="en-US" sz="1600" dirty="0">
                          <a:latin typeface="Roboto" panose="02000000000000000000" pitchFamily="2" charset="0"/>
                          <a:ea typeface="Roboto" panose="02000000000000000000" pitchFamily="2" charset="0"/>
                        </a:rPr>
                        <a:t>1</a:t>
                      </a:r>
                    </a:p>
                  </a:txBody>
                  <a:tcPr anchor="ctr" horzOverflow="overflow">
                    <a:lnL w="0">
                      <a:miter lim="400000"/>
                    </a:lnL>
                    <a:lnR w="0">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Analysis</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Key Functions</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diagram</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678048">
                <a:tc>
                  <a:txBody>
                    <a:bodyPr/>
                    <a:lstStyle/>
                    <a:p>
                      <a:pPr marL="0" indent="0" algn="ctr">
                        <a:spcBef>
                          <a:spcPts val="600"/>
                        </a:spcBef>
                        <a:buNone/>
                      </a:pPr>
                      <a:r>
                        <a:rPr lang="en-US" sz="1600" dirty="0">
                          <a:latin typeface="Roboto" panose="02000000000000000000" pitchFamily="2" charset="0"/>
                          <a:ea typeface="Roboto" panose="02000000000000000000" pitchFamily="2" charset="0"/>
                        </a:rPr>
                        <a:t>2</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Back to basics/Nature</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16 Catch Phrases</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Function Sketches</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7 Alternatives (for each process step)</a:t>
                      </a:r>
                    </a:p>
                  </a:txBody>
                  <a:tcP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4040028488"/>
                  </a:ext>
                </a:extLst>
              </a:tr>
              <a:tr h="779563">
                <a:tc>
                  <a:txBody>
                    <a:bodyPr/>
                    <a:lstStyle/>
                    <a:p>
                      <a:pPr marL="0" indent="0" algn="ctr" rtl="0" eaLnBrk="1" latinLnBrk="0" hangingPunct="1">
                        <a:spcBef>
                          <a:spcPts val="600"/>
                        </a:spcBef>
                        <a:buNone/>
                      </a:pPr>
                      <a:r>
                        <a:rPr lang="en-US" sz="1600" kern="1200" dirty="0">
                          <a:solidFill>
                            <a:schemeClr val="bg2">
                              <a:lumMod val="10000"/>
                            </a:schemeClr>
                          </a:solidFill>
                          <a:latin typeface="Roboto" panose="02000000000000000000" pitchFamily="2" charset="0"/>
                          <a:ea typeface="Roboto" panose="02000000000000000000" pitchFamily="2" charset="0"/>
                          <a:cs typeface="Roboto"/>
                        </a:rPr>
                        <a:t>3</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Visual Creativity</a:t>
                      </a:r>
                    </a:p>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Selection Criteria</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Evaluate 7 </a:t>
                      </a:r>
                    </a:p>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Mockup</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014016">
                <a:tc>
                  <a:txBody>
                    <a:bodyPr/>
                    <a:lstStyle/>
                    <a:p>
                      <a:pPr algn="ctr">
                        <a:spcBef>
                          <a:spcPts val="600"/>
                        </a:spcBef>
                      </a:pPr>
                      <a:r>
                        <a:rPr lang="en-US" sz="1600" dirty="0">
                          <a:solidFill>
                            <a:schemeClr val="bg2">
                              <a:lumMod val="10000"/>
                            </a:schemeClr>
                          </a:solidFill>
                          <a:latin typeface="Roboto" panose="02000000000000000000" pitchFamily="2" charset="0"/>
                          <a:ea typeface="Roboto" panose="02000000000000000000" pitchFamily="2" charset="0"/>
                          <a:cs typeface="Roboto"/>
                        </a:rPr>
                        <a:t>4</a:t>
                      </a:r>
                    </a:p>
                  </a:txBody>
                  <a:tcPr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fr-FR"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Physical Limits/Interfaces</a:t>
                      </a:r>
                    </a:p>
                    <a:p>
                      <a:pPr marL="342900" indent="-342900" algn="l" defTabSz="1828342">
                        <a:spcBef>
                          <a:spcPts val="600"/>
                        </a:spcBef>
                        <a:buFont typeface="Arial" panose="020B0604020202020204" pitchFamily="34" charset="0"/>
                        <a:buChar char="•"/>
                        <a:defRPr sz="1800">
                          <a:solidFill>
                            <a:srgbClr val="000000"/>
                          </a:solidFill>
                        </a:defRPr>
                      </a:pPr>
                      <a:r>
                        <a:rPr lang="fr-FR"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Duration &amp; Effort</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Refine &amp; Combine/Select Top 1</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 Glance</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Implementation Plan</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484257">
                <a:tc>
                  <a:txBody>
                    <a:bodyPr/>
                    <a:lstStyle/>
                    <a:p>
                      <a:pPr algn="ctr">
                        <a:spcBef>
                          <a:spcPts val="600"/>
                        </a:spcBef>
                      </a:pPr>
                      <a:r>
                        <a:rPr lang="en-US" sz="1600" dirty="0">
                          <a:solidFill>
                            <a:schemeClr val="bg2">
                              <a:lumMod val="10000"/>
                            </a:schemeClr>
                          </a:solidFill>
                          <a:latin typeface="Roboto" panose="02000000000000000000" pitchFamily="2" charset="0"/>
                          <a:ea typeface="Roboto" panose="02000000000000000000" pitchFamily="2" charset="0"/>
                          <a:cs typeface="Roboto"/>
                        </a:rPr>
                        <a:t>5</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Prepare for Team Final Report-Out</a:t>
                      </a:r>
                    </a:p>
                  </a:txBody>
                  <a:tcP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Final Report-Out to Management</a:t>
                      </a:r>
                    </a:p>
                  </a:txBody>
                  <a:tcP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520429682"/>
                  </a:ext>
                </a:extLst>
              </a:tr>
            </a:tbl>
          </a:graphicData>
        </a:graphic>
      </p:graphicFrame>
      <p:grpSp>
        <p:nvGrpSpPr>
          <p:cNvPr id="2" name="Group 1">
            <a:extLst>
              <a:ext uri="{FF2B5EF4-FFF2-40B4-BE49-F238E27FC236}">
                <a16:creationId xmlns:a16="http://schemas.microsoft.com/office/drawing/2014/main" id="{06B29C2E-8DE7-A7E3-7411-4211D92C082A}"/>
              </a:ext>
            </a:extLst>
          </p:cNvPr>
          <p:cNvGrpSpPr/>
          <p:nvPr/>
        </p:nvGrpSpPr>
        <p:grpSpPr>
          <a:xfrm>
            <a:off x="838200" y="297639"/>
            <a:ext cx="3845560" cy="307138"/>
            <a:chOff x="838200" y="297639"/>
            <a:chExt cx="3845560" cy="307138"/>
          </a:xfrm>
        </p:grpSpPr>
        <p:grpSp>
          <p:nvGrpSpPr>
            <p:cNvPr id="3" name="Group 2">
              <a:extLst>
                <a:ext uri="{FF2B5EF4-FFF2-40B4-BE49-F238E27FC236}">
                  <a16:creationId xmlns:a16="http://schemas.microsoft.com/office/drawing/2014/main" id="{B40E5960-8A46-446E-C328-05E67A768B89}"/>
                </a:ext>
              </a:extLst>
            </p:cNvPr>
            <p:cNvGrpSpPr/>
            <p:nvPr/>
          </p:nvGrpSpPr>
          <p:grpSpPr>
            <a:xfrm>
              <a:off x="838200" y="297639"/>
              <a:ext cx="1687517" cy="290657"/>
              <a:chOff x="838200" y="297639"/>
              <a:chExt cx="1687517" cy="290657"/>
            </a:xfrm>
          </p:grpSpPr>
          <p:sp>
            <p:nvSpPr>
              <p:cNvPr id="6" name="AutoShape 9">
                <a:extLst>
                  <a:ext uri="{FF2B5EF4-FFF2-40B4-BE49-F238E27FC236}">
                    <a16:creationId xmlns:a16="http://schemas.microsoft.com/office/drawing/2014/main" id="{80D657C4-9BBA-5A25-88F3-9023B4C614E9}"/>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7" name="AutoShape 9">
                <a:extLst>
                  <a:ext uri="{FF2B5EF4-FFF2-40B4-BE49-F238E27FC236}">
                    <a16:creationId xmlns:a16="http://schemas.microsoft.com/office/drawing/2014/main" id="{8B1F5B75-7A99-4415-44E6-BF7441064903}"/>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EC1BDFB6-6122-04D6-25C9-249071316062}"/>
                  </a:ext>
                </a:extLst>
              </p:cNvPr>
              <p:cNvGrpSpPr/>
              <p:nvPr/>
            </p:nvGrpSpPr>
            <p:grpSpPr>
              <a:xfrm>
                <a:off x="838200" y="297639"/>
                <a:ext cx="1060167" cy="290657"/>
                <a:chOff x="826426" y="4041857"/>
                <a:chExt cx="1060167" cy="290657"/>
              </a:xfrm>
            </p:grpSpPr>
            <p:sp>
              <p:nvSpPr>
                <p:cNvPr id="18" name="AutoShape 9">
                  <a:extLst>
                    <a:ext uri="{FF2B5EF4-FFF2-40B4-BE49-F238E27FC236}">
                      <a16:creationId xmlns:a16="http://schemas.microsoft.com/office/drawing/2014/main" id="{B03E783B-CB34-3AFE-07E9-D737F9D4B79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43CCB2E0-C444-C796-BFFB-160BCE2C8E2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836254E1-3121-52B7-FF02-6A0B2BCD0AA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5" name="TextBox 4">
              <a:extLst>
                <a:ext uri="{FF2B5EF4-FFF2-40B4-BE49-F238E27FC236}">
                  <a16:creationId xmlns:a16="http://schemas.microsoft.com/office/drawing/2014/main" id="{0450F59D-295E-857B-C338-D0999510D6BE}"/>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p:txBody>
        </p:sp>
      </p:grpSp>
    </p:spTree>
    <p:extLst>
      <p:ext uri="{BB962C8B-B14F-4D97-AF65-F5344CB8AC3E}">
        <p14:creationId xmlns:p14="http://schemas.microsoft.com/office/powerpoint/2010/main" val="39213507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4000" dirty="0"/>
              <a:t>3P Charter and Leadership Approval</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78</a:t>
            </a:fld>
            <a:endParaRPr lang="en-US"/>
          </a:p>
        </p:txBody>
      </p:sp>
      <p:sp>
        <p:nvSpPr>
          <p:cNvPr id="4" name="Content Placeholder 3">
            <a:extLst>
              <a:ext uri="{FF2B5EF4-FFF2-40B4-BE49-F238E27FC236}">
                <a16:creationId xmlns:a16="http://schemas.microsoft.com/office/drawing/2014/main" id="{6A1F0EFE-E4F8-B846-FC0F-257EAA31D49E}"/>
              </a:ext>
            </a:extLst>
          </p:cNvPr>
          <p:cNvSpPr>
            <a:spLocks noGrp="1"/>
          </p:cNvSpPr>
          <p:nvPr>
            <p:ph sz="half" idx="1"/>
          </p:nvPr>
        </p:nvSpPr>
        <p:spPr/>
        <p:txBody>
          <a:bodyPr>
            <a:normAutofit/>
          </a:bodyPr>
          <a:lstStyle/>
          <a:p>
            <a:r>
              <a:rPr lang="en-US" altLang="en-US" dirty="0"/>
              <a:t>After 3P training, data collection, and review, prepare Event Charter and Leadership Approval document identifying key metrics and objectives </a:t>
            </a:r>
          </a:p>
        </p:txBody>
      </p:sp>
      <p:grpSp>
        <p:nvGrpSpPr>
          <p:cNvPr id="15" name="Group 14">
            <a:extLst>
              <a:ext uri="{FF2B5EF4-FFF2-40B4-BE49-F238E27FC236}">
                <a16:creationId xmlns:a16="http://schemas.microsoft.com/office/drawing/2014/main" id="{17F8BE60-F0CD-ED12-84B9-4B32A39C3F01}"/>
              </a:ext>
            </a:extLst>
          </p:cNvPr>
          <p:cNvGrpSpPr/>
          <p:nvPr/>
        </p:nvGrpSpPr>
        <p:grpSpPr>
          <a:xfrm>
            <a:off x="838200" y="297639"/>
            <a:ext cx="3845560" cy="307138"/>
            <a:chOff x="838200" y="297639"/>
            <a:chExt cx="3845560" cy="307138"/>
          </a:xfrm>
        </p:grpSpPr>
        <p:grpSp>
          <p:nvGrpSpPr>
            <p:cNvPr id="16" name="Group 15">
              <a:extLst>
                <a:ext uri="{FF2B5EF4-FFF2-40B4-BE49-F238E27FC236}">
                  <a16:creationId xmlns:a16="http://schemas.microsoft.com/office/drawing/2014/main" id="{2C833066-49A9-F8E6-BBF1-C01E16E4FA7F}"/>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3AE039E6-7552-B73A-587E-8BEB15DCFB9D}"/>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9">
                <a:extLst>
                  <a:ext uri="{FF2B5EF4-FFF2-40B4-BE49-F238E27FC236}">
                    <a16:creationId xmlns:a16="http://schemas.microsoft.com/office/drawing/2014/main" id="{5400E760-2978-8559-7E79-22EB8C46B462}"/>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ACAFFAB9-AD4E-4F7A-3B4B-FD1BC60D659C}"/>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7792910C-AC9F-D4EC-567F-141CA3AF454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CB42495E-6DAA-EB5F-E57E-3FB8787A3E3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F942732D-4FE8-A365-408A-81D5A93BD18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3903A3C8-C90C-9716-A5A5-3B7871486902}"/>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p:txBody>
        </p:sp>
      </p:grpSp>
      <p:pic>
        <p:nvPicPr>
          <p:cNvPr id="26" name="Picture 12">
            <a:extLst>
              <a:ext uri="{FF2B5EF4-FFF2-40B4-BE49-F238E27FC236}">
                <a16:creationId xmlns:a16="http://schemas.microsoft.com/office/drawing/2014/main" id="{177A5CF3-4124-FD80-D4C7-B738B912983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18905" y="1825625"/>
            <a:ext cx="4088190" cy="4351338"/>
          </a:xfrm>
          <a:noFill/>
          <a:ln w="6350" cap="sq">
            <a:solidFill>
              <a:schemeClr val="tx1"/>
            </a:solidFill>
            <a:miter lim="800000"/>
            <a:headEnd/>
            <a:tailEnd/>
          </a:ln>
        </p:spPr>
      </p:pic>
    </p:spTree>
    <p:extLst>
      <p:ext uri="{BB962C8B-B14F-4D97-AF65-F5344CB8AC3E}">
        <p14:creationId xmlns:p14="http://schemas.microsoft.com/office/powerpoint/2010/main" val="2328779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Review Team Charter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event charter and validate event objectives and project boundaries.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8"/>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necessary modifications to charter.</a:t>
            </a:r>
          </a:p>
        </p:txBody>
      </p:sp>
      <p:grpSp>
        <p:nvGrpSpPr>
          <p:cNvPr id="3" name="Group 2">
            <a:extLst>
              <a:ext uri="{FF2B5EF4-FFF2-40B4-BE49-F238E27FC236}">
                <a16:creationId xmlns:a16="http://schemas.microsoft.com/office/drawing/2014/main" id="{0235ABF3-6D1C-90BE-98D7-1C8F0A9562F0}"/>
              </a:ext>
            </a:extLst>
          </p:cNvPr>
          <p:cNvGrpSpPr/>
          <p:nvPr/>
        </p:nvGrpSpPr>
        <p:grpSpPr>
          <a:xfrm>
            <a:off x="838200" y="297639"/>
            <a:ext cx="3845560" cy="307138"/>
            <a:chOff x="838200" y="297639"/>
            <a:chExt cx="3845560" cy="307138"/>
          </a:xfrm>
        </p:grpSpPr>
        <p:grpSp>
          <p:nvGrpSpPr>
            <p:cNvPr id="4" name="Group 3">
              <a:extLst>
                <a:ext uri="{FF2B5EF4-FFF2-40B4-BE49-F238E27FC236}">
                  <a16:creationId xmlns:a16="http://schemas.microsoft.com/office/drawing/2014/main" id="{9B3A765B-5132-C7DD-3ED9-48A3E91D1CBE}"/>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C846150-D2F6-8A1D-E496-F71AAC060E08}"/>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BBFAE18E-BAC1-416D-A523-149E800BCF1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13F0546-A297-F091-B25F-7C09B6A29CD2}"/>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9D7982D-6BA5-5B0B-8380-D00E8712974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E82C403A-7A9A-F37F-B817-AE7322A0E64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33791AB0-154B-0C99-B4A8-55D14C16801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9C027390-72D6-C82F-E253-BDFBCB9D72BA}"/>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p:txBody>
        </p:sp>
      </p:grpSp>
    </p:spTree>
    <p:extLst>
      <p:ext uri="{BB962C8B-B14F-4D97-AF65-F5344CB8AC3E}">
        <p14:creationId xmlns:p14="http://schemas.microsoft.com/office/powerpoint/2010/main" val="16729556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Prepare Final Report Out and Budget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Charter</a:t>
            </a:r>
          </a:p>
          <a:p>
            <a:r>
              <a:rPr lang="en-US" dirty="0"/>
              <a:t>Objectives</a:t>
            </a:r>
          </a:p>
          <a:p>
            <a:r>
              <a:rPr lang="en-US" dirty="0"/>
              <a:t>Top Design Metrics</a:t>
            </a:r>
          </a:p>
          <a:p>
            <a:r>
              <a:rPr lang="en-US" dirty="0"/>
              <a:t>Workshop Plan</a:t>
            </a:r>
          </a:p>
          <a:p>
            <a:r>
              <a:rPr lang="en-US" dirty="0"/>
              <a:t>Benefits Summary</a:t>
            </a:r>
          </a:p>
          <a:p>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80</a:t>
            </a:fld>
            <a:endParaRPr lang="en-US"/>
          </a:p>
        </p:txBody>
      </p:sp>
      <p:grpSp>
        <p:nvGrpSpPr>
          <p:cNvPr id="4" name="Group 3">
            <a:extLst>
              <a:ext uri="{FF2B5EF4-FFF2-40B4-BE49-F238E27FC236}">
                <a16:creationId xmlns:a16="http://schemas.microsoft.com/office/drawing/2014/main" id="{D5B66C99-F75B-9A44-B2EA-BECB3E39BC46}"/>
              </a:ext>
            </a:extLst>
          </p:cNvPr>
          <p:cNvGrpSpPr/>
          <p:nvPr/>
        </p:nvGrpSpPr>
        <p:grpSpPr>
          <a:xfrm>
            <a:off x="838200" y="297639"/>
            <a:ext cx="3845560" cy="307138"/>
            <a:chOff x="838200" y="297639"/>
            <a:chExt cx="3845560" cy="307138"/>
          </a:xfrm>
        </p:grpSpPr>
        <p:grpSp>
          <p:nvGrpSpPr>
            <p:cNvPr id="6" name="Group 5">
              <a:extLst>
                <a:ext uri="{FF2B5EF4-FFF2-40B4-BE49-F238E27FC236}">
                  <a16:creationId xmlns:a16="http://schemas.microsoft.com/office/drawing/2014/main" id="{B8B8DC0A-EBF0-57B0-B3AB-D67DF5CF3905}"/>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DF69FDA2-E6ED-BFA5-66F2-3EDE20D4AE6F}"/>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A0A6A354-BE47-D56E-A60B-67BAA3659E4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3818084B-3B71-C13C-7BA7-394BC8DAC97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712F0490-0D17-48BB-F574-89A6B79838C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677E0ACE-65B2-4874-874C-E0C72293E4D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02727643-2F56-B906-EA16-FAF0388A0FFB}"/>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65BAD06-660F-E729-CC0B-5A746172946F}"/>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p:txBody>
        </p:sp>
      </p:grpSp>
    </p:spTree>
    <p:extLst>
      <p:ext uri="{BB962C8B-B14F-4D97-AF65-F5344CB8AC3E}">
        <p14:creationId xmlns:p14="http://schemas.microsoft.com/office/powerpoint/2010/main" val="39243777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Management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81</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09"/>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Management review of conclusions from the data and finalized charter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Present the team’s conclusions from the data and the finalized charter to management for approval.</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8"/>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Approval of charter and event direction. </a:t>
            </a:r>
          </a:p>
        </p:txBody>
      </p:sp>
      <p:grpSp>
        <p:nvGrpSpPr>
          <p:cNvPr id="3" name="Group 2">
            <a:extLst>
              <a:ext uri="{FF2B5EF4-FFF2-40B4-BE49-F238E27FC236}">
                <a16:creationId xmlns:a16="http://schemas.microsoft.com/office/drawing/2014/main" id="{0235ABF3-6D1C-90BE-98D7-1C8F0A9562F0}"/>
              </a:ext>
            </a:extLst>
          </p:cNvPr>
          <p:cNvGrpSpPr/>
          <p:nvPr/>
        </p:nvGrpSpPr>
        <p:grpSpPr>
          <a:xfrm>
            <a:off x="838200" y="297639"/>
            <a:ext cx="3845560" cy="307138"/>
            <a:chOff x="838200" y="297639"/>
            <a:chExt cx="3845560" cy="307138"/>
          </a:xfrm>
        </p:grpSpPr>
        <p:grpSp>
          <p:nvGrpSpPr>
            <p:cNvPr id="4" name="Group 3">
              <a:extLst>
                <a:ext uri="{FF2B5EF4-FFF2-40B4-BE49-F238E27FC236}">
                  <a16:creationId xmlns:a16="http://schemas.microsoft.com/office/drawing/2014/main" id="{9B3A765B-5132-C7DD-3ED9-48A3E91D1CBE}"/>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EC846150-D2F6-8A1D-E496-F71AAC060E08}"/>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BBFAE18E-BAC1-416D-A523-149E800BCF1B}"/>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B13F0546-A297-F091-B25F-7C09B6A29CD2}"/>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9D7982D-6BA5-5B0B-8380-D00E8712974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E82C403A-7A9A-F37F-B817-AE7322A0E64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33791AB0-154B-0C99-B4A8-55D14C16801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9C027390-72D6-C82F-E253-BDFBCB9D72BA}"/>
                </a:ext>
              </a:extLst>
            </p:cNvPr>
            <p:cNvSpPr txBox="1"/>
            <p:nvPr/>
          </p:nvSpPr>
          <p:spPr>
            <a:xfrm>
              <a:off x="2525717" y="313415"/>
              <a:ext cx="215804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Workshop</a:t>
              </a:r>
            </a:p>
          </p:txBody>
        </p:sp>
      </p:grpSp>
    </p:spTree>
    <p:extLst>
      <p:ext uri="{BB962C8B-B14F-4D97-AF65-F5344CB8AC3E}">
        <p14:creationId xmlns:p14="http://schemas.microsoft.com/office/powerpoint/2010/main" val="41200550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2DCF-BAB1-5F2B-601F-3334D8ECE687}"/>
              </a:ext>
            </a:extLst>
          </p:cNvPr>
          <p:cNvSpPr>
            <a:spLocks noGrp="1"/>
          </p:cNvSpPr>
          <p:nvPr>
            <p:ph type="title"/>
          </p:nvPr>
        </p:nvSpPr>
        <p:spPr/>
        <p:txBody>
          <a:bodyPr/>
          <a:lstStyle/>
          <a:p>
            <a:r>
              <a:rPr lang="en-US" dirty="0"/>
              <a:t>Other Modules In This Series</a:t>
            </a:r>
          </a:p>
        </p:txBody>
      </p:sp>
      <p:sp>
        <p:nvSpPr>
          <p:cNvPr id="3" name="Content Placeholder 3">
            <a:extLst>
              <a:ext uri="{FF2B5EF4-FFF2-40B4-BE49-F238E27FC236}">
                <a16:creationId xmlns:a16="http://schemas.microsoft.com/office/drawing/2014/main" id="{2DE22F5B-0ED7-9B1A-A260-C714A06F6D8D}"/>
              </a:ext>
            </a:extLst>
          </p:cNvPr>
          <p:cNvSpPr txBox="1">
            <a:spLocks/>
          </p:cNvSpPr>
          <p:nvPr/>
        </p:nvSpPr>
        <p:spPr>
          <a:xfrm>
            <a:off x="5964518" y="168420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Intro to Lean</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Process Mapping</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p:txBody>
      </p:sp>
      <p:sp>
        <p:nvSpPr>
          <p:cNvPr id="4" name="Steve Jones">
            <a:extLst>
              <a:ext uri="{FF2B5EF4-FFF2-40B4-BE49-F238E27FC236}">
                <a16:creationId xmlns:a16="http://schemas.microsoft.com/office/drawing/2014/main" id="{B6676899-EC75-8920-F33D-CCD7B872A3C8}"/>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5" name="Head of Management Dept.">
            <a:extLst>
              <a:ext uri="{FF2B5EF4-FFF2-40B4-BE49-F238E27FC236}">
                <a16:creationId xmlns:a16="http://schemas.microsoft.com/office/drawing/2014/main" id="{FED8FB5A-94EA-4A6F-1D86-3986B231E3C4}"/>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6" name="TextBox 5">
            <a:extLst>
              <a:ext uri="{FF2B5EF4-FFF2-40B4-BE49-F238E27FC236}">
                <a16:creationId xmlns:a16="http://schemas.microsoft.com/office/drawing/2014/main" id="{527FEA71-DF2A-69B2-6339-1972E08AA96C}"/>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pic>
        <p:nvPicPr>
          <p:cNvPr id="7" name="Picture 6">
            <a:extLst>
              <a:ext uri="{FF2B5EF4-FFF2-40B4-BE49-F238E27FC236}">
                <a16:creationId xmlns:a16="http://schemas.microsoft.com/office/drawing/2014/main" id="{D567D265-DBA4-640B-F70C-E345C9035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9" name="Slide Number Placeholder 2">
            <a:extLst>
              <a:ext uri="{FF2B5EF4-FFF2-40B4-BE49-F238E27FC236}">
                <a16:creationId xmlns:a16="http://schemas.microsoft.com/office/drawing/2014/main" id="{FB743B8F-8573-6203-575B-F671C499E71F}"/>
              </a:ext>
            </a:extLst>
          </p:cNvPr>
          <p:cNvSpPr txBox="1">
            <a:spLocks/>
          </p:cNvSpPr>
          <p:nvPr/>
        </p:nvSpPr>
        <p:spPr>
          <a:xfrm>
            <a:off x="8595078" y="6386632"/>
            <a:ext cx="2743200" cy="331932"/>
          </a:xfrm>
          <a:prstGeom prst="rect">
            <a:avLst/>
          </a:prstGeom>
        </p:spPr>
        <p:txBody>
          <a:bodyP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82</a:t>
            </a:fld>
            <a:endParaRPr lang="en-US"/>
          </a:p>
        </p:txBody>
      </p:sp>
    </p:spTree>
    <p:extLst>
      <p:ext uri="{BB962C8B-B14F-4D97-AF65-F5344CB8AC3E}">
        <p14:creationId xmlns:p14="http://schemas.microsoft.com/office/powerpoint/2010/main" val="48741687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14211</TotalTime>
  <Words>8206</Words>
  <Application>Microsoft Office PowerPoint</Application>
  <PresentationFormat>Widescreen</PresentationFormat>
  <Paragraphs>1274</Paragraphs>
  <Slides>82</Slides>
  <Notes>82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82</vt:i4>
      </vt:variant>
    </vt:vector>
  </HeadingPairs>
  <TitlesOfParts>
    <vt:vector size="89" baseType="lpstr">
      <vt:lpstr>Arial</vt:lpstr>
      <vt:lpstr>Calibri</vt:lpstr>
      <vt:lpstr>Monotype Sorts</vt:lpstr>
      <vt:lpstr>Roboto</vt:lpstr>
      <vt:lpstr>Roboto Medium</vt:lpstr>
      <vt:lpstr>Wingdings</vt:lpstr>
      <vt:lpstr>Office Theme</vt:lpstr>
      <vt:lpstr>PowerPoint Presentation</vt:lpstr>
      <vt:lpstr>Other Modules In This Series</vt:lpstr>
      <vt:lpstr>PowerPoint Presentation</vt:lpstr>
      <vt:lpstr>Ground Rules for Event</vt:lpstr>
      <vt:lpstr>Creative Stimulation Exercise</vt:lpstr>
      <vt:lpstr>Goal of 3P</vt:lpstr>
      <vt:lpstr>3P Roadmap to Success</vt:lpstr>
      <vt:lpstr>3P Roadmap to Success</vt:lpstr>
      <vt:lpstr>3P Kick-Off Structure</vt:lpstr>
      <vt:lpstr>3P Planning</vt:lpstr>
      <vt:lpstr>3P Overview</vt:lpstr>
      <vt:lpstr>Exercise: “Reds and Yellows”</vt:lpstr>
      <vt:lpstr>“Reds &amp; Yellows” Score Card</vt:lpstr>
      <vt:lpstr>3P Defined</vt:lpstr>
      <vt:lpstr>3P Defined</vt:lpstr>
      <vt:lpstr>Goal of 3P</vt:lpstr>
      <vt:lpstr>When to use 3P – Top 5 Reasons</vt:lpstr>
      <vt:lpstr>Benefits</vt:lpstr>
      <vt:lpstr>Prerequisites for successful 3P</vt:lpstr>
      <vt:lpstr>80% of Product Cost Built-in at Design Stage</vt:lpstr>
      <vt:lpstr>Project Resource Levels</vt:lpstr>
      <vt:lpstr>Product Development Efficiency</vt:lpstr>
      <vt:lpstr>Six Trade-offs of Development</vt:lpstr>
      <vt:lpstr>Obstacles to Product Development</vt:lpstr>
      <vt:lpstr>3P Principles – overarching logic of 3P</vt:lpstr>
      <vt:lpstr>The Four Phases of 3P</vt:lpstr>
      <vt:lpstr>Product and Production Interaction</vt:lpstr>
      <vt:lpstr>5 Steps to 3P</vt:lpstr>
      <vt:lpstr>3P Process</vt:lpstr>
      <vt:lpstr>3P Process</vt:lpstr>
      <vt:lpstr>3P Process</vt:lpstr>
      <vt:lpstr>Purpose of 16 Catch Phrases of 3P</vt:lpstr>
      <vt:lpstr>16 Catch Phrases</vt:lpstr>
      <vt:lpstr>Implementation</vt:lpstr>
      <vt:lpstr>Defining Objectives and Needs</vt:lpstr>
      <vt:lpstr>Exercise: Team Selection</vt:lpstr>
      <vt:lpstr>Moon Exploration Problem</vt:lpstr>
      <vt:lpstr>Select Product/Process to 3P</vt:lpstr>
      <vt:lpstr>Strategic Deployment tie to a Lean Business System</vt:lpstr>
      <vt:lpstr>Value Stream Map</vt:lpstr>
      <vt:lpstr>Cost of Quality</vt:lpstr>
      <vt:lpstr>Customer Journey</vt:lpstr>
      <vt:lpstr>Voice Of Customer</vt:lpstr>
      <vt:lpstr>Review VOC</vt:lpstr>
      <vt:lpstr>Project Selection Matrix</vt:lpstr>
      <vt:lpstr>Pugh Matrix – Comparative Ranking Method</vt:lpstr>
      <vt:lpstr>Selection Grid</vt:lpstr>
      <vt:lpstr>Break into manageable projects</vt:lpstr>
      <vt:lpstr>Product/Process Selection</vt:lpstr>
      <vt:lpstr>Define Relationships to Other Systems and Processes</vt:lpstr>
      <vt:lpstr>NPI Process Scope</vt:lpstr>
      <vt:lpstr>System Hierarchy</vt:lpstr>
      <vt:lpstr>Exploded Assembly</vt:lpstr>
      <vt:lpstr>Relationship Diagram</vt:lpstr>
      <vt:lpstr>Define Architecture, Relationships and Interfaces </vt:lpstr>
      <vt:lpstr>Understanding Customer Requirements</vt:lpstr>
      <vt:lpstr>The importance of defining the requirements</vt:lpstr>
      <vt:lpstr>Voice Of Customer at Product/Process Level</vt:lpstr>
      <vt:lpstr>Interviews regarding current process/design</vt:lpstr>
      <vt:lpstr>Creating Specifications from Fuzzy VOC</vt:lpstr>
      <vt:lpstr>Grouping and Analyzing Specifications with an Affinity Diagram</vt:lpstr>
      <vt:lpstr>Turn VOC into Specifications</vt:lpstr>
      <vt:lpstr>Determine Current Performance</vt:lpstr>
      <vt:lpstr>What is “Waste”?</vt:lpstr>
      <vt:lpstr>The Eight Wastes Defined</vt:lpstr>
      <vt:lpstr>Muda Walk Observation</vt:lpstr>
      <vt:lpstr>Example Data to Review</vt:lpstr>
      <vt:lpstr>3P Data Collection Form</vt:lpstr>
      <vt:lpstr>Take Muda Walk</vt:lpstr>
      <vt:lpstr>Create 3P Lab</vt:lpstr>
      <vt:lpstr>What is a 3P Lab?</vt:lpstr>
      <vt:lpstr>Rapid Prototyping sometimes called “Moonshining”</vt:lpstr>
      <vt:lpstr>Examples of Materials and Equipment Needed</vt:lpstr>
      <vt:lpstr>Other Considerations</vt:lpstr>
      <vt:lpstr>Create 3P Lab</vt:lpstr>
      <vt:lpstr>Plan Workshop and Review Event Charter</vt:lpstr>
      <vt:lpstr>3P Workshop Agenda</vt:lpstr>
      <vt:lpstr>3P Charter and Leadership Approval</vt:lpstr>
      <vt:lpstr>Exercise: Review Team Charter</vt:lpstr>
      <vt:lpstr>Prepare Final Report Out and Budget </vt:lpstr>
      <vt:lpstr>Management Review</vt:lpstr>
      <vt:lpstr>Other Modules In This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383</cp:revision>
  <dcterms:created xsi:type="dcterms:W3CDTF">2023-02-08T22:10:20Z</dcterms:created>
  <dcterms:modified xsi:type="dcterms:W3CDTF">2023-09-29T23:08:52Z</dcterms:modified>
</cp:coreProperties>
</file>