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8"/>
  </p:notesMasterIdLst>
  <p:sldIdLst>
    <p:sldId id="258" r:id="rId2"/>
    <p:sldId id="283" r:id="rId3"/>
    <p:sldId id="284" r:id="rId4"/>
    <p:sldId id="285" r:id="rId5"/>
    <p:sldId id="329" r:id="rId6"/>
    <p:sldId id="330" r:id="rId7"/>
    <p:sldId id="331" r:id="rId8"/>
    <p:sldId id="332" r:id="rId9"/>
    <p:sldId id="333" r:id="rId10"/>
    <p:sldId id="334" r:id="rId11"/>
    <p:sldId id="401" r:id="rId12"/>
    <p:sldId id="402" r:id="rId13"/>
    <p:sldId id="338" r:id="rId14"/>
    <p:sldId id="403" r:id="rId15"/>
    <p:sldId id="340" r:id="rId16"/>
    <p:sldId id="341" r:id="rId17"/>
    <p:sldId id="342" r:id="rId18"/>
    <p:sldId id="347" r:id="rId19"/>
    <p:sldId id="348" r:id="rId20"/>
    <p:sldId id="349" r:id="rId21"/>
    <p:sldId id="350" r:id="rId22"/>
    <p:sldId id="351" r:id="rId23"/>
    <p:sldId id="415" r:id="rId24"/>
    <p:sldId id="353" r:id="rId25"/>
    <p:sldId id="354" r:id="rId26"/>
    <p:sldId id="404" r:id="rId27"/>
    <p:sldId id="405" r:id="rId28"/>
    <p:sldId id="406" r:id="rId29"/>
    <p:sldId id="407" r:id="rId30"/>
    <p:sldId id="408" r:id="rId31"/>
    <p:sldId id="409" r:id="rId32"/>
    <p:sldId id="410" r:id="rId33"/>
    <p:sldId id="411" r:id="rId34"/>
    <p:sldId id="412" r:id="rId35"/>
    <p:sldId id="413" r:id="rId36"/>
    <p:sldId id="41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81849" autoAdjust="0"/>
  </p:normalViewPr>
  <p:slideViewPr>
    <p:cSldViewPr snapToGrid="0">
      <p:cViewPr varScale="1">
        <p:scale>
          <a:sx n="67" d="100"/>
          <a:sy n="67" d="100"/>
        </p:scale>
        <p:origin x="1570" y="62"/>
      </p:cViewPr>
      <p:guideLst/>
    </p:cSldViewPr>
  </p:slideViewPr>
  <p:notesTextViewPr>
    <p:cViewPr>
      <p:scale>
        <a:sx n="3" d="2"/>
        <a:sy n="3" d="2"/>
      </p:scale>
      <p:origin x="0" y="0"/>
    </p:cViewPr>
  </p:notesTextViewPr>
  <p:sorterViewPr>
    <p:cViewPr varScale="1">
      <p:scale>
        <a:sx n="100" d="100"/>
        <a:sy n="100" d="100"/>
      </p:scale>
      <p:origin x="0" y="-9786"/>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NOTE:</a:t>
            </a:r>
            <a:r>
              <a:rPr lang="en-US" altLang="en-US" dirty="0"/>
              <a:t> This module should be used by an organization introducing 3P into its improvement process. </a:t>
            </a:r>
          </a:p>
          <a:p>
            <a:r>
              <a:rPr lang="en-US" altLang="en-US" dirty="0"/>
              <a:t>This training presentation is intended for Leadership audiences that will be approving the upcoming results of 3P efforts. This training is intended to last a maximum of 4 hours.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1673305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1018051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3758911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 </a:t>
            </a:r>
            <a:r>
              <a:rPr lang="en-US" altLang="en-US" dirty="0"/>
              <a:t>Perform Group Introductions. Or Take two minutes to learn about another person and then 1 minute to present them to the group e.g. </a:t>
            </a:r>
            <a:r>
              <a:rPr lang="en-GB" altLang="en-US" dirty="0"/>
              <a:t>name, where were they born, where do they live now, family – married, children, hobbies, personal qualities, position, career, what do they like about work, what do they expect to get from this event.</a:t>
            </a:r>
            <a:endParaRPr lang="en-US" altLang="en-US" dirty="0"/>
          </a:p>
          <a:p>
            <a:endParaRPr lang="en-US" altLang="en-US" dirty="0"/>
          </a:p>
          <a:p>
            <a:r>
              <a:rPr lang="en-US" altLang="en-US" dirty="0"/>
              <a:t>Pick an ice-breaker or exercise to warm the team up to the event. (Icebreaker Example: Everyone uses their name tent and writes a </a:t>
            </a:r>
            <a:r>
              <a:rPr lang="ja-JP" altLang="en-US" dirty="0"/>
              <a:t>“</a:t>
            </a:r>
            <a:r>
              <a:rPr lang="en-US" altLang="ja-JP" dirty="0"/>
              <a:t>Personal License Plate</a:t>
            </a:r>
            <a:r>
              <a:rPr lang="ja-JP" altLang="en-US" dirty="0"/>
              <a:t>”</a:t>
            </a:r>
            <a:r>
              <a:rPr lang="en-US" altLang="ja-JP" dirty="0"/>
              <a:t> in which they have 2 minutes to creatively use a total of 7 letters or numbers to tell us something about themselves. Examples </a:t>
            </a:r>
            <a:r>
              <a:rPr lang="ja-JP" altLang="en-US" dirty="0"/>
              <a:t>“</a:t>
            </a:r>
            <a:r>
              <a:rPr lang="en-US" altLang="ja-JP" dirty="0"/>
              <a:t>LV2SAIL</a:t>
            </a:r>
            <a:r>
              <a:rPr lang="ja-JP" altLang="en-US" dirty="0"/>
              <a:t>”</a:t>
            </a:r>
            <a:r>
              <a:rPr lang="en-US" altLang="ja-JP" dirty="0"/>
              <a:t> OR </a:t>
            </a:r>
            <a:r>
              <a:rPr lang="ja-JP" altLang="en-US" dirty="0"/>
              <a:t>“</a:t>
            </a:r>
            <a:r>
              <a:rPr lang="en-US" altLang="ja-JP" dirty="0"/>
              <a:t>DADOV5</a:t>
            </a:r>
            <a:r>
              <a:rPr lang="ja-JP" altLang="en-US" dirty="0"/>
              <a:t>”</a:t>
            </a:r>
            <a:endParaRPr lang="en-US" altLang="ja-JP" dirty="0"/>
          </a:p>
          <a:p>
            <a:endParaRPr lang="en-US" altLang="en-US" dirty="0"/>
          </a:p>
          <a:p>
            <a:r>
              <a:rPr lang="en-US" altLang="en-US" b="1" dirty="0"/>
              <a:t>DO</a:t>
            </a:r>
            <a:r>
              <a:rPr lang="en-US" altLang="en-US" dirty="0"/>
              <a:t>: Review Event Ground Rules. </a:t>
            </a:r>
          </a:p>
          <a:p>
            <a:r>
              <a:rPr lang="en-US" altLang="en-US" b="1" dirty="0"/>
              <a:t>ASK:</a:t>
            </a:r>
            <a:r>
              <a:rPr lang="en-US" altLang="en-US" dirty="0"/>
              <a:t> </a:t>
            </a:r>
            <a:r>
              <a:rPr lang="ja-JP" altLang="en-US" dirty="0"/>
              <a:t>“</a:t>
            </a:r>
            <a:r>
              <a:rPr lang="en-US" altLang="ja-JP" dirty="0"/>
              <a:t>Does anyone have any rules they would like to see added?</a:t>
            </a:r>
            <a:r>
              <a:rPr lang="ja-JP" altLang="en-US" dirty="0"/>
              <a:t>”</a:t>
            </a:r>
            <a:endParaRPr lang="en-US" altLang="ja-JP" dirty="0"/>
          </a:p>
          <a:p>
            <a:r>
              <a:rPr lang="en-US" altLang="en-US" b="1" dirty="0"/>
              <a:t>ASK</a:t>
            </a:r>
            <a:r>
              <a:rPr lang="en-US" altLang="en-US" dirty="0"/>
              <a:t>: </a:t>
            </a:r>
            <a:r>
              <a:rPr lang="ja-JP" altLang="en-US" dirty="0"/>
              <a:t>“</a:t>
            </a:r>
            <a:r>
              <a:rPr lang="en-US" altLang="ja-JP" dirty="0"/>
              <a:t>Does everyone agree to these?</a:t>
            </a:r>
            <a:r>
              <a:rPr lang="ja-JP" altLang="en-US" dirty="0"/>
              <a:t>”</a:t>
            </a:r>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t>SAY:</a:t>
            </a:r>
            <a:r>
              <a:rPr lang="en-US" altLang="en-US" sz="800" dirty="0"/>
              <a:t> </a:t>
            </a:r>
            <a:r>
              <a:rPr lang="ja-JP" altLang="en-US" sz="800" dirty="0"/>
              <a:t>“</a:t>
            </a:r>
            <a:r>
              <a:rPr lang="en-US" altLang="ja-JP" sz="800" dirty="0"/>
              <a:t>3P is largely a creative thinking event. Teams are challenged to keep the creative juices flowing as we strive to achieve breakthrough designs and processes. So it is appropriate that we kick the event off with a creative, team-building exercise.</a:t>
            </a:r>
            <a:r>
              <a:rPr lang="ja-JP" altLang="en-US" sz="800" dirty="0"/>
              <a:t>”</a:t>
            </a:r>
            <a:endParaRPr lang="en-US" altLang="ja-JP" sz="800" dirty="0"/>
          </a:p>
          <a:p>
            <a:endParaRPr lang="en-US" altLang="en-US" sz="800" dirty="0"/>
          </a:p>
          <a:p>
            <a:r>
              <a:rPr lang="en-US" altLang="en-US" sz="800" b="1" dirty="0"/>
              <a:t>MATERIALS REQUIRED:</a:t>
            </a:r>
            <a:r>
              <a:rPr lang="en-US" altLang="en-US" sz="800" dirty="0"/>
              <a:t> 1 stopwatch and 100 sheets of 8.5x11</a:t>
            </a:r>
            <a:r>
              <a:rPr lang="ja-JP" altLang="en-US" sz="800" dirty="0"/>
              <a:t>”</a:t>
            </a:r>
            <a:r>
              <a:rPr lang="en-US" altLang="ja-JP" sz="800" dirty="0"/>
              <a:t> (or A4) paper per team. (Optional: Colored pencils)</a:t>
            </a:r>
          </a:p>
          <a:p>
            <a:endParaRPr lang="en-US" altLang="en-US" sz="800" dirty="0"/>
          </a:p>
          <a:p>
            <a:r>
              <a:rPr lang="en-US" altLang="en-US" sz="800" b="1" dirty="0"/>
              <a:t>NOTE:</a:t>
            </a:r>
            <a:r>
              <a:rPr lang="en-US" altLang="en-US" sz="800" dirty="0"/>
              <a:t> Each team must have one person in the role of the </a:t>
            </a:r>
            <a:r>
              <a:rPr lang="ja-JP" altLang="en-US" sz="800" dirty="0"/>
              <a:t>“</a:t>
            </a:r>
            <a:r>
              <a:rPr lang="en-US" altLang="ja-JP" sz="800" dirty="0"/>
              <a:t>Observer.</a:t>
            </a:r>
            <a:r>
              <a:rPr lang="ja-JP" altLang="en-US" sz="800" dirty="0"/>
              <a:t>”</a:t>
            </a:r>
            <a:r>
              <a:rPr lang="en-US" altLang="ja-JP" sz="800" dirty="0"/>
              <a:t> The Observer will keep time, note any observations around team dynamics, interactions, roles, and conflicts). The Observer will also serve as the customer in Part 2 of the exercise (see next page). </a:t>
            </a:r>
          </a:p>
          <a:p>
            <a:endParaRPr lang="en-US" altLang="en-US" sz="800" dirty="0"/>
          </a:p>
          <a:p>
            <a:r>
              <a:rPr lang="en-US" altLang="en-US" sz="800" b="1" dirty="0"/>
              <a:t>DO:</a:t>
            </a:r>
            <a:r>
              <a:rPr lang="en-US" altLang="en-US" sz="800" dirty="0"/>
              <a:t> Read the instructions aloud with the class on the slide. Have the materials prepared and the tables already assembled to facilitate working in small groups. </a:t>
            </a:r>
          </a:p>
          <a:p>
            <a:endParaRPr lang="en-US" altLang="en-US" sz="800" dirty="0"/>
          </a:p>
          <a:p>
            <a:r>
              <a:rPr lang="en-US" altLang="en-US" sz="800" b="1" dirty="0"/>
              <a:t>DO:</a:t>
            </a:r>
            <a:r>
              <a:rPr lang="en-US" altLang="en-US" sz="800" dirty="0"/>
              <a:t> Ensure that it is clear that have 10 minutes in their individual teams to come up with their airplane design and test it. Once they approve their design, they need to make enough prototypes to distribute one of their models to every other team. When all of the teams have all of the prototypes the entire group needs to determine the final design. </a:t>
            </a:r>
          </a:p>
          <a:p>
            <a:endParaRPr lang="en-US" altLang="en-US" sz="800" dirty="0"/>
          </a:p>
          <a:p>
            <a:r>
              <a:rPr lang="en-US" altLang="en-US" sz="800" b="1" dirty="0"/>
              <a:t>NOTE:</a:t>
            </a:r>
            <a:r>
              <a:rPr lang="en-US" altLang="en-US" sz="800" dirty="0"/>
              <a:t> Allow the class to come up with their own method for how determine the best design. Do not be too directive here. </a:t>
            </a:r>
          </a:p>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712126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t>DO</a:t>
            </a:r>
            <a:r>
              <a:rPr lang="en-US" altLang="en-US" sz="800" dirty="0"/>
              <a:t>: Read aloud the instructions on the slide for Part 2. Ensure all teams understand they are ALL building the same prototype – the design voted upon in the previous exercise. </a:t>
            </a:r>
          </a:p>
          <a:p>
            <a:endParaRPr lang="en-US" altLang="en-US" sz="800" dirty="0"/>
          </a:p>
          <a:p>
            <a:r>
              <a:rPr lang="en-US" altLang="en-US" sz="800" dirty="0"/>
              <a:t>DO: Provide 10 minutes for each team to forecast how many paper airplanes the team can build in a 10-min span and how much profit they can make. Costs and income are indicated on the slide. </a:t>
            </a:r>
          </a:p>
          <a:p>
            <a:endParaRPr lang="en-US" altLang="en-US" sz="800" dirty="0"/>
          </a:p>
          <a:p>
            <a:r>
              <a:rPr lang="en-US" altLang="en-US" sz="800" dirty="0"/>
              <a:t>DO: Then provide an additional 10 minutes for the teams to plan their production. Ensure they understand that the planes must be of the same quality as the prototype and will be examined upon completion by the customer (Observer). </a:t>
            </a:r>
          </a:p>
          <a:p>
            <a:endParaRPr lang="en-US" altLang="en-US" sz="800" dirty="0"/>
          </a:p>
          <a:p>
            <a:r>
              <a:rPr lang="en-US" altLang="en-US" sz="800" dirty="0"/>
              <a:t>DO: Run the production exercise for 10 minutes. The Observer should be keeping time, taking notes, and serving as the customer. When the exercise is completed, have each team calculate their final profit or loss. Results are compared and the winning team is identified. </a:t>
            </a:r>
          </a:p>
          <a:p>
            <a:endParaRPr lang="en-US" altLang="en-US" sz="800" dirty="0"/>
          </a:p>
          <a:p>
            <a:r>
              <a:rPr lang="en-US" altLang="en-US" sz="800" dirty="0"/>
              <a:t>DISCUSSION QUESTIONS TO ASK:</a:t>
            </a:r>
          </a:p>
          <a:p>
            <a:r>
              <a:rPr lang="en-US" altLang="en-US" sz="800" dirty="0"/>
              <a:t>Was the final result different from the forecast? Why?</a:t>
            </a:r>
          </a:p>
          <a:p>
            <a:r>
              <a:rPr lang="en-US" altLang="en-US" sz="800" dirty="0"/>
              <a:t>Was there any conflict in the group?</a:t>
            </a:r>
          </a:p>
          <a:p>
            <a:r>
              <a:rPr lang="en-US" altLang="en-US" sz="800" dirty="0"/>
              <a:t>Did certain people take on or accept roles within the team?</a:t>
            </a:r>
          </a:p>
          <a:p>
            <a:r>
              <a:rPr lang="en-US" altLang="en-US" sz="800" dirty="0"/>
              <a:t>Was quality a concern?</a:t>
            </a:r>
          </a:p>
          <a:p>
            <a:r>
              <a:rPr lang="en-US" altLang="en-US" sz="800" dirty="0"/>
              <a:t>Did everyone participate in the discussion and decision-making process?</a:t>
            </a:r>
          </a:p>
          <a:p>
            <a:endParaRPr lang="en-US" altLang="en-US" sz="800" dirty="0"/>
          </a:p>
          <a:p>
            <a:r>
              <a:rPr lang="en-US" altLang="en-US" sz="800" dirty="0"/>
              <a:t>DO: Relate how we will see elements of this exercise in our 3P event. </a:t>
            </a:r>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1946606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DO:</a:t>
            </a:r>
            <a:r>
              <a:rPr lang="en-US" altLang="en-US" dirty="0"/>
              <a:t> Introduce the notion of Deming</a:t>
            </a:r>
            <a:r>
              <a:rPr lang="ja-JP" altLang="en-US" dirty="0"/>
              <a:t>’</a:t>
            </a:r>
            <a:r>
              <a:rPr lang="en-US" altLang="ja-JP" dirty="0"/>
              <a:t>s PDCA in relation to 3P as an iterative process of creative divergence and constructive convergence and refinement.</a:t>
            </a:r>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124120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092190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3892640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19867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NOTE:</a:t>
            </a:r>
            <a:r>
              <a:rPr lang="en-US" altLang="en-US" dirty="0"/>
              <a:t> Make any modifications or inclusions/deletions to Workshop event as required by nature of 3P event.</a:t>
            </a: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1078652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2853926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5000"/>
              </a:lnSpc>
            </a:pPr>
            <a:r>
              <a:rPr lang="en-US" altLang="en-US" b="1" dirty="0"/>
              <a:t>SAY</a:t>
            </a:r>
            <a:r>
              <a:rPr lang="en-US" altLang="en-US" dirty="0"/>
              <a:t>: </a:t>
            </a:r>
            <a:r>
              <a:rPr lang="ja-JP" altLang="en-US" dirty="0"/>
              <a:t>“</a:t>
            </a:r>
            <a:r>
              <a:rPr lang="en-US" altLang="ja-JP" dirty="0"/>
              <a:t>3P is an advanced lean tool typically used by organizations that have experience with other lean methods   </a:t>
            </a:r>
          </a:p>
          <a:p>
            <a:pPr>
              <a:lnSpc>
                <a:spcPct val="105000"/>
              </a:lnSpc>
            </a:pPr>
            <a:r>
              <a:rPr lang="en-US" altLang="en-US" dirty="0"/>
              <a:t>Kaizen and other lean tools take a production process as a given and seek to make improvements, 3P focuses on eliminating waste through product and process design.</a:t>
            </a:r>
          </a:p>
          <a:p>
            <a:pPr>
              <a:lnSpc>
                <a:spcPct val="105000"/>
              </a:lnSpc>
            </a:pPr>
            <a:r>
              <a:rPr lang="en-US" altLang="en-US" dirty="0"/>
              <a:t>3P seeks to meet customer requirements by starting with a clean product development slate to rapidly create and test potential product and process designs that require the least time, material, and capital resources. </a:t>
            </a:r>
          </a:p>
          <a:p>
            <a:pPr>
              <a:lnSpc>
                <a:spcPct val="105000"/>
              </a:lnSpc>
            </a:pPr>
            <a:r>
              <a:rPr lang="en-US" altLang="en-US" dirty="0"/>
              <a:t>3P involves a diverse group of individuals in a multi-day creative process to identify several alternative ways to meet the customer's needs using different product or process designs.</a:t>
            </a:r>
          </a:p>
          <a:p>
            <a:pPr>
              <a:lnSpc>
                <a:spcPct val="105000"/>
              </a:lnSpc>
            </a:pPr>
            <a:r>
              <a:rPr lang="en-US" altLang="en-US" dirty="0"/>
              <a:t>Eliminate the </a:t>
            </a:r>
            <a:r>
              <a:rPr lang="ja-JP" altLang="en-US" dirty="0"/>
              <a:t>‘</a:t>
            </a:r>
            <a:r>
              <a:rPr lang="en-US" altLang="ja-JP" dirty="0"/>
              <a:t>Three D</a:t>
            </a:r>
            <a:r>
              <a:rPr lang="ja-JP" altLang="en-US" dirty="0"/>
              <a:t>’</a:t>
            </a:r>
            <a:r>
              <a:rPr lang="en-US" altLang="ja-JP" dirty="0"/>
              <a:t>s</a:t>
            </a:r>
            <a:r>
              <a:rPr lang="ja-JP" altLang="en-US" dirty="0"/>
              <a:t>’</a:t>
            </a:r>
            <a:r>
              <a:rPr lang="en-US" altLang="ja-JP" dirty="0"/>
              <a:t> – dirt, difficult, dangerous</a:t>
            </a:r>
            <a:r>
              <a:rPr lang="ja-JP" altLang="en-US" dirty="0"/>
              <a:t>”</a:t>
            </a:r>
            <a:endParaRPr lang="en-US" altLang="ja-JP" dirty="0"/>
          </a:p>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54314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1432884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502876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SAY:</a:t>
            </a:r>
            <a:r>
              <a:rPr lang="en-US" altLang="en-US" dirty="0"/>
              <a:t> </a:t>
            </a:r>
            <a:r>
              <a:rPr lang="ja-JP" altLang="en-US" dirty="0"/>
              <a:t>“</a:t>
            </a:r>
            <a:r>
              <a:rPr lang="en-US" altLang="ja-JP" dirty="0"/>
              <a:t>Product performance can be enhanced in two ways; 1) by involving multidisciplinary teams early, an improved solution can be found, 2) by having a fast development process, development can afford to wait for improved or cheaper technology and still make it to market on time.</a:t>
            </a:r>
          </a:p>
          <a:p>
            <a:endParaRPr lang="en-US" altLang="en-US" dirty="0"/>
          </a:p>
          <a:p>
            <a:r>
              <a:rPr lang="en-GB" altLang="en-US" dirty="0"/>
              <a:t>Lower production costs do not naturally follow as typically 2X effort leads to ½ development time. However more focused effort and fewer iterations and mistakes can lead to improved development efficiency and lower development costs.”</a:t>
            </a:r>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2629043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3974265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40478927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2963568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SAY:</a:t>
            </a:r>
            <a:r>
              <a:rPr lang="ja-JP" altLang="en-US" dirty="0"/>
              <a:t>”</a:t>
            </a:r>
            <a:r>
              <a:rPr lang="en-US" altLang="ja-JP" dirty="0"/>
              <a:t>3P is an iterative process of creative divergence and constructive convergence and refinement through four phases: Information, Creative, Definition and Launch.</a:t>
            </a:r>
            <a:r>
              <a:rPr lang="ja-JP" altLang="en-US" dirty="0"/>
              <a:t>”</a:t>
            </a:r>
            <a:endParaRPr lang="en-GB"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7007346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SAY:</a:t>
            </a:r>
            <a:r>
              <a:rPr lang="en-GB" altLang="en-US" dirty="0"/>
              <a:t> “This is a Concurrent Engineering method and is to illustrate that product design and production design need to run hand in hand with constant interaction between the two. This is very relevant to 3P. The traditional method is to design the product in isolation and throw it over the wall to the production department to make the best of it. Often product designers do not understand manufacturing and vice versa.” </a:t>
            </a:r>
          </a:p>
          <a:p>
            <a:endParaRPr lang="en-GB" altLang="en-US" dirty="0"/>
          </a:p>
          <a:p>
            <a:r>
              <a:rPr lang="en-GB" altLang="en-US" b="1" dirty="0"/>
              <a:t>SAY: </a:t>
            </a:r>
            <a:r>
              <a:rPr lang="en-GB" altLang="en-US" dirty="0"/>
              <a:t>“It is the interaction of product designers and production engineers that will achieve the best possible solution when using the 3P method.”</a:t>
            </a: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39051004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sz="800" dirty="0"/>
              <a:t>3P FIVE STEP CREATIVE PROCESS</a:t>
            </a:r>
          </a:p>
          <a:p>
            <a:r>
              <a:rPr lang="en-GB" altLang="en-US" sz="800" dirty="0"/>
              <a:t>1. Define Product or Process Design Objectives/Needs</a:t>
            </a:r>
          </a:p>
          <a:p>
            <a:r>
              <a:rPr lang="en-GB" altLang="en-US" sz="800" b="1" dirty="0"/>
              <a:t>The team seeks to understand the core customer needs that need to be met. If a product or product prototype is available, the project team breaks it down into component parts and raw materials to assess the function that each plays.</a:t>
            </a:r>
          </a:p>
          <a:p>
            <a:r>
              <a:rPr lang="en-GB" altLang="en-US" sz="800" dirty="0"/>
              <a:t>2. Study Alternatives</a:t>
            </a:r>
          </a:p>
          <a:p>
            <a:r>
              <a:rPr lang="en-GB" altLang="en-US" sz="800" b="1" dirty="0"/>
              <a:t>Diagramming: A fishbone diagram or other type of illustration is created to demonstrate the flow from raw material to finished product. The project team then </a:t>
            </a:r>
            <a:r>
              <a:rPr lang="en-GB" altLang="en-US" sz="800" b="1" dirty="0" err="1"/>
              <a:t>analyzes</a:t>
            </a:r>
            <a:r>
              <a:rPr lang="en-GB" altLang="en-US" sz="800" b="1" dirty="0"/>
              <a:t> each branch of the diagram (or each illustration) and brainstorms key words (e.g., roll, rotate, form, bend) to describe the change (or “transformation”) made at each branch.</a:t>
            </a:r>
          </a:p>
          <a:p>
            <a:r>
              <a:rPr lang="en-GB" altLang="en-US" sz="800" b="1" dirty="0"/>
              <a:t>Find and </a:t>
            </a:r>
            <a:r>
              <a:rPr lang="en-GB" altLang="en-US" sz="800" b="1" dirty="0" err="1"/>
              <a:t>Analyze</a:t>
            </a:r>
            <a:r>
              <a:rPr lang="en-GB" altLang="en-US" sz="800" b="1" dirty="0"/>
              <a:t> Examples in Nature: The project team then tries to find examples of each process keyword in the natural world. For example, forming can be found in nature when a heavy animal such as an elephant walks on mud, or when water pressure shapes rocks in a river. Similar examples are grouped and examples that best exemplify the process key word researched to better understand how the examples occur in nature. Here, team members place heavy emphasis on how nature works in the example and why. Once the unique qualities of the natural process are dissected, team members then discuss how the natural process can be applied to the given manufacturing process step.</a:t>
            </a:r>
          </a:p>
          <a:p>
            <a:r>
              <a:rPr lang="en-GB" altLang="en-US" sz="800" b="1" dirty="0"/>
              <a:t>An alternative comparison method is to ask how other industries solve similar problems. e.g. how food processing companies eliminate contamination to reduce mix to mix contamination in other processing industries or how Automotive companies solve similar problems found in the Aerospace industry and visa versa.</a:t>
            </a:r>
          </a:p>
          <a:p>
            <a:r>
              <a:rPr lang="en-GB" altLang="en-US" sz="800" dirty="0"/>
              <a:t>3. Sketch and Evaluate the Process</a:t>
            </a:r>
          </a:p>
          <a:p>
            <a:r>
              <a:rPr lang="en-GB" altLang="en-US" sz="800" b="1" dirty="0"/>
              <a:t>Sub-teams are formed and each sub-team member is required to draw different ways to accomplish the process in question. Each of the sketches is evaluated and the best is chosen (along with any good features from the sketches that are not chosen) for a mock-up.</a:t>
            </a:r>
          </a:p>
          <a:p>
            <a:r>
              <a:rPr lang="en-GB" altLang="en-US" sz="800" dirty="0"/>
              <a:t>4. Build, Present, and Select Process Prototypes</a:t>
            </a:r>
          </a:p>
          <a:p>
            <a:r>
              <a:rPr lang="en-GB" altLang="en-US" sz="800" b="1" dirty="0"/>
              <a:t>The team prototypes and then evaluates the chosen process, spending several days (if necessary) working with different variations of the mock-up to ensure it will meet criteria.</a:t>
            </a:r>
          </a:p>
          <a:p>
            <a:r>
              <a:rPr lang="en-GB" altLang="en-US" sz="800" b="1" dirty="0"/>
              <a:t>Hold Design Review: Once a concept has been selected for additional refinement, it is presented to a larger group (including the original product designers) for feedback.</a:t>
            </a:r>
          </a:p>
          <a:p>
            <a:r>
              <a:rPr lang="en-GB" altLang="en-US" sz="800" dirty="0"/>
              <a:t>5. Develop Project Implementation Plan</a:t>
            </a:r>
          </a:p>
          <a:p>
            <a:r>
              <a:rPr lang="en-GB" altLang="en-US" sz="800" b="1" dirty="0"/>
              <a:t>If the project is selected to proceed, the team selects a project implementation leader who helps determine the schedule, process, resource requirements, and distribution of responsibilities for completion.</a:t>
            </a: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1911332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8758194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29819967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20739710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38690276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20853462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9083551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2726184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SAY: </a:t>
            </a:r>
            <a:r>
              <a:rPr lang="en-GB" altLang="en-US" dirty="0"/>
              <a:t>“Research has shown that companies who try to take big development leaps actually move slower than those that build development incrementally.”</a:t>
            </a:r>
          </a:p>
          <a:p>
            <a:endParaRPr lang="en-GB" altLang="en-US" dirty="0"/>
          </a:p>
          <a:p>
            <a:r>
              <a:rPr lang="en-GB" altLang="en-US" sz="1400" b="1" dirty="0"/>
              <a:t>SAY:</a:t>
            </a:r>
            <a:r>
              <a:rPr lang="en-GB" altLang="en-US" sz="1400" dirty="0"/>
              <a:t> “Use technology: CAD/CAM, PDM, rapid prototyping.”</a:t>
            </a:r>
          </a:p>
          <a:p>
            <a:endParaRPr lang="en-GB" altLang="en-US" sz="1400" dirty="0"/>
          </a:p>
          <a:p>
            <a:r>
              <a:rPr lang="en-GB" altLang="en-US" sz="1400" b="1" dirty="0"/>
              <a:t>SAY:</a:t>
            </a:r>
            <a:r>
              <a:rPr lang="en-GB" altLang="en-US" sz="1400" dirty="0"/>
              <a:t> “Hold reviews: phases, overlaps, milestones and triggers.”</a:t>
            </a:r>
          </a:p>
          <a:p>
            <a:endParaRPr lang="en-GB"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40548712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7233897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37874224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37827892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NOTE:</a:t>
            </a:r>
            <a:r>
              <a:rPr lang="en-GB" altLang="en-US" dirty="0"/>
              <a:t> Taken from Toyota principles.</a:t>
            </a:r>
          </a:p>
          <a:p>
            <a:endParaRPr lang="en-GB" altLang="en-US" dirty="0"/>
          </a:p>
          <a:p>
            <a:r>
              <a:rPr lang="en-GB" altLang="en-US" dirty="0"/>
              <a:t>Meetings are a big drain on development time. Keep them short and to the point by issuing “memos” before the meeting stating the key points for discussion. Do not deviate away from them.</a:t>
            </a:r>
          </a:p>
          <a:p>
            <a:endParaRPr lang="en-GB" altLang="en-US" dirty="0"/>
          </a:p>
          <a:p>
            <a:r>
              <a:rPr lang="en-GB" altLang="en-US" dirty="0"/>
              <a:t>Adopt a coaching style from experienced project managers and supervisors.</a:t>
            </a:r>
          </a:p>
          <a:p>
            <a:endParaRPr lang="en-GB" altLang="en-US" dirty="0"/>
          </a:p>
          <a:p>
            <a:r>
              <a:rPr lang="en-GB" altLang="en-US" dirty="0"/>
              <a:t>Standardized product development work should be based on saving cost/time and reducing errors. If standardization does not achieve either of these objectives then don’t do it.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24463082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7520111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35723937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3P </a:t>
            </a:r>
            <a:r>
              <a:rPr lang="en-US" sz="1000" dirty="0" err="1"/>
              <a:t>PRESENTATION_Leadership</a:t>
            </a:r>
            <a:r>
              <a:rPr lang="en-US" sz="1000" dirty="0"/>
              <a:t> Awareness ENG REV3</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18.wmf"/><Relationship Id="rId5" Type="http://schemas.openxmlformats.org/officeDocument/2006/relationships/image" Target="../media/image17.wmf"/><Relationship Id="rId10" Type="http://schemas.openxmlformats.org/officeDocument/2006/relationships/image" Target="../media/image22.emf"/><Relationship Id="rId4" Type="http://schemas.openxmlformats.org/officeDocument/2006/relationships/image" Target="../media/image16.wmf"/><Relationship Id="rId9" Type="http://schemas.openxmlformats.org/officeDocument/2006/relationships/image" Target="../media/image21.wmf"/></Relationships>
</file>

<file path=ppt/slides/_rels/slide2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6.wmf"/><Relationship Id="rId7"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wmf"/><Relationship Id="rId9" Type="http://schemas.openxmlformats.org/officeDocument/2006/relationships/image" Target="../media/image22.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6.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461665"/>
          </a:xfrm>
          <a:prstGeom prst="rect">
            <a:avLst/>
          </a:prstGeom>
          <a:noFill/>
        </p:spPr>
        <p:txBody>
          <a:bodyPr wrap="square" rtlCol="0">
            <a:spAutoFit/>
          </a:bodyPr>
          <a:lstStyle/>
          <a:p>
            <a:pPr algn="ctr"/>
            <a:r>
              <a:rPr lang="en-US" sz="2400" dirty="0">
                <a:latin typeface="Roboto" panose="02000000000000000000" pitchFamily="2" charset="0"/>
                <a:ea typeface="Roboto" panose="02000000000000000000" pitchFamily="2" charset="0"/>
                <a:cs typeface="Roboto" panose="02000000000000000000" pitchFamily="2" charset="0"/>
              </a:rPr>
              <a:t>Production Preparation Process (3P) Leadership Awareness Presentation</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3P Exercise: Part 1</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Simulate a 3P exercise.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Form teams of 5-7 participants. Each team will be given 10 sheets of paper.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is to construct a paper airplane that will fly across the room and that also looks aesthetically pleasing. The key criteria is that the plane can be made quickly and constantly.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is to agree on the final model and construct a prototype for each of the other teams. You have 10 minutes to complete this.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When complete, distribute all prototypes to each team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and the entire group must vote which plane has the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best design.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Consensus final design paper airplane </a:t>
            </a:r>
          </a:p>
        </p:txBody>
      </p:sp>
    </p:spTree>
    <p:extLst>
      <p:ext uri="{BB962C8B-B14F-4D97-AF65-F5344CB8AC3E}">
        <p14:creationId xmlns:p14="http://schemas.microsoft.com/office/powerpoint/2010/main" val="1283754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3P Exercise: Part 2</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210"/>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Simulate production of the consensus design from the previous exercise.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the same teams, you will be given 10 minutes to forecast how many paper airplanes your team can build in a 10-min period and how much profit you can make.</a:t>
            </a:r>
          </a:p>
          <a:p>
            <a:pPr marL="171450" marR="0" indent="-1714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Costs =  $1 for each sheet of paper and $10 for each minute of time taken for construction. </a:t>
            </a:r>
          </a:p>
          <a:p>
            <a:pPr marL="171450" marR="0" indent="-1714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Income = $5 per completed plane (approved by customer)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Your team will then have 10 minutes to plan the production, and 10 minutes to run the exercise. Planes must be of the same quality as the prototype and will be examined upon completion by customer.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45-60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96337"/>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All results compared and winning team announced.</a:t>
            </a:r>
          </a:p>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lessons learned </a:t>
            </a:r>
          </a:p>
        </p:txBody>
      </p:sp>
    </p:spTree>
    <p:extLst>
      <p:ext uri="{BB962C8B-B14F-4D97-AF65-F5344CB8AC3E}">
        <p14:creationId xmlns:p14="http://schemas.microsoft.com/office/powerpoint/2010/main" val="3371403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3P</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Develop and implement a new product/process with the highest quality, lowest cost, in the shortest time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grpSp>
        <p:nvGrpSpPr>
          <p:cNvPr id="22" name="Group 21">
            <a:extLst>
              <a:ext uri="{FF2B5EF4-FFF2-40B4-BE49-F238E27FC236}">
                <a16:creationId xmlns:a16="http://schemas.microsoft.com/office/drawing/2014/main" id="{11549B9D-F8BB-2D08-3639-36E889E02287}"/>
              </a:ext>
            </a:extLst>
          </p:cNvPr>
          <p:cNvGrpSpPr/>
          <p:nvPr/>
        </p:nvGrpSpPr>
        <p:grpSpPr>
          <a:xfrm>
            <a:off x="838200" y="2971800"/>
            <a:ext cx="10025697" cy="3078163"/>
            <a:chOff x="512763" y="3686175"/>
            <a:chExt cx="8226425" cy="2420938"/>
          </a:xfrm>
        </p:grpSpPr>
        <p:grpSp>
          <p:nvGrpSpPr>
            <p:cNvPr id="4" name="Group 2">
              <a:extLst>
                <a:ext uri="{FF2B5EF4-FFF2-40B4-BE49-F238E27FC236}">
                  <a16:creationId xmlns:a16="http://schemas.microsoft.com/office/drawing/2014/main" id="{4BEF384A-E088-2DEE-3B90-DF867E07564A}"/>
                </a:ext>
              </a:extLst>
            </p:cNvPr>
            <p:cNvGrpSpPr>
              <a:grpSpLocks/>
            </p:cNvGrpSpPr>
            <p:nvPr/>
          </p:nvGrpSpPr>
          <p:grpSpPr bwMode="auto">
            <a:xfrm>
              <a:off x="2205038" y="3686175"/>
              <a:ext cx="6534150" cy="2420938"/>
              <a:chOff x="1389" y="1410"/>
              <a:chExt cx="4116" cy="1795"/>
            </a:xfrm>
          </p:grpSpPr>
          <p:sp>
            <p:nvSpPr>
              <p:cNvPr id="6" name="Rectangle 3">
                <a:extLst>
                  <a:ext uri="{FF2B5EF4-FFF2-40B4-BE49-F238E27FC236}">
                    <a16:creationId xmlns:a16="http://schemas.microsoft.com/office/drawing/2014/main" id="{58278250-D1C2-4AD2-73E4-BD0BDE27D76D}"/>
                  </a:ext>
                </a:extLst>
              </p:cNvPr>
              <p:cNvSpPr>
                <a:spLocks noChangeArrowheads="1"/>
              </p:cNvSpPr>
              <p:nvPr/>
            </p:nvSpPr>
            <p:spPr bwMode="auto">
              <a:xfrm>
                <a:off x="1389" y="1410"/>
                <a:ext cx="4116" cy="1795"/>
              </a:xfrm>
              <a:prstGeom prst="rect">
                <a:avLst/>
              </a:prstGeom>
              <a:solidFill>
                <a:srgbClr val="EAEAEA"/>
              </a:solidFill>
              <a:ln w="12700" cap="sq">
                <a:solidFill>
                  <a:srgbClr val="0033CC"/>
                </a:solidFill>
                <a:miter lim="800000"/>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 name="Text Box 4">
                <a:extLst>
                  <a:ext uri="{FF2B5EF4-FFF2-40B4-BE49-F238E27FC236}">
                    <a16:creationId xmlns:a16="http://schemas.microsoft.com/office/drawing/2014/main" id="{0ECDFB25-17E4-02F1-E953-8E6F06F1955D}"/>
                  </a:ext>
                </a:extLst>
              </p:cNvPr>
              <p:cNvSpPr txBox="1">
                <a:spLocks noChangeArrowheads="1"/>
              </p:cNvSpPr>
              <p:nvPr/>
            </p:nvSpPr>
            <p:spPr bwMode="auto">
              <a:xfrm>
                <a:off x="3411" y="1507"/>
                <a:ext cx="95" cy="197"/>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endParaRPr lang="en-US" altLang="en-US" sz="1600" i="1">
                  <a:solidFill>
                    <a:srgbClr val="000066"/>
                  </a:solidFill>
                  <a:latin typeface="Roboto" panose="02000000000000000000" pitchFamily="2" charset="0"/>
                  <a:ea typeface="Roboto" panose="02000000000000000000" pitchFamily="2" charset="0"/>
                </a:endParaRPr>
              </a:p>
            </p:txBody>
          </p:sp>
        </p:grpSp>
        <p:sp>
          <p:nvSpPr>
            <p:cNvPr id="8" name="Oval 6">
              <a:extLst>
                <a:ext uri="{FF2B5EF4-FFF2-40B4-BE49-F238E27FC236}">
                  <a16:creationId xmlns:a16="http://schemas.microsoft.com/office/drawing/2014/main" id="{389C5F93-87A1-AE98-E52B-F212CF3DA6A6}"/>
                </a:ext>
              </a:extLst>
            </p:cNvPr>
            <p:cNvSpPr>
              <a:spLocks noChangeArrowheads="1"/>
            </p:cNvSpPr>
            <p:nvPr/>
          </p:nvSpPr>
          <p:spPr bwMode="auto">
            <a:xfrm>
              <a:off x="7662863" y="4776788"/>
              <a:ext cx="976312" cy="1052512"/>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a:solidFill>
                    <a:schemeClr val="bg1"/>
                  </a:solidFill>
                  <a:latin typeface="Roboto" panose="02000000000000000000" pitchFamily="2" charset="0"/>
                  <a:ea typeface="Roboto" panose="02000000000000000000" pitchFamily="2" charset="0"/>
                </a:rPr>
                <a:t>Apply</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learning</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to next 3P</a:t>
              </a:r>
              <a:endParaRPr lang="en-GB" altLang="en-US" sz="1200" b="0">
                <a:solidFill>
                  <a:schemeClr val="bg1"/>
                </a:solidFill>
                <a:latin typeface="Roboto" panose="02000000000000000000" pitchFamily="2" charset="0"/>
                <a:ea typeface="Roboto" panose="02000000000000000000" pitchFamily="2" charset="0"/>
              </a:endParaRPr>
            </a:p>
          </p:txBody>
        </p:sp>
        <p:sp>
          <p:nvSpPr>
            <p:cNvPr id="9" name="Rectangle 7">
              <a:extLst>
                <a:ext uri="{FF2B5EF4-FFF2-40B4-BE49-F238E27FC236}">
                  <a16:creationId xmlns:a16="http://schemas.microsoft.com/office/drawing/2014/main" id="{6C890E11-199B-64FE-9AEE-6C51B132703E}"/>
                </a:ext>
              </a:extLst>
            </p:cNvPr>
            <p:cNvSpPr>
              <a:spLocks noChangeArrowheads="1"/>
            </p:cNvSpPr>
            <p:nvPr/>
          </p:nvSpPr>
          <p:spPr bwMode="auto">
            <a:xfrm>
              <a:off x="512763" y="4768850"/>
              <a:ext cx="1520825" cy="1079500"/>
            </a:xfrm>
            <a:prstGeom prst="rect">
              <a:avLst/>
            </a:prstGeom>
            <a:solidFill>
              <a:schemeClr val="bg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Leadership</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Awareness/ Commitment</a:t>
              </a:r>
            </a:p>
          </p:txBody>
        </p:sp>
        <p:sp>
          <p:nvSpPr>
            <p:cNvPr id="10" name="Rectangle 8">
              <a:extLst>
                <a:ext uri="{FF2B5EF4-FFF2-40B4-BE49-F238E27FC236}">
                  <a16:creationId xmlns:a16="http://schemas.microsoft.com/office/drawing/2014/main" id="{BA7D8F61-45EA-4064-6487-9C7CEFDF3B4B}"/>
                </a:ext>
              </a:extLst>
            </p:cNvPr>
            <p:cNvSpPr>
              <a:spLocks noChangeArrowheads="1"/>
            </p:cNvSpPr>
            <p:nvPr/>
          </p:nvSpPr>
          <p:spPr bwMode="auto">
            <a:xfrm>
              <a:off x="512763" y="4506913"/>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sp>
          <p:nvSpPr>
            <p:cNvPr id="11" name="Rectangle 9">
              <a:extLst>
                <a:ext uri="{FF2B5EF4-FFF2-40B4-BE49-F238E27FC236}">
                  <a16:creationId xmlns:a16="http://schemas.microsoft.com/office/drawing/2014/main" id="{3FB119E0-CBC7-50B4-233B-01F984937F20}"/>
                </a:ext>
              </a:extLst>
            </p:cNvPr>
            <p:cNvSpPr>
              <a:spLocks noChangeArrowheads="1"/>
            </p:cNvSpPr>
            <p:nvPr/>
          </p:nvSpPr>
          <p:spPr bwMode="auto">
            <a:xfrm>
              <a:off x="2308225" y="47640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3P Kick-Off</a:t>
              </a:r>
            </a:p>
          </p:txBody>
        </p:sp>
        <p:sp>
          <p:nvSpPr>
            <p:cNvPr id="12" name="Rectangle 10">
              <a:extLst>
                <a:ext uri="{FF2B5EF4-FFF2-40B4-BE49-F238E27FC236}">
                  <a16:creationId xmlns:a16="http://schemas.microsoft.com/office/drawing/2014/main" id="{135BCACF-942A-6A5B-7EEC-A2CE6F36829E}"/>
                </a:ext>
              </a:extLst>
            </p:cNvPr>
            <p:cNvSpPr>
              <a:spLocks noChangeArrowheads="1"/>
            </p:cNvSpPr>
            <p:nvPr/>
          </p:nvSpPr>
          <p:spPr bwMode="auto">
            <a:xfrm>
              <a:off x="2308225" y="4502150"/>
              <a:ext cx="1522413"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rPr>
                <a:t>PROCESS STEP 2</a:t>
              </a:r>
            </a:p>
          </p:txBody>
        </p:sp>
        <p:sp>
          <p:nvSpPr>
            <p:cNvPr id="13" name="Rectangle 11">
              <a:extLst>
                <a:ext uri="{FF2B5EF4-FFF2-40B4-BE49-F238E27FC236}">
                  <a16:creationId xmlns:a16="http://schemas.microsoft.com/office/drawing/2014/main" id="{A82BCA3A-A963-4D06-D3F6-E77B832E2505}"/>
                </a:ext>
              </a:extLst>
            </p:cNvPr>
            <p:cNvSpPr>
              <a:spLocks noChangeArrowheads="1"/>
            </p:cNvSpPr>
            <p:nvPr/>
          </p:nvSpPr>
          <p:spPr bwMode="auto">
            <a:xfrm>
              <a:off x="4122738" y="47640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Workshop</a:t>
              </a:r>
            </a:p>
          </p:txBody>
        </p:sp>
        <p:sp>
          <p:nvSpPr>
            <p:cNvPr id="14" name="Rectangle 12">
              <a:extLst>
                <a:ext uri="{FF2B5EF4-FFF2-40B4-BE49-F238E27FC236}">
                  <a16:creationId xmlns:a16="http://schemas.microsoft.com/office/drawing/2014/main" id="{ED48C121-8611-4764-0538-B0F03A2E1B28}"/>
                </a:ext>
              </a:extLst>
            </p:cNvPr>
            <p:cNvSpPr>
              <a:spLocks noChangeArrowheads="1"/>
            </p:cNvSpPr>
            <p:nvPr/>
          </p:nvSpPr>
          <p:spPr bwMode="auto">
            <a:xfrm>
              <a:off x="4122738" y="45021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sp>
          <p:nvSpPr>
            <p:cNvPr id="15" name="Rectangle 13">
              <a:extLst>
                <a:ext uri="{FF2B5EF4-FFF2-40B4-BE49-F238E27FC236}">
                  <a16:creationId xmlns:a16="http://schemas.microsoft.com/office/drawing/2014/main" id="{A22CDF2D-0FA2-F7C2-8C87-E538B0549F96}"/>
                </a:ext>
              </a:extLst>
            </p:cNvPr>
            <p:cNvSpPr>
              <a:spLocks noChangeArrowheads="1"/>
            </p:cNvSpPr>
            <p:nvPr/>
          </p:nvSpPr>
          <p:spPr bwMode="auto">
            <a:xfrm>
              <a:off x="5937250" y="47640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p>
          </p:txBody>
        </p:sp>
        <p:sp>
          <p:nvSpPr>
            <p:cNvPr id="16" name="Rectangle 14">
              <a:extLst>
                <a:ext uri="{FF2B5EF4-FFF2-40B4-BE49-F238E27FC236}">
                  <a16:creationId xmlns:a16="http://schemas.microsoft.com/office/drawing/2014/main" id="{CD9C2BF3-64A4-B23E-6D8D-5BC62D5A73C4}"/>
                </a:ext>
              </a:extLst>
            </p:cNvPr>
            <p:cNvSpPr>
              <a:spLocks noChangeArrowheads="1"/>
            </p:cNvSpPr>
            <p:nvPr/>
          </p:nvSpPr>
          <p:spPr bwMode="auto">
            <a:xfrm>
              <a:off x="5937250" y="4502150"/>
              <a:ext cx="1522413"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cxnSp>
          <p:nvCxnSpPr>
            <p:cNvPr id="17" name="AutoShape 15">
              <a:extLst>
                <a:ext uri="{FF2B5EF4-FFF2-40B4-BE49-F238E27FC236}">
                  <a16:creationId xmlns:a16="http://schemas.microsoft.com/office/drawing/2014/main" id="{04DB14A5-FDE1-FCC9-EE35-D3C69E1133F5}"/>
                </a:ext>
              </a:extLst>
            </p:cNvPr>
            <p:cNvCxnSpPr>
              <a:cxnSpLocks noChangeShapeType="1"/>
              <a:stCxn id="9" idx="3"/>
              <a:endCxn id="11" idx="1"/>
            </p:cNvCxnSpPr>
            <p:nvPr/>
          </p:nvCxnSpPr>
          <p:spPr bwMode="auto">
            <a:xfrm flipV="1">
              <a:off x="2033588" y="5303838"/>
              <a:ext cx="274637" cy="4762"/>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6">
              <a:extLst>
                <a:ext uri="{FF2B5EF4-FFF2-40B4-BE49-F238E27FC236}">
                  <a16:creationId xmlns:a16="http://schemas.microsoft.com/office/drawing/2014/main" id="{600E84AE-0EE5-4F24-EE1C-B84D32047C5F}"/>
                </a:ext>
              </a:extLst>
            </p:cNvPr>
            <p:cNvCxnSpPr>
              <a:cxnSpLocks noChangeShapeType="1"/>
              <a:stCxn id="11" idx="3"/>
              <a:endCxn id="13" idx="1"/>
            </p:cNvCxnSpPr>
            <p:nvPr/>
          </p:nvCxnSpPr>
          <p:spPr bwMode="auto">
            <a:xfrm>
              <a:off x="3829050" y="5303838"/>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7">
              <a:extLst>
                <a:ext uri="{FF2B5EF4-FFF2-40B4-BE49-F238E27FC236}">
                  <a16:creationId xmlns:a16="http://schemas.microsoft.com/office/drawing/2014/main" id="{6C5EB311-4960-E8C5-C74C-4ADDBA426485}"/>
                </a:ext>
              </a:extLst>
            </p:cNvPr>
            <p:cNvCxnSpPr>
              <a:cxnSpLocks noChangeShapeType="1"/>
              <a:stCxn id="13" idx="3"/>
              <a:endCxn id="15" idx="1"/>
            </p:cNvCxnSpPr>
            <p:nvPr/>
          </p:nvCxnSpPr>
          <p:spPr bwMode="auto">
            <a:xfrm>
              <a:off x="5643563" y="5303838"/>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18">
              <a:extLst>
                <a:ext uri="{FF2B5EF4-FFF2-40B4-BE49-F238E27FC236}">
                  <a16:creationId xmlns:a16="http://schemas.microsoft.com/office/drawing/2014/main" id="{05F235D3-6ED1-EB56-BB91-83E839116E49}"/>
                </a:ext>
              </a:extLst>
            </p:cNvPr>
            <p:cNvCxnSpPr>
              <a:cxnSpLocks noChangeShapeType="1"/>
              <a:stCxn id="15" idx="3"/>
              <a:endCxn id="8" idx="2"/>
            </p:cNvCxnSpPr>
            <p:nvPr/>
          </p:nvCxnSpPr>
          <p:spPr bwMode="auto">
            <a:xfrm>
              <a:off x="7458075" y="5303838"/>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19">
              <a:extLst>
                <a:ext uri="{FF2B5EF4-FFF2-40B4-BE49-F238E27FC236}">
                  <a16:creationId xmlns:a16="http://schemas.microsoft.com/office/drawing/2014/main" id="{94FF22F6-38A2-5AB0-152D-1A22D791CEA1}"/>
                </a:ext>
              </a:extLst>
            </p:cNvPr>
            <p:cNvCxnSpPr>
              <a:cxnSpLocks noChangeShapeType="1"/>
              <a:stCxn id="8" idx="0"/>
              <a:endCxn id="12" idx="0"/>
            </p:cNvCxnSpPr>
            <p:nvPr/>
          </p:nvCxnSpPr>
          <p:spPr bwMode="auto">
            <a:xfrm rot="16200000" flipV="1">
              <a:off x="5473700" y="2098675"/>
              <a:ext cx="274638" cy="5081588"/>
            </a:xfrm>
            <a:prstGeom prst="bentConnector3">
              <a:avLst>
                <a:gd name="adj1" fmla="val 24470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933259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Roadmap to Success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pSp>
        <p:nvGrpSpPr>
          <p:cNvPr id="45" name="Group 44">
            <a:extLst>
              <a:ext uri="{FF2B5EF4-FFF2-40B4-BE49-F238E27FC236}">
                <a16:creationId xmlns:a16="http://schemas.microsoft.com/office/drawing/2014/main" id="{EA2BAAC1-7CFD-B884-1E90-0B3A51699246}"/>
              </a:ext>
            </a:extLst>
          </p:cNvPr>
          <p:cNvGrpSpPr/>
          <p:nvPr/>
        </p:nvGrpSpPr>
        <p:grpSpPr>
          <a:xfrm>
            <a:off x="838200" y="2030413"/>
            <a:ext cx="10515600" cy="4146550"/>
            <a:chOff x="414338" y="1979613"/>
            <a:chExt cx="8324850" cy="4146550"/>
          </a:xfrm>
        </p:grpSpPr>
        <p:grpSp>
          <p:nvGrpSpPr>
            <p:cNvPr id="24" name="Group 2">
              <a:extLst>
                <a:ext uri="{FF2B5EF4-FFF2-40B4-BE49-F238E27FC236}">
                  <a16:creationId xmlns:a16="http://schemas.microsoft.com/office/drawing/2014/main" id="{572C1282-429A-2ACF-3B41-F2CE223D4F38}"/>
                </a:ext>
              </a:extLst>
            </p:cNvPr>
            <p:cNvGrpSpPr>
              <a:grpSpLocks/>
            </p:cNvGrpSpPr>
            <p:nvPr/>
          </p:nvGrpSpPr>
          <p:grpSpPr bwMode="auto">
            <a:xfrm>
              <a:off x="2205038" y="1979613"/>
              <a:ext cx="6534150" cy="2420937"/>
              <a:chOff x="1389" y="1410"/>
              <a:chExt cx="4116" cy="1795"/>
            </a:xfrm>
          </p:grpSpPr>
          <p:sp>
            <p:nvSpPr>
              <p:cNvPr id="25" name="Rectangle 3">
                <a:extLst>
                  <a:ext uri="{FF2B5EF4-FFF2-40B4-BE49-F238E27FC236}">
                    <a16:creationId xmlns:a16="http://schemas.microsoft.com/office/drawing/2014/main" id="{CE69EA31-1591-1D84-3D23-8C0CDBF72D62}"/>
                  </a:ext>
                </a:extLst>
              </p:cNvPr>
              <p:cNvSpPr>
                <a:spLocks noChangeArrowheads="1"/>
              </p:cNvSpPr>
              <p:nvPr/>
            </p:nvSpPr>
            <p:spPr bwMode="auto">
              <a:xfrm>
                <a:off x="1389" y="1410"/>
                <a:ext cx="4116" cy="1795"/>
              </a:xfrm>
              <a:prstGeom prst="rect">
                <a:avLst/>
              </a:prstGeom>
              <a:solidFill>
                <a:srgbClr val="EAEAEA"/>
              </a:solidFill>
              <a:ln w="12700" cap="sq">
                <a:solidFill>
                  <a:srgbClr val="0033CC"/>
                </a:solidFill>
                <a:miter lim="800000"/>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 name="Text Box 4">
                <a:extLst>
                  <a:ext uri="{FF2B5EF4-FFF2-40B4-BE49-F238E27FC236}">
                    <a16:creationId xmlns:a16="http://schemas.microsoft.com/office/drawing/2014/main" id="{CAA56E94-01DE-0CB8-7BC6-D868B7CEB315}"/>
                  </a:ext>
                </a:extLst>
              </p:cNvPr>
              <p:cNvSpPr txBox="1">
                <a:spLocks noChangeArrowheads="1"/>
              </p:cNvSpPr>
              <p:nvPr/>
            </p:nvSpPr>
            <p:spPr bwMode="auto">
              <a:xfrm>
                <a:off x="3401" y="1507"/>
                <a:ext cx="116" cy="249"/>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endParaRPr lang="en-US" altLang="en-US" sz="1600" i="1">
                  <a:solidFill>
                    <a:srgbClr val="000066"/>
                  </a:solidFill>
                  <a:latin typeface="Roboto" panose="02000000000000000000" pitchFamily="2" charset="0"/>
                  <a:ea typeface="Roboto" panose="02000000000000000000" pitchFamily="2" charset="0"/>
                </a:endParaRPr>
              </a:p>
            </p:txBody>
          </p:sp>
        </p:grpSp>
        <p:sp>
          <p:nvSpPr>
            <p:cNvPr id="27" name="Oval 6">
              <a:extLst>
                <a:ext uri="{FF2B5EF4-FFF2-40B4-BE49-F238E27FC236}">
                  <a16:creationId xmlns:a16="http://schemas.microsoft.com/office/drawing/2014/main" id="{73B37E89-FC96-42BB-5FFF-5A0C336709D2}"/>
                </a:ext>
              </a:extLst>
            </p:cNvPr>
            <p:cNvSpPr>
              <a:spLocks noChangeArrowheads="1"/>
            </p:cNvSpPr>
            <p:nvPr/>
          </p:nvSpPr>
          <p:spPr bwMode="auto">
            <a:xfrm>
              <a:off x="7662863" y="3070225"/>
              <a:ext cx="976312" cy="1052513"/>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a:solidFill>
                    <a:schemeClr val="bg1"/>
                  </a:solidFill>
                  <a:latin typeface="Roboto" panose="02000000000000000000" pitchFamily="2" charset="0"/>
                  <a:ea typeface="Roboto" panose="02000000000000000000" pitchFamily="2" charset="0"/>
                </a:rPr>
                <a:t>Apply</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learning</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to next 3P</a:t>
              </a:r>
              <a:endParaRPr lang="en-GB" altLang="en-US" sz="1200" b="0">
                <a:solidFill>
                  <a:schemeClr val="bg1"/>
                </a:solidFill>
                <a:latin typeface="Roboto" panose="02000000000000000000" pitchFamily="2" charset="0"/>
                <a:ea typeface="Roboto" panose="02000000000000000000" pitchFamily="2" charset="0"/>
              </a:endParaRPr>
            </a:p>
          </p:txBody>
        </p:sp>
        <p:sp>
          <p:nvSpPr>
            <p:cNvPr id="28" name="Rectangle 7">
              <a:extLst>
                <a:ext uri="{FF2B5EF4-FFF2-40B4-BE49-F238E27FC236}">
                  <a16:creationId xmlns:a16="http://schemas.microsoft.com/office/drawing/2014/main" id="{E8A430C7-5743-124A-BA07-B47027E2E813}"/>
                </a:ext>
              </a:extLst>
            </p:cNvPr>
            <p:cNvSpPr>
              <a:spLocks noChangeArrowheads="1"/>
            </p:cNvSpPr>
            <p:nvPr/>
          </p:nvSpPr>
          <p:spPr bwMode="auto">
            <a:xfrm>
              <a:off x="512763" y="3062288"/>
              <a:ext cx="1520825" cy="1079500"/>
            </a:xfrm>
            <a:prstGeom prst="rect">
              <a:avLst/>
            </a:prstGeom>
            <a:solidFill>
              <a:schemeClr val="bg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Leadership Awareness/ Commitment</a:t>
              </a:r>
            </a:p>
          </p:txBody>
        </p:sp>
        <p:sp>
          <p:nvSpPr>
            <p:cNvPr id="29" name="Rectangle 8">
              <a:extLst>
                <a:ext uri="{FF2B5EF4-FFF2-40B4-BE49-F238E27FC236}">
                  <a16:creationId xmlns:a16="http://schemas.microsoft.com/office/drawing/2014/main" id="{BF7ACE4C-E8A6-3AA2-F3A0-B6A66C83AC05}"/>
                </a:ext>
              </a:extLst>
            </p:cNvPr>
            <p:cNvSpPr>
              <a:spLocks noChangeArrowheads="1"/>
            </p:cNvSpPr>
            <p:nvPr/>
          </p:nvSpPr>
          <p:spPr bwMode="auto">
            <a:xfrm>
              <a:off x="512763" y="28003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sp>
          <p:nvSpPr>
            <p:cNvPr id="30" name="Rectangle 9">
              <a:extLst>
                <a:ext uri="{FF2B5EF4-FFF2-40B4-BE49-F238E27FC236}">
                  <a16:creationId xmlns:a16="http://schemas.microsoft.com/office/drawing/2014/main" id="{5296C40F-F821-7D75-A6F3-7740FA16E010}"/>
                </a:ext>
              </a:extLst>
            </p:cNvPr>
            <p:cNvSpPr>
              <a:spLocks noChangeArrowheads="1"/>
            </p:cNvSpPr>
            <p:nvPr/>
          </p:nvSpPr>
          <p:spPr bwMode="auto">
            <a:xfrm>
              <a:off x="2308225"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Kick-Off</a:t>
              </a:r>
            </a:p>
          </p:txBody>
        </p:sp>
        <p:sp>
          <p:nvSpPr>
            <p:cNvPr id="31" name="Rectangle 10">
              <a:extLst>
                <a:ext uri="{FF2B5EF4-FFF2-40B4-BE49-F238E27FC236}">
                  <a16:creationId xmlns:a16="http://schemas.microsoft.com/office/drawing/2014/main" id="{485A7E8D-5713-409A-EC81-5C53BA83AF3A}"/>
                </a:ext>
              </a:extLst>
            </p:cNvPr>
            <p:cNvSpPr>
              <a:spLocks noChangeArrowheads="1"/>
            </p:cNvSpPr>
            <p:nvPr/>
          </p:nvSpPr>
          <p:spPr bwMode="auto">
            <a:xfrm>
              <a:off x="2308225"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sp>
          <p:nvSpPr>
            <p:cNvPr id="32" name="Rectangle 11">
              <a:extLst>
                <a:ext uri="{FF2B5EF4-FFF2-40B4-BE49-F238E27FC236}">
                  <a16:creationId xmlns:a16="http://schemas.microsoft.com/office/drawing/2014/main" id="{87471C56-E34C-3B4A-E7A1-D19A29BB22AA}"/>
                </a:ext>
              </a:extLst>
            </p:cNvPr>
            <p:cNvSpPr>
              <a:spLocks noChangeArrowheads="1"/>
            </p:cNvSpPr>
            <p:nvPr/>
          </p:nvSpPr>
          <p:spPr bwMode="auto">
            <a:xfrm>
              <a:off x="4122738"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Workshop</a:t>
              </a:r>
            </a:p>
          </p:txBody>
        </p:sp>
        <p:sp>
          <p:nvSpPr>
            <p:cNvPr id="33" name="Rectangle 12">
              <a:extLst>
                <a:ext uri="{FF2B5EF4-FFF2-40B4-BE49-F238E27FC236}">
                  <a16:creationId xmlns:a16="http://schemas.microsoft.com/office/drawing/2014/main" id="{00FCBF00-8037-2047-6DD9-175A9D8B25E4}"/>
                </a:ext>
              </a:extLst>
            </p:cNvPr>
            <p:cNvSpPr>
              <a:spLocks noChangeArrowheads="1"/>
            </p:cNvSpPr>
            <p:nvPr/>
          </p:nvSpPr>
          <p:spPr bwMode="auto">
            <a:xfrm>
              <a:off x="4122738" y="2795588"/>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sp>
          <p:nvSpPr>
            <p:cNvPr id="34" name="Rectangle 13">
              <a:extLst>
                <a:ext uri="{FF2B5EF4-FFF2-40B4-BE49-F238E27FC236}">
                  <a16:creationId xmlns:a16="http://schemas.microsoft.com/office/drawing/2014/main" id="{197777CB-A9C5-96BA-55BC-B59090FEB105}"/>
                </a:ext>
              </a:extLst>
            </p:cNvPr>
            <p:cNvSpPr>
              <a:spLocks noChangeArrowheads="1"/>
            </p:cNvSpPr>
            <p:nvPr/>
          </p:nvSpPr>
          <p:spPr bwMode="auto">
            <a:xfrm>
              <a:off x="5937250"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p>
          </p:txBody>
        </p:sp>
        <p:sp>
          <p:nvSpPr>
            <p:cNvPr id="35" name="Rectangle 14">
              <a:extLst>
                <a:ext uri="{FF2B5EF4-FFF2-40B4-BE49-F238E27FC236}">
                  <a16:creationId xmlns:a16="http://schemas.microsoft.com/office/drawing/2014/main" id="{5E80FE96-E3F8-2980-BA2F-AEB5867130D5}"/>
                </a:ext>
              </a:extLst>
            </p:cNvPr>
            <p:cNvSpPr>
              <a:spLocks noChangeArrowheads="1"/>
            </p:cNvSpPr>
            <p:nvPr/>
          </p:nvSpPr>
          <p:spPr bwMode="auto">
            <a:xfrm>
              <a:off x="5937250"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cxnSp>
          <p:nvCxnSpPr>
            <p:cNvPr id="36" name="AutoShape 15">
              <a:extLst>
                <a:ext uri="{FF2B5EF4-FFF2-40B4-BE49-F238E27FC236}">
                  <a16:creationId xmlns:a16="http://schemas.microsoft.com/office/drawing/2014/main" id="{FDC608AC-1783-2EA0-9269-95CCA28F73A7}"/>
                </a:ext>
              </a:extLst>
            </p:cNvPr>
            <p:cNvCxnSpPr>
              <a:cxnSpLocks noChangeShapeType="1"/>
              <a:stCxn id="28" idx="3"/>
              <a:endCxn id="30" idx="1"/>
            </p:cNvCxnSpPr>
            <p:nvPr/>
          </p:nvCxnSpPr>
          <p:spPr bwMode="auto">
            <a:xfrm flipV="1">
              <a:off x="2033588" y="3597275"/>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16">
              <a:extLst>
                <a:ext uri="{FF2B5EF4-FFF2-40B4-BE49-F238E27FC236}">
                  <a16:creationId xmlns:a16="http://schemas.microsoft.com/office/drawing/2014/main" id="{6C155208-A0E2-3AC7-DACF-11715B4A6175}"/>
                </a:ext>
              </a:extLst>
            </p:cNvPr>
            <p:cNvCxnSpPr>
              <a:cxnSpLocks noChangeShapeType="1"/>
              <a:stCxn id="30" idx="3"/>
              <a:endCxn id="32" idx="1"/>
            </p:cNvCxnSpPr>
            <p:nvPr/>
          </p:nvCxnSpPr>
          <p:spPr bwMode="auto">
            <a:xfrm>
              <a:off x="3829050" y="3597275"/>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 name="AutoShape 17">
              <a:extLst>
                <a:ext uri="{FF2B5EF4-FFF2-40B4-BE49-F238E27FC236}">
                  <a16:creationId xmlns:a16="http://schemas.microsoft.com/office/drawing/2014/main" id="{AB0D0E97-A3DB-89E3-C469-2CE711AA34D3}"/>
                </a:ext>
              </a:extLst>
            </p:cNvPr>
            <p:cNvCxnSpPr>
              <a:cxnSpLocks noChangeShapeType="1"/>
              <a:stCxn id="32" idx="3"/>
              <a:endCxn id="34" idx="1"/>
            </p:cNvCxnSpPr>
            <p:nvPr/>
          </p:nvCxnSpPr>
          <p:spPr bwMode="auto">
            <a:xfrm>
              <a:off x="5643563" y="3597275"/>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 name="AutoShape 18">
              <a:extLst>
                <a:ext uri="{FF2B5EF4-FFF2-40B4-BE49-F238E27FC236}">
                  <a16:creationId xmlns:a16="http://schemas.microsoft.com/office/drawing/2014/main" id="{A24424DA-8458-9B74-C4D0-1D01FE5CB3DB}"/>
                </a:ext>
              </a:extLst>
            </p:cNvPr>
            <p:cNvCxnSpPr>
              <a:cxnSpLocks noChangeShapeType="1"/>
              <a:stCxn id="34" idx="3"/>
              <a:endCxn id="27" idx="2"/>
            </p:cNvCxnSpPr>
            <p:nvPr/>
          </p:nvCxnSpPr>
          <p:spPr bwMode="auto">
            <a:xfrm>
              <a:off x="7458075" y="3597275"/>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19">
              <a:extLst>
                <a:ext uri="{FF2B5EF4-FFF2-40B4-BE49-F238E27FC236}">
                  <a16:creationId xmlns:a16="http://schemas.microsoft.com/office/drawing/2014/main" id="{5AE8D2C7-8F80-70F1-D0B0-65874CB9AD97}"/>
                </a:ext>
              </a:extLst>
            </p:cNvPr>
            <p:cNvCxnSpPr>
              <a:cxnSpLocks noChangeShapeType="1"/>
              <a:stCxn id="27" idx="0"/>
              <a:endCxn id="31" idx="0"/>
            </p:cNvCxnSpPr>
            <p:nvPr/>
          </p:nvCxnSpPr>
          <p:spPr bwMode="auto">
            <a:xfrm rot="5400000" flipH="1">
              <a:off x="5473700" y="392113"/>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1" name="Rectangle 20">
              <a:extLst>
                <a:ext uri="{FF2B5EF4-FFF2-40B4-BE49-F238E27FC236}">
                  <a16:creationId xmlns:a16="http://schemas.microsoft.com/office/drawing/2014/main" id="{D14DB4B9-A30F-A323-9B1B-AB286A064573}"/>
                </a:ext>
              </a:extLst>
            </p:cNvPr>
            <p:cNvSpPr>
              <a:spLocks noChangeArrowheads="1"/>
            </p:cNvSpPr>
            <p:nvPr/>
          </p:nvSpPr>
          <p:spPr bwMode="auto">
            <a:xfrm>
              <a:off x="414338" y="4378325"/>
              <a:ext cx="1674812"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Attend 3P Executive Overview</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Readiness Assessment</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Prerequisites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Commitment to 3P process</a:t>
              </a:r>
            </a:p>
          </p:txBody>
        </p:sp>
        <p:sp>
          <p:nvSpPr>
            <p:cNvPr id="42" name="Rectangle 21">
              <a:extLst>
                <a:ext uri="{FF2B5EF4-FFF2-40B4-BE49-F238E27FC236}">
                  <a16:creationId xmlns:a16="http://schemas.microsoft.com/office/drawing/2014/main" id="{35920AF7-515A-6331-8341-54E861EEB588}"/>
                </a:ext>
              </a:extLst>
            </p:cNvPr>
            <p:cNvSpPr>
              <a:spLocks noChangeArrowheads="1"/>
            </p:cNvSpPr>
            <p:nvPr/>
          </p:nvSpPr>
          <p:spPr bwMode="auto">
            <a:xfrm>
              <a:off x="2243138" y="4378325"/>
              <a:ext cx="1839912"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3P Overview Training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Define the requirements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Create 3P Lab</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Prepare Event Charter &amp; Plan</a:t>
              </a:r>
            </a:p>
          </p:txBody>
        </p:sp>
        <p:sp>
          <p:nvSpPr>
            <p:cNvPr id="43" name="Rectangle 22">
              <a:extLst>
                <a:ext uri="{FF2B5EF4-FFF2-40B4-BE49-F238E27FC236}">
                  <a16:creationId xmlns:a16="http://schemas.microsoft.com/office/drawing/2014/main" id="{D7EBCDA2-9130-8A67-5D6F-C5F619EC7A26}"/>
                </a:ext>
              </a:extLst>
            </p:cNvPr>
            <p:cNvSpPr>
              <a:spLocks noChangeArrowheads="1"/>
            </p:cNvSpPr>
            <p:nvPr/>
          </p:nvSpPr>
          <p:spPr bwMode="auto">
            <a:xfrm>
              <a:off x="4008438" y="4378325"/>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Detailed 3P Training and Exercises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Application of 3P Methodology to Design/Process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Creation of Implementation Plan</a:t>
              </a:r>
            </a:p>
          </p:txBody>
        </p:sp>
        <p:sp>
          <p:nvSpPr>
            <p:cNvPr id="44" name="Rectangle 23">
              <a:extLst>
                <a:ext uri="{FF2B5EF4-FFF2-40B4-BE49-F238E27FC236}">
                  <a16:creationId xmlns:a16="http://schemas.microsoft.com/office/drawing/2014/main" id="{154DFC50-26E7-D718-E79F-1B138B9F8132}"/>
                </a:ext>
              </a:extLst>
            </p:cNvPr>
            <p:cNvSpPr>
              <a:spLocks noChangeArrowheads="1"/>
            </p:cNvSpPr>
            <p:nvPr/>
          </p:nvSpPr>
          <p:spPr bwMode="auto">
            <a:xfrm>
              <a:off x="5849938" y="4378325"/>
              <a:ext cx="18272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Plan equipment, fixtures, tooling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Develop support systems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Install and qualify</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Create Standard Work</a:t>
              </a:r>
            </a:p>
          </p:txBody>
        </p:sp>
      </p:grpSp>
    </p:spTree>
    <p:extLst>
      <p:ext uri="{BB962C8B-B14F-4D97-AF65-F5344CB8AC3E}">
        <p14:creationId xmlns:p14="http://schemas.microsoft.com/office/powerpoint/2010/main" val="1960599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Roadmap to Success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51" name="Group 50">
            <a:extLst>
              <a:ext uri="{FF2B5EF4-FFF2-40B4-BE49-F238E27FC236}">
                <a16:creationId xmlns:a16="http://schemas.microsoft.com/office/drawing/2014/main" id="{9CAFB8B6-8A21-FB64-65A3-629CAA7BA8A3}"/>
              </a:ext>
            </a:extLst>
          </p:cNvPr>
          <p:cNvGrpSpPr/>
          <p:nvPr/>
        </p:nvGrpSpPr>
        <p:grpSpPr>
          <a:xfrm>
            <a:off x="944721" y="2036763"/>
            <a:ext cx="10251649" cy="4140200"/>
            <a:chOff x="487363" y="1979613"/>
            <a:chExt cx="8252121" cy="4140200"/>
          </a:xfrm>
        </p:grpSpPr>
        <p:grpSp>
          <p:nvGrpSpPr>
            <p:cNvPr id="3" name="Group 2">
              <a:extLst>
                <a:ext uri="{FF2B5EF4-FFF2-40B4-BE49-F238E27FC236}">
                  <a16:creationId xmlns:a16="http://schemas.microsoft.com/office/drawing/2014/main" id="{5E9BC8E0-D9B5-A206-318A-548C09D8E31F}"/>
                </a:ext>
              </a:extLst>
            </p:cNvPr>
            <p:cNvGrpSpPr>
              <a:grpSpLocks/>
            </p:cNvGrpSpPr>
            <p:nvPr/>
          </p:nvGrpSpPr>
          <p:grpSpPr bwMode="auto">
            <a:xfrm>
              <a:off x="2205038" y="1979613"/>
              <a:ext cx="6534150" cy="2420937"/>
              <a:chOff x="1389" y="1410"/>
              <a:chExt cx="4116" cy="1795"/>
            </a:xfrm>
          </p:grpSpPr>
          <p:sp>
            <p:nvSpPr>
              <p:cNvPr id="4" name="Rectangle 3">
                <a:extLst>
                  <a:ext uri="{FF2B5EF4-FFF2-40B4-BE49-F238E27FC236}">
                    <a16:creationId xmlns:a16="http://schemas.microsoft.com/office/drawing/2014/main" id="{86DFF3B9-C502-2FD9-C6CB-BD2AD5CD4A8F}"/>
                  </a:ext>
                </a:extLst>
              </p:cNvPr>
              <p:cNvSpPr>
                <a:spLocks noChangeArrowheads="1"/>
              </p:cNvSpPr>
              <p:nvPr/>
            </p:nvSpPr>
            <p:spPr bwMode="auto">
              <a:xfrm>
                <a:off x="1389" y="1410"/>
                <a:ext cx="4116" cy="1795"/>
              </a:xfrm>
              <a:prstGeom prst="rect">
                <a:avLst/>
              </a:prstGeom>
              <a:solidFill>
                <a:srgbClr val="EAEAEA"/>
              </a:solidFill>
              <a:ln w="12700" cap="sq">
                <a:solidFill>
                  <a:srgbClr val="0033CC"/>
                </a:solidFill>
                <a:miter lim="800000"/>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 name="Text Box 4">
                <a:extLst>
                  <a:ext uri="{FF2B5EF4-FFF2-40B4-BE49-F238E27FC236}">
                    <a16:creationId xmlns:a16="http://schemas.microsoft.com/office/drawing/2014/main" id="{A78BC531-171D-A1B2-0434-8B6DDC7D857A}"/>
                  </a:ext>
                </a:extLst>
              </p:cNvPr>
              <p:cNvSpPr txBox="1">
                <a:spLocks noChangeArrowheads="1"/>
              </p:cNvSpPr>
              <p:nvPr/>
            </p:nvSpPr>
            <p:spPr bwMode="auto">
              <a:xfrm>
                <a:off x="3412" y="1507"/>
                <a:ext cx="94" cy="251"/>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endParaRPr lang="en-US" altLang="en-US" sz="1600" i="1">
                  <a:solidFill>
                    <a:srgbClr val="000066"/>
                  </a:solidFill>
                  <a:latin typeface="Roboto" panose="02000000000000000000" pitchFamily="2" charset="0"/>
                  <a:ea typeface="Roboto" panose="02000000000000000000" pitchFamily="2" charset="0"/>
                </a:endParaRPr>
              </a:p>
            </p:txBody>
          </p:sp>
        </p:grpSp>
        <p:sp>
          <p:nvSpPr>
            <p:cNvPr id="7" name="Oval 6">
              <a:extLst>
                <a:ext uri="{FF2B5EF4-FFF2-40B4-BE49-F238E27FC236}">
                  <a16:creationId xmlns:a16="http://schemas.microsoft.com/office/drawing/2014/main" id="{EA7B697B-7C0C-AC63-555A-6DDCDFCBA832}"/>
                </a:ext>
              </a:extLst>
            </p:cNvPr>
            <p:cNvSpPr>
              <a:spLocks noChangeArrowheads="1"/>
            </p:cNvSpPr>
            <p:nvPr/>
          </p:nvSpPr>
          <p:spPr bwMode="auto">
            <a:xfrm>
              <a:off x="7662863" y="3070225"/>
              <a:ext cx="976312" cy="1052513"/>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a:solidFill>
                    <a:schemeClr val="bg1"/>
                  </a:solidFill>
                  <a:latin typeface="Roboto" panose="02000000000000000000" pitchFamily="2" charset="0"/>
                  <a:ea typeface="Roboto" panose="02000000000000000000" pitchFamily="2" charset="0"/>
                </a:rPr>
                <a:t>Apply</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learning</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to next 3P</a:t>
              </a:r>
              <a:endParaRPr lang="en-GB" altLang="en-US" sz="1200" b="0">
                <a:solidFill>
                  <a:schemeClr val="bg1"/>
                </a:solidFill>
                <a:latin typeface="Roboto" panose="02000000000000000000" pitchFamily="2" charset="0"/>
                <a:ea typeface="Roboto" panose="02000000000000000000" pitchFamily="2" charset="0"/>
              </a:endParaRPr>
            </a:p>
          </p:txBody>
        </p:sp>
        <p:sp>
          <p:nvSpPr>
            <p:cNvPr id="8" name="Rectangle 7">
              <a:extLst>
                <a:ext uri="{FF2B5EF4-FFF2-40B4-BE49-F238E27FC236}">
                  <a16:creationId xmlns:a16="http://schemas.microsoft.com/office/drawing/2014/main" id="{FB559AD5-CDF3-07AF-FB84-F39066578DA3}"/>
                </a:ext>
              </a:extLst>
            </p:cNvPr>
            <p:cNvSpPr>
              <a:spLocks noChangeArrowheads="1"/>
            </p:cNvSpPr>
            <p:nvPr/>
          </p:nvSpPr>
          <p:spPr bwMode="auto">
            <a:xfrm>
              <a:off x="512763" y="3062288"/>
              <a:ext cx="1520825" cy="1079500"/>
            </a:xfrm>
            <a:prstGeom prst="rect">
              <a:avLst/>
            </a:prstGeom>
            <a:solidFill>
              <a:schemeClr val="bg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Leadership Awareness/ Commitment</a:t>
              </a:r>
            </a:p>
          </p:txBody>
        </p:sp>
        <p:sp>
          <p:nvSpPr>
            <p:cNvPr id="9" name="Rectangle 8">
              <a:extLst>
                <a:ext uri="{FF2B5EF4-FFF2-40B4-BE49-F238E27FC236}">
                  <a16:creationId xmlns:a16="http://schemas.microsoft.com/office/drawing/2014/main" id="{DC5DA3D0-119E-5478-7334-C5C73582A0D0}"/>
                </a:ext>
              </a:extLst>
            </p:cNvPr>
            <p:cNvSpPr>
              <a:spLocks noChangeArrowheads="1"/>
            </p:cNvSpPr>
            <p:nvPr/>
          </p:nvSpPr>
          <p:spPr bwMode="auto">
            <a:xfrm>
              <a:off x="512763" y="28003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sp>
          <p:nvSpPr>
            <p:cNvPr id="10" name="Rectangle 9">
              <a:extLst>
                <a:ext uri="{FF2B5EF4-FFF2-40B4-BE49-F238E27FC236}">
                  <a16:creationId xmlns:a16="http://schemas.microsoft.com/office/drawing/2014/main" id="{88B0B78E-3608-F840-94F3-88BDEAC0E053}"/>
                </a:ext>
              </a:extLst>
            </p:cNvPr>
            <p:cNvSpPr>
              <a:spLocks noChangeArrowheads="1"/>
            </p:cNvSpPr>
            <p:nvPr/>
          </p:nvSpPr>
          <p:spPr bwMode="auto">
            <a:xfrm>
              <a:off x="2308225"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Kick-Off</a:t>
              </a:r>
            </a:p>
          </p:txBody>
        </p:sp>
        <p:sp>
          <p:nvSpPr>
            <p:cNvPr id="11" name="Rectangle 10">
              <a:extLst>
                <a:ext uri="{FF2B5EF4-FFF2-40B4-BE49-F238E27FC236}">
                  <a16:creationId xmlns:a16="http://schemas.microsoft.com/office/drawing/2014/main" id="{C3245BBE-A0FF-D7F6-BFC8-BA5C19517E01}"/>
                </a:ext>
              </a:extLst>
            </p:cNvPr>
            <p:cNvSpPr>
              <a:spLocks noChangeArrowheads="1"/>
            </p:cNvSpPr>
            <p:nvPr/>
          </p:nvSpPr>
          <p:spPr bwMode="auto">
            <a:xfrm>
              <a:off x="2308225"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sp>
          <p:nvSpPr>
            <p:cNvPr id="12" name="Rectangle 11">
              <a:extLst>
                <a:ext uri="{FF2B5EF4-FFF2-40B4-BE49-F238E27FC236}">
                  <a16:creationId xmlns:a16="http://schemas.microsoft.com/office/drawing/2014/main" id="{774D0735-5F17-0260-1AF8-14807F4693D5}"/>
                </a:ext>
              </a:extLst>
            </p:cNvPr>
            <p:cNvSpPr>
              <a:spLocks noChangeArrowheads="1"/>
            </p:cNvSpPr>
            <p:nvPr/>
          </p:nvSpPr>
          <p:spPr bwMode="auto">
            <a:xfrm>
              <a:off x="4122738"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Workshop</a:t>
              </a:r>
            </a:p>
          </p:txBody>
        </p:sp>
        <p:sp>
          <p:nvSpPr>
            <p:cNvPr id="13" name="Rectangle 12">
              <a:extLst>
                <a:ext uri="{FF2B5EF4-FFF2-40B4-BE49-F238E27FC236}">
                  <a16:creationId xmlns:a16="http://schemas.microsoft.com/office/drawing/2014/main" id="{19E14C2A-8525-B121-B562-11C284913A8D}"/>
                </a:ext>
              </a:extLst>
            </p:cNvPr>
            <p:cNvSpPr>
              <a:spLocks noChangeArrowheads="1"/>
            </p:cNvSpPr>
            <p:nvPr/>
          </p:nvSpPr>
          <p:spPr bwMode="auto">
            <a:xfrm>
              <a:off x="4122738" y="2795588"/>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sp>
          <p:nvSpPr>
            <p:cNvPr id="14" name="Rectangle 13">
              <a:extLst>
                <a:ext uri="{FF2B5EF4-FFF2-40B4-BE49-F238E27FC236}">
                  <a16:creationId xmlns:a16="http://schemas.microsoft.com/office/drawing/2014/main" id="{F5672196-7800-39D0-0B38-8DC14474D423}"/>
                </a:ext>
              </a:extLst>
            </p:cNvPr>
            <p:cNvSpPr>
              <a:spLocks noChangeArrowheads="1"/>
            </p:cNvSpPr>
            <p:nvPr/>
          </p:nvSpPr>
          <p:spPr bwMode="auto">
            <a:xfrm>
              <a:off x="5937250"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p>
          </p:txBody>
        </p:sp>
        <p:sp>
          <p:nvSpPr>
            <p:cNvPr id="15" name="Rectangle 14">
              <a:extLst>
                <a:ext uri="{FF2B5EF4-FFF2-40B4-BE49-F238E27FC236}">
                  <a16:creationId xmlns:a16="http://schemas.microsoft.com/office/drawing/2014/main" id="{0BFCD0A7-BCB3-3769-4ECC-2F043F58C6A9}"/>
                </a:ext>
              </a:extLst>
            </p:cNvPr>
            <p:cNvSpPr>
              <a:spLocks noChangeArrowheads="1"/>
            </p:cNvSpPr>
            <p:nvPr/>
          </p:nvSpPr>
          <p:spPr bwMode="auto">
            <a:xfrm>
              <a:off x="5937250"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cxnSp>
          <p:nvCxnSpPr>
            <p:cNvPr id="16" name="AutoShape 15">
              <a:extLst>
                <a:ext uri="{FF2B5EF4-FFF2-40B4-BE49-F238E27FC236}">
                  <a16:creationId xmlns:a16="http://schemas.microsoft.com/office/drawing/2014/main" id="{69B50EEA-6521-8AB8-094E-BD4C96983E61}"/>
                </a:ext>
              </a:extLst>
            </p:cNvPr>
            <p:cNvCxnSpPr>
              <a:cxnSpLocks noChangeShapeType="1"/>
              <a:stCxn id="8" idx="3"/>
              <a:endCxn id="10" idx="1"/>
            </p:cNvCxnSpPr>
            <p:nvPr/>
          </p:nvCxnSpPr>
          <p:spPr bwMode="auto">
            <a:xfrm flipV="1">
              <a:off x="2033588" y="3597275"/>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6">
              <a:extLst>
                <a:ext uri="{FF2B5EF4-FFF2-40B4-BE49-F238E27FC236}">
                  <a16:creationId xmlns:a16="http://schemas.microsoft.com/office/drawing/2014/main" id="{9EBAA7B7-AD32-949D-96AC-26820F8D03C7}"/>
                </a:ext>
              </a:extLst>
            </p:cNvPr>
            <p:cNvCxnSpPr>
              <a:cxnSpLocks noChangeShapeType="1"/>
              <a:stCxn id="10" idx="3"/>
              <a:endCxn id="12" idx="1"/>
            </p:cNvCxnSpPr>
            <p:nvPr/>
          </p:nvCxnSpPr>
          <p:spPr bwMode="auto">
            <a:xfrm>
              <a:off x="3829050" y="3597275"/>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7">
              <a:extLst>
                <a:ext uri="{FF2B5EF4-FFF2-40B4-BE49-F238E27FC236}">
                  <a16:creationId xmlns:a16="http://schemas.microsoft.com/office/drawing/2014/main" id="{A9C173DD-5A38-1220-E0BB-DD7B00D7F356}"/>
                </a:ext>
              </a:extLst>
            </p:cNvPr>
            <p:cNvCxnSpPr>
              <a:cxnSpLocks noChangeShapeType="1"/>
              <a:stCxn id="12" idx="3"/>
              <a:endCxn id="14" idx="1"/>
            </p:cNvCxnSpPr>
            <p:nvPr/>
          </p:nvCxnSpPr>
          <p:spPr bwMode="auto">
            <a:xfrm>
              <a:off x="5643563" y="3597275"/>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8">
              <a:extLst>
                <a:ext uri="{FF2B5EF4-FFF2-40B4-BE49-F238E27FC236}">
                  <a16:creationId xmlns:a16="http://schemas.microsoft.com/office/drawing/2014/main" id="{4544293A-DF20-2708-B6DA-BF58EAD3F382}"/>
                </a:ext>
              </a:extLst>
            </p:cNvPr>
            <p:cNvCxnSpPr>
              <a:cxnSpLocks noChangeShapeType="1"/>
              <a:stCxn id="14" idx="3"/>
              <a:endCxn id="7" idx="2"/>
            </p:cNvCxnSpPr>
            <p:nvPr/>
          </p:nvCxnSpPr>
          <p:spPr bwMode="auto">
            <a:xfrm>
              <a:off x="7458075" y="3597275"/>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19">
              <a:extLst>
                <a:ext uri="{FF2B5EF4-FFF2-40B4-BE49-F238E27FC236}">
                  <a16:creationId xmlns:a16="http://schemas.microsoft.com/office/drawing/2014/main" id="{CFBCA112-6C83-36B5-C6B6-32ED72BC914A}"/>
                </a:ext>
              </a:extLst>
            </p:cNvPr>
            <p:cNvCxnSpPr>
              <a:cxnSpLocks noChangeShapeType="1"/>
              <a:stCxn id="7" idx="0"/>
              <a:endCxn id="11" idx="0"/>
            </p:cNvCxnSpPr>
            <p:nvPr/>
          </p:nvCxnSpPr>
          <p:spPr bwMode="auto">
            <a:xfrm rot="5400000" flipH="1">
              <a:off x="5473700" y="392113"/>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1" name="Group 21">
              <a:extLst>
                <a:ext uri="{FF2B5EF4-FFF2-40B4-BE49-F238E27FC236}">
                  <a16:creationId xmlns:a16="http://schemas.microsoft.com/office/drawing/2014/main" id="{8B63D538-4600-F873-225C-21FF2F28DBC9}"/>
                </a:ext>
              </a:extLst>
            </p:cNvPr>
            <p:cNvGrpSpPr>
              <a:grpSpLocks/>
            </p:cNvGrpSpPr>
            <p:nvPr/>
          </p:nvGrpSpPr>
          <p:grpSpPr bwMode="auto">
            <a:xfrm>
              <a:off x="488950" y="4713288"/>
              <a:ext cx="8250534" cy="1406525"/>
              <a:chOff x="1350" y="2060"/>
              <a:chExt cx="3020" cy="208"/>
            </a:xfrm>
          </p:grpSpPr>
          <p:sp>
            <p:nvSpPr>
              <p:cNvPr id="22" name="AutoShape 22">
                <a:extLst>
                  <a:ext uri="{FF2B5EF4-FFF2-40B4-BE49-F238E27FC236}">
                    <a16:creationId xmlns:a16="http://schemas.microsoft.com/office/drawing/2014/main" id="{20D9D491-AB70-F2C5-4532-5125B4C86038}"/>
                  </a:ext>
                </a:extLst>
              </p:cNvPr>
              <p:cNvSpPr>
                <a:spLocks noChangeArrowheads="1"/>
              </p:cNvSpPr>
              <p:nvPr/>
            </p:nvSpPr>
            <p:spPr bwMode="auto">
              <a:xfrm>
                <a:off x="3722" y="2060"/>
                <a:ext cx="648"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Develop Plan</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to</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Implement</a:t>
                </a:r>
              </a:p>
            </p:txBody>
          </p:sp>
          <p:sp>
            <p:nvSpPr>
              <p:cNvPr id="23" name="AutoShape 23">
                <a:extLst>
                  <a:ext uri="{FF2B5EF4-FFF2-40B4-BE49-F238E27FC236}">
                    <a16:creationId xmlns:a16="http://schemas.microsoft.com/office/drawing/2014/main" id="{8E6DF853-B69D-8472-9437-95C5AEA4EAF6}"/>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Build,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Present,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Select </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Process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Prototypes </a:t>
                </a:r>
              </a:p>
            </p:txBody>
          </p:sp>
          <p:sp>
            <p:nvSpPr>
              <p:cNvPr id="46" name="AutoShape 24">
                <a:extLst>
                  <a:ext uri="{FF2B5EF4-FFF2-40B4-BE49-F238E27FC236}">
                    <a16:creationId xmlns:a16="http://schemas.microsoft.com/office/drawing/2014/main" id="{9BABD6A1-BAB9-087E-6678-68970392A37B}"/>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lIns="180000" rIns="72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Sketch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Evaluate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Alternative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Process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Steps</a:t>
                </a:r>
              </a:p>
            </p:txBody>
          </p:sp>
          <p:sp>
            <p:nvSpPr>
              <p:cNvPr id="47" name="AutoShape 25">
                <a:extLst>
                  <a:ext uri="{FF2B5EF4-FFF2-40B4-BE49-F238E27FC236}">
                    <a16:creationId xmlns:a16="http://schemas.microsoft.com/office/drawing/2014/main" id="{84CAB5A2-26D7-70E2-785A-2168102EE9B4}"/>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Study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Analyze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Examples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from</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Nature, etc.</a:t>
                </a:r>
              </a:p>
            </p:txBody>
          </p:sp>
          <p:sp>
            <p:nvSpPr>
              <p:cNvPr id="48" name="AutoShape 26">
                <a:extLst>
                  <a:ext uri="{FF2B5EF4-FFF2-40B4-BE49-F238E27FC236}">
                    <a16:creationId xmlns:a16="http://schemas.microsoft.com/office/drawing/2014/main" id="{8A5D12B3-4FE5-0D91-2F05-59BB584B32B0}"/>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Define </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Objectives/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Needs</a:t>
                </a:r>
              </a:p>
            </p:txBody>
          </p:sp>
        </p:grpSp>
        <p:sp>
          <p:nvSpPr>
            <p:cNvPr id="49" name="Line 27">
              <a:extLst>
                <a:ext uri="{FF2B5EF4-FFF2-40B4-BE49-F238E27FC236}">
                  <a16:creationId xmlns:a16="http://schemas.microsoft.com/office/drawing/2014/main" id="{AA3F1F7E-8EC7-4C44-73AF-01B5351BE5A8}"/>
                </a:ext>
              </a:extLst>
            </p:cNvPr>
            <p:cNvSpPr>
              <a:spLocks noChangeShapeType="1"/>
            </p:cNvSpPr>
            <p:nvPr/>
          </p:nvSpPr>
          <p:spPr bwMode="auto">
            <a:xfrm flipH="1">
              <a:off x="487363" y="4122739"/>
              <a:ext cx="3635375" cy="611186"/>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0" name="Line 28">
              <a:extLst>
                <a:ext uri="{FF2B5EF4-FFF2-40B4-BE49-F238E27FC236}">
                  <a16:creationId xmlns:a16="http://schemas.microsoft.com/office/drawing/2014/main" id="{D61825AE-AC4D-7980-8E47-D0E4FCF144BC}"/>
                </a:ext>
              </a:extLst>
            </p:cNvPr>
            <p:cNvSpPr>
              <a:spLocks noChangeShapeType="1"/>
            </p:cNvSpPr>
            <p:nvPr/>
          </p:nvSpPr>
          <p:spPr bwMode="auto">
            <a:xfrm>
              <a:off x="5643563" y="4146549"/>
              <a:ext cx="2717800" cy="557213"/>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277351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Workshop Structure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grpSp>
        <p:nvGrpSpPr>
          <p:cNvPr id="35" name="Group 34">
            <a:extLst>
              <a:ext uri="{FF2B5EF4-FFF2-40B4-BE49-F238E27FC236}">
                <a16:creationId xmlns:a16="http://schemas.microsoft.com/office/drawing/2014/main" id="{BC073B29-9B36-CC70-F3A8-B392E50571BE}"/>
              </a:ext>
            </a:extLst>
          </p:cNvPr>
          <p:cNvGrpSpPr/>
          <p:nvPr/>
        </p:nvGrpSpPr>
        <p:grpSpPr>
          <a:xfrm>
            <a:off x="414338" y="1928813"/>
            <a:ext cx="10352722" cy="4404335"/>
            <a:chOff x="414338" y="1928813"/>
            <a:chExt cx="8366125" cy="3608387"/>
          </a:xfrm>
        </p:grpSpPr>
        <p:grpSp>
          <p:nvGrpSpPr>
            <p:cNvPr id="24" name="Group 21">
              <a:extLst>
                <a:ext uri="{FF2B5EF4-FFF2-40B4-BE49-F238E27FC236}">
                  <a16:creationId xmlns:a16="http://schemas.microsoft.com/office/drawing/2014/main" id="{DC89DAD6-5D7F-B0AE-60D4-03F54C90239E}"/>
                </a:ext>
              </a:extLst>
            </p:cNvPr>
            <p:cNvGrpSpPr>
              <a:grpSpLocks/>
            </p:cNvGrpSpPr>
            <p:nvPr/>
          </p:nvGrpSpPr>
          <p:grpSpPr bwMode="auto">
            <a:xfrm>
              <a:off x="488950" y="1928813"/>
              <a:ext cx="8291513" cy="1406525"/>
              <a:chOff x="1350" y="2060"/>
              <a:chExt cx="3035" cy="208"/>
            </a:xfrm>
          </p:grpSpPr>
          <p:sp>
            <p:nvSpPr>
              <p:cNvPr id="25" name="AutoShape 22">
                <a:extLst>
                  <a:ext uri="{FF2B5EF4-FFF2-40B4-BE49-F238E27FC236}">
                    <a16:creationId xmlns:a16="http://schemas.microsoft.com/office/drawing/2014/main" id="{098FF811-3A84-A34F-261A-CA026C28B0FF}"/>
                  </a:ext>
                </a:extLst>
              </p:cNvPr>
              <p:cNvSpPr>
                <a:spLocks noChangeArrowheads="1"/>
              </p:cNvSpPr>
              <p:nvPr/>
            </p:nvSpPr>
            <p:spPr bwMode="auto">
              <a:xfrm>
                <a:off x="3722"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Develop Plan</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to</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Implement</a:t>
                </a:r>
              </a:p>
            </p:txBody>
          </p:sp>
          <p:sp>
            <p:nvSpPr>
              <p:cNvPr id="26" name="AutoShape 23">
                <a:extLst>
                  <a:ext uri="{FF2B5EF4-FFF2-40B4-BE49-F238E27FC236}">
                    <a16:creationId xmlns:a16="http://schemas.microsoft.com/office/drawing/2014/main" id="{4E639C13-6488-4B90-F930-84149C6F9102}"/>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Build,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Present,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Select </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Process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Prototypes </a:t>
                </a:r>
              </a:p>
            </p:txBody>
          </p:sp>
          <p:sp>
            <p:nvSpPr>
              <p:cNvPr id="27" name="AutoShape 24">
                <a:extLst>
                  <a:ext uri="{FF2B5EF4-FFF2-40B4-BE49-F238E27FC236}">
                    <a16:creationId xmlns:a16="http://schemas.microsoft.com/office/drawing/2014/main" id="{58534DE0-0054-68F0-6342-DD3DBCB75601}"/>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lIns="180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Sketch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Evaluate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Alternative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Process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Steps</a:t>
                </a:r>
              </a:p>
            </p:txBody>
          </p:sp>
          <p:sp>
            <p:nvSpPr>
              <p:cNvPr id="28" name="AutoShape 25">
                <a:extLst>
                  <a:ext uri="{FF2B5EF4-FFF2-40B4-BE49-F238E27FC236}">
                    <a16:creationId xmlns:a16="http://schemas.microsoft.com/office/drawing/2014/main" id="{D6711A7C-9FBA-DC18-EFAF-D7B3F5CBFADB}"/>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Study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Analyze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Examples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from</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Nature, etc.</a:t>
                </a:r>
              </a:p>
            </p:txBody>
          </p:sp>
          <p:sp>
            <p:nvSpPr>
              <p:cNvPr id="29" name="AutoShape 26">
                <a:extLst>
                  <a:ext uri="{FF2B5EF4-FFF2-40B4-BE49-F238E27FC236}">
                    <a16:creationId xmlns:a16="http://schemas.microsoft.com/office/drawing/2014/main" id="{35639FF2-C427-9E83-62F1-79DA26B5D0A4}"/>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Define </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Objectives/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Needs</a:t>
                </a:r>
              </a:p>
            </p:txBody>
          </p:sp>
        </p:grpSp>
        <p:sp>
          <p:nvSpPr>
            <p:cNvPr id="30" name="Rectangle 20">
              <a:extLst>
                <a:ext uri="{FF2B5EF4-FFF2-40B4-BE49-F238E27FC236}">
                  <a16:creationId xmlns:a16="http://schemas.microsoft.com/office/drawing/2014/main" id="{503C9854-811F-6B70-C772-35D8DAC3DF6C}"/>
                </a:ext>
              </a:extLst>
            </p:cNvPr>
            <p:cNvSpPr>
              <a:spLocks noChangeArrowheads="1"/>
            </p:cNvSpPr>
            <p:nvPr/>
          </p:nvSpPr>
          <p:spPr bwMode="auto">
            <a:xfrm>
              <a:off x="414338" y="3463925"/>
              <a:ext cx="1674812"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Identify Voice of the Customer and current performance metrics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Select target, write charter, pick the team</a:t>
              </a:r>
            </a:p>
          </p:txBody>
        </p:sp>
        <p:sp>
          <p:nvSpPr>
            <p:cNvPr id="31" name="Rectangle 21">
              <a:extLst>
                <a:ext uri="{FF2B5EF4-FFF2-40B4-BE49-F238E27FC236}">
                  <a16:creationId xmlns:a16="http://schemas.microsoft.com/office/drawing/2014/main" id="{4B68FD89-8E70-07E3-4E27-03356F6210F6}"/>
                </a:ext>
              </a:extLst>
            </p:cNvPr>
            <p:cNvSpPr>
              <a:spLocks noChangeArrowheads="1"/>
            </p:cNvSpPr>
            <p:nvPr/>
          </p:nvSpPr>
          <p:spPr bwMode="auto">
            <a:xfrm>
              <a:off x="2085975" y="3463925"/>
              <a:ext cx="1839913"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Review product</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Define key functions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Find examples from Nature, etc.</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Define 16 Catch Phrases</a:t>
              </a:r>
            </a:p>
          </p:txBody>
        </p:sp>
        <p:sp>
          <p:nvSpPr>
            <p:cNvPr id="32" name="Rectangle 22">
              <a:extLst>
                <a:ext uri="{FF2B5EF4-FFF2-40B4-BE49-F238E27FC236}">
                  <a16:creationId xmlns:a16="http://schemas.microsoft.com/office/drawing/2014/main" id="{71CC6784-71DA-B3A3-F9DD-5861D6CEF261}"/>
                </a:ext>
              </a:extLst>
            </p:cNvPr>
            <p:cNvSpPr>
              <a:spLocks noChangeArrowheads="1"/>
            </p:cNvSpPr>
            <p:nvPr/>
          </p:nvSpPr>
          <p:spPr bwMode="auto">
            <a:xfrm>
              <a:off x="3708400" y="3449638"/>
              <a:ext cx="1873250"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Sketch 7 Alternatives for each process step</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Apply 16 Catch Phrases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Evaluate and Combine</a:t>
              </a:r>
            </a:p>
          </p:txBody>
        </p:sp>
        <p:sp>
          <p:nvSpPr>
            <p:cNvPr id="33" name="Rectangle 23">
              <a:extLst>
                <a:ext uri="{FF2B5EF4-FFF2-40B4-BE49-F238E27FC236}">
                  <a16:creationId xmlns:a16="http://schemas.microsoft.com/office/drawing/2014/main" id="{A9FC8ED6-B1C6-07E9-8343-CA6836093B82}"/>
                </a:ext>
              </a:extLst>
            </p:cNvPr>
            <p:cNvSpPr>
              <a:spLocks noChangeArrowheads="1"/>
            </p:cNvSpPr>
            <p:nvPr/>
          </p:nvSpPr>
          <p:spPr bwMode="auto">
            <a:xfrm>
              <a:off x="6935788" y="3449638"/>
              <a:ext cx="1827212"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Plan equipment, fixtures, tooling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Plan support systems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Prepare implementation plan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Present</a:t>
              </a:r>
            </a:p>
          </p:txBody>
        </p:sp>
        <p:sp>
          <p:nvSpPr>
            <p:cNvPr id="34" name="Rectangle 22">
              <a:extLst>
                <a:ext uri="{FF2B5EF4-FFF2-40B4-BE49-F238E27FC236}">
                  <a16:creationId xmlns:a16="http://schemas.microsoft.com/office/drawing/2014/main" id="{78074CDB-6477-0462-C77D-47FE383C518A}"/>
                </a:ext>
              </a:extLst>
            </p:cNvPr>
            <p:cNvSpPr>
              <a:spLocks noChangeArrowheads="1"/>
            </p:cNvSpPr>
            <p:nvPr/>
          </p:nvSpPr>
          <p:spPr bwMode="auto">
            <a:xfrm>
              <a:off x="5332413" y="3459163"/>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Prototype Top 3 Alternatives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Refine &amp; Evaluate</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Scale up Top Alternative</a:t>
              </a:r>
            </a:p>
          </p:txBody>
        </p:sp>
      </p:grpSp>
    </p:spTree>
    <p:extLst>
      <p:ext uri="{BB962C8B-B14F-4D97-AF65-F5344CB8AC3E}">
        <p14:creationId xmlns:p14="http://schemas.microsoft.com/office/powerpoint/2010/main" val="3456810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3P Workshop Agenda</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11</a:t>
            </a:fld>
            <a:endParaRPr lang="en-US" dirty="0"/>
          </a:p>
        </p:txBody>
      </p:sp>
      <p:graphicFrame>
        <p:nvGraphicFramePr>
          <p:cNvPr id="12" name="Table">
            <a:extLst>
              <a:ext uri="{FF2B5EF4-FFF2-40B4-BE49-F238E27FC236}">
                <a16:creationId xmlns:a16="http://schemas.microsoft.com/office/drawing/2014/main" id="{4DC24FE0-DEBE-2440-59A4-EAA62B706ECC}"/>
              </a:ext>
            </a:extLst>
          </p:cNvPr>
          <p:cNvGraphicFramePr/>
          <p:nvPr/>
        </p:nvGraphicFramePr>
        <p:xfrm>
          <a:off x="419100" y="1998210"/>
          <a:ext cx="11353800" cy="4027415"/>
        </p:xfrm>
        <a:graphic>
          <a:graphicData uri="http://schemas.openxmlformats.org/drawingml/2006/table">
            <a:tbl>
              <a:tblPr/>
              <a:tblGrid>
                <a:gridCol w="2950752">
                  <a:extLst>
                    <a:ext uri="{9D8B030D-6E8A-4147-A177-3AD203B41FA5}">
                      <a16:colId xmlns:a16="http://schemas.microsoft.com/office/drawing/2014/main" val="20000"/>
                    </a:ext>
                  </a:extLst>
                </a:gridCol>
                <a:gridCol w="4201524">
                  <a:extLst>
                    <a:ext uri="{9D8B030D-6E8A-4147-A177-3AD203B41FA5}">
                      <a16:colId xmlns:a16="http://schemas.microsoft.com/office/drawing/2014/main" val="20002"/>
                    </a:ext>
                  </a:extLst>
                </a:gridCol>
                <a:gridCol w="4201524">
                  <a:extLst>
                    <a:ext uri="{9D8B030D-6E8A-4147-A177-3AD203B41FA5}">
                      <a16:colId xmlns:a16="http://schemas.microsoft.com/office/drawing/2014/main" val="4243325616"/>
                    </a:ext>
                  </a:extLst>
                </a:gridCol>
              </a:tblGrid>
              <a:tr h="327280">
                <a:tc>
                  <a:txBody>
                    <a:bodyPr/>
                    <a:lstStyle/>
                    <a:p>
                      <a:pPr marL="0" marR="0" indent="0" algn="ctr" defTabSz="1828342" latinLnBrk="0">
                        <a:lnSpc>
                          <a:spcPct val="100000"/>
                        </a:lnSpc>
                        <a:spcBef>
                          <a:spcPts val="0"/>
                        </a:spcBef>
                        <a:spcAft>
                          <a:spcPts val="0"/>
                        </a:spcAft>
                        <a:buClrTx/>
                        <a:buSzTx/>
                        <a:buFontTx/>
                        <a:buNone/>
                        <a:tabLst/>
                        <a:defRPr sz="1800">
                          <a:solidFill>
                            <a:srgbClr val="000000"/>
                          </a:solidFill>
                        </a:defRPr>
                      </a:pPr>
                      <a:r>
                        <a:rPr lang="en-US" sz="18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Day</a:t>
                      </a: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800" b="1" dirty="0">
                          <a:solidFill>
                            <a:schemeClr val="bg1"/>
                          </a:solidFill>
                          <a:latin typeface="Roboto" panose="02000000000000000000" pitchFamily="2" charset="0"/>
                          <a:ea typeface="Roboto" panose="02000000000000000000" pitchFamily="2" charset="0"/>
                          <a:cs typeface="Roboto" panose="02000000000000000000" pitchFamily="2" charset="0"/>
                        </a:rPr>
                        <a:t>Key Learnings</a:t>
                      </a:r>
                      <a:endParaRPr sz="18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noFill/>
                      <a:miter lim="400000"/>
                    </a:lnR>
                    <a:lnT w="0">
                      <a:miter lim="400000"/>
                    </a:lnT>
                    <a:lnB w="0">
                      <a:noFill/>
                      <a:miter lim="400000"/>
                    </a:lnB>
                    <a:solidFill>
                      <a:schemeClr val="accent1"/>
                    </a:solidFill>
                  </a:tcPr>
                </a:tc>
                <a:tc>
                  <a:txBody>
                    <a:bodyPr/>
                    <a:lstStyle/>
                    <a:p>
                      <a:pPr algn="ctr" defTabSz="1828342">
                        <a:defRPr sz="1800">
                          <a:solidFill>
                            <a:srgbClr val="000000"/>
                          </a:solidFill>
                        </a:defRPr>
                      </a:pPr>
                      <a:r>
                        <a:rPr lang="en-US" sz="1800" b="1" dirty="0">
                          <a:solidFill>
                            <a:schemeClr val="bg1"/>
                          </a:solidFill>
                          <a:latin typeface="Roboto" panose="02000000000000000000" pitchFamily="2" charset="0"/>
                          <a:ea typeface="Roboto" panose="02000000000000000000" pitchFamily="2" charset="0"/>
                          <a:cs typeface="Roboto" panose="02000000000000000000" pitchFamily="2" charset="0"/>
                        </a:rPr>
                        <a:t>Daily Deliverables</a:t>
                      </a:r>
                      <a:endParaRPr sz="18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noFill/>
                      <a:miter lim="400000"/>
                    </a:lnT>
                    <a:lnB w="0">
                      <a:noFill/>
                      <a:miter lim="400000"/>
                    </a:lnB>
                    <a:solidFill>
                      <a:schemeClr val="accent1"/>
                    </a:solidFill>
                  </a:tcPr>
                </a:tc>
                <a:extLst>
                  <a:ext uri="{0D108BD9-81ED-4DB2-BD59-A6C34878D82A}">
                    <a16:rowId xmlns:a16="http://schemas.microsoft.com/office/drawing/2014/main" val="10000"/>
                  </a:ext>
                </a:extLst>
              </a:tr>
              <a:tr h="705771">
                <a:tc>
                  <a:txBody>
                    <a:bodyPr/>
                    <a:lstStyle/>
                    <a:p>
                      <a:pPr marL="0" indent="0" algn="ctr">
                        <a:spcBef>
                          <a:spcPts val="600"/>
                        </a:spcBef>
                        <a:buNone/>
                      </a:pPr>
                      <a:r>
                        <a:rPr lang="en-US" sz="1600" dirty="0">
                          <a:latin typeface="Roboto" panose="02000000000000000000" pitchFamily="2" charset="0"/>
                          <a:ea typeface="Roboto" panose="02000000000000000000" pitchFamily="2" charset="0"/>
                        </a:rPr>
                        <a:t>1</a:t>
                      </a:r>
                    </a:p>
                  </a:txBody>
                  <a:tcPr anchor="ctr" horzOverflow="overflow">
                    <a:lnL w="0">
                      <a:miter lim="400000"/>
                    </a:lnL>
                    <a:lnR w="0">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Analysis</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Key Functions</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diagram</a:t>
                      </a:r>
                    </a:p>
                  </a:txBody>
                  <a:tcP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678048">
                <a:tc>
                  <a:txBody>
                    <a:bodyPr/>
                    <a:lstStyle/>
                    <a:p>
                      <a:pPr marL="0" indent="0" algn="ctr">
                        <a:spcBef>
                          <a:spcPts val="600"/>
                        </a:spcBef>
                        <a:buNone/>
                      </a:pPr>
                      <a:r>
                        <a:rPr lang="en-US" sz="1600" dirty="0">
                          <a:latin typeface="Roboto" panose="02000000000000000000" pitchFamily="2" charset="0"/>
                          <a:ea typeface="Roboto" panose="02000000000000000000" pitchFamily="2" charset="0"/>
                        </a:rPr>
                        <a:t>2</a:t>
                      </a:r>
                    </a:p>
                  </a:txBody>
                  <a:tcPr anchor="ct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Back to basics/Nature</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16 Catch Phrases</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Function Sketches</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7 Alternatives (for each process step)</a:t>
                      </a:r>
                    </a:p>
                  </a:txBody>
                  <a:tcPr horzOverflow="overflow">
                    <a:lnL w="0">
                      <a:noFill/>
                      <a:miter lim="400000"/>
                    </a:lnL>
                    <a:lnR w="0">
                      <a:noFill/>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4040028488"/>
                  </a:ext>
                </a:extLst>
              </a:tr>
              <a:tr h="779563">
                <a:tc>
                  <a:txBody>
                    <a:bodyPr/>
                    <a:lstStyle/>
                    <a:p>
                      <a:pPr marL="0" indent="0" algn="ctr" rtl="0" eaLnBrk="1" latinLnBrk="0" hangingPunct="1">
                        <a:spcBef>
                          <a:spcPts val="600"/>
                        </a:spcBef>
                        <a:buNone/>
                      </a:pPr>
                      <a:r>
                        <a:rPr lang="en-US" sz="1600" kern="1200" dirty="0">
                          <a:solidFill>
                            <a:schemeClr val="bg2">
                              <a:lumMod val="10000"/>
                            </a:schemeClr>
                          </a:solidFill>
                          <a:latin typeface="Roboto" panose="02000000000000000000" pitchFamily="2" charset="0"/>
                          <a:ea typeface="Roboto" panose="02000000000000000000" pitchFamily="2" charset="0"/>
                          <a:cs typeface="Roboto"/>
                        </a:rPr>
                        <a:t>3</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Visual Creativity</a:t>
                      </a:r>
                    </a:p>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Selection Criteria</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Evaluate 7 </a:t>
                      </a:r>
                    </a:p>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Mockup</a:t>
                      </a:r>
                    </a:p>
                  </a:txBody>
                  <a:tcP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1014016">
                <a:tc>
                  <a:txBody>
                    <a:bodyPr/>
                    <a:lstStyle/>
                    <a:p>
                      <a:pPr algn="ctr">
                        <a:spcBef>
                          <a:spcPts val="600"/>
                        </a:spcBef>
                      </a:pPr>
                      <a:r>
                        <a:rPr lang="en-US" sz="1600" dirty="0">
                          <a:solidFill>
                            <a:schemeClr val="bg2">
                              <a:lumMod val="10000"/>
                            </a:schemeClr>
                          </a:solidFill>
                          <a:latin typeface="Roboto" panose="02000000000000000000" pitchFamily="2" charset="0"/>
                          <a:ea typeface="Roboto" panose="02000000000000000000" pitchFamily="2" charset="0"/>
                          <a:cs typeface="Roboto"/>
                        </a:rPr>
                        <a:t>4</a:t>
                      </a:r>
                    </a:p>
                  </a:txBody>
                  <a:tcPr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fr-FR"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Physical Limits/Interfaces</a:t>
                      </a:r>
                    </a:p>
                    <a:p>
                      <a:pPr marL="342900" indent="-342900" algn="l" defTabSz="1828342">
                        <a:spcBef>
                          <a:spcPts val="600"/>
                        </a:spcBef>
                        <a:buFont typeface="Arial" panose="020B0604020202020204" pitchFamily="34" charset="0"/>
                        <a:buChar char="•"/>
                        <a:defRPr sz="1800">
                          <a:solidFill>
                            <a:srgbClr val="000000"/>
                          </a:solidFill>
                        </a:defRPr>
                      </a:pPr>
                      <a:r>
                        <a:rPr lang="fr-FR"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Duration &amp; Effort</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Refine &amp; Combine/Select Top 1</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 Glance</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Implementation Plan</a:t>
                      </a:r>
                    </a:p>
                  </a:txBody>
                  <a:tcP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3"/>
                  </a:ext>
                </a:extLst>
              </a:tr>
              <a:tr h="484257">
                <a:tc>
                  <a:txBody>
                    <a:bodyPr/>
                    <a:lstStyle/>
                    <a:p>
                      <a:pPr algn="ctr">
                        <a:spcBef>
                          <a:spcPts val="600"/>
                        </a:spcBef>
                      </a:pPr>
                      <a:r>
                        <a:rPr lang="en-US" sz="1600" dirty="0">
                          <a:solidFill>
                            <a:schemeClr val="bg2">
                              <a:lumMod val="10000"/>
                            </a:schemeClr>
                          </a:solidFill>
                          <a:latin typeface="Roboto" panose="02000000000000000000" pitchFamily="2" charset="0"/>
                          <a:ea typeface="Roboto" panose="02000000000000000000" pitchFamily="2" charset="0"/>
                          <a:cs typeface="Roboto"/>
                        </a:rPr>
                        <a:t>5</a:t>
                      </a:r>
                    </a:p>
                  </a:txBody>
                  <a:tcPr anchor="ct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Prepare for Team Final Report-Out</a:t>
                      </a:r>
                    </a:p>
                  </a:txBody>
                  <a:tcP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Final Report-Out to Management</a:t>
                      </a:r>
                    </a:p>
                  </a:txBody>
                  <a:tcPr horzOverflow="overflow">
                    <a:lnL w="0">
                      <a:noFill/>
                      <a:miter lim="400000"/>
                    </a:lnL>
                    <a:lnR w="0">
                      <a:noFill/>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2520429682"/>
                  </a:ext>
                </a:extLst>
              </a:tr>
            </a:tbl>
          </a:graphicData>
        </a:graphic>
      </p:graphicFrame>
    </p:spTree>
    <p:extLst>
      <p:ext uri="{BB962C8B-B14F-4D97-AF65-F5344CB8AC3E}">
        <p14:creationId xmlns:p14="http://schemas.microsoft.com/office/powerpoint/2010/main" val="3921350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Defined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b="1" i="1" dirty="0"/>
              <a:t>Production Preparation Process </a:t>
            </a:r>
            <a:r>
              <a:rPr lang="en-US" b="1" dirty="0"/>
              <a:t>(3P) is a team approach to concurrent production process and product design that delivers:</a:t>
            </a:r>
          </a:p>
          <a:p>
            <a:pPr lvl="1"/>
            <a:r>
              <a:rPr lang="en-US" dirty="0"/>
              <a:t>Highest customer </a:t>
            </a:r>
            <a:r>
              <a:rPr lang="en-US" b="1" dirty="0"/>
              <a:t>Quality</a:t>
            </a:r>
          </a:p>
          <a:p>
            <a:pPr lvl="1"/>
            <a:r>
              <a:rPr lang="en-US" dirty="0"/>
              <a:t>At the lowest product and capital </a:t>
            </a:r>
            <a:r>
              <a:rPr lang="en-US" b="1" dirty="0"/>
              <a:t>Cost</a:t>
            </a:r>
          </a:p>
          <a:p>
            <a:pPr lvl="1"/>
            <a:r>
              <a:rPr lang="en-US" dirty="0"/>
              <a:t>With better </a:t>
            </a:r>
            <a:r>
              <a:rPr lang="en-US" b="1" dirty="0"/>
              <a:t>Safety</a:t>
            </a:r>
            <a:r>
              <a:rPr lang="en-US" dirty="0"/>
              <a:t>, </a:t>
            </a:r>
            <a:r>
              <a:rPr lang="en-US" b="1" dirty="0"/>
              <a:t>Ergonomics </a:t>
            </a:r>
            <a:r>
              <a:rPr lang="en-US" dirty="0"/>
              <a:t>and </a:t>
            </a:r>
            <a:r>
              <a:rPr lang="en-US" b="1" dirty="0"/>
              <a:t>Less Environmental Impact</a:t>
            </a:r>
          </a:p>
          <a:p>
            <a:pPr lvl="1"/>
            <a:r>
              <a:rPr lang="en-US" dirty="0"/>
              <a:t>For the required </a:t>
            </a:r>
            <a:r>
              <a:rPr lang="en-US" b="1" dirty="0"/>
              <a:t>Volume</a:t>
            </a:r>
          </a:p>
          <a:p>
            <a:pPr lvl="1"/>
            <a:r>
              <a:rPr lang="en-US" dirty="0"/>
              <a:t>Able to </a:t>
            </a:r>
            <a:r>
              <a:rPr lang="en-US" b="1" dirty="0"/>
              <a:t>Flex </a:t>
            </a:r>
            <a:r>
              <a:rPr lang="en-US" dirty="0"/>
              <a:t>to volume changes</a:t>
            </a:r>
          </a:p>
          <a:p>
            <a:pPr lvl="1"/>
            <a:r>
              <a:rPr lang="en-US" b="1" dirty="0"/>
              <a:t>On Time </a:t>
            </a:r>
            <a:r>
              <a:rPr lang="en-US" dirty="0"/>
              <a:t>and in the shortest project </a:t>
            </a:r>
            <a:r>
              <a:rPr lang="en-US" b="1" dirty="0"/>
              <a:t>Lead Time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spTree>
    <p:extLst>
      <p:ext uri="{BB962C8B-B14F-4D97-AF65-F5344CB8AC3E}">
        <p14:creationId xmlns:p14="http://schemas.microsoft.com/office/powerpoint/2010/main" val="1309137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Defined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pPr>
              <a:lnSpc>
                <a:spcPct val="105000"/>
              </a:lnSpc>
            </a:pPr>
            <a:r>
              <a:rPr lang="en-US" altLang="en-US" dirty="0"/>
              <a:t>3P is an advanced lean tool typically used by organizations that have experience with other lean methods   </a:t>
            </a:r>
          </a:p>
          <a:p>
            <a:pPr>
              <a:lnSpc>
                <a:spcPct val="105000"/>
              </a:lnSpc>
            </a:pPr>
            <a:r>
              <a:rPr lang="en-US" altLang="en-US" dirty="0"/>
              <a:t>3P focuses on eliminating waste by building quality into the process through product and process design</a:t>
            </a:r>
          </a:p>
          <a:p>
            <a:pPr>
              <a:lnSpc>
                <a:spcPct val="105000"/>
              </a:lnSpc>
            </a:pPr>
            <a:r>
              <a:rPr lang="en-US" altLang="en-US" dirty="0"/>
              <a:t>3P starts with a clean product development slate to rapidly create and test potential product and process designs that require the least time, material, and capital resources </a:t>
            </a:r>
          </a:p>
          <a:p>
            <a:pPr>
              <a:lnSpc>
                <a:spcPct val="105000"/>
              </a:lnSpc>
            </a:pPr>
            <a:r>
              <a:rPr lang="en-US" altLang="en-US" dirty="0"/>
              <a:t>3P involves a diverse team in a multi-day creative process to identify several alternative ways to meet the customer's needs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spTree>
    <p:extLst>
      <p:ext uri="{BB962C8B-B14F-4D97-AF65-F5344CB8AC3E}">
        <p14:creationId xmlns:p14="http://schemas.microsoft.com/office/powerpoint/2010/main" val="1098478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3P</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a:lnSpc>
                <a:spcPct val="105000"/>
              </a:lnSpc>
            </a:pPr>
            <a:r>
              <a:rPr lang="en-US" altLang="en-US" dirty="0"/>
              <a:t>Least waste by integrating the ‘4M’s’ (Man, Material, Machine, Methods) of production into a good flow</a:t>
            </a:r>
          </a:p>
          <a:p>
            <a:pPr>
              <a:lnSpc>
                <a:spcPct val="105000"/>
              </a:lnSpc>
            </a:pPr>
            <a:r>
              <a:rPr lang="en-US" altLang="en-US" dirty="0"/>
              <a:t>Eliminate Muda (waste), Mura (variability), Muri (overloading)</a:t>
            </a:r>
          </a:p>
          <a:p>
            <a:pPr>
              <a:lnSpc>
                <a:spcPct val="105000"/>
              </a:lnSpc>
            </a:pPr>
            <a:r>
              <a:rPr lang="en-US" altLang="en-US" dirty="0"/>
              <a:t>Eliminate the ‘Three D’s’ – dirt, difficult, dangerous</a:t>
            </a:r>
          </a:p>
          <a:p>
            <a:pPr>
              <a:lnSpc>
                <a:spcPct val="105000"/>
              </a:lnSpc>
            </a:pPr>
            <a:r>
              <a:rPr lang="en-US" altLang="en-US" dirty="0"/>
              <a:t>Build quality into the process with Poka-yoke &amp; </a:t>
            </a:r>
            <a:r>
              <a:rPr lang="en-US" altLang="en-US" dirty="0" err="1"/>
              <a:t>Jidoka</a:t>
            </a:r>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spTree>
    <p:extLst>
      <p:ext uri="{BB962C8B-B14F-4D97-AF65-F5344CB8AC3E}">
        <p14:creationId xmlns:p14="http://schemas.microsoft.com/office/powerpoint/2010/main" val="851610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When to use 3P – Top 5 Reasons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pPr marL="342900" indent="-342900"/>
            <a:r>
              <a:rPr lang="en-US" altLang="en-US" b="1" dirty="0"/>
              <a:t>New product development.</a:t>
            </a:r>
            <a:r>
              <a:rPr lang="en-US" altLang="en-US" dirty="0"/>
              <a:t> </a:t>
            </a:r>
            <a:r>
              <a:rPr lang="en-US" altLang="en-US" b="0" dirty="0"/>
              <a:t>Educate designers in Lean as early as possible.</a:t>
            </a:r>
          </a:p>
          <a:p>
            <a:pPr marL="342900" indent="-342900"/>
            <a:r>
              <a:rPr lang="en-US" altLang="en-US" b="1" dirty="0"/>
              <a:t>Capital expenditure approval.</a:t>
            </a:r>
            <a:r>
              <a:rPr lang="en-US" altLang="en-US" dirty="0"/>
              <a:t> </a:t>
            </a:r>
            <a:r>
              <a:rPr lang="en-US" altLang="en-US" b="0" dirty="0"/>
              <a:t>Don't sign a Cap Ex without first doing 3P.</a:t>
            </a:r>
          </a:p>
          <a:p>
            <a:pPr marL="342900" indent="-342900"/>
            <a:r>
              <a:rPr lang="en-US" altLang="en-US" b="1" dirty="0"/>
              <a:t>Product design changes.</a:t>
            </a:r>
            <a:r>
              <a:rPr lang="en-US" altLang="en-US" dirty="0"/>
              <a:t> </a:t>
            </a:r>
            <a:r>
              <a:rPr lang="en-US" altLang="en-US" b="0" dirty="0"/>
              <a:t>Don</a:t>
            </a:r>
            <a:r>
              <a:rPr lang="ja-JP" altLang="en-US" b="0" dirty="0"/>
              <a:t>’</a:t>
            </a:r>
            <a:r>
              <a:rPr lang="en-US" altLang="ja-JP" b="0" dirty="0"/>
              <a:t>t approve changes without a 3P review.</a:t>
            </a:r>
          </a:p>
          <a:p>
            <a:pPr marL="342900" indent="-342900"/>
            <a:r>
              <a:rPr lang="en-US" altLang="en-US" b="1" dirty="0"/>
              <a:t>Significant changes in volume.</a:t>
            </a:r>
            <a:r>
              <a:rPr lang="en-US" altLang="en-US" dirty="0"/>
              <a:t> </a:t>
            </a:r>
            <a:r>
              <a:rPr lang="en-US" altLang="en-US" b="0" dirty="0"/>
              <a:t>If you didn't design the process Lean, here's a second chance.</a:t>
            </a:r>
          </a:p>
          <a:p>
            <a:pPr marL="342900" indent="-342900"/>
            <a:r>
              <a:rPr lang="en-US" altLang="en-US" b="1" dirty="0"/>
              <a:t>Relocation of processes.</a:t>
            </a:r>
            <a:r>
              <a:rPr lang="en-US" altLang="en-US" dirty="0"/>
              <a:t> </a:t>
            </a:r>
            <a:r>
              <a:rPr lang="en-US" altLang="en-US" b="0" dirty="0"/>
              <a:t>If you're going to pick it up and move it anyway, you might as well Lean it out first.</a:t>
            </a:r>
          </a:p>
          <a:p>
            <a:pPr marL="342900" indent="-342900"/>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spTree>
    <p:extLst>
      <p:ext uri="{BB962C8B-B14F-4D97-AF65-F5344CB8AC3E}">
        <p14:creationId xmlns:p14="http://schemas.microsoft.com/office/powerpoint/2010/main" val="2063235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5" descr="C:\Users\User\Pictures\My Pictures\ALIBRARY\Bought Stock\iStock_000005735314Small.jpg">
            <a:extLst>
              <a:ext uri="{FF2B5EF4-FFF2-40B4-BE49-F238E27FC236}">
                <a16:creationId xmlns:a16="http://schemas.microsoft.com/office/drawing/2014/main" id="{9020E11A-32DE-7C80-E59A-CE9C8148F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7978" y="3726168"/>
            <a:ext cx="2527300"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Benefits</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Increased sales – extended product life cycle, early adopters increased early stage pricing</a:t>
            </a:r>
          </a:p>
          <a:p>
            <a:r>
              <a:rPr lang="en-US" altLang="en-US" dirty="0"/>
              <a:t>First to market – increase chances of competitor lock-out</a:t>
            </a:r>
          </a:p>
          <a:p>
            <a:r>
              <a:rPr lang="en-US" altLang="en-US" dirty="0"/>
              <a:t>Enhance market image as innovative producer</a:t>
            </a:r>
          </a:p>
          <a:p>
            <a:r>
              <a:rPr lang="en-US" altLang="en-US" dirty="0"/>
              <a:t>Improved product performance</a:t>
            </a:r>
          </a:p>
          <a:p>
            <a:r>
              <a:rPr lang="en-US" altLang="en-US" dirty="0"/>
              <a:t>Reduced production cost – product and capital required</a:t>
            </a:r>
          </a:p>
          <a:p>
            <a:r>
              <a:rPr lang="en-US" altLang="en-US" dirty="0"/>
              <a:t>Reduced development costs</a:t>
            </a:r>
          </a:p>
          <a:p>
            <a:r>
              <a:rPr lang="en-US" altLang="en-US" dirty="0"/>
              <a:t>Increases profitability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spTree>
    <p:extLst>
      <p:ext uri="{BB962C8B-B14F-4D97-AF65-F5344CB8AC3E}">
        <p14:creationId xmlns:p14="http://schemas.microsoft.com/office/powerpoint/2010/main" val="1469357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Prerequisites for successful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Organizational lean maturity</a:t>
            </a:r>
          </a:p>
          <a:p>
            <a:r>
              <a:rPr lang="en-US" altLang="en-US" dirty="0"/>
              <a:t>Strategic alignment and VOC</a:t>
            </a:r>
          </a:p>
          <a:p>
            <a:r>
              <a:rPr lang="en-US" altLang="en-US" dirty="0"/>
              <a:t>Follow kaizen guidelines</a:t>
            </a:r>
          </a:p>
          <a:p>
            <a:r>
              <a:rPr lang="en-US" altLang="en-US" dirty="0"/>
              <a:t>Cross-functional associate involvement</a:t>
            </a:r>
          </a:p>
          <a:p>
            <a:r>
              <a:rPr lang="en-US" altLang="en-US" dirty="0"/>
              <a:t>Adequate mechanical and design capabilities</a:t>
            </a:r>
          </a:p>
          <a:p>
            <a:r>
              <a:rPr lang="en-US" altLang="en-US" dirty="0"/>
              <a:t>Establish 3P Lab with supplies and staff</a:t>
            </a:r>
          </a:p>
          <a:p>
            <a:r>
              <a:rPr lang="en-US" altLang="en-US" dirty="0"/>
              <a:t>Leadership sponsorship</a:t>
            </a:r>
          </a:p>
          <a:p>
            <a:r>
              <a:rPr lang="en-US" altLang="en-US" dirty="0"/>
              <a:t>Willingness to be revolutionary</a:t>
            </a:r>
          </a:p>
          <a:p>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spTree>
    <p:extLst>
      <p:ext uri="{BB962C8B-B14F-4D97-AF65-F5344CB8AC3E}">
        <p14:creationId xmlns:p14="http://schemas.microsoft.com/office/powerpoint/2010/main" val="2414822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C:\Users\Administrator\Documents\iStock_000002548064Small.jpg">
            <a:extLst>
              <a:ext uri="{FF2B5EF4-FFF2-40B4-BE49-F238E27FC236}">
                <a16:creationId xmlns:a16="http://schemas.microsoft.com/office/drawing/2014/main" id="{D6C44FCC-9473-BDC5-2151-1308EA392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1540" y="4081463"/>
            <a:ext cx="3148013"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Obstacles to Product Development</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altLang="en-US" dirty="0"/>
              <a:t>Chaotic work environment – constant interruptions</a:t>
            </a:r>
          </a:p>
          <a:p>
            <a:r>
              <a:rPr lang="en-US" altLang="en-US" dirty="0"/>
              <a:t>Resources spread too thinly – resource bottlenecks</a:t>
            </a:r>
          </a:p>
          <a:p>
            <a:r>
              <a:rPr lang="en-US" altLang="en-US" dirty="0"/>
              <a:t>Failure to prioritize projects/tasks</a:t>
            </a:r>
          </a:p>
          <a:p>
            <a:r>
              <a:rPr lang="en-US" altLang="en-US" dirty="0"/>
              <a:t>Poor communication and lack of multi-disciplinary team approach</a:t>
            </a:r>
          </a:p>
          <a:p>
            <a:r>
              <a:rPr lang="en-US" altLang="en-US" dirty="0"/>
              <a:t>Poorly defined product requirements and constant changes</a:t>
            </a:r>
          </a:p>
          <a:p>
            <a:r>
              <a:rPr lang="en-US" altLang="en-US" dirty="0"/>
              <a:t>Lack of a formal design process with checkpoints</a:t>
            </a:r>
          </a:p>
          <a:p>
            <a:r>
              <a:rPr lang="en-US" altLang="en-US" dirty="0"/>
              <a:t>Late consideration of manufacturability</a:t>
            </a:r>
          </a:p>
          <a:p>
            <a:r>
              <a:rPr lang="en-US" altLang="en-US" dirty="0"/>
              <a:t>Lack of effort in concept development and evaluation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spTree>
    <p:extLst>
      <p:ext uri="{BB962C8B-B14F-4D97-AF65-F5344CB8AC3E}">
        <p14:creationId xmlns:p14="http://schemas.microsoft.com/office/powerpoint/2010/main" val="2609269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Principles – overarching logic of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err="1"/>
              <a:t>Kaikaku</a:t>
            </a:r>
            <a:r>
              <a:rPr lang="en-US" altLang="en-US" dirty="0"/>
              <a:t> - rapid revolutionary, not incremental evolutionary change</a:t>
            </a:r>
          </a:p>
          <a:p>
            <a:r>
              <a:rPr lang="en-US" altLang="en-US" dirty="0"/>
              <a:t>Cross-functional team based creative design</a:t>
            </a:r>
          </a:p>
          <a:p>
            <a:r>
              <a:rPr lang="en-US" altLang="en-US" dirty="0"/>
              <a:t>Moonshine: sketch, model, simulate, prototype, scale up</a:t>
            </a:r>
          </a:p>
          <a:p>
            <a:r>
              <a:rPr lang="en-US" altLang="en-US" dirty="0"/>
              <a:t>Diverge then converge, then repeat</a:t>
            </a:r>
          </a:p>
          <a:p>
            <a:r>
              <a:rPr lang="en-US" altLang="en-US" dirty="0"/>
              <a:t>Catch Ball and refine</a:t>
            </a:r>
          </a:p>
          <a:p>
            <a:r>
              <a:rPr lang="en-US" altLang="en-US" dirty="0"/>
              <a:t>Design in quality, design out waste</a:t>
            </a:r>
          </a:p>
          <a:p>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pic>
        <p:nvPicPr>
          <p:cNvPr id="14" name="Picture 2">
            <a:extLst>
              <a:ext uri="{FF2B5EF4-FFF2-40B4-BE49-F238E27FC236}">
                <a16:creationId xmlns:a16="http://schemas.microsoft.com/office/drawing/2014/main" id="{5201D159-2A62-95F0-1B54-4E391B89A4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2203" y="3843338"/>
            <a:ext cx="3028950"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1495830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The Four Phases of 3P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pSp>
        <p:nvGrpSpPr>
          <p:cNvPr id="27" name="Group 26">
            <a:extLst>
              <a:ext uri="{FF2B5EF4-FFF2-40B4-BE49-F238E27FC236}">
                <a16:creationId xmlns:a16="http://schemas.microsoft.com/office/drawing/2014/main" id="{2DBBF929-D12C-D441-4750-B0A06C485242}"/>
              </a:ext>
            </a:extLst>
          </p:cNvPr>
          <p:cNvGrpSpPr/>
          <p:nvPr/>
        </p:nvGrpSpPr>
        <p:grpSpPr>
          <a:xfrm>
            <a:off x="1029811" y="2035194"/>
            <a:ext cx="10132377" cy="3822065"/>
            <a:chOff x="830263" y="1544638"/>
            <a:chExt cx="7383462" cy="4217987"/>
          </a:xfrm>
        </p:grpSpPr>
        <p:sp>
          <p:nvSpPr>
            <p:cNvPr id="13" name="Freeform 4">
              <a:extLst>
                <a:ext uri="{FF2B5EF4-FFF2-40B4-BE49-F238E27FC236}">
                  <a16:creationId xmlns:a16="http://schemas.microsoft.com/office/drawing/2014/main" id="{018601AA-A78D-2964-C74C-611D5370A737}"/>
                </a:ext>
              </a:extLst>
            </p:cNvPr>
            <p:cNvSpPr>
              <a:spLocks noChangeArrowheads="1"/>
            </p:cNvSpPr>
            <p:nvPr/>
          </p:nvSpPr>
          <p:spPr bwMode="auto">
            <a:xfrm>
              <a:off x="882650" y="1544638"/>
              <a:ext cx="1687513" cy="3106737"/>
            </a:xfrm>
            <a:custGeom>
              <a:avLst/>
              <a:gdLst>
                <a:gd name="T0" fmla="*/ 0 w 1119352"/>
                <a:gd name="T1" fmla="*/ 3126342 h 3105807"/>
                <a:gd name="T2" fmla="*/ 0 w 1119352"/>
                <a:gd name="T3" fmla="*/ 0 h 3105807"/>
                <a:gd name="T4" fmla="*/ 2147483646 w 1119352"/>
                <a:gd name="T5" fmla="*/ 269790 h 3105807"/>
                <a:gd name="T6" fmla="*/ 2147483646 w 1119352"/>
                <a:gd name="T7" fmla="*/ 2856556 h 3105807"/>
                <a:gd name="T8" fmla="*/ 0 w 1119352"/>
                <a:gd name="T9" fmla="*/ 3126342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3619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VOC/spec’s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Part Numbers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Drawings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Samples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Standards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Interfaces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Volumes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Ramp</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Takt Time</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Process Steps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Target Costs</a:t>
              </a:r>
            </a:p>
          </p:txBody>
        </p:sp>
        <p:sp>
          <p:nvSpPr>
            <p:cNvPr id="14" name="Freeform 5">
              <a:extLst>
                <a:ext uri="{FF2B5EF4-FFF2-40B4-BE49-F238E27FC236}">
                  <a16:creationId xmlns:a16="http://schemas.microsoft.com/office/drawing/2014/main" id="{8AC6A8FE-EF98-67C6-13A7-F9EE851D6F36}"/>
                </a:ext>
              </a:extLst>
            </p:cNvPr>
            <p:cNvSpPr>
              <a:spLocks noChangeArrowheads="1"/>
            </p:cNvSpPr>
            <p:nvPr/>
          </p:nvSpPr>
          <p:spPr bwMode="auto">
            <a:xfrm>
              <a:off x="2533650" y="1989138"/>
              <a:ext cx="1849438" cy="2217737"/>
            </a:xfrm>
            <a:custGeom>
              <a:avLst/>
              <a:gdLst>
                <a:gd name="T0" fmla="*/ 0 w 1119352"/>
                <a:gd name="T1" fmla="*/ 1343 h 3105807"/>
                <a:gd name="T2" fmla="*/ 0 w 1119352"/>
                <a:gd name="T3" fmla="*/ 0 h 3105807"/>
                <a:gd name="T4" fmla="*/ 2147483646 w 1119352"/>
                <a:gd name="T5" fmla="*/ 116 h 3105807"/>
                <a:gd name="T6" fmla="*/ 2147483646 w 1119352"/>
                <a:gd name="T7" fmla="*/ 1227 h 3105807"/>
                <a:gd name="T8" fmla="*/ 0 w 1119352"/>
                <a:gd name="T9" fmla="*/ 1343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3619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7 Alternatives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16 Catchphrases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Simulations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Model Lab</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Selection</a:t>
              </a:r>
            </a:p>
          </p:txBody>
        </p:sp>
        <p:sp>
          <p:nvSpPr>
            <p:cNvPr id="15" name="Freeform 6">
              <a:extLst>
                <a:ext uri="{FF2B5EF4-FFF2-40B4-BE49-F238E27FC236}">
                  <a16:creationId xmlns:a16="http://schemas.microsoft.com/office/drawing/2014/main" id="{590F97CB-A86A-9044-38F8-106E82CB25B0}"/>
                </a:ext>
              </a:extLst>
            </p:cNvPr>
            <p:cNvSpPr>
              <a:spLocks noChangeArrowheads="1"/>
            </p:cNvSpPr>
            <p:nvPr/>
          </p:nvSpPr>
          <p:spPr bwMode="auto">
            <a:xfrm>
              <a:off x="4356100" y="2346325"/>
              <a:ext cx="1965325" cy="1503363"/>
            </a:xfrm>
            <a:custGeom>
              <a:avLst/>
              <a:gdLst>
                <a:gd name="T0" fmla="*/ 0 w 1119352"/>
                <a:gd name="T1" fmla="*/ 0 h 3105807"/>
                <a:gd name="T2" fmla="*/ 0 w 1119352"/>
                <a:gd name="T3" fmla="*/ 0 h 3105807"/>
                <a:gd name="T4" fmla="*/ 2147483646 w 1119352"/>
                <a:gd name="T5" fmla="*/ 0 h 3105807"/>
                <a:gd name="T6" fmla="*/ 2147483646 w 1119352"/>
                <a:gd name="T7" fmla="*/ 0 h 3105807"/>
                <a:gd name="T8" fmla="*/ 0 w 1119352"/>
                <a:gd name="T9" fmla="*/ 0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3619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Flow Chart</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Takt Time</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Cycle Time</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Equipment Plan</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Process Capacity</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Standard Work</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Standard Layout</a:t>
              </a:r>
            </a:p>
          </p:txBody>
        </p:sp>
        <p:sp>
          <p:nvSpPr>
            <p:cNvPr id="16" name="Freeform 7">
              <a:extLst>
                <a:ext uri="{FF2B5EF4-FFF2-40B4-BE49-F238E27FC236}">
                  <a16:creationId xmlns:a16="http://schemas.microsoft.com/office/drawing/2014/main" id="{A50581C9-FD51-06DD-5AC0-A437ED302C0E}"/>
                </a:ext>
              </a:extLst>
            </p:cNvPr>
            <p:cNvSpPr>
              <a:spLocks noChangeArrowheads="1"/>
            </p:cNvSpPr>
            <p:nvPr/>
          </p:nvSpPr>
          <p:spPr bwMode="auto">
            <a:xfrm>
              <a:off x="6211888" y="2774950"/>
              <a:ext cx="1512887" cy="646113"/>
            </a:xfrm>
            <a:custGeom>
              <a:avLst/>
              <a:gdLst>
                <a:gd name="T0" fmla="*/ 0 w 1119352"/>
                <a:gd name="T1" fmla="*/ 0 h 3105807"/>
                <a:gd name="T2" fmla="*/ 0 w 1119352"/>
                <a:gd name="T3" fmla="*/ 0 h 3105807"/>
                <a:gd name="T4" fmla="*/ 1127954804 w 1119352"/>
                <a:gd name="T5" fmla="*/ 0 h 3105807"/>
                <a:gd name="T6" fmla="*/ 1144069839 w 1119352"/>
                <a:gd name="T7" fmla="*/ 0 h 3105807"/>
                <a:gd name="T8" fmla="*/ 0 w 1119352"/>
                <a:gd name="T9" fmla="*/ 0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952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Launch Phase</a:t>
              </a:r>
            </a:p>
          </p:txBody>
        </p:sp>
        <p:sp>
          <p:nvSpPr>
            <p:cNvPr id="17" name="Right Arrow 8">
              <a:extLst>
                <a:ext uri="{FF2B5EF4-FFF2-40B4-BE49-F238E27FC236}">
                  <a16:creationId xmlns:a16="http://schemas.microsoft.com/office/drawing/2014/main" id="{BDFAFE86-8B49-BA4B-4F7C-AA810FA30395}"/>
                </a:ext>
              </a:extLst>
            </p:cNvPr>
            <p:cNvSpPr>
              <a:spLocks noChangeArrowheads="1"/>
            </p:cNvSpPr>
            <p:nvPr/>
          </p:nvSpPr>
          <p:spPr bwMode="auto">
            <a:xfrm>
              <a:off x="7693025" y="2562225"/>
              <a:ext cx="520700" cy="1071563"/>
            </a:xfrm>
            <a:prstGeom prst="rightArrow">
              <a:avLst>
                <a:gd name="adj1" fmla="val 50000"/>
                <a:gd name="adj2" fmla="val 50000"/>
              </a:avLst>
            </a:pr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18" name="TextBox 9">
              <a:extLst>
                <a:ext uri="{FF2B5EF4-FFF2-40B4-BE49-F238E27FC236}">
                  <a16:creationId xmlns:a16="http://schemas.microsoft.com/office/drawing/2014/main" id="{B443053A-B7BD-4AD4-91DA-55D6BA11069F}"/>
                </a:ext>
              </a:extLst>
            </p:cNvPr>
            <p:cNvSpPr txBox="1">
              <a:spLocks noChangeArrowheads="1"/>
            </p:cNvSpPr>
            <p:nvPr/>
          </p:nvSpPr>
          <p:spPr bwMode="auto">
            <a:xfrm rot="16200000">
              <a:off x="111919" y="2944019"/>
              <a:ext cx="1744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Information Phase</a:t>
              </a:r>
            </a:p>
          </p:txBody>
        </p:sp>
        <p:sp>
          <p:nvSpPr>
            <p:cNvPr id="19" name="TextBox 10">
              <a:extLst>
                <a:ext uri="{FF2B5EF4-FFF2-40B4-BE49-F238E27FC236}">
                  <a16:creationId xmlns:a16="http://schemas.microsoft.com/office/drawing/2014/main" id="{8F7CE58F-857F-163B-0FD3-697A0745ECF9}"/>
                </a:ext>
              </a:extLst>
            </p:cNvPr>
            <p:cNvSpPr txBox="1">
              <a:spLocks noChangeArrowheads="1"/>
            </p:cNvSpPr>
            <p:nvPr/>
          </p:nvSpPr>
          <p:spPr bwMode="auto">
            <a:xfrm rot="16200000">
              <a:off x="1963122" y="2944118"/>
              <a:ext cx="14077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Creative Phase</a:t>
              </a:r>
            </a:p>
          </p:txBody>
        </p:sp>
        <p:sp>
          <p:nvSpPr>
            <p:cNvPr id="20" name="TextBox 11">
              <a:extLst>
                <a:ext uri="{FF2B5EF4-FFF2-40B4-BE49-F238E27FC236}">
                  <a16:creationId xmlns:a16="http://schemas.microsoft.com/office/drawing/2014/main" id="{3D688BF2-503B-FC80-C5A2-A9450FB762F2}"/>
                </a:ext>
              </a:extLst>
            </p:cNvPr>
            <p:cNvSpPr txBox="1">
              <a:spLocks noChangeArrowheads="1"/>
            </p:cNvSpPr>
            <p:nvPr/>
          </p:nvSpPr>
          <p:spPr bwMode="auto">
            <a:xfrm rot="16200000">
              <a:off x="3745342" y="2944118"/>
              <a:ext cx="15199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Definition Phase</a:t>
              </a:r>
            </a:p>
          </p:txBody>
        </p:sp>
        <p:sp>
          <p:nvSpPr>
            <p:cNvPr id="21" name="Left Brace 12">
              <a:extLst>
                <a:ext uri="{FF2B5EF4-FFF2-40B4-BE49-F238E27FC236}">
                  <a16:creationId xmlns:a16="http://schemas.microsoft.com/office/drawing/2014/main" id="{89EF9829-0CC6-38DC-C2D7-FE62DFCB52CD}"/>
                </a:ext>
              </a:extLst>
            </p:cNvPr>
            <p:cNvSpPr>
              <a:spLocks/>
            </p:cNvSpPr>
            <p:nvPr/>
          </p:nvSpPr>
          <p:spPr bwMode="auto">
            <a:xfrm rot="16200000">
              <a:off x="1481931" y="4129882"/>
              <a:ext cx="409575" cy="1624012"/>
            </a:xfrm>
            <a:prstGeom prst="leftBrace">
              <a:avLst>
                <a:gd name="adj1" fmla="val 8334"/>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2" name="Left Brace 13">
              <a:extLst>
                <a:ext uri="{FF2B5EF4-FFF2-40B4-BE49-F238E27FC236}">
                  <a16:creationId xmlns:a16="http://schemas.microsoft.com/office/drawing/2014/main" id="{C8CD7729-DD30-010C-A428-EEE52ED854D4}"/>
                </a:ext>
              </a:extLst>
            </p:cNvPr>
            <p:cNvSpPr>
              <a:spLocks/>
            </p:cNvSpPr>
            <p:nvPr/>
          </p:nvSpPr>
          <p:spPr bwMode="auto">
            <a:xfrm rot="16200000">
              <a:off x="3606800" y="3713163"/>
              <a:ext cx="409575" cy="2479675"/>
            </a:xfrm>
            <a:prstGeom prst="leftBrace">
              <a:avLst>
                <a:gd name="adj1" fmla="val 8353"/>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3" name="Left Brace 14">
              <a:extLst>
                <a:ext uri="{FF2B5EF4-FFF2-40B4-BE49-F238E27FC236}">
                  <a16:creationId xmlns:a16="http://schemas.microsoft.com/office/drawing/2014/main" id="{9C3D008E-444E-5E76-254F-F156DFE7255F}"/>
                </a:ext>
              </a:extLst>
            </p:cNvPr>
            <p:cNvSpPr>
              <a:spLocks/>
            </p:cNvSpPr>
            <p:nvPr/>
          </p:nvSpPr>
          <p:spPr bwMode="auto">
            <a:xfrm rot="16200000">
              <a:off x="6353970" y="3532981"/>
              <a:ext cx="411162" cy="2847975"/>
            </a:xfrm>
            <a:prstGeom prst="leftBrace">
              <a:avLst>
                <a:gd name="adj1" fmla="val 8306"/>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4" name="TextBox 15">
              <a:extLst>
                <a:ext uri="{FF2B5EF4-FFF2-40B4-BE49-F238E27FC236}">
                  <a16:creationId xmlns:a16="http://schemas.microsoft.com/office/drawing/2014/main" id="{CB27FE8F-EB21-11FB-1559-D74CFEAB124B}"/>
                </a:ext>
              </a:extLst>
            </p:cNvPr>
            <p:cNvSpPr txBox="1">
              <a:spLocks noChangeArrowheads="1"/>
            </p:cNvSpPr>
            <p:nvPr/>
          </p:nvSpPr>
          <p:spPr bwMode="auto">
            <a:xfrm>
              <a:off x="1025525" y="5422900"/>
              <a:ext cx="11842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3P Kickoff</a:t>
              </a:r>
            </a:p>
          </p:txBody>
        </p:sp>
        <p:sp>
          <p:nvSpPr>
            <p:cNvPr id="25" name="TextBox 16">
              <a:extLst>
                <a:ext uri="{FF2B5EF4-FFF2-40B4-BE49-F238E27FC236}">
                  <a16:creationId xmlns:a16="http://schemas.microsoft.com/office/drawing/2014/main" id="{7652D6CB-7D4F-B1BD-2BDB-DCB1BA9E5799}"/>
                </a:ext>
              </a:extLst>
            </p:cNvPr>
            <p:cNvSpPr txBox="1">
              <a:spLocks noChangeArrowheads="1"/>
            </p:cNvSpPr>
            <p:nvPr/>
          </p:nvSpPr>
          <p:spPr bwMode="auto">
            <a:xfrm>
              <a:off x="3291447" y="5422900"/>
              <a:ext cx="10005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3P Event</a:t>
              </a:r>
            </a:p>
          </p:txBody>
        </p:sp>
        <p:sp>
          <p:nvSpPr>
            <p:cNvPr id="26" name="TextBox 17">
              <a:extLst>
                <a:ext uri="{FF2B5EF4-FFF2-40B4-BE49-F238E27FC236}">
                  <a16:creationId xmlns:a16="http://schemas.microsoft.com/office/drawing/2014/main" id="{CA930D36-7C88-3252-A507-274C5C098841}"/>
                </a:ext>
              </a:extLst>
            </p:cNvPr>
            <p:cNvSpPr txBox="1">
              <a:spLocks noChangeArrowheads="1"/>
            </p:cNvSpPr>
            <p:nvPr/>
          </p:nvSpPr>
          <p:spPr bwMode="auto">
            <a:xfrm>
              <a:off x="5299075" y="5422900"/>
              <a:ext cx="2006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3P Implementation</a:t>
              </a:r>
            </a:p>
          </p:txBody>
        </p:sp>
      </p:grpSp>
    </p:spTree>
    <p:extLst>
      <p:ext uri="{BB962C8B-B14F-4D97-AF65-F5344CB8AC3E}">
        <p14:creationId xmlns:p14="http://schemas.microsoft.com/office/powerpoint/2010/main" val="2688973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Product and Production Interaction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65" name="Group 64">
            <a:extLst>
              <a:ext uri="{FF2B5EF4-FFF2-40B4-BE49-F238E27FC236}">
                <a16:creationId xmlns:a16="http://schemas.microsoft.com/office/drawing/2014/main" id="{277944CC-71CC-974D-3683-E60468988ABB}"/>
              </a:ext>
            </a:extLst>
          </p:cNvPr>
          <p:cNvGrpSpPr/>
          <p:nvPr/>
        </p:nvGrpSpPr>
        <p:grpSpPr>
          <a:xfrm>
            <a:off x="2525717" y="1783428"/>
            <a:ext cx="6772275" cy="4530059"/>
            <a:chOff x="992188" y="1490663"/>
            <a:chExt cx="6772275" cy="4622800"/>
          </a:xfrm>
        </p:grpSpPr>
        <p:sp>
          <p:nvSpPr>
            <p:cNvPr id="28" name="Rectangle 3">
              <a:extLst>
                <a:ext uri="{FF2B5EF4-FFF2-40B4-BE49-F238E27FC236}">
                  <a16:creationId xmlns:a16="http://schemas.microsoft.com/office/drawing/2014/main" id="{752A34B0-EDCB-BC5E-4707-A32E10A98E50}"/>
                </a:ext>
              </a:extLst>
            </p:cNvPr>
            <p:cNvSpPr>
              <a:spLocks noChangeArrowheads="1"/>
            </p:cNvSpPr>
            <p:nvPr/>
          </p:nvSpPr>
          <p:spPr bwMode="auto">
            <a:xfrm>
              <a:off x="992188" y="1490663"/>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A</a:t>
              </a:r>
              <a:r>
                <a:rPr lang="en-GB" altLang="en-US" sz="1200">
                  <a:solidFill>
                    <a:schemeClr val="bg1"/>
                  </a:solidFill>
                  <a:latin typeface="Roboto" panose="02000000000000000000" pitchFamily="2" charset="0"/>
                  <a:ea typeface="Roboto" panose="02000000000000000000" pitchFamily="2" charset="0"/>
                </a:rPr>
                <a:t>. 	Product Planning</a:t>
              </a:r>
            </a:p>
          </p:txBody>
        </p:sp>
        <p:sp>
          <p:nvSpPr>
            <p:cNvPr id="29" name="Rectangle 4">
              <a:extLst>
                <a:ext uri="{FF2B5EF4-FFF2-40B4-BE49-F238E27FC236}">
                  <a16:creationId xmlns:a16="http://schemas.microsoft.com/office/drawing/2014/main" id="{B4BB1048-BA54-AFCE-249C-22A93E668062}"/>
                </a:ext>
              </a:extLst>
            </p:cNvPr>
            <p:cNvSpPr>
              <a:spLocks noChangeArrowheads="1"/>
            </p:cNvSpPr>
            <p:nvPr/>
          </p:nvSpPr>
          <p:spPr bwMode="auto">
            <a:xfrm>
              <a:off x="992188" y="2116138"/>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dirty="0">
                  <a:solidFill>
                    <a:schemeClr val="bg1"/>
                  </a:solidFill>
                  <a:latin typeface="Roboto" panose="02000000000000000000" pitchFamily="2" charset="0"/>
                  <a:ea typeface="Roboto" panose="02000000000000000000" pitchFamily="2" charset="0"/>
                </a:rPr>
                <a:t>B</a:t>
              </a:r>
              <a:r>
                <a:rPr lang="en-GB" altLang="en-US" sz="1200" dirty="0">
                  <a:solidFill>
                    <a:schemeClr val="bg1"/>
                  </a:solidFill>
                  <a:latin typeface="Roboto" panose="02000000000000000000" pitchFamily="2" charset="0"/>
                  <a:ea typeface="Roboto" panose="02000000000000000000" pitchFamily="2" charset="0"/>
                </a:rPr>
                <a:t>. 	Function Definition</a:t>
              </a:r>
            </a:p>
          </p:txBody>
        </p:sp>
        <p:sp>
          <p:nvSpPr>
            <p:cNvPr id="30" name="Rectangle 5">
              <a:extLst>
                <a:ext uri="{FF2B5EF4-FFF2-40B4-BE49-F238E27FC236}">
                  <a16:creationId xmlns:a16="http://schemas.microsoft.com/office/drawing/2014/main" id="{F0601C90-D740-4F27-F324-B1C687612E9E}"/>
                </a:ext>
              </a:extLst>
            </p:cNvPr>
            <p:cNvSpPr>
              <a:spLocks noChangeArrowheads="1"/>
            </p:cNvSpPr>
            <p:nvPr/>
          </p:nvSpPr>
          <p:spPr bwMode="auto">
            <a:xfrm>
              <a:off x="992188" y="2743200"/>
              <a:ext cx="1370012" cy="427038"/>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C</a:t>
              </a:r>
              <a:r>
                <a:rPr lang="en-GB" altLang="en-US" sz="1200">
                  <a:solidFill>
                    <a:schemeClr val="bg1"/>
                  </a:solidFill>
                  <a:latin typeface="Roboto" panose="02000000000000000000" pitchFamily="2" charset="0"/>
                  <a:ea typeface="Roboto" panose="02000000000000000000" pitchFamily="2" charset="0"/>
                </a:rPr>
                <a:t>. 	Product Alternatives</a:t>
              </a:r>
            </a:p>
          </p:txBody>
        </p:sp>
        <p:sp>
          <p:nvSpPr>
            <p:cNvPr id="31" name="Rectangle 6">
              <a:extLst>
                <a:ext uri="{FF2B5EF4-FFF2-40B4-BE49-F238E27FC236}">
                  <a16:creationId xmlns:a16="http://schemas.microsoft.com/office/drawing/2014/main" id="{44D0818F-4D21-526A-D2AF-320C2906CE95}"/>
                </a:ext>
              </a:extLst>
            </p:cNvPr>
            <p:cNvSpPr>
              <a:spLocks noChangeArrowheads="1"/>
            </p:cNvSpPr>
            <p:nvPr/>
          </p:nvSpPr>
          <p:spPr bwMode="auto">
            <a:xfrm>
              <a:off x="992188" y="3370263"/>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dirty="0">
                  <a:solidFill>
                    <a:schemeClr val="bg1"/>
                  </a:solidFill>
                  <a:latin typeface="Roboto" panose="02000000000000000000" pitchFamily="2" charset="0"/>
                  <a:ea typeface="Roboto" panose="02000000000000000000" pitchFamily="2" charset="0"/>
                </a:rPr>
                <a:t>D</a:t>
              </a:r>
              <a:r>
                <a:rPr lang="en-GB" altLang="en-US" sz="1200" dirty="0">
                  <a:solidFill>
                    <a:schemeClr val="bg1"/>
                  </a:solidFill>
                  <a:latin typeface="Roboto" panose="02000000000000000000" pitchFamily="2" charset="0"/>
                  <a:ea typeface="Roboto" panose="02000000000000000000" pitchFamily="2" charset="0"/>
                </a:rPr>
                <a:t>. 	Refine and Test</a:t>
              </a:r>
            </a:p>
          </p:txBody>
        </p:sp>
        <p:sp>
          <p:nvSpPr>
            <p:cNvPr id="32" name="Rectangle 8">
              <a:extLst>
                <a:ext uri="{FF2B5EF4-FFF2-40B4-BE49-F238E27FC236}">
                  <a16:creationId xmlns:a16="http://schemas.microsoft.com/office/drawing/2014/main" id="{6405F26E-63BB-2183-CB92-A077F8C10E6B}"/>
                </a:ext>
              </a:extLst>
            </p:cNvPr>
            <p:cNvSpPr>
              <a:spLocks noChangeArrowheads="1"/>
            </p:cNvSpPr>
            <p:nvPr/>
          </p:nvSpPr>
          <p:spPr bwMode="auto">
            <a:xfrm>
              <a:off x="992188" y="4403725"/>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E</a:t>
              </a:r>
              <a:r>
                <a:rPr lang="en-GB" altLang="en-US" sz="1200">
                  <a:solidFill>
                    <a:schemeClr val="bg1"/>
                  </a:solidFill>
                  <a:latin typeface="Roboto" panose="02000000000000000000" pitchFamily="2" charset="0"/>
                  <a:ea typeface="Roboto" panose="02000000000000000000" pitchFamily="2" charset="0"/>
                </a:rPr>
                <a:t>. 	Detail Design</a:t>
              </a:r>
            </a:p>
          </p:txBody>
        </p:sp>
        <p:sp>
          <p:nvSpPr>
            <p:cNvPr id="33" name="Rectangle 9">
              <a:extLst>
                <a:ext uri="{FF2B5EF4-FFF2-40B4-BE49-F238E27FC236}">
                  <a16:creationId xmlns:a16="http://schemas.microsoft.com/office/drawing/2014/main" id="{500FC25C-CD96-DDBD-2EF3-5E89B90D09FC}"/>
                </a:ext>
              </a:extLst>
            </p:cNvPr>
            <p:cNvSpPr>
              <a:spLocks noChangeArrowheads="1"/>
            </p:cNvSpPr>
            <p:nvPr/>
          </p:nvSpPr>
          <p:spPr bwMode="auto">
            <a:xfrm>
              <a:off x="992188" y="5056188"/>
              <a:ext cx="1370012"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9</a:t>
              </a:r>
              <a:r>
                <a:rPr lang="en-GB" altLang="en-US" sz="1200">
                  <a:solidFill>
                    <a:schemeClr val="bg1"/>
                  </a:solidFill>
                  <a:latin typeface="Roboto" panose="02000000000000000000" pitchFamily="2" charset="0"/>
                  <a:ea typeface="Roboto" panose="02000000000000000000" pitchFamily="2" charset="0"/>
                </a:rPr>
                <a:t>. 	Volume Production</a:t>
              </a:r>
            </a:p>
          </p:txBody>
        </p:sp>
        <p:sp>
          <p:nvSpPr>
            <p:cNvPr id="34" name="Rectangle 10">
              <a:extLst>
                <a:ext uri="{FF2B5EF4-FFF2-40B4-BE49-F238E27FC236}">
                  <a16:creationId xmlns:a16="http://schemas.microsoft.com/office/drawing/2014/main" id="{F54B3F80-B427-50F6-2D09-C2CF610A6CBB}"/>
                </a:ext>
              </a:extLst>
            </p:cNvPr>
            <p:cNvSpPr>
              <a:spLocks noChangeArrowheads="1"/>
            </p:cNvSpPr>
            <p:nvPr/>
          </p:nvSpPr>
          <p:spPr bwMode="auto">
            <a:xfrm>
              <a:off x="3649663" y="505618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8</a:t>
              </a:r>
              <a:r>
                <a:rPr lang="en-GB" altLang="en-US" sz="1200">
                  <a:solidFill>
                    <a:schemeClr val="bg1"/>
                  </a:solidFill>
                  <a:latin typeface="Roboto" panose="02000000000000000000" pitchFamily="2" charset="0"/>
                  <a:ea typeface="Roboto" panose="02000000000000000000" pitchFamily="2" charset="0"/>
                </a:rPr>
                <a:t>. 	Process Pilot</a:t>
              </a:r>
            </a:p>
          </p:txBody>
        </p:sp>
        <p:sp>
          <p:nvSpPr>
            <p:cNvPr id="35" name="Rectangle 11">
              <a:extLst>
                <a:ext uri="{FF2B5EF4-FFF2-40B4-BE49-F238E27FC236}">
                  <a16:creationId xmlns:a16="http://schemas.microsoft.com/office/drawing/2014/main" id="{29B0B0C6-F93B-2FF0-7081-EC42FDFC688C}"/>
                </a:ext>
              </a:extLst>
            </p:cNvPr>
            <p:cNvSpPr>
              <a:spLocks noChangeArrowheads="1"/>
            </p:cNvSpPr>
            <p:nvPr/>
          </p:nvSpPr>
          <p:spPr bwMode="auto">
            <a:xfrm>
              <a:off x="6396038" y="505618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7</a:t>
              </a:r>
              <a:r>
                <a:rPr lang="en-GB" altLang="en-US" sz="1200">
                  <a:solidFill>
                    <a:schemeClr val="bg1"/>
                  </a:solidFill>
                  <a:latin typeface="Roboto" panose="02000000000000000000" pitchFamily="2" charset="0"/>
                  <a:ea typeface="Roboto" panose="02000000000000000000" pitchFamily="2" charset="0"/>
                </a:rPr>
                <a:t>. 	Equipment Procurement</a:t>
              </a:r>
            </a:p>
          </p:txBody>
        </p:sp>
        <p:sp>
          <p:nvSpPr>
            <p:cNvPr id="36" name="Rectangle 12">
              <a:extLst>
                <a:ext uri="{FF2B5EF4-FFF2-40B4-BE49-F238E27FC236}">
                  <a16:creationId xmlns:a16="http://schemas.microsoft.com/office/drawing/2014/main" id="{2FAA9315-4999-1A65-32D8-1A89AC18274E}"/>
                </a:ext>
              </a:extLst>
            </p:cNvPr>
            <p:cNvSpPr>
              <a:spLocks noChangeArrowheads="1"/>
            </p:cNvSpPr>
            <p:nvPr/>
          </p:nvSpPr>
          <p:spPr bwMode="auto">
            <a:xfrm>
              <a:off x="3649663" y="3806825"/>
              <a:ext cx="1368425" cy="54610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4</a:t>
              </a:r>
              <a:r>
                <a:rPr lang="en-GB" altLang="en-US" sz="1200">
                  <a:solidFill>
                    <a:schemeClr val="bg1"/>
                  </a:solidFill>
                  <a:latin typeface="Roboto" panose="02000000000000000000" pitchFamily="2" charset="0"/>
                  <a:ea typeface="Roboto" panose="02000000000000000000" pitchFamily="2" charset="0"/>
                </a:rPr>
                <a:t>. 	Trials: Design &amp; Process</a:t>
              </a:r>
            </a:p>
          </p:txBody>
        </p:sp>
        <p:sp>
          <p:nvSpPr>
            <p:cNvPr id="37" name="Rectangle 14">
              <a:extLst>
                <a:ext uri="{FF2B5EF4-FFF2-40B4-BE49-F238E27FC236}">
                  <a16:creationId xmlns:a16="http://schemas.microsoft.com/office/drawing/2014/main" id="{3C5ACA90-CE88-40EF-70E8-EF6E2BCF3CC4}"/>
                </a:ext>
              </a:extLst>
            </p:cNvPr>
            <p:cNvSpPr>
              <a:spLocks noChangeArrowheads="1"/>
            </p:cNvSpPr>
            <p:nvPr/>
          </p:nvSpPr>
          <p:spPr bwMode="auto">
            <a:xfrm>
              <a:off x="6396038" y="4403725"/>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6</a:t>
              </a:r>
              <a:r>
                <a:rPr lang="en-GB" altLang="en-US" sz="1200">
                  <a:solidFill>
                    <a:schemeClr val="bg1"/>
                  </a:solidFill>
                  <a:latin typeface="Roboto" panose="02000000000000000000" pitchFamily="2" charset="0"/>
                  <a:ea typeface="Roboto" panose="02000000000000000000" pitchFamily="2" charset="0"/>
                </a:rPr>
                <a:t>. 	Equipment Planning</a:t>
              </a:r>
            </a:p>
          </p:txBody>
        </p:sp>
        <p:sp>
          <p:nvSpPr>
            <p:cNvPr id="38" name="Rectangle 15">
              <a:extLst>
                <a:ext uri="{FF2B5EF4-FFF2-40B4-BE49-F238E27FC236}">
                  <a16:creationId xmlns:a16="http://schemas.microsoft.com/office/drawing/2014/main" id="{7507D851-168C-9640-3268-C256EBCFB5A2}"/>
                </a:ext>
              </a:extLst>
            </p:cNvPr>
            <p:cNvSpPr>
              <a:spLocks noChangeArrowheads="1"/>
            </p:cNvSpPr>
            <p:nvPr/>
          </p:nvSpPr>
          <p:spPr bwMode="auto">
            <a:xfrm>
              <a:off x="6396038" y="3544888"/>
              <a:ext cx="1368425" cy="5778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5</a:t>
              </a:r>
              <a:r>
                <a:rPr lang="en-GB" altLang="en-US" sz="1200">
                  <a:solidFill>
                    <a:schemeClr val="bg1"/>
                  </a:solidFill>
                  <a:latin typeface="Roboto" panose="02000000000000000000" pitchFamily="2" charset="0"/>
                  <a:ea typeface="Roboto" panose="02000000000000000000" pitchFamily="2" charset="0"/>
                </a:rPr>
                <a:t>. 	Detail Production Process</a:t>
              </a:r>
            </a:p>
          </p:txBody>
        </p:sp>
        <p:sp>
          <p:nvSpPr>
            <p:cNvPr id="39" name="Rectangle 16">
              <a:extLst>
                <a:ext uri="{FF2B5EF4-FFF2-40B4-BE49-F238E27FC236}">
                  <a16:creationId xmlns:a16="http://schemas.microsoft.com/office/drawing/2014/main" id="{CC071CD3-3A9D-ECCF-002F-5CB72B92A6CD}"/>
                </a:ext>
              </a:extLst>
            </p:cNvPr>
            <p:cNvSpPr>
              <a:spLocks noChangeArrowheads="1"/>
            </p:cNvSpPr>
            <p:nvPr/>
          </p:nvSpPr>
          <p:spPr bwMode="auto">
            <a:xfrm>
              <a:off x="6396038" y="288448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3</a:t>
              </a:r>
              <a:r>
                <a:rPr lang="en-GB" altLang="en-US" sz="1200">
                  <a:solidFill>
                    <a:schemeClr val="bg1"/>
                  </a:solidFill>
                  <a:latin typeface="Roboto" panose="02000000000000000000" pitchFamily="2" charset="0"/>
                  <a:ea typeface="Roboto" panose="02000000000000000000" pitchFamily="2" charset="0"/>
                </a:rPr>
                <a:t>. 	Refine and Test</a:t>
              </a:r>
            </a:p>
          </p:txBody>
        </p:sp>
        <p:sp>
          <p:nvSpPr>
            <p:cNvPr id="40" name="Rectangle 17">
              <a:extLst>
                <a:ext uri="{FF2B5EF4-FFF2-40B4-BE49-F238E27FC236}">
                  <a16:creationId xmlns:a16="http://schemas.microsoft.com/office/drawing/2014/main" id="{F79AF7C2-0D73-DD05-306B-5B3283745AE3}"/>
                </a:ext>
              </a:extLst>
            </p:cNvPr>
            <p:cNvSpPr>
              <a:spLocks noChangeArrowheads="1"/>
            </p:cNvSpPr>
            <p:nvPr/>
          </p:nvSpPr>
          <p:spPr bwMode="auto">
            <a:xfrm>
              <a:off x="6396038" y="219233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2</a:t>
              </a:r>
              <a:r>
                <a:rPr lang="en-GB" altLang="en-US" sz="1200">
                  <a:solidFill>
                    <a:schemeClr val="bg1"/>
                  </a:solidFill>
                  <a:latin typeface="Roboto" panose="02000000000000000000" pitchFamily="2" charset="0"/>
                  <a:ea typeface="Roboto" panose="02000000000000000000" pitchFamily="2" charset="0"/>
                </a:rPr>
                <a:t>. 	Process Alternatives</a:t>
              </a:r>
            </a:p>
          </p:txBody>
        </p:sp>
        <p:sp>
          <p:nvSpPr>
            <p:cNvPr id="41" name="Rectangle 18">
              <a:extLst>
                <a:ext uri="{FF2B5EF4-FFF2-40B4-BE49-F238E27FC236}">
                  <a16:creationId xmlns:a16="http://schemas.microsoft.com/office/drawing/2014/main" id="{7E97859B-74AD-897E-5C2C-95517FC0838D}"/>
                </a:ext>
              </a:extLst>
            </p:cNvPr>
            <p:cNvSpPr>
              <a:spLocks noChangeArrowheads="1"/>
            </p:cNvSpPr>
            <p:nvPr/>
          </p:nvSpPr>
          <p:spPr bwMode="auto">
            <a:xfrm>
              <a:off x="6396038" y="1490663"/>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a:t>
              </a:r>
              <a:r>
                <a:rPr lang="en-GB" altLang="en-US" sz="1200">
                  <a:solidFill>
                    <a:schemeClr val="bg1"/>
                  </a:solidFill>
                  <a:latin typeface="Roboto" panose="02000000000000000000" pitchFamily="2" charset="0"/>
                  <a:ea typeface="Roboto" panose="02000000000000000000" pitchFamily="2" charset="0"/>
                </a:rPr>
                <a:t>. 	Production Planning</a:t>
              </a:r>
            </a:p>
          </p:txBody>
        </p:sp>
        <p:cxnSp>
          <p:nvCxnSpPr>
            <p:cNvPr id="42" name="Straight Arrow Connector 29">
              <a:extLst>
                <a:ext uri="{FF2B5EF4-FFF2-40B4-BE49-F238E27FC236}">
                  <a16:creationId xmlns:a16="http://schemas.microsoft.com/office/drawing/2014/main" id="{FFA71C9B-83DB-C609-EE01-126AEC5607A4}"/>
                </a:ext>
              </a:extLst>
            </p:cNvPr>
            <p:cNvCxnSpPr>
              <a:cxnSpLocks noChangeShapeType="1"/>
              <a:stCxn id="28" idx="2"/>
              <a:endCxn id="29" idx="0"/>
            </p:cNvCxnSpPr>
            <p:nvPr/>
          </p:nvCxnSpPr>
          <p:spPr bwMode="auto">
            <a:xfrm rot="5400000">
              <a:off x="1584325" y="2008188"/>
              <a:ext cx="185737"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3" name="Straight Arrow Connector 31">
              <a:extLst>
                <a:ext uri="{FF2B5EF4-FFF2-40B4-BE49-F238E27FC236}">
                  <a16:creationId xmlns:a16="http://schemas.microsoft.com/office/drawing/2014/main" id="{F81DE2D0-3A6A-DC46-B91B-4BE654FD4EBC}"/>
                </a:ext>
              </a:extLst>
            </p:cNvPr>
            <p:cNvCxnSpPr>
              <a:cxnSpLocks noChangeShapeType="1"/>
              <a:stCxn id="29" idx="2"/>
              <a:endCxn id="30" idx="0"/>
            </p:cNvCxnSpPr>
            <p:nvPr/>
          </p:nvCxnSpPr>
          <p:spPr bwMode="auto">
            <a:xfrm rot="5400000">
              <a:off x="1573212" y="2630488"/>
              <a:ext cx="207963"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4" name="Straight Arrow Connector 33">
              <a:extLst>
                <a:ext uri="{FF2B5EF4-FFF2-40B4-BE49-F238E27FC236}">
                  <a16:creationId xmlns:a16="http://schemas.microsoft.com/office/drawing/2014/main" id="{D2F8CD37-B1AD-650F-4A0D-FAB885448F75}"/>
                </a:ext>
              </a:extLst>
            </p:cNvPr>
            <p:cNvCxnSpPr>
              <a:cxnSpLocks noChangeShapeType="1"/>
              <a:stCxn id="30" idx="2"/>
              <a:endCxn id="31" idx="0"/>
            </p:cNvCxnSpPr>
            <p:nvPr/>
          </p:nvCxnSpPr>
          <p:spPr bwMode="auto">
            <a:xfrm rot="5400000">
              <a:off x="1573212" y="3265488"/>
              <a:ext cx="207963"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5" name="Straight Arrow Connector 39">
              <a:extLst>
                <a:ext uri="{FF2B5EF4-FFF2-40B4-BE49-F238E27FC236}">
                  <a16:creationId xmlns:a16="http://schemas.microsoft.com/office/drawing/2014/main" id="{225F30E3-9429-56C7-A97F-1125CC210415}"/>
                </a:ext>
              </a:extLst>
            </p:cNvPr>
            <p:cNvCxnSpPr>
              <a:cxnSpLocks noChangeShapeType="1"/>
              <a:stCxn id="41" idx="2"/>
              <a:endCxn id="40" idx="0"/>
            </p:cNvCxnSpPr>
            <p:nvPr/>
          </p:nvCxnSpPr>
          <p:spPr bwMode="auto">
            <a:xfrm rot="5400000">
              <a:off x="6942931" y="2053432"/>
              <a:ext cx="276225"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6" name="Straight Arrow Connector 41">
              <a:extLst>
                <a:ext uri="{FF2B5EF4-FFF2-40B4-BE49-F238E27FC236}">
                  <a16:creationId xmlns:a16="http://schemas.microsoft.com/office/drawing/2014/main" id="{03DD0A0C-4292-115E-C111-60091589AF8F}"/>
                </a:ext>
              </a:extLst>
            </p:cNvPr>
            <p:cNvCxnSpPr>
              <a:cxnSpLocks noChangeShapeType="1"/>
              <a:stCxn id="40" idx="2"/>
              <a:endCxn id="39" idx="0"/>
            </p:cNvCxnSpPr>
            <p:nvPr/>
          </p:nvCxnSpPr>
          <p:spPr bwMode="auto">
            <a:xfrm rot="5400000">
              <a:off x="6946107" y="2750344"/>
              <a:ext cx="266700"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7" name="Straight Arrow Connector 43">
              <a:extLst>
                <a:ext uri="{FF2B5EF4-FFF2-40B4-BE49-F238E27FC236}">
                  <a16:creationId xmlns:a16="http://schemas.microsoft.com/office/drawing/2014/main" id="{0FCCDCC6-47DF-D56F-D21B-77B33039A341}"/>
                </a:ext>
              </a:extLst>
            </p:cNvPr>
            <p:cNvCxnSpPr>
              <a:cxnSpLocks noChangeShapeType="1"/>
              <a:stCxn id="39" idx="2"/>
              <a:endCxn id="38" idx="0"/>
            </p:cNvCxnSpPr>
            <p:nvPr/>
          </p:nvCxnSpPr>
          <p:spPr bwMode="auto">
            <a:xfrm rot="5400000">
              <a:off x="6963569" y="3426619"/>
              <a:ext cx="234950"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8" name="Straight Arrow Connector 45">
              <a:extLst>
                <a:ext uri="{FF2B5EF4-FFF2-40B4-BE49-F238E27FC236}">
                  <a16:creationId xmlns:a16="http://schemas.microsoft.com/office/drawing/2014/main" id="{0AFE1F29-5C80-1C7E-D4E2-8A988AC44CC1}"/>
                </a:ext>
              </a:extLst>
            </p:cNvPr>
            <p:cNvCxnSpPr>
              <a:cxnSpLocks noChangeShapeType="1"/>
              <a:stCxn id="37" idx="2"/>
              <a:endCxn id="35" idx="0"/>
            </p:cNvCxnSpPr>
            <p:nvPr/>
          </p:nvCxnSpPr>
          <p:spPr bwMode="auto">
            <a:xfrm rot="5400000">
              <a:off x="6966744" y="4942681"/>
              <a:ext cx="228600"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9" name="Straight Arrow Connector 47">
              <a:extLst>
                <a:ext uri="{FF2B5EF4-FFF2-40B4-BE49-F238E27FC236}">
                  <a16:creationId xmlns:a16="http://schemas.microsoft.com/office/drawing/2014/main" id="{2478210D-862D-98CC-FEA7-23750A2C9E6B}"/>
                </a:ext>
              </a:extLst>
            </p:cNvPr>
            <p:cNvCxnSpPr>
              <a:cxnSpLocks noChangeShapeType="1"/>
              <a:stCxn id="35" idx="1"/>
              <a:endCxn id="34" idx="3"/>
            </p:cNvCxnSpPr>
            <p:nvPr/>
          </p:nvCxnSpPr>
          <p:spPr bwMode="auto">
            <a:xfrm rot="10800000">
              <a:off x="5018088" y="5268913"/>
              <a:ext cx="1377950"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0" name="Straight Arrow Connector 49">
              <a:extLst>
                <a:ext uri="{FF2B5EF4-FFF2-40B4-BE49-F238E27FC236}">
                  <a16:creationId xmlns:a16="http://schemas.microsoft.com/office/drawing/2014/main" id="{542DA5D6-1BD9-BD83-188C-FD8CDE93AC28}"/>
                </a:ext>
              </a:extLst>
            </p:cNvPr>
            <p:cNvCxnSpPr>
              <a:cxnSpLocks noChangeShapeType="1"/>
              <a:stCxn id="34" idx="1"/>
              <a:endCxn id="33" idx="3"/>
            </p:cNvCxnSpPr>
            <p:nvPr/>
          </p:nvCxnSpPr>
          <p:spPr bwMode="auto">
            <a:xfrm rot="10800000">
              <a:off x="2362200" y="5268913"/>
              <a:ext cx="1287463"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1" name="Straight Arrow Connector 51">
              <a:extLst>
                <a:ext uri="{FF2B5EF4-FFF2-40B4-BE49-F238E27FC236}">
                  <a16:creationId xmlns:a16="http://schemas.microsoft.com/office/drawing/2014/main" id="{449304AE-E78E-53C8-2DD6-3B898C02116F}"/>
                </a:ext>
              </a:extLst>
            </p:cNvPr>
            <p:cNvCxnSpPr>
              <a:cxnSpLocks noChangeShapeType="1"/>
              <a:stCxn id="32" idx="3"/>
              <a:endCxn id="37" idx="1"/>
            </p:cNvCxnSpPr>
            <p:nvPr/>
          </p:nvCxnSpPr>
          <p:spPr bwMode="auto">
            <a:xfrm>
              <a:off x="2362200" y="4616450"/>
              <a:ext cx="4033838"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2" name="Straight Arrow Connector 53">
              <a:extLst>
                <a:ext uri="{FF2B5EF4-FFF2-40B4-BE49-F238E27FC236}">
                  <a16:creationId xmlns:a16="http://schemas.microsoft.com/office/drawing/2014/main" id="{2C2E5566-E635-C39C-5877-CACF7CA4C2EA}"/>
                </a:ext>
              </a:extLst>
            </p:cNvPr>
            <p:cNvCxnSpPr>
              <a:cxnSpLocks noChangeShapeType="1"/>
              <a:stCxn id="36" idx="3"/>
              <a:endCxn id="38" idx="1"/>
            </p:cNvCxnSpPr>
            <p:nvPr/>
          </p:nvCxnSpPr>
          <p:spPr bwMode="auto">
            <a:xfrm flipV="1">
              <a:off x="5018088" y="3833813"/>
              <a:ext cx="1377950" cy="246062"/>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3" name="Straight Arrow Connector 55">
              <a:extLst>
                <a:ext uri="{FF2B5EF4-FFF2-40B4-BE49-F238E27FC236}">
                  <a16:creationId xmlns:a16="http://schemas.microsoft.com/office/drawing/2014/main" id="{C07F6AD3-2E16-15C7-3FB3-1FB0DDB483C1}"/>
                </a:ext>
              </a:extLst>
            </p:cNvPr>
            <p:cNvCxnSpPr>
              <a:cxnSpLocks noChangeShapeType="1"/>
              <a:stCxn id="31" idx="3"/>
            </p:cNvCxnSpPr>
            <p:nvPr/>
          </p:nvCxnSpPr>
          <p:spPr bwMode="auto">
            <a:xfrm>
              <a:off x="2362200" y="3582988"/>
              <a:ext cx="1266825" cy="234950"/>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4" name="Straight Arrow Connector 57">
              <a:extLst>
                <a:ext uri="{FF2B5EF4-FFF2-40B4-BE49-F238E27FC236}">
                  <a16:creationId xmlns:a16="http://schemas.microsoft.com/office/drawing/2014/main" id="{BD2FE30C-7279-8A8D-A3C3-C79F0BA76A41}"/>
                </a:ext>
              </a:extLst>
            </p:cNvPr>
            <p:cNvCxnSpPr>
              <a:cxnSpLocks noChangeShapeType="1"/>
            </p:cNvCxnSpPr>
            <p:nvPr/>
          </p:nvCxnSpPr>
          <p:spPr bwMode="auto">
            <a:xfrm rot="10800000" flipV="1">
              <a:off x="2351088" y="4340225"/>
              <a:ext cx="1320800" cy="87313"/>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5" name="Straight Arrow Connector 59">
              <a:extLst>
                <a:ext uri="{FF2B5EF4-FFF2-40B4-BE49-F238E27FC236}">
                  <a16:creationId xmlns:a16="http://schemas.microsoft.com/office/drawing/2014/main" id="{979248AE-28D5-E238-8400-AA7AFDB506D0}"/>
                </a:ext>
              </a:extLst>
            </p:cNvPr>
            <p:cNvCxnSpPr>
              <a:cxnSpLocks noChangeShapeType="1"/>
              <a:stCxn id="39" idx="1"/>
            </p:cNvCxnSpPr>
            <p:nvPr/>
          </p:nvCxnSpPr>
          <p:spPr bwMode="auto">
            <a:xfrm rot="10800000" flipV="1">
              <a:off x="5006975" y="3097213"/>
              <a:ext cx="1389063" cy="720725"/>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6" name="Straight Arrow Connector 61">
              <a:extLst>
                <a:ext uri="{FF2B5EF4-FFF2-40B4-BE49-F238E27FC236}">
                  <a16:creationId xmlns:a16="http://schemas.microsoft.com/office/drawing/2014/main" id="{0E3D06E5-7D11-DF2C-52A4-354A82C96EB9}"/>
                </a:ext>
              </a:extLst>
            </p:cNvPr>
            <p:cNvCxnSpPr>
              <a:cxnSpLocks noChangeShapeType="1"/>
            </p:cNvCxnSpPr>
            <p:nvPr/>
          </p:nvCxnSpPr>
          <p:spPr bwMode="auto">
            <a:xfrm>
              <a:off x="5021263" y="4340225"/>
              <a:ext cx="1379537" cy="87313"/>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sp>
          <p:nvSpPr>
            <p:cNvPr id="57" name="Quad Arrow Callout 62">
              <a:extLst>
                <a:ext uri="{FF2B5EF4-FFF2-40B4-BE49-F238E27FC236}">
                  <a16:creationId xmlns:a16="http://schemas.microsoft.com/office/drawing/2014/main" id="{8B358EF4-7EC1-6CF3-2A56-603E803C0CD7}"/>
                </a:ext>
              </a:extLst>
            </p:cNvPr>
            <p:cNvSpPr/>
            <p:nvPr/>
          </p:nvSpPr>
          <p:spPr bwMode="auto">
            <a:xfrm>
              <a:off x="3279775" y="1954213"/>
              <a:ext cx="2049463" cy="1639887"/>
            </a:xfrm>
            <a:prstGeom prst="quadArrowCallout">
              <a:avLst/>
            </a:prstGeom>
            <a:solidFill>
              <a:srgbClr val="808080"/>
            </a:solidFill>
            <a:ln w="12700" cap="sq" cmpd="sng" algn="ctr">
              <a:no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r>
                <a:rPr lang="en-GB" sz="1200" dirty="0">
                  <a:solidFill>
                    <a:schemeClr val="bg1"/>
                  </a:solidFill>
                  <a:latin typeface="Roboto" panose="02000000000000000000" pitchFamily="2" charset="0"/>
                  <a:ea typeface="Roboto" panose="02000000000000000000" pitchFamily="2" charset="0"/>
                </a:rPr>
                <a:t>Constant Interaction Between Paths</a:t>
              </a:r>
            </a:p>
          </p:txBody>
        </p:sp>
        <p:sp>
          <p:nvSpPr>
            <p:cNvPr id="58" name="Rectangle 9">
              <a:extLst>
                <a:ext uri="{FF2B5EF4-FFF2-40B4-BE49-F238E27FC236}">
                  <a16:creationId xmlns:a16="http://schemas.microsoft.com/office/drawing/2014/main" id="{1EA43CD5-B57A-36D7-19A1-11FC0AE77807}"/>
                </a:ext>
              </a:extLst>
            </p:cNvPr>
            <p:cNvSpPr>
              <a:spLocks noChangeArrowheads="1"/>
            </p:cNvSpPr>
            <p:nvPr/>
          </p:nvSpPr>
          <p:spPr bwMode="auto">
            <a:xfrm>
              <a:off x="992188" y="5688013"/>
              <a:ext cx="1370012" cy="42545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10</a:t>
              </a:r>
              <a:r>
                <a:rPr lang="en-GB" altLang="en-US" sz="1200">
                  <a:solidFill>
                    <a:schemeClr val="bg1"/>
                  </a:solidFill>
                  <a:latin typeface="Roboto" panose="02000000000000000000" pitchFamily="2" charset="0"/>
                  <a:ea typeface="Roboto" panose="02000000000000000000" pitchFamily="2" charset="0"/>
                </a:rPr>
                <a:t>. Installation</a:t>
              </a:r>
            </a:p>
          </p:txBody>
        </p:sp>
        <p:sp>
          <p:nvSpPr>
            <p:cNvPr id="59" name="Rectangle 10">
              <a:extLst>
                <a:ext uri="{FF2B5EF4-FFF2-40B4-BE49-F238E27FC236}">
                  <a16:creationId xmlns:a16="http://schemas.microsoft.com/office/drawing/2014/main" id="{61FC2B5C-E06A-DBC3-81D5-BE1BE982EBD2}"/>
                </a:ext>
              </a:extLst>
            </p:cNvPr>
            <p:cNvSpPr>
              <a:spLocks noChangeArrowheads="1"/>
            </p:cNvSpPr>
            <p:nvPr/>
          </p:nvSpPr>
          <p:spPr bwMode="auto">
            <a:xfrm>
              <a:off x="3641725" y="5688013"/>
              <a:ext cx="1368425" cy="42545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11</a:t>
              </a:r>
              <a:r>
                <a:rPr lang="en-GB" altLang="en-US" sz="1200">
                  <a:solidFill>
                    <a:schemeClr val="bg1"/>
                  </a:solidFill>
                  <a:latin typeface="Roboto" panose="02000000000000000000" pitchFamily="2" charset="0"/>
                  <a:ea typeface="Roboto" panose="02000000000000000000" pitchFamily="2" charset="0"/>
                </a:rPr>
                <a:t>. Service</a:t>
              </a:r>
            </a:p>
          </p:txBody>
        </p:sp>
        <p:sp>
          <p:nvSpPr>
            <p:cNvPr id="60" name="Rectangle 11">
              <a:extLst>
                <a:ext uri="{FF2B5EF4-FFF2-40B4-BE49-F238E27FC236}">
                  <a16:creationId xmlns:a16="http://schemas.microsoft.com/office/drawing/2014/main" id="{88DA6167-D48D-D02A-D063-23AB47AF5EFE}"/>
                </a:ext>
              </a:extLst>
            </p:cNvPr>
            <p:cNvSpPr>
              <a:spLocks noChangeArrowheads="1"/>
            </p:cNvSpPr>
            <p:nvPr/>
          </p:nvSpPr>
          <p:spPr bwMode="auto">
            <a:xfrm>
              <a:off x="6388100" y="5688013"/>
              <a:ext cx="1368425" cy="42545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12</a:t>
              </a:r>
              <a:r>
                <a:rPr lang="en-GB" altLang="en-US" sz="1200">
                  <a:solidFill>
                    <a:schemeClr val="bg1"/>
                  </a:solidFill>
                  <a:latin typeface="Roboto" panose="02000000000000000000" pitchFamily="2" charset="0"/>
                  <a:ea typeface="Roboto" panose="02000000000000000000" pitchFamily="2" charset="0"/>
                </a:rPr>
                <a:t>. End of Life</a:t>
              </a:r>
            </a:p>
          </p:txBody>
        </p:sp>
        <p:cxnSp>
          <p:nvCxnSpPr>
            <p:cNvPr id="61" name="Straight Arrow Connector 41">
              <a:extLst>
                <a:ext uri="{FF2B5EF4-FFF2-40B4-BE49-F238E27FC236}">
                  <a16:creationId xmlns:a16="http://schemas.microsoft.com/office/drawing/2014/main" id="{F9D1A7A8-8B7A-A169-FACF-2BBF9D645524}"/>
                </a:ext>
              </a:extLst>
            </p:cNvPr>
            <p:cNvCxnSpPr>
              <a:cxnSpLocks noChangeShapeType="1"/>
            </p:cNvCxnSpPr>
            <p:nvPr/>
          </p:nvCxnSpPr>
          <p:spPr bwMode="auto">
            <a:xfrm rot="5400000">
              <a:off x="1574800" y="5584825"/>
              <a:ext cx="204788"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2" name="Straight Arrow Connector 43">
              <a:extLst>
                <a:ext uri="{FF2B5EF4-FFF2-40B4-BE49-F238E27FC236}">
                  <a16:creationId xmlns:a16="http://schemas.microsoft.com/office/drawing/2014/main" id="{6103C272-BA2A-6E13-4FFF-B2E0C213BE09}"/>
                </a:ext>
              </a:extLst>
            </p:cNvPr>
            <p:cNvCxnSpPr>
              <a:cxnSpLocks noChangeShapeType="1"/>
              <a:stCxn id="58" idx="3"/>
              <a:endCxn id="59" idx="1"/>
            </p:cNvCxnSpPr>
            <p:nvPr/>
          </p:nvCxnSpPr>
          <p:spPr bwMode="auto">
            <a:xfrm>
              <a:off x="2362200" y="5900738"/>
              <a:ext cx="1279525"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3" name="Straight Arrow Connector 45">
              <a:extLst>
                <a:ext uri="{FF2B5EF4-FFF2-40B4-BE49-F238E27FC236}">
                  <a16:creationId xmlns:a16="http://schemas.microsoft.com/office/drawing/2014/main" id="{48832D6C-DBFB-161F-E63B-DA94A3CBD91B}"/>
                </a:ext>
              </a:extLst>
            </p:cNvPr>
            <p:cNvCxnSpPr>
              <a:cxnSpLocks noChangeShapeType="1"/>
              <a:stCxn id="59" idx="3"/>
              <a:endCxn id="60" idx="1"/>
            </p:cNvCxnSpPr>
            <p:nvPr/>
          </p:nvCxnSpPr>
          <p:spPr bwMode="auto">
            <a:xfrm>
              <a:off x="5010150" y="5900738"/>
              <a:ext cx="1377950"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4" name="Straight Arrow Connector 47">
              <a:extLst>
                <a:ext uri="{FF2B5EF4-FFF2-40B4-BE49-F238E27FC236}">
                  <a16:creationId xmlns:a16="http://schemas.microsoft.com/office/drawing/2014/main" id="{91EB0532-42A9-987F-C327-8DA8D9C6C2D3}"/>
                </a:ext>
              </a:extLst>
            </p:cNvPr>
            <p:cNvCxnSpPr>
              <a:cxnSpLocks noChangeShapeType="1"/>
            </p:cNvCxnSpPr>
            <p:nvPr/>
          </p:nvCxnSpPr>
          <p:spPr bwMode="auto">
            <a:xfrm>
              <a:off x="2365375" y="1701800"/>
              <a:ext cx="4030663"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977791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5 Steps to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342900" indent="-342900">
              <a:buFont typeface="Wingdings" panose="05000000000000000000" pitchFamily="2" charset="2"/>
              <a:buAutoNum type="arabicPeriod"/>
            </a:pPr>
            <a:r>
              <a:rPr lang="en-US" altLang="en-US" dirty="0"/>
              <a:t>Define Product/Process Design Objectives/Needs</a:t>
            </a:r>
          </a:p>
          <a:p>
            <a:pPr marL="342900" indent="-342900">
              <a:buFont typeface="Wingdings" panose="05000000000000000000" pitchFamily="2" charset="2"/>
              <a:buAutoNum type="arabicPeriod"/>
            </a:pPr>
            <a:r>
              <a:rPr lang="en-US" altLang="en-US" dirty="0"/>
              <a:t>Study Alternatives by Diagramming and Finding and Analyze Examples from Nature or other sources</a:t>
            </a:r>
          </a:p>
          <a:p>
            <a:pPr marL="342900" indent="-342900">
              <a:buFont typeface="Wingdings" panose="05000000000000000000" pitchFamily="2" charset="2"/>
              <a:buAutoNum type="arabicPeriod"/>
            </a:pPr>
            <a:r>
              <a:rPr lang="en-US" altLang="en-US" dirty="0"/>
              <a:t>Sketch and Evaluate Alternative Process Steps</a:t>
            </a:r>
          </a:p>
          <a:p>
            <a:pPr marL="342900" indent="-342900">
              <a:buFont typeface="Wingdings" panose="05000000000000000000" pitchFamily="2" charset="2"/>
              <a:buAutoNum type="arabicPeriod"/>
            </a:pPr>
            <a:r>
              <a:rPr lang="en-US" altLang="en-US" dirty="0"/>
              <a:t>Build, Present, and Select Process Prototypes</a:t>
            </a:r>
          </a:p>
          <a:p>
            <a:pPr marL="342900" indent="-342900">
              <a:buFont typeface="Wingdings" panose="05000000000000000000" pitchFamily="2" charset="2"/>
              <a:buAutoNum type="arabicPeriod"/>
            </a:pPr>
            <a:r>
              <a:rPr lang="en-US" altLang="en-US" dirty="0"/>
              <a:t>Develop Implementation Plans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22</a:t>
            </a:fld>
            <a:endParaRPr lang="en-US"/>
          </a:p>
        </p:txBody>
      </p:sp>
    </p:spTree>
    <p:extLst>
      <p:ext uri="{BB962C8B-B14F-4D97-AF65-F5344CB8AC3E}">
        <p14:creationId xmlns:p14="http://schemas.microsoft.com/office/powerpoint/2010/main" val="1039111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aphicFrame>
        <p:nvGraphicFramePr>
          <p:cNvPr id="16" name="Group 175">
            <a:extLst>
              <a:ext uri="{FF2B5EF4-FFF2-40B4-BE49-F238E27FC236}">
                <a16:creationId xmlns:a16="http://schemas.microsoft.com/office/drawing/2014/main" id="{BD4F62F8-DE4A-93CD-FAA6-6BB04D1B07E0}"/>
              </a:ext>
            </a:extLst>
          </p:cNvPr>
          <p:cNvGraphicFramePr>
            <a:graphicFrameLocks noGrp="1"/>
          </p:cNvGraphicFramePr>
          <p:nvPr/>
        </p:nvGraphicFramePr>
        <p:xfrm>
          <a:off x="1415415" y="1949391"/>
          <a:ext cx="9361170" cy="4233223"/>
        </p:xfrm>
        <a:graphic>
          <a:graphicData uri="http://schemas.openxmlformats.org/drawingml/2006/table">
            <a:tbl>
              <a:tblPr/>
              <a:tblGrid>
                <a:gridCol w="3120390">
                  <a:extLst>
                    <a:ext uri="{9D8B030D-6E8A-4147-A177-3AD203B41FA5}">
                      <a16:colId xmlns:a16="http://schemas.microsoft.com/office/drawing/2014/main" val="20000"/>
                    </a:ext>
                  </a:extLst>
                </a:gridCol>
                <a:gridCol w="3120390">
                  <a:extLst>
                    <a:ext uri="{9D8B030D-6E8A-4147-A177-3AD203B41FA5}">
                      <a16:colId xmlns:a16="http://schemas.microsoft.com/office/drawing/2014/main" val="20001"/>
                    </a:ext>
                  </a:extLst>
                </a:gridCol>
                <a:gridCol w="3120390">
                  <a:extLst>
                    <a:ext uri="{9D8B030D-6E8A-4147-A177-3AD203B41FA5}">
                      <a16:colId xmlns:a16="http://schemas.microsoft.com/office/drawing/2014/main" val="20002"/>
                    </a:ext>
                  </a:extLst>
                </a:gridCol>
              </a:tblGrid>
              <a:tr h="32943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 – Leadership 3P Awareness</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2 – Select target area and team</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3 – Collect data</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3363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903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54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4 – Train Team</a:t>
                      </a:r>
                      <a:endParaRPr kumimoji="0" lang="en-US" altLang="en-US" sz="24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5 – Design Criteria</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6 – 3P Lab</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608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3" name="Image" descr="Image">
            <a:extLst>
              <a:ext uri="{FF2B5EF4-FFF2-40B4-BE49-F238E27FC236}">
                <a16:creationId xmlns:a16="http://schemas.microsoft.com/office/drawing/2014/main" id="{CCD207A5-733A-5C54-383B-48F425626189}"/>
              </a:ext>
            </a:extLst>
          </p:cNvPr>
          <p:cNvPicPr>
            <a:picLocks noChangeAspect="1"/>
          </p:cNvPicPr>
          <p:nvPr/>
        </p:nvPicPr>
        <p:blipFill>
          <a:blip r:embed="rId3"/>
          <a:stretch>
            <a:fillRect/>
          </a:stretch>
        </p:blipFill>
        <p:spPr>
          <a:xfrm>
            <a:off x="2396901" y="2434217"/>
            <a:ext cx="957764" cy="1396145"/>
          </a:xfrm>
          <a:prstGeom prst="rect">
            <a:avLst/>
          </a:prstGeom>
          <a:ln w="12700" cap="flat">
            <a:noFill/>
            <a:miter lim="400000"/>
          </a:ln>
          <a:effectLst/>
        </p:spPr>
      </p:pic>
      <p:pic>
        <p:nvPicPr>
          <p:cNvPr id="15" name="Image" descr="Image">
            <a:extLst>
              <a:ext uri="{FF2B5EF4-FFF2-40B4-BE49-F238E27FC236}">
                <a16:creationId xmlns:a16="http://schemas.microsoft.com/office/drawing/2014/main" id="{FEDB39EC-7865-910A-9686-2837C4EA6B82}"/>
              </a:ext>
            </a:extLst>
          </p:cNvPr>
          <p:cNvPicPr>
            <a:picLocks noChangeAspect="1"/>
          </p:cNvPicPr>
          <p:nvPr/>
        </p:nvPicPr>
        <p:blipFill>
          <a:blip r:embed="rId4"/>
          <a:stretch>
            <a:fillRect/>
          </a:stretch>
        </p:blipFill>
        <p:spPr>
          <a:xfrm>
            <a:off x="5571325" y="4661456"/>
            <a:ext cx="1049272" cy="1399032"/>
          </a:xfrm>
          <a:prstGeom prst="rect">
            <a:avLst/>
          </a:prstGeom>
          <a:ln w="12700" cap="flat">
            <a:noFill/>
            <a:miter lim="400000"/>
          </a:ln>
          <a:effectLst/>
        </p:spPr>
      </p:pic>
      <p:pic>
        <p:nvPicPr>
          <p:cNvPr id="17" name="Image" descr="Image">
            <a:extLst>
              <a:ext uri="{FF2B5EF4-FFF2-40B4-BE49-F238E27FC236}">
                <a16:creationId xmlns:a16="http://schemas.microsoft.com/office/drawing/2014/main" id="{4FCE75E7-DF31-7216-CF98-ABED1DADE6E8}"/>
              </a:ext>
            </a:extLst>
          </p:cNvPr>
          <p:cNvPicPr>
            <a:picLocks noChangeAspect="1"/>
          </p:cNvPicPr>
          <p:nvPr/>
        </p:nvPicPr>
        <p:blipFill>
          <a:blip r:embed="rId5"/>
          <a:stretch>
            <a:fillRect/>
          </a:stretch>
        </p:blipFill>
        <p:spPr>
          <a:xfrm>
            <a:off x="8786440" y="4661456"/>
            <a:ext cx="1113569" cy="1399032"/>
          </a:xfrm>
          <a:prstGeom prst="rect">
            <a:avLst/>
          </a:prstGeom>
          <a:ln w="12700" cap="flat">
            <a:noFill/>
            <a:miter lim="400000"/>
          </a:ln>
          <a:effectLst/>
        </p:spPr>
      </p:pic>
      <p:pic>
        <p:nvPicPr>
          <p:cNvPr id="20" name="Image" descr="Image">
            <a:extLst>
              <a:ext uri="{FF2B5EF4-FFF2-40B4-BE49-F238E27FC236}">
                <a16:creationId xmlns:a16="http://schemas.microsoft.com/office/drawing/2014/main" id="{972019A3-C815-6D8D-6919-B7B7279DE960}"/>
              </a:ext>
            </a:extLst>
          </p:cNvPr>
          <p:cNvPicPr>
            <a:picLocks noChangeAspect="1"/>
          </p:cNvPicPr>
          <p:nvPr/>
        </p:nvPicPr>
        <p:blipFill>
          <a:blip r:embed="rId6"/>
          <a:stretch>
            <a:fillRect/>
          </a:stretch>
        </p:blipFill>
        <p:spPr>
          <a:xfrm>
            <a:off x="1779225" y="4661456"/>
            <a:ext cx="2242712" cy="1399032"/>
          </a:xfrm>
          <a:prstGeom prst="rect">
            <a:avLst/>
          </a:prstGeom>
          <a:ln w="12700" cap="flat">
            <a:noFill/>
            <a:miter lim="400000"/>
          </a:ln>
          <a:effectLst/>
        </p:spPr>
      </p:pic>
      <p:pic>
        <p:nvPicPr>
          <p:cNvPr id="21" name="Image" descr="Image">
            <a:extLst>
              <a:ext uri="{FF2B5EF4-FFF2-40B4-BE49-F238E27FC236}">
                <a16:creationId xmlns:a16="http://schemas.microsoft.com/office/drawing/2014/main" id="{061A8E66-80B8-45B4-FDBA-8C48631CBF24}"/>
              </a:ext>
            </a:extLst>
          </p:cNvPr>
          <p:cNvPicPr>
            <a:picLocks noChangeAspect="1"/>
          </p:cNvPicPr>
          <p:nvPr/>
        </p:nvPicPr>
        <p:blipFill>
          <a:blip r:embed="rId7"/>
          <a:stretch>
            <a:fillRect/>
          </a:stretch>
        </p:blipFill>
        <p:spPr>
          <a:xfrm>
            <a:off x="8648699" y="2434217"/>
            <a:ext cx="1389052" cy="1399032"/>
          </a:xfrm>
          <a:prstGeom prst="rect">
            <a:avLst/>
          </a:prstGeom>
          <a:ln w="12700" cap="flat">
            <a:noFill/>
            <a:miter lim="400000"/>
          </a:ln>
          <a:effectLst/>
        </p:spPr>
      </p:pic>
      <p:pic>
        <p:nvPicPr>
          <p:cNvPr id="22" name="Image" descr="Image">
            <a:extLst>
              <a:ext uri="{FF2B5EF4-FFF2-40B4-BE49-F238E27FC236}">
                <a16:creationId xmlns:a16="http://schemas.microsoft.com/office/drawing/2014/main" id="{F2686B33-986C-0875-AE56-57A479131DDE}"/>
              </a:ext>
            </a:extLst>
          </p:cNvPr>
          <p:cNvPicPr>
            <a:picLocks noChangeAspect="1"/>
          </p:cNvPicPr>
          <p:nvPr/>
        </p:nvPicPr>
        <p:blipFill>
          <a:blip r:embed="rId8"/>
          <a:stretch>
            <a:fillRect/>
          </a:stretch>
        </p:blipFill>
        <p:spPr>
          <a:xfrm>
            <a:off x="5412987" y="2377099"/>
            <a:ext cx="1401593" cy="1399032"/>
          </a:xfrm>
          <a:prstGeom prst="rect">
            <a:avLst/>
          </a:prstGeom>
          <a:ln w="12700" cap="flat">
            <a:noFill/>
            <a:miter lim="400000"/>
          </a:ln>
          <a:effectLst/>
        </p:spPr>
      </p:pic>
    </p:spTree>
    <p:extLst>
      <p:ext uri="{BB962C8B-B14F-4D97-AF65-F5344CB8AC3E}">
        <p14:creationId xmlns:p14="http://schemas.microsoft.com/office/powerpoint/2010/main" val="2884749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graphicFrame>
        <p:nvGraphicFramePr>
          <p:cNvPr id="3" name="Group 450">
            <a:extLst>
              <a:ext uri="{FF2B5EF4-FFF2-40B4-BE49-F238E27FC236}">
                <a16:creationId xmlns:a16="http://schemas.microsoft.com/office/drawing/2014/main" id="{9E414ACC-FEFE-413E-72F5-7648F4CAFF94}"/>
              </a:ext>
            </a:extLst>
          </p:cNvPr>
          <p:cNvGraphicFramePr>
            <a:graphicFrameLocks noGrp="1"/>
          </p:cNvGraphicFramePr>
          <p:nvPr/>
        </p:nvGraphicFramePr>
        <p:xfrm>
          <a:off x="1779225" y="1783428"/>
          <a:ext cx="8229600" cy="4617917"/>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659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7 – Each team member individually draws 7 Alternatives.</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8 – Team gathers to group and evaluate ideas. Selects the top 7.</a:t>
                      </a:r>
                      <a:endParaRPr kumimoji="0" lang="en-US" altLang="en-US" sz="12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9 – Team moonshines the 7 Alternatives.</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84465">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7036">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59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10 – Team evaluates each Alternative. Selects the top 3.</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11 – Team moonshines the top 3 Alternatives.</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12 – Team selects Top Alternative.</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16254">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255" name="Picture 276" descr="MMj03957670000[1]">
            <a:extLst>
              <a:ext uri="{FF2B5EF4-FFF2-40B4-BE49-F238E27FC236}">
                <a16:creationId xmlns:a16="http://schemas.microsoft.com/office/drawing/2014/main" id="{91381846-7881-3C6E-E222-ADBF38AB7DBF}"/>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570425" y="2863345"/>
            <a:ext cx="400050" cy="16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 name="Picture 277" descr="MCj03499260000[1]">
            <a:extLst>
              <a:ext uri="{FF2B5EF4-FFF2-40B4-BE49-F238E27FC236}">
                <a16:creationId xmlns:a16="http://schemas.microsoft.com/office/drawing/2014/main" id="{D2500870-F8B0-407E-0876-C9F50CDBC6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592900" y="3015290"/>
            <a:ext cx="171450" cy="157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7" name="Picture 278" descr="MCj02903500000[1]">
            <a:extLst>
              <a:ext uri="{FF2B5EF4-FFF2-40B4-BE49-F238E27FC236}">
                <a16:creationId xmlns:a16="http://schemas.microsoft.com/office/drawing/2014/main" id="{72DBE955-89F5-ED5D-C417-2D50D24488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8408625" y="2566906"/>
            <a:ext cx="374650" cy="30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8" name="Picture 279" descr="MCj02337390000[1]">
            <a:extLst>
              <a:ext uri="{FF2B5EF4-FFF2-40B4-BE49-F238E27FC236}">
                <a16:creationId xmlns:a16="http://schemas.microsoft.com/office/drawing/2014/main" id="{2423BA08-0135-4F6A-0E31-DEA4951986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103825" y="3023379"/>
            <a:ext cx="374650" cy="290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 name="Picture 280" descr="MPj03140390000[1]">
            <a:extLst>
              <a:ext uri="{FF2B5EF4-FFF2-40B4-BE49-F238E27FC236}">
                <a16:creationId xmlns:a16="http://schemas.microsoft.com/office/drawing/2014/main" id="{8172C430-DB45-FE9B-FE75-26DAFBFC11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13425" y="2944271"/>
            <a:ext cx="381000" cy="242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0" name="Picture 281" descr="MCBD05091_0000[1]">
            <a:extLst>
              <a:ext uri="{FF2B5EF4-FFF2-40B4-BE49-F238E27FC236}">
                <a16:creationId xmlns:a16="http://schemas.microsoft.com/office/drawing/2014/main" id="{050E4466-D6E4-E277-60CF-12A4F61494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7625" y="2639834"/>
            <a:ext cx="288925" cy="248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 name="Picture 282" descr="MCHH01430_0000[1]">
            <a:extLst>
              <a:ext uri="{FF2B5EF4-FFF2-40B4-BE49-F238E27FC236}">
                <a16:creationId xmlns:a16="http://schemas.microsoft.com/office/drawing/2014/main" id="{D33C4C08-1D06-3534-F7B3-455EDF12CB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9018225" y="2673754"/>
            <a:ext cx="381000" cy="179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2" name="Group 71">
            <a:extLst>
              <a:ext uri="{FF2B5EF4-FFF2-40B4-BE49-F238E27FC236}">
                <a16:creationId xmlns:a16="http://schemas.microsoft.com/office/drawing/2014/main" id="{B4166F70-4D09-35E2-E584-B9DAE8F1D500}"/>
              </a:ext>
            </a:extLst>
          </p:cNvPr>
          <p:cNvGrpSpPr>
            <a:grpSpLocks/>
          </p:cNvGrpSpPr>
          <p:nvPr/>
        </p:nvGrpSpPr>
        <p:grpSpPr bwMode="auto">
          <a:xfrm>
            <a:off x="2963500" y="5076814"/>
            <a:ext cx="419100" cy="538783"/>
            <a:chOff x="3016" y="1444"/>
            <a:chExt cx="264" cy="360"/>
          </a:xfrm>
        </p:grpSpPr>
        <p:sp>
          <p:nvSpPr>
            <p:cNvPr id="263" name="Line 63">
              <a:extLst>
                <a:ext uri="{FF2B5EF4-FFF2-40B4-BE49-F238E27FC236}">
                  <a16:creationId xmlns:a16="http://schemas.microsoft.com/office/drawing/2014/main" id="{A0B01D94-5D81-E03B-0669-112689245BCD}"/>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4" name="Freeform 64">
              <a:extLst>
                <a:ext uri="{FF2B5EF4-FFF2-40B4-BE49-F238E27FC236}">
                  <a16:creationId xmlns:a16="http://schemas.microsoft.com/office/drawing/2014/main" id="{E4E0F163-3663-0102-66B2-07C92F340309}"/>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265" name="Freeform 65">
              <a:extLst>
                <a:ext uri="{FF2B5EF4-FFF2-40B4-BE49-F238E27FC236}">
                  <a16:creationId xmlns:a16="http://schemas.microsoft.com/office/drawing/2014/main" id="{46BB25A6-F2B7-1A77-6A45-8EC916E2B474}"/>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266" name="Line 66">
              <a:extLst>
                <a:ext uri="{FF2B5EF4-FFF2-40B4-BE49-F238E27FC236}">
                  <a16:creationId xmlns:a16="http://schemas.microsoft.com/office/drawing/2014/main" id="{32566FCF-C69D-BC1E-E445-4C64FF91B76F}"/>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 name="Line 67">
              <a:extLst>
                <a:ext uri="{FF2B5EF4-FFF2-40B4-BE49-F238E27FC236}">
                  <a16:creationId xmlns:a16="http://schemas.microsoft.com/office/drawing/2014/main" id="{EC72256D-0429-1614-7F9C-535D4E694C94}"/>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 name="Line 68">
              <a:extLst>
                <a:ext uri="{FF2B5EF4-FFF2-40B4-BE49-F238E27FC236}">
                  <a16:creationId xmlns:a16="http://schemas.microsoft.com/office/drawing/2014/main" id="{8FFB7326-BFBD-FE6B-94FA-326539A309FA}"/>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9" name="Oval 69">
              <a:extLst>
                <a:ext uri="{FF2B5EF4-FFF2-40B4-BE49-F238E27FC236}">
                  <a16:creationId xmlns:a16="http://schemas.microsoft.com/office/drawing/2014/main" id="{4F12DF3C-9934-0D91-A35B-41DF4363E05A}"/>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270" name="Oval 70">
              <a:extLst>
                <a:ext uri="{FF2B5EF4-FFF2-40B4-BE49-F238E27FC236}">
                  <a16:creationId xmlns:a16="http://schemas.microsoft.com/office/drawing/2014/main" id="{C3E66075-D224-3181-007F-03C9EE23675A}"/>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pic>
        <p:nvPicPr>
          <p:cNvPr id="369" name="Picture 392" descr="MMj03957670000[1]">
            <a:extLst>
              <a:ext uri="{FF2B5EF4-FFF2-40B4-BE49-F238E27FC236}">
                <a16:creationId xmlns:a16="http://schemas.microsoft.com/office/drawing/2014/main" id="{9B3D4D85-7D65-EB3E-E9C9-752838637D9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827225" y="5587495"/>
            <a:ext cx="400050" cy="16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0" name="Picture 393" descr="MCj03499260000[1]">
            <a:extLst>
              <a:ext uri="{FF2B5EF4-FFF2-40B4-BE49-F238E27FC236}">
                <a16:creationId xmlns:a16="http://schemas.microsoft.com/office/drawing/2014/main" id="{1018F16A-2851-A1E9-01E7-B9170ABA94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849700" y="5739440"/>
            <a:ext cx="171450" cy="157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 name="Picture 394" descr="MCj02903500000[1]">
            <a:extLst>
              <a:ext uri="{FF2B5EF4-FFF2-40B4-BE49-F238E27FC236}">
                <a16:creationId xmlns:a16="http://schemas.microsoft.com/office/drawing/2014/main" id="{9EDE3B72-9B3F-F55F-E3DD-721B64728A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665425" y="5291056"/>
            <a:ext cx="374650" cy="30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72" name="Group 71">
            <a:extLst>
              <a:ext uri="{FF2B5EF4-FFF2-40B4-BE49-F238E27FC236}">
                <a16:creationId xmlns:a16="http://schemas.microsoft.com/office/drawing/2014/main" id="{AD5167E3-6559-1152-1489-891E8B082523}"/>
              </a:ext>
            </a:extLst>
          </p:cNvPr>
          <p:cNvGrpSpPr>
            <a:grpSpLocks/>
          </p:cNvGrpSpPr>
          <p:nvPr/>
        </p:nvGrpSpPr>
        <p:grpSpPr bwMode="auto">
          <a:xfrm>
            <a:off x="9135700" y="5019664"/>
            <a:ext cx="419100" cy="538783"/>
            <a:chOff x="3016" y="1444"/>
            <a:chExt cx="264" cy="360"/>
          </a:xfrm>
        </p:grpSpPr>
        <p:sp>
          <p:nvSpPr>
            <p:cNvPr id="373" name="Line 63">
              <a:extLst>
                <a:ext uri="{FF2B5EF4-FFF2-40B4-BE49-F238E27FC236}">
                  <a16:creationId xmlns:a16="http://schemas.microsoft.com/office/drawing/2014/main" id="{6F0811DB-39A3-2A9F-F82C-353AB43735E6}"/>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4" name="Freeform 64">
              <a:extLst>
                <a:ext uri="{FF2B5EF4-FFF2-40B4-BE49-F238E27FC236}">
                  <a16:creationId xmlns:a16="http://schemas.microsoft.com/office/drawing/2014/main" id="{F474B0F6-0BCF-96B4-080D-4D94BF04C29E}"/>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375" name="Freeform 65">
              <a:extLst>
                <a:ext uri="{FF2B5EF4-FFF2-40B4-BE49-F238E27FC236}">
                  <a16:creationId xmlns:a16="http://schemas.microsoft.com/office/drawing/2014/main" id="{B32EBE03-02D4-7EDE-099B-F25B78CCE17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376" name="Line 66">
              <a:extLst>
                <a:ext uri="{FF2B5EF4-FFF2-40B4-BE49-F238E27FC236}">
                  <a16:creationId xmlns:a16="http://schemas.microsoft.com/office/drawing/2014/main" id="{847CC286-F17A-C642-20B4-BA71F132B2DC}"/>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7" name="Line 67">
              <a:extLst>
                <a:ext uri="{FF2B5EF4-FFF2-40B4-BE49-F238E27FC236}">
                  <a16:creationId xmlns:a16="http://schemas.microsoft.com/office/drawing/2014/main" id="{7D48FB73-AE4E-01BA-7977-088C8EE4FFAD}"/>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 name="Line 68">
              <a:extLst>
                <a:ext uri="{FF2B5EF4-FFF2-40B4-BE49-F238E27FC236}">
                  <a16:creationId xmlns:a16="http://schemas.microsoft.com/office/drawing/2014/main" id="{C8D7106C-DF33-5F43-2050-1FF33732FBD0}"/>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 name="Oval 69">
              <a:extLst>
                <a:ext uri="{FF2B5EF4-FFF2-40B4-BE49-F238E27FC236}">
                  <a16:creationId xmlns:a16="http://schemas.microsoft.com/office/drawing/2014/main" id="{F328AD99-507F-D6B2-D1D7-AAA2DA84EBFF}"/>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380" name="Oval 70">
              <a:extLst>
                <a:ext uri="{FF2B5EF4-FFF2-40B4-BE49-F238E27FC236}">
                  <a16:creationId xmlns:a16="http://schemas.microsoft.com/office/drawing/2014/main" id="{CF53BC26-323C-3DCA-A3EE-1705FF7ECA24}"/>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30" name="Text Box 456">
            <a:extLst>
              <a:ext uri="{FF2B5EF4-FFF2-40B4-BE49-F238E27FC236}">
                <a16:creationId xmlns:a16="http://schemas.microsoft.com/office/drawing/2014/main" id="{C44EDCC6-D696-FECF-CCCB-071117D91454}"/>
              </a:ext>
            </a:extLst>
          </p:cNvPr>
          <p:cNvSpPr txBox="1">
            <a:spLocks noChangeArrowheads="1"/>
          </p:cNvSpPr>
          <p:nvPr/>
        </p:nvSpPr>
        <p:spPr bwMode="auto">
          <a:xfrm>
            <a:off x="2998425" y="504409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a:cs typeface="Arial" panose="020B0604020202020204" pitchFamily="34" charset="0"/>
              </a:rPr>
              <a:t>3</a:t>
            </a:r>
          </a:p>
        </p:txBody>
      </p:sp>
      <p:sp>
        <p:nvSpPr>
          <p:cNvPr id="431" name="Text Box 457">
            <a:extLst>
              <a:ext uri="{FF2B5EF4-FFF2-40B4-BE49-F238E27FC236}">
                <a16:creationId xmlns:a16="http://schemas.microsoft.com/office/drawing/2014/main" id="{9474C9C9-2A14-E136-A3C3-88FDCD57DA14}"/>
              </a:ext>
            </a:extLst>
          </p:cNvPr>
          <p:cNvSpPr txBox="1">
            <a:spLocks noChangeArrowheads="1"/>
          </p:cNvSpPr>
          <p:nvPr/>
        </p:nvSpPr>
        <p:spPr bwMode="auto">
          <a:xfrm>
            <a:off x="9170625" y="498694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a:cs typeface="Arial" panose="020B0604020202020204" pitchFamily="34" charset="0"/>
              </a:rPr>
              <a:t>1</a:t>
            </a:r>
          </a:p>
        </p:txBody>
      </p:sp>
      <p:pic>
        <p:nvPicPr>
          <p:cNvPr id="432" name="Picture 282" descr="MCHH01430_0000[1]">
            <a:extLst>
              <a:ext uri="{FF2B5EF4-FFF2-40B4-BE49-F238E27FC236}">
                <a16:creationId xmlns:a16="http://schemas.microsoft.com/office/drawing/2014/main" id="{7546FB58-1ED4-488E-AD5D-9B1EAC41BFD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7722825" y="5271096"/>
            <a:ext cx="609600" cy="287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8" name="Group 437">
            <a:extLst>
              <a:ext uri="{FF2B5EF4-FFF2-40B4-BE49-F238E27FC236}">
                <a16:creationId xmlns:a16="http://schemas.microsoft.com/office/drawing/2014/main" id="{4FC731A1-D3BA-C6E6-83F6-E0A6817F4492}"/>
              </a:ext>
            </a:extLst>
          </p:cNvPr>
          <p:cNvGrpSpPr/>
          <p:nvPr/>
        </p:nvGrpSpPr>
        <p:grpSpPr>
          <a:xfrm>
            <a:off x="1855382" y="2447763"/>
            <a:ext cx="495344" cy="554713"/>
            <a:chOff x="1855382" y="2447763"/>
            <a:chExt cx="495344" cy="554713"/>
          </a:xfrm>
        </p:grpSpPr>
        <p:grpSp>
          <p:nvGrpSpPr>
            <p:cNvPr id="73" name="Group 71">
              <a:extLst>
                <a:ext uri="{FF2B5EF4-FFF2-40B4-BE49-F238E27FC236}">
                  <a16:creationId xmlns:a16="http://schemas.microsoft.com/office/drawing/2014/main" id="{6B409B5B-DDCF-0B4D-735A-D2FB5173A6FE}"/>
                </a:ext>
              </a:extLst>
            </p:cNvPr>
            <p:cNvGrpSpPr>
              <a:grpSpLocks/>
            </p:cNvGrpSpPr>
            <p:nvPr/>
          </p:nvGrpSpPr>
          <p:grpSpPr bwMode="auto">
            <a:xfrm>
              <a:off x="1931626" y="2447763"/>
              <a:ext cx="419100" cy="538783"/>
              <a:chOff x="3016" y="1444"/>
              <a:chExt cx="264" cy="360"/>
            </a:xfrm>
          </p:grpSpPr>
          <p:sp>
            <p:nvSpPr>
              <p:cNvPr id="81" name="Line 63">
                <a:extLst>
                  <a:ext uri="{FF2B5EF4-FFF2-40B4-BE49-F238E27FC236}">
                    <a16:creationId xmlns:a16="http://schemas.microsoft.com/office/drawing/2014/main" id="{A5B0E7C6-A312-D874-B128-31E2409DAD67}"/>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Freeform 64">
                <a:extLst>
                  <a:ext uri="{FF2B5EF4-FFF2-40B4-BE49-F238E27FC236}">
                    <a16:creationId xmlns:a16="http://schemas.microsoft.com/office/drawing/2014/main" id="{08AB0C41-AD72-61AF-C41B-ED8F2BDBBB65}"/>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83" name="Freeform 65">
                <a:extLst>
                  <a:ext uri="{FF2B5EF4-FFF2-40B4-BE49-F238E27FC236}">
                    <a16:creationId xmlns:a16="http://schemas.microsoft.com/office/drawing/2014/main" id="{C51C048E-78BD-8BED-EA21-E3F70E1C649A}"/>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84" name="Line 66">
                <a:extLst>
                  <a:ext uri="{FF2B5EF4-FFF2-40B4-BE49-F238E27FC236}">
                    <a16:creationId xmlns:a16="http://schemas.microsoft.com/office/drawing/2014/main" id="{39C5A8F8-6725-01CE-B973-2A3AC898854C}"/>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67">
                <a:extLst>
                  <a:ext uri="{FF2B5EF4-FFF2-40B4-BE49-F238E27FC236}">
                    <a16:creationId xmlns:a16="http://schemas.microsoft.com/office/drawing/2014/main" id="{2E9D9916-C7D0-0F31-67AA-400ECBFD4A4F}"/>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 name="Line 68">
                <a:extLst>
                  <a:ext uri="{FF2B5EF4-FFF2-40B4-BE49-F238E27FC236}">
                    <a16:creationId xmlns:a16="http://schemas.microsoft.com/office/drawing/2014/main" id="{6F4BD13B-5FDA-0BA0-6F28-B58DA93F5FFB}"/>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Oval 69">
                <a:extLst>
                  <a:ext uri="{FF2B5EF4-FFF2-40B4-BE49-F238E27FC236}">
                    <a16:creationId xmlns:a16="http://schemas.microsoft.com/office/drawing/2014/main" id="{BEBECE5C-B9C1-1B69-1463-E1C3DC01F126}"/>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88" name="Oval 70">
                <a:extLst>
                  <a:ext uri="{FF2B5EF4-FFF2-40B4-BE49-F238E27FC236}">
                    <a16:creationId xmlns:a16="http://schemas.microsoft.com/office/drawing/2014/main" id="{8A08DF83-23E5-5799-07DF-F182E3BD8914}"/>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198" name="Text Box 218">
              <a:extLst>
                <a:ext uri="{FF2B5EF4-FFF2-40B4-BE49-F238E27FC236}">
                  <a16:creationId xmlns:a16="http://schemas.microsoft.com/office/drawing/2014/main" id="{6F12D6E1-A41F-3451-9D13-D7AAF95D41AC}"/>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33" name="Picture 432">
              <a:extLst>
                <a:ext uri="{FF2B5EF4-FFF2-40B4-BE49-F238E27FC236}">
                  <a16:creationId xmlns:a16="http://schemas.microsoft.com/office/drawing/2014/main" id="{2CB76DDC-EDF6-4F20-FB3D-5611327EDADA}"/>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40" name="Group 439">
            <a:extLst>
              <a:ext uri="{FF2B5EF4-FFF2-40B4-BE49-F238E27FC236}">
                <a16:creationId xmlns:a16="http://schemas.microsoft.com/office/drawing/2014/main" id="{3126113F-2A64-975D-1744-A44E4018A58D}"/>
              </a:ext>
            </a:extLst>
          </p:cNvPr>
          <p:cNvGrpSpPr/>
          <p:nvPr/>
        </p:nvGrpSpPr>
        <p:grpSpPr>
          <a:xfrm>
            <a:off x="2495399" y="2727416"/>
            <a:ext cx="495344" cy="554713"/>
            <a:chOff x="1855382" y="2447763"/>
            <a:chExt cx="495344" cy="554713"/>
          </a:xfrm>
        </p:grpSpPr>
        <p:grpSp>
          <p:nvGrpSpPr>
            <p:cNvPr id="441" name="Group 71">
              <a:extLst>
                <a:ext uri="{FF2B5EF4-FFF2-40B4-BE49-F238E27FC236}">
                  <a16:creationId xmlns:a16="http://schemas.microsoft.com/office/drawing/2014/main" id="{62AFB058-5FE8-6BB4-DED3-F1ECEAC28952}"/>
                </a:ext>
              </a:extLst>
            </p:cNvPr>
            <p:cNvGrpSpPr>
              <a:grpSpLocks/>
            </p:cNvGrpSpPr>
            <p:nvPr/>
          </p:nvGrpSpPr>
          <p:grpSpPr bwMode="auto">
            <a:xfrm>
              <a:off x="1931626" y="2447763"/>
              <a:ext cx="419100" cy="538783"/>
              <a:chOff x="3016" y="1444"/>
              <a:chExt cx="264" cy="360"/>
            </a:xfrm>
          </p:grpSpPr>
          <p:sp>
            <p:nvSpPr>
              <p:cNvPr id="444" name="Line 63">
                <a:extLst>
                  <a:ext uri="{FF2B5EF4-FFF2-40B4-BE49-F238E27FC236}">
                    <a16:creationId xmlns:a16="http://schemas.microsoft.com/office/drawing/2014/main" id="{FB2BC7B3-14F4-2AB0-90DE-8554F19F03CB}"/>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5" name="Freeform 64">
                <a:extLst>
                  <a:ext uri="{FF2B5EF4-FFF2-40B4-BE49-F238E27FC236}">
                    <a16:creationId xmlns:a16="http://schemas.microsoft.com/office/drawing/2014/main" id="{09FC01F7-2A27-CDA4-AB49-826039771BBA}"/>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46" name="Freeform 65">
                <a:extLst>
                  <a:ext uri="{FF2B5EF4-FFF2-40B4-BE49-F238E27FC236}">
                    <a16:creationId xmlns:a16="http://schemas.microsoft.com/office/drawing/2014/main" id="{24E926C7-71B2-EEC5-408F-99EFD41E56BB}"/>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47" name="Line 66">
                <a:extLst>
                  <a:ext uri="{FF2B5EF4-FFF2-40B4-BE49-F238E27FC236}">
                    <a16:creationId xmlns:a16="http://schemas.microsoft.com/office/drawing/2014/main" id="{1172C674-3B9C-797F-153B-A868E0E5DD67}"/>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8" name="Line 67">
                <a:extLst>
                  <a:ext uri="{FF2B5EF4-FFF2-40B4-BE49-F238E27FC236}">
                    <a16:creationId xmlns:a16="http://schemas.microsoft.com/office/drawing/2014/main" id="{1D769BE1-E280-12E8-33B1-A78608EAB205}"/>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9" name="Line 68">
                <a:extLst>
                  <a:ext uri="{FF2B5EF4-FFF2-40B4-BE49-F238E27FC236}">
                    <a16:creationId xmlns:a16="http://schemas.microsoft.com/office/drawing/2014/main" id="{1F873590-9737-D7FE-6A9A-3449D26CBC4D}"/>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 name="Oval 69">
                <a:extLst>
                  <a:ext uri="{FF2B5EF4-FFF2-40B4-BE49-F238E27FC236}">
                    <a16:creationId xmlns:a16="http://schemas.microsoft.com/office/drawing/2014/main" id="{E4326F47-4271-D33C-540B-61EE3DC3887D}"/>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51" name="Oval 70">
                <a:extLst>
                  <a:ext uri="{FF2B5EF4-FFF2-40B4-BE49-F238E27FC236}">
                    <a16:creationId xmlns:a16="http://schemas.microsoft.com/office/drawing/2014/main" id="{28FEAF23-4281-74A0-7C7D-2EC60D65958E}"/>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42" name="Text Box 218">
              <a:extLst>
                <a:ext uri="{FF2B5EF4-FFF2-40B4-BE49-F238E27FC236}">
                  <a16:creationId xmlns:a16="http://schemas.microsoft.com/office/drawing/2014/main" id="{80991900-09C1-1C62-C505-15A737336DF9}"/>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43" name="Picture 442">
              <a:extLst>
                <a:ext uri="{FF2B5EF4-FFF2-40B4-BE49-F238E27FC236}">
                  <a16:creationId xmlns:a16="http://schemas.microsoft.com/office/drawing/2014/main" id="{A2859D43-686C-10A8-D031-01A7C3520092}"/>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52" name="Group 451">
            <a:extLst>
              <a:ext uri="{FF2B5EF4-FFF2-40B4-BE49-F238E27FC236}">
                <a16:creationId xmlns:a16="http://schemas.microsoft.com/office/drawing/2014/main" id="{E82C6DCA-93EC-1FE7-5789-5A86DF9E5D74}"/>
              </a:ext>
            </a:extLst>
          </p:cNvPr>
          <p:cNvGrpSpPr/>
          <p:nvPr/>
        </p:nvGrpSpPr>
        <p:grpSpPr>
          <a:xfrm>
            <a:off x="3069819" y="2396397"/>
            <a:ext cx="495344" cy="554713"/>
            <a:chOff x="1855382" y="2447763"/>
            <a:chExt cx="495344" cy="554713"/>
          </a:xfrm>
        </p:grpSpPr>
        <p:grpSp>
          <p:nvGrpSpPr>
            <p:cNvPr id="453" name="Group 71">
              <a:extLst>
                <a:ext uri="{FF2B5EF4-FFF2-40B4-BE49-F238E27FC236}">
                  <a16:creationId xmlns:a16="http://schemas.microsoft.com/office/drawing/2014/main" id="{A93C1510-BBFF-85C9-C1B1-7AAAA697B3C6}"/>
                </a:ext>
              </a:extLst>
            </p:cNvPr>
            <p:cNvGrpSpPr>
              <a:grpSpLocks/>
            </p:cNvGrpSpPr>
            <p:nvPr/>
          </p:nvGrpSpPr>
          <p:grpSpPr bwMode="auto">
            <a:xfrm>
              <a:off x="1931626" y="2447763"/>
              <a:ext cx="419100" cy="538783"/>
              <a:chOff x="3016" y="1444"/>
              <a:chExt cx="264" cy="360"/>
            </a:xfrm>
          </p:grpSpPr>
          <p:sp>
            <p:nvSpPr>
              <p:cNvPr id="456" name="Line 63">
                <a:extLst>
                  <a:ext uri="{FF2B5EF4-FFF2-40B4-BE49-F238E27FC236}">
                    <a16:creationId xmlns:a16="http://schemas.microsoft.com/office/drawing/2014/main" id="{3AF80F2E-4C5F-7309-2AAE-3AE7E77795B9}"/>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7" name="Freeform 64">
                <a:extLst>
                  <a:ext uri="{FF2B5EF4-FFF2-40B4-BE49-F238E27FC236}">
                    <a16:creationId xmlns:a16="http://schemas.microsoft.com/office/drawing/2014/main" id="{9A89C2EB-FFD5-0E58-7843-8C273C4C7BAA}"/>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58" name="Freeform 65">
                <a:extLst>
                  <a:ext uri="{FF2B5EF4-FFF2-40B4-BE49-F238E27FC236}">
                    <a16:creationId xmlns:a16="http://schemas.microsoft.com/office/drawing/2014/main" id="{3C400AD2-E368-D966-78EC-38BD2FC6806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59" name="Line 66">
                <a:extLst>
                  <a:ext uri="{FF2B5EF4-FFF2-40B4-BE49-F238E27FC236}">
                    <a16:creationId xmlns:a16="http://schemas.microsoft.com/office/drawing/2014/main" id="{754E01EE-B3FF-DA88-89F7-32852A0E5121}"/>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 name="Line 67">
                <a:extLst>
                  <a:ext uri="{FF2B5EF4-FFF2-40B4-BE49-F238E27FC236}">
                    <a16:creationId xmlns:a16="http://schemas.microsoft.com/office/drawing/2014/main" id="{C8E3F194-C016-3381-40FA-D706722DC752}"/>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 name="Line 68">
                <a:extLst>
                  <a:ext uri="{FF2B5EF4-FFF2-40B4-BE49-F238E27FC236}">
                    <a16:creationId xmlns:a16="http://schemas.microsoft.com/office/drawing/2014/main" id="{60DA2B9A-E81A-9F9E-6788-1A27FF9C5044}"/>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 name="Oval 69">
                <a:extLst>
                  <a:ext uri="{FF2B5EF4-FFF2-40B4-BE49-F238E27FC236}">
                    <a16:creationId xmlns:a16="http://schemas.microsoft.com/office/drawing/2014/main" id="{08F62091-4CE7-9FDA-EB47-AF77602CBAE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63" name="Oval 70">
                <a:extLst>
                  <a:ext uri="{FF2B5EF4-FFF2-40B4-BE49-F238E27FC236}">
                    <a16:creationId xmlns:a16="http://schemas.microsoft.com/office/drawing/2014/main" id="{1AA4A9BC-5D55-2070-8A2C-7B1E54BFC76B}"/>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54" name="Text Box 218">
              <a:extLst>
                <a:ext uri="{FF2B5EF4-FFF2-40B4-BE49-F238E27FC236}">
                  <a16:creationId xmlns:a16="http://schemas.microsoft.com/office/drawing/2014/main" id="{7C95ABF2-FA6F-704D-2EB3-E75765A82A3F}"/>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55" name="Picture 454">
              <a:extLst>
                <a:ext uri="{FF2B5EF4-FFF2-40B4-BE49-F238E27FC236}">
                  <a16:creationId xmlns:a16="http://schemas.microsoft.com/office/drawing/2014/main" id="{51AD3D9F-5F2F-3287-71B4-7CF576532E39}"/>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64" name="Group 463">
            <a:extLst>
              <a:ext uri="{FF2B5EF4-FFF2-40B4-BE49-F238E27FC236}">
                <a16:creationId xmlns:a16="http://schemas.microsoft.com/office/drawing/2014/main" id="{F3D4E41C-CFE1-B1ED-9A0D-D268C9CE2E7D}"/>
              </a:ext>
            </a:extLst>
          </p:cNvPr>
          <p:cNvGrpSpPr/>
          <p:nvPr/>
        </p:nvGrpSpPr>
        <p:grpSpPr>
          <a:xfrm>
            <a:off x="3780730" y="2671353"/>
            <a:ext cx="495344" cy="554713"/>
            <a:chOff x="1855382" y="2447763"/>
            <a:chExt cx="495344" cy="554713"/>
          </a:xfrm>
        </p:grpSpPr>
        <p:grpSp>
          <p:nvGrpSpPr>
            <p:cNvPr id="465" name="Group 71">
              <a:extLst>
                <a:ext uri="{FF2B5EF4-FFF2-40B4-BE49-F238E27FC236}">
                  <a16:creationId xmlns:a16="http://schemas.microsoft.com/office/drawing/2014/main" id="{D4511B70-A7BB-C413-D7D3-70575F87D5A8}"/>
                </a:ext>
              </a:extLst>
            </p:cNvPr>
            <p:cNvGrpSpPr>
              <a:grpSpLocks/>
            </p:cNvGrpSpPr>
            <p:nvPr/>
          </p:nvGrpSpPr>
          <p:grpSpPr bwMode="auto">
            <a:xfrm>
              <a:off x="1931626" y="2447763"/>
              <a:ext cx="419100" cy="538783"/>
              <a:chOff x="3016" y="1444"/>
              <a:chExt cx="264" cy="360"/>
            </a:xfrm>
          </p:grpSpPr>
          <p:sp>
            <p:nvSpPr>
              <p:cNvPr id="468" name="Line 63">
                <a:extLst>
                  <a:ext uri="{FF2B5EF4-FFF2-40B4-BE49-F238E27FC236}">
                    <a16:creationId xmlns:a16="http://schemas.microsoft.com/office/drawing/2014/main" id="{62CBDB04-6340-D73D-772D-85E9A0DB749C}"/>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9" name="Freeform 64">
                <a:extLst>
                  <a:ext uri="{FF2B5EF4-FFF2-40B4-BE49-F238E27FC236}">
                    <a16:creationId xmlns:a16="http://schemas.microsoft.com/office/drawing/2014/main" id="{808EF856-8E26-2A7D-DDC5-616C992DFD49}"/>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70" name="Freeform 65">
                <a:extLst>
                  <a:ext uri="{FF2B5EF4-FFF2-40B4-BE49-F238E27FC236}">
                    <a16:creationId xmlns:a16="http://schemas.microsoft.com/office/drawing/2014/main" id="{06A3DEE1-ABDC-776B-E5D6-615E79AEBBC5}"/>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71" name="Line 66">
                <a:extLst>
                  <a:ext uri="{FF2B5EF4-FFF2-40B4-BE49-F238E27FC236}">
                    <a16:creationId xmlns:a16="http://schemas.microsoft.com/office/drawing/2014/main" id="{2927BB3D-0DAD-6DD3-BDD3-F463E765768A}"/>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2" name="Line 67">
                <a:extLst>
                  <a:ext uri="{FF2B5EF4-FFF2-40B4-BE49-F238E27FC236}">
                    <a16:creationId xmlns:a16="http://schemas.microsoft.com/office/drawing/2014/main" id="{D8FD048A-0F58-6341-AC49-1655D1B24D5E}"/>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3" name="Line 68">
                <a:extLst>
                  <a:ext uri="{FF2B5EF4-FFF2-40B4-BE49-F238E27FC236}">
                    <a16:creationId xmlns:a16="http://schemas.microsoft.com/office/drawing/2014/main" id="{18BE6F25-EFA6-0D30-EED4-E7DB5C487C17}"/>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4" name="Oval 69">
                <a:extLst>
                  <a:ext uri="{FF2B5EF4-FFF2-40B4-BE49-F238E27FC236}">
                    <a16:creationId xmlns:a16="http://schemas.microsoft.com/office/drawing/2014/main" id="{D9B76CF8-0953-D229-8EFF-98344E8E9492}"/>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75" name="Oval 70">
                <a:extLst>
                  <a:ext uri="{FF2B5EF4-FFF2-40B4-BE49-F238E27FC236}">
                    <a16:creationId xmlns:a16="http://schemas.microsoft.com/office/drawing/2014/main" id="{004181D4-0078-5A24-27C6-6EA9AA2FAF2F}"/>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66" name="Text Box 218">
              <a:extLst>
                <a:ext uri="{FF2B5EF4-FFF2-40B4-BE49-F238E27FC236}">
                  <a16:creationId xmlns:a16="http://schemas.microsoft.com/office/drawing/2014/main" id="{B7C929AF-3E74-FFCA-AD3B-B81AAD1CF799}"/>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67" name="Picture 466">
              <a:extLst>
                <a:ext uri="{FF2B5EF4-FFF2-40B4-BE49-F238E27FC236}">
                  <a16:creationId xmlns:a16="http://schemas.microsoft.com/office/drawing/2014/main" id="{0AD10812-FBA0-010C-26C9-37F990E1EC21}"/>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76" name="Group 475">
            <a:extLst>
              <a:ext uri="{FF2B5EF4-FFF2-40B4-BE49-F238E27FC236}">
                <a16:creationId xmlns:a16="http://schemas.microsoft.com/office/drawing/2014/main" id="{214CC09D-0693-3FE3-1B8C-A44244C6E20B}"/>
              </a:ext>
            </a:extLst>
          </p:cNvPr>
          <p:cNvGrpSpPr/>
          <p:nvPr/>
        </p:nvGrpSpPr>
        <p:grpSpPr>
          <a:xfrm>
            <a:off x="1953246" y="3301359"/>
            <a:ext cx="495344" cy="554713"/>
            <a:chOff x="1855382" y="2447763"/>
            <a:chExt cx="495344" cy="554713"/>
          </a:xfrm>
        </p:grpSpPr>
        <p:grpSp>
          <p:nvGrpSpPr>
            <p:cNvPr id="477" name="Group 71">
              <a:extLst>
                <a:ext uri="{FF2B5EF4-FFF2-40B4-BE49-F238E27FC236}">
                  <a16:creationId xmlns:a16="http://schemas.microsoft.com/office/drawing/2014/main" id="{A6B37EAB-8A07-B0CB-5619-1C277825B6B9}"/>
                </a:ext>
              </a:extLst>
            </p:cNvPr>
            <p:cNvGrpSpPr>
              <a:grpSpLocks/>
            </p:cNvGrpSpPr>
            <p:nvPr/>
          </p:nvGrpSpPr>
          <p:grpSpPr bwMode="auto">
            <a:xfrm>
              <a:off x="1931626" y="2447763"/>
              <a:ext cx="419100" cy="538783"/>
              <a:chOff x="3016" y="1444"/>
              <a:chExt cx="264" cy="360"/>
            </a:xfrm>
          </p:grpSpPr>
          <p:sp>
            <p:nvSpPr>
              <p:cNvPr id="480" name="Line 63">
                <a:extLst>
                  <a:ext uri="{FF2B5EF4-FFF2-40B4-BE49-F238E27FC236}">
                    <a16:creationId xmlns:a16="http://schemas.microsoft.com/office/drawing/2014/main" id="{D067C0F3-6461-1B79-567B-C6C38C2DE80D}"/>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 name="Freeform 64">
                <a:extLst>
                  <a:ext uri="{FF2B5EF4-FFF2-40B4-BE49-F238E27FC236}">
                    <a16:creationId xmlns:a16="http://schemas.microsoft.com/office/drawing/2014/main" id="{58727FB0-9C75-C56D-F9D8-75AD3599DB48}"/>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82" name="Freeform 65">
                <a:extLst>
                  <a:ext uri="{FF2B5EF4-FFF2-40B4-BE49-F238E27FC236}">
                    <a16:creationId xmlns:a16="http://schemas.microsoft.com/office/drawing/2014/main" id="{614AC2B4-37D1-65F8-AA5A-40F6EB67F9B9}"/>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83" name="Line 66">
                <a:extLst>
                  <a:ext uri="{FF2B5EF4-FFF2-40B4-BE49-F238E27FC236}">
                    <a16:creationId xmlns:a16="http://schemas.microsoft.com/office/drawing/2014/main" id="{6C20F051-9864-476A-568C-F0F50D8F844A}"/>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 name="Line 67">
                <a:extLst>
                  <a:ext uri="{FF2B5EF4-FFF2-40B4-BE49-F238E27FC236}">
                    <a16:creationId xmlns:a16="http://schemas.microsoft.com/office/drawing/2014/main" id="{58D2FC4F-E7E7-79F3-A35D-1428249EABA8}"/>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5" name="Line 68">
                <a:extLst>
                  <a:ext uri="{FF2B5EF4-FFF2-40B4-BE49-F238E27FC236}">
                    <a16:creationId xmlns:a16="http://schemas.microsoft.com/office/drawing/2014/main" id="{9ED66E70-869E-235A-EBEF-22F75391EA79}"/>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6" name="Oval 69">
                <a:extLst>
                  <a:ext uri="{FF2B5EF4-FFF2-40B4-BE49-F238E27FC236}">
                    <a16:creationId xmlns:a16="http://schemas.microsoft.com/office/drawing/2014/main" id="{2846E7A4-5A64-3C9E-ABEB-A5AF516929CA}"/>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87" name="Oval 70">
                <a:extLst>
                  <a:ext uri="{FF2B5EF4-FFF2-40B4-BE49-F238E27FC236}">
                    <a16:creationId xmlns:a16="http://schemas.microsoft.com/office/drawing/2014/main" id="{69A64E36-6168-8A3E-E610-D9D77615A091}"/>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78" name="Text Box 218">
              <a:extLst>
                <a:ext uri="{FF2B5EF4-FFF2-40B4-BE49-F238E27FC236}">
                  <a16:creationId xmlns:a16="http://schemas.microsoft.com/office/drawing/2014/main" id="{29E28D2A-EFA4-BE26-497E-B1EDE25D21C0}"/>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79" name="Picture 478">
              <a:extLst>
                <a:ext uri="{FF2B5EF4-FFF2-40B4-BE49-F238E27FC236}">
                  <a16:creationId xmlns:a16="http://schemas.microsoft.com/office/drawing/2014/main" id="{A9F47C90-2334-3697-6F24-A635C02FDEBD}"/>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88" name="Group 487">
            <a:extLst>
              <a:ext uri="{FF2B5EF4-FFF2-40B4-BE49-F238E27FC236}">
                <a16:creationId xmlns:a16="http://schemas.microsoft.com/office/drawing/2014/main" id="{998EA5DD-E793-517F-DABB-89B49663224A}"/>
              </a:ext>
            </a:extLst>
          </p:cNvPr>
          <p:cNvGrpSpPr/>
          <p:nvPr/>
        </p:nvGrpSpPr>
        <p:grpSpPr>
          <a:xfrm>
            <a:off x="3019019" y="3308652"/>
            <a:ext cx="495344" cy="554713"/>
            <a:chOff x="1855382" y="2447763"/>
            <a:chExt cx="495344" cy="554713"/>
          </a:xfrm>
        </p:grpSpPr>
        <p:grpSp>
          <p:nvGrpSpPr>
            <p:cNvPr id="489" name="Group 71">
              <a:extLst>
                <a:ext uri="{FF2B5EF4-FFF2-40B4-BE49-F238E27FC236}">
                  <a16:creationId xmlns:a16="http://schemas.microsoft.com/office/drawing/2014/main" id="{CC004E39-12BD-D794-0927-96DD6991B51A}"/>
                </a:ext>
              </a:extLst>
            </p:cNvPr>
            <p:cNvGrpSpPr>
              <a:grpSpLocks/>
            </p:cNvGrpSpPr>
            <p:nvPr/>
          </p:nvGrpSpPr>
          <p:grpSpPr bwMode="auto">
            <a:xfrm>
              <a:off x="1931626" y="2447763"/>
              <a:ext cx="419100" cy="538783"/>
              <a:chOff x="3016" y="1444"/>
              <a:chExt cx="264" cy="360"/>
            </a:xfrm>
          </p:grpSpPr>
          <p:sp>
            <p:nvSpPr>
              <p:cNvPr id="492" name="Line 63">
                <a:extLst>
                  <a:ext uri="{FF2B5EF4-FFF2-40B4-BE49-F238E27FC236}">
                    <a16:creationId xmlns:a16="http://schemas.microsoft.com/office/drawing/2014/main" id="{FBEFBEB4-6850-4F4B-6F95-0317282369A0}"/>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3" name="Freeform 64">
                <a:extLst>
                  <a:ext uri="{FF2B5EF4-FFF2-40B4-BE49-F238E27FC236}">
                    <a16:creationId xmlns:a16="http://schemas.microsoft.com/office/drawing/2014/main" id="{371EC7D3-FACC-1FF7-957A-B8BF7F2A8CC8}"/>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94" name="Freeform 65">
                <a:extLst>
                  <a:ext uri="{FF2B5EF4-FFF2-40B4-BE49-F238E27FC236}">
                    <a16:creationId xmlns:a16="http://schemas.microsoft.com/office/drawing/2014/main" id="{A68D8647-CDBA-D630-7D7B-5F4CF50A3B7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95" name="Line 66">
                <a:extLst>
                  <a:ext uri="{FF2B5EF4-FFF2-40B4-BE49-F238E27FC236}">
                    <a16:creationId xmlns:a16="http://schemas.microsoft.com/office/drawing/2014/main" id="{6814461F-1226-2649-9380-B3D07BCE9186}"/>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6" name="Line 67">
                <a:extLst>
                  <a:ext uri="{FF2B5EF4-FFF2-40B4-BE49-F238E27FC236}">
                    <a16:creationId xmlns:a16="http://schemas.microsoft.com/office/drawing/2014/main" id="{C062E472-3483-480E-8EAE-E1EAA35BAE63}"/>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7" name="Line 68">
                <a:extLst>
                  <a:ext uri="{FF2B5EF4-FFF2-40B4-BE49-F238E27FC236}">
                    <a16:creationId xmlns:a16="http://schemas.microsoft.com/office/drawing/2014/main" id="{2371759F-7B57-466D-0150-E0D219C05675}"/>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8" name="Oval 69">
                <a:extLst>
                  <a:ext uri="{FF2B5EF4-FFF2-40B4-BE49-F238E27FC236}">
                    <a16:creationId xmlns:a16="http://schemas.microsoft.com/office/drawing/2014/main" id="{6181F43D-10A9-6014-01D5-8227B09A9E29}"/>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99" name="Oval 70">
                <a:extLst>
                  <a:ext uri="{FF2B5EF4-FFF2-40B4-BE49-F238E27FC236}">
                    <a16:creationId xmlns:a16="http://schemas.microsoft.com/office/drawing/2014/main" id="{3FC89BC9-590B-0B09-BE6F-AB01C814AA02}"/>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90" name="Text Box 218">
              <a:extLst>
                <a:ext uri="{FF2B5EF4-FFF2-40B4-BE49-F238E27FC236}">
                  <a16:creationId xmlns:a16="http://schemas.microsoft.com/office/drawing/2014/main" id="{CF9DEE83-941B-CEE6-FEEC-89BE70CFE7A8}"/>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91" name="Picture 490">
              <a:extLst>
                <a:ext uri="{FF2B5EF4-FFF2-40B4-BE49-F238E27FC236}">
                  <a16:creationId xmlns:a16="http://schemas.microsoft.com/office/drawing/2014/main" id="{22F5B6FA-C043-0674-ADE5-9452D1F12DFC}"/>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500" name="Group 499">
            <a:extLst>
              <a:ext uri="{FF2B5EF4-FFF2-40B4-BE49-F238E27FC236}">
                <a16:creationId xmlns:a16="http://schemas.microsoft.com/office/drawing/2014/main" id="{DD1F2C4F-295F-1576-03AF-E1EF134506C0}"/>
              </a:ext>
            </a:extLst>
          </p:cNvPr>
          <p:cNvGrpSpPr/>
          <p:nvPr/>
        </p:nvGrpSpPr>
        <p:grpSpPr>
          <a:xfrm>
            <a:off x="3683893" y="3390674"/>
            <a:ext cx="495344" cy="554713"/>
            <a:chOff x="1855382" y="2447763"/>
            <a:chExt cx="495344" cy="554713"/>
          </a:xfrm>
        </p:grpSpPr>
        <p:grpSp>
          <p:nvGrpSpPr>
            <p:cNvPr id="501" name="Group 71">
              <a:extLst>
                <a:ext uri="{FF2B5EF4-FFF2-40B4-BE49-F238E27FC236}">
                  <a16:creationId xmlns:a16="http://schemas.microsoft.com/office/drawing/2014/main" id="{B5C78DF7-161A-59A8-2561-721D976598DC}"/>
                </a:ext>
              </a:extLst>
            </p:cNvPr>
            <p:cNvGrpSpPr>
              <a:grpSpLocks/>
            </p:cNvGrpSpPr>
            <p:nvPr/>
          </p:nvGrpSpPr>
          <p:grpSpPr bwMode="auto">
            <a:xfrm>
              <a:off x="1931626" y="2447763"/>
              <a:ext cx="419100" cy="538783"/>
              <a:chOff x="3016" y="1444"/>
              <a:chExt cx="264" cy="360"/>
            </a:xfrm>
          </p:grpSpPr>
          <p:sp>
            <p:nvSpPr>
              <p:cNvPr id="504" name="Line 63">
                <a:extLst>
                  <a:ext uri="{FF2B5EF4-FFF2-40B4-BE49-F238E27FC236}">
                    <a16:creationId xmlns:a16="http://schemas.microsoft.com/office/drawing/2014/main" id="{17C5052E-EC98-3B45-E568-765DD2E8859A}"/>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5" name="Freeform 64">
                <a:extLst>
                  <a:ext uri="{FF2B5EF4-FFF2-40B4-BE49-F238E27FC236}">
                    <a16:creationId xmlns:a16="http://schemas.microsoft.com/office/drawing/2014/main" id="{9D76D3AD-BA7B-EC53-2DA2-7D48059CABC1}"/>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506" name="Freeform 65">
                <a:extLst>
                  <a:ext uri="{FF2B5EF4-FFF2-40B4-BE49-F238E27FC236}">
                    <a16:creationId xmlns:a16="http://schemas.microsoft.com/office/drawing/2014/main" id="{FBC2396A-AF49-3697-D789-9FD0FF3007A0}"/>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507" name="Line 66">
                <a:extLst>
                  <a:ext uri="{FF2B5EF4-FFF2-40B4-BE49-F238E27FC236}">
                    <a16:creationId xmlns:a16="http://schemas.microsoft.com/office/drawing/2014/main" id="{3CF4AC38-DC03-30EA-D191-977288BC50FB}"/>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8" name="Line 67">
                <a:extLst>
                  <a:ext uri="{FF2B5EF4-FFF2-40B4-BE49-F238E27FC236}">
                    <a16:creationId xmlns:a16="http://schemas.microsoft.com/office/drawing/2014/main" id="{9C81A743-5636-6EFA-561C-84DE870A91A3}"/>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9" name="Line 68">
                <a:extLst>
                  <a:ext uri="{FF2B5EF4-FFF2-40B4-BE49-F238E27FC236}">
                    <a16:creationId xmlns:a16="http://schemas.microsoft.com/office/drawing/2014/main" id="{A3B55A7B-5223-61D9-C4D9-019BDEFA69B6}"/>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0" name="Oval 69">
                <a:extLst>
                  <a:ext uri="{FF2B5EF4-FFF2-40B4-BE49-F238E27FC236}">
                    <a16:creationId xmlns:a16="http://schemas.microsoft.com/office/drawing/2014/main" id="{4A3FC751-22FD-EF82-9305-A52958AE946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511" name="Oval 70">
                <a:extLst>
                  <a:ext uri="{FF2B5EF4-FFF2-40B4-BE49-F238E27FC236}">
                    <a16:creationId xmlns:a16="http://schemas.microsoft.com/office/drawing/2014/main" id="{862E42D0-B3E1-A9FB-F477-A003F5BB6AE1}"/>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502" name="Text Box 218">
              <a:extLst>
                <a:ext uri="{FF2B5EF4-FFF2-40B4-BE49-F238E27FC236}">
                  <a16:creationId xmlns:a16="http://schemas.microsoft.com/office/drawing/2014/main" id="{C711D30E-C939-4CB5-ED14-DF4C875021D1}"/>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503" name="Picture 502">
              <a:extLst>
                <a:ext uri="{FF2B5EF4-FFF2-40B4-BE49-F238E27FC236}">
                  <a16:creationId xmlns:a16="http://schemas.microsoft.com/office/drawing/2014/main" id="{117E22A3-5E27-021D-C7F9-7CE0DB66189E}"/>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512" name="Group 511">
            <a:extLst>
              <a:ext uri="{FF2B5EF4-FFF2-40B4-BE49-F238E27FC236}">
                <a16:creationId xmlns:a16="http://schemas.microsoft.com/office/drawing/2014/main" id="{FC10A68A-F168-B423-EA14-A2CFA6AFBA67}"/>
              </a:ext>
            </a:extLst>
          </p:cNvPr>
          <p:cNvGrpSpPr/>
          <p:nvPr/>
        </p:nvGrpSpPr>
        <p:grpSpPr>
          <a:xfrm>
            <a:off x="5532575" y="2588431"/>
            <a:ext cx="495344" cy="554713"/>
            <a:chOff x="1855382" y="2447763"/>
            <a:chExt cx="495344" cy="554713"/>
          </a:xfrm>
        </p:grpSpPr>
        <p:grpSp>
          <p:nvGrpSpPr>
            <p:cNvPr id="513" name="Group 71">
              <a:extLst>
                <a:ext uri="{FF2B5EF4-FFF2-40B4-BE49-F238E27FC236}">
                  <a16:creationId xmlns:a16="http://schemas.microsoft.com/office/drawing/2014/main" id="{0D0C0B0B-E0E9-8CAA-A045-221D187586CB}"/>
                </a:ext>
              </a:extLst>
            </p:cNvPr>
            <p:cNvGrpSpPr>
              <a:grpSpLocks/>
            </p:cNvGrpSpPr>
            <p:nvPr/>
          </p:nvGrpSpPr>
          <p:grpSpPr bwMode="auto">
            <a:xfrm>
              <a:off x="1931626" y="2447763"/>
              <a:ext cx="419100" cy="538783"/>
              <a:chOff x="3016" y="1444"/>
              <a:chExt cx="264" cy="360"/>
            </a:xfrm>
          </p:grpSpPr>
          <p:sp>
            <p:nvSpPr>
              <p:cNvPr id="516" name="Line 63">
                <a:extLst>
                  <a:ext uri="{FF2B5EF4-FFF2-40B4-BE49-F238E27FC236}">
                    <a16:creationId xmlns:a16="http://schemas.microsoft.com/office/drawing/2014/main" id="{DA342D82-689C-D69E-7855-770EACCE5948}"/>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7" name="Freeform 64">
                <a:extLst>
                  <a:ext uri="{FF2B5EF4-FFF2-40B4-BE49-F238E27FC236}">
                    <a16:creationId xmlns:a16="http://schemas.microsoft.com/office/drawing/2014/main" id="{A50E502B-D9FD-A490-6B50-BD4FDA89B66B}"/>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518" name="Freeform 65">
                <a:extLst>
                  <a:ext uri="{FF2B5EF4-FFF2-40B4-BE49-F238E27FC236}">
                    <a16:creationId xmlns:a16="http://schemas.microsoft.com/office/drawing/2014/main" id="{C0ECCF1C-523F-F536-6D0C-7A5D65E88A0A}"/>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519" name="Line 66">
                <a:extLst>
                  <a:ext uri="{FF2B5EF4-FFF2-40B4-BE49-F238E27FC236}">
                    <a16:creationId xmlns:a16="http://schemas.microsoft.com/office/drawing/2014/main" id="{3ADF3E3E-D131-06A8-319F-B619EF8AD539}"/>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 name="Line 67">
                <a:extLst>
                  <a:ext uri="{FF2B5EF4-FFF2-40B4-BE49-F238E27FC236}">
                    <a16:creationId xmlns:a16="http://schemas.microsoft.com/office/drawing/2014/main" id="{68B2E737-9EF6-BEA4-B70A-4925A5A2DDBA}"/>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1" name="Line 68">
                <a:extLst>
                  <a:ext uri="{FF2B5EF4-FFF2-40B4-BE49-F238E27FC236}">
                    <a16:creationId xmlns:a16="http://schemas.microsoft.com/office/drawing/2014/main" id="{70DC8BE8-96C8-A4AC-6E72-9907410FBCA8}"/>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 name="Oval 69">
                <a:extLst>
                  <a:ext uri="{FF2B5EF4-FFF2-40B4-BE49-F238E27FC236}">
                    <a16:creationId xmlns:a16="http://schemas.microsoft.com/office/drawing/2014/main" id="{908E0BAB-54F3-2B81-D52E-E9E10E92E82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523" name="Oval 70">
                <a:extLst>
                  <a:ext uri="{FF2B5EF4-FFF2-40B4-BE49-F238E27FC236}">
                    <a16:creationId xmlns:a16="http://schemas.microsoft.com/office/drawing/2014/main" id="{FBDA4E96-891E-D4D5-2876-98695C64AB05}"/>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514" name="Text Box 218">
              <a:extLst>
                <a:ext uri="{FF2B5EF4-FFF2-40B4-BE49-F238E27FC236}">
                  <a16:creationId xmlns:a16="http://schemas.microsoft.com/office/drawing/2014/main" id="{13542576-746B-3969-BDF0-C77521DCAC16}"/>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515" name="Picture 514">
              <a:extLst>
                <a:ext uri="{FF2B5EF4-FFF2-40B4-BE49-F238E27FC236}">
                  <a16:creationId xmlns:a16="http://schemas.microsoft.com/office/drawing/2014/main" id="{225C1C4F-F622-E788-D44B-F27D63E55E76}"/>
                </a:ext>
              </a:extLst>
            </p:cNvPr>
            <p:cNvPicPr>
              <a:picLocks noChangeAspect="1"/>
            </p:cNvPicPr>
            <p:nvPr/>
          </p:nvPicPr>
          <p:blipFill>
            <a:blip r:embed="rId10"/>
            <a:stretch>
              <a:fillRect/>
            </a:stretch>
          </p:blipFill>
          <p:spPr>
            <a:xfrm>
              <a:off x="1855382" y="2710376"/>
              <a:ext cx="215900" cy="292100"/>
            </a:xfrm>
            <a:prstGeom prst="rect">
              <a:avLst/>
            </a:prstGeom>
          </p:spPr>
        </p:pic>
      </p:grpSp>
      <p:pic>
        <p:nvPicPr>
          <p:cNvPr id="526" name="Picture 525">
            <a:extLst>
              <a:ext uri="{FF2B5EF4-FFF2-40B4-BE49-F238E27FC236}">
                <a16:creationId xmlns:a16="http://schemas.microsoft.com/office/drawing/2014/main" id="{A4B72E84-9D00-2A28-FE9B-1CE0AD015B78}"/>
              </a:ext>
            </a:extLst>
          </p:cNvPr>
          <p:cNvPicPr>
            <a:picLocks noChangeAspect="1"/>
          </p:cNvPicPr>
          <p:nvPr/>
        </p:nvPicPr>
        <p:blipFill>
          <a:blip r:embed="rId10"/>
          <a:stretch>
            <a:fillRect/>
          </a:stretch>
        </p:blipFill>
        <p:spPr>
          <a:xfrm>
            <a:off x="5699390" y="2928783"/>
            <a:ext cx="215900" cy="292100"/>
          </a:xfrm>
          <a:prstGeom prst="rect">
            <a:avLst/>
          </a:prstGeom>
        </p:spPr>
      </p:pic>
      <p:pic>
        <p:nvPicPr>
          <p:cNvPr id="527" name="Picture 526">
            <a:extLst>
              <a:ext uri="{FF2B5EF4-FFF2-40B4-BE49-F238E27FC236}">
                <a16:creationId xmlns:a16="http://schemas.microsoft.com/office/drawing/2014/main" id="{F31F1B10-8814-3A17-81F9-FA97BCD7767D}"/>
              </a:ext>
            </a:extLst>
          </p:cNvPr>
          <p:cNvPicPr>
            <a:picLocks noChangeAspect="1"/>
          </p:cNvPicPr>
          <p:nvPr/>
        </p:nvPicPr>
        <p:blipFill>
          <a:blip r:embed="rId10"/>
          <a:stretch>
            <a:fillRect/>
          </a:stretch>
        </p:blipFill>
        <p:spPr>
          <a:xfrm>
            <a:off x="5893065" y="2932653"/>
            <a:ext cx="215900" cy="292100"/>
          </a:xfrm>
          <a:prstGeom prst="rect">
            <a:avLst/>
          </a:prstGeom>
        </p:spPr>
      </p:pic>
      <p:pic>
        <p:nvPicPr>
          <p:cNvPr id="528" name="Picture 527">
            <a:extLst>
              <a:ext uri="{FF2B5EF4-FFF2-40B4-BE49-F238E27FC236}">
                <a16:creationId xmlns:a16="http://schemas.microsoft.com/office/drawing/2014/main" id="{399B920D-2254-AD9D-8904-5F5828812FF3}"/>
              </a:ext>
            </a:extLst>
          </p:cNvPr>
          <p:cNvPicPr>
            <a:picLocks noChangeAspect="1"/>
          </p:cNvPicPr>
          <p:nvPr/>
        </p:nvPicPr>
        <p:blipFill>
          <a:blip r:embed="rId10"/>
          <a:stretch>
            <a:fillRect/>
          </a:stretch>
        </p:blipFill>
        <p:spPr>
          <a:xfrm>
            <a:off x="5522248" y="3160261"/>
            <a:ext cx="215900" cy="292100"/>
          </a:xfrm>
          <a:prstGeom prst="rect">
            <a:avLst/>
          </a:prstGeom>
        </p:spPr>
      </p:pic>
      <p:pic>
        <p:nvPicPr>
          <p:cNvPr id="529" name="Picture 528">
            <a:extLst>
              <a:ext uri="{FF2B5EF4-FFF2-40B4-BE49-F238E27FC236}">
                <a16:creationId xmlns:a16="http://schemas.microsoft.com/office/drawing/2014/main" id="{4B9E13D4-6A23-5346-6543-B82AF2C3E898}"/>
              </a:ext>
            </a:extLst>
          </p:cNvPr>
          <p:cNvPicPr>
            <a:picLocks noChangeAspect="1"/>
          </p:cNvPicPr>
          <p:nvPr/>
        </p:nvPicPr>
        <p:blipFill>
          <a:blip r:embed="rId10"/>
          <a:stretch>
            <a:fillRect/>
          </a:stretch>
        </p:blipFill>
        <p:spPr>
          <a:xfrm>
            <a:off x="5771788" y="3221243"/>
            <a:ext cx="215900" cy="292100"/>
          </a:xfrm>
          <a:prstGeom prst="rect">
            <a:avLst/>
          </a:prstGeom>
        </p:spPr>
      </p:pic>
      <p:pic>
        <p:nvPicPr>
          <p:cNvPr id="530" name="Picture 529">
            <a:extLst>
              <a:ext uri="{FF2B5EF4-FFF2-40B4-BE49-F238E27FC236}">
                <a16:creationId xmlns:a16="http://schemas.microsoft.com/office/drawing/2014/main" id="{642FD2E2-49BB-01DA-BFA3-79A6EBB6F056}"/>
              </a:ext>
            </a:extLst>
          </p:cNvPr>
          <p:cNvPicPr>
            <a:picLocks noChangeAspect="1"/>
          </p:cNvPicPr>
          <p:nvPr/>
        </p:nvPicPr>
        <p:blipFill>
          <a:blip r:embed="rId10"/>
          <a:stretch>
            <a:fillRect/>
          </a:stretch>
        </p:blipFill>
        <p:spPr>
          <a:xfrm>
            <a:off x="6062300" y="3094634"/>
            <a:ext cx="215900" cy="292100"/>
          </a:xfrm>
          <a:prstGeom prst="rect">
            <a:avLst/>
          </a:prstGeom>
        </p:spPr>
      </p:pic>
      <p:pic>
        <p:nvPicPr>
          <p:cNvPr id="531" name="Picture 530">
            <a:extLst>
              <a:ext uri="{FF2B5EF4-FFF2-40B4-BE49-F238E27FC236}">
                <a16:creationId xmlns:a16="http://schemas.microsoft.com/office/drawing/2014/main" id="{29C3CDC9-7FFB-9158-4CB7-F0E106567344}"/>
              </a:ext>
            </a:extLst>
          </p:cNvPr>
          <p:cNvPicPr>
            <a:picLocks noChangeAspect="1"/>
          </p:cNvPicPr>
          <p:nvPr/>
        </p:nvPicPr>
        <p:blipFill>
          <a:blip r:embed="rId10"/>
          <a:stretch>
            <a:fillRect/>
          </a:stretch>
        </p:blipFill>
        <p:spPr>
          <a:xfrm>
            <a:off x="5348469" y="2937055"/>
            <a:ext cx="215900" cy="292100"/>
          </a:xfrm>
          <a:prstGeom prst="rect">
            <a:avLst/>
          </a:prstGeom>
        </p:spPr>
      </p:pic>
      <p:pic>
        <p:nvPicPr>
          <p:cNvPr id="532" name="Picture 531">
            <a:extLst>
              <a:ext uri="{FF2B5EF4-FFF2-40B4-BE49-F238E27FC236}">
                <a16:creationId xmlns:a16="http://schemas.microsoft.com/office/drawing/2014/main" id="{C3503183-7A20-8A99-1AC9-64B44E5F19A0}"/>
              </a:ext>
            </a:extLst>
          </p:cNvPr>
          <p:cNvPicPr>
            <a:picLocks noChangeAspect="1"/>
          </p:cNvPicPr>
          <p:nvPr/>
        </p:nvPicPr>
        <p:blipFill>
          <a:blip r:embed="rId10"/>
          <a:stretch>
            <a:fillRect/>
          </a:stretch>
        </p:blipFill>
        <p:spPr>
          <a:xfrm>
            <a:off x="7472963" y="2466341"/>
            <a:ext cx="215900" cy="292100"/>
          </a:xfrm>
          <a:prstGeom prst="rect">
            <a:avLst/>
          </a:prstGeom>
        </p:spPr>
      </p:pic>
      <p:pic>
        <p:nvPicPr>
          <p:cNvPr id="14" name="Picture 13">
            <a:extLst>
              <a:ext uri="{FF2B5EF4-FFF2-40B4-BE49-F238E27FC236}">
                <a16:creationId xmlns:a16="http://schemas.microsoft.com/office/drawing/2014/main" id="{CD194BC3-634E-D31D-3BAB-96C474139B19}"/>
              </a:ext>
            </a:extLst>
          </p:cNvPr>
          <p:cNvPicPr>
            <a:picLocks noChangeAspect="1"/>
          </p:cNvPicPr>
          <p:nvPr/>
        </p:nvPicPr>
        <p:blipFill>
          <a:blip r:embed="rId10"/>
          <a:stretch>
            <a:fillRect/>
          </a:stretch>
        </p:blipFill>
        <p:spPr>
          <a:xfrm>
            <a:off x="7335427" y="2844973"/>
            <a:ext cx="215900" cy="292100"/>
          </a:xfrm>
          <a:prstGeom prst="rect">
            <a:avLst/>
          </a:prstGeom>
        </p:spPr>
      </p:pic>
      <p:pic>
        <p:nvPicPr>
          <p:cNvPr id="15" name="Picture 14">
            <a:extLst>
              <a:ext uri="{FF2B5EF4-FFF2-40B4-BE49-F238E27FC236}">
                <a16:creationId xmlns:a16="http://schemas.microsoft.com/office/drawing/2014/main" id="{D089FF98-9FAB-4AC8-9124-349038997319}"/>
              </a:ext>
            </a:extLst>
          </p:cNvPr>
          <p:cNvPicPr>
            <a:picLocks noChangeAspect="1"/>
          </p:cNvPicPr>
          <p:nvPr/>
        </p:nvPicPr>
        <p:blipFill>
          <a:blip r:embed="rId10"/>
          <a:stretch>
            <a:fillRect/>
          </a:stretch>
        </p:blipFill>
        <p:spPr>
          <a:xfrm>
            <a:off x="8287012" y="2401044"/>
            <a:ext cx="215900" cy="292100"/>
          </a:xfrm>
          <a:prstGeom prst="rect">
            <a:avLst/>
          </a:prstGeom>
        </p:spPr>
      </p:pic>
      <p:pic>
        <p:nvPicPr>
          <p:cNvPr id="16" name="Picture 15">
            <a:extLst>
              <a:ext uri="{FF2B5EF4-FFF2-40B4-BE49-F238E27FC236}">
                <a16:creationId xmlns:a16="http://schemas.microsoft.com/office/drawing/2014/main" id="{DDC51774-D24B-DA89-422F-BD6708C801B5}"/>
              </a:ext>
            </a:extLst>
          </p:cNvPr>
          <p:cNvPicPr>
            <a:picLocks noChangeAspect="1"/>
          </p:cNvPicPr>
          <p:nvPr/>
        </p:nvPicPr>
        <p:blipFill>
          <a:blip r:embed="rId10"/>
          <a:stretch>
            <a:fillRect/>
          </a:stretch>
        </p:blipFill>
        <p:spPr>
          <a:xfrm>
            <a:off x="8745492" y="2488172"/>
            <a:ext cx="215900" cy="292100"/>
          </a:xfrm>
          <a:prstGeom prst="rect">
            <a:avLst/>
          </a:prstGeom>
        </p:spPr>
      </p:pic>
      <p:pic>
        <p:nvPicPr>
          <p:cNvPr id="17" name="Picture 16">
            <a:extLst>
              <a:ext uri="{FF2B5EF4-FFF2-40B4-BE49-F238E27FC236}">
                <a16:creationId xmlns:a16="http://schemas.microsoft.com/office/drawing/2014/main" id="{EC48DA92-1FC0-4E33-777A-48A1765B83D6}"/>
              </a:ext>
            </a:extLst>
          </p:cNvPr>
          <p:cNvPicPr>
            <a:picLocks noChangeAspect="1"/>
          </p:cNvPicPr>
          <p:nvPr/>
        </p:nvPicPr>
        <p:blipFill>
          <a:blip r:embed="rId10"/>
          <a:stretch>
            <a:fillRect/>
          </a:stretch>
        </p:blipFill>
        <p:spPr>
          <a:xfrm>
            <a:off x="9301554" y="2762596"/>
            <a:ext cx="215900" cy="292100"/>
          </a:xfrm>
          <a:prstGeom prst="rect">
            <a:avLst/>
          </a:prstGeom>
        </p:spPr>
      </p:pic>
      <p:pic>
        <p:nvPicPr>
          <p:cNvPr id="18" name="Picture 17">
            <a:extLst>
              <a:ext uri="{FF2B5EF4-FFF2-40B4-BE49-F238E27FC236}">
                <a16:creationId xmlns:a16="http://schemas.microsoft.com/office/drawing/2014/main" id="{6D01426B-9CBF-960B-9248-6B1D41FCFFA8}"/>
              </a:ext>
            </a:extLst>
          </p:cNvPr>
          <p:cNvPicPr>
            <a:picLocks noChangeAspect="1"/>
          </p:cNvPicPr>
          <p:nvPr/>
        </p:nvPicPr>
        <p:blipFill>
          <a:blip r:embed="rId10"/>
          <a:stretch>
            <a:fillRect/>
          </a:stretch>
        </p:blipFill>
        <p:spPr>
          <a:xfrm>
            <a:off x="9584883" y="2626487"/>
            <a:ext cx="215900" cy="292100"/>
          </a:xfrm>
          <a:prstGeom prst="rect">
            <a:avLst/>
          </a:prstGeom>
        </p:spPr>
      </p:pic>
      <p:pic>
        <p:nvPicPr>
          <p:cNvPr id="19" name="Picture 18">
            <a:extLst>
              <a:ext uri="{FF2B5EF4-FFF2-40B4-BE49-F238E27FC236}">
                <a16:creationId xmlns:a16="http://schemas.microsoft.com/office/drawing/2014/main" id="{BE2A7E3E-6188-0ED3-8F35-2C25A5D2D2D3}"/>
              </a:ext>
            </a:extLst>
          </p:cNvPr>
          <p:cNvPicPr>
            <a:picLocks noChangeAspect="1"/>
          </p:cNvPicPr>
          <p:nvPr/>
        </p:nvPicPr>
        <p:blipFill>
          <a:blip r:embed="rId10"/>
          <a:stretch>
            <a:fillRect/>
          </a:stretch>
        </p:blipFill>
        <p:spPr>
          <a:xfrm>
            <a:off x="9738259" y="3076093"/>
            <a:ext cx="215900" cy="292100"/>
          </a:xfrm>
          <a:prstGeom prst="rect">
            <a:avLst/>
          </a:prstGeom>
        </p:spPr>
      </p:pic>
      <p:pic>
        <p:nvPicPr>
          <p:cNvPr id="20" name="Picture 19">
            <a:extLst>
              <a:ext uri="{FF2B5EF4-FFF2-40B4-BE49-F238E27FC236}">
                <a16:creationId xmlns:a16="http://schemas.microsoft.com/office/drawing/2014/main" id="{97F84BB6-B4C3-B355-6542-036A87CD720F}"/>
              </a:ext>
            </a:extLst>
          </p:cNvPr>
          <p:cNvPicPr>
            <a:picLocks noChangeAspect="1"/>
          </p:cNvPicPr>
          <p:nvPr/>
        </p:nvPicPr>
        <p:blipFill>
          <a:blip r:embed="rId10"/>
          <a:stretch>
            <a:fillRect/>
          </a:stretch>
        </p:blipFill>
        <p:spPr>
          <a:xfrm>
            <a:off x="2679337" y="5321474"/>
            <a:ext cx="215900" cy="292100"/>
          </a:xfrm>
          <a:prstGeom prst="rect">
            <a:avLst/>
          </a:prstGeom>
        </p:spPr>
      </p:pic>
      <p:pic>
        <p:nvPicPr>
          <p:cNvPr id="22" name="Picture 21">
            <a:extLst>
              <a:ext uri="{FF2B5EF4-FFF2-40B4-BE49-F238E27FC236}">
                <a16:creationId xmlns:a16="http://schemas.microsoft.com/office/drawing/2014/main" id="{426A1A83-0D40-2B18-265A-34CAB37E576C}"/>
              </a:ext>
            </a:extLst>
          </p:cNvPr>
          <p:cNvPicPr>
            <a:picLocks noChangeAspect="1"/>
          </p:cNvPicPr>
          <p:nvPr/>
        </p:nvPicPr>
        <p:blipFill>
          <a:blip r:embed="rId10"/>
          <a:stretch>
            <a:fillRect/>
          </a:stretch>
        </p:blipFill>
        <p:spPr>
          <a:xfrm>
            <a:off x="2885511" y="5451220"/>
            <a:ext cx="215900" cy="292100"/>
          </a:xfrm>
          <a:prstGeom prst="rect">
            <a:avLst/>
          </a:prstGeom>
        </p:spPr>
      </p:pic>
      <p:pic>
        <p:nvPicPr>
          <p:cNvPr id="23" name="Picture 22">
            <a:extLst>
              <a:ext uri="{FF2B5EF4-FFF2-40B4-BE49-F238E27FC236}">
                <a16:creationId xmlns:a16="http://schemas.microsoft.com/office/drawing/2014/main" id="{EBD74CF2-4F0A-1184-6875-F1DD65396ADF}"/>
              </a:ext>
            </a:extLst>
          </p:cNvPr>
          <p:cNvPicPr>
            <a:picLocks noChangeAspect="1"/>
          </p:cNvPicPr>
          <p:nvPr/>
        </p:nvPicPr>
        <p:blipFill>
          <a:blip r:embed="rId10"/>
          <a:stretch>
            <a:fillRect/>
          </a:stretch>
        </p:blipFill>
        <p:spPr>
          <a:xfrm>
            <a:off x="2649129" y="5593373"/>
            <a:ext cx="215900" cy="292100"/>
          </a:xfrm>
          <a:prstGeom prst="rect">
            <a:avLst/>
          </a:prstGeom>
        </p:spPr>
      </p:pic>
      <p:pic>
        <p:nvPicPr>
          <p:cNvPr id="24" name="Picture 23">
            <a:extLst>
              <a:ext uri="{FF2B5EF4-FFF2-40B4-BE49-F238E27FC236}">
                <a16:creationId xmlns:a16="http://schemas.microsoft.com/office/drawing/2014/main" id="{8794F599-088A-F544-5CD3-884630E9FFA7}"/>
              </a:ext>
            </a:extLst>
          </p:cNvPr>
          <p:cNvPicPr>
            <a:picLocks noChangeAspect="1"/>
          </p:cNvPicPr>
          <p:nvPr/>
        </p:nvPicPr>
        <p:blipFill>
          <a:blip r:embed="rId10"/>
          <a:stretch>
            <a:fillRect/>
          </a:stretch>
        </p:blipFill>
        <p:spPr>
          <a:xfrm>
            <a:off x="3190467" y="5587362"/>
            <a:ext cx="215900" cy="292100"/>
          </a:xfrm>
          <a:prstGeom prst="rect">
            <a:avLst/>
          </a:prstGeom>
        </p:spPr>
      </p:pic>
      <p:pic>
        <p:nvPicPr>
          <p:cNvPr id="25" name="Picture 24">
            <a:extLst>
              <a:ext uri="{FF2B5EF4-FFF2-40B4-BE49-F238E27FC236}">
                <a16:creationId xmlns:a16="http://schemas.microsoft.com/office/drawing/2014/main" id="{F55D61A6-6E01-7BC0-5B05-6892FE767E50}"/>
              </a:ext>
            </a:extLst>
          </p:cNvPr>
          <p:cNvPicPr>
            <a:picLocks noChangeAspect="1"/>
          </p:cNvPicPr>
          <p:nvPr/>
        </p:nvPicPr>
        <p:blipFill>
          <a:blip r:embed="rId10"/>
          <a:stretch>
            <a:fillRect/>
          </a:stretch>
        </p:blipFill>
        <p:spPr>
          <a:xfrm>
            <a:off x="2997609" y="5689561"/>
            <a:ext cx="215900" cy="292100"/>
          </a:xfrm>
          <a:prstGeom prst="rect">
            <a:avLst/>
          </a:prstGeom>
        </p:spPr>
      </p:pic>
      <p:pic>
        <p:nvPicPr>
          <p:cNvPr id="26" name="Picture 25">
            <a:extLst>
              <a:ext uri="{FF2B5EF4-FFF2-40B4-BE49-F238E27FC236}">
                <a16:creationId xmlns:a16="http://schemas.microsoft.com/office/drawing/2014/main" id="{B10D5B40-D30C-C728-3B4D-EBF9C0E55859}"/>
              </a:ext>
            </a:extLst>
          </p:cNvPr>
          <p:cNvPicPr>
            <a:picLocks noChangeAspect="1"/>
          </p:cNvPicPr>
          <p:nvPr/>
        </p:nvPicPr>
        <p:blipFill>
          <a:blip r:embed="rId10"/>
          <a:stretch>
            <a:fillRect/>
          </a:stretch>
        </p:blipFill>
        <p:spPr>
          <a:xfrm>
            <a:off x="3464357" y="5710847"/>
            <a:ext cx="215900" cy="292100"/>
          </a:xfrm>
          <a:prstGeom prst="rect">
            <a:avLst/>
          </a:prstGeom>
        </p:spPr>
      </p:pic>
      <p:pic>
        <p:nvPicPr>
          <p:cNvPr id="27" name="Picture 26">
            <a:extLst>
              <a:ext uri="{FF2B5EF4-FFF2-40B4-BE49-F238E27FC236}">
                <a16:creationId xmlns:a16="http://schemas.microsoft.com/office/drawing/2014/main" id="{71045D1A-1246-8B6A-D500-A3F39E6BEB3D}"/>
              </a:ext>
            </a:extLst>
          </p:cNvPr>
          <p:cNvPicPr>
            <a:picLocks noChangeAspect="1"/>
          </p:cNvPicPr>
          <p:nvPr/>
        </p:nvPicPr>
        <p:blipFill>
          <a:blip r:embed="rId10"/>
          <a:stretch>
            <a:fillRect/>
          </a:stretch>
        </p:blipFill>
        <p:spPr>
          <a:xfrm>
            <a:off x="3381013" y="5404574"/>
            <a:ext cx="215900" cy="292100"/>
          </a:xfrm>
          <a:prstGeom prst="rect">
            <a:avLst/>
          </a:prstGeom>
        </p:spPr>
      </p:pic>
      <p:pic>
        <p:nvPicPr>
          <p:cNvPr id="28" name="Picture 27">
            <a:extLst>
              <a:ext uri="{FF2B5EF4-FFF2-40B4-BE49-F238E27FC236}">
                <a16:creationId xmlns:a16="http://schemas.microsoft.com/office/drawing/2014/main" id="{6830FAB5-1B09-AC52-4076-7B3E74D9A306}"/>
              </a:ext>
            </a:extLst>
          </p:cNvPr>
          <p:cNvPicPr>
            <a:picLocks noChangeAspect="1"/>
          </p:cNvPicPr>
          <p:nvPr/>
        </p:nvPicPr>
        <p:blipFill>
          <a:blip r:embed="rId10"/>
          <a:stretch>
            <a:fillRect/>
          </a:stretch>
        </p:blipFill>
        <p:spPr>
          <a:xfrm>
            <a:off x="4695509" y="5301273"/>
            <a:ext cx="215900" cy="292100"/>
          </a:xfrm>
          <a:prstGeom prst="rect">
            <a:avLst/>
          </a:prstGeom>
        </p:spPr>
      </p:pic>
      <p:pic>
        <p:nvPicPr>
          <p:cNvPr id="29" name="Picture 28">
            <a:extLst>
              <a:ext uri="{FF2B5EF4-FFF2-40B4-BE49-F238E27FC236}">
                <a16:creationId xmlns:a16="http://schemas.microsoft.com/office/drawing/2014/main" id="{F3B38C58-6398-4548-0E90-FB00AF708D85}"/>
              </a:ext>
            </a:extLst>
          </p:cNvPr>
          <p:cNvPicPr>
            <a:picLocks noChangeAspect="1"/>
          </p:cNvPicPr>
          <p:nvPr/>
        </p:nvPicPr>
        <p:blipFill>
          <a:blip r:embed="rId10"/>
          <a:stretch>
            <a:fillRect/>
          </a:stretch>
        </p:blipFill>
        <p:spPr>
          <a:xfrm>
            <a:off x="4976180" y="5271096"/>
            <a:ext cx="215900" cy="292100"/>
          </a:xfrm>
          <a:prstGeom prst="rect">
            <a:avLst/>
          </a:prstGeom>
        </p:spPr>
      </p:pic>
      <p:pic>
        <p:nvPicPr>
          <p:cNvPr id="30" name="Picture 29">
            <a:extLst>
              <a:ext uri="{FF2B5EF4-FFF2-40B4-BE49-F238E27FC236}">
                <a16:creationId xmlns:a16="http://schemas.microsoft.com/office/drawing/2014/main" id="{EEFA9026-E03D-9382-A814-BB87521A1CAC}"/>
              </a:ext>
            </a:extLst>
          </p:cNvPr>
          <p:cNvPicPr>
            <a:picLocks noChangeAspect="1"/>
          </p:cNvPicPr>
          <p:nvPr/>
        </p:nvPicPr>
        <p:blipFill>
          <a:blip r:embed="rId10"/>
          <a:stretch>
            <a:fillRect/>
          </a:stretch>
        </p:blipFill>
        <p:spPr>
          <a:xfrm>
            <a:off x="5735186" y="4935354"/>
            <a:ext cx="215900" cy="292100"/>
          </a:xfrm>
          <a:prstGeom prst="rect">
            <a:avLst/>
          </a:prstGeom>
        </p:spPr>
      </p:pic>
      <p:pic>
        <p:nvPicPr>
          <p:cNvPr id="31" name="Picture 30">
            <a:extLst>
              <a:ext uri="{FF2B5EF4-FFF2-40B4-BE49-F238E27FC236}">
                <a16:creationId xmlns:a16="http://schemas.microsoft.com/office/drawing/2014/main" id="{0D3CE0AE-20DB-EC56-6FB4-2C425B5F408D}"/>
              </a:ext>
            </a:extLst>
          </p:cNvPr>
          <p:cNvPicPr>
            <a:picLocks noChangeAspect="1"/>
          </p:cNvPicPr>
          <p:nvPr/>
        </p:nvPicPr>
        <p:blipFill>
          <a:blip r:embed="rId10"/>
          <a:stretch>
            <a:fillRect/>
          </a:stretch>
        </p:blipFill>
        <p:spPr>
          <a:xfrm>
            <a:off x="6627496" y="5341586"/>
            <a:ext cx="215900" cy="292100"/>
          </a:xfrm>
          <a:prstGeom prst="rect">
            <a:avLst/>
          </a:prstGeom>
        </p:spPr>
      </p:pic>
      <p:pic>
        <p:nvPicPr>
          <p:cNvPr id="32" name="Picture 31">
            <a:extLst>
              <a:ext uri="{FF2B5EF4-FFF2-40B4-BE49-F238E27FC236}">
                <a16:creationId xmlns:a16="http://schemas.microsoft.com/office/drawing/2014/main" id="{3909F45F-AFC5-3B69-820F-BB169E6051B5}"/>
              </a:ext>
            </a:extLst>
          </p:cNvPr>
          <p:cNvPicPr>
            <a:picLocks noChangeAspect="1"/>
          </p:cNvPicPr>
          <p:nvPr/>
        </p:nvPicPr>
        <p:blipFill>
          <a:blip r:embed="rId10"/>
          <a:stretch>
            <a:fillRect/>
          </a:stretch>
        </p:blipFill>
        <p:spPr>
          <a:xfrm>
            <a:off x="5468185" y="5095392"/>
            <a:ext cx="215900" cy="292100"/>
          </a:xfrm>
          <a:prstGeom prst="rect">
            <a:avLst/>
          </a:prstGeom>
        </p:spPr>
      </p:pic>
      <p:pic>
        <p:nvPicPr>
          <p:cNvPr id="33" name="Picture 32">
            <a:extLst>
              <a:ext uri="{FF2B5EF4-FFF2-40B4-BE49-F238E27FC236}">
                <a16:creationId xmlns:a16="http://schemas.microsoft.com/office/drawing/2014/main" id="{06B74057-6893-45F2-630A-A5834BCCFDE0}"/>
              </a:ext>
            </a:extLst>
          </p:cNvPr>
          <p:cNvPicPr>
            <a:picLocks noChangeAspect="1"/>
          </p:cNvPicPr>
          <p:nvPr/>
        </p:nvPicPr>
        <p:blipFill>
          <a:blip r:embed="rId10"/>
          <a:stretch>
            <a:fillRect/>
          </a:stretch>
        </p:blipFill>
        <p:spPr>
          <a:xfrm>
            <a:off x="6573475" y="5638407"/>
            <a:ext cx="215900" cy="292100"/>
          </a:xfrm>
          <a:prstGeom prst="rect">
            <a:avLst/>
          </a:prstGeom>
        </p:spPr>
      </p:pic>
      <p:pic>
        <p:nvPicPr>
          <p:cNvPr id="34" name="Picture 33">
            <a:extLst>
              <a:ext uri="{FF2B5EF4-FFF2-40B4-BE49-F238E27FC236}">
                <a16:creationId xmlns:a16="http://schemas.microsoft.com/office/drawing/2014/main" id="{BA4B9A91-6BAA-4EEA-A82B-7BE3F67BDF2D}"/>
              </a:ext>
            </a:extLst>
          </p:cNvPr>
          <p:cNvPicPr>
            <a:picLocks noChangeAspect="1"/>
          </p:cNvPicPr>
          <p:nvPr/>
        </p:nvPicPr>
        <p:blipFill>
          <a:blip r:embed="rId10"/>
          <a:stretch>
            <a:fillRect/>
          </a:stretch>
        </p:blipFill>
        <p:spPr>
          <a:xfrm>
            <a:off x="6991171" y="5410255"/>
            <a:ext cx="215900" cy="292100"/>
          </a:xfrm>
          <a:prstGeom prst="rect">
            <a:avLst/>
          </a:prstGeom>
        </p:spPr>
      </p:pic>
      <p:pic>
        <p:nvPicPr>
          <p:cNvPr id="35" name="Picture 34">
            <a:extLst>
              <a:ext uri="{FF2B5EF4-FFF2-40B4-BE49-F238E27FC236}">
                <a16:creationId xmlns:a16="http://schemas.microsoft.com/office/drawing/2014/main" id="{EAD4D3F4-8635-DBAA-3A08-DCC9BBB501A3}"/>
              </a:ext>
            </a:extLst>
          </p:cNvPr>
          <p:cNvPicPr>
            <a:picLocks noChangeAspect="1"/>
          </p:cNvPicPr>
          <p:nvPr/>
        </p:nvPicPr>
        <p:blipFill>
          <a:blip r:embed="rId10"/>
          <a:stretch>
            <a:fillRect/>
          </a:stretch>
        </p:blipFill>
        <p:spPr>
          <a:xfrm>
            <a:off x="8734405" y="5205716"/>
            <a:ext cx="215900" cy="292100"/>
          </a:xfrm>
          <a:prstGeom prst="rect">
            <a:avLst/>
          </a:prstGeom>
        </p:spPr>
      </p:pic>
      <p:pic>
        <p:nvPicPr>
          <p:cNvPr id="36" name="Picture 35">
            <a:extLst>
              <a:ext uri="{FF2B5EF4-FFF2-40B4-BE49-F238E27FC236}">
                <a16:creationId xmlns:a16="http://schemas.microsoft.com/office/drawing/2014/main" id="{E14EE995-3C94-8C49-1A14-F5C2D8F452CA}"/>
              </a:ext>
            </a:extLst>
          </p:cNvPr>
          <p:cNvPicPr>
            <a:picLocks noChangeAspect="1"/>
          </p:cNvPicPr>
          <p:nvPr/>
        </p:nvPicPr>
        <p:blipFill>
          <a:blip r:embed="rId10"/>
          <a:stretch>
            <a:fillRect/>
          </a:stretch>
        </p:blipFill>
        <p:spPr>
          <a:xfrm>
            <a:off x="8890047" y="5442214"/>
            <a:ext cx="215900" cy="292100"/>
          </a:xfrm>
          <a:prstGeom prst="rect">
            <a:avLst/>
          </a:prstGeom>
        </p:spPr>
      </p:pic>
      <p:pic>
        <p:nvPicPr>
          <p:cNvPr id="37" name="Picture 36">
            <a:extLst>
              <a:ext uri="{FF2B5EF4-FFF2-40B4-BE49-F238E27FC236}">
                <a16:creationId xmlns:a16="http://schemas.microsoft.com/office/drawing/2014/main" id="{83D29546-A080-6841-8659-0FF4B4903112}"/>
              </a:ext>
            </a:extLst>
          </p:cNvPr>
          <p:cNvPicPr>
            <a:picLocks noChangeAspect="1"/>
          </p:cNvPicPr>
          <p:nvPr/>
        </p:nvPicPr>
        <p:blipFill>
          <a:blip r:embed="rId10"/>
          <a:stretch>
            <a:fillRect/>
          </a:stretch>
        </p:blipFill>
        <p:spPr>
          <a:xfrm>
            <a:off x="9112297" y="5528745"/>
            <a:ext cx="215900" cy="292100"/>
          </a:xfrm>
          <a:prstGeom prst="rect">
            <a:avLst/>
          </a:prstGeom>
        </p:spPr>
      </p:pic>
      <p:pic>
        <p:nvPicPr>
          <p:cNvPr id="38" name="Picture 37">
            <a:extLst>
              <a:ext uri="{FF2B5EF4-FFF2-40B4-BE49-F238E27FC236}">
                <a16:creationId xmlns:a16="http://schemas.microsoft.com/office/drawing/2014/main" id="{496E1D4E-1F3D-98E8-F5CF-AD5C799727CC}"/>
              </a:ext>
            </a:extLst>
          </p:cNvPr>
          <p:cNvPicPr>
            <a:picLocks noChangeAspect="1"/>
          </p:cNvPicPr>
          <p:nvPr/>
        </p:nvPicPr>
        <p:blipFill>
          <a:blip r:embed="rId10"/>
          <a:stretch>
            <a:fillRect/>
          </a:stretch>
        </p:blipFill>
        <p:spPr>
          <a:xfrm>
            <a:off x="8681269" y="5542078"/>
            <a:ext cx="215900" cy="292100"/>
          </a:xfrm>
          <a:prstGeom prst="rect">
            <a:avLst/>
          </a:prstGeom>
        </p:spPr>
      </p:pic>
      <p:pic>
        <p:nvPicPr>
          <p:cNvPr id="39" name="Picture 38">
            <a:extLst>
              <a:ext uri="{FF2B5EF4-FFF2-40B4-BE49-F238E27FC236}">
                <a16:creationId xmlns:a16="http://schemas.microsoft.com/office/drawing/2014/main" id="{B0866FD2-10A9-A8B4-43B4-507014A08DBD}"/>
              </a:ext>
            </a:extLst>
          </p:cNvPr>
          <p:cNvPicPr>
            <a:picLocks noChangeAspect="1"/>
          </p:cNvPicPr>
          <p:nvPr/>
        </p:nvPicPr>
        <p:blipFill>
          <a:blip r:embed="rId10"/>
          <a:stretch>
            <a:fillRect/>
          </a:stretch>
        </p:blipFill>
        <p:spPr>
          <a:xfrm>
            <a:off x="9339174" y="5505587"/>
            <a:ext cx="215900" cy="292100"/>
          </a:xfrm>
          <a:prstGeom prst="rect">
            <a:avLst/>
          </a:prstGeom>
        </p:spPr>
      </p:pic>
      <p:pic>
        <p:nvPicPr>
          <p:cNvPr id="40" name="Picture 39">
            <a:extLst>
              <a:ext uri="{FF2B5EF4-FFF2-40B4-BE49-F238E27FC236}">
                <a16:creationId xmlns:a16="http://schemas.microsoft.com/office/drawing/2014/main" id="{034EEA6D-41B4-C31A-23BF-3D3F70B3987F}"/>
              </a:ext>
            </a:extLst>
          </p:cNvPr>
          <p:cNvPicPr>
            <a:picLocks noChangeAspect="1"/>
          </p:cNvPicPr>
          <p:nvPr/>
        </p:nvPicPr>
        <p:blipFill>
          <a:blip r:embed="rId10"/>
          <a:stretch>
            <a:fillRect/>
          </a:stretch>
        </p:blipFill>
        <p:spPr>
          <a:xfrm>
            <a:off x="9715138" y="5524114"/>
            <a:ext cx="215900" cy="292100"/>
          </a:xfrm>
          <a:prstGeom prst="rect">
            <a:avLst/>
          </a:prstGeom>
        </p:spPr>
      </p:pic>
      <p:pic>
        <p:nvPicPr>
          <p:cNvPr id="41" name="Picture 40">
            <a:extLst>
              <a:ext uri="{FF2B5EF4-FFF2-40B4-BE49-F238E27FC236}">
                <a16:creationId xmlns:a16="http://schemas.microsoft.com/office/drawing/2014/main" id="{354BE40C-5557-90BE-1116-5DE826E1B9BE}"/>
              </a:ext>
            </a:extLst>
          </p:cNvPr>
          <p:cNvPicPr>
            <a:picLocks noChangeAspect="1"/>
          </p:cNvPicPr>
          <p:nvPr/>
        </p:nvPicPr>
        <p:blipFill>
          <a:blip r:embed="rId10"/>
          <a:stretch>
            <a:fillRect/>
          </a:stretch>
        </p:blipFill>
        <p:spPr>
          <a:xfrm>
            <a:off x="9546128" y="5410984"/>
            <a:ext cx="215900" cy="292100"/>
          </a:xfrm>
          <a:prstGeom prst="rect">
            <a:avLst/>
          </a:prstGeom>
        </p:spPr>
      </p:pic>
    </p:spTree>
    <p:extLst>
      <p:ext uri="{BB962C8B-B14F-4D97-AF65-F5344CB8AC3E}">
        <p14:creationId xmlns:p14="http://schemas.microsoft.com/office/powerpoint/2010/main" val="732783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graphicFrame>
        <p:nvGraphicFramePr>
          <p:cNvPr id="271" name="Group 221">
            <a:extLst>
              <a:ext uri="{FF2B5EF4-FFF2-40B4-BE49-F238E27FC236}">
                <a16:creationId xmlns:a16="http://schemas.microsoft.com/office/drawing/2014/main" id="{6DE6077C-68BF-0756-E958-78FE233351AD}"/>
              </a:ext>
            </a:extLst>
          </p:cNvPr>
          <p:cNvGraphicFramePr>
            <a:graphicFrameLocks noGrp="1"/>
          </p:cNvGraphicFramePr>
          <p:nvPr/>
        </p:nvGraphicFramePr>
        <p:xfrm>
          <a:off x="978060" y="1862781"/>
          <a:ext cx="9705372" cy="4314182"/>
        </p:xfrm>
        <a:graphic>
          <a:graphicData uri="http://schemas.openxmlformats.org/drawingml/2006/table">
            <a:tbl>
              <a:tblPr/>
              <a:tblGrid>
                <a:gridCol w="3235124">
                  <a:extLst>
                    <a:ext uri="{9D8B030D-6E8A-4147-A177-3AD203B41FA5}">
                      <a16:colId xmlns:a16="http://schemas.microsoft.com/office/drawing/2014/main" val="20000"/>
                    </a:ext>
                  </a:extLst>
                </a:gridCol>
                <a:gridCol w="3235124">
                  <a:extLst>
                    <a:ext uri="{9D8B030D-6E8A-4147-A177-3AD203B41FA5}">
                      <a16:colId xmlns:a16="http://schemas.microsoft.com/office/drawing/2014/main" val="20001"/>
                    </a:ext>
                  </a:extLst>
                </a:gridCol>
                <a:gridCol w="3235124">
                  <a:extLst>
                    <a:ext uri="{9D8B030D-6E8A-4147-A177-3AD203B41FA5}">
                      <a16:colId xmlns:a16="http://schemas.microsoft.com/office/drawing/2014/main" val="20002"/>
                    </a:ext>
                  </a:extLst>
                </a:gridCol>
              </a:tblGrid>
              <a:tr h="45491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13 – Team refines Top Alternative.</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14 – Team completes Process At A Glance form for Top Alternative</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15 – Team prepares Implementation Plan.</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74998">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32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491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16 – Present to Leadership.</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17 – Select builder &amp; prepare fixture and tooling drawings.</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18 – Install, qualify, ramp up.</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6688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273" name="Picture 434" descr="MCj03499260000[1]">
            <a:extLst>
              <a:ext uri="{FF2B5EF4-FFF2-40B4-BE49-F238E27FC236}">
                <a16:creationId xmlns:a16="http://schemas.microsoft.com/office/drawing/2014/main" id="{FF383DAC-A258-682F-1862-D5166C480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404318" y="3133946"/>
            <a:ext cx="202195" cy="153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3" name="Picture 485" descr="MCj03499260000[1]">
            <a:extLst>
              <a:ext uri="{FF2B5EF4-FFF2-40B4-BE49-F238E27FC236}">
                <a16:creationId xmlns:a16="http://schemas.microsoft.com/office/drawing/2014/main" id="{2B8D6A64-77CC-2D17-9184-C106C8593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559459" y="3177229"/>
            <a:ext cx="202195" cy="196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09" name="Group 608">
            <a:extLst>
              <a:ext uri="{FF2B5EF4-FFF2-40B4-BE49-F238E27FC236}">
                <a16:creationId xmlns:a16="http://schemas.microsoft.com/office/drawing/2014/main" id="{3E536F56-48A4-5602-20BA-5457D54B9C14}"/>
              </a:ext>
            </a:extLst>
          </p:cNvPr>
          <p:cNvGrpSpPr/>
          <p:nvPr/>
        </p:nvGrpSpPr>
        <p:grpSpPr>
          <a:xfrm>
            <a:off x="5421473" y="2580640"/>
            <a:ext cx="1277229" cy="711179"/>
            <a:chOff x="5421473" y="2872431"/>
            <a:chExt cx="735765" cy="419388"/>
          </a:xfrm>
        </p:grpSpPr>
        <p:grpSp>
          <p:nvGrpSpPr>
            <p:cNvPr id="385" name="Group 6">
              <a:extLst>
                <a:ext uri="{FF2B5EF4-FFF2-40B4-BE49-F238E27FC236}">
                  <a16:creationId xmlns:a16="http://schemas.microsoft.com/office/drawing/2014/main" id="{BB512CDB-67BE-212B-8801-F0C8E5F38BAF}"/>
                </a:ext>
              </a:extLst>
            </p:cNvPr>
            <p:cNvGrpSpPr>
              <a:grpSpLocks/>
            </p:cNvGrpSpPr>
            <p:nvPr/>
          </p:nvGrpSpPr>
          <p:grpSpPr bwMode="auto">
            <a:xfrm>
              <a:off x="5421473" y="2872431"/>
              <a:ext cx="735765" cy="419388"/>
              <a:chOff x="2895" y="992"/>
              <a:chExt cx="393" cy="287"/>
            </a:xfrm>
          </p:grpSpPr>
          <p:pic>
            <p:nvPicPr>
              <p:cNvPr id="386" name="Object 4">
                <a:extLst>
                  <a:ext uri="{FF2B5EF4-FFF2-40B4-BE49-F238E27FC236}">
                    <a16:creationId xmlns:a16="http://schemas.microsoft.com/office/drawing/2014/main" id="{907AD65F-CBB8-5D31-06AD-A5EFBA5B71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 y="992"/>
                <a:ext cx="389"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87" name="Rectangle 5">
                <a:extLst>
                  <a:ext uri="{FF2B5EF4-FFF2-40B4-BE49-F238E27FC236}">
                    <a16:creationId xmlns:a16="http://schemas.microsoft.com/office/drawing/2014/main" id="{062A16D8-48F8-DBC4-835B-BC7A23058E9F}"/>
                  </a:ext>
                </a:extLst>
              </p:cNvPr>
              <p:cNvSpPr>
                <a:spLocks noChangeArrowheads="1"/>
              </p:cNvSpPr>
              <p:nvPr/>
            </p:nvSpPr>
            <p:spPr bwMode="auto">
              <a:xfrm>
                <a:off x="2913" y="1006"/>
                <a:ext cx="375"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31750" tIns="17463" rIns="31750" bIns="17463"/>
              <a:lstStyle>
                <a:lvl1pPr marL="120650" indent="-120650" defTabSz="112713">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260350" indent="-25400" defTabSz="112713">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12713">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12713">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12713">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20000"/>
                  </a:spcBef>
                  <a:spcAft>
                    <a:spcPct val="0"/>
                  </a:spcAft>
                  <a:buClr>
                    <a:srgbClr val="FC0128"/>
                  </a:buClr>
                  <a:buSzPct val="75000"/>
                  <a:buFont typeface="Monotype Sorts" pitchFamily="-84" charset="2"/>
                  <a:buChar char="u"/>
                </a:pPr>
                <a:r>
                  <a:rPr lang="en-US" altLang="en-US" sz="500" b="0" u="sng" dirty="0">
                    <a:cs typeface="Arial" panose="020B0604020202020204" pitchFamily="34" charset="0"/>
                  </a:rPr>
                  <a:t>Key Actions</a:t>
                </a: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eaLnBrk="1" hangingPunct="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p:txBody>
          </p:sp>
        </p:grpSp>
        <p:sp>
          <p:nvSpPr>
            <p:cNvPr id="388" name="Rectangle 545">
              <a:extLst>
                <a:ext uri="{FF2B5EF4-FFF2-40B4-BE49-F238E27FC236}">
                  <a16:creationId xmlns:a16="http://schemas.microsoft.com/office/drawing/2014/main" id="{5C6DBBDA-AEE4-92D2-0E78-218F0524B725}"/>
                </a:ext>
              </a:extLst>
            </p:cNvPr>
            <p:cNvSpPr>
              <a:spLocks noChangeArrowheads="1"/>
            </p:cNvSpPr>
            <p:nvPr/>
          </p:nvSpPr>
          <p:spPr bwMode="auto">
            <a:xfrm>
              <a:off x="5550059" y="3024830"/>
              <a:ext cx="449323" cy="210424"/>
            </a:xfrm>
            <a:prstGeom prst="rect">
              <a:avLst/>
            </a:prstGeom>
            <a:solidFill>
              <a:schemeClr val="bg1"/>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cs typeface="Arial" panose="020B0604020202020204" pitchFamily="34" charset="0"/>
              </a:endParaRPr>
            </a:p>
          </p:txBody>
        </p:sp>
        <p:sp>
          <p:nvSpPr>
            <p:cNvPr id="389" name="Line 546">
              <a:extLst>
                <a:ext uri="{FF2B5EF4-FFF2-40B4-BE49-F238E27FC236}">
                  <a16:creationId xmlns:a16="http://schemas.microsoft.com/office/drawing/2014/main" id="{1CFB4116-E8CD-C1F3-8B3E-39CA2BC8C9B4}"/>
                </a:ext>
              </a:extLst>
            </p:cNvPr>
            <p:cNvSpPr>
              <a:spLocks noChangeShapeType="1"/>
            </p:cNvSpPr>
            <p:nvPr/>
          </p:nvSpPr>
          <p:spPr bwMode="auto">
            <a:xfrm>
              <a:off x="56262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 name="Line 547">
              <a:extLst>
                <a:ext uri="{FF2B5EF4-FFF2-40B4-BE49-F238E27FC236}">
                  <a16:creationId xmlns:a16="http://schemas.microsoft.com/office/drawing/2014/main" id="{83A1077A-6E04-1D1D-D8D7-6C6B3A314D52}"/>
                </a:ext>
              </a:extLst>
            </p:cNvPr>
            <p:cNvSpPr>
              <a:spLocks noChangeShapeType="1"/>
            </p:cNvSpPr>
            <p:nvPr/>
          </p:nvSpPr>
          <p:spPr bwMode="auto">
            <a:xfrm>
              <a:off x="57024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 name="Line 548">
              <a:extLst>
                <a:ext uri="{FF2B5EF4-FFF2-40B4-BE49-F238E27FC236}">
                  <a16:creationId xmlns:a16="http://schemas.microsoft.com/office/drawing/2014/main" id="{28D818C6-011A-0D0D-7F79-FD1810615FB3}"/>
                </a:ext>
              </a:extLst>
            </p:cNvPr>
            <p:cNvSpPr>
              <a:spLocks noChangeShapeType="1"/>
            </p:cNvSpPr>
            <p:nvPr/>
          </p:nvSpPr>
          <p:spPr bwMode="auto">
            <a:xfrm>
              <a:off x="57786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2" name="Line 549">
              <a:extLst>
                <a:ext uri="{FF2B5EF4-FFF2-40B4-BE49-F238E27FC236}">
                  <a16:creationId xmlns:a16="http://schemas.microsoft.com/office/drawing/2014/main" id="{FAB42594-A84B-D015-B070-81901C639AF4}"/>
                </a:ext>
              </a:extLst>
            </p:cNvPr>
            <p:cNvSpPr>
              <a:spLocks noChangeShapeType="1"/>
            </p:cNvSpPr>
            <p:nvPr/>
          </p:nvSpPr>
          <p:spPr bwMode="auto">
            <a:xfrm>
              <a:off x="58548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3" name="Line 550">
              <a:extLst>
                <a:ext uri="{FF2B5EF4-FFF2-40B4-BE49-F238E27FC236}">
                  <a16:creationId xmlns:a16="http://schemas.microsoft.com/office/drawing/2014/main" id="{A5141392-2589-E381-7947-C66DA00F3D36}"/>
                </a:ext>
              </a:extLst>
            </p:cNvPr>
            <p:cNvSpPr>
              <a:spLocks noChangeShapeType="1"/>
            </p:cNvSpPr>
            <p:nvPr/>
          </p:nvSpPr>
          <p:spPr bwMode="auto">
            <a:xfrm>
              <a:off x="5550059" y="3101030"/>
              <a:ext cx="4493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605" name="Picture 145">
            <a:extLst>
              <a:ext uri="{FF2B5EF4-FFF2-40B4-BE49-F238E27FC236}">
                <a16:creationId xmlns:a16="http://schemas.microsoft.com/office/drawing/2014/main" id="{B7849480-01D5-EBCC-432F-4F810AC14D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7537" y="2435300"/>
            <a:ext cx="1398210" cy="13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6" name="Picture 186" descr="site-builder-demo.png">
            <a:extLst>
              <a:ext uri="{FF2B5EF4-FFF2-40B4-BE49-F238E27FC236}">
                <a16:creationId xmlns:a16="http://schemas.microsoft.com/office/drawing/2014/main" id="{3138F3B3-E21B-8F16-F20A-DA237760262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14419" y="5078898"/>
            <a:ext cx="644029" cy="599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7" name="Picture 187" descr="install.gif">
            <a:extLst>
              <a:ext uri="{FF2B5EF4-FFF2-40B4-BE49-F238E27FC236}">
                <a16:creationId xmlns:a16="http://schemas.microsoft.com/office/drawing/2014/main" id="{EDE02B8F-ADB1-4DBE-5332-EE546A452CB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741778" y="4898079"/>
            <a:ext cx="539187" cy="516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8" name="Picture 146" descr="C:\Users\Lawrence\Documents\Lean Sigma Supply Chain\lens.png">
            <a:extLst>
              <a:ext uri="{FF2B5EF4-FFF2-40B4-BE49-F238E27FC236}">
                <a16:creationId xmlns:a16="http://schemas.microsoft.com/office/drawing/2014/main" id="{F57732B7-06A4-B08F-50B6-FB9A47FC98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13179" y="5279080"/>
            <a:ext cx="902390" cy="67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 name="Picture 609">
            <a:extLst>
              <a:ext uri="{FF2B5EF4-FFF2-40B4-BE49-F238E27FC236}">
                <a16:creationId xmlns:a16="http://schemas.microsoft.com/office/drawing/2014/main" id="{4CB0F27F-D6C9-6983-AAA2-609D3B1D72B4}"/>
              </a:ext>
            </a:extLst>
          </p:cNvPr>
          <p:cNvPicPr>
            <a:picLocks noChangeAspect="1"/>
          </p:cNvPicPr>
          <p:nvPr/>
        </p:nvPicPr>
        <p:blipFill>
          <a:blip r:embed="rId9"/>
          <a:stretch>
            <a:fillRect/>
          </a:stretch>
        </p:blipFill>
        <p:spPr>
          <a:xfrm>
            <a:off x="2083098" y="2820666"/>
            <a:ext cx="215900" cy="292100"/>
          </a:xfrm>
          <a:prstGeom prst="rect">
            <a:avLst/>
          </a:prstGeom>
        </p:spPr>
      </p:pic>
      <p:pic>
        <p:nvPicPr>
          <p:cNvPr id="611" name="Picture 610">
            <a:extLst>
              <a:ext uri="{FF2B5EF4-FFF2-40B4-BE49-F238E27FC236}">
                <a16:creationId xmlns:a16="http://schemas.microsoft.com/office/drawing/2014/main" id="{DB993799-707F-2D2B-3A3A-5DC653B6F162}"/>
              </a:ext>
            </a:extLst>
          </p:cNvPr>
          <p:cNvPicPr>
            <a:picLocks noChangeAspect="1"/>
          </p:cNvPicPr>
          <p:nvPr/>
        </p:nvPicPr>
        <p:blipFill>
          <a:blip r:embed="rId9"/>
          <a:stretch>
            <a:fillRect/>
          </a:stretch>
        </p:blipFill>
        <p:spPr>
          <a:xfrm>
            <a:off x="2349660" y="2769886"/>
            <a:ext cx="215900" cy="292100"/>
          </a:xfrm>
          <a:prstGeom prst="rect">
            <a:avLst/>
          </a:prstGeom>
        </p:spPr>
      </p:pic>
      <p:pic>
        <p:nvPicPr>
          <p:cNvPr id="612" name="Picture 611">
            <a:extLst>
              <a:ext uri="{FF2B5EF4-FFF2-40B4-BE49-F238E27FC236}">
                <a16:creationId xmlns:a16="http://schemas.microsoft.com/office/drawing/2014/main" id="{0E55AD34-F2DA-E2D6-00B6-DFA438BB35F2}"/>
              </a:ext>
            </a:extLst>
          </p:cNvPr>
          <p:cNvPicPr>
            <a:picLocks noChangeAspect="1"/>
          </p:cNvPicPr>
          <p:nvPr/>
        </p:nvPicPr>
        <p:blipFill>
          <a:blip r:embed="rId9"/>
          <a:stretch>
            <a:fillRect/>
          </a:stretch>
        </p:blipFill>
        <p:spPr>
          <a:xfrm>
            <a:off x="2096680" y="3133946"/>
            <a:ext cx="215900" cy="292100"/>
          </a:xfrm>
          <a:prstGeom prst="rect">
            <a:avLst/>
          </a:prstGeom>
        </p:spPr>
      </p:pic>
      <p:pic>
        <p:nvPicPr>
          <p:cNvPr id="613" name="Picture 612">
            <a:extLst>
              <a:ext uri="{FF2B5EF4-FFF2-40B4-BE49-F238E27FC236}">
                <a16:creationId xmlns:a16="http://schemas.microsoft.com/office/drawing/2014/main" id="{0BDE7A60-6189-717F-F6BA-F99764B9C43B}"/>
              </a:ext>
            </a:extLst>
          </p:cNvPr>
          <p:cNvPicPr>
            <a:picLocks noChangeAspect="1"/>
          </p:cNvPicPr>
          <p:nvPr/>
        </p:nvPicPr>
        <p:blipFill>
          <a:blip r:embed="rId9"/>
          <a:stretch>
            <a:fillRect/>
          </a:stretch>
        </p:blipFill>
        <p:spPr>
          <a:xfrm>
            <a:off x="2700259" y="3268334"/>
            <a:ext cx="215900" cy="292100"/>
          </a:xfrm>
          <a:prstGeom prst="rect">
            <a:avLst/>
          </a:prstGeom>
        </p:spPr>
      </p:pic>
      <p:pic>
        <p:nvPicPr>
          <p:cNvPr id="614" name="Picture 613">
            <a:extLst>
              <a:ext uri="{FF2B5EF4-FFF2-40B4-BE49-F238E27FC236}">
                <a16:creationId xmlns:a16="http://schemas.microsoft.com/office/drawing/2014/main" id="{274F825D-3DAC-5D95-0DD9-3D5CDF5C27E3}"/>
              </a:ext>
            </a:extLst>
          </p:cNvPr>
          <p:cNvPicPr>
            <a:picLocks noChangeAspect="1"/>
          </p:cNvPicPr>
          <p:nvPr/>
        </p:nvPicPr>
        <p:blipFill>
          <a:blip r:embed="rId9"/>
          <a:stretch>
            <a:fillRect/>
          </a:stretch>
        </p:blipFill>
        <p:spPr>
          <a:xfrm>
            <a:off x="2402979" y="3287381"/>
            <a:ext cx="215900" cy="292100"/>
          </a:xfrm>
          <a:prstGeom prst="rect">
            <a:avLst/>
          </a:prstGeom>
        </p:spPr>
      </p:pic>
      <p:pic>
        <p:nvPicPr>
          <p:cNvPr id="615" name="Picture 614">
            <a:extLst>
              <a:ext uri="{FF2B5EF4-FFF2-40B4-BE49-F238E27FC236}">
                <a16:creationId xmlns:a16="http://schemas.microsoft.com/office/drawing/2014/main" id="{6A59B32F-245B-32E5-E4DE-6B951B2172C4}"/>
              </a:ext>
            </a:extLst>
          </p:cNvPr>
          <p:cNvPicPr>
            <a:picLocks noChangeAspect="1"/>
          </p:cNvPicPr>
          <p:nvPr/>
        </p:nvPicPr>
        <p:blipFill>
          <a:blip r:embed="rId9"/>
          <a:stretch>
            <a:fillRect/>
          </a:stretch>
        </p:blipFill>
        <p:spPr>
          <a:xfrm>
            <a:off x="2813797" y="3003493"/>
            <a:ext cx="215900" cy="292100"/>
          </a:xfrm>
          <a:prstGeom prst="rect">
            <a:avLst/>
          </a:prstGeom>
        </p:spPr>
      </p:pic>
      <p:pic>
        <p:nvPicPr>
          <p:cNvPr id="616" name="Picture 615">
            <a:extLst>
              <a:ext uri="{FF2B5EF4-FFF2-40B4-BE49-F238E27FC236}">
                <a16:creationId xmlns:a16="http://schemas.microsoft.com/office/drawing/2014/main" id="{5C56CCA0-9F6F-8097-DDF0-4B13B1F03C91}"/>
              </a:ext>
            </a:extLst>
          </p:cNvPr>
          <p:cNvPicPr>
            <a:picLocks noChangeAspect="1"/>
          </p:cNvPicPr>
          <p:nvPr/>
        </p:nvPicPr>
        <p:blipFill>
          <a:blip r:embed="rId9"/>
          <a:stretch>
            <a:fillRect/>
          </a:stretch>
        </p:blipFill>
        <p:spPr>
          <a:xfrm>
            <a:off x="2639476" y="2768757"/>
            <a:ext cx="215900" cy="292100"/>
          </a:xfrm>
          <a:prstGeom prst="rect">
            <a:avLst/>
          </a:prstGeom>
        </p:spPr>
      </p:pic>
      <p:pic>
        <p:nvPicPr>
          <p:cNvPr id="617" name="Picture 616">
            <a:extLst>
              <a:ext uri="{FF2B5EF4-FFF2-40B4-BE49-F238E27FC236}">
                <a16:creationId xmlns:a16="http://schemas.microsoft.com/office/drawing/2014/main" id="{169BC4C2-B25C-963F-58A4-AD754F1EDC20}"/>
              </a:ext>
            </a:extLst>
          </p:cNvPr>
          <p:cNvPicPr>
            <a:picLocks noChangeAspect="1"/>
          </p:cNvPicPr>
          <p:nvPr/>
        </p:nvPicPr>
        <p:blipFill>
          <a:blip r:embed="rId9"/>
          <a:stretch>
            <a:fillRect/>
          </a:stretch>
        </p:blipFill>
        <p:spPr>
          <a:xfrm>
            <a:off x="4315240" y="2798363"/>
            <a:ext cx="215900" cy="292100"/>
          </a:xfrm>
          <a:prstGeom prst="rect">
            <a:avLst/>
          </a:prstGeom>
        </p:spPr>
      </p:pic>
      <p:pic>
        <p:nvPicPr>
          <p:cNvPr id="618" name="Picture 617">
            <a:extLst>
              <a:ext uri="{FF2B5EF4-FFF2-40B4-BE49-F238E27FC236}">
                <a16:creationId xmlns:a16="http://schemas.microsoft.com/office/drawing/2014/main" id="{47273CB5-26F0-6F5C-17CA-671AA4C4C658}"/>
              </a:ext>
            </a:extLst>
          </p:cNvPr>
          <p:cNvPicPr>
            <a:picLocks noChangeAspect="1"/>
          </p:cNvPicPr>
          <p:nvPr/>
        </p:nvPicPr>
        <p:blipFill>
          <a:blip r:embed="rId9"/>
          <a:stretch>
            <a:fillRect/>
          </a:stretch>
        </p:blipFill>
        <p:spPr>
          <a:xfrm>
            <a:off x="4558049" y="2774744"/>
            <a:ext cx="215900" cy="292100"/>
          </a:xfrm>
          <a:prstGeom prst="rect">
            <a:avLst/>
          </a:prstGeom>
        </p:spPr>
      </p:pic>
      <p:pic>
        <p:nvPicPr>
          <p:cNvPr id="619" name="Picture 618">
            <a:extLst>
              <a:ext uri="{FF2B5EF4-FFF2-40B4-BE49-F238E27FC236}">
                <a16:creationId xmlns:a16="http://schemas.microsoft.com/office/drawing/2014/main" id="{B6175C2F-BFFA-3054-FC1D-D2B0805B749F}"/>
              </a:ext>
            </a:extLst>
          </p:cNvPr>
          <p:cNvPicPr>
            <a:picLocks noChangeAspect="1"/>
          </p:cNvPicPr>
          <p:nvPr/>
        </p:nvPicPr>
        <p:blipFill>
          <a:blip r:embed="rId9"/>
          <a:stretch>
            <a:fillRect/>
          </a:stretch>
        </p:blipFill>
        <p:spPr>
          <a:xfrm>
            <a:off x="4247486" y="3135422"/>
            <a:ext cx="215900" cy="292100"/>
          </a:xfrm>
          <a:prstGeom prst="rect">
            <a:avLst/>
          </a:prstGeom>
        </p:spPr>
      </p:pic>
      <p:pic>
        <p:nvPicPr>
          <p:cNvPr id="620" name="Picture 619">
            <a:extLst>
              <a:ext uri="{FF2B5EF4-FFF2-40B4-BE49-F238E27FC236}">
                <a16:creationId xmlns:a16="http://schemas.microsoft.com/office/drawing/2014/main" id="{BA02D826-CB8D-1384-F250-CA70A7733C53}"/>
              </a:ext>
            </a:extLst>
          </p:cNvPr>
          <p:cNvPicPr>
            <a:picLocks noChangeAspect="1"/>
          </p:cNvPicPr>
          <p:nvPr/>
        </p:nvPicPr>
        <p:blipFill>
          <a:blip r:embed="rId9"/>
          <a:stretch>
            <a:fillRect/>
          </a:stretch>
        </p:blipFill>
        <p:spPr>
          <a:xfrm>
            <a:off x="4822890" y="3157334"/>
            <a:ext cx="215900" cy="292100"/>
          </a:xfrm>
          <a:prstGeom prst="rect">
            <a:avLst/>
          </a:prstGeom>
        </p:spPr>
      </p:pic>
      <p:pic>
        <p:nvPicPr>
          <p:cNvPr id="621" name="Picture 620">
            <a:extLst>
              <a:ext uri="{FF2B5EF4-FFF2-40B4-BE49-F238E27FC236}">
                <a16:creationId xmlns:a16="http://schemas.microsoft.com/office/drawing/2014/main" id="{1280146D-EB59-FC61-B744-2C96A11AE391}"/>
              </a:ext>
            </a:extLst>
          </p:cNvPr>
          <p:cNvPicPr>
            <a:picLocks noChangeAspect="1"/>
          </p:cNvPicPr>
          <p:nvPr/>
        </p:nvPicPr>
        <p:blipFill>
          <a:blip r:embed="rId9"/>
          <a:stretch>
            <a:fillRect/>
          </a:stretch>
        </p:blipFill>
        <p:spPr>
          <a:xfrm>
            <a:off x="4428625" y="3370204"/>
            <a:ext cx="215900" cy="292100"/>
          </a:xfrm>
          <a:prstGeom prst="rect">
            <a:avLst/>
          </a:prstGeom>
        </p:spPr>
      </p:pic>
      <p:pic>
        <p:nvPicPr>
          <p:cNvPr id="622" name="Picture 621">
            <a:extLst>
              <a:ext uri="{FF2B5EF4-FFF2-40B4-BE49-F238E27FC236}">
                <a16:creationId xmlns:a16="http://schemas.microsoft.com/office/drawing/2014/main" id="{522E7384-AA68-6D17-8030-B5C652A10389}"/>
              </a:ext>
            </a:extLst>
          </p:cNvPr>
          <p:cNvPicPr>
            <a:picLocks noChangeAspect="1"/>
          </p:cNvPicPr>
          <p:nvPr/>
        </p:nvPicPr>
        <p:blipFill>
          <a:blip r:embed="rId9"/>
          <a:stretch>
            <a:fillRect/>
          </a:stretch>
        </p:blipFill>
        <p:spPr>
          <a:xfrm>
            <a:off x="4647213" y="3338143"/>
            <a:ext cx="215900" cy="292100"/>
          </a:xfrm>
          <a:prstGeom prst="rect">
            <a:avLst/>
          </a:prstGeom>
        </p:spPr>
      </p:pic>
      <p:pic>
        <p:nvPicPr>
          <p:cNvPr id="623" name="Picture 622">
            <a:extLst>
              <a:ext uri="{FF2B5EF4-FFF2-40B4-BE49-F238E27FC236}">
                <a16:creationId xmlns:a16="http://schemas.microsoft.com/office/drawing/2014/main" id="{225CFAF1-7CF9-5024-0BDC-53A37B13AC80}"/>
              </a:ext>
            </a:extLst>
          </p:cNvPr>
          <p:cNvPicPr>
            <a:picLocks noChangeAspect="1"/>
          </p:cNvPicPr>
          <p:nvPr/>
        </p:nvPicPr>
        <p:blipFill>
          <a:blip r:embed="rId9"/>
          <a:stretch>
            <a:fillRect/>
          </a:stretch>
        </p:blipFill>
        <p:spPr>
          <a:xfrm>
            <a:off x="4832448" y="2839071"/>
            <a:ext cx="215900" cy="292100"/>
          </a:xfrm>
          <a:prstGeom prst="rect">
            <a:avLst/>
          </a:prstGeom>
        </p:spPr>
      </p:pic>
      <p:pic>
        <p:nvPicPr>
          <p:cNvPr id="627" name="Picture 626">
            <a:extLst>
              <a:ext uri="{FF2B5EF4-FFF2-40B4-BE49-F238E27FC236}">
                <a16:creationId xmlns:a16="http://schemas.microsoft.com/office/drawing/2014/main" id="{271A1B55-E5B5-0336-2F3B-E0947F4815F8}"/>
              </a:ext>
            </a:extLst>
          </p:cNvPr>
          <p:cNvPicPr>
            <a:picLocks noChangeAspect="1"/>
          </p:cNvPicPr>
          <p:nvPr/>
        </p:nvPicPr>
        <p:blipFill>
          <a:blip r:embed="rId9"/>
          <a:stretch>
            <a:fillRect/>
          </a:stretch>
        </p:blipFill>
        <p:spPr>
          <a:xfrm>
            <a:off x="1773088" y="5078898"/>
            <a:ext cx="215900" cy="292100"/>
          </a:xfrm>
          <a:prstGeom prst="rect">
            <a:avLst/>
          </a:prstGeom>
        </p:spPr>
      </p:pic>
      <p:pic>
        <p:nvPicPr>
          <p:cNvPr id="628" name="Picture 627">
            <a:extLst>
              <a:ext uri="{FF2B5EF4-FFF2-40B4-BE49-F238E27FC236}">
                <a16:creationId xmlns:a16="http://schemas.microsoft.com/office/drawing/2014/main" id="{0CC80514-32CB-7635-6CA5-2316A94FDB39}"/>
              </a:ext>
            </a:extLst>
          </p:cNvPr>
          <p:cNvPicPr>
            <a:picLocks noChangeAspect="1"/>
          </p:cNvPicPr>
          <p:nvPr/>
        </p:nvPicPr>
        <p:blipFill>
          <a:blip r:embed="rId9"/>
          <a:stretch>
            <a:fillRect/>
          </a:stretch>
        </p:blipFill>
        <p:spPr>
          <a:xfrm>
            <a:off x="1925488" y="5231298"/>
            <a:ext cx="215900" cy="292100"/>
          </a:xfrm>
          <a:prstGeom prst="rect">
            <a:avLst/>
          </a:prstGeom>
        </p:spPr>
      </p:pic>
      <p:pic>
        <p:nvPicPr>
          <p:cNvPr id="629" name="Picture 628">
            <a:extLst>
              <a:ext uri="{FF2B5EF4-FFF2-40B4-BE49-F238E27FC236}">
                <a16:creationId xmlns:a16="http://schemas.microsoft.com/office/drawing/2014/main" id="{FC680998-AF9C-AD20-E3B9-5531F901C08C}"/>
              </a:ext>
            </a:extLst>
          </p:cNvPr>
          <p:cNvPicPr>
            <a:picLocks noChangeAspect="1"/>
          </p:cNvPicPr>
          <p:nvPr/>
        </p:nvPicPr>
        <p:blipFill>
          <a:blip r:embed="rId9"/>
          <a:stretch>
            <a:fillRect/>
          </a:stretch>
        </p:blipFill>
        <p:spPr>
          <a:xfrm>
            <a:off x="2092900" y="5033356"/>
            <a:ext cx="215900" cy="292100"/>
          </a:xfrm>
          <a:prstGeom prst="rect">
            <a:avLst/>
          </a:prstGeom>
        </p:spPr>
      </p:pic>
      <p:pic>
        <p:nvPicPr>
          <p:cNvPr id="630" name="Picture 629">
            <a:extLst>
              <a:ext uri="{FF2B5EF4-FFF2-40B4-BE49-F238E27FC236}">
                <a16:creationId xmlns:a16="http://schemas.microsoft.com/office/drawing/2014/main" id="{82D0215E-3AD6-8E2D-BC35-3674F3DE44F6}"/>
              </a:ext>
            </a:extLst>
          </p:cNvPr>
          <p:cNvPicPr>
            <a:picLocks noChangeAspect="1"/>
          </p:cNvPicPr>
          <p:nvPr/>
        </p:nvPicPr>
        <p:blipFill>
          <a:blip r:embed="rId9"/>
          <a:stretch>
            <a:fillRect/>
          </a:stretch>
        </p:blipFill>
        <p:spPr>
          <a:xfrm>
            <a:off x="2366105" y="5401656"/>
            <a:ext cx="215900" cy="292100"/>
          </a:xfrm>
          <a:prstGeom prst="rect">
            <a:avLst/>
          </a:prstGeom>
        </p:spPr>
      </p:pic>
      <p:pic>
        <p:nvPicPr>
          <p:cNvPr id="631" name="Picture 630">
            <a:extLst>
              <a:ext uri="{FF2B5EF4-FFF2-40B4-BE49-F238E27FC236}">
                <a16:creationId xmlns:a16="http://schemas.microsoft.com/office/drawing/2014/main" id="{A2E8DC38-2E58-6A2A-DC54-A3B09C106D49}"/>
              </a:ext>
            </a:extLst>
          </p:cNvPr>
          <p:cNvPicPr>
            <a:picLocks noChangeAspect="1"/>
          </p:cNvPicPr>
          <p:nvPr/>
        </p:nvPicPr>
        <p:blipFill>
          <a:blip r:embed="rId9"/>
          <a:stretch>
            <a:fillRect/>
          </a:stretch>
        </p:blipFill>
        <p:spPr>
          <a:xfrm>
            <a:off x="2117144" y="5470022"/>
            <a:ext cx="215900" cy="292100"/>
          </a:xfrm>
          <a:prstGeom prst="rect">
            <a:avLst/>
          </a:prstGeom>
        </p:spPr>
      </p:pic>
      <p:pic>
        <p:nvPicPr>
          <p:cNvPr id="632" name="Picture 631">
            <a:extLst>
              <a:ext uri="{FF2B5EF4-FFF2-40B4-BE49-F238E27FC236}">
                <a16:creationId xmlns:a16="http://schemas.microsoft.com/office/drawing/2014/main" id="{239B0E59-4D3E-6E6D-5236-03079A849A87}"/>
              </a:ext>
            </a:extLst>
          </p:cNvPr>
          <p:cNvPicPr>
            <a:picLocks noChangeAspect="1"/>
          </p:cNvPicPr>
          <p:nvPr/>
        </p:nvPicPr>
        <p:blipFill>
          <a:blip r:embed="rId9"/>
          <a:stretch>
            <a:fillRect/>
          </a:stretch>
        </p:blipFill>
        <p:spPr>
          <a:xfrm>
            <a:off x="2549153" y="5148240"/>
            <a:ext cx="215900" cy="292100"/>
          </a:xfrm>
          <a:prstGeom prst="rect">
            <a:avLst/>
          </a:prstGeom>
        </p:spPr>
      </p:pic>
      <p:pic>
        <p:nvPicPr>
          <p:cNvPr id="633" name="Picture 632">
            <a:extLst>
              <a:ext uri="{FF2B5EF4-FFF2-40B4-BE49-F238E27FC236}">
                <a16:creationId xmlns:a16="http://schemas.microsoft.com/office/drawing/2014/main" id="{5F98A44F-D000-1C8B-59F5-8B8C53E455C7}"/>
              </a:ext>
            </a:extLst>
          </p:cNvPr>
          <p:cNvPicPr>
            <a:picLocks noChangeAspect="1"/>
          </p:cNvPicPr>
          <p:nvPr/>
        </p:nvPicPr>
        <p:blipFill>
          <a:blip r:embed="rId9"/>
          <a:stretch>
            <a:fillRect/>
          </a:stretch>
        </p:blipFill>
        <p:spPr>
          <a:xfrm>
            <a:off x="2654477" y="5466383"/>
            <a:ext cx="215900" cy="292100"/>
          </a:xfrm>
          <a:prstGeom prst="rect">
            <a:avLst/>
          </a:prstGeom>
        </p:spPr>
      </p:pic>
      <p:pic>
        <p:nvPicPr>
          <p:cNvPr id="634" name="Picture 633">
            <a:extLst>
              <a:ext uri="{FF2B5EF4-FFF2-40B4-BE49-F238E27FC236}">
                <a16:creationId xmlns:a16="http://schemas.microsoft.com/office/drawing/2014/main" id="{3579785F-DC3B-DB9A-1160-6DF70ECD5D40}"/>
              </a:ext>
            </a:extLst>
          </p:cNvPr>
          <p:cNvPicPr>
            <a:picLocks noChangeAspect="1"/>
          </p:cNvPicPr>
          <p:nvPr/>
        </p:nvPicPr>
        <p:blipFill>
          <a:blip r:embed="rId9"/>
          <a:stretch>
            <a:fillRect/>
          </a:stretch>
        </p:blipFill>
        <p:spPr>
          <a:xfrm>
            <a:off x="1767210" y="5496710"/>
            <a:ext cx="215900" cy="292100"/>
          </a:xfrm>
          <a:prstGeom prst="rect">
            <a:avLst/>
          </a:prstGeom>
        </p:spPr>
      </p:pic>
      <p:pic>
        <p:nvPicPr>
          <p:cNvPr id="635" name="Picture 634">
            <a:extLst>
              <a:ext uri="{FF2B5EF4-FFF2-40B4-BE49-F238E27FC236}">
                <a16:creationId xmlns:a16="http://schemas.microsoft.com/office/drawing/2014/main" id="{C84150EA-9B87-62DF-42A7-2E99DED92EC3}"/>
              </a:ext>
            </a:extLst>
          </p:cNvPr>
          <p:cNvPicPr>
            <a:picLocks noChangeAspect="1"/>
          </p:cNvPicPr>
          <p:nvPr/>
        </p:nvPicPr>
        <p:blipFill>
          <a:blip r:embed="rId9"/>
          <a:stretch>
            <a:fillRect/>
          </a:stretch>
        </p:blipFill>
        <p:spPr>
          <a:xfrm>
            <a:off x="2851738" y="5260864"/>
            <a:ext cx="215900" cy="292100"/>
          </a:xfrm>
          <a:prstGeom prst="rect">
            <a:avLst/>
          </a:prstGeom>
        </p:spPr>
      </p:pic>
      <p:pic>
        <p:nvPicPr>
          <p:cNvPr id="636" name="Picture 635">
            <a:extLst>
              <a:ext uri="{FF2B5EF4-FFF2-40B4-BE49-F238E27FC236}">
                <a16:creationId xmlns:a16="http://schemas.microsoft.com/office/drawing/2014/main" id="{80B31792-7B49-97BC-431B-5E2C5CF0F05C}"/>
              </a:ext>
            </a:extLst>
          </p:cNvPr>
          <p:cNvPicPr>
            <a:picLocks noChangeAspect="1"/>
          </p:cNvPicPr>
          <p:nvPr/>
        </p:nvPicPr>
        <p:blipFill>
          <a:blip r:embed="rId9"/>
          <a:stretch>
            <a:fillRect/>
          </a:stretch>
        </p:blipFill>
        <p:spPr>
          <a:xfrm>
            <a:off x="2319188" y="5114814"/>
            <a:ext cx="215900" cy="292100"/>
          </a:xfrm>
          <a:prstGeom prst="rect">
            <a:avLst/>
          </a:prstGeom>
        </p:spPr>
      </p:pic>
    </p:spTree>
    <p:extLst>
      <p:ext uri="{BB962C8B-B14F-4D97-AF65-F5344CB8AC3E}">
        <p14:creationId xmlns:p14="http://schemas.microsoft.com/office/powerpoint/2010/main" val="4016710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altLang="en-US" sz="3600" dirty="0"/>
              <a:t>3P Leadership Awareness and Kickoff Event</a:t>
            </a:r>
            <a:endParaRPr lang="en-US" sz="36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grpSp>
        <p:nvGrpSpPr>
          <p:cNvPr id="20" name="Group 19">
            <a:extLst>
              <a:ext uri="{FF2B5EF4-FFF2-40B4-BE49-F238E27FC236}">
                <a16:creationId xmlns:a16="http://schemas.microsoft.com/office/drawing/2014/main" id="{170F8333-3531-FE34-ED92-D67A030A24A9}"/>
              </a:ext>
            </a:extLst>
          </p:cNvPr>
          <p:cNvGrpSpPr/>
          <p:nvPr/>
        </p:nvGrpSpPr>
        <p:grpSpPr>
          <a:xfrm>
            <a:off x="2851150" y="1811643"/>
            <a:ext cx="6489700" cy="4400550"/>
            <a:chOff x="2620010" y="1811643"/>
            <a:chExt cx="6489700" cy="4400550"/>
          </a:xfrm>
        </p:grpSpPr>
        <p:sp>
          <p:nvSpPr>
            <p:cNvPr id="3" name="Rectangle 7">
              <a:extLst>
                <a:ext uri="{FF2B5EF4-FFF2-40B4-BE49-F238E27FC236}">
                  <a16:creationId xmlns:a16="http://schemas.microsoft.com/office/drawing/2014/main" id="{55CCCDD3-79C0-A9B2-4DEE-9B1F1A9C8230}"/>
                </a:ext>
              </a:extLst>
            </p:cNvPr>
            <p:cNvSpPr>
              <a:spLocks noChangeAspect="1" noChangeArrowheads="1"/>
            </p:cNvSpPr>
            <p:nvPr/>
          </p:nvSpPr>
          <p:spPr bwMode="auto">
            <a:xfrm>
              <a:off x="5056823" y="1824343"/>
              <a:ext cx="1309687" cy="244475"/>
            </a:xfrm>
            <a:prstGeom prst="rect">
              <a:avLst/>
            </a:prstGeom>
            <a:solidFill>
              <a:schemeClr val="bg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400">
                  <a:latin typeface="Roboto" panose="02000000000000000000" pitchFamily="2" charset="0"/>
                  <a:ea typeface="Roboto" panose="02000000000000000000" pitchFamily="2" charset="0"/>
                </a:rPr>
                <a:t>Day 1</a:t>
              </a:r>
            </a:p>
          </p:txBody>
        </p:sp>
        <p:sp>
          <p:nvSpPr>
            <p:cNvPr id="4" name="Rectangle 8">
              <a:extLst>
                <a:ext uri="{FF2B5EF4-FFF2-40B4-BE49-F238E27FC236}">
                  <a16:creationId xmlns:a16="http://schemas.microsoft.com/office/drawing/2014/main" id="{F9D5B5C1-AF27-D2CA-A430-590548FB5160}"/>
                </a:ext>
              </a:extLst>
            </p:cNvPr>
            <p:cNvSpPr>
              <a:spLocks noChangeAspect="1" noChangeArrowheads="1"/>
            </p:cNvSpPr>
            <p:nvPr/>
          </p:nvSpPr>
          <p:spPr bwMode="auto">
            <a:xfrm>
              <a:off x="6420485" y="2118030"/>
              <a:ext cx="1308100" cy="211138"/>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a:solidFill>
                    <a:schemeClr val="bg1"/>
                  </a:solidFill>
                  <a:latin typeface="Roboto" panose="02000000000000000000" pitchFamily="2" charset="0"/>
                  <a:ea typeface="Roboto" panose="02000000000000000000" pitchFamily="2" charset="0"/>
                </a:rPr>
                <a:t>X-Talk</a:t>
              </a:r>
            </a:p>
          </p:txBody>
        </p:sp>
        <p:sp>
          <p:nvSpPr>
            <p:cNvPr id="6" name="Rectangle 21">
              <a:extLst>
                <a:ext uri="{FF2B5EF4-FFF2-40B4-BE49-F238E27FC236}">
                  <a16:creationId xmlns:a16="http://schemas.microsoft.com/office/drawing/2014/main" id="{DC933CA7-BA92-4010-2B38-3C8F5AB37E6C}"/>
                </a:ext>
              </a:extLst>
            </p:cNvPr>
            <p:cNvSpPr>
              <a:spLocks noChangeAspect="1" noChangeArrowheads="1"/>
            </p:cNvSpPr>
            <p:nvPr/>
          </p:nvSpPr>
          <p:spPr bwMode="auto">
            <a:xfrm>
              <a:off x="5056823" y="2352980"/>
              <a:ext cx="1328737" cy="3482975"/>
            </a:xfrm>
            <a:prstGeom prst="rect">
              <a:avLst/>
            </a:prstGeom>
            <a:solidFill>
              <a:schemeClr val="accent2"/>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350">
                  <a:latin typeface="Roboto" panose="02000000000000000000" pitchFamily="2" charset="0"/>
                  <a:ea typeface="Roboto" panose="02000000000000000000" pitchFamily="2" charset="0"/>
                </a:rPr>
                <a:t>3P Training &amp; Exercises</a:t>
              </a:r>
            </a:p>
            <a:p>
              <a:pPr algn="ctr">
                <a:lnSpc>
                  <a:spcPct val="80000"/>
                </a:lnSpc>
                <a:spcBef>
                  <a:spcPct val="20000"/>
                </a:spcBef>
                <a:spcAft>
                  <a:spcPct val="0"/>
                </a:spcAft>
                <a:buClrTx/>
                <a:buSzTx/>
                <a:buFontTx/>
                <a:buNone/>
              </a:pPr>
              <a:endParaRPr kumimoji="1" lang="en-US" altLang="ja-JP" sz="135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a:latin typeface="Roboto" panose="02000000000000000000" pitchFamily="2" charset="0"/>
                <a:ea typeface="Roboto" panose="02000000000000000000" pitchFamily="2" charset="0"/>
              </a:endParaRPr>
            </a:p>
          </p:txBody>
        </p:sp>
        <p:sp>
          <p:nvSpPr>
            <p:cNvPr id="7" name="Text Box 24">
              <a:extLst>
                <a:ext uri="{FF2B5EF4-FFF2-40B4-BE49-F238E27FC236}">
                  <a16:creationId xmlns:a16="http://schemas.microsoft.com/office/drawing/2014/main" id="{5B2B3864-F677-F6F6-ADD1-32395FC6C934}"/>
                </a:ext>
              </a:extLst>
            </p:cNvPr>
            <p:cNvSpPr txBox="1">
              <a:spLocks noChangeAspect="1" noChangeArrowheads="1"/>
            </p:cNvSpPr>
            <p:nvPr/>
          </p:nvSpPr>
          <p:spPr bwMode="auto">
            <a:xfrm>
              <a:off x="5058410" y="5878818"/>
              <a:ext cx="1327150" cy="333375"/>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dirty="0">
                  <a:solidFill>
                    <a:schemeClr val="bg1"/>
                  </a:solidFill>
                  <a:latin typeface="Roboto" panose="02000000000000000000" pitchFamily="2" charset="0"/>
                  <a:ea typeface="Roboto" panose="02000000000000000000" pitchFamily="2" charset="0"/>
                </a:rPr>
                <a:t>Review &amp; Summary</a:t>
              </a:r>
            </a:p>
          </p:txBody>
        </p:sp>
        <p:sp>
          <p:nvSpPr>
            <p:cNvPr id="8" name="Rectangle 25">
              <a:extLst>
                <a:ext uri="{FF2B5EF4-FFF2-40B4-BE49-F238E27FC236}">
                  <a16:creationId xmlns:a16="http://schemas.microsoft.com/office/drawing/2014/main" id="{6036E15E-ED59-F92F-90B9-4A13B981130F}"/>
                </a:ext>
              </a:extLst>
            </p:cNvPr>
            <p:cNvSpPr>
              <a:spLocks noChangeAspect="1" noChangeArrowheads="1"/>
            </p:cNvSpPr>
            <p:nvPr/>
          </p:nvSpPr>
          <p:spPr bwMode="auto">
            <a:xfrm>
              <a:off x="6439535" y="2356155"/>
              <a:ext cx="1303338" cy="3478213"/>
            </a:xfrm>
            <a:prstGeom prst="rect">
              <a:avLst/>
            </a:prstGeom>
            <a:solidFill>
              <a:schemeClr val="accent2"/>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350" dirty="0">
                  <a:latin typeface="Roboto" panose="02000000000000000000" pitchFamily="2" charset="0"/>
                  <a:ea typeface="Roboto" panose="02000000000000000000" pitchFamily="2" charset="0"/>
                </a:rPr>
                <a:t>Select Product/ Process</a:t>
              </a:r>
            </a:p>
            <a:p>
              <a:pPr algn="ctr">
                <a:lnSpc>
                  <a:spcPct val="80000"/>
                </a:lnSpc>
                <a:spcBef>
                  <a:spcPct val="20000"/>
                </a:spcBef>
                <a:spcAft>
                  <a:spcPct val="0"/>
                </a:spcAft>
                <a:buClrTx/>
                <a:buSzTx/>
                <a:buFontTx/>
                <a:buNone/>
              </a:pPr>
              <a:endParaRPr kumimoji="1" lang="en-US" altLang="ja-JP" sz="135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dirty="0">
                  <a:latin typeface="Roboto" panose="02000000000000000000" pitchFamily="2" charset="0"/>
                  <a:ea typeface="Roboto" panose="02000000000000000000" pitchFamily="2" charset="0"/>
                </a:rPr>
                <a:t>Identify Requirements</a:t>
              </a:r>
            </a:p>
            <a:p>
              <a:pPr algn="ctr">
                <a:lnSpc>
                  <a:spcPct val="80000"/>
                </a:lnSpc>
                <a:spcBef>
                  <a:spcPct val="20000"/>
                </a:spcBef>
                <a:spcAft>
                  <a:spcPct val="0"/>
                </a:spcAft>
                <a:buClrTx/>
                <a:buSzTx/>
                <a:buFontTx/>
                <a:buNone/>
              </a:pPr>
              <a:endParaRPr kumimoji="1" lang="en-US" altLang="ja-JP" sz="135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dirty="0">
                  <a:latin typeface="Roboto" panose="02000000000000000000" pitchFamily="2" charset="0"/>
                  <a:ea typeface="Roboto" panose="02000000000000000000" pitchFamily="2" charset="0"/>
                </a:rPr>
                <a:t>Determine Current Performance</a:t>
              </a:r>
            </a:p>
            <a:p>
              <a:pPr algn="ctr">
                <a:lnSpc>
                  <a:spcPct val="80000"/>
                </a:lnSpc>
                <a:spcBef>
                  <a:spcPct val="20000"/>
                </a:spcBef>
                <a:spcAft>
                  <a:spcPct val="0"/>
                </a:spcAft>
                <a:buClrTx/>
                <a:buSzTx/>
                <a:buFontTx/>
                <a:buNone/>
              </a:pPr>
              <a:endParaRPr kumimoji="1" lang="en-US" altLang="ja-JP" sz="135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dirty="0">
                  <a:latin typeface="Roboto" panose="02000000000000000000" pitchFamily="2" charset="0"/>
                  <a:ea typeface="Roboto" panose="02000000000000000000" pitchFamily="2" charset="0"/>
                </a:rPr>
                <a:t>Waste and Gap Analysis</a:t>
              </a:r>
            </a:p>
            <a:p>
              <a:pPr algn="ctr">
                <a:lnSpc>
                  <a:spcPct val="80000"/>
                </a:lnSpc>
                <a:spcBef>
                  <a:spcPct val="20000"/>
                </a:spcBef>
                <a:spcAft>
                  <a:spcPct val="0"/>
                </a:spcAft>
                <a:buClrTx/>
                <a:buSzTx/>
                <a:buFontTx/>
                <a:buNone/>
              </a:pPr>
              <a:endParaRPr kumimoji="1" lang="en-US" altLang="ja-JP" sz="135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dirty="0">
                  <a:latin typeface="Roboto" panose="02000000000000000000" pitchFamily="2" charset="0"/>
                  <a:ea typeface="Roboto" panose="02000000000000000000" pitchFamily="2" charset="0"/>
                </a:rPr>
                <a:t>Management Brief</a:t>
              </a:r>
            </a:p>
          </p:txBody>
        </p:sp>
        <p:sp>
          <p:nvSpPr>
            <p:cNvPr id="9" name="Rectangle 28">
              <a:extLst>
                <a:ext uri="{FF2B5EF4-FFF2-40B4-BE49-F238E27FC236}">
                  <a16:creationId xmlns:a16="http://schemas.microsoft.com/office/drawing/2014/main" id="{BEFD5264-2A4C-73D6-6A79-FD8659E2CD8A}"/>
                </a:ext>
              </a:extLst>
            </p:cNvPr>
            <p:cNvSpPr>
              <a:spLocks noChangeAspect="1" noChangeArrowheads="1"/>
            </p:cNvSpPr>
            <p:nvPr/>
          </p:nvSpPr>
          <p:spPr bwMode="auto">
            <a:xfrm>
              <a:off x="5061585" y="2119618"/>
              <a:ext cx="1314450" cy="214312"/>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dirty="0">
                  <a:solidFill>
                    <a:schemeClr val="bg1"/>
                  </a:solidFill>
                  <a:latin typeface="Roboto" panose="02000000000000000000" pitchFamily="2" charset="0"/>
                  <a:ea typeface="Roboto" panose="02000000000000000000" pitchFamily="2" charset="0"/>
                </a:rPr>
                <a:t>Kick-Off</a:t>
              </a:r>
            </a:p>
          </p:txBody>
        </p:sp>
        <p:sp>
          <p:nvSpPr>
            <p:cNvPr id="10" name="Rectangle 7">
              <a:extLst>
                <a:ext uri="{FF2B5EF4-FFF2-40B4-BE49-F238E27FC236}">
                  <a16:creationId xmlns:a16="http://schemas.microsoft.com/office/drawing/2014/main" id="{66B87AA1-648C-8EBF-9D94-CFDCE15DEAC0}"/>
                </a:ext>
              </a:extLst>
            </p:cNvPr>
            <p:cNvSpPr>
              <a:spLocks noChangeAspect="1" noChangeArrowheads="1"/>
            </p:cNvSpPr>
            <p:nvPr/>
          </p:nvSpPr>
          <p:spPr bwMode="auto">
            <a:xfrm>
              <a:off x="6414135" y="1824343"/>
              <a:ext cx="1309688" cy="244475"/>
            </a:xfrm>
            <a:prstGeom prst="rect">
              <a:avLst/>
            </a:prstGeom>
            <a:solidFill>
              <a:schemeClr val="bg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400">
                  <a:latin typeface="Roboto" panose="02000000000000000000" pitchFamily="2" charset="0"/>
                  <a:ea typeface="Roboto" panose="02000000000000000000" pitchFamily="2" charset="0"/>
                </a:rPr>
                <a:t>Day 2</a:t>
              </a:r>
            </a:p>
          </p:txBody>
        </p:sp>
        <p:sp>
          <p:nvSpPr>
            <p:cNvPr id="11" name="Text Box 24">
              <a:extLst>
                <a:ext uri="{FF2B5EF4-FFF2-40B4-BE49-F238E27FC236}">
                  <a16:creationId xmlns:a16="http://schemas.microsoft.com/office/drawing/2014/main" id="{D35EB732-C798-162C-862B-1FFBFA76678A}"/>
                </a:ext>
              </a:extLst>
            </p:cNvPr>
            <p:cNvSpPr txBox="1">
              <a:spLocks noChangeAspect="1" noChangeArrowheads="1"/>
            </p:cNvSpPr>
            <p:nvPr/>
          </p:nvSpPr>
          <p:spPr bwMode="auto">
            <a:xfrm>
              <a:off x="7801610" y="5878818"/>
              <a:ext cx="1303338" cy="333375"/>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solidFill>
                    <a:schemeClr val="bg1"/>
                  </a:solidFill>
                  <a:latin typeface="Roboto" panose="02000000000000000000" pitchFamily="2" charset="0"/>
                  <a:ea typeface="Roboto" panose="02000000000000000000" pitchFamily="2" charset="0"/>
                </a:rPr>
                <a:t>Review &amp; Summary</a:t>
              </a:r>
            </a:p>
          </p:txBody>
        </p:sp>
        <p:sp>
          <p:nvSpPr>
            <p:cNvPr id="12" name="Text Box 24">
              <a:extLst>
                <a:ext uri="{FF2B5EF4-FFF2-40B4-BE49-F238E27FC236}">
                  <a16:creationId xmlns:a16="http://schemas.microsoft.com/office/drawing/2014/main" id="{94432F33-4685-8D15-B2C9-DA82739C1353}"/>
                </a:ext>
              </a:extLst>
            </p:cNvPr>
            <p:cNvSpPr txBox="1">
              <a:spLocks noChangeAspect="1" noChangeArrowheads="1"/>
            </p:cNvSpPr>
            <p:nvPr/>
          </p:nvSpPr>
          <p:spPr bwMode="auto">
            <a:xfrm>
              <a:off x="6437948" y="5878818"/>
              <a:ext cx="1309687" cy="333375"/>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solidFill>
                    <a:schemeClr val="bg1"/>
                  </a:solidFill>
                  <a:latin typeface="Roboto" panose="02000000000000000000" pitchFamily="2" charset="0"/>
                  <a:ea typeface="Roboto" panose="02000000000000000000" pitchFamily="2" charset="0"/>
                </a:rPr>
                <a:t>Review &amp; Summary</a:t>
              </a:r>
            </a:p>
          </p:txBody>
        </p:sp>
        <p:sp>
          <p:nvSpPr>
            <p:cNvPr id="13" name="Rectangle 25">
              <a:extLst>
                <a:ext uri="{FF2B5EF4-FFF2-40B4-BE49-F238E27FC236}">
                  <a16:creationId xmlns:a16="http://schemas.microsoft.com/office/drawing/2014/main" id="{F0A2C772-1CAB-430F-3020-CB598F772D90}"/>
                </a:ext>
              </a:extLst>
            </p:cNvPr>
            <p:cNvSpPr>
              <a:spLocks noChangeAspect="1" noChangeArrowheads="1"/>
            </p:cNvSpPr>
            <p:nvPr/>
          </p:nvSpPr>
          <p:spPr bwMode="auto">
            <a:xfrm>
              <a:off x="7796848" y="2356155"/>
              <a:ext cx="1303337" cy="2886075"/>
            </a:xfrm>
            <a:prstGeom prst="rect">
              <a:avLst/>
            </a:prstGeom>
            <a:solidFill>
              <a:schemeClr val="accent2"/>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350">
                  <a:latin typeface="Roboto" panose="02000000000000000000" pitchFamily="2" charset="0"/>
                  <a:ea typeface="Roboto" panose="02000000000000000000" pitchFamily="2" charset="0"/>
                </a:rPr>
                <a:t>Prepare 3P Lab</a:t>
              </a:r>
            </a:p>
            <a:p>
              <a:pPr algn="ctr">
                <a:lnSpc>
                  <a:spcPct val="80000"/>
                </a:lnSpc>
                <a:spcBef>
                  <a:spcPct val="20000"/>
                </a:spcBef>
                <a:spcAft>
                  <a:spcPct val="0"/>
                </a:spcAft>
                <a:buClrTx/>
                <a:buSzTx/>
                <a:buFontTx/>
                <a:buNone/>
              </a:pPr>
              <a:endParaRPr kumimoji="1" lang="en-US" altLang="ja-JP" sz="135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a:latin typeface="Roboto" panose="02000000000000000000" pitchFamily="2" charset="0"/>
                  <a:ea typeface="Roboto" panose="02000000000000000000" pitchFamily="2" charset="0"/>
                </a:rPr>
                <a:t>Select Team</a:t>
              </a:r>
            </a:p>
            <a:p>
              <a:pPr algn="ctr">
                <a:lnSpc>
                  <a:spcPct val="80000"/>
                </a:lnSpc>
                <a:spcBef>
                  <a:spcPct val="20000"/>
                </a:spcBef>
                <a:spcAft>
                  <a:spcPct val="0"/>
                </a:spcAft>
                <a:buClrTx/>
                <a:buSzTx/>
                <a:buFontTx/>
                <a:buNone/>
              </a:pPr>
              <a:endParaRPr kumimoji="1" lang="en-US" altLang="ja-JP" sz="135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a:latin typeface="Roboto" panose="02000000000000000000" pitchFamily="2" charset="0"/>
                  <a:ea typeface="Roboto" panose="02000000000000000000" pitchFamily="2" charset="0"/>
                </a:rPr>
                <a:t>Kaizen Plan</a:t>
              </a:r>
            </a:p>
            <a:p>
              <a:pPr algn="ctr">
                <a:lnSpc>
                  <a:spcPct val="80000"/>
                </a:lnSpc>
                <a:spcBef>
                  <a:spcPct val="20000"/>
                </a:spcBef>
                <a:spcAft>
                  <a:spcPct val="0"/>
                </a:spcAft>
                <a:buClrTx/>
                <a:buSzTx/>
                <a:buFontTx/>
                <a:buNone/>
              </a:pPr>
              <a:endParaRPr kumimoji="1" lang="en-US" altLang="ja-JP" sz="135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a:latin typeface="Roboto" panose="02000000000000000000" pitchFamily="2" charset="0"/>
                  <a:ea typeface="Roboto" panose="02000000000000000000" pitchFamily="2" charset="0"/>
                </a:rPr>
                <a:t>Draft Charter</a:t>
              </a:r>
            </a:p>
            <a:p>
              <a:pPr algn="ctr">
                <a:lnSpc>
                  <a:spcPct val="80000"/>
                </a:lnSpc>
                <a:spcBef>
                  <a:spcPct val="20000"/>
                </a:spcBef>
                <a:spcAft>
                  <a:spcPct val="0"/>
                </a:spcAft>
                <a:buClrTx/>
                <a:buSzTx/>
                <a:buFontTx/>
                <a:buNone/>
              </a:pPr>
              <a:endParaRPr kumimoji="1" lang="en-US" altLang="ja-JP" sz="135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a:latin typeface="Roboto" panose="02000000000000000000" pitchFamily="2" charset="0"/>
                  <a:ea typeface="Roboto" panose="02000000000000000000" pitchFamily="2" charset="0"/>
                </a:rPr>
                <a:t>Comm Meeting</a:t>
              </a:r>
            </a:p>
          </p:txBody>
        </p:sp>
        <p:sp>
          <p:nvSpPr>
            <p:cNvPr id="14" name="Rectangle 8">
              <a:extLst>
                <a:ext uri="{FF2B5EF4-FFF2-40B4-BE49-F238E27FC236}">
                  <a16:creationId xmlns:a16="http://schemas.microsoft.com/office/drawing/2014/main" id="{E62C59A3-0ABE-C4E5-905F-5CECC232EBD7}"/>
                </a:ext>
              </a:extLst>
            </p:cNvPr>
            <p:cNvSpPr>
              <a:spLocks noChangeAspect="1" noChangeArrowheads="1"/>
            </p:cNvSpPr>
            <p:nvPr/>
          </p:nvSpPr>
          <p:spPr bwMode="auto">
            <a:xfrm>
              <a:off x="7792085" y="2118030"/>
              <a:ext cx="1308100" cy="211138"/>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a:solidFill>
                    <a:schemeClr val="bg1"/>
                  </a:solidFill>
                  <a:latin typeface="Roboto" panose="02000000000000000000" pitchFamily="2" charset="0"/>
                  <a:ea typeface="Roboto" panose="02000000000000000000" pitchFamily="2" charset="0"/>
                </a:rPr>
                <a:t>X-Talk</a:t>
              </a:r>
            </a:p>
          </p:txBody>
        </p:sp>
        <p:sp>
          <p:nvSpPr>
            <p:cNvPr id="15" name="Rectangle 7">
              <a:extLst>
                <a:ext uri="{FF2B5EF4-FFF2-40B4-BE49-F238E27FC236}">
                  <a16:creationId xmlns:a16="http://schemas.microsoft.com/office/drawing/2014/main" id="{D25D556C-E31C-572E-A20E-0B512119E95E}"/>
                </a:ext>
              </a:extLst>
            </p:cNvPr>
            <p:cNvSpPr>
              <a:spLocks noChangeAspect="1" noChangeArrowheads="1"/>
            </p:cNvSpPr>
            <p:nvPr/>
          </p:nvSpPr>
          <p:spPr bwMode="auto">
            <a:xfrm>
              <a:off x="7795260" y="1824343"/>
              <a:ext cx="1309688" cy="244475"/>
            </a:xfrm>
            <a:prstGeom prst="rect">
              <a:avLst/>
            </a:prstGeom>
            <a:solidFill>
              <a:schemeClr val="bg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400">
                  <a:latin typeface="Roboto" panose="02000000000000000000" pitchFamily="2" charset="0"/>
                  <a:ea typeface="Roboto" panose="02000000000000000000" pitchFamily="2" charset="0"/>
                </a:rPr>
                <a:t>Day 3</a:t>
              </a:r>
            </a:p>
          </p:txBody>
        </p:sp>
        <p:sp>
          <p:nvSpPr>
            <p:cNvPr id="16" name="Rectangle 7">
              <a:extLst>
                <a:ext uri="{FF2B5EF4-FFF2-40B4-BE49-F238E27FC236}">
                  <a16:creationId xmlns:a16="http://schemas.microsoft.com/office/drawing/2014/main" id="{1CA68B0D-95AF-2109-2DF3-9238266EF8E1}"/>
                </a:ext>
              </a:extLst>
            </p:cNvPr>
            <p:cNvSpPr>
              <a:spLocks noChangeAspect="1" noChangeArrowheads="1"/>
            </p:cNvSpPr>
            <p:nvPr/>
          </p:nvSpPr>
          <p:spPr bwMode="auto">
            <a:xfrm>
              <a:off x="2620010" y="1811643"/>
              <a:ext cx="1309688" cy="244475"/>
            </a:xfrm>
            <a:prstGeom prst="rect">
              <a:avLst/>
            </a:prstGeom>
            <a:solidFill>
              <a:schemeClr val="bg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400" dirty="0">
                  <a:latin typeface="Roboto" panose="02000000000000000000" pitchFamily="2" charset="0"/>
                  <a:ea typeface="Roboto" panose="02000000000000000000" pitchFamily="2" charset="0"/>
                </a:rPr>
                <a:t>Prework</a:t>
              </a:r>
            </a:p>
          </p:txBody>
        </p:sp>
        <p:sp>
          <p:nvSpPr>
            <p:cNvPr id="17" name="Rectangle 21">
              <a:extLst>
                <a:ext uri="{FF2B5EF4-FFF2-40B4-BE49-F238E27FC236}">
                  <a16:creationId xmlns:a16="http://schemas.microsoft.com/office/drawing/2014/main" id="{F022965A-2659-6782-A2F7-97579E84E31C}"/>
                </a:ext>
              </a:extLst>
            </p:cNvPr>
            <p:cNvSpPr>
              <a:spLocks noChangeAspect="1" noChangeArrowheads="1"/>
            </p:cNvSpPr>
            <p:nvPr/>
          </p:nvSpPr>
          <p:spPr bwMode="auto">
            <a:xfrm>
              <a:off x="2620010" y="2340280"/>
              <a:ext cx="1328738" cy="3482975"/>
            </a:xfrm>
            <a:prstGeom prst="rect">
              <a:avLst/>
            </a:prstGeom>
            <a:solidFill>
              <a:schemeClr val="accent5"/>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dirty="0">
                  <a:solidFill>
                    <a:schemeClr val="bg1"/>
                  </a:solidFill>
                  <a:latin typeface="Roboto" panose="02000000000000000000" pitchFamily="2" charset="0"/>
                  <a:ea typeface="Roboto" panose="02000000000000000000" pitchFamily="2" charset="0"/>
                </a:rPr>
                <a:t>Leadership </a:t>
              </a:r>
            </a:p>
            <a:p>
              <a:pPr algn="ctr">
                <a:lnSpc>
                  <a:spcPct val="80000"/>
                </a:lnSpc>
                <a:spcBef>
                  <a:spcPct val="20000"/>
                </a:spcBef>
                <a:spcAft>
                  <a:spcPct val="0"/>
                </a:spcAft>
                <a:buClrTx/>
                <a:buSzTx/>
                <a:buFontTx/>
                <a:buNone/>
              </a:pPr>
              <a:r>
                <a:rPr kumimoji="1" lang="en-US" altLang="ja-JP" sz="1350" dirty="0">
                  <a:solidFill>
                    <a:schemeClr val="bg1"/>
                  </a:solidFill>
                  <a:latin typeface="Roboto" panose="02000000000000000000" pitchFamily="2" charset="0"/>
                  <a:ea typeface="Roboto" panose="02000000000000000000" pitchFamily="2" charset="0"/>
                </a:rPr>
                <a:t>Awareness</a:t>
              </a: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dirty="0">
                  <a:solidFill>
                    <a:schemeClr val="bg1"/>
                  </a:solidFill>
                  <a:latin typeface="Roboto" panose="02000000000000000000" pitchFamily="2" charset="0"/>
                  <a:ea typeface="Roboto" panose="02000000000000000000" pitchFamily="2" charset="0"/>
                </a:rPr>
                <a:t>Readiness Assessment</a:t>
              </a: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dirty="0">
                  <a:solidFill>
                    <a:schemeClr val="bg1"/>
                  </a:solidFill>
                  <a:latin typeface="Roboto" panose="02000000000000000000" pitchFamily="2" charset="0"/>
                  <a:ea typeface="Roboto" panose="02000000000000000000" pitchFamily="2" charset="0"/>
                </a:rPr>
                <a:t>Prerequisites</a:t>
              </a: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350" dirty="0">
                  <a:solidFill>
                    <a:schemeClr val="bg1"/>
                  </a:solidFill>
                  <a:latin typeface="Roboto" panose="02000000000000000000" pitchFamily="2" charset="0"/>
                  <a:ea typeface="Roboto" panose="02000000000000000000" pitchFamily="2" charset="0"/>
                </a:rPr>
                <a:t>Commitment</a:t>
              </a: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350" dirty="0">
                <a:solidFill>
                  <a:schemeClr val="bg1"/>
                </a:solidFill>
                <a:latin typeface="Roboto" panose="02000000000000000000" pitchFamily="2" charset="0"/>
                <a:ea typeface="Roboto" panose="02000000000000000000" pitchFamily="2" charset="0"/>
              </a:endParaRPr>
            </a:p>
          </p:txBody>
        </p:sp>
        <p:sp>
          <p:nvSpPr>
            <p:cNvPr id="18" name="Rectangle 28">
              <a:extLst>
                <a:ext uri="{FF2B5EF4-FFF2-40B4-BE49-F238E27FC236}">
                  <a16:creationId xmlns:a16="http://schemas.microsoft.com/office/drawing/2014/main" id="{54ADB21A-DEAE-C179-2FF4-1CA7907D2A27}"/>
                </a:ext>
              </a:extLst>
            </p:cNvPr>
            <p:cNvSpPr>
              <a:spLocks noChangeAspect="1" noChangeArrowheads="1"/>
            </p:cNvSpPr>
            <p:nvPr/>
          </p:nvSpPr>
          <p:spPr bwMode="auto">
            <a:xfrm>
              <a:off x="2624773" y="2106918"/>
              <a:ext cx="1314450" cy="214312"/>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dirty="0">
                  <a:solidFill>
                    <a:schemeClr val="bg1"/>
                  </a:solidFill>
                  <a:latin typeface="Roboto" panose="02000000000000000000" pitchFamily="2" charset="0"/>
                  <a:ea typeface="Roboto" panose="02000000000000000000" pitchFamily="2" charset="0"/>
                </a:rPr>
                <a:t>Awareness</a:t>
              </a:r>
            </a:p>
          </p:txBody>
        </p:sp>
        <p:sp>
          <p:nvSpPr>
            <p:cNvPr id="19" name="Rectangle 18">
              <a:extLst>
                <a:ext uri="{FF2B5EF4-FFF2-40B4-BE49-F238E27FC236}">
                  <a16:creationId xmlns:a16="http://schemas.microsoft.com/office/drawing/2014/main" id="{2051C716-DCF0-8121-19D4-0225DB2B5415}"/>
                </a:ext>
              </a:extLst>
            </p:cNvPr>
            <p:cNvSpPr>
              <a:spLocks noChangeAspect="1" noChangeArrowheads="1"/>
            </p:cNvSpPr>
            <p:nvPr/>
          </p:nvSpPr>
          <p:spPr bwMode="auto">
            <a:xfrm>
              <a:off x="7804785" y="5296205"/>
              <a:ext cx="1304925" cy="534988"/>
            </a:xfrm>
            <a:prstGeom prst="rect">
              <a:avLst/>
            </a:prstGeom>
            <a:solidFill>
              <a:schemeClr val="accent6"/>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350" dirty="0">
                  <a:solidFill>
                    <a:schemeClr val="bg1"/>
                  </a:solidFill>
                  <a:latin typeface="Roboto" panose="02000000000000000000" pitchFamily="2" charset="0"/>
                  <a:ea typeface="Roboto" panose="02000000000000000000" pitchFamily="2" charset="0"/>
                </a:rPr>
                <a:t>Report-Out</a:t>
              </a:r>
            </a:p>
          </p:txBody>
        </p:sp>
      </p:grpSp>
    </p:spTree>
    <p:extLst>
      <p:ext uri="{BB962C8B-B14F-4D97-AF65-F5344CB8AC3E}">
        <p14:creationId xmlns:p14="http://schemas.microsoft.com/office/powerpoint/2010/main" val="2268398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altLang="en-US" sz="3600" dirty="0"/>
              <a:t>3P Workshop Agenda</a:t>
            </a:r>
            <a:endParaRPr lang="en-US" sz="36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grpSp>
        <p:nvGrpSpPr>
          <p:cNvPr id="41" name="Group 40">
            <a:extLst>
              <a:ext uri="{FF2B5EF4-FFF2-40B4-BE49-F238E27FC236}">
                <a16:creationId xmlns:a16="http://schemas.microsoft.com/office/drawing/2014/main" id="{54CBC0C2-1782-DF7E-F42F-3CC2A061B44E}"/>
              </a:ext>
            </a:extLst>
          </p:cNvPr>
          <p:cNvGrpSpPr/>
          <p:nvPr/>
        </p:nvGrpSpPr>
        <p:grpSpPr>
          <a:xfrm>
            <a:off x="1111250" y="1817993"/>
            <a:ext cx="9015730" cy="4387850"/>
            <a:chOff x="1111250" y="1817993"/>
            <a:chExt cx="6767513" cy="4387850"/>
          </a:xfrm>
        </p:grpSpPr>
        <p:sp>
          <p:nvSpPr>
            <p:cNvPr id="21" name="Rectangle 7">
              <a:extLst>
                <a:ext uri="{FF2B5EF4-FFF2-40B4-BE49-F238E27FC236}">
                  <a16:creationId xmlns:a16="http://schemas.microsoft.com/office/drawing/2014/main" id="{FE1C2C14-D582-11C3-1F46-BB121C02ABDA}"/>
                </a:ext>
              </a:extLst>
            </p:cNvPr>
            <p:cNvSpPr>
              <a:spLocks noChangeAspect="1" noChangeArrowheads="1"/>
            </p:cNvSpPr>
            <p:nvPr/>
          </p:nvSpPr>
          <p:spPr bwMode="auto">
            <a:xfrm>
              <a:off x="1111250" y="1817993"/>
              <a:ext cx="1309688" cy="244475"/>
            </a:xfrm>
            <a:prstGeom prst="rect">
              <a:avLst/>
            </a:prstGeom>
            <a:solidFill>
              <a:schemeClr val="bg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400" dirty="0">
                  <a:latin typeface="Roboto" panose="02000000000000000000" pitchFamily="2" charset="0"/>
                  <a:ea typeface="Roboto" panose="02000000000000000000" pitchFamily="2" charset="0"/>
                </a:rPr>
                <a:t>Monday</a:t>
              </a:r>
            </a:p>
          </p:txBody>
        </p:sp>
        <p:sp>
          <p:nvSpPr>
            <p:cNvPr id="22" name="Rectangle 8">
              <a:extLst>
                <a:ext uri="{FF2B5EF4-FFF2-40B4-BE49-F238E27FC236}">
                  <a16:creationId xmlns:a16="http://schemas.microsoft.com/office/drawing/2014/main" id="{FF27D001-3E22-1046-6D61-A3D197183FB0}"/>
                </a:ext>
              </a:extLst>
            </p:cNvPr>
            <p:cNvSpPr>
              <a:spLocks noChangeAspect="1" noChangeArrowheads="1"/>
            </p:cNvSpPr>
            <p:nvPr/>
          </p:nvSpPr>
          <p:spPr bwMode="auto">
            <a:xfrm>
              <a:off x="2474913" y="2111680"/>
              <a:ext cx="1308100" cy="211138"/>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a:solidFill>
                    <a:schemeClr val="bg1"/>
                  </a:solidFill>
                  <a:latin typeface="Roboto" panose="02000000000000000000" pitchFamily="2" charset="0"/>
                  <a:ea typeface="Roboto" panose="02000000000000000000" pitchFamily="2" charset="0"/>
                </a:rPr>
                <a:t>X-Talk</a:t>
              </a:r>
            </a:p>
          </p:txBody>
        </p:sp>
        <p:sp>
          <p:nvSpPr>
            <p:cNvPr id="23" name="Rectangle 18">
              <a:extLst>
                <a:ext uri="{FF2B5EF4-FFF2-40B4-BE49-F238E27FC236}">
                  <a16:creationId xmlns:a16="http://schemas.microsoft.com/office/drawing/2014/main" id="{CEC75B5B-F7FE-2496-1F0F-3DAFE7FF71D0}"/>
                </a:ext>
              </a:extLst>
            </p:cNvPr>
            <p:cNvSpPr>
              <a:spLocks noChangeAspect="1" noChangeArrowheads="1"/>
            </p:cNvSpPr>
            <p:nvPr/>
          </p:nvSpPr>
          <p:spPr bwMode="auto">
            <a:xfrm>
              <a:off x="6564313" y="4551668"/>
              <a:ext cx="1304925" cy="534987"/>
            </a:xfrm>
            <a:prstGeom prst="rect">
              <a:avLst/>
            </a:prstGeom>
            <a:solidFill>
              <a:schemeClr val="accent6"/>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dirty="0">
                  <a:solidFill>
                    <a:schemeClr val="bg1"/>
                  </a:solidFill>
                  <a:latin typeface="Roboto" panose="02000000000000000000" pitchFamily="2" charset="0"/>
                  <a:ea typeface="Roboto" panose="02000000000000000000" pitchFamily="2" charset="0"/>
                </a:rPr>
                <a:t>Final </a:t>
              </a:r>
              <a:br>
                <a:rPr kumimoji="1" lang="en-US" altLang="ja-JP" sz="1600" dirty="0">
                  <a:solidFill>
                    <a:schemeClr val="bg1"/>
                  </a:solidFill>
                  <a:latin typeface="Roboto" panose="02000000000000000000" pitchFamily="2" charset="0"/>
                  <a:ea typeface="Roboto" panose="02000000000000000000" pitchFamily="2" charset="0"/>
                </a:rPr>
              </a:br>
              <a:r>
                <a:rPr kumimoji="1" lang="en-US" altLang="ja-JP" sz="1600" dirty="0">
                  <a:solidFill>
                    <a:schemeClr val="bg1"/>
                  </a:solidFill>
                  <a:latin typeface="Roboto" panose="02000000000000000000" pitchFamily="2" charset="0"/>
                  <a:ea typeface="Roboto" panose="02000000000000000000" pitchFamily="2" charset="0"/>
                </a:rPr>
                <a:t>Report-Out</a:t>
              </a:r>
            </a:p>
          </p:txBody>
        </p:sp>
        <p:sp>
          <p:nvSpPr>
            <p:cNvPr id="24" name="Rectangle 21">
              <a:extLst>
                <a:ext uri="{FF2B5EF4-FFF2-40B4-BE49-F238E27FC236}">
                  <a16:creationId xmlns:a16="http://schemas.microsoft.com/office/drawing/2014/main" id="{00C9367C-83AE-8E63-0F48-6D3179D8F1D0}"/>
                </a:ext>
              </a:extLst>
            </p:cNvPr>
            <p:cNvSpPr>
              <a:spLocks noChangeAspect="1" noChangeArrowheads="1"/>
            </p:cNvSpPr>
            <p:nvPr/>
          </p:nvSpPr>
          <p:spPr bwMode="auto">
            <a:xfrm>
              <a:off x="1111250" y="2346630"/>
              <a:ext cx="1328738" cy="3482975"/>
            </a:xfrm>
            <a:prstGeom prst="rect">
              <a:avLst/>
            </a:prstGeom>
            <a:solidFill>
              <a:schemeClr val="accent2"/>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dirty="0">
                  <a:latin typeface="Roboto" panose="02000000000000000000" pitchFamily="2" charset="0"/>
                  <a:ea typeface="Roboto" panose="02000000000000000000" pitchFamily="2" charset="0"/>
                </a:rPr>
                <a:t>3P Training &amp; Exercises</a:t>
              </a: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600" dirty="0">
                  <a:latin typeface="Roboto" panose="02000000000000000000" pitchFamily="2" charset="0"/>
                  <a:ea typeface="Roboto" panose="02000000000000000000" pitchFamily="2" charset="0"/>
                </a:rPr>
                <a:t>Gather &amp; Review Information</a:t>
              </a: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600" dirty="0">
                  <a:latin typeface="Roboto" panose="02000000000000000000" pitchFamily="2" charset="0"/>
                  <a:ea typeface="Roboto" panose="02000000000000000000" pitchFamily="2" charset="0"/>
                </a:rPr>
                <a:t>Fishbone</a:t>
              </a: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p:txBody>
        </p:sp>
        <p:sp>
          <p:nvSpPr>
            <p:cNvPr id="25" name="Text Box 24">
              <a:extLst>
                <a:ext uri="{FF2B5EF4-FFF2-40B4-BE49-F238E27FC236}">
                  <a16:creationId xmlns:a16="http://schemas.microsoft.com/office/drawing/2014/main" id="{1B0377F3-F80E-8EF5-13B3-FAF5005DCE8E}"/>
                </a:ext>
              </a:extLst>
            </p:cNvPr>
            <p:cNvSpPr txBox="1">
              <a:spLocks noChangeAspect="1" noChangeArrowheads="1"/>
            </p:cNvSpPr>
            <p:nvPr/>
          </p:nvSpPr>
          <p:spPr bwMode="auto">
            <a:xfrm>
              <a:off x="1112838" y="5872468"/>
              <a:ext cx="1327150" cy="333375"/>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solidFill>
                    <a:schemeClr val="bg1"/>
                  </a:solidFill>
                  <a:latin typeface="Roboto" panose="02000000000000000000" pitchFamily="2" charset="0"/>
                  <a:ea typeface="Roboto" panose="02000000000000000000" pitchFamily="2" charset="0"/>
                </a:rPr>
                <a:t>Review &amp; Summary</a:t>
              </a:r>
            </a:p>
          </p:txBody>
        </p:sp>
        <p:sp>
          <p:nvSpPr>
            <p:cNvPr id="26" name="Rectangle 25">
              <a:extLst>
                <a:ext uri="{FF2B5EF4-FFF2-40B4-BE49-F238E27FC236}">
                  <a16:creationId xmlns:a16="http://schemas.microsoft.com/office/drawing/2014/main" id="{5571FC7D-707F-A6AF-C8B3-06CD7671F229}"/>
                </a:ext>
              </a:extLst>
            </p:cNvPr>
            <p:cNvSpPr>
              <a:spLocks noChangeAspect="1" noChangeArrowheads="1"/>
            </p:cNvSpPr>
            <p:nvPr/>
          </p:nvSpPr>
          <p:spPr bwMode="auto">
            <a:xfrm>
              <a:off x="2493963" y="2349805"/>
              <a:ext cx="1303337" cy="3478213"/>
            </a:xfrm>
            <a:prstGeom prst="rect">
              <a:avLst/>
            </a:prstGeom>
            <a:solidFill>
              <a:schemeClr val="accent2"/>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a:latin typeface="Roboto" panose="02000000000000000000" pitchFamily="2" charset="0"/>
                  <a:ea typeface="Roboto" panose="02000000000000000000" pitchFamily="2" charset="0"/>
                </a:rPr>
                <a:t>Create 7 Alternatives</a:t>
              </a:r>
              <a:br>
                <a:rPr kumimoji="1" lang="en-US" altLang="ja-JP" sz="1600">
                  <a:latin typeface="Roboto" panose="02000000000000000000" pitchFamily="2" charset="0"/>
                  <a:ea typeface="Roboto" panose="02000000000000000000" pitchFamily="2" charset="0"/>
                </a:rPr>
              </a:br>
              <a:r>
                <a:rPr kumimoji="1" lang="en-US" altLang="ja-JP" sz="1600">
                  <a:latin typeface="Roboto" panose="02000000000000000000" pitchFamily="2" charset="0"/>
                  <a:ea typeface="Roboto" panose="02000000000000000000" pitchFamily="2" charset="0"/>
                </a:rPr>
                <a:t>(of each process step)</a:t>
              </a:r>
            </a:p>
            <a:p>
              <a:pPr algn="ctr">
                <a:lnSpc>
                  <a:spcPct val="80000"/>
                </a:lnSpc>
                <a:spcBef>
                  <a:spcPct val="20000"/>
                </a:spcBef>
                <a:spcAft>
                  <a:spcPct val="0"/>
                </a:spcAft>
                <a:buClrTx/>
                <a:buSzTx/>
                <a:buFontTx/>
                <a:buNone/>
              </a:pPr>
              <a:endParaRPr kumimoji="1" lang="en-US" altLang="ja-JP" sz="1600">
                <a:latin typeface="Roboto" panose="02000000000000000000" pitchFamily="2" charset="0"/>
                <a:ea typeface="Roboto" panose="02000000000000000000" pitchFamily="2" charset="0"/>
              </a:endParaRPr>
            </a:p>
          </p:txBody>
        </p:sp>
        <p:sp>
          <p:nvSpPr>
            <p:cNvPr id="27" name="Rectangle 28">
              <a:extLst>
                <a:ext uri="{FF2B5EF4-FFF2-40B4-BE49-F238E27FC236}">
                  <a16:creationId xmlns:a16="http://schemas.microsoft.com/office/drawing/2014/main" id="{84ACD584-9116-8C15-97F5-0C2BEE012B16}"/>
                </a:ext>
              </a:extLst>
            </p:cNvPr>
            <p:cNvSpPr>
              <a:spLocks noChangeAspect="1" noChangeArrowheads="1"/>
            </p:cNvSpPr>
            <p:nvPr/>
          </p:nvSpPr>
          <p:spPr bwMode="auto">
            <a:xfrm>
              <a:off x="1116013" y="2113268"/>
              <a:ext cx="1314450" cy="214312"/>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dirty="0">
                  <a:solidFill>
                    <a:schemeClr val="bg1"/>
                  </a:solidFill>
                  <a:latin typeface="Roboto" panose="02000000000000000000" pitchFamily="2" charset="0"/>
                  <a:ea typeface="Roboto" panose="02000000000000000000" pitchFamily="2" charset="0"/>
                </a:rPr>
                <a:t>Kick-Off</a:t>
              </a:r>
            </a:p>
          </p:txBody>
        </p:sp>
        <p:sp>
          <p:nvSpPr>
            <p:cNvPr id="28" name="Rectangle 7">
              <a:extLst>
                <a:ext uri="{FF2B5EF4-FFF2-40B4-BE49-F238E27FC236}">
                  <a16:creationId xmlns:a16="http://schemas.microsoft.com/office/drawing/2014/main" id="{2425CC73-F90F-E407-B8B9-FB444A356B24}"/>
                </a:ext>
              </a:extLst>
            </p:cNvPr>
            <p:cNvSpPr>
              <a:spLocks noChangeAspect="1" noChangeArrowheads="1"/>
            </p:cNvSpPr>
            <p:nvPr/>
          </p:nvSpPr>
          <p:spPr bwMode="auto">
            <a:xfrm>
              <a:off x="2468563" y="1817993"/>
              <a:ext cx="1309687" cy="244475"/>
            </a:xfrm>
            <a:prstGeom prst="rect">
              <a:avLst/>
            </a:prstGeom>
            <a:solidFill>
              <a:schemeClr val="bg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400">
                  <a:latin typeface="Roboto" panose="02000000000000000000" pitchFamily="2" charset="0"/>
                  <a:ea typeface="Roboto" panose="02000000000000000000" pitchFamily="2" charset="0"/>
                </a:rPr>
                <a:t>Tuesday</a:t>
              </a:r>
            </a:p>
          </p:txBody>
        </p:sp>
        <p:sp>
          <p:nvSpPr>
            <p:cNvPr id="29" name="Text Box 24">
              <a:extLst>
                <a:ext uri="{FF2B5EF4-FFF2-40B4-BE49-F238E27FC236}">
                  <a16:creationId xmlns:a16="http://schemas.microsoft.com/office/drawing/2014/main" id="{3BF94D49-B85E-3314-8143-F1BA5A00EAD0}"/>
                </a:ext>
              </a:extLst>
            </p:cNvPr>
            <p:cNvSpPr txBox="1">
              <a:spLocks noChangeAspect="1" noChangeArrowheads="1"/>
            </p:cNvSpPr>
            <p:nvPr/>
          </p:nvSpPr>
          <p:spPr bwMode="auto">
            <a:xfrm>
              <a:off x="3856038" y="5872468"/>
              <a:ext cx="1303337" cy="333375"/>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solidFill>
                    <a:schemeClr val="bg1"/>
                  </a:solidFill>
                  <a:latin typeface="Roboto" panose="02000000000000000000" pitchFamily="2" charset="0"/>
                  <a:ea typeface="Roboto" panose="02000000000000000000" pitchFamily="2" charset="0"/>
                </a:rPr>
                <a:t>Review &amp; Summary</a:t>
              </a:r>
            </a:p>
          </p:txBody>
        </p:sp>
        <p:sp>
          <p:nvSpPr>
            <p:cNvPr id="30" name="Text Box 24">
              <a:extLst>
                <a:ext uri="{FF2B5EF4-FFF2-40B4-BE49-F238E27FC236}">
                  <a16:creationId xmlns:a16="http://schemas.microsoft.com/office/drawing/2014/main" id="{873C2912-1A8D-42D0-11F3-174ADD6136B4}"/>
                </a:ext>
              </a:extLst>
            </p:cNvPr>
            <p:cNvSpPr txBox="1">
              <a:spLocks noChangeAspect="1" noChangeArrowheads="1"/>
            </p:cNvSpPr>
            <p:nvPr/>
          </p:nvSpPr>
          <p:spPr bwMode="auto">
            <a:xfrm>
              <a:off x="2492375" y="5872468"/>
              <a:ext cx="1309688" cy="333375"/>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solidFill>
                    <a:schemeClr val="bg1"/>
                  </a:solidFill>
                  <a:latin typeface="Roboto" panose="02000000000000000000" pitchFamily="2" charset="0"/>
                  <a:ea typeface="Roboto" panose="02000000000000000000" pitchFamily="2" charset="0"/>
                </a:rPr>
                <a:t>Review &amp; Summary</a:t>
              </a:r>
            </a:p>
          </p:txBody>
        </p:sp>
        <p:sp>
          <p:nvSpPr>
            <p:cNvPr id="31" name="Rectangle 25">
              <a:extLst>
                <a:ext uri="{FF2B5EF4-FFF2-40B4-BE49-F238E27FC236}">
                  <a16:creationId xmlns:a16="http://schemas.microsoft.com/office/drawing/2014/main" id="{42D1BBB2-8BC7-6FD1-045E-099640CE0DD3}"/>
                </a:ext>
              </a:extLst>
            </p:cNvPr>
            <p:cNvSpPr>
              <a:spLocks noChangeAspect="1" noChangeArrowheads="1"/>
            </p:cNvSpPr>
            <p:nvPr/>
          </p:nvSpPr>
          <p:spPr bwMode="auto">
            <a:xfrm>
              <a:off x="3851275" y="2349805"/>
              <a:ext cx="1303338" cy="3473450"/>
            </a:xfrm>
            <a:prstGeom prst="rect">
              <a:avLst/>
            </a:prstGeom>
            <a:solidFill>
              <a:schemeClr val="accent2"/>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600" dirty="0">
                  <a:latin typeface="Roboto" panose="02000000000000000000" pitchFamily="2" charset="0"/>
                  <a:ea typeface="Roboto" panose="02000000000000000000" pitchFamily="2" charset="0"/>
                </a:rPr>
                <a:t>Evaluate 7 Alternatives</a:t>
              </a: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600" dirty="0">
                  <a:latin typeface="Roboto" panose="02000000000000000000" pitchFamily="2" charset="0"/>
                  <a:ea typeface="Roboto" panose="02000000000000000000" pitchFamily="2" charset="0"/>
                </a:rPr>
                <a:t>Simulate &amp; Full Scale Mock Up</a:t>
              </a: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p:txBody>
        </p:sp>
        <p:sp>
          <p:nvSpPr>
            <p:cNvPr id="32" name="Rectangle 8">
              <a:extLst>
                <a:ext uri="{FF2B5EF4-FFF2-40B4-BE49-F238E27FC236}">
                  <a16:creationId xmlns:a16="http://schemas.microsoft.com/office/drawing/2014/main" id="{D37C213C-3D22-F785-134E-550F6B8241C0}"/>
                </a:ext>
              </a:extLst>
            </p:cNvPr>
            <p:cNvSpPr>
              <a:spLocks noChangeAspect="1" noChangeArrowheads="1"/>
            </p:cNvSpPr>
            <p:nvPr/>
          </p:nvSpPr>
          <p:spPr bwMode="auto">
            <a:xfrm>
              <a:off x="3846513" y="2111680"/>
              <a:ext cx="1308100" cy="211138"/>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a:solidFill>
                    <a:schemeClr val="bg1"/>
                  </a:solidFill>
                  <a:latin typeface="Roboto" panose="02000000000000000000" pitchFamily="2" charset="0"/>
                  <a:ea typeface="Roboto" panose="02000000000000000000" pitchFamily="2" charset="0"/>
                </a:rPr>
                <a:t>X-Talk</a:t>
              </a:r>
            </a:p>
          </p:txBody>
        </p:sp>
        <p:sp>
          <p:nvSpPr>
            <p:cNvPr id="33" name="Rectangle 7">
              <a:extLst>
                <a:ext uri="{FF2B5EF4-FFF2-40B4-BE49-F238E27FC236}">
                  <a16:creationId xmlns:a16="http://schemas.microsoft.com/office/drawing/2014/main" id="{4343BCC2-F833-60E3-194B-6A6C6715FEB5}"/>
                </a:ext>
              </a:extLst>
            </p:cNvPr>
            <p:cNvSpPr>
              <a:spLocks noChangeAspect="1" noChangeArrowheads="1"/>
            </p:cNvSpPr>
            <p:nvPr/>
          </p:nvSpPr>
          <p:spPr bwMode="auto">
            <a:xfrm>
              <a:off x="3849688" y="1817993"/>
              <a:ext cx="1309687" cy="244475"/>
            </a:xfrm>
            <a:prstGeom prst="rect">
              <a:avLst/>
            </a:prstGeom>
            <a:solidFill>
              <a:schemeClr val="bg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400">
                  <a:latin typeface="Roboto" panose="02000000000000000000" pitchFamily="2" charset="0"/>
                  <a:ea typeface="Roboto" panose="02000000000000000000" pitchFamily="2" charset="0"/>
                </a:rPr>
                <a:t>Wednesday</a:t>
              </a:r>
            </a:p>
          </p:txBody>
        </p:sp>
        <p:sp>
          <p:nvSpPr>
            <p:cNvPr id="34" name="Rectangle 8">
              <a:extLst>
                <a:ext uri="{FF2B5EF4-FFF2-40B4-BE49-F238E27FC236}">
                  <a16:creationId xmlns:a16="http://schemas.microsoft.com/office/drawing/2014/main" id="{9344972E-1DC3-7F2C-3E8B-138AC5554297}"/>
                </a:ext>
              </a:extLst>
            </p:cNvPr>
            <p:cNvSpPr>
              <a:spLocks noChangeAspect="1" noChangeArrowheads="1"/>
            </p:cNvSpPr>
            <p:nvPr/>
          </p:nvSpPr>
          <p:spPr bwMode="auto">
            <a:xfrm>
              <a:off x="5208588" y="2111680"/>
              <a:ext cx="1308100" cy="211138"/>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a:solidFill>
                    <a:schemeClr val="bg1"/>
                  </a:solidFill>
                  <a:latin typeface="Roboto" panose="02000000000000000000" pitchFamily="2" charset="0"/>
                  <a:ea typeface="Roboto" panose="02000000000000000000" pitchFamily="2" charset="0"/>
                </a:rPr>
                <a:t>X-Talk</a:t>
              </a:r>
            </a:p>
          </p:txBody>
        </p:sp>
        <p:sp>
          <p:nvSpPr>
            <p:cNvPr id="35" name="Rectangle 7">
              <a:extLst>
                <a:ext uri="{FF2B5EF4-FFF2-40B4-BE49-F238E27FC236}">
                  <a16:creationId xmlns:a16="http://schemas.microsoft.com/office/drawing/2014/main" id="{5C9666C7-B352-DCAA-2084-63F6A1A33DCF}"/>
                </a:ext>
              </a:extLst>
            </p:cNvPr>
            <p:cNvSpPr>
              <a:spLocks noChangeAspect="1" noChangeArrowheads="1"/>
            </p:cNvSpPr>
            <p:nvPr/>
          </p:nvSpPr>
          <p:spPr bwMode="auto">
            <a:xfrm>
              <a:off x="5211763" y="1817993"/>
              <a:ext cx="1309687" cy="244475"/>
            </a:xfrm>
            <a:prstGeom prst="rect">
              <a:avLst/>
            </a:prstGeom>
            <a:solidFill>
              <a:schemeClr val="bg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400">
                  <a:latin typeface="Roboto" panose="02000000000000000000" pitchFamily="2" charset="0"/>
                  <a:ea typeface="Roboto" panose="02000000000000000000" pitchFamily="2" charset="0"/>
                </a:rPr>
                <a:t>Thursday</a:t>
              </a:r>
            </a:p>
          </p:txBody>
        </p:sp>
        <p:sp>
          <p:nvSpPr>
            <p:cNvPr id="36" name="Rectangle 7">
              <a:extLst>
                <a:ext uri="{FF2B5EF4-FFF2-40B4-BE49-F238E27FC236}">
                  <a16:creationId xmlns:a16="http://schemas.microsoft.com/office/drawing/2014/main" id="{F9B8CDB2-4457-8BED-A061-281F62AB618B}"/>
                </a:ext>
              </a:extLst>
            </p:cNvPr>
            <p:cNvSpPr>
              <a:spLocks noChangeAspect="1" noChangeArrowheads="1"/>
            </p:cNvSpPr>
            <p:nvPr/>
          </p:nvSpPr>
          <p:spPr bwMode="auto">
            <a:xfrm>
              <a:off x="6564313" y="1817993"/>
              <a:ext cx="1309687" cy="244475"/>
            </a:xfrm>
            <a:prstGeom prst="rect">
              <a:avLst/>
            </a:prstGeom>
            <a:solidFill>
              <a:schemeClr val="bg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400">
                  <a:latin typeface="Roboto" panose="02000000000000000000" pitchFamily="2" charset="0"/>
                  <a:ea typeface="Roboto" panose="02000000000000000000" pitchFamily="2" charset="0"/>
                </a:rPr>
                <a:t>Friday</a:t>
              </a:r>
            </a:p>
          </p:txBody>
        </p:sp>
        <p:sp>
          <p:nvSpPr>
            <p:cNvPr id="37" name="Rectangle 8">
              <a:extLst>
                <a:ext uri="{FF2B5EF4-FFF2-40B4-BE49-F238E27FC236}">
                  <a16:creationId xmlns:a16="http://schemas.microsoft.com/office/drawing/2014/main" id="{43B9B63E-4455-3B07-5924-D77F9EB0C90B}"/>
                </a:ext>
              </a:extLst>
            </p:cNvPr>
            <p:cNvSpPr>
              <a:spLocks noChangeAspect="1" noChangeArrowheads="1"/>
            </p:cNvSpPr>
            <p:nvPr/>
          </p:nvSpPr>
          <p:spPr bwMode="auto">
            <a:xfrm>
              <a:off x="6570663" y="2111680"/>
              <a:ext cx="1308100" cy="211138"/>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a:solidFill>
                    <a:schemeClr val="bg1"/>
                  </a:solidFill>
                  <a:latin typeface="Roboto" panose="02000000000000000000" pitchFamily="2" charset="0"/>
                  <a:ea typeface="Roboto" panose="02000000000000000000" pitchFamily="2" charset="0"/>
                </a:rPr>
                <a:t>X-Talk</a:t>
              </a:r>
            </a:p>
          </p:txBody>
        </p:sp>
        <p:sp>
          <p:nvSpPr>
            <p:cNvPr id="38" name="Rectangle 25">
              <a:extLst>
                <a:ext uri="{FF2B5EF4-FFF2-40B4-BE49-F238E27FC236}">
                  <a16:creationId xmlns:a16="http://schemas.microsoft.com/office/drawing/2014/main" id="{3C4E33F8-A5D2-EFDF-3E5C-8C645817F4D7}"/>
                </a:ext>
              </a:extLst>
            </p:cNvPr>
            <p:cNvSpPr>
              <a:spLocks noChangeAspect="1" noChangeArrowheads="1"/>
            </p:cNvSpPr>
            <p:nvPr/>
          </p:nvSpPr>
          <p:spPr bwMode="auto">
            <a:xfrm>
              <a:off x="5210175" y="2346630"/>
              <a:ext cx="1303338" cy="3481388"/>
            </a:xfrm>
            <a:prstGeom prst="rect">
              <a:avLst/>
            </a:prstGeom>
            <a:solidFill>
              <a:schemeClr val="accent2"/>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dirty="0">
                  <a:latin typeface="Roboto" panose="02000000000000000000" pitchFamily="2" charset="0"/>
                  <a:ea typeface="Roboto" panose="02000000000000000000" pitchFamily="2" charset="0"/>
                </a:rPr>
                <a:t>Simulate, Improve, Document</a:t>
              </a: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600" dirty="0">
                  <a:latin typeface="Roboto" panose="02000000000000000000" pitchFamily="2" charset="0"/>
                  <a:ea typeface="Roboto" panose="02000000000000000000" pitchFamily="2" charset="0"/>
                </a:rPr>
                <a:t>Select Top 1</a:t>
              </a: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600" dirty="0">
                  <a:latin typeface="Roboto" panose="02000000000000000000" pitchFamily="2" charset="0"/>
                  <a:ea typeface="Roboto" panose="02000000000000000000" pitchFamily="2" charset="0"/>
                </a:rPr>
                <a:t>Complete Process @ Glance</a:t>
              </a: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p:txBody>
        </p:sp>
        <p:sp>
          <p:nvSpPr>
            <p:cNvPr id="39" name="Text Box 24">
              <a:extLst>
                <a:ext uri="{FF2B5EF4-FFF2-40B4-BE49-F238E27FC236}">
                  <a16:creationId xmlns:a16="http://schemas.microsoft.com/office/drawing/2014/main" id="{F69BF85D-3B11-0E83-3542-14B668442E0E}"/>
                </a:ext>
              </a:extLst>
            </p:cNvPr>
            <p:cNvSpPr txBox="1">
              <a:spLocks noChangeAspect="1" noChangeArrowheads="1"/>
            </p:cNvSpPr>
            <p:nvPr/>
          </p:nvSpPr>
          <p:spPr bwMode="auto">
            <a:xfrm>
              <a:off x="5216525" y="5867705"/>
              <a:ext cx="1303338" cy="333375"/>
            </a:xfrm>
            <a:prstGeom prst="rect">
              <a:avLst/>
            </a:prstGeom>
            <a:solidFill>
              <a:schemeClr val="accent3"/>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dirty="0">
                  <a:solidFill>
                    <a:schemeClr val="bg1"/>
                  </a:solidFill>
                  <a:latin typeface="Roboto" panose="02000000000000000000" pitchFamily="2" charset="0"/>
                  <a:ea typeface="Roboto" panose="02000000000000000000" pitchFamily="2" charset="0"/>
                </a:rPr>
                <a:t>Management Tour</a:t>
              </a:r>
            </a:p>
          </p:txBody>
        </p:sp>
        <p:sp>
          <p:nvSpPr>
            <p:cNvPr id="40" name="Rectangle 25">
              <a:extLst>
                <a:ext uri="{FF2B5EF4-FFF2-40B4-BE49-F238E27FC236}">
                  <a16:creationId xmlns:a16="http://schemas.microsoft.com/office/drawing/2014/main" id="{B9D0AA12-4CCB-0B8B-FCC2-D1A2A20773B8}"/>
                </a:ext>
              </a:extLst>
            </p:cNvPr>
            <p:cNvSpPr>
              <a:spLocks noChangeAspect="1" noChangeArrowheads="1"/>
            </p:cNvSpPr>
            <p:nvPr/>
          </p:nvSpPr>
          <p:spPr bwMode="auto">
            <a:xfrm>
              <a:off x="6564313" y="2357743"/>
              <a:ext cx="1303337" cy="2147887"/>
            </a:xfrm>
            <a:prstGeom prst="rect">
              <a:avLst/>
            </a:prstGeom>
            <a:solidFill>
              <a:schemeClr val="accent2"/>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600" dirty="0">
                  <a:latin typeface="Roboto" panose="02000000000000000000" pitchFamily="2" charset="0"/>
                  <a:ea typeface="Roboto" panose="02000000000000000000" pitchFamily="2" charset="0"/>
                </a:rPr>
                <a:t>Implement Planning</a:t>
              </a: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60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362849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altLang="en-US" sz="3600" dirty="0"/>
              <a:t>3P Follow-up</a:t>
            </a:r>
            <a:endParaRPr lang="en-US" sz="36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9" name="Group 8">
            <a:extLst>
              <a:ext uri="{FF2B5EF4-FFF2-40B4-BE49-F238E27FC236}">
                <a16:creationId xmlns:a16="http://schemas.microsoft.com/office/drawing/2014/main" id="{8B285C5B-ACF1-7159-B7FE-74E62B956CEA}"/>
              </a:ext>
            </a:extLst>
          </p:cNvPr>
          <p:cNvGrpSpPr/>
          <p:nvPr/>
        </p:nvGrpSpPr>
        <p:grpSpPr>
          <a:xfrm>
            <a:off x="2112328" y="1878013"/>
            <a:ext cx="1328737" cy="4011612"/>
            <a:chOff x="2112328" y="1878013"/>
            <a:chExt cx="1328737" cy="4011612"/>
          </a:xfrm>
        </p:grpSpPr>
        <p:sp>
          <p:nvSpPr>
            <p:cNvPr id="3" name="Rectangle 7">
              <a:extLst>
                <a:ext uri="{FF2B5EF4-FFF2-40B4-BE49-F238E27FC236}">
                  <a16:creationId xmlns:a16="http://schemas.microsoft.com/office/drawing/2014/main" id="{88BC3B8D-9F18-EFBE-4836-4A71C3853E45}"/>
                </a:ext>
              </a:extLst>
            </p:cNvPr>
            <p:cNvSpPr>
              <a:spLocks noChangeAspect="1" noChangeArrowheads="1"/>
            </p:cNvSpPr>
            <p:nvPr/>
          </p:nvSpPr>
          <p:spPr bwMode="auto">
            <a:xfrm>
              <a:off x="2112328" y="1878013"/>
              <a:ext cx="1309687" cy="244475"/>
            </a:xfrm>
            <a:prstGeom prst="rect">
              <a:avLst/>
            </a:prstGeom>
            <a:solidFill>
              <a:schemeClr val="bg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dirty="0">
                  <a:latin typeface="Roboto" panose="02000000000000000000" pitchFamily="2" charset="0"/>
                  <a:ea typeface="Roboto" panose="02000000000000000000" pitchFamily="2" charset="0"/>
                </a:rPr>
                <a:t>Implement</a:t>
              </a:r>
              <a:endParaRPr kumimoji="1" lang="en-US" altLang="ja-JP" sz="1000" dirty="0">
                <a:latin typeface="Roboto" panose="02000000000000000000" pitchFamily="2" charset="0"/>
                <a:ea typeface="Roboto" panose="02000000000000000000" pitchFamily="2" charset="0"/>
              </a:endParaRPr>
            </a:p>
          </p:txBody>
        </p:sp>
        <p:sp>
          <p:nvSpPr>
            <p:cNvPr id="4" name="Rectangle 21">
              <a:extLst>
                <a:ext uri="{FF2B5EF4-FFF2-40B4-BE49-F238E27FC236}">
                  <a16:creationId xmlns:a16="http://schemas.microsoft.com/office/drawing/2014/main" id="{9BA1DC03-02ED-E729-CDF8-2C8F750DF191}"/>
                </a:ext>
              </a:extLst>
            </p:cNvPr>
            <p:cNvSpPr>
              <a:spLocks noChangeAspect="1" noChangeArrowheads="1"/>
            </p:cNvSpPr>
            <p:nvPr/>
          </p:nvSpPr>
          <p:spPr bwMode="auto">
            <a:xfrm>
              <a:off x="2112328" y="2406650"/>
              <a:ext cx="1328737" cy="3482975"/>
            </a:xfrm>
            <a:prstGeom prst="rect">
              <a:avLst/>
            </a:prstGeom>
            <a:solidFill>
              <a:schemeClr val="accent5"/>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kumimoji="1" lang="en-US" altLang="ja-JP" sz="12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2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2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20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200" dirty="0">
                  <a:solidFill>
                    <a:schemeClr val="bg1"/>
                  </a:solidFill>
                  <a:latin typeface="Roboto" panose="02000000000000000000" pitchFamily="2" charset="0"/>
                  <a:ea typeface="Roboto" panose="02000000000000000000" pitchFamily="2" charset="0"/>
                </a:rPr>
                <a:t>Plan Equipment </a:t>
              </a:r>
            </a:p>
            <a:p>
              <a:pPr algn="ctr">
                <a:lnSpc>
                  <a:spcPct val="80000"/>
                </a:lnSpc>
                <a:spcBef>
                  <a:spcPct val="20000"/>
                </a:spcBef>
                <a:spcAft>
                  <a:spcPct val="0"/>
                </a:spcAft>
                <a:buClrTx/>
                <a:buSzTx/>
                <a:buFontTx/>
                <a:buNone/>
              </a:pPr>
              <a:endParaRPr kumimoji="1" lang="en-US" altLang="ja-JP" sz="120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200" dirty="0">
                  <a:solidFill>
                    <a:schemeClr val="bg1"/>
                  </a:solidFill>
                  <a:latin typeface="Roboto" panose="02000000000000000000" pitchFamily="2" charset="0"/>
                  <a:ea typeface="Roboto" panose="02000000000000000000" pitchFamily="2" charset="0"/>
                </a:rPr>
                <a:t>Develop Fixtures</a:t>
              </a:r>
            </a:p>
            <a:p>
              <a:pPr algn="ctr">
                <a:lnSpc>
                  <a:spcPct val="80000"/>
                </a:lnSpc>
                <a:spcBef>
                  <a:spcPct val="20000"/>
                </a:spcBef>
                <a:spcAft>
                  <a:spcPct val="0"/>
                </a:spcAft>
                <a:buClrTx/>
                <a:buSzTx/>
                <a:buFontTx/>
                <a:buNone/>
              </a:pPr>
              <a:endParaRPr kumimoji="1" lang="en-US" altLang="ja-JP" sz="120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200" dirty="0">
                  <a:solidFill>
                    <a:schemeClr val="bg1"/>
                  </a:solidFill>
                  <a:latin typeface="Roboto" panose="02000000000000000000" pitchFamily="2" charset="0"/>
                  <a:ea typeface="Roboto" panose="02000000000000000000" pitchFamily="2" charset="0"/>
                </a:rPr>
                <a:t>Develop Support Systems</a:t>
              </a:r>
            </a:p>
            <a:p>
              <a:pPr algn="ctr">
                <a:lnSpc>
                  <a:spcPct val="80000"/>
                </a:lnSpc>
                <a:spcBef>
                  <a:spcPct val="20000"/>
                </a:spcBef>
                <a:spcAft>
                  <a:spcPct val="0"/>
                </a:spcAft>
                <a:buClrTx/>
                <a:buSzTx/>
                <a:buFontTx/>
                <a:buNone/>
              </a:pPr>
              <a:endParaRPr kumimoji="1" lang="en-US" altLang="ja-JP" sz="120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200" dirty="0">
                  <a:solidFill>
                    <a:schemeClr val="bg1"/>
                  </a:solidFill>
                  <a:latin typeface="Roboto" panose="02000000000000000000" pitchFamily="2" charset="0"/>
                  <a:ea typeface="Roboto" panose="02000000000000000000" pitchFamily="2" charset="0"/>
                </a:rPr>
                <a:t>Build &amp; Evaluate Equipment</a:t>
              </a:r>
            </a:p>
            <a:p>
              <a:pPr algn="ctr">
                <a:lnSpc>
                  <a:spcPct val="80000"/>
                </a:lnSpc>
                <a:spcBef>
                  <a:spcPct val="20000"/>
                </a:spcBef>
                <a:spcAft>
                  <a:spcPct val="0"/>
                </a:spcAft>
                <a:buClrTx/>
                <a:buSzTx/>
                <a:buFontTx/>
                <a:buNone/>
              </a:pPr>
              <a:endParaRPr kumimoji="1" lang="en-US" altLang="ja-JP" sz="120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200" dirty="0">
                  <a:solidFill>
                    <a:schemeClr val="bg1"/>
                  </a:solidFill>
                  <a:latin typeface="Roboto" panose="02000000000000000000" pitchFamily="2" charset="0"/>
                  <a:ea typeface="Roboto" panose="02000000000000000000" pitchFamily="2" charset="0"/>
                </a:rPr>
                <a:t>Install &amp; Qualify</a:t>
              </a:r>
            </a:p>
            <a:p>
              <a:pPr algn="ctr">
                <a:lnSpc>
                  <a:spcPct val="80000"/>
                </a:lnSpc>
                <a:spcBef>
                  <a:spcPct val="20000"/>
                </a:spcBef>
                <a:spcAft>
                  <a:spcPct val="0"/>
                </a:spcAft>
                <a:buClrTx/>
                <a:buSzTx/>
                <a:buFontTx/>
                <a:buNone/>
              </a:pPr>
              <a:endParaRPr kumimoji="1" lang="en-US" altLang="ja-JP" sz="120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200" dirty="0">
                  <a:solidFill>
                    <a:schemeClr val="bg1"/>
                  </a:solidFill>
                  <a:latin typeface="Roboto" panose="02000000000000000000" pitchFamily="2" charset="0"/>
                  <a:ea typeface="Roboto" panose="02000000000000000000" pitchFamily="2" charset="0"/>
                </a:rPr>
                <a:t>Create Standard Work</a:t>
              </a:r>
            </a:p>
            <a:p>
              <a:pPr algn="ctr">
                <a:lnSpc>
                  <a:spcPct val="80000"/>
                </a:lnSpc>
                <a:spcBef>
                  <a:spcPct val="20000"/>
                </a:spcBef>
                <a:spcAft>
                  <a:spcPct val="0"/>
                </a:spcAft>
                <a:buClrTx/>
                <a:buSzTx/>
                <a:buFontTx/>
                <a:buNone/>
              </a:pPr>
              <a:endParaRPr kumimoji="1" lang="en-US" altLang="ja-JP" sz="120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kumimoji="1" lang="en-US" altLang="ja-JP" sz="1200" dirty="0">
                  <a:solidFill>
                    <a:schemeClr val="bg1"/>
                  </a:solidFill>
                  <a:latin typeface="Roboto" panose="02000000000000000000" pitchFamily="2" charset="0"/>
                  <a:ea typeface="Roboto" panose="02000000000000000000" pitchFamily="2" charset="0"/>
                </a:rPr>
                <a:t>Celebrate</a:t>
              </a:r>
            </a:p>
            <a:p>
              <a:pPr algn="ctr">
                <a:lnSpc>
                  <a:spcPct val="80000"/>
                </a:lnSpc>
                <a:spcBef>
                  <a:spcPct val="20000"/>
                </a:spcBef>
                <a:spcAft>
                  <a:spcPct val="0"/>
                </a:spcAft>
                <a:buClrTx/>
                <a:buSzTx/>
                <a:buFontTx/>
                <a:buNone/>
              </a:pPr>
              <a:endParaRPr kumimoji="1" lang="en-US" altLang="ja-JP" sz="120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20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200" dirty="0">
                <a:solidFill>
                  <a:schemeClr val="bg1"/>
                </a:solidFill>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endParaRPr kumimoji="1" lang="en-US" altLang="ja-JP" sz="1200" dirty="0">
                <a:latin typeface="Roboto" panose="02000000000000000000" pitchFamily="2" charset="0"/>
                <a:ea typeface="Roboto" panose="02000000000000000000" pitchFamily="2" charset="0"/>
              </a:endParaRPr>
            </a:p>
          </p:txBody>
        </p:sp>
        <p:sp>
          <p:nvSpPr>
            <p:cNvPr id="6" name="Rectangle 28">
              <a:extLst>
                <a:ext uri="{FF2B5EF4-FFF2-40B4-BE49-F238E27FC236}">
                  <a16:creationId xmlns:a16="http://schemas.microsoft.com/office/drawing/2014/main" id="{DE9F38F0-8E33-B8D6-0AC3-4635B70335C1}"/>
                </a:ext>
              </a:extLst>
            </p:cNvPr>
            <p:cNvSpPr>
              <a:spLocks noChangeAspect="1" noChangeArrowheads="1"/>
            </p:cNvSpPr>
            <p:nvPr/>
          </p:nvSpPr>
          <p:spPr bwMode="auto">
            <a:xfrm>
              <a:off x="2117090" y="2173288"/>
              <a:ext cx="1314450" cy="214312"/>
            </a:xfrm>
            <a:prstGeom prst="rect">
              <a:avLst/>
            </a:prstGeom>
            <a:solidFill>
              <a:srgbClr val="808080"/>
            </a:solidFill>
            <a:ln w="9525">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kumimoji="1" lang="en-US" altLang="ja-JP" sz="1600" dirty="0">
                  <a:solidFill>
                    <a:schemeClr val="bg1"/>
                  </a:solidFill>
                  <a:latin typeface="Roboto" panose="02000000000000000000" pitchFamily="2" charset="0"/>
                  <a:ea typeface="Roboto" panose="02000000000000000000" pitchFamily="2" charset="0"/>
                </a:rPr>
                <a:t>Kick-Off</a:t>
              </a:r>
              <a:endParaRPr kumimoji="1" lang="en-US" altLang="ja-JP" dirty="0">
                <a:solidFill>
                  <a:schemeClr val="bg1"/>
                </a:solidFill>
                <a:latin typeface="Roboto" panose="02000000000000000000" pitchFamily="2" charset="0"/>
                <a:ea typeface="Roboto" panose="02000000000000000000" pitchFamily="2" charset="0"/>
              </a:endParaRPr>
            </a:p>
          </p:txBody>
        </p:sp>
      </p:grpSp>
      <p:sp>
        <p:nvSpPr>
          <p:cNvPr id="8" name="Content Placeholder 5">
            <a:extLst>
              <a:ext uri="{FF2B5EF4-FFF2-40B4-BE49-F238E27FC236}">
                <a16:creationId xmlns:a16="http://schemas.microsoft.com/office/drawing/2014/main" id="{A40096DB-9DB0-627D-7934-82D2FD508537}"/>
              </a:ext>
            </a:extLst>
          </p:cNvPr>
          <p:cNvSpPr txBox="1">
            <a:spLocks noChangeArrowheads="1"/>
          </p:cNvSpPr>
          <p:nvPr/>
        </p:nvSpPr>
        <p:spPr>
          <a:xfrm>
            <a:off x="5921058" y="2006600"/>
            <a:ext cx="5006975" cy="35991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Installation can also be attacked with Kaizen, but may need a different team</a:t>
            </a:r>
          </a:p>
        </p:txBody>
      </p:sp>
    </p:spTree>
    <p:extLst>
      <p:ext uri="{BB962C8B-B14F-4D97-AF65-F5344CB8AC3E}">
        <p14:creationId xmlns:p14="http://schemas.microsoft.com/office/powerpoint/2010/main" val="1141195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Top Management Role</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10000"/>
          </a:bodyPr>
          <a:lstStyle/>
          <a:p>
            <a:r>
              <a:rPr lang="en-US" dirty="0"/>
              <a:t>Management must lead – trite but true</a:t>
            </a:r>
          </a:p>
          <a:p>
            <a:r>
              <a:rPr lang="en-US" dirty="0"/>
              <a:t>Projects to be linked to strategy and focused on objectives</a:t>
            </a:r>
          </a:p>
          <a:p>
            <a:r>
              <a:rPr lang="en-US" dirty="0"/>
              <a:t>Be present, monitor, don’t control, encourage improvements, MBWA</a:t>
            </a:r>
          </a:p>
          <a:p>
            <a:r>
              <a:rPr lang="en-US" dirty="0"/>
              <a:t>Select and establish an effective team and oversee use of resources</a:t>
            </a:r>
          </a:p>
          <a:p>
            <a:r>
              <a:rPr lang="en-US" dirty="0"/>
              <a:t>Enable teams to run themselves</a:t>
            </a:r>
          </a:p>
          <a:p>
            <a:endParaRPr lang="en-US" dirty="0"/>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pic>
        <p:nvPicPr>
          <p:cNvPr id="5" name="Picture 7" descr="bigstockphoto_Walking_To_Work_1074964">
            <a:extLst>
              <a:ext uri="{FF2B5EF4-FFF2-40B4-BE49-F238E27FC236}">
                <a16:creationId xmlns:a16="http://schemas.microsoft.com/office/drawing/2014/main" id="{69B234A0-75AF-01DD-E9B9-65440733B7CE}"/>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274094"/>
            <a:ext cx="5181600"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1369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Tools to Speed Development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10000"/>
          </a:bodyPr>
          <a:lstStyle/>
          <a:p>
            <a:r>
              <a:rPr lang="en-US" dirty="0"/>
              <a:t>Cross-functional teams</a:t>
            </a:r>
          </a:p>
          <a:p>
            <a:r>
              <a:rPr lang="en-US" dirty="0"/>
              <a:t>Organize and control “fuzzy” front end</a:t>
            </a:r>
          </a:p>
          <a:p>
            <a:r>
              <a:rPr lang="en-US" dirty="0"/>
              <a:t>Manage resources and overload</a:t>
            </a:r>
          </a:p>
          <a:p>
            <a:r>
              <a:rPr lang="en-US" dirty="0"/>
              <a:t>Control technical and market risks</a:t>
            </a:r>
          </a:p>
          <a:p>
            <a:r>
              <a:rPr lang="en-US" dirty="0"/>
              <a:t>Use technology</a:t>
            </a:r>
          </a:p>
          <a:p>
            <a:r>
              <a:rPr lang="en-US" dirty="0"/>
              <a:t>Move incrementally, not big risky developments</a:t>
            </a:r>
          </a:p>
          <a:p>
            <a:r>
              <a:rPr lang="en-US" dirty="0"/>
              <a:t>Decentralize decision-making</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pic>
        <p:nvPicPr>
          <p:cNvPr id="7" name="Picture 7" descr="team at conference table2">
            <a:extLst>
              <a:ext uri="{FF2B5EF4-FFF2-40B4-BE49-F238E27FC236}">
                <a16:creationId xmlns:a16="http://schemas.microsoft.com/office/drawing/2014/main" id="{A5FC52A5-F358-E5FA-5488-EF89976CA609}"/>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55370" y="2052098"/>
            <a:ext cx="4831126" cy="349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39418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Cross-Functional Teams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Choose and empower the leader</a:t>
            </a:r>
          </a:p>
          <a:p>
            <a:r>
              <a:rPr lang="en-US" dirty="0"/>
              <a:t>Dedicate team members do not dilute</a:t>
            </a:r>
          </a:p>
          <a:p>
            <a:r>
              <a:rPr lang="en-US" dirty="0"/>
              <a:t>The core team to control the project and coordinate others</a:t>
            </a:r>
          </a:p>
          <a:p>
            <a:r>
              <a:rPr lang="en-US" dirty="0"/>
              <a:t>Cross-functional skill base eventually develop multi-skilled individuals rather than specialists with one skill</a:t>
            </a:r>
          </a:p>
          <a:p>
            <a:r>
              <a:rPr lang="en-US" dirty="0"/>
              <a:t>Co-locate project team – 10 </a:t>
            </a:r>
            <a:r>
              <a:rPr lang="en-US" dirty="0" err="1"/>
              <a:t>Metre</a:t>
            </a:r>
            <a:r>
              <a:rPr lang="en-US" dirty="0"/>
              <a:t>/yard rule</a:t>
            </a:r>
          </a:p>
          <a:p>
            <a:r>
              <a:rPr lang="en-US" dirty="0"/>
              <a:t>Include suppliers and customers in the team</a:t>
            </a:r>
          </a:p>
          <a:p>
            <a:r>
              <a:rPr lang="en-US" dirty="0"/>
              <a:t>Motivate by empowerment not discriminatory rewards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spTree>
    <p:extLst>
      <p:ext uri="{BB962C8B-B14F-4D97-AF65-F5344CB8AC3E}">
        <p14:creationId xmlns:p14="http://schemas.microsoft.com/office/powerpoint/2010/main" val="7609925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Control “Fuzzy” Front End</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20000"/>
          </a:bodyPr>
          <a:lstStyle/>
          <a:p>
            <a:r>
              <a:rPr lang="en-US" dirty="0"/>
              <a:t>Measure duration of start from earliest opportunity to start of first project hour spent</a:t>
            </a:r>
          </a:p>
          <a:p>
            <a:r>
              <a:rPr lang="en-US" dirty="0"/>
              <a:t>Understand cost of delay e.g. 1 month delay is equivalent to 5% revenue lost</a:t>
            </a:r>
          </a:p>
          <a:p>
            <a:r>
              <a:rPr lang="en-US" dirty="0"/>
              <a:t>Assign responsibilities and resources for front-end work</a:t>
            </a:r>
          </a:p>
          <a:p>
            <a:r>
              <a:rPr lang="en-US" dirty="0"/>
              <a:t>Overlap design and planning activities</a:t>
            </a:r>
          </a:p>
          <a:p>
            <a:r>
              <a:rPr lang="en-US" dirty="0"/>
              <a:t>Establish regular progress reviews</a:t>
            </a:r>
          </a:p>
          <a:p>
            <a:r>
              <a:rPr lang="en-US" dirty="0"/>
              <a:t>Create a quick reaction plan</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pic>
        <p:nvPicPr>
          <p:cNvPr id="5" name="Picture 7" descr="bigstockphoto_Business_Process_d_On_Blue_Ba_177693">
            <a:extLst>
              <a:ext uri="{FF2B5EF4-FFF2-40B4-BE49-F238E27FC236}">
                <a16:creationId xmlns:a16="http://schemas.microsoft.com/office/drawing/2014/main" id="{2CC5E1A1-9B71-CA85-9E12-32149D26FD28}"/>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053876"/>
            <a:ext cx="5181600" cy="3894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9744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Preventing Overload</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20000"/>
          </a:bodyPr>
          <a:lstStyle/>
          <a:p>
            <a:r>
              <a:rPr lang="en-US" dirty="0"/>
              <a:t>Avoid Project Dilution: too many projects for each team member – research suggests 2 to 3 is optimal.</a:t>
            </a:r>
          </a:p>
          <a:p>
            <a:r>
              <a:rPr lang="en-US" dirty="0"/>
              <a:t>Rank order projects and load accordingly</a:t>
            </a:r>
          </a:p>
          <a:p>
            <a:r>
              <a:rPr lang="en-US" dirty="0"/>
              <a:t>Control project list: selective pruning, visual list</a:t>
            </a:r>
          </a:p>
          <a:p>
            <a:r>
              <a:rPr lang="en-US" dirty="0"/>
              <a:t>Measure progress and monitor dormant project list and start delays</a:t>
            </a:r>
          </a:p>
          <a:p>
            <a:r>
              <a:rPr lang="en-US" dirty="0"/>
              <a:t>Create external projecting capacity</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pic>
        <p:nvPicPr>
          <p:cNvPr id="8" name="Content Placeholder 7" descr="bigstockphoto_Business_Meeting_1264156">
            <a:extLst>
              <a:ext uri="{FF2B5EF4-FFF2-40B4-BE49-F238E27FC236}">
                <a16:creationId xmlns:a16="http://schemas.microsoft.com/office/drawing/2014/main" id="{9842A067-825E-1053-82FB-FD2A74D26147}"/>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274094"/>
            <a:ext cx="5181600"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82703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Six Guiding Principles for Product Development Culture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Focused written “memos” for meetings</a:t>
            </a:r>
          </a:p>
          <a:p>
            <a:r>
              <a:rPr lang="en-US" dirty="0"/>
              <a:t>Mentoring supervisors – not bosses</a:t>
            </a:r>
          </a:p>
          <a:p>
            <a:r>
              <a:rPr lang="en-US" dirty="0"/>
              <a:t>Leaders/chief engineers can not go against functional areas</a:t>
            </a:r>
          </a:p>
          <a:p>
            <a:r>
              <a:rPr lang="en-US" dirty="0"/>
              <a:t>Internal training – mentoring &amp; job rotation</a:t>
            </a:r>
          </a:p>
          <a:p>
            <a:r>
              <a:rPr lang="en-US" dirty="0"/>
              <a:t>Standard work</a:t>
            </a:r>
          </a:p>
          <a:p>
            <a:r>
              <a:rPr lang="en-US" dirty="0"/>
              <a:t>Living design standards via checklists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spTree>
    <p:extLst>
      <p:ext uri="{BB962C8B-B14F-4D97-AF65-F5344CB8AC3E}">
        <p14:creationId xmlns:p14="http://schemas.microsoft.com/office/powerpoint/2010/main" val="3668523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fontScale="90000"/>
          </a:bodyPr>
          <a:lstStyle/>
          <a:p>
            <a:r>
              <a:rPr lang="en-US" sz="4000" dirty="0">
                <a:latin typeface="Roboto Medium"/>
                <a:ea typeface="Roboto Medium"/>
                <a:cs typeface="Roboto Medium"/>
              </a:rPr>
              <a:t>Discussion: Identify potential 3P opportunities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210"/>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potential strategic 3P opportunities within the business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or in one large group discuss the opportunities that you see for 3P currently in your business.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next steps for prioritizing and resourcing.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96337"/>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Initial 3P opportunities prioritized and next steps determined.</a:t>
            </a:r>
          </a:p>
        </p:txBody>
      </p:sp>
    </p:spTree>
    <p:extLst>
      <p:ext uri="{BB962C8B-B14F-4D97-AF65-F5344CB8AC3E}">
        <p14:creationId xmlns:p14="http://schemas.microsoft.com/office/powerpoint/2010/main" val="10275554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36</a:t>
            </a:fld>
            <a:endParaRPr lang="en-US" dirty="0"/>
          </a:p>
        </p:txBody>
      </p:sp>
    </p:spTree>
    <p:extLst>
      <p:ext uri="{BB962C8B-B14F-4D97-AF65-F5344CB8AC3E}">
        <p14:creationId xmlns:p14="http://schemas.microsoft.com/office/powerpoint/2010/main" val="4270647215"/>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14078</TotalTime>
  <Words>4167</Words>
  <Application>Microsoft Office PowerPoint</Application>
  <PresentationFormat>Widescreen</PresentationFormat>
  <Paragraphs>640</Paragraphs>
  <Slides>36</Slides>
  <Notes>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Monotype Sorts</vt:lpstr>
      <vt:lpstr>Roboto</vt:lpstr>
      <vt:lpstr>Roboto Medium</vt:lpstr>
      <vt:lpstr>Wingdings</vt:lpstr>
      <vt:lpstr>Office Theme</vt:lpstr>
      <vt:lpstr>PowerPoint Presentation</vt:lpstr>
      <vt:lpstr>PowerPoint Presentation</vt:lpstr>
      <vt:lpstr>PowerPoint Presentation</vt:lpstr>
      <vt:lpstr>Ground Rules for Event</vt:lpstr>
      <vt:lpstr>3P Exercise: Part 1</vt:lpstr>
      <vt:lpstr>3P Exercise: Part 2</vt:lpstr>
      <vt:lpstr>Goal of 3P</vt:lpstr>
      <vt:lpstr>3P Roadmap to Success</vt:lpstr>
      <vt:lpstr>3P Roadmap to Success</vt:lpstr>
      <vt:lpstr>3P Workshop Structure</vt:lpstr>
      <vt:lpstr>3P Workshop Agenda</vt:lpstr>
      <vt:lpstr>3P Defined</vt:lpstr>
      <vt:lpstr>3P Defined</vt:lpstr>
      <vt:lpstr>Goal of 3P</vt:lpstr>
      <vt:lpstr>When to use 3P – Top 5 Reasons</vt:lpstr>
      <vt:lpstr>Benefits</vt:lpstr>
      <vt:lpstr>Prerequisites for successful 3P</vt:lpstr>
      <vt:lpstr>Obstacles to Product Development</vt:lpstr>
      <vt:lpstr>3P Principles – overarching logic of 3P</vt:lpstr>
      <vt:lpstr>The Four Phases of 3P</vt:lpstr>
      <vt:lpstr>Product and Production Interaction</vt:lpstr>
      <vt:lpstr>5 Steps to 3P</vt:lpstr>
      <vt:lpstr>3P Process</vt:lpstr>
      <vt:lpstr>3P Process</vt:lpstr>
      <vt:lpstr>3P Process</vt:lpstr>
      <vt:lpstr>3P Leadership Awareness and Kickoff Event</vt:lpstr>
      <vt:lpstr>3P Workshop Agenda</vt:lpstr>
      <vt:lpstr>3P Follow-up</vt:lpstr>
      <vt:lpstr>Top Management Role</vt:lpstr>
      <vt:lpstr>Tools to Speed Development</vt:lpstr>
      <vt:lpstr>Cross-Functional Teams</vt:lpstr>
      <vt:lpstr>Control “Fuzzy” Front End</vt:lpstr>
      <vt:lpstr>Preventing Overload</vt:lpstr>
      <vt:lpstr>Six Guiding Principles for Product Development Culture</vt:lpstr>
      <vt:lpstr>Discussion: Identify potential 3P opportunities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380</cp:revision>
  <dcterms:created xsi:type="dcterms:W3CDTF">2023-02-08T22:10:20Z</dcterms:created>
  <dcterms:modified xsi:type="dcterms:W3CDTF">2023-09-29T23:12:36Z</dcterms:modified>
</cp:coreProperties>
</file>