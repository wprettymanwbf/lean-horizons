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10"/>
  </p:notesMasterIdLst>
  <p:sldIdLst>
    <p:sldId id="258" r:id="rId2"/>
    <p:sldId id="283" r:id="rId3"/>
    <p:sldId id="284" r:id="rId4"/>
    <p:sldId id="285" r:id="rId5"/>
    <p:sldId id="329" r:id="rId6"/>
    <p:sldId id="330" r:id="rId7"/>
    <p:sldId id="331" r:id="rId8"/>
    <p:sldId id="332" r:id="rId9"/>
    <p:sldId id="333" r:id="rId10"/>
    <p:sldId id="334" r:id="rId11"/>
    <p:sldId id="401" r:id="rId12"/>
    <p:sldId id="402" r:id="rId13"/>
    <p:sldId id="338" r:id="rId14"/>
    <p:sldId id="403" r:id="rId15"/>
    <p:sldId id="340" r:id="rId16"/>
    <p:sldId id="341" r:id="rId17"/>
    <p:sldId id="342" r:id="rId18"/>
    <p:sldId id="347" r:id="rId19"/>
    <p:sldId id="348" r:id="rId20"/>
    <p:sldId id="349" r:id="rId21"/>
    <p:sldId id="350" r:id="rId22"/>
    <p:sldId id="351" r:id="rId23"/>
    <p:sldId id="479" r:id="rId24"/>
    <p:sldId id="353" r:id="rId25"/>
    <p:sldId id="354" r:id="rId26"/>
    <p:sldId id="316" r:id="rId27"/>
    <p:sldId id="404" r:id="rId28"/>
    <p:sldId id="298" r:id="rId29"/>
    <p:sldId id="405" r:id="rId30"/>
    <p:sldId id="388" r:id="rId31"/>
    <p:sldId id="390" r:id="rId32"/>
    <p:sldId id="391" r:id="rId33"/>
    <p:sldId id="367" r:id="rId34"/>
    <p:sldId id="382" r:id="rId35"/>
    <p:sldId id="406" r:id="rId36"/>
    <p:sldId id="407" r:id="rId37"/>
    <p:sldId id="408" r:id="rId38"/>
    <p:sldId id="409" r:id="rId39"/>
    <p:sldId id="410" r:id="rId40"/>
    <p:sldId id="411" r:id="rId41"/>
    <p:sldId id="376"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3" r:id="rId63"/>
    <p:sldId id="432" r:id="rId64"/>
    <p:sldId id="434" r:id="rId65"/>
    <p:sldId id="435" r:id="rId66"/>
    <p:sldId id="436" r:id="rId67"/>
    <p:sldId id="437" r:id="rId68"/>
    <p:sldId id="438" r:id="rId69"/>
    <p:sldId id="439" r:id="rId70"/>
    <p:sldId id="440" r:id="rId71"/>
    <p:sldId id="441" r:id="rId72"/>
    <p:sldId id="442" r:id="rId73"/>
    <p:sldId id="443" r:id="rId74"/>
    <p:sldId id="444" r:id="rId75"/>
    <p:sldId id="445" r:id="rId76"/>
    <p:sldId id="446" r:id="rId77"/>
    <p:sldId id="447" r:id="rId78"/>
    <p:sldId id="448" r:id="rId79"/>
    <p:sldId id="449" r:id="rId80"/>
    <p:sldId id="450" r:id="rId81"/>
    <p:sldId id="451" r:id="rId82"/>
    <p:sldId id="452" r:id="rId83"/>
    <p:sldId id="453" r:id="rId84"/>
    <p:sldId id="454" r:id="rId85"/>
    <p:sldId id="455" r:id="rId86"/>
    <p:sldId id="456" r:id="rId87"/>
    <p:sldId id="457" r:id="rId88"/>
    <p:sldId id="458" r:id="rId89"/>
    <p:sldId id="459" r:id="rId90"/>
    <p:sldId id="460" r:id="rId91"/>
    <p:sldId id="461" r:id="rId92"/>
    <p:sldId id="462" r:id="rId93"/>
    <p:sldId id="463" r:id="rId94"/>
    <p:sldId id="464" r:id="rId95"/>
    <p:sldId id="465" r:id="rId96"/>
    <p:sldId id="466" r:id="rId97"/>
    <p:sldId id="467" r:id="rId98"/>
    <p:sldId id="468" r:id="rId99"/>
    <p:sldId id="469" r:id="rId100"/>
    <p:sldId id="470" r:id="rId101"/>
    <p:sldId id="471" r:id="rId102"/>
    <p:sldId id="472" r:id="rId103"/>
    <p:sldId id="473" r:id="rId104"/>
    <p:sldId id="474" r:id="rId105"/>
    <p:sldId id="475" r:id="rId106"/>
    <p:sldId id="476" r:id="rId107"/>
    <p:sldId id="477" r:id="rId108"/>
    <p:sldId id="478"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F80"/>
    <a:srgbClr val="4F81BD"/>
    <a:srgbClr val="222222"/>
    <a:srgbClr val="FFB627"/>
    <a:srgbClr val="177E89"/>
    <a:srgbClr val="8EDCE6"/>
    <a:srgbClr val="F1BF98"/>
    <a:srgbClr val="2EC4B6"/>
    <a:srgbClr val="BDDBD0"/>
    <a:srgbClr val="2D7D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1849" autoAdjust="0"/>
  </p:normalViewPr>
  <p:slideViewPr>
    <p:cSldViewPr snapToGrid="0">
      <p:cViewPr varScale="1">
        <p:scale>
          <a:sx n="67" d="100"/>
          <a:sy n="67" d="100"/>
        </p:scale>
        <p:origin x="1450" y="62"/>
      </p:cViewPr>
      <p:guideLst/>
    </p:cSldViewPr>
  </p:slideViewPr>
  <p:notesTextViewPr>
    <p:cViewPr>
      <p:scale>
        <a:sx n="3" d="2"/>
        <a:sy n="3" d="2"/>
      </p:scale>
      <p:origin x="0" y="0"/>
    </p:cViewPr>
  </p:notesTextViewPr>
  <p:sorterViewPr>
    <p:cViewPr varScale="1">
      <p:scale>
        <a:sx n="100" d="100"/>
        <a:sy n="100" d="100"/>
      </p:scale>
      <p:origin x="0" y="-45192"/>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115" Type="http://schemas.microsoft.com/office/2018/10/relationships/authors" Target="author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9/29/2023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This module can be used after the 3P Kick-Off Event Presentation or as a stand alone event.</a:t>
            </a:r>
          </a:p>
          <a:p>
            <a:r>
              <a:rPr lang="en-US" altLang="en-US" dirty="0"/>
              <a:t>The three-day 3P Kick-off Event introduces 3P as a concept, selects the product or process to be 3P</a:t>
            </a:r>
            <a:r>
              <a:rPr lang="ja-JP" altLang="en-US" dirty="0"/>
              <a:t>’</a:t>
            </a:r>
            <a:r>
              <a:rPr lang="en-US" altLang="ja-JP" dirty="0"/>
              <a:t>d and establishes the baseline data and the requirements for the 3P Lab and sets up the Project Charter.</a:t>
            </a:r>
          </a:p>
          <a:p>
            <a:r>
              <a:rPr lang="en-US" altLang="en-US" dirty="0"/>
              <a:t>If the project is small enough or the team is experienced in 3P, then this Workshop presentation can be used without a 3P Kick-off event providing the Project Charter has been specified beforehand and adequate preparations have been made to run the Workshop including having a 3P Lab available.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5547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115589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665521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 </a:t>
            </a:r>
            <a:r>
              <a:rPr lang="en-US" altLang="en-US" dirty="0"/>
              <a:t>Perform Group Introductions. Or Take two minutes to learn about another person and then 1 minute to present them to the group e.g. </a:t>
            </a:r>
            <a:r>
              <a:rPr lang="en-GB" altLang="en-US" dirty="0"/>
              <a:t>name, where were they born, where do they live now, family – married, children, hobbies, personal qualities, position, career, what do they like about work, what do they expect to get from this event.</a:t>
            </a:r>
            <a:endParaRPr lang="en-US" altLang="en-US" dirty="0"/>
          </a:p>
          <a:p>
            <a:endParaRPr lang="en-US" altLang="en-US" dirty="0"/>
          </a:p>
          <a:p>
            <a:r>
              <a:rPr lang="en-US" altLang="en-US" dirty="0"/>
              <a:t>Pick an ice-breaker or exercise to warm the team up to the event. (Icebreaker Example: Everyone uses their name tent and writes a </a:t>
            </a:r>
            <a:r>
              <a:rPr lang="ja-JP" altLang="en-US" dirty="0"/>
              <a:t>“</a:t>
            </a:r>
            <a:r>
              <a:rPr lang="en-US" altLang="ja-JP" dirty="0"/>
              <a:t>Personal License Plate</a:t>
            </a:r>
            <a:r>
              <a:rPr lang="ja-JP" altLang="en-US" dirty="0"/>
              <a:t>”</a:t>
            </a:r>
            <a:r>
              <a:rPr lang="en-US" altLang="ja-JP" dirty="0"/>
              <a:t> in which they have 2 minutes to creatively use a total of 7 letters or numbers to tell us something about themselves. Examples </a:t>
            </a:r>
            <a:r>
              <a:rPr lang="ja-JP" altLang="en-US" dirty="0"/>
              <a:t>“</a:t>
            </a:r>
            <a:r>
              <a:rPr lang="en-US" altLang="ja-JP" dirty="0"/>
              <a:t>LV2SAIL</a:t>
            </a:r>
            <a:r>
              <a:rPr lang="ja-JP" altLang="en-US" dirty="0"/>
              <a:t>”</a:t>
            </a:r>
            <a:r>
              <a:rPr lang="en-US" altLang="ja-JP" dirty="0"/>
              <a:t> OR </a:t>
            </a:r>
            <a:r>
              <a:rPr lang="ja-JP" altLang="en-US" dirty="0"/>
              <a:t>“</a:t>
            </a:r>
            <a:r>
              <a:rPr lang="en-US" altLang="ja-JP" dirty="0"/>
              <a:t>DADOV5</a:t>
            </a:r>
            <a:r>
              <a:rPr lang="ja-JP" altLang="en-US" dirty="0"/>
              <a:t>”</a:t>
            </a:r>
            <a:endParaRPr lang="en-US" altLang="ja-JP" dirty="0"/>
          </a:p>
          <a:p>
            <a:endParaRPr lang="en-US" altLang="en-US" dirty="0"/>
          </a:p>
          <a:p>
            <a:r>
              <a:rPr lang="en-US" altLang="en-US" b="1" dirty="0"/>
              <a:t>DO</a:t>
            </a:r>
            <a:r>
              <a:rPr lang="en-US" altLang="en-US" dirty="0"/>
              <a:t>: Review Event Ground Rules. </a:t>
            </a:r>
          </a:p>
          <a:p>
            <a:r>
              <a:rPr lang="en-US" altLang="en-US" b="1" dirty="0"/>
              <a:t>ASK:</a:t>
            </a:r>
            <a:r>
              <a:rPr lang="en-US" altLang="en-US" dirty="0"/>
              <a:t> </a:t>
            </a:r>
            <a:r>
              <a:rPr lang="ja-JP" altLang="en-US" dirty="0"/>
              <a:t>“</a:t>
            </a:r>
            <a:r>
              <a:rPr lang="en-US" altLang="ja-JP" dirty="0"/>
              <a:t>Does anyone have any rules they would like to see added?</a:t>
            </a:r>
            <a:r>
              <a:rPr lang="ja-JP" altLang="en-US" dirty="0"/>
              <a:t>”</a:t>
            </a:r>
            <a:endParaRPr lang="en-US" altLang="ja-JP" dirty="0"/>
          </a:p>
          <a:p>
            <a:r>
              <a:rPr lang="en-US" altLang="en-US" b="1" dirty="0"/>
              <a:t>ASK</a:t>
            </a:r>
            <a:r>
              <a:rPr lang="en-US" altLang="en-US" dirty="0"/>
              <a:t>: </a:t>
            </a:r>
            <a:r>
              <a:rPr lang="ja-JP" altLang="en-US" dirty="0"/>
              <a:t>“</a:t>
            </a:r>
            <a:r>
              <a:rPr lang="en-US" altLang="ja-JP" dirty="0"/>
              <a:t>Does everyone agree to these?</a:t>
            </a:r>
            <a:r>
              <a:rPr lang="ja-JP" altLang="en-US" dirty="0"/>
              <a:t>”</a:t>
            </a:r>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SAY:</a:t>
            </a:r>
            <a:r>
              <a:rPr lang="en-US" altLang="en-US" sz="800" dirty="0"/>
              <a:t> </a:t>
            </a:r>
            <a:r>
              <a:rPr lang="ja-JP" altLang="en-US" sz="800" dirty="0"/>
              <a:t>“</a:t>
            </a:r>
            <a:r>
              <a:rPr lang="en-US" altLang="ja-JP" sz="800" dirty="0"/>
              <a:t>3P is largely a creative thinking event. Teams are challenged to keep the creative juices flowing as we strive to achieve breakthrough designs and processes. So it is appropriate that we kick the event off with a 3P style creative, team-building exercise. This is a competitive exercise and teams are competing against each other.</a:t>
            </a:r>
            <a:r>
              <a:rPr lang="ja-JP" altLang="en-US" sz="800" dirty="0"/>
              <a:t>”</a:t>
            </a:r>
            <a:endParaRPr lang="en-US" altLang="ja-JP" sz="800" dirty="0"/>
          </a:p>
          <a:p>
            <a:endParaRPr lang="en-US" altLang="en-US" sz="800" dirty="0"/>
          </a:p>
          <a:p>
            <a:r>
              <a:rPr lang="en-US" altLang="en-US" sz="800" b="1" dirty="0"/>
              <a:t>MATERIALS REQUIRED:</a:t>
            </a:r>
            <a:r>
              <a:rPr lang="en-US" altLang="en-US" sz="800" dirty="0"/>
              <a:t> 1 stopwatch as many sheets of 8.5x11</a:t>
            </a:r>
            <a:r>
              <a:rPr lang="ja-JP" altLang="en-US" sz="800" dirty="0"/>
              <a:t>”</a:t>
            </a:r>
            <a:r>
              <a:rPr lang="en-US" altLang="ja-JP" sz="800" dirty="0"/>
              <a:t> (or A4) paper per team as required. (Optional: Colored pencils)</a:t>
            </a:r>
          </a:p>
          <a:p>
            <a:endParaRPr lang="en-US" altLang="en-US" sz="800" dirty="0"/>
          </a:p>
          <a:p>
            <a:r>
              <a:rPr lang="en-US" altLang="en-US" sz="800" b="1" dirty="0"/>
              <a:t>DO:</a:t>
            </a:r>
            <a:r>
              <a:rPr lang="en-US" altLang="en-US" sz="800" dirty="0"/>
              <a:t> Read the instructions aloud with the class on the slide. Have the materials prepared and the tables already assembled to facilitate working in small groups. </a:t>
            </a:r>
          </a:p>
          <a:p>
            <a:endParaRPr lang="en-US" altLang="en-US" sz="800" dirty="0"/>
          </a:p>
          <a:p>
            <a:r>
              <a:rPr lang="en-US" altLang="en-US" sz="800" b="1" dirty="0"/>
              <a:t>DO:</a:t>
            </a:r>
            <a:r>
              <a:rPr lang="en-US" altLang="en-US" sz="800" dirty="0"/>
              <a:t> Encourage the teams to think about how things in nature achieve flight. Birds, flying squirrels, air borne seeds etc.</a:t>
            </a:r>
          </a:p>
          <a:p>
            <a:endParaRPr lang="en-US" altLang="en-US" sz="800" dirty="0"/>
          </a:p>
          <a:p>
            <a:r>
              <a:rPr lang="en-US" altLang="en-US" sz="800" b="1" dirty="0"/>
              <a:t>DO:</a:t>
            </a:r>
            <a:r>
              <a:rPr lang="en-US" altLang="en-US" sz="800" dirty="0"/>
              <a:t> Ensure that they follow the 3P process of: </a:t>
            </a:r>
            <a:r>
              <a:rPr lang="en-US" altLang="en-US" sz="800" dirty="0" err="1"/>
              <a:t>i</a:t>
            </a:r>
            <a:r>
              <a:rPr lang="en-US" altLang="en-US" sz="800" dirty="0"/>
              <a:t>) individual drawn designs, ii) selecting the top three, iii) prototyping and then iv) final selection on the one best solution. Also ensure it is clear that they have 20 minutes in their teams to come up with their final airplane design and test it.</a:t>
            </a:r>
          </a:p>
          <a:p>
            <a:endParaRPr lang="en-US" altLang="en-US" sz="800" dirty="0"/>
          </a:p>
          <a:p>
            <a:r>
              <a:rPr lang="en-US" altLang="en-US" sz="800" b="1" dirty="0"/>
              <a:t>NOTE:</a:t>
            </a:r>
            <a:r>
              <a:rPr lang="en-US" altLang="en-US" sz="800" dirty="0"/>
              <a:t> Allow the class to come up with their own method for how to determine the best design. Do not be too directive here. Also you may be asked what the criteria for </a:t>
            </a:r>
            <a:r>
              <a:rPr lang="ja-JP" altLang="en-US" sz="800" dirty="0"/>
              <a:t>“</a:t>
            </a:r>
            <a:r>
              <a:rPr lang="en-US" altLang="ja-JP" sz="800" dirty="0"/>
              <a:t>aesthetically pleasing</a:t>
            </a:r>
            <a:r>
              <a:rPr lang="ja-JP" altLang="en-US" sz="800" dirty="0"/>
              <a:t>”</a:t>
            </a:r>
            <a:r>
              <a:rPr lang="en-US" altLang="ja-JP" sz="800" dirty="0"/>
              <a:t> is. Just say that </a:t>
            </a:r>
            <a:r>
              <a:rPr lang="ja-JP" altLang="en-US" sz="800" dirty="0"/>
              <a:t>“</a:t>
            </a:r>
            <a:r>
              <a:rPr lang="en-US" altLang="ja-JP" sz="800" dirty="0"/>
              <a:t>it must look like an airplane or other type of aircraft (no floating flat pieces of paper!)</a:t>
            </a:r>
            <a:r>
              <a:rPr lang="ja-JP" altLang="en-US" sz="800" dirty="0"/>
              <a:t>”</a:t>
            </a:r>
            <a:r>
              <a:rPr lang="en-US" altLang="ja-JP" sz="800" dirty="0"/>
              <a:t>. Either select a </a:t>
            </a:r>
            <a:r>
              <a:rPr lang="ja-JP" altLang="en-US" sz="800" dirty="0"/>
              <a:t>“</a:t>
            </a:r>
            <a:r>
              <a:rPr lang="en-US" altLang="ja-JP" sz="800" dirty="0"/>
              <a:t>Customer</a:t>
            </a:r>
            <a:r>
              <a:rPr lang="ja-JP" altLang="en-US" sz="800" dirty="0"/>
              <a:t>”</a:t>
            </a:r>
            <a:r>
              <a:rPr lang="en-US" altLang="ja-JP" sz="800" dirty="0"/>
              <a:t> or you act as Customer and be the ultimate judge. The Customer can not participate in the team exercises.</a:t>
            </a:r>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DO</a:t>
            </a:r>
            <a:r>
              <a:rPr lang="en-US" altLang="en-US" sz="800" dirty="0"/>
              <a:t>: Read aloud the instructions on the slide for Part 2. Ensure all teams understand they are to build as many of their chosen design of airplane in 2 minutes as they can. </a:t>
            </a:r>
          </a:p>
          <a:p>
            <a:endParaRPr lang="en-US" altLang="en-US" sz="800" dirty="0"/>
          </a:p>
          <a:p>
            <a:r>
              <a:rPr lang="en-US" altLang="en-US" sz="800" b="1" dirty="0"/>
              <a:t>DO:</a:t>
            </a:r>
            <a:r>
              <a:rPr lang="en-US" altLang="en-US" sz="800" dirty="0"/>
              <a:t> Provide 15 minutes for each team to plan and test their production method and forecast how many paper airplanes the team can build in a 2-minute period and how much profit they will make. Costs and income are indicated on the slide. Write their forecasts on a flip chart or board.</a:t>
            </a:r>
          </a:p>
          <a:p>
            <a:endParaRPr lang="en-US" altLang="en-US" sz="800" dirty="0"/>
          </a:p>
          <a:p>
            <a:r>
              <a:rPr lang="en-US" altLang="en-US" sz="800" b="1" dirty="0"/>
              <a:t>DO:</a:t>
            </a:r>
            <a:r>
              <a:rPr lang="en-US" altLang="en-US" sz="800" dirty="0"/>
              <a:t> Ensure they understand that the planes must be of the same quality as the prototype and will be examined upon completion by the customer (Observer). </a:t>
            </a:r>
          </a:p>
          <a:p>
            <a:endParaRPr lang="en-US" altLang="en-US" sz="800" dirty="0"/>
          </a:p>
          <a:p>
            <a:r>
              <a:rPr lang="en-US" altLang="en-US" sz="800" b="1" dirty="0"/>
              <a:t>DO:</a:t>
            </a:r>
            <a:r>
              <a:rPr lang="en-US" altLang="en-US" sz="800" dirty="0"/>
              <a:t> Run the production exercise for 2-minutes. The Customer should be keeping time and taking notes. When the production run is completed, the Customer must inspect the planes to be the same quality as the prototype and remove any inferior planes. Remember to keep a tally of these for later when calculating costs.</a:t>
            </a:r>
          </a:p>
          <a:p>
            <a:endParaRPr lang="en-US" altLang="en-US" sz="800" dirty="0"/>
          </a:p>
          <a:p>
            <a:r>
              <a:rPr lang="en-US" altLang="en-US" sz="800" b="1" dirty="0"/>
              <a:t>DO:</a:t>
            </a:r>
            <a:r>
              <a:rPr lang="en-US" altLang="en-US" sz="800" dirty="0"/>
              <a:t> Ask each team in turn to select one member to fly each plane from approximately 5</a:t>
            </a:r>
            <a:r>
              <a:rPr lang="ja-JP" altLang="en-US" sz="800" dirty="0"/>
              <a:t>’</a:t>
            </a:r>
            <a:r>
              <a:rPr lang="en-US" altLang="ja-JP" sz="800" dirty="0"/>
              <a:t> (1.5m) height. The Customer decides if the plane has passed the 2-second test and failed planes are again deducted from the final count.</a:t>
            </a:r>
          </a:p>
          <a:p>
            <a:endParaRPr lang="en-US" altLang="en-US" sz="800" dirty="0"/>
          </a:p>
          <a:p>
            <a:r>
              <a:rPr lang="en-US" altLang="en-US" sz="800" b="1" dirty="0"/>
              <a:t>DO:</a:t>
            </a:r>
            <a:r>
              <a:rPr lang="en-US" altLang="en-US" sz="800" dirty="0"/>
              <a:t> Score the teams using the following table, compare the profits and identify the winning team.</a:t>
            </a:r>
          </a:p>
          <a:p>
            <a:endParaRPr lang="en-US" altLang="en-US" sz="800" dirty="0"/>
          </a:p>
          <a:p>
            <a:r>
              <a:rPr lang="en-US" altLang="en-US" sz="800" dirty="0"/>
              <a:t>SCORE TABLE</a:t>
            </a:r>
          </a:p>
          <a:p>
            <a:r>
              <a:rPr lang="en-US" altLang="en-US" sz="800" u="sng" dirty="0"/>
              <a:t>Team</a:t>
            </a:r>
            <a:r>
              <a:rPr lang="en-US" altLang="en-US" sz="800" dirty="0"/>
              <a:t>	</a:t>
            </a:r>
            <a:r>
              <a:rPr lang="en-US" altLang="en-US" sz="800" u="sng" dirty="0"/>
              <a:t>Predicted Profit</a:t>
            </a:r>
            <a:r>
              <a:rPr lang="en-US" altLang="en-US" sz="800" dirty="0"/>
              <a:t>	</a:t>
            </a:r>
            <a:r>
              <a:rPr lang="en-US" altLang="en-US" sz="800" u="sng" dirty="0"/>
              <a:t>Total # Produced</a:t>
            </a:r>
            <a:r>
              <a:rPr lang="en-US" altLang="en-US" sz="800" dirty="0"/>
              <a:t>	# </a:t>
            </a:r>
            <a:r>
              <a:rPr lang="en-US" altLang="en-US" sz="800" u="sng" dirty="0"/>
              <a:t>Rejects</a:t>
            </a:r>
            <a:r>
              <a:rPr lang="en-US" altLang="en-US" sz="800" dirty="0"/>
              <a:t>	</a:t>
            </a:r>
            <a:r>
              <a:rPr lang="en-US" altLang="en-US" sz="800" u="sng" dirty="0"/>
              <a:t>Final Profit</a:t>
            </a:r>
          </a:p>
          <a:p>
            <a:r>
              <a:rPr lang="en-US" altLang="en-US" sz="800" dirty="0"/>
              <a:t>Team 1</a:t>
            </a:r>
          </a:p>
          <a:p>
            <a:r>
              <a:rPr lang="en-US" altLang="en-US" sz="800" dirty="0"/>
              <a:t>Team 2</a:t>
            </a:r>
          </a:p>
          <a:p>
            <a:r>
              <a:rPr lang="en-US" altLang="en-US" sz="800" dirty="0" err="1"/>
              <a:t>etc</a:t>
            </a:r>
            <a:endParaRPr lang="en-US" altLang="en-US" sz="800" dirty="0"/>
          </a:p>
          <a:p>
            <a:endParaRPr lang="en-US" altLang="en-US" sz="800" dirty="0"/>
          </a:p>
          <a:p>
            <a:r>
              <a:rPr lang="en-US" altLang="en-US" sz="800" dirty="0"/>
              <a:t>DISCUSSION QUESTIONS TO ASK:</a:t>
            </a:r>
          </a:p>
          <a:p>
            <a:r>
              <a:rPr lang="en-US" altLang="en-US" sz="800" dirty="0"/>
              <a:t>Was the final result different from the forecast? Why?</a:t>
            </a:r>
          </a:p>
          <a:p>
            <a:r>
              <a:rPr lang="en-US" altLang="en-US" sz="800" dirty="0"/>
              <a:t>Was there any conflict in the group?</a:t>
            </a:r>
          </a:p>
          <a:p>
            <a:r>
              <a:rPr lang="en-US" altLang="en-US" sz="800" dirty="0"/>
              <a:t>Did certain people take on or accept roles within the team?</a:t>
            </a:r>
          </a:p>
          <a:p>
            <a:r>
              <a:rPr lang="en-US" altLang="en-US" sz="800" dirty="0"/>
              <a:t>Was quality a concern?</a:t>
            </a:r>
          </a:p>
          <a:p>
            <a:r>
              <a:rPr lang="en-US" altLang="en-US" sz="800" dirty="0"/>
              <a:t>Did everyone participate in the discussion and decision-making process?</a:t>
            </a:r>
          </a:p>
          <a:p>
            <a:endParaRPr lang="en-US" altLang="en-US" sz="800" dirty="0"/>
          </a:p>
          <a:p>
            <a:r>
              <a:rPr lang="en-US" altLang="en-US" sz="800" dirty="0"/>
              <a:t>DO: Relate how we will see elements of this exercise in our 3P event. </a:t>
            </a:r>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1946606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Introduce the notion of Deming</a:t>
            </a:r>
            <a:r>
              <a:rPr lang="ja-JP" altLang="en-US" dirty="0"/>
              <a:t>’</a:t>
            </a:r>
            <a:r>
              <a:rPr lang="en-US" altLang="ja-JP" dirty="0"/>
              <a:t>s PDCA in relation to 3P as an iterative process of creative divergence and constructive convergence and refinement.</a:t>
            </a:r>
          </a:p>
          <a:p>
            <a:r>
              <a:rPr lang="en-US" altLang="en-US" dirty="0"/>
              <a:t>This Introduction is a review of 3P to remind delegates of what was covered in the Kick-off presentation or, if experienced in 3P, to revise and reorient them.</a:t>
            </a:r>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1241201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1092190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3892640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19867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Make any modifications or inclusions/deletions to Workshop event as required by nature of 3P event.</a:t>
            </a: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10786520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3799624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5000"/>
              </a:lnSpc>
            </a:pPr>
            <a:r>
              <a:rPr lang="en-US" altLang="en-US" b="1" dirty="0"/>
              <a:t>SAY</a:t>
            </a:r>
            <a:r>
              <a:rPr lang="en-US" altLang="en-US" dirty="0"/>
              <a:t>: </a:t>
            </a:r>
            <a:r>
              <a:rPr lang="ja-JP" altLang="en-US" dirty="0"/>
              <a:t>“</a:t>
            </a:r>
            <a:r>
              <a:rPr lang="en-US" altLang="ja-JP" dirty="0"/>
              <a:t>3P is an advanced lean tool typically used by organizations that have experience with other lean methods   </a:t>
            </a:r>
          </a:p>
          <a:p>
            <a:pPr>
              <a:lnSpc>
                <a:spcPct val="105000"/>
              </a:lnSpc>
            </a:pPr>
            <a:r>
              <a:rPr lang="en-US" altLang="en-US" dirty="0"/>
              <a:t>Kaizen and other lean tools take a production process as a given and seek to make improvements, 3P focuses on eliminating waste through product and process design.</a:t>
            </a:r>
          </a:p>
          <a:p>
            <a:pPr>
              <a:lnSpc>
                <a:spcPct val="105000"/>
              </a:lnSpc>
            </a:pPr>
            <a:r>
              <a:rPr lang="en-US" altLang="en-US" dirty="0"/>
              <a:t>3P seeks to meet customer requirements by starting with a clean product development slate to rapidly create and test potential product and process designs that require the least time, material, and capital resources. </a:t>
            </a:r>
          </a:p>
          <a:p>
            <a:pPr>
              <a:lnSpc>
                <a:spcPct val="105000"/>
              </a:lnSpc>
            </a:pPr>
            <a:r>
              <a:rPr lang="en-US" altLang="en-US" dirty="0"/>
              <a:t>3P involves a diverse group of individuals in a multi-day creative process to identify several alternative ways to meet the customer's needs using different product or process designs.</a:t>
            </a:r>
          </a:p>
          <a:p>
            <a:pPr>
              <a:lnSpc>
                <a:spcPct val="105000"/>
              </a:lnSpc>
            </a:pPr>
            <a:r>
              <a:rPr lang="en-US" altLang="en-US" dirty="0"/>
              <a:t>Eliminate the </a:t>
            </a:r>
            <a:r>
              <a:rPr lang="ja-JP" altLang="en-US" dirty="0"/>
              <a:t>‘</a:t>
            </a:r>
            <a:r>
              <a:rPr lang="en-US" altLang="ja-JP" dirty="0"/>
              <a:t>Three D</a:t>
            </a:r>
            <a:r>
              <a:rPr lang="ja-JP" altLang="en-US" dirty="0"/>
              <a:t>’</a:t>
            </a:r>
            <a:r>
              <a:rPr lang="en-US" altLang="ja-JP" dirty="0"/>
              <a:t>s</a:t>
            </a:r>
            <a:r>
              <a:rPr lang="ja-JP" altLang="en-US" dirty="0"/>
              <a:t>’</a:t>
            </a:r>
            <a:r>
              <a:rPr lang="en-US" altLang="ja-JP" dirty="0"/>
              <a:t> – dirt, difficult, dangerous</a:t>
            </a:r>
            <a:r>
              <a:rPr lang="ja-JP" altLang="en-US" dirty="0"/>
              <a:t>”</a:t>
            </a:r>
            <a:endParaRPr lang="en-US" altLang="ja-JP" dirty="0"/>
          </a:p>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543148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1432884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502876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Product performance can be enhanced in two ways; 1) by involving multidisciplinary teams early, an improved solution can be found, 2) by having a fast development process, development can afford to wait for improved or cheaper technology and still make it to market on time.</a:t>
            </a:r>
          </a:p>
          <a:p>
            <a:endParaRPr lang="en-US" altLang="en-US" dirty="0"/>
          </a:p>
          <a:p>
            <a:r>
              <a:rPr lang="en-GB" altLang="en-US" dirty="0"/>
              <a:t>Lower production costs do not naturally follow as typically 2X effort leads to ½ development time. However more focused effort and fewer iterations and mistakes can lead to improved development efficiency and lower development costs.”</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262904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3974265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4047892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29635689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ja-JP" altLang="en-US" dirty="0"/>
              <a:t>”</a:t>
            </a:r>
            <a:r>
              <a:rPr lang="en-US" altLang="ja-JP" dirty="0"/>
              <a:t>3P is an iterative process of creative divergence and constructive convergence and refinement through four phases: Information, Creative, Definition and Launch.</a:t>
            </a:r>
            <a:r>
              <a:rPr lang="ja-JP" altLang="en-US" dirty="0"/>
              <a:t>”</a:t>
            </a:r>
            <a:endParaRPr lang="en-GB"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700734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a:t>
            </a:r>
            <a:r>
              <a:rPr lang="en-GB" altLang="en-US" dirty="0"/>
              <a:t> “This is a Concurrent Engineering method and is to illustrate that product design and production design need to run hand in hand with constant interaction between the two. This is very relevant to 3P. The traditional method is to design the product in isolation and throw it over the wall to the production department to make the best of it. Often product designers do not understand manufacturing and vice versa.” </a:t>
            </a:r>
          </a:p>
          <a:p>
            <a:endParaRPr lang="en-GB" altLang="en-US" dirty="0"/>
          </a:p>
          <a:p>
            <a:r>
              <a:rPr lang="en-GB" altLang="en-US" b="1" dirty="0"/>
              <a:t>SAY: </a:t>
            </a:r>
            <a:r>
              <a:rPr lang="en-GB" altLang="en-US" dirty="0"/>
              <a:t>“It is the interaction of product designers and production engineers that will achieve the best possible solution when using the 3P method.”</a:t>
            </a: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39051004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sz="800" dirty="0"/>
              <a:t>3P FIVE STEP CREATIVE PROCESS</a:t>
            </a:r>
          </a:p>
          <a:p>
            <a:r>
              <a:rPr lang="en-GB" altLang="en-US" sz="800" dirty="0"/>
              <a:t>1. Define Product or Process Design Objectives/Needs</a:t>
            </a:r>
          </a:p>
          <a:p>
            <a:r>
              <a:rPr lang="en-GB" altLang="en-US" sz="800" b="1" dirty="0"/>
              <a:t>The team seeks to understand the core customer needs that need to be met. If a product or product prototype is available, the project team breaks it down into component parts and raw materials to assess the function that each plays.</a:t>
            </a:r>
          </a:p>
          <a:p>
            <a:r>
              <a:rPr lang="en-GB" altLang="en-US" sz="800" dirty="0"/>
              <a:t>2. Study Alternatives</a:t>
            </a:r>
          </a:p>
          <a:p>
            <a:r>
              <a:rPr lang="en-GB" altLang="en-US" sz="800" b="1" dirty="0"/>
              <a:t>Diagramming: A fishbone diagram or other type of illustration is created to demonstrate the flow from raw material to finished product. The project team then </a:t>
            </a:r>
            <a:r>
              <a:rPr lang="en-GB" altLang="en-US" sz="800" b="1" dirty="0" err="1"/>
              <a:t>analyzes</a:t>
            </a:r>
            <a:r>
              <a:rPr lang="en-GB" altLang="en-US" sz="800" b="1" dirty="0"/>
              <a:t> each branch of the diagram (or each illustration) and brainstorms key words (e.g., roll, rotate, form, bend) to describe the change (or “transformation”) made at each branch.</a:t>
            </a:r>
          </a:p>
          <a:p>
            <a:r>
              <a:rPr lang="en-GB" altLang="en-US" sz="800" b="1" dirty="0"/>
              <a:t>Find and </a:t>
            </a:r>
            <a:r>
              <a:rPr lang="en-GB" altLang="en-US" sz="800" b="1" dirty="0" err="1"/>
              <a:t>Analyze</a:t>
            </a:r>
            <a:r>
              <a:rPr lang="en-GB" altLang="en-US" sz="800" b="1" dirty="0"/>
              <a:t> Examples in Nature: The project team then tries to find examples of each process keyword in the natural world. For example, forming can be found in nature when a heavy animal such as an elephant walks on mud, or when water pressure shapes rocks in a river. Similar examples are grouped and examples that best exemplify the process key word researched to better understand how the examples occur in nature. Here, team members place heavy emphasis on how nature works in the example and why. Once the unique qualities of the natural process are dissected, team members then discuss how the natural process can be applied to the given manufacturing process step.</a:t>
            </a:r>
          </a:p>
          <a:p>
            <a:r>
              <a:rPr lang="en-GB" altLang="en-US" sz="800" b="1" dirty="0"/>
              <a:t>An alternative comparison method is to ask how other industries solve similar problems. e.g. how food processing companies eliminate contamination to reduce mix to mix contamination in other processing industries or how Automotive companies solve similar problems found in the Aerospace industry and visa versa.</a:t>
            </a:r>
          </a:p>
          <a:p>
            <a:r>
              <a:rPr lang="en-GB" altLang="en-US" sz="800" dirty="0"/>
              <a:t>3. Sketch and Evaluate the Process</a:t>
            </a:r>
          </a:p>
          <a:p>
            <a:r>
              <a:rPr lang="en-GB" altLang="en-US" sz="800" b="1" dirty="0"/>
              <a:t>Sub-teams are formed and each sub-team member is required to draw different ways to accomplish the process in question. Each of the sketches is evaluated and the best is chosen (along with any good features from the sketches that are not chosen) for a mock-up.</a:t>
            </a:r>
          </a:p>
          <a:p>
            <a:r>
              <a:rPr lang="en-GB" altLang="en-US" sz="800" dirty="0"/>
              <a:t>4. Build, Present, and Select Process Prototypes</a:t>
            </a:r>
          </a:p>
          <a:p>
            <a:r>
              <a:rPr lang="en-GB" altLang="en-US" sz="800" b="1" dirty="0"/>
              <a:t>The team prototypes and then evaluates the chosen process, spending several days (if necessary) working with different variations of the mock-up to ensure it will meet criteria.</a:t>
            </a:r>
          </a:p>
          <a:p>
            <a:r>
              <a:rPr lang="en-GB" altLang="en-US" sz="800" b="1" dirty="0"/>
              <a:t>Hold Design Review: Once a concept has been selected for additional refinement, it is presented to a larger group (including the original product designers) for feedback.</a:t>
            </a:r>
          </a:p>
          <a:p>
            <a:r>
              <a:rPr lang="en-GB" altLang="en-US" sz="800" dirty="0"/>
              <a:t>5. Develop Project Implementation Plan</a:t>
            </a:r>
          </a:p>
          <a:p>
            <a:r>
              <a:rPr lang="en-GB" altLang="en-US" sz="800" b="1" dirty="0"/>
              <a:t>If the project is selected to proceed, the team selects a project implementation leader who helps determine the schedule, process, resource requirements, and distribution of responsibilities for completion.</a:t>
            </a:r>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19113329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3875819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29819967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2073971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a:p>
            <a:endParaRPr lang="en-US" altLang="en-US" dirty="0"/>
          </a:p>
          <a:p>
            <a:r>
              <a:rPr lang="en-US" altLang="en-US" b="1" dirty="0"/>
              <a:t>NOTE:</a:t>
            </a:r>
            <a:r>
              <a:rPr lang="en-US" altLang="en-US" dirty="0"/>
              <a:t> Defining Needs and Objectives is covered in detail in the 3P Kick-off event. This slide is a review of that information or if this is a stand alone event this information can be collected now.</a:t>
            </a: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2080019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rPr>
              <a:t>DO:</a:t>
            </a:r>
            <a:r>
              <a:rPr lang="en-US" altLang="en-US" dirty="0">
                <a:latin typeface="Arial" panose="020B0604020202020204" pitchFamily="34" charset="0"/>
              </a:rPr>
              <a:t> Explain the three types of waste that originate from the Japanese. </a:t>
            </a:r>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9914675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NOTE:</a:t>
            </a:r>
            <a:r>
              <a:rPr lang="en-GB" altLang="en-US" dirty="0"/>
              <a:t> A simple exercise to illustrate this slide is to use a use a pen to mark a small 1” circle on a board or flipchart.</a:t>
            </a:r>
          </a:p>
          <a:p>
            <a:r>
              <a:rPr lang="en-GB" altLang="en-US" b="1" dirty="0"/>
              <a:t>SAY</a:t>
            </a:r>
            <a:r>
              <a:rPr lang="en-GB" altLang="en-US" dirty="0"/>
              <a:t>: “Let’s pretend that a customer orders a circle.”</a:t>
            </a:r>
          </a:p>
          <a:p>
            <a:r>
              <a:rPr lang="en-GB" altLang="en-US" dirty="0"/>
              <a:t>Start by fetching the pen from a few paces away.</a:t>
            </a:r>
          </a:p>
          <a:p>
            <a:r>
              <a:rPr lang="en-GB" altLang="en-US" dirty="0"/>
              <a:t>Pull the cap off and draw a circle. </a:t>
            </a:r>
          </a:p>
          <a:p>
            <a:r>
              <a:rPr lang="en-GB" altLang="en-US" b="1" dirty="0"/>
              <a:t>ASK:</a:t>
            </a:r>
            <a:r>
              <a:rPr lang="en-GB" altLang="en-US" dirty="0"/>
              <a:t> ”What is Value Added?” Ans.=Drawing the circle (emphasis that that is what the customer ordered and is willing to pay for)</a:t>
            </a:r>
          </a:p>
          <a:p>
            <a:r>
              <a:rPr lang="en-GB" altLang="en-US" b="1" dirty="0"/>
              <a:t>ASK:</a:t>
            </a:r>
            <a:r>
              <a:rPr lang="en-GB" altLang="en-US" dirty="0"/>
              <a:t> “What is Obvious waste?” Ans.=Walking to fetch the pen.</a:t>
            </a:r>
          </a:p>
          <a:p>
            <a:r>
              <a:rPr lang="en-GB" altLang="en-US" b="1" dirty="0"/>
              <a:t>ASK:</a:t>
            </a:r>
            <a:r>
              <a:rPr lang="en-GB" altLang="en-US" dirty="0"/>
              <a:t> “What is Enabling waste?” Ans.=Taking the cap off (necessary because pen would dry out if not replaced)</a:t>
            </a: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5532771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rPr>
              <a:t>Mnemonics: DOWNTIME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DO:</a:t>
            </a:r>
            <a:r>
              <a:rPr lang="en-US" altLang="en-US" dirty="0"/>
              <a:t> Ask the class to provide examples of the 8 wastes. Capture their answers on a chart paper. The participants can write the answers in their workbooks. </a:t>
            </a:r>
          </a:p>
          <a:p>
            <a:endParaRPr lang="en-US" altLang="en-US" dirty="0">
              <a:latin typeface="Arial" panose="020B0604020202020204" pitchFamily="34" charset="0"/>
            </a:endParaRPr>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41762123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29593246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2356448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36599440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30534720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Notice the time on the clock, that</a:t>
            </a:r>
            <a:r>
              <a:rPr lang="ja-JP" altLang="en-US" dirty="0"/>
              <a:t>’</a:t>
            </a:r>
            <a:r>
              <a:rPr lang="en-US" altLang="ja-JP" dirty="0"/>
              <a:t>s 6:35pm – just getting started.</a:t>
            </a:r>
            <a:r>
              <a:rPr lang="ja-JP" altLang="en-US" dirty="0"/>
              <a:t>”</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41823892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7323763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6762087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14409251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25305560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16509587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38256598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35913884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en-US" altLang="en-US" dirty="0"/>
              <a:t> </a:t>
            </a:r>
            <a:r>
              <a:rPr lang="ja-JP" altLang="en-US" dirty="0"/>
              <a:t>“</a:t>
            </a:r>
            <a:r>
              <a:rPr lang="en-US" altLang="ja-JP" dirty="0"/>
              <a:t>A Value Stream Map is the </a:t>
            </a:r>
            <a:r>
              <a:rPr lang="ja-JP" altLang="en-US" dirty="0"/>
              <a:t>“</a:t>
            </a:r>
            <a:r>
              <a:rPr lang="en-US" altLang="ja-JP" dirty="0"/>
              <a:t>30,000-foot</a:t>
            </a:r>
            <a:r>
              <a:rPr lang="ja-JP" altLang="en-US" dirty="0"/>
              <a:t>”</a:t>
            </a:r>
            <a:r>
              <a:rPr lang="en-US" altLang="ja-JP" dirty="0"/>
              <a:t> view of the process. A Process Map is a tool that would take just one process box from a Value Stream Map, and explode that process into it</a:t>
            </a:r>
            <a:r>
              <a:rPr lang="ja-JP" altLang="en-US" dirty="0"/>
              <a:t>’</a:t>
            </a:r>
            <a:r>
              <a:rPr lang="en-US" altLang="ja-JP" dirty="0"/>
              <a:t>s detailed steps.</a:t>
            </a:r>
            <a:r>
              <a:rPr lang="ja-JP" altLang="en-US" dirty="0"/>
              <a:t>”</a:t>
            </a:r>
            <a:r>
              <a:rPr lang="en-US" altLang="ja-JP" dirty="0"/>
              <a:t> </a:t>
            </a:r>
            <a:endParaRPr lang="en-US" altLang="en-US" dirty="0"/>
          </a:p>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40475128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35582266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sz="800" b="1" dirty="0"/>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56414681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4579968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sz="800" b="1" dirty="0"/>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29669718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14711307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6078714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29819967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t>DO: </a:t>
            </a:r>
            <a:r>
              <a:rPr lang="en-US" altLang="en-US" sz="800" dirty="0"/>
              <a:t>Either print out copies of the three Dot Puzzles in Join-the-Dots.ppt or use blank paper and get the participants to make their own Dot matrices and solve the puzzles.</a:t>
            </a:r>
          </a:p>
          <a:p>
            <a:endParaRPr lang="en-US" altLang="en-US" sz="800" dirty="0"/>
          </a:p>
          <a:p>
            <a:r>
              <a:rPr lang="en-US" altLang="en-US" sz="800" dirty="0"/>
              <a:t>Show the first slide of Join-the-Dots.ppt and then give the participants 2 minutes to try to join the dots with the required number of consecutive lines. For the first one this is 4 lines.</a:t>
            </a:r>
          </a:p>
          <a:p>
            <a:endParaRPr lang="en-US" altLang="en-US" sz="800" dirty="0"/>
          </a:p>
          <a:p>
            <a:r>
              <a:rPr lang="en-US" altLang="en-US" sz="800" dirty="0"/>
              <a:t>Then reveal the answer. Reinforce the idea of thinking outside the </a:t>
            </a:r>
            <a:r>
              <a:rPr lang="ja-JP" altLang="en-US" sz="800" dirty="0"/>
              <a:t>‘</a:t>
            </a:r>
            <a:r>
              <a:rPr lang="en-US" altLang="ja-JP" sz="800" dirty="0"/>
              <a:t>self limiting</a:t>
            </a:r>
            <a:r>
              <a:rPr lang="ja-JP" altLang="en-US" sz="800" dirty="0"/>
              <a:t>’</a:t>
            </a:r>
            <a:r>
              <a:rPr lang="en-US" altLang="ja-JP" sz="800" dirty="0"/>
              <a:t> box in order to get a solution.</a:t>
            </a:r>
          </a:p>
          <a:p>
            <a:endParaRPr lang="en-US" altLang="en-US" sz="800" dirty="0"/>
          </a:p>
          <a:p>
            <a:r>
              <a:rPr lang="en-US" altLang="en-US" sz="800" dirty="0"/>
              <a:t>Then show them the 12 Dot puzzle and ask them to complete it with 5 lines.</a:t>
            </a:r>
          </a:p>
          <a:p>
            <a:endParaRPr lang="en-US" altLang="en-US" sz="800" dirty="0"/>
          </a:p>
          <a:p>
            <a:r>
              <a:rPr lang="en-US" altLang="en-US" sz="800" dirty="0"/>
              <a:t>Reveal the answer and then repeat for the 16 dot puzzle.</a:t>
            </a:r>
          </a:p>
          <a:p>
            <a:endParaRPr lang="en-US" altLang="en-US" sz="800" dirty="0"/>
          </a:p>
          <a:p>
            <a:r>
              <a:rPr lang="en-US" altLang="en-US" sz="800" dirty="0"/>
              <a:t>Finally show the alternative solution to the 9 dot matrix at the end.</a:t>
            </a: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42499504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17971591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10679601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31310462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Features include: convex interior, ridge for stacking, base, cup walls</a:t>
            </a:r>
          </a:p>
          <a:p>
            <a:endParaRPr lang="en-US" altLang="en-US" dirty="0"/>
          </a:p>
          <a:p>
            <a:r>
              <a:rPr lang="en-US" altLang="en-US" dirty="0"/>
              <a:t>Functions include: hold liquid, stack cup, insulate liquid, lift base, </a:t>
            </a:r>
            <a:r>
              <a:rPr lang="en-US" altLang="en-US" dirty="0" err="1"/>
              <a:t>etc</a:t>
            </a:r>
            <a:endParaRPr lang="en-US" altLang="en-US"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44419109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1267168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DO:</a:t>
            </a:r>
            <a:r>
              <a:rPr lang="en-GB" altLang="en-US" dirty="0"/>
              <a:t> Pass out TRIZ Handout. </a:t>
            </a:r>
          </a:p>
          <a:p>
            <a:r>
              <a:rPr lang="en-GB" altLang="en-US" b="1" dirty="0"/>
              <a:t>SAY:</a:t>
            </a:r>
            <a:r>
              <a:rPr lang="en-GB" altLang="en-US" dirty="0"/>
              <a:t> “TRIZ is a Russian acronym for “The theory of Inventive Problem Solving”</a:t>
            </a:r>
          </a:p>
          <a:p>
            <a:r>
              <a:rPr lang="en-GB" altLang="en-US" dirty="0"/>
              <a:t>Developed by G </a:t>
            </a:r>
            <a:r>
              <a:rPr lang="en-GB" altLang="en-US" dirty="0" err="1"/>
              <a:t>Altshuller</a:t>
            </a:r>
            <a:r>
              <a:rPr lang="en-GB" altLang="en-US" dirty="0"/>
              <a:t> et al from studying over 400,000 patents and how inventors solved problems.</a:t>
            </a:r>
          </a:p>
          <a:p>
            <a:r>
              <a:rPr lang="en-GB" altLang="en-US" dirty="0"/>
              <a:t>Read handout on </a:t>
            </a:r>
            <a:r>
              <a:rPr lang="en-GB" altLang="en-US" dirty="0" err="1"/>
              <a:t>Triz</a:t>
            </a:r>
            <a:r>
              <a:rPr lang="en-GB" altLang="en-US" dirty="0"/>
              <a:t> 40 Inventive Principles.dot with examples and explanations.</a:t>
            </a:r>
          </a:p>
          <a:p>
            <a:r>
              <a:rPr lang="en-GB" altLang="en-US" dirty="0"/>
              <a:t>Use the Contradiction Matrix.xls to help select which principles to use.</a:t>
            </a:r>
          </a:p>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40280126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11950684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sz="800" b="1" dirty="0"/>
              <a:t>SAY:</a:t>
            </a:r>
            <a:r>
              <a:rPr lang="en-GB" altLang="en-US" sz="800" dirty="0"/>
              <a:t> “Why 7? The answer I was given is “because 6 is too few and 8 is too many” from my Japanese Sensei!”</a:t>
            </a:r>
          </a:p>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319046794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314388989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15378869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1. Production preparation should be lightning fast. Avoid over planning, use what you have, act now.</a:t>
            </a:r>
            <a:br>
              <a:rPr lang="en-US" altLang="en-US" sz="1200" dirty="0"/>
            </a:br>
            <a:r>
              <a:rPr lang="en-US" altLang="en-US" sz="1200" dirty="0"/>
              <a:t>2. Build &amp; layout equipment for smooth material flow. Flow like a river, not like a dam.</a:t>
            </a:r>
            <a:br>
              <a:rPr lang="en-US" altLang="en-US" sz="1200" dirty="0"/>
            </a:br>
            <a:r>
              <a:rPr lang="en-US" altLang="en-US" sz="1200" dirty="0"/>
              <a:t>3. Use additive equipment. Buy many speedboats instead of one tanker.</a:t>
            </a:r>
            <a:br>
              <a:rPr lang="en-US" altLang="en-US" sz="1200" dirty="0"/>
            </a:br>
            <a:r>
              <a:rPr lang="en-US" altLang="en-US" sz="1200" dirty="0"/>
              <a:t>4. Build products and equipment that is easy to set up. Design in the separation of internal and external tasks.</a:t>
            </a:r>
            <a:br>
              <a:rPr lang="en-US" altLang="en-US" sz="1200" dirty="0"/>
            </a:br>
            <a:r>
              <a:rPr lang="en-US" altLang="en-US" sz="1200" dirty="0"/>
              <a:t>5. Make equipment easy to move. No roots, no vines, no pits. Put wheels on everything.</a:t>
            </a:r>
            <a:br>
              <a:rPr lang="en-US" altLang="en-US" sz="1200" dirty="0"/>
            </a:br>
            <a:r>
              <a:rPr lang="en-US" altLang="en-US" sz="1200" dirty="0"/>
              <a:t>6. Use multi-purpose equipment. Simple, "just fast enough" machines that perform one function well.</a:t>
            </a:r>
            <a:br>
              <a:rPr lang="en-US" altLang="en-US" sz="1200" dirty="0"/>
            </a:br>
            <a:r>
              <a:rPr lang="en-US" altLang="en-US" sz="1200" dirty="0"/>
              <a:t>7. Make operator work stations narrow. Town houses, not ranch houses.</a:t>
            </a:r>
            <a:br>
              <a:rPr lang="en-US" altLang="en-US" sz="1200" dirty="0"/>
            </a:br>
            <a:r>
              <a:rPr lang="en-US" altLang="en-US" sz="1200" dirty="0"/>
              <a:t>8. Layout equipment for ease of operator movement. Remove obstruction to smooth human motion.</a:t>
            </a:r>
            <a:br>
              <a:rPr lang="en-US" altLang="en-US" sz="1200" dirty="0"/>
            </a:br>
            <a:r>
              <a:rPr lang="en-US" altLang="en-US" sz="1200" dirty="0"/>
              <a:t>9. Eliminate wasted machine cycle time. Design out 'air cutting' and minimize machine movements.</a:t>
            </a:r>
            <a:br>
              <a:rPr lang="en-US" altLang="en-US" sz="1200" dirty="0"/>
            </a:br>
            <a:r>
              <a:rPr lang="en-US" altLang="en-US" sz="1200" dirty="0"/>
              <a:t>10. Build equipment for small, swift flow lines. Enable Standard Work (Takt, Work Sequence, SWIP).</a:t>
            </a:r>
            <a:br>
              <a:rPr lang="en-US" altLang="en-US" sz="1200" dirty="0"/>
            </a:br>
            <a:r>
              <a:rPr lang="en-US" altLang="en-US" sz="1200" dirty="0"/>
              <a:t>11. Use short, vertical flow lines. Vertical = advancing process flow, horizontal = functional.</a:t>
            </a:r>
            <a:br>
              <a:rPr lang="en-US" altLang="en-US" sz="1200" dirty="0"/>
            </a:br>
            <a:r>
              <a:rPr lang="en-US" altLang="en-US" sz="1200" dirty="0"/>
              <a:t>12. Build equipment for one-piece pull. Machine level. This is probably the most critical one.</a:t>
            </a:r>
            <a:br>
              <a:rPr lang="en-US" altLang="en-US" sz="1200" dirty="0"/>
            </a:br>
            <a:r>
              <a:rPr lang="en-US" altLang="en-US" sz="1200" dirty="0"/>
              <a:t>13. Build in quick changeover. Design in SMED at the machine level.</a:t>
            </a:r>
            <a:br>
              <a:rPr lang="en-US" altLang="en-US" sz="1200" dirty="0"/>
            </a:br>
            <a:r>
              <a:rPr lang="en-US" altLang="en-US" sz="1200" dirty="0"/>
              <a:t>14. Link machines for smooth loading and unloading. Line stops when WIP on the line is "full work".</a:t>
            </a:r>
            <a:br>
              <a:rPr lang="en-US" altLang="en-US" sz="1200" dirty="0"/>
            </a:br>
            <a:r>
              <a:rPr lang="en-US" altLang="en-US" sz="1200" dirty="0"/>
              <a:t>15. Use multiple lines &amp; rectified flows. 'Rectified' is an odd term, electrical engineers will get it.</a:t>
            </a:r>
            <a:br>
              <a:rPr lang="en-US" altLang="en-US" sz="1200" dirty="0"/>
            </a:br>
            <a:r>
              <a:rPr lang="en-US" altLang="en-US" sz="1200" dirty="0"/>
              <a:t>16. Spiral upwards to </a:t>
            </a:r>
            <a:r>
              <a:rPr lang="en-US" altLang="en-US" sz="1200" dirty="0" err="1"/>
              <a:t>Jidoka</a:t>
            </a:r>
            <a:r>
              <a:rPr lang="en-US" altLang="en-US" sz="1200" dirty="0"/>
              <a:t>. There are 5 steps to </a:t>
            </a:r>
            <a:r>
              <a:rPr lang="en-US" altLang="en-US" sz="1200" dirty="0" err="1"/>
              <a:t>Jidoka</a:t>
            </a:r>
            <a:r>
              <a:rPr lang="en-US" altLang="en-US" sz="1200" dirty="0"/>
              <a:t>, which should be pursued a step at a time.</a:t>
            </a:r>
          </a:p>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322379891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13451422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134805986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65</a:t>
            </a:fld>
            <a:endParaRPr lang="en-US"/>
          </a:p>
        </p:txBody>
      </p:sp>
    </p:spTree>
    <p:extLst>
      <p:ext uri="{BB962C8B-B14F-4D97-AF65-F5344CB8AC3E}">
        <p14:creationId xmlns:p14="http://schemas.microsoft.com/office/powerpoint/2010/main" val="38476447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NOTE:</a:t>
            </a:r>
            <a:r>
              <a:rPr lang="en-US" altLang="en-US" dirty="0"/>
              <a:t> This principle refers to building lines and equipment that can produce multiple products with minimal setting-up.</a:t>
            </a:r>
          </a:p>
          <a:p>
            <a:r>
              <a:rPr lang="en-US" altLang="en-US" dirty="0"/>
              <a:t>Also products can be designed to minimize set-up time, such as standard hole sizes, to fit same jig etc.</a:t>
            </a:r>
          </a:p>
          <a:p>
            <a:r>
              <a:rPr lang="en-US" altLang="en-US" dirty="0"/>
              <a:t>Use the principles of SMED to remove as much set-up work as possible to be external to the machine cycle. Any set-up work inside the cycle time is internal time.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66</a:t>
            </a:fld>
            <a:endParaRPr lang="en-US"/>
          </a:p>
        </p:txBody>
      </p:sp>
    </p:spTree>
    <p:extLst>
      <p:ext uri="{BB962C8B-B14F-4D97-AF65-F5344CB8AC3E}">
        <p14:creationId xmlns:p14="http://schemas.microsoft.com/office/powerpoint/2010/main" val="409446857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Don</a:t>
            </a:r>
            <a:r>
              <a:rPr lang="ja-JP" altLang="en-US" dirty="0"/>
              <a:t>’</a:t>
            </a:r>
            <a:r>
              <a:rPr lang="en-US" altLang="ja-JP" dirty="0"/>
              <a:t>t fasten things down, make it easy to move things.</a:t>
            </a:r>
          </a:p>
          <a:p>
            <a:r>
              <a:rPr lang="en-US" altLang="en-US" dirty="0"/>
              <a:t>Don</a:t>
            </a:r>
            <a:r>
              <a:rPr lang="ja-JP" altLang="en-US" dirty="0"/>
              <a:t>’</a:t>
            </a:r>
            <a:r>
              <a:rPr lang="en-US" altLang="ja-JP" dirty="0"/>
              <a:t>t have fixed service locations and lots of wires and pipes. Use flexible pick-ups, short wire runs and make it </a:t>
            </a:r>
            <a:r>
              <a:rPr lang="ja-JP" altLang="en-US" dirty="0"/>
              <a:t>‘</a:t>
            </a:r>
            <a:r>
              <a:rPr lang="en-US" altLang="ja-JP" dirty="0"/>
              <a:t>plug and play</a:t>
            </a:r>
            <a:r>
              <a:rPr lang="ja-JP" altLang="en-US" dirty="0"/>
              <a:t>’</a:t>
            </a:r>
            <a:r>
              <a:rPr lang="en-US" altLang="ja-JP" dirty="0"/>
              <a:t>.</a:t>
            </a:r>
          </a:p>
          <a:p>
            <a:r>
              <a:rPr lang="en-US" altLang="en-US" dirty="0"/>
              <a:t>Don</a:t>
            </a:r>
            <a:r>
              <a:rPr lang="ja-JP" altLang="en-US" dirty="0"/>
              <a:t>’</a:t>
            </a:r>
            <a:r>
              <a:rPr lang="en-US" altLang="ja-JP" dirty="0"/>
              <a:t>t put machines in pits, buy machines that stand flat and can be moved.</a:t>
            </a:r>
            <a:r>
              <a:rPr lang="ja-JP" altLang="en-US" dirty="0"/>
              <a:t>”</a:t>
            </a:r>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67</a:t>
            </a:fld>
            <a:endParaRPr lang="en-US"/>
          </a:p>
        </p:txBody>
      </p:sp>
    </p:spTree>
    <p:extLst>
      <p:ext uri="{BB962C8B-B14F-4D97-AF65-F5344CB8AC3E}">
        <p14:creationId xmlns:p14="http://schemas.microsoft.com/office/powerpoint/2010/main" val="389473940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68</a:t>
            </a:fld>
            <a:endParaRPr lang="en-US"/>
          </a:p>
        </p:txBody>
      </p:sp>
    </p:spTree>
    <p:extLst>
      <p:ext uri="{BB962C8B-B14F-4D97-AF65-F5344CB8AC3E}">
        <p14:creationId xmlns:p14="http://schemas.microsoft.com/office/powerpoint/2010/main" val="28556313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en-US" altLang="en-US" dirty="0"/>
              <a:t> </a:t>
            </a:r>
            <a:r>
              <a:rPr lang="ja-JP" altLang="en-US" dirty="0"/>
              <a:t>“</a:t>
            </a:r>
            <a:r>
              <a:rPr lang="en-US" altLang="ja-JP" dirty="0"/>
              <a:t>Principle of verticality means select machines that have a small footprint but may be tall.</a:t>
            </a:r>
            <a:r>
              <a:rPr lang="ja-JP" altLang="en-US" dirty="0"/>
              <a:t>”</a:t>
            </a:r>
            <a:endParaRPr lang="en-US" altLang="en-US" dirty="0"/>
          </a:p>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69</a:t>
            </a:fld>
            <a:endParaRPr lang="en-US"/>
          </a:p>
        </p:txBody>
      </p:sp>
    </p:spTree>
    <p:extLst>
      <p:ext uri="{BB962C8B-B14F-4D97-AF65-F5344CB8AC3E}">
        <p14:creationId xmlns:p14="http://schemas.microsoft.com/office/powerpoint/2010/main" val="387082232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70</a:t>
            </a:fld>
            <a:endParaRPr lang="en-US"/>
          </a:p>
        </p:txBody>
      </p:sp>
    </p:spTree>
    <p:extLst>
      <p:ext uri="{BB962C8B-B14F-4D97-AF65-F5344CB8AC3E}">
        <p14:creationId xmlns:p14="http://schemas.microsoft.com/office/powerpoint/2010/main" val="20781782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71</a:t>
            </a:fld>
            <a:endParaRPr lang="en-US"/>
          </a:p>
        </p:txBody>
      </p:sp>
    </p:spTree>
    <p:extLst>
      <p:ext uri="{BB962C8B-B14F-4D97-AF65-F5344CB8AC3E}">
        <p14:creationId xmlns:p14="http://schemas.microsoft.com/office/powerpoint/2010/main" val="62551133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en-US" altLang="en-US" dirty="0"/>
              <a:t> </a:t>
            </a:r>
            <a:r>
              <a:rPr lang="ja-JP" altLang="en-US" dirty="0"/>
              <a:t>“</a:t>
            </a:r>
            <a:r>
              <a:rPr lang="en-US" altLang="ja-JP" dirty="0"/>
              <a:t>These two lines perform the same functions. The right hand line can be moved, rearranged, flexibly manned and reused for other product lines if required.</a:t>
            </a:r>
            <a:r>
              <a:rPr lang="ja-JP" altLang="en-US" dirty="0"/>
              <a:t>”</a:t>
            </a:r>
            <a:endParaRPr lang="en-US" altLang="en-US" dirty="0"/>
          </a:p>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72</a:t>
            </a:fld>
            <a:endParaRPr lang="en-US"/>
          </a:p>
        </p:txBody>
      </p:sp>
    </p:spTree>
    <p:extLst>
      <p:ext uri="{BB962C8B-B14F-4D97-AF65-F5344CB8AC3E}">
        <p14:creationId xmlns:p14="http://schemas.microsoft.com/office/powerpoint/2010/main" val="73722508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73</a:t>
            </a:fld>
            <a:endParaRPr lang="en-US"/>
          </a:p>
        </p:txBody>
      </p:sp>
    </p:spTree>
    <p:extLst>
      <p:ext uri="{BB962C8B-B14F-4D97-AF65-F5344CB8AC3E}">
        <p14:creationId xmlns:p14="http://schemas.microsoft.com/office/powerpoint/2010/main" val="268822442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SAY:</a:t>
            </a:r>
            <a:r>
              <a:rPr lang="en-US" altLang="en-US" dirty="0"/>
              <a:t> </a:t>
            </a:r>
            <a:r>
              <a:rPr lang="ja-JP" altLang="en-US" dirty="0"/>
              <a:t>“</a:t>
            </a:r>
            <a:r>
              <a:rPr lang="en-US" altLang="ja-JP" dirty="0"/>
              <a:t>The concept of push vs. pull is clear from the slide. Getting machines to do this is the trick. Machines must only produce when required and what is required, specified to be balanced for Takt time and flexible.</a:t>
            </a:r>
            <a:r>
              <a:rPr lang="ja-JP" altLang="en-US" dirty="0"/>
              <a:t>”</a:t>
            </a:r>
            <a:endParaRPr lang="en-US" altLang="en-US" dirty="0"/>
          </a:p>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74</a:t>
            </a:fld>
            <a:endParaRPr lang="en-US"/>
          </a:p>
        </p:txBody>
      </p:sp>
    </p:spTree>
    <p:extLst>
      <p:ext uri="{BB962C8B-B14F-4D97-AF65-F5344CB8AC3E}">
        <p14:creationId xmlns:p14="http://schemas.microsoft.com/office/powerpoint/2010/main" val="402441266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SAY:</a:t>
            </a:r>
            <a:r>
              <a:rPr lang="en-US" altLang="en-US" dirty="0"/>
              <a:t> </a:t>
            </a:r>
            <a:r>
              <a:rPr lang="ja-JP" altLang="en-US" dirty="0"/>
              <a:t>“</a:t>
            </a:r>
            <a:r>
              <a:rPr lang="en-US" altLang="ja-JP" dirty="0"/>
              <a:t>This principle refers to making products and equipment that can be changed over quickly. Design products that are interchangeable, standard sizes so the machines do not need to be reset for each different component.</a:t>
            </a:r>
          </a:p>
          <a:p>
            <a:r>
              <a:rPr lang="en-US" altLang="en-US" dirty="0"/>
              <a:t>Use the principles of SMED to remove as much work as possible to be external to the machine cycle. Any work inside the cycle time is internal time.</a:t>
            </a:r>
            <a:r>
              <a:rPr lang="ja-JP" altLang="en-US" dirty="0"/>
              <a:t>”</a:t>
            </a:r>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75</a:t>
            </a:fld>
            <a:endParaRPr lang="en-US"/>
          </a:p>
        </p:txBody>
      </p:sp>
    </p:spTree>
    <p:extLst>
      <p:ext uri="{BB962C8B-B14F-4D97-AF65-F5344CB8AC3E}">
        <p14:creationId xmlns:p14="http://schemas.microsoft.com/office/powerpoint/2010/main" val="11116943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b="1" dirty="0"/>
              <a:t>SAY</a:t>
            </a:r>
            <a:r>
              <a:rPr lang="en-GB" altLang="en-US" dirty="0"/>
              <a:t>: “This is the concept called “</a:t>
            </a:r>
            <a:r>
              <a:rPr lang="en-GB" altLang="en-US" dirty="0" err="1"/>
              <a:t>Chaku</a:t>
            </a:r>
            <a:r>
              <a:rPr lang="en-GB" altLang="en-US" dirty="0"/>
              <a:t> </a:t>
            </a:r>
            <a:r>
              <a:rPr lang="en-GB" altLang="en-US" dirty="0" err="1"/>
              <a:t>Chaku</a:t>
            </a:r>
            <a:r>
              <a:rPr lang="en-GB" altLang="en-US" dirty="0"/>
              <a:t>” in Japanese, meaning “load </a:t>
            </a:r>
            <a:r>
              <a:rPr lang="en-GB" altLang="en-US" dirty="0" err="1"/>
              <a:t>load</a:t>
            </a:r>
            <a:r>
              <a:rPr lang="en-GB" altLang="en-US" dirty="0"/>
              <a:t>”. It is an efficient style of production in which all the machines needed to make a part are situated in the correct sequence very close together. Standard WIP, cycle times and operator work can be balanced.</a:t>
            </a:r>
            <a:br>
              <a:rPr lang="en-GB" altLang="en-US" dirty="0"/>
            </a:br>
            <a:br>
              <a:rPr lang="en-GB" altLang="en-US" dirty="0"/>
            </a:br>
            <a:r>
              <a:rPr lang="en-GB" altLang="en-US" dirty="0"/>
              <a:t>The operator simply loads a part and moves on to the next operation. Each machine performs a different stage of production, such as turning, drilling, cleaning, testing or sandblasting.”</a:t>
            </a:r>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76</a:t>
            </a:fld>
            <a:endParaRPr lang="en-US"/>
          </a:p>
        </p:txBody>
      </p:sp>
    </p:spTree>
    <p:extLst>
      <p:ext uri="{BB962C8B-B14F-4D97-AF65-F5344CB8AC3E}">
        <p14:creationId xmlns:p14="http://schemas.microsoft.com/office/powerpoint/2010/main" val="221428263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77</a:t>
            </a:fld>
            <a:endParaRPr lang="en-US"/>
          </a:p>
        </p:txBody>
      </p:sp>
    </p:spTree>
    <p:extLst>
      <p:ext uri="{BB962C8B-B14F-4D97-AF65-F5344CB8AC3E}">
        <p14:creationId xmlns:p14="http://schemas.microsoft.com/office/powerpoint/2010/main" val="41685971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t>DO:</a:t>
            </a:r>
            <a:r>
              <a:rPr lang="en-US" altLang="en-US" dirty="0"/>
              <a:t> See article/blog on The 5 Steps to Building </a:t>
            </a:r>
            <a:r>
              <a:rPr lang="en-US" altLang="en-US" dirty="0" err="1"/>
              <a:t>Jidoka</a:t>
            </a:r>
            <a:r>
              <a:rPr lang="en-US" altLang="en-US" dirty="0"/>
              <a:t> Equipment by Jon Miller.</a:t>
            </a:r>
          </a:p>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78</a:t>
            </a:fld>
            <a:endParaRPr lang="en-US"/>
          </a:p>
        </p:txBody>
      </p:sp>
    </p:spTree>
    <p:extLst>
      <p:ext uri="{BB962C8B-B14F-4D97-AF65-F5344CB8AC3E}">
        <p14:creationId xmlns:p14="http://schemas.microsoft.com/office/powerpoint/2010/main" val="375307601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79</a:t>
            </a:fld>
            <a:endParaRPr lang="en-US"/>
          </a:p>
        </p:txBody>
      </p:sp>
    </p:spTree>
    <p:extLst>
      <p:ext uri="{BB962C8B-B14F-4D97-AF65-F5344CB8AC3E}">
        <p14:creationId xmlns:p14="http://schemas.microsoft.com/office/powerpoint/2010/main" val="41476630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80</a:t>
            </a:fld>
            <a:endParaRPr lang="en-US"/>
          </a:p>
        </p:txBody>
      </p:sp>
    </p:spTree>
    <p:extLst>
      <p:ext uri="{BB962C8B-B14F-4D97-AF65-F5344CB8AC3E}">
        <p14:creationId xmlns:p14="http://schemas.microsoft.com/office/powerpoint/2010/main" val="10649868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a:p>
            <a:r>
              <a:rPr lang="en-US" altLang="en-US" b="1" dirty="0"/>
              <a:t>DO:</a:t>
            </a:r>
            <a:r>
              <a:rPr lang="en-US" altLang="en-US" dirty="0"/>
              <a:t> Use the material captured in the Kick-off event if available.</a:t>
            </a:r>
          </a:p>
        </p:txBody>
      </p:sp>
      <p:sp>
        <p:nvSpPr>
          <p:cNvPr id="4" name="Slide Number Placeholder 3"/>
          <p:cNvSpPr>
            <a:spLocks noGrp="1"/>
          </p:cNvSpPr>
          <p:nvPr>
            <p:ph type="sldNum" sz="quarter" idx="5"/>
          </p:nvPr>
        </p:nvSpPr>
        <p:spPr/>
        <p:txBody>
          <a:bodyPr/>
          <a:lstStyle/>
          <a:p>
            <a:fld id="{AECD8548-F1A2-4EDF-A416-5F2BB6B8F64C}" type="slidenum">
              <a:rPr lang="en-US" smtClean="0"/>
              <a:t>81</a:t>
            </a:fld>
            <a:endParaRPr lang="en-US"/>
          </a:p>
        </p:txBody>
      </p:sp>
    </p:spTree>
    <p:extLst>
      <p:ext uri="{BB962C8B-B14F-4D97-AF65-F5344CB8AC3E}">
        <p14:creationId xmlns:p14="http://schemas.microsoft.com/office/powerpoint/2010/main" val="283235436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en-US" b="1" dirty="0"/>
              <a:t>PPAP = Production Part Approval Process</a:t>
            </a:r>
            <a:endParaRPr lang="en-US" altLang="en-US" b="1" dirty="0"/>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82</a:t>
            </a:fld>
            <a:endParaRPr lang="en-US"/>
          </a:p>
        </p:txBody>
      </p:sp>
    </p:spTree>
    <p:extLst>
      <p:ext uri="{BB962C8B-B14F-4D97-AF65-F5344CB8AC3E}">
        <p14:creationId xmlns:p14="http://schemas.microsoft.com/office/powerpoint/2010/main" val="46486801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83</a:t>
            </a:fld>
            <a:endParaRPr lang="en-US"/>
          </a:p>
        </p:txBody>
      </p:sp>
    </p:spTree>
    <p:extLst>
      <p:ext uri="{BB962C8B-B14F-4D97-AF65-F5344CB8AC3E}">
        <p14:creationId xmlns:p14="http://schemas.microsoft.com/office/powerpoint/2010/main" val="301862136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Toyota use checklists as a form of standard operation and as a training aid. This example is a composite extract from Toyota.</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84</a:t>
            </a:fld>
            <a:endParaRPr lang="en-US"/>
          </a:p>
        </p:txBody>
      </p:sp>
    </p:spTree>
    <p:extLst>
      <p:ext uri="{BB962C8B-B14F-4D97-AF65-F5344CB8AC3E}">
        <p14:creationId xmlns:p14="http://schemas.microsoft.com/office/powerpoint/2010/main" val="139905997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85</a:t>
            </a:fld>
            <a:endParaRPr lang="en-US"/>
          </a:p>
        </p:txBody>
      </p:sp>
    </p:spTree>
    <p:extLst>
      <p:ext uri="{BB962C8B-B14F-4D97-AF65-F5344CB8AC3E}">
        <p14:creationId xmlns:p14="http://schemas.microsoft.com/office/powerpoint/2010/main" val="85807368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86</a:t>
            </a:fld>
            <a:endParaRPr lang="en-US"/>
          </a:p>
        </p:txBody>
      </p:sp>
    </p:spTree>
    <p:extLst>
      <p:ext uri="{BB962C8B-B14F-4D97-AF65-F5344CB8AC3E}">
        <p14:creationId xmlns:p14="http://schemas.microsoft.com/office/powerpoint/2010/main" val="256969906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87</a:t>
            </a:fld>
            <a:endParaRPr lang="en-US"/>
          </a:p>
        </p:txBody>
      </p:sp>
    </p:spTree>
    <p:extLst>
      <p:ext uri="{BB962C8B-B14F-4D97-AF65-F5344CB8AC3E}">
        <p14:creationId xmlns:p14="http://schemas.microsoft.com/office/powerpoint/2010/main" val="132617173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88</a:t>
            </a:fld>
            <a:endParaRPr lang="en-US"/>
          </a:p>
        </p:txBody>
      </p:sp>
    </p:spTree>
    <p:extLst>
      <p:ext uri="{BB962C8B-B14F-4D97-AF65-F5344CB8AC3E}">
        <p14:creationId xmlns:p14="http://schemas.microsoft.com/office/powerpoint/2010/main" val="61475748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89</a:t>
            </a:fld>
            <a:endParaRPr lang="en-US"/>
          </a:p>
        </p:txBody>
      </p:sp>
    </p:spTree>
    <p:extLst>
      <p:ext uri="{BB962C8B-B14F-4D97-AF65-F5344CB8AC3E}">
        <p14:creationId xmlns:p14="http://schemas.microsoft.com/office/powerpoint/2010/main" val="304690036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90</a:t>
            </a:fld>
            <a:endParaRPr lang="en-US"/>
          </a:p>
        </p:txBody>
      </p:sp>
    </p:spTree>
    <p:extLst>
      <p:ext uri="{BB962C8B-B14F-4D97-AF65-F5344CB8AC3E}">
        <p14:creationId xmlns:p14="http://schemas.microsoft.com/office/powerpoint/2010/main" val="377909478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91</a:t>
            </a:fld>
            <a:endParaRPr lang="en-US"/>
          </a:p>
        </p:txBody>
      </p:sp>
    </p:spTree>
    <p:extLst>
      <p:ext uri="{BB962C8B-B14F-4D97-AF65-F5344CB8AC3E}">
        <p14:creationId xmlns:p14="http://schemas.microsoft.com/office/powerpoint/2010/main" val="240863630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92</a:t>
            </a:fld>
            <a:endParaRPr lang="en-US"/>
          </a:p>
        </p:txBody>
      </p:sp>
    </p:spTree>
    <p:extLst>
      <p:ext uri="{BB962C8B-B14F-4D97-AF65-F5344CB8AC3E}">
        <p14:creationId xmlns:p14="http://schemas.microsoft.com/office/powerpoint/2010/main" val="319658146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93</a:t>
            </a:fld>
            <a:endParaRPr lang="en-US"/>
          </a:p>
        </p:txBody>
      </p:sp>
    </p:spTree>
    <p:extLst>
      <p:ext uri="{BB962C8B-B14F-4D97-AF65-F5344CB8AC3E}">
        <p14:creationId xmlns:p14="http://schemas.microsoft.com/office/powerpoint/2010/main" val="220045986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94</a:t>
            </a:fld>
            <a:endParaRPr lang="en-US"/>
          </a:p>
        </p:txBody>
      </p:sp>
    </p:spTree>
    <p:extLst>
      <p:ext uri="{BB962C8B-B14F-4D97-AF65-F5344CB8AC3E}">
        <p14:creationId xmlns:p14="http://schemas.microsoft.com/office/powerpoint/2010/main" val="42326934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95</a:t>
            </a:fld>
            <a:endParaRPr lang="en-US"/>
          </a:p>
        </p:txBody>
      </p:sp>
    </p:spTree>
    <p:extLst>
      <p:ext uri="{BB962C8B-B14F-4D97-AF65-F5344CB8AC3E}">
        <p14:creationId xmlns:p14="http://schemas.microsoft.com/office/powerpoint/2010/main" val="171259677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96</a:t>
            </a:fld>
            <a:endParaRPr lang="en-US"/>
          </a:p>
        </p:txBody>
      </p:sp>
    </p:spTree>
    <p:extLst>
      <p:ext uri="{BB962C8B-B14F-4D97-AF65-F5344CB8AC3E}">
        <p14:creationId xmlns:p14="http://schemas.microsoft.com/office/powerpoint/2010/main" val="229225665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97</a:t>
            </a:fld>
            <a:endParaRPr lang="en-US"/>
          </a:p>
        </p:txBody>
      </p:sp>
    </p:spTree>
    <p:extLst>
      <p:ext uri="{BB962C8B-B14F-4D97-AF65-F5344CB8AC3E}">
        <p14:creationId xmlns:p14="http://schemas.microsoft.com/office/powerpoint/2010/main" val="363271090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98</a:t>
            </a:fld>
            <a:endParaRPr lang="en-US"/>
          </a:p>
        </p:txBody>
      </p:sp>
    </p:spTree>
    <p:extLst>
      <p:ext uri="{BB962C8B-B14F-4D97-AF65-F5344CB8AC3E}">
        <p14:creationId xmlns:p14="http://schemas.microsoft.com/office/powerpoint/2010/main" val="407788359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99</a:t>
            </a:fld>
            <a:endParaRPr lang="en-US"/>
          </a:p>
        </p:txBody>
      </p:sp>
    </p:spTree>
    <p:extLst>
      <p:ext uri="{BB962C8B-B14F-4D97-AF65-F5344CB8AC3E}">
        <p14:creationId xmlns:p14="http://schemas.microsoft.com/office/powerpoint/2010/main" val="4218792420"/>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p>
        </p:txBody>
      </p:sp>
      <p:sp>
        <p:nvSpPr>
          <p:cNvPr id="4" name="Slide Number Placeholder 3"/>
          <p:cNvSpPr>
            <a:spLocks noGrp="1"/>
          </p:cNvSpPr>
          <p:nvPr>
            <p:ph type="sldNum" sz="quarter" idx="5"/>
          </p:nvPr>
        </p:nvSpPr>
        <p:spPr/>
        <p:txBody>
          <a:bodyPr/>
          <a:lstStyle/>
          <a:p>
            <a:fld id="{AECD8548-F1A2-4EDF-A416-5F2BB6B8F64C}" type="slidenum">
              <a:rPr lang="en-US" smtClean="0"/>
              <a:t>100</a:t>
            </a:fld>
            <a:endParaRPr lang="en-US"/>
          </a:p>
        </p:txBody>
      </p:sp>
    </p:spTree>
    <p:extLst>
      <p:ext uri="{BB962C8B-B14F-4D97-AF65-F5344CB8AC3E}">
        <p14:creationId xmlns:p14="http://schemas.microsoft.com/office/powerpoint/2010/main" val="30725190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101</a:t>
            </a:fld>
            <a:endParaRPr lang="en-US"/>
          </a:p>
        </p:txBody>
      </p:sp>
    </p:spTree>
    <p:extLst>
      <p:ext uri="{BB962C8B-B14F-4D97-AF65-F5344CB8AC3E}">
        <p14:creationId xmlns:p14="http://schemas.microsoft.com/office/powerpoint/2010/main" val="415687102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t>DO:</a:t>
            </a:r>
            <a:r>
              <a:rPr lang="en-US" altLang="en-US" dirty="0"/>
              <a:t> Review chapter objectives. </a:t>
            </a:r>
          </a:p>
        </p:txBody>
      </p:sp>
      <p:sp>
        <p:nvSpPr>
          <p:cNvPr id="4" name="Slide Number Placeholder 3"/>
          <p:cNvSpPr>
            <a:spLocks noGrp="1"/>
          </p:cNvSpPr>
          <p:nvPr>
            <p:ph type="sldNum" sz="quarter" idx="5"/>
          </p:nvPr>
        </p:nvSpPr>
        <p:spPr/>
        <p:txBody>
          <a:bodyPr/>
          <a:lstStyle/>
          <a:p>
            <a:fld id="{AECD8548-F1A2-4EDF-A416-5F2BB6B8F64C}" type="slidenum">
              <a:rPr lang="en-US" smtClean="0"/>
              <a:t>102</a:t>
            </a:fld>
            <a:endParaRPr lang="en-US"/>
          </a:p>
        </p:txBody>
      </p:sp>
    </p:spTree>
    <p:extLst>
      <p:ext uri="{BB962C8B-B14F-4D97-AF65-F5344CB8AC3E}">
        <p14:creationId xmlns:p14="http://schemas.microsoft.com/office/powerpoint/2010/main" val="3510672410"/>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103</a:t>
            </a:fld>
            <a:endParaRPr lang="en-US"/>
          </a:p>
        </p:txBody>
      </p:sp>
    </p:spTree>
    <p:extLst>
      <p:ext uri="{BB962C8B-B14F-4D97-AF65-F5344CB8AC3E}">
        <p14:creationId xmlns:p14="http://schemas.microsoft.com/office/powerpoint/2010/main" val="218237785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104</a:t>
            </a:fld>
            <a:endParaRPr lang="en-US"/>
          </a:p>
        </p:txBody>
      </p:sp>
    </p:spTree>
    <p:extLst>
      <p:ext uri="{BB962C8B-B14F-4D97-AF65-F5344CB8AC3E}">
        <p14:creationId xmlns:p14="http://schemas.microsoft.com/office/powerpoint/2010/main" val="4280091378"/>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105</a:t>
            </a:fld>
            <a:endParaRPr lang="en-US"/>
          </a:p>
        </p:txBody>
      </p:sp>
    </p:spTree>
    <p:extLst>
      <p:ext uri="{BB962C8B-B14F-4D97-AF65-F5344CB8AC3E}">
        <p14:creationId xmlns:p14="http://schemas.microsoft.com/office/powerpoint/2010/main" val="36276958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106</a:t>
            </a:fld>
            <a:endParaRPr lang="en-US"/>
          </a:p>
        </p:txBody>
      </p:sp>
    </p:spTree>
    <p:extLst>
      <p:ext uri="{BB962C8B-B14F-4D97-AF65-F5344CB8AC3E}">
        <p14:creationId xmlns:p14="http://schemas.microsoft.com/office/powerpoint/2010/main" val="3941914267"/>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107</a:t>
            </a:fld>
            <a:endParaRPr lang="en-US"/>
          </a:p>
        </p:txBody>
      </p:sp>
    </p:spTree>
    <p:extLst>
      <p:ext uri="{BB962C8B-B14F-4D97-AF65-F5344CB8AC3E}">
        <p14:creationId xmlns:p14="http://schemas.microsoft.com/office/powerpoint/2010/main" val="425264058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108</a:t>
            </a:fld>
            <a:endParaRPr lang="en-US"/>
          </a:p>
        </p:txBody>
      </p:sp>
    </p:spTree>
    <p:extLst>
      <p:ext uri="{BB962C8B-B14F-4D97-AF65-F5344CB8AC3E}">
        <p14:creationId xmlns:p14="http://schemas.microsoft.com/office/powerpoint/2010/main" val="21580748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3P PRESENTATION_WORKSHOP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22.emf"/><Relationship Id="rId4" Type="http://schemas.openxmlformats.org/officeDocument/2006/relationships/image" Target="../media/image16.wmf"/><Relationship Id="rId9" Type="http://schemas.openxmlformats.org/officeDocument/2006/relationships/image" Target="../media/image21.wmf"/></Relationships>
</file>

<file path=ppt/slides/_rels/slide25.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6.wmf"/><Relationship Id="rId7"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wmf"/><Relationship Id="rId9" Type="http://schemas.openxmlformats.org/officeDocument/2006/relationships/image" Target="../media/image22.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3.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22.emf"/><Relationship Id="rId4" Type="http://schemas.openxmlformats.org/officeDocument/2006/relationships/image" Target="../media/image16.wmf"/><Relationship Id="rId9" Type="http://schemas.openxmlformats.org/officeDocument/2006/relationships/image" Target="../media/image21.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5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8" Type="http://schemas.openxmlformats.org/officeDocument/2006/relationships/image" Target="../media/image47.jpeg"/><Relationship Id="rId13" Type="http://schemas.openxmlformats.org/officeDocument/2006/relationships/image" Target="../media/image52.jpeg"/><Relationship Id="rId3" Type="http://schemas.openxmlformats.org/officeDocument/2006/relationships/image" Target="../media/image42.jpeg"/><Relationship Id="rId7" Type="http://schemas.openxmlformats.org/officeDocument/2006/relationships/image" Target="../media/image46.jpeg"/><Relationship Id="rId12" Type="http://schemas.openxmlformats.org/officeDocument/2006/relationships/image" Target="../media/image51.jpeg"/><Relationship Id="rId2" Type="http://schemas.openxmlformats.org/officeDocument/2006/relationships/notesSlide" Target="../notesSlides/notesSlide56.xml"/><Relationship Id="rId1" Type="http://schemas.openxmlformats.org/officeDocument/2006/relationships/slideLayout" Target="../slideLayouts/slideLayout5.xml"/><Relationship Id="rId6" Type="http://schemas.openxmlformats.org/officeDocument/2006/relationships/image" Target="../media/image45.jpeg"/><Relationship Id="rId11" Type="http://schemas.openxmlformats.org/officeDocument/2006/relationships/image" Target="../media/image50.jpeg"/><Relationship Id="rId5" Type="http://schemas.openxmlformats.org/officeDocument/2006/relationships/image" Target="../media/image44.pn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 Id="rId14" Type="http://schemas.openxmlformats.org/officeDocument/2006/relationships/image" Target="../media/image53.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8" Type="http://schemas.openxmlformats.org/officeDocument/2006/relationships/image" Target="../media/image62.jpeg"/><Relationship Id="rId3" Type="http://schemas.openxmlformats.org/officeDocument/2006/relationships/image" Target="../media/image57.jpeg"/><Relationship Id="rId7" Type="http://schemas.openxmlformats.org/officeDocument/2006/relationships/image" Target="../media/image61.jpeg"/><Relationship Id="rId2" Type="http://schemas.openxmlformats.org/officeDocument/2006/relationships/notesSlide" Target="../notesSlides/notesSlide65.xml"/><Relationship Id="rId1" Type="http://schemas.openxmlformats.org/officeDocument/2006/relationships/slideLayout" Target="../slideLayouts/slideLayout5.xml"/><Relationship Id="rId6" Type="http://schemas.openxmlformats.org/officeDocument/2006/relationships/image" Target="../media/image60.jpeg"/><Relationship Id="rId5" Type="http://schemas.openxmlformats.org/officeDocument/2006/relationships/image" Target="../media/image59.jpeg"/><Relationship Id="rId4" Type="http://schemas.openxmlformats.org/officeDocument/2006/relationships/image" Target="../media/image58.jpe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7.xml"/><Relationship Id="rId1" Type="http://schemas.openxmlformats.org/officeDocument/2006/relationships/slideLayout" Target="../slideLayouts/slideLayout7.xml"/><Relationship Id="rId4" Type="http://schemas.openxmlformats.org/officeDocument/2006/relationships/image" Target="../media/image64.jpeg"/></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8.xml"/><Relationship Id="rId1" Type="http://schemas.openxmlformats.org/officeDocument/2006/relationships/slideLayout" Target="../slideLayouts/slideLayout7.xml"/><Relationship Id="rId4" Type="http://schemas.openxmlformats.org/officeDocument/2006/relationships/image" Target="../media/image66.jpeg"/></Relationships>
</file>

<file path=ppt/slides/_rels/slide69.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9.xml"/><Relationship Id="rId1" Type="http://schemas.openxmlformats.org/officeDocument/2006/relationships/slideLayout" Target="../slideLayouts/slideLayout7.xml"/><Relationship Id="rId5" Type="http://schemas.openxmlformats.org/officeDocument/2006/relationships/image" Target="../media/image69.jpeg"/><Relationship Id="rId4" Type="http://schemas.openxmlformats.org/officeDocument/2006/relationships/image" Target="../media/image68.jpeg"/></Relationships>
</file>

<file path=ppt/slides/_rels/slide7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0.xml"/><Relationship Id="rId1" Type="http://schemas.openxmlformats.org/officeDocument/2006/relationships/slideLayout" Target="../slideLayouts/slideLayout7.xml"/><Relationship Id="rId4" Type="http://schemas.openxmlformats.org/officeDocument/2006/relationships/image" Target="../media/image71.png"/></Relationships>
</file>

<file path=ppt/slides/_rels/slide7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1.xml"/><Relationship Id="rId1" Type="http://schemas.openxmlformats.org/officeDocument/2006/relationships/slideLayout" Target="../slideLayouts/slideLayout7.xml"/><Relationship Id="rId4" Type="http://schemas.openxmlformats.org/officeDocument/2006/relationships/image" Target="../media/image73.jpeg"/></Relationships>
</file>

<file path=ppt/slides/_rels/slide72.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jpeg"/><Relationship Id="rId7" Type="http://schemas.openxmlformats.org/officeDocument/2006/relationships/image" Target="../media/image78.png"/><Relationship Id="rId2" Type="http://schemas.openxmlformats.org/officeDocument/2006/relationships/notesSlide" Target="../notesSlides/notesSlide72.xml"/><Relationship Id="rId1" Type="http://schemas.openxmlformats.org/officeDocument/2006/relationships/slideLayout" Target="../slideLayouts/slideLayout7.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4.xml"/><Relationship Id="rId1" Type="http://schemas.openxmlformats.org/officeDocument/2006/relationships/slideLayout" Target="../slideLayouts/slideLayout7.xml"/><Relationship Id="rId6" Type="http://schemas.openxmlformats.org/officeDocument/2006/relationships/image" Target="../media/image83.jpeg"/><Relationship Id="rId5" Type="http://schemas.openxmlformats.org/officeDocument/2006/relationships/image" Target="../media/image82.jpeg"/><Relationship Id="rId4" Type="http://schemas.openxmlformats.org/officeDocument/2006/relationships/image" Target="../media/image81.jpeg"/></Relationships>
</file>

<file path=ppt/slides/_rels/slide75.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notesSlide" Target="../notesSlides/notesSlide75.xml"/><Relationship Id="rId1" Type="http://schemas.openxmlformats.org/officeDocument/2006/relationships/slideLayout" Target="../slideLayouts/slideLayout7.xml"/><Relationship Id="rId6" Type="http://schemas.openxmlformats.org/officeDocument/2006/relationships/image" Target="../media/image87.jpeg"/><Relationship Id="rId5" Type="http://schemas.openxmlformats.org/officeDocument/2006/relationships/image" Target="../media/image86.emf"/><Relationship Id="rId4" Type="http://schemas.openxmlformats.org/officeDocument/2006/relationships/image" Target="../media/image85.emf"/></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notesSlide" Target="../notesSlides/notesSlide83.xml"/><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84.xml"/><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85.xml"/><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9.xml"/><Relationship Id="rId1" Type="http://schemas.openxmlformats.org/officeDocument/2006/relationships/slideLayout" Target="../slideLayouts/slideLayout5.xml"/><Relationship Id="rId4" Type="http://schemas.openxmlformats.org/officeDocument/2006/relationships/image" Target="../media/image94.png"/></Relationships>
</file>

<file path=ppt/slides/_rels/slide90.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notesSlide" Target="../notesSlides/notesSlide90.xml"/><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92.xml"/><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notesSlide" Target="../notesSlides/notesSlide101.xml"/><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6.wmf"/><Relationship Id="rId7" Type="http://schemas.openxmlformats.org/officeDocument/2006/relationships/image" Target="../media/image26.png"/><Relationship Id="rId2" Type="http://schemas.openxmlformats.org/officeDocument/2006/relationships/notesSlide" Target="../notesSlides/notesSlide103.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wmf"/><Relationship Id="rId9" Type="http://schemas.openxmlformats.org/officeDocument/2006/relationships/image" Target="../media/image22.emf"/></Relationships>
</file>

<file path=ppt/slides/_rels/slide104.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5.xml"/><Relationship Id="rId1" Type="http://schemas.openxmlformats.org/officeDocument/2006/relationships/slideLayout" Target="../slideLayouts/slideLayout7.xml"/><Relationship Id="rId4" Type="http://schemas.openxmlformats.org/officeDocument/2006/relationships/image" Target="../media/image101.jpeg"/></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8.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3"/>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Production Preparation Process (3P) Workshop</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dirty="0"/>
              <a:t>Safety first (use personal protective equipment)</a:t>
            </a:r>
          </a:p>
          <a:p>
            <a:r>
              <a:rPr lang="en-US" dirty="0"/>
              <a:t>Active participation by all</a:t>
            </a:r>
          </a:p>
          <a:p>
            <a:r>
              <a:rPr lang="en-US" dirty="0"/>
              <a:t>Start and end on time</a:t>
            </a:r>
          </a:p>
          <a:p>
            <a:r>
              <a:rPr lang="en-US" dirty="0"/>
              <a:t>All electronic gadgets (phones, pagers, </a:t>
            </a:r>
            <a:r>
              <a:rPr lang="en-US" dirty="0" err="1"/>
              <a:t>etc</a:t>
            </a:r>
            <a:r>
              <a:rPr lang="en-US" dirty="0"/>
              <a:t>) turned to “off” or “silent”</a:t>
            </a:r>
          </a:p>
          <a:p>
            <a:r>
              <a:rPr lang="en-US" dirty="0"/>
              <a:t>Computers to be used only when instructed</a:t>
            </a:r>
          </a:p>
          <a:p>
            <a:r>
              <a:rPr lang="en-US" dirty="0"/>
              <a:t>Keep an open mind to change</a:t>
            </a:r>
          </a:p>
          <a:p>
            <a:r>
              <a:rPr lang="en-US" dirty="0"/>
              <a:t>Don’t let “perfect” get in the way of “better”</a:t>
            </a: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3P Exercise: Part 1</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a 3P exercise.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Form teams of 3-7 participants. Each team will be given 10 sheets of paper.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member of the team is to draw at least three alternative designs of a paper airplane that will fly for at least 2 seconds from a height of 5’ (1.5m) and that also looks aesthetically pleasing. The key criteria is that the plane can be made quickly and consistently.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is to select the best three designs and construct a prototype of each, test the prototypes against the above criteria and then agree on the final model.</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Consensus final design paper airplane </a:t>
            </a:r>
          </a:p>
        </p:txBody>
      </p:sp>
    </p:spTree>
    <p:extLst>
      <p:ext uri="{BB962C8B-B14F-4D97-AF65-F5344CB8AC3E}">
        <p14:creationId xmlns:p14="http://schemas.microsoft.com/office/powerpoint/2010/main" val="1283754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3P Exercise: Part 2</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59210"/>
            <a:ext cx="9722342" cy="410369"/>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Simulate production of the consensus design from the previous exercise.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same teams, you will be given 15 minutes to plan production and forecast how many paper airplanes your team can build in a 2 minute period and how much profit you can make.</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Costs =  $1 for each sheet of paper, $10 for each team member and $5 for each reject airplane.</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Income = $5 per completed plane (approved by customer) </a:t>
            </a:r>
          </a:p>
          <a:p>
            <a:pPr marL="0" marR="0" indent="0" algn="l" defTabSz="5842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At the end of the production run count your finished airplanes and calculate your profit. Planes must be of the same quality as the prototype and fly for 2 seconds.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30-45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96337"/>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All results compared and winning team announced.</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 lessons learned </a:t>
            </a:r>
          </a:p>
        </p:txBody>
      </p:sp>
    </p:spTree>
    <p:extLst>
      <p:ext uri="{BB962C8B-B14F-4D97-AF65-F5344CB8AC3E}">
        <p14:creationId xmlns:p14="http://schemas.microsoft.com/office/powerpoint/2010/main" val="3371403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3P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Develop and implement a new product/process with the highest quality, lowest cost, in the shortest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a:t>
            </a:fld>
            <a:endParaRPr lang="en-US"/>
          </a:p>
        </p:txBody>
      </p:sp>
      <p:grpSp>
        <p:nvGrpSpPr>
          <p:cNvPr id="22" name="Group 21">
            <a:extLst>
              <a:ext uri="{FF2B5EF4-FFF2-40B4-BE49-F238E27FC236}">
                <a16:creationId xmlns:a16="http://schemas.microsoft.com/office/drawing/2014/main" id="{11549B9D-F8BB-2D08-3639-36E889E02287}"/>
              </a:ext>
            </a:extLst>
          </p:cNvPr>
          <p:cNvGrpSpPr/>
          <p:nvPr/>
        </p:nvGrpSpPr>
        <p:grpSpPr>
          <a:xfrm>
            <a:off x="838200" y="2971800"/>
            <a:ext cx="10025697" cy="3078163"/>
            <a:chOff x="512763" y="3686175"/>
            <a:chExt cx="8226425" cy="2420938"/>
          </a:xfrm>
        </p:grpSpPr>
        <p:grpSp>
          <p:nvGrpSpPr>
            <p:cNvPr id="4" name="Group 2">
              <a:extLst>
                <a:ext uri="{FF2B5EF4-FFF2-40B4-BE49-F238E27FC236}">
                  <a16:creationId xmlns:a16="http://schemas.microsoft.com/office/drawing/2014/main" id="{4BEF384A-E088-2DEE-3B90-DF867E07564A}"/>
                </a:ext>
              </a:extLst>
            </p:cNvPr>
            <p:cNvGrpSpPr>
              <a:grpSpLocks/>
            </p:cNvGrpSpPr>
            <p:nvPr/>
          </p:nvGrpSpPr>
          <p:grpSpPr bwMode="auto">
            <a:xfrm>
              <a:off x="2205038" y="3686175"/>
              <a:ext cx="6534150" cy="2420938"/>
              <a:chOff x="1389" y="1410"/>
              <a:chExt cx="4116" cy="1795"/>
            </a:xfrm>
          </p:grpSpPr>
          <p:sp>
            <p:nvSpPr>
              <p:cNvPr id="6" name="Rectangle 3">
                <a:extLst>
                  <a:ext uri="{FF2B5EF4-FFF2-40B4-BE49-F238E27FC236}">
                    <a16:creationId xmlns:a16="http://schemas.microsoft.com/office/drawing/2014/main" id="{58278250-D1C2-4AD2-73E4-BD0BDE27D76D}"/>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7" name="Text Box 4">
                <a:extLst>
                  <a:ext uri="{FF2B5EF4-FFF2-40B4-BE49-F238E27FC236}">
                    <a16:creationId xmlns:a16="http://schemas.microsoft.com/office/drawing/2014/main" id="{0ECDFB25-17E4-02F1-E953-8E6F06F1955D}"/>
                  </a:ext>
                </a:extLst>
              </p:cNvPr>
              <p:cNvSpPr txBox="1">
                <a:spLocks noChangeArrowheads="1"/>
              </p:cNvSpPr>
              <p:nvPr/>
            </p:nvSpPr>
            <p:spPr bwMode="auto">
              <a:xfrm>
                <a:off x="3411" y="1507"/>
                <a:ext cx="95" cy="197"/>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8" name="Oval 6">
              <a:extLst>
                <a:ext uri="{FF2B5EF4-FFF2-40B4-BE49-F238E27FC236}">
                  <a16:creationId xmlns:a16="http://schemas.microsoft.com/office/drawing/2014/main" id="{389C5F93-87A1-AE98-E52B-F212CF3DA6A6}"/>
                </a:ext>
              </a:extLst>
            </p:cNvPr>
            <p:cNvSpPr>
              <a:spLocks noChangeArrowheads="1"/>
            </p:cNvSpPr>
            <p:nvPr/>
          </p:nvSpPr>
          <p:spPr bwMode="auto">
            <a:xfrm>
              <a:off x="7662863" y="4776788"/>
              <a:ext cx="976312" cy="1052512"/>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9" name="Rectangle 7">
              <a:extLst>
                <a:ext uri="{FF2B5EF4-FFF2-40B4-BE49-F238E27FC236}">
                  <a16:creationId xmlns:a16="http://schemas.microsoft.com/office/drawing/2014/main" id="{6C890E11-199B-64FE-9AEE-6C51B132703E}"/>
                </a:ext>
              </a:extLst>
            </p:cNvPr>
            <p:cNvSpPr>
              <a:spLocks noChangeArrowheads="1"/>
            </p:cNvSpPr>
            <p:nvPr/>
          </p:nvSpPr>
          <p:spPr bwMode="auto">
            <a:xfrm>
              <a:off x="512763" y="4768850"/>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Awareness/ Commitment</a:t>
              </a:r>
            </a:p>
          </p:txBody>
        </p:sp>
        <p:sp>
          <p:nvSpPr>
            <p:cNvPr id="10" name="Rectangle 8">
              <a:extLst>
                <a:ext uri="{FF2B5EF4-FFF2-40B4-BE49-F238E27FC236}">
                  <a16:creationId xmlns:a16="http://schemas.microsoft.com/office/drawing/2014/main" id="{BA7D8F61-45EA-4064-6487-9C7CEFDF3B4B}"/>
                </a:ext>
              </a:extLst>
            </p:cNvPr>
            <p:cNvSpPr>
              <a:spLocks noChangeArrowheads="1"/>
            </p:cNvSpPr>
            <p:nvPr/>
          </p:nvSpPr>
          <p:spPr bwMode="auto">
            <a:xfrm>
              <a:off x="512763" y="4506913"/>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11" name="Rectangle 9">
              <a:extLst>
                <a:ext uri="{FF2B5EF4-FFF2-40B4-BE49-F238E27FC236}">
                  <a16:creationId xmlns:a16="http://schemas.microsoft.com/office/drawing/2014/main" id="{3FB119E0-CBC7-50B4-233B-01F984937F20}"/>
                </a:ext>
              </a:extLst>
            </p:cNvPr>
            <p:cNvSpPr>
              <a:spLocks noChangeArrowheads="1"/>
            </p:cNvSpPr>
            <p:nvPr/>
          </p:nvSpPr>
          <p:spPr bwMode="auto">
            <a:xfrm>
              <a:off x="2308225"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3P Kick-Off</a:t>
              </a:r>
            </a:p>
          </p:txBody>
        </p:sp>
        <p:sp>
          <p:nvSpPr>
            <p:cNvPr id="12" name="Rectangle 10">
              <a:extLst>
                <a:ext uri="{FF2B5EF4-FFF2-40B4-BE49-F238E27FC236}">
                  <a16:creationId xmlns:a16="http://schemas.microsoft.com/office/drawing/2014/main" id="{135BCACF-942A-6A5B-7EEC-A2CE6F36829E}"/>
                </a:ext>
              </a:extLst>
            </p:cNvPr>
            <p:cNvSpPr>
              <a:spLocks noChangeArrowheads="1"/>
            </p:cNvSpPr>
            <p:nvPr/>
          </p:nvSpPr>
          <p:spPr bwMode="auto">
            <a:xfrm>
              <a:off x="2308225" y="4502150"/>
              <a:ext cx="1522413"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PROCESS STEP 2</a:t>
              </a:r>
            </a:p>
          </p:txBody>
        </p:sp>
        <p:sp>
          <p:nvSpPr>
            <p:cNvPr id="13" name="Rectangle 11">
              <a:extLst>
                <a:ext uri="{FF2B5EF4-FFF2-40B4-BE49-F238E27FC236}">
                  <a16:creationId xmlns:a16="http://schemas.microsoft.com/office/drawing/2014/main" id="{A82BCA3A-A963-4D06-D3F6-E77B832E2505}"/>
                </a:ext>
              </a:extLst>
            </p:cNvPr>
            <p:cNvSpPr>
              <a:spLocks noChangeArrowheads="1"/>
            </p:cNvSpPr>
            <p:nvPr/>
          </p:nvSpPr>
          <p:spPr bwMode="auto">
            <a:xfrm>
              <a:off x="4122738"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14" name="Rectangle 12">
              <a:extLst>
                <a:ext uri="{FF2B5EF4-FFF2-40B4-BE49-F238E27FC236}">
                  <a16:creationId xmlns:a16="http://schemas.microsoft.com/office/drawing/2014/main" id="{ED48C121-8611-4764-0538-B0F03A2E1B28}"/>
                </a:ext>
              </a:extLst>
            </p:cNvPr>
            <p:cNvSpPr>
              <a:spLocks noChangeArrowheads="1"/>
            </p:cNvSpPr>
            <p:nvPr/>
          </p:nvSpPr>
          <p:spPr bwMode="auto">
            <a:xfrm>
              <a:off x="4122738" y="45021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15" name="Rectangle 13">
              <a:extLst>
                <a:ext uri="{FF2B5EF4-FFF2-40B4-BE49-F238E27FC236}">
                  <a16:creationId xmlns:a16="http://schemas.microsoft.com/office/drawing/2014/main" id="{A22CDF2D-0FA2-F7C2-8C87-E538B0549F96}"/>
                </a:ext>
              </a:extLst>
            </p:cNvPr>
            <p:cNvSpPr>
              <a:spLocks noChangeArrowheads="1"/>
            </p:cNvSpPr>
            <p:nvPr/>
          </p:nvSpPr>
          <p:spPr bwMode="auto">
            <a:xfrm>
              <a:off x="5937250" y="4764088"/>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16" name="Rectangle 14">
              <a:extLst>
                <a:ext uri="{FF2B5EF4-FFF2-40B4-BE49-F238E27FC236}">
                  <a16:creationId xmlns:a16="http://schemas.microsoft.com/office/drawing/2014/main" id="{CD9C2BF3-64A4-B23E-6D8D-5BC62D5A73C4}"/>
                </a:ext>
              </a:extLst>
            </p:cNvPr>
            <p:cNvSpPr>
              <a:spLocks noChangeArrowheads="1"/>
            </p:cNvSpPr>
            <p:nvPr/>
          </p:nvSpPr>
          <p:spPr bwMode="auto">
            <a:xfrm>
              <a:off x="5937250" y="4502150"/>
              <a:ext cx="1522413"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17" name="AutoShape 15">
              <a:extLst>
                <a:ext uri="{FF2B5EF4-FFF2-40B4-BE49-F238E27FC236}">
                  <a16:creationId xmlns:a16="http://schemas.microsoft.com/office/drawing/2014/main" id="{04DB14A5-FDE1-FCC9-EE35-D3C69E1133F5}"/>
                </a:ext>
              </a:extLst>
            </p:cNvPr>
            <p:cNvCxnSpPr>
              <a:cxnSpLocks noChangeShapeType="1"/>
              <a:stCxn id="9" idx="3"/>
              <a:endCxn id="11" idx="1"/>
            </p:cNvCxnSpPr>
            <p:nvPr/>
          </p:nvCxnSpPr>
          <p:spPr bwMode="auto">
            <a:xfrm flipV="1">
              <a:off x="2033588" y="5303838"/>
              <a:ext cx="274637" cy="4762"/>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6">
              <a:extLst>
                <a:ext uri="{FF2B5EF4-FFF2-40B4-BE49-F238E27FC236}">
                  <a16:creationId xmlns:a16="http://schemas.microsoft.com/office/drawing/2014/main" id="{600E84AE-0EE5-4F24-EE1C-B84D32047C5F}"/>
                </a:ext>
              </a:extLst>
            </p:cNvPr>
            <p:cNvCxnSpPr>
              <a:cxnSpLocks noChangeShapeType="1"/>
              <a:stCxn id="11" idx="3"/>
              <a:endCxn id="13" idx="1"/>
            </p:cNvCxnSpPr>
            <p:nvPr/>
          </p:nvCxnSpPr>
          <p:spPr bwMode="auto">
            <a:xfrm>
              <a:off x="3829050" y="5303838"/>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7">
              <a:extLst>
                <a:ext uri="{FF2B5EF4-FFF2-40B4-BE49-F238E27FC236}">
                  <a16:creationId xmlns:a16="http://schemas.microsoft.com/office/drawing/2014/main" id="{6C5EB311-4960-E8C5-C74C-4ADDBA426485}"/>
                </a:ext>
              </a:extLst>
            </p:cNvPr>
            <p:cNvCxnSpPr>
              <a:cxnSpLocks noChangeShapeType="1"/>
              <a:stCxn id="13" idx="3"/>
              <a:endCxn id="15" idx="1"/>
            </p:cNvCxnSpPr>
            <p:nvPr/>
          </p:nvCxnSpPr>
          <p:spPr bwMode="auto">
            <a:xfrm>
              <a:off x="5643563" y="5303838"/>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8">
              <a:extLst>
                <a:ext uri="{FF2B5EF4-FFF2-40B4-BE49-F238E27FC236}">
                  <a16:creationId xmlns:a16="http://schemas.microsoft.com/office/drawing/2014/main" id="{05F235D3-6ED1-EB56-BB91-83E839116E49}"/>
                </a:ext>
              </a:extLst>
            </p:cNvPr>
            <p:cNvCxnSpPr>
              <a:cxnSpLocks noChangeShapeType="1"/>
              <a:stCxn id="15" idx="3"/>
              <a:endCxn id="8" idx="2"/>
            </p:cNvCxnSpPr>
            <p:nvPr/>
          </p:nvCxnSpPr>
          <p:spPr bwMode="auto">
            <a:xfrm>
              <a:off x="7458075" y="5303838"/>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1" name="AutoShape 19">
              <a:extLst>
                <a:ext uri="{FF2B5EF4-FFF2-40B4-BE49-F238E27FC236}">
                  <a16:creationId xmlns:a16="http://schemas.microsoft.com/office/drawing/2014/main" id="{94FF22F6-38A2-5AB0-152D-1A22D791CEA1}"/>
                </a:ext>
              </a:extLst>
            </p:cNvPr>
            <p:cNvCxnSpPr>
              <a:cxnSpLocks noChangeShapeType="1"/>
              <a:stCxn id="8" idx="0"/>
              <a:endCxn id="12" idx="0"/>
            </p:cNvCxnSpPr>
            <p:nvPr/>
          </p:nvCxnSpPr>
          <p:spPr bwMode="auto">
            <a:xfrm rot="16200000" flipV="1">
              <a:off x="5473700" y="2098675"/>
              <a:ext cx="274638" cy="5081588"/>
            </a:xfrm>
            <a:prstGeom prst="bentConnector3">
              <a:avLst>
                <a:gd name="adj1" fmla="val 244704"/>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33259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Roadmap to Success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pSp>
        <p:nvGrpSpPr>
          <p:cNvPr id="45" name="Group 44">
            <a:extLst>
              <a:ext uri="{FF2B5EF4-FFF2-40B4-BE49-F238E27FC236}">
                <a16:creationId xmlns:a16="http://schemas.microsoft.com/office/drawing/2014/main" id="{EA2BAAC1-7CFD-B884-1E90-0B3A51699246}"/>
              </a:ext>
            </a:extLst>
          </p:cNvPr>
          <p:cNvGrpSpPr/>
          <p:nvPr/>
        </p:nvGrpSpPr>
        <p:grpSpPr>
          <a:xfrm>
            <a:off x="838200" y="2030413"/>
            <a:ext cx="10515600" cy="4146550"/>
            <a:chOff x="414338" y="1979613"/>
            <a:chExt cx="8324850" cy="4146550"/>
          </a:xfrm>
        </p:grpSpPr>
        <p:grpSp>
          <p:nvGrpSpPr>
            <p:cNvPr id="24" name="Group 2">
              <a:extLst>
                <a:ext uri="{FF2B5EF4-FFF2-40B4-BE49-F238E27FC236}">
                  <a16:creationId xmlns:a16="http://schemas.microsoft.com/office/drawing/2014/main" id="{572C1282-429A-2ACF-3B41-F2CE223D4F38}"/>
                </a:ext>
              </a:extLst>
            </p:cNvPr>
            <p:cNvGrpSpPr>
              <a:grpSpLocks/>
            </p:cNvGrpSpPr>
            <p:nvPr/>
          </p:nvGrpSpPr>
          <p:grpSpPr bwMode="auto">
            <a:xfrm>
              <a:off x="2205038" y="1979613"/>
              <a:ext cx="6534150" cy="2420937"/>
              <a:chOff x="1389" y="1410"/>
              <a:chExt cx="4116" cy="1795"/>
            </a:xfrm>
          </p:grpSpPr>
          <p:sp>
            <p:nvSpPr>
              <p:cNvPr id="25" name="Rectangle 3">
                <a:extLst>
                  <a:ext uri="{FF2B5EF4-FFF2-40B4-BE49-F238E27FC236}">
                    <a16:creationId xmlns:a16="http://schemas.microsoft.com/office/drawing/2014/main" id="{CE69EA31-1591-1D84-3D23-8C0CDBF72D62}"/>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26" name="Text Box 4">
                <a:extLst>
                  <a:ext uri="{FF2B5EF4-FFF2-40B4-BE49-F238E27FC236}">
                    <a16:creationId xmlns:a16="http://schemas.microsoft.com/office/drawing/2014/main" id="{CAA56E94-01DE-0CB8-7BC6-D868B7CEB315}"/>
                  </a:ext>
                </a:extLst>
              </p:cNvPr>
              <p:cNvSpPr txBox="1">
                <a:spLocks noChangeArrowheads="1"/>
              </p:cNvSpPr>
              <p:nvPr/>
            </p:nvSpPr>
            <p:spPr bwMode="auto">
              <a:xfrm>
                <a:off x="3401" y="1507"/>
                <a:ext cx="116" cy="249"/>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27" name="Oval 6">
              <a:extLst>
                <a:ext uri="{FF2B5EF4-FFF2-40B4-BE49-F238E27FC236}">
                  <a16:creationId xmlns:a16="http://schemas.microsoft.com/office/drawing/2014/main" id="{73B37E89-FC96-42BB-5FFF-5A0C336709D2}"/>
                </a:ext>
              </a:extLst>
            </p:cNvPr>
            <p:cNvSpPr>
              <a:spLocks noChangeArrowheads="1"/>
            </p:cNvSpPr>
            <p:nvPr/>
          </p:nvSpPr>
          <p:spPr bwMode="auto">
            <a:xfrm>
              <a:off x="7662863" y="3070225"/>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28" name="Rectangle 7">
              <a:extLst>
                <a:ext uri="{FF2B5EF4-FFF2-40B4-BE49-F238E27FC236}">
                  <a16:creationId xmlns:a16="http://schemas.microsoft.com/office/drawing/2014/main" id="{E8A430C7-5743-124A-BA07-B47027E2E813}"/>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 Awareness/ Commitment</a:t>
              </a:r>
            </a:p>
          </p:txBody>
        </p:sp>
        <p:sp>
          <p:nvSpPr>
            <p:cNvPr id="29" name="Rectangle 8">
              <a:extLst>
                <a:ext uri="{FF2B5EF4-FFF2-40B4-BE49-F238E27FC236}">
                  <a16:creationId xmlns:a16="http://schemas.microsoft.com/office/drawing/2014/main" id="{BF7ACE4C-E8A6-3AA2-F3A0-B6A66C83AC05}"/>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30" name="Rectangle 9">
              <a:extLst>
                <a:ext uri="{FF2B5EF4-FFF2-40B4-BE49-F238E27FC236}">
                  <a16:creationId xmlns:a16="http://schemas.microsoft.com/office/drawing/2014/main" id="{5296C40F-F821-7D75-A6F3-7740FA16E010}"/>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Kick-Off</a:t>
              </a:r>
            </a:p>
          </p:txBody>
        </p:sp>
        <p:sp>
          <p:nvSpPr>
            <p:cNvPr id="31" name="Rectangle 10">
              <a:extLst>
                <a:ext uri="{FF2B5EF4-FFF2-40B4-BE49-F238E27FC236}">
                  <a16:creationId xmlns:a16="http://schemas.microsoft.com/office/drawing/2014/main" id="{485A7E8D-5713-409A-EC81-5C53BA83AF3A}"/>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sp>
          <p:nvSpPr>
            <p:cNvPr id="32" name="Rectangle 11">
              <a:extLst>
                <a:ext uri="{FF2B5EF4-FFF2-40B4-BE49-F238E27FC236}">
                  <a16:creationId xmlns:a16="http://schemas.microsoft.com/office/drawing/2014/main" id="{87471C56-E34C-3B4A-E7A1-D19A29BB22AA}"/>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33" name="Rectangle 12">
              <a:extLst>
                <a:ext uri="{FF2B5EF4-FFF2-40B4-BE49-F238E27FC236}">
                  <a16:creationId xmlns:a16="http://schemas.microsoft.com/office/drawing/2014/main" id="{00FCBF00-8037-2047-6DD9-175A9D8B25E4}"/>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34" name="Rectangle 13">
              <a:extLst>
                <a:ext uri="{FF2B5EF4-FFF2-40B4-BE49-F238E27FC236}">
                  <a16:creationId xmlns:a16="http://schemas.microsoft.com/office/drawing/2014/main" id="{197777CB-A9C5-96BA-55BC-B59090FEB105}"/>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35" name="Rectangle 14">
              <a:extLst>
                <a:ext uri="{FF2B5EF4-FFF2-40B4-BE49-F238E27FC236}">
                  <a16:creationId xmlns:a16="http://schemas.microsoft.com/office/drawing/2014/main" id="{5E80FE96-E3F8-2980-BA2F-AEB5867130D5}"/>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36" name="AutoShape 15">
              <a:extLst>
                <a:ext uri="{FF2B5EF4-FFF2-40B4-BE49-F238E27FC236}">
                  <a16:creationId xmlns:a16="http://schemas.microsoft.com/office/drawing/2014/main" id="{FDC608AC-1783-2EA0-9269-95CCA28F73A7}"/>
                </a:ext>
              </a:extLst>
            </p:cNvPr>
            <p:cNvCxnSpPr>
              <a:cxnSpLocks noChangeShapeType="1"/>
              <a:stCxn id="28" idx="3"/>
              <a:endCxn id="3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7" name="AutoShape 16">
              <a:extLst>
                <a:ext uri="{FF2B5EF4-FFF2-40B4-BE49-F238E27FC236}">
                  <a16:creationId xmlns:a16="http://schemas.microsoft.com/office/drawing/2014/main" id="{6C155208-A0E2-3AC7-DACF-11715B4A6175}"/>
                </a:ext>
              </a:extLst>
            </p:cNvPr>
            <p:cNvCxnSpPr>
              <a:cxnSpLocks noChangeShapeType="1"/>
              <a:stCxn id="30" idx="3"/>
              <a:endCxn id="3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 name="AutoShape 17">
              <a:extLst>
                <a:ext uri="{FF2B5EF4-FFF2-40B4-BE49-F238E27FC236}">
                  <a16:creationId xmlns:a16="http://schemas.microsoft.com/office/drawing/2014/main" id="{AB0D0E97-A3DB-89E3-C469-2CE711AA34D3}"/>
                </a:ext>
              </a:extLst>
            </p:cNvPr>
            <p:cNvCxnSpPr>
              <a:cxnSpLocks noChangeShapeType="1"/>
              <a:stCxn id="32" idx="3"/>
              <a:endCxn id="3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9" name="AutoShape 18">
              <a:extLst>
                <a:ext uri="{FF2B5EF4-FFF2-40B4-BE49-F238E27FC236}">
                  <a16:creationId xmlns:a16="http://schemas.microsoft.com/office/drawing/2014/main" id="{A24424DA-8458-9B74-C4D0-1D01FE5CB3DB}"/>
                </a:ext>
              </a:extLst>
            </p:cNvPr>
            <p:cNvCxnSpPr>
              <a:cxnSpLocks noChangeShapeType="1"/>
              <a:stCxn id="34" idx="3"/>
              <a:endCxn id="2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0" name="AutoShape 19">
              <a:extLst>
                <a:ext uri="{FF2B5EF4-FFF2-40B4-BE49-F238E27FC236}">
                  <a16:creationId xmlns:a16="http://schemas.microsoft.com/office/drawing/2014/main" id="{5AE8D2C7-8F80-70F1-D0B0-65874CB9AD97}"/>
                </a:ext>
              </a:extLst>
            </p:cNvPr>
            <p:cNvCxnSpPr>
              <a:cxnSpLocks noChangeShapeType="1"/>
              <a:stCxn id="27" idx="0"/>
              <a:endCxn id="3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1" name="Rectangle 20">
              <a:extLst>
                <a:ext uri="{FF2B5EF4-FFF2-40B4-BE49-F238E27FC236}">
                  <a16:creationId xmlns:a16="http://schemas.microsoft.com/office/drawing/2014/main" id="{D14DB4B9-A30F-A323-9B1B-AB286A064573}"/>
                </a:ext>
              </a:extLst>
            </p:cNvPr>
            <p:cNvSpPr>
              <a:spLocks noChangeArrowheads="1"/>
            </p:cNvSpPr>
            <p:nvPr/>
          </p:nvSpPr>
          <p:spPr bwMode="auto">
            <a:xfrm>
              <a:off x="414338" y="4378325"/>
              <a:ext cx="1674812"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Attend 3P Executive Overview</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Readiness Assessment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Prerequisites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Commitment to 3P process</a:t>
              </a:r>
            </a:p>
          </p:txBody>
        </p:sp>
        <p:sp>
          <p:nvSpPr>
            <p:cNvPr id="42" name="Rectangle 21">
              <a:extLst>
                <a:ext uri="{FF2B5EF4-FFF2-40B4-BE49-F238E27FC236}">
                  <a16:creationId xmlns:a16="http://schemas.microsoft.com/office/drawing/2014/main" id="{35920AF7-515A-6331-8341-54E861EEB588}"/>
                </a:ext>
              </a:extLst>
            </p:cNvPr>
            <p:cNvSpPr>
              <a:spLocks noChangeArrowheads="1"/>
            </p:cNvSpPr>
            <p:nvPr/>
          </p:nvSpPr>
          <p:spPr bwMode="auto">
            <a:xfrm>
              <a:off x="2243138" y="4378325"/>
              <a:ext cx="1839912"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3P Overview Training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Define the requirements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Create 3P Lab</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Prepare Event Charter &amp; Plan</a:t>
              </a:r>
            </a:p>
          </p:txBody>
        </p:sp>
        <p:sp>
          <p:nvSpPr>
            <p:cNvPr id="43" name="Rectangle 22">
              <a:extLst>
                <a:ext uri="{FF2B5EF4-FFF2-40B4-BE49-F238E27FC236}">
                  <a16:creationId xmlns:a16="http://schemas.microsoft.com/office/drawing/2014/main" id="{D7EBCDA2-9130-8A67-5D6F-C5F619EC7A26}"/>
                </a:ext>
              </a:extLst>
            </p:cNvPr>
            <p:cNvSpPr>
              <a:spLocks noChangeArrowheads="1"/>
            </p:cNvSpPr>
            <p:nvPr/>
          </p:nvSpPr>
          <p:spPr bwMode="auto">
            <a:xfrm>
              <a:off x="4008438" y="4378325"/>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Detailed 3P Training and Exercises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Application of 3P Methodology to Design/Process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Creation of Implementation Plan</a:t>
              </a:r>
            </a:p>
          </p:txBody>
        </p:sp>
        <p:sp>
          <p:nvSpPr>
            <p:cNvPr id="44" name="Rectangle 23">
              <a:extLst>
                <a:ext uri="{FF2B5EF4-FFF2-40B4-BE49-F238E27FC236}">
                  <a16:creationId xmlns:a16="http://schemas.microsoft.com/office/drawing/2014/main" id="{154DFC50-26E7-D718-E79F-1B138B9F8132}"/>
                </a:ext>
              </a:extLst>
            </p:cNvPr>
            <p:cNvSpPr>
              <a:spLocks noChangeArrowheads="1"/>
            </p:cNvSpPr>
            <p:nvPr/>
          </p:nvSpPr>
          <p:spPr bwMode="auto">
            <a:xfrm>
              <a:off x="5849938" y="4378325"/>
              <a:ext cx="18272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Plan equipment, fixtures, tooling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Develop support systems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Install and qualify</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200">
                  <a:latin typeface="Roboto" panose="02000000000000000000" pitchFamily="2" charset="0"/>
                  <a:ea typeface="Roboto" panose="02000000000000000000" pitchFamily="2" charset="0"/>
                </a:rPr>
                <a:t>Create Standard Work</a:t>
              </a:r>
            </a:p>
          </p:txBody>
        </p:sp>
      </p:grpSp>
    </p:spTree>
    <p:extLst>
      <p:ext uri="{BB962C8B-B14F-4D97-AF65-F5344CB8AC3E}">
        <p14:creationId xmlns:p14="http://schemas.microsoft.com/office/powerpoint/2010/main" val="1960599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Roadmap to Success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grpSp>
        <p:nvGrpSpPr>
          <p:cNvPr id="51" name="Group 50">
            <a:extLst>
              <a:ext uri="{FF2B5EF4-FFF2-40B4-BE49-F238E27FC236}">
                <a16:creationId xmlns:a16="http://schemas.microsoft.com/office/drawing/2014/main" id="{9CAFB8B6-8A21-FB64-65A3-629CAA7BA8A3}"/>
              </a:ext>
            </a:extLst>
          </p:cNvPr>
          <p:cNvGrpSpPr/>
          <p:nvPr/>
        </p:nvGrpSpPr>
        <p:grpSpPr>
          <a:xfrm>
            <a:off x="944721" y="2036763"/>
            <a:ext cx="10251649" cy="4140200"/>
            <a:chOff x="487363" y="1979613"/>
            <a:chExt cx="8252121" cy="4140200"/>
          </a:xfrm>
        </p:grpSpPr>
        <p:grpSp>
          <p:nvGrpSpPr>
            <p:cNvPr id="3" name="Group 2">
              <a:extLst>
                <a:ext uri="{FF2B5EF4-FFF2-40B4-BE49-F238E27FC236}">
                  <a16:creationId xmlns:a16="http://schemas.microsoft.com/office/drawing/2014/main" id="{5E9BC8E0-D9B5-A206-318A-548C09D8E31F}"/>
                </a:ext>
              </a:extLst>
            </p:cNvPr>
            <p:cNvGrpSpPr>
              <a:grpSpLocks/>
            </p:cNvGrpSpPr>
            <p:nvPr/>
          </p:nvGrpSpPr>
          <p:grpSpPr bwMode="auto">
            <a:xfrm>
              <a:off x="2205038" y="1979613"/>
              <a:ext cx="6534150" cy="2420937"/>
              <a:chOff x="1389" y="1410"/>
              <a:chExt cx="4116" cy="1795"/>
            </a:xfrm>
          </p:grpSpPr>
          <p:sp>
            <p:nvSpPr>
              <p:cNvPr id="4" name="Rectangle 3">
                <a:extLst>
                  <a:ext uri="{FF2B5EF4-FFF2-40B4-BE49-F238E27FC236}">
                    <a16:creationId xmlns:a16="http://schemas.microsoft.com/office/drawing/2014/main" id="{86DFF3B9-C502-2FD9-C6CB-BD2AD5CD4A8F}"/>
                  </a:ext>
                </a:extLst>
              </p:cNvPr>
              <p:cNvSpPr>
                <a:spLocks noChangeArrowheads="1"/>
              </p:cNvSpPr>
              <p:nvPr/>
            </p:nvSpPr>
            <p:spPr bwMode="auto">
              <a:xfrm>
                <a:off x="1389" y="1410"/>
                <a:ext cx="4116" cy="1795"/>
              </a:xfrm>
              <a:prstGeom prst="rect">
                <a:avLst/>
              </a:prstGeom>
              <a:solidFill>
                <a:srgbClr val="EAEAEA"/>
              </a:solidFill>
              <a:ln w="12700" cap="sq">
                <a:solidFill>
                  <a:srgbClr val="0033CC"/>
                </a:solidFill>
                <a:miter lim="800000"/>
                <a:headEnd type="none" w="sm" len="sm"/>
                <a:tailEnd type="none" w="sm" len="sm"/>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latin typeface="Roboto" panose="02000000000000000000" pitchFamily="2" charset="0"/>
                  <a:ea typeface="Roboto" panose="02000000000000000000" pitchFamily="2" charset="0"/>
                </a:endParaRPr>
              </a:p>
            </p:txBody>
          </p:sp>
          <p:sp>
            <p:nvSpPr>
              <p:cNvPr id="6" name="Text Box 4">
                <a:extLst>
                  <a:ext uri="{FF2B5EF4-FFF2-40B4-BE49-F238E27FC236}">
                    <a16:creationId xmlns:a16="http://schemas.microsoft.com/office/drawing/2014/main" id="{A78BC531-171D-A1B2-0434-8B6DDC7D857A}"/>
                  </a:ext>
                </a:extLst>
              </p:cNvPr>
              <p:cNvSpPr txBox="1">
                <a:spLocks noChangeArrowheads="1"/>
              </p:cNvSpPr>
              <p:nvPr/>
            </p:nvSpPr>
            <p:spPr bwMode="auto">
              <a:xfrm>
                <a:off x="3412" y="1507"/>
                <a:ext cx="94" cy="251"/>
              </a:xfrm>
              <a:prstGeom prst="rect">
                <a:avLst/>
              </a:prstGeom>
              <a:solidFill>
                <a:srgbClr val="EAEAEA"/>
              </a:solid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Tx/>
                  <a:buSzTx/>
                  <a:buFontTx/>
                  <a:buNone/>
                </a:pPr>
                <a:endParaRPr lang="en-US" altLang="en-US" sz="1600" i="1">
                  <a:solidFill>
                    <a:srgbClr val="000066"/>
                  </a:solidFill>
                  <a:latin typeface="Roboto" panose="02000000000000000000" pitchFamily="2" charset="0"/>
                  <a:ea typeface="Roboto" panose="02000000000000000000" pitchFamily="2" charset="0"/>
                </a:endParaRPr>
              </a:p>
            </p:txBody>
          </p:sp>
        </p:grpSp>
        <p:sp>
          <p:nvSpPr>
            <p:cNvPr id="7" name="Oval 6">
              <a:extLst>
                <a:ext uri="{FF2B5EF4-FFF2-40B4-BE49-F238E27FC236}">
                  <a16:creationId xmlns:a16="http://schemas.microsoft.com/office/drawing/2014/main" id="{EA7B697B-7C0C-AC63-555A-6DDCDFCBA832}"/>
                </a:ext>
              </a:extLst>
            </p:cNvPr>
            <p:cNvSpPr>
              <a:spLocks noChangeArrowheads="1"/>
            </p:cNvSpPr>
            <p:nvPr/>
          </p:nvSpPr>
          <p:spPr bwMode="auto">
            <a:xfrm>
              <a:off x="7662863" y="3070225"/>
              <a:ext cx="976312" cy="1052513"/>
            </a:xfrm>
            <a:prstGeom prst="ellipse">
              <a:avLst/>
            </a:prstGeom>
            <a:solidFill>
              <a:schemeClr val="accent1"/>
            </a:solidFill>
            <a:ln w="6350">
              <a:solidFill>
                <a:schemeClr val="tx1"/>
              </a:solidFill>
              <a:round/>
              <a:headEnd/>
              <a:tailEnd/>
            </a:ln>
          </p:spPr>
          <p:txBody>
            <a:bodyPr wrap="none" lIns="45720" rIns="45720" anchor="ctr"/>
            <a:lstStyle>
              <a:lvl1pPr marL="101600" indent="-101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30000"/>
                </a:spcBef>
                <a:spcAft>
                  <a:spcPct val="0"/>
                </a:spcAft>
                <a:buClr>
                  <a:schemeClr val="folHlink"/>
                </a:buClr>
                <a:buSzTx/>
                <a:buFontTx/>
                <a:buNone/>
              </a:pPr>
              <a:r>
                <a:rPr lang="en-GB" altLang="en-US" sz="1200">
                  <a:solidFill>
                    <a:schemeClr val="bg1"/>
                  </a:solidFill>
                  <a:latin typeface="Roboto" panose="02000000000000000000" pitchFamily="2" charset="0"/>
                  <a:ea typeface="Roboto" panose="02000000000000000000" pitchFamily="2" charset="0"/>
                </a:rPr>
                <a:t>Apply</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learning</a:t>
              </a:r>
              <a:br>
                <a:rPr lang="en-GB" altLang="en-US" sz="1200">
                  <a:solidFill>
                    <a:schemeClr val="bg1"/>
                  </a:solidFill>
                  <a:latin typeface="Roboto" panose="02000000000000000000" pitchFamily="2" charset="0"/>
                  <a:ea typeface="Roboto" panose="02000000000000000000" pitchFamily="2" charset="0"/>
                </a:rPr>
              </a:br>
              <a:r>
                <a:rPr lang="en-GB" altLang="en-US" sz="1200">
                  <a:solidFill>
                    <a:schemeClr val="bg1"/>
                  </a:solidFill>
                  <a:latin typeface="Roboto" panose="02000000000000000000" pitchFamily="2" charset="0"/>
                  <a:ea typeface="Roboto" panose="02000000000000000000" pitchFamily="2" charset="0"/>
                </a:rPr>
                <a:t>to next 3P</a:t>
              </a:r>
              <a:endParaRPr lang="en-GB" altLang="en-US" sz="1200" b="0">
                <a:solidFill>
                  <a:schemeClr val="bg1"/>
                </a:solidFill>
                <a:latin typeface="Roboto" panose="02000000000000000000" pitchFamily="2" charset="0"/>
                <a:ea typeface="Roboto" panose="02000000000000000000" pitchFamily="2" charset="0"/>
              </a:endParaRPr>
            </a:p>
          </p:txBody>
        </p:sp>
        <p:sp>
          <p:nvSpPr>
            <p:cNvPr id="8" name="Rectangle 7">
              <a:extLst>
                <a:ext uri="{FF2B5EF4-FFF2-40B4-BE49-F238E27FC236}">
                  <a16:creationId xmlns:a16="http://schemas.microsoft.com/office/drawing/2014/main" id="{FB559AD5-CDF3-07AF-FB84-F39066578DA3}"/>
                </a:ext>
              </a:extLst>
            </p:cNvPr>
            <p:cNvSpPr>
              <a:spLocks noChangeArrowheads="1"/>
            </p:cNvSpPr>
            <p:nvPr/>
          </p:nvSpPr>
          <p:spPr bwMode="auto">
            <a:xfrm>
              <a:off x="512763" y="3062288"/>
              <a:ext cx="1520825" cy="1079500"/>
            </a:xfrm>
            <a:prstGeom prst="rect">
              <a:avLst/>
            </a:prstGeom>
            <a:solidFill>
              <a:schemeClr val="bg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Leadership Awareness/ Commitment</a:t>
              </a:r>
            </a:p>
          </p:txBody>
        </p:sp>
        <p:sp>
          <p:nvSpPr>
            <p:cNvPr id="9" name="Rectangle 8">
              <a:extLst>
                <a:ext uri="{FF2B5EF4-FFF2-40B4-BE49-F238E27FC236}">
                  <a16:creationId xmlns:a16="http://schemas.microsoft.com/office/drawing/2014/main" id="{DC5DA3D0-119E-5478-7334-C5C73582A0D0}"/>
                </a:ext>
              </a:extLst>
            </p:cNvPr>
            <p:cNvSpPr>
              <a:spLocks noChangeArrowheads="1"/>
            </p:cNvSpPr>
            <p:nvPr/>
          </p:nvSpPr>
          <p:spPr bwMode="auto">
            <a:xfrm>
              <a:off x="512763" y="2800350"/>
              <a:ext cx="1522412" cy="252413"/>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1</a:t>
              </a:r>
            </a:p>
          </p:txBody>
        </p:sp>
        <p:sp>
          <p:nvSpPr>
            <p:cNvPr id="10" name="Rectangle 9">
              <a:extLst>
                <a:ext uri="{FF2B5EF4-FFF2-40B4-BE49-F238E27FC236}">
                  <a16:creationId xmlns:a16="http://schemas.microsoft.com/office/drawing/2014/main" id="{88B0B78E-3608-F840-94F3-88BDEAC0E053}"/>
                </a:ext>
              </a:extLst>
            </p:cNvPr>
            <p:cNvSpPr>
              <a:spLocks noChangeArrowheads="1"/>
            </p:cNvSpPr>
            <p:nvPr/>
          </p:nvSpPr>
          <p:spPr bwMode="auto">
            <a:xfrm>
              <a:off x="2308225"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Kick-Off</a:t>
              </a:r>
            </a:p>
          </p:txBody>
        </p:sp>
        <p:sp>
          <p:nvSpPr>
            <p:cNvPr id="11" name="Rectangle 10">
              <a:extLst>
                <a:ext uri="{FF2B5EF4-FFF2-40B4-BE49-F238E27FC236}">
                  <a16:creationId xmlns:a16="http://schemas.microsoft.com/office/drawing/2014/main" id="{C3245BBE-A0FF-D7F6-BFC8-BA5C19517E01}"/>
                </a:ext>
              </a:extLst>
            </p:cNvPr>
            <p:cNvSpPr>
              <a:spLocks noChangeArrowheads="1"/>
            </p:cNvSpPr>
            <p:nvPr/>
          </p:nvSpPr>
          <p:spPr bwMode="auto">
            <a:xfrm>
              <a:off x="2308225"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sp>
          <p:nvSpPr>
            <p:cNvPr id="12" name="Rectangle 11">
              <a:extLst>
                <a:ext uri="{FF2B5EF4-FFF2-40B4-BE49-F238E27FC236}">
                  <a16:creationId xmlns:a16="http://schemas.microsoft.com/office/drawing/2014/main" id="{774D0735-5F17-0260-1AF8-14807F4693D5}"/>
                </a:ext>
              </a:extLst>
            </p:cNvPr>
            <p:cNvSpPr>
              <a:spLocks noChangeArrowheads="1"/>
            </p:cNvSpPr>
            <p:nvPr/>
          </p:nvSpPr>
          <p:spPr bwMode="auto">
            <a:xfrm>
              <a:off x="4122738"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3P Workshop</a:t>
              </a:r>
            </a:p>
          </p:txBody>
        </p:sp>
        <p:sp>
          <p:nvSpPr>
            <p:cNvPr id="13" name="Rectangle 12">
              <a:extLst>
                <a:ext uri="{FF2B5EF4-FFF2-40B4-BE49-F238E27FC236}">
                  <a16:creationId xmlns:a16="http://schemas.microsoft.com/office/drawing/2014/main" id="{19E14C2A-8525-B121-B562-11C284913A8D}"/>
                </a:ext>
              </a:extLst>
            </p:cNvPr>
            <p:cNvSpPr>
              <a:spLocks noChangeArrowheads="1"/>
            </p:cNvSpPr>
            <p:nvPr/>
          </p:nvSpPr>
          <p:spPr bwMode="auto">
            <a:xfrm>
              <a:off x="4122738" y="2795588"/>
              <a:ext cx="1522412"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sp>
          <p:nvSpPr>
            <p:cNvPr id="14" name="Rectangle 13">
              <a:extLst>
                <a:ext uri="{FF2B5EF4-FFF2-40B4-BE49-F238E27FC236}">
                  <a16:creationId xmlns:a16="http://schemas.microsoft.com/office/drawing/2014/main" id="{F5672196-7800-39D0-0B38-8DC14474D423}"/>
                </a:ext>
              </a:extLst>
            </p:cNvPr>
            <p:cNvSpPr>
              <a:spLocks noChangeArrowheads="1"/>
            </p:cNvSpPr>
            <p:nvPr/>
          </p:nvSpPr>
          <p:spPr bwMode="auto">
            <a:xfrm>
              <a:off x="5937250" y="3057525"/>
              <a:ext cx="1520825" cy="107950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Implement</a:t>
              </a:r>
            </a:p>
          </p:txBody>
        </p:sp>
        <p:sp>
          <p:nvSpPr>
            <p:cNvPr id="15" name="Rectangle 14">
              <a:extLst>
                <a:ext uri="{FF2B5EF4-FFF2-40B4-BE49-F238E27FC236}">
                  <a16:creationId xmlns:a16="http://schemas.microsoft.com/office/drawing/2014/main" id="{0BFCD0A7-BCB3-3769-4ECC-2F043F58C6A9}"/>
                </a:ext>
              </a:extLst>
            </p:cNvPr>
            <p:cNvSpPr>
              <a:spLocks noChangeArrowheads="1"/>
            </p:cNvSpPr>
            <p:nvPr/>
          </p:nvSpPr>
          <p:spPr bwMode="auto">
            <a:xfrm>
              <a:off x="5937250" y="2795588"/>
              <a:ext cx="1522413" cy="252412"/>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cxnSp>
          <p:nvCxnSpPr>
            <p:cNvPr id="16" name="AutoShape 15">
              <a:extLst>
                <a:ext uri="{FF2B5EF4-FFF2-40B4-BE49-F238E27FC236}">
                  <a16:creationId xmlns:a16="http://schemas.microsoft.com/office/drawing/2014/main" id="{69B50EEA-6521-8AB8-094E-BD4C96983E61}"/>
                </a:ext>
              </a:extLst>
            </p:cNvPr>
            <p:cNvCxnSpPr>
              <a:cxnSpLocks noChangeShapeType="1"/>
              <a:stCxn id="8" idx="3"/>
              <a:endCxn id="10" idx="1"/>
            </p:cNvCxnSpPr>
            <p:nvPr/>
          </p:nvCxnSpPr>
          <p:spPr bwMode="auto">
            <a:xfrm flipV="1">
              <a:off x="2033588" y="3597275"/>
              <a:ext cx="274637" cy="4763"/>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6">
              <a:extLst>
                <a:ext uri="{FF2B5EF4-FFF2-40B4-BE49-F238E27FC236}">
                  <a16:creationId xmlns:a16="http://schemas.microsoft.com/office/drawing/2014/main" id="{9EBAA7B7-AD32-949D-96AC-26820F8D03C7}"/>
                </a:ext>
              </a:extLst>
            </p:cNvPr>
            <p:cNvCxnSpPr>
              <a:cxnSpLocks noChangeShapeType="1"/>
              <a:stCxn id="10" idx="3"/>
              <a:endCxn id="12" idx="1"/>
            </p:cNvCxnSpPr>
            <p:nvPr/>
          </p:nvCxnSpPr>
          <p:spPr bwMode="auto">
            <a:xfrm>
              <a:off x="3829050" y="3597275"/>
              <a:ext cx="2936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8" name="AutoShape 17">
              <a:extLst>
                <a:ext uri="{FF2B5EF4-FFF2-40B4-BE49-F238E27FC236}">
                  <a16:creationId xmlns:a16="http://schemas.microsoft.com/office/drawing/2014/main" id="{A9C173DD-5A38-1220-E0BB-DD7B00D7F356}"/>
                </a:ext>
              </a:extLst>
            </p:cNvPr>
            <p:cNvCxnSpPr>
              <a:cxnSpLocks noChangeShapeType="1"/>
              <a:stCxn id="12" idx="3"/>
              <a:endCxn id="14" idx="1"/>
            </p:cNvCxnSpPr>
            <p:nvPr/>
          </p:nvCxnSpPr>
          <p:spPr bwMode="auto">
            <a:xfrm>
              <a:off x="5643563" y="3597275"/>
              <a:ext cx="293687"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9" name="AutoShape 18">
              <a:extLst>
                <a:ext uri="{FF2B5EF4-FFF2-40B4-BE49-F238E27FC236}">
                  <a16:creationId xmlns:a16="http://schemas.microsoft.com/office/drawing/2014/main" id="{4544293A-DF20-2708-B6DA-BF58EAD3F382}"/>
                </a:ext>
              </a:extLst>
            </p:cNvPr>
            <p:cNvCxnSpPr>
              <a:cxnSpLocks noChangeShapeType="1"/>
              <a:stCxn id="14" idx="3"/>
              <a:endCxn id="7" idx="2"/>
            </p:cNvCxnSpPr>
            <p:nvPr/>
          </p:nvCxnSpPr>
          <p:spPr bwMode="auto">
            <a:xfrm>
              <a:off x="7458075" y="3597275"/>
              <a:ext cx="204788"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0" name="AutoShape 19">
              <a:extLst>
                <a:ext uri="{FF2B5EF4-FFF2-40B4-BE49-F238E27FC236}">
                  <a16:creationId xmlns:a16="http://schemas.microsoft.com/office/drawing/2014/main" id="{CFBCA112-6C83-36B5-C6B6-32ED72BC914A}"/>
                </a:ext>
              </a:extLst>
            </p:cNvPr>
            <p:cNvCxnSpPr>
              <a:cxnSpLocks noChangeShapeType="1"/>
              <a:stCxn id="7" idx="0"/>
              <a:endCxn id="11" idx="0"/>
            </p:cNvCxnSpPr>
            <p:nvPr/>
          </p:nvCxnSpPr>
          <p:spPr bwMode="auto">
            <a:xfrm rot="5400000" flipH="1">
              <a:off x="5473700" y="392113"/>
              <a:ext cx="274637" cy="5081588"/>
            </a:xfrm>
            <a:prstGeom prst="bentConnector3">
              <a:avLst>
                <a:gd name="adj1" fmla="val 261269"/>
              </a:avLst>
            </a:prstGeom>
            <a:noFill/>
            <a:ln w="38100" cap="sq">
              <a:solidFill>
                <a:schemeClr val="tx1"/>
              </a:solidFill>
              <a:miter lim="800000"/>
              <a:headEnd/>
              <a:tailEnd type="triangle" w="med" len="med"/>
            </a:ln>
            <a:extLst>
              <a:ext uri="{909E8E84-426E-40DD-AFC4-6F175D3DCCD1}">
                <a14:hiddenFill xmlns:a14="http://schemas.microsoft.com/office/drawing/2010/main">
                  <a:noFill/>
                </a14:hiddenFill>
              </a:ext>
            </a:extLst>
          </p:spPr>
        </p:cxnSp>
        <p:grpSp>
          <p:nvGrpSpPr>
            <p:cNvPr id="21" name="Group 21">
              <a:extLst>
                <a:ext uri="{FF2B5EF4-FFF2-40B4-BE49-F238E27FC236}">
                  <a16:creationId xmlns:a16="http://schemas.microsoft.com/office/drawing/2014/main" id="{8B63D538-4600-F873-225C-21FF2F28DBC9}"/>
                </a:ext>
              </a:extLst>
            </p:cNvPr>
            <p:cNvGrpSpPr>
              <a:grpSpLocks/>
            </p:cNvGrpSpPr>
            <p:nvPr/>
          </p:nvGrpSpPr>
          <p:grpSpPr bwMode="auto">
            <a:xfrm>
              <a:off x="488950" y="4713288"/>
              <a:ext cx="8250534" cy="1406525"/>
              <a:chOff x="1350" y="2060"/>
              <a:chExt cx="3020" cy="208"/>
            </a:xfrm>
          </p:grpSpPr>
          <p:sp>
            <p:nvSpPr>
              <p:cNvPr id="22" name="AutoShape 22">
                <a:extLst>
                  <a:ext uri="{FF2B5EF4-FFF2-40B4-BE49-F238E27FC236}">
                    <a16:creationId xmlns:a16="http://schemas.microsoft.com/office/drawing/2014/main" id="{20D9D491-AB70-F2C5-4532-5125B4C86038}"/>
                  </a:ext>
                </a:extLst>
              </p:cNvPr>
              <p:cNvSpPr>
                <a:spLocks noChangeArrowheads="1"/>
              </p:cNvSpPr>
              <p:nvPr/>
            </p:nvSpPr>
            <p:spPr bwMode="auto">
              <a:xfrm>
                <a:off x="3722" y="2060"/>
                <a:ext cx="648"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Develop Plan</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to</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Implement</a:t>
                </a:r>
              </a:p>
            </p:txBody>
          </p:sp>
          <p:sp>
            <p:nvSpPr>
              <p:cNvPr id="23" name="AutoShape 23">
                <a:extLst>
                  <a:ext uri="{FF2B5EF4-FFF2-40B4-BE49-F238E27FC236}">
                    <a16:creationId xmlns:a16="http://schemas.microsoft.com/office/drawing/2014/main" id="{8E6DF853-B69D-8472-9437-95C5AEA4EAF6}"/>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Build,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Present,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Select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Prototypes </a:t>
                </a:r>
              </a:p>
            </p:txBody>
          </p:sp>
          <p:sp>
            <p:nvSpPr>
              <p:cNvPr id="46" name="AutoShape 24">
                <a:extLst>
                  <a:ext uri="{FF2B5EF4-FFF2-40B4-BE49-F238E27FC236}">
                    <a16:creationId xmlns:a16="http://schemas.microsoft.com/office/drawing/2014/main" id="{9BABD6A1-BAB9-087E-6678-68970392A37B}"/>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lIns="180000" rIns="72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Sketch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Evaluate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Alternative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Steps</a:t>
                </a:r>
              </a:p>
            </p:txBody>
          </p:sp>
          <p:sp>
            <p:nvSpPr>
              <p:cNvPr id="47" name="AutoShape 25">
                <a:extLst>
                  <a:ext uri="{FF2B5EF4-FFF2-40B4-BE49-F238E27FC236}">
                    <a16:creationId xmlns:a16="http://schemas.microsoft.com/office/drawing/2014/main" id="{84CAB5A2-26D7-70E2-785A-2168102EE9B4}"/>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Study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Analyze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Examples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from</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Nature, etc.</a:t>
                </a:r>
              </a:p>
            </p:txBody>
          </p:sp>
          <p:sp>
            <p:nvSpPr>
              <p:cNvPr id="48" name="AutoShape 26">
                <a:extLst>
                  <a:ext uri="{FF2B5EF4-FFF2-40B4-BE49-F238E27FC236}">
                    <a16:creationId xmlns:a16="http://schemas.microsoft.com/office/drawing/2014/main" id="{8A5D12B3-4FE5-0D91-2F05-59BB584B32B0}"/>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Define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Objectives/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Needs</a:t>
                </a:r>
              </a:p>
            </p:txBody>
          </p:sp>
        </p:grpSp>
        <p:sp>
          <p:nvSpPr>
            <p:cNvPr id="49" name="Line 27">
              <a:extLst>
                <a:ext uri="{FF2B5EF4-FFF2-40B4-BE49-F238E27FC236}">
                  <a16:creationId xmlns:a16="http://schemas.microsoft.com/office/drawing/2014/main" id="{AA3F1F7E-8EC7-4C44-73AF-01B5351BE5A8}"/>
                </a:ext>
              </a:extLst>
            </p:cNvPr>
            <p:cNvSpPr>
              <a:spLocks noChangeShapeType="1"/>
            </p:cNvSpPr>
            <p:nvPr/>
          </p:nvSpPr>
          <p:spPr bwMode="auto">
            <a:xfrm flipH="1">
              <a:off x="487363" y="4122739"/>
              <a:ext cx="3635375" cy="611186"/>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0" name="Line 28">
              <a:extLst>
                <a:ext uri="{FF2B5EF4-FFF2-40B4-BE49-F238E27FC236}">
                  <a16:creationId xmlns:a16="http://schemas.microsoft.com/office/drawing/2014/main" id="{D61825AE-AC4D-7980-8E47-D0E4FCF144BC}"/>
                </a:ext>
              </a:extLst>
            </p:cNvPr>
            <p:cNvSpPr>
              <a:spLocks noChangeShapeType="1"/>
            </p:cNvSpPr>
            <p:nvPr/>
          </p:nvSpPr>
          <p:spPr bwMode="auto">
            <a:xfrm>
              <a:off x="5643563" y="4146549"/>
              <a:ext cx="2717800" cy="557213"/>
            </a:xfrm>
            <a:prstGeom prst="line">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27735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Workshop Structure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grpSp>
        <p:nvGrpSpPr>
          <p:cNvPr id="35" name="Group 34">
            <a:extLst>
              <a:ext uri="{FF2B5EF4-FFF2-40B4-BE49-F238E27FC236}">
                <a16:creationId xmlns:a16="http://schemas.microsoft.com/office/drawing/2014/main" id="{BC073B29-9B36-CC70-F3A8-B392E50571BE}"/>
              </a:ext>
            </a:extLst>
          </p:cNvPr>
          <p:cNvGrpSpPr/>
          <p:nvPr/>
        </p:nvGrpSpPr>
        <p:grpSpPr>
          <a:xfrm>
            <a:off x="414338" y="1928813"/>
            <a:ext cx="10352722" cy="4404335"/>
            <a:chOff x="414338" y="1928813"/>
            <a:chExt cx="8366125" cy="3608387"/>
          </a:xfrm>
        </p:grpSpPr>
        <p:grpSp>
          <p:nvGrpSpPr>
            <p:cNvPr id="24" name="Group 21">
              <a:extLst>
                <a:ext uri="{FF2B5EF4-FFF2-40B4-BE49-F238E27FC236}">
                  <a16:creationId xmlns:a16="http://schemas.microsoft.com/office/drawing/2014/main" id="{DC89DAD6-5D7F-B0AE-60D4-03F54C90239E}"/>
                </a:ext>
              </a:extLst>
            </p:cNvPr>
            <p:cNvGrpSpPr>
              <a:grpSpLocks/>
            </p:cNvGrpSpPr>
            <p:nvPr/>
          </p:nvGrpSpPr>
          <p:grpSpPr bwMode="auto">
            <a:xfrm>
              <a:off x="488950" y="1928813"/>
              <a:ext cx="8291513" cy="1406525"/>
              <a:chOff x="1350" y="2060"/>
              <a:chExt cx="3035" cy="208"/>
            </a:xfrm>
          </p:grpSpPr>
          <p:sp>
            <p:nvSpPr>
              <p:cNvPr id="25" name="AutoShape 22">
                <a:extLst>
                  <a:ext uri="{FF2B5EF4-FFF2-40B4-BE49-F238E27FC236}">
                    <a16:creationId xmlns:a16="http://schemas.microsoft.com/office/drawing/2014/main" id="{098FF811-3A84-A34F-261A-CA026C28B0FF}"/>
                  </a:ext>
                </a:extLst>
              </p:cNvPr>
              <p:cNvSpPr>
                <a:spLocks noChangeArrowheads="1"/>
              </p:cNvSpPr>
              <p:nvPr/>
            </p:nvSpPr>
            <p:spPr bwMode="auto">
              <a:xfrm>
                <a:off x="3722"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Develop Plan</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to</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Implement</a:t>
                </a:r>
              </a:p>
            </p:txBody>
          </p:sp>
          <p:sp>
            <p:nvSpPr>
              <p:cNvPr id="26" name="AutoShape 23">
                <a:extLst>
                  <a:ext uri="{FF2B5EF4-FFF2-40B4-BE49-F238E27FC236}">
                    <a16:creationId xmlns:a16="http://schemas.microsoft.com/office/drawing/2014/main" id="{4E639C13-6488-4B90-F930-84149C6F9102}"/>
                  </a:ext>
                </a:extLst>
              </p:cNvPr>
              <p:cNvSpPr>
                <a:spLocks noChangeArrowheads="1"/>
              </p:cNvSpPr>
              <p:nvPr/>
            </p:nvSpPr>
            <p:spPr bwMode="auto">
              <a:xfrm>
                <a:off x="3128"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Build,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Present,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Select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Prototypes </a:t>
                </a:r>
              </a:p>
            </p:txBody>
          </p:sp>
          <p:sp>
            <p:nvSpPr>
              <p:cNvPr id="27" name="AutoShape 24">
                <a:extLst>
                  <a:ext uri="{FF2B5EF4-FFF2-40B4-BE49-F238E27FC236}">
                    <a16:creationId xmlns:a16="http://schemas.microsoft.com/office/drawing/2014/main" id="{58534DE0-0054-68F0-6342-DD3DBCB75601}"/>
                  </a:ext>
                </a:extLst>
              </p:cNvPr>
              <p:cNvSpPr>
                <a:spLocks noChangeArrowheads="1"/>
              </p:cNvSpPr>
              <p:nvPr/>
            </p:nvSpPr>
            <p:spPr bwMode="auto">
              <a:xfrm>
                <a:off x="2541" y="2060"/>
                <a:ext cx="663" cy="208"/>
              </a:xfrm>
              <a:prstGeom prst="homePlate">
                <a:avLst>
                  <a:gd name="adj" fmla="val 29912"/>
                </a:avLst>
              </a:prstGeom>
              <a:solidFill>
                <a:schemeClr val="accent1"/>
              </a:solidFill>
              <a:ln w="12700" cap="sq">
                <a:solidFill>
                  <a:schemeClr val="tx1"/>
                </a:solidFill>
                <a:miter lim="800000"/>
                <a:headEnd/>
                <a:tailEnd/>
              </a:ln>
            </p:spPr>
            <p:txBody>
              <a:bodyPr lIns="180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Sketch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Evaluate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Alternative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Process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Steps</a:t>
                </a:r>
              </a:p>
            </p:txBody>
          </p:sp>
          <p:sp>
            <p:nvSpPr>
              <p:cNvPr id="28" name="AutoShape 25">
                <a:extLst>
                  <a:ext uri="{FF2B5EF4-FFF2-40B4-BE49-F238E27FC236}">
                    <a16:creationId xmlns:a16="http://schemas.microsoft.com/office/drawing/2014/main" id="{D6711A7C-9FBA-DC18-EFAF-D7B3F5CBFADB}"/>
                  </a:ext>
                </a:extLst>
              </p:cNvPr>
              <p:cNvSpPr>
                <a:spLocks noChangeArrowheads="1"/>
              </p:cNvSpPr>
              <p:nvPr/>
            </p:nvSpPr>
            <p:spPr bwMode="auto">
              <a:xfrm>
                <a:off x="1951"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Study and</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Analyze</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Examples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from</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Nature, etc.</a:t>
                </a:r>
              </a:p>
            </p:txBody>
          </p:sp>
          <p:sp>
            <p:nvSpPr>
              <p:cNvPr id="29" name="AutoShape 26">
                <a:extLst>
                  <a:ext uri="{FF2B5EF4-FFF2-40B4-BE49-F238E27FC236}">
                    <a16:creationId xmlns:a16="http://schemas.microsoft.com/office/drawing/2014/main" id="{35639FF2-C427-9E83-62F1-79DA26B5D0A4}"/>
                  </a:ext>
                </a:extLst>
              </p:cNvPr>
              <p:cNvSpPr>
                <a:spLocks noChangeArrowheads="1"/>
              </p:cNvSpPr>
              <p:nvPr/>
            </p:nvSpPr>
            <p:spPr bwMode="auto">
              <a:xfrm>
                <a:off x="1350" y="2060"/>
                <a:ext cx="663" cy="208"/>
              </a:xfrm>
              <a:prstGeom prst="homePlate">
                <a:avLst>
                  <a:gd name="adj" fmla="val 29912"/>
                </a:avLst>
              </a:prstGeom>
              <a:solidFill>
                <a:schemeClr val="accent1"/>
              </a:solidFill>
              <a:ln w="12700" cap="sq">
                <a:solidFill>
                  <a:schemeClr val="tx1"/>
                </a:solidFill>
                <a:miter lim="800000"/>
                <a:headEnd/>
                <a:tailEnd/>
              </a:ln>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0"/>
                  </a:spcBef>
                  <a:spcAft>
                    <a:spcPct val="0"/>
                  </a:spcAft>
                  <a:buClrTx/>
                  <a:buSzTx/>
                  <a:buFontTx/>
                  <a:buNone/>
                </a:pPr>
                <a:r>
                  <a:rPr lang="en-US" altLang="en-US" dirty="0">
                    <a:solidFill>
                      <a:schemeClr val="bg1"/>
                    </a:solidFill>
                    <a:latin typeface="Roboto" panose="02000000000000000000" pitchFamily="2" charset="0"/>
                    <a:ea typeface="Roboto" panose="02000000000000000000" pitchFamily="2" charset="0"/>
                  </a:rPr>
                  <a:t>Define </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Objectives/</a:t>
                </a:r>
                <a:br>
                  <a:rPr lang="en-US" altLang="en-US" dirty="0">
                    <a:solidFill>
                      <a:schemeClr val="bg1"/>
                    </a:solidFill>
                    <a:latin typeface="Roboto" panose="02000000000000000000" pitchFamily="2" charset="0"/>
                    <a:ea typeface="Roboto" panose="02000000000000000000" pitchFamily="2" charset="0"/>
                  </a:rPr>
                </a:br>
                <a:r>
                  <a:rPr lang="en-US" altLang="en-US" dirty="0">
                    <a:solidFill>
                      <a:schemeClr val="bg1"/>
                    </a:solidFill>
                    <a:latin typeface="Roboto" panose="02000000000000000000" pitchFamily="2" charset="0"/>
                    <a:ea typeface="Roboto" panose="02000000000000000000" pitchFamily="2" charset="0"/>
                  </a:rPr>
                  <a:t>Needs</a:t>
                </a:r>
              </a:p>
            </p:txBody>
          </p:sp>
        </p:grpSp>
        <p:sp>
          <p:nvSpPr>
            <p:cNvPr id="30" name="Rectangle 20">
              <a:extLst>
                <a:ext uri="{FF2B5EF4-FFF2-40B4-BE49-F238E27FC236}">
                  <a16:creationId xmlns:a16="http://schemas.microsoft.com/office/drawing/2014/main" id="{503C9854-811F-6B70-C772-35D8DAC3DF6C}"/>
                </a:ext>
              </a:extLst>
            </p:cNvPr>
            <p:cNvSpPr>
              <a:spLocks noChangeArrowheads="1"/>
            </p:cNvSpPr>
            <p:nvPr/>
          </p:nvSpPr>
          <p:spPr bwMode="auto">
            <a:xfrm>
              <a:off x="414338" y="3463925"/>
              <a:ext cx="167481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Identify Voice of the Customer and current performance metrics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Select target, write charter, pick the team</a:t>
              </a:r>
            </a:p>
          </p:txBody>
        </p:sp>
        <p:sp>
          <p:nvSpPr>
            <p:cNvPr id="31" name="Rectangle 21">
              <a:extLst>
                <a:ext uri="{FF2B5EF4-FFF2-40B4-BE49-F238E27FC236}">
                  <a16:creationId xmlns:a16="http://schemas.microsoft.com/office/drawing/2014/main" id="{4B68FD89-8E70-07E3-4E27-03356F6210F6}"/>
                </a:ext>
              </a:extLst>
            </p:cNvPr>
            <p:cNvSpPr>
              <a:spLocks noChangeArrowheads="1"/>
            </p:cNvSpPr>
            <p:nvPr/>
          </p:nvSpPr>
          <p:spPr bwMode="auto">
            <a:xfrm>
              <a:off x="2085975" y="3463925"/>
              <a:ext cx="1839913"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Review product</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Define key functions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Find examples from Nature, etc.</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Define 16 Catch Phrases</a:t>
              </a:r>
            </a:p>
          </p:txBody>
        </p:sp>
        <p:sp>
          <p:nvSpPr>
            <p:cNvPr id="32" name="Rectangle 22">
              <a:extLst>
                <a:ext uri="{FF2B5EF4-FFF2-40B4-BE49-F238E27FC236}">
                  <a16:creationId xmlns:a16="http://schemas.microsoft.com/office/drawing/2014/main" id="{71CC6784-71DA-B3A3-F9DD-5861D6CEF261}"/>
                </a:ext>
              </a:extLst>
            </p:cNvPr>
            <p:cNvSpPr>
              <a:spLocks noChangeArrowheads="1"/>
            </p:cNvSpPr>
            <p:nvPr/>
          </p:nvSpPr>
          <p:spPr bwMode="auto">
            <a:xfrm>
              <a:off x="3708400" y="3449638"/>
              <a:ext cx="1873250" cy="152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Sketch 7 Alternatives for each process step</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Apply 16 Catch Phrases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Evaluate and Combine</a:t>
              </a:r>
            </a:p>
          </p:txBody>
        </p:sp>
        <p:sp>
          <p:nvSpPr>
            <p:cNvPr id="33" name="Rectangle 23">
              <a:extLst>
                <a:ext uri="{FF2B5EF4-FFF2-40B4-BE49-F238E27FC236}">
                  <a16:creationId xmlns:a16="http://schemas.microsoft.com/office/drawing/2014/main" id="{A9FC8ED6-B1C6-07E9-8343-CA6836093B82}"/>
                </a:ext>
              </a:extLst>
            </p:cNvPr>
            <p:cNvSpPr>
              <a:spLocks noChangeArrowheads="1"/>
            </p:cNvSpPr>
            <p:nvPr/>
          </p:nvSpPr>
          <p:spPr bwMode="auto">
            <a:xfrm>
              <a:off x="6935788" y="3449638"/>
              <a:ext cx="1827212"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Plan equipment, fixtures, tooling</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Plan support systems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Prepare implementation plan</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Present</a:t>
              </a:r>
            </a:p>
          </p:txBody>
        </p:sp>
        <p:sp>
          <p:nvSpPr>
            <p:cNvPr id="34" name="Rectangle 22">
              <a:extLst>
                <a:ext uri="{FF2B5EF4-FFF2-40B4-BE49-F238E27FC236}">
                  <a16:creationId xmlns:a16="http://schemas.microsoft.com/office/drawing/2014/main" id="{78074CDB-6477-0462-C77D-47FE383C518A}"/>
                </a:ext>
              </a:extLst>
            </p:cNvPr>
            <p:cNvSpPr>
              <a:spLocks noChangeArrowheads="1"/>
            </p:cNvSpPr>
            <p:nvPr/>
          </p:nvSpPr>
          <p:spPr bwMode="auto">
            <a:xfrm>
              <a:off x="5332413" y="3459163"/>
              <a:ext cx="1839912"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Prototype Top 3 Alternatives</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Refine &amp; Evaluate</a:t>
              </a:r>
            </a:p>
            <a:p>
              <a:pPr eaLnBrk="1" hangingPunct="1">
                <a:lnSpc>
                  <a:spcPct val="100000"/>
                </a:lnSpc>
                <a:spcBef>
                  <a:spcPct val="30000"/>
                </a:spcBef>
                <a:spcAft>
                  <a:spcPct val="0"/>
                </a:spcAft>
                <a:buClr>
                  <a:schemeClr val="tx1"/>
                </a:buClr>
                <a:buFont typeface="Arial" panose="020B0604020202020204" pitchFamily="34" charset="0"/>
                <a:buChar char="•"/>
              </a:pPr>
              <a:r>
                <a:rPr lang="en-US" altLang="en-US" sz="1600" dirty="0">
                  <a:latin typeface="Roboto" panose="02000000000000000000" pitchFamily="2" charset="0"/>
                  <a:ea typeface="Roboto" panose="02000000000000000000" pitchFamily="2" charset="0"/>
                </a:rPr>
                <a:t>Scale up Top Alternative</a:t>
              </a:r>
            </a:p>
          </p:txBody>
        </p:sp>
      </p:grpSp>
    </p:spTree>
    <p:extLst>
      <p:ext uri="{BB962C8B-B14F-4D97-AF65-F5344CB8AC3E}">
        <p14:creationId xmlns:p14="http://schemas.microsoft.com/office/powerpoint/2010/main" val="3456810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3P Workshop Agenda</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11</a:t>
            </a:fld>
            <a:endParaRPr lang="en-US" dirty="0"/>
          </a:p>
        </p:txBody>
      </p:sp>
      <p:graphicFrame>
        <p:nvGraphicFramePr>
          <p:cNvPr id="12" name="Table">
            <a:extLst>
              <a:ext uri="{FF2B5EF4-FFF2-40B4-BE49-F238E27FC236}">
                <a16:creationId xmlns:a16="http://schemas.microsoft.com/office/drawing/2014/main" id="{4DC24FE0-DEBE-2440-59A4-EAA62B706ECC}"/>
              </a:ext>
            </a:extLst>
          </p:cNvPr>
          <p:cNvGraphicFramePr/>
          <p:nvPr/>
        </p:nvGraphicFramePr>
        <p:xfrm>
          <a:off x="419100" y="1998210"/>
          <a:ext cx="11353800" cy="4027415"/>
        </p:xfrm>
        <a:graphic>
          <a:graphicData uri="http://schemas.openxmlformats.org/drawingml/2006/table">
            <a:tbl>
              <a:tblPr/>
              <a:tblGrid>
                <a:gridCol w="2950752">
                  <a:extLst>
                    <a:ext uri="{9D8B030D-6E8A-4147-A177-3AD203B41FA5}">
                      <a16:colId xmlns:a16="http://schemas.microsoft.com/office/drawing/2014/main" val="20000"/>
                    </a:ext>
                  </a:extLst>
                </a:gridCol>
                <a:gridCol w="4201524">
                  <a:extLst>
                    <a:ext uri="{9D8B030D-6E8A-4147-A177-3AD203B41FA5}">
                      <a16:colId xmlns:a16="http://schemas.microsoft.com/office/drawing/2014/main" val="20002"/>
                    </a:ext>
                  </a:extLst>
                </a:gridCol>
                <a:gridCol w="4201524">
                  <a:extLst>
                    <a:ext uri="{9D8B030D-6E8A-4147-A177-3AD203B41FA5}">
                      <a16:colId xmlns:a16="http://schemas.microsoft.com/office/drawing/2014/main" val="4243325616"/>
                    </a:ext>
                  </a:extLst>
                </a:gridCol>
              </a:tblGrid>
              <a:tr h="327280">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18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Day</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800" b="1" dirty="0">
                          <a:solidFill>
                            <a:schemeClr val="bg1"/>
                          </a:solidFill>
                          <a:latin typeface="Roboto" panose="02000000000000000000" pitchFamily="2" charset="0"/>
                          <a:ea typeface="Roboto" panose="02000000000000000000" pitchFamily="2" charset="0"/>
                          <a:cs typeface="Roboto" panose="02000000000000000000" pitchFamily="2" charset="0"/>
                        </a:rPr>
                        <a:t>Key Learnings</a:t>
                      </a:r>
                      <a:endParaRPr sz="18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noFill/>
                      <a:miter lim="400000"/>
                    </a:lnR>
                    <a:lnT w="0">
                      <a:miter lim="400000"/>
                    </a:lnT>
                    <a:lnB w="0">
                      <a:noFill/>
                      <a:miter lim="400000"/>
                    </a:lnB>
                    <a:solidFill>
                      <a:schemeClr val="accent1"/>
                    </a:solidFill>
                  </a:tcPr>
                </a:tc>
                <a:tc>
                  <a:txBody>
                    <a:bodyPr/>
                    <a:lstStyle/>
                    <a:p>
                      <a:pPr algn="ctr" defTabSz="1828342">
                        <a:defRPr sz="1800">
                          <a:solidFill>
                            <a:srgbClr val="000000"/>
                          </a:solidFill>
                        </a:defRPr>
                      </a:pPr>
                      <a:r>
                        <a:rPr lang="en-US" sz="1800" b="1" dirty="0">
                          <a:solidFill>
                            <a:schemeClr val="bg1"/>
                          </a:solidFill>
                          <a:latin typeface="Roboto" panose="02000000000000000000" pitchFamily="2" charset="0"/>
                          <a:ea typeface="Roboto" panose="02000000000000000000" pitchFamily="2" charset="0"/>
                          <a:cs typeface="Roboto" panose="02000000000000000000" pitchFamily="2" charset="0"/>
                        </a:rPr>
                        <a:t>Daily Deliverables</a:t>
                      </a:r>
                      <a:endParaRPr sz="18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noFill/>
                      <a:miter lim="400000"/>
                    </a:lnT>
                    <a:lnB w="0">
                      <a:noFill/>
                      <a:miter lim="400000"/>
                    </a:lnB>
                    <a:solidFill>
                      <a:schemeClr val="accent1"/>
                    </a:solidFill>
                  </a:tcPr>
                </a:tc>
                <a:extLst>
                  <a:ext uri="{0D108BD9-81ED-4DB2-BD59-A6C34878D82A}">
                    <a16:rowId xmlns:a16="http://schemas.microsoft.com/office/drawing/2014/main" val="10000"/>
                  </a:ext>
                </a:extLst>
              </a:tr>
              <a:tr h="705771">
                <a:tc>
                  <a:txBody>
                    <a:bodyPr/>
                    <a:lstStyle/>
                    <a:p>
                      <a:pPr marL="0" indent="0" algn="ctr">
                        <a:spcBef>
                          <a:spcPts val="600"/>
                        </a:spcBef>
                        <a:buNone/>
                      </a:pPr>
                      <a:r>
                        <a:rPr lang="en-US" sz="1600" dirty="0">
                          <a:latin typeface="Roboto" panose="02000000000000000000" pitchFamily="2" charset="0"/>
                          <a:ea typeface="Roboto" panose="02000000000000000000" pitchFamily="2" charset="0"/>
                        </a:rPr>
                        <a:t>1</a:t>
                      </a:r>
                    </a:p>
                  </a:txBody>
                  <a:tcPr anchor="ctr" horzOverflow="overflow">
                    <a:lnL w="0">
                      <a:miter lim="400000"/>
                    </a:lnL>
                    <a:lnR w="0">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Analysis</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Key Functions</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diagram</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678048">
                <a:tc>
                  <a:txBody>
                    <a:bodyPr/>
                    <a:lstStyle/>
                    <a:p>
                      <a:pPr marL="0" indent="0" algn="ctr">
                        <a:spcBef>
                          <a:spcPts val="600"/>
                        </a:spcBef>
                        <a:buNone/>
                      </a:pPr>
                      <a:r>
                        <a:rPr lang="en-US" sz="1600" dirty="0">
                          <a:latin typeface="Roboto" panose="02000000000000000000" pitchFamily="2" charset="0"/>
                          <a:ea typeface="Roboto" panose="02000000000000000000" pitchFamily="2" charset="0"/>
                        </a:rPr>
                        <a:t>2</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Back to basics/Nature</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16 Catch Phrases</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Function Sketches</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7 Alternatives (for each process step)</a:t>
                      </a:r>
                    </a:p>
                  </a:txBody>
                  <a:tcP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4040028488"/>
                  </a:ext>
                </a:extLst>
              </a:tr>
              <a:tr h="779563">
                <a:tc>
                  <a:txBody>
                    <a:bodyPr/>
                    <a:lstStyle/>
                    <a:p>
                      <a:pPr marL="0" indent="0" algn="ctr" rtl="0" eaLnBrk="1" latinLnBrk="0" hangingPunct="1">
                        <a:spcBef>
                          <a:spcPts val="600"/>
                        </a:spcBef>
                        <a:buNone/>
                      </a:pPr>
                      <a:r>
                        <a:rPr lang="en-US" sz="1600" kern="1200" dirty="0">
                          <a:solidFill>
                            <a:schemeClr val="bg2">
                              <a:lumMod val="10000"/>
                            </a:schemeClr>
                          </a:solidFill>
                          <a:latin typeface="Roboto" panose="02000000000000000000" pitchFamily="2" charset="0"/>
                          <a:ea typeface="Roboto" panose="02000000000000000000" pitchFamily="2" charset="0"/>
                          <a:cs typeface="Roboto"/>
                        </a:rPr>
                        <a:t>3</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Visual Creativity</a:t>
                      </a:r>
                    </a:p>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Selection Criteria</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Evaluate 7 </a:t>
                      </a:r>
                    </a:p>
                    <a:p>
                      <a:pPr marL="342900" indent="-342900" algn="l" defTabSz="1828342" rtl="0" eaLnBrk="1" latinLnBrk="0" hangingPunct="1">
                        <a:spcBef>
                          <a:spcPts val="600"/>
                        </a:spcBef>
                        <a:buFont typeface="Arial" panose="020B0604020202020204" pitchFamily="34" charset="0"/>
                        <a:buChar char="•"/>
                        <a:defRPr sz="1800">
                          <a:solidFill>
                            <a:srgbClr val="000000"/>
                          </a:solidFill>
                        </a:defRPr>
                      </a:pPr>
                      <a:r>
                        <a:rPr lang="en-US" sz="16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Mockup</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014016">
                <a:tc>
                  <a:txBody>
                    <a:bodyPr/>
                    <a:lstStyle/>
                    <a:p>
                      <a:pPr algn="ctr">
                        <a:spcBef>
                          <a:spcPts val="600"/>
                        </a:spcBef>
                      </a:pPr>
                      <a:r>
                        <a:rPr lang="en-US" sz="1600" dirty="0">
                          <a:solidFill>
                            <a:schemeClr val="bg2">
                              <a:lumMod val="10000"/>
                            </a:schemeClr>
                          </a:solidFill>
                          <a:latin typeface="Roboto" panose="02000000000000000000" pitchFamily="2" charset="0"/>
                          <a:ea typeface="Roboto" panose="02000000000000000000" pitchFamily="2" charset="0"/>
                          <a:cs typeface="Roboto"/>
                        </a:rPr>
                        <a:t>4</a:t>
                      </a:r>
                    </a:p>
                  </a:txBody>
                  <a:tcPr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fr-FR"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Physical Limits/Interfaces</a:t>
                      </a:r>
                    </a:p>
                    <a:p>
                      <a:pPr marL="342900" indent="-342900" algn="l" defTabSz="1828342">
                        <a:spcBef>
                          <a:spcPts val="600"/>
                        </a:spcBef>
                        <a:buFont typeface="Arial" panose="020B0604020202020204" pitchFamily="34" charset="0"/>
                        <a:buChar char="•"/>
                        <a:defRPr sz="1800">
                          <a:solidFill>
                            <a:srgbClr val="000000"/>
                          </a:solidFill>
                        </a:defRPr>
                      </a:pPr>
                      <a:r>
                        <a:rPr lang="fr-FR"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Duration &amp; Effort</a:t>
                      </a:r>
                    </a:p>
                  </a:txBody>
                  <a:tcP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Refine &amp; Combine/Select Top 1</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Process @ Glance</a:t>
                      </a:r>
                    </a:p>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Implementation Plan</a:t>
                      </a:r>
                    </a:p>
                  </a:txBody>
                  <a:tcP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484257">
                <a:tc>
                  <a:txBody>
                    <a:bodyPr/>
                    <a:lstStyle/>
                    <a:p>
                      <a:pPr algn="ctr">
                        <a:spcBef>
                          <a:spcPts val="600"/>
                        </a:spcBef>
                      </a:pPr>
                      <a:r>
                        <a:rPr lang="en-US" sz="1600" dirty="0">
                          <a:solidFill>
                            <a:schemeClr val="bg2">
                              <a:lumMod val="10000"/>
                            </a:schemeClr>
                          </a:solidFill>
                          <a:latin typeface="Roboto" panose="02000000000000000000" pitchFamily="2" charset="0"/>
                          <a:ea typeface="Roboto" panose="02000000000000000000" pitchFamily="2" charset="0"/>
                          <a:cs typeface="Roboto"/>
                        </a:rPr>
                        <a:t>5</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Prepare for Team Final Report-Out</a:t>
                      </a:r>
                    </a:p>
                  </a:txBody>
                  <a:tcP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marL="342900" indent="-342900" algn="l" defTabSz="1828342">
                        <a:spcBef>
                          <a:spcPts val="600"/>
                        </a:spcBef>
                        <a:buFont typeface="Arial" panose="020B0604020202020204" pitchFamily="34" charset="0"/>
                        <a:buChar char="•"/>
                        <a:defRPr sz="1800">
                          <a:solidFill>
                            <a:srgbClr val="000000"/>
                          </a:solidFill>
                        </a:defRPr>
                      </a:pPr>
                      <a:r>
                        <a:rPr lang="en-US" sz="16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Final Report-Out to Management</a:t>
                      </a:r>
                    </a:p>
                  </a:txBody>
                  <a:tcP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2520429682"/>
                  </a:ext>
                </a:extLst>
              </a:tr>
            </a:tbl>
          </a:graphicData>
        </a:graphic>
      </p:graphicFrame>
    </p:spTree>
    <p:extLst>
      <p:ext uri="{BB962C8B-B14F-4D97-AF65-F5344CB8AC3E}">
        <p14:creationId xmlns:p14="http://schemas.microsoft.com/office/powerpoint/2010/main" val="3921350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b="1" i="1" dirty="0"/>
              <a:t>Production Preparation Process </a:t>
            </a:r>
            <a:r>
              <a:rPr lang="en-US" b="1" dirty="0"/>
              <a:t>(3P) is a team approach to concurrent production process and product design that delivers:</a:t>
            </a:r>
          </a:p>
          <a:p>
            <a:pPr lvl="1"/>
            <a:r>
              <a:rPr lang="en-US" dirty="0"/>
              <a:t>Highest customer </a:t>
            </a:r>
            <a:r>
              <a:rPr lang="en-US" b="1" dirty="0"/>
              <a:t>Quality</a:t>
            </a:r>
          </a:p>
          <a:p>
            <a:pPr lvl="1"/>
            <a:r>
              <a:rPr lang="en-US" dirty="0"/>
              <a:t>At the lowest product and capital </a:t>
            </a:r>
            <a:r>
              <a:rPr lang="en-US" b="1" dirty="0"/>
              <a:t>Cost</a:t>
            </a:r>
          </a:p>
          <a:p>
            <a:pPr lvl="1"/>
            <a:r>
              <a:rPr lang="en-US" dirty="0"/>
              <a:t>With better </a:t>
            </a:r>
            <a:r>
              <a:rPr lang="en-US" b="1" dirty="0"/>
              <a:t>Safety</a:t>
            </a:r>
            <a:r>
              <a:rPr lang="en-US" dirty="0"/>
              <a:t>, </a:t>
            </a:r>
            <a:r>
              <a:rPr lang="en-US" b="1" dirty="0"/>
              <a:t>Ergonomics </a:t>
            </a:r>
            <a:r>
              <a:rPr lang="en-US" dirty="0"/>
              <a:t>and </a:t>
            </a:r>
            <a:r>
              <a:rPr lang="en-US" b="1" dirty="0"/>
              <a:t>Less Environmental Impact</a:t>
            </a:r>
          </a:p>
          <a:p>
            <a:pPr lvl="1"/>
            <a:r>
              <a:rPr lang="en-US" dirty="0"/>
              <a:t>For the required </a:t>
            </a:r>
            <a:r>
              <a:rPr lang="en-US" b="1" dirty="0"/>
              <a:t>Volume</a:t>
            </a:r>
          </a:p>
          <a:p>
            <a:pPr lvl="1"/>
            <a:r>
              <a:rPr lang="en-US" dirty="0"/>
              <a:t>Able to </a:t>
            </a:r>
            <a:r>
              <a:rPr lang="en-US" b="1" dirty="0"/>
              <a:t>Flex </a:t>
            </a:r>
            <a:r>
              <a:rPr lang="en-US" dirty="0"/>
              <a:t>to volume changes</a:t>
            </a:r>
          </a:p>
          <a:p>
            <a:pPr lvl="1"/>
            <a:r>
              <a:rPr lang="en-US" b="1" dirty="0"/>
              <a:t>On Time </a:t>
            </a:r>
            <a:r>
              <a:rPr lang="en-US" dirty="0"/>
              <a:t>and in the shortest project </a:t>
            </a:r>
            <a:r>
              <a:rPr lang="en-US" b="1" dirty="0"/>
              <a:t>Lead Time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spTree>
    <p:extLst>
      <p:ext uri="{BB962C8B-B14F-4D97-AF65-F5344CB8AC3E}">
        <p14:creationId xmlns:p14="http://schemas.microsoft.com/office/powerpoint/2010/main" val="1309137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3P Defined</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a:lnSpc>
                <a:spcPct val="105000"/>
              </a:lnSpc>
            </a:pPr>
            <a:r>
              <a:rPr lang="en-US" altLang="en-US" dirty="0"/>
              <a:t>3P is an advanced lean tool typically used by organizations that have experience with other lean methods   </a:t>
            </a:r>
          </a:p>
          <a:p>
            <a:pPr>
              <a:lnSpc>
                <a:spcPct val="105000"/>
              </a:lnSpc>
            </a:pPr>
            <a:r>
              <a:rPr lang="en-US" altLang="en-US" dirty="0"/>
              <a:t>3P focuses on eliminating waste by building quality into the process through product and process design</a:t>
            </a:r>
          </a:p>
          <a:p>
            <a:pPr>
              <a:lnSpc>
                <a:spcPct val="105000"/>
              </a:lnSpc>
            </a:pPr>
            <a:r>
              <a:rPr lang="en-US" altLang="en-US" dirty="0"/>
              <a:t>3P starts with a clean product development slate to rapidly create and test potential product and process designs that require the least time, material, and capital resources </a:t>
            </a:r>
          </a:p>
          <a:p>
            <a:pPr>
              <a:lnSpc>
                <a:spcPct val="105000"/>
              </a:lnSpc>
            </a:pPr>
            <a:r>
              <a:rPr lang="en-US" altLang="en-US" dirty="0"/>
              <a:t>3P involves a diverse team in a multi-day creative process to identify several alternative ways to meet the customer's needs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spTree>
    <p:extLst>
      <p:ext uri="{BB962C8B-B14F-4D97-AF65-F5344CB8AC3E}">
        <p14:creationId xmlns:p14="http://schemas.microsoft.com/office/powerpoint/2010/main" val="1098478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3P</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a:lnSpc>
                <a:spcPct val="105000"/>
              </a:lnSpc>
            </a:pPr>
            <a:r>
              <a:rPr lang="en-US" altLang="en-US" dirty="0"/>
              <a:t>Least waste by integrating the ‘4M’s’ (Man, Material, Machine, Methods) of production into a good flow</a:t>
            </a:r>
          </a:p>
          <a:p>
            <a:pPr>
              <a:lnSpc>
                <a:spcPct val="105000"/>
              </a:lnSpc>
            </a:pPr>
            <a:r>
              <a:rPr lang="en-US" altLang="en-US" dirty="0"/>
              <a:t>Eliminate Muda (waste), Mura (variability), Muri (overloading)</a:t>
            </a:r>
          </a:p>
          <a:p>
            <a:pPr>
              <a:lnSpc>
                <a:spcPct val="105000"/>
              </a:lnSpc>
            </a:pPr>
            <a:r>
              <a:rPr lang="en-US" altLang="en-US" dirty="0"/>
              <a:t>Eliminate the ‘Three D’s’ – dirt, difficult, dangerous</a:t>
            </a:r>
          </a:p>
          <a:p>
            <a:pPr>
              <a:lnSpc>
                <a:spcPct val="105000"/>
              </a:lnSpc>
            </a:pPr>
            <a:r>
              <a:rPr lang="en-US" altLang="en-US" dirty="0"/>
              <a:t>Build quality into the process with Poka-yoke &amp; </a:t>
            </a:r>
            <a:r>
              <a:rPr lang="en-US" altLang="en-US" dirty="0" err="1"/>
              <a:t>Jidoka</a:t>
            </a:r>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spTree>
    <p:extLst>
      <p:ext uri="{BB962C8B-B14F-4D97-AF65-F5344CB8AC3E}">
        <p14:creationId xmlns:p14="http://schemas.microsoft.com/office/powerpoint/2010/main" val="8516102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When to use 3P – Top 5 Reasons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pPr marL="342900" indent="-342900"/>
            <a:r>
              <a:rPr lang="en-US" altLang="en-US" b="1" dirty="0"/>
              <a:t>New product development.</a:t>
            </a:r>
            <a:r>
              <a:rPr lang="en-US" altLang="en-US" dirty="0"/>
              <a:t> </a:t>
            </a:r>
            <a:r>
              <a:rPr lang="en-US" altLang="en-US" b="0" dirty="0"/>
              <a:t>Educate designers in Lean as early as possible.</a:t>
            </a:r>
          </a:p>
          <a:p>
            <a:pPr marL="342900" indent="-342900"/>
            <a:r>
              <a:rPr lang="en-US" altLang="en-US" b="1" dirty="0"/>
              <a:t>Capital expenditure approval.</a:t>
            </a:r>
            <a:r>
              <a:rPr lang="en-US" altLang="en-US" dirty="0"/>
              <a:t> </a:t>
            </a:r>
            <a:r>
              <a:rPr lang="en-US" altLang="en-US" b="0" dirty="0"/>
              <a:t>Don't sign a Cap Ex without first doing 3P.</a:t>
            </a:r>
          </a:p>
          <a:p>
            <a:pPr marL="342900" indent="-342900"/>
            <a:r>
              <a:rPr lang="en-US" altLang="en-US" b="1" dirty="0"/>
              <a:t>Product design changes.</a:t>
            </a:r>
            <a:r>
              <a:rPr lang="en-US" altLang="en-US" dirty="0"/>
              <a:t> </a:t>
            </a:r>
            <a:r>
              <a:rPr lang="en-US" altLang="en-US" b="0" dirty="0"/>
              <a:t>Don</a:t>
            </a:r>
            <a:r>
              <a:rPr lang="ja-JP" altLang="en-US" b="0" dirty="0"/>
              <a:t>’</a:t>
            </a:r>
            <a:r>
              <a:rPr lang="en-US" altLang="ja-JP" b="0" dirty="0"/>
              <a:t>t approve changes without a 3P review.</a:t>
            </a:r>
          </a:p>
          <a:p>
            <a:pPr marL="342900" indent="-342900"/>
            <a:r>
              <a:rPr lang="en-US" altLang="en-US" b="1" dirty="0"/>
              <a:t>Significant changes in volume.</a:t>
            </a:r>
            <a:r>
              <a:rPr lang="en-US" altLang="en-US" dirty="0"/>
              <a:t> </a:t>
            </a:r>
            <a:r>
              <a:rPr lang="en-US" altLang="en-US" b="0" dirty="0"/>
              <a:t>If you didn't design the process Lean, here's a second chance.</a:t>
            </a:r>
          </a:p>
          <a:p>
            <a:pPr marL="342900" indent="-342900"/>
            <a:r>
              <a:rPr lang="en-US" altLang="en-US" b="1" dirty="0"/>
              <a:t>Relocation of processes.</a:t>
            </a:r>
            <a:r>
              <a:rPr lang="en-US" altLang="en-US" dirty="0"/>
              <a:t> </a:t>
            </a:r>
            <a:r>
              <a:rPr lang="en-US" altLang="en-US" b="0" dirty="0"/>
              <a:t>If you're going to pick it up and move it anyway, you might as well Lean it out first.</a:t>
            </a:r>
          </a:p>
          <a:p>
            <a:pPr marL="342900" indent="-342900"/>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spTree>
    <p:extLst>
      <p:ext uri="{BB962C8B-B14F-4D97-AF65-F5344CB8AC3E}">
        <p14:creationId xmlns:p14="http://schemas.microsoft.com/office/powerpoint/2010/main" val="20632351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5" descr="C:\Users\User\Pictures\My Pictures\ALIBRARY\Bought Stock\iStock_000005735314Small.jpg">
            <a:extLst>
              <a:ext uri="{FF2B5EF4-FFF2-40B4-BE49-F238E27FC236}">
                <a16:creationId xmlns:a16="http://schemas.microsoft.com/office/drawing/2014/main" id="{9020E11A-32DE-7C80-E59A-CE9C8148F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7978" y="3726168"/>
            <a:ext cx="2527300" cy="2528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Benefits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Increased sales – extended product life cycle, early adopters increased early stage pricing</a:t>
            </a:r>
          </a:p>
          <a:p>
            <a:r>
              <a:rPr lang="en-US" altLang="en-US" dirty="0"/>
              <a:t>First to market – increase chances of competitor lock-out</a:t>
            </a:r>
          </a:p>
          <a:p>
            <a:r>
              <a:rPr lang="en-US" altLang="en-US" dirty="0"/>
              <a:t>Enhance market image as innovative producer</a:t>
            </a:r>
          </a:p>
          <a:p>
            <a:r>
              <a:rPr lang="en-US" altLang="en-US" dirty="0"/>
              <a:t>Improved product performance</a:t>
            </a:r>
          </a:p>
          <a:p>
            <a:r>
              <a:rPr lang="en-US" altLang="en-US" dirty="0"/>
              <a:t>Reduced production cost – product and capital required</a:t>
            </a:r>
          </a:p>
          <a:p>
            <a:r>
              <a:rPr lang="en-US" altLang="en-US" dirty="0"/>
              <a:t>Reduced development costs</a:t>
            </a:r>
          </a:p>
          <a:p>
            <a:r>
              <a:rPr lang="en-US" altLang="en-US" dirty="0"/>
              <a:t>Increases profitability</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spTree>
    <p:extLst>
      <p:ext uri="{BB962C8B-B14F-4D97-AF65-F5344CB8AC3E}">
        <p14:creationId xmlns:p14="http://schemas.microsoft.com/office/powerpoint/2010/main" val="1469357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Prerequisites for successful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Organizational lean maturity</a:t>
            </a:r>
          </a:p>
          <a:p>
            <a:r>
              <a:rPr lang="en-US" altLang="en-US" dirty="0"/>
              <a:t>Strategic alignment and VOC</a:t>
            </a:r>
          </a:p>
          <a:p>
            <a:r>
              <a:rPr lang="en-US" altLang="en-US" dirty="0"/>
              <a:t>Follow kaizen guidelines</a:t>
            </a:r>
          </a:p>
          <a:p>
            <a:r>
              <a:rPr lang="en-US" altLang="en-US" dirty="0"/>
              <a:t>Cross-functional associate involvement</a:t>
            </a:r>
          </a:p>
          <a:p>
            <a:r>
              <a:rPr lang="en-US" altLang="en-US" dirty="0"/>
              <a:t>Adequate mechanical and design capabilities</a:t>
            </a:r>
          </a:p>
          <a:p>
            <a:r>
              <a:rPr lang="en-US" altLang="en-US" dirty="0"/>
              <a:t>Establish 3P Lab with supplies and staff</a:t>
            </a:r>
          </a:p>
          <a:p>
            <a:r>
              <a:rPr lang="en-US" altLang="en-US" dirty="0"/>
              <a:t>Leadership sponsorship</a:t>
            </a:r>
          </a:p>
          <a:p>
            <a:r>
              <a:rPr lang="en-US" altLang="en-US" dirty="0"/>
              <a:t>Willingness to be revolutionary</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spTree>
    <p:extLst>
      <p:ext uri="{BB962C8B-B14F-4D97-AF65-F5344CB8AC3E}">
        <p14:creationId xmlns:p14="http://schemas.microsoft.com/office/powerpoint/2010/main" val="24148223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C:\Users\Administrator\Documents\iStock_000002548064Small.jpg">
            <a:extLst>
              <a:ext uri="{FF2B5EF4-FFF2-40B4-BE49-F238E27FC236}">
                <a16:creationId xmlns:a16="http://schemas.microsoft.com/office/drawing/2014/main" id="{D6C44FCC-9473-BDC5-2151-1308EA3921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1540" y="4081463"/>
            <a:ext cx="3148013"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Obstacles to Product Development</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altLang="en-US" dirty="0"/>
              <a:t>Chaotic work environment – constant interruptions</a:t>
            </a:r>
          </a:p>
          <a:p>
            <a:r>
              <a:rPr lang="en-US" altLang="en-US" dirty="0"/>
              <a:t>Resources spread too thinly – resource bottlenecks</a:t>
            </a:r>
          </a:p>
          <a:p>
            <a:r>
              <a:rPr lang="en-US" altLang="en-US" dirty="0"/>
              <a:t>Failure to prioritize projects/tasks</a:t>
            </a:r>
          </a:p>
          <a:p>
            <a:r>
              <a:rPr lang="en-US" altLang="en-US" dirty="0"/>
              <a:t>Poor communication and lack of multi-disciplinary team approach</a:t>
            </a:r>
          </a:p>
          <a:p>
            <a:r>
              <a:rPr lang="en-US" altLang="en-US" dirty="0"/>
              <a:t>Poorly defined product requirements and constant changes</a:t>
            </a:r>
          </a:p>
          <a:p>
            <a:r>
              <a:rPr lang="en-US" altLang="en-US" dirty="0"/>
              <a:t>Lack of a formal design process with checkpoints</a:t>
            </a:r>
          </a:p>
          <a:p>
            <a:r>
              <a:rPr lang="en-US" altLang="en-US" dirty="0"/>
              <a:t>Late consideration of manufacturability</a:t>
            </a:r>
          </a:p>
          <a:p>
            <a:r>
              <a:rPr lang="en-US" altLang="en-US" dirty="0"/>
              <a:t>Lack of effort in concept development and evaluation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spTree>
    <p:extLst>
      <p:ext uri="{BB962C8B-B14F-4D97-AF65-F5344CB8AC3E}">
        <p14:creationId xmlns:p14="http://schemas.microsoft.com/office/powerpoint/2010/main" val="2609269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Principles – overarching logic of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err="1"/>
              <a:t>Kaikaku</a:t>
            </a:r>
            <a:r>
              <a:rPr lang="en-US" altLang="en-US" dirty="0"/>
              <a:t> - rapid revolutionary, not incremental evolutionary change</a:t>
            </a:r>
          </a:p>
          <a:p>
            <a:r>
              <a:rPr lang="en-US" altLang="en-US" dirty="0"/>
              <a:t>Cross-functional team based creative design</a:t>
            </a:r>
          </a:p>
          <a:p>
            <a:r>
              <a:rPr lang="en-US" altLang="en-US" dirty="0"/>
              <a:t>Moonshine: sketch, model, simulate, prototype, scale up</a:t>
            </a:r>
          </a:p>
          <a:p>
            <a:r>
              <a:rPr lang="en-US" altLang="en-US" dirty="0"/>
              <a:t>Diverge then converge, then repeat</a:t>
            </a:r>
          </a:p>
          <a:p>
            <a:r>
              <a:rPr lang="en-US" altLang="en-US" dirty="0"/>
              <a:t>Catch Ball and refine</a:t>
            </a:r>
          </a:p>
          <a:p>
            <a:r>
              <a:rPr lang="en-US" altLang="en-US" dirty="0"/>
              <a:t>Design in quality, design out waste</a:t>
            </a:r>
          </a:p>
          <a:p>
            <a:endParaRPr lang="en-US" alt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pic>
        <p:nvPicPr>
          <p:cNvPr id="14" name="Picture 2">
            <a:extLst>
              <a:ext uri="{FF2B5EF4-FFF2-40B4-BE49-F238E27FC236}">
                <a16:creationId xmlns:a16="http://schemas.microsoft.com/office/drawing/2014/main" id="{5201D159-2A62-95F0-1B54-4E391B89A4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2203" y="3843338"/>
            <a:ext cx="3028950" cy="233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14958304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The Four Phases of 3P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20</a:t>
            </a:fld>
            <a:endParaRPr lang="en-US"/>
          </a:p>
        </p:txBody>
      </p:sp>
      <p:grpSp>
        <p:nvGrpSpPr>
          <p:cNvPr id="27" name="Group 26">
            <a:extLst>
              <a:ext uri="{FF2B5EF4-FFF2-40B4-BE49-F238E27FC236}">
                <a16:creationId xmlns:a16="http://schemas.microsoft.com/office/drawing/2014/main" id="{2DBBF929-D12C-D441-4750-B0A06C485242}"/>
              </a:ext>
            </a:extLst>
          </p:cNvPr>
          <p:cNvGrpSpPr/>
          <p:nvPr/>
        </p:nvGrpSpPr>
        <p:grpSpPr>
          <a:xfrm>
            <a:off x="1029811" y="2035194"/>
            <a:ext cx="10132377" cy="3822065"/>
            <a:chOff x="830263" y="1544638"/>
            <a:chExt cx="7383462" cy="4217987"/>
          </a:xfrm>
        </p:grpSpPr>
        <p:sp>
          <p:nvSpPr>
            <p:cNvPr id="13" name="Freeform 4">
              <a:extLst>
                <a:ext uri="{FF2B5EF4-FFF2-40B4-BE49-F238E27FC236}">
                  <a16:creationId xmlns:a16="http://schemas.microsoft.com/office/drawing/2014/main" id="{018601AA-A78D-2964-C74C-611D5370A737}"/>
                </a:ext>
              </a:extLst>
            </p:cNvPr>
            <p:cNvSpPr>
              <a:spLocks noChangeArrowheads="1"/>
            </p:cNvSpPr>
            <p:nvPr/>
          </p:nvSpPr>
          <p:spPr bwMode="auto">
            <a:xfrm>
              <a:off x="882650" y="1544638"/>
              <a:ext cx="1687513" cy="3106737"/>
            </a:xfrm>
            <a:custGeom>
              <a:avLst/>
              <a:gdLst>
                <a:gd name="T0" fmla="*/ 0 w 1119352"/>
                <a:gd name="T1" fmla="*/ 3126342 h 3105807"/>
                <a:gd name="T2" fmla="*/ 0 w 1119352"/>
                <a:gd name="T3" fmla="*/ 0 h 3105807"/>
                <a:gd name="T4" fmla="*/ 2147483646 w 1119352"/>
                <a:gd name="T5" fmla="*/ 269790 h 3105807"/>
                <a:gd name="T6" fmla="*/ 2147483646 w 1119352"/>
                <a:gd name="T7" fmla="*/ 2856556 h 3105807"/>
                <a:gd name="T8" fmla="*/ 0 w 1119352"/>
                <a:gd name="T9" fmla="*/ 3126342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VOC/spec’s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Part Numbers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Drawings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Samples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Interfaces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Volumes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Ramp</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Takt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Process Steps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Target Costs</a:t>
              </a:r>
            </a:p>
          </p:txBody>
        </p:sp>
        <p:sp>
          <p:nvSpPr>
            <p:cNvPr id="14" name="Freeform 5">
              <a:extLst>
                <a:ext uri="{FF2B5EF4-FFF2-40B4-BE49-F238E27FC236}">
                  <a16:creationId xmlns:a16="http://schemas.microsoft.com/office/drawing/2014/main" id="{8AC6A8FE-EF98-67C6-13A7-F9EE851D6F36}"/>
                </a:ext>
              </a:extLst>
            </p:cNvPr>
            <p:cNvSpPr>
              <a:spLocks noChangeArrowheads="1"/>
            </p:cNvSpPr>
            <p:nvPr/>
          </p:nvSpPr>
          <p:spPr bwMode="auto">
            <a:xfrm>
              <a:off x="2533650" y="1989138"/>
              <a:ext cx="1849438" cy="2217737"/>
            </a:xfrm>
            <a:custGeom>
              <a:avLst/>
              <a:gdLst>
                <a:gd name="T0" fmla="*/ 0 w 1119352"/>
                <a:gd name="T1" fmla="*/ 1343 h 3105807"/>
                <a:gd name="T2" fmla="*/ 0 w 1119352"/>
                <a:gd name="T3" fmla="*/ 0 h 3105807"/>
                <a:gd name="T4" fmla="*/ 2147483646 w 1119352"/>
                <a:gd name="T5" fmla="*/ 116 h 3105807"/>
                <a:gd name="T6" fmla="*/ 2147483646 w 1119352"/>
                <a:gd name="T7" fmla="*/ 1227 h 3105807"/>
                <a:gd name="T8" fmla="*/ 0 w 1119352"/>
                <a:gd name="T9" fmla="*/ 1343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7 Alternatives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16 Catchphrases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Simulations</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Model Lab</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Selection</a:t>
              </a:r>
            </a:p>
          </p:txBody>
        </p:sp>
        <p:sp>
          <p:nvSpPr>
            <p:cNvPr id="15" name="Freeform 6">
              <a:extLst>
                <a:ext uri="{FF2B5EF4-FFF2-40B4-BE49-F238E27FC236}">
                  <a16:creationId xmlns:a16="http://schemas.microsoft.com/office/drawing/2014/main" id="{590F97CB-A86A-9044-38F8-106E82CB25B0}"/>
                </a:ext>
              </a:extLst>
            </p:cNvPr>
            <p:cNvSpPr>
              <a:spLocks noChangeArrowheads="1"/>
            </p:cNvSpPr>
            <p:nvPr/>
          </p:nvSpPr>
          <p:spPr bwMode="auto">
            <a:xfrm>
              <a:off x="4356100" y="2346325"/>
              <a:ext cx="1965325" cy="1503363"/>
            </a:xfrm>
            <a:custGeom>
              <a:avLst/>
              <a:gdLst>
                <a:gd name="T0" fmla="*/ 0 w 1119352"/>
                <a:gd name="T1" fmla="*/ 0 h 3105807"/>
                <a:gd name="T2" fmla="*/ 0 w 1119352"/>
                <a:gd name="T3" fmla="*/ 0 h 3105807"/>
                <a:gd name="T4" fmla="*/ 2147483646 w 1119352"/>
                <a:gd name="T5" fmla="*/ 0 h 3105807"/>
                <a:gd name="T6" fmla="*/ 2147483646 w 1119352"/>
                <a:gd name="T7" fmla="*/ 0 h 3105807"/>
                <a:gd name="T8" fmla="*/ 0 w 1119352"/>
                <a:gd name="T9" fmla="*/ 0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3619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Flow Chart</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Takt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Cycle Time</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Equipment Plan</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Process Capacity</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 Work</a:t>
              </a:r>
            </a:p>
            <a:p>
              <a:pPr>
                <a:lnSpc>
                  <a:spcPct val="80000"/>
                </a:lnSpc>
                <a:spcBef>
                  <a:spcPct val="20000"/>
                </a:spcBef>
                <a:spcAft>
                  <a:spcPct val="0"/>
                </a:spcAft>
                <a:buClrTx/>
                <a:buSzTx/>
                <a:buFont typeface="Arial" panose="020B0604020202020204" pitchFamily="34" charset="0"/>
                <a:buChar char="•"/>
              </a:pPr>
              <a:r>
                <a:rPr lang="en-GB" altLang="en-US" sz="1200">
                  <a:solidFill>
                    <a:schemeClr val="bg1"/>
                  </a:solidFill>
                  <a:latin typeface="Roboto" panose="02000000000000000000" pitchFamily="2" charset="0"/>
                  <a:ea typeface="Roboto" panose="02000000000000000000" pitchFamily="2" charset="0"/>
                </a:rPr>
                <a:t>Standard Layout</a:t>
              </a:r>
            </a:p>
          </p:txBody>
        </p:sp>
        <p:sp>
          <p:nvSpPr>
            <p:cNvPr id="16" name="Freeform 7">
              <a:extLst>
                <a:ext uri="{FF2B5EF4-FFF2-40B4-BE49-F238E27FC236}">
                  <a16:creationId xmlns:a16="http://schemas.microsoft.com/office/drawing/2014/main" id="{A50581C9-FD51-06DD-5AC0-A437ED302C0E}"/>
                </a:ext>
              </a:extLst>
            </p:cNvPr>
            <p:cNvSpPr>
              <a:spLocks noChangeArrowheads="1"/>
            </p:cNvSpPr>
            <p:nvPr/>
          </p:nvSpPr>
          <p:spPr bwMode="auto">
            <a:xfrm>
              <a:off x="6211888" y="2774950"/>
              <a:ext cx="1512887" cy="646113"/>
            </a:xfrm>
            <a:custGeom>
              <a:avLst/>
              <a:gdLst>
                <a:gd name="T0" fmla="*/ 0 w 1119352"/>
                <a:gd name="T1" fmla="*/ 0 h 3105807"/>
                <a:gd name="T2" fmla="*/ 0 w 1119352"/>
                <a:gd name="T3" fmla="*/ 0 h 3105807"/>
                <a:gd name="T4" fmla="*/ 1127954804 w 1119352"/>
                <a:gd name="T5" fmla="*/ 0 h 3105807"/>
                <a:gd name="T6" fmla="*/ 1144069839 w 1119352"/>
                <a:gd name="T7" fmla="*/ 0 h 3105807"/>
                <a:gd name="T8" fmla="*/ 0 w 1119352"/>
                <a:gd name="T9" fmla="*/ 0 h 3105807"/>
                <a:gd name="T10" fmla="*/ 0 60000 65536"/>
                <a:gd name="T11" fmla="*/ 0 60000 65536"/>
                <a:gd name="T12" fmla="*/ 0 60000 65536"/>
                <a:gd name="T13" fmla="*/ 0 60000 65536"/>
                <a:gd name="T14" fmla="*/ 0 60000 65536"/>
                <a:gd name="T15" fmla="*/ 0 w 1119352"/>
                <a:gd name="T16" fmla="*/ 0 h 3105807"/>
                <a:gd name="T17" fmla="*/ 1119352 w 1119352"/>
                <a:gd name="T18" fmla="*/ 3105807 h 3105807"/>
              </a:gdLst>
              <a:ahLst/>
              <a:cxnLst>
                <a:cxn ang="T10">
                  <a:pos x="T0" y="T1"/>
                </a:cxn>
                <a:cxn ang="T11">
                  <a:pos x="T2" y="T3"/>
                </a:cxn>
                <a:cxn ang="T12">
                  <a:pos x="T4" y="T5"/>
                </a:cxn>
                <a:cxn ang="T13">
                  <a:pos x="T6" y="T7"/>
                </a:cxn>
                <a:cxn ang="T14">
                  <a:pos x="T8" y="T9"/>
                </a:cxn>
              </a:cxnLst>
              <a:rect l="T15" t="T16" r="T17" b="T18"/>
              <a:pathLst>
                <a:path w="1119352" h="3105807">
                  <a:moveTo>
                    <a:pt x="0" y="3105807"/>
                  </a:moveTo>
                  <a:lnTo>
                    <a:pt x="0" y="0"/>
                  </a:lnTo>
                  <a:lnTo>
                    <a:pt x="1103586" y="268014"/>
                  </a:lnTo>
                  <a:cubicBezTo>
                    <a:pt x="1108841" y="1124607"/>
                    <a:pt x="1114097" y="1981200"/>
                    <a:pt x="1119352" y="2837793"/>
                  </a:cubicBezTo>
                  <a:lnTo>
                    <a:pt x="0" y="3105807"/>
                  </a:lnTo>
                  <a:close/>
                </a:path>
              </a:pathLst>
            </a:cu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95250" indent="-9525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Launch Phase</a:t>
              </a:r>
            </a:p>
          </p:txBody>
        </p:sp>
        <p:sp>
          <p:nvSpPr>
            <p:cNvPr id="17" name="Right Arrow 8">
              <a:extLst>
                <a:ext uri="{FF2B5EF4-FFF2-40B4-BE49-F238E27FC236}">
                  <a16:creationId xmlns:a16="http://schemas.microsoft.com/office/drawing/2014/main" id="{BDFAFE86-8B49-BA4B-4F7C-AA810FA30395}"/>
                </a:ext>
              </a:extLst>
            </p:cNvPr>
            <p:cNvSpPr>
              <a:spLocks noChangeArrowheads="1"/>
            </p:cNvSpPr>
            <p:nvPr/>
          </p:nvSpPr>
          <p:spPr bwMode="auto">
            <a:xfrm>
              <a:off x="7693025" y="2562225"/>
              <a:ext cx="520700" cy="1071563"/>
            </a:xfrm>
            <a:prstGeom prst="rightArrow">
              <a:avLst>
                <a:gd name="adj1" fmla="val 50000"/>
                <a:gd name="adj2" fmla="val 50000"/>
              </a:avLst>
            </a:prstGeom>
            <a:solidFill>
              <a:schemeClr val="accent4"/>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8" name="TextBox 9">
              <a:extLst>
                <a:ext uri="{FF2B5EF4-FFF2-40B4-BE49-F238E27FC236}">
                  <a16:creationId xmlns:a16="http://schemas.microsoft.com/office/drawing/2014/main" id="{B443053A-B7BD-4AD4-91DA-55D6BA11069F}"/>
                </a:ext>
              </a:extLst>
            </p:cNvPr>
            <p:cNvSpPr txBox="1">
              <a:spLocks noChangeArrowheads="1"/>
            </p:cNvSpPr>
            <p:nvPr/>
          </p:nvSpPr>
          <p:spPr bwMode="auto">
            <a:xfrm rot="16200000">
              <a:off x="111919" y="2944019"/>
              <a:ext cx="17446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Information Phase</a:t>
              </a:r>
            </a:p>
          </p:txBody>
        </p:sp>
        <p:sp>
          <p:nvSpPr>
            <p:cNvPr id="19" name="TextBox 10">
              <a:extLst>
                <a:ext uri="{FF2B5EF4-FFF2-40B4-BE49-F238E27FC236}">
                  <a16:creationId xmlns:a16="http://schemas.microsoft.com/office/drawing/2014/main" id="{8F7CE58F-857F-163B-0FD3-697A0745ECF9}"/>
                </a:ext>
              </a:extLst>
            </p:cNvPr>
            <p:cNvSpPr txBox="1">
              <a:spLocks noChangeArrowheads="1"/>
            </p:cNvSpPr>
            <p:nvPr/>
          </p:nvSpPr>
          <p:spPr bwMode="auto">
            <a:xfrm rot="16200000">
              <a:off x="1963122" y="2944118"/>
              <a:ext cx="14077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Creative Phase</a:t>
              </a:r>
            </a:p>
          </p:txBody>
        </p:sp>
        <p:sp>
          <p:nvSpPr>
            <p:cNvPr id="20" name="TextBox 11">
              <a:extLst>
                <a:ext uri="{FF2B5EF4-FFF2-40B4-BE49-F238E27FC236}">
                  <a16:creationId xmlns:a16="http://schemas.microsoft.com/office/drawing/2014/main" id="{3D688BF2-503B-FC80-C5A2-A9450FB762F2}"/>
                </a:ext>
              </a:extLst>
            </p:cNvPr>
            <p:cNvSpPr txBox="1">
              <a:spLocks noChangeArrowheads="1"/>
            </p:cNvSpPr>
            <p:nvPr/>
          </p:nvSpPr>
          <p:spPr bwMode="auto">
            <a:xfrm rot="16200000">
              <a:off x="3745342" y="2944118"/>
              <a:ext cx="151996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solidFill>
                    <a:schemeClr val="bg1"/>
                  </a:solidFill>
                  <a:latin typeface="Roboto" panose="02000000000000000000" pitchFamily="2" charset="0"/>
                  <a:ea typeface="Roboto" panose="02000000000000000000" pitchFamily="2" charset="0"/>
                </a:rPr>
                <a:t>Definition Phase</a:t>
              </a:r>
            </a:p>
          </p:txBody>
        </p:sp>
        <p:sp>
          <p:nvSpPr>
            <p:cNvPr id="21" name="Left Brace 12">
              <a:extLst>
                <a:ext uri="{FF2B5EF4-FFF2-40B4-BE49-F238E27FC236}">
                  <a16:creationId xmlns:a16="http://schemas.microsoft.com/office/drawing/2014/main" id="{89EF9829-0CC6-38DC-C2D7-FE62DFCB52CD}"/>
                </a:ext>
              </a:extLst>
            </p:cNvPr>
            <p:cNvSpPr>
              <a:spLocks/>
            </p:cNvSpPr>
            <p:nvPr/>
          </p:nvSpPr>
          <p:spPr bwMode="auto">
            <a:xfrm rot="16200000">
              <a:off x="1481931" y="4129882"/>
              <a:ext cx="409575" cy="1624012"/>
            </a:xfrm>
            <a:prstGeom prst="leftBrace">
              <a:avLst>
                <a:gd name="adj1" fmla="val 8334"/>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2" name="Left Brace 13">
              <a:extLst>
                <a:ext uri="{FF2B5EF4-FFF2-40B4-BE49-F238E27FC236}">
                  <a16:creationId xmlns:a16="http://schemas.microsoft.com/office/drawing/2014/main" id="{C8CD7729-DD30-010C-A428-EEE52ED854D4}"/>
                </a:ext>
              </a:extLst>
            </p:cNvPr>
            <p:cNvSpPr>
              <a:spLocks/>
            </p:cNvSpPr>
            <p:nvPr/>
          </p:nvSpPr>
          <p:spPr bwMode="auto">
            <a:xfrm rot="16200000">
              <a:off x="3606800" y="3713163"/>
              <a:ext cx="409575" cy="2479675"/>
            </a:xfrm>
            <a:prstGeom prst="leftBrace">
              <a:avLst>
                <a:gd name="adj1" fmla="val 8353"/>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3" name="Left Brace 14">
              <a:extLst>
                <a:ext uri="{FF2B5EF4-FFF2-40B4-BE49-F238E27FC236}">
                  <a16:creationId xmlns:a16="http://schemas.microsoft.com/office/drawing/2014/main" id="{9C3D008E-444E-5E76-254F-F156DFE7255F}"/>
                </a:ext>
              </a:extLst>
            </p:cNvPr>
            <p:cNvSpPr>
              <a:spLocks/>
            </p:cNvSpPr>
            <p:nvPr/>
          </p:nvSpPr>
          <p:spPr bwMode="auto">
            <a:xfrm rot="16200000">
              <a:off x="6353970" y="3532981"/>
              <a:ext cx="411162" cy="2847975"/>
            </a:xfrm>
            <a:prstGeom prst="leftBrace">
              <a:avLst>
                <a:gd name="adj1" fmla="val 8306"/>
                <a:gd name="adj2" fmla="val 50000"/>
              </a:avLst>
            </a:pr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4" name="TextBox 15">
              <a:extLst>
                <a:ext uri="{FF2B5EF4-FFF2-40B4-BE49-F238E27FC236}">
                  <a16:creationId xmlns:a16="http://schemas.microsoft.com/office/drawing/2014/main" id="{CB27FE8F-EB21-11FB-1559-D74CFEAB124B}"/>
                </a:ext>
              </a:extLst>
            </p:cNvPr>
            <p:cNvSpPr txBox="1">
              <a:spLocks noChangeArrowheads="1"/>
            </p:cNvSpPr>
            <p:nvPr/>
          </p:nvSpPr>
          <p:spPr bwMode="auto">
            <a:xfrm>
              <a:off x="1025525" y="5422900"/>
              <a:ext cx="11842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Kickoff</a:t>
              </a:r>
            </a:p>
          </p:txBody>
        </p:sp>
        <p:sp>
          <p:nvSpPr>
            <p:cNvPr id="25" name="TextBox 16">
              <a:extLst>
                <a:ext uri="{FF2B5EF4-FFF2-40B4-BE49-F238E27FC236}">
                  <a16:creationId xmlns:a16="http://schemas.microsoft.com/office/drawing/2014/main" id="{7652D6CB-7D4F-B1BD-2BDB-DCB1BA9E5799}"/>
                </a:ext>
              </a:extLst>
            </p:cNvPr>
            <p:cNvSpPr txBox="1">
              <a:spLocks noChangeArrowheads="1"/>
            </p:cNvSpPr>
            <p:nvPr/>
          </p:nvSpPr>
          <p:spPr bwMode="auto">
            <a:xfrm>
              <a:off x="3291447" y="5422900"/>
              <a:ext cx="100059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Event</a:t>
              </a:r>
            </a:p>
          </p:txBody>
        </p:sp>
        <p:sp>
          <p:nvSpPr>
            <p:cNvPr id="26" name="TextBox 17">
              <a:extLst>
                <a:ext uri="{FF2B5EF4-FFF2-40B4-BE49-F238E27FC236}">
                  <a16:creationId xmlns:a16="http://schemas.microsoft.com/office/drawing/2014/main" id="{CA930D36-7C88-3252-A507-274C5C098841}"/>
                </a:ext>
              </a:extLst>
            </p:cNvPr>
            <p:cNvSpPr txBox="1">
              <a:spLocks noChangeArrowheads="1"/>
            </p:cNvSpPr>
            <p:nvPr/>
          </p:nvSpPr>
          <p:spPr bwMode="auto">
            <a:xfrm>
              <a:off x="5299075" y="5422900"/>
              <a:ext cx="2006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3P Implementation</a:t>
              </a:r>
            </a:p>
          </p:txBody>
        </p:sp>
      </p:grpSp>
    </p:spTree>
    <p:extLst>
      <p:ext uri="{BB962C8B-B14F-4D97-AF65-F5344CB8AC3E}">
        <p14:creationId xmlns:p14="http://schemas.microsoft.com/office/powerpoint/2010/main" val="2688973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Product and Production Interaction</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65" name="Group 64">
            <a:extLst>
              <a:ext uri="{FF2B5EF4-FFF2-40B4-BE49-F238E27FC236}">
                <a16:creationId xmlns:a16="http://schemas.microsoft.com/office/drawing/2014/main" id="{277944CC-71CC-974D-3683-E60468988ABB}"/>
              </a:ext>
            </a:extLst>
          </p:cNvPr>
          <p:cNvGrpSpPr/>
          <p:nvPr/>
        </p:nvGrpSpPr>
        <p:grpSpPr>
          <a:xfrm>
            <a:off x="2525717" y="1783428"/>
            <a:ext cx="6772275" cy="4530059"/>
            <a:chOff x="992188" y="1490663"/>
            <a:chExt cx="6772275" cy="4622800"/>
          </a:xfrm>
        </p:grpSpPr>
        <p:sp>
          <p:nvSpPr>
            <p:cNvPr id="28" name="Rectangle 3">
              <a:extLst>
                <a:ext uri="{FF2B5EF4-FFF2-40B4-BE49-F238E27FC236}">
                  <a16:creationId xmlns:a16="http://schemas.microsoft.com/office/drawing/2014/main" id="{752A34B0-EDCB-BC5E-4707-A32E10A98E50}"/>
                </a:ext>
              </a:extLst>
            </p:cNvPr>
            <p:cNvSpPr>
              <a:spLocks noChangeArrowheads="1"/>
            </p:cNvSpPr>
            <p:nvPr/>
          </p:nvSpPr>
          <p:spPr bwMode="auto">
            <a:xfrm>
              <a:off x="992188" y="1490663"/>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A</a:t>
              </a:r>
              <a:r>
                <a:rPr lang="en-GB" altLang="en-US" sz="1200">
                  <a:solidFill>
                    <a:schemeClr val="bg1"/>
                  </a:solidFill>
                  <a:latin typeface="Roboto" panose="02000000000000000000" pitchFamily="2" charset="0"/>
                  <a:ea typeface="Roboto" panose="02000000000000000000" pitchFamily="2" charset="0"/>
                </a:rPr>
                <a:t>. 	Product Planning</a:t>
              </a:r>
            </a:p>
          </p:txBody>
        </p:sp>
        <p:sp>
          <p:nvSpPr>
            <p:cNvPr id="29" name="Rectangle 4">
              <a:extLst>
                <a:ext uri="{FF2B5EF4-FFF2-40B4-BE49-F238E27FC236}">
                  <a16:creationId xmlns:a16="http://schemas.microsoft.com/office/drawing/2014/main" id="{B4BB1048-BA54-AFCE-249C-22A93E668062}"/>
                </a:ext>
              </a:extLst>
            </p:cNvPr>
            <p:cNvSpPr>
              <a:spLocks noChangeArrowheads="1"/>
            </p:cNvSpPr>
            <p:nvPr/>
          </p:nvSpPr>
          <p:spPr bwMode="auto">
            <a:xfrm>
              <a:off x="992188" y="2116138"/>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dirty="0">
                  <a:solidFill>
                    <a:schemeClr val="bg1"/>
                  </a:solidFill>
                  <a:latin typeface="Roboto" panose="02000000000000000000" pitchFamily="2" charset="0"/>
                  <a:ea typeface="Roboto" panose="02000000000000000000" pitchFamily="2" charset="0"/>
                </a:rPr>
                <a:t>B</a:t>
              </a:r>
              <a:r>
                <a:rPr lang="en-GB" altLang="en-US" sz="1200" dirty="0">
                  <a:solidFill>
                    <a:schemeClr val="bg1"/>
                  </a:solidFill>
                  <a:latin typeface="Roboto" panose="02000000000000000000" pitchFamily="2" charset="0"/>
                  <a:ea typeface="Roboto" panose="02000000000000000000" pitchFamily="2" charset="0"/>
                </a:rPr>
                <a:t>. 	Function Definition</a:t>
              </a:r>
            </a:p>
          </p:txBody>
        </p:sp>
        <p:sp>
          <p:nvSpPr>
            <p:cNvPr id="30" name="Rectangle 5">
              <a:extLst>
                <a:ext uri="{FF2B5EF4-FFF2-40B4-BE49-F238E27FC236}">
                  <a16:creationId xmlns:a16="http://schemas.microsoft.com/office/drawing/2014/main" id="{F0601C90-D740-4F27-F324-B1C687612E9E}"/>
                </a:ext>
              </a:extLst>
            </p:cNvPr>
            <p:cNvSpPr>
              <a:spLocks noChangeArrowheads="1"/>
            </p:cNvSpPr>
            <p:nvPr/>
          </p:nvSpPr>
          <p:spPr bwMode="auto">
            <a:xfrm>
              <a:off x="992188" y="2743200"/>
              <a:ext cx="1370012" cy="427038"/>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C</a:t>
              </a:r>
              <a:r>
                <a:rPr lang="en-GB" altLang="en-US" sz="1200">
                  <a:solidFill>
                    <a:schemeClr val="bg1"/>
                  </a:solidFill>
                  <a:latin typeface="Roboto" panose="02000000000000000000" pitchFamily="2" charset="0"/>
                  <a:ea typeface="Roboto" panose="02000000000000000000" pitchFamily="2" charset="0"/>
                </a:rPr>
                <a:t>. 	Product Alternatives</a:t>
              </a:r>
            </a:p>
          </p:txBody>
        </p:sp>
        <p:sp>
          <p:nvSpPr>
            <p:cNvPr id="31" name="Rectangle 6">
              <a:extLst>
                <a:ext uri="{FF2B5EF4-FFF2-40B4-BE49-F238E27FC236}">
                  <a16:creationId xmlns:a16="http://schemas.microsoft.com/office/drawing/2014/main" id="{44D0818F-4D21-526A-D2AF-320C2906CE95}"/>
                </a:ext>
              </a:extLst>
            </p:cNvPr>
            <p:cNvSpPr>
              <a:spLocks noChangeArrowheads="1"/>
            </p:cNvSpPr>
            <p:nvPr/>
          </p:nvSpPr>
          <p:spPr bwMode="auto">
            <a:xfrm>
              <a:off x="992188" y="3370263"/>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dirty="0">
                  <a:solidFill>
                    <a:schemeClr val="bg1"/>
                  </a:solidFill>
                  <a:latin typeface="Roboto" panose="02000000000000000000" pitchFamily="2" charset="0"/>
                  <a:ea typeface="Roboto" panose="02000000000000000000" pitchFamily="2" charset="0"/>
                </a:rPr>
                <a:t>D</a:t>
              </a:r>
              <a:r>
                <a:rPr lang="en-GB" altLang="en-US" sz="1200" dirty="0">
                  <a:solidFill>
                    <a:schemeClr val="bg1"/>
                  </a:solidFill>
                  <a:latin typeface="Roboto" panose="02000000000000000000" pitchFamily="2" charset="0"/>
                  <a:ea typeface="Roboto" panose="02000000000000000000" pitchFamily="2" charset="0"/>
                </a:rPr>
                <a:t>. 	Refine and Test</a:t>
              </a:r>
            </a:p>
          </p:txBody>
        </p:sp>
        <p:sp>
          <p:nvSpPr>
            <p:cNvPr id="32" name="Rectangle 8">
              <a:extLst>
                <a:ext uri="{FF2B5EF4-FFF2-40B4-BE49-F238E27FC236}">
                  <a16:creationId xmlns:a16="http://schemas.microsoft.com/office/drawing/2014/main" id="{6405F26E-63BB-2183-CB92-A077F8C10E6B}"/>
                </a:ext>
              </a:extLst>
            </p:cNvPr>
            <p:cNvSpPr>
              <a:spLocks noChangeArrowheads="1"/>
            </p:cNvSpPr>
            <p:nvPr/>
          </p:nvSpPr>
          <p:spPr bwMode="auto">
            <a:xfrm>
              <a:off x="992188" y="4403725"/>
              <a:ext cx="1370012" cy="425450"/>
            </a:xfrm>
            <a:prstGeom prst="rect">
              <a:avLst/>
            </a:prstGeom>
            <a:solidFill>
              <a:schemeClr val="accent6"/>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E</a:t>
              </a:r>
              <a:r>
                <a:rPr lang="en-GB" altLang="en-US" sz="1200">
                  <a:solidFill>
                    <a:schemeClr val="bg1"/>
                  </a:solidFill>
                  <a:latin typeface="Roboto" panose="02000000000000000000" pitchFamily="2" charset="0"/>
                  <a:ea typeface="Roboto" panose="02000000000000000000" pitchFamily="2" charset="0"/>
                </a:rPr>
                <a:t>. 	Detail Design</a:t>
              </a:r>
            </a:p>
          </p:txBody>
        </p:sp>
        <p:sp>
          <p:nvSpPr>
            <p:cNvPr id="33" name="Rectangle 9">
              <a:extLst>
                <a:ext uri="{FF2B5EF4-FFF2-40B4-BE49-F238E27FC236}">
                  <a16:creationId xmlns:a16="http://schemas.microsoft.com/office/drawing/2014/main" id="{500FC25C-CD96-DDBD-2EF3-5E89B90D09FC}"/>
                </a:ext>
              </a:extLst>
            </p:cNvPr>
            <p:cNvSpPr>
              <a:spLocks noChangeArrowheads="1"/>
            </p:cNvSpPr>
            <p:nvPr/>
          </p:nvSpPr>
          <p:spPr bwMode="auto">
            <a:xfrm>
              <a:off x="992188" y="5056188"/>
              <a:ext cx="1370012"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9</a:t>
              </a:r>
              <a:r>
                <a:rPr lang="en-GB" altLang="en-US" sz="1200">
                  <a:solidFill>
                    <a:schemeClr val="bg1"/>
                  </a:solidFill>
                  <a:latin typeface="Roboto" panose="02000000000000000000" pitchFamily="2" charset="0"/>
                  <a:ea typeface="Roboto" panose="02000000000000000000" pitchFamily="2" charset="0"/>
                </a:rPr>
                <a:t>. 	Volume Production</a:t>
              </a:r>
            </a:p>
          </p:txBody>
        </p:sp>
        <p:sp>
          <p:nvSpPr>
            <p:cNvPr id="34" name="Rectangle 10">
              <a:extLst>
                <a:ext uri="{FF2B5EF4-FFF2-40B4-BE49-F238E27FC236}">
                  <a16:creationId xmlns:a16="http://schemas.microsoft.com/office/drawing/2014/main" id="{F54B3F80-B427-50F6-2D09-C2CF610A6CBB}"/>
                </a:ext>
              </a:extLst>
            </p:cNvPr>
            <p:cNvSpPr>
              <a:spLocks noChangeArrowheads="1"/>
            </p:cNvSpPr>
            <p:nvPr/>
          </p:nvSpPr>
          <p:spPr bwMode="auto">
            <a:xfrm>
              <a:off x="3649663" y="50561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8</a:t>
              </a:r>
              <a:r>
                <a:rPr lang="en-GB" altLang="en-US" sz="1200">
                  <a:solidFill>
                    <a:schemeClr val="bg1"/>
                  </a:solidFill>
                  <a:latin typeface="Roboto" panose="02000000000000000000" pitchFamily="2" charset="0"/>
                  <a:ea typeface="Roboto" panose="02000000000000000000" pitchFamily="2" charset="0"/>
                </a:rPr>
                <a:t>. 	Process Pilot</a:t>
              </a:r>
            </a:p>
          </p:txBody>
        </p:sp>
        <p:sp>
          <p:nvSpPr>
            <p:cNvPr id="35" name="Rectangle 11">
              <a:extLst>
                <a:ext uri="{FF2B5EF4-FFF2-40B4-BE49-F238E27FC236}">
                  <a16:creationId xmlns:a16="http://schemas.microsoft.com/office/drawing/2014/main" id="{29B0B0C6-F93B-2FF0-7081-EC42FDFC688C}"/>
                </a:ext>
              </a:extLst>
            </p:cNvPr>
            <p:cNvSpPr>
              <a:spLocks noChangeArrowheads="1"/>
            </p:cNvSpPr>
            <p:nvPr/>
          </p:nvSpPr>
          <p:spPr bwMode="auto">
            <a:xfrm>
              <a:off x="6396038" y="50561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7</a:t>
              </a:r>
              <a:r>
                <a:rPr lang="en-GB" altLang="en-US" sz="1200">
                  <a:solidFill>
                    <a:schemeClr val="bg1"/>
                  </a:solidFill>
                  <a:latin typeface="Roboto" panose="02000000000000000000" pitchFamily="2" charset="0"/>
                  <a:ea typeface="Roboto" panose="02000000000000000000" pitchFamily="2" charset="0"/>
                </a:rPr>
                <a:t>. 	Equipment Procurement</a:t>
              </a:r>
            </a:p>
          </p:txBody>
        </p:sp>
        <p:sp>
          <p:nvSpPr>
            <p:cNvPr id="36" name="Rectangle 12">
              <a:extLst>
                <a:ext uri="{FF2B5EF4-FFF2-40B4-BE49-F238E27FC236}">
                  <a16:creationId xmlns:a16="http://schemas.microsoft.com/office/drawing/2014/main" id="{2FAA9315-4999-1A65-32D8-1A89AC18274E}"/>
                </a:ext>
              </a:extLst>
            </p:cNvPr>
            <p:cNvSpPr>
              <a:spLocks noChangeArrowheads="1"/>
            </p:cNvSpPr>
            <p:nvPr/>
          </p:nvSpPr>
          <p:spPr bwMode="auto">
            <a:xfrm>
              <a:off x="3649663" y="3806825"/>
              <a:ext cx="1368425" cy="54610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4</a:t>
              </a:r>
              <a:r>
                <a:rPr lang="en-GB" altLang="en-US" sz="1200">
                  <a:solidFill>
                    <a:schemeClr val="bg1"/>
                  </a:solidFill>
                  <a:latin typeface="Roboto" panose="02000000000000000000" pitchFamily="2" charset="0"/>
                  <a:ea typeface="Roboto" panose="02000000000000000000" pitchFamily="2" charset="0"/>
                </a:rPr>
                <a:t>. 	Trials: Design &amp; Process</a:t>
              </a:r>
            </a:p>
          </p:txBody>
        </p:sp>
        <p:sp>
          <p:nvSpPr>
            <p:cNvPr id="37" name="Rectangle 14">
              <a:extLst>
                <a:ext uri="{FF2B5EF4-FFF2-40B4-BE49-F238E27FC236}">
                  <a16:creationId xmlns:a16="http://schemas.microsoft.com/office/drawing/2014/main" id="{3C5ACA90-CE88-40EF-70E8-EF6E2BCF3CC4}"/>
                </a:ext>
              </a:extLst>
            </p:cNvPr>
            <p:cNvSpPr>
              <a:spLocks noChangeArrowheads="1"/>
            </p:cNvSpPr>
            <p:nvPr/>
          </p:nvSpPr>
          <p:spPr bwMode="auto">
            <a:xfrm>
              <a:off x="6396038" y="4403725"/>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6</a:t>
              </a:r>
              <a:r>
                <a:rPr lang="en-GB" altLang="en-US" sz="1200">
                  <a:solidFill>
                    <a:schemeClr val="bg1"/>
                  </a:solidFill>
                  <a:latin typeface="Roboto" panose="02000000000000000000" pitchFamily="2" charset="0"/>
                  <a:ea typeface="Roboto" panose="02000000000000000000" pitchFamily="2" charset="0"/>
                </a:rPr>
                <a:t>. 	Equipment Planning</a:t>
              </a:r>
            </a:p>
          </p:txBody>
        </p:sp>
        <p:sp>
          <p:nvSpPr>
            <p:cNvPr id="38" name="Rectangle 15">
              <a:extLst>
                <a:ext uri="{FF2B5EF4-FFF2-40B4-BE49-F238E27FC236}">
                  <a16:creationId xmlns:a16="http://schemas.microsoft.com/office/drawing/2014/main" id="{7507D851-168C-9640-3268-C256EBCFB5A2}"/>
                </a:ext>
              </a:extLst>
            </p:cNvPr>
            <p:cNvSpPr>
              <a:spLocks noChangeArrowheads="1"/>
            </p:cNvSpPr>
            <p:nvPr/>
          </p:nvSpPr>
          <p:spPr bwMode="auto">
            <a:xfrm>
              <a:off x="6396038" y="3544888"/>
              <a:ext cx="1368425" cy="5778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5</a:t>
              </a:r>
              <a:r>
                <a:rPr lang="en-GB" altLang="en-US" sz="1200">
                  <a:solidFill>
                    <a:schemeClr val="bg1"/>
                  </a:solidFill>
                  <a:latin typeface="Roboto" panose="02000000000000000000" pitchFamily="2" charset="0"/>
                  <a:ea typeface="Roboto" panose="02000000000000000000" pitchFamily="2" charset="0"/>
                </a:rPr>
                <a:t>. 	Detail Production Process</a:t>
              </a:r>
            </a:p>
          </p:txBody>
        </p:sp>
        <p:sp>
          <p:nvSpPr>
            <p:cNvPr id="39" name="Rectangle 16">
              <a:extLst>
                <a:ext uri="{FF2B5EF4-FFF2-40B4-BE49-F238E27FC236}">
                  <a16:creationId xmlns:a16="http://schemas.microsoft.com/office/drawing/2014/main" id="{CC071CD3-3A9D-ECCF-002F-5CB72B92A6CD}"/>
                </a:ext>
              </a:extLst>
            </p:cNvPr>
            <p:cNvSpPr>
              <a:spLocks noChangeArrowheads="1"/>
            </p:cNvSpPr>
            <p:nvPr/>
          </p:nvSpPr>
          <p:spPr bwMode="auto">
            <a:xfrm>
              <a:off x="6396038" y="288448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3</a:t>
              </a:r>
              <a:r>
                <a:rPr lang="en-GB" altLang="en-US" sz="1200">
                  <a:solidFill>
                    <a:schemeClr val="bg1"/>
                  </a:solidFill>
                  <a:latin typeface="Roboto" panose="02000000000000000000" pitchFamily="2" charset="0"/>
                  <a:ea typeface="Roboto" panose="02000000000000000000" pitchFamily="2" charset="0"/>
                </a:rPr>
                <a:t>. 	Refine and Test</a:t>
              </a:r>
            </a:p>
          </p:txBody>
        </p:sp>
        <p:sp>
          <p:nvSpPr>
            <p:cNvPr id="40" name="Rectangle 17">
              <a:extLst>
                <a:ext uri="{FF2B5EF4-FFF2-40B4-BE49-F238E27FC236}">
                  <a16:creationId xmlns:a16="http://schemas.microsoft.com/office/drawing/2014/main" id="{F79AF7C2-0D73-DD05-306B-5B3283745AE3}"/>
                </a:ext>
              </a:extLst>
            </p:cNvPr>
            <p:cNvSpPr>
              <a:spLocks noChangeArrowheads="1"/>
            </p:cNvSpPr>
            <p:nvPr/>
          </p:nvSpPr>
          <p:spPr bwMode="auto">
            <a:xfrm>
              <a:off x="6396038" y="2192338"/>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2</a:t>
              </a:r>
              <a:r>
                <a:rPr lang="en-GB" altLang="en-US" sz="1200">
                  <a:solidFill>
                    <a:schemeClr val="bg1"/>
                  </a:solidFill>
                  <a:latin typeface="Roboto" panose="02000000000000000000" pitchFamily="2" charset="0"/>
                  <a:ea typeface="Roboto" panose="02000000000000000000" pitchFamily="2" charset="0"/>
                </a:rPr>
                <a:t>. 	Process Alternatives</a:t>
              </a:r>
            </a:p>
          </p:txBody>
        </p:sp>
        <p:sp>
          <p:nvSpPr>
            <p:cNvPr id="41" name="Rectangle 18">
              <a:extLst>
                <a:ext uri="{FF2B5EF4-FFF2-40B4-BE49-F238E27FC236}">
                  <a16:creationId xmlns:a16="http://schemas.microsoft.com/office/drawing/2014/main" id="{7E97859B-74AD-897E-5C2C-95517FC0838D}"/>
                </a:ext>
              </a:extLst>
            </p:cNvPr>
            <p:cNvSpPr>
              <a:spLocks noChangeArrowheads="1"/>
            </p:cNvSpPr>
            <p:nvPr/>
          </p:nvSpPr>
          <p:spPr bwMode="auto">
            <a:xfrm>
              <a:off x="6396038" y="1490663"/>
              <a:ext cx="1368425" cy="425450"/>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a:t>
              </a:r>
              <a:r>
                <a:rPr lang="en-GB" altLang="en-US" sz="1200">
                  <a:solidFill>
                    <a:schemeClr val="bg1"/>
                  </a:solidFill>
                  <a:latin typeface="Roboto" panose="02000000000000000000" pitchFamily="2" charset="0"/>
                  <a:ea typeface="Roboto" panose="02000000000000000000" pitchFamily="2" charset="0"/>
                </a:rPr>
                <a:t>. 	Production Planning</a:t>
              </a:r>
            </a:p>
          </p:txBody>
        </p:sp>
        <p:cxnSp>
          <p:nvCxnSpPr>
            <p:cNvPr id="42" name="Straight Arrow Connector 29">
              <a:extLst>
                <a:ext uri="{FF2B5EF4-FFF2-40B4-BE49-F238E27FC236}">
                  <a16:creationId xmlns:a16="http://schemas.microsoft.com/office/drawing/2014/main" id="{FFA71C9B-83DB-C609-EE01-126AEC5607A4}"/>
                </a:ext>
              </a:extLst>
            </p:cNvPr>
            <p:cNvCxnSpPr>
              <a:cxnSpLocks noChangeShapeType="1"/>
              <a:stCxn id="28" idx="2"/>
              <a:endCxn id="29" idx="0"/>
            </p:cNvCxnSpPr>
            <p:nvPr/>
          </p:nvCxnSpPr>
          <p:spPr bwMode="auto">
            <a:xfrm rot="5400000">
              <a:off x="1584325" y="2008188"/>
              <a:ext cx="185737"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3" name="Straight Arrow Connector 31">
              <a:extLst>
                <a:ext uri="{FF2B5EF4-FFF2-40B4-BE49-F238E27FC236}">
                  <a16:creationId xmlns:a16="http://schemas.microsoft.com/office/drawing/2014/main" id="{F81DE2D0-3A6A-DC46-B91B-4BE654FD4EBC}"/>
                </a:ext>
              </a:extLst>
            </p:cNvPr>
            <p:cNvCxnSpPr>
              <a:cxnSpLocks noChangeShapeType="1"/>
              <a:stCxn id="29" idx="2"/>
              <a:endCxn id="30" idx="0"/>
            </p:cNvCxnSpPr>
            <p:nvPr/>
          </p:nvCxnSpPr>
          <p:spPr bwMode="auto">
            <a:xfrm rot="5400000">
              <a:off x="1573212" y="2630488"/>
              <a:ext cx="2079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4" name="Straight Arrow Connector 33">
              <a:extLst>
                <a:ext uri="{FF2B5EF4-FFF2-40B4-BE49-F238E27FC236}">
                  <a16:creationId xmlns:a16="http://schemas.microsoft.com/office/drawing/2014/main" id="{D2F8CD37-B1AD-650F-4A0D-FAB885448F75}"/>
                </a:ext>
              </a:extLst>
            </p:cNvPr>
            <p:cNvCxnSpPr>
              <a:cxnSpLocks noChangeShapeType="1"/>
              <a:stCxn id="30" idx="2"/>
              <a:endCxn id="31" idx="0"/>
            </p:cNvCxnSpPr>
            <p:nvPr/>
          </p:nvCxnSpPr>
          <p:spPr bwMode="auto">
            <a:xfrm rot="5400000">
              <a:off x="1573212" y="3265488"/>
              <a:ext cx="2079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5" name="Straight Arrow Connector 39">
              <a:extLst>
                <a:ext uri="{FF2B5EF4-FFF2-40B4-BE49-F238E27FC236}">
                  <a16:creationId xmlns:a16="http://schemas.microsoft.com/office/drawing/2014/main" id="{225F30E3-9429-56C7-A97F-1125CC210415}"/>
                </a:ext>
              </a:extLst>
            </p:cNvPr>
            <p:cNvCxnSpPr>
              <a:cxnSpLocks noChangeShapeType="1"/>
              <a:stCxn id="41" idx="2"/>
              <a:endCxn id="40" idx="0"/>
            </p:cNvCxnSpPr>
            <p:nvPr/>
          </p:nvCxnSpPr>
          <p:spPr bwMode="auto">
            <a:xfrm rot="5400000">
              <a:off x="6942931" y="2053432"/>
              <a:ext cx="276225"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6" name="Straight Arrow Connector 41">
              <a:extLst>
                <a:ext uri="{FF2B5EF4-FFF2-40B4-BE49-F238E27FC236}">
                  <a16:creationId xmlns:a16="http://schemas.microsoft.com/office/drawing/2014/main" id="{03DD0A0C-4292-115E-C111-60091589AF8F}"/>
                </a:ext>
              </a:extLst>
            </p:cNvPr>
            <p:cNvCxnSpPr>
              <a:cxnSpLocks noChangeShapeType="1"/>
              <a:stCxn id="40" idx="2"/>
              <a:endCxn id="39" idx="0"/>
            </p:cNvCxnSpPr>
            <p:nvPr/>
          </p:nvCxnSpPr>
          <p:spPr bwMode="auto">
            <a:xfrm rot="5400000">
              <a:off x="6946107" y="2750344"/>
              <a:ext cx="26670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7" name="Straight Arrow Connector 43">
              <a:extLst>
                <a:ext uri="{FF2B5EF4-FFF2-40B4-BE49-F238E27FC236}">
                  <a16:creationId xmlns:a16="http://schemas.microsoft.com/office/drawing/2014/main" id="{0FCCDCC6-47DF-D56F-D21B-77B33039A341}"/>
                </a:ext>
              </a:extLst>
            </p:cNvPr>
            <p:cNvCxnSpPr>
              <a:cxnSpLocks noChangeShapeType="1"/>
              <a:stCxn id="39" idx="2"/>
              <a:endCxn id="38" idx="0"/>
            </p:cNvCxnSpPr>
            <p:nvPr/>
          </p:nvCxnSpPr>
          <p:spPr bwMode="auto">
            <a:xfrm rot="5400000">
              <a:off x="6963569" y="3426619"/>
              <a:ext cx="234950"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8" name="Straight Arrow Connector 45">
              <a:extLst>
                <a:ext uri="{FF2B5EF4-FFF2-40B4-BE49-F238E27FC236}">
                  <a16:creationId xmlns:a16="http://schemas.microsoft.com/office/drawing/2014/main" id="{0AFE1F29-5C80-1C7E-D4E2-8A988AC44CC1}"/>
                </a:ext>
              </a:extLst>
            </p:cNvPr>
            <p:cNvCxnSpPr>
              <a:cxnSpLocks noChangeShapeType="1"/>
              <a:stCxn id="37" idx="2"/>
              <a:endCxn id="35" idx="0"/>
            </p:cNvCxnSpPr>
            <p:nvPr/>
          </p:nvCxnSpPr>
          <p:spPr bwMode="auto">
            <a:xfrm rot="5400000">
              <a:off x="6966744" y="4942681"/>
              <a:ext cx="228600"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9" name="Straight Arrow Connector 47">
              <a:extLst>
                <a:ext uri="{FF2B5EF4-FFF2-40B4-BE49-F238E27FC236}">
                  <a16:creationId xmlns:a16="http://schemas.microsoft.com/office/drawing/2014/main" id="{2478210D-862D-98CC-FEA7-23750A2C9E6B}"/>
                </a:ext>
              </a:extLst>
            </p:cNvPr>
            <p:cNvCxnSpPr>
              <a:cxnSpLocks noChangeShapeType="1"/>
              <a:stCxn id="35" idx="1"/>
              <a:endCxn id="34" idx="3"/>
            </p:cNvCxnSpPr>
            <p:nvPr/>
          </p:nvCxnSpPr>
          <p:spPr bwMode="auto">
            <a:xfrm rot="10800000">
              <a:off x="5018088" y="5268913"/>
              <a:ext cx="137795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0" name="Straight Arrow Connector 49">
              <a:extLst>
                <a:ext uri="{FF2B5EF4-FFF2-40B4-BE49-F238E27FC236}">
                  <a16:creationId xmlns:a16="http://schemas.microsoft.com/office/drawing/2014/main" id="{542DA5D6-1BD9-BD83-188C-FD8CDE93AC28}"/>
                </a:ext>
              </a:extLst>
            </p:cNvPr>
            <p:cNvCxnSpPr>
              <a:cxnSpLocks noChangeShapeType="1"/>
              <a:stCxn id="34" idx="1"/>
              <a:endCxn id="33" idx="3"/>
            </p:cNvCxnSpPr>
            <p:nvPr/>
          </p:nvCxnSpPr>
          <p:spPr bwMode="auto">
            <a:xfrm rot="10800000">
              <a:off x="2362200" y="5268913"/>
              <a:ext cx="1287463"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1" name="Straight Arrow Connector 51">
              <a:extLst>
                <a:ext uri="{FF2B5EF4-FFF2-40B4-BE49-F238E27FC236}">
                  <a16:creationId xmlns:a16="http://schemas.microsoft.com/office/drawing/2014/main" id="{449304AE-E78E-53C8-2DD6-3B898C02116F}"/>
                </a:ext>
              </a:extLst>
            </p:cNvPr>
            <p:cNvCxnSpPr>
              <a:cxnSpLocks noChangeShapeType="1"/>
              <a:stCxn id="32" idx="3"/>
              <a:endCxn id="37" idx="1"/>
            </p:cNvCxnSpPr>
            <p:nvPr/>
          </p:nvCxnSpPr>
          <p:spPr bwMode="auto">
            <a:xfrm>
              <a:off x="2362200" y="4616450"/>
              <a:ext cx="403383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2" name="Straight Arrow Connector 53">
              <a:extLst>
                <a:ext uri="{FF2B5EF4-FFF2-40B4-BE49-F238E27FC236}">
                  <a16:creationId xmlns:a16="http://schemas.microsoft.com/office/drawing/2014/main" id="{2C2E5566-E635-C39C-5877-CACF7CA4C2EA}"/>
                </a:ext>
              </a:extLst>
            </p:cNvPr>
            <p:cNvCxnSpPr>
              <a:cxnSpLocks noChangeShapeType="1"/>
              <a:stCxn id="36" idx="3"/>
              <a:endCxn id="38" idx="1"/>
            </p:cNvCxnSpPr>
            <p:nvPr/>
          </p:nvCxnSpPr>
          <p:spPr bwMode="auto">
            <a:xfrm flipV="1">
              <a:off x="5018088" y="3833813"/>
              <a:ext cx="1377950" cy="246062"/>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3" name="Straight Arrow Connector 55">
              <a:extLst>
                <a:ext uri="{FF2B5EF4-FFF2-40B4-BE49-F238E27FC236}">
                  <a16:creationId xmlns:a16="http://schemas.microsoft.com/office/drawing/2014/main" id="{C07F6AD3-2E16-15C7-3FB3-1FB0DDB483C1}"/>
                </a:ext>
              </a:extLst>
            </p:cNvPr>
            <p:cNvCxnSpPr>
              <a:cxnSpLocks noChangeShapeType="1"/>
              <a:stCxn id="31" idx="3"/>
            </p:cNvCxnSpPr>
            <p:nvPr/>
          </p:nvCxnSpPr>
          <p:spPr bwMode="auto">
            <a:xfrm>
              <a:off x="2362200" y="3582988"/>
              <a:ext cx="1266825" cy="234950"/>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4" name="Straight Arrow Connector 57">
              <a:extLst>
                <a:ext uri="{FF2B5EF4-FFF2-40B4-BE49-F238E27FC236}">
                  <a16:creationId xmlns:a16="http://schemas.microsoft.com/office/drawing/2014/main" id="{BD2FE30C-7279-8A8D-A3C3-C79F0BA76A41}"/>
                </a:ext>
              </a:extLst>
            </p:cNvPr>
            <p:cNvCxnSpPr>
              <a:cxnSpLocks noChangeShapeType="1"/>
            </p:cNvCxnSpPr>
            <p:nvPr/>
          </p:nvCxnSpPr>
          <p:spPr bwMode="auto">
            <a:xfrm rot="10800000" flipV="1">
              <a:off x="2351088" y="4340225"/>
              <a:ext cx="1320800" cy="87313"/>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5" name="Straight Arrow Connector 59">
              <a:extLst>
                <a:ext uri="{FF2B5EF4-FFF2-40B4-BE49-F238E27FC236}">
                  <a16:creationId xmlns:a16="http://schemas.microsoft.com/office/drawing/2014/main" id="{979248AE-28D5-E238-8400-AA7AFDB506D0}"/>
                </a:ext>
              </a:extLst>
            </p:cNvPr>
            <p:cNvCxnSpPr>
              <a:cxnSpLocks noChangeShapeType="1"/>
              <a:stCxn id="39" idx="1"/>
            </p:cNvCxnSpPr>
            <p:nvPr/>
          </p:nvCxnSpPr>
          <p:spPr bwMode="auto">
            <a:xfrm rot="10800000" flipV="1">
              <a:off x="5006975" y="3097213"/>
              <a:ext cx="1389063" cy="720725"/>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56" name="Straight Arrow Connector 61">
              <a:extLst>
                <a:ext uri="{FF2B5EF4-FFF2-40B4-BE49-F238E27FC236}">
                  <a16:creationId xmlns:a16="http://schemas.microsoft.com/office/drawing/2014/main" id="{0E3D06E5-7D11-DF2C-52A4-354A82C96EB9}"/>
                </a:ext>
              </a:extLst>
            </p:cNvPr>
            <p:cNvCxnSpPr>
              <a:cxnSpLocks noChangeShapeType="1"/>
            </p:cNvCxnSpPr>
            <p:nvPr/>
          </p:nvCxnSpPr>
          <p:spPr bwMode="auto">
            <a:xfrm>
              <a:off x="5021263" y="4340225"/>
              <a:ext cx="1379537" cy="87313"/>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sp>
          <p:nvSpPr>
            <p:cNvPr id="57" name="Quad Arrow Callout 62">
              <a:extLst>
                <a:ext uri="{FF2B5EF4-FFF2-40B4-BE49-F238E27FC236}">
                  <a16:creationId xmlns:a16="http://schemas.microsoft.com/office/drawing/2014/main" id="{8B358EF4-7EC1-6CF3-2A56-603E803C0CD7}"/>
                </a:ext>
              </a:extLst>
            </p:cNvPr>
            <p:cNvSpPr/>
            <p:nvPr/>
          </p:nvSpPr>
          <p:spPr bwMode="auto">
            <a:xfrm>
              <a:off x="3279775" y="1954213"/>
              <a:ext cx="2049463" cy="1639887"/>
            </a:xfrm>
            <a:prstGeom prst="quadArrowCallout">
              <a:avLst/>
            </a:prstGeom>
            <a:solidFill>
              <a:srgbClr val="808080"/>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r>
                <a:rPr lang="en-GB" sz="1200" dirty="0">
                  <a:solidFill>
                    <a:schemeClr val="bg1"/>
                  </a:solidFill>
                  <a:latin typeface="Roboto" panose="02000000000000000000" pitchFamily="2" charset="0"/>
                  <a:ea typeface="Roboto" panose="02000000000000000000" pitchFamily="2" charset="0"/>
                </a:rPr>
                <a:t>Constant Interaction Between Paths</a:t>
              </a:r>
            </a:p>
          </p:txBody>
        </p:sp>
        <p:sp>
          <p:nvSpPr>
            <p:cNvPr id="58" name="Rectangle 9">
              <a:extLst>
                <a:ext uri="{FF2B5EF4-FFF2-40B4-BE49-F238E27FC236}">
                  <a16:creationId xmlns:a16="http://schemas.microsoft.com/office/drawing/2014/main" id="{1EA43CD5-B57A-36D7-19A1-11FC0AE77807}"/>
                </a:ext>
              </a:extLst>
            </p:cNvPr>
            <p:cNvSpPr>
              <a:spLocks noChangeArrowheads="1"/>
            </p:cNvSpPr>
            <p:nvPr/>
          </p:nvSpPr>
          <p:spPr bwMode="auto">
            <a:xfrm>
              <a:off x="992188" y="5688013"/>
              <a:ext cx="1370012"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10</a:t>
              </a:r>
              <a:r>
                <a:rPr lang="en-GB" altLang="en-US" sz="1200">
                  <a:solidFill>
                    <a:schemeClr val="bg1"/>
                  </a:solidFill>
                  <a:latin typeface="Roboto" panose="02000000000000000000" pitchFamily="2" charset="0"/>
                  <a:ea typeface="Roboto" panose="02000000000000000000" pitchFamily="2" charset="0"/>
                </a:rPr>
                <a:t>. Installation</a:t>
              </a:r>
            </a:p>
          </p:txBody>
        </p:sp>
        <p:sp>
          <p:nvSpPr>
            <p:cNvPr id="59" name="Rectangle 10">
              <a:extLst>
                <a:ext uri="{FF2B5EF4-FFF2-40B4-BE49-F238E27FC236}">
                  <a16:creationId xmlns:a16="http://schemas.microsoft.com/office/drawing/2014/main" id="{61FC2B5C-E06A-DBC3-81D5-BE1BE982EBD2}"/>
                </a:ext>
              </a:extLst>
            </p:cNvPr>
            <p:cNvSpPr>
              <a:spLocks noChangeArrowheads="1"/>
            </p:cNvSpPr>
            <p:nvPr/>
          </p:nvSpPr>
          <p:spPr bwMode="auto">
            <a:xfrm>
              <a:off x="3641725" y="5688013"/>
              <a:ext cx="1368425"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11</a:t>
              </a:r>
              <a:r>
                <a:rPr lang="en-GB" altLang="en-US" sz="1200">
                  <a:solidFill>
                    <a:schemeClr val="bg1"/>
                  </a:solidFill>
                  <a:latin typeface="Roboto" panose="02000000000000000000" pitchFamily="2" charset="0"/>
                  <a:ea typeface="Roboto" panose="02000000000000000000" pitchFamily="2" charset="0"/>
                </a:rPr>
                <a:t>. Service</a:t>
              </a:r>
            </a:p>
          </p:txBody>
        </p:sp>
        <p:sp>
          <p:nvSpPr>
            <p:cNvPr id="60" name="Rectangle 11">
              <a:extLst>
                <a:ext uri="{FF2B5EF4-FFF2-40B4-BE49-F238E27FC236}">
                  <a16:creationId xmlns:a16="http://schemas.microsoft.com/office/drawing/2014/main" id="{88DA6167-D48D-D02A-D063-23AB47AF5EFE}"/>
                </a:ext>
              </a:extLst>
            </p:cNvPr>
            <p:cNvSpPr>
              <a:spLocks noChangeArrowheads="1"/>
            </p:cNvSpPr>
            <p:nvPr/>
          </p:nvSpPr>
          <p:spPr bwMode="auto">
            <a:xfrm>
              <a:off x="6388100" y="5688013"/>
              <a:ext cx="1368425" cy="425450"/>
            </a:xfrm>
            <a:prstGeom prst="rect">
              <a:avLst/>
            </a:prstGeom>
            <a:solidFill>
              <a:schemeClr val="accent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marL="268288" indent="-268288">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None/>
              </a:pPr>
              <a:r>
                <a:rPr lang="en-GB" altLang="en-US" sz="1600">
                  <a:solidFill>
                    <a:schemeClr val="bg1"/>
                  </a:solidFill>
                  <a:latin typeface="Roboto" panose="02000000000000000000" pitchFamily="2" charset="0"/>
                  <a:ea typeface="Roboto" panose="02000000000000000000" pitchFamily="2" charset="0"/>
                </a:rPr>
                <a:t>12</a:t>
              </a:r>
              <a:r>
                <a:rPr lang="en-GB" altLang="en-US" sz="1200">
                  <a:solidFill>
                    <a:schemeClr val="bg1"/>
                  </a:solidFill>
                  <a:latin typeface="Roboto" panose="02000000000000000000" pitchFamily="2" charset="0"/>
                  <a:ea typeface="Roboto" panose="02000000000000000000" pitchFamily="2" charset="0"/>
                </a:rPr>
                <a:t>. End of Life</a:t>
              </a:r>
            </a:p>
          </p:txBody>
        </p:sp>
        <p:cxnSp>
          <p:nvCxnSpPr>
            <p:cNvPr id="61" name="Straight Arrow Connector 41">
              <a:extLst>
                <a:ext uri="{FF2B5EF4-FFF2-40B4-BE49-F238E27FC236}">
                  <a16:creationId xmlns:a16="http://schemas.microsoft.com/office/drawing/2014/main" id="{F9D1A7A8-8B7A-A169-FACF-2BBF9D645524}"/>
                </a:ext>
              </a:extLst>
            </p:cNvPr>
            <p:cNvCxnSpPr>
              <a:cxnSpLocks noChangeShapeType="1"/>
            </p:cNvCxnSpPr>
            <p:nvPr/>
          </p:nvCxnSpPr>
          <p:spPr bwMode="auto">
            <a:xfrm rot="5400000">
              <a:off x="1574800" y="5584825"/>
              <a:ext cx="204788"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2" name="Straight Arrow Connector 43">
              <a:extLst>
                <a:ext uri="{FF2B5EF4-FFF2-40B4-BE49-F238E27FC236}">
                  <a16:creationId xmlns:a16="http://schemas.microsoft.com/office/drawing/2014/main" id="{6103C272-BA2A-6E13-4FFF-B2E0C213BE09}"/>
                </a:ext>
              </a:extLst>
            </p:cNvPr>
            <p:cNvCxnSpPr>
              <a:cxnSpLocks noChangeShapeType="1"/>
              <a:stCxn id="58" idx="3"/>
              <a:endCxn id="59" idx="1"/>
            </p:cNvCxnSpPr>
            <p:nvPr/>
          </p:nvCxnSpPr>
          <p:spPr bwMode="auto">
            <a:xfrm>
              <a:off x="2362200" y="5900738"/>
              <a:ext cx="1279525"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3" name="Straight Arrow Connector 45">
              <a:extLst>
                <a:ext uri="{FF2B5EF4-FFF2-40B4-BE49-F238E27FC236}">
                  <a16:creationId xmlns:a16="http://schemas.microsoft.com/office/drawing/2014/main" id="{48832D6C-DBFB-161F-E63B-DA94A3CBD91B}"/>
                </a:ext>
              </a:extLst>
            </p:cNvPr>
            <p:cNvCxnSpPr>
              <a:cxnSpLocks noChangeShapeType="1"/>
              <a:stCxn id="59" idx="3"/>
              <a:endCxn id="60" idx="1"/>
            </p:cNvCxnSpPr>
            <p:nvPr/>
          </p:nvCxnSpPr>
          <p:spPr bwMode="auto">
            <a:xfrm>
              <a:off x="5010150" y="5900738"/>
              <a:ext cx="1377950" cy="1587"/>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64" name="Straight Arrow Connector 47">
              <a:extLst>
                <a:ext uri="{FF2B5EF4-FFF2-40B4-BE49-F238E27FC236}">
                  <a16:creationId xmlns:a16="http://schemas.microsoft.com/office/drawing/2014/main" id="{91EB0532-42A9-987F-C327-8DA8D9C6C2D3}"/>
                </a:ext>
              </a:extLst>
            </p:cNvPr>
            <p:cNvCxnSpPr>
              <a:cxnSpLocks noChangeShapeType="1"/>
            </p:cNvCxnSpPr>
            <p:nvPr/>
          </p:nvCxnSpPr>
          <p:spPr bwMode="auto">
            <a:xfrm>
              <a:off x="2365375" y="1701800"/>
              <a:ext cx="4030663" cy="1588"/>
            </a:xfrm>
            <a:prstGeom prst="straightConnector1">
              <a:avLst/>
            </a:prstGeom>
            <a:noFill/>
            <a:ln w="28575" cap="sq">
              <a:solidFill>
                <a:schemeClr val="tx1"/>
              </a:solidFill>
              <a:round/>
              <a:headEnd/>
              <a:tailEnd type="triangle" w="lg" len="lg"/>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9777912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5 Steps to 3P</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342900" indent="-342900">
              <a:buFont typeface="Wingdings" panose="05000000000000000000" pitchFamily="2" charset="2"/>
              <a:buAutoNum type="arabicPeriod"/>
            </a:pPr>
            <a:r>
              <a:rPr lang="en-US" altLang="en-US" dirty="0"/>
              <a:t>Define Product/Process Design Objectives/Needs</a:t>
            </a:r>
          </a:p>
          <a:p>
            <a:pPr marL="342900" indent="-342900">
              <a:buFont typeface="Wingdings" panose="05000000000000000000" pitchFamily="2" charset="2"/>
              <a:buAutoNum type="arabicPeriod"/>
            </a:pPr>
            <a:r>
              <a:rPr lang="en-US" altLang="en-US" dirty="0"/>
              <a:t>Study Alternatives by Diagramming and Finding and Analyze Examples from Nature or other sources</a:t>
            </a:r>
          </a:p>
          <a:p>
            <a:pPr marL="342900" indent="-342900">
              <a:buFont typeface="Wingdings" panose="05000000000000000000" pitchFamily="2" charset="2"/>
              <a:buAutoNum type="arabicPeriod"/>
            </a:pPr>
            <a:r>
              <a:rPr lang="en-US" altLang="en-US" dirty="0"/>
              <a:t>Sketch and Evaluate Alternative Process Steps</a:t>
            </a:r>
          </a:p>
          <a:p>
            <a:pPr marL="342900" indent="-342900">
              <a:buFont typeface="Wingdings" panose="05000000000000000000" pitchFamily="2" charset="2"/>
              <a:buAutoNum type="arabicPeriod"/>
            </a:pPr>
            <a:r>
              <a:rPr lang="en-US" altLang="en-US" dirty="0"/>
              <a:t>Build, Present, and Select Process Prototypes</a:t>
            </a:r>
          </a:p>
          <a:p>
            <a:pPr marL="342900" indent="-342900">
              <a:buFont typeface="Wingdings" panose="05000000000000000000" pitchFamily="2" charset="2"/>
              <a:buAutoNum type="arabicPeriod"/>
            </a:pPr>
            <a:r>
              <a:rPr lang="en-US" altLang="en-US" dirty="0"/>
              <a:t>Develop Implementation Plans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spTree>
    <p:extLst>
      <p:ext uri="{BB962C8B-B14F-4D97-AF65-F5344CB8AC3E}">
        <p14:creationId xmlns:p14="http://schemas.microsoft.com/office/powerpoint/2010/main" val="1039111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graphicFrame>
        <p:nvGraphicFramePr>
          <p:cNvPr id="16" name="Group 175">
            <a:extLst>
              <a:ext uri="{FF2B5EF4-FFF2-40B4-BE49-F238E27FC236}">
                <a16:creationId xmlns:a16="http://schemas.microsoft.com/office/drawing/2014/main" id="{BD4F62F8-DE4A-93CD-FAA6-6BB04D1B07E0}"/>
              </a:ext>
            </a:extLst>
          </p:cNvPr>
          <p:cNvGraphicFramePr>
            <a:graphicFrameLocks noGrp="1"/>
          </p:cNvGraphicFramePr>
          <p:nvPr/>
        </p:nvGraphicFramePr>
        <p:xfrm>
          <a:off x="1415415" y="1949391"/>
          <a:ext cx="9361170" cy="4233223"/>
        </p:xfrm>
        <a:graphic>
          <a:graphicData uri="http://schemas.openxmlformats.org/drawingml/2006/table">
            <a:tbl>
              <a:tblPr/>
              <a:tblGrid>
                <a:gridCol w="3120390">
                  <a:extLst>
                    <a:ext uri="{9D8B030D-6E8A-4147-A177-3AD203B41FA5}">
                      <a16:colId xmlns:a16="http://schemas.microsoft.com/office/drawing/2014/main" val="20000"/>
                    </a:ext>
                  </a:extLst>
                </a:gridCol>
                <a:gridCol w="3120390">
                  <a:extLst>
                    <a:ext uri="{9D8B030D-6E8A-4147-A177-3AD203B41FA5}">
                      <a16:colId xmlns:a16="http://schemas.microsoft.com/office/drawing/2014/main" val="20001"/>
                    </a:ext>
                  </a:extLst>
                </a:gridCol>
                <a:gridCol w="3120390">
                  <a:extLst>
                    <a:ext uri="{9D8B030D-6E8A-4147-A177-3AD203B41FA5}">
                      <a16:colId xmlns:a16="http://schemas.microsoft.com/office/drawing/2014/main" val="20002"/>
                    </a:ext>
                  </a:extLst>
                </a:gridCol>
              </a:tblGrid>
              <a:tr h="32943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 – Leadership 3P Awareness</a:t>
                      </a: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2 – Select target area and team</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3 – Collect data</a:t>
                      </a: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3363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903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54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4 – Train Team</a:t>
                      </a:r>
                      <a:endParaRPr kumimoji="0" lang="en-US" altLang="en-US" sz="24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5 – Design Criteria</a:t>
                      </a: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6 – 3P Lab</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608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2" marB="457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3" name="Image" descr="Image">
            <a:extLst>
              <a:ext uri="{FF2B5EF4-FFF2-40B4-BE49-F238E27FC236}">
                <a16:creationId xmlns:a16="http://schemas.microsoft.com/office/drawing/2014/main" id="{CCD207A5-733A-5C54-383B-48F425626189}"/>
              </a:ext>
            </a:extLst>
          </p:cNvPr>
          <p:cNvPicPr>
            <a:picLocks noChangeAspect="1"/>
          </p:cNvPicPr>
          <p:nvPr/>
        </p:nvPicPr>
        <p:blipFill>
          <a:blip r:embed="rId3"/>
          <a:stretch>
            <a:fillRect/>
          </a:stretch>
        </p:blipFill>
        <p:spPr>
          <a:xfrm>
            <a:off x="2396901" y="2434217"/>
            <a:ext cx="957764" cy="1396145"/>
          </a:xfrm>
          <a:prstGeom prst="rect">
            <a:avLst/>
          </a:prstGeom>
          <a:ln w="12700" cap="flat">
            <a:noFill/>
            <a:miter lim="400000"/>
          </a:ln>
          <a:effectLst/>
        </p:spPr>
      </p:pic>
      <p:pic>
        <p:nvPicPr>
          <p:cNvPr id="15" name="Image" descr="Image">
            <a:extLst>
              <a:ext uri="{FF2B5EF4-FFF2-40B4-BE49-F238E27FC236}">
                <a16:creationId xmlns:a16="http://schemas.microsoft.com/office/drawing/2014/main" id="{FEDB39EC-7865-910A-9686-2837C4EA6B82}"/>
              </a:ext>
            </a:extLst>
          </p:cNvPr>
          <p:cNvPicPr>
            <a:picLocks noChangeAspect="1"/>
          </p:cNvPicPr>
          <p:nvPr/>
        </p:nvPicPr>
        <p:blipFill>
          <a:blip r:embed="rId4"/>
          <a:stretch>
            <a:fillRect/>
          </a:stretch>
        </p:blipFill>
        <p:spPr>
          <a:xfrm>
            <a:off x="5571325" y="4661456"/>
            <a:ext cx="1049272" cy="1399032"/>
          </a:xfrm>
          <a:prstGeom prst="rect">
            <a:avLst/>
          </a:prstGeom>
          <a:ln w="12700" cap="flat">
            <a:noFill/>
            <a:miter lim="400000"/>
          </a:ln>
          <a:effectLst/>
        </p:spPr>
      </p:pic>
      <p:pic>
        <p:nvPicPr>
          <p:cNvPr id="17" name="Image" descr="Image">
            <a:extLst>
              <a:ext uri="{FF2B5EF4-FFF2-40B4-BE49-F238E27FC236}">
                <a16:creationId xmlns:a16="http://schemas.microsoft.com/office/drawing/2014/main" id="{4FCE75E7-DF31-7216-CF98-ABED1DADE6E8}"/>
              </a:ext>
            </a:extLst>
          </p:cNvPr>
          <p:cNvPicPr>
            <a:picLocks noChangeAspect="1"/>
          </p:cNvPicPr>
          <p:nvPr/>
        </p:nvPicPr>
        <p:blipFill>
          <a:blip r:embed="rId5"/>
          <a:stretch>
            <a:fillRect/>
          </a:stretch>
        </p:blipFill>
        <p:spPr>
          <a:xfrm>
            <a:off x="8786440" y="4661456"/>
            <a:ext cx="1113569" cy="1399032"/>
          </a:xfrm>
          <a:prstGeom prst="rect">
            <a:avLst/>
          </a:prstGeom>
          <a:ln w="12700" cap="flat">
            <a:noFill/>
            <a:miter lim="400000"/>
          </a:ln>
          <a:effectLst/>
        </p:spPr>
      </p:pic>
      <p:pic>
        <p:nvPicPr>
          <p:cNvPr id="20" name="Image" descr="Image">
            <a:extLst>
              <a:ext uri="{FF2B5EF4-FFF2-40B4-BE49-F238E27FC236}">
                <a16:creationId xmlns:a16="http://schemas.microsoft.com/office/drawing/2014/main" id="{972019A3-C815-6D8D-6919-B7B7279DE960}"/>
              </a:ext>
            </a:extLst>
          </p:cNvPr>
          <p:cNvPicPr>
            <a:picLocks noChangeAspect="1"/>
          </p:cNvPicPr>
          <p:nvPr/>
        </p:nvPicPr>
        <p:blipFill>
          <a:blip r:embed="rId6"/>
          <a:stretch>
            <a:fillRect/>
          </a:stretch>
        </p:blipFill>
        <p:spPr>
          <a:xfrm>
            <a:off x="1779225" y="4661456"/>
            <a:ext cx="2242712" cy="1399032"/>
          </a:xfrm>
          <a:prstGeom prst="rect">
            <a:avLst/>
          </a:prstGeom>
          <a:ln w="12700" cap="flat">
            <a:noFill/>
            <a:miter lim="400000"/>
          </a:ln>
          <a:effectLst/>
        </p:spPr>
      </p:pic>
      <p:pic>
        <p:nvPicPr>
          <p:cNvPr id="21" name="Image" descr="Image">
            <a:extLst>
              <a:ext uri="{FF2B5EF4-FFF2-40B4-BE49-F238E27FC236}">
                <a16:creationId xmlns:a16="http://schemas.microsoft.com/office/drawing/2014/main" id="{061A8E66-80B8-45B4-FDBA-8C48631CBF24}"/>
              </a:ext>
            </a:extLst>
          </p:cNvPr>
          <p:cNvPicPr>
            <a:picLocks noChangeAspect="1"/>
          </p:cNvPicPr>
          <p:nvPr/>
        </p:nvPicPr>
        <p:blipFill>
          <a:blip r:embed="rId7"/>
          <a:stretch>
            <a:fillRect/>
          </a:stretch>
        </p:blipFill>
        <p:spPr>
          <a:xfrm>
            <a:off x="8648699" y="2434217"/>
            <a:ext cx="1389052" cy="1399032"/>
          </a:xfrm>
          <a:prstGeom prst="rect">
            <a:avLst/>
          </a:prstGeom>
          <a:ln w="12700" cap="flat">
            <a:noFill/>
            <a:miter lim="400000"/>
          </a:ln>
          <a:effectLst/>
        </p:spPr>
      </p:pic>
      <p:pic>
        <p:nvPicPr>
          <p:cNvPr id="22" name="Image" descr="Image">
            <a:extLst>
              <a:ext uri="{FF2B5EF4-FFF2-40B4-BE49-F238E27FC236}">
                <a16:creationId xmlns:a16="http://schemas.microsoft.com/office/drawing/2014/main" id="{F2686B33-986C-0875-AE56-57A479131DDE}"/>
              </a:ext>
            </a:extLst>
          </p:cNvPr>
          <p:cNvPicPr>
            <a:picLocks noChangeAspect="1"/>
          </p:cNvPicPr>
          <p:nvPr/>
        </p:nvPicPr>
        <p:blipFill>
          <a:blip r:embed="rId8"/>
          <a:stretch>
            <a:fillRect/>
          </a:stretch>
        </p:blipFill>
        <p:spPr>
          <a:xfrm>
            <a:off x="5412987" y="2377099"/>
            <a:ext cx="1401593" cy="1399032"/>
          </a:xfrm>
          <a:prstGeom prst="rect">
            <a:avLst/>
          </a:prstGeom>
          <a:ln w="12700" cap="flat">
            <a:noFill/>
            <a:miter lim="400000"/>
          </a:ln>
          <a:effectLst/>
        </p:spPr>
      </p:pic>
    </p:spTree>
    <p:extLst>
      <p:ext uri="{BB962C8B-B14F-4D97-AF65-F5344CB8AC3E}">
        <p14:creationId xmlns:p14="http://schemas.microsoft.com/office/powerpoint/2010/main" val="4156451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graphicFrame>
        <p:nvGraphicFramePr>
          <p:cNvPr id="3" name="Group 450">
            <a:extLst>
              <a:ext uri="{FF2B5EF4-FFF2-40B4-BE49-F238E27FC236}">
                <a16:creationId xmlns:a16="http://schemas.microsoft.com/office/drawing/2014/main" id="{9E414ACC-FEFE-413E-72F5-7648F4CAFF94}"/>
              </a:ext>
            </a:extLst>
          </p:cNvPr>
          <p:cNvGraphicFramePr>
            <a:graphicFrameLocks noGrp="1"/>
          </p:cNvGraphicFramePr>
          <p:nvPr/>
        </p:nvGraphicFramePr>
        <p:xfrm>
          <a:off x="1779225" y="1783428"/>
          <a:ext cx="8229600" cy="4617917"/>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7 – Each team member individually draws 7 Alternatives.</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8 – Team gathers to group and evaluate ideas. Selects the top 7.</a:t>
                      </a:r>
                      <a:endParaRPr kumimoji="0" lang="en-US" altLang="en-US" sz="12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9 – Team moonshines the 7 Alternatives.</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84465">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7036">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10 – Team evaluates each Alternative. Selects the top 3.</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11 – Team moonshines the top 3 Alternatives.</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12 – Team selects Top Alternative.</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16254">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55" name="Picture 276" descr="MMj03957670000[1]">
            <a:extLst>
              <a:ext uri="{FF2B5EF4-FFF2-40B4-BE49-F238E27FC236}">
                <a16:creationId xmlns:a16="http://schemas.microsoft.com/office/drawing/2014/main" id="{91381846-7881-3C6E-E222-ADBF38AB7DB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570425" y="286334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 name="Picture 277" descr="MCj03499260000[1]">
            <a:extLst>
              <a:ext uri="{FF2B5EF4-FFF2-40B4-BE49-F238E27FC236}">
                <a16:creationId xmlns:a16="http://schemas.microsoft.com/office/drawing/2014/main" id="{D2500870-F8B0-407E-0876-C9F50CDBC6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92900" y="301529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 name="Picture 278" descr="MCj02903500000[1]">
            <a:extLst>
              <a:ext uri="{FF2B5EF4-FFF2-40B4-BE49-F238E27FC236}">
                <a16:creationId xmlns:a16="http://schemas.microsoft.com/office/drawing/2014/main" id="{72DBE955-89F5-ED5D-C417-2D50D2448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408625" y="256690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 name="Picture 279" descr="MCj02337390000[1]">
            <a:extLst>
              <a:ext uri="{FF2B5EF4-FFF2-40B4-BE49-F238E27FC236}">
                <a16:creationId xmlns:a16="http://schemas.microsoft.com/office/drawing/2014/main" id="{2423BA08-0135-4F6A-0E31-DEA4951986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103825" y="3023379"/>
            <a:ext cx="374650" cy="290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280" descr="MPj03140390000[1]">
            <a:extLst>
              <a:ext uri="{FF2B5EF4-FFF2-40B4-BE49-F238E27FC236}">
                <a16:creationId xmlns:a16="http://schemas.microsoft.com/office/drawing/2014/main" id="{8172C430-DB45-FE9B-FE75-26DAFBFC11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13425" y="2944271"/>
            <a:ext cx="381000" cy="242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 name="Picture 281" descr="MCBD05091_0000[1]">
            <a:extLst>
              <a:ext uri="{FF2B5EF4-FFF2-40B4-BE49-F238E27FC236}">
                <a16:creationId xmlns:a16="http://schemas.microsoft.com/office/drawing/2014/main" id="{050E4466-D6E4-E277-60CF-12A4F61494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7625" y="2639834"/>
            <a:ext cx="288925" cy="248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 name="Picture 282" descr="MCHH01430_0000[1]">
            <a:extLst>
              <a:ext uri="{FF2B5EF4-FFF2-40B4-BE49-F238E27FC236}">
                <a16:creationId xmlns:a16="http://schemas.microsoft.com/office/drawing/2014/main" id="{D33C4C08-1D06-3534-F7B3-455EDF12CB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9018225" y="2673754"/>
            <a:ext cx="381000" cy="179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2" name="Group 71">
            <a:extLst>
              <a:ext uri="{FF2B5EF4-FFF2-40B4-BE49-F238E27FC236}">
                <a16:creationId xmlns:a16="http://schemas.microsoft.com/office/drawing/2014/main" id="{B4166F70-4D09-35E2-E584-B9DAE8F1D500}"/>
              </a:ext>
            </a:extLst>
          </p:cNvPr>
          <p:cNvGrpSpPr>
            <a:grpSpLocks/>
          </p:cNvGrpSpPr>
          <p:nvPr/>
        </p:nvGrpSpPr>
        <p:grpSpPr bwMode="auto">
          <a:xfrm>
            <a:off x="2963500" y="5076814"/>
            <a:ext cx="419100" cy="538783"/>
            <a:chOff x="3016" y="1444"/>
            <a:chExt cx="264" cy="360"/>
          </a:xfrm>
        </p:grpSpPr>
        <p:sp>
          <p:nvSpPr>
            <p:cNvPr id="263" name="Line 63">
              <a:extLst>
                <a:ext uri="{FF2B5EF4-FFF2-40B4-BE49-F238E27FC236}">
                  <a16:creationId xmlns:a16="http://schemas.microsoft.com/office/drawing/2014/main" id="{A0B01D94-5D81-E03B-0669-112689245BC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Freeform 64">
              <a:extLst>
                <a:ext uri="{FF2B5EF4-FFF2-40B4-BE49-F238E27FC236}">
                  <a16:creationId xmlns:a16="http://schemas.microsoft.com/office/drawing/2014/main" id="{E4E0F163-3663-0102-66B2-07C92F34030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265" name="Freeform 65">
              <a:extLst>
                <a:ext uri="{FF2B5EF4-FFF2-40B4-BE49-F238E27FC236}">
                  <a16:creationId xmlns:a16="http://schemas.microsoft.com/office/drawing/2014/main" id="{46BB25A6-F2B7-1A77-6A45-8EC916E2B474}"/>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266" name="Line 66">
              <a:extLst>
                <a:ext uri="{FF2B5EF4-FFF2-40B4-BE49-F238E27FC236}">
                  <a16:creationId xmlns:a16="http://schemas.microsoft.com/office/drawing/2014/main" id="{32566FCF-C69D-BC1E-E445-4C64FF91B76F}"/>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67">
              <a:extLst>
                <a:ext uri="{FF2B5EF4-FFF2-40B4-BE49-F238E27FC236}">
                  <a16:creationId xmlns:a16="http://schemas.microsoft.com/office/drawing/2014/main" id="{EC72256D-0429-1614-7F9C-535D4E694C94}"/>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68">
              <a:extLst>
                <a:ext uri="{FF2B5EF4-FFF2-40B4-BE49-F238E27FC236}">
                  <a16:creationId xmlns:a16="http://schemas.microsoft.com/office/drawing/2014/main" id="{8FFB7326-BFBD-FE6B-94FA-326539A309FA}"/>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Oval 69">
              <a:extLst>
                <a:ext uri="{FF2B5EF4-FFF2-40B4-BE49-F238E27FC236}">
                  <a16:creationId xmlns:a16="http://schemas.microsoft.com/office/drawing/2014/main" id="{4F12DF3C-9934-0D91-A35B-41DF4363E05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270" name="Oval 70">
              <a:extLst>
                <a:ext uri="{FF2B5EF4-FFF2-40B4-BE49-F238E27FC236}">
                  <a16:creationId xmlns:a16="http://schemas.microsoft.com/office/drawing/2014/main" id="{C3E66075-D224-3181-007F-03C9EE23675A}"/>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pic>
        <p:nvPicPr>
          <p:cNvPr id="369" name="Picture 392" descr="MMj03957670000[1]">
            <a:extLst>
              <a:ext uri="{FF2B5EF4-FFF2-40B4-BE49-F238E27FC236}">
                <a16:creationId xmlns:a16="http://schemas.microsoft.com/office/drawing/2014/main" id="{9B3D4D85-7D65-EB3E-E9C9-752838637D9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27225" y="558749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0" name="Picture 393" descr="MCj03499260000[1]">
            <a:extLst>
              <a:ext uri="{FF2B5EF4-FFF2-40B4-BE49-F238E27FC236}">
                <a16:creationId xmlns:a16="http://schemas.microsoft.com/office/drawing/2014/main" id="{1018F16A-2851-A1E9-01E7-B9170ABA9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849700" y="573944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 name="Picture 394" descr="MCj02903500000[1]">
            <a:extLst>
              <a:ext uri="{FF2B5EF4-FFF2-40B4-BE49-F238E27FC236}">
                <a16:creationId xmlns:a16="http://schemas.microsoft.com/office/drawing/2014/main" id="{9EDE3B72-9B3F-F55F-E3DD-721B64728A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665425" y="529105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2" name="Group 71">
            <a:extLst>
              <a:ext uri="{FF2B5EF4-FFF2-40B4-BE49-F238E27FC236}">
                <a16:creationId xmlns:a16="http://schemas.microsoft.com/office/drawing/2014/main" id="{AD5167E3-6559-1152-1489-891E8B082523}"/>
              </a:ext>
            </a:extLst>
          </p:cNvPr>
          <p:cNvGrpSpPr>
            <a:grpSpLocks/>
          </p:cNvGrpSpPr>
          <p:nvPr/>
        </p:nvGrpSpPr>
        <p:grpSpPr bwMode="auto">
          <a:xfrm>
            <a:off x="9135700" y="5019664"/>
            <a:ext cx="419100" cy="538783"/>
            <a:chOff x="3016" y="1444"/>
            <a:chExt cx="264" cy="360"/>
          </a:xfrm>
        </p:grpSpPr>
        <p:sp>
          <p:nvSpPr>
            <p:cNvPr id="373" name="Line 63">
              <a:extLst>
                <a:ext uri="{FF2B5EF4-FFF2-40B4-BE49-F238E27FC236}">
                  <a16:creationId xmlns:a16="http://schemas.microsoft.com/office/drawing/2014/main" id="{6F0811DB-39A3-2A9F-F82C-353AB43735E6}"/>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 name="Freeform 64">
              <a:extLst>
                <a:ext uri="{FF2B5EF4-FFF2-40B4-BE49-F238E27FC236}">
                  <a16:creationId xmlns:a16="http://schemas.microsoft.com/office/drawing/2014/main" id="{F474B0F6-0BCF-96B4-080D-4D94BF04C29E}"/>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375" name="Freeform 65">
              <a:extLst>
                <a:ext uri="{FF2B5EF4-FFF2-40B4-BE49-F238E27FC236}">
                  <a16:creationId xmlns:a16="http://schemas.microsoft.com/office/drawing/2014/main" id="{B32EBE03-02D4-7EDE-099B-F25B78CCE1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376" name="Line 66">
              <a:extLst>
                <a:ext uri="{FF2B5EF4-FFF2-40B4-BE49-F238E27FC236}">
                  <a16:creationId xmlns:a16="http://schemas.microsoft.com/office/drawing/2014/main" id="{847CC286-F17A-C642-20B4-BA71F132B2D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7" name="Line 67">
              <a:extLst>
                <a:ext uri="{FF2B5EF4-FFF2-40B4-BE49-F238E27FC236}">
                  <a16:creationId xmlns:a16="http://schemas.microsoft.com/office/drawing/2014/main" id="{7D48FB73-AE4E-01BA-7977-088C8EE4FFAD}"/>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 name="Line 68">
              <a:extLst>
                <a:ext uri="{FF2B5EF4-FFF2-40B4-BE49-F238E27FC236}">
                  <a16:creationId xmlns:a16="http://schemas.microsoft.com/office/drawing/2014/main" id="{C8D7106C-DF33-5F43-2050-1FF33732FBD0}"/>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 name="Oval 69">
              <a:extLst>
                <a:ext uri="{FF2B5EF4-FFF2-40B4-BE49-F238E27FC236}">
                  <a16:creationId xmlns:a16="http://schemas.microsoft.com/office/drawing/2014/main" id="{F328AD99-507F-D6B2-D1D7-AAA2DA84EBFF}"/>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380" name="Oval 70">
              <a:extLst>
                <a:ext uri="{FF2B5EF4-FFF2-40B4-BE49-F238E27FC236}">
                  <a16:creationId xmlns:a16="http://schemas.microsoft.com/office/drawing/2014/main" id="{CF53BC26-323C-3DCA-A3EE-1705FF7ECA2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30" name="Text Box 456">
            <a:extLst>
              <a:ext uri="{FF2B5EF4-FFF2-40B4-BE49-F238E27FC236}">
                <a16:creationId xmlns:a16="http://schemas.microsoft.com/office/drawing/2014/main" id="{C44EDCC6-D696-FECF-CCCB-071117D91454}"/>
              </a:ext>
            </a:extLst>
          </p:cNvPr>
          <p:cNvSpPr txBox="1">
            <a:spLocks noChangeArrowheads="1"/>
          </p:cNvSpPr>
          <p:nvPr/>
        </p:nvSpPr>
        <p:spPr bwMode="auto">
          <a:xfrm>
            <a:off x="2998425" y="504409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3</a:t>
            </a:r>
          </a:p>
        </p:txBody>
      </p:sp>
      <p:sp>
        <p:nvSpPr>
          <p:cNvPr id="431" name="Text Box 457">
            <a:extLst>
              <a:ext uri="{FF2B5EF4-FFF2-40B4-BE49-F238E27FC236}">
                <a16:creationId xmlns:a16="http://schemas.microsoft.com/office/drawing/2014/main" id="{9474C9C9-2A14-E136-A3C3-88FDCD57DA14}"/>
              </a:ext>
            </a:extLst>
          </p:cNvPr>
          <p:cNvSpPr txBox="1">
            <a:spLocks noChangeArrowheads="1"/>
          </p:cNvSpPr>
          <p:nvPr/>
        </p:nvSpPr>
        <p:spPr bwMode="auto">
          <a:xfrm>
            <a:off x="9170625" y="498694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1</a:t>
            </a:r>
          </a:p>
        </p:txBody>
      </p:sp>
      <p:pic>
        <p:nvPicPr>
          <p:cNvPr id="432" name="Picture 282" descr="MCHH01430_0000[1]">
            <a:extLst>
              <a:ext uri="{FF2B5EF4-FFF2-40B4-BE49-F238E27FC236}">
                <a16:creationId xmlns:a16="http://schemas.microsoft.com/office/drawing/2014/main" id="{7546FB58-1ED4-488E-AD5D-9B1EAC41BF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7722825" y="5271096"/>
            <a:ext cx="609600" cy="2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8" name="Group 437">
            <a:extLst>
              <a:ext uri="{FF2B5EF4-FFF2-40B4-BE49-F238E27FC236}">
                <a16:creationId xmlns:a16="http://schemas.microsoft.com/office/drawing/2014/main" id="{4FC731A1-D3BA-C6E6-83F6-E0A6817F4492}"/>
              </a:ext>
            </a:extLst>
          </p:cNvPr>
          <p:cNvGrpSpPr/>
          <p:nvPr/>
        </p:nvGrpSpPr>
        <p:grpSpPr>
          <a:xfrm>
            <a:off x="1855382" y="2447763"/>
            <a:ext cx="495344" cy="554713"/>
            <a:chOff x="1855382" y="2447763"/>
            <a:chExt cx="495344" cy="554713"/>
          </a:xfrm>
        </p:grpSpPr>
        <p:grpSp>
          <p:nvGrpSpPr>
            <p:cNvPr id="73" name="Group 71">
              <a:extLst>
                <a:ext uri="{FF2B5EF4-FFF2-40B4-BE49-F238E27FC236}">
                  <a16:creationId xmlns:a16="http://schemas.microsoft.com/office/drawing/2014/main" id="{6B409B5B-DDCF-0B4D-735A-D2FB5173A6FE}"/>
                </a:ext>
              </a:extLst>
            </p:cNvPr>
            <p:cNvGrpSpPr>
              <a:grpSpLocks/>
            </p:cNvGrpSpPr>
            <p:nvPr/>
          </p:nvGrpSpPr>
          <p:grpSpPr bwMode="auto">
            <a:xfrm>
              <a:off x="1931626" y="2447763"/>
              <a:ext cx="419100" cy="538783"/>
              <a:chOff x="3016" y="1444"/>
              <a:chExt cx="264" cy="360"/>
            </a:xfrm>
          </p:grpSpPr>
          <p:sp>
            <p:nvSpPr>
              <p:cNvPr id="81" name="Line 63">
                <a:extLst>
                  <a:ext uri="{FF2B5EF4-FFF2-40B4-BE49-F238E27FC236}">
                    <a16:creationId xmlns:a16="http://schemas.microsoft.com/office/drawing/2014/main" id="{A5B0E7C6-A312-D874-B128-31E2409DAD67}"/>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Freeform 64">
                <a:extLst>
                  <a:ext uri="{FF2B5EF4-FFF2-40B4-BE49-F238E27FC236}">
                    <a16:creationId xmlns:a16="http://schemas.microsoft.com/office/drawing/2014/main" id="{08AB0C41-AD72-61AF-C41B-ED8F2BDBBB65}"/>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83" name="Freeform 65">
                <a:extLst>
                  <a:ext uri="{FF2B5EF4-FFF2-40B4-BE49-F238E27FC236}">
                    <a16:creationId xmlns:a16="http://schemas.microsoft.com/office/drawing/2014/main" id="{C51C048E-78BD-8BED-EA21-E3F70E1C649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84" name="Line 66">
                <a:extLst>
                  <a:ext uri="{FF2B5EF4-FFF2-40B4-BE49-F238E27FC236}">
                    <a16:creationId xmlns:a16="http://schemas.microsoft.com/office/drawing/2014/main" id="{39C5A8F8-6725-01CE-B973-2A3AC898854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67">
                <a:extLst>
                  <a:ext uri="{FF2B5EF4-FFF2-40B4-BE49-F238E27FC236}">
                    <a16:creationId xmlns:a16="http://schemas.microsoft.com/office/drawing/2014/main" id="{2E9D9916-C7D0-0F31-67AA-400ECBFD4A4F}"/>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68">
                <a:extLst>
                  <a:ext uri="{FF2B5EF4-FFF2-40B4-BE49-F238E27FC236}">
                    <a16:creationId xmlns:a16="http://schemas.microsoft.com/office/drawing/2014/main" id="{6F4BD13B-5FDA-0BA0-6F28-B58DA93F5FFB}"/>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Oval 69">
                <a:extLst>
                  <a:ext uri="{FF2B5EF4-FFF2-40B4-BE49-F238E27FC236}">
                    <a16:creationId xmlns:a16="http://schemas.microsoft.com/office/drawing/2014/main" id="{BEBECE5C-B9C1-1B69-1463-E1C3DC01F126}"/>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88" name="Oval 70">
                <a:extLst>
                  <a:ext uri="{FF2B5EF4-FFF2-40B4-BE49-F238E27FC236}">
                    <a16:creationId xmlns:a16="http://schemas.microsoft.com/office/drawing/2014/main" id="{8A08DF83-23E5-5799-07DF-F182E3BD891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198" name="Text Box 218">
              <a:extLst>
                <a:ext uri="{FF2B5EF4-FFF2-40B4-BE49-F238E27FC236}">
                  <a16:creationId xmlns:a16="http://schemas.microsoft.com/office/drawing/2014/main" id="{6F12D6E1-A41F-3451-9D13-D7AAF95D41AC}"/>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33" name="Picture 432">
              <a:extLst>
                <a:ext uri="{FF2B5EF4-FFF2-40B4-BE49-F238E27FC236}">
                  <a16:creationId xmlns:a16="http://schemas.microsoft.com/office/drawing/2014/main" id="{2CB76DDC-EDF6-4F20-FB3D-5611327EDADA}"/>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40" name="Group 439">
            <a:extLst>
              <a:ext uri="{FF2B5EF4-FFF2-40B4-BE49-F238E27FC236}">
                <a16:creationId xmlns:a16="http://schemas.microsoft.com/office/drawing/2014/main" id="{3126113F-2A64-975D-1744-A44E4018A58D}"/>
              </a:ext>
            </a:extLst>
          </p:cNvPr>
          <p:cNvGrpSpPr/>
          <p:nvPr/>
        </p:nvGrpSpPr>
        <p:grpSpPr>
          <a:xfrm>
            <a:off x="2495399" y="2727416"/>
            <a:ext cx="495344" cy="554713"/>
            <a:chOff x="1855382" y="2447763"/>
            <a:chExt cx="495344" cy="554713"/>
          </a:xfrm>
        </p:grpSpPr>
        <p:grpSp>
          <p:nvGrpSpPr>
            <p:cNvPr id="441" name="Group 71">
              <a:extLst>
                <a:ext uri="{FF2B5EF4-FFF2-40B4-BE49-F238E27FC236}">
                  <a16:creationId xmlns:a16="http://schemas.microsoft.com/office/drawing/2014/main" id="{62AFB058-5FE8-6BB4-DED3-F1ECEAC28952}"/>
                </a:ext>
              </a:extLst>
            </p:cNvPr>
            <p:cNvGrpSpPr>
              <a:grpSpLocks/>
            </p:cNvGrpSpPr>
            <p:nvPr/>
          </p:nvGrpSpPr>
          <p:grpSpPr bwMode="auto">
            <a:xfrm>
              <a:off x="1931626" y="2447763"/>
              <a:ext cx="419100" cy="538783"/>
              <a:chOff x="3016" y="1444"/>
              <a:chExt cx="264" cy="360"/>
            </a:xfrm>
          </p:grpSpPr>
          <p:sp>
            <p:nvSpPr>
              <p:cNvPr id="444" name="Line 63">
                <a:extLst>
                  <a:ext uri="{FF2B5EF4-FFF2-40B4-BE49-F238E27FC236}">
                    <a16:creationId xmlns:a16="http://schemas.microsoft.com/office/drawing/2014/main" id="{FB2BC7B3-14F4-2AB0-90DE-8554F19F03CB}"/>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Freeform 64">
                <a:extLst>
                  <a:ext uri="{FF2B5EF4-FFF2-40B4-BE49-F238E27FC236}">
                    <a16:creationId xmlns:a16="http://schemas.microsoft.com/office/drawing/2014/main" id="{09FC01F7-2A27-CDA4-AB49-826039771BB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46" name="Freeform 65">
                <a:extLst>
                  <a:ext uri="{FF2B5EF4-FFF2-40B4-BE49-F238E27FC236}">
                    <a16:creationId xmlns:a16="http://schemas.microsoft.com/office/drawing/2014/main" id="{24E926C7-71B2-EEC5-408F-99EFD41E56BB}"/>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47" name="Line 66">
                <a:extLst>
                  <a:ext uri="{FF2B5EF4-FFF2-40B4-BE49-F238E27FC236}">
                    <a16:creationId xmlns:a16="http://schemas.microsoft.com/office/drawing/2014/main" id="{1172C674-3B9C-797F-153B-A868E0E5DD67}"/>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8" name="Line 67">
                <a:extLst>
                  <a:ext uri="{FF2B5EF4-FFF2-40B4-BE49-F238E27FC236}">
                    <a16:creationId xmlns:a16="http://schemas.microsoft.com/office/drawing/2014/main" id="{1D769BE1-E280-12E8-33B1-A78608EAB205}"/>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9" name="Line 68">
                <a:extLst>
                  <a:ext uri="{FF2B5EF4-FFF2-40B4-BE49-F238E27FC236}">
                    <a16:creationId xmlns:a16="http://schemas.microsoft.com/office/drawing/2014/main" id="{1F873590-9737-D7FE-6A9A-3449D26CBC4D}"/>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Oval 69">
                <a:extLst>
                  <a:ext uri="{FF2B5EF4-FFF2-40B4-BE49-F238E27FC236}">
                    <a16:creationId xmlns:a16="http://schemas.microsoft.com/office/drawing/2014/main" id="{E4326F47-4271-D33C-540B-61EE3DC3887D}"/>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51" name="Oval 70">
                <a:extLst>
                  <a:ext uri="{FF2B5EF4-FFF2-40B4-BE49-F238E27FC236}">
                    <a16:creationId xmlns:a16="http://schemas.microsoft.com/office/drawing/2014/main" id="{28FEAF23-4281-74A0-7C7D-2EC60D65958E}"/>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42" name="Text Box 218">
              <a:extLst>
                <a:ext uri="{FF2B5EF4-FFF2-40B4-BE49-F238E27FC236}">
                  <a16:creationId xmlns:a16="http://schemas.microsoft.com/office/drawing/2014/main" id="{80991900-09C1-1C62-C505-15A737336DF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43" name="Picture 442">
              <a:extLst>
                <a:ext uri="{FF2B5EF4-FFF2-40B4-BE49-F238E27FC236}">
                  <a16:creationId xmlns:a16="http://schemas.microsoft.com/office/drawing/2014/main" id="{A2859D43-686C-10A8-D031-01A7C3520092}"/>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52" name="Group 451">
            <a:extLst>
              <a:ext uri="{FF2B5EF4-FFF2-40B4-BE49-F238E27FC236}">
                <a16:creationId xmlns:a16="http://schemas.microsoft.com/office/drawing/2014/main" id="{E82C6DCA-93EC-1FE7-5789-5A86DF9E5D74}"/>
              </a:ext>
            </a:extLst>
          </p:cNvPr>
          <p:cNvGrpSpPr/>
          <p:nvPr/>
        </p:nvGrpSpPr>
        <p:grpSpPr>
          <a:xfrm>
            <a:off x="3069819" y="2396397"/>
            <a:ext cx="495344" cy="554713"/>
            <a:chOff x="1855382" y="2447763"/>
            <a:chExt cx="495344" cy="554713"/>
          </a:xfrm>
        </p:grpSpPr>
        <p:grpSp>
          <p:nvGrpSpPr>
            <p:cNvPr id="453" name="Group 71">
              <a:extLst>
                <a:ext uri="{FF2B5EF4-FFF2-40B4-BE49-F238E27FC236}">
                  <a16:creationId xmlns:a16="http://schemas.microsoft.com/office/drawing/2014/main" id="{A93C1510-BBFF-85C9-C1B1-7AAAA697B3C6}"/>
                </a:ext>
              </a:extLst>
            </p:cNvPr>
            <p:cNvGrpSpPr>
              <a:grpSpLocks/>
            </p:cNvGrpSpPr>
            <p:nvPr/>
          </p:nvGrpSpPr>
          <p:grpSpPr bwMode="auto">
            <a:xfrm>
              <a:off x="1931626" y="2447763"/>
              <a:ext cx="419100" cy="538783"/>
              <a:chOff x="3016" y="1444"/>
              <a:chExt cx="264" cy="360"/>
            </a:xfrm>
          </p:grpSpPr>
          <p:sp>
            <p:nvSpPr>
              <p:cNvPr id="456" name="Line 63">
                <a:extLst>
                  <a:ext uri="{FF2B5EF4-FFF2-40B4-BE49-F238E27FC236}">
                    <a16:creationId xmlns:a16="http://schemas.microsoft.com/office/drawing/2014/main" id="{3AF80F2E-4C5F-7309-2AAE-3AE7E77795B9}"/>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7" name="Freeform 64">
                <a:extLst>
                  <a:ext uri="{FF2B5EF4-FFF2-40B4-BE49-F238E27FC236}">
                    <a16:creationId xmlns:a16="http://schemas.microsoft.com/office/drawing/2014/main" id="{9A89C2EB-FFD5-0E58-7843-8C273C4C7BA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58" name="Freeform 65">
                <a:extLst>
                  <a:ext uri="{FF2B5EF4-FFF2-40B4-BE49-F238E27FC236}">
                    <a16:creationId xmlns:a16="http://schemas.microsoft.com/office/drawing/2014/main" id="{3C400AD2-E368-D966-78EC-38BD2FC6806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59" name="Line 66">
                <a:extLst>
                  <a:ext uri="{FF2B5EF4-FFF2-40B4-BE49-F238E27FC236}">
                    <a16:creationId xmlns:a16="http://schemas.microsoft.com/office/drawing/2014/main" id="{754E01EE-B3FF-DA88-89F7-32852A0E5121}"/>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 name="Line 67">
                <a:extLst>
                  <a:ext uri="{FF2B5EF4-FFF2-40B4-BE49-F238E27FC236}">
                    <a16:creationId xmlns:a16="http://schemas.microsoft.com/office/drawing/2014/main" id="{C8E3F194-C016-3381-40FA-D706722DC752}"/>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 name="Line 68">
                <a:extLst>
                  <a:ext uri="{FF2B5EF4-FFF2-40B4-BE49-F238E27FC236}">
                    <a16:creationId xmlns:a16="http://schemas.microsoft.com/office/drawing/2014/main" id="{60DA2B9A-E81A-9F9E-6788-1A27FF9C5044}"/>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 name="Oval 69">
                <a:extLst>
                  <a:ext uri="{FF2B5EF4-FFF2-40B4-BE49-F238E27FC236}">
                    <a16:creationId xmlns:a16="http://schemas.microsoft.com/office/drawing/2014/main" id="{08F62091-4CE7-9FDA-EB47-AF77602CBAE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63" name="Oval 70">
                <a:extLst>
                  <a:ext uri="{FF2B5EF4-FFF2-40B4-BE49-F238E27FC236}">
                    <a16:creationId xmlns:a16="http://schemas.microsoft.com/office/drawing/2014/main" id="{1AA4A9BC-5D55-2070-8A2C-7B1E54BFC76B}"/>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54" name="Text Box 218">
              <a:extLst>
                <a:ext uri="{FF2B5EF4-FFF2-40B4-BE49-F238E27FC236}">
                  <a16:creationId xmlns:a16="http://schemas.microsoft.com/office/drawing/2014/main" id="{7C95ABF2-FA6F-704D-2EB3-E75765A82A3F}"/>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55" name="Picture 454">
              <a:extLst>
                <a:ext uri="{FF2B5EF4-FFF2-40B4-BE49-F238E27FC236}">
                  <a16:creationId xmlns:a16="http://schemas.microsoft.com/office/drawing/2014/main" id="{51AD3D9F-5F2F-3287-71B4-7CF576532E39}"/>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64" name="Group 463">
            <a:extLst>
              <a:ext uri="{FF2B5EF4-FFF2-40B4-BE49-F238E27FC236}">
                <a16:creationId xmlns:a16="http://schemas.microsoft.com/office/drawing/2014/main" id="{F3D4E41C-CFE1-B1ED-9A0D-D268C9CE2E7D}"/>
              </a:ext>
            </a:extLst>
          </p:cNvPr>
          <p:cNvGrpSpPr/>
          <p:nvPr/>
        </p:nvGrpSpPr>
        <p:grpSpPr>
          <a:xfrm>
            <a:off x="3780730" y="2671353"/>
            <a:ext cx="495344" cy="554713"/>
            <a:chOff x="1855382" y="2447763"/>
            <a:chExt cx="495344" cy="554713"/>
          </a:xfrm>
        </p:grpSpPr>
        <p:grpSp>
          <p:nvGrpSpPr>
            <p:cNvPr id="465" name="Group 71">
              <a:extLst>
                <a:ext uri="{FF2B5EF4-FFF2-40B4-BE49-F238E27FC236}">
                  <a16:creationId xmlns:a16="http://schemas.microsoft.com/office/drawing/2014/main" id="{D4511B70-A7BB-C413-D7D3-70575F87D5A8}"/>
                </a:ext>
              </a:extLst>
            </p:cNvPr>
            <p:cNvGrpSpPr>
              <a:grpSpLocks/>
            </p:cNvGrpSpPr>
            <p:nvPr/>
          </p:nvGrpSpPr>
          <p:grpSpPr bwMode="auto">
            <a:xfrm>
              <a:off x="1931626" y="2447763"/>
              <a:ext cx="419100" cy="538783"/>
              <a:chOff x="3016" y="1444"/>
              <a:chExt cx="264" cy="360"/>
            </a:xfrm>
          </p:grpSpPr>
          <p:sp>
            <p:nvSpPr>
              <p:cNvPr id="468" name="Line 63">
                <a:extLst>
                  <a:ext uri="{FF2B5EF4-FFF2-40B4-BE49-F238E27FC236}">
                    <a16:creationId xmlns:a16="http://schemas.microsoft.com/office/drawing/2014/main" id="{62CBDB04-6340-D73D-772D-85E9A0DB749C}"/>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9" name="Freeform 64">
                <a:extLst>
                  <a:ext uri="{FF2B5EF4-FFF2-40B4-BE49-F238E27FC236}">
                    <a16:creationId xmlns:a16="http://schemas.microsoft.com/office/drawing/2014/main" id="{808EF856-8E26-2A7D-DDC5-616C992DFD4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70" name="Freeform 65">
                <a:extLst>
                  <a:ext uri="{FF2B5EF4-FFF2-40B4-BE49-F238E27FC236}">
                    <a16:creationId xmlns:a16="http://schemas.microsoft.com/office/drawing/2014/main" id="{06A3DEE1-ABDC-776B-E5D6-615E79AEBBC5}"/>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71" name="Line 66">
                <a:extLst>
                  <a:ext uri="{FF2B5EF4-FFF2-40B4-BE49-F238E27FC236}">
                    <a16:creationId xmlns:a16="http://schemas.microsoft.com/office/drawing/2014/main" id="{2927BB3D-0DAD-6DD3-BDD3-F463E765768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2" name="Line 67">
                <a:extLst>
                  <a:ext uri="{FF2B5EF4-FFF2-40B4-BE49-F238E27FC236}">
                    <a16:creationId xmlns:a16="http://schemas.microsoft.com/office/drawing/2014/main" id="{D8FD048A-0F58-6341-AC49-1655D1B24D5E}"/>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3" name="Line 68">
                <a:extLst>
                  <a:ext uri="{FF2B5EF4-FFF2-40B4-BE49-F238E27FC236}">
                    <a16:creationId xmlns:a16="http://schemas.microsoft.com/office/drawing/2014/main" id="{18BE6F25-EFA6-0D30-EED4-E7DB5C487C17}"/>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4" name="Oval 69">
                <a:extLst>
                  <a:ext uri="{FF2B5EF4-FFF2-40B4-BE49-F238E27FC236}">
                    <a16:creationId xmlns:a16="http://schemas.microsoft.com/office/drawing/2014/main" id="{D9B76CF8-0953-D229-8EFF-98344E8E9492}"/>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75" name="Oval 70">
                <a:extLst>
                  <a:ext uri="{FF2B5EF4-FFF2-40B4-BE49-F238E27FC236}">
                    <a16:creationId xmlns:a16="http://schemas.microsoft.com/office/drawing/2014/main" id="{004181D4-0078-5A24-27C6-6EA9AA2FAF2F}"/>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66" name="Text Box 218">
              <a:extLst>
                <a:ext uri="{FF2B5EF4-FFF2-40B4-BE49-F238E27FC236}">
                  <a16:creationId xmlns:a16="http://schemas.microsoft.com/office/drawing/2014/main" id="{B7C929AF-3E74-FFCA-AD3B-B81AAD1CF79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67" name="Picture 466">
              <a:extLst>
                <a:ext uri="{FF2B5EF4-FFF2-40B4-BE49-F238E27FC236}">
                  <a16:creationId xmlns:a16="http://schemas.microsoft.com/office/drawing/2014/main" id="{0AD10812-FBA0-010C-26C9-37F990E1EC21}"/>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76" name="Group 475">
            <a:extLst>
              <a:ext uri="{FF2B5EF4-FFF2-40B4-BE49-F238E27FC236}">
                <a16:creationId xmlns:a16="http://schemas.microsoft.com/office/drawing/2014/main" id="{214CC09D-0693-3FE3-1B8C-A44244C6E20B}"/>
              </a:ext>
            </a:extLst>
          </p:cNvPr>
          <p:cNvGrpSpPr/>
          <p:nvPr/>
        </p:nvGrpSpPr>
        <p:grpSpPr>
          <a:xfrm>
            <a:off x="1953246" y="3301359"/>
            <a:ext cx="495344" cy="554713"/>
            <a:chOff x="1855382" y="2447763"/>
            <a:chExt cx="495344" cy="554713"/>
          </a:xfrm>
        </p:grpSpPr>
        <p:grpSp>
          <p:nvGrpSpPr>
            <p:cNvPr id="477" name="Group 71">
              <a:extLst>
                <a:ext uri="{FF2B5EF4-FFF2-40B4-BE49-F238E27FC236}">
                  <a16:creationId xmlns:a16="http://schemas.microsoft.com/office/drawing/2014/main" id="{A6B37EAB-8A07-B0CB-5619-1C277825B6B9}"/>
                </a:ext>
              </a:extLst>
            </p:cNvPr>
            <p:cNvGrpSpPr>
              <a:grpSpLocks/>
            </p:cNvGrpSpPr>
            <p:nvPr/>
          </p:nvGrpSpPr>
          <p:grpSpPr bwMode="auto">
            <a:xfrm>
              <a:off x="1931626" y="2447763"/>
              <a:ext cx="419100" cy="538783"/>
              <a:chOff x="3016" y="1444"/>
              <a:chExt cx="264" cy="360"/>
            </a:xfrm>
          </p:grpSpPr>
          <p:sp>
            <p:nvSpPr>
              <p:cNvPr id="480" name="Line 63">
                <a:extLst>
                  <a:ext uri="{FF2B5EF4-FFF2-40B4-BE49-F238E27FC236}">
                    <a16:creationId xmlns:a16="http://schemas.microsoft.com/office/drawing/2014/main" id="{D067C0F3-6461-1B79-567B-C6C38C2DE80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 name="Freeform 64">
                <a:extLst>
                  <a:ext uri="{FF2B5EF4-FFF2-40B4-BE49-F238E27FC236}">
                    <a16:creationId xmlns:a16="http://schemas.microsoft.com/office/drawing/2014/main" id="{58727FB0-9C75-C56D-F9D8-75AD3599DB4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82" name="Freeform 65">
                <a:extLst>
                  <a:ext uri="{FF2B5EF4-FFF2-40B4-BE49-F238E27FC236}">
                    <a16:creationId xmlns:a16="http://schemas.microsoft.com/office/drawing/2014/main" id="{614AC2B4-37D1-65F8-AA5A-40F6EB67F9B9}"/>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83" name="Line 66">
                <a:extLst>
                  <a:ext uri="{FF2B5EF4-FFF2-40B4-BE49-F238E27FC236}">
                    <a16:creationId xmlns:a16="http://schemas.microsoft.com/office/drawing/2014/main" id="{6C20F051-9864-476A-568C-F0F50D8F844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 name="Line 67">
                <a:extLst>
                  <a:ext uri="{FF2B5EF4-FFF2-40B4-BE49-F238E27FC236}">
                    <a16:creationId xmlns:a16="http://schemas.microsoft.com/office/drawing/2014/main" id="{58D2FC4F-E7E7-79F3-A35D-1428249EABA8}"/>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5" name="Line 68">
                <a:extLst>
                  <a:ext uri="{FF2B5EF4-FFF2-40B4-BE49-F238E27FC236}">
                    <a16:creationId xmlns:a16="http://schemas.microsoft.com/office/drawing/2014/main" id="{9ED66E70-869E-235A-EBEF-22F75391EA79}"/>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6" name="Oval 69">
                <a:extLst>
                  <a:ext uri="{FF2B5EF4-FFF2-40B4-BE49-F238E27FC236}">
                    <a16:creationId xmlns:a16="http://schemas.microsoft.com/office/drawing/2014/main" id="{2846E7A4-5A64-3C9E-ABEB-A5AF516929C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87" name="Oval 70">
                <a:extLst>
                  <a:ext uri="{FF2B5EF4-FFF2-40B4-BE49-F238E27FC236}">
                    <a16:creationId xmlns:a16="http://schemas.microsoft.com/office/drawing/2014/main" id="{69A64E36-6168-8A3E-E610-D9D77615A09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78" name="Text Box 218">
              <a:extLst>
                <a:ext uri="{FF2B5EF4-FFF2-40B4-BE49-F238E27FC236}">
                  <a16:creationId xmlns:a16="http://schemas.microsoft.com/office/drawing/2014/main" id="{29E28D2A-EFA4-BE26-497E-B1EDE25D21C0}"/>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79" name="Picture 478">
              <a:extLst>
                <a:ext uri="{FF2B5EF4-FFF2-40B4-BE49-F238E27FC236}">
                  <a16:creationId xmlns:a16="http://schemas.microsoft.com/office/drawing/2014/main" id="{A9F47C90-2334-3697-6F24-A635C02FDEBD}"/>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88" name="Group 487">
            <a:extLst>
              <a:ext uri="{FF2B5EF4-FFF2-40B4-BE49-F238E27FC236}">
                <a16:creationId xmlns:a16="http://schemas.microsoft.com/office/drawing/2014/main" id="{998EA5DD-E793-517F-DABB-89B49663224A}"/>
              </a:ext>
            </a:extLst>
          </p:cNvPr>
          <p:cNvGrpSpPr/>
          <p:nvPr/>
        </p:nvGrpSpPr>
        <p:grpSpPr>
          <a:xfrm>
            <a:off x="3019019" y="3308652"/>
            <a:ext cx="495344" cy="554713"/>
            <a:chOff x="1855382" y="2447763"/>
            <a:chExt cx="495344" cy="554713"/>
          </a:xfrm>
        </p:grpSpPr>
        <p:grpSp>
          <p:nvGrpSpPr>
            <p:cNvPr id="489" name="Group 71">
              <a:extLst>
                <a:ext uri="{FF2B5EF4-FFF2-40B4-BE49-F238E27FC236}">
                  <a16:creationId xmlns:a16="http://schemas.microsoft.com/office/drawing/2014/main" id="{CC004E39-12BD-D794-0927-96DD6991B51A}"/>
                </a:ext>
              </a:extLst>
            </p:cNvPr>
            <p:cNvGrpSpPr>
              <a:grpSpLocks/>
            </p:cNvGrpSpPr>
            <p:nvPr/>
          </p:nvGrpSpPr>
          <p:grpSpPr bwMode="auto">
            <a:xfrm>
              <a:off x="1931626" y="2447763"/>
              <a:ext cx="419100" cy="538783"/>
              <a:chOff x="3016" y="1444"/>
              <a:chExt cx="264" cy="360"/>
            </a:xfrm>
          </p:grpSpPr>
          <p:sp>
            <p:nvSpPr>
              <p:cNvPr id="492" name="Line 63">
                <a:extLst>
                  <a:ext uri="{FF2B5EF4-FFF2-40B4-BE49-F238E27FC236}">
                    <a16:creationId xmlns:a16="http://schemas.microsoft.com/office/drawing/2014/main" id="{FBEFBEB4-6850-4F4B-6F95-0317282369A0}"/>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3" name="Freeform 64">
                <a:extLst>
                  <a:ext uri="{FF2B5EF4-FFF2-40B4-BE49-F238E27FC236}">
                    <a16:creationId xmlns:a16="http://schemas.microsoft.com/office/drawing/2014/main" id="{371EC7D3-FACC-1FF7-957A-B8BF7F2A8CC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94" name="Freeform 65">
                <a:extLst>
                  <a:ext uri="{FF2B5EF4-FFF2-40B4-BE49-F238E27FC236}">
                    <a16:creationId xmlns:a16="http://schemas.microsoft.com/office/drawing/2014/main" id="{A68D8647-CDBA-D630-7D7B-5F4CF50A3B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95" name="Line 66">
                <a:extLst>
                  <a:ext uri="{FF2B5EF4-FFF2-40B4-BE49-F238E27FC236}">
                    <a16:creationId xmlns:a16="http://schemas.microsoft.com/office/drawing/2014/main" id="{6814461F-1226-2649-9380-B3D07BCE9186}"/>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6" name="Line 67">
                <a:extLst>
                  <a:ext uri="{FF2B5EF4-FFF2-40B4-BE49-F238E27FC236}">
                    <a16:creationId xmlns:a16="http://schemas.microsoft.com/office/drawing/2014/main" id="{C062E472-3483-480E-8EAE-E1EAA35BAE6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7" name="Line 68">
                <a:extLst>
                  <a:ext uri="{FF2B5EF4-FFF2-40B4-BE49-F238E27FC236}">
                    <a16:creationId xmlns:a16="http://schemas.microsoft.com/office/drawing/2014/main" id="{2371759F-7B57-466D-0150-E0D219C05675}"/>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8" name="Oval 69">
                <a:extLst>
                  <a:ext uri="{FF2B5EF4-FFF2-40B4-BE49-F238E27FC236}">
                    <a16:creationId xmlns:a16="http://schemas.microsoft.com/office/drawing/2014/main" id="{6181F43D-10A9-6014-01D5-8227B09A9E29}"/>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99" name="Oval 70">
                <a:extLst>
                  <a:ext uri="{FF2B5EF4-FFF2-40B4-BE49-F238E27FC236}">
                    <a16:creationId xmlns:a16="http://schemas.microsoft.com/office/drawing/2014/main" id="{3FC89BC9-590B-0B09-BE6F-AB01C814AA02}"/>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90" name="Text Box 218">
              <a:extLst>
                <a:ext uri="{FF2B5EF4-FFF2-40B4-BE49-F238E27FC236}">
                  <a16:creationId xmlns:a16="http://schemas.microsoft.com/office/drawing/2014/main" id="{CF9DEE83-941B-CEE6-FEEC-89BE70CFE7A8}"/>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91" name="Picture 490">
              <a:extLst>
                <a:ext uri="{FF2B5EF4-FFF2-40B4-BE49-F238E27FC236}">
                  <a16:creationId xmlns:a16="http://schemas.microsoft.com/office/drawing/2014/main" id="{22F5B6FA-C043-0674-ADE5-9452D1F12DFC}"/>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00" name="Group 499">
            <a:extLst>
              <a:ext uri="{FF2B5EF4-FFF2-40B4-BE49-F238E27FC236}">
                <a16:creationId xmlns:a16="http://schemas.microsoft.com/office/drawing/2014/main" id="{DD1F2C4F-295F-1576-03AF-E1EF134506C0}"/>
              </a:ext>
            </a:extLst>
          </p:cNvPr>
          <p:cNvGrpSpPr/>
          <p:nvPr/>
        </p:nvGrpSpPr>
        <p:grpSpPr>
          <a:xfrm>
            <a:off x="3683893" y="3390674"/>
            <a:ext cx="495344" cy="554713"/>
            <a:chOff x="1855382" y="2447763"/>
            <a:chExt cx="495344" cy="554713"/>
          </a:xfrm>
        </p:grpSpPr>
        <p:grpSp>
          <p:nvGrpSpPr>
            <p:cNvPr id="501" name="Group 71">
              <a:extLst>
                <a:ext uri="{FF2B5EF4-FFF2-40B4-BE49-F238E27FC236}">
                  <a16:creationId xmlns:a16="http://schemas.microsoft.com/office/drawing/2014/main" id="{B5C78DF7-161A-59A8-2561-721D976598DC}"/>
                </a:ext>
              </a:extLst>
            </p:cNvPr>
            <p:cNvGrpSpPr>
              <a:grpSpLocks/>
            </p:cNvGrpSpPr>
            <p:nvPr/>
          </p:nvGrpSpPr>
          <p:grpSpPr bwMode="auto">
            <a:xfrm>
              <a:off x="1931626" y="2447763"/>
              <a:ext cx="419100" cy="538783"/>
              <a:chOff x="3016" y="1444"/>
              <a:chExt cx="264" cy="360"/>
            </a:xfrm>
          </p:grpSpPr>
          <p:sp>
            <p:nvSpPr>
              <p:cNvPr id="504" name="Line 63">
                <a:extLst>
                  <a:ext uri="{FF2B5EF4-FFF2-40B4-BE49-F238E27FC236}">
                    <a16:creationId xmlns:a16="http://schemas.microsoft.com/office/drawing/2014/main" id="{17C5052E-EC98-3B45-E568-765DD2E8859A}"/>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5" name="Freeform 64">
                <a:extLst>
                  <a:ext uri="{FF2B5EF4-FFF2-40B4-BE49-F238E27FC236}">
                    <a16:creationId xmlns:a16="http://schemas.microsoft.com/office/drawing/2014/main" id="{9D76D3AD-BA7B-EC53-2DA2-7D48059CABC1}"/>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06" name="Freeform 65">
                <a:extLst>
                  <a:ext uri="{FF2B5EF4-FFF2-40B4-BE49-F238E27FC236}">
                    <a16:creationId xmlns:a16="http://schemas.microsoft.com/office/drawing/2014/main" id="{FBC2396A-AF49-3697-D789-9FD0FF3007A0}"/>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07" name="Line 66">
                <a:extLst>
                  <a:ext uri="{FF2B5EF4-FFF2-40B4-BE49-F238E27FC236}">
                    <a16:creationId xmlns:a16="http://schemas.microsoft.com/office/drawing/2014/main" id="{3CF4AC38-DC03-30EA-D191-977288BC50FB}"/>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8" name="Line 67">
                <a:extLst>
                  <a:ext uri="{FF2B5EF4-FFF2-40B4-BE49-F238E27FC236}">
                    <a16:creationId xmlns:a16="http://schemas.microsoft.com/office/drawing/2014/main" id="{9C81A743-5636-6EFA-561C-84DE870A91A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9" name="Line 68">
                <a:extLst>
                  <a:ext uri="{FF2B5EF4-FFF2-40B4-BE49-F238E27FC236}">
                    <a16:creationId xmlns:a16="http://schemas.microsoft.com/office/drawing/2014/main" id="{A3B55A7B-5223-61D9-C4D9-019BDEFA69B6}"/>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0" name="Oval 69">
                <a:extLst>
                  <a:ext uri="{FF2B5EF4-FFF2-40B4-BE49-F238E27FC236}">
                    <a16:creationId xmlns:a16="http://schemas.microsoft.com/office/drawing/2014/main" id="{4A3FC751-22FD-EF82-9305-A52958AE946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11" name="Oval 70">
                <a:extLst>
                  <a:ext uri="{FF2B5EF4-FFF2-40B4-BE49-F238E27FC236}">
                    <a16:creationId xmlns:a16="http://schemas.microsoft.com/office/drawing/2014/main" id="{862E42D0-B3E1-A9FB-F477-A003F5BB6AE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02" name="Text Box 218">
              <a:extLst>
                <a:ext uri="{FF2B5EF4-FFF2-40B4-BE49-F238E27FC236}">
                  <a16:creationId xmlns:a16="http://schemas.microsoft.com/office/drawing/2014/main" id="{C711D30E-C939-4CB5-ED14-DF4C875021D1}"/>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03" name="Picture 502">
              <a:extLst>
                <a:ext uri="{FF2B5EF4-FFF2-40B4-BE49-F238E27FC236}">
                  <a16:creationId xmlns:a16="http://schemas.microsoft.com/office/drawing/2014/main" id="{117E22A3-5E27-021D-C7F9-7CE0DB66189E}"/>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12" name="Group 511">
            <a:extLst>
              <a:ext uri="{FF2B5EF4-FFF2-40B4-BE49-F238E27FC236}">
                <a16:creationId xmlns:a16="http://schemas.microsoft.com/office/drawing/2014/main" id="{FC10A68A-F168-B423-EA14-A2CFA6AFBA67}"/>
              </a:ext>
            </a:extLst>
          </p:cNvPr>
          <p:cNvGrpSpPr/>
          <p:nvPr/>
        </p:nvGrpSpPr>
        <p:grpSpPr>
          <a:xfrm>
            <a:off x="5532575" y="2588431"/>
            <a:ext cx="495344" cy="554713"/>
            <a:chOff x="1855382" y="2447763"/>
            <a:chExt cx="495344" cy="554713"/>
          </a:xfrm>
        </p:grpSpPr>
        <p:grpSp>
          <p:nvGrpSpPr>
            <p:cNvPr id="513" name="Group 71">
              <a:extLst>
                <a:ext uri="{FF2B5EF4-FFF2-40B4-BE49-F238E27FC236}">
                  <a16:creationId xmlns:a16="http://schemas.microsoft.com/office/drawing/2014/main" id="{0D0C0B0B-E0E9-8CAA-A045-221D187586CB}"/>
                </a:ext>
              </a:extLst>
            </p:cNvPr>
            <p:cNvGrpSpPr>
              <a:grpSpLocks/>
            </p:cNvGrpSpPr>
            <p:nvPr/>
          </p:nvGrpSpPr>
          <p:grpSpPr bwMode="auto">
            <a:xfrm>
              <a:off x="1931626" y="2447763"/>
              <a:ext cx="419100" cy="538783"/>
              <a:chOff x="3016" y="1444"/>
              <a:chExt cx="264" cy="360"/>
            </a:xfrm>
          </p:grpSpPr>
          <p:sp>
            <p:nvSpPr>
              <p:cNvPr id="516" name="Line 63">
                <a:extLst>
                  <a:ext uri="{FF2B5EF4-FFF2-40B4-BE49-F238E27FC236}">
                    <a16:creationId xmlns:a16="http://schemas.microsoft.com/office/drawing/2014/main" id="{DA342D82-689C-D69E-7855-770EACCE5948}"/>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7" name="Freeform 64">
                <a:extLst>
                  <a:ext uri="{FF2B5EF4-FFF2-40B4-BE49-F238E27FC236}">
                    <a16:creationId xmlns:a16="http://schemas.microsoft.com/office/drawing/2014/main" id="{A50E502B-D9FD-A490-6B50-BD4FDA89B66B}"/>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18" name="Freeform 65">
                <a:extLst>
                  <a:ext uri="{FF2B5EF4-FFF2-40B4-BE49-F238E27FC236}">
                    <a16:creationId xmlns:a16="http://schemas.microsoft.com/office/drawing/2014/main" id="{C0ECCF1C-523F-F536-6D0C-7A5D65E88A0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19" name="Line 66">
                <a:extLst>
                  <a:ext uri="{FF2B5EF4-FFF2-40B4-BE49-F238E27FC236}">
                    <a16:creationId xmlns:a16="http://schemas.microsoft.com/office/drawing/2014/main" id="{3ADF3E3E-D131-06A8-319F-B619EF8AD539}"/>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 name="Line 67">
                <a:extLst>
                  <a:ext uri="{FF2B5EF4-FFF2-40B4-BE49-F238E27FC236}">
                    <a16:creationId xmlns:a16="http://schemas.microsoft.com/office/drawing/2014/main" id="{68B2E737-9EF6-BEA4-B70A-4925A5A2DDBA}"/>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 name="Line 68">
                <a:extLst>
                  <a:ext uri="{FF2B5EF4-FFF2-40B4-BE49-F238E27FC236}">
                    <a16:creationId xmlns:a16="http://schemas.microsoft.com/office/drawing/2014/main" id="{70DC8BE8-96C8-A4AC-6E72-9907410FBCA8}"/>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 name="Oval 69">
                <a:extLst>
                  <a:ext uri="{FF2B5EF4-FFF2-40B4-BE49-F238E27FC236}">
                    <a16:creationId xmlns:a16="http://schemas.microsoft.com/office/drawing/2014/main" id="{908E0BAB-54F3-2B81-D52E-E9E10E92E82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23" name="Oval 70">
                <a:extLst>
                  <a:ext uri="{FF2B5EF4-FFF2-40B4-BE49-F238E27FC236}">
                    <a16:creationId xmlns:a16="http://schemas.microsoft.com/office/drawing/2014/main" id="{FBDA4E96-891E-D4D5-2876-98695C64AB05}"/>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14" name="Text Box 218">
              <a:extLst>
                <a:ext uri="{FF2B5EF4-FFF2-40B4-BE49-F238E27FC236}">
                  <a16:creationId xmlns:a16="http://schemas.microsoft.com/office/drawing/2014/main" id="{13542576-746B-3969-BDF0-C77521DCAC16}"/>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15" name="Picture 514">
              <a:extLst>
                <a:ext uri="{FF2B5EF4-FFF2-40B4-BE49-F238E27FC236}">
                  <a16:creationId xmlns:a16="http://schemas.microsoft.com/office/drawing/2014/main" id="{225C1C4F-F622-E788-D44B-F27D63E55E76}"/>
                </a:ext>
              </a:extLst>
            </p:cNvPr>
            <p:cNvPicPr>
              <a:picLocks noChangeAspect="1"/>
            </p:cNvPicPr>
            <p:nvPr/>
          </p:nvPicPr>
          <p:blipFill>
            <a:blip r:embed="rId10"/>
            <a:stretch>
              <a:fillRect/>
            </a:stretch>
          </p:blipFill>
          <p:spPr>
            <a:xfrm>
              <a:off x="1855382" y="2710376"/>
              <a:ext cx="215900" cy="292100"/>
            </a:xfrm>
            <a:prstGeom prst="rect">
              <a:avLst/>
            </a:prstGeom>
          </p:spPr>
        </p:pic>
      </p:grpSp>
      <p:pic>
        <p:nvPicPr>
          <p:cNvPr id="526" name="Picture 525">
            <a:extLst>
              <a:ext uri="{FF2B5EF4-FFF2-40B4-BE49-F238E27FC236}">
                <a16:creationId xmlns:a16="http://schemas.microsoft.com/office/drawing/2014/main" id="{A4B72E84-9D00-2A28-FE9B-1CE0AD015B78}"/>
              </a:ext>
            </a:extLst>
          </p:cNvPr>
          <p:cNvPicPr>
            <a:picLocks noChangeAspect="1"/>
          </p:cNvPicPr>
          <p:nvPr/>
        </p:nvPicPr>
        <p:blipFill>
          <a:blip r:embed="rId10"/>
          <a:stretch>
            <a:fillRect/>
          </a:stretch>
        </p:blipFill>
        <p:spPr>
          <a:xfrm>
            <a:off x="5699390" y="2928783"/>
            <a:ext cx="215900" cy="292100"/>
          </a:xfrm>
          <a:prstGeom prst="rect">
            <a:avLst/>
          </a:prstGeom>
        </p:spPr>
      </p:pic>
      <p:pic>
        <p:nvPicPr>
          <p:cNvPr id="527" name="Picture 526">
            <a:extLst>
              <a:ext uri="{FF2B5EF4-FFF2-40B4-BE49-F238E27FC236}">
                <a16:creationId xmlns:a16="http://schemas.microsoft.com/office/drawing/2014/main" id="{F31F1B10-8814-3A17-81F9-FA97BCD7767D}"/>
              </a:ext>
            </a:extLst>
          </p:cNvPr>
          <p:cNvPicPr>
            <a:picLocks noChangeAspect="1"/>
          </p:cNvPicPr>
          <p:nvPr/>
        </p:nvPicPr>
        <p:blipFill>
          <a:blip r:embed="rId10"/>
          <a:stretch>
            <a:fillRect/>
          </a:stretch>
        </p:blipFill>
        <p:spPr>
          <a:xfrm>
            <a:off x="5893065" y="2932653"/>
            <a:ext cx="215900" cy="292100"/>
          </a:xfrm>
          <a:prstGeom prst="rect">
            <a:avLst/>
          </a:prstGeom>
        </p:spPr>
      </p:pic>
      <p:pic>
        <p:nvPicPr>
          <p:cNvPr id="528" name="Picture 527">
            <a:extLst>
              <a:ext uri="{FF2B5EF4-FFF2-40B4-BE49-F238E27FC236}">
                <a16:creationId xmlns:a16="http://schemas.microsoft.com/office/drawing/2014/main" id="{399B920D-2254-AD9D-8904-5F5828812FF3}"/>
              </a:ext>
            </a:extLst>
          </p:cNvPr>
          <p:cNvPicPr>
            <a:picLocks noChangeAspect="1"/>
          </p:cNvPicPr>
          <p:nvPr/>
        </p:nvPicPr>
        <p:blipFill>
          <a:blip r:embed="rId10"/>
          <a:stretch>
            <a:fillRect/>
          </a:stretch>
        </p:blipFill>
        <p:spPr>
          <a:xfrm>
            <a:off x="5522248" y="3160261"/>
            <a:ext cx="215900" cy="292100"/>
          </a:xfrm>
          <a:prstGeom prst="rect">
            <a:avLst/>
          </a:prstGeom>
        </p:spPr>
      </p:pic>
      <p:pic>
        <p:nvPicPr>
          <p:cNvPr id="529" name="Picture 528">
            <a:extLst>
              <a:ext uri="{FF2B5EF4-FFF2-40B4-BE49-F238E27FC236}">
                <a16:creationId xmlns:a16="http://schemas.microsoft.com/office/drawing/2014/main" id="{4B9E13D4-6A23-5346-6543-B82AF2C3E898}"/>
              </a:ext>
            </a:extLst>
          </p:cNvPr>
          <p:cNvPicPr>
            <a:picLocks noChangeAspect="1"/>
          </p:cNvPicPr>
          <p:nvPr/>
        </p:nvPicPr>
        <p:blipFill>
          <a:blip r:embed="rId10"/>
          <a:stretch>
            <a:fillRect/>
          </a:stretch>
        </p:blipFill>
        <p:spPr>
          <a:xfrm>
            <a:off x="5771788" y="3221243"/>
            <a:ext cx="215900" cy="292100"/>
          </a:xfrm>
          <a:prstGeom prst="rect">
            <a:avLst/>
          </a:prstGeom>
        </p:spPr>
      </p:pic>
      <p:pic>
        <p:nvPicPr>
          <p:cNvPr id="530" name="Picture 529">
            <a:extLst>
              <a:ext uri="{FF2B5EF4-FFF2-40B4-BE49-F238E27FC236}">
                <a16:creationId xmlns:a16="http://schemas.microsoft.com/office/drawing/2014/main" id="{642FD2E2-49BB-01DA-BFA3-79A6EBB6F056}"/>
              </a:ext>
            </a:extLst>
          </p:cNvPr>
          <p:cNvPicPr>
            <a:picLocks noChangeAspect="1"/>
          </p:cNvPicPr>
          <p:nvPr/>
        </p:nvPicPr>
        <p:blipFill>
          <a:blip r:embed="rId10"/>
          <a:stretch>
            <a:fillRect/>
          </a:stretch>
        </p:blipFill>
        <p:spPr>
          <a:xfrm>
            <a:off x="6062300" y="3094634"/>
            <a:ext cx="215900" cy="292100"/>
          </a:xfrm>
          <a:prstGeom prst="rect">
            <a:avLst/>
          </a:prstGeom>
        </p:spPr>
      </p:pic>
      <p:pic>
        <p:nvPicPr>
          <p:cNvPr id="531" name="Picture 530">
            <a:extLst>
              <a:ext uri="{FF2B5EF4-FFF2-40B4-BE49-F238E27FC236}">
                <a16:creationId xmlns:a16="http://schemas.microsoft.com/office/drawing/2014/main" id="{29C3CDC9-7FFB-9158-4CB7-F0E106567344}"/>
              </a:ext>
            </a:extLst>
          </p:cNvPr>
          <p:cNvPicPr>
            <a:picLocks noChangeAspect="1"/>
          </p:cNvPicPr>
          <p:nvPr/>
        </p:nvPicPr>
        <p:blipFill>
          <a:blip r:embed="rId10"/>
          <a:stretch>
            <a:fillRect/>
          </a:stretch>
        </p:blipFill>
        <p:spPr>
          <a:xfrm>
            <a:off x="5348469" y="2937055"/>
            <a:ext cx="215900" cy="292100"/>
          </a:xfrm>
          <a:prstGeom prst="rect">
            <a:avLst/>
          </a:prstGeom>
        </p:spPr>
      </p:pic>
      <p:pic>
        <p:nvPicPr>
          <p:cNvPr id="532" name="Picture 531">
            <a:extLst>
              <a:ext uri="{FF2B5EF4-FFF2-40B4-BE49-F238E27FC236}">
                <a16:creationId xmlns:a16="http://schemas.microsoft.com/office/drawing/2014/main" id="{C3503183-7A20-8A99-1AC9-64B44E5F19A0}"/>
              </a:ext>
            </a:extLst>
          </p:cNvPr>
          <p:cNvPicPr>
            <a:picLocks noChangeAspect="1"/>
          </p:cNvPicPr>
          <p:nvPr/>
        </p:nvPicPr>
        <p:blipFill>
          <a:blip r:embed="rId10"/>
          <a:stretch>
            <a:fillRect/>
          </a:stretch>
        </p:blipFill>
        <p:spPr>
          <a:xfrm>
            <a:off x="7472963" y="2466341"/>
            <a:ext cx="215900" cy="292100"/>
          </a:xfrm>
          <a:prstGeom prst="rect">
            <a:avLst/>
          </a:prstGeom>
        </p:spPr>
      </p:pic>
      <p:pic>
        <p:nvPicPr>
          <p:cNvPr id="14" name="Picture 13">
            <a:extLst>
              <a:ext uri="{FF2B5EF4-FFF2-40B4-BE49-F238E27FC236}">
                <a16:creationId xmlns:a16="http://schemas.microsoft.com/office/drawing/2014/main" id="{CD194BC3-634E-D31D-3BAB-96C474139B19}"/>
              </a:ext>
            </a:extLst>
          </p:cNvPr>
          <p:cNvPicPr>
            <a:picLocks noChangeAspect="1"/>
          </p:cNvPicPr>
          <p:nvPr/>
        </p:nvPicPr>
        <p:blipFill>
          <a:blip r:embed="rId10"/>
          <a:stretch>
            <a:fillRect/>
          </a:stretch>
        </p:blipFill>
        <p:spPr>
          <a:xfrm>
            <a:off x="7335427" y="2844973"/>
            <a:ext cx="215900" cy="292100"/>
          </a:xfrm>
          <a:prstGeom prst="rect">
            <a:avLst/>
          </a:prstGeom>
        </p:spPr>
      </p:pic>
      <p:pic>
        <p:nvPicPr>
          <p:cNvPr id="15" name="Picture 14">
            <a:extLst>
              <a:ext uri="{FF2B5EF4-FFF2-40B4-BE49-F238E27FC236}">
                <a16:creationId xmlns:a16="http://schemas.microsoft.com/office/drawing/2014/main" id="{D089FF98-9FAB-4AC8-9124-349038997319}"/>
              </a:ext>
            </a:extLst>
          </p:cNvPr>
          <p:cNvPicPr>
            <a:picLocks noChangeAspect="1"/>
          </p:cNvPicPr>
          <p:nvPr/>
        </p:nvPicPr>
        <p:blipFill>
          <a:blip r:embed="rId10"/>
          <a:stretch>
            <a:fillRect/>
          </a:stretch>
        </p:blipFill>
        <p:spPr>
          <a:xfrm>
            <a:off x="8287012" y="2401044"/>
            <a:ext cx="215900" cy="292100"/>
          </a:xfrm>
          <a:prstGeom prst="rect">
            <a:avLst/>
          </a:prstGeom>
        </p:spPr>
      </p:pic>
      <p:pic>
        <p:nvPicPr>
          <p:cNvPr id="16" name="Picture 15">
            <a:extLst>
              <a:ext uri="{FF2B5EF4-FFF2-40B4-BE49-F238E27FC236}">
                <a16:creationId xmlns:a16="http://schemas.microsoft.com/office/drawing/2014/main" id="{DDC51774-D24B-DA89-422F-BD6708C801B5}"/>
              </a:ext>
            </a:extLst>
          </p:cNvPr>
          <p:cNvPicPr>
            <a:picLocks noChangeAspect="1"/>
          </p:cNvPicPr>
          <p:nvPr/>
        </p:nvPicPr>
        <p:blipFill>
          <a:blip r:embed="rId10"/>
          <a:stretch>
            <a:fillRect/>
          </a:stretch>
        </p:blipFill>
        <p:spPr>
          <a:xfrm>
            <a:off x="8745492" y="2488172"/>
            <a:ext cx="215900" cy="292100"/>
          </a:xfrm>
          <a:prstGeom prst="rect">
            <a:avLst/>
          </a:prstGeom>
        </p:spPr>
      </p:pic>
      <p:pic>
        <p:nvPicPr>
          <p:cNvPr id="17" name="Picture 16">
            <a:extLst>
              <a:ext uri="{FF2B5EF4-FFF2-40B4-BE49-F238E27FC236}">
                <a16:creationId xmlns:a16="http://schemas.microsoft.com/office/drawing/2014/main" id="{EC48DA92-1FC0-4E33-777A-48A1765B83D6}"/>
              </a:ext>
            </a:extLst>
          </p:cNvPr>
          <p:cNvPicPr>
            <a:picLocks noChangeAspect="1"/>
          </p:cNvPicPr>
          <p:nvPr/>
        </p:nvPicPr>
        <p:blipFill>
          <a:blip r:embed="rId10"/>
          <a:stretch>
            <a:fillRect/>
          </a:stretch>
        </p:blipFill>
        <p:spPr>
          <a:xfrm>
            <a:off x="9301554" y="2762596"/>
            <a:ext cx="215900" cy="292100"/>
          </a:xfrm>
          <a:prstGeom prst="rect">
            <a:avLst/>
          </a:prstGeom>
        </p:spPr>
      </p:pic>
      <p:pic>
        <p:nvPicPr>
          <p:cNvPr id="18" name="Picture 17">
            <a:extLst>
              <a:ext uri="{FF2B5EF4-FFF2-40B4-BE49-F238E27FC236}">
                <a16:creationId xmlns:a16="http://schemas.microsoft.com/office/drawing/2014/main" id="{6D01426B-9CBF-960B-9248-6B1D41FCFFA8}"/>
              </a:ext>
            </a:extLst>
          </p:cNvPr>
          <p:cNvPicPr>
            <a:picLocks noChangeAspect="1"/>
          </p:cNvPicPr>
          <p:nvPr/>
        </p:nvPicPr>
        <p:blipFill>
          <a:blip r:embed="rId10"/>
          <a:stretch>
            <a:fillRect/>
          </a:stretch>
        </p:blipFill>
        <p:spPr>
          <a:xfrm>
            <a:off x="9584883" y="2626487"/>
            <a:ext cx="215900" cy="292100"/>
          </a:xfrm>
          <a:prstGeom prst="rect">
            <a:avLst/>
          </a:prstGeom>
        </p:spPr>
      </p:pic>
      <p:pic>
        <p:nvPicPr>
          <p:cNvPr id="19" name="Picture 18">
            <a:extLst>
              <a:ext uri="{FF2B5EF4-FFF2-40B4-BE49-F238E27FC236}">
                <a16:creationId xmlns:a16="http://schemas.microsoft.com/office/drawing/2014/main" id="{BE2A7E3E-6188-0ED3-8F35-2C25A5D2D2D3}"/>
              </a:ext>
            </a:extLst>
          </p:cNvPr>
          <p:cNvPicPr>
            <a:picLocks noChangeAspect="1"/>
          </p:cNvPicPr>
          <p:nvPr/>
        </p:nvPicPr>
        <p:blipFill>
          <a:blip r:embed="rId10"/>
          <a:stretch>
            <a:fillRect/>
          </a:stretch>
        </p:blipFill>
        <p:spPr>
          <a:xfrm>
            <a:off x="9738259" y="3076093"/>
            <a:ext cx="215900" cy="292100"/>
          </a:xfrm>
          <a:prstGeom prst="rect">
            <a:avLst/>
          </a:prstGeom>
        </p:spPr>
      </p:pic>
      <p:pic>
        <p:nvPicPr>
          <p:cNvPr id="20" name="Picture 19">
            <a:extLst>
              <a:ext uri="{FF2B5EF4-FFF2-40B4-BE49-F238E27FC236}">
                <a16:creationId xmlns:a16="http://schemas.microsoft.com/office/drawing/2014/main" id="{97F84BB6-B4C3-B355-6542-036A87CD720F}"/>
              </a:ext>
            </a:extLst>
          </p:cNvPr>
          <p:cNvPicPr>
            <a:picLocks noChangeAspect="1"/>
          </p:cNvPicPr>
          <p:nvPr/>
        </p:nvPicPr>
        <p:blipFill>
          <a:blip r:embed="rId10"/>
          <a:stretch>
            <a:fillRect/>
          </a:stretch>
        </p:blipFill>
        <p:spPr>
          <a:xfrm>
            <a:off x="2679337" y="5321474"/>
            <a:ext cx="215900" cy="292100"/>
          </a:xfrm>
          <a:prstGeom prst="rect">
            <a:avLst/>
          </a:prstGeom>
        </p:spPr>
      </p:pic>
      <p:pic>
        <p:nvPicPr>
          <p:cNvPr id="22" name="Picture 21">
            <a:extLst>
              <a:ext uri="{FF2B5EF4-FFF2-40B4-BE49-F238E27FC236}">
                <a16:creationId xmlns:a16="http://schemas.microsoft.com/office/drawing/2014/main" id="{426A1A83-0D40-2B18-265A-34CAB37E576C}"/>
              </a:ext>
            </a:extLst>
          </p:cNvPr>
          <p:cNvPicPr>
            <a:picLocks noChangeAspect="1"/>
          </p:cNvPicPr>
          <p:nvPr/>
        </p:nvPicPr>
        <p:blipFill>
          <a:blip r:embed="rId10"/>
          <a:stretch>
            <a:fillRect/>
          </a:stretch>
        </p:blipFill>
        <p:spPr>
          <a:xfrm>
            <a:off x="2885511" y="5451220"/>
            <a:ext cx="215900" cy="292100"/>
          </a:xfrm>
          <a:prstGeom prst="rect">
            <a:avLst/>
          </a:prstGeom>
        </p:spPr>
      </p:pic>
      <p:pic>
        <p:nvPicPr>
          <p:cNvPr id="23" name="Picture 22">
            <a:extLst>
              <a:ext uri="{FF2B5EF4-FFF2-40B4-BE49-F238E27FC236}">
                <a16:creationId xmlns:a16="http://schemas.microsoft.com/office/drawing/2014/main" id="{EBD74CF2-4F0A-1184-6875-F1DD65396ADF}"/>
              </a:ext>
            </a:extLst>
          </p:cNvPr>
          <p:cNvPicPr>
            <a:picLocks noChangeAspect="1"/>
          </p:cNvPicPr>
          <p:nvPr/>
        </p:nvPicPr>
        <p:blipFill>
          <a:blip r:embed="rId10"/>
          <a:stretch>
            <a:fillRect/>
          </a:stretch>
        </p:blipFill>
        <p:spPr>
          <a:xfrm>
            <a:off x="2649129" y="5593373"/>
            <a:ext cx="215900" cy="292100"/>
          </a:xfrm>
          <a:prstGeom prst="rect">
            <a:avLst/>
          </a:prstGeom>
        </p:spPr>
      </p:pic>
      <p:pic>
        <p:nvPicPr>
          <p:cNvPr id="24" name="Picture 23">
            <a:extLst>
              <a:ext uri="{FF2B5EF4-FFF2-40B4-BE49-F238E27FC236}">
                <a16:creationId xmlns:a16="http://schemas.microsoft.com/office/drawing/2014/main" id="{8794F599-088A-F544-5CD3-884630E9FFA7}"/>
              </a:ext>
            </a:extLst>
          </p:cNvPr>
          <p:cNvPicPr>
            <a:picLocks noChangeAspect="1"/>
          </p:cNvPicPr>
          <p:nvPr/>
        </p:nvPicPr>
        <p:blipFill>
          <a:blip r:embed="rId10"/>
          <a:stretch>
            <a:fillRect/>
          </a:stretch>
        </p:blipFill>
        <p:spPr>
          <a:xfrm>
            <a:off x="3190467" y="5587362"/>
            <a:ext cx="215900" cy="292100"/>
          </a:xfrm>
          <a:prstGeom prst="rect">
            <a:avLst/>
          </a:prstGeom>
        </p:spPr>
      </p:pic>
      <p:pic>
        <p:nvPicPr>
          <p:cNvPr id="25" name="Picture 24">
            <a:extLst>
              <a:ext uri="{FF2B5EF4-FFF2-40B4-BE49-F238E27FC236}">
                <a16:creationId xmlns:a16="http://schemas.microsoft.com/office/drawing/2014/main" id="{F55D61A6-6E01-7BC0-5B05-6892FE767E50}"/>
              </a:ext>
            </a:extLst>
          </p:cNvPr>
          <p:cNvPicPr>
            <a:picLocks noChangeAspect="1"/>
          </p:cNvPicPr>
          <p:nvPr/>
        </p:nvPicPr>
        <p:blipFill>
          <a:blip r:embed="rId10"/>
          <a:stretch>
            <a:fillRect/>
          </a:stretch>
        </p:blipFill>
        <p:spPr>
          <a:xfrm>
            <a:off x="2997609" y="5689561"/>
            <a:ext cx="215900" cy="292100"/>
          </a:xfrm>
          <a:prstGeom prst="rect">
            <a:avLst/>
          </a:prstGeom>
        </p:spPr>
      </p:pic>
      <p:pic>
        <p:nvPicPr>
          <p:cNvPr id="26" name="Picture 25">
            <a:extLst>
              <a:ext uri="{FF2B5EF4-FFF2-40B4-BE49-F238E27FC236}">
                <a16:creationId xmlns:a16="http://schemas.microsoft.com/office/drawing/2014/main" id="{B10D5B40-D30C-C728-3B4D-EBF9C0E55859}"/>
              </a:ext>
            </a:extLst>
          </p:cNvPr>
          <p:cNvPicPr>
            <a:picLocks noChangeAspect="1"/>
          </p:cNvPicPr>
          <p:nvPr/>
        </p:nvPicPr>
        <p:blipFill>
          <a:blip r:embed="rId10"/>
          <a:stretch>
            <a:fillRect/>
          </a:stretch>
        </p:blipFill>
        <p:spPr>
          <a:xfrm>
            <a:off x="3464357" y="5710847"/>
            <a:ext cx="215900" cy="292100"/>
          </a:xfrm>
          <a:prstGeom prst="rect">
            <a:avLst/>
          </a:prstGeom>
        </p:spPr>
      </p:pic>
      <p:pic>
        <p:nvPicPr>
          <p:cNvPr id="27" name="Picture 26">
            <a:extLst>
              <a:ext uri="{FF2B5EF4-FFF2-40B4-BE49-F238E27FC236}">
                <a16:creationId xmlns:a16="http://schemas.microsoft.com/office/drawing/2014/main" id="{71045D1A-1246-8B6A-D500-A3F39E6BEB3D}"/>
              </a:ext>
            </a:extLst>
          </p:cNvPr>
          <p:cNvPicPr>
            <a:picLocks noChangeAspect="1"/>
          </p:cNvPicPr>
          <p:nvPr/>
        </p:nvPicPr>
        <p:blipFill>
          <a:blip r:embed="rId10"/>
          <a:stretch>
            <a:fillRect/>
          </a:stretch>
        </p:blipFill>
        <p:spPr>
          <a:xfrm>
            <a:off x="3381013" y="5404574"/>
            <a:ext cx="215900" cy="292100"/>
          </a:xfrm>
          <a:prstGeom prst="rect">
            <a:avLst/>
          </a:prstGeom>
        </p:spPr>
      </p:pic>
      <p:pic>
        <p:nvPicPr>
          <p:cNvPr id="28" name="Picture 27">
            <a:extLst>
              <a:ext uri="{FF2B5EF4-FFF2-40B4-BE49-F238E27FC236}">
                <a16:creationId xmlns:a16="http://schemas.microsoft.com/office/drawing/2014/main" id="{6830FAB5-1B09-AC52-4076-7B3E74D9A306}"/>
              </a:ext>
            </a:extLst>
          </p:cNvPr>
          <p:cNvPicPr>
            <a:picLocks noChangeAspect="1"/>
          </p:cNvPicPr>
          <p:nvPr/>
        </p:nvPicPr>
        <p:blipFill>
          <a:blip r:embed="rId10"/>
          <a:stretch>
            <a:fillRect/>
          </a:stretch>
        </p:blipFill>
        <p:spPr>
          <a:xfrm>
            <a:off x="4695509" y="5301273"/>
            <a:ext cx="215900" cy="292100"/>
          </a:xfrm>
          <a:prstGeom prst="rect">
            <a:avLst/>
          </a:prstGeom>
        </p:spPr>
      </p:pic>
      <p:pic>
        <p:nvPicPr>
          <p:cNvPr id="29" name="Picture 28">
            <a:extLst>
              <a:ext uri="{FF2B5EF4-FFF2-40B4-BE49-F238E27FC236}">
                <a16:creationId xmlns:a16="http://schemas.microsoft.com/office/drawing/2014/main" id="{F3B38C58-6398-4548-0E90-FB00AF708D85}"/>
              </a:ext>
            </a:extLst>
          </p:cNvPr>
          <p:cNvPicPr>
            <a:picLocks noChangeAspect="1"/>
          </p:cNvPicPr>
          <p:nvPr/>
        </p:nvPicPr>
        <p:blipFill>
          <a:blip r:embed="rId10"/>
          <a:stretch>
            <a:fillRect/>
          </a:stretch>
        </p:blipFill>
        <p:spPr>
          <a:xfrm>
            <a:off x="4976180" y="5271096"/>
            <a:ext cx="215900" cy="292100"/>
          </a:xfrm>
          <a:prstGeom prst="rect">
            <a:avLst/>
          </a:prstGeom>
        </p:spPr>
      </p:pic>
      <p:pic>
        <p:nvPicPr>
          <p:cNvPr id="30" name="Picture 29">
            <a:extLst>
              <a:ext uri="{FF2B5EF4-FFF2-40B4-BE49-F238E27FC236}">
                <a16:creationId xmlns:a16="http://schemas.microsoft.com/office/drawing/2014/main" id="{EEFA9026-E03D-9382-A814-BB87521A1CAC}"/>
              </a:ext>
            </a:extLst>
          </p:cNvPr>
          <p:cNvPicPr>
            <a:picLocks noChangeAspect="1"/>
          </p:cNvPicPr>
          <p:nvPr/>
        </p:nvPicPr>
        <p:blipFill>
          <a:blip r:embed="rId10"/>
          <a:stretch>
            <a:fillRect/>
          </a:stretch>
        </p:blipFill>
        <p:spPr>
          <a:xfrm>
            <a:off x="5735186" y="4935354"/>
            <a:ext cx="215900" cy="292100"/>
          </a:xfrm>
          <a:prstGeom prst="rect">
            <a:avLst/>
          </a:prstGeom>
        </p:spPr>
      </p:pic>
      <p:pic>
        <p:nvPicPr>
          <p:cNvPr id="31" name="Picture 30">
            <a:extLst>
              <a:ext uri="{FF2B5EF4-FFF2-40B4-BE49-F238E27FC236}">
                <a16:creationId xmlns:a16="http://schemas.microsoft.com/office/drawing/2014/main" id="{0D3CE0AE-20DB-EC56-6FB4-2C425B5F408D}"/>
              </a:ext>
            </a:extLst>
          </p:cNvPr>
          <p:cNvPicPr>
            <a:picLocks noChangeAspect="1"/>
          </p:cNvPicPr>
          <p:nvPr/>
        </p:nvPicPr>
        <p:blipFill>
          <a:blip r:embed="rId10"/>
          <a:stretch>
            <a:fillRect/>
          </a:stretch>
        </p:blipFill>
        <p:spPr>
          <a:xfrm>
            <a:off x="6627496" y="5341586"/>
            <a:ext cx="215900" cy="292100"/>
          </a:xfrm>
          <a:prstGeom prst="rect">
            <a:avLst/>
          </a:prstGeom>
        </p:spPr>
      </p:pic>
      <p:pic>
        <p:nvPicPr>
          <p:cNvPr id="32" name="Picture 31">
            <a:extLst>
              <a:ext uri="{FF2B5EF4-FFF2-40B4-BE49-F238E27FC236}">
                <a16:creationId xmlns:a16="http://schemas.microsoft.com/office/drawing/2014/main" id="{3909F45F-AFC5-3B69-820F-BB169E6051B5}"/>
              </a:ext>
            </a:extLst>
          </p:cNvPr>
          <p:cNvPicPr>
            <a:picLocks noChangeAspect="1"/>
          </p:cNvPicPr>
          <p:nvPr/>
        </p:nvPicPr>
        <p:blipFill>
          <a:blip r:embed="rId10"/>
          <a:stretch>
            <a:fillRect/>
          </a:stretch>
        </p:blipFill>
        <p:spPr>
          <a:xfrm>
            <a:off x="5468185" y="5095392"/>
            <a:ext cx="215900" cy="292100"/>
          </a:xfrm>
          <a:prstGeom prst="rect">
            <a:avLst/>
          </a:prstGeom>
        </p:spPr>
      </p:pic>
      <p:pic>
        <p:nvPicPr>
          <p:cNvPr id="33" name="Picture 32">
            <a:extLst>
              <a:ext uri="{FF2B5EF4-FFF2-40B4-BE49-F238E27FC236}">
                <a16:creationId xmlns:a16="http://schemas.microsoft.com/office/drawing/2014/main" id="{06B74057-6893-45F2-630A-A5834BCCFDE0}"/>
              </a:ext>
            </a:extLst>
          </p:cNvPr>
          <p:cNvPicPr>
            <a:picLocks noChangeAspect="1"/>
          </p:cNvPicPr>
          <p:nvPr/>
        </p:nvPicPr>
        <p:blipFill>
          <a:blip r:embed="rId10"/>
          <a:stretch>
            <a:fillRect/>
          </a:stretch>
        </p:blipFill>
        <p:spPr>
          <a:xfrm>
            <a:off x="6573475" y="5638407"/>
            <a:ext cx="215900" cy="292100"/>
          </a:xfrm>
          <a:prstGeom prst="rect">
            <a:avLst/>
          </a:prstGeom>
        </p:spPr>
      </p:pic>
      <p:pic>
        <p:nvPicPr>
          <p:cNvPr id="34" name="Picture 33">
            <a:extLst>
              <a:ext uri="{FF2B5EF4-FFF2-40B4-BE49-F238E27FC236}">
                <a16:creationId xmlns:a16="http://schemas.microsoft.com/office/drawing/2014/main" id="{BA4B9A91-6BAA-4EEA-A82B-7BE3F67BDF2D}"/>
              </a:ext>
            </a:extLst>
          </p:cNvPr>
          <p:cNvPicPr>
            <a:picLocks noChangeAspect="1"/>
          </p:cNvPicPr>
          <p:nvPr/>
        </p:nvPicPr>
        <p:blipFill>
          <a:blip r:embed="rId10"/>
          <a:stretch>
            <a:fillRect/>
          </a:stretch>
        </p:blipFill>
        <p:spPr>
          <a:xfrm>
            <a:off x="6991171" y="5410255"/>
            <a:ext cx="215900" cy="292100"/>
          </a:xfrm>
          <a:prstGeom prst="rect">
            <a:avLst/>
          </a:prstGeom>
        </p:spPr>
      </p:pic>
      <p:pic>
        <p:nvPicPr>
          <p:cNvPr id="35" name="Picture 34">
            <a:extLst>
              <a:ext uri="{FF2B5EF4-FFF2-40B4-BE49-F238E27FC236}">
                <a16:creationId xmlns:a16="http://schemas.microsoft.com/office/drawing/2014/main" id="{EAD4D3F4-8635-DBAA-3A08-DCC9BBB501A3}"/>
              </a:ext>
            </a:extLst>
          </p:cNvPr>
          <p:cNvPicPr>
            <a:picLocks noChangeAspect="1"/>
          </p:cNvPicPr>
          <p:nvPr/>
        </p:nvPicPr>
        <p:blipFill>
          <a:blip r:embed="rId10"/>
          <a:stretch>
            <a:fillRect/>
          </a:stretch>
        </p:blipFill>
        <p:spPr>
          <a:xfrm>
            <a:off x="8734405" y="5205716"/>
            <a:ext cx="215900" cy="292100"/>
          </a:xfrm>
          <a:prstGeom prst="rect">
            <a:avLst/>
          </a:prstGeom>
        </p:spPr>
      </p:pic>
      <p:pic>
        <p:nvPicPr>
          <p:cNvPr id="36" name="Picture 35">
            <a:extLst>
              <a:ext uri="{FF2B5EF4-FFF2-40B4-BE49-F238E27FC236}">
                <a16:creationId xmlns:a16="http://schemas.microsoft.com/office/drawing/2014/main" id="{E14EE995-3C94-8C49-1A14-F5C2D8F452CA}"/>
              </a:ext>
            </a:extLst>
          </p:cNvPr>
          <p:cNvPicPr>
            <a:picLocks noChangeAspect="1"/>
          </p:cNvPicPr>
          <p:nvPr/>
        </p:nvPicPr>
        <p:blipFill>
          <a:blip r:embed="rId10"/>
          <a:stretch>
            <a:fillRect/>
          </a:stretch>
        </p:blipFill>
        <p:spPr>
          <a:xfrm>
            <a:off x="8890047" y="5442214"/>
            <a:ext cx="215900" cy="292100"/>
          </a:xfrm>
          <a:prstGeom prst="rect">
            <a:avLst/>
          </a:prstGeom>
        </p:spPr>
      </p:pic>
      <p:pic>
        <p:nvPicPr>
          <p:cNvPr id="37" name="Picture 36">
            <a:extLst>
              <a:ext uri="{FF2B5EF4-FFF2-40B4-BE49-F238E27FC236}">
                <a16:creationId xmlns:a16="http://schemas.microsoft.com/office/drawing/2014/main" id="{83D29546-A080-6841-8659-0FF4B4903112}"/>
              </a:ext>
            </a:extLst>
          </p:cNvPr>
          <p:cNvPicPr>
            <a:picLocks noChangeAspect="1"/>
          </p:cNvPicPr>
          <p:nvPr/>
        </p:nvPicPr>
        <p:blipFill>
          <a:blip r:embed="rId10"/>
          <a:stretch>
            <a:fillRect/>
          </a:stretch>
        </p:blipFill>
        <p:spPr>
          <a:xfrm>
            <a:off x="9112297" y="5528745"/>
            <a:ext cx="215900" cy="292100"/>
          </a:xfrm>
          <a:prstGeom prst="rect">
            <a:avLst/>
          </a:prstGeom>
        </p:spPr>
      </p:pic>
      <p:pic>
        <p:nvPicPr>
          <p:cNvPr id="38" name="Picture 37">
            <a:extLst>
              <a:ext uri="{FF2B5EF4-FFF2-40B4-BE49-F238E27FC236}">
                <a16:creationId xmlns:a16="http://schemas.microsoft.com/office/drawing/2014/main" id="{496E1D4E-1F3D-98E8-F5CF-AD5C799727CC}"/>
              </a:ext>
            </a:extLst>
          </p:cNvPr>
          <p:cNvPicPr>
            <a:picLocks noChangeAspect="1"/>
          </p:cNvPicPr>
          <p:nvPr/>
        </p:nvPicPr>
        <p:blipFill>
          <a:blip r:embed="rId10"/>
          <a:stretch>
            <a:fillRect/>
          </a:stretch>
        </p:blipFill>
        <p:spPr>
          <a:xfrm>
            <a:off x="8681269" y="5542078"/>
            <a:ext cx="215900" cy="292100"/>
          </a:xfrm>
          <a:prstGeom prst="rect">
            <a:avLst/>
          </a:prstGeom>
        </p:spPr>
      </p:pic>
      <p:pic>
        <p:nvPicPr>
          <p:cNvPr id="39" name="Picture 38">
            <a:extLst>
              <a:ext uri="{FF2B5EF4-FFF2-40B4-BE49-F238E27FC236}">
                <a16:creationId xmlns:a16="http://schemas.microsoft.com/office/drawing/2014/main" id="{B0866FD2-10A9-A8B4-43B4-507014A08DBD}"/>
              </a:ext>
            </a:extLst>
          </p:cNvPr>
          <p:cNvPicPr>
            <a:picLocks noChangeAspect="1"/>
          </p:cNvPicPr>
          <p:nvPr/>
        </p:nvPicPr>
        <p:blipFill>
          <a:blip r:embed="rId10"/>
          <a:stretch>
            <a:fillRect/>
          </a:stretch>
        </p:blipFill>
        <p:spPr>
          <a:xfrm>
            <a:off x="9339174" y="5505587"/>
            <a:ext cx="215900" cy="292100"/>
          </a:xfrm>
          <a:prstGeom prst="rect">
            <a:avLst/>
          </a:prstGeom>
        </p:spPr>
      </p:pic>
      <p:pic>
        <p:nvPicPr>
          <p:cNvPr id="40" name="Picture 39">
            <a:extLst>
              <a:ext uri="{FF2B5EF4-FFF2-40B4-BE49-F238E27FC236}">
                <a16:creationId xmlns:a16="http://schemas.microsoft.com/office/drawing/2014/main" id="{034EEA6D-41B4-C31A-23BF-3D3F70B3987F}"/>
              </a:ext>
            </a:extLst>
          </p:cNvPr>
          <p:cNvPicPr>
            <a:picLocks noChangeAspect="1"/>
          </p:cNvPicPr>
          <p:nvPr/>
        </p:nvPicPr>
        <p:blipFill>
          <a:blip r:embed="rId10"/>
          <a:stretch>
            <a:fillRect/>
          </a:stretch>
        </p:blipFill>
        <p:spPr>
          <a:xfrm>
            <a:off x="9715138" y="5524114"/>
            <a:ext cx="215900" cy="292100"/>
          </a:xfrm>
          <a:prstGeom prst="rect">
            <a:avLst/>
          </a:prstGeom>
        </p:spPr>
      </p:pic>
      <p:pic>
        <p:nvPicPr>
          <p:cNvPr id="41" name="Picture 40">
            <a:extLst>
              <a:ext uri="{FF2B5EF4-FFF2-40B4-BE49-F238E27FC236}">
                <a16:creationId xmlns:a16="http://schemas.microsoft.com/office/drawing/2014/main" id="{354BE40C-5557-90BE-1116-5DE826E1B9BE}"/>
              </a:ext>
            </a:extLst>
          </p:cNvPr>
          <p:cNvPicPr>
            <a:picLocks noChangeAspect="1"/>
          </p:cNvPicPr>
          <p:nvPr/>
        </p:nvPicPr>
        <p:blipFill>
          <a:blip r:embed="rId10"/>
          <a:stretch>
            <a:fillRect/>
          </a:stretch>
        </p:blipFill>
        <p:spPr>
          <a:xfrm>
            <a:off x="9546128" y="5410984"/>
            <a:ext cx="215900" cy="292100"/>
          </a:xfrm>
          <a:prstGeom prst="rect">
            <a:avLst/>
          </a:prstGeom>
        </p:spPr>
      </p:pic>
    </p:spTree>
    <p:extLst>
      <p:ext uri="{BB962C8B-B14F-4D97-AF65-F5344CB8AC3E}">
        <p14:creationId xmlns:p14="http://schemas.microsoft.com/office/powerpoint/2010/main" val="732783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graphicFrame>
        <p:nvGraphicFramePr>
          <p:cNvPr id="271" name="Group 221">
            <a:extLst>
              <a:ext uri="{FF2B5EF4-FFF2-40B4-BE49-F238E27FC236}">
                <a16:creationId xmlns:a16="http://schemas.microsoft.com/office/drawing/2014/main" id="{6DE6077C-68BF-0756-E958-78FE233351AD}"/>
              </a:ext>
            </a:extLst>
          </p:cNvPr>
          <p:cNvGraphicFramePr>
            <a:graphicFrameLocks noGrp="1"/>
          </p:cNvGraphicFramePr>
          <p:nvPr/>
        </p:nvGraphicFramePr>
        <p:xfrm>
          <a:off x="978060" y="1862781"/>
          <a:ext cx="9705372" cy="4314182"/>
        </p:xfrm>
        <a:graphic>
          <a:graphicData uri="http://schemas.openxmlformats.org/drawingml/2006/table">
            <a:tbl>
              <a:tblPr/>
              <a:tblGrid>
                <a:gridCol w="3235124">
                  <a:extLst>
                    <a:ext uri="{9D8B030D-6E8A-4147-A177-3AD203B41FA5}">
                      <a16:colId xmlns:a16="http://schemas.microsoft.com/office/drawing/2014/main" val="20000"/>
                    </a:ext>
                  </a:extLst>
                </a:gridCol>
                <a:gridCol w="3235124">
                  <a:extLst>
                    <a:ext uri="{9D8B030D-6E8A-4147-A177-3AD203B41FA5}">
                      <a16:colId xmlns:a16="http://schemas.microsoft.com/office/drawing/2014/main" val="20001"/>
                    </a:ext>
                  </a:extLst>
                </a:gridCol>
                <a:gridCol w="3235124">
                  <a:extLst>
                    <a:ext uri="{9D8B030D-6E8A-4147-A177-3AD203B41FA5}">
                      <a16:colId xmlns:a16="http://schemas.microsoft.com/office/drawing/2014/main" val="20002"/>
                    </a:ext>
                  </a:extLst>
                </a:gridCol>
              </a:tblGrid>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13 – Team refines Top Alternative.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14 – Team completes Process At A Glance form for Top Alternative</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15 – Team prepares Implementation Plan.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74998">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32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16 – Present to Leadership.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17 – Select builder &amp; prepare fixture and tooling drawings.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18 – Install, qualify, ramp up.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6688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73" name="Picture 434" descr="MCj03499260000[1]">
            <a:extLst>
              <a:ext uri="{FF2B5EF4-FFF2-40B4-BE49-F238E27FC236}">
                <a16:creationId xmlns:a16="http://schemas.microsoft.com/office/drawing/2014/main" id="{FF383DAC-A258-682F-1862-D5166C480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04318" y="3133946"/>
            <a:ext cx="202195" cy="15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3" name="Picture 485" descr="MCj03499260000[1]">
            <a:extLst>
              <a:ext uri="{FF2B5EF4-FFF2-40B4-BE49-F238E27FC236}">
                <a16:creationId xmlns:a16="http://schemas.microsoft.com/office/drawing/2014/main" id="{2B8D6A64-77CC-2D17-9184-C106C8593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559459" y="3177229"/>
            <a:ext cx="202195" cy="196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9" name="Group 608">
            <a:extLst>
              <a:ext uri="{FF2B5EF4-FFF2-40B4-BE49-F238E27FC236}">
                <a16:creationId xmlns:a16="http://schemas.microsoft.com/office/drawing/2014/main" id="{3E536F56-48A4-5602-20BA-5457D54B9C14}"/>
              </a:ext>
            </a:extLst>
          </p:cNvPr>
          <p:cNvGrpSpPr/>
          <p:nvPr/>
        </p:nvGrpSpPr>
        <p:grpSpPr>
          <a:xfrm>
            <a:off x="5421473" y="2580640"/>
            <a:ext cx="1277229" cy="711179"/>
            <a:chOff x="5421473" y="2872431"/>
            <a:chExt cx="735765" cy="419388"/>
          </a:xfrm>
        </p:grpSpPr>
        <p:grpSp>
          <p:nvGrpSpPr>
            <p:cNvPr id="385" name="Group 6">
              <a:extLst>
                <a:ext uri="{FF2B5EF4-FFF2-40B4-BE49-F238E27FC236}">
                  <a16:creationId xmlns:a16="http://schemas.microsoft.com/office/drawing/2014/main" id="{BB512CDB-67BE-212B-8801-F0C8E5F38BAF}"/>
                </a:ext>
              </a:extLst>
            </p:cNvPr>
            <p:cNvGrpSpPr>
              <a:grpSpLocks/>
            </p:cNvGrpSpPr>
            <p:nvPr/>
          </p:nvGrpSpPr>
          <p:grpSpPr bwMode="auto">
            <a:xfrm>
              <a:off x="5421473" y="2872431"/>
              <a:ext cx="735765" cy="419388"/>
              <a:chOff x="2895" y="992"/>
              <a:chExt cx="393" cy="287"/>
            </a:xfrm>
          </p:grpSpPr>
          <p:pic>
            <p:nvPicPr>
              <p:cNvPr id="386" name="Object 4">
                <a:extLst>
                  <a:ext uri="{FF2B5EF4-FFF2-40B4-BE49-F238E27FC236}">
                    <a16:creationId xmlns:a16="http://schemas.microsoft.com/office/drawing/2014/main" id="{907AD65F-CBB8-5D31-06AD-A5EFBA5B71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 y="992"/>
                <a:ext cx="389"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87" name="Rectangle 5">
                <a:extLst>
                  <a:ext uri="{FF2B5EF4-FFF2-40B4-BE49-F238E27FC236}">
                    <a16:creationId xmlns:a16="http://schemas.microsoft.com/office/drawing/2014/main" id="{062A16D8-48F8-DBC4-835B-BC7A23058E9F}"/>
                  </a:ext>
                </a:extLst>
              </p:cNvPr>
              <p:cNvSpPr>
                <a:spLocks noChangeArrowheads="1"/>
              </p:cNvSpPr>
              <p:nvPr/>
            </p:nvSpPr>
            <p:spPr bwMode="auto">
              <a:xfrm>
                <a:off x="2913" y="1006"/>
                <a:ext cx="375"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31750" tIns="17463" rIns="31750" bIns="17463"/>
              <a:lstStyle>
                <a:lvl1pPr marL="120650" indent="-120650" defTabSz="112713">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260350" indent="-25400" defTabSz="112713">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12713">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20000"/>
                  </a:spcBef>
                  <a:spcAft>
                    <a:spcPct val="0"/>
                  </a:spcAft>
                  <a:buClr>
                    <a:srgbClr val="FC0128"/>
                  </a:buClr>
                  <a:buSzPct val="75000"/>
                  <a:buFont typeface="Monotype Sorts" pitchFamily="-84" charset="2"/>
                  <a:buChar char="u"/>
                </a:pPr>
                <a:r>
                  <a:rPr lang="en-US" altLang="en-US" sz="500" b="0" u="sng" dirty="0">
                    <a:cs typeface="Arial" panose="020B0604020202020204" pitchFamily="34" charset="0"/>
                  </a:rPr>
                  <a:t>Key Actions</a:t>
                </a: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eaLnBrk="1" hangingPunct="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p:txBody>
          </p:sp>
        </p:grpSp>
        <p:sp>
          <p:nvSpPr>
            <p:cNvPr id="388" name="Rectangle 545">
              <a:extLst>
                <a:ext uri="{FF2B5EF4-FFF2-40B4-BE49-F238E27FC236}">
                  <a16:creationId xmlns:a16="http://schemas.microsoft.com/office/drawing/2014/main" id="{5C6DBBDA-AEE4-92D2-0E78-218F0524B725}"/>
                </a:ext>
              </a:extLst>
            </p:cNvPr>
            <p:cNvSpPr>
              <a:spLocks noChangeArrowheads="1"/>
            </p:cNvSpPr>
            <p:nvPr/>
          </p:nvSpPr>
          <p:spPr bwMode="auto">
            <a:xfrm>
              <a:off x="5550059" y="3024830"/>
              <a:ext cx="449323" cy="210424"/>
            </a:xfrm>
            <a:prstGeom prst="rect">
              <a:avLst/>
            </a:prstGeom>
            <a:solidFill>
              <a:schemeClr val="bg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cs typeface="Arial" panose="020B0604020202020204" pitchFamily="34" charset="0"/>
              </a:endParaRPr>
            </a:p>
          </p:txBody>
        </p:sp>
        <p:sp>
          <p:nvSpPr>
            <p:cNvPr id="389" name="Line 546">
              <a:extLst>
                <a:ext uri="{FF2B5EF4-FFF2-40B4-BE49-F238E27FC236}">
                  <a16:creationId xmlns:a16="http://schemas.microsoft.com/office/drawing/2014/main" id="{1CFB4116-E8CD-C1F3-8B3E-39CA2BC8C9B4}"/>
                </a:ext>
              </a:extLst>
            </p:cNvPr>
            <p:cNvSpPr>
              <a:spLocks noChangeShapeType="1"/>
            </p:cNvSpPr>
            <p:nvPr/>
          </p:nvSpPr>
          <p:spPr bwMode="auto">
            <a:xfrm>
              <a:off x="56262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 name="Line 547">
              <a:extLst>
                <a:ext uri="{FF2B5EF4-FFF2-40B4-BE49-F238E27FC236}">
                  <a16:creationId xmlns:a16="http://schemas.microsoft.com/office/drawing/2014/main" id="{83A1077A-6E04-1D1D-D8D7-6C6B3A314D52}"/>
                </a:ext>
              </a:extLst>
            </p:cNvPr>
            <p:cNvSpPr>
              <a:spLocks noChangeShapeType="1"/>
            </p:cNvSpPr>
            <p:nvPr/>
          </p:nvSpPr>
          <p:spPr bwMode="auto">
            <a:xfrm>
              <a:off x="57024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 name="Line 548">
              <a:extLst>
                <a:ext uri="{FF2B5EF4-FFF2-40B4-BE49-F238E27FC236}">
                  <a16:creationId xmlns:a16="http://schemas.microsoft.com/office/drawing/2014/main" id="{28D818C6-011A-0D0D-7F79-FD1810615FB3}"/>
                </a:ext>
              </a:extLst>
            </p:cNvPr>
            <p:cNvSpPr>
              <a:spLocks noChangeShapeType="1"/>
            </p:cNvSpPr>
            <p:nvPr/>
          </p:nvSpPr>
          <p:spPr bwMode="auto">
            <a:xfrm>
              <a:off x="57786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2" name="Line 549">
              <a:extLst>
                <a:ext uri="{FF2B5EF4-FFF2-40B4-BE49-F238E27FC236}">
                  <a16:creationId xmlns:a16="http://schemas.microsoft.com/office/drawing/2014/main" id="{FAB42594-A84B-D015-B070-81901C639AF4}"/>
                </a:ext>
              </a:extLst>
            </p:cNvPr>
            <p:cNvSpPr>
              <a:spLocks noChangeShapeType="1"/>
            </p:cNvSpPr>
            <p:nvPr/>
          </p:nvSpPr>
          <p:spPr bwMode="auto">
            <a:xfrm>
              <a:off x="58548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3" name="Line 550">
              <a:extLst>
                <a:ext uri="{FF2B5EF4-FFF2-40B4-BE49-F238E27FC236}">
                  <a16:creationId xmlns:a16="http://schemas.microsoft.com/office/drawing/2014/main" id="{A5141392-2589-E381-7947-C66DA00F3D36}"/>
                </a:ext>
              </a:extLst>
            </p:cNvPr>
            <p:cNvSpPr>
              <a:spLocks noChangeShapeType="1"/>
            </p:cNvSpPr>
            <p:nvPr/>
          </p:nvSpPr>
          <p:spPr bwMode="auto">
            <a:xfrm>
              <a:off x="5550059" y="3101030"/>
              <a:ext cx="4493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05" name="Picture 145">
            <a:extLst>
              <a:ext uri="{FF2B5EF4-FFF2-40B4-BE49-F238E27FC236}">
                <a16:creationId xmlns:a16="http://schemas.microsoft.com/office/drawing/2014/main" id="{B7849480-01D5-EBCC-432F-4F810AC14D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7537" y="2435300"/>
            <a:ext cx="1398210" cy="13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6" name="Picture 186" descr="site-builder-demo.png">
            <a:extLst>
              <a:ext uri="{FF2B5EF4-FFF2-40B4-BE49-F238E27FC236}">
                <a16:creationId xmlns:a16="http://schemas.microsoft.com/office/drawing/2014/main" id="{3138F3B3-E21B-8F16-F20A-DA237760262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14419" y="5078898"/>
            <a:ext cx="644029" cy="599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187" descr="install.gif">
            <a:extLst>
              <a:ext uri="{FF2B5EF4-FFF2-40B4-BE49-F238E27FC236}">
                <a16:creationId xmlns:a16="http://schemas.microsoft.com/office/drawing/2014/main" id="{EDE02B8F-ADB1-4DBE-5332-EE546A452CB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41778" y="4898079"/>
            <a:ext cx="539187" cy="51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8" name="Picture 146" descr="C:\Users\Lawrence\Documents\Lean Sigma Supply Chain\lens.png">
            <a:extLst>
              <a:ext uri="{FF2B5EF4-FFF2-40B4-BE49-F238E27FC236}">
                <a16:creationId xmlns:a16="http://schemas.microsoft.com/office/drawing/2014/main" id="{F57732B7-06A4-B08F-50B6-FB9A47FC98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13179" y="5279080"/>
            <a:ext cx="902390" cy="67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 name="Picture 609">
            <a:extLst>
              <a:ext uri="{FF2B5EF4-FFF2-40B4-BE49-F238E27FC236}">
                <a16:creationId xmlns:a16="http://schemas.microsoft.com/office/drawing/2014/main" id="{4CB0F27F-D6C9-6983-AAA2-609D3B1D72B4}"/>
              </a:ext>
            </a:extLst>
          </p:cNvPr>
          <p:cNvPicPr>
            <a:picLocks noChangeAspect="1"/>
          </p:cNvPicPr>
          <p:nvPr/>
        </p:nvPicPr>
        <p:blipFill>
          <a:blip r:embed="rId9"/>
          <a:stretch>
            <a:fillRect/>
          </a:stretch>
        </p:blipFill>
        <p:spPr>
          <a:xfrm>
            <a:off x="2083098" y="2820666"/>
            <a:ext cx="215900" cy="292100"/>
          </a:xfrm>
          <a:prstGeom prst="rect">
            <a:avLst/>
          </a:prstGeom>
        </p:spPr>
      </p:pic>
      <p:pic>
        <p:nvPicPr>
          <p:cNvPr id="611" name="Picture 610">
            <a:extLst>
              <a:ext uri="{FF2B5EF4-FFF2-40B4-BE49-F238E27FC236}">
                <a16:creationId xmlns:a16="http://schemas.microsoft.com/office/drawing/2014/main" id="{DB993799-707F-2D2B-3A3A-5DC653B6F162}"/>
              </a:ext>
            </a:extLst>
          </p:cNvPr>
          <p:cNvPicPr>
            <a:picLocks noChangeAspect="1"/>
          </p:cNvPicPr>
          <p:nvPr/>
        </p:nvPicPr>
        <p:blipFill>
          <a:blip r:embed="rId9"/>
          <a:stretch>
            <a:fillRect/>
          </a:stretch>
        </p:blipFill>
        <p:spPr>
          <a:xfrm>
            <a:off x="2349660" y="2769886"/>
            <a:ext cx="215900" cy="292100"/>
          </a:xfrm>
          <a:prstGeom prst="rect">
            <a:avLst/>
          </a:prstGeom>
        </p:spPr>
      </p:pic>
      <p:pic>
        <p:nvPicPr>
          <p:cNvPr id="612" name="Picture 611">
            <a:extLst>
              <a:ext uri="{FF2B5EF4-FFF2-40B4-BE49-F238E27FC236}">
                <a16:creationId xmlns:a16="http://schemas.microsoft.com/office/drawing/2014/main" id="{0E55AD34-F2DA-E2D6-00B6-DFA438BB35F2}"/>
              </a:ext>
            </a:extLst>
          </p:cNvPr>
          <p:cNvPicPr>
            <a:picLocks noChangeAspect="1"/>
          </p:cNvPicPr>
          <p:nvPr/>
        </p:nvPicPr>
        <p:blipFill>
          <a:blip r:embed="rId9"/>
          <a:stretch>
            <a:fillRect/>
          </a:stretch>
        </p:blipFill>
        <p:spPr>
          <a:xfrm>
            <a:off x="2096680" y="3133946"/>
            <a:ext cx="215900" cy="292100"/>
          </a:xfrm>
          <a:prstGeom prst="rect">
            <a:avLst/>
          </a:prstGeom>
        </p:spPr>
      </p:pic>
      <p:pic>
        <p:nvPicPr>
          <p:cNvPr id="613" name="Picture 612">
            <a:extLst>
              <a:ext uri="{FF2B5EF4-FFF2-40B4-BE49-F238E27FC236}">
                <a16:creationId xmlns:a16="http://schemas.microsoft.com/office/drawing/2014/main" id="{0BDE7A60-6189-717F-F6BA-F99764B9C43B}"/>
              </a:ext>
            </a:extLst>
          </p:cNvPr>
          <p:cNvPicPr>
            <a:picLocks noChangeAspect="1"/>
          </p:cNvPicPr>
          <p:nvPr/>
        </p:nvPicPr>
        <p:blipFill>
          <a:blip r:embed="rId9"/>
          <a:stretch>
            <a:fillRect/>
          </a:stretch>
        </p:blipFill>
        <p:spPr>
          <a:xfrm>
            <a:off x="2700259" y="3268334"/>
            <a:ext cx="215900" cy="292100"/>
          </a:xfrm>
          <a:prstGeom prst="rect">
            <a:avLst/>
          </a:prstGeom>
        </p:spPr>
      </p:pic>
      <p:pic>
        <p:nvPicPr>
          <p:cNvPr id="614" name="Picture 613">
            <a:extLst>
              <a:ext uri="{FF2B5EF4-FFF2-40B4-BE49-F238E27FC236}">
                <a16:creationId xmlns:a16="http://schemas.microsoft.com/office/drawing/2014/main" id="{274F825D-3DAC-5D95-0DD9-3D5CDF5C27E3}"/>
              </a:ext>
            </a:extLst>
          </p:cNvPr>
          <p:cNvPicPr>
            <a:picLocks noChangeAspect="1"/>
          </p:cNvPicPr>
          <p:nvPr/>
        </p:nvPicPr>
        <p:blipFill>
          <a:blip r:embed="rId9"/>
          <a:stretch>
            <a:fillRect/>
          </a:stretch>
        </p:blipFill>
        <p:spPr>
          <a:xfrm>
            <a:off x="2402979" y="3287381"/>
            <a:ext cx="215900" cy="292100"/>
          </a:xfrm>
          <a:prstGeom prst="rect">
            <a:avLst/>
          </a:prstGeom>
        </p:spPr>
      </p:pic>
      <p:pic>
        <p:nvPicPr>
          <p:cNvPr id="615" name="Picture 614">
            <a:extLst>
              <a:ext uri="{FF2B5EF4-FFF2-40B4-BE49-F238E27FC236}">
                <a16:creationId xmlns:a16="http://schemas.microsoft.com/office/drawing/2014/main" id="{6A59B32F-245B-32E5-E4DE-6B951B2172C4}"/>
              </a:ext>
            </a:extLst>
          </p:cNvPr>
          <p:cNvPicPr>
            <a:picLocks noChangeAspect="1"/>
          </p:cNvPicPr>
          <p:nvPr/>
        </p:nvPicPr>
        <p:blipFill>
          <a:blip r:embed="rId9"/>
          <a:stretch>
            <a:fillRect/>
          </a:stretch>
        </p:blipFill>
        <p:spPr>
          <a:xfrm>
            <a:off x="2813797" y="3003493"/>
            <a:ext cx="215900" cy="292100"/>
          </a:xfrm>
          <a:prstGeom prst="rect">
            <a:avLst/>
          </a:prstGeom>
        </p:spPr>
      </p:pic>
      <p:pic>
        <p:nvPicPr>
          <p:cNvPr id="616" name="Picture 615">
            <a:extLst>
              <a:ext uri="{FF2B5EF4-FFF2-40B4-BE49-F238E27FC236}">
                <a16:creationId xmlns:a16="http://schemas.microsoft.com/office/drawing/2014/main" id="{5C56CCA0-9F6F-8097-DDF0-4B13B1F03C91}"/>
              </a:ext>
            </a:extLst>
          </p:cNvPr>
          <p:cNvPicPr>
            <a:picLocks noChangeAspect="1"/>
          </p:cNvPicPr>
          <p:nvPr/>
        </p:nvPicPr>
        <p:blipFill>
          <a:blip r:embed="rId9"/>
          <a:stretch>
            <a:fillRect/>
          </a:stretch>
        </p:blipFill>
        <p:spPr>
          <a:xfrm>
            <a:off x="2639476" y="2768757"/>
            <a:ext cx="215900" cy="292100"/>
          </a:xfrm>
          <a:prstGeom prst="rect">
            <a:avLst/>
          </a:prstGeom>
        </p:spPr>
      </p:pic>
      <p:pic>
        <p:nvPicPr>
          <p:cNvPr id="617" name="Picture 616">
            <a:extLst>
              <a:ext uri="{FF2B5EF4-FFF2-40B4-BE49-F238E27FC236}">
                <a16:creationId xmlns:a16="http://schemas.microsoft.com/office/drawing/2014/main" id="{169BC4C2-B25C-963F-58A4-AD754F1EDC20}"/>
              </a:ext>
            </a:extLst>
          </p:cNvPr>
          <p:cNvPicPr>
            <a:picLocks noChangeAspect="1"/>
          </p:cNvPicPr>
          <p:nvPr/>
        </p:nvPicPr>
        <p:blipFill>
          <a:blip r:embed="rId9"/>
          <a:stretch>
            <a:fillRect/>
          </a:stretch>
        </p:blipFill>
        <p:spPr>
          <a:xfrm>
            <a:off x="4315240" y="2798363"/>
            <a:ext cx="215900" cy="292100"/>
          </a:xfrm>
          <a:prstGeom prst="rect">
            <a:avLst/>
          </a:prstGeom>
        </p:spPr>
      </p:pic>
      <p:pic>
        <p:nvPicPr>
          <p:cNvPr id="618" name="Picture 617">
            <a:extLst>
              <a:ext uri="{FF2B5EF4-FFF2-40B4-BE49-F238E27FC236}">
                <a16:creationId xmlns:a16="http://schemas.microsoft.com/office/drawing/2014/main" id="{47273CB5-26F0-6F5C-17CA-671AA4C4C658}"/>
              </a:ext>
            </a:extLst>
          </p:cNvPr>
          <p:cNvPicPr>
            <a:picLocks noChangeAspect="1"/>
          </p:cNvPicPr>
          <p:nvPr/>
        </p:nvPicPr>
        <p:blipFill>
          <a:blip r:embed="rId9"/>
          <a:stretch>
            <a:fillRect/>
          </a:stretch>
        </p:blipFill>
        <p:spPr>
          <a:xfrm>
            <a:off x="4558049" y="2774744"/>
            <a:ext cx="215900" cy="292100"/>
          </a:xfrm>
          <a:prstGeom prst="rect">
            <a:avLst/>
          </a:prstGeom>
        </p:spPr>
      </p:pic>
      <p:pic>
        <p:nvPicPr>
          <p:cNvPr id="619" name="Picture 618">
            <a:extLst>
              <a:ext uri="{FF2B5EF4-FFF2-40B4-BE49-F238E27FC236}">
                <a16:creationId xmlns:a16="http://schemas.microsoft.com/office/drawing/2014/main" id="{B6175C2F-BFFA-3054-FC1D-D2B0805B749F}"/>
              </a:ext>
            </a:extLst>
          </p:cNvPr>
          <p:cNvPicPr>
            <a:picLocks noChangeAspect="1"/>
          </p:cNvPicPr>
          <p:nvPr/>
        </p:nvPicPr>
        <p:blipFill>
          <a:blip r:embed="rId9"/>
          <a:stretch>
            <a:fillRect/>
          </a:stretch>
        </p:blipFill>
        <p:spPr>
          <a:xfrm>
            <a:off x="4247486" y="3135422"/>
            <a:ext cx="215900" cy="292100"/>
          </a:xfrm>
          <a:prstGeom prst="rect">
            <a:avLst/>
          </a:prstGeom>
        </p:spPr>
      </p:pic>
      <p:pic>
        <p:nvPicPr>
          <p:cNvPr id="620" name="Picture 619">
            <a:extLst>
              <a:ext uri="{FF2B5EF4-FFF2-40B4-BE49-F238E27FC236}">
                <a16:creationId xmlns:a16="http://schemas.microsoft.com/office/drawing/2014/main" id="{BA02D826-CB8D-1384-F250-CA70A7733C53}"/>
              </a:ext>
            </a:extLst>
          </p:cNvPr>
          <p:cNvPicPr>
            <a:picLocks noChangeAspect="1"/>
          </p:cNvPicPr>
          <p:nvPr/>
        </p:nvPicPr>
        <p:blipFill>
          <a:blip r:embed="rId9"/>
          <a:stretch>
            <a:fillRect/>
          </a:stretch>
        </p:blipFill>
        <p:spPr>
          <a:xfrm>
            <a:off x="4822890" y="3157334"/>
            <a:ext cx="215900" cy="292100"/>
          </a:xfrm>
          <a:prstGeom prst="rect">
            <a:avLst/>
          </a:prstGeom>
        </p:spPr>
      </p:pic>
      <p:pic>
        <p:nvPicPr>
          <p:cNvPr id="621" name="Picture 620">
            <a:extLst>
              <a:ext uri="{FF2B5EF4-FFF2-40B4-BE49-F238E27FC236}">
                <a16:creationId xmlns:a16="http://schemas.microsoft.com/office/drawing/2014/main" id="{1280146D-EB59-FC61-B744-2C96A11AE391}"/>
              </a:ext>
            </a:extLst>
          </p:cNvPr>
          <p:cNvPicPr>
            <a:picLocks noChangeAspect="1"/>
          </p:cNvPicPr>
          <p:nvPr/>
        </p:nvPicPr>
        <p:blipFill>
          <a:blip r:embed="rId9"/>
          <a:stretch>
            <a:fillRect/>
          </a:stretch>
        </p:blipFill>
        <p:spPr>
          <a:xfrm>
            <a:off x="4428625" y="3370204"/>
            <a:ext cx="215900" cy="292100"/>
          </a:xfrm>
          <a:prstGeom prst="rect">
            <a:avLst/>
          </a:prstGeom>
        </p:spPr>
      </p:pic>
      <p:pic>
        <p:nvPicPr>
          <p:cNvPr id="622" name="Picture 621">
            <a:extLst>
              <a:ext uri="{FF2B5EF4-FFF2-40B4-BE49-F238E27FC236}">
                <a16:creationId xmlns:a16="http://schemas.microsoft.com/office/drawing/2014/main" id="{522E7384-AA68-6D17-8030-B5C652A10389}"/>
              </a:ext>
            </a:extLst>
          </p:cNvPr>
          <p:cNvPicPr>
            <a:picLocks noChangeAspect="1"/>
          </p:cNvPicPr>
          <p:nvPr/>
        </p:nvPicPr>
        <p:blipFill>
          <a:blip r:embed="rId9"/>
          <a:stretch>
            <a:fillRect/>
          </a:stretch>
        </p:blipFill>
        <p:spPr>
          <a:xfrm>
            <a:off x="4647213" y="3338143"/>
            <a:ext cx="215900" cy="292100"/>
          </a:xfrm>
          <a:prstGeom prst="rect">
            <a:avLst/>
          </a:prstGeom>
        </p:spPr>
      </p:pic>
      <p:pic>
        <p:nvPicPr>
          <p:cNvPr id="623" name="Picture 622">
            <a:extLst>
              <a:ext uri="{FF2B5EF4-FFF2-40B4-BE49-F238E27FC236}">
                <a16:creationId xmlns:a16="http://schemas.microsoft.com/office/drawing/2014/main" id="{225CFAF1-7CF9-5024-0BDC-53A37B13AC80}"/>
              </a:ext>
            </a:extLst>
          </p:cNvPr>
          <p:cNvPicPr>
            <a:picLocks noChangeAspect="1"/>
          </p:cNvPicPr>
          <p:nvPr/>
        </p:nvPicPr>
        <p:blipFill>
          <a:blip r:embed="rId9"/>
          <a:stretch>
            <a:fillRect/>
          </a:stretch>
        </p:blipFill>
        <p:spPr>
          <a:xfrm>
            <a:off x="4832448" y="2839071"/>
            <a:ext cx="215900" cy="292100"/>
          </a:xfrm>
          <a:prstGeom prst="rect">
            <a:avLst/>
          </a:prstGeom>
        </p:spPr>
      </p:pic>
      <p:pic>
        <p:nvPicPr>
          <p:cNvPr id="627" name="Picture 626">
            <a:extLst>
              <a:ext uri="{FF2B5EF4-FFF2-40B4-BE49-F238E27FC236}">
                <a16:creationId xmlns:a16="http://schemas.microsoft.com/office/drawing/2014/main" id="{271A1B55-E5B5-0336-2F3B-E0947F4815F8}"/>
              </a:ext>
            </a:extLst>
          </p:cNvPr>
          <p:cNvPicPr>
            <a:picLocks noChangeAspect="1"/>
          </p:cNvPicPr>
          <p:nvPr/>
        </p:nvPicPr>
        <p:blipFill>
          <a:blip r:embed="rId9"/>
          <a:stretch>
            <a:fillRect/>
          </a:stretch>
        </p:blipFill>
        <p:spPr>
          <a:xfrm>
            <a:off x="1773088" y="5078898"/>
            <a:ext cx="215900" cy="292100"/>
          </a:xfrm>
          <a:prstGeom prst="rect">
            <a:avLst/>
          </a:prstGeom>
        </p:spPr>
      </p:pic>
      <p:pic>
        <p:nvPicPr>
          <p:cNvPr id="628" name="Picture 627">
            <a:extLst>
              <a:ext uri="{FF2B5EF4-FFF2-40B4-BE49-F238E27FC236}">
                <a16:creationId xmlns:a16="http://schemas.microsoft.com/office/drawing/2014/main" id="{0CC80514-32CB-7635-6CA5-2316A94FDB39}"/>
              </a:ext>
            </a:extLst>
          </p:cNvPr>
          <p:cNvPicPr>
            <a:picLocks noChangeAspect="1"/>
          </p:cNvPicPr>
          <p:nvPr/>
        </p:nvPicPr>
        <p:blipFill>
          <a:blip r:embed="rId9"/>
          <a:stretch>
            <a:fillRect/>
          </a:stretch>
        </p:blipFill>
        <p:spPr>
          <a:xfrm>
            <a:off x="1925488" y="5231298"/>
            <a:ext cx="215900" cy="292100"/>
          </a:xfrm>
          <a:prstGeom prst="rect">
            <a:avLst/>
          </a:prstGeom>
        </p:spPr>
      </p:pic>
      <p:pic>
        <p:nvPicPr>
          <p:cNvPr id="629" name="Picture 628">
            <a:extLst>
              <a:ext uri="{FF2B5EF4-FFF2-40B4-BE49-F238E27FC236}">
                <a16:creationId xmlns:a16="http://schemas.microsoft.com/office/drawing/2014/main" id="{FC680998-AF9C-AD20-E3B9-5531F901C08C}"/>
              </a:ext>
            </a:extLst>
          </p:cNvPr>
          <p:cNvPicPr>
            <a:picLocks noChangeAspect="1"/>
          </p:cNvPicPr>
          <p:nvPr/>
        </p:nvPicPr>
        <p:blipFill>
          <a:blip r:embed="rId9"/>
          <a:stretch>
            <a:fillRect/>
          </a:stretch>
        </p:blipFill>
        <p:spPr>
          <a:xfrm>
            <a:off x="2092900" y="5033356"/>
            <a:ext cx="215900" cy="292100"/>
          </a:xfrm>
          <a:prstGeom prst="rect">
            <a:avLst/>
          </a:prstGeom>
        </p:spPr>
      </p:pic>
      <p:pic>
        <p:nvPicPr>
          <p:cNvPr id="630" name="Picture 629">
            <a:extLst>
              <a:ext uri="{FF2B5EF4-FFF2-40B4-BE49-F238E27FC236}">
                <a16:creationId xmlns:a16="http://schemas.microsoft.com/office/drawing/2014/main" id="{82D0215E-3AD6-8E2D-BC35-3674F3DE44F6}"/>
              </a:ext>
            </a:extLst>
          </p:cNvPr>
          <p:cNvPicPr>
            <a:picLocks noChangeAspect="1"/>
          </p:cNvPicPr>
          <p:nvPr/>
        </p:nvPicPr>
        <p:blipFill>
          <a:blip r:embed="rId9"/>
          <a:stretch>
            <a:fillRect/>
          </a:stretch>
        </p:blipFill>
        <p:spPr>
          <a:xfrm>
            <a:off x="2366105" y="5401656"/>
            <a:ext cx="215900" cy="292100"/>
          </a:xfrm>
          <a:prstGeom prst="rect">
            <a:avLst/>
          </a:prstGeom>
        </p:spPr>
      </p:pic>
      <p:pic>
        <p:nvPicPr>
          <p:cNvPr id="631" name="Picture 630">
            <a:extLst>
              <a:ext uri="{FF2B5EF4-FFF2-40B4-BE49-F238E27FC236}">
                <a16:creationId xmlns:a16="http://schemas.microsoft.com/office/drawing/2014/main" id="{A2E8DC38-2E58-6A2A-DC54-A3B09C106D49}"/>
              </a:ext>
            </a:extLst>
          </p:cNvPr>
          <p:cNvPicPr>
            <a:picLocks noChangeAspect="1"/>
          </p:cNvPicPr>
          <p:nvPr/>
        </p:nvPicPr>
        <p:blipFill>
          <a:blip r:embed="rId9"/>
          <a:stretch>
            <a:fillRect/>
          </a:stretch>
        </p:blipFill>
        <p:spPr>
          <a:xfrm>
            <a:off x="2117144" y="5470022"/>
            <a:ext cx="215900" cy="292100"/>
          </a:xfrm>
          <a:prstGeom prst="rect">
            <a:avLst/>
          </a:prstGeom>
        </p:spPr>
      </p:pic>
      <p:pic>
        <p:nvPicPr>
          <p:cNvPr id="632" name="Picture 631">
            <a:extLst>
              <a:ext uri="{FF2B5EF4-FFF2-40B4-BE49-F238E27FC236}">
                <a16:creationId xmlns:a16="http://schemas.microsoft.com/office/drawing/2014/main" id="{239B0E59-4D3E-6E6D-5236-03079A849A87}"/>
              </a:ext>
            </a:extLst>
          </p:cNvPr>
          <p:cNvPicPr>
            <a:picLocks noChangeAspect="1"/>
          </p:cNvPicPr>
          <p:nvPr/>
        </p:nvPicPr>
        <p:blipFill>
          <a:blip r:embed="rId9"/>
          <a:stretch>
            <a:fillRect/>
          </a:stretch>
        </p:blipFill>
        <p:spPr>
          <a:xfrm>
            <a:off x="2549153" y="5148240"/>
            <a:ext cx="215900" cy="292100"/>
          </a:xfrm>
          <a:prstGeom prst="rect">
            <a:avLst/>
          </a:prstGeom>
        </p:spPr>
      </p:pic>
      <p:pic>
        <p:nvPicPr>
          <p:cNvPr id="633" name="Picture 632">
            <a:extLst>
              <a:ext uri="{FF2B5EF4-FFF2-40B4-BE49-F238E27FC236}">
                <a16:creationId xmlns:a16="http://schemas.microsoft.com/office/drawing/2014/main" id="{5F98A44F-D000-1C8B-59F5-8B8C53E455C7}"/>
              </a:ext>
            </a:extLst>
          </p:cNvPr>
          <p:cNvPicPr>
            <a:picLocks noChangeAspect="1"/>
          </p:cNvPicPr>
          <p:nvPr/>
        </p:nvPicPr>
        <p:blipFill>
          <a:blip r:embed="rId9"/>
          <a:stretch>
            <a:fillRect/>
          </a:stretch>
        </p:blipFill>
        <p:spPr>
          <a:xfrm>
            <a:off x="2654477" y="5466383"/>
            <a:ext cx="215900" cy="292100"/>
          </a:xfrm>
          <a:prstGeom prst="rect">
            <a:avLst/>
          </a:prstGeom>
        </p:spPr>
      </p:pic>
      <p:pic>
        <p:nvPicPr>
          <p:cNvPr id="634" name="Picture 633">
            <a:extLst>
              <a:ext uri="{FF2B5EF4-FFF2-40B4-BE49-F238E27FC236}">
                <a16:creationId xmlns:a16="http://schemas.microsoft.com/office/drawing/2014/main" id="{3579785F-DC3B-DB9A-1160-6DF70ECD5D40}"/>
              </a:ext>
            </a:extLst>
          </p:cNvPr>
          <p:cNvPicPr>
            <a:picLocks noChangeAspect="1"/>
          </p:cNvPicPr>
          <p:nvPr/>
        </p:nvPicPr>
        <p:blipFill>
          <a:blip r:embed="rId9"/>
          <a:stretch>
            <a:fillRect/>
          </a:stretch>
        </p:blipFill>
        <p:spPr>
          <a:xfrm>
            <a:off x="1767210" y="5496710"/>
            <a:ext cx="215900" cy="292100"/>
          </a:xfrm>
          <a:prstGeom prst="rect">
            <a:avLst/>
          </a:prstGeom>
        </p:spPr>
      </p:pic>
      <p:pic>
        <p:nvPicPr>
          <p:cNvPr id="635" name="Picture 634">
            <a:extLst>
              <a:ext uri="{FF2B5EF4-FFF2-40B4-BE49-F238E27FC236}">
                <a16:creationId xmlns:a16="http://schemas.microsoft.com/office/drawing/2014/main" id="{C84150EA-9B87-62DF-42A7-2E99DED92EC3}"/>
              </a:ext>
            </a:extLst>
          </p:cNvPr>
          <p:cNvPicPr>
            <a:picLocks noChangeAspect="1"/>
          </p:cNvPicPr>
          <p:nvPr/>
        </p:nvPicPr>
        <p:blipFill>
          <a:blip r:embed="rId9"/>
          <a:stretch>
            <a:fillRect/>
          </a:stretch>
        </p:blipFill>
        <p:spPr>
          <a:xfrm>
            <a:off x="2851738" y="5260864"/>
            <a:ext cx="215900" cy="292100"/>
          </a:xfrm>
          <a:prstGeom prst="rect">
            <a:avLst/>
          </a:prstGeom>
        </p:spPr>
      </p:pic>
      <p:pic>
        <p:nvPicPr>
          <p:cNvPr id="636" name="Picture 635">
            <a:extLst>
              <a:ext uri="{FF2B5EF4-FFF2-40B4-BE49-F238E27FC236}">
                <a16:creationId xmlns:a16="http://schemas.microsoft.com/office/drawing/2014/main" id="{80B31792-7B49-97BC-431B-5E2C5CF0F05C}"/>
              </a:ext>
            </a:extLst>
          </p:cNvPr>
          <p:cNvPicPr>
            <a:picLocks noChangeAspect="1"/>
          </p:cNvPicPr>
          <p:nvPr/>
        </p:nvPicPr>
        <p:blipFill>
          <a:blip r:embed="rId9"/>
          <a:stretch>
            <a:fillRect/>
          </a:stretch>
        </p:blipFill>
        <p:spPr>
          <a:xfrm>
            <a:off x="2319188" y="5114814"/>
            <a:ext cx="215900" cy="292100"/>
          </a:xfrm>
          <a:prstGeom prst="rect">
            <a:avLst/>
          </a:prstGeom>
        </p:spPr>
      </p:pic>
    </p:spTree>
    <p:extLst>
      <p:ext uri="{BB962C8B-B14F-4D97-AF65-F5344CB8AC3E}">
        <p14:creationId xmlns:p14="http://schemas.microsoft.com/office/powerpoint/2010/main" val="4016710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Define Needs and Objectives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Review team charter and pre-event data collection</a:t>
            </a:r>
          </a:p>
          <a:p>
            <a:r>
              <a:rPr lang="en-US" sz="2400" dirty="0"/>
              <a:t>Complete Muda walk and observation of current process/design</a:t>
            </a:r>
          </a:p>
          <a:p>
            <a:r>
              <a:rPr lang="en-US" sz="2400" dirty="0"/>
              <a:t>Complete “before” video and take digital photos</a:t>
            </a:r>
          </a:p>
          <a:p>
            <a:r>
              <a:rPr lang="en-US" sz="2400" dirty="0"/>
              <a:t>List issues for safety, ergonomics, quality, delivery, cost</a:t>
            </a:r>
          </a:p>
          <a:p>
            <a:r>
              <a:rPr lang="en-US" sz="2400" dirty="0"/>
              <a:t>Review results of interviews with key personnel </a:t>
            </a:r>
          </a:p>
          <a:p>
            <a:r>
              <a:rPr lang="en-US" sz="2400" dirty="0"/>
              <a:t>Brainstorm and complete Affinity Diagram process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Sketch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Evaluate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Needs</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830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Review Team Charter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event charter and validate event objectives and project boundaries.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necessary modifications to charter.</a:t>
            </a:r>
          </a:p>
        </p:txBody>
      </p:sp>
      <p:grpSp>
        <p:nvGrpSpPr>
          <p:cNvPr id="3" name="Group 2">
            <a:extLst>
              <a:ext uri="{FF2B5EF4-FFF2-40B4-BE49-F238E27FC236}">
                <a16:creationId xmlns:a16="http://schemas.microsoft.com/office/drawing/2014/main" id="{A7F79D09-1D1E-3DBB-37B8-52F8A0F2DFC4}"/>
              </a:ext>
            </a:extLst>
          </p:cNvPr>
          <p:cNvGrpSpPr/>
          <p:nvPr/>
        </p:nvGrpSpPr>
        <p:grpSpPr>
          <a:xfrm>
            <a:off x="838200" y="297639"/>
            <a:ext cx="3848100" cy="307138"/>
            <a:chOff x="838200" y="297639"/>
            <a:chExt cx="3848100" cy="307138"/>
          </a:xfrm>
        </p:grpSpPr>
        <p:grpSp>
          <p:nvGrpSpPr>
            <p:cNvPr id="4" name="Group 3">
              <a:extLst>
                <a:ext uri="{FF2B5EF4-FFF2-40B4-BE49-F238E27FC236}">
                  <a16:creationId xmlns:a16="http://schemas.microsoft.com/office/drawing/2014/main" id="{D8569E0B-A3DF-129E-1D8D-C45D2BB7090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DEF1A67-8AE7-4D05-930C-3DDD27C1AD4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DC93712-B260-E4C8-07E8-32DE8B3F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0D71491F-BABA-044B-A1F3-33E640F9B50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52919A8-7611-9EAE-DCB2-5D14CD24BE6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D4416F4D-2859-656B-9C61-C59FCCF84D4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98D80D22-3455-BCF1-FAAE-B312EF7B95F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B8198EE3-DA90-32DB-0AB2-BEACC1A2B38B}"/>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11606826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What is “Waste”?</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28</a:t>
            </a:fld>
            <a:endParaRPr lang="en-US" dirty="0"/>
          </a:p>
        </p:txBody>
      </p:sp>
      <p:graphicFrame>
        <p:nvGraphicFramePr>
          <p:cNvPr id="12" name="Table">
            <a:extLst>
              <a:ext uri="{FF2B5EF4-FFF2-40B4-BE49-F238E27FC236}">
                <a16:creationId xmlns:a16="http://schemas.microsoft.com/office/drawing/2014/main" id="{4DC24FE0-DEBE-2440-59A4-EAA62B706ECC}"/>
              </a:ext>
            </a:extLst>
          </p:cNvPr>
          <p:cNvGraphicFramePr/>
          <p:nvPr/>
        </p:nvGraphicFramePr>
        <p:xfrm>
          <a:off x="838200" y="1976559"/>
          <a:ext cx="10337800" cy="4213587"/>
        </p:xfrm>
        <a:graphic>
          <a:graphicData uri="http://schemas.openxmlformats.org/drawingml/2006/table">
            <a:tbl>
              <a:tblPr/>
              <a:tblGrid>
                <a:gridCol w="2686703">
                  <a:extLst>
                    <a:ext uri="{9D8B030D-6E8A-4147-A177-3AD203B41FA5}">
                      <a16:colId xmlns:a16="http://schemas.microsoft.com/office/drawing/2014/main" val="20000"/>
                    </a:ext>
                  </a:extLst>
                </a:gridCol>
                <a:gridCol w="7651097">
                  <a:extLst>
                    <a:ext uri="{9D8B030D-6E8A-4147-A177-3AD203B41FA5}">
                      <a16:colId xmlns:a16="http://schemas.microsoft.com/office/drawing/2014/main" val="20002"/>
                    </a:ext>
                  </a:extLst>
                </a:gridCol>
              </a:tblGrid>
              <a:tr h="444017">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2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Types of Waste</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Descriptions</a:t>
                      </a:r>
                      <a:endParaRPr sz="2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1409900">
                <a:tc>
                  <a:txBody>
                    <a:bodyPr/>
                    <a:lstStyle/>
                    <a:p>
                      <a:pPr marL="0" indent="0" algn="l">
                        <a:buNone/>
                      </a:pPr>
                      <a:r>
                        <a:rPr lang="en-US" sz="2400" dirty="0">
                          <a:solidFill>
                            <a:schemeClr val="bg2">
                              <a:lumMod val="10000"/>
                            </a:schemeClr>
                          </a:solidFill>
                          <a:latin typeface="Roboto"/>
                          <a:ea typeface="Roboto"/>
                          <a:cs typeface="Roboto"/>
                        </a:rPr>
                        <a:t>1. Muda</a:t>
                      </a:r>
                      <a:endParaRPr lang="en-US" sz="2800" dirty="0"/>
                    </a:p>
                  </a:txBody>
                  <a:tcPr anchor="ctr" horzOverflow="overflow">
                    <a:lnL w="0">
                      <a:miter lim="400000"/>
                    </a:lnL>
                    <a:lnR w="0">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Any activity that consumes resources without creating value for the customer</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979863">
                <a:tc>
                  <a:txBody>
                    <a:bodyPr/>
                    <a:lstStyle/>
                    <a:p>
                      <a:pPr marL="0" indent="0" algn="l" rtl="0" eaLnBrk="1" latinLnBrk="0" hangingPunct="1">
                        <a:buNone/>
                      </a:pPr>
                      <a:r>
                        <a:rPr lang="en-US" sz="2400" kern="1200" dirty="0">
                          <a:solidFill>
                            <a:schemeClr val="bg2">
                              <a:lumMod val="10000"/>
                            </a:schemeClr>
                          </a:solidFill>
                          <a:latin typeface="Roboto"/>
                          <a:ea typeface="Roboto"/>
                          <a:cs typeface="Roboto"/>
                        </a:rPr>
                        <a:t>2. Mura</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24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Unevenness in a process; for example an uneven work pace causing people to hurry and wait</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1366624">
                <a:tc>
                  <a:txBody>
                    <a:bodyPr/>
                    <a:lstStyle/>
                    <a:p>
                      <a:pPr algn="l"/>
                      <a:r>
                        <a:rPr lang="en-US" sz="2400" dirty="0">
                          <a:solidFill>
                            <a:schemeClr val="bg2">
                              <a:lumMod val="10000"/>
                            </a:schemeClr>
                          </a:solidFill>
                          <a:latin typeface="Roboto"/>
                          <a:ea typeface="Roboto"/>
                          <a:cs typeface="Roboto"/>
                        </a:rPr>
                        <a:t>3. Muri</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Overburdening, overloading, or stressing of resources (such as people or equipment)</a:t>
                      </a:r>
                    </a:p>
                  </a:txBody>
                  <a:tcPr anchor="ctr" horzOverflow="overflow">
                    <a:lnL w="0">
                      <a:noFill/>
                      <a:miter lim="400000"/>
                    </a:lnL>
                    <a:lnR w="0">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0003"/>
                  </a:ext>
                </a:extLst>
              </a:tr>
            </a:tbl>
          </a:graphicData>
        </a:graphic>
      </p:graphicFrame>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1146125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The Content of Work</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29</a:t>
            </a:fld>
            <a:endParaRPr lang="en-US" dirty="0"/>
          </a:p>
        </p:txBody>
      </p:sp>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
        <p:nvSpPr>
          <p:cNvPr id="2" name="Rectangle 3">
            <a:extLst>
              <a:ext uri="{FF2B5EF4-FFF2-40B4-BE49-F238E27FC236}">
                <a16:creationId xmlns:a16="http://schemas.microsoft.com/office/drawing/2014/main" id="{DC7C4DD2-1DA8-4222-DB5B-DE5288D98246}"/>
              </a:ext>
            </a:extLst>
          </p:cNvPr>
          <p:cNvSpPr txBox="1">
            <a:spLocks noChangeArrowheads="1"/>
          </p:cNvSpPr>
          <p:nvPr/>
        </p:nvSpPr>
        <p:spPr>
          <a:xfrm>
            <a:off x="838200" y="1943711"/>
            <a:ext cx="10629900" cy="475456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GB" altLang="en-US" dirty="0">
                <a:solidFill>
                  <a:schemeClr val="accent6"/>
                </a:solidFill>
              </a:rPr>
              <a:t>Value Added Work - maximize</a:t>
            </a:r>
          </a:p>
          <a:p>
            <a:pPr lvl="1"/>
            <a:r>
              <a:rPr lang="en-GB" altLang="en-US" sz="3200" dirty="0"/>
              <a:t>The part of the job the customer values</a:t>
            </a:r>
            <a:endParaRPr lang="en-GB" altLang="en-US" sz="2000" dirty="0"/>
          </a:p>
          <a:p>
            <a:pPr marL="0" indent="0">
              <a:spcBef>
                <a:spcPct val="0"/>
              </a:spcBef>
              <a:buFontTx/>
              <a:buNone/>
            </a:pPr>
            <a:endParaRPr lang="en-GB" altLang="en-US" dirty="0">
              <a:solidFill>
                <a:srgbClr val="7F7F7F"/>
              </a:solidFill>
            </a:endParaRPr>
          </a:p>
          <a:p>
            <a:pPr marL="0" indent="0">
              <a:spcBef>
                <a:spcPct val="0"/>
              </a:spcBef>
              <a:buFontTx/>
              <a:buNone/>
            </a:pPr>
            <a:r>
              <a:rPr lang="en-GB" altLang="en-US" dirty="0">
                <a:solidFill>
                  <a:schemeClr val="accent3"/>
                </a:solidFill>
              </a:rPr>
              <a:t>Enabling Waste - minimize</a:t>
            </a:r>
          </a:p>
          <a:p>
            <a:pPr lvl="1"/>
            <a:r>
              <a:rPr lang="en-GB" altLang="en-US" sz="3200" dirty="0"/>
              <a:t>Work that does </a:t>
            </a:r>
            <a:r>
              <a:rPr lang="en-GB" altLang="en-US" sz="3200" dirty="0">
                <a:solidFill>
                  <a:schemeClr val="accent3"/>
                </a:solidFill>
              </a:rPr>
              <a:t>not add value</a:t>
            </a:r>
            <a:r>
              <a:rPr lang="en-GB" altLang="en-US" sz="3200" dirty="0">
                <a:solidFill>
                  <a:srgbClr val="7F7F7F"/>
                </a:solidFill>
              </a:rPr>
              <a:t> </a:t>
            </a:r>
            <a:r>
              <a:rPr lang="en-GB" altLang="en-US" sz="3200" dirty="0"/>
              <a:t>but is </a:t>
            </a:r>
            <a:r>
              <a:rPr lang="en-GB" altLang="en-US" sz="3200" dirty="0">
                <a:solidFill>
                  <a:schemeClr val="accent3"/>
                </a:solidFill>
              </a:rPr>
              <a:t>necessary</a:t>
            </a:r>
            <a:r>
              <a:rPr lang="en-GB" altLang="en-US" sz="3200" dirty="0"/>
              <a:t> under the current operating conditions</a:t>
            </a:r>
          </a:p>
          <a:p>
            <a:pPr marL="0" indent="0">
              <a:spcBef>
                <a:spcPts val="1800"/>
              </a:spcBef>
              <a:buFontTx/>
              <a:buNone/>
            </a:pPr>
            <a:r>
              <a:rPr lang="en-GB" altLang="en-US" dirty="0">
                <a:solidFill>
                  <a:schemeClr val="accent1"/>
                </a:solidFill>
              </a:rPr>
              <a:t>Obvious Waste - eliminate</a:t>
            </a:r>
          </a:p>
          <a:p>
            <a:pPr lvl="1"/>
            <a:r>
              <a:rPr lang="en-GB" altLang="en-US" sz="3200" dirty="0"/>
              <a:t>Work that does </a:t>
            </a:r>
            <a:r>
              <a:rPr lang="en-GB" altLang="en-US" sz="3200" dirty="0">
                <a:solidFill>
                  <a:schemeClr val="accent1"/>
                </a:solidFill>
              </a:rPr>
              <a:t>not add value </a:t>
            </a:r>
            <a:r>
              <a:rPr lang="en-GB" altLang="en-US" sz="3200" dirty="0"/>
              <a:t>and is </a:t>
            </a:r>
            <a:r>
              <a:rPr lang="en-GB" altLang="en-US" sz="3200" dirty="0">
                <a:solidFill>
                  <a:schemeClr val="accent1"/>
                </a:solidFill>
              </a:rPr>
              <a:t>not necessary</a:t>
            </a:r>
          </a:p>
        </p:txBody>
      </p:sp>
      <p:cxnSp>
        <p:nvCxnSpPr>
          <p:cNvPr id="3" name="Straight Connector 2">
            <a:extLst>
              <a:ext uri="{FF2B5EF4-FFF2-40B4-BE49-F238E27FC236}">
                <a16:creationId xmlns:a16="http://schemas.microsoft.com/office/drawing/2014/main" id="{08192DC3-D386-9F30-735D-FFDCB83A4609}"/>
              </a:ext>
            </a:extLst>
          </p:cNvPr>
          <p:cNvCxnSpPr>
            <a:cxnSpLocks/>
          </p:cNvCxnSpPr>
          <p:nvPr/>
        </p:nvCxnSpPr>
        <p:spPr>
          <a:xfrm>
            <a:off x="838200" y="3013710"/>
            <a:ext cx="9593580" cy="0"/>
          </a:xfrm>
          <a:prstGeom prst="line">
            <a:avLst/>
          </a:prstGeom>
          <a:ln>
            <a:solidFill>
              <a:schemeClr val="accent6"/>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608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The Eight Wastes Defined</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30</a:t>
            </a:fld>
            <a:endParaRPr lang="en-US" dirty="0"/>
          </a:p>
        </p:txBody>
      </p:sp>
      <p:graphicFrame>
        <p:nvGraphicFramePr>
          <p:cNvPr id="8" name="Table">
            <a:extLst>
              <a:ext uri="{FF2B5EF4-FFF2-40B4-BE49-F238E27FC236}">
                <a16:creationId xmlns:a16="http://schemas.microsoft.com/office/drawing/2014/main" id="{623AB395-795E-0B6A-9FA7-1D251B948E68}"/>
              </a:ext>
            </a:extLst>
          </p:cNvPr>
          <p:cNvGraphicFramePr/>
          <p:nvPr/>
        </p:nvGraphicFramePr>
        <p:xfrm>
          <a:off x="1134738" y="1821250"/>
          <a:ext cx="9922525" cy="4381335"/>
        </p:xfrm>
        <a:graphic>
          <a:graphicData uri="http://schemas.openxmlformats.org/drawingml/2006/table">
            <a:tbl>
              <a:tblPr/>
              <a:tblGrid>
                <a:gridCol w="2932849">
                  <a:extLst>
                    <a:ext uri="{9D8B030D-6E8A-4147-A177-3AD203B41FA5}">
                      <a16:colId xmlns:a16="http://schemas.microsoft.com/office/drawing/2014/main" val="20000"/>
                    </a:ext>
                  </a:extLst>
                </a:gridCol>
                <a:gridCol w="6989676">
                  <a:extLst>
                    <a:ext uri="{9D8B030D-6E8A-4147-A177-3AD203B41FA5}">
                      <a16:colId xmlns:a16="http://schemas.microsoft.com/office/drawing/2014/main" val="20001"/>
                    </a:ext>
                  </a:extLst>
                </a:gridCol>
              </a:tblGrid>
              <a:tr h="486815">
                <a:tc>
                  <a:txBody>
                    <a:bodyPr/>
                    <a:lstStyle/>
                    <a:p>
                      <a:pPr algn="ctr" defTabSz="1828342">
                        <a:tabLst>
                          <a:tab pos="914400" algn="l"/>
                        </a:tabLst>
                        <a:defRPr sz="3500">
                          <a:solidFill>
                            <a:srgbClr val="999999"/>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Wastes</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rPr>
                        <a:t>Definition</a:t>
                      </a:r>
                      <a:endParaRPr sz="1600" b="1" i="0" u="none" strike="noStrike" kern="1200"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miter lim="400000"/>
                    </a:lnB>
                    <a:solidFill>
                      <a:schemeClr val="accent1"/>
                    </a:solidFill>
                  </a:tcPr>
                </a:tc>
                <a:extLst>
                  <a:ext uri="{0D108BD9-81ED-4DB2-BD59-A6C34878D82A}">
                    <a16:rowId xmlns:a16="http://schemas.microsoft.com/office/drawing/2014/main" val="10000"/>
                  </a:ext>
                </a:extLst>
              </a:tr>
              <a:tr h="486815">
                <a:tc>
                  <a:txBody>
                    <a:bodyPr/>
                    <a:lstStyle/>
                    <a:p>
                      <a:pPr marL="0" indent="0" algn="l" defTabSz="1828342">
                        <a:buAutoNum type="arabicPeriod"/>
                        <a:defRPr sz="1800">
                          <a:solidFill>
                            <a:srgbClr val="000000"/>
                          </a:solidFill>
                        </a:defRPr>
                      </a:pP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 </a:t>
                      </a:r>
                      <a:r>
                        <a:rPr lang="en-US" sz="1800" b="1" u="sng" kern="1200" dirty="0">
                          <a:solidFill>
                            <a:schemeClr val="tx1"/>
                          </a:solidFill>
                          <a:latin typeface="Roboto" panose="02000000000000000000" pitchFamily="2" charset="0"/>
                          <a:ea typeface="Roboto" panose="02000000000000000000" pitchFamily="2" charset="0"/>
                          <a:cs typeface="Roboto" panose="02000000000000000000" pitchFamily="2" charset="0"/>
                        </a:rPr>
                        <a:t>D</a:t>
                      </a:r>
                      <a:r>
                        <a:rPr lang="en-US" sz="1800" kern="1200" dirty="0">
                          <a:solidFill>
                            <a:schemeClr val="tx1"/>
                          </a:solidFill>
                          <a:latin typeface="Roboto" panose="02000000000000000000" pitchFamily="2" charset="0"/>
                          <a:ea typeface="Roboto" panose="02000000000000000000" pitchFamily="2" charset="0"/>
                          <a:cs typeface="Roboto" panose="02000000000000000000" pitchFamily="2" charset="0"/>
                        </a:rPr>
                        <a:t>efects</a:t>
                      </a:r>
                    </a:p>
                  </a:txBody>
                  <a:tcPr marL="45720" marR="45720" anchor="ctr" horzOverflow="overflow">
                    <a:lnL w="0">
                      <a:miter lim="400000"/>
                    </a:lnL>
                    <a:lnR w="0">
                      <a:miter lim="400000"/>
                    </a:lnR>
                    <a:lnT w="0">
                      <a:noFill/>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Process steps that result in scrap, rework or re-processing.</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1"/>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2.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O</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ver Production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algn="l" defTabSz="1828342">
                        <a:defRPr sz="1800">
                          <a:solidFill>
                            <a:srgbClr val="000000"/>
                          </a:solidFill>
                        </a:defRPr>
                      </a:pPr>
                      <a:r>
                        <a:rPr lang="en-US" sz="1600" b="0" i="0" u="none" strike="noStrike" cap="none" spc="0" baseline="0" dirty="0">
                          <a:solidFill>
                            <a:schemeClr val="tx1"/>
                          </a:solidFill>
                          <a:uFillTx/>
                          <a:latin typeface="Roboto" panose="02000000000000000000" pitchFamily="2" charset="0"/>
                          <a:ea typeface="Roboto" panose="02000000000000000000" pitchFamily="2" charset="0"/>
                          <a:cs typeface="Roboto" panose="02000000000000000000" pitchFamily="2" charset="0"/>
                          <a:sym typeface="Roboto"/>
                        </a:rPr>
                        <a:t>Producing more product than is required at the current time.</a:t>
                      </a:r>
                      <a:endParaRPr lang="en-US" sz="16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2"/>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3.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W</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aiting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Periods of inactivity while waiting for the next process step to begin.</a:t>
                      </a:r>
                    </a:p>
                  </a:txBody>
                  <a:tcPr marL="45720" marR="45720" anchor="ctr" horzOverflow="overflow">
                    <a:lnL w="0">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10003"/>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4.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N</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on-Utilized Talent</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Unused creativity and underutilized human capital.</a:t>
                      </a:r>
                    </a:p>
                  </a:txBody>
                  <a:tcPr marL="45720" marR="45720" anchor="ctr" horzOverflow="overflow">
                    <a:lnL w="0">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0004"/>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5.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T</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ransportation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Product moving from person to person or between locations.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878127364"/>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6.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I</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nventory </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Unprocessed or partially processed materials, or undelivered finished goods.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2392731201"/>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7.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M</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otion</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noFill/>
                      <a:miter lim="400000"/>
                    </a:lnB>
                    <a:solidFill>
                      <a:schemeClr val="bg1">
                        <a:lumMod val="85000"/>
                      </a:schemeClr>
                    </a:solidFill>
                  </a:tcPr>
                </a:tc>
                <a:tc>
                  <a:txBody>
                    <a:bodyPr/>
                    <a:lstStyle/>
                    <a:p>
                      <a:pPr algn="l" defTabSz="1828342">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Excessive movement by people or machines.</a:t>
                      </a:r>
                    </a:p>
                  </a:txBody>
                  <a:tcPr marL="45720" marR="45720" anchor="ctr" horzOverflow="overflow">
                    <a:lnL w="0">
                      <a:noFill/>
                      <a:miter lim="400000"/>
                    </a:lnL>
                    <a:lnR w="0">
                      <a:miter lim="400000"/>
                    </a:lnR>
                    <a:lnT w="0">
                      <a:miter lim="400000"/>
                    </a:lnT>
                    <a:lnB w="0">
                      <a:noFill/>
                      <a:miter lim="400000"/>
                    </a:lnB>
                    <a:solidFill>
                      <a:schemeClr val="bg1">
                        <a:lumMod val="85000"/>
                      </a:schemeClr>
                    </a:solidFill>
                  </a:tcPr>
                </a:tc>
                <a:extLst>
                  <a:ext uri="{0D108BD9-81ED-4DB2-BD59-A6C34878D82A}">
                    <a16:rowId xmlns:a16="http://schemas.microsoft.com/office/drawing/2014/main" val="1780965238"/>
                  </a:ext>
                </a:extLst>
              </a:tr>
              <a:tr h="486815">
                <a:tc>
                  <a:txBody>
                    <a:bodyPr/>
                    <a:lstStyle/>
                    <a:p>
                      <a:pPr algn="l" defTabSz="1828342">
                        <a:defRPr sz="1800">
                          <a:solidFill>
                            <a:srgbClr val="000000"/>
                          </a:solidFill>
                        </a:defRPr>
                      </a:pP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8. </a:t>
                      </a:r>
                      <a:r>
                        <a:rPr lang="en-US" sz="1800" b="1" u="sng" dirty="0">
                          <a:solidFill>
                            <a:schemeClr val="tx1"/>
                          </a:solidFill>
                          <a:latin typeface="Roboto" panose="02000000000000000000" pitchFamily="2" charset="0"/>
                          <a:ea typeface="Roboto" panose="02000000000000000000" pitchFamily="2" charset="0"/>
                          <a:cs typeface="Roboto" panose="02000000000000000000" pitchFamily="2" charset="0"/>
                        </a:rPr>
                        <a:t>E</a:t>
                      </a:r>
                      <a:r>
                        <a:rPr lang="en-US" sz="1800" dirty="0">
                          <a:solidFill>
                            <a:schemeClr val="tx1"/>
                          </a:solidFill>
                          <a:latin typeface="Roboto" panose="02000000000000000000" pitchFamily="2" charset="0"/>
                          <a:ea typeface="Roboto" panose="02000000000000000000" pitchFamily="2" charset="0"/>
                          <a:cs typeface="Roboto" panose="02000000000000000000" pitchFamily="2" charset="0"/>
                        </a:rPr>
                        <a:t>xtra Processing</a:t>
                      </a:r>
                      <a:endParaRPr sz="1800" dirty="0">
                        <a:solidFill>
                          <a:schemeClr val="tx1"/>
                        </a:solidFill>
                        <a:latin typeface="Roboto" panose="02000000000000000000" pitchFamily="2" charset="0"/>
                        <a:ea typeface="Roboto" panose="02000000000000000000" pitchFamily="2" charset="0"/>
                        <a:cs typeface="Roboto" panose="02000000000000000000" pitchFamily="2" charset="0"/>
                      </a:endParaRPr>
                    </a:p>
                  </a:txBody>
                  <a:tcPr marL="45720" marR="45720" anchor="ctr" horzOverflow="overflow">
                    <a:lnL w="0">
                      <a:miter lim="400000"/>
                    </a:lnL>
                    <a:lnR w="0">
                      <a:noFill/>
                      <a:miter lim="400000"/>
                    </a:lnR>
                    <a:lnT w="0">
                      <a:miter lim="400000"/>
                    </a:lnT>
                    <a:lnB w="0">
                      <a:miter lim="400000"/>
                    </a:lnB>
                    <a:solidFill>
                      <a:schemeClr val="bg1">
                        <a:lumMod val="85000"/>
                      </a:schemeClr>
                    </a:solidFill>
                  </a:tcPr>
                </a:tc>
                <a:tc>
                  <a:txBody>
                    <a:bodyPr/>
                    <a:lstStyle/>
                    <a:p>
                      <a:pPr marL="0" marR="0" lvl="0" indent="0" algn="l" defTabSz="1828342" eaLnBrk="1" fontAlgn="auto" latinLnBrk="0" hangingPunct="1">
                        <a:lnSpc>
                          <a:spcPct val="100000"/>
                        </a:lnSpc>
                        <a:spcBef>
                          <a:spcPts val="0"/>
                        </a:spcBef>
                        <a:spcAft>
                          <a:spcPts val="0"/>
                        </a:spcAft>
                        <a:buClrTx/>
                        <a:buSzTx/>
                        <a:buFontTx/>
                        <a:buNone/>
                        <a:tabLst/>
                        <a:defRPr sz="1800">
                          <a:solidFill>
                            <a:srgbClr val="000000"/>
                          </a:solidFill>
                        </a:defRPr>
                      </a:pPr>
                      <a:r>
                        <a:rPr lang="en-US" sz="1600" dirty="0">
                          <a:solidFill>
                            <a:schemeClr val="tx1"/>
                          </a:solidFill>
                          <a:latin typeface="Roboto" panose="02000000000000000000" pitchFamily="2" charset="0"/>
                          <a:ea typeface="Roboto" panose="02000000000000000000" pitchFamily="2" charset="0"/>
                          <a:cs typeface="Roboto" panose="02000000000000000000" pitchFamily="2" charset="0"/>
                        </a:rPr>
                        <a:t>Unnecessary work beyond what is required to meet customer requirements.</a:t>
                      </a:r>
                    </a:p>
                  </a:txBody>
                  <a:tcPr marL="45720" marR="45720" anchor="ctr" horzOverflow="overflow">
                    <a:lnL w="0">
                      <a:noFill/>
                      <a:miter lim="400000"/>
                    </a:lnL>
                    <a:lnR w="0">
                      <a:miter lim="400000"/>
                    </a:lnR>
                    <a:lnT w="0">
                      <a:miter lim="400000"/>
                    </a:lnT>
                    <a:lnB w="0">
                      <a:miter lim="400000"/>
                    </a:lnB>
                    <a:solidFill>
                      <a:schemeClr val="bg1">
                        <a:lumMod val="85000"/>
                      </a:schemeClr>
                    </a:solidFill>
                  </a:tcPr>
                </a:tc>
                <a:extLst>
                  <a:ext uri="{0D108BD9-81ED-4DB2-BD59-A6C34878D82A}">
                    <a16:rowId xmlns:a16="http://schemas.microsoft.com/office/drawing/2014/main" val="514211142"/>
                  </a:ext>
                </a:extLst>
              </a:tr>
            </a:tbl>
          </a:graphicData>
        </a:graphic>
      </p:graphicFrame>
      <p:grpSp>
        <p:nvGrpSpPr>
          <p:cNvPr id="9" name="Group 8">
            <a:extLst>
              <a:ext uri="{FF2B5EF4-FFF2-40B4-BE49-F238E27FC236}">
                <a16:creationId xmlns:a16="http://schemas.microsoft.com/office/drawing/2014/main" id="{A174A742-B7DC-E9A1-2202-6E5F0CF0090A}"/>
              </a:ext>
            </a:extLst>
          </p:cNvPr>
          <p:cNvGrpSpPr/>
          <p:nvPr/>
        </p:nvGrpSpPr>
        <p:grpSpPr>
          <a:xfrm>
            <a:off x="838200" y="297639"/>
            <a:ext cx="3848100" cy="307138"/>
            <a:chOff x="838200" y="297639"/>
            <a:chExt cx="3848100" cy="307138"/>
          </a:xfrm>
        </p:grpSpPr>
        <p:grpSp>
          <p:nvGrpSpPr>
            <p:cNvPr id="10" name="Group 9">
              <a:extLst>
                <a:ext uri="{FF2B5EF4-FFF2-40B4-BE49-F238E27FC236}">
                  <a16:creationId xmlns:a16="http://schemas.microsoft.com/office/drawing/2014/main" id="{C825E19E-C618-F6CE-21E6-A6D07F039FE6}"/>
                </a:ext>
              </a:extLst>
            </p:cNvPr>
            <p:cNvGrpSpPr/>
            <p:nvPr/>
          </p:nvGrpSpPr>
          <p:grpSpPr>
            <a:xfrm>
              <a:off x="838200" y="297639"/>
              <a:ext cx="1687517" cy="290657"/>
              <a:chOff x="838200" y="297639"/>
              <a:chExt cx="1687517" cy="290657"/>
            </a:xfrm>
          </p:grpSpPr>
          <p:sp>
            <p:nvSpPr>
              <p:cNvPr id="12" name="AutoShape 9">
                <a:extLst>
                  <a:ext uri="{FF2B5EF4-FFF2-40B4-BE49-F238E27FC236}">
                    <a16:creationId xmlns:a16="http://schemas.microsoft.com/office/drawing/2014/main" id="{5EA5138A-C1F9-2F41-5FB8-EA045494A35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4632C45E-2492-7A84-89A6-627513A3009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0F6C542C-9638-31B0-0171-757872174843}"/>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A42600F5-1EED-BDAF-1950-7522C026E1A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774AAE5E-0633-0685-7737-1DF5B2E176DD}"/>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CDB41246-DCBA-8AA0-C8F9-3EED91DC82B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1" name="TextBox 10">
              <a:extLst>
                <a:ext uri="{FF2B5EF4-FFF2-40B4-BE49-F238E27FC236}">
                  <a16:creationId xmlns:a16="http://schemas.microsoft.com/office/drawing/2014/main" id="{A32D684C-06B9-CBEF-CE57-D17AB329A501}"/>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2389662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Muda Walk Observation</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Examine waste closely</a:t>
            </a:r>
          </a:p>
          <a:p>
            <a:r>
              <a:rPr lang="en-US" dirty="0"/>
              <a:t>Independently collect examples</a:t>
            </a:r>
          </a:p>
          <a:p>
            <a:r>
              <a:rPr lang="en-US" dirty="0"/>
              <a:t>Compare notes</a:t>
            </a:r>
          </a:p>
          <a:p>
            <a:r>
              <a:rPr lang="en-US" dirty="0"/>
              <a:t>Prioritize</a:t>
            </a:r>
          </a:p>
          <a:p>
            <a:r>
              <a:rPr lang="en-US" dirty="0"/>
              <a:t>Save for comparison to design alternatives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pic>
        <p:nvPicPr>
          <p:cNvPr id="15" name="Picture 15">
            <a:extLst>
              <a:ext uri="{FF2B5EF4-FFF2-40B4-BE49-F238E27FC236}">
                <a16:creationId xmlns:a16="http://schemas.microsoft.com/office/drawing/2014/main" id="{A19A1AD5-55CB-C9BE-CD68-6A5D49D4968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947769" y="1825625"/>
            <a:ext cx="2962461" cy="435133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 name="AutoShape 7">
            <a:extLst>
              <a:ext uri="{FF2B5EF4-FFF2-40B4-BE49-F238E27FC236}">
                <a16:creationId xmlns:a16="http://schemas.microsoft.com/office/drawing/2014/main" id="{4C741EAE-FD99-4155-6184-247667E5C52B}"/>
              </a:ext>
            </a:extLst>
          </p:cNvPr>
          <p:cNvSpPr>
            <a:spLocks noChangeArrowheads="1"/>
          </p:cNvSpPr>
          <p:nvPr/>
        </p:nvSpPr>
        <p:spPr bwMode="auto">
          <a:xfrm>
            <a:off x="5583873" y="2754312"/>
            <a:ext cx="285750" cy="2493963"/>
          </a:xfrm>
          <a:prstGeom prst="rightArrow">
            <a:avLst>
              <a:gd name="adj1" fmla="val 67278"/>
              <a:gd name="adj2" fmla="val 72222"/>
            </a:avLst>
          </a:prstGeom>
          <a:solidFill>
            <a:schemeClr val="accent3"/>
          </a:solidFill>
          <a:ln w="1905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3" name="Group 2">
            <a:extLst>
              <a:ext uri="{FF2B5EF4-FFF2-40B4-BE49-F238E27FC236}">
                <a16:creationId xmlns:a16="http://schemas.microsoft.com/office/drawing/2014/main" id="{92F0D57A-3B7D-E2BE-CAD2-9B3CB5E15421}"/>
              </a:ext>
            </a:extLst>
          </p:cNvPr>
          <p:cNvGrpSpPr/>
          <p:nvPr/>
        </p:nvGrpSpPr>
        <p:grpSpPr>
          <a:xfrm>
            <a:off x="838200" y="297639"/>
            <a:ext cx="3848100" cy="307138"/>
            <a:chOff x="838200" y="297639"/>
            <a:chExt cx="3848100" cy="307138"/>
          </a:xfrm>
        </p:grpSpPr>
        <p:grpSp>
          <p:nvGrpSpPr>
            <p:cNvPr id="17" name="Group 16">
              <a:extLst>
                <a:ext uri="{FF2B5EF4-FFF2-40B4-BE49-F238E27FC236}">
                  <a16:creationId xmlns:a16="http://schemas.microsoft.com/office/drawing/2014/main" id="{87954BF9-1862-506D-08DF-9470FC0C9481}"/>
                </a:ext>
              </a:extLst>
            </p:cNvPr>
            <p:cNvGrpSpPr/>
            <p:nvPr/>
          </p:nvGrpSpPr>
          <p:grpSpPr>
            <a:xfrm>
              <a:off x="838200" y="297639"/>
              <a:ext cx="1687517" cy="290657"/>
              <a:chOff x="838200" y="297639"/>
              <a:chExt cx="1687517" cy="290657"/>
            </a:xfrm>
          </p:grpSpPr>
          <p:sp>
            <p:nvSpPr>
              <p:cNvPr id="19" name="AutoShape 9">
                <a:extLst>
                  <a:ext uri="{FF2B5EF4-FFF2-40B4-BE49-F238E27FC236}">
                    <a16:creationId xmlns:a16="http://schemas.microsoft.com/office/drawing/2014/main" id="{1D498315-4D5C-708B-AB06-0D84C8A666B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A3A82A2F-C997-E594-21D3-A626C98F72E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CAF6DD25-FFA1-E6D7-9EC6-D2D7827D04E2}"/>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3E545C27-E163-7FC6-A043-AC85AECF9AC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1">
                  <a:extLst>
                    <a:ext uri="{FF2B5EF4-FFF2-40B4-BE49-F238E27FC236}">
                      <a16:creationId xmlns:a16="http://schemas.microsoft.com/office/drawing/2014/main" id="{F575D8AF-83F4-6FB1-5AE2-6A9F894E8680}"/>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0">
                  <a:extLst>
                    <a:ext uri="{FF2B5EF4-FFF2-40B4-BE49-F238E27FC236}">
                      <a16:creationId xmlns:a16="http://schemas.microsoft.com/office/drawing/2014/main" id="{551D869D-59B3-4CEB-3493-B92544AAC932}"/>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8" name="TextBox 17">
              <a:extLst>
                <a:ext uri="{FF2B5EF4-FFF2-40B4-BE49-F238E27FC236}">
                  <a16:creationId xmlns:a16="http://schemas.microsoft.com/office/drawing/2014/main" id="{E85E80F8-B2FC-94FA-FE62-D37E5821B18F}"/>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151490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Example Data to Review</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92500" lnSpcReduction="20000"/>
          </a:bodyPr>
          <a:lstStyle/>
          <a:p>
            <a:r>
              <a:rPr lang="en-US" dirty="0"/>
              <a:t>Ramp schedule</a:t>
            </a:r>
          </a:p>
          <a:p>
            <a:r>
              <a:rPr lang="en-US" dirty="0"/>
              <a:t>Delivery peak volume</a:t>
            </a:r>
          </a:p>
          <a:p>
            <a:r>
              <a:rPr lang="en-US" dirty="0"/>
              <a:t>Scalability (volume fluctuations)</a:t>
            </a:r>
          </a:p>
          <a:p>
            <a:r>
              <a:rPr lang="en-US" dirty="0"/>
              <a:t>Takt time</a:t>
            </a:r>
          </a:p>
          <a:p>
            <a:r>
              <a:rPr lang="en-US" dirty="0"/>
              <a:t>Replenishment times</a:t>
            </a:r>
          </a:p>
          <a:p>
            <a:r>
              <a:rPr lang="en-US" dirty="0"/>
              <a:t>Standard WIP</a:t>
            </a:r>
          </a:p>
          <a:p>
            <a:r>
              <a:rPr lang="en-US" dirty="0"/>
              <a:t>Layouts and people</a:t>
            </a:r>
          </a:p>
          <a:p>
            <a:r>
              <a:rPr lang="en-US" dirty="0"/>
              <a:t>QFD or Strategic Deployment</a:t>
            </a:r>
          </a:p>
          <a:p>
            <a:r>
              <a:rPr lang="en-US" dirty="0"/>
              <a:t>Process steps or maps</a:t>
            </a:r>
          </a:p>
          <a:p>
            <a:r>
              <a:rPr lang="en-US" dirty="0"/>
              <a:t>Value Stream Map</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sp>
        <p:nvSpPr>
          <p:cNvPr id="17" name="Content Placeholder 16">
            <a:extLst>
              <a:ext uri="{FF2B5EF4-FFF2-40B4-BE49-F238E27FC236}">
                <a16:creationId xmlns:a16="http://schemas.microsoft.com/office/drawing/2014/main" id="{794812BE-7BBF-8898-29CB-DC7F8159954E}"/>
              </a:ext>
            </a:extLst>
          </p:cNvPr>
          <p:cNvSpPr>
            <a:spLocks noGrp="1"/>
          </p:cNvSpPr>
          <p:nvPr>
            <p:ph sz="half" idx="1"/>
          </p:nvPr>
        </p:nvSpPr>
        <p:spPr/>
        <p:txBody>
          <a:bodyPr>
            <a:normAutofit fontScale="92500" lnSpcReduction="20000"/>
          </a:bodyPr>
          <a:lstStyle/>
          <a:p>
            <a:r>
              <a:rPr lang="en-US" dirty="0"/>
              <a:t>Part Numbers</a:t>
            </a:r>
          </a:p>
          <a:p>
            <a:r>
              <a:rPr lang="en-US" dirty="0"/>
              <a:t>Drawings</a:t>
            </a:r>
          </a:p>
          <a:p>
            <a:r>
              <a:rPr lang="en-US" dirty="0"/>
              <a:t>Samples </a:t>
            </a:r>
          </a:p>
          <a:p>
            <a:r>
              <a:rPr lang="en-US" dirty="0"/>
              <a:t>Time: process time, lead time and value added time</a:t>
            </a:r>
          </a:p>
          <a:p>
            <a:r>
              <a:rPr lang="en-US" dirty="0"/>
              <a:t>Changeover times</a:t>
            </a:r>
          </a:p>
          <a:p>
            <a:r>
              <a:rPr lang="en-US" dirty="0"/>
              <a:t>Typical batch sizes</a:t>
            </a:r>
          </a:p>
          <a:p>
            <a:r>
              <a:rPr lang="en-US" dirty="0"/>
              <a:t>Quality (process outputs)</a:t>
            </a:r>
          </a:p>
          <a:p>
            <a:r>
              <a:rPr lang="en-US" dirty="0"/>
              <a:t>Number of </a:t>
            </a:r>
            <a:r>
              <a:rPr lang="en-US" dirty="0" err="1"/>
              <a:t>Poka</a:t>
            </a:r>
            <a:r>
              <a:rPr lang="en-US" dirty="0"/>
              <a:t> Yokes</a:t>
            </a:r>
          </a:p>
          <a:p>
            <a:r>
              <a:rPr lang="en-US" dirty="0"/>
              <a:t>Reliability</a:t>
            </a:r>
          </a:p>
          <a:p>
            <a:r>
              <a:rPr lang="en-US" dirty="0"/>
              <a:t>Cost Targets</a:t>
            </a:r>
          </a:p>
        </p:txBody>
      </p:sp>
      <p:grpSp>
        <p:nvGrpSpPr>
          <p:cNvPr id="3" name="Group 2">
            <a:extLst>
              <a:ext uri="{FF2B5EF4-FFF2-40B4-BE49-F238E27FC236}">
                <a16:creationId xmlns:a16="http://schemas.microsoft.com/office/drawing/2014/main" id="{1F431B42-11D9-2AA4-4C51-862D89755C75}"/>
              </a:ext>
            </a:extLst>
          </p:cNvPr>
          <p:cNvGrpSpPr/>
          <p:nvPr/>
        </p:nvGrpSpPr>
        <p:grpSpPr>
          <a:xfrm>
            <a:off x="838200" y="297639"/>
            <a:ext cx="3848100" cy="307138"/>
            <a:chOff x="838200" y="297639"/>
            <a:chExt cx="3848100" cy="307138"/>
          </a:xfrm>
        </p:grpSpPr>
        <p:grpSp>
          <p:nvGrpSpPr>
            <p:cNvPr id="15" name="Group 14">
              <a:extLst>
                <a:ext uri="{FF2B5EF4-FFF2-40B4-BE49-F238E27FC236}">
                  <a16:creationId xmlns:a16="http://schemas.microsoft.com/office/drawing/2014/main" id="{A1796990-1AAC-DEE0-2F7C-4D87B0A74F53}"/>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BF5126F3-7688-DB5F-FF1B-5823C8862883}"/>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F62519FE-3A96-3583-ECD5-291E856B587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07A9D21C-807F-78F2-3560-758A36458001}"/>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CA0F38FC-B4E3-B5E4-4859-F0B468E5B0D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8A2FE273-6786-6195-96E2-26869451E48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2D4EC6B6-8F69-AC4E-A1F3-67D05AE1956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6" name="TextBox 15">
              <a:extLst>
                <a:ext uri="{FF2B5EF4-FFF2-40B4-BE49-F238E27FC236}">
                  <a16:creationId xmlns:a16="http://schemas.microsoft.com/office/drawing/2014/main" id="{1133093F-E3D2-586F-0741-C36B575CCA72}"/>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379010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GB" altLang="en-US" dirty="0"/>
              <a:t>Review VOC</a:t>
            </a: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sp>
        <p:nvSpPr>
          <p:cNvPr id="4" name="Content Placeholder 3">
            <a:extLst>
              <a:ext uri="{FF2B5EF4-FFF2-40B4-BE49-F238E27FC236}">
                <a16:creationId xmlns:a16="http://schemas.microsoft.com/office/drawing/2014/main" id="{B17C02C7-BC41-0960-C471-7DDB420B43A2}"/>
              </a:ext>
            </a:extLst>
          </p:cNvPr>
          <p:cNvSpPr>
            <a:spLocks noGrp="1"/>
          </p:cNvSpPr>
          <p:nvPr>
            <p:ph sz="half" idx="2"/>
          </p:nvPr>
        </p:nvSpPr>
        <p:spPr/>
        <p:txBody>
          <a:bodyPr>
            <a:normAutofit lnSpcReduction="10000"/>
          </a:bodyPr>
          <a:lstStyle/>
          <a:p>
            <a:r>
              <a:rPr lang="en-US" altLang="en-US" dirty="0"/>
              <a:t>A detailed understanding of the customer</a:t>
            </a:r>
            <a:r>
              <a:rPr lang="ja-JP" altLang="en-US" dirty="0"/>
              <a:t>’</a:t>
            </a:r>
            <a:r>
              <a:rPr lang="en-US" altLang="ja-JP" dirty="0"/>
              <a:t>s requirements </a:t>
            </a:r>
          </a:p>
          <a:p>
            <a:r>
              <a:rPr lang="en-US" altLang="en-US" dirty="0"/>
              <a:t>A common language for the team going forward </a:t>
            </a:r>
          </a:p>
          <a:p>
            <a:r>
              <a:rPr lang="en-US" altLang="en-US" dirty="0"/>
              <a:t>Key input for the setting of appropriate design specifications for the new product or service </a:t>
            </a:r>
          </a:p>
          <a:p>
            <a:r>
              <a:rPr lang="en-US" altLang="en-US" dirty="0"/>
              <a:t>A highly useful springboard for product &amp; process innovation.</a:t>
            </a:r>
          </a:p>
        </p:txBody>
      </p:sp>
      <p:pic>
        <p:nvPicPr>
          <p:cNvPr id="16" name="Picture 4">
            <a:extLst>
              <a:ext uri="{FF2B5EF4-FFF2-40B4-BE49-F238E27FC236}">
                <a16:creationId xmlns:a16="http://schemas.microsoft.com/office/drawing/2014/main" id="{93BBBEC0-F995-1C40-9542-7A744FB771E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54608" y="1825625"/>
            <a:ext cx="4431030" cy="441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grpSp>
        <p:nvGrpSpPr>
          <p:cNvPr id="33" name="Group 32">
            <a:extLst>
              <a:ext uri="{FF2B5EF4-FFF2-40B4-BE49-F238E27FC236}">
                <a16:creationId xmlns:a16="http://schemas.microsoft.com/office/drawing/2014/main" id="{4C65912E-596E-0EEA-5C89-01D6D791F790}"/>
              </a:ext>
            </a:extLst>
          </p:cNvPr>
          <p:cNvGrpSpPr/>
          <p:nvPr/>
        </p:nvGrpSpPr>
        <p:grpSpPr>
          <a:xfrm>
            <a:off x="838200" y="297639"/>
            <a:ext cx="3848100" cy="307138"/>
            <a:chOff x="838200" y="297639"/>
            <a:chExt cx="3848100" cy="307138"/>
          </a:xfrm>
        </p:grpSpPr>
        <p:grpSp>
          <p:nvGrpSpPr>
            <p:cNvPr id="34" name="Group 33">
              <a:extLst>
                <a:ext uri="{FF2B5EF4-FFF2-40B4-BE49-F238E27FC236}">
                  <a16:creationId xmlns:a16="http://schemas.microsoft.com/office/drawing/2014/main" id="{17A0BEE6-42B5-619C-9607-1B04D02E5430}"/>
                </a:ext>
              </a:extLst>
            </p:cNvPr>
            <p:cNvGrpSpPr/>
            <p:nvPr/>
          </p:nvGrpSpPr>
          <p:grpSpPr>
            <a:xfrm>
              <a:off x="838200" y="297639"/>
              <a:ext cx="1687517" cy="290657"/>
              <a:chOff x="838200" y="297639"/>
              <a:chExt cx="1687517" cy="290657"/>
            </a:xfrm>
          </p:grpSpPr>
          <p:sp>
            <p:nvSpPr>
              <p:cNvPr id="36" name="AutoShape 9">
                <a:extLst>
                  <a:ext uri="{FF2B5EF4-FFF2-40B4-BE49-F238E27FC236}">
                    <a16:creationId xmlns:a16="http://schemas.microsoft.com/office/drawing/2014/main" id="{24312FC4-E020-FD06-E40B-550B18E7872F}"/>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7" name="AutoShape 9">
                <a:extLst>
                  <a:ext uri="{FF2B5EF4-FFF2-40B4-BE49-F238E27FC236}">
                    <a16:creationId xmlns:a16="http://schemas.microsoft.com/office/drawing/2014/main" id="{EFADD08B-EAD7-3FA6-8908-7991ADDA4AC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38" name="Group 37">
                <a:extLst>
                  <a:ext uri="{FF2B5EF4-FFF2-40B4-BE49-F238E27FC236}">
                    <a16:creationId xmlns:a16="http://schemas.microsoft.com/office/drawing/2014/main" id="{50B81DDB-E5E3-BC7F-FEB1-F684813E7787}"/>
                  </a:ext>
                </a:extLst>
              </p:cNvPr>
              <p:cNvGrpSpPr/>
              <p:nvPr/>
            </p:nvGrpSpPr>
            <p:grpSpPr>
              <a:xfrm>
                <a:off x="838200" y="297639"/>
                <a:ext cx="1060167" cy="290657"/>
                <a:chOff x="826426" y="4041857"/>
                <a:chExt cx="1060167" cy="290657"/>
              </a:xfrm>
            </p:grpSpPr>
            <p:sp>
              <p:nvSpPr>
                <p:cNvPr id="39" name="AutoShape 9">
                  <a:extLst>
                    <a:ext uri="{FF2B5EF4-FFF2-40B4-BE49-F238E27FC236}">
                      <a16:creationId xmlns:a16="http://schemas.microsoft.com/office/drawing/2014/main" id="{2438C9D5-9FF3-8245-6F86-1D081C84130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0" name="AutoShape 11">
                  <a:extLst>
                    <a:ext uri="{FF2B5EF4-FFF2-40B4-BE49-F238E27FC236}">
                      <a16:creationId xmlns:a16="http://schemas.microsoft.com/office/drawing/2014/main" id="{7CE13BFD-6E59-DF3A-AB0D-60AAAF59025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1" name="AutoShape 10">
                  <a:extLst>
                    <a:ext uri="{FF2B5EF4-FFF2-40B4-BE49-F238E27FC236}">
                      <a16:creationId xmlns:a16="http://schemas.microsoft.com/office/drawing/2014/main" id="{F1B9A8F7-46AC-574D-F4A4-2067B5E4EC68}"/>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35" name="TextBox 34">
              <a:extLst>
                <a:ext uri="{FF2B5EF4-FFF2-40B4-BE49-F238E27FC236}">
                  <a16:creationId xmlns:a16="http://schemas.microsoft.com/office/drawing/2014/main" id="{72B330A4-4139-FF27-8654-22E4F7EB8EE6}"/>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1739582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altLang="en-US" sz="2800" dirty="0"/>
              <a:t>Review results of interviews regarding current process/design</a:t>
            </a:r>
            <a:endParaRPr lang="en-US" sz="2800"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pic>
        <p:nvPicPr>
          <p:cNvPr id="4" name="Picture 4" descr="bigstockphoto_Offering_Advice_697755">
            <a:extLst>
              <a:ext uri="{FF2B5EF4-FFF2-40B4-BE49-F238E27FC236}">
                <a16:creationId xmlns:a16="http://schemas.microsoft.com/office/drawing/2014/main" id="{ED613F85-6680-21FF-F024-D1CA6894725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2402030"/>
            <a:ext cx="4659630" cy="309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Content Placeholder 15">
            <a:extLst>
              <a:ext uri="{FF2B5EF4-FFF2-40B4-BE49-F238E27FC236}">
                <a16:creationId xmlns:a16="http://schemas.microsoft.com/office/drawing/2014/main" id="{3B8DD3CC-70DB-7C7D-D964-6A1C6DFB849F}"/>
              </a:ext>
            </a:extLst>
          </p:cNvPr>
          <p:cNvSpPr>
            <a:spLocks noGrp="1"/>
          </p:cNvSpPr>
          <p:nvPr>
            <p:ph sz="half" idx="2"/>
          </p:nvPr>
        </p:nvSpPr>
        <p:spPr/>
        <p:txBody>
          <a:bodyPr/>
          <a:lstStyle/>
          <a:p>
            <a:r>
              <a:rPr lang="en-US" altLang="en-US" dirty="0"/>
              <a:t>Operators</a:t>
            </a:r>
          </a:p>
          <a:p>
            <a:r>
              <a:rPr lang="en-US" altLang="en-US" dirty="0"/>
              <a:t>Supervisors</a:t>
            </a:r>
          </a:p>
          <a:p>
            <a:r>
              <a:rPr lang="en-US" altLang="en-US" dirty="0"/>
              <a:t>Inspectors</a:t>
            </a:r>
          </a:p>
          <a:p>
            <a:r>
              <a:rPr lang="en-US" altLang="en-US" dirty="0"/>
              <a:t>Managers</a:t>
            </a:r>
          </a:p>
          <a:p>
            <a:r>
              <a:rPr lang="en-US" altLang="en-US" dirty="0"/>
              <a:t>Material Handlers</a:t>
            </a:r>
          </a:p>
          <a:p>
            <a:r>
              <a:rPr lang="en-US" altLang="en-US" dirty="0"/>
              <a:t>Maintenance</a:t>
            </a:r>
          </a:p>
          <a:p>
            <a:r>
              <a:rPr lang="en-US" altLang="en-US" dirty="0"/>
              <a:t>Tech Support</a:t>
            </a:r>
          </a:p>
          <a:p>
            <a:endParaRPr lang="en-US" dirty="0"/>
          </a:p>
        </p:txBody>
      </p:sp>
      <p:grpSp>
        <p:nvGrpSpPr>
          <p:cNvPr id="3" name="Group 2">
            <a:extLst>
              <a:ext uri="{FF2B5EF4-FFF2-40B4-BE49-F238E27FC236}">
                <a16:creationId xmlns:a16="http://schemas.microsoft.com/office/drawing/2014/main" id="{AA40E750-246E-C2F1-1E10-B8BDCA85A0D8}"/>
              </a:ext>
            </a:extLst>
          </p:cNvPr>
          <p:cNvGrpSpPr/>
          <p:nvPr/>
        </p:nvGrpSpPr>
        <p:grpSpPr>
          <a:xfrm>
            <a:off x="838200" y="297639"/>
            <a:ext cx="3848100" cy="307138"/>
            <a:chOff x="838200" y="297639"/>
            <a:chExt cx="3848100" cy="307138"/>
          </a:xfrm>
        </p:grpSpPr>
        <p:grpSp>
          <p:nvGrpSpPr>
            <p:cNvPr id="15" name="Group 14">
              <a:extLst>
                <a:ext uri="{FF2B5EF4-FFF2-40B4-BE49-F238E27FC236}">
                  <a16:creationId xmlns:a16="http://schemas.microsoft.com/office/drawing/2014/main" id="{0CD96317-AD1A-3C20-455D-054F5CA9A90F}"/>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DF643D43-B08D-792E-FF61-E1AC7292F8F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FC5D3A7-8D9E-448B-5E31-DB2271888F9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ACC1B411-AC66-1A23-094C-0342C837FDF9}"/>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91F0F865-E43F-E47D-ECD0-9607B988EC3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A096816D-97BE-E35D-6AD6-DA57BA0680C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7B146DA3-4B9B-5D28-5726-03AA967FB81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7" name="TextBox 16">
              <a:extLst>
                <a:ext uri="{FF2B5EF4-FFF2-40B4-BE49-F238E27FC236}">
                  <a16:creationId xmlns:a16="http://schemas.microsoft.com/office/drawing/2014/main" id="{D9FB8BBD-008E-374E-C5D7-04BD70CD5AF0}"/>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081375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altLang="en-US" sz="4000" dirty="0"/>
              <a:t>Complete Affinity Process</a:t>
            </a:r>
            <a:endParaRPr lang="en-US" sz="4000"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sp>
        <p:nvSpPr>
          <p:cNvPr id="16" name="Content Placeholder 15">
            <a:extLst>
              <a:ext uri="{FF2B5EF4-FFF2-40B4-BE49-F238E27FC236}">
                <a16:creationId xmlns:a16="http://schemas.microsoft.com/office/drawing/2014/main" id="{3B8DD3CC-70DB-7C7D-D964-6A1C6DFB849F}"/>
              </a:ext>
            </a:extLst>
          </p:cNvPr>
          <p:cNvSpPr>
            <a:spLocks noGrp="1"/>
          </p:cNvSpPr>
          <p:nvPr>
            <p:ph sz="half" idx="2"/>
          </p:nvPr>
        </p:nvSpPr>
        <p:spPr>
          <a:xfrm>
            <a:off x="6715125" y="3144043"/>
            <a:ext cx="4229100" cy="1714501"/>
          </a:xfrm>
        </p:spPr>
        <p:txBody>
          <a:bodyPr>
            <a:normAutofit lnSpcReduction="10000"/>
          </a:bodyPr>
          <a:lstStyle/>
          <a:p>
            <a:r>
              <a:rPr lang="en-US" altLang="en-US" sz="3200" dirty="0"/>
              <a:t>Make visible the problems we have learned about in this data review</a:t>
            </a:r>
          </a:p>
        </p:txBody>
      </p:sp>
      <p:grpSp>
        <p:nvGrpSpPr>
          <p:cNvPr id="3" name="Group 2">
            <a:extLst>
              <a:ext uri="{FF2B5EF4-FFF2-40B4-BE49-F238E27FC236}">
                <a16:creationId xmlns:a16="http://schemas.microsoft.com/office/drawing/2014/main" id="{AA40E750-246E-C2F1-1E10-B8BDCA85A0D8}"/>
              </a:ext>
            </a:extLst>
          </p:cNvPr>
          <p:cNvGrpSpPr/>
          <p:nvPr/>
        </p:nvGrpSpPr>
        <p:grpSpPr>
          <a:xfrm>
            <a:off x="838200" y="297639"/>
            <a:ext cx="3848100" cy="307138"/>
            <a:chOff x="838200" y="297639"/>
            <a:chExt cx="3848100" cy="307138"/>
          </a:xfrm>
        </p:grpSpPr>
        <p:grpSp>
          <p:nvGrpSpPr>
            <p:cNvPr id="15" name="Group 14">
              <a:extLst>
                <a:ext uri="{FF2B5EF4-FFF2-40B4-BE49-F238E27FC236}">
                  <a16:creationId xmlns:a16="http://schemas.microsoft.com/office/drawing/2014/main" id="{0CD96317-AD1A-3C20-455D-054F5CA9A90F}"/>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DF643D43-B08D-792E-FF61-E1AC7292F8FD}"/>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1FC5D3A7-8D9E-448B-5E31-DB2271888F9D}"/>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ACC1B411-AC66-1A23-094C-0342C837FDF9}"/>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91F0F865-E43F-E47D-ECD0-9607B988EC36}"/>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1">
                  <a:extLst>
                    <a:ext uri="{FF2B5EF4-FFF2-40B4-BE49-F238E27FC236}">
                      <a16:creationId xmlns:a16="http://schemas.microsoft.com/office/drawing/2014/main" id="{A096816D-97BE-E35D-6AD6-DA57BA0680C1}"/>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0">
                  <a:extLst>
                    <a:ext uri="{FF2B5EF4-FFF2-40B4-BE49-F238E27FC236}">
                      <a16:creationId xmlns:a16="http://schemas.microsoft.com/office/drawing/2014/main" id="{7B146DA3-4B9B-5D28-5726-03AA967FB81A}"/>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7" name="TextBox 16">
              <a:extLst>
                <a:ext uri="{FF2B5EF4-FFF2-40B4-BE49-F238E27FC236}">
                  <a16:creationId xmlns:a16="http://schemas.microsoft.com/office/drawing/2014/main" id="{D9FB8BBD-008E-374E-C5D7-04BD70CD5AF0}"/>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pic>
        <p:nvPicPr>
          <p:cNvPr id="7" name="Picture 5">
            <a:extLst>
              <a:ext uri="{FF2B5EF4-FFF2-40B4-BE49-F238E27FC236}">
                <a16:creationId xmlns:a16="http://schemas.microsoft.com/office/drawing/2014/main" id="{B6F24C11-27BA-560A-3C4D-62325D24D90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247775" y="2362994"/>
            <a:ext cx="436245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8" name="AutoShape 6">
            <a:extLst>
              <a:ext uri="{FF2B5EF4-FFF2-40B4-BE49-F238E27FC236}">
                <a16:creationId xmlns:a16="http://schemas.microsoft.com/office/drawing/2014/main" id="{1AD13A7D-8D5F-EF86-E403-39FCEB1C3B14}"/>
              </a:ext>
            </a:extLst>
          </p:cNvPr>
          <p:cNvSpPr>
            <a:spLocks noChangeArrowheads="1"/>
          </p:cNvSpPr>
          <p:nvPr/>
        </p:nvSpPr>
        <p:spPr bwMode="auto">
          <a:xfrm>
            <a:off x="6096000" y="2754311"/>
            <a:ext cx="285750" cy="2493963"/>
          </a:xfrm>
          <a:prstGeom prst="rightArrow">
            <a:avLst>
              <a:gd name="adj1" fmla="val 67278"/>
              <a:gd name="adj2" fmla="val 72222"/>
            </a:avLst>
          </a:prstGeom>
          <a:solidFill>
            <a:schemeClr val="accent3"/>
          </a:solidFill>
          <a:ln w="1905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36096473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Take Muda Walk</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observe the process, dissect the product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Muda Walk and observation of current process or design</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Observe and document repetitive builds (multi-cycle analysis)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Motion Analysis (Eliminate, Combine, Modify, Simplify)</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“Before” Video</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Interview stakeholders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Affinity Diagram of all opportunities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1579920"/>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List issues observed for safety, ergonomics, quality, delivery, cost.</a:t>
            </a:r>
          </a:p>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 the Affinity Diagram.</a:t>
            </a:r>
          </a:p>
        </p:txBody>
      </p:sp>
      <p:grpSp>
        <p:nvGrpSpPr>
          <p:cNvPr id="3" name="Group 2">
            <a:extLst>
              <a:ext uri="{FF2B5EF4-FFF2-40B4-BE49-F238E27FC236}">
                <a16:creationId xmlns:a16="http://schemas.microsoft.com/office/drawing/2014/main" id="{A7F79D09-1D1E-3DBB-37B8-52F8A0F2DFC4}"/>
              </a:ext>
            </a:extLst>
          </p:cNvPr>
          <p:cNvGrpSpPr/>
          <p:nvPr/>
        </p:nvGrpSpPr>
        <p:grpSpPr>
          <a:xfrm>
            <a:off x="838200" y="297639"/>
            <a:ext cx="3848100" cy="307138"/>
            <a:chOff x="838200" y="297639"/>
            <a:chExt cx="3848100" cy="307138"/>
          </a:xfrm>
        </p:grpSpPr>
        <p:grpSp>
          <p:nvGrpSpPr>
            <p:cNvPr id="4" name="Group 3">
              <a:extLst>
                <a:ext uri="{FF2B5EF4-FFF2-40B4-BE49-F238E27FC236}">
                  <a16:creationId xmlns:a16="http://schemas.microsoft.com/office/drawing/2014/main" id="{D8569E0B-A3DF-129E-1D8D-C45D2BB7090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DEF1A67-8AE7-4D05-930C-3DDD27C1AD4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DC93712-B260-E4C8-07E8-32DE8B3F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0D71491F-BABA-044B-A1F3-33E640F9B50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52919A8-7611-9EAE-DCB2-5D14CD24BE6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D4416F4D-2859-656B-9C61-C59FCCF84D4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98D80D22-3455-BCF1-FAAE-B312EF7B95F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B8198EE3-DA90-32DB-0AB2-BEACC1A2B38B}"/>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2114133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Management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Management review of conclusions from the data and finalized charter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Management review of conclusions from the data and finalized charter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20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Approval of charter and event direction. </a:t>
            </a:r>
          </a:p>
        </p:txBody>
      </p:sp>
      <p:grpSp>
        <p:nvGrpSpPr>
          <p:cNvPr id="3" name="Group 2">
            <a:extLst>
              <a:ext uri="{FF2B5EF4-FFF2-40B4-BE49-F238E27FC236}">
                <a16:creationId xmlns:a16="http://schemas.microsoft.com/office/drawing/2014/main" id="{A7F79D09-1D1E-3DBB-37B8-52F8A0F2DFC4}"/>
              </a:ext>
            </a:extLst>
          </p:cNvPr>
          <p:cNvGrpSpPr/>
          <p:nvPr/>
        </p:nvGrpSpPr>
        <p:grpSpPr>
          <a:xfrm>
            <a:off x="838200" y="297639"/>
            <a:ext cx="3848100" cy="307138"/>
            <a:chOff x="838200" y="297639"/>
            <a:chExt cx="3848100" cy="307138"/>
          </a:xfrm>
        </p:grpSpPr>
        <p:grpSp>
          <p:nvGrpSpPr>
            <p:cNvPr id="4" name="Group 3">
              <a:extLst>
                <a:ext uri="{FF2B5EF4-FFF2-40B4-BE49-F238E27FC236}">
                  <a16:creationId xmlns:a16="http://schemas.microsoft.com/office/drawing/2014/main" id="{D8569E0B-A3DF-129E-1D8D-C45D2BB7090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DEF1A67-8AE7-4D05-930C-3DDD27C1AD4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DC93712-B260-E4C8-07E8-32DE8B3F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0D71491F-BABA-044B-A1F3-33E640F9B50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52919A8-7611-9EAE-DCB2-5D14CD24BE6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D4416F4D-2859-656B-9C61-C59FCCF84D4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98D80D22-3455-BCF1-FAAE-B312EF7B95F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B8198EE3-DA90-32DB-0AB2-BEACC1A2B38B}"/>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16988382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Complete Diagram of the Current Process/Design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Decide on diagram(s) format</a:t>
            </a:r>
          </a:p>
          <a:p>
            <a:r>
              <a:rPr lang="en-US" sz="2400" dirty="0"/>
              <a:t>Complete diagram process</a:t>
            </a:r>
          </a:p>
          <a:p>
            <a:r>
              <a:rPr lang="en-US" sz="2400" dirty="0"/>
              <a:t>Review decision matrix and adjust criteria accordingly</a:t>
            </a:r>
          </a:p>
          <a:p>
            <a:r>
              <a:rPr lang="en-US" sz="2400" dirty="0"/>
              <a:t>Identify and rank opportunities</a:t>
            </a:r>
          </a:p>
          <a:p>
            <a:r>
              <a:rPr lang="en-US" sz="2400" dirty="0"/>
              <a:t>Summarize key opportunities</a:t>
            </a:r>
          </a:p>
          <a:p>
            <a:r>
              <a:rPr lang="en-US" sz="2400" dirty="0"/>
              <a:t>Assign sub-teams to begin 3P cycles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Sketch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Evaluate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Needs</a:t>
                </a:r>
                <a:br>
                  <a:rPr lang="en-US" altLang="en-US" sz="1200" dirty="0">
                    <a:latin typeface="Roboto" panose="02000000000000000000" pitchFamily="2" charset="0"/>
                    <a:ea typeface="Roboto" panose="02000000000000000000" pitchFamily="2" charset="0"/>
                    <a:cs typeface="Roboto" panose="02000000000000000000" pitchFamily="2" charset="0"/>
                  </a:rPr>
                </a:br>
                <a:r>
                  <a:rPr lang="en-US" altLang="en-US" sz="1200" dirty="0">
                    <a:latin typeface="Roboto" panose="02000000000000000000" pitchFamily="2" charset="0"/>
                    <a:ea typeface="Roboto" panose="02000000000000000000" pitchFamily="2" charset="0"/>
                    <a:cs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66016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Diagrams</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39</a:t>
            </a:fld>
            <a:endParaRPr lang="en-US" dirty="0"/>
          </a:p>
        </p:txBody>
      </p:sp>
      <p:graphicFrame>
        <p:nvGraphicFramePr>
          <p:cNvPr id="12" name="Table">
            <a:extLst>
              <a:ext uri="{FF2B5EF4-FFF2-40B4-BE49-F238E27FC236}">
                <a16:creationId xmlns:a16="http://schemas.microsoft.com/office/drawing/2014/main" id="{4DC24FE0-DEBE-2440-59A4-EAA62B706ECC}"/>
              </a:ext>
            </a:extLst>
          </p:cNvPr>
          <p:cNvGraphicFramePr/>
          <p:nvPr>
            <p:extLst>
              <p:ext uri="{D42A27DB-BD31-4B8C-83A1-F6EECF244321}">
                <p14:modId xmlns:p14="http://schemas.microsoft.com/office/powerpoint/2010/main" val="306705154"/>
              </p:ext>
            </p:extLst>
          </p:nvPr>
        </p:nvGraphicFramePr>
        <p:xfrm>
          <a:off x="927100" y="2331292"/>
          <a:ext cx="10337800" cy="2795950"/>
        </p:xfrm>
        <a:graphic>
          <a:graphicData uri="http://schemas.openxmlformats.org/drawingml/2006/table">
            <a:tbl>
              <a:tblPr/>
              <a:tblGrid>
                <a:gridCol w="2922270">
                  <a:extLst>
                    <a:ext uri="{9D8B030D-6E8A-4147-A177-3AD203B41FA5}">
                      <a16:colId xmlns:a16="http://schemas.microsoft.com/office/drawing/2014/main" val="20000"/>
                    </a:ext>
                  </a:extLst>
                </a:gridCol>
                <a:gridCol w="7415530">
                  <a:extLst>
                    <a:ext uri="{9D8B030D-6E8A-4147-A177-3AD203B41FA5}">
                      <a16:colId xmlns:a16="http://schemas.microsoft.com/office/drawing/2014/main" val="20002"/>
                    </a:ext>
                  </a:extLst>
                </a:gridCol>
              </a:tblGrid>
              <a:tr h="483575">
                <a:tc>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2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Points</a:t>
                      </a:r>
                    </a:p>
                  </a:txBody>
                  <a:tcPr anchor="ctr" horzOverflow="overflow">
                    <a:lnL w="0">
                      <a:noFill/>
                      <a:miter lim="400000"/>
                    </a:lnL>
                    <a:lnR w="0">
                      <a:noFill/>
                      <a:miter lim="400000"/>
                    </a:lnR>
                    <a:lnT w="0">
                      <a:noFill/>
                      <a:miter lim="400000"/>
                    </a:lnT>
                    <a:lnB w="0">
                      <a:noFill/>
                      <a:miter lim="400000"/>
                    </a:lnB>
                    <a:solidFill>
                      <a:schemeClr val="accent1"/>
                    </a:solidFill>
                  </a:tcPr>
                </a:tc>
                <a:tc>
                  <a:txBody>
                    <a:bodyPr/>
                    <a:lstStyle/>
                    <a:p>
                      <a:pPr algn="ctr" defTabSz="1828342">
                        <a:defRPr sz="1800">
                          <a:solidFill>
                            <a:srgbClr val="000000"/>
                          </a:solidFill>
                        </a:defRPr>
                      </a:pPr>
                      <a:r>
                        <a:rPr lang="en-US" sz="2400" b="1" dirty="0">
                          <a:solidFill>
                            <a:schemeClr val="bg1"/>
                          </a:solidFill>
                          <a:latin typeface="Roboto" panose="02000000000000000000" pitchFamily="2" charset="0"/>
                          <a:ea typeface="Roboto" panose="02000000000000000000" pitchFamily="2" charset="0"/>
                          <a:cs typeface="Roboto" panose="02000000000000000000" pitchFamily="2" charset="0"/>
                        </a:rPr>
                        <a:t>Descriptions</a:t>
                      </a:r>
                      <a:endParaRPr sz="2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214083">
                <a:tc>
                  <a:txBody>
                    <a:bodyPr/>
                    <a:lstStyle/>
                    <a:p>
                      <a:pPr marL="0" indent="0" algn="l">
                        <a:buNone/>
                      </a:pPr>
                      <a:r>
                        <a:rPr lang="en-US" sz="2400" dirty="0">
                          <a:latin typeface="Roboto" panose="02000000000000000000" pitchFamily="2" charset="0"/>
                          <a:ea typeface="Roboto" panose="02000000000000000000" pitchFamily="2" charset="0"/>
                        </a:rPr>
                        <a:t>Fishbone Diagram</a:t>
                      </a:r>
                    </a:p>
                  </a:txBody>
                  <a:tcPr anchor="ctr" horzOverflow="overflow">
                    <a:lnL w="0">
                      <a:miter lim="400000"/>
                    </a:lnL>
                    <a:lnR w="0">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4 M’s: Man, Material, Method, Machine</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0">
                <a:tc>
                  <a:txBody>
                    <a:bodyPr/>
                    <a:lstStyle/>
                    <a:p>
                      <a:pPr marL="0" indent="0" algn="l" rtl="0" eaLnBrk="1" latinLnBrk="0" hangingPunct="1">
                        <a:buNone/>
                      </a:pPr>
                      <a:r>
                        <a:rPr lang="en-US" sz="2400" kern="1200" dirty="0">
                          <a:solidFill>
                            <a:schemeClr val="bg2">
                              <a:lumMod val="10000"/>
                            </a:schemeClr>
                          </a:solidFill>
                          <a:latin typeface="Roboto" panose="02000000000000000000" pitchFamily="2" charset="0"/>
                          <a:ea typeface="Roboto" panose="02000000000000000000" pitchFamily="2" charset="0"/>
                          <a:cs typeface="Roboto"/>
                        </a:rPr>
                        <a:t>Process Fishbone</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24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Sequence of build with components, and processes </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0">
                <a:tc>
                  <a:txBody>
                    <a:bodyPr/>
                    <a:lstStyle/>
                    <a:p>
                      <a:pPr algn="l"/>
                      <a:r>
                        <a:rPr lang="en-US" sz="2400" dirty="0">
                          <a:solidFill>
                            <a:schemeClr val="bg2">
                              <a:lumMod val="10000"/>
                            </a:schemeClr>
                          </a:solidFill>
                          <a:latin typeface="Roboto" panose="02000000000000000000" pitchFamily="2" charset="0"/>
                          <a:ea typeface="Roboto" panose="02000000000000000000" pitchFamily="2" charset="0"/>
                          <a:cs typeface="Roboto"/>
                        </a:rPr>
                        <a:t>Exploded Assemble</a:t>
                      </a:r>
                    </a:p>
                  </a:txBody>
                  <a:tcPr anchor="ctr" horzOverflow="overflow">
                    <a:lnL w="0">
                      <a:miter lim="400000"/>
                    </a:lnL>
                    <a:lnR w="0">
                      <a:miter lim="400000"/>
                    </a:lnR>
                    <a:lnT w="0">
                      <a:miter lim="400000"/>
                    </a:lnT>
                    <a:lnB w="0">
                      <a:noFill/>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Illustration of all assemblies </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0">
                <a:tc>
                  <a:txBody>
                    <a:bodyPr/>
                    <a:lstStyle/>
                    <a:p>
                      <a:pPr algn="l"/>
                      <a:r>
                        <a:rPr lang="en-US" sz="2400" dirty="0">
                          <a:solidFill>
                            <a:schemeClr val="bg2">
                              <a:lumMod val="10000"/>
                            </a:schemeClr>
                          </a:solidFill>
                          <a:latin typeface="Roboto" panose="02000000000000000000" pitchFamily="2" charset="0"/>
                          <a:ea typeface="Roboto" panose="02000000000000000000" pitchFamily="2" charset="0"/>
                          <a:cs typeface="Roboto"/>
                        </a:rPr>
                        <a:t>Design Diagram</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The whole system</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730240672"/>
                  </a:ext>
                </a:extLst>
              </a:tr>
              <a:tr h="483575">
                <a:tc>
                  <a:txBody>
                    <a:bodyPr/>
                    <a:lstStyle/>
                    <a:p>
                      <a:pPr algn="l"/>
                      <a:r>
                        <a:rPr lang="en-US" sz="2400" dirty="0">
                          <a:solidFill>
                            <a:schemeClr val="bg2">
                              <a:lumMod val="10000"/>
                            </a:schemeClr>
                          </a:solidFill>
                          <a:latin typeface="Roboto" panose="02000000000000000000" pitchFamily="2" charset="0"/>
                          <a:ea typeface="Roboto" panose="02000000000000000000" pitchFamily="2" charset="0"/>
                          <a:cs typeface="Roboto"/>
                        </a:rPr>
                        <a:t>Process Map</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The whole system or sub-process</a:t>
                      </a:r>
                    </a:p>
                  </a:txBody>
                  <a:tcPr anchor="ctr" horzOverflow="overflow">
                    <a:lnL w="0">
                      <a:noFill/>
                      <a:miter lim="400000"/>
                    </a:lnL>
                    <a:lnR w="0">
                      <a:noFill/>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66482606"/>
                  </a:ext>
                </a:extLst>
              </a:tr>
            </a:tbl>
          </a:graphicData>
        </a:graphic>
      </p:graphicFrame>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9497842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Process Fishbone Diagram Example</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40</a:t>
            </a:fld>
            <a:endParaRPr lang="en-US" dirty="0"/>
          </a:p>
        </p:txBody>
      </p:sp>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pic>
        <p:nvPicPr>
          <p:cNvPr id="2" name="Picture 4">
            <a:extLst>
              <a:ext uri="{FF2B5EF4-FFF2-40B4-BE49-F238E27FC236}">
                <a16:creationId xmlns:a16="http://schemas.microsoft.com/office/drawing/2014/main" id="{3C2CE123-4CDE-6AF9-49E0-3457CC819D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499" y="1766948"/>
            <a:ext cx="8001001" cy="456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1541245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Exploded Assembly</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pic>
        <p:nvPicPr>
          <p:cNvPr id="15" name="Picture 3">
            <a:extLst>
              <a:ext uri="{FF2B5EF4-FFF2-40B4-BE49-F238E27FC236}">
                <a16:creationId xmlns:a16="http://schemas.microsoft.com/office/drawing/2014/main" id="{2366F95D-83BC-259A-5997-A7F6C2F0F03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368283" y="1825625"/>
            <a:ext cx="3850318" cy="34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 name="Picture 2">
            <a:extLst>
              <a:ext uri="{FF2B5EF4-FFF2-40B4-BE49-F238E27FC236}">
                <a16:creationId xmlns:a16="http://schemas.microsoft.com/office/drawing/2014/main" id="{CFE8667E-804D-BA56-1E3A-DCCBBA9C45C7}"/>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583573" y="1825625"/>
            <a:ext cx="4358853" cy="4351338"/>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7" name="Content Placeholder 14">
            <a:extLst>
              <a:ext uri="{FF2B5EF4-FFF2-40B4-BE49-F238E27FC236}">
                <a16:creationId xmlns:a16="http://schemas.microsoft.com/office/drawing/2014/main" id="{DFDA2794-83F0-117B-A39C-F597EA7180CF}"/>
              </a:ext>
            </a:extLst>
          </p:cNvPr>
          <p:cNvSpPr txBox="1">
            <a:spLocks noChangeArrowheads="1"/>
          </p:cNvSpPr>
          <p:nvPr/>
        </p:nvSpPr>
        <p:spPr>
          <a:xfrm>
            <a:off x="901965" y="5341303"/>
            <a:ext cx="4706463" cy="68103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tLang="en-US" sz="2400" dirty="0"/>
              <a:t>Use drawings and exploded views to visualize product or process</a:t>
            </a:r>
          </a:p>
        </p:txBody>
      </p:sp>
      <p:grpSp>
        <p:nvGrpSpPr>
          <p:cNvPr id="3" name="Group 2">
            <a:extLst>
              <a:ext uri="{FF2B5EF4-FFF2-40B4-BE49-F238E27FC236}">
                <a16:creationId xmlns:a16="http://schemas.microsoft.com/office/drawing/2014/main" id="{E82616A6-D47C-DB4F-8303-44770C651FBF}"/>
              </a:ext>
            </a:extLst>
          </p:cNvPr>
          <p:cNvGrpSpPr/>
          <p:nvPr/>
        </p:nvGrpSpPr>
        <p:grpSpPr>
          <a:xfrm>
            <a:off x="838200" y="297639"/>
            <a:ext cx="3848100" cy="307138"/>
            <a:chOff x="838200" y="297639"/>
            <a:chExt cx="3848100" cy="307138"/>
          </a:xfrm>
        </p:grpSpPr>
        <p:grpSp>
          <p:nvGrpSpPr>
            <p:cNvPr id="4" name="Group 3">
              <a:extLst>
                <a:ext uri="{FF2B5EF4-FFF2-40B4-BE49-F238E27FC236}">
                  <a16:creationId xmlns:a16="http://schemas.microsoft.com/office/drawing/2014/main" id="{5E2DCB43-3475-33B7-5718-D42F9B89C877}"/>
                </a:ext>
              </a:extLst>
            </p:cNvPr>
            <p:cNvGrpSpPr/>
            <p:nvPr/>
          </p:nvGrpSpPr>
          <p:grpSpPr>
            <a:xfrm>
              <a:off x="838200" y="297639"/>
              <a:ext cx="1687517" cy="290657"/>
              <a:chOff x="838200" y="297639"/>
              <a:chExt cx="1687517" cy="290657"/>
            </a:xfrm>
          </p:grpSpPr>
          <p:sp>
            <p:nvSpPr>
              <p:cNvPr id="19" name="AutoShape 9">
                <a:extLst>
                  <a:ext uri="{FF2B5EF4-FFF2-40B4-BE49-F238E27FC236}">
                    <a16:creationId xmlns:a16="http://schemas.microsoft.com/office/drawing/2014/main" id="{A3CF1333-5F63-DC4C-637C-11C2C87E334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9">
                <a:extLst>
                  <a:ext uri="{FF2B5EF4-FFF2-40B4-BE49-F238E27FC236}">
                    <a16:creationId xmlns:a16="http://schemas.microsoft.com/office/drawing/2014/main" id="{1841333D-481D-891B-18AD-4D05A6955E1F}"/>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5EE49703-C334-461D-1B14-D80DBD4EDF80}"/>
                  </a:ext>
                </a:extLst>
              </p:cNvPr>
              <p:cNvGrpSpPr/>
              <p:nvPr/>
            </p:nvGrpSpPr>
            <p:grpSpPr>
              <a:xfrm>
                <a:off x="838200" y="297639"/>
                <a:ext cx="1060167" cy="290657"/>
                <a:chOff x="826426" y="4041857"/>
                <a:chExt cx="1060167" cy="290657"/>
              </a:xfrm>
            </p:grpSpPr>
            <p:sp>
              <p:nvSpPr>
                <p:cNvPr id="22" name="AutoShape 9">
                  <a:extLst>
                    <a:ext uri="{FF2B5EF4-FFF2-40B4-BE49-F238E27FC236}">
                      <a16:creationId xmlns:a16="http://schemas.microsoft.com/office/drawing/2014/main" id="{877BFCA4-9CF4-9F7D-C0E9-F0C6DF927331}"/>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3" name="AutoShape 11">
                  <a:extLst>
                    <a:ext uri="{FF2B5EF4-FFF2-40B4-BE49-F238E27FC236}">
                      <a16:creationId xmlns:a16="http://schemas.microsoft.com/office/drawing/2014/main" id="{6916D23C-61A1-AB2E-E18A-9A0BCBDE91DA}"/>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0">
                  <a:extLst>
                    <a:ext uri="{FF2B5EF4-FFF2-40B4-BE49-F238E27FC236}">
                      <a16:creationId xmlns:a16="http://schemas.microsoft.com/office/drawing/2014/main" id="{6E9B5E8F-F7A3-6CAF-12C9-4F2E0A94F591}"/>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8" name="TextBox 17">
              <a:extLst>
                <a:ext uri="{FF2B5EF4-FFF2-40B4-BE49-F238E27FC236}">
                  <a16:creationId xmlns:a16="http://schemas.microsoft.com/office/drawing/2014/main" id="{492515EB-85AF-78FA-195D-F5FB41D8A8D7}"/>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23828461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Process 3P Diagram Example</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42</a:t>
            </a:fld>
            <a:endParaRPr lang="en-US" dirty="0"/>
          </a:p>
        </p:txBody>
      </p:sp>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grpSp>
        <p:nvGrpSpPr>
          <p:cNvPr id="209" name="Group 198">
            <a:extLst>
              <a:ext uri="{FF2B5EF4-FFF2-40B4-BE49-F238E27FC236}">
                <a16:creationId xmlns:a16="http://schemas.microsoft.com/office/drawing/2014/main" id="{E27DE5E4-41CB-15A7-144A-69E898C67426}"/>
              </a:ext>
            </a:extLst>
          </p:cNvPr>
          <p:cNvGrpSpPr>
            <a:grpSpLocks/>
          </p:cNvGrpSpPr>
          <p:nvPr/>
        </p:nvGrpSpPr>
        <p:grpSpPr bwMode="auto">
          <a:xfrm>
            <a:off x="1187132" y="1958030"/>
            <a:ext cx="9817735" cy="4328446"/>
            <a:chOff x="381" y="412"/>
            <a:chExt cx="4997" cy="3194"/>
          </a:xfrm>
        </p:grpSpPr>
        <p:sp>
          <p:nvSpPr>
            <p:cNvPr id="210" name="Line 3">
              <a:extLst>
                <a:ext uri="{FF2B5EF4-FFF2-40B4-BE49-F238E27FC236}">
                  <a16:creationId xmlns:a16="http://schemas.microsoft.com/office/drawing/2014/main" id="{4B1A6677-651F-5CFA-A7F8-4A46755C2002}"/>
                </a:ext>
              </a:extLst>
            </p:cNvPr>
            <p:cNvSpPr>
              <a:spLocks noChangeShapeType="1"/>
            </p:cNvSpPr>
            <p:nvPr/>
          </p:nvSpPr>
          <p:spPr bwMode="auto">
            <a:xfrm>
              <a:off x="387" y="424"/>
              <a:ext cx="18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1" name="Rectangle 4">
              <a:extLst>
                <a:ext uri="{FF2B5EF4-FFF2-40B4-BE49-F238E27FC236}">
                  <a16:creationId xmlns:a16="http://schemas.microsoft.com/office/drawing/2014/main" id="{E08AD746-5095-FD7F-2464-2D8464913BF2}"/>
                </a:ext>
              </a:extLst>
            </p:cNvPr>
            <p:cNvSpPr>
              <a:spLocks noChangeArrowheads="1"/>
            </p:cNvSpPr>
            <p:nvPr/>
          </p:nvSpPr>
          <p:spPr bwMode="auto">
            <a:xfrm>
              <a:off x="387" y="424"/>
              <a:ext cx="1830"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2" name="Line 5">
              <a:extLst>
                <a:ext uri="{FF2B5EF4-FFF2-40B4-BE49-F238E27FC236}">
                  <a16:creationId xmlns:a16="http://schemas.microsoft.com/office/drawing/2014/main" id="{B9CBDBAB-3B3E-E552-B2B7-DC1BA8D2BD0C}"/>
                </a:ext>
              </a:extLst>
            </p:cNvPr>
            <p:cNvSpPr>
              <a:spLocks noChangeShapeType="1"/>
            </p:cNvSpPr>
            <p:nvPr/>
          </p:nvSpPr>
          <p:spPr bwMode="auto">
            <a:xfrm>
              <a:off x="720" y="526"/>
              <a:ext cx="1497"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3" name="Rectangle 6">
              <a:extLst>
                <a:ext uri="{FF2B5EF4-FFF2-40B4-BE49-F238E27FC236}">
                  <a16:creationId xmlns:a16="http://schemas.microsoft.com/office/drawing/2014/main" id="{684A2B99-A3DB-F366-6243-DA00F7085185}"/>
                </a:ext>
              </a:extLst>
            </p:cNvPr>
            <p:cNvSpPr>
              <a:spLocks noChangeArrowheads="1"/>
            </p:cNvSpPr>
            <p:nvPr/>
          </p:nvSpPr>
          <p:spPr bwMode="auto">
            <a:xfrm>
              <a:off x="720" y="526"/>
              <a:ext cx="149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4" name="Line 7">
              <a:extLst>
                <a:ext uri="{FF2B5EF4-FFF2-40B4-BE49-F238E27FC236}">
                  <a16:creationId xmlns:a16="http://schemas.microsoft.com/office/drawing/2014/main" id="{28F6E586-5CDB-34C7-E46C-93F87234D669}"/>
                </a:ext>
              </a:extLst>
            </p:cNvPr>
            <p:cNvSpPr>
              <a:spLocks noChangeShapeType="1"/>
            </p:cNvSpPr>
            <p:nvPr/>
          </p:nvSpPr>
          <p:spPr bwMode="auto">
            <a:xfrm>
              <a:off x="387" y="627"/>
              <a:ext cx="183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5" name="Rectangle 8">
              <a:extLst>
                <a:ext uri="{FF2B5EF4-FFF2-40B4-BE49-F238E27FC236}">
                  <a16:creationId xmlns:a16="http://schemas.microsoft.com/office/drawing/2014/main" id="{A719A502-3D64-572B-8AD3-FAE5768DB5E0}"/>
                </a:ext>
              </a:extLst>
            </p:cNvPr>
            <p:cNvSpPr>
              <a:spLocks noChangeArrowheads="1"/>
            </p:cNvSpPr>
            <p:nvPr/>
          </p:nvSpPr>
          <p:spPr bwMode="auto">
            <a:xfrm>
              <a:off x="387" y="627"/>
              <a:ext cx="1830"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6" name="Line 9">
              <a:extLst>
                <a:ext uri="{FF2B5EF4-FFF2-40B4-BE49-F238E27FC236}">
                  <a16:creationId xmlns:a16="http://schemas.microsoft.com/office/drawing/2014/main" id="{090D1186-A391-ACF3-19A4-4B5A56CDE0F8}"/>
                </a:ext>
              </a:extLst>
            </p:cNvPr>
            <p:cNvSpPr>
              <a:spLocks noChangeShapeType="1"/>
            </p:cNvSpPr>
            <p:nvPr/>
          </p:nvSpPr>
          <p:spPr bwMode="auto">
            <a:xfrm>
              <a:off x="4047" y="424"/>
              <a:ext cx="13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7" name="Rectangle 10">
              <a:extLst>
                <a:ext uri="{FF2B5EF4-FFF2-40B4-BE49-F238E27FC236}">
                  <a16:creationId xmlns:a16="http://schemas.microsoft.com/office/drawing/2014/main" id="{119EC31B-F4A3-764E-DD41-CAC4F130CECD}"/>
                </a:ext>
              </a:extLst>
            </p:cNvPr>
            <p:cNvSpPr>
              <a:spLocks noChangeArrowheads="1"/>
            </p:cNvSpPr>
            <p:nvPr/>
          </p:nvSpPr>
          <p:spPr bwMode="auto">
            <a:xfrm>
              <a:off x="4047" y="424"/>
              <a:ext cx="13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8" name="Line 11">
              <a:extLst>
                <a:ext uri="{FF2B5EF4-FFF2-40B4-BE49-F238E27FC236}">
                  <a16:creationId xmlns:a16="http://schemas.microsoft.com/office/drawing/2014/main" id="{A486EEA4-E56A-F2E3-C3EE-31FA7A55F742}"/>
                </a:ext>
              </a:extLst>
            </p:cNvPr>
            <p:cNvSpPr>
              <a:spLocks noChangeShapeType="1"/>
            </p:cNvSpPr>
            <p:nvPr/>
          </p:nvSpPr>
          <p:spPr bwMode="auto">
            <a:xfrm>
              <a:off x="4047" y="526"/>
              <a:ext cx="133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19" name="Rectangle 12">
              <a:extLst>
                <a:ext uri="{FF2B5EF4-FFF2-40B4-BE49-F238E27FC236}">
                  <a16:creationId xmlns:a16="http://schemas.microsoft.com/office/drawing/2014/main" id="{81AF0E0D-4D09-BE31-DFD5-8AE26FEB14C2}"/>
                </a:ext>
              </a:extLst>
            </p:cNvPr>
            <p:cNvSpPr>
              <a:spLocks noChangeArrowheads="1"/>
            </p:cNvSpPr>
            <p:nvPr/>
          </p:nvSpPr>
          <p:spPr bwMode="auto">
            <a:xfrm>
              <a:off x="4047" y="526"/>
              <a:ext cx="133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0" name="Line 13">
              <a:extLst>
                <a:ext uri="{FF2B5EF4-FFF2-40B4-BE49-F238E27FC236}">
                  <a16:creationId xmlns:a16="http://schemas.microsoft.com/office/drawing/2014/main" id="{5B68EF8C-4F88-3B48-C9E4-BDBBC3BBE322}"/>
                </a:ext>
              </a:extLst>
            </p:cNvPr>
            <p:cNvSpPr>
              <a:spLocks noChangeShapeType="1"/>
            </p:cNvSpPr>
            <p:nvPr/>
          </p:nvSpPr>
          <p:spPr bwMode="auto">
            <a:xfrm>
              <a:off x="4047" y="627"/>
              <a:ext cx="133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1" name="Rectangle 14">
              <a:extLst>
                <a:ext uri="{FF2B5EF4-FFF2-40B4-BE49-F238E27FC236}">
                  <a16:creationId xmlns:a16="http://schemas.microsoft.com/office/drawing/2014/main" id="{5638FBC6-49B4-8179-B878-FC304AE96AD5}"/>
                </a:ext>
              </a:extLst>
            </p:cNvPr>
            <p:cNvSpPr>
              <a:spLocks noChangeArrowheads="1"/>
            </p:cNvSpPr>
            <p:nvPr/>
          </p:nvSpPr>
          <p:spPr bwMode="auto">
            <a:xfrm>
              <a:off x="4047" y="627"/>
              <a:ext cx="133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2" name="Line 15">
              <a:extLst>
                <a:ext uri="{FF2B5EF4-FFF2-40B4-BE49-F238E27FC236}">
                  <a16:creationId xmlns:a16="http://schemas.microsoft.com/office/drawing/2014/main" id="{0F9897C0-F26E-0EE4-8DBF-9699DD2EB242}"/>
                </a:ext>
              </a:extLst>
            </p:cNvPr>
            <p:cNvSpPr>
              <a:spLocks noChangeShapeType="1"/>
            </p:cNvSpPr>
            <p:nvPr/>
          </p:nvSpPr>
          <p:spPr bwMode="auto">
            <a:xfrm>
              <a:off x="387" y="750"/>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3" name="Rectangle 16">
              <a:extLst>
                <a:ext uri="{FF2B5EF4-FFF2-40B4-BE49-F238E27FC236}">
                  <a16:creationId xmlns:a16="http://schemas.microsoft.com/office/drawing/2014/main" id="{986FBA6B-51A9-BC88-2B1B-56FE74514EA5}"/>
                </a:ext>
              </a:extLst>
            </p:cNvPr>
            <p:cNvSpPr>
              <a:spLocks noChangeArrowheads="1"/>
            </p:cNvSpPr>
            <p:nvPr/>
          </p:nvSpPr>
          <p:spPr bwMode="auto">
            <a:xfrm>
              <a:off x="387" y="750"/>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4" name="Line 17">
              <a:extLst>
                <a:ext uri="{FF2B5EF4-FFF2-40B4-BE49-F238E27FC236}">
                  <a16:creationId xmlns:a16="http://schemas.microsoft.com/office/drawing/2014/main" id="{5B835B26-FAA6-C3AA-2E4D-3AA0AFA4BD7E}"/>
                </a:ext>
              </a:extLst>
            </p:cNvPr>
            <p:cNvSpPr>
              <a:spLocks noChangeShapeType="1"/>
            </p:cNvSpPr>
            <p:nvPr/>
          </p:nvSpPr>
          <p:spPr bwMode="auto">
            <a:xfrm>
              <a:off x="387" y="886"/>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5" name="Rectangle 18">
              <a:extLst>
                <a:ext uri="{FF2B5EF4-FFF2-40B4-BE49-F238E27FC236}">
                  <a16:creationId xmlns:a16="http://schemas.microsoft.com/office/drawing/2014/main" id="{9ED94BC9-905C-C503-A462-7522AE0D8AE2}"/>
                </a:ext>
              </a:extLst>
            </p:cNvPr>
            <p:cNvSpPr>
              <a:spLocks noChangeArrowheads="1"/>
            </p:cNvSpPr>
            <p:nvPr/>
          </p:nvSpPr>
          <p:spPr bwMode="auto">
            <a:xfrm>
              <a:off x="387" y="886"/>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6" name="Line 19">
              <a:extLst>
                <a:ext uri="{FF2B5EF4-FFF2-40B4-BE49-F238E27FC236}">
                  <a16:creationId xmlns:a16="http://schemas.microsoft.com/office/drawing/2014/main" id="{1CBFDBB4-50B7-BB89-097D-946FAED86767}"/>
                </a:ext>
              </a:extLst>
            </p:cNvPr>
            <p:cNvSpPr>
              <a:spLocks noChangeShapeType="1"/>
            </p:cNvSpPr>
            <p:nvPr/>
          </p:nvSpPr>
          <p:spPr bwMode="auto">
            <a:xfrm>
              <a:off x="387" y="102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7" name="Rectangle 20">
              <a:extLst>
                <a:ext uri="{FF2B5EF4-FFF2-40B4-BE49-F238E27FC236}">
                  <a16:creationId xmlns:a16="http://schemas.microsoft.com/office/drawing/2014/main" id="{21AE01E3-4540-77C7-576C-4F5600C25B81}"/>
                </a:ext>
              </a:extLst>
            </p:cNvPr>
            <p:cNvSpPr>
              <a:spLocks noChangeArrowheads="1"/>
            </p:cNvSpPr>
            <p:nvPr/>
          </p:nvSpPr>
          <p:spPr bwMode="auto">
            <a:xfrm>
              <a:off x="387" y="1022"/>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8" name="Line 21">
              <a:extLst>
                <a:ext uri="{FF2B5EF4-FFF2-40B4-BE49-F238E27FC236}">
                  <a16:creationId xmlns:a16="http://schemas.microsoft.com/office/drawing/2014/main" id="{176DCC05-2734-042B-1371-52C367428145}"/>
                </a:ext>
              </a:extLst>
            </p:cNvPr>
            <p:cNvSpPr>
              <a:spLocks noChangeShapeType="1"/>
            </p:cNvSpPr>
            <p:nvPr/>
          </p:nvSpPr>
          <p:spPr bwMode="auto">
            <a:xfrm>
              <a:off x="387" y="1158"/>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29" name="Rectangle 22">
              <a:extLst>
                <a:ext uri="{FF2B5EF4-FFF2-40B4-BE49-F238E27FC236}">
                  <a16:creationId xmlns:a16="http://schemas.microsoft.com/office/drawing/2014/main" id="{395FC62C-1126-11EA-EA52-539E4A45F515}"/>
                </a:ext>
              </a:extLst>
            </p:cNvPr>
            <p:cNvSpPr>
              <a:spLocks noChangeArrowheads="1"/>
            </p:cNvSpPr>
            <p:nvPr/>
          </p:nvSpPr>
          <p:spPr bwMode="auto">
            <a:xfrm>
              <a:off x="387" y="1158"/>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0" name="Line 23">
              <a:extLst>
                <a:ext uri="{FF2B5EF4-FFF2-40B4-BE49-F238E27FC236}">
                  <a16:creationId xmlns:a16="http://schemas.microsoft.com/office/drawing/2014/main" id="{3AF32D0A-8EF0-4F18-9D57-687BFDF49FCC}"/>
                </a:ext>
              </a:extLst>
            </p:cNvPr>
            <p:cNvSpPr>
              <a:spLocks noChangeShapeType="1"/>
            </p:cNvSpPr>
            <p:nvPr/>
          </p:nvSpPr>
          <p:spPr bwMode="auto">
            <a:xfrm>
              <a:off x="387" y="1293"/>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1" name="Rectangle 24">
              <a:extLst>
                <a:ext uri="{FF2B5EF4-FFF2-40B4-BE49-F238E27FC236}">
                  <a16:creationId xmlns:a16="http://schemas.microsoft.com/office/drawing/2014/main" id="{E91EC7A8-93E1-EFA0-0A01-BB30AF9C3B89}"/>
                </a:ext>
              </a:extLst>
            </p:cNvPr>
            <p:cNvSpPr>
              <a:spLocks noChangeArrowheads="1"/>
            </p:cNvSpPr>
            <p:nvPr/>
          </p:nvSpPr>
          <p:spPr bwMode="auto">
            <a:xfrm>
              <a:off x="387" y="1293"/>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2" name="Line 25">
              <a:extLst>
                <a:ext uri="{FF2B5EF4-FFF2-40B4-BE49-F238E27FC236}">
                  <a16:creationId xmlns:a16="http://schemas.microsoft.com/office/drawing/2014/main" id="{2DBB9FD2-C59D-9DAE-4C39-85E119A6FE2C}"/>
                </a:ext>
              </a:extLst>
            </p:cNvPr>
            <p:cNvSpPr>
              <a:spLocks noChangeShapeType="1"/>
            </p:cNvSpPr>
            <p:nvPr/>
          </p:nvSpPr>
          <p:spPr bwMode="auto">
            <a:xfrm>
              <a:off x="387" y="1429"/>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3" name="Rectangle 26">
              <a:extLst>
                <a:ext uri="{FF2B5EF4-FFF2-40B4-BE49-F238E27FC236}">
                  <a16:creationId xmlns:a16="http://schemas.microsoft.com/office/drawing/2014/main" id="{27E658D1-5BF0-5BCD-E336-C7248B5A6E80}"/>
                </a:ext>
              </a:extLst>
            </p:cNvPr>
            <p:cNvSpPr>
              <a:spLocks noChangeArrowheads="1"/>
            </p:cNvSpPr>
            <p:nvPr/>
          </p:nvSpPr>
          <p:spPr bwMode="auto">
            <a:xfrm>
              <a:off x="387" y="1429"/>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4" name="Line 27">
              <a:extLst>
                <a:ext uri="{FF2B5EF4-FFF2-40B4-BE49-F238E27FC236}">
                  <a16:creationId xmlns:a16="http://schemas.microsoft.com/office/drawing/2014/main" id="{70217218-98DF-DE9D-F3AF-A70EA1A5FCE3}"/>
                </a:ext>
              </a:extLst>
            </p:cNvPr>
            <p:cNvSpPr>
              <a:spLocks noChangeShapeType="1"/>
            </p:cNvSpPr>
            <p:nvPr/>
          </p:nvSpPr>
          <p:spPr bwMode="auto">
            <a:xfrm>
              <a:off x="387" y="1565"/>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5" name="Rectangle 28">
              <a:extLst>
                <a:ext uri="{FF2B5EF4-FFF2-40B4-BE49-F238E27FC236}">
                  <a16:creationId xmlns:a16="http://schemas.microsoft.com/office/drawing/2014/main" id="{8C74A284-35A7-65D1-4E76-01F6660D6239}"/>
                </a:ext>
              </a:extLst>
            </p:cNvPr>
            <p:cNvSpPr>
              <a:spLocks noChangeArrowheads="1"/>
            </p:cNvSpPr>
            <p:nvPr/>
          </p:nvSpPr>
          <p:spPr bwMode="auto">
            <a:xfrm>
              <a:off x="387" y="1565"/>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6" name="Line 29">
              <a:extLst>
                <a:ext uri="{FF2B5EF4-FFF2-40B4-BE49-F238E27FC236}">
                  <a16:creationId xmlns:a16="http://schemas.microsoft.com/office/drawing/2014/main" id="{3C0238E6-D361-BBA5-BA2D-49EA74E0C5DA}"/>
                </a:ext>
              </a:extLst>
            </p:cNvPr>
            <p:cNvSpPr>
              <a:spLocks noChangeShapeType="1"/>
            </p:cNvSpPr>
            <p:nvPr/>
          </p:nvSpPr>
          <p:spPr bwMode="auto">
            <a:xfrm>
              <a:off x="387" y="1701"/>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7" name="Rectangle 30">
              <a:extLst>
                <a:ext uri="{FF2B5EF4-FFF2-40B4-BE49-F238E27FC236}">
                  <a16:creationId xmlns:a16="http://schemas.microsoft.com/office/drawing/2014/main" id="{25671834-6E87-860E-359E-B40FE18FE5E3}"/>
                </a:ext>
              </a:extLst>
            </p:cNvPr>
            <p:cNvSpPr>
              <a:spLocks noChangeArrowheads="1"/>
            </p:cNvSpPr>
            <p:nvPr/>
          </p:nvSpPr>
          <p:spPr bwMode="auto">
            <a:xfrm>
              <a:off x="387" y="1701"/>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8" name="Line 31">
              <a:extLst>
                <a:ext uri="{FF2B5EF4-FFF2-40B4-BE49-F238E27FC236}">
                  <a16:creationId xmlns:a16="http://schemas.microsoft.com/office/drawing/2014/main" id="{8972B75F-3449-111D-E7C9-167E4F538865}"/>
                </a:ext>
              </a:extLst>
            </p:cNvPr>
            <p:cNvSpPr>
              <a:spLocks noChangeShapeType="1"/>
            </p:cNvSpPr>
            <p:nvPr/>
          </p:nvSpPr>
          <p:spPr bwMode="auto">
            <a:xfrm>
              <a:off x="387" y="1837"/>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39" name="Rectangle 32">
              <a:extLst>
                <a:ext uri="{FF2B5EF4-FFF2-40B4-BE49-F238E27FC236}">
                  <a16:creationId xmlns:a16="http://schemas.microsoft.com/office/drawing/2014/main" id="{3C47AFC4-1FB7-AA2B-C61F-CEAF2094D48A}"/>
                </a:ext>
              </a:extLst>
            </p:cNvPr>
            <p:cNvSpPr>
              <a:spLocks noChangeArrowheads="1"/>
            </p:cNvSpPr>
            <p:nvPr/>
          </p:nvSpPr>
          <p:spPr bwMode="auto">
            <a:xfrm>
              <a:off x="387" y="1837"/>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0" name="Line 33">
              <a:extLst>
                <a:ext uri="{FF2B5EF4-FFF2-40B4-BE49-F238E27FC236}">
                  <a16:creationId xmlns:a16="http://schemas.microsoft.com/office/drawing/2014/main" id="{E8570F67-BE20-0336-0621-5E4509F30A16}"/>
                </a:ext>
              </a:extLst>
            </p:cNvPr>
            <p:cNvSpPr>
              <a:spLocks noChangeShapeType="1"/>
            </p:cNvSpPr>
            <p:nvPr/>
          </p:nvSpPr>
          <p:spPr bwMode="auto">
            <a:xfrm>
              <a:off x="387" y="197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1" name="Rectangle 34">
              <a:extLst>
                <a:ext uri="{FF2B5EF4-FFF2-40B4-BE49-F238E27FC236}">
                  <a16:creationId xmlns:a16="http://schemas.microsoft.com/office/drawing/2014/main" id="{91D77F2A-EA49-F75D-BC5F-252D355D58EA}"/>
                </a:ext>
              </a:extLst>
            </p:cNvPr>
            <p:cNvSpPr>
              <a:spLocks noChangeArrowheads="1"/>
            </p:cNvSpPr>
            <p:nvPr/>
          </p:nvSpPr>
          <p:spPr bwMode="auto">
            <a:xfrm>
              <a:off x="387" y="1972"/>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2" name="Line 35">
              <a:extLst>
                <a:ext uri="{FF2B5EF4-FFF2-40B4-BE49-F238E27FC236}">
                  <a16:creationId xmlns:a16="http://schemas.microsoft.com/office/drawing/2014/main" id="{44D60E73-DF50-B3A3-E7DB-0A3C0F3BE177}"/>
                </a:ext>
              </a:extLst>
            </p:cNvPr>
            <p:cNvSpPr>
              <a:spLocks noChangeShapeType="1"/>
            </p:cNvSpPr>
            <p:nvPr/>
          </p:nvSpPr>
          <p:spPr bwMode="auto">
            <a:xfrm>
              <a:off x="387" y="2108"/>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3" name="Rectangle 36">
              <a:extLst>
                <a:ext uri="{FF2B5EF4-FFF2-40B4-BE49-F238E27FC236}">
                  <a16:creationId xmlns:a16="http://schemas.microsoft.com/office/drawing/2014/main" id="{95E08A04-5388-6D97-84C0-231168406CD5}"/>
                </a:ext>
              </a:extLst>
            </p:cNvPr>
            <p:cNvSpPr>
              <a:spLocks noChangeArrowheads="1"/>
            </p:cNvSpPr>
            <p:nvPr/>
          </p:nvSpPr>
          <p:spPr bwMode="auto">
            <a:xfrm>
              <a:off x="387" y="2108"/>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4" name="Line 37">
              <a:extLst>
                <a:ext uri="{FF2B5EF4-FFF2-40B4-BE49-F238E27FC236}">
                  <a16:creationId xmlns:a16="http://schemas.microsoft.com/office/drawing/2014/main" id="{388A3D86-778D-D554-2362-5326ABD65197}"/>
                </a:ext>
              </a:extLst>
            </p:cNvPr>
            <p:cNvSpPr>
              <a:spLocks noChangeShapeType="1"/>
            </p:cNvSpPr>
            <p:nvPr/>
          </p:nvSpPr>
          <p:spPr bwMode="auto">
            <a:xfrm>
              <a:off x="387" y="2244"/>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5" name="Rectangle 38">
              <a:extLst>
                <a:ext uri="{FF2B5EF4-FFF2-40B4-BE49-F238E27FC236}">
                  <a16:creationId xmlns:a16="http://schemas.microsoft.com/office/drawing/2014/main" id="{B5CB7B11-7C32-CA40-5BC2-D8FE672CEBBD}"/>
                </a:ext>
              </a:extLst>
            </p:cNvPr>
            <p:cNvSpPr>
              <a:spLocks noChangeArrowheads="1"/>
            </p:cNvSpPr>
            <p:nvPr/>
          </p:nvSpPr>
          <p:spPr bwMode="auto">
            <a:xfrm>
              <a:off x="387" y="2244"/>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6" name="Line 39">
              <a:extLst>
                <a:ext uri="{FF2B5EF4-FFF2-40B4-BE49-F238E27FC236}">
                  <a16:creationId xmlns:a16="http://schemas.microsoft.com/office/drawing/2014/main" id="{83675487-3FF1-4307-1821-C17831954E62}"/>
                </a:ext>
              </a:extLst>
            </p:cNvPr>
            <p:cNvSpPr>
              <a:spLocks noChangeShapeType="1"/>
            </p:cNvSpPr>
            <p:nvPr/>
          </p:nvSpPr>
          <p:spPr bwMode="auto">
            <a:xfrm>
              <a:off x="387" y="2380"/>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7" name="Rectangle 40">
              <a:extLst>
                <a:ext uri="{FF2B5EF4-FFF2-40B4-BE49-F238E27FC236}">
                  <a16:creationId xmlns:a16="http://schemas.microsoft.com/office/drawing/2014/main" id="{E6A8498D-5C80-ED95-BDC8-87EA96B7BE3C}"/>
                </a:ext>
              </a:extLst>
            </p:cNvPr>
            <p:cNvSpPr>
              <a:spLocks noChangeArrowheads="1"/>
            </p:cNvSpPr>
            <p:nvPr/>
          </p:nvSpPr>
          <p:spPr bwMode="auto">
            <a:xfrm>
              <a:off x="387" y="2380"/>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8" name="Line 41">
              <a:extLst>
                <a:ext uri="{FF2B5EF4-FFF2-40B4-BE49-F238E27FC236}">
                  <a16:creationId xmlns:a16="http://schemas.microsoft.com/office/drawing/2014/main" id="{8A6AC289-9707-1300-4F85-33A12D81C009}"/>
                </a:ext>
              </a:extLst>
            </p:cNvPr>
            <p:cNvSpPr>
              <a:spLocks noChangeShapeType="1"/>
            </p:cNvSpPr>
            <p:nvPr/>
          </p:nvSpPr>
          <p:spPr bwMode="auto">
            <a:xfrm>
              <a:off x="387" y="2515"/>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49" name="Rectangle 42">
              <a:extLst>
                <a:ext uri="{FF2B5EF4-FFF2-40B4-BE49-F238E27FC236}">
                  <a16:creationId xmlns:a16="http://schemas.microsoft.com/office/drawing/2014/main" id="{DF3C4AF4-4AB3-01B6-26D4-87C8579D6B28}"/>
                </a:ext>
              </a:extLst>
            </p:cNvPr>
            <p:cNvSpPr>
              <a:spLocks noChangeArrowheads="1"/>
            </p:cNvSpPr>
            <p:nvPr/>
          </p:nvSpPr>
          <p:spPr bwMode="auto">
            <a:xfrm>
              <a:off x="387" y="2515"/>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0" name="Line 43">
              <a:extLst>
                <a:ext uri="{FF2B5EF4-FFF2-40B4-BE49-F238E27FC236}">
                  <a16:creationId xmlns:a16="http://schemas.microsoft.com/office/drawing/2014/main" id="{FA1BFB8A-69BF-FCDB-DE88-B2289E3572DA}"/>
                </a:ext>
              </a:extLst>
            </p:cNvPr>
            <p:cNvSpPr>
              <a:spLocks noChangeShapeType="1"/>
            </p:cNvSpPr>
            <p:nvPr/>
          </p:nvSpPr>
          <p:spPr bwMode="auto">
            <a:xfrm>
              <a:off x="387" y="2651"/>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1" name="Rectangle 44">
              <a:extLst>
                <a:ext uri="{FF2B5EF4-FFF2-40B4-BE49-F238E27FC236}">
                  <a16:creationId xmlns:a16="http://schemas.microsoft.com/office/drawing/2014/main" id="{CFF87B11-A89F-FD6A-BE4A-E3F9A1EADBDC}"/>
                </a:ext>
              </a:extLst>
            </p:cNvPr>
            <p:cNvSpPr>
              <a:spLocks noChangeArrowheads="1"/>
            </p:cNvSpPr>
            <p:nvPr/>
          </p:nvSpPr>
          <p:spPr bwMode="auto">
            <a:xfrm>
              <a:off x="387" y="2651"/>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2" name="Line 45">
              <a:extLst>
                <a:ext uri="{FF2B5EF4-FFF2-40B4-BE49-F238E27FC236}">
                  <a16:creationId xmlns:a16="http://schemas.microsoft.com/office/drawing/2014/main" id="{F2107475-8C10-ED25-F041-4772223EF8DF}"/>
                </a:ext>
              </a:extLst>
            </p:cNvPr>
            <p:cNvSpPr>
              <a:spLocks noChangeShapeType="1"/>
            </p:cNvSpPr>
            <p:nvPr/>
          </p:nvSpPr>
          <p:spPr bwMode="auto">
            <a:xfrm>
              <a:off x="387" y="2787"/>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3" name="Rectangle 46">
              <a:extLst>
                <a:ext uri="{FF2B5EF4-FFF2-40B4-BE49-F238E27FC236}">
                  <a16:creationId xmlns:a16="http://schemas.microsoft.com/office/drawing/2014/main" id="{D3AC65D5-825A-32E2-B64C-DE0E43FD99EE}"/>
                </a:ext>
              </a:extLst>
            </p:cNvPr>
            <p:cNvSpPr>
              <a:spLocks noChangeArrowheads="1"/>
            </p:cNvSpPr>
            <p:nvPr/>
          </p:nvSpPr>
          <p:spPr bwMode="auto">
            <a:xfrm>
              <a:off x="387" y="2787"/>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4" name="Line 47">
              <a:extLst>
                <a:ext uri="{FF2B5EF4-FFF2-40B4-BE49-F238E27FC236}">
                  <a16:creationId xmlns:a16="http://schemas.microsoft.com/office/drawing/2014/main" id="{CF8C697A-87BF-6B61-52F3-121A7BE40E43}"/>
                </a:ext>
              </a:extLst>
            </p:cNvPr>
            <p:cNvSpPr>
              <a:spLocks noChangeShapeType="1"/>
            </p:cNvSpPr>
            <p:nvPr/>
          </p:nvSpPr>
          <p:spPr bwMode="auto">
            <a:xfrm>
              <a:off x="387" y="292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5" name="Rectangle 48">
              <a:extLst>
                <a:ext uri="{FF2B5EF4-FFF2-40B4-BE49-F238E27FC236}">
                  <a16:creationId xmlns:a16="http://schemas.microsoft.com/office/drawing/2014/main" id="{FDD2E912-3316-0CBF-B012-745B3F8199F1}"/>
                </a:ext>
              </a:extLst>
            </p:cNvPr>
            <p:cNvSpPr>
              <a:spLocks noChangeArrowheads="1"/>
            </p:cNvSpPr>
            <p:nvPr/>
          </p:nvSpPr>
          <p:spPr bwMode="auto">
            <a:xfrm>
              <a:off x="387" y="2922"/>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6" name="Line 49">
              <a:extLst>
                <a:ext uri="{FF2B5EF4-FFF2-40B4-BE49-F238E27FC236}">
                  <a16:creationId xmlns:a16="http://schemas.microsoft.com/office/drawing/2014/main" id="{22F43144-045F-5FAD-7BF1-F871477E195B}"/>
                </a:ext>
              </a:extLst>
            </p:cNvPr>
            <p:cNvSpPr>
              <a:spLocks noChangeShapeType="1"/>
            </p:cNvSpPr>
            <p:nvPr/>
          </p:nvSpPr>
          <p:spPr bwMode="auto">
            <a:xfrm>
              <a:off x="387" y="3058"/>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7" name="Rectangle 50">
              <a:extLst>
                <a:ext uri="{FF2B5EF4-FFF2-40B4-BE49-F238E27FC236}">
                  <a16:creationId xmlns:a16="http://schemas.microsoft.com/office/drawing/2014/main" id="{B2E8297B-B824-D7C0-DB7B-6FA0A9995757}"/>
                </a:ext>
              </a:extLst>
            </p:cNvPr>
            <p:cNvSpPr>
              <a:spLocks noChangeArrowheads="1"/>
            </p:cNvSpPr>
            <p:nvPr/>
          </p:nvSpPr>
          <p:spPr bwMode="auto">
            <a:xfrm>
              <a:off x="387" y="3058"/>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8" name="Line 51">
              <a:extLst>
                <a:ext uri="{FF2B5EF4-FFF2-40B4-BE49-F238E27FC236}">
                  <a16:creationId xmlns:a16="http://schemas.microsoft.com/office/drawing/2014/main" id="{FE57D8DC-BEEE-54B8-A504-1D833040512A}"/>
                </a:ext>
              </a:extLst>
            </p:cNvPr>
            <p:cNvSpPr>
              <a:spLocks noChangeShapeType="1"/>
            </p:cNvSpPr>
            <p:nvPr/>
          </p:nvSpPr>
          <p:spPr bwMode="auto">
            <a:xfrm>
              <a:off x="387" y="3194"/>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59" name="Rectangle 52">
              <a:extLst>
                <a:ext uri="{FF2B5EF4-FFF2-40B4-BE49-F238E27FC236}">
                  <a16:creationId xmlns:a16="http://schemas.microsoft.com/office/drawing/2014/main" id="{08D1C96C-4776-F709-83E2-7B4EC436E50A}"/>
                </a:ext>
              </a:extLst>
            </p:cNvPr>
            <p:cNvSpPr>
              <a:spLocks noChangeArrowheads="1"/>
            </p:cNvSpPr>
            <p:nvPr/>
          </p:nvSpPr>
          <p:spPr bwMode="auto">
            <a:xfrm>
              <a:off x="387" y="3194"/>
              <a:ext cx="4991"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0" name="Line 53">
              <a:extLst>
                <a:ext uri="{FF2B5EF4-FFF2-40B4-BE49-F238E27FC236}">
                  <a16:creationId xmlns:a16="http://schemas.microsoft.com/office/drawing/2014/main" id="{4C071FF3-4C7A-FAC3-AF05-95609535B45A}"/>
                </a:ext>
              </a:extLst>
            </p:cNvPr>
            <p:cNvSpPr>
              <a:spLocks noChangeShapeType="1"/>
            </p:cNvSpPr>
            <p:nvPr/>
          </p:nvSpPr>
          <p:spPr bwMode="auto">
            <a:xfrm>
              <a:off x="387" y="3329"/>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1" name="Rectangle 54">
              <a:extLst>
                <a:ext uri="{FF2B5EF4-FFF2-40B4-BE49-F238E27FC236}">
                  <a16:creationId xmlns:a16="http://schemas.microsoft.com/office/drawing/2014/main" id="{2E1C2E92-D17E-CD11-895E-A233C681EACF}"/>
                </a:ext>
              </a:extLst>
            </p:cNvPr>
            <p:cNvSpPr>
              <a:spLocks noChangeArrowheads="1"/>
            </p:cNvSpPr>
            <p:nvPr/>
          </p:nvSpPr>
          <p:spPr bwMode="auto">
            <a:xfrm>
              <a:off x="387" y="3329"/>
              <a:ext cx="499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2" name="Line 55">
              <a:extLst>
                <a:ext uri="{FF2B5EF4-FFF2-40B4-BE49-F238E27FC236}">
                  <a16:creationId xmlns:a16="http://schemas.microsoft.com/office/drawing/2014/main" id="{B25A8C50-0AE8-351C-8AE1-8CFFF4A9A2F0}"/>
                </a:ext>
              </a:extLst>
            </p:cNvPr>
            <p:cNvSpPr>
              <a:spLocks noChangeShapeType="1"/>
            </p:cNvSpPr>
            <p:nvPr/>
          </p:nvSpPr>
          <p:spPr bwMode="auto">
            <a:xfrm>
              <a:off x="387" y="3412"/>
              <a:ext cx="4991"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3" name="Rectangle 56">
              <a:extLst>
                <a:ext uri="{FF2B5EF4-FFF2-40B4-BE49-F238E27FC236}">
                  <a16:creationId xmlns:a16="http://schemas.microsoft.com/office/drawing/2014/main" id="{71973422-88D8-28E5-7F39-2BCBB78A3BD3}"/>
                </a:ext>
              </a:extLst>
            </p:cNvPr>
            <p:cNvSpPr>
              <a:spLocks noChangeArrowheads="1"/>
            </p:cNvSpPr>
            <p:nvPr/>
          </p:nvSpPr>
          <p:spPr bwMode="auto">
            <a:xfrm>
              <a:off x="387" y="3412"/>
              <a:ext cx="4991" cy="7"/>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4" name="Line 57">
              <a:extLst>
                <a:ext uri="{FF2B5EF4-FFF2-40B4-BE49-F238E27FC236}">
                  <a16:creationId xmlns:a16="http://schemas.microsoft.com/office/drawing/2014/main" id="{DFC64738-2E46-7EF9-44EA-3AE5471DE42E}"/>
                </a:ext>
              </a:extLst>
            </p:cNvPr>
            <p:cNvSpPr>
              <a:spLocks noChangeShapeType="1"/>
            </p:cNvSpPr>
            <p:nvPr/>
          </p:nvSpPr>
          <p:spPr bwMode="auto">
            <a:xfrm>
              <a:off x="387" y="3583"/>
              <a:ext cx="4991" cy="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5" name="Rectangle 58">
              <a:extLst>
                <a:ext uri="{FF2B5EF4-FFF2-40B4-BE49-F238E27FC236}">
                  <a16:creationId xmlns:a16="http://schemas.microsoft.com/office/drawing/2014/main" id="{783787AA-9CC2-4BCB-7518-9A7743B5E8DF}"/>
                </a:ext>
              </a:extLst>
            </p:cNvPr>
            <p:cNvSpPr>
              <a:spLocks noChangeArrowheads="1"/>
            </p:cNvSpPr>
            <p:nvPr/>
          </p:nvSpPr>
          <p:spPr bwMode="auto">
            <a:xfrm>
              <a:off x="387" y="3583"/>
              <a:ext cx="4991"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6" name="Rectangle 59">
              <a:extLst>
                <a:ext uri="{FF2B5EF4-FFF2-40B4-BE49-F238E27FC236}">
                  <a16:creationId xmlns:a16="http://schemas.microsoft.com/office/drawing/2014/main" id="{10A956AC-9B4A-5894-8B50-9880F100B501}"/>
                </a:ext>
              </a:extLst>
            </p:cNvPr>
            <p:cNvSpPr>
              <a:spLocks noChangeArrowheads="1"/>
            </p:cNvSpPr>
            <p:nvPr/>
          </p:nvSpPr>
          <p:spPr bwMode="auto">
            <a:xfrm>
              <a:off x="442" y="445"/>
              <a:ext cx="269"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9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Operation </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7" name="Rectangle 60">
              <a:extLst>
                <a:ext uri="{FF2B5EF4-FFF2-40B4-BE49-F238E27FC236}">
                  <a16:creationId xmlns:a16="http://schemas.microsoft.com/office/drawing/2014/main" id="{772E3CB6-073E-C8A8-4F31-16445029E253}"/>
                </a:ext>
              </a:extLst>
            </p:cNvPr>
            <p:cNvSpPr>
              <a:spLocks noChangeArrowheads="1"/>
            </p:cNvSpPr>
            <p:nvPr/>
          </p:nvSpPr>
          <p:spPr bwMode="auto">
            <a:xfrm>
              <a:off x="729" y="445"/>
              <a:ext cx="150"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9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From:</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8" name="Rectangle 61">
              <a:extLst>
                <a:ext uri="{FF2B5EF4-FFF2-40B4-BE49-F238E27FC236}">
                  <a16:creationId xmlns:a16="http://schemas.microsoft.com/office/drawing/2014/main" id="{3B355D4D-D1DD-E01E-0525-A731694FAD7D}"/>
                </a:ext>
              </a:extLst>
            </p:cNvPr>
            <p:cNvSpPr>
              <a:spLocks noChangeArrowheads="1"/>
            </p:cNvSpPr>
            <p:nvPr/>
          </p:nvSpPr>
          <p:spPr bwMode="auto">
            <a:xfrm>
              <a:off x="2613" y="447"/>
              <a:ext cx="1183" cy="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200" b="1" i="0" u="none" strike="noStrike" kern="0" cap="none" spc="0" normalizeH="0" baseline="0" noProof="0">
                  <a:ln>
                    <a:noFill/>
                  </a:ln>
                  <a:solidFill>
                    <a:srgbClr val="000000"/>
                  </a:solidFill>
                  <a:effectLst/>
                  <a:uLnTx/>
                  <a:uFillTx/>
                  <a:latin typeface="Arial" panose="020B0604020202020204" pitchFamily="34" charset="0"/>
                  <a:ea typeface="MS PGothic" panose="020B0600070205080204" pitchFamily="34" charset="-128"/>
                </a:rPr>
                <a:t>STANDARD WORK SHEET</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69" name="Rectangle 62">
              <a:extLst>
                <a:ext uri="{FF2B5EF4-FFF2-40B4-BE49-F238E27FC236}">
                  <a16:creationId xmlns:a16="http://schemas.microsoft.com/office/drawing/2014/main" id="{D5F7CCA2-C5BC-B18C-1CBD-D08BCF10D4D4}"/>
                </a:ext>
              </a:extLst>
            </p:cNvPr>
            <p:cNvSpPr>
              <a:spLocks noChangeArrowheads="1"/>
            </p:cNvSpPr>
            <p:nvPr/>
          </p:nvSpPr>
          <p:spPr bwMode="auto">
            <a:xfrm>
              <a:off x="4057" y="445"/>
              <a:ext cx="226"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9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Part No. </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0" name="Rectangle 63">
              <a:extLst>
                <a:ext uri="{FF2B5EF4-FFF2-40B4-BE49-F238E27FC236}">
                  <a16:creationId xmlns:a16="http://schemas.microsoft.com/office/drawing/2014/main" id="{925537DE-0FC1-EB49-1C80-4A1990B3E5F5}"/>
                </a:ext>
              </a:extLst>
            </p:cNvPr>
            <p:cNvSpPr>
              <a:spLocks noChangeArrowheads="1"/>
            </p:cNvSpPr>
            <p:nvPr/>
          </p:nvSpPr>
          <p:spPr bwMode="auto">
            <a:xfrm>
              <a:off x="441" y="548"/>
              <a:ext cx="260"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9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Sequence</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1" name="Rectangle 64">
              <a:extLst>
                <a:ext uri="{FF2B5EF4-FFF2-40B4-BE49-F238E27FC236}">
                  <a16:creationId xmlns:a16="http://schemas.microsoft.com/office/drawing/2014/main" id="{BCDC1720-A4CC-20E8-1867-D2E6080384B7}"/>
                </a:ext>
              </a:extLst>
            </p:cNvPr>
            <p:cNvSpPr>
              <a:spLocks noChangeArrowheads="1"/>
            </p:cNvSpPr>
            <p:nvPr/>
          </p:nvSpPr>
          <p:spPr bwMode="auto">
            <a:xfrm>
              <a:off x="729" y="548"/>
              <a:ext cx="83"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9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To:</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2" name="Rectangle 65">
              <a:extLst>
                <a:ext uri="{FF2B5EF4-FFF2-40B4-BE49-F238E27FC236}">
                  <a16:creationId xmlns:a16="http://schemas.microsoft.com/office/drawing/2014/main" id="{1CF6AF57-323C-A042-FDAC-561C4A3721E8}"/>
                </a:ext>
              </a:extLst>
            </p:cNvPr>
            <p:cNvSpPr>
              <a:spLocks noChangeArrowheads="1"/>
            </p:cNvSpPr>
            <p:nvPr/>
          </p:nvSpPr>
          <p:spPr bwMode="auto">
            <a:xfrm>
              <a:off x="4058" y="548"/>
              <a:ext cx="290"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9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Part Name:</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3" name="Line 66">
              <a:extLst>
                <a:ext uri="{FF2B5EF4-FFF2-40B4-BE49-F238E27FC236}">
                  <a16:creationId xmlns:a16="http://schemas.microsoft.com/office/drawing/2014/main" id="{C3554143-4992-2E86-9BD8-4B3BBD6CE8BA}"/>
                </a:ext>
              </a:extLst>
            </p:cNvPr>
            <p:cNvSpPr>
              <a:spLocks noChangeShapeType="1"/>
            </p:cNvSpPr>
            <p:nvPr/>
          </p:nvSpPr>
          <p:spPr bwMode="auto">
            <a:xfrm>
              <a:off x="381"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4" name="Rectangle 67">
              <a:extLst>
                <a:ext uri="{FF2B5EF4-FFF2-40B4-BE49-F238E27FC236}">
                  <a16:creationId xmlns:a16="http://schemas.microsoft.com/office/drawing/2014/main" id="{55726787-0A9E-B37A-610A-DF66374096AB}"/>
                </a:ext>
              </a:extLst>
            </p:cNvPr>
            <p:cNvSpPr>
              <a:spLocks noChangeArrowheads="1"/>
            </p:cNvSpPr>
            <p:nvPr/>
          </p:nvSpPr>
          <p:spPr bwMode="auto">
            <a:xfrm>
              <a:off x="381"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5" name="Line 68">
              <a:extLst>
                <a:ext uri="{FF2B5EF4-FFF2-40B4-BE49-F238E27FC236}">
                  <a16:creationId xmlns:a16="http://schemas.microsoft.com/office/drawing/2014/main" id="{DD7D2969-9D42-11F9-C6FC-A9ABBEB7FA8F}"/>
                </a:ext>
              </a:extLst>
            </p:cNvPr>
            <p:cNvSpPr>
              <a:spLocks noChangeShapeType="1"/>
            </p:cNvSpPr>
            <p:nvPr/>
          </p:nvSpPr>
          <p:spPr bwMode="auto">
            <a:xfrm>
              <a:off x="714"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6" name="Rectangle 69">
              <a:extLst>
                <a:ext uri="{FF2B5EF4-FFF2-40B4-BE49-F238E27FC236}">
                  <a16:creationId xmlns:a16="http://schemas.microsoft.com/office/drawing/2014/main" id="{940E6AB1-06B9-352D-8904-76B8CDD6F660}"/>
                </a:ext>
              </a:extLst>
            </p:cNvPr>
            <p:cNvSpPr>
              <a:spLocks noChangeArrowheads="1"/>
            </p:cNvSpPr>
            <p:nvPr/>
          </p:nvSpPr>
          <p:spPr bwMode="auto">
            <a:xfrm>
              <a:off x="714"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7" name="Line 70">
              <a:extLst>
                <a:ext uri="{FF2B5EF4-FFF2-40B4-BE49-F238E27FC236}">
                  <a16:creationId xmlns:a16="http://schemas.microsoft.com/office/drawing/2014/main" id="{FB5171B6-CE0E-B8EB-C3DB-9DABC8E2C267}"/>
                </a:ext>
              </a:extLst>
            </p:cNvPr>
            <p:cNvSpPr>
              <a:spLocks noChangeShapeType="1"/>
            </p:cNvSpPr>
            <p:nvPr/>
          </p:nvSpPr>
          <p:spPr bwMode="auto">
            <a:xfrm>
              <a:off x="880"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8" name="Rectangle 71">
              <a:extLst>
                <a:ext uri="{FF2B5EF4-FFF2-40B4-BE49-F238E27FC236}">
                  <a16:creationId xmlns:a16="http://schemas.microsoft.com/office/drawing/2014/main" id="{4FA99C63-E34C-8DDC-7F09-A9FF653136E7}"/>
                </a:ext>
              </a:extLst>
            </p:cNvPr>
            <p:cNvSpPr>
              <a:spLocks noChangeArrowheads="1"/>
            </p:cNvSpPr>
            <p:nvPr/>
          </p:nvSpPr>
          <p:spPr bwMode="auto">
            <a:xfrm>
              <a:off x="880" y="424"/>
              <a:ext cx="7"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79" name="Line 72">
              <a:extLst>
                <a:ext uri="{FF2B5EF4-FFF2-40B4-BE49-F238E27FC236}">
                  <a16:creationId xmlns:a16="http://schemas.microsoft.com/office/drawing/2014/main" id="{3BCD1A7B-00B6-9D88-26FD-C43B612C84DE}"/>
                </a:ext>
              </a:extLst>
            </p:cNvPr>
            <p:cNvSpPr>
              <a:spLocks noChangeShapeType="1"/>
            </p:cNvSpPr>
            <p:nvPr/>
          </p:nvSpPr>
          <p:spPr bwMode="auto">
            <a:xfrm>
              <a:off x="2211"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0" name="Rectangle 73">
              <a:extLst>
                <a:ext uri="{FF2B5EF4-FFF2-40B4-BE49-F238E27FC236}">
                  <a16:creationId xmlns:a16="http://schemas.microsoft.com/office/drawing/2014/main" id="{D4BAE04C-3D75-8253-9CFC-5CCE6726445E}"/>
                </a:ext>
              </a:extLst>
            </p:cNvPr>
            <p:cNvSpPr>
              <a:spLocks noChangeArrowheads="1"/>
            </p:cNvSpPr>
            <p:nvPr/>
          </p:nvSpPr>
          <p:spPr bwMode="auto">
            <a:xfrm>
              <a:off x="2211"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1" name="Line 74">
              <a:extLst>
                <a:ext uri="{FF2B5EF4-FFF2-40B4-BE49-F238E27FC236}">
                  <a16:creationId xmlns:a16="http://schemas.microsoft.com/office/drawing/2014/main" id="{15DD66BD-53B6-D207-242A-E18DE762E168}"/>
                </a:ext>
              </a:extLst>
            </p:cNvPr>
            <p:cNvSpPr>
              <a:spLocks noChangeShapeType="1"/>
            </p:cNvSpPr>
            <p:nvPr/>
          </p:nvSpPr>
          <p:spPr bwMode="auto">
            <a:xfrm>
              <a:off x="4040"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2" name="Rectangle 75">
              <a:extLst>
                <a:ext uri="{FF2B5EF4-FFF2-40B4-BE49-F238E27FC236}">
                  <a16:creationId xmlns:a16="http://schemas.microsoft.com/office/drawing/2014/main" id="{5769953C-C433-8B6F-C33F-A01987B7B0B7}"/>
                </a:ext>
              </a:extLst>
            </p:cNvPr>
            <p:cNvSpPr>
              <a:spLocks noChangeArrowheads="1"/>
            </p:cNvSpPr>
            <p:nvPr/>
          </p:nvSpPr>
          <p:spPr bwMode="auto">
            <a:xfrm>
              <a:off x="4040" y="424"/>
              <a:ext cx="7"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3" name="Line 76">
              <a:extLst>
                <a:ext uri="{FF2B5EF4-FFF2-40B4-BE49-F238E27FC236}">
                  <a16:creationId xmlns:a16="http://schemas.microsoft.com/office/drawing/2014/main" id="{4A4517CE-53DD-B0B8-AB92-FFD3BDA1AA82}"/>
                </a:ext>
              </a:extLst>
            </p:cNvPr>
            <p:cNvSpPr>
              <a:spLocks noChangeShapeType="1"/>
            </p:cNvSpPr>
            <p:nvPr/>
          </p:nvSpPr>
          <p:spPr bwMode="auto">
            <a:xfrm>
              <a:off x="4373"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4" name="Rectangle 77">
              <a:extLst>
                <a:ext uri="{FF2B5EF4-FFF2-40B4-BE49-F238E27FC236}">
                  <a16:creationId xmlns:a16="http://schemas.microsoft.com/office/drawing/2014/main" id="{14A1AF0C-4E3E-6E4B-5AFA-1080CC82015A}"/>
                </a:ext>
              </a:extLst>
            </p:cNvPr>
            <p:cNvSpPr>
              <a:spLocks noChangeArrowheads="1"/>
            </p:cNvSpPr>
            <p:nvPr/>
          </p:nvSpPr>
          <p:spPr bwMode="auto">
            <a:xfrm>
              <a:off x="4373" y="424"/>
              <a:ext cx="7"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5" name="Line 78">
              <a:extLst>
                <a:ext uri="{FF2B5EF4-FFF2-40B4-BE49-F238E27FC236}">
                  <a16:creationId xmlns:a16="http://schemas.microsoft.com/office/drawing/2014/main" id="{16EBF5AB-ABA8-3048-8B19-5AFE6D009410}"/>
                </a:ext>
              </a:extLst>
            </p:cNvPr>
            <p:cNvSpPr>
              <a:spLocks noChangeShapeType="1"/>
            </p:cNvSpPr>
            <p:nvPr/>
          </p:nvSpPr>
          <p:spPr bwMode="auto">
            <a:xfrm>
              <a:off x="5372" y="424"/>
              <a:ext cx="1" cy="21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6" name="Rectangle 79">
              <a:extLst>
                <a:ext uri="{FF2B5EF4-FFF2-40B4-BE49-F238E27FC236}">
                  <a16:creationId xmlns:a16="http://schemas.microsoft.com/office/drawing/2014/main" id="{63108E18-96DC-D135-A7E2-2BEB27370734}"/>
                </a:ext>
              </a:extLst>
            </p:cNvPr>
            <p:cNvSpPr>
              <a:spLocks noChangeArrowheads="1"/>
            </p:cNvSpPr>
            <p:nvPr/>
          </p:nvSpPr>
          <p:spPr bwMode="auto">
            <a:xfrm>
              <a:off x="5372" y="424"/>
              <a:ext cx="6" cy="21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7" name="Rectangle 80">
              <a:extLst>
                <a:ext uri="{FF2B5EF4-FFF2-40B4-BE49-F238E27FC236}">
                  <a16:creationId xmlns:a16="http://schemas.microsoft.com/office/drawing/2014/main" id="{ACD154E0-E5B2-0C99-B049-2BB6FBC03AC9}"/>
                </a:ext>
              </a:extLst>
            </p:cNvPr>
            <p:cNvSpPr>
              <a:spLocks noChangeArrowheads="1"/>
            </p:cNvSpPr>
            <p:nvPr/>
          </p:nvSpPr>
          <p:spPr bwMode="auto">
            <a:xfrm>
              <a:off x="629" y="3350"/>
              <a:ext cx="396"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Quality Check</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8" name="Rectangle 81">
              <a:extLst>
                <a:ext uri="{FF2B5EF4-FFF2-40B4-BE49-F238E27FC236}">
                  <a16:creationId xmlns:a16="http://schemas.microsoft.com/office/drawing/2014/main" id="{A53FCE92-A724-2B98-CD42-70F548139C44}"/>
                </a:ext>
              </a:extLst>
            </p:cNvPr>
            <p:cNvSpPr>
              <a:spLocks noChangeArrowheads="1"/>
            </p:cNvSpPr>
            <p:nvPr/>
          </p:nvSpPr>
          <p:spPr bwMode="auto">
            <a:xfrm>
              <a:off x="1414" y="3350"/>
              <a:ext cx="50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Safety Precaution</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89" name="Rectangle 82">
              <a:extLst>
                <a:ext uri="{FF2B5EF4-FFF2-40B4-BE49-F238E27FC236}">
                  <a16:creationId xmlns:a16="http://schemas.microsoft.com/office/drawing/2014/main" id="{CEF1122F-0257-5FC6-638E-4CE490DC9F92}"/>
                </a:ext>
              </a:extLst>
            </p:cNvPr>
            <p:cNvSpPr>
              <a:spLocks noChangeArrowheads="1"/>
            </p:cNvSpPr>
            <p:nvPr/>
          </p:nvSpPr>
          <p:spPr bwMode="auto">
            <a:xfrm>
              <a:off x="2292" y="3350"/>
              <a:ext cx="395"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Standard WIP</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0" name="Rectangle 83">
              <a:extLst>
                <a:ext uri="{FF2B5EF4-FFF2-40B4-BE49-F238E27FC236}">
                  <a16:creationId xmlns:a16="http://schemas.microsoft.com/office/drawing/2014/main" id="{18491A19-6A64-5AA0-9405-72A0D86C8BD2}"/>
                </a:ext>
              </a:extLst>
            </p:cNvPr>
            <p:cNvSpPr>
              <a:spLocks noChangeArrowheads="1"/>
            </p:cNvSpPr>
            <p:nvPr/>
          </p:nvSpPr>
          <p:spPr bwMode="auto">
            <a:xfrm>
              <a:off x="3131" y="3350"/>
              <a:ext cx="382"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 Pieces WIP</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1" name="Rectangle 84">
              <a:extLst>
                <a:ext uri="{FF2B5EF4-FFF2-40B4-BE49-F238E27FC236}">
                  <a16:creationId xmlns:a16="http://schemas.microsoft.com/office/drawing/2014/main" id="{BE6A9971-9661-95E7-FA63-77CD533037B3}"/>
                </a:ext>
              </a:extLst>
            </p:cNvPr>
            <p:cNvSpPr>
              <a:spLocks noChangeArrowheads="1"/>
            </p:cNvSpPr>
            <p:nvPr/>
          </p:nvSpPr>
          <p:spPr bwMode="auto">
            <a:xfrm>
              <a:off x="3989" y="3350"/>
              <a:ext cx="323"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TAKT Time</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2" name="Rectangle 85">
              <a:extLst>
                <a:ext uri="{FF2B5EF4-FFF2-40B4-BE49-F238E27FC236}">
                  <a16:creationId xmlns:a16="http://schemas.microsoft.com/office/drawing/2014/main" id="{972BA0BB-DC93-CC9F-50F6-E532C552C05A}"/>
                </a:ext>
              </a:extLst>
            </p:cNvPr>
            <p:cNvSpPr>
              <a:spLocks noChangeArrowheads="1"/>
            </p:cNvSpPr>
            <p:nvPr/>
          </p:nvSpPr>
          <p:spPr bwMode="auto">
            <a:xfrm>
              <a:off x="4822" y="3335"/>
              <a:ext cx="320"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000" b="0" i="0" u="none" strike="noStrike" kern="0" cap="none" spc="0" normalizeH="0" baseline="0" noProof="0">
                  <a:ln>
                    <a:noFill/>
                  </a:ln>
                  <a:solidFill>
                    <a:srgbClr val="000000"/>
                  </a:solidFill>
                  <a:effectLst/>
                  <a:uLnTx/>
                  <a:uFillTx/>
                  <a:latin typeface="Arial Narrow" panose="020B0606020202030204" pitchFamily="34" charset="0"/>
                  <a:ea typeface="MS PGothic" panose="020B0600070205080204" pitchFamily="34" charset="-128"/>
                </a:rPr>
                <a:t>Cycle Time</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3" name="Rectangle 86">
              <a:extLst>
                <a:ext uri="{FF2B5EF4-FFF2-40B4-BE49-F238E27FC236}">
                  <a16:creationId xmlns:a16="http://schemas.microsoft.com/office/drawing/2014/main" id="{359FDF80-6239-FCB9-A9AC-84EAB3FF9483}"/>
                </a:ext>
              </a:extLst>
            </p:cNvPr>
            <p:cNvSpPr>
              <a:spLocks noChangeArrowheads="1"/>
            </p:cNvSpPr>
            <p:nvPr/>
          </p:nvSpPr>
          <p:spPr bwMode="auto">
            <a:xfrm>
              <a:off x="1588" y="3412"/>
              <a:ext cx="1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300" b="0" i="0" u="none" strike="noStrike" kern="0" cap="none" spc="0" normalizeH="0" baseline="0" noProof="0">
                  <a:ln>
                    <a:noFill/>
                  </a:ln>
                  <a:solidFill>
                    <a:srgbClr val="000000"/>
                  </a:solidFill>
                  <a:effectLst/>
                  <a:uLnTx/>
                  <a:uFillTx/>
                  <a:latin typeface="Arial Rounded MT Bold" panose="020F0704030504030204" pitchFamily="34" charset="0"/>
                  <a:ea typeface="MS PGothic" panose="020B0600070205080204" pitchFamily="34" charset="-128"/>
                </a:rPr>
                <a:t>+</a:t>
              </a:r>
              <a:endPar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4" name="Line 88">
              <a:extLst>
                <a:ext uri="{FF2B5EF4-FFF2-40B4-BE49-F238E27FC236}">
                  <a16:creationId xmlns:a16="http://schemas.microsoft.com/office/drawing/2014/main" id="{1011A897-3BCA-132F-1914-104E6CCD9CE2}"/>
                </a:ext>
              </a:extLst>
            </p:cNvPr>
            <p:cNvSpPr>
              <a:spLocks noChangeShapeType="1"/>
            </p:cNvSpPr>
            <p:nvPr/>
          </p:nvSpPr>
          <p:spPr bwMode="auto">
            <a:xfrm>
              <a:off x="381"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5" name="Rectangle 89">
              <a:extLst>
                <a:ext uri="{FF2B5EF4-FFF2-40B4-BE49-F238E27FC236}">
                  <a16:creationId xmlns:a16="http://schemas.microsoft.com/office/drawing/2014/main" id="{337328BD-74A8-D3EF-9F4E-D60F802A8AF1}"/>
                </a:ext>
              </a:extLst>
            </p:cNvPr>
            <p:cNvSpPr>
              <a:spLocks noChangeArrowheads="1"/>
            </p:cNvSpPr>
            <p:nvPr/>
          </p:nvSpPr>
          <p:spPr bwMode="auto">
            <a:xfrm>
              <a:off x="381"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6" name="Line 90">
              <a:extLst>
                <a:ext uri="{FF2B5EF4-FFF2-40B4-BE49-F238E27FC236}">
                  <a16:creationId xmlns:a16="http://schemas.microsoft.com/office/drawing/2014/main" id="{7E591776-CC2F-C7CC-4E9A-FE7F70228A46}"/>
                </a:ext>
              </a:extLst>
            </p:cNvPr>
            <p:cNvSpPr>
              <a:spLocks noChangeShapeType="1"/>
            </p:cNvSpPr>
            <p:nvPr/>
          </p:nvSpPr>
          <p:spPr bwMode="auto">
            <a:xfrm>
              <a:off x="714"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7" name="Rectangle 91">
              <a:extLst>
                <a:ext uri="{FF2B5EF4-FFF2-40B4-BE49-F238E27FC236}">
                  <a16:creationId xmlns:a16="http://schemas.microsoft.com/office/drawing/2014/main" id="{67B73E34-BCEE-D368-F577-ACAD1D6433DA}"/>
                </a:ext>
              </a:extLst>
            </p:cNvPr>
            <p:cNvSpPr>
              <a:spLocks noChangeArrowheads="1"/>
            </p:cNvSpPr>
            <p:nvPr/>
          </p:nvSpPr>
          <p:spPr bwMode="auto">
            <a:xfrm>
              <a:off x="714"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8" name="Line 92">
              <a:extLst>
                <a:ext uri="{FF2B5EF4-FFF2-40B4-BE49-F238E27FC236}">
                  <a16:creationId xmlns:a16="http://schemas.microsoft.com/office/drawing/2014/main" id="{8C59A242-A7B3-1653-8B6E-77CEEC6EAEF5}"/>
                </a:ext>
              </a:extLst>
            </p:cNvPr>
            <p:cNvSpPr>
              <a:spLocks noChangeShapeType="1"/>
            </p:cNvSpPr>
            <p:nvPr/>
          </p:nvSpPr>
          <p:spPr bwMode="auto">
            <a:xfrm>
              <a:off x="880"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299" name="Rectangle 93">
              <a:extLst>
                <a:ext uri="{FF2B5EF4-FFF2-40B4-BE49-F238E27FC236}">
                  <a16:creationId xmlns:a16="http://schemas.microsoft.com/office/drawing/2014/main" id="{8515A169-10F2-B229-BCC5-BB45EFB93035}"/>
                </a:ext>
              </a:extLst>
            </p:cNvPr>
            <p:cNvSpPr>
              <a:spLocks noChangeArrowheads="1"/>
            </p:cNvSpPr>
            <p:nvPr/>
          </p:nvSpPr>
          <p:spPr bwMode="auto">
            <a:xfrm>
              <a:off x="880"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0" name="Line 94">
              <a:extLst>
                <a:ext uri="{FF2B5EF4-FFF2-40B4-BE49-F238E27FC236}">
                  <a16:creationId xmlns:a16="http://schemas.microsoft.com/office/drawing/2014/main" id="{5E54B744-9190-2447-59E7-EF76F525FF80}"/>
                </a:ext>
              </a:extLst>
            </p:cNvPr>
            <p:cNvSpPr>
              <a:spLocks noChangeShapeType="1"/>
            </p:cNvSpPr>
            <p:nvPr/>
          </p:nvSpPr>
          <p:spPr bwMode="auto">
            <a:xfrm>
              <a:off x="2211"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1" name="Rectangle 95">
              <a:extLst>
                <a:ext uri="{FF2B5EF4-FFF2-40B4-BE49-F238E27FC236}">
                  <a16:creationId xmlns:a16="http://schemas.microsoft.com/office/drawing/2014/main" id="{703B1431-BB3C-C8A3-EF61-47AF94091B57}"/>
                </a:ext>
              </a:extLst>
            </p:cNvPr>
            <p:cNvSpPr>
              <a:spLocks noChangeArrowheads="1"/>
            </p:cNvSpPr>
            <p:nvPr/>
          </p:nvSpPr>
          <p:spPr bwMode="auto">
            <a:xfrm>
              <a:off x="2211"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2" name="Line 96">
              <a:extLst>
                <a:ext uri="{FF2B5EF4-FFF2-40B4-BE49-F238E27FC236}">
                  <a16:creationId xmlns:a16="http://schemas.microsoft.com/office/drawing/2014/main" id="{3A766B49-C147-26F7-8714-A8B11ACDD1BD}"/>
                </a:ext>
              </a:extLst>
            </p:cNvPr>
            <p:cNvSpPr>
              <a:spLocks noChangeShapeType="1"/>
            </p:cNvSpPr>
            <p:nvPr/>
          </p:nvSpPr>
          <p:spPr bwMode="auto">
            <a:xfrm>
              <a:off x="4040"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3" name="Rectangle 97">
              <a:extLst>
                <a:ext uri="{FF2B5EF4-FFF2-40B4-BE49-F238E27FC236}">
                  <a16:creationId xmlns:a16="http://schemas.microsoft.com/office/drawing/2014/main" id="{7E857CBD-9AC1-D8A1-ABBB-74FC2F0E1E21}"/>
                </a:ext>
              </a:extLst>
            </p:cNvPr>
            <p:cNvSpPr>
              <a:spLocks noChangeArrowheads="1"/>
            </p:cNvSpPr>
            <p:nvPr/>
          </p:nvSpPr>
          <p:spPr bwMode="auto">
            <a:xfrm>
              <a:off x="4040"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4" name="Line 98">
              <a:extLst>
                <a:ext uri="{FF2B5EF4-FFF2-40B4-BE49-F238E27FC236}">
                  <a16:creationId xmlns:a16="http://schemas.microsoft.com/office/drawing/2014/main" id="{15950728-AC87-AC22-7879-815386644D2A}"/>
                </a:ext>
              </a:extLst>
            </p:cNvPr>
            <p:cNvSpPr>
              <a:spLocks noChangeShapeType="1"/>
            </p:cNvSpPr>
            <p:nvPr/>
          </p:nvSpPr>
          <p:spPr bwMode="auto">
            <a:xfrm>
              <a:off x="4373"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5" name="Rectangle 99">
              <a:extLst>
                <a:ext uri="{FF2B5EF4-FFF2-40B4-BE49-F238E27FC236}">
                  <a16:creationId xmlns:a16="http://schemas.microsoft.com/office/drawing/2014/main" id="{57A9F9DA-A14B-6E3F-6534-32BD7E6A752C}"/>
                </a:ext>
              </a:extLst>
            </p:cNvPr>
            <p:cNvSpPr>
              <a:spLocks noChangeArrowheads="1"/>
            </p:cNvSpPr>
            <p:nvPr/>
          </p:nvSpPr>
          <p:spPr bwMode="auto">
            <a:xfrm>
              <a:off x="4373"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6" name="Line 100">
              <a:extLst>
                <a:ext uri="{FF2B5EF4-FFF2-40B4-BE49-F238E27FC236}">
                  <a16:creationId xmlns:a16="http://schemas.microsoft.com/office/drawing/2014/main" id="{F4044A4C-71C3-CFB8-94A7-AA2AD5B4F303}"/>
                </a:ext>
              </a:extLst>
            </p:cNvPr>
            <p:cNvSpPr>
              <a:spLocks noChangeShapeType="1"/>
            </p:cNvSpPr>
            <p:nvPr/>
          </p:nvSpPr>
          <p:spPr bwMode="auto">
            <a:xfrm>
              <a:off x="5372"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7" name="Rectangle 101">
              <a:extLst>
                <a:ext uri="{FF2B5EF4-FFF2-40B4-BE49-F238E27FC236}">
                  <a16:creationId xmlns:a16="http://schemas.microsoft.com/office/drawing/2014/main" id="{AE044866-9B74-91D0-0EF7-0BF0B31BF695}"/>
                </a:ext>
              </a:extLst>
            </p:cNvPr>
            <p:cNvSpPr>
              <a:spLocks noChangeArrowheads="1"/>
            </p:cNvSpPr>
            <p:nvPr/>
          </p:nvSpPr>
          <p:spPr bwMode="auto">
            <a:xfrm>
              <a:off x="5372"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8" name="Line 102">
              <a:extLst>
                <a:ext uri="{FF2B5EF4-FFF2-40B4-BE49-F238E27FC236}">
                  <a16:creationId xmlns:a16="http://schemas.microsoft.com/office/drawing/2014/main" id="{59B38F20-F35C-2C43-D2F7-EC84A51EA54C}"/>
                </a:ext>
              </a:extLst>
            </p:cNvPr>
            <p:cNvSpPr>
              <a:spLocks noChangeShapeType="1"/>
            </p:cNvSpPr>
            <p:nvPr/>
          </p:nvSpPr>
          <p:spPr bwMode="auto">
            <a:xfrm>
              <a:off x="548"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09" name="Rectangle 103">
              <a:extLst>
                <a:ext uri="{FF2B5EF4-FFF2-40B4-BE49-F238E27FC236}">
                  <a16:creationId xmlns:a16="http://schemas.microsoft.com/office/drawing/2014/main" id="{B39C23A9-389B-80B5-4A09-23A8B625E6C7}"/>
                </a:ext>
              </a:extLst>
            </p:cNvPr>
            <p:cNvSpPr>
              <a:spLocks noChangeArrowheads="1"/>
            </p:cNvSpPr>
            <p:nvPr/>
          </p:nvSpPr>
          <p:spPr bwMode="auto">
            <a:xfrm>
              <a:off x="548"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0" name="Line 104">
              <a:extLst>
                <a:ext uri="{FF2B5EF4-FFF2-40B4-BE49-F238E27FC236}">
                  <a16:creationId xmlns:a16="http://schemas.microsoft.com/office/drawing/2014/main" id="{913E2E37-56E6-0815-FD61-B70714D70248}"/>
                </a:ext>
              </a:extLst>
            </p:cNvPr>
            <p:cNvSpPr>
              <a:spLocks noChangeShapeType="1"/>
            </p:cNvSpPr>
            <p:nvPr/>
          </p:nvSpPr>
          <p:spPr bwMode="auto">
            <a:xfrm>
              <a:off x="1046"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1" name="Rectangle 105">
              <a:extLst>
                <a:ext uri="{FF2B5EF4-FFF2-40B4-BE49-F238E27FC236}">
                  <a16:creationId xmlns:a16="http://schemas.microsoft.com/office/drawing/2014/main" id="{68323299-A784-6209-4388-A7709BB15E12}"/>
                </a:ext>
              </a:extLst>
            </p:cNvPr>
            <p:cNvSpPr>
              <a:spLocks noChangeArrowheads="1"/>
            </p:cNvSpPr>
            <p:nvPr/>
          </p:nvSpPr>
          <p:spPr bwMode="auto">
            <a:xfrm>
              <a:off x="1046"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2" name="Line 106">
              <a:extLst>
                <a:ext uri="{FF2B5EF4-FFF2-40B4-BE49-F238E27FC236}">
                  <a16:creationId xmlns:a16="http://schemas.microsoft.com/office/drawing/2014/main" id="{61C9C1C0-55FB-0829-E701-4FC865ADFA76}"/>
                </a:ext>
              </a:extLst>
            </p:cNvPr>
            <p:cNvSpPr>
              <a:spLocks noChangeShapeType="1"/>
            </p:cNvSpPr>
            <p:nvPr/>
          </p:nvSpPr>
          <p:spPr bwMode="auto">
            <a:xfrm>
              <a:off x="1213"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3" name="Rectangle 107">
              <a:extLst>
                <a:ext uri="{FF2B5EF4-FFF2-40B4-BE49-F238E27FC236}">
                  <a16:creationId xmlns:a16="http://schemas.microsoft.com/office/drawing/2014/main" id="{0ED5468D-07AA-9348-3B7A-60A3862E62C0}"/>
                </a:ext>
              </a:extLst>
            </p:cNvPr>
            <p:cNvSpPr>
              <a:spLocks noChangeArrowheads="1"/>
            </p:cNvSpPr>
            <p:nvPr/>
          </p:nvSpPr>
          <p:spPr bwMode="auto">
            <a:xfrm>
              <a:off x="1213"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4" name="Line 108">
              <a:extLst>
                <a:ext uri="{FF2B5EF4-FFF2-40B4-BE49-F238E27FC236}">
                  <a16:creationId xmlns:a16="http://schemas.microsoft.com/office/drawing/2014/main" id="{B3F788A9-2FB4-3FE3-3839-CEFB31D3838D}"/>
                </a:ext>
              </a:extLst>
            </p:cNvPr>
            <p:cNvSpPr>
              <a:spLocks noChangeShapeType="1"/>
            </p:cNvSpPr>
            <p:nvPr/>
          </p:nvSpPr>
          <p:spPr bwMode="auto">
            <a:xfrm>
              <a:off x="1379"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5" name="Rectangle 109">
              <a:extLst>
                <a:ext uri="{FF2B5EF4-FFF2-40B4-BE49-F238E27FC236}">
                  <a16:creationId xmlns:a16="http://schemas.microsoft.com/office/drawing/2014/main" id="{E60CDB5C-82AB-725D-0EEB-270FC36237BD}"/>
                </a:ext>
              </a:extLst>
            </p:cNvPr>
            <p:cNvSpPr>
              <a:spLocks noChangeArrowheads="1"/>
            </p:cNvSpPr>
            <p:nvPr/>
          </p:nvSpPr>
          <p:spPr bwMode="auto">
            <a:xfrm>
              <a:off x="1379"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6" name="Line 110">
              <a:extLst>
                <a:ext uri="{FF2B5EF4-FFF2-40B4-BE49-F238E27FC236}">
                  <a16:creationId xmlns:a16="http://schemas.microsoft.com/office/drawing/2014/main" id="{7D269C34-F159-D4C5-9DCC-424711F38369}"/>
                </a:ext>
              </a:extLst>
            </p:cNvPr>
            <p:cNvSpPr>
              <a:spLocks noChangeShapeType="1"/>
            </p:cNvSpPr>
            <p:nvPr/>
          </p:nvSpPr>
          <p:spPr bwMode="auto">
            <a:xfrm>
              <a:off x="1546"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7" name="Rectangle 111">
              <a:extLst>
                <a:ext uri="{FF2B5EF4-FFF2-40B4-BE49-F238E27FC236}">
                  <a16:creationId xmlns:a16="http://schemas.microsoft.com/office/drawing/2014/main" id="{A1D2BA1B-BD69-4409-0FCA-B0457DB00EDC}"/>
                </a:ext>
              </a:extLst>
            </p:cNvPr>
            <p:cNvSpPr>
              <a:spLocks noChangeArrowheads="1"/>
            </p:cNvSpPr>
            <p:nvPr/>
          </p:nvSpPr>
          <p:spPr bwMode="auto">
            <a:xfrm>
              <a:off x="1546"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8" name="Line 112">
              <a:extLst>
                <a:ext uri="{FF2B5EF4-FFF2-40B4-BE49-F238E27FC236}">
                  <a16:creationId xmlns:a16="http://schemas.microsoft.com/office/drawing/2014/main" id="{5BC0B642-D9C4-C13C-8BFD-55D11DACFD0A}"/>
                </a:ext>
              </a:extLst>
            </p:cNvPr>
            <p:cNvSpPr>
              <a:spLocks noChangeShapeType="1"/>
            </p:cNvSpPr>
            <p:nvPr/>
          </p:nvSpPr>
          <p:spPr bwMode="auto">
            <a:xfrm>
              <a:off x="171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19" name="Rectangle 113">
              <a:extLst>
                <a:ext uri="{FF2B5EF4-FFF2-40B4-BE49-F238E27FC236}">
                  <a16:creationId xmlns:a16="http://schemas.microsoft.com/office/drawing/2014/main" id="{A632F908-79F7-D830-08C7-5ED346E1D42F}"/>
                </a:ext>
              </a:extLst>
            </p:cNvPr>
            <p:cNvSpPr>
              <a:spLocks noChangeArrowheads="1"/>
            </p:cNvSpPr>
            <p:nvPr/>
          </p:nvSpPr>
          <p:spPr bwMode="auto">
            <a:xfrm>
              <a:off x="1712"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0" name="Line 114">
              <a:extLst>
                <a:ext uri="{FF2B5EF4-FFF2-40B4-BE49-F238E27FC236}">
                  <a16:creationId xmlns:a16="http://schemas.microsoft.com/office/drawing/2014/main" id="{2694ADD8-8536-1A44-ACC6-D419C0D83AD3}"/>
                </a:ext>
              </a:extLst>
            </p:cNvPr>
            <p:cNvSpPr>
              <a:spLocks noChangeShapeType="1"/>
            </p:cNvSpPr>
            <p:nvPr/>
          </p:nvSpPr>
          <p:spPr bwMode="auto">
            <a:xfrm>
              <a:off x="1878"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1" name="Rectangle 115">
              <a:extLst>
                <a:ext uri="{FF2B5EF4-FFF2-40B4-BE49-F238E27FC236}">
                  <a16:creationId xmlns:a16="http://schemas.microsoft.com/office/drawing/2014/main" id="{3E9FF44B-F9C9-F399-093C-A345D6FD779A}"/>
                </a:ext>
              </a:extLst>
            </p:cNvPr>
            <p:cNvSpPr>
              <a:spLocks noChangeArrowheads="1"/>
            </p:cNvSpPr>
            <p:nvPr/>
          </p:nvSpPr>
          <p:spPr bwMode="auto">
            <a:xfrm>
              <a:off x="1878"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2" name="Line 116">
              <a:extLst>
                <a:ext uri="{FF2B5EF4-FFF2-40B4-BE49-F238E27FC236}">
                  <a16:creationId xmlns:a16="http://schemas.microsoft.com/office/drawing/2014/main" id="{CF97AFE0-95DC-D200-D008-EBD04F078B38}"/>
                </a:ext>
              </a:extLst>
            </p:cNvPr>
            <p:cNvSpPr>
              <a:spLocks noChangeShapeType="1"/>
            </p:cNvSpPr>
            <p:nvPr/>
          </p:nvSpPr>
          <p:spPr bwMode="auto">
            <a:xfrm>
              <a:off x="2044"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3" name="Rectangle 117">
              <a:extLst>
                <a:ext uri="{FF2B5EF4-FFF2-40B4-BE49-F238E27FC236}">
                  <a16:creationId xmlns:a16="http://schemas.microsoft.com/office/drawing/2014/main" id="{3A1100CD-BB87-6429-216A-6E811FE3E9AF}"/>
                </a:ext>
              </a:extLst>
            </p:cNvPr>
            <p:cNvSpPr>
              <a:spLocks noChangeArrowheads="1"/>
            </p:cNvSpPr>
            <p:nvPr/>
          </p:nvSpPr>
          <p:spPr bwMode="auto">
            <a:xfrm>
              <a:off x="2044" y="750"/>
              <a:ext cx="8"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4" name="Line 118">
              <a:extLst>
                <a:ext uri="{FF2B5EF4-FFF2-40B4-BE49-F238E27FC236}">
                  <a16:creationId xmlns:a16="http://schemas.microsoft.com/office/drawing/2014/main" id="{9E5E2B30-8E3B-553E-EB64-290D6BDD0955}"/>
                </a:ext>
              </a:extLst>
            </p:cNvPr>
            <p:cNvSpPr>
              <a:spLocks noChangeShapeType="1"/>
            </p:cNvSpPr>
            <p:nvPr/>
          </p:nvSpPr>
          <p:spPr bwMode="auto">
            <a:xfrm>
              <a:off x="2377"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5" name="Rectangle 119">
              <a:extLst>
                <a:ext uri="{FF2B5EF4-FFF2-40B4-BE49-F238E27FC236}">
                  <a16:creationId xmlns:a16="http://schemas.microsoft.com/office/drawing/2014/main" id="{119E6ECD-1ED4-F069-FCDF-7C95F2B131FF}"/>
                </a:ext>
              </a:extLst>
            </p:cNvPr>
            <p:cNvSpPr>
              <a:spLocks noChangeArrowheads="1"/>
            </p:cNvSpPr>
            <p:nvPr/>
          </p:nvSpPr>
          <p:spPr bwMode="auto">
            <a:xfrm>
              <a:off x="2377"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6" name="Line 120">
              <a:extLst>
                <a:ext uri="{FF2B5EF4-FFF2-40B4-BE49-F238E27FC236}">
                  <a16:creationId xmlns:a16="http://schemas.microsoft.com/office/drawing/2014/main" id="{29BF5895-ABEC-1620-A15F-D6000ECC499F}"/>
                </a:ext>
              </a:extLst>
            </p:cNvPr>
            <p:cNvSpPr>
              <a:spLocks noChangeShapeType="1"/>
            </p:cNvSpPr>
            <p:nvPr/>
          </p:nvSpPr>
          <p:spPr bwMode="auto">
            <a:xfrm>
              <a:off x="2544"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7" name="Rectangle 121">
              <a:extLst>
                <a:ext uri="{FF2B5EF4-FFF2-40B4-BE49-F238E27FC236}">
                  <a16:creationId xmlns:a16="http://schemas.microsoft.com/office/drawing/2014/main" id="{D056C506-CFA3-967E-8446-8885B6E817A2}"/>
                </a:ext>
              </a:extLst>
            </p:cNvPr>
            <p:cNvSpPr>
              <a:spLocks noChangeArrowheads="1"/>
            </p:cNvSpPr>
            <p:nvPr/>
          </p:nvSpPr>
          <p:spPr bwMode="auto">
            <a:xfrm>
              <a:off x="2544"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8" name="Line 122">
              <a:extLst>
                <a:ext uri="{FF2B5EF4-FFF2-40B4-BE49-F238E27FC236}">
                  <a16:creationId xmlns:a16="http://schemas.microsoft.com/office/drawing/2014/main" id="{5E4BDB4F-2725-FC81-F4BE-3D72FFC17A46}"/>
                </a:ext>
              </a:extLst>
            </p:cNvPr>
            <p:cNvSpPr>
              <a:spLocks noChangeShapeType="1"/>
            </p:cNvSpPr>
            <p:nvPr/>
          </p:nvSpPr>
          <p:spPr bwMode="auto">
            <a:xfrm>
              <a:off x="2710" y="750"/>
              <a:ext cx="0"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29" name="Rectangle 123">
              <a:extLst>
                <a:ext uri="{FF2B5EF4-FFF2-40B4-BE49-F238E27FC236}">
                  <a16:creationId xmlns:a16="http://schemas.microsoft.com/office/drawing/2014/main" id="{8FAAACBE-D3CA-8BC3-A900-729F340B66CA}"/>
                </a:ext>
              </a:extLst>
            </p:cNvPr>
            <p:cNvSpPr>
              <a:spLocks noChangeArrowheads="1"/>
            </p:cNvSpPr>
            <p:nvPr/>
          </p:nvSpPr>
          <p:spPr bwMode="auto">
            <a:xfrm>
              <a:off x="2710"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0" name="Line 124">
              <a:extLst>
                <a:ext uri="{FF2B5EF4-FFF2-40B4-BE49-F238E27FC236}">
                  <a16:creationId xmlns:a16="http://schemas.microsoft.com/office/drawing/2014/main" id="{D6B2A542-86AD-62C2-4AB4-F4C724D1CD0C}"/>
                </a:ext>
              </a:extLst>
            </p:cNvPr>
            <p:cNvSpPr>
              <a:spLocks noChangeShapeType="1"/>
            </p:cNvSpPr>
            <p:nvPr/>
          </p:nvSpPr>
          <p:spPr bwMode="auto">
            <a:xfrm>
              <a:off x="2876"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1" name="Rectangle 125">
              <a:extLst>
                <a:ext uri="{FF2B5EF4-FFF2-40B4-BE49-F238E27FC236}">
                  <a16:creationId xmlns:a16="http://schemas.microsoft.com/office/drawing/2014/main" id="{AF4BBA8A-497B-65A3-DDDA-29A3AF449EA5}"/>
                </a:ext>
              </a:extLst>
            </p:cNvPr>
            <p:cNvSpPr>
              <a:spLocks noChangeArrowheads="1"/>
            </p:cNvSpPr>
            <p:nvPr/>
          </p:nvSpPr>
          <p:spPr bwMode="auto">
            <a:xfrm>
              <a:off x="2876" y="750"/>
              <a:ext cx="7"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2" name="Line 126">
              <a:extLst>
                <a:ext uri="{FF2B5EF4-FFF2-40B4-BE49-F238E27FC236}">
                  <a16:creationId xmlns:a16="http://schemas.microsoft.com/office/drawing/2014/main" id="{79AADBF7-5409-1414-8FB1-2DF245C8C8A2}"/>
                </a:ext>
              </a:extLst>
            </p:cNvPr>
            <p:cNvSpPr>
              <a:spLocks noChangeShapeType="1"/>
            </p:cNvSpPr>
            <p:nvPr/>
          </p:nvSpPr>
          <p:spPr bwMode="auto">
            <a:xfrm>
              <a:off x="304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3" name="Rectangle 127">
              <a:extLst>
                <a:ext uri="{FF2B5EF4-FFF2-40B4-BE49-F238E27FC236}">
                  <a16:creationId xmlns:a16="http://schemas.microsoft.com/office/drawing/2014/main" id="{2B386EFA-709D-757A-72A2-1FA7D4828A64}"/>
                </a:ext>
              </a:extLst>
            </p:cNvPr>
            <p:cNvSpPr>
              <a:spLocks noChangeArrowheads="1"/>
            </p:cNvSpPr>
            <p:nvPr/>
          </p:nvSpPr>
          <p:spPr bwMode="auto">
            <a:xfrm>
              <a:off x="3042"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4" name="Line 128">
              <a:extLst>
                <a:ext uri="{FF2B5EF4-FFF2-40B4-BE49-F238E27FC236}">
                  <a16:creationId xmlns:a16="http://schemas.microsoft.com/office/drawing/2014/main" id="{A2093E2A-6968-9698-83FD-6190698A63F7}"/>
                </a:ext>
              </a:extLst>
            </p:cNvPr>
            <p:cNvSpPr>
              <a:spLocks noChangeShapeType="1"/>
            </p:cNvSpPr>
            <p:nvPr/>
          </p:nvSpPr>
          <p:spPr bwMode="auto">
            <a:xfrm>
              <a:off x="3209"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5" name="Rectangle 129">
              <a:extLst>
                <a:ext uri="{FF2B5EF4-FFF2-40B4-BE49-F238E27FC236}">
                  <a16:creationId xmlns:a16="http://schemas.microsoft.com/office/drawing/2014/main" id="{4E51E927-E97D-A055-A531-96EE2C20BDF3}"/>
                </a:ext>
              </a:extLst>
            </p:cNvPr>
            <p:cNvSpPr>
              <a:spLocks noChangeArrowheads="1"/>
            </p:cNvSpPr>
            <p:nvPr/>
          </p:nvSpPr>
          <p:spPr bwMode="auto">
            <a:xfrm>
              <a:off x="3209"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6" name="Line 130">
              <a:extLst>
                <a:ext uri="{FF2B5EF4-FFF2-40B4-BE49-F238E27FC236}">
                  <a16:creationId xmlns:a16="http://schemas.microsoft.com/office/drawing/2014/main" id="{3016C847-583D-C573-45FF-90F4868FAD46}"/>
                </a:ext>
              </a:extLst>
            </p:cNvPr>
            <p:cNvSpPr>
              <a:spLocks noChangeShapeType="1"/>
            </p:cNvSpPr>
            <p:nvPr/>
          </p:nvSpPr>
          <p:spPr bwMode="auto">
            <a:xfrm>
              <a:off x="3375"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7" name="Rectangle 131">
              <a:extLst>
                <a:ext uri="{FF2B5EF4-FFF2-40B4-BE49-F238E27FC236}">
                  <a16:creationId xmlns:a16="http://schemas.microsoft.com/office/drawing/2014/main" id="{4A4C0999-F27D-F3E3-8B6A-43A3B8039229}"/>
                </a:ext>
              </a:extLst>
            </p:cNvPr>
            <p:cNvSpPr>
              <a:spLocks noChangeArrowheads="1"/>
            </p:cNvSpPr>
            <p:nvPr/>
          </p:nvSpPr>
          <p:spPr bwMode="auto">
            <a:xfrm>
              <a:off x="3375"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8" name="Line 132">
              <a:extLst>
                <a:ext uri="{FF2B5EF4-FFF2-40B4-BE49-F238E27FC236}">
                  <a16:creationId xmlns:a16="http://schemas.microsoft.com/office/drawing/2014/main" id="{B9ED90D3-D623-5D39-D589-B2554F3C3497}"/>
                </a:ext>
              </a:extLst>
            </p:cNvPr>
            <p:cNvSpPr>
              <a:spLocks noChangeShapeType="1"/>
            </p:cNvSpPr>
            <p:nvPr/>
          </p:nvSpPr>
          <p:spPr bwMode="auto">
            <a:xfrm>
              <a:off x="354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39" name="Rectangle 133">
              <a:extLst>
                <a:ext uri="{FF2B5EF4-FFF2-40B4-BE49-F238E27FC236}">
                  <a16:creationId xmlns:a16="http://schemas.microsoft.com/office/drawing/2014/main" id="{17011D24-3B72-11FE-4033-26E7729FEE02}"/>
                </a:ext>
              </a:extLst>
            </p:cNvPr>
            <p:cNvSpPr>
              <a:spLocks noChangeArrowheads="1"/>
            </p:cNvSpPr>
            <p:nvPr/>
          </p:nvSpPr>
          <p:spPr bwMode="auto">
            <a:xfrm>
              <a:off x="3542"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0" name="Line 134">
              <a:extLst>
                <a:ext uri="{FF2B5EF4-FFF2-40B4-BE49-F238E27FC236}">
                  <a16:creationId xmlns:a16="http://schemas.microsoft.com/office/drawing/2014/main" id="{E84FA578-499B-DBE1-11BE-CF3620FC44C8}"/>
                </a:ext>
              </a:extLst>
            </p:cNvPr>
            <p:cNvSpPr>
              <a:spLocks noChangeShapeType="1"/>
            </p:cNvSpPr>
            <p:nvPr/>
          </p:nvSpPr>
          <p:spPr bwMode="auto">
            <a:xfrm>
              <a:off x="3707" y="750"/>
              <a:ext cx="1"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1" name="Rectangle 135">
              <a:extLst>
                <a:ext uri="{FF2B5EF4-FFF2-40B4-BE49-F238E27FC236}">
                  <a16:creationId xmlns:a16="http://schemas.microsoft.com/office/drawing/2014/main" id="{763282D4-FF5F-6F0E-2233-4425D311D06A}"/>
                </a:ext>
              </a:extLst>
            </p:cNvPr>
            <p:cNvSpPr>
              <a:spLocks noChangeArrowheads="1"/>
            </p:cNvSpPr>
            <p:nvPr/>
          </p:nvSpPr>
          <p:spPr bwMode="auto">
            <a:xfrm>
              <a:off x="3707" y="750"/>
              <a:ext cx="8"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2" name="Line 136">
              <a:extLst>
                <a:ext uri="{FF2B5EF4-FFF2-40B4-BE49-F238E27FC236}">
                  <a16:creationId xmlns:a16="http://schemas.microsoft.com/office/drawing/2014/main" id="{518DFB0E-B6DB-D148-405E-F66AE93CDA00}"/>
                </a:ext>
              </a:extLst>
            </p:cNvPr>
            <p:cNvSpPr>
              <a:spLocks noChangeShapeType="1"/>
            </p:cNvSpPr>
            <p:nvPr/>
          </p:nvSpPr>
          <p:spPr bwMode="auto">
            <a:xfrm>
              <a:off x="3874"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3" name="Rectangle 137">
              <a:extLst>
                <a:ext uri="{FF2B5EF4-FFF2-40B4-BE49-F238E27FC236}">
                  <a16:creationId xmlns:a16="http://schemas.microsoft.com/office/drawing/2014/main" id="{A1022ABB-20D7-17EF-CFC2-30331A7AED88}"/>
                </a:ext>
              </a:extLst>
            </p:cNvPr>
            <p:cNvSpPr>
              <a:spLocks noChangeArrowheads="1"/>
            </p:cNvSpPr>
            <p:nvPr/>
          </p:nvSpPr>
          <p:spPr bwMode="auto">
            <a:xfrm>
              <a:off x="3874"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4" name="Line 138">
              <a:extLst>
                <a:ext uri="{FF2B5EF4-FFF2-40B4-BE49-F238E27FC236}">
                  <a16:creationId xmlns:a16="http://schemas.microsoft.com/office/drawing/2014/main" id="{30D20AEE-4FCC-0AAB-2A5A-B1BB154914D5}"/>
                </a:ext>
              </a:extLst>
            </p:cNvPr>
            <p:cNvSpPr>
              <a:spLocks noChangeShapeType="1"/>
            </p:cNvSpPr>
            <p:nvPr/>
          </p:nvSpPr>
          <p:spPr bwMode="auto">
            <a:xfrm>
              <a:off x="4207"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5" name="Rectangle 139">
              <a:extLst>
                <a:ext uri="{FF2B5EF4-FFF2-40B4-BE49-F238E27FC236}">
                  <a16:creationId xmlns:a16="http://schemas.microsoft.com/office/drawing/2014/main" id="{8767EA0E-BBA0-CF0C-2406-D3E0C1B846DA}"/>
                </a:ext>
              </a:extLst>
            </p:cNvPr>
            <p:cNvSpPr>
              <a:spLocks noChangeArrowheads="1"/>
            </p:cNvSpPr>
            <p:nvPr/>
          </p:nvSpPr>
          <p:spPr bwMode="auto">
            <a:xfrm>
              <a:off x="4207"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6" name="Line 140">
              <a:extLst>
                <a:ext uri="{FF2B5EF4-FFF2-40B4-BE49-F238E27FC236}">
                  <a16:creationId xmlns:a16="http://schemas.microsoft.com/office/drawing/2014/main" id="{89EE13CD-8E61-13BA-314C-0478BD590CE1}"/>
                </a:ext>
              </a:extLst>
            </p:cNvPr>
            <p:cNvSpPr>
              <a:spLocks noChangeShapeType="1"/>
            </p:cNvSpPr>
            <p:nvPr/>
          </p:nvSpPr>
          <p:spPr bwMode="auto">
            <a:xfrm>
              <a:off x="4540" y="750"/>
              <a:ext cx="0" cy="283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7" name="Rectangle 141">
              <a:extLst>
                <a:ext uri="{FF2B5EF4-FFF2-40B4-BE49-F238E27FC236}">
                  <a16:creationId xmlns:a16="http://schemas.microsoft.com/office/drawing/2014/main" id="{5BA17B0C-D741-2255-E2B4-B105305D22BC}"/>
                </a:ext>
              </a:extLst>
            </p:cNvPr>
            <p:cNvSpPr>
              <a:spLocks noChangeArrowheads="1"/>
            </p:cNvSpPr>
            <p:nvPr/>
          </p:nvSpPr>
          <p:spPr bwMode="auto">
            <a:xfrm>
              <a:off x="4540" y="750"/>
              <a:ext cx="6" cy="283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8" name="Line 142">
              <a:extLst>
                <a:ext uri="{FF2B5EF4-FFF2-40B4-BE49-F238E27FC236}">
                  <a16:creationId xmlns:a16="http://schemas.microsoft.com/office/drawing/2014/main" id="{1042CC70-096A-D61E-EE23-EA6916E33047}"/>
                </a:ext>
              </a:extLst>
            </p:cNvPr>
            <p:cNvSpPr>
              <a:spLocks noChangeShapeType="1"/>
            </p:cNvSpPr>
            <p:nvPr/>
          </p:nvSpPr>
          <p:spPr bwMode="auto">
            <a:xfrm>
              <a:off x="4706"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49" name="Rectangle 143">
              <a:extLst>
                <a:ext uri="{FF2B5EF4-FFF2-40B4-BE49-F238E27FC236}">
                  <a16:creationId xmlns:a16="http://schemas.microsoft.com/office/drawing/2014/main" id="{88B10C0F-37BA-A95D-C29F-D1C71B7F8E2E}"/>
                </a:ext>
              </a:extLst>
            </p:cNvPr>
            <p:cNvSpPr>
              <a:spLocks noChangeArrowheads="1"/>
            </p:cNvSpPr>
            <p:nvPr/>
          </p:nvSpPr>
          <p:spPr bwMode="auto">
            <a:xfrm>
              <a:off x="4706"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0" name="Line 144">
              <a:extLst>
                <a:ext uri="{FF2B5EF4-FFF2-40B4-BE49-F238E27FC236}">
                  <a16:creationId xmlns:a16="http://schemas.microsoft.com/office/drawing/2014/main" id="{269E8FA3-563D-3EB8-B91B-4C623A5DEC0E}"/>
                </a:ext>
              </a:extLst>
            </p:cNvPr>
            <p:cNvSpPr>
              <a:spLocks noChangeShapeType="1"/>
            </p:cNvSpPr>
            <p:nvPr/>
          </p:nvSpPr>
          <p:spPr bwMode="auto">
            <a:xfrm>
              <a:off x="4872"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1" name="Rectangle 145">
              <a:extLst>
                <a:ext uri="{FF2B5EF4-FFF2-40B4-BE49-F238E27FC236}">
                  <a16:creationId xmlns:a16="http://schemas.microsoft.com/office/drawing/2014/main" id="{C5B0971E-D2C6-550D-CDD6-01D239AFA785}"/>
                </a:ext>
              </a:extLst>
            </p:cNvPr>
            <p:cNvSpPr>
              <a:spLocks noChangeArrowheads="1"/>
            </p:cNvSpPr>
            <p:nvPr/>
          </p:nvSpPr>
          <p:spPr bwMode="auto">
            <a:xfrm>
              <a:off x="4872" y="750"/>
              <a:ext cx="7"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2" name="Line 146">
              <a:extLst>
                <a:ext uri="{FF2B5EF4-FFF2-40B4-BE49-F238E27FC236}">
                  <a16:creationId xmlns:a16="http://schemas.microsoft.com/office/drawing/2014/main" id="{022B798B-A492-96F8-80D9-37389B91EDF7}"/>
                </a:ext>
              </a:extLst>
            </p:cNvPr>
            <p:cNvSpPr>
              <a:spLocks noChangeShapeType="1"/>
            </p:cNvSpPr>
            <p:nvPr/>
          </p:nvSpPr>
          <p:spPr bwMode="auto">
            <a:xfrm>
              <a:off x="5039"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3" name="Rectangle 147">
              <a:extLst>
                <a:ext uri="{FF2B5EF4-FFF2-40B4-BE49-F238E27FC236}">
                  <a16:creationId xmlns:a16="http://schemas.microsoft.com/office/drawing/2014/main" id="{A23758C0-B9EE-C94C-A647-51460EFDA4C1}"/>
                </a:ext>
              </a:extLst>
            </p:cNvPr>
            <p:cNvSpPr>
              <a:spLocks noChangeArrowheads="1"/>
            </p:cNvSpPr>
            <p:nvPr/>
          </p:nvSpPr>
          <p:spPr bwMode="auto">
            <a:xfrm>
              <a:off x="5039"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4" name="Line 148">
              <a:extLst>
                <a:ext uri="{FF2B5EF4-FFF2-40B4-BE49-F238E27FC236}">
                  <a16:creationId xmlns:a16="http://schemas.microsoft.com/office/drawing/2014/main" id="{0CE92559-1896-DC62-61ED-DD58D199ECF4}"/>
                </a:ext>
              </a:extLst>
            </p:cNvPr>
            <p:cNvSpPr>
              <a:spLocks noChangeShapeType="1"/>
            </p:cNvSpPr>
            <p:nvPr/>
          </p:nvSpPr>
          <p:spPr bwMode="auto">
            <a:xfrm>
              <a:off x="5205" y="750"/>
              <a:ext cx="1" cy="25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5" name="Rectangle 149">
              <a:extLst>
                <a:ext uri="{FF2B5EF4-FFF2-40B4-BE49-F238E27FC236}">
                  <a16:creationId xmlns:a16="http://schemas.microsoft.com/office/drawing/2014/main" id="{1ABE8318-2C66-8F1A-9D24-BAE8E320AA81}"/>
                </a:ext>
              </a:extLst>
            </p:cNvPr>
            <p:cNvSpPr>
              <a:spLocks noChangeArrowheads="1"/>
            </p:cNvSpPr>
            <p:nvPr/>
          </p:nvSpPr>
          <p:spPr bwMode="auto">
            <a:xfrm>
              <a:off x="5205" y="750"/>
              <a:ext cx="6" cy="258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56" name="Oval 150" descr="Narrow horizontal">
              <a:extLst>
                <a:ext uri="{FF2B5EF4-FFF2-40B4-BE49-F238E27FC236}">
                  <a16:creationId xmlns:a16="http://schemas.microsoft.com/office/drawing/2014/main" id="{5DF4BDEF-6393-C40A-3041-77786486977F}"/>
                </a:ext>
              </a:extLst>
            </p:cNvPr>
            <p:cNvSpPr>
              <a:spLocks noChangeArrowheads="1"/>
            </p:cNvSpPr>
            <p:nvPr/>
          </p:nvSpPr>
          <p:spPr bwMode="auto">
            <a:xfrm>
              <a:off x="2363" y="3453"/>
              <a:ext cx="255" cy="11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grpSp>
          <p:nvGrpSpPr>
            <p:cNvPr id="357" name="Group 151">
              <a:extLst>
                <a:ext uri="{FF2B5EF4-FFF2-40B4-BE49-F238E27FC236}">
                  <a16:creationId xmlns:a16="http://schemas.microsoft.com/office/drawing/2014/main" id="{17F922ED-1F17-57A7-CF9C-D74173986850}"/>
                </a:ext>
              </a:extLst>
            </p:cNvPr>
            <p:cNvGrpSpPr>
              <a:grpSpLocks/>
            </p:cNvGrpSpPr>
            <p:nvPr/>
          </p:nvGrpSpPr>
          <p:grpSpPr bwMode="auto">
            <a:xfrm>
              <a:off x="712" y="3453"/>
              <a:ext cx="157" cy="121"/>
              <a:chOff x="496" y="3892"/>
              <a:chExt cx="172" cy="148"/>
            </a:xfrm>
          </p:grpSpPr>
          <p:sp>
            <p:nvSpPr>
              <p:cNvPr id="402" name="Rectangle 152">
                <a:extLst>
                  <a:ext uri="{FF2B5EF4-FFF2-40B4-BE49-F238E27FC236}">
                    <a16:creationId xmlns:a16="http://schemas.microsoft.com/office/drawing/2014/main" id="{2F504CA9-AFA8-FF35-4A4D-14747BA17832}"/>
                  </a:ext>
                </a:extLst>
              </p:cNvPr>
              <p:cNvSpPr>
                <a:spLocks noChangeArrowheads="1"/>
              </p:cNvSpPr>
              <p:nvPr/>
            </p:nvSpPr>
            <p:spPr bwMode="auto">
              <a:xfrm>
                <a:off x="496" y="3892"/>
                <a:ext cx="172" cy="148"/>
              </a:xfrm>
              <a:prstGeom prst="rect">
                <a:avLst/>
              </a:prstGeom>
              <a:solidFill>
                <a:srgbClr val="006699"/>
              </a:solidFill>
              <a:ln w="12700">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403" name="AutoShape 153">
                <a:extLst>
                  <a:ext uri="{FF2B5EF4-FFF2-40B4-BE49-F238E27FC236}">
                    <a16:creationId xmlns:a16="http://schemas.microsoft.com/office/drawing/2014/main" id="{D5EBA4EF-AC0A-C2CA-3C99-715A5E2B0C41}"/>
                  </a:ext>
                </a:extLst>
              </p:cNvPr>
              <p:cNvSpPr>
                <a:spLocks noChangeArrowheads="1"/>
              </p:cNvSpPr>
              <p:nvPr/>
            </p:nvSpPr>
            <p:spPr bwMode="auto">
              <a:xfrm>
                <a:off x="519" y="3892"/>
                <a:ext cx="137" cy="148"/>
              </a:xfrm>
              <a:prstGeom prst="diamond">
                <a:avLst/>
              </a:prstGeom>
              <a:solidFill>
                <a:schemeClr val="accent4"/>
              </a:solidFill>
              <a:ln w="12700">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grpSp>
        <p:sp>
          <p:nvSpPr>
            <p:cNvPr id="358" name="Text Box 154">
              <a:extLst>
                <a:ext uri="{FF2B5EF4-FFF2-40B4-BE49-F238E27FC236}">
                  <a16:creationId xmlns:a16="http://schemas.microsoft.com/office/drawing/2014/main" id="{EC24827D-72E4-15FD-738F-1200ABA43FCB}"/>
                </a:ext>
              </a:extLst>
            </p:cNvPr>
            <p:cNvSpPr txBox="1">
              <a:spLocks noChangeArrowheads="1"/>
            </p:cNvSpPr>
            <p:nvPr/>
          </p:nvSpPr>
          <p:spPr bwMode="auto">
            <a:xfrm>
              <a:off x="1101" y="412"/>
              <a:ext cx="68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2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Raw Material</a:t>
              </a:r>
            </a:p>
          </p:txBody>
        </p:sp>
        <p:sp>
          <p:nvSpPr>
            <p:cNvPr id="359" name="Text Box 155">
              <a:extLst>
                <a:ext uri="{FF2B5EF4-FFF2-40B4-BE49-F238E27FC236}">
                  <a16:creationId xmlns:a16="http://schemas.microsoft.com/office/drawing/2014/main" id="{2938CFF2-30CB-0B58-7EC2-EC8B10EAC764}"/>
                </a:ext>
              </a:extLst>
            </p:cNvPr>
            <p:cNvSpPr txBox="1">
              <a:spLocks noChangeArrowheads="1"/>
            </p:cNvSpPr>
            <p:nvPr/>
          </p:nvSpPr>
          <p:spPr bwMode="auto">
            <a:xfrm>
              <a:off x="1115" y="508"/>
              <a:ext cx="63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2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Assembly</a:t>
              </a:r>
            </a:p>
          </p:txBody>
        </p:sp>
        <p:sp>
          <p:nvSpPr>
            <p:cNvPr id="360" name="Text Box 156">
              <a:extLst>
                <a:ext uri="{FF2B5EF4-FFF2-40B4-BE49-F238E27FC236}">
                  <a16:creationId xmlns:a16="http://schemas.microsoft.com/office/drawing/2014/main" id="{0917E89D-2DEC-9B26-5A70-6010D767B1F7}"/>
                </a:ext>
              </a:extLst>
            </p:cNvPr>
            <p:cNvSpPr txBox="1">
              <a:spLocks noChangeArrowheads="1"/>
            </p:cNvSpPr>
            <p:nvPr/>
          </p:nvSpPr>
          <p:spPr bwMode="auto">
            <a:xfrm>
              <a:off x="4370" y="412"/>
              <a:ext cx="366"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2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123-A</a:t>
              </a:r>
            </a:p>
          </p:txBody>
        </p:sp>
        <p:sp>
          <p:nvSpPr>
            <p:cNvPr id="361" name="Text Box 157">
              <a:extLst>
                <a:ext uri="{FF2B5EF4-FFF2-40B4-BE49-F238E27FC236}">
                  <a16:creationId xmlns:a16="http://schemas.microsoft.com/office/drawing/2014/main" id="{37A7C536-95F7-4F3B-1FAB-D1AE97A96B9F}"/>
                </a:ext>
              </a:extLst>
            </p:cNvPr>
            <p:cNvSpPr txBox="1">
              <a:spLocks noChangeArrowheads="1"/>
            </p:cNvSpPr>
            <p:nvPr/>
          </p:nvSpPr>
          <p:spPr bwMode="auto">
            <a:xfrm>
              <a:off x="4373" y="508"/>
              <a:ext cx="453"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2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Bracket</a:t>
              </a:r>
            </a:p>
          </p:txBody>
        </p:sp>
        <p:sp>
          <p:nvSpPr>
            <p:cNvPr id="362" name="Rectangle 158">
              <a:extLst>
                <a:ext uri="{FF2B5EF4-FFF2-40B4-BE49-F238E27FC236}">
                  <a16:creationId xmlns:a16="http://schemas.microsoft.com/office/drawing/2014/main" id="{1C838FB9-C7AC-49D7-39AD-65CF58776100}"/>
                </a:ext>
              </a:extLst>
            </p:cNvPr>
            <p:cNvSpPr>
              <a:spLocks noChangeArrowheads="1"/>
            </p:cNvSpPr>
            <p:nvPr/>
          </p:nvSpPr>
          <p:spPr bwMode="auto">
            <a:xfrm>
              <a:off x="3536" y="1222"/>
              <a:ext cx="700" cy="511"/>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Mill</a:t>
              </a:r>
            </a:p>
          </p:txBody>
        </p:sp>
        <p:sp>
          <p:nvSpPr>
            <p:cNvPr id="363" name="Rectangle 159">
              <a:extLst>
                <a:ext uri="{FF2B5EF4-FFF2-40B4-BE49-F238E27FC236}">
                  <a16:creationId xmlns:a16="http://schemas.microsoft.com/office/drawing/2014/main" id="{23A8BAC7-241E-6C6D-A8ED-5D6D612ADD73}"/>
                </a:ext>
              </a:extLst>
            </p:cNvPr>
            <p:cNvSpPr>
              <a:spLocks noChangeArrowheads="1"/>
            </p:cNvSpPr>
            <p:nvPr/>
          </p:nvSpPr>
          <p:spPr bwMode="auto">
            <a:xfrm>
              <a:off x="2530" y="1222"/>
              <a:ext cx="700" cy="511"/>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Drill</a:t>
              </a:r>
            </a:p>
          </p:txBody>
        </p:sp>
        <p:sp>
          <p:nvSpPr>
            <p:cNvPr id="364" name="Rectangle 160">
              <a:extLst>
                <a:ext uri="{FF2B5EF4-FFF2-40B4-BE49-F238E27FC236}">
                  <a16:creationId xmlns:a16="http://schemas.microsoft.com/office/drawing/2014/main" id="{92260F9A-6CC8-3EE4-257E-156E8C54CA4D}"/>
                </a:ext>
              </a:extLst>
            </p:cNvPr>
            <p:cNvSpPr>
              <a:spLocks noChangeArrowheads="1"/>
            </p:cNvSpPr>
            <p:nvPr/>
          </p:nvSpPr>
          <p:spPr bwMode="auto">
            <a:xfrm>
              <a:off x="1436" y="1222"/>
              <a:ext cx="700" cy="511"/>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Tap</a:t>
              </a:r>
            </a:p>
          </p:txBody>
        </p:sp>
        <p:sp>
          <p:nvSpPr>
            <p:cNvPr id="365" name="Rectangle 161">
              <a:extLst>
                <a:ext uri="{FF2B5EF4-FFF2-40B4-BE49-F238E27FC236}">
                  <a16:creationId xmlns:a16="http://schemas.microsoft.com/office/drawing/2014/main" id="{6A6AB120-F89C-100A-6B3D-A5CC35A12D01}"/>
                </a:ext>
              </a:extLst>
            </p:cNvPr>
            <p:cNvSpPr>
              <a:spLocks noChangeArrowheads="1"/>
            </p:cNvSpPr>
            <p:nvPr/>
          </p:nvSpPr>
          <p:spPr bwMode="auto">
            <a:xfrm>
              <a:off x="561" y="1930"/>
              <a:ext cx="700" cy="511"/>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Grind</a:t>
              </a:r>
            </a:p>
          </p:txBody>
        </p:sp>
        <p:sp>
          <p:nvSpPr>
            <p:cNvPr id="366" name="Rectangle 162">
              <a:extLst>
                <a:ext uri="{FF2B5EF4-FFF2-40B4-BE49-F238E27FC236}">
                  <a16:creationId xmlns:a16="http://schemas.microsoft.com/office/drawing/2014/main" id="{7C4B1BE0-ED92-5EAE-4431-3A7CAEB598E9}"/>
                </a:ext>
              </a:extLst>
            </p:cNvPr>
            <p:cNvSpPr>
              <a:spLocks noChangeArrowheads="1"/>
            </p:cNvSpPr>
            <p:nvPr/>
          </p:nvSpPr>
          <p:spPr bwMode="auto">
            <a:xfrm>
              <a:off x="1393" y="2677"/>
              <a:ext cx="962" cy="354"/>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Assembly</a:t>
              </a:r>
            </a:p>
          </p:txBody>
        </p:sp>
        <p:sp>
          <p:nvSpPr>
            <p:cNvPr id="367" name="Rectangle 163">
              <a:extLst>
                <a:ext uri="{FF2B5EF4-FFF2-40B4-BE49-F238E27FC236}">
                  <a16:creationId xmlns:a16="http://schemas.microsoft.com/office/drawing/2014/main" id="{B1A2DEED-2C34-1E0B-37F0-7E80796EA150}"/>
                </a:ext>
              </a:extLst>
            </p:cNvPr>
            <p:cNvSpPr>
              <a:spLocks noChangeArrowheads="1"/>
            </p:cNvSpPr>
            <p:nvPr/>
          </p:nvSpPr>
          <p:spPr bwMode="auto">
            <a:xfrm>
              <a:off x="2712" y="2638"/>
              <a:ext cx="569" cy="393"/>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Test</a:t>
              </a:r>
            </a:p>
          </p:txBody>
        </p:sp>
        <p:sp>
          <p:nvSpPr>
            <p:cNvPr id="368" name="Rectangle 164">
              <a:extLst>
                <a:ext uri="{FF2B5EF4-FFF2-40B4-BE49-F238E27FC236}">
                  <a16:creationId xmlns:a16="http://schemas.microsoft.com/office/drawing/2014/main" id="{ABFB6F81-8D3D-2310-FBED-88B0318E7ED4}"/>
                </a:ext>
              </a:extLst>
            </p:cNvPr>
            <p:cNvSpPr>
              <a:spLocks noChangeArrowheads="1"/>
            </p:cNvSpPr>
            <p:nvPr/>
          </p:nvSpPr>
          <p:spPr bwMode="auto">
            <a:xfrm>
              <a:off x="3711" y="2644"/>
              <a:ext cx="481" cy="354"/>
            </a:xfrm>
            <a:prstGeom prst="rect">
              <a:avLst/>
            </a:prstGeom>
            <a:solidFill>
              <a:schemeClr val="accent4"/>
            </a:solidFill>
            <a:ln w="28575">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Pack</a:t>
              </a:r>
            </a:p>
          </p:txBody>
        </p:sp>
        <p:sp>
          <p:nvSpPr>
            <p:cNvPr id="369" name="AutoShape 165">
              <a:extLst>
                <a:ext uri="{FF2B5EF4-FFF2-40B4-BE49-F238E27FC236}">
                  <a16:creationId xmlns:a16="http://schemas.microsoft.com/office/drawing/2014/main" id="{9C5CA039-170E-90E4-BC8F-FA088F395AA9}"/>
                </a:ext>
              </a:extLst>
            </p:cNvPr>
            <p:cNvSpPr>
              <a:spLocks noChangeArrowheads="1"/>
            </p:cNvSpPr>
            <p:nvPr/>
          </p:nvSpPr>
          <p:spPr bwMode="auto">
            <a:xfrm>
              <a:off x="4367" y="1183"/>
              <a:ext cx="700" cy="590"/>
            </a:xfrm>
            <a:prstGeom prst="flowChartDecision">
              <a:avLst/>
            </a:prstGeom>
            <a:solidFill>
              <a:schemeClr val="accent5"/>
            </a:solidFill>
            <a:ln w="57150">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Arial" panose="020B0604020202020204" pitchFamily="34" charset="0"/>
                  <a:ea typeface="MS PGothic" panose="020B0600070205080204" pitchFamily="34" charset="-128"/>
                </a:rPr>
                <a:t>Raw</a:t>
              </a:r>
            </a:p>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dirty="0">
                  <a:ln>
                    <a:noFill/>
                  </a:ln>
                  <a:solidFill>
                    <a:srgbClr val="FFFFFF"/>
                  </a:solidFill>
                  <a:effectLst/>
                  <a:uLnTx/>
                  <a:uFillTx/>
                  <a:latin typeface="Arial" panose="020B0604020202020204" pitchFamily="34" charset="0"/>
                  <a:ea typeface="MS PGothic" panose="020B0600070205080204" pitchFamily="34" charset="-128"/>
                </a:rPr>
                <a:t>Material</a:t>
              </a:r>
            </a:p>
          </p:txBody>
        </p:sp>
        <p:sp>
          <p:nvSpPr>
            <p:cNvPr id="370" name="AutoShape 166">
              <a:extLst>
                <a:ext uri="{FF2B5EF4-FFF2-40B4-BE49-F238E27FC236}">
                  <a16:creationId xmlns:a16="http://schemas.microsoft.com/office/drawing/2014/main" id="{FB4E5921-B91E-2BFE-756D-E31290A65305}"/>
                </a:ext>
              </a:extLst>
            </p:cNvPr>
            <p:cNvSpPr>
              <a:spLocks noChangeArrowheads="1"/>
            </p:cNvSpPr>
            <p:nvPr/>
          </p:nvSpPr>
          <p:spPr bwMode="auto">
            <a:xfrm>
              <a:off x="4367" y="2520"/>
              <a:ext cx="700" cy="589"/>
            </a:xfrm>
            <a:prstGeom prst="flowChartDecision">
              <a:avLst/>
            </a:prstGeom>
            <a:solidFill>
              <a:schemeClr val="accent5"/>
            </a:solidFill>
            <a:ln w="57150">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Finished</a:t>
              </a:r>
            </a:p>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Goods</a:t>
              </a:r>
            </a:p>
          </p:txBody>
        </p:sp>
        <p:sp>
          <p:nvSpPr>
            <p:cNvPr id="371" name="Oval 167" descr="Narrow horizontal">
              <a:extLst>
                <a:ext uri="{FF2B5EF4-FFF2-40B4-BE49-F238E27FC236}">
                  <a16:creationId xmlns:a16="http://schemas.microsoft.com/office/drawing/2014/main" id="{8ED4E504-C9E4-516D-F6E1-04EB656D0357}"/>
                </a:ext>
              </a:extLst>
            </p:cNvPr>
            <p:cNvSpPr>
              <a:spLocks noChangeArrowheads="1"/>
            </p:cNvSpPr>
            <p:nvPr/>
          </p:nvSpPr>
          <p:spPr bwMode="auto">
            <a:xfrm>
              <a:off x="3624" y="1576"/>
              <a:ext cx="255" cy="11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72" name="Oval 168" descr="Narrow horizontal">
              <a:extLst>
                <a:ext uri="{FF2B5EF4-FFF2-40B4-BE49-F238E27FC236}">
                  <a16:creationId xmlns:a16="http://schemas.microsoft.com/office/drawing/2014/main" id="{AA68BE65-4CF5-4561-2076-C84C09A39E2E}"/>
                </a:ext>
              </a:extLst>
            </p:cNvPr>
            <p:cNvSpPr>
              <a:spLocks noChangeArrowheads="1"/>
            </p:cNvSpPr>
            <p:nvPr/>
          </p:nvSpPr>
          <p:spPr bwMode="auto">
            <a:xfrm>
              <a:off x="2603" y="1576"/>
              <a:ext cx="255" cy="11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73" name="Oval 169" descr="Narrow horizontal">
              <a:extLst>
                <a:ext uri="{FF2B5EF4-FFF2-40B4-BE49-F238E27FC236}">
                  <a16:creationId xmlns:a16="http://schemas.microsoft.com/office/drawing/2014/main" id="{46129493-5F29-BD4E-C49E-2202DB895003}"/>
                </a:ext>
              </a:extLst>
            </p:cNvPr>
            <p:cNvSpPr>
              <a:spLocks noChangeArrowheads="1"/>
            </p:cNvSpPr>
            <p:nvPr/>
          </p:nvSpPr>
          <p:spPr bwMode="auto">
            <a:xfrm>
              <a:off x="1480" y="1576"/>
              <a:ext cx="255" cy="112"/>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74" name="Oval 170" descr="Narrow horizontal">
              <a:extLst>
                <a:ext uri="{FF2B5EF4-FFF2-40B4-BE49-F238E27FC236}">
                  <a16:creationId xmlns:a16="http://schemas.microsoft.com/office/drawing/2014/main" id="{898B90D4-24D7-658C-637C-BB17CF37ED10}"/>
                </a:ext>
              </a:extLst>
            </p:cNvPr>
            <p:cNvSpPr>
              <a:spLocks noChangeArrowheads="1"/>
            </p:cNvSpPr>
            <p:nvPr/>
          </p:nvSpPr>
          <p:spPr bwMode="auto">
            <a:xfrm>
              <a:off x="649" y="2284"/>
              <a:ext cx="255" cy="111"/>
            </a:xfrm>
            <a:prstGeom prst="ellipse">
              <a:avLst/>
            </a:prstGeom>
            <a:blipFill dpi="0" rotWithShape="0">
              <a:blip r:embed="rId3"/>
              <a:srcRect/>
              <a:tile tx="0" ty="0" sx="100000" sy="100000" flip="none" algn="tl"/>
            </a:blipFill>
            <a:ln w="1270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75" name="Text Box 171">
              <a:extLst>
                <a:ext uri="{FF2B5EF4-FFF2-40B4-BE49-F238E27FC236}">
                  <a16:creationId xmlns:a16="http://schemas.microsoft.com/office/drawing/2014/main" id="{11D67BFC-D0C0-4EA9-AD46-B9DB96FE1841}"/>
                </a:ext>
              </a:extLst>
            </p:cNvPr>
            <p:cNvSpPr txBox="1">
              <a:spLocks noChangeArrowheads="1"/>
            </p:cNvSpPr>
            <p:nvPr/>
          </p:nvSpPr>
          <p:spPr bwMode="auto">
            <a:xfrm>
              <a:off x="1888" y="1498"/>
              <a:ext cx="22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t>
              </a:r>
            </a:p>
          </p:txBody>
        </p:sp>
        <p:sp>
          <p:nvSpPr>
            <p:cNvPr id="376" name="Text Box 172">
              <a:extLst>
                <a:ext uri="{FF2B5EF4-FFF2-40B4-BE49-F238E27FC236}">
                  <a16:creationId xmlns:a16="http://schemas.microsoft.com/office/drawing/2014/main" id="{E96EEC45-2060-6D0D-2F00-D173706270B8}"/>
                </a:ext>
              </a:extLst>
            </p:cNvPr>
            <p:cNvSpPr txBox="1">
              <a:spLocks noChangeArrowheads="1"/>
            </p:cNvSpPr>
            <p:nvPr/>
          </p:nvSpPr>
          <p:spPr bwMode="auto">
            <a:xfrm>
              <a:off x="3012" y="1498"/>
              <a:ext cx="22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t>
              </a:r>
            </a:p>
          </p:txBody>
        </p:sp>
        <p:sp>
          <p:nvSpPr>
            <p:cNvPr id="377" name="Text Box 173">
              <a:extLst>
                <a:ext uri="{FF2B5EF4-FFF2-40B4-BE49-F238E27FC236}">
                  <a16:creationId xmlns:a16="http://schemas.microsoft.com/office/drawing/2014/main" id="{5851327A-F6A3-930C-E254-3660A5B75B7B}"/>
                </a:ext>
              </a:extLst>
            </p:cNvPr>
            <p:cNvSpPr txBox="1">
              <a:spLocks noChangeArrowheads="1"/>
            </p:cNvSpPr>
            <p:nvPr/>
          </p:nvSpPr>
          <p:spPr bwMode="auto">
            <a:xfrm>
              <a:off x="3987" y="1498"/>
              <a:ext cx="22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t>
              </a:r>
            </a:p>
          </p:txBody>
        </p:sp>
        <p:sp>
          <p:nvSpPr>
            <p:cNvPr id="378" name="Text Box 174">
              <a:extLst>
                <a:ext uri="{FF2B5EF4-FFF2-40B4-BE49-F238E27FC236}">
                  <a16:creationId xmlns:a16="http://schemas.microsoft.com/office/drawing/2014/main" id="{46DFCA9C-C873-05DA-9AE4-B3F12AC32B77}"/>
                </a:ext>
              </a:extLst>
            </p:cNvPr>
            <p:cNvSpPr txBox="1">
              <a:spLocks noChangeArrowheads="1"/>
            </p:cNvSpPr>
            <p:nvPr/>
          </p:nvSpPr>
          <p:spPr bwMode="auto">
            <a:xfrm>
              <a:off x="1056" y="2225"/>
              <a:ext cx="22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t>
              </a:r>
            </a:p>
          </p:txBody>
        </p:sp>
        <p:grpSp>
          <p:nvGrpSpPr>
            <p:cNvPr id="379" name="Group 175">
              <a:extLst>
                <a:ext uri="{FF2B5EF4-FFF2-40B4-BE49-F238E27FC236}">
                  <a16:creationId xmlns:a16="http://schemas.microsoft.com/office/drawing/2014/main" id="{90C81D3F-F790-460E-9816-C2AFDA1D9787}"/>
                </a:ext>
              </a:extLst>
            </p:cNvPr>
            <p:cNvGrpSpPr>
              <a:grpSpLocks/>
            </p:cNvGrpSpPr>
            <p:nvPr/>
          </p:nvGrpSpPr>
          <p:grpSpPr bwMode="auto">
            <a:xfrm>
              <a:off x="2268" y="1498"/>
              <a:ext cx="156" cy="121"/>
              <a:chOff x="496" y="3892"/>
              <a:chExt cx="172" cy="148"/>
            </a:xfrm>
          </p:grpSpPr>
          <p:sp>
            <p:nvSpPr>
              <p:cNvPr id="400" name="Rectangle 176">
                <a:extLst>
                  <a:ext uri="{FF2B5EF4-FFF2-40B4-BE49-F238E27FC236}">
                    <a16:creationId xmlns:a16="http://schemas.microsoft.com/office/drawing/2014/main" id="{808CA1AB-763F-CAB4-92E8-4AB5867798A2}"/>
                  </a:ext>
                </a:extLst>
              </p:cNvPr>
              <p:cNvSpPr>
                <a:spLocks noChangeArrowheads="1"/>
              </p:cNvSpPr>
              <p:nvPr/>
            </p:nvSpPr>
            <p:spPr bwMode="auto">
              <a:xfrm>
                <a:off x="496" y="3892"/>
                <a:ext cx="172" cy="148"/>
              </a:xfrm>
              <a:prstGeom prst="rect">
                <a:avLst/>
              </a:prstGeom>
              <a:solidFill>
                <a:srgbClr val="006699"/>
              </a:solidFill>
              <a:ln w="12700">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401" name="AutoShape 177">
                <a:extLst>
                  <a:ext uri="{FF2B5EF4-FFF2-40B4-BE49-F238E27FC236}">
                    <a16:creationId xmlns:a16="http://schemas.microsoft.com/office/drawing/2014/main" id="{927A0B8E-D9B8-7D49-F232-317CC82D3CEF}"/>
                  </a:ext>
                </a:extLst>
              </p:cNvPr>
              <p:cNvSpPr>
                <a:spLocks noChangeArrowheads="1"/>
              </p:cNvSpPr>
              <p:nvPr/>
            </p:nvSpPr>
            <p:spPr bwMode="auto">
              <a:xfrm>
                <a:off x="519" y="3892"/>
                <a:ext cx="137" cy="148"/>
              </a:xfrm>
              <a:prstGeom prst="diamond">
                <a:avLst/>
              </a:prstGeom>
              <a:solidFill>
                <a:srgbClr val="006699"/>
              </a:solidFill>
              <a:ln w="12700">
                <a:solidFill>
                  <a:srgbClr val="000000"/>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grpSp>
        <p:sp>
          <p:nvSpPr>
            <p:cNvPr id="380" name="Oval 178">
              <a:extLst>
                <a:ext uri="{FF2B5EF4-FFF2-40B4-BE49-F238E27FC236}">
                  <a16:creationId xmlns:a16="http://schemas.microsoft.com/office/drawing/2014/main" id="{756DB9BD-DE96-417D-4C1B-64D3CE0B873E}"/>
                </a:ext>
              </a:extLst>
            </p:cNvPr>
            <p:cNvSpPr>
              <a:spLocks noChangeArrowheads="1"/>
            </p:cNvSpPr>
            <p:nvPr/>
          </p:nvSpPr>
          <p:spPr bwMode="auto">
            <a:xfrm>
              <a:off x="4608" y="1845"/>
              <a:ext cx="219" cy="196"/>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1</a:t>
              </a:r>
            </a:p>
          </p:txBody>
        </p:sp>
        <p:sp>
          <p:nvSpPr>
            <p:cNvPr id="381" name="Oval 179">
              <a:extLst>
                <a:ext uri="{FF2B5EF4-FFF2-40B4-BE49-F238E27FC236}">
                  <a16:creationId xmlns:a16="http://schemas.microsoft.com/office/drawing/2014/main" id="{FBA387FC-75E2-96E2-2197-C6FCB02CE374}"/>
                </a:ext>
              </a:extLst>
            </p:cNvPr>
            <p:cNvSpPr>
              <a:spLocks noChangeArrowheads="1"/>
            </p:cNvSpPr>
            <p:nvPr/>
          </p:nvSpPr>
          <p:spPr bwMode="auto">
            <a:xfrm>
              <a:off x="3777" y="1845"/>
              <a:ext cx="218" cy="196"/>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2</a:t>
              </a:r>
            </a:p>
          </p:txBody>
        </p:sp>
        <p:sp>
          <p:nvSpPr>
            <p:cNvPr id="382" name="Oval 180">
              <a:extLst>
                <a:ext uri="{FF2B5EF4-FFF2-40B4-BE49-F238E27FC236}">
                  <a16:creationId xmlns:a16="http://schemas.microsoft.com/office/drawing/2014/main" id="{1448D7DD-2509-454D-8F2C-80DBFCC42FCA}"/>
                </a:ext>
              </a:extLst>
            </p:cNvPr>
            <p:cNvSpPr>
              <a:spLocks noChangeArrowheads="1"/>
            </p:cNvSpPr>
            <p:nvPr/>
          </p:nvSpPr>
          <p:spPr bwMode="auto">
            <a:xfrm>
              <a:off x="2771" y="1845"/>
              <a:ext cx="218" cy="196"/>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3</a:t>
              </a:r>
            </a:p>
          </p:txBody>
        </p:sp>
        <p:sp>
          <p:nvSpPr>
            <p:cNvPr id="383" name="Oval 181">
              <a:extLst>
                <a:ext uri="{FF2B5EF4-FFF2-40B4-BE49-F238E27FC236}">
                  <a16:creationId xmlns:a16="http://schemas.microsoft.com/office/drawing/2014/main" id="{E687110D-ED9D-CFD5-ED06-DC1A5B7501DF}"/>
                </a:ext>
              </a:extLst>
            </p:cNvPr>
            <p:cNvSpPr>
              <a:spLocks noChangeArrowheads="1"/>
            </p:cNvSpPr>
            <p:nvPr/>
          </p:nvSpPr>
          <p:spPr bwMode="auto">
            <a:xfrm>
              <a:off x="2268" y="1845"/>
              <a:ext cx="218" cy="196"/>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4</a:t>
              </a:r>
            </a:p>
          </p:txBody>
        </p:sp>
        <p:sp>
          <p:nvSpPr>
            <p:cNvPr id="384" name="Oval 182">
              <a:extLst>
                <a:ext uri="{FF2B5EF4-FFF2-40B4-BE49-F238E27FC236}">
                  <a16:creationId xmlns:a16="http://schemas.microsoft.com/office/drawing/2014/main" id="{EF35E3F2-3A3B-F2B6-C9D8-E4A5B74C22C5}"/>
                </a:ext>
              </a:extLst>
            </p:cNvPr>
            <p:cNvSpPr>
              <a:spLocks noChangeArrowheads="1"/>
            </p:cNvSpPr>
            <p:nvPr/>
          </p:nvSpPr>
          <p:spPr bwMode="auto">
            <a:xfrm>
              <a:off x="1655" y="1845"/>
              <a:ext cx="219" cy="196"/>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5</a:t>
              </a:r>
            </a:p>
          </p:txBody>
        </p:sp>
        <p:sp>
          <p:nvSpPr>
            <p:cNvPr id="385" name="Oval 183">
              <a:extLst>
                <a:ext uri="{FF2B5EF4-FFF2-40B4-BE49-F238E27FC236}">
                  <a16:creationId xmlns:a16="http://schemas.microsoft.com/office/drawing/2014/main" id="{5D991802-8261-516B-CA3C-A427F9FDFA83}"/>
                </a:ext>
              </a:extLst>
            </p:cNvPr>
            <p:cNvSpPr>
              <a:spLocks noChangeArrowheads="1"/>
            </p:cNvSpPr>
            <p:nvPr/>
          </p:nvSpPr>
          <p:spPr bwMode="auto">
            <a:xfrm>
              <a:off x="1743" y="2402"/>
              <a:ext cx="218" cy="196"/>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7</a:t>
              </a:r>
            </a:p>
          </p:txBody>
        </p:sp>
        <p:sp>
          <p:nvSpPr>
            <p:cNvPr id="386" name="Oval 184">
              <a:extLst>
                <a:ext uri="{FF2B5EF4-FFF2-40B4-BE49-F238E27FC236}">
                  <a16:creationId xmlns:a16="http://schemas.microsoft.com/office/drawing/2014/main" id="{D9DCA5A8-B544-B9EA-5572-544334273B8E}"/>
                </a:ext>
              </a:extLst>
            </p:cNvPr>
            <p:cNvSpPr>
              <a:spLocks noChangeArrowheads="1"/>
            </p:cNvSpPr>
            <p:nvPr/>
          </p:nvSpPr>
          <p:spPr bwMode="auto">
            <a:xfrm>
              <a:off x="1327" y="2074"/>
              <a:ext cx="219" cy="197"/>
            </a:xfrm>
            <a:prstGeom prst="ellipse">
              <a:avLst/>
            </a:prstGeom>
            <a:solidFill>
              <a:srgbClr val="FFFFFF"/>
            </a:solidFill>
            <a:ln w="19050">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2400" b="0"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6</a:t>
              </a:r>
            </a:p>
          </p:txBody>
        </p:sp>
        <p:sp>
          <p:nvSpPr>
            <p:cNvPr id="387" name="Freeform 185">
              <a:extLst>
                <a:ext uri="{FF2B5EF4-FFF2-40B4-BE49-F238E27FC236}">
                  <a16:creationId xmlns:a16="http://schemas.microsoft.com/office/drawing/2014/main" id="{E26EA9DD-7EB2-6847-E941-8D82B2926F92}"/>
                </a:ext>
              </a:extLst>
            </p:cNvPr>
            <p:cNvSpPr>
              <a:spLocks/>
            </p:cNvSpPr>
            <p:nvPr/>
          </p:nvSpPr>
          <p:spPr bwMode="auto">
            <a:xfrm>
              <a:off x="4017" y="1930"/>
              <a:ext cx="613" cy="157"/>
            </a:xfrm>
            <a:custGeom>
              <a:avLst/>
              <a:gdLst>
                <a:gd name="T0" fmla="*/ 215876911 w 672"/>
                <a:gd name="T1" fmla="*/ 0 h 192"/>
                <a:gd name="T2" fmla="*/ 215876911 w 672"/>
                <a:gd name="T3" fmla="*/ 14024489 h 192"/>
                <a:gd name="T4" fmla="*/ 0 w 672"/>
                <a:gd name="T5" fmla="*/ 0 h 192"/>
                <a:gd name="T6" fmla="*/ 0 60000 65536"/>
                <a:gd name="T7" fmla="*/ 0 60000 65536"/>
                <a:gd name="T8" fmla="*/ 0 60000 65536"/>
                <a:gd name="T9" fmla="*/ 0 w 672"/>
                <a:gd name="T10" fmla="*/ 0 h 192"/>
                <a:gd name="T11" fmla="*/ 672 w 672"/>
                <a:gd name="T12" fmla="*/ 192 h 192"/>
              </a:gdLst>
              <a:ahLst/>
              <a:cxnLst>
                <a:cxn ang="T6">
                  <a:pos x="T0" y="T1"/>
                </a:cxn>
                <a:cxn ang="T7">
                  <a:pos x="T2" y="T3"/>
                </a:cxn>
                <a:cxn ang="T8">
                  <a:pos x="T4" y="T5"/>
                </a:cxn>
              </a:cxnLst>
              <a:rect l="T9" t="T10" r="T11" b="T12"/>
              <a:pathLst>
                <a:path w="672" h="192">
                  <a:moveTo>
                    <a:pt x="672" y="0"/>
                  </a:moveTo>
                  <a:cubicBezTo>
                    <a:pt x="584" y="96"/>
                    <a:pt x="496" y="192"/>
                    <a:pt x="384" y="192"/>
                  </a:cubicBezTo>
                  <a:cubicBezTo>
                    <a:pt x="272" y="192"/>
                    <a:pt x="64" y="32"/>
                    <a:pt x="0" y="0"/>
                  </a:cubicBezTo>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88" name="Freeform 186">
              <a:extLst>
                <a:ext uri="{FF2B5EF4-FFF2-40B4-BE49-F238E27FC236}">
                  <a16:creationId xmlns:a16="http://schemas.microsoft.com/office/drawing/2014/main" id="{17023106-C1FC-CF7A-8863-FB0794788388}"/>
                </a:ext>
              </a:extLst>
            </p:cNvPr>
            <p:cNvSpPr>
              <a:spLocks/>
            </p:cNvSpPr>
            <p:nvPr/>
          </p:nvSpPr>
          <p:spPr bwMode="auto">
            <a:xfrm>
              <a:off x="3011" y="1930"/>
              <a:ext cx="744" cy="157"/>
            </a:xfrm>
            <a:custGeom>
              <a:avLst/>
              <a:gdLst>
                <a:gd name="T0" fmla="*/ 213302705 w 816"/>
                <a:gd name="T1" fmla="*/ 0 h 192"/>
                <a:gd name="T2" fmla="*/ 213302705 w 816"/>
                <a:gd name="T3" fmla="*/ 14024489 h 192"/>
                <a:gd name="T4" fmla="*/ 0 w 816"/>
                <a:gd name="T5" fmla="*/ 0 h 192"/>
                <a:gd name="T6" fmla="*/ 0 60000 65536"/>
                <a:gd name="T7" fmla="*/ 0 60000 65536"/>
                <a:gd name="T8" fmla="*/ 0 60000 65536"/>
                <a:gd name="T9" fmla="*/ 0 w 816"/>
                <a:gd name="T10" fmla="*/ 0 h 192"/>
                <a:gd name="T11" fmla="*/ 816 w 816"/>
                <a:gd name="T12" fmla="*/ 192 h 192"/>
              </a:gdLst>
              <a:ahLst/>
              <a:cxnLst>
                <a:cxn ang="T6">
                  <a:pos x="T0" y="T1"/>
                </a:cxn>
                <a:cxn ang="T7">
                  <a:pos x="T2" y="T3"/>
                </a:cxn>
                <a:cxn ang="T8">
                  <a:pos x="T4" y="T5"/>
                </a:cxn>
              </a:cxnLst>
              <a:rect l="T9" t="T10" r="T11" b="T12"/>
              <a:pathLst>
                <a:path w="816" h="192">
                  <a:moveTo>
                    <a:pt x="816" y="0"/>
                  </a:moveTo>
                  <a:cubicBezTo>
                    <a:pt x="692" y="96"/>
                    <a:pt x="568" y="192"/>
                    <a:pt x="432" y="192"/>
                  </a:cubicBezTo>
                  <a:cubicBezTo>
                    <a:pt x="296" y="192"/>
                    <a:pt x="148" y="96"/>
                    <a:pt x="0" y="0"/>
                  </a:cubicBezTo>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89" name="Freeform 187">
              <a:extLst>
                <a:ext uri="{FF2B5EF4-FFF2-40B4-BE49-F238E27FC236}">
                  <a16:creationId xmlns:a16="http://schemas.microsoft.com/office/drawing/2014/main" id="{54B3A5D8-30A3-1998-097D-F3B4FC3DC06B}"/>
                </a:ext>
              </a:extLst>
            </p:cNvPr>
            <p:cNvSpPr>
              <a:spLocks/>
            </p:cNvSpPr>
            <p:nvPr/>
          </p:nvSpPr>
          <p:spPr bwMode="auto">
            <a:xfrm>
              <a:off x="2494" y="1969"/>
              <a:ext cx="262" cy="158"/>
            </a:xfrm>
            <a:custGeom>
              <a:avLst/>
              <a:gdLst>
                <a:gd name="T0" fmla="*/ 201671925 w 288"/>
                <a:gd name="T1" fmla="*/ 0 h 192"/>
                <a:gd name="T2" fmla="*/ 201671925 w 288"/>
                <a:gd name="T3" fmla="*/ 16437059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90" name="Freeform 188">
              <a:extLst>
                <a:ext uri="{FF2B5EF4-FFF2-40B4-BE49-F238E27FC236}">
                  <a16:creationId xmlns:a16="http://schemas.microsoft.com/office/drawing/2014/main" id="{8506D301-2362-0304-98B3-26397A69BFD0}"/>
                </a:ext>
              </a:extLst>
            </p:cNvPr>
            <p:cNvSpPr>
              <a:spLocks/>
            </p:cNvSpPr>
            <p:nvPr/>
          </p:nvSpPr>
          <p:spPr bwMode="auto">
            <a:xfrm>
              <a:off x="1881" y="1930"/>
              <a:ext cx="387" cy="216"/>
            </a:xfrm>
            <a:custGeom>
              <a:avLst/>
              <a:gdLst>
                <a:gd name="T0" fmla="*/ 2147483646 w 288"/>
                <a:gd name="T1" fmla="*/ 0 h 192"/>
                <a:gd name="T2" fmla="*/ 2147483646 w 288"/>
                <a:gd name="T3" fmla="*/ 2147483646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91" name="Freeform 189">
              <a:extLst>
                <a:ext uri="{FF2B5EF4-FFF2-40B4-BE49-F238E27FC236}">
                  <a16:creationId xmlns:a16="http://schemas.microsoft.com/office/drawing/2014/main" id="{F8C3E42C-8389-4BCA-A878-AC0CD9D44EC4}"/>
                </a:ext>
              </a:extLst>
            </p:cNvPr>
            <p:cNvSpPr>
              <a:spLocks/>
            </p:cNvSpPr>
            <p:nvPr/>
          </p:nvSpPr>
          <p:spPr bwMode="auto">
            <a:xfrm rot="-2126059">
              <a:off x="1575" y="2127"/>
              <a:ext cx="386" cy="157"/>
            </a:xfrm>
            <a:custGeom>
              <a:avLst/>
              <a:gdLst>
                <a:gd name="T0" fmla="*/ 2147483646 w 288"/>
                <a:gd name="T1" fmla="*/ 0 h 192"/>
                <a:gd name="T2" fmla="*/ 2147483646 w 288"/>
                <a:gd name="T3" fmla="*/ 14024489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92" name="Freeform 190">
              <a:extLst>
                <a:ext uri="{FF2B5EF4-FFF2-40B4-BE49-F238E27FC236}">
                  <a16:creationId xmlns:a16="http://schemas.microsoft.com/office/drawing/2014/main" id="{92EB9DC7-02B8-DE9E-962B-40EAAA421548}"/>
                </a:ext>
              </a:extLst>
            </p:cNvPr>
            <p:cNvSpPr>
              <a:spLocks/>
            </p:cNvSpPr>
            <p:nvPr/>
          </p:nvSpPr>
          <p:spPr bwMode="auto">
            <a:xfrm rot="2490185">
              <a:off x="1312" y="2362"/>
              <a:ext cx="387" cy="217"/>
            </a:xfrm>
            <a:custGeom>
              <a:avLst/>
              <a:gdLst>
                <a:gd name="T0" fmla="*/ 2147483646 w 288"/>
                <a:gd name="T1" fmla="*/ 0 h 192"/>
                <a:gd name="T2" fmla="*/ 2147483646 w 288"/>
                <a:gd name="T3" fmla="*/ 2147483646 h 192"/>
                <a:gd name="T4" fmla="*/ 0 w 288"/>
                <a:gd name="T5" fmla="*/ 0 h 192"/>
                <a:gd name="T6" fmla="*/ 0 60000 65536"/>
                <a:gd name="T7" fmla="*/ 0 60000 65536"/>
                <a:gd name="T8" fmla="*/ 0 60000 65536"/>
                <a:gd name="T9" fmla="*/ 0 w 288"/>
                <a:gd name="T10" fmla="*/ 0 h 192"/>
                <a:gd name="T11" fmla="*/ 288 w 288"/>
                <a:gd name="T12" fmla="*/ 192 h 192"/>
              </a:gdLst>
              <a:ahLst/>
              <a:cxnLst>
                <a:cxn ang="T6">
                  <a:pos x="T0" y="T1"/>
                </a:cxn>
                <a:cxn ang="T7">
                  <a:pos x="T2" y="T3"/>
                </a:cxn>
                <a:cxn ang="T8">
                  <a:pos x="T4" y="T5"/>
                </a:cxn>
              </a:cxnLst>
              <a:rect l="T9" t="T10" r="T11" b="T12"/>
              <a:pathLst>
                <a:path w="288" h="192">
                  <a:moveTo>
                    <a:pt x="288" y="0"/>
                  </a:moveTo>
                  <a:cubicBezTo>
                    <a:pt x="240" y="96"/>
                    <a:pt x="192" y="192"/>
                    <a:pt x="144" y="192"/>
                  </a:cubicBezTo>
                  <a:cubicBezTo>
                    <a:pt x="96" y="192"/>
                    <a:pt x="48" y="96"/>
                    <a:pt x="0" y="0"/>
                  </a:cubicBezTo>
                </a:path>
              </a:pathLst>
            </a:custGeom>
            <a:noFill/>
            <a:ln w="571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93" name="Line 191">
              <a:extLst>
                <a:ext uri="{FF2B5EF4-FFF2-40B4-BE49-F238E27FC236}">
                  <a16:creationId xmlns:a16="http://schemas.microsoft.com/office/drawing/2014/main" id="{B69F2E79-9C38-30BE-A6E4-A7C9B252CDAC}"/>
                </a:ext>
              </a:extLst>
            </p:cNvPr>
            <p:cNvSpPr>
              <a:spLocks noChangeShapeType="1"/>
            </p:cNvSpPr>
            <p:nvPr/>
          </p:nvSpPr>
          <p:spPr bwMode="auto">
            <a:xfrm flipV="1">
              <a:off x="2005" y="2048"/>
              <a:ext cx="2712" cy="432"/>
            </a:xfrm>
            <a:prstGeom prst="line">
              <a:avLst/>
            </a:prstGeom>
            <a:noFill/>
            <a:ln w="57150">
              <a:solidFill>
                <a:srgbClr val="FF0000"/>
              </a:solidFill>
              <a:prstDash val="sysDot"/>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94" name="Text Box 192">
              <a:extLst>
                <a:ext uri="{FF2B5EF4-FFF2-40B4-BE49-F238E27FC236}">
                  <a16:creationId xmlns:a16="http://schemas.microsoft.com/office/drawing/2014/main" id="{0130A012-C2BF-A71C-A51D-9435EFEAEE22}"/>
                </a:ext>
              </a:extLst>
            </p:cNvPr>
            <p:cNvSpPr txBox="1">
              <a:spLocks noChangeArrowheads="1"/>
            </p:cNvSpPr>
            <p:nvPr/>
          </p:nvSpPr>
          <p:spPr bwMode="auto">
            <a:xfrm>
              <a:off x="3201" y="3423"/>
              <a:ext cx="17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4</a:t>
              </a:r>
            </a:p>
          </p:txBody>
        </p:sp>
        <p:sp>
          <p:nvSpPr>
            <p:cNvPr id="395" name="Text Box 193">
              <a:extLst>
                <a:ext uri="{FF2B5EF4-FFF2-40B4-BE49-F238E27FC236}">
                  <a16:creationId xmlns:a16="http://schemas.microsoft.com/office/drawing/2014/main" id="{62FE8466-919D-B394-9C84-9784DED652E3}"/>
                </a:ext>
              </a:extLst>
            </p:cNvPr>
            <p:cNvSpPr txBox="1">
              <a:spLocks noChangeArrowheads="1"/>
            </p:cNvSpPr>
            <p:nvPr/>
          </p:nvSpPr>
          <p:spPr bwMode="auto">
            <a:xfrm>
              <a:off x="4020" y="3423"/>
              <a:ext cx="289"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0033"/>
                  </a:solidFill>
                  <a:effectLst/>
                  <a:uLnTx/>
                  <a:uFillTx/>
                  <a:latin typeface="Arial" panose="020B0604020202020204" pitchFamily="34" charset="0"/>
                  <a:ea typeface="MS PGothic" panose="020B0600070205080204" pitchFamily="34" charset="-128"/>
                </a:rPr>
                <a:t>77</a:t>
              </a:r>
              <a:r>
                <a:rPr kumimoji="0" lang="ja-JP" altLang="en-US" sz="1400" b="1" i="0" u="none" strike="noStrike" kern="0" cap="none" spc="0" normalizeH="0" baseline="0" noProof="0">
                  <a:ln>
                    <a:noFill/>
                  </a:ln>
                  <a:solidFill>
                    <a:srgbClr val="FF0033"/>
                  </a:solidFill>
                  <a:effectLst/>
                  <a:uLnTx/>
                  <a:uFillTx/>
                  <a:latin typeface="Arial" panose="020B0604020202020204" pitchFamily="34" charset="0"/>
                  <a:ea typeface="MS PGothic" panose="020B0600070205080204" pitchFamily="34" charset="-128"/>
                </a:rPr>
                <a:t>”</a:t>
              </a:r>
              <a:endParaRPr kumimoji="0" lang="en-US" altLang="en-US" sz="1400" b="1" i="0" u="none" strike="noStrike" kern="0" cap="none" spc="0" normalizeH="0" baseline="0" noProof="0">
                <a:ln>
                  <a:noFill/>
                </a:ln>
                <a:solidFill>
                  <a:srgbClr val="FF0033"/>
                </a:solidFill>
                <a:effectLst/>
                <a:uLnTx/>
                <a:uFillTx/>
                <a:latin typeface="Arial" panose="020B0604020202020204" pitchFamily="34" charset="0"/>
                <a:ea typeface="MS PGothic" panose="020B0600070205080204" pitchFamily="34" charset="-128"/>
              </a:endParaRPr>
            </a:p>
          </p:txBody>
        </p:sp>
        <p:sp>
          <p:nvSpPr>
            <p:cNvPr id="396" name="Text Box 194">
              <a:extLst>
                <a:ext uri="{FF2B5EF4-FFF2-40B4-BE49-F238E27FC236}">
                  <a16:creationId xmlns:a16="http://schemas.microsoft.com/office/drawing/2014/main" id="{69E17590-1B22-B3B3-8F53-C9D87055AE7F}"/>
                </a:ext>
              </a:extLst>
            </p:cNvPr>
            <p:cNvSpPr txBox="1">
              <a:spLocks noChangeArrowheads="1"/>
            </p:cNvSpPr>
            <p:nvPr/>
          </p:nvSpPr>
          <p:spPr bwMode="auto">
            <a:xfrm>
              <a:off x="4809" y="3423"/>
              <a:ext cx="288"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r>
                <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70</a:t>
              </a:r>
              <a:r>
                <a:rPr kumimoji="0" lang="ja-JP"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rPr>
                <a:t>”</a:t>
              </a:r>
              <a:endParaRPr kumimoji="0" lang="en-US" altLang="en-US" sz="14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grpSp>
          <p:nvGrpSpPr>
            <p:cNvPr id="397" name="Group 195">
              <a:extLst>
                <a:ext uri="{FF2B5EF4-FFF2-40B4-BE49-F238E27FC236}">
                  <a16:creationId xmlns:a16="http://schemas.microsoft.com/office/drawing/2014/main" id="{70D2FF29-1480-1084-8EB4-713AFBC60B01}"/>
                </a:ext>
              </a:extLst>
            </p:cNvPr>
            <p:cNvGrpSpPr>
              <a:grpSpLocks/>
            </p:cNvGrpSpPr>
            <p:nvPr/>
          </p:nvGrpSpPr>
          <p:grpSpPr bwMode="auto">
            <a:xfrm>
              <a:off x="2224" y="2127"/>
              <a:ext cx="306" cy="196"/>
              <a:chOff x="3519" y="2637"/>
              <a:chExt cx="534" cy="345"/>
            </a:xfrm>
          </p:grpSpPr>
          <p:sp>
            <p:nvSpPr>
              <p:cNvPr id="398" name="Oval 196">
                <a:extLst>
                  <a:ext uri="{FF2B5EF4-FFF2-40B4-BE49-F238E27FC236}">
                    <a16:creationId xmlns:a16="http://schemas.microsoft.com/office/drawing/2014/main" id="{DFE504E9-D978-4888-ED30-63F3A9AE67FF}"/>
                  </a:ext>
                </a:extLst>
              </p:cNvPr>
              <p:cNvSpPr>
                <a:spLocks noChangeArrowheads="1"/>
              </p:cNvSpPr>
              <p:nvPr/>
            </p:nvSpPr>
            <p:spPr bwMode="auto">
              <a:xfrm>
                <a:off x="3621" y="2637"/>
                <a:ext cx="342" cy="341"/>
              </a:xfrm>
              <a:prstGeom prst="ellipse">
                <a:avLst/>
              </a:prstGeom>
              <a:solidFill>
                <a:srgbClr val="114FFB"/>
              </a:solidFill>
              <a:ln w="28575">
                <a:solidFill>
                  <a:srgbClr val="000000"/>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marL="0" marR="0" lvl="0" indent="0" algn="ctr" defTabSz="914400" eaLnBrk="0" fontAlgn="base" latinLnBrk="0" hangingPunct="0">
                  <a:lnSpc>
                    <a:spcPct val="80000"/>
                  </a:lnSpc>
                  <a:spcBef>
                    <a:spcPct val="20000"/>
                  </a:spcBef>
                  <a:spcAft>
                    <a:spcPct val="0"/>
                  </a:spcAft>
                  <a:buClrTx/>
                  <a:buSzTx/>
                  <a:buFontTx/>
                  <a:buNone/>
                  <a:tabLst/>
                  <a:defRPr/>
                </a:pPr>
                <a:endParaRPr kumimoji="0" lang="en-US" alt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sp>
            <p:nvSpPr>
              <p:cNvPr id="399" name="Freeform 197">
                <a:extLst>
                  <a:ext uri="{FF2B5EF4-FFF2-40B4-BE49-F238E27FC236}">
                    <a16:creationId xmlns:a16="http://schemas.microsoft.com/office/drawing/2014/main" id="{D08BABA8-5CCB-94D2-C0C3-B78887FC0105}"/>
                  </a:ext>
                </a:extLst>
              </p:cNvPr>
              <p:cNvSpPr>
                <a:spLocks/>
              </p:cNvSpPr>
              <p:nvPr/>
            </p:nvSpPr>
            <p:spPr bwMode="auto">
              <a:xfrm>
                <a:off x="3519" y="2682"/>
                <a:ext cx="534" cy="300"/>
              </a:xfrm>
              <a:custGeom>
                <a:avLst/>
                <a:gdLst>
                  <a:gd name="T0" fmla="*/ 1 w 534"/>
                  <a:gd name="T1" fmla="*/ 12 h 300"/>
                  <a:gd name="T2" fmla="*/ 0 w 534"/>
                  <a:gd name="T3" fmla="*/ 40 h 300"/>
                  <a:gd name="T4" fmla="*/ 2 w 534"/>
                  <a:gd name="T5" fmla="*/ 69 h 300"/>
                  <a:gd name="T6" fmla="*/ 15 w 534"/>
                  <a:gd name="T7" fmla="*/ 123 h 300"/>
                  <a:gd name="T8" fmla="*/ 38 w 534"/>
                  <a:gd name="T9" fmla="*/ 171 h 300"/>
                  <a:gd name="T10" fmla="*/ 72 w 534"/>
                  <a:gd name="T11" fmla="*/ 215 h 300"/>
                  <a:gd name="T12" fmla="*/ 113 w 534"/>
                  <a:gd name="T13" fmla="*/ 250 h 300"/>
                  <a:gd name="T14" fmla="*/ 161 w 534"/>
                  <a:gd name="T15" fmla="*/ 277 h 300"/>
                  <a:gd name="T16" fmla="*/ 214 w 534"/>
                  <a:gd name="T17" fmla="*/ 294 h 300"/>
                  <a:gd name="T18" fmla="*/ 243 w 534"/>
                  <a:gd name="T19" fmla="*/ 298 h 300"/>
                  <a:gd name="T20" fmla="*/ 258 w 534"/>
                  <a:gd name="T21" fmla="*/ 298 h 300"/>
                  <a:gd name="T22" fmla="*/ 272 w 534"/>
                  <a:gd name="T23" fmla="*/ 299 h 300"/>
                  <a:gd name="T24" fmla="*/ 329 w 534"/>
                  <a:gd name="T25" fmla="*/ 292 h 300"/>
                  <a:gd name="T26" fmla="*/ 382 w 534"/>
                  <a:gd name="T27" fmla="*/ 273 h 300"/>
                  <a:gd name="T28" fmla="*/ 428 w 534"/>
                  <a:gd name="T29" fmla="*/ 245 h 300"/>
                  <a:gd name="T30" fmla="*/ 468 w 534"/>
                  <a:gd name="T31" fmla="*/ 207 h 300"/>
                  <a:gd name="T32" fmla="*/ 499 w 534"/>
                  <a:gd name="T33" fmla="*/ 163 h 300"/>
                  <a:gd name="T34" fmla="*/ 521 w 534"/>
                  <a:gd name="T35" fmla="*/ 113 h 300"/>
                  <a:gd name="T36" fmla="*/ 532 w 534"/>
                  <a:gd name="T37" fmla="*/ 59 h 300"/>
                  <a:gd name="T38" fmla="*/ 533 w 534"/>
                  <a:gd name="T39" fmla="*/ 30 h 300"/>
                  <a:gd name="T40" fmla="*/ 533 w 534"/>
                  <a:gd name="T41" fmla="*/ 15 h 300"/>
                  <a:gd name="T42" fmla="*/ 531 w 534"/>
                  <a:gd name="T43" fmla="*/ 0 h 30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34"/>
                  <a:gd name="T67" fmla="*/ 0 h 300"/>
                  <a:gd name="T68" fmla="*/ 534 w 534"/>
                  <a:gd name="T69" fmla="*/ 300 h 30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34" h="300">
                    <a:moveTo>
                      <a:pt x="1" y="12"/>
                    </a:moveTo>
                    <a:lnTo>
                      <a:pt x="0" y="40"/>
                    </a:lnTo>
                    <a:lnTo>
                      <a:pt x="2" y="69"/>
                    </a:lnTo>
                    <a:lnTo>
                      <a:pt x="15" y="123"/>
                    </a:lnTo>
                    <a:lnTo>
                      <a:pt x="38" y="171"/>
                    </a:lnTo>
                    <a:lnTo>
                      <a:pt x="72" y="215"/>
                    </a:lnTo>
                    <a:lnTo>
                      <a:pt x="113" y="250"/>
                    </a:lnTo>
                    <a:lnTo>
                      <a:pt x="161" y="277"/>
                    </a:lnTo>
                    <a:lnTo>
                      <a:pt x="214" y="294"/>
                    </a:lnTo>
                    <a:lnTo>
                      <a:pt x="243" y="298"/>
                    </a:lnTo>
                    <a:lnTo>
                      <a:pt x="258" y="298"/>
                    </a:lnTo>
                    <a:lnTo>
                      <a:pt x="272" y="299"/>
                    </a:lnTo>
                    <a:lnTo>
                      <a:pt x="329" y="292"/>
                    </a:lnTo>
                    <a:lnTo>
                      <a:pt x="382" y="273"/>
                    </a:lnTo>
                    <a:lnTo>
                      <a:pt x="428" y="245"/>
                    </a:lnTo>
                    <a:lnTo>
                      <a:pt x="468" y="207"/>
                    </a:lnTo>
                    <a:lnTo>
                      <a:pt x="499" y="163"/>
                    </a:lnTo>
                    <a:lnTo>
                      <a:pt x="521" y="113"/>
                    </a:lnTo>
                    <a:lnTo>
                      <a:pt x="532" y="59"/>
                    </a:lnTo>
                    <a:lnTo>
                      <a:pt x="533" y="30"/>
                    </a:lnTo>
                    <a:lnTo>
                      <a:pt x="533" y="15"/>
                    </a:lnTo>
                    <a:lnTo>
                      <a:pt x="531" y="0"/>
                    </a:lnTo>
                  </a:path>
                </a:pathLst>
              </a:custGeom>
              <a:noFill/>
              <a:ln w="28575" cap="rnd">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900" b="1" i="0" u="none" strike="noStrike" kern="0" cap="none" spc="0" normalizeH="0" baseline="0" noProof="0">
                  <a:ln>
                    <a:noFill/>
                  </a:ln>
                  <a:solidFill>
                    <a:srgbClr val="FFFFFF"/>
                  </a:solidFill>
                  <a:effectLst/>
                  <a:uLnTx/>
                  <a:uFillTx/>
                  <a:latin typeface="Arial" panose="020B0604020202020204" pitchFamily="34" charset="0"/>
                  <a:ea typeface="MS PGothic" panose="020B0600070205080204" pitchFamily="34" charset="-128"/>
                </a:endParaRPr>
              </a:p>
            </p:txBody>
          </p:sp>
        </p:grpSp>
      </p:grpSp>
    </p:spTree>
    <p:extLst>
      <p:ext uri="{BB962C8B-B14F-4D97-AF65-F5344CB8AC3E}">
        <p14:creationId xmlns:p14="http://schemas.microsoft.com/office/powerpoint/2010/main" val="11484462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Value Stream Map and Process Map</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43</a:t>
            </a:fld>
            <a:endParaRPr lang="en-US" dirty="0"/>
          </a:p>
        </p:txBody>
      </p:sp>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grpSp>
        <p:nvGrpSpPr>
          <p:cNvPr id="20" name="Group 19">
            <a:extLst>
              <a:ext uri="{FF2B5EF4-FFF2-40B4-BE49-F238E27FC236}">
                <a16:creationId xmlns:a16="http://schemas.microsoft.com/office/drawing/2014/main" id="{788F0538-032F-2B23-BBC0-9EAAF230884D}"/>
              </a:ext>
            </a:extLst>
          </p:cNvPr>
          <p:cNvGrpSpPr/>
          <p:nvPr/>
        </p:nvGrpSpPr>
        <p:grpSpPr>
          <a:xfrm>
            <a:off x="1079500" y="1766948"/>
            <a:ext cx="10033000" cy="4486275"/>
            <a:chOff x="381000" y="1524000"/>
            <a:chExt cx="8342313" cy="4648200"/>
          </a:xfrm>
        </p:grpSpPr>
        <p:sp>
          <p:nvSpPr>
            <p:cNvPr id="2" name="AutoShape 2">
              <a:extLst>
                <a:ext uri="{FF2B5EF4-FFF2-40B4-BE49-F238E27FC236}">
                  <a16:creationId xmlns:a16="http://schemas.microsoft.com/office/drawing/2014/main" id="{9ED70CB9-8B65-2FB0-5ACF-B9A587757B4D}"/>
                </a:ext>
              </a:extLst>
            </p:cNvPr>
            <p:cNvSpPr>
              <a:spLocks noChangeArrowheads="1"/>
            </p:cNvSpPr>
            <p:nvPr/>
          </p:nvSpPr>
          <p:spPr bwMode="auto">
            <a:xfrm>
              <a:off x="381000" y="4508500"/>
              <a:ext cx="4432300" cy="1663700"/>
            </a:xfrm>
            <a:prstGeom prst="upArrow">
              <a:avLst>
                <a:gd name="adj1" fmla="val 83704"/>
                <a:gd name="adj2" fmla="val 30343"/>
              </a:avLst>
            </a:prstGeom>
            <a:solidFill>
              <a:srgbClr val="808080"/>
            </a:solidFill>
            <a:ln w="12700" cap="sq">
              <a:solidFill>
                <a:schemeClr val="tx1"/>
              </a:solidFill>
              <a:miter lim="800000"/>
              <a:headEnd/>
              <a:tailEnd/>
            </a:ln>
          </p:spPr>
          <p:txBody>
            <a:bodyPr wrap="none" anchor="ct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Char char="•"/>
              </a:pPr>
              <a:r>
                <a:rPr lang="en-US" altLang="en-US" sz="1200">
                  <a:solidFill>
                    <a:schemeClr val="bg1"/>
                  </a:solidFill>
                </a:rPr>
                <a:t>High-level snapshot of end-to-end business</a:t>
              </a:r>
              <a:br>
                <a:rPr lang="en-US" altLang="en-US" sz="1200">
                  <a:solidFill>
                    <a:schemeClr val="bg1"/>
                  </a:solidFill>
                </a:rPr>
              </a:br>
              <a:endParaRPr lang="en-US" altLang="en-US" sz="1200">
                <a:solidFill>
                  <a:schemeClr val="bg1"/>
                </a:solidFill>
              </a:endParaRPr>
            </a:p>
            <a:p>
              <a:pPr>
                <a:lnSpc>
                  <a:spcPct val="80000"/>
                </a:lnSpc>
                <a:spcBef>
                  <a:spcPct val="20000"/>
                </a:spcBef>
                <a:spcAft>
                  <a:spcPct val="0"/>
                </a:spcAft>
                <a:buClrTx/>
                <a:buSzTx/>
                <a:buFontTx/>
                <a:buChar char="•"/>
              </a:pPr>
              <a:r>
                <a:rPr lang="en-US" altLang="en-US" sz="1200">
                  <a:solidFill>
                    <a:schemeClr val="bg1"/>
                  </a:solidFill>
                </a:rPr>
                <a:t>Used to identify where opportunities for </a:t>
              </a:r>
              <a:br>
                <a:rPr lang="en-US" altLang="en-US" sz="1200">
                  <a:solidFill>
                    <a:schemeClr val="bg1"/>
                  </a:solidFill>
                </a:rPr>
              </a:br>
              <a:r>
                <a:rPr lang="en-US" altLang="en-US" sz="1200">
                  <a:solidFill>
                    <a:schemeClr val="bg1"/>
                  </a:solidFill>
                </a:rPr>
                <a:t>improvement exist</a:t>
              </a:r>
              <a:br>
                <a:rPr lang="en-US" altLang="en-US" sz="1200">
                  <a:solidFill>
                    <a:schemeClr val="bg1"/>
                  </a:solidFill>
                </a:rPr>
              </a:br>
              <a:endParaRPr lang="en-US" altLang="en-US" sz="1200">
                <a:solidFill>
                  <a:schemeClr val="bg1"/>
                </a:solidFill>
              </a:endParaRPr>
            </a:p>
            <a:p>
              <a:pPr>
                <a:lnSpc>
                  <a:spcPct val="80000"/>
                </a:lnSpc>
                <a:spcBef>
                  <a:spcPct val="20000"/>
                </a:spcBef>
                <a:spcAft>
                  <a:spcPct val="0"/>
                </a:spcAft>
                <a:buClrTx/>
                <a:buSzTx/>
                <a:buFontTx/>
                <a:buChar char="•"/>
              </a:pPr>
              <a:r>
                <a:rPr lang="en-US" altLang="en-US" sz="1200">
                  <a:solidFill>
                    <a:schemeClr val="bg1"/>
                  </a:solidFill>
                </a:rPr>
                <a:t>Does not incorporate decision loops</a:t>
              </a:r>
            </a:p>
          </p:txBody>
        </p:sp>
        <p:pic>
          <p:nvPicPr>
            <p:cNvPr id="3" name="Group 3">
              <a:extLst>
                <a:ext uri="{FF2B5EF4-FFF2-40B4-BE49-F238E27FC236}">
                  <a16:creationId xmlns:a16="http://schemas.microsoft.com/office/drawing/2014/main" id="{C1ACC764-DFBA-76C4-3FCF-09558A745A3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1524000"/>
              <a:ext cx="4327525" cy="293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64">
              <a:extLst>
                <a:ext uri="{FF2B5EF4-FFF2-40B4-BE49-F238E27FC236}">
                  <a16:creationId xmlns:a16="http://schemas.microsoft.com/office/drawing/2014/main" id="{C43FB057-557D-6068-0B91-92DE6B08C18F}"/>
                </a:ext>
              </a:extLst>
            </p:cNvPr>
            <p:cNvSpPr txBox="1">
              <a:spLocks noChangeArrowheads="1"/>
            </p:cNvSpPr>
            <p:nvPr/>
          </p:nvSpPr>
          <p:spPr bwMode="auto">
            <a:xfrm>
              <a:off x="1644650" y="1638300"/>
              <a:ext cx="176688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a:t>VALUE STREAM MAP</a:t>
              </a:r>
            </a:p>
          </p:txBody>
        </p:sp>
        <p:pic>
          <p:nvPicPr>
            <p:cNvPr id="6" name="Picture 66" descr="image001">
              <a:extLst>
                <a:ext uri="{FF2B5EF4-FFF2-40B4-BE49-F238E27FC236}">
                  <a16:creationId xmlns:a16="http://schemas.microsoft.com/office/drawing/2014/main" id="{29564526-F8D5-E00C-C734-2DF08A0D1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6588" y="3127375"/>
              <a:ext cx="4257675" cy="289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67">
              <a:extLst>
                <a:ext uri="{FF2B5EF4-FFF2-40B4-BE49-F238E27FC236}">
                  <a16:creationId xmlns:a16="http://schemas.microsoft.com/office/drawing/2014/main" id="{D8EC7A39-36C0-3D41-C597-8D26C3D81046}"/>
                </a:ext>
              </a:extLst>
            </p:cNvPr>
            <p:cNvGrpSpPr>
              <a:grpSpLocks/>
            </p:cNvGrpSpPr>
            <p:nvPr/>
          </p:nvGrpSpPr>
          <p:grpSpPr bwMode="auto">
            <a:xfrm>
              <a:off x="2846388" y="2836863"/>
              <a:ext cx="1066800" cy="2498725"/>
              <a:chOff x="1968" y="1728"/>
              <a:chExt cx="672" cy="1584"/>
            </a:xfrm>
          </p:grpSpPr>
          <p:sp>
            <p:nvSpPr>
              <p:cNvPr id="12" name="Rectangle 68">
                <a:extLst>
                  <a:ext uri="{FF2B5EF4-FFF2-40B4-BE49-F238E27FC236}">
                    <a16:creationId xmlns:a16="http://schemas.microsoft.com/office/drawing/2014/main" id="{393F64E6-F9A6-1B46-400B-88616D25E761}"/>
                  </a:ext>
                </a:extLst>
              </p:cNvPr>
              <p:cNvSpPr>
                <a:spLocks noChangeArrowheads="1"/>
              </p:cNvSpPr>
              <p:nvPr/>
            </p:nvSpPr>
            <p:spPr bwMode="auto">
              <a:xfrm>
                <a:off x="1968" y="1728"/>
                <a:ext cx="672" cy="864"/>
              </a:xfrm>
              <a:prstGeom prst="rect">
                <a:avLst/>
              </a:prstGeom>
              <a:noFill/>
              <a:ln w="762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17" name="Line 69">
                <a:extLst>
                  <a:ext uri="{FF2B5EF4-FFF2-40B4-BE49-F238E27FC236}">
                    <a16:creationId xmlns:a16="http://schemas.microsoft.com/office/drawing/2014/main" id="{A6DFE951-6EF4-BAAB-91F4-FED1AC43B994}"/>
                  </a:ext>
                </a:extLst>
              </p:cNvPr>
              <p:cNvSpPr>
                <a:spLocks noChangeShapeType="1"/>
              </p:cNvSpPr>
              <p:nvPr/>
            </p:nvSpPr>
            <p:spPr bwMode="auto">
              <a:xfrm>
                <a:off x="2304" y="2592"/>
                <a:ext cx="0" cy="720"/>
              </a:xfrm>
              <a:prstGeom prst="line">
                <a:avLst/>
              </a:prstGeom>
              <a:noFill/>
              <a:ln w="762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sp>
          <p:nvSpPr>
            <p:cNvPr id="18" name="Line 70">
              <a:extLst>
                <a:ext uri="{FF2B5EF4-FFF2-40B4-BE49-F238E27FC236}">
                  <a16:creationId xmlns:a16="http://schemas.microsoft.com/office/drawing/2014/main" id="{4E33A5EF-2797-B908-90E8-2E5813A42F20}"/>
                </a:ext>
              </a:extLst>
            </p:cNvPr>
            <p:cNvSpPr>
              <a:spLocks noChangeShapeType="1"/>
            </p:cNvSpPr>
            <p:nvPr/>
          </p:nvSpPr>
          <p:spPr bwMode="auto">
            <a:xfrm>
              <a:off x="3379788" y="5334000"/>
              <a:ext cx="1512887" cy="0"/>
            </a:xfrm>
            <a:prstGeom prst="line">
              <a:avLst/>
            </a:prstGeom>
            <a:noFill/>
            <a:ln w="762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en-US"/>
            </a:p>
          </p:txBody>
        </p:sp>
        <p:sp>
          <p:nvSpPr>
            <p:cNvPr id="19" name="AutoShape 71">
              <a:extLst>
                <a:ext uri="{FF2B5EF4-FFF2-40B4-BE49-F238E27FC236}">
                  <a16:creationId xmlns:a16="http://schemas.microsoft.com/office/drawing/2014/main" id="{238DBBE0-203F-6321-6E05-C4BBB324505B}"/>
                </a:ext>
              </a:extLst>
            </p:cNvPr>
            <p:cNvSpPr>
              <a:spLocks noChangeArrowheads="1"/>
            </p:cNvSpPr>
            <p:nvPr/>
          </p:nvSpPr>
          <p:spPr bwMode="auto">
            <a:xfrm rot="16200000">
              <a:off x="5900738" y="282575"/>
              <a:ext cx="1568450" cy="4076700"/>
            </a:xfrm>
            <a:prstGeom prst="leftArrow">
              <a:avLst>
                <a:gd name="adj1" fmla="val 78509"/>
                <a:gd name="adj2" fmla="val 30565"/>
              </a:avLst>
            </a:prstGeom>
            <a:solidFill>
              <a:srgbClr val="808080"/>
            </a:solidFill>
            <a:ln w="12700" cap="sq">
              <a:solidFill>
                <a:schemeClr val="tx1"/>
              </a:solidFill>
              <a:miter lim="800000"/>
              <a:headEnd/>
              <a:tailEnd/>
            </a:ln>
          </p:spPr>
          <p:txBody>
            <a:bodyPr vert="eaVert" wrap="none" anchor="ctr"/>
            <a:lstStyle>
              <a:lvl1pPr marL="228600" indent="-228600">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80000"/>
                </a:lnSpc>
                <a:spcBef>
                  <a:spcPct val="20000"/>
                </a:spcBef>
                <a:spcAft>
                  <a:spcPct val="0"/>
                </a:spcAft>
                <a:buClrTx/>
                <a:buSzTx/>
                <a:buFontTx/>
                <a:buChar char="•"/>
              </a:pPr>
              <a:r>
                <a:rPr lang="en-US" altLang="en-US" sz="1200" dirty="0">
                  <a:solidFill>
                    <a:schemeClr val="bg1"/>
                  </a:solidFill>
                </a:rPr>
                <a:t>Detailed graphical depiction of a </a:t>
              </a:r>
              <a:br>
                <a:rPr lang="en-US" altLang="en-US" sz="1200" dirty="0">
                  <a:solidFill>
                    <a:schemeClr val="bg1"/>
                  </a:solidFill>
                </a:rPr>
              </a:br>
              <a:r>
                <a:rPr lang="en-US" altLang="en-US" sz="1200" dirty="0">
                  <a:solidFill>
                    <a:schemeClr val="bg1"/>
                  </a:solidFill>
                </a:rPr>
                <a:t>manufacturing or business process</a:t>
              </a:r>
              <a:br>
                <a:rPr lang="en-US" altLang="en-US" sz="1200" dirty="0">
                  <a:solidFill>
                    <a:schemeClr val="bg1"/>
                  </a:solidFill>
                </a:rPr>
              </a:br>
              <a:endParaRPr lang="en-US" altLang="en-US" sz="1200" dirty="0">
                <a:solidFill>
                  <a:schemeClr val="bg1"/>
                </a:solidFill>
              </a:endParaRPr>
            </a:p>
            <a:p>
              <a:pPr>
                <a:lnSpc>
                  <a:spcPct val="80000"/>
                </a:lnSpc>
                <a:spcBef>
                  <a:spcPct val="20000"/>
                </a:spcBef>
                <a:spcAft>
                  <a:spcPct val="0"/>
                </a:spcAft>
                <a:buClrTx/>
                <a:buSzTx/>
                <a:buFontTx/>
                <a:buChar char="•"/>
              </a:pPr>
              <a:r>
                <a:rPr lang="en-US" altLang="en-US" sz="1200" dirty="0">
                  <a:solidFill>
                    <a:schemeClr val="bg1"/>
                  </a:solidFill>
                </a:rPr>
                <a:t>Used to identify specific improvements</a:t>
              </a:r>
              <a:br>
                <a:rPr lang="en-US" altLang="en-US" sz="1200" dirty="0">
                  <a:solidFill>
                    <a:schemeClr val="bg1"/>
                  </a:solidFill>
                </a:rPr>
              </a:br>
              <a:endParaRPr lang="en-US" altLang="en-US" sz="1200" dirty="0">
                <a:solidFill>
                  <a:schemeClr val="bg1"/>
                </a:solidFill>
              </a:endParaRPr>
            </a:p>
            <a:p>
              <a:pPr>
                <a:lnSpc>
                  <a:spcPct val="80000"/>
                </a:lnSpc>
                <a:spcBef>
                  <a:spcPct val="20000"/>
                </a:spcBef>
                <a:spcAft>
                  <a:spcPct val="0"/>
                </a:spcAft>
                <a:buClrTx/>
                <a:buSzTx/>
                <a:buFontTx/>
                <a:buChar char="•"/>
              </a:pPr>
              <a:r>
                <a:rPr lang="en-US" altLang="en-US" sz="1200" dirty="0">
                  <a:solidFill>
                    <a:schemeClr val="bg1"/>
                  </a:solidFill>
                </a:rPr>
                <a:t>Incorporates decision loops within the </a:t>
              </a:r>
              <a:br>
                <a:rPr lang="en-US" altLang="en-US" sz="1200" dirty="0">
                  <a:solidFill>
                    <a:schemeClr val="bg1"/>
                  </a:solidFill>
                </a:rPr>
              </a:br>
              <a:r>
                <a:rPr lang="en-US" altLang="en-US" sz="1200" dirty="0">
                  <a:solidFill>
                    <a:schemeClr val="bg1"/>
                  </a:solidFill>
                </a:rPr>
                <a:t>process </a:t>
              </a:r>
            </a:p>
          </p:txBody>
        </p:sp>
      </p:grpSp>
    </p:spTree>
    <p:extLst>
      <p:ext uri="{BB962C8B-B14F-4D97-AF65-F5344CB8AC3E}">
        <p14:creationId xmlns:p14="http://schemas.microsoft.com/office/powerpoint/2010/main" val="2479350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Example Process Mapping Symbols</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44</a:t>
            </a:fld>
            <a:endParaRPr lang="en-US" dirty="0"/>
          </a:p>
        </p:txBody>
      </p:sp>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grpSp>
        <p:nvGrpSpPr>
          <p:cNvPr id="42" name="Group 41">
            <a:extLst>
              <a:ext uri="{FF2B5EF4-FFF2-40B4-BE49-F238E27FC236}">
                <a16:creationId xmlns:a16="http://schemas.microsoft.com/office/drawing/2014/main" id="{F57BB03A-FFDC-E5E8-C1F4-CCD7198499F7}"/>
              </a:ext>
            </a:extLst>
          </p:cNvPr>
          <p:cNvGrpSpPr/>
          <p:nvPr/>
        </p:nvGrpSpPr>
        <p:grpSpPr>
          <a:xfrm>
            <a:off x="2018506" y="1788495"/>
            <a:ext cx="8199972" cy="4558606"/>
            <a:chOff x="457200" y="1542604"/>
            <a:chExt cx="8199972" cy="4558606"/>
          </a:xfrm>
        </p:grpSpPr>
        <p:sp>
          <p:nvSpPr>
            <p:cNvPr id="22" name="AutoShape 49">
              <a:extLst>
                <a:ext uri="{FF2B5EF4-FFF2-40B4-BE49-F238E27FC236}">
                  <a16:creationId xmlns:a16="http://schemas.microsoft.com/office/drawing/2014/main" id="{6135FE14-14B4-001E-C10A-914A22AECC77}"/>
                </a:ext>
              </a:extLst>
            </p:cNvPr>
            <p:cNvSpPr>
              <a:spLocks noChangeArrowheads="1"/>
            </p:cNvSpPr>
            <p:nvPr/>
          </p:nvSpPr>
          <p:spPr bwMode="auto">
            <a:xfrm>
              <a:off x="4605338" y="1762125"/>
              <a:ext cx="976312" cy="485775"/>
            </a:xfrm>
            <a:prstGeom prst="rightArrow">
              <a:avLst>
                <a:gd name="adj1" fmla="val 50000"/>
                <a:gd name="adj2" fmla="val 50245"/>
              </a:avLst>
            </a:prstGeom>
            <a:solidFill>
              <a:srgbClr val="FFFFFF"/>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24" name="Group 50">
              <a:extLst>
                <a:ext uri="{FF2B5EF4-FFF2-40B4-BE49-F238E27FC236}">
                  <a16:creationId xmlns:a16="http://schemas.microsoft.com/office/drawing/2014/main" id="{07E84179-4690-C1F3-326C-53BC3EF73002}"/>
                </a:ext>
              </a:extLst>
            </p:cNvPr>
            <p:cNvGrpSpPr>
              <a:grpSpLocks/>
            </p:cNvGrpSpPr>
            <p:nvPr/>
          </p:nvGrpSpPr>
          <p:grpSpPr bwMode="auto">
            <a:xfrm>
              <a:off x="608013" y="1604963"/>
              <a:ext cx="3336925" cy="914400"/>
              <a:chOff x="383" y="1056"/>
              <a:chExt cx="2102" cy="576"/>
            </a:xfrm>
          </p:grpSpPr>
          <p:sp>
            <p:nvSpPr>
              <p:cNvPr id="25" name="Oval 51">
                <a:extLst>
                  <a:ext uri="{FF2B5EF4-FFF2-40B4-BE49-F238E27FC236}">
                    <a16:creationId xmlns:a16="http://schemas.microsoft.com/office/drawing/2014/main" id="{C35C30D1-5765-1708-C45C-38C36390D492}"/>
                  </a:ext>
                </a:extLst>
              </p:cNvPr>
              <p:cNvSpPr>
                <a:spLocks noChangeArrowheads="1"/>
              </p:cNvSpPr>
              <p:nvPr/>
            </p:nvSpPr>
            <p:spPr bwMode="auto">
              <a:xfrm>
                <a:off x="383" y="1056"/>
                <a:ext cx="576" cy="576"/>
              </a:xfrm>
              <a:prstGeom prst="ellipse">
                <a:avLst/>
              </a:prstGeom>
              <a:solidFill>
                <a:srgbClr val="FFFFFF"/>
              </a:solidFill>
              <a:ln w="1905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6" name="Text Box 52">
                <a:extLst>
                  <a:ext uri="{FF2B5EF4-FFF2-40B4-BE49-F238E27FC236}">
                    <a16:creationId xmlns:a16="http://schemas.microsoft.com/office/drawing/2014/main" id="{C626A8F3-4F5C-1CD1-AAA3-8C3AC2FC956F}"/>
                  </a:ext>
                </a:extLst>
              </p:cNvPr>
              <p:cNvSpPr txBox="1">
                <a:spLocks noChangeArrowheads="1"/>
              </p:cNvSpPr>
              <p:nvPr/>
            </p:nvSpPr>
            <p:spPr bwMode="auto">
              <a:xfrm>
                <a:off x="1152" y="1074"/>
                <a:ext cx="1333"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Operation</a:t>
                </a:r>
              </a:p>
              <a:p>
                <a:pPr>
                  <a:lnSpc>
                    <a:spcPct val="100000"/>
                  </a:lnSpc>
                  <a:spcBef>
                    <a:spcPct val="0"/>
                  </a:spcBef>
                  <a:spcAft>
                    <a:spcPct val="0"/>
                  </a:spcAft>
                  <a:buClrTx/>
                  <a:buSzTx/>
                  <a:buFontTx/>
                  <a:buNone/>
                </a:pPr>
                <a:r>
                  <a:rPr lang="en-US" altLang="en-US" sz="1600" b="0" dirty="0">
                    <a:latin typeface="Roboto" panose="02000000000000000000" pitchFamily="2" charset="0"/>
                    <a:ea typeface="Roboto" panose="02000000000000000000" pitchFamily="2" charset="0"/>
                  </a:rPr>
                  <a:t>A Step in the process</a:t>
                </a:r>
              </a:p>
              <a:p>
                <a:pPr>
                  <a:lnSpc>
                    <a:spcPct val="100000"/>
                  </a:lnSpc>
                  <a:spcBef>
                    <a:spcPct val="0"/>
                  </a:spcBef>
                  <a:spcAft>
                    <a:spcPct val="0"/>
                  </a:spcAft>
                  <a:buClrTx/>
                  <a:buSzTx/>
                  <a:buFontTx/>
                  <a:buNone/>
                </a:pPr>
                <a:r>
                  <a:rPr lang="en-US" altLang="en-US" sz="1600" b="0" dirty="0">
                    <a:latin typeface="Roboto" panose="02000000000000000000" pitchFamily="2" charset="0"/>
                    <a:ea typeface="Roboto" panose="02000000000000000000" pitchFamily="2" charset="0"/>
                  </a:rPr>
                  <a:t> that adds value.</a:t>
                </a:r>
              </a:p>
            </p:txBody>
          </p:sp>
        </p:grpSp>
        <p:grpSp>
          <p:nvGrpSpPr>
            <p:cNvPr id="27" name="Group 53">
              <a:extLst>
                <a:ext uri="{FF2B5EF4-FFF2-40B4-BE49-F238E27FC236}">
                  <a16:creationId xmlns:a16="http://schemas.microsoft.com/office/drawing/2014/main" id="{15A1605C-CCB0-291C-E1CD-D1438F5BCD4A}"/>
                </a:ext>
              </a:extLst>
            </p:cNvPr>
            <p:cNvGrpSpPr>
              <a:grpSpLocks/>
            </p:cNvGrpSpPr>
            <p:nvPr/>
          </p:nvGrpSpPr>
          <p:grpSpPr bwMode="auto">
            <a:xfrm>
              <a:off x="608013" y="2884488"/>
              <a:ext cx="3675062" cy="1069975"/>
              <a:chOff x="383" y="2120"/>
              <a:chExt cx="2315" cy="674"/>
            </a:xfrm>
          </p:grpSpPr>
          <p:sp>
            <p:nvSpPr>
              <p:cNvPr id="28" name="Rectangle 54">
                <a:extLst>
                  <a:ext uri="{FF2B5EF4-FFF2-40B4-BE49-F238E27FC236}">
                    <a16:creationId xmlns:a16="http://schemas.microsoft.com/office/drawing/2014/main" id="{9CE63ECE-AD29-547E-FAF5-2D4666F58334}"/>
                  </a:ext>
                </a:extLst>
              </p:cNvPr>
              <p:cNvSpPr>
                <a:spLocks noChangeArrowheads="1"/>
              </p:cNvSpPr>
              <p:nvPr/>
            </p:nvSpPr>
            <p:spPr bwMode="auto">
              <a:xfrm>
                <a:off x="383" y="2160"/>
                <a:ext cx="576" cy="576"/>
              </a:xfrm>
              <a:prstGeom prst="rect">
                <a:avLst/>
              </a:prstGeom>
              <a:solidFill>
                <a:srgbClr val="FFFFFF"/>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 name="Text Box 55">
                <a:extLst>
                  <a:ext uri="{FF2B5EF4-FFF2-40B4-BE49-F238E27FC236}">
                    <a16:creationId xmlns:a16="http://schemas.microsoft.com/office/drawing/2014/main" id="{D3705D82-13A5-6212-E913-B9990EA9E372}"/>
                  </a:ext>
                </a:extLst>
              </p:cNvPr>
              <p:cNvSpPr txBox="1">
                <a:spLocks noChangeArrowheads="1"/>
              </p:cNvSpPr>
              <p:nvPr/>
            </p:nvSpPr>
            <p:spPr bwMode="auto">
              <a:xfrm>
                <a:off x="1152" y="2120"/>
                <a:ext cx="1546"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Measurement</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To inspect, verify, count,</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examine, gage for quality</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or quantity.</a:t>
                </a:r>
              </a:p>
            </p:txBody>
          </p:sp>
        </p:grpSp>
        <p:sp>
          <p:nvSpPr>
            <p:cNvPr id="30" name="Text Box 56">
              <a:extLst>
                <a:ext uri="{FF2B5EF4-FFF2-40B4-BE49-F238E27FC236}">
                  <a16:creationId xmlns:a16="http://schemas.microsoft.com/office/drawing/2014/main" id="{9937B9B3-CA19-D124-FC04-55DC3826228C}"/>
                </a:ext>
              </a:extLst>
            </p:cNvPr>
            <p:cNvSpPr txBox="1">
              <a:spLocks noChangeArrowheads="1"/>
            </p:cNvSpPr>
            <p:nvPr/>
          </p:nvSpPr>
          <p:spPr bwMode="auto">
            <a:xfrm>
              <a:off x="5680075" y="1542604"/>
              <a:ext cx="263886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Transportation</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To move from one place to</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another. (Not part of an </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operation or inspection.</a:t>
              </a:r>
            </a:p>
          </p:txBody>
        </p:sp>
        <p:grpSp>
          <p:nvGrpSpPr>
            <p:cNvPr id="31" name="Group 57">
              <a:extLst>
                <a:ext uri="{FF2B5EF4-FFF2-40B4-BE49-F238E27FC236}">
                  <a16:creationId xmlns:a16="http://schemas.microsoft.com/office/drawing/2014/main" id="{DB39F59B-6F31-1C34-0FE9-251AA7370E07}"/>
                </a:ext>
              </a:extLst>
            </p:cNvPr>
            <p:cNvGrpSpPr>
              <a:grpSpLocks/>
            </p:cNvGrpSpPr>
            <p:nvPr/>
          </p:nvGrpSpPr>
          <p:grpSpPr bwMode="auto">
            <a:xfrm>
              <a:off x="4605338" y="2895600"/>
              <a:ext cx="976312" cy="485775"/>
              <a:chOff x="4416" y="1488"/>
              <a:chExt cx="615" cy="306"/>
            </a:xfrm>
          </p:grpSpPr>
          <p:sp>
            <p:nvSpPr>
              <p:cNvPr id="32" name="AutoShape 58">
                <a:extLst>
                  <a:ext uri="{FF2B5EF4-FFF2-40B4-BE49-F238E27FC236}">
                    <a16:creationId xmlns:a16="http://schemas.microsoft.com/office/drawing/2014/main" id="{731296EA-96C0-37D0-92AF-5D692B2325C4}"/>
                  </a:ext>
                </a:extLst>
              </p:cNvPr>
              <p:cNvSpPr>
                <a:spLocks noChangeArrowheads="1"/>
              </p:cNvSpPr>
              <p:nvPr/>
            </p:nvSpPr>
            <p:spPr bwMode="auto">
              <a:xfrm>
                <a:off x="4416" y="1488"/>
                <a:ext cx="615" cy="306"/>
              </a:xfrm>
              <a:prstGeom prst="rightArrow">
                <a:avLst>
                  <a:gd name="adj1" fmla="val 50000"/>
                  <a:gd name="adj2" fmla="val 50245"/>
                </a:avLst>
              </a:prstGeom>
              <a:solidFill>
                <a:srgbClr val="FFFFFF"/>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3" name="Freeform 59">
                <a:extLst>
                  <a:ext uri="{FF2B5EF4-FFF2-40B4-BE49-F238E27FC236}">
                    <a16:creationId xmlns:a16="http://schemas.microsoft.com/office/drawing/2014/main" id="{8D79B281-2AB3-1D3E-DCDC-619CFF8A60D9}"/>
                  </a:ext>
                </a:extLst>
              </p:cNvPr>
              <p:cNvSpPr>
                <a:spLocks/>
              </p:cNvSpPr>
              <p:nvPr/>
            </p:nvSpPr>
            <p:spPr bwMode="auto">
              <a:xfrm>
                <a:off x="4542" y="1566"/>
                <a:ext cx="70" cy="155"/>
              </a:xfrm>
              <a:custGeom>
                <a:avLst/>
                <a:gdLst>
                  <a:gd name="T0" fmla="*/ 48 w 70"/>
                  <a:gd name="T1" fmla="*/ 0 h 155"/>
                  <a:gd name="T2" fmla="*/ 42 w 70"/>
                  <a:gd name="T3" fmla="*/ 42 h 155"/>
                  <a:gd name="T4" fmla="*/ 0 w 70"/>
                  <a:gd name="T5" fmla="*/ 78 h 155"/>
                  <a:gd name="T6" fmla="*/ 48 w 70"/>
                  <a:gd name="T7" fmla="*/ 84 h 155"/>
                  <a:gd name="T8" fmla="*/ 24 w 70"/>
                  <a:gd name="T9" fmla="*/ 108 h 155"/>
                  <a:gd name="T10" fmla="*/ 48 w 70"/>
                  <a:gd name="T11" fmla="*/ 132 h 155"/>
                  <a:gd name="T12" fmla="*/ 30 w 70"/>
                  <a:gd name="T13" fmla="*/ 144 h 155"/>
                  <a:gd name="T14" fmla="*/ 0 60000 65536"/>
                  <a:gd name="T15" fmla="*/ 0 60000 65536"/>
                  <a:gd name="T16" fmla="*/ 0 60000 65536"/>
                  <a:gd name="T17" fmla="*/ 0 60000 65536"/>
                  <a:gd name="T18" fmla="*/ 0 60000 65536"/>
                  <a:gd name="T19" fmla="*/ 0 60000 65536"/>
                  <a:gd name="T20" fmla="*/ 0 60000 65536"/>
                  <a:gd name="T21" fmla="*/ 0 w 70"/>
                  <a:gd name="T22" fmla="*/ 0 h 155"/>
                  <a:gd name="T23" fmla="*/ 70 w 70"/>
                  <a:gd name="T24" fmla="*/ 155 h 1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0" h="155">
                    <a:moveTo>
                      <a:pt x="48" y="0"/>
                    </a:moveTo>
                    <a:cubicBezTo>
                      <a:pt x="36" y="35"/>
                      <a:pt x="7" y="19"/>
                      <a:pt x="42" y="42"/>
                    </a:cubicBezTo>
                    <a:cubicBezTo>
                      <a:pt x="20" y="57"/>
                      <a:pt x="25" y="70"/>
                      <a:pt x="0" y="78"/>
                    </a:cubicBezTo>
                    <a:cubicBezTo>
                      <a:pt x="16" y="80"/>
                      <a:pt x="34" y="76"/>
                      <a:pt x="48" y="84"/>
                    </a:cubicBezTo>
                    <a:cubicBezTo>
                      <a:pt x="70" y="96"/>
                      <a:pt x="32" y="105"/>
                      <a:pt x="24" y="108"/>
                    </a:cubicBezTo>
                    <a:cubicBezTo>
                      <a:pt x="8" y="155"/>
                      <a:pt x="22" y="93"/>
                      <a:pt x="48" y="132"/>
                    </a:cubicBezTo>
                    <a:cubicBezTo>
                      <a:pt x="52" y="138"/>
                      <a:pt x="30" y="144"/>
                      <a:pt x="30" y="144"/>
                    </a:cubicBez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34" name="Text Box 60">
              <a:extLst>
                <a:ext uri="{FF2B5EF4-FFF2-40B4-BE49-F238E27FC236}">
                  <a16:creationId xmlns:a16="http://schemas.microsoft.com/office/drawing/2014/main" id="{0479DFE2-62E6-4852-1783-30725BF289DF}"/>
                </a:ext>
              </a:extLst>
            </p:cNvPr>
            <p:cNvSpPr txBox="1">
              <a:spLocks noChangeArrowheads="1"/>
            </p:cNvSpPr>
            <p:nvPr/>
          </p:nvSpPr>
          <p:spPr bwMode="auto">
            <a:xfrm>
              <a:off x="5680075" y="2770615"/>
              <a:ext cx="229421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Transmission</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To send information by</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electronic means.</a:t>
              </a:r>
            </a:p>
          </p:txBody>
        </p:sp>
        <p:sp>
          <p:nvSpPr>
            <p:cNvPr id="35" name="AutoShape 61">
              <a:extLst>
                <a:ext uri="{FF2B5EF4-FFF2-40B4-BE49-F238E27FC236}">
                  <a16:creationId xmlns:a16="http://schemas.microsoft.com/office/drawing/2014/main" id="{88DAFA10-BC99-B066-058E-0BB48A1AD2F1}"/>
                </a:ext>
              </a:extLst>
            </p:cNvPr>
            <p:cNvSpPr>
              <a:spLocks noChangeArrowheads="1"/>
            </p:cNvSpPr>
            <p:nvPr/>
          </p:nvSpPr>
          <p:spPr bwMode="auto">
            <a:xfrm>
              <a:off x="4751388" y="4130675"/>
              <a:ext cx="685800" cy="685800"/>
            </a:xfrm>
            <a:prstGeom prst="flowChartMerge">
              <a:avLst/>
            </a:prstGeom>
            <a:solidFill>
              <a:srgbClr val="FFFFFF"/>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6" name="Text Box 62">
              <a:extLst>
                <a:ext uri="{FF2B5EF4-FFF2-40B4-BE49-F238E27FC236}">
                  <a16:creationId xmlns:a16="http://schemas.microsoft.com/office/drawing/2014/main" id="{190F3329-7978-8E1C-ED6F-43EC790017D2}"/>
                </a:ext>
              </a:extLst>
            </p:cNvPr>
            <p:cNvSpPr txBox="1">
              <a:spLocks noChangeArrowheads="1"/>
            </p:cNvSpPr>
            <p:nvPr/>
          </p:nvSpPr>
          <p:spPr bwMode="auto">
            <a:xfrm>
              <a:off x="5680075" y="3946525"/>
              <a:ext cx="21066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Storage</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To hold for later use. </a:t>
              </a:r>
              <a:br>
                <a:rPr lang="en-US" altLang="en-US" sz="1600" b="0">
                  <a:latin typeface="Roboto" panose="02000000000000000000" pitchFamily="2" charset="0"/>
                  <a:ea typeface="Roboto" panose="02000000000000000000" pitchFamily="2" charset="0"/>
                </a:rPr>
              </a:br>
              <a:r>
                <a:rPr lang="en-US" altLang="en-US" sz="1600" b="0">
                  <a:latin typeface="Roboto" panose="02000000000000000000" pitchFamily="2" charset="0"/>
                  <a:ea typeface="Roboto" panose="02000000000000000000" pitchFamily="2" charset="0"/>
                </a:rPr>
                <a:t>(I.e., in a queue).</a:t>
              </a:r>
            </a:p>
          </p:txBody>
        </p:sp>
        <p:sp>
          <p:nvSpPr>
            <p:cNvPr id="37" name="AutoShape 63">
              <a:extLst>
                <a:ext uri="{FF2B5EF4-FFF2-40B4-BE49-F238E27FC236}">
                  <a16:creationId xmlns:a16="http://schemas.microsoft.com/office/drawing/2014/main" id="{8E52F88E-5D37-5218-868E-C8B9D625147C}"/>
                </a:ext>
              </a:extLst>
            </p:cNvPr>
            <p:cNvSpPr>
              <a:spLocks noChangeArrowheads="1"/>
            </p:cNvSpPr>
            <p:nvPr/>
          </p:nvSpPr>
          <p:spPr bwMode="auto">
            <a:xfrm>
              <a:off x="4789488" y="5273675"/>
              <a:ext cx="609600" cy="609600"/>
            </a:xfrm>
            <a:prstGeom prst="flowChartDelay">
              <a:avLst/>
            </a:prstGeom>
            <a:solidFill>
              <a:srgbClr val="FFFFFF"/>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38" name="Group 64">
              <a:extLst>
                <a:ext uri="{FF2B5EF4-FFF2-40B4-BE49-F238E27FC236}">
                  <a16:creationId xmlns:a16="http://schemas.microsoft.com/office/drawing/2014/main" id="{A916D4E2-9F36-DD19-52E0-66065439AC34}"/>
                </a:ext>
              </a:extLst>
            </p:cNvPr>
            <p:cNvGrpSpPr>
              <a:grpSpLocks/>
            </p:cNvGrpSpPr>
            <p:nvPr/>
          </p:nvGrpSpPr>
          <p:grpSpPr bwMode="auto">
            <a:xfrm>
              <a:off x="457200" y="4098925"/>
              <a:ext cx="4114800" cy="1308100"/>
              <a:chOff x="288" y="3176"/>
              <a:chExt cx="2592" cy="824"/>
            </a:xfrm>
          </p:grpSpPr>
          <p:sp>
            <p:nvSpPr>
              <p:cNvPr id="39" name="AutoShape 65">
                <a:extLst>
                  <a:ext uri="{FF2B5EF4-FFF2-40B4-BE49-F238E27FC236}">
                    <a16:creationId xmlns:a16="http://schemas.microsoft.com/office/drawing/2014/main" id="{279866CD-66D3-6BE3-420D-379F25D366F1}"/>
                  </a:ext>
                </a:extLst>
              </p:cNvPr>
              <p:cNvSpPr>
                <a:spLocks noChangeArrowheads="1"/>
              </p:cNvSpPr>
              <p:nvPr/>
            </p:nvSpPr>
            <p:spPr bwMode="auto">
              <a:xfrm>
                <a:off x="288" y="3235"/>
                <a:ext cx="765" cy="765"/>
              </a:xfrm>
              <a:prstGeom prst="diamond">
                <a:avLst/>
              </a:prstGeom>
              <a:solidFill>
                <a:srgbClr val="FFFFFF"/>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40" name="Text Box 66">
                <a:extLst>
                  <a:ext uri="{FF2B5EF4-FFF2-40B4-BE49-F238E27FC236}">
                    <a16:creationId xmlns:a16="http://schemas.microsoft.com/office/drawing/2014/main" id="{B2592335-150D-1BF2-B0C9-C17CBE156EBB}"/>
                  </a:ext>
                </a:extLst>
              </p:cNvPr>
              <p:cNvSpPr txBox="1">
                <a:spLocks noChangeArrowheads="1"/>
              </p:cNvSpPr>
              <p:nvPr/>
            </p:nvSpPr>
            <p:spPr bwMode="auto">
              <a:xfrm>
                <a:off x="1152" y="3176"/>
                <a:ext cx="1728" cy="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Decision</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A step in the process where </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a change in the flow may </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occur. </a:t>
                </a:r>
              </a:p>
            </p:txBody>
          </p:sp>
        </p:grpSp>
        <p:sp>
          <p:nvSpPr>
            <p:cNvPr id="41" name="Text Box 67">
              <a:extLst>
                <a:ext uri="{FF2B5EF4-FFF2-40B4-BE49-F238E27FC236}">
                  <a16:creationId xmlns:a16="http://schemas.microsoft.com/office/drawing/2014/main" id="{B78916E7-2DD8-6036-3722-7D2C7827B6BF}"/>
                </a:ext>
              </a:extLst>
            </p:cNvPr>
            <p:cNvSpPr txBox="1">
              <a:spLocks noChangeArrowheads="1"/>
            </p:cNvSpPr>
            <p:nvPr/>
          </p:nvSpPr>
          <p:spPr bwMode="auto">
            <a:xfrm>
              <a:off x="5680075" y="5023992"/>
              <a:ext cx="297709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Delay</a:t>
              </a:r>
              <a:endParaRPr lang="en-US" altLang="en-US" sz="1600" b="0">
                <a:latin typeface="Roboto" panose="02000000000000000000" pitchFamily="2" charset="0"/>
                <a:ea typeface="Roboto" panose="02000000000000000000" pitchFamily="2" charset="0"/>
              </a:endParaRP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To wait for the next operation. </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(I.e., in a queue).</a:t>
              </a:r>
            </a:p>
            <a:p>
              <a:pPr>
                <a:lnSpc>
                  <a:spcPct val="100000"/>
                </a:lnSpc>
                <a:spcBef>
                  <a:spcPct val="0"/>
                </a:spcBef>
                <a:spcAft>
                  <a:spcPct val="0"/>
                </a:spcAft>
                <a:buClrTx/>
                <a:buSzTx/>
                <a:buFontTx/>
                <a:buNone/>
              </a:pPr>
              <a:r>
                <a:rPr lang="en-US" altLang="en-US" sz="1600" b="0">
                  <a:latin typeface="Roboto" panose="02000000000000000000" pitchFamily="2" charset="0"/>
                  <a:ea typeface="Roboto" panose="02000000000000000000" pitchFamily="2" charset="0"/>
                </a:rPr>
                <a:t>No value added.</a:t>
              </a:r>
            </a:p>
          </p:txBody>
        </p:sp>
      </p:grpSp>
    </p:spTree>
    <p:extLst>
      <p:ext uri="{BB962C8B-B14F-4D97-AF65-F5344CB8AC3E}">
        <p14:creationId xmlns:p14="http://schemas.microsoft.com/office/powerpoint/2010/main" val="3993727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Break into manageable projects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Complex products and processes may need to be segmented due to limitations in current technology, space, cost, ‘laws of nature’</a:t>
            </a:r>
          </a:p>
          <a:p>
            <a:r>
              <a:rPr lang="en-US" altLang="en-US" dirty="0"/>
              <a:t>Might initially focus on final assembly, then later look at components</a:t>
            </a:r>
          </a:p>
          <a:p>
            <a:r>
              <a:rPr lang="en-US" altLang="en-US" dirty="0"/>
              <a:t>3P Design Team needs to revisit the Charter and make any adjustments to scope and prioritize sequence</a:t>
            </a:r>
          </a:p>
          <a:p>
            <a:r>
              <a:rPr lang="en-US" altLang="en-US" dirty="0"/>
              <a:t>Risk of sub-optimization – need to Catch Ball up and down stream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grpSp>
        <p:nvGrpSpPr>
          <p:cNvPr id="4" name="Group 3">
            <a:extLst>
              <a:ext uri="{FF2B5EF4-FFF2-40B4-BE49-F238E27FC236}">
                <a16:creationId xmlns:a16="http://schemas.microsoft.com/office/drawing/2014/main" id="{C9A75733-CC3C-CDD2-585B-8321326BA256}"/>
              </a:ext>
            </a:extLst>
          </p:cNvPr>
          <p:cNvGrpSpPr/>
          <p:nvPr/>
        </p:nvGrpSpPr>
        <p:grpSpPr>
          <a:xfrm>
            <a:off x="838200" y="297639"/>
            <a:ext cx="3848100" cy="307138"/>
            <a:chOff x="838200" y="297639"/>
            <a:chExt cx="3848100" cy="307138"/>
          </a:xfrm>
        </p:grpSpPr>
        <p:grpSp>
          <p:nvGrpSpPr>
            <p:cNvPr id="6" name="Group 5">
              <a:extLst>
                <a:ext uri="{FF2B5EF4-FFF2-40B4-BE49-F238E27FC236}">
                  <a16:creationId xmlns:a16="http://schemas.microsoft.com/office/drawing/2014/main" id="{6B2D1998-5FA9-D051-8CE7-842211823297}"/>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B4C8CDC1-FFA0-914D-920B-D4FBBAB5B73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554CD8C-EDA2-FD4F-2F5A-F029CE50D7C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7D5F63D-9A9E-9AE3-6BF9-9AEF01038C81}"/>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B740A30-2A7F-EC78-CF65-946344D0AED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C4089E8-11FB-528A-2041-EABE3F5A53A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9313DE20-B490-A6FB-E99C-11BFB364F1D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25A76954-D38E-11B9-1CDF-8435347D4F7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8966626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6506AA79-0F98-B20B-E8F1-86A7725522BA}"/>
              </a:ext>
            </a:extLst>
          </p:cNvPr>
          <p:cNvSpPr>
            <a:spLocks noGrp="1"/>
          </p:cNvSpPr>
          <p:nvPr>
            <p:ph type="title"/>
          </p:nvPr>
        </p:nvSpPr>
        <p:spPr/>
        <p:txBody>
          <a:bodyPr>
            <a:normAutofit/>
          </a:bodyPr>
          <a:lstStyle/>
          <a:p>
            <a:r>
              <a:rPr lang="en-US" sz="4000" dirty="0">
                <a:solidFill>
                  <a:schemeClr val="bg2">
                    <a:lumMod val="10000"/>
                  </a:schemeClr>
                </a:solidFill>
                <a:latin typeface="Roboto" panose="02000000000000000000" pitchFamily="2" charset="0"/>
                <a:ea typeface="Roboto" panose="02000000000000000000" pitchFamily="2" charset="0"/>
                <a:cs typeface="Roboto Medium"/>
              </a:rPr>
              <a:t>Prioritize Opportunities</a:t>
            </a:r>
          </a:p>
        </p:txBody>
      </p:sp>
      <p:sp>
        <p:nvSpPr>
          <p:cNvPr id="4" name="Slide Number Placeholder 3">
            <a:extLst>
              <a:ext uri="{FF2B5EF4-FFF2-40B4-BE49-F238E27FC236}">
                <a16:creationId xmlns:a16="http://schemas.microsoft.com/office/drawing/2014/main" id="{399B9463-4CDE-3EF7-2811-BC679B707FFB}"/>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pPr/>
              <a:t>46</a:t>
            </a:fld>
            <a:endParaRPr lang="en-US" dirty="0"/>
          </a:p>
        </p:txBody>
      </p:sp>
      <p:grpSp>
        <p:nvGrpSpPr>
          <p:cNvPr id="8" name="Group 7">
            <a:extLst>
              <a:ext uri="{FF2B5EF4-FFF2-40B4-BE49-F238E27FC236}">
                <a16:creationId xmlns:a16="http://schemas.microsoft.com/office/drawing/2014/main" id="{D774C9DC-4C11-A622-37F0-6570E9774F84}"/>
              </a:ext>
            </a:extLst>
          </p:cNvPr>
          <p:cNvGrpSpPr/>
          <p:nvPr/>
        </p:nvGrpSpPr>
        <p:grpSpPr>
          <a:xfrm>
            <a:off x="838200" y="297639"/>
            <a:ext cx="3848100" cy="307138"/>
            <a:chOff x="838200" y="297639"/>
            <a:chExt cx="3848100" cy="307138"/>
          </a:xfrm>
        </p:grpSpPr>
        <p:grpSp>
          <p:nvGrpSpPr>
            <p:cNvPr id="9" name="Group 8">
              <a:extLst>
                <a:ext uri="{FF2B5EF4-FFF2-40B4-BE49-F238E27FC236}">
                  <a16:creationId xmlns:a16="http://schemas.microsoft.com/office/drawing/2014/main" id="{16C3FB27-CC2C-4B14-DA09-30B65F8FCEE9}"/>
                </a:ext>
              </a:extLst>
            </p:cNvPr>
            <p:cNvGrpSpPr/>
            <p:nvPr/>
          </p:nvGrpSpPr>
          <p:grpSpPr>
            <a:xfrm>
              <a:off x="838200" y="297639"/>
              <a:ext cx="1687517" cy="290657"/>
              <a:chOff x="838200" y="297639"/>
              <a:chExt cx="1687517" cy="290657"/>
            </a:xfrm>
          </p:grpSpPr>
          <p:sp>
            <p:nvSpPr>
              <p:cNvPr id="11" name="AutoShape 9">
                <a:extLst>
                  <a:ext uri="{FF2B5EF4-FFF2-40B4-BE49-F238E27FC236}">
                    <a16:creationId xmlns:a16="http://schemas.microsoft.com/office/drawing/2014/main" id="{CCC5CA2A-6465-0D97-90A1-BEE16B0A1D0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E93A7527-E34E-F068-A71C-CF837CB18F7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4" name="Group 13">
                <a:extLst>
                  <a:ext uri="{FF2B5EF4-FFF2-40B4-BE49-F238E27FC236}">
                    <a16:creationId xmlns:a16="http://schemas.microsoft.com/office/drawing/2014/main" id="{51F88B80-4D01-7BAE-3F72-FF125974BDAE}"/>
                  </a:ext>
                </a:extLst>
              </p:cNvPr>
              <p:cNvGrpSpPr/>
              <p:nvPr/>
            </p:nvGrpSpPr>
            <p:grpSpPr>
              <a:xfrm>
                <a:off x="838200" y="297639"/>
                <a:ext cx="1060167" cy="290657"/>
                <a:chOff x="826426" y="4041857"/>
                <a:chExt cx="1060167" cy="290657"/>
              </a:xfrm>
            </p:grpSpPr>
            <p:sp>
              <p:nvSpPr>
                <p:cNvPr id="15" name="AutoShape 9">
                  <a:extLst>
                    <a:ext uri="{FF2B5EF4-FFF2-40B4-BE49-F238E27FC236}">
                      <a16:creationId xmlns:a16="http://schemas.microsoft.com/office/drawing/2014/main" id="{E7A45041-758B-8FDD-73D5-EEC3CD25E8AB}"/>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AB593E20-5E0B-3B5A-D2FE-8425CAF6E39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661B8E2E-C4CB-6ED5-554A-D428BA805EB4}"/>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TextBox 9">
              <a:extLst>
                <a:ext uri="{FF2B5EF4-FFF2-40B4-BE49-F238E27FC236}">
                  <a16:creationId xmlns:a16="http://schemas.microsoft.com/office/drawing/2014/main" id="{39452859-6071-6003-735B-51F2962271E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pic>
        <p:nvPicPr>
          <p:cNvPr id="2" name="Picture 17">
            <a:extLst>
              <a:ext uri="{FF2B5EF4-FFF2-40B4-BE49-F238E27FC236}">
                <a16:creationId xmlns:a16="http://schemas.microsoft.com/office/drawing/2014/main" id="{6201190A-0319-D6B8-07BC-DD38B3A08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4" y="2035810"/>
            <a:ext cx="7666992" cy="3826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3" name="Rectangle 3">
            <a:extLst>
              <a:ext uri="{FF2B5EF4-FFF2-40B4-BE49-F238E27FC236}">
                <a16:creationId xmlns:a16="http://schemas.microsoft.com/office/drawing/2014/main" id="{5BF629FA-A8EB-E683-D38E-3FD028EA2F7E}"/>
              </a:ext>
            </a:extLst>
          </p:cNvPr>
          <p:cNvSpPr txBox="1">
            <a:spLocks noChangeArrowheads="1"/>
          </p:cNvSpPr>
          <p:nvPr/>
        </p:nvSpPr>
        <p:spPr>
          <a:xfrm>
            <a:off x="8595078" y="1748218"/>
            <a:ext cx="2200275" cy="44323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en-US" sz="2000" dirty="0"/>
              <a:t>Prepare a Decision or Pugh Matrix; adjust criteria &amp; weightings</a:t>
            </a:r>
          </a:p>
          <a:p>
            <a:pPr>
              <a:lnSpc>
                <a:spcPct val="100000"/>
              </a:lnSpc>
            </a:pPr>
            <a:r>
              <a:rPr lang="en-US" altLang="en-US" sz="2000" dirty="0"/>
              <a:t>Rank impact, effort, complexity risk</a:t>
            </a:r>
          </a:p>
          <a:p>
            <a:pPr>
              <a:lnSpc>
                <a:spcPct val="100000"/>
              </a:lnSpc>
            </a:pPr>
            <a:r>
              <a:rPr lang="en-US" altLang="en-US" sz="2000" dirty="0"/>
              <a:t>Or, dot vote or other method to identify greatest opportunities</a:t>
            </a:r>
          </a:p>
        </p:txBody>
      </p:sp>
    </p:spTree>
    <p:extLst>
      <p:ext uri="{BB962C8B-B14F-4D97-AF65-F5344CB8AC3E}">
        <p14:creationId xmlns:p14="http://schemas.microsoft.com/office/powerpoint/2010/main" val="39996546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Summarize key opportunities</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altLang="en-US" dirty="0"/>
              <a:t>Prioritize which process steps or components need the most work</a:t>
            </a:r>
          </a:p>
          <a:p>
            <a:r>
              <a:rPr lang="en-US" altLang="en-US" dirty="0"/>
              <a:t>Create sub-teams to begin 3P cycles on the prioritized process steps and components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grpSp>
        <p:nvGrpSpPr>
          <p:cNvPr id="4" name="Group 3">
            <a:extLst>
              <a:ext uri="{FF2B5EF4-FFF2-40B4-BE49-F238E27FC236}">
                <a16:creationId xmlns:a16="http://schemas.microsoft.com/office/drawing/2014/main" id="{C9A75733-CC3C-CDD2-585B-8321326BA256}"/>
              </a:ext>
            </a:extLst>
          </p:cNvPr>
          <p:cNvGrpSpPr/>
          <p:nvPr/>
        </p:nvGrpSpPr>
        <p:grpSpPr>
          <a:xfrm>
            <a:off x="838200" y="297639"/>
            <a:ext cx="3848100" cy="307138"/>
            <a:chOff x="838200" y="297639"/>
            <a:chExt cx="3848100" cy="307138"/>
          </a:xfrm>
        </p:grpSpPr>
        <p:grpSp>
          <p:nvGrpSpPr>
            <p:cNvPr id="6" name="Group 5">
              <a:extLst>
                <a:ext uri="{FF2B5EF4-FFF2-40B4-BE49-F238E27FC236}">
                  <a16:creationId xmlns:a16="http://schemas.microsoft.com/office/drawing/2014/main" id="{6B2D1998-5FA9-D051-8CE7-842211823297}"/>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B4C8CDC1-FFA0-914D-920B-D4FBBAB5B730}"/>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5554CD8C-EDA2-FD4F-2F5A-F029CE50D7C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7D5F63D-9A9E-9AE3-6BF9-9AEF01038C81}"/>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B740A30-2A7F-EC78-CF65-946344D0AED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4C4089E8-11FB-528A-2041-EABE3F5A53A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9313DE20-B490-A6FB-E99C-11BFB364F1DB}"/>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7" name="TextBox 6">
              <a:extLst>
                <a:ext uri="{FF2B5EF4-FFF2-40B4-BE49-F238E27FC236}">
                  <a16:creationId xmlns:a16="http://schemas.microsoft.com/office/drawing/2014/main" id="{25A76954-D38E-11B9-1CDF-8435347D4F7E}"/>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8785007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Diagrams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diagram process to identify and prioritize opportunities.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determine which diagram(s) best suits the project and complete the diagram(s). Rank and prioritize 3P opportunities. </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3P sub-teams and assign 3P projects to the sub-teams. </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 of 3P cycles needed for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diagrams indicating focus priorities.</a:t>
            </a:r>
          </a:p>
        </p:txBody>
      </p:sp>
      <p:grpSp>
        <p:nvGrpSpPr>
          <p:cNvPr id="3" name="Group 2">
            <a:extLst>
              <a:ext uri="{FF2B5EF4-FFF2-40B4-BE49-F238E27FC236}">
                <a16:creationId xmlns:a16="http://schemas.microsoft.com/office/drawing/2014/main" id="{A7F79D09-1D1E-3DBB-37B8-52F8A0F2DFC4}"/>
              </a:ext>
            </a:extLst>
          </p:cNvPr>
          <p:cNvGrpSpPr/>
          <p:nvPr/>
        </p:nvGrpSpPr>
        <p:grpSpPr>
          <a:xfrm>
            <a:off x="838200" y="297639"/>
            <a:ext cx="3848100" cy="307138"/>
            <a:chOff x="838200" y="297639"/>
            <a:chExt cx="3848100" cy="307138"/>
          </a:xfrm>
        </p:grpSpPr>
        <p:grpSp>
          <p:nvGrpSpPr>
            <p:cNvPr id="4" name="Group 3">
              <a:extLst>
                <a:ext uri="{FF2B5EF4-FFF2-40B4-BE49-F238E27FC236}">
                  <a16:creationId xmlns:a16="http://schemas.microsoft.com/office/drawing/2014/main" id="{D8569E0B-A3DF-129E-1D8D-C45D2BB7090C}"/>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DEF1A67-8AE7-4D05-930C-3DDD27C1AD45}"/>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2DC93712-B260-E4C8-07E8-32DE8B3FB0D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0D71491F-BABA-044B-A1F3-33E640F9B50E}"/>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D52919A8-7611-9EAE-DCB2-5D14CD24BE67}"/>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1">
                  <a:extLst>
                    <a:ext uri="{FF2B5EF4-FFF2-40B4-BE49-F238E27FC236}">
                      <a16:creationId xmlns:a16="http://schemas.microsoft.com/office/drawing/2014/main" id="{D4416F4D-2859-656B-9C61-C59FCCF84D4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0" name="AutoShape 10">
                  <a:extLst>
                    <a:ext uri="{FF2B5EF4-FFF2-40B4-BE49-F238E27FC236}">
                      <a16:creationId xmlns:a16="http://schemas.microsoft.com/office/drawing/2014/main" id="{98D80D22-3455-BCF1-FAAE-B312EF7B95F5}"/>
                    </a:ext>
                  </a:extLst>
                </p:cNvPr>
                <p:cNvSpPr>
                  <a:spLocks noChangeArrowheads="1"/>
                </p:cNvSpPr>
                <p:nvPr/>
              </p:nvSpPr>
              <p:spPr bwMode="auto">
                <a:xfrm>
                  <a:off x="82642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6" name="TextBox 5">
              <a:extLst>
                <a:ext uri="{FF2B5EF4-FFF2-40B4-BE49-F238E27FC236}">
                  <a16:creationId xmlns:a16="http://schemas.microsoft.com/office/drawing/2014/main" id="{B8198EE3-DA90-32DB-0AB2-BEACC1A2B38B}"/>
                </a:ext>
              </a:extLst>
            </p:cNvPr>
            <p:cNvSpPr txBox="1"/>
            <p:nvPr/>
          </p:nvSpPr>
          <p:spPr>
            <a:xfrm>
              <a:off x="2525717" y="313415"/>
              <a:ext cx="21605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Needs and Objectives</a:t>
              </a:r>
            </a:p>
          </p:txBody>
        </p:sp>
      </p:grpSp>
    </p:spTree>
    <p:extLst>
      <p:ext uri="{BB962C8B-B14F-4D97-AF65-F5344CB8AC3E}">
        <p14:creationId xmlns:p14="http://schemas.microsoft.com/office/powerpoint/2010/main" val="33135018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3P Creative Thinking Process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key functions of the assignments from the diagram</a:t>
            </a:r>
          </a:p>
          <a:p>
            <a:r>
              <a:rPr lang="en-US" sz="2400" dirty="0"/>
              <a:t>Identify key words that describe each function</a:t>
            </a:r>
          </a:p>
          <a:p>
            <a:r>
              <a:rPr lang="en-US" sz="2400" dirty="0"/>
              <a:t>Brainstorm and draw examples from nature or other source of each function</a:t>
            </a:r>
          </a:p>
          <a:p>
            <a:r>
              <a:rPr lang="en-US" sz="2400" dirty="0"/>
              <a:t>Group like ideas</a:t>
            </a:r>
          </a:p>
          <a:p>
            <a:r>
              <a:rPr lang="en-US" sz="2400" dirty="0"/>
              <a:t>Present final ideas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Sketch and</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Evaluate</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Examples</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38438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Cycle</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graphicFrame>
        <p:nvGraphicFramePr>
          <p:cNvPr id="3" name="Group 450">
            <a:extLst>
              <a:ext uri="{FF2B5EF4-FFF2-40B4-BE49-F238E27FC236}">
                <a16:creationId xmlns:a16="http://schemas.microsoft.com/office/drawing/2014/main" id="{9E414ACC-FEFE-413E-72F5-7648F4CAFF94}"/>
              </a:ext>
            </a:extLst>
          </p:cNvPr>
          <p:cNvGraphicFramePr>
            <a:graphicFrameLocks noGrp="1"/>
          </p:cNvGraphicFramePr>
          <p:nvPr>
            <p:extLst>
              <p:ext uri="{D42A27DB-BD31-4B8C-83A1-F6EECF244321}">
                <p14:modId xmlns:p14="http://schemas.microsoft.com/office/powerpoint/2010/main" val="2018601049"/>
              </p:ext>
            </p:extLst>
          </p:nvPr>
        </p:nvGraphicFramePr>
        <p:xfrm>
          <a:off x="1779225" y="1783428"/>
          <a:ext cx="8229600" cy="4617917"/>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Each team member individually draws 7 Alternatives.</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Team gathers to group and evaluate ideas. Selects the top 7.</a:t>
                      </a:r>
                      <a:endParaRPr kumimoji="0" lang="en-US" altLang="en-US" sz="12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Team moonshines the 7 Alternatives.</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84465">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7036">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0"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598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Team evaluates each Alternative. Selects the top 3.</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Team moonshines the top 3 Alternatives.</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rPr>
                        <a:t>Team selects Top Alternative.</a:t>
                      </a:r>
                      <a:endParaRPr kumimoji="0" lang="en-US" altLang="en-US" sz="24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516254">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Roboto" panose="02000000000000000000" pitchFamily="2" charset="0"/>
                        <a:ea typeface="Roboto" panose="02000000000000000000" pitchFamily="2" charset="0"/>
                        <a:cs typeface="Arial" panose="020B0604020202020204" pitchFamily="34" charset="0"/>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55" name="Picture 276" descr="MMj03957670000[1]">
            <a:extLst>
              <a:ext uri="{FF2B5EF4-FFF2-40B4-BE49-F238E27FC236}">
                <a16:creationId xmlns:a16="http://schemas.microsoft.com/office/drawing/2014/main" id="{91381846-7881-3C6E-E222-ADBF38AB7DBF}"/>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570425" y="286334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 name="Picture 277" descr="MCj03499260000[1]">
            <a:extLst>
              <a:ext uri="{FF2B5EF4-FFF2-40B4-BE49-F238E27FC236}">
                <a16:creationId xmlns:a16="http://schemas.microsoft.com/office/drawing/2014/main" id="{D2500870-F8B0-407E-0876-C9F50CDBC6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592900" y="301529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7" name="Picture 278" descr="MCj02903500000[1]">
            <a:extLst>
              <a:ext uri="{FF2B5EF4-FFF2-40B4-BE49-F238E27FC236}">
                <a16:creationId xmlns:a16="http://schemas.microsoft.com/office/drawing/2014/main" id="{72DBE955-89F5-ED5D-C417-2D50D24488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408625" y="256690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 name="Picture 279" descr="MCj02337390000[1]">
            <a:extLst>
              <a:ext uri="{FF2B5EF4-FFF2-40B4-BE49-F238E27FC236}">
                <a16:creationId xmlns:a16="http://schemas.microsoft.com/office/drawing/2014/main" id="{2423BA08-0135-4F6A-0E31-DEA4951986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8103825" y="3023379"/>
            <a:ext cx="374650" cy="290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9" name="Picture 280" descr="MPj03140390000[1]">
            <a:extLst>
              <a:ext uri="{FF2B5EF4-FFF2-40B4-BE49-F238E27FC236}">
                <a16:creationId xmlns:a16="http://schemas.microsoft.com/office/drawing/2014/main" id="{8172C430-DB45-FE9B-FE75-26DAFBFC113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13425" y="2944271"/>
            <a:ext cx="381000" cy="242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0" name="Picture 281" descr="MCBD05091_0000[1]">
            <a:extLst>
              <a:ext uri="{FF2B5EF4-FFF2-40B4-BE49-F238E27FC236}">
                <a16:creationId xmlns:a16="http://schemas.microsoft.com/office/drawing/2014/main" id="{050E4466-D6E4-E277-60CF-12A4F614941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7625" y="2639834"/>
            <a:ext cx="288925" cy="248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1" name="Picture 282" descr="MCHH01430_0000[1]">
            <a:extLst>
              <a:ext uri="{FF2B5EF4-FFF2-40B4-BE49-F238E27FC236}">
                <a16:creationId xmlns:a16="http://schemas.microsoft.com/office/drawing/2014/main" id="{D33C4C08-1D06-3534-F7B3-455EDF12CBB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9018225" y="2673754"/>
            <a:ext cx="381000" cy="179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62" name="Group 71">
            <a:extLst>
              <a:ext uri="{FF2B5EF4-FFF2-40B4-BE49-F238E27FC236}">
                <a16:creationId xmlns:a16="http://schemas.microsoft.com/office/drawing/2014/main" id="{B4166F70-4D09-35E2-E584-B9DAE8F1D500}"/>
              </a:ext>
            </a:extLst>
          </p:cNvPr>
          <p:cNvGrpSpPr>
            <a:grpSpLocks/>
          </p:cNvGrpSpPr>
          <p:nvPr/>
        </p:nvGrpSpPr>
        <p:grpSpPr bwMode="auto">
          <a:xfrm>
            <a:off x="2963500" y="5076814"/>
            <a:ext cx="419100" cy="538783"/>
            <a:chOff x="3016" y="1444"/>
            <a:chExt cx="264" cy="360"/>
          </a:xfrm>
        </p:grpSpPr>
        <p:sp>
          <p:nvSpPr>
            <p:cNvPr id="263" name="Line 63">
              <a:extLst>
                <a:ext uri="{FF2B5EF4-FFF2-40B4-BE49-F238E27FC236}">
                  <a16:creationId xmlns:a16="http://schemas.microsoft.com/office/drawing/2014/main" id="{A0B01D94-5D81-E03B-0669-112689245BC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4" name="Freeform 64">
              <a:extLst>
                <a:ext uri="{FF2B5EF4-FFF2-40B4-BE49-F238E27FC236}">
                  <a16:creationId xmlns:a16="http://schemas.microsoft.com/office/drawing/2014/main" id="{E4E0F163-3663-0102-66B2-07C92F34030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265" name="Freeform 65">
              <a:extLst>
                <a:ext uri="{FF2B5EF4-FFF2-40B4-BE49-F238E27FC236}">
                  <a16:creationId xmlns:a16="http://schemas.microsoft.com/office/drawing/2014/main" id="{46BB25A6-F2B7-1A77-6A45-8EC916E2B474}"/>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266" name="Line 66">
              <a:extLst>
                <a:ext uri="{FF2B5EF4-FFF2-40B4-BE49-F238E27FC236}">
                  <a16:creationId xmlns:a16="http://schemas.microsoft.com/office/drawing/2014/main" id="{32566FCF-C69D-BC1E-E445-4C64FF91B76F}"/>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7" name="Line 67">
              <a:extLst>
                <a:ext uri="{FF2B5EF4-FFF2-40B4-BE49-F238E27FC236}">
                  <a16:creationId xmlns:a16="http://schemas.microsoft.com/office/drawing/2014/main" id="{EC72256D-0429-1614-7F9C-535D4E694C94}"/>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8" name="Line 68">
              <a:extLst>
                <a:ext uri="{FF2B5EF4-FFF2-40B4-BE49-F238E27FC236}">
                  <a16:creationId xmlns:a16="http://schemas.microsoft.com/office/drawing/2014/main" id="{8FFB7326-BFBD-FE6B-94FA-326539A309FA}"/>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9" name="Oval 69">
              <a:extLst>
                <a:ext uri="{FF2B5EF4-FFF2-40B4-BE49-F238E27FC236}">
                  <a16:creationId xmlns:a16="http://schemas.microsoft.com/office/drawing/2014/main" id="{4F12DF3C-9934-0D91-A35B-41DF4363E05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270" name="Oval 70">
              <a:extLst>
                <a:ext uri="{FF2B5EF4-FFF2-40B4-BE49-F238E27FC236}">
                  <a16:creationId xmlns:a16="http://schemas.microsoft.com/office/drawing/2014/main" id="{C3E66075-D224-3181-007F-03C9EE23675A}"/>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pic>
        <p:nvPicPr>
          <p:cNvPr id="369" name="Picture 392" descr="MMj03957670000[1]">
            <a:extLst>
              <a:ext uri="{FF2B5EF4-FFF2-40B4-BE49-F238E27FC236}">
                <a16:creationId xmlns:a16="http://schemas.microsoft.com/office/drawing/2014/main" id="{9B3D4D85-7D65-EB3E-E9C9-752838637D9E}"/>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27225" y="5587495"/>
            <a:ext cx="400050" cy="16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0" name="Picture 393" descr="MCj03499260000[1]">
            <a:extLst>
              <a:ext uri="{FF2B5EF4-FFF2-40B4-BE49-F238E27FC236}">
                <a16:creationId xmlns:a16="http://schemas.microsoft.com/office/drawing/2014/main" id="{1018F16A-2851-A1E9-01E7-B9170ABA94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6849700" y="5739440"/>
            <a:ext cx="171450" cy="157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1" name="Picture 394" descr="MCj02903500000[1]">
            <a:extLst>
              <a:ext uri="{FF2B5EF4-FFF2-40B4-BE49-F238E27FC236}">
                <a16:creationId xmlns:a16="http://schemas.microsoft.com/office/drawing/2014/main" id="{9EDE3B72-9B3F-F55F-E3DD-721B64728A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665425" y="5291056"/>
            <a:ext cx="374650" cy="302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72" name="Group 71">
            <a:extLst>
              <a:ext uri="{FF2B5EF4-FFF2-40B4-BE49-F238E27FC236}">
                <a16:creationId xmlns:a16="http://schemas.microsoft.com/office/drawing/2014/main" id="{AD5167E3-6559-1152-1489-891E8B082523}"/>
              </a:ext>
            </a:extLst>
          </p:cNvPr>
          <p:cNvGrpSpPr>
            <a:grpSpLocks/>
          </p:cNvGrpSpPr>
          <p:nvPr/>
        </p:nvGrpSpPr>
        <p:grpSpPr bwMode="auto">
          <a:xfrm>
            <a:off x="9135700" y="5019664"/>
            <a:ext cx="419100" cy="538783"/>
            <a:chOff x="3016" y="1444"/>
            <a:chExt cx="264" cy="360"/>
          </a:xfrm>
        </p:grpSpPr>
        <p:sp>
          <p:nvSpPr>
            <p:cNvPr id="373" name="Line 63">
              <a:extLst>
                <a:ext uri="{FF2B5EF4-FFF2-40B4-BE49-F238E27FC236}">
                  <a16:creationId xmlns:a16="http://schemas.microsoft.com/office/drawing/2014/main" id="{6F0811DB-39A3-2A9F-F82C-353AB43735E6}"/>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 name="Freeform 64">
              <a:extLst>
                <a:ext uri="{FF2B5EF4-FFF2-40B4-BE49-F238E27FC236}">
                  <a16:creationId xmlns:a16="http://schemas.microsoft.com/office/drawing/2014/main" id="{F474B0F6-0BCF-96B4-080D-4D94BF04C29E}"/>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375" name="Freeform 65">
              <a:extLst>
                <a:ext uri="{FF2B5EF4-FFF2-40B4-BE49-F238E27FC236}">
                  <a16:creationId xmlns:a16="http://schemas.microsoft.com/office/drawing/2014/main" id="{B32EBE03-02D4-7EDE-099B-F25B78CCE1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376" name="Line 66">
              <a:extLst>
                <a:ext uri="{FF2B5EF4-FFF2-40B4-BE49-F238E27FC236}">
                  <a16:creationId xmlns:a16="http://schemas.microsoft.com/office/drawing/2014/main" id="{847CC286-F17A-C642-20B4-BA71F132B2D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7" name="Line 67">
              <a:extLst>
                <a:ext uri="{FF2B5EF4-FFF2-40B4-BE49-F238E27FC236}">
                  <a16:creationId xmlns:a16="http://schemas.microsoft.com/office/drawing/2014/main" id="{7D48FB73-AE4E-01BA-7977-088C8EE4FFAD}"/>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8" name="Line 68">
              <a:extLst>
                <a:ext uri="{FF2B5EF4-FFF2-40B4-BE49-F238E27FC236}">
                  <a16:creationId xmlns:a16="http://schemas.microsoft.com/office/drawing/2014/main" id="{C8D7106C-DF33-5F43-2050-1FF33732FBD0}"/>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9" name="Oval 69">
              <a:extLst>
                <a:ext uri="{FF2B5EF4-FFF2-40B4-BE49-F238E27FC236}">
                  <a16:creationId xmlns:a16="http://schemas.microsoft.com/office/drawing/2014/main" id="{F328AD99-507F-D6B2-D1D7-AAA2DA84EBFF}"/>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380" name="Oval 70">
              <a:extLst>
                <a:ext uri="{FF2B5EF4-FFF2-40B4-BE49-F238E27FC236}">
                  <a16:creationId xmlns:a16="http://schemas.microsoft.com/office/drawing/2014/main" id="{CF53BC26-323C-3DCA-A3EE-1705FF7ECA2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30" name="Text Box 456">
            <a:extLst>
              <a:ext uri="{FF2B5EF4-FFF2-40B4-BE49-F238E27FC236}">
                <a16:creationId xmlns:a16="http://schemas.microsoft.com/office/drawing/2014/main" id="{C44EDCC6-D696-FECF-CCCB-071117D91454}"/>
              </a:ext>
            </a:extLst>
          </p:cNvPr>
          <p:cNvSpPr txBox="1">
            <a:spLocks noChangeArrowheads="1"/>
          </p:cNvSpPr>
          <p:nvPr/>
        </p:nvSpPr>
        <p:spPr bwMode="auto">
          <a:xfrm>
            <a:off x="2998425" y="504409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3</a:t>
            </a:r>
          </a:p>
        </p:txBody>
      </p:sp>
      <p:sp>
        <p:nvSpPr>
          <p:cNvPr id="431" name="Text Box 457">
            <a:extLst>
              <a:ext uri="{FF2B5EF4-FFF2-40B4-BE49-F238E27FC236}">
                <a16:creationId xmlns:a16="http://schemas.microsoft.com/office/drawing/2014/main" id="{9474C9C9-2A14-E136-A3C3-88FDCD57DA14}"/>
              </a:ext>
            </a:extLst>
          </p:cNvPr>
          <p:cNvSpPr txBox="1">
            <a:spLocks noChangeArrowheads="1"/>
          </p:cNvSpPr>
          <p:nvPr/>
        </p:nvSpPr>
        <p:spPr bwMode="auto">
          <a:xfrm>
            <a:off x="9170625" y="4986948"/>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a:cs typeface="Arial" panose="020B0604020202020204" pitchFamily="34" charset="0"/>
              </a:rPr>
              <a:t>1</a:t>
            </a:r>
          </a:p>
        </p:txBody>
      </p:sp>
      <p:pic>
        <p:nvPicPr>
          <p:cNvPr id="432" name="Picture 282" descr="MCHH01430_0000[1]">
            <a:extLst>
              <a:ext uri="{FF2B5EF4-FFF2-40B4-BE49-F238E27FC236}">
                <a16:creationId xmlns:a16="http://schemas.microsoft.com/office/drawing/2014/main" id="{7546FB58-1ED4-488E-AD5D-9B1EAC41BFD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7722825" y="5271096"/>
            <a:ext cx="609600" cy="287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8" name="Group 437">
            <a:extLst>
              <a:ext uri="{FF2B5EF4-FFF2-40B4-BE49-F238E27FC236}">
                <a16:creationId xmlns:a16="http://schemas.microsoft.com/office/drawing/2014/main" id="{4FC731A1-D3BA-C6E6-83F6-E0A6817F4492}"/>
              </a:ext>
            </a:extLst>
          </p:cNvPr>
          <p:cNvGrpSpPr/>
          <p:nvPr/>
        </p:nvGrpSpPr>
        <p:grpSpPr>
          <a:xfrm>
            <a:off x="1855382" y="2447763"/>
            <a:ext cx="495344" cy="554713"/>
            <a:chOff x="1855382" y="2447763"/>
            <a:chExt cx="495344" cy="554713"/>
          </a:xfrm>
        </p:grpSpPr>
        <p:grpSp>
          <p:nvGrpSpPr>
            <p:cNvPr id="73" name="Group 71">
              <a:extLst>
                <a:ext uri="{FF2B5EF4-FFF2-40B4-BE49-F238E27FC236}">
                  <a16:creationId xmlns:a16="http://schemas.microsoft.com/office/drawing/2014/main" id="{6B409B5B-DDCF-0B4D-735A-D2FB5173A6FE}"/>
                </a:ext>
              </a:extLst>
            </p:cNvPr>
            <p:cNvGrpSpPr>
              <a:grpSpLocks/>
            </p:cNvGrpSpPr>
            <p:nvPr/>
          </p:nvGrpSpPr>
          <p:grpSpPr bwMode="auto">
            <a:xfrm>
              <a:off x="1931626" y="2447763"/>
              <a:ext cx="419100" cy="538783"/>
              <a:chOff x="3016" y="1444"/>
              <a:chExt cx="264" cy="360"/>
            </a:xfrm>
          </p:grpSpPr>
          <p:sp>
            <p:nvSpPr>
              <p:cNvPr id="81" name="Line 63">
                <a:extLst>
                  <a:ext uri="{FF2B5EF4-FFF2-40B4-BE49-F238E27FC236}">
                    <a16:creationId xmlns:a16="http://schemas.microsoft.com/office/drawing/2014/main" id="{A5B0E7C6-A312-D874-B128-31E2409DAD67}"/>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2" name="Freeform 64">
                <a:extLst>
                  <a:ext uri="{FF2B5EF4-FFF2-40B4-BE49-F238E27FC236}">
                    <a16:creationId xmlns:a16="http://schemas.microsoft.com/office/drawing/2014/main" id="{08AB0C41-AD72-61AF-C41B-ED8F2BDBBB65}"/>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83" name="Freeform 65">
                <a:extLst>
                  <a:ext uri="{FF2B5EF4-FFF2-40B4-BE49-F238E27FC236}">
                    <a16:creationId xmlns:a16="http://schemas.microsoft.com/office/drawing/2014/main" id="{C51C048E-78BD-8BED-EA21-E3F70E1C649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84" name="Line 66">
                <a:extLst>
                  <a:ext uri="{FF2B5EF4-FFF2-40B4-BE49-F238E27FC236}">
                    <a16:creationId xmlns:a16="http://schemas.microsoft.com/office/drawing/2014/main" id="{39C5A8F8-6725-01CE-B973-2A3AC898854C}"/>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5" name="Line 67">
                <a:extLst>
                  <a:ext uri="{FF2B5EF4-FFF2-40B4-BE49-F238E27FC236}">
                    <a16:creationId xmlns:a16="http://schemas.microsoft.com/office/drawing/2014/main" id="{2E9D9916-C7D0-0F31-67AA-400ECBFD4A4F}"/>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 name="Line 68">
                <a:extLst>
                  <a:ext uri="{FF2B5EF4-FFF2-40B4-BE49-F238E27FC236}">
                    <a16:creationId xmlns:a16="http://schemas.microsoft.com/office/drawing/2014/main" id="{6F4BD13B-5FDA-0BA0-6F28-B58DA93F5FFB}"/>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 name="Oval 69">
                <a:extLst>
                  <a:ext uri="{FF2B5EF4-FFF2-40B4-BE49-F238E27FC236}">
                    <a16:creationId xmlns:a16="http://schemas.microsoft.com/office/drawing/2014/main" id="{BEBECE5C-B9C1-1B69-1463-E1C3DC01F126}"/>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88" name="Oval 70">
                <a:extLst>
                  <a:ext uri="{FF2B5EF4-FFF2-40B4-BE49-F238E27FC236}">
                    <a16:creationId xmlns:a16="http://schemas.microsoft.com/office/drawing/2014/main" id="{8A08DF83-23E5-5799-07DF-F182E3BD8914}"/>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198" name="Text Box 218">
              <a:extLst>
                <a:ext uri="{FF2B5EF4-FFF2-40B4-BE49-F238E27FC236}">
                  <a16:creationId xmlns:a16="http://schemas.microsoft.com/office/drawing/2014/main" id="{6F12D6E1-A41F-3451-9D13-D7AAF95D41AC}"/>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33" name="Picture 432">
              <a:extLst>
                <a:ext uri="{FF2B5EF4-FFF2-40B4-BE49-F238E27FC236}">
                  <a16:creationId xmlns:a16="http://schemas.microsoft.com/office/drawing/2014/main" id="{2CB76DDC-EDF6-4F20-FB3D-5611327EDADA}"/>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40" name="Group 439">
            <a:extLst>
              <a:ext uri="{FF2B5EF4-FFF2-40B4-BE49-F238E27FC236}">
                <a16:creationId xmlns:a16="http://schemas.microsoft.com/office/drawing/2014/main" id="{3126113F-2A64-975D-1744-A44E4018A58D}"/>
              </a:ext>
            </a:extLst>
          </p:cNvPr>
          <p:cNvGrpSpPr/>
          <p:nvPr/>
        </p:nvGrpSpPr>
        <p:grpSpPr>
          <a:xfrm>
            <a:off x="2495399" y="2727416"/>
            <a:ext cx="495344" cy="554713"/>
            <a:chOff x="1855382" y="2447763"/>
            <a:chExt cx="495344" cy="554713"/>
          </a:xfrm>
        </p:grpSpPr>
        <p:grpSp>
          <p:nvGrpSpPr>
            <p:cNvPr id="441" name="Group 71">
              <a:extLst>
                <a:ext uri="{FF2B5EF4-FFF2-40B4-BE49-F238E27FC236}">
                  <a16:creationId xmlns:a16="http://schemas.microsoft.com/office/drawing/2014/main" id="{62AFB058-5FE8-6BB4-DED3-F1ECEAC28952}"/>
                </a:ext>
              </a:extLst>
            </p:cNvPr>
            <p:cNvGrpSpPr>
              <a:grpSpLocks/>
            </p:cNvGrpSpPr>
            <p:nvPr/>
          </p:nvGrpSpPr>
          <p:grpSpPr bwMode="auto">
            <a:xfrm>
              <a:off x="1931626" y="2447763"/>
              <a:ext cx="419100" cy="538783"/>
              <a:chOff x="3016" y="1444"/>
              <a:chExt cx="264" cy="360"/>
            </a:xfrm>
          </p:grpSpPr>
          <p:sp>
            <p:nvSpPr>
              <p:cNvPr id="444" name="Line 63">
                <a:extLst>
                  <a:ext uri="{FF2B5EF4-FFF2-40B4-BE49-F238E27FC236}">
                    <a16:creationId xmlns:a16="http://schemas.microsoft.com/office/drawing/2014/main" id="{FB2BC7B3-14F4-2AB0-90DE-8554F19F03CB}"/>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5" name="Freeform 64">
                <a:extLst>
                  <a:ext uri="{FF2B5EF4-FFF2-40B4-BE49-F238E27FC236}">
                    <a16:creationId xmlns:a16="http://schemas.microsoft.com/office/drawing/2014/main" id="{09FC01F7-2A27-CDA4-AB49-826039771BB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46" name="Freeform 65">
                <a:extLst>
                  <a:ext uri="{FF2B5EF4-FFF2-40B4-BE49-F238E27FC236}">
                    <a16:creationId xmlns:a16="http://schemas.microsoft.com/office/drawing/2014/main" id="{24E926C7-71B2-EEC5-408F-99EFD41E56BB}"/>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47" name="Line 66">
                <a:extLst>
                  <a:ext uri="{FF2B5EF4-FFF2-40B4-BE49-F238E27FC236}">
                    <a16:creationId xmlns:a16="http://schemas.microsoft.com/office/drawing/2014/main" id="{1172C674-3B9C-797F-153B-A868E0E5DD67}"/>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8" name="Line 67">
                <a:extLst>
                  <a:ext uri="{FF2B5EF4-FFF2-40B4-BE49-F238E27FC236}">
                    <a16:creationId xmlns:a16="http://schemas.microsoft.com/office/drawing/2014/main" id="{1D769BE1-E280-12E8-33B1-A78608EAB205}"/>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9" name="Line 68">
                <a:extLst>
                  <a:ext uri="{FF2B5EF4-FFF2-40B4-BE49-F238E27FC236}">
                    <a16:creationId xmlns:a16="http://schemas.microsoft.com/office/drawing/2014/main" id="{1F873590-9737-D7FE-6A9A-3449D26CBC4D}"/>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 name="Oval 69">
                <a:extLst>
                  <a:ext uri="{FF2B5EF4-FFF2-40B4-BE49-F238E27FC236}">
                    <a16:creationId xmlns:a16="http://schemas.microsoft.com/office/drawing/2014/main" id="{E4326F47-4271-D33C-540B-61EE3DC3887D}"/>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51" name="Oval 70">
                <a:extLst>
                  <a:ext uri="{FF2B5EF4-FFF2-40B4-BE49-F238E27FC236}">
                    <a16:creationId xmlns:a16="http://schemas.microsoft.com/office/drawing/2014/main" id="{28FEAF23-4281-74A0-7C7D-2EC60D65958E}"/>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42" name="Text Box 218">
              <a:extLst>
                <a:ext uri="{FF2B5EF4-FFF2-40B4-BE49-F238E27FC236}">
                  <a16:creationId xmlns:a16="http://schemas.microsoft.com/office/drawing/2014/main" id="{80991900-09C1-1C62-C505-15A737336DF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43" name="Picture 442">
              <a:extLst>
                <a:ext uri="{FF2B5EF4-FFF2-40B4-BE49-F238E27FC236}">
                  <a16:creationId xmlns:a16="http://schemas.microsoft.com/office/drawing/2014/main" id="{A2859D43-686C-10A8-D031-01A7C3520092}"/>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52" name="Group 451">
            <a:extLst>
              <a:ext uri="{FF2B5EF4-FFF2-40B4-BE49-F238E27FC236}">
                <a16:creationId xmlns:a16="http://schemas.microsoft.com/office/drawing/2014/main" id="{E82C6DCA-93EC-1FE7-5789-5A86DF9E5D74}"/>
              </a:ext>
            </a:extLst>
          </p:cNvPr>
          <p:cNvGrpSpPr/>
          <p:nvPr/>
        </p:nvGrpSpPr>
        <p:grpSpPr>
          <a:xfrm>
            <a:off x="3069819" y="2396397"/>
            <a:ext cx="495344" cy="554713"/>
            <a:chOff x="1855382" y="2447763"/>
            <a:chExt cx="495344" cy="554713"/>
          </a:xfrm>
        </p:grpSpPr>
        <p:grpSp>
          <p:nvGrpSpPr>
            <p:cNvPr id="453" name="Group 71">
              <a:extLst>
                <a:ext uri="{FF2B5EF4-FFF2-40B4-BE49-F238E27FC236}">
                  <a16:creationId xmlns:a16="http://schemas.microsoft.com/office/drawing/2014/main" id="{A93C1510-BBFF-85C9-C1B1-7AAAA697B3C6}"/>
                </a:ext>
              </a:extLst>
            </p:cNvPr>
            <p:cNvGrpSpPr>
              <a:grpSpLocks/>
            </p:cNvGrpSpPr>
            <p:nvPr/>
          </p:nvGrpSpPr>
          <p:grpSpPr bwMode="auto">
            <a:xfrm>
              <a:off x="1931626" y="2447763"/>
              <a:ext cx="419100" cy="538783"/>
              <a:chOff x="3016" y="1444"/>
              <a:chExt cx="264" cy="360"/>
            </a:xfrm>
          </p:grpSpPr>
          <p:sp>
            <p:nvSpPr>
              <p:cNvPr id="456" name="Line 63">
                <a:extLst>
                  <a:ext uri="{FF2B5EF4-FFF2-40B4-BE49-F238E27FC236}">
                    <a16:creationId xmlns:a16="http://schemas.microsoft.com/office/drawing/2014/main" id="{3AF80F2E-4C5F-7309-2AAE-3AE7E77795B9}"/>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7" name="Freeform 64">
                <a:extLst>
                  <a:ext uri="{FF2B5EF4-FFF2-40B4-BE49-F238E27FC236}">
                    <a16:creationId xmlns:a16="http://schemas.microsoft.com/office/drawing/2014/main" id="{9A89C2EB-FFD5-0E58-7843-8C273C4C7BAA}"/>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58" name="Freeform 65">
                <a:extLst>
                  <a:ext uri="{FF2B5EF4-FFF2-40B4-BE49-F238E27FC236}">
                    <a16:creationId xmlns:a16="http://schemas.microsoft.com/office/drawing/2014/main" id="{3C400AD2-E368-D966-78EC-38BD2FC6806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59" name="Line 66">
                <a:extLst>
                  <a:ext uri="{FF2B5EF4-FFF2-40B4-BE49-F238E27FC236}">
                    <a16:creationId xmlns:a16="http://schemas.microsoft.com/office/drawing/2014/main" id="{754E01EE-B3FF-DA88-89F7-32852A0E5121}"/>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 name="Line 67">
                <a:extLst>
                  <a:ext uri="{FF2B5EF4-FFF2-40B4-BE49-F238E27FC236}">
                    <a16:creationId xmlns:a16="http://schemas.microsoft.com/office/drawing/2014/main" id="{C8E3F194-C016-3381-40FA-D706722DC752}"/>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 name="Line 68">
                <a:extLst>
                  <a:ext uri="{FF2B5EF4-FFF2-40B4-BE49-F238E27FC236}">
                    <a16:creationId xmlns:a16="http://schemas.microsoft.com/office/drawing/2014/main" id="{60DA2B9A-E81A-9F9E-6788-1A27FF9C5044}"/>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2" name="Oval 69">
                <a:extLst>
                  <a:ext uri="{FF2B5EF4-FFF2-40B4-BE49-F238E27FC236}">
                    <a16:creationId xmlns:a16="http://schemas.microsoft.com/office/drawing/2014/main" id="{08F62091-4CE7-9FDA-EB47-AF77602CBAE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63" name="Oval 70">
                <a:extLst>
                  <a:ext uri="{FF2B5EF4-FFF2-40B4-BE49-F238E27FC236}">
                    <a16:creationId xmlns:a16="http://schemas.microsoft.com/office/drawing/2014/main" id="{1AA4A9BC-5D55-2070-8A2C-7B1E54BFC76B}"/>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54" name="Text Box 218">
              <a:extLst>
                <a:ext uri="{FF2B5EF4-FFF2-40B4-BE49-F238E27FC236}">
                  <a16:creationId xmlns:a16="http://schemas.microsoft.com/office/drawing/2014/main" id="{7C95ABF2-FA6F-704D-2EB3-E75765A82A3F}"/>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55" name="Picture 454">
              <a:extLst>
                <a:ext uri="{FF2B5EF4-FFF2-40B4-BE49-F238E27FC236}">
                  <a16:creationId xmlns:a16="http://schemas.microsoft.com/office/drawing/2014/main" id="{51AD3D9F-5F2F-3287-71B4-7CF576532E39}"/>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64" name="Group 463">
            <a:extLst>
              <a:ext uri="{FF2B5EF4-FFF2-40B4-BE49-F238E27FC236}">
                <a16:creationId xmlns:a16="http://schemas.microsoft.com/office/drawing/2014/main" id="{F3D4E41C-CFE1-B1ED-9A0D-D268C9CE2E7D}"/>
              </a:ext>
            </a:extLst>
          </p:cNvPr>
          <p:cNvGrpSpPr/>
          <p:nvPr/>
        </p:nvGrpSpPr>
        <p:grpSpPr>
          <a:xfrm>
            <a:off x="3780730" y="2671353"/>
            <a:ext cx="495344" cy="554713"/>
            <a:chOff x="1855382" y="2447763"/>
            <a:chExt cx="495344" cy="554713"/>
          </a:xfrm>
        </p:grpSpPr>
        <p:grpSp>
          <p:nvGrpSpPr>
            <p:cNvPr id="465" name="Group 71">
              <a:extLst>
                <a:ext uri="{FF2B5EF4-FFF2-40B4-BE49-F238E27FC236}">
                  <a16:creationId xmlns:a16="http://schemas.microsoft.com/office/drawing/2014/main" id="{D4511B70-A7BB-C413-D7D3-70575F87D5A8}"/>
                </a:ext>
              </a:extLst>
            </p:cNvPr>
            <p:cNvGrpSpPr>
              <a:grpSpLocks/>
            </p:cNvGrpSpPr>
            <p:nvPr/>
          </p:nvGrpSpPr>
          <p:grpSpPr bwMode="auto">
            <a:xfrm>
              <a:off x="1931626" y="2447763"/>
              <a:ext cx="419100" cy="538783"/>
              <a:chOff x="3016" y="1444"/>
              <a:chExt cx="264" cy="360"/>
            </a:xfrm>
          </p:grpSpPr>
          <p:sp>
            <p:nvSpPr>
              <p:cNvPr id="468" name="Line 63">
                <a:extLst>
                  <a:ext uri="{FF2B5EF4-FFF2-40B4-BE49-F238E27FC236}">
                    <a16:creationId xmlns:a16="http://schemas.microsoft.com/office/drawing/2014/main" id="{62CBDB04-6340-D73D-772D-85E9A0DB749C}"/>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9" name="Freeform 64">
                <a:extLst>
                  <a:ext uri="{FF2B5EF4-FFF2-40B4-BE49-F238E27FC236}">
                    <a16:creationId xmlns:a16="http://schemas.microsoft.com/office/drawing/2014/main" id="{808EF856-8E26-2A7D-DDC5-616C992DFD49}"/>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70" name="Freeform 65">
                <a:extLst>
                  <a:ext uri="{FF2B5EF4-FFF2-40B4-BE49-F238E27FC236}">
                    <a16:creationId xmlns:a16="http://schemas.microsoft.com/office/drawing/2014/main" id="{06A3DEE1-ABDC-776B-E5D6-615E79AEBBC5}"/>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71" name="Line 66">
                <a:extLst>
                  <a:ext uri="{FF2B5EF4-FFF2-40B4-BE49-F238E27FC236}">
                    <a16:creationId xmlns:a16="http://schemas.microsoft.com/office/drawing/2014/main" id="{2927BB3D-0DAD-6DD3-BDD3-F463E765768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2" name="Line 67">
                <a:extLst>
                  <a:ext uri="{FF2B5EF4-FFF2-40B4-BE49-F238E27FC236}">
                    <a16:creationId xmlns:a16="http://schemas.microsoft.com/office/drawing/2014/main" id="{D8FD048A-0F58-6341-AC49-1655D1B24D5E}"/>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3" name="Line 68">
                <a:extLst>
                  <a:ext uri="{FF2B5EF4-FFF2-40B4-BE49-F238E27FC236}">
                    <a16:creationId xmlns:a16="http://schemas.microsoft.com/office/drawing/2014/main" id="{18BE6F25-EFA6-0D30-EED4-E7DB5C487C17}"/>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4" name="Oval 69">
                <a:extLst>
                  <a:ext uri="{FF2B5EF4-FFF2-40B4-BE49-F238E27FC236}">
                    <a16:creationId xmlns:a16="http://schemas.microsoft.com/office/drawing/2014/main" id="{D9B76CF8-0953-D229-8EFF-98344E8E9492}"/>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75" name="Oval 70">
                <a:extLst>
                  <a:ext uri="{FF2B5EF4-FFF2-40B4-BE49-F238E27FC236}">
                    <a16:creationId xmlns:a16="http://schemas.microsoft.com/office/drawing/2014/main" id="{004181D4-0078-5A24-27C6-6EA9AA2FAF2F}"/>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66" name="Text Box 218">
              <a:extLst>
                <a:ext uri="{FF2B5EF4-FFF2-40B4-BE49-F238E27FC236}">
                  <a16:creationId xmlns:a16="http://schemas.microsoft.com/office/drawing/2014/main" id="{B7C929AF-3E74-FFCA-AD3B-B81AAD1CF799}"/>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67" name="Picture 466">
              <a:extLst>
                <a:ext uri="{FF2B5EF4-FFF2-40B4-BE49-F238E27FC236}">
                  <a16:creationId xmlns:a16="http://schemas.microsoft.com/office/drawing/2014/main" id="{0AD10812-FBA0-010C-26C9-37F990E1EC21}"/>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76" name="Group 475">
            <a:extLst>
              <a:ext uri="{FF2B5EF4-FFF2-40B4-BE49-F238E27FC236}">
                <a16:creationId xmlns:a16="http://schemas.microsoft.com/office/drawing/2014/main" id="{214CC09D-0693-3FE3-1B8C-A44244C6E20B}"/>
              </a:ext>
            </a:extLst>
          </p:cNvPr>
          <p:cNvGrpSpPr/>
          <p:nvPr/>
        </p:nvGrpSpPr>
        <p:grpSpPr>
          <a:xfrm>
            <a:off x="1953246" y="3301359"/>
            <a:ext cx="495344" cy="554713"/>
            <a:chOff x="1855382" y="2447763"/>
            <a:chExt cx="495344" cy="554713"/>
          </a:xfrm>
        </p:grpSpPr>
        <p:grpSp>
          <p:nvGrpSpPr>
            <p:cNvPr id="477" name="Group 71">
              <a:extLst>
                <a:ext uri="{FF2B5EF4-FFF2-40B4-BE49-F238E27FC236}">
                  <a16:creationId xmlns:a16="http://schemas.microsoft.com/office/drawing/2014/main" id="{A6B37EAB-8A07-B0CB-5619-1C277825B6B9}"/>
                </a:ext>
              </a:extLst>
            </p:cNvPr>
            <p:cNvGrpSpPr>
              <a:grpSpLocks/>
            </p:cNvGrpSpPr>
            <p:nvPr/>
          </p:nvGrpSpPr>
          <p:grpSpPr bwMode="auto">
            <a:xfrm>
              <a:off x="1931626" y="2447763"/>
              <a:ext cx="419100" cy="538783"/>
              <a:chOff x="3016" y="1444"/>
              <a:chExt cx="264" cy="360"/>
            </a:xfrm>
          </p:grpSpPr>
          <p:sp>
            <p:nvSpPr>
              <p:cNvPr id="480" name="Line 63">
                <a:extLst>
                  <a:ext uri="{FF2B5EF4-FFF2-40B4-BE49-F238E27FC236}">
                    <a16:creationId xmlns:a16="http://schemas.microsoft.com/office/drawing/2014/main" id="{D067C0F3-6461-1B79-567B-C6C38C2DE80D}"/>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 name="Freeform 64">
                <a:extLst>
                  <a:ext uri="{FF2B5EF4-FFF2-40B4-BE49-F238E27FC236}">
                    <a16:creationId xmlns:a16="http://schemas.microsoft.com/office/drawing/2014/main" id="{58727FB0-9C75-C56D-F9D8-75AD3599DB4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82" name="Freeform 65">
                <a:extLst>
                  <a:ext uri="{FF2B5EF4-FFF2-40B4-BE49-F238E27FC236}">
                    <a16:creationId xmlns:a16="http://schemas.microsoft.com/office/drawing/2014/main" id="{614AC2B4-37D1-65F8-AA5A-40F6EB67F9B9}"/>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83" name="Line 66">
                <a:extLst>
                  <a:ext uri="{FF2B5EF4-FFF2-40B4-BE49-F238E27FC236}">
                    <a16:creationId xmlns:a16="http://schemas.microsoft.com/office/drawing/2014/main" id="{6C20F051-9864-476A-568C-F0F50D8F844A}"/>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4" name="Line 67">
                <a:extLst>
                  <a:ext uri="{FF2B5EF4-FFF2-40B4-BE49-F238E27FC236}">
                    <a16:creationId xmlns:a16="http://schemas.microsoft.com/office/drawing/2014/main" id="{58D2FC4F-E7E7-79F3-A35D-1428249EABA8}"/>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5" name="Line 68">
                <a:extLst>
                  <a:ext uri="{FF2B5EF4-FFF2-40B4-BE49-F238E27FC236}">
                    <a16:creationId xmlns:a16="http://schemas.microsoft.com/office/drawing/2014/main" id="{9ED66E70-869E-235A-EBEF-22F75391EA79}"/>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6" name="Oval 69">
                <a:extLst>
                  <a:ext uri="{FF2B5EF4-FFF2-40B4-BE49-F238E27FC236}">
                    <a16:creationId xmlns:a16="http://schemas.microsoft.com/office/drawing/2014/main" id="{2846E7A4-5A64-3C9E-ABEB-A5AF516929CA}"/>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87" name="Oval 70">
                <a:extLst>
                  <a:ext uri="{FF2B5EF4-FFF2-40B4-BE49-F238E27FC236}">
                    <a16:creationId xmlns:a16="http://schemas.microsoft.com/office/drawing/2014/main" id="{69A64E36-6168-8A3E-E610-D9D77615A09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78" name="Text Box 218">
              <a:extLst>
                <a:ext uri="{FF2B5EF4-FFF2-40B4-BE49-F238E27FC236}">
                  <a16:creationId xmlns:a16="http://schemas.microsoft.com/office/drawing/2014/main" id="{29E28D2A-EFA4-BE26-497E-B1EDE25D21C0}"/>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79" name="Picture 478">
              <a:extLst>
                <a:ext uri="{FF2B5EF4-FFF2-40B4-BE49-F238E27FC236}">
                  <a16:creationId xmlns:a16="http://schemas.microsoft.com/office/drawing/2014/main" id="{A9F47C90-2334-3697-6F24-A635C02FDEBD}"/>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488" name="Group 487">
            <a:extLst>
              <a:ext uri="{FF2B5EF4-FFF2-40B4-BE49-F238E27FC236}">
                <a16:creationId xmlns:a16="http://schemas.microsoft.com/office/drawing/2014/main" id="{998EA5DD-E793-517F-DABB-89B49663224A}"/>
              </a:ext>
            </a:extLst>
          </p:cNvPr>
          <p:cNvGrpSpPr/>
          <p:nvPr/>
        </p:nvGrpSpPr>
        <p:grpSpPr>
          <a:xfrm>
            <a:off x="3019019" y="3308652"/>
            <a:ext cx="495344" cy="554713"/>
            <a:chOff x="1855382" y="2447763"/>
            <a:chExt cx="495344" cy="554713"/>
          </a:xfrm>
        </p:grpSpPr>
        <p:grpSp>
          <p:nvGrpSpPr>
            <p:cNvPr id="489" name="Group 71">
              <a:extLst>
                <a:ext uri="{FF2B5EF4-FFF2-40B4-BE49-F238E27FC236}">
                  <a16:creationId xmlns:a16="http://schemas.microsoft.com/office/drawing/2014/main" id="{CC004E39-12BD-D794-0927-96DD6991B51A}"/>
                </a:ext>
              </a:extLst>
            </p:cNvPr>
            <p:cNvGrpSpPr>
              <a:grpSpLocks/>
            </p:cNvGrpSpPr>
            <p:nvPr/>
          </p:nvGrpSpPr>
          <p:grpSpPr bwMode="auto">
            <a:xfrm>
              <a:off x="1931626" y="2447763"/>
              <a:ext cx="419100" cy="538783"/>
              <a:chOff x="3016" y="1444"/>
              <a:chExt cx="264" cy="360"/>
            </a:xfrm>
          </p:grpSpPr>
          <p:sp>
            <p:nvSpPr>
              <p:cNvPr id="492" name="Line 63">
                <a:extLst>
                  <a:ext uri="{FF2B5EF4-FFF2-40B4-BE49-F238E27FC236}">
                    <a16:creationId xmlns:a16="http://schemas.microsoft.com/office/drawing/2014/main" id="{FBEFBEB4-6850-4F4B-6F95-0317282369A0}"/>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3" name="Freeform 64">
                <a:extLst>
                  <a:ext uri="{FF2B5EF4-FFF2-40B4-BE49-F238E27FC236}">
                    <a16:creationId xmlns:a16="http://schemas.microsoft.com/office/drawing/2014/main" id="{371EC7D3-FACC-1FF7-957A-B8BF7F2A8CC8}"/>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494" name="Freeform 65">
                <a:extLst>
                  <a:ext uri="{FF2B5EF4-FFF2-40B4-BE49-F238E27FC236}">
                    <a16:creationId xmlns:a16="http://schemas.microsoft.com/office/drawing/2014/main" id="{A68D8647-CDBA-D630-7D7B-5F4CF50A3B7F}"/>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495" name="Line 66">
                <a:extLst>
                  <a:ext uri="{FF2B5EF4-FFF2-40B4-BE49-F238E27FC236}">
                    <a16:creationId xmlns:a16="http://schemas.microsoft.com/office/drawing/2014/main" id="{6814461F-1226-2649-9380-B3D07BCE9186}"/>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6" name="Line 67">
                <a:extLst>
                  <a:ext uri="{FF2B5EF4-FFF2-40B4-BE49-F238E27FC236}">
                    <a16:creationId xmlns:a16="http://schemas.microsoft.com/office/drawing/2014/main" id="{C062E472-3483-480E-8EAE-E1EAA35BAE6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7" name="Line 68">
                <a:extLst>
                  <a:ext uri="{FF2B5EF4-FFF2-40B4-BE49-F238E27FC236}">
                    <a16:creationId xmlns:a16="http://schemas.microsoft.com/office/drawing/2014/main" id="{2371759F-7B57-466D-0150-E0D219C05675}"/>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8" name="Oval 69">
                <a:extLst>
                  <a:ext uri="{FF2B5EF4-FFF2-40B4-BE49-F238E27FC236}">
                    <a16:creationId xmlns:a16="http://schemas.microsoft.com/office/drawing/2014/main" id="{6181F43D-10A9-6014-01D5-8227B09A9E29}"/>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499" name="Oval 70">
                <a:extLst>
                  <a:ext uri="{FF2B5EF4-FFF2-40B4-BE49-F238E27FC236}">
                    <a16:creationId xmlns:a16="http://schemas.microsoft.com/office/drawing/2014/main" id="{3FC89BC9-590B-0B09-BE6F-AB01C814AA02}"/>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490" name="Text Box 218">
              <a:extLst>
                <a:ext uri="{FF2B5EF4-FFF2-40B4-BE49-F238E27FC236}">
                  <a16:creationId xmlns:a16="http://schemas.microsoft.com/office/drawing/2014/main" id="{CF9DEE83-941B-CEE6-FEEC-89BE70CFE7A8}"/>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491" name="Picture 490">
              <a:extLst>
                <a:ext uri="{FF2B5EF4-FFF2-40B4-BE49-F238E27FC236}">
                  <a16:creationId xmlns:a16="http://schemas.microsoft.com/office/drawing/2014/main" id="{22F5B6FA-C043-0674-ADE5-9452D1F12DFC}"/>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00" name="Group 499">
            <a:extLst>
              <a:ext uri="{FF2B5EF4-FFF2-40B4-BE49-F238E27FC236}">
                <a16:creationId xmlns:a16="http://schemas.microsoft.com/office/drawing/2014/main" id="{DD1F2C4F-295F-1576-03AF-E1EF134506C0}"/>
              </a:ext>
            </a:extLst>
          </p:cNvPr>
          <p:cNvGrpSpPr/>
          <p:nvPr/>
        </p:nvGrpSpPr>
        <p:grpSpPr>
          <a:xfrm>
            <a:off x="3683893" y="3390674"/>
            <a:ext cx="495344" cy="554713"/>
            <a:chOff x="1855382" y="2447763"/>
            <a:chExt cx="495344" cy="554713"/>
          </a:xfrm>
        </p:grpSpPr>
        <p:grpSp>
          <p:nvGrpSpPr>
            <p:cNvPr id="501" name="Group 71">
              <a:extLst>
                <a:ext uri="{FF2B5EF4-FFF2-40B4-BE49-F238E27FC236}">
                  <a16:creationId xmlns:a16="http://schemas.microsoft.com/office/drawing/2014/main" id="{B5C78DF7-161A-59A8-2561-721D976598DC}"/>
                </a:ext>
              </a:extLst>
            </p:cNvPr>
            <p:cNvGrpSpPr>
              <a:grpSpLocks/>
            </p:cNvGrpSpPr>
            <p:nvPr/>
          </p:nvGrpSpPr>
          <p:grpSpPr bwMode="auto">
            <a:xfrm>
              <a:off x="1931626" y="2447763"/>
              <a:ext cx="419100" cy="538783"/>
              <a:chOff x="3016" y="1444"/>
              <a:chExt cx="264" cy="360"/>
            </a:xfrm>
          </p:grpSpPr>
          <p:sp>
            <p:nvSpPr>
              <p:cNvPr id="504" name="Line 63">
                <a:extLst>
                  <a:ext uri="{FF2B5EF4-FFF2-40B4-BE49-F238E27FC236}">
                    <a16:creationId xmlns:a16="http://schemas.microsoft.com/office/drawing/2014/main" id="{17C5052E-EC98-3B45-E568-765DD2E8859A}"/>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5" name="Freeform 64">
                <a:extLst>
                  <a:ext uri="{FF2B5EF4-FFF2-40B4-BE49-F238E27FC236}">
                    <a16:creationId xmlns:a16="http://schemas.microsoft.com/office/drawing/2014/main" id="{9D76D3AD-BA7B-EC53-2DA2-7D48059CABC1}"/>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06" name="Freeform 65">
                <a:extLst>
                  <a:ext uri="{FF2B5EF4-FFF2-40B4-BE49-F238E27FC236}">
                    <a16:creationId xmlns:a16="http://schemas.microsoft.com/office/drawing/2014/main" id="{FBC2396A-AF49-3697-D789-9FD0FF3007A0}"/>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07" name="Line 66">
                <a:extLst>
                  <a:ext uri="{FF2B5EF4-FFF2-40B4-BE49-F238E27FC236}">
                    <a16:creationId xmlns:a16="http://schemas.microsoft.com/office/drawing/2014/main" id="{3CF4AC38-DC03-30EA-D191-977288BC50FB}"/>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8" name="Line 67">
                <a:extLst>
                  <a:ext uri="{FF2B5EF4-FFF2-40B4-BE49-F238E27FC236}">
                    <a16:creationId xmlns:a16="http://schemas.microsoft.com/office/drawing/2014/main" id="{9C81A743-5636-6EFA-561C-84DE870A91A3}"/>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09" name="Line 68">
                <a:extLst>
                  <a:ext uri="{FF2B5EF4-FFF2-40B4-BE49-F238E27FC236}">
                    <a16:creationId xmlns:a16="http://schemas.microsoft.com/office/drawing/2014/main" id="{A3B55A7B-5223-61D9-C4D9-019BDEFA69B6}"/>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0" name="Oval 69">
                <a:extLst>
                  <a:ext uri="{FF2B5EF4-FFF2-40B4-BE49-F238E27FC236}">
                    <a16:creationId xmlns:a16="http://schemas.microsoft.com/office/drawing/2014/main" id="{4A3FC751-22FD-EF82-9305-A52958AE946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11" name="Oval 70">
                <a:extLst>
                  <a:ext uri="{FF2B5EF4-FFF2-40B4-BE49-F238E27FC236}">
                    <a16:creationId xmlns:a16="http://schemas.microsoft.com/office/drawing/2014/main" id="{862E42D0-B3E1-A9FB-F477-A003F5BB6AE1}"/>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02" name="Text Box 218">
              <a:extLst>
                <a:ext uri="{FF2B5EF4-FFF2-40B4-BE49-F238E27FC236}">
                  <a16:creationId xmlns:a16="http://schemas.microsoft.com/office/drawing/2014/main" id="{C711D30E-C939-4CB5-ED14-DF4C875021D1}"/>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03" name="Picture 502">
              <a:extLst>
                <a:ext uri="{FF2B5EF4-FFF2-40B4-BE49-F238E27FC236}">
                  <a16:creationId xmlns:a16="http://schemas.microsoft.com/office/drawing/2014/main" id="{117E22A3-5E27-021D-C7F9-7CE0DB66189E}"/>
                </a:ext>
              </a:extLst>
            </p:cNvPr>
            <p:cNvPicPr>
              <a:picLocks noChangeAspect="1"/>
            </p:cNvPicPr>
            <p:nvPr/>
          </p:nvPicPr>
          <p:blipFill>
            <a:blip r:embed="rId10"/>
            <a:stretch>
              <a:fillRect/>
            </a:stretch>
          </p:blipFill>
          <p:spPr>
            <a:xfrm>
              <a:off x="1855382" y="2710376"/>
              <a:ext cx="215900" cy="292100"/>
            </a:xfrm>
            <a:prstGeom prst="rect">
              <a:avLst/>
            </a:prstGeom>
          </p:spPr>
        </p:pic>
      </p:grpSp>
      <p:grpSp>
        <p:nvGrpSpPr>
          <p:cNvPr id="512" name="Group 511">
            <a:extLst>
              <a:ext uri="{FF2B5EF4-FFF2-40B4-BE49-F238E27FC236}">
                <a16:creationId xmlns:a16="http://schemas.microsoft.com/office/drawing/2014/main" id="{FC10A68A-F168-B423-EA14-A2CFA6AFBA67}"/>
              </a:ext>
            </a:extLst>
          </p:cNvPr>
          <p:cNvGrpSpPr/>
          <p:nvPr/>
        </p:nvGrpSpPr>
        <p:grpSpPr>
          <a:xfrm>
            <a:off x="5532575" y="2588431"/>
            <a:ext cx="495344" cy="554713"/>
            <a:chOff x="1855382" y="2447763"/>
            <a:chExt cx="495344" cy="554713"/>
          </a:xfrm>
        </p:grpSpPr>
        <p:grpSp>
          <p:nvGrpSpPr>
            <p:cNvPr id="513" name="Group 71">
              <a:extLst>
                <a:ext uri="{FF2B5EF4-FFF2-40B4-BE49-F238E27FC236}">
                  <a16:creationId xmlns:a16="http://schemas.microsoft.com/office/drawing/2014/main" id="{0D0C0B0B-E0E9-8CAA-A045-221D187586CB}"/>
                </a:ext>
              </a:extLst>
            </p:cNvPr>
            <p:cNvGrpSpPr>
              <a:grpSpLocks/>
            </p:cNvGrpSpPr>
            <p:nvPr/>
          </p:nvGrpSpPr>
          <p:grpSpPr bwMode="auto">
            <a:xfrm>
              <a:off x="1931626" y="2447763"/>
              <a:ext cx="419100" cy="538783"/>
              <a:chOff x="3016" y="1444"/>
              <a:chExt cx="264" cy="360"/>
            </a:xfrm>
          </p:grpSpPr>
          <p:sp>
            <p:nvSpPr>
              <p:cNvPr id="516" name="Line 63">
                <a:extLst>
                  <a:ext uri="{FF2B5EF4-FFF2-40B4-BE49-F238E27FC236}">
                    <a16:creationId xmlns:a16="http://schemas.microsoft.com/office/drawing/2014/main" id="{DA342D82-689C-D69E-7855-770EACCE5948}"/>
                  </a:ext>
                </a:extLst>
              </p:cNvPr>
              <p:cNvSpPr>
                <a:spLocks noChangeShapeType="1"/>
              </p:cNvSpPr>
              <p:nvPr/>
            </p:nvSpPr>
            <p:spPr bwMode="auto">
              <a:xfrm>
                <a:off x="3104" y="1637"/>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7" name="Freeform 64">
                <a:extLst>
                  <a:ext uri="{FF2B5EF4-FFF2-40B4-BE49-F238E27FC236}">
                    <a16:creationId xmlns:a16="http://schemas.microsoft.com/office/drawing/2014/main" id="{A50E502B-D9FD-A490-6B50-BD4FDA89B66B}"/>
                  </a:ext>
                </a:extLst>
              </p:cNvPr>
              <p:cNvSpPr>
                <a:spLocks/>
              </p:cNvSpPr>
              <p:nvPr/>
            </p:nvSpPr>
            <p:spPr bwMode="auto">
              <a:xfrm>
                <a:off x="3032" y="1444"/>
                <a:ext cx="216" cy="245"/>
              </a:xfrm>
              <a:custGeom>
                <a:avLst/>
                <a:gdLst>
                  <a:gd name="T0" fmla="*/ 0 w 216"/>
                  <a:gd name="T1" fmla="*/ 244 h 245"/>
                  <a:gd name="T2" fmla="*/ 188 w 216"/>
                  <a:gd name="T3" fmla="*/ 244 h 245"/>
                  <a:gd name="T4" fmla="*/ 215 w 216"/>
                  <a:gd name="T5" fmla="*/ 0 h 245"/>
                  <a:gd name="T6" fmla="*/ 38 w 216"/>
                  <a:gd name="T7" fmla="*/ 0 h 245"/>
                  <a:gd name="T8" fmla="*/ 0 w 216"/>
                  <a:gd name="T9" fmla="*/ 244 h 245"/>
                  <a:gd name="T10" fmla="*/ 0 60000 65536"/>
                  <a:gd name="T11" fmla="*/ 0 60000 65536"/>
                  <a:gd name="T12" fmla="*/ 0 60000 65536"/>
                  <a:gd name="T13" fmla="*/ 0 60000 65536"/>
                  <a:gd name="T14" fmla="*/ 0 60000 65536"/>
                  <a:gd name="T15" fmla="*/ 0 w 216"/>
                  <a:gd name="T16" fmla="*/ 0 h 245"/>
                  <a:gd name="T17" fmla="*/ 216 w 216"/>
                  <a:gd name="T18" fmla="*/ 245 h 245"/>
                </a:gdLst>
                <a:ahLst/>
                <a:cxnLst>
                  <a:cxn ang="T10">
                    <a:pos x="T0" y="T1"/>
                  </a:cxn>
                  <a:cxn ang="T11">
                    <a:pos x="T2" y="T3"/>
                  </a:cxn>
                  <a:cxn ang="T12">
                    <a:pos x="T4" y="T5"/>
                  </a:cxn>
                  <a:cxn ang="T13">
                    <a:pos x="T6" y="T7"/>
                  </a:cxn>
                  <a:cxn ang="T14">
                    <a:pos x="T8" y="T9"/>
                  </a:cxn>
                </a:cxnLst>
                <a:rect l="T15" t="T16" r="T17" b="T18"/>
                <a:pathLst>
                  <a:path w="216" h="245">
                    <a:moveTo>
                      <a:pt x="0" y="244"/>
                    </a:moveTo>
                    <a:lnTo>
                      <a:pt x="188" y="244"/>
                    </a:lnTo>
                    <a:lnTo>
                      <a:pt x="215" y="0"/>
                    </a:lnTo>
                    <a:lnTo>
                      <a:pt x="38" y="0"/>
                    </a:lnTo>
                    <a:lnTo>
                      <a:pt x="0" y="244"/>
                    </a:lnTo>
                  </a:path>
                </a:pathLst>
              </a:custGeom>
              <a:solidFill>
                <a:schemeClr val="bg1"/>
              </a:solidFill>
              <a:ln w="12700" cap="rnd">
                <a:solidFill>
                  <a:schemeClr val="tx1"/>
                </a:solidFill>
                <a:round/>
                <a:headEnd/>
                <a:tailEnd/>
              </a:ln>
            </p:spPr>
            <p:txBody>
              <a:bodyPr/>
              <a:lstStyle/>
              <a:p>
                <a:endParaRPr lang="en-US"/>
              </a:p>
            </p:txBody>
          </p:sp>
          <p:sp>
            <p:nvSpPr>
              <p:cNvPr id="518" name="Freeform 65">
                <a:extLst>
                  <a:ext uri="{FF2B5EF4-FFF2-40B4-BE49-F238E27FC236}">
                    <a16:creationId xmlns:a16="http://schemas.microsoft.com/office/drawing/2014/main" id="{C0ECCF1C-523F-F536-6D0C-7A5D65E88A0A}"/>
                  </a:ext>
                </a:extLst>
              </p:cNvPr>
              <p:cNvSpPr>
                <a:spLocks/>
              </p:cNvSpPr>
              <p:nvPr/>
            </p:nvSpPr>
            <p:spPr bwMode="auto">
              <a:xfrm>
                <a:off x="3223" y="1444"/>
                <a:ext cx="39" cy="220"/>
              </a:xfrm>
              <a:custGeom>
                <a:avLst/>
                <a:gdLst>
                  <a:gd name="T0" fmla="*/ 0 w 39"/>
                  <a:gd name="T1" fmla="*/ 219 h 220"/>
                  <a:gd name="T2" fmla="*/ 38 w 39"/>
                  <a:gd name="T3" fmla="*/ 219 h 220"/>
                  <a:gd name="T4" fmla="*/ 23 w 39"/>
                  <a:gd name="T5" fmla="*/ 0 h 220"/>
                  <a:gd name="T6" fmla="*/ 0 w 39"/>
                  <a:gd name="T7" fmla="*/ 219 h 220"/>
                  <a:gd name="T8" fmla="*/ 0 60000 65536"/>
                  <a:gd name="T9" fmla="*/ 0 60000 65536"/>
                  <a:gd name="T10" fmla="*/ 0 60000 65536"/>
                  <a:gd name="T11" fmla="*/ 0 60000 65536"/>
                  <a:gd name="T12" fmla="*/ 0 w 39"/>
                  <a:gd name="T13" fmla="*/ 0 h 220"/>
                  <a:gd name="T14" fmla="*/ 39 w 39"/>
                  <a:gd name="T15" fmla="*/ 220 h 220"/>
                </a:gdLst>
                <a:ahLst/>
                <a:cxnLst>
                  <a:cxn ang="T8">
                    <a:pos x="T0" y="T1"/>
                  </a:cxn>
                  <a:cxn ang="T9">
                    <a:pos x="T2" y="T3"/>
                  </a:cxn>
                  <a:cxn ang="T10">
                    <a:pos x="T4" y="T5"/>
                  </a:cxn>
                  <a:cxn ang="T11">
                    <a:pos x="T6" y="T7"/>
                  </a:cxn>
                </a:cxnLst>
                <a:rect l="T12" t="T13" r="T14" b="T15"/>
                <a:pathLst>
                  <a:path w="39" h="220">
                    <a:moveTo>
                      <a:pt x="0" y="219"/>
                    </a:moveTo>
                    <a:lnTo>
                      <a:pt x="38" y="219"/>
                    </a:lnTo>
                    <a:lnTo>
                      <a:pt x="23" y="0"/>
                    </a:lnTo>
                    <a:lnTo>
                      <a:pt x="0" y="219"/>
                    </a:lnTo>
                  </a:path>
                </a:pathLst>
              </a:custGeom>
              <a:solidFill>
                <a:schemeClr val="accent1"/>
              </a:solidFill>
              <a:ln w="12700" cap="rnd">
                <a:solidFill>
                  <a:schemeClr val="tx1"/>
                </a:solidFill>
                <a:round/>
                <a:headEnd/>
                <a:tailEnd/>
              </a:ln>
            </p:spPr>
            <p:txBody>
              <a:bodyPr/>
              <a:lstStyle/>
              <a:p>
                <a:endParaRPr lang="en-US"/>
              </a:p>
            </p:txBody>
          </p:sp>
          <p:sp>
            <p:nvSpPr>
              <p:cNvPr id="519" name="Line 66">
                <a:extLst>
                  <a:ext uri="{FF2B5EF4-FFF2-40B4-BE49-F238E27FC236}">
                    <a16:creationId xmlns:a16="http://schemas.microsoft.com/office/drawing/2014/main" id="{3ADF3E3E-D131-06A8-319F-B619EF8AD539}"/>
                  </a:ext>
                </a:extLst>
              </p:cNvPr>
              <p:cNvSpPr>
                <a:spLocks noChangeShapeType="1"/>
              </p:cNvSpPr>
              <p:nvPr/>
            </p:nvSpPr>
            <p:spPr bwMode="auto">
              <a:xfrm flipH="1">
                <a:off x="3016" y="1693"/>
                <a:ext cx="16"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0" name="Line 67">
                <a:extLst>
                  <a:ext uri="{FF2B5EF4-FFF2-40B4-BE49-F238E27FC236}">
                    <a16:creationId xmlns:a16="http://schemas.microsoft.com/office/drawing/2014/main" id="{68B2E737-9EF6-BEA4-B70A-4925A5A2DDBA}"/>
                  </a:ext>
                </a:extLst>
              </p:cNvPr>
              <p:cNvSpPr>
                <a:spLocks noChangeShapeType="1"/>
              </p:cNvSpPr>
              <p:nvPr/>
            </p:nvSpPr>
            <p:spPr bwMode="auto">
              <a:xfrm flipH="1">
                <a:off x="3204" y="169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1" name="Line 68">
                <a:extLst>
                  <a:ext uri="{FF2B5EF4-FFF2-40B4-BE49-F238E27FC236}">
                    <a16:creationId xmlns:a16="http://schemas.microsoft.com/office/drawing/2014/main" id="{70DC8BE8-96C8-A4AC-6E72-9907410FBCA8}"/>
                  </a:ext>
                </a:extLst>
              </p:cNvPr>
              <p:cNvSpPr>
                <a:spLocks noChangeShapeType="1"/>
              </p:cNvSpPr>
              <p:nvPr/>
            </p:nvSpPr>
            <p:spPr bwMode="auto">
              <a:xfrm>
                <a:off x="3265" y="1663"/>
                <a:ext cx="15" cy="111"/>
              </a:xfrm>
              <a:prstGeom prst="line">
                <a:avLst/>
              </a:prstGeom>
              <a:noFill/>
              <a:ln w="508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22" name="Oval 69">
                <a:extLst>
                  <a:ext uri="{FF2B5EF4-FFF2-40B4-BE49-F238E27FC236}">
                    <a16:creationId xmlns:a16="http://schemas.microsoft.com/office/drawing/2014/main" id="{908E0BAB-54F3-2B81-D52E-E9E10E92E828}"/>
                  </a:ext>
                </a:extLst>
              </p:cNvPr>
              <p:cNvSpPr>
                <a:spLocks noChangeArrowheads="1"/>
              </p:cNvSpPr>
              <p:nvPr/>
            </p:nvSpPr>
            <p:spPr bwMode="auto">
              <a:xfrm>
                <a:off x="3097" y="1471"/>
                <a:ext cx="3"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sp>
            <p:nvSpPr>
              <p:cNvPr id="523" name="Oval 70">
                <a:extLst>
                  <a:ext uri="{FF2B5EF4-FFF2-40B4-BE49-F238E27FC236}">
                    <a16:creationId xmlns:a16="http://schemas.microsoft.com/office/drawing/2014/main" id="{FBDA4E96-891E-D4D5-2876-98695C64AB05}"/>
                  </a:ext>
                </a:extLst>
              </p:cNvPr>
              <p:cNvSpPr>
                <a:spLocks noChangeArrowheads="1"/>
              </p:cNvSpPr>
              <p:nvPr/>
            </p:nvSpPr>
            <p:spPr bwMode="auto">
              <a:xfrm>
                <a:off x="3187" y="1471"/>
                <a:ext cx="4" cy="5"/>
              </a:xfrm>
              <a:prstGeom prst="ellipse">
                <a:avLst/>
              </a:prstGeom>
              <a:solidFill>
                <a:schemeClr val="tx1"/>
              </a:solidFill>
              <a:ln w="12700">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latin typeface="Calibri" panose="020F0502020204030204" pitchFamily="34" charset="0"/>
                  <a:cs typeface="Arial" panose="020B0604020202020204" pitchFamily="34" charset="0"/>
                </a:endParaRPr>
              </a:p>
            </p:txBody>
          </p:sp>
        </p:grpSp>
        <p:sp>
          <p:nvSpPr>
            <p:cNvPr id="514" name="Text Box 218">
              <a:extLst>
                <a:ext uri="{FF2B5EF4-FFF2-40B4-BE49-F238E27FC236}">
                  <a16:creationId xmlns:a16="http://schemas.microsoft.com/office/drawing/2014/main" id="{13542576-746B-3969-BDF0-C77521DCAC16}"/>
                </a:ext>
              </a:extLst>
            </p:cNvPr>
            <p:cNvSpPr txBox="1">
              <a:spLocks noChangeArrowheads="1"/>
            </p:cNvSpPr>
            <p:nvPr/>
          </p:nvSpPr>
          <p:spPr bwMode="auto">
            <a:xfrm>
              <a:off x="1971111" y="2457532"/>
              <a:ext cx="31451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cs typeface="Arial" panose="020B0604020202020204" pitchFamily="34" charset="0"/>
                </a:rPr>
                <a:t>7</a:t>
              </a:r>
            </a:p>
          </p:txBody>
        </p:sp>
        <p:pic>
          <p:nvPicPr>
            <p:cNvPr id="515" name="Picture 514">
              <a:extLst>
                <a:ext uri="{FF2B5EF4-FFF2-40B4-BE49-F238E27FC236}">
                  <a16:creationId xmlns:a16="http://schemas.microsoft.com/office/drawing/2014/main" id="{225C1C4F-F622-E788-D44B-F27D63E55E76}"/>
                </a:ext>
              </a:extLst>
            </p:cNvPr>
            <p:cNvPicPr>
              <a:picLocks noChangeAspect="1"/>
            </p:cNvPicPr>
            <p:nvPr/>
          </p:nvPicPr>
          <p:blipFill>
            <a:blip r:embed="rId10"/>
            <a:stretch>
              <a:fillRect/>
            </a:stretch>
          </p:blipFill>
          <p:spPr>
            <a:xfrm>
              <a:off x="1855382" y="2710376"/>
              <a:ext cx="215900" cy="292100"/>
            </a:xfrm>
            <a:prstGeom prst="rect">
              <a:avLst/>
            </a:prstGeom>
          </p:spPr>
        </p:pic>
      </p:grpSp>
      <p:pic>
        <p:nvPicPr>
          <p:cNvPr id="526" name="Picture 525">
            <a:extLst>
              <a:ext uri="{FF2B5EF4-FFF2-40B4-BE49-F238E27FC236}">
                <a16:creationId xmlns:a16="http://schemas.microsoft.com/office/drawing/2014/main" id="{A4B72E84-9D00-2A28-FE9B-1CE0AD015B78}"/>
              </a:ext>
            </a:extLst>
          </p:cNvPr>
          <p:cNvPicPr>
            <a:picLocks noChangeAspect="1"/>
          </p:cNvPicPr>
          <p:nvPr/>
        </p:nvPicPr>
        <p:blipFill>
          <a:blip r:embed="rId10"/>
          <a:stretch>
            <a:fillRect/>
          </a:stretch>
        </p:blipFill>
        <p:spPr>
          <a:xfrm>
            <a:off x="5699390" y="2928783"/>
            <a:ext cx="215900" cy="292100"/>
          </a:xfrm>
          <a:prstGeom prst="rect">
            <a:avLst/>
          </a:prstGeom>
        </p:spPr>
      </p:pic>
      <p:pic>
        <p:nvPicPr>
          <p:cNvPr id="527" name="Picture 526">
            <a:extLst>
              <a:ext uri="{FF2B5EF4-FFF2-40B4-BE49-F238E27FC236}">
                <a16:creationId xmlns:a16="http://schemas.microsoft.com/office/drawing/2014/main" id="{F31F1B10-8814-3A17-81F9-FA97BCD7767D}"/>
              </a:ext>
            </a:extLst>
          </p:cNvPr>
          <p:cNvPicPr>
            <a:picLocks noChangeAspect="1"/>
          </p:cNvPicPr>
          <p:nvPr/>
        </p:nvPicPr>
        <p:blipFill>
          <a:blip r:embed="rId10"/>
          <a:stretch>
            <a:fillRect/>
          </a:stretch>
        </p:blipFill>
        <p:spPr>
          <a:xfrm>
            <a:off x="5893065" y="2932653"/>
            <a:ext cx="215900" cy="292100"/>
          </a:xfrm>
          <a:prstGeom prst="rect">
            <a:avLst/>
          </a:prstGeom>
        </p:spPr>
      </p:pic>
      <p:pic>
        <p:nvPicPr>
          <p:cNvPr id="528" name="Picture 527">
            <a:extLst>
              <a:ext uri="{FF2B5EF4-FFF2-40B4-BE49-F238E27FC236}">
                <a16:creationId xmlns:a16="http://schemas.microsoft.com/office/drawing/2014/main" id="{399B920D-2254-AD9D-8904-5F5828812FF3}"/>
              </a:ext>
            </a:extLst>
          </p:cNvPr>
          <p:cNvPicPr>
            <a:picLocks noChangeAspect="1"/>
          </p:cNvPicPr>
          <p:nvPr/>
        </p:nvPicPr>
        <p:blipFill>
          <a:blip r:embed="rId10"/>
          <a:stretch>
            <a:fillRect/>
          </a:stretch>
        </p:blipFill>
        <p:spPr>
          <a:xfrm>
            <a:off x="5522248" y="3160261"/>
            <a:ext cx="215900" cy="292100"/>
          </a:xfrm>
          <a:prstGeom prst="rect">
            <a:avLst/>
          </a:prstGeom>
        </p:spPr>
      </p:pic>
      <p:pic>
        <p:nvPicPr>
          <p:cNvPr id="529" name="Picture 528">
            <a:extLst>
              <a:ext uri="{FF2B5EF4-FFF2-40B4-BE49-F238E27FC236}">
                <a16:creationId xmlns:a16="http://schemas.microsoft.com/office/drawing/2014/main" id="{4B9E13D4-6A23-5346-6543-B82AF2C3E898}"/>
              </a:ext>
            </a:extLst>
          </p:cNvPr>
          <p:cNvPicPr>
            <a:picLocks noChangeAspect="1"/>
          </p:cNvPicPr>
          <p:nvPr/>
        </p:nvPicPr>
        <p:blipFill>
          <a:blip r:embed="rId10"/>
          <a:stretch>
            <a:fillRect/>
          </a:stretch>
        </p:blipFill>
        <p:spPr>
          <a:xfrm>
            <a:off x="5771788" y="3221243"/>
            <a:ext cx="215900" cy="292100"/>
          </a:xfrm>
          <a:prstGeom prst="rect">
            <a:avLst/>
          </a:prstGeom>
        </p:spPr>
      </p:pic>
      <p:pic>
        <p:nvPicPr>
          <p:cNvPr id="530" name="Picture 529">
            <a:extLst>
              <a:ext uri="{FF2B5EF4-FFF2-40B4-BE49-F238E27FC236}">
                <a16:creationId xmlns:a16="http://schemas.microsoft.com/office/drawing/2014/main" id="{642FD2E2-49BB-01DA-BFA3-79A6EBB6F056}"/>
              </a:ext>
            </a:extLst>
          </p:cNvPr>
          <p:cNvPicPr>
            <a:picLocks noChangeAspect="1"/>
          </p:cNvPicPr>
          <p:nvPr/>
        </p:nvPicPr>
        <p:blipFill>
          <a:blip r:embed="rId10"/>
          <a:stretch>
            <a:fillRect/>
          </a:stretch>
        </p:blipFill>
        <p:spPr>
          <a:xfrm>
            <a:off x="6062300" y="3094634"/>
            <a:ext cx="215900" cy="292100"/>
          </a:xfrm>
          <a:prstGeom prst="rect">
            <a:avLst/>
          </a:prstGeom>
        </p:spPr>
      </p:pic>
      <p:pic>
        <p:nvPicPr>
          <p:cNvPr id="531" name="Picture 530">
            <a:extLst>
              <a:ext uri="{FF2B5EF4-FFF2-40B4-BE49-F238E27FC236}">
                <a16:creationId xmlns:a16="http://schemas.microsoft.com/office/drawing/2014/main" id="{29C3CDC9-7FFB-9158-4CB7-F0E106567344}"/>
              </a:ext>
            </a:extLst>
          </p:cNvPr>
          <p:cNvPicPr>
            <a:picLocks noChangeAspect="1"/>
          </p:cNvPicPr>
          <p:nvPr/>
        </p:nvPicPr>
        <p:blipFill>
          <a:blip r:embed="rId10"/>
          <a:stretch>
            <a:fillRect/>
          </a:stretch>
        </p:blipFill>
        <p:spPr>
          <a:xfrm>
            <a:off x="5348469" y="2937055"/>
            <a:ext cx="215900" cy="292100"/>
          </a:xfrm>
          <a:prstGeom prst="rect">
            <a:avLst/>
          </a:prstGeom>
        </p:spPr>
      </p:pic>
      <p:pic>
        <p:nvPicPr>
          <p:cNvPr id="532" name="Picture 531">
            <a:extLst>
              <a:ext uri="{FF2B5EF4-FFF2-40B4-BE49-F238E27FC236}">
                <a16:creationId xmlns:a16="http://schemas.microsoft.com/office/drawing/2014/main" id="{C3503183-7A20-8A99-1AC9-64B44E5F19A0}"/>
              </a:ext>
            </a:extLst>
          </p:cNvPr>
          <p:cNvPicPr>
            <a:picLocks noChangeAspect="1"/>
          </p:cNvPicPr>
          <p:nvPr/>
        </p:nvPicPr>
        <p:blipFill>
          <a:blip r:embed="rId10"/>
          <a:stretch>
            <a:fillRect/>
          </a:stretch>
        </p:blipFill>
        <p:spPr>
          <a:xfrm>
            <a:off x="7472963" y="2466341"/>
            <a:ext cx="215900" cy="292100"/>
          </a:xfrm>
          <a:prstGeom prst="rect">
            <a:avLst/>
          </a:prstGeom>
        </p:spPr>
      </p:pic>
      <p:pic>
        <p:nvPicPr>
          <p:cNvPr id="14" name="Picture 13">
            <a:extLst>
              <a:ext uri="{FF2B5EF4-FFF2-40B4-BE49-F238E27FC236}">
                <a16:creationId xmlns:a16="http://schemas.microsoft.com/office/drawing/2014/main" id="{CD194BC3-634E-D31D-3BAB-96C474139B19}"/>
              </a:ext>
            </a:extLst>
          </p:cNvPr>
          <p:cNvPicPr>
            <a:picLocks noChangeAspect="1"/>
          </p:cNvPicPr>
          <p:nvPr/>
        </p:nvPicPr>
        <p:blipFill>
          <a:blip r:embed="rId10"/>
          <a:stretch>
            <a:fillRect/>
          </a:stretch>
        </p:blipFill>
        <p:spPr>
          <a:xfrm>
            <a:off x="7335427" y="2844973"/>
            <a:ext cx="215900" cy="292100"/>
          </a:xfrm>
          <a:prstGeom prst="rect">
            <a:avLst/>
          </a:prstGeom>
        </p:spPr>
      </p:pic>
      <p:pic>
        <p:nvPicPr>
          <p:cNvPr id="15" name="Picture 14">
            <a:extLst>
              <a:ext uri="{FF2B5EF4-FFF2-40B4-BE49-F238E27FC236}">
                <a16:creationId xmlns:a16="http://schemas.microsoft.com/office/drawing/2014/main" id="{D089FF98-9FAB-4AC8-9124-349038997319}"/>
              </a:ext>
            </a:extLst>
          </p:cNvPr>
          <p:cNvPicPr>
            <a:picLocks noChangeAspect="1"/>
          </p:cNvPicPr>
          <p:nvPr/>
        </p:nvPicPr>
        <p:blipFill>
          <a:blip r:embed="rId10"/>
          <a:stretch>
            <a:fillRect/>
          </a:stretch>
        </p:blipFill>
        <p:spPr>
          <a:xfrm>
            <a:off x="8287012" y="2401044"/>
            <a:ext cx="215900" cy="292100"/>
          </a:xfrm>
          <a:prstGeom prst="rect">
            <a:avLst/>
          </a:prstGeom>
        </p:spPr>
      </p:pic>
      <p:pic>
        <p:nvPicPr>
          <p:cNvPr id="16" name="Picture 15">
            <a:extLst>
              <a:ext uri="{FF2B5EF4-FFF2-40B4-BE49-F238E27FC236}">
                <a16:creationId xmlns:a16="http://schemas.microsoft.com/office/drawing/2014/main" id="{DDC51774-D24B-DA89-422F-BD6708C801B5}"/>
              </a:ext>
            </a:extLst>
          </p:cNvPr>
          <p:cNvPicPr>
            <a:picLocks noChangeAspect="1"/>
          </p:cNvPicPr>
          <p:nvPr/>
        </p:nvPicPr>
        <p:blipFill>
          <a:blip r:embed="rId10"/>
          <a:stretch>
            <a:fillRect/>
          </a:stretch>
        </p:blipFill>
        <p:spPr>
          <a:xfrm>
            <a:off x="8745492" y="2488172"/>
            <a:ext cx="215900" cy="292100"/>
          </a:xfrm>
          <a:prstGeom prst="rect">
            <a:avLst/>
          </a:prstGeom>
        </p:spPr>
      </p:pic>
      <p:pic>
        <p:nvPicPr>
          <p:cNvPr id="17" name="Picture 16">
            <a:extLst>
              <a:ext uri="{FF2B5EF4-FFF2-40B4-BE49-F238E27FC236}">
                <a16:creationId xmlns:a16="http://schemas.microsoft.com/office/drawing/2014/main" id="{EC48DA92-1FC0-4E33-777A-48A1765B83D6}"/>
              </a:ext>
            </a:extLst>
          </p:cNvPr>
          <p:cNvPicPr>
            <a:picLocks noChangeAspect="1"/>
          </p:cNvPicPr>
          <p:nvPr/>
        </p:nvPicPr>
        <p:blipFill>
          <a:blip r:embed="rId10"/>
          <a:stretch>
            <a:fillRect/>
          </a:stretch>
        </p:blipFill>
        <p:spPr>
          <a:xfrm>
            <a:off x="9301554" y="2762596"/>
            <a:ext cx="215900" cy="292100"/>
          </a:xfrm>
          <a:prstGeom prst="rect">
            <a:avLst/>
          </a:prstGeom>
        </p:spPr>
      </p:pic>
      <p:pic>
        <p:nvPicPr>
          <p:cNvPr id="18" name="Picture 17">
            <a:extLst>
              <a:ext uri="{FF2B5EF4-FFF2-40B4-BE49-F238E27FC236}">
                <a16:creationId xmlns:a16="http://schemas.microsoft.com/office/drawing/2014/main" id="{6D01426B-9CBF-960B-9248-6B1D41FCFFA8}"/>
              </a:ext>
            </a:extLst>
          </p:cNvPr>
          <p:cNvPicPr>
            <a:picLocks noChangeAspect="1"/>
          </p:cNvPicPr>
          <p:nvPr/>
        </p:nvPicPr>
        <p:blipFill>
          <a:blip r:embed="rId10"/>
          <a:stretch>
            <a:fillRect/>
          </a:stretch>
        </p:blipFill>
        <p:spPr>
          <a:xfrm>
            <a:off x="9584883" y="2626487"/>
            <a:ext cx="215900" cy="292100"/>
          </a:xfrm>
          <a:prstGeom prst="rect">
            <a:avLst/>
          </a:prstGeom>
        </p:spPr>
      </p:pic>
      <p:pic>
        <p:nvPicPr>
          <p:cNvPr id="19" name="Picture 18">
            <a:extLst>
              <a:ext uri="{FF2B5EF4-FFF2-40B4-BE49-F238E27FC236}">
                <a16:creationId xmlns:a16="http://schemas.microsoft.com/office/drawing/2014/main" id="{BE2A7E3E-6188-0ED3-8F35-2C25A5D2D2D3}"/>
              </a:ext>
            </a:extLst>
          </p:cNvPr>
          <p:cNvPicPr>
            <a:picLocks noChangeAspect="1"/>
          </p:cNvPicPr>
          <p:nvPr/>
        </p:nvPicPr>
        <p:blipFill>
          <a:blip r:embed="rId10"/>
          <a:stretch>
            <a:fillRect/>
          </a:stretch>
        </p:blipFill>
        <p:spPr>
          <a:xfrm>
            <a:off x="9738259" y="3076093"/>
            <a:ext cx="215900" cy="292100"/>
          </a:xfrm>
          <a:prstGeom prst="rect">
            <a:avLst/>
          </a:prstGeom>
        </p:spPr>
      </p:pic>
      <p:pic>
        <p:nvPicPr>
          <p:cNvPr id="20" name="Picture 19">
            <a:extLst>
              <a:ext uri="{FF2B5EF4-FFF2-40B4-BE49-F238E27FC236}">
                <a16:creationId xmlns:a16="http://schemas.microsoft.com/office/drawing/2014/main" id="{97F84BB6-B4C3-B355-6542-036A87CD720F}"/>
              </a:ext>
            </a:extLst>
          </p:cNvPr>
          <p:cNvPicPr>
            <a:picLocks noChangeAspect="1"/>
          </p:cNvPicPr>
          <p:nvPr/>
        </p:nvPicPr>
        <p:blipFill>
          <a:blip r:embed="rId10"/>
          <a:stretch>
            <a:fillRect/>
          </a:stretch>
        </p:blipFill>
        <p:spPr>
          <a:xfrm>
            <a:off x="2679337" y="5321474"/>
            <a:ext cx="215900" cy="292100"/>
          </a:xfrm>
          <a:prstGeom prst="rect">
            <a:avLst/>
          </a:prstGeom>
        </p:spPr>
      </p:pic>
      <p:pic>
        <p:nvPicPr>
          <p:cNvPr id="22" name="Picture 21">
            <a:extLst>
              <a:ext uri="{FF2B5EF4-FFF2-40B4-BE49-F238E27FC236}">
                <a16:creationId xmlns:a16="http://schemas.microsoft.com/office/drawing/2014/main" id="{426A1A83-0D40-2B18-265A-34CAB37E576C}"/>
              </a:ext>
            </a:extLst>
          </p:cNvPr>
          <p:cNvPicPr>
            <a:picLocks noChangeAspect="1"/>
          </p:cNvPicPr>
          <p:nvPr/>
        </p:nvPicPr>
        <p:blipFill>
          <a:blip r:embed="rId10"/>
          <a:stretch>
            <a:fillRect/>
          </a:stretch>
        </p:blipFill>
        <p:spPr>
          <a:xfrm>
            <a:off x="2885511" y="5451220"/>
            <a:ext cx="215900" cy="292100"/>
          </a:xfrm>
          <a:prstGeom prst="rect">
            <a:avLst/>
          </a:prstGeom>
        </p:spPr>
      </p:pic>
      <p:pic>
        <p:nvPicPr>
          <p:cNvPr id="23" name="Picture 22">
            <a:extLst>
              <a:ext uri="{FF2B5EF4-FFF2-40B4-BE49-F238E27FC236}">
                <a16:creationId xmlns:a16="http://schemas.microsoft.com/office/drawing/2014/main" id="{EBD74CF2-4F0A-1184-6875-F1DD65396ADF}"/>
              </a:ext>
            </a:extLst>
          </p:cNvPr>
          <p:cNvPicPr>
            <a:picLocks noChangeAspect="1"/>
          </p:cNvPicPr>
          <p:nvPr/>
        </p:nvPicPr>
        <p:blipFill>
          <a:blip r:embed="rId10"/>
          <a:stretch>
            <a:fillRect/>
          </a:stretch>
        </p:blipFill>
        <p:spPr>
          <a:xfrm>
            <a:off x="2649129" y="5593373"/>
            <a:ext cx="215900" cy="292100"/>
          </a:xfrm>
          <a:prstGeom prst="rect">
            <a:avLst/>
          </a:prstGeom>
        </p:spPr>
      </p:pic>
      <p:pic>
        <p:nvPicPr>
          <p:cNvPr id="24" name="Picture 23">
            <a:extLst>
              <a:ext uri="{FF2B5EF4-FFF2-40B4-BE49-F238E27FC236}">
                <a16:creationId xmlns:a16="http://schemas.microsoft.com/office/drawing/2014/main" id="{8794F599-088A-F544-5CD3-884630E9FFA7}"/>
              </a:ext>
            </a:extLst>
          </p:cNvPr>
          <p:cNvPicPr>
            <a:picLocks noChangeAspect="1"/>
          </p:cNvPicPr>
          <p:nvPr/>
        </p:nvPicPr>
        <p:blipFill>
          <a:blip r:embed="rId10"/>
          <a:stretch>
            <a:fillRect/>
          </a:stretch>
        </p:blipFill>
        <p:spPr>
          <a:xfrm>
            <a:off x="3190467" y="5587362"/>
            <a:ext cx="215900" cy="292100"/>
          </a:xfrm>
          <a:prstGeom prst="rect">
            <a:avLst/>
          </a:prstGeom>
        </p:spPr>
      </p:pic>
      <p:pic>
        <p:nvPicPr>
          <p:cNvPr id="25" name="Picture 24">
            <a:extLst>
              <a:ext uri="{FF2B5EF4-FFF2-40B4-BE49-F238E27FC236}">
                <a16:creationId xmlns:a16="http://schemas.microsoft.com/office/drawing/2014/main" id="{F55D61A6-6E01-7BC0-5B05-6892FE767E50}"/>
              </a:ext>
            </a:extLst>
          </p:cNvPr>
          <p:cNvPicPr>
            <a:picLocks noChangeAspect="1"/>
          </p:cNvPicPr>
          <p:nvPr/>
        </p:nvPicPr>
        <p:blipFill>
          <a:blip r:embed="rId10"/>
          <a:stretch>
            <a:fillRect/>
          </a:stretch>
        </p:blipFill>
        <p:spPr>
          <a:xfrm>
            <a:off x="2997609" y="5689561"/>
            <a:ext cx="215900" cy="292100"/>
          </a:xfrm>
          <a:prstGeom prst="rect">
            <a:avLst/>
          </a:prstGeom>
        </p:spPr>
      </p:pic>
      <p:pic>
        <p:nvPicPr>
          <p:cNvPr id="26" name="Picture 25">
            <a:extLst>
              <a:ext uri="{FF2B5EF4-FFF2-40B4-BE49-F238E27FC236}">
                <a16:creationId xmlns:a16="http://schemas.microsoft.com/office/drawing/2014/main" id="{B10D5B40-D30C-C728-3B4D-EBF9C0E55859}"/>
              </a:ext>
            </a:extLst>
          </p:cNvPr>
          <p:cNvPicPr>
            <a:picLocks noChangeAspect="1"/>
          </p:cNvPicPr>
          <p:nvPr/>
        </p:nvPicPr>
        <p:blipFill>
          <a:blip r:embed="rId10"/>
          <a:stretch>
            <a:fillRect/>
          </a:stretch>
        </p:blipFill>
        <p:spPr>
          <a:xfrm>
            <a:off x="3464357" y="5710847"/>
            <a:ext cx="215900" cy="292100"/>
          </a:xfrm>
          <a:prstGeom prst="rect">
            <a:avLst/>
          </a:prstGeom>
        </p:spPr>
      </p:pic>
      <p:pic>
        <p:nvPicPr>
          <p:cNvPr id="27" name="Picture 26">
            <a:extLst>
              <a:ext uri="{FF2B5EF4-FFF2-40B4-BE49-F238E27FC236}">
                <a16:creationId xmlns:a16="http://schemas.microsoft.com/office/drawing/2014/main" id="{71045D1A-1246-8B6A-D500-A3F39E6BEB3D}"/>
              </a:ext>
            </a:extLst>
          </p:cNvPr>
          <p:cNvPicPr>
            <a:picLocks noChangeAspect="1"/>
          </p:cNvPicPr>
          <p:nvPr/>
        </p:nvPicPr>
        <p:blipFill>
          <a:blip r:embed="rId10"/>
          <a:stretch>
            <a:fillRect/>
          </a:stretch>
        </p:blipFill>
        <p:spPr>
          <a:xfrm>
            <a:off x="3381013" y="5404574"/>
            <a:ext cx="215900" cy="292100"/>
          </a:xfrm>
          <a:prstGeom prst="rect">
            <a:avLst/>
          </a:prstGeom>
        </p:spPr>
      </p:pic>
      <p:pic>
        <p:nvPicPr>
          <p:cNvPr id="28" name="Picture 27">
            <a:extLst>
              <a:ext uri="{FF2B5EF4-FFF2-40B4-BE49-F238E27FC236}">
                <a16:creationId xmlns:a16="http://schemas.microsoft.com/office/drawing/2014/main" id="{6830FAB5-1B09-AC52-4076-7B3E74D9A306}"/>
              </a:ext>
            </a:extLst>
          </p:cNvPr>
          <p:cNvPicPr>
            <a:picLocks noChangeAspect="1"/>
          </p:cNvPicPr>
          <p:nvPr/>
        </p:nvPicPr>
        <p:blipFill>
          <a:blip r:embed="rId10"/>
          <a:stretch>
            <a:fillRect/>
          </a:stretch>
        </p:blipFill>
        <p:spPr>
          <a:xfrm>
            <a:off x="4695509" y="5301273"/>
            <a:ext cx="215900" cy="292100"/>
          </a:xfrm>
          <a:prstGeom prst="rect">
            <a:avLst/>
          </a:prstGeom>
        </p:spPr>
      </p:pic>
      <p:pic>
        <p:nvPicPr>
          <p:cNvPr id="29" name="Picture 28">
            <a:extLst>
              <a:ext uri="{FF2B5EF4-FFF2-40B4-BE49-F238E27FC236}">
                <a16:creationId xmlns:a16="http://schemas.microsoft.com/office/drawing/2014/main" id="{F3B38C58-6398-4548-0E90-FB00AF708D85}"/>
              </a:ext>
            </a:extLst>
          </p:cNvPr>
          <p:cNvPicPr>
            <a:picLocks noChangeAspect="1"/>
          </p:cNvPicPr>
          <p:nvPr/>
        </p:nvPicPr>
        <p:blipFill>
          <a:blip r:embed="rId10"/>
          <a:stretch>
            <a:fillRect/>
          </a:stretch>
        </p:blipFill>
        <p:spPr>
          <a:xfrm>
            <a:off x="4976180" y="5271096"/>
            <a:ext cx="215900" cy="292100"/>
          </a:xfrm>
          <a:prstGeom prst="rect">
            <a:avLst/>
          </a:prstGeom>
        </p:spPr>
      </p:pic>
      <p:pic>
        <p:nvPicPr>
          <p:cNvPr id="30" name="Picture 29">
            <a:extLst>
              <a:ext uri="{FF2B5EF4-FFF2-40B4-BE49-F238E27FC236}">
                <a16:creationId xmlns:a16="http://schemas.microsoft.com/office/drawing/2014/main" id="{EEFA9026-E03D-9382-A814-BB87521A1CAC}"/>
              </a:ext>
            </a:extLst>
          </p:cNvPr>
          <p:cNvPicPr>
            <a:picLocks noChangeAspect="1"/>
          </p:cNvPicPr>
          <p:nvPr/>
        </p:nvPicPr>
        <p:blipFill>
          <a:blip r:embed="rId10"/>
          <a:stretch>
            <a:fillRect/>
          </a:stretch>
        </p:blipFill>
        <p:spPr>
          <a:xfrm>
            <a:off x="5735186" y="4935354"/>
            <a:ext cx="215900" cy="292100"/>
          </a:xfrm>
          <a:prstGeom prst="rect">
            <a:avLst/>
          </a:prstGeom>
        </p:spPr>
      </p:pic>
      <p:pic>
        <p:nvPicPr>
          <p:cNvPr id="31" name="Picture 30">
            <a:extLst>
              <a:ext uri="{FF2B5EF4-FFF2-40B4-BE49-F238E27FC236}">
                <a16:creationId xmlns:a16="http://schemas.microsoft.com/office/drawing/2014/main" id="{0D3CE0AE-20DB-EC56-6FB4-2C425B5F408D}"/>
              </a:ext>
            </a:extLst>
          </p:cNvPr>
          <p:cNvPicPr>
            <a:picLocks noChangeAspect="1"/>
          </p:cNvPicPr>
          <p:nvPr/>
        </p:nvPicPr>
        <p:blipFill>
          <a:blip r:embed="rId10"/>
          <a:stretch>
            <a:fillRect/>
          </a:stretch>
        </p:blipFill>
        <p:spPr>
          <a:xfrm>
            <a:off x="6627496" y="5341586"/>
            <a:ext cx="215900" cy="292100"/>
          </a:xfrm>
          <a:prstGeom prst="rect">
            <a:avLst/>
          </a:prstGeom>
        </p:spPr>
      </p:pic>
      <p:pic>
        <p:nvPicPr>
          <p:cNvPr id="32" name="Picture 31">
            <a:extLst>
              <a:ext uri="{FF2B5EF4-FFF2-40B4-BE49-F238E27FC236}">
                <a16:creationId xmlns:a16="http://schemas.microsoft.com/office/drawing/2014/main" id="{3909F45F-AFC5-3B69-820F-BB169E6051B5}"/>
              </a:ext>
            </a:extLst>
          </p:cNvPr>
          <p:cNvPicPr>
            <a:picLocks noChangeAspect="1"/>
          </p:cNvPicPr>
          <p:nvPr/>
        </p:nvPicPr>
        <p:blipFill>
          <a:blip r:embed="rId10"/>
          <a:stretch>
            <a:fillRect/>
          </a:stretch>
        </p:blipFill>
        <p:spPr>
          <a:xfrm>
            <a:off x="5468185" y="5095392"/>
            <a:ext cx="215900" cy="292100"/>
          </a:xfrm>
          <a:prstGeom prst="rect">
            <a:avLst/>
          </a:prstGeom>
        </p:spPr>
      </p:pic>
      <p:pic>
        <p:nvPicPr>
          <p:cNvPr id="33" name="Picture 32">
            <a:extLst>
              <a:ext uri="{FF2B5EF4-FFF2-40B4-BE49-F238E27FC236}">
                <a16:creationId xmlns:a16="http://schemas.microsoft.com/office/drawing/2014/main" id="{06B74057-6893-45F2-630A-A5834BCCFDE0}"/>
              </a:ext>
            </a:extLst>
          </p:cNvPr>
          <p:cNvPicPr>
            <a:picLocks noChangeAspect="1"/>
          </p:cNvPicPr>
          <p:nvPr/>
        </p:nvPicPr>
        <p:blipFill>
          <a:blip r:embed="rId10"/>
          <a:stretch>
            <a:fillRect/>
          </a:stretch>
        </p:blipFill>
        <p:spPr>
          <a:xfrm>
            <a:off x="6573475" y="5638407"/>
            <a:ext cx="215900" cy="292100"/>
          </a:xfrm>
          <a:prstGeom prst="rect">
            <a:avLst/>
          </a:prstGeom>
        </p:spPr>
      </p:pic>
      <p:pic>
        <p:nvPicPr>
          <p:cNvPr id="34" name="Picture 33">
            <a:extLst>
              <a:ext uri="{FF2B5EF4-FFF2-40B4-BE49-F238E27FC236}">
                <a16:creationId xmlns:a16="http://schemas.microsoft.com/office/drawing/2014/main" id="{BA4B9A91-6BAA-4EEA-A82B-7BE3F67BDF2D}"/>
              </a:ext>
            </a:extLst>
          </p:cNvPr>
          <p:cNvPicPr>
            <a:picLocks noChangeAspect="1"/>
          </p:cNvPicPr>
          <p:nvPr/>
        </p:nvPicPr>
        <p:blipFill>
          <a:blip r:embed="rId10"/>
          <a:stretch>
            <a:fillRect/>
          </a:stretch>
        </p:blipFill>
        <p:spPr>
          <a:xfrm>
            <a:off x="6991171" y="5410255"/>
            <a:ext cx="215900" cy="292100"/>
          </a:xfrm>
          <a:prstGeom prst="rect">
            <a:avLst/>
          </a:prstGeom>
        </p:spPr>
      </p:pic>
      <p:pic>
        <p:nvPicPr>
          <p:cNvPr id="35" name="Picture 34">
            <a:extLst>
              <a:ext uri="{FF2B5EF4-FFF2-40B4-BE49-F238E27FC236}">
                <a16:creationId xmlns:a16="http://schemas.microsoft.com/office/drawing/2014/main" id="{EAD4D3F4-8635-DBAA-3A08-DCC9BBB501A3}"/>
              </a:ext>
            </a:extLst>
          </p:cNvPr>
          <p:cNvPicPr>
            <a:picLocks noChangeAspect="1"/>
          </p:cNvPicPr>
          <p:nvPr/>
        </p:nvPicPr>
        <p:blipFill>
          <a:blip r:embed="rId10"/>
          <a:stretch>
            <a:fillRect/>
          </a:stretch>
        </p:blipFill>
        <p:spPr>
          <a:xfrm>
            <a:off x="8734405" y="5205716"/>
            <a:ext cx="215900" cy="292100"/>
          </a:xfrm>
          <a:prstGeom prst="rect">
            <a:avLst/>
          </a:prstGeom>
        </p:spPr>
      </p:pic>
      <p:pic>
        <p:nvPicPr>
          <p:cNvPr id="36" name="Picture 35">
            <a:extLst>
              <a:ext uri="{FF2B5EF4-FFF2-40B4-BE49-F238E27FC236}">
                <a16:creationId xmlns:a16="http://schemas.microsoft.com/office/drawing/2014/main" id="{E14EE995-3C94-8C49-1A14-F5C2D8F452CA}"/>
              </a:ext>
            </a:extLst>
          </p:cNvPr>
          <p:cNvPicPr>
            <a:picLocks noChangeAspect="1"/>
          </p:cNvPicPr>
          <p:nvPr/>
        </p:nvPicPr>
        <p:blipFill>
          <a:blip r:embed="rId10"/>
          <a:stretch>
            <a:fillRect/>
          </a:stretch>
        </p:blipFill>
        <p:spPr>
          <a:xfrm>
            <a:off x="8890047" y="5442214"/>
            <a:ext cx="215900" cy="292100"/>
          </a:xfrm>
          <a:prstGeom prst="rect">
            <a:avLst/>
          </a:prstGeom>
        </p:spPr>
      </p:pic>
      <p:pic>
        <p:nvPicPr>
          <p:cNvPr id="37" name="Picture 36">
            <a:extLst>
              <a:ext uri="{FF2B5EF4-FFF2-40B4-BE49-F238E27FC236}">
                <a16:creationId xmlns:a16="http://schemas.microsoft.com/office/drawing/2014/main" id="{83D29546-A080-6841-8659-0FF4B4903112}"/>
              </a:ext>
            </a:extLst>
          </p:cNvPr>
          <p:cNvPicPr>
            <a:picLocks noChangeAspect="1"/>
          </p:cNvPicPr>
          <p:nvPr/>
        </p:nvPicPr>
        <p:blipFill>
          <a:blip r:embed="rId10"/>
          <a:stretch>
            <a:fillRect/>
          </a:stretch>
        </p:blipFill>
        <p:spPr>
          <a:xfrm>
            <a:off x="9112297" y="5528745"/>
            <a:ext cx="215900" cy="292100"/>
          </a:xfrm>
          <a:prstGeom prst="rect">
            <a:avLst/>
          </a:prstGeom>
        </p:spPr>
      </p:pic>
      <p:pic>
        <p:nvPicPr>
          <p:cNvPr id="38" name="Picture 37">
            <a:extLst>
              <a:ext uri="{FF2B5EF4-FFF2-40B4-BE49-F238E27FC236}">
                <a16:creationId xmlns:a16="http://schemas.microsoft.com/office/drawing/2014/main" id="{496E1D4E-1F3D-98E8-F5CF-AD5C799727CC}"/>
              </a:ext>
            </a:extLst>
          </p:cNvPr>
          <p:cNvPicPr>
            <a:picLocks noChangeAspect="1"/>
          </p:cNvPicPr>
          <p:nvPr/>
        </p:nvPicPr>
        <p:blipFill>
          <a:blip r:embed="rId10"/>
          <a:stretch>
            <a:fillRect/>
          </a:stretch>
        </p:blipFill>
        <p:spPr>
          <a:xfrm>
            <a:off x="8681269" y="5542078"/>
            <a:ext cx="215900" cy="292100"/>
          </a:xfrm>
          <a:prstGeom prst="rect">
            <a:avLst/>
          </a:prstGeom>
        </p:spPr>
      </p:pic>
      <p:pic>
        <p:nvPicPr>
          <p:cNvPr id="39" name="Picture 38">
            <a:extLst>
              <a:ext uri="{FF2B5EF4-FFF2-40B4-BE49-F238E27FC236}">
                <a16:creationId xmlns:a16="http://schemas.microsoft.com/office/drawing/2014/main" id="{B0866FD2-10A9-A8B4-43B4-507014A08DBD}"/>
              </a:ext>
            </a:extLst>
          </p:cNvPr>
          <p:cNvPicPr>
            <a:picLocks noChangeAspect="1"/>
          </p:cNvPicPr>
          <p:nvPr/>
        </p:nvPicPr>
        <p:blipFill>
          <a:blip r:embed="rId10"/>
          <a:stretch>
            <a:fillRect/>
          </a:stretch>
        </p:blipFill>
        <p:spPr>
          <a:xfrm>
            <a:off x="9339174" y="5505587"/>
            <a:ext cx="215900" cy="292100"/>
          </a:xfrm>
          <a:prstGeom prst="rect">
            <a:avLst/>
          </a:prstGeom>
        </p:spPr>
      </p:pic>
      <p:pic>
        <p:nvPicPr>
          <p:cNvPr id="40" name="Picture 39">
            <a:extLst>
              <a:ext uri="{FF2B5EF4-FFF2-40B4-BE49-F238E27FC236}">
                <a16:creationId xmlns:a16="http://schemas.microsoft.com/office/drawing/2014/main" id="{034EEA6D-41B4-C31A-23BF-3D3F70B3987F}"/>
              </a:ext>
            </a:extLst>
          </p:cNvPr>
          <p:cNvPicPr>
            <a:picLocks noChangeAspect="1"/>
          </p:cNvPicPr>
          <p:nvPr/>
        </p:nvPicPr>
        <p:blipFill>
          <a:blip r:embed="rId10"/>
          <a:stretch>
            <a:fillRect/>
          </a:stretch>
        </p:blipFill>
        <p:spPr>
          <a:xfrm>
            <a:off x="9715138" y="5524114"/>
            <a:ext cx="215900" cy="292100"/>
          </a:xfrm>
          <a:prstGeom prst="rect">
            <a:avLst/>
          </a:prstGeom>
        </p:spPr>
      </p:pic>
      <p:pic>
        <p:nvPicPr>
          <p:cNvPr id="41" name="Picture 40">
            <a:extLst>
              <a:ext uri="{FF2B5EF4-FFF2-40B4-BE49-F238E27FC236}">
                <a16:creationId xmlns:a16="http://schemas.microsoft.com/office/drawing/2014/main" id="{354BE40C-5557-90BE-1116-5DE826E1B9BE}"/>
              </a:ext>
            </a:extLst>
          </p:cNvPr>
          <p:cNvPicPr>
            <a:picLocks noChangeAspect="1"/>
          </p:cNvPicPr>
          <p:nvPr/>
        </p:nvPicPr>
        <p:blipFill>
          <a:blip r:embed="rId10"/>
          <a:stretch>
            <a:fillRect/>
          </a:stretch>
        </p:blipFill>
        <p:spPr>
          <a:xfrm>
            <a:off x="9546128" y="5410984"/>
            <a:ext cx="215900" cy="292100"/>
          </a:xfrm>
          <a:prstGeom prst="rect">
            <a:avLst/>
          </a:prstGeom>
        </p:spPr>
      </p:pic>
      <p:sp>
        <p:nvSpPr>
          <p:cNvPr id="4" name="AutoShape 445">
            <a:extLst>
              <a:ext uri="{FF2B5EF4-FFF2-40B4-BE49-F238E27FC236}">
                <a16:creationId xmlns:a16="http://schemas.microsoft.com/office/drawing/2014/main" id="{9BB70BD5-C986-2FED-AF42-7E5D4E8C5CB8}"/>
              </a:ext>
            </a:extLst>
          </p:cNvPr>
          <p:cNvSpPr>
            <a:spLocks noChangeArrowheads="1"/>
          </p:cNvSpPr>
          <p:nvPr/>
        </p:nvSpPr>
        <p:spPr bwMode="auto">
          <a:xfrm>
            <a:off x="4367139" y="3124797"/>
            <a:ext cx="482600" cy="261937"/>
          </a:xfrm>
          <a:prstGeom prst="rightArrow">
            <a:avLst>
              <a:gd name="adj1" fmla="val 50000"/>
              <a:gd name="adj2" fmla="val 46061"/>
            </a:avLst>
          </a:prstGeom>
          <a:solidFill>
            <a:schemeClr val="accent3"/>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 name="AutoShape 445">
            <a:extLst>
              <a:ext uri="{FF2B5EF4-FFF2-40B4-BE49-F238E27FC236}">
                <a16:creationId xmlns:a16="http://schemas.microsoft.com/office/drawing/2014/main" id="{93756121-8CBA-DF2C-681A-7693DB7011CB}"/>
              </a:ext>
            </a:extLst>
          </p:cNvPr>
          <p:cNvSpPr>
            <a:spLocks noChangeArrowheads="1"/>
          </p:cNvSpPr>
          <p:nvPr/>
        </p:nvSpPr>
        <p:spPr bwMode="auto">
          <a:xfrm>
            <a:off x="6965771" y="3143144"/>
            <a:ext cx="482600" cy="261937"/>
          </a:xfrm>
          <a:prstGeom prst="rightArrow">
            <a:avLst>
              <a:gd name="adj1" fmla="val 50000"/>
              <a:gd name="adj2" fmla="val 46061"/>
            </a:avLst>
          </a:prstGeom>
          <a:solidFill>
            <a:schemeClr val="accent3"/>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7" name="AutoShape 445">
            <a:extLst>
              <a:ext uri="{FF2B5EF4-FFF2-40B4-BE49-F238E27FC236}">
                <a16:creationId xmlns:a16="http://schemas.microsoft.com/office/drawing/2014/main" id="{142AE919-7F8E-0604-5376-189388B2B287}"/>
              </a:ext>
            </a:extLst>
          </p:cNvPr>
          <p:cNvSpPr>
            <a:spLocks noChangeArrowheads="1"/>
          </p:cNvSpPr>
          <p:nvPr/>
        </p:nvSpPr>
        <p:spPr bwMode="auto">
          <a:xfrm>
            <a:off x="4297001" y="5064788"/>
            <a:ext cx="482600" cy="261937"/>
          </a:xfrm>
          <a:prstGeom prst="rightArrow">
            <a:avLst>
              <a:gd name="adj1" fmla="val 50000"/>
              <a:gd name="adj2" fmla="val 46061"/>
            </a:avLst>
          </a:prstGeom>
          <a:solidFill>
            <a:schemeClr val="accent3"/>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8" name="AutoShape 445">
            <a:extLst>
              <a:ext uri="{FF2B5EF4-FFF2-40B4-BE49-F238E27FC236}">
                <a16:creationId xmlns:a16="http://schemas.microsoft.com/office/drawing/2014/main" id="{EF781319-3368-0A3B-A81C-146440FE5163}"/>
              </a:ext>
            </a:extLst>
          </p:cNvPr>
          <p:cNvSpPr>
            <a:spLocks noChangeArrowheads="1"/>
          </p:cNvSpPr>
          <p:nvPr/>
        </p:nvSpPr>
        <p:spPr bwMode="auto">
          <a:xfrm>
            <a:off x="6895633" y="5083135"/>
            <a:ext cx="482600" cy="261937"/>
          </a:xfrm>
          <a:prstGeom prst="rightArrow">
            <a:avLst>
              <a:gd name="adj1" fmla="val 50000"/>
              <a:gd name="adj2" fmla="val 46061"/>
            </a:avLst>
          </a:prstGeom>
          <a:solidFill>
            <a:schemeClr val="accent3"/>
          </a:solidFill>
          <a:ln w="1270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9" name="Group 8">
            <a:extLst>
              <a:ext uri="{FF2B5EF4-FFF2-40B4-BE49-F238E27FC236}">
                <a16:creationId xmlns:a16="http://schemas.microsoft.com/office/drawing/2014/main" id="{A9DAED85-EE18-95FC-33EB-E82EF0AAAD6F}"/>
              </a:ext>
            </a:extLst>
          </p:cNvPr>
          <p:cNvGrpSpPr/>
          <p:nvPr/>
        </p:nvGrpSpPr>
        <p:grpSpPr>
          <a:xfrm>
            <a:off x="838200" y="297639"/>
            <a:ext cx="4073209" cy="307138"/>
            <a:chOff x="838200" y="297639"/>
            <a:chExt cx="4073209" cy="307138"/>
          </a:xfrm>
        </p:grpSpPr>
        <p:grpSp>
          <p:nvGrpSpPr>
            <p:cNvPr id="10" name="Group 9">
              <a:extLst>
                <a:ext uri="{FF2B5EF4-FFF2-40B4-BE49-F238E27FC236}">
                  <a16:creationId xmlns:a16="http://schemas.microsoft.com/office/drawing/2014/main" id="{BE06B8D8-60A8-FE5E-253E-DE8ECB859E9A}"/>
                </a:ext>
              </a:extLst>
            </p:cNvPr>
            <p:cNvGrpSpPr/>
            <p:nvPr/>
          </p:nvGrpSpPr>
          <p:grpSpPr>
            <a:xfrm>
              <a:off x="838200" y="297639"/>
              <a:ext cx="1687517" cy="290657"/>
              <a:chOff x="838200" y="297639"/>
              <a:chExt cx="1687517" cy="290657"/>
            </a:xfrm>
          </p:grpSpPr>
          <p:sp>
            <p:nvSpPr>
              <p:cNvPr id="12" name="AutoShape 9">
                <a:extLst>
                  <a:ext uri="{FF2B5EF4-FFF2-40B4-BE49-F238E27FC236}">
                    <a16:creationId xmlns:a16="http://schemas.microsoft.com/office/drawing/2014/main" id="{32555BB2-81A2-7220-FB6B-149263AC4EA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9736B9E6-C9A7-D6B6-0212-AB29E5AE0BF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5BD19380-A6CF-29BF-173C-E5EA1EC68172}"/>
                  </a:ext>
                </a:extLst>
              </p:cNvPr>
              <p:cNvGrpSpPr/>
              <p:nvPr/>
            </p:nvGrpSpPr>
            <p:grpSpPr>
              <a:xfrm>
                <a:off x="838200" y="297639"/>
                <a:ext cx="1060167" cy="290657"/>
                <a:chOff x="826426" y="4041857"/>
                <a:chExt cx="1060167" cy="290657"/>
              </a:xfrm>
            </p:grpSpPr>
            <p:sp>
              <p:nvSpPr>
                <p:cNvPr id="42" name="AutoShape 9">
                  <a:extLst>
                    <a:ext uri="{FF2B5EF4-FFF2-40B4-BE49-F238E27FC236}">
                      <a16:creationId xmlns:a16="http://schemas.microsoft.com/office/drawing/2014/main" id="{D37CBD8B-6728-9B77-449D-476A254522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3" name="AutoShape 11">
                  <a:extLst>
                    <a:ext uri="{FF2B5EF4-FFF2-40B4-BE49-F238E27FC236}">
                      <a16:creationId xmlns:a16="http://schemas.microsoft.com/office/drawing/2014/main" id="{B75B31CA-6F2E-FD53-10CE-8988A0BCB7C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44" name="AutoShape 10">
                  <a:extLst>
                    <a:ext uri="{FF2B5EF4-FFF2-40B4-BE49-F238E27FC236}">
                      <a16:creationId xmlns:a16="http://schemas.microsoft.com/office/drawing/2014/main" id="{7F36351A-9017-B5C6-2108-21EAD548E82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A341E68B-D7F0-E523-5117-3F76DC1E677C}"/>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Tree>
    <p:extLst>
      <p:ext uri="{BB962C8B-B14F-4D97-AF65-F5344CB8AC3E}">
        <p14:creationId xmlns:p14="http://schemas.microsoft.com/office/powerpoint/2010/main" val="472495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Thinking Outside The Box</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51</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Stimulate the team to think laterally about solutions.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Given the handout “Join the Dots”, follow the instructions to join all the dots with the number of lines stated.</a:t>
            </a:r>
          </a:p>
          <a:p>
            <a:pPr marR="0" algn="l" defTabSz="584200" rtl="0" fontAlgn="auto" latinLnBrk="0" hangingPunct="0">
              <a:lnSpc>
                <a:spcPct val="100000"/>
              </a:lnSpc>
              <a:spcBef>
                <a:spcPts val="0"/>
              </a:spcBef>
              <a:spcAft>
                <a:spcPts val="0"/>
              </a:spcAft>
              <a:buClrTx/>
              <a:buSzTx/>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R="0" algn="l" defTabSz="584200" rtl="0" fontAlgn="auto" latinLnBrk="0" hangingPunct="0">
              <a:lnSpc>
                <a:spcPct val="100000"/>
              </a:lnSpc>
              <a:spcBef>
                <a:spcPts val="0"/>
              </a:spcBef>
              <a:spcAft>
                <a:spcPts val="0"/>
              </a:spcAft>
              <a:buClrTx/>
              <a:buSzTx/>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R="0" algn="l" defTabSz="584200" rtl="0" fontAlgn="auto" latinLnBrk="0" hangingPunct="0">
              <a:lnSpc>
                <a:spcPct val="100000"/>
              </a:lnSpc>
              <a:spcBef>
                <a:spcPts val="0"/>
              </a:spcBef>
              <a:spcAft>
                <a:spcPts val="0"/>
              </a:spcAft>
              <a:buClrTx/>
              <a:buSzTx/>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R="0" algn="l" defTabSz="584200" rtl="0" fontAlgn="auto" latinLnBrk="0" hangingPunct="0">
              <a:lnSpc>
                <a:spcPct val="100000"/>
              </a:lnSpc>
              <a:spcBef>
                <a:spcPts val="0"/>
              </a:spcBef>
              <a:spcAft>
                <a:spcPts val="0"/>
              </a:spcAft>
              <a:buClrTx/>
              <a:buSzTx/>
              <a:tabLst/>
            </a:pPr>
            <a:endParaRPr lang="en-US"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a:p>
            <a:pPr marR="0" algn="l" defTabSz="584200" rtl="0" fontAlgn="auto" latinLnBrk="0" hangingPunct="0">
              <a:lnSpc>
                <a:spcPct val="100000"/>
              </a:lnSpc>
              <a:spcBef>
                <a:spcPts val="0"/>
              </a:spcBef>
              <a:spcAft>
                <a:spcPts val="0"/>
              </a:spcAft>
              <a:buClrTx/>
              <a:buSzTx/>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Review how this has parallels to creative design. </a:t>
            </a:r>
          </a:p>
        </p:txBody>
      </p:sp>
      <p:grpSp>
        <p:nvGrpSpPr>
          <p:cNvPr id="21" name="Group 20">
            <a:extLst>
              <a:ext uri="{FF2B5EF4-FFF2-40B4-BE49-F238E27FC236}">
                <a16:creationId xmlns:a16="http://schemas.microsoft.com/office/drawing/2014/main" id="{83A01908-0362-178B-1485-4326585540D9}"/>
              </a:ext>
            </a:extLst>
          </p:cNvPr>
          <p:cNvGrpSpPr/>
          <p:nvPr/>
        </p:nvGrpSpPr>
        <p:grpSpPr>
          <a:xfrm>
            <a:off x="838200" y="297639"/>
            <a:ext cx="4073209" cy="307138"/>
            <a:chOff x="838200" y="297639"/>
            <a:chExt cx="4073209" cy="307138"/>
          </a:xfrm>
        </p:grpSpPr>
        <p:grpSp>
          <p:nvGrpSpPr>
            <p:cNvPr id="22" name="Group 21">
              <a:extLst>
                <a:ext uri="{FF2B5EF4-FFF2-40B4-BE49-F238E27FC236}">
                  <a16:creationId xmlns:a16="http://schemas.microsoft.com/office/drawing/2014/main" id="{1FFC5177-D0BA-563F-AB49-3734B6A59A6E}"/>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30800D17-EA19-7F94-41CD-12F27C99B24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8327EB80-22E6-E752-6202-DFF8532B64D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8125E79-5775-2AE7-8868-AB147F9C3677}"/>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2E0C5A61-8CAD-FAFD-71E9-979B872924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8" name="AutoShape 11">
                  <a:extLst>
                    <a:ext uri="{FF2B5EF4-FFF2-40B4-BE49-F238E27FC236}">
                      <a16:creationId xmlns:a16="http://schemas.microsoft.com/office/drawing/2014/main" id="{0D249DB0-9B0E-2301-E021-419E7538A89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866107D0-F3CA-53B3-0AE4-6631342380A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C96122B3-B525-FAA9-FE72-A2C7732C485D}"/>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grpSp>
        <p:nvGrpSpPr>
          <p:cNvPr id="30" name="Group 22">
            <a:extLst>
              <a:ext uri="{FF2B5EF4-FFF2-40B4-BE49-F238E27FC236}">
                <a16:creationId xmlns:a16="http://schemas.microsoft.com/office/drawing/2014/main" id="{137F2D27-142C-AEBA-A7AC-2D0BAC49575D}"/>
              </a:ext>
            </a:extLst>
          </p:cNvPr>
          <p:cNvGrpSpPr>
            <a:grpSpLocks/>
          </p:cNvGrpSpPr>
          <p:nvPr/>
        </p:nvGrpSpPr>
        <p:grpSpPr bwMode="auto">
          <a:xfrm>
            <a:off x="2441203" y="4517862"/>
            <a:ext cx="1149350" cy="1136650"/>
            <a:chOff x="2934113" y="4411221"/>
            <a:chExt cx="1148861" cy="1136302"/>
          </a:xfrm>
        </p:grpSpPr>
        <p:sp>
          <p:nvSpPr>
            <p:cNvPr id="31" name="Oval 12">
              <a:extLst>
                <a:ext uri="{FF2B5EF4-FFF2-40B4-BE49-F238E27FC236}">
                  <a16:creationId xmlns:a16="http://schemas.microsoft.com/office/drawing/2014/main" id="{4B4F07C0-2678-88D8-E03A-FC9057EE31D3}"/>
                </a:ext>
              </a:extLst>
            </p:cNvPr>
            <p:cNvSpPr>
              <a:spLocks noChangeArrowheads="1"/>
            </p:cNvSpPr>
            <p:nvPr/>
          </p:nvSpPr>
          <p:spPr bwMode="auto">
            <a:xfrm>
              <a:off x="2934113" y="4411221"/>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2" name="Oval 13">
              <a:extLst>
                <a:ext uri="{FF2B5EF4-FFF2-40B4-BE49-F238E27FC236}">
                  <a16:creationId xmlns:a16="http://schemas.microsoft.com/office/drawing/2014/main" id="{6AF4ECC2-2240-BC77-BBF6-74E4680324F3}"/>
                </a:ext>
              </a:extLst>
            </p:cNvPr>
            <p:cNvSpPr>
              <a:spLocks noChangeArrowheads="1"/>
            </p:cNvSpPr>
            <p:nvPr/>
          </p:nvSpPr>
          <p:spPr bwMode="auto">
            <a:xfrm>
              <a:off x="3423132" y="4411221"/>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3" name="Oval 14">
              <a:extLst>
                <a:ext uri="{FF2B5EF4-FFF2-40B4-BE49-F238E27FC236}">
                  <a16:creationId xmlns:a16="http://schemas.microsoft.com/office/drawing/2014/main" id="{E2F8BD7B-B735-59F5-7B07-0F876D8A5113}"/>
                </a:ext>
              </a:extLst>
            </p:cNvPr>
            <p:cNvSpPr>
              <a:spLocks noChangeArrowheads="1"/>
            </p:cNvSpPr>
            <p:nvPr/>
          </p:nvSpPr>
          <p:spPr bwMode="auto">
            <a:xfrm>
              <a:off x="3912152" y="4411221"/>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4" name="Oval 15">
              <a:extLst>
                <a:ext uri="{FF2B5EF4-FFF2-40B4-BE49-F238E27FC236}">
                  <a16:creationId xmlns:a16="http://schemas.microsoft.com/office/drawing/2014/main" id="{5EEB2330-D074-2E53-2A66-11A532802998}"/>
                </a:ext>
              </a:extLst>
            </p:cNvPr>
            <p:cNvSpPr>
              <a:spLocks noChangeArrowheads="1"/>
            </p:cNvSpPr>
            <p:nvPr/>
          </p:nvSpPr>
          <p:spPr bwMode="auto">
            <a:xfrm>
              <a:off x="2934113" y="4909033"/>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5" name="Oval 16">
              <a:extLst>
                <a:ext uri="{FF2B5EF4-FFF2-40B4-BE49-F238E27FC236}">
                  <a16:creationId xmlns:a16="http://schemas.microsoft.com/office/drawing/2014/main" id="{1C551157-514C-8DEE-E80D-93EDEE93F471}"/>
                </a:ext>
              </a:extLst>
            </p:cNvPr>
            <p:cNvSpPr>
              <a:spLocks noChangeArrowheads="1"/>
            </p:cNvSpPr>
            <p:nvPr/>
          </p:nvSpPr>
          <p:spPr bwMode="auto">
            <a:xfrm>
              <a:off x="3425645" y="4909033"/>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6" name="Oval 17">
              <a:extLst>
                <a:ext uri="{FF2B5EF4-FFF2-40B4-BE49-F238E27FC236}">
                  <a16:creationId xmlns:a16="http://schemas.microsoft.com/office/drawing/2014/main" id="{E054D0FD-539E-B9AB-C377-7F82F690BF34}"/>
                </a:ext>
              </a:extLst>
            </p:cNvPr>
            <p:cNvSpPr>
              <a:spLocks noChangeArrowheads="1"/>
            </p:cNvSpPr>
            <p:nvPr/>
          </p:nvSpPr>
          <p:spPr bwMode="auto">
            <a:xfrm>
              <a:off x="3917177" y="4909033"/>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7" name="Oval 18">
              <a:extLst>
                <a:ext uri="{FF2B5EF4-FFF2-40B4-BE49-F238E27FC236}">
                  <a16:creationId xmlns:a16="http://schemas.microsoft.com/office/drawing/2014/main" id="{4AC3C33A-6BDB-E286-7E09-15BEB50B6232}"/>
                </a:ext>
              </a:extLst>
            </p:cNvPr>
            <p:cNvSpPr>
              <a:spLocks noChangeArrowheads="1"/>
            </p:cNvSpPr>
            <p:nvPr/>
          </p:nvSpPr>
          <p:spPr bwMode="auto">
            <a:xfrm>
              <a:off x="2934113" y="5406846"/>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8" name="Oval 19">
              <a:extLst>
                <a:ext uri="{FF2B5EF4-FFF2-40B4-BE49-F238E27FC236}">
                  <a16:creationId xmlns:a16="http://schemas.microsoft.com/office/drawing/2014/main" id="{CD0D9D8C-9B7E-93DC-3C72-7D36378F71DB}"/>
                </a:ext>
              </a:extLst>
            </p:cNvPr>
            <p:cNvSpPr>
              <a:spLocks noChangeArrowheads="1"/>
            </p:cNvSpPr>
            <p:nvPr/>
          </p:nvSpPr>
          <p:spPr bwMode="auto">
            <a:xfrm>
              <a:off x="3438205" y="5406846"/>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9" name="Oval 20">
              <a:extLst>
                <a:ext uri="{FF2B5EF4-FFF2-40B4-BE49-F238E27FC236}">
                  <a16:creationId xmlns:a16="http://schemas.microsoft.com/office/drawing/2014/main" id="{AECBE51F-CB76-BFF1-4773-22EF5EA871FE}"/>
                </a:ext>
              </a:extLst>
            </p:cNvPr>
            <p:cNvSpPr>
              <a:spLocks noChangeArrowheads="1"/>
            </p:cNvSpPr>
            <p:nvPr/>
          </p:nvSpPr>
          <p:spPr bwMode="auto">
            <a:xfrm>
              <a:off x="3942297" y="5406846"/>
              <a:ext cx="140677" cy="140677"/>
            </a:xfrm>
            <a:prstGeom prst="ellipse">
              <a:avLst/>
            </a:prstGeom>
            <a:solidFill>
              <a:schemeClr val="bg2"/>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grpSp>
    </p:spTree>
    <p:extLst>
      <p:ext uri="{BB962C8B-B14F-4D97-AF65-F5344CB8AC3E}">
        <p14:creationId xmlns:p14="http://schemas.microsoft.com/office/powerpoint/2010/main" val="27841004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Identify key functions</a:t>
            </a:r>
            <a:endParaRPr lang="en-US" dirty="0"/>
          </a:p>
        </p:txBody>
      </p:sp>
      <p:grpSp>
        <p:nvGrpSpPr>
          <p:cNvPr id="9" name="Group 8">
            <a:extLst>
              <a:ext uri="{FF2B5EF4-FFF2-40B4-BE49-F238E27FC236}">
                <a16:creationId xmlns:a16="http://schemas.microsoft.com/office/drawing/2014/main" id="{A9DAED85-EE18-95FC-33EB-E82EF0AAAD6F}"/>
              </a:ext>
            </a:extLst>
          </p:cNvPr>
          <p:cNvGrpSpPr/>
          <p:nvPr/>
        </p:nvGrpSpPr>
        <p:grpSpPr>
          <a:xfrm>
            <a:off x="838200" y="297639"/>
            <a:ext cx="4073209" cy="307138"/>
            <a:chOff x="838200" y="297639"/>
            <a:chExt cx="4073209" cy="307138"/>
          </a:xfrm>
        </p:grpSpPr>
        <p:grpSp>
          <p:nvGrpSpPr>
            <p:cNvPr id="10" name="Group 9">
              <a:extLst>
                <a:ext uri="{FF2B5EF4-FFF2-40B4-BE49-F238E27FC236}">
                  <a16:creationId xmlns:a16="http://schemas.microsoft.com/office/drawing/2014/main" id="{BE06B8D8-60A8-FE5E-253E-DE8ECB859E9A}"/>
                </a:ext>
              </a:extLst>
            </p:cNvPr>
            <p:cNvGrpSpPr/>
            <p:nvPr/>
          </p:nvGrpSpPr>
          <p:grpSpPr>
            <a:xfrm>
              <a:off x="838200" y="297639"/>
              <a:ext cx="1687517" cy="290657"/>
              <a:chOff x="838200" y="297639"/>
              <a:chExt cx="1687517" cy="290657"/>
            </a:xfrm>
          </p:grpSpPr>
          <p:sp>
            <p:nvSpPr>
              <p:cNvPr id="12" name="AutoShape 9">
                <a:extLst>
                  <a:ext uri="{FF2B5EF4-FFF2-40B4-BE49-F238E27FC236}">
                    <a16:creationId xmlns:a16="http://schemas.microsoft.com/office/drawing/2014/main" id="{32555BB2-81A2-7220-FB6B-149263AC4EA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9736B9E6-C9A7-D6B6-0212-AB29E5AE0BF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5BD19380-A6CF-29BF-173C-E5EA1EC68172}"/>
                  </a:ext>
                </a:extLst>
              </p:cNvPr>
              <p:cNvGrpSpPr/>
              <p:nvPr/>
            </p:nvGrpSpPr>
            <p:grpSpPr>
              <a:xfrm>
                <a:off x="838200" y="297639"/>
                <a:ext cx="1060167" cy="290657"/>
                <a:chOff x="826426" y="4041857"/>
                <a:chExt cx="1060167" cy="290657"/>
              </a:xfrm>
            </p:grpSpPr>
            <p:sp>
              <p:nvSpPr>
                <p:cNvPr id="42" name="AutoShape 9">
                  <a:extLst>
                    <a:ext uri="{FF2B5EF4-FFF2-40B4-BE49-F238E27FC236}">
                      <a16:creationId xmlns:a16="http://schemas.microsoft.com/office/drawing/2014/main" id="{D37CBD8B-6728-9B77-449D-476A254522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3" name="AutoShape 11">
                  <a:extLst>
                    <a:ext uri="{FF2B5EF4-FFF2-40B4-BE49-F238E27FC236}">
                      <a16:creationId xmlns:a16="http://schemas.microsoft.com/office/drawing/2014/main" id="{B75B31CA-6F2E-FD53-10CE-8988A0BCB7C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44" name="AutoShape 10">
                  <a:extLst>
                    <a:ext uri="{FF2B5EF4-FFF2-40B4-BE49-F238E27FC236}">
                      <a16:creationId xmlns:a16="http://schemas.microsoft.com/office/drawing/2014/main" id="{7F36351A-9017-B5C6-2108-21EAD548E82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A341E68B-D7F0-E523-5117-3F76DC1E677C}"/>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
        <p:nvSpPr>
          <p:cNvPr id="45" name="Rectangle 13">
            <a:extLst>
              <a:ext uri="{FF2B5EF4-FFF2-40B4-BE49-F238E27FC236}">
                <a16:creationId xmlns:a16="http://schemas.microsoft.com/office/drawing/2014/main" id="{3642F702-D0AD-4F81-5B83-DE2E63DF6622}"/>
              </a:ext>
            </a:extLst>
          </p:cNvPr>
          <p:cNvSpPr>
            <a:spLocks noGrp="1" noChangeArrowheads="1"/>
          </p:cNvSpPr>
          <p:nvPr>
            <p:ph idx="1"/>
          </p:nvPr>
        </p:nvSpPr>
        <p:spPr>
          <a:xfrm>
            <a:off x="8056564" y="2793365"/>
            <a:ext cx="2809875" cy="1951038"/>
          </a:xfrm>
        </p:spPr>
        <p:txBody>
          <a:bodyPr>
            <a:normAutofit fontScale="92500"/>
          </a:bodyPr>
          <a:lstStyle/>
          <a:p>
            <a:r>
              <a:rPr lang="en-US" altLang="en-US" dirty="0"/>
              <a:t>Determine the key functions of the process to be studied from the diagram(s)</a:t>
            </a:r>
          </a:p>
        </p:txBody>
      </p:sp>
      <p:pic>
        <p:nvPicPr>
          <p:cNvPr id="46" name="Picture 4">
            <a:extLst>
              <a:ext uri="{FF2B5EF4-FFF2-40B4-BE49-F238E27FC236}">
                <a16:creationId xmlns:a16="http://schemas.microsoft.com/office/drawing/2014/main" id="{F86D21F0-2880-59AC-5797-C1D1B3AB6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255" y="1690688"/>
            <a:ext cx="5703568" cy="3341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47" name="AutoShape 7">
            <a:extLst>
              <a:ext uri="{FF2B5EF4-FFF2-40B4-BE49-F238E27FC236}">
                <a16:creationId xmlns:a16="http://schemas.microsoft.com/office/drawing/2014/main" id="{A87E1D5E-4F70-F78B-2B19-1B58B45F4C43}"/>
              </a:ext>
            </a:extLst>
          </p:cNvPr>
          <p:cNvSpPr>
            <a:spLocks noChangeArrowheads="1"/>
          </p:cNvSpPr>
          <p:nvPr/>
        </p:nvSpPr>
        <p:spPr bwMode="auto">
          <a:xfrm>
            <a:off x="7659689" y="2523490"/>
            <a:ext cx="285750" cy="2493963"/>
          </a:xfrm>
          <a:prstGeom prst="rightArrow">
            <a:avLst>
              <a:gd name="adj1" fmla="val 67278"/>
              <a:gd name="adj2" fmla="val 72222"/>
            </a:avLst>
          </a:prstGeom>
          <a:solidFill>
            <a:schemeClr val="accent3"/>
          </a:solidFill>
          <a:ln w="1905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pic>
        <p:nvPicPr>
          <p:cNvPr id="48" name="Picture 66" descr="image001">
            <a:extLst>
              <a:ext uri="{FF2B5EF4-FFF2-40B4-BE49-F238E27FC236}">
                <a16:creationId xmlns:a16="http://schemas.microsoft.com/office/drawing/2014/main" id="{3A535A86-F09F-40FE-139E-B6623B2E0B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25" t="2708" r="2306" b="15141"/>
          <a:stretch>
            <a:fillRect/>
          </a:stretch>
        </p:blipFill>
        <p:spPr bwMode="auto">
          <a:xfrm>
            <a:off x="3590290" y="4048125"/>
            <a:ext cx="3690938" cy="212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Oval 16">
            <a:extLst>
              <a:ext uri="{FF2B5EF4-FFF2-40B4-BE49-F238E27FC236}">
                <a16:creationId xmlns:a16="http://schemas.microsoft.com/office/drawing/2014/main" id="{AF32BBC0-98A3-9656-D903-259501BD10CE}"/>
              </a:ext>
            </a:extLst>
          </p:cNvPr>
          <p:cNvSpPr>
            <a:spLocks noChangeArrowheads="1"/>
          </p:cNvSpPr>
          <p:nvPr/>
        </p:nvSpPr>
        <p:spPr bwMode="auto">
          <a:xfrm>
            <a:off x="1905004" y="2466056"/>
            <a:ext cx="1241425" cy="327025"/>
          </a:xfrm>
          <a:prstGeom prst="ellipse">
            <a:avLst/>
          </a:prstGeom>
          <a:noFill/>
          <a:ln w="28575"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0" name="Oval 16">
            <a:extLst>
              <a:ext uri="{FF2B5EF4-FFF2-40B4-BE49-F238E27FC236}">
                <a16:creationId xmlns:a16="http://schemas.microsoft.com/office/drawing/2014/main" id="{35E3F740-6CB7-9764-EF1A-B27F3934D80C}"/>
              </a:ext>
            </a:extLst>
          </p:cNvPr>
          <p:cNvSpPr>
            <a:spLocks noChangeArrowheads="1"/>
          </p:cNvSpPr>
          <p:nvPr/>
        </p:nvSpPr>
        <p:spPr bwMode="auto">
          <a:xfrm>
            <a:off x="4598037" y="5112519"/>
            <a:ext cx="535304" cy="395287"/>
          </a:xfrm>
          <a:prstGeom prst="ellipse">
            <a:avLst/>
          </a:prstGeom>
          <a:noFill/>
          <a:ln w="28575" cap="sq">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31751937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Identify key words for each function</a:t>
            </a:r>
            <a:endParaRPr lang="en-US" dirty="0"/>
          </a:p>
        </p:txBody>
      </p:sp>
      <p:grpSp>
        <p:nvGrpSpPr>
          <p:cNvPr id="9" name="Group 8">
            <a:extLst>
              <a:ext uri="{FF2B5EF4-FFF2-40B4-BE49-F238E27FC236}">
                <a16:creationId xmlns:a16="http://schemas.microsoft.com/office/drawing/2014/main" id="{A9DAED85-EE18-95FC-33EB-E82EF0AAAD6F}"/>
              </a:ext>
            </a:extLst>
          </p:cNvPr>
          <p:cNvGrpSpPr/>
          <p:nvPr/>
        </p:nvGrpSpPr>
        <p:grpSpPr>
          <a:xfrm>
            <a:off x="838200" y="297639"/>
            <a:ext cx="4073209" cy="307138"/>
            <a:chOff x="838200" y="297639"/>
            <a:chExt cx="4073209" cy="307138"/>
          </a:xfrm>
        </p:grpSpPr>
        <p:grpSp>
          <p:nvGrpSpPr>
            <p:cNvPr id="10" name="Group 9">
              <a:extLst>
                <a:ext uri="{FF2B5EF4-FFF2-40B4-BE49-F238E27FC236}">
                  <a16:creationId xmlns:a16="http://schemas.microsoft.com/office/drawing/2014/main" id="{BE06B8D8-60A8-FE5E-253E-DE8ECB859E9A}"/>
                </a:ext>
              </a:extLst>
            </p:cNvPr>
            <p:cNvGrpSpPr/>
            <p:nvPr/>
          </p:nvGrpSpPr>
          <p:grpSpPr>
            <a:xfrm>
              <a:off x="838200" y="297639"/>
              <a:ext cx="1687517" cy="290657"/>
              <a:chOff x="838200" y="297639"/>
              <a:chExt cx="1687517" cy="290657"/>
            </a:xfrm>
          </p:grpSpPr>
          <p:sp>
            <p:nvSpPr>
              <p:cNvPr id="12" name="AutoShape 9">
                <a:extLst>
                  <a:ext uri="{FF2B5EF4-FFF2-40B4-BE49-F238E27FC236}">
                    <a16:creationId xmlns:a16="http://schemas.microsoft.com/office/drawing/2014/main" id="{32555BB2-81A2-7220-FB6B-149263AC4EA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9736B9E6-C9A7-D6B6-0212-AB29E5AE0BF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5BD19380-A6CF-29BF-173C-E5EA1EC68172}"/>
                  </a:ext>
                </a:extLst>
              </p:cNvPr>
              <p:cNvGrpSpPr/>
              <p:nvPr/>
            </p:nvGrpSpPr>
            <p:grpSpPr>
              <a:xfrm>
                <a:off x="838200" y="297639"/>
                <a:ext cx="1060167" cy="290657"/>
                <a:chOff x="826426" y="4041857"/>
                <a:chExt cx="1060167" cy="290657"/>
              </a:xfrm>
            </p:grpSpPr>
            <p:sp>
              <p:nvSpPr>
                <p:cNvPr id="42" name="AutoShape 9">
                  <a:extLst>
                    <a:ext uri="{FF2B5EF4-FFF2-40B4-BE49-F238E27FC236}">
                      <a16:creationId xmlns:a16="http://schemas.microsoft.com/office/drawing/2014/main" id="{D37CBD8B-6728-9B77-449D-476A254522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3" name="AutoShape 11">
                  <a:extLst>
                    <a:ext uri="{FF2B5EF4-FFF2-40B4-BE49-F238E27FC236}">
                      <a16:creationId xmlns:a16="http://schemas.microsoft.com/office/drawing/2014/main" id="{B75B31CA-6F2E-FD53-10CE-8988A0BCB7C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44" name="AutoShape 10">
                  <a:extLst>
                    <a:ext uri="{FF2B5EF4-FFF2-40B4-BE49-F238E27FC236}">
                      <a16:creationId xmlns:a16="http://schemas.microsoft.com/office/drawing/2014/main" id="{7F36351A-9017-B5C6-2108-21EAD548E82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A341E68B-D7F0-E523-5117-3F76DC1E677C}"/>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grpSp>
        <p:nvGrpSpPr>
          <p:cNvPr id="28" name="Group 27">
            <a:extLst>
              <a:ext uri="{FF2B5EF4-FFF2-40B4-BE49-F238E27FC236}">
                <a16:creationId xmlns:a16="http://schemas.microsoft.com/office/drawing/2014/main" id="{5FE22309-3754-EE00-F8EA-72CC12E7CFB0}"/>
              </a:ext>
            </a:extLst>
          </p:cNvPr>
          <p:cNvGrpSpPr/>
          <p:nvPr/>
        </p:nvGrpSpPr>
        <p:grpSpPr>
          <a:xfrm>
            <a:off x="838200" y="1876425"/>
            <a:ext cx="10100310" cy="4300538"/>
            <a:chOff x="838200" y="1876425"/>
            <a:chExt cx="8193087" cy="3919538"/>
          </a:xfrm>
        </p:grpSpPr>
        <p:sp>
          <p:nvSpPr>
            <p:cNvPr id="4" name="Text Box 11">
              <a:extLst>
                <a:ext uri="{FF2B5EF4-FFF2-40B4-BE49-F238E27FC236}">
                  <a16:creationId xmlns:a16="http://schemas.microsoft.com/office/drawing/2014/main" id="{E2088769-70A5-E397-37A1-5F2BEEF93FC5}"/>
                </a:ext>
              </a:extLst>
            </p:cNvPr>
            <p:cNvSpPr txBox="1">
              <a:spLocks noChangeArrowheads="1"/>
            </p:cNvSpPr>
            <p:nvPr/>
          </p:nvSpPr>
          <p:spPr bwMode="auto">
            <a:xfrm>
              <a:off x="3770312" y="5483225"/>
              <a:ext cx="160337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0000"/>
                  </a:solidFill>
                </a:rPr>
                <a:t>KEY WORDS</a:t>
              </a:r>
              <a:endParaRPr lang="en-US" altLang="ja-JP" sz="1800">
                <a:solidFill>
                  <a:schemeClr val="bg1"/>
                </a:solidFill>
              </a:endParaRPr>
            </a:p>
          </p:txBody>
        </p:sp>
        <p:sp>
          <p:nvSpPr>
            <p:cNvPr id="5" name="Text Box 12">
              <a:extLst>
                <a:ext uri="{FF2B5EF4-FFF2-40B4-BE49-F238E27FC236}">
                  <a16:creationId xmlns:a16="http://schemas.microsoft.com/office/drawing/2014/main" id="{6537597E-3512-63B0-0B22-8813965D3434}"/>
                </a:ext>
              </a:extLst>
            </p:cNvPr>
            <p:cNvSpPr txBox="1">
              <a:spLocks noChangeArrowheads="1"/>
            </p:cNvSpPr>
            <p:nvPr/>
          </p:nvSpPr>
          <p:spPr bwMode="auto">
            <a:xfrm>
              <a:off x="838200" y="2019300"/>
              <a:ext cx="8382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dirty="0">
                  <a:solidFill>
                    <a:srgbClr val="00CC00"/>
                  </a:solidFill>
                </a:rPr>
                <a:t>Guide</a:t>
              </a:r>
              <a:endParaRPr lang="en-US" altLang="ja-JP" sz="1800" dirty="0">
                <a:solidFill>
                  <a:schemeClr val="bg1"/>
                </a:solidFill>
              </a:endParaRPr>
            </a:p>
          </p:txBody>
        </p:sp>
        <p:sp>
          <p:nvSpPr>
            <p:cNvPr id="6" name="Text Box 13">
              <a:extLst>
                <a:ext uri="{FF2B5EF4-FFF2-40B4-BE49-F238E27FC236}">
                  <a16:creationId xmlns:a16="http://schemas.microsoft.com/office/drawing/2014/main" id="{B47A86B7-2851-94B2-E792-B450B5AEE66B}"/>
                </a:ext>
              </a:extLst>
            </p:cNvPr>
            <p:cNvSpPr txBox="1">
              <a:spLocks noChangeArrowheads="1"/>
            </p:cNvSpPr>
            <p:nvPr/>
          </p:nvSpPr>
          <p:spPr bwMode="auto">
            <a:xfrm>
              <a:off x="838200" y="3543300"/>
              <a:ext cx="681037" cy="314325"/>
            </a:xfrm>
            <a:prstGeom prst="rect">
              <a:avLst/>
            </a:prstGeom>
            <a:noFill/>
            <a:ln w="19050">
              <a:noFill/>
              <a:miter lim="800000"/>
              <a:headEnd/>
              <a:tailEnd/>
            </a:ln>
            <a:effectLst/>
          </p:spPr>
          <p:txBody>
            <a:bodyPr wrap="none" anchor="ctr">
              <a:spAutoFit/>
            </a:bodyPr>
            <a:lstStyle/>
            <a:p>
              <a:pPr algn="ctr">
                <a:lnSpc>
                  <a:spcPct val="80000"/>
                </a:lnSpc>
                <a:spcBef>
                  <a:spcPct val="20000"/>
                </a:spcBef>
                <a:defRPr/>
              </a:pPr>
              <a:r>
                <a:rPr lang="en-US" altLang="ja-JP" sz="1800" dirty="0">
                  <a:solidFill>
                    <a:schemeClr val="accent1">
                      <a:lumMod val="75000"/>
                    </a:schemeClr>
                  </a:solidFill>
                  <a:latin typeface="Arial" charset="0"/>
                  <a:ea typeface="+mn-ea"/>
                </a:rPr>
                <a:t>Turn</a:t>
              </a:r>
            </a:p>
          </p:txBody>
        </p:sp>
        <p:sp>
          <p:nvSpPr>
            <p:cNvPr id="7" name="Text Box 14">
              <a:extLst>
                <a:ext uri="{FF2B5EF4-FFF2-40B4-BE49-F238E27FC236}">
                  <a16:creationId xmlns:a16="http://schemas.microsoft.com/office/drawing/2014/main" id="{A6149FDC-9F52-3244-8263-DB4F43264B8C}"/>
                </a:ext>
              </a:extLst>
            </p:cNvPr>
            <p:cNvSpPr txBox="1">
              <a:spLocks noChangeArrowheads="1"/>
            </p:cNvSpPr>
            <p:nvPr/>
          </p:nvSpPr>
          <p:spPr bwMode="auto">
            <a:xfrm>
              <a:off x="838200" y="4343400"/>
              <a:ext cx="633412"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B0F0"/>
                  </a:solidFill>
                </a:rPr>
                <a:t>Drill</a:t>
              </a:r>
            </a:p>
          </p:txBody>
        </p:sp>
        <p:sp>
          <p:nvSpPr>
            <p:cNvPr id="8" name="Text Box 15">
              <a:extLst>
                <a:ext uri="{FF2B5EF4-FFF2-40B4-BE49-F238E27FC236}">
                  <a16:creationId xmlns:a16="http://schemas.microsoft.com/office/drawing/2014/main" id="{155A71D8-D941-AFFC-6704-ED67CADB5E8A}"/>
                </a:ext>
              </a:extLst>
            </p:cNvPr>
            <p:cNvSpPr txBox="1">
              <a:spLocks noChangeArrowheads="1"/>
            </p:cNvSpPr>
            <p:nvPr/>
          </p:nvSpPr>
          <p:spPr bwMode="auto">
            <a:xfrm>
              <a:off x="2551112" y="3581400"/>
              <a:ext cx="6207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0000"/>
                  </a:solidFill>
                </a:rPr>
                <a:t>Roll</a:t>
              </a:r>
              <a:endParaRPr lang="en-US" altLang="ja-JP" sz="1800">
                <a:solidFill>
                  <a:schemeClr val="bg1"/>
                </a:solidFill>
              </a:endParaRPr>
            </a:p>
          </p:txBody>
        </p:sp>
        <p:sp>
          <p:nvSpPr>
            <p:cNvPr id="14" name="Text Box 16">
              <a:extLst>
                <a:ext uri="{FF2B5EF4-FFF2-40B4-BE49-F238E27FC236}">
                  <a16:creationId xmlns:a16="http://schemas.microsoft.com/office/drawing/2014/main" id="{D1AC5129-F785-4C20-A849-B5D300956F49}"/>
                </a:ext>
              </a:extLst>
            </p:cNvPr>
            <p:cNvSpPr txBox="1">
              <a:spLocks noChangeArrowheads="1"/>
            </p:cNvSpPr>
            <p:nvPr/>
          </p:nvSpPr>
          <p:spPr bwMode="auto">
            <a:xfrm>
              <a:off x="2551112" y="2019300"/>
              <a:ext cx="890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0099"/>
                  </a:solidFill>
                </a:rPr>
                <a:t>Clamp</a:t>
              </a:r>
            </a:p>
          </p:txBody>
        </p:sp>
        <p:sp>
          <p:nvSpPr>
            <p:cNvPr id="15" name="Text Box 17">
              <a:extLst>
                <a:ext uri="{FF2B5EF4-FFF2-40B4-BE49-F238E27FC236}">
                  <a16:creationId xmlns:a16="http://schemas.microsoft.com/office/drawing/2014/main" id="{77FD739F-9589-85B5-E6F8-1F079D5DEB31}"/>
                </a:ext>
              </a:extLst>
            </p:cNvPr>
            <p:cNvSpPr txBox="1">
              <a:spLocks noChangeArrowheads="1"/>
            </p:cNvSpPr>
            <p:nvPr/>
          </p:nvSpPr>
          <p:spPr bwMode="auto">
            <a:xfrm>
              <a:off x="2551112" y="2819400"/>
              <a:ext cx="10302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FF9900"/>
                  </a:solidFill>
                </a:rPr>
                <a:t>Rigidity</a:t>
              </a:r>
              <a:endParaRPr lang="en-US" altLang="ja-JP" sz="1800">
                <a:solidFill>
                  <a:schemeClr val="bg1"/>
                </a:solidFill>
              </a:endParaRPr>
            </a:p>
          </p:txBody>
        </p:sp>
        <p:sp>
          <p:nvSpPr>
            <p:cNvPr id="16" name="Text Box 18">
              <a:extLst>
                <a:ext uri="{FF2B5EF4-FFF2-40B4-BE49-F238E27FC236}">
                  <a16:creationId xmlns:a16="http://schemas.microsoft.com/office/drawing/2014/main" id="{0D99D70B-CA44-8BBB-AB10-B17F17680FB5}"/>
                </a:ext>
              </a:extLst>
            </p:cNvPr>
            <p:cNvSpPr txBox="1">
              <a:spLocks noChangeArrowheads="1"/>
            </p:cNvSpPr>
            <p:nvPr/>
          </p:nvSpPr>
          <p:spPr bwMode="auto">
            <a:xfrm>
              <a:off x="2551112" y="4352925"/>
              <a:ext cx="8255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FF0000"/>
                  </a:solidFill>
                </a:rPr>
                <a:t>Shear</a:t>
              </a:r>
            </a:p>
          </p:txBody>
        </p:sp>
        <p:sp>
          <p:nvSpPr>
            <p:cNvPr id="17" name="Text Box 19">
              <a:extLst>
                <a:ext uri="{FF2B5EF4-FFF2-40B4-BE49-F238E27FC236}">
                  <a16:creationId xmlns:a16="http://schemas.microsoft.com/office/drawing/2014/main" id="{023489D1-2A68-81DF-7543-52B5F6569825}"/>
                </a:ext>
              </a:extLst>
            </p:cNvPr>
            <p:cNvSpPr txBox="1">
              <a:spLocks noChangeArrowheads="1"/>
            </p:cNvSpPr>
            <p:nvPr/>
          </p:nvSpPr>
          <p:spPr bwMode="auto">
            <a:xfrm>
              <a:off x="5732462" y="2019300"/>
              <a:ext cx="9032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t>Swivel</a:t>
              </a:r>
            </a:p>
          </p:txBody>
        </p:sp>
        <p:sp>
          <p:nvSpPr>
            <p:cNvPr id="18" name="Text Box 20">
              <a:extLst>
                <a:ext uri="{FF2B5EF4-FFF2-40B4-BE49-F238E27FC236}">
                  <a16:creationId xmlns:a16="http://schemas.microsoft.com/office/drawing/2014/main" id="{5C4D5933-5D9F-A2D1-9E06-6CE1841B05FA}"/>
                </a:ext>
              </a:extLst>
            </p:cNvPr>
            <p:cNvSpPr txBox="1">
              <a:spLocks noChangeArrowheads="1"/>
            </p:cNvSpPr>
            <p:nvPr/>
          </p:nvSpPr>
          <p:spPr bwMode="auto">
            <a:xfrm>
              <a:off x="5732462" y="4343400"/>
              <a:ext cx="9286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CC6600"/>
                  </a:solidFill>
                </a:rPr>
                <a:t>Fasten</a:t>
              </a:r>
            </a:p>
          </p:txBody>
        </p:sp>
        <p:sp>
          <p:nvSpPr>
            <p:cNvPr id="19" name="Text Box 21">
              <a:extLst>
                <a:ext uri="{FF2B5EF4-FFF2-40B4-BE49-F238E27FC236}">
                  <a16:creationId xmlns:a16="http://schemas.microsoft.com/office/drawing/2014/main" id="{A818901B-AE0F-89A0-BAFF-130588330775}"/>
                </a:ext>
              </a:extLst>
            </p:cNvPr>
            <p:cNvSpPr txBox="1">
              <a:spLocks noChangeArrowheads="1"/>
            </p:cNvSpPr>
            <p:nvPr/>
          </p:nvSpPr>
          <p:spPr bwMode="auto">
            <a:xfrm>
              <a:off x="5732462" y="2743200"/>
              <a:ext cx="684213"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C00000"/>
                  </a:solidFill>
                </a:rPr>
                <a:t>Spin</a:t>
              </a:r>
            </a:p>
          </p:txBody>
        </p:sp>
        <p:sp>
          <p:nvSpPr>
            <p:cNvPr id="20" name="Text Box 22">
              <a:extLst>
                <a:ext uri="{FF2B5EF4-FFF2-40B4-BE49-F238E27FC236}">
                  <a16:creationId xmlns:a16="http://schemas.microsoft.com/office/drawing/2014/main" id="{C23311BB-F885-17F9-A20F-2C64CA43D5E4}"/>
                </a:ext>
              </a:extLst>
            </p:cNvPr>
            <p:cNvSpPr txBox="1">
              <a:spLocks noChangeArrowheads="1"/>
            </p:cNvSpPr>
            <p:nvPr/>
          </p:nvSpPr>
          <p:spPr bwMode="auto">
            <a:xfrm>
              <a:off x="5732462" y="3505200"/>
              <a:ext cx="8255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0099"/>
                  </a:solidFill>
                </a:rPr>
                <a:t>Brake</a:t>
              </a:r>
            </a:p>
          </p:txBody>
        </p:sp>
        <p:sp>
          <p:nvSpPr>
            <p:cNvPr id="22" name="Text Box 23">
              <a:extLst>
                <a:ext uri="{FF2B5EF4-FFF2-40B4-BE49-F238E27FC236}">
                  <a16:creationId xmlns:a16="http://schemas.microsoft.com/office/drawing/2014/main" id="{F84FBB39-8EDB-AE7C-A0C3-976EB701AC0E}"/>
                </a:ext>
              </a:extLst>
            </p:cNvPr>
            <p:cNvSpPr txBox="1">
              <a:spLocks noChangeArrowheads="1"/>
            </p:cNvSpPr>
            <p:nvPr/>
          </p:nvSpPr>
          <p:spPr bwMode="auto">
            <a:xfrm>
              <a:off x="7885112" y="4352925"/>
              <a:ext cx="7366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FF0000"/>
                  </a:solidFill>
                </a:rPr>
                <a:t>Slide</a:t>
              </a:r>
            </a:p>
          </p:txBody>
        </p:sp>
        <p:sp>
          <p:nvSpPr>
            <p:cNvPr id="23" name="Text Box 24">
              <a:extLst>
                <a:ext uri="{FF2B5EF4-FFF2-40B4-BE49-F238E27FC236}">
                  <a16:creationId xmlns:a16="http://schemas.microsoft.com/office/drawing/2014/main" id="{B0A260ED-749E-0648-2E4C-6B55881E7BD8}"/>
                </a:ext>
              </a:extLst>
            </p:cNvPr>
            <p:cNvSpPr txBox="1">
              <a:spLocks noChangeArrowheads="1"/>
            </p:cNvSpPr>
            <p:nvPr/>
          </p:nvSpPr>
          <p:spPr bwMode="auto">
            <a:xfrm>
              <a:off x="7885112" y="2009775"/>
              <a:ext cx="1146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B050"/>
                  </a:solidFill>
                </a:rPr>
                <a:t>Oscillate</a:t>
              </a:r>
            </a:p>
          </p:txBody>
        </p:sp>
        <p:sp>
          <p:nvSpPr>
            <p:cNvPr id="24" name="Text Box 25">
              <a:extLst>
                <a:ext uri="{FF2B5EF4-FFF2-40B4-BE49-F238E27FC236}">
                  <a16:creationId xmlns:a16="http://schemas.microsoft.com/office/drawing/2014/main" id="{EFB27421-3BFC-F55B-FE23-1CBA571080AB}"/>
                </a:ext>
              </a:extLst>
            </p:cNvPr>
            <p:cNvSpPr txBox="1">
              <a:spLocks noChangeArrowheads="1"/>
            </p:cNvSpPr>
            <p:nvPr/>
          </p:nvSpPr>
          <p:spPr bwMode="auto">
            <a:xfrm>
              <a:off x="7885112" y="2743200"/>
              <a:ext cx="8128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70C0"/>
                  </a:solidFill>
                </a:rPr>
                <a:t>Press</a:t>
              </a:r>
            </a:p>
          </p:txBody>
        </p:sp>
        <p:sp>
          <p:nvSpPr>
            <p:cNvPr id="25" name="Text Box 26">
              <a:extLst>
                <a:ext uri="{FF2B5EF4-FFF2-40B4-BE49-F238E27FC236}">
                  <a16:creationId xmlns:a16="http://schemas.microsoft.com/office/drawing/2014/main" id="{DEAD86DA-78D8-F809-F4C6-F96F63107DC0}"/>
                </a:ext>
              </a:extLst>
            </p:cNvPr>
            <p:cNvSpPr txBox="1">
              <a:spLocks noChangeArrowheads="1"/>
            </p:cNvSpPr>
            <p:nvPr/>
          </p:nvSpPr>
          <p:spPr bwMode="auto">
            <a:xfrm>
              <a:off x="838200" y="2762250"/>
              <a:ext cx="7239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FF0000"/>
                  </a:solidFill>
                </a:rPr>
                <a:t>Lock</a:t>
              </a:r>
            </a:p>
          </p:txBody>
        </p:sp>
        <p:sp>
          <p:nvSpPr>
            <p:cNvPr id="26" name="Text Box 27">
              <a:extLst>
                <a:ext uri="{FF2B5EF4-FFF2-40B4-BE49-F238E27FC236}">
                  <a16:creationId xmlns:a16="http://schemas.microsoft.com/office/drawing/2014/main" id="{A68C92B4-C43D-408E-D843-65AD3815B11F}"/>
                </a:ext>
              </a:extLst>
            </p:cNvPr>
            <p:cNvSpPr txBox="1">
              <a:spLocks noChangeArrowheads="1"/>
            </p:cNvSpPr>
            <p:nvPr/>
          </p:nvSpPr>
          <p:spPr bwMode="auto">
            <a:xfrm>
              <a:off x="7885112" y="3352800"/>
              <a:ext cx="7747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1800">
                  <a:solidFill>
                    <a:srgbClr val="000000"/>
                  </a:solidFill>
                </a:rPr>
                <a:t>Bond</a:t>
              </a:r>
            </a:p>
          </p:txBody>
        </p:sp>
        <p:pic>
          <p:nvPicPr>
            <p:cNvPr id="27" name="Picture 3" descr="C:\Users\Administrator\Documents\key.jpg">
              <a:extLst>
                <a:ext uri="{FF2B5EF4-FFF2-40B4-BE49-F238E27FC236}">
                  <a16:creationId xmlns:a16="http://schemas.microsoft.com/office/drawing/2014/main" id="{9969D50D-14F6-9150-B17D-12C32A0F0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1737" y="1876425"/>
              <a:ext cx="146685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7103234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Determine Function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key functions.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Using the example provided on the following page, determine the key functions for the product. </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Answer: how does it add value to the customer? </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customer needs.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key functions, value added, and customer needs.</a:t>
            </a:r>
          </a:p>
        </p:txBody>
      </p:sp>
      <p:grpSp>
        <p:nvGrpSpPr>
          <p:cNvPr id="21" name="Group 20">
            <a:extLst>
              <a:ext uri="{FF2B5EF4-FFF2-40B4-BE49-F238E27FC236}">
                <a16:creationId xmlns:a16="http://schemas.microsoft.com/office/drawing/2014/main" id="{83A01908-0362-178B-1485-4326585540D9}"/>
              </a:ext>
            </a:extLst>
          </p:cNvPr>
          <p:cNvGrpSpPr/>
          <p:nvPr/>
        </p:nvGrpSpPr>
        <p:grpSpPr>
          <a:xfrm>
            <a:off x="838200" y="297639"/>
            <a:ext cx="4073209" cy="307138"/>
            <a:chOff x="838200" y="297639"/>
            <a:chExt cx="4073209" cy="307138"/>
          </a:xfrm>
        </p:grpSpPr>
        <p:grpSp>
          <p:nvGrpSpPr>
            <p:cNvPr id="22" name="Group 21">
              <a:extLst>
                <a:ext uri="{FF2B5EF4-FFF2-40B4-BE49-F238E27FC236}">
                  <a16:creationId xmlns:a16="http://schemas.microsoft.com/office/drawing/2014/main" id="{1FFC5177-D0BA-563F-AB49-3734B6A59A6E}"/>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30800D17-EA19-7F94-41CD-12F27C99B24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8327EB80-22E6-E752-6202-DFF8532B64D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8125E79-5775-2AE7-8868-AB147F9C3677}"/>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2E0C5A61-8CAD-FAFD-71E9-979B872924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8" name="AutoShape 11">
                  <a:extLst>
                    <a:ext uri="{FF2B5EF4-FFF2-40B4-BE49-F238E27FC236}">
                      <a16:creationId xmlns:a16="http://schemas.microsoft.com/office/drawing/2014/main" id="{0D249DB0-9B0E-2301-E021-419E7538A89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866107D0-F3CA-53B3-0AE4-6631342380A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C96122B3-B525-FAA9-FE72-A2C7732C485D}"/>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Tree>
    <p:extLst>
      <p:ext uri="{BB962C8B-B14F-4D97-AF65-F5344CB8AC3E}">
        <p14:creationId xmlns:p14="http://schemas.microsoft.com/office/powerpoint/2010/main" val="805250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Define Function Exercise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55</a:t>
            </a:fld>
            <a:endParaRPr lang="en-US"/>
          </a:p>
        </p:txBody>
      </p:sp>
      <p:grpSp>
        <p:nvGrpSpPr>
          <p:cNvPr id="5" name="Group 4">
            <a:extLst>
              <a:ext uri="{FF2B5EF4-FFF2-40B4-BE49-F238E27FC236}">
                <a16:creationId xmlns:a16="http://schemas.microsoft.com/office/drawing/2014/main" id="{26F5501C-F2DB-4188-17AD-49EA9D5B6299}"/>
              </a:ext>
            </a:extLst>
          </p:cNvPr>
          <p:cNvGrpSpPr/>
          <p:nvPr/>
        </p:nvGrpSpPr>
        <p:grpSpPr>
          <a:xfrm>
            <a:off x="838200" y="297639"/>
            <a:ext cx="4073209" cy="307138"/>
            <a:chOff x="838200" y="297639"/>
            <a:chExt cx="4073209" cy="307138"/>
          </a:xfrm>
        </p:grpSpPr>
        <p:grpSp>
          <p:nvGrpSpPr>
            <p:cNvPr id="7" name="Group 6">
              <a:extLst>
                <a:ext uri="{FF2B5EF4-FFF2-40B4-BE49-F238E27FC236}">
                  <a16:creationId xmlns:a16="http://schemas.microsoft.com/office/drawing/2014/main" id="{4AA18AB3-AC69-E15F-F70E-3D57D5DA3FC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971A92CA-A340-5ADA-AF38-6E18717B4C5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0FA7673-0F06-F4AE-07B3-C14B7C9881C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055011A-575F-E961-CB38-FC1CEF3523A5}"/>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6F1C60A0-75B6-97C4-E394-3CE1D925D97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8F67D3FE-7E41-4CE2-2C46-6A610253959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EFDC9640-F4C2-1877-1906-B144B88CDF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240C5F6-B8C2-2783-4B3B-CBFA50C353FF}"/>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p:txBody>
          <a:bodyPr/>
          <a:lstStyle/>
          <a:p>
            <a:r>
              <a:rPr lang="en-US" dirty="0"/>
              <a:t>How would you describe the product: Styrofoam cup</a:t>
            </a:r>
          </a:p>
          <a:p>
            <a:r>
              <a:rPr lang="en-US" dirty="0"/>
              <a:t>What does it do? Name the features or characteristics.  How does it add value to the customer?  List the customer needs.</a:t>
            </a:r>
          </a:p>
          <a:p>
            <a:r>
              <a:rPr lang="en-US" dirty="0"/>
              <a:t>Verb-Noun Functions</a:t>
            </a:r>
          </a:p>
        </p:txBody>
      </p:sp>
      <p:pic>
        <p:nvPicPr>
          <p:cNvPr id="28" name="Content Placeholder 4" descr="coffe cup.jpg">
            <a:extLst>
              <a:ext uri="{FF2B5EF4-FFF2-40B4-BE49-F238E27FC236}">
                <a16:creationId xmlns:a16="http://schemas.microsoft.com/office/drawing/2014/main" id="{0D6283AC-D064-DECF-2EAF-388672E03D1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681958" y="2034287"/>
            <a:ext cx="3529583" cy="3934014"/>
          </a:xfrm>
        </p:spPr>
      </p:pic>
    </p:spTree>
    <p:extLst>
      <p:ext uri="{BB962C8B-B14F-4D97-AF65-F5344CB8AC3E}">
        <p14:creationId xmlns:p14="http://schemas.microsoft.com/office/powerpoint/2010/main" val="22337960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Back to Nature Examples</a:t>
            </a:r>
            <a:endParaRPr lang="en-US" dirty="0"/>
          </a:p>
        </p:txBody>
      </p:sp>
      <p:grpSp>
        <p:nvGrpSpPr>
          <p:cNvPr id="9" name="Group 8">
            <a:extLst>
              <a:ext uri="{FF2B5EF4-FFF2-40B4-BE49-F238E27FC236}">
                <a16:creationId xmlns:a16="http://schemas.microsoft.com/office/drawing/2014/main" id="{A9DAED85-EE18-95FC-33EB-E82EF0AAAD6F}"/>
              </a:ext>
            </a:extLst>
          </p:cNvPr>
          <p:cNvGrpSpPr/>
          <p:nvPr/>
        </p:nvGrpSpPr>
        <p:grpSpPr>
          <a:xfrm>
            <a:off x="838200" y="297639"/>
            <a:ext cx="4073209" cy="307138"/>
            <a:chOff x="838200" y="297639"/>
            <a:chExt cx="4073209" cy="307138"/>
          </a:xfrm>
        </p:grpSpPr>
        <p:grpSp>
          <p:nvGrpSpPr>
            <p:cNvPr id="10" name="Group 9">
              <a:extLst>
                <a:ext uri="{FF2B5EF4-FFF2-40B4-BE49-F238E27FC236}">
                  <a16:creationId xmlns:a16="http://schemas.microsoft.com/office/drawing/2014/main" id="{BE06B8D8-60A8-FE5E-253E-DE8ECB859E9A}"/>
                </a:ext>
              </a:extLst>
            </p:cNvPr>
            <p:cNvGrpSpPr/>
            <p:nvPr/>
          </p:nvGrpSpPr>
          <p:grpSpPr>
            <a:xfrm>
              <a:off x="838200" y="297639"/>
              <a:ext cx="1687517" cy="290657"/>
              <a:chOff x="838200" y="297639"/>
              <a:chExt cx="1687517" cy="290657"/>
            </a:xfrm>
          </p:grpSpPr>
          <p:sp>
            <p:nvSpPr>
              <p:cNvPr id="12" name="AutoShape 9">
                <a:extLst>
                  <a:ext uri="{FF2B5EF4-FFF2-40B4-BE49-F238E27FC236}">
                    <a16:creationId xmlns:a16="http://schemas.microsoft.com/office/drawing/2014/main" id="{32555BB2-81A2-7220-FB6B-149263AC4EAB}"/>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9">
                <a:extLst>
                  <a:ext uri="{FF2B5EF4-FFF2-40B4-BE49-F238E27FC236}">
                    <a16:creationId xmlns:a16="http://schemas.microsoft.com/office/drawing/2014/main" id="{9736B9E6-C9A7-D6B6-0212-AB29E5AE0BF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1" name="Group 20">
                <a:extLst>
                  <a:ext uri="{FF2B5EF4-FFF2-40B4-BE49-F238E27FC236}">
                    <a16:creationId xmlns:a16="http://schemas.microsoft.com/office/drawing/2014/main" id="{5BD19380-A6CF-29BF-173C-E5EA1EC68172}"/>
                  </a:ext>
                </a:extLst>
              </p:cNvPr>
              <p:cNvGrpSpPr/>
              <p:nvPr/>
            </p:nvGrpSpPr>
            <p:grpSpPr>
              <a:xfrm>
                <a:off x="838200" y="297639"/>
                <a:ext cx="1060167" cy="290657"/>
                <a:chOff x="826426" y="4041857"/>
                <a:chExt cx="1060167" cy="290657"/>
              </a:xfrm>
            </p:grpSpPr>
            <p:sp>
              <p:nvSpPr>
                <p:cNvPr id="42" name="AutoShape 9">
                  <a:extLst>
                    <a:ext uri="{FF2B5EF4-FFF2-40B4-BE49-F238E27FC236}">
                      <a16:creationId xmlns:a16="http://schemas.microsoft.com/office/drawing/2014/main" id="{D37CBD8B-6728-9B77-449D-476A254522B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3" name="AutoShape 11">
                  <a:extLst>
                    <a:ext uri="{FF2B5EF4-FFF2-40B4-BE49-F238E27FC236}">
                      <a16:creationId xmlns:a16="http://schemas.microsoft.com/office/drawing/2014/main" id="{B75B31CA-6F2E-FD53-10CE-8988A0BCB7CD}"/>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44" name="AutoShape 10">
                  <a:extLst>
                    <a:ext uri="{FF2B5EF4-FFF2-40B4-BE49-F238E27FC236}">
                      <a16:creationId xmlns:a16="http://schemas.microsoft.com/office/drawing/2014/main" id="{7F36351A-9017-B5C6-2108-21EAD548E823}"/>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1" name="TextBox 10">
              <a:extLst>
                <a:ext uri="{FF2B5EF4-FFF2-40B4-BE49-F238E27FC236}">
                  <a16:creationId xmlns:a16="http://schemas.microsoft.com/office/drawing/2014/main" id="{A341E68B-D7F0-E523-5117-3F76DC1E677C}"/>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grpSp>
        <p:nvGrpSpPr>
          <p:cNvPr id="56" name="Group 55">
            <a:extLst>
              <a:ext uri="{FF2B5EF4-FFF2-40B4-BE49-F238E27FC236}">
                <a16:creationId xmlns:a16="http://schemas.microsoft.com/office/drawing/2014/main" id="{CA44BA16-6BF0-403A-F680-7FB477E55FF6}"/>
              </a:ext>
            </a:extLst>
          </p:cNvPr>
          <p:cNvGrpSpPr/>
          <p:nvPr/>
        </p:nvGrpSpPr>
        <p:grpSpPr>
          <a:xfrm>
            <a:off x="838200" y="1690688"/>
            <a:ext cx="10603230" cy="4438553"/>
            <a:chOff x="838200" y="1690688"/>
            <a:chExt cx="8559800" cy="4438553"/>
          </a:xfrm>
        </p:grpSpPr>
        <p:sp>
          <p:nvSpPr>
            <p:cNvPr id="3" name="Text Box 8">
              <a:extLst>
                <a:ext uri="{FF2B5EF4-FFF2-40B4-BE49-F238E27FC236}">
                  <a16:creationId xmlns:a16="http://schemas.microsoft.com/office/drawing/2014/main" id="{645CC2E7-C903-A798-0B0B-FAAE301D24CE}"/>
                </a:ext>
              </a:extLst>
            </p:cNvPr>
            <p:cNvSpPr txBox="1">
              <a:spLocks noChangeArrowheads="1"/>
            </p:cNvSpPr>
            <p:nvPr/>
          </p:nvSpPr>
          <p:spPr bwMode="auto">
            <a:xfrm>
              <a:off x="2147829" y="5788122"/>
              <a:ext cx="581195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solidFill>
                    <a:schemeClr val="accent5"/>
                  </a:solidFill>
                  <a:latin typeface="Roboto" panose="02000000000000000000" pitchFamily="2" charset="0"/>
                  <a:ea typeface="Roboto" panose="02000000000000000000" pitchFamily="2" charset="0"/>
                </a:rPr>
                <a:t>Nature has spent millions of years refining these phenomena</a:t>
              </a:r>
            </a:p>
          </p:txBody>
        </p:sp>
        <p:sp>
          <p:nvSpPr>
            <p:cNvPr id="29" name="Text Box 34">
              <a:extLst>
                <a:ext uri="{FF2B5EF4-FFF2-40B4-BE49-F238E27FC236}">
                  <a16:creationId xmlns:a16="http://schemas.microsoft.com/office/drawing/2014/main" id="{FA6557D8-A974-FF42-F567-30309CCCE4CD}"/>
                </a:ext>
              </a:extLst>
            </p:cNvPr>
            <p:cNvSpPr txBox="1">
              <a:spLocks noChangeArrowheads="1"/>
            </p:cNvSpPr>
            <p:nvPr/>
          </p:nvSpPr>
          <p:spPr bwMode="auto">
            <a:xfrm>
              <a:off x="1073340" y="3028253"/>
              <a:ext cx="563182"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latin typeface="Roboto" panose="02000000000000000000" pitchFamily="2" charset="0"/>
                  <a:ea typeface="Roboto" panose="02000000000000000000" pitchFamily="2" charset="0"/>
                </a:rPr>
                <a:t>Spin</a:t>
              </a:r>
              <a:endParaRPr lang="en-US" altLang="ja-JP" dirty="0">
                <a:latin typeface="Roboto" panose="02000000000000000000" pitchFamily="2" charset="0"/>
                <a:ea typeface="Roboto" panose="02000000000000000000" pitchFamily="2" charset="0"/>
              </a:endParaRPr>
            </a:p>
          </p:txBody>
        </p:sp>
        <p:sp>
          <p:nvSpPr>
            <p:cNvPr id="30" name="Text Box 37">
              <a:extLst>
                <a:ext uri="{FF2B5EF4-FFF2-40B4-BE49-F238E27FC236}">
                  <a16:creationId xmlns:a16="http://schemas.microsoft.com/office/drawing/2014/main" id="{3E3C5123-F70B-41BF-276B-00EAD71B49D5}"/>
                </a:ext>
              </a:extLst>
            </p:cNvPr>
            <p:cNvSpPr txBox="1">
              <a:spLocks noChangeArrowheads="1"/>
            </p:cNvSpPr>
            <p:nvPr/>
          </p:nvSpPr>
          <p:spPr bwMode="auto">
            <a:xfrm>
              <a:off x="4371975" y="5191125"/>
              <a:ext cx="15954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a:latin typeface="Roboto" panose="02000000000000000000" pitchFamily="2" charset="0"/>
                  <a:ea typeface="Roboto" panose="02000000000000000000" pitchFamily="2" charset="0"/>
                </a:rPr>
                <a:t>Separate</a:t>
              </a:r>
              <a:endParaRPr lang="en-US" altLang="ja-JP">
                <a:latin typeface="Roboto" panose="02000000000000000000" pitchFamily="2" charset="0"/>
                <a:ea typeface="Roboto" panose="02000000000000000000" pitchFamily="2" charset="0"/>
              </a:endParaRPr>
            </a:p>
          </p:txBody>
        </p:sp>
        <p:sp>
          <p:nvSpPr>
            <p:cNvPr id="31" name="Text Box 43">
              <a:extLst>
                <a:ext uri="{FF2B5EF4-FFF2-40B4-BE49-F238E27FC236}">
                  <a16:creationId xmlns:a16="http://schemas.microsoft.com/office/drawing/2014/main" id="{642539CC-7CF3-8DF6-CE1B-4A1415D28BF9}"/>
                </a:ext>
              </a:extLst>
            </p:cNvPr>
            <p:cNvSpPr txBox="1">
              <a:spLocks noChangeArrowheads="1"/>
            </p:cNvSpPr>
            <p:nvPr/>
          </p:nvSpPr>
          <p:spPr bwMode="auto">
            <a:xfrm>
              <a:off x="8299197" y="4857053"/>
              <a:ext cx="84029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a:solidFill>
                    <a:srgbClr val="000000"/>
                  </a:solidFill>
                  <a:latin typeface="Roboto" panose="02000000000000000000" pitchFamily="2" charset="0"/>
                  <a:ea typeface="Roboto" panose="02000000000000000000" pitchFamily="2" charset="0"/>
                </a:rPr>
                <a:t>Crawl</a:t>
              </a:r>
              <a:endParaRPr lang="en-US" altLang="ja-JP">
                <a:solidFill>
                  <a:srgbClr val="000000"/>
                </a:solidFill>
                <a:latin typeface="Roboto" panose="02000000000000000000" pitchFamily="2" charset="0"/>
                <a:ea typeface="Roboto" panose="02000000000000000000" pitchFamily="2" charset="0"/>
              </a:endParaRPr>
            </a:p>
          </p:txBody>
        </p:sp>
        <p:pic>
          <p:nvPicPr>
            <p:cNvPr id="32" name="Picture 14">
              <a:extLst>
                <a:ext uri="{FF2B5EF4-FFF2-40B4-BE49-F238E27FC236}">
                  <a16:creationId xmlns:a16="http://schemas.microsoft.com/office/drawing/2014/main" id="{5F3B0066-04C7-5CD2-F185-A877D2A02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3675" y="4079875"/>
              <a:ext cx="1584325"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33" name="Picture 15">
              <a:extLst>
                <a:ext uri="{FF2B5EF4-FFF2-40B4-BE49-F238E27FC236}">
                  <a16:creationId xmlns:a16="http://schemas.microsoft.com/office/drawing/2014/main" id="{71AC8FC9-EAA0-49A6-AD9E-F0BF15C7A1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64375" y="2959100"/>
              <a:ext cx="1168400" cy="103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34" name="Picture 16">
              <a:extLst>
                <a:ext uri="{FF2B5EF4-FFF2-40B4-BE49-F238E27FC236}">
                  <a16:creationId xmlns:a16="http://schemas.microsoft.com/office/drawing/2014/main" id="{14A45992-13AA-E417-37DD-14F4CEF79F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59688" y="1724025"/>
              <a:ext cx="166370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35" name="Text Box 42">
              <a:extLst>
                <a:ext uri="{FF2B5EF4-FFF2-40B4-BE49-F238E27FC236}">
                  <a16:creationId xmlns:a16="http://schemas.microsoft.com/office/drawing/2014/main" id="{601EFDB4-3ABC-7189-1C03-DC57A59100BD}"/>
                </a:ext>
              </a:extLst>
            </p:cNvPr>
            <p:cNvSpPr txBox="1">
              <a:spLocks noChangeArrowheads="1"/>
            </p:cNvSpPr>
            <p:nvPr/>
          </p:nvSpPr>
          <p:spPr bwMode="auto">
            <a:xfrm>
              <a:off x="8264012" y="2796478"/>
              <a:ext cx="690001"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latin typeface="Roboto" panose="02000000000000000000" pitchFamily="2" charset="0"/>
                  <a:ea typeface="Roboto" panose="02000000000000000000" pitchFamily="2" charset="0"/>
                </a:rPr>
                <a:t>Shear</a:t>
              </a:r>
              <a:endParaRPr lang="en-US" altLang="ja-JP" dirty="0">
                <a:latin typeface="Roboto" panose="02000000000000000000" pitchFamily="2" charset="0"/>
                <a:ea typeface="Roboto" panose="02000000000000000000" pitchFamily="2" charset="0"/>
              </a:endParaRPr>
            </a:p>
          </p:txBody>
        </p:sp>
        <p:sp>
          <p:nvSpPr>
            <p:cNvPr id="36" name="Text Box 41">
              <a:extLst>
                <a:ext uri="{FF2B5EF4-FFF2-40B4-BE49-F238E27FC236}">
                  <a16:creationId xmlns:a16="http://schemas.microsoft.com/office/drawing/2014/main" id="{40F4FA17-54E0-AB29-A724-F040174A4CA5}"/>
                </a:ext>
              </a:extLst>
            </p:cNvPr>
            <p:cNvSpPr txBox="1">
              <a:spLocks noChangeArrowheads="1"/>
            </p:cNvSpPr>
            <p:nvPr/>
          </p:nvSpPr>
          <p:spPr bwMode="auto">
            <a:xfrm>
              <a:off x="6511003" y="3104453"/>
              <a:ext cx="819408"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latin typeface="Roboto" panose="02000000000000000000" pitchFamily="2" charset="0"/>
                  <a:ea typeface="Roboto" panose="02000000000000000000" pitchFamily="2" charset="0"/>
                </a:rPr>
                <a:t>Adhere</a:t>
              </a:r>
              <a:endParaRPr lang="en-US" altLang="ja-JP" dirty="0">
                <a:latin typeface="Roboto" panose="02000000000000000000" pitchFamily="2" charset="0"/>
                <a:ea typeface="Roboto" panose="02000000000000000000" pitchFamily="2" charset="0"/>
              </a:endParaRPr>
            </a:p>
          </p:txBody>
        </p:sp>
        <p:pic>
          <p:nvPicPr>
            <p:cNvPr id="37" name="Picture 17">
              <a:extLst>
                <a:ext uri="{FF2B5EF4-FFF2-40B4-BE49-F238E27FC236}">
                  <a16:creationId xmlns:a16="http://schemas.microsoft.com/office/drawing/2014/main" id="{51EA1470-B279-7C09-502E-F2AE0A2A56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0788" y="2043113"/>
              <a:ext cx="1462087" cy="109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38" name="Picture 18">
              <a:extLst>
                <a:ext uri="{FF2B5EF4-FFF2-40B4-BE49-F238E27FC236}">
                  <a16:creationId xmlns:a16="http://schemas.microsoft.com/office/drawing/2014/main" id="{3C203FAB-6ADE-D74C-6738-293A0F0B22D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r="-2963"/>
            <a:stretch>
              <a:fillRect/>
            </a:stretch>
          </p:blipFill>
          <p:spPr bwMode="auto">
            <a:xfrm>
              <a:off x="2447925" y="4006850"/>
              <a:ext cx="1527175"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39" name="Text Box 36">
              <a:extLst>
                <a:ext uri="{FF2B5EF4-FFF2-40B4-BE49-F238E27FC236}">
                  <a16:creationId xmlns:a16="http://schemas.microsoft.com/office/drawing/2014/main" id="{27AF82AA-916D-59CC-AF7F-F54420B32B6F}"/>
                </a:ext>
              </a:extLst>
            </p:cNvPr>
            <p:cNvSpPr txBox="1">
              <a:spLocks noChangeArrowheads="1"/>
            </p:cNvSpPr>
            <p:nvPr/>
          </p:nvSpPr>
          <p:spPr bwMode="auto">
            <a:xfrm>
              <a:off x="2565846" y="4993578"/>
              <a:ext cx="1286571"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a:latin typeface="Roboto" panose="02000000000000000000" pitchFamily="2" charset="0"/>
                  <a:ea typeface="Roboto" panose="02000000000000000000" pitchFamily="2" charset="0"/>
                </a:rPr>
                <a:t>Encapsulate</a:t>
              </a:r>
              <a:endParaRPr lang="en-US" altLang="ja-JP">
                <a:latin typeface="Roboto" panose="02000000000000000000" pitchFamily="2" charset="0"/>
                <a:ea typeface="Roboto" panose="02000000000000000000" pitchFamily="2" charset="0"/>
              </a:endParaRPr>
            </a:p>
          </p:txBody>
        </p:sp>
        <p:pic>
          <p:nvPicPr>
            <p:cNvPr id="40" name="Picture 19">
              <a:extLst>
                <a:ext uri="{FF2B5EF4-FFF2-40B4-BE49-F238E27FC236}">
                  <a16:creationId xmlns:a16="http://schemas.microsoft.com/office/drawing/2014/main" id="{92FAE3C0-D960-00D3-9082-45703C69695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200" y="1916113"/>
              <a:ext cx="13303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41" name="Picture 20">
              <a:extLst>
                <a:ext uri="{FF2B5EF4-FFF2-40B4-BE49-F238E27FC236}">
                  <a16:creationId xmlns:a16="http://schemas.microsoft.com/office/drawing/2014/main" id="{42488066-CF68-40D8-7FBE-EAA8E52BB0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29275" y="1690688"/>
              <a:ext cx="1595438" cy="103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45" name="Text Box 40">
              <a:extLst>
                <a:ext uri="{FF2B5EF4-FFF2-40B4-BE49-F238E27FC236}">
                  <a16:creationId xmlns:a16="http://schemas.microsoft.com/office/drawing/2014/main" id="{8F1116BC-ABA9-16FD-7519-86A4FE937E6F}"/>
                </a:ext>
              </a:extLst>
            </p:cNvPr>
            <p:cNvSpPr txBox="1">
              <a:spLocks noChangeArrowheads="1"/>
            </p:cNvSpPr>
            <p:nvPr/>
          </p:nvSpPr>
          <p:spPr bwMode="auto">
            <a:xfrm>
              <a:off x="6108289" y="2415478"/>
              <a:ext cx="627886"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latin typeface="Roboto" panose="02000000000000000000" pitchFamily="2" charset="0"/>
                  <a:ea typeface="Roboto" panose="02000000000000000000" pitchFamily="2" charset="0"/>
                </a:rPr>
                <a:t>Cling</a:t>
              </a:r>
              <a:endParaRPr lang="en-US" altLang="ja-JP" dirty="0">
                <a:latin typeface="Roboto" panose="02000000000000000000" pitchFamily="2" charset="0"/>
                <a:ea typeface="Roboto" panose="02000000000000000000" pitchFamily="2" charset="0"/>
              </a:endParaRPr>
            </a:p>
          </p:txBody>
        </p:sp>
        <p:pic>
          <p:nvPicPr>
            <p:cNvPr id="46" name="Picture 21">
              <a:extLst>
                <a:ext uri="{FF2B5EF4-FFF2-40B4-BE49-F238E27FC236}">
                  <a16:creationId xmlns:a16="http://schemas.microsoft.com/office/drawing/2014/main" id="{E73F5C23-E281-6F38-EEB0-18BC7A4847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2813" y="3897313"/>
              <a:ext cx="1365250" cy="120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47" name="Picture 22">
              <a:extLst>
                <a:ext uri="{FF2B5EF4-FFF2-40B4-BE49-F238E27FC236}">
                  <a16:creationId xmlns:a16="http://schemas.microsoft.com/office/drawing/2014/main" id="{5BBECEB7-D801-58DD-0D8C-D4FB1C5ADAB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24550" y="4029075"/>
              <a:ext cx="1741488"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48" name="Text Box 45">
              <a:extLst>
                <a:ext uri="{FF2B5EF4-FFF2-40B4-BE49-F238E27FC236}">
                  <a16:creationId xmlns:a16="http://schemas.microsoft.com/office/drawing/2014/main" id="{261ED989-D2DC-7F79-32D0-D631A417F5C7}"/>
                </a:ext>
              </a:extLst>
            </p:cNvPr>
            <p:cNvSpPr txBox="1">
              <a:spLocks noChangeArrowheads="1"/>
            </p:cNvSpPr>
            <p:nvPr/>
          </p:nvSpPr>
          <p:spPr bwMode="auto">
            <a:xfrm>
              <a:off x="7022309" y="4675285"/>
              <a:ext cx="617533"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solidFill>
                    <a:schemeClr val="bg1"/>
                  </a:solidFill>
                  <a:latin typeface="Roboto" panose="02000000000000000000" pitchFamily="2" charset="0"/>
                  <a:ea typeface="Roboto" panose="02000000000000000000" pitchFamily="2" charset="0"/>
                </a:rPr>
                <a:t>Buoy</a:t>
              </a:r>
              <a:endParaRPr lang="en-US" altLang="ja-JP" dirty="0">
                <a:solidFill>
                  <a:schemeClr val="bg1"/>
                </a:solidFill>
                <a:latin typeface="Roboto" panose="02000000000000000000" pitchFamily="2" charset="0"/>
                <a:ea typeface="Roboto" panose="02000000000000000000" pitchFamily="2" charset="0"/>
              </a:endParaRPr>
            </a:p>
          </p:txBody>
        </p:sp>
        <p:sp>
          <p:nvSpPr>
            <p:cNvPr id="49" name="Text Box 47">
              <a:extLst>
                <a:ext uri="{FF2B5EF4-FFF2-40B4-BE49-F238E27FC236}">
                  <a16:creationId xmlns:a16="http://schemas.microsoft.com/office/drawing/2014/main" id="{ACAC68C9-7859-44F3-8590-E8B61B0F3DEE}"/>
                </a:ext>
              </a:extLst>
            </p:cNvPr>
            <p:cNvSpPr txBox="1">
              <a:spLocks noChangeArrowheads="1"/>
            </p:cNvSpPr>
            <p:nvPr/>
          </p:nvSpPr>
          <p:spPr bwMode="auto">
            <a:xfrm>
              <a:off x="925513" y="3924300"/>
              <a:ext cx="9128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solidFill>
                    <a:schemeClr val="bg1"/>
                  </a:solidFill>
                  <a:latin typeface="Roboto" panose="02000000000000000000" pitchFamily="2" charset="0"/>
                  <a:ea typeface="Roboto" panose="02000000000000000000" pitchFamily="2" charset="0"/>
                </a:rPr>
                <a:t>Hinge</a:t>
              </a:r>
              <a:endParaRPr lang="en-US" altLang="ja-JP" dirty="0">
                <a:solidFill>
                  <a:schemeClr val="bg1"/>
                </a:solidFill>
                <a:latin typeface="Roboto" panose="02000000000000000000" pitchFamily="2" charset="0"/>
                <a:ea typeface="Roboto" panose="02000000000000000000" pitchFamily="2" charset="0"/>
              </a:endParaRPr>
            </a:p>
          </p:txBody>
        </p:sp>
        <p:sp>
          <p:nvSpPr>
            <p:cNvPr id="50" name="Text Box 35">
              <a:extLst>
                <a:ext uri="{FF2B5EF4-FFF2-40B4-BE49-F238E27FC236}">
                  <a16:creationId xmlns:a16="http://schemas.microsoft.com/office/drawing/2014/main" id="{3E098504-636D-5811-B3B8-E24EA7BDCCF5}"/>
                </a:ext>
              </a:extLst>
            </p:cNvPr>
            <p:cNvSpPr txBox="1">
              <a:spLocks noChangeArrowheads="1"/>
            </p:cNvSpPr>
            <p:nvPr/>
          </p:nvSpPr>
          <p:spPr bwMode="auto">
            <a:xfrm>
              <a:off x="2401888" y="2024063"/>
              <a:ext cx="8350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latin typeface="Roboto" panose="02000000000000000000" pitchFamily="2" charset="0"/>
                  <a:ea typeface="Roboto" panose="02000000000000000000" pitchFamily="2" charset="0"/>
                </a:rPr>
                <a:t>Move</a:t>
              </a:r>
              <a:endParaRPr lang="en-US" altLang="ja-JP" dirty="0">
                <a:latin typeface="Roboto" panose="02000000000000000000" pitchFamily="2" charset="0"/>
                <a:ea typeface="Roboto" panose="02000000000000000000" pitchFamily="2" charset="0"/>
              </a:endParaRPr>
            </a:p>
          </p:txBody>
        </p:sp>
        <p:pic>
          <p:nvPicPr>
            <p:cNvPr id="51" name="Picture 23">
              <a:extLst>
                <a:ext uri="{FF2B5EF4-FFF2-40B4-BE49-F238E27FC236}">
                  <a16:creationId xmlns:a16="http://schemas.microsoft.com/office/drawing/2014/main" id="{E64C83A2-0643-736E-48AA-668FF73B5BA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97375" y="1731963"/>
              <a:ext cx="1042988"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52" name="Text Box 38">
              <a:extLst>
                <a:ext uri="{FF2B5EF4-FFF2-40B4-BE49-F238E27FC236}">
                  <a16:creationId xmlns:a16="http://schemas.microsoft.com/office/drawing/2014/main" id="{DF7A4C33-7F7B-EC46-E3BA-CBA28FA424DC}"/>
                </a:ext>
              </a:extLst>
            </p:cNvPr>
            <p:cNvSpPr txBox="1">
              <a:spLocks noChangeArrowheads="1"/>
            </p:cNvSpPr>
            <p:nvPr/>
          </p:nvSpPr>
          <p:spPr bwMode="auto">
            <a:xfrm>
              <a:off x="4179005" y="2475803"/>
              <a:ext cx="76376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latin typeface="Roboto" panose="02000000000000000000" pitchFamily="2" charset="0"/>
                  <a:ea typeface="Roboto" panose="02000000000000000000" pitchFamily="2" charset="0"/>
                </a:rPr>
                <a:t>Attach</a:t>
              </a:r>
              <a:endParaRPr lang="en-US" altLang="ja-JP" dirty="0">
                <a:latin typeface="Roboto" panose="02000000000000000000" pitchFamily="2" charset="0"/>
                <a:ea typeface="Roboto" panose="02000000000000000000" pitchFamily="2" charset="0"/>
              </a:endParaRPr>
            </a:p>
          </p:txBody>
        </p:sp>
        <p:pic>
          <p:nvPicPr>
            <p:cNvPr id="53" name="Picture 24">
              <a:extLst>
                <a:ext uri="{FF2B5EF4-FFF2-40B4-BE49-F238E27FC236}">
                  <a16:creationId xmlns:a16="http://schemas.microsoft.com/office/drawing/2014/main" id="{280F39D9-EE33-235A-BA57-199B7F3381E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b="-192"/>
            <a:stretch>
              <a:fillRect/>
            </a:stretch>
          </p:blipFill>
          <p:spPr bwMode="auto">
            <a:xfrm>
              <a:off x="4165600" y="2849563"/>
              <a:ext cx="1506538" cy="110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54" name="Text Box 39">
              <a:extLst>
                <a:ext uri="{FF2B5EF4-FFF2-40B4-BE49-F238E27FC236}">
                  <a16:creationId xmlns:a16="http://schemas.microsoft.com/office/drawing/2014/main" id="{E495C04E-95B2-CB78-476C-2F21F7855504}"/>
                </a:ext>
              </a:extLst>
            </p:cNvPr>
            <p:cNvSpPr txBox="1">
              <a:spLocks noChangeArrowheads="1"/>
            </p:cNvSpPr>
            <p:nvPr/>
          </p:nvSpPr>
          <p:spPr bwMode="auto">
            <a:xfrm>
              <a:off x="5036943" y="3637853"/>
              <a:ext cx="663964" cy="341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ja-JP" sz="2000" dirty="0">
                  <a:solidFill>
                    <a:srgbClr val="000000"/>
                  </a:solidFill>
                  <a:latin typeface="Roboto" panose="02000000000000000000" pitchFamily="2" charset="0"/>
                  <a:ea typeface="Roboto" panose="02000000000000000000" pitchFamily="2" charset="0"/>
                </a:rPr>
                <a:t>Grip</a:t>
              </a:r>
              <a:endParaRPr lang="en-US" altLang="ja-JP" dirty="0">
                <a:solidFill>
                  <a:srgbClr val="000000"/>
                </a:solidFill>
                <a:latin typeface="Roboto" panose="02000000000000000000" pitchFamily="2" charset="0"/>
                <a:ea typeface="Roboto" panose="02000000000000000000" pitchFamily="2" charset="0"/>
              </a:endParaRPr>
            </a:p>
          </p:txBody>
        </p:sp>
        <p:pic>
          <p:nvPicPr>
            <p:cNvPr id="55" name="Picture 38" descr="C:\Users\Administrator\Documents\berries.gif">
              <a:extLst>
                <a:ext uri="{FF2B5EF4-FFF2-40B4-BE49-F238E27FC236}">
                  <a16:creationId xmlns:a16="http://schemas.microsoft.com/office/drawing/2014/main" id="{781FE904-FEB4-EC8D-E40F-B8ADD8B5C67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1950" y="4062413"/>
              <a:ext cx="1150938"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4899037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TRIZ – 40 Principles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grpSp>
        <p:nvGrpSpPr>
          <p:cNvPr id="5" name="Group 4">
            <a:extLst>
              <a:ext uri="{FF2B5EF4-FFF2-40B4-BE49-F238E27FC236}">
                <a16:creationId xmlns:a16="http://schemas.microsoft.com/office/drawing/2014/main" id="{26F5501C-F2DB-4188-17AD-49EA9D5B6299}"/>
              </a:ext>
            </a:extLst>
          </p:cNvPr>
          <p:cNvGrpSpPr/>
          <p:nvPr/>
        </p:nvGrpSpPr>
        <p:grpSpPr>
          <a:xfrm>
            <a:off x="838200" y="297639"/>
            <a:ext cx="4073209" cy="307138"/>
            <a:chOff x="838200" y="297639"/>
            <a:chExt cx="4073209" cy="307138"/>
          </a:xfrm>
        </p:grpSpPr>
        <p:grpSp>
          <p:nvGrpSpPr>
            <p:cNvPr id="7" name="Group 6">
              <a:extLst>
                <a:ext uri="{FF2B5EF4-FFF2-40B4-BE49-F238E27FC236}">
                  <a16:creationId xmlns:a16="http://schemas.microsoft.com/office/drawing/2014/main" id="{4AA18AB3-AC69-E15F-F70E-3D57D5DA3FC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971A92CA-A340-5ADA-AF38-6E18717B4C5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0FA7673-0F06-F4AE-07B3-C14B7C9881C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055011A-575F-E961-CB38-FC1CEF3523A5}"/>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6F1C60A0-75B6-97C4-E394-3CE1D925D97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8F67D3FE-7E41-4CE2-2C46-6A610253959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EFDC9640-F4C2-1877-1906-B144B88CDF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240C5F6-B8C2-2783-4B3B-CBFA50C353FF}"/>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p:txBody>
          <a:bodyPr>
            <a:normAutofit fontScale="92500" lnSpcReduction="10000"/>
          </a:bodyPr>
          <a:lstStyle/>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Rushing through</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Blessing in disguise</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Feedback </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Intermediary/Mediator </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Self-Service</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Copying</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Cheap short-living objects</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Replacement of mechanical system</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Pneumatics and hydraulics</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Flexible membranes and thin films </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Porous materials</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Color change</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Homogeneity</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Discarding and Recovering</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Parameter Change</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Phase transition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Thermal expansion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Accelerated oxidation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Inert atmosphere</a:t>
            </a:r>
            <a:endParaRPr lang="en-GB" altLang="en-US" sz="1600" dirty="0"/>
          </a:p>
          <a:p>
            <a:pPr marL="342900" indent="-342900">
              <a:lnSpc>
                <a:spcPct val="100000"/>
              </a:lnSpc>
              <a:spcBef>
                <a:spcPct val="0"/>
              </a:spcBef>
              <a:spcAft>
                <a:spcPct val="0"/>
              </a:spcAft>
              <a:buFont typeface="Arial" panose="020B0604020202020204" pitchFamily="34" charset="0"/>
              <a:buAutoNum type="arabicPeriod" startAt="21"/>
            </a:pPr>
            <a:r>
              <a:rPr lang="en-US" altLang="en-US" sz="1600" dirty="0"/>
              <a:t>Composite materials</a:t>
            </a:r>
            <a:endParaRPr lang="en-GB" altLang="en-US" sz="1600" dirty="0"/>
          </a:p>
        </p:txBody>
      </p:sp>
      <p:sp>
        <p:nvSpPr>
          <p:cNvPr id="4" name="Content Placeholder 3">
            <a:extLst>
              <a:ext uri="{FF2B5EF4-FFF2-40B4-BE49-F238E27FC236}">
                <a16:creationId xmlns:a16="http://schemas.microsoft.com/office/drawing/2014/main" id="{88AEC128-0020-A614-86DD-0216E6EE4204}"/>
              </a:ext>
            </a:extLst>
          </p:cNvPr>
          <p:cNvSpPr>
            <a:spLocks noGrp="1"/>
          </p:cNvSpPr>
          <p:nvPr>
            <p:ph sz="half" idx="1"/>
          </p:nvPr>
        </p:nvSpPr>
        <p:spPr/>
        <p:txBody>
          <a:bodyPr>
            <a:normAutofit fontScale="92500" lnSpcReduction="10000"/>
          </a:bodyPr>
          <a:lstStyle/>
          <a:p>
            <a:pPr marL="342900" indent="-342900">
              <a:lnSpc>
                <a:spcPct val="100000"/>
              </a:lnSpc>
              <a:spcBef>
                <a:spcPct val="0"/>
              </a:spcBef>
              <a:spcAft>
                <a:spcPct val="0"/>
              </a:spcAft>
              <a:buFont typeface="Arial" panose="020B0604020202020204" pitchFamily="34" charset="0"/>
              <a:buAutoNum type="arabicPeriod"/>
            </a:pPr>
            <a:r>
              <a:rPr lang="en-US" altLang="en-US" sz="1600" dirty="0"/>
              <a:t>Segmentation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Taking out or extraction </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Local quality </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Asymmetry</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Merging / Consolidation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Universality</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Nested doll </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Anti-weight </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Prior counteraction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Prior action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Cushion in advance </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Equipotentiality</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The other way round</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err="1"/>
              <a:t>Spheroidality</a:t>
            </a:r>
            <a:r>
              <a:rPr lang="en-US" altLang="en-US" sz="1600" dirty="0"/>
              <a:t> – Curvature</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Dynamics</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Partial or excessive action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Another dimension </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Mechanical vibration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Periodic action</a:t>
            </a:r>
            <a:endParaRPr lang="en-GB" altLang="en-US" sz="1600" dirty="0"/>
          </a:p>
          <a:p>
            <a:pPr marL="342900" indent="-342900">
              <a:lnSpc>
                <a:spcPct val="100000"/>
              </a:lnSpc>
              <a:spcBef>
                <a:spcPct val="0"/>
              </a:spcBef>
              <a:spcAft>
                <a:spcPct val="0"/>
              </a:spcAft>
              <a:buFont typeface="Arial" panose="020B0604020202020204" pitchFamily="34" charset="0"/>
              <a:buAutoNum type="arabicPeriod"/>
            </a:pPr>
            <a:r>
              <a:rPr lang="en-US" altLang="en-US" sz="1600" dirty="0"/>
              <a:t>Continuity of useful action</a:t>
            </a:r>
            <a:endParaRPr lang="en-GB" altLang="en-US" sz="1600" dirty="0"/>
          </a:p>
        </p:txBody>
      </p:sp>
      <p:sp>
        <p:nvSpPr>
          <p:cNvPr id="15" name="TextBox 12">
            <a:extLst>
              <a:ext uri="{FF2B5EF4-FFF2-40B4-BE49-F238E27FC236}">
                <a16:creationId xmlns:a16="http://schemas.microsoft.com/office/drawing/2014/main" id="{112C256B-DA6C-9BF7-1D9D-A16BC35C385A}"/>
              </a:ext>
            </a:extLst>
          </p:cNvPr>
          <p:cNvSpPr txBox="1">
            <a:spLocks noChangeArrowheads="1"/>
          </p:cNvSpPr>
          <p:nvPr/>
        </p:nvSpPr>
        <p:spPr bwMode="auto">
          <a:xfrm>
            <a:off x="3561492" y="5970588"/>
            <a:ext cx="506901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dirty="0">
                <a:latin typeface="Roboto" panose="02000000000000000000" pitchFamily="2" charset="0"/>
                <a:ea typeface="Roboto" panose="02000000000000000000" pitchFamily="2" charset="0"/>
              </a:rPr>
              <a:t>Select key words and features from the 40 Principles</a:t>
            </a:r>
          </a:p>
        </p:txBody>
      </p:sp>
    </p:spTree>
    <p:extLst>
      <p:ext uri="{BB962C8B-B14F-4D97-AF65-F5344CB8AC3E}">
        <p14:creationId xmlns:p14="http://schemas.microsoft.com/office/powerpoint/2010/main" val="37895076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Other Solution Sources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grpSp>
        <p:nvGrpSpPr>
          <p:cNvPr id="5" name="Group 4">
            <a:extLst>
              <a:ext uri="{FF2B5EF4-FFF2-40B4-BE49-F238E27FC236}">
                <a16:creationId xmlns:a16="http://schemas.microsoft.com/office/drawing/2014/main" id="{26F5501C-F2DB-4188-17AD-49EA9D5B6299}"/>
              </a:ext>
            </a:extLst>
          </p:cNvPr>
          <p:cNvGrpSpPr/>
          <p:nvPr/>
        </p:nvGrpSpPr>
        <p:grpSpPr>
          <a:xfrm>
            <a:off x="838200" y="297639"/>
            <a:ext cx="4073209" cy="307138"/>
            <a:chOff x="838200" y="297639"/>
            <a:chExt cx="4073209" cy="307138"/>
          </a:xfrm>
        </p:grpSpPr>
        <p:grpSp>
          <p:nvGrpSpPr>
            <p:cNvPr id="7" name="Group 6">
              <a:extLst>
                <a:ext uri="{FF2B5EF4-FFF2-40B4-BE49-F238E27FC236}">
                  <a16:creationId xmlns:a16="http://schemas.microsoft.com/office/drawing/2014/main" id="{4AA18AB3-AC69-E15F-F70E-3D57D5DA3FC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971A92CA-A340-5ADA-AF38-6E18717B4C5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0FA7673-0F06-F4AE-07B3-C14B7C9881C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055011A-575F-E961-CB38-FC1CEF3523A5}"/>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6F1C60A0-75B6-97C4-E394-3CE1D925D97A}"/>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8F67D3FE-7E41-4CE2-2C46-6A610253959E}"/>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EFDC9640-F4C2-1877-1906-B144B88CDF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240C5F6-B8C2-2783-4B3B-CBFA50C353FF}"/>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a:xfrm>
            <a:off x="6309360" y="3304062"/>
            <a:ext cx="5181600" cy="1394461"/>
          </a:xfrm>
        </p:spPr>
        <p:txBody>
          <a:bodyPr>
            <a:normAutofit/>
          </a:bodyPr>
          <a:lstStyle/>
          <a:p>
            <a:pPr>
              <a:lnSpc>
                <a:spcPct val="100000"/>
              </a:lnSpc>
              <a:spcBef>
                <a:spcPct val="0"/>
              </a:spcBef>
              <a:spcAft>
                <a:spcPct val="0"/>
              </a:spcAft>
            </a:pPr>
            <a:r>
              <a:rPr lang="en-US" altLang="en-US" dirty="0"/>
              <a:t>Study the way others have solved things and list the key words for each function</a:t>
            </a:r>
          </a:p>
        </p:txBody>
      </p:sp>
      <p:sp>
        <p:nvSpPr>
          <p:cNvPr id="4" name="Content Placeholder 3">
            <a:extLst>
              <a:ext uri="{FF2B5EF4-FFF2-40B4-BE49-F238E27FC236}">
                <a16:creationId xmlns:a16="http://schemas.microsoft.com/office/drawing/2014/main" id="{88AEC128-0020-A614-86DD-0216E6EE4204}"/>
              </a:ext>
            </a:extLst>
          </p:cNvPr>
          <p:cNvSpPr>
            <a:spLocks noGrp="1"/>
          </p:cNvSpPr>
          <p:nvPr>
            <p:ph sz="half" idx="1"/>
          </p:nvPr>
        </p:nvSpPr>
        <p:spPr/>
        <p:txBody>
          <a:bodyPr>
            <a:normAutofit/>
          </a:bodyPr>
          <a:lstStyle/>
          <a:p>
            <a:r>
              <a:rPr lang="en-GB" altLang="en-US" dirty="0"/>
              <a:t>Competitors</a:t>
            </a:r>
          </a:p>
          <a:p>
            <a:pPr lvl="1"/>
            <a:r>
              <a:rPr lang="en-GB" altLang="en-US" dirty="0"/>
              <a:t>Copy, adapt and improve</a:t>
            </a:r>
          </a:p>
          <a:p>
            <a:r>
              <a:rPr lang="en-GB" altLang="en-US" dirty="0"/>
              <a:t>Other industries</a:t>
            </a:r>
          </a:p>
          <a:p>
            <a:pPr lvl="1"/>
            <a:r>
              <a:rPr lang="en-GB" altLang="en-US" dirty="0"/>
              <a:t>Food vs. process</a:t>
            </a:r>
          </a:p>
          <a:p>
            <a:pPr lvl="1"/>
            <a:r>
              <a:rPr lang="en-GB" altLang="en-US" dirty="0"/>
              <a:t>Auto vs. Aero</a:t>
            </a:r>
          </a:p>
          <a:p>
            <a:r>
              <a:rPr lang="en-GB" altLang="en-US" dirty="0"/>
              <a:t>Pattern Breaking tools</a:t>
            </a:r>
          </a:p>
          <a:p>
            <a:pPr lvl="1"/>
            <a:r>
              <a:rPr lang="en-GB" altLang="en-US" dirty="0"/>
              <a:t>Reverse assumptions, forcing associations, making comparisons, other points of view, blue sky</a:t>
            </a:r>
          </a:p>
        </p:txBody>
      </p:sp>
      <p:sp>
        <p:nvSpPr>
          <p:cNvPr id="3" name="AutoShape 7">
            <a:extLst>
              <a:ext uri="{FF2B5EF4-FFF2-40B4-BE49-F238E27FC236}">
                <a16:creationId xmlns:a16="http://schemas.microsoft.com/office/drawing/2014/main" id="{941764A0-C81D-FF65-B5F7-A1621F4ECEC8}"/>
              </a:ext>
            </a:extLst>
          </p:cNvPr>
          <p:cNvSpPr>
            <a:spLocks noChangeArrowheads="1"/>
          </p:cNvSpPr>
          <p:nvPr/>
        </p:nvSpPr>
        <p:spPr bwMode="auto">
          <a:xfrm>
            <a:off x="5886450" y="2754312"/>
            <a:ext cx="285750" cy="2493963"/>
          </a:xfrm>
          <a:prstGeom prst="rightArrow">
            <a:avLst>
              <a:gd name="adj1" fmla="val 67278"/>
              <a:gd name="adj2" fmla="val 72222"/>
            </a:avLst>
          </a:prstGeom>
          <a:solidFill>
            <a:schemeClr val="accent3"/>
          </a:solidFill>
          <a:ln w="19050" cap="sq">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33679715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Creative Thinking</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Begin the 3P Creative Thinking Process.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sub-teams, complete the following activities: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Functions from the diagrammed opportunities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Key Words and principles for each Function</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member draws 7 examples of each key word or principle as found in nature or other</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Present and group like examples with sub-team.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Report final results to rest of class.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results from creative thinking exercise.</a:t>
            </a:r>
          </a:p>
        </p:txBody>
      </p:sp>
      <p:grpSp>
        <p:nvGrpSpPr>
          <p:cNvPr id="21" name="Group 20">
            <a:extLst>
              <a:ext uri="{FF2B5EF4-FFF2-40B4-BE49-F238E27FC236}">
                <a16:creationId xmlns:a16="http://schemas.microsoft.com/office/drawing/2014/main" id="{83A01908-0362-178B-1485-4326585540D9}"/>
              </a:ext>
            </a:extLst>
          </p:cNvPr>
          <p:cNvGrpSpPr/>
          <p:nvPr/>
        </p:nvGrpSpPr>
        <p:grpSpPr>
          <a:xfrm>
            <a:off x="838200" y="297639"/>
            <a:ext cx="4073209" cy="307138"/>
            <a:chOff x="838200" y="297639"/>
            <a:chExt cx="4073209" cy="307138"/>
          </a:xfrm>
        </p:grpSpPr>
        <p:grpSp>
          <p:nvGrpSpPr>
            <p:cNvPr id="22" name="Group 21">
              <a:extLst>
                <a:ext uri="{FF2B5EF4-FFF2-40B4-BE49-F238E27FC236}">
                  <a16:creationId xmlns:a16="http://schemas.microsoft.com/office/drawing/2014/main" id="{1FFC5177-D0BA-563F-AB49-3734B6A59A6E}"/>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30800D17-EA19-7F94-41CD-12F27C99B24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8327EB80-22E6-E752-6202-DFF8532B64D0}"/>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6" name="Group 25">
                <a:extLst>
                  <a:ext uri="{FF2B5EF4-FFF2-40B4-BE49-F238E27FC236}">
                    <a16:creationId xmlns:a16="http://schemas.microsoft.com/office/drawing/2014/main" id="{08125E79-5775-2AE7-8868-AB147F9C3677}"/>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2E0C5A61-8CAD-FAFD-71E9-979B87292498}"/>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8" name="AutoShape 11">
                  <a:extLst>
                    <a:ext uri="{FF2B5EF4-FFF2-40B4-BE49-F238E27FC236}">
                      <a16:creationId xmlns:a16="http://schemas.microsoft.com/office/drawing/2014/main" id="{0D249DB0-9B0E-2301-E021-419E7538A896}"/>
                    </a:ext>
                  </a:extLst>
                </p:cNvPr>
                <p:cNvSpPr>
                  <a:spLocks noChangeArrowheads="1"/>
                </p:cNvSpPr>
                <p:nvPr/>
              </p:nvSpPr>
              <p:spPr bwMode="auto">
                <a:xfrm>
                  <a:off x="1140101" y="4041858"/>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866107D0-F3CA-53B3-0AE4-6631342380A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C96122B3-B525-FAA9-FE72-A2C7732C485D}"/>
                </a:ext>
              </a:extLst>
            </p:cNvPr>
            <p:cNvSpPr txBox="1"/>
            <p:nvPr/>
          </p:nvSpPr>
          <p:spPr>
            <a:xfrm>
              <a:off x="2525717" y="313415"/>
              <a:ext cx="2385692"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Examples from Nature</a:t>
              </a:r>
            </a:p>
          </p:txBody>
        </p:sp>
      </p:grpSp>
    </p:spTree>
    <p:extLst>
      <p:ext uri="{BB962C8B-B14F-4D97-AF65-F5344CB8AC3E}">
        <p14:creationId xmlns:p14="http://schemas.microsoft.com/office/powerpoint/2010/main" val="9119190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16 Catch Phrases of 3P</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Identify the purpose of the 16 Catch Phrases</a:t>
            </a:r>
          </a:p>
          <a:p>
            <a:r>
              <a:rPr lang="en-US" sz="2400" dirty="0"/>
              <a:t>Define each of the 16 Catch Phrases</a:t>
            </a:r>
          </a:p>
          <a:p>
            <a:r>
              <a:rPr lang="en-US" sz="2400" dirty="0"/>
              <a:t>Review the Muda Walk Worksheet</a:t>
            </a:r>
          </a:p>
          <a:p>
            <a:r>
              <a:rPr lang="en-US" sz="2400" dirty="0"/>
              <a:t>Capture examples and non-examples of the 16 Catch Phrases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Sketch and</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Evaluate</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32951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Purpose of 16 Catch Phrases of 3P</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grpSp>
        <p:nvGrpSpPr>
          <p:cNvPr id="5" name="Group 4">
            <a:extLst>
              <a:ext uri="{FF2B5EF4-FFF2-40B4-BE49-F238E27FC236}">
                <a16:creationId xmlns:a16="http://schemas.microsoft.com/office/drawing/2014/main" id="{26F5501C-F2DB-4188-17AD-49EA9D5B6299}"/>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4AA18AB3-AC69-E15F-F70E-3D57D5DA3FC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971A92CA-A340-5ADA-AF38-6E18717B4C5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0FA7673-0F06-F4AE-07B3-C14B7C9881C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055011A-575F-E961-CB38-FC1CEF3523A5}"/>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6F1C60A0-75B6-97C4-E394-3CE1D925D97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8F67D3FE-7E41-4CE2-2C46-6A610253959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EFDC9640-F4C2-1877-1906-B144B88CDF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240C5F6-B8C2-2783-4B3B-CBFA50C353FF}"/>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a:xfrm>
            <a:off x="6309360" y="2162969"/>
            <a:ext cx="5181600" cy="3676649"/>
          </a:xfrm>
        </p:spPr>
        <p:txBody>
          <a:bodyPr>
            <a:normAutofit/>
          </a:bodyPr>
          <a:lstStyle/>
          <a:p>
            <a:pPr>
              <a:lnSpc>
                <a:spcPct val="100000"/>
              </a:lnSpc>
              <a:spcBef>
                <a:spcPct val="0"/>
              </a:spcBef>
              <a:spcAft>
                <a:spcPct val="0"/>
              </a:spcAft>
            </a:pPr>
            <a:r>
              <a:rPr lang="en-US" altLang="en-US" sz="2400" dirty="0"/>
              <a:t>The 16 Catch Phrases of 3P are used as guidelines for designing processes according to Lean manufacturing principles of Takt, Flow, Pull, and </a:t>
            </a:r>
            <a:r>
              <a:rPr lang="en-US" altLang="en-US" sz="2400" dirty="0" err="1"/>
              <a:t>Jidoka</a:t>
            </a:r>
            <a:r>
              <a:rPr lang="en-US" altLang="en-US" sz="2400" dirty="0"/>
              <a:t>.</a:t>
            </a:r>
          </a:p>
          <a:p>
            <a:pPr>
              <a:lnSpc>
                <a:spcPct val="100000"/>
              </a:lnSpc>
              <a:spcBef>
                <a:spcPct val="0"/>
              </a:spcBef>
              <a:spcAft>
                <a:spcPct val="0"/>
              </a:spcAft>
            </a:pPr>
            <a:endParaRPr lang="en-US" altLang="en-US" sz="2400" dirty="0"/>
          </a:p>
        </p:txBody>
      </p:sp>
      <p:pic>
        <p:nvPicPr>
          <p:cNvPr id="15" name="Picture 2" descr="C:\Users\User\Documents\blocks.jpg">
            <a:extLst>
              <a:ext uri="{FF2B5EF4-FFF2-40B4-BE49-F238E27FC236}">
                <a16:creationId xmlns:a16="http://schemas.microsoft.com/office/drawing/2014/main" id="{4F077132-8FA6-884D-88A3-C07D42C7090D}"/>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2047875" y="2162969"/>
            <a:ext cx="2762250"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60939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16 Catch Phrases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62</a:t>
            </a:fld>
            <a:endParaRPr lang="en-US"/>
          </a:p>
        </p:txBody>
      </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p:txBody>
          <a:bodyPr>
            <a:normAutofit/>
          </a:bodyPr>
          <a:lstStyle/>
          <a:p>
            <a:pPr marL="342900" indent="-342900">
              <a:lnSpc>
                <a:spcPct val="100000"/>
              </a:lnSpc>
              <a:spcBef>
                <a:spcPct val="0"/>
              </a:spcBef>
              <a:spcAft>
                <a:spcPct val="0"/>
              </a:spcAft>
              <a:buFont typeface="+mj-lt"/>
              <a:buAutoNum type="arabicPeriod" startAt="9"/>
            </a:pPr>
            <a:r>
              <a:rPr lang="en-US" altLang="en-US" sz="2200" dirty="0"/>
              <a:t>Eliminate wasted machine cycle time</a:t>
            </a:r>
          </a:p>
          <a:p>
            <a:pPr marL="342900" indent="-342900">
              <a:lnSpc>
                <a:spcPct val="100000"/>
              </a:lnSpc>
              <a:spcBef>
                <a:spcPct val="0"/>
              </a:spcBef>
              <a:spcAft>
                <a:spcPct val="0"/>
              </a:spcAft>
              <a:buFont typeface="+mj-lt"/>
              <a:buAutoNum type="arabicPeriod" startAt="9"/>
            </a:pPr>
            <a:r>
              <a:rPr lang="en-US" altLang="en-US" sz="2200" dirty="0"/>
              <a:t>Build equipment for small, swift flow lines</a:t>
            </a:r>
          </a:p>
          <a:p>
            <a:pPr marL="342900" indent="-342900">
              <a:lnSpc>
                <a:spcPct val="100000"/>
              </a:lnSpc>
              <a:spcBef>
                <a:spcPct val="0"/>
              </a:spcBef>
              <a:spcAft>
                <a:spcPct val="0"/>
              </a:spcAft>
              <a:buFont typeface="+mj-lt"/>
              <a:buAutoNum type="arabicPeriod" startAt="9"/>
            </a:pPr>
            <a:r>
              <a:rPr lang="en-US" altLang="en-US" sz="2200" dirty="0"/>
              <a:t>Use short, vertical flow lines</a:t>
            </a:r>
          </a:p>
          <a:p>
            <a:pPr marL="342900" indent="-342900">
              <a:lnSpc>
                <a:spcPct val="100000"/>
              </a:lnSpc>
              <a:spcBef>
                <a:spcPct val="0"/>
              </a:spcBef>
              <a:spcAft>
                <a:spcPct val="0"/>
              </a:spcAft>
              <a:buFont typeface="+mj-lt"/>
              <a:buAutoNum type="arabicPeriod" startAt="9"/>
            </a:pPr>
            <a:r>
              <a:rPr lang="en-US" altLang="en-US" sz="2200" dirty="0"/>
              <a:t>Build equipment for one-piece pull</a:t>
            </a:r>
          </a:p>
          <a:p>
            <a:pPr marL="342900" indent="-342900">
              <a:lnSpc>
                <a:spcPct val="100000"/>
              </a:lnSpc>
              <a:spcBef>
                <a:spcPct val="0"/>
              </a:spcBef>
              <a:spcAft>
                <a:spcPct val="0"/>
              </a:spcAft>
              <a:buFont typeface="+mj-lt"/>
              <a:buAutoNum type="arabicPeriod" startAt="9"/>
            </a:pPr>
            <a:r>
              <a:rPr lang="en-US" altLang="en-US" sz="2200" dirty="0"/>
              <a:t>Build in quick changeover</a:t>
            </a:r>
          </a:p>
          <a:p>
            <a:pPr marL="342900" indent="-342900">
              <a:lnSpc>
                <a:spcPct val="100000"/>
              </a:lnSpc>
              <a:spcBef>
                <a:spcPct val="0"/>
              </a:spcBef>
              <a:spcAft>
                <a:spcPct val="0"/>
              </a:spcAft>
              <a:buFont typeface="+mj-lt"/>
              <a:buAutoNum type="arabicPeriod" startAt="9"/>
            </a:pPr>
            <a:r>
              <a:rPr lang="en-US" altLang="en-US" sz="2200" dirty="0"/>
              <a:t>Link machines for smooth loading and unloading</a:t>
            </a:r>
          </a:p>
          <a:p>
            <a:pPr marL="342900" indent="-342900">
              <a:lnSpc>
                <a:spcPct val="100000"/>
              </a:lnSpc>
              <a:spcBef>
                <a:spcPct val="0"/>
              </a:spcBef>
              <a:spcAft>
                <a:spcPct val="0"/>
              </a:spcAft>
              <a:buFont typeface="+mj-lt"/>
              <a:buAutoNum type="arabicPeriod" startAt="9"/>
            </a:pPr>
            <a:r>
              <a:rPr lang="en-US" altLang="en-US" sz="2200" dirty="0"/>
              <a:t>Use multiple lines &amp; untangled flows</a:t>
            </a:r>
          </a:p>
          <a:p>
            <a:pPr marL="342900" indent="-342900">
              <a:lnSpc>
                <a:spcPct val="100000"/>
              </a:lnSpc>
              <a:spcBef>
                <a:spcPct val="0"/>
              </a:spcBef>
              <a:spcAft>
                <a:spcPct val="0"/>
              </a:spcAft>
              <a:buFont typeface="+mj-lt"/>
              <a:buAutoNum type="arabicPeriod" startAt="9"/>
            </a:pPr>
            <a:r>
              <a:rPr lang="en-US" altLang="en-US" sz="2200" dirty="0"/>
              <a:t>Spiral upwards to </a:t>
            </a:r>
            <a:r>
              <a:rPr lang="en-US" altLang="en-US" sz="2200" dirty="0" err="1"/>
              <a:t>Jidoka</a:t>
            </a:r>
            <a:endParaRPr lang="en-US" altLang="en-US" sz="2200" dirty="0"/>
          </a:p>
        </p:txBody>
      </p:sp>
      <p:sp>
        <p:nvSpPr>
          <p:cNvPr id="4" name="Content Placeholder 3">
            <a:extLst>
              <a:ext uri="{FF2B5EF4-FFF2-40B4-BE49-F238E27FC236}">
                <a16:creationId xmlns:a16="http://schemas.microsoft.com/office/drawing/2014/main" id="{88AEC128-0020-A614-86DD-0216E6EE4204}"/>
              </a:ext>
            </a:extLst>
          </p:cNvPr>
          <p:cNvSpPr>
            <a:spLocks noGrp="1"/>
          </p:cNvSpPr>
          <p:nvPr>
            <p:ph sz="half" idx="1"/>
          </p:nvPr>
        </p:nvSpPr>
        <p:spPr/>
        <p:txBody>
          <a:bodyPr>
            <a:normAutofit/>
          </a:bodyPr>
          <a:lstStyle/>
          <a:p>
            <a:pPr marL="342900" indent="-342900">
              <a:lnSpc>
                <a:spcPct val="100000"/>
              </a:lnSpc>
              <a:spcBef>
                <a:spcPct val="0"/>
              </a:spcBef>
              <a:spcAft>
                <a:spcPct val="0"/>
              </a:spcAft>
              <a:buFont typeface="Arial" panose="020B0604020202020204" pitchFamily="34" charset="0"/>
              <a:buAutoNum type="arabicPeriod"/>
            </a:pPr>
            <a:r>
              <a:rPr lang="en-US" altLang="en-US" sz="2000" dirty="0"/>
              <a:t>Production preparation should be lightning fast</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Build &amp; layout equipment for smooth material flow</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Use additive equipment</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Build products and equipment that is easy to set up</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Make equipment easy to move</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Use multi-purpose equipment</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Make operator work stations narrow</a:t>
            </a:r>
          </a:p>
          <a:p>
            <a:pPr marL="342900" indent="-342900">
              <a:lnSpc>
                <a:spcPct val="100000"/>
              </a:lnSpc>
              <a:spcBef>
                <a:spcPct val="0"/>
              </a:spcBef>
              <a:spcAft>
                <a:spcPct val="0"/>
              </a:spcAft>
              <a:buFont typeface="Arial" panose="020B0604020202020204" pitchFamily="34" charset="0"/>
              <a:buAutoNum type="arabicPeriod"/>
            </a:pPr>
            <a:r>
              <a:rPr lang="en-US" altLang="en-US" sz="2000" dirty="0"/>
              <a:t>Layout equipment for ease of operator movement</a:t>
            </a:r>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29714565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1. Production Preparation should be lightning fast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grpSp>
        <p:nvGrpSpPr>
          <p:cNvPr id="4" name="Group 3">
            <a:extLst>
              <a:ext uri="{FF2B5EF4-FFF2-40B4-BE49-F238E27FC236}">
                <a16:creationId xmlns:a16="http://schemas.microsoft.com/office/drawing/2014/main" id="{78B0C0E4-B5C2-04F0-81B6-24ADAB000D7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37941626-DD7C-12F2-0EBB-AEE0A54931B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76B4DC21-A57C-ACC1-3FEF-8D2F1752732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EFD39BF-0294-1C3D-A373-B3DB0ACD550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034E8B7-F3B0-6889-D353-D0B68EE262E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8A7D088-2EAD-E904-3CC7-4C192B22BD0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587752D7-B41A-3D9D-0252-B58E918F2B2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B0069B7-A569-1FC6-3EE5-55D93E78332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483EB6B-D949-DC5A-2519-72A89D1B1D1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4" name="Picture 15">
            <a:extLst>
              <a:ext uri="{FF2B5EF4-FFF2-40B4-BE49-F238E27FC236}">
                <a16:creationId xmlns:a16="http://schemas.microsoft.com/office/drawing/2014/main" id="{8A261627-BAB2-FDD6-0037-03B8F858857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61318" y="1958833"/>
            <a:ext cx="6069362" cy="3405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5" name="TextBox 12">
            <a:extLst>
              <a:ext uri="{FF2B5EF4-FFF2-40B4-BE49-F238E27FC236}">
                <a16:creationId xmlns:a16="http://schemas.microsoft.com/office/drawing/2014/main" id="{E6477995-D3A9-97E6-3842-4793B4A14F55}"/>
              </a:ext>
            </a:extLst>
          </p:cNvPr>
          <p:cNvSpPr txBox="1">
            <a:spLocks noChangeArrowheads="1"/>
          </p:cNvSpPr>
          <p:nvPr/>
        </p:nvSpPr>
        <p:spPr bwMode="auto">
          <a:xfrm>
            <a:off x="3218448" y="5556396"/>
            <a:ext cx="575510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latin typeface="Roboto" panose="02000000000000000000" pitchFamily="2" charset="0"/>
                <a:ea typeface="Roboto" panose="02000000000000000000" pitchFamily="2" charset="0"/>
              </a:rPr>
              <a:t>From Concept to Production</a:t>
            </a:r>
          </a:p>
          <a:p>
            <a:pPr algn="ctr">
              <a:lnSpc>
                <a:spcPct val="100000"/>
              </a:lnSpc>
              <a:spcBef>
                <a:spcPct val="0"/>
              </a:spcBef>
              <a:spcAft>
                <a:spcPct val="0"/>
              </a:spcAft>
              <a:buClrTx/>
              <a:buSzTx/>
              <a:buFontTx/>
              <a:buNone/>
            </a:pPr>
            <a:r>
              <a:rPr lang="en-GB" altLang="en-US" sz="2000" dirty="0">
                <a:latin typeface="Roboto" panose="02000000000000000000" pitchFamily="2" charset="0"/>
                <a:ea typeface="Roboto" panose="02000000000000000000" pitchFamily="2" charset="0"/>
              </a:rPr>
              <a:t>Avoid over planning, use what you have, act now</a:t>
            </a:r>
          </a:p>
        </p:txBody>
      </p:sp>
    </p:spTree>
    <p:extLst>
      <p:ext uri="{BB962C8B-B14F-4D97-AF65-F5344CB8AC3E}">
        <p14:creationId xmlns:p14="http://schemas.microsoft.com/office/powerpoint/2010/main" val="24745279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2. Build &amp; layout equipment for smooth material flow</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64</a:t>
            </a:fld>
            <a:endParaRPr lang="en-US"/>
          </a:p>
        </p:txBody>
      </p:sp>
      <p:grpSp>
        <p:nvGrpSpPr>
          <p:cNvPr id="4" name="Group 3">
            <a:extLst>
              <a:ext uri="{FF2B5EF4-FFF2-40B4-BE49-F238E27FC236}">
                <a16:creationId xmlns:a16="http://schemas.microsoft.com/office/drawing/2014/main" id="{78B0C0E4-B5C2-04F0-81B6-24ADAB000D7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37941626-DD7C-12F2-0EBB-AEE0A54931B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76B4DC21-A57C-ACC1-3FEF-8D2F1752732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EFD39BF-0294-1C3D-A373-B3DB0ACD550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034E8B7-F3B0-6889-D353-D0B68EE262E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8A7D088-2EAD-E904-3CC7-4C192B22BD0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587752D7-B41A-3D9D-0252-B58E918F2B2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B0069B7-A569-1FC6-3EE5-55D93E78332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483EB6B-D949-DC5A-2519-72A89D1B1D1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15" name="TextBox 12">
            <a:extLst>
              <a:ext uri="{FF2B5EF4-FFF2-40B4-BE49-F238E27FC236}">
                <a16:creationId xmlns:a16="http://schemas.microsoft.com/office/drawing/2014/main" id="{E6477995-D3A9-97E6-3842-4793B4A14F55}"/>
              </a:ext>
            </a:extLst>
          </p:cNvPr>
          <p:cNvSpPr txBox="1">
            <a:spLocks noChangeArrowheads="1"/>
          </p:cNvSpPr>
          <p:nvPr/>
        </p:nvSpPr>
        <p:spPr bwMode="auto">
          <a:xfrm>
            <a:off x="1271017" y="3121854"/>
            <a:ext cx="403579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800" dirty="0">
                <a:latin typeface="Roboto" panose="02000000000000000000" pitchFamily="2" charset="0"/>
                <a:ea typeface="Roboto" panose="02000000000000000000" pitchFamily="2" charset="0"/>
              </a:rPr>
              <a:t>Use Lean Flow techniques – no waste, cells, Kanban Flow like a river, not like a dam</a:t>
            </a:r>
          </a:p>
        </p:txBody>
      </p:sp>
      <p:pic>
        <p:nvPicPr>
          <p:cNvPr id="17" name="Picture 147">
            <a:extLst>
              <a:ext uri="{FF2B5EF4-FFF2-40B4-BE49-F238E27FC236}">
                <a16:creationId xmlns:a16="http://schemas.microsoft.com/office/drawing/2014/main" id="{D71E585B-163A-337A-580F-C27AD03C761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r="-55" b="-139"/>
          <a:stretch>
            <a:fillRect/>
          </a:stretch>
        </p:blipFill>
        <p:spPr bwMode="auto">
          <a:xfrm>
            <a:off x="6719934" y="1943535"/>
            <a:ext cx="4081416" cy="427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8" name="Curved Down Arrow 147">
            <a:extLst>
              <a:ext uri="{FF2B5EF4-FFF2-40B4-BE49-F238E27FC236}">
                <a16:creationId xmlns:a16="http://schemas.microsoft.com/office/drawing/2014/main" id="{3631775D-1BDC-185D-E346-0DB308EAA2AC}"/>
              </a:ext>
            </a:extLst>
          </p:cNvPr>
          <p:cNvSpPr>
            <a:spLocks noChangeArrowheads="1"/>
          </p:cNvSpPr>
          <p:nvPr/>
        </p:nvSpPr>
        <p:spPr bwMode="auto">
          <a:xfrm flipH="1">
            <a:off x="7780451" y="2764757"/>
            <a:ext cx="1960381" cy="2745423"/>
          </a:xfrm>
          <a:prstGeom prst="curvedDownArrow">
            <a:avLst>
              <a:gd name="adj1" fmla="val 25000"/>
              <a:gd name="adj2" fmla="val 50000"/>
              <a:gd name="adj3" fmla="val 25006"/>
            </a:avLst>
          </a:prstGeom>
          <a:solidFill>
            <a:srgbClr val="808080">
              <a:alpha val="50195"/>
            </a:srgbClr>
          </a:solidFill>
          <a:ln w="12700" cap="sq">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Tree>
    <p:extLst>
      <p:ext uri="{BB962C8B-B14F-4D97-AF65-F5344CB8AC3E}">
        <p14:creationId xmlns:p14="http://schemas.microsoft.com/office/powerpoint/2010/main" val="33943201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3. Use additive equipment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65</a:t>
            </a:fld>
            <a:endParaRPr lang="en-US"/>
          </a:p>
        </p:txBody>
      </p:sp>
      <p:grpSp>
        <p:nvGrpSpPr>
          <p:cNvPr id="4" name="Group 3">
            <a:extLst>
              <a:ext uri="{FF2B5EF4-FFF2-40B4-BE49-F238E27FC236}">
                <a16:creationId xmlns:a16="http://schemas.microsoft.com/office/drawing/2014/main" id="{78B0C0E4-B5C2-04F0-81B6-24ADAB000D7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37941626-DD7C-12F2-0EBB-AEE0A54931B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76B4DC21-A57C-ACC1-3FEF-8D2F1752732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EFD39BF-0294-1C3D-A373-B3DB0ACD550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034E8B7-F3B0-6889-D353-D0B68EE262E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8A7D088-2EAD-E904-3CC7-4C192B22BD0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587752D7-B41A-3D9D-0252-B58E918F2B2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B0069B7-A569-1FC6-3EE5-55D93E78332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483EB6B-D949-DC5A-2519-72A89D1B1D1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15" name="TextBox 12">
            <a:extLst>
              <a:ext uri="{FF2B5EF4-FFF2-40B4-BE49-F238E27FC236}">
                <a16:creationId xmlns:a16="http://schemas.microsoft.com/office/drawing/2014/main" id="{E6477995-D3A9-97E6-3842-4793B4A14F55}"/>
              </a:ext>
            </a:extLst>
          </p:cNvPr>
          <p:cNvSpPr txBox="1">
            <a:spLocks noChangeArrowheads="1"/>
          </p:cNvSpPr>
          <p:nvPr/>
        </p:nvSpPr>
        <p:spPr bwMode="auto">
          <a:xfrm>
            <a:off x="3482943" y="5933038"/>
            <a:ext cx="522611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rPr>
              <a:t>Buy many speedboats instead of one tanker</a:t>
            </a:r>
          </a:p>
        </p:txBody>
      </p:sp>
      <p:grpSp>
        <p:nvGrpSpPr>
          <p:cNvPr id="27" name="Group 26">
            <a:extLst>
              <a:ext uri="{FF2B5EF4-FFF2-40B4-BE49-F238E27FC236}">
                <a16:creationId xmlns:a16="http://schemas.microsoft.com/office/drawing/2014/main" id="{1BCEFDCC-55B4-7767-96FF-98BF2F8E1C92}"/>
              </a:ext>
            </a:extLst>
          </p:cNvPr>
          <p:cNvGrpSpPr/>
          <p:nvPr/>
        </p:nvGrpSpPr>
        <p:grpSpPr>
          <a:xfrm>
            <a:off x="1113947" y="1846077"/>
            <a:ext cx="9964102" cy="3931571"/>
            <a:chOff x="700088" y="1544638"/>
            <a:chExt cx="7931150" cy="4170362"/>
          </a:xfrm>
        </p:grpSpPr>
        <p:sp>
          <p:nvSpPr>
            <p:cNvPr id="16" name="Line 8">
              <a:extLst>
                <a:ext uri="{FF2B5EF4-FFF2-40B4-BE49-F238E27FC236}">
                  <a16:creationId xmlns:a16="http://schemas.microsoft.com/office/drawing/2014/main" id="{8BE86E89-EE66-D1B6-FDB7-906F323205CB}"/>
                </a:ext>
              </a:extLst>
            </p:cNvPr>
            <p:cNvSpPr>
              <a:spLocks noChangeShapeType="1"/>
            </p:cNvSpPr>
            <p:nvPr/>
          </p:nvSpPr>
          <p:spPr bwMode="auto">
            <a:xfrm flipV="1">
              <a:off x="4572000" y="3476625"/>
              <a:ext cx="0" cy="574675"/>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9">
              <a:extLst>
                <a:ext uri="{FF2B5EF4-FFF2-40B4-BE49-F238E27FC236}">
                  <a16:creationId xmlns:a16="http://schemas.microsoft.com/office/drawing/2014/main" id="{8F572BA1-2BCB-0120-49D4-34FA309847C8}"/>
                </a:ext>
              </a:extLst>
            </p:cNvPr>
            <p:cNvSpPr>
              <a:spLocks noChangeShapeType="1"/>
            </p:cNvSpPr>
            <p:nvPr/>
          </p:nvSpPr>
          <p:spPr bwMode="auto">
            <a:xfrm flipV="1">
              <a:off x="1524000" y="3106738"/>
              <a:ext cx="1676400" cy="1147762"/>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1">
              <a:extLst>
                <a:ext uri="{FF2B5EF4-FFF2-40B4-BE49-F238E27FC236}">
                  <a16:creationId xmlns:a16="http://schemas.microsoft.com/office/drawing/2014/main" id="{C0498D9F-D4C0-06E0-C9BA-984FB2652CF8}"/>
                </a:ext>
              </a:extLst>
            </p:cNvPr>
            <p:cNvSpPr>
              <a:spLocks noChangeShapeType="1"/>
            </p:cNvSpPr>
            <p:nvPr/>
          </p:nvSpPr>
          <p:spPr bwMode="auto">
            <a:xfrm>
              <a:off x="2514600" y="2460625"/>
              <a:ext cx="8382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2">
              <a:extLst>
                <a:ext uri="{FF2B5EF4-FFF2-40B4-BE49-F238E27FC236}">
                  <a16:creationId xmlns:a16="http://schemas.microsoft.com/office/drawing/2014/main" id="{0E001999-3689-9666-4382-F3BF160AB9D1}"/>
                </a:ext>
              </a:extLst>
            </p:cNvPr>
            <p:cNvSpPr>
              <a:spLocks noChangeShapeType="1"/>
            </p:cNvSpPr>
            <p:nvPr/>
          </p:nvSpPr>
          <p:spPr bwMode="auto">
            <a:xfrm flipH="1">
              <a:off x="6019800" y="2246313"/>
              <a:ext cx="990600"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20" name="Picture 17">
              <a:extLst>
                <a:ext uri="{FF2B5EF4-FFF2-40B4-BE49-F238E27FC236}">
                  <a16:creationId xmlns:a16="http://schemas.microsoft.com/office/drawing/2014/main" id="{00692887-90B1-9149-8B77-77FA64A17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7550" y="1714500"/>
              <a:ext cx="1563688" cy="144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21" name="Picture 19">
              <a:extLst>
                <a:ext uri="{FF2B5EF4-FFF2-40B4-BE49-F238E27FC236}">
                  <a16:creationId xmlns:a16="http://schemas.microsoft.com/office/drawing/2014/main" id="{03C05CC4-D4D7-96F7-CAE6-8AFA8041BC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1088" y="1544638"/>
              <a:ext cx="19050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22" name="Picture 20">
              <a:extLst>
                <a:ext uri="{FF2B5EF4-FFF2-40B4-BE49-F238E27FC236}">
                  <a16:creationId xmlns:a16="http://schemas.microsoft.com/office/drawing/2014/main" id="{8E53165F-30C4-D24C-9BCD-003BB4E058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850" y="3908425"/>
              <a:ext cx="1457325" cy="13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23" name="Picture 21">
              <a:extLst>
                <a:ext uri="{FF2B5EF4-FFF2-40B4-BE49-F238E27FC236}">
                  <a16:creationId xmlns:a16="http://schemas.microsoft.com/office/drawing/2014/main" id="{87F79EC4-18FC-01E1-DC80-7A8329F1486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7263" y="3833813"/>
              <a:ext cx="2108200" cy="18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24" name="Picture 22">
              <a:extLst>
                <a:ext uri="{FF2B5EF4-FFF2-40B4-BE49-F238E27FC236}">
                  <a16:creationId xmlns:a16="http://schemas.microsoft.com/office/drawing/2014/main" id="{88222FD6-303F-A76F-7EC7-1BC6BDF345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b="208"/>
            <a:stretch>
              <a:fillRect/>
            </a:stretch>
          </p:blipFill>
          <p:spPr bwMode="auto">
            <a:xfrm>
              <a:off x="6110288" y="3997325"/>
              <a:ext cx="2493962"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25" name="Line 10">
              <a:extLst>
                <a:ext uri="{FF2B5EF4-FFF2-40B4-BE49-F238E27FC236}">
                  <a16:creationId xmlns:a16="http://schemas.microsoft.com/office/drawing/2014/main" id="{C57B9A6B-FD3B-A345-5422-51B30F3B8BE0}"/>
                </a:ext>
              </a:extLst>
            </p:cNvPr>
            <p:cNvSpPr>
              <a:spLocks noChangeShapeType="1"/>
            </p:cNvSpPr>
            <p:nvPr/>
          </p:nvSpPr>
          <p:spPr bwMode="auto">
            <a:xfrm flipH="1" flipV="1">
              <a:off x="5943600" y="3465513"/>
              <a:ext cx="838200" cy="50165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pic>
          <p:nvPicPr>
            <p:cNvPr id="26" name="Picture 23">
              <a:extLst>
                <a:ext uri="{FF2B5EF4-FFF2-40B4-BE49-F238E27FC236}">
                  <a16:creationId xmlns:a16="http://schemas.microsoft.com/office/drawing/2014/main" id="{38E34502-9F86-9CC7-22A7-F679F7214B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0088" y="1800225"/>
              <a:ext cx="155575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grpSp>
    </p:spTree>
    <p:extLst>
      <p:ext uri="{BB962C8B-B14F-4D97-AF65-F5344CB8AC3E}">
        <p14:creationId xmlns:p14="http://schemas.microsoft.com/office/powerpoint/2010/main" val="28474639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4. Build equipment that is easy to set up</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66</a:t>
            </a:fld>
            <a:endParaRPr lang="en-US"/>
          </a:p>
        </p:txBody>
      </p:sp>
      <p:grpSp>
        <p:nvGrpSpPr>
          <p:cNvPr id="4" name="Group 3">
            <a:extLst>
              <a:ext uri="{FF2B5EF4-FFF2-40B4-BE49-F238E27FC236}">
                <a16:creationId xmlns:a16="http://schemas.microsoft.com/office/drawing/2014/main" id="{78B0C0E4-B5C2-04F0-81B6-24ADAB000D7A}"/>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37941626-DD7C-12F2-0EBB-AEE0A54931B2}"/>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76B4DC21-A57C-ACC1-3FEF-8D2F1752732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0EFD39BF-0294-1C3D-A373-B3DB0ACD550C}"/>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0034E8B7-F3B0-6889-D353-D0B68EE262E2}"/>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B8A7D088-2EAD-E904-3CC7-4C192B22BD0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587752D7-B41A-3D9D-0252-B58E918F2B28}"/>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AB0069B7-A569-1FC6-3EE5-55D93E78332A}"/>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1483EB6B-D949-DC5A-2519-72A89D1B1D18}"/>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15" name="TextBox 12">
            <a:extLst>
              <a:ext uri="{FF2B5EF4-FFF2-40B4-BE49-F238E27FC236}">
                <a16:creationId xmlns:a16="http://schemas.microsoft.com/office/drawing/2014/main" id="{E6477995-D3A9-97E6-3842-4793B4A14F55}"/>
              </a:ext>
            </a:extLst>
          </p:cNvPr>
          <p:cNvSpPr txBox="1">
            <a:spLocks noChangeArrowheads="1"/>
          </p:cNvSpPr>
          <p:nvPr/>
        </p:nvSpPr>
        <p:spPr bwMode="auto">
          <a:xfrm>
            <a:off x="283264" y="3223527"/>
            <a:ext cx="2642534"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US" altLang="en-US" sz="2800" dirty="0">
                <a:latin typeface="Roboto" panose="02000000000000000000" pitchFamily="2" charset="0"/>
                <a:ea typeface="Roboto" panose="02000000000000000000" pitchFamily="2" charset="0"/>
              </a:rPr>
              <a:t>Design in the separation of internal and external tasks</a:t>
            </a:r>
          </a:p>
        </p:txBody>
      </p:sp>
      <p:grpSp>
        <p:nvGrpSpPr>
          <p:cNvPr id="104" name="Group 103">
            <a:extLst>
              <a:ext uri="{FF2B5EF4-FFF2-40B4-BE49-F238E27FC236}">
                <a16:creationId xmlns:a16="http://schemas.microsoft.com/office/drawing/2014/main" id="{F5CE6DC1-8EB0-69E8-4102-F9EA812A0CAE}"/>
              </a:ext>
            </a:extLst>
          </p:cNvPr>
          <p:cNvGrpSpPr/>
          <p:nvPr/>
        </p:nvGrpSpPr>
        <p:grpSpPr>
          <a:xfrm>
            <a:off x="2561431" y="1783429"/>
            <a:ext cx="7069138" cy="4327525"/>
            <a:chOff x="2754665" y="1783429"/>
            <a:chExt cx="7069138" cy="4327525"/>
          </a:xfrm>
        </p:grpSpPr>
        <p:grpSp>
          <p:nvGrpSpPr>
            <p:cNvPr id="3" name="Group 135">
              <a:extLst>
                <a:ext uri="{FF2B5EF4-FFF2-40B4-BE49-F238E27FC236}">
                  <a16:creationId xmlns:a16="http://schemas.microsoft.com/office/drawing/2014/main" id="{19BF40EF-54CF-64F7-32D6-1904E293C890}"/>
                </a:ext>
              </a:extLst>
            </p:cNvPr>
            <p:cNvGrpSpPr>
              <a:grpSpLocks/>
            </p:cNvGrpSpPr>
            <p:nvPr/>
          </p:nvGrpSpPr>
          <p:grpSpPr bwMode="auto">
            <a:xfrm>
              <a:off x="3556353" y="2154904"/>
              <a:ext cx="2127250" cy="1182688"/>
              <a:chOff x="1742744" y="1755161"/>
              <a:chExt cx="2127193" cy="1183341"/>
            </a:xfrm>
          </p:grpSpPr>
          <p:sp>
            <p:nvSpPr>
              <p:cNvPr id="14" name="Rounded Rectangle 104">
                <a:extLst>
                  <a:ext uri="{FF2B5EF4-FFF2-40B4-BE49-F238E27FC236}">
                    <a16:creationId xmlns:a16="http://schemas.microsoft.com/office/drawing/2014/main" id="{E76F5C33-A970-8CC8-D281-73A28B20D575}"/>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28" name="Rectangle 105">
                <a:extLst>
                  <a:ext uri="{FF2B5EF4-FFF2-40B4-BE49-F238E27FC236}">
                    <a16:creationId xmlns:a16="http://schemas.microsoft.com/office/drawing/2014/main" id="{B0FDEB44-5AC9-0B68-9B97-1B8CEE89930E}"/>
                  </a:ext>
                </a:extLst>
              </p:cNvPr>
              <p:cNvSpPr>
                <a:spLocks noChangeArrowheads="1"/>
              </p:cNvSpPr>
              <p:nvPr/>
            </p:nvSpPr>
            <p:spPr bwMode="auto">
              <a:xfrm>
                <a:off x="1742744" y="1755161"/>
                <a:ext cx="462579" cy="1183341"/>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29" name="Freeform 25">
                <a:extLst>
                  <a:ext uri="{FF2B5EF4-FFF2-40B4-BE49-F238E27FC236}">
                    <a16:creationId xmlns:a16="http://schemas.microsoft.com/office/drawing/2014/main" id="{78D2A6FA-0BB3-FD1E-7F44-1D4F38531CD0}"/>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p>
            </p:txBody>
          </p:sp>
          <p:sp>
            <p:nvSpPr>
              <p:cNvPr id="30" name="Freeform 26">
                <a:extLst>
                  <a:ext uri="{FF2B5EF4-FFF2-40B4-BE49-F238E27FC236}">
                    <a16:creationId xmlns:a16="http://schemas.microsoft.com/office/drawing/2014/main" id="{059C4D50-0ED3-EE15-0A2B-33CE99C7BA23}"/>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p>
            </p:txBody>
          </p:sp>
        </p:grpSp>
        <p:grpSp>
          <p:nvGrpSpPr>
            <p:cNvPr id="31" name="Group 136">
              <a:extLst>
                <a:ext uri="{FF2B5EF4-FFF2-40B4-BE49-F238E27FC236}">
                  <a16:creationId xmlns:a16="http://schemas.microsoft.com/office/drawing/2014/main" id="{528BE639-B6F9-1341-FAE3-272B58711858}"/>
                </a:ext>
              </a:extLst>
            </p:cNvPr>
            <p:cNvGrpSpPr>
              <a:grpSpLocks/>
            </p:cNvGrpSpPr>
            <p:nvPr/>
          </p:nvGrpSpPr>
          <p:grpSpPr bwMode="auto">
            <a:xfrm>
              <a:off x="3556353" y="3512217"/>
              <a:ext cx="2127250" cy="1182687"/>
              <a:chOff x="1742744" y="1755161"/>
              <a:chExt cx="2127193" cy="1183341"/>
            </a:xfrm>
          </p:grpSpPr>
          <p:sp>
            <p:nvSpPr>
              <p:cNvPr id="32" name="Rounded Rectangle 137">
                <a:extLst>
                  <a:ext uri="{FF2B5EF4-FFF2-40B4-BE49-F238E27FC236}">
                    <a16:creationId xmlns:a16="http://schemas.microsoft.com/office/drawing/2014/main" id="{57486424-C254-589C-428F-6A2B3FA15967}"/>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3" name="Rectangle 138">
                <a:extLst>
                  <a:ext uri="{FF2B5EF4-FFF2-40B4-BE49-F238E27FC236}">
                    <a16:creationId xmlns:a16="http://schemas.microsoft.com/office/drawing/2014/main" id="{1FABE95E-5765-6BA5-104E-00DA854CBD51}"/>
                  </a:ext>
                </a:extLst>
              </p:cNvPr>
              <p:cNvSpPr>
                <a:spLocks noChangeArrowheads="1"/>
              </p:cNvSpPr>
              <p:nvPr/>
            </p:nvSpPr>
            <p:spPr bwMode="auto">
              <a:xfrm>
                <a:off x="1742744" y="1755161"/>
                <a:ext cx="462579" cy="1183341"/>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4" name="Freeform 25">
                <a:extLst>
                  <a:ext uri="{FF2B5EF4-FFF2-40B4-BE49-F238E27FC236}">
                    <a16:creationId xmlns:a16="http://schemas.microsoft.com/office/drawing/2014/main" id="{82B094BF-9D4C-6F33-C14F-03E0A38FAE76}"/>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p>
            </p:txBody>
          </p:sp>
          <p:sp>
            <p:nvSpPr>
              <p:cNvPr id="35" name="Freeform 26">
                <a:extLst>
                  <a:ext uri="{FF2B5EF4-FFF2-40B4-BE49-F238E27FC236}">
                    <a16:creationId xmlns:a16="http://schemas.microsoft.com/office/drawing/2014/main" id="{16595B5C-6550-6B6B-07EA-47A8C47824F2}"/>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p>
            </p:txBody>
          </p:sp>
        </p:grpSp>
        <p:grpSp>
          <p:nvGrpSpPr>
            <p:cNvPr id="36" name="Group 141">
              <a:extLst>
                <a:ext uri="{FF2B5EF4-FFF2-40B4-BE49-F238E27FC236}">
                  <a16:creationId xmlns:a16="http://schemas.microsoft.com/office/drawing/2014/main" id="{1C8ED92D-8C6A-942F-EB34-52B1DFFC00DF}"/>
                </a:ext>
              </a:extLst>
            </p:cNvPr>
            <p:cNvGrpSpPr>
              <a:grpSpLocks/>
            </p:cNvGrpSpPr>
            <p:nvPr/>
          </p:nvGrpSpPr>
          <p:grpSpPr bwMode="auto">
            <a:xfrm>
              <a:off x="6359878" y="4912392"/>
              <a:ext cx="2127250" cy="1182687"/>
              <a:chOff x="1742744" y="1755161"/>
              <a:chExt cx="2127193" cy="1183341"/>
            </a:xfrm>
          </p:grpSpPr>
          <p:sp>
            <p:nvSpPr>
              <p:cNvPr id="37" name="Rounded Rectangle 142">
                <a:extLst>
                  <a:ext uri="{FF2B5EF4-FFF2-40B4-BE49-F238E27FC236}">
                    <a16:creationId xmlns:a16="http://schemas.microsoft.com/office/drawing/2014/main" id="{2E0C87AA-BFEA-2831-2799-420B8A058154}"/>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8" name="Rectangle 143">
                <a:extLst>
                  <a:ext uri="{FF2B5EF4-FFF2-40B4-BE49-F238E27FC236}">
                    <a16:creationId xmlns:a16="http://schemas.microsoft.com/office/drawing/2014/main" id="{6D0DE926-7E23-715B-1A39-7D7B6176A95A}"/>
                  </a:ext>
                </a:extLst>
              </p:cNvPr>
              <p:cNvSpPr>
                <a:spLocks noChangeArrowheads="1"/>
              </p:cNvSpPr>
              <p:nvPr/>
            </p:nvSpPr>
            <p:spPr bwMode="auto">
              <a:xfrm>
                <a:off x="1742744" y="1755161"/>
                <a:ext cx="462579" cy="1183341"/>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39" name="Freeform 25">
                <a:extLst>
                  <a:ext uri="{FF2B5EF4-FFF2-40B4-BE49-F238E27FC236}">
                    <a16:creationId xmlns:a16="http://schemas.microsoft.com/office/drawing/2014/main" id="{A6CAA54C-D046-1B34-6E0A-B1CDEB9AA7F3}"/>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p>
            </p:txBody>
          </p:sp>
          <p:sp>
            <p:nvSpPr>
              <p:cNvPr id="40" name="Freeform 26">
                <a:extLst>
                  <a:ext uri="{FF2B5EF4-FFF2-40B4-BE49-F238E27FC236}">
                    <a16:creationId xmlns:a16="http://schemas.microsoft.com/office/drawing/2014/main" id="{21511665-CDFC-DF0B-1BBE-CAF631C34063}"/>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p>
            </p:txBody>
          </p:sp>
        </p:grpSp>
        <p:grpSp>
          <p:nvGrpSpPr>
            <p:cNvPr id="41" name="Group 146">
              <a:extLst>
                <a:ext uri="{FF2B5EF4-FFF2-40B4-BE49-F238E27FC236}">
                  <a16:creationId xmlns:a16="http://schemas.microsoft.com/office/drawing/2014/main" id="{FDECA4FE-21CC-DC31-BCEF-2637AC3FC171}"/>
                </a:ext>
              </a:extLst>
            </p:cNvPr>
            <p:cNvGrpSpPr>
              <a:grpSpLocks/>
            </p:cNvGrpSpPr>
            <p:nvPr/>
          </p:nvGrpSpPr>
          <p:grpSpPr bwMode="auto">
            <a:xfrm>
              <a:off x="6359878" y="3504279"/>
              <a:ext cx="2127250" cy="1182688"/>
              <a:chOff x="1742744" y="1755161"/>
              <a:chExt cx="2127193" cy="1183341"/>
            </a:xfrm>
          </p:grpSpPr>
          <p:sp>
            <p:nvSpPr>
              <p:cNvPr id="42" name="Rounded Rectangle 147">
                <a:extLst>
                  <a:ext uri="{FF2B5EF4-FFF2-40B4-BE49-F238E27FC236}">
                    <a16:creationId xmlns:a16="http://schemas.microsoft.com/office/drawing/2014/main" id="{C2C53692-DD23-3045-A050-BD5DC99EEDBC}"/>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43" name="Rectangle 148">
                <a:extLst>
                  <a:ext uri="{FF2B5EF4-FFF2-40B4-BE49-F238E27FC236}">
                    <a16:creationId xmlns:a16="http://schemas.microsoft.com/office/drawing/2014/main" id="{782AD60C-50FB-9CC7-D32B-6848ED0A1F13}"/>
                  </a:ext>
                </a:extLst>
              </p:cNvPr>
              <p:cNvSpPr>
                <a:spLocks noChangeArrowheads="1"/>
              </p:cNvSpPr>
              <p:nvPr/>
            </p:nvSpPr>
            <p:spPr bwMode="auto">
              <a:xfrm>
                <a:off x="1742744" y="1755161"/>
                <a:ext cx="462579" cy="1183341"/>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44" name="Freeform 25">
                <a:extLst>
                  <a:ext uri="{FF2B5EF4-FFF2-40B4-BE49-F238E27FC236}">
                    <a16:creationId xmlns:a16="http://schemas.microsoft.com/office/drawing/2014/main" id="{9B19D653-F04C-5888-46F0-917884E94536}"/>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p>
            </p:txBody>
          </p:sp>
          <p:sp>
            <p:nvSpPr>
              <p:cNvPr id="45" name="Freeform 26">
                <a:extLst>
                  <a:ext uri="{FF2B5EF4-FFF2-40B4-BE49-F238E27FC236}">
                    <a16:creationId xmlns:a16="http://schemas.microsoft.com/office/drawing/2014/main" id="{BF641EC3-D43D-7544-A323-F79A3A2FDC81}"/>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p>
            </p:txBody>
          </p:sp>
        </p:grpSp>
        <p:grpSp>
          <p:nvGrpSpPr>
            <p:cNvPr id="46" name="Group 151">
              <a:extLst>
                <a:ext uri="{FF2B5EF4-FFF2-40B4-BE49-F238E27FC236}">
                  <a16:creationId xmlns:a16="http://schemas.microsoft.com/office/drawing/2014/main" id="{4E11ED36-029B-A9C4-1847-C0A172F0545E}"/>
                </a:ext>
              </a:extLst>
            </p:cNvPr>
            <p:cNvGrpSpPr>
              <a:grpSpLocks/>
            </p:cNvGrpSpPr>
            <p:nvPr/>
          </p:nvGrpSpPr>
          <p:grpSpPr bwMode="auto">
            <a:xfrm>
              <a:off x="6359878" y="2150142"/>
              <a:ext cx="2127250" cy="1184275"/>
              <a:chOff x="1742744" y="1755161"/>
              <a:chExt cx="2127193" cy="1183341"/>
            </a:xfrm>
          </p:grpSpPr>
          <p:sp>
            <p:nvSpPr>
              <p:cNvPr id="47" name="Rounded Rectangle 152">
                <a:extLst>
                  <a:ext uri="{FF2B5EF4-FFF2-40B4-BE49-F238E27FC236}">
                    <a16:creationId xmlns:a16="http://schemas.microsoft.com/office/drawing/2014/main" id="{C52E04B0-CA74-9E81-98DD-C3C2FBAB1AC4}"/>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48" name="Rectangle 153">
                <a:extLst>
                  <a:ext uri="{FF2B5EF4-FFF2-40B4-BE49-F238E27FC236}">
                    <a16:creationId xmlns:a16="http://schemas.microsoft.com/office/drawing/2014/main" id="{2C794F8B-7D0C-5C3A-DB17-C9655ABCA499}"/>
                  </a:ext>
                </a:extLst>
              </p:cNvPr>
              <p:cNvSpPr>
                <a:spLocks noChangeArrowheads="1"/>
              </p:cNvSpPr>
              <p:nvPr/>
            </p:nvSpPr>
            <p:spPr bwMode="auto">
              <a:xfrm>
                <a:off x="1742744" y="1755161"/>
                <a:ext cx="462579" cy="1183341"/>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49" name="Freeform 25">
                <a:extLst>
                  <a:ext uri="{FF2B5EF4-FFF2-40B4-BE49-F238E27FC236}">
                    <a16:creationId xmlns:a16="http://schemas.microsoft.com/office/drawing/2014/main" id="{810FBAE3-E756-2C5F-C5FE-D45EAC0AEB4F}"/>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p>
            </p:txBody>
          </p:sp>
          <p:sp>
            <p:nvSpPr>
              <p:cNvPr id="50" name="Freeform 26">
                <a:extLst>
                  <a:ext uri="{FF2B5EF4-FFF2-40B4-BE49-F238E27FC236}">
                    <a16:creationId xmlns:a16="http://schemas.microsoft.com/office/drawing/2014/main" id="{B2D3124C-6C35-A6CE-A7B0-14ECA7E9341A}"/>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p>
            </p:txBody>
          </p:sp>
        </p:grpSp>
        <p:grpSp>
          <p:nvGrpSpPr>
            <p:cNvPr id="51" name="Group 156">
              <a:extLst>
                <a:ext uri="{FF2B5EF4-FFF2-40B4-BE49-F238E27FC236}">
                  <a16:creationId xmlns:a16="http://schemas.microsoft.com/office/drawing/2014/main" id="{F9D4DF3F-463C-A6DA-8CF7-31CC9981229F}"/>
                </a:ext>
              </a:extLst>
            </p:cNvPr>
            <p:cNvGrpSpPr>
              <a:grpSpLocks/>
            </p:cNvGrpSpPr>
            <p:nvPr/>
          </p:nvGrpSpPr>
          <p:grpSpPr bwMode="auto">
            <a:xfrm>
              <a:off x="3556353" y="4928267"/>
              <a:ext cx="2127250" cy="1182687"/>
              <a:chOff x="1742744" y="1755161"/>
              <a:chExt cx="2127193" cy="1183341"/>
            </a:xfrm>
          </p:grpSpPr>
          <p:sp>
            <p:nvSpPr>
              <p:cNvPr id="52" name="Rounded Rectangle 157">
                <a:extLst>
                  <a:ext uri="{FF2B5EF4-FFF2-40B4-BE49-F238E27FC236}">
                    <a16:creationId xmlns:a16="http://schemas.microsoft.com/office/drawing/2014/main" id="{2F629F07-4493-F7D9-5C7F-9F60AFF0CB95}"/>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53" name="Rectangle 158">
                <a:extLst>
                  <a:ext uri="{FF2B5EF4-FFF2-40B4-BE49-F238E27FC236}">
                    <a16:creationId xmlns:a16="http://schemas.microsoft.com/office/drawing/2014/main" id="{1CB6A685-69E7-46EB-8A4A-DAFBED22D9C7}"/>
                  </a:ext>
                </a:extLst>
              </p:cNvPr>
              <p:cNvSpPr>
                <a:spLocks noChangeArrowheads="1"/>
              </p:cNvSpPr>
              <p:nvPr/>
            </p:nvSpPr>
            <p:spPr bwMode="auto">
              <a:xfrm>
                <a:off x="1742744" y="1755161"/>
                <a:ext cx="462579" cy="1183341"/>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54" name="Freeform 25">
                <a:extLst>
                  <a:ext uri="{FF2B5EF4-FFF2-40B4-BE49-F238E27FC236}">
                    <a16:creationId xmlns:a16="http://schemas.microsoft.com/office/drawing/2014/main" id="{EADD1C37-B698-8655-A807-DBB6BB3886AF}"/>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p>
            </p:txBody>
          </p:sp>
          <p:sp>
            <p:nvSpPr>
              <p:cNvPr id="55" name="Freeform 26">
                <a:extLst>
                  <a:ext uri="{FF2B5EF4-FFF2-40B4-BE49-F238E27FC236}">
                    <a16:creationId xmlns:a16="http://schemas.microsoft.com/office/drawing/2014/main" id="{01515568-76CA-A3C9-98BA-947CAFB8161E}"/>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p>
            </p:txBody>
          </p:sp>
        </p:grpSp>
        <p:sp>
          <p:nvSpPr>
            <p:cNvPr id="56" name="Rectangle 3">
              <a:extLst>
                <a:ext uri="{FF2B5EF4-FFF2-40B4-BE49-F238E27FC236}">
                  <a16:creationId xmlns:a16="http://schemas.microsoft.com/office/drawing/2014/main" id="{C53B7581-7883-E383-D4F8-E17F2555747F}"/>
                </a:ext>
              </a:extLst>
            </p:cNvPr>
            <p:cNvSpPr>
              <a:spLocks noChangeArrowheads="1"/>
            </p:cNvSpPr>
            <p:nvPr/>
          </p:nvSpPr>
          <p:spPr bwMode="auto">
            <a:xfrm>
              <a:off x="2754665" y="1783429"/>
              <a:ext cx="322263" cy="322263"/>
            </a:xfrm>
            <a:prstGeom prst="rect">
              <a:avLst/>
            </a:prstGeom>
            <a:solidFill>
              <a:schemeClr val="tx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57" name="Text Box 4">
              <a:extLst>
                <a:ext uri="{FF2B5EF4-FFF2-40B4-BE49-F238E27FC236}">
                  <a16:creationId xmlns:a16="http://schemas.microsoft.com/office/drawing/2014/main" id="{FB40F52F-5644-A81A-6039-560EF8A9232E}"/>
                </a:ext>
              </a:extLst>
            </p:cNvPr>
            <p:cNvSpPr txBox="1">
              <a:spLocks noChangeArrowheads="1"/>
            </p:cNvSpPr>
            <p:nvPr/>
          </p:nvSpPr>
          <p:spPr bwMode="auto">
            <a:xfrm>
              <a:off x="3078515" y="1783429"/>
              <a:ext cx="272097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1600"/>
                <a:t>Change-over Flowing gap</a:t>
              </a:r>
              <a:endParaRPr lang="en-US" altLang="ja-JP" sz="2000" b="0"/>
            </a:p>
          </p:txBody>
        </p:sp>
        <p:sp>
          <p:nvSpPr>
            <p:cNvPr id="58" name="Rectangle 5">
              <a:extLst>
                <a:ext uri="{FF2B5EF4-FFF2-40B4-BE49-F238E27FC236}">
                  <a16:creationId xmlns:a16="http://schemas.microsoft.com/office/drawing/2014/main" id="{8D83C167-F6B9-D337-C7CC-F0AC98CE28C1}"/>
                </a:ext>
              </a:extLst>
            </p:cNvPr>
            <p:cNvSpPr>
              <a:spLocks noChangeArrowheads="1"/>
            </p:cNvSpPr>
            <p:nvPr/>
          </p:nvSpPr>
          <p:spPr bwMode="auto">
            <a:xfrm>
              <a:off x="5880453" y="1783429"/>
              <a:ext cx="323850" cy="322263"/>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endParaRPr lang="en-US" altLang="en-US" sz="2400" b="0">
                <a:latin typeface="Times New Roman" panose="02020603050405020304" pitchFamily="18" charset="0"/>
              </a:endParaRPr>
            </a:p>
          </p:txBody>
        </p:sp>
        <p:sp>
          <p:nvSpPr>
            <p:cNvPr id="59" name="Text Box 6">
              <a:extLst>
                <a:ext uri="{FF2B5EF4-FFF2-40B4-BE49-F238E27FC236}">
                  <a16:creationId xmlns:a16="http://schemas.microsoft.com/office/drawing/2014/main" id="{01EF5B01-7D38-170F-8AF3-74B24B89B0EE}"/>
                </a:ext>
              </a:extLst>
            </p:cNvPr>
            <p:cNvSpPr txBox="1">
              <a:spLocks noChangeArrowheads="1"/>
            </p:cNvSpPr>
            <p:nvPr/>
          </p:nvSpPr>
          <p:spPr bwMode="auto">
            <a:xfrm>
              <a:off x="6204303" y="1783429"/>
              <a:ext cx="14017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1600"/>
                <a:t>Old product</a:t>
              </a:r>
              <a:endParaRPr lang="en-US" altLang="ja-JP" sz="2000" b="0"/>
            </a:p>
          </p:txBody>
        </p:sp>
        <p:sp>
          <p:nvSpPr>
            <p:cNvPr id="60" name="Rectangle 7" descr="格子 (大)">
              <a:extLst>
                <a:ext uri="{FF2B5EF4-FFF2-40B4-BE49-F238E27FC236}">
                  <a16:creationId xmlns:a16="http://schemas.microsoft.com/office/drawing/2014/main" id="{B2F04F13-2E5A-3C92-C0A6-F38CFAD7F03D}"/>
                </a:ext>
              </a:extLst>
            </p:cNvPr>
            <p:cNvSpPr>
              <a:spLocks noChangeArrowheads="1"/>
            </p:cNvSpPr>
            <p:nvPr/>
          </p:nvSpPr>
          <p:spPr bwMode="auto">
            <a:xfrm>
              <a:off x="7690203" y="1783429"/>
              <a:ext cx="323850" cy="322263"/>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endParaRPr lang="en-US" altLang="en-US" sz="2400" b="0">
                <a:latin typeface="Times New Roman" panose="02020603050405020304" pitchFamily="18" charset="0"/>
              </a:endParaRPr>
            </a:p>
          </p:txBody>
        </p:sp>
        <p:sp>
          <p:nvSpPr>
            <p:cNvPr id="61" name="Text Box 8">
              <a:extLst>
                <a:ext uri="{FF2B5EF4-FFF2-40B4-BE49-F238E27FC236}">
                  <a16:creationId xmlns:a16="http://schemas.microsoft.com/office/drawing/2014/main" id="{94AAA255-4A10-6FFC-1684-33830EC4493A}"/>
                </a:ext>
              </a:extLst>
            </p:cNvPr>
            <p:cNvSpPr txBox="1">
              <a:spLocks noChangeArrowheads="1"/>
            </p:cNvSpPr>
            <p:nvPr/>
          </p:nvSpPr>
          <p:spPr bwMode="auto">
            <a:xfrm>
              <a:off x="8014053" y="1783429"/>
              <a:ext cx="1809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1600" dirty="0"/>
                <a:t>New product</a:t>
              </a:r>
              <a:endParaRPr lang="en-US" altLang="ja-JP" sz="2000" b="0" dirty="0"/>
            </a:p>
          </p:txBody>
        </p:sp>
        <p:grpSp>
          <p:nvGrpSpPr>
            <p:cNvPr id="62" name="Group 164">
              <a:extLst>
                <a:ext uri="{FF2B5EF4-FFF2-40B4-BE49-F238E27FC236}">
                  <a16:creationId xmlns:a16="http://schemas.microsoft.com/office/drawing/2014/main" id="{6815C65A-4413-B1DF-6C7F-A761946FF1BA}"/>
                </a:ext>
              </a:extLst>
            </p:cNvPr>
            <p:cNvGrpSpPr>
              <a:grpSpLocks/>
            </p:cNvGrpSpPr>
            <p:nvPr/>
          </p:nvGrpSpPr>
          <p:grpSpPr bwMode="auto">
            <a:xfrm>
              <a:off x="4189765" y="2315242"/>
              <a:ext cx="1616075" cy="1028700"/>
              <a:chOff x="2385786" y="1916245"/>
              <a:chExt cx="1615848" cy="1029085"/>
            </a:xfrm>
          </p:grpSpPr>
          <p:sp>
            <p:nvSpPr>
              <p:cNvPr id="63" name="Rectangle 10">
                <a:extLst>
                  <a:ext uri="{FF2B5EF4-FFF2-40B4-BE49-F238E27FC236}">
                    <a16:creationId xmlns:a16="http://schemas.microsoft.com/office/drawing/2014/main" id="{5A04FC05-382B-8CD0-381E-7A6769863A5C}"/>
                  </a:ext>
                </a:extLst>
              </p:cNvPr>
              <p:cNvSpPr>
                <a:spLocks noChangeArrowheads="1"/>
              </p:cNvSpPr>
              <p:nvPr/>
            </p:nvSpPr>
            <p:spPr bwMode="auto">
              <a:xfrm>
                <a:off x="2385786" y="2623741"/>
                <a:ext cx="323170" cy="321589"/>
              </a:xfrm>
              <a:prstGeom prst="rect">
                <a:avLst/>
              </a:prstGeom>
              <a:solidFill>
                <a:schemeClr val="tx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64" name="Rectangle 11">
                <a:extLst>
                  <a:ext uri="{FF2B5EF4-FFF2-40B4-BE49-F238E27FC236}">
                    <a16:creationId xmlns:a16="http://schemas.microsoft.com/office/drawing/2014/main" id="{C2DC1E93-7885-5E60-2ED2-024E626EBC85}"/>
                  </a:ext>
                </a:extLst>
              </p:cNvPr>
              <p:cNvSpPr>
                <a:spLocks noChangeArrowheads="1"/>
              </p:cNvSpPr>
              <p:nvPr/>
            </p:nvSpPr>
            <p:spPr bwMode="auto">
              <a:xfrm>
                <a:off x="2385786" y="1916245"/>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5</a:t>
                </a:r>
                <a:endParaRPr lang="en-US" altLang="ja-JP" sz="2400" b="0">
                  <a:latin typeface="Times New Roman" panose="02020603050405020304" pitchFamily="18" charset="0"/>
                </a:endParaRPr>
              </a:p>
            </p:txBody>
          </p:sp>
          <p:sp>
            <p:nvSpPr>
              <p:cNvPr id="65" name="Rectangle 12">
                <a:extLst>
                  <a:ext uri="{FF2B5EF4-FFF2-40B4-BE49-F238E27FC236}">
                    <a16:creationId xmlns:a16="http://schemas.microsoft.com/office/drawing/2014/main" id="{6575E26F-9A53-9751-E60D-9A70ABDC9509}"/>
                  </a:ext>
                </a:extLst>
              </p:cNvPr>
              <p:cNvSpPr>
                <a:spLocks noChangeArrowheads="1"/>
              </p:cNvSpPr>
              <p:nvPr/>
            </p:nvSpPr>
            <p:spPr bwMode="auto">
              <a:xfrm>
                <a:off x="3161393" y="1916245"/>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4</a:t>
                </a:r>
                <a:endParaRPr lang="en-US" altLang="ja-JP" sz="2400" b="0">
                  <a:latin typeface="Times New Roman" panose="02020603050405020304" pitchFamily="18" charset="0"/>
                </a:endParaRPr>
              </a:p>
            </p:txBody>
          </p:sp>
          <p:sp>
            <p:nvSpPr>
              <p:cNvPr id="66" name="Rectangle 13">
                <a:extLst>
                  <a:ext uri="{FF2B5EF4-FFF2-40B4-BE49-F238E27FC236}">
                    <a16:creationId xmlns:a16="http://schemas.microsoft.com/office/drawing/2014/main" id="{B424E06C-BE66-3940-0618-934DCD612309}"/>
                  </a:ext>
                </a:extLst>
              </p:cNvPr>
              <p:cNvSpPr>
                <a:spLocks noChangeArrowheads="1"/>
              </p:cNvSpPr>
              <p:nvPr/>
            </p:nvSpPr>
            <p:spPr bwMode="auto">
              <a:xfrm>
                <a:off x="3678464" y="2237834"/>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3</a:t>
                </a:r>
                <a:endParaRPr lang="en-US" altLang="ja-JP" sz="2400" b="0">
                  <a:latin typeface="Times New Roman" panose="02020603050405020304" pitchFamily="18" charset="0"/>
                </a:endParaRPr>
              </a:p>
            </p:txBody>
          </p:sp>
          <p:sp>
            <p:nvSpPr>
              <p:cNvPr id="67" name="Rectangle 14">
                <a:extLst>
                  <a:ext uri="{FF2B5EF4-FFF2-40B4-BE49-F238E27FC236}">
                    <a16:creationId xmlns:a16="http://schemas.microsoft.com/office/drawing/2014/main" id="{83E3D325-634E-DA12-84B8-F28C53E57F06}"/>
                  </a:ext>
                </a:extLst>
              </p:cNvPr>
              <p:cNvSpPr>
                <a:spLocks noChangeArrowheads="1"/>
              </p:cNvSpPr>
              <p:nvPr/>
            </p:nvSpPr>
            <p:spPr bwMode="auto">
              <a:xfrm>
                <a:off x="3161393" y="2623741"/>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2</a:t>
                </a:r>
                <a:endParaRPr lang="en-US" altLang="ja-JP" sz="2400" b="0">
                  <a:latin typeface="Times New Roman" panose="02020603050405020304" pitchFamily="18" charset="0"/>
                </a:endParaRPr>
              </a:p>
            </p:txBody>
          </p:sp>
          <p:sp>
            <p:nvSpPr>
              <p:cNvPr id="68" name="Text Box 15">
                <a:extLst>
                  <a:ext uri="{FF2B5EF4-FFF2-40B4-BE49-F238E27FC236}">
                    <a16:creationId xmlns:a16="http://schemas.microsoft.com/office/drawing/2014/main" id="{D9C6ABDF-C512-03A6-49BC-85F1569F44D1}"/>
                  </a:ext>
                </a:extLst>
              </p:cNvPr>
              <p:cNvSpPr txBox="1">
                <a:spLocks noChangeArrowheads="1"/>
              </p:cNvSpPr>
              <p:nvPr/>
            </p:nvSpPr>
            <p:spPr bwMode="auto">
              <a:xfrm>
                <a:off x="2795134" y="2248554"/>
                <a:ext cx="387804" cy="45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t>A</a:t>
                </a:r>
                <a:endParaRPr lang="en-US" altLang="ja-JP" sz="2400" b="0">
                  <a:latin typeface="Times New Roman" panose="02020603050405020304" pitchFamily="18" charset="0"/>
                </a:endParaRPr>
              </a:p>
            </p:txBody>
          </p:sp>
        </p:grpSp>
        <p:grpSp>
          <p:nvGrpSpPr>
            <p:cNvPr id="69" name="Group 165">
              <a:extLst>
                <a:ext uri="{FF2B5EF4-FFF2-40B4-BE49-F238E27FC236}">
                  <a16:creationId xmlns:a16="http://schemas.microsoft.com/office/drawing/2014/main" id="{02AB9BC6-B6CE-4EFD-037C-43ED81EBEA26}"/>
                </a:ext>
              </a:extLst>
            </p:cNvPr>
            <p:cNvGrpSpPr>
              <a:grpSpLocks/>
            </p:cNvGrpSpPr>
            <p:nvPr/>
          </p:nvGrpSpPr>
          <p:grpSpPr bwMode="auto">
            <a:xfrm>
              <a:off x="4189765" y="3666204"/>
              <a:ext cx="1616075" cy="1028700"/>
              <a:chOff x="2385786" y="3266380"/>
              <a:chExt cx="1615848" cy="1029085"/>
            </a:xfrm>
          </p:grpSpPr>
          <p:sp>
            <p:nvSpPr>
              <p:cNvPr id="70" name="Rectangle 24">
                <a:extLst>
                  <a:ext uri="{FF2B5EF4-FFF2-40B4-BE49-F238E27FC236}">
                    <a16:creationId xmlns:a16="http://schemas.microsoft.com/office/drawing/2014/main" id="{52A69A88-542B-3AEF-812F-C4945D2E0411}"/>
                  </a:ext>
                </a:extLst>
              </p:cNvPr>
              <p:cNvSpPr>
                <a:spLocks noChangeArrowheads="1"/>
              </p:cNvSpPr>
              <p:nvPr/>
            </p:nvSpPr>
            <p:spPr bwMode="auto">
              <a:xfrm>
                <a:off x="2385786" y="3266380"/>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5</a:t>
                </a:r>
                <a:endParaRPr lang="en-US" altLang="ja-JP" sz="2400" b="0">
                  <a:latin typeface="Times New Roman" panose="02020603050405020304" pitchFamily="18" charset="0"/>
                </a:endParaRPr>
              </a:p>
            </p:txBody>
          </p:sp>
          <p:sp>
            <p:nvSpPr>
              <p:cNvPr id="71" name="Rectangle 25">
                <a:extLst>
                  <a:ext uri="{FF2B5EF4-FFF2-40B4-BE49-F238E27FC236}">
                    <a16:creationId xmlns:a16="http://schemas.microsoft.com/office/drawing/2014/main" id="{8B909D7C-19FE-1507-3B69-060948469D7F}"/>
                  </a:ext>
                </a:extLst>
              </p:cNvPr>
              <p:cNvSpPr>
                <a:spLocks noChangeArrowheads="1"/>
              </p:cNvSpPr>
              <p:nvPr/>
            </p:nvSpPr>
            <p:spPr bwMode="auto">
              <a:xfrm>
                <a:off x="3161393" y="3266380"/>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4</a:t>
                </a:r>
                <a:endParaRPr lang="en-US" altLang="ja-JP" sz="2400" b="0">
                  <a:latin typeface="Times New Roman" panose="02020603050405020304" pitchFamily="18" charset="0"/>
                </a:endParaRPr>
              </a:p>
            </p:txBody>
          </p:sp>
          <p:sp>
            <p:nvSpPr>
              <p:cNvPr id="72" name="Rectangle 26">
                <a:extLst>
                  <a:ext uri="{FF2B5EF4-FFF2-40B4-BE49-F238E27FC236}">
                    <a16:creationId xmlns:a16="http://schemas.microsoft.com/office/drawing/2014/main" id="{A8930857-3FEC-FC0F-69CA-C6BCFB154FCD}"/>
                  </a:ext>
                </a:extLst>
              </p:cNvPr>
              <p:cNvSpPr>
                <a:spLocks noChangeArrowheads="1"/>
              </p:cNvSpPr>
              <p:nvPr/>
            </p:nvSpPr>
            <p:spPr bwMode="auto">
              <a:xfrm>
                <a:off x="3678464" y="3587969"/>
                <a:ext cx="323170" cy="32158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3</a:t>
                </a:r>
                <a:endParaRPr lang="en-US" altLang="ja-JP" sz="2400" b="0">
                  <a:latin typeface="Times New Roman" panose="02020603050405020304" pitchFamily="18" charset="0"/>
                </a:endParaRPr>
              </a:p>
            </p:txBody>
          </p:sp>
          <p:sp>
            <p:nvSpPr>
              <p:cNvPr id="73" name="Rectangle 27">
                <a:extLst>
                  <a:ext uri="{FF2B5EF4-FFF2-40B4-BE49-F238E27FC236}">
                    <a16:creationId xmlns:a16="http://schemas.microsoft.com/office/drawing/2014/main" id="{FA3C8E29-B8C2-6FF9-7F5B-23D01ED34026}"/>
                  </a:ext>
                </a:extLst>
              </p:cNvPr>
              <p:cNvSpPr>
                <a:spLocks noChangeArrowheads="1"/>
              </p:cNvSpPr>
              <p:nvPr/>
            </p:nvSpPr>
            <p:spPr bwMode="auto">
              <a:xfrm>
                <a:off x="3161393" y="3973876"/>
                <a:ext cx="323170" cy="321589"/>
              </a:xfrm>
              <a:prstGeom prst="rect">
                <a:avLst/>
              </a:prstGeom>
              <a:solidFill>
                <a:schemeClr val="tx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2</a:t>
                </a:r>
                <a:endParaRPr lang="en-US" altLang="ja-JP" sz="2400" b="0">
                  <a:latin typeface="Times New Roman" panose="02020603050405020304" pitchFamily="18" charset="0"/>
                </a:endParaRPr>
              </a:p>
            </p:txBody>
          </p:sp>
          <p:sp>
            <p:nvSpPr>
              <p:cNvPr id="74" name="Text Box 28">
                <a:extLst>
                  <a:ext uri="{FF2B5EF4-FFF2-40B4-BE49-F238E27FC236}">
                    <a16:creationId xmlns:a16="http://schemas.microsoft.com/office/drawing/2014/main" id="{EC41737A-27A7-DAFE-B82E-F2E03316A9FB}"/>
                  </a:ext>
                </a:extLst>
              </p:cNvPr>
              <p:cNvSpPr txBox="1">
                <a:spLocks noChangeArrowheads="1"/>
              </p:cNvSpPr>
              <p:nvPr/>
            </p:nvSpPr>
            <p:spPr bwMode="auto">
              <a:xfrm>
                <a:off x="2795134" y="3597349"/>
                <a:ext cx="387804" cy="45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t>B</a:t>
                </a:r>
                <a:endParaRPr lang="en-US" altLang="ja-JP" sz="2400" b="0">
                  <a:latin typeface="Times New Roman" panose="02020603050405020304" pitchFamily="18" charset="0"/>
                </a:endParaRPr>
              </a:p>
            </p:txBody>
          </p:sp>
          <p:sp>
            <p:nvSpPr>
              <p:cNvPr id="75" name="Rectangle 36" descr="格子 (大)">
                <a:extLst>
                  <a:ext uri="{FF2B5EF4-FFF2-40B4-BE49-F238E27FC236}">
                    <a16:creationId xmlns:a16="http://schemas.microsoft.com/office/drawing/2014/main" id="{7D854FC2-A731-8A29-0231-E3F63FBE4098}"/>
                  </a:ext>
                </a:extLst>
              </p:cNvPr>
              <p:cNvSpPr>
                <a:spLocks noChangeArrowheads="1"/>
              </p:cNvSpPr>
              <p:nvPr/>
            </p:nvSpPr>
            <p:spPr bwMode="auto">
              <a:xfrm>
                <a:off x="2385786" y="3973937"/>
                <a:ext cx="323170" cy="320567"/>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1</a:t>
                </a:r>
                <a:endParaRPr lang="en-US" altLang="ja-JP" sz="2400" b="0">
                  <a:solidFill>
                    <a:schemeClr val="bg1"/>
                  </a:solidFill>
                  <a:latin typeface="Times New Roman" panose="02020603050405020304" pitchFamily="18" charset="0"/>
                </a:endParaRPr>
              </a:p>
            </p:txBody>
          </p:sp>
        </p:grpSp>
        <p:grpSp>
          <p:nvGrpSpPr>
            <p:cNvPr id="76" name="Group 166">
              <a:extLst>
                <a:ext uri="{FF2B5EF4-FFF2-40B4-BE49-F238E27FC236}">
                  <a16:creationId xmlns:a16="http://schemas.microsoft.com/office/drawing/2014/main" id="{EFAEA0DC-5941-B951-13B7-4F794914E0E7}"/>
                </a:ext>
              </a:extLst>
            </p:cNvPr>
            <p:cNvGrpSpPr>
              <a:grpSpLocks/>
            </p:cNvGrpSpPr>
            <p:nvPr/>
          </p:nvGrpSpPr>
          <p:grpSpPr bwMode="auto">
            <a:xfrm>
              <a:off x="4189765" y="5079079"/>
              <a:ext cx="1616075" cy="1030288"/>
              <a:chOff x="2375014" y="4680050"/>
              <a:chExt cx="1615848" cy="1029568"/>
            </a:xfrm>
          </p:grpSpPr>
          <p:sp>
            <p:nvSpPr>
              <p:cNvPr id="77" name="Rectangle 37" descr="格子 (大)">
                <a:extLst>
                  <a:ext uri="{FF2B5EF4-FFF2-40B4-BE49-F238E27FC236}">
                    <a16:creationId xmlns:a16="http://schemas.microsoft.com/office/drawing/2014/main" id="{35902AA2-C00D-5A18-D7FA-DD4CC34F0990}"/>
                  </a:ext>
                </a:extLst>
              </p:cNvPr>
              <p:cNvSpPr>
                <a:spLocks noChangeArrowheads="1"/>
              </p:cNvSpPr>
              <p:nvPr/>
            </p:nvSpPr>
            <p:spPr bwMode="auto">
              <a:xfrm>
                <a:off x="2385786" y="5387607"/>
                <a:ext cx="323170" cy="322011"/>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1</a:t>
                </a:r>
              </a:p>
            </p:txBody>
          </p:sp>
          <p:sp>
            <p:nvSpPr>
              <p:cNvPr id="78" name="Rectangle 39">
                <a:extLst>
                  <a:ext uri="{FF2B5EF4-FFF2-40B4-BE49-F238E27FC236}">
                    <a16:creationId xmlns:a16="http://schemas.microsoft.com/office/drawing/2014/main" id="{88DBBC6E-EFBF-F2ED-FCB9-38A8444E1C0B}"/>
                  </a:ext>
                </a:extLst>
              </p:cNvPr>
              <p:cNvSpPr>
                <a:spLocks noChangeArrowheads="1"/>
              </p:cNvSpPr>
              <p:nvPr/>
            </p:nvSpPr>
            <p:spPr bwMode="auto">
              <a:xfrm>
                <a:off x="2375014" y="4680050"/>
                <a:ext cx="323170" cy="32115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5</a:t>
                </a:r>
                <a:endParaRPr lang="en-US" altLang="ja-JP" sz="2400" b="0">
                  <a:latin typeface="Times New Roman" panose="02020603050405020304" pitchFamily="18" charset="0"/>
                </a:endParaRPr>
              </a:p>
            </p:txBody>
          </p:sp>
          <p:sp>
            <p:nvSpPr>
              <p:cNvPr id="79" name="Rectangle 40">
                <a:extLst>
                  <a:ext uri="{FF2B5EF4-FFF2-40B4-BE49-F238E27FC236}">
                    <a16:creationId xmlns:a16="http://schemas.microsoft.com/office/drawing/2014/main" id="{4C44E2BC-139F-D379-EA46-49EFD3D583E0}"/>
                  </a:ext>
                </a:extLst>
              </p:cNvPr>
              <p:cNvSpPr>
                <a:spLocks noChangeArrowheads="1"/>
              </p:cNvSpPr>
              <p:nvPr/>
            </p:nvSpPr>
            <p:spPr bwMode="auto">
              <a:xfrm>
                <a:off x="3150621" y="4680050"/>
                <a:ext cx="323170" cy="321159"/>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4</a:t>
                </a:r>
                <a:endParaRPr lang="en-US" altLang="ja-JP" sz="2400" b="0">
                  <a:latin typeface="Times New Roman" panose="02020603050405020304" pitchFamily="18" charset="0"/>
                </a:endParaRPr>
              </a:p>
            </p:txBody>
          </p:sp>
          <p:sp>
            <p:nvSpPr>
              <p:cNvPr id="80" name="Rectangle 41">
                <a:extLst>
                  <a:ext uri="{FF2B5EF4-FFF2-40B4-BE49-F238E27FC236}">
                    <a16:creationId xmlns:a16="http://schemas.microsoft.com/office/drawing/2014/main" id="{4F47075C-F776-0A3A-6856-1E8E09343243}"/>
                  </a:ext>
                </a:extLst>
              </p:cNvPr>
              <p:cNvSpPr>
                <a:spLocks noChangeArrowheads="1"/>
              </p:cNvSpPr>
              <p:nvPr/>
            </p:nvSpPr>
            <p:spPr bwMode="auto">
              <a:xfrm>
                <a:off x="3667692" y="5001209"/>
                <a:ext cx="323170" cy="321159"/>
              </a:xfrm>
              <a:prstGeom prst="rect">
                <a:avLst/>
              </a:prstGeom>
              <a:solidFill>
                <a:srgbClr val="000000"/>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endParaRPr lang="en-US" altLang="en-US" sz="2400" b="0">
                  <a:latin typeface="Times New Roman" panose="02020603050405020304" pitchFamily="18" charset="0"/>
                </a:endParaRPr>
              </a:p>
            </p:txBody>
          </p:sp>
          <p:sp>
            <p:nvSpPr>
              <p:cNvPr id="81" name="Text Box 42">
                <a:extLst>
                  <a:ext uri="{FF2B5EF4-FFF2-40B4-BE49-F238E27FC236}">
                    <a16:creationId xmlns:a16="http://schemas.microsoft.com/office/drawing/2014/main" id="{7B0B6035-CE09-5985-1D1C-842CC4C972E0}"/>
                  </a:ext>
                </a:extLst>
              </p:cNvPr>
              <p:cNvSpPr txBox="1">
                <a:spLocks noChangeArrowheads="1"/>
              </p:cNvSpPr>
              <p:nvPr/>
            </p:nvSpPr>
            <p:spPr bwMode="auto">
              <a:xfrm>
                <a:off x="2784362" y="5011914"/>
                <a:ext cx="387804" cy="45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t>C</a:t>
                </a:r>
                <a:endParaRPr lang="en-US" altLang="ja-JP" sz="2400" b="0">
                  <a:latin typeface="Times New Roman" panose="02020603050405020304" pitchFamily="18" charset="0"/>
                </a:endParaRPr>
              </a:p>
            </p:txBody>
          </p:sp>
          <p:sp>
            <p:nvSpPr>
              <p:cNvPr id="82" name="Rectangle 50" descr="格子 (大)">
                <a:extLst>
                  <a:ext uri="{FF2B5EF4-FFF2-40B4-BE49-F238E27FC236}">
                    <a16:creationId xmlns:a16="http://schemas.microsoft.com/office/drawing/2014/main" id="{B92EC78A-5AF9-9F2B-516E-1BC910CF6B2D}"/>
                  </a:ext>
                </a:extLst>
              </p:cNvPr>
              <p:cNvSpPr>
                <a:spLocks noChangeArrowheads="1"/>
              </p:cNvSpPr>
              <p:nvPr/>
            </p:nvSpPr>
            <p:spPr bwMode="auto">
              <a:xfrm>
                <a:off x="3161393" y="5387607"/>
                <a:ext cx="323170" cy="322011"/>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2</a:t>
                </a:r>
                <a:endParaRPr lang="en-US" altLang="ja-JP" sz="2400" b="0">
                  <a:solidFill>
                    <a:schemeClr val="bg1"/>
                  </a:solidFill>
                  <a:latin typeface="Times New Roman" panose="02020603050405020304" pitchFamily="18" charset="0"/>
                </a:endParaRPr>
              </a:p>
            </p:txBody>
          </p:sp>
        </p:grpSp>
        <p:grpSp>
          <p:nvGrpSpPr>
            <p:cNvPr id="83" name="Group 161">
              <a:extLst>
                <a:ext uri="{FF2B5EF4-FFF2-40B4-BE49-F238E27FC236}">
                  <a16:creationId xmlns:a16="http://schemas.microsoft.com/office/drawing/2014/main" id="{8B53185C-C42B-32E8-B664-A0B3B57F092F}"/>
                </a:ext>
              </a:extLst>
            </p:cNvPr>
            <p:cNvGrpSpPr>
              <a:grpSpLocks/>
            </p:cNvGrpSpPr>
            <p:nvPr/>
          </p:nvGrpSpPr>
          <p:grpSpPr bwMode="auto">
            <a:xfrm>
              <a:off x="6980590" y="5080667"/>
              <a:ext cx="1614488" cy="1028700"/>
              <a:chOff x="5218906" y="4681493"/>
              <a:chExt cx="1615848" cy="1028007"/>
            </a:xfrm>
          </p:grpSpPr>
          <p:sp>
            <p:nvSpPr>
              <p:cNvPr id="84" name="Rectangle 52" descr="格子 (大)">
                <a:extLst>
                  <a:ext uri="{FF2B5EF4-FFF2-40B4-BE49-F238E27FC236}">
                    <a16:creationId xmlns:a16="http://schemas.microsoft.com/office/drawing/2014/main" id="{AF88EC64-F12A-FA97-C490-CE2AF720360D}"/>
                  </a:ext>
                </a:extLst>
              </p:cNvPr>
              <p:cNvSpPr>
                <a:spLocks noChangeArrowheads="1"/>
              </p:cNvSpPr>
              <p:nvPr/>
            </p:nvSpPr>
            <p:spPr bwMode="auto">
              <a:xfrm>
                <a:off x="5229678" y="5388248"/>
                <a:ext cx="323170" cy="321252"/>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1</a:t>
                </a:r>
              </a:p>
            </p:txBody>
          </p:sp>
          <p:sp>
            <p:nvSpPr>
              <p:cNvPr id="85" name="Rectangle 53">
                <a:extLst>
                  <a:ext uri="{FF2B5EF4-FFF2-40B4-BE49-F238E27FC236}">
                    <a16:creationId xmlns:a16="http://schemas.microsoft.com/office/drawing/2014/main" id="{1288694D-B493-B303-7626-88FD1584BE5C}"/>
                  </a:ext>
                </a:extLst>
              </p:cNvPr>
              <p:cNvSpPr>
                <a:spLocks noChangeArrowheads="1"/>
              </p:cNvSpPr>
              <p:nvPr/>
            </p:nvSpPr>
            <p:spPr bwMode="auto">
              <a:xfrm>
                <a:off x="5218906" y="4681493"/>
                <a:ext cx="323170" cy="321252"/>
              </a:xfrm>
              <a:prstGeom prst="rect">
                <a:avLst/>
              </a:prstGeom>
              <a:solidFill>
                <a:schemeClr val="bg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t>5</a:t>
                </a:r>
                <a:endParaRPr lang="en-US" altLang="ja-JP" sz="2400" b="0">
                  <a:latin typeface="Times New Roman" panose="02020603050405020304" pitchFamily="18" charset="0"/>
                </a:endParaRPr>
              </a:p>
            </p:txBody>
          </p:sp>
          <p:sp>
            <p:nvSpPr>
              <p:cNvPr id="86" name="Rectangle 54" descr="格子 (大)">
                <a:extLst>
                  <a:ext uri="{FF2B5EF4-FFF2-40B4-BE49-F238E27FC236}">
                    <a16:creationId xmlns:a16="http://schemas.microsoft.com/office/drawing/2014/main" id="{330F822D-7509-7DC0-B0C0-D3B080002313}"/>
                  </a:ext>
                </a:extLst>
              </p:cNvPr>
              <p:cNvSpPr>
                <a:spLocks noChangeArrowheads="1"/>
              </p:cNvSpPr>
              <p:nvPr/>
            </p:nvSpPr>
            <p:spPr bwMode="auto">
              <a:xfrm>
                <a:off x="6511584" y="5002745"/>
                <a:ext cx="323170" cy="321252"/>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3</a:t>
                </a:r>
                <a:endParaRPr lang="en-US" altLang="ja-JP" sz="2000" b="0">
                  <a:solidFill>
                    <a:schemeClr val="bg1"/>
                  </a:solidFill>
                  <a:latin typeface="Times New Roman" panose="02020603050405020304" pitchFamily="18" charset="0"/>
                </a:endParaRPr>
              </a:p>
            </p:txBody>
          </p:sp>
          <p:sp>
            <p:nvSpPr>
              <p:cNvPr id="87" name="Text Box 55">
                <a:extLst>
                  <a:ext uri="{FF2B5EF4-FFF2-40B4-BE49-F238E27FC236}">
                    <a16:creationId xmlns:a16="http://schemas.microsoft.com/office/drawing/2014/main" id="{BD2520C7-31A8-79E9-48CA-AD043436F801}"/>
                  </a:ext>
                </a:extLst>
              </p:cNvPr>
              <p:cNvSpPr txBox="1">
                <a:spLocks noChangeArrowheads="1"/>
              </p:cNvSpPr>
              <p:nvPr/>
            </p:nvSpPr>
            <p:spPr bwMode="auto">
              <a:xfrm>
                <a:off x="5628254" y="5013453"/>
                <a:ext cx="387804" cy="457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t>D</a:t>
                </a:r>
                <a:endParaRPr lang="en-US" altLang="ja-JP" sz="2400" b="0">
                  <a:latin typeface="Times New Roman" panose="02020603050405020304" pitchFamily="18" charset="0"/>
                </a:endParaRPr>
              </a:p>
            </p:txBody>
          </p:sp>
          <p:sp>
            <p:nvSpPr>
              <p:cNvPr id="88" name="Rectangle 63" descr="格子 (大)">
                <a:extLst>
                  <a:ext uri="{FF2B5EF4-FFF2-40B4-BE49-F238E27FC236}">
                    <a16:creationId xmlns:a16="http://schemas.microsoft.com/office/drawing/2014/main" id="{17B3323C-D4BA-5849-6F57-7C5E499ED69D}"/>
                  </a:ext>
                </a:extLst>
              </p:cNvPr>
              <p:cNvSpPr>
                <a:spLocks noChangeArrowheads="1"/>
              </p:cNvSpPr>
              <p:nvPr/>
            </p:nvSpPr>
            <p:spPr bwMode="auto">
              <a:xfrm>
                <a:off x="6005285" y="5388248"/>
                <a:ext cx="323170" cy="321252"/>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2</a:t>
                </a:r>
              </a:p>
            </p:txBody>
          </p:sp>
          <p:sp>
            <p:nvSpPr>
              <p:cNvPr id="89" name="Rectangle 64">
                <a:extLst>
                  <a:ext uri="{FF2B5EF4-FFF2-40B4-BE49-F238E27FC236}">
                    <a16:creationId xmlns:a16="http://schemas.microsoft.com/office/drawing/2014/main" id="{406ABF57-F4CF-8462-B072-E9541B916DC6}"/>
                  </a:ext>
                </a:extLst>
              </p:cNvPr>
              <p:cNvSpPr>
                <a:spLocks noChangeArrowheads="1"/>
              </p:cNvSpPr>
              <p:nvPr/>
            </p:nvSpPr>
            <p:spPr bwMode="auto">
              <a:xfrm>
                <a:off x="6005285" y="4681493"/>
                <a:ext cx="323170" cy="321252"/>
              </a:xfrm>
              <a:prstGeom prst="rect">
                <a:avLst/>
              </a:prstGeom>
              <a:solidFill>
                <a:srgbClr val="000000"/>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endParaRPr lang="en-US" altLang="en-US" sz="2400" b="0">
                  <a:latin typeface="Times New Roman" panose="02020603050405020304" pitchFamily="18" charset="0"/>
                </a:endParaRPr>
              </a:p>
            </p:txBody>
          </p:sp>
        </p:grpSp>
        <p:grpSp>
          <p:nvGrpSpPr>
            <p:cNvPr id="90" name="Group 162">
              <a:extLst>
                <a:ext uri="{FF2B5EF4-FFF2-40B4-BE49-F238E27FC236}">
                  <a16:creationId xmlns:a16="http://schemas.microsoft.com/office/drawing/2014/main" id="{8D1CDF5C-39A0-48F3-0200-9D34CB8A7D9D}"/>
                </a:ext>
              </a:extLst>
            </p:cNvPr>
            <p:cNvGrpSpPr>
              <a:grpSpLocks/>
            </p:cNvGrpSpPr>
            <p:nvPr/>
          </p:nvGrpSpPr>
          <p:grpSpPr bwMode="auto">
            <a:xfrm>
              <a:off x="6980590" y="3666204"/>
              <a:ext cx="1614488" cy="1028700"/>
              <a:chOff x="5165044" y="3266379"/>
              <a:chExt cx="1615848" cy="1029050"/>
            </a:xfrm>
          </p:grpSpPr>
          <p:sp>
            <p:nvSpPr>
              <p:cNvPr id="91" name="Rectangle 66" descr="格子 (大)">
                <a:extLst>
                  <a:ext uri="{FF2B5EF4-FFF2-40B4-BE49-F238E27FC236}">
                    <a16:creationId xmlns:a16="http://schemas.microsoft.com/office/drawing/2014/main" id="{A8A7370F-45E8-E1ED-40A9-9066E7822734}"/>
                  </a:ext>
                </a:extLst>
              </p:cNvPr>
              <p:cNvSpPr>
                <a:spLocks noChangeArrowheads="1"/>
              </p:cNvSpPr>
              <p:nvPr/>
            </p:nvSpPr>
            <p:spPr bwMode="auto">
              <a:xfrm>
                <a:off x="5175816" y="3973851"/>
                <a:ext cx="323170" cy="32157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1</a:t>
                </a:r>
              </a:p>
            </p:txBody>
          </p:sp>
          <p:sp>
            <p:nvSpPr>
              <p:cNvPr id="92" name="Rectangle 67">
                <a:extLst>
                  <a:ext uri="{FF2B5EF4-FFF2-40B4-BE49-F238E27FC236}">
                    <a16:creationId xmlns:a16="http://schemas.microsoft.com/office/drawing/2014/main" id="{FEDFB4D4-5B24-3B1D-7A3A-7DD978C3F919}"/>
                  </a:ext>
                </a:extLst>
              </p:cNvPr>
              <p:cNvSpPr>
                <a:spLocks noChangeArrowheads="1"/>
              </p:cNvSpPr>
              <p:nvPr/>
            </p:nvSpPr>
            <p:spPr bwMode="auto">
              <a:xfrm>
                <a:off x="5165044" y="3266379"/>
                <a:ext cx="323170" cy="321578"/>
              </a:xfrm>
              <a:prstGeom prst="rect">
                <a:avLst/>
              </a:prstGeom>
              <a:solidFill>
                <a:schemeClr val="tx1"/>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endParaRPr lang="en-US" altLang="en-US" sz="2400" b="0">
                  <a:latin typeface="Times New Roman" panose="02020603050405020304" pitchFamily="18" charset="0"/>
                </a:endParaRPr>
              </a:p>
            </p:txBody>
          </p:sp>
          <p:sp>
            <p:nvSpPr>
              <p:cNvPr id="93" name="Rectangle 68" descr="格子 (大)">
                <a:extLst>
                  <a:ext uri="{FF2B5EF4-FFF2-40B4-BE49-F238E27FC236}">
                    <a16:creationId xmlns:a16="http://schemas.microsoft.com/office/drawing/2014/main" id="{AF24C2C4-D06B-AF06-90FE-CAF78A2533F6}"/>
                  </a:ext>
                </a:extLst>
              </p:cNvPr>
              <p:cNvSpPr>
                <a:spLocks noChangeArrowheads="1"/>
              </p:cNvSpPr>
              <p:nvPr/>
            </p:nvSpPr>
            <p:spPr bwMode="auto">
              <a:xfrm>
                <a:off x="6457722" y="3587957"/>
                <a:ext cx="323170" cy="32157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3</a:t>
                </a:r>
              </a:p>
            </p:txBody>
          </p:sp>
          <p:sp>
            <p:nvSpPr>
              <p:cNvPr id="94" name="Text Box 69">
                <a:extLst>
                  <a:ext uri="{FF2B5EF4-FFF2-40B4-BE49-F238E27FC236}">
                    <a16:creationId xmlns:a16="http://schemas.microsoft.com/office/drawing/2014/main" id="{07862777-1E7F-1324-A49C-95E70A522C13}"/>
                  </a:ext>
                </a:extLst>
              </p:cNvPr>
              <p:cNvSpPr txBox="1">
                <a:spLocks noChangeArrowheads="1"/>
              </p:cNvSpPr>
              <p:nvPr/>
            </p:nvSpPr>
            <p:spPr bwMode="auto">
              <a:xfrm>
                <a:off x="5574392" y="3598677"/>
                <a:ext cx="3878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t>E</a:t>
                </a:r>
                <a:endParaRPr lang="en-US" altLang="ja-JP" sz="2400" b="0">
                  <a:latin typeface="Times New Roman" panose="02020603050405020304" pitchFamily="18" charset="0"/>
                </a:endParaRPr>
              </a:p>
            </p:txBody>
          </p:sp>
          <p:sp>
            <p:nvSpPr>
              <p:cNvPr id="95" name="Rectangle 77" descr="格子 (大)">
                <a:extLst>
                  <a:ext uri="{FF2B5EF4-FFF2-40B4-BE49-F238E27FC236}">
                    <a16:creationId xmlns:a16="http://schemas.microsoft.com/office/drawing/2014/main" id="{34BE61A2-3357-5426-D623-4364930DBA95}"/>
                  </a:ext>
                </a:extLst>
              </p:cNvPr>
              <p:cNvSpPr>
                <a:spLocks noChangeArrowheads="1"/>
              </p:cNvSpPr>
              <p:nvPr/>
            </p:nvSpPr>
            <p:spPr bwMode="auto">
              <a:xfrm>
                <a:off x="5951423" y="3973851"/>
                <a:ext cx="323170" cy="32157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2</a:t>
                </a:r>
              </a:p>
            </p:txBody>
          </p:sp>
          <p:sp>
            <p:nvSpPr>
              <p:cNvPr id="96" name="Rectangle 78" descr="格子 (大)">
                <a:extLst>
                  <a:ext uri="{FF2B5EF4-FFF2-40B4-BE49-F238E27FC236}">
                    <a16:creationId xmlns:a16="http://schemas.microsoft.com/office/drawing/2014/main" id="{C77FB356-A05A-B743-9F87-9EA8A22D1E47}"/>
                  </a:ext>
                </a:extLst>
              </p:cNvPr>
              <p:cNvSpPr>
                <a:spLocks noChangeArrowheads="1"/>
              </p:cNvSpPr>
              <p:nvPr/>
            </p:nvSpPr>
            <p:spPr bwMode="auto">
              <a:xfrm>
                <a:off x="5940651" y="3266379"/>
                <a:ext cx="323170" cy="32157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4</a:t>
                </a:r>
                <a:endParaRPr lang="en-US" altLang="ja-JP" sz="2000" b="0">
                  <a:solidFill>
                    <a:schemeClr val="bg1"/>
                  </a:solidFill>
                  <a:latin typeface="Times New Roman" panose="02020603050405020304" pitchFamily="18" charset="0"/>
                </a:endParaRPr>
              </a:p>
            </p:txBody>
          </p:sp>
        </p:grpSp>
        <p:grpSp>
          <p:nvGrpSpPr>
            <p:cNvPr id="97" name="Group 163">
              <a:extLst>
                <a:ext uri="{FF2B5EF4-FFF2-40B4-BE49-F238E27FC236}">
                  <a16:creationId xmlns:a16="http://schemas.microsoft.com/office/drawing/2014/main" id="{BE702132-137B-D589-CE04-EBF7781F7F24}"/>
                </a:ext>
              </a:extLst>
            </p:cNvPr>
            <p:cNvGrpSpPr>
              <a:grpSpLocks/>
            </p:cNvGrpSpPr>
            <p:nvPr/>
          </p:nvGrpSpPr>
          <p:grpSpPr bwMode="auto">
            <a:xfrm>
              <a:off x="6980590" y="2315242"/>
              <a:ext cx="1614488" cy="1028700"/>
              <a:chOff x="5165046" y="1916245"/>
              <a:chExt cx="1615848" cy="1029132"/>
            </a:xfrm>
          </p:grpSpPr>
          <p:sp>
            <p:nvSpPr>
              <p:cNvPr id="98" name="Rectangle 80" descr="格子 (大)">
                <a:extLst>
                  <a:ext uri="{FF2B5EF4-FFF2-40B4-BE49-F238E27FC236}">
                    <a16:creationId xmlns:a16="http://schemas.microsoft.com/office/drawing/2014/main" id="{46025F85-FE41-7F14-81E1-5CC84CBB972C}"/>
                  </a:ext>
                </a:extLst>
              </p:cNvPr>
              <p:cNvSpPr>
                <a:spLocks noChangeArrowheads="1"/>
              </p:cNvSpPr>
              <p:nvPr/>
            </p:nvSpPr>
            <p:spPr bwMode="auto">
              <a:xfrm>
                <a:off x="5175818" y="2623773"/>
                <a:ext cx="323170" cy="321604"/>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1</a:t>
                </a:r>
              </a:p>
            </p:txBody>
          </p:sp>
          <p:sp>
            <p:nvSpPr>
              <p:cNvPr id="99" name="Rectangle 81" descr="格子 (大)">
                <a:extLst>
                  <a:ext uri="{FF2B5EF4-FFF2-40B4-BE49-F238E27FC236}">
                    <a16:creationId xmlns:a16="http://schemas.microsoft.com/office/drawing/2014/main" id="{CAF4BF39-3397-AB7D-9232-D7534E5D5A4F}"/>
                  </a:ext>
                </a:extLst>
              </p:cNvPr>
              <p:cNvSpPr>
                <a:spLocks noChangeArrowheads="1"/>
              </p:cNvSpPr>
              <p:nvPr/>
            </p:nvSpPr>
            <p:spPr bwMode="auto">
              <a:xfrm>
                <a:off x="6457724" y="2237849"/>
                <a:ext cx="323170" cy="321604"/>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3</a:t>
                </a:r>
              </a:p>
            </p:txBody>
          </p:sp>
          <p:sp>
            <p:nvSpPr>
              <p:cNvPr id="100" name="Text Box 82">
                <a:extLst>
                  <a:ext uri="{FF2B5EF4-FFF2-40B4-BE49-F238E27FC236}">
                    <a16:creationId xmlns:a16="http://schemas.microsoft.com/office/drawing/2014/main" id="{41725539-F090-F5FE-97AF-8C1D9C41DF04}"/>
                  </a:ext>
                </a:extLst>
              </p:cNvPr>
              <p:cNvSpPr txBox="1">
                <a:spLocks noChangeArrowheads="1"/>
              </p:cNvSpPr>
              <p:nvPr/>
            </p:nvSpPr>
            <p:spPr bwMode="auto">
              <a:xfrm>
                <a:off x="5574394" y="2248569"/>
                <a:ext cx="3878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t>F</a:t>
                </a:r>
                <a:endParaRPr lang="en-US" altLang="ja-JP" sz="2400" b="0">
                  <a:latin typeface="Times New Roman" panose="02020603050405020304" pitchFamily="18" charset="0"/>
                </a:endParaRPr>
              </a:p>
            </p:txBody>
          </p:sp>
          <p:sp>
            <p:nvSpPr>
              <p:cNvPr id="101" name="Rectangle 90" descr="格子 (大)">
                <a:extLst>
                  <a:ext uri="{FF2B5EF4-FFF2-40B4-BE49-F238E27FC236}">
                    <a16:creationId xmlns:a16="http://schemas.microsoft.com/office/drawing/2014/main" id="{D4B864D6-9DD1-8438-D9FA-9DA91F53B132}"/>
                  </a:ext>
                </a:extLst>
              </p:cNvPr>
              <p:cNvSpPr>
                <a:spLocks noChangeArrowheads="1"/>
              </p:cNvSpPr>
              <p:nvPr/>
            </p:nvSpPr>
            <p:spPr bwMode="auto">
              <a:xfrm>
                <a:off x="5951425" y="2623773"/>
                <a:ext cx="323170" cy="321604"/>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2</a:t>
                </a:r>
              </a:p>
            </p:txBody>
          </p:sp>
          <p:sp>
            <p:nvSpPr>
              <p:cNvPr id="102" name="Rectangle 91" descr="格子 (大)">
                <a:extLst>
                  <a:ext uri="{FF2B5EF4-FFF2-40B4-BE49-F238E27FC236}">
                    <a16:creationId xmlns:a16="http://schemas.microsoft.com/office/drawing/2014/main" id="{B0A07844-EC41-DB09-7676-E7160137D98F}"/>
                  </a:ext>
                </a:extLst>
              </p:cNvPr>
              <p:cNvSpPr>
                <a:spLocks noChangeArrowheads="1"/>
              </p:cNvSpPr>
              <p:nvPr/>
            </p:nvSpPr>
            <p:spPr bwMode="auto">
              <a:xfrm>
                <a:off x="5940653" y="1916245"/>
                <a:ext cx="323170" cy="321604"/>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4</a:t>
                </a:r>
              </a:p>
            </p:txBody>
          </p:sp>
          <p:sp>
            <p:nvSpPr>
              <p:cNvPr id="103" name="Rectangle 92" descr="格子 (大)">
                <a:extLst>
                  <a:ext uri="{FF2B5EF4-FFF2-40B4-BE49-F238E27FC236}">
                    <a16:creationId xmlns:a16="http://schemas.microsoft.com/office/drawing/2014/main" id="{58BA9B68-CA1C-CD4A-6943-35EF28A1667B}"/>
                  </a:ext>
                </a:extLst>
              </p:cNvPr>
              <p:cNvSpPr>
                <a:spLocks noChangeArrowheads="1"/>
              </p:cNvSpPr>
              <p:nvPr/>
            </p:nvSpPr>
            <p:spPr bwMode="auto">
              <a:xfrm>
                <a:off x="5165046" y="1916245"/>
                <a:ext cx="323170" cy="321604"/>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5</a:t>
                </a:r>
                <a:endParaRPr lang="en-US" altLang="ja-JP" sz="2000" b="0">
                  <a:solidFill>
                    <a:schemeClr val="bg1"/>
                  </a:solidFill>
                  <a:latin typeface="Times New Roman" panose="02020603050405020304" pitchFamily="18" charset="0"/>
                </a:endParaRPr>
              </a:p>
            </p:txBody>
          </p:sp>
        </p:grpSp>
      </p:grpSp>
    </p:spTree>
    <p:extLst>
      <p:ext uri="{BB962C8B-B14F-4D97-AF65-F5344CB8AC3E}">
        <p14:creationId xmlns:p14="http://schemas.microsoft.com/office/powerpoint/2010/main" val="27505404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5. Make equipment easy to move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67</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5" name="Picture 3">
            <a:extLst>
              <a:ext uri="{FF2B5EF4-FFF2-40B4-BE49-F238E27FC236}">
                <a16:creationId xmlns:a16="http://schemas.microsoft.com/office/drawing/2014/main" id="{CDD9E988-5959-1247-9C91-6A3422CD2001}"/>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r="-113" b="60"/>
          <a:stretch>
            <a:fillRect/>
          </a:stretch>
        </p:blipFill>
        <p:spPr>
          <a:xfrm>
            <a:off x="1761334" y="1882155"/>
            <a:ext cx="2424585" cy="3722674"/>
          </a:xfrm>
          <a:noFill/>
        </p:spPr>
      </p:pic>
      <p:pic>
        <p:nvPicPr>
          <p:cNvPr id="7" name="Picture 19" descr="http://farm3.static.flickr.com/2230/1525785835_91a17ab024.jpg">
            <a:extLst>
              <a:ext uri="{FF2B5EF4-FFF2-40B4-BE49-F238E27FC236}">
                <a16:creationId xmlns:a16="http://schemas.microsoft.com/office/drawing/2014/main" id="{205FCB8B-3676-F04C-CB4C-642E80E09B84}"/>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a:xfrm>
            <a:off x="5410368" y="1882155"/>
            <a:ext cx="5521792" cy="3723266"/>
          </a:xfrm>
          <a:noFill/>
        </p:spPr>
      </p:pic>
      <p:sp>
        <p:nvSpPr>
          <p:cNvPr id="8" name="AutoShape 22">
            <a:extLst>
              <a:ext uri="{FF2B5EF4-FFF2-40B4-BE49-F238E27FC236}">
                <a16:creationId xmlns:a16="http://schemas.microsoft.com/office/drawing/2014/main" id="{F194F116-8AFB-58BF-E2FC-999490A74ABE}"/>
              </a:ext>
            </a:extLst>
          </p:cNvPr>
          <p:cNvSpPr>
            <a:spLocks noChangeArrowheads="1"/>
          </p:cNvSpPr>
          <p:nvPr/>
        </p:nvSpPr>
        <p:spPr bwMode="auto">
          <a:xfrm flipH="1">
            <a:off x="3558539" y="3429000"/>
            <a:ext cx="2537460" cy="604684"/>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28575">
            <a:solidFill>
              <a:schemeClr val="tx1"/>
            </a:solidFill>
            <a:miter lim="800000"/>
            <a:headEnd/>
            <a:tailEnd/>
          </a:ln>
        </p:spPr>
        <p:txBody>
          <a:bodyPr wrap="none" anchor="ctr"/>
          <a:lstStyle/>
          <a:p>
            <a:endParaRPr lang="en-US"/>
          </a:p>
        </p:txBody>
      </p:sp>
      <p:cxnSp>
        <p:nvCxnSpPr>
          <p:cNvPr id="9" name="Straight Connector 14">
            <a:extLst>
              <a:ext uri="{FF2B5EF4-FFF2-40B4-BE49-F238E27FC236}">
                <a16:creationId xmlns:a16="http://schemas.microsoft.com/office/drawing/2014/main" id="{5F44E152-BB53-EDF7-8F27-6299C3081F29}"/>
              </a:ext>
            </a:extLst>
          </p:cNvPr>
          <p:cNvCxnSpPr>
            <a:cxnSpLocks noChangeShapeType="1"/>
          </p:cNvCxnSpPr>
          <p:nvPr/>
        </p:nvCxnSpPr>
        <p:spPr bwMode="auto">
          <a:xfrm flipV="1">
            <a:off x="6384166" y="2138363"/>
            <a:ext cx="3446463" cy="3171825"/>
          </a:xfrm>
          <a:prstGeom prst="line">
            <a:avLst/>
          </a:prstGeom>
          <a:noFill/>
          <a:ln w="28575" cap="sq">
            <a:solidFill>
              <a:srgbClr val="FF0000"/>
            </a:solidFill>
            <a:round/>
            <a:headEnd/>
            <a:tailEnd/>
          </a:ln>
          <a:extLst>
            <a:ext uri="{909E8E84-426E-40DD-AFC4-6F175D3DCCD1}">
              <a14:hiddenFill xmlns:a14="http://schemas.microsoft.com/office/drawing/2010/main">
                <a:noFill/>
              </a14:hiddenFill>
            </a:ext>
          </a:extLst>
        </p:spPr>
      </p:cxnSp>
      <p:cxnSp>
        <p:nvCxnSpPr>
          <p:cNvPr id="10" name="Straight Connector 15">
            <a:extLst>
              <a:ext uri="{FF2B5EF4-FFF2-40B4-BE49-F238E27FC236}">
                <a16:creationId xmlns:a16="http://schemas.microsoft.com/office/drawing/2014/main" id="{C390DF06-2302-4A2C-FCB5-4C39AC292DD5}"/>
              </a:ext>
            </a:extLst>
          </p:cNvPr>
          <p:cNvCxnSpPr>
            <a:cxnSpLocks noChangeShapeType="1"/>
          </p:cNvCxnSpPr>
          <p:nvPr/>
        </p:nvCxnSpPr>
        <p:spPr bwMode="auto">
          <a:xfrm rot="10800000">
            <a:off x="6449254" y="2136775"/>
            <a:ext cx="3624262" cy="3335338"/>
          </a:xfrm>
          <a:prstGeom prst="line">
            <a:avLst/>
          </a:prstGeom>
          <a:noFill/>
          <a:ln w="28575" cap="sq">
            <a:solidFill>
              <a:srgbClr val="FF0000"/>
            </a:solidFill>
            <a:round/>
            <a:headEnd/>
            <a:tailEnd/>
          </a:ln>
          <a:extLst>
            <a:ext uri="{909E8E84-426E-40DD-AFC4-6F175D3DCCD1}">
              <a14:hiddenFill xmlns:a14="http://schemas.microsoft.com/office/drawing/2010/main">
                <a:noFill/>
              </a14:hiddenFill>
            </a:ext>
          </a:extLst>
        </p:spPr>
      </p:cxnSp>
      <p:sp>
        <p:nvSpPr>
          <p:cNvPr id="11" name="TextBox 15">
            <a:extLst>
              <a:ext uri="{FF2B5EF4-FFF2-40B4-BE49-F238E27FC236}">
                <a16:creationId xmlns:a16="http://schemas.microsoft.com/office/drawing/2014/main" id="{98DC5FC9-81B6-501F-0E3D-0AAF10AABC92}"/>
              </a:ext>
            </a:extLst>
          </p:cNvPr>
          <p:cNvSpPr txBox="1">
            <a:spLocks noChangeArrowheads="1"/>
          </p:cNvSpPr>
          <p:nvPr/>
        </p:nvSpPr>
        <p:spPr bwMode="auto">
          <a:xfrm>
            <a:off x="3006853" y="5872163"/>
            <a:ext cx="617829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latin typeface="Roboto" panose="02000000000000000000" pitchFamily="2" charset="0"/>
                <a:ea typeface="Roboto" panose="02000000000000000000" pitchFamily="2" charset="0"/>
              </a:rPr>
              <a:t>No roots, no vines, no pits, put wheels on everything</a:t>
            </a:r>
          </a:p>
        </p:txBody>
      </p:sp>
    </p:spTree>
    <p:extLst>
      <p:ext uri="{BB962C8B-B14F-4D97-AF65-F5344CB8AC3E}">
        <p14:creationId xmlns:p14="http://schemas.microsoft.com/office/powerpoint/2010/main" val="400621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6. Use multi-purpose equipment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68</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11" name="TextBox 15">
            <a:extLst>
              <a:ext uri="{FF2B5EF4-FFF2-40B4-BE49-F238E27FC236}">
                <a16:creationId xmlns:a16="http://schemas.microsoft.com/office/drawing/2014/main" id="{98DC5FC9-81B6-501F-0E3D-0AAF10AABC92}"/>
              </a:ext>
            </a:extLst>
          </p:cNvPr>
          <p:cNvSpPr txBox="1">
            <a:spLocks noChangeArrowheads="1"/>
          </p:cNvSpPr>
          <p:nvPr/>
        </p:nvSpPr>
        <p:spPr bwMode="auto">
          <a:xfrm>
            <a:off x="2162872" y="5872163"/>
            <a:ext cx="7866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rPr>
              <a:t>Simple, "just fast enough" machines that perform one function well</a:t>
            </a:r>
          </a:p>
        </p:txBody>
      </p:sp>
      <p:pic>
        <p:nvPicPr>
          <p:cNvPr id="13" name="Picture 7">
            <a:extLst>
              <a:ext uri="{FF2B5EF4-FFF2-40B4-BE49-F238E27FC236}">
                <a16:creationId xmlns:a16="http://schemas.microsoft.com/office/drawing/2014/main" id="{576F76E0-A611-110C-433E-D39C33B1AB2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200" y="1917832"/>
            <a:ext cx="4053047" cy="343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Connector 14">
            <a:extLst>
              <a:ext uri="{FF2B5EF4-FFF2-40B4-BE49-F238E27FC236}">
                <a16:creationId xmlns:a16="http://schemas.microsoft.com/office/drawing/2014/main" id="{5F44E152-BB53-EDF7-8F27-6299C3081F29}"/>
              </a:ext>
            </a:extLst>
          </p:cNvPr>
          <p:cNvCxnSpPr>
            <a:cxnSpLocks noChangeShapeType="1"/>
          </p:cNvCxnSpPr>
          <p:nvPr/>
        </p:nvCxnSpPr>
        <p:spPr bwMode="auto">
          <a:xfrm flipV="1">
            <a:off x="1007904" y="2019855"/>
            <a:ext cx="3446463" cy="3171825"/>
          </a:xfrm>
          <a:prstGeom prst="line">
            <a:avLst/>
          </a:prstGeom>
          <a:noFill/>
          <a:ln w="28575" cap="sq">
            <a:solidFill>
              <a:srgbClr val="FF0000"/>
            </a:solidFill>
            <a:round/>
            <a:headEnd/>
            <a:tailEnd/>
          </a:ln>
          <a:extLst>
            <a:ext uri="{909E8E84-426E-40DD-AFC4-6F175D3DCCD1}">
              <a14:hiddenFill xmlns:a14="http://schemas.microsoft.com/office/drawing/2010/main">
                <a:noFill/>
              </a14:hiddenFill>
            </a:ext>
          </a:extLst>
        </p:spPr>
      </p:cxnSp>
      <p:cxnSp>
        <p:nvCxnSpPr>
          <p:cNvPr id="10" name="Straight Connector 15">
            <a:extLst>
              <a:ext uri="{FF2B5EF4-FFF2-40B4-BE49-F238E27FC236}">
                <a16:creationId xmlns:a16="http://schemas.microsoft.com/office/drawing/2014/main" id="{C390DF06-2302-4A2C-FCB5-4C39AC292DD5}"/>
              </a:ext>
            </a:extLst>
          </p:cNvPr>
          <p:cNvCxnSpPr>
            <a:cxnSpLocks noChangeShapeType="1"/>
          </p:cNvCxnSpPr>
          <p:nvPr/>
        </p:nvCxnSpPr>
        <p:spPr bwMode="auto">
          <a:xfrm rot="10800000">
            <a:off x="1072992" y="2018267"/>
            <a:ext cx="3624262" cy="3335338"/>
          </a:xfrm>
          <a:prstGeom prst="line">
            <a:avLst/>
          </a:prstGeom>
          <a:noFill/>
          <a:ln w="28575" cap="sq">
            <a:solidFill>
              <a:srgbClr val="FF0000"/>
            </a:solidFill>
            <a:round/>
            <a:headEnd/>
            <a:tailEnd/>
          </a:ln>
          <a:extLst>
            <a:ext uri="{909E8E84-426E-40DD-AFC4-6F175D3DCCD1}">
              <a14:hiddenFill xmlns:a14="http://schemas.microsoft.com/office/drawing/2010/main">
                <a:noFill/>
              </a14:hiddenFill>
            </a:ext>
          </a:extLst>
        </p:spPr>
      </p:cxnSp>
      <p:pic>
        <p:nvPicPr>
          <p:cNvPr id="24" name="Picture 5">
            <a:extLst>
              <a:ext uri="{FF2B5EF4-FFF2-40B4-BE49-F238E27FC236}">
                <a16:creationId xmlns:a16="http://schemas.microsoft.com/office/drawing/2014/main" id="{C38C1740-23E2-24B9-D196-734A0FDFD55C}"/>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b="-79"/>
          <a:stretch>
            <a:fillRect/>
          </a:stretch>
        </p:blipFill>
        <p:spPr bwMode="auto">
          <a:xfrm>
            <a:off x="6095999" y="1917832"/>
            <a:ext cx="4014935" cy="3435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TextBox 9">
            <a:extLst>
              <a:ext uri="{FF2B5EF4-FFF2-40B4-BE49-F238E27FC236}">
                <a16:creationId xmlns:a16="http://schemas.microsoft.com/office/drawing/2014/main" id="{507BC7E7-B83F-898A-E19D-9B914D53D0A2}"/>
              </a:ext>
            </a:extLst>
          </p:cNvPr>
          <p:cNvSpPr txBox="1">
            <a:spLocks noChangeArrowheads="1"/>
          </p:cNvSpPr>
          <p:nvPr/>
        </p:nvSpPr>
        <p:spPr bwMode="auto">
          <a:xfrm>
            <a:off x="870585" y="5454040"/>
            <a:ext cx="37211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t>Gem Core </a:t>
            </a:r>
            <a:r>
              <a:rPr lang="en-US" altLang="en-US" sz="1600" dirty="0" err="1"/>
              <a:t>Drivematic</a:t>
            </a:r>
            <a:r>
              <a:rPr lang="en-US" altLang="en-US" sz="1600" dirty="0"/>
              <a:t>, Cost $297,000</a:t>
            </a:r>
          </a:p>
        </p:txBody>
      </p:sp>
      <p:sp>
        <p:nvSpPr>
          <p:cNvPr id="26" name="TextBox 10">
            <a:extLst>
              <a:ext uri="{FF2B5EF4-FFF2-40B4-BE49-F238E27FC236}">
                <a16:creationId xmlns:a16="http://schemas.microsoft.com/office/drawing/2014/main" id="{AF63BEA6-F14A-C886-602E-B3C02E5946D2}"/>
              </a:ext>
            </a:extLst>
          </p:cNvPr>
          <p:cNvSpPr txBox="1">
            <a:spLocks noChangeArrowheads="1"/>
          </p:cNvSpPr>
          <p:nvPr/>
        </p:nvSpPr>
        <p:spPr bwMode="auto">
          <a:xfrm>
            <a:off x="6575497" y="5462716"/>
            <a:ext cx="3055937"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dirty="0"/>
              <a:t>3P </a:t>
            </a:r>
            <a:r>
              <a:rPr lang="ja-JP" altLang="en-US" sz="1600" dirty="0"/>
              <a:t>‘</a:t>
            </a:r>
            <a:r>
              <a:rPr lang="en-US" altLang="ja-JP" sz="1600" dirty="0"/>
              <a:t>Moonshine</a:t>
            </a:r>
            <a:r>
              <a:rPr lang="ja-JP" altLang="en-US" sz="1600" dirty="0"/>
              <a:t>’</a:t>
            </a:r>
            <a:r>
              <a:rPr lang="en-US" altLang="ja-JP" sz="1600" dirty="0"/>
              <a:t>, Cost $7,300</a:t>
            </a:r>
            <a:endParaRPr lang="en-US" altLang="en-US" sz="1600" dirty="0"/>
          </a:p>
        </p:txBody>
      </p:sp>
    </p:spTree>
    <p:extLst>
      <p:ext uri="{BB962C8B-B14F-4D97-AF65-F5344CB8AC3E}">
        <p14:creationId xmlns:p14="http://schemas.microsoft.com/office/powerpoint/2010/main" val="444913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7. Make operator work stations narrow</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69</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pSp>
        <p:nvGrpSpPr>
          <p:cNvPr id="101" name="Group 100">
            <a:extLst>
              <a:ext uri="{FF2B5EF4-FFF2-40B4-BE49-F238E27FC236}">
                <a16:creationId xmlns:a16="http://schemas.microsoft.com/office/drawing/2014/main" id="{74FCA0A8-0F3F-6A7F-1484-B2FDF9BC6D02}"/>
              </a:ext>
            </a:extLst>
          </p:cNvPr>
          <p:cNvGrpSpPr/>
          <p:nvPr/>
        </p:nvGrpSpPr>
        <p:grpSpPr>
          <a:xfrm>
            <a:off x="1885207" y="1766948"/>
            <a:ext cx="8421587" cy="4646673"/>
            <a:chOff x="1885207" y="1766948"/>
            <a:chExt cx="8421587" cy="4646673"/>
          </a:xfrm>
        </p:grpSpPr>
        <p:grpSp>
          <p:nvGrpSpPr>
            <p:cNvPr id="99" name="Group 98">
              <a:extLst>
                <a:ext uri="{FF2B5EF4-FFF2-40B4-BE49-F238E27FC236}">
                  <a16:creationId xmlns:a16="http://schemas.microsoft.com/office/drawing/2014/main" id="{FEBE6598-658E-4AA3-F89B-A7D3E87EB72B}"/>
                </a:ext>
              </a:extLst>
            </p:cNvPr>
            <p:cNvGrpSpPr/>
            <p:nvPr/>
          </p:nvGrpSpPr>
          <p:grpSpPr>
            <a:xfrm>
              <a:off x="1885207" y="1766948"/>
              <a:ext cx="8421587" cy="4646673"/>
              <a:chOff x="55663" y="1258888"/>
              <a:chExt cx="8421587" cy="4646673"/>
            </a:xfrm>
          </p:grpSpPr>
          <p:sp>
            <p:nvSpPr>
              <p:cNvPr id="7" name="Rounded Rectangle 59">
                <a:extLst>
                  <a:ext uri="{FF2B5EF4-FFF2-40B4-BE49-F238E27FC236}">
                    <a16:creationId xmlns:a16="http://schemas.microsoft.com/office/drawing/2014/main" id="{A6A1D9EB-1D5F-69E9-0701-68799FB62848}"/>
                  </a:ext>
                </a:extLst>
              </p:cNvPr>
              <p:cNvSpPr>
                <a:spLocks noChangeArrowheads="1"/>
              </p:cNvSpPr>
              <p:nvPr/>
            </p:nvSpPr>
            <p:spPr bwMode="auto">
              <a:xfrm>
                <a:off x="515938" y="1731963"/>
                <a:ext cx="2732087" cy="903287"/>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sp>
            <p:nvSpPr>
              <p:cNvPr id="8" name="Rectangle 60">
                <a:extLst>
                  <a:ext uri="{FF2B5EF4-FFF2-40B4-BE49-F238E27FC236}">
                    <a16:creationId xmlns:a16="http://schemas.microsoft.com/office/drawing/2014/main" id="{D6BDF0A1-38B5-DE9A-01BD-F04AC2A6CDF0}"/>
                  </a:ext>
                </a:extLst>
              </p:cNvPr>
              <p:cNvSpPr>
                <a:spLocks noChangeArrowheads="1"/>
              </p:cNvSpPr>
              <p:nvPr/>
            </p:nvSpPr>
            <p:spPr bwMode="auto">
              <a:xfrm>
                <a:off x="2817813" y="1592263"/>
                <a:ext cx="463550" cy="1182687"/>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p>
            </p:txBody>
          </p:sp>
          <p:pic>
            <p:nvPicPr>
              <p:cNvPr id="12" name="Picture 36">
                <a:extLst>
                  <a:ext uri="{FF2B5EF4-FFF2-40B4-BE49-F238E27FC236}">
                    <a16:creationId xmlns:a16="http://schemas.microsoft.com/office/drawing/2014/main" id="{1885FD5C-7C24-6C4E-92FC-6F8AEBB42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9675" y="3752850"/>
                <a:ext cx="193357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4" name="Text Box 17">
                <a:extLst>
                  <a:ext uri="{FF2B5EF4-FFF2-40B4-BE49-F238E27FC236}">
                    <a16:creationId xmlns:a16="http://schemas.microsoft.com/office/drawing/2014/main" id="{9CE15B35-B487-A279-6D2A-73A96571BCA0}"/>
                  </a:ext>
                </a:extLst>
              </p:cNvPr>
              <p:cNvSpPr txBox="1">
                <a:spLocks noChangeArrowheads="1"/>
              </p:cNvSpPr>
              <p:nvPr/>
            </p:nvSpPr>
            <p:spPr bwMode="auto">
              <a:xfrm>
                <a:off x="6092825" y="2741613"/>
                <a:ext cx="2362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ja-JP" sz="1400"/>
                  <a:t>Ranch style - Wide and Shallow </a:t>
                </a:r>
              </a:p>
            </p:txBody>
          </p:sp>
          <p:sp>
            <p:nvSpPr>
              <p:cNvPr id="15" name="Text Box 26">
                <a:extLst>
                  <a:ext uri="{FF2B5EF4-FFF2-40B4-BE49-F238E27FC236}">
                    <a16:creationId xmlns:a16="http://schemas.microsoft.com/office/drawing/2014/main" id="{8BC668FF-DBC3-86C0-2B27-751E884680E7}"/>
                  </a:ext>
                </a:extLst>
              </p:cNvPr>
              <p:cNvSpPr txBox="1">
                <a:spLocks noChangeArrowheads="1"/>
              </p:cNvSpPr>
              <p:nvPr/>
            </p:nvSpPr>
            <p:spPr bwMode="auto">
              <a:xfrm>
                <a:off x="6143625" y="5210175"/>
                <a:ext cx="2193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ja-JP" sz="1400"/>
                  <a:t>Townhouse – Narrow but Deep</a:t>
                </a:r>
              </a:p>
            </p:txBody>
          </p:sp>
          <p:sp>
            <p:nvSpPr>
              <p:cNvPr id="27" name="Rectangle 18">
                <a:extLst>
                  <a:ext uri="{FF2B5EF4-FFF2-40B4-BE49-F238E27FC236}">
                    <a16:creationId xmlns:a16="http://schemas.microsoft.com/office/drawing/2014/main" id="{E0967949-3F45-6750-F2EC-FAADD22E76C4}"/>
                  </a:ext>
                </a:extLst>
              </p:cNvPr>
              <p:cNvSpPr>
                <a:spLocks noChangeArrowheads="1"/>
              </p:cNvSpPr>
              <p:nvPr/>
            </p:nvSpPr>
            <p:spPr bwMode="auto">
              <a:xfrm>
                <a:off x="2581275" y="3346450"/>
                <a:ext cx="579438" cy="728663"/>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8" name="Rectangle 19">
                <a:extLst>
                  <a:ext uri="{FF2B5EF4-FFF2-40B4-BE49-F238E27FC236}">
                    <a16:creationId xmlns:a16="http://schemas.microsoft.com/office/drawing/2014/main" id="{EF36664C-2CE6-4076-FCC6-30CE74FABAD4}"/>
                  </a:ext>
                </a:extLst>
              </p:cNvPr>
              <p:cNvSpPr>
                <a:spLocks noChangeArrowheads="1"/>
              </p:cNvSpPr>
              <p:nvPr/>
            </p:nvSpPr>
            <p:spPr bwMode="auto">
              <a:xfrm>
                <a:off x="2409825" y="4367213"/>
                <a:ext cx="750888" cy="463550"/>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9" name="Rectangle 20">
                <a:extLst>
                  <a:ext uri="{FF2B5EF4-FFF2-40B4-BE49-F238E27FC236}">
                    <a16:creationId xmlns:a16="http://schemas.microsoft.com/office/drawing/2014/main" id="{54825FE2-714F-E72F-145B-66E977506822}"/>
                  </a:ext>
                </a:extLst>
              </p:cNvPr>
              <p:cNvSpPr>
                <a:spLocks noChangeArrowheads="1"/>
              </p:cNvSpPr>
              <p:nvPr/>
            </p:nvSpPr>
            <p:spPr bwMode="auto">
              <a:xfrm>
                <a:off x="3744913" y="3260725"/>
                <a:ext cx="935037" cy="461963"/>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0" name="Rectangle 21">
                <a:extLst>
                  <a:ext uri="{FF2B5EF4-FFF2-40B4-BE49-F238E27FC236}">
                    <a16:creationId xmlns:a16="http://schemas.microsoft.com/office/drawing/2014/main" id="{E8028C5B-BD64-655B-A309-6349949C0ED1}"/>
                  </a:ext>
                </a:extLst>
              </p:cNvPr>
              <p:cNvSpPr>
                <a:spLocks noChangeArrowheads="1"/>
              </p:cNvSpPr>
              <p:nvPr/>
            </p:nvSpPr>
            <p:spPr bwMode="auto">
              <a:xfrm>
                <a:off x="3744913" y="3844925"/>
                <a:ext cx="611187" cy="52387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1" name="Rectangle 22">
                <a:extLst>
                  <a:ext uri="{FF2B5EF4-FFF2-40B4-BE49-F238E27FC236}">
                    <a16:creationId xmlns:a16="http://schemas.microsoft.com/office/drawing/2014/main" id="{3EC92733-529B-BF20-B2ED-D303A8DA90F4}"/>
                  </a:ext>
                </a:extLst>
              </p:cNvPr>
              <p:cNvSpPr>
                <a:spLocks noChangeArrowheads="1"/>
              </p:cNvSpPr>
              <p:nvPr/>
            </p:nvSpPr>
            <p:spPr bwMode="auto">
              <a:xfrm>
                <a:off x="3744913" y="4519613"/>
                <a:ext cx="892175" cy="461962"/>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2" name="AutoShape 23">
                <a:extLst>
                  <a:ext uri="{FF2B5EF4-FFF2-40B4-BE49-F238E27FC236}">
                    <a16:creationId xmlns:a16="http://schemas.microsoft.com/office/drawing/2014/main" id="{F94C2436-A58B-B258-39D1-4A896F4D321F}"/>
                  </a:ext>
                </a:extLst>
              </p:cNvPr>
              <p:cNvSpPr>
                <a:spLocks noChangeArrowheads="1"/>
              </p:cNvSpPr>
              <p:nvPr/>
            </p:nvSpPr>
            <p:spPr bwMode="auto">
              <a:xfrm>
                <a:off x="3252788" y="3540125"/>
                <a:ext cx="400050" cy="1311275"/>
              </a:xfrm>
              <a:prstGeom prst="roundRect">
                <a:avLst>
                  <a:gd name="adj" fmla="val 38023"/>
                </a:avLst>
              </a:prstGeom>
              <a:solidFill>
                <a:schemeClr val="bg1"/>
              </a:solidFill>
              <a:ln w="2857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33" name="Arc 24">
                <a:extLst>
                  <a:ext uri="{FF2B5EF4-FFF2-40B4-BE49-F238E27FC236}">
                    <a16:creationId xmlns:a16="http://schemas.microsoft.com/office/drawing/2014/main" id="{A1890A70-F6AD-2410-CB13-F20013CE51E6}"/>
                  </a:ext>
                </a:extLst>
              </p:cNvPr>
              <p:cNvSpPr>
                <a:spLocks/>
              </p:cNvSpPr>
              <p:nvPr/>
            </p:nvSpPr>
            <p:spPr bwMode="auto">
              <a:xfrm rot="16200000" flipV="1">
                <a:off x="3336132" y="3334544"/>
                <a:ext cx="233362" cy="400050"/>
              </a:xfrm>
              <a:custGeom>
                <a:avLst/>
                <a:gdLst>
                  <a:gd name="T0" fmla="*/ 0 w 21600"/>
                  <a:gd name="T1" fmla="*/ 0 h 43108"/>
                  <a:gd name="T2" fmla="*/ 0 w 21600"/>
                  <a:gd name="T3" fmla="*/ 0 h 43108"/>
                  <a:gd name="T4" fmla="*/ 0 w 21600"/>
                  <a:gd name="T5" fmla="*/ 0 h 43108"/>
                  <a:gd name="T6" fmla="*/ 0 60000 65536"/>
                  <a:gd name="T7" fmla="*/ 0 60000 65536"/>
                  <a:gd name="T8" fmla="*/ 0 60000 65536"/>
                  <a:gd name="T9" fmla="*/ 0 w 21600"/>
                  <a:gd name="T10" fmla="*/ 0 h 43108"/>
                  <a:gd name="T11" fmla="*/ 21600 w 21600"/>
                  <a:gd name="T12" fmla="*/ 43108 h 43108"/>
                </a:gdLst>
                <a:ahLst/>
                <a:cxnLst>
                  <a:cxn ang="T6">
                    <a:pos x="T0" y="T1"/>
                  </a:cxn>
                  <a:cxn ang="T7">
                    <a:pos x="T2" y="T3"/>
                  </a:cxn>
                  <a:cxn ang="T8">
                    <a:pos x="T4" y="T5"/>
                  </a:cxn>
                </a:cxnLst>
                <a:rect l="T9" t="T10" r="T11" b="T12"/>
                <a:pathLst>
                  <a:path w="21600" h="43108" fill="none" extrusionOk="0">
                    <a:moveTo>
                      <a:pt x="-1" y="0"/>
                    </a:moveTo>
                    <a:cubicBezTo>
                      <a:pt x="11929" y="0"/>
                      <a:pt x="21600" y="9670"/>
                      <a:pt x="21600" y="21600"/>
                    </a:cubicBezTo>
                    <a:cubicBezTo>
                      <a:pt x="21600" y="32756"/>
                      <a:pt x="13103" y="42077"/>
                      <a:pt x="1993" y="43107"/>
                    </a:cubicBezTo>
                  </a:path>
                  <a:path w="21600" h="43108" stroke="0" extrusionOk="0">
                    <a:moveTo>
                      <a:pt x="-1" y="0"/>
                    </a:moveTo>
                    <a:cubicBezTo>
                      <a:pt x="11929" y="0"/>
                      <a:pt x="21600" y="9670"/>
                      <a:pt x="21600" y="21600"/>
                    </a:cubicBezTo>
                    <a:cubicBezTo>
                      <a:pt x="21600" y="32756"/>
                      <a:pt x="13103" y="42077"/>
                      <a:pt x="1993" y="43107"/>
                    </a:cubicBezTo>
                    <a:lnTo>
                      <a:pt x="0" y="21600"/>
                    </a:lnTo>
                    <a:lnTo>
                      <a:pt x="-1" y="0"/>
                    </a:lnTo>
                    <a:close/>
                  </a:path>
                </a:pathLst>
              </a:custGeom>
              <a:solidFill>
                <a:schemeClr val="bg1"/>
              </a:solidFill>
              <a:ln w="38100">
                <a:solidFill>
                  <a:schemeClr val="tx1"/>
                </a:solidFill>
                <a:prstDash val="sysDot"/>
                <a:round/>
                <a:headEnd/>
                <a:tailEnd type="triangle" w="med" len="med"/>
              </a:ln>
            </p:spPr>
            <p:txBody>
              <a:bodyPr rot="10800000" vert="eaVert" wrap="none" anchor="ctr"/>
              <a:lstStyle/>
              <a:p>
                <a:endParaRPr lang="en-US"/>
              </a:p>
            </p:txBody>
          </p:sp>
          <p:sp>
            <p:nvSpPr>
              <p:cNvPr id="34" name="Line 25">
                <a:extLst>
                  <a:ext uri="{FF2B5EF4-FFF2-40B4-BE49-F238E27FC236}">
                    <a16:creationId xmlns:a16="http://schemas.microsoft.com/office/drawing/2014/main" id="{2DDB97E5-A509-88E4-8674-E445C75312F7}"/>
                  </a:ext>
                </a:extLst>
              </p:cNvPr>
              <p:cNvSpPr>
                <a:spLocks noChangeShapeType="1"/>
              </p:cNvSpPr>
              <p:nvPr/>
            </p:nvSpPr>
            <p:spPr bwMode="auto">
              <a:xfrm flipV="1">
                <a:off x="3649663" y="3557588"/>
                <a:ext cx="0" cy="1174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 name="Text Box 31">
                <a:extLst>
                  <a:ext uri="{FF2B5EF4-FFF2-40B4-BE49-F238E27FC236}">
                    <a16:creationId xmlns:a16="http://schemas.microsoft.com/office/drawing/2014/main" id="{C165190B-9FF9-F8A1-CF8A-9D8AA52AB8A2}"/>
                  </a:ext>
                </a:extLst>
              </p:cNvPr>
              <p:cNvSpPr txBox="1">
                <a:spLocks noChangeArrowheads="1"/>
              </p:cNvSpPr>
              <p:nvPr/>
            </p:nvSpPr>
            <p:spPr bwMode="auto">
              <a:xfrm>
                <a:off x="2087563" y="5048250"/>
                <a:ext cx="30003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ja-JP" sz="1400"/>
                  <a:t>Reduced Walking  </a:t>
                </a:r>
              </a:p>
              <a:p>
                <a:pPr algn="ctr">
                  <a:lnSpc>
                    <a:spcPct val="100000"/>
                  </a:lnSpc>
                  <a:spcBef>
                    <a:spcPct val="0"/>
                  </a:spcBef>
                  <a:spcAft>
                    <a:spcPct val="0"/>
                  </a:spcAft>
                  <a:buClrTx/>
                  <a:buSzTx/>
                  <a:buFontTx/>
                  <a:buNone/>
                </a:pPr>
                <a:r>
                  <a:rPr lang="en-US" altLang="ja-JP" sz="1400"/>
                  <a:t>1step - station to station</a:t>
                </a:r>
              </a:p>
            </p:txBody>
          </p:sp>
          <p:pic>
            <p:nvPicPr>
              <p:cNvPr id="36" name="Picture 35">
                <a:extLst>
                  <a:ext uri="{FF2B5EF4-FFF2-40B4-BE49-F238E27FC236}">
                    <a16:creationId xmlns:a16="http://schemas.microsoft.com/office/drawing/2014/main" id="{7B2722E2-7A31-2A2A-DB6C-7BA299E2E2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46" b="114"/>
              <a:stretch>
                <a:fillRect/>
              </a:stretch>
            </p:blipFill>
            <p:spPr bwMode="auto">
              <a:xfrm>
                <a:off x="6089650" y="1500188"/>
                <a:ext cx="2387600" cy="123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37" name="Picture 43">
                <a:extLst>
                  <a:ext uri="{FF2B5EF4-FFF2-40B4-BE49-F238E27FC236}">
                    <a16:creationId xmlns:a16="http://schemas.microsoft.com/office/drawing/2014/main" id="{59CA3DE8-1E35-D9FA-D80D-93206A44CC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63" y="4327465"/>
                <a:ext cx="2165350" cy="134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38" name="TextBox 47">
                <a:extLst>
                  <a:ext uri="{FF2B5EF4-FFF2-40B4-BE49-F238E27FC236}">
                    <a16:creationId xmlns:a16="http://schemas.microsoft.com/office/drawing/2014/main" id="{824FE01A-8063-0519-C5DB-D71D02487CBE}"/>
                  </a:ext>
                </a:extLst>
              </p:cNvPr>
              <p:cNvSpPr txBox="1">
                <a:spLocks noChangeArrowheads="1"/>
              </p:cNvSpPr>
              <p:nvPr/>
            </p:nvSpPr>
            <p:spPr bwMode="auto">
              <a:xfrm>
                <a:off x="790675" y="3163828"/>
                <a:ext cx="14287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dirty="0"/>
                  <a:t>Principle of Verticality</a:t>
                </a:r>
              </a:p>
              <a:p>
                <a:pPr algn="ctr">
                  <a:lnSpc>
                    <a:spcPct val="100000"/>
                  </a:lnSpc>
                  <a:spcBef>
                    <a:spcPct val="0"/>
                  </a:spcBef>
                  <a:spcAft>
                    <a:spcPct val="0"/>
                  </a:spcAft>
                  <a:buClrTx/>
                  <a:buSzTx/>
                  <a:buFontTx/>
                  <a:buNone/>
                </a:pPr>
                <a:r>
                  <a:rPr lang="en-GB" altLang="en-US" sz="1400" dirty="0"/>
                  <a:t>Reduced Footprint</a:t>
                </a:r>
              </a:p>
            </p:txBody>
          </p:sp>
          <p:sp>
            <p:nvSpPr>
              <p:cNvPr id="39" name="Freeform 25">
                <a:extLst>
                  <a:ext uri="{FF2B5EF4-FFF2-40B4-BE49-F238E27FC236}">
                    <a16:creationId xmlns:a16="http://schemas.microsoft.com/office/drawing/2014/main" id="{2FCB88B6-316E-0B63-80F6-B77575231CA3}"/>
                  </a:ext>
                </a:extLst>
              </p:cNvPr>
              <p:cNvSpPr>
                <a:spLocks/>
              </p:cNvSpPr>
              <p:nvPr/>
            </p:nvSpPr>
            <p:spPr bwMode="auto">
              <a:xfrm rot="16200000">
                <a:off x="2659856" y="1662907"/>
                <a:ext cx="271463" cy="133350"/>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p>
            </p:txBody>
          </p:sp>
          <p:sp>
            <p:nvSpPr>
              <p:cNvPr id="40" name="Freeform 26">
                <a:extLst>
                  <a:ext uri="{FF2B5EF4-FFF2-40B4-BE49-F238E27FC236}">
                    <a16:creationId xmlns:a16="http://schemas.microsoft.com/office/drawing/2014/main" id="{97540CE5-E8F6-B23F-7801-EA77B59A8CEE}"/>
                  </a:ext>
                </a:extLst>
              </p:cNvPr>
              <p:cNvSpPr>
                <a:spLocks/>
              </p:cNvSpPr>
              <p:nvPr/>
            </p:nvSpPr>
            <p:spPr bwMode="auto">
              <a:xfrm rot="16200000">
                <a:off x="2659857" y="2566194"/>
                <a:ext cx="271462" cy="133350"/>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1"/>
              </a:solidFill>
              <a:ln w="11113">
                <a:solidFill>
                  <a:srgbClr val="000000"/>
                </a:solidFill>
                <a:round/>
                <a:headEnd/>
                <a:tailEnd/>
              </a:ln>
            </p:spPr>
            <p:txBody>
              <a:bodyPr/>
              <a:lstStyle/>
              <a:p>
                <a:endParaRPr lang="en-US"/>
              </a:p>
            </p:txBody>
          </p:sp>
          <p:sp>
            <p:nvSpPr>
              <p:cNvPr id="41" name="Rectangle 28">
                <a:extLst>
                  <a:ext uri="{FF2B5EF4-FFF2-40B4-BE49-F238E27FC236}">
                    <a16:creationId xmlns:a16="http://schemas.microsoft.com/office/drawing/2014/main" id="{BE0DE1DF-F1D4-D260-74DE-D00639EFE5E0}"/>
                  </a:ext>
                </a:extLst>
              </p:cNvPr>
              <p:cNvSpPr>
                <a:spLocks noChangeArrowheads="1"/>
              </p:cNvSpPr>
              <p:nvPr/>
            </p:nvSpPr>
            <p:spPr bwMode="auto">
              <a:xfrm rot="16200000">
                <a:off x="887413" y="2533650"/>
                <a:ext cx="411162" cy="407988"/>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42" name="Rectangle 29">
                <a:extLst>
                  <a:ext uri="{FF2B5EF4-FFF2-40B4-BE49-F238E27FC236}">
                    <a16:creationId xmlns:a16="http://schemas.microsoft.com/office/drawing/2014/main" id="{149C18A7-6FB0-4019-2D20-7797AE4AC672}"/>
                  </a:ext>
                </a:extLst>
              </p:cNvPr>
              <p:cNvSpPr>
                <a:spLocks noChangeArrowheads="1"/>
              </p:cNvSpPr>
              <p:nvPr/>
            </p:nvSpPr>
            <p:spPr bwMode="auto">
              <a:xfrm rot="16200000">
                <a:off x="1990725" y="2205038"/>
                <a:ext cx="263525" cy="96202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43" name="Rectangle 30">
                <a:extLst>
                  <a:ext uri="{FF2B5EF4-FFF2-40B4-BE49-F238E27FC236}">
                    <a16:creationId xmlns:a16="http://schemas.microsoft.com/office/drawing/2014/main" id="{FE4F959F-3A17-178F-2C8C-9F7F283421C8}"/>
                  </a:ext>
                </a:extLst>
              </p:cNvPr>
              <p:cNvSpPr>
                <a:spLocks noChangeArrowheads="1"/>
              </p:cNvSpPr>
              <p:nvPr/>
            </p:nvSpPr>
            <p:spPr bwMode="auto">
              <a:xfrm rot="16200000">
                <a:off x="338931" y="1985169"/>
                <a:ext cx="409575" cy="407988"/>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44" name="Rectangle 31">
                <a:extLst>
                  <a:ext uri="{FF2B5EF4-FFF2-40B4-BE49-F238E27FC236}">
                    <a16:creationId xmlns:a16="http://schemas.microsoft.com/office/drawing/2014/main" id="{B557C5D2-D264-FC2B-8FB9-45BF4E67D6F6}"/>
                  </a:ext>
                </a:extLst>
              </p:cNvPr>
              <p:cNvSpPr>
                <a:spLocks noChangeArrowheads="1"/>
              </p:cNvSpPr>
              <p:nvPr/>
            </p:nvSpPr>
            <p:spPr bwMode="auto">
              <a:xfrm rot="16200000">
                <a:off x="889000" y="1454150"/>
                <a:ext cx="407988" cy="407988"/>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45" name="Rectangle 32">
                <a:extLst>
                  <a:ext uri="{FF2B5EF4-FFF2-40B4-BE49-F238E27FC236}">
                    <a16:creationId xmlns:a16="http://schemas.microsoft.com/office/drawing/2014/main" id="{7708352C-493C-E0BE-3CCE-B094DCB0B523}"/>
                  </a:ext>
                </a:extLst>
              </p:cNvPr>
              <p:cNvSpPr>
                <a:spLocks noChangeArrowheads="1"/>
              </p:cNvSpPr>
              <p:nvPr/>
            </p:nvSpPr>
            <p:spPr bwMode="auto">
              <a:xfrm rot="16200000">
                <a:off x="1478756" y="1286670"/>
                <a:ext cx="549275" cy="601662"/>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46" name="Rectangle 32">
                <a:extLst>
                  <a:ext uri="{FF2B5EF4-FFF2-40B4-BE49-F238E27FC236}">
                    <a16:creationId xmlns:a16="http://schemas.microsoft.com/office/drawing/2014/main" id="{797AAC22-C71A-169D-C7DC-287470E22674}"/>
                  </a:ext>
                </a:extLst>
              </p:cNvPr>
              <p:cNvSpPr>
                <a:spLocks noChangeArrowheads="1"/>
              </p:cNvSpPr>
              <p:nvPr/>
            </p:nvSpPr>
            <p:spPr bwMode="auto">
              <a:xfrm rot="16200000">
                <a:off x="2227263" y="1455738"/>
                <a:ext cx="407987" cy="407987"/>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47" name="TextBox 54">
                <a:extLst>
                  <a:ext uri="{FF2B5EF4-FFF2-40B4-BE49-F238E27FC236}">
                    <a16:creationId xmlns:a16="http://schemas.microsoft.com/office/drawing/2014/main" id="{9C3A5515-85F6-F772-44D7-8302D99BB9C2}"/>
                  </a:ext>
                </a:extLst>
              </p:cNvPr>
              <p:cNvSpPr txBox="1">
                <a:spLocks noChangeArrowheads="1"/>
              </p:cNvSpPr>
              <p:nvPr/>
            </p:nvSpPr>
            <p:spPr bwMode="auto">
              <a:xfrm>
                <a:off x="1270000" y="2022475"/>
                <a:ext cx="7397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t>U-Line</a:t>
                </a:r>
              </a:p>
            </p:txBody>
          </p:sp>
          <p:sp>
            <p:nvSpPr>
              <p:cNvPr id="48" name="Freeform 44">
                <a:extLst>
                  <a:ext uri="{FF2B5EF4-FFF2-40B4-BE49-F238E27FC236}">
                    <a16:creationId xmlns:a16="http://schemas.microsoft.com/office/drawing/2014/main" id="{361F28B9-8D4B-5283-066A-2394068C4AE1}"/>
                  </a:ext>
                </a:extLst>
              </p:cNvPr>
              <p:cNvSpPr>
                <a:spLocks/>
              </p:cNvSpPr>
              <p:nvPr/>
            </p:nvSpPr>
            <p:spPr bwMode="auto">
              <a:xfrm>
                <a:off x="3459163" y="2298700"/>
                <a:ext cx="488950" cy="608013"/>
              </a:xfrm>
              <a:custGeom>
                <a:avLst/>
                <a:gdLst>
                  <a:gd name="T0" fmla="*/ 0 w 336"/>
                  <a:gd name="T1" fmla="*/ 2147483646 h 471"/>
                  <a:gd name="T2" fmla="*/ 2147483646 w 336"/>
                  <a:gd name="T3" fmla="*/ 2147483646 h 471"/>
                  <a:gd name="T4" fmla="*/ 2147483646 w 336"/>
                  <a:gd name="T5" fmla="*/ 0 h 471"/>
                  <a:gd name="T6" fmla="*/ 0 60000 65536"/>
                  <a:gd name="T7" fmla="*/ 0 60000 65536"/>
                  <a:gd name="T8" fmla="*/ 0 60000 65536"/>
                  <a:gd name="T9" fmla="*/ 0 w 336"/>
                  <a:gd name="T10" fmla="*/ 0 h 471"/>
                  <a:gd name="T11" fmla="*/ 336 w 336"/>
                  <a:gd name="T12" fmla="*/ 471 h 471"/>
                </a:gdLst>
                <a:ahLst/>
                <a:cxnLst>
                  <a:cxn ang="T6">
                    <a:pos x="T0" y="T1"/>
                  </a:cxn>
                  <a:cxn ang="T7">
                    <a:pos x="T2" y="T3"/>
                  </a:cxn>
                  <a:cxn ang="T8">
                    <a:pos x="T4" y="T5"/>
                  </a:cxn>
                </a:cxnLst>
                <a:rect l="T9" t="T10" r="T11" b="T12"/>
                <a:pathLst>
                  <a:path w="336" h="471">
                    <a:moveTo>
                      <a:pt x="0" y="471"/>
                    </a:moveTo>
                    <a:lnTo>
                      <a:pt x="336" y="471"/>
                    </a:lnTo>
                    <a:lnTo>
                      <a:pt x="336"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 name="Freeform 45">
                <a:extLst>
                  <a:ext uri="{FF2B5EF4-FFF2-40B4-BE49-F238E27FC236}">
                    <a16:creationId xmlns:a16="http://schemas.microsoft.com/office/drawing/2014/main" id="{B185FB6F-197F-0DD3-840A-A594849309CC}"/>
                  </a:ext>
                </a:extLst>
              </p:cNvPr>
              <p:cNvSpPr>
                <a:spLocks/>
              </p:cNvSpPr>
              <p:nvPr/>
            </p:nvSpPr>
            <p:spPr bwMode="auto">
              <a:xfrm>
                <a:off x="3459163" y="1601788"/>
                <a:ext cx="488950" cy="696912"/>
              </a:xfrm>
              <a:custGeom>
                <a:avLst/>
                <a:gdLst>
                  <a:gd name="T0" fmla="*/ 0 w 336"/>
                  <a:gd name="T1" fmla="*/ 0 h 539"/>
                  <a:gd name="T2" fmla="*/ 2147483646 w 336"/>
                  <a:gd name="T3" fmla="*/ 0 h 539"/>
                  <a:gd name="T4" fmla="*/ 2147483646 w 336"/>
                  <a:gd name="T5" fmla="*/ 2147483646 h 539"/>
                  <a:gd name="T6" fmla="*/ 2147483646 w 336"/>
                  <a:gd name="T7" fmla="*/ 2147483646 h 539"/>
                  <a:gd name="T8" fmla="*/ 0 60000 65536"/>
                  <a:gd name="T9" fmla="*/ 0 60000 65536"/>
                  <a:gd name="T10" fmla="*/ 0 60000 65536"/>
                  <a:gd name="T11" fmla="*/ 0 60000 65536"/>
                  <a:gd name="T12" fmla="*/ 0 w 336"/>
                  <a:gd name="T13" fmla="*/ 0 h 539"/>
                  <a:gd name="T14" fmla="*/ 336 w 336"/>
                  <a:gd name="T15" fmla="*/ 539 h 539"/>
                </a:gdLst>
                <a:ahLst/>
                <a:cxnLst>
                  <a:cxn ang="T8">
                    <a:pos x="T0" y="T1"/>
                  </a:cxn>
                  <a:cxn ang="T9">
                    <a:pos x="T2" y="T3"/>
                  </a:cxn>
                  <a:cxn ang="T10">
                    <a:pos x="T4" y="T5"/>
                  </a:cxn>
                  <a:cxn ang="T11">
                    <a:pos x="T6" y="T7"/>
                  </a:cxn>
                </a:cxnLst>
                <a:rect l="T12" t="T13" r="T14" b="T15"/>
                <a:pathLst>
                  <a:path w="336" h="539">
                    <a:moveTo>
                      <a:pt x="0" y="0"/>
                    </a:moveTo>
                    <a:lnTo>
                      <a:pt x="232" y="0"/>
                    </a:lnTo>
                    <a:lnTo>
                      <a:pt x="232" y="269"/>
                    </a:lnTo>
                    <a:lnTo>
                      <a:pt x="336" y="53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 name="Freeform 46">
                <a:extLst>
                  <a:ext uri="{FF2B5EF4-FFF2-40B4-BE49-F238E27FC236}">
                    <a16:creationId xmlns:a16="http://schemas.microsoft.com/office/drawing/2014/main" id="{711D68A1-A61C-78DB-C6A6-F379BAA430D4}"/>
                  </a:ext>
                </a:extLst>
              </p:cNvPr>
              <p:cNvSpPr>
                <a:spLocks/>
              </p:cNvSpPr>
              <p:nvPr/>
            </p:nvSpPr>
            <p:spPr bwMode="auto">
              <a:xfrm>
                <a:off x="4481513" y="1601788"/>
                <a:ext cx="447675" cy="696912"/>
              </a:xfrm>
              <a:custGeom>
                <a:avLst/>
                <a:gdLst>
                  <a:gd name="T0" fmla="*/ 0 w 307"/>
                  <a:gd name="T1" fmla="*/ 0 h 539"/>
                  <a:gd name="T2" fmla="*/ 2147483646 w 307"/>
                  <a:gd name="T3" fmla="*/ 2147483646 h 539"/>
                  <a:gd name="T4" fmla="*/ 2147483646 w 307"/>
                  <a:gd name="T5" fmla="*/ 2147483646 h 539"/>
                  <a:gd name="T6" fmla="*/ 2147483646 w 307"/>
                  <a:gd name="T7" fmla="*/ 2147483646 h 539"/>
                  <a:gd name="T8" fmla="*/ 0 60000 65536"/>
                  <a:gd name="T9" fmla="*/ 0 60000 65536"/>
                  <a:gd name="T10" fmla="*/ 0 60000 65536"/>
                  <a:gd name="T11" fmla="*/ 0 60000 65536"/>
                  <a:gd name="T12" fmla="*/ 0 w 307"/>
                  <a:gd name="T13" fmla="*/ 0 h 539"/>
                  <a:gd name="T14" fmla="*/ 307 w 307"/>
                  <a:gd name="T15" fmla="*/ 539 h 539"/>
                </a:gdLst>
                <a:ahLst/>
                <a:cxnLst>
                  <a:cxn ang="T8">
                    <a:pos x="T0" y="T1"/>
                  </a:cxn>
                  <a:cxn ang="T9">
                    <a:pos x="T2" y="T3"/>
                  </a:cxn>
                  <a:cxn ang="T10">
                    <a:pos x="T4" y="T5"/>
                  </a:cxn>
                  <a:cxn ang="T11">
                    <a:pos x="T6" y="T7"/>
                  </a:cxn>
                </a:cxnLst>
                <a:rect l="T12" t="T13" r="T14" b="T15"/>
                <a:pathLst>
                  <a:path w="307" h="539">
                    <a:moveTo>
                      <a:pt x="0" y="0"/>
                    </a:moveTo>
                    <a:lnTo>
                      <a:pt x="240" y="67"/>
                    </a:lnTo>
                    <a:lnTo>
                      <a:pt x="307" y="269"/>
                    </a:lnTo>
                    <a:lnTo>
                      <a:pt x="307" y="539"/>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1" name="Freeform 47">
                <a:extLst>
                  <a:ext uri="{FF2B5EF4-FFF2-40B4-BE49-F238E27FC236}">
                    <a16:creationId xmlns:a16="http://schemas.microsoft.com/office/drawing/2014/main" id="{85DDF48A-26D7-3B8C-4957-A69F0D07C5E4}"/>
                  </a:ext>
                </a:extLst>
              </p:cNvPr>
              <p:cNvSpPr>
                <a:spLocks/>
              </p:cNvSpPr>
              <p:nvPr/>
            </p:nvSpPr>
            <p:spPr bwMode="auto">
              <a:xfrm>
                <a:off x="4481513" y="2298700"/>
                <a:ext cx="447675" cy="569913"/>
              </a:xfrm>
              <a:custGeom>
                <a:avLst/>
                <a:gdLst>
                  <a:gd name="T0" fmla="*/ 0 w 307"/>
                  <a:gd name="T1" fmla="*/ 2147483646 h 441"/>
                  <a:gd name="T2" fmla="*/ 2147483646 w 307"/>
                  <a:gd name="T3" fmla="*/ 2147483646 h 441"/>
                  <a:gd name="T4" fmla="*/ 2147483646 w 307"/>
                  <a:gd name="T5" fmla="*/ 0 h 441"/>
                  <a:gd name="T6" fmla="*/ 0 60000 65536"/>
                  <a:gd name="T7" fmla="*/ 0 60000 65536"/>
                  <a:gd name="T8" fmla="*/ 0 60000 65536"/>
                  <a:gd name="T9" fmla="*/ 0 w 307"/>
                  <a:gd name="T10" fmla="*/ 0 h 441"/>
                  <a:gd name="T11" fmla="*/ 307 w 307"/>
                  <a:gd name="T12" fmla="*/ 441 h 441"/>
                </a:gdLst>
                <a:ahLst/>
                <a:cxnLst>
                  <a:cxn ang="T6">
                    <a:pos x="T0" y="T1"/>
                  </a:cxn>
                  <a:cxn ang="T7">
                    <a:pos x="T2" y="T3"/>
                  </a:cxn>
                  <a:cxn ang="T8">
                    <a:pos x="T4" y="T5"/>
                  </a:cxn>
                </a:cxnLst>
                <a:rect l="T9" t="T10" r="T11" b="T12"/>
                <a:pathLst>
                  <a:path w="307" h="441">
                    <a:moveTo>
                      <a:pt x="0" y="441"/>
                    </a:moveTo>
                    <a:lnTo>
                      <a:pt x="307" y="269"/>
                    </a:lnTo>
                    <a:lnTo>
                      <a:pt x="307"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2" name="Line 48">
                <a:extLst>
                  <a:ext uri="{FF2B5EF4-FFF2-40B4-BE49-F238E27FC236}">
                    <a16:creationId xmlns:a16="http://schemas.microsoft.com/office/drawing/2014/main" id="{3F9D289A-45AA-4421-EC3B-89BFC83088FE}"/>
                  </a:ext>
                </a:extLst>
              </p:cNvPr>
              <p:cNvSpPr>
                <a:spLocks noChangeShapeType="1"/>
              </p:cNvSpPr>
              <p:nvPr/>
            </p:nvSpPr>
            <p:spPr bwMode="auto">
              <a:xfrm>
                <a:off x="3500438" y="2298700"/>
                <a:ext cx="2212975"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Freeform 49">
                <a:extLst>
                  <a:ext uri="{FF2B5EF4-FFF2-40B4-BE49-F238E27FC236}">
                    <a16:creationId xmlns:a16="http://schemas.microsoft.com/office/drawing/2014/main" id="{881224F8-CFA6-65A7-1A37-FBC21D9A78EE}"/>
                  </a:ext>
                </a:extLst>
              </p:cNvPr>
              <p:cNvSpPr>
                <a:spLocks/>
              </p:cNvSpPr>
              <p:nvPr/>
            </p:nvSpPr>
            <p:spPr bwMode="auto">
              <a:xfrm>
                <a:off x="5713413" y="2209800"/>
                <a:ext cx="98425" cy="174625"/>
              </a:xfrm>
              <a:custGeom>
                <a:avLst/>
                <a:gdLst>
                  <a:gd name="T0" fmla="*/ 2147483646 w 68"/>
                  <a:gd name="T1" fmla="*/ 2147483646 h 135"/>
                  <a:gd name="T2" fmla="*/ 0 w 68"/>
                  <a:gd name="T3" fmla="*/ 0 h 135"/>
                  <a:gd name="T4" fmla="*/ 0 w 68"/>
                  <a:gd name="T5" fmla="*/ 2147483646 h 135"/>
                  <a:gd name="T6" fmla="*/ 2147483646 w 68"/>
                  <a:gd name="T7" fmla="*/ 2147483646 h 135"/>
                  <a:gd name="T8" fmla="*/ 0 60000 65536"/>
                  <a:gd name="T9" fmla="*/ 0 60000 65536"/>
                  <a:gd name="T10" fmla="*/ 0 60000 65536"/>
                  <a:gd name="T11" fmla="*/ 0 60000 65536"/>
                  <a:gd name="T12" fmla="*/ 0 w 68"/>
                  <a:gd name="T13" fmla="*/ 0 h 135"/>
                  <a:gd name="T14" fmla="*/ 68 w 68"/>
                  <a:gd name="T15" fmla="*/ 135 h 135"/>
                </a:gdLst>
                <a:ahLst/>
                <a:cxnLst>
                  <a:cxn ang="T8">
                    <a:pos x="T0" y="T1"/>
                  </a:cxn>
                  <a:cxn ang="T9">
                    <a:pos x="T2" y="T3"/>
                  </a:cxn>
                  <a:cxn ang="T10">
                    <a:pos x="T4" y="T5"/>
                  </a:cxn>
                  <a:cxn ang="T11">
                    <a:pos x="T6" y="T7"/>
                  </a:cxn>
                </a:cxnLst>
                <a:rect l="T12" t="T13" r="T14" b="T15"/>
                <a:pathLst>
                  <a:path w="68" h="135">
                    <a:moveTo>
                      <a:pt x="68" y="68"/>
                    </a:moveTo>
                    <a:lnTo>
                      <a:pt x="0" y="0"/>
                    </a:lnTo>
                    <a:lnTo>
                      <a:pt x="0" y="135"/>
                    </a:lnTo>
                    <a:lnTo>
                      <a:pt x="68" y="68"/>
                    </a:lnTo>
                    <a:close/>
                  </a:path>
                </a:pathLst>
              </a:custGeom>
              <a:solidFill>
                <a:schemeClr val="accent1"/>
              </a:solidFill>
              <a:ln w="11113">
                <a:solidFill>
                  <a:srgbClr val="000000"/>
                </a:solidFill>
                <a:round/>
                <a:headEnd/>
                <a:tailEnd/>
              </a:ln>
            </p:spPr>
            <p:txBody>
              <a:bodyPr/>
              <a:lstStyle/>
              <a:p>
                <a:endParaRPr lang="en-US"/>
              </a:p>
            </p:txBody>
          </p:sp>
          <p:sp>
            <p:nvSpPr>
              <p:cNvPr id="54" name="Rectangle 50">
                <a:extLst>
                  <a:ext uri="{FF2B5EF4-FFF2-40B4-BE49-F238E27FC236}">
                    <a16:creationId xmlns:a16="http://schemas.microsoft.com/office/drawing/2014/main" id="{8AA2CFB3-F049-867C-934D-3F5076E0C849}"/>
                  </a:ext>
                </a:extLst>
              </p:cNvPr>
              <p:cNvSpPr>
                <a:spLocks noChangeArrowheads="1"/>
              </p:cNvSpPr>
              <p:nvPr/>
            </p:nvSpPr>
            <p:spPr bwMode="auto">
              <a:xfrm>
                <a:off x="3309938" y="1479550"/>
                <a:ext cx="295275" cy="263525"/>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55" name="Rectangle 51">
                <a:extLst>
                  <a:ext uri="{FF2B5EF4-FFF2-40B4-BE49-F238E27FC236}">
                    <a16:creationId xmlns:a16="http://schemas.microsoft.com/office/drawing/2014/main" id="{22E7C074-D1C4-ED99-4D65-17C21B11B729}"/>
                  </a:ext>
                </a:extLst>
              </p:cNvPr>
              <p:cNvSpPr>
                <a:spLocks noChangeArrowheads="1"/>
              </p:cNvSpPr>
              <p:nvPr/>
            </p:nvSpPr>
            <p:spPr bwMode="auto">
              <a:xfrm>
                <a:off x="3657600" y="1827213"/>
                <a:ext cx="296863" cy="263525"/>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56" name="Rectangle 52">
                <a:extLst>
                  <a:ext uri="{FF2B5EF4-FFF2-40B4-BE49-F238E27FC236}">
                    <a16:creationId xmlns:a16="http://schemas.microsoft.com/office/drawing/2014/main" id="{96C9F359-628B-73DF-0A95-E8F4AE5DAABA}"/>
                  </a:ext>
                </a:extLst>
              </p:cNvPr>
              <p:cNvSpPr>
                <a:spLocks noChangeArrowheads="1"/>
              </p:cNvSpPr>
              <p:nvPr/>
            </p:nvSpPr>
            <p:spPr bwMode="auto">
              <a:xfrm>
                <a:off x="3309938" y="2174875"/>
                <a:ext cx="295275" cy="26352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57" name="Rectangle 53">
                <a:extLst>
                  <a:ext uri="{FF2B5EF4-FFF2-40B4-BE49-F238E27FC236}">
                    <a16:creationId xmlns:a16="http://schemas.microsoft.com/office/drawing/2014/main" id="{017190E7-280A-A0F7-A4BA-26930BD6F4EC}"/>
                  </a:ext>
                </a:extLst>
              </p:cNvPr>
              <p:cNvSpPr>
                <a:spLocks noChangeArrowheads="1"/>
              </p:cNvSpPr>
              <p:nvPr/>
            </p:nvSpPr>
            <p:spPr bwMode="auto">
              <a:xfrm>
                <a:off x="3800475" y="2174875"/>
                <a:ext cx="295275" cy="26352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58" name="Rectangle 54">
                <a:extLst>
                  <a:ext uri="{FF2B5EF4-FFF2-40B4-BE49-F238E27FC236}">
                    <a16:creationId xmlns:a16="http://schemas.microsoft.com/office/drawing/2014/main" id="{8CE48CC1-B99B-3B62-853E-58D6D61A210D}"/>
                  </a:ext>
                </a:extLst>
              </p:cNvPr>
              <p:cNvSpPr>
                <a:spLocks noChangeArrowheads="1"/>
              </p:cNvSpPr>
              <p:nvPr/>
            </p:nvSpPr>
            <p:spPr bwMode="auto">
              <a:xfrm>
                <a:off x="4291013" y="2174875"/>
                <a:ext cx="295275" cy="26352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59" name="Rectangle 55">
                <a:extLst>
                  <a:ext uri="{FF2B5EF4-FFF2-40B4-BE49-F238E27FC236}">
                    <a16:creationId xmlns:a16="http://schemas.microsoft.com/office/drawing/2014/main" id="{59307EEC-D663-8C99-8345-82A630D111D6}"/>
                  </a:ext>
                </a:extLst>
              </p:cNvPr>
              <p:cNvSpPr>
                <a:spLocks noChangeArrowheads="1"/>
              </p:cNvSpPr>
              <p:nvPr/>
            </p:nvSpPr>
            <p:spPr bwMode="auto">
              <a:xfrm>
                <a:off x="4779963" y="2174875"/>
                <a:ext cx="296862" cy="26352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0" name="Rectangle 56">
                <a:extLst>
                  <a:ext uri="{FF2B5EF4-FFF2-40B4-BE49-F238E27FC236}">
                    <a16:creationId xmlns:a16="http://schemas.microsoft.com/office/drawing/2014/main" id="{3535CECF-E7B0-7403-F137-4B617F4F33A2}"/>
                  </a:ext>
                </a:extLst>
              </p:cNvPr>
              <p:cNvSpPr>
                <a:spLocks noChangeArrowheads="1"/>
              </p:cNvSpPr>
              <p:nvPr/>
            </p:nvSpPr>
            <p:spPr bwMode="auto">
              <a:xfrm>
                <a:off x="5270500" y="2174875"/>
                <a:ext cx="296863" cy="263525"/>
              </a:xfrm>
              <a:prstGeom prst="rect">
                <a:avLst/>
              </a:prstGeom>
              <a:solidFill>
                <a:schemeClr val="accent5"/>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1" name="Rectangle 57">
                <a:extLst>
                  <a:ext uri="{FF2B5EF4-FFF2-40B4-BE49-F238E27FC236}">
                    <a16:creationId xmlns:a16="http://schemas.microsoft.com/office/drawing/2014/main" id="{2E027A1E-FA3E-3FA3-AA20-05B640F2179E}"/>
                  </a:ext>
                </a:extLst>
              </p:cNvPr>
              <p:cNvSpPr>
                <a:spLocks noChangeArrowheads="1"/>
              </p:cNvSpPr>
              <p:nvPr/>
            </p:nvSpPr>
            <p:spPr bwMode="auto">
              <a:xfrm>
                <a:off x="4387850" y="1479550"/>
                <a:ext cx="296863" cy="263525"/>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2" name="Rectangle 58">
                <a:extLst>
                  <a:ext uri="{FF2B5EF4-FFF2-40B4-BE49-F238E27FC236}">
                    <a16:creationId xmlns:a16="http://schemas.microsoft.com/office/drawing/2014/main" id="{0C1810ED-DBC5-504F-7B31-A59BBC56675C}"/>
                  </a:ext>
                </a:extLst>
              </p:cNvPr>
              <p:cNvSpPr>
                <a:spLocks noChangeArrowheads="1"/>
              </p:cNvSpPr>
              <p:nvPr/>
            </p:nvSpPr>
            <p:spPr bwMode="auto">
              <a:xfrm>
                <a:off x="4779963" y="1827213"/>
                <a:ext cx="296862" cy="263525"/>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3" name="Rectangle 59">
                <a:extLst>
                  <a:ext uri="{FF2B5EF4-FFF2-40B4-BE49-F238E27FC236}">
                    <a16:creationId xmlns:a16="http://schemas.microsoft.com/office/drawing/2014/main" id="{135851AA-3161-5163-E771-38C50C7B81BE}"/>
                  </a:ext>
                </a:extLst>
              </p:cNvPr>
              <p:cNvSpPr>
                <a:spLocks noChangeArrowheads="1"/>
              </p:cNvSpPr>
              <p:nvPr/>
            </p:nvSpPr>
            <p:spPr bwMode="auto">
              <a:xfrm>
                <a:off x="4779963" y="2524125"/>
                <a:ext cx="296862" cy="261938"/>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4" name="Rectangle 60">
                <a:extLst>
                  <a:ext uri="{FF2B5EF4-FFF2-40B4-BE49-F238E27FC236}">
                    <a16:creationId xmlns:a16="http://schemas.microsoft.com/office/drawing/2014/main" id="{2B313193-6AB4-6BB8-5CF2-3D7D1870454A}"/>
                  </a:ext>
                </a:extLst>
              </p:cNvPr>
              <p:cNvSpPr>
                <a:spLocks noChangeArrowheads="1"/>
              </p:cNvSpPr>
              <p:nvPr/>
            </p:nvSpPr>
            <p:spPr bwMode="auto">
              <a:xfrm>
                <a:off x="4387850" y="2736850"/>
                <a:ext cx="296863" cy="261938"/>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5" name="Rectangle 61">
                <a:extLst>
                  <a:ext uri="{FF2B5EF4-FFF2-40B4-BE49-F238E27FC236}">
                    <a16:creationId xmlns:a16="http://schemas.microsoft.com/office/drawing/2014/main" id="{E82C6DDC-3304-C90D-FBE6-36619DD5071B}"/>
                  </a:ext>
                </a:extLst>
              </p:cNvPr>
              <p:cNvSpPr>
                <a:spLocks noChangeArrowheads="1"/>
              </p:cNvSpPr>
              <p:nvPr/>
            </p:nvSpPr>
            <p:spPr bwMode="auto">
              <a:xfrm>
                <a:off x="3800475" y="2524125"/>
                <a:ext cx="295275" cy="261938"/>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6" name="Rectangle 62">
                <a:extLst>
                  <a:ext uri="{FF2B5EF4-FFF2-40B4-BE49-F238E27FC236}">
                    <a16:creationId xmlns:a16="http://schemas.microsoft.com/office/drawing/2014/main" id="{C544BCAB-DB06-7AE1-5B4A-77AC65C1E2F3}"/>
                  </a:ext>
                </a:extLst>
              </p:cNvPr>
              <p:cNvSpPr>
                <a:spLocks noChangeArrowheads="1"/>
              </p:cNvSpPr>
              <p:nvPr/>
            </p:nvSpPr>
            <p:spPr bwMode="auto">
              <a:xfrm>
                <a:off x="3309938" y="2784475"/>
                <a:ext cx="295275" cy="263525"/>
              </a:xfrm>
              <a:prstGeom prst="rect">
                <a:avLst/>
              </a:prstGeom>
              <a:solidFill>
                <a:schemeClr val="bg2"/>
              </a:solidFill>
              <a:ln w="19050">
                <a:solidFill>
                  <a:srgbClr val="000066"/>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67" name="TextBox 85">
                <a:extLst>
                  <a:ext uri="{FF2B5EF4-FFF2-40B4-BE49-F238E27FC236}">
                    <a16:creationId xmlns:a16="http://schemas.microsoft.com/office/drawing/2014/main" id="{29A2E99C-BC3B-B3F2-B893-93E164F07801}"/>
                  </a:ext>
                </a:extLst>
              </p:cNvPr>
              <p:cNvSpPr txBox="1">
                <a:spLocks noChangeArrowheads="1"/>
              </p:cNvSpPr>
              <p:nvPr/>
            </p:nvSpPr>
            <p:spPr bwMode="auto">
              <a:xfrm>
                <a:off x="4819650" y="1258888"/>
                <a:ext cx="11191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0"/>
                  </a:spcBef>
                  <a:spcAft>
                    <a:spcPct val="0"/>
                  </a:spcAft>
                  <a:buClrTx/>
                  <a:buSzTx/>
                  <a:buFontTx/>
                  <a:buNone/>
                </a:pPr>
                <a:r>
                  <a:rPr lang="en-GB" altLang="en-US" sz="1400"/>
                  <a:t>Fishbone Line</a:t>
                </a:r>
              </a:p>
            </p:txBody>
          </p:sp>
          <p:sp>
            <p:nvSpPr>
              <p:cNvPr id="68" name="Freeform 25">
                <a:extLst>
                  <a:ext uri="{FF2B5EF4-FFF2-40B4-BE49-F238E27FC236}">
                    <a16:creationId xmlns:a16="http://schemas.microsoft.com/office/drawing/2014/main" id="{05867532-D41D-4C92-12E6-47DAF7ABF7B1}"/>
                  </a:ext>
                </a:extLst>
              </p:cNvPr>
              <p:cNvSpPr>
                <a:spLocks/>
              </p:cNvSpPr>
              <p:nvPr/>
            </p:nvSpPr>
            <p:spPr bwMode="auto">
              <a:xfrm rot="5400000">
                <a:off x="3176588" y="1550988"/>
                <a:ext cx="157162" cy="93662"/>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p>
            </p:txBody>
          </p:sp>
          <p:sp>
            <p:nvSpPr>
              <p:cNvPr id="69" name="Freeform 25">
                <a:extLst>
                  <a:ext uri="{FF2B5EF4-FFF2-40B4-BE49-F238E27FC236}">
                    <a16:creationId xmlns:a16="http://schemas.microsoft.com/office/drawing/2014/main" id="{5CB498F5-C078-D12F-8F89-90BD00332300}"/>
                  </a:ext>
                </a:extLst>
              </p:cNvPr>
              <p:cNvSpPr>
                <a:spLocks/>
              </p:cNvSpPr>
              <p:nvPr/>
            </p:nvSpPr>
            <p:spPr bwMode="auto">
              <a:xfrm rot="5400000">
                <a:off x="4254500" y="2822575"/>
                <a:ext cx="157163" cy="93663"/>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p>
            </p:txBody>
          </p:sp>
          <p:sp>
            <p:nvSpPr>
              <p:cNvPr id="70" name="Freeform 25">
                <a:extLst>
                  <a:ext uri="{FF2B5EF4-FFF2-40B4-BE49-F238E27FC236}">
                    <a16:creationId xmlns:a16="http://schemas.microsoft.com/office/drawing/2014/main" id="{8A7DFD05-4CE8-20C9-49D1-F70DB8A982E1}"/>
                  </a:ext>
                </a:extLst>
              </p:cNvPr>
              <p:cNvSpPr>
                <a:spLocks/>
              </p:cNvSpPr>
              <p:nvPr/>
            </p:nvSpPr>
            <p:spPr bwMode="auto">
              <a:xfrm rot="5400000">
                <a:off x="4246562" y="1543051"/>
                <a:ext cx="155575" cy="95250"/>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p>
            </p:txBody>
          </p:sp>
          <p:sp>
            <p:nvSpPr>
              <p:cNvPr id="71" name="Freeform 25">
                <a:extLst>
                  <a:ext uri="{FF2B5EF4-FFF2-40B4-BE49-F238E27FC236}">
                    <a16:creationId xmlns:a16="http://schemas.microsoft.com/office/drawing/2014/main" id="{486716DB-8622-00D6-3F00-3400D4F283BD}"/>
                  </a:ext>
                </a:extLst>
              </p:cNvPr>
              <p:cNvSpPr>
                <a:spLocks/>
              </p:cNvSpPr>
              <p:nvPr/>
            </p:nvSpPr>
            <p:spPr bwMode="auto">
              <a:xfrm rot="5400000">
                <a:off x="3172619" y="2858294"/>
                <a:ext cx="155575" cy="93663"/>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p>
            </p:txBody>
          </p:sp>
          <p:sp>
            <p:nvSpPr>
              <p:cNvPr id="72" name="Freeform 25">
                <a:extLst>
                  <a:ext uri="{FF2B5EF4-FFF2-40B4-BE49-F238E27FC236}">
                    <a16:creationId xmlns:a16="http://schemas.microsoft.com/office/drawing/2014/main" id="{9C30F2AC-6057-74C3-E13C-DCF0959B2406}"/>
                  </a:ext>
                </a:extLst>
              </p:cNvPr>
              <p:cNvSpPr>
                <a:spLocks/>
              </p:cNvSpPr>
              <p:nvPr/>
            </p:nvSpPr>
            <p:spPr bwMode="auto">
              <a:xfrm rot="5400000">
                <a:off x="3183731" y="2256632"/>
                <a:ext cx="157163" cy="95250"/>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p>
            </p:txBody>
          </p:sp>
          <p:sp>
            <p:nvSpPr>
              <p:cNvPr id="73" name="TextBox 119">
                <a:extLst>
                  <a:ext uri="{FF2B5EF4-FFF2-40B4-BE49-F238E27FC236}">
                    <a16:creationId xmlns:a16="http://schemas.microsoft.com/office/drawing/2014/main" id="{2673F3BA-64CD-B3BC-B921-5680F7F64617}"/>
                  </a:ext>
                </a:extLst>
              </p:cNvPr>
              <p:cNvSpPr txBox="1">
                <a:spLocks noChangeArrowheads="1"/>
              </p:cNvSpPr>
              <p:nvPr/>
            </p:nvSpPr>
            <p:spPr bwMode="auto">
              <a:xfrm>
                <a:off x="2850931" y="5567423"/>
                <a:ext cx="330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dirty="0"/>
                  <a:t>Town houses, not ranch houses</a:t>
                </a:r>
              </a:p>
            </p:txBody>
          </p:sp>
          <p:grpSp>
            <p:nvGrpSpPr>
              <p:cNvPr id="74" name="Group 124">
                <a:extLst>
                  <a:ext uri="{FF2B5EF4-FFF2-40B4-BE49-F238E27FC236}">
                    <a16:creationId xmlns:a16="http://schemas.microsoft.com/office/drawing/2014/main" id="{D315C917-AD4A-5C4E-0608-7A8C20AD3040}"/>
                  </a:ext>
                </a:extLst>
              </p:cNvPr>
              <p:cNvGrpSpPr>
                <a:grpSpLocks/>
              </p:cNvGrpSpPr>
              <p:nvPr/>
            </p:nvGrpSpPr>
            <p:grpSpPr bwMode="auto">
              <a:xfrm rot="2700000">
                <a:off x="3328194" y="3823494"/>
                <a:ext cx="327025" cy="328613"/>
                <a:chOff x="5200200" y="4136701"/>
                <a:chExt cx="327025" cy="327503"/>
              </a:xfrm>
            </p:grpSpPr>
            <p:sp>
              <p:nvSpPr>
                <p:cNvPr id="75" name="Oval 53">
                  <a:extLst>
                    <a:ext uri="{FF2B5EF4-FFF2-40B4-BE49-F238E27FC236}">
                      <a16:creationId xmlns:a16="http://schemas.microsoft.com/office/drawing/2014/main" id="{5C63A3C7-8989-66AB-C2B7-020CBC8B2FE2}"/>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76" name="AutoShape 54">
                  <a:extLst>
                    <a:ext uri="{FF2B5EF4-FFF2-40B4-BE49-F238E27FC236}">
                      <a16:creationId xmlns:a16="http://schemas.microsoft.com/office/drawing/2014/main" id="{2A9B89C3-958C-4949-BB49-BEE4F5490560}"/>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77" name="Group 125">
                <a:extLst>
                  <a:ext uri="{FF2B5EF4-FFF2-40B4-BE49-F238E27FC236}">
                    <a16:creationId xmlns:a16="http://schemas.microsoft.com/office/drawing/2014/main" id="{9ABE04BF-708B-35C3-D794-1E62FB4B5338}"/>
                  </a:ext>
                </a:extLst>
              </p:cNvPr>
              <p:cNvGrpSpPr>
                <a:grpSpLocks/>
              </p:cNvGrpSpPr>
              <p:nvPr/>
            </p:nvGrpSpPr>
            <p:grpSpPr bwMode="auto">
              <a:xfrm>
                <a:off x="1995488" y="1868488"/>
                <a:ext cx="327025" cy="327025"/>
                <a:chOff x="5200200" y="4136701"/>
                <a:chExt cx="327025" cy="327503"/>
              </a:xfrm>
            </p:grpSpPr>
            <p:sp>
              <p:nvSpPr>
                <p:cNvPr id="78" name="Oval 53">
                  <a:extLst>
                    <a:ext uri="{FF2B5EF4-FFF2-40B4-BE49-F238E27FC236}">
                      <a16:creationId xmlns:a16="http://schemas.microsoft.com/office/drawing/2014/main" id="{D10399E1-2D04-E026-B53C-32CD92EBB4BD}"/>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79" name="AutoShape 54">
                  <a:extLst>
                    <a:ext uri="{FF2B5EF4-FFF2-40B4-BE49-F238E27FC236}">
                      <a16:creationId xmlns:a16="http://schemas.microsoft.com/office/drawing/2014/main" id="{059D39FD-179E-375B-1AC1-53DD30A1C345}"/>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0" name="Group 128">
                <a:extLst>
                  <a:ext uri="{FF2B5EF4-FFF2-40B4-BE49-F238E27FC236}">
                    <a16:creationId xmlns:a16="http://schemas.microsoft.com/office/drawing/2014/main" id="{411B473A-B34C-DF0F-9702-ACEFA1537314}"/>
                  </a:ext>
                </a:extLst>
              </p:cNvPr>
              <p:cNvGrpSpPr>
                <a:grpSpLocks/>
              </p:cNvGrpSpPr>
              <p:nvPr/>
            </p:nvGrpSpPr>
            <p:grpSpPr bwMode="auto">
              <a:xfrm rot="-9318879">
                <a:off x="771525" y="2160588"/>
                <a:ext cx="327025" cy="327025"/>
                <a:chOff x="5200200" y="4136701"/>
                <a:chExt cx="327025" cy="327503"/>
              </a:xfrm>
            </p:grpSpPr>
            <p:sp>
              <p:nvSpPr>
                <p:cNvPr id="81" name="Oval 53">
                  <a:extLst>
                    <a:ext uri="{FF2B5EF4-FFF2-40B4-BE49-F238E27FC236}">
                      <a16:creationId xmlns:a16="http://schemas.microsoft.com/office/drawing/2014/main" id="{FA8BEEFC-3672-3EC3-22B8-DF1AF9AB42E7}"/>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82" name="AutoShape 54">
                  <a:extLst>
                    <a:ext uri="{FF2B5EF4-FFF2-40B4-BE49-F238E27FC236}">
                      <a16:creationId xmlns:a16="http://schemas.microsoft.com/office/drawing/2014/main" id="{72531369-602A-E7E5-0811-5145D880F170}"/>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3" name="Group 131">
                <a:extLst>
                  <a:ext uri="{FF2B5EF4-FFF2-40B4-BE49-F238E27FC236}">
                    <a16:creationId xmlns:a16="http://schemas.microsoft.com/office/drawing/2014/main" id="{F082B0BA-6F99-D5C9-3E9B-0C9597931E1B}"/>
                  </a:ext>
                </a:extLst>
              </p:cNvPr>
              <p:cNvGrpSpPr>
                <a:grpSpLocks/>
              </p:cNvGrpSpPr>
              <p:nvPr/>
            </p:nvGrpSpPr>
            <p:grpSpPr bwMode="auto">
              <a:xfrm rot="3691069">
                <a:off x="4468019" y="1858169"/>
                <a:ext cx="214312" cy="215900"/>
                <a:chOff x="5200200" y="4136701"/>
                <a:chExt cx="327025" cy="327503"/>
              </a:xfrm>
            </p:grpSpPr>
            <p:sp>
              <p:nvSpPr>
                <p:cNvPr id="84" name="Oval 53">
                  <a:extLst>
                    <a:ext uri="{FF2B5EF4-FFF2-40B4-BE49-F238E27FC236}">
                      <a16:creationId xmlns:a16="http://schemas.microsoft.com/office/drawing/2014/main" id="{F25C1ED5-A867-5A45-FD32-109EFB4EEB47}"/>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85" name="AutoShape 54">
                  <a:extLst>
                    <a:ext uri="{FF2B5EF4-FFF2-40B4-BE49-F238E27FC236}">
                      <a16:creationId xmlns:a16="http://schemas.microsoft.com/office/drawing/2014/main" id="{EA85031A-4793-5635-1FED-FF8DC2C39AA1}"/>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6" name="Group 143">
                <a:extLst>
                  <a:ext uri="{FF2B5EF4-FFF2-40B4-BE49-F238E27FC236}">
                    <a16:creationId xmlns:a16="http://schemas.microsoft.com/office/drawing/2014/main" id="{8F3B27E0-A279-075E-42F8-FC3A99C28761}"/>
                  </a:ext>
                </a:extLst>
              </p:cNvPr>
              <p:cNvGrpSpPr>
                <a:grpSpLocks/>
              </p:cNvGrpSpPr>
              <p:nvPr/>
            </p:nvGrpSpPr>
            <p:grpSpPr bwMode="auto">
              <a:xfrm rot="7281181">
                <a:off x="3357562" y="1870076"/>
                <a:ext cx="214313" cy="214312"/>
                <a:chOff x="5200200" y="4136701"/>
                <a:chExt cx="327025" cy="327503"/>
              </a:xfrm>
            </p:grpSpPr>
            <p:sp>
              <p:nvSpPr>
                <p:cNvPr id="87" name="Oval 53">
                  <a:extLst>
                    <a:ext uri="{FF2B5EF4-FFF2-40B4-BE49-F238E27FC236}">
                      <a16:creationId xmlns:a16="http://schemas.microsoft.com/office/drawing/2014/main" id="{53DB57EF-2338-4DF3-AD98-DF4C65B40F10}"/>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88" name="AutoShape 54">
                  <a:extLst>
                    <a:ext uri="{FF2B5EF4-FFF2-40B4-BE49-F238E27FC236}">
                      <a16:creationId xmlns:a16="http://schemas.microsoft.com/office/drawing/2014/main" id="{AEC244F4-4643-665E-86A7-6F8ECC80290E}"/>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89" name="Group 146">
                <a:extLst>
                  <a:ext uri="{FF2B5EF4-FFF2-40B4-BE49-F238E27FC236}">
                    <a16:creationId xmlns:a16="http://schemas.microsoft.com/office/drawing/2014/main" id="{0BD63E4D-D74F-3FCA-B932-8D7530B38412}"/>
                  </a:ext>
                </a:extLst>
              </p:cNvPr>
              <p:cNvGrpSpPr>
                <a:grpSpLocks/>
              </p:cNvGrpSpPr>
              <p:nvPr/>
            </p:nvGrpSpPr>
            <p:grpSpPr bwMode="auto">
              <a:xfrm rot="6672583">
                <a:off x="3505201" y="2522537"/>
                <a:ext cx="214312" cy="214313"/>
                <a:chOff x="5200200" y="4136701"/>
                <a:chExt cx="327025" cy="327503"/>
              </a:xfrm>
            </p:grpSpPr>
            <p:sp>
              <p:nvSpPr>
                <p:cNvPr id="90" name="Oval 53">
                  <a:extLst>
                    <a:ext uri="{FF2B5EF4-FFF2-40B4-BE49-F238E27FC236}">
                      <a16:creationId xmlns:a16="http://schemas.microsoft.com/office/drawing/2014/main" id="{A451E417-B8D1-6A53-D4AA-6DA3718C2F2F}"/>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91" name="AutoShape 54">
                  <a:extLst>
                    <a:ext uri="{FF2B5EF4-FFF2-40B4-BE49-F238E27FC236}">
                      <a16:creationId xmlns:a16="http://schemas.microsoft.com/office/drawing/2014/main" id="{B275970C-02FA-5A36-B07A-CC5515664480}"/>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2" name="Group 149">
                <a:extLst>
                  <a:ext uri="{FF2B5EF4-FFF2-40B4-BE49-F238E27FC236}">
                    <a16:creationId xmlns:a16="http://schemas.microsoft.com/office/drawing/2014/main" id="{158BEEF6-7439-F990-E392-537787CD3484}"/>
                  </a:ext>
                </a:extLst>
              </p:cNvPr>
              <p:cNvGrpSpPr>
                <a:grpSpLocks/>
              </p:cNvGrpSpPr>
              <p:nvPr/>
            </p:nvGrpSpPr>
            <p:grpSpPr bwMode="auto">
              <a:xfrm rot="162022">
                <a:off x="4454525" y="2457450"/>
                <a:ext cx="214313" cy="215900"/>
                <a:chOff x="5200200" y="4136701"/>
                <a:chExt cx="327025" cy="327503"/>
              </a:xfrm>
            </p:grpSpPr>
            <p:sp>
              <p:nvSpPr>
                <p:cNvPr id="93" name="Oval 53">
                  <a:extLst>
                    <a:ext uri="{FF2B5EF4-FFF2-40B4-BE49-F238E27FC236}">
                      <a16:creationId xmlns:a16="http://schemas.microsoft.com/office/drawing/2014/main" id="{FFDBDCED-98B5-FBA3-882F-A21E76670022}"/>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94" name="AutoShape 54">
                  <a:extLst>
                    <a:ext uri="{FF2B5EF4-FFF2-40B4-BE49-F238E27FC236}">
                      <a16:creationId xmlns:a16="http://schemas.microsoft.com/office/drawing/2014/main" id="{0C58313C-B045-136C-C5CC-85E76EC2C389}"/>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95" name="Group 152">
                <a:extLst>
                  <a:ext uri="{FF2B5EF4-FFF2-40B4-BE49-F238E27FC236}">
                    <a16:creationId xmlns:a16="http://schemas.microsoft.com/office/drawing/2014/main" id="{FC292807-7482-ED24-7D4B-1AC62BD00F98}"/>
                  </a:ext>
                </a:extLst>
              </p:cNvPr>
              <p:cNvGrpSpPr>
                <a:grpSpLocks/>
              </p:cNvGrpSpPr>
              <p:nvPr/>
            </p:nvGrpSpPr>
            <p:grpSpPr bwMode="auto">
              <a:xfrm>
                <a:off x="5327650" y="2439988"/>
                <a:ext cx="214313" cy="215900"/>
                <a:chOff x="5200200" y="4136701"/>
                <a:chExt cx="327025" cy="327503"/>
              </a:xfrm>
            </p:grpSpPr>
            <p:sp>
              <p:nvSpPr>
                <p:cNvPr id="96" name="Oval 53">
                  <a:extLst>
                    <a:ext uri="{FF2B5EF4-FFF2-40B4-BE49-F238E27FC236}">
                      <a16:creationId xmlns:a16="http://schemas.microsoft.com/office/drawing/2014/main" id="{9CA59EC3-4410-AF4B-21F5-D0E31796F8E6}"/>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97" name="AutoShape 54">
                  <a:extLst>
                    <a:ext uri="{FF2B5EF4-FFF2-40B4-BE49-F238E27FC236}">
                      <a16:creationId xmlns:a16="http://schemas.microsoft.com/office/drawing/2014/main" id="{88867E0D-5024-EE8D-FB81-EF9306EBBC08}"/>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sp>
            <p:nvSpPr>
              <p:cNvPr id="98" name="Donut 157">
                <a:extLst>
                  <a:ext uri="{FF2B5EF4-FFF2-40B4-BE49-F238E27FC236}">
                    <a16:creationId xmlns:a16="http://schemas.microsoft.com/office/drawing/2014/main" id="{DC9B2384-CCE2-6AEA-7AEE-6C740723D279}"/>
                  </a:ext>
                </a:extLst>
              </p:cNvPr>
              <p:cNvSpPr/>
              <p:nvPr/>
            </p:nvSpPr>
            <p:spPr bwMode="auto">
              <a:xfrm>
                <a:off x="6723163" y="3906837"/>
                <a:ext cx="1139825" cy="1141413"/>
              </a:xfrm>
              <a:prstGeom prst="donut">
                <a:avLst>
                  <a:gd name="adj" fmla="val 10780"/>
                </a:avLst>
              </a:prstGeom>
              <a:solidFill>
                <a:schemeClr val="accent6"/>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Arial" charset="0"/>
                  <a:ea typeface="+mn-ea"/>
                </a:endParaRPr>
              </a:p>
            </p:txBody>
          </p:sp>
        </p:grpSp>
        <p:sp>
          <p:nvSpPr>
            <p:cNvPr id="100" name="&quot;No&quot; Symbol 156">
              <a:extLst>
                <a:ext uri="{FF2B5EF4-FFF2-40B4-BE49-F238E27FC236}">
                  <a16:creationId xmlns:a16="http://schemas.microsoft.com/office/drawing/2014/main" id="{F4BF5741-1CCD-D199-B95E-73148C9B6905}"/>
                </a:ext>
              </a:extLst>
            </p:cNvPr>
            <p:cNvSpPr/>
            <p:nvPr/>
          </p:nvSpPr>
          <p:spPr bwMode="auto">
            <a:xfrm>
              <a:off x="8595078" y="2064989"/>
              <a:ext cx="1119187" cy="1119188"/>
            </a:xfrm>
            <a:prstGeom prst="noSmoking">
              <a:avLst>
                <a:gd name="adj" fmla="val 10014"/>
              </a:avLst>
            </a:prstGeom>
            <a:solidFill>
              <a:schemeClr val="accent1"/>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Arial" charset="0"/>
                <a:ea typeface="+mn-ea"/>
              </a:endParaRPr>
            </a:p>
          </p:txBody>
        </p:sp>
      </p:grpSp>
    </p:spTree>
    <p:extLst>
      <p:ext uri="{BB962C8B-B14F-4D97-AF65-F5344CB8AC3E}">
        <p14:creationId xmlns:p14="http://schemas.microsoft.com/office/powerpoint/2010/main" val="26613014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8. Layout equipment for ease of operator movement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70</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pSp>
        <p:nvGrpSpPr>
          <p:cNvPr id="251" name="Group 250">
            <a:extLst>
              <a:ext uri="{FF2B5EF4-FFF2-40B4-BE49-F238E27FC236}">
                <a16:creationId xmlns:a16="http://schemas.microsoft.com/office/drawing/2014/main" id="{F764FD3D-B33C-CFE9-6273-B435AAFDEB14}"/>
              </a:ext>
            </a:extLst>
          </p:cNvPr>
          <p:cNvGrpSpPr/>
          <p:nvPr/>
        </p:nvGrpSpPr>
        <p:grpSpPr>
          <a:xfrm>
            <a:off x="1443038" y="1899920"/>
            <a:ext cx="9305925" cy="4302443"/>
            <a:chOff x="193675" y="1282700"/>
            <a:chExt cx="8759825" cy="4919663"/>
          </a:xfrm>
        </p:grpSpPr>
        <p:sp>
          <p:nvSpPr>
            <p:cNvPr id="4" name="&quot;No&quot; Symbol 216">
              <a:extLst>
                <a:ext uri="{FF2B5EF4-FFF2-40B4-BE49-F238E27FC236}">
                  <a16:creationId xmlns:a16="http://schemas.microsoft.com/office/drawing/2014/main" id="{3F2F4AA5-220E-DFEB-6D26-A1D47AE7EB3E}"/>
                </a:ext>
              </a:extLst>
            </p:cNvPr>
            <p:cNvSpPr/>
            <p:nvPr/>
          </p:nvSpPr>
          <p:spPr bwMode="auto">
            <a:xfrm>
              <a:off x="7078663" y="1797050"/>
              <a:ext cx="1119187" cy="1117600"/>
            </a:xfrm>
            <a:prstGeom prst="noSmoking">
              <a:avLst>
                <a:gd name="adj" fmla="val 10014"/>
              </a:avLst>
            </a:prstGeom>
            <a:solidFill>
              <a:schemeClr val="accent1"/>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Arial" charset="0"/>
                <a:ea typeface="+mn-ea"/>
              </a:endParaRPr>
            </a:p>
          </p:txBody>
        </p:sp>
        <p:sp>
          <p:nvSpPr>
            <p:cNvPr id="5" name="Text Box 151">
              <a:extLst>
                <a:ext uri="{FF2B5EF4-FFF2-40B4-BE49-F238E27FC236}">
                  <a16:creationId xmlns:a16="http://schemas.microsoft.com/office/drawing/2014/main" id="{FF87D6B9-8F74-AC7D-ED24-047F8B41233E}"/>
                </a:ext>
              </a:extLst>
            </p:cNvPr>
            <p:cNvSpPr txBox="1">
              <a:spLocks noChangeArrowheads="1"/>
            </p:cNvSpPr>
            <p:nvPr/>
          </p:nvSpPr>
          <p:spPr bwMode="auto">
            <a:xfrm>
              <a:off x="5314950" y="4343400"/>
              <a:ext cx="241935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90000"/>
                </a:lnSpc>
                <a:spcBef>
                  <a:spcPct val="50000"/>
                </a:spcBef>
                <a:spcAft>
                  <a:spcPct val="0"/>
                </a:spcAft>
                <a:buClrTx/>
                <a:buSzTx/>
                <a:buFontTx/>
                <a:buNone/>
              </a:pPr>
              <a:r>
                <a:rPr lang="en-US" altLang="ja-JP" sz="1600"/>
                <a:t>Can change manning to suit demand.</a:t>
              </a:r>
            </a:p>
          </p:txBody>
        </p:sp>
        <p:sp>
          <p:nvSpPr>
            <p:cNvPr id="9" name="TextBox 162">
              <a:extLst>
                <a:ext uri="{FF2B5EF4-FFF2-40B4-BE49-F238E27FC236}">
                  <a16:creationId xmlns:a16="http://schemas.microsoft.com/office/drawing/2014/main" id="{52E346B4-785D-59B7-A050-73C0E4F5A395}"/>
                </a:ext>
              </a:extLst>
            </p:cNvPr>
            <p:cNvSpPr txBox="1">
              <a:spLocks noChangeArrowheads="1"/>
            </p:cNvSpPr>
            <p:nvPr/>
          </p:nvSpPr>
          <p:spPr bwMode="auto">
            <a:xfrm>
              <a:off x="4206875" y="5808663"/>
              <a:ext cx="4746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1600"/>
                <a:t>Remove obstruction to smooth human motion</a:t>
              </a:r>
            </a:p>
          </p:txBody>
        </p:sp>
        <p:grpSp>
          <p:nvGrpSpPr>
            <p:cNvPr id="10" name="Group 206">
              <a:extLst>
                <a:ext uri="{FF2B5EF4-FFF2-40B4-BE49-F238E27FC236}">
                  <a16:creationId xmlns:a16="http://schemas.microsoft.com/office/drawing/2014/main" id="{4DDAC115-FFAA-A284-7A33-F969AA41003E}"/>
                </a:ext>
              </a:extLst>
            </p:cNvPr>
            <p:cNvGrpSpPr>
              <a:grpSpLocks/>
            </p:cNvGrpSpPr>
            <p:nvPr/>
          </p:nvGrpSpPr>
          <p:grpSpPr bwMode="auto">
            <a:xfrm flipH="1" flipV="1">
              <a:off x="193675" y="1282700"/>
              <a:ext cx="6372225" cy="2362200"/>
              <a:chOff x="119063" y="1401763"/>
              <a:chExt cx="6371211" cy="2362200"/>
            </a:xfrm>
          </p:grpSpPr>
          <p:sp>
            <p:nvSpPr>
              <p:cNvPr id="11" name="Rectangle 4">
                <a:extLst>
                  <a:ext uri="{FF2B5EF4-FFF2-40B4-BE49-F238E27FC236}">
                    <a16:creationId xmlns:a16="http://schemas.microsoft.com/office/drawing/2014/main" id="{670ADE93-E47C-F560-B2BD-50406702282B}"/>
                  </a:ext>
                </a:extLst>
              </p:cNvPr>
              <p:cNvSpPr>
                <a:spLocks noChangeArrowheads="1"/>
              </p:cNvSpPr>
              <p:nvPr/>
            </p:nvSpPr>
            <p:spPr bwMode="auto">
              <a:xfrm rot="-3022080">
                <a:off x="1992313" y="1731963"/>
                <a:ext cx="1090613" cy="430213"/>
              </a:xfrm>
              <a:prstGeom prst="rect">
                <a:avLst/>
              </a:prstGeom>
              <a:solidFill>
                <a:srgbClr val="FFFFFF"/>
              </a:solidFill>
              <a:ln w="3810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 name="Line 5">
                <a:extLst>
                  <a:ext uri="{FF2B5EF4-FFF2-40B4-BE49-F238E27FC236}">
                    <a16:creationId xmlns:a16="http://schemas.microsoft.com/office/drawing/2014/main" id="{125E84E3-B7F2-9ADF-2202-CCE74B884BD3}"/>
                  </a:ext>
                </a:extLst>
              </p:cNvPr>
              <p:cNvSpPr>
                <a:spLocks noChangeShapeType="1"/>
              </p:cNvSpPr>
              <p:nvPr/>
            </p:nvSpPr>
            <p:spPr bwMode="auto">
              <a:xfrm rot="-3022080">
                <a:off x="2173288" y="2151063"/>
                <a:ext cx="0" cy="430213"/>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6">
                <a:extLst>
                  <a:ext uri="{FF2B5EF4-FFF2-40B4-BE49-F238E27FC236}">
                    <a16:creationId xmlns:a16="http://schemas.microsoft.com/office/drawing/2014/main" id="{A26C79AA-60EC-3236-3F01-5FB5B1810EDF}"/>
                  </a:ext>
                </a:extLst>
              </p:cNvPr>
              <p:cNvSpPr>
                <a:spLocks noChangeShapeType="1"/>
              </p:cNvSpPr>
              <p:nvPr/>
            </p:nvSpPr>
            <p:spPr bwMode="auto">
              <a:xfrm rot="-3022080">
                <a:off x="2263776" y="2047876"/>
                <a:ext cx="0" cy="42862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7">
                <a:extLst>
                  <a:ext uri="{FF2B5EF4-FFF2-40B4-BE49-F238E27FC236}">
                    <a16:creationId xmlns:a16="http://schemas.microsoft.com/office/drawing/2014/main" id="{C05F9E7B-20AF-037A-BAD0-6108904AE7B9}"/>
                  </a:ext>
                </a:extLst>
              </p:cNvPr>
              <p:cNvSpPr>
                <a:spLocks noChangeShapeType="1"/>
              </p:cNvSpPr>
              <p:nvPr/>
            </p:nvSpPr>
            <p:spPr bwMode="auto">
              <a:xfrm rot="-3022080">
                <a:off x="2354263" y="1943101"/>
                <a:ext cx="0" cy="42862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8">
                <a:extLst>
                  <a:ext uri="{FF2B5EF4-FFF2-40B4-BE49-F238E27FC236}">
                    <a16:creationId xmlns:a16="http://schemas.microsoft.com/office/drawing/2014/main" id="{7B453BED-1DBC-0469-C19E-C86E0DBD055E}"/>
                  </a:ext>
                </a:extLst>
              </p:cNvPr>
              <p:cNvSpPr>
                <a:spLocks noChangeShapeType="1"/>
              </p:cNvSpPr>
              <p:nvPr/>
            </p:nvSpPr>
            <p:spPr bwMode="auto">
              <a:xfrm rot="-3022080">
                <a:off x="2446338" y="1838326"/>
                <a:ext cx="0" cy="42862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2" name="Line 9">
                <a:extLst>
                  <a:ext uri="{FF2B5EF4-FFF2-40B4-BE49-F238E27FC236}">
                    <a16:creationId xmlns:a16="http://schemas.microsoft.com/office/drawing/2014/main" id="{0C9AFED8-3D44-D2E7-9DFE-0E1EAAC89FAE}"/>
                  </a:ext>
                </a:extLst>
              </p:cNvPr>
              <p:cNvSpPr>
                <a:spLocks noChangeShapeType="1"/>
              </p:cNvSpPr>
              <p:nvPr/>
            </p:nvSpPr>
            <p:spPr bwMode="auto">
              <a:xfrm rot="-3022080">
                <a:off x="2538413" y="1731963"/>
                <a:ext cx="0" cy="430213"/>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 name="Line 10">
                <a:extLst>
                  <a:ext uri="{FF2B5EF4-FFF2-40B4-BE49-F238E27FC236}">
                    <a16:creationId xmlns:a16="http://schemas.microsoft.com/office/drawing/2014/main" id="{65FAB57E-B911-488F-031B-C897CB12615D}"/>
                  </a:ext>
                </a:extLst>
              </p:cNvPr>
              <p:cNvSpPr>
                <a:spLocks noChangeShapeType="1"/>
              </p:cNvSpPr>
              <p:nvPr/>
            </p:nvSpPr>
            <p:spPr bwMode="auto">
              <a:xfrm rot="-3022080">
                <a:off x="2628901" y="1628776"/>
                <a:ext cx="0" cy="42862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 name="Line 11">
                <a:extLst>
                  <a:ext uri="{FF2B5EF4-FFF2-40B4-BE49-F238E27FC236}">
                    <a16:creationId xmlns:a16="http://schemas.microsoft.com/office/drawing/2014/main" id="{A88D6594-942A-0441-964D-B4EDCCB671AE}"/>
                  </a:ext>
                </a:extLst>
              </p:cNvPr>
              <p:cNvSpPr>
                <a:spLocks noChangeShapeType="1"/>
              </p:cNvSpPr>
              <p:nvPr/>
            </p:nvSpPr>
            <p:spPr bwMode="auto">
              <a:xfrm rot="-3022080">
                <a:off x="2719388" y="1522413"/>
                <a:ext cx="0" cy="42862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 name="Line 12">
                <a:extLst>
                  <a:ext uri="{FF2B5EF4-FFF2-40B4-BE49-F238E27FC236}">
                    <a16:creationId xmlns:a16="http://schemas.microsoft.com/office/drawing/2014/main" id="{E72411BF-05B2-7551-F5CB-155122B614E6}"/>
                  </a:ext>
                </a:extLst>
              </p:cNvPr>
              <p:cNvSpPr>
                <a:spLocks noChangeShapeType="1"/>
              </p:cNvSpPr>
              <p:nvPr/>
            </p:nvSpPr>
            <p:spPr bwMode="auto">
              <a:xfrm rot="-3022080">
                <a:off x="2811463" y="1417638"/>
                <a:ext cx="0" cy="42862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 name="Rectangle 13">
                <a:extLst>
                  <a:ext uri="{FF2B5EF4-FFF2-40B4-BE49-F238E27FC236}">
                    <a16:creationId xmlns:a16="http://schemas.microsoft.com/office/drawing/2014/main" id="{FABCA990-43B3-A913-072E-5DB8A81AE988}"/>
                  </a:ext>
                </a:extLst>
              </p:cNvPr>
              <p:cNvSpPr>
                <a:spLocks noChangeArrowheads="1"/>
              </p:cNvSpPr>
              <p:nvPr/>
            </p:nvSpPr>
            <p:spPr bwMode="auto">
              <a:xfrm rot="1821046">
                <a:off x="3025776" y="2754313"/>
                <a:ext cx="2146300" cy="409575"/>
              </a:xfrm>
              <a:prstGeom prst="rect">
                <a:avLst/>
              </a:prstGeom>
              <a:solidFill>
                <a:srgbClr val="FFFFFF"/>
              </a:solidFill>
              <a:ln w="3810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07" name="Line 14">
                <a:extLst>
                  <a:ext uri="{FF2B5EF4-FFF2-40B4-BE49-F238E27FC236}">
                    <a16:creationId xmlns:a16="http://schemas.microsoft.com/office/drawing/2014/main" id="{E2777EE6-783D-0C86-41F0-3E6ABA395C59}"/>
                  </a:ext>
                </a:extLst>
              </p:cNvPr>
              <p:cNvSpPr>
                <a:spLocks noChangeShapeType="1"/>
              </p:cNvSpPr>
              <p:nvPr/>
            </p:nvSpPr>
            <p:spPr bwMode="auto">
              <a:xfrm rot="1821046">
                <a:off x="3295651" y="2305051"/>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 name="Line 15">
                <a:extLst>
                  <a:ext uri="{FF2B5EF4-FFF2-40B4-BE49-F238E27FC236}">
                    <a16:creationId xmlns:a16="http://schemas.microsoft.com/office/drawing/2014/main" id="{9B62DC39-C0F4-18D5-A1A0-E19FAE1BE132}"/>
                  </a:ext>
                </a:extLst>
              </p:cNvPr>
              <p:cNvSpPr>
                <a:spLocks noChangeShapeType="1"/>
              </p:cNvSpPr>
              <p:nvPr/>
            </p:nvSpPr>
            <p:spPr bwMode="auto">
              <a:xfrm rot="1821046">
                <a:off x="3419476" y="2374901"/>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9" name="Line 16">
                <a:extLst>
                  <a:ext uri="{FF2B5EF4-FFF2-40B4-BE49-F238E27FC236}">
                    <a16:creationId xmlns:a16="http://schemas.microsoft.com/office/drawing/2014/main" id="{631B0179-0D49-7E4F-0E44-7327E29C80B0}"/>
                  </a:ext>
                </a:extLst>
              </p:cNvPr>
              <p:cNvSpPr>
                <a:spLocks noChangeShapeType="1"/>
              </p:cNvSpPr>
              <p:nvPr/>
            </p:nvSpPr>
            <p:spPr bwMode="auto">
              <a:xfrm rot="1821046">
                <a:off x="3543301" y="2443163"/>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 name="Line 17">
                <a:extLst>
                  <a:ext uri="{FF2B5EF4-FFF2-40B4-BE49-F238E27FC236}">
                    <a16:creationId xmlns:a16="http://schemas.microsoft.com/office/drawing/2014/main" id="{AC4082C3-DF3E-F7C4-F3A4-CC026292F5CF}"/>
                  </a:ext>
                </a:extLst>
              </p:cNvPr>
              <p:cNvSpPr>
                <a:spLocks noChangeShapeType="1"/>
              </p:cNvSpPr>
              <p:nvPr/>
            </p:nvSpPr>
            <p:spPr bwMode="auto">
              <a:xfrm rot="1821046">
                <a:off x="3667126" y="2513013"/>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1" name="Line 18">
                <a:extLst>
                  <a:ext uri="{FF2B5EF4-FFF2-40B4-BE49-F238E27FC236}">
                    <a16:creationId xmlns:a16="http://schemas.microsoft.com/office/drawing/2014/main" id="{34F8A2B8-B6E6-AFA5-1A06-CA223E2FFA77}"/>
                  </a:ext>
                </a:extLst>
              </p:cNvPr>
              <p:cNvSpPr>
                <a:spLocks noChangeShapeType="1"/>
              </p:cNvSpPr>
              <p:nvPr/>
            </p:nvSpPr>
            <p:spPr bwMode="auto">
              <a:xfrm rot="1821046">
                <a:off x="3789363" y="2581276"/>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 name="Line 19">
                <a:extLst>
                  <a:ext uri="{FF2B5EF4-FFF2-40B4-BE49-F238E27FC236}">
                    <a16:creationId xmlns:a16="http://schemas.microsoft.com/office/drawing/2014/main" id="{1B8D846E-C53C-CDFC-B0AD-EFADBDE3CE5C}"/>
                  </a:ext>
                </a:extLst>
              </p:cNvPr>
              <p:cNvSpPr>
                <a:spLocks noChangeShapeType="1"/>
              </p:cNvSpPr>
              <p:nvPr/>
            </p:nvSpPr>
            <p:spPr bwMode="auto">
              <a:xfrm rot="1821046">
                <a:off x="3913188" y="2651126"/>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 name="Line 20">
                <a:extLst>
                  <a:ext uri="{FF2B5EF4-FFF2-40B4-BE49-F238E27FC236}">
                    <a16:creationId xmlns:a16="http://schemas.microsoft.com/office/drawing/2014/main" id="{8CEA56E1-C2EC-C04B-5CAD-B1D89E1708DC}"/>
                  </a:ext>
                </a:extLst>
              </p:cNvPr>
              <p:cNvSpPr>
                <a:spLocks noChangeShapeType="1"/>
              </p:cNvSpPr>
              <p:nvPr/>
            </p:nvSpPr>
            <p:spPr bwMode="auto">
              <a:xfrm rot="1821046">
                <a:off x="4037013" y="2719388"/>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 name="Line 21">
                <a:extLst>
                  <a:ext uri="{FF2B5EF4-FFF2-40B4-BE49-F238E27FC236}">
                    <a16:creationId xmlns:a16="http://schemas.microsoft.com/office/drawing/2014/main" id="{419F8CFF-684B-C743-E6AC-4064537855C1}"/>
                  </a:ext>
                </a:extLst>
              </p:cNvPr>
              <p:cNvSpPr>
                <a:spLocks noChangeShapeType="1"/>
              </p:cNvSpPr>
              <p:nvPr/>
            </p:nvSpPr>
            <p:spPr bwMode="auto">
              <a:xfrm rot="1821046">
                <a:off x="4160838" y="2789238"/>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5" name="Line 22">
                <a:extLst>
                  <a:ext uri="{FF2B5EF4-FFF2-40B4-BE49-F238E27FC236}">
                    <a16:creationId xmlns:a16="http://schemas.microsoft.com/office/drawing/2014/main" id="{C57098E4-7359-D718-531E-28CE3FF8E84F}"/>
                  </a:ext>
                </a:extLst>
              </p:cNvPr>
              <p:cNvSpPr>
                <a:spLocks noChangeShapeType="1"/>
              </p:cNvSpPr>
              <p:nvPr/>
            </p:nvSpPr>
            <p:spPr bwMode="auto">
              <a:xfrm rot="1821046">
                <a:off x="4283076" y="2857501"/>
                <a:ext cx="0" cy="407988"/>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6" name="Line 23">
                <a:extLst>
                  <a:ext uri="{FF2B5EF4-FFF2-40B4-BE49-F238E27FC236}">
                    <a16:creationId xmlns:a16="http://schemas.microsoft.com/office/drawing/2014/main" id="{E1BFFB10-171E-266E-DE86-C8195F698419}"/>
                  </a:ext>
                </a:extLst>
              </p:cNvPr>
              <p:cNvSpPr>
                <a:spLocks noChangeShapeType="1"/>
              </p:cNvSpPr>
              <p:nvPr/>
            </p:nvSpPr>
            <p:spPr bwMode="auto">
              <a:xfrm rot="1821046">
                <a:off x="4406901" y="2927351"/>
                <a:ext cx="0" cy="407988"/>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7" name="Line 24">
                <a:extLst>
                  <a:ext uri="{FF2B5EF4-FFF2-40B4-BE49-F238E27FC236}">
                    <a16:creationId xmlns:a16="http://schemas.microsoft.com/office/drawing/2014/main" id="{0C3D1136-CA7D-7BAA-C764-809461797897}"/>
                  </a:ext>
                </a:extLst>
              </p:cNvPr>
              <p:cNvSpPr>
                <a:spLocks noChangeShapeType="1"/>
              </p:cNvSpPr>
              <p:nvPr/>
            </p:nvSpPr>
            <p:spPr bwMode="auto">
              <a:xfrm rot="1821046">
                <a:off x="4529138" y="2994026"/>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8" name="Line 25">
                <a:extLst>
                  <a:ext uri="{FF2B5EF4-FFF2-40B4-BE49-F238E27FC236}">
                    <a16:creationId xmlns:a16="http://schemas.microsoft.com/office/drawing/2014/main" id="{35CDECBB-92EA-CAC3-A6FE-F332C4853795}"/>
                  </a:ext>
                </a:extLst>
              </p:cNvPr>
              <p:cNvSpPr>
                <a:spLocks noChangeShapeType="1"/>
              </p:cNvSpPr>
              <p:nvPr/>
            </p:nvSpPr>
            <p:spPr bwMode="auto">
              <a:xfrm rot="1821046">
                <a:off x="4652963" y="3063876"/>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9" name="Line 26">
                <a:extLst>
                  <a:ext uri="{FF2B5EF4-FFF2-40B4-BE49-F238E27FC236}">
                    <a16:creationId xmlns:a16="http://schemas.microsoft.com/office/drawing/2014/main" id="{2F4D5D09-4A39-FBCB-B959-A731961918B3}"/>
                  </a:ext>
                </a:extLst>
              </p:cNvPr>
              <p:cNvSpPr>
                <a:spLocks noChangeShapeType="1"/>
              </p:cNvSpPr>
              <p:nvPr/>
            </p:nvSpPr>
            <p:spPr bwMode="auto">
              <a:xfrm rot="1821046">
                <a:off x="4776788" y="3132138"/>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0" name="Line 27">
                <a:extLst>
                  <a:ext uri="{FF2B5EF4-FFF2-40B4-BE49-F238E27FC236}">
                    <a16:creationId xmlns:a16="http://schemas.microsoft.com/office/drawing/2014/main" id="{44524940-F794-231E-4D30-F6F5959C2BE4}"/>
                  </a:ext>
                </a:extLst>
              </p:cNvPr>
              <p:cNvSpPr>
                <a:spLocks noChangeShapeType="1"/>
              </p:cNvSpPr>
              <p:nvPr/>
            </p:nvSpPr>
            <p:spPr bwMode="auto">
              <a:xfrm rot="1821046">
                <a:off x="4900613" y="3201988"/>
                <a:ext cx="0" cy="409575"/>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21" name="Rectangle 28">
                <a:extLst>
                  <a:ext uri="{FF2B5EF4-FFF2-40B4-BE49-F238E27FC236}">
                    <a16:creationId xmlns:a16="http://schemas.microsoft.com/office/drawing/2014/main" id="{25AC6316-5F52-65FE-B649-ABB6F211A791}"/>
                  </a:ext>
                </a:extLst>
              </p:cNvPr>
              <p:cNvSpPr>
                <a:spLocks noChangeArrowheads="1"/>
              </p:cNvSpPr>
              <p:nvPr/>
            </p:nvSpPr>
            <p:spPr bwMode="auto">
              <a:xfrm rot="-3426920">
                <a:off x="3630613" y="2606676"/>
                <a:ext cx="125413" cy="2857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22" name="Rectangle 29">
                <a:extLst>
                  <a:ext uri="{FF2B5EF4-FFF2-40B4-BE49-F238E27FC236}">
                    <a16:creationId xmlns:a16="http://schemas.microsoft.com/office/drawing/2014/main" id="{798B9254-8DFB-DE17-1356-08D8A2894999}"/>
                  </a:ext>
                </a:extLst>
              </p:cNvPr>
              <p:cNvSpPr>
                <a:spLocks noChangeArrowheads="1"/>
              </p:cNvSpPr>
              <p:nvPr/>
            </p:nvSpPr>
            <p:spPr bwMode="auto">
              <a:xfrm rot="-3426920">
                <a:off x="4035426" y="2811463"/>
                <a:ext cx="125413" cy="2857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23" name="Rectangle 30">
                <a:extLst>
                  <a:ext uri="{FF2B5EF4-FFF2-40B4-BE49-F238E27FC236}">
                    <a16:creationId xmlns:a16="http://schemas.microsoft.com/office/drawing/2014/main" id="{DB409874-19A8-CE16-8C28-BB5F2357385E}"/>
                  </a:ext>
                </a:extLst>
              </p:cNvPr>
              <p:cNvSpPr>
                <a:spLocks noChangeArrowheads="1"/>
              </p:cNvSpPr>
              <p:nvPr/>
            </p:nvSpPr>
            <p:spPr bwMode="auto">
              <a:xfrm rot="-3426920">
                <a:off x="4429126" y="3027363"/>
                <a:ext cx="125413" cy="2857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24" name="Rectangle 31">
                <a:extLst>
                  <a:ext uri="{FF2B5EF4-FFF2-40B4-BE49-F238E27FC236}">
                    <a16:creationId xmlns:a16="http://schemas.microsoft.com/office/drawing/2014/main" id="{5D1708E5-E3E0-C17B-F063-0FD0CEED56CB}"/>
                  </a:ext>
                </a:extLst>
              </p:cNvPr>
              <p:cNvSpPr>
                <a:spLocks noChangeArrowheads="1"/>
              </p:cNvSpPr>
              <p:nvPr/>
            </p:nvSpPr>
            <p:spPr bwMode="auto">
              <a:xfrm rot="-3426920">
                <a:off x="4786313" y="3243263"/>
                <a:ext cx="125413" cy="2857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25" name="Group 204">
                <a:extLst>
                  <a:ext uri="{FF2B5EF4-FFF2-40B4-BE49-F238E27FC236}">
                    <a16:creationId xmlns:a16="http://schemas.microsoft.com/office/drawing/2014/main" id="{186EE0BF-0D4F-3DB1-6B9C-ABE9CB7E56D6}"/>
                  </a:ext>
                </a:extLst>
              </p:cNvPr>
              <p:cNvGrpSpPr>
                <a:grpSpLocks/>
              </p:cNvGrpSpPr>
              <p:nvPr/>
            </p:nvGrpSpPr>
            <p:grpSpPr bwMode="auto">
              <a:xfrm>
                <a:off x="881063" y="2208213"/>
                <a:ext cx="5291138" cy="409575"/>
                <a:chOff x="881063" y="2208213"/>
                <a:chExt cx="5291138" cy="409575"/>
              </a:xfrm>
            </p:grpSpPr>
            <p:grpSp>
              <p:nvGrpSpPr>
                <p:cNvPr id="155" name="Group 33">
                  <a:extLst>
                    <a:ext uri="{FF2B5EF4-FFF2-40B4-BE49-F238E27FC236}">
                      <a16:creationId xmlns:a16="http://schemas.microsoft.com/office/drawing/2014/main" id="{8CFA3FB5-9C34-85DA-3B04-E942406BC4CC}"/>
                    </a:ext>
                  </a:extLst>
                </p:cNvPr>
                <p:cNvGrpSpPr>
                  <a:grpSpLocks/>
                </p:cNvGrpSpPr>
                <p:nvPr/>
              </p:nvGrpSpPr>
              <p:grpSpPr bwMode="auto">
                <a:xfrm>
                  <a:off x="881063" y="2208213"/>
                  <a:ext cx="5291138" cy="409575"/>
                  <a:chOff x="1104" y="1488"/>
                  <a:chExt cx="3552" cy="288"/>
                </a:xfrm>
              </p:grpSpPr>
              <p:sp>
                <p:nvSpPr>
                  <p:cNvPr id="173" name="Rectangle 34">
                    <a:extLst>
                      <a:ext uri="{FF2B5EF4-FFF2-40B4-BE49-F238E27FC236}">
                        <a16:creationId xmlns:a16="http://schemas.microsoft.com/office/drawing/2014/main" id="{73108457-5ED5-269A-19F9-11754FCF3937}"/>
                      </a:ext>
                    </a:extLst>
                  </p:cNvPr>
                  <p:cNvSpPr>
                    <a:spLocks noChangeArrowheads="1"/>
                  </p:cNvSpPr>
                  <p:nvPr/>
                </p:nvSpPr>
                <p:spPr bwMode="auto">
                  <a:xfrm>
                    <a:off x="1104" y="1488"/>
                    <a:ext cx="3552" cy="288"/>
                  </a:xfrm>
                  <a:prstGeom prst="rect">
                    <a:avLst/>
                  </a:prstGeom>
                  <a:solidFill>
                    <a:srgbClr val="FFFFFF"/>
                  </a:solidFill>
                  <a:ln w="3810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74" name="Group 35">
                    <a:extLst>
                      <a:ext uri="{FF2B5EF4-FFF2-40B4-BE49-F238E27FC236}">
                        <a16:creationId xmlns:a16="http://schemas.microsoft.com/office/drawing/2014/main" id="{A9FBA624-E878-E994-E6CD-AF6C1C57B86A}"/>
                      </a:ext>
                    </a:extLst>
                  </p:cNvPr>
                  <p:cNvGrpSpPr>
                    <a:grpSpLocks/>
                  </p:cNvGrpSpPr>
                  <p:nvPr/>
                </p:nvGrpSpPr>
                <p:grpSpPr bwMode="auto">
                  <a:xfrm>
                    <a:off x="1200" y="1488"/>
                    <a:ext cx="3360" cy="288"/>
                    <a:chOff x="1200" y="1536"/>
                    <a:chExt cx="3360" cy="240"/>
                  </a:xfrm>
                </p:grpSpPr>
                <p:sp>
                  <p:nvSpPr>
                    <p:cNvPr id="175" name="Line 36">
                      <a:extLst>
                        <a:ext uri="{FF2B5EF4-FFF2-40B4-BE49-F238E27FC236}">
                          <a16:creationId xmlns:a16="http://schemas.microsoft.com/office/drawing/2014/main" id="{22B23E84-1049-80A1-DA91-2A1A21FEC3A0}"/>
                        </a:ext>
                      </a:extLst>
                    </p:cNvPr>
                    <p:cNvSpPr>
                      <a:spLocks noChangeShapeType="1"/>
                    </p:cNvSpPr>
                    <p:nvPr/>
                  </p:nvSpPr>
                  <p:spPr bwMode="auto">
                    <a:xfrm>
                      <a:off x="120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6" name="Line 37">
                      <a:extLst>
                        <a:ext uri="{FF2B5EF4-FFF2-40B4-BE49-F238E27FC236}">
                          <a16:creationId xmlns:a16="http://schemas.microsoft.com/office/drawing/2014/main" id="{B01243A5-85B1-0F32-074E-F7B06804B958}"/>
                        </a:ext>
                      </a:extLst>
                    </p:cNvPr>
                    <p:cNvSpPr>
                      <a:spLocks noChangeShapeType="1"/>
                    </p:cNvSpPr>
                    <p:nvPr/>
                  </p:nvSpPr>
                  <p:spPr bwMode="auto">
                    <a:xfrm>
                      <a:off x="129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7" name="Line 38">
                      <a:extLst>
                        <a:ext uri="{FF2B5EF4-FFF2-40B4-BE49-F238E27FC236}">
                          <a16:creationId xmlns:a16="http://schemas.microsoft.com/office/drawing/2014/main" id="{6812EC2D-C955-934F-E590-10290243F374}"/>
                        </a:ext>
                      </a:extLst>
                    </p:cNvPr>
                    <p:cNvSpPr>
                      <a:spLocks noChangeShapeType="1"/>
                    </p:cNvSpPr>
                    <p:nvPr/>
                  </p:nvSpPr>
                  <p:spPr bwMode="auto">
                    <a:xfrm>
                      <a:off x="139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8" name="Line 39">
                      <a:extLst>
                        <a:ext uri="{FF2B5EF4-FFF2-40B4-BE49-F238E27FC236}">
                          <a16:creationId xmlns:a16="http://schemas.microsoft.com/office/drawing/2014/main" id="{B6C29F26-FF13-F246-E988-3DE0FD621F9C}"/>
                        </a:ext>
                      </a:extLst>
                    </p:cNvPr>
                    <p:cNvSpPr>
                      <a:spLocks noChangeShapeType="1"/>
                    </p:cNvSpPr>
                    <p:nvPr/>
                  </p:nvSpPr>
                  <p:spPr bwMode="auto">
                    <a:xfrm>
                      <a:off x="148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9" name="Line 40">
                      <a:extLst>
                        <a:ext uri="{FF2B5EF4-FFF2-40B4-BE49-F238E27FC236}">
                          <a16:creationId xmlns:a16="http://schemas.microsoft.com/office/drawing/2014/main" id="{5E9358D2-510F-59E7-C194-488403E8950E}"/>
                        </a:ext>
                      </a:extLst>
                    </p:cNvPr>
                    <p:cNvSpPr>
                      <a:spLocks noChangeShapeType="1"/>
                    </p:cNvSpPr>
                    <p:nvPr/>
                  </p:nvSpPr>
                  <p:spPr bwMode="auto">
                    <a:xfrm>
                      <a:off x="158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0" name="Line 41">
                      <a:extLst>
                        <a:ext uri="{FF2B5EF4-FFF2-40B4-BE49-F238E27FC236}">
                          <a16:creationId xmlns:a16="http://schemas.microsoft.com/office/drawing/2014/main" id="{9EE6B932-0384-7293-E2AB-0019EBA98EBB}"/>
                        </a:ext>
                      </a:extLst>
                    </p:cNvPr>
                    <p:cNvSpPr>
                      <a:spLocks noChangeShapeType="1"/>
                    </p:cNvSpPr>
                    <p:nvPr/>
                  </p:nvSpPr>
                  <p:spPr bwMode="auto">
                    <a:xfrm>
                      <a:off x="168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1" name="Line 42">
                      <a:extLst>
                        <a:ext uri="{FF2B5EF4-FFF2-40B4-BE49-F238E27FC236}">
                          <a16:creationId xmlns:a16="http://schemas.microsoft.com/office/drawing/2014/main" id="{066A4D0F-1B52-E74A-7FF0-1BBC50D48EAD}"/>
                        </a:ext>
                      </a:extLst>
                    </p:cNvPr>
                    <p:cNvSpPr>
                      <a:spLocks noChangeShapeType="1"/>
                    </p:cNvSpPr>
                    <p:nvPr/>
                  </p:nvSpPr>
                  <p:spPr bwMode="auto">
                    <a:xfrm>
                      <a:off x="177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2" name="Line 43">
                      <a:extLst>
                        <a:ext uri="{FF2B5EF4-FFF2-40B4-BE49-F238E27FC236}">
                          <a16:creationId xmlns:a16="http://schemas.microsoft.com/office/drawing/2014/main" id="{1D90B9B6-09CF-0D22-3C75-EEA59D6765EF}"/>
                        </a:ext>
                      </a:extLst>
                    </p:cNvPr>
                    <p:cNvSpPr>
                      <a:spLocks noChangeShapeType="1"/>
                    </p:cNvSpPr>
                    <p:nvPr/>
                  </p:nvSpPr>
                  <p:spPr bwMode="auto">
                    <a:xfrm>
                      <a:off x="187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3" name="Line 44">
                      <a:extLst>
                        <a:ext uri="{FF2B5EF4-FFF2-40B4-BE49-F238E27FC236}">
                          <a16:creationId xmlns:a16="http://schemas.microsoft.com/office/drawing/2014/main" id="{E8C1D507-7FD1-FEA9-1F5F-E95BC23727BA}"/>
                        </a:ext>
                      </a:extLst>
                    </p:cNvPr>
                    <p:cNvSpPr>
                      <a:spLocks noChangeShapeType="1"/>
                    </p:cNvSpPr>
                    <p:nvPr/>
                  </p:nvSpPr>
                  <p:spPr bwMode="auto">
                    <a:xfrm>
                      <a:off x="196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4" name="Line 45">
                      <a:extLst>
                        <a:ext uri="{FF2B5EF4-FFF2-40B4-BE49-F238E27FC236}">
                          <a16:creationId xmlns:a16="http://schemas.microsoft.com/office/drawing/2014/main" id="{74931892-012C-C426-AB9B-633C12D96DAB}"/>
                        </a:ext>
                      </a:extLst>
                    </p:cNvPr>
                    <p:cNvSpPr>
                      <a:spLocks noChangeShapeType="1"/>
                    </p:cNvSpPr>
                    <p:nvPr/>
                  </p:nvSpPr>
                  <p:spPr bwMode="auto">
                    <a:xfrm>
                      <a:off x="206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5" name="Line 46">
                      <a:extLst>
                        <a:ext uri="{FF2B5EF4-FFF2-40B4-BE49-F238E27FC236}">
                          <a16:creationId xmlns:a16="http://schemas.microsoft.com/office/drawing/2014/main" id="{72B918A6-D40D-00A4-C7C9-A1A303089DC2}"/>
                        </a:ext>
                      </a:extLst>
                    </p:cNvPr>
                    <p:cNvSpPr>
                      <a:spLocks noChangeShapeType="1"/>
                    </p:cNvSpPr>
                    <p:nvPr/>
                  </p:nvSpPr>
                  <p:spPr bwMode="auto">
                    <a:xfrm>
                      <a:off x="216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6" name="Line 47">
                      <a:extLst>
                        <a:ext uri="{FF2B5EF4-FFF2-40B4-BE49-F238E27FC236}">
                          <a16:creationId xmlns:a16="http://schemas.microsoft.com/office/drawing/2014/main" id="{ED5FB558-C206-20E0-6E09-880E2DF9F674}"/>
                        </a:ext>
                      </a:extLst>
                    </p:cNvPr>
                    <p:cNvSpPr>
                      <a:spLocks noChangeShapeType="1"/>
                    </p:cNvSpPr>
                    <p:nvPr/>
                  </p:nvSpPr>
                  <p:spPr bwMode="auto">
                    <a:xfrm>
                      <a:off x="225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7" name="Line 48">
                      <a:extLst>
                        <a:ext uri="{FF2B5EF4-FFF2-40B4-BE49-F238E27FC236}">
                          <a16:creationId xmlns:a16="http://schemas.microsoft.com/office/drawing/2014/main" id="{7A6A42ED-CB7B-B8C5-B712-2351877BF4CE}"/>
                        </a:ext>
                      </a:extLst>
                    </p:cNvPr>
                    <p:cNvSpPr>
                      <a:spLocks noChangeShapeType="1"/>
                    </p:cNvSpPr>
                    <p:nvPr/>
                  </p:nvSpPr>
                  <p:spPr bwMode="auto">
                    <a:xfrm>
                      <a:off x="235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8" name="Line 49">
                      <a:extLst>
                        <a:ext uri="{FF2B5EF4-FFF2-40B4-BE49-F238E27FC236}">
                          <a16:creationId xmlns:a16="http://schemas.microsoft.com/office/drawing/2014/main" id="{93508BD9-F109-9324-9401-ED700CBE95B1}"/>
                        </a:ext>
                      </a:extLst>
                    </p:cNvPr>
                    <p:cNvSpPr>
                      <a:spLocks noChangeShapeType="1"/>
                    </p:cNvSpPr>
                    <p:nvPr/>
                  </p:nvSpPr>
                  <p:spPr bwMode="auto">
                    <a:xfrm>
                      <a:off x="244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9" name="Line 50">
                      <a:extLst>
                        <a:ext uri="{FF2B5EF4-FFF2-40B4-BE49-F238E27FC236}">
                          <a16:creationId xmlns:a16="http://schemas.microsoft.com/office/drawing/2014/main" id="{73BCC748-5EC6-392F-F228-17E1413D922A}"/>
                        </a:ext>
                      </a:extLst>
                    </p:cNvPr>
                    <p:cNvSpPr>
                      <a:spLocks noChangeShapeType="1"/>
                    </p:cNvSpPr>
                    <p:nvPr/>
                  </p:nvSpPr>
                  <p:spPr bwMode="auto">
                    <a:xfrm>
                      <a:off x="254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0" name="Line 51">
                      <a:extLst>
                        <a:ext uri="{FF2B5EF4-FFF2-40B4-BE49-F238E27FC236}">
                          <a16:creationId xmlns:a16="http://schemas.microsoft.com/office/drawing/2014/main" id="{B7961D3C-49D3-AD52-BD5C-DBD69DF88991}"/>
                        </a:ext>
                      </a:extLst>
                    </p:cNvPr>
                    <p:cNvSpPr>
                      <a:spLocks noChangeShapeType="1"/>
                    </p:cNvSpPr>
                    <p:nvPr/>
                  </p:nvSpPr>
                  <p:spPr bwMode="auto">
                    <a:xfrm>
                      <a:off x="264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1" name="Line 52">
                      <a:extLst>
                        <a:ext uri="{FF2B5EF4-FFF2-40B4-BE49-F238E27FC236}">
                          <a16:creationId xmlns:a16="http://schemas.microsoft.com/office/drawing/2014/main" id="{3388AE38-3BAD-B947-C253-9199CB6C5723}"/>
                        </a:ext>
                      </a:extLst>
                    </p:cNvPr>
                    <p:cNvSpPr>
                      <a:spLocks noChangeShapeType="1"/>
                    </p:cNvSpPr>
                    <p:nvPr/>
                  </p:nvSpPr>
                  <p:spPr bwMode="auto">
                    <a:xfrm>
                      <a:off x="273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2" name="Line 53">
                      <a:extLst>
                        <a:ext uri="{FF2B5EF4-FFF2-40B4-BE49-F238E27FC236}">
                          <a16:creationId xmlns:a16="http://schemas.microsoft.com/office/drawing/2014/main" id="{3ED4DA84-A8B0-2ECF-2D49-7459FC463268}"/>
                        </a:ext>
                      </a:extLst>
                    </p:cNvPr>
                    <p:cNvSpPr>
                      <a:spLocks noChangeShapeType="1"/>
                    </p:cNvSpPr>
                    <p:nvPr/>
                  </p:nvSpPr>
                  <p:spPr bwMode="auto">
                    <a:xfrm>
                      <a:off x="283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3" name="Line 54">
                      <a:extLst>
                        <a:ext uri="{FF2B5EF4-FFF2-40B4-BE49-F238E27FC236}">
                          <a16:creationId xmlns:a16="http://schemas.microsoft.com/office/drawing/2014/main" id="{52B451B6-BF8A-02EE-490F-1BFBCA984220}"/>
                        </a:ext>
                      </a:extLst>
                    </p:cNvPr>
                    <p:cNvSpPr>
                      <a:spLocks noChangeShapeType="1"/>
                    </p:cNvSpPr>
                    <p:nvPr/>
                  </p:nvSpPr>
                  <p:spPr bwMode="auto">
                    <a:xfrm>
                      <a:off x="292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4" name="Line 55">
                      <a:extLst>
                        <a:ext uri="{FF2B5EF4-FFF2-40B4-BE49-F238E27FC236}">
                          <a16:creationId xmlns:a16="http://schemas.microsoft.com/office/drawing/2014/main" id="{1C221F99-6A22-10BB-2B08-ED8FF0F53409}"/>
                        </a:ext>
                      </a:extLst>
                    </p:cNvPr>
                    <p:cNvSpPr>
                      <a:spLocks noChangeShapeType="1"/>
                    </p:cNvSpPr>
                    <p:nvPr/>
                  </p:nvSpPr>
                  <p:spPr bwMode="auto">
                    <a:xfrm>
                      <a:off x="302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5" name="Line 56">
                      <a:extLst>
                        <a:ext uri="{FF2B5EF4-FFF2-40B4-BE49-F238E27FC236}">
                          <a16:creationId xmlns:a16="http://schemas.microsoft.com/office/drawing/2014/main" id="{961F569F-1589-E1E4-F193-93E800394875}"/>
                        </a:ext>
                      </a:extLst>
                    </p:cNvPr>
                    <p:cNvSpPr>
                      <a:spLocks noChangeShapeType="1"/>
                    </p:cNvSpPr>
                    <p:nvPr/>
                  </p:nvSpPr>
                  <p:spPr bwMode="auto">
                    <a:xfrm>
                      <a:off x="312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6" name="Line 57">
                      <a:extLst>
                        <a:ext uri="{FF2B5EF4-FFF2-40B4-BE49-F238E27FC236}">
                          <a16:creationId xmlns:a16="http://schemas.microsoft.com/office/drawing/2014/main" id="{4A125CB4-4EB0-F7DC-7C63-4F47A3F714E2}"/>
                        </a:ext>
                      </a:extLst>
                    </p:cNvPr>
                    <p:cNvSpPr>
                      <a:spLocks noChangeShapeType="1"/>
                    </p:cNvSpPr>
                    <p:nvPr/>
                  </p:nvSpPr>
                  <p:spPr bwMode="auto">
                    <a:xfrm>
                      <a:off x="321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7" name="Line 58">
                      <a:extLst>
                        <a:ext uri="{FF2B5EF4-FFF2-40B4-BE49-F238E27FC236}">
                          <a16:creationId xmlns:a16="http://schemas.microsoft.com/office/drawing/2014/main" id="{051080FF-86B3-C153-F92F-1D120E5AB07F}"/>
                        </a:ext>
                      </a:extLst>
                    </p:cNvPr>
                    <p:cNvSpPr>
                      <a:spLocks noChangeShapeType="1"/>
                    </p:cNvSpPr>
                    <p:nvPr/>
                  </p:nvSpPr>
                  <p:spPr bwMode="auto">
                    <a:xfrm>
                      <a:off x="331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8" name="Line 59">
                      <a:extLst>
                        <a:ext uri="{FF2B5EF4-FFF2-40B4-BE49-F238E27FC236}">
                          <a16:creationId xmlns:a16="http://schemas.microsoft.com/office/drawing/2014/main" id="{04969401-756B-F07D-6A37-7970DFD794C9}"/>
                        </a:ext>
                      </a:extLst>
                    </p:cNvPr>
                    <p:cNvSpPr>
                      <a:spLocks noChangeShapeType="1"/>
                    </p:cNvSpPr>
                    <p:nvPr/>
                  </p:nvSpPr>
                  <p:spPr bwMode="auto">
                    <a:xfrm>
                      <a:off x="340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9" name="Line 60">
                      <a:extLst>
                        <a:ext uri="{FF2B5EF4-FFF2-40B4-BE49-F238E27FC236}">
                          <a16:creationId xmlns:a16="http://schemas.microsoft.com/office/drawing/2014/main" id="{60645FAD-FBD4-BE57-6F74-C709466FF111}"/>
                        </a:ext>
                      </a:extLst>
                    </p:cNvPr>
                    <p:cNvSpPr>
                      <a:spLocks noChangeShapeType="1"/>
                    </p:cNvSpPr>
                    <p:nvPr/>
                  </p:nvSpPr>
                  <p:spPr bwMode="auto">
                    <a:xfrm>
                      <a:off x="350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0" name="Line 61">
                      <a:extLst>
                        <a:ext uri="{FF2B5EF4-FFF2-40B4-BE49-F238E27FC236}">
                          <a16:creationId xmlns:a16="http://schemas.microsoft.com/office/drawing/2014/main" id="{26467E82-62A9-0F03-7B4B-7AF340DBBC35}"/>
                        </a:ext>
                      </a:extLst>
                    </p:cNvPr>
                    <p:cNvSpPr>
                      <a:spLocks noChangeShapeType="1"/>
                    </p:cNvSpPr>
                    <p:nvPr/>
                  </p:nvSpPr>
                  <p:spPr bwMode="auto">
                    <a:xfrm>
                      <a:off x="360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1" name="Line 62">
                      <a:extLst>
                        <a:ext uri="{FF2B5EF4-FFF2-40B4-BE49-F238E27FC236}">
                          <a16:creationId xmlns:a16="http://schemas.microsoft.com/office/drawing/2014/main" id="{A35A39D4-7542-DDED-7288-2ED6BB7F0294}"/>
                        </a:ext>
                      </a:extLst>
                    </p:cNvPr>
                    <p:cNvSpPr>
                      <a:spLocks noChangeShapeType="1"/>
                    </p:cNvSpPr>
                    <p:nvPr/>
                  </p:nvSpPr>
                  <p:spPr bwMode="auto">
                    <a:xfrm>
                      <a:off x="369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2" name="Line 63">
                      <a:extLst>
                        <a:ext uri="{FF2B5EF4-FFF2-40B4-BE49-F238E27FC236}">
                          <a16:creationId xmlns:a16="http://schemas.microsoft.com/office/drawing/2014/main" id="{C1B5D329-3007-3273-BB46-B6F55703EC45}"/>
                        </a:ext>
                      </a:extLst>
                    </p:cNvPr>
                    <p:cNvSpPr>
                      <a:spLocks noChangeShapeType="1"/>
                    </p:cNvSpPr>
                    <p:nvPr/>
                  </p:nvSpPr>
                  <p:spPr bwMode="auto">
                    <a:xfrm>
                      <a:off x="379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3" name="Line 64">
                      <a:extLst>
                        <a:ext uri="{FF2B5EF4-FFF2-40B4-BE49-F238E27FC236}">
                          <a16:creationId xmlns:a16="http://schemas.microsoft.com/office/drawing/2014/main" id="{4E4650DA-18E6-7730-FF24-A6D8B1889323}"/>
                        </a:ext>
                      </a:extLst>
                    </p:cNvPr>
                    <p:cNvSpPr>
                      <a:spLocks noChangeShapeType="1"/>
                    </p:cNvSpPr>
                    <p:nvPr/>
                  </p:nvSpPr>
                  <p:spPr bwMode="auto">
                    <a:xfrm>
                      <a:off x="388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4" name="Line 65">
                      <a:extLst>
                        <a:ext uri="{FF2B5EF4-FFF2-40B4-BE49-F238E27FC236}">
                          <a16:creationId xmlns:a16="http://schemas.microsoft.com/office/drawing/2014/main" id="{1CE886E7-F962-8590-3094-33887026ADEC}"/>
                        </a:ext>
                      </a:extLst>
                    </p:cNvPr>
                    <p:cNvSpPr>
                      <a:spLocks noChangeShapeType="1"/>
                    </p:cNvSpPr>
                    <p:nvPr/>
                  </p:nvSpPr>
                  <p:spPr bwMode="auto">
                    <a:xfrm>
                      <a:off x="398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 name="Line 66">
                      <a:extLst>
                        <a:ext uri="{FF2B5EF4-FFF2-40B4-BE49-F238E27FC236}">
                          <a16:creationId xmlns:a16="http://schemas.microsoft.com/office/drawing/2014/main" id="{3187F7CD-92C1-D6B8-5294-61DA3F1FFDC7}"/>
                        </a:ext>
                      </a:extLst>
                    </p:cNvPr>
                    <p:cNvSpPr>
                      <a:spLocks noChangeShapeType="1"/>
                    </p:cNvSpPr>
                    <p:nvPr/>
                  </p:nvSpPr>
                  <p:spPr bwMode="auto">
                    <a:xfrm>
                      <a:off x="408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6" name="Line 67">
                      <a:extLst>
                        <a:ext uri="{FF2B5EF4-FFF2-40B4-BE49-F238E27FC236}">
                          <a16:creationId xmlns:a16="http://schemas.microsoft.com/office/drawing/2014/main" id="{25E9775C-58AA-9146-25EB-74FD7CC293E2}"/>
                        </a:ext>
                      </a:extLst>
                    </p:cNvPr>
                    <p:cNvSpPr>
                      <a:spLocks noChangeShapeType="1"/>
                    </p:cNvSpPr>
                    <p:nvPr/>
                  </p:nvSpPr>
                  <p:spPr bwMode="auto">
                    <a:xfrm>
                      <a:off x="4176"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7" name="Line 68">
                      <a:extLst>
                        <a:ext uri="{FF2B5EF4-FFF2-40B4-BE49-F238E27FC236}">
                          <a16:creationId xmlns:a16="http://schemas.microsoft.com/office/drawing/2014/main" id="{55C8EBD9-3C37-6741-BDA5-10899A7F52B9}"/>
                        </a:ext>
                      </a:extLst>
                    </p:cNvPr>
                    <p:cNvSpPr>
                      <a:spLocks noChangeShapeType="1"/>
                    </p:cNvSpPr>
                    <p:nvPr/>
                  </p:nvSpPr>
                  <p:spPr bwMode="auto">
                    <a:xfrm>
                      <a:off x="4272"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8" name="Line 69">
                      <a:extLst>
                        <a:ext uri="{FF2B5EF4-FFF2-40B4-BE49-F238E27FC236}">
                          <a16:creationId xmlns:a16="http://schemas.microsoft.com/office/drawing/2014/main" id="{1705A192-0DBD-09BC-EA63-89B6FBAB9E7D}"/>
                        </a:ext>
                      </a:extLst>
                    </p:cNvPr>
                    <p:cNvSpPr>
                      <a:spLocks noChangeShapeType="1"/>
                    </p:cNvSpPr>
                    <p:nvPr/>
                  </p:nvSpPr>
                  <p:spPr bwMode="auto">
                    <a:xfrm>
                      <a:off x="4368"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9" name="Line 70">
                      <a:extLst>
                        <a:ext uri="{FF2B5EF4-FFF2-40B4-BE49-F238E27FC236}">
                          <a16:creationId xmlns:a16="http://schemas.microsoft.com/office/drawing/2014/main" id="{2237A904-4DFD-17D9-9F9D-1D97CDC1AC78}"/>
                        </a:ext>
                      </a:extLst>
                    </p:cNvPr>
                    <p:cNvSpPr>
                      <a:spLocks noChangeShapeType="1"/>
                    </p:cNvSpPr>
                    <p:nvPr/>
                  </p:nvSpPr>
                  <p:spPr bwMode="auto">
                    <a:xfrm>
                      <a:off x="4464"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0" name="Line 71">
                      <a:extLst>
                        <a:ext uri="{FF2B5EF4-FFF2-40B4-BE49-F238E27FC236}">
                          <a16:creationId xmlns:a16="http://schemas.microsoft.com/office/drawing/2014/main" id="{E8FE40AA-1FEF-291C-9B0F-944569623C99}"/>
                        </a:ext>
                      </a:extLst>
                    </p:cNvPr>
                    <p:cNvSpPr>
                      <a:spLocks noChangeShapeType="1"/>
                    </p:cNvSpPr>
                    <p:nvPr/>
                  </p:nvSpPr>
                  <p:spPr bwMode="auto">
                    <a:xfrm>
                      <a:off x="4560" y="1536"/>
                      <a:ext cx="0" cy="24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56" name="Rectangle 72">
                  <a:extLst>
                    <a:ext uri="{FF2B5EF4-FFF2-40B4-BE49-F238E27FC236}">
                      <a16:creationId xmlns:a16="http://schemas.microsoft.com/office/drawing/2014/main" id="{DB087A61-648B-6EE4-6D0F-03D3B37A1CE1}"/>
                    </a:ext>
                  </a:extLst>
                </p:cNvPr>
                <p:cNvSpPr>
                  <a:spLocks noChangeArrowheads="1"/>
                </p:cNvSpPr>
                <p:nvPr/>
              </p:nvSpPr>
              <p:spPr bwMode="auto">
                <a:xfrm>
                  <a:off x="5743576"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7" name="Rectangle 73">
                  <a:extLst>
                    <a:ext uri="{FF2B5EF4-FFF2-40B4-BE49-F238E27FC236}">
                      <a16:creationId xmlns:a16="http://schemas.microsoft.com/office/drawing/2014/main" id="{5011CF52-F6B1-BAB4-07FE-C91BB9B52EB2}"/>
                    </a:ext>
                  </a:extLst>
                </p:cNvPr>
                <p:cNvSpPr>
                  <a:spLocks noChangeArrowheads="1"/>
                </p:cNvSpPr>
                <p:nvPr/>
              </p:nvSpPr>
              <p:spPr bwMode="auto">
                <a:xfrm>
                  <a:off x="5241926" y="2276476"/>
                  <a:ext cx="287338"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8" name="Rectangle 74">
                  <a:extLst>
                    <a:ext uri="{FF2B5EF4-FFF2-40B4-BE49-F238E27FC236}">
                      <a16:creationId xmlns:a16="http://schemas.microsoft.com/office/drawing/2014/main" id="{7CE91523-A516-04E2-21FF-7766BE50BA3F}"/>
                    </a:ext>
                  </a:extLst>
                </p:cNvPr>
                <p:cNvSpPr>
                  <a:spLocks noChangeArrowheads="1"/>
                </p:cNvSpPr>
                <p:nvPr/>
              </p:nvSpPr>
              <p:spPr bwMode="auto">
                <a:xfrm>
                  <a:off x="4813301"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9" name="Rectangle 75">
                  <a:extLst>
                    <a:ext uri="{FF2B5EF4-FFF2-40B4-BE49-F238E27FC236}">
                      <a16:creationId xmlns:a16="http://schemas.microsoft.com/office/drawing/2014/main" id="{E06FAC2A-CD16-9D4A-03AF-B02F74C76402}"/>
                    </a:ext>
                  </a:extLst>
                </p:cNvPr>
                <p:cNvSpPr>
                  <a:spLocks noChangeArrowheads="1"/>
                </p:cNvSpPr>
                <p:nvPr/>
              </p:nvSpPr>
              <p:spPr bwMode="auto">
                <a:xfrm>
                  <a:off x="4313238"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0" name="Rectangle 76">
                  <a:extLst>
                    <a:ext uri="{FF2B5EF4-FFF2-40B4-BE49-F238E27FC236}">
                      <a16:creationId xmlns:a16="http://schemas.microsoft.com/office/drawing/2014/main" id="{FBDA5F63-36ED-4381-F86E-CE5B8C6A4AE9}"/>
                    </a:ext>
                  </a:extLst>
                </p:cNvPr>
                <p:cNvSpPr>
                  <a:spLocks noChangeArrowheads="1"/>
                </p:cNvSpPr>
                <p:nvPr/>
              </p:nvSpPr>
              <p:spPr bwMode="auto">
                <a:xfrm>
                  <a:off x="3884613"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1" name="Rectangle 77">
                  <a:extLst>
                    <a:ext uri="{FF2B5EF4-FFF2-40B4-BE49-F238E27FC236}">
                      <a16:creationId xmlns:a16="http://schemas.microsoft.com/office/drawing/2014/main" id="{B5D17DE4-8A46-04FE-FD94-BD98A74BB9D8}"/>
                    </a:ext>
                  </a:extLst>
                </p:cNvPr>
                <p:cNvSpPr>
                  <a:spLocks noChangeArrowheads="1"/>
                </p:cNvSpPr>
                <p:nvPr/>
              </p:nvSpPr>
              <p:spPr bwMode="auto">
                <a:xfrm>
                  <a:off x="3382963" y="2276476"/>
                  <a:ext cx="287338"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2" name="Rectangle 78">
                  <a:extLst>
                    <a:ext uri="{FF2B5EF4-FFF2-40B4-BE49-F238E27FC236}">
                      <a16:creationId xmlns:a16="http://schemas.microsoft.com/office/drawing/2014/main" id="{A9931CD1-55EC-AF0D-81AF-5A6ABDC2CAB5}"/>
                    </a:ext>
                  </a:extLst>
                </p:cNvPr>
                <p:cNvSpPr>
                  <a:spLocks noChangeArrowheads="1"/>
                </p:cNvSpPr>
                <p:nvPr/>
              </p:nvSpPr>
              <p:spPr bwMode="auto">
                <a:xfrm>
                  <a:off x="2954338"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3" name="Rectangle 79">
                  <a:extLst>
                    <a:ext uri="{FF2B5EF4-FFF2-40B4-BE49-F238E27FC236}">
                      <a16:creationId xmlns:a16="http://schemas.microsoft.com/office/drawing/2014/main" id="{000C83A6-7BEA-61F6-A83F-D74094175D5E}"/>
                    </a:ext>
                  </a:extLst>
                </p:cNvPr>
                <p:cNvSpPr>
                  <a:spLocks noChangeArrowheads="1"/>
                </p:cNvSpPr>
                <p:nvPr/>
              </p:nvSpPr>
              <p:spPr bwMode="auto">
                <a:xfrm>
                  <a:off x="2454276"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4" name="Rectangle 80">
                  <a:extLst>
                    <a:ext uri="{FF2B5EF4-FFF2-40B4-BE49-F238E27FC236}">
                      <a16:creationId xmlns:a16="http://schemas.microsoft.com/office/drawing/2014/main" id="{430E73B4-A480-1696-370C-6BB7519575F1}"/>
                    </a:ext>
                  </a:extLst>
                </p:cNvPr>
                <p:cNvSpPr>
                  <a:spLocks noChangeArrowheads="1"/>
                </p:cNvSpPr>
                <p:nvPr/>
              </p:nvSpPr>
              <p:spPr bwMode="auto">
                <a:xfrm>
                  <a:off x="2025651"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5" name="Rectangle 81">
                  <a:extLst>
                    <a:ext uri="{FF2B5EF4-FFF2-40B4-BE49-F238E27FC236}">
                      <a16:creationId xmlns:a16="http://schemas.microsoft.com/office/drawing/2014/main" id="{6ACE9F42-134A-D3FD-FDAF-C42E9911B40D}"/>
                    </a:ext>
                  </a:extLst>
                </p:cNvPr>
                <p:cNvSpPr>
                  <a:spLocks noChangeArrowheads="1"/>
                </p:cNvSpPr>
                <p:nvPr/>
              </p:nvSpPr>
              <p:spPr bwMode="auto">
                <a:xfrm>
                  <a:off x="1095376" y="2276476"/>
                  <a:ext cx="285750" cy="273050"/>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6" name="Rectangle 82">
                  <a:extLst>
                    <a:ext uri="{FF2B5EF4-FFF2-40B4-BE49-F238E27FC236}">
                      <a16:creationId xmlns:a16="http://schemas.microsoft.com/office/drawing/2014/main" id="{1E0C8C92-3621-23C9-5C31-79C944E47A6A}"/>
                    </a:ext>
                  </a:extLst>
                </p:cNvPr>
                <p:cNvSpPr>
                  <a:spLocks noChangeArrowheads="1"/>
                </p:cNvSpPr>
                <p:nvPr/>
              </p:nvSpPr>
              <p:spPr bwMode="auto">
                <a:xfrm>
                  <a:off x="3380795" y="2276476"/>
                  <a:ext cx="131763" cy="2730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7" name="Rectangle 83">
                  <a:extLst>
                    <a:ext uri="{FF2B5EF4-FFF2-40B4-BE49-F238E27FC236}">
                      <a16:creationId xmlns:a16="http://schemas.microsoft.com/office/drawing/2014/main" id="{8507CE5F-D18E-4DAA-8262-D9CC2F91E396}"/>
                    </a:ext>
                  </a:extLst>
                </p:cNvPr>
                <p:cNvSpPr>
                  <a:spLocks noChangeArrowheads="1"/>
                </p:cNvSpPr>
                <p:nvPr/>
              </p:nvSpPr>
              <p:spPr bwMode="auto">
                <a:xfrm>
                  <a:off x="2954338" y="2276476"/>
                  <a:ext cx="142875" cy="2730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8" name="Rectangle 84">
                  <a:extLst>
                    <a:ext uri="{FF2B5EF4-FFF2-40B4-BE49-F238E27FC236}">
                      <a16:creationId xmlns:a16="http://schemas.microsoft.com/office/drawing/2014/main" id="{56A7A35A-7C3F-CA11-FE95-5E5B5C7D2FF6}"/>
                    </a:ext>
                  </a:extLst>
                </p:cNvPr>
                <p:cNvSpPr>
                  <a:spLocks noChangeArrowheads="1"/>
                </p:cNvSpPr>
                <p:nvPr/>
              </p:nvSpPr>
              <p:spPr bwMode="auto">
                <a:xfrm>
                  <a:off x="2454276" y="2276476"/>
                  <a:ext cx="142875" cy="2730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69" name="Rectangle 85">
                  <a:extLst>
                    <a:ext uri="{FF2B5EF4-FFF2-40B4-BE49-F238E27FC236}">
                      <a16:creationId xmlns:a16="http://schemas.microsoft.com/office/drawing/2014/main" id="{FACAD4D9-CEDF-2F35-B51D-37DF0D559ADE}"/>
                    </a:ext>
                  </a:extLst>
                </p:cNvPr>
                <p:cNvSpPr>
                  <a:spLocks noChangeArrowheads="1"/>
                </p:cNvSpPr>
                <p:nvPr/>
              </p:nvSpPr>
              <p:spPr bwMode="auto">
                <a:xfrm>
                  <a:off x="2025651" y="2276476"/>
                  <a:ext cx="142875" cy="2730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0" name="Rectangle 86">
                  <a:extLst>
                    <a:ext uri="{FF2B5EF4-FFF2-40B4-BE49-F238E27FC236}">
                      <a16:creationId xmlns:a16="http://schemas.microsoft.com/office/drawing/2014/main" id="{BF7765A4-7E97-E46B-C741-746BFB898A59}"/>
                    </a:ext>
                  </a:extLst>
                </p:cNvPr>
                <p:cNvSpPr>
                  <a:spLocks noChangeArrowheads="1"/>
                </p:cNvSpPr>
                <p:nvPr/>
              </p:nvSpPr>
              <p:spPr bwMode="auto">
                <a:xfrm>
                  <a:off x="1095376" y="2276476"/>
                  <a:ext cx="142875" cy="273050"/>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1" name="Oval 87">
                  <a:extLst>
                    <a:ext uri="{FF2B5EF4-FFF2-40B4-BE49-F238E27FC236}">
                      <a16:creationId xmlns:a16="http://schemas.microsoft.com/office/drawing/2014/main" id="{C24B3497-BBAC-EFC5-18AB-0391986B8BE9}"/>
                    </a:ext>
                  </a:extLst>
                </p:cNvPr>
                <p:cNvSpPr>
                  <a:spLocks noChangeArrowheads="1"/>
                </p:cNvSpPr>
                <p:nvPr/>
              </p:nvSpPr>
              <p:spPr bwMode="auto">
                <a:xfrm>
                  <a:off x="1143001" y="2333626"/>
                  <a:ext cx="179388" cy="169863"/>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72" name="Oval 88">
                  <a:extLst>
                    <a:ext uri="{FF2B5EF4-FFF2-40B4-BE49-F238E27FC236}">
                      <a16:creationId xmlns:a16="http://schemas.microsoft.com/office/drawing/2014/main" id="{6BDBF6A2-5FE7-FC75-68EF-6F5A00AC1638}"/>
                    </a:ext>
                  </a:extLst>
                </p:cNvPr>
                <p:cNvSpPr>
                  <a:spLocks noChangeArrowheads="1"/>
                </p:cNvSpPr>
                <p:nvPr/>
              </p:nvSpPr>
              <p:spPr bwMode="auto">
                <a:xfrm>
                  <a:off x="2084388" y="2333626"/>
                  <a:ext cx="179388" cy="169863"/>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126" name="Group 89">
                <a:extLst>
                  <a:ext uri="{FF2B5EF4-FFF2-40B4-BE49-F238E27FC236}">
                    <a16:creationId xmlns:a16="http://schemas.microsoft.com/office/drawing/2014/main" id="{0B7B1CEA-37C2-1F6D-6B60-99F001546DC5}"/>
                  </a:ext>
                </a:extLst>
              </p:cNvPr>
              <p:cNvGrpSpPr>
                <a:grpSpLocks/>
              </p:cNvGrpSpPr>
              <p:nvPr/>
            </p:nvGrpSpPr>
            <p:grpSpPr bwMode="auto">
              <a:xfrm>
                <a:off x="1595438" y="2289176"/>
                <a:ext cx="287338" cy="271463"/>
                <a:chOff x="1584" y="1632"/>
                <a:chExt cx="192" cy="192"/>
              </a:xfrm>
            </p:grpSpPr>
            <p:sp>
              <p:nvSpPr>
                <p:cNvPr id="152" name="Rectangle 90">
                  <a:extLst>
                    <a:ext uri="{FF2B5EF4-FFF2-40B4-BE49-F238E27FC236}">
                      <a16:creationId xmlns:a16="http://schemas.microsoft.com/office/drawing/2014/main" id="{10288E38-F9FC-B5EB-C829-D384BB7C35C8}"/>
                    </a:ext>
                  </a:extLst>
                </p:cNvPr>
                <p:cNvSpPr>
                  <a:spLocks noChangeArrowheads="1"/>
                </p:cNvSpPr>
                <p:nvPr/>
              </p:nvSpPr>
              <p:spPr bwMode="auto">
                <a:xfrm>
                  <a:off x="1584" y="1632"/>
                  <a:ext cx="192" cy="192"/>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3" name="Rectangle 91">
                  <a:extLst>
                    <a:ext uri="{FF2B5EF4-FFF2-40B4-BE49-F238E27FC236}">
                      <a16:creationId xmlns:a16="http://schemas.microsoft.com/office/drawing/2014/main" id="{99F3C2FC-D25B-69E3-D835-C19AD795F52B}"/>
                    </a:ext>
                  </a:extLst>
                </p:cNvPr>
                <p:cNvSpPr>
                  <a:spLocks noChangeArrowheads="1"/>
                </p:cNvSpPr>
                <p:nvPr/>
              </p:nvSpPr>
              <p:spPr bwMode="auto">
                <a:xfrm>
                  <a:off x="1584" y="1632"/>
                  <a:ext cx="96" cy="192"/>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4" name="Oval 92">
                  <a:extLst>
                    <a:ext uri="{FF2B5EF4-FFF2-40B4-BE49-F238E27FC236}">
                      <a16:creationId xmlns:a16="http://schemas.microsoft.com/office/drawing/2014/main" id="{49908990-0632-0A28-00D5-BB79F43A82DD}"/>
                    </a:ext>
                  </a:extLst>
                </p:cNvPr>
                <p:cNvSpPr>
                  <a:spLocks noChangeArrowheads="1"/>
                </p:cNvSpPr>
                <p:nvPr/>
              </p:nvSpPr>
              <p:spPr bwMode="auto">
                <a:xfrm>
                  <a:off x="1616" y="1672"/>
                  <a:ext cx="120" cy="12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127" name="Oval 93">
                <a:extLst>
                  <a:ext uri="{FF2B5EF4-FFF2-40B4-BE49-F238E27FC236}">
                    <a16:creationId xmlns:a16="http://schemas.microsoft.com/office/drawing/2014/main" id="{E83DF8C9-B316-6BF9-588D-E21C9209D718}"/>
                  </a:ext>
                </a:extLst>
              </p:cNvPr>
              <p:cNvSpPr>
                <a:spLocks noChangeArrowheads="1"/>
              </p:cNvSpPr>
              <p:nvPr/>
            </p:nvSpPr>
            <p:spPr bwMode="auto">
              <a:xfrm>
                <a:off x="2322513" y="1992313"/>
                <a:ext cx="179388" cy="17145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28" name="Oval 94">
                <a:extLst>
                  <a:ext uri="{FF2B5EF4-FFF2-40B4-BE49-F238E27FC236}">
                    <a16:creationId xmlns:a16="http://schemas.microsoft.com/office/drawing/2014/main" id="{2DBA11FC-15E0-1E88-A803-17A532D417D6}"/>
                  </a:ext>
                </a:extLst>
              </p:cNvPr>
              <p:cNvSpPr>
                <a:spLocks noChangeArrowheads="1"/>
              </p:cNvSpPr>
              <p:nvPr/>
            </p:nvSpPr>
            <p:spPr bwMode="auto">
              <a:xfrm>
                <a:off x="2525713" y="1765301"/>
                <a:ext cx="179388" cy="17145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29" name="Oval 95">
                <a:extLst>
                  <a:ext uri="{FF2B5EF4-FFF2-40B4-BE49-F238E27FC236}">
                    <a16:creationId xmlns:a16="http://schemas.microsoft.com/office/drawing/2014/main" id="{FA56C294-612C-D827-243D-B69E8534F250}"/>
                  </a:ext>
                </a:extLst>
              </p:cNvPr>
              <p:cNvSpPr>
                <a:spLocks noChangeArrowheads="1"/>
              </p:cNvSpPr>
              <p:nvPr/>
            </p:nvSpPr>
            <p:spPr bwMode="auto">
              <a:xfrm>
                <a:off x="2740026" y="1538288"/>
                <a:ext cx="179388" cy="169863"/>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30" name="Rectangle 106">
                <a:extLst>
                  <a:ext uri="{FF2B5EF4-FFF2-40B4-BE49-F238E27FC236}">
                    <a16:creationId xmlns:a16="http://schemas.microsoft.com/office/drawing/2014/main" id="{9DBCB255-6B82-6F94-44EE-6EDE318EC0B0}"/>
                  </a:ext>
                </a:extLst>
              </p:cNvPr>
              <p:cNvSpPr>
                <a:spLocks noChangeArrowheads="1"/>
              </p:cNvSpPr>
              <p:nvPr/>
            </p:nvSpPr>
            <p:spPr bwMode="auto">
              <a:xfrm>
                <a:off x="119063" y="2239963"/>
                <a:ext cx="685800" cy="558800"/>
              </a:xfrm>
              <a:prstGeom prst="rect">
                <a:avLst/>
              </a:prstGeom>
              <a:solidFill>
                <a:schemeClr val="bg1"/>
              </a:solidFill>
              <a:ln w="222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131" name="Group 107">
                <a:extLst>
                  <a:ext uri="{FF2B5EF4-FFF2-40B4-BE49-F238E27FC236}">
                    <a16:creationId xmlns:a16="http://schemas.microsoft.com/office/drawing/2014/main" id="{7F04E480-261B-D217-E8DB-B196C18D9CA2}"/>
                  </a:ext>
                </a:extLst>
              </p:cNvPr>
              <p:cNvGrpSpPr>
                <a:grpSpLocks/>
              </p:cNvGrpSpPr>
              <p:nvPr/>
            </p:nvGrpSpPr>
            <p:grpSpPr bwMode="auto">
              <a:xfrm>
                <a:off x="423863" y="2298700"/>
                <a:ext cx="287337" cy="271463"/>
                <a:chOff x="1584" y="1632"/>
                <a:chExt cx="192" cy="192"/>
              </a:xfrm>
            </p:grpSpPr>
            <p:sp>
              <p:nvSpPr>
                <p:cNvPr id="149" name="Rectangle 108">
                  <a:extLst>
                    <a:ext uri="{FF2B5EF4-FFF2-40B4-BE49-F238E27FC236}">
                      <a16:creationId xmlns:a16="http://schemas.microsoft.com/office/drawing/2014/main" id="{71ED295C-9B89-D38D-301D-831145C63DEE}"/>
                    </a:ext>
                  </a:extLst>
                </p:cNvPr>
                <p:cNvSpPr>
                  <a:spLocks noChangeArrowheads="1"/>
                </p:cNvSpPr>
                <p:nvPr/>
              </p:nvSpPr>
              <p:spPr bwMode="auto">
                <a:xfrm>
                  <a:off x="1584" y="1632"/>
                  <a:ext cx="192" cy="192"/>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0" name="Rectangle 109">
                  <a:extLst>
                    <a:ext uri="{FF2B5EF4-FFF2-40B4-BE49-F238E27FC236}">
                      <a16:creationId xmlns:a16="http://schemas.microsoft.com/office/drawing/2014/main" id="{A0C2B5FC-AA10-020D-7558-AD0CB92A659E}"/>
                    </a:ext>
                  </a:extLst>
                </p:cNvPr>
                <p:cNvSpPr>
                  <a:spLocks noChangeArrowheads="1"/>
                </p:cNvSpPr>
                <p:nvPr/>
              </p:nvSpPr>
              <p:spPr bwMode="auto">
                <a:xfrm>
                  <a:off x="1584" y="1632"/>
                  <a:ext cx="96" cy="192"/>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151" name="Oval 110">
                  <a:extLst>
                    <a:ext uri="{FF2B5EF4-FFF2-40B4-BE49-F238E27FC236}">
                      <a16:creationId xmlns:a16="http://schemas.microsoft.com/office/drawing/2014/main" id="{7324CE3D-27CC-124B-F3F0-CCAC6369668A}"/>
                    </a:ext>
                  </a:extLst>
                </p:cNvPr>
                <p:cNvSpPr>
                  <a:spLocks noChangeArrowheads="1"/>
                </p:cNvSpPr>
                <p:nvPr/>
              </p:nvSpPr>
              <p:spPr bwMode="auto">
                <a:xfrm>
                  <a:off x="1616" y="1672"/>
                  <a:ext cx="120" cy="12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132" name="Line 152">
                <a:extLst>
                  <a:ext uri="{FF2B5EF4-FFF2-40B4-BE49-F238E27FC236}">
                    <a16:creationId xmlns:a16="http://schemas.microsoft.com/office/drawing/2014/main" id="{F0190180-9FDF-818F-D443-C2636AB4A2B9}"/>
                  </a:ext>
                </a:extLst>
              </p:cNvPr>
              <p:cNvSpPr>
                <a:spLocks noChangeShapeType="1"/>
              </p:cNvSpPr>
              <p:nvPr/>
            </p:nvSpPr>
            <p:spPr bwMode="auto">
              <a:xfrm flipH="1" flipV="1">
                <a:off x="2633663" y="2849563"/>
                <a:ext cx="1447800" cy="914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3" name="Line 153">
                <a:extLst>
                  <a:ext uri="{FF2B5EF4-FFF2-40B4-BE49-F238E27FC236}">
                    <a16:creationId xmlns:a16="http://schemas.microsoft.com/office/drawing/2014/main" id="{1A929D8A-8099-1E0D-C0A3-5ED629E2E063}"/>
                  </a:ext>
                </a:extLst>
              </p:cNvPr>
              <p:cNvSpPr>
                <a:spLocks noChangeShapeType="1"/>
              </p:cNvSpPr>
              <p:nvPr/>
            </p:nvSpPr>
            <p:spPr bwMode="auto">
              <a:xfrm flipH="1">
                <a:off x="2024063" y="1401763"/>
                <a:ext cx="4572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134" name="Group 166">
                <a:extLst>
                  <a:ext uri="{FF2B5EF4-FFF2-40B4-BE49-F238E27FC236}">
                    <a16:creationId xmlns:a16="http://schemas.microsoft.com/office/drawing/2014/main" id="{3FC1E7F9-8F03-9383-D79D-45E08E290FC1}"/>
                  </a:ext>
                </a:extLst>
              </p:cNvPr>
              <p:cNvGrpSpPr>
                <a:grpSpLocks/>
              </p:cNvGrpSpPr>
              <p:nvPr/>
            </p:nvGrpSpPr>
            <p:grpSpPr bwMode="auto">
              <a:xfrm rot="10800000">
                <a:off x="1124845" y="1868631"/>
                <a:ext cx="327025" cy="327503"/>
                <a:chOff x="5200200" y="4136701"/>
                <a:chExt cx="327025" cy="327503"/>
              </a:xfrm>
            </p:grpSpPr>
            <p:sp>
              <p:nvSpPr>
                <p:cNvPr id="147" name="Oval 53">
                  <a:extLst>
                    <a:ext uri="{FF2B5EF4-FFF2-40B4-BE49-F238E27FC236}">
                      <a16:creationId xmlns:a16="http://schemas.microsoft.com/office/drawing/2014/main" id="{CB94D637-98F6-BBA3-A9E5-442268D6746A}"/>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148" name="AutoShape 54">
                  <a:extLst>
                    <a:ext uri="{FF2B5EF4-FFF2-40B4-BE49-F238E27FC236}">
                      <a16:creationId xmlns:a16="http://schemas.microsoft.com/office/drawing/2014/main" id="{72DC5A26-0F59-75EE-503C-A22CA1ED2BBA}"/>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35" name="Group 169">
                <a:extLst>
                  <a:ext uri="{FF2B5EF4-FFF2-40B4-BE49-F238E27FC236}">
                    <a16:creationId xmlns:a16="http://schemas.microsoft.com/office/drawing/2014/main" id="{EBE2F86F-DADA-E26A-F2CF-361509697E00}"/>
                  </a:ext>
                </a:extLst>
              </p:cNvPr>
              <p:cNvGrpSpPr>
                <a:grpSpLocks/>
              </p:cNvGrpSpPr>
              <p:nvPr/>
            </p:nvGrpSpPr>
            <p:grpSpPr bwMode="auto">
              <a:xfrm rot="-3035124">
                <a:off x="2804831" y="1784363"/>
                <a:ext cx="327025" cy="327503"/>
                <a:chOff x="5200200" y="4136701"/>
                <a:chExt cx="327025" cy="327503"/>
              </a:xfrm>
            </p:grpSpPr>
            <p:sp>
              <p:nvSpPr>
                <p:cNvPr id="145" name="Oval 53">
                  <a:extLst>
                    <a:ext uri="{FF2B5EF4-FFF2-40B4-BE49-F238E27FC236}">
                      <a16:creationId xmlns:a16="http://schemas.microsoft.com/office/drawing/2014/main" id="{A7EA4CEC-1AE0-4D4C-2845-BD3E418BE6FB}"/>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146" name="AutoShape 54">
                  <a:extLst>
                    <a:ext uri="{FF2B5EF4-FFF2-40B4-BE49-F238E27FC236}">
                      <a16:creationId xmlns:a16="http://schemas.microsoft.com/office/drawing/2014/main" id="{87054EC2-181B-64DD-053F-6A75C8248D3A}"/>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36" name="Group 172">
                <a:extLst>
                  <a:ext uri="{FF2B5EF4-FFF2-40B4-BE49-F238E27FC236}">
                    <a16:creationId xmlns:a16="http://schemas.microsoft.com/office/drawing/2014/main" id="{C264D07B-ACE5-B12C-2652-E63565C529FF}"/>
                  </a:ext>
                </a:extLst>
              </p:cNvPr>
              <p:cNvGrpSpPr>
                <a:grpSpLocks/>
              </p:cNvGrpSpPr>
              <p:nvPr/>
            </p:nvGrpSpPr>
            <p:grpSpPr bwMode="auto">
              <a:xfrm rot="-5400000">
                <a:off x="6163010" y="2237977"/>
                <a:ext cx="327025" cy="327503"/>
                <a:chOff x="5200200" y="4136701"/>
                <a:chExt cx="327025" cy="327503"/>
              </a:xfrm>
            </p:grpSpPr>
            <p:sp>
              <p:nvSpPr>
                <p:cNvPr id="143" name="Oval 53">
                  <a:extLst>
                    <a:ext uri="{FF2B5EF4-FFF2-40B4-BE49-F238E27FC236}">
                      <a16:creationId xmlns:a16="http://schemas.microsoft.com/office/drawing/2014/main" id="{3E1A48C3-BBA2-FD46-8ECB-E2F077809BAA}"/>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144" name="AutoShape 54">
                  <a:extLst>
                    <a:ext uri="{FF2B5EF4-FFF2-40B4-BE49-F238E27FC236}">
                      <a16:creationId xmlns:a16="http://schemas.microsoft.com/office/drawing/2014/main" id="{C16E4A55-CE5F-7166-B97B-AC9C4E5FF6E2}"/>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37" name="Group 175">
                <a:extLst>
                  <a:ext uri="{FF2B5EF4-FFF2-40B4-BE49-F238E27FC236}">
                    <a16:creationId xmlns:a16="http://schemas.microsoft.com/office/drawing/2014/main" id="{87586A11-9DE5-DB31-2D43-9803F6F73F9C}"/>
                  </a:ext>
                </a:extLst>
              </p:cNvPr>
              <p:cNvGrpSpPr>
                <a:grpSpLocks/>
              </p:cNvGrpSpPr>
              <p:nvPr/>
            </p:nvGrpSpPr>
            <p:grpSpPr bwMode="auto">
              <a:xfrm rot="-8985196">
                <a:off x="4787823" y="2874472"/>
                <a:ext cx="327025" cy="327503"/>
                <a:chOff x="5200200" y="4136701"/>
                <a:chExt cx="327025" cy="327503"/>
              </a:xfrm>
            </p:grpSpPr>
            <p:sp>
              <p:nvSpPr>
                <p:cNvPr id="141" name="Oval 53">
                  <a:extLst>
                    <a:ext uri="{FF2B5EF4-FFF2-40B4-BE49-F238E27FC236}">
                      <a16:creationId xmlns:a16="http://schemas.microsoft.com/office/drawing/2014/main" id="{490B68D7-62B7-C1FD-62E6-3FC9D5B43C75}"/>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142" name="AutoShape 54">
                  <a:extLst>
                    <a:ext uri="{FF2B5EF4-FFF2-40B4-BE49-F238E27FC236}">
                      <a16:creationId xmlns:a16="http://schemas.microsoft.com/office/drawing/2014/main" id="{5D9A9B28-8799-5BE1-FE57-808BF8A1580D}"/>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138" name="Group 193">
                <a:extLst>
                  <a:ext uri="{FF2B5EF4-FFF2-40B4-BE49-F238E27FC236}">
                    <a16:creationId xmlns:a16="http://schemas.microsoft.com/office/drawing/2014/main" id="{848CA8A5-D56A-0A32-0C88-1F9690083F63}"/>
                  </a:ext>
                </a:extLst>
              </p:cNvPr>
              <p:cNvGrpSpPr>
                <a:grpSpLocks/>
              </p:cNvGrpSpPr>
              <p:nvPr/>
            </p:nvGrpSpPr>
            <p:grpSpPr bwMode="auto">
              <a:xfrm rot="1842439">
                <a:off x="3819636" y="3175683"/>
                <a:ext cx="327025" cy="327503"/>
                <a:chOff x="5200200" y="4136701"/>
                <a:chExt cx="327025" cy="327503"/>
              </a:xfrm>
            </p:grpSpPr>
            <p:sp>
              <p:nvSpPr>
                <p:cNvPr id="139" name="Oval 53">
                  <a:extLst>
                    <a:ext uri="{FF2B5EF4-FFF2-40B4-BE49-F238E27FC236}">
                      <a16:creationId xmlns:a16="http://schemas.microsoft.com/office/drawing/2014/main" id="{2E5546AD-2D48-823C-EA59-F833F2FCCD4B}"/>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140" name="AutoShape 54">
                  <a:extLst>
                    <a:ext uri="{FF2B5EF4-FFF2-40B4-BE49-F238E27FC236}">
                      <a16:creationId xmlns:a16="http://schemas.microsoft.com/office/drawing/2014/main" id="{92A62F6C-4242-6B06-4DC7-8C3EEE0770D9}"/>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211" name="Group 215">
              <a:extLst>
                <a:ext uri="{FF2B5EF4-FFF2-40B4-BE49-F238E27FC236}">
                  <a16:creationId xmlns:a16="http://schemas.microsoft.com/office/drawing/2014/main" id="{D1939C95-9DAB-3C20-2D67-06270281FBEF}"/>
                </a:ext>
              </a:extLst>
            </p:cNvPr>
            <p:cNvGrpSpPr>
              <a:grpSpLocks/>
            </p:cNvGrpSpPr>
            <p:nvPr/>
          </p:nvGrpSpPr>
          <p:grpSpPr bwMode="auto">
            <a:xfrm flipH="1" flipV="1">
              <a:off x="500063" y="3744913"/>
              <a:ext cx="3657600" cy="2457450"/>
              <a:chOff x="500063" y="3744287"/>
              <a:chExt cx="3657600" cy="2458076"/>
            </a:xfrm>
          </p:grpSpPr>
          <p:sp>
            <p:nvSpPr>
              <p:cNvPr id="212" name="AutoShape 115">
                <a:extLst>
                  <a:ext uri="{FF2B5EF4-FFF2-40B4-BE49-F238E27FC236}">
                    <a16:creationId xmlns:a16="http://schemas.microsoft.com/office/drawing/2014/main" id="{94C921A0-AC3B-6FAC-EB88-8FE61C3C3E57}"/>
                  </a:ext>
                </a:extLst>
              </p:cNvPr>
              <p:cNvSpPr>
                <a:spLocks noChangeArrowheads="1"/>
              </p:cNvSpPr>
              <p:nvPr/>
            </p:nvSpPr>
            <p:spPr bwMode="auto">
              <a:xfrm>
                <a:off x="500063" y="3916363"/>
                <a:ext cx="3657600" cy="2286000"/>
              </a:xfrm>
              <a:prstGeom prst="roundRect">
                <a:avLst>
                  <a:gd name="adj" fmla="val 16667"/>
                </a:avLst>
              </a:prstGeom>
              <a:noFill/>
              <a:ln w="2857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3" name="Rectangle 116" descr="ひし形 (枠のみ)">
                <a:extLst>
                  <a:ext uri="{FF2B5EF4-FFF2-40B4-BE49-F238E27FC236}">
                    <a16:creationId xmlns:a16="http://schemas.microsoft.com/office/drawing/2014/main" id="{D1EACD27-BDFB-3688-8A92-4F594BFD3203}"/>
                  </a:ext>
                </a:extLst>
              </p:cNvPr>
              <p:cNvSpPr>
                <a:spLocks noChangeArrowheads="1"/>
              </p:cNvSpPr>
              <p:nvPr/>
            </p:nvSpPr>
            <p:spPr bwMode="auto">
              <a:xfrm>
                <a:off x="1566863" y="4373563"/>
                <a:ext cx="1752600" cy="381000"/>
              </a:xfrm>
              <a:prstGeom prst="rect">
                <a:avLst/>
              </a:prstGeom>
              <a:blipFill dpi="0" rotWithShape="0">
                <a:blip r:embed="rId3"/>
                <a:srcRect/>
                <a:tile tx="0" ty="0" sx="100000" sy="100000" flip="none" algn="tl"/>
              </a:blipFill>
              <a:ln w="3810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14" name="Rectangle 117">
                <a:extLst>
                  <a:ext uri="{FF2B5EF4-FFF2-40B4-BE49-F238E27FC236}">
                    <a16:creationId xmlns:a16="http://schemas.microsoft.com/office/drawing/2014/main" id="{014281D8-9DAD-B357-69C8-E0D068CD8E82}"/>
                  </a:ext>
                </a:extLst>
              </p:cNvPr>
              <p:cNvSpPr>
                <a:spLocks noChangeArrowheads="1"/>
              </p:cNvSpPr>
              <p:nvPr/>
            </p:nvSpPr>
            <p:spPr bwMode="auto">
              <a:xfrm>
                <a:off x="804863" y="4360863"/>
                <a:ext cx="685800" cy="558800"/>
              </a:xfrm>
              <a:prstGeom prst="rect">
                <a:avLst/>
              </a:prstGeom>
              <a:solidFill>
                <a:schemeClr val="bg1"/>
              </a:solidFill>
              <a:ln w="222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nvGrpSpPr>
              <p:cNvPr id="215" name="Group 118">
                <a:extLst>
                  <a:ext uri="{FF2B5EF4-FFF2-40B4-BE49-F238E27FC236}">
                    <a16:creationId xmlns:a16="http://schemas.microsoft.com/office/drawing/2014/main" id="{D1B585ED-8BCD-5882-9040-BA03CA4E5FD1}"/>
                  </a:ext>
                </a:extLst>
              </p:cNvPr>
              <p:cNvGrpSpPr>
                <a:grpSpLocks/>
              </p:cNvGrpSpPr>
              <p:nvPr/>
            </p:nvGrpSpPr>
            <p:grpSpPr bwMode="auto">
              <a:xfrm>
                <a:off x="1109663" y="4419600"/>
                <a:ext cx="287338" cy="271463"/>
                <a:chOff x="720" y="2861"/>
                <a:chExt cx="181" cy="171"/>
              </a:xfrm>
            </p:grpSpPr>
            <p:sp>
              <p:nvSpPr>
                <p:cNvPr id="245" name="Rectangle 119">
                  <a:extLst>
                    <a:ext uri="{FF2B5EF4-FFF2-40B4-BE49-F238E27FC236}">
                      <a16:creationId xmlns:a16="http://schemas.microsoft.com/office/drawing/2014/main" id="{AD1AF254-15F5-46CC-3938-2272674A7DA5}"/>
                    </a:ext>
                  </a:extLst>
                </p:cNvPr>
                <p:cNvSpPr>
                  <a:spLocks noChangeArrowheads="1"/>
                </p:cNvSpPr>
                <p:nvPr/>
              </p:nvSpPr>
              <p:spPr bwMode="auto">
                <a:xfrm>
                  <a:off x="720" y="2861"/>
                  <a:ext cx="181" cy="171"/>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6" name="Rectangle 120">
                  <a:extLst>
                    <a:ext uri="{FF2B5EF4-FFF2-40B4-BE49-F238E27FC236}">
                      <a16:creationId xmlns:a16="http://schemas.microsoft.com/office/drawing/2014/main" id="{459040B2-2735-97B3-9F71-2CAD49D7E815}"/>
                    </a:ext>
                  </a:extLst>
                </p:cNvPr>
                <p:cNvSpPr>
                  <a:spLocks noChangeArrowheads="1"/>
                </p:cNvSpPr>
                <p:nvPr/>
              </p:nvSpPr>
              <p:spPr bwMode="auto">
                <a:xfrm>
                  <a:off x="720" y="2861"/>
                  <a:ext cx="91" cy="171"/>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7" name="Oval 121">
                  <a:extLst>
                    <a:ext uri="{FF2B5EF4-FFF2-40B4-BE49-F238E27FC236}">
                      <a16:creationId xmlns:a16="http://schemas.microsoft.com/office/drawing/2014/main" id="{1F4B1814-B02A-4688-F959-95D11EAE596C}"/>
                    </a:ext>
                  </a:extLst>
                </p:cNvPr>
                <p:cNvSpPr>
                  <a:spLocks noChangeArrowheads="1"/>
                </p:cNvSpPr>
                <p:nvPr/>
              </p:nvSpPr>
              <p:spPr bwMode="auto">
                <a:xfrm>
                  <a:off x="750" y="2897"/>
                  <a:ext cx="113" cy="107"/>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216" name="Group 122">
                <a:extLst>
                  <a:ext uri="{FF2B5EF4-FFF2-40B4-BE49-F238E27FC236}">
                    <a16:creationId xmlns:a16="http://schemas.microsoft.com/office/drawing/2014/main" id="{9B3E95C0-BEFD-6BFE-50BD-AD375C02BCDA}"/>
                  </a:ext>
                </a:extLst>
              </p:cNvPr>
              <p:cNvGrpSpPr>
                <a:grpSpLocks/>
              </p:cNvGrpSpPr>
              <p:nvPr/>
            </p:nvGrpSpPr>
            <p:grpSpPr bwMode="auto">
              <a:xfrm>
                <a:off x="1731963" y="4419600"/>
                <a:ext cx="287338" cy="271463"/>
                <a:chOff x="1584" y="1632"/>
                <a:chExt cx="192" cy="192"/>
              </a:xfrm>
            </p:grpSpPr>
            <p:sp>
              <p:nvSpPr>
                <p:cNvPr id="242" name="Rectangle 123">
                  <a:extLst>
                    <a:ext uri="{FF2B5EF4-FFF2-40B4-BE49-F238E27FC236}">
                      <a16:creationId xmlns:a16="http://schemas.microsoft.com/office/drawing/2014/main" id="{709BD912-6C62-E80B-D701-943872F6C812}"/>
                    </a:ext>
                  </a:extLst>
                </p:cNvPr>
                <p:cNvSpPr>
                  <a:spLocks noChangeArrowheads="1"/>
                </p:cNvSpPr>
                <p:nvPr/>
              </p:nvSpPr>
              <p:spPr bwMode="auto">
                <a:xfrm>
                  <a:off x="1584" y="1632"/>
                  <a:ext cx="192" cy="192"/>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3" name="Rectangle 124">
                  <a:extLst>
                    <a:ext uri="{FF2B5EF4-FFF2-40B4-BE49-F238E27FC236}">
                      <a16:creationId xmlns:a16="http://schemas.microsoft.com/office/drawing/2014/main" id="{F7F1FEED-E31B-D4CB-ED44-5A75320AF527}"/>
                    </a:ext>
                  </a:extLst>
                </p:cNvPr>
                <p:cNvSpPr>
                  <a:spLocks noChangeArrowheads="1"/>
                </p:cNvSpPr>
                <p:nvPr/>
              </p:nvSpPr>
              <p:spPr bwMode="auto">
                <a:xfrm>
                  <a:off x="1584" y="1632"/>
                  <a:ext cx="96" cy="192"/>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4" name="Oval 125">
                  <a:extLst>
                    <a:ext uri="{FF2B5EF4-FFF2-40B4-BE49-F238E27FC236}">
                      <a16:creationId xmlns:a16="http://schemas.microsoft.com/office/drawing/2014/main" id="{745B0598-14B8-64B4-0C72-4ACB826F983F}"/>
                    </a:ext>
                  </a:extLst>
                </p:cNvPr>
                <p:cNvSpPr>
                  <a:spLocks noChangeArrowheads="1"/>
                </p:cNvSpPr>
                <p:nvPr/>
              </p:nvSpPr>
              <p:spPr bwMode="auto">
                <a:xfrm>
                  <a:off x="1616" y="1672"/>
                  <a:ext cx="120" cy="12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217" name="Group 126">
                <a:extLst>
                  <a:ext uri="{FF2B5EF4-FFF2-40B4-BE49-F238E27FC236}">
                    <a16:creationId xmlns:a16="http://schemas.microsoft.com/office/drawing/2014/main" id="{052558C7-68FF-A404-46C0-ED4D49B9A76A}"/>
                  </a:ext>
                </a:extLst>
              </p:cNvPr>
              <p:cNvGrpSpPr>
                <a:grpSpLocks/>
              </p:cNvGrpSpPr>
              <p:nvPr/>
            </p:nvGrpSpPr>
            <p:grpSpPr bwMode="auto">
              <a:xfrm>
                <a:off x="2270126" y="4424363"/>
                <a:ext cx="287338" cy="271463"/>
                <a:chOff x="1584" y="1632"/>
                <a:chExt cx="192" cy="192"/>
              </a:xfrm>
            </p:grpSpPr>
            <p:sp>
              <p:nvSpPr>
                <p:cNvPr id="239" name="Rectangle 127">
                  <a:extLst>
                    <a:ext uri="{FF2B5EF4-FFF2-40B4-BE49-F238E27FC236}">
                      <a16:creationId xmlns:a16="http://schemas.microsoft.com/office/drawing/2014/main" id="{1730DE84-AB8E-6642-2CAA-6174B53B5AB6}"/>
                    </a:ext>
                  </a:extLst>
                </p:cNvPr>
                <p:cNvSpPr>
                  <a:spLocks noChangeArrowheads="1"/>
                </p:cNvSpPr>
                <p:nvPr/>
              </p:nvSpPr>
              <p:spPr bwMode="auto">
                <a:xfrm>
                  <a:off x="1584" y="1632"/>
                  <a:ext cx="192" cy="192"/>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0" name="Rectangle 128">
                  <a:extLst>
                    <a:ext uri="{FF2B5EF4-FFF2-40B4-BE49-F238E27FC236}">
                      <a16:creationId xmlns:a16="http://schemas.microsoft.com/office/drawing/2014/main" id="{5F4EB35B-C9AA-056B-005D-0BDA9A3D9615}"/>
                    </a:ext>
                  </a:extLst>
                </p:cNvPr>
                <p:cNvSpPr>
                  <a:spLocks noChangeArrowheads="1"/>
                </p:cNvSpPr>
                <p:nvPr/>
              </p:nvSpPr>
              <p:spPr bwMode="auto">
                <a:xfrm>
                  <a:off x="1584" y="1632"/>
                  <a:ext cx="96" cy="192"/>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41" name="Oval 129">
                  <a:extLst>
                    <a:ext uri="{FF2B5EF4-FFF2-40B4-BE49-F238E27FC236}">
                      <a16:creationId xmlns:a16="http://schemas.microsoft.com/office/drawing/2014/main" id="{D926D0B4-CC2B-6B8C-1DA3-3B2F3BA662BB}"/>
                    </a:ext>
                  </a:extLst>
                </p:cNvPr>
                <p:cNvSpPr>
                  <a:spLocks noChangeArrowheads="1"/>
                </p:cNvSpPr>
                <p:nvPr/>
              </p:nvSpPr>
              <p:spPr bwMode="auto">
                <a:xfrm>
                  <a:off x="1616" y="1672"/>
                  <a:ext cx="120" cy="12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grpSp>
            <p:nvGrpSpPr>
              <p:cNvPr id="218" name="Group 130">
                <a:extLst>
                  <a:ext uri="{FF2B5EF4-FFF2-40B4-BE49-F238E27FC236}">
                    <a16:creationId xmlns:a16="http://schemas.microsoft.com/office/drawing/2014/main" id="{2C2347E0-1D7F-8A0D-28A8-F469A9699084}"/>
                  </a:ext>
                </a:extLst>
              </p:cNvPr>
              <p:cNvGrpSpPr>
                <a:grpSpLocks/>
              </p:cNvGrpSpPr>
              <p:nvPr/>
            </p:nvGrpSpPr>
            <p:grpSpPr bwMode="auto">
              <a:xfrm>
                <a:off x="2862263" y="4424363"/>
                <a:ext cx="287338" cy="271463"/>
                <a:chOff x="1584" y="1632"/>
                <a:chExt cx="192" cy="192"/>
              </a:xfrm>
            </p:grpSpPr>
            <p:sp>
              <p:nvSpPr>
                <p:cNvPr id="236" name="Rectangle 131">
                  <a:extLst>
                    <a:ext uri="{FF2B5EF4-FFF2-40B4-BE49-F238E27FC236}">
                      <a16:creationId xmlns:a16="http://schemas.microsoft.com/office/drawing/2014/main" id="{11FB2D43-2BAD-0471-73BE-2E25208983E0}"/>
                    </a:ext>
                  </a:extLst>
                </p:cNvPr>
                <p:cNvSpPr>
                  <a:spLocks noChangeArrowheads="1"/>
                </p:cNvSpPr>
                <p:nvPr/>
              </p:nvSpPr>
              <p:spPr bwMode="auto">
                <a:xfrm>
                  <a:off x="1584" y="1632"/>
                  <a:ext cx="192" cy="192"/>
                </a:xfrm>
                <a:prstGeom prst="rect">
                  <a:avLst/>
                </a:prstGeom>
                <a:solidFill>
                  <a:srgbClr val="C0C0C0"/>
                </a:solidFill>
                <a:ln w="1905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7" name="Rectangle 132">
                  <a:extLst>
                    <a:ext uri="{FF2B5EF4-FFF2-40B4-BE49-F238E27FC236}">
                      <a16:creationId xmlns:a16="http://schemas.microsoft.com/office/drawing/2014/main" id="{BE5BBEFD-97C0-9F35-9C51-E0F247039966}"/>
                    </a:ext>
                  </a:extLst>
                </p:cNvPr>
                <p:cNvSpPr>
                  <a:spLocks noChangeArrowheads="1"/>
                </p:cNvSpPr>
                <p:nvPr/>
              </p:nvSpPr>
              <p:spPr bwMode="auto">
                <a:xfrm>
                  <a:off x="1584" y="1632"/>
                  <a:ext cx="96" cy="192"/>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38" name="Oval 133">
                  <a:extLst>
                    <a:ext uri="{FF2B5EF4-FFF2-40B4-BE49-F238E27FC236}">
                      <a16:creationId xmlns:a16="http://schemas.microsoft.com/office/drawing/2014/main" id="{86A57B94-0196-DF2F-0504-BC138715CA0A}"/>
                    </a:ext>
                  </a:extLst>
                </p:cNvPr>
                <p:cNvSpPr>
                  <a:spLocks noChangeArrowheads="1"/>
                </p:cNvSpPr>
                <p:nvPr/>
              </p:nvSpPr>
              <p:spPr bwMode="auto">
                <a:xfrm>
                  <a:off x="1616" y="1672"/>
                  <a:ext cx="120" cy="120"/>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grpSp>
          <p:sp>
            <p:nvSpPr>
              <p:cNvPr id="219" name="Line 134">
                <a:extLst>
                  <a:ext uri="{FF2B5EF4-FFF2-40B4-BE49-F238E27FC236}">
                    <a16:creationId xmlns:a16="http://schemas.microsoft.com/office/drawing/2014/main" id="{6E676C64-BA13-9586-D0D7-0213B07CE1C8}"/>
                  </a:ext>
                </a:extLst>
              </p:cNvPr>
              <p:cNvSpPr>
                <a:spLocks noChangeShapeType="1"/>
              </p:cNvSpPr>
              <p:nvPr/>
            </p:nvSpPr>
            <p:spPr bwMode="auto">
              <a:xfrm>
                <a:off x="2709863" y="4449763"/>
                <a:ext cx="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0" name="Line 135">
                <a:extLst>
                  <a:ext uri="{FF2B5EF4-FFF2-40B4-BE49-F238E27FC236}">
                    <a16:creationId xmlns:a16="http://schemas.microsoft.com/office/drawing/2014/main" id="{E5436217-1D70-E95A-D69F-564443B00642}"/>
                  </a:ext>
                </a:extLst>
              </p:cNvPr>
              <p:cNvSpPr>
                <a:spLocks noChangeShapeType="1"/>
              </p:cNvSpPr>
              <p:nvPr/>
            </p:nvSpPr>
            <p:spPr bwMode="auto">
              <a:xfrm>
                <a:off x="2125663" y="4449763"/>
                <a:ext cx="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1" name="Rectangle 143">
                <a:extLst>
                  <a:ext uri="{FF2B5EF4-FFF2-40B4-BE49-F238E27FC236}">
                    <a16:creationId xmlns:a16="http://schemas.microsoft.com/office/drawing/2014/main" id="{6866C06F-4589-B410-063A-B3A3DC4B6336}"/>
                  </a:ext>
                </a:extLst>
              </p:cNvPr>
              <p:cNvSpPr>
                <a:spLocks noChangeArrowheads="1"/>
              </p:cNvSpPr>
              <p:nvPr/>
            </p:nvSpPr>
            <p:spPr bwMode="auto">
              <a:xfrm>
                <a:off x="1643063" y="5510213"/>
                <a:ext cx="533400" cy="381000"/>
              </a:xfrm>
              <a:prstGeom prst="rect">
                <a:avLst/>
              </a:prstGeom>
              <a:solidFill>
                <a:srgbClr val="C0C0C0"/>
              </a:solidFill>
              <a:ln w="3810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2" name="Rectangle 144">
                <a:extLst>
                  <a:ext uri="{FF2B5EF4-FFF2-40B4-BE49-F238E27FC236}">
                    <a16:creationId xmlns:a16="http://schemas.microsoft.com/office/drawing/2014/main" id="{D4DBF28A-E04A-9AC0-1673-98C9E5B379A4}"/>
                  </a:ext>
                </a:extLst>
              </p:cNvPr>
              <p:cNvSpPr>
                <a:spLocks noChangeArrowheads="1"/>
              </p:cNvSpPr>
              <p:nvPr/>
            </p:nvSpPr>
            <p:spPr bwMode="auto">
              <a:xfrm>
                <a:off x="2405063" y="5510213"/>
                <a:ext cx="533400" cy="381000"/>
              </a:xfrm>
              <a:prstGeom prst="rect">
                <a:avLst/>
              </a:prstGeom>
              <a:solidFill>
                <a:srgbClr val="C0C0C0"/>
              </a:solidFill>
              <a:ln w="38100">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3" name="Oval 145">
                <a:extLst>
                  <a:ext uri="{FF2B5EF4-FFF2-40B4-BE49-F238E27FC236}">
                    <a16:creationId xmlns:a16="http://schemas.microsoft.com/office/drawing/2014/main" id="{0DA63DE1-A2B5-523A-5E67-D0CC5944A7C5}"/>
                  </a:ext>
                </a:extLst>
              </p:cNvPr>
              <p:cNvSpPr>
                <a:spLocks noChangeArrowheads="1"/>
              </p:cNvSpPr>
              <p:nvPr/>
            </p:nvSpPr>
            <p:spPr bwMode="auto">
              <a:xfrm>
                <a:off x="1806576" y="5619750"/>
                <a:ext cx="179388" cy="169863"/>
              </a:xfrm>
              <a:prstGeom prst="ellipse">
                <a:avLst/>
              </a:prstGeom>
              <a:solidFill>
                <a:schemeClr val="accent5"/>
              </a:solidFill>
              <a:ln w="9525">
                <a:solidFill>
                  <a:schemeClr val="tx1"/>
                </a:solidFill>
                <a:round/>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4" name="Rectangle 146">
                <a:extLst>
                  <a:ext uri="{FF2B5EF4-FFF2-40B4-BE49-F238E27FC236}">
                    <a16:creationId xmlns:a16="http://schemas.microsoft.com/office/drawing/2014/main" id="{4B5AF4AE-E8BE-C9FC-6616-62B8B744BE89}"/>
                  </a:ext>
                </a:extLst>
              </p:cNvPr>
              <p:cNvSpPr>
                <a:spLocks noChangeArrowheads="1"/>
              </p:cNvSpPr>
              <p:nvPr/>
            </p:nvSpPr>
            <p:spPr bwMode="auto">
              <a:xfrm>
                <a:off x="2603501" y="5568950"/>
                <a:ext cx="144463" cy="271463"/>
              </a:xfrm>
              <a:prstGeom prst="rect">
                <a:avLst/>
              </a:prstGeom>
              <a:solidFill>
                <a:schemeClr val="accent2"/>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a:solidFill>
                    <a:schemeClr val="bg1"/>
                  </a:solidFill>
                </a:endParaRPr>
              </a:p>
            </p:txBody>
          </p:sp>
          <p:sp>
            <p:nvSpPr>
              <p:cNvPr id="225" name="Line 149">
                <a:extLst>
                  <a:ext uri="{FF2B5EF4-FFF2-40B4-BE49-F238E27FC236}">
                    <a16:creationId xmlns:a16="http://schemas.microsoft.com/office/drawing/2014/main" id="{15263F2E-3946-335C-CE5C-0CD4DC55FDA8}"/>
                  </a:ext>
                </a:extLst>
              </p:cNvPr>
              <p:cNvSpPr>
                <a:spLocks noChangeShapeType="1"/>
              </p:cNvSpPr>
              <p:nvPr/>
            </p:nvSpPr>
            <p:spPr bwMode="auto">
              <a:xfrm>
                <a:off x="500063" y="5592763"/>
                <a:ext cx="0" cy="152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226" name="Group 187">
                <a:extLst>
                  <a:ext uri="{FF2B5EF4-FFF2-40B4-BE49-F238E27FC236}">
                    <a16:creationId xmlns:a16="http://schemas.microsoft.com/office/drawing/2014/main" id="{C659C997-2749-6B5A-7BC4-5A712BD82DB1}"/>
                  </a:ext>
                </a:extLst>
              </p:cNvPr>
              <p:cNvGrpSpPr>
                <a:grpSpLocks/>
              </p:cNvGrpSpPr>
              <p:nvPr/>
            </p:nvGrpSpPr>
            <p:grpSpPr bwMode="auto">
              <a:xfrm>
                <a:off x="2847862" y="4731959"/>
                <a:ext cx="327025" cy="327503"/>
                <a:chOff x="5200200" y="4136701"/>
                <a:chExt cx="327025" cy="327503"/>
              </a:xfrm>
            </p:grpSpPr>
            <p:sp>
              <p:nvSpPr>
                <p:cNvPr id="234" name="Oval 53">
                  <a:extLst>
                    <a:ext uri="{FF2B5EF4-FFF2-40B4-BE49-F238E27FC236}">
                      <a16:creationId xmlns:a16="http://schemas.microsoft.com/office/drawing/2014/main" id="{26AA4655-E85D-9C77-85C7-15A8C6E6B000}"/>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235" name="AutoShape 54">
                  <a:extLst>
                    <a:ext uri="{FF2B5EF4-FFF2-40B4-BE49-F238E27FC236}">
                      <a16:creationId xmlns:a16="http://schemas.microsoft.com/office/drawing/2014/main" id="{A6695DE2-A1EE-8B7F-8116-5E8268E1FC89}"/>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pic>
            <p:nvPicPr>
              <p:cNvPr id="227" name="Group 190">
                <a:extLst>
                  <a:ext uri="{FF2B5EF4-FFF2-40B4-BE49-F238E27FC236}">
                    <a16:creationId xmlns:a16="http://schemas.microsoft.com/office/drawing/2014/main" id="{E6409247-CA54-555D-C88E-45DA2DC1703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flipV="1">
                <a:off x="768478" y="3734824"/>
                <a:ext cx="280416" cy="34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8" name="Group 197">
                <a:extLst>
                  <a:ext uri="{FF2B5EF4-FFF2-40B4-BE49-F238E27FC236}">
                    <a16:creationId xmlns:a16="http://schemas.microsoft.com/office/drawing/2014/main" id="{BC4E5B7A-D006-3E4D-298A-8BEAE404AC33}"/>
                  </a:ext>
                </a:extLst>
              </p:cNvPr>
              <p:cNvGrpSpPr>
                <a:grpSpLocks/>
              </p:cNvGrpSpPr>
              <p:nvPr/>
            </p:nvGrpSpPr>
            <p:grpSpPr bwMode="auto">
              <a:xfrm>
                <a:off x="1752375" y="4776782"/>
                <a:ext cx="327025" cy="327503"/>
                <a:chOff x="5200200" y="4136701"/>
                <a:chExt cx="327025" cy="327503"/>
              </a:xfrm>
            </p:grpSpPr>
            <p:sp>
              <p:nvSpPr>
                <p:cNvPr id="232" name="Oval 53">
                  <a:extLst>
                    <a:ext uri="{FF2B5EF4-FFF2-40B4-BE49-F238E27FC236}">
                      <a16:creationId xmlns:a16="http://schemas.microsoft.com/office/drawing/2014/main" id="{075AD59C-582D-CDD4-6C24-176F3EFC130D}"/>
                    </a:ext>
                  </a:extLst>
                </p:cNvPr>
                <p:cNvSpPr>
                  <a:spLocks noChangeArrowheads="1"/>
                </p:cNvSpPr>
                <p:nvPr/>
              </p:nvSpPr>
              <p:spPr bwMode="auto">
                <a:xfrm flipV="1">
                  <a:off x="5281957" y="4208810"/>
                  <a:ext cx="163513" cy="17395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233" name="AutoShape 54">
                  <a:extLst>
                    <a:ext uri="{FF2B5EF4-FFF2-40B4-BE49-F238E27FC236}">
                      <a16:creationId xmlns:a16="http://schemas.microsoft.com/office/drawing/2014/main" id="{4312307C-5181-3B24-0F71-0EF65AD8DBF6}"/>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229" name="Group 200">
                <a:extLst>
                  <a:ext uri="{FF2B5EF4-FFF2-40B4-BE49-F238E27FC236}">
                    <a16:creationId xmlns:a16="http://schemas.microsoft.com/office/drawing/2014/main" id="{56BE61AF-556A-8129-A442-DD196B6922FF}"/>
                  </a:ext>
                </a:extLst>
              </p:cNvPr>
              <p:cNvGrpSpPr>
                <a:grpSpLocks/>
              </p:cNvGrpSpPr>
              <p:nvPr/>
            </p:nvGrpSpPr>
            <p:grpSpPr bwMode="auto">
              <a:xfrm rot="10800000">
                <a:off x="1743410" y="5198124"/>
                <a:ext cx="327025" cy="327503"/>
                <a:chOff x="5200200" y="4136701"/>
                <a:chExt cx="327025" cy="327503"/>
              </a:xfrm>
            </p:grpSpPr>
            <p:sp>
              <p:nvSpPr>
                <p:cNvPr id="230" name="Oval 53">
                  <a:extLst>
                    <a:ext uri="{FF2B5EF4-FFF2-40B4-BE49-F238E27FC236}">
                      <a16:creationId xmlns:a16="http://schemas.microsoft.com/office/drawing/2014/main" id="{5F2B1A0E-82B2-E6A7-AFB0-DA21C5A68EF4}"/>
                    </a:ext>
                  </a:extLst>
                </p:cNvPr>
                <p:cNvSpPr>
                  <a:spLocks noChangeArrowheads="1"/>
                </p:cNvSpPr>
                <p:nvPr/>
              </p:nvSpPr>
              <p:spPr bwMode="auto">
                <a:xfrm flipV="1">
                  <a:off x="5281957" y="4208810"/>
                  <a:ext cx="163513" cy="173952"/>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endParaRPr>
                </a:p>
              </p:txBody>
            </p:sp>
            <p:sp>
              <p:nvSpPr>
                <p:cNvPr id="231" name="AutoShape 54">
                  <a:extLst>
                    <a:ext uri="{FF2B5EF4-FFF2-40B4-BE49-F238E27FC236}">
                      <a16:creationId xmlns:a16="http://schemas.microsoft.com/office/drawing/2014/main" id="{8082BD07-3DCA-093E-8A55-7104B2B69E1E}"/>
                    </a:ext>
                  </a:extLst>
                </p:cNvPr>
                <p:cNvSpPr>
                  <a:spLocks noChangeArrowheads="1"/>
                </p:cNvSpPr>
                <p:nvPr/>
              </p:nvSpPr>
              <p:spPr bwMode="auto">
                <a:xfrm flipV="1">
                  <a:off x="5200200" y="4136701"/>
                  <a:ext cx="327025" cy="327503"/>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lnTo>
                        <a:pt x="5400" y="10800"/>
                      </a:lnTo>
                      <a:close/>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248" name="TextBox 207">
              <a:extLst>
                <a:ext uri="{FF2B5EF4-FFF2-40B4-BE49-F238E27FC236}">
                  <a16:creationId xmlns:a16="http://schemas.microsoft.com/office/drawing/2014/main" id="{7C58F928-2A98-C162-32EB-5C5BFACBBC98}"/>
                </a:ext>
              </a:extLst>
            </p:cNvPr>
            <p:cNvSpPr txBox="1">
              <a:spLocks noChangeArrowheads="1"/>
            </p:cNvSpPr>
            <p:nvPr/>
          </p:nvSpPr>
          <p:spPr bwMode="auto">
            <a:xfrm>
              <a:off x="7121525" y="2076450"/>
              <a:ext cx="9794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Fixed Layout</a:t>
              </a:r>
            </a:p>
          </p:txBody>
        </p:sp>
        <p:sp>
          <p:nvSpPr>
            <p:cNvPr id="249" name="Donut 214">
              <a:extLst>
                <a:ext uri="{FF2B5EF4-FFF2-40B4-BE49-F238E27FC236}">
                  <a16:creationId xmlns:a16="http://schemas.microsoft.com/office/drawing/2014/main" id="{07DC1D20-5787-E20A-E06C-8ACAD1F2BF5A}"/>
                </a:ext>
              </a:extLst>
            </p:cNvPr>
            <p:cNvSpPr/>
            <p:nvPr/>
          </p:nvSpPr>
          <p:spPr bwMode="auto">
            <a:xfrm>
              <a:off x="4173538" y="4022725"/>
              <a:ext cx="1141412" cy="1141413"/>
            </a:xfrm>
            <a:prstGeom prst="donut">
              <a:avLst>
                <a:gd name="adj" fmla="val 10780"/>
              </a:avLst>
            </a:prstGeom>
            <a:solidFill>
              <a:schemeClr val="accent6"/>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Arial" charset="0"/>
                <a:ea typeface="+mn-ea"/>
              </a:endParaRPr>
            </a:p>
          </p:txBody>
        </p:sp>
        <p:sp>
          <p:nvSpPr>
            <p:cNvPr id="250" name="TextBox 217">
              <a:extLst>
                <a:ext uri="{FF2B5EF4-FFF2-40B4-BE49-F238E27FC236}">
                  <a16:creationId xmlns:a16="http://schemas.microsoft.com/office/drawing/2014/main" id="{31D3AAC4-DF7D-9D9D-5AF4-5438FF7BF44F}"/>
                </a:ext>
              </a:extLst>
            </p:cNvPr>
            <p:cNvSpPr txBox="1">
              <a:spLocks noChangeArrowheads="1"/>
            </p:cNvSpPr>
            <p:nvPr/>
          </p:nvSpPr>
          <p:spPr bwMode="auto">
            <a:xfrm>
              <a:off x="4195763" y="4292600"/>
              <a:ext cx="1065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ja-JP" sz="1600"/>
                <a:t>Flexible Layout</a:t>
              </a:r>
              <a:endParaRPr lang="en-GB" altLang="en-US" sz="1600"/>
            </a:p>
          </p:txBody>
        </p:sp>
      </p:grpSp>
    </p:spTree>
    <p:extLst>
      <p:ext uri="{BB962C8B-B14F-4D97-AF65-F5344CB8AC3E}">
        <p14:creationId xmlns:p14="http://schemas.microsoft.com/office/powerpoint/2010/main" val="20128182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9. Eliminate wasted machine cycle time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71</a:t>
            </a:fld>
            <a:endParaRPr lang="en-US"/>
          </a:p>
        </p:txBody>
      </p:sp>
      <p:grpSp>
        <p:nvGrpSpPr>
          <p:cNvPr id="5" name="Group 4">
            <a:extLst>
              <a:ext uri="{FF2B5EF4-FFF2-40B4-BE49-F238E27FC236}">
                <a16:creationId xmlns:a16="http://schemas.microsoft.com/office/drawing/2014/main" id="{26F5501C-F2DB-4188-17AD-49EA9D5B6299}"/>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4AA18AB3-AC69-E15F-F70E-3D57D5DA3FC8}"/>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971A92CA-A340-5ADA-AF38-6E18717B4C56}"/>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70FA7673-0F06-F4AE-07B3-C14B7C9881C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4055011A-575F-E961-CB38-FC1CEF3523A5}"/>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6F1C60A0-75B6-97C4-E394-3CE1D925D97A}"/>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8F67D3FE-7E41-4CE2-2C46-6A610253959E}"/>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EFDC9640-F4C2-1877-1906-B144B88CDF86}"/>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1240C5F6-B8C2-2783-4B3B-CBFA50C353FF}"/>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a:xfrm>
            <a:off x="941388" y="5200571"/>
            <a:ext cx="5181600" cy="851058"/>
          </a:xfrm>
        </p:spPr>
        <p:txBody>
          <a:bodyPr>
            <a:normAutofit/>
          </a:bodyPr>
          <a:lstStyle/>
          <a:p>
            <a:pPr marL="0" indent="0">
              <a:lnSpc>
                <a:spcPct val="100000"/>
              </a:lnSpc>
              <a:spcBef>
                <a:spcPct val="0"/>
              </a:spcBef>
              <a:spcAft>
                <a:spcPct val="0"/>
              </a:spcAft>
              <a:buNone/>
            </a:pPr>
            <a:r>
              <a:rPr lang="en-GB" altLang="en-US" sz="2400" dirty="0"/>
              <a:t>Design out 'air cutting' and minimize machine movements</a:t>
            </a:r>
          </a:p>
          <a:p>
            <a:pPr>
              <a:lnSpc>
                <a:spcPct val="100000"/>
              </a:lnSpc>
              <a:spcBef>
                <a:spcPct val="0"/>
              </a:spcBef>
              <a:spcAft>
                <a:spcPct val="0"/>
              </a:spcAft>
            </a:pPr>
            <a:endParaRPr lang="en-US" altLang="en-US" sz="2400" dirty="0"/>
          </a:p>
        </p:txBody>
      </p:sp>
      <p:sp>
        <p:nvSpPr>
          <p:cNvPr id="3" name="Content Placeholder 2">
            <a:extLst>
              <a:ext uri="{FF2B5EF4-FFF2-40B4-BE49-F238E27FC236}">
                <a16:creationId xmlns:a16="http://schemas.microsoft.com/office/drawing/2014/main" id="{60FD8E54-018F-9EEC-871B-818160BB7183}"/>
              </a:ext>
            </a:extLst>
          </p:cNvPr>
          <p:cNvSpPr>
            <a:spLocks noGrp="1"/>
          </p:cNvSpPr>
          <p:nvPr>
            <p:ph sz="half" idx="1"/>
          </p:nvPr>
        </p:nvSpPr>
        <p:spPr>
          <a:xfrm>
            <a:off x="838200" y="1825625"/>
            <a:ext cx="5181600" cy="4226004"/>
          </a:xfrm>
        </p:spPr>
        <p:txBody>
          <a:bodyPr/>
          <a:lstStyle/>
          <a:p>
            <a:pPr marL="514350" indent="-514350">
              <a:buFont typeface="+mj-lt"/>
              <a:buAutoNum type="arabicPeriod"/>
            </a:pPr>
            <a:r>
              <a:rPr lang="en-US" dirty="0"/>
              <a:t>Switch on drill press</a:t>
            </a:r>
          </a:p>
          <a:p>
            <a:pPr marL="514350" indent="-514350">
              <a:buFont typeface="+mj-lt"/>
              <a:buAutoNum type="arabicPeriod"/>
            </a:pPr>
            <a:r>
              <a:rPr lang="en-US" dirty="0"/>
              <a:t>Air cutting down (Muda)</a:t>
            </a:r>
          </a:p>
          <a:p>
            <a:pPr marL="514350" indent="-514350">
              <a:buFont typeface="+mj-lt"/>
              <a:buAutoNum type="arabicPeriod"/>
            </a:pPr>
            <a:r>
              <a:rPr lang="en-US" dirty="0"/>
              <a:t>Drilling</a:t>
            </a:r>
          </a:p>
          <a:p>
            <a:pPr marL="514350" indent="-514350">
              <a:buFont typeface="+mj-lt"/>
              <a:buAutoNum type="arabicPeriod"/>
            </a:pPr>
            <a:r>
              <a:rPr lang="en-US" dirty="0"/>
              <a:t>Air cutting up (Muda)</a:t>
            </a:r>
            <a:br>
              <a:rPr lang="en-US" dirty="0"/>
            </a:br>
            <a:br>
              <a:rPr lang="en-US" dirty="0"/>
            </a:br>
            <a:r>
              <a:rPr lang="en-US" dirty="0"/>
              <a:t>Only the hole is value added</a:t>
            </a:r>
          </a:p>
          <a:p>
            <a:pPr marL="514350" indent="-514350">
              <a:buFont typeface="+mj-lt"/>
              <a:buAutoNum type="arabicPeriod"/>
            </a:pPr>
            <a:endParaRPr lang="en-US" dirty="0"/>
          </a:p>
        </p:txBody>
      </p:sp>
      <p:pic>
        <p:nvPicPr>
          <p:cNvPr id="4" name="Picture 31">
            <a:extLst>
              <a:ext uri="{FF2B5EF4-FFF2-40B4-BE49-F238E27FC236}">
                <a16:creationId xmlns:a16="http://schemas.microsoft.com/office/drawing/2014/main" id="{71722D3E-EEC1-194E-7C68-B763FE1A72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1701" y="2281078"/>
            <a:ext cx="2371725" cy="26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6" name="Picture 32">
            <a:extLst>
              <a:ext uri="{FF2B5EF4-FFF2-40B4-BE49-F238E27FC236}">
                <a16:creationId xmlns:a16="http://schemas.microsoft.com/office/drawing/2014/main" id="{CDF92345-B087-3A77-F857-95CB1B98AE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3425" y="2281078"/>
            <a:ext cx="2450375" cy="267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9879167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2">
            <a:extLst>
              <a:ext uri="{FF2B5EF4-FFF2-40B4-BE49-F238E27FC236}">
                <a16:creationId xmlns:a16="http://schemas.microsoft.com/office/drawing/2014/main" id="{8C7BE3EE-D820-9936-4EE8-2C82170E9BD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072991" y="2492718"/>
            <a:ext cx="37242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sz="3600" dirty="0"/>
              <a:t>10. Build equipment for small swift flow lines </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72</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11" name="TextBox 15">
            <a:extLst>
              <a:ext uri="{FF2B5EF4-FFF2-40B4-BE49-F238E27FC236}">
                <a16:creationId xmlns:a16="http://schemas.microsoft.com/office/drawing/2014/main" id="{98DC5FC9-81B6-501F-0E3D-0AAF10AABC92}"/>
              </a:ext>
            </a:extLst>
          </p:cNvPr>
          <p:cNvSpPr txBox="1">
            <a:spLocks noChangeArrowheads="1"/>
          </p:cNvSpPr>
          <p:nvPr/>
        </p:nvSpPr>
        <p:spPr bwMode="auto">
          <a:xfrm>
            <a:off x="3011662" y="5872163"/>
            <a:ext cx="61686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rPr>
              <a:t>Enable Standard Work (Takt, Work Sequence, SWIP)</a:t>
            </a:r>
          </a:p>
        </p:txBody>
      </p:sp>
      <p:cxnSp>
        <p:nvCxnSpPr>
          <p:cNvPr id="9" name="Straight Connector 14">
            <a:extLst>
              <a:ext uri="{FF2B5EF4-FFF2-40B4-BE49-F238E27FC236}">
                <a16:creationId xmlns:a16="http://schemas.microsoft.com/office/drawing/2014/main" id="{5F44E152-BB53-EDF7-8F27-6299C3081F29}"/>
              </a:ext>
            </a:extLst>
          </p:cNvPr>
          <p:cNvCxnSpPr>
            <a:cxnSpLocks noChangeShapeType="1"/>
          </p:cNvCxnSpPr>
          <p:nvPr/>
        </p:nvCxnSpPr>
        <p:spPr bwMode="auto">
          <a:xfrm flipV="1">
            <a:off x="1007904" y="2019855"/>
            <a:ext cx="3446463" cy="3171825"/>
          </a:xfrm>
          <a:prstGeom prst="line">
            <a:avLst/>
          </a:prstGeom>
          <a:noFill/>
          <a:ln w="28575" cap="sq">
            <a:solidFill>
              <a:srgbClr val="FF0000"/>
            </a:solidFill>
            <a:round/>
            <a:headEnd/>
            <a:tailEnd/>
          </a:ln>
          <a:extLst>
            <a:ext uri="{909E8E84-426E-40DD-AFC4-6F175D3DCCD1}">
              <a14:hiddenFill xmlns:a14="http://schemas.microsoft.com/office/drawing/2010/main">
                <a:noFill/>
              </a14:hiddenFill>
            </a:ext>
          </a:extLst>
        </p:spPr>
      </p:cxnSp>
      <p:cxnSp>
        <p:nvCxnSpPr>
          <p:cNvPr id="10" name="Straight Connector 15">
            <a:extLst>
              <a:ext uri="{FF2B5EF4-FFF2-40B4-BE49-F238E27FC236}">
                <a16:creationId xmlns:a16="http://schemas.microsoft.com/office/drawing/2014/main" id="{C390DF06-2302-4A2C-FCB5-4C39AC292DD5}"/>
              </a:ext>
            </a:extLst>
          </p:cNvPr>
          <p:cNvCxnSpPr>
            <a:cxnSpLocks noChangeShapeType="1"/>
          </p:cNvCxnSpPr>
          <p:nvPr/>
        </p:nvCxnSpPr>
        <p:spPr bwMode="auto">
          <a:xfrm rot="10800000">
            <a:off x="1072992" y="2018267"/>
            <a:ext cx="3624262" cy="3335338"/>
          </a:xfrm>
          <a:prstGeom prst="line">
            <a:avLst/>
          </a:prstGeom>
          <a:noFill/>
          <a:ln w="28575" cap="sq">
            <a:solidFill>
              <a:srgbClr val="FF0000"/>
            </a:solidFill>
            <a:round/>
            <a:headEnd/>
            <a:tailEnd/>
          </a:ln>
          <a:extLst>
            <a:ext uri="{909E8E84-426E-40DD-AFC4-6F175D3DCCD1}">
              <a14:hiddenFill xmlns:a14="http://schemas.microsoft.com/office/drawing/2010/main">
                <a:noFill/>
              </a14:hiddenFill>
            </a:ext>
          </a:extLst>
        </p:spPr>
      </p:cxnSp>
      <p:grpSp>
        <p:nvGrpSpPr>
          <p:cNvPr id="8" name="Group 192">
            <a:extLst>
              <a:ext uri="{FF2B5EF4-FFF2-40B4-BE49-F238E27FC236}">
                <a16:creationId xmlns:a16="http://schemas.microsoft.com/office/drawing/2014/main" id="{674EFBF9-E429-0D38-EC6E-EF805093C913}"/>
              </a:ext>
            </a:extLst>
          </p:cNvPr>
          <p:cNvGrpSpPr>
            <a:grpSpLocks/>
          </p:cNvGrpSpPr>
          <p:nvPr/>
        </p:nvGrpSpPr>
        <p:grpSpPr bwMode="auto">
          <a:xfrm>
            <a:off x="6192237" y="2035175"/>
            <a:ext cx="4805681" cy="3502660"/>
            <a:chOff x="5290242" y="2224141"/>
            <a:chExt cx="3509513" cy="2666985"/>
          </a:xfrm>
        </p:grpSpPr>
        <p:pic>
          <p:nvPicPr>
            <p:cNvPr id="12" name="Picture 54" descr="C:\Users\Administrator\Documents\laser.gif">
              <a:extLst>
                <a:ext uri="{FF2B5EF4-FFF2-40B4-BE49-F238E27FC236}">
                  <a16:creationId xmlns:a16="http://schemas.microsoft.com/office/drawing/2014/main" id="{718C96F5-044A-2259-10F3-2478A692C6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078" y="2224141"/>
              <a:ext cx="1531620" cy="1531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50" descr="C:\Users\Administrator\Documents\cutting.gif">
              <a:extLst>
                <a:ext uri="{FF2B5EF4-FFF2-40B4-BE49-F238E27FC236}">
                  <a16:creationId xmlns:a16="http://schemas.microsoft.com/office/drawing/2014/main" id="{DEEBC95E-8774-23C6-026F-1621BB71E1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0242" y="2900138"/>
              <a:ext cx="926881" cy="132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53" descr="C:\Users\Administrator\Documents\weld.gif">
              <a:extLst>
                <a:ext uri="{FF2B5EF4-FFF2-40B4-BE49-F238E27FC236}">
                  <a16:creationId xmlns:a16="http://schemas.microsoft.com/office/drawing/2014/main" id="{93F98DA4-7F73-E7B4-1E38-0E9AA40BEB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68122" y="2728914"/>
              <a:ext cx="975101" cy="1291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59" descr="C:\Users\Administrator\Documents\operator.gif">
              <a:extLst>
                <a:ext uri="{FF2B5EF4-FFF2-40B4-BE49-F238E27FC236}">
                  <a16:creationId xmlns:a16="http://schemas.microsoft.com/office/drawing/2014/main" id="{E9FEB01E-329D-9A99-260B-106E51ADB2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4418" y="2710923"/>
              <a:ext cx="865178" cy="1763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 name="Picture 60" descr="C:\Users\Administrator\Documents\conveyer.gif">
              <a:extLst>
                <a:ext uri="{FF2B5EF4-FFF2-40B4-BE49-F238E27FC236}">
                  <a16:creationId xmlns:a16="http://schemas.microsoft.com/office/drawing/2014/main" id="{902F555B-2BC8-E835-D003-0843BBD407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60359" y="3677379"/>
              <a:ext cx="1439396" cy="121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5324102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11. Use short, vertical flow lines </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73</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
        <p:nvSpPr>
          <p:cNvPr id="11" name="TextBox 15">
            <a:extLst>
              <a:ext uri="{FF2B5EF4-FFF2-40B4-BE49-F238E27FC236}">
                <a16:creationId xmlns:a16="http://schemas.microsoft.com/office/drawing/2014/main" id="{98DC5FC9-81B6-501F-0E3D-0AAF10AABC92}"/>
              </a:ext>
            </a:extLst>
          </p:cNvPr>
          <p:cNvSpPr txBox="1">
            <a:spLocks noChangeArrowheads="1"/>
          </p:cNvSpPr>
          <p:nvPr/>
        </p:nvSpPr>
        <p:spPr bwMode="auto">
          <a:xfrm>
            <a:off x="1436038" y="5729603"/>
            <a:ext cx="31478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US" altLang="en-US" sz="2000" dirty="0">
                <a:latin typeface="Roboto" panose="02000000000000000000" pitchFamily="2" charset="0"/>
                <a:ea typeface="Roboto" panose="02000000000000000000" pitchFamily="2" charset="0"/>
              </a:rPr>
              <a:t>Horizontal = functional</a:t>
            </a:r>
          </a:p>
        </p:txBody>
      </p:sp>
      <p:grpSp>
        <p:nvGrpSpPr>
          <p:cNvPr id="7" name="Group 183">
            <a:extLst>
              <a:ext uri="{FF2B5EF4-FFF2-40B4-BE49-F238E27FC236}">
                <a16:creationId xmlns:a16="http://schemas.microsoft.com/office/drawing/2014/main" id="{FE458B82-0337-0830-0E40-F32D942EBAC9}"/>
              </a:ext>
            </a:extLst>
          </p:cNvPr>
          <p:cNvGrpSpPr>
            <a:grpSpLocks/>
          </p:cNvGrpSpPr>
          <p:nvPr/>
        </p:nvGrpSpPr>
        <p:grpSpPr bwMode="auto">
          <a:xfrm>
            <a:off x="1151875" y="1940243"/>
            <a:ext cx="3517900" cy="3635375"/>
            <a:chOff x="419549" y="1688954"/>
            <a:chExt cx="3517750" cy="3636085"/>
          </a:xfrm>
        </p:grpSpPr>
        <p:sp>
          <p:nvSpPr>
            <p:cNvPr id="8" name="Rectangle 130">
              <a:extLst>
                <a:ext uri="{FF2B5EF4-FFF2-40B4-BE49-F238E27FC236}">
                  <a16:creationId xmlns:a16="http://schemas.microsoft.com/office/drawing/2014/main" id="{9443E626-9B56-EB5A-1E2F-0B37294A51D1}"/>
                </a:ext>
              </a:extLst>
            </p:cNvPr>
            <p:cNvSpPr>
              <a:spLocks noChangeArrowheads="1"/>
            </p:cNvSpPr>
            <p:nvPr/>
          </p:nvSpPr>
          <p:spPr bwMode="auto">
            <a:xfrm>
              <a:off x="419549" y="1688954"/>
              <a:ext cx="3517750" cy="3636085"/>
            </a:xfrm>
            <a:prstGeom prst="rect">
              <a:avLst/>
            </a:prstGeom>
            <a:solidFill>
              <a:schemeClr val="accent5"/>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2" name="Rectangle 131">
              <a:extLst>
                <a:ext uri="{FF2B5EF4-FFF2-40B4-BE49-F238E27FC236}">
                  <a16:creationId xmlns:a16="http://schemas.microsoft.com/office/drawing/2014/main" id="{B5A560C0-318F-9A2F-0155-F585D19027D2}"/>
                </a:ext>
              </a:extLst>
            </p:cNvPr>
            <p:cNvSpPr>
              <a:spLocks noChangeArrowheads="1"/>
            </p:cNvSpPr>
            <p:nvPr/>
          </p:nvSpPr>
          <p:spPr bwMode="auto">
            <a:xfrm>
              <a:off x="2947596" y="1918450"/>
              <a:ext cx="860612" cy="1021977"/>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4" name="Rectangle 132">
              <a:extLst>
                <a:ext uri="{FF2B5EF4-FFF2-40B4-BE49-F238E27FC236}">
                  <a16:creationId xmlns:a16="http://schemas.microsoft.com/office/drawing/2014/main" id="{1645C117-3A78-6F43-6255-6EF5FF0A0203}"/>
                </a:ext>
              </a:extLst>
            </p:cNvPr>
            <p:cNvSpPr>
              <a:spLocks noChangeArrowheads="1"/>
            </p:cNvSpPr>
            <p:nvPr/>
          </p:nvSpPr>
          <p:spPr bwMode="auto">
            <a:xfrm>
              <a:off x="1753497" y="1918450"/>
              <a:ext cx="1077558" cy="1021977"/>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5" name="Rectangle 133">
              <a:extLst>
                <a:ext uri="{FF2B5EF4-FFF2-40B4-BE49-F238E27FC236}">
                  <a16:creationId xmlns:a16="http://schemas.microsoft.com/office/drawing/2014/main" id="{6E510E25-6C0A-81A5-4634-9EFC9866D386}"/>
                </a:ext>
              </a:extLst>
            </p:cNvPr>
            <p:cNvSpPr>
              <a:spLocks noChangeArrowheads="1"/>
            </p:cNvSpPr>
            <p:nvPr/>
          </p:nvSpPr>
          <p:spPr bwMode="auto">
            <a:xfrm>
              <a:off x="554018" y="1918450"/>
              <a:ext cx="1077558" cy="695663"/>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Forming</a:t>
              </a:r>
            </a:p>
          </p:txBody>
        </p:sp>
        <p:sp>
          <p:nvSpPr>
            <p:cNvPr id="27" name="Rectangle 134">
              <a:extLst>
                <a:ext uri="{FF2B5EF4-FFF2-40B4-BE49-F238E27FC236}">
                  <a16:creationId xmlns:a16="http://schemas.microsoft.com/office/drawing/2014/main" id="{1FC0D5AA-955B-1984-F660-415307834696}"/>
                </a:ext>
              </a:extLst>
            </p:cNvPr>
            <p:cNvSpPr>
              <a:spLocks noChangeArrowheads="1"/>
            </p:cNvSpPr>
            <p:nvPr/>
          </p:nvSpPr>
          <p:spPr bwMode="auto">
            <a:xfrm>
              <a:off x="554018" y="2748581"/>
              <a:ext cx="1077558" cy="695663"/>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28" name="Rectangle 135">
              <a:extLst>
                <a:ext uri="{FF2B5EF4-FFF2-40B4-BE49-F238E27FC236}">
                  <a16:creationId xmlns:a16="http://schemas.microsoft.com/office/drawing/2014/main" id="{55429C4E-1B1B-6303-E87E-8A598FEFC59E}"/>
                </a:ext>
              </a:extLst>
            </p:cNvPr>
            <p:cNvSpPr>
              <a:spLocks noChangeArrowheads="1"/>
            </p:cNvSpPr>
            <p:nvPr/>
          </p:nvSpPr>
          <p:spPr bwMode="auto">
            <a:xfrm>
              <a:off x="554018" y="3593052"/>
              <a:ext cx="1077558" cy="1520417"/>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29" name="Rectangle 136">
              <a:extLst>
                <a:ext uri="{FF2B5EF4-FFF2-40B4-BE49-F238E27FC236}">
                  <a16:creationId xmlns:a16="http://schemas.microsoft.com/office/drawing/2014/main" id="{9FCCCDDD-D50C-CF1B-99A4-D50C05EC0B96}"/>
                </a:ext>
              </a:extLst>
            </p:cNvPr>
            <p:cNvSpPr>
              <a:spLocks noChangeArrowheads="1"/>
            </p:cNvSpPr>
            <p:nvPr/>
          </p:nvSpPr>
          <p:spPr bwMode="auto">
            <a:xfrm>
              <a:off x="2786230" y="3067726"/>
              <a:ext cx="1020183" cy="2045743"/>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latin typeface="Roboto" panose="02000000000000000000" pitchFamily="2" charset="0"/>
                  <a:ea typeface="Roboto" panose="02000000000000000000" pitchFamily="2" charset="0"/>
                </a:rPr>
                <a:t>Stores</a:t>
              </a:r>
            </a:p>
          </p:txBody>
        </p:sp>
        <p:sp>
          <p:nvSpPr>
            <p:cNvPr id="30" name="Rectangle 137">
              <a:extLst>
                <a:ext uri="{FF2B5EF4-FFF2-40B4-BE49-F238E27FC236}">
                  <a16:creationId xmlns:a16="http://schemas.microsoft.com/office/drawing/2014/main" id="{E6CF9DDD-43C8-8617-2D50-2D59C8F98C6B}"/>
                </a:ext>
              </a:extLst>
            </p:cNvPr>
            <p:cNvSpPr>
              <a:spLocks noChangeArrowheads="1"/>
            </p:cNvSpPr>
            <p:nvPr/>
          </p:nvSpPr>
          <p:spPr bwMode="auto">
            <a:xfrm>
              <a:off x="1774115" y="3067726"/>
              <a:ext cx="869577" cy="2045743"/>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31" name="Freeform 141">
              <a:extLst>
                <a:ext uri="{FF2B5EF4-FFF2-40B4-BE49-F238E27FC236}">
                  <a16:creationId xmlns:a16="http://schemas.microsoft.com/office/drawing/2014/main" id="{B859770A-301C-C6A7-5B46-A88C7E51536A}"/>
                </a:ext>
              </a:extLst>
            </p:cNvPr>
            <p:cNvSpPr>
              <a:spLocks noChangeArrowheads="1"/>
            </p:cNvSpPr>
            <p:nvPr/>
          </p:nvSpPr>
          <p:spPr bwMode="auto">
            <a:xfrm>
              <a:off x="774552" y="2173049"/>
              <a:ext cx="2893807" cy="2334410"/>
            </a:xfrm>
            <a:custGeom>
              <a:avLst/>
              <a:gdLst>
                <a:gd name="T0" fmla="*/ 2893807 w 2893807"/>
                <a:gd name="T1" fmla="*/ 43031 h 2334410"/>
                <a:gd name="T2" fmla="*/ 2883051 w 2893807"/>
                <a:gd name="T3" fmla="*/ 1204857 h 2334410"/>
                <a:gd name="T4" fmla="*/ 1699715 w 2893807"/>
                <a:gd name="T5" fmla="*/ 0 h 2334410"/>
                <a:gd name="T6" fmla="*/ 10758 w 2893807"/>
                <a:gd name="T7" fmla="*/ 753036 h 2334410"/>
                <a:gd name="T8" fmla="*/ 0 w 2893807"/>
                <a:gd name="T9" fmla="*/ 1882589 h 2334410"/>
                <a:gd name="T10" fmla="*/ 1570623 w 2893807"/>
                <a:gd name="T11" fmla="*/ 1420010 h 2334410"/>
                <a:gd name="T12" fmla="*/ 2441987 w 2893807"/>
                <a:gd name="T13" fmla="*/ 2334410 h 2334410"/>
                <a:gd name="T14" fmla="*/ 0 60000 65536"/>
                <a:gd name="T15" fmla="*/ 0 60000 65536"/>
                <a:gd name="T16" fmla="*/ 0 60000 65536"/>
                <a:gd name="T17" fmla="*/ 0 60000 65536"/>
                <a:gd name="T18" fmla="*/ 0 60000 65536"/>
                <a:gd name="T19" fmla="*/ 0 60000 65536"/>
                <a:gd name="T20" fmla="*/ 0 60000 65536"/>
                <a:gd name="T21" fmla="*/ 0 w 2893807"/>
                <a:gd name="T22" fmla="*/ 0 h 2334410"/>
                <a:gd name="T23" fmla="*/ 2893807 w 2893807"/>
                <a:gd name="T24" fmla="*/ 2334410 h 23344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93807" h="2334410">
                  <a:moveTo>
                    <a:pt x="2893807" y="43031"/>
                  </a:moveTo>
                  <a:cubicBezTo>
                    <a:pt x="2890221" y="430306"/>
                    <a:pt x="2886636" y="817582"/>
                    <a:pt x="2883050" y="1204857"/>
                  </a:cubicBezTo>
                  <a:lnTo>
                    <a:pt x="1699709" y="0"/>
                  </a:lnTo>
                  <a:lnTo>
                    <a:pt x="10758" y="753036"/>
                  </a:lnTo>
                  <a:lnTo>
                    <a:pt x="0" y="1882589"/>
                  </a:lnTo>
                  <a:lnTo>
                    <a:pt x="1570617" y="1420010"/>
                  </a:lnTo>
                  <a:lnTo>
                    <a:pt x="2441986" y="2334410"/>
                  </a:lnTo>
                </a:path>
              </a:pathLst>
            </a:custGeom>
            <a:noFill/>
            <a:ln w="38100" cap="sq">
              <a:solidFill>
                <a:schemeClr val="accent6"/>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dirty="0">
                <a:latin typeface="Roboto" panose="02000000000000000000" pitchFamily="2" charset="0"/>
                <a:ea typeface="Roboto" panose="02000000000000000000" pitchFamily="2" charset="0"/>
              </a:endParaRPr>
            </a:p>
          </p:txBody>
        </p:sp>
        <p:sp>
          <p:nvSpPr>
            <p:cNvPr id="32" name="Freeform 142">
              <a:extLst>
                <a:ext uri="{FF2B5EF4-FFF2-40B4-BE49-F238E27FC236}">
                  <a16:creationId xmlns:a16="http://schemas.microsoft.com/office/drawing/2014/main" id="{D22691A7-22D6-443E-E7A7-157FE9C86B76}"/>
                </a:ext>
              </a:extLst>
            </p:cNvPr>
            <p:cNvSpPr>
              <a:spLocks noChangeArrowheads="1"/>
            </p:cNvSpPr>
            <p:nvPr/>
          </p:nvSpPr>
          <p:spPr bwMode="auto">
            <a:xfrm>
              <a:off x="817581" y="2162292"/>
              <a:ext cx="2678654" cy="2323651"/>
            </a:xfrm>
            <a:custGeom>
              <a:avLst/>
              <a:gdLst>
                <a:gd name="T0" fmla="*/ 2388198 w 2678654"/>
                <a:gd name="T1" fmla="*/ 1559864 h 2323651"/>
                <a:gd name="T2" fmla="*/ 2388198 w 2678654"/>
                <a:gd name="T3" fmla="*/ 419548 h 2323651"/>
                <a:gd name="T4" fmla="*/ 408791 w 2678654"/>
                <a:gd name="T5" fmla="*/ 258183 h 2323651"/>
                <a:gd name="T6" fmla="*/ 408791 w 2678654"/>
                <a:gd name="T7" fmla="*/ 774550 h 2323651"/>
                <a:gd name="T8" fmla="*/ 1430767 w 2678654"/>
                <a:gd name="T9" fmla="*/ 2291379 h 2323651"/>
                <a:gd name="T10" fmla="*/ 0 w 2678654"/>
                <a:gd name="T11" fmla="*/ 2323651 h 2323651"/>
                <a:gd name="T12" fmla="*/ 2474258 w 2678654"/>
                <a:gd name="T13" fmla="*/ 0 h 2323651"/>
                <a:gd name="T14" fmla="*/ 2678654 w 2678654"/>
                <a:gd name="T15" fmla="*/ 1527592 h 2323651"/>
                <a:gd name="T16" fmla="*/ 0 60000 65536"/>
                <a:gd name="T17" fmla="*/ 0 60000 65536"/>
                <a:gd name="T18" fmla="*/ 0 60000 65536"/>
                <a:gd name="T19" fmla="*/ 0 60000 65536"/>
                <a:gd name="T20" fmla="*/ 0 60000 65536"/>
                <a:gd name="T21" fmla="*/ 0 60000 65536"/>
                <a:gd name="T22" fmla="*/ 0 60000 65536"/>
                <a:gd name="T23" fmla="*/ 0 60000 65536"/>
                <a:gd name="T24" fmla="*/ 0 w 2678654"/>
                <a:gd name="T25" fmla="*/ 0 h 2323651"/>
                <a:gd name="T26" fmla="*/ 2678654 w 2678654"/>
                <a:gd name="T27" fmla="*/ 2323651 h 232365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678654" h="2323651">
                  <a:moveTo>
                    <a:pt x="2388198" y="1559858"/>
                  </a:moveTo>
                  <a:lnTo>
                    <a:pt x="2388198" y="419548"/>
                  </a:lnTo>
                  <a:lnTo>
                    <a:pt x="408791" y="258183"/>
                  </a:lnTo>
                  <a:lnTo>
                    <a:pt x="408791" y="774550"/>
                  </a:lnTo>
                  <a:lnTo>
                    <a:pt x="1430767" y="2291378"/>
                  </a:lnTo>
                  <a:lnTo>
                    <a:pt x="0" y="2323651"/>
                  </a:lnTo>
                  <a:lnTo>
                    <a:pt x="2474259" y="0"/>
                  </a:lnTo>
                  <a:lnTo>
                    <a:pt x="2678654" y="1527586"/>
                  </a:lnTo>
                </a:path>
              </a:pathLst>
            </a:custGeom>
            <a:noFill/>
            <a:ln w="38100" cap="sq">
              <a:solidFill>
                <a:schemeClr val="accent1"/>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Freeform 143">
              <a:extLst>
                <a:ext uri="{FF2B5EF4-FFF2-40B4-BE49-F238E27FC236}">
                  <a16:creationId xmlns:a16="http://schemas.microsoft.com/office/drawing/2014/main" id="{08B2C5A3-BB33-C21C-1EFC-38A9BE46939B}"/>
                </a:ext>
              </a:extLst>
            </p:cNvPr>
            <p:cNvSpPr>
              <a:spLocks noChangeArrowheads="1"/>
            </p:cNvSpPr>
            <p:nvPr/>
          </p:nvSpPr>
          <p:spPr bwMode="auto">
            <a:xfrm>
              <a:off x="634700" y="2033200"/>
              <a:ext cx="2667896" cy="2818503"/>
            </a:xfrm>
            <a:custGeom>
              <a:avLst/>
              <a:gdLst>
                <a:gd name="T0" fmla="*/ 2280620 w 2667896"/>
                <a:gd name="T1" fmla="*/ 1850321 h 2818503"/>
                <a:gd name="T2" fmla="*/ 1290917 w 2667896"/>
                <a:gd name="T3" fmla="*/ 0 h 2818503"/>
                <a:gd name="T4" fmla="*/ 860612 w 2667896"/>
                <a:gd name="T5" fmla="*/ 978946 h 2818503"/>
                <a:gd name="T6" fmla="*/ 10757 w 2667896"/>
                <a:gd name="T7" fmla="*/ 139849 h 2818503"/>
                <a:gd name="T8" fmla="*/ 0 w 2667896"/>
                <a:gd name="T9" fmla="*/ 2818503 h 2818503"/>
                <a:gd name="T10" fmla="*/ 2667896 w 2667896"/>
                <a:gd name="T11" fmla="*/ 2818503 h 2818503"/>
                <a:gd name="T12" fmla="*/ 2667896 w 2667896"/>
                <a:gd name="T13" fmla="*/ 2818503 h 2818503"/>
                <a:gd name="T14" fmla="*/ 0 60000 65536"/>
                <a:gd name="T15" fmla="*/ 0 60000 65536"/>
                <a:gd name="T16" fmla="*/ 0 60000 65536"/>
                <a:gd name="T17" fmla="*/ 0 60000 65536"/>
                <a:gd name="T18" fmla="*/ 0 60000 65536"/>
                <a:gd name="T19" fmla="*/ 0 60000 65536"/>
                <a:gd name="T20" fmla="*/ 0 60000 65536"/>
                <a:gd name="T21" fmla="*/ 0 w 2667896"/>
                <a:gd name="T22" fmla="*/ 0 h 2818503"/>
                <a:gd name="T23" fmla="*/ 2667896 w 2667896"/>
                <a:gd name="T24" fmla="*/ 2818503 h 281850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67896" h="2818503">
                  <a:moveTo>
                    <a:pt x="2280621" y="1850315"/>
                  </a:moveTo>
                  <a:lnTo>
                    <a:pt x="1290917" y="0"/>
                  </a:lnTo>
                  <a:lnTo>
                    <a:pt x="860612" y="978946"/>
                  </a:lnTo>
                  <a:lnTo>
                    <a:pt x="10757" y="139849"/>
                  </a:lnTo>
                  <a:cubicBezTo>
                    <a:pt x="7171" y="1032734"/>
                    <a:pt x="3586" y="1925618"/>
                    <a:pt x="0" y="2818503"/>
                  </a:cubicBezTo>
                  <a:lnTo>
                    <a:pt x="2667896" y="2818503"/>
                  </a:lnTo>
                </a:path>
              </a:pathLst>
            </a:custGeom>
            <a:noFill/>
            <a:ln w="38100" cap="sq">
              <a:solidFill>
                <a:schemeClr val="accent5"/>
              </a:solidFill>
              <a:round/>
              <a:headEnd type="oval"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4" name="TextBox 145">
              <a:extLst>
                <a:ext uri="{FF2B5EF4-FFF2-40B4-BE49-F238E27FC236}">
                  <a16:creationId xmlns:a16="http://schemas.microsoft.com/office/drawing/2014/main" id="{AE7BE886-5805-2F2E-85B4-E14B3BFE3169}"/>
                </a:ext>
              </a:extLst>
            </p:cNvPr>
            <p:cNvSpPr txBox="1">
              <a:spLocks noChangeArrowheads="1"/>
            </p:cNvSpPr>
            <p:nvPr/>
          </p:nvSpPr>
          <p:spPr bwMode="auto">
            <a:xfrm>
              <a:off x="750962" y="4476979"/>
              <a:ext cx="758509"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Painting</a:t>
              </a:r>
            </a:p>
          </p:txBody>
        </p:sp>
        <p:sp>
          <p:nvSpPr>
            <p:cNvPr id="35" name="TextBox 146">
              <a:extLst>
                <a:ext uri="{FF2B5EF4-FFF2-40B4-BE49-F238E27FC236}">
                  <a16:creationId xmlns:a16="http://schemas.microsoft.com/office/drawing/2014/main" id="{FE849F33-A5D2-32CF-6F41-E992E6E64EEE}"/>
                </a:ext>
              </a:extLst>
            </p:cNvPr>
            <p:cNvSpPr txBox="1">
              <a:spLocks noChangeArrowheads="1"/>
            </p:cNvSpPr>
            <p:nvPr/>
          </p:nvSpPr>
          <p:spPr bwMode="auto">
            <a:xfrm>
              <a:off x="1800255" y="3704222"/>
              <a:ext cx="865906"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dirty="0">
                  <a:latin typeface="Roboto" panose="02000000000000000000" pitchFamily="2" charset="0"/>
                  <a:ea typeface="Roboto" panose="02000000000000000000" pitchFamily="2" charset="0"/>
                </a:rPr>
                <a:t>Assembly</a:t>
              </a:r>
            </a:p>
          </p:txBody>
        </p:sp>
        <p:sp>
          <p:nvSpPr>
            <p:cNvPr id="36" name="TextBox 147">
              <a:extLst>
                <a:ext uri="{FF2B5EF4-FFF2-40B4-BE49-F238E27FC236}">
                  <a16:creationId xmlns:a16="http://schemas.microsoft.com/office/drawing/2014/main" id="{D693E11E-6A6C-EBF4-3F56-649A0E1BE688}"/>
                </a:ext>
              </a:extLst>
            </p:cNvPr>
            <p:cNvSpPr txBox="1">
              <a:spLocks noChangeArrowheads="1"/>
            </p:cNvSpPr>
            <p:nvPr/>
          </p:nvSpPr>
          <p:spPr bwMode="auto">
            <a:xfrm>
              <a:off x="713346" y="2985251"/>
              <a:ext cx="744082"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Welding</a:t>
              </a:r>
            </a:p>
          </p:txBody>
        </p:sp>
        <p:sp>
          <p:nvSpPr>
            <p:cNvPr id="37" name="TextBox 148">
              <a:extLst>
                <a:ext uri="{FF2B5EF4-FFF2-40B4-BE49-F238E27FC236}">
                  <a16:creationId xmlns:a16="http://schemas.microsoft.com/office/drawing/2014/main" id="{D7E1B9AF-BD1E-62B3-7C36-7AAF28D58FA3}"/>
                </a:ext>
              </a:extLst>
            </p:cNvPr>
            <p:cNvSpPr txBox="1">
              <a:spLocks noChangeArrowheads="1"/>
            </p:cNvSpPr>
            <p:nvPr/>
          </p:nvSpPr>
          <p:spPr bwMode="auto">
            <a:xfrm>
              <a:off x="1822954" y="2272559"/>
              <a:ext cx="909184"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Machining</a:t>
              </a:r>
            </a:p>
          </p:txBody>
        </p:sp>
        <p:sp>
          <p:nvSpPr>
            <p:cNvPr id="38" name="TextBox 149">
              <a:extLst>
                <a:ext uri="{FF2B5EF4-FFF2-40B4-BE49-F238E27FC236}">
                  <a16:creationId xmlns:a16="http://schemas.microsoft.com/office/drawing/2014/main" id="{F8E1DF01-50D4-B69A-3098-6267B0DCA27A}"/>
                </a:ext>
              </a:extLst>
            </p:cNvPr>
            <p:cNvSpPr txBox="1">
              <a:spLocks noChangeArrowheads="1"/>
            </p:cNvSpPr>
            <p:nvPr/>
          </p:nvSpPr>
          <p:spPr bwMode="auto">
            <a:xfrm>
              <a:off x="2926034" y="2272559"/>
              <a:ext cx="909184" cy="27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200">
                  <a:latin typeface="Roboto" panose="02000000000000000000" pitchFamily="2" charset="0"/>
                  <a:ea typeface="Roboto" panose="02000000000000000000" pitchFamily="2" charset="0"/>
                </a:rPr>
                <a:t>Inspection</a:t>
              </a:r>
            </a:p>
          </p:txBody>
        </p:sp>
      </p:grpSp>
      <p:sp>
        <p:nvSpPr>
          <p:cNvPr id="39" name="TextBox 58">
            <a:extLst>
              <a:ext uri="{FF2B5EF4-FFF2-40B4-BE49-F238E27FC236}">
                <a16:creationId xmlns:a16="http://schemas.microsoft.com/office/drawing/2014/main" id="{166F2D3F-67A9-B252-A92B-DA39DD01D94B}"/>
              </a:ext>
            </a:extLst>
          </p:cNvPr>
          <p:cNvSpPr txBox="1">
            <a:spLocks noChangeArrowheads="1"/>
          </p:cNvSpPr>
          <p:nvPr/>
        </p:nvSpPr>
        <p:spPr bwMode="auto">
          <a:xfrm>
            <a:off x="6558007" y="5745125"/>
            <a:ext cx="407194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000" dirty="0">
                <a:latin typeface="Roboto" panose="02000000000000000000" pitchFamily="2" charset="0"/>
                <a:ea typeface="Roboto" panose="02000000000000000000" pitchFamily="2" charset="0"/>
              </a:rPr>
              <a:t>Vertical = advancing process flow</a:t>
            </a:r>
          </a:p>
        </p:txBody>
      </p:sp>
      <p:grpSp>
        <p:nvGrpSpPr>
          <p:cNvPr id="40" name="Group 182">
            <a:extLst>
              <a:ext uri="{FF2B5EF4-FFF2-40B4-BE49-F238E27FC236}">
                <a16:creationId xmlns:a16="http://schemas.microsoft.com/office/drawing/2014/main" id="{61E24231-5878-F11C-14B6-BD68AFB451E2}"/>
              </a:ext>
            </a:extLst>
          </p:cNvPr>
          <p:cNvGrpSpPr>
            <a:grpSpLocks/>
          </p:cNvGrpSpPr>
          <p:nvPr/>
        </p:nvGrpSpPr>
        <p:grpSpPr bwMode="auto">
          <a:xfrm>
            <a:off x="6393689" y="1895554"/>
            <a:ext cx="1140224" cy="3592864"/>
            <a:chOff x="4597998" y="1306475"/>
            <a:chExt cx="812202" cy="4039587"/>
          </a:xfrm>
        </p:grpSpPr>
        <p:cxnSp>
          <p:nvCxnSpPr>
            <p:cNvPr id="41" name="Straight Arrow Connector 157">
              <a:extLst>
                <a:ext uri="{FF2B5EF4-FFF2-40B4-BE49-F238E27FC236}">
                  <a16:creationId xmlns:a16="http://schemas.microsoft.com/office/drawing/2014/main" id="{7FDFAF13-87A6-2BAA-6B8E-B3354AD16DA5}"/>
                </a:ext>
              </a:extLst>
            </p:cNvPr>
            <p:cNvCxnSpPr>
              <a:cxnSpLocks noChangeShapeType="1"/>
            </p:cNvCxnSpPr>
            <p:nvPr/>
          </p:nvCxnSpPr>
          <p:spPr bwMode="auto">
            <a:xfrm rot="5400000">
              <a:off x="3073499" y="3393651"/>
              <a:ext cx="3861201" cy="1566"/>
            </a:xfrm>
            <a:prstGeom prst="straightConnector1">
              <a:avLst/>
            </a:prstGeom>
            <a:noFill/>
            <a:ln w="38100" cap="sq">
              <a:solidFill>
                <a:schemeClr val="accent6"/>
              </a:solidFill>
              <a:round/>
              <a:headEnd/>
              <a:tailEnd/>
            </a:ln>
            <a:extLst>
              <a:ext uri="{909E8E84-426E-40DD-AFC4-6F175D3DCCD1}">
                <a14:hiddenFill xmlns:a14="http://schemas.microsoft.com/office/drawing/2010/main">
                  <a:noFill/>
                </a14:hiddenFill>
              </a:ext>
            </a:extLst>
          </p:spPr>
        </p:cxnSp>
        <p:sp>
          <p:nvSpPr>
            <p:cNvPr id="42" name="Rectangle 150">
              <a:extLst>
                <a:ext uri="{FF2B5EF4-FFF2-40B4-BE49-F238E27FC236}">
                  <a16:creationId xmlns:a16="http://schemas.microsoft.com/office/drawing/2014/main" id="{4A651EE4-F7FF-5052-8B6B-3F0B66F24729}"/>
                </a:ext>
              </a:extLst>
            </p:cNvPr>
            <p:cNvSpPr>
              <a:spLocks noChangeArrowheads="1"/>
            </p:cNvSpPr>
            <p:nvPr/>
          </p:nvSpPr>
          <p:spPr bwMode="auto">
            <a:xfrm>
              <a:off x="4597998" y="1602890"/>
              <a:ext cx="812202" cy="484094"/>
            </a:xfrm>
            <a:prstGeom prst="rect">
              <a:avLst/>
            </a:prstGeom>
            <a:solidFill>
              <a:schemeClr val="accent6"/>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Inspect</a:t>
              </a:r>
            </a:p>
          </p:txBody>
        </p:sp>
        <p:sp>
          <p:nvSpPr>
            <p:cNvPr id="43" name="Rectangle 151">
              <a:extLst>
                <a:ext uri="{FF2B5EF4-FFF2-40B4-BE49-F238E27FC236}">
                  <a16:creationId xmlns:a16="http://schemas.microsoft.com/office/drawing/2014/main" id="{E6111E65-26B4-3D77-CE17-BA2D4CD5AFDD}"/>
                </a:ext>
              </a:extLst>
            </p:cNvPr>
            <p:cNvSpPr>
              <a:spLocks noChangeArrowheads="1"/>
            </p:cNvSpPr>
            <p:nvPr/>
          </p:nvSpPr>
          <p:spPr bwMode="auto">
            <a:xfrm>
              <a:off x="4597998" y="2209263"/>
              <a:ext cx="812202" cy="484094"/>
            </a:xfrm>
            <a:prstGeom prst="rect">
              <a:avLst/>
            </a:prstGeom>
            <a:solidFill>
              <a:schemeClr val="accent6"/>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Machine</a:t>
              </a:r>
            </a:p>
          </p:txBody>
        </p:sp>
        <p:sp>
          <p:nvSpPr>
            <p:cNvPr id="44" name="Rectangle 152">
              <a:extLst>
                <a:ext uri="{FF2B5EF4-FFF2-40B4-BE49-F238E27FC236}">
                  <a16:creationId xmlns:a16="http://schemas.microsoft.com/office/drawing/2014/main" id="{EEC7F415-5510-48E8-9D88-8F947FAE6B2B}"/>
                </a:ext>
              </a:extLst>
            </p:cNvPr>
            <p:cNvSpPr>
              <a:spLocks noChangeArrowheads="1"/>
            </p:cNvSpPr>
            <p:nvPr/>
          </p:nvSpPr>
          <p:spPr bwMode="auto">
            <a:xfrm>
              <a:off x="4597998" y="2815636"/>
              <a:ext cx="812202" cy="484094"/>
            </a:xfrm>
            <a:prstGeom prst="rect">
              <a:avLst/>
            </a:prstGeom>
            <a:solidFill>
              <a:schemeClr val="accent6"/>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dirty="0">
                  <a:solidFill>
                    <a:schemeClr val="bg1"/>
                  </a:solidFill>
                  <a:latin typeface="Roboto" panose="02000000000000000000" pitchFamily="2" charset="0"/>
                  <a:ea typeface="Roboto" panose="02000000000000000000" pitchFamily="2" charset="0"/>
                </a:rPr>
                <a:t>Weld</a:t>
              </a:r>
            </a:p>
          </p:txBody>
        </p:sp>
        <p:sp>
          <p:nvSpPr>
            <p:cNvPr id="45" name="Rectangle 153">
              <a:extLst>
                <a:ext uri="{FF2B5EF4-FFF2-40B4-BE49-F238E27FC236}">
                  <a16:creationId xmlns:a16="http://schemas.microsoft.com/office/drawing/2014/main" id="{CADD024D-B4B3-E102-91B8-02E0BAE712C4}"/>
                </a:ext>
              </a:extLst>
            </p:cNvPr>
            <p:cNvSpPr>
              <a:spLocks noChangeArrowheads="1"/>
            </p:cNvSpPr>
            <p:nvPr/>
          </p:nvSpPr>
          <p:spPr bwMode="auto">
            <a:xfrm>
              <a:off x="4597998" y="3422009"/>
              <a:ext cx="812202" cy="484094"/>
            </a:xfrm>
            <a:prstGeom prst="rect">
              <a:avLst/>
            </a:prstGeom>
            <a:solidFill>
              <a:schemeClr val="accent6"/>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Paint</a:t>
              </a:r>
            </a:p>
          </p:txBody>
        </p:sp>
        <p:sp>
          <p:nvSpPr>
            <p:cNvPr id="46" name="Rectangle 154">
              <a:extLst>
                <a:ext uri="{FF2B5EF4-FFF2-40B4-BE49-F238E27FC236}">
                  <a16:creationId xmlns:a16="http://schemas.microsoft.com/office/drawing/2014/main" id="{7332CA26-1252-9074-5744-2BE33FA64C94}"/>
                </a:ext>
              </a:extLst>
            </p:cNvPr>
            <p:cNvSpPr>
              <a:spLocks noChangeArrowheads="1"/>
            </p:cNvSpPr>
            <p:nvPr/>
          </p:nvSpPr>
          <p:spPr bwMode="auto">
            <a:xfrm>
              <a:off x="4597998" y="4028382"/>
              <a:ext cx="812202" cy="484094"/>
            </a:xfrm>
            <a:prstGeom prst="rect">
              <a:avLst/>
            </a:prstGeom>
            <a:solidFill>
              <a:schemeClr val="accent6"/>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Assemble</a:t>
              </a:r>
            </a:p>
          </p:txBody>
        </p:sp>
        <p:sp>
          <p:nvSpPr>
            <p:cNvPr id="47" name="Rectangle 155">
              <a:extLst>
                <a:ext uri="{FF2B5EF4-FFF2-40B4-BE49-F238E27FC236}">
                  <a16:creationId xmlns:a16="http://schemas.microsoft.com/office/drawing/2014/main" id="{7058D29C-5EA0-DA39-0305-B9CADDA1536A}"/>
                </a:ext>
              </a:extLst>
            </p:cNvPr>
            <p:cNvSpPr>
              <a:spLocks noChangeArrowheads="1"/>
            </p:cNvSpPr>
            <p:nvPr/>
          </p:nvSpPr>
          <p:spPr bwMode="auto">
            <a:xfrm>
              <a:off x="4597998" y="4634754"/>
              <a:ext cx="812202" cy="484094"/>
            </a:xfrm>
            <a:prstGeom prst="rect">
              <a:avLst/>
            </a:prstGeom>
            <a:solidFill>
              <a:schemeClr val="accent6"/>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Store</a:t>
              </a:r>
            </a:p>
          </p:txBody>
        </p:sp>
        <p:sp>
          <p:nvSpPr>
            <p:cNvPr id="48" name="Freeform 25">
              <a:extLst>
                <a:ext uri="{FF2B5EF4-FFF2-40B4-BE49-F238E27FC236}">
                  <a16:creationId xmlns:a16="http://schemas.microsoft.com/office/drawing/2014/main" id="{A039DE29-0516-EAC9-3D0C-9F3148502075}"/>
                </a:ext>
              </a:extLst>
            </p:cNvPr>
            <p:cNvSpPr>
              <a:spLocks/>
            </p:cNvSpPr>
            <p:nvPr/>
          </p:nvSpPr>
          <p:spPr bwMode="auto">
            <a:xfrm rot="10800000">
              <a:off x="4857610" y="1306475"/>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49" name="Freeform 26">
              <a:extLst>
                <a:ext uri="{FF2B5EF4-FFF2-40B4-BE49-F238E27FC236}">
                  <a16:creationId xmlns:a16="http://schemas.microsoft.com/office/drawing/2014/main" id="{C5826105-F669-D80F-C113-620791170083}"/>
                </a:ext>
              </a:extLst>
            </p:cNvPr>
            <p:cNvSpPr>
              <a:spLocks/>
            </p:cNvSpPr>
            <p:nvPr/>
          </p:nvSpPr>
          <p:spPr bwMode="auto">
            <a:xfrm>
              <a:off x="4857610" y="5211327"/>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1"/>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grpSp>
        <p:nvGrpSpPr>
          <p:cNvPr id="50" name="Group 181">
            <a:extLst>
              <a:ext uri="{FF2B5EF4-FFF2-40B4-BE49-F238E27FC236}">
                <a16:creationId xmlns:a16="http://schemas.microsoft.com/office/drawing/2014/main" id="{01D19245-7287-1591-F369-7183F4817808}"/>
              </a:ext>
            </a:extLst>
          </p:cNvPr>
          <p:cNvGrpSpPr>
            <a:grpSpLocks/>
          </p:cNvGrpSpPr>
          <p:nvPr/>
        </p:nvGrpSpPr>
        <p:grpSpPr bwMode="auto">
          <a:xfrm>
            <a:off x="8026079" y="1896966"/>
            <a:ext cx="1137998" cy="3592863"/>
            <a:chOff x="5761617" y="1308268"/>
            <a:chExt cx="812202" cy="4039587"/>
          </a:xfrm>
        </p:grpSpPr>
        <p:cxnSp>
          <p:nvCxnSpPr>
            <p:cNvPr id="51" name="Straight Arrow Connector 161">
              <a:extLst>
                <a:ext uri="{FF2B5EF4-FFF2-40B4-BE49-F238E27FC236}">
                  <a16:creationId xmlns:a16="http://schemas.microsoft.com/office/drawing/2014/main" id="{353F5455-2796-6D72-06FA-26D7F754EEB5}"/>
                </a:ext>
              </a:extLst>
            </p:cNvPr>
            <p:cNvCxnSpPr>
              <a:cxnSpLocks noChangeShapeType="1"/>
            </p:cNvCxnSpPr>
            <p:nvPr/>
          </p:nvCxnSpPr>
          <p:spPr bwMode="auto">
            <a:xfrm rot="5400000">
              <a:off x="4237118" y="3395444"/>
              <a:ext cx="3861201" cy="1566"/>
            </a:xfrm>
            <a:prstGeom prst="straightConnector1">
              <a:avLst/>
            </a:prstGeom>
            <a:noFill/>
            <a:ln w="38100" cap="sq">
              <a:solidFill>
                <a:schemeClr val="accent1"/>
              </a:solidFill>
              <a:round/>
              <a:headEnd/>
              <a:tailEnd/>
            </a:ln>
            <a:extLst>
              <a:ext uri="{909E8E84-426E-40DD-AFC4-6F175D3DCCD1}">
                <a14:hiddenFill xmlns:a14="http://schemas.microsoft.com/office/drawing/2010/main">
                  <a:noFill/>
                </a14:hiddenFill>
              </a:ext>
            </a:extLst>
          </p:spPr>
        </p:cxnSp>
        <p:sp>
          <p:nvSpPr>
            <p:cNvPr id="52" name="Rectangle 162">
              <a:extLst>
                <a:ext uri="{FF2B5EF4-FFF2-40B4-BE49-F238E27FC236}">
                  <a16:creationId xmlns:a16="http://schemas.microsoft.com/office/drawing/2014/main" id="{53A7532A-1ACC-D3DE-742A-B082C769D64D}"/>
                </a:ext>
              </a:extLst>
            </p:cNvPr>
            <p:cNvSpPr>
              <a:spLocks noChangeArrowheads="1"/>
            </p:cNvSpPr>
            <p:nvPr/>
          </p:nvSpPr>
          <p:spPr bwMode="auto">
            <a:xfrm>
              <a:off x="5761617" y="1604683"/>
              <a:ext cx="812202" cy="484094"/>
            </a:xfrm>
            <a:prstGeom prst="rect">
              <a:avLst/>
            </a:prstGeom>
            <a:solidFill>
              <a:schemeClr val="accent1"/>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Inspect</a:t>
              </a:r>
            </a:p>
          </p:txBody>
        </p:sp>
        <p:sp>
          <p:nvSpPr>
            <p:cNvPr id="53" name="Rectangle 163">
              <a:extLst>
                <a:ext uri="{FF2B5EF4-FFF2-40B4-BE49-F238E27FC236}">
                  <a16:creationId xmlns:a16="http://schemas.microsoft.com/office/drawing/2014/main" id="{6A29550C-CDDD-0185-4552-CB7774FEC9D7}"/>
                </a:ext>
              </a:extLst>
            </p:cNvPr>
            <p:cNvSpPr>
              <a:spLocks noChangeArrowheads="1"/>
            </p:cNvSpPr>
            <p:nvPr/>
          </p:nvSpPr>
          <p:spPr bwMode="auto">
            <a:xfrm>
              <a:off x="5761617" y="2211056"/>
              <a:ext cx="812202" cy="484094"/>
            </a:xfrm>
            <a:prstGeom prst="rect">
              <a:avLst/>
            </a:prstGeom>
            <a:solidFill>
              <a:schemeClr val="accent1"/>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Form</a:t>
              </a:r>
            </a:p>
          </p:txBody>
        </p:sp>
        <p:sp>
          <p:nvSpPr>
            <p:cNvPr id="54" name="Rectangle 164">
              <a:extLst>
                <a:ext uri="{FF2B5EF4-FFF2-40B4-BE49-F238E27FC236}">
                  <a16:creationId xmlns:a16="http://schemas.microsoft.com/office/drawing/2014/main" id="{745BBA62-8B33-E9C9-026F-862B3C56A5B1}"/>
                </a:ext>
              </a:extLst>
            </p:cNvPr>
            <p:cNvSpPr>
              <a:spLocks noChangeArrowheads="1"/>
            </p:cNvSpPr>
            <p:nvPr/>
          </p:nvSpPr>
          <p:spPr bwMode="auto">
            <a:xfrm>
              <a:off x="5761617" y="2817429"/>
              <a:ext cx="812202" cy="484094"/>
            </a:xfrm>
            <a:prstGeom prst="rect">
              <a:avLst/>
            </a:prstGeom>
            <a:solidFill>
              <a:schemeClr val="accent1"/>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Weld</a:t>
              </a:r>
            </a:p>
          </p:txBody>
        </p:sp>
        <p:sp>
          <p:nvSpPr>
            <p:cNvPr id="55" name="Rectangle 165">
              <a:extLst>
                <a:ext uri="{FF2B5EF4-FFF2-40B4-BE49-F238E27FC236}">
                  <a16:creationId xmlns:a16="http://schemas.microsoft.com/office/drawing/2014/main" id="{D0B65949-ABDB-727F-E6A0-1F65D781C5FF}"/>
                </a:ext>
              </a:extLst>
            </p:cNvPr>
            <p:cNvSpPr>
              <a:spLocks noChangeArrowheads="1"/>
            </p:cNvSpPr>
            <p:nvPr/>
          </p:nvSpPr>
          <p:spPr bwMode="auto">
            <a:xfrm>
              <a:off x="5761617" y="3423802"/>
              <a:ext cx="812202" cy="484094"/>
            </a:xfrm>
            <a:prstGeom prst="rect">
              <a:avLst/>
            </a:prstGeom>
            <a:solidFill>
              <a:schemeClr val="accent1"/>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Assemble</a:t>
              </a:r>
            </a:p>
          </p:txBody>
        </p:sp>
        <p:sp>
          <p:nvSpPr>
            <p:cNvPr id="56" name="Rectangle 166">
              <a:extLst>
                <a:ext uri="{FF2B5EF4-FFF2-40B4-BE49-F238E27FC236}">
                  <a16:creationId xmlns:a16="http://schemas.microsoft.com/office/drawing/2014/main" id="{36D4D06E-4C87-5865-FCE9-F31C224F5D4C}"/>
                </a:ext>
              </a:extLst>
            </p:cNvPr>
            <p:cNvSpPr>
              <a:spLocks noChangeArrowheads="1"/>
            </p:cNvSpPr>
            <p:nvPr/>
          </p:nvSpPr>
          <p:spPr bwMode="auto">
            <a:xfrm>
              <a:off x="5761617" y="4030175"/>
              <a:ext cx="812202" cy="484094"/>
            </a:xfrm>
            <a:prstGeom prst="rect">
              <a:avLst/>
            </a:prstGeom>
            <a:solidFill>
              <a:schemeClr val="accent1"/>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Paint</a:t>
              </a:r>
            </a:p>
          </p:txBody>
        </p:sp>
        <p:sp>
          <p:nvSpPr>
            <p:cNvPr id="57" name="Rectangle 167">
              <a:extLst>
                <a:ext uri="{FF2B5EF4-FFF2-40B4-BE49-F238E27FC236}">
                  <a16:creationId xmlns:a16="http://schemas.microsoft.com/office/drawing/2014/main" id="{B7F45914-538B-0713-1538-F420C4B95E0A}"/>
                </a:ext>
              </a:extLst>
            </p:cNvPr>
            <p:cNvSpPr>
              <a:spLocks noChangeArrowheads="1"/>
            </p:cNvSpPr>
            <p:nvPr/>
          </p:nvSpPr>
          <p:spPr bwMode="auto">
            <a:xfrm>
              <a:off x="5761617" y="4636547"/>
              <a:ext cx="812202" cy="484094"/>
            </a:xfrm>
            <a:prstGeom prst="rect">
              <a:avLst/>
            </a:prstGeom>
            <a:solidFill>
              <a:schemeClr val="accent1"/>
            </a:solid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Store</a:t>
              </a:r>
            </a:p>
          </p:txBody>
        </p:sp>
        <p:sp>
          <p:nvSpPr>
            <p:cNvPr id="58" name="Freeform 25">
              <a:extLst>
                <a:ext uri="{FF2B5EF4-FFF2-40B4-BE49-F238E27FC236}">
                  <a16:creationId xmlns:a16="http://schemas.microsoft.com/office/drawing/2014/main" id="{C85F354F-E28D-3037-BB63-0217929AB6CD}"/>
                </a:ext>
              </a:extLst>
            </p:cNvPr>
            <p:cNvSpPr>
              <a:spLocks/>
            </p:cNvSpPr>
            <p:nvPr/>
          </p:nvSpPr>
          <p:spPr bwMode="auto">
            <a:xfrm rot="10800000">
              <a:off x="6021229" y="1308268"/>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59" name="Freeform 26">
              <a:extLst>
                <a:ext uri="{FF2B5EF4-FFF2-40B4-BE49-F238E27FC236}">
                  <a16:creationId xmlns:a16="http://schemas.microsoft.com/office/drawing/2014/main" id="{BA883743-DC74-AC97-B686-158792924963}"/>
                </a:ext>
              </a:extLst>
            </p:cNvPr>
            <p:cNvSpPr>
              <a:spLocks/>
            </p:cNvSpPr>
            <p:nvPr/>
          </p:nvSpPr>
          <p:spPr bwMode="auto">
            <a:xfrm>
              <a:off x="6021229" y="5213120"/>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1"/>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grpSp>
        <p:nvGrpSpPr>
          <p:cNvPr id="60" name="Group 180">
            <a:extLst>
              <a:ext uri="{FF2B5EF4-FFF2-40B4-BE49-F238E27FC236}">
                <a16:creationId xmlns:a16="http://schemas.microsoft.com/office/drawing/2014/main" id="{0E8CAD48-6D93-6CC9-D8FE-4B590AFC2EAF}"/>
              </a:ext>
            </a:extLst>
          </p:cNvPr>
          <p:cNvGrpSpPr>
            <a:grpSpLocks/>
          </p:cNvGrpSpPr>
          <p:nvPr/>
        </p:nvGrpSpPr>
        <p:grpSpPr bwMode="auto">
          <a:xfrm>
            <a:off x="9658471" y="1899790"/>
            <a:ext cx="1137996" cy="3591451"/>
            <a:chOff x="6925236" y="1310061"/>
            <a:chExt cx="812202" cy="4039587"/>
          </a:xfrm>
          <a:solidFill>
            <a:schemeClr val="accent5"/>
          </a:solidFill>
        </p:grpSpPr>
        <p:cxnSp>
          <p:nvCxnSpPr>
            <p:cNvPr id="61" name="Straight Arrow Connector 170">
              <a:extLst>
                <a:ext uri="{FF2B5EF4-FFF2-40B4-BE49-F238E27FC236}">
                  <a16:creationId xmlns:a16="http://schemas.microsoft.com/office/drawing/2014/main" id="{CA834EA4-60F3-A590-4CBA-4E06B266D187}"/>
                </a:ext>
              </a:extLst>
            </p:cNvPr>
            <p:cNvCxnSpPr>
              <a:cxnSpLocks noChangeShapeType="1"/>
            </p:cNvCxnSpPr>
            <p:nvPr/>
          </p:nvCxnSpPr>
          <p:spPr bwMode="auto">
            <a:xfrm rot="5400000">
              <a:off x="5400737" y="3397237"/>
              <a:ext cx="3861201" cy="1566"/>
            </a:xfrm>
            <a:prstGeom prst="straightConnector1">
              <a:avLst/>
            </a:prstGeom>
            <a:grpFill/>
            <a:ln w="38100" cap="sq">
              <a:solidFill>
                <a:schemeClr val="accent5"/>
              </a:solidFill>
              <a:round/>
              <a:headEnd/>
              <a:tailEnd/>
            </a:ln>
          </p:spPr>
        </p:cxnSp>
        <p:sp>
          <p:nvSpPr>
            <p:cNvPr id="62" name="Rectangle 171">
              <a:extLst>
                <a:ext uri="{FF2B5EF4-FFF2-40B4-BE49-F238E27FC236}">
                  <a16:creationId xmlns:a16="http://schemas.microsoft.com/office/drawing/2014/main" id="{42FBF469-0DB5-85A2-3E8F-5B22E2BECADD}"/>
                </a:ext>
              </a:extLst>
            </p:cNvPr>
            <p:cNvSpPr>
              <a:spLocks noChangeArrowheads="1"/>
            </p:cNvSpPr>
            <p:nvPr/>
          </p:nvSpPr>
          <p:spPr bwMode="auto">
            <a:xfrm>
              <a:off x="6925236" y="1606476"/>
              <a:ext cx="812202" cy="484094"/>
            </a:xfrm>
            <a:prstGeom prst="rect">
              <a:avLst/>
            </a:prstGeom>
            <a:grp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dirty="0">
                  <a:solidFill>
                    <a:schemeClr val="bg1"/>
                  </a:solidFill>
                  <a:latin typeface="Roboto" panose="02000000000000000000" pitchFamily="2" charset="0"/>
                  <a:ea typeface="Roboto" panose="02000000000000000000" pitchFamily="2" charset="0"/>
                </a:rPr>
                <a:t>Machine</a:t>
              </a:r>
            </a:p>
          </p:txBody>
        </p:sp>
        <p:sp>
          <p:nvSpPr>
            <p:cNvPr id="63" name="Rectangle 172">
              <a:extLst>
                <a:ext uri="{FF2B5EF4-FFF2-40B4-BE49-F238E27FC236}">
                  <a16:creationId xmlns:a16="http://schemas.microsoft.com/office/drawing/2014/main" id="{F2CD19D3-3E31-F330-0D88-E768A1D7B9A2}"/>
                </a:ext>
              </a:extLst>
            </p:cNvPr>
            <p:cNvSpPr>
              <a:spLocks noChangeArrowheads="1"/>
            </p:cNvSpPr>
            <p:nvPr/>
          </p:nvSpPr>
          <p:spPr bwMode="auto">
            <a:xfrm>
              <a:off x="6925236" y="2212849"/>
              <a:ext cx="812202" cy="484094"/>
            </a:xfrm>
            <a:prstGeom prst="rect">
              <a:avLst/>
            </a:prstGeom>
            <a:grp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Weld</a:t>
              </a:r>
            </a:p>
          </p:txBody>
        </p:sp>
        <p:sp>
          <p:nvSpPr>
            <p:cNvPr id="64" name="Rectangle 173">
              <a:extLst>
                <a:ext uri="{FF2B5EF4-FFF2-40B4-BE49-F238E27FC236}">
                  <a16:creationId xmlns:a16="http://schemas.microsoft.com/office/drawing/2014/main" id="{4084B4E9-BE00-6426-17A0-FFC6CDF0AF22}"/>
                </a:ext>
              </a:extLst>
            </p:cNvPr>
            <p:cNvSpPr>
              <a:spLocks noChangeArrowheads="1"/>
            </p:cNvSpPr>
            <p:nvPr/>
          </p:nvSpPr>
          <p:spPr bwMode="auto">
            <a:xfrm>
              <a:off x="6925236" y="2819222"/>
              <a:ext cx="812202" cy="484094"/>
            </a:xfrm>
            <a:prstGeom prst="rect">
              <a:avLst/>
            </a:prstGeom>
            <a:grp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dirty="0">
                  <a:solidFill>
                    <a:schemeClr val="bg1"/>
                  </a:solidFill>
                  <a:latin typeface="Roboto" panose="02000000000000000000" pitchFamily="2" charset="0"/>
                  <a:ea typeface="Roboto" panose="02000000000000000000" pitchFamily="2" charset="0"/>
                </a:rPr>
                <a:t>Form</a:t>
              </a:r>
            </a:p>
          </p:txBody>
        </p:sp>
        <p:sp>
          <p:nvSpPr>
            <p:cNvPr id="65" name="Rectangle 174">
              <a:extLst>
                <a:ext uri="{FF2B5EF4-FFF2-40B4-BE49-F238E27FC236}">
                  <a16:creationId xmlns:a16="http://schemas.microsoft.com/office/drawing/2014/main" id="{54D2AB31-1147-F8A9-6852-D91B6B10EFB0}"/>
                </a:ext>
              </a:extLst>
            </p:cNvPr>
            <p:cNvSpPr>
              <a:spLocks noChangeArrowheads="1"/>
            </p:cNvSpPr>
            <p:nvPr/>
          </p:nvSpPr>
          <p:spPr bwMode="auto">
            <a:xfrm>
              <a:off x="6925236" y="3425595"/>
              <a:ext cx="812202" cy="484094"/>
            </a:xfrm>
            <a:prstGeom prst="rect">
              <a:avLst/>
            </a:prstGeom>
            <a:grp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a:solidFill>
                    <a:schemeClr val="bg1"/>
                  </a:solidFill>
                  <a:latin typeface="Roboto" panose="02000000000000000000" pitchFamily="2" charset="0"/>
                  <a:ea typeface="Roboto" panose="02000000000000000000" pitchFamily="2" charset="0"/>
                </a:rPr>
                <a:t>Paint</a:t>
              </a:r>
            </a:p>
          </p:txBody>
        </p:sp>
        <p:sp>
          <p:nvSpPr>
            <p:cNvPr id="66" name="Rectangle 175">
              <a:extLst>
                <a:ext uri="{FF2B5EF4-FFF2-40B4-BE49-F238E27FC236}">
                  <a16:creationId xmlns:a16="http://schemas.microsoft.com/office/drawing/2014/main" id="{A2CE58EB-21F6-19A0-2694-3A839BE0030D}"/>
                </a:ext>
              </a:extLst>
            </p:cNvPr>
            <p:cNvSpPr>
              <a:spLocks noChangeArrowheads="1"/>
            </p:cNvSpPr>
            <p:nvPr/>
          </p:nvSpPr>
          <p:spPr bwMode="auto">
            <a:xfrm>
              <a:off x="6925236" y="4031968"/>
              <a:ext cx="812202" cy="484094"/>
            </a:xfrm>
            <a:prstGeom prst="rect">
              <a:avLst/>
            </a:prstGeom>
            <a:grp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dirty="0">
                  <a:solidFill>
                    <a:schemeClr val="bg1"/>
                  </a:solidFill>
                  <a:latin typeface="Roboto" panose="02000000000000000000" pitchFamily="2" charset="0"/>
                  <a:ea typeface="Roboto" panose="02000000000000000000" pitchFamily="2" charset="0"/>
                </a:rPr>
                <a:t>Assemble</a:t>
              </a:r>
            </a:p>
          </p:txBody>
        </p:sp>
        <p:sp>
          <p:nvSpPr>
            <p:cNvPr id="67" name="Rectangle 176">
              <a:extLst>
                <a:ext uri="{FF2B5EF4-FFF2-40B4-BE49-F238E27FC236}">
                  <a16:creationId xmlns:a16="http://schemas.microsoft.com/office/drawing/2014/main" id="{4B1ED239-3D7C-6B27-2C4D-14859070D4F5}"/>
                </a:ext>
              </a:extLst>
            </p:cNvPr>
            <p:cNvSpPr>
              <a:spLocks noChangeArrowheads="1"/>
            </p:cNvSpPr>
            <p:nvPr/>
          </p:nvSpPr>
          <p:spPr bwMode="auto">
            <a:xfrm>
              <a:off x="6925236" y="4638340"/>
              <a:ext cx="812202" cy="484094"/>
            </a:xfrm>
            <a:prstGeom prst="rect">
              <a:avLst/>
            </a:prstGeom>
            <a:grpFill/>
            <a:ln w="12700" cap="sq">
              <a:solidFill>
                <a:schemeClr val="tx1"/>
              </a:solidFill>
              <a:round/>
              <a:headEnd/>
              <a:tailEnd/>
            </a:ln>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200" dirty="0">
                  <a:solidFill>
                    <a:schemeClr val="bg1"/>
                  </a:solidFill>
                  <a:latin typeface="Roboto" panose="02000000000000000000" pitchFamily="2" charset="0"/>
                  <a:ea typeface="Roboto" panose="02000000000000000000" pitchFamily="2" charset="0"/>
                </a:rPr>
                <a:t>Store</a:t>
              </a:r>
            </a:p>
          </p:txBody>
        </p:sp>
        <p:sp>
          <p:nvSpPr>
            <p:cNvPr id="68" name="Freeform 25">
              <a:extLst>
                <a:ext uri="{FF2B5EF4-FFF2-40B4-BE49-F238E27FC236}">
                  <a16:creationId xmlns:a16="http://schemas.microsoft.com/office/drawing/2014/main" id="{D5198C04-C453-510C-DCF9-692FE50C781F}"/>
                </a:ext>
              </a:extLst>
            </p:cNvPr>
            <p:cNvSpPr>
              <a:spLocks/>
            </p:cNvSpPr>
            <p:nvPr/>
          </p:nvSpPr>
          <p:spPr bwMode="auto">
            <a:xfrm rot="10800000">
              <a:off x="7184848" y="131006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6"/>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69" name="Freeform 26">
              <a:extLst>
                <a:ext uri="{FF2B5EF4-FFF2-40B4-BE49-F238E27FC236}">
                  <a16:creationId xmlns:a16="http://schemas.microsoft.com/office/drawing/2014/main" id="{9DA3EE48-4E85-3BAF-61C0-C1BACB0E546E}"/>
                </a:ext>
              </a:extLst>
            </p:cNvPr>
            <p:cNvSpPr>
              <a:spLocks/>
            </p:cNvSpPr>
            <p:nvPr/>
          </p:nvSpPr>
          <p:spPr bwMode="auto">
            <a:xfrm>
              <a:off x="7184848" y="5214913"/>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1"/>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8322814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12. Build equipment for one-piece pull</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74</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pSp>
        <p:nvGrpSpPr>
          <p:cNvPr id="168" name="Group 167">
            <a:extLst>
              <a:ext uri="{FF2B5EF4-FFF2-40B4-BE49-F238E27FC236}">
                <a16:creationId xmlns:a16="http://schemas.microsoft.com/office/drawing/2014/main" id="{65EDD625-1537-4E87-D94E-C8DA2EF429BC}"/>
              </a:ext>
            </a:extLst>
          </p:cNvPr>
          <p:cNvGrpSpPr/>
          <p:nvPr/>
        </p:nvGrpSpPr>
        <p:grpSpPr>
          <a:xfrm>
            <a:off x="1904327" y="1783428"/>
            <a:ext cx="8383347" cy="4549719"/>
            <a:chOff x="620713" y="1320800"/>
            <a:chExt cx="7748587" cy="4901462"/>
          </a:xfrm>
        </p:grpSpPr>
        <p:pic>
          <p:nvPicPr>
            <p:cNvPr id="4" name="Picture 35" descr="C:\Users\Administrator\Documents\supplierhappy.gif">
              <a:extLst>
                <a:ext uri="{FF2B5EF4-FFF2-40B4-BE49-F238E27FC236}">
                  <a16:creationId xmlns:a16="http://schemas.microsoft.com/office/drawing/2014/main" id="{01137627-83E1-8963-09D4-D8D4C57A7C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 y="4025900"/>
              <a:ext cx="877888"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8" descr="C:\Users\Administrator\Documents\happycust.gif">
              <a:extLst>
                <a:ext uri="{FF2B5EF4-FFF2-40B4-BE49-F238E27FC236}">
                  <a16:creationId xmlns:a16="http://schemas.microsoft.com/office/drawing/2014/main" id="{616ECB4B-2CFF-E97D-EC04-7F69A06E3B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513" y="4038600"/>
              <a:ext cx="966787"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268">
              <a:extLst>
                <a:ext uri="{FF2B5EF4-FFF2-40B4-BE49-F238E27FC236}">
                  <a16:creationId xmlns:a16="http://schemas.microsoft.com/office/drawing/2014/main" id="{DE907149-51FD-12CD-6D37-17BB3CF61E19}"/>
                </a:ext>
              </a:extLst>
            </p:cNvPr>
            <p:cNvGrpSpPr>
              <a:grpSpLocks/>
            </p:cNvGrpSpPr>
            <p:nvPr/>
          </p:nvGrpSpPr>
          <p:grpSpPr bwMode="auto">
            <a:xfrm>
              <a:off x="2016125" y="4862513"/>
              <a:ext cx="5027613" cy="315912"/>
              <a:chOff x="2016698" y="4970038"/>
              <a:chExt cx="5026438" cy="316339"/>
            </a:xfrm>
          </p:grpSpPr>
          <p:sp>
            <p:nvSpPr>
              <p:cNvPr id="10" name="Freeform 48">
                <a:extLst>
                  <a:ext uri="{FF2B5EF4-FFF2-40B4-BE49-F238E27FC236}">
                    <a16:creationId xmlns:a16="http://schemas.microsoft.com/office/drawing/2014/main" id="{8CEDD338-F9CD-0870-E833-07DD2E6A9283}"/>
                  </a:ext>
                </a:extLst>
              </p:cNvPr>
              <p:cNvSpPr>
                <a:spLocks noChangeArrowheads="1"/>
              </p:cNvSpPr>
              <p:nvPr/>
            </p:nvSpPr>
            <p:spPr bwMode="auto">
              <a:xfrm flipV="1">
                <a:off x="2018953" y="515190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3" name="Freeform 50">
                <a:extLst>
                  <a:ext uri="{FF2B5EF4-FFF2-40B4-BE49-F238E27FC236}">
                    <a16:creationId xmlns:a16="http://schemas.microsoft.com/office/drawing/2014/main" id="{9DF6CFB6-4A20-15A8-48D3-FB6A9136FDB3}"/>
                  </a:ext>
                </a:extLst>
              </p:cNvPr>
              <p:cNvSpPr>
                <a:spLocks noChangeArrowheads="1"/>
              </p:cNvSpPr>
              <p:nvPr/>
            </p:nvSpPr>
            <p:spPr bwMode="auto">
              <a:xfrm flipV="1">
                <a:off x="3429993" y="5153699"/>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4" name="Freeform 52">
                <a:extLst>
                  <a:ext uri="{FF2B5EF4-FFF2-40B4-BE49-F238E27FC236}">
                    <a16:creationId xmlns:a16="http://schemas.microsoft.com/office/drawing/2014/main" id="{C27F4602-FD13-C024-5316-39438D45CFA6}"/>
                  </a:ext>
                </a:extLst>
              </p:cNvPr>
              <p:cNvSpPr>
                <a:spLocks noChangeArrowheads="1"/>
              </p:cNvSpPr>
              <p:nvPr/>
            </p:nvSpPr>
            <p:spPr bwMode="auto">
              <a:xfrm flipV="1">
                <a:off x="4841033" y="5155492"/>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5" name="Freeform 53">
                <a:extLst>
                  <a:ext uri="{FF2B5EF4-FFF2-40B4-BE49-F238E27FC236}">
                    <a16:creationId xmlns:a16="http://schemas.microsoft.com/office/drawing/2014/main" id="{F136847E-CC9A-AFFD-81EF-10C008FC6AA2}"/>
                  </a:ext>
                </a:extLst>
              </p:cNvPr>
              <p:cNvSpPr>
                <a:spLocks noChangeArrowheads="1"/>
              </p:cNvSpPr>
              <p:nvPr/>
            </p:nvSpPr>
            <p:spPr bwMode="auto">
              <a:xfrm>
                <a:off x="6260576" y="4975417"/>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26" name="Group 57">
                <a:extLst>
                  <a:ext uri="{FF2B5EF4-FFF2-40B4-BE49-F238E27FC236}">
                    <a16:creationId xmlns:a16="http://schemas.microsoft.com/office/drawing/2014/main" id="{6E656F8A-1191-6955-77A6-4524CC8A8634}"/>
                  </a:ext>
                </a:extLst>
              </p:cNvPr>
              <p:cNvGrpSpPr>
                <a:grpSpLocks/>
              </p:cNvGrpSpPr>
              <p:nvPr/>
            </p:nvGrpSpPr>
            <p:grpSpPr bwMode="auto">
              <a:xfrm>
                <a:off x="2723115" y="5045341"/>
                <a:ext cx="782560" cy="167525"/>
                <a:chOff x="3056588" y="3664772"/>
                <a:chExt cx="782560" cy="310960"/>
              </a:xfrm>
            </p:grpSpPr>
            <p:sp>
              <p:nvSpPr>
                <p:cNvPr id="80" name="Freeform 55">
                  <a:extLst>
                    <a:ext uri="{FF2B5EF4-FFF2-40B4-BE49-F238E27FC236}">
                      <a16:creationId xmlns:a16="http://schemas.microsoft.com/office/drawing/2014/main" id="{CF857F63-0474-707A-2E04-FEF3AC438C03}"/>
                    </a:ext>
                  </a:extLst>
                </p:cNvPr>
                <p:cNvSpPr/>
                <p:nvPr/>
              </p:nvSpPr>
              <p:spPr bwMode="auto">
                <a:xfrm>
                  <a:off x="3056444" y="3663677"/>
                  <a:ext cx="780867" cy="129831"/>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81" name="Freeform 56">
                  <a:extLst>
                    <a:ext uri="{FF2B5EF4-FFF2-40B4-BE49-F238E27FC236}">
                      <a16:creationId xmlns:a16="http://schemas.microsoft.com/office/drawing/2014/main" id="{976CEA21-80FE-199A-9E48-4924BAD23EE4}"/>
                    </a:ext>
                  </a:extLst>
                </p:cNvPr>
                <p:cNvSpPr/>
                <p:nvPr/>
              </p:nvSpPr>
              <p:spPr bwMode="auto">
                <a:xfrm flipV="1">
                  <a:off x="3058031" y="3846621"/>
                  <a:ext cx="780867" cy="129831"/>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70" name="Freeform 46">
                <a:extLst>
                  <a:ext uri="{FF2B5EF4-FFF2-40B4-BE49-F238E27FC236}">
                    <a16:creationId xmlns:a16="http://schemas.microsoft.com/office/drawing/2014/main" id="{C988F322-AF90-D67F-4284-64370E848BCF}"/>
                  </a:ext>
                </a:extLst>
              </p:cNvPr>
              <p:cNvSpPr>
                <a:spLocks noChangeArrowheads="1"/>
              </p:cNvSpPr>
              <p:nvPr/>
            </p:nvSpPr>
            <p:spPr bwMode="auto">
              <a:xfrm>
                <a:off x="2016698" y="497003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71" name="Group 58">
                <a:extLst>
                  <a:ext uri="{FF2B5EF4-FFF2-40B4-BE49-F238E27FC236}">
                    <a16:creationId xmlns:a16="http://schemas.microsoft.com/office/drawing/2014/main" id="{E9B0CB39-03C2-BEF8-6B50-0CE601E55F9D}"/>
                  </a:ext>
                </a:extLst>
              </p:cNvPr>
              <p:cNvGrpSpPr>
                <a:grpSpLocks/>
              </p:cNvGrpSpPr>
              <p:nvPr/>
            </p:nvGrpSpPr>
            <p:grpSpPr bwMode="auto">
              <a:xfrm>
                <a:off x="4123398" y="5047133"/>
                <a:ext cx="782560" cy="167525"/>
                <a:chOff x="3056588" y="3664772"/>
                <a:chExt cx="782560" cy="310960"/>
              </a:xfrm>
            </p:grpSpPr>
            <p:sp>
              <p:nvSpPr>
                <p:cNvPr id="78" name="Freeform 59">
                  <a:extLst>
                    <a:ext uri="{FF2B5EF4-FFF2-40B4-BE49-F238E27FC236}">
                      <a16:creationId xmlns:a16="http://schemas.microsoft.com/office/drawing/2014/main" id="{9F3A4216-9F1D-D560-5845-663EB9073C02}"/>
                    </a:ext>
                  </a:extLst>
                </p:cNvPr>
                <p:cNvSpPr/>
                <p:nvPr/>
              </p:nvSpPr>
              <p:spPr bwMode="auto">
                <a:xfrm>
                  <a:off x="3056009" y="3636745"/>
                  <a:ext cx="780867" cy="156388"/>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79" name="Freeform 60">
                  <a:extLst>
                    <a:ext uri="{FF2B5EF4-FFF2-40B4-BE49-F238E27FC236}">
                      <a16:creationId xmlns:a16="http://schemas.microsoft.com/office/drawing/2014/main" id="{4CDF0863-1DCF-9D31-47FE-437E38545990}"/>
                    </a:ext>
                  </a:extLst>
                </p:cNvPr>
                <p:cNvSpPr/>
                <p:nvPr/>
              </p:nvSpPr>
              <p:spPr bwMode="auto">
                <a:xfrm flipV="1">
                  <a:off x="3057596" y="3846245"/>
                  <a:ext cx="780867" cy="129831"/>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grpSp>
            <p:nvGrpSpPr>
              <p:cNvPr id="72" name="Group 61">
                <a:extLst>
                  <a:ext uri="{FF2B5EF4-FFF2-40B4-BE49-F238E27FC236}">
                    <a16:creationId xmlns:a16="http://schemas.microsoft.com/office/drawing/2014/main" id="{C33EAE68-17D1-6CE7-90F2-2C6FBF23F4A4}"/>
                  </a:ext>
                </a:extLst>
              </p:cNvPr>
              <p:cNvGrpSpPr>
                <a:grpSpLocks/>
              </p:cNvGrpSpPr>
              <p:nvPr/>
            </p:nvGrpSpPr>
            <p:grpSpPr bwMode="auto">
              <a:xfrm>
                <a:off x="5545197" y="5048925"/>
                <a:ext cx="782560" cy="167525"/>
                <a:chOff x="3056588" y="3664772"/>
                <a:chExt cx="782560" cy="310960"/>
              </a:xfrm>
            </p:grpSpPr>
            <p:sp>
              <p:nvSpPr>
                <p:cNvPr id="76" name="Freeform 62">
                  <a:extLst>
                    <a:ext uri="{FF2B5EF4-FFF2-40B4-BE49-F238E27FC236}">
                      <a16:creationId xmlns:a16="http://schemas.microsoft.com/office/drawing/2014/main" id="{F0420713-6F25-2B9D-16ED-2BD1C72AA8CC}"/>
                    </a:ext>
                  </a:extLst>
                </p:cNvPr>
                <p:cNvSpPr/>
                <p:nvPr/>
              </p:nvSpPr>
              <p:spPr bwMode="auto">
                <a:xfrm>
                  <a:off x="3056277" y="3665876"/>
                  <a:ext cx="780867" cy="129831"/>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77" name="Freeform 63">
                  <a:extLst>
                    <a:ext uri="{FF2B5EF4-FFF2-40B4-BE49-F238E27FC236}">
                      <a16:creationId xmlns:a16="http://schemas.microsoft.com/office/drawing/2014/main" id="{D97A18A9-8821-2142-6B45-9FC28394E028}"/>
                    </a:ext>
                  </a:extLst>
                </p:cNvPr>
                <p:cNvSpPr/>
                <p:nvPr/>
              </p:nvSpPr>
              <p:spPr bwMode="auto">
                <a:xfrm flipV="1">
                  <a:off x="3057864" y="3845868"/>
                  <a:ext cx="780867" cy="129831"/>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73" name="Freeform 54">
                <a:extLst>
                  <a:ext uri="{FF2B5EF4-FFF2-40B4-BE49-F238E27FC236}">
                    <a16:creationId xmlns:a16="http://schemas.microsoft.com/office/drawing/2014/main" id="{C45B0681-57E7-C70D-F8D8-4E0F1C010E74}"/>
                  </a:ext>
                </a:extLst>
              </p:cNvPr>
              <p:cNvSpPr>
                <a:spLocks noChangeArrowheads="1"/>
              </p:cNvSpPr>
              <p:nvPr/>
            </p:nvSpPr>
            <p:spPr bwMode="auto">
              <a:xfrm flipV="1">
                <a:off x="6262831" y="5157285"/>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4" name="Freeform 49">
                <a:extLst>
                  <a:ext uri="{FF2B5EF4-FFF2-40B4-BE49-F238E27FC236}">
                    <a16:creationId xmlns:a16="http://schemas.microsoft.com/office/drawing/2014/main" id="{E2AA0E19-1505-EF5B-B627-E353896AB46A}"/>
                  </a:ext>
                </a:extLst>
              </p:cNvPr>
              <p:cNvSpPr>
                <a:spLocks noChangeArrowheads="1"/>
              </p:cNvSpPr>
              <p:nvPr/>
            </p:nvSpPr>
            <p:spPr bwMode="auto">
              <a:xfrm>
                <a:off x="3427738" y="4971831"/>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75" name="Freeform 51">
                <a:extLst>
                  <a:ext uri="{FF2B5EF4-FFF2-40B4-BE49-F238E27FC236}">
                    <a16:creationId xmlns:a16="http://schemas.microsoft.com/office/drawing/2014/main" id="{B6CB395F-98E9-F557-9344-8C7E2BA5F083}"/>
                  </a:ext>
                </a:extLst>
              </p:cNvPr>
              <p:cNvSpPr>
                <a:spLocks noChangeArrowheads="1"/>
              </p:cNvSpPr>
              <p:nvPr/>
            </p:nvSpPr>
            <p:spPr bwMode="auto">
              <a:xfrm>
                <a:off x="4838778" y="4973624"/>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pic>
          <p:nvPicPr>
            <p:cNvPr id="82" name="Picture 36" descr="C:\Users\Administrator\Documents\suppliersad.gif">
              <a:extLst>
                <a:ext uri="{FF2B5EF4-FFF2-40B4-BE49-F238E27FC236}">
                  <a16:creationId xmlns:a16="http://schemas.microsoft.com/office/drawing/2014/main" id="{2C5AFAB6-71AB-BAFE-D3B0-3D2B0BB850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713" y="1787525"/>
              <a:ext cx="912812" cy="126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 name="Picture 37" descr="C:\Users\Administrator\Documents\custsad.gif">
              <a:extLst>
                <a:ext uri="{FF2B5EF4-FFF2-40B4-BE49-F238E27FC236}">
                  <a16:creationId xmlns:a16="http://schemas.microsoft.com/office/drawing/2014/main" id="{60745C90-C999-E6FB-B3CA-57FC5586F4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5038" y="1812925"/>
              <a:ext cx="966787"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Freeform 68">
              <a:extLst>
                <a:ext uri="{FF2B5EF4-FFF2-40B4-BE49-F238E27FC236}">
                  <a16:creationId xmlns:a16="http://schemas.microsoft.com/office/drawing/2014/main" id="{840DEE6D-F914-264D-46CE-955224F97103}"/>
                </a:ext>
              </a:extLst>
            </p:cNvPr>
            <p:cNvSpPr>
              <a:spLocks noChangeArrowheads="1"/>
            </p:cNvSpPr>
            <p:nvPr/>
          </p:nvSpPr>
          <p:spPr bwMode="auto">
            <a:xfrm>
              <a:off x="1819275" y="4386263"/>
              <a:ext cx="781050" cy="128587"/>
            </a:xfrm>
            <a:custGeom>
              <a:avLst/>
              <a:gdLst>
                <a:gd name="T0" fmla="*/ 0 w 2025502"/>
                <a:gd name="T1" fmla="*/ 15 h 350874"/>
                <a:gd name="T2" fmla="*/ 0 w 2025502"/>
                <a:gd name="T3" fmla="*/ 13 h 350874"/>
                <a:gd name="T4" fmla="*/ 1 w 2025502"/>
                <a:gd name="T5" fmla="*/ 11 h 350874"/>
                <a:gd name="T6" fmla="*/ 2 w 2025502"/>
                <a:gd name="T7" fmla="*/ 10 h 350874"/>
                <a:gd name="T8" fmla="*/ 3 w 2025502"/>
                <a:gd name="T9" fmla="*/ 8 h 350874"/>
                <a:gd name="T10" fmla="*/ 5 w 2025502"/>
                <a:gd name="T11" fmla="*/ 6 h 350874"/>
                <a:gd name="T12" fmla="*/ 8 w 2025502"/>
                <a:gd name="T13" fmla="*/ 4 h 350874"/>
                <a:gd name="T14" fmla="*/ 10 w 2025502"/>
                <a:gd name="T15" fmla="*/ 3 h 350874"/>
                <a:gd name="T16" fmla="*/ 13 w 2025502"/>
                <a:gd name="T17" fmla="*/ 2 h 350874"/>
                <a:gd name="T18" fmla="*/ 17 w 2025502"/>
                <a:gd name="T19" fmla="*/ 1 h 350874"/>
                <a:gd name="T20" fmla="*/ 20 w 2025502"/>
                <a:gd name="T21" fmla="*/ 0 h 350874"/>
                <a:gd name="T22" fmla="*/ 24 w 2025502"/>
                <a:gd name="T23" fmla="*/ 0 h 350874"/>
                <a:gd name="T24" fmla="*/ 122 w 2025502"/>
                <a:gd name="T25" fmla="*/ 0 h 350874"/>
                <a:gd name="T26" fmla="*/ 127 w 2025502"/>
                <a:gd name="T27" fmla="*/ 0 h 350874"/>
                <a:gd name="T28" fmla="*/ 131 w 2025502"/>
                <a:gd name="T29" fmla="*/ 1 h 350874"/>
                <a:gd name="T30" fmla="*/ 135 w 2025502"/>
                <a:gd name="T31" fmla="*/ 2 h 350874"/>
                <a:gd name="T32" fmla="*/ 138 w 2025502"/>
                <a:gd name="T33" fmla="*/ 4 h 350874"/>
                <a:gd name="T34" fmla="*/ 141 w 2025502"/>
                <a:gd name="T35" fmla="*/ 5 h 350874"/>
                <a:gd name="T36" fmla="*/ 143 w 2025502"/>
                <a:gd name="T37" fmla="*/ 7 h 350874"/>
                <a:gd name="T38" fmla="*/ 145 w 2025502"/>
                <a:gd name="T39" fmla="*/ 9 h 350874"/>
                <a:gd name="T40" fmla="*/ 146 w 2025502"/>
                <a:gd name="T41" fmla="*/ 12 h 350874"/>
                <a:gd name="T42" fmla="*/ 147 w 2025502"/>
                <a:gd name="T43" fmla="*/ 13 h 350874"/>
                <a:gd name="T44" fmla="*/ 147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5" name="Freeform 69">
              <a:extLst>
                <a:ext uri="{FF2B5EF4-FFF2-40B4-BE49-F238E27FC236}">
                  <a16:creationId xmlns:a16="http://schemas.microsoft.com/office/drawing/2014/main" id="{C0F8CC5C-0F9B-3575-23AB-2E7D2DBB2588}"/>
                </a:ext>
              </a:extLst>
            </p:cNvPr>
            <p:cNvSpPr>
              <a:spLocks noChangeArrowheads="1"/>
            </p:cNvSpPr>
            <p:nvPr/>
          </p:nvSpPr>
          <p:spPr bwMode="auto">
            <a:xfrm flipV="1">
              <a:off x="1822450" y="4567238"/>
              <a:ext cx="779463" cy="128587"/>
            </a:xfrm>
            <a:custGeom>
              <a:avLst/>
              <a:gdLst>
                <a:gd name="T0" fmla="*/ 0 w 2025502"/>
                <a:gd name="T1" fmla="*/ 15 h 350874"/>
                <a:gd name="T2" fmla="*/ 0 w 2025502"/>
                <a:gd name="T3" fmla="*/ 13 h 350874"/>
                <a:gd name="T4" fmla="*/ 1 w 2025502"/>
                <a:gd name="T5" fmla="*/ 11 h 350874"/>
                <a:gd name="T6" fmla="*/ 2 w 2025502"/>
                <a:gd name="T7" fmla="*/ 10 h 350874"/>
                <a:gd name="T8" fmla="*/ 3 w 2025502"/>
                <a:gd name="T9" fmla="*/ 8 h 350874"/>
                <a:gd name="T10" fmla="*/ 5 w 2025502"/>
                <a:gd name="T11" fmla="*/ 6 h 350874"/>
                <a:gd name="T12" fmla="*/ 7 w 2025502"/>
                <a:gd name="T13" fmla="*/ 4 h 350874"/>
                <a:gd name="T14" fmla="*/ 10 w 2025502"/>
                <a:gd name="T15" fmla="*/ 3 h 350874"/>
                <a:gd name="T16" fmla="*/ 13 w 2025502"/>
                <a:gd name="T17" fmla="*/ 2 h 350874"/>
                <a:gd name="T18" fmla="*/ 16 w 2025502"/>
                <a:gd name="T19" fmla="*/ 1 h 350874"/>
                <a:gd name="T20" fmla="*/ 20 w 2025502"/>
                <a:gd name="T21" fmla="*/ 0 h 350874"/>
                <a:gd name="T22" fmla="*/ 23 w 2025502"/>
                <a:gd name="T23" fmla="*/ 0 h 350874"/>
                <a:gd name="T24" fmla="*/ 120 w 2025502"/>
                <a:gd name="T25" fmla="*/ 0 h 350874"/>
                <a:gd name="T26" fmla="*/ 125 w 2025502"/>
                <a:gd name="T27" fmla="*/ 0 h 350874"/>
                <a:gd name="T28" fmla="*/ 129 w 2025502"/>
                <a:gd name="T29" fmla="*/ 1 h 350874"/>
                <a:gd name="T30" fmla="*/ 132 w 2025502"/>
                <a:gd name="T31" fmla="*/ 2 h 350874"/>
                <a:gd name="T32" fmla="*/ 135 w 2025502"/>
                <a:gd name="T33" fmla="*/ 4 h 350874"/>
                <a:gd name="T34" fmla="*/ 139 w 2025502"/>
                <a:gd name="T35" fmla="*/ 5 h 350874"/>
                <a:gd name="T36" fmla="*/ 141 w 2025502"/>
                <a:gd name="T37" fmla="*/ 7 h 350874"/>
                <a:gd name="T38" fmla="*/ 143 w 2025502"/>
                <a:gd name="T39" fmla="*/ 9 h 350874"/>
                <a:gd name="T40" fmla="*/ 144 w 2025502"/>
                <a:gd name="T41" fmla="*/ 12 h 350874"/>
                <a:gd name="T42" fmla="*/ 144 w 2025502"/>
                <a:gd name="T43" fmla="*/ 13 h 350874"/>
                <a:gd name="T44" fmla="*/ 144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6" name="Freeform 70">
              <a:extLst>
                <a:ext uri="{FF2B5EF4-FFF2-40B4-BE49-F238E27FC236}">
                  <a16:creationId xmlns:a16="http://schemas.microsoft.com/office/drawing/2014/main" id="{F4C73E85-2B24-2026-4EF9-BCF3A4584CCD}"/>
                </a:ext>
              </a:extLst>
            </p:cNvPr>
            <p:cNvSpPr>
              <a:spLocks noChangeArrowheads="1"/>
            </p:cNvSpPr>
            <p:nvPr/>
          </p:nvSpPr>
          <p:spPr bwMode="auto">
            <a:xfrm>
              <a:off x="6530975" y="4375150"/>
              <a:ext cx="781050" cy="128588"/>
            </a:xfrm>
            <a:custGeom>
              <a:avLst/>
              <a:gdLst>
                <a:gd name="T0" fmla="*/ 0 w 2025502"/>
                <a:gd name="T1" fmla="*/ 15 h 350874"/>
                <a:gd name="T2" fmla="*/ 0 w 2025502"/>
                <a:gd name="T3" fmla="*/ 13 h 350874"/>
                <a:gd name="T4" fmla="*/ 1 w 2025502"/>
                <a:gd name="T5" fmla="*/ 11 h 350874"/>
                <a:gd name="T6" fmla="*/ 2 w 2025502"/>
                <a:gd name="T7" fmla="*/ 10 h 350874"/>
                <a:gd name="T8" fmla="*/ 3 w 2025502"/>
                <a:gd name="T9" fmla="*/ 8 h 350874"/>
                <a:gd name="T10" fmla="*/ 5 w 2025502"/>
                <a:gd name="T11" fmla="*/ 6 h 350874"/>
                <a:gd name="T12" fmla="*/ 8 w 2025502"/>
                <a:gd name="T13" fmla="*/ 4 h 350874"/>
                <a:gd name="T14" fmla="*/ 10 w 2025502"/>
                <a:gd name="T15" fmla="*/ 3 h 350874"/>
                <a:gd name="T16" fmla="*/ 13 w 2025502"/>
                <a:gd name="T17" fmla="*/ 2 h 350874"/>
                <a:gd name="T18" fmla="*/ 17 w 2025502"/>
                <a:gd name="T19" fmla="*/ 1 h 350874"/>
                <a:gd name="T20" fmla="*/ 20 w 2025502"/>
                <a:gd name="T21" fmla="*/ 0 h 350874"/>
                <a:gd name="T22" fmla="*/ 24 w 2025502"/>
                <a:gd name="T23" fmla="*/ 0 h 350874"/>
                <a:gd name="T24" fmla="*/ 122 w 2025502"/>
                <a:gd name="T25" fmla="*/ 0 h 350874"/>
                <a:gd name="T26" fmla="*/ 127 w 2025502"/>
                <a:gd name="T27" fmla="*/ 0 h 350874"/>
                <a:gd name="T28" fmla="*/ 131 w 2025502"/>
                <a:gd name="T29" fmla="*/ 1 h 350874"/>
                <a:gd name="T30" fmla="*/ 135 w 2025502"/>
                <a:gd name="T31" fmla="*/ 2 h 350874"/>
                <a:gd name="T32" fmla="*/ 138 w 2025502"/>
                <a:gd name="T33" fmla="*/ 4 h 350874"/>
                <a:gd name="T34" fmla="*/ 141 w 2025502"/>
                <a:gd name="T35" fmla="*/ 5 h 350874"/>
                <a:gd name="T36" fmla="*/ 143 w 2025502"/>
                <a:gd name="T37" fmla="*/ 7 h 350874"/>
                <a:gd name="T38" fmla="*/ 145 w 2025502"/>
                <a:gd name="T39" fmla="*/ 9 h 350874"/>
                <a:gd name="T40" fmla="*/ 146 w 2025502"/>
                <a:gd name="T41" fmla="*/ 12 h 350874"/>
                <a:gd name="T42" fmla="*/ 147 w 2025502"/>
                <a:gd name="T43" fmla="*/ 13 h 350874"/>
                <a:gd name="T44" fmla="*/ 147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7" name="Freeform 71">
              <a:extLst>
                <a:ext uri="{FF2B5EF4-FFF2-40B4-BE49-F238E27FC236}">
                  <a16:creationId xmlns:a16="http://schemas.microsoft.com/office/drawing/2014/main" id="{759CB9E8-2976-9937-3928-BD31D79F7299}"/>
                </a:ext>
              </a:extLst>
            </p:cNvPr>
            <p:cNvSpPr>
              <a:spLocks noChangeArrowheads="1"/>
            </p:cNvSpPr>
            <p:nvPr/>
          </p:nvSpPr>
          <p:spPr bwMode="auto">
            <a:xfrm flipV="1">
              <a:off x="6534150" y="4556125"/>
              <a:ext cx="779463" cy="130175"/>
            </a:xfrm>
            <a:custGeom>
              <a:avLst/>
              <a:gdLst>
                <a:gd name="T0" fmla="*/ 0 w 2025502"/>
                <a:gd name="T1" fmla="*/ 17 h 350874"/>
                <a:gd name="T2" fmla="*/ 0 w 2025502"/>
                <a:gd name="T3" fmla="*/ 14 h 350874"/>
                <a:gd name="T4" fmla="*/ 1 w 2025502"/>
                <a:gd name="T5" fmla="*/ 12 h 350874"/>
                <a:gd name="T6" fmla="*/ 2 w 2025502"/>
                <a:gd name="T7" fmla="*/ 11 h 350874"/>
                <a:gd name="T8" fmla="*/ 3 w 2025502"/>
                <a:gd name="T9" fmla="*/ 9 h 350874"/>
                <a:gd name="T10" fmla="*/ 5 w 2025502"/>
                <a:gd name="T11" fmla="*/ 7 h 350874"/>
                <a:gd name="T12" fmla="*/ 7 w 2025502"/>
                <a:gd name="T13" fmla="*/ 5 h 350874"/>
                <a:gd name="T14" fmla="*/ 10 w 2025502"/>
                <a:gd name="T15" fmla="*/ 3 h 350874"/>
                <a:gd name="T16" fmla="*/ 13 w 2025502"/>
                <a:gd name="T17" fmla="*/ 2 h 350874"/>
                <a:gd name="T18" fmla="*/ 16 w 2025502"/>
                <a:gd name="T19" fmla="*/ 1 h 350874"/>
                <a:gd name="T20" fmla="*/ 20 w 2025502"/>
                <a:gd name="T21" fmla="*/ 0 h 350874"/>
                <a:gd name="T22" fmla="*/ 23 w 2025502"/>
                <a:gd name="T23" fmla="*/ 0 h 350874"/>
                <a:gd name="T24" fmla="*/ 120 w 2025502"/>
                <a:gd name="T25" fmla="*/ 0 h 350874"/>
                <a:gd name="T26" fmla="*/ 125 w 2025502"/>
                <a:gd name="T27" fmla="*/ 0 h 350874"/>
                <a:gd name="T28" fmla="*/ 129 w 2025502"/>
                <a:gd name="T29" fmla="*/ 1 h 350874"/>
                <a:gd name="T30" fmla="*/ 132 w 2025502"/>
                <a:gd name="T31" fmla="*/ 2 h 350874"/>
                <a:gd name="T32" fmla="*/ 135 w 2025502"/>
                <a:gd name="T33" fmla="*/ 4 h 350874"/>
                <a:gd name="T34" fmla="*/ 139 w 2025502"/>
                <a:gd name="T35" fmla="*/ 6 h 350874"/>
                <a:gd name="T36" fmla="*/ 141 w 2025502"/>
                <a:gd name="T37" fmla="*/ 8 h 350874"/>
                <a:gd name="T38" fmla="*/ 143 w 2025502"/>
                <a:gd name="T39" fmla="*/ 10 h 350874"/>
                <a:gd name="T40" fmla="*/ 144 w 2025502"/>
                <a:gd name="T41" fmla="*/ 13 h 350874"/>
                <a:gd name="T42" fmla="*/ 144 w 2025502"/>
                <a:gd name="T43" fmla="*/ 15 h 350874"/>
                <a:gd name="T44" fmla="*/ 144 w 2025502"/>
                <a:gd name="T45" fmla="*/ 17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88" name="Group 72">
              <a:extLst>
                <a:ext uri="{FF2B5EF4-FFF2-40B4-BE49-F238E27FC236}">
                  <a16:creationId xmlns:a16="http://schemas.microsoft.com/office/drawing/2014/main" id="{A7514059-2DA8-FA8C-7D11-F2733E366E80}"/>
                </a:ext>
              </a:extLst>
            </p:cNvPr>
            <p:cNvGrpSpPr>
              <a:grpSpLocks/>
            </p:cNvGrpSpPr>
            <p:nvPr/>
          </p:nvGrpSpPr>
          <p:grpSpPr bwMode="auto">
            <a:xfrm>
              <a:off x="6537325" y="4179888"/>
              <a:ext cx="782638" cy="306387"/>
              <a:chOff x="3056588" y="3664772"/>
              <a:chExt cx="782560" cy="310960"/>
            </a:xfrm>
          </p:grpSpPr>
          <p:sp>
            <p:nvSpPr>
              <p:cNvPr id="89" name="Freeform 73">
                <a:extLst>
                  <a:ext uri="{FF2B5EF4-FFF2-40B4-BE49-F238E27FC236}">
                    <a16:creationId xmlns:a16="http://schemas.microsoft.com/office/drawing/2014/main" id="{ABBCBC2E-E1CB-2DB5-3FBB-3E7807A1F6FF}"/>
                  </a:ext>
                </a:extLst>
              </p:cNvPr>
              <p:cNvSpPr/>
              <p:nvPr/>
            </p:nvSpPr>
            <p:spPr bwMode="auto">
              <a:xfrm>
                <a:off x="3056588" y="3664772"/>
                <a:ext cx="780972" cy="128896"/>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90" name="Freeform 74">
                <a:extLst>
                  <a:ext uri="{FF2B5EF4-FFF2-40B4-BE49-F238E27FC236}">
                    <a16:creationId xmlns:a16="http://schemas.microsoft.com/office/drawing/2014/main" id="{510EF33D-48BD-A3EA-0E69-E2501EE8A8B7}"/>
                  </a:ext>
                </a:extLst>
              </p:cNvPr>
              <p:cNvSpPr/>
              <p:nvPr/>
            </p:nvSpPr>
            <p:spPr bwMode="auto">
              <a:xfrm flipV="1">
                <a:off x="3058176" y="3846836"/>
                <a:ext cx="780972" cy="128896"/>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grpSp>
          <p:nvGrpSpPr>
            <p:cNvPr id="91" name="Group 75">
              <a:extLst>
                <a:ext uri="{FF2B5EF4-FFF2-40B4-BE49-F238E27FC236}">
                  <a16:creationId xmlns:a16="http://schemas.microsoft.com/office/drawing/2014/main" id="{B14F97B7-C3D1-99C4-596C-FA1191BD355C}"/>
                </a:ext>
              </a:extLst>
            </p:cNvPr>
            <p:cNvGrpSpPr>
              <a:grpSpLocks/>
            </p:cNvGrpSpPr>
            <p:nvPr/>
          </p:nvGrpSpPr>
          <p:grpSpPr bwMode="auto">
            <a:xfrm>
              <a:off x="1804988" y="4213225"/>
              <a:ext cx="782637" cy="306388"/>
              <a:chOff x="3056588" y="3664772"/>
              <a:chExt cx="782560" cy="310960"/>
            </a:xfrm>
          </p:grpSpPr>
          <p:sp>
            <p:nvSpPr>
              <p:cNvPr id="92" name="Freeform 76">
                <a:extLst>
                  <a:ext uri="{FF2B5EF4-FFF2-40B4-BE49-F238E27FC236}">
                    <a16:creationId xmlns:a16="http://schemas.microsoft.com/office/drawing/2014/main" id="{9028360E-04F4-AA98-B6E4-CE93102739CD}"/>
                  </a:ext>
                </a:extLst>
              </p:cNvPr>
              <p:cNvSpPr/>
              <p:nvPr/>
            </p:nvSpPr>
            <p:spPr bwMode="auto">
              <a:xfrm>
                <a:off x="3056588" y="3664772"/>
                <a:ext cx="780973" cy="128895"/>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93" name="Freeform 77">
                <a:extLst>
                  <a:ext uri="{FF2B5EF4-FFF2-40B4-BE49-F238E27FC236}">
                    <a16:creationId xmlns:a16="http://schemas.microsoft.com/office/drawing/2014/main" id="{C4ED8987-140B-B3F0-13FB-078F1A487B5E}"/>
                  </a:ext>
                </a:extLst>
              </p:cNvPr>
              <p:cNvSpPr/>
              <p:nvPr/>
            </p:nvSpPr>
            <p:spPr bwMode="auto">
              <a:xfrm flipV="1">
                <a:off x="3058175" y="3846837"/>
                <a:ext cx="780973" cy="128895"/>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94" name="Freeform 95">
              <a:extLst>
                <a:ext uri="{FF2B5EF4-FFF2-40B4-BE49-F238E27FC236}">
                  <a16:creationId xmlns:a16="http://schemas.microsoft.com/office/drawing/2014/main" id="{882234BC-657C-21A2-A436-323FF4ED7FE8}"/>
                </a:ext>
              </a:extLst>
            </p:cNvPr>
            <p:cNvSpPr>
              <a:spLocks noChangeArrowheads="1"/>
            </p:cNvSpPr>
            <p:nvPr/>
          </p:nvSpPr>
          <p:spPr bwMode="auto">
            <a:xfrm>
              <a:off x="6403975" y="1998663"/>
              <a:ext cx="781050" cy="130175"/>
            </a:xfrm>
            <a:custGeom>
              <a:avLst/>
              <a:gdLst>
                <a:gd name="T0" fmla="*/ 0 w 2025502"/>
                <a:gd name="T1" fmla="*/ 17 h 350874"/>
                <a:gd name="T2" fmla="*/ 0 w 2025502"/>
                <a:gd name="T3" fmla="*/ 14 h 350874"/>
                <a:gd name="T4" fmla="*/ 1 w 2025502"/>
                <a:gd name="T5" fmla="*/ 12 h 350874"/>
                <a:gd name="T6" fmla="*/ 2 w 2025502"/>
                <a:gd name="T7" fmla="*/ 11 h 350874"/>
                <a:gd name="T8" fmla="*/ 3 w 2025502"/>
                <a:gd name="T9" fmla="*/ 9 h 350874"/>
                <a:gd name="T10" fmla="*/ 5 w 2025502"/>
                <a:gd name="T11" fmla="*/ 7 h 350874"/>
                <a:gd name="T12" fmla="*/ 8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4 w 2025502"/>
                <a:gd name="T23" fmla="*/ 0 h 350874"/>
                <a:gd name="T24" fmla="*/ 122 w 2025502"/>
                <a:gd name="T25" fmla="*/ 0 h 350874"/>
                <a:gd name="T26" fmla="*/ 127 w 2025502"/>
                <a:gd name="T27" fmla="*/ 0 h 350874"/>
                <a:gd name="T28" fmla="*/ 131 w 2025502"/>
                <a:gd name="T29" fmla="*/ 1 h 350874"/>
                <a:gd name="T30" fmla="*/ 135 w 2025502"/>
                <a:gd name="T31" fmla="*/ 2 h 350874"/>
                <a:gd name="T32" fmla="*/ 138 w 2025502"/>
                <a:gd name="T33" fmla="*/ 4 h 350874"/>
                <a:gd name="T34" fmla="*/ 141 w 2025502"/>
                <a:gd name="T35" fmla="*/ 6 h 350874"/>
                <a:gd name="T36" fmla="*/ 143 w 2025502"/>
                <a:gd name="T37" fmla="*/ 8 h 350874"/>
                <a:gd name="T38" fmla="*/ 145 w 2025502"/>
                <a:gd name="T39" fmla="*/ 10 h 350874"/>
                <a:gd name="T40" fmla="*/ 146 w 2025502"/>
                <a:gd name="T41" fmla="*/ 13 h 350874"/>
                <a:gd name="T42" fmla="*/ 147 w 2025502"/>
                <a:gd name="T43" fmla="*/ 15 h 350874"/>
                <a:gd name="T44" fmla="*/ 147 w 2025502"/>
                <a:gd name="T45" fmla="*/ 17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95" name="Freeform 96">
              <a:extLst>
                <a:ext uri="{FF2B5EF4-FFF2-40B4-BE49-F238E27FC236}">
                  <a16:creationId xmlns:a16="http://schemas.microsoft.com/office/drawing/2014/main" id="{BEB51436-DC29-20AC-F4DD-8CAFC28E0AEE}"/>
                </a:ext>
              </a:extLst>
            </p:cNvPr>
            <p:cNvSpPr>
              <a:spLocks noChangeArrowheads="1"/>
            </p:cNvSpPr>
            <p:nvPr/>
          </p:nvSpPr>
          <p:spPr bwMode="auto">
            <a:xfrm flipV="1">
              <a:off x="6405563" y="2181225"/>
              <a:ext cx="781050" cy="128588"/>
            </a:xfrm>
            <a:custGeom>
              <a:avLst/>
              <a:gdLst>
                <a:gd name="T0" fmla="*/ 0 w 2025502"/>
                <a:gd name="T1" fmla="*/ 15 h 350874"/>
                <a:gd name="T2" fmla="*/ 0 w 2025502"/>
                <a:gd name="T3" fmla="*/ 13 h 350874"/>
                <a:gd name="T4" fmla="*/ 1 w 2025502"/>
                <a:gd name="T5" fmla="*/ 11 h 350874"/>
                <a:gd name="T6" fmla="*/ 2 w 2025502"/>
                <a:gd name="T7" fmla="*/ 10 h 350874"/>
                <a:gd name="T8" fmla="*/ 3 w 2025502"/>
                <a:gd name="T9" fmla="*/ 8 h 350874"/>
                <a:gd name="T10" fmla="*/ 5 w 2025502"/>
                <a:gd name="T11" fmla="*/ 6 h 350874"/>
                <a:gd name="T12" fmla="*/ 8 w 2025502"/>
                <a:gd name="T13" fmla="*/ 4 h 350874"/>
                <a:gd name="T14" fmla="*/ 10 w 2025502"/>
                <a:gd name="T15" fmla="*/ 3 h 350874"/>
                <a:gd name="T16" fmla="*/ 13 w 2025502"/>
                <a:gd name="T17" fmla="*/ 2 h 350874"/>
                <a:gd name="T18" fmla="*/ 17 w 2025502"/>
                <a:gd name="T19" fmla="*/ 1 h 350874"/>
                <a:gd name="T20" fmla="*/ 20 w 2025502"/>
                <a:gd name="T21" fmla="*/ 0 h 350874"/>
                <a:gd name="T22" fmla="*/ 24 w 2025502"/>
                <a:gd name="T23" fmla="*/ 0 h 350874"/>
                <a:gd name="T24" fmla="*/ 122 w 2025502"/>
                <a:gd name="T25" fmla="*/ 0 h 350874"/>
                <a:gd name="T26" fmla="*/ 127 w 2025502"/>
                <a:gd name="T27" fmla="*/ 0 h 350874"/>
                <a:gd name="T28" fmla="*/ 131 w 2025502"/>
                <a:gd name="T29" fmla="*/ 1 h 350874"/>
                <a:gd name="T30" fmla="*/ 135 w 2025502"/>
                <a:gd name="T31" fmla="*/ 2 h 350874"/>
                <a:gd name="T32" fmla="*/ 138 w 2025502"/>
                <a:gd name="T33" fmla="*/ 4 h 350874"/>
                <a:gd name="T34" fmla="*/ 141 w 2025502"/>
                <a:gd name="T35" fmla="*/ 5 h 350874"/>
                <a:gd name="T36" fmla="*/ 143 w 2025502"/>
                <a:gd name="T37" fmla="*/ 7 h 350874"/>
                <a:gd name="T38" fmla="*/ 145 w 2025502"/>
                <a:gd name="T39" fmla="*/ 9 h 350874"/>
                <a:gd name="T40" fmla="*/ 146 w 2025502"/>
                <a:gd name="T41" fmla="*/ 12 h 350874"/>
                <a:gd name="T42" fmla="*/ 147 w 2025502"/>
                <a:gd name="T43" fmla="*/ 13 h 350874"/>
                <a:gd name="T44" fmla="*/ 147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96" name="Group 97">
              <a:extLst>
                <a:ext uri="{FF2B5EF4-FFF2-40B4-BE49-F238E27FC236}">
                  <a16:creationId xmlns:a16="http://schemas.microsoft.com/office/drawing/2014/main" id="{F04B62B9-F594-81B7-CA7E-85579DFE0A1D}"/>
                </a:ext>
              </a:extLst>
            </p:cNvPr>
            <p:cNvGrpSpPr>
              <a:grpSpLocks/>
            </p:cNvGrpSpPr>
            <p:nvPr/>
          </p:nvGrpSpPr>
          <p:grpSpPr bwMode="auto">
            <a:xfrm>
              <a:off x="6408738" y="1803400"/>
              <a:ext cx="782637" cy="306388"/>
              <a:chOff x="3056588" y="3664772"/>
              <a:chExt cx="782560" cy="310960"/>
            </a:xfrm>
          </p:grpSpPr>
          <p:sp>
            <p:nvSpPr>
              <p:cNvPr id="97" name="Freeform 98">
                <a:extLst>
                  <a:ext uri="{FF2B5EF4-FFF2-40B4-BE49-F238E27FC236}">
                    <a16:creationId xmlns:a16="http://schemas.microsoft.com/office/drawing/2014/main" id="{35B77845-648C-E942-C354-11432A2861E8}"/>
                  </a:ext>
                </a:extLst>
              </p:cNvPr>
              <p:cNvSpPr/>
              <p:nvPr/>
            </p:nvSpPr>
            <p:spPr bwMode="auto">
              <a:xfrm>
                <a:off x="3056588" y="3664772"/>
                <a:ext cx="780973" cy="128895"/>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98" name="Freeform 99">
                <a:extLst>
                  <a:ext uri="{FF2B5EF4-FFF2-40B4-BE49-F238E27FC236}">
                    <a16:creationId xmlns:a16="http://schemas.microsoft.com/office/drawing/2014/main" id="{253BE34D-F4E9-EFB2-8B67-A0CAA9916CFB}"/>
                  </a:ext>
                </a:extLst>
              </p:cNvPr>
              <p:cNvSpPr/>
              <p:nvPr/>
            </p:nvSpPr>
            <p:spPr bwMode="auto">
              <a:xfrm flipV="1">
                <a:off x="3058175" y="3846837"/>
                <a:ext cx="780973" cy="128895"/>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grpSp>
          <p:nvGrpSpPr>
            <p:cNvPr id="99" name="Group 221">
              <a:extLst>
                <a:ext uri="{FF2B5EF4-FFF2-40B4-BE49-F238E27FC236}">
                  <a16:creationId xmlns:a16="http://schemas.microsoft.com/office/drawing/2014/main" id="{2162BD8C-7152-CB78-713B-F27EF01B229C}"/>
                </a:ext>
              </a:extLst>
            </p:cNvPr>
            <p:cNvGrpSpPr>
              <a:grpSpLocks/>
            </p:cNvGrpSpPr>
            <p:nvPr/>
          </p:nvGrpSpPr>
          <p:grpSpPr bwMode="auto">
            <a:xfrm>
              <a:off x="1722438" y="2400300"/>
              <a:ext cx="5430837" cy="923925"/>
              <a:chOff x="1357346" y="2356639"/>
              <a:chExt cx="5429394" cy="925233"/>
            </a:xfrm>
          </p:grpSpPr>
          <p:sp>
            <p:nvSpPr>
              <p:cNvPr id="100" name="Freeform 207">
                <a:extLst>
                  <a:ext uri="{FF2B5EF4-FFF2-40B4-BE49-F238E27FC236}">
                    <a16:creationId xmlns:a16="http://schemas.microsoft.com/office/drawing/2014/main" id="{E95D0D32-31E0-EB0A-6F92-C44534A43A1C}"/>
                  </a:ext>
                </a:extLst>
              </p:cNvPr>
              <p:cNvSpPr/>
              <p:nvPr/>
            </p:nvSpPr>
            <p:spPr bwMode="auto">
              <a:xfrm rot="1800000">
                <a:off x="2784129" y="3086334"/>
                <a:ext cx="779256" cy="6994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01" name="Freeform 79">
                <a:extLst>
                  <a:ext uri="{FF2B5EF4-FFF2-40B4-BE49-F238E27FC236}">
                    <a16:creationId xmlns:a16="http://schemas.microsoft.com/office/drawing/2014/main" id="{1BC12010-3C38-C854-D1C8-EB3B68D605B6}"/>
                  </a:ext>
                </a:extLst>
              </p:cNvPr>
              <p:cNvSpPr>
                <a:spLocks noChangeArrowheads="1"/>
              </p:cNvSpPr>
              <p:nvPr/>
            </p:nvSpPr>
            <p:spPr bwMode="auto">
              <a:xfrm rot="2892595" flipV="1">
                <a:off x="3657690" y="2778053"/>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2" name="Freeform 80">
                <a:extLst>
                  <a:ext uri="{FF2B5EF4-FFF2-40B4-BE49-F238E27FC236}">
                    <a16:creationId xmlns:a16="http://schemas.microsoft.com/office/drawing/2014/main" id="{DCFF959E-0196-CD55-71F6-B7F839D8FA50}"/>
                  </a:ext>
                </a:extLst>
              </p:cNvPr>
              <p:cNvSpPr>
                <a:spLocks noChangeArrowheads="1"/>
              </p:cNvSpPr>
              <p:nvPr/>
            </p:nvSpPr>
            <p:spPr bwMode="auto">
              <a:xfrm rot="20720227" flipV="1">
                <a:off x="4606153" y="2779850"/>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3" name="Freeform 81">
                <a:extLst>
                  <a:ext uri="{FF2B5EF4-FFF2-40B4-BE49-F238E27FC236}">
                    <a16:creationId xmlns:a16="http://schemas.microsoft.com/office/drawing/2014/main" id="{04DD268B-084A-C501-1432-DDA0AB981A25}"/>
                  </a:ext>
                </a:extLst>
              </p:cNvPr>
              <p:cNvSpPr>
                <a:spLocks noChangeArrowheads="1"/>
              </p:cNvSpPr>
              <p:nvPr/>
            </p:nvSpPr>
            <p:spPr bwMode="auto">
              <a:xfrm>
                <a:off x="6004180" y="2492195"/>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4" name="Freeform 83">
                <a:extLst>
                  <a:ext uri="{FF2B5EF4-FFF2-40B4-BE49-F238E27FC236}">
                    <a16:creationId xmlns:a16="http://schemas.microsoft.com/office/drawing/2014/main" id="{FC3D14B8-23EF-201F-0257-BCE280D3744D}"/>
                  </a:ext>
                </a:extLst>
              </p:cNvPr>
              <p:cNvSpPr/>
              <p:nvPr/>
            </p:nvSpPr>
            <p:spPr bwMode="auto">
              <a:xfrm>
                <a:off x="3736376" y="3024333"/>
                <a:ext cx="780842" cy="6994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05" name="Freeform 85">
                <a:extLst>
                  <a:ext uri="{FF2B5EF4-FFF2-40B4-BE49-F238E27FC236}">
                    <a16:creationId xmlns:a16="http://schemas.microsoft.com/office/drawing/2014/main" id="{3E16E13D-48D5-F6AB-C074-0488370FB849}"/>
                  </a:ext>
                </a:extLst>
              </p:cNvPr>
              <p:cNvSpPr>
                <a:spLocks noChangeArrowheads="1"/>
              </p:cNvSpPr>
              <p:nvPr/>
            </p:nvSpPr>
            <p:spPr bwMode="auto">
              <a:xfrm rot="-2445955">
                <a:off x="3105007" y="3024700"/>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6" name="Freeform 87">
                <a:extLst>
                  <a:ext uri="{FF2B5EF4-FFF2-40B4-BE49-F238E27FC236}">
                    <a16:creationId xmlns:a16="http://schemas.microsoft.com/office/drawing/2014/main" id="{E7CA9DE2-4304-D3C1-2352-B6DC5144081F}"/>
                  </a:ext>
                </a:extLst>
              </p:cNvPr>
              <p:cNvSpPr/>
              <p:nvPr/>
            </p:nvSpPr>
            <p:spPr bwMode="auto">
              <a:xfrm rot="1057066">
                <a:off x="4150604" y="2792230"/>
                <a:ext cx="780842" cy="68360"/>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nvGrpSpPr>
              <p:cNvPr id="107" name="Group 89">
                <a:extLst>
                  <a:ext uri="{FF2B5EF4-FFF2-40B4-BE49-F238E27FC236}">
                    <a16:creationId xmlns:a16="http://schemas.microsoft.com/office/drawing/2014/main" id="{9DBAB76E-5531-CF83-B4EB-B24A98186DE9}"/>
                  </a:ext>
                </a:extLst>
              </p:cNvPr>
              <p:cNvGrpSpPr>
                <a:grpSpLocks/>
              </p:cNvGrpSpPr>
              <p:nvPr/>
            </p:nvGrpSpPr>
            <p:grpSpPr bwMode="auto">
              <a:xfrm>
                <a:off x="5288801" y="2565703"/>
                <a:ext cx="782560" cy="167525"/>
                <a:chOff x="3056588" y="3664772"/>
                <a:chExt cx="782560" cy="310960"/>
              </a:xfrm>
            </p:grpSpPr>
            <p:sp>
              <p:nvSpPr>
                <p:cNvPr id="121" name="Freeform 90">
                  <a:extLst>
                    <a:ext uri="{FF2B5EF4-FFF2-40B4-BE49-F238E27FC236}">
                      <a16:creationId xmlns:a16="http://schemas.microsoft.com/office/drawing/2014/main" id="{F53F9D75-5F95-B79D-C35C-A5055C207340}"/>
                    </a:ext>
                  </a:extLst>
                </p:cNvPr>
                <p:cNvSpPr/>
                <p:nvPr/>
              </p:nvSpPr>
              <p:spPr bwMode="auto">
                <a:xfrm>
                  <a:off x="3056325" y="3666226"/>
                  <a:ext cx="780842" cy="12983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22" name="Freeform 91">
                  <a:extLst>
                    <a:ext uri="{FF2B5EF4-FFF2-40B4-BE49-F238E27FC236}">
                      <a16:creationId xmlns:a16="http://schemas.microsoft.com/office/drawing/2014/main" id="{74C7AF19-A519-3F20-6BA8-925AC5C2C342}"/>
                    </a:ext>
                  </a:extLst>
                </p:cNvPr>
                <p:cNvSpPr/>
                <p:nvPr/>
              </p:nvSpPr>
              <p:spPr bwMode="auto">
                <a:xfrm flipV="1">
                  <a:off x="3057913" y="3846231"/>
                  <a:ext cx="780842" cy="12983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08" name="Freeform 92">
                <a:extLst>
                  <a:ext uri="{FF2B5EF4-FFF2-40B4-BE49-F238E27FC236}">
                    <a16:creationId xmlns:a16="http://schemas.microsoft.com/office/drawing/2014/main" id="{AAC5A5B2-1EFC-DE8F-A1AB-1BB9B16BF126}"/>
                  </a:ext>
                </a:extLst>
              </p:cNvPr>
              <p:cNvSpPr>
                <a:spLocks noChangeArrowheads="1"/>
              </p:cNvSpPr>
              <p:nvPr/>
            </p:nvSpPr>
            <p:spPr bwMode="auto">
              <a:xfrm flipV="1">
                <a:off x="6006435" y="2674063"/>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09" name="Freeform 94">
                <a:extLst>
                  <a:ext uri="{FF2B5EF4-FFF2-40B4-BE49-F238E27FC236}">
                    <a16:creationId xmlns:a16="http://schemas.microsoft.com/office/drawing/2014/main" id="{70871A14-E6A3-F8B8-06A9-405EDDDA7680}"/>
                  </a:ext>
                </a:extLst>
              </p:cNvPr>
              <p:cNvSpPr>
                <a:spLocks noChangeArrowheads="1"/>
              </p:cNvSpPr>
              <p:nvPr/>
            </p:nvSpPr>
            <p:spPr bwMode="auto">
              <a:xfrm rot="-879773">
                <a:off x="4560866" y="2597982"/>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0" name="Freeform 204">
                <a:extLst>
                  <a:ext uri="{FF2B5EF4-FFF2-40B4-BE49-F238E27FC236}">
                    <a16:creationId xmlns:a16="http://schemas.microsoft.com/office/drawing/2014/main" id="{13A1A44C-E8F8-F63D-34BC-5276ABB659FA}"/>
                  </a:ext>
                </a:extLst>
              </p:cNvPr>
              <p:cNvSpPr>
                <a:spLocks noChangeArrowheads="1"/>
              </p:cNvSpPr>
              <p:nvPr/>
            </p:nvSpPr>
            <p:spPr bwMode="auto">
              <a:xfrm rot="1101080" flipV="1">
                <a:off x="1357346" y="3038031"/>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1" name="Freeform 205">
                <a:extLst>
                  <a:ext uri="{FF2B5EF4-FFF2-40B4-BE49-F238E27FC236}">
                    <a16:creationId xmlns:a16="http://schemas.microsoft.com/office/drawing/2014/main" id="{2BC00053-C9CA-82B4-5374-47953740350A}"/>
                  </a:ext>
                </a:extLst>
              </p:cNvPr>
              <p:cNvSpPr>
                <a:spLocks noChangeArrowheads="1"/>
              </p:cNvSpPr>
              <p:nvPr/>
            </p:nvSpPr>
            <p:spPr bwMode="auto">
              <a:xfrm flipV="1">
                <a:off x="2499445" y="2996793"/>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2" name="Freeform 211">
                <a:extLst>
                  <a:ext uri="{FF2B5EF4-FFF2-40B4-BE49-F238E27FC236}">
                    <a16:creationId xmlns:a16="http://schemas.microsoft.com/office/drawing/2014/main" id="{E5AB1828-8262-3DE7-1775-E03462D2C832}"/>
                  </a:ext>
                </a:extLst>
              </p:cNvPr>
              <p:cNvSpPr/>
              <p:nvPr/>
            </p:nvSpPr>
            <p:spPr bwMode="auto">
              <a:xfrm rot="20552006">
                <a:off x="1874733" y="2890794"/>
                <a:ext cx="780842" cy="6994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13" name="Freeform 213">
                <a:extLst>
                  <a:ext uri="{FF2B5EF4-FFF2-40B4-BE49-F238E27FC236}">
                    <a16:creationId xmlns:a16="http://schemas.microsoft.com/office/drawing/2014/main" id="{E12F0EE3-37E2-40E0-76D8-536EAD97208C}"/>
                  </a:ext>
                </a:extLst>
              </p:cNvPr>
              <p:cNvSpPr>
                <a:spLocks noChangeArrowheads="1"/>
              </p:cNvSpPr>
              <p:nvPr/>
            </p:nvSpPr>
            <p:spPr bwMode="auto">
              <a:xfrm rot="1101080">
                <a:off x="1419638" y="2856165"/>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4" name="Freeform 214">
                <a:extLst>
                  <a:ext uri="{FF2B5EF4-FFF2-40B4-BE49-F238E27FC236}">
                    <a16:creationId xmlns:a16="http://schemas.microsoft.com/office/drawing/2014/main" id="{CCE9797D-184B-D162-9FA5-41BCF0377B7A}"/>
                  </a:ext>
                </a:extLst>
              </p:cNvPr>
              <p:cNvSpPr>
                <a:spLocks noChangeArrowheads="1"/>
              </p:cNvSpPr>
              <p:nvPr/>
            </p:nvSpPr>
            <p:spPr bwMode="auto">
              <a:xfrm>
                <a:off x="2497190" y="2814925"/>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5" name="Freeform 93">
                <a:extLst>
                  <a:ext uri="{FF2B5EF4-FFF2-40B4-BE49-F238E27FC236}">
                    <a16:creationId xmlns:a16="http://schemas.microsoft.com/office/drawing/2014/main" id="{A2403E61-EC5A-1B36-6E87-BD5EA33FF32F}"/>
                  </a:ext>
                </a:extLst>
              </p:cNvPr>
              <p:cNvSpPr>
                <a:spLocks noChangeArrowheads="1"/>
              </p:cNvSpPr>
              <p:nvPr/>
            </p:nvSpPr>
            <p:spPr bwMode="auto">
              <a:xfrm rot="2892595">
                <a:off x="3773768" y="268224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6" name="Freeform 88">
                <a:extLst>
                  <a:ext uri="{FF2B5EF4-FFF2-40B4-BE49-F238E27FC236}">
                    <a16:creationId xmlns:a16="http://schemas.microsoft.com/office/drawing/2014/main" id="{272E7EBA-0815-97F7-020D-66758609CE73}"/>
                  </a:ext>
                </a:extLst>
              </p:cNvPr>
              <p:cNvSpPr/>
              <p:nvPr/>
            </p:nvSpPr>
            <p:spPr bwMode="auto">
              <a:xfrm rot="1057066" flipV="1">
                <a:off x="4123623" y="2886025"/>
                <a:ext cx="779256" cy="6994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17" name="Freeform 78">
                <a:extLst>
                  <a:ext uri="{FF2B5EF4-FFF2-40B4-BE49-F238E27FC236}">
                    <a16:creationId xmlns:a16="http://schemas.microsoft.com/office/drawing/2014/main" id="{F47DD4C9-9DA6-905D-E012-C8B7961EB0B6}"/>
                  </a:ext>
                </a:extLst>
              </p:cNvPr>
              <p:cNvSpPr>
                <a:spLocks noChangeArrowheads="1"/>
              </p:cNvSpPr>
              <p:nvPr/>
            </p:nvSpPr>
            <p:spPr bwMode="auto">
              <a:xfrm rot="19154045" flipV="1">
                <a:off x="3225597" y="3152780"/>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8" name="Freeform 84">
                <a:extLst>
                  <a:ext uri="{FF2B5EF4-FFF2-40B4-BE49-F238E27FC236}">
                    <a16:creationId xmlns:a16="http://schemas.microsoft.com/office/drawing/2014/main" id="{E83D4677-D0B8-1C1E-F686-F588F6047915}"/>
                  </a:ext>
                </a:extLst>
              </p:cNvPr>
              <p:cNvSpPr/>
              <p:nvPr/>
            </p:nvSpPr>
            <p:spPr bwMode="auto">
              <a:xfrm flipV="1">
                <a:off x="3737963" y="3122897"/>
                <a:ext cx="780842" cy="6994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19" name="Freeform 208">
                <a:extLst>
                  <a:ext uri="{FF2B5EF4-FFF2-40B4-BE49-F238E27FC236}">
                    <a16:creationId xmlns:a16="http://schemas.microsoft.com/office/drawing/2014/main" id="{04D8D894-41DB-1B71-1065-51DF5D064842}"/>
                  </a:ext>
                </a:extLst>
              </p:cNvPr>
              <p:cNvSpPr/>
              <p:nvPr/>
            </p:nvSpPr>
            <p:spPr bwMode="auto">
              <a:xfrm rot="1800000" flipV="1">
                <a:off x="2736516" y="3172180"/>
                <a:ext cx="780842" cy="6994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20" name="Freeform 212">
                <a:extLst>
                  <a:ext uri="{FF2B5EF4-FFF2-40B4-BE49-F238E27FC236}">
                    <a16:creationId xmlns:a16="http://schemas.microsoft.com/office/drawing/2014/main" id="{27F033A6-6EF7-FCA2-8343-AAA394215D47}"/>
                  </a:ext>
                </a:extLst>
              </p:cNvPr>
              <p:cNvSpPr/>
              <p:nvPr/>
            </p:nvSpPr>
            <p:spPr bwMode="auto">
              <a:xfrm rot="20552006" flipV="1">
                <a:off x="1906475" y="2984590"/>
                <a:ext cx="780842" cy="68359"/>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grpSp>
          <p:nvGrpSpPr>
            <p:cNvPr id="123" name="Group 227">
              <a:extLst>
                <a:ext uri="{FF2B5EF4-FFF2-40B4-BE49-F238E27FC236}">
                  <a16:creationId xmlns:a16="http://schemas.microsoft.com/office/drawing/2014/main" id="{C694DAE4-CAC5-B209-6178-1BD90172B04E}"/>
                </a:ext>
              </a:extLst>
            </p:cNvPr>
            <p:cNvGrpSpPr>
              <a:grpSpLocks/>
            </p:cNvGrpSpPr>
            <p:nvPr/>
          </p:nvGrpSpPr>
          <p:grpSpPr bwMode="auto">
            <a:xfrm>
              <a:off x="1762125" y="2214563"/>
              <a:ext cx="1489075" cy="320675"/>
              <a:chOff x="3316557" y="3870959"/>
              <a:chExt cx="1488983" cy="321719"/>
            </a:xfrm>
          </p:grpSpPr>
          <p:sp>
            <p:nvSpPr>
              <p:cNvPr id="124" name="Freeform 222">
                <a:extLst>
                  <a:ext uri="{FF2B5EF4-FFF2-40B4-BE49-F238E27FC236}">
                    <a16:creationId xmlns:a16="http://schemas.microsoft.com/office/drawing/2014/main" id="{4DEAA788-721F-A336-BB7E-91437AFCE3CC}"/>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25" name="Group 224">
                <a:extLst>
                  <a:ext uri="{FF2B5EF4-FFF2-40B4-BE49-F238E27FC236}">
                    <a16:creationId xmlns:a16="http://schemas.microsoft.com/office/drawing/2014/main" id="{59C94117-92AF-29D8-977E-897D0D69D17D}"/>
                  </a:ext>
                </a:extLst>
              </p:cNvPr>
              <p:cNvGrpSpPr>
                <a:grpSpLocks/>
              </p:cNvGrpSpPr>
              <p:nvPr/>
            </p:nvGrpSpPr>
            <p:grpSpPr bwMode="auto">
              <a:xfrm>
                <a:off x="4022980" y="3870959"/>
                <a:ext cx="782560" cy="306594"/>
                <a:chOff x="3056588" y="3664772"/>
                <a:chExt cx="782560" cy="310960"/>
              </a:xfrm>
            </p:grpSpPr>
            <p:sp>
              <p:nvSpPr>
                <p:cNvPr id="127" name="Freeform 225">
                  <a:extLst>
                    <a:ext uri="{FF2B5EF4-FFF2-40B4-BE49-F238E27FC236}">
                      <a16:creationId xmlns:a16="http://schemas.microsoft.com/office/drawing/2014/main" id="{70D77E62-F3F0-99B3-E029-2696B3A85344}"/>
                    </a:ext>
                  </a:extLst>
                </p:cNvPr>
                <p:cNvSpPr/>
                <p:nvPr/>
              </p:nvSpPr>
              <p:spPr bwMode="auto">
                <a:xfrm>
                  <a:off x="3056559" y="3664772"/>
                  <a:ext cx="781002" cy="129228"/>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28" name="Freeform 226">
                  <a:extLst>
                    <a:ext uri="{FF2B5EF4-FFF2-40B4-BE49-F238E27FC236}">
                      <a16:creationId xmlns:a16="http://schemas.microsoft.com/office/drawing/2014/main" id="{5300DD0A-5447-0F4D-D04A-AD440FD6F867}"/>
                    </a:ext>
                  </a:extLst>
                </p:cNvPr>
                <p:cNvSpPr/>
                <p:nvPr/>
              </p:nvSpPr>
              <p:spPr bwMode="auto">
                <a:xfrm flipV="1">
                  <a:off x="3058146" y="3847306"/>
                  <a:ext cx="781002" cy="129228"/>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26" name="Freeform 223">
                <a:extLst>
                  <a:ext uri="{FF2B5EF4-FFF2-40B4-BE49-F238E27FC236}">
                    <a16:creationId xmlns:a16="http://schemas.microsoft.com/office/drawing/2014/main" id="{11B5CD69-5812-B700-813D-EE84096B4BAE}"/>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29" name="Group 228">
              <a:extLst>
                <a:ext uri="{FF2B5EF4-FFF2-40B4-BE49-F238E27FC236}">
                  <a16:creationId xmlns:a16="http://schemas.microsoft.com/office/drawing/2014/main" id="{ED30A09E-F02C-BCD5-5B0F-84407625A56E}"/>
                </a:ext>
              </a:extLst>
            </p:cNvPr>
            <p:cNvGrpSpPr>
              <a:grpSpLocks/>
            </p:cNvGrpSpPr>
            <p:nvPr/>
          </p:nvGrpSpPr>
          <p:grpSpPr bwMode="auto">
            <a:xfrm>
              <a:off x="1739900" y="2065338"/>
              <a:ext cx="1489075" cy="322262"/>
              <a:chOff x="3316557" y="3870959"/>
              <a:chExt cx="1488983" cy="321719"/>
            </a:xfrm>
          </p:grpSpPr>
          <p:sp>
            <p:nvSpPr>
              <p:cNvPr id="130" name="Freeform 229">
                <a:extLst>
                  <a:ext uri="{FF2B5EF4-FFF2-40B4-BE49-F238E27FC236}">
                    <a16:creationId xmlns:a16="http://schemas.microsoft.com/office/drawing/2014/main" id="{3F88F5E2-FCC7-0731-8940-1753E26AA0C4}"/>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31" name="Group 230">
                <a:extLst>
                  <a:ext uri="{FF2B5EF4-FFF2-40B4-BE49-F238E27FC236}">
                    <a16:creationId xmlns:a16="http://schemas.microsoft.com/office/drawing/2014/main" id="{F31D5109-2BFA-4CAB-33D7-9EA9F17D8BC1}"/>
                  </a:ext>
                </a:extLst>
              </p:cNvPr>
              <p:cNvGrpSpPr>
                <a:grpSpLocks/>
              </p:cNvGrpSpPr>
              <p:nvPr/>
            </p:nvGrpSpPr>
            <p:grpSpPr bwMode="auto">
              <a:xfrm>
                <a:off x="4022980" y="3870947"/>
                <a:ext cx="782560" cy="306593"/>
                <a:chOff x="3056588" y="3664772"/>
                <a:chExt cx="782560" cy="310960"/>
              </a:xfrm>
            </p:grpSpPr>
            <p:sp>
              <p:nvSpPr>
                <p:cNvPr id="133" name="Freeform 232">
                  <a:extLst>
                    <a:ext uri="{FF2B5EF4-FFF2-40B4-BE49-F238E27FC236}">
                      <a16:creationId xmlns:a16="http://schemas.microsoft.com/office/drawing/2014/main" id="{FA066AE1-B9A6-BC48-9A5F-71771F74343D}"/>
                    </a:ext>
                  </a:extLst>
                </p:cNvPr>
                <p:cNvSpPr/>
                <p:nvPr/>
              </p:nvSpPr>
              <p:spPr bwMode="auto">
                <a:xfrm>
                  <a:off x="3056559" y="3664784"/>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34" name="Freeform 233">
                  <a:extLst>
                    <a:ext uri="{FF2B5EF4-FFF2-40B4-BE49-F238E27FC236}">
                      <a16:creationId xmlns:a16="http://schemas.microsoft.com/office/drawing/2014/main" id="{63529F69-8752-D1D8-A377-8B8240D99B43}"/>
                    </a:ext>
                  </a:extLst>
                </p:cNvPr>
                <p:cNvSpPr/>
                <p:nvPr/>
              </p:nvSpPr>
              <p:spPr bwMode="auto">
                <a:xfrm flipV="1">
                  <a:off x="3058146" y="3846420"/>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32" name="Freeform 231">
                <a:extLst>
                  <a:ext uri="{FF2B5EF4-FFF2-40B4-BE49-F238E27FC236}">
                    <a16:creationId xmlns:a16="http://schemas.microsoft.com/office/drawing/2014/main" id="{9A664284-19AC-765D-7653-F09CA79AFA62}"/>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35" name="Group 234">
              <a:extLst>
                <a:ext uri="{FF2B5EF4-FFF2-40B4-BE49-F238E27FC236}">
                  <a16:creationId xmlns:a16="http://schemas.microsoft.com/office/drawing/2014/main" id="{5C1A71F1-AA70-B39D-9A24-F6BF9EDA06EE}"/>
                </a:ext>
              </a:extLst>
            </p:cNvPr>
            <p:cNvGrpSpPr>
              <a:grpSpLocks/>
            </p:cNvGrpSpPr>
            <p:nvPr/>
          </p:nvGrpSpPr>
          <p:grpSpPr bwMode="auto">
            <a:xfrm>
              <a:off x="1687513" y="1916113"/>
              <a:ext cx="1487487" cy="322262"/>
              <a:chOff x="3316557" y="3870959"/>
              <a:chExt cx="1488983" cy="321719"/>
            </a:xfrm>
          </p:grpSpPr>
          <p:sp>
            <p:nvSpPr>
              <p:cNvPr id="136" name="Freeform 235">
                <a:extLst>
                  <a:ext uri="{FF2B5EF4-FFF2-40B4-BE49-F238E27FC236}">
                    <a16:creationId xmlns:a16="http://schemas.microsoft.com/office/drawing/2014/main" id="{BC0E47B6-47AB-FC9F-5CA7-592994A85EBE}"/>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37" name="Group 236">
                <a:extLst>
                  <a:ext uri="{FF2B5EF4-FFF2-40B4-BE49-F238E27FC236}">
                    <a16:creationId xmlns:a16="http://schemas.microsoft.com/office/drawing/2014/main" id="{030314DA-8C94-2A3A-E1A7-894E561857DF}"/>
                  </a:ext>
                </a:extLst>
              </p:cNvPr>
              <p:cNvGrpSpPr>
                <a:grpSpLocks/>
              </p:cNvGrpSpPr>
              <p:nvPr/>
            </p:nvGrpSpPr>
            <p:grpSpPr bwMode="auto">
              <a:xfrm>
                <a:off x="4022980" y="3870947"/>
                <a:ext cx="782560" cy="306593"/>
                <a:chOff x="3056588" y="3664772"/>
                <a:chExt cx="782560" cy="310960"/>
              </a:xfrm>
            </p:grpSpPr>
            <p:sp>
              <p:nvSpPr>
                <p:cNvPr id="139" name="Freeform 238">
                  <a:extLst>
                    <a:ext uri="{FF2B5EF4-FFF2-40B4-BE49-F238E27FC236}">
                      <a16:creationId xmlns:a16="http://schemas.microsoft.com/office/drawing/2014/main" id="{C916A24C-D563-28A6-4AE3-09595180F9AC}"/>
                    </a:ext>
                  </a:extLst>
                </p:cNvPr>
                <p:cNvSpPr/>
                <p:nvPr/>
              </p:nvSpPr>
              <p:spPr bwMode="auto">
                <a:xfrm>
                  <a:off x="3057313" y="3664784"/>
                  <a:ext cx="780247"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40" name="Freeform 239">
                  <a:extLst>
                    <a:ext uri="{FF2B5EF4-FFF2-40B4-BE49-F238E27FC236}">
                      <a16:creationId xmlns:a16="http://schemas.microsoft.com/office/drawing/2014/main" id="{8FA5861C-F607-9EC1-DD9E-C493911FB9E5}"/>
                    </a:ext>
                  </a:extLst>
                </p:cNvPr>
                <p:cNvSpPr/>
                <p:nvPr/>
              </p:nvSpPr>
              <p:spPr bwMode="auto">
                <a:xfrm flipV="1">
                  <a:off x="3058902" y="3846420"/>
                  <a:ext cx="780246"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38" name="Freeform 237">
                <a:extLst>
                  <a:ext uri="{FF2B5EF4-FFF2-40B4-BE49-F238E27FC236}">
                    <a16:creationId xmlns:a16="http://schemas.microsoft.com/office/drawing/2014/main" id="{3484238B-2D3D-A505-2B82-F2C937A1C221}"/>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41" name="Group 240">
              <a:extLst>
                <a:ext uri="{FF2B5EF4-FFF2-40B4-BE49-F238E27FC236}">
                  <a16:creationId xmlns:a16="http://schemas.microsoft.com/office/drawing/2014/main" id="{2D1BBA71-2039-B56A-D94E-9085B8A09DA1}"/>
                </a:ext>
              </a:extLst>
            </p:cNvPr>
            <p:cNvGrpSpPr>
              <a:grpSpLocks/>
            </p:cNvGrpSpPr>
            <p:nvPr/>
          </p:nvGrpSpPr>
          <p:grpSpPr bwMode="auto">
            <a:xfrm>
              <a:off x="1739900" y="1768475"/>
              <a:ext cx="1489075" cy="320675"/>
              <a:chOff x="3316557" y="3870959"/>
              <a:chExt cx="1488983" cy="321719"/>
            </a:xfrm>
          </p:grpSpPr>
          <p:sp>
            <p:nvSpPr>
              <p:cNvPr id="142" name="Freeform 241">
                <a:extLst>
                  <a:ext uri="{FF2B5EF4-FFF2-40B4-BE49-F238E27FC236}">
                    <a16:creationId xmlns:a16="http://schemas.microsoft.com/office/drawing/2014/main" id="{097392C4-02FD-771F-CAF3-1955E7CDA01E}"/>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43" name="Group 242">
                <a:extLst>
                  <a:ext uri="{FF2B5EF4-FFF2-40B4-BE49-F238E27FC236}">
                    <a16:creationId xmlns:a16="http://schemas.microsoft.com/office/drawing/2014/main" id="{FE2E684C-85BD-124A-2BB3-D5F96A5CCB85}"/>
                  </a:ext>
                </a:extLst>
              </p:cNvPr>
              <p:cNvGrpSpPr>
                <a:grpSpLocks/>
              </p:cNvGrpSpPr>
              <p:nvPr/>
            </p:nvGrpSpPr>
            <p:grpSpPr bwMode="auto">
              <a:xfrm>
                <a:off x="4022980" y="3870947"/>
                <a:ext cx="782560" cy="306593"/>
                <a:chOff x="3056588" y="3664772"/>
                <a:chExt cx="782560" cy="310960"/>
              </a:xfrm>
            </p:grpSpPr>
            <p:sp>
              <p:nvSpPr>
                <p:cNvPr id="145" name="Freeform 244">
                  <a:extLst>
                    <a:ext uri="{FF2B5EF4-FFF2-40B4-BE49-F238E27FC236}">
                      <a16:creationId xmlns:a16="http://schemas.microsoft.com/office/drawing/2014/main" id="{5BAAD8C4-264E-EEAF-AD06-9C45E6C6BD88}"/>
                    </a:ext>
                  </a:extLst>
                </p:cNvPr>
                <p:cNvSpPr/>
                <p:nvPr/>
              </p:nvSpPr>
              <p:spPr bwMode="auto">
                <a:xfrm>
                  <a:off x="3056559" y="3664784"/>
                  <a:ext cx="781002" cy="129228"/>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46" name="Freeform 245">
                  <a:extLst>
                    <a:ext uri="{FF2B5EF4-FFF2-40B4-BE49-F238E27FC236}">
                      <a16:creationId xmlns:a16="http://schemas.microsoft.com/office/drawing/2014/main" id="{49C5A76D-EF25-85CE-2979-6786CE82CED3}"/>
                    </a:ext>
                  </a:extLst>
                </p:cNvPr>
                <p:cNvSpPr/>
                <p:nvPr/>
              </p:nvSpPr>
              <p:spPr bwMode="auto">
                <a:xfrm flipV="1">
                  <a:off x="3058146" y="3845704"/>
                  <a:ext cx="781002" cy="129228"/>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44" name="Freeform 243">
                <a:extLst>
                  <a:ext uri="{FF2B5EF4-FFF2-40B4-BE49-F238E27FC236}">
                    <a16:creationId xmlns:a16="http://schemas.microsoft.com/office/drawing/2014/main" id="{C15461C6-8C9C-740C-9E37-892A226134B0}"/>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47" name="Group 246">
              <a:extLst>
                <a:ext uri="{FF2B5EF4-FFF2-40B4-BE49-F238E27FC236}">
                  <a16:creationId xmlns:a16="http://schemas.microsoft.com/office/drawing/2014/main" id="{DFE31F7D-BA03-86CB-C42C-3BF29F934706}"/>
                </a:ext>
              </a:extLst>
            </p:cNvPr>
            <p:cNvGrpSpPr>
              <a:grpSpLocks/>
            </p:cNvGrpSpPr>
            <p:nvPr/>
          </p:nvGrpSpPr>
          <p:grpSpPr bwMode="auto">
            <a:xfrm>
              <a:off x="1793875" y="1619250"/>
              <a:ext cx="1489075" cy="322263"/>
              <a:chOff x="3316557" y="3870959"/>
              <a:chExt cx="1488983" cy="321719"/>
            </a:xfrm>
          </p:grpSpPr>
          <p:sp>
            <p:nvSpPr>
              <p:cNvPr id="148" name="Freeform 247">
                <a:extLst>
                  <a:ext uri="{FF2B5EF4-FFF2-40B4-BE49-F238E27FC236}">
                    <a16:creationId xmlns:a16="http://schemas.microsoft.com/office/drawing/2014/main" id="{F7AF3239-121F-33AB-772B-AB248FC466D0}"/>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49" name="Group 248">
                <a:extLst>
                  <a:ext uri="{FF2B5EF4-FFF2-40B4-BE49-F238E27FC236}">
                    <a16:creationId xmlns:a16="http://schemas.microsoft.com/office/drawing/2014/main" id="{CE5F1233-4E18-F556-7C4B-9D2C98821267}"/>
                  </a:ext>
                </a:extLst>
              </p:cNvPr>
              <p:cNvGrpSpPr>
                <a:grpSpLocks/>
              </p:cNvGrpSpPr>
              <p:nvPr/>
            </p:nvGrpSpPr>
            <p:grpSpPr bwMode="auto">
              <a:xfrm>
                <a:off x="4022980" y="3870947"/>
                <a:ext cx="782560" cy="306593"/>
                <a:chOff x="3056588" y="3664772"/>
                <a:chExt cx="782560" cy="310960"/>
              </a:xfrm>
            </p:grpSpPr>
            <p:sp>
              <p:nvSpPr>
                <p:cNvPr id="151" name="Freeform 250">
                  <a:extLst>
                    <a:ext uri="{FF2B5EF4-FFF2-40B4-BE49-F238E27FC236}">
                      <a16:creationId xmlns:a16="http://schemas.microsoft.com/office/drawing/2014/main" id="{CC96EDB3-836B-F6C1-4D1B-47093220872C}"/>
                    </a:ext>
                  </a:extLst>
                </p:cNvPr>
                <p:cNvSpPr/>
                <p:nvPr/>
              </p:nvSpPr>
              <p:spPr bwMode="auto">
                <a:xfrm>
                  <a:off x="3056559" y="3664784"/>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52" name="Freeform 251">
                  <a:extLst>
                    <a:ext uri="{FF2B5EF4-FFF2-40B4-BE49-F238E27FC236}">
                      <a16:creationId xmlns:a16="http://schemas.microsoft.com/office/drawing/2014/main" id="{744F0065-BFFD-5DF5-EB2F-116A29CC9747}"/>
                    </a:ext>
                  </a:extLst>
                </p:cNvPr>
                <p:cNvSpPr/>
                <p:nvPr/>
              </p:nvSpPr>
              <p:spPr bwMode="auto">
                <a:xfrm flipV="1">
                  <a:off x="3058146" y="3846420"/>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50" name="Freeform 249">
                <a:extLst>
                  <a:ext uri="{FF2B5EF4-FFF2-40B4-BE49-F238E27FC236}">
                    <a16:creationId xmlns:a16="http://schemas.microsoft.com/office/drawing/2014/main" id="{33CB1788-0A28-E05C-5227-D6AC214AF7CA}"/>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53" name="Group 252">
              <a:extLst>
                <a:ext uri="{FF2B5EF4-FFF2-40B4-BE49-F238E27FC236}">
                  <a16:creationId xmlns:a16="http://schemas.microsoft.com/office/drawing/2014/main" id="{DCA4BCF2-8240-103A-6EE4-264F6CB3EB1D}"/>
                </a:ext>
              </a:extLst>
            </p:cNvPr>
            <p:cNvGrpSpPr>
              <a:grpSpLocks/>
            </p:cNvGrpSpPr>
            <p:nvPr/>
          </p:nvGrpSpPr>
          <p:grpSpPr bwMode="auto">
            <a:xfrm>
              <a:off x="1739900" y="1470025"/>
              <a:ext cx="1489075" cy="322263"/>
              <a:chOff x="3316557" y="3870959"/>
              <a:chExt cx="1488983" cy="321719"/>
            </a:xfrm>
          </p:grpSpPr>
          <p:sp>
            <p:nvSpPr>
              <p:cNvPr id="154" name="Freeform 253">
                <a:extLst>
                  <a:ext uri="{FF2B5EF4-FFF2-40B4-BE49-F238E27FC236}">
                    <a16:creationId xmlns:a16="http://schemas.microsoft.com/office/drawing/2014/main" id="{EACFB825-28C3-34E4-1055-9CAF22284F2E}"/>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55" name="Group 254">
                <a:extLst>
                  <a:ext uri="{FF2B5EF4-FFF2-40B4-BE49-F238E27FC236}">
                    <a16:creationId xmlns:a16="http://schemas.microsoft.com/office/drawing/2014/main" id="{57214B3B-C0B9-B8A1-9062-171F1890B824}"/>
                  </a:ext>
                </a:extLst>
              </p:cNvPr>
              <p:cNvGrpSpPr>
                <a:grpSpLocks/>
              </p:cNvGrpSpPr>
              <p:nvPr/>
            </p:nvGrpSpPr>
            <p:grpSpPr bwMode="auto">
              <a:xfrm>
                <a:off x="4022980" y="3870947"/>
                <a:ext cx="782560" cy="306593"/>
                <a:chOff x="3056588" y="3664772"/>
                <a:chExt cx="782560" cy="310960"/>
              </a:xfrm>
            </p:grpSpPr>
            <p:sp>
              <p:nvSpPr>
                <p:cNvPr id="157" name="Freeform 256">
                  <a:extLst>
                    <a:ext uri="{FF2B5EF4-FFF2-40B4-BE49-F238E27FC236}">
                      <a16:creationId xmlns:a16="http://schemas.microsoft.com/office/drawing/2014/main" id="{9AF510F2-7B66-B684-BD4A-ABB6B609D912}"/>
                    </a:ext>
                  </a:extLst>
                </p:cNvPr>
                <p:cNvSpPr/>
                <p:nvPr/>
              </p:nvSpPr>
              <p:spPr bwMode="auto">
                <a:xfrm>
                  <a:off x="3056559" y="3664784"/>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58" name="Freeform 257">
                  <a:extLst>
                    <a:ext uri="{FF2B5EF4-FFF2-40B4-BE49-F238E27FC236}">
                      <a16:creationId xmlns:a16="http://schemas.microsoft.com/office/drawing/2014/main" id="{170600AD-9B6A-4E20-413D-C796C84A02D5}"/>
                    </a:ext>
                  </a:extLst>
                </p:cNvPr>
                <p:cNvSpPr/>
                <p:nvPr/>
              </p:nvSpPr>
              <p:spPr bwMode="auto">
                <a:xfrm flipV="1">
                  <a:off x="3058146" y="3846420"/>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56" name="Freeform 255">
                <a:extLst>
                  <a:ext uri="{FF2B5EF4-FFF2-40B4-BE49-F238E27FC236}">
                    <a16:creationId xmlns:a16="http://schemas.microsoft.com/office/drawing/2014/main" id="{6486BAEF-A540-604E-CA41-BD36ABDAF89B}"/>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grpSp>
          <p:nvGrpSpPr>
            <p:cNvPr id="159" name="Group 258">
              <a:extLst>
                <a:ext uri="{FF2B5EF4-FFF2-40B4-BE49-F238E27FC236}">
                  <a16:creationId xmlns:a16="http://schemas.microsoft.com/office/drawing/2014/main" id="{C6D01638-9F96-9189-2C5F-CA541716E5BC}"/>
                </a:ext>
              </a:extLst>
            </p:cNvPr>
            <p:cNvGrpSpPr>
              <a:grpSpLocks/>
            </p:cNvGrpSpPr>
            <p:nvPr/>
          </p:nvGrpSpPr>
          <p:grpSpPr bwMode="auto">
            <a:xfrm>
              <a:off x="1697038" y="1320800"/>
              <a:ext cx="1489075" cy="322263"/>
              <a:chOff x="3316557" y="3870959"/>
              <a:chExt cx="1488983" cy="321719"/>
            </a:xfrm>
          </p:grpSpPr>
          <p:sp>
            <p:nvSpPr>
              <p:cNvPr id="160" name="Freeform 259">
                <a:extLst>
                  <a:ext uri="{FF2B5EF4-FFF2-40B4-BE49-F238E27FC236}">
                    <a16:creationId xmlns:a16="http://schemas.microsoft.com/office/drawing/2014/main" id="{27AE5827-D297-5425-94B6-3F6245C774A2}"/>
                  </a:ext>
                </a:extLst>
              </p:cNvPr>
              <p:cNvSpPr>
                <a:spLocks noChangeArrowheads="1"/>
              </p:cNvSpPr>
              <p:nvPr/>
            </p:nvSpPr>
            <p:spPr bwMode="auto">
              <a:xfrm>
                <a:off x="3316557" y="3881718"/>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161" name="Group 260">
                <a:extLst>
                  <a:ext uri="{FF2B5EF4-FFF2-40B4-BE49-F238E27FC236}">
                    <a16:creationId xmlns:a16="http://schemas.microsoft.com/office/drawing/2014/main" id="{E8A415EC-F201-F581-874C-547F902D63EA}"/>
                  </a:ext>
                </a:extLst>
              </p:cNvPr>
              <p:cNvGrpSpPr>
                <a:grpSpLocks/>
              </p:cNvGrpSpPr>
              <p:nvPr/>
            </p:nvGrpSpPr>
            <p:grpSpPr bwMode="auto">
              <a:xfrm>
                <a:off x="4022980" y="3870947"/>
                <a:ext cx="782560" cy="306593"/>
                <a:chOff x="3056588" y="3664772"/>
                <a:chExt cx="782560" cy="310960"/>
              </a:xfrm>
            </p:grpSpPr>
            <p:sp>
              <p:nvSpPr>
                <p:cNvPr id="163" name="Freeform 262">
                  <a:extLst>
                    <a:ext uri="{FF2B5EF4-FFF2-40B4-BE49-F238E27FC236}">
                      <a16:creationId xmlns:a16="http://schemas.microsoft.com/office/drawing/2014/main" id="{0D59B552-D830-EFFF-D7B6-4BCE678B5DF2}"/>
                    </a:ext>
                  </a:extLst>
                </p:cNvPr>
                <p:cNvSpPr/>
                <p:nvPr/>
              </p:nvSpPr>
              <p:spPr bwMode="auto">
                <a:xfrm>
                  <a:off x="3056558" y="3664784"/>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164" name="Freeform 263">
                  <a:extLst>
                    <a:ext uri="{FF2B5EF4-FFF2-40B4-BE49-F238E27FC236}">
                      <a16:creationId xmlns:a16="http://schemas.microsoft.com/office/drawing/2014/main" id="{D45C7DF1-63CA-9F7F-CF9E-C48D3C22B81A}"/>
                    </a:ext>
                  </a:extLst>
                </p:cNvPr>
                <p:cNvSpPr/>
                <p:nvPr/>
              </p:nvSpPr>
              <p:spPr bwMode="auto">
                <a:xfrm flipV="1">
                  <a:off x="3058146" y="3846420"/>
                  <a:ext cx="781002" cy="128592"/>
                </a:xfrm>
                <a:custGeom>
                  <a:avLst/>
                  <a:gdLst>
                    <a:gd name="connsiteX0" fmla="*/ 0 w 2025502"/>
                    <a:gd name="connsiteY0" fmla="*/ 350874 h 350874"/>
                    <a:gd name="connsiteX1" fmla="*/ 5316 w 2025502"/>
                    <a:gd name="connsiteY1" fmla="*/ 297712 h 350874"/>
                    <a:gd name="connsiteX2" fmla="*/ 15949 w 2025502"/>
                    <a:gd name="connsiteY2" fmla="*/ 252523 h 350874"/>
                    <a:gd name="connsiteX3" fmla="*/ 26581 w 2025502"/>
                    <a:gd name="connsiteY3" fmla="*/ 217967 h 350874"/>
                    <a:gd name="connsiteX4" fmla="*/ 45188 w 2025502"/>
                    <a:gd name="connsiteY4" fmla="*/ 183412 h 350874"/>
                    <a:gd name="connsiteX5" fmla="*/ 66453 w 2025502"/>
                    <a:gd name="connsiteY5" fmla="*/ 143539 h 350874"/>
                    <a:gd name="connsiteX6" fmla="*/ 103667 w 2025502"/>
                    <a:gd name="connsiteY6" fmla="*/ 103667 h 350874"/>
                    <a:gd name="connsiteX7" fmla="*/ 146197 w 2025502"/>
                    <a:gd name="connsiteY7" fmla="*/ 69112 h 350874"/>
                    <a:gd name="connsiteX8" fmla="*/ 188728 w 2025502"/>
                    <a:gd name="connsiteY8" fmla="*/ 39872 h 350874"/>
                    <a:gd name="connsiteX9" fmla="*/ 228600 w 2025502"/>
                    <a:gd name="connsiteY9" fmla="*/ 23923 h 350874"/>
                    <a:gd name="connsiteX10" fmla="*/ 276446 w 2025502"/>
                    <a:gd name="connsiteY10" fmla="*/ 5316 h 350874"/>
                    <a:gd name="connsiteX11" fmla="*/ 324293 w 2025502"/>
                    <a:gd name="connsiteY11" fmla="*/ 2658 h 350874"/>
                    <a:gd name="connsiteX12" fmla="*/ 1685260 w 2025502"/>
                    <a:gd name="connsiteY12" fmla="*/ 0 h 350874"/>
                    <a:gd name="connsiteX13" fmla="*/ 1749056 w 2025502"/>
                    <a:gd name="connsiteY13" fmla="*/ 7974 h 350874"/>
                    <a:gd name="connsiteX14" fmla="*/ 1810193 w 2025502"/>
                    <a:gd name="connsiteY14" fmla="*/ 26581 h 350874"/>
                    <a:gd name="connsiteX15" fmla="*/ 1855381 w 2025502"/>
                    <a:gd name="connsiteY15" fmla="*/ 47846 h 350874"/>
                    <a:gd name="connsiteX16" fmla="*/ 1897911 w 2025502"/>
                    <a:gd name="connsiteY16" fmla="*/ 79744 h 350874"/>
                    <a:gd name="connsiteX17" fmla="*/ 1945758 w 2025502"/>
                    <a:gd name="connsiteY17" fmla="*/ 122274 h 350874"/>
                    <a:gd name="connsiteX18" fmla="*/ 1974997 w 2025502"/>
                    <a:gd name="connsiteY18" fmla="*/ 167463 h 350874"/>
                    <a:gd name="connsiteX19" fmla="*/ 2001579 w 2025502"/>
                    <a:gd name="connsiteY19" fmla="*/ 209993 h 350874"/>
                    <a:gd name="connsiteX20" fmla="*/ 2014870 w 2025502"/>
                    <a:gd name="connsiteY20" fmla="*/ 268472 h 350874"/>
                    <a:gd name="connsiteX21" fmla="*/ 2022844 w 2025502"/>
                    <a:gd name="connsiteY21" fmla="*/ 303028 h 350874"/>
                    <a:gd name="connsiteX22" fmla="*/ 2025502 w 2025502"/>
                    <a:gd name="connsiteY22" fmla="*/ 342900 h 35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cmpd="sng" algn="ctr">
                  <a:solidFill>
                    <a:schemeClr val="accent5"/>
                  </a:solidFill>
                  <a:prstDash val="solid"/>
                  <a:round/>
                  <a:headEnd type="none" w="med" len="med"/>
                  <a:tailEnd type="none" w="med" len="med"/>
                </a:ln>
                <a:effectLst/>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grpSp>
          <p:sp>
            <p:nvSpPr>
              <p:cNvPr id="162" name="Freeform 261">
                <a:extLst>
                  <a:ext uri="{FF2B5EF4-FFF2-40B4-BE49-F238E27FC236}">
                    <a16:creationId xmlns:a16="http://schemas.microsoft.com/office/drawing/2014/main" id="{2CA7EF37-BBBA-B62B-D82E-C82DA9D6DE62}"/>
                  </a:ext>
                </a:extLst>
              </p:cNvPr>
              <p:cNvSpPr>
                <a:spLocks noChangeArrowheads="1"/>
              </p:cNvSpPr>
              <p:nvPr/>
            </p:nvSpPr>
            <p:spPr bwMode="auto">
              <a:xfrm flipV="1">
                <a:off x="3318812" y="4063586"/>
                <a:ext cx="780305" cy="129092"/>
              </a:xfrm>
              <a:custGeom>
                <a:avLst/>
                <a:gdLst>
                  <a:gd name="T0" fmla="*/ 0 w 2025502"/>
                  <a:gd name="T1" fmla="*/ 16 h 350874"/>
                  <a:gd name="T2" fmla="*/ 0 w 2025502"/>
                  <a:gd name="T3" fmla="*/ 14 h 350874"/>
                  <a:gd name="T4" fmla="*/ 1 w 2025502"/>
                  <a:gd name="T5" fmla="*/ 11 h 350874"/>
                  <a:gd name="T6" fmla="*/ 2 w 2025502"/>
                  <a:gd name="T7" fmla="*/ 10 h 350874"/>
                  <a:gd name="T8" fmla="*/ 3 w 2025502"/>
                  <a:gd name="T9" fmla="*/ 8 h 350874"/>
                  <a:gd name="T10" fmla="*/ 5 w 2025502"/>
                  <a:gd name="T11" fmla="*/ 7 h 350874"/>
                  <a:gd name="T12" fmla="*/ 7 w 2025502"/>
                  <a:gd name="T13" fmla="*/ 5 h 350874"/>
                  <a:gd name="T14" fmla="*/ 10 w 2025502"/>
                  <a:gd name="T15" fmla="*/ 3 h 350874"/>
                  <a:gd name="T16" fmla="*/ 13 w 2025502"/>
                  <a:gd name="T17" fmla="*/ 2 h 350874"/>
                  <a:gd name="T18" fmla="*/ 17 w 2025502"/>
                  <a:gd name="T19" fmla="*/ 1 h 350874"/>
                  <a:gd name="T20" fmla="*/ 20 w 2025502"/>
                  <a:gd name="T21" fmla="*/ 0 h 350874"/>
                  <a:gd name="T22" fmla="*/ 23 w 2025502"/>
                  <a:gd name="T23" fmla="*/ 0 h 350874"/>
                  <a:gd name="T24" fmla="*/ 121 w 2025502"/>
                  <a:gd name="T25" fmla="*/ 0 h 350874"/>
                  <a:gd name="T26" fmla="*/ 126 w 2025502"/>
                  <a:gd name="T27" fmla="*/ 0 h 350874"/>
                  <a:gd name="T28" fmla="*/ 130 w 2025502"/>
                  <a:gd name="T29" fmla="*/ 1 h 350874"/>
                  <a:gd name="T30" fmla="*/ 134 w 2025502"/>
                  <a:gd name="T31" fmla="*/ 2 h 350874"/>
                  <a:gd name="T32" fmla="*/ 137 w 2025502"/>
                  <a:gd name="T33" fmla="*/ 4 h 350874"/>
                  <a:gd name="T34" fmla="*/ 140 w 2025502"/>
                  <a:gd name="T35" fmla="*/ 6 h 350874"/>
                  <a:gd name="T36" fmla="*/ 142 w 2025502"/>
                  <a:gd name="T37" fmla="*/ 8 h 350874"/>
                  <a:gd name="T38" fmla="*/ 144 w 2025502"/>
                  <a:gd name="T39" fmla="*/ 10 h 350874"/>
                  <a:gd name="T40" fmla="*/ 145 w 2025502"/>
                  <a:gd name="T41" fmla="*/ 12 h 350874"/>
                  <a:gd name="T42" fmla="*/ 146 w 2025502"/>
                  <a:gd name="T43" fmla="*/ 14 h 350874"/>
                  <a:gd name="T44" fmla="*/ 146 w 2025502"/>
                  <a:gd name="T45" fmla="*/ 15 h 3508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25502"/>
                  <a:gd name="T70" fmla="*/ 0 h 350874"/>
                  <a:gd name="T71" fmla="*/ 2025502 w 2025502"/>
                  <a:gd name="T72" fmla="*/ 350874 h 3508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25502" h="350874">
                    <a:moveTo>
                      <a:pt x="0" y="350874"/>
                    </a:moveTo>
                    <a:lnTo>
                      <a:pt x="5316" y="297712"/>
                    </a:lnTo>
                    <a:lnTo>
                      <a:pt x="15949" y="252523"/>
                    </a:lnTo>
                    <a:lnTo>
                      <a:pt x="26581" y="217967"/>
                    </a:lnTo>
                    <a:lnTo>
                      <a:pt x="45188" y="183412"/>
                    </a:lnTo>
                    <a:lnTo>
                      <a:pt x="66453" y="143539"/>
                    </a:lnTo>
                    <a:lnTo>
                      <a:pt x="103667" y="103667"/>
                    </a:lnTo>
                    <a:lnTo>
                      <a:pt x="146197" y="69112"/>
                    </a:lnTo>
                    <a:cubicBezTo>
                      <a:pt x="187113" y="41835"/>
                      <a:pt x="174775" y="53825"/>
                      <a:pt x="188728" y="39872"/>
                    </a:cubicBezTo>
                    <a:cubicBezTo>
                      <a:pt x="226756" y="23574"/>
                      <a:pt x="212446" y="23923"/>
                      <a:pt x="228600" y="23923"/>
                    </a:cubicBezTo>
                    <a:lnTo>
                      <a:pt x="276446" y="5316"/>
                    </a:lnTo>
                    <a:lnTo>
                      <a:pt x="324293" y="2658"/>
                    </a:lnTo>
                    <a:lnTo>
                      <a:pt x="1685260" y="0"/>
                    </a:lnTo>
                    <a:lnTo>
                      <a:pt x="1749056" y="7974"/>
                    </a:lnTo>
                    <a:lnTo>
                      <a:pt x="1810193" y="26581"/>
                    </a:lnTo>
                    <a:lnTo>
                      <a:pt x="1855381" y="47846"/>
                    </a:lnTo>
                    <a:lnTo>
                      <a:pt x="1897911" y="79744"/>
                    </a:lnTo>
                    <a:lnTo>
                      <a:pt x="1945758" y="122274"/>
                    </a:lnTo>
                    <a:lnTo>
                      <a:pt x="1974997" y="167463"/>
                    </a:lnTo>
                    <a:lnTo>
                      <a:pt x="2001579" y="209993"/>
                    </a:lnTo>
                    <a:lnTo>
                      <a:pt x="2014870" y="268472"/>
                    </a:lnTo>
                    <a:lnTo>
                      <a:pt x="2022844" y="303028"/>
                    </a:lnTo>
                    <a:lnTo>
                      <a:pt x="2025502" y="342900"/>
                    </a:lnTo>
                  </a:path>
                </a:pathLst>
              </a:custGeom>
              <a:noFill/>
              <a:ln w="76200" cap="sq">
                <a:solidFill>
                  <a:srgbClr val="0066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165" name="TextBox 264">
              <a:extLst>
                <a:ext uri="{FF2B5EF4-FFF2-40B4-BE49-F238E27FC236}">
                  <a16:creationId xmlns:a16="http://schemas.microsoft.com/office/drawing/2014/main" id="{01C41DFD-05E1-1EDE-FC4B-62FA87764222}"/>
                </a:ext>
              </a:extLst>
            </p:cNvPr>
            <p:cNvSpPr txBox="1">
              <a:spLocks noChangeArrowheads="1"/>
            </p:cNvSpPr>
            <p:nvPr/>
          </p:nvSpPr>
          <p:spPr bwMode="auto">
            <a:xfrm>
              <a:off x="2126060" y="5314950"/>
              <a:ext cx="480933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Customer and supplier are linked. Customer pulls.</a:t>
              </a:r>
            </a:p>
          </p:txBody>
        </p:sp>
        <p:sp>
          <p:nvSpPr>
            <p:cNvPr id="166" name="TextBox 265">
              <a:extLst>
                <a:ext uri="{FF2B5EF4-FFF2-40B4-BE49-F238E27FC236}">
                  <a16:creationId xmlns:a16="http://schemas.microsoft.com/office/drawing/2014/main" id="{88BFA25D-1874-4306-4DF1-2DA19686C1CC}"/>
                </a:ext>
              </a:extLst>
            </p:cNvPr>
            <p:cNvSpPr txBox="1">
              <a:spLocks noChangeArrowheads="1"/>
            </p:cNvSpPr>
            <p:nvPr/>
          </p:nvSpPr>
          <p:spPr bwMode="auto">
            <a:xfrm>
              <a:off x="2126325" y="3541713"/>
              <a:ext cx="52469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Customer and supplier are not linked. Supplier pushes.</a:t>
              </a:r>
            </a:p>
          </p:txBody>
        </p:sp>
        <p:sp>
          <p:nvSpPr>
            <p:cNvPr id="167" name="Rectangle 266">
              <a:extLst>
                <a:ext uri="{FF2B5EF4-FFF2-40B4-BE49-F238E27FC236}">
                  <a16:creationId xmlns:a16="http://schemas.microsoft.com/office/drawing/2014/main" id="{9621007D-9E1C-D0CA-0D05-D9DD4FFCB787}"/>
                </a:ext>
              </a:extLst>
            </p:cNvPr>
            <p:cNvSpPr>
              <a:spLocks noChangeArrowheads="1"/>
            </p:cNvSpPr>
            <p:nvPr/>
          </p:nvSpPr>
          <p:spPr bwMode="auto">
            <a:xfrm>
              <a:off x="2043383" y="5930900"/>
              <a:ext cx="5492209" cy="29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600">
                  <a:latin typeface="Roboto" panose="02000000000000000000" pitchFamily="2" charset="0"/>
                  <a:ea typeface="Roboto" panose="02000000000000000000" pitchFamily="2" charset="0"/>
                </a:rPr>
                <a:t>Machine level flow. This is probably the most critical one.</a:t>
              </a:r>
              <a:endParaRPr lang="en-GB" altLang="en-US" sz="160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1614075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13. Build in quick changeover</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75</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pSp>
        <p:nvGrpSpPr>
          <p:cNvPr id="274" name="Group 273">
            <a:extLst>
              <a:ext uri="{FF2B5EF4-FFF2-40B4-BE49-F238E27FC236}">
                <a16:creationId xmlns:a16="http://schemas.microsoft.com/office/drawing/2014/main" id="{96471AA8-443A-CEC5-B403-FF047840F6B2}"/>
              </a:ext>
            </a:extLst>
          </p:cNvPr>
          <p:cNvGrpSpPr/>
          <p:nvPr/>
        </p:nvGrpSpPr>
        <p:grpSpPr>
          <a:xfrm>
            <a:off x="1288217" y="1783428"/>
            <a:ext cx="9615567" cy="4473869"/>
            <a:chOff x="246063" y="1289050"/>
            <a:chExt cx="8443912" cy="4972067"/>
          </a:xfrm>
        </p:grpSpPr>
        <p:grpSp>
          <p:nvGrpSpPr>
            <p:cNvPr id="7" name="Group 96">
              <a:extLst>
                <a:ext uri="{FF2B5EF4-FFF2-40B4-BE49-F238E27FC236}">
                  <a16:creationId xmlns:a16="http://schemas.microsoft.com/office/drawing/2014/main" id="{94D25ED9-D72F-8CE1-A82B-62FA637C0A23}"/>
                </a:ext>
              </a:extLst>
            </p:cNvPr>
            <p:cNvGrpSpPr>
              <a:grpSpLocks/>
            </p:cNvGrpSpPr>
            <p:nvPr/>
          </p:nvGrpSpPr>
          <p:grpSpPr bwMode="auto">
            <a:xfrm>
              <a:off x="246063" y="2701925"/>
              <a:ext cx="2127250" cy="1044575"/>
              <a:chOff x="1742744" y="1893346"/>
              <a:chExt cx="2127193" cy="1045156"/>
            </a:xfrm>
          </p:grpSpPr>
          <p:sp>
            <p:nvSpPr>
              <p:cNvPr id="8" name="Rounded Rectangle 97">
                <a:extLst>
                  <a:ext uri="{FF2B5EF4-FFF2-40B4-BE49-F238E27FC236}">
                    <a16:creationId xmlns:a16="http://schemas.microsoft.com/office/drawing/2014/main" id="{A5062A28-0B1B-4011-5453-C411E4590549}"/>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1" name="Rectangle 98">
                <a:extLst>
                  <a:ext uri="{FF2B5EF4-FFF2-40B4-BE49-F238E27FC236}">
                    <a16:creationId xmlns:a16="http://schemas.microsoft.com/office/drawing/2014/main" id="{27753FE3-D019-8449-37F7-76EFD1B2CBD6}"/>
                  </a:ext>
                </a:extLst>
              </p:cNvPr>
              <p:cNvSpPr>
                <a:spLocks noChangeArrowheads="1"/>
              </p:cNvSpPr>
              <p:nvPr/>
            </p:nvSpPr>
            <p:spPr bwMode="auto">
              <a:xfrm>
                <a:off x="1742744" y="1893346"/>
                <a:ext cx="462579" cy="1045156"/>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12" name="Freeform 25">
                <a:extLst>
                  <a:ext uri="{FF2B5EF4-FFF2-40B4-BE49-F238E27FC236}">
                    <a16:creationId xmlns:a16="http://schemas.microsoft.com/office/drawing/2014/main" id="{32C11F7D-B9C4-56BB-8B00-9ECA1C5D9299}"/>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14" name="Freeform 26">
                <a:extLst>
                  <a:ext uri="{FF2B5EF4-FFF2-40B4-BE49-F238E27FC236}">
                    <a16:creationId xmlns:a16="http://schemas.microsoft.com/office/drawing/2014/main" id="{946E66CE-6D80-609A-1DE6-6B47D043B98B}"/>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grpSp>
          <p:nvGrpSpPr>
            <p:cNvPr id="15" name="Group 91">
              <a:extLst>
                <a:ext uri="{FF2B5EF4-FFF2-40B4-BE49-F238E27FC236}">
                  <a16:creationId xmlns:a16="http://schemas.microsoft.com/office/drawing/2014/main" id="{1F190E50-0843-9C8B-E4F5-D45779646AA8}"/>
                </a:ext>
              </a:extLst>
            </p:cNvPr>
            <p:cNvGrpSpPr>
              <a:grpSpLocks/>
            </p:cNvGrpSpPr>
            <p:nvPr/>
          </p:nvGrpSpPr>
          <p:grpSpPr bwMode="auto">
            <a:xfrm>
              <a:off x="246063" y="1344613"/>
              <a:ext cx="2127250" cy="1044575"/>
              <a:chOff x="1742744" y="1893346"/>
              <a:chExt cx="2127193" cy="1045156"/>
            </a:xfrm>
          </p:grpSpPr>
          <p:sp>
            <p:nvSpPr>
              <p:cNvPr id="27" name="Rounded Rectangle 92">
                <a:extLst>
                  <a:ext uri="{FF2B5EF4-FFF2-40B4-BE49-F238E27FC236}">
                    <a16:creationId xmlns:a16="http://schemas.microsoft.com/office/drawing/2014/main" id="{21DE4485-FD82-9A06-25F8-1F7E7A30A097}"/>
                  </a:ext>
                </a:extLst>
              </p:cNvPr>
              <p:cNvSpPr>
                <a:spLocks noChangeArrowheads="1"/>
              </p:cNvSpPr>
              <p:nvPr/>
            </p:nvSpPr>
            <p:spPr bwMode="auto">
              <a:xfrm>
                <a:off x="1871832" y="2066881"/>
                <a:ext cx="1998105" cy="708592"/>
              </a:xfrm>
              <a:prstGeom prst="roundRect">
                <a:avLst>
                  <a:gd name="adj" fmla="val 50000"/>
                </a:avLst>
              </a:prstGeom>
              <a:noFill/>
              <a:ln w="28575"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28" name="Rectangle 93">
                <a:extLst>
                  <a:ext uri="{FF2B5EF4-FFF2-40B4-BE49-F238E27FC236}">
                    <a16:creationId xmlns:a16="http://schemas.microsoft.com/office/drawing/2014/main" id="{028543BF-1E83-A2E9-7D99-8395DC44A94F}"/>
                  </a:ext>
                </a:extLst>
              </p:cNvPr>
              <p:cNvSpPr>
                <a:spLocks noChangeArrowheads="1"/>
              </p:cNvSpPr>
              <p:nvPr/>
            </p:nvSpPr>
            <p:spPr bwMode="auto">
              <a:xfrm>
                <a:off x="1742744" y="1893346"/>
                <a:ext cx="462579" cy="1045156"/>
              </a:xfrm>
              <a:prstGeom prst="rect">
                <a:avLst/>
              </a:prstGeom>
              <a:solidFill>
                <a:schemeClr val="bg1"/>
              </a:solidFill>
              <a:ln>
                <a:noFill/>
              </a:ln>
              <a:extLst>
                <a:ext uri="{91240B29-F687-4F45-9708-019B960494DF}">
                  <a14:hiddenLine xmlns:a14="http://schemas.microsoft.com/office/drawing/2010/main" w="12700" cap="sq">
                    <a:solidFill>
                      <a:srgbClr val="000000"/>
                    </a:solidFill>
                    <a:round/>
                    <a:headEnd/>
                    <a:tailEnd/>
                  </a14:hiddenLine>
                </a:ext>
              </a:extLst>
            </p:spPr>
            <p:txBody>
              <a:bodyPr lIns="36000" tIns="36000" rIns="36000" bIns="36000"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sz="1200">
                  <a:latin typeface="Roboto" panose="02000000000000000000" pitchFamily="2" charset="0"/>
                  <a:ea typeface="Roboto" panose="02000000000000000000" pitchFamily="2" charset="0"/>
                </a:endParaRPr>
              </a:p>
            </p:txBody>
          </p:sp>
          <p:sp>
            <p:nvSpPr>
              <p:cNvPr id="29" name="Freeform 25">
                <a:extLst>
                  <a:ext uri="{FF2B5EF4-FFF2-40B4-BE49-F238E27FC236}">
                    <a16:creationId xmlns:a16="http://schemas.microsoft.com/office/drawing/2014/main" id="{02AB2198-400C-ED72-5CBE-1A8E83B19D2F}"/>
                  </a:ext>
                </a:extLst>
              </p:cNvPr>
              <p:cNvSpPr>
                <a:spLocks/>
              </p:cNvSpPr>
              <p:nvPr/>
            </p:nvSpPr>
            <p:spPr bwMode="auto">
              <a:xfrm rot="-5400000">
                <a:off x="2003999" y="2007131"/>
                <a:ext cx="271463" cy="134735"/>
              </a:xfrm>
              <a:custGeom>
                <a:avLst/>
                <a:gdLst>
                  <a:gd name="T0" fmla="*/ 2147483646 w 135"/>
                  <a:gd name="T1" fmla="*/ 0 h 67"/>
                  <a:gd name="T2" fmla="*/ 0 w 135"/>
                  <a:gd name="T3" fmla="*/ 2147483646 h 67"/>
                  <a:gd name="T4" fmla="*/ 2147483646 w 135"/>
                  <a:gd name="T5" fmla="*/ 2147483646 h 67"/>
                  <a:gd name="T6" fmla="*/ 2147483646 w 135"/>
                  <a:gd name="T7" fmla="*/ 0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0"/>
                    </a:moveTo>
                    <a:lnTo>
                      <a:pt x="0" y="67"/>
                    </a:lnTo>
                    <a:lnTo>
                      <a:pt x="135" y="67"/>
                    </a:lnTo>
                    <a:lnTo>
                      <a:pt x="67" y="0"/>
                    </a:lnTo>
                    <a:close/>
                  </a:path>
                </a:pathLst>
              </a:custGeom>
              <a:solidFill>
                <a:schemeClr val="accent1"/>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sp>
            <p:nvSpPr>
              <p:cNvPr id="30" name="Freeform 26">
                <a:extLst>
                  <a:ext uri="{FF2B5EF4-FFF2-40B4-BE49-F238E27FC236}">
                    <a16:creationId xmlns:a16="http://schemas.microsoft.com/office/drawing/2014/main" id="{0BB23430-00DD-76AF-04CE-B061D8BEE659}"/>
                  </a:ext>
                </a:extLst>
              </p:cNvPr>
              <p:cNvSpPr>
                <a:spLocks/>
              </p:cNvSpPr>
              <p:nvPr/>
            </p:nvSpPr>
            <p:spPr bwMode="auto">
              <a:xfrm rot="-5400000">
                <a:off x="2068547" y="2706202"/>
                <a:ext cx="271463" cy="134735"/>
              </a:xfrm>
              <a:custGeom>
                <a:avLst/>
                <a:gdLst>
                  <a:gd name="T0" fmla="*/ 2147483646 w 135"/>
                  <a:gd name="T1" fmla="*/ 2147483646 h 67"/>
                  <a:gd name="T2" fmla="*/ 2147483646 w 135"/>
                  <a:gd name="T3" fmla="*/ 0 h 67"/>
                  <a:gd name="T4" fmla="*/ 0 w 135"/>
                  <a:gd name="T5" fmla="*/ 0 h 67"/>
                  <a:gd name="T6" fmla="*/ 2147483646 w 135"/>
                  <a:gd name="T7" fmla="*/ 2147483646 h 67"/>
                  <a:gd name="T8" fmla="*/ 0 60000 65536"/>
                  <a:gd name="T9" fmla="*/ 0 60000 65536"/>
                  <a:gd name="T10" fmla="*/ 0 60000 65536"/>
                  <a:gd name="T11" fmla="*/ 0 60000 65536"/>
                  <a:gd name="T12" fmla="*/ 0 w 135"/>
                  <a:gd name="T13" fmla="*/ 0 h 67"/>
                  <a:gd name="T14" fmla="*/ 135 w 135"/>
                  <a:gd name="T15" fmla="*/ 67 h 67"/>
                </a:gdLst>
                <a:ahLst/>
                <a:cxnLst>
                  <a:cxn ang="T8">
                    <a:pos x="T0" y="T1"/>
                  </a:cxn>
                  <a:cxn ang="T9">
                    <a:pos x="T2" y="T3"/>
                  </a:cxn>
                  <a:cxn ang="T10">
                    <a:pos x="T4" y="T5"/>
                  </a:cxn>
                  <a:cxn ang="T11">
                    <a:pos x="T6" y="T7"/>
                  </a:cxn>
                </a:cxnLst>
                <a:rect l="T12" t="T13" r="T14" b="T15"/>
                <a:pathLst>
                  <a:path w="135" h="67">
                    <a:moveTo>
                      <a:pt x="67" y="67"/>
                    </a:moveTo>
                    <a:lnTo>
                      <a:pt x="135" y="0"/>
                    </a:lnTo>
                    <a:lnTo>
                      <a:pt x="0" y="0"/>
                    </a:lnTo>
                    <a:lnTo>
                      <a:pt x="67" y="67"/>
                    </a:lnTo>
                    <a:close/>
                  </a:path>
                </a:pathLst>
              </a:custGeom>
              <a:solidFill>
                <a:schemeClr val="accent6"/>
              </a:solidFill>
              <a:ln w="11113">
                <a:solidFill>
                  <a:srgbClr val="000000"/>
                </a:solidFill>
                <a:round/>
                <a:headEnd/>
                <a:tailEnd/>
              </a:ln>
            </p:spPr>
            <p:txBody>
              <a:bodyPr/>
              <a:lstStyle/>
              <a:p>
                <a:endParaRPr lang="en-US">
                  <a:latin typeface="Roboto" panose="02000000000000000000" pitchFamily="2" charset="0"/>
                  <a:ea typeface="Roboto" panose="02000000000000000000" pitchFamily="2" charset="0"/>
                </a:endParaRPr>
              </a:p>
            </p:txBody>
          </p:sp>
        </p:grpSp>
        <p:sp>
          <p:nvSpPr>
            <p:cNvPr id="31" name="Rectangle 10">
              <a:extLst>
                <a:ext uri="{FF2B5EF4-FFF2-40B4-BE49-F238E27FC236}">
                  <a16:creationId xmlns:a16="http://schemas.microsoft.com/office/drawing/2014/main" id="{DAA93CB9-EF13-E72A-ED79-F38B44D0C9AA}"/>
                </a:ext>
              </a:extLst>
            </p:cNvPr>
            <p:cNvSpPr>
              <a:spLocks noChangeArrowheads="1"/>
            </p:cNvSpPr>
            <p:nvPr/>
          </p:nvSpPr>
          <p:spPr bwMode="auto">
            <a:xfrm>
              <a:off x="879475" y="2074863"/>
              <a:ext cx="323850" cy="322262"/>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1</a:t>
              </a:r>
            </a:p>
          </p:txBody>
        </p:sp>
        <p:sp>
          <p:nvSpPr>
            <p:cNvPr id="32" name="Rectangle 11">
              <a:extLst>
                <a:ext uri="{FF2B5EF4-FFF2-40B4-BE49-F238E27FC236}">
                  <a16:creationId xmlns:a16="http://schemas.microsoft.com/office/drawing/2014/main" id="{F92044BF-31C5-1CE7-8723-6F217EF9646B}"/>
                </a:ext>
              </a:extLst>
            </p:cNvPr>
            <p:cNvSpPr>
              <a:spLocks noChangeArrowheads="1"/>
            </p:cNvSpPr>
            <p:nvPr/>
          </p:nvSpPr>
          <p:spPr bwMode="auto">
            <a:xfrm>
              <a:off x="879475" y="1366838"/>
              <a:ext cx="323850" cy="322262"/>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5</a:t>
              </a:r>
              <a:endParaRPr lang="en-US" altLang="ja-JP" sz="2400" b="0">
                <a:latin typeface="Roboto" panose="02000000000000000000" pitchFamily="2" charset="0"/>
                <a:ea typeface="Roboto" panose="02000000000000000000" pitchFamily="2" charset="0"/>
              </a:endParaRPr>
            </a:p>
          </p:txBody>
        </p:sp>
        <p:sp>
          <p:nvSpPr>
            <p:cNvPr id="33" name="Rectangle 12">
              <a:extLst>
                <a:ext uri="{FF2B5EF4-FFF2-40B4-BE49-F238E27FC236}">
                  <a16:creationId xmlns:a16="http://schemas.microsoft.com/office/drawing/2014/main" id="{CA286E4C-66F5-0331-8CFB-682D823CCD82}"/>
                </a:ext>
              </a:extLst>
            </p:cNvPr>
            <p:cNvSpPr>
              <a:spLocks noChangeArrowheads="1"/>
            </p:cNvSpPr>
            <p:nvPr/>
          </p:nvSpPr>
          <p:spPr bwMode="auto">
            <a:xfrm>
              <a:off x="1655763" y="1366838"/>
              <a:ext cx="322262" cy="322262"/>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4</a:t>
              </a:r>
              <a:endParaRPr lang="en-US" altLang="ja-JP" sz="2400" b="0">
                <a:latin typeface="Roboto" panose="02000000000000000000" pitchFamily="2" charset="0"/>
                <a:ea typeface="Roboto" panose="02000000000000000000" pitchFamily="2" charset="0"/>
              </a:endParaRPr>
            </a:p>
          </p:txBody>
        </p:sp>
        <p:sp>
          <p:nvSpPr>
            <p:cNvPr id="34" name="Rectangle 13">
              <a:extLst>
                <a:ext uri="{FF2B5EF4-FFF2-40B4-BE49-F238E27FC236}">
                  <a16:creationId xmlns:a16="http://schemas.microsoft.com/office/drawing/2014/main" id="{C886C52A-216E-7A67-A6DA-044A98E45E11}"/>
                </a:ext>
              </a:extLst>
            </p:cNvPr>
            <p:cNvSpPr>
              <a:spLocks noChangeArrowheads="1"/>
            </p:cNvSpPr>
            <p:nvPr/>
          </p:nvSpPr>
          <p:spPr bwMode="auto">
            <a:xfrm>
              <a:off x="2171700" y="1689100"/>
              <a:ext cx="323850" cy="322263"/>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3</a:t>
              </a:r>
              <a:endParaRPr lang="en-US" altLang="ja-JP" sz="2400" b="0">
                <a:latin typeface="Roboto" panose="02000000000000000000" pitchFamily="2" charset="0"/>
                <a:ea typeface="Roboto" panose="02000000000000000000" pitchFamily="2" charset="0"/>
              </a:endParaRPr>
            </a:p>
          </p:txBody>
        </p:sp>
        <p:sp>
          <p:nvSpPr>
            <p:cNvPr id="35" name="Rectangle 14">
              <a:extLst>
                <a:ext uri="{FF2B5EF4-FFF2-40B4-BE49-F238E27FC236}">
                  <a16:creationId xmlns:a16="http://schemas.microsoft.com/office/drawing/2014/main" id="{07A4C0E0-E368-268C-68F3-1D7AF7886B65}"/>
                </a:ext>
              </a:extLst>
            </p:cNvPr>
            <p:cNvSpPr>
              <a:spLocks noChangeArrowheads="1"/>
            </p:cNvSpPr>
            <p:nvPr/>
          </p:nvSpPr>
          <p:spPr bwMode="auto">
            <a:xfrm>
              <a:off x="1655763" y="2074863"/>
              <a:ext cx="322262" cy="322262"/>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2</a:t>
              </a:r>
              <a:endParaRPr lang="en-US" altLang="ja-JP" sz="2400" b="0">
                <a:latin typeface="Roboto" panose="02000000000000000000" pitchFamily="2" charset="0"/>
                <a:ea typeface="Roboto" panose="02000000000000000000" pitchFamily="2" charset="0"/>
              </a:endParaRPr>
            </a:p>
          </p:txBody>
        </p:sp>
        <p:sp>
          <p:nvSpPr>
            <p:cNvPr id="36" name="Text Box 15">
              <a:extLst>
                <a:ext uri="{FF2B5EF4-FFF2-40B4-BE49-F238E27FC236}">
                  <a16:creationId xmlns:a16="http://schemas.microsoft.com/office/drawing/2014/main" id="{901583DD-DD99-C325-E085-FA068FAE1371}"/>
                </a:ext>
              </a:extLst>
            </p:cNvPr>
            <p:cNvSpPr txBox="1">
              <a:spLocks noChangeArrowheads="1"/>
            </p:cNvSpPr>
            <p:nvPr/>
          </p:nvSpPr>
          <p:spPr bwMode="auto">
            <a:xfrm>
              <a:off x="1289050" y="1700213"/>
              <a:ext cx="387350" cy="5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latin typeface="Roboto" panose="02000000000000000000" pitchFamily="2" charset="0"/>
                  <a:ea typeface="Roboto" panose="02000000000000000000" pitchFamily="2" charset="0"/>
                </a:rPr>
                <a:t>A</a:t>
              </a:r>
              <a:endParaRPr lang="en-US" altLang="ja-JP" sz="2400" b="0">
                <a:latin typeface="Roboto" panose="02000000000000000000" pitchFamily="2" charset="0"/>
                <a:ea typeface="Roboto" panose="02000000000000000000" pitchFamily="2" charset="0"/>
              </a:endParaRPr>
            </a:p>
          </p:txBody>
        </p:sp>
        <p:sp>
          <p:nvSpPr>
            <p:cNvPr id="37" name="Rectangle 10">
              <a:extLst>
                <a:ext uri="{FF2B5EF4-FFF2-40B4-BE49-F238E27FC236}">
                  <a16:creationId xmlns:a16="http://schemas.microsoft.com/office/drawing/2014/main" id="{14FCD06E-7123-7AC8-E9BE-3279117D5A3F}"/>
                </a:ext>
              </a:extLst>
            </p:cNvPr>
            <p:cNvSpPr>
              <a:spLocks noChangeArrowheads="1"/>
            </p:cNvSpPr>
            <p:nvPr/>
          </p:nvSpPr>
          <p:spPr bwMode="auto">
            <a:xfrm>
              <a:off x="860425" y="3421063"/>
              <a:ext cx="322263" cy="322262"/>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1</a:t>
              </a:r>
            </a:p>
          </p:txBody>
        </p:sp>
        <p:sp>
          <p:nvSpPr>
            <p:cNvPr id="38" name="Rectangle 11">
              <a:extLst>
                <a:ext uri="{FF2B5EF4-FFF2-40B4-BE49-F238E27FC236}">
                  <a16:creationId xmlns:a16="http://schemas.microsoft.com/office/drawing/2014/main" id="{0EE8EB78-3E0A-CA76-A574-7FE56F26D91A}"/>
                </a:ext>
              </a:extLst>
            </p:cNvPr>
            <p:cNvSpPr>
              <a:spLocks noChangeArrowheads="1"/>
            </p:cNvSpPr>
            <p:nvPr/>
          </p:nvSpPr>
          <p:spPr bwMode="auto">
            <a:xfrm>
              <a:off x="860425" y="2714625"/>
              <a:ext cx="322263" cy="322263"/>
            </a:xfrm>
            <a:prstGeom prst="rect">
              <a:avLst/>
            </a:prstGeom>
            <a:solidFill>
              <a:schemeClr val="accent3"/>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dirty="0">
                  <a:solidFill>
                    <a:schemeClr val="bg1"/>
                  </a:solidFill>
                  <a:latin typeface="Roboto" panose="02000000000000000000" pitchFamily="2" charset="0"/>
                  <a:ea typeface="Roboto" panose="02000000000000000000" pitchFamily="2" charset="0"/>
                </a:rPr>
                <a:t>3</a:t>
              </a:r>
              <a:endParaRPr lang="en-US" altLang="ja-JP" sz="2400" b="0" dirty="0">
                <a:solidFill>
                  <a:schemeClr val="bg1"/>
                </a:solidFill>
                <a:latin typeface="Roboto" panose="02000000000000000000" pitchFamily="2" charset="0"/>
                <a:ea typeface="Roboto" panose="02000000000000000000" pitchFamily="2" charset="0"/>
              </a:endParaRPr>
            </a:p>
          </p:txBody>
        </p:sp>
        <p:sp>
          <p:nvSpPr>
            <p:cNvPr id="39" name="Rectangle 12">
              <a:extLst>
                <a:ext uri="{FF2B5EF4-FFF2-40B4-BE49-F238E27FC236}">
                  <a16:creationId xmlns:a16="http://schemas.microsoft.com/office/drawing/2014/main" id="{B385EEBC-6AEF-A5EF-BA88-7EF413F6966A}"/>
                </a:ext>
              </a:extLst>
            </p:cNvPr>
            <p:cNvSpPr>
              <a:spLocks noChangeArrowheads="1"/>
            </p:cNvSpPr>
            <p:nvPr/>
          </p:nvSpPr>
          <p:spPr bwMode="auto">
            <a:xfrm>
              <a:off x="1635125" y="2714625"/>
              <a:ext cx="323850" cy="322263"/>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4</a:t>
              </a:r>
              <a:endParaRPr lang="en-US" altLang="ja-JP" sz="2400" b="0">
                <a:latin typeface="Roboto" panose="02000000000000000000" pitchFamily="2" charset="0"/>
                <a:ea typeface="Roboto" panose="02000000000000000000" pitchFamily="2" charset="0"/>
              </a:endParaRPr>
            </a:p>
          </p:txBody>
        </p:sp>
        <p:sp>
          <p:nvSpPr>
            <p:cNvPr id="40" name="Rectangle 13">
              <a:extLst>
                <a:ext uri="{FF2B5EF4-FFF2-40B4-BE49-F238E27FC236}">
                  <a16:creationId xmlns:a16="http://schemas.microsoft.com/office/drawing/2014/main" id="{D1A0ACDC-DDFA-81ED-DD1F-67A402A882AC}"/>
                </a:ext>
              </a:extLst>
            </p:cNvPr>
            <p:cNvSpPr>
              <a:spLocks noChangeArrowheads="1"/>
            </p:cNvSpPr>
            <p:nvPr/>
          </p:nvSpPr>
          <p:spPr bwMode="auto">
            <a:xfrm>
              <a:off x="2152650" y="3036888"/>
              <a:ext cx="323850" cy="320675"/>
            </a:xfrm>
            <a:prstGeom prst="rect">
              <a:avLst/>
            </a:prstGeom>
            <a:solidFill>
              <a:schemeClr val="accent3"/>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latin typeface="Roboto" panose="02000000000000000000" pitchFamily="2" charset="0"/>
                  <a:ea typeface="Roboto" panose="02000000000000000000" pitchFamily="2" charset="0"/>
                </a:rPr>
                <a:t>5</a:t>
              </a:r>
            </a:p>
          </p:txBody>
        </p:sp>
        <p:sp>
          <p:nvSpPr>
            <p:cNvPr id="41" name="Rectangle 14">
              <a:extLst>
                <a:ext uri="{FF2B5EF4-FFF2-40B4-BE49-F238E27FC236}">
                  <a16:creationId xmlns:a16="http://schemas.microsoft.com/office/drawing/2014/main" id="{B72C2AB3-ECCF-9067-393C-6982E4CD2085}"/>
                </a:ext>
              </a:extLst>
            </p:cNvPr>
            <p:cNvSpPr>
              <a:spLocks noChangeArrowheads="1"/>
            </p:cNvSpPr>
            <p:nvPr/>
          </p:nvSpPr>
          <p:spPr bwMode="auto">
            <a:xfrm>
              <a:off x="1635125" y="3421063"/>
              <a:ext cx="323850" cy="322262"/>
            </a:xfrm>
            <a:prstGeom prst="rect">
              <a:avLst/>
            </a:prstGeom>
            <a:solidFill>
              <a:schemeClr val="bg1"/>
            </a:solidFill>
            <a:ln w="28575">
              <a:solidFill>
                <a:schemeClr val="accent5"/>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latin typeface="Roboto" panose="02000000000000000000" pitchFamily="2" charset="0"/>
                  <a:ea typeface="Roboto" panose="02000000000000000000" pitchFamily="2" charset="0"/>
                </a:rPr>
                <a:t>2</a:t>
              </a:r>
              <a:endParaRPr lang="en-US" altLang="ja-JP" sz="2400" b="0">
                <a:latin typeface="Roboto" panose="02000000000000000000" pitchFamily="2" charset="0"/>
                <a:ea typeface="Roboto" panose="02000000000000000000" pitchFamily="2" charset="0"/>
              </a:endParaRPr>
            </a:p>
          </p:txBody>
        </p:sp>
        <p:sp>
          <p:nvSpPr>
            <p:cNvPr id="42" name="Text Box 15">
              <a:extLst>
                <a:ext uri="{FF2B5EF4-FFF2-40B4-BE49-F238E27FC236}">
                  <a16:creationId xmlns:a16="http://schemas.microsoft.com/office/drawing/2014/main" id="{FEC086CC-9137-E3FF-68E6-4507A321564A}"/>
                </a:ext>
              </a:extLst>
            </p:cNvPr>
            <p:cNvSpPr txBox="1">
              <a:spLocks noChangeArrowheads="1"/>
            </p:cNvSpPr>
            <p:nvPr/>
          </p:nvSpPr>
          <p:spPr bwMode="auto">
            <a:xfrm>
              <a:off x="1270000" y="3046413"/>
              <a:ext cx="387350" cy="5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50000"/>
                </a:spcBef>
                <a:spcAft>
                  <a:spcPct val="0"/>
                </a:spcAft>
                <a:buClrTx/>
                <a:buSzTx/>
                <a:buFontTx/>
                <a:buNone/>
              </a:pPr>
              <a:r>
                <a:rPr lang="en-US" altLang="ja-JP" sz="2400">
                  <a:latin typeface="Roboto" panose="02000000000000000000" pitchFamily="2" charset="0"/>
                  <a:ea typeface="Roboto" panose="02000000000000000000" pitchFamily="2" charset="0"/>
                </a:rPr>
                <a:t>B</a:t>
              </a:r>
              <a:endParaRPr lang="en-US" altLang="ja-JP" sz="2400" b="0">
                <a:latin typeface="Roboto" panose="02000000000000000000" pitchFamily="2" charset="0"/>
                <a:ea typeface="Roboto" panose="02000000000000000000" pitchFamily="2" charset="0"/>
              </a:endParaRPr>
            </a:p>
          </p:txBody>
        </p:sp>
        <p:sp>
          <p:nvSpPr>
            <p:cNvPr id="43" name="TextBox 130">
              <a:extLst>
                <a:ext uri="{FF2B5EF4-FFF2-40B4-BE49-F238E27FC236}">
                  <a16:creationId xmlns:a16="http://schemas.microsoft.com/office/drawing/2014/main" id="{9D39F945-B5E4-B21A-03B8-109225212C01}"/>
                </a:ext>
              </a:extLst>
            </p:cNvPr>
            <p:cNvSpPr txBox="1">
              <a:spLocks noChangeArrowheads="1"/>
            </p:cNvSpPr>
            <p:nvPr/>
          </p:nvSpPr>
          <p:spPr bwMode="auto">
            <a:xfrm>
              <a:off x="602259" y="3829050"/>
              <a:ext cx="1689494" cy="34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400">
                  <a:latin typeface="Roboto" panose="02000000000000000000" pitchFamily="2" charset="0"/>
                  <a:ea typeface="Roboto" panose="02000000000000000000" pitchFamily="2" charset="0"/>
                </a:rPr>
                <a:t>Flexible Cell Changes</a:t>
              </a:r>
            </a:p>
          </p:txBody>
        </p:sp>
        <p:sp>
          <p:nvSpPr>
            <p:cNvPr id="44" name="Rectangle 7">
              <a:extLst>
                <a:ext uri="{FF2B5EF4-FFF2-40B4-BE49-F238E27FC236}">
                  <a16:creationId xmlns:a16="http://schemas.microsoft.com/office/drawing/2014/main" id="{F945FD20-3ED1-E819-26D4-111AF28DD30D}"/>
                </a:ext>
              </a:extLst>
            </p:cNvPr>
            <p:cNvSpPr>
              <a:spLocks noChangeArrowheads="1"/>
            </p:cNvSpPr>
            <p:nvPr/>
          </p:nvSpPr>
          <p:spPr bwMode="auto">
            <a:xfrm>
              <a:off x="1149780" y="5559425"/>
              <a:ext cx="1510439" cy="2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Use standard sizes</a:t>
              </a:r>
            </a:p>
          </p:txBody>
        </p:sp>
        <p:grpSp>
          <p:nvGrpSpPr>
            <p:cNvPr id="45" name="Group 185">
              <a:extLst>
                <a:ext uri="{FF2B5EF4-FFF2-40B4-BE49-F238E27FC236}">
                  <a16:creationId xmlns:a16="http://schemas.microsoft.com/office/drawing/2014/main" id="{20C5F51F-F044-0B9B-E7ED-E3562B5B63B0}"/>
                </a:ext>
              </a:extLst>
            </p:cNvPr>
            <p:cNvGrpSpPr>
              <a:grpSpLocks/>
            </p:cNvGrpSpPr>
            <p:nvPr/>
          </p:nvGrpSpPr>
          <p:grpSpPr bwMode="auto">
            <a:xfrm>
              <a:off x="1000125" y="4356100"/>
              <a:ext cx="1443038" cy="1052513"/>
              <a:chOff x="4087495" y="1720890"/>
              <a:chExt cx="1442545" cy="1052348"/>
            </a:xfrm>
          </p:grpSpPr>
          <p:grpSp>
            <p:nvGrpSpPr>
              <p:cNvPr id="46" name="Group 161">
                <a:extLst>
                  <a:ext uri="{FF2B5EF4-FFF2-40B4-BE49-F238E27FC236}">
                    <a16:creationId xmlns:a16="http://schemas.microsoft.com/office/drawing/2014/main" id="{64D31BAF-3DF2-B42C-45CB-75126478D98E}"/>
                  </a:ext>
                </a:extLst>
              </p:cNvPr>
              <p:cNvGrpSpPr>
                <a:grpSpLocks/>
              </p:cNvGrpSpPr>
              <p:nvPr/>
            </p:nvGrpSpPr>
            <p:grpSpPr bwMode="auto">
              <a:xfrm>
                <a:off x="4087495" y="1720890"/>
                <a:ext cx="1442545" cy="530608"/>
                <a:chOff x="4087495" y="1720890"/>
                <a:chExt cx="1442545" cy="530608"/>
              </a:xfrm>
            </p:grpSpPr>
            <p:sp>
              <p:nvSpPr>
                <p:cNvPr id="50" name="Rectangle 71">
                  <a:extLst>
                    <a:ext uri="{FF2B5EF4-FFF2-40B4-BE49-F238E27FC236}">
                      <a16:creationId xmlns:a16="http://schemas.microsoft.com/office/drawing/2014/main" id="{F9C4D970-51B1-44CA-6C3D-BD1D887C6ACA}"/>
                    </a:ext>
                  </a:extLst>
                </p:cNvPr>
                <p:cNvSpPr>
                  <a:spLocks noChangeArrowheads="1"/>
                </p:cNvSpPr>
                <p:nvPr/>
              </p:nvSpPr>
              <p:spPr bwMode="auto">
                <a:xfrm>
                  <a:off x="4087495" y="1720890"/>
                  <a:ext cx="1442545" cy="206343"/>
                </a:xfrm>
                <a:prstGeom prst="rect">
                  <a:avLst/>
                </a:prstGeom>
                <a:solidFill>
                  <a:schemeClr val="bg1">
                    <a:lumMod val="95000"/>
                  </a:schemeClr>
                </a:solidFill>
                <a:ln w="9525">
                  <a:solidFill>
                    <a:schemeClr val="tx1"/>
                  </a:solidFill>
                  <a:miter lim="800000"/>
                  <a:headEnd/>
                  <a:tailEnd/>
                </a:ln>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51" name="Rectangle 72">
                  <a:extLst>
                    <a:ext uri="{FF2B5EF4-FFF2-40B4-BE49-F238E27FC236}">
                      <a16:creationId xmlns:a16="http://schemas.microsoft.com/office/drawing/2014/main" id="{7D426A19-A66F-BB8A-5F5F-24848B6CF8F1}"/>
                    </a:ext>
                  </a:extLst>
                </p:cNvPr>
                <p:cNvSpPr>
                  <a:spLocks noChangeArrowheads="1"/>
                </p:cNvSpPr>
                <p:nvPr/>
              </p:nvSpPr>
              <p:spPr bwMode="auto">
                <a:xfrm>
                  <a:off x="4377186" y="1929290"/>
                  <a:ext cx="863162" cy="32220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grpSp>
            <p:nvGrpSpPr>
              <p:cNvPr id="47" name="Group 73">
                <a:extLst>
                  <a:ext uri="{FF2B5EF4-FFF2-40B4-BE49-F238E27FC236}">
                    <a16:creationId xmlns:a16="http://schemas.microsoft.com/office/drawing/2014/main" id="{D471117F-B044-EBCE-ECE1-DF298BD01425}"/>
                  </a:ext>
                </a:extLst>
              </p:cNvPr>
              <p:cNvGrpSpPr>
                <a:grpSpLocks/>
              </p:cNvGrpSpPr>
              <p:nvPr/>
            </p:nvGrpSpPr>
            <p:grpSpPr bwMode="auto">
              <a:xfrm flipV="1">
                <a:off x="4087495" y="2242630"/>
                <a:ext cx="1442545" cy="530608"/>
                <a:chOff x="635" y="902"/>
                <a:chExt cx="976" cy="359"/>
              </a:xfrm>
            </p:grpSpPr>
            <p:sp>
              <p:nvSpPr>
                <p:cNvPr id="48" name="Rectangle 74">
                  <a:extLst>
                    <a:ext uri="{FF2B5EF4-FFF2-40B4-BE49-F238E27FC236}">
                      <a16:creationId xmlns:a16="http://schemas.microsoft.com/office/drawing/2014/main" id="{C9F11CDB-290B-71FE-3D2C-5FD7A51E2A52}"/>
                    </a:ext>
                  </a:extLst>
                </p:cNvPr>
                <p:cNvSpPr>
                  <a:spLocks noChangeArrowheads="1"/>
                </p:cNvSpPr>
                <p:nvPr/>
              </p:nvSpPr>
              <p:spPr bwMode="auto">
                <a:xfrm>
                  <a:off x="635" y="902"/>
                  <a:ext cx="976" cy="140"/>
                </a:xfrm>
                <a:prstGeom prst="rect">
                  <a:avLst/>
                </a:prstGeom>
                <a:solidFill>
                  <a:schemeClr val="bg1">
                    <a:lumMod val="95000"/>
                  </a:schemeClr>
                </a:solidFill>
                <a:ln w="9525">
                  <a:solidFill>
                    <a:schemeClr val="tx1"/>
                  </a:solidFill>
                  <a:miter lim="800000"/>
                  <a:headEnd/>
                  <a:tailEnd/>
                </a:ln>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49" name="Rectangle 75">
                  <a:extLst>
                    <a:ext uri="{FF2B5EF4-FFF2-40B4-BE49-F238E27FC236}">
                      <a16:creationId xmlns:a16="http://schemas.microsoft.com/office/drawing/2014/main" id="{45943A3E-9233-878D-EC08-78ECCCA47430}"/>
                    </a:ext>
                  </a:extLst>
                </p:cNvPr>
                <p:cNvSpPr>
                  <a:spLocks noChangeArrowheads="1"/>
                </p:cNvSpPr>
                <p:nvPr/>
              </p:nvSpPr>
              <p:spPr bwMode="auto">
                <a:xfrm>
                  <a:off x="831" y="1043"/>
                  <a:ext cx="584" cy="218"/>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grpSp>
        <p:grpSp>
          <p:nvGrpSpPr>
            <p:cNvPr id="52" name="Group 76">
              <a:extLst>
                <a:ext uri="{FF2B5EF4-FFF2-40B4-BE49-F238E27FC236}">
                  <a16:creationId xmlns:a16="http://schemas.microsoft.com/office/drawing/2014/main" id="{2950C55F-BF33-804D-786F-AB5335EA8B46}"/>
                </a:ext>
              </a:extLst>
            </p:cNvPr>
            <p:cNvGrpSpPr>
              <a:grpSpLocks/>
            </p:cNvGrpSpPr>
            <p:nvPr/>
          </p:nvGrpSpPr>
          <p:grpSpPr bwMode="auto">
            <a:xfrm>
              <a:off x="3221038" y="4356100"/>
              <a:ext cx="1444625" cy="879475"/>
              <a:chOff x="1870" y="913"/>
              <a:chExt cx="977" cy="595"/>
            </a:xfrm>
          </p:grpSpPr>
          <p:grpSp>
            <p:nvGrpSpPr>
              <p:cNvPr id="53" name="Group 77">
                <a:extLst>
                  <a:ext uri="{FF2B5EF4-FFF2-40B4-BE49-F238E27FC236}">
                    <a16:creationId xmlns:a16="http://schemas.microsoft.com/office/drawing/2014/main" id="{90404E64-7516-C173-49FE-515DB5B3123C}"/>
                  </a:ext>
                </a:extLst>
              </p:cNvPr>
              <p:cNvGrpSpPr>
                <a:grpSpLocks/>
              </p:cNvGrpSpPr>
              <p:nvPr/>
            </p:nvGrpSpPr>
            <p:grpSpPr bwMode="auto">
              <a:xfrm>
                <a:off x="1870" y="913"/>
                <a:ext cx="976" cy="301"/>
                <a:chOff x="1869" y="913"/>
                <a:chExt cx="976" cy="301"/>
              </a:xfrm>
            </p:grpSpPr>
            <p:sp>
              <p:nvSpPr>
                <p:cNvPr id="57" name="Rectangle 78">
                  <a:extLst>
                    <a:ext uri="{FF2B5EF4-FFF2-40B4-BE49-F238E27FC236}">
                      <a16:creationId xmlns:a16="http://schemas.microsoft.com/office/drawing/2014/main" id="{79DB08B8-1870-DB33-B893-BCB2197F12B3}"/>
                    </a:ext>
                  </a:extLst>
                </p:cNvPr>
                <p:cNvSpPr>
                  <a:spLocks noChangeArrowheads="1"/>
                </p:cNvSpPr>
                <p:nvPr/>
              </p:nvSpPr>
              <p:spPr bwMode="auto">
                <a:xfrm>
                  <a:off x="1869" y="913"/>
                  <a:ext cx="976" cy="140"/>
                </a:xfrm>
                <a:prstGeom prst="rect">
                  <a:avLst/>
                </a:prstGeom>
                <a:solidFill>
                  <a:schemeClr val="bg1">
                    <a:lumMod val="95000"/>
                  </a:schemeClr>
                </a:solidFill>
                <a:ln w="9525">
                  <a:solidFill>
                    <a:schemeClr val="tx1"/>
                  </a:solidFill>
                  <a:miter lim="800000"/>
                  <a:headEnd/>
                  <a:tailEnd/>
                </a:ln>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58" name="Rectangle 79">
                  <a:extLst>
                    <a:ext uri="{FF2B5EF4-FFF2-40B4-BE49-F238E27FC236}">
                      <a16:creationId xmlns:a16="http://schemas.microsoft.com/office/drawing/2014/main" id="{65C50023-7106-3643-1328-D02FB772FCED}"/>
                    </a:ext>
                  </a:extLst>
                </p:cNvPr>
                <p:cNvSpPr>
                  <a:spLocks noChangeArrowheads="1"/>
                </p:cNvSpPr>
                <p:nvPr/>
              </p:nvSpPr>
              <p:spPr bwMode="auto">
                <a:xfrm>
                  <a:off x="2065" y="1054"/>
                  <a:ext cx="584" cy="160"/>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grpSp>
            <p:nvGrpSpPr>
              <p:cNvPr id="54" name="Group 80">
                <a:extLst>
                  <a:ext uri="{FF2B5EF4-FFF2-40B4-BE49-F238E27FC236}">
                    <a16:creationId xmlns:a16="http://schemas.microsoft.com/office/drawing/2014/main" id="{4FB51FCB-5379-399B-0BF0-D408EB4A756A}"/>
                  </a:ext>
                </a:extLst>
              </p:cNvPr>
              <p:cNvGrpSpPr>
                <a:grpSpLocks/>
              </p:cNvGrpSpPr>
              <p:nvPr/>
            </p:nvGrpSpPr>
            <p:grpSpPr bwMode="auto">
              <a:xfrm flipV="1">
                <a:off x="1871" y="1207"/>
                <a:ext cx="976" cy="301"/>
                <a:chOff x="1869" y="913"/>
                <a:chExt cx="976" cy="301"/>
              </a:xfrm>
            </p:grpSpPr>
            <p:sp>
              <p:nvSpPr>
                <p:cNvPr id="55" name="Rectangle 81">
                  <a:extLst>
                    <a:ext uri="{FF2B5EF4-FFF2-40B4-BE49-F238E27FC236}">
                      <a16:creationId xmlns:a16="http://schemas.microsoft.com/office/drawing/2014/main" id="{815A9B5B-C0D0-B630-2B01-96FCA5653E81}"/>
                    </a:ext>
                  </a:extLst>
                </p:cNvPr>
                <p:cNvSpPr>
                  <a:spLocks noChangeArrowheads="1"/>
                </p:cNvSpPr>
                <p:nvPr/>
              </p:nvSpPr>
              <p:spPr bwMode="auto">
                <a:xfrm>
                  <a:off x="1869" y="913"/>
                  <a:ext cx="976" cy="140"/>
                </a:xfrm>
                <a:prstGeom prst="rect">
                  <a:avLst/>
                </a:prstGeom>
                <a:solidFill>
                  <a:schemeClr val="bg1">
                    <a:lumMod val="95000"/>
                  </a:schemeClr>
                </a:solidFill>
                <a:ln w="9525">
                  <a:solidFill>
                    <a:schemeClr val="tx1"/>
                  </a:solidFill>
                  <a:miter lim="800000"/>
                  <a:headEnd/>
                  <a:tailEnd/>
                </a:ln>
              </p:spPr>
              <p:txBody>
                <a:bodyPr wrap="none" anchor="ctr"/>
                <a:lstStyle/>
                <a:p>
                  <a:pPr algn="ctr">
                    <a:lnSpc>
                      <a:spcPct val="80000"/>
                    </a:lnSpc>
                    <a:spcBef>
                      <a:spcPct val="20000"/>
                    </a:spcBef>
                    <a:defRPr/>
                  </a:pPr>
                  <a:endParaRPr lang="en-GB" dirty="0">
                    <a:latin typeface="Roboto" panose="02000000000000000000" pitchFamily="2" charset="0"/>
                    <a:ea typeface="Roboto" panose="02000000000000000000" pitchFamily="2" charset="0"/>
                  </a:endParaRPr>
                </a:p>
              </p:txBody>
            </p:sp>
            <p:sp>
              <p:nvSpPr>
                <p:cNvPr id="56" name="Rectangle 82">
                  <a:extLst>
                    <a:ext uri="{FF2B5EF4-FFF2-40B4-BE49-F238E27FC236}">
                      <a16:creationId xmlns:a16="http://schemas.microsoft.com/office/drawing/2014/main" id="{447ECD78-E98B-F120-EBD4-EF78FA005A39}"/>
                    </a:ext>
                  </a:extLst>
                </p:cNvPr>
                <p:cNvSpPr>
                  <a:spLocks noChangeArrowheads="1"/>
                </p:cNvSpPr>
                <p:nvPr/>
              </p:nvSpPr>
              <p:spPr bwMode="auto">
                <a:xfrm>
                  <a:off x="2065" y="1054"/>
                  <a:ext cx="584" cy="160"/>
                </a:xfrm>
                <a:prstGeom prst="rect">
                  <a:avLst/>
                </a:prstGeom>
                <a:solidFill>
                  <a:schemeClr val="accent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grpSp>
        <p:sp>
          <p:nvSpPr>
            <p:cNvPr id="59" name="Line 83">
              <a:extLst>
                <a:ext uri="{FF2B5EF4-FFF2-40B4-BE49-F238E27FC236}">
                  <a16:creationId xmlns:a16="http://schemas.microsoft.com/office/drawing/2014/main" id="{EC241243-ADEA-EA21-5B1E-6B811E088C88}"/>
                </a:ext>
              </a:extLst>
            </p:cNvPr>
            <p:cNvSpPr>
              <a:spLocks noChangeShapeType="1"/>
            </p:cNvSpPr>
            <p:nvPr/>
          </p:nvSpPr>
          <p:spPr bwMode="auto">
            <a:xfrm>
              <a:off x="431800" y="4356100"/>
              <a:ext cx="4651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0" name="Line 84">
              <a:extLst>
                <a:ext uri="{FF2B5EF4-FFF2-40B4-BE49-F238E27FC236}">
                  <a16:creationId xmlns:a16="http://schemas.microsoft.com/office/drawing/2014/main" id="{A91BAF4B-7A7B-7177-4D88-27330F95D566}"/>
                </a:ext>
              </a:extLst>
            </p:cNvPr>
            <p:cNvSpPr>
              <a:spLocks noChangeShapeType="1"/>
            </p:cNvSpPr>
            <p:nvPr/>
          </p:nvSpPr>
          <p:spPr bwMode="auto">
            <a:xfrm>
              <a:off x="2776538" y="4344988"/>
              <a:ext cx="0" cy="106045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Text Box 85">
              <a:extLst>
                <a:ext uri="{FF2B5EF4-FFF2-40B4-BE49-F238E27FC236}">
                  <a16:creationId xmlns:a16="http://schemas.microsoft.com/office/drawing/2014/main" id="{3F588396-8783-930B-EEDA-3C10473E1733}"/>
                </a:ext>
              </a:extLst>
            </p:cNvPr>
            <p:cNvSpPr txBox="1">
              <a:spLocks noChangeArrowheads="1"/>
            </p:cNvSpPr>
            <p:nvPr/>
          </p:nvSpPr>
          <p:spPr bwMode="auto">
            <a:xfrm>
              <a:off x="2715438" y="4791075"/>
              <a:ext cx="276187" cy="35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a:latin typeface="Roboto" panose="02000000000000000000" pitchFamily="2" charset="0"/>
                  <a:ea typeface="Roboto" panose="02000000000000000000" pitchFamily="2" charset="0"/>
                </a:rPr>
                <a:t>b</a:t>
              </a:r>
            </a:p>
          </p:txBody>
        </p:sp>
        <p:sp>
          <p:nvSpPr>
            <p:cNvPr id="62" name="Rectangle 86">
              <a:extLst>
                <a:ext uri="{FF2B5EF4-FFF2-40B4-BE49-F238E27FC236}">
                  <a16:creationId xmlns:a16="http://schemas.microsoft.com/office/drawing/2014/main" id="{EC677F69-0760-E275-003C-B66E1CE7A8F5}"/>
                </a:ext>
              </a:extLst>
            </p:cNvPr>
            <p:cNvSpPr>
              <a:spLocks noChangeArrowheads="1"/>
            </p:cNvSpPr>
            <p:nvPr/>
          </p:nvSpPr>
          <p:spPr bwMode="auto">
            <a:xfrm>
              <a:off x="3221038" y="5232400"/>
              <a:ext cx="222250" cy="171450"/>
            </a:xfrm>
            <a:prstGeom prst="rect">
              <a:avLst/>
            </a:prstGeom>
            <a:solidFill>
              <a:srgbClr val="969696"/>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63" name="Rectangle 87">
              <a:extLst>
                <a:ext uri="{FF2B5EF4-FFF2-40B4-BE49-F238E27FC236}">
                  <a16:creationId xmlns:a16="http://schemas.microsoft.com/office/drawing/2014/main" id="{806C8509-2F9A-72A4-5F5B-DAA85136E88F}"/>
                </a:ext>
              </a:extLst>
            </p:cNvPr>
            <p:cNvSpPr>
              <a:spLocks noChangeArrowheads="1"/>
            </p:cNvSpPr>
            <p:nvPr/>
          </p:nvSpPr>
          <p:spPr bwMode="auto">
            <a:xfrm>
              <a:off x="4446588" y="5235575"/>
              <a:ext cx="222250" cy="171450"/>
            </a:xfrm>
            <a:prstGeom prst="rect">
              <a:avLst/>
            </a:prstGeom>
            <a:solidFill>
              <a:srgbClr val="969696"/>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64" name="Rectangle 88">
              <a:extLst>
                <a:ext uri="{FF2B5EF4-FFF2-40B4-BE49-F238E27FC236}">
                  <a16:creationId xmlns:a16="http://schemas.microsoft.com/office/drawing/2014/main" id="{8A35510C-C297-729B-2307-142DF2B64FB6}"/>
                </a:ext>
              </a:extLst>
            </p:cNvPr>
            <p:cNvSpPr>
              <a:spLocks noChangeArrowheads="1"/>
            </p:cNvSpPr>
            <p:nvPr/>
          </p:nvSpPr>
          <p:spPr bwMode="auto">
            <a:xfrm>
              <a:off x="2216150" y="5030788"/>
              <a:ext cx="222250" cy="171450"/>
            </a:xfrm>
            <a:prstGeom prst="rect">
              <a:avLst/>
            </a:prstGeom>
            <a:solidFill>
              <a:srgbClr val="969696"/>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65" name="Rectangle 89">
              <a:extLst>
                <a:ext uri="{FF2B5EF4-FFF2-40B4-BE49-F238E27FC236}">
                  <a16:creationId xmlns:a16="http://schemas.microsoft.com/office/drawing/2014/main" id="{C857614D-CCEA-CFEF-353A-3BB0E85D653D}"/>
                </a:ext>
              </a:extLst>
            </p:cNvPr>
            <p:cNvSpPr>
              <a:spLocks noChangeArrowheads="1"/>
            </p:cNvSpPr>
            <p:nvPr/>
          </p:nvSpPr>
          <p:spPr bwMode="auto">
            <a:xfrm>
              <a:off x="1000125" y="5033963"/>
              <a:ext cx="222250" cy="171450"/>
            </a:xfrm>
            <a:prstGeom prst="rect">
              <a:avLst/>
            </a:prstGeom>
            <a:solidFill>
              <a:srgbClr val="969696"/>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66" name="Line 90">
              <a:extLst>
                <a:ext uri="{FF2B5EF4-FFF2-40B4-BE49-F238E27FC236}">
                  <a16:creationId xmlns:a16="http://schemas.microsoft.com/office/drawing/2014/main" id="{2186C532-5EC4-9792-CD7A-4661D5B06A2F}"/>
                </a:ext>
              </a:extLst>
            </p:cNvPr>
            <p:cNvSpPr>
              <a:spLocks noChangeShapeType="1"/>
            </p:cNvSpPr>
            <p:nvPr/>
          </p:nvSpPr>
          <p:spPr bwMode="auto">
            <a:xfrm>
              <a:off x="433388" y="5408613"/>
              <a:ext cx="4651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7" name="Line 91">
              <a:extLst>
                <a:ext uri="{FF2B5EF4-FFF2-40B4-BE49-F238E27FC236}">
                  <a16:creationId xmlns:a16="http://schemas.microsoft.com/office/drawing/2014/main" id="{BD90613E-2FCA-EEC8-93BD-5E12E5A5E54E}"/>
                </a:ext>
              </a:extLst>
            </p:cNvPr>
            <p:cNvSpPr>
              <a:spLocks noChangeShapeType="1"/>
            </p:cNvSpPr>
            <p:nvPr/>
          </p:nvSpPr>
          <p:spPr bwMode="auto">
            <a:xfrm flipH="1">
              <a:off x="692150" y="5022850"/>
              <a:ext cx="222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8" name="Line 92">
              <a:extLst>
                <a:ext uri="{FF2B5EF4-FFF2-40B4-BE49-F238E27FC236}">
                  <a16:creationId xmlns:a16="http://schemas.microsoft.com/office/drawing/2014/main" id="{AECF83FB-057D-53D0-8E41-D06B7F3A4219}"/>
                </a:ext>
              </a:extLst>
            </p:cNvPr>
            <p:cNvSpPr>
              <a:spLocks noChangeShapeType="1"/>
            </p:cNvSpPr>
            <p:nvPr/>
          </p:nvSpPr>
          <p:spPr bwMode="auto">
            <a:xfrm>
              <a:off x="4714875" y="5035550"/>
              <a:ext cx="2714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9" name="Line 93">
              <a:extLst>
                <a:ext uri="{FF2B5EF4-FFF2-40B4-BE49-F238E27FC236}">
                  <a16:creationId xmlns:a16="http://schemas.microsoft.com/office/drawing/2014/main" id="{788D8252-40D6-8CB7-1B53-7B680B202F34}"/>
                </a:ext>
              </a:extLst>
            </p:cNvPr>
            <p:cNvSpPr>
              <a:spLocks noChangeShapeType="1"/>
            </p:cNvSpPr>
            <p:nvPr/>
          </p:nvSpPr>
          <p:spPr bwMode="auto">
            <a:xfrm>
              <a:off x="766763" y="5022850"/>
              <a:ext cx="0" cy="38258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9" name="Line 94">
              <a:extLst>
                <a:ext uri="{FF2B5EF4-FFF2-40B4-BE49-F238E27FC236}">
                  <a16:creationId xmlns:a16="http://schemas.microsoft.com/office/drawing/2014/main" id="{DF1768C7-B950-D73F-E634-5946150A795B}"/>
                </a:ext>
              </a:extLst>
            </p:cNvPr>
            <p:cNvSpPr>
              <a:spLocks noChangeShapeType="1"/>
            </p:cNvSpPr>
            <p:nvPr/>
          </p:nvSpPr>
          <p:spPr bwMode="auto">
            <a:xfrm>
              <a:off x="4875213" y="5022850"/>
              <a:ext cx="0" cy="38258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0" name="Text Box 95">
              <a:extLst>
                <a:ext uri="{FF2B5EF4-FFF2-40B4-BE49-F238E27FC236}">
                  <a16:creationId xmlns:a16="http://schemas.microsoft.com/office/drawing/2014/main" id="{346108E6-A838-83FA-1F7C-D9E4D5C184A9}"/>
                </a:ext>
              </a:extLst>
            </p:cNvPr>
            <p:cNvSpPr txBox="1">
              <a:spLocks noChangeArrowheads="1"/>
            </p:cNvSpPr>
            <p:nvPr/>
          </p:nvSpPr>
          <p:spPr bwMode="auto">
            <a:xfrm>
              <a:off x="484641" y="5116513"/>
              <a:ext cx="270556" cy="35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a:latin typeface="Roboto" panose="02000000000000000000" pitchFamily="2" charset="0"/>
                  <a:ea typeface="Roboto" panose="02000000000000000000" pitchFamily="2" charset="0"/>
                </a:rPr>
                <a:t>a</a:t>
              </a:r>
            </a:p>
          </p:txBody>
        </p:sp>
        <p:sp>
          <p:nvSpPr>
            <p:cNvPr id="171" name="Text Box 96">
              <a:extLst>
                <a:ext uri="{FF2B5EF4-FFF2-40B4-BE49-F238E27FC236}">
                  <a16:creationId xmlns:a16="http://schemas.microsoft.com/office/drawing/2014/main" id="{E3E97DD3-B80A-1750-C61B-06FFE113A0FB}"/>
                </a:ext>
              </a:extLst>
            </p:cNvPr>
            <p:cNvSpPr txBox="1">
              <a:spLocks noChangeArrowheads="1"/>
            </p:cNvSpPr>
            <p:nvPr/>
          </p:nvSpPr>
          <p:spPr bwMode="auto">
            <a:xfrm>
              <a:off x="4876460" y="5116513"/>
              <a:ext cx="270556" cy="351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a:latin typeface="Roboto" panose="02000000000000000000" pitchFamily="2" charset="0"/>
                  <a:ea typeface="Roboto" panose="02000000000000000000" pitchFamily="2" charset="0"/>
                </a:rPr>
                <a:t>a</a:t>
              </a:r>
            </a:p>
          </p:txBody>
        </p:sp>
        <p:pic>
          <p:nvPicPr>
            <p:cNvPr id="172" name="Picture 545">
              <a:extLst>
                <a:ext uri="{FF2B5EF4-FFF2-40B4-BE49-F238E27FC236}">
                  <a16:creationId xmlns:a16="http://schemas.microsoft.com/office/drawing/2014/main" id="{4B94AB17-FA09-958F-D96E-63D3D44AEE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6883" t="80206" r="21718" b="12463"/>
            <a:stretch>
              <a:fillRect/>
            </a:stretch>
          </p:blipFill>
          <p:spPr bwMode="auto">
            <a:xfrm>
              <a:off x="7437438" y="4213225"/>
              <a:ext cx="792162"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3" name="Group 375">
              <a:extLst>
                <a:ext uri="{FF2B5EF4-FFF2-40B4-BE49-F238E27FC236}">
                  <a16:creationId xmlns:a16="http://schemas.microsoft.com/office/drawing/2014/main" id="{C808408B-7554-A952-9650-93C62A85A3C6}"/>
                </a:ext>
              </a:extLst>
            </p:cNvPr>
            <p:cNvGrpSpPr>
              <a:grpSpLocks/>
            </p:cNvGrpSpPr>
            <p:nvPr/>
          </p:nvGrpSpPr>
          <p:grpSpPr bwMode="auto">
            <a:xfrm>
              <a:off x="6381750" y="3765550"/>
              <a:ext cx="922338" cy="1463675"/>
              <a:chOff x="6858016" y="1285860"/>
              <a:chExt cx="1058862" cy="1738313"/>
            </a:xfrm>
          </p:grpSpPr>
          <p:sp>
            <p:nvSpPr>
              <p:cNvPr id="174" name="AutoShape 98">
                <a:extLst>
                  <a:ext uri="{FF2B5EF4-FFF2-40B4-BE49-F238E27FC236}">
                    <a16:creationId xmlns:a16="http://schemas.microsoft.com/office/drawing/2014/main" id="{5581E543-E957-8426-60C2-7437D675BF37}"/>
                  </a:ext>
                </a:extLst>
              </p:cNvPr>
              <p:cNvSpPr>
                <a:spLocks noChangeArrowheads="1"/>
              </p:cNvSpPr>
              <p:nvPr/>
            </p:nvSpPr>
            <p:spPr bwMode="auto">
              <a:xfrm>
                <a:off x="6858016" y="1285860"/>
                <a:ext cx="960437" cy="1738313"/>
              </a:xfrm>
              <a:prstGeom prst="roundRect">
                <a:avLst>
                  <a:gd name="adj" fmla="val 4625"/>
                </a:avLst>
              </a:prstGeom>
              <a:solidFill>
                <a:srgbClr val="002F80"/>
              </a:solidFill>
              <a:ln w="38100">
                <a:solidFill>
                  <a:schemeClr val="accent1"/>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75" name="AutoShape 99">
                <a:extLst>
                  <a:ext uri="{FF2B5EF4-FFF2-40B4-BE49-F238E27FC236}">
                    <a16:creationId xmlns:a16="http://schemas.microsoft.com/office/drawing/2014/main" id="{6FAED5E1-BF42-E3C9-A248-95B69E6A20E7}"/>
                  </a:ext>
                </a:extLst>
              </p:cNvPr>
              <p:cNvSpPr>
                <a:spLocks noChangeArrowheads="1"/>
              </p:cNvSpPr>
              <p:nvPr/>
            </p:nvSpPr>
            <p:spPr bwMode="auto">
              <a:xfrm>
                <a:off x="6951678" y="2031985"/>
                <a:ext cx="965200" cy="750888"/>
              </a:xfrm>
              <a:prstGeom prst="roundRect">
                <a:avLst>
                  <a:gd name="adj" fmla="val 7208"/>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176" name="Line 100">
              <a:extLst>
                <a:ext uri="{FF2B5EF4-FFF2-40B4-BE49-F238E27FC236}">
                  <a16:creationId xmlns:a16="http://schemas.microsoft.com/office/drawing/2014/main" id="{9E82001C-5656-3715-45EF-239BDD09FB08}"/>
                </a:ext>
              </a:extLst>
            </p:cNvPr>
            <p:cNvSpPr>
              <a:spLocks noChangeShapeType="1"/>
            </p:cNvSpPr>
            <p:nvPr/>
          </p:nvSpPr>
          <p:spPr bwMode="auto">
            <a:xfrm>
              <a:off x="6140450" y="5233988"/>
              <a:ext cx="2005013" cy="0"/>
            </a:xfrm>
            <a:prstGeom prst="line">
              <a:avLst/>
            </a:prstGeom>
            <a:noFill/>
            <a:ln w="36513">
              <a:solidFill>
                <a:schemeClr val="accent5"/>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77" name="Group 373">
              <a:extLst>
                <a:ext uri="{FF2B5EF4-FFF2-40B4-BE49-F238E27FC236}">
                  <a16:creationId xmlns:a16="http://schemas.microsoft.com/office/drawing/2014/main" id="{9F22BC32-9767-CEEB-0F2C-C93713B18D04}"/>
                </a:ext>
              </a:extLst>
            </p:cNvPr>
            <p:cNvGrpSpPr>
              <a:grpSpLocks/>
            </p:cNvGrpSpPr>
            <p:nvPr/>
          </p:nvGrpSpPr>
          <p:grpSpPr bwMode="auto">
            <a:xfrm>
              <a:off x="6629400" y="4192588"/>
              <a:ext cx="1479550" cy="844550"/>
              <a:chOff x="7105666" y="1954198"/>
              <a:chExt cx="1479550" cy="844550"/>
            </a:xfrm>
          </p:grpSpPr>
          <p:sp>
            <p:nvSpPr>
              <p:cNvPr id="178" name="Rectangle 102">
                <a:extLst>
                  <a:ext uri="{FF2B5EF4-FFF2-40B4-BE49-F238E27FC236}">
                    <a16:creationId xmlns:a16="http://schemas.microsoft.com/office/drawing/2014/main" id="{2DBDACDF-4BA1-C5BD-5413-63617A509E62}"/>
                  </a:ext>
                </a:extLst>
              </p:cNvPr>
              <p:cNvSpPr>
                <a:spLocks noChangeArrowheads="1"/>
              </p:cNvSpPr>
              <p:nvPr/>
            </p:nvSpPr>
            <p:spPr bwMode="auto">
              <a:xfrm>
                <a:off x="7246547" y="2522840"/>
                <a:ext cx="234174" cy="123460"/>
              </a:xfrm>
              <a:prstGeom prst="rect">
                <a:avLst/>
              </a:prstGeom>
              <a:solidFill>
                <a:srgbClr val="E12000"/>
              </a:solidFill>
              <a:ln w="38100">
                <a:solidFill>
                  <a:schemeClr val="tx2"/>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79" name="Rectangle 103">
                <a:extLst>
                  <a:ext uri="{FF2B5EF4-FFF2-40B4-BE49-F238E27FC236}">
                    <a16:creationId xmlns:a16="http://schemas.microsoft.com/office/drawing/2014/main" id="{444E32CF-C7BB-9BC9-2CFE-9B1B7A81378C}"/>
                  </a:ext>
                </a:extLst>
              </p:cNvPr>
              <p:cNvSpPr>
                <a:spLocks noChangeArrowheads="1"/>
              </p:cNvSpPr>
              <p:nvPr/>
            </p:nvSpPr>
            <p:spPr bwMode="auto">
              <a:xfrm>
                <a:off x="7145353" y="2646300"/>
                <a:ext cx="436563" cy="85773"/>
              </a:xfrm>
              <a:prstGeom prst="rect">
                <a:avLst/>
              </a:prstGeom>
              <a:solidFill>
                <a:srgbClr val="E12000"/>
              </a:solidFill>
              <a:ln w="38100">
                <a:solidFill>
                  <a:schemeClr val="tx2"/>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0" name="Rectangle 104">
                <a:extLst>
                  <a:ext uri="{FF2B5EF4-FFF2-40B4-BE49-F238E27FC236}">
                    <a16:creationId xmlns:a16="http://schemas.microsoft.com/office/drawing/2014/main" id="{C377971D-4CC7-40DD-6188-6F67FB57800E}"/>
                  </a:ext>
                </a:extLst>
              </p:cNvPr>
              <p:cNvSpPr>
                <a:spLocks noChangeArrowheads="1"/>
              </p:cNvSpPr>
              <p:nvPr/>
            </p:nvSpPr>
            <p:spPr bwMode="auto">
              <a:xfrm>
                <a:off x="7176490" y="2341548"/>
                <a:ext cx="366505" cy="57182"/>
              </a:xfrm>
              <a:prstGeom prst="rect">
                <a:avLst/>
              </a:prstGeom>
              <a:solidFill>
                <a:srgbClr val="E12000"/>
              </a:solidFill>
              <a:ln w="38100">
                <a:solidFill>
                  <a:schemeClr val="tx2"/>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1" name="Rectangle 105">
                <a:extLst>
                  <a:ext uri="{FF2B5EF4-FFF2-40B4-BE49-F238E27FC236}">
                    <a16:creationId xmlns:a16="http://schemas.microsoft.com/office/drawing/2014/main" id="{A0AB6BE3-976F-675C-A92A-DDE0AAA39564}"/>
                  </a:ext>
                </a:extLst>
              </p:cNvPr>
              <p:cNvSpPr>
                <a:spLocks noChangeArrowheads="1"/>
              </p:cNvSpPr>
              <p:nvPr/>
            </p:nvSpPr>
            <p:spPr bwMode="auto">
              <a:xfrm>
                <a:off x="7246547" y="2398730"/>
                <a:ext cx="234174" cy="124110"/>
              </a:xfrm>
              <a:prstGeom prst="rect">
                <a:avLst/>
              </a:prstGeom>
              <a:solidFill>
                <a:srgbClr val="E12000"/>
              </a:solidFill>
              <a:ln w="38100">
                <a:solidFill>
                  <a:schemeClr val="tx2"/>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2" name="Rectangle 107">
                <a:extLst>
                  <a:ext uri="{FF2B5EF4-FFF2-40B4-BE49-F238E27FC236}">
                    <a16:creationId xmlns:a16="http://schemas.microsoft.com/office/drawing/2014/main" id="{D257B1DC-62D2-442D-8BE6-AB4AE37E4006}"/>
                  </a:ext>
                </a:extLst>
              </p:cNvPr>
              <p:cNvSpPr>
                <a:spLocks noChangeArrowheads="1"/>
              </p:cNvSpPr>
              <p:nvPr/>
            </p:nvSpPr>
            <p:spPr bwMode="auto">
              <a:xfrm>
                <a:off x="7105666" y="2737818"/>
                <a:ext cx="538162" cy="51405"/>
              </a:xfrm>
              <a:prstGeom prst="rect">
                <a:avLst/>
              </a:prstGeom>
              <a:solidFill>
                <a:srgbClr val="4F81B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3" name="AutoShape 108">
                <a:extLst>
                  <a:ext uri="{FF2B5EF4-FFF2-40B4-BE49-F238E27FC236}">
                    <a16:creationId xmlns:a16="http://schemas.microsoft.com/office/drawing/2014/main" id="{BD264E91-AC9C-130C-1A84-C8E5B0228D07}"/>
                  </a:ext>
                </a:extLst>
              </p:cNvPr>
              <p:cNvSpPr>
                <a:spLocks noChangeArrowheads="1"/>
              </p:cNvSpPr>
              <p:nvPr/>
            </p:nvSpPr>
            <p:spPr bwMode="auto">
              <a:xfrm flipV="1">
                <a:off x="7183755" y="2735248"/>
                <a:ext cx="45552" cy="31485"/>
              </a:xfrm>
              <a:prstGeom prst="triangle">
                <a:avLst>
                  <a:gd name="adj" fmla="val 50000"/>
                </a:avLst>
              </a:prstGeom>
              <a:solidFill>
                <a:schemeClr val="tx2"/>
              </a:solidFill>
              <a:ln w="9525">
                <a:solidFill>
                  <a:schemeClr val="tx2"/>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4" name="AutoShape 109">
                <a:extLst>
                  <a:ext uri="{FF2B5EF4-FFF2-40B4-BE49-F238E27FC236}">
                    <a16:creationId xmlns:a16="http://schemas.microsoft.com/office/drawing/2014/main" id="{7BFD94D7-31D9-690F-A798-53C6B57E1FAC}"/>
                  </a:ext>
                </a:extLst>
              </p:cNvPr>
              <p:cNvSpPr>
                <a:spLocks noChangeArrowheads="1"/>
              </p:cNvSpPr>
              <p:nvPr/>
            </p:nvSpPr>
            <p:spPr bwMode="auto">
              <a:xfrm flipV="1">
                <a:off x="7533202" y="2735891"/>
                <a:ext cx="45552" cy="31485"/>
              </a:xfrm>
              <a:prstGeom prst="triangle">
                <a:avLst>
                  <a:gd name="adj" fmla="val 50000"/>
                </a:avLst>
              </a:prstGeom>
              <a:solidFill>
                <a:schemeClr val="tx2"/>
              </a:solidFill>
              <a:ln w="9525">
                <a:solidFill>
                  <a:schemeClr val="tx2"/>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5" name="Oval 111">
                <a:extLst>
                  <a:ext uri="{FF2B5EF4-FFF2-40B4-BE49-F238E27FC236}">
                    <a16:creationId xmlns:a16="http://schemas.microsoft.com/office/drawing/2014/main" id="{54129AC6-E401-FF56-3AC7-F21128D7DFFB}"/>
                  </a:ext>
                </a:extLst>
              </p:cNvPr>
              <p:cNvSpPr>
                <a:spLocks noChangeArrowheads="1"/>
              </p:cNvSpPr>
              <p:nvPr/>
            </p:nvSpPr>
            <p:spPr bwMode="auto">
              <a:xfrm>
                <a:off x="7488253" y="2592373"/>
                <a:ext cx="206375" cy="206375"/>
              </a:xfrm>
              <a:prstGeom prst="ellipse">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6" name="Oval 112">
                <a:extLst>
                  <a:ext uri="{FF2B5EF4-FFF2-40B4-BE49-F238E27FC236}">
                    <a16:creationId xmlns:a16="http://schemas.microsoft.com/office/drawing/2014/main" id="{0CBADDE0-AA9B-E329-09F7-D0A866F44F13}"/>
                  </a:ext>
                </a:extLst>
              </p:cNvPr>
              <p:cNvSpPr>
                <a:spLocks noChangeArrowheads="1"/>
              </p:cNvSpPr>
              <p:nvPr/>
            </p:nvSpPr>
            <p:spPr bwMode="auto">
              <a:xfrm>
                <a:off x="7853378" y="1954198"/>
                <a:ext cx="731838" cy="731838"/>
              </a:xfrm>
              <a:prstGeom prst="ellipse">
                <a:avLst/>
              </a:prstGeom>
              <a:noFill/>
              <a:ln w="190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87" name="Line 113">
                <a:extLst>
                  <a:ext uri="{FF2B5EF4-FFF2-40B4-BE49-F238E27FC236}">
                    <a16:creationId xmlns:a16="http://schemas.microsoft.com/office/drawing/2014/main" id="{88F5CA67-CC8F-5589-3B50-90AC0DA63A4C}"/>
                  </a:ext>
                </a:extLst>
              </p:cNvPr>
              <p:cNvSpPr>
                <a:spLocks noChangeShapeType="1"/>
              </p:cNvSpPr>
              <p:nvPr/>
            </p:nvSpPr>
            <p:spPr bwMode="auto">
              <a:xfrm flipV="1">
                <a:off x="7537466" y="2060561"/>
                <a:ext cx="422275" cy="536575"/>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8" name="Line 114">
                <a:extLst>
                  <a:ext uri="{FF2B5EF4-FFF2-40B4-BE49-F238E27FC236}">
                    <a16:creationId xmlns:a16="http://schemas.microsoft.com/office/drawing/2014/main" id="{8EF92AEF-E4F6-8A54-2F02-9EAF81B73A09}"/>
                  </a:ext>
                </a:extLst>
              </p:cNvPr>
              <p:cNvSpPr>
                <a:spLocks noChangeShapeType="1"/>
              </p:cNvSpPr>
              <p:nvPr/>
            </p:nvSpPr>
            <p:spPr bwMode="auto">
              <a:xfrm flipV="1">
                <a:off x="7651766" y="2674923"/>
                <a:ext cx="644525" cy="103188"/>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89" name="Rectangle 116">
              <a:extLst>
                <a:ext uri="{FF2B5EF4-FFF2-40B4-BE49-F238E27FC236}">
                  <a16:creationId xmlns:a16="http://schemas.microsoft.com/office/drawing/2014/main" id="{F834BD59-7E52-F9E4-9640-15C2FCECE853}"/>
                </a:ext>
              </a:extLst>
            </p:cNvPr>
            <p:cNvSpPr>
              <a:spLocks noChangeArrowheads="1"/>
            </p:cNvSpPr>
            <p:nvPr/>
          </p:nvSpPr>
          <p:spPr bwMode="auto">
            <a:xfrm>
              <a:off x="5927725" y="5299075"/>
              <a:ext cx="2762250" cy="484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Use stops or centering grooves to set positions</a:t>
              </a:r>
            </a:p>
          </p:txBody>
        </p:sp>
        <p:sp>
          <p:nvSpPr>
            <p:cNvPr id="190" name="Rectangle 8">
              <a:extLst>
                <a:ext uri="{FF2B5EF4-FFF2-40B4-BE49-F238E27FC236}">
                  <a16:creationId xmlns:a16="http://schemas.microsoft.com/office/drawing/2014/main" id="{7A968D3F-78C0-B9A9-F687-425201F31626}"/>
                </a:ext>
              </a:extLst>
            </p:cNvPr>
            <p:cNvSpPr>
              <a:spLocks noChangeArrowheads="1"/>
            </p:cNvSpPr>
            <p:nvPr/>
          </p:nvSpPr>
          <p:spPr bwMode="auto">
            <a:xfrm>
              <a:off x="6332538" y="2828925"/>
              <a:ext cx="2027237" cy="67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Pear shape holes and </a:t>
              </a:r>
              <a:r>
                <a:rPr lang="ja-JP" altLang="en-US" sz="1400" dirty="0">
                  <a:latin typeface="Roboto" panose="02000000000000000000" pitchFamily="2" charset="0"/>
                </a:rPr>
                <a:t>‘</a:t>
              </a:r>
              <a:r>
                <a:rPr lang="en-US" altLang="ja-JP" sz="1400" dirty="0">
                  <a:latin typeface="Roboto" panose="02000000000000000000" pitchFamily="2" charset="0"/>
                  <a:ea typeface="Roboto" panose="02000000000000000000" pitchFamily="2" charset="0"/>
                </a:rPr>
                <a:t>C</a:t>
              </a:r>
              <a:r>
                <a:rPr lang="ja-JP" altLang="en-US" sz="1400" dirty="0">
                  <a:latin typeface="Roboto" panose="02000000000000000000" pitchFamily="2" charset="0"/>
                </a:rPr>
                <a:t>’</a:t>
              </a:r>
              <a:r>
                <a:rPr lang="en-US" altLang="ja-JP" sz="1400" dirty="0">
                  <a:latin typeface="Roboto" panose="02000000000000000000" pitchFamily="2" charset="0"/>
                  <a:ea typeface="Roboto" panose="02000000000000000000" pitchFamily="2" charset="0"/>
                </a:rPr>
                <a:t> washers for quick bold release</a:t>
              </a:r>
              <a:endParaRPr lang="en-US" altLang="en-US" sz="1400" dirty="0">
                <a:latin typeface="Roboto" panose="02000000000000000000" pitchFamily="2" charset="0"/>
                <a:ea typeface="Roboto" panose="02000000000000000000" pitchFamily="2" charset="0"/>
              </a:endParaRPr>
            </a:p>
          </p:txBody>
        </p:sp>
        <p:pic>
          <p:nvPicPr>
            <p:cNvPr id="191" name="Picture 105">
              <a:extLst>
                <a:ext uri="{FF2B5EF4-FFF2-40B4-BE49-F238E27FC236}">
                  <a16:creationId xmlns:a16="http://schemas.microsoft.com/office/drawing/2014/main" id="{B82FAC5F-7A13-B18E-A6A3-4DDD41E97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3025" y="1466850"/>
              <a:ext cx="844550" cy="130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92" name="Picture 106">
              <a:extLst>
                <a:ext uri="{FF2B5EF4-FFF2-40B4-BE49-F238E27FC236}">
                  <a16:creationId xmlns:a16="http://schemas.microsoft.com/office/drawing/2014/main" id="{B2E2450B-31B2-B6CD-E438-68FE34A479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18388" y="1592263"/>
              <a:ext cx="76835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93" name="TextBox 196">
              <a:extLst>
                <a:ext uri="{FF2B5EF4-FFF2-40B4-BE49-F238E27FC236}">
                  <a16:creationId xmlns:a16="http://schemas.microsoft.com/office/drawing/2014/main" id="{CEF3E322-8F2B-2FD6-66FA-B3F0F49215C5}"/>
                </a:ext>
              </a:extLst>
            </p:cNvPr>
            <p:cNvSpPr txBox="1">
              <a:spLocks noChangeArrowheads="1"/>
            </p:cNvSpPr>
            <p:nvPr/>
          </p:nvSpPr>
          <p:spPr bwMode="auto">
            <a:xfrm>
              <a:off x="2276800" y="5884863"/>
              <a:ext cx="5226987" cy="376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Design in the separation of internal and external tasks – SMED</a:t>
              </a:r>
            </a:p>
          </p:txBody>
        </p:sp>
        <p:pic>
          <p:nvPicPr>
            <p:cNvPr id="194" name="Picture 356" descr="http://ecx.images-amazon.com/images/I/416GE5MTMPL._SL500_.jpg">
              <a:extLst>
                <a:ext uri="{FF2B5EF4-FFF2-40B4-BE49-F238E27FC236}">
                  <a16:creationId xmlns:a16="http://schemas.microsoft.com/office/drawing/2014/main" id="{6DA2FD6E-7F60-BEB8-AE75-99A507ED441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1650" y="1289050"/>
              <a:ext cx="61595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 name="Rectangle 8">
              <a:extLst>
                <a:ext uri="{FF2B5EF4-FFF2-40B4-BE49-F238E27FC236}">
                  <a16:creationId xmlns:a16="http://schemas.microsoft.com/office/drawing/2014/main" id="{63FDECBA-6605-25BF-9CE1-E6236884EA49}"/>
                </a:ext>
              </a:extLst>
            </p:cNvPr>
            <p:cNvSpPr>
              <a:spLocks noChangeArrowheads="1"/>
            </p:cNvSpPr>
            <p:nvPr/>
          </p:nvSpPr>
          <p:spPr bwMode="auto">
            <a:xfrm>
              <a:off x="2611438" y="2828924"/>
              <a:ext cx="1839912" cy="676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400" dirty="0">
                  <a:latin typeface="Roboto" panose="02000000000000000000" pitchFamily="2" charset="0"/>
                  <a:ea typeface="Roboto" panose="02000000000000000000" pitchFamily="2" charset="0"/>
                </a:rPr>
                <a:t>Use programmable equipment for flexible set-ups</a:t>
              </a:r>
            </a:p>
          </p:txBody>
        </p:sp>
        <p:sp>
          <p:nvSpPr>
            <p:cNvPr id="196" name="Rectangle 203">
              <a:extLst>
                <a:ext uri="{FF2B5EF4-FFF2-40B4-BE49-F238E27FC236}">
                  <a16:creationId xmlns:a16="http://schemas.microsoft.com/office/drawing/2014/main" id="{1551267A-BD87-36CA-893B-5E3499D14772}"/>
                </a:ext>
              </a:extLst>
            </p:cNvPr>
            <p:cNvSpPr>
              <a:spLocks noChangeArrowheads="1"/>
            </p:cNvSpPr>
            <p:nvPr/>
          </p:nvSpPr>
          <p:spPr bwMode="auto">
            <a:xfrm>
              <a:off x="4400550" y="2828924"/>
              <a:ext cx="1806575" cy="293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90488" tIns="44450" rIns="90488" bIns="44450">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GB" altLang="en-US" sz="1400">
                  <a:latin typeface="Roboto" panose="02000000000000000000" pitchFamily="2" charset="0"/>
                  <a:ea typeface="Roboto" panose="02000000000000000000" pitchFamily="2" charset="0"/>
                </a:rPr>
                <a:t>Minimise bolt lengths</a:t>
              </a:r>
            </a:p>
          </p:txBody>
        </p:sp>
        <p:grpSp>
          <p:nvGrpSpPr>
            <p:cNvPr id="197" name="Group 260">
              <a:extLst>
                <a:ext uri="{FF2B5EF4-FFF2-40B4-BE49-F238E27FC236}">
                  <a16:creationId xmlns:a16="http://schemas.microsoft.com/office/drawing/2014/main" id="{7E6E6130-EBDA-7CEB-C094-1CC0A031E784}"/>
                </a:ext>
              </a:extLst>
            </p:cNvPr>
            <p:cNvGrpSpPr>
              <a:grpSpLocks/>
            </p:cNvGrpSpPr>
            <p:nvPr/>
          </p:nvGrpSpPr>
          <p:grpSpPr bwMode="auto">
            <a:xfrm>
              <a:off x="4151313" y="1636713"/>
              <a:ext cx="942975" cy="663575"/>
              <a:chOff x="1968" y="2208"/>
              <a:chExt cx="594" cy="418"/>
            </a:xfrm>
          </p:grpSpPr>
          <p:grpSp>
            <p:nvGrpSpPr>
              <p:cNvPr id="198" name="Group 250">
                <a:extLst>
                  <a:ext uri="{FF2B5EF4-FFF2-40B4-BE49-F238E27FC236}">
                    <a16:creationId xmlns:a16="http://schemas.microsoft.com/office/drawing/2014/main" id="{4969B1A5-1981-65B4-0DAE-7AC9D93563F9}"/>
                  </a:ext>
                </a:extLst>
              </p:cNvPr>
              <p:cNvGrpSpPr>
                <a:grpSpLocks/>
              </p:cNvGrpSpPr>
              <p:nvPr/>
            </p:nvGrpSpPr>
            <p:grpSpPr bwMode="auto">
              <a:xfrm>
                <a:off x="2091" y="2396"/>
                <a:ext cx="343" cy="230"/>
                <a:chOff x="2091" y="2396"/>
                <a:chExt cx="343" cy="230"/>
              </a:xfrm>
            </p:grpSpPr>
            <p:sp>
              <p:nvSpPr>
                <p:cNvPr id="218" name="Freeform 122">
                  <a:extLst>
                    <a:ext uri="{FF2B5EF4-FFF2-40B4-BE49-F238E27FC236}">
                      <a16:creationId xmlns:a16="http://schemas.microsoft.com/office/drawing/2014/main" id="{9EA3E248-C328-7101-D500-9C20E7B4B625}"/>
                    </a:ext>
                  </a:extLst>
                </p:cNvPr>
                <p:cNvSpPr>
                  <a:spLocks/>
                </p:cNvSpPr>
                <p:nvPr/>
              </p:nvSpPr>
              <p:spPr bwMode="auto">
                <a:xfrm>
                  <a:off x="2206" y="2507"/>
                  <a:ext cx="126" cy="119"/>
                </a:xfrm>
                <a:custGeom>
                  <a:avLst/>
                  <a:gdLst>
                    <a:gd name="T0" fmla="*/ 0 w 376"/>
                    <a:gd name="T1" fmla="*/ 0 h 514"/>
                    <a:gd name="T2" fmla="*/ 0 w 376"/>
                    <a:gd name="T3" fmla="*/ 0 h 514"/>
                    <a:gd name="T4" fmla="*/ 0 w 376"/>
                    <a:gd name="T5" fmla="*/ 0 h 514"/>
                    <a:gd name="T6" fmla="*/ 0 w 376"/>
                    <a:gd name="T7" fmla="*/ 0 h 514"/>
                    <a:gd name="T8" fmla="*/ 0 w 376"/>
                    <a:gd name="T9" fmla="*/ 0 h 514"/>
                    <a:gd name="T10" fmla="*/ 0 w 376"/>
                    <a:gd name="T11" fmla="*/ 0 h 514"/>
                    <a:gd name="T12" fmla="*/ 0 w 376"/>
                    <a:gd name="T13" fmla="*/ 0 h 514"/>
                    <a:gd name="T14" fmla="*/ 0 w 376"/>
                    <a:gd name="T15" fmla="*/ 0 h 514"/>
                    <a:gd name="T16" fmla="*/ 0 w 376"/>
                    <a:gd name="T17" fmla="*/ 0 h 514"/>
                    <a:gd name="T18" fmla="*/ 0 w 376"/>
                    <a:gd name="T19" fmla="*/ 0 h 514"/>
                    <a:gd name="T20" fmla="*/ 0 w 376"/>
                    <a:gd name="T21" fmla="*/ 0 h 514"/>
                    <a:gd name="T22" fmla="*/ 0 w 376"/>
                    <a:gd name="T23" fmla="*/ 0 h 514"/>
                    <a:gd name="T24" fmla="*/ 0 w 376"/>
                    <a:gd name="T25" fmla="*/ 0 h 514"/>
                    <a:gd name="T26" fmla="*/ 0 w 376"/>
                    <a:gd name="T27" fmla="*/ 0 h 514"/>
                    <a:gd name="T28" fmla="*/ 0 w 376"/>
                    <a:gd name="T29" fmla="*/ 0 h 514"/>
                    <a:gd name="T30" fmla="*/ 0 w 376"/>
                    <a:gd name="T31" fmla="*/ 0 h 514"/>
                    <a:gd name="T32" fmla="*/ 0 w 376"/>
                    <a:gd name="T33" fmla="*/ 0 h 514"/>
                    <a:gd name="T34" fmla="*/ 0 w 376"/>
                    <a:gd name="T35" fmla="*/ 0 h 514"/>
                    <a:gd name="T36" fmla="*/ 0 w 376"/>
                    <a:gd name="T37" fmla="*/ 0 h 514"/>
                    <a:gd name="T38" fmla="*/ 0 w 376"/>
                    <a:gd name="T39" fmla="*/ 0 h 514"/>
                    <a:gd name="T40" fmla="*/ 0 w 376"/>
                    <a:gd name="T41" fmla="*/ 0 h 514"/>
                    <a:gd name="T42" fmla="*/ 0 w 376"/>
                    <a:gd name="T43" fmla="*/ 0 h 514"/>
                    <a:gd name="T44" fmla="*/ 0 w 376"/>
                    <a:gd name="T45" fmla="*/ 0 h 514"/>
                    <a:gd name="T46" fmla="*/ 0 w 376"/>
                    <a:gd name="T47" fmla="*/ 0 h 514"/>
                    <a:gd name="T48" fmla="*/ 0 w 376"/>
                    <a:gd name="T49" fmla="*/ 0 h 514"/>
                    <a:gd name="T50" fmla="*/ 0 w 376"/>
                    <a:gd name="T51" fmla="*/ 0 h 514"/>
                    <a:gd name="T52" fmla="*/ 0 w 376"/>
                    <a:gd name="T53" fmla="*/ 0 h 514"/>
                    <a:gd name="T54" fmla="*/ 0 w 376"/>
                    <a:gd name="T55" fmla="*/ 0 h 514"/>
                    <a:gd name="T56" fmla="*/ 0 w 376"/>
                    <a:gd name="T57" fmla="*/ 0 h 514"/>
                    <a:gd name="T58" fmla="*/ 0 w 376"/>
                    <a:gd name="T59" fmla="*/ 0 h 514"/>
                    <a:gd name="T60" fmla="*/ 0 w 376"/>
                    <a:gd name="T61" fmla="*/ 0 h 514"/>
                    <a:gd name="T62" fmla="*/ 0 w 376"/>
                    <a:gd name="T63" fmla="*/ 0 h 514"/>
                    <a:gd name="T64" fmla="*/ 0 w 376"/>
                    <a:gd name="T65" fmla="*/ 0 h 514"/>
                    <a:gd name="T66" fmla="*/ 0 w 376"/>
                    <a:gd name="T67" fmla="*/ 0 h 514"/>
                    <a:gd name="T68" fmla="*/ 0 w 376"/>
                    <a:gd name="T69" fmla="*/ 0 h 514"/>
                    <a:gd name="T70" fmla="*/ 0 w 376"/>
                    <a:gd name="T71" fmla="*/ 0 h 514"/>
                    <a:gd name="T72" fmla="*/ 0 w 376"/>
                    <a:gd name="T73" fmla="*/ 0 h 514"/>
                    <a:gd name="T74" fmla="*/ 0 w 376"/>
                    <a:gd name="T75" fmla="*/ 0 h 514"/>
                    <a:gd name="T76" fmla="*/ 0 w 376"/>
                    <a:gd name="T77" fmla="*/ 0 h 514"/>
                    <a:gd name="T78" fmla="*/ 0 w 376"/>
                    <a:gd name="T79" fmla="*/ 0 h 514"/>
                    <a:gd name="T80" fmla="*/ 0 w 376"/>
                    <a:gd name="T81" fmla="*/ 0 h 5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76"/>
                    <a:gd name="T124" fmla="*/ 0 h 514"/>
                    <a:gd name="T125" fmla="*/ 376 w 376"/>
                    <a:gd name="T126" fmla="*/ 514 h 51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76" h="514">
                      <a:moveTo>
                        <a:pt x="125" y="0"/>
                      </a:moveTo>
                      <a:lnTo>
                        <a:pt x="251" y="0"/>
                      </a:lnTo>
                      <a:lnTo>
                        <a:pt x="276" y="3"/>
                      </a:lnTo>
                      <a:lnTo>
                        <a:pt x="300" y="11"/>
                      </a:lnTo>
                      <a:lnTo>
                        <a:pt x="321" y="23"/>
                      </a:lnTo>
                      <a:lnTo>
                        <a:pt x="340" y="40"/>
                      </a:lnTo>
                      <a:lnTo>
                        <a:pt x="355" y="60"/>
                      </a:lnTo>
                      <a:lnTo>
                        <a:pt x="366" y="83"/>
                      </a:lnTo>
                      <a:lnTo>
                        <a:pt x="374" y="109"/>
                      </a:lnTo>
                      <a:lnTo>
                        <a:pt x="376" y="136"/>
                      </a:lnTo>
                      <a:lnTo>
                        <a:pt x="376" y="378"/>
                      </a:lnTo>
                      <a:lnTo>
                        <a:pt x="374" y="405"/>
                      </a:lnTo>
                      <a:lnTo>
                        <a:pt x="366" y="431"/>
                      </a:lnTo>
                      <a:lnTo>
                        <a:pt x="355" y="454"/>
                      </a:lnTo>
                      <a:lnTo>
                        <a:pt x="340" y="474"/>
                      </a:lnTo>
                      <a:lnTo>
                        <a:pt x="321" y="491"/>
                      </a:lnTo>
                      <a:lnTo>
                        <a:pt x="300" y="503"/>
                      </a:lnTo>
                      <a:lnTo>
                        <a:pt x="276" y="511"/>
                      </a:lnTo>
                      <a:lnTo>
                        <a:pt x="251" y="514"/>
                      </a:lnTo>
                      <a:lnTo>
                        <a:pt x="125" y="514"/>
                      </a:lnTo>
                      <a:lnTo>
                        <a:pt x="100" y="511"/>
                      </a:lnTo>
                      <a:lnTo>
                        <a:pt x="77" y="503"/>
                      </a:lnTo>
                      <a:lnTo>
                        <a:pt x="55" y="491"/>
                      </a:lnTo>
                      <a:lnTo>
                        <a:pt x="36" y="474"/>
                      </a:lnTo>
                      <a:lnTo>
                        <a:pt x="21" y="454"/>
                      </a:lnTo>
                      <a:lnTo>
                        <a:pt x="10" y="431"/>
                      </a:lnTo>
                      <a:lnTo>
                        <a:pt x="3" y="405"/>
                      </a:lnTo>
                      <a:lnTo>
                        <a:pt x="0" y="378"/>
                      </a:lnTo>
                      <a:lnTo>
                        <a:pt x="0" y="136"/>
                      </a:lnTo>
                      <a:lnTo>
                        <a:pt x="3" y="109"/>
                      </a:lnTo>
                      <a:lnTo>
                        <a:pt x="10" y="83"/>
                      </a:lnTo>
                      <a:lnTo>
                        <a:pt x="21" y="60"/>
                      </a:lnTo>
                      <a:lnTo>
                        <a:pt x="36" y="40"/>
                      </a:lnTo>
                      <a:lnTo>
                        <a:pt x="55" y="23"/>
                      </a:lnTo>
                      <a:lnTo>
                        <a:pt x="77" y="11"/>
                      </a:lnTo>
                      <a:lnTo>
                        <a:pt x="100" y="3"/>
                      </a:lnTo>
                      <a:lnTo>
                        <a:pt x="125"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19" name="Freeform 139">
                  <a:extLst>
                    <a:ext uri="{FF2B5EF4-FFF2-40B4-BE49-F238E27FC236}">
                      <a16:creationId xmlns:a16="http://schemas.microsoft.com/office/drawing/2014/main" id="{6B65AF19-C769-D9B2-49AE-78CD05E60B17}"/>
                    </a:ext>
                  </a:extLst>
                </p:cNvPr>
                <p:cNvSpPr>
                  <a:spLocks/>
                </p:cNvSpPr>
                <p:nvPr/>
              </p:nvSpPr>
              <p:spPr bwMode="auto">
                <a:xfrm>
                  <a:off x="2151" y="2421"/>
                  <a:ext cx="223" cy="141"/>
                </a:xfrm>
                <a:custGeom>
                  <a:avLst/>
                  <a:gdLst>
                    <a:gd name="T0" fmla="*/ 0 w 667"/>
                    <a:gd name="T1" fmla="*/ 0 h 424"/>
                    <a:gd name="T2" fmla="*/ 0 w 667"/>
                    <a:gd name="T3" fmla="*/ 0 h 424"/>
                    <a:gd name="T4" fmla="*/ 0 w 667"/>
                    <a:gd name="T5" fmla="*/ 0 h 424"/>
                    <a:gd name="T6" fmla="*/ 0 w 667"/>
                    <a:gd name="T7" fmla="*/ 0 h 424"/>
                    <a:gd name="T8" fmla="*/ 0 w 667"/>
                    <a:gd name="T9" fmla="*/ 0 h 424"/>
                    <a:gd name="T10" fmla="*/ 0 w 667"/>
                    <a:gd name="T11" fmla="*/ 0 h 424"/>
                    <a:gd name="T12" fmla="*/ 0 w 667"/>
                    <a:gd name="T13" fmla="*/ 0 h 424"/>
                    <a:gd name="T14" fmla="*/ 0 w 667"/>
                    <a:gd name="T15" fmla="*/ 0 h 424"/>
                    <a:gd name="T16" fmla="*/ 0 w 667"/>
                    <a:gd name="T17" fmla="*/ 0 h 424"/>
                    <a:gd name="T18" fmla="*/ 0 w 667"/>
                    <a:gd name="T19" fmla="*/ 0 h 424"/>
                    <a:gd name="T20" fmla="*/ 0 w 667"/>
                    <a:gd name="T21" fmla="*/ 0 h 424"/>
                    <a:gd name="T22" fmla="*/ 0 w 667"/>
                    <a:gd name="T23" fmla="*/ 0 h 424"/>
                    <a:gd name="T24" fmla="*/ 0 w 667"/>
                    <a:gd name="T25" fmla="*/ 0 h 424"/>
                    <a:gd name="T26" fmla="*/ 0 w 667"/>
                    <a:gd name="T27" fmla="*/ 0 h 424"/>
                    <a:gd name="T28" fmla="*/ 0 w 667"/>
                    <a:gd name="T29" fmla="*/ 0 h 424"/>
                    <a:gd name="T30" fmla="*/ 0 w 667"/>
                    <a:gd name="T31" fmla="*/ 0 h 424"/>
                    <a:gd name="T32" fmla="*/ 0 w 667"/>
                    <a:gd name="T33" fmla="*/ 0 h 424"/>
                    <a:gd name="T34" fmla="*/ 0 w 667"/>
                    <a:gd name="T35" fmla="*/ 0 h 424"/>
                    <a:gd name="T36" fmla="*/ 0 w 667"/>
                    <a:gd name="T37" fmla="*/ 0 h 424"/>
                    <a:gd name="T38" fmla="*/ 0 w 667"/>
                    <a:gd name="T39" fmla="*/ 0 h 424"/>
                    <a:gd name="T40" fmla="*/ 0 w 667"/>
                    <a:gd name="T41" fmla="*/ 0 h 424"/>
                    <a:gd name="T42" fmla="*/ 0 w 667"/>
                    <a:gd name="T43" fmla="*/ 0 h 424"/>
                    <a:gd name="T44" fmla="*/ 0 w 667"/>
                    <a:gd name="T45" fmla="*/ 0 h 424"/>
                    <a:gd name="T46" fmla="*/ 0 w 667"/>
                    <a:gd name="T47" fmla="*/ 0 h 424"/>
                    <a:gd name="T48" fmla="*/ 0 w 667"/>
                    <a:gd name="T49" fmla="*/ 0 h 424"/>
                    <a:gd name="T50" fmla="*/ 0 w 667"/>
                    <a:gd name="T51" fmla="*/ 0 h 424"/>
                    <a:gd name="T52" fmla="*/ 0 w 667"/>
                    <a:gd name="T53" fmla="*/ 0 h 424"/>
                    <a:gd name="T54" fmla="*/ 0 w 667"/>
                    <a:gd name="T55" fmla="*/ 0 h 424"/>
                    <a:gd name="T56" fmla="*/ 0 w 667"/>
                    <a:gd name="T57" fmla="*/ 0 h 424"/>
                    <a:gd name="T58" fmla="*/ 0 w 667"/>
                    <a:gd name="T59" fmla="*/ 0 h 424"/>
                    <a:gd name="T60" fmla="*/ 0 w 667"/>
                    <a:gd name="T61" fmla="*/ 0 h 424"/>
                    <a:gd name="T62" fmla="*/ 0 w 667"/>
                    <a:gd name="T63" fmla="*/ 0 h 424"/>
                    <a:gd name="T64" fmla="*/ 0 w 667"/>
                    <a:gd name="T65" fmla="*/ 0 h 424"/>
                    <a:gd name="T66" fmla="*/ 0 w 667"/>
                    <a:gd name="T67" fmla="*/ 0 h 424"/>
                    <a:gd name="T68" fmla="*/ 0 w 667"/>
                    <a:gd name="T69" fmla="*/ 0 h 424"/>
                    <a:gd name="T70" fmla="*/ 0 w 667"/>
                    <a:gd name="T71" fmla="*/ 0 h 424"/>
                    <a:gd name="T72" fmla="*/ 0 w 667"/>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67"/>
                    <a:gd name="T112" fmla="*/ 0 h 424"/>
                    <a:gd name="T113" fmla="*/ 667 w 667"/>
                    <a:gd name="T114" fmla="*/ 424 h 4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67" h="424">
                      <a:moveTo>
                        <a:pt x="57" y="0"/>
                      </a:moveTo>
                      <a:lnTo>
                        <a:pt x="612" y="0"/>
                      </a:lnTo>
                      <a:lnTo>
                        <a:pt x="623" y="2"/>
                      </a:lnTo>
                      <a:lnTo>
                        <a:pt x="633" y="6"/>
                      </a:lnTo>
                      <a:lnTo>
                        <a:pt x="642" y="11"/>
                      </a:lnTo>
                      <a:lnTo>
                        <a:pt x="651" y="18"/>
                      </a:lnTo>
                      <a:lnTo>
                        <a:pt x="657" y="27"/>
                      </a:lnTo>
                      <a:lnTo>
                        <a:pt x="663" y="37"/>
                      </a:lnTo>
                      <a:lnTo>
                        <a:pt x="666" y="49"/>
                      </a:lnTo>
                      <a:lnTo>
                        <a:pt x="667" y="61"/>
                      </a:lnTo>
                      <a:lnTo>
                        <a:pt x="667" y="363"/>
                      </a:lnTo>
                      <a:lnTo>
                        <a:pt x="666" y="375"/>
                      </a:lnTo>
                      <a:lnTo>
                        <a:pt x="663" y="387"/>
                      </a:lnTo>
                      <a:lnTo>
                        <a:pt x="657" y="397"/>
                      </a:lnTo>
                      <a:lnTo>
                        <a:pt x="651" y="406"/>
                      </a:lnTo>
                      <a:lnTo>
                        <a:pt x="642" y="413"/>
                      </a:lnTo>
                      <a:lnTo>
                        <a:pt x="633" y="419"/>
                      </a:lnTo>
                      <a:lnTo>
                        <a:pt x="623" y="423"/>
                      </a:lnTo>
                      <a:lnTo>
                        <a:pt x="612" y="424"/>
                      </a:lnTo>
                      <a:lnTo>
                        <a:pt x="57" y="424"/>
                      </a:lnTo>
                      <a:lnTo>
                        <a:pt x="45" y="423"/>
                      </a:lnTo>
                      <a:lnTo>
                        <a:pt x="34" y="419"/>
                      </a:lnTo>
                      <a:lnTo>
                        <a:pt x="25" y="413"/>
                      </a:lnTo>
                      <a:lnTo>
                        <a:pt x="16" y="406"/>
                      </a:lnTo>
                      <a:lnTo>
                        <a:pt x="10" y="397"/>
                      </a:lnTo>
                      <a:lnTo>
                        <a:pt x="5" y="387"/>
                      </a:lnTo>
                      <a:lnTo>
                        <a:pt x="1" y="375"/>
                      </a:lnTo>
                      <a:lnTo>
                        <a:pt x="0" y="363"/>
                      </a:lnTo>
                      <a:lnTo>
                        <a:pt x="0" y="61"/>
                      </a:lnTo>
                      <a:lnTo>
                        <a:pt x="1" y="49"/>
                      </a:lnTo>
                      <a:lnTo>
                        <a:pt x="5" y="37"/>
                      </a:lnTo>
                      <a:lnTo>
                        <a:pt x="10" y="27"/>
                      </a:lnTo>
                      <a:lnTo>
                        <a:pt x="16" y="18"/>
                      </a:lnTo>
                      <a:lnTo>
                        <a:pt x="25" y="11"/>
                      </a:lnTo>
                      <a:lnTo>
                        <a:pt x="34" y="6"/>
                      </a:lnTo>
                      <a:lnTo>
                        <a:pt x="45" y="2"/>
                      </a:lnTo>
                      <a:lnTo>
                        <a:pt x="5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20" name="Freeform 140">
                  <a:extLst>
                    <a:ext uri="{FF2B5EF4-FFF2-40B4-BE49-F238E27FC236}">
                      <a16:creationId xmlns:a16="http://schemas.microsoft.com/office/drawing/2014/main" id="{4DD3A04E-23D6-6292-DD38-A1D3746D10CF}"/>
                    </a:ext>
                  </a:extLst>
                </p:cNvPr>
                <p:cNvSpPr>
                  <a:spLocks/>
                </p:cNvSpPr>
                <p:nvPr/>
              </p:nvSpPr>
              <p:spPr bwMode="auto">
                <a:xfrm>
                  <a:off x="2151" y="2421"/>
                  <a:ext cx="223" cy="141"/>
                </a:xfrm>
                <a:custGeom>
                  <a:avLst/>
                  <a:gdLst>
                    <a:gd name="T0" fmla="*/ 0 w 667"/>
                    <a:gd name="T1" fmla="*/ 0 h 424"/>
                    <a:gd name="T2" fmla="*/ 0 w 667"/>
                    <a:gd name="T3" fmla="*/ 0 h 424"/>
                    <a:gd name="T4" fmla="*/ 0 w 667"/>
                    <a:gd name="T5" fmla="*/ 0 h 424"/>
                    <a:gd name="T6" fmla="*/ 0 w 667"/>
                    <a:gd name="T7" fmla="*/ 0 h 424"/>
                    <a:gd name="T8" fmla="*/ 0 w 667"/>
                    <a:gd name="T9" fmla="*/ 0 h 424"/>
                    <a:gd name="T10" fmla="*/ 0 w 667"/>
                    <a:gd name="T11" fmla="*/ 0 h 424"/>
                    <a:gd name="T12" fmla="*/ 0 w 667"/>
                    <a:gd name="T13" fmla="*/ 0 h 424"/>
                    <a:gd name="T14" fmla="*/ 0 w 667"/>
                    <a:gd name="T15" fmla="*/ 0 h 424"/>
                    <a:gd name="T16" fmla="*/ 0 w 667"/>
                    <a:gd name="T17" fmla="*/ 0 h 424"/>
                    <a:gd name="T18" fmla="*/ 0 w 667"/>
                    <a:gd name="T19" fmla="*/ 0 h 424"/>
                    <a:gd name="T20" fmla="*/ 0 w 667"/>
                    <a:gd name="T21" fmla="*/ 0 h 424"/>
                    <a:gd name="T22" fmla="*/ 0 w 667"/>
                    <a:gd name="T23" fmla="*/ 0 h 424"/>
                    <a:gd name="T24" fmla="*/ 0 w 667"/>
                    <a:gd name="T25" fmla="*/ 0 h 424"/>
                    <a:gd name="T26" fmla="*/ 0 w 667"/>
                    <a:gd name="T27" fmla="*/ 0 h 424"/>
                    <a:gd name="T28" fmla="*/ 0 w 667"/>
                    <a:gd name="T29" fmla="*/ 0 h 424"/>
                    <a:gd name="T30" fmla="*/ 0 w 667"/>
                    <a:gd name="T31" fmla="*/ 0 h 424"/>
                    <a:gd name="T32" fmla="*/ 0 w 667"/>
                    <a:gd name="T33" fmla="*/ 0 h 424"/>
                    <a:gd name="T34" fmla="*/ 0 w 667"/>
                    <a:gd name="T35" fmla="*/ 0 h 424"/>
                    <a:gd name="T36" fmla="*/ 0 w 667"/>
                    <a:gd name="T37" fmla="*/ 0 h 424"/>
                    <a:gd name="T38" fmla="*/ 0 w 667"/>
                    <a:gd name="T39" fmla="*/ 0 h 424"/>
                    <a:gd name="T40" fmla="*/ 0 w 667"/>
                    <a:gd name="T41" fmla="*/ 0 h 424"/>
                    <a:gd name="T42" fmla="*/ 0 w 667"/>
                    <a:gd name="T43" fmla="*/ 0 h 424"/>
                    <a:gd name="T44" fmla="*/ 0 w 667"/>
                    <a:gd name="T45" fmla="*/ 0 h 424"/>
                    <a:gd name="T46" fmla="*/ 0 w 667"/>
                    <a:gd name="T47" fmla="*/ 0 h 424"/>
                    <a:gd name="T48" fmla="*/ 0 w 667"/>
                    <a:gd name="T49" fmla="*/ 0 h 424"/>
                    <a:gd name="T50" fmla="*/ 0 w 667"/>
                    <a:gd name="T51" fmla="*/ 0 h 424"/>
                    <a:gd name="T52" fmla="*/ 0 w 667"/>
                    <a:gd name="T53" fmla="*/ 0 h 424"/>
                    <a:gd name="T54" fmla="*/ 0 w 667"/>
                    <a:gd name="T55" fmla="*/ 0 h 424"/>
                    <a:gd name="T56" fmla="*/ 0 w 667"/>
                    <a:gd name="T57" fmla="*/ 0 h 424"/>
                    <a:gd name="T58" fmla="*/ 0 w 667"/>
                    <a:gd name="T59" fmla="*/ 0 h 424"/>
                    <a:gd name="T60" fmla="*/ 0 w 667"/>
                    <a:gd name="T61" fmla="*/ 0 h 424"/>
                    <a:gd name="T62" fmla="*/ 0 w 667"/>
                    <a:gd name="T63" fmla="*/ 0 h 424"/>
                    <a:gd name="T64" fmla="*/ 0 w 667"/>
                    <a:gd name="T65" fmla="*/ 0 h 424"/>
                    <a:gd name="T66" fmla="*/ 0 w 667"/>
                    <a:gd name="T67" fmla="*/ 0 h 424"/>
                    <a:gd name="T68" fmla="*/ 0 w 667"/>
                    <a:gd name="T69" fmla="*/ 0 h 424"/>
                    <a:gd name="T70" fmla="*/ 0 w 667"/>
                    <a:gd name="T71" fmla="*/ 0 h 424"/>
                    <a:gd name="T72" fmla="*/ 0 w 667"/>
                    <a:gd name="T73" fmla="*/ 0 h 424"/>
                    <a:gd name="T74" fmla="*/ 0 w 667"/>
                    <a:gd name="T75" fmla="*/ 0 h 424"/>
                    <a:gd name="T76" fmla="*/ 0 w 667"/>
                    <a:gd name="T77" fmla="*/ 0 h 424"/>
                    <a:gd name="T78" fmla="*/ 0 w 667"/>
                    <a:gd name="T79" fmla="*/ 0 h 424"/>
                    <a:gd name="T80" fmla="*/ 0 w 667"/>
                    <a:gd name="T81" fmla="*/ 0 h 4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67"/>
                    <a:gd name="T124" fmla="*/ 0 h 424"/>
                    <a:gd name="T125" fmla="*/ 667 w 667"/>
                    <a:gd name="T126" fmla="*/ 424 h 42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67" h="424">
                      <a:moveTo>
                        <a:pt x="57" y="0"/>
                      </a:moveTo>
                      <a:lnTo>
                        <a:pt x="612" y="0"/>
                      </a:lnTo>
                      <a:lnTo>
                        <a:pt x="623" y="2"/>
                      </a:lnTo>
                      <a:lnTo>
                        <a:pt x="633" y="6"/>
                      </a:lnTo>
                      <a:lnTo>
                        <a:pt x="642" y="11"/>
                      </a:lnTo>
                      <a:lnTo>
                        <a:pt x="651" y="18"/>
                      </a:lnTo>
                      <a:lnTo>
                        <a:pt x="657" y="27"/>
                      </a:lnTo>
                      <a:lnTo>
                        <a:pt x="663" y="37"/>
                      </a:lnTo>
                      <a:lnTo>
                        <a:pt x="666" y="49"/>
                      </a:lnTo>
                      <a:lnTo>
                        <a:pt x="667" y="61"/>
                      </a:lnTo>
                      <a:lnTo>
                        <a:pt x="667" y="363"/>
                      </a:lnTo>
                      <a:lnTo>
                        <a:pt x="666" y="375"/>
                      </a:lnTo>
                      <a:lnTo>
                        <a:pt x="663" y="387"/>
                      </a:lnTo>
                      <a:lnTo>
                        <a:pt x="657" y="397"/>
                      </a:lnTo>
                      <a:lnTo>
                        <a:pt x="651" y="406"/>
                      </a:lnTo>
                      <a:lnTo>
                        <a:pt x="642" y="413"/>
                      </a:lnTo>
                      <a:lnTo>
                        <a:pt x="633" y="419"/>
                      </a:lnTo>
                      <a:lnTo>
                        <a:pt x="623" y="423"/>
                      </a:lnTo>
                      <a:lnTo>
                        <a:pt x="612" y="424"/>
                      </a:lnTo>
                      <a:lnTo>
                        <a:pt x="57" y="424"/>
                      </a:lnTo>
                      <a:lnTo>
                        <a:pt x="45" y="423"/>
                      </a:lnTo>
                      <a:lnTo>
                        <a:pt x="34" y="419"/>
                      </a:lnTo>
                      <a:lnTo>
                        <a:pt x="25" y="413"/>
                      </a:lnTo>
                      <a:lnTo>
                        <a:pt x="16" y="406"/>
                      </a:lnTo>
                      <a:lnTo>
                        <a:pt x="10" y="397"/>
                      </a:lnTo>
                      <a:lnTo>
                        <a:pt x="5" y="387"/>
                      </a:lnTo>
                      <a:lnTo>
                        <a:pt x="1" y="375"/>
                      </a:lnTo>
                      <a:lnTo>
                        <a:pt x="0" y="363"/>
                      </a:lnTo>
                      <a:lnTo>
                        <a:pt x="0" y="61"/>
                      </a:lnTo>
                      <a:lnTo>
                        <a:pt x="1" y="49"/>
                      </a:lnTo>
                      <a:lnTo>
                        <a:pt x="5" y="37"/>
                      </a:lnTo>
                      <a:lnTo>
                        <a:pt x="10" y="27"/>
                      </a:lnTo>
                      <a:lnTo>
                        <a:pt x="16" y="18"/>
                      </a:lnTo>
                      <a:lnTo>
                        <a:pt x="25" y="11"/>
                      </a:lnTo>
                      <a:lnTo>
                        <a:pt x="34" y="6"/>
                      </a:lnTo>
                      <a:lnTo>
                        <a:pt x="45" y="2"/>
                      </a:lnTo>
                      <a:lnTo>
                        <a:pt x="5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21" name="Line 141">
                  <a:extLst>
                    <a:ext uri="{FF2B5EF4-FFF2-40B4-BE49-F238E27FC236}">
                      <a16:creationId xmlns:a16="http://schemas.microsoft.com/office/drawing/2014/main" id="{A9ADB8D5-6F40-4C62-E540-A4A81AEB0DAE}"/>
                    </a:ext>
                  </a:extLst>
                </p:cNvPr>
                <p:cNvSpPr>
                  <a:spLocks noChangeShapeType="1"/>
                </p:cNvSpPr>
                <p:nvPr/>
              </p:nvSpPr>
              <p:spPr bwMode="auto">
                <a:xfrm>
                  <a:off x="2212" y="2421"/>
                  <a:ext cx="1"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2" name="Line 142">
                  <a:extLst>
                    <a:ext uri="{FF2B5EF4-FFF2-40B4-BE49-F238E27FC236}">
                      <a16:creationId xmlns:a16="http://schemas.microsoft.com/office/drawing/2014/main" id="{EA8E3F62-A85C-EF1B-CAC3-35D70A09D77E}"/>
                    </a:ext>
                  </a:extLst>
                </p:cNvPr>
                <p:cNvSpPr>
                  <a:spLocks noChangeShapeType="1"/>
                </p:cNvSpPr>
                <p:nvPr/>
              </p:nvSpPr>
              <p:spPr bwMode="auto">
                <a:xfrm>
                  <a:off x="2318" y="2421"/>
                  <a:ext cx="1"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3" name="Rectangle 143">
                  <a:extLst>
                    <a:ext uri="{FF2B5EF4-FFF2-40B4-BE49-F238E27FC236}">
                      <a16:creationId xmlns:a16="http://schemas.microsoft.com/office/drawing/2014/main" id="{50FDA9CA-3BB1-CB93-ACF4-2647BC5FFCD2}"/>
                    </a:ext>
                  </a:extLst>
                </p:cNvPr>
                <p:cNvSpPr>
                  <a:spLocks noChangeArrowheads="1"/>
                </p:cNvSpPr>
                <p:nvPr/>
              </p:nvSpPr>
              <p:spPr bwMode="auto">
                <a:xfrm>
                  <a:off x="2091" y="2396"/>
                  <a:ext cx="343" cy="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24" name="Rectangle 144">
                  <a:extLst>
                    <a:ext uri="{FF2B5EF4-FFF2-40B4-BE49-F238E27FC236}">
                      <a16:creationId xmlns:a16="http://schemas.microsoft.com/office/drawing/2014/main" id="{2023BFA3-F66B-C615-A3AA-F4B8EA6BA503}"/>
                    </a:ext>
                  </a:extLst>
                </p:cNvPr>
                <p:cNvSpPr>
                  <a:spLocks noChangeArrowheads="1"/>
                </p:cNvSpPr>
                <p:nvPr/>
              </p:nvSpPr>
              <p:spPr bwMode="auto">
                <a:xfrm>
                  <a:off x="2091" y="2396"/>
                  <a:ext cx="343" cy="4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25" name="Freeform 145">
                  <a:extLst>
                    <a:ext uri="{FF2B5EF4-FFF2-40B4-BE49-F238E27FC236}">
                      <a16:creationId xmlns:a16="http://schemas.microsoft.com/office/drawing/2014/main" id="{76789B0F-4BCB-1ACC-7E8F-7F11DB045929}"/>
                    </a:ext>
                  </a:extLst>
                </p:cNvPr>
                <p:cNvSpPr>
                  <a:spLocks/>
                </p:cNvSpPr>
                <p:nvPr/>
              </p:nvSpPr>
              <p:spPr bwMode="auto">
                <a:xfrm>
                  <a:off x="2209" y="2596"/>
                  <a:ext cx="116" cy="7"/>
                </a:xfrm>
                <a:custGeom>
                  <a:avLst/>
                  <a:gdLst>
                    <a:gd name="T0" fmla="*/ 0 w 348"/>
                    <a:gd name="T1" fmla="*/ 0 h 22"/>
                    <a:gd name="T2" fmla="*/ 0 w 348"/>
                    <a:gd name="T3" fmla="*/ 0 h 22"/>
                    <a:gd name="T4" fmla="*/ 0 w 348"/>
                    <a:gd name="T5" fmla="*/ 0 h 22"/>
                    <a:gd name="T6" fmla="*/ 0 w 348"/>
                    <a:gd name="T7" fmla="*/ 0 h 22"/>
                    <a:gd name="T8" fmla="*/ 0 w 348"/>
                    <a:gd name="T9" fmla="*/ 0 h 22"/>
                    <a:gd name="T10" fmla="*/ 0 w 348"/>
                    <a:gd name="T11" fmla="*/ 0 h 22"/>
                    <a:gd name="T12" fmla="*/ 0 w 348"/>
                    <a:gd name="T13" fmla="*/ 0 h 22"/>
                    <a:gd name="T14" fmla="*/ 0 w 348"/>
                    <a:gd name="T15" fmla="*/ 0 h 22"/>
                    <a:gd name="T16" fmla="*/ 0 w 348"/>
                    <a:gd name="T17" fmla="*/ 0 h 22"/>
                    <a:gd name="T18" fmla="*/ 0 w 348"/>
                    <a:gd name="T19" fmla="*/ 0 h 22"/>
                    <a:gd name="T20" fmla="*/ 0 w 348"/>
                    <a:gd name="T21" fmla="*/ 0 h 22"/>
                    <a:gd name="T22" fmla="*/ 0 w 348"/>
                    <a:gd name="T23" fmla="*/ 0 h 22"/>
                    <a:gd name="T24" fmla="*/ 0 w 348"/>
                    <a:gd name="T25" fmla="*/ 0 h 22"/>
                    <a:gd name="T26" fmla="*/ 0 w 348"/>
                    <a:gd name="T27" fmla="*/ 0 h 22"/>
                    <a:gd name="T28" fmla="*/ 0 w 348"/>
                    <a:gd name="T29" fmla="*/ 0 h 22"/>
                    <a:gd name="T30" fmla="*/ 0 w 348"/>
                    <a:gd name="T31" fmla="*/ 0 h 22"/>
                    <a:gd name="T32" fmla="*/ 0 w 348"/>
                    <a:gd name="T33" fmla="*/ 0 h 22"/>
                    <a:gd name="T34" fmla="*/ 0 w 348"/>
                    <a:gd name="T35" fmla="*/ 0 h 22"/>
                    <a:gd name="T36" fmla="*/ 0 w 348"/>
                    <a:gd name="T37" fmla="*/ 0 h 22"/>
                    <a:gd name="T38" fmla="*/ 0 w 348"/>
                    <a:gd name="T39" fmla="*/ 0 h 2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348"/>
                    <a:gd name="T61" fmla="*/ 0 h 22"/>
                    <a:gd name="T62" fmla="*/ 348 w 348"/>
                    <a:gd name="T63" fmla="*/ 22 h 2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348" h="22">
                      <a:moveTo>
                        <a:pt x="0" y="7"/>
                      </a:moveTo>
                      <a:lnTo>
                        <a:pt x="0" y="7"/>
                      </a:lnTo>
                      <a:lnTo>
                        <a:pt x="16" y="7"/>
                      </a:lnTo>
                      <a:lnTo>
                        <a:pt x="34" y="7"/>
                      </a:lnTo>
                      <a:lnTo>
                        <a:pt x="51" y="6"/>
                      </a:lnTo>
                      <a:lnTo>
                        <a:pt x="69" y="4"/>
                      </a:lnTo>
                      <a:lnTo>
                        <a:pt x="88" y="4"/>
                      </a:lnTo>
                      <a:lnTo>
                        <a:pt x="108" y="3"/>
                      </a:lnTo>
                      <a:lnTo>
                        <a:pt x="127" y="1"/>
                      </a:lnTo>
                      <a:lnTo>
                        <a:pt x="147" y="1"/>
                      </a:lnTo>
                      <a:lnTo>
                        <a:pt x="165" y="0"/>
                      </a:lnTo>
                      <a:lnTo>
                        <a:pt x="185" y="0"/>
                      </a:lnTo>
                      <a:lnTo>
                        <a:pt x="204" y="0"/>
                      </a:lnTo>
                      <a:lnTo>
                        <a:pt x="223" y="0"/>
                      </a:lnTo>
                      <a:lnTo>
                        <a:pt x="242" y="1"/>
                      </a:lnTo>
                      <a:lnTo>
                        <a:pt x="259" y="3"/>
                      </a:lnTo>
                      <a:lnTo>
                        <a:pt x="276" y="4"/>
                      </a:lnTo>
                      <a:lnTo>
                        <a:pt x="292" y="7"/>
                      </a:lnTo>
                      <a:lnTo>
                        <a:pt x="306" y="22"/>
                      </a:lnTo>
                      <a:lnTo>
                        <a:pt x="348" y="22"/>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199" name="Group 249">
                <a:extLst>
                  <a:ext uri="{FF2B5EF4-FFF2-40B4-BE49-F238E27FC236}">
                    <a16:creationId xmlns:a16="http://schemas.microsoft.com/office/drawing/2014/main" id="{CF0C2592-C89D-7BB1-8EFE-11DA4CF028EE}"/>
                  </a:ext>
                </a:extLst>
              </p:cNvPr>
              <p:cNvGrpSpPr>
                <a:grpSpLocks/>
              </p:cNvGrpSpPr>
              <p:nvPr/>
            </p:nvGrpSpPr>
            <p:grpSpPr bwMode="auto">
              <a:xfrm>
                <a:off x="1968" y="2208"/>
                <a:ext cx="594" cy="190"/>
                <a:chOff x="1968" y="2206"/>
                <a:chExt cx="594" cy="190"/>
              </a:xfrm>
            </p:grpSpPr>
            <p:sp>
              <p:nvSpPr>
                <p:cNvPr id="200" name="Freeform 123">
                  <a:extLst>
                    <a:ext uri="{FF2B5EF4-FFF2-40B4-BE49-F238E27FC236}">
                      <a16:creationId xmlns:a16="http://schemas.microsoft.com/office/drawing/2014/main" id="{7BCF26E3-EEC5-43E6-29A2-2D796CBF9635}"/>
                    </a:ext>
                  </a:extLst>
                </p:cNvPr>
                <p:cNvSpPr>
                  <a:spLocks/>
                </p:cNvSpPr>
                <p:nvPr/>
              </p:nvSpPr>
              <p:spPr bwMode="auto">
                <a:xfrm>
                  <a:off x="1971" y="2207"/>
                  <a:ext cx="591" cy="5"/>
                </a:xfrm>
                <a:custGeom>
                  <a:avLst/>
                  <a:gdLst>
                    <a:gd name="T0" fmla="*/ 0 w 1772"/>
                    <a:gd name="T1" fmla="*/ 0 h 16"/>
                    <a:gd name="T2" fmla="*/ 0 w 1772"/>
                    <a:gd name="T3" fmla="*/ 0 h 16"/>
                    <a:gd name="T4" fmla="*/ 0 w 1772"/>
                    <a:gd name="T5" fmla="*/ 0 h 16"/>
                    <a:gd name="T6" fmla="*/ 0 w 1772"/>
                    <a:gd name="T7" fmla="*/ 0 h 16"/>
                    <a:gd name="T8" fmla="*/ 0 w 1772"/>
                    <a:gd name="T9" fmla="*/ 0 h 16"/>
                    <a:gd name="T10" fmla="*/ 0 w 1772"/>
                    <a:gd name="T11" fmla="*/ 0 h 16"/>
                    <a:gd name="T12" fmla="*/ 0 w 1772"/>
                    <a:gd name="T13" fmla="*/ 0 h 16"/>
                    <a:gd name="T14" fmla="*/ 0 w 1772"/>
                    <a:gd name="T15" fmla="*/ 0 h 16"/>
                    <a:gd name="T16" fmla="*/ 0 w 1772"/>
                    <a:gd name="T17" fmla="*/ 0 h 16"/>
                    <a:gd name="T18" fmla="*/ 0 w 1772"/>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72"/>
                    <a:gd name="T31" fmla="*/ 0 h 16"/>
                    <a:gd name="T32" fmla="*/ 1772 w 177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72" h="16">
                      <a:moveTo>
                        <a:pt x="1772" y="8"/>
                      </a:moveTo>
                      <a:lnTo>
                        <a:pt x="1765" y="0"/>
                      </a:lnTo>
                      <a:lnTo>
                        <a:pt x="0" y="0"/>
                      </a:lnTo>
                      <a:lnTo>
                        <a:pt x="0" y="16"/>
                      </a:lnTo>
                      <a:lnTo>
                        <a:pt x="1765" y="16"/>
                      </a:lnTo>
                      <a:lnTo>
                        <a:pt x="1757" y="8"/>
                      </a:lnTo>
                      <a:lnTo>
                        <a:pt x="1772" y="8"/>
                      </a:lnTo>
                      <a:lnTo>
                        <a:pt x="1772" y="0"/>
                      </a:lnTo>
                      <a:lnTo>
                        <a:pt x="1765" y="0"/>
                      </a:lnTo>
                      <a:lnTo>
                        <a:pt x="177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01" name="Freeform 124">
                  <a:extLst>
                    <a:ext uri="{FF2B5EF4-FFF2-40B4-BE49-F238E27FC236}">
                      <a16:creationId xmlns:a16="http://schemas.microsoft.com/office/drawing/2014/main" id="{716A07ED-C70D-767E-C587-F5FEEC2AEB28}"/>
                    </a:ext>
                  </a:extLst>
                </p:cNvPr>
                <p:cNvSpPr>
                  <a:spLocks/>
                </p:cNvSpPr>
                <p:nvPr/>
              </p:nvSpPr>
              <p:spPr bwMode="auto">
                <a:xfrm>
                  <a:off x="2557" y="2210"/>
                  <a:ext cx="5" cy="184"/>
                </a:xfrm>
                <a:custGeom>
                  <a:avLst/>
                  <a:gdLst>
                    <a:gd name="T0" fmla="*/ 0 w 15"/>
                    <a:gd name="T1" fmla="*/ 0 h 553"/>
                    <a:gd name="T2" fmla="*/ 0 w 15"/>
                    <a:gd name="T3" fmla="*/ 0 h 553"/>
                    <a:gd name="T4" fmla="*/ 0 w 15"/>
                    <a:gd name="T5" fmla="*/ 0 h 553"/>
                    <a:gd name="T6" fmla="*/ 0 w 15"/>
                    <a:gd name="T7" fmla="*/ 0 h 553"/>
                    <a:gd name="T8" fmla="*/ 0 w 15"/>
                    <a:gd name="T9" fmla="*/ 0 h 553"/>
                    <a:gd name="T10" fmla="*/ 0 w 15"/>
                    <a:gd name="T11" fmla="*/ 0 h 553"/>
                    <a:gd name="T12" fmla="*/ 0 w 15"/>
                    <a:gd name="T13" fmla="*/ 0 h 553"/>
                    <a:gd name="T14" fmla="*/ 0 w 15"/>
                    <a:gd name="T15" fmla="*/ 0 h 553"/>
                    <a:gd name="T16" fmla="*/ 0 w 15"/>
                    <a:gd name="T17" fmla="*/ 0 h 553"/>
                    <a:gd name="T18" fmla="*/ 0 w 1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3"/>
                    <a:gd name="T32" fmla="*/ 15 w 1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3">
                      <a:moveTo>
                        <a:pt x="8" y="553"/>
                      </a:moveTo>
                      <a:lnTo>
                        <a:pt x="15" y="545"/>
                      </a:lnTo>
                      <a:lnTo>
                        <a:pt x="15" y="0"/>
                      </a:lnTo>
                      <a:lnTo>
                        <a:pt x="0" y="0"/>
                      </a:lnTo>
                      <a:lnTo>
                        <a:pt x="0" y="545"/>
                      </a:lnTo>
                      <a:lnTo>
                        <a:pt x="8" y="536"/>
                      </a:lnTo>
                      <a:lnTo>
                        <a:pt x="8" y="553"/>
                      </a:lnTo>
                      <a:lnTo>
                        <a:pt x="15" y="553"/>
                      </a:lnTo>
                      <a:lnTo>
                        <a:pt x="15" y="545"/>
                      </a:lnTo>
                      <a:lnTo>
                        <a:pt x="8" y="5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02" name="Freeform 125">
                  <a:extLst>
                    <a:ext uri="{FF2B5EF4-FFF2-40B4-BE49-F238E27FC236}">
                      <a16:creationId xmlns:a16="http://schemas.microsoft.com/office/drawing/2014/main" id="{5A022050-8CD2-313D-6866-D61EFE97783D}"/>
                    </a:ext>
                  </a:extLst>
                </p:cNvPr>
                <p:cNvSpPr>
                  <a:spLocks/>
                </p:cNvSpPr>
                <p:nvPr/>
              </p:nvSpPr>
              <p:spPr bwMode="auto">
                <a:xfrm>
                  <a:off x="1968" y="2388"/>
                  <a:ext cx="591" cy="6"/>
                </a:xfrm>
                <a:custGeom>
                  <a:avLst/>
                  <a:gdLst>
                    <a:gd name="T0" fmla="*/ 0 w 1773"/>
                    <a:gd name="T1" fmla="*/ 0 h 17"/>
                    <a:gd name="T2" fmla="*/ 0 w 1773"/>
                    <a:gd name="T3" fmla="*/ 0 h 17"/>
                    <a:gd name="T4" fmla="*/ 0 w 1773"/>
                    <a:gd name="T5" fmla="*/ 0 h 17"/>
                    <a:gd name="T6" fmla="*/ 0 w 1773"/>
                    <a:gd name="T7" fmla="*/ 0 h 17"/>
                    <a:gd name="T8" fmla="*/ 0 w 1773"/>
                    <a:gd name="T9" fmla="*/ 0 h 17"/>
                    <a:gd name="T10" fmla="*/ 0 w 1773"/>
                    <a:gd name="T11" fmla="*/ 0 h 17"/>
                    <a:gd name="T12" fmla="*/ 0 w 1773"/>
                    <a:gd name="T13" fmla="*/ 0 h 17"/>
                    <a:gd name="T14" fmla="*/ 0 w 1773"/>
                    <a:gd name="T15" fmla="*/ 0 h 17"/>
                    <a:gd name="T16" fmla="*/ 0 w 1773"/>
                    <a:gd name="T17" fmla="*/ 0 h 17"/>
                    <a:gd name="T18" fmla="*/ 0 w 1773"/>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73"/>
                    <a:gd name="T31" fmla="*/ 0 h 17"/>
                    <a:gd name="T32" fmla="*/ 1773 w 1773"/>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73" h="17">
                      <a:moveTo>
                        <a:pt x="0" y="9"/>
                      </a:moveTo>
                      <a:lnTo>
                        <a:pt x="8" y="17"/>
                      </a:lnTo>
                      <a:lnTo>
                        <a:pt x="1773" y="17"/>
                      </a:lnTo>
                      <a:lnTo>
                        <a:pt x="1773" y="0"/>
                      </a:lnTo>
                      <a:lnTo>
                        <a:pt x="8" y="0"/>
                      </a:lnTo>
                      <a:lnTo>
                        <a:pt x="15" y="9"/>
                      </a:lnTo>
                      <a:lnTo>
                        <a:pt x="0" y="9"/>
                      </a:lnTo>
                      <a:lnTo>
                        <a:pt x="0" y="17"/>
                      </a:lnTo>
                      <a:lnTo>
                        <a:pt x="8" y="17"/>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03" name="Freeform 126">
                  <a:extLst>
                    <a:ext uri="{FF2B5EF4-FFF2-40B4-BE49-F238E27FC236}">
                      <a16:creationId xmlns:a16="http://schemas.microsoft.com/office/drawing/2014/main" id="{2DCBE265-9B3D-B5B6-528A-0DE91DA8A032}"/>
                    </a:ext>
                  </a:extLst>
                </p:cNvPr>
                <p:cNvSpPr>
                  <a:spLocks/>
                </p:cNvSpPr>
                <p:nvPr/>
              </p:nvSpPr>
              <p:spPr bwMode="auto">
                <a:xfrm>
                  <a:off x="1968" y="2207"/>
                  <a:ext cx="5" cy="184"/>
                </a:xfrm>
                <a:custGeom>
                  <a:avLst/>
                  <a:gdLst>
                    <a:gd name="T0" fmla="*/ 0 w 15"/>
                    <a:gd name="T1" fmla="*/ 0 h 553"/>
                    <a:gd name="T2" fmla="*/ 0 w 15"/>
                    <a:gd name="T3" fmla="*/ 0 h 553"/>
                    <a:gd name="T4" fmla="*/ 0 w 15"/>
                    <a:gd name="T5" fmla="*/ 0 h 553"/>
                    <a:gd name="T6" fmla="*/ 0 w 15"/>
                    <a:gd name="T7" fmla="*/ 0 h 553"/>
                    <a:gd name="T8" fmla="*/ 0 w 15"/>
                    <a:gd name="T9" fmla="*/ 0 h 553"/>
                    <a:gd name="T10" fmla="*/ 0 w 15"/>
                    <a:gd name="T11" fmla="*/ 0 h 553"/>
                    <a:gd name="T12" fmla="*/ 0 w 15"/>
                    <a:gd name="T13" fmla="*/ 0 h 553"/>
                    <a:gd name="T14" fmla="*/ 0 w 15"/>
                    <a:gd name="T15" fmla="*/ 0 h 553"/>
                    <a:gd name="T16" fmla="*/ 0 w 15"/>
                    <a:gd name="T17" fmla="*/ 0 h 553"/>
                    <a:gd name="T18" fmla="*/ 0 w 1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3"/>
                    <a:gd name="T32" fmla="*/ 15 w 1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3">
                      <a:moveTo>
                        <a:pt x="8" y="0"/>
                      </a:moveTo>
                      <a:lnTo>
                        <a:pt x="0" y="8"/>
                      </a:lnTo>
                      <a:lnTo>
                        <a:pt x="0" y="553"/>
                      </a:lnTo>
                      <a:lnTo>
                        <a:pt x="15" y="553"/>
                      </a:lnTo>
                      <a:lnTo>
                        <a:pt x="15" y="8"/>
                      </a:lnTo>
                      <a:lnTo>
                        <a:pt x="8" y="16"/>
                      </a:lnTo>
                      <a:lnTo>
                        <a:pt x="8" y="0"/>
                      </a:lnTo>
                      <a:lnTo>
                        <a:pt x="0" y="0"/>
                      </a:lnTo>
                      <a:lnTo>
                        <a:pt x="0" y="8"/>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04" name="Line 127">
                  <a:extLst>
                    <a:ext uri="{FF2B5EF4-FFF2-40B4-BE49-F238E27FC236}">
                      <a16:creationId xmlns:a16="http://schemas.microsoft.com/office/drawing/2014/main" id="{D2A3FAB8-E5EB-0912-0A97-D7F3F944E785}"/>
                    </a:ext>
                  </a:extLst>
                </p:cNvPr>
                <p:cNvSpPr>
                  <a:spLocks noChangeShapeType="1"/>
                </p:cNvSpPr>
                <p:nvPr/>
              </p:nvSpPr>
              <p:spPr bwMode="auto">
                <a:xfrm>
                  <a:off x="2195" y="2210"/>
                  <a:ext cx="1" cy="1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5" name="Line 128">
                  <a:extLst>
                    <a:ext uri="{FF2B5EF4-FFF2-40B4-BE49-F238E27FC236}">
                      <a16:creationId xmlns:a16="http://schemas.microsoft.com/office/drawing/2014/main" id="{7898F8F5-A20B-A41B-48EA-804B981E3C67}"/>
                    </a:ext>
                  </a:extLst>
                </p:cNvPr>
                <p:cNvSpPr>
                  <a:spLocks noChangeShapeType="1"/>
                </p:cNvSpPr>
                <p:nvPr/>
              </p:nvSpPr>
              <p:spPr bwMode="auto">
                <a:xfrm>
                  <a:off x="2331" y="2211"/>
                  <a:ext cx="1" cy="1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6" name="Line 129">
                  <a:extLst>
                    <a:ext uri="{FF2B5EF4-FFF2-40B4-BE49-F238E27FC236}">
                      <a16:creationId xmlns:a16="http://schemas.microsoft.com/office/drawing/2014/main" id="{DCA60124-570B-D103-A6EE-4B27F09F5852}"/>
                    </a:ext>
                  </a:extLst>
                </p:cNvPr>
                <p:cNvSpPr>
                  <a:spLocks noChangeShapeType="1"/>
                </p:cNvSpPr>
                <p:nvPr/>
              </p:nvSpPr>
              <p:spPr bwMode="auto">
                <a:xfrm>
                  <a:off x="1972" y="2345"/>
                  <a:ext cx="43"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7" name="Line 130">
                  <a:extLst>
                    <a:ext uri="{FF2B5EF4-FFF2-40B4-BE49-F238E27FC236}">
                      <a16:creationId xmlns:a16="http://schemas.microsoft.com/office/drawing/2014/main" id="{3401A73F-E865-85EB-8528-02F704F46A8F}"/>
                    </a:ext>
                  </a:extLst>
                </p:cNvPr>
                <p:cNvSpPr>
                  <a:spLocks noChangeShapeType="1"/>
                </p:cNvSpPr>
                <p:nvPr/>
              </p:nvSpPr>
              <p:spPr bwMode="auto">
                <a:xfrm>
                  <a:off x="1971" y="2290"/>
                  <a:ext cx="93" cy="1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8" name="Line 131">
                  <a:extLst>
                    <a:ext uri="{FF2B5EF4-FFF2-40B4-BE49-F238E27FC236}">
                      <a16:creationId xmlns:a16="http://schemas.microsoft.com/office/drawing/2014/main" id="{36E312A4-2B78-BC44-9501-B94DE2B8BEA8}"/>
                    </a:ext>
                  </a:extLst>
                </p:cNvPr>
                <p:cNvSpPr>
                  <a:spLocks noChangeShapeType="1"/>
                </p:cNvSpPr>
                <p:nvPr/>
              </p:nvSpPr>
              <p:spPr bwMode="auto">
                <a:xfrm>
                  <a:off x="1971" y="2230"/>
                  <a:ext cx="144"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9" name="Line 132">
                  <a:extLst>
                    <a:ext uri="{FF2B5EF4-FFF2-40B4-BE49-F238E27FC236}">
                      <a16:creationId xmlns:a16="http://schemas.microsoft.com/office/drawing/2014/main" id="{66F48D62-CBCA-6E45-7903-3D4FBC54C8E7}"/>
                    </a:ext>
                  </a:extLst>
                </p:cNvPr>
                <p:cNvSpPr>
                  <a:spLocks noChangeShapeType="1"/>
                </p:cNvSpPr>
                <p:nvPr/>
              </p:nvSpPr>
              <p:spPr bwMode="auto">
                <a:xfrm>
                  <a:off x="2017" y="2206"/>
                  <a:ext cx="168" cy="18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0" name="Line 133">
                  <a:extLst>
                    <a:ext uri="{FF2B5EF4-FFF2-40B4-BE49-F238E27FC236}">
                      <a16:creationId xmlns:a16="http://schemas.microsoft.com/office/drawing/2014/main" id="{AA2A535D-619E-523B-8412-59416F7DD964}"/>
                    </a:ext>
                  </a:extLst>
                </p:cNvPr>
                <p:cNvSpPr>
                  <a:spLocks noChangeShapeType="1"/>
                </p:cNvSpPr>
                <p:nvPr/>
              </p:nvSpPr>
              <p:spPr bwMode="auto">
                <a:xfrm>
                  <a:off x="2082" y="2212"/>
                  <a:ext cx="115" cy="1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1" name="Line 134">
                  <a:extLst>
                    <a:ext uri="{FF2B5EF4-FFF2-40B4-BE49-F238E27FC236}">
                      <a16:creationId xmlns:a16="http://schemas.microsoft.com/office/drawing/2014/main" id="{8908DBB2-2633-A599-0C39-9964C312C1D2}"/>
                    </a:ext>
                  </a:extLst>
                </p:cNvPr>
                <p:cNvSpPr>
                  <a:spLocks noChangeShapeType="1"/>
                </p:cNvSpPr>
                <p:nvPr/>
              </p:nvSpPr>
              <p:spPr bwMode="auto">
                <a:xfrm>
                  <a:off x="2452" y="2212"/>
                  <a:ext cx="103" cy="1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Line 135">
                  <a:extLst>
                    <a:ext uri="{FF2B5EF4-FFF2-40B4-BE49-F238E27FC236}">
                      <a16:creationId xmlns:a16="http://schemas.microsoft.com/office/drawing/2014/main" id="{87BCCC56-9829-FDEE-ECA2-D1D5FB481823}"/>
                    </a:ext>
                  </a:extLst>
                </p:cNvPr>
                <p:cNvSpPr>
                  <a:spLocks noChangeShapeType="1"/>
                </p:cNvSpPr>
                <p:nvPr/>
              </p:nvSpPr>
              <p:spPr bwMode="auto">
                <a:xfrm>
                  <a:off x="2513" y="2209"/>
                  <a:ext cx="46" cy="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3" name="Line 136">
                  <a:extLst>
                    <a:ext uri="{FF2B5EF4-FFF2-40B4-BE49-F238E27FC236}">
                      <a16:creationId xmlns:a16="http://schemas.microsoft.com/office/drawing/2014/main" id="{5223C3BA-3BF1-5142-2F97-16E23AD3F8A7}"/>
                    </a:ext>
                  </a:extLst>
                </p:cNvPr>
                <p:cNvSpPr>
                  <a:spLocks noChangeShapeType="1"/>
                </p:cNvSpPr>
                <p:nvPr/>
              </p:nvSpPr>
              <p:spPr bwMode="auto">
                <a:xfrm>
                  <a:off x="2380" y="2214"/>
                  <a:ext cx="163"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Line 137">
                  <a:extLst>
                    <a:ext uri="{FF2B5EF4-FFF2-40B4-BE49-F238E27FC236}">
                      <a16:creationId xmlns:a16="http://schemas.microsoft.com/office/drawing/2014/main" id="{685D72F7-0D58-DA31-3533-6D4C26AB1D50}"/>
                    </a:ext>
                  </a:extLst>
                </p:cNvPr>
                <p:cNvSpPr>
                  <a:spLocks noChangeShapeType="1"/>
                </p:cNvSpPr>
                <p:nvPr/>
              </p:nvSpPr>
              <p:spPr bwMode="auto">
                <a:xfrm>
                  <a:off x="2333" y="2234"/>
                  <a:ext cx="146" cy="1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5" name="Line 138">
                  <a:extLst>
                    <a:ext uri="{FF2B5EF4-FFF2-40B4-BE49-F238E27FC236}">
                      <a16:creationId xmlns:a16="http://schemas.microsoft.com/office/drawing/2014/main" id="{CFF7EFA9-8D19-586E-31A0-4256D63C9A03}"/>
                    </a:ext>
                  </a:extLst>
                </p:cNvPr>
                <p:cNvSpPr>
                  <a:spLocks noChangeShapeType="1"/>
                </p:cNvSpPr>
                <p:nvPr/>
              </p:nvSpPr>
              <p:spPr bwMode="auto">
                <a:xfrm>
                  <a:off x="2332" y="2308"/>
                  <a:ext cx="78" cy="8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Line 247">
                  <a:extLst>
                    <a:ext uri="{FF2B5EF4-FFF2-40B4-BE49-F238E27FC236}">
                      <a16:creationId xmlns:a16="http://schemas.microsoft.com/office/drawing/2014/main" id="{DB79E622-8240-F048-07FE-A059FF1880B8}"/>
                    </a:ext>
                  </a:extLst>
                </p:cNvPr>
                <p:cNvSpPr>
                  <a:spLocks noChangeShapeType="1"/>
                </p:cNvSpPr>
                <p:nvPr/>
              </p:nvSpPr>
              <p:spPr bwMode="auto">
                <a:xfrm>
                  <a:off x="2146" y="2210"/>
                  <a:ext cx="51" cy="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7" name="Line 248">
                  <a:extLst>
                    <a:ext uri="{FF2B5EF4-FFF2-40B4-BE49-F238E27FC236}">
                      <a16:creationId xmlns:a16="http://schemas.microsoft.com/office/drawing/2014/main" id="{5EBDB509-B3CC-D3DE-6822-10FE39DA8568}"/>
                    </a:ext>
                  </a:extLst>
                </p:cNvPr>
                <p:cNvSpPr>
                  <a:spLocks noChangeShapeType="1"/>
                </p:cNvSpPr>
                <p:nvPr/>
              </p:nvSpPr>
              <p:spPr bwMode="auto">
                <a:xfrm>
                  <a:off x="2331" y="2369"/>
                  <a:ext cx="20"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nvGrpSpPr>
            <p:cNvPr id="226" name="Group 292">
              <a:extLst>
                <a:ext uri="{FF2B5EF4-FFF2-40B4-BE49-F238E27FC236}">
                  <a16:creationId xmlns:a16="http://schemas.microsoft.com/office/drawing/2014/main" id="{BF595C03-3E15-C9C7-C2D9-B48057E42ABE}"/>
                </a:ext>
              </a:extLst>
            </p:cNvPr>
            <p:cNvGrpSpPr>
              <a:grpSpLocks/>
            </p:cNvGrpSpPr>
            <p:nvPr/>
          </p:nvGrpSpPr>
          <p:grpSpPr bwMode="auto">
            <a:xfrm>
              <a:off x="5191125" y="1641475"/>
              <a:ext cx="942975" cy="1073150"/>
              <a:chOff x="2965" y="2219"/>
              <a:chExt cx="594" cy="676"/>
            </a:xfrm>
          </p:grpSpPr>
          <p:grpSp>
            <p:nvGrpSpPr>
              <p:cNvPr id="227" name="Group 291">
                <a:extLst>
                  <a:ext uri="{FF2B5EF4-FFF2-40B4-BE49-F238E27FC236}">
                    <a16:creationId xmlns:a16="http://schemas.microsoft.com/office/drawing/2014/main" id="{059B394A-6576-49E3-9B7C-2B4812B26512}"/>
                  </a:ext>
                </a:extLst>
              </p:cNvPr>
              <p:cNvGrpSpPr>
                <a:grpSpLocks/>
              </p:cNvGrpSpPr>
              <p:nvPr/>
            </p:nvGrpSpPr>
            <p:grpSpPr bwMode="auto">
              <a:xfrm>
                <a:off x="3202" y="2511"/>
                <a:ext cx="124" cy="384"/>
                <a:chOff x="3202" y="2511"/>
                <a:chExt cx="124" cy="384"/>
              </a:xfrm>
            </p:grpSpPr>
            <p:sp>
              <p:nvSpPr>
                <p:cNvPr id="254" name="AutoShape 178">
                  <a:extLst>
                    <a:ext uri="{FF2B5EF4-FFF2-40B4-BE49-F238E27FC236}">
                      <a16:creationId xmlns:a16="http://schemas.microsoft.com/office/drawing/2014/main" id="{DABA7957-D99B-DB4C-5F14-CC19236BA9D1}"/>
                    </a:ext>
                  </a:extLst>
                </p:cNvPr>
                <p:cNvSpPr>
                  <a:spLocks noChangeArrowheads="1"/>
                </p:cNvSpPr>
                <p:nvPr/>
              </p:nvSpPr>
              <p:spPr bwMode="auto">
                <a:xfrm>
                  <a:off x="3204" y="2511"/>
                  <a:ext cx="120" cy="384"/>
                </a:xfrm>
                <a:prstGeom prst="roundRect">
                  <a:avLst>
                    <a:gd name="adj" fmla="val 27907"/>
                  </a:avLst>
                </a:prstGeom>
                <a:noFill/>
                <a:ln w="31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55" name="Line 181">
                  <a:extLst>
                    <a:ext uri="{FF2B5EF4-FFF2-40B4-BE49-F238E27FC236}">
                      <a16:creationId xmlns:a16="http://schemas.microsoft.com/office/drawing/2014/main" id="{84EF111B-7A3F-4631-5110-5323463BD1EB}"/>
                    </a:ext>
                  </a:extLst>
                </p:cNvPr>
                <p:cNvSpPr>
                  <a:spLocks noChangeShapeType="1"/>
                </p:cNvSpPr>
                <p:nvPr/>
              </p:nvSpPr>
              <p:spPr bwMode="auto">
                <a:xfrm>
                  <a:off x="3202" y="2573"/>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6" name="Line 183">
                  <a:extLst>
                    <a:ext uri="{FF2B5EF4-FFF2-40B4-BE49-F238E27FC236}">
                      <a16:creationId xmlns:a16="http://schemas.microsoft.com/office/drawing/2014/main" id="{3DC083DB-308D-829E-C9AA-BEEDF5DEE0E8}"/>
                    </a:ext>
                  </a:extLst>
                </p:cNvPr>
                <p:cNvSpPr>
                  <a:spLocks noChangeShapeType="1"/>
                </p:cNvSpPr>
                <p:nvPr/>
              </p:nvSpPr>
              <p:spPr bwMode="auto">
                <a:xfrm>
                  <a:off x="3202" y="2589"/>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7" name="Line 184">
                  <a:extLst>
                    <a:ext uri="{FF2B5EF4-FFF2-40B4-BE49-F238E27FC236}">
                      <a16:creationId xmlns:a16="http://schemas.microsoft.com/office/drawing/2014/main" id="{A58F4C65-7F6B-8D5A-F8E7-D1909A9470DD}"/>
                    </a:ext>
                  </a:extLst>
                </p:cNvPr>
                <p:cNvSpPr>
                  <a:spLocks noChangeShapeType="1"/>
                </p:cNvSpPr>
                <p:nvPr/>
              </p:nvSpPr>
              <p:spPr bwMode="auto">
                <a:xfrm>
                  <a:off x="3202" y="2605"/>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8" name="Line 185">
                  <a:extLst>
                    <a:ext uri="{FF2B5EF4-FFF2-40B4-BE49-F238E27FC236}">
                      <a16:creationId xmlns:a16="http://schemas.microsoft.com/office/drawing/2014/main" id="{01B5CF0B-8321-9040-3E39-9B741DE73E54}"/>
                    </a:ext>
                  </a:extLst>
                </p:cNvPr>
                <p:cNvSpPr>
                  <a:spLocks noChangeShapeType="1"/>
                </p:cNvSpPr>
                <p:nvPr/>
              </p:nvSpPr>
              <p:spPr bwMode="auto">
                <a:xfrm>
                  <a:off x="3202" y="2621"/>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9" name="Line 186">
                  <a:extLst>
                    <a:ext uri="{FF2B5EF4-FFF2-40B4-BE49-F238E27FC236}">
                      <a16:creationId xmlns:a16="http://schemas.microsoft.com/office/drawing/2014/main" id="{4D99367F-C687-264E-3BD4-987388D5DA27}"/>
                    </a:ext>
                  </a:extLst>
                </p:cNvPr>
                <p:cNvSpPr>
                  <a:spLocks noChangeShapeType="1"/>
                </p:cNvSpPr>
                <p:nvPr/>
              </p:nvSpPr>
              <p:spPr bwMode="auto">
                <a:xfrm>
                  <a:off x="3202" y="2637"/>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0" name="Line 187">
                  <a:extLst>
                    <a:ext uri="{FF2B5EF4-FFF2-40B4-BE49-F238E27FC236}">
                      <a16:creationId xmlns:a16="http://schemas.microsoft.com/office/drawing/2014/main" id="{83057E39-6183-C346-00A0-0FA55DEE08BD}"/>
                    </a:ext>
                  </a:extLst>
                </p:cNvPr>
                <p:cNvSpPr>
                  <a:spLocks noChangeShapeType="1"/>
                </p:cNvSpPr>
                <p:nvPr/>
              </p:nvSpPr>
              <p:spPr bwMode="auto">
                <a:xfrm>
                  <a:off x="3202" y="2653"/>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1" name="Line 188">
                  <a:extLst>
                    <a:ext uri="{FF2B5EF4-FFF2-40B4-BE49-F238E27FC236}">
                      <a16:creationId xmlns:a16="http://schemas.microsoft.com/office/drawing/2014/main" id="{F3450996-77EC-0323-CA1E-28AA77D8FD73}"/>
                    </a:ext>
                  </a:extLst>
                </p:cNvPr>
                <p:cNvSpPr>
                  <a:spLocks noChangeShapeType="1"/>
                </p:cNvSpPr>
                <p:nvPr/>
              </p:nvSpPr>
              <p:spPr bwMode="auto">
                <a:xfrm>
                  <a:off x="3202" y="2669"/>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2" name="Line 189">
                  <a:extLst>
                    <a:ext uri="{FF2B5EF4-FFF2-40B4-BE49-F238E27FC236}">
                      <a16:creationId xmlns:a16="http://schemas.microsoft.com/office/drawing/2014/main" id="{53060E8C-1C16-77F1-4C0D-44A2FD2D7F35}"/>
                    </a:ext>
                  </a:extLst>
                </p:cNvPr>
                <p:cNvSpPr>
                  <a:spLocks noChangeShapeType="1"/>
                </p:cNvSpPr>
                <p:nvPr/>
              </p:nvSpPr>
              <p:spPr bwMode="auto">
                <a:xfrm>
                  <a:off x="3202" y="2685"/>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3" name="Line 190">
                  <a:extLst>
                    <a:ext uri="{FF2B5EF4-FFF2-40B4-BE49-F238E27FC236}">
                      <a16:creationId xmlns:a16="http://schemas.microsoft.com/office/drawing/2014/main" id="{7E84F8BD-9F55-A946-A169-9B626F45206E}"/>
                    </a:ext>
                  </a:extLst>
                </p:cNvPr>
                <p:cNvSpPr>
                  <a:spLocks noChangeShapeType="1"/>
                </p:cNvSpPr>
                <p:nvPr/>
              </p:nvSpPr>
              <p:spPr bwMode="auto">
                <a:xfrm>
                  <a:off x="3202" y="2701"/>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4" name="Line 191">
                  <a:extLst>
                    <a:ext uri="{FF2B5EF4-FFF2-40B4-BE49-F238E27FC236}">
                      <a16:creationId xmlns:a16="http://schemas.microsoft.com/office/drawing/2014/main" id="{EFF8D941-5D6D-ACDE-BEEA-9C9FBC589A85}"/>
                    </a:ext>
                  </a:extLst>
                </p:cNvPr>
                <p:cNvSpPr>
                  <a:spLocks noChangeShapeType="1"/>
                </p:cNvSpPr>
                <p:nvPr/>
              </p:nvSpPr>
              <p:spPr bwMode="auto">
                <a:xfrm>
                  <a:off x="3202" y="2717"/>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5" name="Line 192">
                  <a:extLst>
                    <a:ext uri="{FF2B5EF4-FFF2-40B4-BE49-F238E27FC236}">
                      <a16:creationId xmlns:a16="http://schemas.microsoft.com/office/drawing/2014/main" id="{52C88309-DABB-4517-26FE-59AC0438BA4A}"/>
                    </a:ext>
                  </a:extLst>
                </p:cNvPr>
                <p:cNvSpPr>
                  <a:spLocks noChangeShapeType="1"/>
                </p:cNvSpPr>
                <p:nvPr/>
              </p:nvSpPr>
              <p:spPr bwMode="auto">
                <a:xfrm>
                  <a:off x="3202" y="2733"/>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6" name="Line 193">
                  <a:extLst>
                    <a:ext uri="{FF2B5EF4-FFF2-40B4-BE49-F238E27FC236}">
                      <a16:creationId xmlns:a16="http://schemas.microsoft.com/office/drawing/2014/main" id="{AAF4773B-2989-4CE4-DC6F-AEDDF7E435B6}"/>
                    </a:ext>
                  </a:extLst>
                </p:cNvPr>
                <p:cNvSpPr>
                  <a:spLocks noChangeShapeType="1"/>
                </p:cNvSpPr>
                <p:nvPr/>
              </p:nvSpPr>
              <p:spPr bwMode="auto">
                <a:xfrm>
                  <a:off x="3202" y="2749"/>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7" name="Line 194">
                  <a:extLst>
                    <a:ext uri="{FF2B5EF4-FFF2-40B4-BE49-F238E27FC236}">
                      <a16:creationId xmlns:a16="http://schemas.microsoft.com/office/drawing/2014/main" id="{E55DC9B7-31EB-2993-0D20-04DBDD63D963}"/>
                    </a:ext>
                  </a:extLst>
                </p:cNvPr>
                <p:cNvSpPr>
                  <a:spLocks noChangeShapeType="1"/>
                </p:cNvSpPr>
                <p:nvPr/>
              </p:nvSpPr>
              <p:spPr bwMode="auto">
                <a:xfrm>
                  <a:off x="3202" y="2765"/>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8" name="Line 195">
                  <a:extLst>
                    <a:ext uri="{FF2B5EF4-FFF2-40B4-BE49-F238E27FC236}">
                      <a16:creationId xmlns:a16="http://schemas.microsoft.com/office/drawing/2014/main" id="{FAB7EDA5-4382-9F33-1B87-43050CA2D7C5}"/>
                    </a:ext>
                  </a:extLst>
                </p:cNvPr>
                <p:cNvSpPr>
                  <a:spLocks noChangeShapeType="1"/>
                </p:cNvSpPr>
                <p:nvPr/>
              </p:nvSpPr>
              <p:spPr bwMode="auto">
                <a:xfrm>
                  <a:off x="3202" y="2781"/>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9" name="Line 196">
                  <a:extLst>
                    <a:ext uri="{FF2B5EF4-FFF2-40B4-BE49-F238E27FC236}">
                      <a16:creationId xmlns:a16="http://schemas.microsoft.com/office/drawing/2014/main" id="{5FD33CB6-4522-17FC-30DA-FB7BFC37C73F}"/>
                    </a:ext>
                  </a:extLst>
                </p:cNvPr>
                <p:cNvSpPr>
                  <a:spLocks noChangeShapeType="1"/>
                </p:cNvSpPr>
                <p:nvPr/>
              </p:nvSpPr>
              <p:spPr bwMode="auto">
                <a:xfrm>
                  <a:off x="3202" y="2797"/>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0" name="Line 197">
                  <a:extLst>
                    <a:ext uri="{FF2B5EF4-FFF2-40B4-BE49-F238E27FC236}">
                      <a16:creationId xmlns:a16="http://schemas.microsoft.com/office/drawing/2014/main" id="{DB4EF463-BAE1-6E5E-C882-99400411FBFE}"/>
                    </a:ext>
                  </a:extLst>
                </p:cNvPr>
                <p:cNvSpPr>
                  <a:spLocks noChangeShapeType="1"/>
                </p:cNvSpPr>
                <p:nvPr/>
              </p:nvSpPr>
              <p:spPr bwMode="auto">
                <a:xfrm>
                  <a:off x="3202" y="2813"/>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1" name="Line 198">
                  <a:extLst>
                    <a:ext uri="{FF2B5EF4-FFF2-40B4-BE49-F238E27FC236}">
                      <a16:creationId xmlns:a16="http://schemas.microsoft.com/office/drawing/2014/main" id="{302F790D-5899-BECC-6AB7-9F15EC06A192}"/>
                    </a:ext>
                  </a:extLst>
                </p:cNvPr>
                <p:cNvSpPr>
                  <a:spLocks noChangeShapeType="1"/>
                </p:cNvSpPr>
                <p:nvPr/>
              </p:nvSpPr>
              <p:spPr bwMode="auto">
                <a:xfrm>
                  <a:off x="3202" y="2829"/>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2" name="Line 199">
                  <a:extLst>
                    <a:ext uri="{FF2B5EF4-FFF2-40B4-BE49-F238E27FC236}">
                      <a16:creationId xmlns:a16="http://schemas.microsoft.com/office/drawing/2014/main" id="{E0DCA1DE-10CD-127A-BACB-19C8C2477F43}"/>
                    </a:ext>
                  </a:extLst>
                </p:cNvPr>
                <p:cNvSpPr>
                  <a:spLocks noChangeShapeType="1"/>
                </p:cNvSpPr>
                <p:nvPr/>
              </p:nvSpPr>
              <p:spPr bwMode="auto">
                <a:xfrm>
                  <a:off x="3202" y="2845"/>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3" name="Line 200">
                  <a:extLst>
                    <a:ext uri="{FF2B5EF4-FFF2-40B4-BE49-F238E27FC236}">
                      <a16:creationId xmlns:a16="http://schemas.microsoft.com/office/drawing/2014/main" id="{6E7FE404-ECDE-8EFD-0492-436730E68861}"/>
                    </a:ext>
                  </a:extLst>
                </p:cNvPr>
                <p:cNvSpPr>
                  <a:spLocks noChangeShapeType="1"/>
                </p:cNvSpPr>
                <p:nvPr/>
              </p:nvSpPr>
              <p:spPr bwMode="auto">
                <a:xfrm>
                  <a:off x="3202" y="2861"/>
                  <a:ext cx="124" cy="12"/>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228" name="Group 290">
                <a:extLst>
                  <a:ext uri="{FF2B5EF4-FFF2-40B4-BE49-F238E27FC236}">
                    <a16:creationId xmlns:a16="http://schemas.microsoft.com/office/drawing/2014/main" id="{B5ECBA2D-4285-7791-66CF-7089E1642542}"/>
                  </a:ext>
                </a:extLst>
              </p:cNvPr>
              <p:cNvGrpSpPr>
                <a:grpSpLocks/>
              </p:cNvGrpSpPr>
              <p:nvPr/>
            </p:nvGrpSpPr>
            <p:grpSpPr bwMode="auto">
              <a:xfrm>
                <a:off x="3089" y="2404"/>
                <a:ext cx="343" cy="166"/>
                <a:chOff x="3089" y="2404"/>
                <a:chExt cx="343" cy="166"/>
              </a:xfrm>
            </p:grpSpPr>
            <p:sp>
              <p:nvSpPr>
                <p:cNvPr id="248" name="Freeform 168">
                  <a:extLst>
                    <a:ext uri="{FF2B5EF4-FFF2-40B4-BE49-F238E27FC236}">
                      <a16:creationId xmlns:a16="http://schemas.microsoft.com/office/drawing/2014/main" id="{33BCA33A-6F8A-C3F8-B5C7-3DEA7144371B}"/>
                    </a:ext>
                  </a:extLst>
                </p:cNvPr>
                <p:cNvSpPr>
                  <a:spLocks/>
                </p:cNvSpPr>
                <p:nvPr/>
              </p:nvSpPr>
              <p:spPr bwMode="auto">
                <a:xfrm>
                  <a:off x="3149" y="2429"/>
                  <a:ext cx="223" cy="141"/>
                </a:xfrm>
                <a:custGeom>
                  <a:avLst/>
                  <a:gdLst>
                    <a:gd name="T0" fmla="*/ 0 w 667"/>
                    <a:gd name="T1" fmla="*/ 0 h 424"/>
                    <a:gd name="T2" fmla="*/ 0 w 667"/>
                    <a:gd name="T3" fmla="*/ 0 h 424"/>
                    <a:gd name="T4" fmla="*/ 0 w 667"/>
                    <a:gd name="T5" fmla="*/ 0 h 424"/>
                    <a:gd name="T6" fmla="*/ 0 w 667"/>
                    <a:gd name="T7" fmla="*/ 0 h 424"/>
                    <a:gd name="T8" fmla="*/ 0 w 667"/>
                    <a:gd name="T9" fmla="*/ 0 h 424"/>
                    <a:gd name="T10" fmla="*/ 0 w 667"/>
                    <a:gd name="T11" fmla="*/ 0 h 424"/>
                    <a:gd name="T12" fmla="*/ 0 w 667"/>
                    <a:gd name="T13" fmla="*/ 0 h 424"/>
                    <a:gd name="T14" fmla="*/ 0 w 667"/>
                    <a:gd name="T15" fmla="*/ 0 h 424"/>
                    <a:gd name="T16" fmla="*/ 0 w 667"/>
                    <a:gd name="T17" fmla="*/ 0 h 424"/>
                    <a:gd name="T18" fmla="*/ 0 w 667"/>
                    <a:gd name="T19" fmla="*/ 0 h 424"/>
                    <a:gd name="T20" fmla="*/ 0 w 667"/>
                    <a:gd name="T21" fmla="*/ 0 h 424"/>
                    <a:gd name="T22" fmla="*/ 0 w 667"/>
                    <a:gd name="T23" fmla="*/ 0 h 424"/>
                    <a:gd name="T24" fmla="*/ 0 w 667"/>
                    <a:gd name="T25" fmla="*/ 0 h 424"/>
                    <a:gd name="T26" fmla="*/ 0 w 667"/>
                    <a:gd name="T27" fmla="*/ 0 h 424"/>
                    <a:gd name="T28" fmla="*/ 0 w 667"/>
                    <a:gd name="T29" fmla="*/ 0 h 424"/>
                    <a:gd name="T30" fmla="*/ 0 w 667"/>
                    <a:gd name="T31" fmla="*/ 0 h 424"/>
                    <a:gd name="T32" fmla="*/ 0 w 667"/>
                    <a:gd name="T33" fmla="*/ 0 h 424"/>
                    <a:gd name="T34" fmla="*/ 0 w 667"/>
                    <a:gd name="T35" fmla="*/ 0 h 424"/>
                    <a:gd name="T36" fmla="*/ 0 w 667"/>
                    <a:gd name="T37" fmla="*/ 0 h 424"/>
                    <a:gd name="T38" fmla="*/ 0 w 667"/>
                    <a:gd name="T39" fmla="*/ 0 h 424"/>
                    <a:gd name="T40" fmla="*/ 0 w 667"/>
                    <a:gd name="T41" fmla="*/ 0 h 424"/>
                    <a:gd name="T42" fmla="*/ 0 w 667"/>
                    <a:gd name="T43" fmla="*/ 0 h 424"/>
                    <a:gd name="T44" fmla="*/ 0 w 667"/>
                    <a:gd name="T45" fmla="*/ 0 h 424"/>
                    <a:gd name="T46" fmla="*/ 0 w 667"/>
                    <a:gd name="T47" fmla="*/ 0 h 424"/>
                    <a:gd name="T48" fmla="*/ 0 w 667"/>
                    <a:gd name="T49" fmla="*/ 0 h 424"/>
                    <a:gd name="T50" fmla="*/ 0 w 667"/>
                    <a:gd name="T51" fmla="*/ 0 h 424"/>
                    <a:gd name="T52" fmla="*/ 0 w 667"/>
                    <a:gd name="T53" fmla="*/ 0 h 424"/>
                    <a:gd name="T54" fmla="*/ 0 w 667"/>
                    <a:gd name="T55" fmla="*/ 0 h 424"/>
                    <a:gd name="T56" fmla="*/ 0 w 667"/>
                    <a:gd name="T57" fmla="*/ 0 h 424"/>
                    <a:gd name="T58" fmla="*/ 0 w 667"/>
                    <a:gd name="T59" fmla="*/ 0 h 424"/>
                    <a:gd name="T60" fmla="*/ 0 w 667"/>
                    <a:gd name="T61" fmla="*/ 0 h 424"/>
                    <a:gd name="T62" fmla="*/ 0 w 667"/>
                    <a:gd name="T63" fmla="*/ 0 h 424"/>
                    <a:gd name="T64" fmla="*/ 0 w 667"/>
                    <a:gd name="T65" fmla="*/ 0 h 424"/>
                    <a:gd name="T66" fmla="*/ 0 w 667"/>
                    <a:gd name="T67" fmla="*/ 0 h 424"/>
                    <a:gd name="T68" fmla="*/ 0 w 667"/>
                    <a:gd name="T69" fmla="*/ 0 h 424"/>
                    <a:gd name="T70" fmla="*/ 0 w 667"/>
                    <a:gd name="T71" fmla="*/ 0 h 424"/>
                    <a:gd name="T72" fmla="*/ 0 w 667"/>
                    <a:gd name="T73" fmla="*/ 0 h 42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67"/>
                    <a:gd name="T112" fmla="*/ 0 h 424"/>
                    <a:gd name="T113" fmla="*/ 667 w 667"/>
                    <a:gd name="T114" fmla="*/ 424 h 424"/>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67" h="424">
                      <a:moveTo>
                        <a:pt x="57" y="0"/>
                      </a:moveTo>
                      <a:lnTo>
                        <a:pt x="612" y="0"/>
                      </a:lnTo>
                      <a:lnTo>
                        <a:pt x="623" y="2"/>
                      </a:lnTo>
                      <a:lnTo>
                        <a:pt x="633" y="6"/>
                      </a:lnTo>
                      <a:lnTo>
                        <a:pt x="642" y="11"/>
                      </a:lnTo>
                      <a:lnTo>
                        <a:pt x="651" y="18"/>
                      </a:lnTo>
                      <a:lnTo>
                        <a:pt x="657" y="27"/>
                      </a:lnTo>
                      <a:lnTo>
                        <a:pt x="663" y="37"/>
                      </a:lnTo>
                      <a:lnTo>
                        <a:pt x="666" y="49"/>
                      </a:lnTo>
                      <a:lnTo>
                        <a:pt x="667" y="61"/>
                      </a:lnTo>
                      <a:lnTo>
                        <a:pt x="667" y="363"/>
                      </a:lnTo>
                      <a:lnTo>
                        <a:pt x="666" y="375"/>
                      </a:lnTo>
                      <a:lnTo>
                        <a:pt x="663" y="387"/>
                      </a:lnTo>
                      <a:lnTo>
                        <a:pt x="657" y="397"/>
                      </a:lnTo>
                      <a:lnTo>
                        <a:pt x="651" y="406"/>
                      </a:lnTo>
                      <a:lnTo>
                        <a:pt x="642" y="413"/>
                      </a:lnTo>
                      <a:lnTo>
                        <a:pt x="633" y="419"/>
                      </a:lnTo>
                      <a:lnTo>
                        <a:pt x="623" y="423"/>
                      </a:lnTo>
                      <a:lnTo>
                        <a:pt x="612" y="424"/>
                      </a:lnTo>
                      <a:lnTo>
                        <a:pt x="57" y="424"/>
                      </a:lnTo>
                      <a:lnTo>
                        <a:pt x="45" y="423"/>
                      </a:lnTo>
                      <a:lnTo>
                        <a:pt x="34" y="419"/>
                      </a:lnTo>
                      <a:lnTo>
                        <a:pt x="25" y="413"/>
                      </a:lnTo>
                      <a:lnTo>
                        <a:pt x="16" y="406"/>
                      </a:lnTo>
                      <a:lnTo>
                        <a:pt x="10" y="397"/>
                      </a:lnTo>
                      <a:lnTo>
                        <a:pt x="5" y="387"/>
                      </a:lnTo>
                      <a:lnTo>
                        <a:pt x="1" y="375"/>
                      </a:lnTo>
                      <a:lnTo>
                        <a:pt x="0" y="363"/>
                      </a:lnTo>
                      <a:lnTo>
                        <a:pt x="0" y="61"/>
                      </a:lnTo>
                      <a:lnTo>
                        <a:pt x="1" y="49"/>
                      </a:lnTo>
                      <a:lnTo>
                        <a:pt x="5" y="37"/>
                      </a:lnTo>
                      <a:lnTo>
                        <a:pt x="10" y="27"/>
                      </a:lnTo>
                      <a:lnTo>
                        <a:pt x="16" y="18"/>
                      </a:lnTo>
                      <a:lnTo>
                        <a:pt x="25" y="11"/>
                      </a:lnTo>
                      <a:lnTo>
                        <a:pt x="34" y="6"/>
                      </a:lnTo>
                      <a:lnTo>
                        <a:pt x="45" y="2"/>
                      </a:lnTo>
                      <a:lnTo>
                        <a:pt x="5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49" name="Freeform 169">
                  <a:extLst>
                    <a:ext uri="{FF2B5EF4-FFF2-40B4-BE49-F238E27FC236}">
                      <a16:creationId xmlns:a16="http://schemas.microsoft.com/office/drawing/2014/main" id="{1D8F43D5-BC21-4DCC-4327-3610B71F33B9}"/>
                    </a:ext>
                  </a:extLst>
                </p:cNvPr>
                <p:cNvSpPr>
                  <a:spLocks/>
                </p:cNvSpPr>
                <p:nvPr/>
              </p:nvSpPr>
              <p:spPr bwMode="auto">
                <a:xfrm>
                  <a:off x="3149" y="2429"/>
                  <a:ext cx="223" cy="141"/>
                </a:xfrm>
                <a:custGeom>
                  <a:avLst/>
                  <a:gdLst>
                    <a:gd name="T0" fmla="*/ 0 w 667"/>
                    <a:gd name="T1" fmla="*/ 0 h 424"/>
                    <a:gd name="T2" fmla="*/ 0 w 667"/>
                    <a:gd name="T3" fmla="*/ 0 h 424"/>
                    <a:gd name="T4" fmla="*/ 0 w 667"/>
                    <a:gd name="T5" fmla="*/ 0 h 424"/>
                    <a:gd name="T6" fmla="*/ 0 w 667"/>
                    <a:gd name="T7" fmla="*/ 0 h 424"/>
                    <a:gd name="T8" fmla="*/ 0 w 667"/>
                    <a:gd name="T9" fmla="*/ 0 h 424"/>
                    <a:gd name="T10" fmla="*/ 0 w 667"/>
                    <a:gd name="T11" fmla="*/ 0 h 424"/>
                    <a:gd name="T12" fmla="*/ 0 w 667"/>
                    <a:gd name="T13" fmla="*/ 0 h 424"/>
                    <a:gd name="T14" fmla="*/ 0 w 667"/>
                    <a:gd name="T15" fmla="*/ 0 h 424"/>
                    <a:gd name="T16" fmla="*/ 0 w 667"/>
                    <a:gd name="T17" fmla="*/ 0 h 424"/>
                    <a:gd name="T18" fmla="*/ 0 w 667"/>
                    <a:gd name="T19" fmla="*/ 0 h 424"/>
                    <a:gd name="T20" fmla="*/ 0 w 667"/>
                    <a:gd name="T21" fmla="*/ 0 h 424"/>
                    <a:gd name="T22" fmla="*/ 0 w 667"/>
                    <a:gd name="T23" fmla="*/ 0 h 424"/>
                    <a:gd name="T24" fmla="*/ 0 w 667"/>
                    <a:gd name="T25" fmla="*/ 0 h 424"/>
                    <a:gd name="T26" fmla="*/ 0 w 667"/>
                    <a:gd name="T27" fmla="*/ 0 h 424"/>
                    <a:gd name="T28" fmla="*/ 0 w 667"/>
                    <a:gd name="T29" fmla="*/ 0 h 424"/>
                    <a:gd name="T30" fmla="*/ 0 w 667"/>
                    <a:gd name="T31" fmla="*/ 0 h 424"/>
                    <a:gd name="T32" fmla="*/ 0 w 667"/>
                    <a:gd name="T33" fmla="*/ 0 h 424"/>
                    <a:gd name="T34" fmla="*/ 0 w 667"/>
                    <a:gd name="T35" fmla="*/ 0 h 424"/>
                    <a:gd name="T36" fmla="*/ 0 w 667"/>
                    <a:gd name="T37" fmla="*/ 0 h 424"/>
                    <a:gd name="T38" fmla="*/ 0 w 667"/>
                    <a:gd name="T39" fmla="*/ 0 h 424"/>
                    <a:gd name="T40" fmla="*/ 0 w 667"/>
                    <a:gd name="T41" fmla="*/ 0 h 424"/>
                    <a:gd name="T42" fmla="*/ 0 w 667"/>
                    <a:gd name="T43" fmla="*/ 0 h 424"/>
                    <a:gd name="T44" fmla="*/ 0 w 667"/>
                    <a:gd name="T45" fmla="*/ 0 h 424"/>
                    <a:gd name="T46" fmla="*/ 0 w 667"/>
                    <a:gd name="T47" fmla="*/ 0 h 424"/>
                    <a:gd name="T48" fmla="*/ 0 w 667"/>
                    <a:gd name="T49" fmla="*/ 0 h 424"/>
                    <a:gd name="T50" fmla="*/ 0 w 667"/>
                    <a:gd name="T51" fmla="*/ 0 h 424"/>
                    <a:gd name="T52" fmla="*/ 0 w 667"/>
                    <a:gd name="T53" fmla="*/ 0 h 424"/>
                    <a:gd name="T54" fmla="*/ 0 w 667"/>
                    <a:gd name="T55" fmla="*/ 0 h 424"/>
                    <a:gd name="T56" fmla="*/ 0 w 667"/>
                    <a:gd name="T57" fmla="*/ 0 h 424"/>
                    <a:gd name="T58" fmla="*/ 0 w 667"/>
                    <a:gd name="T59" fmla="*/ 0 h 424"/>
                    <a:gd name="T60" fmla="*/ 0 w 667"/>
                    <a:gd name="T61" fmla="*/ 0 h 424"/>
                    <a:gd name="T62" fmla="*/ 0 w 667"/>
                    <a:gd name="T63" fmla="*/ 0 h 424"/>
                    <a:gd name="T64" fmla="*/ 0 w 667"/>
                    <a:gd name="T65" fmla="*/ 0 h 424"/>
                    <a:gd name="T66" fmla="*/ 0 w 667"/>
                    <a:gd name="T67" fmla="*/ 0 h 424"/>
                    <a:gd name="T68" fmla="*/ 0 w 667"/>
                    <a:gd name="T69" fmla="*/ 0 h 424"/>
                    <a:gd name="T70" fmla="*/ 0 w 667"/>
                    <a:gd name="T71" fmla="*/ 0 h 424"/>
                    <a:gd name="T72" fmla="*/ 0 w 667"/>
                    <a:gd name="T73" fmla="*/ 0 h 424"/>
                    <a:gd name="T74" fmla="*/ 0 w 667"/>
                    <a:gd name="T75" fmla="*/ 0 h 424"/>
                    <a:gd name="T76" fmla="*/ 0 w 667"/>
                    <a:gd name="T77" fmla="*/ 0 h 424"/>
                    <a:gd name="T78" fmla="*/ 0 w 667"/>
                    <a:gd name="T79" fmla="*/ 0 h 424"/>
                    <a:gd name="T80" fmla="*/ 0 w 667"/>
                    <a:gd name="T81" fmla="*/ 0 h 4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67"/>
                    <a:gd name="T124" fmla="*/ 0 h 424"/>
                    <a:gd name="T125" fmla="*/ 667 w 667"/>
                    <a:gd name="T126" fmla="*/ 424 h 42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67" h="424">
                      <a:moveTo>
                        <a:pt x="57" y="0"/>
                      </a:moveTo>
                      <a:lnTo>
                        <a:pt x="612" y="0"/>
                      </a:lnTo>
                      <a:lnTo>
                        <a:pt x="623" y="2"/>
                      </a:lnTo>
                      <a:lnTo>
                        <a:pt x="633" y="6"/>
                      </a:lnTo>
                      <a:lnTo>
                        <a:pt x="642" y="11"/>
                      </a:lnTo>
                      <a:lnTo>
                        <a:pt x="651" y="18"/>
                      </a:lnTo>
                      <a:lnTo>
                        <a:pt x="657" y="27"/>
                      </a:lnTo>
                      <a:lnTo>
                        <a:pt x="663" y="37"/>
                      </a:lnTo>
                      <a:lnTo>
                        <a:pt x="666" y="49"/>
                      </a:lnTo>
                      <a:lnTo>
                        <a:pt x="667" y="61"/>
                      </a:lnTo>
                      <a:lnTo>
                        <a:pt x="667" y="363"/>
                      </a:lnTo>
                      <a:lnTo>
                        <a:pt x="666" y="375"/>
                      </a:lnTo>
                      <a:lnTo>
                        <a:pt x="663" y="387"/>
                      </a:lnTo>
                      <a:lnTo>
                        <a:pt x="657" y="397"/>
                      </a:lnTo>
                      <a:lnTo>
                        <a:pt x="651" y="406"/>
                      </a:lnTo>
                      <a:lnTo>
                        <a:pt x="642" y="413"/>
                      </a:lnTo>
                      <a:lnTo>
                        <a:pt x="633" y="419"/>
                      </a:lnTo>
                      <a:lnTo>
                        <a:pt x="623" y="423"/>
                      </a:lnTo>
                      <a:lnTo>
                        <a:pt x="612" y="424"/>
                      </a:lnTo>
                      <a:lnTo>
                        <a:pt x="57" y="424"/>
                      </a:lnTo>
                      <a:lnTo>
                        <a:pt x="45" y="423"/>
                      </a:lnTo>
                      <a:lnTo>
                        <a:pt x="34" y="419"/>
                      </a:lnTo>
                      <a:lnTo>
                        <a:pt x="25" y="413"/>
                      </a:lnTo>
                      <a:lnTo>
                        <a:pt x="16" y="406"/>
                      </a:lnTo>
                      <a:lnTo>
                        <a:pt x="10" y="397"/>
                      </a:lnTo>
                      <a:lnTo>
                        <a:pt x="5" y="387"/>
                      </a:lnTo>
                      <a:lnTo>
                        <a:pt x="1" y="375"/>
                      </a:lnTo>
                      <a:lnTo>
                        <a:pt x="0" y="363"/>
                      </a:lnTo>
                      <a:lnTo>
                        <a:pt x="0" y="61"/>
                      </a:lnTo>
                      <a:lnTo>
                        <a:pt x="1" y="49"/>
                      </a:lnTo>
                      <a:lnTo>
                        <a:pt x="5" y="37"/>
                      </a:lnTo>
                      <a:lnTo>
                        <a:pt x="10" y="27"/>
                      </a:lnTo>
                      <a:lnTo>
                        <a:pt x="16" y="18"/>
                      </a:lnTo>
                      <a:lnTo>
                        <a:pt x="25" y="11"/>
                      </a:lnTo>
                      <a:lnTo>
                        <a:pt x="34" y="6"/>
                      </a:lnTo>
                      <a:lnTo>
                        <a:pt x="45" y="2"/>
                      </a:lnTo>
                      <a:lnTo>
                        <a:pt x="57" y="0"/>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latin typeface="Roboto" panose="02000000000000000000" pitchFamily="2" charset="0"/>
                    <a:ea typeface="Roboto" panose="02000000000000000000" pitchFamily="2" charset="0"/>
                  </a:endParaRPr>
                </a:p>
              </p:txBody>
            </p:sp>
            <p:sp>
              <p:nvSpPr>
                <p:cNvPr id="250" name="Line 170">
                  <a:extLst>
                    <a:ext uri="{FF2B5EF4-FFF2-40B4-BE49-F238E27FC236}">
                      <a16:creationId xmlns:a16="http://schemas.microsoft.com/office/drawing/2014/main" id="{4ABA0B8F-E2C1-5DD1-FA57-FA070C4A5BAB}"/>
                    </a:ext>
                  </a:extLst>
                </p:cNvPr>
                <p:cNvSpPr>
                  <a:spLocks noChangeShapeType="1"/>
                </p:cNvSpPr>
                <p:nvPr/>
              </p:nvSpPr>
              <p:spPr bwMode="auto">
                <a:xfrm>
                  <a:off x="3210" y="2429"/>
                  <a:ext cx="1"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1" name="Line 171">
                  <a:extLst>
                    <a:ext uri="{FF2B5EF4-FFF2-40B4-BE49-F238E27FC236}">
                      <a16:creationId xmlns:a16="http://schemas.microsoft.com/office/drawing/2014/main" id="{F25FCAE7-5022-6B68-C94C-2A018C9C21A8}"/>
                    </a:ext>
                  </a:extLst>
                </p:cNvPr>
                <p:cNvSpPr>
                  <a:spLocks noChangeShapeType="1"/>
                </p:cNvSpPr>
                <p:nvPr/>
              </p:nvSpPr>
              <p:spPr bwMode="auto">
                <a:xfrm>
                  <a:off x="3316" y="2429"/>
                  <a:ext cx="1" cy="13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2" name="Rectangle 172">
                  <a:extLst>
                    <a:ext uri="{FF2B5EF4-FFF2-40B4-BE49-F238E27FC236}">
                      <a16:creationId xmlns:a16="http://schemas.microsoft.com/office/drawing/2014/main" id="{21FA0F29-FFA9-66A3-C5E9-0AB753FFC227}"/>
                    </a:ext>
                  </a:extLst>
                </p:cNvPr>
                <p:cNvSpPr>
                  <a:spLocks noChangeArrowheads="1"/>
                </p:cNvSpPr>
                <p:nvPr/>
              </p:nvSpPr>
              <p:spPr bwMode="auto">
                <a:xfrm>
                  <a:off x="3089" y="2404"/>
                  <a:ext cx="343" cy="4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53" name="Rectangle 173">
                  <a:extLst>
                    <a:ext uri="{FF2B5EF4-FFF2-40B4-BE49-F238E27FC236}">
                      <a16:creationId xmlns:a16="http://schemas.microsoft.com/office/drawing/2014/main" id="{C7AF7DFE-E86C-C400-98E5-2C72273A3F35}"/>
                    </a:ext>
                  </a:extLst>
                </p:cNvPr>
                <p:cNvSpPr>
                  <a:spLocks noChangeArrowheads="1"/>
                </p:cNvSpPr>
                <p:nvPr/>
              </p:nvSpPr>
              <p:spPr bwMode="auto">
                <a:xfrm>
                  <a:off x="3089" y="2404"/>
                  <a:ext cx="343" cy="45"/>
                </a:xfrm>
                <a:prstGeom prst="rect">
                  <a:avLst/>
                </a:prstGeom>
                <a:noFill/>
                <a:ln w="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grpSp>
            <p:nvGrpSpPr>
              <p:cNvPr id="229" name="Group 271">
                <a:extLst>
                  <a:ext uri="{FF2B5EF4-FFF2-40B4-BE49-F238E27FC236}">
                    <a16:creationId xmlns:a16="http://schemas.microsoft.com/office/drawing/2014/main" id="{9C0E772E-2F3F-9A80-2986-BB354FFD438D}"/>
                  </a:ext>
                </a:extLst>
              </p:cNvPr>
              <p:cNvGrpSpPr>
                <a:grpSpLocks/>
              </p:cNvGrpSpPr>
              <p:nvPr/>
            </p:nvGrpSpPr>
            <p:grpSpPr bwMode="auto">
              <a:xfrm>
                <a:off x="2965" y="2219"/>
                <a:ext cx="594" cy="190"/>
                <a:chOff x="1968" y="2206"/>
                <a:chExt cx="594" cy="190"/>
              </a:xfrm>
            </p:grpSpPr>
            <p:sp>
              <p:nvSpPr>
                <p:cNvPr id="230" name="Freeform 272">
                  <a:extLst>
                    <a:ext uri="{FF2B5EF4-FFF2-40B4-BE49-F238E27FC236}">
                      <a16:creationId xmlns:a16="http://schemas.microsoft.com/office/drawing/2014/main" id="{328FEFDF-DDAB-F6B0-D68A-AA6BF1C1DAFC}"/>
                    </a:ext>
                  </a:extLst>
                </p:cNvPr>
                <p:cNvSpPr>
                  <a:spLocks/>
                </p:cNvSpPr>
                <p:nvPr/>
              </p:nvSpPr>
              <p:spPr bwMode="auto">
                <a:xfrm>
                  <a:off x="1971" y="2207"/>
                  <a:ext cx="591" cy="5"/>
                </a:xfrm>
                <a:custGeom>
                  <a:avLst/>
                  <a:gdLst>
                    <a:gd name="T0" fmla="*/ 0 w 1772"/>
                    <a:gd name="T1" fmla="*/ 0 h 16"/>
                    <a:gd name="T2" fmla="*/ 0 w 1772"/>
                    <a:gd name="T3" fmla="*/ 0 h 16"/>
                    <a:gd name="T4" fmla="*/ 0 w 1772"/>
                    <a:gd name="T5" fmla="*/ 0 h 16"/>
                    <a:gd name="T6" fmla="*/ 0 w 1772"/>
                    <a:gd name="T7" fmla="*/ 0 h 16"/>
                    <a:gd name="T8" fmla="*/ 0 w 1772"/>
                    <a:gd name="T9" fmla="*/ 0 h 16"/>
                    <a:gd name="T10" fmla="*/ 0 w 1772"/>
                    <a:gd name="T11" fmla="*/ 0 h 16"/>
                    <a:gd name="T12" fmla="*/ 0 w 1772"/>
                    <a:gd name="T13" fmla="*/ 0 h 16"/>
                    <a:gd name="T14" fmla="*/ 0 w 1772"/>
                    <a:gd name="T15" fmla="*/ 0 h 16"/>
                    <a:gd name="T16" fmla="*/ 0 w 1772"/>
                    <a:gd name="T17" fmla="*/ 0 h 16"/>
                    <a:gd name="T18" fmla="*/ 0 w 1772"/>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72"/>
                    <a:gd name="T31" fmla="*/ 0 h 16"/>
                    <a:gd name="T32" fmla="*/ 1772 w 177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72" h="16">
                      <a:moveTo>
                        <a:pt x="1772" y="8"/>
                      </a:moveTo>
                      <a:lnTo>
                        <a:pt x="1765" y="0"/>
                      </a:lnTo>
                      <a:lnTo>
                        <a:pt x="0" y="0"/>
                      </a:lnTo>
                      <a:lnTo>
                        <a:pt x="0" y="16"/>
                      </a:lnTo>
                      <a:lnTo>
                        <a:pt x="1765" y="16"/>
                      </a:lnTo>
                      <a:lnTo>
                        <a:pt x="1757" y="8"/>
                      </a:lnTo>
                      <a:lnTo>
                        <a:pt x="1772" y="8"/>
                      </a:lnTo>
                      <a:lnTo>
                        <a:pt x="1772" y="0"/>
                      </a:lnTo>
                      <a:lnTo>
                        <a:pt x="1765" y="0"/>
                      </a:lnTo>
                      <a:lnTo>
                        <a:pt x="177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31" name="Freeform 273">
                  <a:extLst>
                    <a:ext uri="{FF2B5EF4-FFF2-40B4-BE49-F238E27FC236}">
                      <a16:creationId xmlns:a16="http://schemas.microsoft.com/office/drawing/2014/main" id="{004612C7-6811-9FC2-DA59-ECBBAE31C854}"/>
                    </a:ext>
                  </a:extLst>
                </p:cNvPr>
                <p:cNvSpPr>
                  <a:spLocks/>
                </p:cNvSpPr>
                <p:nvPr/>
              </p:nvSpPr>
              <p:spPr bwMode="auto">
                <a:xfrm>
                  <a:off x="2557" y="2210"/>
                  <a:ext cx="5" cy="184"/>
                </a:xfrm>
                <a:custGeom>
                  <a:avLst/>
                  <a:gdLst>
                    <a:gd name="T0" fmla="*/ 0 w 15"/>
                    <a:gd name="T1" fmla="*/ 0 h 553"/>
                    <a:gd name="T2" fmla="*/ 0 w 15"/>
                    <a:gd name="T3" fmla="*/ 0 h 553"/>
                    <a:gd name="T4" fmla="*/ 0 w 15"/>
                    <a:gd name="T5" fmla="*/ 0 h 553"/>
                    <a:gd name="T6" fmla="*/ 0 w 15"/>
                    <a:gd name="T7" fmla="*/ 0 h 553"/>
                    <a:gd name="T8" fmla="*/ 0 w 15"/>
                    <a:gd name="T9" fmla="*/ 0 h 553"/>
                    <a:gd name="T10" fmla="*/ 0 w 15"/>
                    <a:gd name="T11" fmla="*/ 0 h 553"/>
                    <a:gd name="T12" fmla="*/ 0 w 15"/>
                    <a:gd name="T13" fmla="*/ 0 h 553"/>
                    <a:gd name="T14" fmla="*/ 0 w 15"/>
                    <a:gd name="T15" fmla="*/ 0 h 553"/>
                    <a:gd name="T16" fmla="*/ 0 w 15"/>
                    <a:gd name="T17" fmla="*/ 0 h 553"/>
                    <a:gd name="T18" fmla="*/ 0 w 1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3"/>
                    <a:gd name="T32" fmla="*/ 15 w 1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3">
                      <a:moveTo>
                        <a:pt x="8" y="553"/>
                      </a:moveTo>
                      <a:lnTo>
                        <a:pt x="15" y="545"/>
                      </a:lnTo>
                      <a:lnTo>
                        <a:pt x="15" y="0"/>
                      </a:lnTo>
                      <a:lnTo>
                        <a:pt x="0" y="0"/>
                      </a:lnTo>
                      <a:lnTo>
                        <a:pt x="0" y="545"/>
                      </a:lnTo>
                      <a:lnTo>
                        <a:pt x="8" y="536"/>
                      </a:lnTo>
                      <a:lnTo>
                        <a:pt x="8" y="553"/>
                      </a:lnTo>
                      <a:lnTo>
                        <a:pt x="15" y="553"/>
                      </a:lnTo>
                      <a:lnTo>
                        <a:pt x="15" y="545"/>
                      </a:lnTo>
                      <a:lnTo>
                        <a:pt x="8" y="5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32" name="Freeform 274">
                  <a:extLst>
                    <a:ext uri="{FF2B5EF4-FFF2-40B4-BE49-F238E27FC236}">
                      <a16:creationId xmlns:a16="http://schemas.microsoft.com/office/drawing/2014/main" id="{BBD27E01-BA4A-6D6B-16A8-A717A4C25014}"/>
                    </a:ext>
                  </a:extLst>
                </p:cNvPr>
                <p:cNvSpPr>
                  <a:spLocks/>
                </p:cNvSpPr>
                <p:nvPr/>
              </p:nvSpPr>
              <p:spPr bwMode="auto">
                <a:xfrm>
                  <a:off x="1968" y="2388"/>
                  <a:ext cx="591" cy="6"/>
                </a:xfrm>
                <a:custGeom>
                  <a:avLst/>
                  <a:gdLst>
                    <a:gd name="T0" fmla="*/ 0 w 1773"/>
                    <a:gd name="T1" fmla="*/ 0 h 17"/>
                    <a:gd name="T2" fmla="*/ 0 w 1773"/>
                    <a:gd name="T3" fmla="*/ 0 h 17"/>
                    <a:gd name="T4" fmla="*/ 0 w 1773"/>
                    <a:gd name="T5" fmla="*/ 0 h 17"/>
                    <a:gd name="T6" fmla="*/ 0 w 1773"/>
                    <a:gd name="T7" fmla="*/ 0 h 17"/>
                    <a:gd name="T8" fmla="*/ 0 w 1773"/>
                    <a:gd name="T9" fmla="*/ 0 h 17"/>
                    <a:gd name="T10" fmla="*/ 0 w 1773"/>
                    <a:gd name="T11" fmla="*/ 0 h 17"/>
                    <a:gd name="T12" fmla="*/ 0 w 1773"/>
                    <a:gd name="T13" fmla="*/ 0 h 17"/>
                    <a:gd name="T14" fmla="*/ 0 w 1773"/>
                    <a:gd name="T15" fmla="*/ 0 h 17"/>
                    <a:gd name="T16" fmla="*/ 0 w 1773"/>
                    <a:gd name="T17" fmla="*/ 0 h 17"/>
                    <a:gd name="T18" fmla="*/ 0 w 1773"/>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73"/>
                    <a:gd name="T31" fmla="*/ 0 h 17"/>
                    <a:gd name="T32" fmla="*/ 1773 w 1773"/>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73" h="17">
                      <a:moveTo>
                        <a:pt x="0" y="9"/>
                      </a:moveTo>
                      <a:lnTo>
                        <a:pt x="8" y="17"/>
                      </a:lnTo>
                      <a:lnTo>
                        <a:pt x="1773" y="17"/>
                      </a:lnTo>
                      <a:lnTo>
                        <a:pt x="1773" y="0"/>
                      </a:lnTo>
                      <a:lnTo>
                        <a:pt x="8" y="0"/>
                      </a:lnTo>
                      <a:lnTo>
                        <a:pt x="15" y="9"/>
                      </a:lnTo>
                      <a:lnTo>
                        <a:pt x="0" y="9"/>
                      </a:lnTo>
                      <a:lnTo>
                        <a:pt x="0" y="17"/>
                      </a:lnTo>
                      <a:lnTo>
                        <a:pt x="8" y="17"/>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33" name="Freeform 275">
                  <a:extLst>
                    <a:ext uri="{FF2B5EF4-FFF2-40B4-BE49-F238E27FC236}">
                      <a16:creationId xmlns:a16="http://schemas.microsoft.com/office/drawing/2014/main" id="{95806CE0-C963-4BFD-868E-00A4F86E01B0}"/>
                    </a:ext>
                  </a:extLst>
                </p:cNvPr>
                <p:cNvSpPr>
                  <a:spLocks/>
                </p:cNvSpPr>
                <p:nvPr/>
              </p:nvSpPr>
              <p:spPr bwMode="auto">
                <a:xfrm>
                  <a:off x="1968" y="2207"/>
                  <a:ext cx="5" cy="184"/>
                </a:xfrm>
                <a:custGeom>
                  <a:avLst/>
                  <a:gdLst>
                    <a:gd name="T0" fmla="*/ 0 w 15"/>
                    <a:gd name="T1" fmla="*/ 0 h 553"/>
                    <a:gd name="T2" fmla="*/ 0 w 15"/>
                    <a:gd name="T3" fmla="*/ 0 h 553"/>
                    <a:gd name="T4" fmla="*/ 0 w 15"/>
                    <a:gd name="T5" fmla="*/ 0 h 553"/>
                    <a:gd name="T6" fmla="*/ 0 w 15"/>
                    <a:gd name="T7" fmla="*/ 0 h 553"/>
                    <a:gd name="T8" fmla="*/ 0 w 15"/>
                    <a:gd name="T9" fmla="*/ 0 h 553"/>
                    <a:gd name="T10" fmla="*/ 0 w 15"/>
                    <a:gd name="T11" fmla="*/ 0 h 553"/>
                    <a:gd name="T12" fmla="*/ 0 w 15"/>
                    <a:gd name="T13" fmla="*/ 0 h 553"/>
                    <a:gd name="T14" fmla="*/ 0 w 15"/>
                    <a:gd name="T15" fmla="*/ 0 h 553"/>
                    <a:gd name="T16" fmla="*/ 0 w 15"/>
                    <a:gd name="T17" fmla="*/ 0 h 553"/>
                    <a:gd name="T18" fmla="*/ 0 w 1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
                    <a:gd name="T31" fmla="*/ 0 h 553"/>
                    <a:gd name="T32" fmla="*/ 15 w 1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 h="553">
                      <a:moveTo>
                        <a:pt x="8" y="0"/>
                      </a:moveTo>
                      <a:lnTo>
                        <a:pt x="0" y="8"/>
                      </a:lnTo>
                      <a:lnTo>
                        <a:pt x="0" y="553"/>
                      </a:lnTo>
                      <a:lnTo>
                        <a:pt x="15" y="553"/>
                      </a:lnTo>
                      <a:lnTo>
                        <a:pt x="15" y="8"/>
                      </a:lnTo>
                      <a:lnTo>
                        <a:pt x="8" y="16"/>
                      </a:lnTo>
                      <a:lnTo>
                        <a:pt x="8" y="0"/>
                      </a:lnTo>
                      <a:lnTo>
                        <a:pt x="0" y="0"/>
                      </a:lnTo>
                      <a:lnTo>
                        <a:pt x="0" y="8"/>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latin typeface="Roboto" panose="02000000000000000000" pitchFamily="2" charset="0"/>
                    <a:ea typeface="Roboto" panose="02000000000000000000" pitchFamily="2" charset="0"/>
                  </a:endParaRPr>
                </a:p>
              </p:txBody>
            </p:sp>
            <p:sp>
              <p:nvSpPr>
                <p:cNvPr id="234" name="Line 276">
                  <a:extLst>
                    <a:ext uri="{FF2B5EF4-FFF2-40B4-BE49-F238E27FC236}">
                      <a16:creationId xmlns:a16="http://schemas.microsoft.com/office/drawing/2014/main" id="{4D630944-0AC1-E542-487E-EEADFDDDA710}"/>
                    </a:ext>
                  </a:extLst>
                </p:cNvPr>
                <p:cNvSpPr>
                  <a:spLocks noChangeShapeType="1"/>
                </p:cNvSpPr>
                <p:nvPr/>
              </p:nvSpPr>
              <p:spPr bwMode="auto">
                <a:xfrm>
                  <a:off x="2195" y="2210"/>
                  <a:ext cx="1" cy="18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5" name="Line 277">
                  <a:extLst>
                    <a:ext uri="{FF2B5EF4-FFF2-40B4-BE49-F238E27FC236}">
                      <a16:creationId xmlns:a16="http://schemas.microsoft.com/office/drawing/2014/main" id="{9571D373-ADFA-B212-AF95-B951F79A11DC}"/>
                    </a:ext>
                  </a:extLst>
                </p:cNvPr>
                <p:cNvSpPr>
                  <a:spLocks noChangeShapeType="1"/>
                </p:cNvSpPr>
                <p:nvPr/>
              </p:nvSpPr>
              <p:spPr bwMode="auto">
                <a:xfrm>
                  <a:off x="2331" y="2211"/>
                  <a:ext cx="1" cy="18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6" name="Line 278">
                  <a:extLst>
                    <a:ext uri="{FF2B5EF4-FFF2-40B4-BE49-F238E27FC236}">
                      <a16:creationId xmlns:a16="http://schemas.microsoft.com/office/drawing/2014/main" id="{3CF39814-0775-7AEC-68AB-E74DF9CB6492}"/>
                    </a:ext>
                  </a:extLst>
                </p:cNvPr>
                <p:cNvSpPr>
                  <a:spLocks noChangeShapeType="1"/>
                </p:cNvSpPr>
                <p:nvPr/>
              </p:nvSpPr>
              <p:spPr bwMode="auto">
                <a:xfrm>
                  <a:off x="1972" y="2345"/>
                  <a:ext cx="43" cy="4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7" name="Line 279">
                  <a:extLst>
                    <a:ext uri="{FF2B5EF4-FFF2-40B4-BE49-F238E27FC236}">
                      <a16:creationId xmlns:a16="http://schemas.microsoft.com/office/drawing/2014/main" id="{40900D73-9A21-5CD1-6D9C-F0061008A7EE}"/>
                    </a:ext>
                  </a:extLst>
                </p:cNvPr>
                <p:cNvSpPr>
                  <a:spLocks noChangeShapeType="1"/>
                </p:cNvSpPr>
                <p:nvPr/>
              </p:nvSpPr>
              <p:spPr bwMode="auto">
                <a:xfrm>
                  <a:off x="1971" y="2290"/>
                  <a:ext cx="93" cy="10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8" name="Line 280">
                  <a:extLst>
                    <a:ext uri="{FF2B5EF4-FFF2-40B4-BE49-F238E27FC236}">
                      <a16:creationId xmlns:a16="http://schemas.microsoft.com/office/drawing/2014/main" id="{F7503959-E32C-149D-E129-1A04731BE356}"/>
                    </a:ext>
                  </a:extLst>
                </p:cNvPr>
                <p:cNvSpPr>
                  <a:spLocks noChangeShapeType="1"/>
                </p:cNvSpPr>
                <p:nvPr/>
              </p:nvSpPr>
              <p:spPr bwMode="auto">
                <a:xfrm>
                  <a:off x="1971" y="2230"/>
                  <a:ext cx="144" cy="15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9" name="Line 281">
                  <a:extLst>
                    <a:ext uri="{FF2B5EF4-FFF2-40B4-BE49-F238E27FC236}">
                      <a16:creationId xmlns:a16="http://schemas.microsoft.com/office/drawing/2014/main" id="{E35958F0-7DA6-6FC2-8E27-9447A632BB69}"/>
                    </a:ext>
                  </a:extLst>
                </p:cNvPr>
                <p:cNvSpPr>
                  <a:spLocks noChangeShapeType="1"/>
                </p:cNvSpPr>
                <p:nvPr/>
              </p:nvSpPr>
              <p:spPr bwMode="auto">
                <a:xfrm>
                  <a:off x="2017" y="2206"/>
                  <a:ext cx="168" cy="18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0" name="Line 282">
                  <a:extLst>
                    <a:ext uri="{FF2B5EF4-FFF2-40B4-BE49-F238E27FC236}">
                      <a16:creationId xmlns:a16="http://schemas.microsoft.com/office/drawing/2014/main" id="{6F4CFC45-D9C1-04B0-FFAA-F2A01FCD2A1E}"/>
                    </a:ext>
                  </a:extLst>
                </p:cNvPr>
                <p:cNvSpPr>
                  <a:spLocks noChangeShapeType="1"/>
                </p:cNvSpPr>
                <p:nvPr/>
              </p:nvSpPr>
              <p:spPr bwMode="auto">
                <a:xfrm>
                  <a:off x="2082" y="2212"/>
                  <a:ext cx="115" cy="11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1" name="Line 283">
                  <a:extLst>
                    <a:ext uri="{FF2B5EF4-FFF2-40B4-BE49-F238E27FC236}">
                      <a16:creationId xmlns:a16="http://schemas.microsoft.com/office/drawing/2014/main" id="{2311059E-F117-6900-8E55-F82008F8690A}"/>
                    </a:ext>
                  </a:extLst>
                </p:cNvPr>
                <p:cNvSpPr>
                  <a:spLocks noChangeShapeType="1"/>
                </p:cNvSpPr>
                <p:nvPr/>
              </p:nvSpPr>
              <p:spPr bwMode="auto">
                <a:xfrm>
                  <a:off x="2452" y="2212"/>
                  <a:ext cx="103" cy="1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2" name="Line 284">
                  <a:extLst>
                    <a:ext uri="{FF2B5EF4-FFF2-40B4-BE49-F238E27FC236}">
                      <a16:creationId xmlns:a16="http://schemas.microsoft.com/office/drawing/2014/main" id="{88525000-1435-873A-2ECF-A39EE4762E98}"/>
                    </a:ext>
                  </a:extLst>
                </p:cNvPr>
                <p:cNvSpPr>
                  <a:spLocks noChangeShapeType="1"/>
                </p:cNvSpPr>
                <p:nvPr/>
              </p:nvSpPr>
              <p:spPr bwMode="auto">
                <a:xfrm>
                  <a:off x="2513" y="2209"/>
                  <a:ext cx="46" cy="5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3" name="Line 285">
                  <a:extLst>
                    <a:ext uri="{FF2B5EF4-FFF2-40B4-BE49-F238E27FC236}">
                      <a16:creationId xmlns:a16="http://schemas.microsoft.com/office/drawing/2014/main" id="{CE3CDA9A-3CAF-FCB6-ABF3-CFE297DFDD75}"/>
                    </a:ext>
                  </a:extLst>
                </p:cNvPr>
                <p:cNvSpPr>
                  <a:spLocks noChangeShapeType="1"/>
                </p:cNvSpPr>
                <p:nvPr/>
              </p:nvSpPr>
              <p:spPr bwMode="auto">
                <a:xfrm>
                  <a:off x="2380" y="2214"/>
                  <a:ext cx="163" cy="17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4" name="Line 286">
                  <a:extLst>
                    <a:ext uri="{FF2B5EF4-FFF2-40B4-BE49-F238E27FC236}">
                      <a16:creationId xmlns:a16="http://schemas.microsoft.com/office/drawing/2014/main" id="{B6695A11-BCFA-1228-CBD1-3041F9820AE6}"/>
                    </a:ext>
                  </a:extLst>
                </p:cNvPr>
                <p:cNvSpPr>
                  <a:spLocks noChangeShapeType="1"/>
                </p:cNvSpPr>
                <p:nvPr/>
              </p:nvSpPr>
              <p:spPr bwMode="auto">
                <a:xfrm>
                  <a:off x="2333" y="2234"/>
                  <a:ext cx="146" cy="15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5" name="Line 287">
                  <a:extLst>
                    <a:ext uri="{FF2B5EF4-FFF2-40B4-BE49-F238E27FC236}">
                      <a16:creationId xmlns:a16="http://schemas.microsoft.com/office/drawing/2014/main" id="{4CA8ADE9-F309-3AA0-8F97-5285E8BCE4AD}"/>
                    </a:ext>
                  </a:extLst>
                </p:cNvPr>
                <p:cNvSpPr>
                  <a:spLocks noChangeShapeType="1"/>
                </p:cNvSpPr>
                <p:nvPr/>
              </p:nvSpPr>
              <p:spPr bwMode="auto">
                <a:xfrm>
                  <a:off x="2332" y="2308"/>
                  <a:ext cx="78" cy="83"/>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6" name="Line 288">
                  <a:extLst>
                    <a:ext uri="{FF2B5EF4-FFF2-40B4-BE49-F238E27FC236}">
                      <a16:creationId xmlns:a16="http://schemas.microsoft.com/office/drawing/2014/main" id="{F0B6E55B-FEF2-6F83-14E1-940A204E0347}"/>
                    </a:ext>
                  </a:extLst>
                </p:cNvPr>
                <p:cNvSpPr>
                  <a:spLocks noChangeShapeType="1"/>
                </p:cNvSpPr>
                <p:nvPr/>
              </p:nvSpPr>
              <p:spPr bwMode="auto">
                <a:xfrm>
                  <a:off x="2146" y="2210"/>
                  <a:ext cx="51" cy="4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7" name="Line 289">
                  <a:extLst>
                    <a:ext uri="{FF2B5EF4-FFF2-40B4-BE49-F238E27FC236}">
                      <a16:creationId xmlns:a16="http://schemas.microsoft.com/office/drawing/2014/main" id="{0D9A5EEE-D7D9-BB7B-2E63-0F8F074A858C}"/>
                    </a:ext>
                  </a:extLst>
                </p:cNvPr>
                <p:cNvSpPr>
                  <a:spLocks noChangeShapeType="1"/>
                </p:cNvSpPr>
                <p:nvPr/>
              </p:nvSpPr>
              <p:spPr bwMode="auto">
                <a:xfrm>
                  <a:off x="2331" y="2369"/>
                  <a:ext cx="20" cy="2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grpSp>
    </p:spTree>
    <p:extLst>
      <p:ext uri="{BB962C8B-B14F-4D97-AF65-F5344CB8AC3E}">
        <p14:creationId xmlns:p14="http://schemas.microsoft.com/office/powerpoint/2010/main" val="159736436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14. Link machines for smooth loading &amp; unloading</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76</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pSp>
        <p:nvGrpSpPr>
          <p:cNvPr id="397" name="Group 396">
            <a:extLst>
              <a:ext uri="{FF2B5EF4-FFF2-40B4-BE49-F238E27FC236}">
                <a16:creationId xmlns:a16="http://schemas.microsoft.com/office/drawing/2014/main" id="{632B91C2-3E48-6747-2C27-3D344D68F0FA}"/>
              </a:ext>
            </a:extLst>
          </p:cNvPr>
          <p:cNvGrpSpPr/>
          <p:nvPr/>
        </p:nvGrpSpPr>
        <p:grpSpPr>
          <a:xfrm>
            <a:off x="2175669" y="1829817"/>
            <a:ext cx="7840662" cy="4418302"/>
            <a:chOff x="455613" y="1483593"/>
            <a:chExt cx="7840662" cy="4766505"/>
          </a:xfrm>
        </p:grpSpPr>
        <p:sp>
          <p:nvSpPr>
            <p:cNvPr id="4" name="TextBox 25">
              <a:extLst>
                <a:ext uri="{FF2B5EF4-FFF2-40B4-BE49-F238E27FC236}">
                  <a16:creationId xmlns:a16="http://schemas.microsoft.com/office/drawing/2014/main" id="{E3F02A21-759F-70BE-683C-A49F61BB211F}"/>
                </a:ext>
              </a:extLst>
            </p:cNvPr>
            <p:cNvSpPr txBox="1">
              <a:spLocks noChangeArrowheads="1"/>
            </p:cNvSpPr>
            <p:nvPr/>
          </p:nvSpPr>
          <p:spPr bwMode="auto">
            <a:xfrm>
              <a:off x="2383249" y="5884863"/>
              <a:ext cx="4314001" cy="36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Line stops when WIP on the line is "full work"</a:t>
              </a:r>
            </a:p>
          </p:txBody>
        </p:sp>
        <p:grpSp>
          <p:nvGrpSpPr>
            <p:cNvPr id="5" name="Group 188">
              <a:extLst>
                <a:ext uri="{FF2B5EF4-FFF2-40B4-BE49-F238E27FC236}">
                  <a16:creationId xmlns:a16="http://schemas.microsoft.com/office/drawing/2014/main" id="{AE1544B4-4EE8-79CE-49FF-269D31CA7C51}"/>
                </a:ext>
              </a:extLst>
            </p:cNvPr>
            <p:cNvGrpSpPr>
              <a:grpSpLocks/>
            </p:cNvGrpSpPr>
            <p:nvPr/>
          </p:nvGrpSpPr>
          <p:grpSpPr bwMode="auto">
            <a:xfrm>
              <a:off x="455613" y="1483593"/>
              <a:ext cx="5561012" cy="1794595"/>
              <a:chOff x="463550" y="1657789"/>
              <a:chExt cx="6419850" cy="2071249"/>
            </a:xfrm>
          </p:grpSpPr>
          <p:sp>
            <p:nvSpPr>
              <p:cNvPr id="9" name="Rectangle 10">
                <a:extLst>
                  <a:ext uri="{FF2B5EF4-FFF2-40B4-BE49-F238E27FC236}">
                    <a16:creationId xmlns:a16="http://schemas.microsoft.com/office/drawing/2014/main" id="{CF3BEBFF-900A-C028-375E-01C361778688}"/>
                  </a:ext>
                </a:extLst>
              </p:cNvPr>
              <p:cNvSpPr>
                <a:spLocks noChangeArrowheads="1"/>
              </p:cNvSpPr>
              <p:nvPr/>
            </p:nvSpPr>
            <p:spPr bwMode="auto">
              <a:xfrm>
                <a:off x="463550" y="1657789"/>
                <a:ext cx="6419850" cy="2071249"/>
              </a:xfrm>
              <a:prstGeom prst="rect">
                <a:avLst/>
              </a:prstGeom>
              <a:solidFill>
                <a:srgbClr val="FFFFFF"/>
              </a:solidFill>
              <a:ln w="14288">
                <a:solidFill>
                  <a:schemeClr val="accent3"/>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0" name="Line 11">
                <a:extLst>
                  <a:ext uri="{FF2B5EF4-FFF2-40B4-BE49-F238E27FC236}">
                    <a16:creationId xmlns:a16="http://schemas.microsoft.com/office/drawing/2014/main" id="{29DD08B9-BCB6-788B-2E3F-8CFF4E2B8CE7}"/>
                  </a:ext>
                </a:extLst>
              </p:cNvPr>
              <p:cNvSpPr>
                <a:spLocks noChangeShapeType="1"/>
              </p:cNvSpPr>
              <p:nvPr/>
            </p:nvSpPr>
            <p:spPr bwMode="auto">
              <a:xfrm>
                <a:off x="661331" y="3095637"/>
                <a:ext cx="620069" cy="26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 name="Line 12">
                <a:extLst>
                  <a:ext uri="{FF2B5EF4-FFF2-40B4-BE49-F238E27FC236}">
                    <a16:creationId xmlns:a16="http://schemas.microsoft.com/office/drawing/2014/main" id="{3807D043-F02F-AE23-A62D-26CE5E55231E}"/>
                  </a:ext>
                </a:extLst>
              </p:cNvPr>
              <p:cNvSpPr>
                <a:spLocks noChangeShapeType="1"/>
              </p:cNvSpPr>
              <p:nvPr/>
            </p:nvSpPr>
            <p:spPr bwMode="auto">
              <a:xfrm>
                <a:off x="661331" y="3304098"/>
                <a:ext cx="620069" cy="26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4" name="Group 21">
                <a:extLst>
                  <a:ext uri="{FF2B5EF4-FFF2-40B4-BE49-F238E27FC236}">
                    <a16:creationId xmlns:a16="http://schemas.microsoft.com/office/drawing/2014/main" id="{8B24620B-BA13-30EE-E876-C75F937B9F68}"/>
                  </a:ext>
                </a:extLst>
              </p:cNvPr>
              <p:cNvGrpSpPr>
                <a:grpSpLocks/>
              </p:cNvGrpSpPr>
              <p:nvPr/>
            </p:nvGrpSpPr>
            <p:grpSpPr bwMode="auto">
              <a:xfrm>
                <a:off x="1866723" y="2371368"/>
                <a:ext cx="462379" cy="208461"/>
                <a:chOff x="789" y="2305"/>
                <a:chExt cx="173" cy="78"/>
              </a:xfrm>
            </p:grpSpPr>
            <p:grpSp>
              <p:nvGrpSpPr>
                <p:cNvPr id="277" name="Group 19">
                  <a:extLst>
                    <a:ext uri="{FF2B5EF4-FFF2-40B4-BE49-F238E27FC236}">
                      <a16:creationId xmlns:a16="http://schemas.microsoft.com/office/drawing/2014/main" id="{55EDA389-A667-2DDA-C1F1-B22F84AB6106}"/>
                    </a:ext>
                  </a:extLst>
                </p:cNvPr>
                <p:cNvGrpSpPr>
                  <a:grpSpLocks/>
                </p:cNvGrpSpPr>
                <p:nvPr/>
              </p:nvGrpSpPr>
              <p:grpSpPr bwMode="auto">
                <a:xfrm>
                  <a:off x="798" y="2305"/>
                  <a:ext cx="164" cy="69"/>
                  <a:chOff x="798" y="2305"/>
                  <a:chExt cx="164" cy="69"/>
                </a:xfrm>
              </p:grpSpPr>
              <p:sp>
                <p:nvSpPr>
                  <p:cNvPr id="279" name="Rectangle 13">
                    <a:extLst>
                      <a:ext uri="{FF2B5EF4-FFF2-40B4-BE49-F238E27FC236}">
                        <a16:creationId xmlns:a16="http://schemas.microsoft.com/office/drawing/2014/main" id="{2D4FA932-726E-F9C4-23B8-E4C8F280A095}"/>
                      </a:ext>
                    </a:extLst>
                  </p:cNvPr>
                  <p:cNvSpPr>
                    <a:spLocks noChangeArrowheads="1"/>
                  </p:cNvSpPr>
                  <p:nvPr/>
                </p:nvSpPr>
                <p:spPr bwMode="auto">
                  <a:xfrm>
                    <a:off x="841" y="2348"/>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80" name="Rectangle 14">
                    <a:extLst>
                      <a:ext uri="{FF2B5EF4-FFF2-40B4-BE49-F238E27FC236}">
                        <a16:creationId xmlns:a16="http://schemas.microsoft.com/office/drawing/2014/main" id="{DB230364-59FC-C2BE-E42F-C2580246D750}"/>
                      </a:ext>
                    </a:extLst>
                  </p:cNvPr>
                  <p:cNvSpPr>
                    <a:spLocks noChangeArrowheads="1"/>
                  </p:cNvSpPr>
                  <p:nvPr/>
                </p:nvSpPr>
                <p:spPr bwMode="auto">
                  <a:xfrm>
                    <a:off x="832" y="2331"/>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81" name="Rectangle 15">
                    <a:extLst>
                      <a:ext uri="{FF2B5EF4-FFF2-40B4-BE49-F238E27FC236}">
                        <a16:creationId xmlns:a16="http://schemas.microsoft.com/office/drawing/2014/main" id="{8D1DA414-6E18-E549-90C6-6DF582007244}"/>
                      </a:ext>
                    </a:extLst>
                  </p:cNvPr>
                  <p:cNvSpPr>
                    <a:spLocks noChangeArrowheads="1"/>
                  </p:cNvSpPr>
                  <p:nvPr/>
                </p:nvSpPr>
                <p:spPr bwMode="auto">
                  <a:xfrm>
                    <a:off x="824" y="2314"/>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82" name="Rectangle 16">
                    <a:extLst>
                      <a:ext uri="{FF2B5EF4-FFF2-40B4-BE49-F238E27FC236}">
                        <a16:creationId xmlns:a16="http://schemas.microsoft.com/office/drawing/2014/main" id="{62517D7F-14FC-67DE-0ED5-E93D6DBAA1DC}"/>
                      </a:ext>
                    </a:extLst>
                  </p:cNvPr>
                  <p:cNvSpPr>
                    <a:spLocks noChangeArrowheads="1"/>
                  </p:cNvSpPr>
                  <p:nvPr/>
                </p:nvSpPr>
                <p:spPr bwMode="auto">
                  <a:xfrm>
                    <a:off x="815" y="2305"/>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83" name="Rectangle 17">
                    <a:extLst>
                      <a:ext uri="{FF2B5EF4-FFF2-40B4-BE49-F238E27FC236}">
                        <a16:creationId xmlns:a16="http://schemas.microsoft.com/office/drawing/2014/main" id="{86265092-52A0-C041-E7C1-B6BA305A419E}"/>
                      </a:ext>
                    </a:extLst>
                  </p:cNvPr>
                  <p:cNvSpPr>
                    <a:spLocks noChangeArrowheads="1"/>
                  </p:cNvSpPr>
                  <p:nvPr/>
                </p:nvSpPr>
                <p:spPr bwMode="auto">
                  <a:xfrm>
                    <a:off x="806" y="2322"/>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84" name="Rectangle 18">
                    <a:extLst>
                      <a:ext uri="{FF2B5EF4-FFF2-40B4-BE49-F238E27FC236}">
                        <a16:creationId xmlns:a16="http://schemas.microsoft.com/office/drawing/2014/main" id="{F2944CF8-24E0-3C31-D32C-3B2CFA09D4C2}"/>
                      </a:ext>
                    </a:extLst>
                  </p:cNvPr>
                  <p:cNvSpPr>
                    <a:spLocks noChangeArrowheads="1"/>
                  </p:cNvSpPr>
                  <p:nvPr/>
                </p:nvSpPr>
                <p:spPr bwMode="auto">
                  <a:xfrm>
                    <a:off x="798" y="2339"/>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278" name="Rectangle 20">
                  <a:extLst>
                    <a:ext uri="{FF2B5EF4-FFF2-40B4-BE49-F238E27FC236}">
                      <a16:creationId xmlns:a16="http://schemas.microsoft.com/office/drawing/2014/main" id="{9EA4B17A-DE08-69F7-938E-73D61D63ACB4}"/>
                    </a:ext>
                  </a:extLst>
                </p:cNvPr>
                <p:cNvSpPr>
                  <a:spLocks noChangeArrowheads="1"/>
                </p:cNvSpPr>
                <p:nvPr/>
              </p:nvSpPr>
              <p:spPr bwMode="auto">
                <a:xfrm>
                  <a:off x="789" y="2357"/>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25" name="Rectangle 22">
                <a:extLst>
                  <a:ext uri="{FF2B5EF4-FFF2-40B4-BE49-F238E27FC236}">
                    <a16:creationId xmlns:a16="http://schemas.microsoft.com/office/drawing/2014/main" id="{02C0C3A2-C1CB-4291-3DDC-DCCAE087144D}"/>
                  </a:ext>
                </a:extLst>
              </p:cNvPr>
              <p:cNvSpPr>
                <a:spLocks noChangeArrowheads="1"/>
              </p:cNvSpPr>
              <p:nvPr/>
            </p:nvSpPr>
            <p:spPr bwMode="auto">
              <a:xfrm>
                <a:off x="1682306" y="2531723"/>
                <a:ext cx="831213" cy="1106448"/>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6" name="Rectangle 23">
                <a:extLst>
                  <a:ext uri="{FF2B5EF4-FFF2-40B4-BE49-F238E27FC236}">
                    <a16:creationId xmlns:a16="http://schemas.microsoft.com/office/drawing/2014/main" id="{9BD98AE6-2CA7-0066-579D-8DFCAFDCB9D1}"/>
                  </a:ext>
                </a:extLst>
              </p:cNvPr>
              <p:cNvSpPr>
                <a:spLocks noChangeArrowheads="1"/>
              </p:cNvSpPr>
              <p:nvPr/>
            </p:nvSpPr>
            <p:spPr bwMode="auto">
              <a:xfrm>
                <a:off x="1476507" y="2809671"/>
                <a:ext cx="208471" cy="828499"/>
              </a:xfrm>
              <a:prstGeom prst="rect">
                <a:avLst/>
              </a:prstGeom>
              <a:solidFill>
                <a:schemeClr val="accent3"/>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70" name="Group 31">
                <a:extLst>
                  <a:ext uri="{FF2B5EF4-FFF2-40B4-BE49-F238E27FC236}">
                    <a16:creationId xmlns:a16="http://schemas.microsoft.com/office/drawing/2014/main" id="{58D22CE4-4FD0-A5FA-6154-183B32B3AFA7}"/>
                  </a:ext>
                </a:extLst>
              </p:cNvPr>
              <p:cNvGrpSpPr>
                <a:grpSpLocks/>
              </p:cNvGrpSpPr>
              <p:nvPr/>
            </p:nvGrpSpPr>
            <p:grpSpPr bwMode="auto">
              <a:xfrm>
                <a:off x="1797232" y="2694750"/>
                <a:ext cx="577305" cy="344763"/>
                <a:chOff x="763" y="2426"/>
                <a:chExt cx="216" cy="129"/>
              </a:xfrm>
            </p:grpSpPr>
            <p:sp>
              <p:nvSpPr>
                <p:cNvPr id="164" name="Rectangle 24">
                  <a:extLst>
                    <a:ext uri="{FF2B5EF4-FFF2-40B4-BE49-F238E27FC236}">
                      <a16:creationId xmlns:a16="http://schemas.microsoft.com/office/drawing/2014/main" id="{7CAA4B37-0FCA-F80D-C2F3-2055B7021963}"/>
                    </a:ext>
                  </a:extLst>
                </p:cNvPr>
                <p:cNvSpPr>
                  <a:spLocks noChangeArrowheads="1"/>
                </p:cNvSpPr>
                <p:nvPr/>
              </p:nvSpPr>
              <p:spPr bwMode="auto">
                <a:xfrm>
                  <a:off x="763" y="2426"/>
                  <a:ext cx="216" cy="129"/>
                </a:xfrm>
                <a:prstGeom prst="rect">
                  <a:avLst/>
                </a:prstGeom>
                <a:solidFill>
                  <a:schemeClr val="bg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65" name="Line 25">
                  <a:extLst>
                    <a:ext uri="{FF2B5EF4-FFF2-40B4-BE49-F238E27FC236}">
                      <a16:creationId xmlns:a16="http://schemas.microsoft.com/office/drawing/2014/main" id="{ACE89491-C132-0E70-2589-8DFC9229A6C8}"/>
                    </a:ext>
                  </a:extLst>
                </p:cNvPr>
                <p:cNvSpPr>
                  <a:spLocks noChangeShapeType="1"/>
                </p:cNvSpPr>
                <p:nvPr/>
              </p:nvSpPr>
              <p:spPr bwMode="auto">
                <a:xfrm flipV="1">
                  <a:off x="811" y="2456"/>
                  <a:ext cx="17" cy="1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6" name="Line 26">
                  <a:extLst>
                    <a:ext uri="{FF2B5EF4-FFF2-40B4-BE49-F238E27FC236}">
                      <a16:creationId xmlns:a16="http://schemas.microsoft.com/office/drawing/2014/main" id="{187C350B-557D-4218-A23C-D099A21AD156}"/>
                    </a:ext>
                  </a:extLst>
                </p:cNvPr>
                <p:cNvSpPr>
                  <a:spLocks noChangeShapeType="1"/>
                </p:cNvSpPr>
                <p:nvPr/>
              </p:nvSpPr>
              <p:spPr bwMode="auto">
                <a:xfrm flipV="1">
                  <a:off x="812" y="2457"/>
                  <a:ext cx="51" cy="3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7" name="Line 27">
                  <a:extLst>
                    <a:ext uri="{FF2B5EF4-FFF2-40B4-BE49-F238E27FC236}">
                      <a16:creationId xmlns:a16="http://schemas.microsoft.com/office/drawing/2014/main" id="{45A8E257-A1DF-0DF5-F010-19F63E11998C}"/>
                    </a:ext>
                  </a:extLst>
                </p:cNvPr>
                <p:cNvSpPr>
                  <a:spLocks noChangeShapeType="1"/>
                </p:cNvSpPr>
                <p:nvPr/>
              </p:nvSpPr>
              <p:spPr bwMode="auto">
                <a:xfrm flipV="1">
                  <a:off x="811" y="2457"/>
                  <a:ext cx="69" cy="5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8" name="Line 28">
                  <a:extLst>
                    <a:ext uri="{FF2B5EF4-FFF2-40B4-BE49-F238E27FC236}">
                      <a16:creationId xmlns:a16="http://schemas.microsoft.com/office/drawing/2014/main" id="{172C6EF8-38A1-8D04-8CCC-897959CDDD18}"/>
                    </a:ext>
                  </a:extLst>
                </p:cNvPr>
                <p:cNvSpPr>
                  <a:spLocks noChangeShapeType="1"/>
                </p:cNvSpPr>
                <p:nvPr/>
              </p:nvSpPr>
              <p:spPr bwMode="auto">
                <a:xfrm flipV="1">
                  <a:off x="846" y="2457"/>
                  <a:ext cx="60" cy="4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5" name="Line 29">
                  <a:extLst>
                    <a:ext uri="{FF2B5EF4-FFF2-40B4-BE49-F238E27FC236}">
                      <a16:creationId xmlns:a16="http://schemas.microsoft.com/office/drawing/2014/main" id="{A5DABFD7-A528-81D9-FE17-006014703374}"/>
                    </a:ext>
                  </a:extLst>
                </p:cNvPr>
                <p:cNvSpPr>
                  <a:spLocks noChangeShapeType="1"/>
                </p:cNvSpPr>
                <p:nvPr/>
              </p:nvSpPr>
              <p:spPr bwMode="auto">
                <a:xfrm flipV="1">
                  <a:off x="854" y="2473"/>
                  <a:ext cx="60" cy="4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6" name="Line 30">
                  <a:extLst>
                    <a:ext uri="{FF2B5EF4-FFF2-40B4-BE49-F238E27FC236}">
                      <a16:creationId xmlns:a16="http://schemas.microsoft.com/office/drawing/2014/main" id="{625AFD6A-9FB8-7BB6-1731-40B3585907CE}"/>
                    </a:ext>
                  </a:extLst>
                </p:cNvPr>
                <p:cNvSpPr>
                  <a:spLocks noChangeShapeType="1"/>
                </p:cNvSpPr>
                <p:nvPr/>
              </p:nvSpPr>
              <p:spPr bwMode="auto">
                <a:xfrm flipV="1">
                  <a:off x="864" y="2500"/>
                  <a:ext cx="59" cy="3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71" name="Rectangle 33">
                <a:extLst>
                  <a:ext uri="{FF2B5EF4-FFF2-40B4-BE49-F238E27FC236}">
                    <a16:creationId xmlns:a16="http://schemas.microsoft.com/office/drawing/2014/main" id="{5190527B-7229-8B2A-255F-B309DD84496B}"/>
                  </a:ext>
                </a:extLst>
              </p:cNvPr>
              <p:cNvSpPr>
                <a:spLocks noChangeArrowheads="1"/>
              </p:cNvSpPr>
              <p:nvPr/>
            </p:nvSpPr>
            <p:spPr bwMode="auto">
              <a:xfrm>
                <a:off x="658658" y="2887176"/>
                <a:ext cx="625414" cy="625383"/>
              </a:xfrm>
              <a:prstGeom prst="rect">
                <a:avLst/>
              </a:prstGeom>
              <a:noFill/>
              <a:ln w="26988">
                <a:solidFill>
                  <a:schemeClr val="accent5"/>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2" name="AutoShape 34">
                <a:extLst>
                  <a:ext uri="{FF2B5EF4-FFF2-40B4-BE49-F238E27FC236}">
                    <a16:creationId xmlns:a16="http://schemas.microsoft.com/office/drawing/2014/main" id="{81876187-60CF-48FA-0915-767A9D35B978}"/>
                  </a:ext>
                </a:extLst>
              </p:cNvPr>
              <p:cNvSpPr>
                <a:spLocks noChangeArrowheads="1"/>
              </p:cNvSpPr>
              <p:nvPr/>
            </p:nvSpPr>
            <p:spPr bwMode="auto">
              <a:xfrm>
                <a:off x="693403" y="3429709"/>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3" name="AutoShape 35">
                <a:extLst>
                  <a:ext uri="{FF2B5EF4-FFF2-40B4-BE49-F238E27FC236}">
                    <a16:creationId xmlns:a16="http://schemas.microsoft.com/office/drawing/2014/main" id="{7E4C747E-F45A-FBBB-9045-0AFB459FDFCF}"/>
                  </a:ext>
                </a:extLst>
              </p:cNvPr>
              <p:cNvSpPr>
                <a:spLocks noChangeArrowheads="1"/>
              </p:cNvSpPr>
              <p:nvPr/>
            </p:nvSpPr>
            <p:spPr bwMode="auto">
              <a:xfrm>
                <a:off x="693403" y="3336169"/>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4" name="AutoShape 36">
                <a:extLst>
                  <a:ext uri="{FF2B5EF4-FFF2-40B4-BE49-F238E27FC236}">
                    <a16:creationId xmlns:a16="http://schemas.microsoft.com/office/drawing/2014/main" id="{7FA71A05-E2B0-45FB-6AAF-F54F3D6CA729}"/>
                  </a:ext>
                </a:extLst>
              </p:cNvPr>
              <p:cNvSpPr>
                <a:spLocks noChangeArrowheads="1"/>
              </p:cNvSpPr>
              <p:nvPr/>
            </p:nvSpPr>
            <p:spPr bwMode="auto">
              <a:xfrm>
                <a:off x="901874" y="342970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5" name="AutoShape 37">
                <a:extLst>
                  <a:ext uri="{FF2B5EF4-FFF2-40B4-BE49-F238E27FC236}">
                    <a16:creationId xmlns:a16="http://schemas.microsoft.com/office/drawing/2014/main" id="{DA0BECA5-D7BF-2A7D-1BF8-033CDFDC9E08}"/>
                  </a:ext>
                </a:extLst>
              </p:cNvPr>
              <p:cNvSpPr>
                <a:spLocks noChangeArrowheads="1"/>
              </p:cNvSpPr>
              <p:nvPr/>
            </p:nvSpPr>
            <p:spPr bwMode="auto">
              <a:xfrm>
                <a:off x="901874" y="333616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6" name="AutoShape 38">
                <a:extLst>
                  <a:ext uri="{FF2B5EF4-FFF2-40B4-BE49-F238E27FC236}">
                    <a16:creationId xmlns:a16="http://schemas.microsoft.com/office/drawing/2014/main" id="{6D3AC289-12A3-5994-6E41-A8BF29082E5C}"/>
                  </a:ext>
                </a:extLst>
              </p:cNvPr>
              <p:cNvSpPr>
                <a:spLocks noChangeArrowheads="1"/>
              </p:cNvSpPr>
              <p:nvPr/>
            </p:nvSpPr>
            <p:spPr bwMode="auto">
              <a:xfrm>
                <a:off x="1086291" y="342970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7" name="AutoShape 39">
                <a:extLst>
                  <a:ext uri="{FF2B5EF4-FFF2-40B4-BE49-F238E27FC236}">
                    <a16:creationId xmlns:a16="http://schemas.microsoft.com/office/drawing/2014/main" id="{9EAAE884-BB76-F975-2CC7-C028DEE23637}"/>
                  </a:ext>
                </a:extLst>
              </p:cNvPr>
              <p:cNvSpPr>
                <a:spLocks noChangeArrowheads="1"/>
              </p:cNvSpPr>
              <p:nvPr/>
            </p:nvSpPr>
            <p:spPr bwMode="auto">
              <a:xfrm>
                <a:off x="1086291" y="333616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8" name="Oval 40">
                <a:extLst>
                  <a:ext uri="{FF2B5EF4-FFF2-40B4-BE49-F238E27FC236}">
                    <a16:creationId xmlns:a16="http://schemas.microsoft.com/office/drawing/2014/main" id="{7BF6910A-4DDB-9F4B-AC49-E22B4D952A9A}"/>
                  </a:ext>
                </a:extLst>
              </p:cNvPr>
              <p:cNvSpPr>
                <a:spLocks noChangeArrowheads="1"/>
              </p:cNvSpPr>
              <p:nvPr/>
            </p:nvSpPr>
            <p:spPr bwMode="auto">
              <a:xfrm>
                <a:off x="637276" y="3440399"/>
                <a:ext cx="208471" cy="20846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79" name="Oval 41">
                <a:extLst>
                  <a:ext uri="{FF2B5EF4-FFF2-40B4-BE49-F238E27FC236}">
                    <a16:creationId xmlns:a16="http://schemas.microsoft.com/office/drawing/2014/main" id="{A6A538B6-42BE-F305-4BAE-5210D355A4C7}"/>
                  </a:ext>
                </a:extLst>
              </p:cNvPr>
              <p:cNvSpPr>
                <a:spLocks noChangeArrowheads="1"/>
              </p:cNvSpPr>
              <p:nvPr/>
            </p:nvSpPr>
            <p:spPr bwMode="auto">
              <a:xfrm>
                <a:off x="634603" y="3440399"/>
                <a:ext cx="211144" cy="211134"/>
              </a:xfrm>
              <a:prstGeom prst="ellipse">
                <a:avLst/>
              </a:prstGeom>
              <a:solidFill>
                <a:srgbClr val="FFFFFF"/>
              </a:solidFill>
              <a:ln w="26988">
                <a:solidFill>
                  <a:schemeClr val="accent3"/>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0" name="Oval 42">
                <a:extLst>
                  <a:ext uri="{FF2B5EF4-FFF2-40B4-BE49-F238E27FC236}">
                    <a16:creationId xmlns:a16="http://schemas.microsoft.com/office/drawing/2014/main" id="{0AA63534-E5AF-43E5-1ED2-AFD324414CF7}"/>
                  </a:ext>
                </a:extLst>
              </p:cNvPr>
              <p:cNvSpPr>
                <a:spLocks noChangeArrowheads="1"/>
              </p:cNvSpPr>
              <p:nvPr/>
            </p:nvSpPr>
            <p:spPr bwMode="auto">
              <a:xfrm>
                <a:off x="1121037" y="3440399"/>
                <a:ext cx="205799" cy="20846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1" name="Oval 43">
                <a:extLst>
                  <a:ext uri="{FF2B5EF4-FFF2-40B4-BE49-F238E27FC236}">
                    <a16:creationId xmlns:a16="http://schemas.microsoft.com/office/drawing/2014/main" id="{8D2B8FA8-6BF2-B74C-BEFA-660289D177C5}"/>
                  </a:ext>
                </a:extLst>
              </p:cNvPr>
              <p:cNvSpPr>
                <a:spLocks noChangeArrowheads="1"/>
              </p:cNvSpPr>
              <p:nvPr/>
            </p:nvSpPr>
            <p:spPr bwMode="auto">
              <a:xfrm>
                <a:off x="1118364" y="3440399"/>
                <a:ext cx="211144" cy="211134"/>
              </a:xfrm>
              <a:prstGeom prst="ellipse">
                <a:avLst/>
              </a:prstGeom>
              <a:solidFill>
                <a:srgbClr val="FFFFFF"/>
              </a:solidFill>
              <a:ln w="26988">
                <a:solidFill>
                  <a:schemeClr val="accent3"/>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2" name="AutoShape 44">
                <a:extLst>
                  <a:ext uri="{FF2B5EF4-FFF2-40B4-BE49-F238E27FC236}">
                    <a16:creationId xmlns:a16="http://schemas.microsoft.com/office/drawing/2014/main" id="{411E08B2-B1C6-6B4D-1846-679970C9E38F}"/>
                  </a:ext>
                </a:extLst>
              </p:cNvPr>
              <p:cNvSpPr>
                <a:spLocks noChangeArrowheads="1"/>
              </p:cNvSpPr>
              <p:nvPr/>
            </p:nvSpPr>
            <p:spPr bwMode="auto">
              <a:xfrm>
                <a:off x="717457" y="3221248"/>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3" name="AutoShape 45">
                <a:extLst>
                  <a:ext uri="{FF2B5EF4-FFF2-40B4-BE49-F238E27FC236}">
                    <a16:creationId xmlns:a16="http://schemas.microsoft.com/office/drawing/2014/main" id="{F4F41163-6938-C3AB-60A9-0E3DEA3917C6}"/>
                  </a:ext>
                </a:extLst>
              </p:cNvPr>
              <p:cNvSpPr>
                <a:spLocks noChangeArrowheads="1"/>
              </p:cNvSpPr>
              <p:nvPr/>
            </p:nvSpPr>
            <p:spPr bwMode="auto">
              <a:xfrm>
                <a:off x="717457" y="3130380"/>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4" name="AutoShape 46">
                <a:extLst>
                  <a:ext uri="{FF2B5EF4-FFF2-40B4-BE49-F238E27FC236}">
                    <a16:creationId xmlns:a16="http://schemas.microsoft.com/office/drawing/2014/main" id="{2522C374-F39C-F3DC-7FE0-B1B6DD5A19D3}"/>
                  </a:ext>
                </a:extLst>
              </p:cNvPr>
              <p:cNvSpPr>
                <a:spLocks noChangeArrowheads="1"/>
              </p:cNvSpPr>
              <p:nvPr/>
            </p:nvSpPr>
            <p:spPr bwMode="auto">
              <a:xfrm>
                <a:off x="901874" y="3221248"/>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5" name="AutoShape 47">
                <a:extLst>
                  <a:ext uri="{FF2B5EF4-FFF2-40B4-BE49-F238E27FC236}">
                    <a16:creationId xmlns:a16="http://schemas.microsoft.com/office/drawing/2014/main" id="{6099054E-3A3C-4267-7A3E-3A8D133D19AA}"/>
                  </a:ext>
                </a:extLst>
              </p:cNvPr>
              <p:cNvSpPr>
                <a:spLocks noChangeArrowheads="1"/>
              </p:cNvSpPr>
              <p:nvPr/>
            </p:nvSpPr>
            <p:spPr bwMode="auto">
              <a:xfrm>
                <a:off x="901874" y="3130380"/>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6" name="AutoShape 48">
                <a:extLst>
                  <a:ext uri="{FF2B5EF4-FFF2-40B4-BE49-F238E27FC236}">
                    <a16:creationId xmlns:a16="http://schemas.microsoft.com/office/drawing/2014/main" id="{C6F0DCE3-F77A-5FDB-1361-2E616AD184D4}"/>
                  </a:ext>
                </a:extLst>
              </p:cNvPr>
              <p:cNvSpPr>
                <a:spLocks noChangeArrowheads="1"/>
              </p:cNvSpPr>
              <p:nvPr/>
            </p:nvSpPr>
            <p:spPr bwMode="auto">
              <a:xfrm>
                <a:off x="1086291" y="3221248"/>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7" name="AutoShape 49">
                <a:extLst>
                  <a:ext uri="{FF2B5EF4-FFF2-40B4-BE49-F238E27FC236}">
                    <a16:creationId xmlns:a16="http://schemas.microsoft.com/office/drawing/2014/main" id="{C5987C88-0E64-1729-3B50-9DA069290481}"/>
                  </a:ext>
                </a:extLst>
              </p:cNvPr>
              <p:cNvSpPr>
                <a:spLocks noChangeArrowheads="1"/>
              </p:cNvSpPr>
              <p:nvPr/>
            </p:nvSpPr>
            <p:spPr bwMode="auto">
              <a:xfrm>
                <a:off x="1086291" y="3130380"/>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8" name="AutoShape 50">
                <a:extLst>
                  <a:ext uri="{FF2B5EF4-FFF2-40B4-BE49-F238E27FC236}">
                    <a16:creationId xmlns:a16="http://schemas.microsoft.com/office/drawing/2014/main" id="{0E0BE613-9FDB-57D5-077A-2BFB0DD5271F}"/>
                  </a:ext>
                </a:extLst>
              </p:cNvPr>
              <p:cNvSpPr>
                <a:spLocks noChangeArrowheads="1"/>
              </p:cNvSpPr>
              <p:nvPr/>
            </p:nvSpPr>
            <p:spPr bwMode="auto">
              <a:xfrm>
                <a:off x="693403" y="3015459"/>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89" name="AutoShape 51">
                <a:extLst>
                  <a:ext uri="{FF2B5EF4-FFF2-40B4-BE49-F238E27FC236}">
                    <a16:creationId xmlns:a16="http://schemas.microsoft.com/office/drawing/2014/main" id="{6F543416-1B5D-A5D8-4110-75156CF9BB31}"/>
                  </a:ext>
                </a:extLst>
              </p:cNvPr>
              <p:cNvSpPr>
                <a:spLocks noChangeArrowheads="1"/>
              </p:cNvSpPr>
              <p:nvPr/>
            </p:nvSpPr>
            <p:spPr bwMode="auto">
              <a:xfrm>
                <a:off x="693403" y="2924592"/>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0" name="AutoShape 52">
                <a:extLst>
                  <a:ext uri="{FF2B5EF4-FFF2-40B4-BE49-F238E27FC236}">
                    <a16:creationId xmlns:a16="http://schemas.microsoft.com/office/drawing/2014/main" id="{EF029BAA-F474-A445-6425-BE13BCFD6F02}"/>
                  </a:ext>
                </a:extLst>
              </p:cNvPr>
              <p:cNvSpPr>
                <a:spLocks noChangeArrowheads="1"/>
              </p:cNvSpPr>
              <p:nvPr/>
            </p:nvSpPr>
            <p:spPr bwMode="auto">
              <a:xfrm>
                <a:off x="901874" y="301545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1" name="AutoShape 53">
                <a:extLst>
                  <a:ext uri="{FF2B5EF4-FFF2-40B4-BE49-F238E27FC236}">
                    <a16:creationId xmlns:a16="http://schemas.microsoft.com/office/drawing/2014/main" id="{FE1D6BF7-E3A6-EA8F-F319-8357F38A8DA0}"/>
                  </a:ext>
                </a:extLst>
              </p:cNvPr>
              <p:cNvSpPr>
                <a:spLocks noChangeArrowheads="1"/>
              </p:cNvSpPr>
              <p:nvPr/>
            </p:nvSpPr>
            <p:spPr bwMode="auto">
              <a:xfrm>
                <a:off x="901874" y="2924592"/>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2" name="AutoShape 54">
                <a:extLst>
                  <a:ext uri="{FF2B5EF4-FFF2-40B4-BE49-F238E27FC236}">
                    <a16:creationId xmlns:a16="http://schemas.microsoft.com/office/drawing/2014/main" id="{A1A77917-12DD-A486-9137-CFE0327EE6A1}"/>
                  </a:ext>
                </a:extLst>
              </p:cNvPr>
              <p:cNvSpPr>
                <a:spLocks noChangeArrowheads="1"/>
              </p:cNvSpPr>
              <p:nvPr/>
            </p:nvSpPr>
            <p:spPr bwMode="auto">
              <a:xfrm>
                <a:off x="1086291" y="301545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3" name="AutoShape 55">
                <a:extLst>
                  <a:ext uri="{FF2B5EF4-FFF2-40B4-BE49-F238E27FC236}">
                    <a16:creationId xmlns:a16="http://schemas.microsoft.com/office/drawing/2014/main" id="{37BCE8BC-8D7F-918D-7173-9E6E2773D271}"/>
                  </a:ext>
                </a:extLst>
              </p:cNvPr>
              <p:cNvSpPr>
                <a:spLocks noChangeArrowheads="1"/>
              </p:cNvSpPr>
              <p:nvPr/>
            </p:nvSpPr>
            <p:spPr bwMode="auto">
              <a:xfrm>
                <a:off x="1086291" y="2924592"/>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4" name="AutoShape 56">
                <a:extLst>
                  <a:ext uri="{FF2B5EF4-FFF2-40B4-BE49-F238E27FC236}">
                    <a16:creationId xmlns:a16="http://schemas.microsoft.com/office/drawing/2014/main" id="{2A73AB74-C252-164E-1958-DAB955F88354}"/>
                  </a:ext>
                </a:extLst>
              </p:cNvPr>
              <p:cNvSpPr>
                <a:spLocks noChangeArrowheads="1"/>
              </p:cNvSpPr>
              <p:nvPr/>
            </p:nvSpPr>
            <p:spPr bwMode="auto">
              <a:xfrm>
                <a:off x="693403" y="2809671"/>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5" name="AutoShape 57">
                <a:extLst>
                  <a:ext uri="{FF2B5EF4-FFF2-40B4-BE49-F238E27FC236}">
                    <a16:creationId xmlns:a16="http://schemas.microsoft.com/office/drawing/2014/main" id="{FB52FC1D-7E4E-E868-F3C9-2A532BA428F8}"/>
                  </a:ext>
                </a:extLst>
              </p:cNvPr>
              <p:cNvSpPr>
                <a:spLocks noChangeArrowheads="1"/>
              </p:cNvSpPr>
              <p:nvPr/>
            </p:nvSpPr>
            <p:spPr bwMode="auto">
              <a:xfrm>
                <a:off x="693403" y="2716131"/>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6" name="AutoShape 58">
                <a:extLst>
                  <a:ext uri="{FF2B5EF4-FFF2-40B4-BE49-F238E27FC236}">
                    <a16:creationId xmlns:a16="http://schemas.microsoft.com/office/drawing/2014/main" id="{234652E2-377D-0CC2-E8F2-D74469ABEBC6}"/>
                  </a:ext>
                </a:extLst>
              </p:cNvPr>
              <p:cNvSpPr>
                <a:spLocks noChangeArrowheads="1"/>
              </p:cNvSpPr>
              <p:nvPr/>
            </p:nvSpPr>
            <p:spPr bwMode="auto">
              <a:xfrm>
                <a:off x="877820" y="2809671"/>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7" name="AutoShape 59">
                <a:extLst>
                  <a:ext uri="{FF2B5EF4-FFF2-40B4-BE49-F238E27FC236}">
                    <a16:creationId xmlns:a16="http://schemas.microsoft.com/office/drawing/2014/main" id="{C4117185-9E01-9EC5-21D1-8965AB69D9C7}"/>
                  </a:ext>
                </a:extLst>
              </p:cNvPr>
              <p:cNvSpPr>
                <a:spLocks noChangeArrowheads="1"/>
              </p:cNvSpPr>
              <p:nvPr/>
            </p:nvSpPr>
            <p:spPr bwMode="auto">
              <a:xfrm>
                <a:off x="877820" y="2716131"/>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8" name="AutoShape 60">
                <a:extLst>
                  <a:ext uri="{FF2B5EF4-FFF2-40B4-BE49-F238E27FC236}">
                    <a16:creationId xmlns:a16="http://schemas.microsoft.com/office/drawing/2014/main" id="{8668E19E-CB1B-1651-68FB-FD7FCB262DCD}"/>
                  </a:ext>
                </a:extLst>
              </p:cNvPr>
              <p:cNvSpPr>
                <a:spLocks noChangeArrowheads="1"/>
              </p:cNvSpPr>
              <p:nvPr/>
            </p:nvSpPr>
            <p:spPr bwMode="auto">
              <a:xfrm>
                <a:off x="1086291" y="2809671"/>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99" name="AutoShape 61">
                <a:extLst>
                  <a:ext uri="{FF2B5EF4-FFF2-40B4-BE49-F238E27FC236}">
                    <a16:creationId xmlns:a16="http://schemas.microsoft.com/office/drawing/2014/main" id="{EE5F33DE-376B-4299-8B6E-46B5BC0C92B3}"/>
                  </a:ext>
                </a:extLst>
              </p:cNvPr>
              <p:cNvSpPr>
                <a:spLocks noChangeArrowheads="1"/>
              </p:cNvSpPr>
              <p:nvPr/>
            </p:nvSpPr>
            <p:spPr bwMode="auto">
              <a:xfrm>
                <a:off x="1086291" y="2716131"/>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00" name="AutoShape 62">
                <a:extLst>
                  <a:ext uri="{FF2B5EF4-FFF2-40B4-BE49-F238E27FC236}">
                    <a16:creationId xmlns:a16="http://schemas.microsoft.com/office/drawing/2014/main" id="{E9B2A784-68C8-A85C-F237-FF9FD11D8FD9}"/>
                  </a:ext>
                </a:extLst>
              </p:cNvPr>
              <p:cNvSpPr>
                <a:spLocks noChangeArrowheads="1"/>
              </p:cNvSpPr>
              <p:nvPr/>
            </p:nvSpPr>
            <p:spPr bwMode="auto">
              <a:xfrm>
                <a:off x="2005704" y="2876485"/>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01" name="Line 63">
                <a:extLst>
                  <a:ext uri="{FF2B5EF4-FFF2-40B4-BE49-F238E27FC236}">
                    <a16:creationId xmlns:a16="http://schemas.microsoft.com/office/drawing/2014/main" id="{EF53A39B-87DE-B04E-6530-34686DE84469}"/>
                  </a:ext>
                </a:extLst>
              </p:cNvPr>
              <p:cNvSpPr>
                <a:spLocks noChangeShapeType="1"/>
              </p:cNvSpPr>
              <p:nvPr/>
            </p:nvSpPr>
            <p:spPr bwMode="auto">
              <a:xfrm>
                <a:off x="2730008" y="3095637"/>
                <a:ext cx="620069" cy="26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2" name="Line 64">
                <a:extLst>
                  <a:ext uri="{FF2B5EF4-FFF2-40B4-BE49-F238E27FC236}">
                    <a16:creationId xmlns:a16="http://schemas.microsoft.com/office/drawing/2014/main" id="{4489B3D9-2B7A-0398-7642-1C2F72A4373D}"/>
                  </a:ext>
                </a:extLst>
              </p:cNvPr>
              <p:cNvSpPr>
                <a:spLocks noChangeShapeType="1"/>
              </p:cNvSpPr>
              <p:nvPr/>
            </p:nvSpPr>
            <p:spPr bwMode="auto">
              <a:xfrm>
                <a:off x="2730008" y="3304098"/>
                <a:ext cx="620069" cy="26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03" name="Group 73">
                <a:extLst>
                  <a:ext uri="{FF2B5EF4-FFF2-40B4-BE49-F238E27FC236}">
                    <a16:creationId xmlns:a16="http://schemas.microsoft.com/office/drawing/2014/main" id="{EA352C39-EC2C-53D1-57C4-52C488F9232F}"/>
                  </a:ext>
                </a:extLst>
              </p:cNvPr>
              <p:cNvGrpSpPr>
                <a:grpSpLocks/>
              </p:cNvGrpSpPr>
              <p:nvPr/>
            </p:nvGrpSpPr>
            <p:grpSpPr bwMode="auto">
              <a:xfrm>
                <a:off x="3938073" y="2371368"/>
                <a:ext cx="459706" cy="208461"/>
                <a:chOff x="1564" y="2305"/>
                <a:chExt cx="172" cy="78"/>
              </a:xfrm>
            </p:grpSpPr>
            <p:grpSp>
              <p:nvGrpSpPr>
                <p:cNvPr id="156" name="Group 71">
                  <a:extLst>
                    <a:ext uri="{FF2B5EF4-FFF2-40B4-BE49-F238E27FC236}">
                      <a16:creationId xmlns:a16="http://schemas.microsoft.com/office/drawing/2014/main" id="{1B2E515D-21D4-D8F4-7F40-A99282B6BBE4}"/>
                    </a:ext>
                  </a:extLst>
                </p:cNvPr>
                <p:cNvGrpSpPr>
                  <a:grpSpLocks/>
                </p:cNvGrpSpPr>
                <p:nvPr/>
              </p:nvGrpSpPr>
              <p:grpSpPr bwMode="auto">
                <a:xfrm>
                  <a:off x="1572" y="2305"/>
                  <a:ext cx="164" cy="69"/>
                  <a:chOff x="1572" y="2305"/>
                  <a:chExt cx="164" cy="69"/>
                </a:xfrm>
              </p:grpSpPr>
              <p:sp>
                <p:nvSpPr>
                  <p:cNvPr id="158" name="Rectangle 65">
                    <a:extLst>
                      <a:ext uri="{FF2B5EF4-FFF2-40B4-BE49-F238E27FC236}">
                        <a16:creationId xmlns:a16="http://schemas.microsoft.com/office/drawing/2014/main" id="{009B3641-56A6-3FD0-6D26-2321C627CF3F}"/>
                      </a:ext>
                    </a:extLst>
                  </p:cNvPr>
                  <p:cNvSpPr>
                    <a:spLocks noChangeArrowheads="1"/>
                  </p:cNvSpPr>
                  <p:nvPr/>
                </p:nvSpPr>
                <p:spPr bwMode="auto">
                  <a:xfrm>
                    <a:off x="1615" y="2348"/>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59" name="Rectangle 66">
                    <a:extLst>
                      <a:ext uri="{FF2B5EF4-FFF2-40B4-BE49-F238E27FC236}">
                        <a16:creationId xmlns:a16="http://schemas.microsoft.com/office/drawing/2014/main" id="{40210129-3709-B603-A753-CFDA3D78A83E}"/>
                      </a:ext>
                    </a:extLst>
                  </p:cNvPr>
                  <p:cNvSpPr>
                    <a:spLocks noChangeArrowheads="1"/>
                  </p:cNvSpPr>
                  <p:nvPr/>
                </p:nvSpPr>
                <p:spPr bwMode="auto">
                  <a:xfrm>
                    <a:off x="1607" y="2331"/>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60" name="Rectangle 67">
                    <a:extLst>
                      <a:ext uri="{FF2B5EF4-FFF2-40B4-BE49-F238E27FC236}">
                        <a16:creationId xmlns:a16="http://schemas.microsoft.com/office/drawing/2014/main" id="{C944CF67-9BB7-C2EC-BF61-ABE518194B83}"/>
                      </a:ext>
                    </a:extLst>
                  </p:cNvPr>
                  <p:cNvSpPr>
                    <a:spLocks noChangeArrowheads="1"/>
                  </p:cNvSpPr>
                  <p:nvPr/>
                </p:nvSpPr>
                <p:spPr bwMode="auto">
                  <a:xfrm>
                    <a:off x="1598" y="2314"/>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61" name="Rectangle 68">
                    <a:extLst>
                      <a:ext uri="{FF2B5EF4-FFF2-40B4-BE49-F238E27FC236}">
                        <a16:creationId xmlns:a16="http://schemas.microsoft.com/office/drawing/2014/main" id="{1BC68F61-E526-D225-9A60-2D83670B6457}"/>
                      </a:ext>
                    </a:extLst>
                  </p:cNvPr>
                  <p:cNvSpPr>
                    <a:spLocks noChangeArrowheads="1"/>
                  </p:cNvSpPr>
                  <p:nvPr/>
                </p:nvSpPr>
                <p:spPr bwMode="auto">
                  <a:xfrm>
                    <a:off x="1589" y="2305"/>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62" name="Rectangle 69">
                    <a:extLst>
                      <a:ext uri="{FF2B5EF4-FFF2-40B4-BE49-F238E27FC236}">
                        <a16:creationId xmlns:a16="http://schemas.microsoft.com/office/drawing/2014/main" id="{FE876D68-94F6-E693-BD65-ABD57DB8CC50}"/>
                      </a:ext>
                    </a:extLst>
                  </p:cNvPr>
                  <p:cNvSpPr>
                    <a:spLocks noChangeArrowheads="1"/>
                  </p:cNvSpPr>
                  <p:nvPr/>
                </p:nvSpPr>
                <p:spPr bwMode="auto">
                  <a:xfrm>
                    <a:off x="1581" y="2322"/>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63" name="Rectangle 70">
                    <a:extLst>
                      <a:ext uri="{FF2B5EF4-FFF2-40B4-BE49-F238E27FC236}">
                        <a16:creationId xmlns:a16="http://schemas.microsoft.com/office/drawing/2014/main" id="{60A5BB21-6AF6-94C0-8F47-483230B6C951}"/>
                      </a:ext>
                    </a:extLst>
                  </p:cNvPr>
                  <p:cNvSpPr>
                    <a:spLocks noChangeArrowheads="1"/>
                  </p:cNvSpPr>
                  <p:nvPr/>
                </p:nvSpPr>
                <p:spPr bwMode="auto">
                  <a:xfrm>
                    <a:off x="1572" y="2339"/>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157" name="Rectangle 72">
                  <a:extLst>
                    <a:ext uri="{FF2B5EF4-FFF2-40B4-BE49-F238E27FC236}">
                      <a16:creationId xmlns:a16="http://schemas.microsoft.com/office/drawing/2014/main" id="{D2485C2B-8DC3-42A9-9C8B-D4B808F7ED79}"/>
                    </a:ext>
                  </a:extLst>
                </p:cNvPr>
                <p:cNvSpPr>
                  <a:spLocks noChangeArrowheads="1"/>
                </p:cNvSpPr>
                <p:nvPr/>
              </p:nvSpPr>
              <p:spPr bwMode="auto">
                <a:xfrm>
                  <a:off x="1564" y="2357"/>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104" name="Rectangle 74">
                <a:extLst>
                  <a:ext uri="{FF2B5EF4-FFF2-40B4-BE49-F238E27FC236}">
                    <a16:creationId xmlns:a16="http://schemas.microsoft.com/office/drawing/2014/main" id="{DC14B477-2AB8-1C1D-B4F4-B110BCE9CFF1}"/>
                  </a:ext>
                </a:extLst>
              </p:cNvPr>
              <p:cNvSpPr>
                <a:spLocks noChangeArrowheads="1"/>
              </p:cNvSpPr>
              <p:nvPr/>
            </p:nvSpPr>
            <p:spPr bwMode="auto">
              <a:xfrm>
                <a:off x="3753656" y="2531723"/>
                <a:ext cx="828540" cy="1106448"/>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05" name="Rectangle 75">
                <a:extLst>
                  <a:ext uri="{FF2B5EF4-FFF2-40B4-BE49-F238E27FC236}">
                    <a16:creationId xmlns:a16="http://schemas.microsoft.com/office/drawing/2014/main" id="{D37EC0A4-5058-C70A-C994-80CB2331A440}"/>
                  </a:ext>
                </a:extLst>
              </p:cNvPr>
              <p:cNvSpPr>
                <a:spLocks noChangeArrowheads="1"/>
              </p:cNvSpPr>
              <p:nvPr/>
            </p:nvSpPr>
            <p:spPr bwMode="auto">
              <a:xfrm>
                <a:off x="3545185" y="2809671"/>
                <a:ext cx="208471" cy="828499"/>
              </a:xfrm>
              <a:prstGeom prst="rect">
                <a:avLst/>
              </a:prstGeom>
              <a:solidFill>
                <a:schemeClr val="accent3"/>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106" name="Group 83">
                <a:extLst>
                  <a:ext uri="{FF2B5EF4-FFF2-40B4-BE49-F238E27FC236}">
                    <a16:creationId xmlns:a16="http://schemas.microsoft.com/office/drawing/2014/main" id="{9E6C3392-43F2-94A3-6279-16ED11EAE1A1}"/>
                  </a:ext>
                </a:extLst>
              </p:cNvPr>
              <p:cNvGrpSpPr>
                <a:grpSpLocks/>
              </p:cNvGrpSpPr>
              <p:nvPr/>
            </p:nvGrpSpPr>
            <p:grpSpPr bwMode="auto">
              <a:xfrm>
                <a:off x="3868583" y="2694750"/>
                <a:ext cx="574633" cy="344763"/>
                <a:chOff x="1538" y="2426"/>
                <a:chExt cx="215" cy="129"/>
              </a:xfrm>
            </p:grpSpPr>
            <p:sp>
              <p:nvSpPr>
                <p:cNvPr id="149" name="Rectangle 76">
                  <a:extLst>
                    <a:ext uri="{FF2B5EF4-FFF2-40B4-BE49-F238E27FC236}">
                      <a16:creationId xmlns:a16="http://schemas.microsoft.com/office/drawing/2014/main" id="{FCD71D30-851A-FD68-5B25-42A082477A3C}"/>
                    </a:ext>
                  </a:extLst>
                </p:cNvPr>
                <p:cNvSpPr>
                  <a:spLocks noChangeArrowheads="1"/>
                </p:cNvSpPr>
                <p:nvPr/>
              </p:nvSpPr>
              <p:spPr bwMode="auto">
                <a:xfrm>
                  <a:off x="1538" y="2426"/>
                  <a:ext cx="215" cy="129"/>
                </a:xfrm>
                <a:prstGeom prst="rect">
                  <a:avLst/>
                </a:prstGeom>
                <a:solidFill>
                  <a:schemeClr val="bg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50" name="Line 77">
                  <a:extLst>
                    <a:ext uri="{FF2B5EF4-FFF2-40B4-BE49-F238E27FC236}">
                      <a16:creationId xmlns:a16="http://schemas.microsoft.com/office/drawing/2014/main" id="{17105B2A-A8D1-6A65-4FA7-6598952A28D1}"/>
                    </a:ext>
                  </a:extLst>
                </p:cNvPr>
                <p:cNvSpPr>
                  <a:spLocks noChangeShapeType="1"/>
                </p:cNvSpPr>
                <p:nvPr/>
              </p:nvSpPr>
              <p:spPr bwMode="auto">
                <a:xfrm flipV="1">
                  <a:off x="1586" y="2457"/>
                  <a:ext cx="17" cy="16"/>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1" name="Line 78">
                  <a:extLst>
                    <a:ext uri="{FF2B5EF4-FFF2-40B4-BE49-F238E27FC236}">
                      <a16:creationId xmlns:a16="http://schemas.microsoft.com/office/drawing/2014/main" id="{CBA807DB-F3E4-B95B-541A-83D66D3EC531}"/>
                    </a:ext>
                  </a:extLst>
                </p:cNvPr>
                <p:cNvSpPr>
                  <a:spLocks noChangeShapeType="1"/>
                </p:cNvSpPr>
                <p:nvPr/>
              </p:nvSpPr>
              <p:spPr bwMode="auto">
                <a:xfrm flipV="1">
                  <a:off x="1588" y="2458"/>
                  <a:ext cx="49" cy="3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2" name="Line 79">
                  <a:extLst>
                    <a:ext uri="{FF2B5EF4-FFF2-40B4-BE49-F238E27FC236}">
                      <a16:creationId xmlns:a16="http://schemas.microsoft.com/office/drawing/2014/main" id="{4FD2B5AD-B7FB-76A0-AE4D-C8E3B7661187}"/>
                    </a:ext>
                  </a:extLst>
                </p:cNvPr>
                <p:cNvSpPr>
                  <a:spLocks noChangeShapeType="1"/>
                </p:cNvSpPr>
                <p:nvPr/>
              </p:nvSpPr>
              <p:spPr bwMode="auto">
                <a:xfrm flipV="1">
                  <a:off x="1585" y="2457"/>
                  <a:ext cx="69" cy="5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3" name="Line 80">
                  <a:extLst>
                    <a:ext uri="{FF2B5EF4-FFF2-40B4-BE49-F238E27FC236}">
                      <a16:creationId xmlns:a16="http://schemas.microsoft.com/office/drawing/2014/main" id="{D4815152-1394-54BC-A87C-C236D2EA1390}"/>
                    </a:ext>
                  </a:extLst>
                </p:cNvPr>
                <p:cNvSpPr>
                  <a:spLocks noChangeShapeType="1"/>
                </p:cNvSpPr>
                <p:nvPr/>
              </p:nvSpPr>
              <p:spPr bwMode="auto">
                <a:xfrm flipV="1">
                  <a:off x="1620" y="2456"/>
                  <a:ext cx="60" cy="4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4" name="Line 81">
                  <a:extLst>
                    <a:ext uri="{FF2B5EF4-FFF2-40B4-BE49-F238E27FC236}">
                      <a16:creationId xmlns:a16="http://schemas.microsoft.com/office/drawing/2014/main" id="{5EDB23F5-4CAC-7157-B48F-17BC8BEF30A2}"/>
                    </a:ext>
                  </a:extLst>
                </p:cNvPr>
                <p:cNvSpPr>
                  <a:spLocks noChangeShapeType="1"/>
                </p:cNvSpPr>
                <p:nvPr/>
              </p:nvSpPr>
              <p:spPr bwMode="auto">
                <a:xfrm flipV="1">
                  <a:off x="1629" y="2474"/>
                  <a:ext cx="60" cy="4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5" name="Line 82">
                  <a:extLst>
                    <a:ext uri="{FF2B5EF4-FFF2-40B4-BE49-F238E27FC236}">
                      <a16:creationId xmlns:a16="http://schemas.microsoft.com/office/drawing/2014/main" id="{CADC0E04-C9EE-0C99-EC83-B2640CA6523B}"/>
                    </a:ext>
                  </a:extLst>
                </p:cNvPr>
                <p:cNvSpPr>
                  <a:spLocks noChangeShapeType="1"/>
                </p:cNvSpPr>
                <p:nvPr/>
              </p:nvSpPr>
              <p:spPr bwMode="auto">
                <a:xfrm flipV="1">
                  <a:off x="1638" y="2500"/>
                  <a:ext cx="59" cy="3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07" name="Rectangle 85">
                <a:extLst>
                  <a:ext uri="{FF2B5EF4-FFF2-40B4-BE49-F238E27FC236}">
                    <a16:creationId xmlns:a16="http://schemas.microsoft.com/office/drawing/2014/main" id="{4386E46A-67F9-4682-7A14-6194FD57E005}"/>
                  </a:ext>
                </a:extLst>
              </p:cNvPr>
              <p:cNvSpPr>
                <a:spLocks noChangeArrowheads="1"/>
              </p:cNvSpPr>
              <p:nvPr/>
            </p:nvSpPr>
            <p:spPr bwMode="auto">
              <a:xfrm>
                <a:off x="2730008" y="2887176"/>
                <a:ext cx="622741" cy="625383"/>
              </a:xfrm>
              <a:prstGeom prst="rect">
                <a:avLst/>
              </a:prstGeom>
              <a:noFill/>
              <a:ln w="26988">
                <a:solidFill>
                  <a:schemeClr val="accent5"/>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08" name="Oval 92">
                <a:extLst>
                  <a:ext uri="{FF2B5EF4-FFF2-40B4-BE49-F238E27FC236}">
                    <a16:creationId xmlns:a16="http://schemas.microsoft.com/office/drawing/2014/main" id="{A0D24B90-C71C-C86B-043D-DD11A8538AB8}"/>
                  </a:ext>
                </a:extLst>
              </p:cNvPr>
              <p:cNvSpPr>
                <a:spLocks noChangeArrowheads="1"/>
              </p:cNvSpPr>
              <p:nvPr/>
            </p:nvSpPr>
            <p:spPr bwMode="auto">
              <a:xfrm>
                <a:off x="2708627" y="3440399"/>
                <a:ext cx="205799" cy="20846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09" name="Oval 93">
                <a:extLst>
                  <a:ext uri="{FF2B5EF4-FFF2-40B4-BE49-F238E27FC236}">
                    <a16:creationId xmlns:a16="http://schemas.microsoft.com/office/drawing/2014/main" id="{4D0D43F6-79DD-9A3E-DBDA-383B012982BE}"/>
                  </a:ext>
                </a:extLst>
              </p:cNvPr>
              <p:cNvSpPr>
                <a:spLocks noChangeArrowheads="1"/>
              </p:cNvSpPr>
              <p:nvPr/>
            </p:nvSpPr>
            <p:spPr bwMode="auto">
              <a:xfrm>
                <a:off x="2705954" y="3440399"/>
                <a:ext cx="211144" cy="211134"/>
              </a:xfrm>
              <a:prstGeom prst="ellipse">
                <a:avLst/>
              </a:prstGeom>
              <a:solidFill>
                <a:srgbClr val="FFFFFF"/>
              </a:solidFill>
              <a:ln w="26988">
                <a:solidFill>
                  <a:schemeClr val="accent3"/>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10" name="Oval 94">
                <a:extLst>
                  <a:ext uri="{FF2B5EF4-FFF2-40B4-BE49-F238E27FC236}">
                    <a16:creationId xmlns:a16="http://schemas.microsoft.com/office/drawing/2014/main" id="{09F9F0DB-1B8E-A9A4-5099-B1F1295260C4}"/>
                  </a:ext>
                </a:extLst>
              </p:cNvPr>
              <p:cNvSpPr>
                <a:spLocks noChangeArrowheads="1"/>
              </p:cNvSpPr>
              <p:nvPr/>
            </p:nvSpPr>
            <p:spPr bwMode="auto">
              <a:xfrm>
                <a:off x="3189714" y="3440399"/>
                <a:ext cx="208471" cy="20846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11" name="Oval 95">
                <a:extLst>
                  <a:ext uri="{FF2B5EF4-FFF2-40B4-BE49-F238E27FC236}">
                    <a16:creationId xmlns:a16="http://schemas.microsoft.com/office/drawing/2014/main" id="{08704644-EBF1-1D71-0FF7-16EBD462B99C}"/>
                  </a:ext>
                </a:extLst>
              </p:cNvPr>
              <p:cNvSpPr>
                <a:spLocks noChangeArrowheads="1"/>
              </p:cNvSpPr>
              <p:nvPr/>
            </p:nvSpPr>
            <p:spPr bwMode="auto">
              <a:xfrm>
                <a:off x="3189714" y="3440399"/>
                <a:ext cx="208471" cy="211134"/>
              </a:xfrm>
              <a:prstGeom prst="ellipse">
                <a:avLst/>
              </a:prstGeom>
              <a:solidFill>
                <a:srgbClr val="FFFFFF"/>
              </a:solidFill>
              <a:ln w="26988">
                <a:solidFill>
                  <a:schemeClr val="accent3"/>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12" name="Line 115">
                <a:extLst>
                  <a:ext uri="{FF2B5EF4-FFF2-40B4-BE49-F238E27FC236}">
                    <a16:creationId xmlns:a16="http://schemas.microsoft.com/office/drawing/2014/main" id="{661F1D5F-297B-8E7A-7AE4-A5DCE4C9F7F2}"/>
                  </a:ext>
                </a:extLst>
              </p:cNvPr>
              <p:cNvSpPr>
                <a:spLocks noChangeShapeType="1"/>
              </p:cNvSpPr>
              <p:nvPr/>
            </p:nvSpPr>
            <p:spPr bwMode="auto">
              <a:xfrm>
                <a:off x="4801359" y="3095637"/>
                <a:ext cx="620069" cy="26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3" name="Line 116">
                <a:extLst>
                  <a:ext uri="{FF2B5EF4-FFF2-40B4-BE49-F238E27FC236}">
                    <a16:creationId xmlns:a16="http://schemas.microsoft.com/office/drawing/2014/main" id="{DD3E1E6B-88D7-9492-965D-00BEB97B624A}"/>
                  </a:ext>
                </a:extLst>
              </p:cNvPr>
              <p:cNvSpPr>
                <a:spLocks noChangeShapeType="1"/>
              </p:cNvSpPr>
              <p:nvPr/>
            </p:nvSpPr>
            <p:spPr bwMode="auto">
              <a:xfrm>
                <a:off x="4801359" y="3304098"/>
                <a:ext cx="620069" cy="267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114" name="Group 125">
                <a:extLst>
                  <a:ext uri="{FF2B5EF4-FFF2-40B4-BE49-F238E27FC236}">
                    <a16:creationId xmlns:a16="http://schemas.microsoft.com/office/drawing/2014/main" id="{3D54CA5A-B760-5584-9C48-A68DFFB0F1E8}"/>
                  </a:ext>
                </a:extLst>
              </p:cNvPr>
              <p:cNvGrpSpPr>
                <a:grpSpLocks/>
              </p:cNvGrpSpPr>
              <p:nvPr/>
            </p:nvGrpSpPr>
            <p:grpSpPr bwMode="auto">
              <a:xfrm>
                <a:off x="6006751" y="2371368"/>
                <a:ext cx="462379" cy="208461"/>
                <a:chOff x="2338" y="2305"/>
                <a:chExt cx="173" cy="78"/>
              </a:xfrm>
            </p:grpSpPr>
            <p:grpSp>
              <p:nvGrpSpPr>
                <p:cNvPr id="141" name="Group 148">
                  <a:extLst>
                    <a:ext uri="{FF2B5EF4-FFF2-40B4-BE49-F238E27FC236}">
                      <a16:creationId xmlns:a16="http://schemas.microsoft.com/office/drawing/2014/main" id="{8970085D-34CF-59CC-1F48-6BA96E2966FA}"/>
                    </a:ext>
                  </a:extLst>
                </p:cNvPr>
                <p:cNvGrpSpPr>
                  <a:grpSpLocks/>
                </p:cNvGrpSpPr>
                <p:nvPr/>
              </p:nvGrpSpPr>
              <p:grpSpPr bwMode="auto">
                <a:xfrm>
                  <a:off x="2347" y="2305"/>
                  <a:ext cx="164" cy="69"/>
                  <a:chOff x="2347" y="2305"/>
                  <a:chExt cx="164" cy="69"/>
                </a:xfrm>
              </p:grpSpPr>
              <p:sp>
                <p:nvSpPr>
                  <p:cNvPr id="143" name="Rectangle 117">
                    <a:extLst>
                      <a:ext uri="{FF2B5EF4-FFF2-40B4-BE49-F238E27FC236}">
                        <a16:creationId xmlns:a16="http://schemas.microsoft.com/office/drawing/2014/main" id="{0C0D1B5D-CD43-E4EA-240D-94E049563B4C}"/>
                      </a:ext>
                    </a:extLst>
                  </p:cNvPr>
                  <p:cNvSpPr>
                    <a:spLocks noChangeArrowheads="1"/>
                  </p:cNvSpPr>
                  <p:nvPr/>
                </p:nvSpPr>
                <p:spPr bwMode="auto">
                  <a:xfrm>
                    <a:off x="2390" y="2348"/>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44" name="Rectangle 118">
                    <a:extLst>
                      <a:ext uri="{FF2B5EF4-FFF2-40B4-BE49-F238E27FC236}">
                        <a16:creationId xmlns:a16="http://schemas.microsoft.com/office/drawing/2014/main" id="{84B59D9B-19BF-E30B-D751-C2E94503852B}"/>
                      </a:ext>
                    </a:extLst>
                  </p:cNvPr>
                  <p:cNvSpPr>
                    <a:spLocks noChangeArrowheads="1"/>
                  </p:cNvSpPr>
                  <p:nvPr/>
                </p:nvSpPr>
                <p:spPr bwMode="auto">
                  <a:xfrm>
                    <a:off x="2381" y="2331"/>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45" name="Rectangle 119">
                    <a:extLst>
                      <a:ext uri="{FF2B5EF4-FFF2-40B4-BE49-F238E27FC236}">
                        <a16:creationId xmlns:a16="http://schemas.microsoft.com/office/drawing/2014/main" id="{BB0EFC00-2509-6FFF-081A-83779B222DE6}"/>
                      </a:ext>
                    </a:extLst>
                  </p:cNvPr>
                  <p:cNvSpPr>
                    <a:spLocks noChangeArrowheads="1"/>
                  </p:cNvSpPr>
                  <p:nvPr/>
                </p:nvSpPr>
                <p:spPr bwMode="auto">
                  <a:xfrm>
                    <a:off x="2372" y="2314"/>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46" name="Rectangle 120">
                    <a:extLst>
                      <a:ext uri="{FF2B5EF4-FFF2-40B4-BE49-F238E27FC236}">
                        <a16:creationId xmlns:a16="http://schemas.microsoft.com/office/drawing/2014/main" id="{5340010F-9D6D-6448-86C2-09C56C6973AA}"/>
                      </a:ext>
                    </a:extLst>
                  </p:cNvPr>
                  <p:cNvSpPr>
                    <a:spLocks noChangeArrowheads="1"/>
                  </p:cNvSpPr>
                  <p:nvPr/>
                </p:nvSpPr>
                <p:spPr bwMode="auto">
                  <a:xfrm>
                    <a:off x="2364" y="2305"/>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47" name="Rectangle 121">
                    <a:extLst>
                      <a:ext uri="{FF2B5EF4-FFF2-40B4-BE49-F238E27FC236}">
                        <a16:creationId xmlns:a16="http://schemas.microsoft.com/office/drawing/2014/main" id="{5C077712-261F-27D5-9EF3-1D6B01ACB2FE}"/>
                      </a:ext>
                    </a:extLst>
                  </p:cNvPr>
                  <p:cNvSpPr>
                    <a:spLocks noChangeArrowheads="1"/>
                  </p:cNvSpPr>
                  <p:nvPr/>
                </p:nvSpPr>
                <p:spPr bwMode="auto">
                  <a:xfrm>
                    <a:off x="2355" y="2322"/>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48" name="Rectangle 122">
                    <a:extLst>
                      <a:ext uri="{FF2B5EF4-FFF2-40B4-BE49-F238E27FC236}">
                        <a16:creationId xmlns:a16="http://schemas.microsoft.com/office/drawing/2014/main" id="{A879DE02-50B1-C0FD-1D91-B5DA6DB87238}"/>
                      </a:ext>
                    </a:extLst>
                  </p:cNvPr>
                  <p:cNvSpPr>
                    <a:spLocks noChangeArrowheads="1"/>
                  </p:cNvSpPr>
                  <p:nvPr/>
                </p:nvSpPr>
                <p:spPr bwMode="auto">
                  <a:xfrm>
                    <a:off x="2347" y="2339"/>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142" name="Rectangle 124">
                  <a:extLst>
                    <a:ext uri="{FF2B5EF4-FFF2-40B4-BE49-F238E27FC236}">
                      <a16:creationId xmlns:a16="http://schemas.microsoft.com/office/drawing/2014/main" id="{B177C7BE-9BC1-7E98-C1FD-143BB4B3F3BC}"/>
                    </a:ext>
                  </a:extLst>
                </p:cNvPr>
                <p:cNvSpPr>
                  <a:spLocks noChangeArrowheads="1"/>
                </p:cNvSpPr>
                <p:nvPr/>
              </p:nvSpPr>
              <p:spPr bwMode="auto">
                <a:xfrm>
                  <a:off x="2338" y="2357"/>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115" name="Rectangle 126">
                <a:extLst>
                  <a:ext uri="{FF2B5EF4-FFF2-40B4-BE49-F238E27FC236}">
                    <a16:creationId xmlns:a16="http://schemas.microsoft.com/office/drawing/2014/main" id="{678A39E9-EBEA-BDAD-0DE4-60FFA670D148}"/>
                  </a:ext>
                </a:extLst>
              </p:cNvPr>
              <p:cNvSpPr>
                <a:spLocks noChangeArrowheads="1"/>
              </p:cNvSpPr>
              <p:nvPr/>
            </p:nvSpPr>
            <p:spPr bwMode="auto">
              <a:xfrm>
                <a:off x="5822334" y="2531723"/>
                <a:ext cx="831213" cy="1106448"/>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16" name="Rectangle 127">
                <a:extLst>
                  <a:ext uri="{FF2B5EF4-FFF2-40B4-BE49-F238E27FC236}">
                    <a16:creationId xmlns:a16="http://schemas.microsoft.com/office/drawing/2014/main" id="{9C757770-01A1-DC66-ECA4-8DB6B8FA12A2}"/>
                  </a:ext>
                </a:extLst>
              </p:cNvPr>
              <p:cNvSpPr>
                <a:spLocks noChangeArrowheads="1"/>
              </p:cNvSpPr>
              <p:nvPr/>
            </p:nvSpPr>
            <p:spPr bwMode="auto">
              <a:xfrm>
                <a:off x="5616535" y="2809671"/>
                <a:ext cx="208471" cy="828499"/>
              </a:xfrm>
              <a:prstGeom prst="rect">
                <a:avLst/>
              </a:prstGeom>
              <a:solidFill>
                <a:schemeClr val="accent3"/>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117" name="Group 135">
                <a:extLst>
                  <a:ext uri="{FF2B5EF4-FFF2-40B4-BE49-F238E27FC236}">
                    <a16:creationId xmlns:a16="http://schemas.microsoft.com/office/drawing/2014/main" id="{D41FCA10-974A-4151-71D0-736CAA19EE84}"/>
                  </a:ext>
                </a:extLst>
              </p:cNvPr>
              <p:cNvGrpSpPr>
                <a:grpSpLocks/>
              </p:cNvGrpSpPr>
              <p:nvPr/>
            </p:nvGrpSpPr>
            <p:grpSpPr bwMode="auto">
              <a:xfrm>
                <a:off x="5937261" y="2694750"/>
                <a:ext cx="577305" cy="344763"/>
                <a:chOff x="2312" y="2426"/>
                <a:chExt cx="216" cy="129"/>
              </a:xfrm>
            </p:grpSpPr>
            <p:sp>
              <p:nvSpPr>
                <p:cNvPr id="134" name="Rectangle 128">
                  <a:extLst>
                    <a:ext uri="{FF2B5EF4-FFF2-40B4-BE49-F238E27FC236}">
                      <a16:creationId xmlns:a16="http://schemas.microsoft.com/office/drawing/2014/main" id="{46FE7DC9-A9A4-1C00-BBA4-D49358A0635B}"/>
                    </a:ext>
                  </a:extLst>
                </p:cNvPr>
                <p:cNvSpPr>
                  <a:spLocks noChangeArrowheads="1"/>
                </p:cNvSpPr>
                <p:nvPr/>
              </p:nvSpPr>
              <p:spPr bwMode="auto">
                <a:xfrm>
                  <a:off x="2312" y="2426"/>
                  <a:ext cx="216" cy="129"/>
                </a:xfrm>
                <a:prstGeom prst="rect">
                  <a:avLst/>
                </a:prstGeom>
                <a:solidFill>
                  <a:schemeClr val="bg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35" name="Line 129">
                  <a:extLst>
                    <a:ext uri="{FF2B5EF4-FFF2-40B4-BE49-F238E27FC236}">
                      <a16:creationId xmlns:a16="http://schemas.microsoft.com/office/drawing/2014/main" id="{835D55B4-63AA-F38F-1EC0-61CD19007FC5}"/>
                    </a:ext>
                  </a:extLst>
                </p:cNvPr>
                <p:cNvSpPr>
                  <a:spLocks noChangeShapeType="1"/>
                </p:cNvSpPr>
                <p:nvPr/>
              </p:nvSpPr>
              <p:spPr bwMode="auto">
                <a:xfrm flipV="1">
                  <a:off x="2360" y="2456"/>
                  <a:ext cx="17" cy="1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6" name="Line 130">
                  <a:extLst>
                    <a:ext uri="{FF2B5EF4-FFF2-40B4-BE49-F238E27FC236}">
                      <a16:creationId xmlns:a16="http://schemas.microsoft.com/office/drawing/2014/main" id="{0058D09C-75E5-636C-86A1-D7EA0A3D4E56}"/>
                    </a:ext>
                  </a:extLst>
                </p:cNvPr>
                <p:cNvSpPr>
                  <a:spLocks noChangeShapeType="1"/>
                </p:cNvSpPr>
                <p:nvPr/>
              </p:nvSpPr>
              <p:spPr bwMode="auto">
                <a:xfrm flipV="1">
                  <a:off x="2361" y="2457"/>
                  <a:ext cx="50" cy="3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7" name="Line 131">
                  <a:extLst>
                    <a:ext uri="{FF2B5EF4-FFF2-40B4-BE49-F238E27FC236}">
                      <a16:creationId xmlns:a16="http://schemas.microsoft.com/office/drawing/2014/main" id="{01FF3EC6-B76D-DEA6-E1B7-43F8E995EF10}"/>
                    </a:ext>
                  </a:extLst>
                </p:cNvPr>
                <p:cNvSpPr>
                  <a:spLocks noChangeShapeType="1"/>
                </p:cNvSpPr>
                <p:nvPr/>
              </p:nvSpPr>
              <p:spPr bwMode="auto">
                <a:xfrm flipV="1">
                  <a:off x="2360" y="2457"/>
                  <a:ext cx="69" cy="5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8" name="Line 132">
                  <a:extLst>
                    <a:ext uri="{FF2B5EF4-FFF2-40B4-BE49-F238E27FC236}">
                      <a16:creationId xmlns:a16="http://schemas.microsoft.com/office/drawing/2014/main" id="{17014EF1-0BE6-0B9F-DF04-2E53BAB834B7}"/>
                    </a:ext>
                  </a:extLst>
                </p:cNvPr>
                <p:cNvSpPr>
                  <a:spLocks noChangeShapeType="1"/>
                </p:cNvSpPr>
                <p:nvPr/>
              </p:nvSpPr>
              <p:spPr bwMode="auto">
                <a:xfrm flipV="1">
                  <a:off x="2395" y="2457"/>
                  <a:ext cx="59" cy="4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9" name="Line 133">
                  <a:extLst>
                    <a:ext uri="{FF2B5EF4-FFF2-40B4-BE49-F238E27FC236}">
                      <a16:creationId xmlns:a16="http://schemas.microsoft.com/office/drawing/2014/main" id="{AE24227D-0EA7-F6DE-DDF8-56110BCA1E47}"/>
                    </a:ext>
                  </a:extLst>
                </p:cNvPr>
                <p:cNvSpPr>
                  <a:spLocks noChangeShapeType="1"/>
                </p:cNvSpPr>
                <p:nvPr/>
              </p:nvSpPr>
              <p:spPr bwMode="auto">
                <a:xfrm flipV="1">
                  <a:off x="2403" y="2473"/>
                  <a:ext cx="60" cy="4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0" name="Line 134">
                  <a:extLst>
                    <a:ext uri="{FF2B5EF4-FFF2-40B4-BE49-F238E27FC236}">
                      <a16:creationId xmlns:a16="http://schemas.microsoft.com/office/drawing/2014/main" id="{480B8DAF-BA7A-7FDA-6754-0E21ED1B7101}"/>
                    </a:ext>
                  </a:extLst>
                </p:cNvPr>
                <p:cNvSpPr>
                  <a:spLocks noChangeShapeType="1"/>
                </p:cNvSpPr>
                <p:nvPr/>
              </p:nvSpPr>
              <p:spPr bwMode="auto">
                <a:xfrm flipV="1">
                  <a:off x="2412" y="2499"/>
                  <a:ext cx="60" cy="3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118" name="Rectangle 137">
                <a:extLst>
                  <a:ext uri="{FF2B5EF4-FFF2-40B4-BE49-F238E27FC236}">
                    <a16:creationId xmlns:a16="http://schemas.microsoft.com/office/drawing/2014/main" id="{4962BB81-82E5-232A-13F5-0BFBCA1AA381}"/>
                  </a:ext>
                </a:extLst>
              </p:cNvPr>
              <p:cNvSpPr>
                <a:spLocks noChangeArrowheads="1"/>
              </p:cNvSpPr>
              <p:nvPr/>
            </p:nvSpPr>
            <p:spPr bwMode="auto">
              <a:xfrm>
                <a:off x="4798686" y="2887176"/>
                <a:ext cx="622741" cy="625383"/>
              </a:xfrm>
              <a:prstGeom prst="rect">
                <a:avLst/>
              </a:prstGeom>
              <a:noFill/>
              <a:ln w="26988">
                <a:solidFill>
                  <a:schemeClr val="accent5"/>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19" name="Oval 144">
                <a:extLst>
                  <a:ext uri="{FF2B5EF4-FFF2-40B4-BE49-F238E27FC236}">
                    <a16:creationId xmlns:a16="http://schemas.microsoft.com/office/drawing/2014/main" id="{66456D4F-6830-1F13-528B-B139BDA46E6A}"/>
                  </a:ext>
                </a:extLst>
              </p:cNvPr>
              <p:cNvSpPr>
                <a:spLocks noChangeArrowheads="1"/>
              </p:cNvSpPr>
              <p:nvPr/>
            </p:nvSpPr>
            <p:spPr bwMode="auto">
              <a:xfrm>
                <a:off x="4777304" y="3440399"/>
                <a:ext cx="205799" cy="20846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0" name="Oval 145">
                <a:extLst>
                  <a:ext uri="{FF2B5EF4-FFF2-40B4-BE49-F238E27FC236}">
                    <a16:creationId xmlns:a16="http://schemas.microsoft.com/office/drawing/2014/main" id="{4500AE05-EF48-6139-CBE8-38AC190FF068}"/>
                  </a:ext>
                </a:extLst>
              </p:cNvPr>
              <p:cNvSpPr>
                <a:spLocks noChangeArrowheads="1"/>
              </p:cNvSpPr>
              <p:nvPr/>
            </p:nvSpPr>
            <p:spPr bwMode="auto">
              <a:xfrm>
                <a:off x="4774632" y="3440399"/>
                <a:ext cx="211144" cy="211134"/>
              </a:xfrm>
              <a:prstGeom prst="ellipse">
                <a:avLst/>
              </a:prstGeom>
              <a:solidFill>
                <a:srgbClr val="FFFFFF"/>
              </a:solidFill>
              <a:ln w="26988">
                <a:solidFill>
                  <a:schemeClr val="accent3"/>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1" name="Oval 146">
                <a:extLst>
                  <a:ext uri="{FF2B5EF4-FFF2-40B4-BE49-F238E27FC236}">
                    <a16:creationId xmlns:a16="http://schemas.microsoft.com/office/drawing/2014/main" id="{6C5F5EC0-7F00-8272-1DCD-E29BF41E0555}"/>
                  </a:ext>
                </a:extLst>
              </p:cNvPr>
              <p:cNvSpPr>
                <a:spLocks noChangeArrowheads="1"/>
              </p:cNvSpPr>
              <p:nvPr/>
            </p:nvSpPr>
            <p:spPr bwMode="auto">
              <a:xfrm>
                <a:off x="5261065" y="3440399"/>
                <a:ext cx="205799" cy="208461"/>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2" name="Oval 147">
                <a:extLst>
                  <a:ext uri="{FF2B5EF4-FFF2-40B4-BE49-F238E27FC236}">
                    <a16:creationId xmlns:a16="http://schemas.microsoft.com/office/drawing/2014/main" id="{0F731C30-B997-DE1F-C90D-753D45417510}"/>
                  </a:ext>
                </a:extLst>
              </p:cNvPr>
              <p:cNvSpPr>
                <a:spLocks noChangeArrowheads="1"/>
              </p:cNvSpPr>
              <p:nvPr/>
            </p:nvSpPr>
            <p:spPr bwMode="auto">
              <a:xfrm>
                <a:off x="5258392" y="3440399"/>
                <a:ext cx="211144" cy="211134"/>
              </a:xfrm>
              <a:prstGeom prst="ellipse">
                <a:avLst/>
              </a:prstGeom>
              <a:solidFill>
                <a:srgbClr val="FFFFFF"/>
              </a:solidFill>
              <a:ln w="26988">
                <a:solidFill>
                  <a:schemeClr val="accent3"/>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3" name="AutoShape 152">
                <a:extLst>
                  <a:ext uri="{FF2B5EF4-FFF2-40B4-BE49-F238E27FC236}">
                    <a16:creationId xmlns:a16="http://schemas.microsoft.com/office/drawing/2014/main" id="{27A4AED3-98CA-0309-6644-3973FA3AA2E6}"/>
                  </a:ext>
                </a:extLst>
              </p:cNvPr>
              <p:cNvSpPr>
                <a:spLocks noChangeArrowheads="1"/>
              </p:cNvSpPr>
              <p:nvPr/>
            </p:nvSpPr>
            <p:spPr bwMode="auto">
              <a:xfrm>
                <a:off x="5223647" y="3221248"/>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4" name="AutoShape 153">
                <a:extLst>
                  <a:ext uri="{FF2B5EF4-FFF2-40B4-BE49-F238E27FC236}">
                    <a16:creationId xmlns:a16="http://schemas.microsoft.com/office/drawing/2014/main" id="{DDDA785A-CF40-BFB6-B1AD-B6F79B9B5C6B}"/>
                  </a:ext>
                </a:extLst>
              </p:cNvPr>
              <p:cNvSpPr>
                <a:spLocks noChangeArrowheads="1"/>
              </p:cNvSpPr>
              <p:nvPr/>
            </p:nvSpPr>
            <p:spPr bwMode="auto">
              <a:xfrm>
                <a:off x="5223647" y="3130380"/>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5" name="AutoShape 154">
                <a:extLst>
                  <a:ext uri="{FF2B5EF4-FFF2-40B4-BE49-F238E27FC236}">
                    <a16:creationId xmlns:a16="http://schemas.microsoft.com/office/drawing/2014/main" id="{38F4100B-4A27-C827-2522-BFF23A0D41E9}"/>
                  </a:ext>
                </a:extLst>
              </p:cNvPr>
              <p:cNvSpPr>
                <a:spLocks noChangeArrowheads="1"/>
              </p:cNvSpPr>
              <p:nvPr/>
            </p:nvSpPr>
            <p:spPr bwMode="auto">
              <a:xfrm>
                <a:off x="4833431" y="3015459"/>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6" name="AutoShape 155">
                <a:extLst>
                  <a:ext uri="{FF2B5EF4-FFF2-40B4-BE49-F238E27FC236}">
                    <a16:creationId xmlns:a16="http://schemas.microsoft.com/office/drawing/2014/main" id="{DF305EB6-671E-A3C7-2753-3F0B3C52B273}"/>
                  </a:ext>
                </a:extLst>
              </p:cNvPr>
              <p:cNvSpPr>
                <a:spLocks noChangeArrowheads="1"/>
              </p:cNvSpPr>
              <p:nvPr/>
            </p:nvSpPr>
            <p:spPr bwMode="auto">
              <a:xfrm>
                <a:off x="4833431" y="2924592"/>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7" name="AutoShape 156">
                <a:extLst>
                  <a:ext uri="{FF2B5EF4-FFF2-40B4-BE49-F238E27FC236}">
                    <a16:creationId xmlns:a16="http://schemas.microsoft.com/office/drawing/2014/main" id="{50C1ABC9-A1E0-E338-96CD-3955AFEF58C6}"/>
                  </a:ext>
                </a:extLst>
              </p:cNvPr>
              <p:cNvSpPr>
                <a:spLocks noChangeArrowheads="1"/>
              </p:cNvSpPr>
              <p:nvPr/>
            </p:nvSpPr>
            <p:spPr bwMode="auto">
              <a:xfrm>
                <a:off x="5041903" y="3015459"/>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8" name="AutoShape 157">
                <a:extLst>
                  <a:ext uri="{FF2B5EF4-FFF2-40B4-BE49-F238E27FC236}">
                    <a16:creationId xmlns:a16="http://schemas.microsoft.com/office/drawing/2014/main" id="{E065FCEB-83AC-1207-B01A-0E3EB6E3B66F}"/>
                  </a:ext>
                </a:extLst>
              </p:cNvPr>
              <p:cNvSpPr>
                <a:spLocks noChangeArrowheads="1"/>
              </p:cNvSpPr>
              <p:nvPr/>
            </p:nvSpPr>
            <p:spPr bwMode="auto">
              <a:xfrm>
                <a:off x="5041903" y="2924592"/>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29" name="AutoShape 158">
                <a:extLst>
                  <a:ext uri="{FF2B5EF4-FFF2-40B4-BE49-F238E27FC236}">
                    <a16:creationId xmlns:a16="http://schemas.microsoft.com/office/drawing/2014/main" id="{7B6F74DA-C288-07C9-9333-0AE9F6767D9B}"/>
                  </a:ext>
                </a:extLst>
              </p:cNvPr>
              <p:cNvSpPr>
                <a:spLocks noChangeArrowheads="1"/>
              </p:cNvSpPr>
              <p:nvPr/>
            </p:nvSpPr>
            <p:spPr bwMode="auto">
              <a:xfrm>
                <a:off x="5223647" y="3015459"/>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30" name="AutoShape 159">
                <a:extLst>
                  <a:ext uri="{FF2B5EF4-FFF2-40B4-BE49-F238E27FC236}">
                    <a16:creationId xmlns:a16="http://schemas.microsoft.com/office/drawing/2014/main" id="{B9676703-CE68-C518-171C-1EB43786A8B1}"/>
                  </a:ext>
                </a:extLst>
              </p:cNvPr>
              <p:cNvSpPr>
                <a:spLocks noChangeArrowheads="1"/>
              </p:cNvSpPr>
              <p:nvPr/>
            </p:nvSpPr>
            <p:spPr bwMode="auto">
              <a:xfrm>
                <a:off x="5223647" y="2924592"/>
                <a:ext cx="187090"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31" name="AutoShape 166">
                <a:extLst>
                  <a:ext uri="{FF2B5EF4-FFF2-40B4-BE49-F238E27FC236}">
                    <a16:creationId xmlns:a16="http://schemas.microsoft.com/office/drawing/2014/main" id="{AFAA91C6-6EA1-D5A5-59E9-14E196DC0E80}"/>
                  </a:ext>
                </a:extLst>
              </p:cNvPr>
              <p:cNvSpPr>
                <a:spLocks noChangeArrowheads="1"/>
              </p:cNvSpPr>
              <p:nvPr/>
            </p:nvSpPr>
            <p:spPr bwMode="auto">
              <a:xfrm>
                <a:off x="6145732" y="2876485"/>
                <a:ext cx="184417" cy="93540"/>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132" name="&quot;No&quot; Symbol 186">
                <a:extLst>
                  <a:ext uri="{FF2B5EF4-FFF2-40B4-BE49-F238E27FC236}">
                    <a16:creationId xmlns:a16="http://schemas.microsoft.com/office/drawing/2014/main" id="{A5DE4852-79D6-B7A2-6AC3-730186EF0C70}"/>
                  </a:ext>
                </a:extLst>
              </p:cNvPr>
              <p:cNvSpPr/>
              <p:nvPr/>
            </p:nvSpPr>
            <p:spPr bwMode="auto">
              <a:xfrm>
                <a:off x="646112" y="1713325"/>
                <a:ext cx="569962" cy="569824"/>
              </a:xfrm>
              <a:prstGeom prst="noSmoking">
                <a:avLst>
                  <a:gd name="adj" fmla="val 10014"/>
                </a:avLst>
              </a:prstGeom>
              <a:solidFill>
                <a:schemeClr val="accent1"/>
              </a:solidFill>
              <a:ln w="12700" cap="sq" cmpd="sng" algn="ctr">
                <a:solidFill>
                  <a:schemeClr val="accent1"/>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133" name="TextBox 187">
                <a:extLst>
                  <a:ext uri="{FF2B5EF4-FFF2-40B4-BE49-F238E27FC236}">
                    <a16:creationId xmlns:a16="http://schemas.microsoft.com/office/drawing/2014/main" id="{A906BE73-DE48-11A1-563E-93C626728740}"/>
                  </a:ext>
                </a:extLst>
              </p:cNvPr>
              <p:cNvSpPr txBox="1">
                <a:spLocks noChangeArrowheads="1"/>
              </p:cNvSpPr>
              <p:nvPr/>
            </p:nvSpPr>
            <p:spPr bwMode="auto">
              <a:xfrm>
                <a:off x="1659378" y="1775882"/>
                <a:ext cx="4128990" cy="421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Machines unlinked with variable WIP</a:t>
                </a:r>
              </a:p>
            </p:txBody>
          </p:sp>
        </p:grpSp>
        <p:sp>
          <p:nvSpPr>
            <p:cNvPr id="285" name="Rectangle 10">
              <a:extLst>
                <a:ext uri="{FF2B5EF4-FFF2-40B4-BE49-F238E27FC236}">
                  <a16:creationId xmlns:a16="http://schemas.microsoft.com/office/drawing/2014/main" id="{65CE8398-FBA8-E6B6-C7FF-BB358F36F13B}"/>
                </a:ext>
              </a:extLst>
            </p:cNvPr>
            <p:cNvSpPr>
              <a:spLocks noChangeArrowheads="1"/>
            </p:cNvSpPr>
            <p:nvPr/>
          </p:nvSpPr>
          <p:spPr bwMode="auto">
            <a:xfrm>
              <a:off x="2735263" y="3648075"/>
              <a:ext cx="5561012" cy="1793875"/>
            </a:xfrm>
            <a:prstGeom prst="rect">
              <a:avLst/>
            </a:prstGeom>
            <a:solidFill>
              <a:srgbClr val="FFFFFF"/>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286" name="Group 21">
              <a:extLst>
                <a:ext uri="{FF2B5EF4-FFF2-40B4-BE49-F238E27FC236}">
                  <a16:creationId xmlns:a16="http://schemas.microsoft.com/office/drawing/2014/main" id="{F658CF08-7719-8A03-6ED2-51BCA82B9D61}"/>
                </a:ext>
              </a:extLst>
            </p:cNvPr>
            <p:cNvGrpSpPr>
              <a:grpSpLocks/>
            </p:cNvGrpSpPr>
            <p:nvPr/>
          </p:nvGrpSpPr>
          <p:grpSpPr bwMode="auto">
            <a:xfrm>
              <a:off x="3951288" y="4265613"/>
              <a:ext cx="400050" cy="180975"/>
              <a:chOff x="789" y="2305"/>
              <a:chExt cx="173" cy="78"/>
            </a:xfrm>
          </p:grpSpPr>
          <p:grpSp>
            <p:nvGrpSpPr>
              <p:cNvPr id="287" name="Group 19">
                <a:extLst>
                  <a:ext uri="{FF2B5EF4-FFF2-40B4-BE49-F238E27FC236}">
                    <a16:creationId xmlns:a16="http://schemas.microsoft.com/office/drawing/2014/main" id="{AC323024-764F-414D-06D4-C403CB24C1A3}"/>
                  </a:ext>
                </a:extLst>
              </p:cNvPr>
              <p:cNvGrpSpPr>
                <a:grpSpLocks/>
              </p:cNvGrpSpPr>
              <p:nvPr/>
            </p:nvGrpSpPr>
            <p:grpSpPr bwMode="auto">
              <a:xfrm>
                <a:off x="798" y="2305"/>
                <a:ext cx="164" cy="69"/>
                <a:chOff x="798" y="2305"/>
                <a:chExt cx="164" cy="69"/>
              </a:xfrm>
            </p:grpSpPr>
            <p:sp>
              <p:nvSpPr>
                <p:cNvPr id="289" name="Rectangle 13">
                  <a:extLst>
                    <a:ext uri="{FF2B5EF4-FFF2-40B4-BE49-F238E27FC236}">
                      <a16:creationId xmlns:a16="http://schemas.microsoft.com/office/drawing/2014/main" id="{86FB3572-7874-23DE-49D2-2F93A750AD8A}"/>
                    </a:ext>
                  </a:extLst>
                </p:cNvPr>
                <p:cNvSpPr>
                  <a:spLocks noChangeArrowheads="1"/>
                </p:cNvSpPr>
                <p:nvPr/>
              </p:nvSpPr>
              <p:spPr bwMode="auto">
                <a:xfrm>
                  <a:off x="841" y="2348"/>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0" name="Rectangle 14">
                  <a:extLst>
                    <a:ext uri="{FF2B5EF4-FFF2-40B4-BE49-F238E27FC236}">
                      <a16:creationId xmlns:a16="http://schemas.microsoft.com/office/drawing/2014/main" id="{878A4312-512D-EE8F-9346-91A6AB78041B}"/>
                    </a:ext>
                  </a:extLst>
                </p:cNvPr>
                <p:cNvSpPr>
                  <a:spLocks noChangeArrowheads="1"/>
                </p:cNvSpPr>
                <p:nvPr/>
              </p:nvSpPr>
              <p:spPr bwMode="auto">
                <a:xfrm>
                  <a:off x="832" y="2331"/>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1" name="Rectangle 15">
                  <a:extLst>
                    <a:ext uri="{FF2B5EF4-FFF2-40B4-BE49-F238E27FC236}">
                      <a16:creationId xmlns:a16="http://schemas.microsoft.com/office/drawing/2014/main" id="{1FEEB4C7-72A4-CFBA-8B2B-AC997B3D736C}"/>
                    </a:ext>
                  </a:extLst>
                </p:cNvPr>
                <p:cNvSpPr>
                  <a:spLocks noChangeArrowheads="1"/>
                </p:cNvSpPr>
                <p:nvPr/>
              </p:nvSpPr>
              <p:spPr bwMode="auto">
                <a:xfrm>
                  <a:off x="824" y="2314"/>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2" name="Rectangle 16">
                  <a:extLst>
                    <a:ext uri="{FF2B5EF4-FFF2-40B4-BE49-F238E27FC236}">
                      <a16:creationId xmlns:a16="http://schemas.microsoft.com/office/drawing/2014/main" id="{4E658CD9-23EB-2AF8-6A45-D21B9CD3FA91}"/>
                    </a:ext>
                  </a:extLst>
                </p:cNvPr>
                <p:cNvSpPr>
                  <a:spLocks noChangeArrowheads="1"/>
                </p:cNvSpPr>
                <p:nvPr/>
              </p:nvSpPr>
              <p:spPr bwMode="auto">
                <a:xfrm>
                  <a:off x="815" y="2305"/>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3" name="Rectangle 17">
                  <a:extLst>
                    <a:ext uri="{FF2B5EF4-FFF2-40B4-BE49-F238E27FC236}">
                      <a16:creationId xmlns:a16="http://schemas.microsoft.com/office/drawing/2014/main" id="{27E624A0-D43C-79F8-C520-5C141BCDB68E}"/>
                    </a:ext>
                  </a:extLst>
                </p:cNvPr>
                <p:cNvSpPr>
                  <a:spLocks noChangeArrowheads="1"/>
                </p:cNvSpPr>
                <p:nvPr/>
              </p:nvSpPr>
              <p:spPr bwMode="auto">
                <a:xfrm>
                  <a:off x="806" y="2322"/>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4" name="Rectangle 18">
                  <a:extLst>
                    <a:ext uri="{FF2B5EF4-FFF2-40B4-BE49-F238E27FC236}">
                      <a16:creationId xmlns:a16="http://schemas.microsoft.com/office/drawing/2014/main" id="{C3AE7D2C-EC61-FE53-8B16-341984F7E70B}"/>
                    </a:ext>
                  </a:extLst>
                </p:cNvPr>
                <p:cNvSpPr>
                  <a:spLocks noChangeArrowheads="1"/>
                </p:cNvSpPr>
                <p:nvPr/>
              </p:nvSpPr>
              <p:spPr bwMode="auto">
                <a:xfrm>
                  <a:off x="798" y="2339"/>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288" name="Rectangle 20">
                <a:extLst>
                  <a:ext uri="{FF2B5EF4-FFF2-40B4-BE49-F238E27FC236}">
                    <a16:creationId xmlns:a16="http://schemas.microsoft.com/office/drawing/2014/main" id="{7F0B9B01-2170-CE22-F442-1116DCDBD776}"/>
                  </a:ext>
                </a:extLst>
              </p:cNvPr>
              <p:cNvSpPr>
                <a:spLocks noChangeArrowheads="1"/>
              </p:cNvSpPr>
              <p:nvPr/>
            </p:nvSpPr>
            <p:spPr bwMode="auto">
              <a:xfrm>
                <a:off x="789" y="2357"/>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295" name="Rectangle 22">
              <a:extLst>
                <a:ext uri="{FF2B5EF4-FFF2-40B4-BE49-F238E27FC236}">
                  <a16:creationId xmlns:a16="http://schemas.microsoft.com/office/drawing/2014/main" id="{FFFABAEE-A58D-0FB4-0E27-B0739A60FAE4}"/>
                </a:ext>
              </a:extLst>
            </p:cNvPr>
            <p:cNvSpPr>
              <a:spLocks noChangeArrowheads="1"/>
            </p:cNvSpPr>
            <p:nvPr/>
          </p:nvSpPr>
          <p:spPr bwMode="auto">
            <a:xfrm>
              <a:off x="3790950" y="4405313"/>
              <a:ext cx="719138" cy="958850"/>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6" name="Rectangle 23">
              <a:extLst>
                <a:ext uri="{FF2B5EF4-FFF2-40B4-BE49-F238E27FC236}">
                  <a16:creationId xmlns:a16="http://schemas.microsoft.com/office/drawing/2014/main" id="{4800CCAE-4E9F-9BBA-D95F-DC8B70023713}"/>
                </a:ext>
              </a:extLst>
            </p:cNvPr>
            <p:cNvSpPr>
              <a:spLocks noChangeArrowheads="1"/>
            </p:cNvSpPr>
            <p:nvPr/>
          </p:nvSpPr>
          <p:spPr bwMode="auto">
            <a:xfrm>
              <a:off x="3613150" y="4645025"/>
              <a:ext cx="179388" cy="719138"/>
            </a:xfrm>
            <a:prstGeom prst="rect">
              <a:avLst/>
            </a:prstGeom>
            <a:solidFill>
              <a:schemeClr val="accent3"/>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7" name="AutoShape 52">
              <a:extLst>
                <a:ext uri="{FF2B5EF4-FFF2-40B4-BE49-F238E27FC236}">
                  <a16:creationId xmlns:a16="http://schemas.microsoft.com/office/drawing/2014/main" id="{79A89AAC-9775-E5AC-F3DC-11377A1B6933}"/>
                </a:ext>
              </a:extLst>
            </p:cNvPr>
            <p:cNvSpPr>
              <a:spLocks noChangeArrowheads="1"/>
            </p:cNvSpPr>
            <p:nvPr/>
          </p:nvSpPr>
          <p:spPr bwMode="auto">
            <a:xfrm>
              <a:off x="2795588" y="4159250"/>
              <a:ext cx="158750"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8" name="AutoShape 53">
              <a:extLst>
                <a:ext uri="{FF2B5EF4-FFF2-40B4-BE49-F238E27FC236}">
                  <a16:creationId xmlns:a16="http://schemas.microsoft.com/office/drawing/2014/main" id="{7FD13337-A941-7CD0-0C71-AB37CA6516C2}"/>
                </a:ext>
              </a:extLst>
            </p:cNvPr>
            <p:cNvSpPr>
              <a:spLocks noChangeArrowheads="1"/>
            </p:cNvSpPr>
            <p:nvPr/>
          </p:nvSpPr>
          <p:spPr bwMode="auto">
            <a:xfrm>
              <a:off x="2795588" y="4081463"/>
              <a:ext cx="158750"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299" name="AutoShape 54">
              <a:extLst>
                <a:ext uri="{FF2B5EF4-FFF2-40B4-BE49-F238E27FC236}">
                  <a16:creationId xmlns:a16="http://schemas.microsoft.com/office/drawing/2014/main" id="{35EF5783-A67D-9D0C-284B-987975037903}"/>
                </a:ext>
              </a:extLst>
            </p:cNvPr>
            <p:cNvSpPr>
              <a:spLocks noChangeArrowheads="1"/>
            </p:cNvSpPr>
            <p:nvPr/>
          </p:nvSpPr>
          <p:spPr bwMode="auto">
            <a:xfrm>
              <a:off x="2954338" y="4159250"/>
              <a:ext cx="160337"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0" name="AutoShape 55">
              <a:extLst>
                <a:ext uri="{FF2B5EF4-FFF2-40B4-BE49-F238E27FC236}">
                  <a16:creationId xmlns:a16="http://schemas.microsoft.com/office/drawing/2014/main" id="{598F8178-EB35-B879-96EA-222F6CEED42F}"/>
                </a:ext>
              </a:extLst>
            </p:cNvPr>
            <p:cNvSpPr>
              <a:spLocks noChangeArrowheads="1"/>
            </p:cNvSpPr>
            <p:nvPr/>
          </p:nvSpPr>
          <p:spPr bwMode="auto">
            <a:xfrm>
              <a:off x="2954338" y="4081463"/>
              <a:ext cx="160337"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1" name="AutoShape 56">
              <a:extLst>
                <a:ext uri="{FF2B5EF4-FFF2-40B4-BE49-F238E27FC236}">
                  <a16:creationId xmlns:a16="http://schemas.microsoft.com/office/drawing/2014/main" id="{7BA012E4-23BE-94F7-C0AD-6F310E6BE133}"/>
                </a:ext>
              </a:extLst>
            </p:cNvPr>
            <p:cNvSpPr>
              <a:spLocks noChangeArrowheads="1"/>
            </p:cNvSpPr>
            <p:nvPr/>
          </p:nvSpPr>
          <p:spPr bwMode="auto">
            <a:xfrm>
              <a:off x="2790825" y="4321175"/>
              <a:ext cx="161925"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2" name="AutoShape 57">
              <a:extLst>
                <a:ext uri="{FF2B5EF4-FFF2-40B4-BE49-F238E27FC236}">
                  <a16:creationId xmlns:a16="http://schemas.microsoft.com/office/drawing/2014/main" id="{25DCA9B1-33DA-D83E-9EC4-569BBB5320DB}"/>
                </a:ext>
              </a:extLst>
            </p:cNvPr>
            <p:cNvSpPr>
              <a:spLocks noChangeArrowheads="1"/>
            </p:cNvSpPr>
            <p:nvPr/>
          </p:nvSpPr>
          <p:spPr bwMode="auto">
            <a:xfrm>
              <a:off x="2790825" y="4240213"/>
              <a:ext cx="161925"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3" name="AutoShape 58">
              <a:extLst>
                <a:ext uri="{FF2B5EF4-FFF2-40B4-BE49-F238E27FC236}">
                  <a16:creationId xmlns:a16="http://schemas.microsoft.com/office/drawing/2014/main" id="{3B57211F-1D80-DD71-3922-238C69F812FB}"/>
                </a:ext>
              </a:extLst>
            </p:cNvPr>
            <p:cNvSpPr>
              <a:spLocks noChangeArrowheads="1"/>
            </p:cNvSpPr>
            <p:nvPr/>
          </p:nvSpPr>
          <p:spPr bwMode="auto">
            <a:xfrm>
              <a:off x="2951163" y="4321175"/>
              <a:ext cx="161925"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4" name="AutoShape 59">
              <a:extLst>
                <a:ext uri="{FF2B5EF4-FFF2-40B4-BE49-F238E27FC236}">
                  <a16:creationId xmlns:a16="http://schemas.microsoft.com/office/drawing/2014/main" id="{33B2F4F8-8257-C41B-8B2D-9B494E763372}"/>
                </a:ext>
              </a:extLst>
            </p:cNvPr>
            <p:cNvSpPr>
              <a:spLocks noChangeArrowheads="1"/>
            </p:cNvSpPr>
            <p:nvPr/>
          </p:nvSpPr>
          <p:spPr bwMode="auto">
            <a:xfrm>
              <a:off x="2951163" y="4240213"/>
              <a:ext cx="161925"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5" name="AutoShape 60">
              <a:extLst>
                <a:ext uri="{FF2B5EF4-FFF2-40B4-BE49-F238E27FC236}">
                  <a16:creationId xmlns:a16="http://schemas.microsoft.com/office/drawing/2014/main" id="{CBF046E5-9D60-F435-D589-67DE89992E79}"/>
                </a:ext>
              </a:extLst>
            </p:cNvPr>
            <p:cNvSpPr>
              <a:spLocks noChangeArrowheads="1"/>
            </p:cNvSpPr>
            <p:nvPr/>
          </p:nvSpPr>
          <p:spPr bwMode="auto">
            <a:xfrm>
              <a:off x="3130550" y="4321175"/>
              <a:ext cx="160338"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06" name="AutoShape 61">
              <a:extLst>
                <a:ext uri="{FF2B5EF4-FFF2-40B4-BE49-F238E27FC236}">
                  <a16:creationId xmlns:a16="http://schemas.microsoft.com/office/drawing/2014/main" id="{DA0BD3E4-F895-41BA-E80A-BA1EBDA45BC9}"/>
                </a:ext>
              </a:extLst>
            </p:cNvPr>
            <p:cNvSpPr>
              <a:spLocks noChangeArrowheads="1"/>
            </p:cNvSpPr>
            <p:nvPr/>
          </p:nvSpPr>
          <p:spPr bwMode="auto">
            <a:xfrm rot="1556400">
              <a:off x="3635375" y="4519613"/>
              <a:ext cx="160338"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307" name="Group 73">
              <a:extLst>
                <a:ext uri="{FF2B5EF4-FFF2-40B4-BE49-F238E27FC236}">
                  <a16:creationId xmlns:a16="http://schemas.microsoft.com/office/drawing/2014/main" id="{B6EB59A0-CD90-0CE2-2359-BE3292C85B3F}"/>
                </a:ext>
              </a:extLst>
            </p:cNvPr>
            <p:cNvGrpSpPr>
              <a:grpSpLocks/>
            </p:cNvGrpSpPr>
            <p:nvPr/>
          </p:nvGrpSpPr>
          <p:grpSpPr bwMode="auto">
            <a:xfrm>
              <a:off x="5745163" y="4265613"/>
              <a:ext cx="398462" cy="180975"/>
              <a:chOff x="1564" y="2305"/>
              <a:chExt cx="172" cy="78"/>
            </a:xfrm>
          </p:grpSpPr>
          <p:grpSp>
            <p:nvGrpSpPr>
              <p:cNvPr id="308" name="Group 71">
                <a:extLst>
                  <a:ext uri="{FF2B5EF4-FFF2-40B4-BE49-F238E27FC236}">
                    <a16:creationId xmlns:a16="http://schemas.microsoft.com/office/drawing/2014/main" id="{5C66186B-7FA5-3B4A-2FB0-43DF82E1B3FB}"/>
                  </a:ext>
                </a:extLst>
              </p:cNvPr>
              <p:cNvGrpSpPr>
                <a:grpSpLocks/>
              </p:cNvGrpSpPr>
              <p:nvPr/>
            </p:nvGrpSpPr>
            <p:grpSpPr bwMode="auto">
              <a:xfrm>
                <a:off x="1572" y="2305"/>
                <a:ext cx="164" cy="69"/>
                <a:chOff x="1572" y="2305"/>
                <a:chExt cx="164" cy="69"/>
              </a:xfrm>
            </p:grpSpPr>
            <p:sp>
              <p:nvSpPr>
                <p:cNvPr id="310" name="Rectangle 65">
                  <a:extLst>
                    <a:ext uri="{FF2B5EF4-FFF2-40B4-BE49-F238E27FC236}">
                      <a16:creationId xmlns:a16="http://schemas.microsoft.com/office/drawing/2014/main" id="{A8C5238C-D93D-68B7-FF36-95145EC173C9}"/>
                    </a:ext>
                  </a:extLst>
                </p:cNvPr>
                <p:cNvSpPr>
                  <a:spLocks noChangeArrowheads="1"/>
                </p:cNvSpPr>
                <p:nvPr/>
              </p:nvSpPr>
              <p:spPr bwMode="auto">
                <a:xfrm>
                  <a:off x="1615" y="2348"/>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11" name="Rectangle 66">
                  <a:extLst>
                    <a:ext uri="{FF2B5EF4-FFF2-40B4-BE49-F238E27FC236}">
                      <a16:creationId xmlns:a16="http://schemas.microsoft.com/office/drawing/2014/main" id="{73BAFDFA-7769-9050-A811-D3C3B13A2005}"/>
                    </a:ext>
                  </a:extLst>
                </p:cNvPr>
                <p:cNvSpPr>
                  <a:spLocks noChangeArrowheads="1"/>
                </p:cNvSpPr>
                <p:nvPr/>
              </p:nvSpPr>
              <p:spPr bwMode="auto">
                <a:xfrm>
                  <a:off x="1607" y="2331"/>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12" name="Rectangle 67">
                  <a:extLst>
                    <a:ext uri="{FF2B5EF4-FFF2-40B4-BE49-F238E27FC236}">
                      <a16:creationId xmlns:a16="http://schemas.microsoft.com/office/drawing/2014/main" id="{F3F26CFC-A07F-864A-08DD-9D49E4A06E3B}"/>
                    </a:ext>
                  </a:extLst>
                </p:cNvPr>
                <p:cNvSpPr>
                  <a:spLocks noChangeArrowheads="1"/>
                </p:cNvSpPr>
                <p:nvPr/>
              </p:nvSpPr>
              <p:spPr bwMode="auto">
                <a:xfrm>
                  <a:off x="1598" y="2314"/>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13" name="Rectangle 68">
                  <a:extLst>
                    <a:ext uri="{FF2B5EF4-FFF2-40B4-BE49-F238E27FC236}">
                      <a16:creationId xmlns:a16="http://schemas.microsoft.com/office/drawing/2014/main" id="{3B60CDAF-30FD-96C6-BDB2-E25A8A6FD3A3}"/>
                    </a:ext>
                  </a:extLst>
                </p:cNvPr>
                <p:cNvSpPr>
                  <a:spLocks noChangeArrowheads="1"/>
                </p:cNvSpPr>
                <p:nvPr/>
              </p:nvSpPr>
              <p:spPr bwMode="auto">
                <a:xfrm>
                  <a:off x="1589" y="2305"/>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14" name="Rectangle 69">
                  <a:extLst>
                    <a:ext uri="{FF2B5EF4-FFF2-40B4-BE49-F238E27FC236}">
                      <a16:creationId xmlns:a16="http://schemas.microsoft.com/office/drawing/2014/main" id="{E65B2396-D375-8C40-AAF0-D60BA0F04C48}"/>
                    </a:ext>
                  </a:extLst>
                </p:cNvPr>
                <p:cNvSpPr>
                  <a:spLocks noChangeArrowheads="1"/>
                </p:cNvSpPr>
                <p:nvPr/>
              </p:nvSpPr>
              <p:spPr bwMode="auto">
                <a:xfrm>
                  <a:off x="1581" y="2322"/>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15" name="Rectangle 70">
                  <a:extLst>
                    <a:ext uri="{FF2B5EF4-FFF2-40B4-BE49-F238E27FC236}">
                      <a16:creationId xmlns:a16="http://schemas.microsoft.com/office/drawing/2014/main" id="{1E96A739-7121-130F-6920-2D78622D0605}"/>
                    </a:ext>
                  </a:extLst>
                </p:cNvPr>
                <p:cNvSpPr>
                  <a:spLocks noChangeArrowheads="1"/>
                </p:cNvSpPr>
                <p:nvPr/>
              </p:nvSpPr>
              <p:spPr bwMode="auto">
                <a:xfrm>
                  <a:off x="1572" y="2339"/>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309" name="Rectangle 72">
                <a:extLst>
                  <a:ext uri="{FF2B5EF4-FFF2-40B4-BE49-F238E27FC236}">
                    <a16:creationId xmlns:a16="http://schemas.microsoft.com/office/drawing/2014/main" id="{E4D584FE-C363-CB64-D4B8-906B095B0AD4}"/>
                  </a:ext>
                </a:extLst>
              </p:cNvPr>
              <p:cNvSpPr>
                <a:spLocks noChangeArrowheads="1"/>
              </p:cNvSpPr>
              <p:nvPr/>
            </p:nvSpPr>
            <p:spPr bwMode="auto">
              <a:xfrm>
                <a:off x="1564" y="2357"/>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316" name="Rectangle 74">
              <a:extLst>
                <a:ext uri="{FF2B5EF4-FFF2-40B4-BE49-F238E27FC236}">
                  <a16:creationId xmlns:a16="http://schemas.microsoft.com/office/drawing/2014/main" id="{6CA8DD20-9C26-F7D9-5368-4EDB6F166B80}"/>
                </a:ext>
              </a:extLst>
            </p:cNvPr>
            <p:cNvSpPr>
              <a:spLocks noChangeArrowheads="1"/>
            </p:cNvSpPr>
            <p:nvPr/>
          </p:nvSpPr>
          <p:spPr bwMode="auto">
            <a:xfrm>
              <a:off x="5584825" y="4405313"/>
              <a:ext cx="717550" cy="958850"/>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17" name="Rectangle 75">
              <a:extLst>
                <a:ext uri="{FF2B5EF4-FFF2-40B4-BE49-F238E27FC236}">
                  <a16:creationId xmlns:a16="http://schemas.microsoft.com/office/drawing/2014/main" id="{D4470FC5-384C-78EB-9E29-F58E967C5C33}"/>
                </a:ext>
              </a:extLst>
            </p:cNvPr>
            <p:cNvSpPr>
              <a:spLocks noChangeArrowheads="1"/>
            </p:cNvSpPr>
            <p:nvPr/>
          </p:nvSpPr>
          <p:spPr bwMode="auto">
            <a:xfrm>
              <a:off x="5403850" y="4645025"/>
              <a:ext cx="180975" cy="719138"/>
            </a:xfrm>
            <a:prstGeom prst="rect">
              <a:avLst/>
            </a:prstGeom>
            <a:solidFill>
              <a:schemeClr val="accent3"/>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318" name="Group 125">
              <a:extLst>
                <a:ext uri="{FF2B5EF4-FFF2-40B4-BE49-F238E27FC236}">
                  <a16:creationId xmlns:a16="http://schemas.microsoft.com/office/drawing/2014/main" id="{0273D561-4517-5E05-586F-2B705E19D6EC}"/>
                </a:ext>
              </a:extLst>
            </p:cNvPr>
            <p:cNvGrpSpPr>
              <a:grpSpLocks/>
            </p:cNvGrpSpPr>
            <p:nvPr/>
          </p:nvGrpSpPr>
          <p:grpSpPr bwMode="auto">
            <a:xfrm>
              <a:off x="7535863" y="4265613"/>
              <a:ext cx="401637" cy="180975"/>
              <a:chOff x="2338" y="2305"/>
              <a:chExt cx="173" cy="78"/>
            </a:xfrm>
          </p:grpSpPr>
          <p:grpSp>
            <p:nvGrpSpPr>
              <p:cNvPr id="319" name="Group 267">
                <a:extLst>
                  <a:ext uri="{FF2B5EF4-FFF2-40B4-BE49-F238E27FC236}">
                    <a16:creationId xmlns:a16="http://schemas.microsoft.com/office/drawing/2014/main" id="{37AA63E3-122A-DA71-0602-59F136A9E8BB}"/>
                  </a:ext>
                </a:extLst>
              </p:cNvPr>
              <p:cNvGrpSpPr>
                <a:grpSpLocks/>
              </p:cNvGrpSpPr>
              <p:nvPr/>
            </p:nvGrpSpPr>
            <p:grpSpPr bwMode="auto">
              <a:xfrm>
                <a:off x="2347" y="2305"/>
                <a:ext cx="164" cy="69"/>
                <a:chOff x="2347" y="2305"/>
                <a:chExt cx="164" cy="69"/>
              </a:xfrm>
            </p:grpSpPr>
            <p:sp>
              <p:nvSpPr>
                <p:cNvPr id="321" name="Rectangle 117">
                  <a:extLst>
                    <a:ext uri="{FF2B5EF4-FFF2-40B4-BE49-F238E27FC236}">
                      <a16:creationId xmlns:a16="http://schemas.microsoft.com/office/drawing/2014/main" id="{6CF415E0-872B-DA7E-768B-D3092D2A8946}"/>
                    </a:ext>
                  </a:extLst>
                </p:cNvPr>
                <p:cNvSpPr>
                  <a:spLocks noChangeArrowheads="1"/>
                </p:cNvSpPr>
                <p:nvPr/>
              </p:nvSpPr>
              <p:spPr bwMode="auto">
                <a:xfrm>
                  <a:off x="2390" y="2348"/>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2" name="Rectangle 118">
                  <a:extLst>
                    <a:ext uri="{FF2B5EF4-FFF2-40B4-BE49-F238E27FC236}">
                      <a16:creationId xmlns:a16="http://schemas.microsoft.com/office/drawing/2014/main" id="{D314B1AB-3BAC-2C56-E165-27B15CB798FB}"/>
                    </a:ext>
                  </a:extLst>
                </p:cNvPr>
                <p:cNvSpPr>
                  <a:spLocks noChangeArrowheads="1"/>
                </p:cNvSpPr>
                <p:nvPr/>
              </p:nvSpPr>
              <p:spPr bwMode="auto">
                <a:xfrm>
                  <a:off x="2381" y="2331"/>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3" name="Rectangle 119">
                  <a:extLst>
                    <a:ext uri="{FF2B5EF4-FFF2-40B4-BE49-F238E27FC236}">
                      <a16:creationId xmlns:a16="http://schemas.microsoft.com/office/drawing/2014/main" id="{812495F8-2B09-FC92-E9E2-72FFD862D3A4}"/>
                    </a:ext>
                  </a:extLst>
                </p:cNvPr>
                <p:cNvSpPr>
                  <a:spLocks noChangeArrowheads="1"/>
                </p:cNvSpPr>
                <p:nvPr/>
              </p:nvSpPr>
              <p:spPr bwMode="auto">
                <a:xfrm>
                  <a:off x="2372" y="2314"/>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4" name="Rectangle 120">
                  <a:extLst>
                    <a:ext uri="{FF2B5EF4-FFF2-40B4-BE49-F238E27FC236}">
                      <a16:creationId xmlns:a16="http://schemas.microsoft.com/office/drawing/2014/main" id="{02AD9A5A-C7E9-A625-6246-B878B6D652F8}"/>
                    </a:ext>
                  </a:extLst>
                </p:cNvPr>
                <p:cNvSpPr>
                  <a:spLocks noChangeArrowheads="1"/>
                </p:cNvSpPr>
                <p:nvPr/>
              </p:nvSpPr>
              <p:spPr bwMode="auto">
                <a:xfrm>
                  <a:off x="2364" y="2305"/>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5" name="Rectangle 121">
                  <a:extLst>
                    <a:ext uri="{FF2B5EF4-FFF2-40B4-BE49-F238E27FC236}">
                      <a16:creationId xmlns:a16="http://schemas.microsoft.com/office/drawing/2014/main" id="{6AC8CBAB-4139-52FB-22D7-A59540450173}"/>
                    </a:ext>
                  </a:extLst>
                </p:cNvPr>
                <p:cNvSpPr>
                  <a:spLocks noChangeArrowheads="1"/>
                </p:cNvSpPr>
                <p:nvPr/>
              </p:nvSpPr>
              <p:spPr bwMode="auto">
                <a:xfrm>
                  <a:off x="2355" y="2322"/>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6" name="Rectangle 122">
                  <a:extLst>
                    <a:ext uri="{FF2B5EF4-FFF2-40B4-BE49-F238E27FC236}">
                      <a16:creationId xmlns:a16="http://schemas.microsoft.com/office/drawing/2014/main" id="{BCEB9668-AE41-C0D0-7E92-C7B12F1A1F12}"/>
                    </a:ext>
                  </a:extLst>
                </p:cNvPr>
                <p:cNvSpPr>
                  <a:spLocks noChangeArrowheads="1"/>
                </p:cNvSpPr>
                <p:nvPr/>
              </p:nvSpPr>
              <p:spPr bwMode="auto">
                <a:xfrm>
                  <a:off x="2347" y="2339"/>
                  <a:ext cx="121" cy="27"/>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320" name="Rectangle 124">
                <a:extLst>
                  <a:ext uri="{FF2B5EF4-FFF2-40B4-BE49-F238E27FC236}">
                    <a16:creationId xmlns:a16="http://schemas.microsoft.com/office/drawing/2014/main" id="{D2A1B005-4733-3E1E-80D3-532BE0C3035F}"/>
                  </a:ext>
                </a:extLst>
              </p:cNvPr>
              <p:cNvSpPr>
                <a:spLocks noChangeArrowheads="1"/>
              </p:cNvSpPr>
              <p:nvPr/>
            </p:nvSpPr>
            <p:spPr bwMode="auto">
              <a:xfrm>
                <a:off x="2338" y="2357"/>
                <a:ext cx="121" cy="26"/>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
          <p:nvSpPr>
            <p:cNvPr id="327" name="Rectangle 126">
              <a:extLst>
                <a:ext uri="{FF2B5EF4-FFF2-40B4-BE49-F238E27FC236}">
                  <a16:creationId xmlns:a16="http://schemas.microsoft.com/office/drawing/2014/main" id="{97234394-199D-D3F5-A428-07C97B5678A8}"/>
                </a:ext>
              </a:extLst>
            </p:cNvPr>
            <p:cNvSpPr>
              <a:spLocks noChangeArrowheads="1"/>
            </p:cNvSpPr>
            <p:nvPr/>
          </p:nvSpPr>
          <p:spPr bwMode="auto">
            <a:xfrm>
              <a:off x="7377113" y="4405313"/>
              <a:ext cx="719137" cy="958850"/>
            </a:xfrm>
            <a:prstGeom prst="rect">
              <a:avLst/>
            </a:prstGeom>
            <a:solidFill>
              <a:schemeClr val="accent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8" name="Rectangle 127">
              <a:extLst>
                <a:ext uri="{FF2B5EF4-FFF2-40B4-BE49-F238E27FC236}">
                  <a16:creationId xmlns:a16="http://schemas.microsoft.com/office/drawing/2014/main" id="{BC7F2D34-29E2-51D3-39CD-7C5B757ED266}"/>
                </a:ext>
              </a:extLst>
            </p:cNvPr>
            <p:cNvSpPr>
              <a:spLocks noChangeArrowheads="1"/>
            </p:cNvSpPr>
            <p:nvPr/>
          </p:nvSpPr>
          <p:spPr bwMode="auto">
            <a:xfrm>
              <a:off x="7199313" y="4645025"/>
              <a:ext cx="179387" cy="719138"/>
            </a:xfrm>
            <a:prstGeom prst="rect">
              <a:avLst/>
            </a:prstGeom>
            <a:solidFill>
              <a:schemeClr val="accent3"/>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29" name="TextBox 259">
              <a:extLst>
                <a:ext uri="{FF2B5EF4-FFF2-40B4-BE49-F238E27FC236}">
                  <a16:creationId xmlns:a16="http://schemas.microsoft.com/office/drawing/2014/main" id="{197317FC-5B49-E00C-EE2A-D0A4C6CF1672}"/>
                </a:ext>
              </a:extLst>
            </p:cNvPr>
            <p:cNvSpPr txBox="1">
              <a:spLocks noChangeArrowheads="1"/>
            </p:cNvSpPr>
            <p:nvPr/>
          </p:nvSpPr>
          <p:spPr bwMode="auto">
            <a:xfrm>
              <a:off x="3765486" y="3749675"/>
              <a:ext cx="3427540" cy="36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latin typeface="Roboto" panose="02000000000000000000" pitchFamily="2" charset="0"/>
                  <a:ea typeface="Roboto" panose="02000000000000000000" pitchFamily="2" charset="0"/>
                </a:rPr>
                <a:t>Machines linked with standard WIP</a:t>
              </a:r>
            </a:p>
          </p:txBody>
        </p:sp>
        <p:sp>
          <p:nvSpPr>
            <p:cNvPr id="330" name="Donut 305">
              <a:extLst>
                <a:ext uri="{FF2B5EF4-FFF2-40B4-BE49-F238E27FC236}">
                  <a16:creationId xmlns:a16="http://schemas.microsoft.com/office/drawing/2014/main" id="{5A6B6D71-2C12-47D8-83E1-273F25703F0D}"/>
                </a:ext>
              </a:extLst>
            </p:cNvPr>
            <p:cNvSpPr/>
            <p:nvPr/>
          </p:nvSpPr>
          <p:spPr bwMode="auto">
            <a:xfrm>
              <a:off x="2905125" y="3495675"/>
              <a:ext cx="493713" cy="495300"/>
            </a:xfrm>
            <a:prstGeom prst="donut">
              <a:avLst>
                <a:gd name="adj" fmla="val 10780"/>
              </a:avLst>
            </a:prstGeom>
            <a:solidFill>
              <a:schemeClr val="accent6"/>
            </a:solidFill>
            <a:ln w="12700" cap="sq" cmpd="sng" algn="ctr">
              <a:solidFill>
                <a:schemeClr val="accent6"/>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grpSp>
          <p:nvGrpSpPr>
            <p:cNvPr id="331" name="Group 322">
              <a:extLst>
                <a:ext uri="{FF2B5EF4-FFF2-40B4-BE49-F238E27FC236}">
                  <a16:creationId xmlns:a16="http://schemas.microsoft.com/office/drawing/2014/main" id="{AA116ADE-2BAB-20B7-2EF5-8EB7407C4659}"/>
                </a:ext>
              </a:extLst>
            </p:cNvPr>
            <p:cNvGrpSpPr>
              <a:grpSpLocks/>
            </p:cNvGrpSpPr>
            <p:nvPr/>
          </p:nvGrpSpPr>
          <p:grpSpPr bwMode="auto">
            <a:xfrm>
              <a:off x="4506913" y="4605338"/>
              <a:ext cx="1076325" cy="74612"/>
              <a:chOff x="4506238" y="4497680"/>
              <a:chExt cx="1077239" cy="75342"/>
            </a:xfrm>
          </p:grpSpPr>
          <p:sp>
            <p:nvSpPr>
              <p:cNvPr id="332" name="Oval 331">
                <a:extLst>
                  <a:ext uri="{FF2B5EF4-FFF2-40B4-BE49-F238E27FC236}">
                    <a16:creationId xmlns:a16="http://schemas.microsoft.com/office/drawing/2014/main" id="{37AABED9-BCF8-CF15-EAF0-DB5337A6F4E2}"/>
                  </a:ext>
                </a:extLst>
              </p:cNvPr>
              <p:cNvSpPr/>
              <p:nvPr/>
            </p:nvSpPr>
            <p:spPr bwMode="auto">
              <a:xfrm>
                <a:off x="4536426" y="4497680"/>
                <a:ext cx="762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3" name="Oval 332">
                <a:extLst>
                  <a:ext uri="{FF2B5EF4-FFF2-40B4-BE49-F238E27FC236}">
                    <a16:creationId xmlns:a16="http://schemas.microsoft.com/office/drawing/2014/main" id="{5A041B56-798D-3181-7E84-C7A3F9EBB8FD}"/>
                  </a:ext>
                </a:extLst>
              </p:cNvPr>
              <p:cNvSpPr/>
              <p:nvPr/>
            </p:nvSpPr>
            <p:spPr bwMode="auto">
              <a:xfrm>
                <a:off x="4630168" y="4497680"/>
                <a:ext cx="762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4" name="Oval 333">
                <a:extLst>
                  <a:ext uri="{FF2B5EF4-FFF2-40B4-BE49-F238E27FC236}">
                    <a16:creationId xmlns:a16="http://schemas.microsoft.com/office/drawing/2014/main" id="{E4660FB4-39FD-359D-C20C-79A277C359FC}"/>
                  </a:ext>
                </a:extLst>
              </p:cNvPr>
              <p:cNvSpPr/>
              <p:nvPr/>
            </p:nvSpPr>
            <p:spPr bwMode="auto">
              <a:xfrm>
                <a:off x="4725499" y="4497680"/>
                <a:ext cx="7467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5" name="Oval 334">
                <a:extLst>
                  <a:ext uri="{FF2B5EF4-FFF2-40B4-BE49-F238E27FC236}">
                    <a16:creationId xmlns:a16="http://schemas.microsoft.com/office/drawing/2014/main" id="{9EE4B454-1FF5-618D-81BF-B63879698F8E}"/>
                  </a:ext>
                </a:extLst>
              </p:cNvPr>
              <p:cNvSpPr/>
              <p:nvPr/>
            </p:nvSpPr>
            <p:spPr bwMode="auto">
              <a:xfrm>
                <a:off x="4819241" y="4497680"/>
                <a:ext cx="74676"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6" name="Oval 335">
                <a:extLst>
                  <a:ext uri="{FF2B5EF4-FFF2-40B4-BE49-F238E27FC236}">
                    <a16:creationId xmlns:a16="http://schemas.microsoft.com/office/drawing/2014/main" id="{2BC2B58F-6D9A-A858-98FF-D62111BA363B}"/>
                  </a:ext>
                </a:extLst>
              </p:cNvPr>
              <p:cNvSpPr/>
              <p:nvPr/>
            </p:nvSpPr>
            <p:spPr bwMode="auto">
              <a:xfrm>
                <a:off x="4912983" y="4497680"/>
                <a:ext cx="7467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7" name="Oval 336">
                <a:extLst>
                  <a:ext uri="{FF2B5EF4-FFF2-40B4-BE49-F238E27FC236}">
                    <a16:creationId xmlns:a16="http://schemas.microsoft.com/office/drawing/2014/main" id="{7FF40868-F17A-7F85-F447-A4785EB9A848}"/>
                  </a:ext>
                </a:extLst>
              </p:cNvPr>
              <p:cNvSpPr/>
              <p:nvPr/>
            </p:nvSpPr>
            <p:spPr bwMode="auto">
              <a:xfrm>
                <a:off x="5006725" y="4497680"/>
                <a:ext cx="762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8" name="Oval 337">
                <a:extLst>
                  <a:ext uri="{FF2B5EF4-FFF2-40B4-BE49-F238E27FC236}">
                    <a16:creationId xmlns:a16="http://schemas.microsoft.com/office/drawing/2014/main" id="{1D3577DC-F691-1C76-27B0-3B4A3D751CEB}"/>
                  </a:ext>
                </a:extLst>
              </p:cNvPr>
              <p:cNvSpPr/>
              <p:nvPr/>
            </p:nvSpPr>
            <p:spPr bwMode="auto">
              <a:xfrm>
                <a:off x="5102056" y="4497680"/>
                <a:ext cx="74676"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39" name="Oval 338">
                <a:extLst>
                  <a:ext uri="{FF2B5EF4-FFF2-40B4-BE49-F238E27FC236}">
                    <a16:creationId xmlns:a16="http://schemas.microsoft.com/office/drawing/2014/main" id="{78532C10-532F-E771-D1CD-0AA5CB800BFD}"/>
                  </a:ext>
                </a:extLst>
              </p:cNvPr>
              <p:cNvSpPr/>
              <p:nvPr/>
            </p:nvSpPr>
            <p:spPr bwMode="auto">
              <a:xfrm>
                <a:off x="5195798" y="4497680"/>
                <a:ext cx="7467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40" name="Oval 339">
                <a:extLst>
                  <a:ext uri="{FF2B5EF4-FFF2-40B4-BE49-F238E27FC236}">
                    <a16:creationId xmlns:a16="http://schemas.microsoft.com/office/drawing/2014/main" id="{38B8B02C-9132-E427-7E24-5FC26B62B8AD}"/>
                  </a:ext>
                </a:extLst>
              </p:cNvPr>
              <p:cNvSpPr/>
              <p:nvPr/>
            </p:nvSpPr>
            <p:spPr bwMode="auto">
              <a:xfrm>
                <a:off x="5289540" y="4497680"/>
                <a:ext cx="74676"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41" name="Oval 340">
                <a:extLst>
                  <a:ext uri="{FF2B5EF4-FFF2-40B4-BE49-F238E27FC236}">
                    <a16:creationId xmlns:a16="http://schemas.microsoft.com/office/drawing/2014/main" id="{E54854D1-AB3D-14F0-8027-9209D503D5CB}"/>
                  </a:ext>
                </a:extLst>
              </p:cNvPr>
              <p:cNvSpPr/>
              <p:nvPr/>
            </p:nvSpPr>
            <p:spPr bwMode="auto">
              <a:xfrm>
                <a:off x="5383282" y="4497680"/>
                <a:ext cx="762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42" name="Oval 341">
                <a:extLst>
                  <a:ext uri="{FF2B5EF4-FFF2-40B4-BE49-F238E27FC236}">
                    <a16:creationId xmlns:a16="http://schemas.microsoft.com/office/drawing/2014/main" id="{3F99BF28-B80C-B50D-057F-9A75C65E1212}"/>
                  </a:ext>
                </a:extLst>
              </p:cNvPr>
              <p:cNvSpPr/>
              <p:nvPr/>
            </p:nvSpPr>
            <p:spPr bwMode="auto">
              <a:xfrm>
                <a:off x="5477024" y="4497680"/>
                <a:ext cx="762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cxnSp>
            <p:nvCxnSpPr>
              <p:cNvPr id="343" name="Straight Connector 310">
                <a:extLst>
                  <a:ext uri="{FF2B5EF4-FFF2-40B4-BE49-F238E27FC236}">
                    <a16:creationId xmlns:a16="http://schemas.microsoft.com/office/drawing/2014/main" id="{7056CC44-D862-D7E2-0503-89402B2B512E}"/>
                  </a:ext>
                </a:extLst>
              </p:cNvPr>
              <p:cNvCxnSpPr>
                <a:cxnSpLocks noChangeShapeType="1"/>
              </p:cNvCxnSpPr>
              <p:nvPr/>
            </p:nvCxnSpPr>
            <p:spPr bwMode="auto">
              <a:xfrm>
                <a:off x="4506238" y="4537553"/>
                <a:ext cx="1077239" cy="1588"/>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sp>
          <p:nvSpPr>
            <p:cNvPr id="344" name="AutoShape 61">
              <a:extLst>
                <a:ext uri="{FF2B5EF4-FFF2-40B4-BE49-F238E27FC236}">
                  <a16:creationId xmlns:a16="http://schemas.microsoft.com/office/drawing/2014/main" id="{715B8BB3-EDD1-4F63-757E-BE5C8841B618}"/>
                </a:ext>
              </a:extLst>
            </p:cNvPr>
            <p:cNvSpPr>
              <a:spLocks noChangeArrowheads="1"/>
            </p:cNvSpPr>
            <p:nvPr/>
          </p:nvSpPr>
          <p:spPr bwMode="auto">
            <a:xfrm>
              <a:off x="4529138" y="4510088"/>
              <a:ext cx="158750"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45" name="AutoShape 61">
              <a:extLst>
                <a:ext uri="{FF2B5EF4-FFF2-40B4-BE49-F238E27FC236}">
                  <a16:creationId xmlns:a16="http://schemas.microsoft.com/office/drawing/2014/main" id="{CA5F2F49-009C-BD67-1FCB-251DBED41B99}"/>
                </a:ext>
              </a:extLst>
            </p:cNvPr>
            <p:cNvSpPr>
              <a:spLocks noChangeArrowheads="1"/>
            </p:cNvSpPr>
            <p:nvPr/>
          </p:nvSpPr>
          <p:spPr bwMode="auto">
            <a:xfrm>
              <a:off x="4911725" y="4510088"/>
              <a:ext cx="158750"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46" name="AutoShape 61">
              <a:extLst>
                <a:ext uri="{FF2B5EF4-FFF2-40B4-BE49-F238E27FC236}">
                  <a16:creationId xmlns:a16="http://schemas.microsoft.com/office/drawing/2014/main" id="{E7099AE9-0690-F310-2442-593CDCD267A7}"/>
                </a:ext>
              </a:extLst>
            </p:cNvPr>
            <p:cNvSpPr>
              <a:spLocks noChangeArrowheads="1"/>
            </p:cNvSpPr>
            <p:nvPr/>
          </p:nvSpPr>
          <p:spPr bwMode="auto">
            <a:xfrm>
              <a:off x="5084763" y="4510088"/>
              <a:ext cx="160337"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47" name="AutoShape 61">
              <a:extLst>
                <a:ext uri="{FF2B5EF4-FFF2-40B4-BE49-F238E27FC236}">
                  <a16:creationId xmlns:a16="http://schemas.microsoft.com/office/drawing/2014/main" id="{2AAD9235-A7DB-FF49-3AD4-F9F36085942C}"/>
                </a:ext>
              </a:extLst>
            </p:cNvPr>
            <p:cNvSpPr>
              <a:spLocks noChangeArrowheads="1"/>
            </p:cNvSpPr>
            <p:nvPr/>
          </p:nvSpPr>
          <p:spPr bwMode="auto">
            <a:xfrm>
              <a:off x="5249863" y="4510088"/>
              <a:ext cx="158750"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48" name="AutoShape 61">
              <a:extLst>
                <a:ext uri="{FF2B5EF4-FFF2-40B4-BE49-F238E27FC236}">
                  <a16:creationId xmlns:a16="http://schemas.microsoft.com/office/drawing/2014/main" id="{795D52C2-6AE6-2B99-95F9-384CDDCAB8D0}"/>
                </a:ext>
              </a:extLst>
            </p:cNvPr>
            <p:cNvSpPr>
              <a:spLocks noChangeArrowheads="1"/>
            </p:cNvSpPr>
            <p:nvPr/>
          </p:nvSpPr>
          <p:spPr bwMode="auto">
            <a:xfrm>
              <a:off x="5408613" y="4510088"/>
              <a:ext cx="158750"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nvGrpSpPr>
            <p:cNvPr id="349" name="Group 329">
              <a:extLst>
                <a:ext uri="{FF2B5EF4-FFF2-40B4-BE49-F238E27FC236}">
                  <a16:creationId xmlns:a16="http://schemas.microsoft.com/office/drawing/2014/main" id="{C22E9E6D-A435-CAAD-170C-EAA3BA9DF5DF}"/>
                </a:ext>
              </a:extLst>
            </p:cNvPr>
            <p:cNvGrpSpPr>
              <a:grpSpLocks/>
            </p:cNvGrpSpPr>
            <p:nvPr/>
          </p:nvGrpSpPr>
          <p:grpSpPr bwMode="auto">
            <a:xfrm>
              <a:off x="3890963" y="4546600"/>
              <a:ext cx="500062" cy="298450"/>
              <a:chOff x="3890412" y="4546273"/>
              <a:chExt cx="500049" cy="298626"/>
            </a:xfrm>
          </p:grpSpPr>
          <p:sp>
            <p:nvSpPr>
              <p:cNvPr id="350" name="Rectangle 24">
                <a:extLst>
                  <a:ext uri="{FF2B5EF4-FFF2-40B4-BE49-F238E27FC236}">
                    <a16:creationId xmlns:a16="http://schemas.microsoft.com/office/drawing/2014/main" id="{839FFDB0-3BB1-318F-97AF-FE5D6768EE52}"/>
                  </a:ext>
                </a:extLst>
              </p:cNvPr>
              <p:cNvSpPr>
                <a:spLocks noChangeArrowheads="1"/>
              </p:cNvSpPr>
              <p:nvPr/>
            </p:nvSpPr>
            <p:spPr bwMode="auto">
              <a:xfrm>
                <a:off x="3890412" y="4546273"/>
                <a:ext cx="500049" cy="298626"/>
              </a:xfrm>
              <a:prstGeom prst="rect">
                <a:avLst/>
              </a:prstGeom>
              <a:solidFill>
                <a:schemeClr val="bg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51" name="AutoShape 62">
                <a:extLst>
                  <a:ext uri="{FF2B5EF4-FFF2-40B4-BE49-F238E27FC236}">
                    <a16:creationId xmlns:a16="http://schemas.microsoft.com/office/drawing/2014/main" id="{3D018B9C-E7F3-5D05-33BD-079575DB11EE}"/>
                  </a:ext>
                </a:extLst>
              </p:cNvPr>
              <p:cNvSpPr>
                <a:spLocks noChangeArrowheads="1"/>
              </p:cNvSpPr>
              <p:nvPr/>
            </p:nvSpPr>
            <p:spPr bwMode="auto">
              <a:xfrm>
                <a:off x="4070986" y="4703687"/>
                <a:ext cx="159738" cy="8102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52" name="Line 25">
                <a:extLst>
                  <a:ext uri="{FF2B5EF4-FFF2-40B4-BE49-F238E27FC236}">
                    <a16:creationId xmlns:a16="http://schemas.microsoft.com/office/drawing/2014/main" id="{649DECEF-3FD4-52CF-DD6E-CA3576C58EA0}"/>
                  </a:ext>
                </a:extLst>
              </p:cNvPr>
              <p:cNvSpPr>
                <a:spLocks noChangeShapeType="1"/>
              </p:cNvSpPr>
              <p:nvPr/>
            </p:nvSpPr>
            <p:spPr bwMode="auto">
              <a:xfrm flipV="1">
                <a:off x="4001534" y="4615721"/>
                <a:ext cx="39356" cy="3935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3" name="Line 26">
                <a:extLst>
                  <a:ext uri="{FF2B5EF4-FFF2-40B4-BE49-F238E27FC236}">
                    <a16:creationId xmlns:a16="http://schemas.microsoft.com/office/drawing/2014/main" id="{F026B9A3-FA5F-6D9F-44FE-3D2C938E939E}"/>
                  </a:ext>
                </a:extLst>
              </p:cNvPr>
              <p:cNvSpPr>
                <a:spLocks noChangeShapeType="1"/>
              </p:cNvSpPr>
              <p:nvPr/>
            </p:nvSpPr>
            <p:spPr bwMode="auto">
              <a:xfrm flipV="1">
                <a:off x="4003849" y="4618036"/>
                <a:ext cx="118067" cy="763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4" name="Line 27">
                <a:extLst>
                  <a:ext uri="{FF2B5EF4-FFF2-40B4-BE49-F238E27FC236}">
                    <a16:creationId xmlns:a16="http://schemas.microsoft.com/office/drawing/2014/main" id="{E84A2B87-EFE7-5000-31C2-1E4A99982AC4}"/>
                  </a:ext>
                </a:extLst>
              </p:cNvPr>
              <p:cNvSpPr>
                <a:spLocks noChangeShapeType="1"/>
              </p:cNvSpPr>
              <p:nvPr/>
            </p:nvSpPr>
            <p:spPr bwMode="auto">
              <a:xfrm flipV="1">
                <a:off x="4001534" y="4618036"/>
                <a:ext cx="159738" cy="11806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5" name="Line 28">
                <a:extLst>
                  <a:ext uri="{FF2B5EF4-FFF2-40B4-BE49-F238E27FC236}">
                    <a16:creationId xmlns:a16="http://schemas.microsoft.com/office/drawing/2014/main" id="{B9667B29-A7F5-AA1D-B722-89820435D40F}"/>
                  </a:ext>
                </a:extLst>
              </p:cNvPr>
              <p:cNvSpPr>
                <a:spLocks noChangeShapeType="1"/>
              </p:cNvSpPr>
              <p:nvPr/>
            </p:nvSpPr>
            <p:spPr bwMode="auto">
              <a:xfrm flipV="1">
                <a:off x="4082560" y="4618036"/>
                <a:ext cx="138903" cy="9722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6" name="Line 29">
                <a:extLst>
                  <a:ext uri="{FF2B5EF4-FFF2-40B4-BE49-F238E27FC236}">
                    <a16:creationId xmlns:a16="http://schemas.microsoft.com/office/drawing/2014/main" id="{838E3E54-7D5C-8DE4-F5ED-999ADB7441F2}"/>
                  </a:ext>
                </a:extLst>
              </p:cNvPr>
              <p:cNvSpPr>
                <a:spLocks noChangeShapeType="1"/>
              </p:cNvSpPr>
              <p:nvPr/>
            </p:nvSpPr>
            <p:spPr bwMode="auto">
              <a:xfrm flipV="1">
                <a:off x="4101081" y="4655075"/>
                <a:ext cx="138903" cy="9954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7" name="Line 30">
                <a:extLst>
                  <a:ext uri="{FF2B5EF4-FFF2-40B4-BE49-F238E27FC236}">
                    <a16:creationId xmlns:a16="http://schemas.microsoft.com/office/drawing/2014/main" id="{7D574707-F5BA-2E99-1930-F14A20A041B7}"/>
                  </a:ext>
                </a:extLst>
              </p:cNvPr>
              <p:cNvSpPr>
                <a:spLocks noChangeShapeType="1"/>
              </p:cNvSpPr>
              <p:nvPr/>
            </p:nvSpPr>
            <p:spPr bwMode="auto">
              <a:xfrm flipV="1">
                <a:off x="4124231" y="4717578"/>
                <a:ext cx="136587" cy="763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358" name="Group 330">
              <a:extLst>
                <a:ext uri="{FF2B5EF4-FFF2-40B4-BE49-F238E27FC236}">
                  <a16:creationId xmlns:a16="http://schemas.microsoft.com/office/drawing/2014/main" id="{A80EA440-5EF3-C2FA-562C-5D1555B3F7DC}"/>
                </a:ext>
              </a:extLst>
            </p:cNvPr>
            <p:cNvGrpSpPr>
              <a:grpSpLocks/>
            </p:cNvGrpSpPr>
            <p:nvPr/>
          </p:nvGrpSpPr>
          <p:grpSpPr bwMode="auto">
            <a:xfrm>
              <a:off x="5694363" y="4546600"/>
              <a:ext cx="500062" cy="298450"/>
              <a:chOff x="3890412" y="4546273"/>
              <a:chExt cx="500049" cy="298626"/>
            </a:xfrm>
          </p:grpSpPr>
          <p:sp>
            <p:nvSpPr>
              <p:cNvPr id="359" name="Rectangle 24">
                <a:extLst>
                  <a:ext uri="{FF2B5EF4-FFF2-40B4-BE49-F238E27FC236}">
                    <a16:creationId xmlns:a16="http://schemas.microsoft.com/office/drawing/2014/main" id="{251E765B-7C15-AEBC-1B58-A8D15508919A}"/>
                  </a:ext>
                </a:extLst>
              </p:cNvPr>
              <p:cNvSpPr>
                <a:spLocks noChangeArrowheads="1"/>
              </p:cNvSpPr>
              <p:nvPr/>
            </p:nvSpPr>
            <p:spPr bwMode="auto">
              <a:xfrm>
                <a:off x="3890412" y="4546273"/>
                <a:ext cx="500049" cy="298626"/>
              </a:xfrm>
              <a:prstGeom prst="rect">
                <a:avLst/>
              </a:prstGeom>
              <a:solidFill>
                <a:schemeClr val="bg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60" name="AutoShape 62">
                <a:extLst>
                  <a:ext uri="{FF2B5EF4-FFF2-40B4-BE49-F238E27FC236}">
                    <a16:creationId xmlns:a16="http://schemas.microsoft.com/office/drawing/2014/main" id="{D074669B-0206-6D27-427F-0F4F7118BDBD}"/>
                  </a:ext>
                </a:extLst>
              </p:cNvPr>
              <p:cNvSpPr>
                <a:spLocks noChangeArrowheads="1"/>
              </p:cNvSpPr>
              <p:nvPr/>
            </p:nvSpPr>
            <p:spPr bwMode="auto">
              <a:xfrm>
                <a:off x="4070986" y="4703687"/>
                <a:ext cx="159738" cy="8102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61" name="Line 25">
                <a:extLst>
                  <a:ext uri="{FF2B5EF4-FFF2-40B4-BE49-F238E27FC236}">
                    <a16:creationId xmlns:a16="http://schemas.microsoft.com/office/drawing/2014/main" id="{3FA6BC58-451D-4B51-5EA0-A9C865CF44CB}"/>
                  </a:ext>
                </a:extLst>
              </p:cNvPr>
              <p:cNvSpPr>
                <a:spLocks noChangeShapeType="1"/>
              </p:cNvSpPr>
              <p:nvPr/>
            </p:nvSpPr>
            <p:spPr bwMode="auto">
              <a:xfrm flipV="1">
                <a:off x="4001534" y="4615721"/>
                <a:ext cx="39356" cy="3935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2" name="Line 26">
                <a:extLst>
                  <a:ext uri="{FF2B5EF4-FFF2-40B4-BE49-F238E27FC236}">
                    <a16:creationId xmlns:a16="http://schemas.microsoft.com/office/drawing/2014/main" id="{1161E12D-EC73-3FCD-5C8B-E1BFB62F7174}"/>
                  </a:ext>
                </a:extLst>
              </p:cNvPr>
              <p:cNvSpPr>
                <a:spLocks noChangeShapeType="1"/>
              </p:cNvSpPr>
              <p:nvPr/>
            </p:nvSpPr>
            <p:spPr bwMode="auto">
              <a:xfrm flipV="1">
                <a:off x="4003849" y="4618036"/>
                <a:ext cx="118067" cy="763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3" name="Line 27">
                <a:extLst>
                  <a:ext uri="{FF2B5EF4-FFF2-40B4-BE49-F238E27FC236}">
                    <a16:creationId xmlns:a16="http://schemas.microsoft.com/office/drawing/2014/main" id="{178B3D2C-0C8D-A497-A2A1-4D4F4D2CE170}"/>
                  </a:ext>
                </a:extLst>
              </p:cNvPr>
              <p:cNvSpPr>
                <a:spLocks noChangeShapeType="1"/>
              </p:cNvSpPr>
              <p:nvPr/>
            </p:nvSpPr>
            <p:spPr bwMode="auto">
              <a:xfrm flipV="1">
                <a:off x="4001534" y="4618036"/>
                <a:ext cx="159738" cy="11806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4" name="Line 28">
                <a:extLst>
                  <a:ext uri="{FF2B5EF4-FFF2-40B4-BE49-F238E27FC236}">
                    <a16:creationId xmlns:a16="http://schemas.microsoft.com/office/drawing/2014/main" id="{713E3568-16C4-6513-3D46-3E41AB44C78C}"/>
                  </a:ext>
                </a:extLst>
              </p:cNvPr>
              <p:cNvSpPr>
                <a:spLocks noChangeShapeType="1"/>
              </p:cNvSpPr>
              <p:nvPr/>
            </p:nvSpPr>
            <p:spPr bwMode="auto">
              <a:xfrm flipV="1">
                <a:off x="4082560" y="4618036"/>
                <a:ext cx="138903" cy="9722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5" name="Line 29">
                <a:extLst>
                  <a:ext uri="{FF2B5EF4-FFF2-40B4-BE49-F238E27FC236}">
                    <a16:creationId xmlns:a16="http://schemas.microsoft.com/office/drawing/2014/main" id="{68CEF419-E054-B2F3-4DA0-E91D4C449C7A}"/>
                  </a:ext>
                </a:extLst>
              </p:cNvPr>
              <p:cNvSpPr>
                <a:spLocks noChangeShapeType="1"/>
              </p:cNvSpPr>
              <p:nvPr/>
            </p:nvSpPr>
            <p:spPr bwMode="auto">
              <a:xfrm flipV="1">
                <a:off x="4101081" y="4655075"/>
                <a:ext cx="138903" cy="9954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6" name="Line 30">
                <a:extLst>
                  <a:ext uri="{FF2B5EF4-FFF2-40B4-BE49-F238E27FC236}">
                    <a16:creationId xmlns:a16="http://schemas.microsoft.com/office/drawing/2014/main" id="{F5C8D088-1F4A-94D2-985C-253F08424AE2}"/>
                  </a:ext>
                </a:extLst>
              </p:cNvPr>
              <p:cNvSpPr>
                <a:spLocks noChangeShapeType="1"/>
              </p:cNvSpPr>
              <p:nvPr/>
            </p:nvSpPr>
            <p:spPr bwMode="auto">
              <a:xfrm flipV="1">
                <a:off x="4124231" y="4717578"/>
                <a:ext cx="136587" cy="763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367" name="Group 339">
              <a:extLst>
                <a:ext uri="{FF2B5EF4-FFF2-40B4-BE49-F238E27FC236}">
                  <a16:creationId xmlns:a16="http://schemas.microsoft.com/office/drawing/2014/main" id="{F674DC79-A5CB-EE71-71C6-447667C13726}"/>
                </a:ext>
              </a:extLst>
            </p:cNvPr>
            <p:cNvGrpSpPr>
              <a:grpSpLocks/>
            </p:cNvGrpSpPr>
            <p:nvPr/>
          </p:nvGrpSpPr>
          <p:grpSpPr bwMode="auto">
            <a:xfrm>
              <a:off x="7491413" y="4546600"/>
              <a:ext cx="500062" cy="298450"/>
              <a:chOff x="3890412" y="4546273"/>
              <a:chExt cx="500049" cy="298626"/>
            </a:xfrm>
          </p:grpSpPr>
          <p:sp>
            <p:nvSpPr>
              <p:cNvPr id="368" name="Rectangle 24">
                <a:extLst>
                  <a:ext uri="{FF2B5EF4-FFF2-40B4-BE49-F238E27FC236}">
                    <a16:creationId xmlns:a16="http://schemas.microsoft.com/office/drawing/2014/main" id="{A29C8EE9-6CEB-7DF5-2ACE-35EDB901EC1B}"/>
                  </a:ext>
                </a:extLst>
              </p:cNvPr>
              <p:cNvSpPr>
                <a:spLocks noChangeArrowheads="1"/>
              </p:cNvSpPr>
              <p:nvPr/>
            </p:nvSpPr>
            <p:spPr bwMode="auto">
              <a:xfrm>
                <a:off x="3890412" y="4546273"/>
                <a:ext cx="500049" cy="298626"/>
              </a:xfrm>
              <a:prstGeom prst="rect">
                <a:avLst/>
              </a:prstGeom>
              <a:solidFill>
                <a:schemeClr val="bg2"/>
              </a:solidFill>
              <a:ln w="14288">
                <a:solidFill>
                  <a:srgbClr val="000000"/>
                </a:solidFill>
                <a:miter lim="800000"/>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69" name="AutoShape 62">
                <a:extLst>
                  <a:ext uri="{FF2B5EF4-FFF2-40B4-BE49-F238E27FC236}">
                    <a16:creationId xmlns:a16="http://schemas.microsoft.com/office/drawing/2014/main" id="{2301C285-B7EF-C170-C3E8-40088285D96C}"/>
                  </a:ext>
                </a:extLst>
              </p:cNvPr>
              <p:cNvSpPr>
                <a:spLocks noChangeArrowheads="1"/>
              </p:cNvSpPr>
              <p:nvPr/>
            </p:nvSpPr>
            <p:spPr bwMode="auto">
              <a:xfrm>
                <a:off x="4070986" y="4703687"/>
                <a:ext cx="159738" cy="8102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70" name="Line 25">
                <a:extLst>
                  <a:ext uri="{FF2B5EF4-FFF2-40B4-BE49-F238E27FC236}">
                    <a16:creationId xmlns:a16="http://schemas.microsoft.com/office/drawing/2014/main" id="{8DB98FCA-2BE5-289A-1579-EB88916C4466}"/>
                  </a:ext>
                </a:extLst>
              </p:cNvPr>
              <p:cNvSpPr>
                <a:spLocks noChangeShapeType="1"/>
              </p:cNvSpPr>
              <p:nvPr/>
            </p:nvSpPr>
            <p:spPr bwMode="auto">
              <a:xfrm flipV="1">
                <a:off x="4001534" y="4615721"/>
                <a:ext cx="39356" cy="3935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1" name="Line 26">
                <a:extLst>
                  <a:ext uri="{FF2B5EF4-FFF2-40B4-BE49-F238E27FC236}">
                    <a16:creationId xmlns:a16="http://schemas.microsoft.com/office/drawing/2014/main" id="{84E6FB28-9898-5BA3-D8EB-4B0864F68696}"/>
                  </a:ext>
                </a:extLst>
              </p:cNvPr>
              <p:cNvSpPr>
                <a:spLocks noChangeShapeType="1"/>
              </p:cNvSpPr>
              <p:nvPr/>
            </p:nvSpPr>
            <p:spPr bwMode="auto">
              <a:xfrm flipV="1">
                <a:off x="4003849" y="4618036"/>
                <a:ext cx="118067" cy="763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2" name="Line 27">
                <a:extLst>
                  <a:ext uri="{FF2B5EF4-FFF2-40B4-BE49-F238E27FC236}">
                    <a16:creationId xmlns:a16="http://schemas.microsoft.com/office/drawing/2014/main" id="{F04445CE-56D1-BBE3-33BF-FF4A9F32F33D}"/>
                  </a:ext>
                </a:extLst>
              </p:cNvPr>
              <p:cNvSpPr>
                <a:spLocks noChangeShapeType="1"/>
              </p:cNvSpPr>
              <p:nvPr/>
            </p:nvSpPr>
            <p:spPr bwMode="auto">
              <a:xfrm flipV="1">
                <a:off x="4001534" y="4618036"/>
                <a:ext cx="159738" cy="11806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3" name="Line 28">
                <a:extLst>
                  <a:ext uri="{FF2B5EF4-FFF2-40B4-BE49-F238E27FC236}">
                    <a16:creationId xmlns:a16="http://schemas.microsoft.com/office/drawing/2014/main" id="{921BF57B-F048-2608-8652-95247C195C65}"/>
                  </a:ext>
                </a:extLst>
              </p:cNvPr>
              <p:cNvSpPr>
                <a:spLocks noChangeShapeType="1"/>
              </p:cNvSpPr>
              <p:nvPr/>
            </p:nvSpPr>
            <p:spPr bwMode="auto">
              <a:xfrm flipV="1">
                <a:off x="4082560" y="4618036"/>
                <a:ext cx="138903" cy="9722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4" name="Line 29">
                <a:extLst>
                  <a:ext uri="{FF2B5EF4-FFF2-40B4-BE49-F238E27FC236}">
                    <a16:creationId xmlns:a16="http://schemas.microsoft.com/office/drawing/2014/main" id="{9C08DB42-8C69-499D-20E7-4525B1E5D1AC}"/>
                  </a:ext>
                </a:extLst>
              </p:cNvPr>
              <p:cNvSpPr>
                <a:spLocks noChangeShapeType="1"/>
              </p:cNvSpPr>
              <p:nvPr/>
            </p:nvSpPr>
            <p:spPr bwMode="auto">
              <a:xfrm flipV="1">
                <a:off x="4101081" y="4655075"/>
                <a:ext cx="138903" cy="9954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5" name="Line 30">
                <a:extLst>
                  <a:ext uri="{FF2B5EF4-FFF2-40B4-BE49-F238E27FC236}">
                    <a16:creationId xmlns:a16="http://schemas.microsoft.com/office/drawing/2014/main" id="{C380F15D-5832-6DDC-3AE1-1F7B2546D2E4}"/>
                  </a:ext>
                </a:extLst>
              </p:cNvPr>
              <p:cNvSpPr>
                <a:spLocks noChangeShapeType="1"/>
              </p:cNvSpPr>
              <p:nvPr/>
            </p:nvSpPr>
            <p:spPr bwMode="auto">
              <a:xfrm flipV="1">
                <a:off x="4124231" y="4717578"/>
                <a:ext cx="136587" cy="7639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grpSp>
          <p:nvGrpSpPr>
            <p:cNvPr id="376" name="Group 348">
              <a:extLst>
                <a:ext uri="{FF2B5EF4-FFF2-40B4-BE49-F238E27FC236}">
                  <a16:creationId xmlns:a16="http://schemas.microsoft.com/office/drawing/2014/main" id="{6762C2C2-7622-45A7-0BB5-C3E0EFE22A15}"/>
                </a:ext>
              </a:extLst>
            </p:cNvPr>
            <p:cNvGrpSpPr>
              <a:grpSpLocks/>
            </p:cNvGrpSpPr>
            <p:nvPr/>
          </p:nvGrpSpPr>
          <p:grpSpPr bwMode="auto">
            <a:xfrm>
              <a:off x="6308725" y="4583113"/>
              <a:ext cx="1077913" cy="74612"/>
              <a:chOff x="4506238" y="4497680"/>
              <a:chExt cx="1077239" cy="75342"/>
            </a:xfrm>
          </p:grpSpPr>
          <p:sp>
            <p:nvSpPr>
              <p:cNvPr id="377" name="Oval 376">
                <a:extLst>
                  <a:ext uri="{FF2B5EF4-FFF2-40B4-BE49-F238E27FC236}">
                    <a16:creationId xmlns:a16="http://schemas.microsoft.com/office/drawing/2014/main" id="{1F455B03-70B0-DD62-464D-8F23C2939139}"/>
                  </a:ext>
                </a:extLst>
              </p:cNvPr>
              <p:cNvSpPr/>
              <p:nvPr/>
            </p:nvSpPr>
            <p:spPr bwMode="auto">
              <a:xfrm>
                <a:off x="4536382" y="4497680"/>
                <a:ext cx="76152"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78" name="Oval 377">
                <a:extLst>
                  <a:ext uri="{FF2B5EF4-FFF2-40B4-BE49-F238E27FC236}">
                    <a16:creationId xmlns:a16="http://schemas.microsoft.com/office/drawing/2014/main" id="{A45EB5DB-66EB-E692-E728-71E7C93716AF}"/>
                  </a:ext>
                </a:extLst>
              </p:cNvPr>
              <p:cNvSpPr/>
              <p:nvPr/>
            </p:nvSpPr>
            <p:spPr bwMode="auto">
              <a:xfrm>
                <a:off x="4631573" y="4497680"/>
                <a:ext cx="745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79" name="Oval 378">
                <a:extLst>
                  <a:ext uri="{FF2B5EF4-FFF2-40B4-BE49-F238E27FC236}">
                    <a16:creationId xmlns:a16="http://schemas.microsoft.com/office/drawing/2014/main" id="{6052ADBD-4F55-EA00-9903-21DF31DF9C71}"/>
                  </a:ext>
                </a:extLst>
              </p:cNvPr>
              <p:cNvSpPr/>
              <p:nvPr/>
            </p:nvSpPr>
            <p:spPr bwMode="auto">
              <a:xfrm>
                <a:off x="4725176" y="4497680"/>
                <a:ext cx="74566"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0" name="Oval 379">
                <a:extLst>
                  <a:ext uri="{FF2B5EF4-FFF2-40B4-BE49-F238E27FC236}">
                    <a16:creationId xmlns:a16="http://schemas.microsoft.com/office/drawing/2014/main" id="{A21DCE7E-F0AB-096C-2A5E-2B155AFCEA3E}"/>
                  </a:ext>
                </a:extLst>
              </p:cNvPr>
              <p:cNvSpPr/>
              <p:nvPr/>
            </p:nvSpPr>
            <p:spPr bwMode="auto">
              <a:xfrm>
                <a:off x="4818780" y="4497680"/>
                <a:ext cx="76152"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1" name="Oval 380">
                <a:extLst>
                  <a:ext uri="{FF2B5EF4-FFF2-40B4-BE49-F238E27FC236}">
                    <a16:creationId xmlns:a16="http://schemas.microsoft.com/office/drawing/2014/main" id="{B0BB754A-BB09-A833-7BB8-CBABC2333FC9}"/>
                  </a:ext>
                </a:extLst>
              </p:cNvPr>
              <p:cNvSpPr/>
              <p:nvPr/>
            </p:nvSpPr>
            <p:spPr bwMode="auto">
              <a:xfrm>
                <a:off x="4912384" y="4497680"/>
                <a:ext cx="76152"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2" name="Oval 381">
                <a:extLst>
                  <a:ext uri="{FF2B5EF4-FFF2-40B4-BE49-F238E27FC236}">
                    <a16:creationId xmlns:a16="http://schemas.microsoft.com/office/drawing/2014/main" id="{B42A1AA2-8CF7-9385-75C3-B107021CD173}"/>
                  </a:ext>
                </a:extLst>
              </p:cNvPr>
              <p:cNvSpPr/>
              <p:nvPr/>
            </p:nvSpPr>
            <p:spPr bwMode="auto">
              <a:xfrm>
                <a:off x="5007574" y="4497680"/>
                <a:ext cx="74566"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3" name="Oval 382">
                <a:extLst>
                  <a:ext uri="{FF2B5EF4-FFF2-40B4-BE49-F238E27FC236}">
                    <a16:creationId xmlns:a16="http://schemas.microsoft.com/office/drawing/2014/main" id="{11756EBD-6CB9-1F45-684F-F258CB18801E}"/>
                  </a:ext>
                </a:extLst>
              </p:cNvPr>
              <p:cNvSpPr/>
              <p:nvPr/>
            </p:nvSpPr>
            <p:spPr bwMode="auto">
              <a:xfrm>
                <a:off x="5101179" y="4497680"/>
                <a:ext cx="76152"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4" name="Oval 383">
                <a:extLst>
                  <a:ext uri="{FF2B5EF4-FFF2-40B4-BE49-F238E27FC236}">
                    <a16:creationId xmlns:a16="http://schemas.microsoft.com/office/drawing/2014/main" id="{B449284F-0CEE-DF23-A3A5-E24A1CE2D359}"/>
                  </a:ext>
                </a:extLst>
              </p:cNvPr>
              <p:cNvSpPr/>
              <p:nvPr/>
            </p:nvSpPr>
            <p:spPr bwMode="auto">
              <a:xfrm>
                <a:off x="5194782" y="4497680"/>
                <a:ext cx="76152"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5" name="Oval 384">
                <a:extLst>
                  <a:ext uri="{FF2B5EF4-FFF2-40B4-BE49-F238E27FC236}">
                    <a16:creationId xmlns:a16="http://schemas.microsoft.com/office/drawing/2014/main" id="{AFCDE6C6-501B-2D3D-504E-8B483EA1AF55}"/>
                  </a:ext>
                </a:extLst>
              </p:cNvPr>
              <p:cNvSpPr/>
              <p:nvPr/>
            </p:nvSpPr>
            <p:spPr bwMode="auto">
              <a:xfrm>
                <a:off x="5289973" y="4497680"/>
                <a:ext cx="74566"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6" name="Oval 385">
                <a:extLst>
                  <a:ext uri="{FF2B5EF4-FFF2-40B4-BE49-F238E27FC236}">
                    <a16:creationId xmlns:a16="http://schemas.microsoft.com/office/drawing/2014/main" id="{FD3FC139-725E-3E6D-705A-76677F68C522}"/>
                  </a:ext>
                </a:extLst>
              </p:cNvPr>
              <p:cNvSpPr/>
              <p:nvPr/>
            </p:nvSpPr>
            <p:spPr bwMode="auto">
              <a:xfrm>
                <a:off x="5383577" y="4497680"/>
                <a:ext cx="74565"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sp>
            <p:nvSpPr>
              <p:cNvPr id="387" name="Oval 386">
                <a:extLst>
                  <a:ext uri="{FF2B5EF4-FFF2-40B4-BE49-F238E27FC236}">
                    <a16:creationId xmlns:a16="http://schemas.microsoft.com/office/drawing/2014/main" id="{B0981CBC-32CE-D511-B236-B087582610DC}"/>
                  </a:ext>
                </a:extLst>
              </p:cNvPr>
              <p:cNvSpPr/>
              <p:nvPr/>
            </p:nvSpPr>
            <p:spPr bwMode="auto">
              <a:xfrm>
                <a:off x="5477181" y="4497680"/>
                <a:ext cx="76152" cy="75342"/>
              </a:xfrm>
              <a:prstGeom prst="ellipse">
                <a:avLst/>
              </a:prstGeom>
              <a:solidFill>
                <a:schemeClr val="bg1">
                  <a:lumMod val="95000"/>
                </a:schemeClr>
              </a:solidFill>
              <a:ln w="19050" cap="sq" cmpd="sng" algn="ctr">
                <a:solidFill>
                  <a:schemeClr val="accent5"/>
                </a:solid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Roboto" panose="02000000000000000000" pitchFamily="2" charset="0"/>
                  <a:ea typeface="Roboto" panose="02000000000000000000" pitchFamily="2" charset="0"/>
                </a:endParaRPr>
              </a:p>
            </p:txBody>
          </p:sp>
          <p:cxnSp>
            <p:nvCxnSpPr>
              <p:cNvPr id="388" name="Straight Connector 360">
                <a:extLst>
                  <a:ext uri="{FF2B5EF4-FFF2-40B4-BE49-F238E27FC236}">
                    <a16:creationId xmlns:a16="http://schemas.microsoft.com/office/drawing/2014/main" id="{F08B02BE-8347-F568-3EB2-B54C24E1DD6E}"/>
                  </a:ext>
                </a:extLst>
              </p:cNvPr>
              <p:cNvCxnSpPr>
                <a:cxnSpLocks noChangeShapeType="1"/>
              </p:cNvCxnSpPr>
              <p:nvPr/>
            </p:nvCxnSpPr>
            <p:spPr bwMode="auto">
              <a:xfrm>
                <a:off x="4506238" y="4537553"/>
                <a:ext cx="1077239" cy="1588"/>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cxnSp>
        </p:grpSp>
        <p:sp>
          <p:nvSpPr>
            <p:cNvPr id="389" name="AutoShape 61">
              <a:extLst>
                <a:ext uri="{FF2B5EF4-FFF2-40B4-BE49-F238E27FC236}">
                  <a16:creationId xmlns:a16="http://schemas.microsoft.com/office/drawing/2014/main" id="{5C3B8228-EE86-2FDB-2519-7F63636D6040}"/>
                </a:ext>
              </a:extLst>
            </p:cNvPr>
            <p:cNvSpPr>
              <a:spLocks noChangeArrowheads="1"/>
            </p:cNvSpPr>
            <p:nvPr/>
          </p:nvSpPr>
          <p:spPr bwMode="auto">
            <a:xfrm>
              <a:off x="6330950" y="4487863"/>
              <a:ext cx="160338"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90" name="AutoShape 61">
              <a:extLst>
                <a:ext uri="{FF2B5EF4-FFF2-40B4-BE49-F238E27FC236}">
                  <a16:creationId xmlns:a16="http://schemas.microsoft.com/office/drawing/2014/main" id="{FE651EE7-67E4-A6FF-433D-2D7E0F6DD0B7}"/>
                </a:ext>
              </a:extLst>
            </p:cNvPr>
            <p:cNvSpPr>
              <a:spLocks noChangeArrowheads="1"/>
            </p:cNvSpPr>
            <p:nvPr/>
          </p:nvSpPr>
          <p:spPr bwMode="auto">
            <a:xfrm>
              <a:off x="6594475" y="4487863"/>
              <a:ext cx="160338"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91" name="AutoShape 61">
              <a:extLst>
                <a:ext uri="{FF2B5EF4-FFF2-40B4-BE49-F238E27FC236}">
                  <a16:creationId xmlns:a16="http://schemas.microsoft.com/office/drawing/2014/main" id="{EE023098-7ED9-0D1F-322A-BD38897B88AD}"/>
                </a:ext>
              </a:extLst>
            </p:cNvPr>
            <p:cNvSpPr>
              <a:spLocks noChangeArrowheads="1"/>
            </p:cNvSpPr>
            <p:nvPr/>
          </p:nvSpPr>
          <p:spPr bwMode="auto">
            <a:xfrm>
              <a:off x="6869113" y="4487863"/>
              <a:ext cx="160337"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92" name="AutoShape 61">
              <a:extLst>
                <a:ext uri="{FF2B5EF4-FFF2-40B4-BE49-F238E27FC236}">
                  <a16:creationId xmlns:a16="http://schemas.microsoft.com/office/drawing/2014/main" id="{F30724BD-3F31-36A5-7F36-5D11E278B0D9}"/>
                </a:ext>
              </a:extLst>
            </p:cNvPr>
            <p:cNvSpPr>
              <a:spLocks noChangeArrowheads="1"/>
            </p:cNvSpPr>
            <p:nvPr/>
          </p:nvSpPr>
          <p:spPr bwMode="auto">
            <a:xfrm>
              <a:off x="7051675" y="4487863"/>
              <a:ext cx="160338"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93" name="AutoShape 61">
              <a:extLst>
                <a:ext uri="{FF2B5EF4-FFF2-40B4-BE49-F238E27FC236}">
                  <a16:creationId xmlns:a16="http://schemas.microsoft.com/office/drawing/2014/main" id="{B71E7E0C-70ED-858A-E899-2BDF57759472}"/>
                </a:ext>
              </a:extLst>
            </p:cNvPr>
            <p:cNvSpPr>
              <a:spLocks noChangeArrowheads="1"/>
            </p:cNvSpPr>
            <p:nvPr/>
          </p:nvSpPr>
          <p:spPr bwMode="auto">
            <a:xfrm>
              <a:off x="7210425" y="4487863"/>
              <a:ext cx="160338" cy="80962"/>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94" name="Freeform 366">
              <a:extLst>
                <a:ext uri="{FF2B5EF4-FFF2-40B4-BE49-F238E27FC236}">
                  <a16:creationId xmlns:a16="http://schemas.microsoft.com/office/drawing/2014/main" id="{07532DBC-7092-AF37-93A5-218D19AF9B15}"/>
                </a:ext>
              </a:extLst>
            </p:cNvPr>
            <p:cNvSpPr>
              <a:spLocks noChangeArrowheads="1"/>
            </p:cNvSpPr>
            <p:nvPr/>
          </p:nvSpPr>
          <p:spPr bwMode="auto">
            <a:xfrm>
              <a:off x="2808288" y="4408488"/>
              <a:ext cx="981075" cy="236537"/>
            </a:xfrm>
            <a:custGeom>
              <a:avLst/>
              <a:gdLst>
                <a:gd name="T0" fmla="*/ 0 w 980007"/>
                <a:gd name="T1" fmla="*/ 0 h 237826"/>
                <a:gd name="T2" fmla="*/ 463774 w 980007"/>
                <a:gd name="T3" fmla="*/ 0 h 237826"/>
                <a:gd name="T4" fmla="*/ 989660 w 980007"/>
                <a:gd name="T5" fmla="*/ 226474 h 237826"/>
                <a:gd name="T6" fmla="*/ 0 60000 65536"/>
                <a:gd name="T7" fmla="*/ 0 60000 65536"/>
                <a:gd name="T8" fmla="*/ 0 60000 65536"/>
                <a:gd name="T9" fmla="*/ 0 w 980007"/>
                <a:gd name="T10" fmla="*/ 0 h 237826"/>
                <a:gd name="T11" fmla="*/ 980007 w 980007"/>
                <a:gd name="T12" fmla="*/ 237826 h 237826"/>
              </a:gdLst>
              <a:ahLst/>
              <a:cxnLst>
                <a:cxn ang="T6">
                  <a:pos x="T0" y="T1"/>
                </a:cxn>
                <a:cxn ang="T7">
                  <a:pos x="T2" y="T3"/>
                </a:cxn>
                <a:cxn ang="T8">
                  <a:pos x="T4" y="T5"/>
                </a:cxn>
              </a:cxnLst>
              <a:rect l="T9" t="T10" r="T11" b="T12"/>
              <a:pathLst>
                <a:path w="980007" h="237826">
                  <a:moveTo>
                    <a:pt x="0" y="0"/>
                  </a:moveTo>
                  <a:lnTo>
                    <a:pt x="459250" y="0"/>
                  </a:lnTo>
                  <a:lnTo>
                    <a:pt x="980007" y="237826"/>
                  </a:lnTo>
                </a:path>
              </a:pathLst>
            </a:custGeom>
            <a:noFill/>
            <a:ln w="12700" cap="sq">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95" name="AutoShape 61">
              <a:extLst>
                <a:ext uri="{FF2B5EF4-FFF2-40B4-BE49-F238E27FC236}">
                  <a16:creationId xmlns:a16="http://schemas.microsoft.com/office/drawing/2014/main" id="{39D45B70-07CC-1A55-E307-233DD49B9DD8}"/>
                </a:ext>
              </a:extLst>
            </p:cNvPr>
            <p:cNvSpPr>
              <a:spLocks noChangeArrowheads="1"/>
            </p:cNvSpPr>
            <p:nvPr/>
          </p:nvSpPr>
          <p:spPr bwMode="auto">
            <a:xfrm rot="1556400">
              <a:off x="3487738" y="4451350"/>
              <a:ext cx="160337"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sp>
          <p:nvSpPr>
            <p:cNvPr id="396" name="AutoShape 61">
              <a:extLst>
                <a:ext uri="{FF2B5EF4-FFF2-40B4-BE49-F238E27FC236}">
                  <a16:creationId xmlns:a16="http://schemas.microsoft.com/office/drawing/2014/main" id="{CBBD334F-8D5C-1EE7-8070-24CC7C8D35DF}"/>
                </a:ext>
              </a:extLst>
            </p:cNvPr>
            <p:cNvSpPr>
              <a:spLocks noChangeArrowheads="1"/>
            </p:cNvSpPr>
            <p:nvPr/>
          </p:nvSpPr>
          <p:spPr bwMode="auto">
            <a:xfrm rot="1556400">
              <a:off x="3336925" y="4378325"/>
              <a:ext cx="160338" cy="80963"/>
            </a:xfrm>
            <a:prstGeom prst="roundRect">
              <a:avLst>
                <a:gd name="adj" fmla="val 30000"/>
              </a:avLst>
            </a:prstGeom>
            <a:solidFill>
              <a:srgbClr val="992600"/>
            </a:solidFill>
            <a:ln w="14288">
              <a:solidFill>
                <a:srgbClr val="000000"/>
              </a:solidFill>
              <a:round/>
              <a:headEnd/>
              <a:tailEnd/>
            </a:ln>
          </p:spPr>
          <p:txBody>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GB" altLang="en-US">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6333668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4000" dirty="0"/>
              <a:t>15. Use multiple lines &amp; untangled flows </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77</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pSp>
        <p:nvGrpSpPr>
          <p:cNvPr id="265" name="Group 264">
            <a:extLst>
              <a:ext uri="{FF2B5EF4-FFF2-40B4-BE49-F238E27FC236}">
                <a16:creationId xmlns:a16="http://schemas.microsoft.com/office/drawing/2014/main" id="{1DD71323-7C58-C199-D3A2-A3820D080B10}"/>
              </a:ext>
            </a:extLst>
          </p:cNvPr>
          <p:cNvGrpSpPr/>
          <p:nvPr/>
        </p:nvGrpSpPr>
        <p:grpSpPr>
          <a:xfrm>
            <a:off x="1845628" y="1920240"/>
            <a:ext cx="8398039" cy="4248785"/>
            <a:chOff x="1089025" y="1303338"/>
            <a:chExt cx="7269163" cy="4865687"/>
          </a:xfrm>
        </p:grpSpPr>
        <p:grpSp>
          <p:nvGrpSpPr>
            <p:cNvPr id="7" name="Group 4">
              <a:extLst>
                <a:ext uri="{FF2B5EF4-FFF2-40B4-BE49-F238E27FC236}">
                  <a16:creationId xmlns:a16="http://schemas.microsoft.com/office/drawing/2014/main" id="{BD8F89ED-823F-3180-624B-684F33BCF458}"/>
                </a:ext>
              </a:extLst>
            </p:cNvPr>
            <p:cNvGrpSpPr>
              <a:grpSpLocks/>
            </p:cNvGrpSpPr>
            <p:nvPr/>
          </p:nvGrpSpPr>
          <p:grpSpPr bwMode="auto">
            <a:xfrm>
              <a:off x="1095375" y="3590925"/>
              <a:ext cx="5327650" cy="1998663"/>
              <a:chOff x="528" y="2496"/>
              <a:chExt cx="3456" cy="1296"/>
            </a:xfrm>
          </p:grpSpPr>
          <p:sp>
            <p:nvSpPr>
              <p:cNvPr id="8" name="Rectangle 5">
                <a:extLst>
                  <a:ext uri="{FF2B5EF4-FFF2-40B4-BE49-F238E27FC236}">
                    <a16:creationId xmlns:a16="http://schemas.microsoft.com/office/drawing/2014/main" id="{09E85749-1FC1-EDD8-CED1-C1FA96F1F2ED}"/>
                  </a:ext>
                </a:extLst>
              </p:cNvPr>
              <p:cNvSpPr>
                <a:spLocks noChangeArrowheads="1"/>
              </p:cNvSpPr>
              <p:nvPr/>
            </p:nvSpPr>
            <p:spPr bwMode="auto">
              <a:xfrm>
                <a:off x="1392" y="2496"/>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B1</a:t>
                </a:r>
              </a:p>
            </p:txBody>
          </p:sp>
          <p:sp>
            <p:nvSpPr>
              <p:cNvPr id="11" name="Rectangle 6">
                <a:extLst>
                  <a:ext uri="{FF2B5EF4-FFF2-40B4-BE49-F238E27FC236}">
                    <a16:creationId xmlns:a16="http://schemas.microsoft.com/office/drawing/2014/main" id="{7F600064-3502-0550-7F3C-7CC3D09FCB01}"/>
                  </a:ext>
                </a:extLst>
              </p:cNvPr>
              <p:cNvSpPr>
                <a:spLocks noChangeArrowheads="1"/>
              </p:cNvSpPr>
              <p:nvPr/>
            </p:nvSpPr>
            <p:spPr bwMode="auto">
              <a:xfrm>
                <a:off x="1392" y="2832"/>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B2</a:t>
                </a:r>
              </a:p>
            </p:txBody>
          </p:sp>
          <p:sp>
            <p:nvSpPr>
              <p:cNvPr id="12" name="Rectangle 7">
                <a:extLst>
                  <a:ext uri="{FF2B5EF4-FFF2-40B4-BE49-F238E27FC236}">
                    <a16:creationId xmlns:a16="http://schemas.microsoft.com/office/drawing/2014/main" id="{E2DFE7FE-8475-0C6F-B7A9-BE5DBD4FA8D7}"/>
                  </a:ext>
                </a:extLst>
              </p:cNvPr>
              <p:cNvSpPr>
                <a:spLocks noChangeArrowheads="1"/>
              </p:cNvSpPr>
              <p:nvPr/>
            </p:nvSpPr>
            <p:spPr bwMode="auto">
              <a:xfrm>
                <a:off x="1392" y="3168"/>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B3</a:t>
                </a:r>
              </a:p>
            </p:txBody>
          </p:sp>
          <p:sp>
            <p:nvSpPr>
              <p:cNvPr id="14" name="Rectangle 8">
                <a:extLst>
                  <a:ext uri="{FF2B5EF4-FFF2-40B4-BE49-F238E27FC236}">
                    <a16:creationId xmlns:a16="http://schemas.microsoft.com/office/drawing/2014/main" id="{8277E3F9-9070-D90C-834E-DFD0F9DC9F24}"/>
                  </a:ext>
                </a:extLst>
              </p:cNvPr>
              <p:cNvSpPr>
                <a:spLocks noChangeArrowheads="1"/>
              </p:cNvSpPr>
              <p:nvPr/>
            </p:nvSpPr>
            <p:spPr bwMode="auto">
              <a:xfrm>
                <a:off x="1392" y="3504"/>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B4</a:t>
                </a:r>
              </a:p>
            </p:txBody>
          </p:sp>
          <p:sp>
            <p:nvSpPr>
              <p:cNvPr id="15" name="Rectangle 9">
                <a:extLst>
                  <a:ext uri="{FF2B5EF4-FFF2-40B4-BE49-F238E27FC236}">
                    <a16:creationId xmlns:a16="http://schemas.microsoft.com/office/drawing/2014/main" id="{C9098C6E-E7DD-98DE-3E1D-E9BD80B1CD3B}"/>
                  </a:ext>
                </a:extLst>
              </p:cNvPr>
              <p:cNvSpPr>
                <a:spLocks noChangeArrowheads="1"/>
              </p:cNvSpPr>
              <p:nvPr/>
            </p:nvSpPr>
            <p:spPr bwMode="auto">
              <a:xfrm>
                <a:off x="2064" y="2496"/>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F1</a:t>
                </a:r>
              </a:p>
            </p:txBody>
          </p:sp>
          <p:sp>
            <p:nvSpPr>
              <p:cNvPr id="27" name="Rectangle 10">
                <a:extLst>
                  <a:ext uri="{FF2B5EF4-FFF2-40B4-BE49-F238E27FC236}">
                    <a16:creationId xmlns:a16="http://schemas.microsoft.com/office/drawing/2014/main" id="{787ADC3B-847A-7872-D083-3B4DCD3E6869}"/>
                  </a:ext>
                </a:extLst>
              </p:cNvPr>
              <p:cNvSpPr>
                <a:spLocks noChangeArrowheads="1"/>
              </p:cNvSpPr>
              <p:nvPr/>
            </p:nvSpPr>
            <p:spPr bwMode="auto">
              <a:xfrm>
                <a:off x="2064" y="2832"/>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F2</a:t>
                </a:r>
              </a:p>
            </p:txBody>
          </p:sp>
          <p:sp>
            <p:nvSpPr>
              <p:cNvPr id="28" name="Rectangle 11">
                <a:extLst>
                  <a:ext uri="{FF2B5EF4-FFF2-40B4-BE49-F238E27FC236}">
                    <a16:creationId xmlns:a16="http://schemas.microsoft.com/office/drawing/2014/main" id="{006C9302-6CD7-BDB3-544F-7920F972F03F}"/>
                  </a:ext>
                </a:extLst>
              </p:cNvPr>
              <p:cNvSpPr>
                <a:spLocks noChangeArrowheads="1"/>
              </p:cNvSpPr>
              <p:nvPr/>
            </p:nvSpPr>
            <p:spPr bwMode="auto">
              <a:xfrm>
                <a:off x="2064" y="3168"/>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F3</a:t>
                </a:r>
              </a:p>
            </p:txBody>
          </p:sp>
          <p:sp>
            <p:nvSpPr>
              <p:cNvPr id="29" name="Rectangle 12">
                <a:extLst>
                  <a:ext uri="{FF2B5EF4-FFF2-40B4-BE49-F238E27FC236}">
                    <a16:creationId xmlns:a16="http://schemas.microsoft.com/office/drawing/2014/main" id="{54A19D18-C7AB-A566-5C50-F0AD747C77CF}"/>
                  </a:ext>
                </a:extLst>
              </p:cNvPr>
              <p:cNvSpPr>
                <a:spLocks noChangeArrowheads="1"/>
              </p:cNvSpPr>
              <p:nvPr/>
            </p:nvSpPr>
            <p:spPr bwMode="auto">
              <a:xfrm>
                <a:off x="2064" y="3504"/>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F4</a:t>
                </a:r>
              </a:p>
            </p:txBody>
          </p:sp>
          <p:sp>
            <p:nvSpPr>
              <p:cNvPr id="30" name="Rectangle 13">
                <a:extLst>
                  <a:ext uri="{FF2B5EF4-FFF2-40B4-BE49-F238E27FC236}">
                    <a16:creationId xmlns:a16="http://schemas.microsoft.com/office/drawing/2014/main" id="{7426C219-6E0C-E9C2-1D47-B0939F98DC35}"/>
                  </a:ext>
                </a:extLst>
              </p:cNvPr>
              <p:cNvSpPr>
                <a:spLocks noChangeArrowheads="1"/>
              </p:cNvSpPr>
              <p:nvPr/>
            </p:nvSpPr>
            <p:spPr bwMode="auto">
              <a:xfrm>
                <a:off x="2736" y="2496"/>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P1</a:t>
                </a:r>
              </a:p>
            </p:txBody>
          </p:sp>
          <p:sp>
            <p:nvSpPr>
              <p:cNvPr id="31" name="Rectangle 14">
                <a:extLst>
                  <a:ext uri="{FF2B5EF4-FFF2-40B4-BE49-F238E27FC236}">
                    <a16:creationId xmlns:a16="http://schemas.microsoft.com/office/drawing/2014/main" id="{84359CA9-6605-000B-CD22-9D6EC0A0C98D}"/>
                  </a:ext>
                </a:extLst>
              </p:cNvPr>
              <p:cNvSpPr>
                <a:spLocks noChangeArrowheads="1"/>
              </p:cNvSpPr>
              <p:nvPr/>
            </p:nvSpPr>
            <p:spPr bwMode="auto">
              <a:xfrm>
                <a:off x="2736" y="2832"/>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P2</a:t>
                </a:r>
              </a:p>
            </p:txBody>
          </p:sp>
          <p:sp>
            <p:nvSpPr>
              <p:cNvPr id="32" name="Rectangle 15">
                <a:extLst>
                  <a:ext uri="{FF2B5EF4-FFF2-40B4-BE49-F238E27FC236}">
                    <a16:creationId xmlns:a16="http://schemas.microsoft.com/office/drawing/2014/main" id="{2AFA166E-DEA3-0CF3-1A28-76955885A2A0}"/>
                  </a:ext>
                </a:extLst>
              </p:cNvPr>
              <p:cNvSpPr>
                <a:spLocks noChangeArrowheads="1"/>
              </p:cNvSpPr>
              <p:nvPr/>
            </p:nvSpPr>
            <p:spPr bwMode="auto">
              <a:xfrm>
                <a:off x="2736" y="3168"/>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P3</a:t>
                </a:r>
              </a:p>
            </p:txBody>
          </p:sp>
          <p:sp>
            <p:nvSpPr>
              <p:cNvPr id="33" name="Rectangle 16">
                <a:extLst>
                  <a:ext uri="{FF2B5EF4-FFF2-40B4-BE49-F238E27FC236}">
                    <a16:creationId xmlns:a16="http://schemas.microsoft.com/office/drawing/2014/main" id="{7570E1C5-803D-CF0C-1054-C3C5A086FB3D}"/>
                  </a:ext>
                </a:extLst>
              </p:cNvPr>
              <p:cNvSpPr>
                <a:spLocks noChangeArrowheads="1"/>
              </p:cNvSpPr>
              <p:nvPr/>
            </p:nvSpPr>
            <p:spPr bwMode="auto">
              <a:xfrm>
                <a:off x="2736" y="3504"/>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P4</a:t>
                </a:r>
              </a:p>
            </p:txBody>
          </p:sp>
          <p:sp>
            <p:nvSpPr>
              <p:cNvPr id="34" name="Rectangle 17">
                <a:extLst>
                  <a:ext uri="{FF2B5EF4-FFF2-40B4-BE49-F238E27FC236}">
                    <a16:creationId xmlns:a16="http://schemas.microsoft.com/office/drawing/2014/main" id="{F2F24A1C-5FEE-1BD1-DA3B-DECB1BABC021}"/>
                  </a:ext>
                </a:extLst>
              </p:cNvPr>
              <p:cNvSpPr>
                <a:spLocks noChangeArrowheads="1"/>
              </p:cNvSpPr>
              <p:nvPr/>
            </p:nvSpPr>
            <p:spPr bwMode="auto">
              <a:xfrm>
                <a:off x="3408" y="2496"/>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A1</a:t>
                </a:r>
              </a:p>
            </p:txBody>
          </p:sp>
          <p:sp>
            <p:nvSpPr>
              <p:cNvPr id="35" name="Rectangle 18">
                <a:extLst>
                  <a:ext uri="{FF2B5EF4-FFF2-40B4-BE49-F238E27FC236}">
                    <a16:creationId xmlns:a16="http://schemas.microsoft.com/office/drawing/2014/main" id="{7D829209-6A73-8084-10D9-F4CFD3F011B3}"/>
                  </a:ext>
                </a:extLst>
              </p:cNvPr>
              <p:cNvSpPr>
                <a:spLocks noChangeArrowheads="1"/>
              </p:cNvSpPr>
              <p:nvPr/>
            </p:nvSpPr>
            <p:spPr bwMode="auto">
              <a:xfrm>
                <a:off x="3408" y="2832"/>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A2</a:t>
                </a:r>
              </a:p>
            </p:txBody>
          </p:sp>
          <p:sp>
            <p:nvSpPr>
              <p:cNvPr id="36" name="Rectangle 19">
                <a:extLst>
                  <a:ext uri="{FF2B5EF4-FFF2-40B4-BE49-F238E27FC236}">
                    <a16:creationId xmlns:a16="http://schemas.microsoft.com/office/drawing/2014/main" id="{460DB706-8879-A972-7946-7D997331645A}"/>
                  </a:ext>
                </a:extLst>
              </p:cNvPr>
              <p:cNvSpPr>
                <a:spLocks noChangeArrowheads="1"/>
              </p:cNvSpPr>
              <p:nvPr/>
            </p:nvSpPr>
            <p:spPr bwMode="auto">
              <a:xfrm>
                <a:off x="3408" y="3168"/>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A3</a:t>
                </a:r>
              </a:p>
            </p:txBody>
          </p:sp>
          <p:sp>
            <p:nvSpPr>
              <p:cNvPr id="37" name="Rectangle 20">
                <a:extLst>
                  <a:ext uri="{FF2B5EF4-FFF2-40B4-BE49-F238E27FC236}">
                    <a16:creationId xmlns:a16="http://schemas.microsoft.com/office/drawing/2014/main" id="{5657C604-137A-8E83-9F39-FAC42760AFD6}"/>
                  </a:ext>
                </a:extLst>
              </p:cNvPr>
              <p:cNvSpPr>
                <a:spLocks noChangeArrowheads="1"/>
              </p:cNvSpPr>
              <p:nvPr/>
            </p:nvSpPr>
            <p:spPr bwMode="auto">
              <a:xfrm>
                <a:off x="3408" y="3504"/>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A4</a:t>
                </a:r>
              </a:p>
            </p:txBody>
          </p:sp>
          <p:sp>
            <p:nvSpPr>
              <p:cNvPr id="38" name="Text Box 21">
                <a:extLst>
                  <a:ext uri="{FF2B5EF4-FFF2-40B4-BE49-F238E27FC236}">
                    <a16:creationId xmlns:a16="http://schemas.microsoft.com/office/drawing/2014/main" id="{5079B8D1-22ED-3084-D73D-08A1045C5EC2}"/>
                  </a:ext>
                </a:extLst>
              </p:cNvPr>
              <p:cNvSpPr txBox="1">
                <a:spLocks noChangeArrowheads="1"/>
              </p:cNvSpPr>
              <p:nvPr/>
            </p:nvSpPr>
            <p:spPr bwMode="auto">
              <a:xfrm>
                <a:off x="528" y="25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A</a:t>
                </a:r>
                <a:endParaRPr lang="en-US" altLang="ja-JP" sz="1600"/>
              </a:p>
            </p:txBody>
          </p:sp>
          <p:sp>
            <p:nvSpPr>
              <p:cNvPr id="39" name="Text Box 22">
                <a:extLst>
                  <a:ext uri="{FF2B5EF4-FFF2-40B4-BE49-F238E27FC236}">
                    <a16:creationId xmlns:a16="http://schemas.microsoft.com/office/drawing/2014/main" id="{D6E68FCB-2FFB-5D9D-923E-0E18F7B9EE4A}"/>
                  </a:ext>
                </a:extLst>
              </p:cNvPr>
              <p:cNvSpPr txBox="1">
                <a:spLocks noChangeArrowheads="1"/>
              </p:cNvSpPr>
              <p:nvPr/>
            </p:nvSpPr>
            <p:spPr bwMode="auto">
              <a:xfrm>
                <a:off x="528" y="28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B</a:t>
                </a:r>
                <a:endParaRPr lang="en-US" altLang="ja-JP" sz="1600"/>
              </a:p>
            </p:txBody>
          </p:sp>
          <p:sp>
            <p:nvSpPr>
              <p:cNvPr id="40" name="Text Box 23">
                <a:extLst>
                  <a:ext uri="{FF2B5EF4-FFF2-40B4-BE49-F238E27FC236}">
                    <a16:creationId xmlns:a16="http://schemas.microsoft.com/office/drawing/2014/main" id="{C13BF06A-2B63-1445-66BD-A85372FF4E24}"/>
                  </a:ext>
                </a:extLst>
              </p:cNvPr>
              <p:cNvSpPr txBox="1">
                <a:spLocks noChangeArrowheads="1"/>
              </p:cNvSpPr>
              <p:nvPr/>
            </p:nvSpPr>
            <p:spPr bwMode="auto">
              <a:xfrm>
                <a:off x="528" y="321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C</a:t>
                </a:r>
                <a:endParaRPr lang="en-US" altLang="ja-JP" sz="1600"/>
              </a:p>
            </p:txBody>
          </p:sp>
          <p:sp>
            <p:nvSpPr>
              <p:cNvPr id="41" name="Text Box 24">
                <a:extLst>
                  <a:ext uri="{FF2B5EF4-FFF2-40B4-BE49-F238E27FC236}">
                    <a16:creationId xmlns:a16="http://schemas.microsoft.com/office/drawing/2014/main" id="{14C6361D-4DF2-0E3F-E91C-ECEEB30B57BB}"/>
                  </a:ext>
                </a:extLst>
              </p:cNvPr>
              <p:cNvSpPr txBox="1">
                <a:spLocks noChangeArrowheads="1"/>
              </p:cNvSpPr>
              <p:nvPr/>
            </p:nvSpPr>
            <p:spPr bwMode="auto">
              <a:xfrm>
                <a:off x="528" y="355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D</a:t>
                </a:r>
                <a:endParaRPr lang="en-US" altLang="ja-JP" sz="1600"/>
              </a:p>
            </p:txBody>
          </p:sp>
          <p:sp>
            <p:nvSpPr>
              <p:cNvPr id="42" name="Line 25">
                <a:extLst>
                  <a:ext uri="{FF2B5EF4-FFF2-40B4-BE49-F238E27FC236}">
                    <a16:creationId xmlns:a16="http://schemas.microsoft.com/office/drawing/2014/main" id="{E2A4F080-820B-7EE5-0ABF-D89AA8EF429C}"/>
                  </a:ext>
                </a:extLst>
              </p:cNvPr>
              <p:cNvSpPr>
                <a:spLocks noChangeShapeType="1"/>
              </p:cNvSpPr>
              <p:nvPr/>
            </p:nvSpPr>
            <p:spPr bwMode="auto">
              <a:xfrm>
                <a:off x="1104" y="264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26">
                <a:extLst>
                  <a:ext uri="{FF2B5EF4-FFF2-40B4-BE49-F238E27FC236}">
                    <a16:creationId xmlns:a16="http://schemas.microsoft.com/office/drawing/2014/main" id="{505F2320-A713-3E86-AD3C-5FD8B5056EC6}"/>
                  </a:ext>
                </a:extLst>
              </p:cNvPr>
              <p:cNvSpPr>
                <a:spLocks noChangeShapeType="1"/>
              </p:cNvSpPr>
              <p:nvPr/>
            </p:nvSpPr>
            <p:spPr bwMode="auto">
              <a:xfrm>
                <a:off x="1104" y="2976"/>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27">
                <a:extLst>
                  <a:ext uri="{FF2B5EF4-FFF2-40B4-BE49-F238E27FC236}">
                    <a16:creationId xmlns:a16="http://schemas.microsoft.com/office/drawing/2014/main" id="{8603FDBB-2353-602D-FE41-B1B71FA8C749}"/>
                  </a:ext>
                </a:extLst>
              </p:cNvPr>
              <p:cNvSpPr>
                <a:spLocks noChangeShapeType="1"/>
              </p:cNvSpPr>
              <p:nvPr/>
            </p:nvSpPr>
            <p:spPr bwMode="auto">
              <a:xfrm>
                <a:off x="1104" y="331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28">
                <a:extLst>
                  <a:ext uri="{FF2B5EF4-FFF2-40B4-BE49-F238E27FC236}">
                    <a16:creationId xmlns:a16="http://schemas.microsoft.com/office/drawing/2014/main" id="{A5668FF4-29CE-1B85-ABD9-46752338C18A}"/>
                  </a:ext>
                </a:extLst>
              </p:cNvPr>
              <p:cNvSpPr>
                <a:spLocks noChangeShapeType="1"/>
              </p:cNvSpPr>
              <p:nvPr/>
            </p:nvSpPr>
            <p:spPr bwMode="auto">
              <a:xfrm>
                <a:off x="1104" y="364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29">
                <a:extLst>
                  <a:ext uri="{FF2B5EF4-FFF2-40B4-BE49-F238E27FC236}">
                    <a16:creationId xmlns:a16="http://schemas.microsoft.com/office/drawing/2014/main" id="{C90F7DF9-4FD1-19E2-0F04-434B79D1812E}"/>
                  </a:ext>
                </a:extLst>
              </p:cNvPr>
              <p:cNvSpPr>
                <a:spLocks noChangeShapeType="1"/>
              </p:cNvSpPr>
              <p:nvPr/>
            </p:nvSpPr>
            <p:spPr bwMode="auto">
              <a:xfrm>
                <a:off x="1728" y="264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30">
                <a:extLst>
                  <a:ext uri="{FF2B5EF4-FFF2-40B4-BE49-F238E27FC236}">
                    <a16:creationId xmlns:a16="http://schemas.microsoft.com/office/drawing/2014/main" id="{E84283DC-A69D-2BA4-BCA6-BD93EA72E1F3}"/>
                  </a:ext>
                </a:extLst>
              </p:cNvPr>
              <p:cNvSpPr>
                <a:spLocks noChangeShapeType="1"/>
              </p:cNvSpPr>
              <p:nvPr/>
            </p:nvSpPr>
            <p:spPr bwMode="auto">
              <a:xfrm>
                <a:off x="1728" y="2976"/>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8" name="Line 31">
                <a:extLst>
                  <a:ext uri="{FF2B5EF4-FFF2-40B4-BE49-F238E27FC236}">
                    <a16:creationId xmlns:a16="http://schemas.microsoft.com/office/drawing/2014/main" id="{024CE05F-C576-AC52-15E9-815FF9D6DA0E}"/>
                  </a:ext>
                </a:extLst>
              </p:cNvPr>
              <p:cNvSpPr>
                <a:spLocks noChangeShapeType="1"/>
              </p:cNvSpPr>
              <p:nvPr/>
            </p:nvSpPr>
            <p:spPr bwMode="auto">
              <a:xfrm>
                <a:off x="1728" y="331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32">
                <a:extLst>
                  <a:ext uri="{FF2B5EF4-FFF2-40B4-BE49-F238E27FC236}">
                    <a16:creationId xmlns:a16="http://schemas.microsoft.com/office/drawing/2014/main" id="{907D4A9C-D0F9-FD75-85E4-B1F1787AC184}"/>
                  </a:ext>
                </a:extLst>
              </p:cNvPr>
              <p:cNvSpPr>
                <a:spLocks noChangeShapeType="1"/>
              </p:cNvSpPr>
              <p:nvPr/>
            </p:nvSpPr>
            <p:spPr bwMode="auto">
              <a:xfrm>
                <a:off x="1728" y="364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33">
                <a:extLst>
                  <a:ext uri="{FF2B5EF4-FFF2-40B4-BE49-F238E27FC236}">
                    <a16:creationId xmlns:a16="http://schemas.microsoft.com/office/drawing/2014/main" id="{4B2E114D-A9C7-358D-D249-803CF81376AD}"/>
                  </a:ext>
                </a:extLst>
              </p:cNvPr>
              <p:cNvSpPr>
                <a:spLocks noChangeShapeType="1"/>
              </p:cNvSpPr>
              <p:nvPr/>
            </p:nvSpPr>
            <p:spPr bwMode="auto">
              <a:xfrm>
                <a:off x="2400" y="264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34">
                <a:extLst>
                  <a:ext uri="{FF2B5EF4-FFF2-40B4-BE49-F238E27FC236}">
                    <a16:creationId xmlns:a16="http://schemas.microsoft.com/office/drawing/2014/main" id="{D80A269F-E588-BB6D-49AB-F5605BDC5071}"/>
                  </a:ext>
                </a:extLst>
              </p:cNvPr>
              <p:cNvSpPr>
                <a:spLocks noChangeShapeType="1"/>
              </p:cNvSpPr>
              <p:nvPr/>
            </p:nvSpPr>
            <p:spPr bwMode="auto">
              <a:xfrm>
                <a:off x="2400" y="2976"/>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2" name="Line 35">
                <a:extLst>
                  <a:ext uri="{FF2B5EF4-FFF2-40B4-BE49-F238E27FC236}">
                    <a16:creationId xmlns:a16="http://schemas.microsoft.com/office/drawing/2014/main" id="{9917A6BF-E602-41FD-25C9-66F99632ED91}"/>
                  </a:ext>
                </a:extLst>
              </p:cNvPr>
              <p:cNvSpPr>
                <a:spLocks noChangeShapeType="1"/>
              </p:cNvSpPr>
              <p:nvPr/>
            </p:nvSpPr>
            <p:spPr bwMode="auto">
              <a:xfrm>
                <a:off x="2400" y="331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36">
                <a:extLst>
                  <a:ext uri="{FF2B5EF4-FFF2-40B4-BE49-F238E27FC236}">
                    <a16:creationId xmlns:a16="http://schemas.microsoft.com/office/drawing/2014/main" id="{8692C19A-FF58-74D7-4E37-25A4FEB623A5}"/>
                  </a:ext>
                </a:extLst>
              </p:cNvPr>
              <p:cNvSpPr>
                <a:spLocks noChangeShapeType="1"/>
              </p:cNvSpPr>
              <p:nvPr/>
            </p:nvSpPr>
            <p:spPr bwMode="auto">
              <a:xfrm>
                <a:off x="2400" y="364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4" name="Line 37">
                <a:extLst>
                  <a:ext uri="{FF2B5EF4-FFF2-40B4-BE49-F238E27FC236}">
                    <a16:creationId xmlns:a16="http://schemas.microsoft.com/office/drawing/2014/main" id="{DA7AF996-54AB-68BD-03F7-B9E65BE7DD7F}"/>
                  </a:ext>
                </a:extLst>
              </p:cNvPr>
              <p:cNvSpPr>
                <a:spLocks noChangeShapeType="1"/>
              </p:cNvSpPr>
              <p:nvPr/>
            </p:nvSpPr>
            <p:spPr bwMode="auto">
              <a:xfrm>
                <a:off x="3072" y="264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5" name="Line 38">
                <a:extLst>
                  <a:ext uri="{FF2B5EF4-FFF2-40B4-BE49-F238E27FC236}">
                    <a16:creationId xmlns:a16="http://schemas.microsoft.com/office/drawing/2014/main" id="{73CB32F4-D0EF-0869-4F65-38E654F03229}"/>
                  </a:ext>
                </a:extLst>
              </p:cNvPr>
              <p:cNvSpPr>
                <a:spLocks noChangeShapeType="1"/>
              </p:cNvSpPr>
              <p:nvPr/>
            </p:nvSpPr>
            <p:spPr bwMode="auto">
              <a:xfrm>
                <a:off x="3072" y="2976"/>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39">
                <a:extLst>
                  <a:ext uri="{FF2B5EF4-FFF2-40B4-BE49-F238E27FC236}">
                    <a16:creationId xmlns:a16="http://schemas.microsoft.com/office/drawing/2014/main" id="{463F87FA-25EA-B8FC-DF5F-E43A0C18223F}"/>
                  </a:ext>
                </a:extLst>
              </p:cNvPr>
              <p:cNvSpPr>
                <a:spLocks noChangeShapeType="1"/>
              </p:cNvSpPr>
              <p:nvPr/>
            </p:nvSpPr>
            <p:spPr bwMode="auto">
              <a:xfrm>
                <a:off x="3072" y="331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40">
                <a:extLst>
                  <a:ext uri="{FF2B5EF4-FFF2-40B4-BE49-F238E27FC236}">
                    <a16:creationId xmlns:a16="http://schemas.microsoft.com/office/drawing/2014/main" id="{33B0E220-2825-A526-6988-701A83842DBA}"/>
                  </a:ext>
                </a:extLst>
              </p:cNvPr>
              <p:cNvSpPr>
                <a:spLocks noChangeShapeType="1"/>
              </p:cNvSpPr>
              <p:nvPr/>
            </p:nvSpPr>
            <p:spPr bwMode="auto">
              <a:xfrm>
                <a:off x="3072" y="364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8" name="Line 41">
                <a:extLst>
                  <a:ext uri="{FF2B5EF4-FFF2-40B4-BE49-F238E27FC236}">
                    <a16:creationId xmlns:a16="http://schemas.microsoft.com/office/drawing/2014/main" id="{5232C0FD-151D-D9B1-C68E-CF7B81A92573}"/>
                  </a:ext>
                </a:extLst>
              </p:cNvPr>
              <p:cNvSpPr>
                <a:spLocks noChangeShapeType="1"/>
              </p:cNvSpPr>
              <p:nvPr/>
            </p:nvSpPr>
            <p:spPr bwMode="auto">
              <a:xfrm>
                <a:off x="3744" y="264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42">
                <a:extLst>
                  <a:ext uri="{FF2B5EF4-FFF2-40B4-BE49-F238E27FC236}">
                    <a16:creationId xmlns:a16="http://schemas.microsoft.com/office/drawing/2014/main" id="{ECAD5193-359F-7A75-A42A-2450E67E4F40}"/>
                  </a:ext>
                </a:extLst>
              </p:cNvPr>
              <p:cNvSpPr>
                <a:spLocks noChangeShapeType="1"/>
              </p:cNvSpPr>
              <p:nvPr/>
            </p:nvSpPr>
            <p:spPr bwMode="auto">
              <a:xfrm>
                <a:off x="3744" y="2976"/>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43">
                <a:extLst>
                  <a:ext uri="{FF2B5EF4-FFF2-40B4-BE49-F238E27FC236}">
                    <a16:creationId xmlns:a16="http://schemas.microsoft.com/office/drawing/2014/main" id="{4F402D91-34D7-429F-DCB4-91D9C4484985}"/>
                  </a:ext>
                </a:extLst>
              </p:cNvPr>
              <p:cNvSpPr>
                <a:spLocks noChangeShapeType="1"/>
              </p:cNvSpPr>
              <p:nvPr/>
            </p:nvSpPr>
            <p:spPr bwMode="auto">
              <a:xfrm>
                <a:off x="3744" y="331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44">
                <a:extLst>
                  <a:ext uri="{FF2B5EF4-FFF2-40B4-BE49-F238E27FC236}">
                    <a16:creationId xmlns:a16="http://schemas.microsoft.com/office/drawing/2014/main" id="{ED53CE79-DACE-2443-23E6-286F00EDDD3D}"/>
                  </a:ext>
                </a:extLst>
              </p:cNvPr>
              <p:cNvSpPr>
                <a:spLocks noChangeShapeType="1"/>
              </p:cNvSpPr>
              <p:nvPr/>
            </p:nvSpPr>
            <p:spPr bwMode="auto">
              <a:xfrm>
                <a:off x="3744" y="364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2" name="Group 45">
              <a:extLst>
                <a:ext uri="{FF2B5EF4-FFF2-40B4-BE49-F238E27FC236}">
                  <a16:creationId xmlns:a16="http://schemas.microsoft.com/office/drawing/2014/main" id="{0793B2A2-BFB2-AD6D-0133-5E569917B2A9}"/>
                </a:ext>
              </a:extLst>
            </p:cNvPr>
            <p:cNvGrpSpPr>
              <a:grpSpLocks/>
            </p:cNvGrpSpPr>
            <p:nvPr/>
          </p:nvGrpSpPr>
          <p:grpSpPr bwMode="auto">
            <a:xfrm>
              <a:off x="1089025" y="1303338"/>
              <a:ext cx="5386388" cy="1965325"/>
              <a:chOff x="480" y="1008"/>
              <a:chExt cx="3888" cy="1296"/>
            </a:xfrm>
          </p:grpSpPr>
          <p:sp>
            <p:nvSpPr>
              <p:cNvPr id="63" name="Rectangle 46">
                <a:extLst>
                  <a:ext uri="{FF2B5EF4-FFF2-40B4-BE49-F238E27FC236}">
                    <a16:creationId xmlns:a16="http://schemas.microsoft.com/office/drawing/2014/main" id="{0CBC093D-F912-0C29-1E8A-1EF04E62ACCA}"/>
                  </a:ext>
                </a:extLst>
              </p:cNvPr>
              <p:cNvSpPr>
                <a:spLocks noChangeArrowheads="1"/>
              </p:cNvSpPr>
              <p:nvPr/>
            </p:nvSpPr>
            <p:spPr bwMode="auto">
              <a:xfrm>
                <a:off x="1344" y="1248"/>
                <a:ext cx="336" cy="336"/>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B1</a:t>
                </a:r>
                <a:endParaRPr lang="en-US" altLang="ja-JP" sz="2400">
                  <a:solidFill>
                    <a:schemeClr val="bg1"/>
                  </a:solidFill>
                </a:endParaRPr>
              </a:p>
            </p:txBody>
          </p:sp>
          <p:sp>
            <p:nvSpPr>
              <p:cNvPr id="64" name="Rectangle 47">
                <a:extLst>
                  <a:ext uri="{FF2B5EF4-FFF2-40B4-BE49-F238E27FC236}">
                    <a16:creationId xmlns:a16="http://schemas.microsoft.com/office/drawing/2014/main" id="{CE921521-EA20-0EBB-0C82-70C302D6488D}"/>
                  </a:ext>
                </a:extLst>
              </p:cNvPr>
              <p:cNvSpPr>
                <a:spLocks noChangeArrowheads="1"/>
              </p:cNvSpPr>
              <p:nvPr/>
            </p:nvSpPr>
            <p:spPr bwMode="auto">
              <a:xfrm>
                <a:off x="1344" y="1680"/>
                <a:ext cx="336" cy="336"/>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B2</a:t>
                </a:r>
              </a:p>
            </p:txBody>
          </p:sp>
          <p:sp>
            <p:nvSpPr>
              <p:cNvPr id="65" name="Rectangle 48">
                <a:extLst>
                  <a:ext uri="{FF2B5EF4-FFF2-40B4-BE49-F238E27FC236}">
                    <a16:creationId xmlns:a16="http://schemas.microsoft.com/office/drawing/2014/main" id="{7C8DE1FA-A6BC-7497-0AAB-32333394C015}"/>
                  </a:ext>
                </a:extLst>
              </p:cNvPr>
              <p:cNvSpPr>
                <a:spLocks noChangeArrowheads="1"/>
              </p:cNvSpPr>
              <p:nvPr/>
            </p:nvSpPr>
            <p:spPr bwMode="auto">
              <a:xfrm>
                <a:off x="2064" y="1008"/>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F1</a:t>
                </a:r>
              </a:p>
            </p:txBody>
          </p:sp>
          <p:sp>
            <p:nvSpPr>
              <p:cNvPr id="66" name="Rectangle 49">
                <a:extLst>
                  <a:ext uri="{FF2B5EF4-FFF2-40B4-BE49-F238E27FC236}">
                    <a16:creationId xmlns:a16="http://schemas.microsoft.com/office/drawing/2014/main" id="{5D697A34-E287-0617-D1CD-4997F8D2D06B}"/>
                  </a:ext>
                </a:extLst>
              </p:cNvPr>
              <p:cNvSpPr>
                <a:spLocks noChangeArrowheads="1"/>
              </p:cNvSpPr>
              <p:nvPr/>
            </p:nvSpPr>
            <p:spPr bwMode="auto">
              <a:xfrm>
                <a:off x="2064" y="1344"/>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F2</a:t>
                </a:r>
              </a:p>
            </p:txBody>
          </p:sp>
          <p:sp>
            <p:nvSpPr>
              <p:cNvPr id="67" name="Rectangle 50">
                <a:extLst>
                  <a:ext uri="{FF2B5EF4-FFF2-40B4-BE49-F238E27FC236}">
                    <a16:creationId xmlns:a16="http://schemas.microsoft.com/office/drawing/2014/main" id="{0A4B1720-F3E6-6F12-53D3-3099DCAF21F5}"/>
                  </a:ext>
                </a:extLst>
              </p:cNvPr>
              <p:cNvSpPr>
                <a:spLocks noChangeArrowheads="1"/>
              </p:cNvSpPr>
              <p:nvPr/>
            </p:nvSpPr>
            <p:spPr bwMode="auto">
              <a:xfrm>
                <a:off x="2064" y="1680"/>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F3</a:t>
                </a:r>
              </a:p>
            </p:txBody>
          </p:sp>
          <p:sp>
            <p:nvSpPr>
              <p:cNvPr id="68" name="Rectangle 51">
                <a:extLst>
                  <a:ext uri="{FF2B5EF4-FFF2-40B4-BE49-F238E27FC236}">
                    <a16:creationId xmlns:a16="http://schemas.microsoft.com/office/drawing/2014/main" id="{DBFC3C7E-390D-F632-3C74-44545BEA49A6}"/>
                  </a:ext>
                </a:extLst>
              </p:cNvPr>
              <p:cNvSpPr>
                <a:spLocks noChangeArrowheads="1"/>
              </p:cNvSpPr>
              <p:nvPr/>
            </p:nvSpPr>
            <p:spPr bwMode="auto">
              <a:xfrm>
                <a:off x="2064" y="2016"/>
                <a:ext cx="288" cy="288"/>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F4</a:t>
                </a:r>
              </a:p>
            </p:txBody>
          </p:sp>
          <p:sp>
            <p:nvSpPr>
              <p:cNvPr id="69" name="Rectangle 52">
                <a:extLst>
                  <a:ext uri="{FF2B5EF4-FFF2-40B4-BE49-F238E27FC236}">
                    <a16:creationId xmlns:a16="http://schemas.microsoft.com/office/drawing/2014/main" id="{64B84F17-520B-4B14-EAA7-92BA214837D9}"/>
                  </a:ext>
                </a:extLst>
              </p:cNvPr>
              <p:cNvSpPr>
                <a:spLocks noChangeArrowheads="1"/>
              </p:cNvSpPr>
              <p:nvPr/>
            </p:nvSpPr>
            <p:spPr bwMode="auto">
              <a:xfrm>
                <a:off x="2784" y="1440"/>
                <a:ext cx="432" cy="432"/>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P1</a:t>
                </a:r>
              </a:p>
            </p:txBody>
          </p:sp>
          <p:sp>
            <p:nvSpPr>
              <p:cNvPr id="169" name="Rectangle 53">
                <a:extLst>
                  <a:ext uri="{FF2B5EF4-FFF2-40B4-BE49-F238E27FC236}">
                    <a16:creationId xmlns:a16="http://schemas.microsoft.com/office/drawing/2014/main" id="{379B347F-C0A6-6F68-1F03-FD483015F41B}"/>
                  </a:ext>
                </a:extLst>
              </p:cNvPr>
              <p:cNvSpPr>
                <a:spLocks noChangeArrowheads="1"/>
              </p:cNvSpPr>
              <p:nvPr/>
            </p:nvSpPr>
            <p:spPr bwMode="auto">
              <a:xfrm>
                <a:off x="3744" y="1072"/>
                <a:ext cx="384" cy="336"/>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A1</a:t>
                </a:r>
              </a:p>
            </p:txBody>
          </p:sp>
          <p:sp>
            <p:nvSpPr>
              <p:cNvPr id="170" name="Rectangle 54">
                <a:extLst>
                  <a:ext uri="{FF2B5EF4-FFF2-40B4-BE49-F238E27FC236}">
                    <a16:creationId xmlns:a16="http://schemas.microsoft.com/office/drawing/2014/main" id="{24907B66-7759-9FD0-4DCC-3DC986FB0A4C}"/>
                  </a:ext>
                </a:extLst>
              </p:cNvPr>
              <p:cNvSpPr>
                <a:spLocks noChangeArrowheads="1"/>
              </p:cNvSpPr>
              <p:nvPr/>
            </p:nvSpPr>
            <p:spPr bwMode="auto">
              <a:xfrm>
                <a:off x="3744" y="1504"/>
                <a:ext cx="384" cy="336"/>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A2</a:t>
                </a:r>
              </a:p>
            </p:txBody>
          </p:sp>
          <p:sp>
            <p:nvSpPr>
              <p:cNvPr id="171" name="Rectangle 55">
                <a:extLst>
                  <a:ext uri="{FF2B5EF4-FFF2-40B4-BE49-F238E27FC236}">
                    <a16:creationId xmlns:a16="http://schemas.microsoft.com/office/drawing/2014/main" id="{E8D62B31-6E62-D636-D3F0-9AF6514E5B5E}"/>
                  </a:ext>
                </a:extLst>
              </p:cNvPr>
              <p:cNvSpPr>
                <a:spLocks noChangeArrowheads="1"/>
              </p:cNvSpPr>
              <p:nvPr/>
            </p:nvSpPr>
            <p:spPr bwMode="auto">
              <a:xfrm>
                <a:off x="3744" y="1936"/>
                <a:ext cx="384" cy="336"/>
              </a:xfrm>
              <a:prstGeom prst="rect">
                <a:avLst/>
              </a:prstGeom>
              <a:solidFill>
                <a:schemeClr val="accent5"/>
              </a:solidFill>
              <a:ln w="2857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0"/>
                  </a:spcBef>
                  <a:spcAft>
                    <a:spcPct val="0"/>
                  </a:spcAft>
                  <a:buClrTx/>
                  <a:buSzTx/>
                  <a:buFontTx/>
                  <a:buNone/>
                </a:pPr>
                <a:r>
                  <a:rPr lang="en-US" altLang="ja-JP" sz="2000">
                    <a:solidFill>
                      <a:schemeClr val="bg1"/>
                    </a:solidFill>
                  </a:rPr>
                  <a:t>A3</a:t>
                </a:r>
              </a:p>
            </p:txBody>
          </p:sp>
          <p:sp>
            <p:nvSpPr>
              <p:cNvPr id="172" name="Text Box 56">
                <a:extLst>
                  <a:ext uri="{FF2B5EF4-FFF2-40B4-BE49-F238E27FC236}">
                    <a16:creationId xmlns:a16="http://schemas.microsoft.com/office/drawing/2014/main" id="{CA6BACAD-7437-B01C-F308-69B142E44011}"/>
                  </a:ext>
                </a:extLst>
              </p:cNvPr>
              <p:cNvSpPr txBox="1">
                <a:spLocks noChangeArrowheads="1"/>
              </p:cNvSpPr>
              <p:nvPr/>
            </p:nvSpPr>
            <p:spPr bwMode="auto">
              <a:xfrm>
                <a:off x="480" y="122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A</a:t>
                </a:r>
                <a:endParaRPr lang="en-US" altLang="ja-JP" sz="1600"/>
              </a:p>
            </p:txBody>
          </p:sp>
          <p:sp>
            <p:nvSpPr>
              <p:cNvPr id="173" name="Text Box 57">
                <a:extLst>
                  <a:ext uri="{FF2B5EF4-FFF2-40B4-BE49-F238E27FC236}">
                    <a16:creationId xmlns:a16="http://schemas.microsoft.com/office/drawing/2014/main" id="{677C859C-5CA7-C3B4-3EAB-FBB0559B7D2C}"/>
                  </a:ext>
                </a:extLst>
              </p:cNvPr>
              <p:cNvSpPr txBox="1">
                <a:spLocks noChangeArrowheads="1"/>
              </p:cNvSpPr>
              <p:nvPr/>
            </p:nvSpPr>
            <p:spPr bwMode="auto">
              <a:xfrm>
                <a:off x="480" y="139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B</a:t>
                </a:r>
                <a:endParaRPr lang="en-US" altLang="ja-JP" sz="1600"/>
              </a:p>
            </p:txBody>
          </p:sp>
          <p:sp>
            <p:nvSpPr>
              <p:cNvPr id="174" name="Text Box 58">
                <a:extLst>
                  <a:ext uri="{FF2B5EF4-FFF2-40B4-BE49-F238E27FC236}">
                    <a16:creationId xmlns:a16="http://schemas.microsoft.com/office/drawing/2014/main" id="{06F52640-8959-6FC2-ACC5-BE1E052D5BDD}"/>
                  </a:ext>
                </a:extLst>
              </p:cNvPr>
              <p:cNvSpPr txBox="1">
                <a:spLocks noChangeArrowheads="1"/>
              </p:cNvSpPr>
              <p:nvPr/>
            </p:nvSpPr>
            <p:spPr bwMode="auto">
              <a:xfrm>
                <a:off x="480" y="16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C</a:t>
                </a:r>
                <a:endParaRPr lang="en-US" altLang="ja-JP" sz="1600"/>
              </a:p>
            </p:txBody>
          </p:sp>
          <p:sp>
            <p:nvSpPr>
              <p:cNvPr id="175" name="Text Box 59">
                <a:extLst>
                  <a:ext uri="{FF2B5EF4-FFF2-40B4-BE49-F238E27FC236}">
                    <a16:creationId xmlns:a16="http://schemas.microsoft.com/office/drawing/2014/main" id="{8A2B2040-B6A9-CE89-CEA4-3FA0FC355266}"/>
                  </a:ext>
                </a:extLst>
              </p:cNvPr>
              <p:cNvSpPr txBox="1">
                <a:spLocks noChangeArrowheads="1"/>
              </p:cNvSpPr>
              <p:nvPr/>
            </p:nvSpPr>
            <p:spPr bwMode="auto">
              <a:xfrm>
                <a:off x="480" y="182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a:t>Model D</a:t>
                </a:r>
                <a:endParaRPr lang="en-US" altLang="ja-JP" sz="1600"/>
              </a:p>
            </p:txBody>
          </p:sp>
          <p:sp>
            <p:nvSpPr>
              <p:cNvPr id="176" name="Line 60">
                <a:extLst>
                  <a:ext uri="{FF2B5EF4-FFF2-40B4-BE49-F238E27FC236}">
                    <a16:creationId xmlns:a16="http://schemas.microsoft.com/office/drawing/2014/main" id="{FB1FC589-DC8D-7C6A-1399-B76FFD2B9E39}"/>
                  </a:ext>
                </a:extLst>
              </p:cNvPr>
              <p:cNvSpPr>
                <a:spLocks noChangeShapeType="1"/>
              </p:cNvSpPr>
              <p:nvPr/>
            </p:nvSpPr>
            <p:spPr bwMode="auto">
              <a:xfrm>
                <a:off x="1680" y="1488"/>
                <a:ext cx="384"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7" name="Line 61">
                <a:extLst>
                  <a:ext uri="{FF2B5EF4-FFF2-40B4-BE49-F238E27FC236}">
                    <a16:creationId xmlns:a16="http://schemas.microsoft.com/office/drawing/2014/main" id="{2FDD2E8A-7585-C3EA-D003-07F3637DBE0E}"/>
                  </a:ext>
                </a:extLst>
              </p:cNvPr>
              <p:cNvSpPr>
                <a:spLocks noChangeShapeType="1"/>
              </p:cNvSpPr>
              <p:nvPr/>
            </p:nvSpPr>
            <p:spPr bwMode="auto">
              <a:xfrm>
                <a:off x="3216" y="1680"/>
                <a:ext cx="52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8" name="Line 62">
                <a:extLst>
                  <a:ext uri="{FF2B5EF4-FFF2-40B4-BE49-F238E27FC236}">
                    <a16:creationId xmlns:a16="http://schemas.microsoft.com/office/drawing/2014/main" id="{D6EA2B0F-13A2-1CA4-19A2-A6F1375CEB26}"/>
                  </a:ext>
                </a:extLst>
              </p:cNvPr>
              <p:cNvSpPr>
                <a:spLocks noChangeShapeType="1"/>
              </p:cNvSpPr>
              <p:nvPr/>
            </p:nvSpPr>
            <p:spPr bwMode="auto">
              <a:xfrm>
                <a:off x="1680" y="1344"/>
                <a:ext cx="384" cy="4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9" name="Line 63">
                <a:extLst>
                  <a:ext uri="{FF2B5EF4-FFF2-40B4-BE49-F238E27FC236}">
                    <a16:creationId xmlns:a16="http://schemas.microsoft.com/office/drawing/2014/main" id="{13C2C26C-A718-9FD0-086C-840145C79291}"/>
                  </a:ext>
                </a:extLst>
              </p:cNvPr>
              <p:cNvSpPr>
                <a:spLocks noChangeShapeType="1"/>
              </p:cNvSpPr>
              <p:nvPr/>
            </p:nvSpPr>
            <p:spPr bwMode="auto">
              <a:xfrm flipV="1">
                <a:off x="1680" y="1104"/>
                <a:ext cx="384" cy="81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0" name="Line 64">
                <a:extLst>
                  <a:ext uri="{FF2B5EF4-FFF2-40B4-BE49-F238E27FC236}">
                    <a16:creationId xmlns:a16="http://schemas.microsoft.com/office/drawing/2014/main" id="{38F19656-A0C8-7910-1601-3BEDE246EF55}"/>
                  </a:ext>
                </a:extLst>
              </p:cNvPr>
              <p:cNvSpPr>
                <a:spLocks noChangeShapeType="1"/>
              </p:cNvSpPr>
              <p:nvPr/>
            </p:nvSpPr>
            <p:spPr bwMode="auto">
              <a:xfrm>
                <a:off x="1680" y="1776"/>
                <a:ext cx="384" cy="3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1" name="Line 65">
                <a:extLst>
                  <a:ext uri="{FF2B5EF4-FFF2-40B4-BE49-F238E27FC236}">
                    <a16:creationId xmlns:a16="http://schemas.microsoft.com/office/drawing/2014/main" id="{F13D5CC0-D6BB-F1A7-7103-44F382B06D35}"/>
                  </a:ext>
                </a:extLst>
              </p:cNvPr>
              <p:cNvSpPr>
                <a:spLocks noChangeShapeType="1"/>
              </p:cNvSpPr>
              <p:nvPr/>
            </p:nvSpPr>
            <p:spPr bwMode="auto">
              <a:xfrm>
                <a:off x="2352" y="1152"/>
                <a:ext cx="384"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2" name="Line 66">
                <a:extLst>
                  <a:ext uri="{FF2B5EF4-FFF2-40B4-BE49-F238E27FC236}">
                    <a16:creationId xmlns:a16="http://schemas.microsoft.com/office/drawing/2014/main" id="{D6D34AB9-EE2D-FB65-1120-60C912A1AAC2}"/>
                  </a:ext>
                </a:extLst>
              </p:cNvPr>
              <p:cNvSpPr>
                <a:spLocks noChangeShapeType="1"/>
              </p:cNvSpPr>
              <p:nvPr/>
            </p:nvSpPr>
            <p:spPr bwMode="auto">
              <a:xfrm>
                <a:off x="2352" y="1488"/>
                <a:ext cx="384" cy="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3" name="Line 67">
                <a:extLst>
                  <a:ext uri="{FF2B5EF4-FFF2-40B4-BE49-F238E27FC236}">
                    <a16:creationId xmlns:a16="http://schemas.microsoft.com/office/drawing/2014/main" id="{2A0A4CBA-3932-AD85-AD4E-F2D4CFA27771}"/>
                  </a:ext>
                </a:extLst>
              </p:cNvPr>
              <p:cNvSpPr>
                <a:spLocks noChangeShapeType="1"/>
              </p:cNvSpPr>
              <p:nvPr/>
            </p:nvSpPr>
            <p:spPr bwMode="auto">
              <a:xfrm flipV="1">
                <a:off x="2352" y="1680"/>
                <a:ext cx="384" cy="9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 name="Line 68">
                <a:extLst>
                  <a:ext uri="{FF2B5EF4-FFF2-40B4-BE49-F238E27FC236}">
                    <a16:creationId xmlns:a16="http://schemas.microsoft.com/office/drawing/2014/main" id="{30AFC732-1489-B845-51A3-D69DDB3C78BC}"/>
                  </a:ext>
                </a:extLst>
              </p:cNvPr>
              <p:cNvSpPr>
                <a:spLocks noChangeShapeType="1"/>
              </p:cNvSpPr>
              <p:nvPr/>
            </p:nvSpPr>
            <p:spPr bwMode="auto">
              <a:xfrm flipV="1">
                <a:off x="2352" y="1824"/>
                <a:ext cx="384"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5" name="Line 69">
                <a:extLst>
                  <a:ext uri="{FF2B5EF4-FFF2-40B4-BE49-F238E27FC236}">
                    <a16:creationId xmlns:a16="http://schemas.microsoft.com/office/drawing/2014/main" id="{47914916-95CF-6A92-DB18-FC78A4F3E10F}"/>
                  </a:ext>
                </a:extLst>
              </p:cNvPr>
              <p:cNvSpPr>
                <a:spLocks noChangeShapeType="1"/>
              </p:cNvSpPr>
              <p:nvPr/>
            </p:nvSpPr>
            <p:spPr bwMode="auto">
              <a:xfrm flipV="1">
                <a:off x="3216" y="1248"/>
                <a:ext cx="528" cy="43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6" name="Line 70">
                <a:extLst>
                  <a:ext uri="{FF2B5EF4-FFF2-40B4-BE49-F238E27FC236}">
                    <a16:creationId xmlns:a16="http://schemas.microsoft.com/office/drawing/2014/main" id="{0FC4AABA-4889-F2F5-26AE-611E86777337}"/>
                  </a:ext>
                </a:extLst>
              </p:cNvPr>
              <p:cNvSpPr>
                <a:spLocks noChangeShapeType="1"/>
              </p:cNvSpPr>
              <p:nvPr/>
            </p:nvSpPr>
            <p:spPr bwMode="auto">
              <a:xfrm>
                <a:off x="3216" y="1680"/>
                <a:ext cx="528" cy="3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7" name="Line 71">
                <a:extLst>
                  <a:ext uri="{FF2B5EF4-FFF2-40B4-BE49-F238E27FC236}">
                    <a16:creationId xmlns:a16="http://schemas.microsoft.com/office/drawing/2014/main" id="{ECDCD09A-6394-8395-1739-9911F6150382}"/>
                  </a:ext>
                </a:extLst>
              </p:cNvPr>
              <p:cNvSpPr>
                <a:spLocks noChangeShapeType="1"/>
              </p:cNvSpPr>
              <p:nvPr/>
            </p:nvSpPr>
            <p:spPr bwMode="auto">
              <a:xfrm>
                <a:off x="3216" y="1680"/>
                <a:ext cx="528" cy="5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8" name="Line 72">
                <a:extLst>
                  <a:ext uri="{FF2B5EF4-FFF2-40B4-BE49-F238E27FC236}">
                    <a16:creationId xmlns:a16="http://schemas.microsoft.com/office/drawing/2014/main" id="{AEF3B590-E66F-1993-927C-468A177214BC}"/>
                  </a:ext>
                </a:extLst>
              </p:cNvPr>
              <p:cNvSpPr>
                <a:spLocks noChangeShapeType="1"/>
              </p:cNvSpPr>
              <p:nvPr/>
            </p:nvSpPr>
            <p:spPr bwMode="auto">
              <a:xfrm>
                <a:off x="4128" y="123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9" name="Line 73">
                <a:extLst>
                  <a:ext uri="{FF2B5EF4-FFF2-40B4-BE49-F238E27FC236}">
                    <a16:creationId xmlns:a16="http://schemas.microsoft.com/office/drawing/2014/main" id="{447F0AE3-1833-B9A1-2877-A6F6B0FEEFA4}"/>
                  </a:ext>
                </a:extLst>
              </p:cNvPr>
              <p:cNvSpPr>
                <a:spLocks noChangeShapeType="1"/>
              </p:cNvSpPr>
              <p:nvPr/>
            </p:nvSpPr>
            <p:spPr bwMode="auto">
              <a:xfrm>
                <a:off x="4128" y="1656"/>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0" name="Line 74">
                <a:extLst>
                  <a:ext uri="{FF2B5EF4-FFF2-40B4-BE49-F238E27FC236}">
                    <a16:creationId xmlns:a16="http://schemas.microsoft.com/office/drawing/2014/main" id="{E1D598AC-4271-08E1-CC82-0C1E3C332EEA}"/>
                  </a:ext>
                </a:extLst>
              </p:cNvPr>
              <p:cNvSpPr>
                <a:spLocks noChangeShapeType="1"/>
              </p:cNvSpPr>
              <p:nvPr/>
            </p:nvSpPr>
            <p:spPr bwMode="auto">
              <a:xfrm>
                <a:off x="4128" y="208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1" name="Line 75">
                <a:extLst>
                  <a:ext uri="{FF2B5EF4-FFF2-40B4-BE49-F238E27FC236}">
                    <a16:creationId xmlns:a16="http://schemas.microsoft.com/office/drawing/2014/main" id="{72FC7B2C-7839-A781-A000-0F430D95378C}"/>
                  </a:ext>
                </a:extLst>
              </p:cNvPr>
              <p:cNvSpPr>
                <a:spLocks noChangeShapeType="1"/>
              </p:cNvSpPr>
              <p:nvPr/>
            </p:nvSpPr>
            <p:spPr bwMode="auto">
              <a:xfrm>
                <a:off x="1088" y="132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 name="Line 76">
                <a:extLst>
                  <a:ext uri="{FF2B5EF4-FFF2-40B4-BE49-F238E27FC236}">
                    <a16:creationId xmlns:a16="http://schemas.microsoft.com/office/drawing/2014/main" id="{7D54B5AB-6B4B-E5FC-DAA2-91E3C7DC8050}"/>
                  </a:ext>
                </a:extLst>
              </p:cNvPr>
              <p:cNvSpPr>
                <a:spLocks noChangeShapeType="1"/>
              </p:cNvSpPr>
              <p:nvPr/>
            </p:nvSpPr>
            <p:spPr bwMode="auto">
              <a:xfrm>
                <a:off x="1080" y="1488"/>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7" name="Line 77">
                <a:extLst>
                  <a:ext uri="{FF2B5EF4-FFF2-40B4-BE49-F238E27FC236}">
                    <a16:creationId xmlns:a16="http://schemas.microsoft.com/office/drawing/2014/main" id="{29F9E1AE-F369-E9FF-553F-821A4031FD8B}"/>
                  </a:ext>
                </a:extLst>
              </p:cNvPr>
              <p:cNvSpPr>
                <a:spLocks noChangeShapeType="1"/>
              </p:cNvSpPr>
              <p:nvPr/>
            </p:nvSpPr>
            <p:spPr bwMode="auto">
              <a:xfrm>
                <a:off x="1080" y="1752"/>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8" name="Line 78">
                <a:extLst>
                  <a:ext uri="{FF2B5EF4-FFF2-40B4-BE49-F238E27FC236}">
                    <a16:creationId xmlns:a16="http://schemas.microsoft.com/office/drawing/2014/main" id="{EC561A75-63A3-5667-4545-73E995F66B9A}"/>
                  </a:ext>
                </a:extLst>
              </p:cNvPr>
              <p:cNvSpPr>
                <a:spLocks noChangeShapeType="1"/>
              </p:cNvSpPr>
              <p:nvPr/>
            </p:nvSpPr>
            <p:spPr bwMode="auto">
              <a:xfrm>
                <a:off x="1072" y="1920"/>
                <a:ext cx="2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sp>
          <p:nvSpPr>
            <p:cNvPr id="259" name="Text Box 79">
              <a:extLst>
                <a:ext uri="{FF2B5EF4-FFF2-40B4-BE49-F238E27FC236}">
                  <a16:creationId xmlns:a16="http://schemas.microsoft.com/office/drawing/2014/main" id="{22369139-34E7-1E17-D214-DD2E3B695613}"/>
                </a:ext>
              </a:extLst>
            </p:cNvPr>
            <p:cNvSpPr txBox="1">
              <a:spLocks noChangeArrowheads="1"/>
            </p:cNvSpPr>
            <p:nvPr/>
          </p:nvSpPr>
          <p:spPr bwMode="auto">
            <a:xfrm>
              <a:off x="1893888" y="3292475"/>
              <a:ext cx="4775200" cy="352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eaLnBrk="1" hangingPunct="1">
                <a:lnSpc>
                  <a:spcPct val="100000"/>
                </a:lnSpc>
                <a:spcBef>
                  <a:spcPct val="50000"/>
                </a:spcBef>
                <a:spcAft>
                  <a:spcPct val="0"/>
                </a:spcAft>
                <a:buClrTx/>
                <a:buSzTx/>
                <a:buFontTx/>
                <a:buNone/>
              </a:pPr>
              <a:r>
                <a:rPr lang="en-US" altLang="ja-JP" sz="1400" dirty="0">
                  <a:latin typeface="Roboto" panose="02000000000000000000" pitchFamily="2" charset="0"/>
                  <a:ea typeface="Roboto" panose="02000000000000000000" pitchFamily="2" charset="0"/>
                </a:rPr>
                <a:t>B = Blank    F = Fabricate   P = Paint   A = Assembly</a:t>
              </a:r>
              <a:endParaRPr lang="en-US" altLang="ja-JP" sz="1600" dirty="0">
                <a:latin typeface="Roboto" panose="02000000000000000000" pitchFamily="2" charset="0"/>
                <a:ea typeface="Roboto" panose="02000000000000000000" pitchFamily="2" charset="0"/>
              </a:endParaRPr>
            </a:p>
          </p:txBody>
        </p:sp>
        <p:sp>
          <p:nvSpPr>
            <p:cNvPr id="260" name="&quot;No&quot; Symbol 90">
              <a:extLst>
                <a:ext uri="{FF2B5EF4-FFF2-40B4-BE49-F238E27FC236}">
                  <a16:creationId xmlns:a16="http://schemas.microsoft.com/office/drawing/2014/main" id="{35631359-8624-16B0-B014-97480AE66B6F}"/>
                </a:ext>
              </a:extLst>
            </p:cNvPr>
            <p:cNvSpPr/>
            <p:nvPr/>
          </p:nvSpPr>
          <p:spPr bwMode="auto">
            <a:xfrm>
              <a:off x="7153275" y="1592263"/>
              <a:ext cx="1119188" cy="1119187"/>
            </a:xfrm>
            <a:prstGeom prst="noSmoking">
              <a:avLst>
                <a:gd name="adj" fmla="val 10014"/>
              </a:avLst>
            </a:prstGeom>
            <a:solidFill>
              <a:schemeClr val="accent1"/>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Arial" charset="0"/>
                <a:ea typeface="+mn-ea"/>
              </a:endParaRPr>
            </a:p>
          </p:txBody>
        </p:sp>
        <p:sp>
          <p:nvSpPr>
            <p:cNvPr id="261" name="TextBox 91">
              <a:extLst>
                <a:ext uri="{FF2B5EF4-FFF2-40B4-BE49-F238E27FC236}">
                  <a16:creationId xmlns:a16="http://schemas.microsoft.com/office/drawing/2014/main" id="{395E9ECC-EC85-75A8-80DF-7F79AB34FFF1}"/>
                </a:ext>
              </a:extLst>
            </p:cNvPr>
            <p:cNvSpPr txBox="1">
              <a:spLocks noChangeArrowheads="1"/>
            </p:cNvSpPr>
            <p:nvPr/>
          </p:nvSpPr>
          <p:spPr bwMode="auto">
            <a:xfrm>
              <a:off x="7067550" y="1885657"/>
              <a:ext cx="1290638" cy="66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dirty="0">
                  <a:latin typeface="Roboto" panose="02000000000000000000" pitchFamily="2" charset="0"/>
                  <a:ea typeface="Roboto" panose="02000000000000000000" pitchFamily="2" charset="0"/>
                </a:rPr>
                <a:t>Confusing Flow</a:t>
              </a:r>
            </a:p>
          </p:txBody>
        </p:sp>
        <p:sp>
          <p:nvSpPr>
            <p:cNvPr id="262" name="TextBox 92">
              <a:extLst>
                <a:ext uri="{FF2B5EF4-FFF2-40B4-BE49-F238E27FC236}">
                  <a16:creationId xmlns:a16="http://schemas.microsoft.com/office/drawing/2014/main" id="{72656160-6E67-6F1C-83AD-714B92681066}"/>
                </a:ext>
              </a:extLst>
            </p:cNvPr>
            <p:cNvSpPr txBox="1">
              <a:spLocks noChangeArrowheads="1"/>
            </p:cNvSpPr>
            <p:nvPr/>
          </p:nvSpPr>
          <p:spPr bwMode="auto">
            <a:xfrm>
              <a:off x="2463800" y="5830888"/>
              <a:ext cx="32686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a:t>Use multiple and rectified flows</a:t>
              </a:r>
            </a:p>
          </p:txBody>
        </p:sp>
        <p:sp>
          <p:nvSpPr>
            <p:cNvPr id="263" name="Donut 93">
              <a:extLst>
                <a:ext uri="{FF2B5EF4-FFF2-40B4-BE49-F238E27FC236}">
                  <a16:creationId xmlns:a16="http://schemas.microsoft.com/office/drawing/2014/main" id="{D907BC2D-33D1-FE22-F996-92C88318D860}"/>
                </a:ext>
              </a:extLst>
            </p:cNvPr>
            <p:cNvSpPr/>
            <p:nvPr/>
          </p:nvSpPr>
          <p:spPr bwMode="auto">
            <a:xfrm>
              <a:off x="7143750" y="3819525"/>
              <a:ext cx="1139825" cy="1139825"/>
            </a:xfrm>
            <a:prstGeom prst="donut">
              <a:avLst>
                <a:gd name="adj" fmla="val 10780"/>
              </a:avLst>
            </a:prstGeom>
            <a:solidFill>
              <a:schemeClr val="accent6"/>
            </a:solidFill>
            <a:ln w="12700" cap="sq" cmpd="sng" algn="ctr">
              <a:noFill/>
              <a:prstDash val="solid"/>
              <a:round/>
              <a:headEnd type="none" w="med" len="med"/>
              <a:tailEnd type="none" w="med" len="med"/>
            </a:ln>
            <a:effectLst/>
          </p:spPr>
          <p:txBody>
            <a:bodyPr lIns="36000" tIns="36000" rIns="36000" bIns="36000" anchor="ctr"/>
            <a:lstStyle/>
            <a:p>
              <a:pPr algn="ctr">
                <a:lnSpc>
                  <a:spcPct val="80000"/>
                </a:lnSpc>
                <a:spcBef>
                  <a:spcPct val="20000"/>
                </a:spcBef>
                <a:defRPr/>
              </a:pPr>
              <a:endParaRPr lang="en-GB" sz="1200" dirty="0">
                <a:solidFill>
                  <a:schemeClr val="tx1"/>
                </a:solidFill>
                <a:latin typeface="Arial" charset="0"/>
                <a:ea typeface="+mn-ea"/>
              </a:endParaRPr>
            </a:p>
          </p:txBody>
        </p:sp>
        <p:sp>
          <p:nvSpPr>
            <p:cNvPr id="264" name="TextBox 94">
              <a:extLst>
                <a:ext uri="{FF2B5EF4-FFF2-40B4-BE49-F238E27FC236}">
                  <a16:creationId xmlns:a16="http://schemas.microsoft.com/office/drawing/2014/main" id="{DE67A8B9-AECC-3C06-4AED-4B62B4DF932F}"/>
                </a:ext>
              </a:extLst>
            </p:cNvPr>
            <p:cNvSpPr txBox="1">
              <a:spLocks noChangeArrowheads="1"/>
            </p:cNvSpPr>
            <p:nvPr/>
          </p:nvSpPr>
          <p:spPr bwMode="auto">
            <a:xfrm>
              <a:off x="7153275" y="4111625"/>
              <a:ext cx="1119188" cy="669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1600" dirty="0">
                  <a:latin typeface="Roboto" panose="02000000000000000000" pitchFamily="2" charset="0"/>
                  <a:ea typeface="Roboto" panose="02000000000000000000" pitchFamily="2" charset="0"/>
                </a:rPr>
                <a:t>Rectified Flow</a:t>
              </a:r>
            </a:p>
          </p:txBody>
        </p:sp>
      </p:grpSp>
    </p:spTree>
    <p:extLst>
      <p:ext uri="{BB962C8B-B14F-4D97-AF65-F5344CB8AC3E}">
        <p14:creationId xmlns:p14="http://schemas.microsoft.com/office/powerpoint/2010/main" val="23145922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4000" dirty="0"/>
              <a:t>16. Spiral upwards to </a:t>
            </a:r>
            <a:r>
              <a:rPr lang="en-US" sz="4000" dirty="0" err="1"/>
              <a:t>Jidoka</a:t>
            </a:r>
            <a:endParaRPr lang="en-US" sz="4000"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78</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graphicFrame>
        <p:nvGraphicFramePr>
          <p:cNvPr id="4" name="Table">
            <a:extLst>
              <a:ext uri="{FF2B5EF4-FFF2-40B4-BE49-F238E27FC236}">
                <a16:creationId xmlns:a16="http://schemas.microsoft.com/office/drawing/2014/main" id="{21B4F956-AA30-5FB5-9960-E402BEC16EEE}"/>
              </a:ext>
            </a:extLst>
          </p:cNvPr>
          <p:cNvGraphicFramePr/>
          <p:nvPr>
            <p:extLst>
              <p:ext uri="{D42A27DB-BD31-4B8C-83A1-F6EECF244321}">
                <p14:modId xmlns:p14="http://schemas.microsoft.com/office/powerpoint/2010/main" val="285021408"/>
              </p:ext>
            </p:extLst>
          </p:nvPr>
        </p:nvGraphicFramePr>
        <p:xfrm>
          <a:off x="927099" y="1975692"/>
          <a:ext cx="10337800" cy="3710350"/>
        </p:xfrm>
        <a:graphic>
          <a:graphicData uri="http://schemas.openxmlformats.org/drawingml/2006/table">
            <a:tbl>
              <a:tblPr/>
              <a:tblGrid>
                <a:gridCol w="2922270">
                  <a:extLst>
                    <a:ext uri="{9D8B030D-6E8A-4147-A177-3AD203B41FA5}">
                      <a16:colId xmlns:a16="http://schemas.microsoft.com/office/drawing/2014/main" val="20000"/>
                    </a:ext>
                  </a:extLst>
                </a:gridCol>
                <a:gridCol w="7415530">
                  <a:extLst>
                    <a:ext uri="{9D8B030D-6E8A-4147-A177-3AD203B41FA5}">
                      <a16:colId xmlns:a16="http://schemas.microsoft.com/office/drawing/2014/main" val="20002"/>
                    </a:ext>
                  </a:extLst>
                </a:gridCol>
              </a:tblGrid>
              <a:tr h="483575">
                <a:tc gridSpan="2">
                  <a:txBody>
                    <a:bodyPr/>
                    <a:lstStyle/>
                    <a:p>
                      <a:pPr marL="0" marR="0" indent="0" algn="ctr" defTabSz="1828342" latinLnBrk="0">
                        <a:lnSpc>
                          <a:spcPct val="100000"/>
                        </a:lnSpc>
                        <a:spcBef>
                          <a:spcPts val="0"/>
                        </a:spcBef>
                        <a:spcAft>
                          <a:spcPts val="0"/>
                        </a:spcAft>
                        <a:buClrTx/>
                        <a:buSzTx/>
                        <a:buFontTx/>
                        <a:buNone/>
                        <a:tabLst/>
                        <a:defRPr sz="1800">
                          <a:solidFill>
                            <a:srgbClr val="000000"/>
                          </a:solidFill>
                        </a:defRPr>
                      </a:pPr>
                      <a:r>
                        <a:rPr lang="en-US" sz="2400" b="1" i="0" u="none" strike="noStrike" cap="none" spc="0" baseline="0" dirty="0" err="1">
                          <a:solidFill>
                            <a:schemeClr val="bg1"/>
                          </a:solidFill>
                          <a:uFillTx/>
                          <a:latin typeface="Roboto" panose="02000000000000000000" pitchFamily="2" charset="0"/>
                          <a:ea typeface="Roboto" panose="02000000000000000000" pitchFamily="2" charset="0"/>
                          <a:cs typeface="Roboto" panose="02000000000000000000" pitchFamily="2" charset="0"/>
                          <a:sym typeface="Roboto"/>
                        </a:rPr>
                        <a:t>Jidoka</a:t>
                      </a:r>
                      <a:endParaRPr lang="en-US" sz="2400" b="1" i="0" u="none" strike="noStrike" cap="none" spc="0" baseline="0" dirty="0">
                        <a:solidFill>
                          <a:schemeClr val="bg1"/>
                        </a:solidFill>
                        <a:uFillTx/>
                        <a:latin typeface="Roboto" panose="02000000000000000000" pitchFamily="2" charset="0"/>
                        <a:ea typeface="Roboto" panose="02000000000000000000" pitchFamily="2" charset="0"/>
                        <a:cs typeface="Roboto" panose="02000000000000000000" pitchFamily="2" charset="0"/>
                        <a:sym typeface="Roboto"/>
                      </a:endParaRPr>
                    </a:p>
                  </a:txBody>
                  <a:tcPr anchor="ctr" horzOverflow="overflow">
                    <a:lnL w="0">
                      <a:noFill/>
                      <a:miter lim="400000"/>
                    </a:lnL>
                    <a:lnR w="0">
                      <a:miter lim="400000"/>
                    </a:lnR>
                    <a:lnT w="0">
                      <a:noFill/>
                      <a:miter lim="400000"/>
                    </a:lnT>
                    <a:lnB w="0">
                      <a:noFill/>
                      <a:miter lim="400000"/>
                    </a:lnB>
                    <a:solidFill>
                      <a:schemeClr val="accent1"/>
                    </a:solidFill>
                  </a:tcPr>
                </a:tc>
                <a:tc hMerge="1">
                  <a:txBody>
                    <a:bodyPr/>
                    <a:lstStyle/>
                    <a:p>
                      <a:pPr algn="ctr" defTabSz="1828342">
                        <a:defRPr sz="1800">
                          <a:solidFill>
                            <a:srgbClr val="000000"/>
                          </a:solidFill>
                        </a:defRPr>
                      </a:pPr>
                      <a:endParaRPr sz="2400" b="1" dirty="0">
                        <a:solidFill>
                          <a:schemeClr val="bg1"/>
                        </a:solidFill>
                        <a:latin typeface="Roboto" panose="02000000000000000000" pitchFamily="2" charset="0"/>
                        <a:ea typeface="Roboto" panose="02000000000000000000" pitchFamily="2" charset="0"/>
                        <a:cs typeface="Roboto" panose="02000000000000000000" pitchFamily="2" charset="0"/>
                      </a:endParaRPr>
                    </a:p>
                  </a:txBody>
                  <a:tcPr anchor="ctr" horzOverflow="overflow">
                    <a:lnL w="0">
                      <a:noFill/>
                      <a:miter lim="400000"/>
                    </a:lnL>
                    <a:lnR w="0">
                      <a:miter lim="400000"/>
                    </a:lnR>
                    <a:lnT w="0">
                      <a:miter lim="400000"/>
                    </a:lnT>
                    <a:lnB w="0">
                      <a:noFill/>
                      <a:miter lim="400000"/>
                    </a:lnB>
                    <a:solidFill>
                      <a:schemeClr val="accent1"/>
                    </a:solidFill>
                  </a:tcPr>
                </a:tc>
                <a:extLst>
                  <a:ext uri="{0D108BD9-81ED-4DB2-BD59-A6C34878D82A}">
                    <a16:rowId xmlns:a16="http://schemas.microsoft.com/office/drawing/2014/main" val="10000"/>
                  </a:ext>
                </a:extLst>
              </a:tr>
              <a:tr h="152400">
                <a:tc>
                  <a:txBody>
                    <a:bodyPr/>
                    <a:lstStyle/>
                    <a:p>
                      <a:pPr marL="0" indent="0" algn="r">
                        <a:buNone/>
                      </a:pPr>
                      <a:r>
                        <a:rPr lang="en-US" sz="2400" dirty="0">
                          <a:latin typeface="Roboto" panose="02000000000000000000" pitchFamily="2" charset="0"/>
                          <a:ea typeface="Roboto" panose="02000000000000000000" pitchFamily="2" charset="0"/>
                        </a:rPr>
                        <a:t>7</a:t>
                      </a:r>
                    </a:p>
                  </a:txBody>
                  <a:tcPr anchor="ctr" horzOverflow="overflow">
                    <a:lnL w="0">
                      <a:miter lim="400000"/>
                    </a:lnL>
                    <a:lnR w="0">
                      <a:miter lim="400000"/>
                    </a:lnR>
                    <a:lnT w="0">
                      <a:noFill/>
                      <a:miter lim="400000"/>
                    </a:lnT>
                    <a:lnB w="0">
                      <a:noFill/>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Quality Check (Poka-Yoke)</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1"/>
                  </a:ext>
                </a:extLst>
              </a:tr>
              <a:tr h="304800">
                <a:tc>
                  <a:txBody>
                    <a:bodyPr/>
                    <a:lstStyle/>
                    <a:p>
                      <a:pPr marL="0" indent="0" algn="r">
                        <a:buNone/>
                      </a:pPr>
                      <a:r>
                        <a:rPr lang="en-US" sz="2400" dirty="0">
                          <a:latin typeface="Roboto" panose="02000000000000000000" pitchFamily="2" charset="0"/>
                          <a:ea typeface="Roboto" panose="02000000000000000000" pitchFamily="2" charset="0"/>
                        </a:rPr>
                        <a:t>6</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Part Removal (</a:t>
                      </a:r>
                      <a:r>
                        <a:rPr lang="en-US" sz="2400" dirty="0" err="1">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Hanedashi</a:t>
                      </a: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4021915527"/>
                  </a:ext>
                </a:extLst>
              </a:tr>
              <a:tr h="152400">
                <a:tc>
                  <a:txBody>
                    <a:bodyPr/>
                    <a:lstStyle/>
                    <a:p>
                      <a:pPr marL="0" indent="0" algn="r">
                        <a:buNone/>
                      </a:pPr>
                      <a:r>
                        <a:rPr lang="en-US" sz="2400" dirty="0">
                          <a:latin typeface="Roboto" panose="02000000000000000000" pitchFamily="2" charset="0"/>
                          <a:ea typeface="Roboto" panose="02000000000000000000" pitchFamily="2" charset="0"/>
                        </a:rPr>
                        <a:t>5</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Autonomation of Returns</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94109312"/>
                  </a:ext>
                </a:extLst>
              </a:tr>
              <a:tr h="0">
                <a:tc>
                  <a:txBody>
                    <a:bodyPr/>
                    <a:lstStyle/>
                    <a:p>
                      <a:pPr marL="0" indent="0" algn="r" rtl="0" eaLnBrk="1" latinLnBrk="0" hangingPunct="1">
                        <a:buNone/>
                      </a:pPr>
                      <a:r>
                        <a:rPr lang="en-US" sz="2400" kern="1200" dirty="0">
                          <a:solidFill>
                            <a:schemeClr val="bg2">
                              <a:lumMod val="10000"/>
                            </a:schemeClr>
                          </a:solidFill>
                          <a:latin typeface="Roboto" panose="02000000000000000000" pitchFamily="2" charset="0"/>
                          <a:ea typeface="Roboto" panose="02000000000000000000" pitchFamily="2" charset="0"/>
                          <a:cs typeface="Roboto"/>
                        </a:rPr>
                        <a:t>4</a:t>
                      </a:r>
                    </a:p>
                  </a:txBody>
                  <a:tcPr anchor="ctr" horzOverflow="overflow">
                    <a:lnL w="0">
                      <a:miter lim="400000"/>
                    </a:lnL>
                    <a:lnR w="0">
                      <a:miter lim="400000"/>
                    </a:lnR>
                    <a:lnT w="0">
                      <a:miter lim="400000"/>
                    </a:lnT>
                    <a:lnB w="0">
                      <a:miter lim="400000"/>
                    </a:lnB>
                    <a:solidFill>
                      <a:schemeClr val="bg1">
                        <a:lumMod val="85000"/>
                      </a:schemeClr>
                    </a:solidFill>
                  </a:tcPr>
                </a:tc>
                <a:tc>
                  <a:txBody>
                    <a:bodyPr/>
                    <a:lstStyle/>
                    <a:p>
                      <a:pPr marL="0" algn="l" defTabSz="1828342" rtl="0" eaLnBrk="1" latinLnBrk="0" hangingPunct="1">
                        <a:spcBef>
                          <a:spcPts val="2300"/>
                        </a:spcBef>
                        <a:defRPr sz="1800">
                          <a:solidFill>
                            <a:srgbClr val="000000"/>
                          </a:solidFill>
                        </a:defRPr>
                      </a:pPr>
                      <a:r>
                        <a:rPr lang="en-US" sz="2400" kern="12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Automation of Stops</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2"/>
                  </a:ext>
                </a:extLst>
              </a:tr>
              <a:tr h="0">
                <a:tc>
                  <a:txBody>
                    <a:bodyPr/>
                    <a:lstStyle/>
                    <a:p>
                      <a:pPr algn="r"/>
                      <a:r>
                        <a:rPr lang="en-US" sz="2400" dirty="0">
                          <a:solidFill>
                            <a:schemeClr val="bg2">
                              <a:lumMod val="10000"/>
                            </a:schemeClr>
                          </a:solidFill>
                          <a:latin typeface="Roboto" panose="02000000000000000000" pitchFamily="2" charset="0"/>
                          <a:ea typeface="Roboto" panose="02000000000000000000" pitchFamily="2" charset="0"/>
                          <a:cs typeface="Roboto"/>
                        </a:rPr>
                        <a:t>3</a:t>
                      </a:r>
                    </a:p>
                  </a:txBody>
                  <a:tcPr anchor="ctr" horzOverflow="overflow">
                    <a:lnL w="0">
                      <a:miter lim="400000"/>
                    </a:lnL>
                    <a:lnR w="0">
                      <a:miter lim="400000"/>
                    </a:lnR>
                    <a:lnT w="0">
                      <a:miter lim="400000"/>
                    </a:lnT>
                    <a:lnB w="0">
                      <a:noFill/>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Autonomation of Feed</a:t>
                      </a:r>
                    </a:p>
                  </a:txBody>
                  <a:tcPr anchor="ctr" horzOverflow="overflow">
                    <a:lnL w="0">
                      <a:noFill/>
                      <a:miter lim="400000"/>
                    </a:lnL>
                    <a:lnR w="0">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10003"/>
                  </a:ext>
                </a:extLst>
              </a:tr>
              <a:tr h="0">
                <a:tc>
                  <a:txBody>
                    <a:bodyPr/>
                    <a:lstStyle/>
                    <a:p>
                      <a:pPr algn="r"/>
                      <a:r>
                        <a:rPr lang="en-US" sz="2400" dirty="0">
                          <a:solidFill>
                            <a:schemeClr val="bg2">
                              <a:lumMod val="10000"/>
                            </a:schemeClr>
                          </a:solidFill>
                          <a:latin typeface="Roboto" panose="02000000000000000000" pitchFamily="2" charset="0"/>
                          <a:ea typeface="Roboto" panose="02000000000000000000" pitchFamily="2" charset="0"/>
                          <a:cs typeface="Roboto"/>
                        </a:rPr>
                        <a:t>2</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Automation of Holding</a:t>
                      </a:r>
                    </a:p>
                  </a:txBody>
                  <a:tcPr anchor="ctr" horzOverflow="overflow">
                    <a:lnL w="0">
                      <a:noFill/>
                      <a:miter lim="400000"/>
                    </a:lnL>
                    <a:lnR w="0">
                      <a:noFill/>
                      <a:miter lim="400000"/>
                    </a:lnR>
                    <a:lnT w="0">
                      <a:noFill/>
                      <a:miter lim="400000"/>
                    </a:lnT>
                    <a:lnB w="0">
                      <a:noFill/>
                      <a:miter lim="400000"/>
                    </a:lnB>
                    <a:solidFill>
                      <a:schemeClr val="bg1">
                        <a:lumMod val="85000"/>
                      </a:schemeClr>
                    </a:solidFill>
                  </a:tcPr>
                </a:tc>
                <a:extLst>
                  <a:ext uri="{0D108BD9-81ED-4DB2-BD59-A6C34878D82A}">
                    <a16:rowId xmlns:a16="http://schemas.microsoft.com/office/drawing/2014/main" val="730240672"/>
                  </a:ext>
                </a:extLst>
              </a:tr>
              <a:tr h="483575">
                <a:tc>
                  <a:txBody>
                    <a:bodyPr/>
                    <a:lstStyle/>
                    <a:p>
                      <a:pPr algn="r"/>
                      <a:r>
                        <a:rPr lang="en-US" sz="2400" dirty="0">
                          <a:solidFill>
                            <a:schemeClr val="bg2">
                              <a:lumMod val="10000"/>
                            </a:schemeClr>
                          </a:solidFill>
                          <a:latin typeface="Roboto" panose="02000000000000000000" pitchFamily="2" charset="0"/>
                          <a:ea typeface="Roboto" panose="02000000000000000000" pitchFamily="2" charset="0"/>
                          <a:cs typeface="Roboto"/>
                        </a:rPr>
                        <a:t>1</a:t>
                      </a:r>
                    </a:p>
                  </a:txBody>
                  <a:tcPr anchor="ctr" horzOverflow="overflow">
                    <a:lnL w="0">
                      <a:noFill/>
                      <a:miter lim="400000"/>
                    </a:lnL>
                    <a:lnR w="0">
                      <a:noFill/>
                      <a:miter lim="400000"/>
                    </a:lnR>
                    <a:lnT w="0">
                      <a:noFill/>
                      <a:miter lim="400000"/>
                    </a:lnT>
                    <a:lnB w="0">
                      <a:miter lim="400000"/>
                    </a:lnB>
                    <a:solidFill>
                      <a:schemeClr val="bg1">
                        <a:lumMod val="85000"/>
                      </a:schemeClr>
                    </a:solidFill>
                  </a:tcPr>
                </a:tc>
                <a:tc>
                  <a:txBody>
                    <a:bodyPr/>
                    <a:lstStyle/>
                    <a:p>
                      <a:pPr algn="l" defTabSz="1828342">
                        <a:spcBef>
                          <a:spcPts val="2300"/>
                        </a:spcBef>
                        <a:defRPr sz="1800">
                          <a:solidFill>
                            <a:srgbClr val="000000"/>
                          </a:solidFill>
                        </a:defRPr>
                      </a:pPr>
                      <a:r>
                        <a:rPr lang="en-US" sz="2400" dirty="0">
                          <a:solidFill>
                            <a:schemeClr val="bg2">
                              <a:lumMod val="10000"/>
                            </a:schemeClr>
                          </a:solidFill>
                          <a:latin typeface="Roboto" panose="02000000000000000000" pitchFamily="2" charset="0"/>
                          <a:ea typeface="Roboto" panose="02000000000000000000" pitchFamily="2" charset="0"/>
                          <a:cs typeface="Roboto" panose="02000000000000000000" pitchFamily="2" charset="0"/>
                        </a:rPr>
                        <a:t>Autonomation of processing</a:t>
                      </a:r>
                    </a:p>
                  </a:txBody>
                  <a:tcPr anchor="ctr" horzOverflow="overflow">
                    <a:lnL w="0">
                      <a:noFill/>
                      <a:miter lim="400000"/>
                    </a:lnL>
                    <a:lnR w="0">
                      <a:noFill/>
                      <a:miter lim="400000"/>
                    </a:lnR>
                    <a:lnT w="0">
                      <a:noFill/>
                      <a:miter lim="400000"/>
                    </a:lnT>
                    <a:lnB w="0">
                      <a:miter lim="400000"/>
                    </a:lnB>
                    <a:solidFill>
                      <a:schemeClr val="bg1">
                        <a:lumMod val="85000"/>
                      </a:schemeClr>
                    </a:solidFill>
                  </a:tcPr>
                </a:tc>
                <a:extLst>
                  <a:ext uri="{0D108BD9-81ED-4DB2-BD59-A6C34878D82A}">
                    <a16:rowId xmlns:a16="http://schemas.microsoft.com/office/drawing/2014/main" val="166482606"/>
                  </a:ext>
                </a:extLst>
              </a:tr>
            </a:tbl>
          </a:graphicData>
        </a:graphic>
      </p:graphicFrame>
      <p:sp>
        <p:nvSpPr>
          <p:cNvPr id="5" name="TextBox 39">
            <a:extLst>
              <a:ext uri="{FF2B5EF4-FFF2-40B4-BE49-F238E27FC236}">
                <a16:creationId xmlns:a16="http://schemas.microsoft.com/office/drawing/2014/main" id="{86A88E42-B657-401A-768C-6B465C6CF985}"/>
              </a:ext>
            </a:extLst>
          </p:cNvPr>
          <p:cNvSpPr txBox="1">
            <a:spLocks noChangeArrowheads="1"/>
          </p:cNvSpPr>
          <p:nvPr/>
        </p:nvSpPr>
        <p:spPr bwMode="auto">
          <a:xfrm>
            <a:off x="3409207" y="5776913"/>
            <a:ext cx="53735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100000"/>
              </a:lnSpc>
              <a:spcBef>
                <a:spcPct val="0"/>
              </a:spcBef>
              <a:spcAft>
                <a:spcPct val="0"/>
              </a:spcAft>
              <a:buClrTx/>
              <a:buSzTx/>
              <a:buFontTx/>
              <a:buNone/>
            </a:pPr>
            <a:r>
              <a:rPr lang="en-GB" altLang="en-US" sz="2400" dirty="0">
                <a:latin typeface="Roboto" panose="02000000000000000000" pitchFamily="2" charset="0"/>
                <a:ea typeface="Roboto" panose="02000000000000000000" pitchFamily="2" charset="0"/>
              </a:rPr>
              <a:t>Take each step at a time, do not jump</a:t>
            </a:r>
          </a:p>
        </p:txBody>
      </p:sp>
      <p:pic>
        <p:nvPicPr>
          <p:cNvPr id="9" name="Picture 37" descr="C:\Users\Administrator\Documents\arrow.gif">
            <a:extLst>
              <a:ext uri="{FF2B5EF4-FFF2-40B4-BE49-F238E27FC236}">
                <a16:creationId xmlns:a16="http://schemas.microsoft.com/office/drawing/2014/main" id="{F1C8C969-6A1E-0C34-98A3-1E9B526113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519680"/>
            <a:ext cx="800100" cy="3007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01774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16 Catch Phrases of 3P</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Capture examples and non-examples of the 16 Catchphrases of 3P.</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utilize the 16 Catch Phrase Walk form on the following page to go to the </a:t>
            </a:r>
            <a:r>
              <a:rPr kumimoji="0" lang="en-US" b="0" i="0" u="none" strike="noStrike" cap="none" spc="0" normalizeH="0" baseline="0" dirty="0" err="1">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a:t>
            </a: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 and find both examples and non-examples of the 16 Catch Phrases of 3P. </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Take digital pictures, upload, and report-out.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digital pictures to rest of class. Discuss key take-aways.</a:t>
            </a:r>
          </a:p>
        </p:txBody>
      </p:sp>
      <p:grpSp>
        <p:nvGrpSpPr>
          <p:cNvPr id="3" name="Group 2">
            <a:extLst>
              <a:ext uri="{FF2B5EF4-FFF2-40B4-BE49-F238E27FC236}">
                <a16:creationId xmlns:a16="http://schemas.microsoft.com/office/drawing/2014/main" id="{2D343863-47B6-828D-8D08-71170180DC2E}"/>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00F2D0F1-D8EB-9611-CD03-E6EF95C48F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2B34FD6-5659-48E9-92C4-98FDCA5D32C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6A4CF8E-57B2-D0D2-DF22-1B20B98AA1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B06C4E7-717F-D8FB-C00E-8A8105485E2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D087EA5-85E9-8F51-FECD-CCCC320CAB5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0C589DE-D389-526F-FFB6-5680A44C879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1BFE827E-2B91-705A-B018-7FE3174ED0B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B562CF5-58EC-796B-C8CA-A31A4C8B1C5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23951253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4000" dirty="0"/>
              <a:t>16 Catch Phrase Walk Form</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80</a:t>
            </a:fld>
            <a:endParaRPr lang="en-US"/>
          </a:p>
        </p:txBody>
      </p:sp>
      <p:grpSp>
        <p:nvGrpSpPr>
          <p:cNvPr id="3" name="Group 2">
            <a:extLst>
              <a:ext uri="{FF2B5EF4-FFF2-40B4-BE49-F238E27FC236}">
                <a16:creationId xmlns:a16="http://schemas.microsoft.com/office/drawing/2014/main" id="{5E499DF1-1019-B3A3-2398-68F5AC434BAB}"/>
              </a:ext>
            </a:extLst>
          </p:cNvPr>
          <p:cNvGrpSpPr/>
          <p:nvPr/>
        </p:nvGrpSpPr>
        <p:grpSpPr>
          <a:xfrm>
            <a:off x="838200" y="297639"/>
            <a:ext cx="5257799" cy="307138"/>
            <a:chOff x="838200" y="297639"/>
            <a:chExt cx="5257799" cy="307138"/>
          </a:xfrm>
        </p:grpSpPr>
        <p:grpSp>
          <p:nvGrpSpPr>
            <p:cNvPr id="16" name="Group 15">
              <a:extLst>
                <a:ext uri="{FF2B5EF4-FFF2-40B4-BE49-F238E27FC236}">
                  <a16:creationId xmlns:a16="http://schemas.microsoft.com/office/drawing/2014/main" id="{FBB13090-2BF2-C392-48A1-10B00AE6BBC0}"/>
                </a:ext>
              </a:extLst>
            </p:cNvPr>
            <p:cNvGrpSpPr/>
            <p:nvPr/>
          </p:nvGrpSpPr>
          <p:grpSpPr>
            <a:xfrm>
              <a:off x="838200" y="297639"/>
              <a:ext cx="1687517" cy="290657"/>
              <a:chOff x="838200" y="297639"/>
              <a:chExt cx="1687517" cy="290657"/>
            </a:xfrm>
          </p:grpSpPr>
          <p:sp>
            <p:nvSpPr>
              <p:cNvPr id="18" name="AutoShape 9">
                <a:extLst>
                  <a:ext uri="{FF2B5EF4-FFF2-40B4-BE49-F238E27FC236}">
                    <a16:creationId xmlns:a16="http://schemas.microsoft.com/office/drawing/2014/main" id="{90BC717A-D8D7-92E7-1C10-884F2710536E}"/>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9">
                <a:extLst>
                  <a:ext uri="{FF2B5EF4-FFF2-40B4-BE49-F238E27FC236}">
                    <a16:creationId xmlns:a16="http://schemas.microsoft.com/office/drawing/2014/main" id="{B05C21CA-C245-1C30-94D2-D71FDF73B00E}"/>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10493C5-5CE7-A1A3-1507-F709159FCE83}"/>
                  </a:ext>
                </a:extLst>
              </p:cNvPr>
              <p:cNvGrpSpPr/>
              <p:nvPr/>
            </p:nvGrpSpPr>
            <p:grpSpPr>
              <a:xfrm>
                <a:off x="838200" y="297639"/>
                <a:ext cx="1060167" cy="290657"/>
                <a:chOff x="826426" y="4041857"/>
                <a:chExt cx="1060167" cy="290657"/>
              </a:xfrm>
            </p:grpSpPr>
            <p:sp>
              <p:nvSpPr>
                <p:cNvPr id="21" name="AutoShape 9">
                  <a:extLst>
                    <a:ext uri="{FF2B5EF4-FFF2-40B4-BE49-F238E27FC236}">
                      <a16:creationId xmlns:a16="http://schemas.microsoft.com/office/drawing/2014/main" id="{51942C6C-B1A8-0C72-EEEB-CF2FBF43EF04}"/>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1">
                  <a:extLst>
                    <a:ext uri="{FF2B5EF4-FFF2-40B4-BE49-F238E27FC236}">
                      <a16:creationId xmlns:a16="http://schemas.microsoft.com/office/drawing/2014/main" id="{9EC8F7F2-8040-1E28-DA55-3FA46BFE4BC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B3FADE12-52F3-4F1E-17AE-1E6CB155F5E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7" name="TextBox 16">
              <a:extLst>
                <a:ext uri="{FF2B5EF4-FFF2-40B4-BE49-F238E27FC236}">
                  <a16:creationId xmlns:a16="http://schemas.microsoft.com/office/drawing/2014/main" id="{B0BD5C38-DFF2-3039-0DE1-E0C6DD10329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7" name="Picture 14">
            <a:extLst>
              <a:ext uri="{FF2B5EF4-FFF2-40B4-BE49-F238E27FC236}">
                <a16:creationId xmlns:a16="http://schemas.microsoft.com/office/drawing/2014/main" id="{56F890A9-4CC8-410B-8CA2-1D56D833A1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673" y="1766948"/>
            <a:ext cx="556260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8" name="Rectangle 6">
            <a:extLst>
              <a:ext uri="{FF2B5EF4-FFF2-40B4-BE49-F238E27FC236}">
                <a16:creationId xmlns:a16="http://schemas.microsoft.com/office/drawing/2014/main" id="{EB610678-9C89-3FE1-FBFC-124B070C1703}"/>
              </a:ext>
            </a:extLst>
          </p:cNvPr>
          <p:cNvSpPr txBox="1">
            <a:spLocks noChangeArrowheads="1"/>
          </p:cNvSpPr>
          <p:nvPr/>
        </p:nvSpPr>
        <p:spPr>
          <a:xfrm>
            <a:off x="7200265" y="2723569"/>
            <a:ext cx="3155315" cy="25539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1 form completed per pair/group</a:t>
            </a:r>
          </a:p>
          <a:p>
            <a:r>
              <a:rPr lang="en-US" altLang="en-US" sz="2400" dirty="0"/>
              <a:t>Use to identify both good and bad examples of the 16 Catch Phrases in the workplace </a:t>
            </a:r>
          </a:p>
        </p:txBody>
      </p:sp>
    </p:spTree>
    <p:extLst>
      <p:ext uri="{BB962C8B-B14F-4D97-AF65-F5344CB8AC3E}">
        <p14:creationId xmlns:p14="http://schemas.microsoft.com/office/powerpoint/2010/main" val="42653246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81</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3P Design Evaluation Criteria </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Understand importance to have the design “spec” early in the discovery process</a:t>
            </a:r>
          </a:p>
          <a:p>
            <a:r>
              <a:rPr lang="en-US" sz="2400" dirty="0"/>
              <a:t>Translate VOC, 3P data collection, stakeholder interviews in to requirements</a:t>
            </a:r>
          </a:p>
          <a:p>
            <a:r>
              <a:rPr lang="en-US" sz="2400" dirty="0"/>
              <a:t>Evaluate proposed requirements – must vs. want</a:t>
            </a:r>
          </a:p>
          <a:p>
            <a:r>
              <a:rPr lang="en-US" sz="2400" dirty="0"/>
              <a:t>List design requirements before generating alternatives</a:t>
            </a:r>
          </a:p>
          <a:p>
            <a:r>
              <a:rPr lang="en-US" sz="2400" dirty="0"/>
              <a:t>Come to group consensus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Sketch and</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Evaluate</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15521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Design Evaluation Criteria</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a:bodyPr>
          <a:lstStyle/>
          <a:p>
            <a:pPr marL="0" indent="0">
              <a:buNone/>
            </a:pPr>
            <a:r>
              <a:rPr lang="en-US" dirty="0"/>
              <a:t>Typical considerations:</a:t>
            </a:r>
          </a:p>
          <a:p>
            <a:r>
              <a:rPr lang="en-US" dirty="0"/>
              <a:t>Safety</a:t>
            </a:r>
          </a:p>
          <a:p>
            <a:r>
              <a:rPr lang="en-US" dirty="0"/>
              <a:t>Environmental</a:t>
            </a:r>
          </a:p>
          <a:p>
            <a:r>
              <a:rPr lang="en-US" dirty="0"/>
              <a:t>Critical customer requirements</a:t>
            </a:r>
          </a:p>
          <a:p>
            <a:r>
              <a:rPr lang="en-US" dirty="0"/>
              <a:t>Space or other physical limitations</a:t>
            </a:r>
          </a:p>
          <a:p>
            <a:r>
              <a:rPr lang="en-US" dirty="0"/>
              <a:t>Budget</a:t>
            </a:r>
          </a:p>
          <a:p>
            <a:r>
              <a:rPr lang="en-US" dirty="0"/>
              <a:t>Timeline urgencies</a:t>
            </a:r>
          </a:p>
          <a:p>
            <a:r>
              <a:rPr lang="en-US" dirty="0"/>
              <a:t>Product or process regulatory qualification requirements </a:t>
            </a:r>
            <a:br>
              <a:rPr lang="en-US" dirty="0"/>
            </a:br>
            <a:r>
              <a:rPr lang="en-US" dirty="0"/>
              <a:t>(e.g. UL testing for consumer electronics, or PPAP for automotive)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82</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490767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7 Alternatives Form: Product Design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83</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7" name="Picture 15">
            <a:extLst>
              <a:ext uri="{FF2B5EF4-FFF2-40B4-BE49-F238E27FC236}">
                <a16:creationId xmlns:a16="http://schemas.microsoft.com/office/drawing/2014/main" id="{F5AE6335-2B19-0653-298E-E8E97A44F2D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27224" y="1766948"/>
            <a:ext cx="6937552" cy="456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69796341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7 Alternatives Form: Process Design</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84</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4" name="Picture 14">
            <a:extLst>
              <a:ext uri="{FF2B5EF4-FFF2-40B4-BE49-F238E27FC236}">
                <a16:creationId xmlns:a16="http://schemas.microsoft.com/office/drawing/2014/main" id="{D043B429-9C62-ECC3-D91A-3E196092365C}"/>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16389" y="1746124"/>
            <a:ext cx="6559222" cy="4587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8287744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Use Motion Analysis to Assist Process Selection Criteria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85</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6" name="Picture 2">
            <a:extLst>
              <a:ext uri="{FF2B5EF4-FFF2-40B4-BE49-F238E27FC236}">
                <a16:creationId xmlns:a16="http://schemas.microsoft.com/office/drawing/2014/main" id="{43AC0CBF-8395-674C-9FDB-7DE4D1E5FC5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861057" y="1713548"/>
            <a:ext cx="6469886" cy="46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14721743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Develop Weighting Criteria and Ranking System</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600" dirty="0"/>
              <a:t>Create the weighting criteria and ranking system to evaluate the 7 Alternatives</a:t>
            </a:r>
          </a:p>
          <a:p>
            <a:r>
              <a:rPr lang="en-US" sz="3600" dirty="0"/>
              <a:t>May need to include:</a:t>
            </a:r>
          </a:p>
          <a:p>
            <a:pPr lvl="1"/>
            <a:r>
              <a:rPr lang="en-US" sz="3200" dirty="0"/>
              <a:t>VOC</a:t>
            </a:r>
          </a:p>
          <a:p>
            <a:pPr lvl="1"/>
            <a:r>
              <a:rPr lang="en-US" sz="3200" dirty="0"/>
              <a:t>Industry Regulations</a:t>
            </a:r>
          </a:p>
          <a:p>
            <a:pPr lvl="1"/>
            <a:r>
              <a:rPr lang="en-US" sz="3200" dirty="0"/>
              <a:t>Requirements identified from initial data collection, charter</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86</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116046358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Design Evaluation Criteria</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Establish the customer and technical requirements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group, identify at least 12 design requirements to help guide the creative process.</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Don’t limit your thinking, just make sure all requirements are considered.</a:t>
            </a:r>
          </a:p>
          <a:p>
            <a:pPr marR="0" algn="l" defTabSz="584200" rtl="0" fontAlgn="auto" latinLnBrk="0" hangingPunct="0">
              <a:lnSpc>
                <a:spcPct val="100000"/>
              </a:lnSpc>
              <a:spcBef>
                <a:spcPts val="0"/>
              </a:spcBef>
              <a:spcAft>
                <a:spcPts val="0"/>
              </a:spcAft>
              <a:buClrTx/>
              <a:buSzTx/>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Come to group consensus by using a weighted decision matrix or multi-vote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List of critical design requirements</a:t>
            </a:r>
          </a:p>
        </p:txBody>
      </p:sp>
      <p:grpSp>
        <p:nvGrpSpPr>
          <p:cNvPr id="3" name="Group 2">
            <a:extLst>
              <a:ext uri="{FF2B5EF4-FFF2-40B4-BE49-F238E27FC236}">
                <a16:creationId xmlns:a16="http://schemas.microsoft.com/office/drawing/2014/main" id="{2D343863-47B6-828D-8D08-71170180DC2E}"/>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00F2D0F1-D8EB-9611-CD03-E6EF95C48F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2B34FD6-5659-48E9-92C4-98FDCA5D32C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6A4CF8E-57B2-D0D2-DF22-1B20B98AA1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B06C4E7-717F-D8FB-C00E-8A8105485E2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D087EA5-85E9-8F51-FECD-CCCC320CAB5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0C589DE-D389-526F-FFB6-5680A44C879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1BFE827E-2B91-705A-B018-7FE3174ED0B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B562CF5-58EC-796B-C8CA-A31A4C8B1C5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163722955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88</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The 7 Alternatives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Create and draw the 7 Alternatives for each function</a:t>
            </a:r>
          </a:p>
          <a:p>
            <a:r>
              <a:rPr lang="en-US" sz="2400" dirty="0"/>
              <a:t>Review Lean Machine Checklist and modify to develop rating criteria for the 7 Alternatives</a:t>
            </a:r>
          </a:p>
          <a:p>
            <a:r>
              <a:rPr lang="en-US" sz="2400" dirty="0"/>
              <a:t>Rate each team member’s 7 Alternatives</a:t>
            </a:r>
          </a:p>
          <a:p>
            <a:r>
              <a:rPr lang="en-US" sz="2400" dirty="0"/>
              <a:t>Select final 7 Alternatives for the team</a:t>
            </a:r>
          </a:p>
          <a:p>
            <a:r>
              <a:rPr lang="en-US" sz="2400" dirty="0"/>
              <a:t>Complete the Process-At-A-Glance form for each of the 7 Alternatives</a:t>
            </a:r>
          </a:p>
          <a:p>
            <a:r>
              <a:rPr lang="en-US" sz="2400" dirty="0"/>
              <a:t>Present final 7 Alternatives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Sketch and</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Evaluate</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39099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200" dirty="0"/>
              <a:t>Create and Draw the 7 Alternatives for each function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pPr marL="0" indent="0">
              <a:buNone/>
            </a:pPr>
            <a:r>
              <a:rPr lang="en-US" dirty="0"/>
              <a:t>The 7 Alternatives</a:t>
            </a:r>
            <a:endParaRPr lang="en-US" sz="24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89</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4" name="Picture 14" descr="C:\Users\Administrator\Documents\3P-7alt.gif">
            <a:extLst>
              <a:ext uri="{FF2B5EF4-FFF2-40B4-BE49-F238E27FC236}">
                <a16:creationId xmlns:a16="http://schemas.microsoft.com/office/drawing/2014/main" id="{1FD1717D-9BA1-3DF9-E1EB-928931492C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3740" y="3950006"/>
            <a:ext cx="3800475"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3" descr="PATAG 21.png">
            <a:extLst>
              <a:ext uri="{FF2B5EF4-FFF2-40B4-BE49-F238E27FC236}">
                <a16:creationId xmlns:a16="http://schemas.microsoft.com/office/drawing/2014/main" id="{B94F6051-FA76-E0FD-F3BD-AE32770B75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1875" y="2429486"/>
            <a:ext cx="3303588"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3">
            <a:extLst>
              <a:ext uri="{FF2B5EF4-FFF2-40B4-BE49-F238E27FC236}">
                <a16:creationId xmlns:a16="http://schemas.microsoft.com/office/drawing/2014/main" id="{C533E4E2-388E-F687-F2A5-F4CCF5FB6B91}"/>
              </a:ext>
            </a:extLst>
          </p:cNvPr>
          <p:cNvSpPr txBox="1">
            <a:spLocks noChangeArrowheads="1"/>
          </p:cNvSpPr>
          <p:nvPr/>
        </p:nvSpPr>
        <p:spPr>
          <a:xfrm>
            <a:off x="7624120" y="1996281"/>
            <a:ext cx="3279775" cy="401002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Use the brainstorming results from the nature </a:t>
            </a:r>
            <a:r>
              <a:rPr lang="en-US" altLang="en-US" dirty="0" err="1"/>
              <a:t>etc</a:t>
            </a:r>
            <a:r>
              <a:rPr lang="en-US" altLang="en-US" dirty="0"/>
              <a:t> exercise as a source of inspiration to create the 7 Alternatives for each function</a:t>
            </a:r>
          </a:p>
          <a:p>
            <a:r>
              <a:rPr lang="en-US" altLang="en-US" dirty="0"/>
              <a:t>Each team member initially draws 7 Alternatives for each function</a:t>
            </a:r>
          </a:p>
        </p:txBody>
      </p:sp>
    </p:spTree>
    <p:extLst>
      <p:ext uri="{BB962C8B-B14F-4D97-AF65-F5344CB8AC3E}">
        <p14:creationId xmlns:p14="http://schemas.microsoft.com/office/powerpoint/2010/main" val="13869759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Example of Process Alternatives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90</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5" name="Picture 5">
            <a:extLst>
              <a:ext uri="{FF2B5EF4-FFF2-40B4-BE49-F238E27FC236}">
                <a16:creationId xmlns:a16="http://schemas.microsoft.com/office/drawing/2014/main" id="{DFE7B498-6240-583C-A98C-5FE4C91240A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67265" y="1829149"/>
            <a:ext cx="9457471" cy="439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42371699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Complete Process At A Glance for 7 Alternatives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sz="3600" dirty="0"/>
              <a:t>Material – show the value-added step or transformation, “what changes?”</a:t>
            </a:r>
          </a:p>
          <a:p>
            <a:r>
              <a:rPr lang="en-US" sz="3600" dirty="0"/>
              <a:t>Method –show the function of the person’s hands, “what do they do?”</a:t>
            </a:r>
          </a:p>
          <a:p>
            <a:r>
              <a:rPr lang="en-US" sz="3600" dirty="0"/>
              <a:t>Gauge – show the device used to ensure 100% quality, “how do we measure”</a:t>
            </a:r>
          </a:p>
          <a:p>
            <a:r>
              <a:rPr lang="en-US" sz="3600" dirty="0"/>
              <a:t>Tool – show actual tool that does the processing, “what makes the product feature?”</a:t>
            </a:r>
          </a:p>
          <a:p>
            <a:r>
              <a:rPr lang="en-US" sz="3600" dirty="0"/>
              <a:t>Fixture – show how the work piece is held, “what holds the part?”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91</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19007471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Process At A Glance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92</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pic>
        <p:nvPicPr>
          <p:cNvPr id="16" name="Picture 13">
            <a:extLst>
              <a:ext uri="{FF2B5EF4-FFF2-40B4-BE49-F238E27FC236}">
                <a16:creationId xmlns:a16="http://schemas.microsoft.com/office/drawing/2014/main" id="{00DF78FF-F1C7-5889-9DBC-6DB708622DA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83934" y="1825625"/>
            <a:ext cx="8624131"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20391848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7 Alternatives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93</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Create and evaluate the 7 Alternatives.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sub-teams, complete the following activities: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member brainstorms and draws 7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sub-team develop rating criteria and ranking system for 7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Rate and rank each idea</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Top 7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Process-At-A-Glance Form for 7 Alternatives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the final 7 Alternatives</a:t>
            </a:r>
          </a:p>
        </p:txBody>
      </p:sp>
      <p:grpSp>
        <p:nvGrpSpPr>
          <p:cNvPr id="3" name="Group 2">
            <a:extLst>
              <a:ext uri="{FF2B5EF4-FFF2-40B4-BE49-F238E27FC236}">
                <a16:creationId xmlns:a16="http://schemas.microsoft.com/office/drawing/2014/main" id="{2D343863-47B6-828D-8D08-71170180DC2E}"/>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00F2D0F1-D8EB-9611-CD03-E6EF95C48F0F}"/>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72B34FD6-5659-48E9-92C4-98FDCA5D32C1}"/>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8" name="AutoShape 9">
                <a:extLst>
                  <a:ext uri="{FF2B5EF4-FFF2-40B4-BE49-F238E27FC236}">
                    <a16:creationId xmlns:a16="http://schemas.microsoft.com/office/drawing/2014/main" id="{76A4CF8E-57B2-D0D2-DF22-1B20B98AA1B6}"/>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9" name="Group 8">
                <a:extLst>
                  <a:ext uri="{FF2B5EF4-FFF2-40B4-BE49-F238E27FC236}">
                    <a16:creationId xmlns:a16="http://schemas.microsoft.com/office/drawing/2014/main" id="{FB06C4E7-717F-D8FB-C00E-8A8105485E2A}"/>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9D087EA5-85E9-8F51-FECD-CCCC320CAB59}"/>
                    </a:ext>
                  </a:extLst>
                </p:cNvPr>
                <p:cNvSpPr>
                  <a:spLocks noChangeArrowheads="1"/>
                </p:cNvSpPr>
                <p:nvPr/>
              </p:nvSpPr>
              <p:spPr bwMode="auto">
                <a:xfrm>
                  <a:off x="1453776" y="4041857"/>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9" name="AutoShape 11">
                  <a:extLst>
                    <a:ext uri="{FF2B5EF4-FFF2-40B4-BE49-F238E27FC236}">
                      <a16:creationId xmlns:a16="http://schemas.microsoft.com/office/drawing/2014/main" id="{D0C589DE-D389-526F-FFB6-5680A44C879B}"/>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0" name="AutoShape 10">
                  <a:extLst>
                    <a:ext uri="{FF2B5EF4-FFF2-40B4-BE49-F238E27FC236}">
                      <a16:creationId xmlns:a16="http://schemas.microsoft.com/office/drawing/2014/main" id="{1BFE827E-2B91-705A-B018-7FE3174ED0BE}"/>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1B562CF5-58EC-796B-C8CA-A31A4C8B1C52}"/>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Sketch and Evaluate Alternatives</a:t>
              </a:r>
            </a:p>
          </p:txBody>
        </p:sp>
      </p:grpSp>
    </p:spTree>
    <p:extLst>
      <p:ext uri="{BB962C8B-B14F-4D97-AF65-F5344CB8AC3E}">
        <p14:creationId xmlns:p14="http://schemas.microsoft.com/office/powerpoint/2010/main" val="3985576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94</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Selecting the Top 2-3 Alternatives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a:t>
            </a:r>
            <a:r>
              <a:rPr lang="en-US" sz="2400" dirty="0" err="1"/>
              <a:t>Trystorm</a:t>
            </a:r>
            <a:r>
              <a:rPr lang="en-US" sz="2400" dirty="0"/>
              <a:t>” each of the 7 Alternatives for each function</a:t>
            </a:r>
          </a:p>
          <a:p>
            <a:r>
              <a:rPr lang="en-US" sz="2400" dirty="0"/>
              <a:t>Review Lean Machine Checklist and modify to develop rating criteria to determine the Top 2-3 Alternatives</a:t>
            </a:r>
          </a:p>
          <a:p>
            <a:r>
              <a:rPr lang="en-US" sz="2400" dirty="0"/>
              <a:t>Rate each prototype</a:t>
            </a:r>
          </a:p>
          <a:p>
            <a:r>
              <a:rPr lang="en-US" sz="2400" dirty="0"/>
              <a:t>Select Top 2-3 Alternatives</a:t>
            </a:r>
          </a:p>
          <a:p>
            <a:r>
              <a:rPr lang="en-US" sz="2400" dirty="0"/>
              <a:t>Refine the Process-At-A-Glance form for each of Top 2-3 Alternatives</a:t>
            </a:r>
          </a:p>
          <a:p>
            <a:r>
              <a:rPr lang="en-US" sz="2400" dirty="0"/>
              <a:t>Present Top 2-3 Alternatives</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Sketch and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Evaluate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9123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a:t>
            </a:r>
            <a:r>
              <a:rPr lang="en-US" sz="4000" dirty="0" err="1"/>
              <a:t>Trystorming</a:t>
            </a:r>
            <a:r>
              <a:rPr lang="en-US" sz="4000" dirty="0"/>
              <a:t>” Process</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fontScale="92500" lnSpcReduction="20000"/>
          </a:bodyPr>
          <a:lstStyle/>
          <a:p>
            <a:r>
              <a:rPr lang="en-US" sz="3600" dirty="0"/>
              <a:t>Like it sounds, </a:t>
            </a:r>
            <a:r>
              <a:rPr lang="en-US" sz="3600" dirty="0" err="1"/>
              <a:t>Trystorming</a:t>
            </a:r>
            <a:r>
              <a:rPr lang="en-US" sz="3600" dirty="0"/>
              <a:t> is a hands-on extension of brainstorming</a:t>
            </a:r>
          </a:p>
          <a:p>
            <a:r>
              <a:rPr lang="en-US" sz="3600" dirty="0"/>
              <a:t>Old adage, “If at first you don’t succeed, try, try, again.”</a:t>
            </a:r>
          </a:p>
          <a:p>
            <a:r>
              <a:rPr lang="en-US" sz="3600" dirty="0" err="1"/>
              <a:t>Trystorming</a:t>
            </a:r>
            <a:r>
              <a:rPr lang="en-US" sz="3600" dirty="0"/>
              <a:t> is different from brainstorming in that it encourages the rapid development and test of an idea rather than merely thinking about the possible solutions.</a:t>
            </a:r>
          </a:p>
          <a:p>
            <a:r>
              <a:rPr lang="en-US" sz="3600" dirty="0"/>
              <a:t>Build up through multiple cycles: sketch, scale model (in clay or balsa wood), full scale – evaluating and adjusting (tweaking)</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95</a:t>
            </a:fld>
            <a:endParaRPr lang="en-US"/>
          </a:p>
        </p:txBody>
      </p:sp>
      <p:grpSp>
        <p:nvGrpSpPr>
          <p:cNvPr id="4" name="Group 3">
            <a:extLst>
              <a:ext uri="{FF2B5EF4-FFF2-40B4-BE49-F238E27FC236}">
                <a16:creationId xmlns:a16="http://schemas.microsoft.com/office/drawing/2014/main" id="{F3663A17-54D8-047E-F34E-2C14310F159C}"/>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41A027D9-CF9B-6C53-4176-27705B0B250F}"/>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F5134150-309A-7B71-86E8-6190EA3EA3C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9">
                <a:extLst>
                  <a:ext uri="{FF2B5EF4-FFF2-40B4-BE49-F238E27FC236}">
                    <a16:creationId xmlns:a16="http://schemas.microsoft.com/office/drawing/2014/main" id="{B0B0D620-EFBB-1FC9-E213-B89BE8C31C3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574F4343-32D5-4E4B-BAFB-DBD6DC9CF3F6}"/>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85B8BDFA-F232-DE3B-AD99-E08B0DAE661C}"/>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0840398F-EA90-1C43-53A1-30653AD306F7}"/>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01A09B9-D7EE-E81A-7BD1-F4303FF8905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0A880346-1D4B-7697-5A84-E77E8FA91EE5}"/>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spTree>
    <p:extLst>
      <p:ext uri="{BB962C8B-B14F-4D97-AF65-F5344CB8AC3E}">
        <p14:creationId xmlns:p14="http://schemas.microsoft.com/office/powerpoint/2010/main" val="224370962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Sometimes called “Moonshining”</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Not conventional thinking</a:t>
            </a:r>
          </a:p>
          <a:p>
            <a:r>
              <a:rPr lang="en-US" dirty="0"/>
              <a:t>Many people will not like it</a:t>
            </a:r>
          </a:p>
          <a:p>
            <a:r>
              <a:rPr lang="en-US" dirty="0"/>
              <a:t>You may have to keep it a secret from your own organization - “skunk works”</a:t>
            </a:r>
          </a:p>
          <a:p>
            <a:r>
              <a:rPr lang="en-US" dirty="0"/>
              <a:t>May feel uncomfortable until people come to accept it</a:t>
            </a:r>
          </a:p>
          <a:p>
            <a:pPr marL="0" indent="0">
              <a:buNone/>
            </a:pPr>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96</a:t>
            </a:fld>
            <a:endParaRPr lang="en-US"/>
          </a:p>
        </p:txBody>
      </p:sp>
      <p:grpSp>
        <p:nvGrpSpPr>
          <p:cNvPr id="5" name="Group 4">
            <a:extLst>
              <a:ext uri="{FF2B5EF4-FFF2-40B4-BE49-F238E27FC236}">
                <a16:creationId xmlns:a16="http://schemas.microsoft.com/office/drawing/2014/main" id="{7DCF8836-A98D-D97F-5FB0-B4FB621AD73C}"/>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89D7C8D0-09A0-0602-92F8-9299D2550624}"/>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A3942238-70DB-1E39-98AF-ACD9921678B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9A3F797D-4BE8-02E3-AE3C-FDE92D93B11A}"/>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A5122EAD-D2B5-F325-8516-E74B8270E9F6}"/>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B03D9AB6-EBAF-33C9-42A3-46BD7F1BAE09}"/>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B901861C-6340-0073-C5E2-2949F314ADC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B4981FCA-1AD7-196F-0F8E-F30EA8AF598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E0EFE1FD-2869-1532-5FB9-0A3E85EA398A}"/>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pic>
        <p:nvPicPr>
          <p:cNvPr id="15" name="Picture 4" descr="Moonshine 41_8_98.jpg">
            <a:extLst>
              <a:ext uri="{FF2B5EF4-FFF2-40B4-BE49-F238E27FC236}">
                <a16:creationId xmlns:a16="http://schemas.microsoft.com/office/drawing/2014/main" id="{D2CB5BBD-A7CC-03A4-E116-3D7AB9BEACD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368283" y="1825625"/>
            <a:ext cx="3991625" cy="4448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52216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Lean Process Machine Checklist</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97</a:t>
            </a:fld>
            <a:endParaRPr lang="en-US"/>
          </a:p>
        </p:txBody>
      </p:sp>
      <p:sp>
        <p:nvSpPr>
          <p:cNvPr id="27" name="Content Placeholder 26">
            <a:extLst>
              <a:ext uri="{FF2B5EF4-FFF2-40B4-BE49-F238E27FC236}">
                <a16:creationId xmlns:a16="http://schemas.microsoft.com/office/drawing/2014/main" id="{F016112C-F2E5-CA2B-8826-59D819ECE4D7}"/>
              </a:ext>
            </a:extLst>
          </p:cNvPr>
          <p:cNvSpPr>
            <a:spLocks noGrp="1"/>
          </p:cNvSpPr>
          <p:nvPr>
            <p:ph sz="half" idx="2"/>
          </p:nvPr>
        </p:nvSpPr>
        <p:spPr/>
        <p:txBody>
          <a:bodyPr>
            <a:normAutofit fontScale="77500" lnSpcReduction="20000"/>
          </a:bodyPr>
          <a:lstStyle/>
          <a:p>
            <a:pPr marL="0" indent="0">
              <a:lnSpc>
                <a:spcPct val="100000"/>
              </a:lnSpc>
              <a:spcBef>
                <a:spcPct val="0"/>
              </a:spcBef>
              <a:spcAft>
                <a:spcPct val="0"/>
              </a:spcAft>
              <a:buNone/>
            </a:pPr>
            <a:r>
              <a:rPr lang="en-US" altLang="en-US" sz="2200" dirty="0"/>
              <a:t>D-3 In-house development</a:t>
            </a:r>
          </a:p>
          <a:p>
            <a:pPr marL="0" indent="0">
              <a:lnSpc>
                <a:spcPct val="100000"/>
              </a:lnSpc>
              <a:spcBef>
                <a:spcPct val="0"/>
              </a:spcBef>
              <a:spcAft>
                <a:spcPct val="0"/>
              </a:spcAft>
              <a:buNone/>
            </a:pPr>
            <a:r>
              <a:rPr lang="en-US" altLang="en-US" sz="2200" dirty="0"/>
              <a:t>D-4 Off-the shelf equipment or components</a:t>
            </a:r>
          </a:p>
          <a:p>
            <a:pPr marL="0" indent="0">
              <a:lnSpc>
                <a:spcPct val="100000"/>
              </a:lnSpc>
              <a:spcBef>
                <a:spcPct val="0"/>
              </a:spcBef>
              <a:spcAft>
                <a:spcPct val="0"/>
              </a:spcAft>
              <a:buNone/>
            </a:pPr>
            <a:r>
              <a:rPr lang="en-US" altLang="en-US" sz="2200" dirty="0"/>
              <a:t>S-1 Proper guarding and safety devices in place</a:t>
            </a:r>
          </a:p>
          <a:p>
            <a:pPr marL="0" indent="0">
              <a:lnSpc>
                <a:spcPct val="100000"/>
              </a:lnSpc>
              <a:spcBef>
                <a:spcPct val="0"/>
              </a:spcBef>
              <a:spcAft>
                <a:spcPct val="0"/>
              </a:spcAft>
              <a:buNone/>
            </a:pPr>
            <a:r>
              <a:rPr lang="en-US" altLang="en-US" sz="2200" dirty="0"/>
              <a:t>S-2 Dust, chips, slag, etc. collected by equipment</a:t>
            </a:r>
          </a:p>
          <a:p>
            <a:pPr marL="0" indent="0">
              <a:lnSpc>
                <a:spcPct val="100000"/>
              </a:lnSpc>
              <a:spcBef>
                <a:spcPct val="0"/>
              </a:spcBef>
              <a:spcAft>
                <a:spcPct val="0"/>
              </a:spcAft>
              <a:buNone/>
            </a:pPr>
            <a:r>
              <a:rPr lang="en-US" altLang="en-US" sz="2200" dirty="0"/>
              <a:t>S-3 Not dangerous, dirty or difficult</a:t>
            </a:r>
          </a:p>
          <a:p>
            <a:pPr marL="0" indent="0">
              <a:lnSpc>
                <a:spcPct val="100000"/>
              </a:lnSpc>
              <a:spcBef>
                <a:spcPct val="0"/>
              </a:spcBef>
              <a:spcAft>
                <a:spcPct val="0"/>
              </a:spcAft>
              <a:buNone/>
            </a:pPr>
            <a:r>
              <a:rPr lang="en-US" altLang="en-US" sz="2200" dirty="0"/>
              <a:t>S-4 High ergonomics evaluation score</a:t>
            </a:r>
          </a:p>
          <a:p>
            <a:pPr marL="0" indent="0">
              <a:lnSpc>
                <a:spcPct val="100000"/>
              </a:lnSpc>
              <a:spcBef>
                <a:spcPct val="0"/>
              </a:spcBef>
              <a:spcAft>
                <a:spcPct val="0"/>
              </a:spcAft>
              <a:buNone/>
            </a:pPr>
            <a:r>
              <a:rPr lang="en-US" altLang="en-US" sz="2200" dirty="0"/>
              <a:t>S-5 Meets environmental, fire, and health regulations</a:t>
            </a:r>
          </a:p>
          <a:p>
            <a:pPr marL="0" indent="0">
              <a:lnSpc>
                <a:spcPct val="100000"/>
              </a:lnSpc>
              <a:spcBef>
                <a:spcPct val="0"/>
              </a:spcBef>
              <a:spcAft>
                <a:spcPct val="0"/>
              </a:spcAft>
              <a:buNone/>
            </a:pPr>
            <a:r>
              <a:rPr lang="en-US" altLang="en-US" sz="2200" dirty="0"/>
              <a:t>S-6 Minimal operator training</a:t>
            </a:r>
          </a:p>
          <a:p>
            <a:pPr marL="0" indent="0">
              <a:lnSpc>
                <a:spcPct val="100000"/>
              </a:lnSpc>
              <a:spcBef>
                <a:spcPct val="0"/>
              </a:spcBef>
              <a:spcAft>
                <a:spcPct val="0"/>
              </a:spcAft>
              <a:buNone/>
            </a:pPr>
            <a:r>
              <a:rPr lang="en-US" altLang="en-US" sz="2200" dirty="0"/>
              <a:t>L-1 Creates one-piece flow</a:t>
            </a:r>
          </a:p>
          <a:p>
            <a:pPr marL="0" indent="0">
              <a:lnSpc>
                <a:spcPct val="100000"/>
              </a:lnSpc>
              <a:spcBef>
                <a:spcPct val="0"/>
              </a:spcBef>
              <a:spcAft>
                <a:spcPct val="0"/>
              </a:spcAft>
              <a:buNone/>
            </a:pPr>
            <a:r>
              <a:rPr lang="en-US" altLang="en-US" sz="2200" dirty="0"/>
              <a:t>L-2 Meets Takt Time</a:t>
            </a:r>
          </a:p>
          <a:p>
            <a:pPr marL="0" indent="0">
              <a:lnSpc>
                <a:spcPct val="100000"/>
              </a:lnSpc>
              <a:spcBef>
                <a:spcPct val="0"/>
              </a:spcBef>
              <a:spcAft>
                <a:spcPct val="0"/>
              </a:spcAft>
              <a:buNone/>
            </a:pPr>
            <a:r>
              <a:rPr lang="en-US" altLang="en-US" sz="2200" dirty="0"/>
              <a:t>L-3 Creates a pull system</a:t>
            </a:r>
          </a:p>
          <a:p>
            <a:pPr marL="0" indent="0">
              <a:lnSpc>
                <a:spcPct val="100000"/>
              </a:lnSpc>
              <a:spcBef>
                <a:spcPct val="0"/>
              </a:spcBef>
              <a:spcAft>
                <a:spcPct val="0"/>
              </a:spcAft>
              <a:buNone/>
            </a:pPr>
            <a:r>
              <a:rPr lang="en-US" altLang="en-US" sz="2200" dirty="0"/>
              <a:t>L-4 Quick set-up and changeover</a:t>
            </a:r>
          </a:p>
          <a:p>
            <a:pPr marL="0" indent="0">
              <a:lnSpc>
                <a:spcPct val="100000"/>
              </a:lnSpc>
              <a:spcBef>
                <a:spcPct val="0"/>
              </a:spcBef>
              <a:spcAft>
                <a:spcPct val="0"/>
              </a:spcAft>
              <a:buNone/>
            </a:pPr>
            <a:r>
              <a:rPr lang="en-US" altLang="en-US" sz="2200" dirty="0"/>
              <a:t>L-5 Operator input</a:t>
            </a:r>
          </a:p>
          <a:p>
            <a:pPr marL="0" indent="0">
              <a:lnSpc>
                <a:spcPct val="100000"/>
              </a:lnSpc>
              <a:spcBef>
                <a:spcPct val="0"/>
              </a:spcBef>
              <a:spcAft>
                <a:spcPct val="0"/>
              </a:spcAft>
              <a:buNone/>
            </a:pPr>
            <a:r>
              <a:rPr lang="en-US" altLang="en-US" sz="2200" dirty="0"/>
              <a:t>L-6 </a:t>
            </a:r>
            <a:r>
              <a:rPr lang="en-US" altLang="en-US" sz="2200" dirty="0" err="1"/>
              <a:t>Chaku-chaku</a:t>
            </a:r>
            <a:r>
              <a:rPr lang="en-US" altLang="en-US" sz="2200" dirty="0"/>
              <a:t> (load load)</a:t>
            </a:r>
          </a:p>
          <a:p>
            <a:pPr marL="0" indent="0">
              <a:lnSpc>
                <a:spcPct val="100000"/>
              </a:lnSpc>
              <a:spcBef>
                <a:spcPct val="0"/>
              </a:spcBef>
              <a:spcAft>
                <a:spcPct val="0"/>
              </a:spcAft>
              <a:buNone/>
            </a:pPr>
            <a:r>
              <a:rPr lang="en-US" altLang="en-US" sz="2200" dirty="0"/>
              <a:t>L-7 </a:t>
            </a:r>
            <a:r>
              <a:rPr lang="en-US" altLang="en-US" sz="2200" dirty="0" err="1"/>
              <a:t>Hanedashi</a:t>
            </a:r>
            <a:r>
              <a:rPr lang="en-US" altLang="en-US" sz="2200" dirty="0"/>
              <a:t> (auto unload)</a:t>
            </a:r>
          </a:p>
          <a:p>
            <a:pPr marL="0" indent="0">
              <a:lnSpc>
                <a:spcPct val="100000"/>
              </a:lnSpc>
              <a:spcBef>
                <a:spcPct val="0"/>
              </a:spcBef>
              <a:spcAft>
                <a:spcPct val="0"/>
              </a:spcAft>
              <a:buNone/>
            </a:pPr>
            <a:r>
              <a:rPr lang="en-US" altLang="en-US" sz="2200" dirty="0"/>
              <a:t>L-8 Mobile &amp; flexible, on wheels, not roots or vines</a:t>
            </a:r>
          </a:p>
        </p:txBody>
      </p:sp>
      <p:sp>
        <p:nvSpPr>
          <p:cNvPr id="4" name="Content Placeholder 3">
            <a:extLst>
              <a:ext uri="{FF2B5EF4-FFF2-40B4-BE49-F238E27FC236}">
                <a16:creationId xmlns:a16="http://schemas.microsoft.com/office/drawing/2014/main" id="{88AEC128-0020-A614-86DD-0216E6EE4204}"/>
              </a:ext>
            </a:extLst>
          </p:cNvPr>
          <p:cNvSpPr>
            <a:spLocks noGrp="1"/>
          </p:cNvSpPr>
          <p:nvPr>
            <p:ph sz="half" idx="1"/>
          </p:nvPr>
        </p:nvSpPr>
        <p:spPr/>
        <p:txBody>
          <a:bodyPr>
            <a:normAutofit fontScale="77500" lnSpcReduction="20000"/>
          </a:bodyPr>
          <a:lstStyle/>
          <a:p>
            <a:pPr marL="0" indent="0">
              <a:lnSpc>
                <a:spcPct val="100000"/>
              </a:lnSpc>
              <a:spcBef>
                <a:spcPct val="0"/>
              </a:spcBef>
              <a:spcAft>
                <a:spcPct val="0"/>
              </a:spcAft>
              <a:buNone/>
            </a:pPr>
            <a:r>
              <a:rPr lang="en-US" altLang="en-US" sz="2000" dirty="0"/>
              <a:t>Q-1 Process is low risk or known</a:t>
            </a:r>
          </a:p>
          <a:p>
            <a:pPr marL="0" indent="0">
              <a:lnSpc>
                <a:spcPct val="100000"/>
              </a:lnSpc>
              <a:spcBef>
                <a:spcPct val="0"/>
              </a:spcBef>
              <a:spcAft>
                <a:spcPct val="0"/>
              </a:spcAft>
              <a:buNone/>
            </a:pPr>
            <a:r>
              <a:rPr lang="en-US" altLang="en-US" sz="2000" dirty="0"/>
              <a:t>Q-2 </a:t>
            </a:r>
            <a:r>
              <a:rPr lang="en-US" altLang="en-US" sz="2000" dirty="0" err="1"/>
              <a:t>Poka</a:t>
            </a:r>
            <a:r>
              <a:rPr lang="en-US" altLang="en-US" sz="2000" dirty="0"/>
              <a:t> Yoke is built into the process</a:t>
            </a:r>
          </a:p>
          <a:p>
            <a:pPr marL="0" indent="0">
              <a:lnSpc>
                <a:spcPct val="100000"/>
              </a:lnSpc>
              <a:spcBef>
                <a:spcPct val="0"/>
              </a:spcBef>
              <a:spcAft>
                <a:spcPct val="0"/>
              </a:spcAft>
              <a:buNone/>
            </a:pPr>
            <a:r>
              <a:rPr lang="en-US" altLang="en-US" sz="2000" dirty="0"/>
              <a:t>Q-3 100% gauging for in-process checks</a:t>
            </a:r>
          </a:p>
          <a:p>
            <a:pPr marL="0" indent="0">
              <a:lnSpc>
                <a:spcPct val="100000"/>
              </a:lnSpc>
              <a:spcBef>
                <a:spcPct val="0"/>
              </a:spcBef>
              <a:spcAft>
                <a:spcPct val="0"/>
              </a:spcAft>
              <a:buNone/>
            </a:pPr>
            <a:r>
              <a:rPr lang="en-US" altLang="en-US" sz="2000" dirty="0"/>
              <a:t>Q-4 Fewer than 0.03% defects</a:t>
            </a:r>
          </a:p>
          <a:p>
            <a:pPr marL="0" indent="0">
              <a:lnSpc>
                <a:spcPct val="100000"/>
              </a:lnSpc>
              <a:spcBef>
                <a:spcPct val="0"/>
              </a:spcBef>
              <a:spcAft>
                <a:spcPct val="0"/>
              </a:spcAft>
              <a:buNone/>
            </a:pPr>
            <a:r>
              <a:rPr lang="en-US" altLang="en-US" sz="2000" dirty="0"/>
              <a:t>Q-5 Auto-stop for abnormality (</a:t>
            </a:r>
            <a:r>
              <a:rPr lang="en-US" altLang="en-US" sz="2000" dirty="0" err="1"/>
              <a:t>jidoka</a:t>
            </a:r>
            <a:r>
              <a:rPr lang="en-US" altLang="en-US" sz="2000" dirty="0"/>
              <a:t>)</a:t>
            </a:r>
          </a:p>
          <a:p>
            <a:pPr marL="0" indent="0">
              <a:lnSpc>
                <a:spcPct val="100000"/>
              </a:lnSpc>
              <a:spcBef>
                <a:spcPct val="0"/>
              </a:spcBef>
              <a:spcAft>
                <a:spcPct val="0"/>
              </a:spcAft>
              <a:buNone/>
            </a:pPr>
            <a:r>
              <a:rPr lang="en-US" altLang="en-US" sz="2000" dirty="0"/>
              <a:t>C-1 Low motion waste</a:t>
            </a:r>
          </a:p>
          <a:p>
            <a:pPr marL="0" indent="0">
              <a:lnSpc>
                <a:spcPct val="100000"/>
              </a:lnSpc>
              <a:spcBef>
                <a:spcPct val="0"/>
              </a:spcBef>
              <a:spcAft>
                <a:spcPct val="0"/>
              </a:spcAft>
              <a:buNone/>
            </a:pPr>
            <a:r>
              <a:rPr lang="en-US" altLang="en-US" sz="2000" dirty="0"/>
              <a:t>C-2 Low capital investment</a:t>
            </a:r>
          </a:p>
          <a:p>
            <a:pPr marL="0" indent="0">
              <a:lnSpc>
                <a:spcPct val="100000"/>
              </a:lnSpc>
              <a:spcBef>
                <a:spcPct val="0"/>
              </a:spcBef>
              <a:spcAft>
                <a:spcPct val="0"/>
              </a:spcAft>
              <a:buNone/>
            </a:pPr>
            <a:r>
              <a:rPr lang="en-US" altLang="en-US" sz="2000" dirty="0"/>
              <a:t>C-3 Equipment is readily available</a:t>
            </a:r>
          </a:p>
          <a:p>
            <a:pPr marL="0" indent="0">
              <a:lnSpc>
                <a:spcPct val="100000"/>
              </a:lnSpc>
              <a:spcBef>
                <a:spcPct val="0"/>
              </a:spcBef>
              <a:spcAft>
                <a:spcPct val="0"/>
              </a:spcAft>
              <a:buNone/>
            </a:pPr>
            <a:r>
              <a:rPr lang="en-US" altLang="en-US" sz="2000" dirty="0"/>
              <a:t>C-4 Minimal space required</a:t>
            </a:r>
          </a:p>
          <a:p>
            <a:pPr marL="0" indent="0">
              <a:lnSpc>
                <a:spcPct val="100000"/>
              </a:lnSpc>
              <a:spcBef>
                <a:spcPct val="0"/>
              </a:spcBef>
              <a:spcAft>
                <a:spcPct val="0"/>
              </a:spcAft>
              <a:buNone/>
            </a:pPr>
            <a:r>
              <a:rPr lang="en-US" altLang="en-US" sz="2000" dirty="0"/>
              <a:t>C-5 Known process technology</a:t>
            </a:r>
          </a:p>
          <a:p>
            <a:pPr marL="0" indent="0">
              <a:lnSpc>
                <a:spcPct val="100000"/>
              </a:lnSpc>
              <a:spcBef>
                <a:spcPct val="0"/>
              </a:spcBef>
              <a:spcAft>
                <a:spcPct val="0"/>
              </a:spcAft>
              <a:buNone/>
            </a:pPr>
            <a:r>
              <a:rPr lang="en-US" altLang="en-US" sz="2000" dirty="0"/>
              <a:t>C-6 Minimal development time required</a:t>
            </a:r>
          </a:p>
          <a:p>
            <a:pPr marL="0" indent="0">
              <a:lnSpc>
                <a:spcPct val="100000"/>
              </a:lnSpc>
              <a:spcBef>
                <a:spcPct val="0"/>
              </a:spcBef>
              <a:spcAft>
                <a:spcPct val="0"/>
              </a:spcAft>
              <a:buNone/>
            </a:pPr>
            <a:r>
              <a:rPr lang="en-US" altLang="en-US" sz="2000" dirty="0"/>
              <a:t>C-7 Simpler than existing process methods</a:t>
            </a:r>
          </a:p>
          <a:p>
            <a:pPr marL="0" indent="0">
              <a:lnSpc>
                <a:spcPct val="100000"/>
              </a:lnSpc>
              <a:spcBef>
                <a:spcPct val="0"/>
              </a:spcBef>
              <a:spcAft>
                <a:spcPct val="0"/>
              </a:spcAft>
              <a:buNone/>
            </a:pPr>
            <a:r>
              <a:rPr lang="en-US" altLang="en-US" sz="2000" dirty="0"/>
              <a:t>C-8 Easy autonomous maintenance, or maintenance free</a:t>
            </a:r>
          </a:p>
          <a:p>
            <a:pPr marL="0" indent="0">
              <a:lnSpc>
                <a:spcPct val="100000"/>
              </a:lnSpc>
              <a:spcBef>
                <a:spcPct val="0"/>
              </a:spcBef>
              <a:spcAft>
                <a:spcPct val="0"/>
              </a:spcAft>
              <a:buNone/>
            </a:pPr>
            <a:r>
              <a:rPr lang="en-US" altLang="en-US" sz="2000" dirty="0"/>
              <a:t>C-9 High ratio of value-added time in the process</a:t>
            </a:r>
          </a:p>
          <a:p>
            <a:pPr marL="0" indent="0">
              <a:lnSpc>
                <a:spcPct val="100000"/>
              </a:lnSpc>
              <a:spcBef>
                <a:spcPct val="0"/>
              </a:spcBef>
              <a:spcAft>
                <a:spcPct val="0"/>
              </a:spcAft>
              <a:buNone/>
            </a:pPr>
            <a:r>
              <a:rPr lang="en-US" altLang="en-US" sz="2000" dirty="0"/>
              <a:t>C-10 Low tooling cost</a:t>
            </a:r>
          </a:p>
          <a:p>
            <a:pPr marL="0" indent="0">
              <a:lnSpc>
                <a:spcPct val="100000"/>
              </a:lnSpc>
              <a:spcBef>
                <a:spcPct val="0"/>
              </a:spcBef>
              <a:spcAft>
                <a:spcPct val="0"/>
              </a:spcAft>
              <a:buNone/>
            </a:pPr>
            <a:r>
              <a:rPr lang="en-US" altLang="en-US" sz="2000" dirty="0"/>
              <a:t>C-11 Low toolroom maintenance</a:t>
            </a:r>
          </a:p>
          <a:p>
            <a:pPr marL="0" indent="0">
              <a:lnSpc>
                <a:spcPct val="100000"/>
              </a:lnSpc>
              <a:spcBef>
                <a:spcPct val="0"/>
              </a:spcBef>
              <a:spcAft>
                <a:spcPct val="0"/>
              </a:spcAft>
              <a:buNone/>
            </a:pPr>
            <a:r>
              <a:rPr lang="en-US" altLang="en-US" sz="2000" dirty="0"/>
              <a:t>D-1 Suitable for estimated volumes</a:t>
            </a:r>
          </a:p>
          <a:p>
            <a:pPr marL="0" indent="0">
              <a:lnSpc>
                <a:spcPct val="100000"/>
              </a:lnSpc>
              <a:spcBef>
                <a:spcPct val="0"/>
              </a:spcBef>
              <a:spcAft>
                <a:spcPct val="0"/>
              </a:spcAft>
              <a:buNone/>
            </a:pPr>
            <a:r>
              <a:rPr lang="en-US" altLang="en-US" sz="2000" dirty="0"/>
              <a:t>D-2 Volumes easily scalable up by 400% or down to 25%</a:t>
            </a:r>
          </a:p>
        </p:txBody>
      </p:sp>
      <p:grpSp>
        <p:nvGrpSpPr>
          <p:cNvPr id="5" name="Group 4">
            <a:extLst>
              <a:ext uri="{FF2B5EF4-FFF2-40B4-BE49-F238E27FC236}">
                <a16:creationId xmlns:a16="http://schemas.microsoft.com/office/drawing/2014/main" id="{BF41ECDB-92CC-67C7-7B96-03EB64B7D05E}"/>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C7A7821B-379C-DED3-89D5-52FA32F2891B}"/>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06ECD71A-3065-7DD4-39FD-5DC93B6D4B34}"/>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9">
                <a:extLst>
                  <a:ext uri="{FF2B5EF4-FFF2-40B4-BE49-F238E27FC236}">
                    <a16:creationId xmlns:a16="http://schemas.microsoft.com/office/drawing/2014/main" id="{2E808EAA-54C7-20BA-05E3-71CB741256F8}"/>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548E74AF-E91A-7CA4-A510-A0E2320CE449}"/>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B1D7D45B-7108-AA71-879F-7545BB272030}"/>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C7CF71E2-5572-8AE7-3234-A21AA8AABFE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58404142-BDE3-D165-D534-69A27317EB60}"/>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81226F41-275A-EC86-6B7F-46A0B6047D64}"/>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spTree>
    <p:extLst>
      <p:ext uri="{BB962C8B-B14F-4D97-AF65-F5344CB8AC3E}">
        <p14:creationId xmlns:p14="http://schemas.microsoft.com/office/powerpoint/2010/main" val="13031476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Top 2-3 Alternatives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process to down select to top 2-3 Alternatives.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sub-teams, complete the following activities: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Sub-team creates prototypes for each of the 7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sub-team develop rating criteria and ranking system for Top 2-3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Rate and rank each prototype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Select Top 2-3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Refine Process-At-A-Glance for Top 2-3 Alternatives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the Top 2-3 Alternatives</a:t>
            </a:r>
          </a:p>
        </p:txBody>
      </p:sp>
      <p:grpSp>
        <p:nvGrpSpPr>
          <p:cNvPr id="21" name="Group 20">
            <a:extLst>
              <a:ext uri="{FF2B5EF4-FFF2-40B4-BE49-F238E27FC236}">
                <a16:creationId xmlns:a16="http://schemas.microsoft.com/office/drawing/2014/main" id="{1FB05B03-C8F5-B6AD-5AEF-B0405F5360A1}"/>
              </a:ext>
            </a:extLst>
          </p:cNvPr>
          <p:cNvGrpSpPr/>
          <p:nvPr/>
        </p:nvGrpSpPr>
        <p:grpSpPr>
          <a:xfrm>
            <a:off x="838200" y="297639"/>
            <a:ext cx="5257799" cy="307138"/>
            <a:chOff x="838200" y="297639"/>
            <a:chExt cx="5257799" cy="307138"/>
          </a:xfrm>
        </p:grpSpPr>
        <p:grpSp>
          <p:nvGrpSpPr>
            <p:cNvPr id="22" name="Group 21">
              <a:extLst>
                <a:ext uri="{FF2B5EF4-FFF2-40B4-BE49-F238E27FC236}">
                  <a16:creationId xmlns:a16="http://schemas.microsoft.com/office/drawing/2014/main" id="{9E0B60D6-82AD-FACE-0E0A-D8CDBFFE41E0}"/>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182AE687-1215-4B38-C8B1-33EAC3163AB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A48C59BF-2BCC-688A-EAAC-50FAA47C283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6" name="Group 25">
                <a:extLst>
                  <a:ext uri="{FF2B5EF4-FFF2-40B4-BE49-F238E27FC236}">
                    <a16:creationId xmlns:a16="http://schemas.microsoft.com/office/drawing/2014/main" id="{4CF3F3C8-C062-3C60-D2C1-5EA82ACF2EFE}"/>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5A360EC1-D8AB-C6D5-5C13-53F114F933A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39F348DB-ACA7-9A36-0470-417CBD4CADC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0E3ABF4B-5E69-8C15-2041-E149E025AD8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0776873D-0D86-11C6-2AB5-7B8FDDF8F11C}"/>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spTree>
    <p:extLst>
      <p:ext uri="{BB962C8B-B14F-4D97-AF65-F5344CB8AC3E}">
        <p14:creationId xmlns:p14="http://schemas.microsoft.com/office/powerpoint/2010/main" val="330107160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99</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Selecting the Top Alternative</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Continue to refine “</a:t>
            </a:r>
            <a:r>
              <a:rPr lang="en-US" sz="2400" dirty="0" err="1"/>
              <a:t>trystorming</a:t>
            </a:r>
            <a:r>
              <a:rPr lang="en-US" sz="2400" dirty="0"/>
              <a:t>” prototypes</a:t>
            </a:r>
          </a:p>
          <a:p>
            <a:r>
              <a:rPr lang="en-US" sz="2400" dirty="0"/>
              <a:t>Combine with other sub-teams as needed to combine ideas to create final result</a:t>
            </a:r>
          </a:p>
          <a:p>
            <a:r>
              <a:rPr lang="en-US" sz="2400" dirty="0"/>
              <a:t>Refine final Alternative and Process-At-A-Glance Form</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Plan to</a:t>
              </a:r>
              <a:b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Sketch and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Evaluate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17125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Creating the Top Alternative</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process to down select to Top Alternative.</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R="0" algn="l" defTabSz="584200" rtl="0" fontAlgn="auto" latinLnBrk="0" hangingPunct="0">
              <a:lnSpc>
                <a:spcPct val="100000"/>
              </a:lnSpc>
              <a:spcBef>
                <a:spcPts val="0"/>
              </a:spcBef>
              <a:spcAft>
                <a:spcPts val="0"/>
              </a:spcAft>
              <a:buClrTx/>
              <a:buSzTx/>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the sub-teams, complete the following activities: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Sub-team refines prototypes for top 2-3 Alternatives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rating and ranking of prototypes</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Combine with other sub-teams as needed to create the Top Alternative</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final prototype and Process At A Glance Form</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sz="15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Report-out to other sub-teams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Provided by facilitator</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the Final 1 Alternative to other sub-teams</a:t>
            </a:r>
          </a:p>
        </p:txBody>
      </p:sp>
      <p:grpSp>
        <p:nvGrpSpPr>
          <p:cNvPr id="21" name="Group 20">
            <a:extLst>
              <a:ext uri="{FF2B5EF4-FFF2-40B4-BE49-F238E27FC236}">
                <a16:creationId xmlns:a16="http://schemas.microsoft.com/office/drawing/2014/main" id="{1FB05B03-C8F5-B6AD-5AEF-B0405F5360A1}"/>
              </a:ext>
            </a:extLst>
          </p:cNvPr>
          <p:cNvGrpSpPr/>
          <p:nvPr/>
        </p:nvGrpSpPr>
        <p:grpSpPr>
          <a:xfrm>
            <a:off x="838200" y="297639"/>
            <a:ext cx="5257799" cy="307138"/>
            <a:chOff x="838200" y="297639"/>
            <a:chExt cx="5257799" cy="307138"/>
          </a:xfrm>
        </p:grpSpPr>
        <p:grpSp>
          <p:nvGrpSpPr>
            <p:cNvPr id="22" name="Group 21">
              <a:extLst>
                <a:ext uri="{FF2B5EF4-FFF2-40B4-BE49-F238E27FC236}">
                  <a16:creationId xmlns:a16="http://schemas.microsoft.com/office/drawing/2014/main" id="{9E0B60D6-82AD-FACE-0E0A-D8CDBFFE41E0}"/>
                </a:ext>
              </a:extLst>
            </p:cNvPr>
            <p:cNvGrpSpPr/>
            <p:nvPr/>
          </p:nvGrpSpPr>
          <p:grpSpPr>
            <a:xfrm>
              <a:off x="838200" y="297639"/>
              <a:ext cx="1687517" cy="290657"/>
              <a:chOff x="838200" y="297639"/>
              <a:chExt cx="1687517" cy="290657"/>
            </a:xfrm>
          </p:grpSpPr>
          <p:sp>
            <p:nvSpPr>
              <p:cNvPr id="24" name="AutoShape 9">
                <a:extLst>
                  <a:ext uri="{FF2B5EF4-FFF2-40B4-BE49-F238E27FC236}">
                    <a16:creationId xmlns:a16="http://schemas.microsoft.com/office/drawing/2014/main" id="{182AE687-1215-4B38-C8B1-33EAC3163AB8}"/>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9">
                <a:extLst>
                  <a:ext uri="{FF2B5EF4-FFF2-40B4-BE49-F238E27FC236}">
                    <a16:creationId xmlns:a16="http://schemas.microsoft.com/office/drawing/2014/main" id="{A48C59BF-2BCC-688A-EAAC-50FAA47C2830}"/>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26" name="Group 25">
                <a:extLst>
                  <a:ext uri="{FF2B5EF4-FFF2-40B4-BE49-F238E27FC236}">
                    <a16:creationId xmlns:a16="http://schemas.microsoft.com/office/drawing/2014/main" id="{4CF3F3C8-C062-3C60-D2C1-5EA82ACF2EFE}"/>
                  </a:ext>
                </a:extLst>
              </p:cNvPr>
              <p:cNvGrpSpPr/>
              <p:nvPr/>
            </p:nvGrpSpPr>
            <p:grpSpPr>
              <a:xfrm>
                <a:off x="838200" y="297639"/>
                <a:ext cx="1060167" cy="290657"/>
                <a:chOff x="826426" y="4041857"/>
                <a:chExt cx="1060167" cy="290657"/>
              </a:xfrm>
            </p:grpSpPr>
            <p:sp>
              <p:nvSpPr>
                <p:cNvPr id="27" name="AutoShape 9">
                  <a:extLst>
                    <a:ext uri="{FF2B5EF4-FFF2-40B4-BE49-F238E27FC236}">
                      <a16:creationId xmlns:a16="http://schemas.microsoft.com/office/drawing/2014/main" id="{5A360EC1-D8AB-C6D5-5C13-53F114F933A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8" name="AutoShape 11">
                  <a:extLst>
                    <a:ext uri="{FF2B5EF4-FFF2-40B4-BE49-F238E27FC236}">
                      <a16:creationId xmlns:a16="http://schemas.microsoft.com/office/drawing/2014/main" id="{39F348DB-ACA7-9A36-0470-417CBD4CADC5}"/>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9" name="AutoShape 10">
                  <a:extLst>
                    <a:ext uri="{FF2B5EF4-FFF2-40B4-BE49-F238E27FC236}">
                      <a16:creationId xmlns:a16="http://schemas.microsoft.com/office/drawing/2014/main" id="{0E3ABF4B-5E69-8C15-2041-E149E025AD8D}"/>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23" name="TextBox 22">
              <a:extLst>
                <a:ext uri="{FF2B5EF4-FFF2-40B4-BE49-F238E27FC236}">
                  <a16:creationId xmlns:a16="http://schemas.microsoft.com/office/drawing/2014/main" id="{0776873D-0D86-11C6-2AB5-7B8FDDF8F11C}"/>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spTree>
    <p:extLst>
      <p:ext uri="{BB962C8B-B14F-4D97-AF65-F5344CB8AC3E}">
        <p14:creationId xmlns:p14="http://schemas.microsoft.com/office/powerpoint/2010/main" val="356665347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Process At A Glance Form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101</a:t>
            </a:fld>
            <a:endParaRPr lang="en-US"/>
          </a:p>
        </p:txBody>
      </p:sp>
      <p:grpSp>
        <p:nvGrpSpPr>
          <p:cNvPr id="3" name="Group 2">
            <a:extLst>
              <a:ext uri="{FF2B5EF4-FFF2-40B4-BE49-F238E27FC236}">
                <a16:creationId xmlns:a16="http://schemas.microsoft.com/office/drawing/2014/main" id="{0A009B88-FE47-489E-9BE8-B813FE492898}"/>
              </a:ext>
            </a:extLst>
          </p:cNvPr>
          <p:cNvGrpSpPr/>
          <p:nvPr/>
        </p:nvGrpSpPr>
        <p:grpSpPr>
          <a:xfrm>
            <a:off x="838200" y="297639"/>
            <a:ext cx="5257799" cy="307138"/>
            <a:chOff x="838200" y="297639"/>
            <a:chExt cx="5257799" cy="307138"/>
          </a:xfrm>
        </p:grpSpPr>
        <p:grpSp>
          <p:nvGrpSpPr>
            <p:cNvPr id="14" name="Group 13">
              <a:extLst>
                <a:ext uri="{FF2B5EF4-FFF2-40B4-BE49-F238E27FC236}">
                  <a16:creationId xmlns:a16="http://schemas.microsoft.com/office/drawing/2014/main" id="{82BE1494-1498-5514-3DA2-610F58122485}"/>
                </a:ext>
              </a:extLst>
            </p:cNvPr>
            <p:cNvGrpSpPr/>
            <p:nvPr/>
          </p:nvGrpSpPr>
          <p:grpSpPr>
            <a:xfrm>
              <a:off x="838200" y="297639"/>
              <a:ext cx="1687517" cy="290657"/>
              <a:chOff x="838200" y="297639"/>
              <a:chExt cx="1687517" cy="290657"/>
            </a:xfrm>
          </p:grpSpPr>
          <p:sp>
            <p:nvSpPr>
              <p:cNvPr id="17" name="AutoShape 9">
                <a:extLst>
                  <a:ext uri="{FF2B5EF4-FFF2-40B4-BE49-F238E27FC236}">
                    <a16:creationId xmlns:a16="http://schemas.microsoft.com/office/drawing/2014/main" id="{FF5E1841-1A77-AEB5-D844-80B62F33FC1A}"/>
                  </a:ext>
                </a:extLst>
              </p:cNvPr>
              <p:cNvSpPr>
                <a:spLocks noChangeArrowheads="1"/>
              </p:cNvSpPr>
              <p:nvPr/>
            </p:nvSpPr>
            <p:spPr bwMode="auto">
              <a:xfrm>
                <a:off x="2092900"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8" name="AutoShape 9">
                <a:extLst>
                  <a:ext uri="{FF2B5EF4-FFF2-40B4-BE49-F238E27FC236}">
                    <a16:creationId xmlns:a16="http://schemas.microsoft.com/office/drawing/2014/main" id="{94F6E4B7-9CB5-6D18-45AA-68486008E214}"/>
                  </a:ext>
                </a:extLst>
              </p:cNvPr>
              <p:cNvSpPr>
                <a:spLocks noChangeArrowheads="1"/>
              </p:cNvSpPr>
              <p:nvPr/>
            </p:nvSpPr>
            <p:spPr bwMode="auto">
              <a:xfrm>
                <a:off x="1779225"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9" name="Group 18">
                <a:extLst>
                  <a:ext uri="{FF2B5EF4-FFF2-40B4-BE49-F238E27FC236}">
                    <a16:creationId xmlns:a16="http://schemas.microsoft.com/office/drawing/2014/main" id="{ADBC43E3-AD06-A42F-BD23-7AA5D2D20FF1}"/>
                  </a:ext>
                </a:extLst>
              </p:cNvPr>
              <p:cNvGrpSpPr/>
              <p:nvPr/>
            </p:nvGrpSpPr>
            <p:grpSpPr>
              <a:xfrm>
                <a:off x="838200" y="297639"/>
                <a:ext cx="1060167" cy="290657"/>
                <a:chOff x="826426" y="4041857"/>
                <a:chExt cx="1060167" cy="290657"/>
              </a:xfrm>
            </p:grpSpPr>
            <p:sp>
              <p:nvSpPr>
                <p:cNvPr id="20" name="AutoShape 9">
                  <a:extLst>
                    <a:ext uri="{FF2B5EF4-FFF2-40B4-BE49-F238E27FC236}">
                      <a16:creationId xmlns:a16="http://schemas.microsoft.com/office/drawing/2014/main" id="{F791F8B5-08B8-D25E-A86A-5E2B5CBF61BD}"/>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1" name="AutoShape 11">
                  <a:extLst>
                    <a:ext uri="{FF2B5EF4-FFF2-40B4-BE49-F238E27FC236}">
                      <a16:creationId xmlns:a16="http://schemas.microsoft.com/office/drawing/2014/main" id="{76E6B669-D6EC-B1F2-EBA8-1BBD02AB0109}"/>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2" name="AutoShape 10">
                  <a:extLst>
                    <a:ext uri="{FF2B5EF4-FFF2-40B4-BE49-F238E27FC236}">
                      <a16:creationId xmlns:a16="http://schemas.microsoft.com/office/drawing/2014/main" id="{3D7A34C8-AFDD-D329-F98C-26B06ECF5B57}"/>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15" name="TextBox 14">
              <a:extLst>
                <a:ext uri="{FF2B5EF4-FFF2-40B4-BE49-F238E27FC236}">
                  <a16:creationId xmlns:a16="http://schemas.microsoft.com/office/drawing/2014/main" id="{4F61B8C8-800F-AE99-8433-EB777B4AABF4}"/>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Prototype</a:t>
              </a:r>
            </a:p>
          </p:txBody>
        </p:sp>
      </p:grpSp>
      <p:pic>
        <p:nvPicPr>
          <p:cNvPr id="24" name="Picture 2">
            <a:extLst>
              <a:ext uri="{FF2B5EF4-FFF2-40B4-BE49-F238E27FC236}">
                <a16:creationId xmlns:a16="http://schemas.microsoft.com/office/drawing/2014/main" id="{D0E46CCB-B455-8674-5008-DFC780C1C88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347979" y="1825625"/>
            <a:ext cx="9496043"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795316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DF11FF7-095F-D1A9-6784-C53D538A36FF}"/>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102</a:t>
            </a:fld>
            <a:endParaRPr lang="en-US"/>
          </a:p>
        </p:txBody>
      </p:sp>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Autofit/>
          </a:bodyPr>
          <a:lstStyle/>
          <a:p>
            <a:r>
              <a:rPr lang="en-US" sz="3200" dirty="0">
                <a:latin typeface="Roboto Medium"/>
                <a:ea typeface="Roboto Medium"/>
                <a:cs typeface="Roboto Medium"/>
              </a:rPr>
              <a:t>3P Implementation Plan</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sz="2400" dirty="0"/>
              <a:t>Create project plan</a:t>
            </a:r>
          </a:p>
          <a:p>
            <a:r>
              <a:rPr lang="en-US" sz="2400" dirty="0"/>
              <a:t>Create concepts and shop drawings for fixtures and tooling</a:t>
            </a:r>
          </a:p>
          <a:p>
            <a:r>
              <a:rPr lang="en-US" sz="2400" dirty="0"/>
              <a:t>Prepare key elements of Implementation Plan</a:t>
            </a:r>
          </a:p>
          <a:p>
            <a:r>
              <a:rPr lang="en-US" sz="2400" dirty="0"/>
              <a:t>Prepare final report-out for 3P Event</a:t>
            </a:r>
          </a:p>
        </p:txBody>
      </p:sp>
      <p:grpSp>
        <p:nvGrpSpPr>
          <p:cNvPr id="11" name="Group 10">
            <a:extLst>
              <a:ext uri="{FF2B5EF4-FFF2-40B4-BE49-F238E27FC236}">
                <a16:creationId xmlns:a16="http://schemas.microsoft.com/office/drawing/2014/main" id="{DCC7CB02-4F0E-2CE8-9EF1-D9AEB4FA2691}"/>
              </a:ext>
            </a:extLst>
          </p:cNvPr>
          <p:cNvGrpSpPr/>
          <p:nvPr/>
        </p:nvGrpSpPr>
        <p:grpSpPr>
          <a:xfrm>
            <a:off x="699911" y="837133"/>
            <a:ext cx="7273624" cy="659879"/>
            <a:chOff x="699911" y="1069861"/>
            <a:chExt cx="7273624" cy="350130"/>
          </a:xfrm>
        </p:grpSpPr>
        <p:sp>
          <p:nvSpPr>
            <p:cNvPr id="5" name="AutoShape 9">
              <a:extLst>
                <a:ext uri="{FF2B5EF4-FFF2-40B4-BE49-F238E27FC236}">
                  <a16:creationId xmlns:a16="http://schemas.microsoft.com/office/drawing/2014/main" id="{A10A2475-FBAF-2DA7-EE48-9E0556DB3824}"/>
                </a:ext>
              </a:extLst>
            </p:cNvPr>
            <p:cNvSpPr>
              <a:spLocks noChangeArrowheads="1"/>
            </p:cNvSpPr>
            <p:nvPr/>
          </p:nvSpPr>
          <p:spPr bwMode="auto">
            <a:xfrm>
              <a:off x="6395259" y="1069861"/>
              <a:ext cx="1578276" cy="350130"/>
            </a:xfrm>
            <a:prstGeom prst="homePlate">
              <a:avLst>
                <a:gd name="adj" fmla="val 29912"/>
              </a:avLst>
            </a:prstGeom>
            <a:solidFill>
              <a:srgbClr val="FFB627"/>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Plan to</a:t>
              </a:r>
              <a:br>
                <a:rPr lang="en-US" altLang="en-US" sz="1200" dirty="0">
                  <a:latin typeface="Roboto" panose="02000000000000000000" pitchFamily="2" charset="0"/>
                  <a:ea typeface="Roboto" panose="02000000000000000000" pitchFamily="2" charset="0"/>
                </a:rPr>
              </a:br>
              <a:r>
                <a:rPr lang="en-US" altLang="en-US" sz="1200" dirty="0">
                  <a:latin typeface="Roboto" panose="02000000000000000000" pitchFamily="2" charset="0"/>
                  <a:ea typeface="Roboto" panose="02000000000000000000" pitchFamily="2" charset="0"/>
                </a:rPr>
                <a:t>Implement</a:t>
              </a:r>
            </a:p>
          </p:txBody>
        </p:sp>
        <p:sp>
          <p:nvSpPr>
            <p:cNvPr id="4" name="AutoShape 9">
              <a:extLst>
                <a:ext uri="{FF2B5EF4-FFF2-40B4-BE49-F238E27FC236}">
                  <a16:creationId xmlns:a16="http://schemas.microsoft.com/office/drawing/2014/main" id="{663C2CC0-8818-6B25-BBA3-89708896610A}"/>
                </a:ext>
              </a:extLst>
            </p:cNvPr>
            <p:cNvSpPr>
              <a:spLocks noChangeArrowheads="1"/>
            </p:cNvSpPr>
            <p:nvPr/>
          </p:nvSpPr>
          <p:spPr bwMode="auto">
            <a:xfrm>
              <a:off x="4971710" y="1069861"/>
              <a:ext cx="1578276" cy="350130"/>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Prototype</a:t>
              </a:r>
            </a:p>
          </p:txBody>
        </p:sp>
        <p:grpSp>
          <p:nvGrpSpPr>
            <p:cNvPr id="10" name="Group 9">
              <a:extLst>
                <a:ext uri="{FF2B5EF4-FFF2-40B4-BE49-F238E27FC236}">
                  <a16:creationId xmlns:a16="http://schemas.microsoft.com/office/drawing/2014/main" id="{DF07BA82-F1D2-01EE-36D7-0CE1E1021337}"/>
                </a:ext>
              </a:extLst>
            </p:cNvPr>
            <p:cNvGrpSpPr/>
            <p:nvPr/>
          </p:nvGrpSpPr>
          <p:grpSpPr>
            <a:xfrm>
              <a:off x="699911" y="1069861"/>
              <a:ext cx="4425950" cy="350130"/>
              <a:chOff x="5627530" y="641179"/>
              <a:chExt cx="6564470" cy="804977"/>
            </a:xfrm>
          </p:grpSpPr>
          <p:sp>
            <p:nvSpPr>
              <p:cNvPr id="7" name="AutoShape 9">
                <a:extLst>
                  <a:ext uri="{FF2B5EF4-FFF2-40B4-BE49-F238E27FC236}">
                    <a16:creationId xmlns:a16="http://schemas.microsoft.com/office/drawing/2014/main" id="{E658DE7F-EAE7-7BD9-8492-805CBFCFF7F5}"/>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Sketch and</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Evaluate</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Alternatives</a:t>
                </a:r>
              </a:p>
            </p:txBody>
          </p:sp>
          <p:sp>
            <p:nvSpPr>
              <p:cNvPr id="8" name="AutoShape 10">
                <a:extLst>
                  <a:ext uri="{FF2B5EF4-FFF2-40B4-BE49-F238E27FC236}">
                    <a16:creationId xmlns:a16="http://schemas.microsoft.com/office/drawing/2014/main" id="{3B341166-AC1F-8D30-9314-0FB3D948387F}"/>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Examples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from Nature etc.</a:t>
                </a:r>
              </a:p>
            </p:txBody>
          </p:sp>
          <p:sp>
            <p:nvSpPr>
              <p:cNvPr id="9" name="AutoShape 11">
                <a:extLst>
                  <a:ext uri="{FF2B5EF4-FFF2-40B4-BE49-F238E27FC236}">
                    <a16:creationId xmlns:a16="http://schemas.microsoft.com/office/drawing/2014/main" id="{2AB16F46-B5FA-96F3-91C2-07B2F2F1CC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Needs</a:t>
                </a:r>
                <a:br>
                  <a:rPr lang="en-US" altLang="en-US" sz="1200" dirty="0">
                    <a:solidFill>
                      <a:schemeClr val="bg1"/>
                    </a:solidFill>
                    <a:latin typeface="Roboto" panose="02000000000000000000" pitchFamily="2" charset="0"/>
                    <a:ea typeface="Roboto" panose="02000000000000000000" pitchFamily="2" charset="0"/>
                  </a:rPr>
                </a:br>
                <a:r>
                  <a:rPr lang="en-US" altLang="en-US" sz="1200" dirty="0">
                    <a:solidFill>
                      <a:schemeClr val="bg1"/>
                    </a:solidFill>
                    <a:latin typeface="Roboto" panose="02000000000000000000" pitchFamily="2" charset="0"/>
                    <a:ea typeface="Roboto" panose="02000000000000000000" pitchFamily="2" charset="0"/>
                  </a:rPr>
                  <a:t>and Objectives</a:t>
                </a:r>
              </a:p>
            </p:txBody>
          </p:sp>
        </p:grpSp>
      </p:gr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92930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t>3P Process</a:t>
            </a:r>
            <a:endParaRPr lang="en-US"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103</a:t>
            </a:fld>
            <a:endParaRPr lang="en-US"/>
          </a:p>
        </p:txBody>
      </p:sp>
      <p:graphicFrame>
        <p:nvGraphicFramePr>
          <p:cNvPr id="271" name="Group 221">
            <a:extLst>
              <a:ext uri="{FF2B5EF4-FFF2-40B4-BE49-F238E27FC236}">
                <a16:creationId xmlns:a16="http://schemas.microsoft.com/office/drawing/2014/main" id="{6DE6077C-68BF-0756-E958-78FE233351AD}"/>
              </a:ext>
            </a:extLst>
          </p:cNvPr>
          <p:cNvGraphicFramePr>
            <a:graphicFrameLocks noGrp="1"/>
          </p:cNvGraphicFramePr>
          <p:nvPr/>
        </p:nvGraphicFramePr>
        <p:xfrm>
          <a:off x="978060" y="1862781"/>
          <a:ext cx="9705372" cy="4314182"/>
        </p:xfrm>
        <a:graphic>
          <a:graphicData uri="http://schemas.openxmlformats.org/drawingml/2006/table">
            <a:tbl>
              <a:tblPr/>
              <a:tblGrid>
                <a:gridCol w="3235124">
                  <a:extLst>
                    <a:ext uri="{9D8B030D-6E8A-4147-A177-3AD203B41FA5}">
                      <a16:colId xmlns:a16="http://schemas.microsoft.com/office/drawing/2014/main" val="20000"/>
                    </a:ext>
                  </a:extLst>
                </a:gridCol>
                <a:gridCol w="3235124">
                  <a:extLst>
                    <a:ext uri="{9D8B030D-6E8A-4147-A177-3AD203B41FA5}">
                      <a16:colId xmlns:a16="http://schemas.microsoft.com/office/drawing/2014/main" val="20001"/>
                    </a:ext>
                  </a:extLst>
                </a:gridCol>
                <a:gridCol w="3235124">
                  <a:extLst>
                    <a:ext uri="{9D8B030D-6E8A-4147-A177-3AD203B41FA5}">
                      <a16:colId xmlns:a16="http://schemas.microsoft.com/office/drawing/2014/main" val="20002"/>
                    </a:ext>
                  </a:extLst>
                </a:gridCol>
              </a:tblGrid>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13 – Team refines Top Alternative.</a:t>
                      </a: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14 – Team completes Process At A Glance form for Top Alternative</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15 – Team prepares Implementation Plan.</a:t>
                      </a: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74998">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132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12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4912">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16 – Present to Leadership.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17 – Select builder &amp; prepare fixture and tooling drawings.</a:t>
                      </a: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r>
                        <a:rPr kumimoji="0" lang="en-US" altLang="en-US" sz="1200" b="0"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rPr>
                        <a:t>18 – Install, qualify, ramp up.</a:t>
                      </a:r>
                      <a:endParaRPr kumimoji="0" lang="en-US" altLang="en-US" sz="24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66881">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ts val="1000"/>
                        </a:spcBef>
                        <a:spcAft>
                          <a:spcPts val="1000"/>
                        </a:spcAft>
                        <a:buClr>
                          <a:srgbClr val="006699"/>
                        </a:buClr>
                        <a:buSzPct val="90000"/>
                        <a:buFont typeface="Wingdings" panose="05000000000000000000" pitchFamily="2" charset="2"/>
                        <a:defRPr sz="1600" b="1">
                          <a:solidFill>
                            <a:schemeClr val="tx1"/>
                          </a:solidFill>
                          <a:latin typeface="Arial" panose="020B0604020202020204" pitchFamily="34" charset="0"/>
                          <a:ea typeface="MS PGothic"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anose="05000000000000000000" pitchFamily="2" charset="2"/>
                        <a:defRPr sz="1400" b="1">
                          <a:solidFill>
                            <a:schemeClr val="tx1"/>
                          </a:solidFill>
                          <a:latin typeface="Arial" panose="020B0604020202020204" pitchFamily="34" charset="0"/>
                          <a:ea typeface="MS PGothic"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anose="05000000000000000000" pitchFamily="2" charset="2"/>
                        <a:defRPr sz="1200" b="1">
                          <a:solidFill>
                            <a:schemeClr val="tx1"/>
                          </a:solidFill>
                          <a:latin typeface="Arial" panose="020B0604020202020204" pitchFamily="34" charset="0"/>
                          <a:ea typeface="MS PGothic"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MS PGothic"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MS PGothic" panose="020B0600070205080204" pitchFamily="34" charset="-128"/>
                        </a:defRPr>
                      </a:lvl9pPr>
                    </a:lstStyle>
                    <a:p>
                      <a:pPr marL="0" marR="0" lvl="0" indent="0" algn="l" defTabSz="914400" rtl="0" eaLnBrk="1" fontAlgn="base" latinLnBrk="0" hangingPunct="1">
                        <a:lnSpc>
                          <a:spcPct val="115000"/>
                        </a:lnSpc>
                        <a:spcBef>
                          <a:spcPct val="50000"/>
                        </a:spcBef>
                        <a:spcAft>
                          <a:spcPct val="50000"/>
                        </a:spcAft>
                        <a:buClr>
                          <a:srgbClr val="006699"/>
                        </a:buClr>
                        <a:buSzPct val="90000"/>
                        <a:buFont typeface="Wingdings" panose="05000000000000000000" pitchFamily="2" charset="2"/>
                        <a:buNone/>
                        <a:tabLst/>
                      </a:pPr>
                      <a:endParaRPr kumimoji="0" lang="en-US" altLang="en-US" sz="2800" b="1" i="0" u="none" strike="noStrike" cap="none" normalizeH="0" baseline="0" dirty="0">
                        <a:ln>
                          <a:noFill/>
                        </a:ln>
                        <a:solidFill>
                          <a:schemeClr val="tx1"/>
                        </a:solidFill>
                        <a:effectLst/>
                        <a:latin typeface="Arial" panose="020B0604020202020204" pitchFamily="34" charset="0"/>
                        <a:ea typeface="MS PGothic" panose="020B0600070205080204" pitchFamily="34" charset="-128"/>
                        <a:cs typeface="Arial" panose="020B0604020202020204" pitchFamily="34" charset="0"/>
                      </a:endParaRPr>
                    </a:p>
                  </a:txBody>
                  <a:tcPr marT="45712" marB="4571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pic>
        <p:nvPicPr>
          <p:cNvPr id="273" name="Picture 434" descr="MCj03499260000[1]">
            <a:extLst>
              <a:ext uri="{FF2B5EF4-FFF2-40B4-BE49-F238E27FC236}">
                <a16:creationId xmlns:a16="http://schemas.microsoft.com/office/drawing/2014/main" id="{FF383DAC-A258-682F-1862-D5166C480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2404318" y="3133946"/>
            <a:ext cx="202195" cy="153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3" name="Picture 485" descr="MCj03499260000[1]">
            <a:extLst>
              <a:ext uri="{FF2B5EF4-FFF2-40B4-BE49-F238E27FC236}">
                <a16:creationId xmlns:a16="http://schemas.microsoft.com/office/drawing/2014/main" id="{2B8D6A64-77CC-2D17-9184-C106C8593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559459" y="3177229"/>
            <a:ext cx="202195" cy="196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09" name="Group 608">
            <a:extLst>
              <a:ext uri="{FF2B5EF4-FFF2-40B4-BE49-F238E27FC236}">
                <a16:creationId xmlns:a16="http://schemas.microsoft.com/office/drawing/2014/main" id="{3E536F56-48A4-5602-20BA-5457D54B9C14}"/>
              </a:ext>
            </a:extLst>
          </p:cNvPr>
          <p:cNvGrpSpPr/>
          <p:nvPr/>
        </p:nvGrpSpPr>
        <p:grpSpPr>
          <a:xfrm>
            <a:off x="5421473" y="2580640"/>
            <a:ext cx="1277229" cy="711179"/>
            <a:chOff x="5421473" y="2872431"/>
            <a:chExt cx="735765" cy="419388"/>
          </a:xfrm>
        </p:grpSpPr>
        <p:grpSp>
          <p:nvGrpSpPr>
            <p:cNvPr id="385" name="Group 6">
              <a:extLst>
                <a:ext uri="{FF2B5EF4-FFF2-40B4-BE49-F238E27FC236}">
                  <a16:creationId xmlns:a16="http://schemas.microsoft.com/office/drawing/2014/main" id="{BB512CDB-67BE-212B-8801-F0C8E5F38BAF}"/>
                </a:ext>
              </a:extLst>
            </p:cNvPr>
            <p:cNvGrpSpPr>
              <a:grpSpLocks/>
            </p:cNvGrpSpPr>
            <p:nvPr/>
          </p:nvGrpSpPr>
          <p:grpSpPr bwMode="auto">
            <a:xfrm>
              <a:off x="5421473" y="2872431"/>
              <a:ext cx="735765" cy="419388"/>
              <a:chOff x="2895" y="992"/>
              <a:chExt cx="393" cy="287"/>
            </a:xfrm>
          </p:grpSpPr>
          <p:pic>
            <p:nvPicPr>
              <p:cNvPr id="386" name="Object 4">
                <a:extLst>
                  <a:ext uri="{FF2B5EF4-FFF2-40B4-BE49-F238E27FC236}">
                    <a16:creationId xmlns:a16="http://schemas.microsoft.com/office/drawing/2014/main" id="{907AD65F-CBB8-5D31-06AD-A5EFBA5B719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 y="992"/>
                <a:ext cx="389"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87" name="Rectangle 5">
                <a:extLst>
                  <a:ext uri="{FF2B5EF4-FFF2-40B4-BE49-F238E27FC236}">
                    <a16:creationId xmlns:a16="http://schemas.microsoft.com/office/drawing/2014/main" id="{062A16D8-48F8-DBC4-835B-BC7A23058E9F}"/>
                  </a:ext>
                </a:extLst>
              </p:cNvPr>
              <p:cNvSpPr>
                <a:spLocks noChangeArrowheads="1"/>
              </p:cNvSpPr>
              <p:nvPr/>
            </p:nvSpPr>
            <p:spPr bwMode="auto">
              <a:xfrm>
                <a:off x="2913" y="1006"/>
                <a:ext cx="375"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31750" tIns="17463" rIns="31750" bIns="17463"/>
              <a:lstStyle>
                <a:lvl1pPr marL="120650" indent="-120650" defTabSz="112713">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260350" indent="-25400" defTabSz="112713">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defTabSz="112713">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defTabSz="112713">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defTabSz="112713"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nSpc>
                    <a:spcPct val="100000"/>
                  </a:lnSpc>
                  <a:spcBef>
                    <a:spcPct val="20000"/>
                  </a:spcBef>
                  <a:spcAft>
                    <a:spcPct val="0"/>
                  </a:spcAft>
                  <a:buClr>
                    <a:srgbClr val="FC0128"/>
                  </a:buClr>
                  <a:buSzPct val="75000"/>
                  <a:buFont typeface="Monotype Sorts" pitchFamily="-84" charset="2"/>
                  <a:buChar char="u"/>
                </a:pPr>
                <a:r>
                  <a:rPr lang="en-US" altLang="en-US" sz="500" b="0" u="sng" dirty="0">
                    <a:cs typeface="Arial" panose="020B0604020202020204" pitchFamily="34" charset="0"/>
                  </a:rPr>
                  <a:t>Key Actions</a:t>
                </a: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a:p>
                <a:pPr lvl="1" eaLnBrk="1" hangingPunct="1">
                  <a:lnSpc>
                    <a:spcPct val="100000"/>
                  </a:lnSpc>
                  <a:spcBef>
                    <a:spcPct val="20000"/>
                  </a:spcBef>
                  <a:spcAft>
                    <a:spcPct val="0"/>
                  </a:spcAft>
                  <a:buClr>
                    <a:srgbClr val="00279F"/>
                  </a:buClr>
                  <a:buSzTx/>
                  <a:buFontTx/>
                  <a:buChar char="»"/>
                </a:pPr>
                <a:endParaRPr lang="en-US" altLang="en-US" sz="500" b="0" dirty="0">
                  <a:cs typeface="Arial" panose="020B0604020202020204" pitchFamily="34" charset="0"/>
                </a:endParaRPr>
              </a:p>
            </p:txBody>
          </p:sp>
        </p:grpSp>
        <p:sp>
          <p:nvSpPr>
            <p:cNvPr id="388" name="Rectangle 545">
              <a:extLst>
                <a:ext uri="{FF2B5EF4-FFF2-40B4-BE49-F238E27FC236}">
                  <a16:creationId xmlns:a16="http://schemas.microsoft.com/office/drawing/2014/main" id="{5C6DBBDA-AEE4-92D2-0E78-218F0524B725}"/>
                </a:ext>
              </a:extLst>
            </p:cNvPr>
            <p:cNvSpPr>
              <a:spLocks noChangeArrowheads="1"/>
            </p:cNvSpPr>
            <p:nvPr/>
          </p:nvSpPr>
          <p:spPr bwMode="auto">
            <a:xfrm>
              <a:off x="5550059" y="3024830"/>
              <a:ext cx="449323" cy="210424"/>
            </a:xfrm>
            <a:prstGeom prst="rect">
              <a:avLst/>
            </a:prstGeom>
            <a:solidFill>
              <a:schemeClr val="bg1"/>
            </a:solidFill>
            <a:ln w="9525">
              <a:solidFill>
                <a:schemeClr val="tx1"/>
              </a:solidFill>
              <a:miter lim="800000"/>
              <a:headEnd/>
              <a:tailEnd/>
            </a:ln>
          </p:spPr>
          <p:txBody>
            <a:bodyPr wrap="none" anchor="ctr"/>
            <a:lstStyle>
              <a:lvl1pPr>
                <a:lnSpc>
                  <a:spcPct val="115000"/>
                </a:lnSpc>
                <a:spcBef>
                  <a:spcPts val="1000"/>
                </a:spcBef>
                <a:spcAft>
                  <a:spcPts val="1000"/>
                </a:spcAft>
                <a:buClr>
                  <a:srgbClr val="006699"/>
                </a:buClr>
                <a:buSzPct val="90000"/>
                <a:buFont typeface="Wingdings" panose="05000000000000000000" pitchFamily="2" charset="2"/>
                <a:buChar char="§"/>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0"/>
                </a:spcBef>
                <a:spcAft>
                  <a:spcPct val="0"/>
                </a:spcAft>
                <a:buClrTx/>
                <a:buSzTx/>
                <a:buFontTx/>
                <a:buNone/>
              </a:pPr>
              <a:endParaRPr lang="en-US" altLang="en-US" sz="1800" b="0">
                <a:cs typeface="Arial" panose="020B0604020202020204" pitchFamily="34" charset="0"/>
              </a:endParaRPr>
            </a:p>
          </p:txBody>
        </p:sp>
        <p:sp>
          <p:nvSpPr>
            <p:cNvPr id="389" name="Line 546">
              <a:extLst>
                <a:ext uri="{FF2B5EF4-FFF2-40B4-BE49-F238E27FC236}">
                  <a16:creationId xmlns:a16="http://schemas.microsoft.com/office/drawing/2014/main" id="{1CFB4116-E8CD-C1F3-8B3E-39CA2BC8C9B4}"/>
                </a:ext>
              </a:extLst>
            </p:cNvPr>
            <p:cNvSpPr>
              <a:spLocks noChangeShapeType="1"/>
            </p:cNvSpPr>
            <p:nvPr/>
          </p:nvSpPr>
          <p:spPr bwMode="auto">
            <a:xfrm>
              <a:off x="56262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0" name="Line 547">
              <a:extLst>
                <a:ext uri="{FF2B5EF4-FFF2-40B4-BE49-F238E27FC236}">
                  <a16:creationId xmlns:a16="http://schemas.microsoft.com/office/drawing/2014/main" id="{83A1077A-6E04-1D1D-D8D7-6C6B3A314D52}"/>
                </a:ext>
              </a:extLst>
            </p:cNvPr>
            <p:cNvSpPr>
              <a:spLocks noChangeShapeType="1"/>
            </p:cNvSpPr>
            <p:nvPr/>
          </p:nvSpPr>
          <p:spPr bwMode="auto">
            <a:xfrm>
              <a:off x="57024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1" name="Line 548">
              <a:extLst>
                <a:ext uri="{FF2B5EF4-FFF2-40B4-BE49-F238E27FC236}">
                  <a16:creationId xmlns:a16="http://schemas.microsoft.com/office/drawing/2014/main" id="{28D818C6-011A-0D0D-7F79-FD1810615FB3}"/>
                </a:ext>
              </a:extLst>
            </p:cNvPr>
            <p:cNvSpPr>
              <a:spLocks noChangeShapeType="1"/>
            </p:cNvSpPr>
            <p:nvPr/>
          </p:nvSpPr>
          <p:spPr bwMode="auto">
            <a:xfrm>
              <a:off x="57786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2" name="Line 549">
              <a:extLst>
                <a:ext uri="{FF2B5EF4-FFF2-40B4-BE49-F238E27FC236}">
                  <a16:creationId xmlns:a16="http://schemas.microsoft.com/office/drawing/2014/main" id="{FAB42594-A84B-D015-B070-81901C639AF4}"/>
                </a:ext>
              </a:extLst>
            </p:cNvPr>
            <p:cNvSpPr>
              <a:spLocks noChangeShapeType="1"/>
            </p:cNvSpPr>
            <p:nvPr/>
          </p:nvSpPr>
          <p:spPr bwMode="auto">
            <a:xfrm>
              <a:off x="5854860" y="3024830"/>
              <a:ext cx="0" cy="2104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3" name="Line 550">
              <a:extLst>
                <a:ext uri="{FF2B5EF4-FFF2-40B4-BE49-F238E27FC236}">
                  <a16:creationId xmlns:a16="http://schemas.microsoft.com/office/drawing/2014/main" id="{A5141392-2589-E381-7947-C66DA00F3D36}"/>
                </a:ext>
              </a:extLst>
            </p:cNvPr>
            <p:cNvSpPr>
              <a:spLocks noChangeShapeType="1"/>
            </p:cNvSpPr>
            <p:nvPr/>
          </p:nvSpPr>
          <p:spPr bwMode="auto">
            <a:xfrm>
              <a:off x="5550059" y="3101030"/>
              <a:ext cx="44932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605" name="Picture 145">
            <a:extLst>
              <a:ext uri="{FF2B5EF4-FFF2-40B4-BE49-F238E27FC236}">
                <a16:creationId xmlns:a16="http://schemas.microsoft.com/office/drawing/2014/main" id="{B7849480-01D5-EBCC-432F-4F810AC14D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7537" y="2435300"/>
            <a:ext cx="1398210" cy="13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6" name="Picture 186" descr="site-builder-demo.png">
            <a:extLst>
              <a:ext uri="{FF2B5EF4-FFF2-40B4-BE49-F238E27FC236}">
                <a16:creationId xmlns:a16="http://schemas.microsoft.com/office/drawing/2014/main" id="{3138F3B3-E21B-8F16-F20A-DA237760262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414419" y="5078898"/>
            <a:ext cx="644029" cy="599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7" name="Picture 187" descr="install.gif">
            <a:extLst>
              <a:ext uri="{FF2B5EF4-FFF2-40B4-BE49-F238E27FC236}">
                <a16:creationId xmlns:a16="http://schemas.microsoft.com/office/drawing/2014/main" id="{EDE02B8F-ADB1-4DBE-5332-EE546A452CBA}"/>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741778" y="4898079"/>
            <a:ext cx="539187" cy="516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8" name="Picture 146" descr="C:\Users\Lawrence\Documents\Lean Sigma Supply Chain\lens.png">
            <a:extLst>
              <a:ext uri="{FF2B5EF4-FFF2-40B4-BE49-F238E27FC236}">
                <a16:creationId xmlns:a16="http://schemas.microsoft.com/office/drawing/2014/main" id="{F57732B7-06A4-B08F-50B6-FB9A47FC98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13179" y="5279080"/>
            <a:ext cx="902390" cy="67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0" name="Picture 609">
            <a:extLst>
              <a:ext uri="{FF2B5EF4-FFF2-40B4-BE49-F238E27FC236}">
                <a16:creationId xmlns:a16="http://schemas.microsoft.com/office/drawing/2014/main" id="{4CB0F27F-D6C9-6983-AAA2-609D3B1D72B4}"/>
              </a:ext>
            </a:extLst>
          </p:cNvPr>
          <p:cNvPicPr>
            <a:picLocks noChangeAspect="1"/>
          </p:cNvPicPr>
          <p:nvPr/>
        </p:nvPicPr>
        <p:blipFill>
          <a:blip r:embed="rId9"/>
          <a:stretch>
            <a:fillRect/>
          </a:stretch>
        </p:blipFill>
        <p:spPr>
          <a:xfrm>
            <a:off x="2083098" y="2820666"/>
            <a:ext cx="215900" cy="292100"/>
          </a:xfrm>
          <a:prstGeom prst="rect">
            <a:avLst/>
          </a:prstGeom>
        </p:spPr>
      </p:pic>
      <p:pic>
        <p:nvPicPr>
          <p:cNvPr id="611" name="Picture 610">
            <a:extLst>
              <a:ext uri="{FF2B5EF4-FFF2-40B4-BE49-F238E27FC236}">
                <a16:creationId xmlns:a16="http://schemas.microsoft.com/office/drawing/2014/main" id="{DB993799-707F-2D2B-3A3A-5DC653B6F162}"/>
              </a:ext>
            </a:extLst>
          </p:cNvPr>
          <p:cNvPicPr>
            <a:picLocks noChangeAspect="1"/>
          </p:cNvPicPr>
          <p:nvPr/>
        </p:nvPicPr>
        <p:blipFill>
          <a:blip r:embed="rId9"/>
          <a:stretch>
            <a:fillRect/>
          </a:stretch>
        </p:blipFill>
        <p:spPr>
          <a:xfrm>
            <a:off x="2349660" y="2769886"/>
            <a:ext cx="215900" cy="292100"/>
          </a:xfrm>
          <a:prstGeom prst="rect">
            <a:avLst/>
          </a:prstGeom>
        </p:spPr>
      </p:pic>
      <p:pic>
        <p:nvPicPr>
          <p:cNvPr id="612" name="Picture 611">
            <a:extLst>
              <a:ext uri="{FF2B5EF4-FFF2-40B4-BE49-F238E27FC236}">
                <a16:creationId xmlns:a16="http://schemas.microsoft.com/office/drawing/2014/main" id="{0E55AD34-F2DA-E2D6-00B6-DFA438BB35F2}"/>
              </a:ext>
            </a:extLst>
          </p:cNvPr>
          <p:cNvPicPr>
            <a:picLocks noChangeAspect="1"/>
          </p:cNvPicPr>
          <p:nvPr/>
        </p:nvPicPr>
        <p:blipFill>
          <a:blip r:embed="rId9"/>
          <a:stretch>
            <a:fillRect/>
          </a:stretch>
        </p:blipFill>
        <p:spPr>
          <a:xfrm>
            <a:off x="2096680" y="3133946"/>
            <a:ext cx="215900" cy="292100"/>
          </a:xfrm>
          <a:prstGeom prst="rect">
            <a:avLst/>
          </a:prstGeom>
        </p:spPr>
      </p:pic>
      <p:pic>
        <p:nvPicPr>
          <p:cNvPr id="613" name="Picture 612">
            <a:extLst>
              <a:ext uri="{FF2B5EF4-FFF2-40B4-BE49-F238E27FC236}">
                <a16:creationId xmlns:a16="http://schemas.microsoft.com/office/drawing/2014/main" id="{0BDE7A60-6189-717F-F6BA-F99764B9C43B}"/>
              </a:ext>
            </a:extLst>
          </p:cNvPr>
          <p:cNvPicPr>
            <a:picLocks noChangeAspect="1"/>
          </p:cNvPicPr>
          <p:nvPr/>
        </p:nvPicPr>
        <p:blipFill>
          <a:blip r:embed="rId9"/>
          <a:stretch>
            <a:fillRect/>
          </a:stretch>
        </p:blipFill>
        <p:spPr>
          <a:xfrm>
            <a:off x="2700259" y="3268334"/>
            <a:ext cx="215900" cy="292100"/>
          </a:xfrm>
          <a:prstGeom prst="rect">
            <a:avLst/>
          </a:prstGeom>
        </p:spPr>
      </p:pic>
      <p:pic>
        <p:nvPicPr>
          <p:cNvPr id="614" name="Picture 613">
            <a:extLst>
              <a:ext uri="{FF2B5EF4-FFF2-40B4-BE49-F238E27FC236}">
                <a16:creationId xmlns:a16="http://schemas.microsoft.com/office/drawing/2014/main" id="{274F825D-3DAC-5D95-0DD9-3D5CDF5C27E3}"/>
              </a:ext>
            </a:extLst>
          </p:cNvPr>
          <p:cNvPicPr>
            <a:picLocks noChangeAspect="1"/>
          </p:cNvPicPr>
          <p:nvPr/>
        </p:nvPicPr>
        <p:blipFill>
          <a:blip r:embed="rId9"/>
          <a:stretch>
            <a:fillRect/>
          </a:stretch>
        </p:blipFill>
        <p:spPr>
          <a:xfrm>
            <a:off x="2402979" y="3287381"/>
            <a:ext cx="215900" cy="292100"/>
          </a:xfrm>
          <a:prstGeom prst="rect">
            <a:avLst/>
          </a:prstGeom>
        </p:spPr>
      </p:pic>
      <p:pic>
        <p:nvPicPr>
          <p:cNvPr id="615" name="Picture 614">
            <a:extLst>
              <a:ext uri="{FF2B5EF4-FFF2-40B4-BE49-F238E27FC236}">
                <a16:creationId xmlns:a16="http://schemas.microsoft.com/office/drawing/2014/main" id="{6A59B32F-245B-32E5-E4DE-6B951B2172C4}"/>
              </a:ext>
            </a:extLst>
          </p:cNvPr>
          <p:cNvPicPr>
            <a:picLocks noChangeAspect="1"/>
          </p:cNvPicPr>
          <p:nvPr/>
        </p:nvPicPr>
        <p:blipFill>
          <a:blip r:embed="rId9"/>
          <a:stretch>
            <a:fillRect/>
          </a:stretch>
        </p:blipFill>
        <p:spPr>
          <a:xfrm>
            <a:off x="2813797" y="3003493"/>
            <a:ext cx="215900" cy="292100"/>
          </a:xfrm>
          <a:prstGeom prst="rect">
            <a:avLst/>
          </a:prstGeom>
        </p:spPr>
      </p:pic>
      <p:pic>
        <p:nvPicPr>
          <p:cNvPr id="616" name="Picture 615">
            <a:extLst>
              <a:ext uri="{FF2B5EF4-FFF2-40B4-BE49-F238E27FC236}">
                <a16:creationId xmlns:a16="http://schemas.microsoft.com/office/drawing/2014/main" id="{5C56CCA0-9F6F-8097-DDF0-4B13B1F03C91}"/>
              </a:ext>
            </a:extLst>
          </p:cNvPr>
          <p:cNvPicPr>
            <a:picLocks noChangeAspect="1"/>
          </p:cNvPicPr>
          <p:nvPr/>
        </p:nvPicPr>
        <p:blipFill>
          <a:blip r:embed="rId9"/>
          <a:stretch>
            <a:fillRect/>
          </a:stretch>
        </p:blipFill>
        <p:spPr>
          <a:xfrm>
            <a:off x="2639476" y="2768757"/>
            <a:ext cx="215900" cy="292100"/>
          </a:xfrm>
          <a:prstGeom prst="rect">
            <a:avLst/>
          </a:prstGeom>
        </p:spPr>
      </p:pic>
      <p:pic>
        <p:nvPicPr>
          <p:cNvPr id="617" name="Picture 616">
            <a:extLst>
              <a:ext uri="{FF2B5EF4-FFF2-40B4-BE49-F238E27FC236}">
                <a16:creationId xmlns:a16="http://schemas.microsoft.com/office/drawing/2014/main" id="{169BC4C2-B25C-963F-58A4-AD754F1EDC20}"/>
              </a:ext>
            </a:extLst>
          </p:cNvPr>
          <p:cNvPicPr>
            <a:picLocks noChangeAspect="1"/>
          </p:cNvPicPr>
          <p:nvPr/>
        </p:nvPicPr>
        <p:blipFill>
          <a:blip r:embed="rId9"/>
          <a:stretch>
            <a:fillRect/>
          </a:stretch>
        </p:blipFill>
        <p:spPr>
          <a:xfrm>
            <a:off x="4315240" y="2798363"/>
            <a:ext cx="215900" cy="292100"/>
          </a:xfrm>
          <a:prstGeom prst="rect">
            <a:avLst/>
          </a:prstGeom>
        </p:spPr>
      </p:pic>
      <p:pic>
        <p:nvPicPr>
          <p:cNvPr id="618" name="Picture 617">
            <a:extLst>
              <a:ext uri="{FF2B5EF4-FFF2-40B4-BE49-F238E27FC236}">
                <a16:creationId xmlns:a16="http://schemas.microsoft.com/office/drawing/2014/main" id="{47273CB5-26F0-6F5C-17CA-671AA4C4C658}"/>
              </a:ext>
            </a:extLst>
          </p:cNvPr>
          <p:cNvPicPr>
            <a:picLocks noChangeAspect="1"/>
          </p:cNvPicPr>
          <p:nvPr/>
        </p:nvPicPr>
        <p:blipFill>
          <a:blip r:embed="rId9"/>
          <a:stretch>
            <a:fillRect/>
          </a:stretch>
        </p:blipFill>
        <p:spPr>
          <a:xfrm>
            <a:off x="4558049" y="2774744"/>
            <a:ext cx="215900" cy="292100"/>
          </a:xfrm>
          <a:prstGeom prst="rect">
            <a:avLst/>
          </a:prstGeom>
        </p:spPr>
      </p:pic>
      <p:pic>
        <p:nvPicPr>
          <p:cNvPr id="619" name="Picture 618">
            <a:extLst>
              <a:ext uri="{FF2B5EF4-FFF2-40B4-BE49-F238E27FC236}">
                <a16:creationId xmlns:a16="http://schemas.microsoft.com/office/drawing/2014/main" id="{B6175C2F-BFFA-3054-FC1D-D2B0805B749F}"/>
              </a:ext>
            </a:extLst>
          </p:cNvPr>
          <p:cNvPicPr>
            <a:picLocks noChangeAspect="1"/>
          </p:cNvPicPr>
          <p:nvPr/>
        </p:nvPicPr>
        <p:blipFill>
          <a:blip r:embed="rId9"/>
          <a:stretch>
            <a:fillRect/>
          </a:stretch>
        </p:blipFill>
        <p:spPr>
          <a:xfrm>
            <a:off x="4247486" y="3135422"/>
            <a:ext cx="215900" cy="292100"/>
          </a:xfrm>
          <a:prstGeom prst="rect">
            <a:avLst/>
          </a:prstGeom>
        </p:spPr>
      </p:pic>
      <p:pic>
        <p:nvPicPr>
          <p:cNvPr id="620" name="Picture 619">
            <a:extLst>
              <a:ext uri="{FF2B5EF4-FFF2-40B4-BE49-F238E27FC236}">
                <a16:creationId xmlns:a16="http://schemas.microsoft.com/office/drawing/2014/main" id="{BA02D826-CB8D-1384-F250-CA70A7733C53}"/>
              </a:ext>
            </a:extLst>
          </p:cNvPr>
          <p:cNvPicPr>
            <a:picLocks noChangeAspect="1"/>
          </p:cNvPicPr>
          <p:nvPr/>
        </p:nvPicPr>
        <p:blipFill>
          <a:blip r:embed="rId9"/>
          <a:stretch>
            <a:fillRect/>
          </a:stretch>
        </p:blipFill>
        <p:spPr>
          <a:xfrm>
            <a:off x="4822890" y="3157334"/>
            <a:ext cx="215900" cy="292100"/>
          </a:xfrm>
          <a:prstGeom prst="rect">
            <a:avLst/>
          </a:prstGeom>
        </p:spPr>
      </p:pic>
      <p:pic>
        <p:nvPicPr>
          <p:cNvPr id="621" name="Picture 620">
            <a:extLst>
              <a:ext uri="{FF2B5EF4-FFF2-40B4-BE49-F238E27FC236}">
                <a16:creationId xmlns:a16="http://schemas.microsoft.com/office/drawing/2014/main" id="{1280146D-EB59-FC61-B744-2C96A11AE391}"/>
              </a:ext>
            </a:extLst>
          </p:cNvPr>
          <p:cNvPicPr>
            <a:picLocks noChangeAspect="1"/>
          </p:cNvPicPr>
          <p:nvPr/>
        </p:nvPicPr>
        <p:blipFill>
          <a:blip r:embed="rId9"/>
          <a:stretch>
            <a:fillRect/>
          </a:stretch>
        </p:blipFill>
        <p:spPr>
          <a:xfrm>
            <a:off x="4428625" y="3370204"/>
            <a:ext cx="215900" cy="292100"/>
          </a:xfrm>
          <a:prstGeom prst="rect">
            <a:avLst/>
          </a:prstGeom>
        </p:spPr>
      </p:pic>
      <p:pic>
        <p:nvPicPr>
          <p:cNvPr id="622" name="Picture 621">
            <a:extLst>
              <a:ext uri="{FF2B5EF4-FFF2-40B4-BE49-F238E27FC236}">
                <a16:creationId xmlns:a16="http://schemas.microsoft.com/office/drawing/2014/main" id="{522E7384-AA68-6D17-8030-B5C652A10389}"/>
              </a:ext>
            </a:extLst>
          </p:cNvPr>
          <p:cNvPicPr>
            <a:picLocks noChangeAspect="1"/>
          </p:cNvPicPr>
          <p:nvPr/>
        </p:nvPicPr>
        <p:blipFill>
          <a:blip r:embed="rId9"/>
          <a:stretch>
            <a:fillRect/>
          </a:stretch>
        </p:blipFill>
        <p:spPr>
          <a:xfrm>
            <a:off x="4647213" y="3338143"/>
            <a:ext cx="215900" cy="292100"/>
          </a:xfrm>
          <a:prstGeom prst="rect">
            <a:avLst/>
          </a:prstGeom>
        </p:spPr>
      </p:pic>
      <p:pic>
        <p:nvPicPr>
          <p:cNvPr id="623" name="Picture 622">
            <a:extLst>
              <a:ext uri="{FF2B5EF4-FFF2-40B4-BE49-F238E27FC236}">
                <a16:creationId xmlns:a16="http://schemas.microsoft.com/office/drawing/2014/main" id="{225CFAF1-7CF9-5024-0BDC-53A37B13AC80}"/>
              </a:ext>
            </a:extLst>
          </p:cNvPr>
          <p:cNvPicPr>
            <a:picLocks noChangeAspect="1"/>
          </p:cNvPicPr>
          <p:nvPr/>
        </p:nvPicPr>
        <p:blipFill>
          <a:blip r:embed="rId9"/>
          <a:stretch>
            <a:fillRect/>
          </a:stretch>
        </p:blipFill>
        <p:spPr>
          <a:xfrm>
            <a:off x="4832448" y="2839071"/>
            <a:ext cx="215900" cy="292100"/>
          </a:xfrm>
          <a:prstGeom prst="rect">
            <a:avLst/>
          </a:prstGeom>
        </p:spPr>
      </p:pic>
      <p:pic>
        <p:nvPicPr>
          <p:cNvPr id="627" name="Picture 626">
            <a:extLst>
              <a:ext uri="{FF2B5EF4-FFF2-40B4-BE49-F238E27FC236}">
                <a16:creationId xmlns:a16="http://schemas.microsoft.com/office/drawing/2014/main" id="{271A1B55-E5B5-0336-2F3B-E0947F4815F8}"/>
              </a:ext>
            </a:extLst>
          </p:cNvPr>
          <p:cNvPicPr>
            <a:picLocks noChangeAspect="1"/>
          </p:cNvPicPr>
          <p:nvPr/>
        </p:nvPicPr>
        <p:blipFill>
          <a:blip r:embed="rId9"/>
          <a:stretch>
            <a:fillRect/>
          </a:stretch>
        </p:blipFill>
        <p:spPr>
          <a:xfrm>
            <a:off x="1773088" y="5078898"/>
            <a:ext cx="215900" cy="292100"/>
          </a:xfrm>
          <a:prstGeom prst="rect">
            <a:avLst/>
          </a:prstGeom>
        </p:spPr>
      </p:pic>
      <p:pic>
        <p:nvPicPr>
          <p:cNvPr id="628" name="Picture 627">
            <a:extLst>
              <a:ext uri="{FF2B5EF4-FFF2-40B4-BE49-F238E27FC236}">
                <a16:creationId xmlns:a16="http://schemas.microsoft.com/office/drawing/2014/main" id="{0CC80514-32CB-7635-6CA5-2316A94FDB39}"/>
              </a:ext>
            </a:extLst>
          </p:cNvPr>
          <p:cNvPicPr>
            <a:picLocks noChangeAspect="1"/>
          </p:cNvPicPr>
          <p:nvPr/>
        </p:nvPicPr>
        <p:blipFill>
          <a:blip r:embed="rId9"/>
          <a:stretch>
            <a:fillRect/>
          </a:stretch>
        </p:blipFill>
        <p:spPr>
          <a:xfrm>
            <a:off x="1925488" y="5231298"/>
            <a:ext cx="215900" cy="292100"/>
          </a:xfrm>
          <a:prstGeom prst="rect">
            <a:avLst/>
          </a:prstGeom>
        </p:spPr>
      </p:pic>
      <p:pic>
        <p:nvPicPr>
          <p:cNvPr id="629" name="Picture 628">
            <a:extLst>
              <a:ext uri="{FF2B5EF4-FFF2-40B4-BE49-F238E27FC236}">
                <a16:creationId xmlns:a16="http://schemas.microsoft.com/office/drawing/2014/main" id="{FC680998-AF9C-AD20-E3B9-5531F901C08C}"/>
              </a:ext>
            </a:extLst>
          </p:cNvPr>
          <p:cNvPicPr>
            <a:picLocks noChangeAspect="1"/>
          </p:cNvPicPr>
          <p:nvPr/>
        </p:nvPicPr>
        <p:blipFill>
          <a:blip r:embed="rId9"/>
          <a:stretch>
            <a:fillRect/>
          </a:stretch>
        </p:blipFill>
        <p:spPr>
          <a:xfrm>
            <a:off x="2092900" y="5033356"/>
            <a:ext cx="215900" cy="292100"/>
          </a:xfrm>
          <a:prstGeom prst="rect">
            <a:avLst/>
          </a:prstGeom>
        </p:spPr>
      </p:pic>
      <p:pic>
        <p:nvPicPr>
          <p:cNvPr id="630" name="Picture 629">
            <a:extLst>
              <a:ext uri="{FF2B5EF4-FFF2-40B4-BE49-F238E27FC236}">
                <a16:creationId xmlns:a16="http://schemas.microsoft.com/office/drawing/2014/main" id="{82D0215E-3AD6-8E2D-BC35-3674F3DE44F6}"/>
              </a:ext>
            </a:extLst>
          </p:cNvPr>
          <p:cNvPicPr>
            <a:picLocks noChangeAspect="1"/>
          </p:cNvPicPr>
          <p:nvPr/>
        </p:nvPicPr>
        <p:blipFill>
          <a:blip r:embed="rId9"/>
          <a:stretch>
            <a:fillRect/>
          </a:stretch>
        </p:blipFill>
        <p:spPr>
          <a:xfrm>
            <a:off x="2366105" y="5401656"/>
            <a:ext cx="215900" cy="292100"/>
          </a:xfrm>
          <a:prstGeom prst="rect">
            <a:avLst/>
          </a:prstGeom>
        </p:spPr>
      </p:pic>
      <p:pic>
        <p:nvPicPr>
          <p:cNvPr id="631" name="Picture 630">
            <a:extLst>
              <a:ext uri="{FF2B5EF4-FFF2-40B4-BE49-F238E27FC236}">
                <a16:creationId xmlns:a16="http://schemas.microsoft.com/office/drawing/2014/main" id="{A2E8DC38-2E58-6A2A-DC54-A3B09C106D49}"/>
              </a:ext>
            </a:extLst>
          </p:cNvPr>
          <p:cNvPicPr>
            <a:picLocks noChangeAspect="1"/>
          </p:cNvPicPr>
          <p:nvPr/>
        </p:nvPicPr>
        <p:blipFill>
          <a:blip r:embed="rId9"/>
          <a:stretch>
            <a:fillRect/>
          </a:stretch>
        </p:blipFill>
        <p:spPr>
          <a:xfrm>
            <a:off x="2117144" y="5470022"/>
            <a:ext cx="215900" cy="292100"/>
          </a:xfrm>
          <a:prstGeom prst="rect">
            <a:avLst/>
          </a:prstGeom>
        </p:spPr>
      </p:pic>
      <p:pic>
        <p:nvPicPr>
          <p:cNvPr id="632" name="Picture 631">
            <a:extLst>
              <a:ext uri="{FF2B5EF4-FFF2-40B4-BE49-F238E27FC236}">
                <a16:creationId xmlns:a16="http://schemas.microsoft.com/office/drawing/2014/main" id="{239B0E59-4D3E-6E6D-5236-03079A849A87}"/>
              </a:ext>
            </a:extLst>
          </p:cNvPr>
          <p:cNvPicPr>
            <a:picLocks noChangeAspect="1"/>
          </p:cNvPicPr>
          <p:nvPr/>
        </p:nvPicPr>
        <p:blipFill>
          <a:blip r:embed="rId9"/>
          <a:stretch>
            <a:fillRect/>
          </a:stretch>
        </p:blipFill>
        <p:spPr>
          <a:xfrm>
            <a:off x="2549153" y="5148240"/>
            <a:ext cx="215900" cy="292100"/>
          </a:xfrm>
          <a:prstGeom prst="rect">
            <a:avLst/>
          </a:prstGeom>
        </p:spPr>
      </p:pic>
      <p:pic>
        <p:nvPicPr>
          <p:cNvPr id="633" name="Picture 632">
            <a:extLst>
              <a:ext uri="{FF2B5EF4-FFF2-40B4-BE49-F238E27FC236}">
                <a16:creationId xmlns:a16="http://schemas.microsoft.com/office/drawing/2014/main" id="{5F98A44F-D000-1C8B-59F5-8B8C53E455C7}"/>
              </a:ext>
            </a:extLst>
          </p:cNvPr>
          <p:cNvPicPr>
            <a:picLocks noChangeAspect="1"/>
          </p:cNvPicPr>
          <p:nvPr/>
        </p:nvPicPr>
        <p:blipFill>
          <a:blip r:embed="rId9"/>
          <a:stretch>
            <a:fillRect/>
          </a:stretch>
        </p:blipFill>
        <p:spPr>
          <a:xfrm>
            <a:off x="2654477" y="5466383"/>
            <a:ext cx="215900" cy="292100"/>
          </a:xfrm>
          <a:prstGeom prst="rect">
            <a:avLst/>
          </a:prstGeom>
        </p:spPr>
      </p:pic>
      <p:pic>
        <p:nvPicPr>
          <p:cNvPr id="634" name="Picture 633">
            <a:extLst>
              <a:ext uri="{FF2B5EF4-FFF2-40B4-BE49-F238E27FC236}">
                <a16:creationId xmlns:a16="http://schemas.microsoft.com/office/drawing/2014/main" id="{3579785F-DC3B-DB9A-1160-6DF70ECD5D40}"/>
              </a:ext>
            </a:extLst>
          </p:cNvPr>
          <p:cNvPicPr>
            <a:picLocks noChangeAspect="1"/>
          </p:cNvPicPr>
          <p:nvPr/>
        </p:nvPicPr>
        <p:blipFill>
          <a:blip r:embed="rId9"/>
          <a:stretch>
            <a:fillRect/>
          </a:stretch>
        </p:blipFill>
        <p:spPr>
          <a:xfrm>
            <a:off x="1767210" y="5496710"/>
            <a:ext cx="215900" cy="292100"/>
          </a:xfrm>
          <a:prstGeom prst="rect">
            <a:avLst/>
          </a:prstGeom>
        </p:spPr>
      </p:pic>
      <p:pic>
        <p:nvPicPr>
          <p:cNvPr id="635" name="Picture 634">
            <a:extLst>
              <a:ext uri="{FF2B5EF4-FFF2-40B4-BE49-F238E27FC236}">
                <a16:creationId xmlns:a16="http://schemas.microsoft.com/office/drawing/2014/main" id="{C84150EA-9B87-62DF-42A7-2E99DED92EC3}"/>
              </a:ext>
            </a:extLst>
          </p:cNvPr>
          <p:cNvPicPr>
            <a:picLocks noChangeAspect="1"/>
          </p:cNvPicPr>
          <p:nvPr/>
        </p:nvPicPr>
        <p:blipFill>
          <a:blip r:embed="rId9"/>
          <a:stretch>
            <a:fillRect/>
          </a:stretch>
        </p:blipFill>
        <p:spPr>
          <a:xfrm>
            <a:off x="2851738" y="5260864"/>
            <a:ext cx="215900" cy="292100"/>
          </a:xfrm>
          <a:prstGeom prst="rect">
            <a:avLst/>
          </a:prstGeom>
        </p:spPr>
      </p:pic>
      <p:pic>
        <p:nvPicPr>
          <p:cNvPr id="636" name="Picture 635">
            <a:extLst>
              <a:ext uri="{FF2B5EF4-FFF2-40B4-BE49-F238E27FC236}">
                <a16:creationId xmlns:a16="http://schemas.microsoft.com/office/drawing/2014/main" id="{80B31792-7B49-97BC-431B-5E2C5CF0F05C}"/>
              </a:ext>
            </a:extLst>
          </p:cNvPr>
          <p:cNvPicPr>
            <a:picLocks noChangeAspect="1"/>
          </p:cNvPicPr>
          <p:nvPr/>
        </p:nvPicPr>
        <p:blipFill>
          <a:blip r:embed="rId9"/>
          <a:stretch>
            <a:fillRect/>
          </a:stretch>
        </p:blipFill>
        <p:spPr>
          <a:xfrm>
            <a:off x="2319188" y="5114814"/>
            <a:ext cx="215900" cy="292100"/>
          </a:xfrm>
          <a:prstGeom prst="rect">
            <a:avLst/>
          </a:prstGeom>
        </p:spPr>
      </p:pic>
      <p:grpSp>
        <p:nvGrpSpPr>
          <p:cNvPr id="3" name="Group 2">
            <a:extLst>
              <a:ext uri="{FF2B5EF4-FFF2-40B4-BE49-F238E27FC236}">
                <a16:creationId xmlns:a16="http://schemas.microsoft.com/office/drawing/2014/main" id="{AB2E2C6B-B344-81E3-26A1-3D8C8768A658}"/>
              </a:ext>
            </a:extLst>
          </p:cNvPr>
          <p:cNvGrpSpPr/>
          <p:nvPr/>
        </p:nvGrpSpPr>
        <p:grpSpPr>
          <a:xfrm>
            <a:off x="838200" y="297639"/>
            <a:ext cx="5257799" cy="307138"/>
            <a:chOff x="838200" y="297639"/>
            <a:chExt cx="5257799" cy="307138"/>
          </a:xfrm>
        </p:grpSpPr>
        <p:grpSp>
          <p:nvGrpSpPr>
            <p:cNvPr id="4" name="Group 3">
              <a:extLst>
                <a:ext uri="{FF2B5EF4-FFF2-40B4-BE49-F238E27FC236}">
                  <a16:creationId xmlns:a16="http://schemas.microsoft.com/office/drawing/2014/main" id="{2C5D23CC-E614-ADB2-E3DD-B480E0DAB165}"/>
                </a:ext>
              </a:extLst>
            </p:cNvPr>
            <p:cNvGrpSpPr/>
            <p:nvPr/>
          </p:nvGrpSpPr>
          <p:grpSpPr>
            <a:xfrm>
              <a:off x="838200" y="297639"/>
              <a:ext cx="1687517" cy="290657"/>
              <a:chOff x="838200" y="297639"/>
              <a:chExt cx="1687517" cy="290657"/>
            </a:xfrm>
          </p:grpSpPr>
          <p:sp>
            <p:nvSpPr>
              <p:cNvPr id="7" name="AutoShape 9">
                <a:extLst>
                  <a:ext uri="{FF2B5EF4-FFF2-40B4-BE49-F238E27FC236}">
                    <a16:creationId xmlns:a16="http://schemas.microsoft.com/office/drawing/2014/main" id="{F67EB18D-91D5-6E53-BC5F-3A08E15FF102}"/>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8" name="AutoShape 9">
                <a:extLst>
                  <a:ext uri="{FF2B5EF4-FFF2-40B4-BE49-F238E27FC236}">
                    <a16:creationId xmlns:a16="http://schemas.microsoft.com/office/drawing/2014/main" id="{CDCD5003-6DF7-82C0-0788-0091E5F99D77}"/>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9" name="Group 8">
                <a:extLst>
                  <a:ext uri="{FF2B5EF4-FFF2-40B4-BE49-F238E27FC236}">
                    <a16:creationId xmlns:a16="http://schemas.microsoft.com/office/drawing/2014/main" id="{04F53C72-3560-13C3-EA3D-4AB30C0E88BC}"/>
                  </a:ext>
                </a:extLst>
              </p:cNvPr>
              <p:cNvGrpSpPr/>
              <p:nvPr/>
            </p:nvGrpSpPr>
            <p:grpSpPr>
              <a:xfrm>
                <a:off x="838200" y="297639"/>
                <a:ext cx="1060167" cy="290657"/>
                <a:chOff x="826426" y="4041857"/>
                <a:chExt cx="1060167" cy="290657"/>
              </a:xfrm>
            </p:grpSpPr>
            <p:sp>
              <p:nvSpPr>
                <p:cNvPr id="10" name="AutoShape 9">
                  <a:extLst>
                    <a:ext uri="{FF2B5EF4-FFF2-40B4-BE49-F238E27FC236}">
                      <a16:creationId xmlns:a16="http://schemas.microsoft.com/office/drawing/2014/main" id="{074C3454-28F9-36A4-8F93-AF756B8D3D84}"/>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1" name="AutoShape 11">
                  <a:extLst>
                    <a:ext uri="{FF2B5EF4-FFF2-40B4-BE49-F238E27FC236}">
                      <a16:creationId xmlns:a16="http://schemas.microsoft.com/office/drawing/2014/main" id="{4EAA0FE7-F78F-89C4-E1A1-45E50D8B730C}"/>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0">
                  <a:extLst>
                    <a:ext uri="{FF2B5EF4-FFF2-40B4-BE49-F238E27FC236}">
                      <a16:creationId xmlns:a16="http://schemas.microsoft.com/office/drawing/2014/main" id="{80EB14DE-1E17-AABA-64B3-3F8D842362B4}"/>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6" name="TextBox 5">
              <a:extLst>
                <a:ext uri="{FF2B5EF4-FFF2-40B4-BE49-F238E27FC236}">
                  <a16:creationId xmlns:a16="http://schemas.microsoft.com/office/drawing/2014/main" id="{40CC40DC-55EC-2296-072C-0D1D61EED09E}"/>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to Implement</a:t>
              </a:r>
            </a:p>
          </p:txBody>
        </p:sp>
      </p:grpSp>
    </p:spTree>
    <p:extLst>
      <p:ext uri="{BB962C8B-B14F-4D97-AF65-F5344CB8AC3E}">
        <p14:creationId xmlns:p14="http://schemas.microsoft.com/office/powerpoint/2010/main" val="3555089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Create Project Plan</a:t>
            </a:r>
          </a:p>
        </p:txBody>
      </p:sp>
      <p:sp>
        <p:nvSpPr>
          <p:cNvPr id="3" name="Content Placeholder 2">
            <a:extLst>
              <a:ext uri="{FF2B5EF4-FFF2-40B4-BE49-F238E27FC236}">
                <a16:creationId xmlns:a16="http://schemas.microsoft.com/office/drawing/2014/main" id="{23C83347-F741-264E-7C36-00DE92F01451}"/>
              </a:ext>
            </a:extLst>
          </p:cNvPr>
          <p:cNvSpPr>
            <a:spLocks noGrp="1"/>
          </p:cNvSpPr>
          <p:nvPr>
            <p:ph sz="half" idx="1"/>
          </p:nvPr>
        </p:nvSpPr>
        <p:spPr/>
        <p:txBody>
          <a:bodyPr/>
          <a:lstStyle/>
          <a:p>
            <a:r>
              <a:rPr lang="en-US" dirty="0"/>
              <a:t>Develop Work Breakdown Structure</a:t>
            </a:r>
          </a:p>
          <a:p>
            <a:r>
              <a:rPr lang="en-US" dirty="0"/>
              <a:t>Estimate effort (direct work), duration (lapse time)</a:t>
            </a:r>
          </a:p>
          <a:p>
            <a:r>
              <a:rPr lang="en-US" dirty="0"/>
              <a:t>Resource list and availability</a:t>
            </a:r>
          </a:p>
          <a:p>
            <a:r>
              <a:rPr lang="en-US" dirty="0"/>
              <a:t>Sequence</a:t>
            </a:r>
          </a:p>
          <a:p>
            <a:r>
              <a:rPr lang="en-US" dirty="0"/>
              <a:t>Dependencies</a:t>
            </a:r>
          </a:p>
          <a:p>
            <a:r>
              <a:rPr lang="en-US" dirty="0"/>
              <a:t>Track deliverables &amp; costs</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104</a:t>
            </a:fld>
            <a:endParaRPr lang="en-US"/>
          </a:p>
        </p:txBody>
      </p:sp>
      <p:grpSp>
        <p:nvGrpSpPr>
          <p:cNvPr id="5" name="Group 4">
            <a:extLst>
              <a:ext uri="{FF2B5EF4-FFF2-40B4-BE49-F238E27FC236}">
                <a16:creationId xmlns:a16="http://schemas.microsoft.com/office/drawing/2014/main" id="{C981E479-4970-CC37-62DA-3A01F4840FD4}"/>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38DFC052-1CFC-A665-96BB-EDD37EFB02EC}"/>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37D28DCC-927C-E9BB-1B2A-4CC4F01D963A}"/>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9">
                <a:extLst>
                  <a:ext uri="{FF2B5EF4-FFF2-40B4-BE49-F238E27FC236}">
                    <a16:creationId xmlns:a16="http://schemas.microsoft.com/office/drawing/2014/main" id="{8548BA0E-C12D-202E-F3A5-75D66EB384B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C0686627-D04B-07B7-8104-ED249DB99A33}"/>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9AB66098-B822-8864-0909-DAFFA342D22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689CC10E-D30C-A5BA-655B-27E57DEA5B6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AF506B1C-98F5-FF52-0025-4EF62CE446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29E0DA9A-AE3E-FF5F-C9A7-A3F89592D3BE}"/>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to Implement</a:t>
              </a:r>
            </a:p>
          </p:txBody>
        </p:sp>
      </p:grpSp>
      <p:pic>
        <p:nvPicPr>
          <p:cNvPr id="15" name="Picture 4">
            <a:extLst>
              <a:ext uri="{FF2B5EF4-FFF2-40B4-BE49-F238E27FC236}">
                <a16:creationId xmlns:a16="http://schemas.microsoft.com/office/drawing/2014/main" id="{C2437C0A-AF70-8856-920F-8D470F639410}"/>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095999" y="1843146"/>
            <a:ext cx="5429673" cy="4072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09097444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2800" dirty="0"/>
              <a:t>Create concepts and shop drawings for fixtures and tooling</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105</a:t>
            </a:fld>
            <a:endParaRPr lang="en-US"/>
          </a:p>
        </p:txBody>
      </p:sp>
      <p:grpSp>
        <p:nvGrpSpPr>
          <p:cNvPr id="5" name="Group 4">
            <a:extLst>
              <a:ext uri="{FF2B5EF4-FFF2-40B4-BE49-F238E27FC236}">
                <a16:creationId xmlns:a16="http://schemas.microsoft.com/office/drawing/2014/main" id="{C981E479-4970-CC37-62DA-3A01F4840FD4}"/>
              </a:ext>
            </a:extLst>
          </p:cNvPr>
          <p:cNvGrpSpPr/>
          <p:nvPr/>
        </p:nvGrpSpPr>
        <p:grpSpPr>
          <a:xfrm>
            <a:off x="838200" y="297639"/>
            <a:ext cx="5257799" cy="307138"/>
            <a:chOff x="838200" y="297639"/>
            <a:chExt cx="5257799" cy="307138"/>
          </a:xfrm>
        </p:grpSpPr>
        <p:grpSp>
          <p:nvGrpSpPr>
            <p:cNvPr id="7" name="Group 6">
              <a:extLst>
                <a:ext uri="{FF2B5EF4-FFF2-40B4-BE49-F238E27FC236}">
                  <a16:creationId xmlns:a16="http://schemas.microsoft.com/office/drawing/2014/main" id="{38DFC052-1CFC-A665-96BB-EDD37EFB02EC}"/>
                </a:ext>
              </a:extLst>
            </p:cNvPr>
            <p:cNvGrpSpPr/>
            <p:nvPr/>
          </p:nvGrpSpPr>
          <p:grpSpPr>
            <a:xfrm>
              <a:off x="838200" y="297639"/>
              <a:ext cx="1687517" cy="290657"/>
              <a:chOff x="838200" y="297639"/>
              <a:chExt cx="1687517" cy="290657"/>
            </a:xfrm>
          </p:grpSpPr>
          <p:sp>
            <p:nvSpPr>
              <p:cNvPr id="9" name="AutoShape 9">
                <a:extLst>
                  <a:ext uri="{FF2B5EF4-FFF2-40B4-BE49-F238E27FC236}">
                    <a16:creationId xmlns:a16="http://schemas.microsoft.com/office/drawing/2014/main" id="{37D28DCC-927C-E9BB-1B2A-4CC4F01D963A}"/>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9">
                <a:extLst>
                  <a:ext uri="{FF2B5EF4-FFF2-40B4-BE49-F238E27FC236}">
                    <a16:creationId xmlns:a16="http://schemas.microsoft.com/office/drawing/2014/main" id="{8548BA0E-C12D-202E-F3A5-75D66EB384B9}"/>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1" name="Group 10">
                <a:extLst>
                  <a:ext uri="{FF2B5EF4-FFF2-40B4-BE49-F238E27FC236}">
                    <a16:creationId xmlns:a16="http://schemas.microsoft.com/office/drawing/2014/main" id="{C0686627-D04B-07B7-8104-ED249DB99A33}"/>
                  </a:ext>
                </a:extLst>
              </p:cNvPr>
              <p:cNvGrpSpPr/>
              <p:nvPr/>
            </p:nvGrpSpPr>
            <p:grpSpPr>
              <a:xfrm>
                <a:off x="838200" y="297639"/>
                <a:ext cx="1060167" cy="290657"/>
                <a:chOff x="826426" y="4041857"/>
                <a:chExt cx="1060167" cy="290657"/>
              </a:xfrm>
            </p:grpSpPr>
            <p:sp>
              <p:nvSpPr>
                <p:cNvPr id="12" name="AutoShape 9">
                  <a:extLst>
                    <a:ext uri="{FF2B5EF4-FFF2-40B4-BE49-F238E27FC236}">
                      <a16:creationId xmlns:a16="http://schemas.microsoft.com/office/drawing/2014/main" id="{9AB66098-B822-8864-0909-DAFFA342D223}"/>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1">
                  <a:extLst>
                    <a:ext uri="{FF2B5EF4-FFF2-40B4-BE49-F238E27FC236}">
                      <a16:creationId xmlns:a16="http://schemas.microsoft.com/office/drawing/2014/main" id="{689CC10E-D30C-A5BA-655B-27E57DEA5B6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4" name="AutoShape 10">
                  <a:extLst>
                    <a:ext uri="{FF2B5EF4-FFF2-40B4-BE49-F238E27FC236}">
                      <a16:creationId xmlns:a16="http://schemas.microsoft.com/office/drawing/2014/main" id="{AF506B1C-98F5-FF52-0025-4EF62CE446AC}"/>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8" name="TextBox 7">
              <a:extLst>
                <a:ext uri="{FF2B5EF4-FFF2-40B4-BE49-F238E27FC236}">
                  <a16:creationId xmlns:a16="http://schemas.microsoft.com/office/drawing/2014/main" id="{29E0DA9A-AE3E-FF5F-C9A7-A3F89592D3BE}"/>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to Implement</a:t>
              </a:r>
            </a:p>
          </p:txBody>
        </p:sp>
      </p:grpSp>
      <p:sp>
        <p:nvSpPr>
          <p:cNvPr id="4" name="Content Placeholder 3">
            <a:extLst>
              <a:ext uri="{FF2B5EF4-FFF2-40B4-BE49-F238E27FC236}">
                <a16:creationId xmlns:a16="http://schemas.microsoft.com/office/drawing/2014/main" id="{4603FE64-0C05-4A13-F1E1-1A03CA44D063}"/>
              </a:ext>
            </a:extLst>
          </p:cNvPr>
          <p:cNvSpPr>
            <a:spLocks noGrp="1"/>
          </p:cNvSpPr>
          <p:nvPr>
            <p:ph sz="half" idx="2"/>
          </p:nvPr>
        </p:nvSpPr>
        <p:spPr/>
        <p:txBody>
          <a:bodyPr/>
          <a:lstStyle/>
          <a:p>
            <a:r>
              <a:rPr lang="en-US" altLang="en-US" dirty="0"/>
              <a:t>Full Scale Top Design Prototype was built without engineering drawings, just paper and pencil sketches - now create drawings that capture the design intent</a:t>
            </a:r>
          </a:p>
          <a:p>
            <a:r>
              <a:rPr lang="en-US" altLang="en-US" dirty="0"/>
              <a:t>Clearly indicate key functions, tolerances, measurement points</a:t>
            </a:r>
          </a:p>
          <a:p>
            <a:endParaRPr lang="en-US" dirty="0"/>
          </a:p>
        </p:txBody>
      </p:sp>
      <p:pic>
        <p:nvPicPr>
          <p:cNvPr id="16" name="Picture 4">
            <a:extLst>
              <a:ext uri="{FF2B5EF4-FFF2-40B4-BE49-F238E27FC236}">
                <a16:creationId xmlns:a16="http://schemas.microsoft.com/office/drawing/2014/main" id="{7347B3E3-4F56-CB65-5BDB-E9032C965B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825625"/>
            <a:ext cx="3733800" cy="2865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7" name="Picture 4">
            <a:extLst>
              <a:ext uri="{FF2B5EF4-FFF2-40B4-BE49-F238E27FC236}">
                <a16:creationId xmlns:a16="http://schemas.microsoft.com/office/drawing/2014/main" id="{CDFFEB27-890C-5A2F-1FCC-0FAB2BEDB3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9210" y="3814128"/>
            <a:ext cx="2256789" cy="2637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239655882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Prepare Key Elements of Implementation Plan</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High level estimates and sequence of events following approval of the 3P Design </a:t>
            </a:r>
          </a:p>
          <a:p>
            <a:r>
              <a:rPr lang="en-US" sz="3200" dirty="0"/>
              <a:t>Steps:</a:t>
            </a:r>
          </a:p>
          <a:p>
            <a:pPr lvl="1"/>
            <a:r>
              <a:rPr lang="en-US" sz="2800" dirty="0"/>
              <a:t>Design detail: tooling and fixture engineering drawings</a:t>
            </a:r>
          </a:p>
          <a:p>
            <a:pPr lvl="1"/>
            <a:r>
              <a:rPr lang="en-US" sz="2800" dirty="0"/>
              <a:t>Equipment Plans: builder selection, acceptance criteria</a:t>
            </a:r>
          </a:p>
          <a:p>
            <a:pPr lvl="1"/>
            <a:r>
              <a:rPr lang="en-US" sz="2800" dirty="0"/>
              <a:t>Support Systems: material handling, maintenance, information systems</a:t>
            </a:r>
          </a:p>
          <a:p>
            <a:pPr lvl="1"/>
            <a:r>
              <a:rPr lang="en-US" sz="2800" dirty="0"/>
              <a:t>Installation: samples, qualification, standard work</a:t>
            </a:r>
          </a:p>
          <a:p>
            <a:pPr lvl="1"/>
            <a:r>
              <a:rPr lang="en-US" sz="2800" dirty="0"/>
              <a:t>Startup: training, daily management</a:t>
            </a:r>
          </a:p>
          <a:p>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106</a:t>
            </a:fld>
            <a:endParaRPr lang="en-US"/>
          </a:p>
        </p:txBody>
      </p:sp>
      <p:grpSp>
        <p:nvGrpSpPr>
          <p:cNvPr id="4" name="Group 3">
            <a:extLst>
              <a:ext uri="{FF2B5EF4-FFF2-40B4-BE49-F238E27FC236}">
                <a16:creationId xmlns:a16="http://schemas.microsoft.com/office/drawing/2014/main" id="{66CDA0E0-8912-F8F3-27B5-799D3D8949F7}"/>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EC302A14-1BCC-46EF-DB08-00DF103E4A1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3C4E93BA-9DB3-FB50-BDAE-CEFB2DC54936}"/>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96E7C0DC-456F-2F03-0F87-D2B376EA65B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59543BF0-5B49-8FCD-30B1-6B6D48A0CB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AF93B-86AD-63D9-5191-E0990A19F8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1F71CA7D-0BF6-6BD3-646E-F285A7F6FED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2E31DCE-5A09-A722-A201-D0B1390A2D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77649A6-0BEC-58B2-BFF7-44EE479E07E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to Implement</a:t>
              </a:r>
            </a:p>
          </p:txBody>
        </p:sp>
      </p:grpSp>
    </p:spTree>
    <p:extLst>
      <p:ext uri="{BB962C8B-B14F-4D97-AF65-F5344CB8AC3E}">
        <p14:creationId xmlns:p14="http://schemas.microsoft.com/office/powerpoint/2010/main" val="83709475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Prepare Final Report Out and Budget </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3200" dirty="0"/>
              <a:t>Charter</a:t>
            </a:r>
          </a:p>
          <a:p>
            <a:r>
              <a:rPr lang="en-US" sz="3200" dirty="0"/>
              <a:t>Objectives</a:t>
            </a:r>
          </a:p>
          <a:p>
            <a:r>
              <a:rPr lang="en-US" sz="3200" dirty="0"/>
              <a:t>Top Design Metrics</a:t>
            </a:r>
          </a:p>
          <a:p>
            <a:r>
              <a:rPr lang="en-US" sz="3200" dirty="0"/>
              <a:t>Implementation Plan</a:t>
            </a:r>
          </a:p>
          <a:p>
            <a:r>
              <a:rPr lang="en-US" sz="3200" dirty="0"/>
              <a:t>Benefits Summary</a:t>
            </a:r>
          </a:p>
          <a:p>
            <a:endParaRPr lang="en-US" sz="3200" dirty="0"/>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107</a:t>
            </a:fld>
            <a:endParaRPr lang="en-US"/>
          </a:p>
        </p:txBody>
      </p:sp>
      <p:grpSp>
        <p:nvGrpSpPr>
          <p:cNvPr id="4" name="Group 3">
            <a:extLst>
              <a:ext uri="{FF2B5EF4-FFF2-40B4-BE49-F238E27FC236}">
                <a16:creationId xmlns:a16="http://schemas.microsoft.com/office/drawing/2014/main" id="{66CDA0E0-8912-F8F3-27B5-799D3D8949F7}"/>
              </a:ext>
            </a:extLst>
          </p:cNvPr>
          <p:cNvGrpSpPr/>
          <p:nvPr/>
        </p:nvGrpSpPr>
        <p:grpSpPr>
          <a:xfrm>
            <a:off x="838200" y="297639"/>
            <a:ext cx="5257799" cy="307138"/>
            <a:chOff x="838200" y="297639"/>
            <a:chExt cx="5257799" cy="307138"/>
          </a:xfrm>
        </p:grpSpPr>
        <p:grpSp>
          <p:nvGrpSpPr>
            <p:cNvPr id="6" name="Group 5">
              <a:extLst>
                <a:ext uri="{FF2B5EF4-FFF2-40B4-BE49-F238E27FC236}">
                  <a16:creationId xmlns:a16="http://schemas.microsoft.com/office/drawing/2014/main" id="{EC302A14-1BCC-46EF-DB08-00DF103E4A11}"/>
                </a:ext>
              </a:extLst>
            </p:cNvPr>
            <p:cNvGrpSpPr/>
            <p:nvPr/>
          </p:nvGrpSpPr>
          <p:grpSpPr>
            <a:xfrm>
              <a:off x="838200" y="297639"/>
              <a:ext cx="1687517" cy="290657"/>
              <a:chOff x="838200" y="297639"/>
              <a:chExt cx="1687517" cy="290657"/>
            </a:xfrm>
          </p:grpSpPr>
          <p:sp>
            <p:nvSpPr>
              <p:cNvPr id="8" name="AutoShape 9">
                <a:extLst>
                  <a:ext uri="{FF2B5EF4-FFF2-40B4-BE49-F238E27FC236}">
                    <a16:creationId xmlns:a16="http://schemas.microsoft.com/office/drawing/2014/main" id="{3C4E93BA-9DB3-FB50-BDAE-CEFB2DC54936}"/>
                  </a:ext>
                </a:extLst>
              </p:cNvPr>
              <p:cNvSpPr>
                <a:spLocks noChangeArrowheads="1"/>
              </p:cNvSpPr>
              <p:nvPr/>
            </p:nvSpPr>
            <p:spPr bwMode="auto">
              <a:xfrm>
                <a:off x="2092900" y="297639"/>
                <a:ext cx="432817" cy="290656"/>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9">
                <a:extLst>
                  <a:ext uri="{FF2B5EF4-FFF2-40B4-BE49-F238E27FC236}">
                    <a16:creationId xmlns:a16="http://schemas.microsoft.com/office/drawing/2014/main" id="{96E7C0DC-456F-2F03-0F87-D2B376EA65BA}"/>
                  </a:ext>
                </a:extLst>
              </p:cNvPr>
              <p:cNvSpPr>
                <a:spLocks noChangeArrowheads="1"/>
              </p:cNvSpPr>
              <p:nvPr/>
            </p:nvSpPr>
            <p:spPr bwMode="auto">
              <a:xfrm>
                <a:off x="1779225" y="297639"/>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0" name="Group 9">
                <a:extLst>
                  <a:ext uri="{FF2B5EF4-FFF2-40B4-BE49-F238E27FC236}">
                    <a16:creationId xmlns:a16="http://schemas.microsoft.com/office/drawing/2014/main" id="{59543BF0-5B49-8FCD-30B1-6B6D48A0CB4D}"/>
                  </a:ext>
                </a:extLst>
              </p:cNvPr>
              <p:cNvGrpSpPr/>
              <p:nvPr/>
            </p:nvGrpSpPr>
            <p:grpSpPr>
              <a:xfrm>
                <a:off x="838200" y="297639"/>
                <a:ext cx="1060167" cy="290657"/>
                <a:chOff x="826426" y="4041857"/>
                <a:chExt cx="1060167" cy="290657"/>
              </a:xfrm>
            </p:grpSpPr>
            <p:sp>
              <p:nvSpPr>
                <p:cNvPr id="11" name="AutoShape 9">
                  <a:extLst>
                    <a:ext uri="{FF2B5EF4-FFF2-40B4-BE49-F238E27FC236}">
                      <a16:creationId xmlns:a16="http://schemas.microsoft.com/office/drawing/2014/main" id="{FC4AF93B-86AD-63D9-5191-E0990A19F855}"/>
                    </a:ext>
                  </a:extLst>
                </p:cNvPr>
                <p:cNvSpPr>
                  <a:spLocks noChangeArrowheads="1"/>
                </p:cNvSpPr>
                <p:nvPr/>
              </p:nvSpPr>
              <p:spPr bwMode="auto">
                <a:xfrm>
                  <a:off x="145377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2" name="AutoShape 11">
                  <a:extLst>
                    <a:ext uri="{FF2B5EF4-FFF2-40B4-BE49-F238E27FC236}">
                      <a16:creationId xmlns:a16="http://schemas.microsoft.com/office/drawing/2014/main" id="{1F71CA7D-0BF6-6BD3-646E-F285A7F6FED6}"/>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3" name="AutoShape 10">
                  <a:extLst>
                    <a:ext uri="{FF2B5EF4-FFF2-40B4-BE49-F238E27FC236}">
                      <a16:creationId xmlns:a16="http://schemas.microsoft.com/office/drawing/2014/main" id="{B2E31DCE-5A09-A722-A201-D0B1390A2DFF}"/>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grpSp>
        <p:sp>
          <p:nvSpPr>
            <p:cNvPr id="7" name="TextBox 6">
              <a:extLst>
                <a:ext uri="{FF2B5EF4-FFF2-40B4-BE49-F238E27FC236}">
                  <a16:creationId xmlns:a16="http://schemas.microsoft.com/office/drawing/2014/main" id="{D77649A6-0BEC-58B2-BFF7-44EE479E07EB}"/>
                </a:ext>
              </a:extLst>
            </p:cNvPr>
            <p:cNvSpPr txBox="1"/>
            <p:nvPr/>
          </p:nvSpPr>
          <p:spPr>
            <a:xfrm>
              <a:off x="2525716" y="313415"/>
              <a:ext cx="3570283" cy="29136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Plan to Implement</a:t>
              </a:r>
            </a:p>
          </p:txBody>
        </p:sp>
      </p:grpSp>
    </p:spTree>
    <p:extLst>
      <p:ext uri="{BB962C8B-B14F-4D97-AF65-F5344CB8AC3E}">
        <p14:creationId xmlns:p14="http://schemas.microsoft.com/office/powerpoint/2010/main" val="29575144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108</a:t>
            </a:fld>
            <a:endParaRPr lang="en-US" dirty="0"/>
          </a:p>
        </p:txBody>
      </p:sp>
    </p:spTree>
    <p:extLst>
      <p:ext uri="{BB962C8B-B14F-4D97-AF65-F5344CB8AC3E}">
        <p14:creationId xmlns:p14="http://schemas.microsoft.com/office/powerpoint/2010/main" val="15906966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14147</TotalTime>
  <Words>9587</Words>
  <Application>Microsoft Office PowerPoint</Application>
  <PresentationFormat>Widescreen</PresentationFormat>
  <Paragraphs>1606</Paragraphs>
  <Slides>108</Slides>
  <Notes>108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108</vt:i4>
      </vt:variant>
    </vt:vector>
  </HeadingPairs>
  <TitlesOfParts>
    <vt:vector size="118" baseType="lpstr">
      <vt:lpstr>Arial</vt:lpstr>
      <vt:lpstr>Arial Narrow</vt:lpstr>
      <vt:lpstr>Arial Rounded MT Bold</vt:lpstr>
      <vt:lpstr>Calibri</vt:lpstr>
      <vt:lpstr>Monotype Sorts</vt:lpstr>
      <vt:lpstr>Roboto</vt:lpstr>
      <vt:lpstr>Roboto Medium</vt:lpstr>
      <vt:lpstr>Times New Roman</vt:lpstr>
      <vt:lpstr>Wingdings</vt:lpstr>
      <vt:lpstr>Office Theme</vt:lpstr>
      <vt:lpstr>PowerPoint Presentation</vt:lpstr>
      <vt:lpstr>PowerPoint Presentation</vt:lpstr>
      <vt:lpstr>PowerPoint Presentation</vt:lpstr>
      <vt:lpstr>Ground Rules for Event</vt:lpstr>
      <vt:lpstr>3P Exercise: Part 1</vt:lpstr>
      <vt:lpstr>3P Exercise: Part 2</vt:lpstr>
      <vt:lpstr>Goal of 3P</vt:lpstr>
      <vt:lpstr>3P Roadmap to Success</vt:lpstr>
      <vt:lpstr>3P Roadmap to Success</vt:lpstr>
      <vt:lpstr>3P Workshop Structure</vt:lpstr>
      <vt:lpstr>3P Workshop Agenda</vt:lpstr>
      <vt:lpstr>3P Defined</vt:lpstr>
      <vt:lpstr>3P Defined</vt:lpstr>
      <vt:lpstr>Goal of 3P</vt:lpstr>
      <vt:lpstr>When to use 3P – Top 5 Reasons</vt:lpstr>
      <vt:lpstr>Benefits</vt:lpstr>
      <vt:lpstr>Prerequisites for successful 3P</vt:lpstr>
      <vt:lpstr>Obstacles to Product Development</vt:lpstr>
      <vt:lpstr>3P Principles – overarching logic of 3P</vt:lpstr>
      <vt:lpstr>The Four Phases of 3P</vt:lpstr>
      <vt:lpstr>Product and Production Interaction</vt:lpstr>
      <vt:lpstr>5 Steps to 3P</vt:lpstr>
      <vt:lpstr>3P Process</vt:lpstr>
      <vt:lpstr>3P Process</vt:lpstr>
      <vt:lpstr>3P Process</vt:lpstr>
      <vt:lpstr>Define Needs and Objectives</vt:lpstr>
      <vt:lpstr>Exercise: Review Team Charter</vt:lpstr>
      <vt:lpstr>What is “Waste”?</vt:lpstr>
      <vt:lpstr>The Content of Work</vt:lpstr>
      <vt:lpstr>The Eight Wastes Defined</vt:lpstr>
      <vt:lpstr>Muda Walk Observation</vt:lpstr>
      <vt:lpstr>Example Data to Review</vt:lpstr>
      <vt:lpstr>Review VOC</vt:lpstr>
      <vt:lpstr>Review results of interviews regarding current process/design</vt:lpstr>
      <vt:lpstr>Complete Affinity Process</vt:lpstr>
      <vt:lpstr>Exercise: Take Muda Walk</vt:lpstr>
      <vt:lpstr>Exercise: Management Review</vt:lpstr>
      <vt:lpstr>Complete Diagram of the Current Process/Design</vt:lpstr>
      <vt:lpstr>Diagrams</vt:lpstr>
      <vt:lpstr>Process Fishbone Diagram Example</vt:lpstr>
      <vt:lpstr>Exploded Assembly</vt:lpstr>
      <vt:lpstr>Process 3P Diagram Example</vt:lpstr>
      <vt:lpstr>Value Stream Map and Process Map</vt:lpstr>
      <vt:lpstr>Example Process Mapping Symbols</vt:lpstr>
      <vt:lpstr>Break into manageable projects</vt:lpstr>
      <vt:lpstr>Prioritize Opportunities</vt:lpstr>
      <vt:lpstr>Summarize key opportunities</vt:lpstr>
      <vt:lpstr>Exercise: Diagrams</vt:lpstr>
      <vt:lpstr>3P Creative Thinking Process</vt:lpstr>
      <vt:lpstr>3P Cycle</vt:lpstr>
      <vt:lpstr>Thinking Outside The Box</vt:lpstr>
      <vt:lpstr>Identify key functions</vt:lpstr>
      <vt:lpstr>Identify key words for each function</vt:lpstr>
      <vt:lpstr>Exercise: Determine Function</vt:lpstr>
      <vt:lpstr>Define Function Exercise</vt:lpstr>
      <vt:lpstr>Back to Nature Examples</vt:lpstr>
      <vt:lpstr>TRIZ – 40 Principles</vt:lpstr>
      <vt:lpstr>Other Solution Sources</vt:lpstr>
      <vt:lpstr>Exercise: Creative Thinking</vt:lpstr>
      <vt:lpstr>16 Catch Phrases of 3P</vt:lpstr>
      <vt:lpstr>Purpose of 16 Catch Phrases of 3P</vt:lpstr>
      <vt:lpstr>16 Catch Phrases</vt:lpstr>
      <vt:lpstr>1. Production Preparation should be lightning fast </vt:lpstr>
      <vt:lpstr>2. Build &amp; layout equipment for smooth material flow</vt:lpstr>
      <vt:lpstr>3. Use additive equipment</vt:lpstr>
      <vt:lpstr>4. Build equipment that is easy to set up</vt:lpstr>
      <vt:lpstr>5. Make equipment easy to move</vt:lpstr>
      <vt:lpstr>6. Use multi-purpose equipment</vt:lpstr>
      <vt:lpstr>7. Make operator work stations narrow</vt:lpstr>
      <vt:lpstr>8. Layout equipment for ease of operator movement</vt:lpstr>
      <vt:lpstr>9. Eliminate wasted machine cycle time</vt:lpstr>
      <vt:lpstr>10. Build equipment for small swift flow lines </vt:lpstr>
      <vt:lpstr>11. Use short, vertical flow lines </vt:lpstr>
      <vt:lpstr>12. Build equipment for one-piece pull</vt:lpstr>
      <vt:lpstr>13. Build in quick changeover</vt:lpstr>
      <vt:lpstr>14. Link machines for smooth loading &amp; unloading</vt:lpstr>
      <vt:lpstr>15. Use multiple lines &amp; untangled flows </vt:lpstr>
      <vt:lpstr>16. Spiral upwards to Jidoka</vt:lpstr>
      <vt:lpstr>Exercise: 16 Catch Phrases of 3P</vt:lpstr>
      <vt:lpstr>16 Catch Phrase Walk Form</vt:lpstr>
      <vt:lpstr>3P Design Evaluation Criteria </vt:lpstr>
      <vt:lpstr>Design Evaluation Criteria</vt:lpstr>
      <vt:lpstr>7 Alternatives Form: Product Design</vt:lpstr>
      <vt:lpstr>7 Alternatives Form: Process Design</vt:lpstr>
      <vt:lpstr>Use Motion Analysis to Assist Process Selection Criteria</vt:lpstr>
      <vt:lpstr>Develop Weighting Criteria and Ranking System</vt:lpstr>
      <vt:lpstr>Exercise: Design Evaluation Criteria</vt:lpstr>
      <vt:lpstr>The 7 Alternatives</vt:lpstr>
      <vt:lpstr>Create and Draw the 7 Alternatives for each function</vt:lpstr>
      <vt:lpstr>Example of Process Alternatives</vt:lpstr>
      <vt:lpstr>Complete Process At A Glance for 7 Alternatives</vt:lpstr>
      <vt:lpstr>Process At A Glance Form</vt:lpstr>
      <vt:lpstr>Exercise: 7 Alternatives</vt:lpstr>
      <vt:lpstr>Selecting the Top 2-3 Alternatives</vt:lpstr>
      <vt:lpstr>“Trystorming” Process</vt:lpstr>
      <vt:lpstr>Sometimes called “Moonshining”</vt:lpstr>
      <vt:lpstr>Lean Process Machine Checklist</vt:lpstr>
      <vt:lpstr>Exercise: Top 2-3 Alternatives</vt:lpstr>
      <vt:lpstr>Selecting the Top Alternative</vt:lpstr>
      <vt:lpstr>Exercise: Creating the Top Alternative</vt:lpstr>
      <vt:lpstr>Process At A Glance Form</vt:lpstr>
      <vt:lpstr>3P Implementation Plan</vt:lpstr>
      <vt:lpstr>3P Process</vt:lpstr>
      <vt:lpstr>Create Project Plan</vt:lpstr>
      <vt:lpstr>Create concepts and shop drawings for fixtures and tooling</vt:lpstr>
      <vt:lpstr>Prepare Key Elements of Implementation Plan</vt:lpstr>
      <vt:lpstr>Prepare Final Report Out and Budget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388</cp:revision>
  <dcterms:created xsi:type="dcterms:W3CDTF">2023-02-08T22:10:20Z</dcterms:created>
  <dcterms:modified xsi:type="dcterms:W3CDTF">2023-09-29T23:22:34Z</dcterms:modified>
</cp:coreProperties>
</file>